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32"/>
  </p:notesMasterIdLst>
  <p:sldIdLst>
    <p:sldId id="262" r:id="rId2"/>
    <p:sldId id="2013" r:id="rId3"/>
    <p:sldId id="2081" r:id="rId4"/>
    <p:sldId id="2084" r:id="rId5"/>
    <p:sldId id="2083" r:id="rId6"/>
    <p:sldId id="2082" r:id="rId7"/>
    <p:sldId id="2085" r:id="rId8"/>
    <p:sldId id="2086" r:id="rId9"/>
    <p:sldId id="2018" r:id="rId10"/>
    <p:sldId id="2089" r:id="rId11"/>
    <p:sldId id="2090" r:id="rId12"/>
    <p:sldId id="2099" r:id="rId13"/>
    <p:sldId id="2103" r:id="rId14"/>
    <p:sldId id="2104" r:id="rId15"/>
    <p:sldId id="2101" r:id="rId16"/>
    <p:sldId id="2100" r:id="rId17"/>
    <p:sldId id="2091" r:id="rId18"/>
    <p:sldId id="2015" r:id="rId19"/>
    <p:sldId id="2017" r:id="rId20"/>
    <p:sldId id="2021" r:id="rId21"/>
    <p:sldId id="2022" r:id="rId22"/>
    <p:sldId id="2023" r:id="rId23"/>
    <p:sldId id="2016" r:id="rId24"/>
    <p:sldId id="2014" r:id="rId25"/>
    <p:sldId id="2092" r:id="rId26"/>
    <p:sldId id="2025" r:id="rId27"/>
    <p:sldId id="2019" r:id="rId28"/>
    <p:sldId id="2088" r:id="rId29"/>
    <p:sldId id="2087" r:id="rId30"/>
    <p:sldId id="1917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0AAEA799-A9A8-4186-B440-80C8282918C4}">
          <p14:sldIdLst>
            <p14:sldId id="262"/>
            <p14:sldId id="2013"/>
            <p14:sldId id="2081"/>
            <p14:sldId id="2084"/>
            <p14:sldId id="2083"/>
            <p14:sldId id="2082"/>
            <p14:sldId id="2085"/>
            <p14:sldId id="2086"/>
            <p14:sldId id="2018"/>
            <p14:sldId id="2089"/>
            <p14:sldId id="2090"/>
            <p14:sldId id="2099"/>
            <p14:sldId id="2103"/>
            <p14:sldId id="2104"/>
            <p14:sldId id="2101"/>
            <p14:sldId id="2100"/>
            <p14:sldId id="2091"/>
            <p14:sldId id="2015"/>
            <p14:sldId id="2017"/>
            <p14:sldId id="2021"/>
            <p14:sldId id="2022"/>
            <p14:sldId id="2023"/>
            <p14:sldId id="2016"/>
            <p14:sldId id="2014"/>
            <p14:sldId id="2092"/>
            <p14:sldId id="2025"/>
            <p14:sldId id="2019"/>
            <p14:sldId id="2088"/>
            <p14:sldId id="2087"/>
            <p14:sldId id="191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uo sun" initials="ss" lastIdx="1" clrIdx="0">
    <p:extLst>
      <p:ext uri="{19B8F6BF-5375-455C-9EA6-DF929625EA0E}">
        <p15:presenceInfo xmlns:p15="http://schemas.microsoft.com/office/powerpoint/2012/main" userId="8a7e13a01d3d8df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90" autoAdjust="0"/>
    <p:restoredTop sz="94660"/>
  </p:normalViewPr>
  <p:slideViewPr>
    <p:cSldViewPr snapToGrid="0">
      <p:cViewPr varScale="1">
        <p:scale>
          <a:sx n="86" d="100"/>
          <a:sy n="86" d="100"/>
        </p:scale>
        <p:origin x="72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0E0A67-AE30-43A6-8109-C10F57DC96A6}" type="datetimeFigureOut">
              <a:rPr lang="zh-CN" altLang="en-US" smtClean="0"/>
              <a:t>2025/6/10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B5F1A0-1B55-403E-817C-EEA91DFC6A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7416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6D237-E89A-4204-9D81-552D7A5EEAD4}" type="slidenum">
              <a:rPr kumimoji="0" lang="en-001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001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5036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30DF2-8DA9-4748-FFD2-6CBB10C9C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CC1D9B3-B921-F944-1391-7DED44753A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E087726-8F1F-6CC4-A3C6-8011F2F63A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886A39-18D7-0C96-F6E5-36DC1B631E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6D237-E89A-4204-9D81-552D7A5EEAD4}" type="slidenum">
              <a:rPr kumimoji="0" lang="en-001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001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97025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30DF2-8DA9-4748-FFD2-6CBB10C9C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CC1D9B3-B921-F944-1391-7DED44753A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E087726-8F1F-6CC4-A3C6-8011F2F63A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886A39-18D7-0C96-F6E5-36DC1B631E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6D237-E89A-4204-9D81-552D7A5EEAD4}" type="slidenum">
              <a:rPr kumimoji="0" lang="en-001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001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9702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30DF2-8DA9-4748-FFD2-6CBB10C9C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CC1D9B3-B921-F944-1391-7DED44753A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E087726-8F1F-6CC4-A3C6-8011F2F63A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886A39-18D7-0C96-F6E5-36DC1B631E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6D237-E89A-4204-9D81-552D7A5EEAD4}" type="slidenum">
              <a:rPr kumimoji="0" lang="en-001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001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97025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A62EA-59EF-AC30-C8C7-B74E66653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52D6523-6A30-1A68-CEF2-D037FB369F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7C8CFE5-4B50-F443-83C7-08F84A9DFA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A3E0F2-BAE6-B9A1-A9B9-4706129A2C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6D237-E89A-4204-9D81-552D7A5EEAD4}" type="slidenum">
              <a:rPr kumimoji="0" lang="en-001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001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71211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30DF2-8DA9-4748-FFD2-6CBB10C9C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CC1D9B3-B921-F944-1391-7DED44753A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E087726-8F1F-6CC4-A3C6-8011F2F63A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886A39-18D7-0C96-F6E5-36DC1B631E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6D237-E89A-4204-9D81-552D7A5EEAD4}" type="slidenum">
              <a:rPr kumimoji="0" lang="en-001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001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97025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6D237-E89A-4204-9D81-552D7A5EEAD4}" type="slidenum">
              <a:rPr kumimoji="0" lang="en-001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001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3734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A44188-3096-49C0-8534-FE6F15E0F67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8403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A44188-3096-49C0-8534-FE6F15E0F67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0472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A44188-3096-49C0-8534-FE6F15E0F67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4287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A44188-3096-49C0-8534-FE6F15E0F67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9248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A44188-3096-49C0-8534-FE6F15E0F67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7492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A44188-3096-49C0-8534-FE6F15E0F67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7813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5914360-5F20-4391-B7B2-3639C308C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0067" y="6356354"/>
            <a:ext cx="1680000" cy="365125"/>
          </a:xfrm>
        </p:spPr>
        <p:txBody>
          <a:bodyPr/>
          <a:lstStyle/>
          <a:p>
            <a:pPr>
              <a:defRPr/>
            </a:pPr>
            <a:fld id="{DAA44188-3096-49C0-8534-FE6F15E0F67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5761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背景与需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19315" y="6356354"/>
            <a:ext cx="1680000" cy="365125"/>
          </a:xfrm>
        </p:spPr>
        <p:txBody>
          <a:bodyPr/>
          <a:lstStyle/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80D0610-B1FC-4EBC-A3D5-9BEAE8DF7E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95" t="10007" r="80341" b="8495"/>
          <a:stretch/>
        </p:blipFill>
        <p:spPr>
          <a:xfrm>
            <a:off x="11526253" y="33927"/>
            <a:ext cx="648765" cy="594635"/>
          </a:xfrm>
          <a:prstGeom prst="rect">
            <a:avLst/>
          </a:prstGeom>
        </p:spPr>
      </p:pic>
      <p:sp>
        <p:nvSpPr>
          <p:cNvPr id="15" name="文本框 4">
            <a:extLst>
              <a:ext uri="{FF2B5EF4-FFF2-40B4-BE49-F238E27FC236}">
                <a16:creationId xmlns:a16="http://schemas.microsoft.com/office/drawing/2014/main" id="{6FB56021-3A31-45D4-A825-223060142AFC}"/>
              </a:ext>
            </a:extLst>
          </p:cNvPr>
          <p:cNvSpPr txBox="1"/>
          <p:nvPr userDrawn="1"/>
        </p:nvSpPr>
        <p:spPr>
          <a:xfrm>
            <a:off x="9427945" y="136521"/>
            <a:ext cx="21993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《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机器人学导论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》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28DD17-23E2-4EC9-9EE5-746AED6A9F0D}"/>
              </a:ext>
            </a:extLst>
          </p:cNvPr>
          <p:cNvSpPr>
            <a:spLocks noChangeArrowheads="1"/>
          </p:cNvSpPr>
          <p:nvPr userDrawn="1"/>
        </p:nvSpPr>
        <p:spPr bwMode="auto">
          <a:xfrm flipV="1">
            <a:off x="0" y="658795"/>
            <a:ext cx="12192000" cy="71438"/>
          </a:xfrm>
          <a:prstGeom prst="rect">
            <a:avLst/>
          </a:prstGeom>
          <a:gradFill rotWithShape="0">
            <a:gsLst>
              <a:gs pos="0">
                <a:srgbClr val="A603AB"/>
              </a:gs>
              <a:gs pos="21001">
                <a:srgbClr val="0819FB"/>
              </a:gs>
              <a:gs pos="35001">
                <a:srgbClr val="1A8D48"/>
              </a:gs>
              <a:gs pos="52000">
                <a:srgbClr val="FFFF00"/>
              </a:gs>
              <a:gs pos="73000">
                <a:srgbClr val="EE3F17"/>
              </a:gs>
              <a:gs pos="88000">
                <a:srgbClr val="E81766"/>
              </a:gs>
              <a:gs pos="100000">
                <a:srgbClr val="A603AB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zh-CN" sz="2400">
              <a:solidFill>
                <a:srgbClr val="333399"/>
              </a:solidFill>
              <a:latin typeface="Times New Roman" pitchFamily="18" charset="0"/>
            </a:endParaRPr>
          </a:p>
        </p:txBody>
      </p:sp>
      <p:sp>
        <p:nvSpPr>
          <p:cNvPr id="8" name="灯片编号占位符 4">
            <a:extLst>
              <a:ext uri="{FF2B5EF4-FFF2-40B4-BE49-F238E27FC236}">
                <a16:creationId xmlns:a16="http://schemas.microsoft.com/office/drawing/2014/main" id="{195026BA-439D-41DF-8809-DB56D5560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0067" y="6356354"/>
            <a:ext cx="1680000" cy="365125"/>
          </a:xfrm>
        </p:spPr>
        <p:txBody>
          <a:bodyPr/>
          <a:lstStyle/>
          <a:p>
            <a:pPr>
              <a:defRPr/>
            </a:pPr>
            <a:fld id="{DAA44188-3096-49C0-8534-FE6F15E0F67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9030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背景与需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19315" y="6356354"/>
            <a:ext cx="1680000" cy="365125"/>
          </a:xfrm>
        </p:spPr>
        <p:txBody>
          <a:bodyPr/>
          <a:lstStyle/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A44188-3096-49C0-8534-FE6F15E0F67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8" name="直接连接符 7"/>
          <p:cNvCxnSpPr>
            <a:cxnSpLocks/>
          </p:cNvCxnSpPr>
          <p:nvPr/>
        </p:nvCxnSpPr>
        <p:spPr>
          <a:xfrm>
            <a:off x="1248000" y="683399"/>
            <a:ext cx="105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800000" y="333829"/>
            <a:ext cx="1752000" cy="3495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小标宋简体" panose="03000509000000000000" pitchFamily="65" charset="-122"/>
                <a:ea typeface="方正小标宋简体" panose="03000509000000000000" pitchFamily="65" charset="-122"/>
                <a:cs typeface="+mn-cs"/>
              </a:rPr>
              <a:t>意义与必要性</a:t>
            </a:r>
          </a:p>
        </p:txBody>
      </p:sp>
      <p:sp>
        <p:nvSpPr>
          <p:cNvPr id="10" name="矩形 9"/>
          <p:cNvSpPr/>
          <p:nvPr/>
        </p:nvSpPr>
        <p:spPr>
          <a:xfrm>
            <a:off x="6552000" y="333829"/>
            <a:ext cx="1752000" cy="34957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小标宋简体" panose="03000509000000000000" pitchFamily="65" charset="-122"/>
                <a:ea typeface="方正小标宋简体" panose="03000509000000000000" pitchFamily="65" charset="-122"/>
                <a:cs typeface="+mn-cs"/>
              </a:rPr>
              <a:t>单位与条件</a:t>
            </a:r>
          </a:p>
        </p:txBody>
      </p:sp>
      <p:sp>
        <p:nvSpPr>
          <p:cNvPr id="11" name="矩形 10"/>
          <p:cNvSpPr/>
          <p:nvPr/>
        </p:nvSpPr>
        <p:spPr>
          <a:xfrm>
            <a:off x="8304000" y="333829"/>
            <a:ext cx="1752000" cy="3495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小标宋简体" panose="03000509000000000000" pitchFamily="65" charset="-122"/>
                <a:ea typeface="方正小标宋简体" panose="03000509000000000000" pitchFamily="65" charset="-122"/>
                <a:cs typeface="+mn-cs"/>
              </a:rPr>
              <a:t>目标与任务</a:t>
            </a:r>
          </a:p>
        </p:txBody>
      </p:sp>
      <p:sp>
        <p:nvSpPr>
          <p:cNvPr id="12" name="矩形 11"/>
          <p:cNvSpPr/>
          <p:nvPr/>
        </p:nvSpPr>
        <p:spPr>
          <a:xfrm>
            <a:off x="10056000" y="333829"/>
            <a:ext cx="1752000" cy="3495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小标宋简体" panose="03000509000000000000" pitchFamily="65" charset="-122"/>
                <a:ea typeface="方正小标宋简体" panose="03000509000000000000" pitchFamily="65" charset="-122"/>
                <a:cs typeface="+mn-cs"/>
              </a:rPr>
              <a:t>管理与运行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80D0610-B1FC-4EBC-A3D5-9BEAE8DF7E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95" t="10007" r="80341" b="8495"/>
          <a:stretch/>
        </p:blipFill>
        <p:spPr>
          <a:xfrm>
            <a:off x="319318" y="71399"/>
            <a:ext cx="854273" cy="612000"/>
          </a:xfrm>
          <a:prstGeom prst="rect">
            <a:avLst/>
          </a:prstGeom>
        </p:spPr>
      </p:pic>
      <p:sp>
        <p:nvSpPr>
          <p:cNvPr id="15" name="文本框 4">
            <a:extLst>
              <a:ext uri="{FF2B5EF4-FFF2-40B4-BE49-F238E27FC236}">
                <a16:creationId xmlns:a16="http://schemas.microsoft.com/office/drawing/2014/main" id="{6FB56021-3A31-45D4-A825-223060142AFC}"/>
              </a:ext>
            </a:extLst>
          </p:cNvPr>
          <p:cNvSpPr txBox="1"/>
          <p:nvPr userDrawn="1"/>
        </p:nvSpPr>
        <p:spPr>
          <a:xfrm>
            <a:off x="1120148" y="84802"/>
            <a:ext cx="3402680" cy="636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AD2929"/>
                </a:solidFill>
                <a:effectLst/>
                <a:uLnTx/>
                <a:uFillTx/>
                <a:latin typeface="方正小标宋简体"/>
                <a:ea typeface="方正小标宋简体"/>
                <a:cs typeface="+mn-cs"/>
              </a:rPr>
              <a:t>可信行为智能算法与系统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AD2929"/>
              </a:solidFill>
              <a:effectLst/>
              <a:uLnTx/>
              <a:uFillTx/>
              <a:latin typeface="方正小标宋简体"/>
              <a:ea typeface="方正小标宋简体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小标宋简体"/>
                <a:ea typeface="方正小标宋简体"/>
                <a:cs typeface="+mn-cs"/>
              </a:rPr>
              <a:t>教育部工程研究中心</a:t>
            </a:r>
          </a:p>
        </p:txBody>
      </p:sp>
    </p:spTree>
    <p:extLst>
      <p:ext uri="{BB962C8B-B14F-4D97-AF65-F5344CB8AC3E}">
        <p14:creationId xmlns:p14="http://schemas.microsoft.com/office/powerpoint/2010/main" val="3825819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4">
            <a:extLst>
              <a:ext uri="{FF2B5EF4-FFF2-40B4-BE49-F238E27FC236}">
                <a16:creationId xmlns:a16="http://schemas.microsoft.com/office/drawing/2014/main" id="{BD1FA8B2-3654-4F9A-8608-59C526649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0067" y="6356354"/>
            <a:ext cx="1680000" cy="365125"/>
          </a:xfrm>
        </p:spPr>
        <p:txBody>
          <a:bodyPr/>
          <a:lstStyle/>
          <a:p>
            <a:pPr>
              <a:defRPr/>
            </a:pPr>
            <a:fld id="{DAA44188-3096-49C0-8534-FE6F15E0F67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5704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80000" y="6356354"/>
            <a:ext cx="168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80000" y="6356354"/>
            <a:ext cx="643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430067" y="6356354"/>
            <a:ext cx="168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pPr>
              <a:defRPr/>
            </a:pPr>
            <a:fld id="{DAA44188-3096-49C0-8534-FE6F15E0F67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1241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74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5.bin"/><Relationship Id="rId10" Type="http://schemas.openxmlformats.org/officeDocument/2006/relationships/image" Target="../media/image1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7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12.bin"/><Relationship Id="rId3" Type="http://schemas.openxmlformats.org/officeDocument/2006/relationships/image" Target="../media/image15.png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6.wmf"/><Relationship Id="rId2" Type="http://schemas.openxmlformats.org/officeDocument/2006/relationships/image" Target="../media/image13.png"/><Relationship Id="rId16" Type="http://schemas.openxmlformats.org/officeDocument/2006/relationships/image" Target="../media/image18.wmf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11" Type="http://schemas.openxmlformats.org/officeDocument/2006/relationships/oleObject" Target="../embeddings/oleObject11.bin"/><Relationship Id="rId5" Type="http://schemas.openxmlformats.org/officeDocument/2006/relationships/image" Target="../media/image17.png"/><Relationship Id="rId15" Type="http://schemas.openxmlformats.org/officeDocument/2006/relationships/oleObject" Target="../embeddings/oleObject13.bin"/><Relationship Id="rId10" Type="http://schemas.openxmlformats.org/officeDocument/2006/relationships/image" Target="../media/image15.wmf"/><Relationship Id="rId4" Type="http://schemas.openxmlformats.org/officeDocument/2006/relationships/image" Target="../media/image16.png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17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wmf"/><Relationship Id="rId11" Type="http://schemas.openxmlformats.org/officeDocument/2006/relationships/image" Target="../media/image22.wmf"/><Relationship Id="rId5" Type="http://schemas.openxmlformats.org/officeDocument/2006/relationships/oleObject" Target="../embeddings/oleObject15.bin"/><Relationship Id="rId10" Type="http://schemas.openxmlformats.org/officeDocument/2006/relationships/oleObject" Target="../embeddings/oleObject17.bin"/><Relationship Id="rId4" Type="http://schemas.openxmlformats.org/officeDocument/2006/relationships/image" Target="../media/image19.wmf"/><Relationship Id="rId9" Type="http://schemas.openxmlformats.org/officeDocument/2006/relationships/slide" Target="slide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e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3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image" Target="../media/image126.png"/><Relationship Id="rId7" Type="http://schemas.openxmlformats.org/officeDocument/2006/relationships/image" Target="../media/image1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9.png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13" Type="http://schemas.openxmlformats.org/officeDocument/2006/relationships/image" Target="../media/image33.wmf"/><Relationship Id="rId3" Type="http://schemas.openxmlformats.org/officeDocument/2006/relationships/image" Target="../media/image29.png"/><Relationship Id="rId7" Type="http://schemas.openxmlformats.org/officeDocument/2006/relationships/image" Target="../media/image30.wmf"/><Relationship Id="rId12" Type="http://schemas.openxmlformats.org/officeDocument/2006/relationships/oleObject" Target="../embeddings/oleObject25.bin"/><Relationship Id="rId17" Type="http://schemas.openxmlformats.org/officeDocument/2006/relationships/image" Target="../media/image35.wmf"/><Relationship Id="rId2" Type="http://schemas.openxmlformats.org/officeDocument/2006/relationships/image" Target="../media/image28.png"/><Relationship Id="rId16" Type="http://schemas.openxmlformats.org/officeDocument/2006/relationships/oleObject" Target="../embeddings/oleObject27.bin"/><Relationship Id="rId1" Type="http://schemas.openxmlformats.org/officeDocument/2006/relationships/slideLayout" Target="../slideLayouts/slideLayout8.x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32.wmf"/><Relationship Id="rId5" Type="http://schemas.openxmlformats.org/officeDocument/2006/relationships/image" Target="../media/image29.wmf"/><Relationship Id="rId15" Type="http://schemas.openxmlformats.org/officeDocument/2006/relationships/image" Target="../media/image34.wmf"/><Relationship Id="rId10" Type="http://schemas.openxmlformats.org/officeDocument/2006/relationships/oleObject" Target="../embeddings/oleObject24.bin"/><Relationship Id="rId4" Type="http://schemas.openxmlformats.org/officeDocument/2006/relationships/oleObject" Target="../embeddings/oleObject21.bin"/><Relationship Id="rId9" Type="http://schemas.openxmlformats.org/officeDocument/2006/relationships/image" Target="../media/image31.wmf"/><Relationship Id="rId14" Type="http://schemas.openxmlformats.org/officeDocument/2006/relationships/oleObject" Target="../embeddings/oleObject26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13" Type="http://schemas.openxmlformats.org/officeDocument/2006/relationships/image" Target="../media/image41.wmf"/><Relationship Id="rId3" Type="http://schemas.openxmlformats.org/officeDocument/2006/relationships/image" Target="../media/image36.wmf"/><Relationship Id="rId7" Type="http://schemas.openxmlformats.org/officeDocument/2006/relationships/image" Target="../media/image38.wmf"/><Relationship Id="rId12" Type="http://schemas.openxmlformats.org/officeDocument/2006/relationships/oleObject" Target="../embeddings/oleObject33.bin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8.x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40.wmf"/><Relationship Id="rId5" Type="http://schemas.openxmlformats.org/officeDocument/2006/relationships/image" Target="../media/image37.wmf"/><Relationship Id="rId10" Type="http://schemas.openxmlformats.org/officeDocument/2006/relationships/oleObject" Target="../embeddings/oleObject32.bin"/><Relationship Id="rId4" Type="http://schemas.openxmlformats.org/officeDocument/2006/relationships/oleObject" Target="../embeddings/oleObject29.bin"/><Relationship Id="rId9" Type="http://schemas.openxmlformats.org/officeDocument/2006/relationships/image" Target="../media/image39.wmf"/><Relationship Id="rId1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13" Type="http://schemas.openxmlformats.org/officeDocument/2006/relationships/image" Target="../media/image48.wmf"/><Relationship Id="rId3" Type="http://schemas.openxmlformats.org/officeDocument/2006/relationships/image" Target="../media/image43.wmf"/><Relationship Id="rId7" Type="http://schemas.openxmlformats.org/officeDocument/2006/relationships/image" Target="../media/image45.wmf"/><Relationship Id="rId12" Type="http://schemas.openxmlformats.org/officeDocument/2006/relationships/oleObject" Target="../embeddings/oleObject39.bin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8.xml"/><Relationship Id="rId6" Type="http://schemas.openxmlformats.org/officeDocument/2006/relationships/oleObject" Target="../embeddings/oleObject36.bin"/><Relationship Id="rId11" Type="http://schemas.openxmlformats.org/officeDocument/2006/relationships/image" Target="../media/image47.wmf"/><Relationship Id="rId5" Type="http://schemas.openxmlformats.org/officeDocument/2006/relationships/image" Target="../media/image44.wmf"/><Relationship Id="rId10" Type="http://schemas.openxmlformats.org/officeDocument/2006/relationships/oleObject" Target="../embeddings/oleObject38.bin"/><Relationship Id="rId4" Type="http://schemas.openxmlformats.org/officeDocument/2006/relationships/oleObject" Target="../embeddings/oleObject35.bin"/><Relationship Id="rId9" Type="http://schemas.openxmlformats.org/officeDocument/2006/relationships/image" Target="../media/image46.wmf"/><Relationship Id="rId1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3" Type="http://schemas.openxmlformats.org/officeDocument/2006/relationships/image" Target="../media/image49.wmf"/><Relationship Id="rId7" Type="http://schemas.openxmlformats.org/officeDocument/2006/relationships/image" Target="../media/image51.wmf"/><Relationship Id="rId2" Type="http://schemas.openxmlformats.org/officeDocument/2006/relationships/oleObject" Target="../embeddings/oleObject40.bin"/><Relationship Id="rId1" Type="http://schemas.openxmlformats.org/officeDocument/2006/relationships/slideLayout" Target="../slideLayouts/slideLayout8.xml"/><Relationship Id="rId6" Type="http://schemas.openxmlformats.org/officeDocument/2006/relationships/oleObject" Target="../embeddings/oleObject42.bin"/><Relationship Id="rId5" Type="http://schemas.openxmlformats.org/officeDocument/2006/relationships/image" Target="../media/image50.wmf"/><Relationship Id="rId10" Type="http://schemas.openxmlformats.org/officeDocument/2006/relationships/image" Target="../media/image53.png"/><Relationship Id="rId4" Type="http://schemas.openxmlformats.org/officeDocument/2006/relationships/oleObject" Target="../embeddings/oleObject41.bin"/><Relationship Id="rId9" Type="http://schemas.openxmlformats.org/officeDocument/2006/relationships/image" Target="../media/image52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5.png"/><Relationship Id="rId5" Type="http://schemas.openxmlformats.org/officeDocument/2006/relationships/image" Target="../media/image54.wmf"/><Relationship Id="rId4" Type="http://schemas.openxmlformats.org/officeDocument/2006/relationships/oleObject" Target="../embeddings/oleObject44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103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12" Type="http://schemas.openxmlformats.org/officeDocument/2006/relationships/image" Target="../media/image102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6.png"/><Relationship Id="rId11" Type="http://schemas.openxmlformats.org/officeDocument/2006/relationships/image" Target="../media/image101.png"/><Relationship Id="rId5" Type="http://schemas.openxmlformats.org/officeDocument/2006/relationships/image" Target="../media/image95.png"/><Relationship Id="rId15" Type="http://schemas.openxmlformats.org/officeDocument/2006/relationships/image" Target="../media/image105.png"/><Relationship Id="rId10" Type="http://schemas.openxmlformats.org/officeDocument/2006/relationships/image" Target="../media/image100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Relationship Id="rId14" Type="http://schemas.openxmlformats.org/officeDocument/2006/relationships/image" Target="../media/image10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0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58">
            <a:extLst>
              <a:ext uri="{FF2B5EF4-FFF2-40B4-BE49-F238E27FC236}">
                <a16:creationId xmlns:a16="http://schemas.microsoft.com/office/drawing/2014/main" id="{548C5543-7B77-464A-AD53-82BB85259242}"/>
              </a:ext>
            </a:extLst>
          </p:cNvPr>
          <p:cNvSpPr/>
          <p:nvPr/>
        </p:nvSpPr>
        <p:spPr>
          <a:xfrm>
            <a:off x="0" y="1651562"/>
            <a:ext cx="12192000" cy="1897183"/>
          </a:xfrm>
          <a:prstGeom prst="rect">
            <a:avLst/>
          </a:prstGeom>
          <a:solidFill>
            <a:srgbClr val="9D13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4" name="文本框 6">
            <a:extLst>
              <a:ext uri="{FF2B5EF4-FFF2-40B4-BE49-F238E27FC236}">
                <a16:creationId xmlns:a16="http://schemas.microsoft.com/office/drawing/2014/main" id="{E0A80487-35BD-4212-BFAD-545906F74541}"/>
              </a:ext>
            </a:extLst>
          </p:cNvPr>
          <p:cNvSpPr txBox="1"/>
          <p:nvPr/>
        </p:nvSpPr>
        <p:spPr>
          <a:xfrm>
            <a:off x="0" y="1719942"/>
            <a:ext cx="12192000" cy="1828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3000509000000000000" pitchFamily="65" charset="-122"/>
                <a:ea typeface="方正小标宋简体" panose="03000509000000000000" pitchFamily="65" charset="-122"/>
                <a:cs typeface="+mn-cs"/>
              </a:rPr>
              <a:t>机器人学导论第二次习题课</a:t>
            </a:r>
            <a:endParaRPr kumimoji="0" lang="en-US" altLang="zh-CN" sz="4400" b="1" i="0" u="none" strike="noStrike" kern="1200" cap="none" spc="2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小标宋简体" panose="03000509000000000000" pitchFamily="65" charset="-122"/>
              <a:ea typeface="方正小标宋简体" panose="03000509000000000000" pitchFamily="65" charset="-122"/>
              <a:cs typeface="+mn-cs"/>
            </a:endParaRPr>
          </a:p>
        </p:txBody>
      </p:sp>
      <p:sp>
        <p:nvSpPr>
          <p:cNvPr id="5" name="圆角矩形 8">
            <a:extLst>
              <a:ext uri="{FF2B5EF4-FFF2-40B4-BE49-F238E27FC236}">
                <a16:creationId xmlns:a16="http://schemas.microsoft.com/office/drawing/2014/main" id="{B5A7BF65-4F6B-4643-BDF5-253E80639382}"/>
              </a:ext>
            </a:extLst>
          </p:cNvPr>
          <p:cNvSpPr/>
          <p:nvPr/>
        </p:nvSpPr>
        <p:spPr>
          <a:xfrm>
            <a:off x="0" y="4896856"/>
            <a:ext cx="12192000" cy="149793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200" normalizeH="0" baseline="0" noProof="0" dirty="0">
                <a:ln>
                  <a:noFill/>
                </a:ln>
                <a:solidFill>
                  <a:srgbClr val="303274">
                    <a:lumMod val="50000"/>
                  </a:srgbClr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韩建达  教授</a:t>
            </a:r>
            <a:endParaRPr kumimoji="0" lang="en-US" altLang="zh-CN" sz="4000" b="1" i="0" u="none" strike="noStrike" kern="1200" cap="none" spc="200" normalizeH="0" baseline="0" noProof="0" dirty="0">
              <a:ln>
                <a:noFill/>
              </a:ln>
              <a:solidFill>
                <a:srgbClr val="303274">
                  <a:lumMod val="50000"/>
                </a:srgbClr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200" normalizeH="0" baseline="0" noProof="0" dirty="0">
                <a:ln>
                  <a:noFill/>
                </a:ln>
                <a:solidFill>
                  <a:srgbClr val="303274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Email: hanjianda@nankai.edu.cn</a:t>
            </a:r>
            <a:endParaRPr kumimoji="0" lang="zh-CN" altLang="en-US" sz="3200" b="1" i="0" u="none" strike="noStrike" kern="1200" cap="none" spc="200" normalizeH="0" baseline="0" noProof="0" dirty="0">
              <a:ln>
                <a:noFill/>
              </a:ln>
              <a:solidFill>
                <a:srgbClr val="303274">
                  <a:lumMod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文本框 7">
            <a:extLst>
              <a:ext uri="{FF2B5EF4-FFF2-40B4-BE49-F238E27FC236}">
                <a16:creationId xmlns:a16="http://schemas.microsoft.com/office/drawing/2014/main" id="{C9CE0252-84FD-4699-8002-FA6A9BF4E6EB}"/>
              </a:ext>
            </a:extLst>
          </p:cNvPr>
          <p:cNvSpPr txBox="1"/>
          <p:nvPr/>
        </p:nvSpPr>
        <p:spPr>
          <a:xfrm>
            <a:off x="0" y="37316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200" normalizeH="0" baseline="0" noProof="0" dirty="0">
                <a:ln>
                  <a:noFill/>
                </a:ln>
                <a:solidFill>
                  <a:srgbClr val="303274">
                    <a:lumMod val="50000"/>
                  </a:srgbClr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《</a:t>
            </a:r>
            <a:r>
              <a:rPr kumimoji="0" lang="zh-CN" altLang="en-US" sz="4000" b="1" i="0" u="none" strike="noStrike" kern="1200" cap="none" spc="200" normalizeH="0" baseline="0" noProof="0" dirty="0">
                <a:ln>
                  <a:noFill/>
                </a:ln>
                <a:solidFill>
                  <a:srgbClr val="303274">
                    <a:lumMod val="50000"/>
                  </a:srgbClr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机器人学导论</a:t>
            </a:r>
            <a:r>
              <a:rPr kumimoji="0" lang="en-US" altLang="zh-CN" sz="4000" b="1" i="0" u="none" strike="noStrike" kern="1200" cap="none" spc="200" normalizeH="0" baseline="0" noProof="0" dirty="0">
                <a:ln>
                  <a:noFill/>
                </a:ln>
                <a:solidFill>
                  <a:srgbClr val="303274">
                    <a:lumMod val="50000"/>
                  </a:srgbClr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》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56C94E-127A-494A-9C09-1571E867C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158" y="69891"/>
            <a:ext cx="3485034" cy="117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878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3525"/>
    </mc:Choice>
    <mc:Fallback xmlns="">
      <p:transition advTm="1352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EF416-F03E-0F19-61D0-8D18A1D68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58">
            <a:extLst>
              <a:ext uri="{FF2B5EF4-FFF2-40B4-BE49-F238E27FC236}">
                <a16:creationId xmlns:a16="http://schemas.microsoft.com/office/drawing/2014/main" id="{584F6DB5-AE3D-F3EF-0C60-B5526C0905F1}"/>
              </a:ext>
            </a:extLst>
          </p:cNvPr>
          <p:cNvSpPr/>
          <p:nvPr/>
        </p:nvSpPr>
        <p:spPr>
          <a:xfrm>
            <a:off x="0" y="1651562"/>
            <a:ext cx="12192000" cy="1897183"/>
          </a:xfrm>
          <a:prstGeom prst="rect">
            <a:avLst/>
          </a:prstGeom>
          <a:solidFill>
            <a:srgbClr val="9D13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4" name="文本框 6">
            <a:extLst>
              <a:ext uri="{FF2B5EF4-FFF2-40B4-BE49-F238E27FC236}">
                <a16:creationId xmlns:a16="http://schemas.microsoft.com/office/drawing/2014/main" id="{668D5FF4-2328-F168-8565-EF53E2848E47}"/>
              </a:ext>
            </a:extLst>
          </p:cNvPr>
          <p:cNvSpPr txBox="1"/>
          <p:nvPr/>
        </p:nvSpPr>
        <p:spPr>
          <a:xfrm>
            <a:off x="0" y="1719942"/>
            <a:ext cx="12192000" cy="1828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3000509000000000000" pitchFamily="65" charset="-122"/>
                <a:ea typeface="方正小标宋简体" panose="03000509000000000000" pitchFamily="65" charset="-122"/>
                <a:cs typeface="+mn-cs"/>
              </a:rPr>
              <a:t>第五章习题解答</a:t>
            </a:r>
            <a:endParaRPr kumimoji="0" lang="en-US" altLang="zh-CN" sz="4400" b="1" i="0" u="none" strike="noStrike" kern="1200" cap="none" spc="2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小标宋简体" panose="03000509000000000000" pitchFamily="65" charset="-122"/>
              <a:ea typeface="方正小标宋简体" panose="03000509000000000000" pitchFamily="65" charset="-122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00F8E4-6481-D29D-D3AC-7501F1763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158" y="69891"/>
            <a:ext cx="3485034" cy="117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621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3525"/>
    </mc:Choice>
    <mc:Fallback xmlns="">
      <p:transition advTm="13525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721A03E-1040-4B06-81DE-B5F8AAE44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A44188-3096-49C0-8534-FE6F15E0F67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Palatino Linotype" panose="02040502050505030304" pitchFamily="18" charset="0"/>
                <a:ea typeface="微软雅黑 Ligh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Palatino Linotype" panose="02040502050505030304" pitchFamily="18" charset="0"/>
              <a:ea typeface="微软雅黑 Light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E46389D-4CBC-47D4-8E4B-B42A6829CC4A}"/>
              </a:ext>
            </a:extLst>
          </p:cNvPr>
          <p:cNvSpPr txBox="1"/>
          <p:nvPr/>
        </p:nvSpPr>
        <p:spPr>
          <a:xfrm>
            <a:off x="-1" y="33341"/>
            <a:ext cx="116846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D131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作  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BB38B8B-9706-4CB1-90EC-CE78269A68E1}"/>
                  </a:ext>
                </a:extLst>
              </p:cNvPr>
              <p:cNvSpPr txBox="1"/>
              <p:nvPr/>
            </p:nvSpPr>
            <p:spPr>
              <a:xfrm>
                <a:off x="450454" y="702176"/>
                <a:ext cx="10585176" cy="21748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题</a:t>
                </a: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1</a:t>
                </a: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：一个</a:t>
                </a: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3R</a:t>
                </a: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机器人正运动学方程为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kumimoji="0" lang="en-US" altLang="zh-CN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PrePr>
                        <m:sub>
                          <m:r>
                            <a:rPr kumimoji="0" lang="en-US" altLang="zh-CN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𝟑</m:t>
                          </m:r>
                        </m:sub>
                        <m:sup>
                          <m:r>
                            <a:rPr kumimoji="0" lang="en-US" altLang="zh-CN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𝟎</m:t>
                          </m:r>
                        </m:sup>
                        <m:e>
                          <m:r>
                            <a:rPr kumimoji="0" lang="en-US" altLang="zh-CN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𝑻</m:t>
                          </m:r>
                        </m:e>
                      </m:sPre>
                      <m:r>
                        <a:rPr kumimoji="0" lang="en-US" altLang="zh-CN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altLang="zh-CN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altLang="zh-CN" sz="20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𝟐</m:t>
                                    </m:r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𝟑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kumimoji="0" lang="en-US" altLang="zh-CN" sz="2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𝟐𝟑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𝒍</m:t>
                                    </m:r>
                                  </m:e>
                                  <m:sub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kumimoji="0" lang="en-US" altLang="zh-CN" sz="2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𝒍</m:t>
                                    </m:r>
                                  </m:e>
                                  <m:sub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𝟐𝟑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kumimoji="0" lang="en-US" altLang="zh-CN" sz="2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𝟐𝟑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kumimoji="0" lang="en-US" altLang="zh-CN" sz="2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𝐥</m:t>
                                    </m:r>
                                  </m:e>
                                  <m:sub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kumimoji="0" lang="en-US" altLang="zh-CN" sz="20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𝐥</m:t>
                                    </m:r>
                                  </m:e>
                                  <m:sub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𝟐𝟑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𝟐𝟑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kumimoji="0" lang="en-US" altLang="zh-CN" sz="2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𝟎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𝐥</m:t>
                                    </m:r>
                                  </m:e>
                                  <m:sub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𝐬</m:t>
                                    </m:r>
                                  </m:e>
                                  <m:sub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kumimoji="0" lang="en-US" altLang="zh-CN" sz="2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kumimoji="0" lang="en-US" altLang="zh-CN" sz="2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kumimoji="0" lang="en-US" altLang="zh-CN" sz="2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kumimoji="0" lang="en-US" altLang="zh-CN" sz="2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        用微分法求雅可比矩阵</a:t>
                </a:r>
                <a14:m>
                  <m:oMath xmlns:m="http://schemas.openxmlformats.org/officeDocument/2006/math">
                    <m:r>
                      <a:rPr kumimoji="0" lang="en-US" altLang="zh-CN" sz="20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cs"/>
                      </a:rPr>
                      <m:t> </m:t>
                    </m:r>
                    <m:r>
                      <a:rPr kumimoji="0" lang="en-US" altLang="zh-CN" sz="2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cs"/>
                      </a:rPr>
                      <m:t>𝑱</m:t>
                    </m:r>
                    <m:d>
                      <m:dPr>
                        <m:ctrlPr>
                          <a:rPr kumimoji="0" lang="en-US" altLang="zh-CN" sz="20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20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𝜽</m:t>
                        </m:r>
                      </m:e>
                    </m:d>
                    <m:r>
                      <a:rPr kumimoji="0" lang="zh-CN" altLang="en-US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cs"/>
                      </a:rPr>
                      <m:t>。</m:t>
                    </m:r>
                  </m:oMath>
                </a14:m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BB38B8B-9706-4CB1-90EC-CE78269A68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454" y="702176"/>
                <a:ext cx="10585176" cy="2174891"/>
              </a:xfrm>
              <a:prstGeom prst="rect">
                <a:avLst/>
              </a:prstGeom>
              <a:blipFill>
                <a:blip r:embed="rId2"/>
                <a:stretch>
                  <a:fillRect l="-634" b="-14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3AF6DDCC-6D04-9F7D-301D-CE4413F9CECF}"/>
              </a:ext>
            </a:extLst>
          </p:cNvPr>
          <p:cNvSpPr txBox="1"/>
          <p:nvPr/>
        </p:nvSpPr>
        <p:spPr>
          <a:xfrm>
            <a:off x="450454" y="2933237"/>
            <a:ext cx="60983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解答：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A6D218A3-9FBF-CC13-5610-24EE799E1A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1226951"/>
              </p:ext>
            </p:extLst>
          </p:nvPr>
        </p:nvGraphicFramePr>
        <p:xfrm>
          <a:off x="5743041" y="2877066"/>
          <a:ext cx="2137502" cy="12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06360" imgH="711000" progId="Equation.DSMT4">
                  <p:embed/>
                </p:oleObj>
              </mc:Choice>
              <mc:Fallback>
                <p:oleObj name="Equation" r:id="rId3" imgW="120636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43041" y="2877066"/>
                        <a:ext cx="2137502" cy="126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3005F859-59C6-92E7-8109-C4F1754D30CE}"/>
              </a:ext>
            </a:extLst>
          </p:cNvPr>
          <p:cNvSpPr txBox="1"/>
          <p:nvPr/>
        </p:nvSpPr>
        <p:spPr>
          <a:xfrm>
            <a:off x="1228116" y="3305718"/>
            <a:ext cx="46142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坐标系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r>
              <a:rPr lang="en-US" altLang="zh-CN" sz="20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原点相对于坐标系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{0}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的位置</a:t>
            </a:r>
            <a:endParaRPr lang="zh-CN" altLang="en-US" sz="20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B076352-3311-898F-DADB-245B86CD0DB3}"/>
              </a:ext>
            </a:extLst>
          </p:cNvPr>
          <p:cNvSpPr txBox="1"/>
          <p:nvPr/>
        </p:nvSpPr>
        <p:spPr>
          <a:xfrm>
            <a:off x="1212255" y="4563132"/>
            <a:ext cx="47694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坐标系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r>
              <a:rPr lang="en-US" altLang="zh-CN" sz="20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原点相对于坐标系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{0}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的线速度</a:t>
            </a:r>
          </a:p>
        </p:txBody>
      </p: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9A885B47-5689-9D88-499F-E691AE2899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1644475"/>
              </p:ext>
            </p:extLst>
          </p:nvPr>
        </p:nvGraphicFramePr>
        <p:xfrm>
          <a:off x="5981700" y="4137066"/>
          <a:ext cx="6213475" cy="1258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632040" imgH="736560" progId="Equation.DSMT4">
                  <p:embed/>
                </p:oleObj>
              </mc:Choice>
              <mc:Fallback>
                <p:oleObj name="Equation" r:id="rId5" imgW="36320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981700" y="4137066"/>
                        <a:ext cx="6213475" cy="1258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5">
            <a:extLst>
              <a:ext uri="{FF2B5EF4-FFF2-40B4-BE49-F238E27FC236}">
                <a16:creationId xmlns:a16="http://schemas.microsoft.com/office/drawing/2014/main" id="{0032F9CA-496F-AFE0-54CC-6038E018427C}"/>
              </a:ext>
            </a:extLst>
          </p:cNvPr>
          <p:cNvSpPr txBox="1"/>
          <p:nvPr/>
        </p:nvSpPr>
        <p:spPr>
          <a:xfrm>
            <a:off x="1228116" y="5841287"/>
            <a:ext cx="24262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线速度雅可比</a:t>
            </a:r>
            <a:endParaRPr lang="zh-CN" altLang="en-US" dirty="0"/>
          </a:p>
        </p:txBody>
      </p: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13CD1EF2-B25D-FA8A-C4C1-7C00B45FDE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1673447"/>
              </p:ext>
            </p:extLst>
          </p:nvPr>
        </p:nvGraphicFramePr>
        <p:xfrm>
          <a:off x="5981700" y="5395953"/>
          <a:ext cx="3645000" cy="12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57400" imgH="711000" progId="Equation.DSMT4">
                  <p:embed/>
                </p:oleObj>
              </mc:Choice>
              <mc:Fallback>
                <p:oleObj name="Equation" r:id="rId7" imgW="205740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981700" y="5395953"/>
                        <a:ext cx="3645000" cy="126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36215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3" grpId="0"/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A2407-6DD9-3AA6-65BA-B9AC25CB5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C70519D-46FC-EA1A-DDC0-F75D46BB8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A44188-3096-49C0-8534-FE6F15E0F67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Palatino Linotype" panose="02040502050505030304" pitchFamily="18" charset="0"/>
                <a:ea typeface="微软雅黑 Ligh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Palatino Linotype" panose="02040502050505030304" pitchFamily="18" charset="0"/>
              <a:ea typeface="微软雅黑 Light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33FFDA1-8B00-B660-DA2B-4D2388ABAA45}"/>
              </a:ext>
            </a:extLst>
          </p:cNvPr>
          <p:cNvSpPr txBox="1"/>
          <p:nvPr/>
        </p:nvSpPr>
        <p:spPr>
          <a:xfrm>
            <a:off x="-1" y="33341"/>
            <a:ext cx="116846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D131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作  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80F3777-40E9-6CBA-0EF2-FF7E2C4A0950}"/>
                  </a:ext>
                </a:extLst>
              </p:cNvPr>
              <p:cNvSpPr txBox="1"/>
              <p:nvPr/>
            </p:nvSpPr>
            <p:spPr>
              <a:xfrm>
                <a:off x="450454" y="702176"/>
                <a:ext cx="10585176" cy="21748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题</a:t>
                </a: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1</a:t>
                </a: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：一个</a:t>
                </a: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3R</a:t>
                </a: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机器人正运动学方程为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kumimoji="0" lang="en-US" altLang="zh-CN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PrePr>
                        <m:sub>
                          <m:r>
                            <a:rPr kumimoji="0" lang="en-US" altLang="zh-CN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𝟑</m:t>
                          </m:r>
                        </m:sub>
                        <m:sup>
                          <m:r>
                            <a:rPr kumimoji="0" lang="en-US" altLang="zh-CN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𝟎</m:t>
                          </m:r>
                        </m:sup>
                        <m:e>
                          <m:r>
                            <a:rPr kumimoji="0" lang="en-US" altLang="zh-CN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𝑻</m:t>
                          </m:r>
                        </m:e>
                      </m:sPre>
                      <m:r>
                        <a:rPr kumimoji="0" lang="en-US" altLang="zh-CN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altLang="zh-CN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altLang="zh-CN" sz="20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𝟐</m:t>
                                    </m:r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𝟑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kumimoji="0" lang="en-US" altLang="zh-CN" sz="2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𝟐𝟑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𝒍</m:t>
                                    </m:r>
                                  </m:e>
                                  <m:sub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kumimoji="0" lang="en-US" altLang="zh-CN" sz="2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𝒍</m:t>
                                    </m:r>
                                  </m:e>
                                  <m:sub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𝟐𝟑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kumimoji="0" lang="en-US" altLang="zh-CN" sz="2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𝟐𝟑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kumimoji="0" lang="en-US" altLang="zh-CN" sz="2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𝐥</m:t>
                                    </m:r>
                                  </m:e>
                                  <m:sub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kumimoji="0" lang="en-US" altLang="zh-CN" sz="20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𝐥</m:t>
                                    </m:r>
                                  </m:e>
                                  <m:sub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𝟐𝟑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𝟐𝟑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kumimoji="0" lang="en-US" altLang="zh-CN" sz="2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𝟎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𝐥</m:t>
                                    </m:r>
                                  </m:e>
                                  <m:sub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𝐬</m:t>
                                    </m:r>
                                  </m:e>
                                  <m:sub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kumimoji="0" lang="en-US" altLang="zh-CN" sz="2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kumimoji="0" lang="en-US" altLang="zh-CN" sz="2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kumimoji="0" lang="en-US" altLang="zh-CN" sz="2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kumimoji="0" lang="en-US" altLang="zh-CN" sz="2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        用微分法求雅可比矩阵</a:t>
                </a:r>
                <a14:m>
                  <m:oMath xmlns:m="http://schemas.openxmlformats.org/officeDocument/2006/math">
                    <m:r>
                      <a:rPr kumimoji="0" lang="en-US" altLang="zh-CN" sz="20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cs"/>
                      </a:rPr>
                      <m:t> </m:t>
                    </m:r>
                    <m:r>
                      <a:rPr kumimoji="0" lang="en-US" altLang="zh-CN" sz="2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cs"/>
                      </a:rPr>
                      <m:t>𝑱</m:t>
                    </m:r>
                    <m:d>
                      <m:dPr>
                        <m:ctrlPr>
                          <a:rPr kumimoji="0" lang="en-US" altLang="zh-CN" sz="20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20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𝜽</m:t>
                        </m:r>
                      </m:e>
                    </m:d>
                    <m:r>
                      <a:rPr kumimoji="0" lang="zh-CN" altLang="en-US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cs"/>
                      </a:rPr>
                      <m:t>。</m:t>
                    </m:r>
                  </m:oMath>
                </a14:m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80F3777-40E9-6CBA-0EF2-FF7E2C4A09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454" y="702176"/>
                <a:ext cx="10585176" cy="2174891"/>
              </a:xfrm>
              <a:prstGeom prst="rect">
                <a:avLst/>
              </a:prstGeom>
              <a:blipFill>
                <a:blip r:embed="rId2"/>
                <a:stretch>
                  <a:fillRect l="-634" b="-14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8D3322D9-5131-984C-35F0-9DC8F55487E0}"/>
              </a:ext>
            </a:extLst>
          </p:cNvPr>
          <p:cNvSpPr txBox="1"/>
          <p:nvPr/>
        </p:nvSpPr>
        <p:spPr>
          <a:xfrm>
            <a:off x="450454" y="2933237"/>
            <a:ext cx="60983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解答：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D3C0E15F-54AF-5A78-439E-A853E452E5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2920233"/>
              </p:ext>
            </p:extLst>
          </p:nvPr>
        </p:nvGraphicFramePr>
        <p:xfrm>
          <a:off x="1228116" y="2871533"/>
          <a:ext cx="7386637" cy="1258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317840" imgH="736560" progId="Equation.DSMT4">
                  <p:embed/>
                </p:oleObj>
              </mc:Choice>
              <mc:Fallback>
                <p:oleObj name="Equation" r:id="rId3" imgW="4317840" imgH="73656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9A885B47-5689-9D88-499F-E691AE2899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28116" y="2871533"/>
                        <a:ext cx="7386637" cy="1258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5">
            <a:extLst>
              <a:ext uri="{FF2B5EF4-FFF2-40B4-BE49-F238E27FC236}">
                <a16:creationId xmlns:a16="http://schemas.microsoft.com/office/drawing/2014/main" id="{1AB29CA1-2650-ACCD-6B97-3D955360A5ED}"/>
              </a:ext>
            </a:extLst>
          </p:cNvPr>
          <p:cNvSpPr txBox="1"/>
          <p:nvPr/>
        </p:nvSpPr>
        <p:spPr>
          <a:xfrm>
            <a:off x="1228117" y="5841287"/>
            <a:ext cx="125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计算可得</a:t>
            </a:r>
            <a:endParaRPr lang="zh-CN" altLang="en-US" dirty="0"/>
          </a:p>
        </p:txBody>
      </p: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DAE91FE2-0D19-30CB-524A-C7249125AD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2834594"/>
              </p:ext>
            </p:extLst>
          </p:nvPr>
        </p:nvGraphicFramePr>
        <p:xfrm>
          <a:off x="2485316" y="5389692"/>
          <a:ext cx="1955800" cy="139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04840" imgH="787320" progId="Equation.DSMT4">
                  <p:embed/>
                </p:oleObj>
              </mc:Choice>
              <mc:Fallback>
                <p:oleObj name="Equation" r:id="rId5" imgW="1104840" imgH="78732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13CD1EF2-B25D-FA8A-C4C1-7C00B45FDE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85316" y="5389692"/>
                        <a:ext cx="1955800" cy="1393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9BEFF575-9CFB-A489-C5A4-6647A306EB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2266218"/>
              </p:ext>
            </p:extLst>
          </p:nvPr>
        </p:nvGraphicFramePr>
        <p:xfrm>
          <a:off x="1228116" y="4130421"/>
          <a:ext cx="3213000" cy="12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42920" imgH="761760" progId="Equation.DSMT4">
                  <p:embed/>
                </p:oleObj>
              </mc:Choice>
              <mc:Fallback>
                <p:oleObj name="Equation" r:id="rId7" imgW="1942920" imgH="761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28116" y="4130421"/>
                        <a:ext cx="3213000" cy="126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64FC2BF4-6033-75E4-1870-D6706DF2AD57}"/>
              </a:ext>
            </a:extLst>
          </p:cNvPr>
          <p:cNvSpPr txBox="1"/>
          <p:nvPr/>
        </p:nvSpPr>
        <p:spPr>
          <a:xfrm>
            <a:off x="5842320" y="5133755"/>
            <a:ext cx="20583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综上，雅可比矩阵</a:t>
            </a:r>
            <a:endParaRPr lang="zh-CN" altLang="en-US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04A32F68-8863-1362-F412-9FD0983FD5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7304297"/>
              </p:ext>
            </p:extLst>
          </p:nvPr>
        </p:nvGraphicFramePr>
        <p:xfrm>
          <a:off x="7889875" y="4130675"/>
          <a:ext cx="3805238" cy="237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197080" imgH="1371600" progId="Equation.DSMT4">
                  <p:embed/>
                </p:oleObj>
              </mc:Choice>
              <mc:Fallback>
                <p:oleObj name="Equation" r:id="rId9" imgW="2197080" imgH="1371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889875" y="4130675"/>
                        <a:ext cx="3805238" cy="2376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71019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1C80F-7D5B-585A-8817-031D677E8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851FC4B-AE99-3097-2AC8-2975D5197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A44188-3096-49C0-8534-FE6F15E0F67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Palatino Linotype" panose="02040502050505030304" pitchFamily="18" charset="0"/>
                <a:ea typeface="微软雅黑 Ligh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Palatino Linotype" panose="02040502050505030304" pitchFamily="18" charset="0"/>
              <a:ea typeface="微软雅黑 Light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28F6560-0A7D-528C-FBD8-F446D656B2AD}"/>
              </a:ext>
            </a:extLst>
          </p:cNvPr>
          <p:cNvSpPr txBox="1"/>
          <p:nvPr/>
        </p:nvSpPr>
        <p:spPr>
          <a:xfrm>
            <a:off x="-1" y="33341"/>
            <a:ext cx="116846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D131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作  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7F7651D-8F14-E4AF-3FAD-70F177F6F175}"/>
                  </a:ext>
                </a:extLst>
              </p:cNvPr>
              <p:cNvSpPr txBox="1"/>
              <p:nvPr/>
            </p:nvSpPr>
            <p:spPr>
              <a:xfrm>
                <a:off x="450454" y="843183"/>
                <a:ext cx="7010351" cy="21478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题</a:t>
                </a: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2</a:t>
                </a: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：一个两连杆机器人雅可比如下：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kumimoji="0" lang="en-US" altLang="zh-CN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PrePr>
                        <m:sub/>
                        <m:sup>
                          <m:r>
                            <a:rPr kumimoji="0" lang="en-US" altLang="zh-CN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𝟎</m:t>
                          </m:r>
                        </m:sup>
                        <m:e>
                          <m:r>
                            <a:rPr kumimoji="0" lang="en-US" altLang="zh-CN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𝑱</m:t>
                          </m:r>
                          <m:r>
                            <a:rPr kumimoji="0" lang="en-US" altLang="zh-CN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r>
                            <a:rPr kumimoji="0" lang="en-US" altLang="zh-CN" sz="20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𝛉</m:t>
                          </m:r>
                          <m:r>
                            <a:rPr kumimoji="0" lang="en-US" altLang="zh-CN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</m:e>
                      </m:sPre>
                      <m:r>
                        <a:rPr kumimoji="0" lang="en-US" altLang="zh-CN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altLang="zh-CN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altLang="zh-CN" sz="20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0" lang="en-US" altLang="zh-CN" sz="2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𝒍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kumimoji="0" lang="en-US" altLang="zh-CN" sz="20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𝐥</m:t>
                                    </m:r>
                                  </m:e>
                                  <m:sub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𝐬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𝟏</m:t>
                                    </m:r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kumimoji="0" lang="en-US" altLang="zh-CN" sz="20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𝐥</m:t>
                                    </m:r>
                                  </m:e>
                                  <m:sub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𝐬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𝟏</m:t>
                                    </m:r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kumimoji="0" lang="en-US" altLang="zh-CN" sz="2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𝐥</m:t>
                                    </m:r>
                                  </m:e>
                                  <m:sub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𝟏</m:t>
                                    </m:r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𝐥</m:t>
                                    </m:r>
                                  </m:e>
                                  <m:sub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0" lang="en-US" altLang="zh-CN" sz="20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𝟏</m:t>
                                    </m:r>
                                    <m:r>
                                      <a:rPr kumimoji="0" lang="en-US" altLang="zh-CN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  <a:p>
                <a:pPr marL="536575" marR="0" lvl="0" indent="-536575" algn="l" defTabSz="914400" rtl="0" eaLnBrk="1" fontAlgn="auto" latinLnBrk="0" hangingPunct="1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        忽略重力，为了使机器人施加力矢量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kumimoji="0" lang="en-US" altLang="zh-CN" sz="20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PrePr>
                      <m:sub/>
                      <m:sup>
                        <m:r>
                          <a:rPr kumimoji="0" lang="en-US" altLang="zh-CN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𝟎</m:t>
                        </m:r>
                      </m:sup>
                      <m:e>
                        <m:r>
                          <a:rPr kumimoji="0" lang="en-US" altLang="zh-CN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𝑭</m:t>
                        </m:r>
                      </m:e>
                    </m:sPre>
                    <m:r>
                      <a:rPr kumimoji="0" lang="en-US" altLang="zh-CN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en-US" altLang="zh-CN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𝟓</m:t>
                    </m:r>
                    <m:sSub>
                      <m:sSubPr>
                        <m:ctrlPr>
                          <a:rPr kumimoji="0" lang="en-US" altLang="zh-CN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kumimoji="0" lang="en-US" altLang="zh-CN" sz="20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kumimoji="0" lang="en-US" altLang="zh-CN" sz="20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𝑿</m:t>
                            </m:r>
                          </m:e>
                        </m:acc>
                      </m:e>
                      <m:sub>
                        <m:r>
                          <a:rPr kumimoji="0" lang="en-US" altLang="zh-CN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𝟎</m:t>
                        </m:r>
                      </m:sub>
                    </m:sSub>
                    <m:r>
                      <a:rPr kumimoji="0" lang="en-US" altLang="zh-CN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  <m:r>
                      <a:rPr kumimoji="0" lang="en-US" altLang="zh-CN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𝟑</m:t>
                    </m:r>
                    <m:sSub>
                      <m:sSubPr>
                        <m:ctrlPr>
                          <a:rPr kumimoji="0" lang="en-US" altLang="zh-CN" sz="20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kumimoji="0" lang="en-US" altLang="zh-CN" sz="20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kumimoji="0" lang="en-US" altLang="zh-CN" sz="20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cs"/>
                              </a:rPr>
                              <m:t>𝒀</m:t>
                            </m:r>
                          </m:e>
                        </m:acc>
                      </m:e>
                      <m:sub>
                        <m:r>
                          <a:rPr kumimoji="0" lang="en-US" altLang="zh-CN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𝟎</m:t>
                        </m:r>
                      </m:sub>
                    </m:sSub>
                  </m:oMath>
                </a14:m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，求需要多大的关节力矩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7F7651D-8F14-E4AF-3FAD-70F177F6F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454" y="843183"/>
                <a:ext cx="7010351" cy="2147896"/>
              </a:xfrm>
              <a:prstGeom prst="rect">
                <a:avLst/>
              </a:prstGeom>
              <a:blipFill>
                <a:blip r:embed="rId2"/>
                <a:stretch>
                  <a:fillRect l="-957" r="-609" b="-39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700A7727-E8BF-E98B-B8F3-081F2DB49F43}"/>
              </a:ext>
            </a:extLst>
          </p:cNvPr>
          <p:cNvSpPr txBox="1"/>
          <p:nvPr/>
        </p:nvSpPr>
        <p:spPr>
          <a:xfrm>
            <a:off x="994421" y="5220894"/>
            <a:ext cx="10553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机械臂末端受到的静力乘以雅可比矩阵的转置  等于  与之平衡的关节静力矩</a:t>
            </a: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7851EB27-4B55-EB67-19A3-DDC794DA46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9703670"/>
              </p:ext>
            </p:extLst>
          </p:nvPr>
        </p:nvGraphicFramePr>
        <p:xfrm>
          <a:off x="994421" y="3866922"/>
          <a:ext cx="10203158" cy="10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559040" imgH="482400" progId="Equation.DSMT4">
                  <p:embed/>
                </p:oleObj>
              </mc:Choice>
              <mc:Fallback>
                <p:oleObj name="Equation" r:id="rId3" imgW="455904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94421" y="3866922"/>
                        <a:ext cx="10203158" cy="108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2">
            <a:extLst>
              <a:ext uri="{FF2B5EF4-FFF2-40B4-BE49-F238E27FC236}">
                <a16:creationId xmlns:a16="http://schemas.microsoft.com/office/drawing/2014/main" id="{52140F25-9D55-EC58-5119-55570B4C5A87}"/>
              </a:ext>
            </a:extLst>
          </p:cNvPr>
          <p:cNvSpPr txBox="1"/>
          <p:nvPr/>
        </p:nvSpPr>
        <p:spPr>
          <a:xfrm>
            <a:off x="450454" y="313128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解答：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60497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48E78-6A4C-D903-47C0-90EDDF1ED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8940174-1A11-5740-A8BE-BDEBD6278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A44188-3096-49C0-8534-FE6F15E0F67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Palatino Linotype" panose="02040502050505030304" pitchFamily="18" charset="0"/>
                <a:ea typeface="微软雅黑 Ligh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Palatino Linotype" panose="02040502050505030304" pitchFamily="18" charset="0"/>
              <a:ea typeface="微软雅黑 Light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B184697-BFDA-24B2-DD5B-5746051B5B0F}"/>
              </a:ext>
            </a:extLst>
          </p:cNvPr>
          <p:cNvSpPr txBox="1"/>
          <p:nvPr/>
        </p:nvSpPr>
        <p:spPr>
          <a:xfrm>
            <a:off x="-1" y="33341"/>
            <a:ext cx="116846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D131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作  业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E76AEBF-F66B-0E39-92F5-5C465E6CF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4004" y="773593"/>
            <a:ext cx="3541116" cy="329088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3A33996-546A-CF1D-9827-0D7D95DF2897}"/>
              </a:ext>
            </a:extLst>
          </p:cNvPr>
          <p:cNvSpPr txBox="1"/>
          <p:nvPr/>
        </p:nvSpPr>
        <p:spPr>
          <a:xfrm>
            <a:off x="8301809" y="2687796"/>
            <a:ext cx="325730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l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0</a:t>
            </a:r>
            <a:endParaRPr kumimoji="0" lang="zh-CN" altLang="en-US" sz="1800" b="1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 Light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20A57FB-B5D0-42F9-8E38-2D2C0F39CEF2}"/>
              </a:ext>
            </a:extLst>
          </p:cNvPr>
          <p:cNvSpPr txBox="1"/>
          <p:nvPr/>
        </p:nvSpPr>
        <p:spPr>
          <a:xfrm>
            <a:off x="10368881" y="732481"/>
            <a:ext cx="377026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d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3</a:t>
            </a:r>
            <a:endParaRPr kumimoji="0" lang="zh-CN" altLang="en-US" sz="1800" b="1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 Light"/>
              <a:cs typeface="Times New Roman" panose="02020603050405020304" pitchFamily="18" charset="0"/>
            </a:endParaRPr>
          </a:p>
        </p:txBody>
      </p:sp>
      <p:sp>
        <p:nvSpPr>
          <p:cNvPr id="12" name="新月形 11">
            <a:extLst>
              <a:ext uri="{FF2B5EF4-FFF2-40B4-BE49-F238E27FC236}">
                <a16:creationId xmlns:a16="http://schemas.microsoft.com/office/drawing/2014/main" id="{C9651672-4D67-EC7D-49BC-AF0974234EC5}"/>
              </a:ext>
            </a:extLst>
          </p:cNvPr>
          <p:cNvSpPr/>
          <p:nvPr/>
        </p:nvSpPr>
        <p:spPr>
          <a:xfrm rot="16200000">
            <a:off x="9182961" y="1914219"/>
            <a:ext cx="247173" cy="698352"/>
          </a:xfrm>
          <a:prstGeom prst="moon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CBD6C401-DC26-08B2-EA26-E81D04EE1C96}"/>
              </a:ext>
            </a:extLst>
          </p:cNvPr>
          <p:cNvCxnSpPr>
            <a:cxnSpLocks/>
          </p:cNvCxnSpPr>
          <p:nvPr/>
        </p:nvCxnSpPr>
        <p:spPr>
          <a:xfrm flipV="1">
            <a:off x="9655724" y="2011675"/>
            <a:ext cx="0" cy="1003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新月形 16">
            <a:extLst>
              <a:ext uri="{FF2B5EF4-FFF2-40B4-BE49-F238E27FC236}">
                <a16:creationId xmlns:a16="http://schemas.microsoft.com/office/drawing/2014/main" id="{81868C64-B72D-27FC-44F4-166975886081}"/>
              </a:ext>
            </a:extLst>
          </p:cNvPr>
          <p:cNvSpPr/>
          <p:nvPr/>
        </p:nvSpPr>
        <p:spPr>
          <a:xfrm rot="9712521">
            <a:off x="8418865" y="1700257"/>
            <a:ext cx="179955" cy="329709"/>
          </a:xfrm>
          <a:prstGeom prst="moon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CF12193F-1240-1AC5-EE46-346695F79DE3}"/>
              </a:ext>
            </a:extLst>
          </p:cNvPr>
          <p:cNvCxnSpPr>
            <a:cxnSpLocks/>
            <a:stCxn id="17" idx="0"/>
          </p:cNvCxnSpPr>
          <p:nvPr/>
        </p:nvCxnSpPr>
        <p:spPr>
          <a:xfrm flipH="1">
            <a:off x="8364005" y="2049777"/>
            <a:ext cx="110608" cy="610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48D77912-BC06-5833-530C-5697DAB58D73}"/>
              </a:ext>
            </a:extLst>
          </p:cNvPr>
          <p:cNvSpPr txBox="1"/>
          <p:nvPr/>
        </p:nvSpPr>
        <p:spPr>
          <a:xfrm>
            <a:off x="9646330" y="192021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1</a:t>
            </a:r>
            <a:endParaRPr kumimoji="0" lang="zh-CN" altLang="en-US" sz="1800" b="1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 Light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BCC3C36-B4F9-6DF5-279A-48C8FB080EC0}"/>
              </a:ext>
            </a:extLst>
          </p:cNvPr>
          <p:cNvSpPr txBox="1"/>
          <p:nvPr/>
        </p:nvSpPr>
        <p:spPr>
          <a:xfrm>
            <a:off x="8110891" y="192612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2</a:t>
            </a:r>
            <a:endParaRPr kumimoji="0" lang="zh-CN" altLang="en-US" sz="1800" b="1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 Light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0069058-9062-19E3-6EFC-A3BBADE32285}"/>
              </a:ext>
            </a:extLst>
          </p:cNvPr>
          <p:cNvSpPr txBox="1"/>
          <p:nvPr/>
        </p:nvSpPr>
        <p:spPr>
          <a:xfrm>
            <a:off x="450454" y="704725"/>
            <a:ext cx="7904284" cy="1596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题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：如右图所示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RRP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机械臂，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1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2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3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为关节变量，坐标系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{0}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、以及坐标系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{3}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的原点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3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已在图中画出。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）画出坐标系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{1}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{2}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{3}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；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）填写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DH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参数表；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）求出正运动学方程；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）求出雅可比矩阵；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）分析该机械臂的奇异点。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C76BCCB6-A74B-6012-39A2-A0D24045FC65}"/>
              </a:ext>
            </a:extLst>
          </p:cNvPr>
          <p:cNvGrpSpPr/>
          <p:nvPr/>
        </p:nvGrpSpPr>
        <p:grpSpPr>
          <a:xfrm>
            <a:off x="8926546" y="739634"/>
            <a:ext cx="1312005" cy="1005634"/>
            <a:chOff x="9209989" y="744063"/>
            <a:chExt cx="1312005" cy="1005634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D8FFDFA-0EC4-F78E-4AEA-01A457F9CA28}"/>
                </a:ext>
              </a:extLst>
            </p:cNvPr>
            <p:cNvSpPr txBox="1"/>
            <p:nvPr/>
          </p:nvSpPr>
          <p:spPr>
            <a:xfrm>
              <a:off x="9209989" y="744063"/>
              <a:ext cx="383438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altLang="zh-CN" sz="2000" b="1" baseline="-250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000" b="1" baseline="-25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13BB140F-061F-154F-F04A-14CDB5403F2E}"/>
                </a:ext>
              </a:extLst>
            </p:cNvPr>
            <p:cNvSpPr txBox="1"/>
            <p:nvPr/>
          </p:nvSpPr>
          <p:spPr>
            <a:xfrm>
              <a:off x="10124128" y="1349587"/>
              <a:ext cx="39786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000" b="1" baseline="-250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000" b="1" baseline="-25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8D45F382-7C0A-3A4F-BFB2-EE158C8B0169}"/>
                </a:ext>
              </a:extLst>
            </p:cNvPr>
            <p:cNvCxnSpPr>
              <a:cxnSpLocks/>
            </p:cNvCxnSpPr>
            <p:nvPr/>
          </p:nvCxnSpPr>
          <p:spPr>
            <a:xfrm>
              <a:off x="9583988" y="1630038"/>
              <a:ext cx="620309" cy="0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1C3ED5AB-002D-8000-B66F-CB8C134905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83988" y="1017503"/>
              <a:ext cx="0" cy="612535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41DC343B-5901-37DF-AAB3-CDC397E0D7C7}"/>
              </a:ext>
            </a:extLst>
          </p:cNvPr>
          <p:cNvGrpSpPr/>
          <p:nvPr/>
        </p:nvGrpSpPr>
        <p:grpSpPr>
          <a:xfrm>
            <a:off x="9097784" y="686864"/>
            <a:ext cx="1068610" cy="945547"/>
            <a:chOff x="9382951" y="684491"/>
            <a:chExt cx="1068610" cy="945547"/>
          </a:xfrm>
        </p:grpSpPr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F864931A-AC6B-3E9D-F30A-681F00AF6B81}"/>
                </a:ext>
              </a:extLst>
            </p:cNvPr>
            <p:cNvSpPr txBox="1"/>
            <p:nvPr/>
          </p:nvSpPr>
          <p:spPr>
            <a:xfrm>
              <a:off x="10068123" y="1057068"/>
              <a:ext cx="383438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altLang="zh-CN" sz="2000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20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DFDF18F-D859-1351-8E85-74BB3332C0E8}"/>
                </a:ext>
              </a:extLst>
            </p:cNvPr>
            <p:cNvSpPr txBox="1"/>
            <p:nvPr/>
          </p:nvSpPr>
          <p:spPr>
            <a:xfrm>
              <a:off x="9382951" y="684491"/>
              <a:ext cx="39786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000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20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9745F428-B36D-F8A2-AC28-BB801FA2AED7}"/>
                </a:ext>
              </a:extLst>
            </p:cNvPr>
            <p:cNvCxnSpPr>
              <a:cxnSpLocks/>
              <a:endCxn id="34" idx="2"/>
            </p:cNvCxnSpPr>
            <p:nvPr/>
          </p:nvCxnSpPr>
          <p:spPr>
            <a:xfrm flipV="1">
              <a:off x="9583988" y="1457178"/>
              <a:ext cx="675854" cy="17286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D6197359-6332-3CE6-0367-F1EFDAFE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83988" y="1017503"/>
              <a:ext cx="0" cy="61253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1F861AD1-7EF2-5D00-83AE-90C36073A492}"/>
              </a:ext>
            </a:extLst>
          </p:cNvPr>
          <p:cNvGrpSpPr/>
          <p:nvPr/>
        </p:nvGrpSpPr>
        <p:grpSpPr>
          <a:xfrm>
            <a:off x="11095196" y="644913"/>
            <a:ext cx="1010961" cy="980696"/>
            <a:chOff x="9385055" y="649342"/>
            <a:chExt cx="1010961" cy="980696"/>
          </a:xfrm>
        </p:grpSpPr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AA3518AE-AE1E-F5DB-61A9-587E6244EB25}"/>
                </a:ext>
              </a:extLst>
            </p:cNvPr>
            <p:cNvSpPr txBox="1"/>
            <p:nvPr/>
          </p:nvSpPr>
          <p:spPr>
            <a:xfrm>
              <a:off x="10012578" y="1229928"/>
              <a:ext cx="383438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altLang="zh-CN" sz="2000" b="1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2000" b="1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5E2BE044-A264-3364-10BA-772D59666B8E}"/>
                </a:ext>
              </a:extLst>
            </p:cNvPr>
            <p:cNvSpPr txBox="1"/>
            <p:nvPr/>
          </p:nvSpPr>
          <p:spPr>
            <a:xfrm>
              <a:off x="9385055" y="649342"/>
              <a:ext cx="39786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000" b="1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2000" b="1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566D32F2-83DD-7283-D746-169600C12D07}"/>
                </a:ext>
              </a:extLst>
            </p:cNvPr>
            <p:cNvCxnSpPr>
              <a:cxnSpLocks/>
            </p:cNvCxnSpPr>
            <p:nvPr/>
          </p:nvCxnSpPr>
          <p:spPr>
            <a:xfrm>
              <a:off x="9583988" y="1630038"/>
              <a:ext cx="620309" cy="0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A7750F35-D7C9-1233-AD30-E4377D01CA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83988" y="1017503"/>
              <a:ext cx="0" cy="612535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7" name="表格 46">
                <a:extLst>
                  <a:ext uri="{FF2B5EF4-FFF2-40B4-BE49-F238E27FC236}">
                    <a16:creationId xmlns:a16="http://schemas.microsoft.com/office/drawing/2014/main" id="{6F2B9C93-64EF-2492-0A02-A07F0B9F12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3270023"/>
                  </p:ext>
                </p:extLst>
              </p:nvPr>
            </p:nvGraphicFramePr>
            <p:xfrm>
              <a:off x="2666124" y="2663505"/>
              <a:ext cx="448710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97420">
                      <a:extLst>
                        <a:ext uri="{9D8B030D-6E8A-4147-A177-3AD203B41FA5}">
                          <a16:colId xmlns:a16="http://schemas.microsoft.com/office/drawing/2014/main" val="964464573"/>
                        </a:ext>
                      </a:extLst>
                    </a:gridCol>
                    <a:gridCol w="897420">
                      <a:extLst>
                        <a:ext uri="{9D8B030D-6E8A-4147-A177-3AD203B41FA5}">
                          <a16:colId xmlns:a16="http://schemas.microsoft.com/office/drawing/2014/main" val="235533743"/>
                        </a:ext>
                      </a:extLst>
                    </a:gridCol>
                    <a:gridCol w="897420">
                      <a:extLst>
                        <a:ext uri="{9D8B030D-6E8A-4147-A177-3AD203B41FA5}">
                          <a16:colId xmlns:a16="http://schemas.microsoft.com/office/drawing/2014/main" val="641728310"/>
                        </a:ext>
                      </a:extLst>
                    </a:gridCol>
                    <a:gridCol w="897420">
                      <a:extLst>
                        <a:ext uri="{9D8B030D-6E8A-4147-A177-3AD203B41FA5}">
                          <a16:colId xmlns:a16="http://schemas.microsoft.com/office/drawing/2014/main" val="4182852785"/>
                        </a:ext>
                      </a:extLst>
                    </a:gridCol>
                    <a:gridCol w="897420">
                      <a:extLst>
                        <a:ext uri="{9D8B030D-6E8A-4147-A177-3AD203B41FA5}">
                          <a16:colId xmlns:a16="http://schemas.microsoft.com/office/drawing/2014/main" val="428167428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关节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𝜶</m:t>
                                    </m:r>
                                  </m:e>
                                  <m:sub>
                                    <m:r>
                                      <a:rPr lang="en-US" altLang="zh-CN" sz="1400" b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altLang="zh-CN" sz="1400" b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1400" b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zh-CN" altLang="en-US" sz="1400" b="1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400" b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sz="1400" b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altLang="zh-CN" sz="1400" b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1400" b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altLang="zh-CN" sz="1400" b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US" altLang="zh-CN" sz="1400" b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228841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7" name="表格 46">
                <a:extLst>
                  <a:ext uri="{FF2B5EF4-FFF2-40B4-BE49-F238E27FC236}">
                    <a16:creationId xmlns:a16="http://schemas.microsoft.com/office/drawing/2014/main" id="{6F2B9C93-64EF-2492-0A02-A07F0B9F12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3270023"/>
                  </p:ext>
                </p:extLst>
              </p:nvPr>
            </p:nvGraphicFramePr>
            <p:xfrm>
              <a:off x="2666124" y="2663505"/>
              <a:ext cx="448710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97420">
                      <a:extLst>
                        <a:ext uri="{9D8B030D-6E8A-4147-A177-3AD203B41FA5}">
                          <a16:colId xmlns:a16="http://schemas.microsoft.com/office/drawing/2014/main" val="964464573"/>
                        </a:ext>
                      </a:extLst>
                    </a:gridCol>
                    <a:gridCol w="897420">
                      <a:extLst>
                        <a:ext uri="{9D8B030D-6E8A-4147-A177-3AD203B41FA5}">
                          <a16:colId xmlns:a16="http://schemas.microsoft.com/office/drawing/2014/main" val="235533743"/>
                        </a:ext>
                      </a:extLst>
                    </a:gridCol>
                    <a:gridCol w="897420">
                      <a:extLst>
                        <a:ext uri="{9D8B030D-6E8A-4147-A177-3AD203B41FA5}">
                          <a16:colId xmlns:a16="http://schemas.microsoft.com/office/drawing/2014/main" val="641728310"/>
                        </a:ext>
                      </a:extLst>
                    </a:gridCol>
                    <a:gridCol w="897420">
                      <a:extLst>
                        <a:ext uri="{9D8B030D-6E8A-4147-A177-3AD203B41FA5}">
                          <a16:colId xmlns:a16="http://schemas.microsoft.com/office/drawing/2014/main" val="4182852785"/>
                        </a:ext>
                      </a:extLst>
                    </a:gridCol>
                    <a:gridCol w="897420">
                      <a:extLst>
                        <a:ext uri="{9D8B030D-6E8A-4147-A177-3AD203B41FA5}">
                          <a16:colId xmlns:a16="http://schemas.microsoft.com/office/drawing/2014/main" val="428167428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关节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000" t="-6452" r="-301351" b="-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1361" t="-6452" r="-203401" b="-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99324" t="-6452" r="-102027" b="-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02041" t="-6452" r="-2721" b="-241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288418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8" name="表格 47">
                <a:extLst>
                  <a:ext uri="{FF2B5EF4-FFF2-40B4-BE49-F238E27FC236}">
                    <a16:creationId xmlns:a16="http://schemas.microsoft.com/office/drawing/2014/main" id="{63423E8B-7C5B-D4B8-A69A-2AB4B42025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4067118"/>
                  </p:ext>
                </p:extLst>
              </p:nvPr>
            </p:nvGraphicFramePr>
            <p:xfrm>
              <a:off x="2666124" y="3034345"/>
              <a:ext cx="448710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97420">
                      <a:extLst>
                        <a:ext uri="{9D8B030D-6E8A-4147-A177-3AD203B41FA5}">
                          <a16:colId xmlns:a16="http://schemas.microsoft.com/office/drawing/2014/main" val="3420908167"/>
                        </a:ext>
                      </a:extLst>
                    </a:gridCol>
                    <a:gridCol w="897420">
                      <a:extLst>
                        <a:ext uri="{9D8B030D-6E8A-4147-A177-3AD203B41FA5}">
                          <a16:colId xmlns:a16="http://schemas.microsoft.com/office/drawing/2014/main" val="4218493241"/>
                        </a:ext>
                      </a:extLst>
                    </a:gridCol>
                    <a:gridCol w="897420">
                      <a:extLst>
                        <a:ext uri="{9D8B030D-6E8A-4147-A177-3AD203B41FA5}">
                          <a16:colId xmlns:a16="http://schemas.microsoft.com/office/drawing/2014/main" val="72192403"/>
                        </a:ext>
                      </a:extLst>
                    </a:gridCol>
                    <a:gridCol w="897420">
                      <a:extLst>
                        <a:ext uri="{9D8B030D-6E8A-4147-A177-3AD203B41FA5}">
                          <a16:colId xmlns:a16="http://schemas.microsoft.com/office/drawing/2014/main" val="1679685032"/>
                        </a:ext>
                      </a:extLst>
                    </a:gridCol>
                    <a:gridCol w="897420">
                      <a:extLst>
                        <a:ext uri="{9D8B030D-6E8A-4147-A177-3AD203B41FA5}">
                          <a16:colId xmlns:a16="http://schemas.microsoft.com/office/drawing/2014/main" val="409590373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CN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CN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CN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𝒍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54262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8" name="表格 47">
                <a:extLst>
                  <a:ext uri="{FF2B5EF4-FFF2-40B4-BE49-F238E27FC236}">
                    <a16:creationId xmlns:a16="http://schemas.microsoft.com/office/drawing/2014/main" id="{63423E8B-7C5B-D4B8-A69A-2AB4B42025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4067118"/>
                  </p:ext>
                </p:extLst>
              </p:nvPr>
            </p:nvGraphicFramePr>
            <p:xfrm>
              <a:off x="2666124" y="3034345"/>
              <a:ext cx="448710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97420">
                      <a:extLst>
                        <a:ext uri="{9D8B030D-6E8A-4147-A177-3AD203B41FA5}">
                          <a16:colId xmlns:a16="http://schemas.microsoft.com/office/drawing/2014/main" val="3420908167"/>
                        </a:ext>
                      </a:extLst>
                    </a:gridCol>
                    <a:gridCol w="897420">
                      <a:extLst>
                        <a:ext uri="{9D8B030D-6E8A-4147-A177-3AD203B41FA5}">
                          <a16:colId xmlns:a16="http://schemas.microsoft.com/office/drawing/2014/main" val="4218493241"/>
                        </a:ext>
                      </a:extLst>
                    </a:gridCol>
                    <a:gridCol w="897420">
                      <a:extLst>
                        <a:ext uri="{9D8B030D-6E8A-4147-A177-3AD203B41FA5}">
                          <a16:colId xmlns:a16="http://schemas.microsoft.com/office/drawing/2014/main" val="72192403"/>
                        </a:ext>
                      </a:extLst>
                    </a:gridCol>
                    <a:gridCol w="897420">
                      <a:extLst>
                        <a:ext uri="{9D8B030D-6E8A-4147-A177-3AD203B41FA5}">
                          <a16:colId xmlns:a16="http://schemas.microsoft.com/office/drawing/2014/main" val="1679685032"/>
                        </a:ext>
                      </a:extLst>
                    </a:gridCol>
                    <a:gridCol w="897420">
                      <a:extLst>
                        <a:ext uri="{9D8B030D-6E8A-4147-A177-3AD203B41FA5}">
                          <a16:colId xmlns:a16="http://schemas.microsoft.com/office/drawing/2014/main" val="409590373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CN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CN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CN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99324" t="-6452" r="-102027" b="-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02041" t="-6452" r="-2721" b="-241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542622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表格 48">
                <a:extLst>
                  <a:ext uri="{FF2B5EF4-FFF2-40B4-BE49-F238E27FC236}">
                    <a16:creationId xmlns:a16="http://schemas.microsoft.com/office/drawing/2014/main" id="{848C2045-32C9-06BD-AD4C-7815456350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9776696"/>
                  </p:ext>
                </p:extLst>
              </p:nvPr>
            </p:nvGraphicFramePr>
            <p:xfrm>
              <a:off x="2666124" y="3405185"/>
              <a:ext cx="448710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97420">
                      <a:extLst>
                        <a:ext uri="{9D8B030D-6E8A-4147-A177-3AD203B41FA5}">
                          <a16:colId xmlns:a16="http://schemas.microsoft.com/office/drawing/2014/main" val="3903980153"/>
                        </a:ext>
                      </a:extLst>
                    </a:gridCol>
                    <a:gridCol w="897420">
                      <a:extLst>
                        <a:ext uri="{9D8B030D-6E8A-4147-A177-3AD203B41FA5}">
                          <a16:colId xmlns:a16="http://schemas.microsoft.com/office/drawing/2014/main" val="103550731"/>
                        </a:ext>
                      </a:extLst>
                    </a:gridCol>
                    <a:gridCol w="897420">
                      <a:extLst>
                        <a:ext uri="{9D8B030D-6E8A-4147-A177-3AD203B41FA5}">
                          <a16:colId xmlns:a16="http://schemas.microsoft.com/office/drawing/2014/main" val="1742137356"/>
                        </a:ext>
                      </a:extLst>
                    </a:gridCol>
                    <a:gridCol w="897420">
                      <a:extLst>
                        <a:ext uri="{9D8B030D-6E8A-4147-A177-3AD203B41FA5}">
                          <a16:colId xmlns:a16="http://schemas.microsoft.com/office/drawing/2014/main" val="2834064147"/>
                        </a:ext>
                      </a:extLst>
                    </a:gridCol>
                    <a:gridCol w="897420">
                      <a:extLst>
                        <a:ext uri="{9D8B030D-6E8A-4147-A177-3AD203B41FA5}">
                          <a16:colId xmlns:a16="http://schemas.microsoft.com/office/drawing/2014/main" val="20627331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zh-CN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solidFill>
                                <a:schemeClr val="tx1"/>
                              </a:solidFill>
                            </a:rPr>
                            <a:t>-90°</a:t>
                          </a:r>
                          <a:endParaRPr lang="zh-CN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CN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CN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741558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表格 48">
                <a:extLst>
                  <a:ext uri="{FF2B5EF4-FFF2-40B4-BE49-F238E27FC236}">
                    <a16:creationId xmlns:a16="http://schemas.microsoft.com/office/drawing/2014/main" id="{848C2045-32C9-06BD-AD4C-7815456350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9776696"/>
                  </p:ext>
                </p:extLst>
              </p:nvPr>
            </p:nvGraphicFramePr>
            <p:xfrm>
              <a:off x="2666124" y="3405185"/>
              <a:ext cx="448710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97420">
                      <a:extLst>
                        <a:ext uri="{9D8B030D-6E8A-4147-A177-3AD203B41FA5}">
                          <a16:colId xmlns:a16="http://schemas.microsoft.com/office/drawing/2014/main" val="3903980153"/>
                        </a:ext>
                      </a:extLst>
                    </a:gridCol>
                    <a:gridCol w="897420">
                      <a:extLst>
                        <a:ext uri="{9D8B030D-6E8A-4147-A177-3AD203B41FA5}">
                          <a16:colId xmlns:a16="http://schemas.microsoft.com/office/drawing/2014/main" val="103550731"/>
                        </a:ext>
                      </a:extLst>
                    </a:gridCol>
                    <a:gridCol w="897420">
                      <a:extLst>
                        <a:ext uri="{9D8B030D-6E8A-4147-A177-3AD203B41FA5}">
                          <a16:colId xmlns:a16="http://schemas.microsoft.com/office/drawing/2014/main" val="1742137356"/>
                        </a:ext>
                      </a:extLst>
                    </a:gridCol>
                    <a:gridCol w="897420">
                      <a:extLst>
                        <a:ext uri="{9D8B030D-6E8A-4147-A177-3AD203B41FA5}">
                          <a16:colId xmlns:a16="http://schemas.microsoft.com/office/drawing/2014/main" val="2834064147"/>
                        </a:ext>
                      </a:extLst>
                    </a:gridCol>
                    <a:gridCol w="897420">
                      <a:extLst>
                        <a:ext uri="{9D8B030D-6E8A-4147-A177-3AD203B41FA5}">
                          <a16:colId xmlns:a16="http://schemas.microsoft.com/office/drawing/2014/main" val="20627331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zh-CN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solidFill>
                                <a:schemeClr val="tx1"/>
                              </a:solidFill>
                            </a:rPr>
                            <a:t>-90°</a:t>
                          </a:r>
                          <a:endParaRPr lang="zh-CN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CN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99324" t="-6452" r="-102027" b="-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CN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741558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0" name="表格 49">
                <a:extLst>
                  <a:ext uri="{FF2B5EF4-FFF2-40B4-BE49-F238E27FC236}">
                    <a16:creationId xmlns:a16="http://schemas.microsoft.com/office/drawing/2014/main" id="{88DA14B2-6D8A-FCC1-31EE-86732B7AF4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6297365"/>
                  </p:ext>
                </p:extLst>
              </p:nvPr>
            </p:nvGraphicFramePr>
            <p:xfrm>
              <a:off x="2666124" y="3776025"/>
              <a:ext cx="448710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97420">
                      <a:extLst>
                        <a:ext uri="{9D8B030D-6E8A-4147-A177-3AD203B41FA5}">
                          <a16:colId xmlns:a16="http://schemas.microsoft.com/office/drawing/2014/main" val="1725029271"/>
                        </a:ext>
                      </a:extLst>
                    </a:gridCol>
                    <a:gridCol w="897420">
                      <a:extLst>
                        <a:ext uri="{9D8B030D-6E8A-4147-A177-3AD203B41FA5}">
                          <a16:colId xmlns:a16="http://schemas.microsoft.com/office/drawing/2014/main" val="3896583131"/>
                        </a:ext>
                      </a:extLst>
                    </a:gridCol>
                    <a:gridCol w="897420">
                      <a:extLst>
                        <a:ext uri="{9D8B030D-6E8A-4147-A177-3AD203B41FA5}">
                          <a16:colId xmlns:a16="http://schemas.microsoft.com/office/drawing/2014/main" val="2643787333"/>
                        </a:ext>
                      </a:extLst>
                    </a:gridCol>
                    <a:gridCol w="897420">
                      <a:extLst>
                        <a:ext uri="{9D8B030D-6E8A-4147-A177-3AD203B41FA5}">
                          <a16:colId xmlns:a16="http://schemas.microsoft.com/office/drawing/2014/main" val="713992570"/>
                        </a:ext>
                      </a:extLst>
                    </a:gridCol>
                    <a:gridCol w="897420">
                      <a:extLst>
                        <a:ext uri="{9D8B030D-6E8A-4147-A177-3AD203B41FA5}">
                          <a16:colId xmlns:a16="http://schemas.microsoft.com/office/drawing/2014/main" val="114603742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zh-CN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b="1" dirty="0">
                              <a:solidFill>
                                <a:schemeClr val="tx1"/>
                              </a:solidFill>
                            </a:rPr>
                            <a:t>-90°</a:t>
                          </a:r>
                          <a:endParaRPr lang="zh-CN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CN" b="1" dirty="0" smtClean="0">
                                    <a:solidFill>
                                      <a:schemeClr val="tx1"/>
                                    </a:solidFill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b="1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CN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811005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0" name="表格 49">
                <a:extLst>
                  <a:ext uri="{FF2B5EF4-FFF2-40B4-BE49-F238E27FC236}">
                    <a16:creationId xmlns:a16="http://schemas.microsoft.com/office/drawing/2014/main" id="{88DA14B2-6D8A-FCC1-31EE-86732B7AF4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6297365"/>
                  </p:ext>
                </p:extLst>
              </p:nvPr>
            </p:nvGraphicFramePr>
            <p:xfrm>
              <a:off x="2666124" y="3776025"/>
              <a:ext cx="448710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97420">
                      <a:extLst>
                        <a:ext uri="{9D8B030D-6E8A-4147-A177-3AD203B41FA5}">
                          <a16:colId xmlns:a16="http://schemas.microsoft.com/office/drawing/2014/main" val="1725029271"/>
                        </a:ext>
                      </a:extLst>
                    </a:gridCol>
                    <a:gridCol w="897420">
                      <a:extLst>
                        <a:ext uri="{9D8B030D-6E8A-4147-A177-3AD203B41FA5}">
                          <a16:colId xmlns:a16="http://schemas.microsoft.com/office/drawing/2014/main" val="3896583131"/>
                        </a:ext>
                      </a:extLst>
                    </a:gridCol>
                    <a:gridCol w="897420">
                      <a:extLst>
                        <a:ext uri="{9D8B030D-6E8A-4147-A177-3AD203B41FA5}">
                          <a16:colId xmlns:a16="http://schemas.microsoft.com/office/drawing/2014/main" val="2643787333"/>
                        </a:ext>
                      </a:extLst>
                    </a:gridCol>
                    <a:gridCol w="897420">
                      <a:extLst>
                        <a:ext uri="{9D8B030D-6E8A-4147-A177-3AD203B41FA5}">
                          <a16:colId xmlns:a16="http://schemas.microsoft.com/office/drawing/2014/main" val="713992570"/>
                        </a:ext>
                      </a:extLst>
                    </a:gridCol>
                    <a:gridCol w="897420">
                      <a:extLst>
                        <a:ext uri="{9D8B030D-6E8A-4147-A177-3AD203B41FA5}">
                          <a16:colId xmlns:a16="http://schemas.microsoft.com/office/drawing/2014/main" val="114603742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zh-CN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b="1" dirty="0">
                              <a:solidFill>
                                <a:schemeClr val="tx1"/>
                              </a:solidFill>
                            </a:rPr>
                            <a:t>-90°</a:t>
                          </a:r>
                          <a:endParaRPr lang="zh-CN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01361" t="-8065" r="-203401" b="-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b="1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CN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402041" t="-8065" r="-2721" b="-241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811005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2" name="文本框 51">
            <a:extLst>
              <a:ext uri="{FF2B5EF4-FFF2-40B4-BE49-F238E27FC236}">
                <a16:creationId xmlns:a16="http://schemas.microsoft.com/office/drawing/2014/main" id="{99D4727C-DD51-A27A-02D1-318A06E28E68}"/>
              </a:ext>
            </a:extLst>
          </p:cNvPr>
          <p:cNvSpPr txBox="1"/>
          <p:nvPr/>
        </p:nvSpPr>
        <p:spPr>
          <a:xfrm>
            <a:off x="450453" y="226339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解答：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7C008941-F1FF-64C9-5CD9-02227DFDBED3}"/>
              </a:ext>
            </a:extLst>
          </p:cNvPr>
          <p:cNvSpPr txBox="1"/>
          <p:nvPr/>
        </p:nvSpPr>
        <p:spPr>
          <a:xfrm>
            <a:off x="450453" y="2663505"/>
            <a:ext cx="22156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2)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填写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DH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参数表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6D000994-75BC-DEF3-1E2D-953BED1B0751}"/>
              </a:ext>
            </a:extLst>
          </p:cNvPr>
          <p:cNvSpPr txBox="1"/>
          <p:nvPr/>
        </p:nvSpPr>
        <p:spPr>
          <a:xfrm>
            <a:off x="450452" y="4146865"/>
            <a:ext cx="25715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3)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求出正运动学方程</a:t>
            </a:r>
          </a:p>
        </p:txBody>
      </p:sp>
      <p:graphicFrame>
        <p:nvGraphicFramePr>
          <p:cNvPr id="55" name="对象 54">
            <a:extLst>
              <a:ext uri="{FF2B5EF4-FFF2-40B4-BE49-F238E27FC236}">
                <a16:creationId xmlns:a16="http://schemas.microsoft.com/office/drawing/2014/main" id="{E04DBD8D-ED6F-7956-2D27-1EBCBF534D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9177371"/>
              </p:ext>
            </p:extLst>
          </p:nvPr>
        </p:nvGraphicFramePr>
        <p:xfrm>
          <a:off x="3178356" y="4271691"/>
          <a:ext cx="1906194" cy="12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84200" imgH="914400" progId="Equation.DSMT4">
                  <p:embed/>
                </p:oleObj>
              </mc:Choice>
              <mc:Fallback>
                <p:oleObj name="Equation" r:id="rId7" imgW="1384200" imgH="914400" progId="Equation.DSMT4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1708DF55-C7D5-6025-17B7-5226EAB0FF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78356" y="4271691"/>
                        <a:ext cx="1906194" cy="126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对象 55">
            <a:extLst>
              <a:ext uri="{FF2B5EF4-FFF2-40B4-BE49-F238E27FC236}">
                <a16:creationId xmlns:a16="http://schemas.microsoft.com/office/drawing/2014/main" id="{F8AAA6D0-7B32-6916-D649-962C19C4C7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1735939"/>
              </p:ext>
            </p:extLst>
          </p:nvPr>
        </p:nvGraphicFramePr>
        <p:xfrm>
          <a:off x="5590354" y="4272429"/>
          <a:ext cx="2030000" cy="12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473120" imgH="914400" progId="Equation.DSMT4">
                  <p:embed/>
                </p:oleObj>
              </mc:Choice>
              <mc:Fallback>
                <p:oleObj name="Equation" r:id="rId9" imgW="1473120" imgH="914400" progId="Equation.DSMT4">
                  <p:embed/>
                  <p:pic>
                    <p:nvPicPr>
                      <p:cNvPr id="36" name="对象 35">
                        <a:extLst>
                          <a:ext uri="{FF2B5EF4-FFF2-40B4-BE49-F238E27FC236}">
                            <a16:creationId xmlns:a16="http://schemas.microsoft.com/office/drawing/2014/main" id="{5D06CE36-C467-C32F-1399-2D3F9DB9FB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590354" y="4272429"/>
                        <a:ext cx="2030000" cy="126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对象 56">
            <a:extLst>
              <a:ext uri="{FF2B5EF4-FFF2-40B4-BE49-F238E27FC236}">
                <a16:creationId xmlns:a16="http://schemas.microsoft.com/office/drawing/2014/main" id="{64269AE3-365F-1E79-3124-09A8F07AAB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1315093"/>
              </p:ext>
            </p:extLst>
          </p:nvPr>
        </p:nvGraphicFramePr>
        <p:xfrm>
          <a:off x="8126158" y="4271691"/>
          <a:ext cx="1856843" cy="12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346040" imgH="914400" progId="Equation.DSMT4">
                  <p:embed/>
                </p:oleObj>
              </mc:Choice>
              <mc:Fallback>
                <p:oleObj name="Equation" r:id="rId11" imgW="1346040" imgH="914400" progId="Equation.DSMT4">
                  <p:embed/>
                  <p:pic>
                    <p:nvPicPr>
                      <p:cNvPr id="37" name="对象 36">
                        <a:extLst>
                          <a:ext uri="{FF2B5EF4-FFF2-40B4-BE49-F238E27FC236}">
                            <a16:creationId xmlns:a16="http://schemas.microsoft.com/office/drawing/2014/main" id="{7DBA2790-B4CD-08A4-0967-70FA8EEB9B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126158" y="4271691"/>
                        <a:ext cx="1856843" cy="126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对象 57">
            <a:extLst>
              <a:ext uri="{FF2B5EF4-FFF2-40B4-BE49-F238E27FC236}">
                <a16:creationId xmlns:a16="http://schemas.microsoft.com/office/drawing/2014/main" id="{A89787CE-8D12-A83C-7FD4-D1C7054C5E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2919500"/>
              </p:ext>
            </p:extLst>
          </p:nvPr>
        </p:nvGraphicFramePr>
        <p:xfrm>
          <a:off x="6440022" y="5531691"/>
          <a:ext cx="3798529" cy="12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755800" imgH="914400" progId="Equation.DSMT4">
                  <p:embed/>
                </p:oleObj>
              </mc:Choice>
              <mc:Fallback>
                <p:oleObj name="Equation" r:id="rId13" imgW="2755800" imgH="914400" progId="Equation.DSMT4">
                  <p:embed/>
                  <p:pic>
                    <p:nvPicPr>
                      <p:cNvPr id="39" name="对象 38">
                        <a:extLst>
                          <a:ext uri="{FF2B5EF4-FFF2-40B4-BE49-F238E27FC236}">
                            <a16:creationId xmlns:a16="http://schemas.microsoft.com/office/drawing/2014/main" id="{28E38B8A-364A-DEE7-BCB8-0098A8DAB9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440022" y="5531691"/>
                        <a:ext cx="3798529" cy="126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对象 58">
            <a:extLst>
              <a:ext uri="{FF2B5EF4-FFF2-40B4-BE49-F238E27FC236}">
                <a16:creationId xmlns:a16="http://schemas.microsoft.com/office/drawing/2014/main" id="{8C61F1ED-8B1A-D029-5564-CEF8A69D5A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7551144"/>
              </p:ext>
            </p:extLst>
          </p:nvPr>
        </p:nvGraphicFramePr>
        <p:xfrm>
          <a:off x="3178356" y="5531691"/>
          <a:ext cx="3027500" cy="12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197080" imgH="914400" progId="Equation.DSMT4">
                  <p:embed/>
                </p:oleObj>
              </mc:Choice>
              <mc:Fallback>
                <p:oleObj name="Equation" r:id="rId15" imgW="219708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178356" y="5531691"/>
                        <a:ext cx="3027500" cy="126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68442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135A3-1324-3BFC-BD4D-F3A9E2153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DCB0EBB-E5AC-2F74-ECD3-5FE650D39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A44188-3096-49C0-8534-FE6F15E0F67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Palatino Linotype" panose="02040502050505030304" pitchFamily="18" charset="0"/>
                <a:ea typeface="微软雅黑 Ligh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Palatino Linotype" panose="02040502050505030304" pitchFamily="18" charset="0"/>
              <a:ea typeface="微软雅黑 Light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B6A436E-FE83-969A-3B66-BCF6A975D413}"/>
              </a:ext>
            </a:extLst>
          </p:cNvPr>
          <p:cNvSpPr txBox="1"/>
          <p:nvPr/>
        </p:nvSpPr>
        <p:spPr>
          <a:xfrm>
            <a:off x="-1" y="33341"/>
            <a:ext cx="116846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D131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作  业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85EF81C-E8F6-A859-34EF-E4435CA4E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4004" y="773593"/>
            <a:ext cx="3541116" cy="329088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81FED1E-1ABB-A615-C07C-10BC12DC0298}"/>
              </a:ext>
            </a:extLst>
          </p:cNvPr>
          <p:cNvSpPr txBox="1"/>
          <p:nvPr/>
        </p:nvSpPr>
        <p:spPr>
          <a:xfrm>
            <a:off x="8301809" y="2687796"/>
            <a:ext cx="325730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l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0</a:t>
            </a:r>
            <a:endParaRPr kumimoji="0" lang="zh-CN" altLang="en-US" sz="1800" b="1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 Light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E53A36E-CE9A-085B-3420-DE3BEABF3F3D}"/>
              </a:ext>
            </a:extLst>
          </p:cNvPr>
          <p:cNvSpPr txBox="1"/>
          <p:nvPr/>
        </p:nvSpPr>
        <p:spPr>
          <a:xfrm>
            <a:off x="10368881" y="732481"/>
            <a:ext cx="377026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d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3</a:t>
            </a:r>
            <a:endParaRPr kumimoji="0" lang="zh-CN" altLang="en-US" sz="1800" b="1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 Light"/>
              <a:cs typeface="Times New Roman" panose="02020603050405020304" pitchFamily="18" charset="0"/>
            </a:endParaRPr>
          </a:p>
        </p:txBody>
      </p:sp>
      <p:sp>
        <p:nvSpPr>
          <p:cNvPr id="12" name="新月形 11">
            <a:extLst>
              <a:ext uri="{FF2B5EF4-FFF2-40B4-BE49-F238E27FC236}">
                <a16:creationId xmlns:a16="http://schemas.microsoft.com/office/drawing/2014/main" id="{5DD941AB-7D1A-0117-3BB2-0644DFA2CC79}"/>
              </a:ext>
            </a:extLst>
          </p:cNvPr>
          <p:cNvSpPr/>
          <p:nvPr/>
        </p:nvSpPr>
        <p:spPr>
          <a:xfrm rot="16200000">
            <a:off x="9182961" y="1914219"/>
            <a:ext cx="247173" cy="698352"/>
          </a:xfrm>
          <a:prstGeom prst="moon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F51259B9-DD4F-9DA2-FA57-18698913CFA9}"/>
              </a:ext>
            </a:extLst>
          </p:cNvPr>
          <p:cNvCxnSpPr>
            <a:cxnSpLocks/>
          </p:cNvCxnSpPr>
          <p:nvPr/>
        </p:nvCxnSpPr>
        <p:spPr>
          <a:xfrm flipV="1">
            <a:off x="9655724" y="2011675"/>
            <a:ext cx="0" cy="1003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新月形 16">
            <a:extLst>
              <a:ext uri="{FF2B5EF4-FFF2-40B4-BE49-F238E27FC236}">
                <a16:creationId xmlns:a16="http://schemas.microsoft.com/office/drawing/2014/main" id="{3B8A962B-F518-6CB7-8110-4B6F48113CF7}"/>
              </a:ext>
            </a:extLst>
          </p:cNvPr>
          <p:cNvSpPr/>
          <p:nvPr/>
        </p:nvSpPr>
        <p:spPr>
          <a:xfrm rot="9712521">
            <a:off x="8418865" y="1700257"/>
            <a:ext cx="179955" cy="329709"/>
          </a:xfrm>
          <a:prstGeom prst="moon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CA1034F6-49B3-B554-46B7-5A5D822E37C2}"/>
              </a:ext>
            </a:extLst>
          </p:cNvPr>
          <p:cNvCxnSpPr>
            <a:cxnSpLocks/>
            <a:stCxn id="17" idx="0"/>
          </p:cNvCxnSpPr>
          <p:nvPr/>
        </p:nvCxnSpPr>
        <p:spPr>
          <a:xfrm flipH="1">
            <a:off x="8364005" y="2049777"/>
            <a:ext cx="110608" cy="610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C46DFDE2-4575-2AB6-95E8-8B7C2A958ACD}"/>
              </a:ext>
            </a:extLst>
          </p:cNvPr>
          <p:cNvSpPr txBox="1"/>
          <p:nvPr/>
        </p:nvSpPr>
        <p:spPr>
          <a:xfrm>
            <a:off x="9646330" y="192021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1</a:t>
            </a:r>
            <a:endParaRPr kumimoji="0" lang="zh-CN" altLang="en-US" sz="1800" b="1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 Light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C41DB93-A527-276D-374A-C5B42771F6AF}"/>
              </a:ext>
            </a:extLst>
          </p:cNvPr>
          <p:cNvSpPr txBox="1"/>
          <p:nvPr/>
        </p:nvSpPr>
        <p:spPr>
          <a:xfrm>
            <a:off x="8110891" y="192612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2</a:t>
            </a:r>
            <a:endParaRPr kumimoji="0" lang="zh-CN" altLang="en-US" sz="1800" b="1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 Light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9AEB5E8-DDA9-F5A8-EBDF-31C1F3960E54}"/>
              </a:ext>
            </a:extLst>
          </p:cNvPr>
          <p:cNvSpPr txBox="1"/>
          <p:nvPr/>
        </p:nvSpPr>
        <p:spPr>
          <a:xfrm>
            <a:off x="450454" y="704725"/>
            <a:ext cx="7904284" cy="1596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题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：如右图所示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RRP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机械臂，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1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2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3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为关节变量，坐标系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{0}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、以及坐标系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{3}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的原点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3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已在图中画出。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）画出坐标系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{1}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{2}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{3}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；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）填写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DH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参数表；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）求出正运动学方程；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）求出雅可比矩阵；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）分析该机械臂的奇异点。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4B0628E0-0971-7EFA-42C4-307778E90F98}"/>
              </a:ext>
            </a:extLst>
          </p:cNvPr>
          <p:cNvGrpSpPr/>
          <p:nvPr/>
        </p:nvGrpSpPr>
        <p:grpSpPr>
          <a:xfrm>
            <a:off x="8926546" y="739634"/>
            <a:ext cx="1312005" cy="1005634"/>
            <a:chOff x="9209989" y="744063"/>
            <a:chExt cx="1312005" cy="1005634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1759400F-192D-3003-1C6B-64F2C2BC6050}"/>
                </a:ext>
              </a:extLst>
            </p:cNvPr>
            <p:cNvSpPr txBox="1"/>
            <p:nvPr/>
          </p:nvSpPr>
          <p:spPr>
            <a:xfrm>
              <a:off x="9209989" y="744063"/>
              <a:ext cx="383438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altLang="zh-CN" sz="2000" b="1" baseline="-250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000" b="1" baseline="-25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CF36BD33-1B9F-A64C-4B40-E4A3C37A5CD2}"/>
                </a:ext>
              </a:extLst>
            </p:cNvPr>
            <p:cNvSpPr txBox="1"/>
            <p:nvPr/>
          </p:nvSpPr>
          <p:spPr>
            <a:xfrm>
              <a:off x="10124128" y="1349587"/>
              <a:ext cx="39786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000" b="1" baseline="-250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000" b="1" baseline="-25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D01A4DB3-1870-71D7-FEDD-F20DE3AD28C2}"/>
                </a:ext>
              </a:extLst>
            </p:cNvPr>
            <p:cNvCxnSpPr>
              <a:cxnSpLocks/>
            </p:cNvCxnSpPr>
            <p:nvPr/>
          </p:nvCxnSpPr>
          <p:spPr>
            <a:xfrm>
              <a:off x="9583988" y="1630038"/>
              <a:ext cx="620309" cy="0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52F8F5F0-DA17-3377-6653-3514506DC4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83988" y="1017503"/>
              <a:ext cx="0" cy="612535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36136B24-258A-470E-87B4-1CD1FBED211E}"/>
              </a:ext>
            </a:extLst>
          </p:cNvPr>
          <p:cNvGrpSpPr/>
          <p:nvPr/>
        </p:nvGrpSpPr>
        <p:grpSpPr>
          <a:xfrm>
            <a:off x="9097784" y="686864"/>
            <a:ext cx="1068610" cy="945547"/>
            <a:chOff x="9382951" y="684491"/>
            <a:chExt cx="1068610" cy="945547"/>
          </a:xfrm>
        </p:grpSpPr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6EFF8A9E-D623-74B8-A19B-C508BF8216B1}"/>
                </a:ext>
              </a:extLst>
            </p:cNvPr>
            <p:cNvSpPr txBox="1"/>
            <p:nvPr/>
          </p:nvSpPr>
          <p:spPr>
            <a:xfrm>
              <a:off x="10068123" y="1057068"/>
              <a:ext cx="383438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altLang="zh-CN" sz="2000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20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1370322F-0F10-7C9D-6083-D3A3A8381513}"/>
                </a:ext>
              </a:extLst>
            </p:cNvPr>
            <p:cNvSpPr txBox="1"/>
            <p:nvPr/>
          </p:nvSpPr>
          <p:spPr>
            <a:xfrm>
              <a:off x="9382951" y="684491"/>
              <a:ext cx="39786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000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20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87705BD7-C8B7-35D8-2EBD-4704CAEED38C}"/>
                </a:ext>
              </a:extLst>
            </p:cNvPr>
            <p:cNvCxnSpPr>
              <a:cxnSpLocks/>
              <a:endCxn id="34" idx="2"/>
            </p:cNvCxnSpPr>
            <p:nvPr/>
          </p:nvCxnSpPr>
          <p:spPr>
            <a:xfrm flipV="1">
              <a:off x="9583988" y="1457178"/>
              <a:ext cx="675854" cy="17286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BC3B898E-CDD6-E3EE-87C9-29FE14E8DB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83988" y="1017503"/>
              <a:ext cx="0" cy="61253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6B50313E-300E-36AF-669D-DD3A9631F88C}"/>
              </a:ext>
            </a:extLst>
          </p:cNvPr>
          <p:cNvGrpSpPr/>
          <p:nvPr/>
        </p:nvGrpSpPr>
        <p:grpSpPr>
          <a:xfrm>
            <a:off x="11095196" y="644913"/>
            <a:ext cx="1010961" cy="980696"/>
            <a:chOff x="9385055" y="649342"/>
            <a:chExt cx="1010961" cy="980696"/>
          </a:xfrm>
        </p:grpSpPr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08E4CF9C-5111-E584-6E37-7B31EE9A0BD9}"/>
                </a:ext>
              </a:extLst>
            </p:cNvPr>
            <p:cNvSpPr txBox="1"/>
            <p:nvPr/>
          </p:nvSpPr>
          <p:spPr>
            <a:xfrm>
              <a:off x="10012578" y="1229928"/>
              <a:ext cx="383438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altLang="zh-CN" sz="2000" b="1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2000" b="1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FC5767E7-B446-F1EC-3B2A-03A7FB3D4321}"/>
                </a:ext>
              </a:extLst>
            </p:cNvPr>
            <p:cNvSpPr txBox="1"/>
            <p:nvPr/>
          </p:nvSpPr>
          <p:spPr>
            <a:xfrm>
              <a:off x="9385055" y="649342"/>
              <a:ext cx="39786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000" b="1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2000" b="1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9EAD250B-5079-8A7B-9510-CCF4E1964AE5}"/>
                </a:ext>
              </a:extLst>
            </p:cNvPr>
            <p:cNvCxnSpPr>
              <a:cxnSpLocks/>
            </p:cNvCxnSpPr>
            <p:nvPr/>
          </p:nvCxnSpPr>
          <p:spPr>
            <a:xfrm>
              <a:off x="9583988" y="1630038"/>
              <a:ext cx="620309" cy="0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A55F3A1C-2182-3175-1DAC-6E79AF507A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83988" y="1017503"/>
              <a:ext cx="0" cy="612535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文本框 51">
            <a:extLst>
              <a:ext uri="{FF2B5EF4-FFF2-40B4-BE49-F238E27FC236}">
                <a16:creationId xmlns:a16="http://schemas.microsoft.com/office/drawing/2014/main" id="{30EEF09D-40A6-71A9-1A0C-A7A23FE7D6A8}"/>
              </a:ext>
            </a:extLst>
          </p:cNvPr>
          <p:cNvSpPr txBox="1"/>
          <p:nvPr/>
        </p:nvSpPr>
        <p:spPr>
          <a:xfrm>
            <a:off x="450453" y="226339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解答：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F6422168-AF76-1E78-1CB5-6C7610DADACC}"/>
              </a:ext>
            </a:extLst>
          </p:cNvPr>
          <p:cNvSpPr txBox="1"/>
          <p:nvPr/>
        </p:nvSpPr>
        <p:spPr>
          <a:xfrm>
            <a:off x="450453" y="2663505"/>
            <a:ext cx="23887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4)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求出雅可比矩阵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1F501FD-67B9-0D0E-DBAC-481F2465B5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312477"/>
              </p:ext>
            </p:extLst>
          </p:nvPr>
        </p:nvGraphicFramePr>
        <p:xfrm>
          <a:off x="450452" y="3064906"/>
          <a:ext cx="6451600" cy="1258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771720" imgH="736560" progId="Equation.DSMT4">
                  <p:embed/>
                </p:oleObj>
              </mc:Choice>
              <mc:Fallback>
                <p:oleObj name="Equation" r:id="rId3" imgW="3771720" imgH="73656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9A885B47-5689-9D88-499F-E691AE2899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0452" y="3064906"/>
                        <a:ext cx="6451600" cy="1258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457EA894-DD3B-DE10-791C-DDACB88323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8126784"/>
              </p:ext>
            </p:extLst>
          </p:nvPr>
        </p:nvGraphicFramePr>
        <p:xfrm>
          <a:off x="450451" y="4323794"/>
          <a:ext cx="3667500" cy="12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70000" imgH="711000" progId="Equation.DSMT4">
                  <p:embed/>
                </p:oleObj>
              </mc:Choice>
              <mc:Fallback>
                <p:oleObj name="Equation" r:id="rId5" imgW="207000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0451" y="4323794"/>
                        <a:ext cx="3667500" cy="126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0F506BF3-B739-E31A-C751-8C1AD284CD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3626067"/>
              </p:ext>
            </p:extLst>
          </p:nvPr>
        </p:nvGraphicFramePr>
        <p:xfrm>
          <a:off x="3712883" y="5582682"/>
          <a:ext cx="2047500" cy="12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55600" imgH="711000" progId="Equation.DSMT4">
                  <p:embed/>
                </p:oleObj>
              </mc:Choice>
              <mc:Fallback>
                <p:oleObj name="Equation" r:id="rId7" imgW="115560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12883" y="5582682"/>
                        <a:ext cx="2047500" cy="126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2">
            <a:extLst>
              <a:ext uri="{FF2B5EF4-FFF2-40B4-BE49-F238E27FC236}">
                <a16:creationId xmlns:a16="http://schemas.microsoft.com/office/drawing/2014/main" id="{71C7FB10-E8BA-9BBB-1487-E9D95FB17B99}"/>
              </a:ext>
            </a:extLst>
          </p:cNvPr>
          <p:cNvSpPr txBox="1"/>
          <p:nvPr/>
        </p:nvSpPr>
        <p:spPr>
          <a:xfrm>
            <a:off x="450451" y="6013183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hlinkClick r:id="rId9" action="ppaction://hlinksldjump"/>
              </a:rPr>
              <a:t>直观法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求解角速度雅可比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02883A2-19FF-30DB-7444-DA4C7740D69F}"/>
              </a:ext>
            </a:extLst>
          </p:cNvPr>
          <p:cNvSpPr txBox="1"/>
          <p:nvPr/>
        </p:nvSpPr>
        <p:spPr>
          <a:xfrm>
            <a:off x="2833568" y="2662214"/>
            <a:ext cx="37753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用直接微分法求解线速度雅可比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053C0F2-526B-2822-2309-CEC502B06B1E}"/>
              </a:ext>
            </a:extLst>
          </p:cNvPr>
          <p:cNvSpPr txBox="1"/>
          <p:nvPr/>
        </p:nvSpPr>
        <p:spPr>
          <a:xfrm>
            <a:off x="5970680" y="5327678"/>
            <a:ext cx="20583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综上，雅可比矩阵</a:t>
            </a:r>
            <a:endParaRPr lang="zh-CN" altLang="en-US" dirty="0"/>
          </a:p>
        </p:txBody>
      </p: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C0CA2A7C-FBA2-54E4-5BF2-16B716FB44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8265429"/>
              </p:ext>
            </p:extLst>
          </p:nvPr>
        </p:nvGraphicFramePr>
        <p:xfrm>
          <a:off x="8077537" y="4324598"/>
          <a:ext cx="3608388" cy="237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82600" imgH="1371600" progId="Equation.DSMT4">
                  <p:embed/>
                </p:oleObj>
              </mc:Choice>
              <mc:Fallback>
                <p:oleObj name="Equation" r:id="rId10" imgW="2082600" imgH="13716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04A32F68-8863-1362-F412-9FD0983FD5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077537" y="4324598"/>
                        <a:ext cx="3608388" cy="2376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56251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23" grpId="0"/>
      <p:bldP spid="25" grpId="0"/>
      <p:bldP spid="2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F84D5-8324-96B4-4A58-5174EFF49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E12E686-CF78-6298-3B0D-83C39DD80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A44188-3096-49C0-8534-FE6F15E0F67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Palatino Linotype" panose="02040502050505030304" pitchFamily="18" charset="0"/>
                <a:ea typeface="微软雅黑 Ligh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Palatino Linotype" panose="02040502050505030304" pitchFamily="18" charset="0"/>
              <a:ea typeface="微软雅黑 Light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08815FB-2B14-93A8-0EDF-AA16BACA4647}"/>
              </a:ext>
            </a:extLst>
          </p:cNvPr>
          <p:cNvSpPr txBox="1"/>
          <p:nvPr/>
        </p:nvSpPr>
        <p:spPr>
          <a:xfrm>
            <a:off x="-1" y="33341"/>
            <a:ext cx="116846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D131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作  业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39681BA-7A1B-FEAB-B976-929301B8A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4004" y="773593"/>
            <a:ext cx="3541116" cy="329088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8B4B7CB-6852-7B98-CBAE-FFA0EACC40A7}"/>
              </a:ext>
            </a:extLst>
          </p:cNvPr>
          <p:cNvSpPr txBox="1"/>
          <p:nvPr/>
        </p:nvSpPr>
        <p:spPr>
          <a:xfrm>
            <a:off x="8301809" y="2687796"/>
            <a:ext cx="325730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l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0</a:t>
            </a:r>
            <a:endParaRPr kumimoji="0" lang="zh-CN" altLang="en-US" sz="1800" b="1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 Light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3897B98-588A-05F5-F31F-43D8CBDDF856}"/>
              </a:ext>
            </a:extLst>
          </p:cNvPr>
          <p:cNvSpPr txBox="1"/>
          <p:nvPr/>
        </p:nvSpPr>
        <p:spPr>
          <a:xfrm>
            <a:off x="10368881" y="732481"/>
            <a:ext cx="377026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d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3</a:t>
            </a:r>
            <a:endParaRPr kumimoji="0" lang="zh-CN" altLang="en-US" sz="1800" b="1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 Light"/>
              <a:cs typeface="Times New Roman" panose="02020603050405020304" pitchFamily="18" charset="0"/>
            </a:endParaRPr>
          </a:p>
        </p:txBody>
      </p:sp>
      <p:sp>
        <p:nvSpPr>
          <p:cNvPr id="12" name="新月形 11">
            <a:extLst>
              <a:ext uri="{FF2B5EF4-FFF2-40B4-BE49-F238E27FC236}">
                <a16:creationId xmlns:a16="http://schemas.microsoft.com/office/drawing/2014/main" id="{2448790B-CF3A-0720-8F1D-269DB68DA655}"/>
              </a:ext>
            </a:extLst>
          </p:cNvPr>
          <p:cNvSpPr/>
          <p:nvPr/>
        </p:nvSpPr>
        <p:spPr>
          <a:xfrm rot="16200000">
            <a:off x="9182961" y="1914219"/>
            <a:ext cx="247173" cy="698352"/>
          </a:xfrm>
          <a:prstGeom prst="moon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5E51D62E-DBE7-A2B5-0FE8-D7981AE5CFA8}"/>
              </a:ext>
            </a:extLst>
          </p:cNvPr>
          <p:cNvCxnSpPr>
            <a:cxnSpLocks/>
          </p:cNvCxnSpPr>
          <p:nvPr/>
        </p:nvCxnSpPr>
        <p:spPr>
          <a:xfrm flipV="1">
            <a:off x="9655724" y="2011675"/>
            <a:ext cx="0" cy="1003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新月形 16">
            <a:extLst>
              <a:ext uri="{FF2B5EF4-FFF2-40B4-BE49-F238E27FC236}">
                <a16:creationId xmlns:a16="http://schemas.microsoft.com/office/drawing/2014/main" id="{08A9C33B-41D8-4B88-B488-4C8B4249C336}"/>
              </a:ext>
            </a:extLst>
          </p:cNvPr>
          <p:cNvSpPr/>
          <p:nvPr/>
        </p:nvSpPr>
        <p:spPr>
          <a:xfrm rot="9712521">
            <a:off x="8418865" y="1700257"/>
            <a:ext cx="179955" cy="329709"/>
          </a:xfrm>
          <a:prstGeom prst="moon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3E508944-ECEF-8989-02A6-A478AF8843F2}"/>
              </a:ext>
            </a:extLst>
          </p:cNvPr>
          <p:cNvCxnSpPr>
            <a:cxnSpLocks/>
            <a:stCxn id="17" idx="0"/>
          </p:cNvCxnSpPr>
          <p:nvPr/>
        </p:nvCxnSpPr>
        <p:spPr>
          <a:xfrm flipH="1">
            <a:off x="8364005" y="2049777"/>
            <a:ext cx="110608" cy="610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69807C1D-2143-8DCC-6B5B-486071A60C4C}"/>
              </a:ext>
            </a:extLst>
          </p:cNvPr>
          <p:cNvSpPr txBox="1"/>
          <p:nvPr/>
        </p:nvSpPr>
        <p:spPr>
          <a:xfrm>
            <a:off x="9646330" y="192021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1</a:t>
            </a:r>
            <a:endParaRPr kumimoji="0" lang="zh-CN" altLang="en-US" sz="1800" b="1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 Light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C135332-E530-D121-F353-07923D1BD2D3}"/>
              </a:ext>
            </a:extLst>
          </p:cNvPr>
          <p:cNvSpPr txBox="1"/>
          <p:nvPr/>
        </p:nvSpPr>
        <p:spPr>
          <a:xfrm>
            <a:off x="8110891" y="192612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2</a:t>
            </a:r>
            <a:endParaRPr kumimoji="0" lang="zh-CN" altLang="en-US" sz="1800" b="1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 Light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22F2B20-67A3-7C20-FF9C-6E7362E4B270}"/>
              </a:ext>
            </a:extLst>
          </p:cNvPr>
          <p:cNvSpPr txBox="1"/>
          <p:nvPr/>
        </p:nvSpPr>
        <p:spPr>
          <a:xfrm>
            <a:off x="450454" y="704725"/>
            <a:ext cx="7904284" cy="1596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题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：如右图所示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RRP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机械臂，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1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2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3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为关节变量，坐标系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{0}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、以及坐标系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{3}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的原点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3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已在图中画出。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）画出坐标系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{1}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{2}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{3}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；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）填写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DH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参数表；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）求出正运动学方程；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）求出雅可比矩阵；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）分析该机械臂的奇异点。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189B56-CB7A-7FBA-E464-44311E26335C}"/>
              </a:ext>
            </a:extLst>
          </p:cNvPr>
          <p:cNvGrpSpPr/>
          <p:nvPr/>
        </p:nvGrpSpPr>
        <p:grpSpPr>
          <a:xfrm>
            <a:off x="8926546" y="739634"/>
            <a:ext cx="1312005" cy="1005634"/>
            <a:chOff x="9209989" y="744063"/>
            <a:chExt cx="1312005" cy="1005634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0BC51B32-A1F1-F5A9-8EB6-50807CF42028}"/>
                </a:ext>
              </a:extLst>
            </p:cNvPr>
            <p:cNvSpPr txBox="1"/>
            <p:nvPr/>
          </p:nvSpPr>
          <p:spPr>
            <a:xfrm>
              <a:off x="9209989" y="744063"/>
              <a:ext cx="383438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altLang="zh-CN" sz="2000" b="1" baseline="-250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000" b="1" baseline="-25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B351399-95AA-F15F-1AC2-6D130323AEB9}"/>
                </a:ext>
              </a:extLst>
            </p:cNvPr>
            <p:cNvSpPr txBox="1"/>
            <p:nvPr/>
          </p:nvSpPr>
          <p:spPr>
            <a:xfrm>
              <a:off x="10124128" y="1349587"/>
              <a:ext cx="39786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000" b="1" baseline="-250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000" b="1" baseline="-25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BDA60A9D-0BBC-7D68-735A-A82BB0C9E229}"/>
                </a:ext>
              </a:extLst>
            </p:cNvPr>
            <p:cNvCxnSpPr>
              <a:cxnSpLocks/>
            </p:cNvCxnSpPr>
            <p:nvPr/>
          </p:nvCxnSpPr>
          <p:spPr>
            <a:xfrm>
              <a:off x="9583988" y="1630038"/>
              <a:ext cx="620309" cy="0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CA396339-B390-8E64-53B0-754607BDFA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83988" y="1017503"/>
              <a:ext cx="0" cy="612535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60F70A2E-CA8A-3DE3-0B5F-267677D97484}"/>
              </a:ext>
            </a:extLst>
          </p:cNvPr>
          <p:cNvGrpSpPr/>
          <p:nvPr/>
        </p:nvGrpSpPr>
        <p:grpSpPr>
          <a:xfrm>
            <a:off x="9097784" y="686864"/>
            <a:ext cx="1068610" cy="945547"/>
            <a:chOff x="9382951" y="684491"/>
            <a:chExt cx="1068610" cy="945547"/>
          </a:xfrm>
        </p:grpSpPr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0FBB85C0-38FA-2DD0-9994-35BD8FBFA09B}"/>
                </a:ext>
              </a:extLst>
            </p:cNvPr>
            <p:cNvSpPr txBox="1"/>
            <p:nvPr/>
          </p:nvSpPr>
          <p:spPr>
            <a:xfrm>
              <a:off x="10068123" y="1057068"/>
              <a:ext cx="383438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altLang="zh-CN" sz="2000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20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3E7BCF7B-E92A-295E-B6F7-3634856D3E44}"/>
                </a:ext>
              </a:extLst>
            </p:cNvPr>
            <p:cNvSpPr txBox="1"/>
            <p:nvPr/>
          </p:nvSpPr>
          <p:spPr>
            <a:xfrm>
              <a:off x="9382951" y="684491"/>
              <a:ext cx="39786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000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20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C9956E2B-F62B-C03F-F5AF-D1B7A3FD926D}"/>
                </a:ext>
              </a:extLst>
            </p:cNvPr>
            <p:cNvCxnSpPr>
              <a:cxnSpLocks/>
              <a:endCxn id="34" idx="2"/>
            </p:cNvCxnSpPr>
            <p:nvPr/>
          </p:nvCxnSpPr>
          <p:spPr>
            <a:xfrm flipV="1">
              <a:off x="9583988" y="1457178"/>
              <a:ext cx="675854" cy="17286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FA14B071-C463-9BF3-B137-3FC0615106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83988" y="1017503"/>
              <a:ext cx="0" cy="61253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1144B239-E515-6197-FED4-7F9A7C626E94}"/>
              </a:ext>
            </a:extLst>
          </p:cNvPr>
          <p:cNvGrpSpPr/>
          <p:nvPr/>
        </p:nvGrpSpPr>
        <p:grpSpPr>
          <a:xfrm>
            <a:off x="11095196" y="644913"/>
            <a:ext cx="1010961" cy="980696"/>
            <a:chOff x="9385055" y="649342"/>
            <a:chExt cx="1010961" cy="980696"/>
          </a:xfrm>
        </p:grpSpPr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567DAC56-4898-0F4E-D5D8-EE939CA3C343}"/>
                </a:ext>
              </a:extLst>
            </p:cNvPr>
            <p:cNvSpPr txBox="1"/>
            <p:nvPr/>
          </p:nvSpPr>
          <p:spPr>
            <a:xfrm>
              <a:off x="10012578" y="1229928"/>
              <a:ext cx="383438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altLang="zh-CN" sz="2000" b="1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2000" b="1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D045FA2B-1FBC-329F-CF7F-A9D57FE6EA2D}"/>
                </a:ext>
              </a:extLst>
            </p:cNvPr>
            <p:cNvSpPr txBox="1"/>
            <p:nvPr/>
          </p:nvSpPr>
          <p:spPr>
            <a:xfrm>
              <a:off x="9385055" y="649342"/>
              <a:ext cx="39786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000" b="1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2000" b="1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ED56FA58-AE36-02CE-5DC7-EE4FC827DE79}"/>
                </a:ext>
              </a:extLst>
            </p:cNvPr>
            <p:cNvCxnSpPr>
              <a:cxnSpLocks/>
            </p:cNvCxnSpPr>
            <p:nvPr/>
          </p:nvCxnSpPr>
          <p:spPr>
            <a:xfrm>
              <a:off x="9583988" y="1630038"/>
              <a:ext cx="620309" cy="0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DEED0023-97E3-6209-842E-B5B01C5746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83988" y="1017503"/>
              <a:ext cx="0" cy="612535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文本框 51">
            <a:extLst>
              <a:ext uri="{FF2B5EF4-FFF2-40B4-BE49-F238E27FC236}">
                <a16:creationId xmlns:a16="http://schemas.microsoft.com/office/drawing/2014/main" id="{E2C2542C-2268-5879-F3E0-23D088A78AA0}"/>
              </a:ext>
            </a:extLst>
          </p:cNvPr>
          <p:cNvSpPr txBox="1"/>
          <p:nvPr/>
        </p:nvSpPr>
        <p:spPr>
          <a:xfrm>
            <a:off x="450453" y="226339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解答：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D45B6531-DF20-0223-7CCF-FFC4DA49A3E9}"/>
              </a:ext>
            </a:extLst>
          </p:cNvPr>
          <p:cNvSpPr txBox="1"/>
          <p:nvPr/>
        </p:nvSpPr>
        <p:spPr>
          <a:xfrm>
            <a:off x="450453" y="2663505"/>
            <a:ext cx="18020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5)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分析奇异点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D8D650E-6807-67DE-AEEC-A8654500F82E}"/>
              </a:ext>
            </a:extLst>
          </p:cNvPr>
          <p:cNvSpPr txBox="1"/>
          <p:nvPr/>
        </p:nvSpPr>
        <p:spPr>
          <a:xfrm>
            <a:off x="450453" y="3063615"/>
            <a:ext cx="2997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观察雅可比矩阵可知，当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D6B6E290-46E6-B23B-01F4-35380F9812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124428"/>
              </p:ext>
            </p:extLst>
          </p:nvPr>
        </p:nvGraphicFramePr>
        <p:xfrm>
          <a:off x="3448050" y="3064125"/>
          <a:ext cx="710400" cy="39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06080" imgH="228600" progId="Equation.DSMT4">
                  <p:embed/>
                </p:oleObj>
              </mc:Choice>
              <mc:Fallback>
                <p:oleObj name="Equation" r:id="rId3" imgW="4060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48050" y="3064125"/>
                        <a:ext cx="710400" cy="39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59198819-F829-65F0-0B39-A77AF3D8DD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1999523"/>
              </p:ext>
            </p:extLst>
          </p:nvPr>
        </p:nvGraphicFramePr>
        <p:xfrm>
          <a:off x="3292468" y="3863325"/>
          <a:ext cx="3608387" cy="2376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608909" imgH="2376085" progId="Equation.DSMT4">
                  <p:embed/>
                </p:oleObj>
              </mc:Choice>
              <mc:Fallback>
                <p:oleObj name="Equation" r:id="rId5" imgW="3608909" imgH="237608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92468" y="3863325"/>
                        <a:ext cx="3608387" cy="2376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文本框 28">
            <a:extLst>
              <a:ext uri="{FF2B5EF4-FFF2-40B4-BE49-F238E27FC236}">
                <a16:creationId xmlns:a16="http://schemas.microsoft.com/office/drawing/2014/main" id="{CC3B2910-BD88-0548-8E4E-8587DC9B7A65}"/>
              </a:ext>
            </a:extLst>
          </p:cNvPr>
          <p:cNvSpPr txBox="1"/>
          <p:nvPr/>
        </p:nvSpPr>
        <p:spPr>
          <a:xfrm>
            <a:off x="4156016" y="306361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</a:t>
            </a:r>
          </a:p>
        </p:txBody>
      </p:sp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BB2C0401-2EEB-8F99-5C4E-C87EF284DB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4619751"/>
              </p:ext>
            </p:extLst>
          </p:nvPr>
        </p:nvGraphicFramePr>
        <p:xfrm>
          <a:off x="4597162" y="3064125"/>
          <a:ext cx="999000" cy="39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71320" imgH="228600" progId="Equation.DSMT4">
                  <p:embed/>
                </p:oleObj>
              </mc:Choice>
              <mc:Fallback>
                <p:oleObj name="Equation" r:id="rId7" imgW="5713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97162" y="3064125"/>
                        <a:ext cx="999000" cy="39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文本框 30">
            <a:extLst>
              <a:ext uri="{FF2B5EF4-FFF2-40B4-BE49-F238E27FC236}">
                <a16:creationId xmlns:a16="http://schemas.microsoft.com/office/drawing/2014/main" id="{E2C9AA3E-EB69-F36F-9AD0-3C5EEA6DD745}"/>
              </a:ext>
            </a:extLst>
          </p:cNvPr>
          <p:cNvSpPr txBox="1"/>
          <p:nvPr/>
        </p:nvSpPr>
        <p:spPr>
          <a:xfrm>
            <a:off x="5593728" y="3063615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时，矩阵非满秩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C7421FB-D291-B3BE-7BDC-A3825E7AC8C0}"/>
              </a:ext>
            </a:extLst>
          </p:cNvPr>
          <p:cNvSpPr txBox="1"/>
          <p:nvPr/>
        </p:nvSpPr>
        <p:spPr>
          <a:xfrm>
            <a:off x="450452" y="3463725"/>
            <a:ext cx="2997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即可能出现奇异点</a:t>
            </a:r>
          </a:p>
        </p:txBody>
      </p:sp>
    </p:spTree>
    <p:extLst>
      <p:ext uri="{BB962C8B-B14F-4D97-AF65-F5344CB8AC3E}">
        <p14:creationId xmlns:p14="http://schemas.microsoft.com/office/powerpoint/2010/main" val="3528818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4" grpId="0"/>
      <p:bldP spid="29" grpId="0"/>
      <p:bldP spid="31" grpId="0"/>
      <p:bldP spid="3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F66D6CF5-6EBD-41DB-AA98-D7F15BBBCEBD}"/>
              </a:ext>
            </a:extLst>
          </p:cNvPr>
          <p:cNvGrpSpPr/>
          <p:nvPr/>
        </p:nvGrpSpPr>
        <p:grpSpPr>
          <a:xfrm>
            <a:off x="434533" y="3940402"/>
            <a:ext cx="10835534" cy="2112018"/>
            <a:chOff x="434533" y="3940402"/>
            <a:chExt cx="10835534" cy="2112018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88FD0F3D-7128-4A87-9241-CF0BC8F4223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2896" t="54259" r="9193" b="24895"/>
            <a:stretch/>
          </p:blipFill>
          <p:spPr>
            <a:xfrm>
              <a:off x="839381" y="3940402"/>
              <a:ext cx="10430686" cy="2112018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087DADCE-0434-4C9B-9CC9-0F9CDD608E71}"/>
                </a:ext>
              </a:extLst>
            </p:cNvPr>
            <p:cNvSpPr txBox="1"/>
            <p:nvPr/>
          </p:nvSpPr>
          <p:spPr>
            <a:xfrm>
              <a:off x="434533" y="4765578"/>
              <a:ext cx="574735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=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6E5CD65-ABF6-4542-AC9D-F05D972FF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A44188-3096-49C0-8534-FE6F15E0F67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Palatino Linotype" panose="02040502050505030304" pitchFamily="18" charset="0"/>
                <a:ea typeface="微软雅黑 Ligh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Palatino Linotype" panose="02040502050505030304" pitchFamily="18" charset="0"/>
              <a:ea typeface="微软雅黑 Light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DE07A5C-5061-46DA-A38C-DBD12963B2B3}"/>
              </a:ext>
            </a:extLst>
          </p:cNvPr>
          <p:cNvSpPr txBox="1"/>
          <p:nvPr/>
        </p:nvSpPr>
        <p:spPr>
          <a:xfrm>
            <a:off x="-1" y="33341"/>
            <a:ext cx="116846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D131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5.3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D131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雅可比的直观表达：举例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DD9B310-7814-4703-A9CB-007479461164}"/>
              </a:ext>
            </a:extLst>
          </p:cNvPr>
          <p:cNvGrpSpPr/>
          <p:nvPr/>
        </p:nvGrpSpPr>
        <p:grpSpPr>
          <a:xfrm>
            <a:off x="1345609" y="5005799"/>
            <a:ext cx="1290674" cy="1753141"/>
            <a:chOff x="1345609" y="4864395"/>
            <a:chExt cx="1290674" cy="1753141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50A4569C-D8FF-4A9C-88F1-65904E44F994}"/>
                </a:ext>
              </a:extLst>
            </p:cNvPr>
            <p:cNvSpPr/>
            <p:nvPr/>
          </p:nvSpPr>
          <p:spPr>
            <a:xfrm>
              <a:off x="1722474" y="4864395"/>
              <a:ext cx="536945" cy="112173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0A1E3BE0-EB6E-469B-8A06-46AA0EB5FB41}"/>
                    </a:ext>
                  </a:extLst>
                </p:cNvPr>
                <p:cNvSpPr txBox="1"/>
                <p:nvPr/>
              </p:nvSpPr>
              <p:spPr>
                <a:xfrm>
                  <a:off x="1345609" y="6229032"/>
                  <a:ext cx="1290674" cy="38850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 xmlns:m="http://schemas.openxmlformats.org/officeDocument/2006/math">
                      <m:sPre>
                        <m:sPrePr>
                          <m:ctrlP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PrePr>
                        <m:sub>
                          <m: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  <m:sup>
                          <m: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𝟎</m:t>
                          </m:r>
                        </m:sup>
                        <m:e>
                          <m: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𝑹</m:t>
                          </m:r>
                        </m:e>
                      </m:sPre>
                    </m:oMath>
                  </a14:m>
                  <a:r>
                    <a:rPr kumimoji="0" lang="zh-CN" alt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的第</a:t>
                  </a:r>
                  <a:r>
                    <a:rPr kumimoji="0" lang="en-US" altLang="zh-CN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3</a:t>
                  </a:r>
                  <a:r>
                    <a:rPr kumimoji="0" lang="zh-CN" alt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列</a:t>
                  </a:r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0A1E3BE0-EB6E-469B-8A06-46AA0EB5FB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5609" y="6229032"/>
                  <a:ext cx="1290674" cy="388504"/>
                </a:xfrm>
                <a:prstGeom prst="rect">
                  <a:avLst/>
                </a:prstGeom>
                <a:blipFill>
                  <a:blip r:embed="rId3"/>
                  <a:stretch>
                    <a:fillRect t="-3125" r="-3791" b="-2343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6A29262-983B-4380-9C1B-1A41E02AFBE3}"/>
              </a:ext>
            </a:extLst>
          </p:cNvPr>
          <p:cNvGrpSpPr/>
          <p:nvPr/>
        </p:nvGrpSpPr>
        <p:grpSpPr>
          <a:xfrm>
            <a:off x="2974452" y="5017206"/>
            <a:ext cx="1290674" cy="1752709"/>
            <a:chOff x="2974452" y="4875802"/>
            <a:chExt cx="1290674" cy="1752709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D1AD8C78-1AC1-4341-968E-10B48339BB98}"/>
                </a:ext>
              </a:extLst>
            </p:cNvPr>
            <p:cNvSpPr/>
            <p:nvPr/>
          </p:nvSpPr>
          <p:spPr>
            <a:xfrm>
              <a:off x="3299637" y="4875802"/>
              <a:ext cx="724786" cy="112173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82645A67-9049-400C-B5B8-55B649AF0106}"/>
                    </a:ext>
                  </a:extLst>
                </p:cNvPr>
                <p:cNvSpPr txBox="1"/>
                <p:nvPr/>
              </p:nvSpPr>
              <p:spPr>
                <a:xfrm>
                  <a:off x="2974452" y="6240007"/>
                  <a:ext cx="1290674" cy="38850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 xmlns:m="http://schemas.openxmlformats.org/officeDocument/2006/math">
                      <m:sPre>
                        <m:sPrePr>
                          <m:ctrlP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PrePr>
                        <m:sub>
                          <m: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𝟐</m:t>
                          </m:r>
                        </m:sub>
                        <m:sup>
                          <m: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𝟎</m:t>
                          </m:r>
                        </m:sup>
                        <m:e>
                          <m: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𝑹</m:t>
                          </m:r>
                        </m:e>
                      </m:sPre>
                    </m:oMath>
                  </a14:m>
                  <a:r>
                    <a:rPr kumimoji="0" lang="zh-CN" alt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的第</a:t>
                  </a:r>
                  <a:r>
                    <a:rPr kumimoji="0" lang="en-US" altLang="zh-CN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3</a:t>
                  </a:r>
                  <a:r>
                    <a:rPr kumimoji="0" lang="zh-CN" alt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列</a:t>
                  </a:r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82645A67-9049-400C-B5B8-55B649AF01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4452" y="6240007"/>
                  <a:ext cx="1290674" cy="388504"/>
                </a:xfrm>
                <a:prstGeom prst="rect">
                  <a:avLst/>
                </a:prstGeom>
                <a:blipFill>
                  <a:blip r:embed="rId4"/>
                  <a:stretch>
                    <a:fillRect t="-4688" r="-3302" b="-2343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B0F850D2-1C88-4056-BEF1-4B007CB44FDE}"/>
              </a:ext>
            </a:extLst>
          </p:cNvPr>
          <p:cNvGrpSpPr/>
          <p:nvPr/>
        </p:nvGrpSpPr>
        <p:grpSpPr>
          <a:xfrm>
            <a:off x="4299098" y="5017206"/>
            <a:ext cx="700567" cy="1843475"/>
            <a:chOff x="4299098" y="5017206"/>
            <a:chExt cx="700567" cy="1843475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E80C7A6B-B5CC-4165-B4E1-936CE7744642}"/>
                </a:ext>
              </a:extLst>
            </p:cNvPr>
            <p:cNvSpPr/>
            <p:nvPr/>
          </p:nvSpPr>
          <p:spPr>
            <a:xfrm>
              <a:off x="4299098" y="5017206"/>
              <a:ext cx="536945" cy="112173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BC5CD2C-83B8-4580-9AA0-67990F57BCF3}"/>
                </a:ext>
              </a:extLst>
            </p:cNvPr>
            <p:cNvSpPr txBox="1"/>
            <p:nvPr/>
          </p:nvSpPr>
          <p:spPr>
            <a:xfrm>
              <a:off x="4313274" y="6214350"/>
              <a:ext cx="6863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移动关节</a:t>
              </a: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C5A38979-19DD-4774-B58B-C2D419EC62A3}"/>
              </a:ext>
            </a:extLst>
          </p:cNvPr>
          <p:cNvGrpSpPr/>
          <p:nvPr/>
        </p:nvGrpSpPr>
        <p:grpSpPr>
          <a:xfrm>
            <a:off x="4991395" y="5004857"/>
            <a:ext cx="845879" cy="1851317"/>
            <a:chOff x="4991395" y="5004857"/>
            <a:chExt cx="845879" cy="1851317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A6B2747F-466E-484C-93CC-A25274032863}"/>
                </a:ext>
              </a:extLst>
            </p:cNvPr>
            <p:cNvSpPr/>
            <p:nvPr/>
          </p:nvSpPr>
          <p:spPr>
            <a:xfrm>
              <a:off x="4991395" y="5004857"/>
              <a:ext cx="686391" cy="112173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2CB5CA85-8C86-44C6-980E-98077A2C8A45}"/>
                    </a:ext>
                  </a:extLst>
                </p:cNvPr>
                <p:cNvSpPr txBox="1"/>
                <p:nvPr/>
              </p:nvSpPr>
              <p:spPr>
                <a:xfrm>
                  <a:off x="4991395" y="6191377"/>
                  <a:ext cx="845879" cy="6647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 xmlns:m="http://schemas.openxmlformats.org/officeDocument/2006/math">
                      <m:sPre>
                        <m:sPrePr>
                          <m:ctrlP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PrePr>
                        <m:sub>
                          <m: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𝟒</m:t>
                          </m:r>
                        </m:sub>
                        <m:sup>
                          <m: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𝟎</m:t>
                          </m:r>
                        </m:sup>
                        <m:e>
                          <m: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𝑹</m:t>
                          </m:r>
                        </m:e>
                      </m:sPre>
                    </m:oMath>
                  </a14:m>
                  <a:r>
                    <a:rPr kumimoji="0" lang="zh-CN" alt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的第</a:t>
                  </a:r>
                  <a:r>
                    <a:rPr kumimoji="0" lang="en-US" altLang="zh-CN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3</a:t>
                  </a:r>
                  <a:r>
                    <a:rPr kumimoji="0" lang="zh-CN" alt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列</a:t>
                  </a: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2CB5CA85-8C86-44C6-980E-98077A2C8A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91395" y="6191377"/>
                  <a:ext cx="845879" cy="664797"/>
                </a:xfrm>
                <a:prstGeom prst="rect">
                  <a:avLst/>
                </a:prstGeom>
                <a:blipFill>
                  <a:blip r:embed="rId5"/>
                  <a:stretch>
                    <a:fillRect l="-6475" t="-2752" b="-1376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7D3F6C72-22F0-494A-9E2C-58E53108179E}"/>
              </a:ext>
            </a:extLst>
          </p:cNvPr>
          <p:cNvGrpSpPr/>
          <p:nvPr/>
        </p:nvGrpSpPr>
        <p:grpSpPr>
          <a:xfrm>
            <a:off x="5752804" y="4936688"/>
            <a:ext cx="1998331" cy="1798191"/>
            <a:chOff x="5752804" y="4936688"/>
            <a:chExt cx="1998331" cy="1798191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585ADF4C-D2A5-4A9A-8D44-29516D8B01E6}"/>
                </a:ext>
              </a:extLst>
            </p:cNvPr>
            <p:cNvSpPr/>
            <p:nvPr/>
          </p:nvSpPr>
          <p:spPr>
            <a:xfrm>
              <a:off x="5752804" y="4936688"/>
              <a:ext cx="1998331" cy="11737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A723E370-BD26-4603-8563-EA5021F69A74}"/>
                    </a:ext>
                  </a:extLst>
                </p:cNvPr>
                <p:cNvSpPr txBox="1"/>
                <p:nvPr/>
              </p:nvSpPr>
              <p:spPr>
                <a:xfrm>
                  <a:off x="6054724" y="6340925"/>
                  <a:ext cx="1355651" cy="3939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 xmlns:m="http://schemas.openxmlformats.org/officeDocument/2006/math">
                      <m:sPre>
                        <m:sPrePr>
                          <m:ctrlP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PrePr>
                        <m:sub>
                          <m: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𝟓</m:t>
                          </m:r>
                        </m:sub>
                        <m:sup>
                          <m: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𝟎</m:t>
                          </m:r>
                        </m:sup>
                        <m:e>
                          <m: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𝑹</m:t>
                          </m:r>
                        </m:e>
                      </m:sPre>
                    </m:oMath>
                  </a14:m>
                  <a:r>
                    <a:rPr kumimoji="0" lang="zh-CN" alt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的第</a:t>
                  </a:r>
                  <a:r>
                    <a:rPr kumimoji="0" lang="en-US" altLang="zh-CN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3</a:t>
                  </a:r>
                  <a:r>
                    <a:rPr kumimoji="0" lang="zh-CN" alt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列</a:t>
                  </a:r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A723E370-BD26-4603-8563-EA5021F69A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54724" y="6340925"/>
                  <a:ext cx="1355651" cy="393954"/>
                </a:xfrm>
                <a:prstGeom prst="rect">
                  <a:avLst/>
                </a:prstGeom>
                <a:blipFill>
                  <a:blip r:embed="rId6"/>
                  <a:stretch>
                    <a:fillRect t="-3077" b="-2153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8A0A50E-D95A-4F28-89E9-73FBCCFDF7A2}"/>
              </a:ext>
            </a:extLst>
          </p:cNvPr>
          <p:cNvGrpSpPr/>
          <p:nvPr/>
        </p:nvGrpSpPr>
        <p:grpSpPr>
          <a:xfrm>
            <a:off x="7751135" y="4885344"/>
            <a:ext cx="3601484" cy="1864791"/>
            <a:chOff x="7751135" y="4885344"/>
            <a:chExt cx="3601484" cy="1864791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B0D3C927-8DDB-4560-8DC1-D7F9B65D5322}"/>
                </a:ext>
              </a:extLst>
            </p:cNvPr>
            <p:cNvSpPr/>
            <p:nvPr/>
          </p:nvSpPr>
          <p:spPr>
            <a:xfrm>
              <a:off x="7751135" y="4885344"/>
              <a:ext cx="3601484" cy="127647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BA8397D7-58A3-4372-A9A3-FD18B2D1E5D5}"/>
                    </a:ext>
                  </a:extLst>
                </p:cNvPr>
                <p:cNvSpPr txBox="1"/>
                <p:nvPr/>
              </p:nvSpPr>
              <p:spPr>
                <a:xfrm>
                  <a:off x="9074416" y="6360285"/>
                  <a:ext cx="1355651" cy="3898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 xmlns:m="http://schemas.openxmlformats.org/officeDocument/2006/math">
                      <m:sPre>
                        <m:sPrePr>
                          <m:ctrlP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PrePr>
                        <m:sub>
                          <m: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𝟔</m:t>
                          </m:r>
                        </m:sub>
                        <m:sup>
                          <m: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𝟎</m:t>
                          </m:r>
                        </m:sup>
                        <m:e>
                          <m: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𝑹</m:t>
                          </m:r>
                        </m:e>
                      </m:sPre>
                    </m:oMath>
                  </a14:m>
                  <a:r>
                    <a:rPr kumimoji="0" lang="zh-CN" alt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的第</a:t>
                  </a:r>
                  <a:r>
                    <a:rPr kumimoji="0" lang="en-US" altLang="zh-CN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3</a:t>
                  </a:r>
                  <a:r>
                    <a:rPr kumimoji="0" lang="zh-CN" alt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列</a:t>
                  </a:r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BA8397D7-58A3-4372-A9A3-FD18B2D1E5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74416" y="6360285"/>
                  <a:ext cx="1355651" cy="389850"/>
                </a:xfrm>
                <a:prstGeom prst="rect">
                  <a:avLst/>
                </a:prstGeom>
                <a:blipFill>
                  <a:blip r:embed="rId7"/>
                  <a:stretch>
                    <a:fillRect t="-3125" b="-2343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48B64C76-7F04-490B-AD4B-F5F88767F8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780" t="34812" r="19532" b="54674"/>
          <a:stretch/>
        </p:blipFill>
        <p:spPr>
          <a:xfrm>
            <a:off x="2178538" y="2852083"/>
            <a:ext cx="7148532" cy="106523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152FF619-181F-4D08-9861-CADC3FD1BC18}"/>
              </a:ext>
            </a:extLst>
          </p:cNvPr>
          <p:cNvSpPr txBox="1"/>
          <p:nvPr/>
        </p:nvSpPr>
        <p:spPr>
          <a:xfrm>
            <a:off x="541993" y="820960"/>
            <a:ext cx="11439475" cy="191052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相对于坐标系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{0}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的雅可比，分成两部分求解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线速度雅可比，由于后三个关节转轴相交决定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的姿态、前三个关节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的决定位置，所以线速度雅可比仅与前三个关节角相关，用直接微分法求解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角速度雅可比，用直观法求解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3120B201-00A0-4261-ACD7-9603067A455D}"/>
              </a:ext>
            </a:extLst>
          </p:cNvPr>
          <p:cNvGrpSpPr/>
          <p:nvPr/>
        </p:nvGrpSpPr>
        <p:grpSpPr>
          <a:xfrm>
            <a:off x="9233767" y="3051332"/>
            <a:ext cx="1800000" cy="755337"/>
            <a:chOff x="9233767" y="3051332"/>
            <a:chExt cx="1800000" cy="755337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C4D57978-E004-4FB5-8E6F-B005C5249678}"/>
                </a:ext>
              </a:extLst>
            </p:cNvPr>
            <p:cNvSpPr txBox="1"/>
            <p:nvPr/>
          </p:nvSpPr>
          <p:spPr>
            <a:xfrm>
              <a:off x="9431730" y="3051332"/>
              <a:ext cx="14157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线速度雅可比</a:t>
              </a: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893C03F9-1120-4D70-801C-77662E9C32CC}"/>
                </a:ext>
              </a:extLst>
            </p:cNvPr>
            <p:cNvSpPr txBox="1"/>
            <p:nvPr/>
          </p:nvSpPr>
          <p:spPr>
            <a:xfrm>
              <a:off x="9431730" y="3468115"/>
              <a:ext cx="14157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角速度雅可比</a:t>
              </a:r>
            </a:p>
          </p:txBody>
        </p: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283CF3E1-770C-42E1-8604-C8748720C66D}"/>
                </a:ext>
              </a:extLst>
            </p:cNvPr>
            <p:cNvCxnSpPr/>
            <p:nvPr/>
          </p:nvCxnSpPr>
          <p:spPr>
            <a:xfrm>
              <a:off x="9233767" y="3431833"/>
              <a:ext cx="1800000" cy="0"/>
            </a:xfrm>
            <a:prstGeom prst="line">
              <a:avLst/>
            </a:prstGeom>
            <a:ln w="2857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动作按钮: 前进或下一项 31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5AC08D63-B406-F066-8619-F7B4BEC53E26}"/>
              </a:ext>
            </a:extLst>
          </p:cNvPr>
          <p:cNvSpPr/>
          <p:nvPr/>
        </p:nvSpPr>
        <p:spPr>
          <a:xfrm>
            <a:off x="11033767" y="2420083"/>
            <a:ext cx="432000" cy="432000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8768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EF416-F03E-0F19-61D0-8D18A1D68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58">
            <a:extLst>
              <a:ext uri="{FF2B5EF4-FFF2-40B4-BE49-F238E27FC236}">
                <a16:creationId xmlns:a16="http://schemas.microsoft.com/office/drawing/2014/main" id="{584F6DB5-AE3D-F3EF-0C60-B5526C0905F1}"/>
              </a:ext>
            </a:extLst>
          </p:cNvPr>
          <p:cNvSpPr/>
          <p:nvPr/>
        </p:nvSpPr>
        <p:spPr>
          <a:xfrm>
            <a:off x="0" y="1651562"/>
            <a:ext cx="12192000" cy="1897183"/>
          </a:xfrm>
          <a:prstGeom prst="rect">
            <a:avLst/>
          </a:prstGeom>
          <a:solidFill>
            <a:srgbClr val="9D13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4" name="文本框 6">
            <a:extLst>
              <a:ext uri="{FF2B5EF4-FFF2-40B4-BE49-F238E27FC236}">
                <a16:creationId xmlns:a16="http://schemas.microsoft.com/office/drawing/2014/main" id="{668D5FF4-2328-F168-8565-EF53E2848E47}"/>
              </a:ext>
            </a:extLst>
          </p:cNvPr>
          <p:cNvSpPr txBox="1"/>
          <p:nvPr/>
        </p:nvSpPr>
        <p:spPr>
          <a:xfrm>
            <a:off x="0" y="1719942"/>
            <a:ext cx="12192000" cy="1828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3000509000000000000" pitchFamily="65" charset="-122"/>
                <a:ea typeface="方正小标宋简体" panose="03000509000000000000" pitchFamily="65" charset="-122"/>
                <a:cs typeface="+mn-cs"/>
              </a:rPr>
              <a:t>第六章习题解答</a:t>
            </a:r>
            <a:endParaRPr kumimoji="0" lang="en-US" altLang="zh-CN" sz="4400" b="1" i="0" u="none" strike="noStrike" kern="1200" cap="none" spc="2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小标宋简体" panose="03000509000000000000" pitchFamily="65" charset="-122"/>
              <a:ea typeface="方正小标宋简体" panose="03000509000000000000" pitchFamily="65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400" b="1" spc="200" dirty="0">
                <a:solidFill>
                  <a:prstClr val="white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牛顿</a:t>
            </a:r>
            <a:r>
              <a:rPr lang="en-US" altLang="zh-CN" sz="4400" b="1" spc="200" dirty="0">
                <a:solidFill>
                  <a:prstClr val="white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-</a:t>
            </a:r>
            <a:r>
              <a:rPr lang="zh-CN" altLang="en-US" sz="4400" b="1" spc="200" dirty="0">
                <a:solidFill>
                  <a:prstClr val="white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欧拉法</a:t>
            </a:r>
            <a:endParaRPr kumimoji="0" lang="en-US" altLang="zh-CN" sz="4400" b="1" i="0" u="none" strike="noStrike" kern="1200" cap="none" spc="2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小标宋简体" panose="03000509000000000000" pitchFamily="65" charset="-122"/>
              <a:ea typeface="方正小标宋简体" panose="03000509000000000000" pitchFamily="65" charset="-122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00F8E4-6481-D29D-D3AC-7501F1763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158" y="69891"/>
            <a:ext cx="3485034" cy="117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811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3525"/>
    </mc:Choice>
    <mc:Fallback xmlns="">
      <p:transition advTm="13525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5DF71BE-218B-9E61-9599-EA2174067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A44188-3096-49C0-8534-FE6F15E0F67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8E1ECC5-5F10-ECDA-73DC-882E45EB23A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3" b="210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00F0A6B-8538-FD48-8B95-3AE5E27F2442}"/>
              </a:ext>
            </a:extLst>
          </p:cNvPr>
          <p:cNvSpPr/>
          <p:nvPr/>
        </p:nvSpPr>
        <p:spPr>
          <a:xfrm>
            <a:off x="254000" y="4851400"/>
            <a:ext cx="8331200" cy="1117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5725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32D0A-27E9-6F36-4B3D-FF181BEBE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A29D035-080E-A8FF-7677-51957546B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A44188-3096-49C0-8534-FE6F15E0F67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05461C0-4F6B-A1BB-399C-324B9AFE49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100" y="792909"/>
            <a:ext cx="3581900" cy="495369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80715AF-42AF-AFD2-6BAE-5D8CE52294B6}"/>
              </a:ext>
            </a:extLst>
          </p:cNvPr>
          <p:cNvSpPr txBox="1"/>
          <p:nvPr/>
        </p:nvSpPr>
        <p:spPr>
          <a:xfrm>
            <a:off x="-1" y="33341"/>
            <a:ext cx="116846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D131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作  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109ED5A-CDB7-C5D9-F356-4F430FC0C163}"/>
                  </a:ext>
                </a:extLst>
              </p:cNvPr>
              <p:cNvSpPr txBox="1"/>
              <p:nvPr/>
            </p:nvSpPr>
            <p:spPr>
              <a:xfrm>
                <a:off x="306520" y="939083"/>
                <a:ext cx="76635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为简单起见，假定图中平面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2R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机械手的两个连杆的质量集中在连杆末端，分别为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𝑚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𝑚</m:t>
                        </m:r>
                      </m:e>
                      <m:sub>
                        <m: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，机械手的运动学参数和动力学参数如下。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109ED5A-CDB7-C5D9-F356-4F430FC0C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520" y="939083"/>
                <a:ext cx="7663500" cy="707886"/>
              </a:xfrm>
              <a:prstGeom prst="rect">
                <a:avLst/>
              </a:prstGeom>
              <a:blipFill>
                <a:blip r:embed="rId3"/>
                <a:stretch>
                  <a:fillRect l="-796" t="-4310" r="-398" b="-146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4">
            <a:extLst>
              <a:ext uri="{FF2B5EF4-FFF2-40B4-BE49-F238E27FC236}">
                <a16:creationId xmlns:a16="http://schemas.microsoft.com/office/drawing/2014/main" id="{566330A4-18EA-064C-5310-A5877621E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519" y="138907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C529F909-BD8F-BDD1-DCE1-B288A776E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" y="183733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AC721E7F-3A40-0804-9ADC-D804ABC88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BF756A6-61ED-934A-9AA4-23968F6FF91A}"/>
              </a:ext>
            </a:extLst>
          </p:cNvPr>
          <p:cNvSpPr txBox="1"/>
          <p:nvPr/>
        </p:nvSpPr>
        <p:spPr>
          <a:xfrm>
            <a:off x="306520" y="1710040"/>
            <a:ext cx="7663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两连杆质心矢径：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5D86905C-5852-449A-C21B-0C0FDF3601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4452814"/>
              </p:ext>
            </p:extLst>
          </p:nvPr>
        </p:nvGraphicFramePr>
        <p:xfrm>
          <a:off x="2480993" y="1710550"/>
          <a:ext cx="2201815" cy="39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07880" imgH="241200" progId="Equation.DSMT4">
                  <p:embed/>
                </p:oleObj>
              </mc:Choice>
              <mc:Fallback>
                <p:oleObj name="Equation" r:id="rId4" imgW="1307880" imgH="241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0993" y="1710550"/>
                        <a:ext cx="2201815" cy="39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5">
            <a:extLst>
              <a:ext uri="{FF2B5EF4-FFF2-40B4-BE49-F238E27FC236}">
                <a16:creationId xmlns:a16="http://schemas.microsoft.com/office/drawing/2014/main" id="{0402D557-E72C-3384-98DE-83487BE63F6B}"/>
              </a:ext>
            </a:extLst>
          </p:cNvPr>
          <p:cNvSpPr txBox="1"/>
          <p:nvPr/>
        </p:nvSpPr>
        <p:spPr>
          <a:xfrm>
            <a:off x="306518" y="2285593"/>
            <a:ext cx="2675467" cy="39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相对质心的惯性张量：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CC274AB8-0CFC-0AAB-F9A8-BC2FDE18ED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8571906"/>
              </p:ext>
            </p:extLst>
          </p:nvPr>
        </p:nvGraphicFramePr>
        <p:xfrm>
          <a:off x="2981985" y="2285593"/>
          <a:ext cx="1741488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41120" imgH="241200" progId="Equation.DSMT4">
                  <p:embed/>
                </p:oleObj>
              </mc:Choice>
              <mc:Fallback>
                <p:oleObj name="Equation" r:id="rId6" imgW="1041120" imgH="2412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1985" y="2285593"/>
                        <a:ext cx="1741488" cy="40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文本框 28">
            <a:extLst>
              <a:ext uri="{FF2B5EF4-FFF2-40B4-BE49-F238E27FC236}">
                <a16:creationId xmlns:a16="http://schemas.microsoft.com/office/drawing/2014/main" id="{F913B825-BE06-033D-61B0-2F72F0C9BD61}"/>
              </a:ext>
            </a:extLst>
          </p:cNvPr>
          <p:cNvSpPr txBox="1"/>
          <p:nvPr/>
        </p:nvSpPr>
        <p:spPr>
          <a:xfrm>
            <a:off x="306518" y="2861324"/>
            <a:ext cx="2675467" cy="39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末端执行器自由，则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854F68A-23D0-A7F6-7A2F-A2734033493C}"/>
              </a:ext>
            </a:extLst>
          </p:cNvPr>
          <p:cNvSpPr txBox="1"/>
          <p:nvPr/>
        </p:nvSpPr>
        <p:spPr>
          <a:xfrm>
            <a:off x="306517" y="3436926"/>
            <a:ext cx="2675467" cy="39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基座固定，则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EF96616-EC9B-2692-F516-B6C93A123E46}"/>
              </a:ext>
            </a:extLst>
          </p:cNvPr>
          <p:cNvSpPr txBox="1"/>
          <p:nvPr/>
        </p:nvSpPr>
        <p:spPr>
          <a:xfrm>
            <a:off x="306516" y="4011969"/>
            <a:ext cx="26754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考虑重力的作用，有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FCA0B58-C738-3A1F-6BC2-3A32CE5DFF1B}"/>
              </a:ext>
            </a:extLst>
          </p:cNvPr>
          <p:cNvSpPr txBox="1"/>
          <p:nvPr/>
        </p:nvSpPr>
        <p:spPr>
          <a:xfrm>
            <a:off x="306516" y="4591103"/>
            <a:ext cx="30801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连杆间的旋转变换矩阵为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1781DAC0-B221-724F-2D5F-062C223FF0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2137968"/>
              </p:ext>
            </p:extLst>
          </p:nvPr>
        </p:nvGraphicFramePr>
        <p:xfrm>
          <a:off x="2981983" y="2857319"/>
          <a:ext cx="1619250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14400" imgH="228600" progId="Equation.DSMT4">
                  <p:embed/>
                </p:oleObj>
              </mc:Choice>
              <mc:Fallback>
                <p:oleObj name="Equation" r:id="rId8" imgW="914400" imgH="2286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1983" y="2857319"/>
                        <a:ext cx="1619250" cy="398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588EF905-1309-42CC-7545-9A131CED90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4922659"/>
              </p:ext>
            </p:extLst>
          </p:nvPr>
        </p:nvGraphicFramePr>
        <p:xfrm>
          <a:off x="2159979" y="3434075"/>
          <a:ext cx="1692750" cy="39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77760" imgH="228600" progId="Equation.DSMT4">
                  <p:embed/>
                </p:oleObj>
              </mc:Choice>
              <mc:Fallback>
                <p:oleObj name="Equation" r:id="rId10" imgW="977760" imgH="2286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979" y="3434075"/>
                        <a:ext cx="1692750" cy="39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184BAD86-EB15-5604-BBF8-038B23E092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1645261"/>
              </p:ext>
            </p:extLst>
          </p:nvPr>
        </p:nvGraphicFramePr>
        <p:xfrm>
          <a:off x="2870457" y="4013210"/>
          <a:ext cx="978885" cy="39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83947" imgH="241195" progId="Equation.DSMT4">
                  <p:embed/>
                </p:oleObj>
              </mc:Choice>
              <mc:Fallback>
                <p:oleObj name="Equation" r:id="rId12" imgW="583947" imgH="241195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0457" y="4013210"/>
                        <a:ext cx="978885" cy="39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43CC4581-FA85-8B4D-EF6B-FA5EDBC6E1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6272750"/>
              </p:ext>
            </p:extLst>
          </p:nvPr>
        </p:nvGraphicFramePr>
        <p:xfrm>
          <a:off x="3359899" y="4589494"/>
          <a:ext cx="2849050" cy="10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854200" imgH="711200" progId="Equation.DSMT4">
                  <p:embed/>
                </p:oleObj>
              </mc:Choice>
              <mc:Fallback>
                <p:oleObj name="Equation" r:id="rId14" imgW="1854200" imgH="7112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899" y="4589494"/>
                        <a:ext cx="2849050" cy="108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B34BF3C7-3490-B85B-910E-616B91A61F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2702745"/>
              </p:ext>
            </p:extLst>
          </p:nvPr>
        </p:nvGraphicFramePr>
        <p:xfrm>
          <a:off x="3359899" y="5669494"/>
          <a:ext cx="2839276" cy="10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841500" imgH="711200" progId="Equation.DSMT4">
                  <p:embed/>
                </p:oleObj>
              </mc:Choice>
              <mc:Fallback>
                <p:oleObj name="Equation" r:id="rId16" imgW="1841500" imgH="7112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899" y="5669494"/>
                        <a:ext cx="2839276" cy="108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9672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2" grpId="0"/>
      <p:bldP spid="26" grpId="0"/>
      <p:bldP spid="29" grpId="0"/>
      <p:bldP spid="30" grpId="0"/>
      <p:bldP spid="31" grpId="0"/>
      <p:bldP spid="3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41BC7-3F41-ABB1-4B94-FE896F832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9A27D96-3646-562E-C503-85B9A78AE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A44188-3096-49C0-8534-FE6F15E0F67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356E272-EC5A-D4B9-3059-D66EEEE07457}"/>
              </a:ext>
            </a:extLst>
          </p:cNvPr>
          <p:cNvSpPr txBox="1"/>
          <p:nvPr/>
        </p:nvSpPr>
        <p:spPr>
          <a:xfrm>
            <a:off x="-1" y="33341"/>
            <a:ext cx="116846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D131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作  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F8DFE5B-9208-6BB5-8816-3E5C19F5767B}"/>
              </a:ext>
            </a:extLst>
          </p:cNvPr>
          <p:cNvSpPr txBox="1"/>
          <p:nvPr/>
        </p:nvSpPr>
        <p:spPr>
          <a:xfrm>
            <a:off x="306519" y="939083"/>
            <a:ext cx="62890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首先向外递推各连杆的速度和加速度，对于连杆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，有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633C16DA-3359-027D-DA3F-EA7B5E6632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520" y="366986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73C24717-0EEA-76D0-4218-5D7EF5317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519" y="138907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6B36E10-618C-ED30-7429-511695A725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519" y="133919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33B761E7-F859-1EF8-B614-BEF85039AB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4513143"/>
              </p:ext>
            </p:extLst>
          </p:nvPr>
        </p:nvGraphicFramePr>
        <p:xfrm>
          <a:off x="1173493" y="1339193"/>
          <a:ext cx="1629775" cy="10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54100" imgH="711200" progId="Equation.DSMT4">
                  <p:embed/>
                </p:oleObj>
              </mc:Choice>
              <mc:Fallback>
                <p:oleObj name="Equation" r:id="rId2" imgW="1054100" imgH="7112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3493" y="1339193"/>
                        <a:ext cx="1629775" cy="108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CE3AAE49-0E53-17D7-A98B-29D00C14BE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7322890"/>
              </p:ext>
            </p:extLst>
          </p:nvPr>
        </p:nvGraphicFramePr>
        <p:xfrm>
          <a:off x="3424477" y="1339193"/>
          <a:ext cx="1629775" cy="10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54080" imgH="711000" progId="Equation.DSMT4">
                  <p:embed/>
                </p:oleObj>
              </mc:Choice>
              <mc:Fallback>
                <p:oleObj name="Equation" r:id="rId4" imgW="1054080" imgH="711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4477" y="1339193"/>
                        <a:ext cx="1629775" cy="108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5F561CB5-9D72-CEDB-80E4-3ADF7E7FD6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3659797"/>
              </p:ext>
            </p:extLst>
          </p:nvPr>
        </p:nvGraphicFramePr>
        <p:xfrm>
          <a:off x="1173493" y="2358906"/>
          <a:ext cx="3271765" cy="10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20900" imgH="711200" progId="Equation.DSMT4">
                  <p:embed/>
                </p:oleObj>
              </mc:Choice>
              <mc:Fallback>
                <p:oleObj name="Equation" r:id="rId6" imgW="2120900" imgH="71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3493" y="2358906"/>
                        <a:ext cx="3271765" cy="108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034A119C-908A-34EA-F467-E56142C1C9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4506400"/>
              </p:ext>
            </p:extLst>
          </p:nvPr>
        </p:nvGraphicFramePr>
        <p:xfrm>
          <a:off x="496799" y="3501576"/>
          <a:ext cx="5599201" cy="115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708400" imgH="762000" progId="Equation.DSMT4">
                  <p:embed/>
                </p:oleObj>
              </mc:Choice>
              <mc:Fallback>
                <p:oleObj name="Equation" r:id="rId8" imgW="3708400" imgH="7620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799" y="3501576"/>
                        <a:ext cx="5599201" cy="115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B06E33AD-96CD-F1C4-0698-E6FEC4448B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5242169"/>
              </p:ext>
            </p:extLst>
          </p:nvPr>
        </p:nvGraphicFramePr>
        <p:xfrm>
          <a:off x="651424" y="4653576"/>
          <a:ext cx="2735387" cy="11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28800" imgH="736600" progId="Equation.DSMT4">
                  <p:embed/>
                </p:oleObj>
              </mc:Choice>
              <mc:Fallback>
                <p:oleObj name="Equation" r:id="rId10" imgW="1828800" imgH="736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424" y="4653576"/>
                        <a:ext cx="2735387" cy="111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8AE502BD-EE49-3C02-408B-BCD450F125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5097289"/>
              </p:ext>
            </p:extLst>
          </p:nvPr>
        </p:nvGraphicFramePr>
        <p:xfrm>
          <a:off x="4092042" y="4653576"/>
          <a:ext cx="982182" cy="11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22030" imgH="710891" progId="Equation.DSMT4">
                  <p:embed/>
                </p:oleObj>
              </mc:Choice>
              <mc:Fallback>
                <p:oleObj name="Equation" r:id="rId12" imgW="622030" imgH="710891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2042" y="4653576"/>
                        <a:ext cx="982182" cy="111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>
            <a:extLst>
              <a:ext uri="{FF2B5EF4-FFF2-40B4-BE49-F238E27FC236}">
                <a16:creationId xmlns:a16="http://schemas.microsoft.com/office/drawing/2014/main" id="{632AF8E4-5F79-85FF-27D8-6653BCA20986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2000" y="2220864"/>
            <a:ext cx="5760000" cy="289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781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0C9DB-40FC-7277-958C-EC43EF2D3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8ED4869-238C-4E32-D109-CBB957953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A44188-3096-49C0-8534-FE6F15E0F67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F87E3F9-9DF2-F292-74A4-CF997ABACD72}"/>
              </a:ext>
            </a:extLst>
          </p:cNvPr>
          <p:cNvSpPr txBox="1"/>
          <p:nvPr/>
        </p:nvSpPr>
        <p:spPr>
          <a:xfrm>
            <a:off x="-1" y="33341"/>
            <a:ext cx="116846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D131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作  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EE215D7-C14A-549D-7B7E-0252CB581968}"/>
              </a:ext>
            </a:extLst>
          </p:cNvPr>
          <p:cNvSpPr txBox="1"/>
          <p:nvPr/>
        </p:nvSpPr>
        <p:spPr>
          <a:xfrm>
            <a:off x="306519" y="939083"/>
            <a:ext cx="62890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对于连杆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，有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DA86CFD8-112F-CE2F-AA11-CE2E17D6DC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520" y="366986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4D71A3E4-E7A0-7DCD-A079-B2FE18520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519" y="138907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A5A19CB-1FEA-DB3D-51C5-6B5CC4CCE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519" y="133919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0E9C219F-21BB-9A36-2A9B-0DDD9C9FCF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9751562"/>
              </p:ext>
            </p:extLst>
          </p:nvPr>
        </p:nvGraphicFramePr>
        <p:xfrm>
          <a:off x="1173493" y="1333990"/>
          <a:ext cx="1453847" cy="10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39392" imgH="710891" progId="Equation.DSMT4">
                  <p:embed/>
                </p:oleObj>
              </mc:Choice>
              <mc:Fallback>
                <p:oleObj name="Equation" r:id="rId2" imgW="939392" imgH="710891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3493" y="1333990"/>
                        <a:ext cx="1453847" cy="108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32F1F030-5821-64BA-3D5F-F55909862B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2872115"/>
              </p:ext>
            </p:extLst>
          </p:nvPr>
        </p:nvGraphicFramePr>
        <p:xfrm>
          <a:off x="3494314" y="1333990"/>
          <a:ext cx="1453847" cy="10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39392" imgH="710891" progId="Equation.DSMT4">
                  <p:embed/>
                </p:oleObj>
              </mc:Choice>
              <mc:Fallback>
                <p:oleObj name="Equation" r:id="rId4" imgW="939392" imgH="710891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4314" y="1333990"/>
                        <a:ext cx="1453847" cy="108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1015B68D-601D-0340-D2C4-E087E15A26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3212913"/>
              </p:ext>
            </p:extLst>
          </p:nvPr>
        </p:nvGraphicFramePr>
        <p:xfrm>
          <a:off x="651424" y="2413990"/>
          <a:ext cx="5526384" cy="10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822700" imgH="736600" progId="Equation.DSMT4">
                  <p:embed/>
                </p:oleObj>
              </mc:Choice>
              <mc:Fallback>
                <p:oleObj name="Equation" r:id="rId6" imgW="3822700" imgH="736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424" y="2413990"/>
                        <a:ext cx="5526384" cy="108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4F77EF42-5345-AB96-A086-0326E271DF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8662833"/>
              </p:ext>
            </p:extLst>
          </p:nvPr>
        </p:nvGraphicFramePr>
        <p:xfrm>
          <a:off x="326608" y="3493990"/>
          <a:ext cx="5851200" cy="115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860800" imgH="762000" progId="Equation.DSMT4">
                  <p:embed/>
                </p:oleObj>
              </mc:Choice>
              <mc:Fallback>
                <p:oleObj name="Equation" r:id="rId8" imgW="3860800" imgH="7620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608" y="3493990"/>
                        <a:ext cx="5851200" cy="115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8C5156A8-D768-D80A-2FC5-B78EC04351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6360172"/>
              </p:ext>
            </p:extLst>
          </p:nvPr>
        </p:nvGraphicFramePr>
        <p:xfrm>
          <a:off x="651424" y="4645990"/>
          <a:ext cx="4051801" cy="11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33700" imgH="812800" progId="Equation.DSMT4">
                  <p:embed/>
                </p:oleObj>
              </mc:Choice>
              <mc:Fallback>
                <p:oleObj name="Equation" r:id="rId10" imgW="2933700" imgH="812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424" y="4645990"/>
                        <a:ext cx="4051801" cy="111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6637325D-2163-04A3-2A22-8464700B39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7209994"/>
              </p:ext>
            </p:extLst>
          </p:nvPr>
        </p:nvGraphicFramePr>
        <p:xfrm>
          <a:off x="5090286" y="4645990"/>
          <a:ext cx="1030154" cy="11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47700" imgH="711200" progId="Equation.DSMT4">
                  <p:embed/>
                </p:oleObj>
              </mc:Choice>
              <mc:Fallback>
                <p:oleObj name="Equation" r:id="rId12" imgW="647700" imgH="7112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0286" y="4645990"/>
                        <a:ext cx="1030154" cy="111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792A8B11-E8D9-D50C-3A3B-EF771F57665A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2000" y="2220864"/>
            <a:ext cx="5760000" cy="289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318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DFDD8-4301-D15A-C43C-B90173B08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FBE1DCC-102B-9BB4-0CB1-398A60B21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A44188-3096-49C0-8534-FE6F15E0F67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2AB55D0-0E72-F819-9C49-4DE706AFC696}"/>
              </a:ext>
            </a:extLst>
          </p:cNvPr>
          <p:cNvSpPr txBox="1"/>
          <p:nvPr/>
        </p:nvSpPr>
        <p:spPr>
          <a:xfrm>
            <a:off x="-1" y="33341"/>
            <a:ext cx="116846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D131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作  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C8866C4-CC8F-A02D-9642-012332CD487D}"/>
              </a:ext>
            </a:extLst>
          </p:cNvPr>
          <p:cNvSpPr txBox="1"/>
          <p:nvPr/>
        </p:nvSpPr>
        <p:spPr>
          <a:xfrm>
            <a:off x="306520" y="939083"/>
            <a:ext cx="4189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然后向内递推计算。对于连杆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2601007-F11F-3A02-3DEB-A7209E3E4862}"/>
              </a:ext>
            </a:extLst>
          </p:cNvPr>
          <p:cNvSpPr txBox="1"/>
          <p:nvPr/>
        </p:nvSpPr>
        <p:spPr>
          <a:xfrm>
            <a:off x="306520" y="2595212"/>
            <a:ext cx="4189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对于连杆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，有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7ACFC41-E20A-733C-7F53-EF2A996797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520" y="366986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37730E79-FC31-6DB3-DFDC-CA5C01DFC9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6518" y="2998808"/>
          <a:ext cx="7337154" cy="12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600700" imgH="965200" progId="Equation.DSMT4">
                  <p:embed/>
                </p:oleObj>
              </mc:Choice>
              <mc:Fallback>
                <p:oleObj name="Equation" r:id="rId2" imgW="5600700" imgH="9652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640E4432-0889-86AB-FC37-3D5919D6CC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518" y="2998808"/>
                        <a:ext cx="7337154" cy="126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4">
            <a:extLst>
              <a:ext uri="{FF2B5EF4-FFF2-40B4-BE49-F238E27FC236}">
                <a16:creationId xmlns:a16="http://schemas.microsoft.com/office/drawing/2014/main" id="{A5CEEB72-F1DF-B383-B89D-91682C190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519" y="138907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BC424749-19DC-14ED-C71B-F1836D008E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5799" y="943064"/>
          <a:ext cx="1080796" cy="39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34725" imgH="241195" progId="Equation.DSMT4">
                  <p:embed/>
                </p:oleObj>
              </mc:Choice>
              <mc:Fallback>
                <p:oleObj name="Equation" r:id="rId4" imgW="634725" imgH="241195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8892FB4E-A1BD-28BA-F0ED-62C3F0CEB5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799" y="943064"/>
                        <a:ext cx="1080796" cy="39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6">
            <a:extLst>
              <a:ext uri="{FF2B5EF4-FFF2-40B4-BE49-F238E27FC236}">
                <a16:creationId xmlns:a16="http://schemas.microsoft.com/office/drawing/2014/main" id="{807DB464-6F38-4D13-DADE-61A7B9B50E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" y="183733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4E74F012-C12E-C9A5-9913-5A47EFC568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6518" y="1339193"/>
          <a:ext cx="5383636" cy="12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81400" imgH="838200" progId="Equation.DSMT4">
                  <p:embed/>
                </p:oleObj>
              </mc:Choice>
              <mc:Fallback>
                <p:oleObj name="Equation" r:id="rId6" imgW="3581400" imgH="83820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2A95FA05-08B7-67EE-4B40-EF8A93EE05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518" y="1339193"/>
                        <a:ext cx="5383636" cy="126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EEF1CAD2-71B1-FDA0-453A-F87139D271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6518" y="4258808"/>
          <a:ext cx="6804025" cy="2484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800600" imgH="1752480" progId="Equation.DSMT4">
                  <p:embed/>
                </p:oleObj>
              </mc:Choice>
              <mc:Fallback>
                <p:oleObj name="Equation" r:id="rId8" imgW="4800600" imgH="175248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9D3B1D23-C178-19FB-0E32-0D1DA360B5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518" y="4258808"/>
                        <a:ext cx="6804025" cy="2484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EB8B23DD-651E-73FE-69E9-08A6F69AD5C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336" y="939083"/>
            <a:ext cx="5760000" cy="193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957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BF8DF-6CF3-B840-C910-F1BD1F46E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4ED8314-2249-F7AB-ABEB-F4BDA5FFC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A44188-3096-49C0-8534-FE6F15E0F67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8C16132-2162-F1C0-186F-80F3C49209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100" y="792909"/>
            <a:ext cx="3581900" cy="495369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BD2BDC5-F277-0516-8A6A-80EC0A8FBA47}"/>
              </a:ext>
            </a:extLst>
          </p:cNvPr>
          <p:cNvSpPr txBox="1"/>
          <p:nvPr/>
        </p:nvSpPr>
        <p:spPr>
          <a:xfrm>
            <a:off x="-1" y="33341"/>
            <a:ext cx="116846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D131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作  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37F516C-15B2-2200-D966-CDF98EA3A3B0}"/>
                  </a:ext>
                </a:extLst>
              </p:cNvPr>
              <p:cNvSpPr txBox="1"/>
              <p:nvPr/>
            </p:nvSpPr>
            <p:spPr>
              <a:xfrm>
                <a:off x="306520" y="939083"/>
                <a:ext cx="6322880" cy="4993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最后，将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PrePr>
                          <m:sub/>
                          <m:sup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sPre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PrePr>
                          <m:sub/>
                          <m:sup>
                            <m: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sPre>
                      </m:e>
                      <m:sub>
                        <m: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𝑧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轴分量列出，即得到两关节力矩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37F516C-15B2-2200-D966-CDF98EA3A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520" y="939083"/>
                <a:ext cx="6322880" cy="499367"/>
              </a:xfrm>
              <a:prstGeom prst="rect">
                <a:avLst/>
              </a:prstGeom>
              <a:blipFill>
                <a:blip r:embed="rId3"/>
                <a:stretch>
                  <a:fillRect l="-963" b="-158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2">
            <a:extLst>
              <a:ext uri="{FF2B5EF4-FFF2-40B4-BE49-F238E27FC236}">
                <a16:creationId xmlns:a16="http://schemas.microsoft.com/office/drawing/2014/main" id="{7D9ECCF1-ABE7-8916-D2B1-76E3BBC0E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520" y="366986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AD40851B-44DB-1BF3-0A46-96D4309E5E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519" y="138907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88ABED09-E4A3-DCEF-F04A-A8103DC95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" y="183733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9" name="Rectangle 16">
            <a:extLst>
              <a:ext uri="{FF2B5EF4-FFF2-40B4-BE49-F238E27FC236}">
                <a16:creationId xmlns:a16="http://schemas.microsoft.com/office/drawing/2014/main" id="{113756F7-5E2A-4104-5D07-40B69677B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519" y="146004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6B2376CC-72EA-77D5-DFBC-8974705973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5221103"/>
              </p:ext>
            </p:extLst>
          </p:nvPr>
        </p:nvGraphicFramePr>
        <p:xfrm>
          <a:off x="306519" y="1454500"/>
          <a:ext cx="5866496" cy="172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65280" imgH="990360" progId="Equation.DSMT4">
                  <p:embed/>
                </p:oleObj>
              </mc:Choice>
              <mc:Fallback>
                <p:oleObj name="Equation" r:id="rId4" imgW="3365280" imgH="99036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519" y="1454500"/>
                        <a:ext cx="5866496" cy="172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3E97285A-273B-67CA-B651-0A415FE95D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69754"/>
            <a:ext cx="7200000" cy="623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444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EF416-F03E-0F19-61D0-8D18A1D68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58">
            <a:extLst>
              <a:ext uri="{FF2B5EF4-FFF2-40B4-BE49-F238E27FC236}">
                <a16:creationId xmlns:a16="http://schemas.microsoft.com/office/drawing/2014/main" id="{584F6DB5-AE3D-F3EF-0C60-B5526C0905F1}"/>
              </a:ext>
            </a:extLst>
          </p:cNvPr>
          <p:cNvSpPr/>
          <p:nvPr/>
        </p:nvSpPr>
        <p:spPr>
          <a:xfrm>
            <a:off x="0" y="1651562"/>
            <a:ext cx="12192000" cy="1897183"/>
          </a:xfrm>
          <a:prstGeom prst="rect">
            <a:avLst/>
          </a:prstGeom>
          <a:solidFill>
            <a:srgbClr val="9D13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4" name="文本框 6">
            <a:extLst>
              <a:ext uri="{FF2B5EF4-FFF2-40B4-BE49-F238E27FC236}">
                <a16:creationId xmlns:a16="http://schemas.microsoft.com/office/drawing/2014/main" id="{668D5FF4-2328-F168-8565-EF53E2848E47}"/>
              </a:ext>
            </a:extLst>
          </p:cNvPr>
          <p:cNvSpPr txBox="1"/>
          <p:nvPr/>
        </p:nvSpPr>
        <p:spPr>
          <a:xfrm>
            <a:off x="0" y="1719942"/>
            <a:ext cx="12192000" cy="1828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3000509000000000000" pitchFamily="65" charset="-122"/>
                <a:ea typeface="方正小标宋简体" panose="03000509000000000000" pitchFamily="65" charset="-122"/>
                <a:cs typeface="+mn-cs"/>
              </a:rPr>
              <a:t>第六章习题解答</a:t>
            </a:r>
            <a:endParaRPr kumimoji="0" lang="en-US" altLang="zh-CN" sz="4400" b="1" i="0" u="none" strike="noStrike" kern="1200" cap="none" spc="2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小标宋简体" panose="03000509000000000000" pitchFamily="65" charset="-122"/>
              <a:ea typeface="方正小标宋简体" panose="03000509000000000000" pitchFamily="65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400" b="1" spc="200" dirty="0">
                <a:solidFill>
                  <a:prstClr val="white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拉格朗日法</a:t>
            </a:r>
            <a:endParaRPr kumimoji="0" lang="en-US" altLang="zh-CN" sz="4400" b="1" i="0" u="none" strike="noStrike" kern="1200" cap="none" spc="2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小标宋简体" panose="03000509000000000000" pitchFamily="65" charset="-122"/>
              <a:ea typeface="方正小标宋简体" panose="03000509000000000000" pitchFamily="65" charset="-122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00F8E4-6481-D29D-D3AC-7501F1763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158" y="69891"/>
            <a:ext cx="3485034" cy="117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722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3525"/>
    </mc:Choice>
    <mc:Fallback xmlns="">
      <p:transition advTm="13525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65E59-9BC4-F7CA-023E-C99F0DD1E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3ECF26C-6495-9D0F-0221-FDE72064B197}"/>
              </a:ext>
            </a:extLst>
          </p:cNvPr>
          <p:cNvSpPr txBox="1"/>
          <p:nvPr/>
        </p:nvSpPr>
        <p:spPr>
          <a:xfrm>
            <a:off x="0" y="3334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D131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题 目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AB0BDB4-B2FE-CA6E-0D8A-EDF71A093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433" y="843522"/>
            <a:ext cx="11133666" cy="5549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949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FDD2D-C39E-2DAA-5983-318B04936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7300A022-4E54-A287-29D5-2AD45E42B595}"/>
              </a:ext>
            </a:extLst>
          </p:cNvPr>
          <p:cNvSpPr txBox="1"/>
          <p:nvPr/>
        </p:nvSpPr>
        <p:spPr>
          <a:xfrm>
            <a:off x="0" y="3334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D131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题 目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8C57AA3-F8B7-08A3-0135-FAC4158CB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7897" y="1032214"/>
            <a:ext cx="1717336" cy="60257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17ACE6A-1EA7-BD4F-246B-E2A7CD5D0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6768" y="895964"/>
            <a:ext cx="2426474" cy="80160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52C4C40-F426-62F0-05C1-5499876316AC}"/>
              </a:ext>
            </a:extLst>
          </p:cNvPr>
          <p:cNvSpPr txBox="1"/>
          <p:nvPr/>
        </p:nvSpPr>
        <p:spPr>
          <a:xfrm>
            <a:off x="495300" y="1189567"/>
            <a:ext cx="2781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拉格朗日方程的基本形式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20A51BB-BB77-C598-DF0B-3D29A929B8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9343" y="1862667"/>
            <a:ext cx="2816721" cy="38735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10C4971-B8C3-ECD2-1759-023A696BE321}"/>
              </a:ext>
            </a:extLst>
          </p:cNvPr>
          <p:cNvSpPr txBox="1"/>
          <p:nvPr/>
        </p:nvSpPr>
        <p:spPr>
          <a:xfrm>
            <a:off x="495300" y="2281766"/>
            <a:ext cx="2408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Step1: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确定质心位置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2EF234E-A064-FD83-476D-E1E3EC4E625C}"/>
              </a:ext>
            </a:extLst>
          </p:cNvPr>
          <p:cNvSpPr txBox="1"/>
          <p:nvPr/>
        </p:nvSpPr>
        <p:spPr>
          <a:xfrm>
            <a:off x="2010833" y="3059668"/>
            <a:ext cx="1151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连杆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：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BDD41C4-E7F1-9618-ECD3-C71FB805DD12}"/>
              </a:ext>
            </a:extLst>
          </p:cNvPr>
          <p:cNvSpPr txBox="1"/>
          <p:nvPr/>
        </p:nvSpPr>
        <p:spPr>
          <a:xfrm>
            <a:off x="2010833" y="4639734"/>
            <a:ext cx="1151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连杆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：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68B00080-4A4D-CB1B-164F-DE070D795F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9549" y="2846052"/>
            <a:ext cx="2214032" cy="125582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74E0CB17-079D-BF73-BF15-CA83D50D79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0593" y="4547580"/>
            <a:ext cx="4572015" cy="1531127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0BDA040C-2A2D-F03B-F6C5-EA8E9D43164A}"/>
              </a:ext>
            </a:extLst>
          </p:cNvPr>
          <p:cNvSpPr/>
          <p:nvPr/>
        </p:nvSpPr>
        <p:spPr>
          <a:xfrm>
            <a:off x="3249998" y="2186341"/>
            <a:ext cx="485261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 w="22225">
                  <a:solidFill>
                    <a:srgbClr val="C00000"/>
                  </a:solidFill>
                  <a:prstDash val="solid"/>
                </a:ln>
                <a:solidFill>
                  <a:srgbClr val="C00000">
                    <a:lumMod val="40000"/>
                    <a:lumOff val="60000"/>
                  </a:srgbClr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注意审题！质心在连杆末端！</a:t>
            </a:r>
          </a:p>
        </p:txBody>
      </p:sp>
    </p:spTree>
    <p:extLst>
      <p:ext uri="{BB962C8B-B14F-4D97-AF65-F5344CB8AC3E}">
        <p14:creationId xmlns:p14="http://schemas.microsoft.com/office/powerpoint/2010/main" val="2230465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AB61B-D1A6-9E4B-F271-E75CEA245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D22CA31A-E0C9-5F8D-E1AE-7FF9FE85C899}"/>
              </a:ext>
            </a:extLst>
          </p:cNvPr>
          <p:cNvSpPr txBox="1"/>
          <p:nvPr/>
        </p:nvSpPr>
        <p:spPr>
          <a:xfrm>
            <a:off x="0" y="3334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D131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题 目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3B2772D-A7A8-AEA4-B9B9-6313F39D0AB0}"/>
              </a:ext>
            </a:extLst>
          </p:cNvPr>
          <p:cNvSpPr txBox="1"/>
          <p:nvPr/>
        </p:nvSpPr>
        <p:spPr>
          <a:xfrm>
            <a:off x="381237" y="793606"/>
            <a:ext cx="242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Step2: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计算动能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5794CDB-CFC1-EA7E-B6C5-2A3A9FA8879F}"/>
              </a:ext>
            </a:extLst>
          </p:cNvPr>
          <p:cNvSpPr txBox="1"/>
          <p:nvPr/>
        </p:nvSpPr>
        <p:spPr>
          <a:xfrm>
            <a:off x="1870222" y="1231659"/>
            <a:ext cx="2099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连杆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的动能：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70C8D15-19E0-0865-2695-D3CB27240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263" y="1032274"/>
            <a:ext cx="1585629" cy="64677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CA8914C-A62A-92E2-F64F-55A352476B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0658" y="1974347"/>
            <a:ext cx="6313049" cy="849706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156BE270-0ACC-4EF1-45EA-D9CF0A33AD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7817" y="861931"/>
            <a:ext cx="2231793" cy="895561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8EA7FEAF-515F-A4C9-6640-1ED2930B4E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0658" y="2805643"/>
            <a:ext cx="5842836" cy="741861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65C941E3-E41E-DDFF-6C07-E12774E318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1322" y="3695197"/>
            <a:ext cx="1554570" cy="587554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27261F88-8D0A-5B93-538E-D472761B9FA5}"/>
              </a:ext>
            </a:extLst>
          </p:cNvPr>
          <p:cNvSpPr txBox="1"/>
          <p:nvPr/>
        </p:nvSpPr>
        <p:spPr>
          <a:xfrm>
            <a:off x="1870222" y="2181353"/>
            <a:ext cx="2268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连杆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的动能：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A7E9B01-F3A2-1E8B-987F-EE54B689F844}"/>
              </a:ext>
            </a:extLst>
          </p:cNvPr>
          <p:cNvSpPr txBox="1"/>
          <p:nvPr/>
        </p:nvSpPr>
        <p:spPr>
          <a:xfrm>
            <a:off x="2120297" y="3745317"/>
            <a:ext cx="998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总动能：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AAA95EA-FBB1-24DC-E6E7-637CFD9CE58C}"/>
              </a:ext>
            </a:extLst>
          </p:cNvPr>
          <p:cNvSpPr txBox="1"/>
          <p:nvPr/>
        </p:nvSpPr>
        <p:spPr>
          <a:xfrm>
            <a:off x="381237" y="4689556"/>
            <a:ext cx="242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Step3: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计算势能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EF0ED216-9ED5-708B-0458-AAF816956C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8634" y="4585249"/>
            <a:ext cx="2761966" cy="577945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3C49FA42-520C-309C-1768-A2E65366BD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28797" y="5424733"/>
            <a:ext cx="7284542" cy="127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361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98396-1451-44D7-247A-56DC118DD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1D2B7B4-A99B-C836-0BAA-E1F6C2FEB7FB}"/>
              </a:ext>
            </a:extLst>
          </p:cNvPr>
          <p:cNvSpPr txBox="1"/>
          <p:nvPr/>
        </p:nvSpPr>
        <p:spPr>
          <a:xfrm>
            <a:off x="0" y="3334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D131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题 目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7384CD3-44AB-3BF5-008E-BBCA8AA0C72B}"/>
              </a:ext>
            </a:extLst>
          </p:cNvPr>
          <p:cNvSpPr txBox="1"/>
          <p:nvPr/>
        </p:nvSpPr>
        <p:spPr>
          <a:xfrm>
            <a:off x="465482" y="823942"/>
            <a:ext cx="2823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Step4: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完整拉格朗日方程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F7E0821-35E5-7025-24F3-1EFB2FF36730}"/>
              </a:ext>
            </a:extLst>
          </p:cNvPr>
          <p:cNvSpPr txBox="1"/>
          <p:nvPr/>
        </p:nvSpPr>
        <p:spPr>
          <a:xfrm>
            <a:off x="581852" y="1674712"/>
            <a:ext cx="1755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计算过程参量：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9D00739-D3E8-509B-C2EF-570095E1C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1882" y="823942"/>
            <a:ext cx="1688535" cy="56284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32DCB45-CE26-B9F5-EE93-4C588DCDE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8248" y="1438678"/>
            <a:ext cx="6109387" cy="128566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E1448DF-EEB2-419D-F620-6A7A4EBC7B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6987" y="2834131"/>
            <a:ext cx="8082256" cy="665971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6116E1EE-F889-13D2-12E0-DFE0509895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6987" y="3675799"/>
            <a:ext cx="5272901" cy="73182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354675AE-EC10-0D65-F74B-D09B483D68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8248" y="4508039"/>
            <a:ext cx="5667733" cy="134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041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D52AE-5285-9B08-0054-CBE714B77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A8F0B0E-E6F8-70B9-59B8-A67A0ED119D5}"/>
              </a:ext>
            </a:extLst>
          </p:cNvPr>
          <p:cNvSpPr txBox="1"/>
          <p:nvPr/>
        </p:nvSpPr>
        <p:spPr>
          <a:xfrm>
            <a:off x="0" y="3334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D131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题 目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51CC905-201F-91FC-FAE3-D3D526F25ECF}"/>
              </a:ext>
            </a:extLst>
          </p:cNvPr>
          <p:cNvSpPr txBox="1"/>
          <p:nvPr/>
        </p:nvSpPr>
        <p:spPr>
          <a:xfrm>
            <a:off x="141585" y="857679"/>
            <a:ext cx="2347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带入拉格朗日方程：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0F1BAB2-8D97-590F-98F5-5835B4E1C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679" y="1359961"/>
            <a:ext cx="1004488" cy="48153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025F36B-90E5-4ACB-C3EA-BCF1CB2BE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300" y="1089491"/>
            <a:ext cx="8072967" cy="102247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B2BF191-F175-2A2B-EDCE-3782E227BF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9200" y="2167976"/>
            <a:ext cx="5372208" cy="93551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204C4FD-4DB0-C7EC-9AA7-0117BB7F7C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5745" y="2199983"/>
            <a:ext cx="1114555" cy="499628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66FD5019-5790-8EB3-FE19-925DF1BEEEE1}"/>
              </a:ext>
            </a:extLst>
          </p:cNvPr>
          <p:cNvSpPr txBox="1"/>
          <p:nvPr/>
        </p:nvSpPr>
        <p:spPr>
          <a:xfrm>
            <a:off x="247419" y="3506103"/>
            <a:ext cx="2834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最终标准动力学方程：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606378C8-8380-11B8-AB30-15115662997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68"/>
          <a:stretch>
            <a:fillRect/>
          </a:stretch>
        </p:blipFill>
        <p:spPr>
          <a:xfrm>
            <a:off x="2338972" y="4323605"/>
            <a:ext cx="8072968" cy="942241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999EAA21-D9AD-828B-2DBE-B1CCBE66DE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6801" y="5679680"/>
            <a:ext cx="4950915" cy="910311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DA762069-1407-8832-D270-4505914B36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79376" y="3467493"/>
            <a:ext cx="3082758" cy="492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210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B35CC-2F09-016E-2CA7-E395DF42C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58">
            <a:extLst>
              <a:ext uri="{FF2B5EF4-FFF2-40B4-BE49-F238E27FC236}">
                <a16:creationId xmlns:a16="http://schemas.microsoft.com/office/drawing/2014/main" id="{38A559FF-C439-AC7F-326F-2D3A1CD6968B}"/>
              </a:ext>
            </a:extLst>
          </p:cNvPr>
          <p:cNvSpPr/>
          <p:nvPr/>
        </p:nvSpPr>
        <p:spPr>
          <a:xfrm>
            <a:off x="0" y="1651562"/>
            <a:ext cx="12192000" cy="1897183"/>
          </a:xfrm>
          <a:prstGeom prst="rect">
            <a:avLst/>
          </a:prstGeom>
          <a:solidFill>
            <a:srgbClr val="9D13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4" name="文本框 6">
            <a:extLst>
              <a:ext uri="{FF2B5EF4-FFF2-40B4-BE49-F238E27FC236}">
                <a16:creationId xmlns:a16="http://schemas.microsoft.com/office/drawing/2014/main" id="{E25E53C7-48F9-69AA-C44A-FAF0F23996E8}"/>
              </a:ext>
            </a:extLst>
          </p:cNvPr>
          <p:cNvSpPr txBox="1"/>
          <p:nvPr/>
        </p:nvSpPr>
        <p:spPr>
          <a:xfrm>
            <a:off x="0" y="1719942"/>
            <a:ext cx="12192000" cy="1828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3000509000000000000" pitchFamily="65" charset="-122"/>
                <a:ea typeface="方正小标宋简体" panose="03000509000000000000" pitchFamily="65" charset="-122"/>
                <a:cs typeface="+mn-cs"/>
              </a:rPr>
              <a:t>第八章习题解答</a:t>
            </a:r>
            <a:endParaRPr kumimoji="0" lang="en-US" altLang="zh-CN" sz="4400" b="1" i="0" u="none" strike="noStrike" kern="1200" cap="none" spc="2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小标宋简体" panose="03000509000000000000" pitchFamily="65" charset="-122"/>
              <a:ea typeface="方正小标宋简体" panose="03000509000000000000" pitchFamily="65" charset="-122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41F7A0-B866-951F-E2E7-BEB46438E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158" y="69891"/>
            <a:ext cx="3485034" cy="117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07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3525"/>
    </mc:Choice>
    <mc:Fallback xmlns="">
      <p:transition advTm="13525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65E59-9BC4-F7CA-023E-C99F0DD1E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3ECF26C-6495-9D0F-0221-FDE72064B197}"/>
              </a:ext>
            </a:extLst>
          </p:cNvPr>
          <p:cNvSpPr txBox="1"/>
          <p:nvPr/>
        </p:nvSpPr>
        <p:spPr>
          <a:xfrm>
            <a:off x="0" y="3334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D131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题 目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FC90C43-A3B9-F08A-D32C-D05332E24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333" y="1259661"/>
            <a:ext cx="8381999" cy="3145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31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EDE0B-28A1-8E18-71FB-893E9747E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554602B-2BB0-8339-389D-E17628602ED8}"/>
              </a:ext>
            </a:extLst>
          </p:cNvPr>
          <p:cNvSpPr txBox="1"/>
          <p:nvPr/>
        </p:nvSpPr>
        <p:spPr>
          <a:xfrm>
            <a:off x="0" y="3334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D131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题 目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BDE3231-EB24-144C-6B1C-9848F408EF3D}"/>
              </a:ext>
            </a:extLst>
          </p:cNvPr>
          <p:cNvSpPr txBox="1"/>
          <p:nvPr/>
        </p:nvSpPr>
        <p:spPr>
          <a:xfrm>
            <a:off x="436033" y="938366"/>
            <a:ext cx="3598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1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）控制策略与内环闭环微分方程：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2D3DED9-9F30-1672-BE13-FF5B65A11D53}"/>
              </a:ext>
            </a:extLst>
          </p:cNvPr>
          <p:cNvSpPr txBox="1"/>
          <p:nvPr/>
        </p:nvSpPr>
        <p:spPr>
          <a:xfrm>
            <a:off x="1756834" y="1904948"/>
            <a:ext cx="22775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设计内环控制器为：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D5BD290-025F-B77F-9449-6B0A128B2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473" y="1750411"/>
            <a:ext cx="2739778" cy="58477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E660415-AD93-39D6-C64B-60B50EE9E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6834" y="3064059"/>
            <a:ext cx="5899448" cy="40342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3B7A4083-290D-864B-7AB6-D28493F6DF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4741" y="3937868"/>
            <a:ext cx="3678641" cy="1328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693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EB95D-8DC8-7B5C-C06C-45085431B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74CC1F4-6441-0442-50EC-5C6BA15079D1}"/>
              </a:ext>
            </a:extLst>
          </p:cNvPr>
          <p:cNvSpPr txBox="1"/>
          <p:nvPr/>
        </p:nvSpPr>
        <p:spPr>
          <a:xfrm>
            <a:off x="0" y="3334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D131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题 目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4A00911-6BED-1062-29A9-09A02D9079FA}"/>
              </a:ext>
            </a:extLst>
          </p:cNvPr>
          <p:cNvSpPr txBox="1"/>
          <p:nvPr/>
        </p:nvSpPr>
        <p:spPr>
          <a:xfrm>
            <a:off x="436033" y="938366"/>
            <a:ext cx="3598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）外环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PD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控制的设计：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FBCF742-7AA6-60E8-11F4-393082CFAE51}"/>
              </a:ext>
            </a:extLst>
          </p:cNvPr>
          <p:cNvSpPr txBox="1"/>
          <p:nvPr/>
        </p:nvSpPr>
        <p:spPr>
          <a:xfrm>
            <a:off x="1337208" y="1969712"/>
            <a:ext cx="22775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设计外环控制器为：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173E07C-E6CE-F116-60E5-B2693AC3E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276" y="1882048"/>
            <a:ext cx="3035826" cy="63121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6116382-31CE-91D9-185B-D5AC34C5A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208" y="1429850"/>
            <a:ext cx="5230874" cy="32376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7C9AA08-63E4-E9C6-4ED1-84B2C8CD55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2306" y="1969712"/>
            <a:ext cx="4206394" cy="38768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ABDC676B-9005-9942-962F-FD236AEF6554}"/>
              </a:ext>
            </a:extLst>
          </p:cNvPr>
          <p:cNvSpPr txBox="1"/>
          <p:nvPr/>
        </p:nvSpPr>
        <p:spPr>
          <a:xfrm>
            <a:off x="1337208" y="2729354"/>
            <a:ext cx="4839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对误差多次微分，并带入内环与外环的设计：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1F995266-D860-EC9E-D6B3-50F6495619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3481" y="3363398"/>
            <a:ext cx="1961772" cy="123181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E79B710A-D24A-495F-6183-9E2D072B7A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5226" y="3280914"/>
            <a:ext cx="4290579" cy="1314294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58F3245F-7947-4E3D-1628-B5074E001D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7128" y="2548173"/>
            <a:ext cx="983947" cy="631212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6BA3431A-5C46-B750-6D36-0E4D34F8FA43}"/>
              </a:ext>
            </a:extLst>
          </p:cNvPr>
          <p:cNvSpPr txBox="1"/>
          <p:nvPr/>
        </p:nvSpPr>
        <p:spPr>
          <a:xfrm>
            <a:off x="1337208" y="4769820"/>
            <a:ext cx="3467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整理成标准的二阶线性齐次方程：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6FC6C8E5-7D01-677A-6113-C0BBE12B57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6820" y="5362862"/>
            <a:ext cx="3322416" cy="711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598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69BB7-2F71-5B0D-577A-BA7334BE1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AEB1A1B-905C-A7EA-5FC6-2CC5F9C29D97}"/>
              </a:ext>
            </a:extLst>
          </p:cNvPr>
          <p:cNvSpPr txBox="1"/>
          <p:nvPr/>
        </p:nvSpPr>
        <p:spPr>
          <a:xfrm>
            <a:off x="0" y="3334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D131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题 目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CF308B1-0A6E-7EC3-24BA-49404CD4B6CA}"/>
              </a:ext>
            </a:extLst>
          </p:cNvPr>
          <p:cNvSpPr txBox="1"/>
          <p:nvPr/>
        </p:nvSpPr>
        <p:spPr>
          <a:xfrm>
            <a:off x="436033" y="938366"/>
            <a:ext cx="3598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3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）内外环整体控制框图：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BFF9129-BC9A-DC8B-944E-62823755C4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1" y="1921140"/>
            <a:ext cx="11830002" cy="301571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7F38C44-4D62-575C-ABA3-E37494847A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1472"/>
          <a:stretch>
            <a:fillRect/>
          </a:stretch>
        </p:blipFill>
        <p:spPr>
          <a:xfrm>
            <a:off x="7718556" y="2259986"/>
            <a:ext cx="1949594" cy="33081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6304FF9-346E-B95E-616A-F17A0D264D68}"/>
              </a:ext>
            </a:extLst>
          </p:cNvPr>
          <p:cNvSpPr txBox="1"/>
          <p:nvPr/>
        </p:nvSpPr>
        <p:spPr>
          <a:xfrm>
            <a:off x="8199967" y="1971940"/>
            <a:ext cx="905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机器人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BB4C0A5-521F-D592-3581-58480DD604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3329" y="3247881"/>
            <a:ext cx="1122571" cy="36223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57724993-A180-D967-E2A9-0A5AD50CC5B3}"/>
              </a:ext>
            </a:extLst>
          </p:cNvPr>
          <p:cNvSpPr txBox="1"/>
          <p:nvPr/>
        </p:nvSpPr>
        <p:spPr>
          <a:xfrm>
            <a:off x="5803900" y="1890654"/>
            <a:ext cx="3259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+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08E4FE2-EA8A-BD1B-8C67-7457A6CC6990}"/>
              </a:ext>
            </a:extLst>
          </p:cNvPr>
          <p:cNvSpPr txBox="1"/>
          <p:nvPr/>
        </p:nvSpPr>
        <p:spPr>
          <a:xfrm>
            <a:off x="6440530" y="2487554"/>
            <a:ext cx="3259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+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52DF329-7D69-A611-1309-196DC516DBEE}"/>
              </a:ext>
            </a:extLst>
          </p:cNvPr>
          <p:cNvSpPr txBox="1"/>
          <p:nvPr/>
        </p:nvSpPr>
        <p:spPr>
          <a:xfrm>
            <a:off x="3433828" y="2487554"/>
            <a:ext cx="3259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+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BDB109F-E837-6D79-CF61-1D959D1D1EFA}"/>
              </a:ext>
            </a:extLst>
          </p:cNvPr>
          <p:cNvSpPr txBox="1"/>
          <p:nvPr/>
        </p:nvSpPr>
        <p:spPr>
          <a:xfrm>
            <a:off x="4034367" y="2406134"/>
            <a:ext cx="3259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+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0F36162-DA04-0A00-7FD9-D16223F245B1}"/>
              </a:ext>
            </a:extLst>
          </p:cNvPr>
          <p:cNvSpPr txBox="1"/>
          <p:nvPr/>
        </p:nvSpPr>
        <p:spPr>
          <a:xfrm>
            <a:off x="3206263" y="1874112"/>
            <a:ext cx="3259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+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52B9C55-7443-DD48-05F2-BD26DB9180EB}"/>
              </a:ext>
            </a:extLst>
          </p:cNvPr>
          <p:cNvSpPr txBox="1"/>
          <p:nvPr/>
        </p:nvSpPr>
        <p:spPr>
          <a:xfrm>
            <a:off x="623930" y="2720387"/>
            <a:ext cx="3259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+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FB1DA4B-E9ED-4AB3-4F48-1D4C06D9E02D}"/>
              </a:ext>
            </a:extLst>
          </p:cNvPr>
          <p:cNvSpPr txBox="1"/>
          <p:nvPr/>
        </p:nvSpPr>
        <p:spPr>
          <a:xfrm>
            <a:off x="1275864" y="3668654"/>
            <a:ext cx="3259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+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E816E73-9D68-8EB8-425B-FC0A40093DBE}"/>
              </a:ext>
            </a:extLst>
          </p:cNvPr>
          <p:cNvSpPr txBox="1"/>
          <p:nvPr/>
        </p:nvSpPr>
        <p:spPr>
          <a:xfrm>
            <a:off x="1909233" y="4227424"/>
            <a:ext cx="3259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-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E5E91B4-254A-1E0D-123F-01550622BA6A}"/>
              </a:ext>
            </a:extLst>
          </p:cNvPr>
          <p:cNvSpPr txBox="1"/>
          <p:nvPr/>
        </p:nvSpPr>
        <p:spPr>
          <a:xfrm>
            <a:off x="1325033" y="3240784"/>
            <a:ext cx="3259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-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3B38A407-C825-D6A9-240E-74C20B370E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8082" y="2073158"/>
            <a:ext cx="342948" cy="414396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832581D6-57C7-5181-082F-474AF401EE0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-448" b="27457"/>
          <a:stretch>
            <a:fillRect/>
          </a:stretch>
        </p:blipFill>
        <p:spPr>
          <a:xfrm>
            <a:off x="2804558" y="3813598"/>
            <a:ext cx="340808" cy="381636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2EACCE91-2E8A-B741-91FB-01C40B6A8C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60603" y="2923100"/>
            <a:ext cx="384763" cy="389185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EB63F4F4-1738-F5C9-CE89-6BD36D87AE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37803" y="1854054"/>
            <a:ext cx="353508" cy="362236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9ABC4C24-0E1B-ADCF-D024-F104B9D58C3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2251" y="1763789"/>
            <a:ext cx="385817" cy="452501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907AC034-1729-9E8F-F163-611C94EE5FB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2251" y="2513492"/>
            <a:ext cx="404869" cy="523948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7E0D5730-7959-B4A2-EA6F-846ACB0C32F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2269" y="3610116"/>
            <a:ext cx="339248" cy="382741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1C471E89-0146-ED30-26F0-CA46BAC0701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58416" y="1767958"/>
            <a:ext cx="380056" cy="444162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5A449919-E918-223E-2D93-78852AF73E0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392393" y="1822935"/>
            <a:ext cx="270952" cy="389185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12223EB8-744B-58CE-3610-6DF75982C63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8089" y="4392743"/>
            <a:ext cx="380056" cy="444162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C7F39C57-2BFF-E0B4-DC8B-2835189A9BC3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29686" t="1" b="15026"/>
          <a:stretch>
            <a:fillRect/>
          </a:stretch>
        </p:blipFill>
        <p:spPr>
          <a:xfrm>
            <a:off x="1881697" y="4478432"/>
            <a:ext cx="190519" cy="330704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FE4F5269-BD60-3C4A-C12A-B5561614928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22626" y="2584939"/>
            <a:ext cx="323895" cy="452501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EE8C695E-7951-F49F-0DE3-E2CCAC44F195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22714" t="44018" b="17350"/>
          <a:stretch>
            <a:fillRect/>
          </a:stretch>
        </p:blipFill>
        <p:spPr>
          <a:xfrm>
            <a:off x="2260217" y="3756682"/>
            <a:ext cx="211922" cy="193276"/>
          </a:xfrm>
          <a:prstGeom prst="rect">
            <a:avLst/>
          </a:prstGeom>
        </p:spPr>
      </p:pic>
      <p:sp>
        <p:nvSpPr>
          <p:cNvPr id="50" name="矩形 49">
            <a:extLst>
              <a:ext uri="{FF2B5EF4-FFF2-40B4-BE49-F238E27FC236}">
                <a16:creationId xmlns:a16="http://schemas.microsoft.com/office/drawing/2014/main" id="{1C1714D1-7CD4-79F7-A945-0D9FF8D9CA65}"/>
              </a:ext>
            </a:extLst>
          </p:cNvPr>
          <p:cNvSpPr/>
          <p:nvPr/>
        </p:nvSpPr>
        <p:spPr>
          <a:xfrm>
            <a:off x="736600" y="1763789"/>
            <a:ext cx="3807824" cy="327387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03CE503-A57A-7FE3-C6DE-6044A8C4BE05}"/>
              </a:ext>
            </a:extLst>
          </p:cNvPr>
          <p:cNvSpPr/>
          <p:nvPr/>
        </p:nvSpPr>
        <p:spPr>
          <a:xfrm>
            <a:off x="5803899" y="1763789"/>
            <a:ext cx="4868333" cy="2164469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684C0B6E-68FE-861F-DBF6-B3F740BA861D}"/>
              </a:ext>
            </a:extLst>
          </p:cNvPr>
          <p:cNvSpPr txBox="1"/>
          <p:nvPr/>
        </p:nvSpPr>
        <p:spPr>
          <a:xfrm>
            <a:off x="1974832" y="5245643"/>
            <a:ext cx="1231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外环控制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FF2B4175-922A-1513-C90A-ABB875B54E5A}"/>
              </a:ext>
            </a:extLst>
          </p:cNvPr>
          <p:cNvSpPr txBox="1"/>
          <p:nvPr/>
        </p:nvSpPr>
        <p:spPr>
          <a:xfrm>
            <a:off x="8077637" y="4109100"/>
            <a:ext cx="1231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内环控制</a:t>
            </a:r>
          </a:p>
        </p:txBody>
      </p:sp>
    </p:spTree>
    <p:extLst>
      <p:ext uri="{BB962C8B-B14F-4D97-AF65-F5344CB8AC3E}">
        <p14:creationId xmlns:p14="http://schemas.microsoft.com/office/powerpoint/2010/main" val="4253265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EF416-F03E-0F19-61D0-8D18A1D68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58">
            <a:extLst>
              <a:ext uri="{FF2B5EF4-FFF2-40B4-BE49-F238E27FC236}">
                <a16:creationId xmlns:a16="http://schemas.microsoft.com/office/drawing/2014/main" id="{584F6DB5-AE3D-F3EF-0C60-B5526C0905F1}"/>
              </a:ext>
            </a:extLst>
          </p:cNvPr>
          <p:cNvSpPr/>
          <p:nvPr/>
        </p:nvSpPr>
        <p:spPr>
          <a:xfrm>
            <a:off x="0" y="1651562"/>
            <a:ext cx="12192000" cy="1897183"/>
          </a:xfrm>
          <a:prstGeom prst="rect">
            <a:avLst/>
          </a:prstGeom>
          <a:solidFill>
            <a:srgbClr val="9D13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4" name="文本框 6">
            <a:extLst>
              <a:ext uri="{FF2B5EF4-FFF2-40B4-BE49-F238E27FC236}">
                <a16:creationId xmlns:a16="http://schemas.microsoft.com/office/drawing/2014/main" id="{668D5FF4-2328-F168-8565-EF53E2848E47}"/>
              </a:ext>
            </a:extLst>
          </p:cNvPr>
          <p:cNvSpPr txBox="1"/>
          <p:nvPr/>
        </p:nvSpPr>
        <p:spPr>
          <a:xfrm>
            <a:off x="0" y="1719942"/>
            <a:ext cx="12192000" cy="1828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3000509000000000000" pitchFamily="65" charset="-122"/>
                <a:ea typeface="方正小标宋简体" panose="03000509000000000000" pitchFamily="65" charset="-122"/>
                <a:cs typeface="+mn-cs"/>
              </a:rPr>
              <a:t>第</a:t>
            </a:r>
            <a:r>
              <a:rPr lang="zh-CN" altLang="en-US" sz="4400" b="1" spc="200" dirty="0">
                <a:solidFill>
                  <a:prstClr val="white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九</a:t>
            </a:r>
            <a:r>
              <a:rPr kumimoji="0" lang="zh-CN" altLang="en-US" sz="4400" b="1" i="0" u="none" strike="noStrike" kern="1200" cap="none" spc="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3000509000000000000" pitchFamily="65" charset="-122"/>
                <a:ea typeface="方正小标宋简体" panose="03000509000000000000" pitchFamily="65" charset="-122"/>
                <a:cs typeface="+mn-cs"/>
              </a:rPr>
              <a:t>章习题解答</a:t>
            </a:r>
            <a:endParaRPr kumimoji="0" lang="en-US" altLang="zh-CN" sz="4400" b="1" i="0" u="none" strike="noStrike" kern="1200" cap="none" spc="2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小标宋简体" panose="03000509000000000000" pitchFamily="65" charset="-122"/>
              <a:ea typeface="方正小标宋简体" panose="03000509000000000000" pitchFamily="65" charset="-122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00F8E4-6481-D29D-D3AC-7501F1763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158" y="69891"/>
            <a:ext cx="3485034" cy="117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473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3525"/>
    </mc:Choice>
    <mc:Fallback xmlns="">
      <p:transition advTm="13525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E937E52-AB36-EA76-1537-2D5E57947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A44188-3096-49C0-8534-FE6F15E0F67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40EA8AF-A67A-9528-2753-F9A96252B4D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" b="43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5FA06A0-7287-DB3F-6FAA-D451F0B67275}"/>
              </a:ext>
            </a:extLst>
          </p:cNvPr>
          <p:cNvSpPr/>
          <p:nvPr/>
        </p:nvSpPr>
        <p:spPr>
          <a:xfrm>
            <a:off x="3752850" y="4572000"/>
            <a:ext cx="1819275" cy="361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8027652-D7A0-30F1-6048-A22472A2A696}"/>
              </a:ext>
            </a:extLst>
          </p:cNvPr>
          <p:cNvSpPr/>
          <p:nvPr/>
        </p:nvSpPr>
        <p:spPr>
          <a:xfrm>
            <a:off x="10629900" y="5343525"/>
            <a:ext cx="1343025" cy="733425"/>
          </a:xfrm>
          <a:prstGeom prst="rect">
            <a:avLst/>
          </a:prstGeom>
          <a:solidFill>
            <a:srgbClr val="EDE7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96DCCE8-DA9D-D97B-DCFD-1E856F60F3AE}"/>
                  </a:ext>
                </a:extLst>
              </p:cNvPr>
              <p:cNvSpPr txBox="1"/>
              <p:nvPr/>
            </p:nvSpPr>
            <p:spPr>
              <a:xfrm>
                <a:off x="10930349" y="5407782"/>
                <a:ext cx="851130" cy="6049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altLang="zh-CN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 smtClean="0">
                              <a:latin typeface="Cambria Math" panose="02040503050406030204" pitchFamily="18" charset="0"/>
                            </a:rPr>
                            <m:t>𝝉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96DCCE8-DA9D-D97B-DCFD-1E856F60F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0349" y="5407782"/>
                <a:ext cx="851130" cy="604909"/>
              </a:xfrm>
              <a:prstGeom prst="rect">
                <a:avLst/>
              </a:prstGeom>
              <a:blipFill>
                <a:blip r:embed="rId3"/>
                <a:stretch>
                  <a:fillRect l="-8571" r="-5714" b="-10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A19891D-0872-5DAF-C66F-5E6EC1B1AAFF}"/>
                  </a:ext>
                </a:extLst>
              </p:cNvPr>
              <p:cNvSpPr txBox="1"/>
              <p:nvPr/>
            </p:nvSpPr>
            <p:spPr>
              <a:xfrm>
                <a:off x="3752850" y="4572000"/>
                <a:ext cx="1758366" cy="3024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𝒅𝒚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zh-CN" b="1" dirty="0"/>
                  <a:t>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latin typeface="Cambria Math" panose="02040503050406030204" pitchFamily="18" charset="0"/>
                          </a:rPr>
                          <m:t>𝝉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A19891D-0872-5DAF-C66F-5E6EC1B1AA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2850" y="4572000"/>
                <a:ext cx="1758366" cy="302455"/>
              </a:xfrm>
              <a:prstGeom prst="rect">
                <a:avLst/>
              </a:prstGeom>
              <a:blipFill>
                <a:blip r:embed="rId4"/>
                <a:stretch>
                  <a:fillRect l="-6250" t="-26000" r="-3819" b="-36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1190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DB78F72-8AC8-40A1-AC68-C3247FF97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A44188-3096-49C0-8534-FE6F15E0F67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Palatino Linotype" panose="02040502050505030304" pitchFamily="18" charset="0"/>
                <a:ea typeface="微软雅黑 Ligh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Palatino Linotype" panose="02040502050505030304" pitchFamily="18" charset="0"/>
              <a:ea typeface="微软雅黑 Light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D2DDC2-0302-4D83-BF61-CD22C87704D3}"/>
              </a:ext>
            </a:extLst>
          </p:cNvPr>
          <p:cNvSpPr txBox="1"/>
          <p:nvPr/>
        </p:nvSpPr>
        <p:spPr>
          <a:xfrm>
            <a:off x="0" y="2592730"/>
            <a:ext cx="12192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600" b="0" i="0" u="none" strike="noStrike" kern="1200" cap="none" spc="0" normalizeH="0" baseline="0" noProof="0" dirty="0">
                <a:ln>
                  <a:noFill/>
                </a:ln>
                <a:solidFill>
                  <a:srgbClr val="303274">
                    <a:lumMod val="50000"/>
                  </a:srgbClr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+mn-cs"/>
              </a:rPr>
              <a:t>Thank you</a:t>
            </a:r>
            <a:endParaRPr kumimoji="0" lang="zh-CN" altLang="en-US" sz="9600" b="0" i="0" u="none" strike="noStrike" kern="1200" cap="none" spc="0" normalizeH="0" baseline="0" noProof="0" dirty="0">
              <a:ln>
                <a:noFill/>
              </a:ln>
              <a:solidFill>
                <a:srgbClr val="303274">
                  <a:lumMod val="50000"/>
                </a:srgbClr>
              </a:solidFill>
              <a:effectLst/>
              <a:uLnTx/>
              <a:uFillTx/>
              <a:latin typeface="华文隶书" panose="02010800040101010101" pitchFamily="2" charset="-122"/>
              <a:ea typeface="华文隶书" panose="020108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0877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theme/theme1.xml><?xml version="1.0" encoding="utf-8"?>
<a:theme xmlns:a="http://schemas.openxmlformats.org/drawingml/2006/main" name="山大16v9">
  <a:themeElements>
    <a:clrScheme name="0-红色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92090E"/>
      </a:accent1>
      <a:accent2>
        <a:srgbClr val="C00000"/>
      </a:accent2>
      <a:accent3>
        <a:srgbClr val="5257BF"/>
      </a:accent3>
      <a:accent4>
        <a:srgbClr val="303274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0-常用">
      <a:majorFont>
        <a:latin typeface="Garamond"/>
        <a:ea typeface="方正小标宋简体"/>
        <a:cs typeface=""/>
      </a:majorFont>
      <a:minorFont>
        <a:latin typeface="微软雅黑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山大16v9" id="{CBFC177C-67BC-4898-B209-AB3BAC7E3599}" vid="{370081A7-E90D-402D-BC69-F624A17263F7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1035</Words>
  <Application>Microsoft Office PowerPoint</Application>
  <PresentationFormat>宽屏</PresentationFormat>
  <Paragraphs>200</Paragraphs>
  <Slides>30</Slides>
  <Notes>7</Notes>
  <HiddenSlides>1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5" baseType="lpstr">
      <vt:lpstr>等线</vt:lpstr>
      <vt:lpstr>方正小标宋简体</vt:lpstr>
      <vt:lpstr>华文隶书</vt:lpstr>
      <vt:lpstr>华文行楷</vt:lpstr>
      <vt:lpstr>微软雅黑</vt:lpstr>
      <vt:lpstr>微软雅黑 Light</vt:lpstr>
      <vt:lpstr>Arial</vt:lpstr>
      <vt:lpstr>Calibri</vt:lpstr>
      <vt:lpstr>Cambria Math</vt:lpstr>
      <vt:lpstr>Garamond</vt:lpstr>
      <vt:lpstr>Palatino Linotype</vt:lpstr>
      <vt:lpstr>Times New Roman</vt:lpstr>
      <vt:lpstr>Wingdings</vt:lpstr>
      <vt:lpstr>山大16v9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shuo sun</dc:creator>
  <cp:lastModifiedBy>shuo sun</cp:lastModifiedBy>
  <cp:revision>9</cp:revision>
  <dcterms:created xsi:type="dcterms:W3CDTF">2023-08-09T12:44:55Z</dcterms:created>
  <dcterms:modified xsi:type="dcterms:W3CDTF">2025-06-10T00:03:26Z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2052-12.1.0.15259</vt:lpwstr>
  </property>
</Properties>
</file>