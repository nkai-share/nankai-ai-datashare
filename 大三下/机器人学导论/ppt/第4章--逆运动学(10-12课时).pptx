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sldIdLst>
    <p:sldId id="262" r:id="rId2"/>
    <p:sldId id="1921" r:id="rId3"/>
    <p:sldId id="1922" r:id="rId4"/>
    <p:sldId id="1943" r:id="rId5"/>
    <p:sldId id="1941" r:id="rId6"/>
    <p:sldId id="1972" r:id="rId7"/>
    <p:sldId id="2032" r:id="rId8"/>
    <p:sldId id="2033" r:id="rId9"/>
    <p:sldId id="1942" r:id="rId10"/>
    <p:sldId id="1984" r:id="rId11"/>
    <p:sldId id="2023" r:id="rId12"/>
    <p:sldId id="2034" r:id="rId13"/>
    <p:sldId id="2037" r:id="rId14"/>
    <p:sldId id="2035" r:id="rId15"/>
    <p:sldId id="2026" r:id="rId16"/>
    <p:sldId id="2031" r:id="rId17"/>
    <p:sldId id="2027" r:id="rId18"/>
    <p:sldId id="1957" r:id="rId19"/>
    <p:sldId id="1956" r:id="rId20"/>
    <p:sldId id="2040" r:id="rId21"/>
    <p:sldId id="2043" r:id="rId22"/>
    <p:sldId id="1963" r:id="rId23"/>
    <p:sldId id="2044" r:id="rId24"/>
    <p:sldId id="1961" r:id="rId25"/>
    <p:sldId id="1962" r:id="rId26"/>
    <p:sldId id="2028" r:id="rId27"/>
    <p:sldId id="1917" r:id="rId28"/>
    <p:sldId id="1944" r:id="rId29"/>
    <p:sldId id="2039" r:id="rId30"/>
    <p:sldId id="1979" r:id="rId31"/>
    <p:sldId id="1980" r:id="rId32"/>
    <p:sldId id="195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0vIhpKNeqjdCvm6kmEkCQ==" hashData="HHOPon4raCwDyX7oz3KExGyXWJVj4CSywjvpbaizIVPGNWDCXabjQpONxY2cQSJje5MAUSa57XdwBQXkXiF/Kw=="/>
  <p:extLst>
    <p:ext uri="{521415D9-36F7-43E2-AB2F-B90AF26B5E84}">
      <p14:sectionLst xmlns:p14="http://schemas.microsoft.com/office/powerpoint/2010/main">
        <p14:section name="Default Section" id="{52251452-E94D-477E-AD2C-327D441C0DF1}">
          <p14:sldIdLst>
            <p14:sldId id="262"/>
            <p14:sldId id="1921"/>
            <p14:sldId id="1922"/>
            <p14:sldId id="1943"/>
            <p14:sldId id="1941"/>
            <p14:sldId id="1972"/>
            <p14:sldId id="2032"/>
            <p14:sldId id="2033"/>
            <p14:sldId id="1942"/>
            <p14:sldId id="1984"/>
            <p14:sldId id="2023"/>
            <p14:sldId id="2034"/>
            <p14:sldId id="2037"/>
            <p14:sldId id="2035"/>
            <p14:sldId id="2026"/>
            <p14:sldId id="2031"/>
            <p14:sldId id="2027"/>
            <p14:sldId id="1957"/>
            <p14:sldId id="1956"/>
            <p14:sldId id="2040"/>
            <p14:sldId id="2043"/>
            <p14:sldId id="1963"/>
            <p14:sldId id="2044"/>
            <p14:sldId id="1961"/>
            <p14:sldId id="1962"/>
            <p14:sldId id="2028"/>
            <p14:sldId id="1917"/>
            <p14:sldId id="1944"/>
            <p14:sldId id="2039"/>
            <p14:sldId id="1979"/>
            <p14:sldId id="1980"/>
            <p14:sldId id="195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9D9D9"/>
    <a:srgbClr val="7E0C6E"/>
    <a:srgbClr val="FFFFFF"/>
    <a:srgbClr val="0000FF"/>
    <a:srgbClr val="66FF33"/>
    <a:srgbClr val="9D1317"/>
    <a:srgbClr val="CCFFFF"/>
    <a:srgbClr val="AD2929"/>
    <a:srgbClr val="DCCCCC"/>
    <a:srgbClr val="E0D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85067" autoAdjust="0"/>
  </p:normalViewPr>
  <p:slideViewPr>
    <p:cSldViewPr snapToGrid="0">
      <p:cViewPr varScale="1">
        <p:scale>
          <a:sx n="94" d="100"/>
          <a:sy n="94" d="100"/>
        </p:scale>
        <p:origin x="400" y="52"/>
      </p:cViewPr>
      <p:guideLst>
        <p:guide orient="horz" pos="2160"/>
        <p:guide pos="3840"/>
      </p:guideLst>
    </p:cSldViewPr>
  </p:slideViewPr>
  <p:notesTextViewPr>
    <p:cViewPr>
      <p:scale>
        <a:sx n="1" d="1"/>
        <a:sy n="1" d="1"/>
      </p:scale>
      <p:origin x="0" y="0"/>
    </p:cViewPr>
  </p:notesTextViewPr>
  <p:notesViewPr>
    <p:cSldViewPr snapToGrid="0">
      <p:cViewPr varScale="1">
        <p:scale>
          <a:sx n="49" d="100"/>
          <a:sy n="49" d="100"/>
        </p:scale>
        <p:origin x="2672"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C1E2E0-388F-4DBA-9DA8-85681B3ACD52}" type="datetimeFigureOut">
              <a:rPr lang="en-001" smtClean="0"/>
              <a:t>04/03/2026</a:t>
            </a:fld>
            <a:endParaRPr lang="en-001"/>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6D237-E89A-4204-9D81-552D7A5EEAD4}" type="slidenum">
              <a:rPr lang="en-001" smtClean="0"/>
              <a:t>‹#›</a:t>
            </a:fld>
            <a:endParaRPr lang="en-001"/>
          </a:p>
        </p:txBody>
      </p:sp>
    </p:spTree>
    <p:extLst>
      <p:ext uri="{BB962C8B-B14F-4D97-AF65-F5344CB8AC3E}">
        <p14:creationId xmlns:p14="http://schemas.microsoft.com/office/powerpoint/2010/main" val="349122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a:t>
            </a:fld>
            <a:endParaRPr lang="en-001"/>
          </a:p>
        </p:txBody>
      </p:sp>
    </p:spTree>
    <p:extLst>
      <p:ext uri="{BB962C8B-B14F-4D97-AF65-F5344CB8AC3E}">
        <p14:creationId xmlns:p14="http://schemas.microsoft.com/office/powerpoint/2010/main" val="298503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6</a:t>
            </a:fld>
            <a:endParaRPr lang="en-001"/>
          </a:p>
        </p:txBody>
      </p:sp>
    </p:spTree>
    <p:extLst>
      <p:ext uri="{BB962C8B-B14F-4D97-AF65-F5344CB8AC3E}">
        <p14:creationId xmlns:p14="http://schemas.microsoft.com/office/powerpoint/2010/main" val="4032155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7</a:t>
            </a:fld>
            <a:endParaRPr lang="en-001"/>
          </a:p>
        </p:txBody>
      </p:sp>
    </p:spTree>
    <p:extLst>
      <p:ext uri="{BB962C8B-B14F-4D97-AF65-F5344CB8AC3E}">
        <p14:creationId xmlns:p14="http://schemas.microsoft.com/office/powerpoint/2010/main" val="1086298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8</a:t>
            </a:fld>
            <a:endParaRPr lang="en-001"/>
          </a:p>
        </p:txBody>
      </p:sp>
    </p:spTree>
    <p:extLst>
      <p:ext uri="{BB962C8B-B14F-4D97-AF65-F5344CB8AC3E}">
        <p14:creationId xmlns:p14="http://schemas.microsoft.com/office/powerpoint/2010/main" val="1192276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9</a:t>
            </a:fld>
            <a:endParaRPr lang="en-001"/>
          </a:p>
        </p:txBody>
      </p:sp>
    </p:spTree>
    <p:extLst>
      <p:ext uri="{BB962C8B-B14F-4D97-AF65-F5344CB8AC3E}">
        <p14:creationId xmlns:p14="http://schemas.microsoft.com/office/powerpoint/2010/main" val="2560840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10</a:t>
            </a:fld>
            <a:endParaRPr lang="en-001"/>
          </a:p>
        </p:txBody>
      </p:sp>
    </p:spTree>
    <p:extLst>
      <p:ext uri="{BB962C8B-B14F-4D97-AF65-F5344CB8AC3E}">
        <p14:creationId xmlns:p14="http://schemas.microsoft.com/office/powerpoint/2010/main" val="2871107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11</a:t>
            </a:fld>
            <a:endParaRPr lang="en-001"/>
          </a:p>
        </p:txBody>
      </p:sp>
    </p:spTree>
    <p:extLst>
      <p:ext uri="{BB962C8B-B14F-4D97-AF65-F5344CB8AC3E}">
        <p14:creationId xmlns:p14="http://schemas.microsoft.com/office/powerpoint/2010/main" val="3764049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14</a:t>
            </a:fld>
            <a:endParaRPr lang="en-001"/>
          </a:p>
        </p:txBody>
      </p:sp>
    </p:spTree>
    <p:extLst>
      <p:ext uri="{BB962C8B-B14F-4D97-AF65-F5344CB8AC3E}">
        <p14:creationId xmlns:p14="http://schemas.microsoft.com/office/powerpoint/2010/main" val="1664987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16</a:t>
            </a:fld>
            <a:endParaRPr lang="en-001"/>
          </a:p>
        </p:txBody>
      </p:sp>
    </p:spTree>
    <p:extLst>
      <p:ext uri="{BB962C8B-B14F-4D97-AF65-F5344CB8AC3E}">
        <p14:creationId xmlns:p14="http://schemas.microsoft.com/office/powerpoint/2010/main" val="605537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19</a:t>
            </a:fld>
            <a:endParaRPr lang="en-001"/>
          </a:p>
        </p:txBody>
      </p:sp>
    </p:spTree>
    <p:extLst>
      <p:ext uri="{BB962C8B-B14F-4D97-AF65-F5344CB8AC3E}">
        <p14:creationId xmlns:p14="http://schemas.microsoft.com/office/powerpoint/2010/main" val="3715969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20</a:t>
            </a:fld>
            <a:endParaRPr lang="en-001"/>
          </a:p>
        </p:txBody>
      </p:sp>
    </p:spTree>
    <p:extLst>
      <p:ext uri="{BB962C8B-B14F-4D97-AF65-F5344CB8AC3E}">
        <p14:creationId xmlns:p14="http://schemas.microsoft.com/office/powerpoint/2010/main" val="1770896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26</a:t>
            </a:fld>
            <a:endParaRPr lang="en-001"/>
          </a:p>
        </p:txBody>
      </p:sp>
    </p:spTree>
    <p:extLst>
      <p:ext uri="{BB962C8B-B14F-4D97-AF65-F5344CB8AC3E}">
        <p14:creationId xmlns:p14="http://schemas.microsoft.com/office/powerpoint/2010/main" val="3317403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27</a:t>
            </a:fld>
            <a:endParaRPr lang="en-001"/>
          </a:p>
        </p:txBody>
      </p:sp>
    </p:spTree>
    <p:extLst>
      <p:ext uri="{BB962C8B-B14F-4D97-AF65-F5344CB8AC3E}">
        <p14:creationId xmlns:p14="http://schemas.microsoft.com/office/powerpoint/2010/main" val="429286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29</a:t>
            </a:fld>
            <a:endParaRPr lang="en-001"/>
          </a:p>
        </p:txBody>
      </p:sp>
    </p:spTree>
    <p:extLst>
      <p:ext uri="{BB962C8B-B14F-4D97-AF65-F5344CB8AC3E}">
        <p14:creationId xmlns:p14="http://schemas.microsoft.com/office/powerpoint/2010/main" val="669197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30</a:t>
            </a:fld>
            <a:endParaRPr lang="en-001"/>
          </a:p>
        </p:txBody>
      </p:sp>
    </p:spTree>
    <p:extLst>
      <p:ext uri="{BB962C8B-B14F-4D97-AF65-F5344CB8AC3E}">
        <p14:creationId xmlns:p14="http://schemas.microsoft.com/office/powerpoint/2010/main" val="1491885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A6D237-E89A-4204-9D81-552D7A5EEAD4}" type="slidenum">
              <a:rPr lang="en-001" smtClean="0"/>
              <a:t>31</a:t>
            </a:fld>
            <a:endParaRPr lang="en-001"/>
          </a:p>
        </p:txBody>
      </p:sp>
    </p:spTree>
    <p:extLst>
      <p:ext uri="{BB962C8B-B14F-4D97-AF65-F5344CB8AC3E}">
        <p14:creationId xmlns:p14="http://schemas.microsoft.com/office/powerpoint/2010/main" val="1491435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49188418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14761346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2"/>
            <a:ext cx="10515600" cy="2852737"/>
          </a:xfrm>
        </p:spPr>
        <p:txBody>
          <a:bodyPr anchor="b"/>
          <a:lstStyle>
            <a:lvl1pPr>
              <a:defRPr sz="6000"/>
            </a:lvl1pPr>
          </a:lstStyle>
          <a:p>
            <a:r>
              <a:rPr lang="en-US" altLang="zh-CN"/>
              <a:t>Click to edit Master title style</a:t>
            </a:r>
            <a:endParaRPr lang="zh-CN" altLang="en-US"/>
          </a:p>
        </p:txBody>
      </p:sp>
      <p:sp>
        <p:nvSpPr>
          <p:cNvPr id="3" name="文本占位符 2"/>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日期占位符 3"/>
          <p:cNvSpPr>
            <a:spLocks noGrp="1"/>
          </p:cNvSpPr>
          <p:nvPr>
            <p:ph type="dt" sz="half" idx="10"/>
          </p:nvPr>
        </p:nvSpPr>
        <p:spPr/>
        <p:txBody>
          <a:body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12676685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日期占位符 4"/>
          <p:cNvSpPr>
            <a:spLocks noGrp="1"/>
          </p:cNvSpPr>
          <p:nvPr>
            <p:ph type="dt" sz="half" idx="10"/>
          </p:nvPr>
        </p:nvSpPr>
        <p:spPr/>
        <p:txBody>
          <a:bodyPr/>
          <a:lstStyle/>
          <a:p>
            <a:pPr>
              <a:defRPr/>
            </a:pPr>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0329440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en-US" altLang="zh-CN"/>
              <a:t>Click to edit Master title style</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839789"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6172202"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日期占位符 6"/>
          <p:cNvSpPr>
            <a:spLocks noGrp="1"/>
          </p:cNvSpPr>
          <p:nvPr>
            <p:ph type="dt" sz="half" idx="10"/>
          </p:nvPr>
        </p:nvSpPr>
        <p:spPr/>
        <p:txBody>
          <a:bodyPr/>
          <a:lstStyle/>
          <a:p>
            <a:pPr>
              <a:defRPr/>
            </a:pPr>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33298295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日期占位符 2"/>
          <p:cNvSpPr>
            <a:spLocks noGrp="1"/>
          </p:cNvSpPr>
          <p:nvPr>
            <p:ph type="dt" sz="half" idx="10"/>
          </p:nvPr>
        </p:nvSpPr>
        <p:spPr/>
        <p:txBody>
          <a:bodyPr/>
          <a:lstStyle/>
          <a:p>
            <a:pPr>
              <a:defRPr/>
            </a:pPr>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15431266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id="{35914360-5F20-4391-B7B2-3639C308C2E7}"/>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10229904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背景与需求">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19315" y="6356354"/>
            <a:ext cx="1680000" cy="365125"/>
          </a:xfrm>
        </p:spPr>
        <p:txBody>
          <a:bodyPr/>
          <a:lstStyle/>
          <a:p>
            <a:pPr>
              <a:defRPr/>
            </a:pPr>
            <a:endParaRPr lang="zh-CN" altLang="en-US" dirty="0">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pic>
        <p:nvPicPr>
          <p:cNvPr id="14" name="Picture 13">
            <a:extLst>
              <a:ext uri="{FF2B5EF4-FFF2-40B4-BE49-F238E27FC236}">
                <a16:creationId xmlns:a16="http://schemas.microsoft.com/office/drawing/2014/main" id="{180D0610-B1FC-4EBC-A3D5-9BEAE8DF7EC6}"/>
              </a:ext>
            </a:extLst>
          </p:cNvPr>
          <p:cNvPicPr>
            <a:picLocks noChangeAspect="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l="1395" t="10007" r="80341" b="8495"/>
          <a:stretch/>
        </p:blipFill>
        <p:spPr>
          <a:xfrm>
            <a:off x="11526253" y="33927"/>
            <a:ext cx="648765" cy="594635"/>
          </a:xfrm>
          <a:prstGeom prst="rect">
            <a:avLst/>
          </a:prstGeom>
        </p:spPr>
      </p:pic>
      <p:sp>
        <p:nvSpPr>
          <p:cNvPr id="15" name="文本框 4">
            <a:extLst>
              <a:ext uri="{FF2B5EF4-FFF2-40B4-BE49-F238E27FC236}">
                <a16:creationId xmlns:a16="http://schemas.microsoft.com/office/drawing/2014/main" id="{6FB56021-3A31-45D4-A825-223060142AFC}"/>
              </a:ext>
            </a:extLst>
          </p:cNvPr>
          <p:cNvSpPr txBox="1"/>
          <p:nvPr userDrawn="1"/>
        </p:nvSpPr>
        <p:spPr>
          <a:xfrm>
            <a:off x="9427945" y="136521"/>
            <a:ext cx="21993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altLang="zh-CN"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a:t>
            </a:r>
            <a:r>
              <a:rPr kumimoji="0" lang="zh-CN" altLang="en-US"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机器人学导论</a:t>
            </a:r>
            <a:r>
              <a:rPr kumimoji="0" lang="en-US" altLang="zh-CN"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rPr>
              <a:t>》</a:t>
            </a:r>
            <a:endParaRPr kumimoji="0" lang="zh-CN" altLang="en-US" sz="2000" b="1" i="0" u="none" strike="noStrike" kern="1200" cap="none" spc="0" normalizeH="0" baseline="0" noProof="0" dirty="0">
              <a:ln>
                <a:noFill/>
              </a:ln>
              <a:solidFill>
                <a:schemeClr val="accent2">
                  <a:lumMod val="50000"/>
                </a:schemeClr>
              </a:solidFill>
              <a:effectLst/>
              <a:uLnTx/>
              <a:uFillTx/>
              <a:latin typeface="华文行楷" panose="02010800040101010101" pitchFamily="2" charset="-122"/>
              <a:ea typeface="华文行楷" panose="02010800040101010101" pitchFamily="2" charset="-122"/>
              <a:cs typeface="+mn-cs"/>
            </a:endParaRPr>
          </a:p>
        </p:txBody>
      </p:sp>
      <p:sp>
        <p:nvSpPr>
          <p:cNvPr id="9" name="Rectangle 8">
            <a:extLst>
              <a:ext uri="{FF2B5EF4-FFF2-40B4-BE49-F238E27FC236}">
                <a16:creationId xmlns:a16="http://schemas.microsoft.com/office/drawing/2014/main" id="{2828DD17-23E2-4EC9-9EE5-746AED6A9F0D}"/>
              </a:ext>
            </a:extLst>
          </p:cNvPr>
          <p:cNvSpPr>
            <a:spLocks noChangeArrowheads="1"/>
          </p:cNvSpPr>
          <p:nvPr userDrawn="1"/>
        </p:nvSpPr>
        <p:spPr bwMode="auto">
          <a:xfrm flipV="1">
            <a:off x="0" y="658795"/>
            <a:ext cx="12192000" cy="71438"/>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base" hangingPunct="1">
              <a:spcBef>
                <a:spcPct val="0"/>
              </a:spcBef>
              <a:spcAft>
                <a:spcPct val="0"/>
              </a:spcAft>
              <a:defRPr/>
            </a:pPr>
            <a:endParaRPr kumimoji="1" lang="zh-CN" altLang="zh-CN" sz="2400">
              <a:solidFill>
                <a:srgbClr val="333399"/>
              </a:solidFill>
              <a:latin typeface="Times New Roman" pitchFamily="18" charset="0"/>
            </a:endParaRPr>
          </a:p>
        </p:txBody>
      </p:sp>
      <p:sp>
        <p:nvSpPr>
          <p:cNvPr id="8" name="灯片编号占位符 4">
            <a:extLst>
              <a:ext uri="{FF2B5EF4-FFF2-40B4-BE49-F238E27FC236}">
                <a16:creationId xmlns:a16="http://schemas.microsoft.com/office/drawing/2014/main" id="{195026BA-439D-41DF-8809-DB56D55604AD}"/>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136722717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背景与需求">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319315" y="6356354"/>
            <a:ext cx="1680000" cy="365125"/>
          </a:xfrm>
        </p:spPr>
        <p:txBody>
          <a:bodyPr/>
          <a:lstStyle/>
          <a:p>
            <a:pPr>
              <a:defRPr/>
            </a:pPr>
            <a:endParaRPr lang="zh-CN" altLang="en-US" dirty="0">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cxnSp>
        <p:nvCxnSpPr>
          <p:cNvPr id="8" name="直接连接符 7"/>
          <p:cNvCxnSpPr>
            <a:cxnSpLocks/>
          </p:cNvCxnSpPr>
          <p:nvPr/>
        </p:nvCxnSpPr>
        <p:spPr>
          <a:xfrm>
            <a:off x="1248000" y="683399"/>
            <a:ext cx="10560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4800000" y="333829"/>
            <a:ext cx="1752000" cy="3495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solidFill>
                <a:effectLst/>
                <a:uLnTx/>
                <a:uFillTx/>
                <a:latin typeface="方正小标宋简体" panose="03000509000000000000" pitchFamily="65" charset="-122"/>
                <a:ea typeface="方正小标宋简体" panose="03000509000000000000" pitchFamily="65" charset="-122"/>
                <a:cs typeface="+mn-cs"/>
              </a:rPr>
              <a:t>意义与必要性</a:t>
            </a:r>
          </a:p>
        </p:txBody>
      </p:sp>
      <p:sp>
        <p:nvSpPr>
          <p:cNvPr id="10" name="矩形 9"/>
          <p:cNvSpPr/>
          <p:nvPr/>
        </p:nvSpPr>
        <p:spPr>
          <a:xfrm>
            <a:off x="6552000" y="333829"/>
            <a:ext cx="1752000" cy="34957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chemeClr val="bg1"/>
                </a:solidFill>
                <a:effectLst/>
                <a:uLnTx/>
                <a:uFillTx/>
                <a:latin typeface="方正小标宋简体" panose="03000509000000000000" pitchFamily="65" charset="-122"/>
                <a:ea typeface="方正小标宋简体" panose="03000509000000000000" pitchFamily="65" charset="-122"/>
                <a:cs typeface="+mn-cs"/>
              </a:rPr>
              <a:t>单位与条件</a:t>
            </a:r>
          </a:p>
        </p:txBody>
      </p:sp>
      <p:sp>
        <p:nvSpPr>
          <p:cNvPr id="11" name="矩形 10"/>
          <p:cNvSpPr/>
          <p:nvPr/>
        </p:nvSpPr>
        <p:spPr>
          <a:xfrm>
            <a:off x="8304000" y="333829"/>
            <a:ext cx="1752000" cy="349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方正小标宋简体" panose="03000509000000000000" pitchFamily="65" charset="-122"/>
                <a:ea typeface="方正小标宋简体" panose="03000509000000000000" pitchFamily="65" charset="-122"/>
                <a:cs typeface="+mn-cs"/>
              </a:rPr>
              <a:t>目标与任务</a:t>
            </a:r>
          </a:p>
        </p:txBody>
      </p:sp>
      <p:sp>
        <p:nvSpPr>
          <p:cNvPr id="12" name="矩形 11"/>
          <p:cNvSpPr/>
          <p:nvPr/>
        </p:nvSpPr>
        <p:spPr>
          <a:xfrm>
            <a:off x="10056000" y="333829"/>
            <a:ext cx="1752000" cy="349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方正小标宋简体" panose="03000509000000000000" pitchFamily="65" charset="-122"/>
                <a:ea typeface="方正小标宋简体" panose="03000509000000000000" pitchFamily="65" charset="-122"/>
                <a:cs typeface="+mn-cs"/>
              </a:rPr>
              <a:t>管理与运行</a:t>
            </a:r>
          </a:p>
        </p:txBody>
      </p:sp>
      <p:pic>
        <p:nvPicPr>
          <p:cNvPr id="14" name="Picture 13">
            <a:extLst>
              <a:ext uri="{FF2B5EF4-FFF2-40B4-BE49-F238E27FC236}">
                <a16:creationId xmlns:a16="http://schemas.microsoft.com/office/drawing/2014/main" id="{180D0610-B1FC-4EBC-A3D5-9BEAE8DF7EC6}"/>
              </a:ext>
            </a:extLst>
          </p:cNvPr>
          <p:cNvPicPr>
            <a:picLocks noChangeAspect="1"/>
          </p:cNvPicPr>
          <p:nvPr userDrawn="1"/>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l="1395" t="10007" r="80341" b="8495"/>
          <a:stretch/>
        </p:blipFill>
        <p:spPr>
          <a:xfrm>
            <a:off x="319318" y="71399"/>
            <a:ext cx="854273" cy="612000"/>
          </a:xfrm>
          <a:prstGeom prst="rect">
            <a:avLst/>
          </a:prstGeom>
        </p:spPr>
      </p:pic>
      <p:sp>
        <p:nvSpPr>
          <p:cNvPr id="15" name="文本框 4">
            <a:extLst>
              <a:ext uri="{FF2B5EF4-FFF2-40B4-BE49-F238E27FC236}">
                <a16:creationId xmlns:a16="http://schemas.microsoft.com/office/drawing/2014/main" id="{6FB56021-3A31-45D4-A825-223060142AFC}"/>
              </a:ext>
            </a:extLst>
          </p:cNvPr>
          <p:cNvSpPr txBox="1"/>
          <p:nvPr userDrawn="1"/>
        </p:nvSpPr>
        <p:spPr>
          <a:xfrm>
            <a:off x="1120148" y="84802"/>
            <a:ext cx="3402680" cy="63607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zh-CN" altLang="en-US" sz="1600" b="1" i="0" u="none" strike="noStrike" kern="1200" cap="none" spc="0" normalizeH="0" baseline="0" noProof="0" dirty="0">
                <a:ln>
                  <a:noFill/>
                </a:ln>
                <a:solidFill>
                  <a:srgbClr val="AD2929"/>
                </a:solidFill>
                <a:effectLst/>
                <a:uLnTx/>
                <a:uFillTx/>
                <a:latin typeface="方正小标宋简体"/>
                <a:ea typeface="方正小标宋简体"/>
                <a:cs typeface="+mn-cs"/>
              </a:rPr>
              <a:t>可信行为智能算法与系统</a:t>
            </a:r>
            <a:endParaRPr kumimoji="0" lang="en-US" altLang="zh-CN" sz="1600" b="1" i="0" u="none" strike="noStrike" kern="1200" cap="none" spc="0" normalizeH="0" baseline="0" noProof="0" dirty="0">
              <a:ln>
                <a:noFill/>
              </a:ln>
              <a:solidFill>
                <a:srgbClr val="AD2929"/>
              </a:solidFill>
              <a:effectLst/>
              <a:uLnTx/>
              <a:uFillTx/>
              <a:latin typeface="方正小标宋简体"/>
              <a:ea typeface="方正小标宋简体"/>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方正小标宋简体"/>
                <a:ea typeface="方正小标宋简体"/>
                <a:cs typeface="+mn-cs"/>
              </a:rPr>
              <a:t>教育部工程研究中心</a:t>
            </a:r>
          </a:p>
        </p:txBody>
      </p:sp>
    </p:spTree>
    <p:extLst>
      <p:ext uri="{BB962C8B-B14F-4D97-AF65-F5344CB8AC3E}">
        <p14:creationId xmlns:p14="http://schemas.microsoft.com/office/powerpoint/2010/main" val="360922439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BD1FA8B2-3654-4F9A-8608-59C526649DA8}"/>
              </a:ext>
            </a:extLst>
          </p:cNvPr>
          <p:cNvSpPr>
            <a:spLocks noGrp="1"/>
          </p:cNvSpPr>
          <p:nvPr>
            <p:ph type="sldNum" sz="quarter" idx="12"/>
          </p:nvPr>
        </p:nvSpPr>
        <p:spPr>
          <a:xfrm>
            <a:off x="10430067" y="6356354"/>
            <a:ext cx="1680000" cy="365125"/>
          </a:xfrm>
        </p:spPr>
        <p:txBody>
          <a:body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Tree>
    <p:extLst>
      <p:ext uri="{BB962C8B-B14F-4D97-AF65-F5344CB8AC3E}">
        <p14:creationId xmlns:p14="http://schemas.microsoft.com/office/powerpoint/2010/main" val="426219055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80000" y="6356354"/>
            <a:ext cx="1680000" cy="365125"/>
          </a:xfrm>
          <a:prstGeom prst="rect">
            <a:avLst/>
          </a:prstGeom>
        </p:spPr>
        <p:txBody>
          <a:bodyPr vert="horz" lIns="91440" tIns="45720" rIns="91440" bIns="45720" rtlCol="0" anchor="ctr"/>
          <a:lstStyle>
            <a:lvl1pPr algn="ctr">
              <a:defRPr sz="1200" baseline="0">
                <a:solidFill>
                  <a:schemeClr val="tx1">
                    <a:tint val="75000"/>
                  </a:schemeClr>
                </a:solidFill>
                <a:latin typeface="Palatino Linotype" panose="02040502050505030304" pitchFamily="18" charset="0"/>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3"/>
          </p:nvPr>
        </p:nvSpPr>
        <p:spPr>
          <a:xfrm>
            <a:off x="2880000" y="6356354"/>
            <a:ext cx="6432000" cy="365125"/>
          </a:xfrm>
          <a:prstGeom prst="rect">
            <a:avLst/>
          </a:prstGeom>
        </p:spPr>
        <p:txBody>
          <a:bodyPr vert="horz" lIns="91440" tIns="45720" rIns="91440" bIns="45720" rtlCol="0" anchor="ctr"/>
          <a:lstStyle>
            <a:lvl1pPr algn="ctr">
              <a:defRPr sz="1200" baseline="0">
                <a:solidFill>
                  <a:schemeClr val="tx1">
                    <a:tint val="75000"/>
                  </a:schemeClr>
                </a:solidFill>
                <a:latin typeface="Palatino Linotype" panose="02040502050505030304" pitchFamily="18" charset="0"/>
              </a:defRPr>
            </a:lvl1pPr>
          </a:lstStyle>
          <a:p>
            <a:pPr>
              <a:defRPr/>
            </a:pPr>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10430067" y="6356354"/>
            <a:ext cx="1680000" cy="365125"/>
          </a:xfrm>
          <a:prstGeom prst="rect">
            <a:avLst/>
          </a:prstGeom>
        </p:spPr>
        <p:txBody>
          <a:bodyPr vert="horz" lIns="91440" tIns="45720" rIns="91440" bIns="45720" rtlCol="0" anchor="ctr"/>
          <a:lstStyle>
            <a:lvl1pPr algn="r">
              <a:defRPr sz="1200" baseline="0">
                <a:solidFill>
                  <a:schemeClr val="tx1">
                    <a:tint val="75000"/>
                  </a:schemeClr>
                </a:solidFill>
                <a:latin typeface="Palatino Linotype" panose="02040502050505030304" pitchFamily="18" charset="0"/>
              </a:defRPr>
            </a:lvl1pPr>
          </a:lstStyle>
          <a:p>
            <a:pPr>
              <a:defRPr/>
            </a:pPr>
            <a:fld id="{DAA44188-3096-49C0-8534-FE6F15E0F67F}" type="slidenum">
              <a:rPr lang="zh-CN" altLang="en-US" smtClean="0">
                <a:solidFill>
                  <a:prstClr val="black">
                    <a:tint val="75000"/>
                  </a:prstClr>
                </a:solidFill>
              </a:rPr>
              <a:pPr>
                <a:defRPr/>
              </a:pPr>
              <a:t>‹#›</a:t>
            </a:fld>
            <a:endParaRPr lang="zh-CN" altLang="en-US">
              <a:solidFill>
                <a:prstClr val="black">
                  <a:tint val="75000"/>
                </a:prstClr>
              </a:solidFill>
            </a:endParaRPr>
          </a:p>
        </p:txBody>
      </p:sp>
      <p:sp>
        <p:nvSpPr>
          <p:cNvPr id="7" name="文本框 6">
            <a:extLst>
              <a:ext uri="{FF2B5EF4-FFF2-40B4-BE49-F238E27FC236}">
                <a16:creationId xmlns:a16="http://schemas.microsoft.com/office/drawing/2014/main" id="{7026D42F-ECEA-B514-23E1-BD116F4CB142}"/>
              </a:ext>
            </a:extLst>
          </p:cNvPr>
          <p:cNvSpPr txBox="1"/>
          <p:nvPr userDrawn="1"/>
        </p:nvSpPr>
        <p:spPr>
          <a:xfrm>
            <a:off x="2545465" y="1027910"/>
            <a:ext cx="7101069" cy="1482650"/>
          </a:xfrm>
          <a:prstGeom prst="rect">
            <a:avLst/>
          </a:prstGeom>
          <a:noFill/>
        </p:spPr>
        <p:txBody>
          <a:bodyPr wrap="square" rtlCol="0">
            <a:spAutoFit/>
          </a:bodyPr>
          <a:lstStyle/>
          <a:p>
            <a:pPr algn="ctr">
              <a:lnSpc>
                <a:spcPct val="150000"/>
              </a:lnSpc>
            </a:pPr>
            <a:r>
              <a:rPr lang="zh-CN" altLang="en-US" sz="3200" dirty="0">
                <a:solidFill>
                  <a:schemeClr val="bg1">
                    <a:lumMod val="65000"/>
                    <a:alpha val="20000"/>
                  </a:schemeClr>
                </a:solidFill>
                <a:latin typeface="微软雅黑" panose="020B0503020204020204" pitchFamily="34" charset="-122"/>
                <a:ea typeface="微软雅黑" panose="020B0503020204020204" pitchFamily="34" charset="-122"/>
              </a:rPr>
              <a:t>南开大学人工智能学院课件</a:t>
            </a:r>
            <a:endParaRPr lang="en-US" altLang="zh-CN" sz="3200" dirty="0">
              <a:solidFill>
                <a:schemeClr val="bg1">
                  <a:lumMod val="65000"/>
                  <a:alpha val="2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3200" dirty="0">
                <a:solidFill>
                  <a:schemeClr val="bg1">
                    <a:lumMod val="65000"/>
                    <a:alpha val="20000"/>
                  </a:schemeClr>
                </a:solidFill>
                <a:latin typeface="微软雅黑" panose="020B0503020204020204" pitchFamily="34" charset="-122"/>
                <a:ea typeface="微软雅黑" panose="020B0503020204020204" pitchFamily="34" charset="-122"/>
              </a:rPr>
              <a:t>仅供学生学习使用，禁止在网上发布</a:t>
            </a:r>
          </a:p>
        </p:txBody>
      </p:sp>
      <p:sp>
        <p:nvSpPr>
          <p:cNvPr id="8" name="文本框 7">
            <a:extLst>
              <a:ext uri="{FF2B5EF4-FFF2-40B4-BE49-F238E27FC236}">
                <a16:creationId xmlns:a16="http://schemas.microsoft.com/office/drawing/2014/main" id="{8DBA9816-B0D2-A4D5-FB4A-0569B3DEB71F}"/>
              </a:ext>
            </a:extLst>
          </p:cNvPr>
          <p:cNvSpPr txBox="1"/>
          <p:nvPr userDrawn="1"/>
        </p:nvSpPr>
        <p:spPr>
          <a:xfrm rot="-1800000">
            <a:off x="4477115" y="3174225"/>
            <a:ext cx="4273953" cy="861774"/>
          </a:xfrm>
          <a:prstGeom prst="rect">
            <a:avLst/>
          </a:prstGeom>
          <a:noFill/>
        </p:spPr>
        <p:txBody>
          <a:bodyPr wrap="square" rtlCol="0">
            <a:spAutoFit/>
          </a:bodyPr>
          <a:lstStyle/>
          <a:p>
            <a:r>
              <a:rPr lang="zh-CN" altLang="en-US" sz="5000" dirty="0">
                <a:solidFill>
                  <a:schemeClr val="tx1">
                    <a:alpha val="40000"/>
                  </a:schemeClr>
                </a:solidFill>
                <a:latin typeface="宋体" panose="02010600030101010101" pitchFamily="2" charset="-122"/>
                <a:ea typeface="宋体" panose="02010600030101010101" pitchFamily="2" charset="-122"/>
              </a:rPr>
              <a:t>机器人学导论</a:t>
            </a:r>
          </a:p>
        </p:txBody>
      </p:sp>
    </p:spTree>
    <p:extLst>
      <p:ext uri="{BB962C8B-B14F-4D97-AF65-F5344CB8AC3E}">
        <p14:creationId xmlns:p14="http://schemas.microsoft.com/office/powerpoint/2010/main" val="1809550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8" r:id="rId8"/>
    <p:sldLayoutId id="2147483682" r:id="rId9"/>
    <p:sldLayoutId id="2147483672" r:id="rId10"/>
  </p:sldLayoutIdLst>
  <mc:AlternateContent xmlns:mc="http://schemas.openxmlformats.org/markup-compatibility/2006" xmlns:p14="http://schemas.microsoft.com/office/powerpoint/2010/main">
    <mc:Choice Requires="p14">
      <p:transition p14:dur="0" advTm="0"/>
    </mc:Choice>
    <mc:Fallback xmlns="">
      <p:transition advTm="0"/>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4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3" Type="http://schemas.openxmlformats.org/officeDocument/2006/relationships/image" Target="../media/image6.emf"/><Relationship Id="rId7" Type="http://schemas.openxmlformats.org/officeDocument/2006/relationships/image" Target="../media/image10.pn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210.png"/><Relationship Id="rId13" Type="http://schemas.openxmlformats.org/officeDocument/2006/relationships/image" Target="../media/image18.png"/><Relationship Id="rId3" Type="http://schemas.openxmlformats.org/officeDocument/2006/relationships/image" Target="../media/image710.png"/><Relationship Id="rId7" Type="http://schemas.openxmlformats.org/officeDocument/2006/relationships/image" Target="../media/image1110.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010.png"/><Relationship Id="rId11" Type="http://schemas.openxmlformats.org/officeDocument/2006/relationships/image" Target="../media/image151.png"/><Relationship Id="rId5" Type="http://schemas.openxmlformats.org/officeDocument/2006/relationships/image" Target="../media/image910.png"/><Relationship Id="rId15" Type="http://schemas.openxmlformats.org/officeDocument/2006/relationships/image" Target="../media/image30.png"/><Relationship Id="rId10" Type="http://schemas.openxmlformats.org/officeDocument/2006/relationships/image" Target="../media/image140.png"/><Relationship Id="rId4" Type="http://schemas.openxmlformats.org/officeDocument/2006/relationships/image" Target="../media/image810.png"/><Relationship Id="rId9" Type="http://schemas.openxmlformats.org/officeDocument/2006/relationships/image" Target="../media/image131.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1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20.png"/><Relationship Id="rId7" Type="http://schemas.openxmlformats.org/officeDocument/2006/relationships/image" Target="../media/image21.w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oleObject" Target="../embeddings/oleObject1.bin"/><Relationship Id="rId5" Type="http://schemas.openxmlformats.org/officeDocument/2006/relationships/image" Target="../media/image200.png"/><Relationship Id="rId9" Type="http://schemas.openxmlformats.org/officeDocument/2006/relationships/image" Target="../media/image22.wmf"/></Relationships>
</file>

<file path=ppt/slides/_rels/slide11.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23.png"/><Relationship Id="rId7" Type="http://schemas.openxmlformats.org/officeDocument/2006/relationships/image" Target="../media/image49.png"/><Relationship Id="rId12" Type="http://schemas.openxmlformats.org/officeDocument/2006/relationships/oleObject" Target="../embeddings/oleObject3.bin"/><Relationship Id="rId17" Type="http://schemas.openxmlformats.org/officeDocument/2006/relationships/image" Target="../media/image55.png"/><Relationship Id="rId2" Type="http://schemas.openxmlformats.org/officeDocument/2006/relationships/notesSlide" Target="../notesSlides/notesSlide7.xml"/><Relationship Id="rId16" Type="http://schemas.openxmlformats.org/officeDocument/2006/relationships/image" Target="../media/image54.png"/><Relationship Id="rId1" Type="http://schemas.openxmlformats.org/officeDocument/2006/relationships/slideLayout" Target="../slideLayouts/slideLayout8.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24.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62.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23.png"/><Relationship Id="rId1" Type="http://schemas.openxmlformats.org/officeDocument/2006/relationships/slideLayout" Target="../slideLayouts/slideLayout8.xml"/><Relationship Id="rId6" Type="http://schemas.openxmlformats.org/officeDocument/2006/relationships/image" Target="../media/image59.png"/><Relationship Id="rId11" Type="http://schemas.openxmlformats.org/officeDocument/2006/relationships/oleObject" Target="../embeddings/oleObject3.bin"/><Relationship Id="rId5" Type="http://schemas.openxmlformats.org/officeDocument/2006/relationships/image" Target="../media/image58.png"/><Relationship Id="rId10" Type="http://schemas.openxmlformats.org/officeDocument/2006/relationships/image" Target="../media/image25.png"/><Relationship Id="rId4" Type="http://schemas.openxmlformats.org/officeDocument/2006/relationships/image" Target="../media/image57.png"/><Relationship Id="rId9"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8" Type="http://schemas.openxmlformats.org/officeDocument/2006/relationships/image" Target="../media/image68.png"/><Relationship Id="rId7" Type="http://schemas.openxmlformats.org/officeDocument/2006/relationships/image" Target="../media/image66.png"/><Relationship Id="rId12" Type="http://schemas.openxmlformats.org/officeDocument/2006/relationships/image" Target="../media/image72.png"/><Relationship Id="rId2" Type="http://schemas.openxmlformats.org/officeDocument/2006/relationships/image" Target="../media/image29.png"/><Relationship Id="rId1" Type="http://schemas.openxmlformats.org/officeDocument/2006/relationships/slideLayout" Target="../slideLayouts/slideLayout8.xml"/><Relationship Id="rId6" Type="http://schemas.openxmlformats.org/officeDocument/2006/relationships/image" Target="../media/image67.png"/><Relationship Id="rId11" Type="http://schemas.openxmlformats.org/officeDocument/2006/relationships/image" Target="../media/image71.png"/><Relationship Id="rId5" Type="http://schemas.openxmlformats.org/officeDocument/2006/relationships/image" Target="../media/image64.png"/><Relationship Id="rId10" Type="http://schemas.openxmlformats.org/officeDocument/2006/relationships/image" Target="../media/image70.png"/><Relationship Id="rId4" Type="http://schemas.openxmlformats.org/officeDocument/2006/relationships/image" Target="../media/image65.png"/><Relationship Id="rId9" Type="http://schemas.openxmlformats.org/officeDocument/2006/relationships/image" Target="../media/image69.png"/></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75.png"/><Relationship Id="rId3" Type="http://schemas.openxmlformats.org/officeDocument/2006/relationships/image" Target="../media/image73.png"/><Relationship Id="rId7" Type="http://schemas.openxmlformats.org/officeDocument/2006/relationships/image" Target="../media/image43.png"/><Relationship Id="rId12" Type="http://schemas.openxmlformats.org/officeDocument/2006/relationships/image" Target="../media/image7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63.png"/><Relationship Id="rId5" Type="http://schemas.openxmlformats.org/officeDocument/2006/relationships/image" Target="../media/image41.png"/><Relationship Id="rId10" Type="http://schemas.openxmlformats.org/officeDocument/2006/relationships/image" Target="../media/image61.png"/><Relationship Id="rId4" Type="http://schemas.openxmlformats.org/officeDocument/2006/relationships/image" Target="../media/image39.png"/><Relationship Id="rId9" Type="http://schemas.openxmlformats.org/officeDocument/2006/relationships/image" Target="../media/image45.png"/></Relationships>
</file>

<file path=ppt/slides/_rels/slide15.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7" Type="http://schemas.openxmlformats.org/officeDocument/2006/relationships/image" Target="../media/image80.png"/><Relationship Id="rId2" Type="http://schemas.openxmlformats.org/officeDocument/2006/relationships/image" Target="../media/image750.png"/><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41" Type="http://schemas.openxmlformats.org/officeDocument/2006/relationships/image" Target="../media/image114.png"/><Relationship Id="rId1" Type="http://schemas.openxmlformats.org/officeDocument/2006/relationships/slideLayout" Target="../slideLayouts/slideLayout8.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10" Type="http://schemas.openxmlformats.org/officeDocument/2006/relationships/image" Target="../media/image83.png"/><Relationship Id="rId19" Type="http://schemas.openxmlformats.org/officeDocument/2006/relationships/image" Target="../media/image92.png"/><Relationship Id="rId31" Type="http://schemas.openxmlformats.org/officeDocument/2006/relationships/image" Target="../media/image104.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8" Type="http://schemas.openxmlformats.org/officeDocument/2006/relationships/image" Target="../media/image81.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s>
</file>

<file path=ppt/slides/_rels/slide16.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9.xml"/><Relationship Id="rId16" Type="http://schemas.openxmlformats.org/officeDocument/2006/relationships/image" Target="../media/image126.png"/><Relationship Id="rId1" Type="http://schemas.openxmlformats.org/officeDocument/2006/relationships/slideLayout" Target="../slideLayouts/slideLayout8.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30.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20.png"/><Relationship Id="rId9" Type="http://schemas.openxmlformats.org/officeDocument/2006/relationships/image" Target="../media/image119.png"/><Relationship Id="rId14" Type="http://schemas.openxmlformats.org/officeDocument/2006/relationships/image" Target="../media/image124.png"/></Relationships>
</file>

<file path=ppt/slides/_rels/slide17.xml.rels><?xml version="1.0" encoding="UTF-8" standalone="yes"?>
<Relationships xmlns="http://schemas.openxmlformats.org/package/2006/relationships"><Relationship Id="rId2" Type="http://schemas.openxmlformats.org/officeDocument/2006/relationships/image" Target="../media/image125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76.wmf"/></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7.bin"/><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440.png"/><Relationship Id="rId1" Type="http://schemas.openxmlformats.org/officeDocument/2006/relationships/slideLayout" Target="../slideLayouts/slideLayout8.xml"/><Relationship Id="rId5" Type="http://schemas.openxmlformats.org/officeDocument/2006/relationships/image" Target="../media/image78.emf"/><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3" Type="http://schemas.openxmlformats.org/officeDocument/2006/relationships/image" Target="../media/image146.png"/><Relationship Id="rId1" Type="http://schemas.openxmlformats.org/officeDocument/2006/relationships/slideLayout" Target="../slideLayouts/slideLayout8.xml"/><Relationship Id="rId5" Type="http://schemas.openxmlformats.org/officeDocument/2006/relationships/image" Target="../media/image79.emf"/><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150.png"/><Relationship Id="rId1" Type="http://schemas.openxmlformats.org/officeDocument/2006/relationships/slideLayout" Target="../slideLayouts/slideLayout8.xml"/><Relationship Id="rId4" Type="http://schemas.openxmlformats.org/officeDocument/2006/relationships/image" Target="../media/image81.emf"/></Relationships>
</file>

<file path=ppt/slides/_rels/slide25.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1500.png"/><Relationship Id="rId1" Type="http://schemas.openxmlformats.org/officeDocument/2006/relationships/slideLayout" Target="../slideLayouts/slideLayout8.xml"/><Relationship Id="rId4" Type="http://schemas.openxmlformats.org/officeDocument/2006/relationships/image" Target="../media/image83.emf"/></Relationships>
</file>

<file path=ppt/slides/_rels/slide26.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image" Target="../media/image157.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560.png"/><Relationship Id="rId5" Type="http://schemas.openxmlformats.org/officeDocument/2006/relationships/image" Target="../media/image1550.png"/><Relationship Id="rId4" Type="http://schemas.openxmlformats.org/officeDocument/2006/relationships/image" Target="../media/image1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image" Target="../media/image490.png"/><Relationship Id="rId13" Type="http://schemas.openxmlformats.org/officeDocument/2006/relationships/image" Target="../media/image1270.png"/><Relationship Id="rId18" Type="http://schemas.openxmlformats.org/officeDocument/2006/relationships/image" Target="../media/image130.png"/><Relationship Id="rId26" Type="http://schemas.openxmlformats.org/officeDocument/2006/relationships/image" Target="../media/image670.png"/><Relationship Id="rId3" Type="http://schemas.openxmlformats.org/officeDocument/2006/relationships/image" Target="../media/image440.png"/><Relationship Id="rId21" Type="http://schemas.openxmlformats.org/officeDocument/2006/relationships/image" Target="../media/image132.png"/><Relationship Id="rId7" Type="http://schemas.openxmlformats.org/officeDocument/2006/relationships/image" Target="../media/image480.png"/><Relationship Id="rId12" Type="http://schemas.openxmlformats.org/officeDocument/2006/relationships/image" Target="../media/image530.png"/><Relationship Id="rId17" Type="http://schemas.openxmlformats.org/officeDocument/2006/relationships/image" Target="../media/image129.png"/><Relationship Id="rId2" Type="http://schemas.openxmlformats.org/officeDocument/2006/relationships/image" Target="../media/image6.emf"/><Relationship Id="rId16" Type="http://schemas.openxmlformats.org/officeDocument/2006/relationships/image" Target="../media/image1280.png"/><Relationship Id="rId20" Type="http://schemas.openxmlformats.org/officeDocument/2006/relationships/image" Target="../media/image610.png"/><Relationship Id="rId1" Type="http://schemas.openxmlformats.org/officeDocument/2006/relationships/slideLayout" Target="../slideLayouts/slideLayout8.xml"/><Relationship Id="rId6" Type="http://schemas.openxmlformats.org/officeDocument/2006/relationships/image" Target="../media/image470.png"/><Relationship Id="rId11" Type="http://schemas.openxmlformats.org/officeDocument/2006/relationships/image" Target="../media/image520.png"/><Relationship Id="rId24" Type="http://schemas.openxmlformats.org/officeDocument/2006/relationships/image" Target="../media/image135.png"/><Relationship Id="rId5" Type="http://schemas.openxmlformats.org/officeDocument/2006/relationships/image" Target="../media/image460.png"/><Relationship Id="rId15" Type="http://schemas.openxmlformats.org/officeDocument/2006/relationships/image" Target="../media/image560.png"/><Relationship Id="rId23" Type="http://schemas.openxmlformats.org/officeDocument/2006/relationships/image" Target="../media/image134.png"/><Relationship Id="rId10" Type="http://schemas.openxmlformats.org/officeDocument/2006/relationships/image" Target="../media/image510.png"/><Relationship Id="rId19" Type="http://schemas.openxmlformats.org/officeDocument/2006/relationships/image" Target="../media/image600.png"/><Relationship Id="rId4" Type="http://schemas.openxmlformats.org/officeDocument/2006/relationships/image" Target="../media/image450.png"/><Relationship Id="rId9" Type="http://schemas.openxmlformats.org/officeDocument/2006/relationships/image" Target="../media/image500.png"/><Relationship Id="rId14" Type="http://schemas.openxmlformats.org/officeDocument/2006/relationships/image" Target="../media/image550.png"/><Relationship Id="rId22" Type="http://schemas.openxmlformats.org/officeDocument/2006/relationships/image" Target="../media/image133.png"/></Relationships>
</file>

<file path=ppt/slides/_rels/slide29.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6.png"/><Relationship Id="rId7" Type="http://schemas.openxmlformats.org/officeDocument/2006/relationships/image" Target="../media/image134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330.png"/><Relationship Id="rId10" Type="http://schemas.openxmlformats.org/officeDocument/2006/relationships/image" Target="../media/image141.png"/><Relationship Id="rId4" Type="http://schemas.openxmlformats.org/officeDocument/2006/relationships/image" Target="../media/image137.png"/><Relationship Id="rId9" Type="http://schemas.openxmlformats.org/officeDocument/2006/relationships/image" Target="../media/image139.png"/></Relationships>
</file>

<file path=ppt/slides/_rels/slide3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41.png"/><Relationship Id="rId4" Type="http://schemas.openxmlformats.org/officeDocument/2006/relationships/image" Target="../media/image142.png"/></Relationships>
</file>

<file path=ppt/slides/_rels/slide3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45.jpg"/><Relationship Id="rId4" Type="http://schemas.openxmlformats.org/officeDocument/2006/relationships/image" Target="../media/image1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8">
            <a:extLst>
              <a:ext uri="{FF2B5EF4-FFF2-40B4-BE49-F238E27FC236}">
                <a16:creationId xmlns:a16="http://schemas.microsoft.com/office/drawing/2014/main" id="{548C5543-7B77-464A-AD53-82BB85259242}"/>
              </a:ext>
            </a:extLst>
          </p:cNvPr>
          <p:cNvSpPr/>
          <p:nvPr/>
        </p:nvSpPr>
        <p:spPr>
          <a:xfrm>
            <a:off x="0" y="1651562"/>
            <a:ext cx="12192000" cy="1897183"/>
          </a:xfrm>
          <a:prstGeom prst="rect">
            <a:avLst/>
          </a:prstGeom>
          <a:solidFill>
            <a:srgbClr val="9D13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6">
            <a:extLst>
              <a:ext uri="{FF2B5EF4-FFF2-40B4-BE49-F238E27FC236}">
                <a16:creationId xmlns:a16="http://schemas.microsoft.com/office/drawing/2014/main" id="{E0A80487-35BD-4212-BFAD-545906F74541}"/>
              </a:ext>
            </a:extLst>
          </p:cNvPr>
          <p:cNvSpPr txBox="1"/>
          <p:nvPr/>
        </p:nvSpPr>
        <p:spPr>
          <a:xfrm>
            <a:off x="0" y="1719942"/>
            <a:ext cx="12192000" cy="1828800"/>
          </a:xfrm>
          <a:prstGeom prst="rect">
            <a:avLst/>
          </a:prstGeom>
          <a:noFill/>
          <a:ln>
            <a:noFill/>
          </a:ln>
        </p:spPr>
        <p:txBody>
          <a:bodyPr wrap="square" rtlCol="0" anchor="ctr" anchorCtr="0">
            <a:noAutofit/>
          </a:bodyPr>
          <a:lstStyle/>
          <a:p>
            <a:pPr algn="ctr">
              <a:spcAft>
                <a:spcPts val="1200"/>
              </a:spcAft>
              <a:defRPr/>
            </a:pPr>
            <a:r>
              <a:rPr lang="zh-CN" altLang="en-US" sz="4400" b="1" spc="200" dirty="0">
                <a:solidFill>
                  <a:schemeClr val="bg1"/>
                </a:solidFill>
                <a:latin typeface="方正小标宋简体" panose="03000509000000000000" pitchFamily="65" charset="-122"/>
                <a:ea typeface="方正小标宋简体" panose="03000509000000000000" pitchFamily="65" charset="-122"/>
              </a:rPr>
              <a:t>第四章 机器人逆运动学</a:t>
            </a:r>
            <a:endParaRPr lang="en-US" altLang="zh-CN" sz="4400" b="1" spc="200" dirty="0">
              <a:solidFill>
                <a:schemeClr val="bg1"/>
              </a:solidFill>
              <a:latin typeface="方正小标宋简体" panose="03000509000000000000" pitchFamily="65" charset="-122"/>
              <a:ea typeface="方正小标宋简体" panose="03000509000000000000" pitchFamily="65" charset="-122"/>
            </a:endParaRPr>
          </a:p>
        </p:txBody>
      </p:sp>
      <p:sp>
        <p:nvSpPr>
          <p:cNvPr id="5" name="圆角矩形 8">
            <a:extLst>
              <a:ext uri="{FF2B5EF4-FFF2-40B4-BE49-F238E27FC236}">
                <a16:creationId xmlns:a16="http://schemas.microsoft.com/office/drawing/2014/main" id="{B5A7BF65-4F6B-4643-BDF5-253E80639382}"/>
              </a:ext>
            </a:extLst>
          </p:cNvPr>
          <p:cNvSpPr/>
          <p:nvPr/>
        </p:nvSpPr>
        <p:spPr>
          <a:xfrm>
            <a:off x="0" y="4896856"/>
            <a:ext cx="12192000" cy="1497931"/>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lnSpc>
                <a:spcPct val="150000"/>
              </a:lnSpc>
              <a:defRPr/>
            </a:pPr>
            <a:r>
              <a:rPr lang="zh-CN" altLang="en-US" sz="4000" b="1" spc="200" dirty="0">
                <a:solidFill>
                  <a:schemeClr val="accent4">
                    <a:lumMod val="50000"/>
                  </a:schemeClr>
                </a:solidFill>
                <a:latin typeface="华文行楷" panose="02010800040101010101" pitchFamily="2" charset="-122"/>
                <a:ea typeface="华文行楷" panose="02010800040101010101" pitchFamily="2" charset="-122"/>
              </a:rPr>
              <a:t>韩建达  教授</a:t>
            </a:r>
            <a:endParaRPr lang="en-US" altLang="zh-CN" sz="4000" b="1" spc="200" dirty="0">
              <a:solidFill>
                <a:schemeClr val="accent4">
                  <a:lumMod val="50000"/>
                </a:schemeClr>
              </a:solidFill>
              <a:latin typeface="华文行楷" panose="02010800040101010101" pitchFamily="2" charset="-122"/>
              <a:ea typeface="华文行楷" panose="02010800040101010101" pitchFamily="2" charset="-122"/>
            </a:endParaRPr>
          </a:p>
          <a:p>
            <a:pPr algn="ctr">
              <a:lnSpc>
                <a:spcPct val="150000"/>
              </a:lnSpc>
              <a:defRPr/>
            </a:pPr>
            <a:r>
              <a:rPr lang="en-US" altLang="zh-CN" sz="3200" b="1" spc="200" dirty="0">
                <a:solidFill>
                  <a:schemeClr val="accent4">
                    <a:lumMod val="50000"/>
                  </a:schemeClr>
                </a:solidFill>
                <a:latin typeface="微软雅黑" panose="020B0503020204020204" pitchFamily="34" charset="-122"/>
                <a:ea typeface="微软雅黑" panose="020B0503020204020204" pitchFamily="34" charset="-122"/>
              </a:rPr>
              <a:t>Email: hanjianda@nankai.edu.cn</a:t>
            </a:r>
            <a:endParaRPr lang="zh-CN" altLang="en-US" sz="3200" b="1" spc="200" dirty="0">
              <a:solidFill>
                <a:schemeClr val="accent4">
                  <a:lumMod val="50000"/>
                </a:schemeClr>
              </a:solidFill>
              <a:latin typeface="微软雅黑" panose="020B0503020204020204" pitchFamily="34" charset="-122"/>
              <a:ea typeface="微软雅黑" panose="020B0503020204020204" pitchFamily="34" charset="-122"/>
            </a:endParaRPr>
          </a:p>
        </p:txBody>
      </p:sp>
      <p:sp>
        <p:nvSpPr>
          <p:cNvPr id="6" name="文本框 7">
            <a:extLst>
              <a:ext uri="{FF2B5EF4-FFF2-40B4-BE49-F238E27FC236}">
                <a16:creationId xmlns:a16="http://schemas.microsoft.com/office/drawing/2014/main" id="{C9CE0252-84FD-4699-8002-FA6A9BF4E6EB}"/>
              </a:ext>
            </a:extLst>
          </p:cNvPr>
          <p:cNvSpPr txBox="1"/>
          <p:nvPr/>
        </p:nvSpPr>
        <p:spPr>
          <a:xfrm>
            <a:off x="0" y="3731600"/>
            <a:ext cx="12192000" cy="707886"/>
          </a:xfrm>
          <a:prstGeom prst="rect">
            <a:avLst/>
          </a:prstGeom>
          <a:noFill/>
        </p:spPr>
        <p:txBody>
          <a:bodyPr wrap="square" rtlCol="0">
            <a:spAutoFit/>
          </a:bodyPr>
          <a:lstStyle/>
          <a:p>
            <a:pPr lvl="0" algn="ctr">
              <a:defRPr/>
            </a:pPr>
            <a:r>
              <a:rPr lang="en-US" altLang="zh-CN" sz="4000" b="1" spc="200" dirty="0">
                <a:solidFill>
                  <a:schemeClr val="accent4">
                    <a:lumMod val="50000"/>
                  </a:schemeClr>
                </a:solidFill>
                <a:latin typeface="华文行楷" panose="02010800040101010101" pitchFamily="2" charset="-122"/>
                <a:ea typeface="华文行楷" panose="02010800040101010101" pitchFamily="2" charset="-122"/>
              </a:rPr>
              <a:t>《</a:t>
            </a:r>
            <a:r>
              <a:rPr lang="zh-CN" altLang="en-US" sz="4000" b="1" spc="200" dirty="0">
                <a:solidFill>
                  <a:schemeClr val="accent4">
                    <a:lumMod val="50000"/>
                  </a:schemeClr>
                </a:solidFill>
                <a:latin typeface="华文行楷" panose="02010800040101010101" pitchFamily="2" charset="-122"/>
                <a:ea typeface="华文行楷" panose="02010800040101010101" pitchFamily="2" charset="-122"/>
              </a:rPr>
              <a:t>机器人学导论</a:t>
            </a:r>
            <a:r>
              <a:rPr lang="en-US" altLang="zh-CN" sz="4000" b="1" spc="200" dirty="0">
                <a:solidFill>
                  <a:schemeClr val="accent4">
                    <a:lumMod val="50000"/>
                  </a:schemeClr>
                </a:solidFill>
                <a:latin typeface="华文行楷" panose="02010800040101010101" pitchFamily="2" charset="-122"/>
                <a:ea typeface="华文行楷" panose="02010800040101010101" pitchFamily="2" charset="-122"/>
              </a:rPr>
              <a:t>》</a:t>
            </a:r>
          </a:p>
        </p:txBody>
      </p:sp>
      <p:pic>
        <p:nvPicPr>
          <p:cNvPr id="8" name="Picture 7">
            <a:extLst>
              <a:ext uri="{FF2B5EF4-FFF2-40B4-BE49-F238E27FC236}">
                <a16:creationId xmlns:a16="http://schemas.microsoft.com/office/drawing/2014/main" id="{2C56C94E-127A-494A-9C09-1571E867CA24}"/>
              </a:ext>
            </a:extLst>
          </p:cNvPr>
          <p:cNvPicPr>
            <a:picLocks noChangeAspect="1"/>
          </p:cNvPicPr>
          <p:nvPr/>
        </p:nvPicPr>
        <p:blipFill>
          <a:blip r:embed="rId3"/>
          <a:stretch>
            <a:fillRect/>
          </a:stretch>
        </p:blipFill>
        <p:spPr>
          <a:xfrm>
            <a:off x="252158" y="69891"/>
            <a:ext cx="3485034" cy="1178655"/>
          </a:xfrm>
          <a:prstGeom prst="rect">
            <a:avLst/>
          </a:prstGeom>
        </p:spPr>
      </p:pic>
    </p:spTree>
    <p:extLst>
      <p:ext uri="{BB962C8B-B14F-4D97-AF65-F5344CB8AC3E}">
        <p14:creationId xmlns:p14="http://schemas.microsoft.com/office/powerpoint/2010/main" val="2571878615"/>
      </p:ext>
    </p:extLst>
  </p:cSld>
  <p:clrMapOvr>
    <a:masterClrMapping/>
  </p:clrMapOvr>
  <mc:AlternateContent xmlns:mc="http://schemas.openxmlformats.org/markup-compatibility/2006" xmlns:p14="http://schemas.microsoft.com/office/powerpoint/2010/main">
    <mc:Choice Requires="p14">
      <p:transition p14:dur="0" advTm="13525"/>
    </mc:Choice>
    <mc:Fallback xmlns="">
      <p:transition advTm="1352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E04DA488-34A8-4BB2-9570-44F909BAA1D6}"/>
              </a:ext>
            </a:extLst>
          </p:cNvPr>
          <p:cNvGrpSpPr/>
          <p:nvPr/>
        </p:nvGrpSpPr>
        <p:grpSpPr>
          <a:xfrm>
            <a:off x="2274561" y="3046524"/>
            <a:ext cx="7540362" cy="726162"/>
            <a:chOff x="2228047" y="3261190"/>
            <a:chExt cx="7540362" cy="726162"/>
          </a:xfrm>
        </p:grpSpPr>
        <p:grpSp>
          <p:nvGrpSpPr>
            <p:cNvPr id="22" name="组合 21">
              <a:extLst>
                <a:ext uri="{FF2B5EF4-FFF2-40B4-BE49-F238E27FC236}">
                  <a16:creationId xmlns:a16="http://schemas.microsoft.com/office/drawing/2014/main" id="{21ECC2D1-3206-4983-8CA5-283B9BA58860}"/>
                </a:ext>
              </a:extLst>
            </p:cNvPr>
            <p:cNvGrpSpPr/>
            <p:nvPr/>
          </p:nvGrpSpPr>
          <p:grpSpPr>
            <a:xfrm>
              <a:off x="2798723" y="3261190"/>
              <a:ext cx="6969686" cy="726162"/>
              <a:chOff x="2438826" y="4214941"/>
              <a:chExt cx="5708740" cy="726162"/>
            </a:xfrm>
          </p:grpSpPr>
          <p:sp>
            <p:nvSpPr>
              <p:cNvPr id="26" name="Line 22">
                <a:extLst>
                  <a:ext uri="{FF2B5EF4-FFF2-40B4-BE49-F238E27FC236}">
                    <a16:creationId xmlns:a16="http://schemas.microsoft.com/office/drawing/2014/main" id="{98483C49-1D27-4311-BA4A-5B5160EB4519}"/>
                  </a:ext>
                </a:extLst>
              </p:cNvPr>
              <p:cNvSpPr>
                <a:spLocks noChangeShapeType="1"/>
              </p:cNvSpPr>
              <p:nvPr/>
            </p:nvSpPr>
            <p:spPr bwMode="auto">
              <a:xfrm flipV="1">
                <a:off x="2438826" y="4583810"/>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7" name="AutoShape 26">
                <a:extLst>
                  <a:ext uri="{FF2B5EF4-FFF2-40B4-BE49-F238E27FC236}">
                    <a16:creationId xmlns:a16="http://schemas.microsoft.com/office/drawing/2014/main" id="{C2EB5E3D-B3AB-42F6-9D39-BE9D6DADD95F}"/>
                  </a:ext>
                </a:extLst>
              </p:cNvPr>
              <p:cNvSpPr>
                <a:spLocks noChangeArrowheads="1"/>
              </p:cNvSpPr>
              <p:nvPr/>
            </p:nvSpPr>
            <p:spPr bwMode="auto">
              <a:xfrm>
                <a:off x="2716059" y="4214941"/>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dirty="0">
                    <a:solidFill>
                      <a:prstClr val="black"/>
                    </a:solidFill>
                    <a:latin typeface="微软雅黑" panose="020B0503020204020204" pitchFamily="34" charset="-122"/>
                    <a:ea typeface="微软雅黑" panose="020B0503020204020204" pitchFamily="34" charset="-122"/>
                  </a:rPr>
                  <a:t>4.2 </a:t>
                </a:r>
                <a:r>
                  <a:rPr lang="zh-CN" altLang="en-US" sz="3200" i="0" dirty="0">
                    <a:solidFill>
                      <a:prstClr val="black"/>
                    </a:solidFill>
                    <a:latin typeface="微软雅黑" panose="020B0503020204020204" pitchFamily="34" charset="-122"/>
                    <a:ea typeface="微软雅黑" panose="020B0503020204020204" pitchFamily="34" charset="-122"/>
                  </a:rPr>
                  <a:t>机器人逆运动学求取方法</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grpSp>
          <p:nvGrpSpPr>
            <p:cNvPr id="23" name="组合 22">
              <a:extLst>
                <a:ext uri="{FF2B5EF4-FFF2-40B4-BE49-F238E27FC236}">
                  <a16:creationId xmlns:a16="http://schemas.microsoft.com/office/drawing/2014/main" id="{8819CC38-77E1-4D82-88A3-D036871DA939}"/>
                </a:ext>
              </a:extLst>
            </p:cNvPr>
            <p:cNvGrpSpPr/>
            <p:nvPr/>
          </p:nvGrpSpPr>
          <p:grpSpPr>
            <a:xfrm>
              <a:off x="2228047" y="3333436"/>
              <a:ext cx="570676" cy="598244"/>
              <a:chOff x="4613213" y="4247997"/>
              <a:chExt cx="504000" cy="504000"/>
            </a:xfrm>
          </p:grpSpPr>
          <p:sp>
            <p:nvSpPr>
              <p:cNvPr id="24" name="椭圆 23">
                <a:extLst>
                  <a:ext uri="{FF2B5EF4-FFF2-40B4-BE49-F238E27FC236}">
                    <a16:creationId xmlns:a16="http://schemas.microsoft.com/office/drawing/2014/main" id="{6A6784AE-BF4A-42B7-B8A9-6D4CAA1E58C1}"/>
                  </a:ext>
                </a:extLst>
              </p:cNvPr>
              <p:cNvSpPr/>
              <p:nvPr/>
            </p:nvSpPr>
            <p:spPr>
              <a:xfrm>
                <a:off x="4613213" y="4247997"/>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5" name="Freeform 70">
                <a:extLst>
                  <a:ext uri="{FF2B5EF4-FFF2-40B4-BE49-F238E27FC236}">
                    <a16:creationId xmlns:a16="http://schemas.microsoft.com/office/drawing/2014/main" id="{B65B2162-1219-45CE-A279-1597D1791A7A}"/>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8" name="组合 27">
            <a:extLst>
              <a:ext uri="{FF2B5EF4-FFF2-40B4-BE49-F238E27FC236}">
                <a16:creationId xmlns:a16="http://schemas.microsoft.com/office/drawing/2014/main" id="{1140A86E-1F2B-4581-926F-9B6A9EEB689D}"/>
              </a:ext>
            </a:extLst>
          </p:cNvPr>
          <p:cNvGrpSpPr/>
          <p:nvPr/>
        </p:nvGrpSpPr>
        <p:grpSpPr>
          <a:xfrm>
            <a:off x="2299240" y="1675616"/>
            <a:ext cx="7491004" cy="726162"/>
            <a:chOff x="2277405" y="1562253"/>
            <a:chExt cx="7491004" cy="726162"/>
          </a:xfrm>
        </p:grpSpPr>
        <p:grpSp>
          <p:nvGrpSpPr>
            <p:cNvPr id="29" name="组合 28">
              <a:extLst>
                <a:ext uri="{FF2B5EF4-FFF2-40B4-BE49-F238E27FC236}">
                  <a16:creationId xmlns:a16="http://schemas.microsoft.com/office/drawing/2014/main" id="{59410F9D-20D4-4884-9BE4-539200646C8D}"/>
                </a:ext>
              </a:extLst>
            </p:cNvPr>
            <p:cNvGrpSpPr/>
            <p:nvPr/>
          </p:nvGrpSpPr>
          <p:grpSpPr>
            <a:xfrm>
              <a:off x="2860631" y="1562253"/>
              <a:ext cx="6907778" cy="726162"/>
              <a:chOff x="2454402" y="2992068"/>
              <a:chExt cx="5681334" cy="726162"/>
            </a:xfrm>
          </p:grpSpPr>
          <p:sp>
            <p:nvSpPr>
              <p:cNvPr id="33" name="Line 22">
                <a:extLst>
                  <a:ext uri="{FF2B5EF4-FFF2-40B4-BE49-F238E27FC236}">
                    <a16:creationId xmlns:a16="http://schemas.microsoft.com/office/drawing/2014/main" id="{FBFFC67F-F4D8-4547-A28E-290F525CE241}"/>
                  </a:ext>
                </a:extLst>
              </p:cNvPr>
              <p:cNvSpPr>
                <a:spLocks noChangeShapeType="1"/>
              </p:cNvSpPr>
              <p:nvPr/>
            </p:nvSpPr>
            <p:spPr bwMode="auto">
              <a:xfrm flipV="1">
                <a:off x="2454402" y="3341256"/>
                <a:ext cx="5079786" cy="27784"/>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4" name="AutoShape 26">
                <a:extLst>
                  <a:ext uri="{FF2B5EF4-FFF2-40B4-BE49-F238E27FC236}">
                    <a16:creationId xmlns:a16="http://schemas.microsoft.com/office/drawing/2014/main" id="{77570620-2FC3-48B6-9F96-86A0D1D5F677}"/>
                  </a:ext>
                </a:extLst>
              </p:cNvPr>
              <p:cNvSpPr>
                <a:spLocks noChangeArrowheads="1"/>
              </p:cNvSpPr>
              <p:nvPr/>
            </p:nvSpPr>
            <p:spPr bwMode="auto">
              <a:xfrm>
                <a:off x="2704271" y="2992068"/>
                <a:ext cx="5431465"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i="0" kern="0" dirty="0">
                    <a:solidFill>
                      <a:srgbClr val="8B247C"/>
                    </a:solidFill>
                    <a:latin typeface="微软雅黑" panose="020B0503020204020204" pitchFamily="34" charset="-122"/>
                    <a:ea typeface="微软雅黑" panose="020B0503020204020204" pitchFamily="34" charset="-122"/>
                  </a:rPr>
                  <a:t>4.1 </a:t>
                </a:r>
                <a:r>
                  <a:rPr lang="zh-CN" altLang="en-US" sz="3200" b="1" i="0" kern="0" dirty="0">
                    <a:solidFill>
                      <a:srgbClr val="8B247C"/>
                    </a:solidFill>
                    <a:latin typeface="微软雅黑" panose="020B0503020204020204" pitchFamily="34" charset="-122"/>
                    <a:ea typeface="微软雅黑" panose="020B0503020204020204" pitchFamily="34" charset="-122"/>
                  </a:rPr>
                  <a:t>机器人逆运动学基本概念</a:t>
                </a:r>
                <a:endParaRPr lang="en-US" altLang="zh-CN" sz="3200" b="1" i="0" kern="0" dirty="0">
                  <a:solidFill>
                    <a:srgbClr val="8B247C"/>
                  </a:solidFill>
                  <a:latin typeface="微软雅黑" panose="020B0503020204020204" pitchFamily="34" charset="-122"/>
                  <a:ea typeface="微软雅黑" panose="020B0503020204020204" pitchFamily="34" charset="-122"/>
                </a:endParaRPr>
              </a:p>
            </p:txBody>
          </p:sp>
        </p:grpSp>
        <p:grpSp>
          <p:nvGrpSpPr>
            <p:cNvPr id="30" name="组合 29">
              <a:extLst>
                <a:ext uri="{FF2B5EF4-FFF2-40B4-BE49-F238E27FC236}">
                  <a16:creationId xmlns:a16="http://schemas.microsoft.com/office/drawing/2014/main" id="{F568140B-0C1A-48AA-975B-4FCA525CAC4E}"/>
                </a:ext>
              </a:extLst>
            </p:cNvPr>
            <p:cNvGrpSpPr/>
            <p:nvPr/>
          </p:nvGrpSpPr>
          <p:grpSpPr>
            <a:xfrm>
              <a:off x="2277405" y="1670987"/>
              <a:ext cx="570676" cy="598244"/>
              <a:chOff x="4613213" y="3130275"/>
              <a:chExt cx="504000" cy="504000"/>
            </a:xfrm>
          </p:grpSpPr>
          <p:sp>
            <p:nvSpPr>
              <p:cNvPr id="31" name="椭圆 30">
                <a:extLst>
                  <a:ext uri="{FF2B5EF4-FFF2-40B4-BE49-F238E27FC236}">
                    <a16:creationId xmlns:a16="http://schemas.microsoft.com/office/drawing/2014/main" id="{2102F388-2398-4D82-9283-93B39764175E}"/>
                  </a:ext>
                </a:extLst>
              </p:cNvPr>
              <p:cNvSpPr/>
              <p:nvPr/>
            </p:nvSpPr>
            <p:spPr>
              <a:xfrm>
                <a:off x="4613213" y="3130275"/>
                <a:ext cx="504000" cy="504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2" name="Freeform 105">
                <a:extLst>
                  <a:ext uri="{FF2B5EF4-FFF2-40B4-BE49-F238E27FC236}">
                    <a16:creationId xmlns:a16="http://schemas.microsoft.com/office/drawing/2014/main" id="{D2EEBB1E-1FAD-44CA-8BD7-510FDBB6FCC0}"/>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35" name="组合 34">
            <a:extLst>
              <a:ext uri="{FF2B5EF4-FFF2-40B4-BE49-F238E27FC236}">
                <a16:creationId xmlns:a16="http://schemas.microsoft.com/office/drawing/2014/main" id="{D6AB12EA-01DB-493F-B7C7-9F4F987EE72B}"/>
              </a:ext>
            </a:extLst>
          </p:cNvPr>
          <p:cNvGrpSpPr/>
          <p:nvPr/>
        </p:nvGrpSpPr>
        <p:grpSpPr>
          <a:xfrm>
            <a:off x="2260412" y="4437112"/>
            <a:ext cx="7568660" cy="726162"/>
            <a:chOff x="675749" y="5334955"/>
            <a:chExt cx="7568660" cy="726162"/>
          </a:xfrm>
        </p:grpSpPr>
        <p:grpSp>
          <p:nvGrpSpPr>
            <p:cNvPr id="36" name="组合 35">
              <a:extLst>
                <a:ext uri="{FF2B5EF4-FFF2-40B4-BE49-F238E27FC236}">
                  <a16:creationId xmlns:a16="http://schemas.microsoft.com/office/drawing/2014/main" id="{9BCCC1A1-163D-4F97-8FDE-35CB1560A477}"/>
                </a:ext>
              </a:extLst>
            </p:cNvPr>
            <p:cNvGrpSpPr/>
            <p:nvPr/>
          </p:nvGrpSpPr>
          <p:grpSpPr>
            <a:xfrm>
              <a:off x="1259632" y="5334955"/>
              <a:ext cx="6984777" cy="726162"/>
              <a:chOff x="2454402" y="5958489"/>
              <a:chExt cx="5708740" cy="726162"/>
            </a:xfrm>
          </p:grpSpPr>
          <p:sp>
            <p:nvSpPr>
              <p:cNvPr id="40" name="Line 22">
                <a:extLst>
                  <a:ext uri="{FF2B5EF4-FFF2-40B4-BE49-F238E27FC236}">
                    <a16:creationId xmlns:a16="http://schemas.microsoft.com/office/drawing/2014/main" id="{202F0BDA-CAA4-4DDD-AB66-10FBC8BC6073}"/>
                  </a:ext>
                </a:extLst>
              </p:cNvPr>
              <p:cNvSpPr>
                <a:spLocks noChangeShapeType="1"/>
              </p:cNvSpPr>
              <p:nvPr/>
            </p:nvSpPr>
            <p:spPr bwMode="auto">
              <a:xfrm flipV="1">
                <a:off x="2454402" y="6327358"/>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F2C07A27-D057-4BE4-9BEC-2147847D5F7F}"/>
                  </a:ext>
                </a:extLst>
              </p:cNvPr>
              <p:cNvSpPr>
                <a:spLocks noChangeArrowheads="1"/>
              </p:cNvSpPr>
              <p:nvPr/>
            </p:nvSpPr>
            <p:spPr bwMode="auto">
              <a:xfrm>
                <a:off x="2731635" y="5958489"/>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4.3 </a:t>
                </a:r>
                <a:r>
                  <a:rPr lang="zh-CN" altLang="en-US" sz="3200" i="0" dirty="0">
                    <a:solidFill>
                      <a:prstClr val="black"/>
                    </a:solidFill>
                    <a:latin typeface="微软雅黑" panose="020B0503020204020204" pitchFamily="34" charset="-122"/>
                    <a:ea typeface="微软雅黑" panose="020B0503020204020204" pitchFamily="34" charset="-122"/>
                  </a:rPr>
                  <a:t>机器人工作空间分析</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9B5C857D-62F9-4433-B8CA-15C09EB01530}"/>
                </a:ext>
              </a:extLst>
            </p:cNvPr>
            <p:cNvGrpSpPr/>
            <p:nvPr/>
          </p:nvGrpSpPr>
          <p:grpSpPr>
            <a:xfrm>
              <a:off x="675749" y="5415699"/>
              <a:ext cx="570676" cy="598244"/>
              <a:chOff x="7982080" y="5312514"/>
              <a:chExt cx="504000" cy="504000"/>
            </a:xfrm>
          </p:grpSpPr>
          <p:sp>
            <p:nvSpPr>
              <p:cNvPr id="38" name="椭圆 37">
                <a:extLst>
                  <a:ext uri="{FF2B5EF4-FFF2-40B4-BE49-F238E27FC236}">
                    <a16:creationId xmlns:a16="http://schemas.microsoft.com/office/drawing/2014/main" id="{6338DBC9-F872-4F02-B898-1180B8CC3480}"/>
                  </a:ext>
                </a:extLst>
              </p:cNvPr>
              <p:cNvSpPr/>
              <p:nvPr/>
            </p:nvSpPr>
            <p:spPr>
              <a:xfrm>
                <a:off x="7982080" y="5312514"/>
                <a:ext cx="504000" cy="50400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9" name="Freeform 96">
                <a:extLst>
                  <a:ext uri="{FF2B5EF4-FFF2-40B4-BE49-F238E27FC236}">
                    <a16:creationId xmlns:a16="http://schemas.microsoft.com/office/drawing/2014/main" id="{F3473415-2A93-4E32-8B9F-4AACB4BB9EB3}"/>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Tree>
    <p:extLst>
      <p:ext uri="{BB962C8B-B14F-4D97-AF65-F5344CB8AC3E}">
        <p14:creationId xmlns:p14="http://schemas.microsoft.com/office/powerpoint/2010/main" val="129905074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109DDB9-8A94-4873-B6A2-A8F06047CFED}"/>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a:t>
            </a:fld>
            <a:endParaRPr lang="zh-CN" altLang="en-US">
              <a:solidFill>
                <a:prstClr val="black">
                  <a:tint val="75000"/>
                </a:prstClr>
              </a:solidFill>
            </a:endParaRPr>
          </a:p>
        </p:txBody>
      </p:sp>
      <p:sp>
        <p:nvSpPr>
          <p:cNvPr id="18" name="文本框 17">
            <a:extLst>
              <a:ext uri="{FF2B5EF4-FFF2-40B4-BE49-F238E27FC236}">
                <a16:creationId xmlns:a16="http://schemas.microsoft.com/office/drawing/2014/main" id="{0693EC42-88F5-4296-BB2D-811235C51306}"/>
              </a:ext>
            </a:extLst>
          </p:cNvPr>
          <p:cNvSpPr txBox="1"/>
          <p:nvPr/>
        </p:nvSpPr>
        <p:spPr>
          <a:xfrm>
            <a:off x="0" y="33341"/>
            <a:ext cx="7700965"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4.1 </a:t>
            </a:r>
            <a:r>
              <a:rPr lang="zh-CN" altLang="en-US" sz="3200" b="1" dirty="0">
                <a:solidFill>
                  <a:srgbClr val="9D1317"/>
                </a:solidFill>
                <a:latin typeface="微软雅黑" panose="020B0503020204020204" pitchFamily="34" charset="-122"/>
                <a:ea typeface="微软雅黑" panose="020B0503020204020204" pitchFamily="34" charset="-122"/>
              </a:rPr>
              <a:t>机器人逆运动学基本概念</a:t>
            </a:r>
          </a:p>
        </p:txBody>
      </p:sp>
      <p:sp>
        <p:nvSpPr>
          <p:cNvPr id="20" name="标题 1">
            <a:extLst>
              <a:ext uri="{FF2B5EF4-FFF2-40B4-BE49-F238E27FC236}">
                <a16:creationId xmlns:a16="http://schemas.microsoft.com/office/drawing/2014/main" id="{50B143C2-3858-4F20-931E-71109162281D}"/>
              </a:ext>
            </a:extLst>
          </p:cNvPr>
          <p:cNvSpPr txBox="1">
            <a:spLocks/>
          </p:cNvSpPr>
          <p:nvPr/>
        </p:nvSpPr>
        <p:spPr>
          <a:xfrm>
            <a:off x="1844285" y="287778"/>
            <a:ext cx="8435280" cy="549705"/>
          </a:xfrm>
          <a:prstGeom prst="rect">
            <a:avLst/>
          </a:prstGeom>
        </p:spPr>
        <p:txBody>
          <a:bodyPr vert="horz" lIns="0" tIns="0" rIns="0" bIns="0" rtlCol="0" anchor="t" anchorCtr="0">
            <a:noAutofit/>
          </a:bodyPr>
          <a:lstStyle>
            <a:lvl1pPr algn="l" defTabSz="685800" rtl="0" eaLnBrk="1" latinLnBrk="0" hangingPunct="1">
              <a:spcBef>
                <a:spcPct val="0"/>
              </a:spcBef>
              <a:buNone/>
              <a:defRPr lang="en-US" sz="4000" b="1" kern="1200" baseline="0">
                <a:solidFill>
                  <a:srgbClr val="7E0C6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Segoe UI" panose="020B0502040204020203" pitchFamily="34" charset="0"/>
              </a:defRPr>
            </a:lvl1pPr>
          </a:lstStyle>
          <a:p>
            <a:pPr fontAlgn="auto">
              <a:spcAft>
                <a:spcPts val="0"/>
              </a:spcAft>
            </a:pPr>
            <a:endParaRPr lang="zh-CN" altLang="en-US" sz="4400" i="0" dirty="0">
              <a:effectLst/>
            </a:endParaRPr>
          </a:p>
        </p:txBody>
      </p:sp>
      <p:sp>
        <p:nvSpPr>
          <p:cNvPr id="15" name="矩形 14">
            <a:extLst>
              <a:ext uri="{FF2B5EF4-FFF2-40B4-BE49-F238E27FC236}">
                <a16:creationId xmlns:a16="http://schemas.microsoft.com/office/drawing/2014/main" id="{DDF4E4DA-4AEE-4C47-BD0B-3585EE5A47CB}"/>
              </a:ext>
            </a:extLst>
          </p:cNvPr>
          <p:cNvSpPr/>
          <p:nvPr/>
        </p:nvSpPr>
        <p:spPr>
          <a:xfrm>
            <a:off x="534307" y="879044"/>
            <a:ext cx="10523790" cy="1158266"/>
          </a:xfrm>
          <a:prstGeom prst="rect">
            <a:avLst/>
          </a:prstGeom>
        </p:spPr>
        <p:txBody>
          <a:bodyPr wrap="square">
            <a:spAutoFit/>
          </a:bodyPr>
          <a:lstStyle/>
          <a:p>
            <a:pPr marL="360363" indent="-360363">
              <a:lnSpc>
                <a:spcPct val="120000"/>
              </a:lnSpc>
              <a:spcAft>
                <a:spcPts val="600"/>
              </a:spcAft>
              <a:buFont typeface="Wingdings" panose="05000000000000000000" pitchFamily="2" charset="2"/>
              <a:buChar char="n"/>
            </a:pPr>
            <a:r>
              <a:rPr lang="zh-CN" altLang="en-US" sz="2800" b="1" i="0" dirty="0">
                <a:solidFill>
                  <a:srgbClr val="222222"/>
                </a:solidFill>
                <a:latin typeface="微软雅黑" panose="020B0503020204020204" pitchFamily="34" charset="-122"/>
                <a:ea typeface="微软雅黑" panose="020B0503020204020204" pitchFamily="34" charset="-122"/>
              </a:rPr>
              <a:t>机器人逆运动学：</a:t>
            </a:r>
            <a:endParaRPr lang="en-US" altLang="zh-CN" sz="28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n"/>
            </a:pPr>
            <a:r>
              <a:rPr lang="zh-CN" altLang="en-US" sz="2400" b="1" i="0" dirty="0">
                <a:solidFill>
                  <a:srgbClr val="222222"/>
                </a:solidFill>
                <a:latin typeface="微软雅黑" panose="020B0503020204020204" pitchFamily="34" charset="-122"/>
                <a:ea typeface="微软雅黑" panose="020B0503020204020204" pitchFamily="34" charset="-122"/>
              </a:rPr>
              <a:t>已知机器人末端执行器的（期望）位姿 </a:t>
            </a:r>
            <a:r>
              <a:rPr lang="en-US" altLang="zh-CN" sz="2400" b="1" i="1" dirty="0">
                <a:solidFill>
                  <a:srgbClr val="222222"/>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b="1" i="0" dirty="0">
                <a:solidFill>
                  <a:srgbClr val="222222"/>
                </a:solidFill>
                <a:latin typeface="微软雅黑" panose="020B0503020204020204" pitchFamily="34" charset="-122"/>
                <a:ea typeface="微软雅黑" panose="020B0503020204020204" pitchFamily="34" charset="-122"/>
              </a:rPr>
              <a:t> ，求解机器人关节角度 </a:t>
            </a:r>
            <a:r>
              <a:rPr lang="en-US" altLang="zh-CN" sz="2800" b="1" i="1" dirty="0">
                <a:solidFill>
                  <a:srgbClr val="222222"/>
                </a:solidFill>
                <a:latin typeface="Times New Roman" panose="02020603050405020304" pitchFamily="18" charset="0"/>
                <a:ea typeface="微软雅黑" panose="020B0503020204020204" pitchFamily="34" charset="-122"/>
                <a:cs typeface="Times New Roman" panose="02020603050405020304" pitchFamily="18" charset="0"/>
              </a:rPr>
              <a:t>q</a:t>
            </a:r>
          </a:p>
        </p:txBody>
      </p:sp>
      <p:pic>
        <p:nvPicPr>
          <p:cNvPr id="4" name="图片 3">
            <a:extLst>
              <a:ext uri="{FF2B5EF4-FFF2-40B4-BE49-F238E27FC236}">
                <a16:creationId xmlns:a16="http://schemas.microsoft.com/office/drawing/2014/main" id="{6761336E-7BE4-4A9A-A39F-7DB4056C40E7}"/>
              </a:ext>
            </a:extLst>
          </p:cNvPr>
          <p:cNvPicPr>
            <a:picLocks noChangeAspect="1"/>
          </p:cNvPicPr>
          <p:nvPr/>
        </p:nvPicPr>
        <p:blipFill rotWithShape="1">
          <a:blip r:embed="rId2">
            <a:extLst>
              <a:ext uri="{28A0092B-C50C-407E-A947-70E740481C1C}">
                <a14:useLocalDpi xmlns:a14="http://schemas.microsoft.com/office/drawing/2010/main" val="0"/>
              </a:ext>
            </a:extLst>
          </a:blip>
          <a:srcRect t="4959" b="57217"/>
          <a:stretch/>
        </p:blipFill>
        <p:spPr>
          <a:xfrm>
            <a:off x="1914393" y="2298238"/>
            <a:ext cx="7301667" cy="1650124"/>
          </a:xfrm>
          <a:prstGeom prst="rect">
            <a:avLst/>
          </a:prstGeom>
        </p:spPr>
      </p:pic>
      <p:pic>
        <p:nvPicPr>
          <p:cNvPr id="9" name="图片 8">
            <a:extLst>
              <a:ext uri="{FF2B5EF4-FFF2-40B4-BE49-F238E27FC236}">
                <a16:creationId xmlns:a16="http://schemas.microsoft.com/office/drawing/2014/main" id="{5E77F084-33E9-4FDB-8621-3A8A2F53EB23}"/>
              </a:ext>
            </a:extLst>
          </p:cNvPr>
          <p:cNvPicPr>
            <a:picLocks noChangeAspect="1"/>
          </p:cNvPicPr>
          <p:nvPr/>
        </p:nvPicPr>
        <p:blipFill rotWithShape="1">
          <a:blip r:embed="rId2">
            <a:extLst>
              <a:ext uri="{28A0092B-C50C-407E-A947-70E740481C1C}">
                <a14:useLocalDpi xmlns:a14="http://schemas.microsoft.com/office/drawing/2010/main" val="0"/>
              </a:ext>
            </a:extLst>
          </a:blip>
          <a:srcRect t="43505" r="13078" b="3614"/>
          <a:stretch/>
        </p:blipFill>
        <p:spPr>
          <a:xfrm>
            <a:off x="1914392" y="3962401"/>
            <a:ext cx="6346739" cy="2307020"/>
          </a:xfrm>
          <a:prstGeom prst="rect">
            <a:avLst/>
          </a:prstGeom>
        </p:spPr>
      </p:pic>
      <p:pic>
        <p:nvPicPr>
          <p:cNvPr id="10" name="图片 9">
            <a:extLst>
              <a:ext uri="{FF2B5EF4-FFF2-40B4-BE49-F238E27FC236}">
                <a16:creationId xmlns:a16="http://schemas.microsoft.com/office/drawing/2014/main" id="{6DE3663F-83BC-45CB-B407-5A75C59AFA69}"/>
              </a:ext>
            </a:extLst>
          </p:cNvPr>
          <p:cNvPicPr>
            <a:picLocks noChangeAspect="1"/>
          </p:cNvPicPr>
          <p:nvPr/>
        </p:nvPicPr>
        <p:blipFill rotWithShape="1">
          <a:blip r:embed="rId2">
            <a:extLst>
              <a:ext uri="{28A0092B-C50C-407E-A947-70E740481C1C}">
                <a14:useLocalDpi xmlns:a14="http://schemas.microsoft.com/office/drawing/2010/main" val="0"/>
              </a:ext>
            </a:extLst>
          </a:blip>
          <a:srcRect t="43505" r="74141" b="29764"/>
          <a:stretch/>
        </p:blipFill>
        <p:spPr>
          <a:xfrm>
            <a:off x="1454124" y="2762574"/>
            <a:ext cx="1888166" cy="1166198"/>
          </a:xfrm>
          <a:prstGeom prst="rect">
            <a:avLst/>
          </a:prstGeom>
        </p:spPr>
      </p:pic>
      <p:sp>
        <p:nvSpPr>
          <p:cNvPr id="5" name="矩形 4">
            <a:extLst>
              <a:ext uri="{FF2B5EF4-FFF2-40B4-BE49-F238E27FC236}">
                <a16:creationId xmlns:a16="http://schemas.microsoft.com/office/drawing/2014/main" id="{0219E79B-FBA9-4B81-81CC-7356010DEC51}"/>
              </a:ext>
            </a:extLst>
          </p:cNvPr>
          <p:cNvSpPr/>
          <p:nvPr/>
        </p:nvSpPr>
        <p:spPr>
          <a:xfrm>
            <a:off x="1844285" y="3981990"/>
            <a:ext cx="1981481" cy="1166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113526C8-9FA1-4CD3-9863-A52DD2A2B9D5}"/>
              </a:ext>
            </a:extLst>
          </p:cNvPr>
          <p:cNvPicPr>
            <a:picLocks noChangeAspect="1"/>
          </p:cNvPicPr>
          <p:nvPr/>
        </p:nvPicPr>
        <p:blipFill rotWithShape="1">
          <a:blip r:embed="rId2">
            <a:extLst>
              <a:ext uri="{28A0092B-C50C-407E-A947-70E740481C1C}">
                <a14:useLocalDpi xmlns:a14="http://schemas.microsoft.com/office/drawing/2010/main" val="0"/>
              </a:ext>
            </a:extLst>
          </a:blip>
          <a:srcRect t="43505" r="74141" b="29764"/>
          <a:stretch/>
        </p:blipFill>
        <p:spPr>
          <a:xfrm>
            <a:off x="1454124" y="4932960"/>
            <a:ext cx="1888166" cy="1166198"/>
          </a:xfrm>
          <a:prstGeom prst="rect">
            <a:avLst/>
          </a:prstGeom>
        </p:spPr>
      </p:pic>
    </p:spTree>
    <p:extLst>
      <p:ext uri="{BB962C8B-B14F-4D97-AF65-F5344CB8AC3E}">
        <p14:creationId xmlns:p14="http://schemas.microsoft.com/office/powerpoint/2010/main" val="391545654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E04DA488-34A8-4BB2-9570-44F909BAA1D6}"/>
              </a:ext>
            </a:extLst>
          </p:cNvPr>
          <p:cNvGrpSpPr/>
          <p:nvPr/>
        </p:nvGrpSpPr>
        <p:grpSpPr>
          <a:xfrm>
            <a:off x="2274561" y="3046524"/>
            <a:ext cx="7540362" cy="726162"/>
            <a:chOff x="2228047" y="3261190"/>
            <a:chExt cx="7540362" cy="726162"/>
          </a:xfrm>
        </p:grpSpPr>
        <p:grpSp>
          <p:nvGrpSpPr>
            <p:cNvPr id="22" name="组合 21">
              <a:extLst>
                <a:ext uri="{FF2B5EF4-FFF2-40B4-BE49-F238E27FC236}">
                  <a16:creationId xmlns:a16="http://schemas.microsoft.com/office/drawing/2014/main" id="{21ECC2D1-3206-4983-8CA5-283B9BA58860}"/>
                </a:ext>
              </a:extLst>
            </p:cNvPr>
            <p:cNvGrpSpPr/>
            <p:nvPr/>
          </p:nvGrpSpPr>
          <p:grpSpPr>
            <a:xfrm>
              <a:off x="2798723" y="3261190"/>
              <a:ext cx="6969686" cy="726162"/>
              <a:chOff x="2438826" y="4214941"/>
              <a:chExt cx="5708740" cy="726162"/>
            </a:xfrm>
          </p:grpSpPr>
          <p:sp>
            <p:nvSpPr>
              <p:cNvPr id="26" name="Line 22">
                <a:extLst>
                  <a:ext uri="{FF2B5EF4-FFF2-40B4-BE49-F238E27FC236}">
                    <a16:creationId xmlns:a16="http://schemas.microsoft.com/office/drawing/2014/main" id="{98483C49-1D27-4311-BA4A-5B5160EB4519}"/>
                  </a:ext>
                </a:extLst>
              </p:cNvPr>
              <p:cNvSpPr>
                <a:spLocks noChangeShapeType="1"/>
              </p:cNvSpPr>
              <p:nvPr/>
            </p:nvSpPr>
            <p:spPr bwMode="auto">
              <a:xfrm flipV="1">
                <a:off x="2438826" y="4583810"/>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7" name="AutoShape 26">
                <a:extLst>
                  <a:ext uri="{FF2B5EF4-FFF2-40B4-BE49-F238E27FC236}">
                    <a16:creationId xmlns:a16="http://schemas.microsoft.com/office/drawing/2014/main" id="{C2EB5E3D-B3AB-42F6-9D39-BE9D6DADD95F}"/>
                  </a:ext>
                </a:extLst>
              </p:cNvPr>
              <p:cNvSpPr>
                <a:spLocks noChangeArrowheads="1"/>
              </p:cNvSpPr>
              <p:nvPr/>
            </p:nvSpPr>
            <p:spPr bwMode="auto">
              <a:xfrm>
                <a:off x="2716059" y="4214941"/>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kern="0" dirty="0">
                    <a:solidFill>
                      <a:srgbClr val="8B247C"/>
                    </a:solidFill>
                    <a:latin typeface="微软雅黑" panose="020B0503020204020204" pitchFamily="34" charset="-122"/>
                    <a:ea typeface="微软雅黑" panose="020B0503020204020204" pitchFamily="34" charset="-122"/>
                  </a:rPr>
                  <a:t>4.2 </a:t>
                </a:r>
                <a:r>
                  <a:rPr lang="zh-CN" altLang="en-US" sz="3200" b="1" kern="0" dirty="0">
                    <a:solidFill>
                      <a:srgbClr val="8B247C"/>
                    </a:solidFill>
                    <a:latin typeface="微软雅黑" panose="020B0503020204020204" pitchFamily="34" charset="-122"/>
                    <a:ea typeface="微软雅黑" panose="020B0503020204020204" pitchFamily="34" charset="-122"/>
                  </a:rPr>
                  <a:t>机器人逆运动学求取方法</a:t>
                </a:r>
                <a:endParaRPr lang="en-US" altLang="zh-CN" sz="3200" b="1" kern="0" dirty="0">
                  <a:solidFill>
                    <a:srgbClr val="8B247C"/>
                  </a:solidFill>
                  <a:latin typeface="微软雅黑" panose="020B0503020204020204" pitchFamily="34" charset="-122"/>
                  <a:ea typeface="微软雅黑" panose="020B0503020204020204" pitchFamily="34" charset="-122"/>
                </a:endParaRPr>
              </a:p>
            </p:txBody>
          </p:sp>
        </p:grpSp>
        <p:grpSp>
          <p:nvGrpSpPr>
            <p:cNvPr id="23" name="组合 22">
              <a:extLst>
                <a:ext uri="{FF2B5EF4-FFF2-40B4-BE49-F238E27FC236}">
                  <a16:creationId xmlns:a16="http://schemas.microsoft.com/office/drawing/2014/main" id="{8819CC38-77E1-4D82-88A3-D036871DA939}"/>
                </a:ext>
              </a:extLst>
            </p:cNvPr>
            <p:cNvGrpSpPr/>
            <p:nvPr/>
          </p:nvGrpSpPr>
          <p:grpSpPr>
            <a:xfrm>
              <a:off x="2228047" y="3333436"/>
              <a:ext cx="570676" cy="598244"/>
              <a:chOff x="4613213" y="4247997"/>
              <a:chExt cx="504000" cy="504000"/>
            </a:xfrm>
          </p:grpSpPr>
          <p:sp>
            <p:nvSpPr>
              <p:cNvPr id="24" name="椭圆 23">
                <a:extLst>
                  <a:ext uri="{FF2B5EF4-FFF2-40B4-BE49-F238E27FC236}">
                    <a16:creationId xmlns:a16="http://schemas.microsoft.com/office/drawing/2014/main" id="{6A6784AE-BF4A-42B7-B8A9-6D4CAA1E58C1}"/>
                  </a:ext>
                </a:extLst>
              </p:cNvPr>
              <p:cNvSpPr/>
              <p:nvPr/>
            </p:nvSpPr>
            <p:spPr>
              <a:xfrm>
                <a:off x="4613213" y="4247997"/>
                <a:ext cx="504000" cy="504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25" name="Freeform 70">
                <a:extLst>
                  <a:ext uri="{FF2B5EF4-FFF2-40B4-BE49-F238E27FC236}">
                    <a16:creationId xmlns:a16="http://schemas.microsoft.com/office/drawing/2014/main" id="{B65B2162-1219-45CE-A279-1597D1791A7A}"/>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8" name="组合 27">
            <a:extLst>
              <a:ext uri="{FF2B5EF4-FFF2-40B4-BE49-F238E27FC236}">
                <a16:creationId xmlns:a16="http://schemas.microsoft.com/office/drawing/2014/main" id="{1140A86E-1F2B-4581-926F-9B6A9EEB689D}"/>
              </a:ext>
            </a:extLst>
          </p:cNvPr>
          <p:cNvGrpSpPr/>
          <p:nvPr/>
        </p:nvGrpSpPr>
        <p:grpSpPr>
          <a:xfrm>
            <a:off x="2299240" y="1675616"/>
            <a:ext cx="7491004" cy="726162"/>
            <a:chOff x="2277405" y="1562253"/>
            <a:chExt cx="7491004" cy="726162"/>
          </a:xfrm>
        </p:grpSpPr>
        <p:grpSp>
          <p:nvGrpSpPr>
            <p:cNvPr id="29" name="组合 28">
              <a:extLst>
                <a:ext uri="{FF2B5EF4-FFF2-40B4-BE49-F238E27FC236}">
                  <a16:creationId xmlns:a16="http://schemas.microsoft.com/office/drawing/2014/main" id="{59410F9D-20D4-4884-9BE4-539200646C8D}"/>
                </a:ext>
              </a:extLst>
            </p:cNvPr>
            <p:cNvGrpSpPr/>
            <p:nvPr/>
          </p:nvGrpSpPr>
          <p:grpSpPr>
            <a:xfrm>
              <a:off x="2860631" y="1562253"/>
              <a:ext cx="6907778" cy="726162"/>
              <a:chOff x="2454402" y="2992068"/>
              <a:chExt cx="5681334" cy="726162"/>
            </a:xfrm>
          </p:grpSpPr>
          <p:sp>
            <p:nvSpPr>
              <p:cNvPr id="33" name="Line 22">
                <a:extLst>
                  <a:ext uri="{FF2B5EF4-FFF2-40B4-BE49-F238E27FC236}">
                    <a16:creationId xmlns:a16="http://schemas.microsoft.com/office/drawing/2014/main" id="{FBFFC67F-F4D8-4547-A28E-290F525CE241}"/>
                  </a:ext>
                </a:extLst>
              </p:cNvPr>
              <p:cNvSpPr>
                <a:spLocks noChangeShapeType="1"/>
              </p:cNvSpPr>
              <p:nvPr/>
            </p:nvSpPr>
            <p:spPr bwMode="auto">
              <a:xfrm flipV="1">
                <a:off x="2454402" y="3341256"/>
                <a:ext cx="5079786" cy="27784"/>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4" name="AutoShape 26">
                <a:extLst>
                  <a:ext uri="{FF2B5EF4-FFF2-40B4-BE49-F238E27FC236}">
                    <a16:creationId xmlns:a16="http://schemas.microsoft.com/office/drawing/2014/main" id="{77570620-2FC3-48B6-9F96-86A0D1D5F677}"/>
                  </a:ext>
                </a:extLst>
              </p:cNvPr>
              <p:cNvSpPr>
                <a:spLocks noChangeArrowheads="1"/>
              </p:cNvSpPr>
              <p:nvPr/>
            </p:nvSpPr>
            <p:spPr bwMode="auto">
              <a:xfrm>
                <a:off x="2704271" y="2992068"/>
                <a:ext cx="5431465"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4.1 </a:t>
                </a:r>
                <a:r>
                  <a:rPr lang="zh-CN" altLang="en-US" sz="3200" dirty="0">
                    <a:solidFill>
                      <a:prstClr val="black"/>
                    </a:solidFill>
                    <a:latin typeface="微软雅黑" panose="020B0503020204020204" pitchFamily="34" charset="-122"/>
                    <a:ea typeface="微软雅黑" panose="020B0503020204020204" pitchFamily="34" charset="-122"/>
                  </a:rPr>
                  <a:t>机器人逆运动学基本概念</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30" name="组合 29">
              <a:extLst>
                <a:ext uri="{FF2B5EF4-FFF2-40B4-BE49-F238E27FC236}">
                  <a16:creationId xmlns:a16="http://schemas.microsoft.com/office/drawing/2014/main" id="{F568140B-0C1A-48AA-975B-4FCA525CAC4E}"/>
                </a:ext>
              </a:extLst>
            </p:cNvPr>
            <p:cNvGrpSpPr/>
            <p:nvPr/>
          </p:nvGrpSpPr>
          <p:grpSpPr>
            <a:xfrm>
              <a:off x="2277405" y="1670987"/>
              <a:ext cx="570676" cy="598244"/>
              <a:chOff x="4613213" y="3130275"/>
              <a:chExt cx="504000" cy="504000"/>
            </a:xfrm>
          </p:grpSpPr>
          <p:sp>
            <p:nvSpPr>
              <p:cNvPr id="31" name="椭圆 30">
                <a:extLst>
                  <a:ext uri="{FF2B5EF4-FFF2-40B4-BE49-F238E27FC236}">
                    <a16:creationId xmlns:a16="http://schemas.microsoft.com/office/drawing/2014/main" id="{2102F388-2398-4D82-9283-93B39764175E}"/>
                  </a:ext>
                </a:extLst>
              </p:cNvPr>
              <p:cNvSpPr/>
              <p:nvPr/>
            </p:nvSpPr>
            <p:spPr>
              <a:xfrm>
                <a:off x="4613213" y="3130275"/>
                <a:ext cx="504000" cy="504000"/>
              </a:xfrm>
              <a:prstGeom prst="ellips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2" name="Freeform 105">
                <a:extLst>
                  <a:ext uri="{FF2B5EF4-FFF2-40B4-BE49-F238E27FC236}">
                    <a16:creationId xmlns:a16="http://schemas.microsoft.com/office/drawing/2014/main" id="{D2EEBB1E-1FAD-44CA-8BD7-510FDBB6FCC0}"/>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35" name="组合 34">
            <a:extLst>
              <a:ext uri="{FF2B5EF4-FFF2-40B4-BE49-F238E27FC236}">
                <a16:creationId xmlns:a16="http://schemas.microsoft.com/office/drawing/2014/main" id="{D6AB12EA-01DB-493F-B7C7-9F4F987EE72B}"/>
              </a:ext>
            </a:extLst>
          </p:cNvPr>
          <p:cNvGrpSpPr/>
          <p:nvPr/>
        </p:nvGrpSpPr>
        <p:grpSpPr>
          <a:xfrm>
            <a:off x="2260412" y="4437112"/>
            <a:ext cx="7568660" cy="726162"/>
            <a:chOff x="675749" y="5334955"/>
            <a:chExt cx="7568660" cy="726162"/>
          </a:xfrm>
        </p:grpSpPr>
        <p:grpSp>
          <p:nvGrpSpPr>
            <p:cNvPr id="36" name="组合 35">
              <a:extLst>
                <a:ext uri="{FF2B5EF4-FFF2-40B4-BE49-F238E27FC236}">
                  <a16:creationId xmlns:a16="http://schemas.microsoft.com/office/drawing/2014/main" id="{9BCCC1A1-163D-4F97-8FDE-35CB1560A477}"/>
                </a:ext>
              </a:extLst>
            </p:cNvPr>
            <p:cNvGrpSpPr/>
            <p:nvPr/>
          </p:nvGrpSpPr>
          <p:grpSpPr>
            <a:xfrm>
              <a:off x="1259632" y="5334955"/>
              <a:ext cx="6984777" cy="726162"/>
              <a:chOff x="2454402" y="5958489"/>
              <a:chExt cx="5708740" cy="726162"/>
            </a:xfrm>
          </p:grpSpPr>
          <p:sp>
            <p:nvSpPr>
              <p:cNvPr id="40" name="Line 22">
                <a:extLst>
                  <a:ext uri="{FF2B5EF4-FFF2-40B4-BE49-F238E27FC236}">
                    <a16:creationId xmlns:a16="http://schemas.microsoft.com/office/drawing/2014/main" id="{202F0BDA-CAA4-4DDD-AB66-10FBC8BC6073}"/>
                  </a:ext>
                </a:extLst>
              </p:cNvPr>
              <p:cNvSpPr>
                <a:spLocks noChangeShapeType="1"/>
              </p:cNvSpPr>
              <p:nvPr/>
            </p:nvSpPr>
            <p:spPr bwMode="auto">
              <a:xfrm flipV="1">
                <a:off x="2454402" y="6327358"/>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F2C07A27-D057-4BE4-9BEC-2147847D5F7F}"/>
                  </a:ext>
                </a:extLst>
              </p:cNvPr>
              <p:cNvSpPr>
                <a:spLocks noChangeArrowheads="1"/>
              </p:cNvSpPr>
              <p:nvPr/>
            </p:nvSpPr>
            <p:spPr bwMode="auto">
              <a:xfrm>
                <a:off x="2731635" y="5958489"/>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i="0" kern="0" dirty="0">
                    <a:solidFill>
                      <a:prstClr val="black"/>
                    </a:solidFill>
                    <a:latin typeface="微软雅黑" panose="020B0503020204020204" pitchFamily="34" charset="-122"/>
                    <a:ea typeface="微软雅黑" panose="020B0503020204020204" pitchFamily="34" charset="-122"/>
                  </a:rPr>
                  <a:t>4.3 </a:t>
                </a:r>
                <a:r>
                  <a:rPr lang="zh-CN" altLang="en-US" sz="3200" i="0" dirty="0">
                    <a:solidFill>
                      <a:prstClr val="black"/>
                    </a:solidFill>
                    <a:latin typeface="微软雅黑" panose="020B0503020204020204" pitchFamily="34" charset="-122"/>
                    <a:ea typeface="微软雅黑" panose="020B0503020204020204" pitchFamily="34" charset="-122"/>
                  </a:rPr>
                  <a:t>机器人工作空间分析</a:t>
                </a:r>
                <a:endParaRPr lang="en-US" altLang="zh-CN" sz="3200" i="0" dirty="0">
                  <a:solidFill>
                    <a:prstClr val="black"/>
                  </a:solidFill>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9B5C857D-62F9-4433-B8CA-15C09EB01530}"/>
                </a:ext>
              </a:extLst>
            </p:cNvPr>
            <p:cNvGrpSpPr/>
            <p:nvPr/>
          </p:nvGrpSpPr>
          <p:grpSpPr>
            <a:xfrm>
              <a:off x="675749" y="5415699"/>
              <a:ext cx="570676" cy="598244"/>
              <a:chOff x="7982080" y="5312514"/>
              <a:chExt cx="504000" cy="504000"/>
            </a:xfrm>
          </p:grpSpPr>
          <p:sp>
            <p:nvSpPr>
              <p:cNvPr id="38" name="椭圆 37">
                <a:extLst>
                  <a:ext uri="{FF2B5EF4-FFF2-40B4-BE49-F238E27FC236}">
                    <a16:creationId xmlns:a16="http://schemas.microsoft.com/office/drawing/2014/main" id="{6338DBC9-F872-4F02-B898-1180B8CC3480}"/>
                  </a:ext>
                </a:extLst>
              </p:cNvPr>
              <p:cNvSpPr/>
              <p:nvPr/>
            </p:nvSpPr>
            <p:spPr>
              <a:xfrm>
                <a:off x="7982080" y="5312514"/>
                <a:ext cx="504000" cy="504000"/>
              </a:xfrm>
              <a:prstGeom prst="ellips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9" name="Freeform 96">
                <a:extLst>
                  <a:ext uri="{FF2B5EF4-FFF2-40B4-BE49-F238E27FC236}">
                    <a16:creationId xmlns:a16="http://schemas.microsoft.com/office/drawing/2014/main" id="{F3473415-2A93-4E32-8B9F-4AACB4BB9EB3}"/>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Tree>
    <p:extLst>
      <p:ext uri="{BB962C8B-B14F-4D97-AF65-F5344CB8AC3E}">
        <p14:creationId xmlns:p14="http://schemas.microsoft.com/office/powerpoint/2010/main" val="243860115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C2B4BD3-9B5E-4940-956F-DF774D95E0F7}"/>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5</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00AF3D82-03BC-4567-AD50-FDEFBF66FB80}"/>
              </a:ext>
            </a:extLst>
          </p:cNvPr>
          <p:cNvSpPr txBox="1"/>
          <p:nvPr/>
        </p:nvSpPr>
        <p:spPr>
          <a:xfrm>
            <a:off x="0" y="33341"/>
            <a:ext cx="7700965"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机器人逆运动学求取方法</a:t>
            </a:r>
          </a:p>
        </p:txBody>
      </p:sp>
      <p:sp>
        <p:nvSpPr>
          <p:cNvPr id="6" name="文本框 5">
            <a:extLst>
              <a:ext uri="{FF2B5EF4-FFF2-40B4-BE49-F238E27FC236}">
                <a16:creationId xmlns:a16="http://schemas.microsoft.com/office/drawing/2014/main" id="{83775A31-82BB-4FBF-94F2-FABE45D75C2E}"/>
              </a:ext>
            </a:extLst>
          </p:cNvPr>
          <p:cNvSpPr txBox="1"/>
          <p:nvPr/>
        </p:nvSpPr>
        <p:spPr>
          <a:xfrm>
            <a:off x="839416" y="1124744"/>
            <a:ext cx="9937104" cy="5305427"/>
          </a:xfrm>
          <a:prstGeom prst="rect">
            <a:avLst/>
          </a:prstGeom>
          <a:noFill/>
        </p:spPr>
        <p:txBody>
          <a:bodyPr wrap="square" rtlCol="0">
            <a:spAutoFit/>
          </a:bodyPr>
          <a:lstStyle/>
          <a:p>
            <a:pPr marL="342900" indent="-342900">
              <a:lnSpc>
                <a:spcPct val="200000"/>
              </a:lnSpc>
              <a:spcBef>
                <a:spcPts val="600"/>
              </a:spcBef>
              <a:buFont typeface="Wingdings" panose="05000000000000000000" pitchFamily="2" charset="2"/>
              <a:buChar char="n"/>
            </a:pPr>
            <a:r>
              <a:rPr lang="zh-CN" altLang="en-US" sz="2600" b="1" i="0" dirty="0">
                <a:latin typeface="微软雅黑" panose="020B0503020204020204" pitchFamily="34" charset="-122"/>
                <a:ea typeface="微软雅黑" panose="020B0503020204020204" pitchFamily="34" charset="-122"/>
              </a:rPr>
              <a:t>机器人逆运动学求取方法：</a:t>
            </a:r>
            <a:endParaRPr lang="en-US" altLang="zh-CN" sz="2600" b="1" i="0" dirty="0">
              <a:latin typeface="微软雅黑" panose="020B0503020204020204" pitchFamily="34" charset="-122"/>
              <a:ea typeface="微软雅黑" panose="020B0503020204020204" pitchFamily="34" charset="-122"/>
            </a:endParaRPr>
          </a:p>
          <a:p>
            <a:pPr marL="800100" lvl="1" indent="-342900">
              <a:lnSpc>
                <a:spcPct val="200000"/>
              </a:lnSpc>
              <a:spcBef>
                <a:spcPts val="600"/>
              </a:spcBef>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代数法：</a:t>
            </a:r>
            <a:r>
              <a:rPr lang="zh-CN" altLang="en-US" sz="2400" i="0" dirty="0">
                <a:latin typeface="微软雅黑" panose="020B0503020204020204" pitchFamily="34" charset="-122"/>
                <a:ea typeface="微软雅黑" panose="020B0503020204020204" pitchFamily="34" charset="-122"/>
              </a:rPr>
              <a:t>直接从正运动学推导出的齐次变换阵出发进行求解</a:t>
            </a:r>
            <a:endParaRPr lang="en-US" altLang="zh-CN" sz="2400" i="0" dirty="0">
              <a:latin typeface="微软雅黑" panose="020B0503020204020204" pitchFamily="34" charset="-122"/>
              <a:ea typeface="微软雅黑" panose="020B0503020204020204" pitchFamily="34" charset="-122"/>
            </a:endParaRPr>
          </a:p>
          <a:p>
            <a:pPr marL="800100" lvl="1" indent="-342900">
              <a:lnSpc>
                <a:spcPct val="200000"/>
              </a:lnSpc>
              <a:spcBef>
                <a:spcPts val="600"/>
              </a:spcBef>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几何法：</a:t>
            </a:r>
            <a:r>
              <a:rPr lang="zh-CN" altLang="en-US" sz="2400" i="0" dirty="0">
                <a:latin typeface="微软雅黑" panose="020B0503020204020204" pitchFamily="34" charset="-122"/>
                <a:ea typeface="微软雅黑" panose="020B0503020204020204" pitchFamily="34" charset="-122"/>
              </a:rPr>
              <a:t>先不关注机器人变换矩阵，从机器人空间构型出发，利用空间解析几何求解，将未知数维度进行降维，之后利用降维后的变换阵求解剩余关节角。</a:t>
            </a:r>
            <a:endParaRPr lang="en-US" altLang="zh-CN" sz="2400" i="0" dirty="0">
              <a:latin typeface="微软雅黑" panose="020B0503020204020204" pitchFamily="34" charset="-122"/>
              <a:ea typeface="微软雅黑" panose="020B0503020204020204" pitchFamily="34" charset="-122"/>
            </a:endParaRPr>
          </a:p>
          <a:p>
            <a:pPr marL="800100" lvl="1" indent="-342900">
              <a:lnSpc>
                <a:spcPct val="200000"/>
              </a:lnSpc>
              <a:spcBef>
                <a:spcPts val="600"/>
              </a:spcBef>
              <a:buFont typeface="Wingdings" panose="05000000000000000000" pitchFamily="2" charset="2"/>
              <a:buChar char="p"/>
            </a:pPr>
            <a:r>
              <a:rPr lang="zh-CN" altLang="en-US" sz="2400" b="1" i="0" dirty="0">
                <a:latin typeface="微软雅黑" panose="020B0503020204020204" pitchFamily="34" charset="-122"/>
                <a:ea typeface="微软雅黑" panose="020B0503020204020204" pitchFamily="34" charset="-122"/>
              </a:rPr>
              <a:t>数值法：</a:t>
            </a:r>
            <a:r>
              <a:rPr lang="zh-CN" altLang="en-US" sz="2400" i="0" dirty="0">
                <a:latin typeface="微软雅黑" panose="020B0503020204020204" pitchFamily="34" charset="-122"/>
                <a:ea typeface="微软雅黑" panose="020B0503020204020204" pitchFamily="34" charset="-122"/>
              </a:rPr>
              <a:t>利用迭代搜索方法求取近似解</a:t>
            </a:r>
            <a:r>
              <a:rPr lang="en-US" altLang="zh-CN" sz="2400" i="0" dirty="0">
                <a:latin typeface="微软雅黑" panose="020B0503020204020204" pitchFamily="34" charset="-122"/>
                <a:ea typeface="微软雅黑" panose="020B0503020204020204" pitchFamily="34" charset="-122"/>
              </a:rPr>
              <a:t>—</a:t>
            </a:r>
            <a:r>
              <a:rPr lang="zh-CN" altLang="en-US" sz="2400" i="0" dirty="0">
                <a:latin typeface="微软雅黑" panose="020B0503020204020204" pitchFamily="34" charset="-122"/>
                <a:ea typeface="微软雅黑" panose="020B0503020204020204" pitchFamily="34" charset="-122"/>
              </a:rPr>
              <a:t>如何优化迭代方向和步长</a:t>
            </a:r>
            <a:endParaRPr lang="en-US" altLang="zh-CN" sz="2400" i="0" dirty="0">
              <a:latin typeface="微软雅黑" panose="020B0503020204020204" pitchFamily="34" charset="-122"/>
              <a:ea typeface="微软雅黑" panose="020B0503020204020204" pitchFamily="34" charset="-122"/>
            </a:endParaRPr>
          </a:p>
          <a:p>
            <a:pPr>
              <a:lnSpc>
                <a:spcPct val="150000"/>
              </a:lnSpc>
            </a:pPr>
            <a:endParaRPr lang="zh-CN" altLang="en-US" sz="2400"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3493831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1000"/>
                                        <p:tgtEl>
                                          <p:spTgt spid="6">
                                            <p:txEl>
                                              <p:pRg st="3" end="3"/>
                                            </p:txEl>
                                          </p:spTgt>
                                        </p:tgtEl>
                                      </p:cBhvr>
                                    </p:animEffect>
                                    <p:anim calcmode="lin" valueType="num">
                                      <p:cBhvr>
                                        <p:cTn id="2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6F615B5-B877-4E04-85C3-2B5C1E6E640D}"/>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6</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593307EF-46DA-452B-84F4-D5A89FF9D156}"/>
              </a:ext>
            </a:extLst>
          </p:cNvPr>
          <p:cNvPicPr>
            <a:picLocks noChangeAspect="1"/>
          </p:cNvPicPr>
          <p:nvPr/>
        </p:nvPicPr>
        <p:blipFill rotWithShape="1">
          <a:blip r:embed="rId3"/>
          <a:srcRect l="49548" t="51055" r="25475" b="45471"/>
          <a:stretch/>
        </p:blipFill>
        <p:spPr>
          <a:xfrm>
            <a:off x="2626715" y="5473560"/>
            <a:ext cx="7345230" cy="574662"/>
          </a:xfrm>
          <a:prstGeom prst="rect">
            <a:avLst/>
          </a:prstGeom>
        </p:spPr>
      </p:pic>
      <p:pic>
        <p:nvPicPr>
          <p:cNvPr id="4" name="图片 3">
            <a:extLst>
              <a:ext uri="{FF2B5EF4-FFF2-40B4-BE49-F238E27FC236}">
                <a16:creationId xmlns:a16="http://schemas.microsoft.com/office/drawing/2014/main" id="{8AE18617-1AE3-44CE-B228-64F1F7F2C588}"/>
              </a:ext>
            </a:extLst>
          </p:cNvPr>
          <p:cNvPicPr>
            <a:picLocks noChangeAspect="1"/>
          </p:cNvPicPr>
          <p:nvPr/>
        </p:nvPicPr>
        <p:blipFill rotWithShape="1">
          <a:blip r:embed="rId4"/>
          <a:srcRect l="56066" t="56746" r="32283" b="39755"/>
          <a:stretch/>
        </p:blipFill>
        <p:spPr>
          <a:xfrm>
            <a:off x="1795972" y="3437000"/>
            <a:ext cx="3402254" cy="574662"/>
          </a:xfrm>
          <a:prstGeom prst="rect">
            <a:avLst/>
          </a:prstGeom>
        </p:spPr>
      </p:pic>
      <p:sp>
        <p:nvSpPr>
          <p:cNvPr id="6" name="文本框 5">
            <a:extLst>
              <a:ext uri="{FF2B5EF4-FFF2-40B4-BE49-F238E27FC236}">
                <a16:creationId xmlns:a16="http://schemas.microsoft.com/office/drawing/2014/main" id="{126573E1-E8C8-486C-9C53-B1F9DBE44297}"/>
              </a:ext>
            </a:extLst>
          </p:cNvPr>
          <p:cNvSpPr txBox="1"/>
          <p:nvPr/>
        </p:nvSpPr>
        <p:spPr>
          <a:xfrm>
            <a:off x="4704560" y="4939762"/>
            <a:ext cx="240963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，可得</a:t>
            </a:r>
            <a:r>
              <a:rPr lang="en-US" altLang="zh-CN" sz="2400" b="1" dirty="0">
                <a:latin typeface="微软雅黑" panose="020B0503020204020204" pitchFamily="34" charset="-122"/>
                <a:ea typeface="微软雅黑" panose="020B0503020204020204" pitchFamily="34" charset="-122"/>
              </a:rPr>
              <a:t>12</a:t>
            </a:r>
            <a:r>
              <a:rPr lang="zh-CN" altLang="en-US" sz="2400" b="1" dirty="0">
                <a:latin typeface="微软雅黑" panose="020B0503020204020204" pitchFamily="34" charset="-122"/>
                <a:ea typeface="微软雅黑" panose="020B0503020204020204" pitchFamily="34" charset="-122"/>
              </a:rPr>
              <a:t>个方程</a:t>
            </a:r>
          </a:p>
        </p:txBody>
      </p:sp>
      <p:sp>
        <p:nvSpPr>
          <p:cNvPr id="7" name="矩形 6">
            <a:extLst>
              <a:ext uri="{FF2B5EF4-FFF2-40B4-BE49-F238E27FC236}">
                <a16:creationId xmlns:a16="http://schemas.microsoft.com/office/drawing/2014/main" id="{31FFA6B2-A68C-49C7-8437-DCA7DB17C27E}"/>
              </a:ext>
            </a:extLst>
          </p:cNvPr>
          <p:cNvSpPr/>
          <p:nvPr/>
        </p:nvSpPr>
        <p:spPr>
          <a:xfrm>
            <a:off x="10418493" y="4071240"/>
            <a:ext cx="1079394" cy="439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EE0FDC8-82F7-4A98-AC0C-312C19800050}"/>
              </a:ext>
            </a:extLst>
          </p:cNvPr>
          <p:cNvSpPr txBox="1"/>
          <p:nvPr/>
        </p:nvSpPr>
        <p:spPr>
          <a:xfrm>
            <a:off x="995753" y="4215408"/>
            <a:ext cx="412324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求解 </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，即为</a:t>
            </a:r>
            <a:r>
              <a:rPr lang="zh-CN" altLang="en-US" sz="2400" b="1" dirty="0">
                <a:latin typeface="微软雅黑" panose="020B0503020204020204" pitchFamily="34" charset="-122"/>
                <a:ea typeface="微软雅黑" panose="020B0503020204020204" pitchFamily="34" charset="-122"/>
              </a:rPr>
              <a:t>机器人逆运动学</a:t>
            </a:r>
          </a:p>
        </p:txBody>
      </p:sp>
      <p:sp>
        <p:nvSpPr>
          <p:cNvPr id="9" name="文本框 8">
            <a:extLst>
              <a:ext uri="{FF2B5EF4-FFF2-40B4-BE49-F238E27FC236}">
                <a16:creationId xmlns:a16="http://schemas.microsoft.com/office/drawing/2014/main" id="{65A7F31A-DF43-422F-8D74-B3DA72F74220}"/>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机器人逆运动学求取方法：</a:t>
            </a:r>
            <a:r>
              <a:rPr lang="en-US" altLang="zh-CN" sz="3200" b="1" dirty="0">
                <a:solidFill>
                  <a:srgbClr val="9D1317"/>
                </a:solidFill>
                <a:latin typeface="微软雅黑" panose="020B0503020204020204" pitchFamily="34" charset="-122"/>
                <a:ea typeface="微软雅黑" panose="020B0503020204020204" pitchFamily="34" charset="-122"/>
              </a:rPr>
              <a:t>1</a:t>
            </a:r>
            <a:r>
              <a:rPr lang="zh-CN" altLang="en-US" sz="3200" b="1" dirty="0">
                <a:solidFill>
                  <a:srgbClr val="9D1317"/>
                </a:solidFill>
                <a:latin typeface="微软雅黑" panose="020B0503020204020204" pitchFamily="34" charset="-122"/>
                <a:ea typeface="微软雅黑" panose="020B0503020204020204" pitchFamily="34" charset="-122"/>
              </a:rPr>
              <a:t>）代数法</a:t>
            </a:r>
            <a:endParaRPr lang="zh-CN" altLang="en-US" sz="2800" b="1" dirty="0">
              <a:solidFill>
                <a:srgbClr val="9D1317"/>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03568C1-5E65-4E78-82B3-2EB257F040B7}"/>
              </a:ext>
            </a:extLst>
          </p:cNvPr>
          <p:cNvSpPr txBox="1"/>
          <p:nvPr/>
        </p:nvSpPr>
        <p:spPr>
          <a:xfrm>
            <a:off x="941785" y="1319979"/>
            <a:ext cx="2646878"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已知期望位姿矩阵</a:t>
            </a: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F02AF628-5456-4F92-A460-5DAC60F66C9B}"/>
                  </a:ext>
                </a:extLst>
              </p:cNvPr>
              <p:cNvSpPr/>
              <p:nvPr/>
            </p:nvSpPr>
            <p:spPr>
              <a:xfrm>
                <a:off x="3837973" y="814842"/>
                <a:ext cx="3983932" cy="1471941"/>
              </a:xfrm>
              <a:prstGeom prst="rect">
                <a:avLst/>
              </a:prstGeom>
            </p:spPr>
            <p:txBody>
              <a:bodyPr wrap="square">
                <a:spAutoFit/>
              </a:bodyPr>
              <a:lstStyle/>
              <a:p>
                <a:r>
                  <a:rPr lang="en-US" altLang="zh-CN" sz="2400" i="1" dirty="0">
                    <a:latin typeface="Times New Roman" panose="02020603050405020304" pitchFamily="18" charset="0"/>
                    <a:cs typeface="Times New Roman" panose="02020603050405020304" pitchFamily="18" charset="0"/>
                  </a:rPr>
                  <a:t>H</a:t>
                </a:r>
                <a14:m>
                  <m:oMath xmlns:m="http://schemas.openxmlformats.org/officeDocument/2006/math">
                    <m:r>
                      <a:rPr lang="en-US" altLang="zh-CN" sz="2400" smtClean="0">
                        <a:latin typeface="Cambria Math" panose="02040503050406030204" pitchFamily="18" charset="0"/>
                      </a:rPr>
                      <m:t>=</m:t>
                    </m:r>
                    <m:d>
                      <m:dPr>
                        <m:ctrlPr>
                          <a:rPr lang="zh-CN" altLang="en-US" sz="2400" i="1">
                            <a:latin typeface="Cambria Math" panose="02040503050406030204" pitchFamily="18" charset="0"/>
                          </a:rPr>
                        </m:ctrlPr>
                      </m:dPr>
                      <m:e>
                        <m:m>
                          <m:mPr>
                            <m:plcHide m:val="on"/>
                            <m:mcs>
                              <m:mc>
                                <m:mcPr>
                                  <m:count m:val="4"/>
                                  <m:mcJc m:val="center"/>
                                </m:mcPr>
                              </m:mc>
                            </m:mcs>
                            <m:ctrlPr>
                              <a:rPr lang="zh-CN" altLang="en-US" sz="2400" i="1">
                                <a:latin typeface="Cambria Math" panose="02040503050406030204" pitchFamily="18" charset="0"/>
                              </a:rPr>
                            </m:ctrlPr>
                          </m:mPr>
                          <m:mr>
                            <m:e>
                              <m:r>
                                <m:rPr>
                                  <m:sty m:val="p"/>
                                </m:rPr>
                                <a:rPr lang="zh-CN" altLang="en-US" sz="2400">
                                  <a:latin typeface="Cambria Math" panose="02040503050406030204" pitchFamily="18" charset="0"/>
                                </a:rPr>
                                <m:t>r</m:t>
                              </m:r>
                              <m:r>
                                <a:rPr lang="zh-CN" altLang="en-US" sz="2400">
                                  <a:latin typeface="Cambria Math" panose="02040503050406030204" pitchFamily="18" charset="0"/>
                                </a:rPr>
                                <m:t>11</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12</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13</m:t>
                              </m:r>
                            </m:e>
                            <m:e>
                              <m:r>
                                <m:rPr>
                                  <m:sty m:val="p"/>
                                </m:rPr>
                                <a:rPr lang="zh-CN" altLang="en-US" sz="2400" i="0">
                                  <a:latin typeface="Cambria Math" panose="02040503050406030204" pitchFamily="18" charset="0"/>
                                </a:rPr>
                                <m:t>px</m:t>
                              </m:r>
                            </m:e>
                          </m:mr>
                          <m:mr>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21</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22</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23</m:t>
                              </m:r>
                            </m:e>
                            <m:e>
                              <m:r>
                                <m:rPr>
                                  <m:sty m:val="p"/>
                                </m:rPr>
                                <a:rPr lang="zh-CN" altLang="en-US" sz="2400" i="0">
                                  <a:latin typeface="Cambria Math" panose="02040503050406030204" pitchFamily="18" charset="0"/>
                                </a:rPr>
                                <m:t>py</m:t>
                              </m:r>
                            </m:e>
                          </m:mr>
                          <m:mr>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31</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32</m:t>
                              </m:r>
                            </m:e>
                            <m:e>
                              <m:r>
                                <m:rPr>
                                  <m:sty m:val="p"/>
                                </m:rPr>
                                <a:rPr lang="zh-CN" altLang="en-US" sz="2400" i="0">
                                  <a:latin typeface="Cambria Math" panose="02040503050406030204" pitchFamily="18" charset="0"/>
                                </a:rPr>
                                <m:t>r</m:t>
                              </m:r>
                              <m:r>
                                <a:rPr lang="zh-CN" altLang="en-US" sz="2400" i="0">
                                  <a:latin typeface="Cambria Math" panose="02040503050406030204" pitchFamily="18" charset="0"/>
                                </a:rPr>
                                <m:t>33</m:t>
                              </m:r>
                            </m:e>
                            <m:e>
                              <m:r>
                                <m:rPr>
                                  <m:sty m:val="p"/>
                                </m:rPr>
                                <a:rPr lang="zh-CN" altLang="en-US" sz="2400" i="0">
                                  <a:latin typeface="Cambria Math" panose="02040503050406030204" pitchFamily="18" charset="0"/>
                                </a:rPr>
                                <m:t>pz</m:t>
                              </m:r>
                            </m:e>
                          </m:mr>
                          <m:mr>
                            <m:e>
                              <m:r>
                                <a:rPr lang="zh-CN" altLang="en-US" sz="2400" i="0">
                                  <a:latin typeface="Cambria Math" panose="02040503050406030204" pitchFamily="18" charset="0"/>
                                </a:rPr>
                                <m:t>0</m:t>
                              </m:r>
                            </m:e>
                            <m:e>
                              <m:r>
                                <a:rPr lang="zh-CN" altLang="en-US" sz="2400" i="0">
                                  <a:latin typeface="Cambria Math" panose="02040503050406030204" pitchFamily="18" charset="0"/>
                                </a:rPr>
                                <m:t>0</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oMath>
                </a14:m>
                <a:endParaRPr lang="zh-CN" altLang="en-US" sz="2400" dirty="0"/>
              </a:p>
            </p:txBody>
          </p:sp>
        </mc:Choice>
        <mc:Fallback xmlns="">
          <p:sp>
            <p:nvSpPr>
              <p:cNvPr id="14" name="矩形 13">
                <a:extLst>
                  <a:ext uri="{FF2B5EF4-FFF2-40B4-BE49-F238E27FC236}">
                    <a16:creationId xmlns:a16="http://schemas.microsoft.com/office/drawing/2014/main" id="{F02AF628-5456-4F92-A460-5DAC60F66C9B}"/>
                  </a:ext>
                </a:extLst>
              </p:cNvPr>
              <p:cNvSpPr>
                <a:spLocks noRot="1" noChangeAspect="1" noMove="1" noResize="1" noEditPoints="1" noAdjustHandles="1" noChangeArrowheads="1" noChangeShapeType="1" noTextEdit="1"/>
              </p:cNvSpPr>
              <p:nvPr/>
            </p:nvSpPr>
            <p:spPr>
              <a:xfrm>
                <a:off x="3837973" y="814842"/>
                <a:ext cx="3983932" cy="1471941"/>
              </a:xfrm>
              <a:prstGeom prst="rect">
                <a:avLst/>
              </a:prstGeom>
              <a:blipFill>
                <a:blip r:embed="rId5"/>
                <a:stretch>
                  <a:fillRect l="-2450"/>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8D9E7D46-801D-45E0-9A9C-516F584A1278}"/>
              </a:ext>
            </a:extLst>
          </p:cNvPr>
          <p:cNvSpPr txBox="1"/>
          <p:nvPr/>
        </p:nvSpPr>
        <p:spPr>
          <a:xfrm>
            <a:off x="941785" y="2631868"/>
            <a:ext cx="387798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已知机器人正运动学方程：</a:t>
            </a:r>
          </a:p>
        </p:txBody>
      </p:sp>
      <p:pic>
        <p:nvPicPr>
          <p:cNvPr id="16" name="图片 15">
            <a:extLst>
              <a:ext uri="{FF2B5EF4-FFF2-40B4-BE49-F238E27FC236}">
                <a16:creationId xmlns:a16="http://schemas.microsoft.com/office/drawing/2014/main" id="{6858B556-DC59-447E-A936-F6DDAC0C42AE}"/>
              </a:ext>
            </a:extLst>
          </p:cNvPr>
          <p:cNvPicPr>
            <a:picLocks noChangeAspect="1"/>
          </p:cNvPicPr>
          <p:nvPr/>
        </p:nvPicPr>
        <p:blipFill rotWithShape="1">
          <a:blip r:embed="rId4"/>
          <a:srcRect l="56066" t="56746" r="36506" b="39755"/>
          <a:stretch/>
        </p:blipFill>
        <p:spPr>
          <a:xfrm>
            <a:off x="4546301" y="2615871"/>
            <a:ext cx="2169005" cy="574662"/>
          </a:xfrm>
          <a:prstGeom prst="rect">
            <a:avLst/>
          </a:prstGeom>
        </p:spPr>
      </p:pic>
      <p:sp>
        <p:nvSpPr>
          <p:cNvPr id="17" name="文本框 16">
            <a:extLst>
              <a:ext uri="{FF2B5EF4-FFF2-40B4-BE49-F238E27FC236}">
                <a16:creationId xmlns:a16="http://schemas.microsoft.com/office/drawing/2014/main" id="{F249CAC2-4DDC-4F0D-B44D-74F29DC499B5}"/>
              </a:ext>
            </a:extLst>
          </p:cNvPr>
          <p:cNvSpPr txBox="1"/>
          <p:nvPr/>
        </p:nvSpPr>
        <p:spPr>
          <a:xfrm>
            <a:off x="995753" y="3461186"/>
            <a:ext cx="80021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令：</a:t>
            </a:r>
          </a:p>
        </p:txBody>
      </p:sp>
      <p:pic>
        <p:nvPicPr>
          <p:cNvPr id="18" name="图片 17">
            <a:extLst>
              <a:ext uri="{FF2B5EF4-FFF2-40B4-BE49-F238E27FC236}">
                <a16:creationId xmlns:a16="http://schemas.microsoft.com/office/drawing/2014/main" id="{55AB984D-0396-4F0A-9920-BF2794A3733C}"/>
              </a:ext>
            </a:extLst>
          </p:cNvPr>
          <p:cNvPicPr>
            <a:picLocks noChangeAspect="1"/>
          </p:cNvPicPr>
          <p:nvPr/>
        </p:nvPicPr>
        <p:blipFill rotWithShape="1">
          <a:blip r:embed="rId4"/>
          <a:srcRect l="56066" t="56746" r="32283" b="39755"/>
          <a:stretch/>
        </p:blipFill>
        <p:spPr>
          <a:xfrm>
            <a:off x="1400836" y="4943827"/>
            <a:ext cx="3402254" cy="574662"/>
          </a:xfrm>
          <a:prstGeom prst="rect">
            <a:avLst/>
          </a:prstGeom>
        </p:spPr>
      </p:pic>
      <p:sp>
        <p:nvSpPr>
          <p:cNvPr id="19" name="文本框 18">
            <a:extLst>
              <a:ext uri="{FF2B5EF4-FFF2-40B4-BE49-F238E27FC236}">
                <a16:creationId xmlns:a16="http://schemas.microsoft.com/office/drawing/2014/main" id="{EB80B470-076F-41A3-AFFC-D1FFD5634414}"/>
              </a:ext>
            </a:extLst>
          </p:cNvPr>
          <p:cNvSpPr txBox="1"/>
          <p:nvPr/>
        </p:nvSpPr>
        <p:spPr>
          <a:xfrm>
            <a:off x="995753" y="4946289"/>
            <a:ext cx="492443"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由</a:t>
            </a:r>
          </a:p>
        </p:txBody>
      </p:sp>
      <p:sp>
        <p:nvSpPr>
          <p:cNvPr id="20" name="文本框 19">
            <a:extLst>
              <a:ext uri="{FF2B5EF4-FFF2-40B4-BE49-F238E27FC236}">
                <a16:creationId xmlns:a16="http://schemas.microsoft.com/office/drawing/2014/main" id="{6F3632AE-AFAA-46F3-B0FB-1547A4D511AE}"/>
              </a:ext>
            </a:extLst>
          </p:cNvPr>
          <p:cNvSpPr txBox="1"/>
          <p:nvPr/>
        </p:nvSpPr>
        <p:spPr>
          <a:xfrm>
            <a:off x="995753" y="6076415"/>
            <a:ext cx="54473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通过这</a:t>
            </a:r>
            <a:r>
              <a:rPr lang="en-US" altLang="zh-CN" sz="2400" b="1" dirty="0">
                <a:latin typeface="微软雅黑" panose="020B0503020204020204" pitchFamily="34" charset="-122"/>
                <a:ea typeface="微软雅黑" panose="020B0503020204020204" pitchFamily="34" charset="-122"/>
              </a:rPr>
              <a:t>12</a:t>
            </a:r>
            <a:r>
              <a:rPr lang="zh-CN" altLang="en-US" sz="2400" b="1" dirty="0">
                <a:latin typeface="微软雅黑" panose="020B0503020204020204" pitchFamily="34" charset="-122"/>
                <a:ea typeface="微软雅黑" panose="020B0503020204020204" pitchFamily="34" charset="-122"/>
              </a:rPr>
              <a:t>个方程，求解出</a:t>
            </a:r>
            <a:r>
              <a:rPr lang="en-US" altLang="zh-CN" sz="2400" b="1" i="1" dirty="0">
                <a:latin typeface="微软雅黑" panose="020B0503020204020204" pitchFamily="34" charset="-122"/>
                <a:ea typeface="微软雅黑" panose="020B0503020204020204" pitchFamily="34" charset="-122"/>
              </a:rPr>
              <a:t>q</a:t>
            </a:r>
            <a:r>
              <a:rPr lang="en-US" altLang="zh-CN" sz="2400" b="1" baseline="-25000" dirty="0">
                <a:latin typeface="微软雅黑" panose="020B0503020204020204" pitchFamily="34" charset="-122"/>
                <a:ea typeface="微软雅黑" panose="020B0503020204020204" pitchFamily="34" charset="-122"/>
              </a:rPr>
              <a:t>1</a:t>
            </a:r>
            <a:r>
              <a:rPr lang="en-US" altLang="zh-CN" sz="2400" b="1" dirty="0">
                <a:latin typeface="微软雅黑" panose="020B0503020204020204" pitchFamily="34" charset="-122"/>
                <a:ea typeface="微软雅黑" panose="020B0503020204020204" pitchFamily="34" charset="-122"/>
              </a:rPr>
              <a:t>,</a:t>
            </a:r>
            <a:r>
              <a:rPr lang="en-US" altLang="zh-CN" sz="2400" b="1" i="1" dirty="0">
                <a:latin typeface="微软雅黑" panose="020B0503020204020204" pitchFamily="34" charset="-122"/>
                <a:ea typeface="微软雅黑" panose="020B0503020204020204" pitchFamily="34" charset="-122"/>
              </a:rPr>
              <a:t> q</a:t>
            </a:r>
            <a:r>
              <a:rPr lang="en-US" altLang="zh-CN" sz="2400" b="1" baseline="-25000" dirty="0">
                <a:latin typeface="微软雅黑" panose="020B0503020204020204" pitchFamily="34" charset="-122"/>
                <a:ea typeface="微软雅黑" panose="020B0503020204020204" pitchFamily="34" charset="-122"/>
              </a:rPr>
              <a:t>2</a:t>
            </a:r>
            <a:r>
              <a:rPr lang="en-US" altLang="zh-CN" sz="2400" b="1" dirty="0">
                <a:latin typeface="微软雅黑" panose="020B0503020204020204" pitchFamily="34" charset="-122"/>
                <a:ea typeface="微软雅黑" panose="020B0503020204020204" pitchFamily="34" charset="-122"/>
              </a:rPr>
              <a:t>,…</a:t>
            </a:r>
            <a:r>
              <a:rPr lang="en-US" altLang="zh-CN" sz="2400" b="1" i="1" dirty="0">
                <a:latin typeface="微软雅黑" panose="020B0503020204020204" pitchFamily="34" charset="-122"/>
                <a:ea typeface="微软雅黑" panose="020B0503020204020204" pitchFamily="34" charset="-122"/>
              </a:rPr>
              <a:t> </a:t>
            </a:r>
            <a:r>
              <a:rPr lang="en-US" altLang="zh-CN" sz="2400" b="1" i="1" dirty="0" err="1">
                <a:latin typeface="微软雅黑" panose="020B0503020204020204" pitchFamily="34" charset="-122"/>
                <a:ea typeface="微软雅黑" panose="020B0503020204020204" pitchFamily="34" charset="-122"/>
              </a:rPr>
              <a:t>q</a:t>
            </a:r>
            <a:r>
              <a:rPr lang="en-US" altLang="zh-CN" sz="2400" b="1" i="1" baseline="-25000" dirty="0" err="1">
                <a:latin typeface="微软雅黑" panose="020B0503020204020204" pitchFamily="34" charset="-122"/>
                <a:ea typeface="微软雅黑" panose="020B0503020204020204" pitchFamily="34" charset="-122"/>
              </a:rPr>
              <a:t>n</a:t>
            </a:r>
            <a:r>
              <a:rPr lang="en-US" altLang="zh-CN" sz="2400" b="1" i="1" baseline="-25000" dirty="0">
                <a:latin typeface="微软雅黑" panose="020B0503020204020204" pitchFamily="34" charset="-122"/>
                <a:ea typeface="微软雅黑" panose="020B0503020204020204" pitchFamily="34" charset="-122"/>
              </a:rPr>
              <a:t> </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122711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ppt_x"/>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5" grpId="0"/>
      <p:bldP spid="17"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94EEF81-10C3-4CBC-AEB9-D34068636BBB}"/>
              </a:ext>
            </a:extLst>
          </p:cNvPr>
          <p:cNvPicPr>
            <a:picLocks noChangeAspect="1"/>
          </p:cNvPicPr>
          <p:nvPr/>
        </p:nvPicPr>
        <p:blipFill>
          <a:blip r:embed="rId3"/>
          <a:stretch>
            <a:fillRect/>
          </a:stretch>
        </p:blipFill>
        <p:spPr>
          <a:xfrm>
            <a:off x="6768378" y="726468"/>
            <a:ext cx="3104108" cy="3960440"/>
          </a:xfrm>
          <a:prstGeom prst="rect">
            <a:avLst/>
          </a:prstGeom>
        </p:spPr>
      </p:pic>
      <p:cxnSp>
        <p:nvCxnSpPr>
          <p:cNvPr id="6" name="直接箭头连接符 5">
            <a:extLst>
              <a:ext uri="{FF2B5EF4-FFF2-40B4-BE49-F238E27FC236}">
                <a16:creationId xmlns:a16="http://schemas.microsoft.com/office/drawing/2014/main" id="{9D580501-252A-4289-9225-1BB2CFCEF7F9}"/>
              </a:ext>
            </a:extLst>
          </p:cNvPr>
          <p:cNvCxnSpPr>
            <a:cxnSpLocks/>
          </p:cNvCxnSpPr>
          <p:nvPr/>
        </p:nvCxnSpPr>
        <p:spPr>
          <a:xfrm>
            <a:off x="7200426" y="4358488"/>
            <a:ext cx="936104" cy="656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A9E2520E-2B38-41CC-94F6-D269500D13C0}"/>
              </a:ext>
            </a:extLst>
          </p:cNvPr>
          <p:cNvCxnSpPr>
            <a:cxnSpLocks/>
          </p:cNvCxnSpPr>
          <p:nvPr/>
        </p:nvCxnSpPr>
        <p:spPr>
          <a:xfrm flipV="1">
            <a:off x="7200426" y="3966828"/>
            <a:ext cx="864096" cy="39822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90A5EF50-E064-4A34-9256-9F4B5D0BAAF0}"/>
              </a:ext>
            </a:extLst>
          </p:cNvPr>
          <p:cNvCxnSpPr>
            <a:cxnSpLocks/>
          </p:cNvCxnSpPr>
          <p:nvPr/>
        </p:nvCxnSpPr>
        <p:spPr>
          <a:xfrm flipV="1">
            <a:off x="8712594" y="2670684"/>
            <a:ext cx="0" cy="97917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D843BC3-9E06-4E18-A476-D2538EED5761}"/>
              </a:ext>
            </a:extLst>
          </p:cNvPr>
          <p:cNvCxnSpPr>
            <a:cxnSpLocks/>
          </p:cNvCxnSpPr>
          <p:nvPr/>
        </p:nvCxnSpPr>
        <p:spPr>
          <a:xfrm flipH="1" flipV="1">
            <a:off x="7992514" y="1518556"/>
            <a:ext cx="725852" cy="47511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20E2121-857D-4259-84AE-293A524FB1FE}"/>
                  </a:ext>
                </a:extLst>
              </p:cNvPr>
              <p:cNvSpPr txBox="1"/>
              <p:nvPr/>
            </p:nvSpPr>
            <p:spPr>
              <a:xfrm>
                <a:off x="7976941" y="3851966"/>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𝟏</m:t>
                          </m:r>
                        </m:sub>
                      </m:sSub>
                    </m:oMath>
                  </m:oMathPara>
                </a14:m>
                <a:endParaRPr lang="zh-CN" altLang="en-US" b="1">
                  <a:solidFill>
                    <a:srgbClr val="FFC000"/>
                  </a:solidFill>
                </a:endParaRPr>
              </a:p>
            </p:txBody>
          </p:sp>
        </mc:Choice>
        <mc:Fallback xmlns="">
          <p:sp>
            <p:nvSpPr>
              <p:cNvPr id="10" name="文本框 9">
                <a:extLst>
                  <a:ext uri="{FF2B5EF4-FFF2-40B4-BE49-F238E27FC236}">
                    <a16:creationId xmlns:a16="http://schemas.microsoft.com/office/drawing/2014/main" id="{520E2121-857D-4259-84AE-293A524FB1FE}"/>
                  </a:ext>
                </a:extLst>
              </p:cNvPr>
              <p:cNvSpPr txBox="1">
                <a:spLocks noRot="1" noChangeAspect="1" noMove="1" noResize="1" noEditPoints="1" noAdjustHandles="1" noChangeArrowheads="1" noChangeShapeType="1" noTextEdit="1"/>
              </p:cNvSpPr>
              <p:nvPr/>
            </p:nvSpPr>
            <p:spPr>
              <a:xfrm>
                <a:off x="7976941" y="3851966"/>
                <a:ext cx="519629" cy="369332"/>
              </a:xfrm>
              <a:prstGeom prst="rect">
                <a:avLst/>
              </a:prstGeom>
              <a:blipFill>
                <a:blip r:embed="rId4"/>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57EAECB9-92E4-45B0-9EE6-45AA89B0001C}"/>
                  </a:ext>
                </a:extLst>
              </p:cNvPr>
              <p:cNvSpPr txBox="1"/>
              <p:nvPr/>
            </p:nvSpPr>
            <p:spPr>
              <a:xfrm>
                <a:off x="8705124" y="2553486"/>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𝟐</m:t>
                          </m:r>
                        </m:sub>
                      </m:sSub>
                    </m:oMath>
                  </m:oMathPara>
                </a14:m>
                <a:endParaRPr lang="zh-CN" altLang="en-US" b="1">
                  <a:solidFill>
                    <a:srgbClr val="FFC000"/>
                  </a:solidFill>
                </a:endParaRPr>
              </a:p>
            </p:txBody>
          </p:sp>
        </mc:Choice>
        <mc:Fallback xmlns="">
          <p:sp>
            <p:nvSpPr>
              <p:cNvPr id="11" name="文本框 10">
                <a:extLst>
                  <a:ext uri="{FF2B5EF4-FFF2-40B4-BE49-F238E27FC236}">
                    <a16:creationId xmlns:a16="http://schemas.microsoft.com/office/drawing/2014/main" id="{57EAECB9-92E4-45B0-9EE6-45AA89B0001C}"/>
                  </a:ext>
                </a:extLst>
              </p:cNvPr>
              <p:cNvSpPr txBox="1">
                <a:spLocks noRot="1" noChangeAspect="1" noMove="1" noResize="1" noEditPoints="1" noAdjustHandles="1" noChangeArrowheads="1" noChangeShapeType="1" noTextEdit="1"/>
              </p:cNvSpPr>
              <p:nvPr/>
            </p:nvSpPr>
            <p:spPr>
              <a:xfrm>
                <a:off x="8705124" y="2553486"/>
                <a:ext cx="519629" cy="369332"/>
              </a:xfrm>
              <a:prstGeom prst="rect">
                <a:avLst/>
              </a:prstGeom>
              <a:blipFill>
                <a:blip r:embed="rId5"/>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99FC315-A050-4C43-A048-851EC65C9700}"/>
                  </a:ext>
                </a:extLst>
              </p:cNvPr>
              <p:cNvSpPr txBox="1"/>
              <p:nvPr/>
            </p:nvSpPr>
            <p:spPr>
              <a:xfrm>
                <a:off x="7920506" y="1207321"/>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𝟑</m:t>
                          </m:r>
                        </m:sub>
                      </m:sSub>
                    </m:oMath>
                  </m:oMathPara>
                </a14:m>
                <a:endParaRPr lang="zh-CN" altLang="en-US" b="1">
                  <a:solidFill>
                    <a:srgbClr val="FFC000"/>
                  </a:solidFill>
                </a:endParaRPr>
              </a:p>
            </p:txBody>
          </p:sp>
        </mc:Choice>
        <mc:Fallback xmlns="">
          <p:sp>
            <p:nvSpPr>
              <p:cNvPr id="12" name="文本框 11">
                <a:extLst>
                  <a:ext uri="{FF2B5EF4-FFF2-40B4-BE49-F238E27FC236}">
                    <a16:creationId xmlns:a16="http://schemas.microsoft.com/office/drawing/2014/main" id="{299FC315-A050-4C43-A048-851EC65C9700}"/>
                  </a:ext>
                </a:extLst>
              </p:cNvPr>
              <p:cNvSpPr txBox="1">
                <a:spLocks noRot="1" noChangeAspect="1" noMove="1" noResize="1" noEditPoints="1" noAdjustHandles="1" noChangeArrowheads="1" noChangeShapeType="1" noTextEdit="1"/>
              </p:cNvSpPr>
              <p:nvPr/>
            </p:nvSpPr>
            <p:spPr>
              <a:xfrm>
                <a:off x="7920506" y="1207321"/>
                <a:ext cx="519629" cy="369332"/>
              </a:xfrm>
              <a:prstGeom prst="rect">
                <a:avLst/>
              </a:prstGeom>
              <a:blipFill>
                <a:blip r:embed="rId6"/>
                <a:stretch>
                  <a:fillRect b="-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8027D66-36AE-4A11-AA85-01DD7A7C6D4E}"/>
                  </a:ext>
                </a:extLst>
              </p:cNvPr>
              <p:cNvSpPr txBox="1"/>
              <p:nvPr/>
            </p:nvSpPr>
            <p:spPr>
              <a:xfrm>
                <a:off x="7880360" y="4341418"/>
                <a:ext cx="5164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a:solidFill>
                                <a:srgbClr val="FFC000"/>
                              </a:solidFill>
                              <a:latin typeface="Cambria Math" panose="02040503050406030204" pitchFamily="18" charset="0"/>
                            </a:rPr>
                            <m:t>0</m:t>
                          </m:r>
                        </m:sub>
                      </m:sSub>
                    </m:oMath>
                  </m:oMathPara>
                </a14:m>
                <a:endParaRPr lang="zh-CN" altLang="en-US" b="1" dirty="0">
                  <a:solidFill>
                    <a:srgbClr val="FFC000"/>
                  </a:solidFill>
                </a:endParaRPr>
              </a:p>
            </p:txBody>
          </p:sp>
        </mc:Choice>
        <mc:Fallback xmlns="">
          <p:sp>
            <p:nvSpPr>
              <p:cNvPr id="13" name="文本框 12">
                <a:extLst>
                  <a:ext uri="{FF2B5EF4-FFF2-40B4-BE49-F238E27FC236}">
                    <a16:creationId xmlns:a16="http://schemas.microsoft.com/office/drawing/2014/main" id="{D8027D66-36AE-4A11-AA85-01DD7A7C6D4E}"/>
                  </a:ext>
                </a:extLst>
              </p:cNvPr>
              <p:cNvSpPr txBox="1">
                <a:spLocks noRot="1" noChangeAspect="1" noMove="1" noResize="1" noEditPoints="1" noAdjustHandles="1" noChangeArrowheads="1" noChangeShapeType="1" noTextEdit="1"/>
              </p:cNvSpPr>
              <p:nvPr/>
            </p:nvSpPr>
            <p:spPr>
              <a:xfrm>
                <a:off x="7880360" y="4341418"/>
                <a:ext cx="516423"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9501F8A0-B1AD-48D9-A58C-F2770D5980D5}"/>
                  </a:ext>
                </a:extLst>
              </p:cNvPr>
              <p:cNvGraphicFramePr>
                <a:graphicFrameLocks noGrp="1"/>
              </p:cNvGraphicFramePr>
              <p:nvPr>
                <p:extLst>
                  <p:ext uri="{D42A27DB-BD31-4B8C-83A1-F6EECF244321}">
                    <p14:modId xmlns:p14="http://schemas.microsoft.com/office/powerpoint/2010/main" val="716590554"/>
                  </p:ext>
                </p:extLst>
              </p:nvPr>
            </p:nvGraphicFramePr>
            <p:xfrm>
              <a:off x="851838" y="197770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964464573"/>
                        </a:ext>
                      </a:extLst>
                    </a:gridCol>
                    <a:gridCol w="897420">
                      <a:extLst>
                        <a:ext uri="{9D8B030D-6E8A-4147-A177-3AD203B41FA5}">
                          <a16:colId xmlns:a16="http://schemas.microsoft.com/office/drawing/2014/main" val="235533743"/>
                        </a:ext>
                      </a:extLst>
                    </a:gridCol>
                    <a:gridCol w="897420">
                      <a:extLst>
                        <a:ext uri="{9D8B030D-6E8A-4147-A177-3AD203B41FA5}">
                          <a16:colId xmlns:a16="http://schemas.microsoft.com/office/drawing/2014/main" val="641728310"/>
                        </a:ext>
                      </a:extLst>
                    </a:gridCol>
                    <a:gridCol w="897420">
                      <a:extLst>
                        <a:ext uri="{9D8B030D-6E8A-4147-A177-3AD203B41FA5}">
                          <a16:colId xmlns:a16="http://schemas.microsoft.com/office/drawing/2014/main" val="4182852785"/>
                        </a:ext>
                      </a:extLst>
                    </a:gridCol>
                    <a:gridCol w="897420">
                      <a:extLst>
                        <a:ext uri="{9D8B030D-6E8A-4147-A177-3AD203B41FA5}">
                          <a16:colId xmlns:a16="http://schemas.microsoft.com/office/drawing/2014/main" val="4281674283"/>
                        </a:ext>
                      </a:extLst>
                    </a:gridCol>
                  </a:tblGrid>
                  <a:tr h="370840">
                    <a:tc>
                      <a:txBody>
                        <a:bodyPr/>
                        <a:lstStyle/>
                        <a:p>
                          <a:pPr algn="ctr"/>
                          <a:r>
                            <a:rPr lang="zh-CN" altLang="en-US">
                              <a:latin typeface="微软雅黑" panose="020B0503020204020204" pitchFamily="34" charset="-122"/>
                              <a:ea typeface="微软雅黑" panose="020B0503020204020204" pitchFamily="34" charset="-122"/>
                            </a:rPr>
                            <a:t>关节</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r>
                                      <a:rPr lang="en-US" altLang="zh-CN" sz="1400" b="1">
                                        <a:solidFill>
                                          <a:schemeClr val="bg1"/>
                                        </a:solidFill>
                                        <a:latin typeface="Cambria Math" panose="02040503050406030204" pitchFamily="18" charset="0"/>
                                      </a:rPr>
                                      <m:t>𝜶</m:t>
                                    </m:r>
                                  </m:e>
                                  <m:sub>
                                    <m:r>
                                      <a:rPr lang="en-US" altLang="zh-CN" sz="1400" b="1">
                                        <a:solidFill>
                                          <a:schemeClr val="bg1"/>
                                        </a:solidFill>
                                        <a:latin typeface="Cambria Math" panose="02040503050406030204" pitchFamily="18" charset="0"/>
                                      </a:rPr>
                                      <m:t>𝒊</m:t>
                                    </m:r>
                                    <m:r>
                                      <a:rPr lang="en-US" altLang="zh-CN" sz="1400" b="1">
                                        <a:solidFill>
                                          <a:schemeClr val="bg1"/>
                                        </a:solidFill>
                                        <a:latin typeface="Cambria Math" panose="02040503050406030204" pitchFamily="18" charset="0"/>
                                      </a:rPr>
                                      <m:t>−</m:t>
                                    </m:r>
                                    <m:r>
                                      <a:rPr lang="en-US" altLang="zh-CN" sz="1400" b="1">
                                        <a:solidFill>
                                          <a:schemeClr val="bg1"/>
                                        </a:solidFill>
                                        <a:latin typeface="Cambria Math" panose="02040503050406030204" pitchFamily="18" charset="0"/>
                                      </a:rPr>
                                      <m:t>𝟏</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acc>
                                      <m:accPr>
                                        <m:chr m:val="⃗"/>
                                        <m:ctrlPr>
                                          <a:rPr lang="zh-CN" altLang="en-US" sz="1400" b="1" i="1">
                                            <a:solidFill>
                                              <a:schemeClr val="bg1"/>
                                            </a:solidFill>
                                            <a:latin typeface="Cambria Math" panose="02040503050406030204" pitchFamily="18" charset="0"/>
                                          </a:rPr>
                                        </m:ctrlPr>
                                      </m:accPr>
                                      <m:e>
                                        <m:r>
                                          <a:rPr lang="en-US" altLang="zh-CN" sz="1400" b="1">
                                            <a:solidFill>
                                              <a:schemeClr val="bg1"/>
                                            </a:solidFill>
                                            <a:latin typeface="Cambria Math" panose="02040503050406030204" pitchFamily="18" charset="0"/>
                                          </a:rPr>
                                          <m:t>𝒂</m:t>
                                        </m:r>
                                      </m:e>
                                    </m:acc>
                                  </m:e>
                                  <m:sub>
                                    <m:r>
                                      <a:rPr lang="en-US" altLang="zh-CN" sz="1400" b="1">
                                        <a:solidFill>
                                          <a:schemeClr val="bg1"/>
                                        </a:solidFill>
                                        <a:latin typeface="Cambria Math" panose="02040503050406030204" pitchFamily="18" charset="0"/>
                                      </a:rPr>
                                      <m:t>𝒊</m:t>
                                    </m:r>
                                    <m:r>
                                      <a:rPr lang="en-US" altLang="zh-CN" sz="1400" b="1">
                                        <a:solidFill>
                                          <a:schemeClr val="bg1"/>
                                        </a:solidFill>
                                        <a:latin typeface="Cambria Math" panose="02040503050406030204" pitchFamily="18" charset="0"/>
                                      </a:rPr>
                                      <m:t>−</m:t>
                                    </m:r>
                                    <m:r>
                                      <a:rPr lang="en-US" altLang="zh-CN" sz="1400" b="1">
                                        <a:solidFill>
                                          <a:schemeClr val="bg1"/>
                                        </a:solidFill>
                                        <a:latin typeface="Cambria Math" panose="02040503050406030204" pitchFamily="18" charset="0"/>
                                      </a:rPr>
                                      <m:t>𝟏</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200" b="1" i="1" smtClean="0">
                                        <a:solidFill>
                                          <a:schemeClr val="bg1"/>
                                        </a:solidFill>
                                        <a:latin typeface="Cambria Math" panose="02040503050406030204" pitchFamily="18" charset="0"/>
                                      </a:rPr>
                                    </m:ctrlPr>
                                  </m:sSubPr>
                                  <m:e>
                                    <m:r>
                                      <a:rPr lang="en-US" altLang="zh-CN" sz="1200" b="1">
                                        <a:solidFill>
                                          <a:schemeClr val="bg1"/>
                                        </a:solidFill>
                                        <a:latin typeface="Cambria Math" panose="02040503050406030204" pitchFamily="18" charset="0"/>
                                      </a:rPr>
                                      <m:t>𝒅</m:t>
                                    </m:r>
                                  </m:e>
                                  <m:sub>
                                    <m:r>
                                      <a:rPr lang="en-US" altLang="zh-CN" sz="1200" b="1">
                                        <a:solidFill>
                                          <a:schemeClr val="bg1"/>
                                        </a:solidFill>
                                        <a:latin typeface="Cambria Math" panose="02040503050406030204" pitchFamily="18" charset="0"/>
                                      </a:rPr>
                                      <m:t>𝒊</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r>
                                      <a:rPr lang="en-US" altLang="zh-CN" sz="1400" b="1">
                                        <a:solidFill>
                                          <a:schemeClr val="bg1"/>
                                        </a:solidFill>
                                        <a:latin typeface="Cambria Math" panose="02040503050406030204" pitchFamily="18" charset="0"/>
                                      </a:rPr>
                                      <m:t>𝜽</m:t>
                                    </m:r>
                                  </m:e>
                                  <m:sub>
                                    <m:r>
                                      <a:rPr lang="en-US" altLang="zh-CN" sz="1400" b="1">
                                        <a:solidFill>
                                          <a:schemeClr val="bg1"/>
                                        </a:solidFill>
                                        <a:latin typeface="Cambria Math" panose="02040503050406030204" pitchFamily="18" charset="0"/>
                                      </a:rPr>
                                      <m:t>𝒊</m:t>
                                    </m:r>
                                  </m:sub>
                                </m:sSub>
                              </m:oMath>
                            </m:oMathPara>
                          </a14:m>
                          <a:endParaRPr lang="zh-CN" altLang="en-US" dirty="0">
                            <a:solidFill>
                              <a:schemeClr val="bg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022884185"/>
                      </a:ext>
                    </a:extLst>
                  </a:tr>
                </a:tbl>
              </a:graphicData>
            </a:graphic>
          </p:graphicFrame>
        </mc:Choice>
        <mc:Fallback xmlns="">
          <p:graphicFrame>
            <p:nvGraphicFramePr>
              <p:cNvPr id="14" name="表格 13">
                <a:extLst>
                  <a:ext uri="{FF2B5EF4-FFF2-40B4-BE49-F238E27FC236}">
                    <a16:creationId xmlns:a16="http://schemas.microsoft.com/office/drawing/2014/main" id="{9501F8A0-B1AD-48D9-A58C-F2770D5980D5}"/>
                  </a:ext>
                </a:extLst>
              </p:cNvPr>
              <p:cNvGraphicFramePr>
                <a:graphicFrameLocks noGrp="1"/>
              </p:cNvGraphicFramePr>
              <p:nvPr>
                <p:extLst>
                  <p:ext uri="{D42A27DB-BD31-4B8C-83A1-F6EECF244321}">
                    <p14:modId xmlns:p14="http://schemas.microsoft.com/office/powerpoint/2010/main" val="716590554"/>
                  </p:ext>
                </p:extLst>
              </p:nvPr>
            </p:nvGraphicFramePr>
            <p:xfrm>
              <a:off x="851838" y="197770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964464573"/>
                        </a:ext>
                      </a:extLst>
                    </a:gridCol>
                    <a:gridCol w="897420">
                      <a:extLst>
                        <a:ext uri="{9D8B030D-6E8A-4147-A177-3AD203B41FA5}">
                          <a16:colId xmlns:a16="http://schemas.microsoft.com/office/drawing/2014/main" val="235533743"/>
                        </a:ext>
                      </a:extLst>
                    </a:gridCol>
                    <a:gridCol w="897420">
                      <a:extLst>
                        <a:ext uri="{9D8B030D-6E8A-4147-A177-3AD203B41FA5}">
                          <a16:colId xmlns:a16="http://schemas.microsoft.com/office/drawing/2014/main" val="641728310"/>
                        </a:ext>
                      </a:extLst>
                    </a:gridCol>
                    <a:gridCol w="897420">
                      <a:extLst>
                        <a:ext uri="{9D8B030D-6E8A-4147-A177-3AD203B41FA5}">
                          <a16:colId xmlns:a16="http://schemas.microsoft.com/office/drawing/2014/main" val="4182852785"/>
                        </a:ext>
                      </a:extLst>
                    </a:gridCol>
                    <a:gridCol w="897420">
                      <a:extLst>
                        <a:ext uri="{9D8B030D-6E8A-4147-A177-3AD203B41FA5}">
                          <a16:colId xmlns:a16="http://schemas.microsoft.com/office/drawing/2014/main" val="4281674283"/>
                        </a:ext>
                      </a:extLst>
                    </a:gridCol>
                  </a:tblGrid>
                  <a:tr h="370840">
                    <a:tc>
                      <a:txBody>
                        <a:bodyPr/>
                        <a:lstStyle/>
                        <a:p>
                          <a:pPr algn="ctr"/>
                          <a:r>
                            <a:rPr lang="zh-CN" altLang="en-US">
                              <a:latin typeface="微软雅黑" panose="020B0503020204020204" pitchFamily="34" charset="-122"/>
                              <a:ea typeface="微软雅黑" panose="020B0503020204020204" pitchFamily="34" charset="-122"/>
                            </a:rPr>
                            <a:t>关节</a:t>
                          </a:r>
                        </a:p>
                      </a:txBody>
                      <a:tcPr anchor="ctr"/>
                    </a:tc>
                    <a:tc>
                      <a:txBody>
                        <a:bodyPr/>
                        <a:lstStyle/>
                        <a:p>
                          <a:endParaRPr lang="zh-CN"/>
                        </a:p>
                      </a:txBody>
                      <a:tcPr anchor="ctr">
                        <a:blipFill>
                          <a:blip r:embed="rId8"/>
                          <a:stretch>
                            <a:fillRect l="-100000" t="-8065" r="-301351" b="-24194"/>
                          </a:stretch>
                        </a:blipFill>
                      </a:tcPr>
                    </a:tc>
                    <a:tc>
                      <a:txBody>
                        <a:bodyPr/>
                        <a:lstStyle/>
                        <a:p>
                          <a:endParaRPr lang="zh-CN"/>
                        </a:p>
                      </a:txBody>
                      <a:tcPr anchor="ctr">
                        <a:blipFill>
                          <a:blip r:embed="rId8"/>
                          <a:stretch>
                            <a:fillRect l="-201361" t="-8065" r="-203401" b="-24194"/>
                          </a:stretch>
                        </a:blipFill>
                      </a:tcPr>
                    </a:tc>
                    <a:tc>
                      <a:txBody>
                        <a:bodyPr/>
                        <a:lstStyle/>
                        <a:p>
                          <a:endParaRPr lang="zh-CN"/>
                        </a:p>
                      </a:txBody>
                      <a:tcPr anchor="ctr">
                        <a:blipFill>
                          <a:blip r:embed="rId8"/>
                          <a:stretch>
                            <a:fillRect l="-299324" t="-8065" r="-102027" b="-24194"/>
                          </a:stretch>
                        </a:blipFill>
                      </a:tcPr>
                    </a:tc>
                    <a:tc>
                      <a:txBody>
                        <a:bodyPr/>
                        <a:lstStyle/>
                        <a:p>
                          <a:endParaRPr lang="zh-CN"/>
                        </a:p>
                      </a:txBody>
                      <a:tcPr anchor="ctr">
                        <a:blipFill>
                          <a:blip r:embed="rId8"/>
                          <a:stretch>
                            <a:fillRect l="-402041" t="-8065" r="-2721" b="-24194"/>
                          </a:stretch>
                        </a:blipFill>
                      </a:tcPr>
                    </a:tc>
                    <a:extLst>
                      <a:ext uri="{0D108BD9-81ED-4DB2-BD59-A6C34878D82A}">
                        <a16:rowId xmlns:a16="http://schemas.microsoft.com/office/drawing/2014/main" val="3022884185"/>
                      </a:ext>
                    </a:extLst>
                  </a:tr>
                </a:tbl>
              </a:graphicData>
            </a:graphic>
          </p:graphicFrame>
        </mc:Fallback>
      </mc:AlternateContent>
      <p:sp>
        <p:nvSpPr>
          <p:cNvPr id="15" name="矩形 14">
            <a:extLst>
              <a:ext uri="{FF2B5EF4-FFF2-40B4-BE49-F238E27FC236}">
                <a16:creationId xmlns:a16="http://schemas.microsoft.com/office/drawing/2014/main" id="{1D652005-3535-4D12-B60C-F58DEC8DAAA7}"/>
              </a:ext>
            </a:extLst>
          </p:cNvPr>
          <p:cNvSpPr/>
          <p:nvPr/>
        </p:nvSpPr>
        <p:spPr>
          <a:xfrm>
            <a:off x="2437872" y="1688012"/>
            <a:ext cx="1130438" cy="338554"/>
          </a:xfrm>
          <a:prstGeom prst="rect">
            <a:avLst/>
          </a:prstGeom>
        </p:spPr>
        <p:txBody>
          <a:bodyPr wrap="none">
            <a:spAutoFit/>
          </a:bodyPr>
          <a:lstStyle/>
          <a:p>
            <a:r>
              <a:rPr lang="en-US" altLang="zh-CN" sz="1600" b="1" i="0" dirty="0">
                <a:latin typeface="微软雅黑" panose="020B0503020204020204" pitchFamily="34" charset="-122"/>
                <a:ea typeface="微软雅黑" panose="020B0503020204020204" pitchFamily="34" charset="-122"/>
              </a:rPr>
              <a:t>DH</a:t>
            </a:r>
            <a:r>
              <a:rPr lang="zh-CN" altLang="en-US" sz="1600" b="1" i="0" dirty="0">
                <a:latin typeface="微软雅黑" panose="020B0503020204020204" pitchFamily="34" charset="-122"/>
                <a:ea typeface="微软雅黑" panose="020B0503020204020204" pitchFamily="34" charset="-122"/>
              </a:rPr>
              <a:t>参数表</a:t>
            </a:r>
            <a:endParaRPr lang="zh-CN" altLang="en-US" sz="1600" b="1" dirty="0"/>
          </a:p>
        </p:txBody>
      </p:sp>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88D69006-356B-40A2-9E45-ED6D752DEB6D}"/>
                  </a:ext>
                </a:extLst>
              </p:cNvPr>
              <p:cNvGraphicFramePr>
                <a:graphicFrameLocks noGrp="1"/>
              </p:cNvGraphicFramePr>
              <p:nvPr>
                <p:extLst>
                  <p:ext uri="{D42A27DB-BD31-4B8C-83A1-F6EECF244321}">
                    <p14:modId xmlns:p14="http://schemas.microsoft.com/office/powerpoint/2010/main" val="3353951647"/>
                  </p:ext>
                </p:extLst>
              </p:nvPr>
            </p:nvGraphicFramePr>
            <p:xfrm>
              <a:off x="851838" y="234854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420908167"/>
                        </a:ext>
                      </a:extLst>
                    </a:gridCol>
                    <a:gridCol w="897420">
                      <a:extLst>
                        <a:ext uri="{9D8B030D-6E8A-4147-A177-3AD203B41FA5}">
                          <a16:colId xmlns:a16="http://schemas.microsoft.com/office/drawing/2014/main" val="4218493241"/>
                        </a:ext>
                      </a:extLst>
                    </a:gridCol>
                    <a:gridCol w="897420">
                      <a:extLst>
                        <a:ext uri="{9D8B030D-6E8A-4147-A177-3AD203B41FA5}">
                          <a16:colId xmlns:a16="http://schemas.microsoft.com/office/drawing/2014/main" val="72192403"/>
                        </a:ext>
                      </a:extLst>
                    </a:gridCol>
                    <a:gridCol w="897420">
                      <a:extLst>
                        <a:ext uri="{9D8B030D-6E8A-4147-A177-3AD203B41FA5}">
                          <a16:colId xmlns:a16="http://schemas.microsoft.com/office/drawing/2014/main" val="1679685032"/>
                        </a:ext>
                      </a:extLst>
                    </a:gridCol>
                    <a:gridCol w="897420">
                      <a:extLst>
                        <a:ext uri="{9D8B030D-6E8A-4147-A177-3AD203B41FA5}">
                          <a16:colId xmlns:a16="http://schemas.microsoft.com/office/drawing/2014/main" val="4095903732"/>
                        </a:ext>
                      </a:extLst>
                    </a:gridCol>
                  </a:tblGrid>
                  <a:tr h="370840">
                    <a:tc>
                      <a:txBody>
                        <a:bodyPr/>
                        <a:lstStyle/>
                        <a:p>
                          <a:pPr algn="ctr"/>
                          <a:r>
                            <a:rPr lang="en-US" altLang="zh-CN" b="1">
                              <a:solidFill>
                                <a:schemeClr val="tx1"/>
                              </a:solidFill>
                            </a:rPr>
                            <a:t>1</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dirty="0">
                              <a:solidFill>
                                <a:schemeClr val="tx1"/>
                              </a:solidFill>
                            </a:rPr>
                            <a:t>0</a:t>
                          </a:r>
                          <a:endParaRPr lang="zh-CN" altLang="en-US" b="1" dirty="0">
                            <a:solidFill>
                              <a:schemeClr val="tx1"/>
                            </a:solidFill>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𝟏</m:t>
                                    </m:r>
                                  </m:sub>
                                </m:sSub>
                              </m:oMath>
                            </m:oMathPara>
                          </a14:m>
                          <a:endParaRPr lang="zh-CN" altLang="en-US" b="1" dirty="0">
                            <a:solidFill>
                              <a:schemeClr val="tx1"/>
                            </a:solidFill>
                          </a:endParaRPr>
                        </a:p>
                      </a:txBody>
                      <a:tcPr anchor="ctr">
                        <a:solidFill>
                          <a:schemeClr val="accent1">
                            <a:lumMod val="20000"/>
                            <a:lumOff val="80000"/>
                          </a:schemeClr>
                        </a:solidFill>
                      </a:tcPr>
                    </a:tc>
                    <a:extLst>
                      <a:ext uri="{0D108BD9-81ED-4DB2-BD59-A6C34878D82A}">
                        <a16:rowId xmlns:a16="http://schemas.microsoft.com/office/drawing/2014/main" val="3555426221"/>
                      </a:ext>
                    </a:extLst>
                  </a:tr>
                </a:tbl>
              </a:graphicData>
            </a:graphic>
          </p:graphicFrame>
        </mc:Choice>
        <mc:Fallback xmlns="">
          <p:graphicFrame>
            <p:nvGraphicFramePr>
              <p:cNvPr id="16" name="表格 15">
                <a:extLst>
                  <a:ext uri="{FF2B5EF4-FFF2-40B4-BE49-F238E27FC236}">
                    <a16:creationId xmlns:a16="http://schemas.microsoft.com/office/drawing/2014/main" id="{88D69006-356B-40A2-9E45-ED6D752DEB6D}"/>
                  </a:ext>
                </a:extLst>
              </p:cNvPr>
              <p:cNvGraphicFramePr>
                <a:graphicFrameLocks noGrp="1"/>
              </p:cNvGraphicFramePr>
              <p:nvPr>
                <p:extLst>
                  <p:ext uri="{D42A27DB-BD31-4B8C-83A1-F6EECF244321}">
                    <p14:modId xmlns:p14="http://schemas.microsoft.com/office/powerpoint/2010/main" val="3353951647"/>
                  </p:ext>
                </p:extLst>
              </p:nvPr>
            </p:nvGraphicFramePr>
            <p:xfrm>
              <a:off x="851838" y="234854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420908167"/>
                        </a:ext>
                      </a:extLst>
                    </a:gridCol>
                    <a:gridCol w="897420">
                      <a:extLst>
                        <a:ext uri="{9D8B030D-6E8A-4147-A177-3AD203B41FA5}">
                          <a16:colId xmlns:a16="http://schemas.microsoft.com/office/drawing/2014/main" val="4218493241"/>
                        </a:ext>
                      </a:extLst>
                    </a:gridCol>
                    <a:gridCol w="897420">
                      <a:extLst>
                        <a:ext uri="{9D8B030D-6E8A-4147-A177-3AD203B41FA5}">
                          <a16:colId xmlns:a16="http://schemas.microsoft.com/office/drawing/2014/main" val="72192403"/>
                        </a:ext>
                      </a:extLst>
                    </a:gridCol>
                    <a:gridCol w="897420">
                      <a:extLst>
                        <a:ext uri="{9D8B030D-6E8A-4147-A177-3AD203B41FA5}">
                          <a16:colId xmlns:a16="http://schemas.microsoft.com/office/drawing/2014/main" val="1679685032"/>
                        </a:ext>
                      </a:extLst>
                    </a:gridCol>
                    <a:gridCol w="897420">
                      <a:extLst>
                        <a:ext uri="{9D8B030D-6E8A-4147-A177-3AD203B41FA5}">
                          <a16:colId xmlns:a16="http://schemas.microsoft.com/office/drawing/2014/main" val="4095903732"/>
                        </a:ext>
                      </a:extLst>
                    </a:gridCol>
                  </a:tblGrid>
                  <a:tr h="370840">
                    <a:tc>
                      <a:txBody>
                        <a:bodyPr/>
                        <a:lstStyle/>
                        <a:p>
                          <a:pPr algn="ctr"/>
                          <a:r>
                            <a:rPr lang="en-US" altLang="zh-CN" b="1">
                              <a:solidFill>
                                <a:schemeClr val="tx1"/>
                              </a:solidFill>
                            </a:rPr>
                            <a:t>1</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dirty="0">
                              <a:solidFill>
                                <a:schemeClr val="tx1"/>
                              </a:solidFill>
                            </a:rPr>
                            <a:t>0</a:t>
                          </a:r>
                          <a:endParaRPr lang="zh-CN" altLang="en-US" b="1" dirty="0">
                            <a:solidFill>
                              <a:schemeClr val="tx1"/>
                            </a:solidFill>
                          </a:endParaRPr>
                        </a:p>
                      </a:txBody>
                      <a:tcPr anchor="ctr">
                        <a:solidFill>
                          <a:schemeClr val="accent1">
                            <a:lumMod val="20000"/>
                            <a:lumOff val="80000"/>
                          </a:schemeClr>
                        </a:solidFill>
                      </a:tcPr>
                    </a:tc>
                    <a:tc>
                      <a:txBody>
                        <a:bodyPr/>
                        <a:lstStyle/>
                        <a:p>
                          <a:endParaRPr lang="zh-CN"/>
                        </a:p>
                      </a:txBody>
                      <a:tcPr anchor="ctr">
                        <a:blipFill>
                          <a:blip r:embed="rId9"/>
                          <a:stretch>
                            <a:fillRect l="-402041" t="-8065" r="-2721" b="-24194"/>
                          </a:stretch>
                        </a:blipFill>
                      </a:tcPr>
                    </a:tc>
                    <a:extLst>
                      <a:ext uri="{0D108BD9-81ED-4DB2-BD59-A6C34878D82A}">
                        <a16:rowId xmlns:a16="http://schemas.microsoft.com/office/drawing/2014/main" val="355542622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39BB6CEF-CE9B-4190-8389-3F978DDB23D3}"/>
                  </a:ext>
                </a:extLst>
              </p:cNvPr>
              <p:cNvGraphicFramePr>
                <a:graphicFrameLocks noGrp="1"/>
              </p:cNvGraphicFramePr>
              <p:nvPr>
                <p:extLst>
                  <p:ext uri="{D42A27DB-BD31-4B8C-83A1-F6EECF244321}">
                    <p14:modId xmlns:p14="http://schemas.microsoft.com/office/powerpoint/2010/main" val="889623148"/>
                  </p:ext>
                </p:extLst>
              </p:nvPr>
            </p:nvGraphicFramePr>
            <p:xfrm>
              <a:off x="851838" y="271938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903980153"/>
                        </a:ext>
                      </a:extLst>
                    </a:gridCol>
                    <a:gridCol w="897420">
                      <a:extLst>
                        <a:ext uri="{9D8B030D-6E8A-4147-A177-3AD203B41FA5}">
                          <a16:colId xmlns:a16="http://schemas.microsoft.com/office/drawing/2014/main" val="103550731"/>
                        </a:ext>
                      </a:extLst>
                    </a:gridCol>
                    <a:gridCol w="897420">
                      <a:extLst>
                        <a:ext uri="{9D8B030D-6E8A-4147-A177-3AD203B41FA5}">
                          <a16:colId xmlns:a16="http://schemas.microsoft.com/office/drawing/2014/main" val="1742137356"/>
                        </a:ext>
                      </a:extLst>
                    </a:gridCol>
                    <a:gridCol w="897420">
                      <a:extLst>
                        <a:ext uri="{9D8B030D-6E8A-4147-A177-3AD203B41FA5}">
                          <a16:colId xmlns:a16="http://schemas.microsoft.com/office/drawing/2014/main" val="2834064147"/>
                        </a:ext>
                      </a:extLst>
                    </a:gridCol>
                    <a:gridCol w="897420">
                      <a:extLst>
                        <a:ext uri="{9D8B030D-6E8A-4147-A177-3AD203B41FA5}">
                          <a16:colId xmlns:a16="http://schemas.microsoft.com/office/drawing/2014/main" val="2062733112"/>
                        </a:ext>
                      </a:extLst>
                    </a:gridCol>
                  </a:tblGrid>
                  <a:tr h="370840">
                    <a:tc>
                      <a:txBody>
                        <a:bodyPr/>
                        <a:lstStyle/>
                        <a:p>
                          <a:pPr algn="ctr"/>
                          <a:r>
                            <a:rPr lang="en-US" altLang="zh-CN" b="1">
                              <a:solidFill>
                                <a:schemeClr val="tx1"/>
                              </a:solidFill>
                            </a:rPr>
                            <a:t>2</a:t>
                          </a:r>
                          <a:endParaRPr lang="zh-CN" altLang="en-US" b="1">
                            <a:solidFill>
                              <a:schemeClr val="tx1"/>
                            </a:solidFill>
                          </a:endParaRPr>
                        </a:p>
                      </a:txBody>
                      <a:tcPr anchor="ctr">
                        <a:solidFill>
                          <a:schemeClr val="accent1">
                            <a:lumMod val="40000"/>
                            <a:lumOff val="6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𝑳</m:t>
                                    </m:r>
                                  </m:e>
                                  <m:sub>
                                    <m:r>
                                      <a:rPr lang="en-US" altLang="zh-CN" b="1" i="1" smtClean="0">
                                        <a:solidFill>
                                          <a:schemeClr val="tx1"/>
                                        </a:solidFill>
                                        <a:latin typeface="Cambria Math" panose="02040503050406030204" pitchFamily="18" charset="0"/>
                                      </a:rPr>
                                      <m:t>𝟏</m:t>
                                    </m:r>
                                  </m:sub>
                                </m:sSub>
                              </m:oMath>
                            </m:oMathPara>
                          </a14:m>
                          <a:endParaRPr lang="zh-CN" altLang="en-US" b="1">
                            <a:solidFill>
                              <a:schemeClr val="tx1"/>
                            </a:solidFill>
                          </a:endParaRPr>
                        </a:p>
                      </a:txBody>
                      <a:tcPr anchor="ctr">
                        <a:solidFill>
                          <a:schemeClr val="accent1">
                            <a:lumMod val="40000"/>
                            <a:lumOff val="6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𝟐</m:t>
                                    </m:r>
                                  </m:sub>
                                </m:sSub>
                              </m:oMath>
                            </m:oMathPara>
                          </a14:m>
                          <a:endParaRPr lang="zh-CN" altLang="en-US" b="1" dirty="0">
                            <a:solidFill>
                              <a:schemeClr val="tx1"/>
                            </a:solidFill>
                          </a:endParaRPr>
                        </a:p>
                      </a:txBody>
                      <a:tcPr anchor="ctr">
                        <a:solidFill>
                          <a:schemeClr val="accent1">
                            <a:lumMod val="40000"/>
                            <a:lumOff val="60000"/>
                          </a:schemeClr>
                        </a:solidFill>
                      </a:tcPr>
                    </a:tc>
                    <a:extLst>
                      <a:ext uri="{0D108BD9-81ED-4DB2-BD59-A6C34878D82A}">
                        <a16:rowId xmlns:a16="http://schemas.microsoft.com/office/drawing/2014/main" val="2547415582"/>
                      </a:ext>
                    </a:extLst>
                  </a:tr>
                </a:tbl>
              </a:graphicData>
            </a:graphic>
          </p:graphicFrame>
        </mc:Choice>
        <mc:Fallback xmlns="">
          <p:graphicFrame>
            <p:nvGraphicFramePr>
              <p:cNvPr id="17" name="表格 16">
                <a:extLst>
                  <a:ext uri="{FF2B5EF4-FFF2-40B4-BE49-F238E27FC236}">
                    <a16:creationId xmlns:a16="http://schemas.microsoft.com/office/drawing/2014/main" id="{39BB6CEF-CE9B-4190-8389-3F978DDB23D3}"/>
                  </a:ext>
                </a:extLst>
              </p:cNvPr>
              <p:cNvGraphicFramePr>
                <a:graphicFrameLocks noGrp="1"/>
              </p:cNvGraphicFramePr>
              <p:nvPr>
                <p:extLst>
                  <p:ext uri="{D42A27DB-BD31-4B8C-83A1-F6EECF244321}">
                    <p14:modId xmlns:p14="http://schemas.microsoft.com/office/powerpoint/2010/main" val="889623148"/>
                  </p:ext>
                </p:extLst>
              </p:nvPr>
            </p:nvGraphicFramePr>
            <p:xfrm>
              <a:off x="851838" y="271938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903980153"/>
                        </a:ext>
                      </a:extLst>
                    </a:gridCol>
                    <a:gridCol w="897420">
                      <a:extLst>
                        <a:ext uri="{9D8B030D-6E8A-4147-A177-3AD203B41FA5}">
                          <a16:colId xmlns:a16="http://schemas.microsoft.com/office/drawing/2014/main" val="103550731"/>
                        </a:ext>
                      </a:extLst>
                    </a:gridCol>
                    <a:gridCol w="897420">
                      <a:extLst>
                        <a:ext uri="{9D8B030D-6E8A-4147-A177-3AD203B41FA5}">
                          <a16:colId xmlns:a16="http://schemas.microsoft.com/office/drawing/2014/main" val="1742137356"/>
                        </a:ext>
                      </a:extLst>
                    </a:gridCol>
                    <a:gridCol w="897420">
                      <a:extLst>
                        <a:ext uri="{9D8B030D-6E8A-4147-A177-3AD203B41FA5}">
                          <a16:colId xmlns:a16="http://schemas.microsoft.com/office/drawing/2014/main" val="2834064147"/>
                        </a:ext>
                      </a:extLst>
                    </a:gridCol>
                    <a:gridCol w="897420">
                      <a:extLst>
                        <a:ext uri="{9D8B030D-6E8A-4147-A177-3AD203B41FA5}">
                          <a16:colId xmlns:a16="http://schemas.microsoft.com/office/drawing/2014/main" val="2062733112"/>
                        </a:ext>
                      </a:extLst>
                    </a:gridCol>
                  </a:tblGrid>
                  <a:tr h="370840">
                    <a:tc>
                      <a:txBody>
                        <a:bodyPr/>
                        <a:lstStyle/>
                        <a:p>
                          <a:pPr algn="ctr"/>
                          <a:r>
                            <a:rPr lang="en-US" altLang="zh-CN" b="1">
                              <a:solidFill>
                                <a:schemeClr val="tx1"/>
                              </a:solidFill>
                            </a:rPr>
                            <a:t>2</a:t>
                          </a:r>
                          <a:endParaRPr lang="zh-CN" altLang="en-US" b="1">
                            <a:solidFill>
                              <a:schemeClr val="tx1"/>
                            </a:solidFill>
                          </a:endParaRPr>
                        </a:p>
                      </a:txBody>
                      <a:tcPr anchor="ctr">
                        <a:solidFill>
                          <a:schemeClr val="accent1">
                            <a:lumMod val="40000"/>
                            <a:lumOff val="6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40000"/>
                            <a:lumOff val="60000"/>
                          </a:schemeClr>
                        </a:solidFill>
                      </a:tcPr>
                    </a:tc>
                    <a:tc>
                      <a:txBody>
                        <a:bodyPr/>
                        <a:lstStyle/>
                        <a:p>
                          <a:endParaRPr lang="zh-CN"/>
                        </a:p>
                      </a:txBody>
                      <a:tcPr anchor="ctr">
                        <a:blipFill>
                          <a:blip r:embed="rId10"/>
                          <a:stretch>
                            <a:fillRect l="-201361" t="-8197" r="-203401" b="-26230"/>
                          </a:stretch>
                        </a:blip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40000"/>
                            <a:lumOff val="60000"/>
                          </a:schemeClr>
                        </a:solidFill>
                      </a:tcPr>
                    </a:tc>
                    <a:tc>
                      <a:txBody>
                        <a:bodyPr/>
                        <a:lstStyle/>
                        <a:p>
                          <a:endParaRPr lang="zh-CN"/>
                        </a:p>
                      </a:txBody>
                      <a:tcPr anchor="ctr">
                        <a:blipFill>
                          <a:blip r:embed="rId10"/>
                          <a:stretch>
                            <a:fillRect l="-402041" t="-8197" r="-2721" b="-26230"/>
                          </a:stretch>
                        </a:blipFill>
                      </a:tcPr>
                    </a:tc>
                    <a:extLst>
                      <a:ext uri="{0D108BD9-81ED-4DB2-BD59-A6C34878D82A}">
                        <a16:rowId xmlns:a16="http://schemas.microsoft.com/office/drawing/2014/main" val="254741558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0FBB12D1-6126-49E7-81F9-0F698C7BFAD3}"/>
                  </a:ext>
                </a:extLst>
              </p:cNvPr>
              <p:cNvGraphicFramePr>
                <a:graphicFrameLocks noGrp="1"/>
              </p:cNvGraphicFramePr>
              <p:nvPr>
                <p:extLst>
                  <p:ext uri="{D42A27DB-BD31-4B8C-83A1-F6EECF244321}">
                    <p14:modId xmlns:p14="http://schemas.microsoft.com/office/powerpoint/2010/main" val="890471603"/>
                  </p:ext>
                </p:extLst>
              </p:nvPr>
            </p:nvGraphicFramePr>
            <p:xfrm>
              <a:off x="851838" y="309022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1725029271"/>
                        </a:ext>
                      </a:extLst>
                    </a:gridCol>
                    <a:gridCol w="897420">
                      <a:extLst>
                        <a:ext uri="{9D8B030D-6E8A-4147-A177-3AD203B41FA5}">
                          <a16:colId xmlns:a16="http://schemas.microsoft.com/office/drawing/2014/main" val="3896583131"/>
                        </a:ext>
                      </a:extLst>
                    </a:gridCol>
                    <a:gridCol w="897420">
                      <a:extLst>
                        <a:ext uri="{9D8B030D-6E8A-4147-A177-3AD203B41FA5}">
                          <a16:colId xmlns:a16="http://schemas.microsoft.com/office/drawing/2014/main" val="2643787333"/>
                        </a:ext>
                      </a:extLst>
                    </a:gridCol>
                    <a:gridCol w="897420">
                      <a:extLst>
                        <a:ext uri="{9D8B030D-6E8A-4147-A177-3AD203B41FA5}">
                          <a16:colId xmlns:a16="http://schemas.microsoft.com/office/drawing/2014/main" val="713992570"/>
                        </a:ext>
                      </a:extLst>
                    </a:gridCol>
                    <a:gridCol w="897420">
                      <a:extLst>
                        <a:ext uri="{9D8B030D-6E8A-4147-A177-3AD203B41FA5}">
                          <a16:colId xmlns:a16="http://schemas.microsoft.com/office/drawing/2014/main" val="1146037426"/>
                        </a:ext>
                      </a:extLst>
                    </a:gridCol>
                  </a:tblGrid>
                  <a:tr h="370840">
                    <a:tc>
                      <a:txBody>
                        <a:bodyPr/>
                        <a:lstStyle/>
                        <a:p>
                          <a:pPr algn="ctr"/>
                          <a:r>
                            <a:rPr lang="en-US" altLang="zh-CN" b="1">
                              <a:solidFill>
                                <a:schemeClr val="tx1"/>
                              </a:solidFill>
                            </a:rPr>
                            <a:t>3</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𝑳</m:t>
                                    </m:r>
                                  </m:e>
                                  <m:sub>
                                    <m:r>
                                      <a:rPr lang="en-US" altLang="zh-CN" b="1" i="1" smtClean="0">
                                        <a:solidFill>
                                          <a:schemeClr val="tx1"/>
                                        </a:solidFill>
                                        <a:latin typeface="Cambria Math" panose="02040503050406030204" pitchFamily="18" charset="0"/>
                                      </a:rPr>
                                      <m:t>𝟐</m:t>
                                    </m:r>
                                  </m:sub>
                                </m:sSub>
                              </m:oMath>
                            </m:oMathPara>
                          </a14:m>
                          <a:endParaRPr lang="zh-CN" altLang="en-US" b="1" dirty="0">
                            <a:solidFill>
                              <a:schemeClr val="tx1"/>
                            </a:solidFill>
                          </a:endParaRPr>
                        </a:p>
                      </a:txBody>
                      <a:tcPr anchor="ctr">
                        <a:solidFill>
                          <a:schemeClr val="accent1">
                            <a:lumMod val="20000"/>
                            <a:lumOff val="80000"/>
                          </a:schemeClr>
                        </a:solidFill>
                      </a:tcPr>
                    </a:tc>
                    <a:tc>
                      <a:txBody>
                        <a:bodyPr/>
                        <a:lstStyle/>
                        <a:p>
                          <a:pPr algn="ctr"/>
                          <a:r>
                            <a:rPr lang="en-US" altLang="zh-CN" b="1" dirty="0">
                              <a:solidFill>
                                <a:schemeClr val="tx1"/>
                              </a:solidFill>
                            </a:rPr>
                            <a:t>0</a:t>
                          </a:r>
                          <a:endParaRPr lang="zh-CN" altLang="en-US" b="1" dirty="0">
                            <a:solidFill>
                              <a:schemeClr val="tx1"/>
                            </a:solidFill>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𝟑</m:t>
                                    </m:r>
                                  </m:sub>
                                </m:sSub>
                              </m:oMath>
                            </m:oMathPara>
                          </a14:m>
                          <a:endParaRPr lang="zh-CN" altLang="en-US" b="1" dirty="0">
                            <a:solidFill>
                              <a:schemeClr val="tx1"/>
                            </a:solidFill>
                          </a:endParaRPr>
                        </a:p>
                      </a:txBody>
                      <a:tcPr anchor="ctr">
                        <a:solidFill>
                          <a:schemeClr val="accent1">
                            <a:lumMod val="20000"/>
                            <a:lumOff val="80000"/>
                          </a:schemeClr>
                        </a:solidFill>
                      </a:tcPr>
                    </a:tc>
                    <a:extLst>
                      <a:ext uri="{0D108BD9-81ED-4DB2-BD59-A6C34878D82A}">
                        <a16:rowId xmlns:a16="http://schemas.microsoft.com/office/drawing/2014/main" val="1518110052"/>
                      </a:ext>
                    </a:extLst>
                  </a:tr>
                </a:tbl>
              </a:graphicData>
            </a:graphic>
          </p:graphicFrame>
        </mc:Choice>
        <mc:Fallback xmlns="">
          <p:graphicFrame>
            <p:nvGraphicFramePr>
              <p:cNvPr id="18" name="表格 17">
                <a:extLst>
                  <a:ext uri="{FF2B5EF4-FFF2-40B4-BE49-F238E27FC236}">
                    <a16:creationId xmlns:a16="http://schemas.microsoft.com/office/drawing/2014/main" id="{0FBB12D1-6126-49E7-81F9-0F698C7BFAD3}"/>
                  </a:ext>
                </a:extLst>
              </p:cNvPr>
              <p:cNvGraphicFramePr>
                <a:graphicFrameLocks noGrp="1"/>
              </p:cNvGraphicFramePr>
              <p:nvPr>
                <p:extLst>
                  <p:ext uri="{D42A27DB-BD31-4B8C-83A1-F6EECF244321}">
                    <p14:modId xmlns:p14="http://schemas.microsoft.com/office/powerpoint/2010/main" val="890471603"/>
                  </p:ext>
                </p:extLst>
              </p:nvPr>
            </p:nvGraphicFramePr>
            <p:xfrm>
              <a:off x="851838" y="3090220"/>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1725029271"/>
                        </a:ext>
                      </a:extLst>
                    </a:gridCol>
                    <a:gridCol w="897420">
                      <a:extLst>
                        <a:ext uri="{9D8B030D-6E8A-4147-A177-3AD203B41FA5}">
                          <a16:colId xmlns:a16="http://schemas.microsoft.com/office/drawing/2014/main" val="3896583131"/>
                        </a:ext>
                      </a:extLst>
                    </a:gridCol>
                    <a:gridCol w="897420">
                      <a:extLst>
                        <a:ext uri="{9D8B030D-6E8A-4147-A177-3AD203B41FA5}">
                          <a16:colId xmlns:a16="http://schemas.microsoft.com/office/drawing/2014/main" val="2643787333"/>
                        </a:ext>
                      </a:extLst>
                    </a:gridCol>
                    <a:gridCol w="897420">
                      <a:extLst>
                        <a:ext uri="{9D8B030D-6E8A-4147-A177-3AD203B41FA5}">
                          <a16:colId xmlns:a16="http://schemas.microsoft.com/office/drawing/2014/main" val="713992570"/>
                        </a:ext>
                      </a:extLst>
                    </a:gridCol>
                    <a:gridCol w="897420">
                      <a:extLst>
                        <a:ext uri="{9D8B030D-6E8A-4147-A177-3AD203B41FA5}">
                          <a16:colId xmlns:a16="http://schemas.microsoft.com/office/drawing/2014/main" val="1146037426"/>
                        </a:ext>
                      </a:extLst>
                    </a:gridCol>
                  </a:tblGrid>
                  <a:tr h="370840">
                    <a:tc>
                      <a:txBody>
                        <a:bodyPr/>
                        <a:lstStyle/>
                        <a:p>
                          <a:pPr algn="ctr"/>
                          <a:r>
                            <a:rPr lang="en-US" altLang="zh-CN" b="1">
                              <a:solidFill>
                                <a:schemeClr val="tx1"/>
                              </a:solidFill>
                            </a:rPr>
                            <a:t>3</a:t>
                          </a:r>
                          <a:endParaRPr lang="zh-CN" altLang="en-US" b="1">
                            <a:solidFill>
                              <a:schemeClr val="tx1"/>
                            </a:solidFill>
                          </a:endParaRPr>
                        </a:p>
                      </a:txBody>
                      <a:tcPr anchor="ctr">
                        <a:solidFill>
                          <a:schemeClr val="accent1">
                            <a:lumMod val="20000"/>
                            <a:lumOff val="80000"/>
                          </a:schemeClr>
                        </a:solidFill>
                      </a:tcPr>
                    </a:tc>
                    <a:tc>
                      <a:txBody>
                        <a:bodyPr/>
                        <a:lstStyle/>
                        <a:p>
                          <a:pPr algn="ctr"/>
                          <a:r>
                            <a:rPr lang="en-US" altLang="zh-CN" b="1">
                              <a:solidFill>
                                <a:schemeClr val="tx1"/>
                              </a:solidFill>
                            </a:rPr>
                            <a:t>0</a:t>
                          </a:r>
                          <a:endParaRPr lang="zh-CN" altLang="en-US" b="1">
                            <a:solidFill>
                              <a:schemeClr val="tx1"/>
                            </a:solidFill>
                          </a:endParaRPr>
                        </a:p>
                      </a:txBody>
                      <a:tcPr anchor="ctr">
                        <a:solidFill>
                          <a:schemeClr val="accent1">
                            <a:lumMod val="20000"/>
                            <a:lumOff val="80000"/>
                          </a:schemeClr>
                        </a:solidFill>
                      </a:tcPr>
                    </a:tc>
                    <a:tc>
                      <a:txBody>
                        <a:bodyPr/>
                        <a:lstStyle/>
                        <a:p>
                          <a:endParaRPr lang="zh-CN"/>
                        </a:p>
                      </a:txBody>
                      <a:tcPr anchor="ctr">
                        <a:blipFill>
                          <a:blip r:embed="rId11"/>
                          <a:stretch>
                            <a:fillRect l="-201361" t="-6452" r="-203401" b="-24194"/>
                          </a:stretch>
                        </a:blipFill>
                      </a:tcPr>
                    </a:tc>
                    <a:tc>
                      <a:txBody>
                        <a:bodyPr/>
                        <a:lstStyle/>
                        <a:p>
                          <a:pPr algn="ctr"/>
                          <a:r>
                            <a:rPr lang="en-US" altLang="zh-CN" b="1" dirty="0">
                              <a:solidFill>
                                <a:schemeClr val="tx1"/>
                              </a:solidFill>
                            </a:rPr>
                            <a:t>0</a:t>
                          </a:r>
                          <a:endParaRPr lang="zh-CN" altLang="en-US" b="1" dirty="0">
                            <a:solidFill>
                              <a:schemeClr val="tx1"/>
                            </a:solidFill>
                          </a:endParaRPr>
                        </a:p>
                      </a:txBody>
                      <a:tcPr anchor="ctr">
                        <a:solidFill>
                          <a:schemeClr val="accent1">
                            <a:lumMod val="20000"/>
                            <a:lumOff val="80000"/>
                          </a:schemeClr>
                        </a:solidFill>
                      </a:tcPr>
                    </a:tc>
                    <a:tc>
                      <a:txBody>
                        <a:bodyPr/>
                        <a:lstStyle/>
                        <a:p>
                          <a:endParaRPr lang="zh-CN"/>
                        </a:p>
                      </a:txBody>
                      <a:tcPr anchor="ctr">
                        <a:blipFill>
                          <a:blip r:embed="rId11"/>
                          <a:stretch>
                            <a:fillRect l="-402041" t="-6452" r="-2721" b="-24194"/>
                          </a:stretch>
                        </a:blipFill>
                      </a:tcPr>
                    </a:tc>
                    <a:extLst>
                      <a:ext uri="{0D108BD9-81ED-4DB2-BD59-A6C34878D82A}">
                        <a16:rowId xmlns:a16="http://schemas.microsoft.com/office/drawing/2014/main" val="1518110052"/>
                      </a:ext>
                    </a:extLst>
                  </a:tr>
                </a:tbl>
              </a:graphicData>
            </a:graphic>
          </p:graphicFrame>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81BE633-904B-4936-A269-21D3D149EF6B}"/>
                  </a:ext>
                </a:extLst>
              </p:cNvPr>
              <p:cNvSpPr/>
              <p:nvPr/>
            </p:nvSpPr>
            <p:spPr>
              <a:xfrm>
                <a:off x="192131" y="4931394"/>
                <a:ext cx="11887267" cy="147450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Pre>
                        <m:sPrePr>
                          <m:ctrlPr>
                            <a:rPr lang="en-US" altLang="zh-CN" sz="2400" i="1" smtClean="0">
                              <a:latin typeface="Cambria Math" panose="02040503050406030204" pitchFamily="18" charset="0"/>
                            </a:rPr>
                          </m:ctrlPr>
                        </m:sPrePr>
                        <m:sub>
                          <m:r>
                            <a:rPr lang="en-US" altLang="zh-CN" sz="2400">
                              <a:latin typeface="Cambria Math" panose="02040503050406030204" pitchFamily="18" charset="0"/>
                            </a:rPr>
                            <m:t>3</m:t>
                          </m:r>
                        </m:sub>
                        <m:sup>
                          <m:r>
                            <a:rPr lang="en-US" altLang="zh-CN" sz="2400">
                              <a:latin typeface="Cambria Math" panose="02040503050406030204" pitchFamily="18" charset="0"/>
                            </a:rPr>
                            <m:t>0</m:t>
                          </m:r>
                        </m:sup>
                        <m:e>
                          <m:r>
                            <a:rPr lang="en-US" altLang="zh-CN" sz="2400">
                              <a:latin typeface="Cambria Math" panose="02040503050406030204" pitchFamily="18" charset="0"/>
                            </a:rPr>
                            <m:t>𝑇</m:t>
                          </m:r>
                        </m:e>
                      </m:sPre>
                      <m:r>
                        <a:rPr lang="en-US" altLang="zh-CN" sz="2400">
                          <a:latin typeface="Cambria Math" panose="02040503050406030204" pitchFamily="18" charset="0"/>
                        </a:rPr>
                        <m:t>=</m:t>
                      </m:r>
                      <m:d>
                        <m:dPr>
                          <m:ctrlPr>
                            <a:rPr lang="zh-CN" altLang="en-US" sz="2400" i="1">
                              <a:latin typeface="Cambria Math" panose="02040503050406030204" pitchFamily="18" charset="0"/>
                            </a:rPr>
                          </m:ctrlPr>
                        </m:dPr>
                        <m:e>
                          <m:m>
                            <m:mPr>
                              <m:plcHide m:val="on"/>
                              <m:mcs>
                                <m:mc>
                                  <m:mcPr>
                                    <m:count m:val="4"/>
                                    <m:mcJc m:val="center"/>
                                  </m:mcPr>
                                </m:mc>
                              </m:mcs>
                              <m:ctrlPr>
                                <a:rPr lang="zh-CN" altLang="en-US" sz="2400" i="1">
                                  <a:latin typeface="Cambria Math" panose="02040503050406030204" pitchFamily="18" charset="0"/>
                                </a:rPr>
                              </m:ctrlPr>
                            </m:mPr>
                            <m:mr>
                              <m:e>
                                <m:r>
                                  <m:rPr>
                                    <m:sty m:val="p"/>
                                  </m:rPr>
                                  <a:rPr lang="en-US" altLang="zh-CN" sz="2400" smtClean="0">
                                    <a:latin typeface="Cambria Math" panose="02040503050406030204" pitchFamily="18" charset="0"/>
                                  </a:rPr>
                                  <m:t>cos</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𝜃</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𝜃</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𝜃</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e>
                              <m:e>
                                <m:func>
                                  <m:funcPr>
                                    <m:ctrlPr>
                                      <a:rPr lang="en-US" altLang="zh-CN" sz="2400" i="1">
                                        <a:latin typeface="Cambria Math" panose="02040503050406030204" pitchFamily="18" charset="0"/>
                                      </a:rPr>
                                    </m:ctrlPr>
                                  </m:funcPr>
                                  <m:fName>
                                    <m:r>
                                      <a:rPr lang="en-US" altLang="zh-CN" sz="2400" b="0" i="0" smtClean="0">
                                        <a:latin typeface="Cambria Math" panose="02040503050406030204" pitchFamily="18" charset="0"/>
                                      </a:rPr>
                                      <m:t>−</m:t>
                                    </m:r>
                                    <m:r>
                                      <m:rPr>
                                        <m:sty m:val="p"/>
                                      </m:rPr>
                                      <a:rPr lang="en-US" altLang="zh-CN" sz="2400" i="0">
                                        <a:latin typeface="Cambria Math" panose="02040503050406030204" pitchFamily="18" charset="0"/>
                                      </a:rPr>
                                      <m:t>sin</m:t>
                                    </m:r>
                                  </m:fName>
                                  <m:e>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2</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3</m:t>
                                        </m:r>
                                      </m:sub>
                                    </m:sSub>
                                    <m:r>
                                      <a:rPr lang="en-US" altLang="zh-CN" sz="2400">
                                        <a:latin typeface="Cambria Math" panose="02040503050406030204" pitchFamily="18" charset="0"/>
                                      </a:rPr>
                                      <m:t>)</m:t>
                                    </m:r>
                                  </m:e>
                                </m:func>
                              </m:e>
                              <m:e>
                                <m:r>
                                  <a:rPr lang="en-US" altLang="zh-CN" sz="2400" b="0" i="0" smtClean="0">
                                    <a:latin typeface="Cambria Math" panose="02040503050406030204" pitchFamily="18" charset="0"/>
                                  </a:rPr>
                                  <m:t>0</m:t>
                                </m:r>
                              </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𝐿</m:t>
                                    </m:r>
                                  </m:e>
                                  <m:sub>
                                    <m:r>
                                      <a:rPr lang="en-US" altLang="zh-CN" sz="2400" b="0" i="1" smtClean="0">
                                        <a:latin typeface="Cambria Math" panose="02040503050406030204" pitchFamily="18" charset="0"/>
                                      </a:rPr>
                                      <m:t>1</m:t>
                                    </m:r>
                                  </m:sub>
                                </m:sSub>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𝜃</m:t>
                                        </m:r>
                                      </m:e>
                                      <m:sub>
                                        <m:r>
                                          <a:rPr lang="en-US" altLang="zh-CN" sz="2400" b="0" i="1" smtClean="0">
                                            <a:latin typeface="Cambria Math" panose="02040503050406030204" pitchFamily="18" charset="0"/>
                                          </a:rPr>
                                          <m:t>1</m:t>
                                        </m:r>
                                      </m:sub>
                                    </m:sSub>
                                  </m:e>
                                </m:func>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𝐿</m:t>
                                    </m:r>
                                  </m:e>
                                  <m:sub>
                                    <m:r>
                                      <a:rPr lang="en-US" altLang="zh-CN" sz="2400" b="0" i="1" smtClean="0">
                                        <a:latin typeface="Cambria Math" panose="02040503050406030204" pitchFamily="18" charset="0"/>
                                      </a:rPr>
                                      <m:t>2</m:t>
                                    </m:r>
                                  </m:sub>
                                </m:sSub>
                                <m:func>
                                  <m:funcPr>
                                    <m:ctrlPr>
                                      <a:rPr lang="en-US" altLang="zh-CN" sz="2400" i="1">
                                        <a:latin typeface="Cambria Math" panose="02040503050406030204" pitchFamily="18" charset="0"/>
                                      </a:rPr>
                                    </m:ctrlPr>
                                  </m:funcPr>
                                  <m:fName>
                                    <m:r>
                                      <m:rPr>
                                        <m:sty m:val="p"/>
                                      </m:rPr>
                                      <a:rPr lang="en-US" altLang="zh-CN" sz="2400" i="0">
                                        <a:latin typeface="Cambria Math" panose="02040503050406030204" pitchFamily="18" charset="0"/>
                                      </a:rPr>
                                      <m:t>cos</m:t>
                                    </m:r>
                                    <m:r>
                                      <a:rPr lang="en-US" altLang="zh-CN" sz="2400" b="0" i="0" smtClean="0">
                                        <a:latin typeface="Cambria Math" panose="02040503050406030204" pitchFamily="18" charset="0"/>
                                      </a:rPr>
                                      <m:t>(</m:t>
                                    </m:r>
                                  </m:fNa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𝜃</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e>
                                </m:func>
                              </m:e>
                            </m:mr>
                            <m:mr>
                              <m:e>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2</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3</m:t>
                                        </m:r>
                                      </m:sub>
                                    </m:sSub>
                                    <m:r>
                                      <a:rPr lang="en-US" altLang="zh-CN" sz="2400">
                                        <a:latin typeface="Cambria Math" panose="02040503050406030204" pitchFamily="18" charset="0"/>
                                      </a:rPr>
                                      <m:t>)</m:t>
                                    </m:r>
                                  </m:e>
                                </m:func>
                              </m:e>
                              <m:e>
                                <m:r>
                                  <m:rPr>
                                    <m:sty m:val="p"/>
                                  </m:rPr>
                                  <a:rPr lang="en-US" altLang="zh-CN" sz="2400">
                                    <a:latin typeface="Cambria Math" panose="02040503050406030204" pitchFamily="18" charset="0"/>
                                  </a:rPr>
                                  <m:t>cos</m:t>
                                </m:r>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2</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3</m:t>
                                    </m:r>
                                  </m:sub>
                                </m:sSub>
                                <m:r>
                                  <a:rPr lang="en-US" altLang="zh-CN" sz="2400">
                                    <a:latin typeface="Cambria Math" panose="02040503050406030204" pitchFamily="18" charset="0"/>
                                  </a:rPr>
                                  <m:t>)</m:t>
                                </m:r>
                              </m:e>
                              <m:e>
                                <m:r>
                                  <a:rPr lang="en-US" altLang="zh-CN" sz="2400" b="0" i="0" smtClean="0">
                                    <a:latin typeface="Cambria Math" panose="02040503050406030204" pitchFamily="18" charset="0"/>
                                  </a:rPr>
                                  <m:t>0</m:t>
                                </m:r>
                              </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𝐿</m:t>
                                    </m:r>
                                  </m:e>
                                  <m:sub>
                                    <m:r>
                                      <a:rPr lang="en-US" altLang="zh-CN" sz="2400">
                                        <a:latin typeface="Cambria Math" panose="02040503050406030204" pitchFamily="18" charset="0"/>
                                      </a:rPr>
                                      <m:t>1</m:t>
                                    </m:r>
                                  </m:sub>
                                </m:sSub>
                                <m:func>
                                  <m:funcPr>
                                    <m:ctrlPr>
                                      <a:rPr lang="en-US" altLang="zh-CN" sz="2400" i="1">
                                        <a:latin typeface="Cambria Math" panose="02040503050406030204" pitchFamily="18" charset="0"/>
                                      </a:rPr>
                                    </m:ctrlPr>
                                  </m:funcPr>
                                  <m:fName>
                                    <m:r>
                                      <m:rPr>
                                        <m:sty m:val="p"/>
                                      </m:rPr>
                                      <a:rPr lang="en-US" altLang="zh-CN" sz="2400" b="0" i="0" smtClean="0">
                                        <a:latin typeface="Cambria Math" panose="02040503050406030204" pitchFamily="18" charset="0"/>
                                      </a:rPr>
                                      <m:t>sin</m:t>
                                    </m:r>
                                  </m:fNa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e>
                                </m:func>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𝐿</m:t>
                                    </m:r>
                                  </m:e>
                                  <m:sub>
                                    <m:r>
                                      <a:rPr lang="en-US" altLang="zh-CN" sz="2400">
                                        <a:latin typeface="Cambria Math" panose="02040503050406030204" pitchFamily="18" charset="0"/>
                                      </a:rPr>
                                      <m:t>2</m:t>
                                    </m:r>
                                  </m:sub>
                                </m:sSub>
                                <m:func>
                                  <m:funcPr>
                                    <m:ctrlPr>
                                      <a:rPr lang="en-US" altLang="zh-CN" sz="2400" i="1">
                                        <a:latin typeface="Cambria Math" panose="02040503050406030204" pitchFamily="18" charset="0"/>
                                      </a:rPr>
                                    </m:ctrlPr>
                                  </m:funcPr>
                                  <m:fName>
                                    <m:r>
                                      <m:rPr>
                                        <m:sty m:val="p"/>
                                      </m:rPr>
                                      <a:rPr lang="en-US" altLang="zh-CN" sz="2400" b="0" i="0" smtClean="0">
                                        <a:latin typeface="Cambria Math" panose="02040503050406030204" pitchFamily="18" charset="0"/>
                                      </a:rPr>
                                      <m:t>sin</m:t>
                                    </m:r>
                                    <m:r>
                                      <a:rPr lang="en-US" altLang="zh-CN" sz="2400" i="0">
                                        <a:latin typeface="Cambria Math" panose="02040503050406030204" pitchFamily="18" charset="0"/>
                                      </a:rPr>
                                      <m:t>(</m:t>
                                    </m:r>
                                  </m:fNa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1</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𝜃</m:t>
                                        </m:r>
                                      </m:e>
                                      <m:sub>
                                        <m:r>
                                          <a:rPr lang="en-US" altLang="zh-CN" sz="2400">
                                            <a:latin typeface="Cambria Math" panose="02040503050406030204" pitchFamily="18" charset="0"/>
                                          </a:rPr>
                                          <m:t>2</m:t>
                                        </m:r>
                                      </m:sub>
                                    </m:sSub>
                                    <m:r>
                                      <a:rPr lang="en-US" altLang="zh-CN" sz="2400">
                                        <a:latin typeface="Cambria Math" panose="02040503050406030204" pitchFamily="18" charset="0"/>
                                      </a:rPr>
                                      <m:t>)</m:t>
                                    </m:r>
                                  </m:e>
                                </m:func>
                              </m:e>
                            </m:mr>
                            <m:mr>
                              <m:e>
                                <m:r>
                                  <a:rPr lang="en-US" altLang="zh-CN" sz="2400" b="0" i="0" smtClean="0">
                                    <a:latin typeface="Cambria Math" panose="02040503050406030204" pitchFamily="18" charset="0"/>
                                  </a:rPr>
                                  <m:t>0</m:t>
                                </m:r>
                              </m:e>
                              <m:e>
                                <m:r>
                                  <a:rPr lang="en-US" altLang="zh-CN" sz="2400" b="0" i="0" smtClean="0">
                                    <a:latin typeface="Cambria Math" panose="02040503050406030204" pitchFamily="18" charset="0"/>
                                  </a:rPr>
                                  <m:t>0</m:t>
                                </m:r>
                              </m:e>
                              <m:e>
                                <m:r>
                                  <a:rPr lang="en-US" altLang="zh-CN" sz="2400" b="0" i="0" smtClean="0">
                                    <a:latin typeface="Cambria Math" panose="02040503050406030204" pitchFamily="18" charset="0"/>
                                  </a:rPr>
                                  <m:t>1</m:t>
                                </m:r>
                              </m:e>
                              <m:e>
                                <m:r>
                                  <a:rPr lang="en-US" altLang="zh-CN" sz="2400" b="0" i="0" smtClean="0">
                                    <a:latin typeface="Cambria Math" panose="02040503050406030204" pitchFamily="18" charset="0"/>
                                  </a:rPr>
                                  <m:t>0</m:t>
                                </m:r>
                              </m:e>
                            </m:mr>
                            <m:mr>
                              <m:e>
                                <m:r>
                                  <a:rPr lang="zh-CN" altLang="en-US" sz="2400" i="0">
                                    <a:latin typeface="Cambria Math" panose="02040503050406030204" pitchFamily="18" charset="0"/>
                                  </a:rPr>
                                  <m:t>0</m:t>
                                </m:r>
                              </m:e>
                              <m:e>
                                <m:r>
                                  <a:rPr lang="zh-CN" altLang="en-US" sz="2400" i="0">
                                    <a:latin typeface="Cambria Math" panose="02040503050406030204" pitchFamily="18" charset="0"/>
                                  </a:rPr>
                                  <m:t>0</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oMath>
                  </m:oMathPara>
                </a14:m>
                <a:endParaRPr lang="zh-CN" altLang="en-US" sz="2400" dirty="0"/>
              </a:p>
            </p:txBody>
          </p:sp>
        </mc:Choice>
        <mc:Fallback xmlns="">
          <p:sp>
            <p:nvSpPr>
              <p:cNvPr id="19" name="矩形 18">
                <a:extLst>
                  <a:ext uri="{FF2B5EF4-FFF2-40B4-BE49-F238E27FC236}">
                    <a16:creationId xmlns:a16="http://schemas.microsoft.com/office/drawing/2014/main" id="{181BE633-904B-4936-A269-21D3D149EF6B}"/>
                  </a:ext>
                </a:extLst>
              </p:cNvPr>
              <p:cNvSpPr>
                <a:spLocks noRot="1" noChangeAspect="1" noMove="1" noResize="1" noEditPoints="1" noAdjustHandles="1" noChangeArrowheads="1" noChangeShapeType="1" noTextEdit="1"/>
              </p:cNvSpPr>
              <p:nvPr/>
            </p:nvSpPr>
            <p:spPr>
              <a:xfrm>
                <a:off x="192131" y="4931394"/>
                <a:ext cx="11887267" cy="1474506"/>
              </a:xfrm>
              <a:prstGeom prst="rect">
                <a:avLst/>
              </a:prstGeom>
              <a:blipFill>
                <a:blip r:embed="rId12"/>
                <a:stretch>
                  <a:fillRect/>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83C1AB04-ACAD-4DF0-B01A-3144E8DD3764}"/>
              </a:ext>
            </a:extLst>
          </p:cNvPr>
          <p:cNvCxnSpPr>
            <a:cxnSpLocks/>
          </p:cNvCxnSpPr>
          <p:nvPr/>
        </p:nvCxnSpPr>
        <p:spPr>
          <a:xfrm flipV="1">
            <a:off x="7200426" y="3530110"/>
            <a:ext cx="0" cy="83166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A9BE77D-FB37-45BD-8637-AFC880BA985C}"/>
                  </a:ext>
                </a:extLst>
              </p:cNvPr>
              <p:cNvSpPr txBox="1"/>
              <p:nvPr/>
            </p:nvSpPr>
            <p:spPr>
              <a:xfrm>
                <a:off x="6742198" y="3275640"/>
                <a:ext cx="5164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𝒀</m:t>
                          </m:r>
                        </m:e>
                        <m:sub>
                          <m:r>
                            <a:rPr lang="en-US" altLang="zh-CN" b="1">
                              <a:solidFill>
                                <a:srgbClr val="FFC000"/>
                              </a:solidFill>
                              <a:latin typeface="Cambria Math" panose="02040503050406030204" pitchFamily="18" charset="0"/>
                            </a:rPr>
                            <m:t>0</m:t>
                          </m:r>
                        </m:sub>
                      </m:sSub>
                    </m:oMath>
                  </m:oMathPara>
                </a14:m>
                <a:endParaRPr lang="zh-CN" altLang="en-US" b="1" dirty="0">
                  <a:solidFill>
                    <a:srgbClr val="FFC000"/>
                  </a:solidFill>
                </a:endParaRPr>
              </a:p>
            </p:txBody>
          </p:sp>
        </mc:Choice>
        <mc:Fallback xmlns="">
          <p:sp>
            <p:nvSpPr>
              <p:cNvPr id="31" name="文本框 30">
                <a:extLst>
                  <a:ext uri="{FF2B5EF4-FFF2-40B4-BE49-F238E27FC236}">
                    <a16:creationId xmlns:a16="http://schemas.microsoft.com/office/drawing/2014/main" id="{0A9BE77D-FB37-45BD-8637-AFC880BA985C}"/>
                  </a:ext>
                </a:extLst>
              </p:cNvPr>
              <p:cNvSpPr txBox="1">
                <a:spLocks noRot="1" noChangeAspect="1" noMove="1" noResize="1" noEditPoints="1" noAdjustHandles="1" noChangeArrowheads="1" noChangeShapeType="1" noTextEdit="1"/>
              </p:cNvSpPr>
              <p:nvPr/>
            </p:nvSpPr>
            <p:spPr>
              <a:xfrm>
                <a:off x="6742198" y="3275640"/>
                <a:ext cx="516423" cy="369332"/>
              </a:xfrm>
              <a:prstGeom prst="rect">
                <a:avLst/>
              </a:prstGeom>
              <a:blipFill>
                <a:blip r:embed="rId13"/>
                <a:stretch>
                  <a:fillRect/>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DCAD5E9D-43A2-48BA-8CDC-42E8D7C7CDAE}"/>
              </a:ext>
            </a:extLst>
          </p:cNvPr>
          <p:cNvSpPr txBox="1"/>
          <p:nvPr/>
        </p:nvSpPr>
        <p:spPr>
          <a:xfrm>
            <a:off x="0" y="33341"/>
            <a:ext cx="12192000"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机器人逆运动学求取方法：代数法</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2800" b="1" dirty="0">
                <a:solidFill>
                  <a:srgbClr val="9D1317"/>
                </a:solidFill>
                <a:latin typeface="微软雅黑" panose="020B0503020204020204" pitchFamily="34" charset="-122"/>
                <a:ea typeface="微软雅黑" panose="020B0503020204020204" pitchFamily="34" charset="-122"/>
              </a:rPr>
              <a:t>平面</a:t>
            </a:r>
            <a:r>
              <a:rPr lang="en-US" altLang="zh-CN" sz="2800" b="1" dirty="0">
                <a:solidFill>
                  <a:srgbClr val="9D1317"/>
                </a:solidFill>
                <a:latin typeface="微软雅黑" panose="020B0503020204020204" pitchFamily="34" charset="-122"/>
                <a:ea typeface="微软雅黑" panose="020B0503020204020204" pitchFamily="34" charset="-122"/>
              </a:rPr>
              <a:t>RRR</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107391593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989E3A-9D8B-4895-A07D-E915F3CC3ADD}"/>
              </a:ext>
            </a:extLst>
          </p:cNvPr>
          <p:cNvSpPr>
            <a:spLocks noGrp="1"/>
          </p:cNvSpPr>
          <p:nvPr>
            <p:ph type="sldNum" sz="quarter" idx="12"/>
          </p:nvPr>
        </p:nvSpPr>
        <p:spPr>
          <a:xfrm>
            <a:off x="10430067" y="6234104"/>
            <a:ext cx="1680000" cy="365125"/>
          </a:xfrm>
        </p:spPr>
        <p:txBody>
          <a:bodyPr/>
          <a:lstStyle/>
          <a:p>
            <a:pPr>
              <a:defRPr/>
            </a:pPr>
            <a:fld id="{DAA44188-3096-49C0-8534-FE6F15E0F67F}" type="slidenum">
              <a:rPr lang="zh-CN" altLang="en-US" smtClean="0">
                <a:solidFill>
                  <a:prstClr val="black">
                    <a:tint val="75000"/>
                  </a:prstClr>
                </a:solidFill>
              </a:rPr>
              <a:pPr>
                <a:defRPr/>
              </a:pPr>
              <a:t>8</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81BE633-904B-4936-A269-21D3D149EF6B}"/>
                  </a:ext>
                </a:extLst>
              </p:cNvPr>
              <p:cNvSpPr/>
              <p:nvPr/>
            </p:nvSpPr>
            <p:spPr>
              <a:xfrm>
                <a:off x="3983172" y="856648"/>
                <a:ext cx="7367658" cy="10139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US" altLang="zh-CN" sz="1600" i="1" smtClean="0">
                              <a:latin typeface="Cambria Math" panose="02040503050406030204" pitchFamily="18" charset="0"/>
                            </a:rPr>
                          </m:ctrlPr>
                        </m:sPrePr>
                        <m:sub>
                          <m:r>
                            <a:rPr lang="en-US" altLang="zh-CN" sz="1600">
                              <a:latin typeface="Cambria Math" panose="02040503050406030204" pitchFamily="18" charset="0"/>
                            </a:rPr>
                            <m:t>3</m:t>
                          </m:r>
                        </m:sub>
                        <m:sup>
                          <m:r>
                            <a:rPr lang="en-US" altLang="zh-CN" sz="1600">
                              <a:latin typeface="Cambria Math" panose="02040503050406030204" pitchFamily="18" charset="0"/>
                            </a:rPr>
                            <m:t>0</m:t>
                          </m:r>
                        </m:sup>
                        <m:e>
                          <m:r>
                            <a:rPr lang="en-US" altLang="zh-CN" sz="1600">
                              <a:latin typeface="Cambria Math" panose="02040503050406030204" pitchFamily="18" charset="0"/>
                            </a:rPr>
                            <m:t>𝑇</m:t>
                          </m:r>
                        </m:e>
                      </m:sPre>
                      <m:r>
                        <a:rPr lang="en-US" altLang="zh-CN" sz="1600">
                          <a:latin typeface="Cambria Math" panose="02040503050406030204" pitchFamily="18" charset="0"/>
                        </a:rPr>
                        <m:t>=</m:t>
                      </m:r>
                      <m:d>
                        <m:dPr>
                          <m:ctrlPr>
                            <a:rPr lang="zh-CN" altLang="en-US" sz="1600" i="1">
                              <a:latin typeface="Cambria Math" panose="02040503050406030204" pitchFamily="18" charset="0"/>
                            </a:rPr>
                          </m:ctrlPr>
                        </m:dPr>
                        <m:e>
                          <m:m>
                            <m:mPr>
                              <m:plcHide m:val="on"/>
                              <m:mcs>
                                <m:mc>
                                  <m:mcPr>
                                    <m:count m:val="4"/>
                                    <m:mcJc m:val="center"/>
                                  </m:mcPr>
                                </m:mc>
                              </m:mcs>
                              <m:ctrlPr>
                                <a:rPr lang="zh-CN" altLang="en-US" sz="1600" i="1">
                                  <a:latin typeface="Cambria Math" panose="02040503050406030204" pitchFamily="18" charset="0"/>
                                </a:rPr>
                              </m:ctrlPr>
                            </m:mPr>
                            <m:mr>
                              <m:e>
                                <m:r>
                                  <m:rPr>
                                    <m:sty m:val="p"/>
                                  </m:rPr>
                                  <a:rPr lang="en-US" altLang="zh-CN" sz="1600" smtClean="0">
                                    <a:latin typeface="Cambria Math" panose="02040503050406030204" pitchFamily="18" charset="0"/>
                                  </a:rPr>
                                  <m:t>cos</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m:t>
                                </m:r>
                              </m:e>
                              <m:e>
                                <m:func>
                                  <m:funcPr>
                                    <m:ctrlPr>
                                      <a:rPr lang="en-US" altLang="zh-CN" sz="1600" i="1">
                                        <a:latin typeface="Cambria Math" panose="02040503050406030204" pitchFamily="18" charset="0"/>
                                      </a:rPr>
                                    </m:ctrlPr>
                                  </m:funcPr>
                                  <m:fName>
                                    <m:r>
                                      <a:rPr lang="en-US" altLang="zh-CN" sz="1600" b="0" i="0" smtClean="0">
                                        <a:latin typeface="Cambria Math" panose="02040503050406030204" pitchFamily="18" charset="0"/>
                                      </a:rPr>
                                      <m:t>−</m:t>
                                    </m:r>
                                    <m:r>
                                      <m:rPr>
                                        <m:sty m:val="p"/>
                                      </m:rPr>
                                      <a:rPr lang="en-US" altLang="zh-CN" sz="1600" i="0">
                                        <a:latin typeface="Cambria Math" panose="02040503050406030204" pitchFamily="18" charset="0"/>
                                      </a:rPr>
                                      <m:t>sin</m:t>
                                    </m:r>
                                  </m:fName>
                                  <m:e>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3</m:t>
                                        </m:r>
                                      </m:sub>
                                    </m:sSub>
                                    <m:r>
                                      <a:rPr lang="en-US" altLang="zh-CN" sz="1600">
                                        <a:latin typeface="Cambria Math" panose="02040503050406030204" pitchFamily="18" charset="0"/>
                                      </a:rPr>
                                      <m:t>)</m:t>
                                    </m:r>
                                  </m:e>
                                </m:func>
                              </m:e>
                              <m:e>
                                <m:r>
                                  <a:rPr lang="en-US" altLang="zh-CN" sz="1600" b="0" i="0" smtClean="0">
                                    <a:latin typeface="Cambria Math" panose="02040503050406030204" pitchFamily="18" charset="0"/>
                                  </a:rPr>
                                  <m:t>0</m:t>
                                </m:r>
                              </m:e>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𝐿</m:t>
                                    </m:r>
                                  </m:e>
                                  <m:sub>
                                    <m:r>
                                      <a:rPr lang="en-US" altLang="zh-CN" sz="1600" b="0" i="1" smtClean="0">
                                        <a:latin typeface="Cambria Math" panose="02040503050406030204" pitchFamily="18" charset="0"/>
                                      </a:rPr>
                                      <m:t>1</m:t>
                                    </m:r>
                                  </m:sub>
                                </m:sSub>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cos</m:t>
                                    </m:r>
                                  </m:fName>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1</m:t>
                                        </m:r>
                                      </m:sub>
                                    </m:sSub>
                                  </m:e>
                                </m:func>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𝐿</m:t>
                                    </m:r>
                                  </m:e>
                                  <m:sub>
                                    <m:r>
                                      <a:rPr lang="en-US" altLang="zh-CN" sz="1600" b="0" i="1" smtClean="0">
                                        <a:latin typeface="Cambria Math" panose="02040503050406030204" pitchFamily="18" charset="0"/>
                                      </a:rPr>
                                      <m:t>2</m:t>
                                    </m:r>
                                  </m:sub>
                                </m:sSub>
                                <m:func>
                                  <m:funcPr>
                                    <m:ctrlPr>
                                      <a:rPr lang="en-US" altLang="zh-CN" sz="1600" i="1">
                                        <a:latin typeface="Cambria Math" panose="02040503050406030204" pitchFamily="18" charset="0"/>
                                      </a:rPr>
                                    </m:ctrlPr>
                                  </m:funcPr>
                                  <m:fName>
                                    <m:r>
                                      <m:rPr>
                                        <m:sty m:val="p"/>
                                      </m:rPr>
                                      <a:rPr lang="en-US" altLang="zh-CN" sz="1600" i="0">
                                        <a:latin typeface="Cambria Math" panose="02040503050406030204" pitchFamily="18" charset="0"/>
                                      </a:rPr>
                                      <m:t>cos</m:t>
                                    </m:r>
                                    <m:r>
                                      <a:rPr lang="en-US" altLang="zh-CN" sz="1600" b="0" i="0" smtClean="0">
                                        <a:latin typeface="Cambria Math" panose="02040503050406030204" pitchFamily="18" charset="0"/>
                                      </a:rPr>
                                      <m:t>(</m:t>
                                    </m:r>
                                  </m:fName>
                                  <m:e>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e>
                                </m:func>
                              </m:e>
                            </m:mr>
                            <m:mr>
                              <m:e>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sin</m:t>
                                    </m:r>
                                  </m:fName>
                                  <m:e>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3</m:t>
                                        </m:r>
                                      </m:sub>
                                    </m:sSub>
                                    <m:r>
                                      <a:rPr lang="en-US" altLang="zh-CN" sz="1600">
                                        <a:latin typeface="Cambria Math" panose="02040503050406030204" pitchFamily="18" charset="0"/>
                                      </a:rPr>
                                      <m:t>)</m:t>
                                    </m:r>
                                  </m:e>
                                </m:func>
                              </m:e>
                              <m:e>
                                <m:r>
                                  <m:rPr>
                                    <m:sty m:val="p"/>
                                  </m:rPr>
                                  <a:rPr lang="en-US" altLang="zh-CN" sz="1600">
                                    <a:latin typeface="Cambria Math" panose="02040503050406030204" pitchFamily="18" charset="0"/>
                                  </a:rPr>
                                  <m:t>cos</m:t>
                                </m:r>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3</m:t>
                                    </m:r>
                                  </m:sub>
                                </m:sSub>
                                <m:r>
                                  <a:rPr lang="en-US" altLang="zh-CN" sz="1600">
                                    <a:latin typeface="Cambria Math" panose="02040503050406030204" pitchFamily="18" charset="0"/>
                                  </a:rPr>
                                  <m:t>)</m:t>
                                </m:r>
                              </m:e>
                              <m:e>
                                <m:r>
                                  <a:rPr lang="en-US" altLang="zh-CN" sz="1600" b="0" i="0" smtClean="0">
                                    <a:latin typeface="Cambria Math" panose="02040503050406030204" pitchFamily="18" charset="0"/>
                                  </a:rPr>
                                  <m:t>0</m:t>
                                </m:r>
                              </m:e>
                              <m:e>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𝐿</m:t>
                                    </m:r>
                                  </m:e>
                                  <m:sub>
                                    <m:r>
                                      <a:rPr lang="en-US" altLang="zh-CN" sz="1600">
                                        <a:latin typeface="Cambria Math" panose="02040503050406030204" pitchFamily="18" charset="0"/>
                                      </a:rPr>
                                      <m:t>1</m:t>
                                    </m:r>
                                  </m:sub>
                                </m:sSub>
                                <m:func>
                                  <m:funcPr>
                                    <m:ctrlPr>
                                      <a:rPr lang="en-US" altLang="zh-CN" sz="1600" i="1">
                                        <a:latin typeface="Cambria Math" panose="02040503050406030204" pitchFamily="18" charset="0"/>
                                      </a:rPr>
                                    </m:ctrlPr>
                                  </m:funcPr>
                                  <m:fName>
                                    <m:r>
                                      <m:rPr>
                                        <m:sty m:val="p"/>
                                      </m:rPr>
                                      <a:rPr lang="en-US" altLang="zh-CN" sz="1600" b="0" i="0" smtClean="0">
                                        <a:latin typeface="Cambria Math" panose="02040503050406030204" pitchFamily="18" charset="0"/>
                                      </a:rPr>
                                      <m:t>sin</m:t>
                                    </m:r>
                                  </m:fName>
                                  <m:e>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e>
                                </m:func>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𝐿</m:t>
                                    </m:r>
                                  </m:e>
                                  <m:sub>
                                    <m:r>
                                      <a:rPr lang="en-US" altLang="zh-CN" sz="1600">
                                        <a:latin typeface="Cambria Math" panose="02040503050406030204" pitchFamily="18" charset="0"/>
                                      </a:rPr>
                                      <m:t>2</m:t>
                                    </m:r>
                                  </m:sub>
                                </m:sSub>
                                <m:func>
                                  <m:funcPr>
                                    <m:ctrlPr>
                                      <a:rPr lang="en-US" altLang="zh-CN" sz="1600" i="1">
                                        <a:latin typeface="Cambria Math" panose="02040503050406030204" pitchFamily="18" charset="0"/>
                                      </a:rPr>
                                    </m:ctrlPr>
                                  </m:funcPr>
                                  <m:fName>
                                    <m:r>
                                      <m:rPr>
                                        <m:sty m:val="p"/>
                                      </m:rPr>
                                      <a:rPr lang="en-US" altLang="zh-CN" sz="1600" b="0" i="0" smtClean="0">
                                        <a:latin typeface="Cambria Math" panose="02040503050406030204" pitchFamily="18" charset="0"/>
                                      </a:rPr>
                                      <m:t>sin</m:t>
                                    </m:r>
                                    <m:r>
                                      <a:rPr lang="en-US" altLang="zh-CN" sz="1600" i="0">
                                        <a:latin typeface="Cambria Math" panose="02040503050406030204" pitchFamily="18" charset="0"/>
                                      </a:rPr>
                                      <m:t>(</m:t>
                                    </m:r>
                                  </m:fName>
                                  <m:e>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a:latin typeface="Cambria Math" panose="02040503050406030204" pitchFamily="18" charset="0"/>
                                          </a:rPr>
                                          <m:t>𝜃</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e>
                                </m:func>
                              </m:e>
                            </m:mr>
                            <m:mr>
                              <m:e>
                                <m:r>
                                  <a:rPr lang="en-US" altLang="zh-CN" sz="1600" b="0" i="0" smtClean="0">
                                    <a:latin typeface="Cambria Math" panose="02040503050406030204" pitchFamily="18" charset="0"/>
                                  </a:rPr>
                                  <m:t>0</m:t>
                                </m:r>
                              </m:e>
                              <m:e>
                                <m:r>
                                  <a:rPr lang="en-US" altLang="zh-CN" sz="1600" b="0" i="0" smtClean="0">
                                    <a:latin typeface="Cambria Math" panose="02040503050406030204" pitchFamily="18" charset="0"/>
                                  </a:rPr>
                                  <m:t>0</m:t>
                                </m:r>
                              </m:e>
                              <m:e>
                                <m:r>
                                  <a:rPr lang="en-US" altLang="zh-CN" sz="1600" b="0" i="0" smtClean="0">
                                    <a:latin typeface="Cambria Math" panose="02040503050406030204" pitchFamily="18" charset="0"/>
                                  </a:rPr>
                                  <m:t>1</m:t>
                                </m:r>
                              </m:e>
                              <m:e>
                                <m:r>
                                  <a:rPr lang="en-US" altLang="zh-CN" sz="1600" b="0" i="0" smtClean="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9" name="矩形 18">
                <a:extLst>
                  <a:ext uri="{FF2B5EF4-FFF2-40B4-BE49-F238E27FC236}">
                    <a16:creationId xmlns:a16="http://schemas.microsoft.com/office/drawing/2014/main" id="{181BE633-904B-4936-A269-21D3D149EF6B}"/>
                  </a:ext>
                </a:extLst>
              </p:cNvPr>
              <p:cNvSpPr>
                <a:spLocks noRot="1" noChangeAspect="1" noMove="1" noResize="1" noEditPoints="1" noAdjustHandles="1" noChangeArrowheads="1" noChangeShapeType="1" noTextEdit="1"/>
              </p:cNvSpPr>
              <p:nvPr/>
            </p:nvSpPr>
            <p:spPr>
              <a:xfrm>
                <a:off x="3983172" y="856648"/>
                <a:ext cx="7367658" cy="1013996"/>
              </a:xfrm>
              <a:prstGeom prst="rect">
                <a:avLst/>
              </a:prstGeom>
              <a:blipFill>
                <a:blip r:embed="rId3"/>
                <a:stretch>
                  <a:fillRect/>
                </a:stretch>
              </a:blipFill>
            </p:spPr>
            <p:txBody>
              <a:bodyPr/>
              <a:lstStyle/>
              <a:p>
                <a:r>
                  <a:rPr lang="zh-CN" altLang="en-US">
                    <a:noFill/>
                  </a:rPr>
                  <a:t> </a:t>
                </a:r>
              </a:p>
            </p:txBody>
          </p:sp>
        </mc:Fallback>
      </mc:AlternateContent>
      <p:sp>
        <p:nvSpPr>
          <p:cNvPr id="20" name="矩形: 圆角 19">
            <a:extLst>
              <a:ext uri="{FF2B5EF4-FFF2-40B4-BE49-F238E27FC236}">
                <a16:creationId xmlns:a16="http://schemas.microsoft.com/office/drawing/2014/main" id="{01C2BDAA-17D8-4B00-A4B9-155DD480A475}"/>
              </a:ext>
            </a:extLst>
          </p:cNvPr>
          <p:cNvSpPr/>
          <p:nvPr/>
        </p:nvSpPr>
        <p:spPr>
          <a:xfrm>
            <a:off x="8663692" y="902297"/>
            <a:ext cx="2395601" cy="2205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23A745B0-B2C0-422E-997C-E5829124494A}"/>
              </a:ext>
            </a:extLst>
          </p:cNvPr>
          <p:cNvSpPr/>
          <p:nvPr/>
        </p:nvSpPr>
        <p:spPr>
          <a:xfrm>
            <a:off x="8663692" y="1165875"/>
            <a:ext cx="2395601" cy="220595"/>
          </a:xfrm>
          <a:prstGeom prst="round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F196CD3-96AA-4ED5-823E-E43587BE6F4A}"/>
              </a:ext>
            </a:extLst>
          </p:cNvPr>
          <p:cNvSpPr txBox="1"/>
          <p:nvPr/>
        </p:nvSpPr>
        <p:spPr>
          <a:xfrm>
            <a:off x="11087513" y="862173"/>
            <a:ext cx="409086" cy="307777"/>
          </a:xfrm>
          <a:prstGeom prst="rect">
            <a:avLst/>
          </a:prstGeom>
          <a:noFill/>
        </p:spPr>
        <p:txBody>
          <a:bodyPr wrap="none" rtlCol="0">
            <a:spAutoFit/>
          </a:bodyPr>
          <a:lstStyle/>
          <a:p>
            <a:r>
              <a:rPr lang="en-US" altLang="zh-CN" sz="1400" i="0" dirty="0">
                <a:solidFill>
                  <a:srgbClr val="FF0000"/>
                </a:solidFill>
                <a:latin typeface="微软雅黑" panose="020B0503020204020204" pitchFamily="34" charset="-122"/>
                <a:ea typeface="微软雅黑" panose="020B0503020204020204" pitchFamily="34" charset="-122"/>
              </a:rPr>
              <a:t>(1)</a:t>
            </a:r>
            <a:endParaRPr lang="zh-CN" altLang="en-US" sz="1400" i="0" dirty="0">
              <a:solidFill>
                <a:srgbClr val="FF000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B09AB56D-D317-4788-81D6-0F4B47F8C9EB}"/>
              </a:ext>
            </a:extLst>
          </p:cNvPr>
          <p:cNvSpPr txBox="1"/>
          <p:nvPr/>
        </p:nvSpPr>
        <p:spPr>
          <a:xfrm>
            <a:off x="11087513" y="1083038"/>
            <a:ext cx="409086" cy="307777"/>
          </a:xfrm>
          <a:prstGeom prst="rect">
            <a:avLst/>
          </a:prstGeom>
          <a:noFill/>
        </p:spPr>
        <p:txBody>
          <a:bodyPr wrap="none" rtlCol="0">
            <a:spAutoFit/>
          </a:bodyPr>
          <a:lstStyle/>
          <a:p>
            <a:r>
              <a:rPr lang="en-US" altLang="zh-CN" sz="1400" i="0" dirty="0">
                <a:solidFill>
                  <a:srgbClr val="0000CC"/>
                </a:solidFill>
                <a:latin typeface="微软雅黑" panose="020B0503020204020204" pitchFamily="34" charset="-122"/>
                <a:ea typeface="微软雅黑" panose="020B0503020204020204" pitchFamily="34" charset="-122"/>
              </a:rPr>
              <a:t>(2)</a:t>
            </a:r>
            <a:endParaRPr lang="zh-CN" altLang="en-US" sz="1400"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245DE34-9468-47EE-9DE2-451B19F5B798}"/>
                  </a:ext>
                </a:extLst>
              </p:cNvPr>
              <p:cNvSpPr/>
              <p:nvPr/>
            </p:nvSpPr>
            <p:spPr>
              <a:xfrm>
                <a:off x="718415" y="1974974"/>
                <a:ext cx="1023485" cy="5030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i="1">
                              <a:latin typeface="Cambria Math" panose="02040503050406030204" pitchFamily="18" charset="0"/>
                            </a:rPr>
                          </m:ctrlPr>
                        </m:groupChrPr>
                        <m:e>
                          <m:sSup>
                            <m:sSupPr>
                              <m:ctrlPr>
                                <a:rPr lang="en-US" altLang="zh-CN" i="1">
                                  <a:latin typeface="Cambria Math" panose="02040503050406030204" pitchFamily="18" charset="0"/>
                                </a:rPr>
                              </m:ctrlPr>
                            </m:sSupPr>
                            <m:e>
                              <m:d>
                                <m:dPr>
                                  <m:ctrlPr>
                                    <a:rPr lang="en-US" altLang="zh-CN" i="1" smtClean="0">
                                      <a:solidFill>
                                        <a:srgbClr val="FF0000"/>
                                      </a:solidFill>
                                      <a:latin typeface="Cambria Math" panose="02040503050406030204" pitchFamily="18" charset="0"/>
                                    </a:rPr>
                                  </m:ctrlPr>
                                </m:dPr>
                                <m:e>
                                  <m:r>
                                    <m:rPr>
                                      <m:brk m:alnAt="2"/>
                                    </m:rPr>
                                    <a:rPr lang="en-US" altLang="zh-CN">
                                      <a:solidFill>
                                        <a:srgbClr val="FF0000"/>
                                      </a:solidFill>
                                      <a:latin typeface="Cambria Math" panose="02040503050406030204" pitchFamily="18" charset="0"/>
                                    </a:rPr>
                                    <m:t>1</m:t>
                                  </m:r>
                                </m:e>
                              </m:d>
                            </m:e>
                            <m:sup>
                              <m:r>
                                <m:rPr>
                                  <m:brk m:alnAt="2"/>
                                </m:rPr>
                                <a:rPr lang="en-US" altLang="zh-CN">
                                  <a:latin typeface="Cambria Math" panose="02040503050406030204" pitchFamily="18" charset="0"/>
                                </a:rPr>
                                <m:t>2</m:t>
                              </m:r>
                            </m:sup>
                          </m:sSup>
                          <m:r>
                            <m:rPr>
                              <m:brk m:alnAt="2"/>
                            </m:rPr>
                            <a:rPr lang="en-US" altLang="zh-CN">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smtClean="0">
                                      <a:solidFill>
                                        <a:srgbClr val="0000CC"/>
                                      </a:solidFill>
                                      <a:latin typeface="Cambria Math" panose="02040503050406030204" pitchFamily="18" charset="0"/>
                                    </a:rPr>
                                  </m:ctrlPr>
                                </m:dPr>
                                <m:e>
                                  <m:r>
                                    <a:rPr lang="en-US" altLang="zh-CN">
                                      <a:solidFill>
                                        <a:srgbClr val="0000CC"/>
                                      </a:solidFill>
                                      <a:latin typeface="Cambria Math" panose="02040503050406030204" pitchFamily="18" charset="0"/>
                                    </a:rPr>
                                    <m:t>2</m:t>
                                  </m:r>
                                </m:e>
                              </m:d>
                            </m:e>
                            <m:sup>
                              <m:r>
                                <m:rPr>
                                  <m:brk m:alnAt="2"/>
                                </m:rPr>
                                <a:rPr lang="en-US" altLang="zh-CN">
                                  <a:latin typeface="Cambria Math" panose="02040503050406030204" pitchFamily="18" charset="0"/>
                                </a:rPr>
                                <m:t>2</m:t>
                              </m:r>
                            </m:sup>
                          </m:sSup>
                        </m:e>
                      </m:groupChr>
                    </m:oMath>
                  </m:oMathPara>
                </a14:m>
                <a:endParaRPr lang="zh-CN" altLang="en-US" dirty="0"/>
              </a:p>
            </p:txBody>
          </p:sp>
        </mc:Choice>
        <mc:Fallback xmlns="">
          <p:sp>
            <p:nvSpPr>
              <p:cNvPr id="24" name="矩形 23">
                <a:extLst>
                  <a:ext uri="{FF2B5EF4-FFF2-40B4-BE49-F238E27FC236}">
                    <a16:creationId xmlns:a16="http://schemas.microsoft.com/office/drawing/2014/main" id="{0245DE34-9468-47EE-9DE2-451B19F5B798}"/>
                  </a:ext>
                </a:extLst>
              </p:cNvPr>
              <p:cNvSpPr>
                <a:spLocks noRot="1" noChangeAspect="1" noMove="1" noResize="1" noEditPoints="1" noAdjustHandles="1" noChangeArrowheads="1" noChangeShapeType="1" noTextEdit="1"/>
              </p:cNvSpPr>
              <p:nvPr/>
            </p:nvSpPr>
            <p:spPr>
              <a:xfrm>
                <a:off x="718415" y="1974974"/>
                <a:ext cx="1023485" cy="50302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99CBC05B-A948-4500-9795-DDD7C45CE854}"/>
                  </a:ext>
                </a:extLst>
              </p:cNvPr>
              <p:cNvSpPr/>
              <p:nvPr/>
            </p:nvSpPr>
            <p:spPr>
              <a:xfrm>
                <a:off x="1520065" y="2088329"/>
                <a:ext cx="10692094" cy="4353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000" b="0" i="1" smtClean="0">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1</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+2</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b="0" i="1" smtClean="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r>
                        <a:rPr lang="en-US" altLang="zh-CN" sz="2000" b="0" i="1" smtClean="0">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i="0">
                              <a:latin typeface="Cambria Math" panose="02040503050406030204" pitchFamily="18" charset="0"/>
                            </a:rPr>
                            <m:t>cos</m:t>
                          </m:r>
                        </m:fNa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1</m:t>
                              </m:r>
                            </m:sub>
                          </m:sSub>
                        </m:e>
                      </m:func>
                      <m:func>
                        <m:funcPr>
                          <m:ctrlPr>
                            <a:rPr lang="en-US" altLang="zh-CN" sz="2000" i="1">
                              <a:latin typeface="Cambria Math" panose="02040503050406030204" pitchFamily="18" charset="0"/>
                            </a:rPr>
                          </m:ctrlPr>
                        </m:funcPr>
                        <m:fName>
                          <m:r>
                            <m:rPr>
                              <m:sty m:val="p"/>
                            </m:rPr>
                            <a:rPr lang="en-US" altLang="zh-CN" sz="2000" i="0">
                              <a:latin typeface="Cambria Math" panose="02040503050406030204" pitchFamily="18" charset="0"/>
                            </a:rPr>
                            <m:t>cos</m:t>
                          </m:r>
                          <m:r>
                            <a:rPr lang="en-US" altLang="zh-CN" sz="2000" i="0">
                              <a:latin typeface="Cambria Math" panose="02040503050406030204" pitchFamily="18" charset="0"/>
                            </a:rPr>
                            <m:t>⁡(</m:t>
                          </m:r>
                        </m:fNa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2</m:t>
                              </m:r>
                            </m:sub>
                          </m:sSub>
                          <m:r>
                            <a:rPr lang="en-US" altLang="zh-CN" sz="2000">
                              <a:latin typeface="Cambria Math" panose="02040503050406030204" pitchFamily="18" charset="0"/>
                            </a:rPr>
                            <m:t>)</m:t>
                          </m:r>
                        </m:e>
                      </m:func>
                      <m:r>
                        <a:rPr lang="en-US" altLang="zh-CN" sz="2000" b="0" i="1" smtClean="0">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smtClean="0">
                              <a:latin typeface="Cambria Math" panose="02040503050406030204" pitchFamily="18" charset="0"/>
                            </a:rPr>
                            <m:t>sin</m:t>
                          </m:r>
                        </m:fNa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1</m:t>
                              </m:r>
                            </m:sub>
                          </m:sSub>
                        </m:e>
                      </m:func>
                      <m:func>
                        <m:funcPr>
                          <m:ctrlPr>
                            <a:rPr lang="en-US" altLang="zh-CN" sz="2000" i="1">
                              <a:latin typeface="Cambria Math" panose="02040503050406030204" pitchFamily="18" charset="0"/>
                            </a:rPr>
                          </m:ctrlPr>
                        </m:funcPr>
                        <m:fName>
                          <m:r>
                            <m:rPr>
                              <m:sty m:val="p"/>
                            </m:rPr>
                            <a:rPr lang="en-US" altLang="zh-CN" sz="2000" b="0" i="0" smtClean="0">
                              <a:latin typeface="Cambria Math" panose="02040503050406030204" pitchFamily="18" charset="0"/>
                            </a:rPr>
                            <m:t>sin</m:t>
                          </m:r>
                          <m:r>
                            <a:rPr lang="en-US" altLang="zh-CN" sz="2000" b="0" i="0" smtClean="0">
                              <a:latin typeface="Cambria Math" panose="02040503050406030204" pitchFamily="18" charset="0"/>
                            </a:rPr>
                            <m:t>⁡(</m:t>
                          </m:r>
                        </m:fNa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2</m:t>
                              </m:r>
                            </m:sub>
                          </m:sSub>
                          <m:r>
                            <a:rPr lang="en-US" altLang="zh-CN" sz="2000">
                              <a:latin typeface="Cambria Math" panose="02040503050406030204" pitchFamily="18" charset="0"/>
                            </a:rPr>
                            <m:t>)</m:t>
                          </m:r>
                          <m:r>
                            <a:rPr lang="en-US" altLang="zh-CN" sz="2000" b="0" i="1" smtClean="0">
                              <a:latin typeface="Cambria Math" panose="02040503050406030204" pitchFamily="18" charset="0"/>
                            </a:rPr>
                            <m:t>)</m:t>
                          </m:r>
                        </m:e>
                      </m:func>
                      <m:r>
                        <a:rPr lang="en-US" altLang="zh-CN" sz="2000" b="0" i="1" smtClean="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1</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up>
                          <m:r>
                            <a:rPr lang="en-US" altLang="zh-CN" sz="2000">
                              <a:latin typeface="Cambria Math" panose="02040503050406030204" pitchFamily="18" charset="0"/>
                            </a:rPr>
                            <m:t>2</m:t>
                          </m:r>
                        </m:sup>
                      </m:sSubSup>
                      <m:r>
                        <a:rPr lang="en-US" altLang="zh-CN" sz="2000">
                          <a:latin typeface="Cambria Math" panose="02040503050406030204" pitchFamily="18" charset="0"/>
                        </a:rPr>
                        <m:t>+2</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a:latin typeface="Cambria Math" panose="02040503050406030204" pitchFamily="18" charset="0"/>
                            </a:rPr>
                            <m:t>1</m:t>
                          </m:r>
                        </m:sub>
                      </m:sSub>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func>
                        <m:funcPr>
                          <m:ctrlPr>
                            <a:rPr lang="en-US" altLang="zh-CN" sz="2000" b="0" i="1" smtClean="0">
                              <a:latin typeface="Cambria Math" panose="02040503050406030204" pitchFamily="18" charset="0"/>
                            </a:rPr>
                          </m:ctrlPr>
                        </m:funcPr>
                        <m:fName>
                          <m:r>
                            <m:rPr>
                              <m:sty m:val="p"/>
                            </m:rPr>
                            <a:rPr lang="en-US" altLang="zh-CN" sz="2000" b="0" i="0" smtClean="0">
                              <a:latin typeface="Cambria Math" panose="02040503050406030204" pitchFamily="18" charset="0"/>
                            </a:rPr>
                            <m:t>cos</m:t>
                          </m:r>
                        </m:fNa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𝜃</m:t>
                              </m:r>
                            </m:e>
                            <m:sub>
                              <m:r>
                                <a:rPr lang="en-US" altLang="zh-CN" sz="2000" b="0" i="1" smtClean="0">
                                  <a:latin typeface="Cambria Math" panose="02040503050406030204" pitchFamily="18" charset="0"/>
                                </a:rPr>
                                <m:t>2</m:t>
                              </m:r>
                            </m:sub>
                          </m:sSub>
                        </m:e>
                      </m:func>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up>
                          <m:r>
                            <a:rPr lang="en-US" altLang="zh-CN" sz="2000" b="0" i="1" smtClean="0">
                              <a:latin typeface="Cambria Math" panose="02040503050406030204" pitchFamily="18" charset="0"/>
                            </a:rPr>
                            <m:t>2</m:t>
                          </m:r>
                        </m:sup>
                      </m:sSubSup>
                    </m:oMath>
                  </m:oMathPara>
                </a14:m>
                <a:endParaRPr lang="zh-CN" altLang="en-US" sz="2000" dirty="0"/>
              </a:p>
            </p:txBody>
          </p:sp>
        </mc:Choice>
        <mc:Fallback xmlns="">
          <p:sp>
            <p:nvSpPr>
              <p:cNvPr id="25" name="矩形 24">
                <a:extLst>
                  <a:ext uri="{FF2B5EF4-FFF2-40B4-BE49-F238E27FC236}">
                    <a16:creationId xmlns:a16="http://schemas.microsoft.com/office/drawing/2014/main" id="{99CBC05B-A948-4500-9795-DDD7C45CE854}"/>
                  </a:ext>
                </a:extLst>
              </p:cNvPr>
              <p:cNvSpPr>
                <a:spLocks noRot="1" noChangeAspect="1" noMove="1" noResize="1" noEditPoints="1" noAdjustHandles="1" noChangeArrowheads="1" noChangeShapeType="1" noTextEdit="1"/>
              </p:cNvSpPr>
              <p:nvPr/>
            </p:nvSpPr>
            <p:spPr>
              <a:xfrm>
                <a:off x="1520065" y="2088329"/>
                <a:ext cx="10692094" cy="435312"/>
              </a:xfrm>
              <a:prstGeom prst="rect">
                <a:avLst/>
              </a:prstGeom>
              <a:blipFill>
                <a:blip r:embed="rId5"/>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E1EFA6EA-018A-4A33-8CED-90B7F16C49DC}"/>
                  </a:ext>
                </a:extLst>
              </p:cNvPr>
              <p:cNvSpPr/>
              <p:nvPr/>
            </p:nvSpPr>
            <p:spPr>
              <a:xfrm>
                <a:off x="905563" y="821321"/>
                <a:ext cx="2855269" cy="1012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US" altLang="zh-CN" sz="1600" i="1" smtClean="0">
                              <a:latin typeface="Cambria Math" panose="02040503050406030204" pitchFamily="18" charset="0"/>
                            </a:rPr>
                          </m:ctrlPr>
                        </m:sPrePr>
                        <m:sub>
                          <m:r>
                            <a:rPr lang="en-US" altLang="zh-CN" sz="1600">
                              <a:latin typeface="Cambria Math" panose="02040503050406030204" pitchFamily="18" charset="0"/>
                            </a:rPr>
                            <m:t>3</m:t>
                          </m:r>
                        </m:sub>
                        <m:sup>
                          <m:r>
                            <a:rPr lang="en-US" altLang="zh-CN" sz="1600" b="0" i="1" smtClean="0">
                              <a:latin typeface="Cambria Math" panose="02040503050406030204" pitchFamily="18" charset="0"/>
                            </a:rPr>
                            <m:t>0</m:t>
                          </m:r>
                        </m:sup>
                        <m:e>
                          <m:r>
                            <a:rPr lang="en-US" altLang="zh-CN" sz="1600" b="0" i="1" smtClean="0">
                              <a:latin typeface="Cambria Math" panose="02040503050406030204" pitchFamily="18" charset="0"/>
                            </a:rPr>
                            <m:t>𝑇</m:t>
                          </m:r>
                        </m:e>
                      </m:sPre>
                      <m:r>
                        <a:rPr lang="en-US" altLang="zh-CN" sz="1600" smtClean="0">
                          <a:latin typeface="Cambria Math" panose="02040503050406030204" pitchFamily="18" charset="0"/>
                        </a:rPr>
                        <m:t>=</m:t>
                      </m:r>
                      <m:d>
                        <m:dPr>
                          <m:ctrlPr>
                            <a:rPr lang="zh-CN" altLang="en-US" sz="1600" i="1">
                              <a:latin typeface="Cambria Math" panose="02040503050406030204" pitchFamily="18" charset="0"/>
                            </a:rPr>
                          </m:ctrlPr>
                        </m:dPr>
                        <m:e>
                          <m:m>
                            <m:mPr>
                              <m:plcHide m:val="on"/>
                              <m:mcs>
                                <m:mc>
                                  <m:mcPr>
                                    <m:count m:val="4"/>
                                    <m:mcJc m:val="center"/>
                                  </m:mcPr>
                                </m:mc>
                              </m:mcs>
                              <m:ctrlPr>
                                <a:rPr lang="zh-CN" altLang="en-US" sz="1600" i="1">
                                  <a:latin typeface="Cambria Math" panose="02040503050406030204" pitchFamily="18" charset="0"/>
                                </a:rPr>
                              </m:ctrlPr>
                            </m:mPr>
                            <m:mr>
                              <m:e>
                                <m:r>
                                  <m:rPr>
                                    <m:sty m:val="p"/>
                                  </m:rPr>
                                  <a:rPr lang="zh-CN" altLang="en-US" sz="1600">
                                    <a:latin typeface="Cambria Math" panose="02040503050406030204" pitchFamily="18" charset="0"/>
                                  </a:rPr>
                                  <m:t>r</m:t>
                                </m:r>
                                <m:r>
                                  <a:rPr lang="zh-CN" altLang="en-US" sz="1600">
                                    <a:latin typeface="Cambria Math" panose="02040503050406030204" pitchFamily="18" charset="0"/>
                                  </a:rPr>
                                  <m:t>11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13</m:t>
                                </m:r>
                              </m:e>
                              <m:e>
                                <m:r>
                                  <m:rPr>
                                    <m:sty m:val="p"/>
                                  </m:rPr>
                                  <a:rPr lang="zh-CN" altLang="en-US" sz="1600" i="0">
                                    <a:latin typeface="Cambria Math" panose="02040503050406030204" pitchFamily="18" charset="0"/>
                                  </a:rPr>
                                  <m:t>px</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23</m:t>
                                </m:r>
                              </m:e>
                              <m:e>
                                <m:r>
                                  <m:rPr>
                                    <m:sty m:val="p"/>
                                  </m:rPr>
                                  <a:rPr lang="zh-CN" altLang="en-US" sz="1600" i="0">
                                    <a:latin typeface="Cambria Math" panose="02040503050406030204" pitchFamily="18" charset="0"/>
                                  </a:rPr>
                                  <m:t>py</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33</m:t>
                                </m:r>
                              </m:e>
                              <m:e>
                                <m:r>
                                  <m:rPr>
                                    <m:sty m:val="p"/>
                                  </m:rPr>
                                  <a:rPr lang="zh-CN" altLang="en-US" sz="1600" i="0">
                                    <a:latin typeface="Cambria Math" panose="02040503050406030204" pitchFamily="18" charset="0"/>
                                  </a:rPr>
                                  <m:t>pz</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26" name="矩形 25">
                <a:extLst>
                  <a:ext uri="{FF2B5EF4-FFF2-40B4-BE49-F238E27FC236}">
                    <a16:creationId xmlns:a16="http://schemas.microsoft.com/office/drawing/2014/main" id="{E1EFA6EA-018A-4A33-8CED-90B7F16C49DC}"/>
                  </a:ext>
                </a:extLst>
              </p:cNvPr>
              <p:cNvSpPr>
                <a:spLocks noRot="1" noChangeAspect="1" noMove="1" noResize="1" noEditPoints="1" noAdjustHandles="1" noChangeArrowheads="1" noChangeShapeType="1" noTextEdit="1"/>
              </p:cNvSpPr>
              <p:nvPr/>
            </p:nvSpPr>
            <p:spPr>
              <a:xfrm>
                <a:off x="905563" y="821321"/>
                <a:ext cx="2855269" cy="101207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D1B0C2DD-547F-40AA-A8B4-792B9D851A2E}"/>
                  </a:ext>
                </a:extLst>
              </p:cNvPr>
              <p:cNvSpPr/>
              <p:nvPr/>
            </p:nvSpPr>
            <p:spPr>
              <a:xfrm>
                <a:off x="742652" y="2813562"/>
                <a:ext cx="4869248" cy="506870"/>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ea typeface="+mn-ea"/>
                            </a:rPr>
                          </m:ctrlPr>
                        </m:sSubPr>
                        <m:e>
                          <m:r>
                            <a:rPr lang="en-US" altLang="zh-CN" sz="2000" smtClean="0">
                              <a:solidFill>
                                <a:schemeClr val="tx1"/>
                              </a:solidFill>
                              <a:latin typeface="Cambria Math" panose="02040503050406030204" pitchFamily="18" charset="0"/>
                              <a:ea typeface="+mn-ea"/>
                            </a:rPr>
                            <m:t>𝜃</m:t>
                          </m:r>
                        </m:e>
                        <m:sub>
                          <m:r>
                            <a:rPr lang="en-US" altLang="zh-CN" sz="2000" smtClean="0">
                              <a:solidFill>
                                <a:schemeClr val="tx1"/>
                              </a:solidFill>
                              <a:latin typeface="Cambria Math" panose="02040503050406030204" pitchFamily="18" charset="0"/>
                              <a:ea typeface="+mn-ea"/>
                            </a:rPr>
                            <m:t>2</m:t>
                          </m:r>
                        </m:sub>
                      </m:sSub>
                      <m:r>
                        <a:rPr lang="en-US" altLang="zh-CN" sz="2000">
                          <a:solidFill>
                            <a:schemeClr val="tx1"/>
                          </a:solidFill>
                          <a:latin typeface="Cambria Math" panose="02040503050406030204" pitchFamily="18" charset="0"/>
                          <a:ea typeface="+mn-ea"/>
                        </a:rPr>
                        <m:t>=</m:t>
                      </m:r>
                      <m:func>
                        <m:funcPr>
                          <m:ctrlPr>
                            <a:rPr lang="en-US" altLang="zh-CN" sz="2000" i="1">
                              <a:solidFill>
                                <a:schemeClr val="tx1"/>
                              </a:solidFill>
                              <a:latin typeface="Cambria Math" panose="02040503050406030204" pitchFamily="18" charset="0"/>
                              <a:ea typeface="+mn-ea"/>
                            </a:rPr>
                          </m:ctrlPr>
                        </m:funcPr>
                        <m:fName>
                          <m:r>
                            <m:rPr>
                              <m:sty m:val="p"/>
                            </m:rPr>
                            <a:rPr lang="en-US" altLang="zh-CN" sz="2000">
                              <a:solidFill>
                                <a:schemeClr val="tx1"/>
                              </a:solidFill>
                              <a:latin typeface="Cambria Math" panose="02040503050406030204" pitchFamily="18" charset="0"/>
                              <a:ea typeface="+mn-ea"/>
                            </a:rPr>
                            <m:t>arccos</m:t>
                          </m:r>
                        </m:fName>
                        <m:e>
                          <m:d>
                            <m:dPr>
                              <m:ctrlPr>
                                <a:rPr lang="en-US" altLang="zh-CN" sz="2000" i="1">
                                  <a:solidFill>
                                    <a:schemeClr val="tx1"/>
                                  </a:solidFill>
                                  <a:latin typeface="Cambria Math" panose="02040503050406030204" pitchFamily="18" charset="0"/>
                                  <a:ea typeface="+mn-ea"/>
                                </a:rPr>
                              </m:ctrlPr>
                            </m:dPr>
                            <m:e>
                              <m:d>
                                <m:dPr>
                                  <m:ctrlPr>
                                    <a:rPr lang="en-US" altLang="zh-CN" sz="2000" i="1" smtClean="0">
                                      <a:solidFill>
                                        <a:schemeClr val="tx1"/>
                                      </a:solidFill>
                                      <a:latin typeface="Cambria Math" panose="02040503050406030204" pitchFamily="18" charset="0"/>
                                      <a:ea typeface="+mn-ea"/>
                                    </a:rPr>
                                  </m:ctrlPr>
                                </m:dPr>
                                <m:e>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𝑝</m:t>
                                      </m:r>
                                    </m:e>
                                    <m:sub>
                                      <m:r>
                                        <a:rPr lang="en-US" altLang="zh-CN" sz="2000">
                                          <a:solidFill>
                                            <a:schemeClr val="tx1"/>
                                          </a:solidFill>
                                          <a:latin typeface="Cambria Math" panose="02040503050406030204" pitchFamily="18" charset="0"/>
                                          <a:ea typeface="+mn-ea"/>
                                        </a:rPr>
                                        <m:t>𝑥</m:t>
                                      </m:r>
                                    </m:sub>
                                    <m:sup>
                                      <m:r>
                                        <a:rPr lang="en-US" altLang="zh-CN" sz="2000">
                                          <a:solidFill>
                                            <a:schemeClr val="tx1"/>
                                          </a:solidFill>
                                          <a:latin typeface="Cambria Math" panose="02040503050406030204" pitchFamily="18" charset="0"/>
                                          <a:ea typeface="+mn-ea"/>
                                        </a:rPr>
                                        <m:t>2</m:t>
                                      </m:r>
                                    </m:sup>
                                  </m:sSubSup>
                                  <m:r>
                                    <a:rPr lang="en-US" altLang="zh-CN" sz="200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𝑝</m:t>
                                      </m:r>
                                    </m:e>
                                    <m:sub>
                                      <m:r>
                                        <a:rPr lang="en-US" altLang="zh-CN" sz="2000">
                                          <a:solidFill>
                                            <a:schemeClr val="tx1"/>
                                          </a:solidFill>
                                          <a:latin typeface="Cambria Math" panose="02040503050406030204" pitchFamily="18" charset="0"/>
                                          <a:ea typeface="+mn-ea"/>
                                        </a:rPr>
                                        <m:t>𝑦</m:t>
                                      </m:r>
                                    </m:sub>
                                    <m:sup>
                                      <m:r>
                                        <a:rPr lang="en-US" altLang="zh-CN" sz="2000">
                                          <a:solidFill>
                                            <a:schemeClr val="tx1"/>
                                          </a:solidFill>
                                          <a:latin typeface="Cambria Math" panose="02040503050406030204" pitchFamily="18" charset="0"/>
                                          <a:ea typeface="+mn-ea"/>
                                        </a:rPr>
                                        <m:t>2</m:t>
                                      </m:r>
                                    </m:sup>
                                  </m:sSubSup>
                                  <m:r>
                                    <a:rPr lang="en-US" altLang="zh-CN" sz="2000" smtClean="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1</m:t>
                                      </m:r>
                                    </m:sub>
                                    <m:sup>
                                      <m:r>
                                        <a:rPr lang="en-US" altLang="zh-CN" sz="2000">
                                          <a:solidFill>
                                            <a:schemeClr val="tx1"/>
                                          </a:solidFill>
                                          <a:latin typeface="Cambria Math" panose="02040503050406030204" pitchFamily="18" charset="0"/>
                                          <a:ea typeface="+mn-ea"/>
                                        </a:rPr>
                                        <m:t>2</m:t>
                                      </m:r>
                                    </m:sup>
                                  </m:sSubSup>
                                  <m:r>
                                    <a:rPr lang="en-US" altLang="zh-CN" sz="2000" b="0" i="1" smtClean="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2</m:t>
                                      </m:r>
                                    </m:sub>
                                    <m:sup>
                                      <m:r>
                                        <a:rPr lang="en-US" altLang="zh-CN" sz="2000">
                                          <a:solidFill>
                                            <a:schemeClr val="tx1"/>
                                          </a:solidFill>
                                          <a:latin typeface="Cambria Math" panose="02040503050406030204" pitchFamily="18" charset="0"/>
                                          <a:ea typeface="+mn-ea"/>
                                        </a:rPr>
                                        <m:t>2</m:t>
                                      </m:r>
                                    </m:sup>
                                  </m:sSubSup>
                                </m:e>
                              </m:d>
                              <m:r>
                                <a:rPr lang="en-US" altLang="zh-CN" sz="2000" smtClean="0">
                                  <a:solidFill>
                                    <a:schemeClr val="tx1"/>
                                  </a:solidFill>
                                  <a:latin typeface="Cambria Math" panose="02040503050406030204" pitchFamily="18" charset="0"/>
                                  <a:ea typeface="+mn-ea"/>
                                </a:rPr>
                                <m:t>/</m:t>
                              </m:r>
                              <m:r>
                                <a:rPr lang="en-US" altLang="zh-CN" sz="2000">
                                  <a:solidFill>
                                    <a:schemeClr val="tx1"/>
                                  </a:solidFill>
                                  <a:latin typeface="Cambria Math" panose="02040503050406030204" pitchFamily="18" charset="0"/>
                                  <a:ea typeface="+mn-ea"/>
                                </a:rPr>
                                <m:t>2</m:t>
                              </m:r>
                              <m:sSub>
                                <m:sSubPr>
                                  <m:ctrlPr>
                                    <a:rPr lang="en-US" altLang="zh-CN" sz="2000" i="1">
                                      <a:solidFill>
                                        <a:schemeClr val="tx1"/>
                                      </a:solidFill>
                                      <a:latin typeface="Cambria Math" panose="02040503050406030204" pitchFamily="18" charset="0"/>
                                      <a:ea typeface="+mn-ea"/>
                                    </a:rPr>
                                  </m:ctrlPr>
                                </m:sSub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1</m:t>
                                  </m:r>
                                </m:sub>
                              </m:sSub>
                              <m:sSub>
                                <m:sSubPr>
                                  <m:ctrlPr>
                                    <a:rPr lang="en-US" altLang="zh-CN" sz="2000" i="1">
                                      <a:solidFill>
                                        <a:schemeClr val="tx1"/>
                                      </a:solidFill>
                                      <a:latin typeface="Cambria Math" panose="02040503050406030204" pitchFamily="18" charset="0"/>
                                      <a:ea typeface="+mn-ea"/>
                                    </a:rPr>
                                  </m:ctrlPr>
                                </m:sSub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2</m:t>
                                  </m:r>
                                </m:sub>
                              </m:sSub>
                            </m:e>
                          </m:d>
                        </m:e>
                      </m:func>
                    </m:oMath>
                  </m:oMathPara>
                </a14:m>
                <a:endParaRPr lang="zh-CN" altLang="en-US" sz="2000" dirty="0">
                  <a:solidFill>
                    <a:schemeClr val="tx1"/>
                  </a:solidFill>
                  <a:latin typeface="Cambria Math" panose="02040503050406030204" pitchFamily="18" charset="0"/>
                  <a:ea typeface="+mn-ea"/>
                </a:endParaRPr>
              </a:p>
            </p:txBody>
          </p:sp>
        </mc:Choice>
        <mc:Fallback xmlns="">
          <p:sp>
            <p:nvSpPr>
              <p:cNvPr id="27" name="矩形 26">
                <a:extLst>
                  <a:ext uri="{FF2B5EF4-FFF2-40B4-BE49-F238E27FC236}">
                    <a16:creationId xmlns:a16="http://schemas.microsoft.com/office/drawing/2014/main" id="{D1B0C2DD-547F-40AA-A8B4-792B9D851A2E}"/>
                  </a:ext>
                </a:extLst>
              </p:cNvPr>
              <p:cNvSpPr>
                <a:spLocks noRot="1" noChangeAspect="1" noMove="1" noResize="1" noEditPoints="1" noAdjustHandles="1" noChangeArrowheads="1" noChangeShapeType="1" noTextEdit="1"/>
              </p:cNvSpPr>
              <p:nvPr/>
            </p:nvSpPr>
            <p:spPr>
              <a:xfrm>
                <a:off x="742652" y="2813562"/>
                <a:ext cx="4869248" cy="506870"/>
              </a:xfrm>
              <a:prstGeom prst="rect">
                <a:avLst/>
              </a:prstGeom>
              <a:blipFill>
                <a:blip r:embed="rId7"/>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4FED4965-BA9B-4D44-8015-0466A6AEF537}"/>
                  </a:ext>
                </a:extLst>
              </p:cNvPr>
              <p:cNvSpPr/>
              <p:nvPr/>
            </p:nvSpPr>
            <p:spPr>
              <a:xfrm>
                <a:off x="5849078" y="2814197"/>
                <a:ext cx="4930611" cy="43531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ea typeface="+mn-ea"/>
                            </a:rPr>
                          </m:ctrlPr>
                        </m:sSubPr>
                        <m:e>
                          <m:r>
                            <a:rPr lang="en-US" altLang="zh-CN" sz="2000" smtClean="0">
                              <a:solidFill>
                                <a:schemeClr val="tx1"/>
                              </a:solidFill>
                              <a:latin typeface="Cambria Math" panose="02040503050406030204" pitchFamily="18" charset="0"/>
                              <a:ea typeface="+mn-ea"/>
                            </a:rPr>
                            <m:t>𝜃</m:t>
                          </m:r>
                        </m:e>
                        <m:sub>
                          <m:r>
                            <a:rPr lang="en-US" altLang="zh-CN" sz="2000" smtClean="0">
                              <a:solidFill>
                                <a:schemeClr val="tx1"/>
                              </a:solidFill>
                              <a:latin typeface="Cambria Math" panose="02040503050406030204" pitchFamily="18" charset="0"/>
                              <a:ea typeface="+mn-ea"/>
                            </a:rPr>
                            <m:t>2</m:t>
                          </m:r>
                        </m:sub>
                      </m:sSub>
                      <m:r>
                        <a:rPr lang="en-US" altLang="zh-CN" sz="2000">
                          <a:solidFill>
                            <a:schemeClr val="tx1"/>
                          </a:solidFill>
                          <a:latin typeface="Cambria Math" panose="02040503050406030204" pitchFamily="18" charset="0"/>
                          <a:ea typeface="+mn-ea"/>
                        </a:rPr>
                        <m:t>=</m:t>
                      </m:r>
                      <m:func>
                        <m:funcPr>
                          <m:ctrlPr>
                            <a:rPr lang="en-US" altLang="zh-CN" sz="2000" i="1">
                              <a:solidFill>
                                <a:schemeClr val="tx1"/>
                              </a:solidFill>
                              <a:latin typeface="Cambria Math" panose="02040503050406030204" pitchFamily="18" charset="0"/>
                              <a:ea typeface="+mn-ea"/>
                            </a:rPr>
                          </m:ctrlPr>
                        </m:funcPr>
                        <m:fName>
                          <m:r>
                            <a:rPr lang="en-US" altLang="zh-CN" sz="2000" b="0" i="1" smtClean="0">
                              <a:solidFill>
                                <a:schemeClr val="tx1"/>
                              </a:solidFill>
                              <a:latin typeface="Cambria Math" panose="02040503050406030204" pitchFamily="18" charset="0"/>
                              <a:ea typeface="+mn-ea"/>
                            </a:rPr>
                            <m:t>−</m:t>
                          </m:r>
                          <m:r>
                            <m:rPr>
                              <m:sty m:val="p"/>
                            </m:rPr>
                            <a:rPr lang="en-US" altLang="zh-CN" sz="2000">
                              <a:solidFill>
                                <a:schemeClr val="tx1"/>
                              </a:solidFill>
                              <a:latin typeface="Cambria Math" panose="02040503050406030204" pitchFamily="18" charset="0"/>
                              <a:ea typeface="+mn-ea"/>
                            </a:rPr>
                            <m:t>arccos</m:t>
                          </m:r>
                        </m:fName>
                        <m:e>
                          <m:d>
                            <m:dPr>
                              <m:ctrlPr>
                                <a:rPr lang="en-US" altLang="zh-CN" sz="2000" i="1">
                                  <a:solidFill>
                                    <a:schemeClr val="tx1"/>
                                  </a:solidFill>
                                  <a:latin typeface="Cambria Math" panose="02040503050406030204" pitchFamily="18" charset="0"/>
                                  <a:ea typeface="+mn-ea"/>
                                </a:rPr>
                              </m:ctrlPr>
                            </m:dPr>
                            <m:e>
                              <m:d>
                                <m:dPr>
                                  <m:ctrlPr>
                                    <a:rPr lang="en-US" altLang="zh-CN" sz="2000" i="1" smtClean="0">
                                      <a:solidFill>
                                        <a:schemeClr val="tx1"/>
                                      </a:solidFill>
                                      <a:latin typeface="Cambria Math" panose="02040503050406030204" pitchFamily="18" charset="0"/>
                                      <a:ea typeface="+mn-ea"/>
                                    </a:rPr>
                                  </m:ctrlPr>
                                </m:dPr>
                                <m:e>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𝑝</m:t>
                                      </m:r>
                                    </m:e>
                                    <m:sub>
                                      <m:r>
                                        <a:rPr lang="en-US" altLang="zh-CN" sz="2000">
                                          <a:solidFill>
                                            <a:schemeClr val="tx1"/>
                                          </a:solidFill>
                                          <a:latin typeface="Cambria Math" panose="02040503050406030204" pitchFamily="18" charset="0"/>
                                          <a:ea typeface="+mn-ea"/>
                                        </a:rPr>
                                        <m:t>𝑥</m:t>
                                      </m:r>
                                    </m:sub>
                                    <m:sup>
                                      <m:r>
                                        <a:rPr lang="en-US" altLang="zh-CN" sz="2000">
                                          <a:solidFill>
                                            <a:schemeClr val="tx1"/>
                                          </a:solidFill>
                                          <a:latin typeface="Cambria Math" panose="02040503050406030204" pitchFamily="18" charset="0"/>
                                          <a:ea typeface="+mn-ea"/>
                                        </a:rPr>
                                        <m:t>2</m:t>
                                      </m:r>
                                    </m:sup>
                                  </m:sSubSup>
                                  <m:r>
                                    <a:rPr lang="en-US" altLang="zh-CN" sz="200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𝑝</m:t>
                                      </m:r>
                                    </m:e>
                                    <m:sub>
                                      <m:r>
                                        <a:rPr lang="en-US" altLang="zh-CN" sz="2000">
                                          <a:solidFill>
                                            <a:schemeClr val="tx1"/>
                                          </a:solidFill>
                                          <a:latin typeface="Cambria Math" panose="02040503050406030204" pitchFamily="18" charset="0"/>
                                          <a:ea typeface="+mn-ea"/>
                                        </a:rPr>
                                        <m:t>𝑦</m:t>
                                      </m:r>
                                    </m:sub>
                                    <m:sup>
                                      <m:r>
                                        <a:rPr lang="en-US" altLang="zh-CN" sz="2000">
                                          <a:solidFill>
                                            <a:schemeClr val="tx1"/>
                                          </a:solidFill>
                                          <a:latin typeface="Cambria Math" panose="02040503050406030204" pitchFamily="18" charset="0"/>
                                          <a:ea typeface="+mn-ea"/>
                                        </a:rPr>
                                        <m:t>2</m:t>
                                      </m:r>
                                    </m:sup>
                                  </m:sSubSup>
                                  <m:r>
                                    <a:rPr lang="en-US" altLang="zh-CN" sz="2000" smtClean="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1</m:t>
                                      </m:r>
                                    </m:sub>
                                    <m:sup>
                                      <m:r>
                                        <a:rPr lang="en-US" altLang="zh-CN" sz="2000">
                                          <a:solidFill>
                                            <a:schemeClr val="tx1"/>
                                          </a:solidFill>
                                          <a:latin typeface="Cambria Math" panose="02040503050406030204" pitchFamily="18" charset="0"/>
                                          <a:ea typeface="+mn-ea"/>
                                        </a:rPr>
                                        <m:t>2</m:t>
                                      </m:r>
                                    </m:sup>
                                  </m:sSubSup>
                                  <m:r>
                                    <a:rPr lang="en-US" altLang="zh-CN" sz="2000" b="0" i="1" smtClean="0">
                                      <a:solidFill>
                                        <a:schemeClr val="tx1"/>
                                      </a:solidFill>
                                      <a:latin typeface="Cambria Math" panose="02040503050406030204" pitchFamily="18" charset="0"/>
                                      <a:ea typeface="+mn-ea"/>
                                    </a:rPr>
                                    <m:t>−</m:t>
                                  </m:r>
                                  <m:sSubSup>
                                    <m:sSubSupPr>
                                      <m:ctrlPr>
                                        <a:rPr lang="en-US" altLang="zh-CN" sz="2000" i="1">
                                          <a:solidFill>
                                            <a:schemeClr val="tx1"/>
                                          </a:solidFill>
                                          <a:latin typeface="Cambria Math" panose="02040503050406030204" pitchFamily="18" charset="0"/>
                                          <a:ea typeface="+mn-ea"/>
                                        </a:rPr>
                                      </m:ctrlPr>
                                    </m:sSubSup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2</m:t>
                                      </m:r>
                                    </m:sub>
                                    <m:sup>
                                      <m:r>
                                        <a:rPr lang="en-US" altLang="zh-CN" sz="2000">
                                          <a:solidFill>
                                            <a:schemeClr val="tx1"/>
                                          </a:solidFill>
                                          <a:latin typeface="Cambria Math" panose="02040503050406030204" pitchFamily="18" charset="0"/>
                                          <a:ea typeface="+mn-ea"/>
                                        </a:rPr>
                                        <m:t>2</m:t>
                                      </m:r>
                                    </m:sup>
                                  </m:sSubSup>
                                </m:e>
                              </m:d>
                              <m:r>
                                <a:rPr lang="en-US" altLang="zh-CN" sz="2000" smtClean="0">
                                  <a:solidFill>
                                    <a:schemeClr val="tx1"/>
                                  </a:solidFill>
                                  <a:latin typeface="Cambria Math" panose="02040503050406030204" pitchFamily="18" charset="0"/>
                                  <a:ea typeface="+mn-ea"/>
                                </a:rPr>
                                <m:t>/</m:t>
                              </m:r>
                              <m:r>
                                <a:rPr lang="en-US" altLang="zh-CN" sz="2000">
                                  <a:solidFill>
                                    <a:schemeClr val="tx1"/>
                                  </a:solidFill>
                                  <a:latin typeface="Cambria Math" panose="02040503050406030204" pitchFamily="18" charset="0"/>
                                  <a:ea typeface="+mn-ea"/>
                                </a:rPr>
                                <m:t>2</m:t>
                              </m:r>
                              <m:sSub>
                                <m:sSubPr>
                                  <m:ctrlPr>
                                    <a:rPr lang="en-US" altLang="zh-CN" sz="2000" i="1">
                                      <a:solidFill>
                                        <a:schemeClr val="tx1"/>
                                      </a:solidFill>
                                      <a:latin typeface="Cambria Math" panose="02040503050406030204" pitchFamily="18" charset="0"/>
                                      <a:ea typeface="+mn-ea"/>
                                    </a:rPr>
                                  </m:ctrlPr>
                                </m:sSub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1</m:t>
                                  </m:r>
                                </m:sub>
                              </m:sSub>
                              <m:sSub>
                                <m:sSubPr>
                                  <m:ctrlPr>
                                    <a:rPr lang="en-US" altLang="zh-CN" sz="2000" i="1">
                                      <a:solidFill>
                                        <a:schemeClr val="tx1"/>
                                      </a:solidFill>
                                      <a:latin typeface="Cambria Math" panose="02040503050406030204" pitchFamily="18" charset="0"/>
                                      <a:ea typeface="+mn-ea"/>
                                    </a:rPr>
                                  </m:ctrlPr>
                                </m:sSubPr>
                                <m:e>
                                  <m:r>
                                    <a:rPr lang="en-US" altLang="zh-CN" sz="2000">
                                      <a:solidFill>
                                        <a:schemeClr val="tx1"/>
                                      </a:solidFill>
                                      <a:latin typeface="Cambria Math" panose="02040503050406030204" pitchFamily="18" charset="0"/>
                                      <a:ea typeface="+mn-ea"/>
                                    </a:rPr>
                                    <m:t>𝐿</m:t>
                                  </m:r>
                                </m:e>
                                <m:sub>
                                  <m:r>
                                    <a:rPr lang="en-US" altLang="zh-CN" sz="2000">
                                      <a:solidFill>
                                        <a:schemeClr val="tx1"/>
                                      </a:solidFill>
                                      <a:latin typeface="Cambria Math" panose="02040503050406030204" pitchFamily="18" charset="0"/>
                                      <a:ea typeface="+mn-ea"/>
                                    </a:rPr>
                                    <m:t>2</m:t>
                                  </m:r>
                                </m:sub>
                              </m:sSub>
                            </m:e>
                          </m:d>
                        </m:e>
                      </m:func>
                    </m:oMath>
                  </m:oMathPara>
                </a14:m>
                <a:endParaRPr lang="zh-CN" altLang="en-US" sz="2000" dirty="0">
                  <a:solidFill>
                    <a:schemeClr val="tx1"/>
                  </a:solidFill>
                  <a:latin typeface="Cambria Math" panose="02040503050406030204" pitchFamily="18" charset="0"/>
                  <a:ea typeface="+mn-ea"/>
                </a:endParaRPr>
              </a:p>
            </p:txBody>
          </p:sp>
        </mc:Choice>
        <mc:Fallback xmlns="">
          <p:sp>
            <p:nvSpPr>
              <p:cNvPr id="28" name="矩形 27">
                <a:extLst>
                  <a:ext uri="{FF2B5EF4-FFF2-40B4-BE49-F238E27FC236}">
                    <a16:creationId xmlns:a16="http://schemas.microsoft.com/office/drawing/2014/main" id="{4FED4965-BA9B-4D44-8015-0466A6AEF537}"/>
                  </a:ext>
                </a:extLst>
              </p:cNvPr>
              <p:cNvSpPr>
                <a:spLocks noRot="1" noChangeAspect="1" noMove="1" noResize="1" noEditPoints="1" noAdjustHandles="1" noChangeArrowheads="1" noChangeShapeType="1" noTextEdit="1"/>
              </p:cNvSpPr>
              <p:nvPr/>
            </p:nvSpPr>
            <p:spPr>
              <a:xfrm>
                <a:off x="5849078" y="2814197"/>
                <a:ext cx="4930611" cy="435312"/>
              </a:xfrm>
              <a:prstGeom prst="rect">
                <a:avLst/>
              </a:prstGeom>
              <a:blipFill>
                <a:blip r:embed="rId8"/>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3A18DD06-299D-4CF2-91DA-26F7A2CA834B}"/>
                  </a:ext>
                </a:extLst>
              </p:cNvPr>
              <p:cNvSpPr/>
              <p:nvPr/>
            </p:nvSpPr>
            <p:spPr>
              <a:xfrm>
                <a:off x="267476" y="3671961"/>
                <a:ext cx="4134530" cy="558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sz="2000" i="1" smtClean="0">
                              <a:latin typeface="Cambria Math" panose="02040503050406030204" pitchFamily="18" charset="0"/>
                            </a:rPr>
                          </m:ctrlPr>
                        </m:groupChrPr>
                        <m:e>
                          <m:d>
                            <m:dPr>
                              <m:ctrlPr>
                                <a:rPr lang="en-US" altLang="zh-CN" sz="2000" i="1">
                                  <a:solidFill>
                                    <a:srgbClr val="FF0000"/>
                                  </a:solidFill>
                                  <a:latin typeface="Cambria Math" panose="02040503050406030204" pitchFamily="18" charset="0"/>
                                </a:rPr>
                              </m:ctrlPr>
                            </m:dPr>
                            <m:e>
                              <m:r>
                                <m:rPr>
                                  <m:brk m:alnAt="2"/>
                                </m:rPr>
                                <a:rPr lang="en-US" altLang="zh-CN" sz="2000">
                                  <a:solidFill>
                                    <a:srgbClr val="FF0000"/>
                                  </a:solidFill>
                                  <a:latin typeface="Cambria Math" panose="02040503050406030204" pitchFamily="18" charset="0"/>
                                </a:rPr>
                                <m:t>1</m:t>
                              </m:r>
                            </m:e>
                          </m:d>
                          <m:r>
                            <a:rPr lang="en-US" altLang="zh-CN" sz="2000" b="0" i="1" smtClean="0">
                              <a:solidFill>
                                <a:srgbClr val="FF0000"/>
                              </a:solidFill>
                              <a:latin typeface="Cambria Math" panose="02040503050406030204" pitchFamily="18" charset="0"/>
                            </a:rPr>
                            <m:t>𝑐</m:t>
                          </m:r>
                          <m:r>
                            <a:rPr lang="en-US" altLang="zh-CN" sz="2000" b="0" i="1" smtClean="0">
                              <a:solidFill>
                                <a:srgbClr val="FF0000"/>
                              </a:solidFill>
                              <a:latin typeface="Cambria Math" panose="02040503050406030204" pitchFamily="18" charset="0"/>
                            </a:rPr>
                            <m:t>1</m:t>
                          </m:r>
                          <m:r>
                            <m:rPr>
                              <m:brk m:alnAt="2"/>
                            </m:rPr>
                            <a:rPr lang="en-US" altLang="zh-CN" sz="2000">
                              <a:latin typeface="Cambria Math" panose="02040503050406030204" pitchFamily="18" charset="0"/>
                            </a:rPr>
                            <m:t>+</m:t>
                          </m:r>
                          <m:d>
                            <m:dPr>
                              <m:ctrlPr>
                                <a:rPr lang="en-US" altLang="zh-CN" sz="2000" i="1">
                                  <a:solidFill>
                                    <a:srgbClr val="0000CC"/>
                                  </a:solidFill>
                                  <a:latin typeface="Cambria Math" panose="02040503050406030204" pitchFamily="18" charset="0"/>
                                </a:rPr>
                              </m:ctrlPr>
                            </m:dPr>
                            <m:e>
                              <m:r>
                                <a:rPr lang="en-US" altLang="zh-CN" sz="2000">
                                  <a:solidFill>
                                    <a:srgbClr val="0000CC"/>
                                  </a:solidFill>
                                  <a:latin typeface="Cambria Math" panose="02040503050406030204" pitchFamily="18" charset="0"/>
                                </a:rPr>
                                <m:t>2</m:t>
                              </m:r>
                            </m:e>
                          </m:d>
                          <m:r>
                            <a:rPr lang="en-US" altLang="zh-CN" sz="2000" b="0" i="1" smtClean="0">
                              <a:solidFill>
                                <a:srgbClr val="0000CC"/>
                              </a:solidFill>
                              <a:latin typeface="Cambria Math" panose="02040503050406030204" pitchFamily="18" charset="0"/>
                            </a:rPr>
                            <m:t>𝑠</m:t>
                          </m:r>
                          <m:r>
                            <a:rPr lang="en-US" altLang="zh-CN" sz="2000" b="0" i="1" smtClean="0">
                              <a:solidFill>
                                <a:srgbClr val="0000CC"/>
                              </a:solidFill>
                              <a:latin typeface="Cambria Math" panose="02040503050406030204" pitchFamily="18" charset="0"/>
                            </a:rPr>
                            <m:t>1</m:t>
                          </m:r>
                        </m:e>
                      </m:groupCh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Sub>
                      <m:r>
                        <a:rPr lang="en-US" altLang="zh-CN" sz="2000" b="0" i="1" smtClean="0">
                          <a:latin typeface="Cambria Math" panose="02040503050406030204" pitchFamily="18" charset="0"/>
                        </a:rPr>
                        <m:t>𝑐</m:t>
                      </m:r>
                      <m:r>
                        <a:rPr lang="en-US" altLang="zh-CN" sz="2000" b="0" i="1" smtClean="0">
                          <a:latin typeface="Cambria Math" panose="02040503050406030204" pitchFamily="18" charset="0"/>
                        </a:rPr>
                        <m:t>1+</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1=</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𝑐</m:t>
                      </m:r>
                      <m:r>
                        <a:rPr lang="en-US" altLang="zh-CN" sz="2000" b="0" i="1" smtClean="0">
                          <a:latin typeface="Cambria Math" panose="02040503050406030204" pitchFamily="18" charset="0"/>
                        </a:rPr>
                        <m:t>2</m:t>
                      </m:r>
                    </m:oMath>
                  </m:oMathPara>
                </a14:m>
                <a:endParaRPr lang="zh-CN" altLang="en-US" sz="2000" dirty="0"/>
              </a:p>
            </p:txBody>
          </p:sp>
        </mc:Choice>
        <mc:Fallback xmlns="">
          <p:sp>
            <p:nvSpPr>
              <p:cNvPr id="32" name="矩形 31">
                <a:extLst>
                  <a:ext uri="{FF2B5EF4-FFF2-40B4-BE49-F238E27FC236}">
                    <a16:creationId xmlns:a16="http://schemas.microsoft.com/office/drawing/2014/main" id="{3A18DD06-299D-4CF2-91DA-26F7A2CA834B}"/>
                  </a:ext>
                </a:extLst>
              </p:cNvPr>
              <p:cNvSpPr>
                <a:spLocks noRot="1" noChangeAspect="1" noMove="1" noResize="1" noEditPoints="1" noAdjustHandles="1" noChangeArrowheads="1" noChangeShapeType="1" noTextEdit="1"/>
              </p:cNvSpPr>
              <p:nvPr/>
            </p:nvSpPr>
            <p:spPr>
              <a:xfrm>
                <a:off x="267476" y="3671961"/>
                <a:ext cx="4134530" cy="558743"/>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E1FC0287-C197-45A7-8AA5-C0D93500FFF8}"/>
                  </a:ext>
                </a:extLst>
              </p:cNvPr>
              <p:cNvSpPr/>
              <p:nvPr/>
            </p:nvSpPr>
            <p:spPr>
              <a:xfrm>
                <a:off x="299076" y="4272503"/>
                <a:ext cx="3578224" cy="558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sz="2000" i="1" smtClean="0">
                              <a:latin typeface="Cambria Math" panose="02040503050406030204" pitchFamily="18" charset="0"/>
                            </a:rPr>
                          </m:ctrlPr>
                        </m:groupChrPr>
                        <m:e>
                          <m:d>
                            <m:dPr>
                              <m:ctrlPr>
                                <a:rPr lang="en-US" altLang="zh-CN" sz="2000" i="1">
                                  <a:solidFill>
                                    <a:srgbClr val="0000CC"/>
                                  </a:solidFill>
                                  <a:latin typeface="Cambria Math" panose="02040503050406030204" pitchFamily="18" charset="0"/>
                                </a:rPr>
                              </m:ctrlPr>
                            </m:dPr>
                            <m:e>
                              <m:r>
                                <a:rPr lang="en-US" altLang="zh-CN" sz="2000">
                                  <a:solidFill>
                                    <a:srgbClr val="0000CC"/>
                                  </a:solidFill>
                                  <a:latin typeface="Cambria Math" panose="02040503050406030204" pitchFamily="18" charset="0"/>
                                </a:rPr>
                                <m:t>2</m:t>
                              </m:r>
                            </m:e>
                          </m:d>
                          <m:r>
                            <a:rPr lang="en-US" altLang="zh-CN" sz="2000" b="0" i="1" smtClean="0">
                              <a:solidFill>
                                <a:srgbClr val="0000CC"/>
                              </a:solidFill>
                              <a:latin typeface="Cambria Math" panose="02040503050406030204" pitchFamily="18" charset="0"/>
                            </a:rPr>
                            <m:t>𝑐</m:t>
                          </m:r>
                          <m:r>
                            <a:rPr lang="en-US" altLang="zh-CN" sz="2000" b="0" i="1" smtClean="0">
                              <a:solidFill>
                                <a:srgbClr val="0000CC"/>
                              </a:solidFill>
                              <a:latin typeface="Cambria Math" panose="02040503050406030204" pitchFamily="18" charset="0"/>
                            </a:rPr>
                            <m:t>1−</m:t>
                          </m:r>
                          <m:d>
                            <m:dPr>
                              <m:ctrlPr>
                                <a:rPr lang="en-US" altLang="zh-CN" sz="2000" i="1">
                                  <a:solidFill>
                                    <a:srgbClr val="FF0000"/>
                                  </a:solidFill>
                                  <a:latin typeface="Cambria Math" panose="02040503050406030204" pitchFamily="18" charset="0"/>
                                </a:rPr>
                              </m:ctrlPr>
                            </m:dPr>
                            <m:e>
                              <m:r>
                                <m:rPr>
                                  <m:brk m:alnAt="2"/>
                                </m:rPr>
                                <a:rPr lang="en-US" altLang="zh-CN" sz="2000">
                                  <a:solidFill>
                                    <a:srgbClr val="FF0000"/>
                                  </a:solidFill>
                                  <a:latin typeface="Cambria Math" panose="02040503050406030204" pitchFamily="18" charset="0"/>
                                </a:rPr>
                                <m:t>1</m:t>
                              </m:r>
                            </m:e>
                          </m:d>
                          <m:r>
                            <a:rPr lang="en-US" altLang="zh-CN" sz="2000">
                              <a:solidFill>
                                <a:srgbClr val="FF0000"/>
                              </a:solidFill>
                              <a:latin typeface="Cambria Math" panose="02040503050406030204" pitchFamily="18" charset="0"/>
                            </a:rPr>
                            <m:t>𝑠</m:t>
                          </m:r>
                          <m:r>
                            <a:rPr lang="en-US" altLang="zh-CN" sz="2000">
                              <a:solidFill>
                                <a:srgbClr val="FF0000"/>
                              </a:solidFill>
                              <a:latin typeface="Cambria Math" panose="02040503050406030204" pitchFamily="18" charset="0"/>
                            </a:rPr>
                            <m:t>1</m:t>
                          </m:r>
                        </m:e>
                      </m:groupCh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b="0" i="1" smtClean="0">
                          <a:latin typeface="Cambria Math" panose="02040503050406030204" pitchFamily="18" charset="0"/>
                        </a:rPr>
                        <m:t>𝑐</m:t>
                      </m:r>
                      <m:r>
                        <a:rPr lang="en-US" altLang="zh-CN" sz="2000" b="0" i="1" smtClean="0">
                          <a:latin typeface="Cambria Math" panose="02040503050406030204" pitchFamily="18" charset="0"/>
                        </a:rPr>
                        <m:t>1−</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𝑝</m:t>
                          </m:r>
                        </m:e>
                        <m:sub>
                          <m:r>
                            <a:rPr lang="en-US" altLang="zh-CN" sz="2000">
                              <a:latin typeface="Cambria Math" panose="02040503050406030204" pitchFamily="18" charset="0"/>
                            </a:rPr>
                            <m:t>𝑥</m:t>
                          </m:r>
                        </m:sub>
                      </m:sSub>
                      <m:r>
                        <a:rPr lang="en-US" altLang="zh-CN" sz="2000">
                          <a:latin typeface="Cambria Math" panose="02040503050406030204" pitchFamily="18" charset="0"/>
                        </a:rPr>
                        <m:t>𝑠</m:t>
                      </m:r>
                      <m:r>
                        <a:rPr lang="en-US" altLang="zh-CN" sz="2000">
                          <a:latin typeface="Cambria Math" panose="02040503050406030204" pitchFamily="18" charset="0"/>
                        </a:rPr>
                        <m:t>1</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2</m:t>
                      </m:r>
                    </m:oMath>
                  </m:oMathPara>
                </a14:m>
                <a:endParaRPr lang="zh-CN" altLang="en-US" sz="2000" dirty="0"/>
              </a:p>
            </p:txBody>
          </p:sp>
        </mc:Choice>
        <mc:Fallback xmlns="">
          <p:sp>
            <p:nvSpPr>
              <p:cNvPr id="33" name="矩形 32">
                <a:extLst>
                  <a:ext uri="{FF2B5EF4-FFF2-40B4-BE49-F238E27FC236}">
                    <a16:creationId xmlns:a16="http://schemas.microsoft.com/office/drawing/2014/main" id="{E1FC0287-C197-45A7-8AA5-C0D93500FFF8}"/>
                  </a:ext>
                </a:extLst>
              </p:cNvPr>
              <p:cNvSpPr>
                <a:spLocks noRot="1" noChangeAspect="1" noMove="1" noResize="1" noEditPoints="1" noAdjustHandles="1" noChangeArrowheads="1" noChangeShapeType="1" noTextEdit="1"/>
              </p:cNvSpPr>
              <p:nvPr/>
            </p:nvSpPr>
            <p:spPr>
              <a:xfrm>
                <a:off x="299076" y="4272503"/>
                <a:ext cx="3578224" cy="558743"/>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2A779D98-1E56-4A4C-9F94-F5B213854E6A}"/>
                  </a:ext>
                </a:extLst>
              </p:cNvPr>
              <p:cNvSpPr/>
              <p:nvPr/>
            </p:nvSpPr>
            <p:spPr>
              <a:xfrm>
                <a:off x="9473670" y="3969933"/>
                <a:ext cx="2481848" cy="506870"/>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ea typeface="+mn-ea"/>
                            </a:rPr>
                          </m:ctrlPr>
                        </m:sSubPr>
                        <m:e>
                          <m:r>
                            <a:rPr lang="en-US" altLang="zh-CN" sz="2000" smtClean="0">
                              <a:solidFill>
                                <a:schemeClr val="tx1"/>
                              </a:solidFill>
                              <a:latin typeface="Cambria Math" panose="02040503050406030204" pitchFamily="18" charset="0"/>
                              <a:ea typeface="+mn-ea"/>
                            </a:rPr>
                            <m:t>𝜃</m:t>
                          </m:r>
                        </m:e>
                        <m:sub>
                          <m:r>
                            <a:rPr lang="en-US" altLang="zh-CN" sz="2000" b="0" i="1" smtClean="0">
                              <a:solidFill>
                                <a:schemeClr val="tx1"/>
                              </a:solidFill>
                              <a:latin typeface="Cambria Math" panose="02040503050406030204" pitchFamily="18" charset="0"/>
                              <a:ea typeface="+mn-ea"/>
                            </a:rPr>
                            <m:t>1</m:t>
                          </m:r>
                        </m:sub>
                      </m:sSub>
                      <m:r>
                        <a:rPr lang="en-US" altLang="zh-CN" sz="2000">
                          <a:solidFill>
                            <a:schemeClr val="tx1"/>
                          </a:solidFill>
                          <a:latin typeface="Cambria Math" panose="02040503050406030204" pitchFamily="18" charset="0"/>
                          <a:ea typeface="+mn-ea"/>
                        </a:rPr>
                        <m:t>=</m:t>
                      </m:r>
                      <m:func>
                        <m:funcPr>
                          <m:ctrlPr>
                            <a:rPr lang="en-US" altLang="zh-CN" sz="2000" i="1">
                              <a:solidFill>
                                <a:schemeClr val="tx1"/>
                              </a:solidFill>
                              <a:latin typeface="Cambria Math" panose="02040503050406030204" pitchFamily="18" charset="0"/>
                              <a:ea typeface="+mn-ea"/>
                            </a:rPr>
                          </m:ctrlPr>
                        </m:funcPr>
                        <m:fName>
                          <m:r>
                            <m:rPr>
                              <m:sty m:val="p"/>
                            </m:rPr>
                            <a:rPr lang="en-US" altLang="zh-CN" sz="2000">
                              <a:solidFill>
                                <a:schemeClr val="tx1"/>
                              </a:solidFill>
                              <a:latin typeface="Cambria Math" panose="02040503050406030204" pitchFamily="18" charset="0"/>
                              <a:ea typeface="+mn-ea"/>
                            </a:rPr>
                            <m:t>arc</m:t>
                          </m:r>
                          <m:r>
                            <m:rPr>
                              <m:sty m:val="p"/>
                            </m:rPr>
                            <a:rPr lang="en-US" altLang="zh-CN" sz="2000" b="0" i="0" smtClean="0">
                              <a:solidFill>
                                <a:schemeClr val="tx1"/>
                              </a:solidFill>
                              <a:latin typeface="Cambria Math" panose="02040503050406030204" pitchFamily="18" charset="0"/>
                              <a:ea typeface="+mn-ea"/>
                            </a:rPr>
                            <m:t>tan</m:t>
                          </m:r>
                          <m:r>
                            <a:rPr lang="en-US" altLang="zh-CN" sz="2000" b="0" i="1" smtClean="0">
                              <a:solidFill>
                                <a:schemeClr val="tx1"/>
                              </a:solidFill>
                              <a:latin typeface="Cambria Math" panose="02040503050406030204" pitchFamily="18" charset="0"/>
                              <a:ea typeface="+mn-ea"/>
                            </a:rPr>
                            <m:t>2</m:t>
                          </m:r>
                        </m:fName>
                        <m:e>
                          <m:d>
                            <m:dPr>
                              <m:ctrlPr>
                                <a:rPr lang="en-US" altLang="zh-CN" sz="2000" i="1">
                                  <a:solidFill>
                                    <a:schemeClr val="tx1"/>
                                  </a:solidFill>
                                  <a:latin typeface="Cambria Math" panose="02040503050406030204" pitchFamily="18" charset="0"/>
                                  <a:ea typeface="+mn-ea"/>
                                </a:rPr>
                              </m:ctrlPr>
                            </m:dPr>
                            <m:e>
                              <m:r>
                                <a:rPr lang="en-US" altLang="zh-CN" sz="2000" b="0" i="1" smtClean="0">
                                  <a:solidFill>
                                    <a:schemeClr val="tx1"/>
                                  </a:solidFill>
                                  <a:latin typeface="Cambria Math" panose="02040503050406030204" pitchFamily="18" charset="0"/>
                                  <a:ea typeface="+mn-ea"/>
                                </a:rPr>
                                <m:t>𝑠</m:t>
                              </m:r>
                              <m:r>
                                <a:rPr lang="en-US" altLang="zh-CN" sz="2000" b="0" i="1" smtClean="0">
                                  <a:solidFill>
                                    <a:schemeClr val="tx1"/>
                                  </a:solidFill>
                                  <a:latin typeface="Cambria Math" panose="02040503050406030204" pitchFamily="18" charset="0"/>
                                  <a:ea typeface="+mn-ea"/>
                                </a:rPr>
                                <m:t>1,</m:t>
                              </m:r>
                              <m:r>
                                <a:rPr lang="en-US" altLang="zh-CN" sz="2000" b="0" i="1" smtClean="0">
                                  <a:solidFill>
                                    <a:schemeClr val="tx1"/>
                                  </a:solidFill>
                                  <a:latin typeface="Cambria Math" panose="02040503050406030204" pitchFamily="18" charset="0"/>
                                  <a:ea typeface="+mn-ea"/>
                                </a:rPr>
                                <m:t>𝑐</m:t>
                              </m:r>
                              <m:r>
                                <a:rPr lang="en-US" altLang="zh-CN" sz="2000" b="0" i="1" smtClean="0">
                                  <a:solidFill>
                                    <a:schemeClr val="tx1"/>
                                  </a:solidFill>
                                  <a:latin typeface="Cambria Math" panose="02040503050406030204" pitchFamily="18" charset="0"/>
                                  <a:ea typeface="+mn-ea"/>
                                </a:rPr>
                                <m:t>1</m:t>
                              </m:r>
                            </m:e>
                          </m:d>
                        </m:e>
                      </m:func>
                    </m:oMath>
                  </m:oMathPara>
                </a14:m>
                <a:endParaRPr lang="zh-CN" altLang="en-US" sz="2000" dirty="0">
                  <a:solidFill>
                    <a:schemeClr val="tx1"/>
                  </a:solidFill>
                  <a:latin typeface="Cambria Math" panose="02040503050406030204" pitchFamily="18" charset="0"/>
                  <a:ea typeface="+mn-ea"/>
                </a:endParaRPr>
              </a:p>
            </p:txBody>
          </p:sp>
        </mc:Choice>
        <mc:Fallback xmlns="">
          <p:sp>
            <p:nvSpPr>
              <p:cNvPr id="35" name="矩形 34">
                <a:extLst>
                  <a:ext uri="{FF2B5EF4-FFF2-40B4-BE49-F238E27FC236}">
                    <a16:creationId xmlns:a16="http://schemas.microsoft.com/office/drawing/2014/main" id="{2A779D98-1E56-4A4C-9F94-F5B213854E6A}"/>
                  </a:ext>
                </a:extLst>
              </p:cNvPr>
              <p:cNvSpPr>
                <a:spLocks noRot="1" noChangeAspect="1" noMove="1" noResize="1" noEditPoints="1" noAdjustHandles="1" noChangeArrowheads="1" noChangeShapeType="1" noTextEdit="1"/>
              </p:cNvSpPr>
              <p:nvPr/>
            </p:nvSpPr>
            <p:spPr>
              <a:xfrm>
                <a:off x="9473670" y="3969933"/>
                <a:ext cx="2481848" cy="506870"/>
              </a:xfrm>
              <a:prstGeom prst="rect">
                <a:avLst/>
              </a:prstGeom>
              <a:blipFill>
                <a:blip r:embed="rId11"/>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9DBAF111-0568-4495-A232-E01E99046D6D}"/>
                  </a:ext>
                </a:extLst>
              </p:cNvPr>
              <p:cNvSpPr/>
              <p:nvPr/>
            </p:nvSpPr>
            <p:spPr>
              <a:xfrm>
                <a:off x="5889353" y="3407665"/>
                <a:ext cx="3356945" cy="853439"/>
              </a:xfrm>
              <a:prstGeom prst="rect">
                <a:avLst/>
              </a:prstGeom>
            </p:spPr>
            <p:txBody>
              <a:bodyPr wrap="none">
                <a:spAutoFit/>
              </a:bodyPr>
              <a:lstStyle/>
              <a:p>
                <a:pPr>
                  <a:lnSpc>
                    <a:spcPct val="110000"/>
                  </a:lnSpc>
                </a:pP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rPr>
                        <m:t>𝑠</m:t>
                      </m:r>
                      <m:r>
                        <a:rPr lang="en-US" altLang="zh-CN" sz="2000" smtClean="0">
                          <a:latin typeface="Cambria Math" panose="02040503050406030204" pitchFamily="18" charset="0"/>
                        </a:rPr>
                        <m:t>1=</m:t>
                      </m:r>
                      <m:f>
                        <m:fPr>
                          <m:ctrlPr>
                            <a:rPr lang="en-US" altLang="zh-CN" sz="2000" i="1" smtClean="0">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a:latin typeface="Cambria Math" panose="02040503050406030204" pitchFamily="18" charset="0"/>
                                </a:rPr>
                                <m:t>𝐿</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r>
                            <a:rPr lang="en-US" altLang="zh-CN" sz="2000">
                              <a:latin typeface="Cambria Math" panose="02040503050406030204" pitchFamily="18" charset="0"/>
                            </a:rPr>
                            <m:t>𝑐</m:t>
                          </m:r>
                          <m:r>
                            <a:rPr lang="en-US" altLang="zh-CN" sz="2000">
                              <a:latin typeface="Cambria Math" panose="02040503050406030204" pitchFamily="18" charset="0"/>
                            </a:rPr>
                            <m:t>2</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Sub>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r>
                            <a:rPr lang="en-US" altLang="zh-CN" sz="2000">
                              <a:latin typeface="Cambria Math" panose="02040503050406030204" pitchFamily="18" charset="0"/>
                            </a:rPr>
                            <m:t>𝑠</m:t>
                          </m:r>
                          <m:r>
                            <a:rPr lang="en-US" altLang="zh-CN" sz="2000">
                              <a:latin typeface="Cambria Math" panose="02040503050406030204" pitchFamily="18" charset="0"/>
                            </a:rPr>
                            <m:t>2</m:t>
                          </m:r>
                        </m:num>
                        <m:den>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up>
                              <m:r>
                                <a:rPr lang="en-US" altLang="zh-CN" sz="2000" b="0" i="1" smtClean="0">
                                  <a:latin typeface="Cambria Math" panose="02040503050406030204" pitchFamily="18" charset="0"/>
                                </a:rPr>
                                <m:t>2</m:t>
                              </m:r>
                            </m:sup>
                          </m:sSubSup>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up>
                              <m:r>
                                <a:rPr lang="en-US" altLang="zh-CN" sz="2000" b="0" i="1" smtClean="0">
                                  <a:latin typeface="Cambria Math" panose="02040503050406030204" pitchFamily="18" charset="0"/>
                                </a:rPr>
                                <m:t>2</m:t>
                              </m:r>
                            </m:sup>
                          </m:sSubSup>
                        </m:den>
                      </m:f>
                    </m:oMath>
                  </m:oMathPara>
                </a14:m>
                <a:endParaRPr lang="en-US" altLang="zh-CN" sz="2000" b="0" i="1" dirty="0">
                  <a:latin typeface="Cambria Math" panose="02040503050406030204" pitchFamily="18" charset="0"/>
                </a:endParaRPr>
              </a:p>
            </p:txBody>
          </p:sp>
        </mc:Choice>
        <mc:Fallback xmlns="">
          <p:sp>
            <p:nvSpPr>
              <p:cNvPr id="36" name="矩形 35">
                <a:extLst>
                  <a:ext uri="{FF2B5EF4-FFF2-40B4-BE49-F238E27FC236}">
                    <a16:creationId xmlns:a16="http://schemas.microsoft.com/office/drawing/2014/main" id="{9DBAF111-0568-4495-A232-E01E99046D6D}"/>
                  </a:ext>
                </a:extLst>
              </p:cNvPr>
              <p:cNvSpPr>
                <a:spLocks noRot="1" noChangeAspect="1" noMove="1" noResize="1" noEditPoints="1" noAdjustHandles="1" noChangeArrowheads="1" noChangeShapeType="1" noTextEdit="1"/>
              </p:cNvSpPr>
              <p:nvPr/>
            </p:nvSpPr>
            <p:spPr>
              <a:xfrm>
                <a:off x="5889353" y="3407665"/>
                <a:ext cx="3356945" cy="853439"/>
              </a:xfrm>
              <a:prstGeom prst="rect">
                <a:avLst/>
              </a:prstGeom>
              <a:blipFill>
                <a:blip r:embed="rId12"/>
                <a:stretch>
                  <a:fillRect/>
                </a:stretch>
              </a:blipFill>
            </p:spPr>
            <p:txBody>
              <a:bodyPr/>
              <a:lstStyle/>
              <a:p>
                <a:r>
                  <a:rPr lang="zh-CN" altLang="en-US">
                    <a:noFill/>
                  </a:rPr>
                  <a:t> </a:t>
                </a:r>
              </a:p>
            </p:txBody>
          </p:sp>
        </mc:Fallback>
      </mc:AlternateContent>
      <p:sp>
        <p:nvSpPr>
          <p:cNvPr id="37" name="矩形: 圆角 36">
            <a:extLst>
              <a:ext uri="{FF2B5EF4-FFF2-40B4-BE49-F238E27FC236}">
                <a16:creationId xmlns:a16="http://schemas.microsoft.com/office/drawing/2014/main" id="{CC7D5645-0BDB-4D0F-8BFA-EA12C026BD6E}"/>
              </a:ext>
            </a:extLst>
          </p:cNvPr>
          <p:cNvSpPr/>
          <p:nvPr/>
        </p:nvSpPr>
        <p:spPr>
          <a:xfrm>
            <a:off x="4712347" y="928043"/>
            <a:ext cx="1638586" cy="220595"/>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8FFDBF1A-781D-41B5-A5A7-6CC24DAC1D90}"/>
              </a:ext>
            </a:extLst>
          </p:cNvPr>
          <p:cNvSpPr/>
          <p:nvPr/>
        </p:nvSpPr>
        <p:spPr>
          <a:xfrm>
            <a:off x="4713413" y="1186857"/>
            <a:ext cx="1638586" cy="220595"/>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75FCCFC8-80AE-4AD8-BB6D-94CD457D5A48}"/>
                  </a:ext>
                </a:extLst>
              </p:cNvPr>
              <p:cNvSpPr/>
              <p:nvPr/>
            </p:nvSpPr>
            <p:spPr>
              <a:xfrm>
                <a:off x="2647608" y="5138974"/>
                <a:ext cx="3716402" cy="400110"/>
              </a:xfrm>
              <a:prstGeom prst="rect">
                <a:avLst/>
              </a:prstGeom>
            </p:spPr>
            <p:txBody>
              <a:bodyPr wrap="none">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2</m:t>
                        </m:r>
                      </m:sub>
                    </m:sSub>
                    <m:r>
                      <a:rPr lang="en-US" altLang="zh-CN" sz="2000">
                        <a:latin typeface="Cambria Math" panose="02040503050406030204" pitchFamily="18" charset="0"/>
                      </a:rPr>
                      <m:t>+</m:t>
                    </m:r>
                  </m:oMath>
                </a14:m>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𝜃</m:t>
                        </m:r>
                      </m:e>
                      <m:sub>
                        <m:r>
                          <a:rPr lang="en-US" altLang="zh-CN" sz="2000">
                            <a:latin typeface="Cambria Math" panose="02040503050406030204" pitchFamily="18" charset="0"/>
                          </a:rPr>
                          <m:t>3</m:t>
                        </m:r>
                      </m:sub>
                    </m:sSub>
                    <m:r>
                      <a:rPr lang="en-US" altLang="zh-CN" sz="2000">
                        <a:latin typeface="Cambria Math" panose="02040503050406030204" pitchFamily="18" charset="0"/>
                      </a:rPr>
                      <m:t>=</m:t>
                    </m:r>
                    <m:func>
                      <m:funcPr>
                        <m:ctrlPr>
                          <a:rPr lang="en-US" altLang="zh-CN" sz="2000" i="1">
                            <a:latin typeface="Cambria Math" panose="02040503050406030204" pitchFamily="18" charset="0"/>
                          </a:rPr>
                        </m:ctrlPr>
                      </m:funcPr>
                      <m:fName>
                        <m:r>
                          <m:rPr>
                            <m:sty m:val="p"/>
                          </m:rPr>
                          <a:rPr lang="en-US" altLang="zh-CN" sz="2000">
                            <a:latin typeface="Cambria Math" panose="02040503050406030204" pitchFamily="18" charset="0"/>
                          </a:rPr>
                          <m:t>arc</m:t>
                        </m:r>
                        <m:r>
                          <m:rPr>
                            <m:sty m:val="p"/>
                          </m:rPr>
                          <a:rPr lang="en-US" altLang="zh-CN" sz="2000" i="0">
                            <a:latin typeface="Cambria Math" panose="02040503050406030204" pitchFamily="18" charset="0"/>
                          </a:rPr>
                          <m:t>tan</m:t>
                        </m:r>
                        <m:r>
                          <a:rPr lang="en-US" altLang="zh-CN" sz="2000">
                            <a:latin typeface="Cambria Math" panose="02040503050406030204" pitchFamily="18" charset="0"/>
                          </a:rPr>
                          <m:t>2</m:t>
                        </m:r>
                      </m:fName>
                      <m:e>
                        <m:d>
                          <m:dPr>
                            <m:ctrlPr>
                              <a:rPr lang="en-US" altLang="zh-CN" sz="2000" i="1">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i="1">
                                    <a:latin typeface="Cambria Math" panose="02040503050406030204" pitchFamily="18" charset="0"/>
                                  </a:rPr>
                                  <m:t>𝑟</m:t>
                                </m:r>
                              </m:e>
                              <m:sub>
                                <m:r>
                                  <a:rPr lang="en-US" altLang="zh-CN" sz="2000" b="0" i="1" smtClean="0">
                                    <a:latin typeface="Cambria Math" panose="02040503050406030204" pitchFamily="18" charset="0"/>
                                  </a:rPr>
                                  <m:t>1</m:t>
                                </m:r>
                                <m:r>
                                  <a:rPr lang="en-US" altLang="zh-CN" sz="2000" i="1">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b="0" i="1" smtClean="0">
                                    <a:latin typeface="Cambria Math" panose="02040503050406030204" pitchFamily="18" charset="0"/>
                                  </a:rPr>
                                  <m:t>21</m:t>
                                </m:r>
                              </m:sub>
                            </m:sSub>
                          </m:e>
                        </m:d>
                      </m:e>
                    </m:func>
                  </m:oMath>
                </a14:m>
                <a:endParaRPr lang="zh-CN" altLang="en-US" sz="2000" dirty="0"/>
              </a:p>
            </p:txBody>
          </p:sp>
        </mc:Choice>
        <mc:Fallback xmlns="">
          <p:sp>
            <p:nvSpPr>
              <p:cNvPr id="39" name="矩形 38">
                <a:extLst>
                  <a:ext uri="{FF2B5EF4-FFF2-40B4-BE49-F238E27FC236}">
                    <a16:creationId xmlns:a16="http://schemas.microsoft.com/office/drawing/2014/main" id="{75FCCFC8-80AE-4AD8-BB6D-94CD457D5A48}"/>
                  </a:ext>
                </a:extLst>
              </p:cNvPr>
              <p:cNvSpPr>
                <a:spLocks noRot="1" noChangeAspect="1" noMove="1" noResize="1" noEditPoints="1" noAdjustHandles="1" noChangeArrowheads="1" noChangeShapeType="1" noTextEdit="1"/>
              </p:cNvSpPr>
              <p:nvPr/>
            </p:nvSpPr>
            <p:spPr>
              <a:xfrm>
                <a:off x="2647608" y="5138974"/>
                <a:ext cx="3716402" cy="400110"/>
              </a:xfrm>
              <a:prstGeom prst="rect">
                <a:avLst/>
              </a:prstGeom>
              <a:blipFill>
                <a:blip r:embed="rId13"/>
                <a:stretch>
                  <a:fillRect b="-1515"/>
                </a:stretch>
              </a:blipFill>
            </p:spPr>
            <p:txBody>
              <a:bodyPr/>
              <a:lstStyle/>
              <a:p>
                <a:r>
                  <a:rPr lang="zh-CN" altLang="en-US">
                    <a:noFill/>
                  </a:rPr>
                  <a:t> </a:t>
                </a:r>
              </a:p>
            </p:txBody>
          </p:sp>
        </mc:Fallback>
      </mc:AlternateContent>
      <p:sp>
        <p:nvSpPr>
          <p:cNvPr id="40" name="矩形: 圆角 39">
            <a:extLst>
              <a:ext uri="{FF2B5EF4-FFF2-40B4-BE49-F238E27FC236}">
                <a16:creationId xmlns:a16="http://schemas.microsoft.com/office/drawing/2014/main" id="{ECD851D8-998B-4EA7-84FC-10F981449DCE}"/>
              </a:ext>
            </a:extLst>
          </p:cNvPr>
          <p:cNvSpPr/>
          <p:nvPr/>
        </p:nvSpPr>
        <p:spPr>
          <a:xfrm>
            <a:off x="1560953" y="868142"/>
            <a:ext cx="496738" cy="220595"/>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2563AAD9-D211-4F6F-9A7E-7303A944829F}"/>
              </a:ext>
            </a:extLst>
          </p:cNvPr>
          <p:cNvSpPr/>
          <p:nvPr/>
        </p:nvSpPr>
        <p:spPr>
          <a:xfrm>
            <a:off x="1560834" y="1101992"/>
            <a:ext cx="496738" cy="220595"/>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3A353256-6C55-43E2-98C9-8438D0F51683}"/>
              </a:ext>
            </a:extLst>
          </p:cNvPr>
          <p:cNvSpPr/>
          <p:nvPr/>
        </p:nvSpPr>
        <p:spPr>
          <a:xfrm>
            <a:off x="3167126" y="864914"/>
            <a:ext cx="330726" cy="2205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442AA67A-7942-4421-B517-124F79F7F4AE}"/>
              </a:ext>
            </a:extLst>
          </p:cNvPr>
          <p:cNvSpPr/>
          <p:nvPr/>
        </p:nvSpPr>
        <p:spPr>
          <a:xfrm>
            <a:off x="3167007" y="1136609"/>
            <a:ext cx="330726" cy="220595"/>
          </a:xfrm>
          <a:prstGeom prst="round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F03F6917-B9D0-4DBB-A986-75B84D948D23}"/>
                  </a:ext>
                </a:extLst>
              </p:cNvPr>
              <p:cNvSpPr/>
              <p:nvPr/>
            </p:nvSpPr>
            <p:spPr>
              <a:xfrm>
                <a:off x="2050427" y="5792439"/>
                <a:ext cx="3782578" cy="506870"/>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smtClean="0">
                              <a:solidFill>
                                <a:schemeClr val="tx1"/>
                              </a:solidFill>
                              <a:latin typeface="Cambria Math" panose="02040503050406030204" pitchFamily="18" charset="0"/>
                            </a:rPr>
                            <m:t>𝜃</m:t>
                          </m:r>
                        </m:e>
                        <m:sub>
                          <m:r>
                            <a:rPr lang="en-US" altLang="zh-CN" sz="2000" b="0">
                              <a:solidFill>
                                <a:schemeClr val="tx1"/>
                              </a:solidFill>
                              <a:latin typeface="Cambria Math" panose="02040503050406030204" pitchFamily="18" charset="0"/>
                            </a:rPr>
                            <m:t>3</m:t>
                          </m:r>
                        </m:sub>
                      </m:sSub>
                      <m:r>
                        <a:rPr lang="en-US" altLang="zh-CN" sz="2000">
                          <a:solidFill>
                            <a:schemeClr val="tx1"/>
                          </a:solidFill>
                          <a:latin typeface="Cambria Math" panose="02040503050406030204" pitchFamily="18" charset="0"/>
                        </a:rPr>
                        <m:t>=</m:t>
                      </m:r>
                      <m:func>
                        <m:funcPr>
                          <m:ctrlPr>
                            <a:rPr lang="en-US" altLang="zh-CN" sz="2000" i="1" smtClean="0">
                              <a:solidFill>
                                <a:schemeClr val="tx1"/>
                              </a:solidFill>
                              <a:latin typeface="Cambria Math" panose="02040503050406030204" pitchFamily="18" charset="0"/>
                            </a:rPr>
                          </m:ctrlPr>
                        </m:funcPr>
                        <m:fName>
                          <m:r>
                            <m:rPr>
                              <m:sty m:val="p"/>
                            </m:rPr>
                            <a:rPr lang="en-US" altLang="zh-CN" sz="2000">
                              <a:solidFill>
                                <a:schemeClr val="tx1"/>
                              </a:solidFill>
                              <a:latin typeface="Cambria Math" panose="02040503050406030204" pitchFamily="18" charset="0"/>
                            </a:rPr>
                            <m:t>arc</m:t>
                          </m:r>
                          <m:r>
                            <m:rPr>
                              <m:sty m:val="p"/>
                            </m:rPr>
                            <a:rPr lang="en-US" altLang="zh-CN" sz="2000" i="0">
                              <a:solidFill>
                                <a:schemeClr val="tx1"/>
                              </a:solidFill>
                              <a:latin typeface="Cambria Math" panose="02040503050406030204" pitchFamily="18" charset="0"/>
                            </a:rPr>
                            <m:t>tan</m:t>
                          </m:r>
                          <m:r>
                            <a:rPr lang="en-US" altLang="zh-CN" sz="2000">
                              <a:solidFill>
                                <a:schemeClr val="tx1"/>
                              </a:solidFill>
                              <a:latin typeface="Cambria Math" panose="02040503050406030204" pitchFamily="18" charset="0"/>
                            </a:rPr>
                            <m:t>2</m:t>
                          </m:r>
                        </m:fName>
                        <m:e>
                          <m:d>
                            <m:dPr>
                              <m:ctrlPr>
                                <a:rPr lang="en-US" altLang="zh-CN" sz="2000" i="1">
                                  <a:solidFill>
                                    <a:schemeClr val="tx1"/>
                                  </a:solidFill>
                                  <a:latin typeface="Cambria Math" panose="02040503050406030204" pitchFamily="18" charset="0"/>
                                </a:rPr>
                              </m:ctrlPr>
                            </m:dPr>
                            <m:e>
                              <m:sSub>
                                <m:sSubPr>
                                  <m:ctrlPr>
                                    <a:rPr lang="en-US" altLang="zh-CN"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𝑟</m:t>
                                  </m:r>
                                </m:e>
                                <m:sub>
                                  <m:r>
                                    <a:rPr lang="en-US" altLang="zh-CN" sz="2000">
                                      <a:solidFill>
                                        <a:schemeClr val="tx1"/>
                                      </a:solidFill>
                                      <a:latin typeface="Cambria Math" panose="02040503050406030204" pitchFamily="18" charset="0"/>
                                    </a:rPr>
                                    <m:t>21</m:t>
                                  </m:r>
                                </m:sub>
                              </m:sSub>
                              <m:r>
                                <a:rPr lang="en-US" altLang="zh-CN" sz="2000">
                                  <a:solidFill>
                                    <a:schemeClr val="tx1"/>
                                  </a:solidFill>
                                  <a:latin typeface="Cambria Math" panose="02040503050406030204" pitchFamily="18" charset="0"/>
                                </a:rPr>
                                <m:t>,</m:t>
                              </m:r>
                              <m:sSub>
                                <m:sSubPr>
                                  <m:ctrlPr>
                                    <a:rPr lang="en-US" altLang="zh-CN"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𝑟</m:t>
                                  </m:r>
                                </m:e>
                                <m:sub>
                                  <m:r>
                                    <a:rPr lang="en-US" altLang="zh-CN" sz="2000">
                                      <a:solidFill>
                                        <a:schemeClr val="tx1"/>
                                      </a:solidFill>
                                      <a:latin typeface="Cambria Math" panose="02040503050406030204" pitchFamily="18" charset="0"/>
                                    </a:rPr>
                                    <m:t>11</m:t>
                                  </m:r>
                                </m:sub>
                              </m:sSub>
                            </m:e>
                          </m:d>
                          <m:r>
                            <a:rPr lang="en-US" altLang="zh-CN" sz="2000" b="0" i="1" smtClean="0">
                              <a:solidFill>
                                <a:schemeClr val="tx1"/>
                              </a:solidFill>
                              <a:latin typeface="Cambria Math" panose="02040503050406030204" pitchFamily="18" charset="0"/>
                            </a:rPr>
                            <m:t>−</m:t>
                          </m:r>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r>
                            <a:rPr lang="en-US" altLang="zh-CN" sz="2000" b="0" i="1" smtClean="0">
                              <a:solidFill>
                                <a:schemeClr val="tx1"/>
                              </a:solidFill>
                              <a:latin typeface="Cambria Math" panose="02040503050406030204" pitchFamily="18" charset="0"/>
                            </a:rPr>
                            <m:t>−</m:t>
                          </m:r>
                          <m:r>
                            <m:rPr>
                              <m:nor/>
                            </m:rPr>
                            <a:rPr lang="en-US" altLang="zh-CN" sz="2000" dirty="0">
                              <a:solidFill>
                                <a:schemeClr val="tx1"/>
                              </a:solidFill>
                            </a:rPr>
                            <m:t> </m:t>
                          </m:r>
                          <m:sSub>
                            <m:sSubPr>
                              <m:ctrlPr>
                                <a:rPr lang="en-US" altLang="zh-CN" sz="2000" i="1">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2</m:t>
                              </m:r>
                            </m:sub>
                          </m:sSub>
                        </m:e>
                      </m:func>
                    </m:oMath>
                  </m:oMathPara>
                </a14:m>
                <a:endParaRPr lang="zh-CN" altLang="en-US" sz="2000" dirty="0">
                  <a:solidFill>
                    <a:schemeClr val="tx1"/>
                  </a:solidFill>
                  <a:latin typeface="Cambria Math" panose="02040503050406030204" pitchFamily="18" charset="0"/>
                </a:endParaRPr>
              </a:p>
            </p:txBody>
          </p:sp>
        </mc:Choice>
        <mc:Fallback xmlns="">
          <p:sp>
            <p:nvSpPr>
              <p:cNvPr id="44" name="矩形 43">
                <a:extLst>
                  <a:ext uri="{FF2B5EF4-FFF2-40B4-BE49-F238E27FC236}">
                    <a16:creationId xmlns:a16="http://schemas.microsoft.com/office/drawing/2014/main" id="{F03F6917-B9D0-4DBB-A986-75B84D948D23}"/>
                  </a:ext>
                </a:extLst>
              </p:cNvPr>
              <p:cNvSpPr>
                <a:spLocks noRot="1" noChangeAspect="1" noMove="1" noResize="1" noEditPoints="1" noAdjustHandles="1" noChangeArrowheads="1" noChangeShapeType="1" noTextEdit="1"/>
              </p:cNvSpPr>
              <p:nvPr/>
            </p:nvSpPr>
            <p:spPr>
              <a:xfrm>
                <a:off x="2050427" y="5792439"/>
                <a:ext cx="3782578" cy="506870"/>
              </a:xfrm>
              <a:prstGeom prst="rect">
                <a:avLst/>
              </a:prstGeom>
              <a:blipFill>
                <a:blip r:embed="rId14"/>
                <a:stretch>
                  <a:fillRect/>
                </a:stretch>
              </a:blipFill>
              <a:ln>
                <a:solidFill>
                  <a:srgbClr val="FF0000"/>
                </a:solidFill>
              </a:ln>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DCAD5E9D-43A2-48BA-8CDC-42E8D7C7CDAE}"/>
              </a:ext>
            </a:extLst>
          </p:cNvPr>
          <p:cNvSpPr txBox="1"/>
          <p:nvPr/>
        </p:nvSpPr>
        <p:spPr>
          <a:xfrm>
            <a:off x="0" y="33341"/>
            <a:ext cx="12192000"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机器人逆运动学求取方法：代数法</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2800" b="1" dirty="0">
                <a:solidFill>
                  <a:srgbClr val="9D1317"/>
                </a:solidFill>
                <a:latin typeface="微软雅黑" panose="020B0503020204020204" pitchFamily="34" charset="-122"/>
                <a:ea typeface="微软雅黑" panose="020B0503020204020204" pitchFamily="34" charset="-122"/>
              </a:rPr>
              <a:t>平面</a:t>
            </a:r>
            <a:r>
              <a:rPr lang="en-US" altLang="zh-CN" sz="2800" b="1" dirty="0">
                <a:solidFill>
                  <a:srgbClr val="9D1317"/>
                </a:solidFill>
                <a:latin typeface="微软雅黑" panose="020B0503020204020204" pitchFamily="34" charset="-122"/>
                <a:ea typeface="微软雅黑" panose="020B0503020204020204" pitchFamily="34" charset="-122"/>
              </a:rPr>
              <a:t>RRR</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
        <p:nvSpPr>
          <p:cNvPr id="29" name="文本框 28">
            <a:extLst>
              <a:ext uri="{FF2B5EF4-FFF2-40B4-BE49-F238E27FC236}">
                <a16:creationId xmlns:a16="http://schemas.microsoft.com/office/drawing/2014/main" id="{E91DA22E-69AF-4FDA-AC27-FD830F487C44}"/>
              </a:ext>
            </a:extLst>
          </p:cNvPr>
          <p:cNvSpPr txBox="1"/>
          <p:nvPr/>
        </p:nvSpPr>
        <p:spPr>
          <a:xfrm>
            <a:off x="242354" y="1091754"/>
            <a:ext cx="80021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已知</a:t>
            </a:r>
          </a:p>
        </p:txBody>
      </p:sp>
      <p:sp>
        <p:nvSpPr>
          <p:cNvPr id="3" name="文本框 2">
            <a:extLst>
              <a:ext uri="{FF2B5EF4-FFF2-40B4-BE49-F238E27FC236}">
                <a16:creationId xmlns:a16="http://schemas.microsoft.com/office/drawing/2014/main" id="{ED87D324-96A3-4150-82E7-AFCA80D9ED9A}"/>
              </a:ext>
            </a:extLst>
          </p:cNvPr>
          <p:cNvSpPr txBox="1"/>
          <p:nvPr/>
        </p:nvSpPr>
        <p:spPr>
          <a:xfrm>
            <a:off x="10942601" y="2857088"/>
            <a:ext cx="1107996"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存在双解</a:t>
            </a:r>
          </a:p>
        </p:txBody>
      </p:sp>
      <p:grpSp>
        <p:nvGrpSpPr>
          <p:cNvPr id="13" name="组合 12">
            <a:extLst>
              <a:ext uri="{FF2B5EF4-FFF2-40B4-BE49-F238E27FC236}">
                <a16:creationId xmlns:a16="http://schemas.microsoft.com/office/drawing/2014/main" id="{BC48CC12-816E-4FBE-89FD-202E33F3788A}"/>
              </a:ext>
            </a:extLst>
          </p:cNvPr>
          <p:cNvGrpSpPr/>
          <p:nvPr/>
        </p:nvGrpSpPr>
        <p:grpSpPr>
          <a:xfrm>
            <a:off x="4136480" y="3608885"/>
            <a:ext cx="1808777" cy="1134361"/>
            <a:chOff x="4136480" y="3608885"/>
            <a:chExt cx="1808777" cy="1134361"/>
          </a:xfrm>
        </p:grpSpPr>
        <p:cxnSp>
          <p:nvCxnSpPr>
            <p:cNvPr id="8" name="直接箭头连接符 7">
              <a:extLst>
                <a:ext uri="{FF2B5EF4-FFF2-40B4-BE49-F238E27FC236}">
                  <a16:creationId xmlns:a16="http://schemas.microsoft.com/office/drawing/2014/main" id="{3D61470C-0BE1-4B4D-B4A1-167873748D16}"/>
                </a:ext>
              </a:extLst>
            </p:cNvPr>
            <p:cNvCxnSpPr>
              <a:cxnSpLocks/>
            </p:cNvCxnSpPr>
            <p:nvPr/>
          </p:nvCxnSpPr>
          <p:spPr>
            <a:xfrm>
              <a:off x="4577257" y="3978161"/>
              <a:ext cx="133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E9B89100-E2A4-45B8-AB3F-696F2898DD03}"/>
                </a:ext>
              </a:extLst>
            </p:cNvPr>
            <p:cNvGrpSpPr/>
            <p:nvPr/>
          </p:nvGrpSpPr>
          <p:grpSpPr>
            <a:xfrm>
              <a:off x="4136480" y="3608885"/>
              <a:ext cx="1808777" cy="1134361"/>
              <a:chOff x="4136480" y="3608885"/>
              <a:chExt cx="1808777" cy="1134361"/>
            </a:xfrm>
          </p:grpSpPr>
          <p:sp>
            <p:nvSpPr>
              <p:cNvPr id="4" name="文本框 3">
                <a:extLst>
                  <a:ext uri="{FF2B5EF4-FFF2-40B4-BE49-F238E27FC236}">
                    <a16:creationId xmlns:a16="http://schemas.microsoft.com/office/drawing/2014/main" id="{7910F668-A086-41EF-A56E-1CB7F7D4ED28}"/>
                  </a:ext>
                </a:extLst>
              </p:cNvPr>
              <p:cNvSpPr txBox="1"/>
              <p:nvPr/>
            </p:nvSpPr>
            <p:spPr>
              <a:xfrm>
                <a:off x="4136480" y="3850898"/>
                <a:ext cx="65434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a:t>
                </a:r>
              </a:p>
            </p:txBody>
          </p:sp>
          <p:sp>
            <p:nvSpPr>
              <p:cNvPr id="56" name="文本框 55">
                <a:extLst>
                  <a:ext uri="{FF2B5EF4-FFF2-40B4-BE49-F238E27FC236}">
                    <a16:creationId xmlns:a16="http://schemas.microsoft.com/office/drawing/2014/main" id="{70DDE78C-F358-4441-B17D-7FACE196ED04}"/>
                  </a:ext>
                </a:extLst>
              </p:cNvPr>
              <p:cNvSpPr txBox="1"/>
              <p:nvPr/>
            </p:nvSpPr>
            <p:spPr>
              <a:xfrm>
                <a:off x="4140082" y="4435469"/>
                <a:ext cx="65434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B3F00A9B-381C-47F4-834D-E07FF08AC707}"/>
                  </a:ext>
                </a:extLst>
              </p:cNvPr>
              <p:cNvSpPr txBox="1"/>
              <p:nvPr/>
            </p:nvSpPr>
            <p:spPr>
              <a:xfrm>
                <a:off x="4643508" y="4219099"/>
                <a:ext cx="1279517"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(3)</a:t>
                </a:r>
                <a:r>
                  <a:rPr lang="en-US" altLang="zh-CN" i="1"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+(4)</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p</a:t>
                </a:r>
                <a:r>
                  <a:rPr lang="en-US" altLang="zh-CN" i="1" baseline="-25000" dirty="0" err="1">
                    <a:latin typeface="Times New Roman" panose="02020603050405020304" pitchFamily="18" charset="0"/>
                    <a:cs typeface="Times New Roman" panose="02020603050405020304" pitchFamily="18" charset="0"/>
                  </a:rPr>
                  <a:t>y</a:t>
                </a:r>
                <a:endParaRPr lang="zh-CN" altLang="en-US" dirty="0">
                  <a:latin typeface="Times New Roman" panose="02020603050405020304" pitchFamily="18" charset="0"/>
                  <a:cs typeface="Times New Roman" panose="02020603050405020304" pitchFamily="18" charset="0"/>
                </a:endParaRPr>
              </a:p>
            </p:txBody>
          </p:sp>
          <p:sp>
            <p:nvSpPr>
              <p:cNvPr id="58" name="文本框 57">
                <a:extLst>
                  <a:ext uri="{FF2B5EF4-FFF2-40B4-BE49-F238E27FC236}">
                    <a16:creationId xmlns:a16="http://schemas.microsoft.com/office/drawing/2014/main" id="{85FBA1B9-30FC-428E-9AE4-0E1AB0E1082B}"/>
                  </a:ext>
                </a:extLst>
              </p:cNvPr>
              <p:cNvSpPr txBox="1"/>
              <p:nvPr/>
            </p:nvSpPr>
            <p:spPr>
              <a:xfrm>
                <a:off x="4669958" y="3608885"/>
                <a:ext cx="1226618"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(3)</a:t>
                </a:r>
                <a:r>
                  <a:rPr lang="en-US" altLang="zh-CN" i="1" dirty="0" err="1">
                    <a:latin typeface="Times New Roman" panose="02020603050405020304" pitchFamily="18" charset="0"/>
                    <a:cs typeface="Times New Roman" panose="02020603050405020304" pitchFamily="18" charset="0"/>
                  </a:rPr>
                  <a:t>p</a:t>
                </a:r>
                <a:r>
                  <a:rPr lang="en-US" altLang="zh-CN" i="1" baseline="-25000" dirty="0" err="1">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-(4)</a:t>
                </a:r>
                <a:r>
                  <a:rPr lang="en-US" altLang="zh-CN" i="1" dirty="0">
                    <a:latin typeface="Times New Roman" panose="02020603050405020304" pitchFamily="18" charset="0"/>
                    <a:cs typeface="Times New Roman" panose="02020603050405020304" pitchFamily="18" charset="0"/>
                  </a:rPr>
                  <a:t> p</a:t>
                </a:r>
                <a:r>
                  <a:rPr lang="en-US" altLang="zh-CN" i="1" baseline="-25000" dirty="0">
                    <a:latin typeface="Times New Roman" panose="02020603050405020304" pitchFamily="18" charset="0"/>
                    <a:cs typeface="Times New Roman" panose="02020603050405020304" pitchFamily="18" charset="0"/>
                  </a:rPr>
                  <a:t>x</a:t>
                </a:r>
                <a:endParaRPr lang="zh-CN" altLang="en-US" dirty="0">
                  <a:latin typeface="Times New Roman" panose="02020603050405020304" pitchFamily="18" charset="0"/>
                  <a:cs typeface="Times New Roman" panose="02020603050405020304" pitchFamily="18" charset="0"/>
                </a:endParaRPr>
              </a:p>
            </p:txBody>
          </p:sp>
          <p:cxnSp>
            <p:nvCxnSpPr>
              <p:cNvPr id="59" name="直接箭头连接符 58">
                <a:extLst>
                  <a:ext uri="{FF2B5EF4-FFF2-40B4-BE49-F238E27FC236}">
                    <a16:creationId xmlns:a16="http://schemas.microsoft.com/office/drawing/2014/main" id="{2766CF64-787D-41E8-84E0-FC8755FE5D0F}"/>
                  </a:ext>
                </a:extLst>
              </p:cNvPr>
              <p:cNvCxnSpPr>
                <a:cxnSpLocks/>
              </p:cNvCxnSpPr>
              <p:nvPr/>
            </p:nvCxnSpPr>
            <p:spPr>
              <a:xfrm>
                <a:off x="4577257" y="4578849"/>
                <a:ext cx="136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
        <p:nvSpPr>
          <p:cNvPr id="9" name="右大括号 8">
            <a:extLst>
              <a:ext uri="{FF2B5EF4-FFF2-40B4-BE49-F238E27FC236}">
                <a16:creationId xmlns:a16="http://schemas.microsoft.com/office/drawing/2014/main" id="{83791A00-1AD2-43BC-8D15-75669F3C5112}"/>
              </a:ext>
            </a:extLst>
          </p:cNvPr>
          <p:cNvSpPr/>
          <p:nvPr/>
        </p:nvSpPr>
        <p:spPr>
          <a:xfrm>
            <a:off x="9207063" y="3756043"/>
            <a:ext cx="141889" cy="934651"/>
          </a:xfrm>
          <a:prstGeom prst="rightBrace">
            <a:avLst>
              <a:gd name="adj1" fmla="val 16468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0" name="文本框 59">
            <a:extLst>
              <a:ext uri="{FF2B5EF4-FFF2-40B4-BE49-F238E27FC236}">
                <a16:creationId xmlns:a16="http://schemas.microsoft.com/office/drawing/2014/main" id="{B51284F4-A11C-45A2-9E4C-C20285B04DC4}"/>
              </a:ext>
            </a:extLst>
          </p:cNvPr>
          <p:cNvSpPr txBox="1"/>
          <p:nvPr/>
        </p:nvSpPr>
        <p:spPr>
          <a:xfrm>
            <a:off x="1132707" y="828832"/>
            <a:ext cx="58221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a:t>
            </a:r>
          </a:p>
        </p:txBody>
      </p:sp>
      <p:sp>
        <p:nvSpPr>
          <p:cNvPr id="61" name="文本框 60">
            <a:extLst>
              <a:ext uri="{FF2B5EF4-FFF2-40B4-BE49-F238E27FC236}">
                <a16:creationId xmlns:a16="http://schemas.microsoft.com/office/drawing/2014/main" id="{0A6FC36D-887B-45E2-96F0-DE3E65ADEF47}"/>
              </a:ext>
            </a:extLst>
          </p:cNvPr>
          <p:cNvSpPr txBox="1"/>
          <p:nvPr/>
        </p:nvSpPr>
        <p:spPr>
          <a:xfrm>
            <a:off x="1137961" y="1044292"/>
            <a:ext cx="58221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a:t>
            </a:r>
          </a:p>
        </p:txBody>
      </p:sp>
      <p:sp>
        <p:nvSpPr>
          <p:cNvPr id="62" name="文本框 61">
            <a:extLst>
              <a:ext uri="{FF2B5EF4-FFF2-40B4-BE49-F238E27FC236}">
                <a16:creationId xmlns:a16="http://schemas.microsoft.com/office/drawing/2014/main" id="{273854CD-E2F2-48A5-8393-3640B57861AC}"/>
              </a:ext>
            </a:extLst>
          </p:cNvPr>
          <p:cNvSpPr txBox="1"/>
          <p:nvPr/>
        </p:nvSpPr>
        <p:spPr>
          <a:xfrm>
            <a:off x="487201" y="5153830"/>
            <a:ext cx="2182008"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由方程</a:t>
            </a:r>
            <a:r>
              <a:rPr lang="en-US" altLang="zh-CN" sz="2000" b="1" dirty="0">
                <a:latin typeface="微软雅黑" panose="020B0503020204020204" pitchFamily="34" charset="-122"/>
                <a:ea typeface="微软雅黑" panose="020B0503020204020204" pitchFamily="34" charset="-122"/>
              </a:rPr>
              <a:t>(5)(6)</a:t>
            </a:r>
            <a:r>
              <a:rPr lang="zh-CN" altLang="en-US" sz="2000" b="1" dirty="0">
                <a:latin typeface="微软雅黑" panose="020B0503020204020204" pitchFamily="34" charset="-122"/>
                <a:ea typeface="微软雅黑" panose="020B0503020204020204" pitchFamily="34" charset="-122"/>
              </a:rPr>
              <a:t>，有</a:t>
            </a:r>
          </a:p>
        </p:txBody>
      </p:sp>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151D787F-A627-4EC0-A6AF-0136032DC9CB}"/>
                  </a:ext>
                </a:extLst>
              </p:cNvPr>
              <p:cNvSpPr/>
              <p:nvPr/>
            </p:nvSpPr>
            <p:spPr>
              <a:xfrm>
                <a:off x="5879734" y="4200993"/>
                <a:ext cx="3376181" cy="853439"/>
              </a:xfrm>
              <a:prstGeom prst="rect">
                <a:avLst/>
              </a:prstGeom>
            </p:spPr>
            <p:txBody>
              <a:bodyPr wrap="none">
                <a:spAutoFit/>
              </a:bodyPr>
              <a:lstStyle/>
              <a:p>
                <a:pPr>
                  <a:lnSpc>
                    <a:spcPct val="110000"/>
                  </a:lnSpc>
                </a:pP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rPr>
                        <m:t>𝑐</m:t>
                      </m:r>
                      <m:r>
                        <a:rPr lang="en-US" altLang="zh-CN" sz="2000" smtClean="0">
                          <a:latin typeface="Cambria Math" panose="02040503050406030204" pitchFamily="18" charset="0"/>
                        </a:rPr>
                        <m:t>1=</m:t>
                      </m:r>
                      <m:f>
                        <m:fPr>
                          <m:ctrlPr>
                            <a:rPr lang="en-US" altLang="zh-CN" sz="2000" i="1">
                              <a:latin typeface="Cambria Math" panose="02040503050406030204" pitchFamily="18" charset="0"/>
                            </a:rPr>
                          </m:ctrlPr>
                        </m:fPr>
                        <m:num>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m:t>
                              </m:r>
                              <m:r>
                                <a:rPr lang="en-US" altLang="zh-CN" sz="2000">
                                  <a:latin typeface="Cambria Math" panose="02040503050406030204" pitchFamily="18" charset="0"/>
                                </a:rPr>
                                <m:t>𝐿</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r>
                            <a:rPr lang="en-US" altLang="zh-CN" sz="2000">
                              <a:latin typeface="Cambria Math" panose="02040503050406030204" pitchFamily="18" charset="0"/>
                            </a:rPr>
                            <m:t>𝑐</m:t>
                          </m:r>
                          <m:r>
                            <a:rPr lang="en-US" altLang="zh-CN" sz="2000">
                              <a:latin typeface="Cambria Math" panose="02040503050406030204" pitchFamily="18" charset="0"/>
                            </a:rPr>
                            <m:t>2)</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𝑝</m:t>
                              </m:r>
                            </m:e>
                            <m:sub>
                              <m:r>
                                <a:rPr lang="en-US" altLang="zh-CN" sz="2000" b="0" i="1" smtClean="0">
                                  <a:latin typeface="Cambria Math" panose="02040503050406030204" pitchFamily="18" charset="0"/>
                                </a:rPr>
                                <m:t>𝑥</m:t>
                              </m:r>
                            </m:sub>
                          </m:sSub>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a:latin typeface="Cambria Math" panose="02040503050406030204" pitchFamily="18" charset="0"/>
                                </a:rPr>
                                <m:t>𝐿</m:t>
                              </m:r>
                            </m:e>
                            <m:sub>
                              <m:r>
                                <a:rPr lang="en-US" altLang="zh-CN" sz="2000">
                                  <a:latin typeface="Cambria Math" panose="02040503050406030204" pitchFamily="18" charset="0"/>
                                </a:rPr>
                                <m:t>2</m:t>
                              </m:r>
                            </m:sub>
                          </m:sSub>
                          <m:r>
                            <a:rPr lang="en-US" altLang="zh-CN" sz="2000">
                              <a:latin typeface="Cambria Math" panose="02040503050406030204" pitchFamily="18" charset="0"/>
                            </a:rPr>
                            <m:t>𝑠</m:t>
                          </m:r>
                          <m:r>
                            <a:rPr lang="en-US" altLang="zh-CN" sz="2000">
                              <a:latin typeface="Cambria Math" panose="02040503050406030204" pitchFamily="18" charset="0"/>
                            </a:rPr>
                            <m:t>2</m:t>
                          </m:r>
                        </m:num>
                        <m:den>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𝑥</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𝑦</m:t>
                              </m:r>
                            </m:sub>
                            <m:sup>
                              <m:r>
                                <a:rPr lang="en-US" altLang="zh-CN" sz="2000">
                                  <a:latin typeface="Cambria Math" panose="02040503050406030204" pitchFamily="18" charset="0"/>
                                </a:rPr>
                                <m:t>2</m:t>
                              </m:r>
                            </m:sup>
                          </m:sSubSup>
                        </m:den>
                      </m:f>
                    </m:oMath>
                  </m:oMathPara>
                </a14:m>
                <a:endParaRPr lang="zh-CN" altLang="en-US" sz="2000" dirty="0"/>
              </a:p>
            </p:txBody>
          </p:sp>
        </mc:Choice>
        <mc:Fallback xmlns="">
          <p:sp>
            <p:nvSpPr>
              <p:cNvPr id="63" name="矩形 62">
                <a:extLst>
                  <a:ext uri="{FF2B5EF4-FFF2-40B4-BE49-F238E27FC236}">
                    <a16:creationId xmlns:a16="http://schemas.microsoft.com/office/drawing/2014/main" id="{151D787F-A627-4EC0-A6AF-0136032DC9CB}"/>
                  </a:ext>
                </a:extLst>
              </p:cNvPr>
              <p:cNvSpPr>
                <a:spLocks noRot="1" noChangeAspect="1" noMove="1" noResize="1" noEditPoints="1" noAdjustHandles="1" noChangeArrowheads="1" noChangeShapeType="1" noTextEdit="1"/>
              </p:cNvSpPr>
              <p:nvPr/>
            </p:nvSpPr>
            <p:spPr>
              <a:xfrm>
                <a:off x="5879734" y="4200993"/>
                <a:ext cx="3376181" cy="853439"/>
              </a:xfrm>
              <a:prstGeom prst="rect">
                <a:avLst/>
              </a:prstGeom>
              <a:blipFill>
                <a:blip r:embed="rId1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56556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500" fill="hold"/>
                                        <p:tgtEl>
                                          <p:spTgt spid="43"/>
                                        </p:tgtEl>
                                        <p:attrNameLst>
                                          <p:attrName>ppt_x</p:attrName>
                                        </p:attrNameLst>
                                      </p:cBhvr>
                                      <p:tavLst>
                                        <p:tav tm="0">
                                          <p:val>
                                            <p:strVal val="#ppt_x"/>
                                          </p:val>
                                        </p:tav>
                                        <p:tav tm="100000">
                                          <p:val>
                                            <p:strVal val="#ppt_x"/>
                                          </p:val>
                                        </p:tav>
                                      </p:tavLst>
                                    </p:anim>
                                    <p:anim calcmode="lin" valueType="num">
                                      <p:cBhvr additive="base">
                                        <p:cTn id="2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1+#ppt_h/2"/>
                                          </p:val>
                                        </p:tav>
                                        <p:tav tm="100000">
                                          <p:val>
                                            <p:strVal val="#ppt_y"/>
                                          </p:val>
                                        </p:tav>
                                      </p:tavLst>
                                    </p:anim>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2" presetClass="entr" presetSubtype="4"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additive="base">
                                        <p:cTn id="71" dur="500" fill="hold"/>
                                        <p:tgtEl>
                                          <p:spTgt spid="9"/>
                                        </p:tgtEl>
                                        <p:attrNameLst>
                                          <p:attrName>ppt_x</p:attrName>
                                        </p:attrNameLst>
                                      </p:cBhvr>
                                      <p:tavLst>
                                        <p:tav tm="0">
                                          <p:val>
                                            <p:strVal val="#ppt_x"/>
                                          </p:val>
                                        </p:tav>
                                        <p:tav tm="100000">
                                          <p:val>
                                            <p:strVal val="#ppt_x"/>
                                          </p:val>
                                        </p:tav>
                                      </p:tavLst>
                                    </p:anim>
                                    <p:anim calcmode="lin" valueType="num">
                                      <p:cBhvr additive="base">
                                        <p:cTn id="7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 calcmode="lin" valueType="num">
                                      <p:cBhvr additive="base">
                                        <p:cTn id="85" dur="500" fill="hold"/>
                                        <p:tgtEl>
                                          <p:spTgt spid="40"/>
                                        </p:tgtEl>
                                        <p:attrNameLst>
                                          <p:attrName>ppt_x</p:attrName>
                                        </p:attrNameLst>
                                      </p:cBhvr>
                                      <p:tavLst>
                                        <p:tav tm="0">
                                          <p:val>
                                            <p:strVal val="#ppt_x"/>
                                          </p:val>
                                        </p:tav>
                                        <p:tav tm="100000">
                                          <p:val>
                                            <p:strVal val="#ppt_x"/>
                                          </p:val>
                                        </p:tav>
                                      </p:tavLst>
                                    </p:anim>
                                    <p:anim calcmode="lin" valueType="num">
                                      <p:cBhvr additive="base">
                                        <p:cTn id="86" dur="500" fill="hold"/>
                                        <p:tgtEl>
                                          <p:spTgt spid="40"/>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 calcmode="lin" valueType="num">
                                      <p:cBhvr additive="base">
                                        <p:cTn id="89" dur="500" fill="hold"/>
                                        <p:tgtEl>
                                          <p:spTgt spid="41"/>
                                        </p:tgtEl>
                                        <p:attrNameLst>
                                          <p:attrName>ppt_x</p:attrName>
                                        </p:attrNameLst>
                                      </p:cBhvr>
                                      <p:tavLst>
                                        <p:tav tm="0">
                                          <p:val>
                                            <p:strVal val="#ppt_x"/>
                                          </p:val>
                                        </p:tav>
                                        <p:tav tm="100000">
                                          <p:val>
                                            <p:strVal val="#ppt_x"/>
                                          </p:val>
                                        </p:tav>
                                      </p:tavLst>
                                    </p:anim>
                                    <p:anim calcmode="lin" valueType="num">
                                      <p:cBhvr additive="base">
                                        <p:cTn id="90" dur="500" fill="hold"/>
                                        <p:tgtEl>
                                          <p:spTgt spid="41"/>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60"/>
                                        </p:tgtEl>
                                        <p:attrNameLst>
                                          <p:attrName>style.visibility</p:attrName>
                                        </p:attrNameLst>
                                      </p:cBhvr>
                                      <p:to>
                                        <p:strVal val="visible"/>
                                      </p:to>
                                    </p:set>
                                    <p:anim calcmode="lin" valueType="num">
                                      <p:cBhvr additive="base">
                                        <p:cTn id="93" dur="500" fill="hold"/>
                                        <p:tgtEl>
                                          <p:spTgt spid="60"/>
                                        </p:tgtEl>
                                        <p:attrNameLst>
                                          <p:attrName>ppt_x</p:attrName>
                                        </p:attrNameLst>
                                      </p:cBhvr>
                                      <p:tavLst>
                                        <p:tav tm="0">
                                          <p:val>
                                            <p:strVal val="#ppt_x"/>
                                          </p:val>
                                        </p:tav>
                                        <p:tav tm="100000">
                                          <p:val>
                                            <p:strVal val="#ppt_x"/>
                                          </p:val>
                                        </p:tav>
                                      </p:tavLst>
                                    </p:anim>
                                    <p:anim calcmode="lin" valueType="num">
                                      <p:cBhvr additive="base">
                                        <p:cTn id="94" dur="500" fill="hold"/>
                                        <p:tgtEl>
                                          <p:spTgt spid="60"/>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anim calcmode="lin" valueType="num">
                                      <p:cBhvr additive="base">
                                        <p:cTn id="97" dur="500" fill="hold"/>
                                        <p:tgtEl>
                                          <p:spTgt spid="61"/>
                                        </p:tgtEl>
                                        <p:attrNameLst>
                                          <p:attrName>ppt_x</p:attrName>
                                        </p:attrNameLst>
                                      </p:cBhvr>
                                      <p:tavLst>
                                        <p:tav tm="0">
                                          <p:val>
                                            <p:strVal val="#ppt_x"/>
                                          </p:val>
                                        </p:tav>
                                        <p:tav tm="100000">
                                          <p:val>
                                            <p:strVal val="#ppt_x"/>
                                          </p:val>
                                        </p:tav>
                                      </p:tavLst>
                                    </p:anim>
                                    <p:anim calcmode="lin" valueType="num">
                                      <p:cBhvr additive="base">
                                        <p:cTn id="98" dur="500" fill="hold"/>
                                        <p:tgtEl>
                                          <p:spTgt spid="61"/>
                                        </p:tgtEl>
                                        <p:attrNameLst>
                                          <p:attrName>ppt_y</p:attrName>
                                        </p:attrNameLst>
                                      </p:cBhvr>
                                      <p:tavLst>
                                        <p:tav tm="0">
                                          <p:val>
                                            <p:strVal val="1+#ppt_h/2"/>
                                          </p:val>
                                        </p:tav>
                                        <p:tav tm="100000">
                                          <p:val>
                                            <p:strVal val="#ppt_y"/>
                                          </p:val>
                                        </p:tav>
                                      </p:tavLst>
                                    </p:anim>
                                  </p:childTnLst>
                                </p:cTn>
                              </p:par>
                              <p:par>
                                <p:cTn id="99" presetID="1" presetClass="entr" presetSubtype="0" fill="hold" grpId="0" nodeType="withEffect">
                                  <p:stCondLst>
                                    <p:cond delay="0"/>
                                  </p:stCondLst>
                                  <p:childTnLst>
                                    <p:set>
                                      <p:cBhvr>
                                        <p:cTn id="100" dur="1" fill="hold">
                                          <p:stCondLst>
                                            <p:cond delay="0"/>
                                          </p:stCondLst>
                                        </p:cTn>
                                        <p:tgtEl>
                                          <p:spTgt spid="39"/>
                                        </p:tgtEl>
                                        <p:attrNameLst>
                                          <p:attrName>style.visibility</p:attrName>
                                        </p:attrNameLst>
                                      </p:cBhvr>
                                      <p:to>
                                        <p:strVal val="visible"/>
                                      </p:to>
                                    </p:set>
                                  </p:childTnLst>
                                </p:cTn>
                              </p:par>
                              <p:par>
                                <p:cTn id="101" presetID="2" presetClass="entr" presetSubtype="4"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anim calcmode="lin" valueType="num">
                                      <p:cBhvr additive="base">
                                        <p:cTn id="103" dur="500" fill="hold"/>
                                        <p:tgtEl>
                                          <p:spTgt spid="62"/>
                                        </p:tgtEl>
                                        <p:attrNameLst>
                                          <p:attrName>ppt_x</p:attrName>
                                        </p:attrNameLst>
                                      </p:cBhvr>
                                      <p:tavLst>
                                        <p:tav tm="0">
                                          <p:val>
                                            <p:strVal val="#ppt_x"/>
                                          </p:val>
                                        </p:tav>
                                        <p:tav tm="100000">
                                          <p:val>
                                            <p:strVal val="#ppt_x"/>
                                          </p:val>
                                        </p:tav>
                                      </p:tavLst>
                                    </p:anim>
                                    <p:anim calcmode="lin" valueType="num">
                                      <p:cBhvr additive="base">
                                        <p:cTn id="104"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24" grpId="0"/>
      <p:bldP spid="25" grpId="0"/>
      <p:bldP spid="27" grpId="0" animBg="1"/>
      <p:bldP spid="28" grpId="0" animBg="1"/>
      <p:bldP spid="32" grpId="0"/>
      <p:bldP spid="33" grpId="0"/>
      <p:bldP spid="35" grpId="0" animBg="1"/>
      <p:bldP spid="36" grpId="0"/>
      <p:bldP spid="37" grpId="0" animBg="1"/>
      <p:bldP spid="38" grpId="0" animBg="1"/>
      <p:bldP spid="39" grpId="0"/>
      <p:bldP spid="40" grpId="0" animBg="1"/>
      <p:bldP spid="41" grpId="0" animBg="1"/>
      <p:bldP spid="42" grpId="0" animBg="1"/>
      <p:bldP spid="43" grpId="0" animBg="1"/>
      <p:bldP spid="44" grpId="0" animBg="1"/>
      <p:bldP spid="3" grpId="0"/>
      <p:bldP spid="9" grpId="0" animBg="1"/>
      <p:bldP spid="60" grpId="0"/>
      <p:bldP spid="61" grpId="0"/>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989E3A-9D8B-4895-A07D-E915F3CC3ADD}"/>
              </a:ext>
            </a:extLst>
          </p:cNvPr>
          <p:cNvSpPr>
            <a:spLocks noGrp="1"/>
          </p:cNvSpPr>
          <p:nvPr>
            <p:ph type="sldNum" sz="quarter" idx="12"/>
          </p:nvPr>
        </p:nvSpPr>
        <p:spPr>
          <a:xfrm>
            <a:off x="10430067" y="6234104"/>
            <a:ext cx="1680000" cy="365125"/>
          </a:xfrm>
        </p:spPr>
        <p:txBody>
          <a:bodyPr/>
          <a:lstStyle/>
          <a:p>
            <a:pPr>
              <a:defRPr/>
            </a:pPr>
            <a:fld id="{DAA44188-3096-49C0-8534-FE6F15E0F67F}" type="slidenum">
              <a:rPr lang="zh-CN" altLang="en-US" smtClean="0">
                <a:solidFill>
                  <a:prstClr val="black">
                    <a:tint val="75000"/>
                  </a:prstClr>
                </a:solidFill>
              </a:rPr>
              <a:pPr>
                <a:defRPr/>
              </a:pPr>
              <a:t>9</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99CBC05B-A948-4500-9795-DDD7C45CE854}"/>
                  </a:ext>
                </a:extLst>
              </p:cNvPr>
              <p:cNvSpPr/>
              <p:nvPr/>
            </p:nvSpPr>
            <p:spPr>
              <a:xfrm>
                <a:off x="1108041" y="1104776"/>
                <a:ext cx="4275016" cy="452496"/>
              </a:xfrm>
              <a:prstGeom prst="rect">
                <a:avLst/>
              </a:prstGeom>
            </p:spPr>
            <p:txBody>
              <a:bodyPr wrap="none">
                <a:spAutoFit/>
              </a:bodyPr>
              <a:lstStyle/>
              <a:p>
                <a14:m>
                  <m:oMath xmlns:m="http://schemas.openxmlformats.org/officeDocument/2006/math">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𝐿</m:t>
                        </m:r>
                      </m:e>
                      <m:sub>
                        <m:r>
                          <a:rPr lang="en-US" altLang="zh-CN" sz="2100">
                            <a:latin typeface="Cambria Math" panose="02040503050406030204" pitchFamily="18" charset="0"/>
                          </a:rPr>
                          <m:t>1</m:t>
                        </m:r>
                      </m:sub>
                      <m:sup>
                        <m:r>
                          <a:rPr lang="en-US" altLang="zh-CN" sz="2100">
                            <a:latin typeface="Cambria Math" panose="02040503050406030204" pitchFamily="18" charset="0"/>
                          </a:rPr>
                          <m:t>2</m:t>
                        </m:r>
                      </m:sup>
                    </m:sSubSup>
                    <m:r>
                      <a:rPr lang="en-US" altLang="zh-CN" sz="2100">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𝐿</m:t>
                        </m:r>
                      </m:e>
                      <m:sub>
                        <m:r>
                          <a:rPr lang="en-US" altLang="zh-CN" sz="2100">
                            <a:latin typeface="Cambria Math" panose="02040503050406030204" pitchFamily="18" charset="0"/>
                          </a:rPr>
                          <m:t>2</m:t>
                        </m:r>
                      </m:sub>
                      <m:sup>
                        <m:r>
                          <a:rPr lang="en-US" altLang="zh-CN" sz="2100">
                            <a:latin typeface="Cambria Math" panose="02040503050406030204" pitchFamily="18" charset="0"/>
                          </a:rPr>
                          <m:t>2</m:t>
                        </m:r>
                      </m:sup>
                    </m:sSubSup>
                    <m:r>
                      <a:rPr lang="en-US" altLang="zh-CN" sz="2100">
                        <a:latin typeface="Cambria Math" panose="02040503050406030204" pitchFamily="18" charset="0"/>
                      </a:rPr>
                      <m:t>+2</m:t>
                    </m:r>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𝐿</m:t>
                        </m:r>
                      </m:e>
                      <m:sub>
                        <m:r>
                          <a:rPr lang="en-US" altLang="zh-CN" sz="2100">
                            <a:latin typeface="Cambria Math" panose="02040503050406030204" pitchFamily="18" charset="0"/>
                          </a:rPr>
                          <m:t>1</m:t>
                        </m:r>
                      </m:sub>
                    </m:sSub>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𝐿</m:t>
                        </m:r>
                      </m:e>
                      <m:sub>
                        <m:r>
                          <a:rPr lang="en-US" altLang="zh-CN" sz="2100">
                            <a:latin typeface="Cambria Math" panose="02040503050406030204" pitchFamily="18" charset="0"/>
                          </a:rPr>
                          <m:t>2</m:t>
                        </m:r>
                      </m:sub>
                    </m:sSub>
                    <m:func>
                      <m:funcPr>
                        <m:ctrlPr>
                          <a:rPr lang="en-US" altLang="zh-CN" sz="2100" b="0" i="1" smtClean="0">
                            <a:latin typeface="Cambria Math" panose="02040503050406030204" pitchFamily="18" charset="0"/>
                          </a:rPr>
                        </m:ctrlPr>
                      </m:funcPr>
                      <m:fName>
                        <m:r>
                          <m:rPr>
                            <m:sty m:val="p"/>
                          </m:rPr>
                          <a:rPr lang="en-US" altLang="zh-CN" sz="2100" b="0" i="0" smtClean="0">
                            <a:latin typeface="Cambria Math" panose="02040503050406030204" pitchFamily="18" charset="0"/>
                          </a:rPr>
                          <m:t>cos</m:t>
                        </m:r>
                      </m:fName>
                      <m:e>
                        <m:sSub>
                          <m:sSubPr>
                            <m:ctrlPr>
                              <a:rPr lang="en-US" altLang="zh-CN" sz="2100" b="0" i="1" smtClean="0">
                                <a:latin typeface="Cambria Math" panose="02040503050406030204" pitchFamily="18" charset="0"/>
                              </a:rPr>
                            </m:ctrlPr>
                          </m:sSubPr>
                          <m:e>
                            <m:r>
                              <a:rPr lang="en-US" altLang="zh-CN" sz="2100" b="0" i="1" smtClean="0">
                                <a:latin typeface="Cambria Math" panose="02040503050406030204" pitchFamily="18" charset="0"/>
                              </a:rPr>
                              <m:t>𝜃</m:t>
                            </m:r>
                          </m:e>
                          <m:sub>
                            <m:r>
                              <a:rPr lang="en-US" altLang="zh-CN" sz="2100" b="0" i="1" smtClean="0">
                                <a:latin typeface="Cambria Math" panose="02040503050406030204" pitchFamily="18" charset="0"/>
                              </a:rPr>
                              <m:t>2</m:t>
                            </m:r>
                          </m:sub>
                        </m:sSub>
                      </m:e>
                    </m:func>
                    <m:r>
                      <a:rPr lang="en-US" altLang="zh-CN" sz="2100" b="0" i="1" smtClean="0">
                        <a:latin typeface="Cambria Math" panose="02040503050406030204" pitchFamily="18" charset="0"/>
                      </a:rPr>
                      <m:t>=</m:t>
                    </m:r>
                    <m:sSubSup>
                      <m:sSubSupPr>
                        <m:ctrlPr>
                          <a:rPr lang="en-US" altLang="zh-CN" sz="2100" b="0" i="1" smtClean="0">
                            <a:latin typeface="Cambria Math" panose="02040503050406030204" pitchFamily="18" charset="0"/>
                          </a:rPr>
                        </m:ctrlPr>
                      </m:sSubSup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𝑥</m:t>
                        </m:r>
                      </m:sub>
                      <m:sup>
                        <m:r>
                          <a:rPr lang="en-US" altLang="zh-CN" sz="2100" b="0" i="1" smtClean="0">
                            <a:latin typeface="Cambria Math" panose="02040503050406030204" pitchFamily="18" charset="0"/>
                          </a:rPr>
                          <m:t>2</m:t>
                        </m:r>
                      </m:sup>
                    </m:sSubSup>
                    <m:r>
                      <a:rPr lang="en-US" altLang="zh-CN" sz="2100" b="0" i="1" smtClean="0">
                        <a:latin typeface="Cambria Math" panose="02040503050406030204" pitchFamily="18" charset="0"/>
                      </a:rPr>
                      <m:t>+</m:t>
                    </m:r>
                    <m:sSubSup>
                      <m:sSubSupPr>
                        <m:ctrlPr>
                          <a:rPr lang="en-US" altLang="zh-CN" sz="2100" b="0" i="1" smtClean="0">
                            <a:latin typeface="Cambria Math" panose="02040503050406030204" pitchFamily="18" charset="0"/>
                          </a:rPr>
                        </m:ctrlPr>
                      </m:sSubSup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𝑦</m:t>
                        </m:r>
                      </m:sub>
                      <m:sup>
                        <m:r>
                          <a:rPr lang="en-US" altLang="zh-CN" sz="2100" b="0" i="1" smtClean="0">
                            <a:latin typeface="Cambria Math" panose="02040503050406030204" pitchFamily="18" charset="0"/>
                          </a:rPr>
                          <m:t>2</m:t>
                        </m:r>
                      </m:sup>
                    </m:sSubSup>
                  </m:oMath>
                </a14:m>
                <a:r>
                  <a:rPr lang="zh-CN" altLang="en-US" sz="2100" dirty="0"/>
                  <a:t>，</a:t>
                </a:r>
              </a:p>
            </p:txBody>
          </p:sp>
        </mc:Choice>
        <mc:Fallback xmlns="">
          <p:sp>
            <p:nvSpPr>
              <p:cNvPr id="25" name="矩形 24">
                <a:extLst>
                  <a:ext uri="{FF2B5EF4-FFF2-40B4-BE49-F238E27FC236}">
                    <a16:creationId xmlns:a16="http://schemas.microsoft.com/office/drawing/2014/main" id="{99CBC05B-A948-4500-9795-DDD7C45CE854}"/>
                  </a:ext>
                </a:extLst>
              </p:cNvPr>
              <p:cNvSpPr>
                <a:spLocks noRot="1" noChangeAspect="1" noMove="1" noResize="1" noEditPoints="1" noAdjustHandles="1" noChangeArrowheads="1" noChangeShapeType="1" noTextEdit="1"/>
              </p:cNvSpPr>
              <p:nvPr/>
            </p:nvSpPr>
            <p:spPr>
              <a:xfrm>
                <a:off x="1108041" y="1104776"/>
                <a:ext cx="4275016" cy="452496"/>
              </a:xfrm>
              <a:prstGeom prst="rect">
                <a:avLst/>
              </a:prstGeom>
              <a:blipFill>
                <a:blip r:embed="rId3"/>
                <a:stretch>
                  <a:fillRect l="-143" t="-6757" r="-856" b="-202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9DBAF111-0568-4495-A232-E01E99046D6D}"/>
                  </a:ext>
                </a:extLst>
              </p:cNvPr>
              <p:cNvSpPr/>
              <p:nvPr/>
            </p:nvSpPr>
            <p:spPr>
              <a:xfrm>
                <a:off x="5004604" y="863884"/>
                <a:ext cx="6947992" cy="891462"/>
              </a:xfrm>
              <a:prstGeom prst="rect">
                <a:avLst/>
              </a:prstGeom>
            </p:spPr>
            <p:txBody>
              <a:bodyPr wrap="none">
                <a:spAutoFit/>
              </a:bodyPr>
              <a:lstStyle/>
              <a:p>
                <a:pPr>
                  <a:lnSpc>
                    <a:spcPct val="110000"/>
                  </a:lnSpc>
                </a:pPr>
                <a14:m>
                  <m:oMathPara xmlns:m="http://schemas.openxmlformats.org/officeDocument/2006/math">
                    <m:oMathParaPr>
                      <m:jc m:val="centerGroup"/>
                    </m:oMathParaPr>
                    <m:oMath xmlns:m="http://schemas.openxmlformats.org/officeDocument/2006/math">
                      <m:r>
                        <a:rPr lang="en-US" altLang="zh-CN" sz="2100" smtClean="0">
                          <a:latin typeface="Cambria Math" panose="02040503050406030204" pitchFamily="18" charset="0"/>
                        </a:rPr>
                        <m:t>𝑠</m:t>
                      </m:r>
                      <m:r>
                        <a:rPr lang="en-US" altLang="zh-CN" sz="2100" smtClean="0">
                          <a:latin typeface="Cambria Math" panose="02040503050406030204" pitchFamily="18" charset="0"/>
                        </a:rPr>
                        <m:t>1=</m:t>
                      </m:r>
                      <m:f>
                        <m:fPr>
                          <m:ctrlPr>
                            <a:rPr lang="en-US" altLang="zh-CN" sz="2100" i="1" smtClean="0">
                              <a:latin typeface="Cambria Math" panose="02040503050406030204" pitchFamily="18" charset="0"/>
                            </a:rPr>
                          </m:ctrlPr>
                        </m:fPr>
                        <m:num>
                          <m:sSub>
                            <m:sSubPr>
                              <m:ctrlPr>
                                <a:rPr lang="en-US" altLang="zh-CN" sz="2100" i="1">
                                  <a:latin typeface="Cambria Math" panose="02040503050406030204" pitchFamily="18" charset="0"/>
                                </a:rPr>
                              </m:ctrlPr>
                            </m:sSubPr>
                            <m:e>
                              <m:r>
                                <a:rPr lang="en-US" altLang="zh-CN" sz="2100" b="0" i="1" smtClean="0">
                                  <a:latin typeface="Cambria Math" panose="02040503050406030204" pitchFamily="18" charset="0"/>
                                </a:rPr>
                                <m:t>(</m:t>
                              </m:r>
                              <m:r>
                                <a:rPr lang="en-US" altLang="zh-CN" sz="2100">
                                  <a:latin typeface="Cambria Math" panose="02040503050406030204" pitchFamily="18" charset="0"/>
                                </a:rPr>
                                <m:t>𝐿</m:t>
                              </m:r>
                            </m:e>
                            <m:sub>
                              <m:r>
                                <a:rPr lang="en-US" altLang="zh-CN" sz="2100">
                                  <a:latin typeface="Cambria Math" panose="02040503050406030204" pitchFamily="18" charset="0"/>
                                </a:rPr>
                                <m:t>1</m:t>
                              </m:r>
                            </m:sub>
                          </m:sSub>
                          <m:r>
                            <a:rPr lang="en-US" altLang="zh-CN" sz="2100">
                              <a:latin typeface="Cambria Math" panose="02040503050406030204" pitchFamily="18" charset="0"/>
                            </a:rPr>
                            <m:t>+</m:t>
                          </m:r>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𝐿</m:t>
                              </m:r>
                            </m:e>
                            <m:sub>
                              <m:r>
                                <a:rPr lang="en-US" altLang="zh-CN" sz="2100">
                                  <a:latin typeface="Cambria Math" panose="02040503050406030204" pitchFamily="18" charset="0"/>
                                </a:rPr>
                                <m:t>2</m:t>
                              </m:r>
                            </m:sub>
                          </m:sSub>
                          <m:r>
                            <a:rPr lang="en-US" altLang="zh-CN" sz="2100">
                              <a:latin typeface="Cambria Math" panose="02040503050406030204" pitchFamily="18" charset="0"/>
                            </a:rPr>
                            <m:t>𝑐</m:t>
                          </m:r>
                          <m:r>
                            <a:rPr lang="en-US" altLang="zh-CN" sz="2100">
                              <a:latin typeface="Cambria Math" panose="02040503050406030204" pitchFamily="18" charset="0"/>
                            </a:rPr>
                            <m:t>2</m:t>
                          </m:r>
                          <m:r>
                            <a:rPr lang="en-US" altLang="zh-CN" sz="2100" b="0" i="1" smtClean="0">
                              <a:latin typeface="Cambria Math" panose="02040503050406030204" pitchFamily="18" charset="0"/>
                            </a:rPr>
                            <m:t>)</m:t>
                          </m:r>
                          <m:sSub>
                            <m:sSubPr>
                              <m:ctrlPr>
                                <a:rPr lang="en-US" altLang="zh-CN" sz="2100" b="0" i="1" smtClean="0">
                                  <a:latin typeface="Cambria Math" panose="02040503050406030204" pitchFamily="18" charset="0"/>
                                </a:rPr>
                              </m:ctrlPr>
                            </m:sSub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𝑦</m:t>
                              </m:r>
                            </m:sub>
                          </m:sSub>
                          <m:r>
                            <a:rPr lang="en-US" altLang="zh-CN" sz="2100" b="0" i="1" smtClean="0">
                              <a:latin typeface="Cambria Math" panose="02040503050406030204" pitchFamily="18" charset="0"/>
                            </a:rPr>
                            <m:t>−</m:t>
                          </m:r>
                          <m:sSub>
                            <m:sSubPr>
                              <m:ctrlPr>
                                <a:rPr lang="en-US" altLang="zh-CN" sz="2100" i="1">
                                  <a:latin typeface="Cambria Math" panose="02040503050406030204" pitchFamily="18" charset="0"/>
                                </a:rPr>
                              </m:ctrlPr>
                            </m:sSubPr>
                            <m:e>
                              <m:sSub>
                                <m:sSubPr>
                                  <m:ctrlPr>
                                    <a:rPr lang="en-US" altLang="zh-CN" sz="2100" b="0" i="1" smtClean="0">
                                      <a:latin typeface="Cambria Math" panose="02040503050406030204" pitchFamily="18" charset="0"/>
                                    </a:rPr>
                                  </m:ctrlPr>
                                </m:sSub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𝑥</m:t>
                                  </m:r>
                                </m:sub>
                              </m:sSub>
                              <m:r>
                                <a:rPr lang="en-US" altLang="zh-CN" sz="2100">
                                  <a:latin typeface="Cambria Math" panose="02040503050406030204" pitchFamily="18" charset="0"/>
                                </a:rPr>
                                <m:t>𝐿</m:t>
                              </m:r>
                            </m:e>
                            <m:sub>
                              <m:r>
                                <a:rPr lang="en-US" altLang="zh-CN" sz="2100">
                                  <a:latin typeface="Cambria Math" panose="02040503050406030204" pitchFamily="18" charset="0"/>
                                </a:rPr>
                                <m:t>2</m:t>
                              </m:r>
                            </m:sub>
                          </m:sSub>
                          <m:r>
                            <a:rPr lang="en-US" altLang="zh-CN" sz="2100">
                              <a:latin typeface="Cambria Math" panose="02040503050406030204" pitchFamily="18" charset="0"/>
                            </a:rPr>
                            <m:t>𝑠</m:t>
                          </m:r>
                          <m:r>
                            <a:rPr lang="en-US" altLang="zh-CN" sz="2100">
                              <a:latin typeface="Cambria Math" panose="02040503050406030204" pitchFamily="18" charset="0"/>
                            </a:rPr>
                            <m:t>2</m:t>
                          </m:r>
                        </m:num>
                        <m:den>
                          <m:sSubSup>
                            <m:sSubSupPr>
                              <m:ctrlPr>
                                <a:rPr lang="en-US" altLang="zh-CN" sz="2100" b="0" i="1" smtClean="0">
                                  <a:latin typeface="Cambria Math" panose="02040503050406030204" pitchFamily="18" charset="0"/>
                                </a:rPr>
                              </m:ctrlPr>
                            </m:sSubSup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𝑥</m:t>
                              </m:r>
                            </m:sub>
                            <m:sup>
                              <m:r>
                                <a:rPr lang="en-US" altLang="zh-CN" sz="2100" b="0" i="1" smtClean="0">
                                  <a:latin typeface="Cambria Math" panose="02040503050406030204" pitchFamily="18" charset="0"/>
                                </a:rPr>
                                <m:t>2</m:t>
                              </m:r>
                            </m:sup>
                          </m:sSubSup>
                          <m:r>
                            <a:rPr lang="en-US" altLang="zh-CN" sz="2100" b="0" i="1" smtClean="0">
                              <a:latin typeface="Cambria Math" panose="02040503050406030204" pitchFamily="18" charset="0"/>
                            </a:rPr>
                            <m:t>+</m:t>
                          </m:r>
                          <m:sSubSup>
                            <m:sSubSupPr>
                              <m:ctrlPr>
                                <a:rPr lang="en-US" altLang="zh-CN" sz="2100" b="0" i="1" smtClean="0">
                                  <a:latin typeface="Cambria Math" panose="02040503050406030204" pitchFamily="18" charset="0"/>
                                </a:rPr>
                              </m:ctrlPr>
                            </m:sSubSupPr>
                            <m:e>
                              <m:r>
                                <a:rPr lang="en-US" altLang="zh-CN" sz="2100" b="0" i="1" smtClean="0">
                                  <a:latin typeface="Cambria Math" panose="02040503050406030204" pitchFamily="18" charset="0"/>
                                </a:rPr>
                                <m:t>𝑝</m:t>
                              </m:r>
                            </m:e>
                            <m:sub>
                              <m:r>
                                <a:rPr lang="en-US" altLang="zh-CN" sz="2100" b="0" i="1" smtClean="0">
                                  <a:latin typeface="Cambria Math" panose="02040503050406030204" pitchFamily="18" charset="0"/>
                                </a:rPr>
                                <m:t>𝑦</m:t>
                              </m:r>
                            </m:sub>
                            <m:sup>
                              <m:r>
                                <a:rPr lang="en-US" altLang="zh-CN" sz="2100" b="0" i="1" smtClean="0">
                                  <a:latin typeface="Cambria Math" panose="02040503050406030204" pitchFamily="18" charset="0"/>
                                </a:rPr>
                                <m:t>2</m:t>
                              </m:r>
                            </m:sup>
                          </m:sSubSup>
                        </m:den>
                      </m:f>
                      <m:r>
                        <a:rPr lang="en-US" altLang="zh-CN" sz="2100" smtClean="0">
                          <a:latin typeface="Cambria Math" panose="02040503050406030204" pitchFamily="18" charset="0"/>
                        </a:rPr>
                        <m:t>,</m:t>
                      </m:r>
                      <m:r>
                        <a:rPr lang="en-US" altLang="zh-CN" sz="2100" smtClean="0">
                          <a:latin typeface="Cambria Math" panose="02040503050406030204" pitchFamily="18" charset="0"/>
                        </a:rPr>
                        <m:t>𝑐</m:t>
                      </m:r>
                      <m:r>
                        <a:rPr lang="en-US" altLang="zh-CN" sz="2100" smtClean="0">
                          <a:latin typeface="Cambria Math" panose="02040503050406030204" pitchFamily="18" charset="0"/>
                        </a:rPr>
                        <m:t>1=</m:t>
                      </m:r>
                      <m:f>
                        <m:fPr>
                          <m:ctrlPr>
                            <a:rPr lang="en-US" altLang="zh-CN" sz="2100" i="1">
                              <a:latin typeface="Cambria Math" panose="02040503050406030204" pitchFamily="18" charset="0"/>
                            </a:rPr>
                          </m:ctrlPr>
                        </m:fPr>
                        <m:num>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m:t>
                              </m:r>
                              <m:r>
                                <a:rPr lang="en-US" altLang="zh-CN" sz="2100">
                                  <a:latin typeface="Cambria Math" panose="02040503050406030204" pitchFamily="18" charset="0"/>
                                </a:rPr>
                                <m:t>𝐿</m:t>
                              </m:r>
                            </m:e>
                            <m:sub>
                              <m:r>
                                <a:rPr lang="en-US" altLang="zh-CN" sz="2100">
                                  <a:latin typeface="Cambria Math" panose="02040503050406030204" pitchFamily="18" charset="0"/>
                                </a:rPr>
                                <m:t>1</m:t>
                              </m:r>
                            </m:sub>
                          </m:sSub>
                          <m:r>
                            <a:rPr lang="en-US" altLang="zh-CN" sz="2100">
                              <a:latin typeface="Cambria Math" panose="02040503050406030204" pitchFamily="18" charset="0"/>
                            </a:rPr>
                            <m:t>+</m:t>
                          </m:r>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𝐿</m:t>
                              </m:r>
                            </m:e>
                            <m:sub>
                              <m:r>
                                <a:rPr lang="en-US" altLang="zh-CN" sz="2100">
                                  <a:latin typeface="Cambria Math" panose="02040503050406030204" pitchFamily="18" charset="0"/>
                                </a:rPr>
                                <m:t>2</m:t>
                              </m:r>
                            </m:sub>
                          </m:sSub>
                          <m:r>
                            <a:rPr lang="en-US" altLang="zh-CN" sz="2100">
                              <a:latin typeface="Cambria Math" panose="02040503050406030204" pitchFamily="18" charset="0"/>
                            </a:rPr>
                            <m:t>𝑐</m:t>
                          </m:r>
                          <m:r>
                            <a:rPr lang="en-US" altLang="zh-CN" sz="2100">
                              <a:latin typeface="Cambria Math" panose="02040503050406030204" pitchFamily="18" charset="0"/>
                            </a:rPr>
                            <m:t>2)</m:t>
                          </m:r>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𝑝</m:t>
                              </m:r>
                            </m:e>
                            <m:sub>
                              <m:r>
                                <a:rPr lang="en-US" altLang="zh-CN" sz="2100" b="0" i="1" smtClean="0">
                                  <a:latin typeface="Cambria Math" panose="02040503050406030204" pitchFamily="18" charset="0"/>
                                </a:rPr>
                                <m:t>𝑥</m:t>
                              </m:r>
                            </m:sub>
                          </m:sSub>
                          <m:r>
                            <a:rPr lang="en-US" altLang="zh-CN" sz="2100" b="0" i="1" smtClean="0">
                              <a:latin typeface="Cambria Math" panose="02040503050406030204" pitchFamily="18" charset="0"/>
                            </a:rPr>
                            <m:t>+</m:t>
                          </m:r>
                          <m:sSub>
                            <m:sSubPr>
                              <m:ctrlPr>
                                <a:rPr lang="en-US" altLang="zh-CN" sz="2100" i="1">
                                  <a:latin typeface="Cambria Math" panose="02040503050406030204" pitchFamily="18" charset="0"/>
                                </a:rPr>
                              </m:ctrlPr>
                            </m:sSubPr>
                            <m:e>
                              <m:sSub>
                                <m:sSubPr>
                                  <m:ctrlPr>
                                    <a:rPr lang="en-US" altLang="zh-CN" sz="2100" i="1">
                                      <a:latin typeface="Cambria Math" panose="02040503050406030204" pitchFamily="18" charset="0"/>
                                    </a:rPr>
                                  </m:ctrlPr>
                                </m:sSubPr>
                                <m:e>
                                  <m:r>
                                    <a:rPr lang="en-US" altLang="zh-CN" sz="2100">
                                      <a:latin typeface="Cambria Math" panose="02040503050406030204" pitchFamily="18" charset="0"/>
                                    </a:rPr>
                                    <m:t>𝑝</m:t>
                                  </m:r>
                                </m:e>
                                <m:sub>
                                  <m:r>
                                    <a:rPr lang="en-US" altLang="zh-CN" sz="2100" b="0" i="1" smtClean="0">
                                      <a:latin typeface="Cambria Math" panose="02040503050406030204" pitchFamily="18" charset="0"/>
                                    </a:rPr>
                                    <m:t>𝑦</m:t>
                                  </m:r>
                                </m:sub>
                              </m:sSub>
                              <m:r>
                                <a:rPr lang="en-US" altLang="zh-CN" sz="2100">
                                  <a:latin typeface="Cambria Math" panose="02040503050406030204" pitchFamily="18" charset="0"/>
                                </a:rPr>
                                <m:t>𝐿</m:t>
                              </m:r>
                            </m:e>
                            <m:sub>
                              <m:r>
                                <a:rPr lang="en-US" altLang="zh-CN" sz="2100">
                                  <a:latin typeface="Cambria Math" panose="02040503050406030204" pitchFamily="18" charset="0"/>
                                </a:rPr>
                                <m:t>2</m:t>
                              </m:r>
                            </m:sub>
                          </m:sSub>
                          <m:r>
                            <a:rPr lang="en-US" altLang="zh-CN" sz="2100">
                              <a:latin typeface="Cambria Math" panose="02040503050406030204" pitchFamily="18" charset="0"/>
                            </a:rPr>
                            <m:t>𝑠</m:t>
                          </m:r>
                          <m:r>
                            <a:rPr lang="en-US" altLang="zh-CN" sz="2100">
                              <a:latin typeface="Cambria Math" panose="02040503050406030204" pitchFamily="18" charset="0"/>
                            </a:rPr>
                            <m:t>2</m:t>
                          </m:r>
                        </m:num>
                        <m:den>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𝑝</m:t>
                              </m:r>
                            </m:e>
                            <m:sub>
                              <m:r>
                                <a:rPr lang="en-US" altLang="zh-CN" sz="2100">
                                  <a:latin typeface="Cambria Math" panose="02040503050406030204" pitchFamily="18" charset="0"/>
                                </a:rPr>
                                <m:t>𝑥</m:t>
                              </m:r>
                            </m:sub>
                            <m:sup>
                              <m:r>
                                <a:rPr lang="en-US" altLang="zh-CN" sz="2100">
                                  <a:latin typeface="Cambria Math" panose="02040503050406030204" pitchFamily="18" charset="0"/>
                                </a:rPr>
                                <m:t>2</m:t>
                              </m:r>
                            </m:sup>
                          </m:sSubSup>
                          <m:r>
                            <a:rPr lang="en-US" altLang="zh-CN" sz="2100">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𝑝</m:t>
                              </m:r>
                            </m:e>
                            <m:sub>
                              <m:r>
                                <a:rPr lang="en-US" altLang="zh-CN" sz="2100">
                                  <a:latin typeface="Cambria Math" panose="02040503050406030204" pitchFamily="18" charset="0"/>
                                </a:rPr>
                                <m:t>𝑦</m:t>
                              </m:r>
                            </m:sub>
                            <m:sup>
                              <m:r>
                                <a:rPr lang="en-US" altLang="zh-CN" sz="2100">
                                  <a:latin typeface="Cambria Math" panose="02040503050406030204" pitchFamily="18" charset="0"/>
                                </a:rPr>
                                <m:t>2</m:t>
                              </m:r>
                            </m:sup>
                          </m:sSubSup>
                        </m:den>
                      </m:f>
                    </m:oMath>
                  </m:oMathPara>
                </a14:m>
                <a:endParaRPr lang="zh-CN" altLang="en-US" sz="2100" dirty="0"/>
              </a:p>
            </p:txBody>
          </p:sp>
        </mc:Choice>
        <mc:Fallback xmlns="">
          <p:sp>
            <p:nvSpPr>
              <p:cNvPr id="36" name="矩形 35">
                <a:extLst>
                  <a:ext uri="{FF2B5EF4-FFF2-40B4-BE49-F238E27FC236}">
                    <a16:creationId xmlns:a16="http://schemas.microsoft.com/office/drawing/2014/main" id="{9DBAF111-0568-4495-A232-E01E99046D6D}"/>
                  </a:ext>
                </a:extLst>
              </p:cNvPr>
              <p:cNvSpPr>
                <a:spLocks noRot="1" noChangeAspect="1" noMove="1" noResize="1" noEditPoints="1" noAdjustHandles="1" noChangeArrowheads="1" noChangeShapeType="1" noTextEdit="1"/>
              </p:cNvSpPr>
              <p:nvPr/>
            </p:nvSpPr>
            <p:spPr>
              <a:xfrm>
                <a:off x="5004604" y="863884"/>
                <a:ext cx="6947992" cy="89146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7FE12A57-FC33-4E7B-A65E-EC9077716D27}"/>
                  </a:ext>
                </a:extLst>
              </p:cNvPr>
              <p:cNvSpPr/>
              <p:nvPr/>
            </p:nvSpPr>
            <p:spPr>
              <a:xfrm>
                <a:off x="894922" y="2469929"/>
                <a:ext cx="3496663" cy="435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up>
                          <m:r>
                            <a:rPr lang="en-US" altLang="zh-CN" sz="2200">
                              <a:latin typeface="Cambria Math" panose="02040503050406030204" pitchFamily="18" charset="0"/>
                            </a:rPr>
                            <m:t>2</m:t>
                          </m:r>
                        </m:sup>
                      </m:sSubSup>
                      <m:r>
                        <a:rPr lang="en-US" altLang="zh-CN" sz="2200">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up>
                          <m:r>
                            <a:rPr lang="en-US" altLang="zh-CN" sz="2200">
                              <a:latin typeface="Cambria Math" panose="02040503050406030204" pitchFamily="18" charset="0"/>
                            </a:rPr>
                            <m:t>2</m:t>
                          </m:r>
                        </m:sup>
                      </m:sSubSup>
                      <m:r>
                        <a:rPr lang="en-US" altLang="zh-CN" sz="2200">
                          <a:latin typeface="Cambria Math" panose="02040503050406030204" pitchFamily="18" charset="0"/>
                        </a:rPr>
                        <m:t>+2</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Sub>
                      <m:func>
                        <m:funcPr>
                          <m:ctrlPr>
                            <a:rPr lang="en-US" altLang="zh-CN" sz="2200" i="1">
                              <a:latin typeface="Cambria Math" panose="02040503050406030204" pitchFamily="18" charset="0"/>
                            </a:rPr>
                          </m:ctrlPr>
                        </m:funcPr>
                        <m:fName>
                          <m:r>
                            <m:rPr>
                              <m:sty m:val="p"/>
                            </m:rPr>
                            <a:rPr lang="en-US" altLang="zh-CN" sz="2200" i="0">
                              <a:latin typeface="Cambria Math" panose="02040503050406030204" pitchFamily="18" charset="0"/>
                            </a:rPr>
                            <m:t>cos</m:t>
                          </m:r>
                        </m:fName>
                        <m:e>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𝜃</m:t>
                              </m:r>
                            </m:e>
                            <m:sub>
                              <m:r>
                                <a:rPr lang="en-US" altLang="zh-CN" sz="2200">
                                  <a:latin typeface="Cambria Math" panose="02040503050406030204" pitchFamily="18" charset="0"/>
                                </a:rPr>
                                <m:t>2</m:t>
                              </m:r>
                            </m:sub>
                          </m:sSub>
                        </m:e>
                      </m:func>
                      <m:r>
                        <a:rPr lang="en-US" altLang="zh-CN" sz="2200">
                          <a:latin typeface="Cambria Math" panose="02040503050406030204" pitchFamily="18" charset="0"/>
                        </a:rPr>
                        <m:t>=0</m:t>
                      </m:r>
                    </m:oMath>
                  </m:oMathPara>
                </a14:m>
                <a:endParaRPr lang="zh-CN" altLang="en-US" sz="2200" dirty="0"/>
              </a:p>
            </p:txBody>
          </p:sp>
        </mc:Choice>
        <mc:Fallback xmlns="">
          <p:sp>
            <p:nvSpPr>
              <p:cNvPr id="48" name="矩形 47">
                <a:extLst>
                  <a:ext uri="{FF2B5EF4-FFF2-40B4-BE49-F238E27FC236}">
                    <a16:creationId xmlns:a16="http://schemas.microsoft.com/office/drawing/2014/main" id="{7FE12A57-FC33-4E7B-A65E-EC9077716D27}"/>
                  </a:ext>
                </a:extLst>
              </p:cNvPr>
              <p:cNvSpPr>
                <a:spLocks noRot="1" noChangeAspect="1" noMove="1" noResize="1" noEditPoints="1" noAdjustHandles="1" noChangeArrowheads="1" noChangeShapeType="1" noTextEdit="1"/>
              </p:cNvSpPr>
              <p:nvPr/>
            </p:nvSpPr>
            <p:spPr>
              <a:xfrm>
                <a:off x="894922" y="2469929"/>
                <a:ext cx="3496663" cy="435504"/>
              </a:xfrm>
              <a:prstGeom prst="rect">
                <a:avLst/>
              </a:prstGeom>
              <a:blipFill>
                <a:blip r:embed="rId5"/>
                <a:stretch>
                  <a:fillRect b="-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4E63629F-ADC7-47D3-AA96-8AE926BEAE27}"/>
                  </a:ext>
                </a:extLst>
              </p:cNvPr>
              <p:cNvSpPr/>
              <p:nvPr/>
            </p:nvSpPr>
            <p:spPr>
              <a:xfrm>
                <a:off x="3274031" y="3262710"/>
                <a:ext cx="2300823" cy="435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200" i="1" smtClean="0">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up>
                          <m:r>
                            <a:rPr lang="en-US" altLang="zh-CN" sz="2200">
                              <a:latin typeface="Cambria Math" panose="02040503050406030204" pitchFamily="18" charset="0"/>
                            </a:rPr>
                            <m:t>2</m:t>
                          </m:r>
                        </m:sup>
                      </m:sSubSup>
                      <m:r>
                        <a:rPr lang="en-US" altLang="zh-CN" sz="2200">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up>
                          <m:r>
                            <a:rPr lang="en-US" altLang="zh-CN" sz="2200">
                              <a:latin typeface="Cambria Math" panose="02040503050406030204" pitchFamily="18" charset="0"/>
                            </a:rPr>
                            <m:t>2</m:t>
                          </m:r>
                        </m:sup>
                      </m:sSubSup>
                      <m:r>
                        <a:rPr lang="en-US" altLang="zh-CN" sz="2200" b="0" i="1" smtClean="0">
                          <a:latin typeface="Cambria Math" panose="02040503050406030204" pitchFamily="18" charset="0"/>
                        </a:rPr>
                        <m:t>≥</m:t>
                      </m:r>
                      <m:r>
                        <a:rPr lang="en-US" altLang="zh-CN" sz="2200">
                          <a:latin typeface="Cambria Math" panose="02040503050406030204" pitchFamily="18" charset="0"/>
                        </a:rPr>
                        <m:t>2</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Sub>
                    </m:oMath>
                  </m:oMathPara>
                </a14:m>
                <a:endParaRPr lang="zh-CN" altLang="en-US" sz="2200" dirty="0"/>
              </a:p>
            </p:txBody>
          </p:sp>
        </mc:Choice>
        <mc:Fallback xmlns="">
          <p:sp>
            <p:nvSpPr>
              <p:cNvPr id="50" name="矩形 49">
                <a:extLst>
                  <a:ext uri="{FF2B5EF4-FFF2-40B4-BE49-F238E27FC236}">
                    <a16:creationId xmlns:a16="http://schemas.microsoft.com/office/drawing/2014/main" id="{4E63629F-ADC7-47D3-AA96-8AE926BEAE27}"/>
                  </a:ext>
                </a:extLst>
              </p:cNvPr>
              <p:cNvSpPr>
                <a:spLocks noRot="1" noChangeAspect="1" noMove="1" noResize="1" noEditPoints="1" noAdjustHandles="1" noChangeArrowheads="1" noChangeShapeType="1" noTextEdit="1"/>
              </p:cNvSpPr>
              <p:nvPr/>
            </p:nvSpPr>
            <p:spPr>
              <a:xfrm>
                <a:off x="3274031" y="3262710"/>
                <a:ext cx="2300823" cy="435504"/>
              </a:xfrm>
              <a:prstGeom prst="rect">
                <a:avLst/>
              </a:prstGeom>
              <a:blipFill>
                <a:blip r:embed="rId6"/>
                <a:stretch>
                  <a:fillRect b="-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06AFD054-E8E5-4A94-9E5F-DD6634ABA5FA}"/>
                  </a:ext>
                </a:extLst>
              </p:cNvPr>
              <p:cNvSpPr txBox="1"/>
              <p:nvPr/>
            </p:nvSpPr>
            <p:spPr>
              <a:xfrm>
                <a:off x="3662792" y="4475136"/>
                <a:ext cx="3958456"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200" b="0" i="1" smtClean="0">
                              <a:latin typeface="Cambria Math" panose="02040503050406030204" pitchFamily="18" charset="0"/>
                            </a:rPr>
                          </m:ctrlPr>
                        </m:sSupPr>
                        <m:e>
                          <m:d>
                            <m:dPr>
                              <m:ctrlPr>
                                <a:rPr lang="en-US" altLang="zh-CN" sz="2200" b="0" i="1" smtClean="0">
                                  <a:latin typeface="Cambria Math" panose="02040503050406030204" pitchFamily="18" charset="0"/>
                                </a:rPr>
                              </m:ctrlPr>
                            </m:dPr>
                            <m:e>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𝐿</m:t>
                                  </m:r>
                                </m:e>
                                <m:sub>
                                  <m:r>
                                    <a:rPr lang="en-US" altLang="zh-CN" sz="2200" b="0" i="1" smtClean="0">
                                      <a:latin typeface="Cambria Math" panose="02040503050406030204" pitchFamily="18" charset="0"/>
                                    </a:rPr>
                                    <m:t>1</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𝐿</m:t>
                                  </m:r>
                                </m:e>
                                <m:sub>
                                  <m:r>
                                    <a:rPr lang="en-US" altLang="zh-CN" sz="2200" b="0" i="1" smtClean="0">
                                      <a:latin typeface="Cambria Math" panose="02040503050406030204" pitchFamily="18" charset="0"/>
                                    </a:rPr>
                                    <m:t>2</m:t>
                                  </m:r>
                                </m:sub>
                              </m:sSub>
                            </m:e>
                          </m:d>
                        </m:e>
                        <m:sup>
                          <m:r>
                            <a:rPr lang="en-US" altLang="zh-CN" sz="2200" b="0" i="1" smtClean="0">
                              <a:latin typeface="Cambria Math" panose="02040503050406030204" pitchFamily="18" charset="0"/>
                            </a:rPr>
                            <m:t>2</m:t>
                          </m:r>
                        </m:sup>
                      </m:sSup>
                      <m:r>
                        <a:rPr lang="en-US" altLang="zh-CN" sz="2200" b="0" i="1" smtClean="0">
                          <a:latin typeface="Cambria Math" panose="02040503050406030204" pitchFamily="18" charset="0"/>
                        </a:rPr>
                        <m:t>=0, </m:t>
                      </m:r>
                      <m:r>
                        <a:rPr lang="en-US" altLang="zh-CN" sz="2200" b="0" i="1" smtClean="0">
                          <a:latin typeface="Cambria Math" panose="02040503050406030204" pitchFamily="18" charset="0"/>
                        </a:rPr>
                        <m:t>𝑎𝑛𝑑</m:t>
                      </m:r>
                      <m:func>
                        <m:funcPr>
                          <m:ctrlPr>
                            <a:rPr lang="en-US" altLang="zh-CN" sz="2200" b="0" i="1" smtClean="0">
                              <a:latin typeface="Cambria Math" panose="02040503050406030204" pitchFamily="18" charset="0"/>
                            </a:rPr>
                          </m:ctrlPr>
                        </m:funcPr>
                        <m:fName>
                          <m:r>
                            <m:rPr>
                              <m:sty m:val="p"/>
                            </m:rPr>
                            <a:rPr lang="en-US" altLang="zh-CN" sz="2200" b="0" i="0" smtClean="0">
                              <a:latin typeface="Cambria Math" panose="02040503050406030204" pitchFamily="18" charset="0"/>
                            </a:rPr>
                            <m:t>cos</m:t>
                          </m:r>
                        </m:fName>
                        <m:e>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𝜃</m:t>
                              </m:r>
                            </m:e>
                            <m:sub>
                              <m:r>
                                <a:rPr lang="en-US" altLang="zh-CN" sz="2200" b="0" i="1" smtClean="0">
                                  <a:latin typeface="Cambria Math" panose="02040503050406030204" pitchFamily="18" charset="0"/>
                                </a:rPr>
                                <m:t>2</m:t>
                              </m:r>
                            </m:sub>
                          </m:sSub>
                        </m:e>
                      </m:func>
                      <m:r>
                        <a:rPr lang="en-US" altLang="zh-CN" sz="2200" b="0" i="1" smtClean="0">
                          <a:latin typeface="Cambria Math" panose="02040503050406030204" pitchFamily="18" charset="0"/>
                        </a:rPr>
                        <m:t>=−1</m:t>
                      </m:r>
                    </m:oMath>
                  </m:oMathPara>
                </a14:m>
                <a:endParaRPr lang="zh-CN" altLang="en-US" sz="2200" dirty="0"/>
              </a:p>
            </p:txBody>
          </p:sp>
        </mc:Choice>
        <mc:Fallback xmlns="">
          <p:sp>
            <p:nvSpPr>
              <p:cNvPr id="51" name="文本框 50">
                <a:extLst>
                  <a:ext uri="{FF2B5EF4-FFF2-40B4-BE49-F238E27FC236}">
                    <a16:creationId xmlns:a16="http://schemas.microsoft.com/office/drawing/2014/main" id="{06AFD054-E8E5-4A94-9E5F-DD6634ABA5FA}"/>
                  </a:ext>
                </a:extLst>
              </p:cNvPr>
              <p:cNvSpPr txBox="1">
                <a:spLocks noRot="1" noChangeAspect="1" noMove="1" noResize="1" noEditPoints="1" noAdjustHandles="1" noChangeArrowheads="1" noChangeShapeType="1" noTextEdit="1"/>
              </p:cNvSpPr>
              <p:nvPr/>
            </p:nvSpPr>
            <p:spPr>
              <a:xfrm>
                <a:off x="3662792" y="4475136"/>
                <a:ext cx="3958456" cy="338554"/>
              </a:xfrm>
              <a:prstGeom prst="rect">
                <a:avLst/>
              </a:prstGeom>
              <a:blipFill>
                <a:blip r:embed="rId7"/>
                <a:stretch>
                  <a:fillRect t="-1786" r="-924" b="-160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AD570603-ED06-4F9C-8625-B73A15DB57D0}"/>
                  </a:ext>
                </a:extLst>
              </p:cNvPr>
              <p:cNvSpPr txBox="1"/>
              <p:nvPr/>
            </p:nvSpPr>
            <p:spPr>
              <a:xfrm>
                <a:off x="3712919" y="5025842"/>
                <a:ext cx="2957220"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20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Sub>
                      <m:r>
                        <a:rPr lang="en-US" altLang="zh-CN" sz="2200" b="0" i="1" smtClean="0">
                          <a:latin typeface="Cambria Math" panose="02040503050406030204" pitchFamily="18" charset="0"/>
                        </a:rPr>
                        <m:t>, </m:t>
                      </m:r>
                      <m:r>
                        <a:rPr lang="en-US" altLang="zh-CN" sz="2200" b="0" i="1" smtClean="0">
                          <a:latin typeface="Cambria Math" panose="02040503050406030204" pitchFamily="18" charset="0"/>
                        </a:rPr>
                        <m:t>𝑎𝑛𝑑</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  </m:t>
                          </m:r>
                          <m:r>
                            <a:rPr lang="en-US" altLang="zh-CN" sz="2200">
                              <a:latin typeface="Cambria Math" panose="02040503050406030204" pitchFamily="18" charset="0"/>
                            </a:rPr>
                            <m:t>𝜃</m:t>
                          </m:r>
                        </m:e>
                        <m:sub>
                          <m:r>
                            <a:rPr lang="en-US" altLang="zh-CN" sz="2200">
                              <a:latin typeface="Cambria Math" panose="02040503050406030204" pitchFamily="18" charset="0"/>
                            </a:rPr>
                            <m:t>2</m:t>
                          </m:r>
                        </m:sub>
                      </m:sSub>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𝜋</m:t>
                      </m:r>
                    </m:oMath>
                  </m:oMathPara>
                </a14:m>
                <a:endParaRPr lang="zh-CN" altLang="en-US" sz="2200" dirty="0"/>
              </a:p>
            </p:txBody>
          </p:sp>
        </mc:Choice>
        <mc:Fallback xmlns="">
          <p:sp>
            <p:nvSpPr>
              <p:cNvPr id="52" name="文本框 51">
                <a:extLst>
                  <a:ext uri="{FF2B5EF4-FFF2-40B4-BE49-F238E27FC236}">
                    <a16:creationId xmlns:a16="http://schemas.microsoft.com/office/drawing/2014/main" id="{AD570603-ED06-4F9C-8625-B73A15DB57D0}"/>
                  </a:ext>
                </a:extLst>
              </p:cNvPr>
              <p:cNvSpPr txBox="1">
                <a:spLocks noRot="1" noChangeAspect="1" noMove="1" noResize="1" noEditPoints="1" noAdjustHandles="1" noChangeArrowheads="1" noChangeShapeType="1" noTextEdit="1"/>
              </p:cNvSpPr>
              <p:nvPr/>
            </p:nvSpPr>
            <p:spPr>
              <a:xfrm>
                <a:off x="3712919" y="5025842"/>
                <a:ext cx="2957220" cy="338554"/>
              </a:xfrm>
              <a:prstGeom prst="rect">
                <a:avLst/>
              </a:prstGeom>
              <a:blipFill>
                <a:blip r:embed="rId8"/>
                <a:stretch>
                  <a:fillRect l="-825" r="-412" b="-16071"/>
                </a:stretch>
              </a:blipFill>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DCAD5E9D-43A2-48BA-8CDC-42E8D7C7CDAE}"/>
              </a:ext>
            </a:extLst>
          </p:cNvPr>
          <p:cNvSpPr txBox="1"/>
          <p:nvPr/>
        </p:nvSpPr>
        <p:spPr>
          <a:xfrm>
            <a:off x="0" y="33341"/>
            <a:ext cx="12192000" cy="584775"/>
          </a:xfrm>
          <a:prstGeom prst="rect">
            <a:avLst/>
          </a:prstGeom>
          <a:solidFill>
            <a:schemeClr val="bg1"/>
          </a:solid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机器人逆运动学求取方法：代数法</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2800" b="1" dirty="0">
                <a:solidFill>
                  <a:srgbClr val="9D1317"/>
                </a:solidFill>
                <a:latin typeface="微软雅黑" panose="020B0503020204020204" pitchFamily="34" charset="-122"/>
                <a:ea typeface="微软雅黑" panose="020B0503020204020204" pitchFamily="34" charset="-122"/>
              </a:rPr>
              <a:t>平面</a:t>
            </a:r>
            <a:r>
              <a:rPr lang="en-US" altLang="zh-CN" sz="2800" b="1" dirty="0">
                <a:solidFill>
                  <a:srgbClr val="9D1317"/>
                </a:solidFill>
                <a:latin typeface="微软雅黑" panose="020B0503020204020204" pitchFamily="34" charset="-122"/>
                <a:ea typeface="微软雅黑" panose="020B0503020204020204" pitchFamily="34" charset="-122"/>
              </a:rPr>
              <a:t>RRR</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
        <p:nvSpPr>
          <p:cNvPr id="56" name="文本框 55">
            <a:extLst>
              <a:ext uri="{FF2B5EF4-FFF2-40B4-BE49-F238E27FC236}">
                <a16:creationId xmlns:a16="http://schemas.microsoft.com/office/drawing/2014/main" id="{099C9356-E106-4F84-90EC-E14D2D4F32AC}"/>
              </a:ext>
            </a:extLst>
          </p:cNvPr>
          <p:cNvSpPr txBox="1"/>
          <p:nvPr/>
        </p:nvSpPr>
        <p:spPr>
          <a:xfrm>
            <a:off x="171433" y="1116275"/>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看式子</a:t>
            </a:r>
          </a:p>
        </p:txBody>
      </p:sp>
      <p:grpSp>
        <p:nvGrpSpPr>
          <p:cNvPr id="9" name="组合 8">
            <a:extLst>
              <a:ext uri="{FF2B5EF4-FFF2-40B4-BE49-F238E27FC236}">
                <a16:creationId xmlns:a16="http://schemas.microsoft.com/office/drawing/2014/main" id="{3F7A6A27-62D1-4741-9DA3-49C8BEAA0A01}"/>
              </a:ext>
            </a:extLst>
          </p:cNvPr>
          <p:cNvGrpSpPr/>
          <p:nvPr/>
        </p:nvGrpSpPr>
        <p:grpSpPr>
          <a:xfrm>
            <a:off x="221324" y="1764744"/>
            <a:ext cx="4723560" cy="465781"/>
            <a:chOff x="221324" y="1764744"/>
            <a:chExt cx="4723560" cy="465781"/>
          </a:xfrm>
        </p:grpSpPr>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2BD5ACCF-F321-43D0-8606-4DF5188E34C6}"/>
                    </a:ext>
                  </a:extLst>
                </p:cNvPr>
                <p:cNvSpPr/>
                <p:nvPr/>
              </p:nvSpPr>
              <p:spPr>
                <a:xfrm>
                  <a:off x="809308" y="1764744"/>
                  <a:ext cx="1650260" cy="4474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𝑝</m:t>
                            </m:r>
                          </m:e>
                          <m:sub>
                            <m:r>
                              <a:rPr lang="en-US" altLang="zh-CN" sz="2100">
                                <a:latin typeface="Cambria Math" panose="02040503050406030204" pitchFamily="18" charset="0"/>
                              </a:rPr>
                              <m:t>𝑥</m:t>
                            </m:r>
                          </m:sub>
                          <m:sup>
                            <m:r>
                              <a:rPr lang="en-US" altLang="zh-CN" sz="2100">
                                <a:latin typeface="Cambria Math" panose="02040503050406030204" pitchFamily="18" charset="0"/>
                              </a:rPr>
                              <m:t>2</m:t>
                            </m:r>
                          </m:sup>
                        </m:sSubSup>
                        <m:r>
                          <a:rPr lang="en-US" altLang="zh-CN" sz="2100">
                            <a:latin typeface="Cambria Math" panose="02040503050406030204" pitchFamily="18" charset="0"/>
                          </a:rPr>
                          <m:t>+</m:t>
                        </m:r>
                        <m:sSubSup>
                          <m:sSubSupPr>
                            <m:ctrlPr>
                              <a:rPr lang="en-US" altLang="zh-CN" sz="2100" i="1">
                                <a:latin typeface="Cambria Math" panose="02040503050406030204" pitchFamily="18" charset="0"/>
                              </a:rPr>
                            </m:ctrlPr>
                          </m:sSubSupPr>
                          <m:e>
                            <m:r>
                              <a:rPr lang="en-US" altLang="zh-CN" sz="2100">
                                <a:latin typeface="Cambria Math" panose="02040503050406030204" pitchFamily="18" charset="0"/>
                              </a:rPr>
                              <m:t>𝑝</m:t>
                            </m:r>
                          </m:e>
                          <m:sub>
                            <m:r>
                              <a:rPr lang="en-US" altLang="zh-CN" sz="2100">
                                <a:latin typeface="Cambria Math" panose="02040503050406030204" pitchFamily="18" charset="0"/>
                              </a:rPr>
                              <m:t>𝑦</m:t>
                            </m:r>
                          </m:sub>
                          <m:sup>
                            <m:r>
                              <a:rPr lang="en-US" altLang="zh-CN" sz="2100">
                                <a:latin typeface="Cambria Math" panose="02040503050406030204" pitchFamily="18" charset="0"/>
                              </a:rPr>
                              <m:t>2</m:t>
                            </m:r>
                          </m:sup>
                        </m:sSubSup>
                        <m:r>
                          <a:rPr lang="en-US" altLang="zh-CN" sz="2100" b="0" i="1" smtClean="0">
                            <a:latin typeface="Cambria Math" panose="02040503050406030204" pitchFamily="18" charset="0"/>
                          </a:rPr>
                          <m:t>=0</m:t>
                        </m:r>
                      </m:oMath>
                    </m:oMathPara>
                  </a14:m>
                  <a:endParaRPr lang="zh-CN" altLang="en-US" sz="2100" i="0" dirty="0">
                    <a:latin typeface="微软雅黑" panose="020B0503020204020204" pitchFamily="34" charset="-122"/>
                    <a:ea typeface="微软雅黑" panose="020B0503020204020204" pitchFamily="34" charset="-122"/>
                  </a:endParaRPr>
                </a:p>
              </p:txBody>
            </p:sp>
          </mc:Choice>
          <mc:Fallback xmlns="">
            <p:sp>
              <p:nvSpPr>
                <p:cNvPr id="47" name="矩形 46">
                  <a:extLst>
                    <a:ext uri="{FF2B5EF4-FFF2-40B4-BE49-F238E27FC236}">
                      <a16:creationId xmlns:a16="http://schemas.microsoft.com/office/drawing/2014/main" id="{2BD5ACCF-F321-43D0-8606-4DF5188E34C6}"/>
                    </a:ext>
                  </a:extLst>
                </p:cNvPr>
                <p:cNvSpPr>
                  <a:spLocks noRot="1" noChangeAspect="1" noMove="1" noResize="1" noEditPoints="1" noAdjustHandles="1" noChangeArrowheads="1" noChangeShapeType="1" noTextEdit="1"/>
                </p:cNvSpPr>
                <p:nvPr/>
              </p:nvSpPr>
              <p:spPr>
                <a:xfrm>
                  <a:off x="809308" y="1764744"/>
                  <a:ext cx="1650260" cy="447430"/>
                </a:xfrm>
                <a:prstGeom prst="rect">
                  <a:avLst/>
                </a:prstGeom>
                <a:blipFill>
                  <a:blip r:embed="rId9"/>
                  <a:stretch>
                    <a:fillRect b="-4054"/>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F904FB0-83E1-4E69-B3EB-C3528D90AE8E}"/>
                </a:ext>
              </a:extLst>
            </p:cNvPr>
            <p:cNvSpPr txBox="1"/>
            <p:nvPr/>
          </p:nvSpPr>
          <p:spPr>
            <a:xfrm>
              <a:off x="221324" y="1790758"/>
              <a:ext cx="723275"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如果</a:t>
              </a:r>
            </a:p>
          </p:txBody>
        </p:sp>
        <p:sp>
          <p:nvSpPr>
            <p:cNvPr id="57" name="文本框 56">
              <a:extLst>
                <a:ext uri="{FF2B5EF4-FFF2-40B4-BE49-F238E27FC236}">
                  <a16:creationId xmlns:a16="http://schemas.microsoft.com/office/drawing/2014/main" id="{4643B504-C61F-46DF-A0AD-3398083C6B9C}"/>
                </a:ext>
              </a:extLst>
            </p:cNvPr>
            <p:cNvSpPr txBox="1"/>
            <p:nvPr/>
          </p:nvSpPr>
          <p:spPr>
            <a:xfrm>
              <a:off x="2336478" y="1815027"/>
              <a:ext cx="2608406"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，即期望位置是原点</a:t>
              </a:r>
            </a:p>
          </p:txBody>
        </p:sp>
      </p:grpSp>
      <p:sp>
        <p:nvSpPr>
          <p:cNvPr id="58" name="文本框 57">
            <a:extLst>
              <a:ext uri="{FF2B5EF4-FFF2-40B4-BE49-F238E27FC236}">
                <a16:creationId xmlns:a16="http://schemas.microsoft.com/office/drawing/2014/main" id="{AFF01762-C2C0-42E3-8247-5FF7EE062810}"/>
              </a:ext>
            </a:extLst>
          </p:cNvPr>
          <p:cNvSpPr txBox="1"/>
          <p:nvPr/>
        </p:nvSpPr>
        <p:spPr>
          <a:xfrm>
            <a:off x="221323" y="2460533"/>
            <a:ext cx="723275"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则有</a:t>
            </a:r>
          </a:p>
        </p:txBody>
      </p:sp>
      <p:sp>
        <p:nvSpPr>
          <p:cNvPr id="59" name="文本框 58">
            <a:extLst>
              <a:ext uri="{FF2B5EF4-FFF2-40B4-BE49-F238E27FC236}">
                <a16:creationId xmlns:a16="http://schemas.microsoft.com/office/drawing/2014/main" id="{718777B4-5A94-40EE-A080-E331C0383050}"/>
              </a:ext>
            </a:extLst>
          </p:cNvPr>
          <p:cNvSpPr txBox="1"/>
          <p:nvPr/>
        </p:nvSpPr>
        <p:spPr>
          <a:xfrm>
            <a:off x="286848" y="3282716"/>
            <a:ext cx="3098925"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但是，由 </a:t>
            </a:r>
            <a:r>
              <a:rPr lang="en-US" altLang="zh-CN" sz="21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100"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1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100"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1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b="1"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100" b="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0 </a:t>
            </a:r>
            <a:r>
              <a:rPr lang="zh-CN" altLang="en-US" sz="2100" b="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，有</a:t>
            </a:r>
            <a:endParaRPr lang="zh-CN" altLang="en-US" sz="2100" b="1"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 name="矩形 59">
                <a:extLst>
                  <a:ext uri="{FF2B5EF4-FFF2-40B4-BE49-F238E27FC236}">
                    <a16:creationId xmlns:a16="http://schemas.microsoft.com/office/drawing/2014/main" id="{1D6C2558-37EF-466B-9177-02DF7507A7B8}"/>
                  </a:ext>
                </a:extLst>
              </p:cNvPr>
              <p:cNvSpPr/>
              <p:nvPr/>
            </p:nvSpPr>
            <p:spPr>
              <a:xfrm>
                <a:off x="1066860" y="3847680"/>
                <a:ext cx="175490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200" b="0" i="1" smtClean="0">
                              <a:latin typeface="Cambria Math" panose="02040503050406030204" pitchFamily="18" charset="0"/>
                            </a:rPr>
                          </m:ctrlPr>
                        </m:dPr>
                        <m:e>
                          <m:func>
                            <m:funcPr>
                              <m:ctrlPr>
                                <a:rPr lang="en-US" altLang="zh-CN" sz="2200" b="0" i="1" smtClean="0">
                                  <a:latin typeface="Cambria Math" panose="02040503050406030204" pitchFamily="18" charset="0"/>
                                </a:rPr>
                              </m:ctrlPr>
                            </m:funcPr>
                            <m:fName>
                              <m:r>
                                <m:rPr>
                                  <m:sty m:val="p"/>
                                </m:rPr>
                                <a:rPr lang="en-US" altLang="zh-CN" sz="2200" b="0" i="0" smtClean="0">
                                  <a:latin typeface="Cambria Math" panose="02040503050406030204" pitchFamily="18" charset="0"/>
                                </a:rPr>
                                <m:t>cos</m:t>
                              </m:r>
                            </m:fName>
                            <m:e>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𝜃</m:t>
                                  </m:r>
                                </m:e>
                                <m:sub>
                                  <m:r>
                                    <a:rPr lang="en-US" altLang="zh-CN" sz="2200" b="0" i="1" smtClean="0">
                                      <a:latin typeface="Cambria Math" panose="02040503050406030204" pitchFamily="18" charset="0"/>
                                    </a:rPr>
                                    <m:t>2</m:t>
                                  </m:r>
                                </m:sub>
                              </m:sSub>
                            </m:e>
                          </m:func>
                        </m:e>
                      </m:d>
                      <m:r>
                        <a:rPr lang="en-US" altLang="zh-CN" sz="2200" b="0" i="1" smtClean="0">
                          <a:latin typeface="Cambria Math" panose="02040503050406030204" pitchFamily="18" charset="0"/>
                        </a:rPr>
                        <m:t>≤1 </m:t>
                      </m:r>
                    </m:oMath>
                  </m:oMathPara>
                </a14:m>
                <a:endParaRPr lang="zh-CN" altLang="en-US" sz="2200" dirty="0"/>
              </a:p>
            </p:txBody>
          </p:sp>
        </mc:Choice>
        <mc:Fallback xmlns="">
          <p:sp>
            <p:nvSpPr>
              <p:cNvPr id="60" name="矩形 59">
                <a:extLst>
                  <a:ext uri="{FF2B5EF4-FFF2-40B4-BE49-F238E27FC236}">
                    <a16:creationId xmlns:a16="http://schemas.microsoft.com/office/drawing/2014/main" id="{1D6C2558-37EF-466B-9177-02DF7507A7B8}"/>
                  </a:ext>
                </a:extLst>
              </p:cNvPr>
              <p:cNvSpPr>
                <a:spLocks noRot="1" noChangeAspect="1" noMove="1" noResize="1" noEditPoints="1" noAdjustHandles="1" noChangeArrowheads="1" noChangeShapeType="1" noTextEdit="1"/>
              </p:cNvSpPr>
              <p:nvPr/>
            </p:nvSpPr>
            <p:spPr>
              <a:xfrm>
                <a:off x="1066860" y="3847680"/>
                <a:ext cx="1754903" cy="430887"/>
              </a:xfrm>
              <a:prstGeom prst="rect">
                <a:avLst/>
              </a:prstGeom>
              <a:blipFill>
                <a:blip r:embed="rId10"/>
                <a:stretch>
                  <a:fillRect b="-1408"/>
                </a:stretch>
              </a:blipFill>
            </p:spPr>
            <p:txBody>
              <a:bodyPr/>
              <a:lstStyle/>
              <a:p>
                <a:r>
                  <a:rPr lang="zh-CN" altLang="en-US">
                    <a:noFill/>
                  </a:rPr>
                  <a:t> </a:t>
                </a:r>
              </a:p>
            </p:txBody>
          </p:sp>
        </mc:Fallback>
      </mc:AlternateContent>
      <p:sp>
        <p:nvSpPr>
          <p:cNvPr id="61" name="文本框 60">
            <a:extLst>
              <a:ext uri="{FF2B5EF4-FFF2-40B4-BE49-F238E27FC236}">
                <a16:creationId xmlns:a16="http://schemas.microsoft.com/office/drawing/2014/main" id="{36DB61E4-9700-4496-9B31-13DE22DAE737}"/>
              </a:ext>
            </a:extLst>
          </p:cNvPr>
          <p:cNvSpPr txBox="1"/>
          <p:nvPr/>
        </p:nvSpPr>
        <p:spPr>
          <a:xfrm>
            <a:off x="286848" y="3867748"/>
            <a:ext cx="992579"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另外，</a:t>
            </a:r>
          </a:p>
        </p:txBody>
      </p:sp>
      <p:sp>
        <p:nvSpPr>
          <p:cNvPr id="62" name="文本框 61">
            <a:extLst>
              <a:ext uri="{FF2B5EF4-FFF2-40B4-BE49-F238E27FC236}">
                <a16:creationId xmlns:a16="http://schemas.microsoft.com/office/drawing/2014/main" id="{68F1AD07-9F50-4EA4-ABF8-CFE07677812E}"/>
              </a:ext>
            </a:extLst>
          </p:cNvPr>
          <p:cNvSpPr txBox="1"/>
          <p:nvPr/>
        </p:nvSpPr>
        <p:spPr>
          <a:xfrm>
            <a:off x="296599" y="4440686"/>
            <a:ext cx="3416320" cy="415498"/>
          </a:xfrm>
          <a:prstGeom prst="rect">
            <a:avLst/>
          </a:prstGeom>
          <a:noFill/>
        </p:spPr>
        <p:txBody>
          <a:bodyPr wrap="none" rtlCol="0">
            <a:spAutoFit/>
          </a:bodyPr>
          <a:lstStyle/>
          <a:p>
            <a:r>
              <a:rPr lang="zh-CN" altLang="en-US" sz="2100" b="1" dirty="0">
                <a:latin typeface="微软雅黑" panose="020B0503020204020204" pitchFamily="34" charset="-122"/>
                <a:ea typeface="微软雅黑" panose="020B0503020204020204" pitchFamily="34" charset="-122"/>
              </a:rPr>
              <a:t>所以上式只能等号成立，即</a:t>
            </a:r>
          </a:p>
        </p:txBody>
      </p:sp>
      <p:pic>
        <p:nvPicPr>
          <p:cNvPr id="6" name="图片 5">
            <a:extLst>
              <a:ext uri="{FF2B5EF4-FFF2-40B4-BE49-F238E27FC236}">
                <a16:creationId xmlns:a16="http://schemas.microsoft.com/office/drawing/2014/main" id="{880CECA2-FF50-4237-A82F-7434E34DB500}"/>
              </a:ext>
            </a:extLst>
          </p:cNvPr>
          <p:cNvPicPr>
            <a:picLocks noChangeAspect="1"/>
          </p:cNvPicPr>
          <p:nvPr/>
        </p:nvPicPr>
        <p:blipFill rotWithShape="1">
          <a:blip r:embed="rId11"/>
          <a:srcRect l="44470" t="27346" r="40444" b="40213"/>
          <a:stretch/>
        </p:blipFill>
        <p:spPr>
          <a:xfrm>
            <a:off x="9373605" y="1977993"/>
            <a:ext cx="2608406" cy="3739374"/>
          </a:xfrm>
          <a:prstGeom prst="rect">
            <a:avLst/>
          </a:prstGeom>
        </p:spPr>
      </p:pic>
      <p:sp>
        <p:nvSpPr>
          <p:cNvPr id="63" name="文本框 62">
            <a:extLst>
              <a:ext uri="{FF2B5EF4-FFF2-40B4-BE49-F238E27FC236}">
                <a16:creationId xmlns:a16="http://schemas.microsoft.com/office/drawing/2014/main" id="{76AE75E8-3B10-4563-AAA9-900DFA6BB2FF}"/>
              </a:ext>
            </a:extLst>
          </p:cNvPr>
          <p:cNvSpPr txBox="1"/>
          <p:nvPr/>
        </p:nvSpPr>
        <p:spPr>
          <a:xfrm>
            <a:off x="388790" y="5761731"/>
            <a:ext cx="7485533" cy="415498"/>
          </a:xfrm>
          <a:prstGeom prst="rect">
            <a:avLst/>
          </a:prstGeom>
          <a:noFill/>
        </p:spPr>
        <p:txBody>
          <a:bodyPr wrap="square" rtlCol="0">
            <a:spAutoFit/>
          </a:bodyPr>
          <a:lstStyle/>
          <a:p>
            <a:r>
              <a:rPr lang="zh-CN" altLang="en-US" sz="2100" b="1" dirty="0">
                <a:latin typeface="微软雅黑" panose="020B0503020204020204" pitchFamily="34" charset="-122"/>
                <a:ea typeface="微软雅黑" panose="020B0503020204020204" pitchFamily="34" charset="-122"/>
              </a:rPr>
              <a:t>对于                           情况，</a:t>
            </a:r>
            <a:r>
              <a:rPr lang="zh-CN" altLang="en-US" sz="2100" b="1" i="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100" b="1" baseline="-25000" dirty="0">
                <a:latin typeface="微软雅黑" panose="020B0503020204020204" pitchFamily="34" charset="-122"/>
                <a:ea typeface="微软雅黑" panose="020B0503020204020204" pitchFamily="34" charset="-122"/>
                <a:sym typeface="Symbol" panose="05050102010706020507" pitchFamily="18" charset="2"/>
              </a:rPr>
              <a:t>2 </a:t>
            </a:r>
            <a:r>
              <a:rPr lang="zh-CN" altLang="en-US" sz="2100" b="1" dirty="0">
                <a:latin typeface="微软雅黑" panose="020B0503020204020204" pitchFamily="34" charset="-122"/>
                <a:ea typeface="微软雅黑" panose="020B0503020204020204" pitchFamily="34" charset="-122"/>
                <a:sym typeface="Symbol" panose="05050102010706020507" pitchFamily="18" charset="2"/>
              </a:rPr>
              <a:t>无解，表示原点不可达</a:t>
            </a:r>
            <a:endParaRPr lang="zh-CN" altLang="en-US" sz="21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1BA99CB7-E51C-447F-986E-E746477414C3}"/>
                  </a:ext>
                </a:extLst>
              </p:cNvPr>
              <p:cNvSpPr/>
              <p:nvPr/>
            </p:nvSpPr>
            <p:spPr>
              <a:xfrm>
                <a:off x="1020883" y="5741725"/>
                <a:ext cx="2238305" cy="4355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2200" i="1" smtClean="0">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up>
                          <m:r>
                            <a:rPr lang="en-US" altLang="zh-CN" sz="2200">
                              <a:latin typeface="Cambria Math" panose="02040503050406030204" pitchFamily="18" charset="0"/>
                            </a:rPr>
                            <m:t>2</m:t>
                          </m:r>
                        </m:sup>
                      </m:sSubSup>
                      <m:r>
                        <a:rPr lang="en-US" altLang="zh-CN" sz="2200">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up>
                          <m:r>
                            <a:rPr lang="en-US" altLang="zh-CN" sz="2200">
                              <a:latin typeface="Cambria Math" panose="02040503050406030204" pitchFamily="18" charset="0"/>
                            </a:rPr>
                            <m:t>2</m:t>
                          </m:r>
                        </m:sup>
                      </m:sSubSup>
                      <m:r>
                        <a:rPr lang="en-US" altLang="zh-CN" sz="2200" b="0" i="1" smtClean="0">
                          <a:latin typeface="Cambria Math" panose="02040503050406030204" pitchFamily="18" charset="0"/>
                        </a:rPr>
                        <m:t>&gt;</m:t>
                      </m:r>
                      <m:r>
                        <a:rPr lang="en-US" altLang="zh-CN" sz="2200">
                          <a:latin typeface="Cambria Math" panose="02040503050406030204" pitchFamily="18" charset="0"/>
                        </a:rPr>
                        <m:t>2</m:t>
                      </m:r>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a:latin typeface="Cambria Math" panose="02040503050406030204" pitchFamily="18" charset="0"/>
                            </a:rPr>
                            <m:t>𝐿</m:t>
                          </m:r>
                        </m:e>
                        <m:sub>
                          <m:r>
                            <a:rPr lang="en-US" altLang="zh-CN" sz="2200">
                              <a:latin typeface="Cambria Math" panose="02040503050406030204" pitchFamily="18" charset="0"/>
                            </a:rPr>
                            <m:t>2</m:t>
                          </m:r>
                        </m:sub>
                      </m:sSub>
                    </m:oMath>
                  </m:oMathPara>
                </a14:m>
                <a:endParaRPr lang="zh-CN" altLang="en-US" sz="2200" dirty="0"/>
              </a:p>
            </p:txBody>
          </p:sp>
        </mc:Choice>
        <mc:Fallback xmlns="">
          <p:sp>
            <p:nvSpPr>
              <p:cNvPr id="64" name="矩形 63">
                <a:extLst>
                  <a:ext uri="{FF2B5EF4-FFF2-40B4-BE49-F238E27FC236}">
                    <a16:creationId xmlns:a16="http://schemas.microsoft.com/office/drawing/2014/main" id="{1BA99CB7-E51C-447F-986E-E746477414C3}"/>
                  </a:ext>
                </a:extLst>
              </p:cNvPr>
              <p:cNvSpPr>
                <a:spLocks noRot="1" noChangeAspect="1" noMove="1" noResize="1" noEditPoints="1" noAdjustHandles="1" noChangeArrowheads="1" noChangeShapeType="1" noTextEdit="1"/>
              </p:cNvSpPr>
              <p:nvPr/>
            </p:nvSpPr>
            <p:spPr>
              <a:xfrm>
                <a:off x="1020883" y="5741725"/>
                <a:ext cx="2238305" cy="435504"/>
              </a:xfrm>
              <a:prstGeom prst="rect">
                <a:avLst/>
              </a:prstGeom>
              <a:blipFill>
                <a:blip r:embed="rId12"/>
                <a:stretch>
                  <a:fillRect b="-42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523610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8"/>
                                        </p:tgtEl>
                                        <p:attrNameLst>
                                          <p:attrName>style.visibility</p:attrName>
                                        </p:attrNameLst>
                                      </p:cBhvr>
                                      <p:to>
                                        <p:strVal val="visible"/>
                                      </p:to>
                                    </p:set>
                                    <p:anim calcmode="lin" valueType="num">
                                      <p:cBhvr additive="base">
                                        <p:cTn id="24" dur="500" fill="hold"/>
                                        <p:tgtEl>
                                          <p:spTgt spid="58"/>
                                        </p:tgtEl>
                                        <p:attrNameLst>
                                          <p:attrName>ppt_x</p:attrName>
                                        </p:attrNameLst>
                                      </p:cBhvr>
                                      <p:tavLst>
                                        <p:tav tm="0">
                                          <p:val>
                                            <p:strVal val="#ppt_x"/>
                                          </p:val>
                                        </p:tav>
                                        <p:tav tm="100000">
                                          <p:val>
                                            <p:strVal val="#ppt_x"/>
                                          </p:val>
                                        </p:tav>
                                      </p:tavLst>
                                    </p:anim>
                                    <p:anim calcmode="lin" valueType="num">
                                      <p:cBhvr additive="base">
                                        <p:cTn id="25" dur="500" fill="hold"/>
                                        <p:tgtEl>
                                          <p:spTgt spid="5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 calcmode="lin" valueType="num">
                                      <p:cBhvr additive="base">
                                        <p:cTn id="28" dur="500" fill="hold"/>
                                        <p:tgtEl>
                                          <p:spTgt spid="48"/>
                                        </p:tgtEl>
                                        <p:attrNameLst>
                                          <p:attrName>ppt_x</p:attrName>
                                        </p:attrNameLst>
                                      </p:cBhvr>
                                      <p:tavLst>
                                        <p:tav tm="0">
                                          <p:val>
                                            <p:strVal val="#ppt_x"/>
                                          </p:val>
                                        </p:tav>
                                        <p:tav tm="100000">
                                          <p:val>
                                            <p:strVal val="#ppt_x"/>
                                          </p:val>
                                        </p:tav>
                                      </p:tavLst>
                                    </p:anim>
                                    <p:anim calcmode="lin" valueType="num">
                                      <p:cBhvr additive="base">
                                        <p:cTn id="29"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59"/>
                                        </p:tgtEl>
                                        <p:attrNameLst>
                                          <p:attrName>style.visibility</p:attrName>
                                        </p:attrNameLst>
                                      </p:cBhvr>
                                      <p:to>
                                        <p:strVal val="visible"/>
                                      </p:to>
                                    </p:set>
                                    <p:anim calcmode="lin" valueType="num">
                                      <p:cBhvr additive="base">
                                        <p:cTn id="34" dur="500" fill="hold"/>
                                        <p:tgtEl>
                                          <p:spTgt spid="59"/>
                                        </p:tgtEl>
                                        <p:attrNameLst>
                                          <p:attrName>ppt_x</p:attrName>
                                        </p:attrNameLst>
                                      </p:cBhvr>
                                      <p:tavLst>
                                        <p:tav tm="0">
                                          <p:val>
                                            <p:strVal val="#ppt_x"/>
                                          </p:val>
                                        </p:tav>
                                        <p:tav tm="100000">
                                          <p:val>
                                            <p:strVal val="#ppt_x"/>
                                          </p:val>
                                        </p:tav>
                                      </p:tavLst>
                                    </p:anim>
                                    <p:anim calcmode="lin" valueType="num">
                                      <p:cBhvr additive="base">
                                        <p:cTn id="35" dur="500" fill="hold"/>
                                        <p:tgtEl>
                                          <p:spTgt spid="5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500" fill="hold"/>
                                        <p:tgtEl>
                                          <p:spTgt spid="50"/>
                                        </p:tgtEl>
                                        <p:attrNameLst>
                                          <p:attrName>ppt_x</p:attrName>
                                        </p:attrNameLst>
                                      </p:cBhvr>
                                      <p:tavLst>
                                        <p:tav tm="0">
                                          <p:val>
                                            <p:strVal val="#ppt_x"/>
                                          </p:val>
                                        </p:tav>
                                        <p:tav tm="100000">
                                          <p:val>
                                            <p:strVal val="#ppt_x"/>
                                          </p:val>
                                        </p:tav>
                                      </p:tavLst>
                                    </p:anim>
                                    <p:anim calcmode="lin" valueType="num">
                                      <p:cBhvr additive="base">
                                        <p:cTn id="39"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61"/>
                                        </p:tgtEl>
                                        <p:attrNameLst>
                                          <p:attrName>style.visibility</p:attrName>
                                        </p:attrNameLst>
                                      </p:cBhvr>
                                      <p:to>
                                        <p:strVal val="visible"/>
                                      </p:to>
                                    </p:set>
                                    <p:anim calcmode="lin" valueType="num">
                                      <p:cBhvr additive="base">
                                        <p:cTn id="44" dur="500" fill="hold"/>
                                        <p:tgtEl>
                                          <p:spTgt spid="61"/>
                                        </p:tgtEl>
                                        <p:attrNameLst>
                                          <p:attrName>ppt_x</p:attrName>
                                        </p:attrNameLst>
                                      </p:cBhvr>
                                      <p:tavLst>
                                        <p:tav tm="0">
                                          <p:val>
                                            <p:strVal val="#ppt_x"/>
                                          </p:val>
                                        </p:tav>
                                        <p:tav tm="100000">
                                          <p:val>
                                            <p:strVal val="#ppt_x"/>
                                          </p:val>
                                        </p:tav>
                                      </p:tavLst>
                                    </p:anim>
                                    <p:anim calcmode="lin" valueType="num">
                                      <p:cBhvr additive="base">
                                        <p:cTn id="45" dur="500" fill="hold"/>
                                        <p:tgtEl>
                                          <p:spTgt spid="61"/>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0"/>
                                        </p:tgtEl>
                                        <p:attrNameLst>
                                          <p:attrName>style.visibility</p:attrName>
                                        </p:attrNameLst>
                                      </p:cBhvr>
                                      <p:to>
                                        <p:strVal val="visible"/>
                                      </p:to>
                                    </p:set>
                                    <p:anim calcmode="lin" valueType="num">
                                      <p:cBhvr additive="base">
                                        <p:cTn id="48" dur="500" fill="hold"/>
                                        <p:tgtEl>
                                          <p:spTgt spid="60"/>
                                        </p:tgtEl>
                                        <p:attrNameLst>
                                          <p:attrName>ppt_x</p:attrName>
                                        </p:attrNameLst>
                                      </p:cBhvr>
                                      <p:tavLst>
                                        <p:tav tm="0">
                                          <p:val>
                                            <p:strVal val="#ppt_x"/>
                                          </p:val>
                                        </p:tav>
                                        <p:tav tm="100000">
                                          <p:val>
                                            <p:strVal val="#ppt_x"/>
                                          </p:val>
                                        </p:tav>
                                      </p:tavLst>
                                    </p:anim>
                                    <p:anim calcmode="lin" valueType="num">
                                      <p:cBhvr additive="base">
                                        <p:cTn id="49"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2"/>
                                        </p:tgtEl>
                                        <p:attrNameLst>
                                          <p:attrName>style.visibility</p:attrName>
                                        </p:attrNameLst>
                                      </p:cBhvr>
                                      <p:to>
                                        <p:strVal val="visible"/>
                                      </p:to>
                                    </p:set>
                                    <p:anim calcmode="lin" valueType="num">
                                      <p:cBhvr additive="base">
                                        <p:cTn id="54" dur="500" fill="hold"/>
                                        <p:tgtEl>
                                          <p:spTgt spid="62"/>
                                        </p:tgtEl>
                                        <p:attrNameLst>
                                          <p:attrName>ppt_x</p:attrName>
                                        </p:attrNameLst>
                                      </p:cBhvr>
                                      <p:tavLst>
                                        <p:tav tm="0">
                                          <p:val>
                                            <p:strVal val="#ppt_x"/>
                                          </p:val>
                                        </p:tav>
                                        <p:tav tm="100000">
                                          <p:val>
                                            <p:strVal val="#ppt_x"/>
                                          </p:val>
                                        </p:tav>
                                      </p:tavLst>
                                    </p:anim>
                                    <p:anim calcmode="lin" valueType="num">
                                      <p:cBhvr additive="base">
                                        <p:cTn id="55" dur="500" fill="hold"/>
                                        <p:tgtEl>
                                          <p:spTgt spid="62"/>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51"/>
                                        </p:tgtEl>
                                        <p:attrNameLst>
                                          <p:attrName>style.visibility</p:attrName>
                                        </p:attrNameLst>
                                      </p:cBhvr>
                                      <p:to>
                                        <p:strVal val="visible"/>
                                      </p:to>
                                    </p:set>
                                    <p:anim calcmode="lin" valueType="num">
                                      <p:cBhvr additive="base">
                                        <p:cTn id="58" dur="500" fill="hold"/>
                                        <p:tgtEl>
                                          <p:spTgt spid="51"/>
                                        </p:tgtEl>
                                        <p:attrNameLst>
                                          <p:attrName>ppt_x</p:attrName>
                                        </p:attrNameLst>
                                      </p:cBhvr>
                                      <p:tavLst>
                                        <p:tav tm="0">
                                          <p:val>
                                            <p:strVal val="#ppt_x"/>
                                          </p:val>
                                        </p:tav>
                                        <p:tav tm="100000">
                                          <p:val>
                                            <p:strVal val="#ppt_x"/>
                                          </p:val>
                                        </p:tav>
                                      </p:tavLst>
                                    </p:anim>
                                    <p:anim calcmode="lin" valueType="num">
                                      <p:cBhvr additive="base">
                                        <p:cTn id="59" dur="500" fill="hold"/>
                                        <p:tgtEl>
                                          <p:spTgt spid="5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52"/>
                                        </p:tgtEl>
                                        <p:attrNameLst>
                                          <p:attrName>style.visibility</p:attrName>
                                        </p:attrNameLst>
                                      </p:cBhvr>
                                      <p:to>
                                        <p:strVal val="visible"/>
                                      </p:to>
                                    </p:set>
                                    <p:anim calcmode="lin" valueType="num">
                                      <p:cBhvr additive="base">
                                        <p:cTn id="62" dur="500" fill="hold"/>
                                        <p:tgtEl>
                                          <p:spTgt spid="52"/>
                                        </p:tgtEl>
                                        <p:attrNameLst>
                                          <p:attrName>ppt_x</p:attrName>
                                        </p:attrNameLst>
                                      </p:cBhvr>
                                      <p:tavLst>
                                        <p:tav tm="0">
                                          <p:val>
                                            <p:strVal val="#ppt_x"/>
                                          </p:val>
                                        </p:tav>
                                        <p:tav tm="100000">
                                          <p:val>
                                            <p:strVal val="#ppt_x"/>
                                          </p:val>
                                        </p:tav>
                                      </p:tavLst>
                                    </p:anim>
                                    <p:anim calcmode="lin" valueType="num">
                                      <p:cBhvr additive="base">
                                        <p:cTn id="63"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6"/>
                                        </p:tgtEl>
                                        <p:attrNameLst>
                                          <p:attrName>style.visibility</p:attrName>
                                        </p:attrNameLst>
                                      </p:cBhvr>
                                      <p:to>
                                        <p:strVal val="visible"/>
                                      </p:to>
                                    </p:set>
                                    <p:anim calcmode="lin" valueType="num">
                                      <p:cBhvr additive="base">
                                        <p:cTn id="68" dur="500" fill="hold"/>
                                        <p:tgtEl>
                                          <p:spTgt spid="6"/>
                                        </p:tgtEl>
                                        <p:attrNameLst>
                                          <p:attrName>ppt_x</p:attrName>
                                        </p:attrNameLst>
                                      </p:cBhvr>
                                      <p:tavLst>
                                        <p:tav tm="0">
                                          <p:val>
                                            <p:strVal val="#ppt_x"/>
                                          </p:val>
                                        </p:tav>
                                        <p:tav tm="100000">
                                          <p:val>
                                            <p:strVal val="#ppt_x"/>
                                          </p:val>
                                        </p:tav>
                                      </p:tavLst>
                                    </p:anim>
                                    <p:anim calcmode="lin" valueType="num">
                                      <p:cBhvr additive="base">
                                        <p:cTn id="6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64"/>
                                        </p:tgtEl>
                                        <p:attrNameLst>
                                          <p:attrName>style.visibility</p:attrName>
                                        </p:attrNameLst>
                                      </p:cBhvr>
                                      <p:to>
                                        <p:strVal val="visible"/>
                                      </p:to>
                                    </p:set>
                                    <p:anim calcmode="lin" valueType="num">
                                      <p:cBhvr additive="base">
                                        <p:cTn id="74" dur="500" fill="hold"/>
                                        <p:tgtEl>
                                          <p:spTgt spid="64"/>
                                        </p:tgtEl>
                                        <p:attrNameLst>
                                          <p:attrName>ppt_x</p:attrName>
                                        </p:attrNameLst>
                                      </p:cBhvr>
                                      <p:tavLst>
                                        <p:tav tm="0">
                                          <p:val>
                                            <p:strVal val="#ppt_x"/>
                                          </p:val>
                                        </p:tav>
                                        <p:tav tm="100000">
                                          <p:val>
                                            <p:strVal val="#ppt_x"/>
                                          </p:val>
                                        </p:tav>
                                      </p:tavLst>
                                    </p:anim>
                                    <p:anim calcmode="lin" valueType="num">
                                      <p:cBhvr additive="base">
                                        <p:cTn id="75" dur="500" fill="hold"/>
                                        <p:tgtEl>
                                          <p:spTgt spid="64"/>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63"/>
                                        </p:tgtEl>
                                        <p:attrNameLst>
                                          <p:attrName>style.visibility</p:attrName>
                                        </p:attrNameLst>
                                      </p:cBhvr>
                                      <p:to>
                                        <p:strVal val="visible"/>
                                      </p:to>
                                    </p:set>
                                    <p:anim calcmode="lin" valueType="num">
                                      <p:cBhvr additive="base">
                                        <p:cTn id="78" dur="500" fill="hold"/>
                                        <p:tgtEl>
                                          <p:spTgt spid="63"/>
                                        </p:tgtEl>
                                        <p:attrNameLst>
                                          <p:attrName>ppt_x</p:attrName>
                                        </p:attrNameLst>
                                      </p:cBhvr>
                                      <p:tavLst>
                                        <p:tav tm="0">
                                          <p:val>
                                            <p:strVal val="#ppt_x"/>
                                          </p:val>
                                        </p:tav>
                                        <p:tav tm="100000">
                                          <p:val>
                                            <p:strVal val="#ppt_x"/>
                                          </p:val>
                                        </p:tav>
                                      </p:tavLst>
                                    </p:anim>
                                    <p:anim calcmode="lin" valueType="num">
                                      <p:cBhvr additive="base">
                                        <p:cTn id="79"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8" grpId="0"/>
      <p:bldP spid="50" grpId="0"/>
      <p:bldP spid="51" grpId="0"/>
      <p:bldP spid="52" grpId="0"/>
      <p:bldP spid="56" grpId="0"/>
      <p:bldP spid="58" grpId="0"/>
      <p:bldP spid="59" grpId="0"/>
      <p:bldP spid="60" grpId="0"/>
      <p:bldP spid="61" grpId="0"/>
      <p:bldP spid="62" grpId="0"/>
      <p:bldP spid="63" grpId="0"/>
      <p:bldP spid="6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340A8D6-DEDA-4314-95D1-4331CDBF2B3E}"/>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10</a:t>
            </a:fld>
            <a:endParaRPr lang="zh-CN" altLang="en-US">
              <a:solidFill>
                <a:prstClr val="black">
                  <a:tint val="75000"/>
                </a:prstClr>
              </a:solidFill>
            </a:endParaRPr>
          </a:p>
        </p:txBody>
      </p:sp>
      <p:pic>
        <p:nvPicPr>
          <p:cNvPr id="3" name="Picture 14">
            <a:extLst>
              <a:ext uri="{FF2B5EF4-FFF2-40B4-BE49-F238E27FC236}">
                <a16:creationId xmlns:a16="http://schemas.microsoft.com/office/drawing/2014/main" id="{C85B6C16-199E-4641-A0AF-1E047F85B35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456" r="9754" b="10569"/>
          <a:stretch/>
        </p:blipFill>
        <p:spPr bwMode="auto">
          <a:xfrm>
            <a:off x="260809" y="2183066"/>
            <a:ext cx="4001924" cy="46749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18247FB-EF41-4B46-9253-01461A6701D0}"/>
                  </a:ext>
                </a:extLst>
              </p:cNvPr>
              <p:cNvSpPr/>
              <p:nvPr/>
            </p:nvSpPr>
            <p:spPr>
              <a:xfrm>
                <a:off x="832685" y="745549"/>
                <a:ext cx="3590597" cy="1242007"/>
              </a:xfrm>
              <a:prstGeom prst="rect">
                <a:avLst/>
              </a:prstGeom>
            </p:spPr>
            <p:txBody>
              <a:bodyPr wrap="square">
                <a:spAutoFit/>
              </a:bodyPr>
              <a:lstStyle/>
              <a:p>
                <a:r>
                  <a:rPr lang="en-US" altLang="zh-CN" sz="2000" i="1" dirty="0">
                    <a:latin typeface="Times New Roman" panose="02020603050405020304" pitchFamily="18" charset="0"/>
                    <a:cs typeface="Times New Roman" panose="02020603050405020304" pitchFamily="18" charset="0"/>
                  </a:rPr>
                  <a:t>H</a:t>
                </a:r>
                <a14:m>
                  <m:oMath xmlns:m="http://schemas.openxmlformats.org/officeDocument/2006/math">
                    <m:r>
                      <a:rPr lang="en-US" altLang="zh-CN" sz="2000" smtClean="0">
                        <a:latin typeface="Cambria Math" panose="02040503050406030204" pitchFamily="18" charset="0"/>
                      </a:rPr>
                      <m:t>=</m:t>
                    </m:r>
                    <m:d>
                      <m:dPr>
                        <m:ctrlPr>
                          <a:rPr lang="zh-CN" altLang="en-US" sz="2000" i="1">
                            <a:latin typeface="Cambria Math" panose="02040503050406030204" pitchFamily="18" charset="0"/>
                          </a:rPr>
                        </m:ctrlPr>
                      </m:dPr>
                      <m:e>
                        <m:m>
                          <m:mPr>
                            <m:plcHide m:val="on"/>
                            <m:mcs>
                              <m:mc>
                                <m:mcPr>
                                  <m:count m:val="4"/>
                                  <m:mcJc m:val="center"/>
                                </m:mcPr>
                              </m:mc>
                            </m:mcs>
                            <m:ctrlPr>
                              <a:rPr lang="zh-CN" altLang="en-US" sz="2000" i="1">
                                <a:latin typeface="Cambria Math" panose="02040503050406030204" pitchFamily="18" charset="0"/>
                              </a:rPr>
                            </m:ctrlPr>
                          </m:mPr>
                          <m:mr>
                            <m:e>
                              <m:r>
                                <m:rPr>
                                  <m:sty m:val="p"/>
                                </m:rPr>
                                <a:rPr lang="zh-CN" altLang="en-US" sz="2000">
                                  <a:latin typeface="Cambria Math" panose="02040503050406030204" pitchFamily="18" charset="0"/>
                                </a:rPr>
                                <m:t>r</m:t>
                              </m:r>
                              <m:r>
                                <a:rPr lang="zh-CN" altLang="en-US" sz="2000">
                                  <a:latin typeface="Cambria Math" panose="02040503050406030204" pitchFamily="18" charset="0"/>
                                </a:rPr>
                                <m:t>11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12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13</m:t>
                              </m:r>
                            </m:e>
                            <m:e>
                              <m:r>
                                <m:rPr>
                                  <m:sty m:val="p"/>
                                </m:rPr>
                                <a:rPr lang="zh-CN" altLang="en-US" sz="2000" i="0">
                                  <a:latin typeface="Cambria Math" panose="02040503050406030204" pitchFamily="18" charset="0"/>
                                </a:rPr>
                                <m:t>px</m:t>
                              </m:r>
                            </m:e>
                          </m:mr>
                          <m:mr>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23</m:t>
                              </m:r>
                            </m:e>
                            <m:e>
                              <m:r>
                                <m:rPr>
                                  <m:sty m:val="p"/>
                                </m:rPr>
                                <a:rPr lang="zh-CN" altLang="en-US" sz="2000" i="0">
                                  <a:latin typeface="Cambria Math" panose="02040503050406030204" pitchFamily="18" charset="0"/>
                                </a:rPr>
                                <m:t>py</m:t>
                              </m:r>
                            </m:e>
                          </m:mr>
                          <m:mr>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33</m:t>
                              </m:r>
                            </m:e>
                            <m:e>
                              <m:r>
                                <m:rPr>
                                  <m:sty m:val="p"/>
                                </m:rPr>
                                <a:rPr lang="zh-CN" altLang="en-US" sz="2000" i="0">
                                  <a:latin typeface="Cambria Math" panose="02040503050406030204" pitchFamily="18" charset="0"/>
                                </a:rPr>
                                <m:t>pz</m:t>
                              </m:r>
                            </m:e>
                          </m:mr>
                          <m:mr>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1</m:t>
                              </m:r>
                            </m:e>
                          </m:mr>
                        </m:m>
                      </m:e>
                    </m:d>
                  </m:oMath>
                </a14:m>
                <a:endParaRPr lang="zh-CN" altLang="en-US" sz="2000" dirty="0"/>
              </a:p>
            </p:txBody>
          </p:sp>
        </mc:Choice>
        <mc:Fallback xmlns="">
          <p:sp>
            <p:nvSpPr>
              <p:cNvPr id="4" name="矩形 3">
                <a:extLst>
                  <a:ext uri="{FF2B5EF4-FFF2-40B4-BE49-F238E27FC236}">
                    <a16:creationId xmlns:a16="http://schemas.microsoft.com/office/drawing/2014/main" id="{018247FB-EF41-4B46-9253-01461A6701D0}"/>
                  </a:ext>
                </a:extLst>
              </p:cNvPr>
              <p:cNvSpPr>
                <a:spLocks noRot="1" noChangeAspect="1" noMove="1" noResize="1" noEditPoints="1" noAdjustHandles="1" noChangeArrowheads="1" noChangeShapeType="1" noTextEdit="1"/>
              </p:cNvSpPr>
              <p:nvPr/>
            </p:nvSpPr>
            <p:spPr>
              <a:xfrm>
                <a:off x="832685" y="745549"/>
                <a:ext cx="3590597" cy="1242007"/>
              </a:xfrm>
              <a:prstGeom prst="rect">
                <a:avLst/>
              </a:prstGeom>
              <a:blipFill>
                <a:blip r:embed="rId5"/>
                <a:stretch>
                  <a:fillRect l="-1868"/>
                </a:stretch>
              </a:blipFill>
            </p:spPr>
            <p:txBody>
              <a:bodyPr/>
              <a:lstStyle/>
              <a:p>
                <a:r>
                  <a:rPr lang="zh-CN" altLang="en-US">
                    <a:noFill/>
                  </a:rPr>
                  <a:t> </a:t>
                </a:r>
              </a:p>
            </p:txBody>
          </p:sp>
        </mc:Fallback>
      </mc:AlternateContent>
      <p:graphicFrame>
        <p:nvGraphicFramePr>
          <p:cNvPr id="5" name="Object 4">
            <a:extLst>
              <a:ext uri="{FF2B5EF4-FFF2-40B4-BE49-F238E27FC236}">
                <a16:creationId xmlns:a16="http://schemas.microsoft.com/office/drawing/2014/main" id="{CA64EAEA-25BE-46FB-815B-F0A3B42AAFA2}"/>
              </a:ext>
            </a:extLst>
          </p:cNvPr>
          <p:cNvGraphicFramePr>
            <a:graphicFrameLocks noChangeAspect="1"/>
          </p:cNvGraphicFramePr>
          <p:nvPr>
            <p:extLst>
              <p:ext uri="{D42A27DB-BD31-4B8C-83A1-F6EECF244321}">
                <p14:modId xmlns:p14="http://schemas.microsoft.com/office/powerpoint/2010/main" val="1764864270"/>
              </p:ext>
            </p:extLst>
          </p:nvPr>
        </p:nvGraphicFramePr>
        <p:xfrm>
          <a:off x="4511675" y="3949700"/>
          <a:ext cx="3417594" cy="1110137"/>
        </p:xfrm>
        <a:graphic>
          <a:graphicData uri="http://schemas.openxmlformats.org/presentationml/2006/ole">
            <mc:AlternateContent xmlns:mc="http://schemas.openxmlformats.org/markup-compatibility/2006">
              <mc:Choice xmlns:v="urn:schemas-microsoft-com:vml" Requires="v">
                <p:oleObj name="Equation" r:id="rId6" imgW="2184400" imgH="698500" progId="Equation.DSMT4">
                  <p:embed/>
                </p:oleObj>
              </mc:Choice>
              <mc:Fallback>
                <p:oleObj name="Equation" r:id="rId6" imgW="2184400" imgH="698500" progId="Equation.DSMT4">
                  <p:embed/>
                  <p:pic>
                    <p:nvPicPr>
                      <p:cNvPr id="24" name="Object 4">
                        <a:extLst>
                          <a:ext uri="{FF2B5EF4-FFF2-40B4-BE49-F238E27FC236}">
                            <a16:creationId xmlns:a16="http://schemas.microsoft.com/office/drawing/2014/main" id="{368B112C-BF58-4180-B87B-68626CF9F8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1675" y="3949700"/>
                        <a:ext cx="3417594" cy="1110137"/>
                      </a:xfrm>
                      <a:prstGeom prst="rect">
                        <a:avLst/>
                      </a:prstGeom>
                      <a:solidFill>
                        <a:srgbClr val="FFFF99"/>
                      </a:solidFill>
                      <a:ln w="57150" cmpd="thinThick">
                        <a:noFill/>
                        <a:miter lim="800000"/>
                        <a:headEnd/>
                        <a:tailEnd/>
                      </a:ln>
                      <a:effectLst/>
                    </p:spPr>
                  </p:pic>
                </p:oleObj>
              </mc:Fallback>
            </mc:AlternateContent>
          </a:graphicData>
        </a:graphic>
      </p:graphicFrame>
      <p:graphicFrame>
        <p:nvGraphicFramePr>
          <p:cNvPr id="6" name="Object 3">
            <a:extLst>
              <a:ext uri="{FF2B5EF4-FFF2-40B4-BE49-F238E27FC236}">
                <a16:creationId xmlns:a16="http://schemas.microsoft.com/office/drawing/2014/main" id="{E0DB74AA-DA2F-4209-A39F-A61CF1DD1B58}"/>
              </a:ext>
            </a:extLst>
          </p:cNvPr>
          <p:cNvGraphicFramePr>
            <a:graphicFrameLocks noChangeAspect="1"/>
          </p:cNvGraphicFramePr>
          <p:nvPr>
            <p:extLst>
              <p:ext uri="{D42A27DB-BD31-4B8C-83A1-F6EECF244321}">
                <p14:modId xmlns:p14="http://schemas.microsoft.com/office/powerpoint/2010/main" val="297175587"/>
              </p:ext>
            </p:extLst>
          </p:nvPr>
        </p:nvGraphicFramePr>
        <p:xfrm>
          <a:off x="4508039" y="756059"/>
          <a:ext cx="7641998" cy="3195831"/>
        </p:xfrm>
        <a:graphic>
          <a:graphicData uri="http://schemas.openxmlformats.org/presentationml/2006/ole">
            <mc:AlternateContent xmlns:mc="http://schemas.openxmlformats.org/markup-compatibility/2006">
              <mc:Choice xmlns:v="urn:schemas-microsoft-com:vml" Requires="v">
                <p:oleObj name="Equation" r:id="rId8" imgW="3657600" imgH="2082600" progId="Equation.DSMT4">
                  <p:embed/>
                </p:oleObj>
              </mc:Choice>
              <mc:Fallback>
                <p:oleObj name="Equation" r:id="rId8" imgW="3657600" imgH="2082600" progId="Equation.DSMT4">
                  <p:embed/>
                  <p:pic>
                    <p:nvPicPr>
                      <p:cNvPr id="25" name="Object 3">
                        <a:extLst>
                          <a:ext uri="{FF2B5EF4-FFF2-40B4-BE49-F238E27FC236}">
                            <a16:creationId xmlns:a16="http://schemas.microsoft.com/office/drawing/2014/main" id="{CCD82249-70D8-4AF8-88E1-50BBBFAB4A7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8039" y="756059"/>
                        <a:ext cx="7641998" cy="3195831"/>
                      </a:xfrm>
                      <a:prstGeom prst="rect">
                        <a:avLst/>
                      </a:prstGeom>
                      <a:solidFill>
                        <a:srgbClr val="FFFF99"/>
                      </a:solidFill>
                      <a:ln>
                        <a:noFill/>
                      </a:ln>
                    </p:spPr>
                  </p:pic>
                </p:oleObj>
              </mc:Fallback>
            </mc:AlternateContent>
          </a:graphicData>
        </a:graphic>
      </p:graphicFrame>
      <p:sp>
        <p:nvSpPr>
          <p:cNvPr id="7" name="文本框 6">
            <a:extLst>
              <a:ext uri="{FF2B5EF4-FFF2-40B4-BE49-F238E27FC236}">
                <a16:creationId xmlns:a16="http://schemas.microsoft.com/office/drawing/2014/main" id="{F3A572CB-5D6E-475E-A28D-FA0351AF1520}"/>
              </a:ext>
            </a:extLst>
          </p:cNvPr>
          <p:cNvSpPr txBox="1"/>
          <p:nvPr/>
        </p:nvSpPr>
        <p:spPr>
          <a:xfrm>
            <a:off x="148597" y="856570"/>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已知</a:t>
            </a:r>
          </a:p>
        </p:txBody>
      </p:sp>
      <p:sp>
        <p:nvSpPr>
          <p:cNvPr id="10" name="文本框 9">
            <a:extLst>
              <a:ext uri="{FF2B5EF4-FFF2-40B4-BE49-F238E27FC236}">
                <a16:creationId xmlns:a16="http://schemas.microsoft.com/office/drawing/2014/main" id="{4335E713-856A-4F5E-BB52-EF473648D4B2}"/>
              </a:ext>
            </a:extLst>
          </p:cNvPr>
          <p:cNvSpPr txBox="1"/>
          <p:nvPr/>
        </p:nvSpPr>
        <p:spPr>
          <a:xfrm>
            <a:off x="159531" y="1202003"/>
            <a:ext cx="817838" cy="707886"/>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期望位姿</a:t>
            </a:r>
          </a:p>
        </p:txBody>
      </p:sp>
      <p:sp>
        <p:nvSpPr>
          <p:cNvPr id="11" name="文本框 10">
            <a:extLst>
              <a:ext uri="{FF2B5EF4-FFF2-40B4-BE49-F238E27FC236}">
                <a16:creationId xmlns:a16="http://schemas.microsoft.com/office/drawing/2014/main" id="{E682F72D-7A2E-49DC-8148-4C7E38D13C7F}"/>
              </a:ext>
            </a:extLst>
          </p:cNvPr>
          <p:cNvSpPr txBox="1"/>
          <p:nvPr/>
        </p:nvSpPr>
        <p:spPr>
          <a:xfrm>
            <a:off x="3853814" y="2090770"/>
            <a:ext cx="817838" cy="1323439"/>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已知正运动学方程</a:t>
            </a:r>
          </a:p>
        </p:txBody>
      </p:sp>
      <p:sp>
        <p:nvSpPr>
          <p:cNvPr id="12" name="文本框 11">
            <a:extLst>
              <a:ext uri="{FF2B5EF4-FFF2-40B4-BE49-F238E27FC236}">
                <a16:creationId xmlns:a16="http://schemas.microsoft.com/office/drawing/2014/main" id="{92BFDB56-B93F-4AEF-92EB-9B7F42C7B600}"/>
              </a:ext>
            </a:extLst>
          </p:cNvPr>
          <p:cNvSpPr txBox="1"/>
          <p:nvPr/>
        </p:nvSpPr>
        <p:spPr>
          <a:xfrm>
            <a:off x="4717286" y="5322352"/>
            <a:ext cx="2287792"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求各关节角</a:t>
            </a:r>
          </a:p>
        </p:txBody>
      </p:sp>
      <p:sp>
        <p:nvSpPr>
          <p:cNvPr id="13" name="文本框 8">
            <a:extLst>
              <a:ext uri="{FF2B5EF4-FFF2-40B4-BE49-F238E27FC236}">
                <a16:creationId xmlns:a16="http://schemas.microsoft.com/office/drawing/2014/main" id="{65A7F31A-DF43-422F-8D74-B3DA72F74220}"/>
              </a:ext>
            </a:extLst>
          </p:cNvPr>
          <p:cNvSpPr txBox="1"/>
          <p:nvPr/>
        </p:nvSpPr>
        <p:spPr>
          <a:xfrm>
            <a:off x="0" y="52328"/>
            <a:ext cx="12192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28707102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2F3821-75AA-47C5-AEB7-418054ABFCE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11</a:t>
            </a:fld>
            <a:endParaRPr lang="zh-CN" altLang="en-US" dirty="0">
              <a:solidFill>
                <a:prstClr val="black">
                  <a:tint val="75000"/>
                </a:prstClr>
              </a:solidFill>
            </a:endParaRPr>
          </a:p>
        </p:txBody>
      </p:sp>
      <p:sp>
        <p:nvSpPr>
          <p:cNvPr id="3" name="文本框 2">
            <a:extLst>
              <a:ext uri="{FF2B5EF4-FFF2-40B4-BE49-F238E27FC236}">
                <a16:creationId xmlns:a16="http://schemas.microsoft.com/office/drawing/2014/main" id="{7496ED17-E9A4-48AF-B637-C9299EEE4E9F}"/>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3200" b="1" dirty="0">
                <a:solidFill>
                  <a:srgbClr val="9D1317"/>
                </a:solidFill>
                <a:latin typeface="微软雅黑" panose="020B0503020204020204" pitchFamily="34" charset="-122"/>
                <a:ea typeface="微软雅黑" panose="020B0503020204020204" pitchFamily="34" charset="-122"/>
              </a:rPr>
              <a:t> 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20D01FF-8236-4D1E-803D-6B767D539F59}"/>
                  </a:ext>
                </a:extLst>
              </p:cNvPr>
              <p:cNvSpPr/>
              <p:nvPr/>
            </p:nvSpPr>
            <p:spPr>
              <a:xfrm>
                <a:off x="295882" y="3202766"/>
                <a:ext cx="10134185" cy="11567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i="1" smtClean="0">
                              <a:solidFill>
                                <a:schemeClr val="tx1"/>
                              </a:solidFill>
                              <a:latin typeface="Cambria Math" panose="02040503050406030204" pitchFamily="18" charset="0"/>
                            </a:rPr>
                          </m:ctrlPr>
                        </m:dPr>
                        <m:e>
                          <m:m>
                            <m:mPr>
                              <m:plcHide m:val="on"/>
                              <m:mcs>
                                <m:mc>
                                  <m:mcPr>
                                    <m:count m:val="4"/>
                                    <m:mcJc m:val="center"/>
                                  </m:mcPr>
                                </m:mc>
                              </m:mcs>
                              <m:ctrlPr>
                                <a:rPr lang="zh-CN" altLang="en-US" i="1">
                                  <a:solidFill>
                                    <a:schemeClr val="tx1"/>
                                  </a:solidFill>
                                  <a:latin typeface="Cambria Math" panose="02040503050406030204" pitchFamily="18" charset="0"/>
                                </a:rPr>
                              </m:ctrlPr>
                            </m:mPr>
                            <m:mr>
                              <m:e>
                                <m:r>
                                  <a:rPr lang="zh-CN" altLang="en-US">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m:rPr>
                                    <m:sty m:val="p"/>
                                  </m:rPr>
                                  <a:rPr lang="zh-CN" altLang="en-US" i="0">
                                    <a:solidFill>
                                      <a:schemeClr val="tx1"/>
                                    </a:solidFill>
                                    <a:latin typeface="Cambria Math" panose="02040503050406030204" pitchFamily="18" charset="0"/>
                                  </a:rPr>
                                  <m:t>px</m:t>
                                </m:r>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1</m:t>
                                        </m:r>
                                      </m:sub>
                                    </m:sSub>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py</m:t>
                                </m:r>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1</m:t>
                                        </m:r>
                                      </m:sub>
                                    </m:sSub>
                                  </m:e>
                                </m:d>
                              </m:e>
                            </m:mr>
                            <m:mr>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m:rPr>
                                    <m:sty m:val="p"/>
                                  </m:rPr>
                                  <a:rPr lang="zh-CN" altLang="en-US" i="0" smtClean="0">
                                    <a:solidFill>
                                      <a:schemeClr val="tx1"/>
                                    </a:solidFill>
                                    <a:latin typeface="Cambria Math" panose="02040503050406030204" pitchFamily="18" charset="0"/>
                                  </a:rPr>
                                  <m:t>py</m:t>
                                </m:r>
                                <m:r>
                                  <a:rPr lang="zh-CN" altLang="en-US" i="0" smtClean="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1</m:t>
                                        </m:r>
                                      </m:sub>
                                    </m:sSub>
                                  </m:e>
                                </m:d>
                                <m:r>
                                  <a:rPr lang="zh-CN" altLang="en-US" i="0">
                                    <a:solidFill>
                                      <a:schemeClr val="tx1"/>
                                    </a:solidFill>
                                    <a:latin typeface="Cambria Math" panose="02040503050406030204" pitchFamily="18" charset="0"/>
                                  </a:rPr>
                                  <m:t>−</m:t>
                                </m:r>
                                <m:r>
                                  <m:rPr>
                                    <m:sty m:val="p"/>
                                  </m:rPr>
                                  <a:rPr lang="zh-CN" altLang="en-US" i="0">
                                    <a:solidFill>
                                      <a:schemeClr val="tx1"/>
                                    </a:solidFill>
                                    <a:latin typeface="Cambria Math" panose="02040503050406030204" pitchFamily="18" charset="0"/>
                                  </a:rPr>
                                  <m:t>px</m:t>
                                </m:r>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1</m:t>
                                        </m:r>
                                      </m:sub>
                                    </m:sSub>
                                  </m:e>
                                </m:d>
                              </m:e>
                            </m:mr>
                            <m:mr>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m:rPr>
                                    <m:sty m:val="p"/>
                                  </m:rPr>
                                  <a:rPr lang="zh-CN" altLang="en-US" i="0">
                                    <a:solidFill>
                                      <a:schemeClr val="tx1"/>
                                    </a:solidFill>
                                    <a:latin typeface="Cambria Math" panose="02040503050406030204" pitchFamily="18" charset="0"/>
                                  </a:rPr>
                                  <m:t>pz</m:t>
                                </m:r>
                              </m:e>
                            </m:mr>
                            <m:mr>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1</m:t>
                                </m:r>
                              </m:e>
                            </m:mr>
                          </m:m>
                        </m:e>
                      </m:d>
                      <m:r>
                        <a:rPr lang="en-US" altLang="zh-CN" smtClean="0">
                          <a:solidFill>
                            <a:schemeClr val="tx1"/>
                          </a:solidFill>
                          <a:latin typeface="Cambria Math" panose="02040503050406030204" pitchFamily="18" charset="0"/>
                        </a:rPr>
                        <m:t>=</m:t>
                      </m:r>
                      <m:d>
                        <m:dPr>
                          <m:ctrlPr>
                            <a:rPr lang="zh-CN" altLang="en-US" i="1">
                              <a:solidFill>
                                <a:schemeClr val="tx1"/>
                              </a:solidFill>
                              <a:latin typeface="Cambria Math" panose="02040503050406030204" pitchFamily="18" charset="0"/>
                            </a:rPr>
                          </m:ctrlPr>
                        </m:dPr>
                        <m:e>
                          <m:m>
                            <m:mPr>
                              <m:plcHide m:val="on"/>
                              <m:mcs>
                                <m:mc>
                                  <m:mcPr>
                                    <m:count m:val="4"/>
                                    <m:mcJc m:val="center"/>
                                  </m:mcPr>
                                </m:mc>
                              </m:mcs>
                              <m:ctrlPr>
                                <a:rPr lang="zh-CN" altLang="en-US" i="1">
                                  <a:solidFill>
                                    <a:schemeClr val="tx1"/>
                                  </a:solidFill>
                                  <a:latin typeface="Cambria Math" panose="02040503050406030204" pitchFamily="18" charset="0"/>
                                </a:rPr>
                              </m:ctrlPr>
                            </m:mPr>
                            <m:mr>
                              <m:e>
                                <m:r>
                                  <a:rPr lang="zh-CN" altLang="en-US">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4</m:t>
                                    </m:r>
                                  </m:sub>
                                </m:sSub>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5</m:t>
                                    </m:r>
                                  </m:sub>
                                </m:sSub>
                              </m:e>
                            </m:mr>
                            <m:mr>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3</m:t>
                                    </m:r>
                                  </m:sub>
                                </m:sSub>
                              </m:e>
                            </m:mr>
                            <m:mr>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e>
                              <m:e>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4</m:t>
                                    </m:r>
                                  </m:sub>
                                </m:sSub>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2</m:t>
                                        </m:r>
                                      </m:sub>
                                    </m:sSub>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e>
                                </m:d>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5</m:t>
                                    </m:r>
                                  </m:sub>
                                </m:sSub>
                              </m:e>
                            </m:mr>
                            <m:mr>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0</m:t>
                                </m:r>
                              </m:e>
                              <m:e>
                                <m:r>
                                  <a:rPr lang="zh-CN" altLang="en-US" i="0">
                                    <a:solidFill>
                                      <a:schemeClr val="tx1"/>
                                    </a:solidFill>
                                    <a:latin typeface="Cambria Math" panose="02040503050406030204" pitchFamily="18" charset="0"/>
                                  </a:rPr>
                                  <m:t>1</m:t>
                                </m:r>
                              </m:e>
                            </m:mr>
                          </m:m>
                        </m:e>
                      </m:d>
                    </m:oMath>
                  </m:oMathPara>
                </a14:m>
                <a:endParaRPr lang="zh-CN" altLang="en-US" dirty="0">
                  <a:solidFill>
                    <a:schemeClr val="tx1"/>
                  </a:solidFill>
                </a:endParaRPr>
              </a:p>
            </p:txBody>
          </p:sp>
        </mc:Choice>
        <mc:Fallback xmlns="">
          <p:sp>
            <p:nvSpPr>
              <p:cNvPr id="5" name="矩形 4">
                <a:extLst>
                  <a:ext uri="{FF2B5EF4-FFF2-40B4-BE49-F238E27FC236}">
                    <a16:creationId xmlns:a16="http://schemas.microsoft.com/office/drawing/2014/main" id="{F20D01FF-8236-4D1E-803D-6B767D539F59}"/>
                  </a:ext>
                </a:extLst>
              </p:cNvPr>
              <p:cNvSpPr>
                <a:spLocks noRot="1" noChangeAspect="1" noMove="1" noResize="1" noEditPoints="1" noAdjustHandles="1" noChangeArrowheads="1" noChangeShapeType="1" noTextEdit="1"/>
              </p:cNvSpPr>
              <p:nvPr/>
            </p:nvSpPr>
            <p:spPr>
              <a:xfrm>
                <a:off x="295882" y="3202766"/>
                <a:ext cx="10134185" cy="115679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F5D4BFB-8AA2-4496-B9D6-428813AEC8CD}"/>
                  </a:ext>
                </a:extLst>
              </p:cNvPr>
              <p:cNvSpPr/>
              <p:nvPr/>
            </p:nvSpPr>
            <p:spPr>
              <a:xfrm>
                <a:off x="0" y="872656"/>
                <a:ext cx="2773965" cy="954557"/>
              </a:xfrm>
              <a:prstGeom prst="rect">
                <a:avLst/>
              </a:prstGeom>
            </p:spPr>
            <p:txBody>
              <a:bodyPr wrap="none">
                <a:spAutoFit/>
              </a:bodyPr>
              <a:lstStyle/>
              <a:p>
                <a14:m>
                  <m:oMath xmlns:m="http://schemas.openxmlformats.org/officeDocument/2006/math">
                    <m:sPre>
                      <m:sPrePr>
                        <m:ctrlPr>
                          <a:rPr lang="en-US" altLang="zh-CN" sz="1500" i="1" smtClean="0">
                            <a:latin typeface="Cambria Math" panose="02040503050406030204" pitchFamily="18" charset="0"/>
                          </a:rPr>
                        </m:ctrlPr>
                      </m:sPrePr>
                      <m:sub>
                        <m:r>
                          <a:rPr lang="en-US" altLang="zh-CN" sz="1500" b="0" i="1" smtClean="0">
                            <a:latin typeface="Cambria Math" panose="02040503050406030204" pitchFamily="18" charset="0"/>
                          </a:rPr>
                          <m:t>6</m:t>
                        </m:r>
                      </m:sub>
                      <m:sup>
                        <m:r>
                          <a:rPr lang="en-US" altLang="zh-CN" sz="1500" b="0" i="1" smtClean="0">
                            <a:latin typeface="Cambria Math" panose="02040503050406030204" pitchFamily="18" charset="0"/>
                          </a:rPr>
                          <m:t>0</m:t>
                        </m:r>
                      </m:sup>
                      <m:e>
                        <m:r>
                          <a:rPr lang="en-US" altLang="zh-CN" sz="1500" b="0" i="1" smtClean="0">
                            <a:latin typeface="Cambria Math" panose="02040503050406030204" pitchFamily="18" charset="0"/>
                          </a:rPr>
                          <m:t>𝑇</m:t>
                        </m:r>
                      </m:e>
                    </m:sPre>
                    <m:r>
                      <a:rPr lang="en-US" altLang="zh-CN" sz="1500" smtClean="0">
                        <a:latin typeface="Cambria Math" panose="02040503050406030204" pitchFamily="18" charset="0"/>
                      </a:rPr>
                      <m:t>=</m:t>
                    </m:r>
                    <m:d>
                      <m:dPr>
                        <m:ctrlPr>
                          <a:rPr lang="zh-CN" altLang="en-US" sz="1500" i="1">
                            <a:latin typeface="Cambria Math" panose="02040503050406030204" pitchFamily="18" charset="0"/>
                          </a:rPr>
                        </m:ctrlPr>
                      </m:dPr>
                      <m:e>
                        <m:m>
                          <m:mPr>
                            <m:plcHide m:val="on"/>
                            <m:mcs>
                              <m:mc>
                                <m:mcPr>
                                  <m:count m:val="4"/>
                                  <m:mcJc m:val="center"/>
                                </m:mcPr>
                              </m:mc>
                            </m:mcs>
                            <m:ctrlPr>
                              <a:rPr lang="zh-CN" altLang="en-US" sz="1500" i="1">
                                <a:latin typeface="Cambria Math" panose="02040503050406030204" pitchFamily="18" charset="0"/>
                              </a:rPr>
                            </m:ctrlPr>
                          </m:mPr>
                          <m:mr>
                            <m:e>
                              <m:r>
                                <m:rPr>
                                  <m:sty m:val="p"/>
                                </m:rPr>
                                <a:rPr lang="zh-CN" altLang="en-US" sz="1500">
                                  <a:latin typeface="Cambria Math" panose="02040503050406030204" pitchFamily="18" charset="0"/>
                                </a:rPr>
                                <m:t>r</m:t>
                              </m:r>
                              <m:r>
                                <a:rPr lang="zh-CN" altLang="en-US" sz="1500">
                                  <a:latin typeface="Cambria Math" panose="02040503050406030204" pitchFamily="18" charset="0"/>
                                </a:rPr>
                                <m:t>11</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12</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13</m:t>
                              </m:r>
                            </m:e>
                            <m:e>
                              <m:r>
                                <m:rPr>
                                  <m:sty m:val="p"/>
                                </m:rPr>
                                <a:rPr lang="zh-CN" altLang="en-US" sz="1500" i="0">
                                  <a:latin typeface="Cambria Math" panose="02040503050406030204" pitchFamily="18" charset="0"/>
                                </a:rPr>
                                <m:t>px</m:t>
                              </m:r>
                            </m:e>
                          </m:mr>
                          <m:mr>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21</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22</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23</m:t>
                              </m:r>
                            </m:e>
                            <m:e>
                              <m:r>
                                <m:rPr>
                                  <m:sty m:val="p"/>
                                </m:rPr>
                                <a:rPr lang="zh-CN" altLang="en-US" sz="1500" i="0">
                                  <a:latin typeface="Cambria Math" panose="02040503050406030204" pitchFamily="18" charset="0"/>
                                </a:rPr>
                                <m:t>py</m:t>
                              </m:r>
                            </m:e>
                          </m:mr>
                          <m:mr>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31</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32</m:t>
                              </m:r>
                            </m:e>
                            <m:e>
                              <m:r>
                                <m:rPr>
                                  <m:sty m:val="p"/>
                                </m:rPr>
                                <a:rPr lang="zh-CN" altLang="en-US" sz="1500" i="0">
                                  <a:latin typeface="Cambria Math" panose="02040503050406030204" pitchFamily="18" charset="0"/>
                                </a:rPr>
                                <m:t>r</m:t>
                              </m:r>
                              <m:r>
                                <a:rPr lang="zh-CN" altLang="en-US" sz="1500" i="0">
                                  <a:latin typeface="Cambria Math" panose="02040503050406030204" pitchFamily="18" charset="0"/>
                                </a:rPr>
                                <m:t>33</m:t>
                              </m:r>
                            </m:e>
                            <m:e>
                              <m:r>
                                <m:rPr>
                                  <m:sty m:val="p"/>
                                </m:rPr>
                                <a:rPr lang="zh-CN" altLang="en-US" sz="1500" i="0">
                                  <a:latin typeface="Cambria Math" panose="02040503050406030204" pitchFamily="18" charset="0"/>
                                </a:rPr>
                                <m:t>pz</m:t>
                              </m:r>
                            </m:e>
                          </m:mr>
                          <m:mr>
                            <m:e>
                              <m:r>
                                <a:rPr lang="zh-CN" altLang="en-US" sz="1500" i="0">
                                  <a:latin typeface="Cambria Math" panose="02040503050406030204" pitchFamily="18" charset="0"/>
                                </a:rPr>
                                <m:t>0</m:t>
                              </m:r>
                            </m:e>
                            <m:e>
                              <m:r>
                                <a:rPr lang="zh-CN" altLang="en-US" sz="1500" i="0">
                                  <a:latin typeface="Cambria Math" panose="02040503050406030204" pitchFamily="18" charset="0"/>
                                </a:rPr>
                                <m:t>0</m:t>
                              </m:r>
                            </m:e>
                            <m:e>
                              <m:r>
                                <a:rPr lang="zh-CN" altLang="en-US" sz="1500" i="0">
                                  <a:latin typeface="Cambria Math" panose="02040503050406030204" pitchFamily="18" charset="0"/>
                                </a:rPr>
                                <m:t>0</m:t>
                              </m:r>
                            </m:e>
                            <m:e>
                              <m:r>
                                <a:rPr lang="zh-CN" altLang="en-US" sz="1500" i="0">
                                  <a:latin typeface="Cambria Math" panose="02040503050406030204" pitchFamily="18" charset="0"/>
                                </a:rPr>
                                <m:t>1</m:t>
                              </m:r>
                            </m:e>
                          </m:mr>
                        </m:m>
                      </m:e>
                    </m:d>
                  </m:oMath>
                </a14:m>
                <a:r>
                  <a:rPr lang="zh-CN" altLang="en-US" sz="1500" dirty="0"/>
                  <a:t>，</a:t>
                </a:r>
              </a:p>
            </p:txBody>
          </p:sp>
        </mc:Choice>
        <mc:Fallback xmlns="">
          <p:sp>
            <p:nvSpPr>
              <p:cNvPr id="6" name="矩形 5">
                <a:extLst>
                  <a:ext uri="{FF2B5EF4-FFF2-40B4-BE49-F238E27FC236}">
                    <a16:creationId xmlns:a16="http://schemas.microsoft.com/office/drawing/2014/main" id="{CF5D4BFB-8AA2-4496-B9D6-428813AEC8CD}"/>
                  </a:ext>
                </a:extLst>
              </p:cNvPr>
              <p:cNvSpPr>
                <a:spLocks noRot="1" noChangeAspect="1" noMove="1" noResize="1" noEditPoints="1" noAdjustHandles="1" noChangeArrowheads="1" noChangeShapeType="1" noTextEdit="1"/>
              </p:cNvSpPr>
              <p:nvPr/>
            </p:nvSpPr>
            <p:spPr>
              <a:xfrm>
                <a:off x="0" y="872656"/>
                <a:ext cx="2773965" cy="95455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816492D9-B502-4CA6-8C65-45A102424D6E}"/>
                  </a:ext>
                </a:extLst>
              </p:cNvPr>
              <p:cNvSpPr/>
              <p:nvPr/>
            </p:nvSpPr>
            <p:spPr>
              <a:xfrm>
                <a:off x="2622895" y="780419"/>
                <a:ext cx="9714600" cy="105894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Pre>
                        <m:sPrePr>
                          <m:ctrlPr>
                            <a:rPr lang="en-US" altLang="zh-CN" sz="1600" i="1" smtClean="0">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1</m:t>
                          </m:r>
                        </m:sub>
                        <m:sup>
                          <m:r>
                            <a:rPr lang="en-US" altLang="zh-CN" sz="1600">
                              <a:solidFill>
                                <a:schemeClr val="tx1"/>
                              </a:solidFill>
                              <a:latin typeface="Cambria Math" panose="02040503050406030204" pitchFamily="18" charset="0"/>
                            </a:rPr>
                            <m:t>0</m:t>
                          </m:r>
                        </m:sup>
                        <m:e>
                          <m:r>
                            <a:rPr lang="en-US" altLang="zh-CN" sz="1600">
                              <a:solidFill>
                                <a:schemeClr val="tx1"/>
                              </a:solidFill>
                              <a:latin typeface="Cambria Math" panose="02040503050406030204" pitchFamily="18" charset="0"/>
                            </a:rPr>
                            <m:t>𝑇</m:t>
                          </m:r>
                        </m:e>
                      </m:sPre>
                      <m:r>
                        <a:rPr lang="en-US" altLang="zh-CN" sz="1600">
                          <a:solidFill>
                            <a:schemeClr val="tx1"/>
                          </a:solidFill>
                          <a:latin typeface="Cambria Math" panose="02040503050406030204" pitchFamily="18" charset="0"/>
                          <a:ea typeface="Cambria Math" panose="02040503050406030204" pitchFamily="18" charset="0"/>
                        </a:rPr>
                        <m:t>∙</m:t>
                      </m:r>
                      <m:sPre>
                        <m:sPrePr>
                          <m:ctrlPr>
                            <a:rPr lang="en-US" altLang="zh-CN" sz="1600" i="1">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2</m:t>
                          </m:r>
                        </m:sub>
                        <m:sup>
                          <m:r>
                            <a:rPr lang="en-US" altLang="zh-CN" sz="1600">
                              <a:solidFill>
                                <a:schemeClr val="tx1"/>
                              </a:solidFill>
                              <a:latin typeface="Cambria Math" panose="02040503050406030204" pitchFamily="18" charset="0"/>
                            </a:rPr>
                            <m:t>1</m:t>
                          </m:r>
                        </m:sup>
                        <m:e>
                          <m:r>
                            <a:rPr lang="en-US" altLang="zh-CN" sz="1600">
                              <a:solidFill>
                                <a:schemeClr val="tx1"/>
                              </a:solidFill>
                              <a:latin typeface="Cambria Math" panose="02040503050406030204" pitchFamily="18" charset="0"/>
                            </a:rPr>
                            <m:t>𝑇</m:t>
                          </m:r>
                        </m:e>
                      </m:sPre>
                      <m:r>
                        <a:rPr lang="en-US" altLang="zh-CN" sz="1600" dirty="0">
                          <a:solidFill>
                            <a:schemeClr val="tx1"/>
                          </a:solidFill>
                          <a:latin typeface="Cambria Math" panose="02040503050406030204" pitchFamily="18" charset="0"/>
                          <a:ea typeface="Cambria Math" panose="02040503050406030204" pitchFamily="18" charset="0"/>
                        </a:rPr>
                        <m:t>∙</m:t>
                      </m:r>
                      <m:sPre>
                        <m:sPrePr>
                          <m:ctrlPr>
                            <a:rPr lang="en-US" altLang="zh-CN" sz="1600" i="1">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3</m:t>
                          </m:r>
                        </m:sub>
                        <m:sup>
                          <m:r>
                            <a:rPr lang="en-US" altLang="zh-CN" sz="1600">
                              <a:solidFill>
                                <a:schemeClr val="tx1"/>
                              </a:solidFill>
                              <a:latin typeface="Cambria Math" panose="02040503050406030204" pitchFamily="18" charset="0"/>
                            </a:rPr>
                            <m:t>2</m:t>
                          </m:r>
                        </m:sup>
                        <m:e>
                          <m:r>
                            <a:rPr lang="en-US" altLang="zh-CN" sz="1600">
                              <a:solidFill>
                                <a:schemeClr val="tx1"/>
                              </a:solidFill>
                              <a:latin typeface="Cambria Math" panose="02040503050406030204" pitchFamily="18" charset="0"/>
                            </a:rPr>
                            <m:t>𝑇</m:t>
                          </m:r>
                        </m:e>
                      </m:sPre>
                      <m:r>
                        <a:rPr lang="en-US" altLang="zh-CN" sz="1600" dirty="0">
                          <a:solidFill>
                            <a:schemeClr val="tx1"/>
                          </a:solidFill>
                          <a:latin typeface="Cambria Math" panose="02040503050406030204" pitchFamily="18" charset="0"/>
                          <a:ea typeface="Cambria Math" panose="02040503050406030204" pitchFamily="18" charset="0"/>
                        </a:rPr>
                        <m:t>∙</m:t>
                      </m:r>
                      <m:sPre>
                        <m:sPrePr>
                          <m:ctrlPr>
                            <a:rPr lang="en-US" altLang="zh-CN" sz="1600" i="1">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4</m:t>
                          </m:r>
                        </m:sub>
                        <m:sup>
                          <m:r>
                            <a:rPr lang="en-US" altLang="zh-CN" sz="1600">
                              <a:solidFill>
                                <a:schemeClr val="tx1"/>
                              </a:solidFill>
                              <a:latin typeface="Cambria Math" panose="02040503050406030204" pitchFamily="18" charset="0"/>
                            </a:rPr>
                            <m:t>3</m:t>
                          </m:r>
                        </m:sup>
                        <m:e>
                          <m:r>
                            <a:rPr lang="en-US" altLang="zh-CN" sz="1600">
                              <a:solidFill>
                                <a:schemeClr val="tx1"/>
                              </a:solidFill>
                              <a:latin typeface="Cambria Math" panose="02040503050406030204" pitchFamily="18" charset="0"/>
                            </a:rPr>
                            <m:t>𝑇</m:t>
                          </m:r>
                        </m:e>
                      </m:sPre>
                      <m:r>
                        <a:rPr lang="en-US" altLang="zh-CN" sz="1600" dirty="0">
                          <a:solidFill>
                            <a:schemeClr val="tx1"/>
                          </a:solidFill>
                          <a:latin typeface="Cambria Math" panose="02040503050406030204" pitchFamily="18" charset="0"/>
                          <a:ea typeface="Cambria Math" panose="02040503050406030204" pitchFamily="18" charset="0"/>
                        </a:rPr>
                        <m:t>∙</m:t>
                      </m:r>
                      <m:sPre>
                        <m:sPrePr>
                          <m:ctrlPr>
                            <a:rPr lang="en-US" altLang="zh-CN" sz="1600" i="1">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5</m:t>
                          </m:r>
                        </m:sub>
                        <m:sup>
                          <m:r>
                            <a:rPr lang="en-US" altLang="zh-CN" sz="1600">
                              <a:solidFill>
                                <a:schemeClr val="tx1"/>
                              </a:solidFill>
                              <a:latin typeface="Cambria Math" panose="02040503050406030204" pitchFamily="18" charset="0"/>
                            </a:rPr>
                            <m:t>4</m:t>
                          </m:r>
                        </m:sup>
                        <m:e>
                          <m:r>
                            <a:rPr lang="en-US" altLang="zh-CN" sz="1600">
                              <a:solidFill>
                                <a:schemeClr val="tx1"/>
                              </a:solidFill>
                              <a:latin typeface="Cambria Math" panose="02040503050406030204" pitchFamily="18" charset="0"/>
                            </a:rPr>
                            <m:t>𝑇</m:t>
                          </m:r>
                        </m:e>
                      </m:sPre>
                      <m:r>
                        <a:rPr lang="en-US" altLang="zh-CN" sz="1600" dirty="0">
                          <a:solidFill>
                            <a:schemeClr val="tx1"/>
                          </a:solidFill>
                          <a:latin typeface="Cambria Math" panose="02040503050406030204" pitchFamily="18" charset="0"/>
                          <a:ea typeface="Cambria Math" panose="02040503050406030204" pitchFamily="18" charset="0"/>
                        </a:rPr>
                        <m:t>∙</m:t>
                      </m:r>
                      <m:sPre>
                        <m:sPrePr>
                          <m:ctrlPr>
                            <a:rPr lang="en-US" altLang="zh-CN" sz="1600" i="1">
                              <a:solidFill>
                                <a:schemeClr val="tx1"/>
                              </a:solidFill>
                              <a:latin typeface="Cambria Math" panose="02040503050406030204" pitchFamily="18" charset="0"/>
                            </a:rPr>
                          </m:ctrlPr>
                        </m:sPrePr>
                        <m:sub>
                          <m:r>
                            <a:rPr lang="en-US" altLang="zh-CN" sz="1600">
                              <a:solidFill>
                                <a:schemeClr val="tx1"/>
                              </a:solidFill>
                              <a:latin typeface="Cambria Math" panose="02040503050406030204" pitchFamily="18" charset="0"/>
                            </a:rPr>
                            <m:t>6</m:t>
                          </m:r>
                        </m:sub>
                        <m:sup>
                          <m:r>
                            <a:rPr lang="en-US" altLang="zh-CN" sz="1600">
                              <a:solidFill>
                                <a:schemeClr val="tx1"/>
                              </a:solidFill>
                              <a:latin typeface="Cambria Math" panose="02040503050406030204" pitchFamily="18" charset="0"/>
                            </a:rPr>
                            <m:t>5</m:t>
                          </m:r>
                        </m:sup>
                        <m:e>
                          <m:r>
                            <a:rPr lang="en-US" altLang="zh-CN" sz="1600">
                              <a:solidFill>
                                <a:schemeClr val="tx1"/>
                              </a:solidFill>
                              <a:latin typeface="Cambria Math" panose="02040503050406030204" pitchFamily="18" charset="0"/>
                            </a:rPr>
                            <m:t>𝑇</m:t>
                          </m:r>
                        </m:e>
                      </m:sPre>
                      <m:r>
                        <a:rPr lang="en-US" altLang="zh-CN" sz="1600">
                          <a:solidFill>
                            <a:schemeClr val="tx1"/>
                          </a:solidFill>
                          <a:latin typeface="Cambria Math" panose="02040503050406030204" pitchFamily="18" charset="0"/>
                        </a:rPr>
                        <m:t>=</m:t>
                      </m:r>
                      <m:d>
                        <m:dPr>
                          <m:ctrlPr>
                            <a:rPr lang="zh-CN" altLang="en-US" sz="1600" i="1">
                              <a:solidFill>
                                <a:schemeClr val="tx1"/>
                              </a:solidFill>
                              <a:latin typeface="Cambria Math" panose="02040503050406030204" pitchFamily="18" charset="0"/>
                            </a:rPr>
                          </m:ctrlPr>
                        </m:dPr>
                        <m:e>
                          <m:m>
                            <m:mPr>
                              <m:plcHide m:val="on"/>
                              <m:mcs>
                                <m:mc>
                                  <m:mcPr>
                                    <m:count m:val="4"/>
                                    <m:mcJc m:val="center"/>
                                  </m:mcPr>
                                </m:mc>
                              </m:mcs>
                              <m:ctrlPr>
                                <a:rPr lang="zh-CN" altLang="en-US" sz="1600" i="1">
                                  <a:solidFill>
                                    <a:schemeClr val="tx1"/>
                                  </a:solidFill>
                                  <a:latin typeface="Cambria Math" panose="02040503050406030204" pitchFamily="18" charset="0"/>
                                </a:rPr>
                              </m:ctrlPr>
                            </m:mPr>
                            <m:mr>
                              <m:e>
                                <m:r>
                                  <a:rPr lang="zh-CN" altLang="en-US" sz="160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1</m:t>
                                        </m:r>
                                      </m:sub>
                                    </m:sSub>
                                  </m:e>
                                </m:d>
                                <m:r>
                                  <a:rPr lang="zh-CN" altLang="en-US" sz="1600" i="0">
                                    <a:solidFill>
                                      <a:schemeClr val="tx1"/>
                                    </a:solidFill>
                                    <a:latin typeface="Cambria Math" panose="02040503050406030204" pitchFamily="18" charset="0"/>
                                  </a:rPr>
                                  <m:t>⁢</m:t>
                                </m:r>
                                <m:sSub>
                                  <m:sSubPr>
                                    <m:ctrlPr>
                                      <a:rPr lang="zh-CN" altLang="en-US" sz="1600" i="1" smtClean="0">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3</m:t>
                                    </m:r>
                                  </m:sub>
                                </m:sSub>
                                <m:r>
                                  <a:rPr lang="zh-CN" altLang="en-US" sz="1600" i="0">
                                    <a:solidFill>
                                      <a:schemeClr val="tx1"/>
                                    </a:solidFill>
                                    <a:latin typeface="Cambria Math" panose="02040503050406030204" pitchFamily="18" charset="0"/>
                                  </a:rPr>
                                  <m:t>+</m:t>
                                </m:r>
                                <m:d>
                                  <m:dPr>
                                    <m:begChr m:val=""/>
                                    <m:endChr m:val="]"/>
                                    <m:ctrlPr>
                                      <a:rPr lang="zh-CN" altLang="en-US" sz="1600" i="1" smtClean="0">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1</m:t>
                                        </m:r>
                                      </m:sub>
                                    </m:sSub>
                                  </m:e>
                                </m:d>
                                <m:r>
                                  <a:rPr lang="zh-CN" altLang="en-US" sz="1600" i="0">
                                    <a:solidFill>
                                      <a:schemeClr val="tx1"/>
                                    </a:solidFill>
                                    <a:latin typeface="Cambria Math" panose="02040503050406030204" pitchFamily="18" charset="0"/>
                                  </a:rPr>
                                  <m:t>⁢</m:t>
                                </m:r>
                                <m:d>
                                  <m:dPr>
                                    <m:ctrlPr>
                                      <a:rPr lang="zh-CN" altLang="en-US" sz="1600" i="1" smtClean="0">
                                        <a:solidFill>
                                          <a:schemeClr val="tx1"/>
                                        </a:solidFill>
                                        <a:latin typeface="Cambria Math" panose="02040503050406030204" pitchFamily="18" charset="0"/>
                                      </a:rPr>
                                    </m:ctrlPr>
                                  </m:dPr>
                                  <m:e>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4</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5</m:t>
                                        </m:r>
                                      </m:sub>
                                    </m:sSub>
                                  </m:e>
                                </m:d>
                              </m:e>
                            </m:mr>
                            <m:mr>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1</m:t>
                                        </m:r>
                                      </m:sub>
                                    </m:sSub>
                                  </m:e>
                                </m:d>
                                <m:r>
                                  <a:rPr lang="zh-CN" altLang="en-US" sz="1600" i="0">
                                    <a:solidFill>
                                      <a:schemeClr val="tx1"/>
                                    </a:solidFill>
                                    <a:latin typeface="Cambria Math" panose="02040503050406030204" pitchFamily="18" charset="0"/>
                                  </a:rPr>
                                  <m:t>⁢</m:t>
                                </m:r>
                                <m:sSub>
                                  <m:sSubPr>
                                    <m:ctrlPr>
                                      <a:rPr lang="zh-CN" altLang="en-US" sz="1600" i="1" smtClean="0">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3</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1</m:t>
                                        </m:r>
                                      </m:sub>
                                    </m:sSub>
                                  </m:e>
                                </m:d>
                                <m:r>
                                  <a:rPr lang="zh-CN" altLang="en-US" sz="1600" i="0">
                                    <a:solidFill>
                                      <a:schemeClr val="tx1"/>
                                    </a:solidFill>
                                    <a:latin typeface="Cambria Math" panose="02040503050406030204" pitchFamily="18" charset="0"/>
                                  </a:rPr>
                                  <m:t>⁢</m:t>
                                </m:r>
                                <m:d>
                                  <m:dPr>
                                    <m:ctrlPr>
                                      <a:rPr lang="zh-CN" altLang="en-US" sz="1600" i="1" smtClean="0">
                                        <a:solidFill>
                                          <a:schemeClr val="tx1"/>
                                        </a:solidFill>
                                        <a:latin typeface="Cambria Math" panose="02040503050406030204" pitchFamily="18" charset="0"/>
                                      </a:rPr>
                                    </m:ctrlPr>
                                  </m:dPr>
                                  <m:e>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4</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5</m:t>
                                        </m:r>
                                      </m:sub>
                                    </m:sSub>
                                  </m:e>
                                </m:d>
                              </m:e>
                            </m:mr>
                            <m:mr>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e>
                              <m:e>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Sin</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4</m:t>
                                    </m:r>
                                  </m:sub>
                                </m:sSub>
                                <m:r>
                                  <a:rPr lang="zh-CN" altLang="en-US" sz="1600" i="0">
                                    <a:solidFill>
                                      <a:schemeClr val="tx1"/>
                                    </a:solidFill>
                                    <a:latin typeface="Cambria Math" panose="02040503050406030204" pitchFamily="18" charset="0"/>
                                  </a:rPr>
                                  <m:t>−</m:t>
                                </m:r>
                                <m:d>
                                  <m:dPr>
                                    <m:begChr m:val=""/>
                                    <m:endChr m:val="]"/>
                                    <m:ctrlPr>
                                      <a:rPr lang="zh-CN" altLang="en-US" sz="1600" i="1">
                                        <a:solidFill>
                                          <a:schemeClr val="tx1"/>
                                        </a:solidFill>
                                        <a:latin typeface="Cambria Math" panose="02040503050406030204" pitchFamily="18" charset="0"/>
                                      </a:rPr>
                                    </m:ctrlPr>
                                  </m:dPr>
                                  <m:e>
                                    <m:r>
                                      <m:rPr>
                                        <m:sty m:val="p"/>
                                      </m:rPr>
                                      <a:rPr lang="zh-CN" altLang="en-US" sz="1600" i="0">
                                        <a:solidFill>
                                          <a:schemeClr val="tx1"/>
                                        </a:solidFill>
                                        <a:latin typeface="Cambria Math" panose="02040503050406030204" pitchFamily="18" charset="0"/>
                                      </a:rPr>
                                      <m:t>Cos</m:t>
                                    </m:r>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2</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𝜃</m:t>
                                        </m:r>
                                      </m:e>
                                      <m:sub>
                                        <m:r>
                                          <a:rPr lang="zh-CN" altLang="en-US" sz="1600" i="0">
                                            <a:solidFill>
                                              <a:schemeClr val="tx1"/>
                                            </a:solidFill>
                                            <a:latin typeface="Cambria Math" panose="02040503050406030204" pitchFamily="18" charset="0"/>
                                          </a:rPr>
                                          <m:t>3</m:t>
                                        </m:r>
                                      </m:sub>
                                    </m:sSub>
                                  </m:e>
                                </m:d>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𝐿</m:t>
                                    </m:r>
                                  </m:e>
                                  <m:sub>
                                    <m:r>
                                      <a:rPr lang="zh-CN" altLang="en-US" sz="1600" i="0">
                                        <a:solidFill>
                                          <a:schemeClr val="tx1"/>
                                        </a:solidFill>
                                        <a:latin typeface="Cambria Math" panose="02040503050406030204" pitchFamily="18" charset="0"/>
                                      </a:rPr>
                                      <m:t>5</m:t>
                                    </m:r>
                                  </m:sub>
                                </m:sSub>
                              </m:e>
                            </m:mr>
                            <m:mr>
                              <m:e>
                                <m:r>
                                  <a:rPr lang="zh-CN" altLang="en-US" sz="1600" i="0">
                                    <a:solidFill>
                                      <a:schemeClr val="tx1"/>
                                    </a:solidFill>
                                    <a:latin typeface="Cambria Math" panose="02040503050406030204" pitchFamily="18" charset="0"/>
                                  </a:rPr>
                                  <m:t>0</m:t>
                                </m:r>
                              </m:e>
                              <m:e>
                                <m:r>
                                  <a:rPr lang="zh-CN" altLang="en-US" sz="1600" i="0">
                                    <a:solidFill>
                                      <a:schemeClr val="tx1"/>
                                    </a:solidFill>
                                    <a:latin typeface="Cambria Math" panose="02040503050406030204" pitchFamily="18" charset="0"/>
                                  </a:rPr>
                                  <m:t>0</m:t>
                                </m:r>
                              </m:e>
                              <m:e>
                                <m:r>
                                  <a:rPr lang="zh-CN" altLang="en-US" sz="1600" i="0">
                                    <a:solidFill>
                                      <a:schemeClr val="tx1"/>
                                    </a:solidFill>
                                    <a:latin typeface="Cambria Math" panose="02040503050406030204" pitchFamily="18" charset="0"/>
                                  </a:rPr>
                                  <m:t>0</m:t>
                                </m:r>
                              </m:e>
                              <m:e>
                                <m:r>
                                  <a:rPr lang="zh-CN" altLang="en-US" sz="1600" i="0">
                                    <a:solidFill>
                                      <a:schemeClr val="tx1"/>
                                    </a:solidFill>
                                    <a:latin typeface="Cambria Math" panose="02040503050406030204" pitchFamily="18" charset="0"/>
                                  </a:rPr>
                                  <m:t>1</m:t>
                                </m:r>
                              </m:e>
                            </m:mr>
                          </m:m>
                        </m:e>
                      </m:d>
                    </m:oMath>
                  </m:oMathPara>
                </a14:m>
                <a:endParaRPr lang="zh-CN" altLang="en-US" sz="1600" dirty="0">
                  <a:solidFill>
                    <a:schemeClr val="tx1"/>
                  </a:solidFill>
                </a:endParaRPr>
              </a:p>
            </p:txBody>
          </p:sp>
        </mc:Choice>
        <mc:Fallback xmlns="">
          <p:sp>
            <p:nvSpPr>
              <p:cNvPr id="7" name="矩形 6">
                <a:extLst>
                  <a:ext uri="{FF2B5EF4-FFF2-40B4-BE49-F238E27FC236}">
                    <a16:creationId xmlns:a16="http://schemas.microsoft.com/office/drawing/2014/main" id="{816492D9-B502-4CA6-8C65-45A102424D6E}"/>
                  </a:ext>
                </a:extLst>
              </p:cNvPr>
              <p:cNvSpPr>
                <a:spLocks noRot="1" noChangeAspect="1" noMove="1" noResize="1" noEditPoints="1" noAdjustHandles="1" noChangeArrowheads="1" noChangeShapeType="1" noTextEdit="1"/>
              </p:cNvSpPr>
              <p:nvPr/>
            </p:nvSpPr>
            <p:spPr>
              <a:xfrm>
                <a:off x="2622895" y="780419"/>
                <a:ext cx="9714600" cy="105894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C710F93-C1BF-4405-A38F-605291A10C84}"/>
                  </a:ext>
                </a:extLst>
              </p:cNvPr>
              <p:cNvSpPr/>
              <p:nvPr/>
            </p:nvSpPr>
            <p:spPr>
              <a:xfrm>
                <a:off x="260806" y="1913177"/>
                <a:ext cx="4022159" cy="11514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CN" i="1" smtClean="0">
                              <a:latin typeface="Cambria Math" panose="02040503050406030204" pitchFamily="18" charset="0"/>
                            </a:rPr>
                          </m:ctrlPr>
                        </m:sPrePr>
                        <m:sub>
                          <m:r>
                            <a:rPr lang="en-US" altLang="zh-CN">
                              <a:latin typeface="Cambria Math" panose="02040503050406030204" pitchFamily="18" charset="0"/>
                            </a:rPr>
                            <m:t>1</m:t>
                          </m:r>
                        </m:sub>
                        <m:sup>
                          <m:r>
                            <a:rPr lang="en-US" altLang="zh-CN">
                              <a:latin typeface="Cambria Math" panose="02040503050406030204" pitchFamily="18" charset="0"/>
                            </a:rPr>
                            <m:t>0</m:t>
                          </m:r>
                        </m:sup>
                        <m:e>
                          <m:r>
                            <a:rPr lang="en-US" altLang="zh-CN">
                              <a:latin typeface="Cambria Math" panose="02040503050406030204" pitchFamily="18" charset="0"/>
                            </a:rPr>
                            <m:t>𝑇</m:t>
                          </m:r>
                        </m:e>
                      </m:sPre>
                      <m:r>
                        <a:rPr lang="en-US" altLang="zh-CN" b="0" i="1" smtClean="0">
                          <a:latin typeface="Cambria Math" panose="02040503050406030204" pitchFamily="18" charset="0"/>
                        </a:rPr>
                        <m:t>=</m:t>
                      </m:r>
                      <m:d>
                        <m:dPr>
                          <m:ctrlPr>
                            <a:rPr lang="zh-CN" altLang="en-US" i="1">
                              <a:latin typeface="Cambria Math" panose="02040503050406030204" pitchFamily="18" charset="0"/>
                            </a:rPr>
                          </m:ctrlPr>
                        </m:dPr>
                        <m:e>
                          <m:m>
                            <m:mPr>
                              <m:plcHide m:val="on"/>
                              <m:mcs>
                                <m:mc>
                                  <m:mcPr>
                                    <m:count m:val="4"/>
                                    <m:mcJc m:val="center"/>
                                  </m:mcPr>
                                </m:mc>
                              </m:mcs>
                              <m:ctrlPr>
                                <a:rPr lang="zh-CN" altLang="en-US" i="1">
                                  <a:latin typeface="Cambria Math" panose="02040503050406030204" pitchFamily="18" charset="0"/>
                                </a:rPr>
                              </m:ctrlPr>
                            </m:mPr>
                            <m:mr>
                              <m:e>
                                <m:d>
                                  <m:dPr>
                                    <m:begChr m:val=""/>
                                    <m:endChr m:val="]"/>
                                    <m:ctrlPr>
                                      <a:rPr lang="zh-CN" altLang="en-US" i="1">
                                        <a:latin typeface="Cambria Math" panose="02040503050406030204" pitchFamily="18" charset="0"/>
                                      </a:rPr>
                                    </m:ctrlPr>
                                  </m:dPr>
                                  <m:e>
                                    <m:r>
                                      <m:rPr>
                                        <m:sty m:val="p"/>
                                      </m:rPr>
                                      <a:rPr lang="zh-CN" altLang="en-US">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e>
                              <m:e>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e>
                              <m:e>
                                <m:r>
                                  <a:rPr lang="zh-CN" altLang="en-US" i="0">
                                    <a:latin typeface="Cambria Math" panose="02040503050406030204" pitchFamily="18" charset="0"/>
                                  </a:rPr>
                                  <m:t>0</m:t>
                                </m:r>
                              </m:e>
                              <m:e>
                                <m:r>
                                  <a:rPr lang="zh-CN" altLang="en-US" i="0">
                                    <a:latin typeface="Cambria Math" panose="02040503050406030204" pitchFamily="18" charset="0"/>
                                  </a:rPr>
                                  <m:t>0</m:t>
                                </m:r>
                              </m:e>
                            </m:mr>
                            <m:mr>
                              <m:e>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e>
                              <m:e>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e>
                              <m:e>
                                <m:r>
                                  <a:rPr lang="zh-CN" altLang="en-US" i="0">
                                    <a:latin typeface="Cambria Math" panose="02040503050406030204" pitchFamily="18" charset="0"/>
                                  </a:rPr>
                                  <m:t>0</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8" name="矩形 7">
                <a:extLst>
                  <a:ext uri="{FF2B5EF4-FFF2-40B4-BE49-F238E27FC236}">
                    <a16:creationId xmlns:a16="http://schemas.microsoft.com/office/drawing/2014/main" id="{EC710F93-C1BF-4405-A38F-605291A10C84}"/>
                  </a:ext>
                </a:extLst>
              </p:cNvPr>
              <p:cNvSpPr>
                <a:spLocks noRot="1" noChangeAspect="1" noMove="1" noResize="1" noEditPoints="1" noAdjustHandles="1" noChangeArrowheads="1" noChangeShapeType="1" noTextEdit="1"/>
              </p:cNvSpPr>
              <p:nvPr/>
            </p:nvSpPr>
            <p:spPr>
              <a:xfrm>
                <a:off x="260806" y="1913177"/>
                <a:ext cx="4022159" cy="115146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FBAEC41E-C507-468D-A879-839A865F76FD}"/>
                  </a:ext>
                </a:extLst>
              </p:cNvPr>
              <p:cNvSpPr/>
              <p:nvPr/>
            </p:nvSpPr>
            <p:spPr>
              <a:xfrm>
                <a:off x="4282965" y="2241170"/>
                <a:ext cx="3384837" cy="3815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sPre>
                            <m:sPrePr>
                              <m:ctrlPr>
                                <a:rPr lang="en-US" altLang="zh-CN" i="1">
                                  <a:latin typeface="Cambria Math" panose="02040503050406030204" pitchFamily="18" charset="0"/>
                                </a:rPr>
                              </m:ctrlPr>
                            </m:sPrePr>
                            <m:sub>
                              <m:r>
                                <a:rPr lang="en-US" altLang="zh-CN">
                                  <a:latin typeface="Cambria Math" panose="02040503050406030204" pitchFamily="18" charset="0"/>
                                </a:rPr>
                                <m:t>1</m:t>
                              </m:r>
                            </m:sub>
                            <m:sup>
                              <m:r>
                                <a:rPr lang="en-US" altLang="zh-CN">
                                  <a:latin typeface="Cambria Math" panose="02040503050406030204" pitchFamily="18" charset="0"/>
                                </a:rPr>
                                <m:t>0</m:t>
                              </m:r>
                            </m:sup>
                            <m:e>
                              <m:r>
                                <a:rPr lang="en-US" altLang="zh-CN">
                                  <a:latin typeface="Cambria Math" panose="02040503050406030204" pitchFamily="18" charset="0"/>
                                </a:rPr>
                                <m:t>𝑇</m:t>
                              </m:r>
                            </m:e>
                          </m:sPre>
                        </m:e>
                        <m:sup>
                          <m:r>
                            <a:rPr lang="en-US" altLang="zh-CN">
                              <a:latin typeface="Cambria Math" panose="02040503050406030204" pitchFamily="18" charset="0"/>
                            </a:rPr>
                            <m:t>−1</m:t>
                          </m:r>
                        </m:sup>
                      </m:sSup>
                      <m:r>
                        <a:rPr lang="en-US" altLang="zh-CN" dirty="0">
                          <a:latin typeface="Cambria Math" panose="02040503050406030204" pitchFamily="18" charset="0"/>
                          <a:ea typeface="Cambria Math" panose="02040503050406030204" pitchFamily="18" charset="0"/>
                        </a:rPr>
                        <m:t>∙</m:t>
                      </m:r>
                      <m:sPre>
                        <m:sPrePr>
                          <m:ctrlPr>
                            <a:rPr lang="en-US" altLang="zh-CN" i="1" smtClean="0">
                              <a:latin typeface="Cambria Math" panose="02040503050406030204" pitchFamily="18" charset="0"/>
                            </a:rPr>
                          </m:ctrlPr>
                        </m:sPrePr>
                        <m:sub>
                          <m:r>
                            <a:rPr lang="en-US" altLang="zh-CN">
                              <a:latin typeface="Cambria Math" panose="02040503050406030204" pitchFamily="18" charset="0"/>
                            </a:rPr>
                            <m:t>6</m:t>
                          </m:r>
                        </m:sub>
                        <m:sup>
                          <m:r>
                            <a:rPr lang="en-US" altLang="zh-CN">
                              <a:latin typeface="Cambria Math" panose="02040503050406030204" pitchFamily="18" charset="0"/>
                            </a:rPr>
                            <m:t>0</m:t>
                          </m:r>
                        </m:sup>
                        <m:e>
                          <m:r>
                            <a:rPr lang="en-US" altLang="zh-CN">
                              <a:latin typeface="Cambria Math" panose="02040503050406030204" pitchFamily="18" charset="0"/>
                            </a:rPr>
                            <m:t>𝑇</m:t>
                          </m:r>
                        </m:e>
                      </m:sPre>
                      <m:r>
                        <a:rPr lang="en-US" altLang="zh-CN" b="0" i="1" smtClean="0">
                          <a:latin typeface="Cambria Math" panose="02040503050406030204" pitchFamily="18" charset="0"/>
                        </a:rPr>
                        <m:t>=</m:t>
                      </m:r>
                      <m:sPre>
                        <m:sPrePr>
                          <m:ctrlPr>
                            <a:rPr lang="en-US" altLang="zh-CN" i="1">
                              <a:latin typeface="Cambria Math" panose="02040503050406030204" pitchFamily="18" charset="0"/>
                            </a:rPr>
                          </m:ctrlPr>
                        </m:sPrePr>
                        <m:sub>
                          <m:r>
                            <a:rPr lang="en-US" altLang="zh-CN">
                              <a:latin typeface="Cambria Math" panose="02040503050406030204" pitchFamily="18" charset="0"/>
                            </a:rPr>
                            <m:t>2</m:t>
                          </m:r>
                        </m:sub>
                        <m:sup>
                          <m:r>
                            <a:rPr lang="en-US" altLang="zh-CN">
                              <a:latin typeface="Cambria Math" panose="02040503050406030204" pitchFamily="18" charset="0"/>
                            </a:rPr>
                            <m:t>1</m:t>
                          </m:r>
                        </m:sup>
                        <m:e>
                          <m:r>
                            <a:rPr lang="en-US" altLang="zh-CN">
                              <a:latin typeface="Cambria Math" panose="02040503050406030204" pitchFamily="18" charset="0"/>
                            </a:rPr>
                            <m:t>𝑇</m:t>
                          </m:r>
                        </m:e>
                      </m:sPre>
                      <m:r>
                        <a:rPr lang="en-US" altLang="zh-CN" dirty="0">
                          <a:latin typeface="Cambria Math" panose="02040503050406030204" pitchFamily="18" charset="0"/>
                          <a:ea typeface="Cambria Math" panose="02040503050406030204" pitchFamily="18" charset="0"/>
                        </a:rPr>
                        <m:t>∙</m:t>
                      </m:r>
                      <m:sPre>
                        <m:sPrePr>
                          <m:ctrlPr>
                            <a:rPr lang="en-US" altLang="zh-CN" i="1">
                              <a:latin typeface="Cambria Math" panose="02040503050406030204" pitchFamily="18" charset="0"/>
                            </a:rPr>
                          </m:ctrlPr>
                        </m:sPrePr>
                        <m:sub>
                          <m:r>
                            <a:rPr lang="en-US" altLang="zh-CN">
                              <a:latin typeface="Cambria Math" panose="02040503050406030204" pitchFamily="18" charset="0"/>
                            </a:rPr>
                            <m:t>3</m:t>
                          </m:r>
                        </m:sub>
                        <m:sup>
                          <m:r>
                            <a:rPr lang="en-US" altLang="zh-CN">
                              <a:latin typeface="Cambria Math" panose="02040503050406030204" pitchFamily="18" charset="0"/>
                            </a:rPr>
                            <m:t>2</m:t>
                          </m:r>
                        </m:sup>
                        <m:e>
                          <m:r>
                            <a:rPr lang="en-US" altLang="zh-CN">
                              <a:latin typeface="Cambria Math" panose="02040503050406030204" pitchFamily="18" charset="0"/>
                            </a:rPr>
                            <m:t>𝑇</m:t>
                          </m:r>
                        </m:e>
                      </m:sPre>
                      <m:r>
                        <a:rPr lang="en-US" altLang="zh-CN" dirty="0">
                          <a:latin typeface="Cambria Math" panose="02040503050406030204" pitchFamily="18" charset="0"/>
                          <a:ea typeface="Cambria Math" panose="02040503050406030204" pitchFamily="18" charset="0"/>
                        </a:rPr>
                        <m:t>∙</m:t>
                      </m:r>
                      <m:sPre>
                        <m:sPrePr>
                          <m:ctrlPr>
                            <a:rPr lang="en-US" altLang="zh-CN" i="1">
                              <a:latin typeface="Cambria Math" panose="02040503050406030204" pitchFamily="18" charset="0"/>
                            </a:rPr>
                          </m:ctrlPr>
                        </m:sPrePr>
                        <m:sub>
                          <m:r>
                            <a:rPr lang="en-US" altLang="zh-CN">
                              <a:latin typeface="Cambria Math" panose="02040503050406030204" pitchFamily="18" charset="0"/>
                            </a:rPr>
                            <m:t>4</m:t>
                          </m:r>
                        </m:sub>
                        <m:sup>
                          <m:r>
                            <a:rPr lang="en-US" altLang="zh-CN">
                              <a:latin typeface="Cambria Math" panose="02040503050406030204" pitchFamily="18" charset="0"/>
                            </a:rPr>
                            <m:t>3</m:t>
                          </m:r>
                        </m:sup>
                        <m:e>
                          <m:r>
                            <a:rPr lang="en-US" altLang="zh-CN">
                              <a:latin typeface="Cambria Math" panose="02040503050406030204" pitchFamily="18" charset="0"/>
                            </a:rPr>
                            <m:t>𝑇</m:t>
                          </m:r>
                        </m:e>
                      </m:sPre>
                      <m:r>
                        <a:rPr lang="en-US" altLang="zh-CN" dirty="0">
                          <a:latin typeface="Cambria Math" panose="02040503050406030204" pitchFamily="18" charset="0"/>
                          <a:ea typeface="Cambria Math" panose="02040503050406030204" pitchFamily="18" charset="0"/>
                        </a:rPr>
                        <m:t>∙</m:t>
                      </m:r>
                      <m:sPre>
                        <m:sPrePr>
                          <m:ctrlPr>
                            <a:rPr lang="en-US" altLang="zh-CN" i="1">
                              <a:latin typeface="Cambria Math" panose="02040503050406030204" pitchFamily="18" charset="0"/>
                            </a:rPr>
                          </m:ctrlPr>
                        </m:sPrePr>
                        <m:sub>
                          <m:r>
                            <a:rPr lang="en-US" altLang="zh-CN">
                              <a:latin typeface="Cambria Math" panose="02040503050406030204" pitchFamily="18" charset="0"/>
                            </a:rPr>
                            <m:t>5</m:t>
                          </m:r>
                        </m:sub>
                        <m:sup>
                          <m:r>
                            <a:rPr lang="en-US" altLang="zh-CN">
                              <a:latin typeface="Cambria Math" panose="02040503050406030204" pitchFamily="18" charset="0"/>
                            </a:rPr>
                            <m:t>4</m:t>
                          </m:r>
                        </m:sup>
                        <m:e>
                          <m:r>
                            <a:rPr lang="en-US" altLang="zh-CN">
                              <a:latin typeface="Cambria Math" panose="02040503050406030204" pitchFamily="18" charset="0"/>
                            </a:rPr>
                            <m:t>𝑇</m:t>
                          </m:r>
                        </m:e>
                      </m:sPre>
                      <m:r>
                        <a:rPr lang="en-US" altLang="zh-CN" dirty="0">
                          <a:latin typeface="Cambria Math" panose="02040503050406030204" pitchFamily="18" charset="0"/>
                          <a:ea typeface="Cambria Math" panose="02040503050406030204" pitchFamily="18" charset="0"/>
                        </a:rPr>
                        <m:t>∙</m:t>
                      </m:r>
                      <m:sPre>
                        <m:sPrePr>
                          <m:ctrlPr>
                            <a:rPr lang="en-US" altLang="zh-CN" i="1">
                              <a:latin typeface="Cambria Math" panose="02040503050406030204" pitchFamily="18" charset="0"/>
                            </a:rPr>
                          </m:ctrlPr>
                        </m:sPrePr>
                        <m:sub>
                          <m:r>
                            <a:rPr lang="en-US" altLang="zh-CN">
                              <a:latin typeface="Cambria Math" panose="02040503050406030204" pitchFamily="18" charset="0"/>
                            </a:rPr>
                            <m:t>6</m:t>
                          </m:r>
                        </m:sub>
                        <m:sup>
                          <m:r>
                            <a:rPr lang="en-US" altLang="zh-CN">
                              <a:latin typeface="Cambria Math" panose="02040503050406030204" pitchFamily="18" charset="0"/>
                            </a:rPr>
                            <m:t>5</m:t>
                          </m:r>
                        </m:sup>
                        <m:e>
                          <m:r>
                            <a:rPr lang="en-US" altLang="zh-CN">
                              <a:latin typeface="Cambria Math" panose="02040503050406030204" pitchFamily="18" charset="0"/>
                            </a:rPr>
                            <m:t>𝑇</m:t>
                          </m:r>
                        </m:e>
                      </m:sPre>
                    </m:oMath>
                  </m:oMathPara>
                </a14:m>
                <a:endParaRPr lang="zh-CN" altLang="en-US" dirty="0"/>
              </a:p>
            </p:txBody>
          </p:sp>
        </mc:Choice>
        <mc:Fallback xmlns="">
          <p:sp>
            <p:nvSpPr>
              <p:cNvPr id="11" name="矩形 10">
                <a:extLst>
                  <a:ext uri="{FF2B5EF4-FFF2-40B4-BE49-F238E27FC236}">
                    <a16:creationId xmlns:a16="http://schemas.microsoft.com/office/drawing/2014/main" id="{FBAEC41E-C507-468D-A879-839A865F76FD}"/>
                  </a:ext>
                </a:extLst>
              </p:cNvPr>
              <p:cNvSpPr>
                <a:spLocks noRot="1" noChangeAspect="1" noMove="1" noResize="1" noEditPoints="1" noAdjustHandles="1" noChangeArrowheads="1" noChangeShapeType="1" noTextEdit="1"/>
              </p:cNvSpPr>
              <p:nvPr/>
            </p:nvSpPr>
            <p:spPr>
              <a:xfrm>
                <a:off x="4282965" y="2241170"/>
                <a:ext cx="3384837" cy="381515"/>
              </a:xfrm>
              <a:prstGeom prst="rect">
                <a:avLst/>
              </a:prstGeom>
              <a:blipFill>
                <a:blip r:embed="rId8"/>
                <a:stretch>
                  <a:fillRect b="-3226"/>
                </a:stretch>
              </a:blipFill>
            </p:spPr>
            <p:txBody>
              <a:bodyPr/>
              <a:lstStyle/>
              <a:p>
                <a:r>
                  <a:rPr lang="zh-CN" altLang="en-US">
                    <a:noFill/>
                  </a:rPr>
                  <a:t> </a:t>
                </a:r>
              </a:p>
            </p:txBody>
          </p:sp>
        </mc:Fallback>
      </mc:AlternateContent>
      <p:sp>
        <p:nvSpPr>
          <p:cNvPr id="12" name="矩形: 圆角 11">
            <a:extLst>
              <a:ext uri="{FF2B5EF4-FFF2-40B4-BE49-F238E27FC236}">
                <a16:creationId xmlns:a16="http://schemas.microsoft.com/office/drawing/2014/main" id="{DA5C70C9-D271-47E3-811E-980ABF3C8C15}"/>
              </a:ext>
            </a:extLst>
          </p:cNvPr>
          <p:cNvSpPr/>
          <p:nvPr/>
        </p:nvSpPr>
        <p:spPr>
          <a:xfrm>
            <a:off x="1666553" y="3568925"/>
            <a:ext cx="2238040" cy="28111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523C68B4-4650-4481-8BD2-04B399036819}"/>
              </a:ext>
            </a:extLst>
          </p:cNvPr>
          <p:cNvSpPr/>
          <p:nvPr/>
        </p:nvSpPr>
        <p:spPr>
          <a:xfrm>
            <a:off x="7667801" y="3529854"/>
            <a:ext cx="341081" cy="26181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3175A9A-034A-4018-A172-AAAAC9A827A1}"/>
                  </a:ext>
                </a:extLst>
              </p:cNvPr>
              <p:cNvSpPr/>
              <p:nvPr/>
            </p:nvSpPr>
            <p:spPr>
              <a:xfrm>
                <a:off x="100625" y="4767769"/>
                <a:ext cx="297369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i="0" smtClean="0">
                          <a:latin typeface="Cambria Math" panose="02040503050406030204" pitchFamily="18" charset="0"/>
                        </a:rPr>
                        <m:t>py</m:t>
                      </m:r>
                      <m:r>
                        <a:rPr lang="zh-CN" altLang="en-US" i="0" smtClean="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r>
                        <a:rPr lang="zh-CN" altLang="en-US" i="0">
                          <a:latin typeface="Cambria Math" panose="02040503050406030204" pitchFamily="18" charset="0"/>
                        </a:rPr>
                        <m:t>−</m:t>
                      </m:r>
                      <m:r>
                        <m:rPr>
                          <m:sty m:val="p"/>
                        </m:rPr>
                        <a:rPr lang="zh-CN" altLang="en-US" i="0">
                          <a:latin typeface="Cambria Math" panose="02040503050406030204" pitchFamily="18" charset="0"/>
                        </a:rPr>
                        <m:t>px</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r>
                        <a:rPr lang="en-US" altLang="zh-CN" b="0" i="1" smtClean="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3</m:t>
                          </m:r>
                        </m:sub>
                      </m:sSub>
                    </m:oMath>
                  </m:oMathPara>
                </a14:m>
                <a:endParaRPr lang="zh-CN" altLang="en-US" dirty="0"/>
              </a:p>
            </p:txBody>
          </p:sp>
        </mc:Choice>
        <mc:Fallback xmlns="">
          <p:sp>
            <p:nvSpPr>
              <p:cNvPr id="14" name="矩形 13">
                <a:extLst>
                  <a:ext uri="{FF2B5EF4-FFF2-40B4-BE49-F238E27FC236}">
                    <a16:creationId xmlns:a16="http://schemas.microsoft.com/office/drawing/2014/main" id="{E3175A9A-034A-4018-A172-AAAAC9A827A1}"/>
                  </a:ext>
                </a:extLst>
              </p:cNvPr>
              <p:cNvSpPr>
                <a:spLocks noRot="1" noChangeAspect="1" noMove="1" noResize="1" noEditPoints="1" noAdjustHandles="1" noChangeArrowheads="1" noChangeShapeType="1" noTextEdit="1"/>
              </p:cNvSpPr>
              <p:nvPr/>
            </p:nvSpPr>
            <p:spPr>
              <a:xfrm>
                <a:off x="100625" y="4767769"/>
                <a:ext cx="2973699" cy="369332"/>
              </a:xfrm>
              <a:prstGeom prst="rect">
                <a:avLst/>
              </a:prstGeom>
              <a:blipFill>
                <a:blip r:embed="rId9"/>
                <a:stretch>
                  <a:fillRect t="-124590" b="-1901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27D6F45-4F8E-4A93-9999-7148BC7A8A7E}"/>
                  </a:ext>
                </a:extLst>
              </p:cNvPr>
              <p:cNvSpPr/>
              <p:nvPr/>
            </p:nvSpPr>
            <p:spPr>
              <a:xfrm>
                <a:off x="2831130" y="4432258"/>
                <a:ext cx="2477601" cy="7037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zh-CN" altLang="en-US" i="1" smtClean="0">
                              <a:latin typeface="Cambria Math" panose="02040503050406030204" pitchFamily="18" charset="0"/>
                            </a:rPr>
                          </m:ctrlPr>
                        </m:groupChrPr>
                        <m:e>
                          <m:r>
                            <a:rPr lang="en-US" altLang="zh-CN">
                              <a:latin typeface="Cambria Math" panose="02040503050406030204" pitchFamily="18" charset="0"/>
                            </a:rPr>
                            <m:t>𝜌</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𝑥</m:t>
                                  </m:r>
                                </m:sub>
                                <m:sup>
                                  <m:r>
                                    <a:rPr lang="en-US" altLang="zh-CN">
                                      <a:latin typeface="Cambria Math" panose="02040503050406030204" pitchFamily="18" charset="0"/>
                                    </a:rPr>
                                    <m:t>2</m:t>
                                  </m:r>
                                </m:sup>
                              </m:sSubSup>
                              <m:r>
                                <a:rPr lang="en-US" altLang="zh-CN"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𝑦</m:t>
                                  </m:r>
                                </m:sub>
                                <m:sup>
                                  <m:r>
                                    <a:rPr lang="en-US" altLang="zh-CN" b="0" i="1" smtClean="0">
                                      <a:latin typeface="Cambria Math" panose="02040503050406030204" pitchFamily="18" charset="0"/>
                                    </a:rPr>
                                    <m:t>2</m:t>
                                  </m:r>
                                </m:sup>
                              </m:sSubSup>
                            </m:e>
                          </m:rad>
                          <m:r>
                            <a:rPr lang="en-US" altLang="zh-CN" b="0" i="1" smtClean="0">
                              <a:latin typeface="Cambria Math" panose="02040503050406030204" pitchFamily="18" charset="0"/>
                            </a:rPr>
                            <m:t>, </m:t>
                          </m:r>
                          <m:r>
                            <a:rPr lang="en-US" altLang="zh-CN" b="0" i="1" smtClean="0">
                              <a:latin typeface="Cambria Math" panose="02040503050406030204" pitchFamily="18" charset="0"/>
                            </a:rPr>
                            <m:t>𝜙</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Atan</m:t>
                          </m:r>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e>
                      </m:groupChr>
                    </m:oMath>
                  </m:oMathPara>
                </a14:m>
                <a:endParaRPr lang="zh-CN" altLang="en-US" i="0" dirty="0"/>
              </a:p>
            </p:txBody>
          </p:sp>
        </mc:Choice>
        <mc:Fallback xmlns="">
          <p:sp>
            <p:nvSpPr>
              <p:cNvPr id="15" name="矩形 14">
                <a:extLst>
                  <a:ext uri="{FF2B5EF4-FFF2-40B4-BE49-F238E27FC236}">
                    <a16:creationId xmlns:a16="http://schemas.microsoft.com/office/drawing/2014/main" id="{D27D6F45-4F8E-4A93-9999-7148BC7A8A7E}"/>
                  </a:ext>
                </a:extLst>
              </p:cNvPr>
              <p:cNvSpPr>
                <a:spLocks noRot="1" noChangeAspect="1" noMove="1" noResize="1" noEditPoints="1" noAdjustHandles="1" noChangeArrowheads="1" noChangeShapeType="1" noTextEdit="1"/>
              </p:cNvSpPr>
              <p:nvPr/>
            </p:nvSpPr>
            <p:spPr>
              <a:xfrm>
                <a:off x="2831130" y="4432258"/>
                <a:ext cx="2477601" cy="70371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圆角 19">
                <a:extLst>
                  <a:ext uri="{FF2B5EF4-FFF2-40B4-BE49-F238E27FC236}">
                    <a16:creationId xmlns:a16="http://schemas.microsoft.com/office/drawing/2014/main" id="{D185978F-9CD8-42D4-90CE-83D60697B0B5}"/>
                  </a:ext>
                </a:extLst>
              </p:cNvPr>
              <p:cNvSpPr/>
              <p:nvPr/>
            </p:nvSpPr>
            <p:spPr>
              <a:xfrm>
                <a:off x="532047" y="6024813"/>
                <a:ext cx="5244821" cy="788907"/>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r>
                      <a:rPr lang="en-US" altLang="zh-CN" sz="200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𝜙</m:t>
                    </m:r>
                    <m:r>
                      <a:rPr lang="en-US" altLang="zh-CN" sz="200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arcsin</m:t>
                    </m:r>
                    <m:f>
                      <m:fPr>
                        <m:ctrlPr>
                          <a:rPr lang="en-US" altLang="zh-CN" sz="2000" i="1">
                            <a:solidFill>
                              <a:schemeClr val="tx1"/>
                            </a:solidFill>
                            <a:latin typeface="Cambria Math" panose="02040503050406030204" pitchFamily="18" charset="0"/>
                          </a:rPr>
                        </m:ctrlPr>
                      </m:fPr>
                      <m:num>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𝐿</m:t>
                            </m:r>
                          </m:e>
                          <m:sub>
                            <m:r>
                              <a:rPr lang="zh-CN" altLang="en-US" sz="2000" i="0">
                                <a:solidFill>
                                  <a:schemeClr val="tx1"/>
                                </a:solidFill>
                                <a:latin typeface="Cambria Math" panose="02040503050406030204" pitchFamily="18" charset="0"/>
                              </a:rPr>
                              <m:t>3</m:t>
                            </m:r>
                          </m:sub>
                        </m:sSub>
                      </m:num>
                      <m:den>
                        <m:r>
                          <a:rPr lang="en-US" altLang="zh-CN" sz="2000">
                            <a:solidFill>
                              <a:schemeClr val="tx1"/>
                            </a:solidFill>
                            <a:latin typeface="Cambria Math" panose="02040503050406030204" pitchFamily="18" charset="0"/>
                          </a:rPr>
                          <m:t>𝜌</m:t>
                        </m:r>
                      </m:den>
                    </m:f>
                  </m:oMath>
                </a14:m>
                <a:r>
                  <a:rPr lang="zh-CN" altLang="en-US" sz="2000" dirty="0">
                    <a:ln>
                      <a:solidFill>
                        <a:srgbClr val="FFFF00"/>
                      </a:solidFill>
                    </a:ln>
                    <a:solidFill>
                      <a:schemeClr val="tx1"/>
                    </a:solidFill>
                  </a:rPr>
                  <a:t> </a:t>
                </a:r>
                <a:r>
                  <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rPr>
                  <a:t>或 </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r>
                      <a:rPr lang="en-US" altLang="zh-CN" sz="200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𝜙</m:t>
                    </m:r>
                    <m:r>
                      <a:rPr lang="en-US" altLang="zh-CN" sz="2000" b="0" i="0" smtClean="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arcsin</m:t>
                    </m:r>
                    <m:f>
                      <m:fPr>
                        <m:ctrlPr>
                          <a:rPr lang="en-US" altLang="zh-CN" sz="2000" i="1">
                            <a:solidFill>
                              <a:schemeClr val="tx1"/>
                            </a:solidFill>
                            <a:latin typeface="Cambria Math" panose="02040503050406030204" pitchFamily="18" charset="0"/>
                          </a:rPr>
                        </m:ctrlPr>
                      </m:fPr>
                      <m:num>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𝐿</m:t>
                            </m:r>
                          </m:e>
                          <m:sub>
                            <m:r>
                              <a:rPr lang="zh-CN" altLang="en-US" sz="2000" i="0">
                                <a:solidFill>
                                  <a:schemeClr val="tx1"/>
                                </a:solidFill>
                                <a:latin typeface="Cambria Math" panose="02040503050406030204" pitchFamily="18" charset="0"/>
                              </a:rPr>
                              <m:t>3</m:t>
                            </m:r>
                          </m:sub>
                        </m:sSub>
                      </m:num>
                      <m:den>
                        <m:r>
                          <a:rPr lang="en-US" altLang="zh-CN" sz="2000">
                            <a:solidFill>
                              <a:schemeClr val="tx1"/>
                            </a:solidFill>
                            <a:latin typeface="Cambria Math" panose="02040503050406030204" pitchFamily="18" charset="0"/>
                          </a:rPr>
                          <m:t>𝜌</m:t>
                        </m:r>
                      </m:den>
                    </m:f>
                    <m:r>
                      <a:rPr lang="en-US" altLang="zh-CN" sz="2000" b="0" i="1" smtClean="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𝜋</m:t>
                    </m:r>
                  </m:oMath>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20" name="矩形: 圆角 19">
                <a:extLst>
                  <a:ext uri="{FF2B5EF4-FFF2-40B4-BE49-F238E27FC236}">
                    <a16:creationId xmlns:a16="http://schemas.microsoft.com/office/drawing/2014/main" id="{D185978F-9CD8-42D4-90CE-83D60697B0B5}"/>
                  </a:ext>
                </a:extLst>
              </p:cNvPr>
              <p:cNvSpPr>
                <a:spLocks noRot="1" noChangeAspect="1" noMove="1" noResize="1" noEditPoints="1" noAdjustHandles="1" noChangeArrowheads="1" noChangeShapeType="1" noTextEdit="1"/>
              </p:cNvSpPr>
              <p:nvPr/>
            </p:nvSpPr>
            <p:spPr>
              <a:xfrm>
                <a:off x="532047" y="6024813"/>
                <a:ext cx="5244821" cy="788907"/>
              </a:xfrm>
              <a:prstGeom prst="roundRect">
                <a:avLst/>
              </a:prstGeom>
              <a:blipFill>
                <a:blip r:embed="rId11"/>
                <a:stretch>
                  <a:fillRect/>
                </a:stretch>
              </a:blipFill>
              <a:ln>
                <a:solidFill>
                  <a:srgbClr val="FF0000"/>
                </a:solidFill>
              </a:ln>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A1FA7299-04EC-45B8-BCE6-2F940504B078}"/>
              </a:ext>
            </a:extLst>
          </p:cNvPr>
          <p:cNvSpPr/>
          <p:nvPr/>
        </p:nvSpPr>
        <p:spPr>
          <a:xfrm>
            <a:off x="9249074" y="6320655"/>
            <a:ext cx="1983235"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对应的空间关系</a:t>
            </a:r>
            <a:endParaRPr lang="en-US" altLang="zh-CN" b="1" i="0" dirty="0">
              <a:solidFill>
                <a:srgbClr val="0000CC"/>
              </a:solidFill>
              <a:latin typeface="微软雅黑" panose="020B0503020204020204" pitchFamily="34" charset="-122"/>
              <a:ea typeface="微软雅黑" panose="020B0503020204020204" pitchFamily="34" charset="-122"/>
            </a:endParaRPr>
          </a:p>
        </p:txBody>
      </p:sp>
      <p:graphicFrame>
        <p:nvGraphicFramePr>
          <p:cNvPr id="22" name="Object 4">
            <a:extLst>
              <a:ext uri="{FF2B5EF4-FFF2-40B4-BE49-F238E27FC236}">
                <a16:creationId xmlns:a16="http://schemas.microsoft.com/office/drawing/2014/main" id="{3659FBDF-17EF-4F35-B0AD-49A6F7880A0B}"/>
              </a:ext>
            </a:extLst>
          </p:cNvPr>
          <p:cNvGraphicFramePr>
            <a:graphicFrameLocks noChangeAspect="1"/>
          </p:cNvGraphicFramePr>
          <p:nvPr>
            <p:extLst>
              <p:ext uri="{D42A27DB-BD31-4B8C-83A1-F6EECF244321}">
                <p14:modId xmlns:p14="http://schemas.microsoft.com/office/powerpoint/2010/main" val="2022142490"/>
              </p:ext>
            </p:extLst>
          </p:nvPr>
        </p:nvGraphicFramePr>
        <p:xfrm>
          <a:off x="8836437" y="4542171"/>
          <a:ext cx="1576554" cy="1595871"/>
        </p:xfrm>
        <a:graphic>
          <a:graphicData uri="http://schemas.openxmlformats.org/presentationml/2006/ole">
            <mc:AlternateContent xmlns:mc="http://schemas.openxmlformats.org/markup-compatibility/2006">
              <mc:Choice xmlns:v="urn:schemas-microsoft-com:vml" Requires="v">
                <p:oleObj name="位图图像" r:id="rId12" imgW="2309060" imgH="2171888" progId="Paint.Picture">
                  <p:embed/>
                </p:oleObj>
              </mc:Choice>
              <mc:Fallback>
                <p:oleObj name="位图图像" r:id="rId12" imgW="2309060" imgH="2171888" progId="Paint.Picture">
                  <p:embed/>
                  <p:pic>
                    <p:nvPicPr>
                      <p:cNvPr id="22" name="Object 4">
                        <a:extLst>
                          <a:ext uri="{FF2B5EF4-FFF2-40B4-BE49-F238E27FC236}">
                            <a16:creationId xmlns:a16="http://schemas.microsoft.com/office/drawing/2014/main" id="{3659FBDF-17EF-4F35-B0AD-49A6F7880A0B}"/>
                          </a:ext>
                        </a:extLst>
                      </p:cNvPr>
                      <p:cNvPicPr>
                        <a:picLocks noChangeAspect="1" noChangeArrowheads="1"/>
                      </p:cNvPicPr>
                      <p:nvPr/>
                    </p:nvPicPr>
                    <p:blipFill>
                      <a:blip r:embed="rId13">
                        <a:lum bright="-36000" contrast="94000"/>
                        <a:extLst>
                          <a:ext uri="{28A0092B-C50C-407E-A947-70E740481C1C}">
                            <a14:useLocalDpi xmlns:a14="http://schemas.microsoft.com/office/drawing/2010/main" val="0"/>
                          </a:ext>
                        </a:extLst>
                      </a:blip>
                      <a:srcRect/>
                      <a:stretch>
                        <a:fillRect/>
                      </a:stretch>
                    </p:blipFill>
                    <p:spPr bwMode="auto">
                      <a:xfrm>
                        <a:off x="8836437" y="4542171"/>
                        <a:ext cx="1576554" cy="1595871"/>
                      </a:xfrm>
                      <a:prstGeom prst="rect">
                        <a:avLst/>
                      </a:prstGeom>
                      <a:noFill/>
                      <a:ln>
                        <a:noFill/>
                      </a:ln>
                      <a:effectLst/>
                    </p:spPr>
                  </p:pic>
                </p:oleObj>
              </mc:Fallback>
            </mc:AlternateContent>
          </a:graphicData>
        </a:graphic>
      </p:graphicFrame>
      <p:graphicFrame>
        <p:nvGraphicFramePr>
          <p:cNvPr id="23" name="Object 6">
            <a:extLst>
              <a:ext uri="{FF2B5EF4-FFF2-40B4-BE49-F238E27FC236}">
                <a16:creationId xmlns:a16="http://schemas.microsoft.com/office/drawing/2014/main" id="{7AA3D2E4-8C56-4ECC-BD38-C484660CAC01}"/>
              </a:ext>
            </a:extLst>
          </p:cNvPr>
          <p:cNvGraphicFramePr>
            <a:graphicFrameLocks noChangeAspect="1"/>
          </p:cNvGraphicFramePr>
          <p:nvPr>
            <p:extLst>
              <p:ext uri="{D42A27DB-BD31-4B8C-83A1-F6EECF244321}">
                <p14:modId xmlns:p14="http://schemas.microsoft.com/office/powerpoint/2010/main" val="3162098590"/>
              </p:ext>
            </p:extLst>
          </p:nvPr>
        </p:nvGraphicFramePr>
        <p:xfrm>
          <a:off x="10578432" y="4616792"/>
          <a:ext cx="1613568" cy="1521250"/>
        </p:xfrm>
        <a:graphic>
          <a:graphicData uri="http://schemas.openxmlformats.org/presentationml/2006/ole">
            <mc:AlternateContent xmlns:mc="http://schemas.openxmlformats.org/markup-compatibility/2006">
              <mc:Choice xmlns:v="urn:schemas-microsoft-com:vml" Requires="v">
                <p:oleObj name="位图图像" r:id="rId14" imgW="2483810" imgH="2034716" progId="Paint.Picture">
                  <p:embed/>
                </p:oleObj>
              </mc:Choice>
              <mc:Fallback>
                <p:oleObj name="位图图像" r:id="rId14" imgW="2483810" imgH="2034716" progId="Paint.Picture">
                  <p:embed/>
                  <p:pic>
                    <p:nvPicPr>
                      <p:cNvPr id="23" name="Object 6">
                        <a:extLst>
                          <a:ext uri="{FF2B5EF4-FFF2-40B4-BE49-F238E27FC236}">
                            <a16:creationId xmlns:a16="http://schemas.microsoft.com/office/drawing/2014/main" id="{7AA3D2E4-8C56-4ECC-BD38-C484660CAC01}"/>
                          </a:ext>
                        </a:extLst>
                      </p:cNvPr>
                      <p:cNvPicPr>
                        <a:picLocks noChangeAspect="1" noChangeArrowheads="1"/>
                      </p:cNvPicPr>
                      <p:nvPr/>
                    </p:nvPicPr>
                    <p:blipFill>
                      <a:blip r:embed="rId15">
                        <a:lum contrast="18000"/>
                        <a:extLst>
                          <a:ext uri="{28A0092B-C50C-407E-A947-70E740481C1C}">
                            <a14:useLocalDpi xmlns:a14="http://schemas.microsoft.com/office/drawing/2010/main" val="0"/>
                          </a:ext>
                        </a:extLst>
                      </a:blip>
                      <a:srcRect/>
                      <a:stretch>
                        <a:fillRect/>
                      </a:stretch>
                    </p:blipFill>
                    <p:spPr bwMode="auto">
                      <a:xfrm>
                        <a:off x="10578432" y="4616792"/>
                        <a:ext cx="1613568" cy="1521250"/>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8DF39D5D-B007-4EF4-A614-14AAE0F37939}"/>
                  </a:ext>
                </a:extLst>
              </p:cNvPr>
              <p:cNvSpPr/>
              <p:nvPr/>
            </p:nvSpPr>
            <p:spPr>
              <a:xfrm>
                <a:off x="5132191" y="4611106"/>
                <a:ext cx="3218638" cy="6577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𝑠</m:t>
                          </m:r>
                        </m:e>
                        <m:sub>
                          <m:r>
                            <a:rPr lang="en-US" altLang="zh-CN">
                              <a:latin typeface="Cambria Math" panose="02040503050406030204" pitchFamily="18" charset="0"/>
                            </a:rPr>
                            <m:t>𝜙</m:t>
                          </m:r>
                        </m:sub>
                      </m:sSub>
                      <m:sSub>
                        <m:sSubPr>
                          <m:ctrlPr>
                            <a:rPr lang="en-US"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𝜙</m:t>
                          </m:r>
                        </m:sub>
                      </m:sSub>
                      <m:sSub>
                        <m:sSubPr>
                          <m:ctrlPr>
                            <a:rPr lang="en-US" altLang="zh-CN" i="1">
                              <a:latin typeface="Cambria Math" panose="02040503050406030204" pitchFamily="18" charset="0"/>
                            </a:rPr>
                          </m:ctrlPr>
                        </m:sSubPr>
                        <m:e>
                          <m:r>
                            <a:rPr lang="en-US" altLang="zh-CN">
                              <a:latin typeface="Cambria Math" panose="02040503050406030204" pitchFamily="18" charset="0"/>
                            </a:rPr>
                            <m:t>𝑠</m:t>
                          </m:r>
                        </m:e>
                        <m:sub>
                          <m:r>
                            <a:rPr lang="en-US" altLang="zh-CN">
                              <a:latin typeface="Cambria Math" panose="02040503050406030204" pitchFamily="18" charset="0"/>
                            </a:rPr>
                            <m:t>1</m:t>
                          </m:r>
                        </m:sub>
                      </m:sSub>
                      <m:r>
                        <a:rPr lang="en-US" altLang="zh-CN">
                          <a:latin typeface="Cambria Math" panose="02040503050406030204" pitchFamily="18" charset="0"/>
                        </a:rPr>
                        <m:t>=</m:t>
                      </m:r>
                      <m:r>
                        <a:rPr lang="en-US" altLang="zh-CN" b="0" i="1" smtClean="0">
                          <a:latin typeface="Cambria Math" panose="02040503050406030204" pitchFamily="18" charset="0"/>
                        </a:rPr>
                        <m:t>𝑠</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𝜙</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3</m:t>
                              </m:r>
                            </m:sub>
                          </m:sSub>
                        </m:num>
                        <m:den>
                          <m:r>
                            <a:rPr lang="en-US" altLang="zh-CN">
                              <a:latin typeface="Cambria Math" panose="02040503050406030204" pitchFamily="18" charset="0"/>
                            </a:rPr>
                            <m:t>𝜌</m:t>
                          </m:r>
                        </m:den>
                      </m:f>
                    </m:oMath>
                  </m:oMathPara>
                </a14:m>
                <a:endParaRPr lang="zh-CN" altLang="en-US" i="0" dirty="0"/>
              </a:p>
            </p:txBody>
          </p:sp>
        </mc:Choice>
        <mc:Fallback xmlns="">
          <p:sp>
            <p:nvSpPr>
              <p:cNvPr id="24" name="矩形 23">
                <a:extLst>
                  <a:ext uri="{FF2B5EF4-FFF2-40B4-BE49-F238E27FC236}">
                    <a16:creationId xmlns:a16="http://schemas.microsoft.com/office/drawing/2014/main" id="{8DF39D5D-B007-4EF4-A614-14AAE0F37939}"/>
                  </a:ext>
                </a:extLst>
              </p:cNvPr>
              <p:cNvSpPr>
                <a:spLocks noRot="1" noChangeAspect="1" noMove="1" noResize="1" noEditPoints="1" noAdjustHandles="1" noChangeArrowheads="1" noChangeShapeType="1" noTextEdit="1"/>
              </p:cNvSpPr>
              <p:nvPr/>
            </p:nvSpPr>
            <p:spPr>
              <a:xfrm>
                <a:off x="5132191" y="4611106"/>
                <a:ext cx="3218638" cy="657744"/>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CE6D926C-2394-4121-B74D-444220F4792B}"/>
                  </a:ext>
                </a:extLst>
              </p:cNvPr>
              <p:cNvSpPr txBox="1"/>
              <p:nvPr/>
            </p:nvSpPr>
            <p:spPr>
              <a:xfrm>
                <a:off x="2928576" y="4939978"/>
                <a:ext cx="2373687" cy="56239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1600" i="1" smtClean="0">
                          <a:latin typeface="Cambria Math" panose="02040503050406030204" pitchFamily="18" charset="0"/>
                        </a:rPr>
                        <m:t>𝑠𝑖𝑛</m:t>
                      </m:r>
                      <m:r>
                        <a:rPr lang="zh-CN" altLang="en-US" sz="1600" i="1" smtClean="0">
                          <a:latin typeface="Cambria Math" panose="02040503050406030204" pitchFamily="18" charset="0"/>
                        </a:rPr>
                        <m:t>𝜑</m:t>
                      </m:r>
                      <m:r>
                        <a:rPr lang="zh-CN" altLang="en-US" sz="1600" i="0">
                          <a:latin typeface="Cambria Math" panose="02040503050406030204" pitchFamily="18" charset="0"/>
                        </a:rPr>
                        <m:t>=</m:t>
                      </m:r>
                      <m:f>
                        <m:fPr>
                          <m:ctrlPr>
                            <a:rPr lang="zh-CN" altLang="en-US" sz="1600" i="1">
                              <a:solidFill>
                                <a:srgbClr val="836967"/>
                              </a:solidFill>
                              <a:latin typeface="Cambria Math" panose="02040503050406030204" pitchFamily="18" charset="0"/>
                            </a:rPr>
                          </m:ctrlPr>
                        </m:fPr>
                        <m:num>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num>
                        <m:den>
                          <m:r>
                            <a:rPr lang="zh-CN" altLang="en-US" sz="1600" i="1">
                              <a:latin typeface="Cambria Math" panose="02040503050406030204" pitchFamily="18" charset="0"/>
                            </a:rPr>
                            <m:t>𝜌</m:t>
                          </m:r>
                        </m:den>
                      </m:f>
                      <m:r>
                        <a:rPr lang="zh-CN" altLang="en-US" sz="1600" i="0">
                          <a:latin typeface="Cambria Math" panose="02040503050406030204" pitchFamily="18" charset="0"/>
                        </a:rPr>
                        <m:t>  </m:t>
                      </m:r>
                      <m:r>
                        <a:rPr lang="zh-CN" altLang="en-US" sz="1600" i="1">
                          <a:latin typeface="Cambria Math" panose="02040503050406030204" pitchFamily="18" charset="0"/>
                        </a:rPr>
                        <m:t>𝑐𝑜𝑠</m:t>
                      </m:r>
                      <m:r>
                        <a:rPr lang="zh-CN" altLang="en-US" sz="1600" i="1">
                          <a:latin typeface="Cambria Math" panose="02040503050406030204" pitchFamily="18" charset="0"/>
                        </a:rPr>
                        <m:t>𝜑</m:t>
                      </m:r>
                      <m:r>
                        <a:rPr lang="zh-CN" altLang="en-US" sz="1600" i="0">
                          <a:latin typeface="Cambria Math" panose="02040503050406030204" pitchFamily="18" charset="0"/>
                        </a:rPr>
                        <m:t>=</m:t>
                      </m:r>
                      <m:f>
                        <m:fPr>
                          <m:ctrlPr>
                            <a:rPr lang="zh-CN" altLang="en-US" sz="1600" i="1">
                              <a:solidFill>
                                <a:srgbClr val="836967"/>
                              </a:solidFill>
                              <a:latin typeface="Cambria Math" panose="02040503050406030204" pitchFamily="18" charset="0"/>
                            </a:rPr>
                          </m:ctrlPr>
                        </m:fPr>
                        <m:num>
                          <m:sSub>
                            <m:sSubPr>
                              <m:ctrlPr>
                                <a:rPr lang="zh-CN" altLang="en-US" sz="1600" i="1">
                                  <a:solidFill>
                                    <a:srgbClr val="836967"/>
                                  </a:solidFill>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num>
                        <m:den>
                          <m:r>
                            <a:rPr lang="zh-CN" altLang="en-US" sz="1600" i="1">
                              <a:latin typeface="Cambria Math" panose="02040503050406030204" pitchFamily="18" charset="0"/>
                            </a:rPr>
                            <m:t>𝜌</m:t>
                          </m:r>
                        </m:den>
                      </m:f>
                    </m:oMath>
                  </m:oMathPara>
                </a14:m>
                <a:endParaRPr lang="zh-CN" altLang="en-US" sz="1600" dirty="0"/>
              </a:p>
            </p:txBody>
          </p:sp>
        </mc:Choice>
        <mc:Fallback xmlns="">
          <p:sp>
            <p:nvSpPr>
              <p:cNvPr id="25" name="文本框 24">
                <a:extLst>
                  <a:ext uri="{FF2B5EF4-FFF2-40B4-BE49-F238E27FC236}">
                    <a16:creationId xmlns:a16="http://schemas.microsoft.com/office/drawing/2014/main" id="{CE6D926C-2394-4121-B74D-444220F4792B}"/>
                  </a:ext>
                </a:extLst>
              </p:cNvPr>
              <p:cNvSpPr txBox="1">
                <a:spLocks noRot="1" noChangeAspect="1" noMove="1" noResize="1" noEditPoints="1" noAdjustHandles="1" noChangeArrowheads="1" noChangeShapeType="1" noTextEdit="1"/>
              </p:cNvSpPr>
              <p:nvPr/>
            </p:nvSpPr>
            <p:spPr>
              <a:xfrm>
                <a:off x="2928576" y="4939978"/>
                <a:ext cx="2373687" cy="562398"/>
              </a:xfrm>
              <a:prstGeom prst="rect">
                <a:avLst/>
              </a:prstGeom>
              <a:blipFill>
                <a:blip r:embed="rId17"/>
                <a:stretch>
                  <a:fillRect b="-3226"/>
                </a:stretch>
              </a:blipFill>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93B6B4C2-A511-45D2-96D1-9385CC51216A}"/>
              </a:ext>
            </a:extLst>
          </p:cNvPr>
          <p:cNvGrpSpPr/>
          <p:nvPr/>
        </p:nvGrpSpPr>
        <p:grpSpPr>
          <a:xfrm>
            <a:off x="2039357" y="5131309"/>
            <a:ext cx="4056643" cy="709621"/>
            <a:chOff x="2039357" y="5131309"/>
            <a:chExt cx="4056643" cy="709621"/>
          </a:xfrm>
        </p:grpSpPr>
        <p:sp>
          <p:nvSpPr>
            <p:cNvPr id="26" name="文本框 25">
              <a:extLst>
                <a:ext uri="{FF2B5EF4-FFF2-40B4-BE49-F238E27FC236}">
                  <a16:creationId xmlns:a16="http://schemas.microsoft.com/office/drawing/2014/main" id="{44FB5C0D-861F-437D-A476-D8EEC3D5BC45}"/>
                </a:ext>
              </a:extLst>
            </p:cNvPr>
            <p:cNvSpPr txBox="1"/>
            <p:nvPr/>
          </p:nvSpPr>
          <p:spPr>
            <a:xfrm>
              <a:off x="3142158" y="5502376"/>
              <a:ext cx="1680992" cy="338554"/>
            </a:xfrm>
            <a:prstGeom prst="rect">
              <a:avLst/>
            </a:prstGeom>
            <a:noFill/>
          </p:spPr>
          <p:txBody>
            <a:bodyPr wrap="square" rtlCol="0">
              <a:spAutoFit/>
            </a:bodyPr>
            <a:lstStyle/>
            <a:p>
              <a:r>
                <a:rPr lang="zh-CN" altLang="en-US" sz="1600" b="1" dirty="0"/>
                <a:t>等号两端除以</a:t>
              </a:r>
              <a:r>
                <a:rPr lang="zh-CN" altLang="en-US" sz="1600" b="1" i="1" dirty="0">
                  <a:sym typeface="Symbol" panose="05050102010706020507" pitchFamily="18" charset="2"/>
                </a:rPr>
                <a:t></a:t>
              </a:r>
              <a:endParaRPr lang="zh-CN" altLang="en-US" sz="1600" b="1" i="1" dirty="0"/>
            </a:p>
          </p:txBody>
        </p:sp>
        <p:cxnSp>
          <p:nvCxnSpPr>
            <p:cNvPr id="28" name="直接箭头连接符 27">
              <a:extLst>
                <a:ext uri="{FF2B5EF4-FFF2-40B4-BE49-F238E27FC236}">
                  <a16:creationId xmlns:a16="http://schemas.microsoft.com/office/drawing/2014/main" id="{4F98493C-2365-4F3E-8BFB-B803FDFAB311}"/>
                </a:ext>
              </a:extLst>
            </p:cNvPr>
            <p:cNvCxnSpPr/>
            <p:nvPr/>
          </p:nvCxnSpPr>
          <p:spPr>
            <a:xfrm flipH="1" flipV="1">
              <a:off x="2039357" y="5171225"/>
              <a:ext cx="971857" cy="50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6AB48FA-B887-4B35-96E4-6AB39F47ECA2}"/>
                </a:ext>
              </a:extLst>
            </p:cNvPr>
            <p:cNvCxnSpPr/>
            <p:nvPr/>
          </p:nvCxnSpPr>
          <p:spPr>
            <a:xfrm flipV="1">
              <a:off x="4920596" y="5131309"/>
              <a:ext cx="1175404" cy="555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8" name="直接箭头连接符 17">
            <a:extLst>
              <a:ext uri="{FF2B5EF4-FFF2-40B4-BE49-F238E27FC236}">
                <a16:creationId xmlns:a16="http://schemas.microsoft.com/office/drawing/2014/main" id="{279AB94E-D4B2-4636-9876-3B41E9ED34BE}"/>
              </a:ext>
            </a:extLst>
          </p:cNvPr>
          <p:cNvCxnSpPr/>
          <p:nvPr/>
        </p:nvCxnSpPr>
        <p:spPr>
          <a:xfrm flipH="1">
            <a:off x="4006921" y="2622685"/>
            <a:ext cx="913675" cy="80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58D91405-41B3-49F6-AE89-3536F9838C9E}"/>
              </a:ext>
            </a:extLst>
          </p:cNvPr>
          <p:cNvCxnSpPr/>
          <p:nvPr/>
        </p:nvCxnSpPr>
        <p:spPr>
          <a:xfrm>
            <a:off x="6493267" y="2622685"/>
            <a:ext cx="236306" cy="580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032030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2" presetClass="entr" presetSubtype="4"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additive="base">
                                        <p:cTn id="44" dur="500" fill="hold"/>
                                        <p:tgtEl>
                                          <p:spTgt spid="25"/>
                                        </p:tgtEl>
                                        <p:attrNameLst>
                                          <p:attrName>ppt_x</p:attrName>
                                        </p:attrNameLst>
                                      </p:cBhvr>
                                      <p:tavLst>
                                        <p:tav tm="0">
                                          <p:val>
                                            <p:strVal val="#ppt_x"/>
                                          </p:val>
                                        </p:tav>
                                        <p:tav tm="100000">
                                          <p:val>
                                            <p:strVal val="#ppt_x"/>
                                          </p:val>
                                        </p:tav>
                                      </p:tavLst>
                                    </p:anim>
                                    <p:anim calcmode="lin" valueType="num">
                                      <p:cBhvr additive="base">
                                        <p:cTn id="4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additive="base">
                                        <p:cTn id="50" dur="500" fill="hold"/>
                                        <p:tgtEl>
                                          <p:spTgt spid="32"/>
                                        </p:tgtEl>
                                        <p:attrNameLst>
                                          <p:attrName>ppt_x</p:attrName>
                                        </p:attrNameLst>
                                      </p:cBhvr>
                                      <p:tavLst>
                                        <p:tav tm="0">
                                          <p:val>
                                            <p:strVal val="#ppt_x"/>
                                          </p:val>
                                        </p:tav>
                                        <p:tav tm="100000">
                                          <p:val>
                                            <p:strVal val="#ppt_x"/>
                                          </p:val>
                                        </p:tav>
                                      </p:tavLst>
                                    </p:anim>
                                    <p:anim calcmode="lin" valueType="num">
                                      <p:cBhvr additive="base">
                                        <p:cTn id="51"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 calcmode="lin" valueType="num">
                                      <p:cBhvr additive="base">
                                        <p:cTn id="68" dur="500" fill="hold"/>
                                        <p:tgtEl>
                                          <p:spTgt spid="22"/>
                                        </p:tgtEl>
                                        <p:attrNameLst>
                                          <p:attrName>ppt_x</p:attrName>
                                        </p:attrNameLst>
                                      </p:cBhvr>
                                      <p:tavLst>
                                        <p:tav tm="0">
                                          <p:val>
                                            <p:strVal val="#ppt_x"/>
                                          </p:val>
                                        </p:tav>
                                        <p:tav tm="100000">
                                          <p:val>
                                            <p:strVal val="#ppt_x"/>
                                          </p:val>
                                        </p:tav>
                                      </p:tavLst>
                                    </p:anim>
                                    <p:anim calcmode="lin" valueType="num">
                                      <p:cBhvr additive="base">
                                        <p:cTn id="69" dur="500" fill="hold"/>
                                        <p:tgtEl>
                                          <p:spTgt spid="22"/>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00" fill="hold"/>
                                        <p:tgtEl>
                                          <p:spTgt spid="21"/>
                                        </p:tgtEl>
                                        <p:attrNameLst>
                                          <p:attrName>ppt_x</p:attrName>
                                        </p:attrNameLst>
                                      </p:cBhvr>
                                      <p:tavLst>
                                        <p:tav tm="0">
                                          <p:val>
                                            <p:strVal val="#ppt_x"/>
                                          </p:val>
                                        </p:tav>
                                        <p:tav tm="100000">
                                          <p:val>
                                            <p:strVal val="#ppt_x"/>
                                          </p:val>
                                        </p:tav>
                                      </p:tavLst>
                                    </p:anim>
                                    <p:anim calcmode="lin" valueType="num">
                                      <p:cBhvr additive="base">
                                        <p:cTn id="7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P spid="12" grpId="0" animBg="1"/>
      <p:bldP spid="13" grpId="0" animBg="1"/>
      <p:bldP spid="14" grpId="0"/>
      <p:bldP spid="15" grpId="0"/>
      <p:bldP spid="20" grpId="0" animBg="1"/>
      <p:bldP spid="21" grpId="0"/>
      <p:bldP spid="24"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2F3821-75AA-47C5-AEB7-418054ABFCE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12</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7496ED17-E9A4-48AF-B637-C9299EEE4E9F}"/>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31C1D6A-30B8-4DC3-B121-4E9D29253661}"/>
                  </a:ext>
                </a:extLst>
              </p:cNvPr>
              <p:cNvSpPr/>
              <p:nvPr/>
            </p:nvSpPr>
            <p:spPr>
              <a:xfrm>
                <a:off x="335360" y="782722"/>
                <a:ext cx="7915051" cy="9201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sz="1400" i="1" smtClean="0">
                              <a:solidFill>
                                <a:schemeClr val="tx1"/>
                              </a:solidFill>
                              <a:latin typeface="Cambria Math" panose="02040503050406030204" pitchFamily="18" charset="0"/>
                            </a:rPr>
                          </m:ctrlPr>
                        </m:dPr>
                        <m:e>
                          <m:m>
                            <m:mPr>
                              <m:plcHide m:val="on"/>
                              <m:mcs>
                                <m:mc>
                                  <m:mcPr>
                                    <m:count m:val="4"/>
                                    <m:mcJc m:val="center"/>
                                  </m:mcPr>
                                </m:mc>
                              </m:mcs>
                              <m:ctrlPr>
                                <a:rPr lang="zh-CN" altLang="en-US" sz="1400" i="1">
                                  <a:solidFill>
                                    <a:schemeClr val="tx1"/>
                                  </a:solidFill>
                                  <a:latin typeface="Cambria Math" panose="02040503050406030204" pitchFamily="18" charset="0"/>
                                </a:rPr>
                              </m:ctrlPr>
                            </m:mPr>
                            <m:mr>
                              <m:e>
                                <m:r>
                                  <a:rPr lang="zh-CN" altLang="en-US" sz="140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m:rPr>
                                    <m:sty m:val="p"/>
                                  </m:rPr>
                                  <a:rPr lang="zh-CN" altLang="en-US" sz="1400" i="0">
                                    <a:solidFill>
                                      <a:schemeClr val="tx1"/>
                                    </a:solidFill>
                                    <a:latin typeface="Cambria Math" panose="02040503050406030204" pitchFamily="18" charset="0"/>
                                  </a:rPr>
                                  <m:t>px</m:t>
                                </m:r>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Cos</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1</m:t>
                                        </m:r>
                                      </m:sub>
                                    </m:sSub>
                                  </m:e>
                                </m:d>
                                <m:r>
                                  <a:rPr lang="zh-CN" altLang="en-US" sz="1400" i="0">
                                    <a:solidFill>
                                      <a:schemeClr val="tx1"/>
                                    </a:solidFill>
                                    <a:latin typeface="Cambria Math" panose="02040503050406030204" pitchFamily="18" charset="0"/>
                                  </a:rPr>
                                  <m:t>+</m:t>
                                </m:r>
                                <m:r>
                                  <m:rPr>
                                    <m:sty m:val="p"/>
                                  </m:rPr>
                                  <a:rPr lang="zh-CN" altLang="en-US" sz="1400" i="0">
                                    <a:solidFill>
                                      <a:schemeClr val="tx1"/>
                                    </a:solidFill>
                                    <a:latin typeface="Cambria Math" panose="02040503050406030204" pitchFamily="18" charset="0"/>
                                  </a:rPr>
                                  <m:t>py</m:t>
                                </m:r>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Sin</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1</m:t>
                                        </m:r>
                                      </m:sub>
                                    </m:sSub>
                                  </m:e>
                                </m:d>
                              </m:e>
                            </m:mr>
                            <m:mr>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m:rPr>
                                    <m:sty m:val="p"/>
                                  </m:rPr>
                                  <a:rPr lang="zh-CN" altLang="en-US" sz="1400" i="0" smtClean="0">
                                    <a:solidFill>
                                      <a:schemeClr val="tx1"/>
                                    </a:solidFill>
                                    <a:latin typeface="Cambria Math" panose="02040503050406030204" pitchFamily="18" charset="0"/>
                                  </a:rPr>
                                  <m:t>py</m:t>
                                </m:r>
                                <m:r>
                                  <a:rPr lang="zh-CN" altLang="en-US" sz="1400" i="0" smtClean="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Cos</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1</m:t>
                                        </m:r>
                                      </m:sub>
                                    </m:sSub>
                                  </m:e>
                                </m:d>
                                <m:r>
                                  <a:rPr lang="zh-CN" altLang="en-US" sz="1400" i="0">
                                    <a:solidFill>
                                      <a:schemeClr val="tx1"/>
                                    </a:solidFill>
                                    <a:latin typeface="Cambria Math" panose="02040503050406030204" pitchFamily="18" charset="0"/>
                                  </a:rPr>
                                  <m:t>−</m:t>
                                </m:r>
                                <m:r>
                                  <m:rPr>
                                    <m:sty m:val="p"/>
                                  </m:rPr>
                                  <a:rPr lang="zh-CN" altLang="en-US" sz="1400" i="0">
                                    <a:solidFill>
                                      <a:schemeClr val="tx1"/>
                                    </a:solidFill>
                                    <a:latin typeface="Cambria Math" panose="02040503050406030204" pitchFamily="18" charset="0"/>
                                  </a:rPr>
                                  <m:t>px</m:t>
                                </m:r>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Sin</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1</m:t>
                                        </m:r>
                                      </m:sub>
                                    </m:sSub>
                                  </m:e>
                                </m:d>
                              </m:e>
                            </m:mr>
                            <m:mr>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m:rPr>
                                    <m:sty m:val="p"/>
                                  </m:rPr>
                                  <a:rPr lang="zh-CN" altLang="en-US" sz="1400" i="0">
                                    <a:solidFill>
                                      <a:schemeClr val="tx1"/>
                                    </a:solidFill>
                                    <a:latin typeface="Cambria Math" panose="02040503050406030204" pitchFamily="18" charset="0"/>
                                  </a:rPr>
                                  <m:t>pz</m:t>
                                </m:r>
                              </m:e>
                            </m:mr>
                            <m:mr>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1</m:t>
                                </m:r>
                              </m:e>
                            </m:mr>
                          </m:m>
                        </m:e>
                      </m:d>
                      <m:r>
                        <a:rPr lang="en-US" altLang="zh-CN" sz="1400" smtClean="0">
                          <a:solidFill>
                            <a:schemeClr val="tx1"/>
                          </a:solidFill>
                          <a:latin typeface="Cambria Math" panose="02040503050406030204" pitchFamily="18" charset="0"/>
                        </a:rPr>
                        <m:t>=</m:t>
                      </m:r>
                      <m:d>
                        <m:dPr>
                          <m:ctrlPr>
                            <a:rPr lang="zh-CN" altLang="en-US" sz="1400" i="1">
                              <a:solidFill>
                                <a:schemeClr val="tx1"/>
                              </a:solidFill>
                              <a:latin typeface="Cambria Math" panose="02040503050406030204" pitchFamily="18" charset="0"/>
                            </a:rPr>
                          </m:ctrlPr>
                        </m:dPr>
                        <m:e>
                          <m:m>
                            <m:mPr>
                              <m:plcHide m:val="on"/>
                              <m:mcs>
                                <m:mc>
                                  <m:mcPr>
                                    <m:count m:val="4"/>
                                    <m:mcJc m:val="center"/>
                                  </m:mcPr>
                                </m:mc>
                              </m:mcs>
                              <m:ctrlPr>
                                <a:rPr lang="zh-CN" altLang="en-US" sz="1400" i="1">
                                  <a:solidFill>
                                    <a:schemeClr val="tx1"/>
                                  </a:solidFill>
                                  <a:latin typeface="Cambria Math" panose="02040503050406030204" pitchFamily="18" charset="0"/>
                                </a:rPr>
                              </m:ctrlPr>
                            </m:mPr>
                            <m:mr>
                              <m:e>
                                <m:r>
                                  <a:rPr lang="zh-CN" altLang="en-US" sz="140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Cos</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Cos</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3</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4</m:t>
                                    </m:r>
                                  </m:sub>
                                </m:sSub>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Sin</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3</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5</m:t>
                                    </m:r>
                                  </m:sub>
                                </m:sSub>
                              </m:e>
                            </m:mr>
                            <m:mr>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sSub>
                                  <m:sSubPr>
                                    <m:ctrlPr>
                                      <a:rPr lang="zh-CN" altLang="en-US" sz="1400" i="1" smtClean="0">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3</m:t>
                                    </m:r>
                                  </m:sub>
                                </m:sSub>
                              </m:e>
                            </m:mr>
                            <m:mr>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e>
                              <m:e>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Sin</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Sin</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3</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4</m:t>
                                    </m:r>
                                  </m:sub>
                                </m:sSub>
                                <m:r>
                                  <a:rPr lang="zh-CN" altLang="en-US" sz="1400" i="0">
                                    <a:solidFill>
                                      <a:schemeClr val="tx1"/>
                                    </a:solidFill>
                                    <a:latin typeface="Cambria Math" panose="02040503050406030204" pitchFamily="18" charset="0"/>
                                  </a:rPr>
                                  <m:t>−</m:t>
                                </m:r>
                                <m:d>
                                  <m:dPr>
                                    <m:begChr m:val=""/>
                                    <m:endChr m:val="]"/>
                                    <m:ctrlPr>
                                      <a:rPr lang="zh-CN" altLang="en-US" sz="1400" i="1">
                                        <a:solidFill>
                                          <a:schemeClr val="tx1"/>
                                        </a:solidFill>
                                        <a:latin typeface="Cambria Math" panose="02040503050406030204" pitchFamily="18" charset="0"/>
                                      </a:rPr>
                                    </m:ctrlPr>
                                  </m:dPr>
                                  <m:e>
                                    <m:r>
                                      <m:rPr>
                                        <m:sty m:val="p"/>
                                      </m:rPr>
                                      <a:rPr lang="zh-CN" altLang="en-US" sz="1400" i="0">
                                        <a:solidFill>
                                          <a:schemeClr val="tx1"/>
                                        </a:solidFill>
                                        <a:latin typeface="Cambria Math" panose="02040503050406030204" pitchFamily="18" charset="0"/>
                                      </a:rPr>
                                      <m:t>Cos</m:t>
                                    </m:r>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2</m:t>
                                        </m:r>
                                      </m:sub>
                                    </m:sSub>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𝜃</m:t>
                                        </m:r>
                                      </m:e>
                                      <m:sub>
                                        <m:r>
                                          <a:rPr lang="zh-CN" altLang="en-US" sz="1400" i="0">
                                            <a:solidFill>
                                              <a:schemeClr val="tx1"/>
                                            </a:solidFill>
                                            <a:latin typeface="Cambria Math" panose="02040503050406030204" pitchFamily="18" charset="0"/>
                                          </a:rPr>
                                          <m:t>3</m:t>
                                        </m:r>
                                      </m:sub>
                                    </m:sSub>
                                  </m:e>
                                </m:d>
                                <m:r>
                                  <a:rPr lang="zh-CN" altLang="en-US" sz="1400" i="0">
                                    <a:solidFill>
                                      <a:schemeClr val="tx1"/>
                                    </a:solidFill>
                                    <a:latin typeface="Cambria Math" panose="02040503050406030204" pitchFamily="18" charset="0"/>
                                  </a:rPr>
                                  <m:t>⁢</m:t>
                                </m:r>
                                <m:sSub>
                                  <m:sSubPr>
                                    <m:ctrlPr>
                                      <a:rPr lang="zh-CN" altLang="en-US" sz="1400" i="1">
                                        <a:solidFill>
                                          <a:schemeClr val="tx1"/>
                                        </a:solidFill>
                                        <a:latin typeface="Cambria Math" panose="02040503050406030204" pitchFamily="18" charset="0"/>
                                      </a:rPr>
                                    </m:ctrlPr>
                                  </m:sSubPr>
                                  <m:e>
                                    <m:r>
                                      <a:rPr lang="zh-CN" altLang="en-US" sz="1400">
                                        <a:solidFill>
                                          <a:schemeClr val="tx1"/>
                                        </a:solidFill>
                                        <a:latin typeface="Cambria Math" panose="02040503050406030204" pitchFamily="18" charset="0"/>
                                      </a:rPr>
                                      <m:t>𝐿</m:t>
                                    </m:r>
                                  </m:e>
                                  <m:sub>
                                    <m:r>
                                      <a:rPr lang="zh-CN" altLang="en-US" sz="1400" i="0">
                                        <a:solidFill>
                                          <a:schemeClr val="tx1"/>
                                        </a:solidFill>
                                        <a:latin typeface="Cambria Math" panose="02040503050406030204" pitchFamily="18" charset="0"/>
                                      </a:rPr>
                                      <m:t>5</m:t>
                                    </m:r>
                                  </m:sub>
                                </m:sSub>
                              </m:e>
                            </m:mr>
                            <m:mr>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0</m:t>
                                </m:r>
                              </m:e>
                              <m:e>
                                <m:r>
                                  <a:rPr lang="zh-CN" altLang="en-US" sz="1400" i="0">
                                    <a:solidFill>
                                      <a:schemeClr val="tx1"/>
                                    </a:solidFill>
                                    <a:latin typeface="Cambria Math" panose="02040503050406030204" pitchFamily="18" charset="0"/>
                                  </a:rPr>
                                  <m:t>1</m:t>
                                </m:r>
                              </m:e>
                            </m:mr>
                          </m:m>
                        </m:e>
                      </m:d>
                    </m:oMath>
                  </m:oMathPara>
                </a14:m>
                <a:endParaRPr lang="zh-CN" altLang="en-US" sz="1400" dirty="0">
                  <a:solidFill>
                    <a:schemeClr val="tx1"/>
                  </a:solidFill>
                </a:endParaRPr>
              </a:p>
            </p:txBody>
          </p:sp>
        </mc:Choice>
        <mc:Fallback xmlns="">
          <p:sp>
            <p:nvSpPr>
              <p:cNvPr id="5" name="矩形 4">
                <a:extLst>
                  <a:ext uri="{FF2B5EF4-FFF2-40B4-BE49-F238E27FC236}">
                    <a16:creationId xmlns:a16="http://schemas.microsoft.com/office/drawing/2014/main" id="{D31C1D6A-30B8-4DC3-B121-4E9D29253661}"/>
                  </a:ext>
                </a:extLst>
              </p:cNvPr>
              <p:cNvSpPr>
                <a:spLocks noRot="1" noChangeAspect="1" noMove="1" noResize="1" noEditPoints="1" noAdjustHandles="1" noChangeArrowheads="1" noChangeShapeType="1" noTextEdit="1"/>
              </p:cNvSpPr>
              <p:nvPr/>
            </p:nvSpPr>
            <p:spPr>
              <a:xfrm>
                <a:off x="335360" y="782722"/>
                <a:ext cx="7915051" cy="920188"/>
              </a:xfrm>
              <a:prstGeom prst="rect">
                <a:avLst/>
              </a:prstGeom>
              <a:blipFill>
                <a:blip r:embed="rId3"/>
                <a:stretch>
                  <a:fillRect/>
                </a:stretch>
              </a:blipFill>
            </p:spPr>
            <p:txBody>
              <a:bodyPr/>
              <a:lstStyle/>
              <a:p>
                <a:r>
                  <a:rPr lang="zh-CN" altLang="en-US">
                    <a:noFill/>
                  </a:rPr>
                  <a:t> </a:t>
                </a:r>
              </a:p>
            </p:txBody>
          </p:sp>
        </mc:Fallback>
      </mc:AlternateContent>
      <p:sp>
        <p:nvSpPr>
          <p:cNvPr id="6" name="矩形: 圆角 5">
            <a:extLst>
              <a:ext uri="{FF2B5EF4-FFF2-40B4-BE49-F238E27FC236}">
                <a16:creationId xmlns:a16="http://schemas.microsoft.com/office/drawing/2014/main" id="{D9824E62-B327-4871-95CD-D82B34C6FBCE}"/>
              </a:ext>
            </a:extLst>
          </p:cNvPr>
          <p:cNvSpPr/>
          <p:nvPr/>
        </p:nvSpPr>
        <p:spPr>
          <a:xfrm>
            <a:off x="4435229" y="1260608"/>
            <a:ext cx="3532979" cy="220595"/>
          </a:xfrm>
          <a:prstGeom prst="round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82F81DE6-E642-46BB-A646-8540401E0BC3}"/>
              </a:ext>
            </a:extLst>
          </p:cNvPr>
          <p:cNvSpPr/>
          <p:nvPr/>
        </p:nvSpPr>
        <p:spPr>
          <a:xfrm>
            <a:off x="1415480" y="835390"/>
            <a:ext cx="1728192" cy="2205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ACDEE143-6BA1-47A1-B168-3B18CE4F8465}"/>
              </a:ext>
            </a:extLst>
          </p:cNvPr>
          <p:cNvSpPr/>
          <p:nvPr/>
        </p:nvSpPr>
        <p:spPr>
          <a:xfrm>
            <a:off x="4471305" y="823784"/>
            <a:ext cx="3496903" cy="2205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381F72A5-1BEB-4A25-90B8-0B31449C5395}"/>
              </a:ext>
            </a:extLst>
          </p:cNvPr>
          <p:cNvSpPr/>
          <p:nvPr/>
        </p:nvSpPr>
        <p:spPr>
          <a:xfrm>
            <a:off x="2148741" y="1288566"/>
            <a:ext cx="261669" cy="220595"/>
          </a:xfrm>
          <a:prstGeom prst="roundRect">
            <a:avLst/>
          </a:prstGeom>
          <a:no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 name="矩形: 圆角 9">
                <a:extLst>
                  <a:ext uri="{FF2B5EF4-FFF2-40B4-BE49-F238E27FC236}">
                    <a16:creationId xmlns:a16="http://schemas.microsoft.com/office/drawing/2014/main" id="{FB87C060-5C09-4F48-9001-0904F3B839E9}"/>
                  </a:ext>
                </a:extLst>
              </p:cNvPr>
              <p:cNvSpPr/>
              <p:nvPr/>
            </p:nvSpPr>
            <p:spPr>
              <a:xfrm>
                <a:off x="802246" y="5836904"/>
                <a:ext cx="4243487"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r>
                      <a:rPr lang="en-US" altLang="zh-CN">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en-US" altLang="zh-CN">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𝜙</m:t>
                    </m:r>
                  </m:oMath>
                </a14:m>
                <a:r>
                  <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r>
                      <a:rPr lang="en-US" altLang="zh-CN">
                        <a:solidFill>
                          <a:schemeClr val="tx1"/>
                        </a:solidFill>
                        <a:latin typeface="Cambria Math" panose="02040503050406030204" pitchFamily="18" charset="0"/>
                      </a:rPr>
                      <m:t>=</m:t>
                    </m:r>
                    <m:r>
                      <a:rPr lang="en-US" altLang="zh-CN" b="0" i="0" smtClean="0">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𝜙</m:t>
                    </m:r>
                  </m:oMath>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10" name="矩形: 圆角 9">
                <a:extLst>
                  <a:ext uri="{FF2B5EF4-FFF2-40B4-BE49-F238E27FC236}">
                    <a16:creationId xmlns:a16="http://schemas.microsoft.com/office/drawing/2014/main" id="{FB87C060-5C09-4F48-9001-0904F3B839E9}"/>
                  </a:ext>
                </a:extLst>
              </p:cNvPr>
              <p:cNvSpPr>
                <a:spLocks noRot="1" noChangeAspect="1" noMove="1" noResize="1" noEditPoints="1" noAdjustHandles="1" noChangeArrowheads="1" noChangeShapeType="1" noTextEdit="1"/>
              </p:cNvSpPr>
              <p:nvPr/>
            </p:nvSpPr>
            <p:spPr>
              <a:xfrm>
                <a:off x="802246" y="5836904"/>
                <a:ext cx="4243487" cy="432048"/>
              </a:xfrm>
              <a:prstGeom prst="roundRect">
                <a:avLst/>
              </a:prstGeom>
              <a:blipFill>
                <a:blip r:embed="rId4"/>
                <a:stretch>
                  <a:fillRect b="-4110"/>
                </a:stretch>
              </a:blipFill>
              <a:ln>
                <a:solidFill>
                  <a:srgbClr val="FF0000"/>
                </a:solidFill>
              </a:ln>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9410F7DA-C97A-48D4-AD61-F8149D56BF43}"/>
              </a:ext>
            </a:extLst>
          </p:cNvPr>
          <p:cNvSpPr txBox="1"/>
          <p:nvPr/>
        </p:nvSpPr>
        <p:spPr>
          <a:xfrm>
            <a:off x="8013808" y="763937"/>
            <a:ext cx="409086" cy="307777"/>
          </a:xfrm>
          <a:prstGeom prst="rect">
            <a:avLst/>
          </a:prstGeom>
          <a:noFill/>
        </p:spPr>
        <p:txBody>
          <a:bodyPr wrap="none" rtlCol="0">
            <a:spAutoFit/>
          </a:bodyPr>
          <a:lstStyle/>
          <a:p>
            <a:r>
              <a:rPr lang="en-US" altLang="zh-CN" sz="1400" i="0" dirty="0">
                <a:solidFill>
                  <a:srgbClr val="FF0000"/>
                </a:solidFill>
                <a:latin typeface="微软雅黑" panose="020B0503020204020204" pitchFamily="34" charset="-122"/>
                <a:ea typeface="微软雅黑" panose="020B0503020204020204" pitchFamily="34" charset="-122"/>
              </a:rPr>
              <a:t>(1)</a:t>
            </a:r>
            <a:endParaRPr lang="zh-CN" altLang="en-US" sz="1400" i="0"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5CE03042-ED00-48E6-8D1A-8D060163BDE7}"/>
              </a:ext>
            </a:extLst>
          </p:cNvPr>
          <p:cNvSpPr txBox="1"/>
          <p:nvPr/>
        </p:nvSpPr>
        <p:spPr>
          <a:xfrm>
            <a:off x="8013808" y="1216148"/>
            <a:ext cx="409086" cy="307777"/>
          </a:xfrm>
          <a:prstGeom prst="rect">
            <a:avLst/>
          </a:prstGeom>
          <a:noFill/>
        </p:spPr>
        <p:txBody>
          <a:bodyPr wrap="none" rtlCol="0">
            <a:spAutoFit/>
          </a:bodyPr>
          <a:lstStyle/>
          <a:p>
            <a:r>
              <a:rPr lang="en-US" altLang="zh-CN" sz="1400" i="0" dirty="0">
                <a:solidFill>
                  <a:srgbClr val="0000CC"/>
                </a:solidFill>
                <a:latin typeface="微软雅黑" panose="020B0503020204020204" pitchFamily="34" charset="-122"/>
                <a:ea typeface="微软雅黑" panose="020B0503020204020204" pitchFamily="34" charset="-122"/>
              </a:rPr>
              <a:t>(2)</a:t>
            </a:r>
            <a:endParaRPr lang="zh-CN" altLang="en-US" sz="1400"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E410846-CFA4-421C-8E5B-6476B5B5A0E1}"/>
                  </a:ext>
                </a:extLst>
              </p:cNvPr>
              <p:cNvSpPr/>
              <p:nvPr/>
            </p:nvSpPr>
            <p:spPr>
              <a:xfrm>
                <a:off x="52418" y="1848963"/>
                <a:ext cx="12229695" cy="9293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groupChr>
                        <m:groupChrPr>
                          <m:chr m:val="⇒"/>
                          <m:vertJc m:val="bot"/>
                          <m:ctrlPr>
                            <a:rPr lang="en-US" altLang="zh-CN" i="1" smtClean="0">
                              <a:latin typeface="Cambria Math" panose="02040503050406030204" pitchFamily="18" charset="0"/>
                            </a:rPr>
                          </m:ctrlPr>
                        </m:groupChrPr>
                        <m:e>
                          <m:r>
                            <a:rPr lang="en-US" altLang="zh-CN">
                              <a:latin typeface="Cambria Math" panose="02040503050406030204" pitchFamily="18" charset="0"/>
                            </a:rPr>
                            <m:t>𝜌</m:t>
                          </m:r>
                          <m:r>
                            <a:rPr lang="en-US" altLang="zh-CN">
                              <a:latin typeface="Cambria Math" panose="02040503050406030204" pitchFamily="18" charset="0"/>
                            </a:rPr>
                            <m:t>=</m:t>
                          </m:r>
                          <m:rad>
                            <m:radPr>
                              <m:degHide m:val="on"/>
                              <m:ctrlPr>
                                <a:rPr lang="en-US" altLang="zh-CN" i="1">
                                  <a:latin typeface="Cambria Math" panose="02040503050406030204" pitchFamily="18" charset="0"/>
                                </a:rPr>
                              </m:ctrlPr>
                            </m:radPr>
                            <m:deg/>
                            <m:e>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4</m:t>
                                  </m:r>
                                </m:sub>
                                <m:sup>
                                  <m:r>
                                    <a:rPr lang="en-US" altLang="zh-CN">
                                      <a:latin typeface="Cambria Math" panose="02040503050406030204" pitchFamily="18" charset="0"/>
                                    </a:rPr>
                                    <m:t>2</m:t>
                                  </m:r>
                                </m:sup>
                              </m:sSubSup>
                              <m:r>
                                <a:rPr lang="en-US" altLang="zh-CN">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5</m:t>
                                  </m:r>
                                </m:sub>
                                <m:sup>
                                  <m:r>
                                    <a:rPr lang="en-US" altLang="zh-CN">
                                      <a:latin typeface="Cambria Math" panose="02040503050406030204" pitchFamily="18" charset="0"/>
                                    </a:rPr>
                                    <m:t>2</m:t>
                                  </m:r>
                                </m:sup>
                              </m:sSubSup>
                            </m:e>
                          </m:rad>
                          <m:r>
                            <a:rPr lang="en-US" altLang="zh-CN">
                              <a:latin typeface="Cambria Math" panose="02040503050406030204" pitchFamily="18" charset="0"/>
                            </a:rPr>
                            <m:t>, </m:t>
                          </m:r>
                          <m:r>
                            <a:rPr lang="en-US" altLang="zh-CN">
                              <a:latin typeface="Cambria Math" panose="02040503050406030204" pitchFamily="18" charset="0"/>
                            </a:rPr>
                            <m:t>𝜙</m:t>
                          </m:r>
                          <m:r>
                            <a:rPr lang="en-US" altLang="zh-CN">
                              <a:latin typeface="Cambria Math" panose="02040503050406030204" pitchFamily="18" charset="0"/>
                            </a:rPr>
                            <m:t>=</m:t>
                          </m:r>
                          <m:r>
                            <m:rPr>
                              <m:sty m:val="p"/>
                            </m:rPr>
                            <a:rPr lang="en-US" altLang="zh-CN" i="0">
                              <a:latin typeface="Cambria Math" panose="02040503050406030204" pitchFamily="18" charset="0"/>
                            </a:rPr>
                            <m:t>Atan</m:t>
                          </m:r>
                          <m:r>
                            <a:rPr lang="en-US" altLang="zh-CN">
                              <a:latin typeface="Cambria Math" panose="02040503050406030204" pitchFamily="18" charset="0"/>
                            </a:rPr>
                            <m:t>2(</m:t>
                          </m:r>
                          <m:sSub>
                            <m:sSubPr>
                              <m:ctrlPr>
                                <a:rPr lang="en-US" altLang="zh-CN" i="1" smtClean="0">
                                  <a:latin typeface="Cambria Math" panose="02040503050406030204" pitchFamily="18" charset="0"/>
                                </a:rPr>
                              </m:ctrlPr>
                            </m:sSubPr>
                            <m:e>
                              <m:r>
                                <a:rPr lang="en-US" altLang="zh-CN">
                                  <a:latin typeface="Cambria Math" panose="02040503050406030204" pitchFamily="18" charset="0"/>
                                </a:rPr>
                                <m:t>𝐿</m:t>
                              </m:r>
                            </m:e>
                            <m:sub>
                              <m:r>
                                <a:rPr lang="en-US" altLang="zh-CN">
                                  <a:latin typeface="Cambria Math" panose="02040503050406030204" pitchFamily="18" charset="0"/>
                                </a:rPr>
                                <m:t>5</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𝐿</m:t>
                              </m:r>
                            </m:e>
                            <m:sub>
                              <m:r>
                                <a:rPr lang="en-US" altLang="zh-CN">
                                  <a:latin typeface="Cambria Math" panose="02040503050406030204" pitchFamily="18" charset="0"/>
                                </a:rPr>
                                <m:t>4</m:t>
                              </m:r>
                            </m:sub>
                          </m:sSub>
                          <m:r>
                            <a:rPr lang="en-US" altLang="zh-CN">
                              <a:latin typeface="Cambria Math" panose="02040503050406030204" pitchFamily="18" charset="0"/>
                            </a:rPr>
                            <m:t>)</m:t>
                          </m:r>
                        </m:e>
                      </m:groupChr>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4</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5</m:t>
                                    </m:r>
                                  </m:sub>
                                </m:sSub>
                                <m:r>
                                  <a:rPr lang="en-US" altLang="zh-CN">
                                    <a:latin typeface="Cambria Math" panose="02040503050406030204" pitchFamily="18" charset="0"/>
                                  </a:rPr>
                                  <m:t>=</m:t>
                                </m:r>
                                <m:r>
                                  <a:rPr lang="en-US" altLang="zh-CN">
                                    <a:latin typeface="Cambria Math" panose="02040503050406030204" pitchFamily="18" charset="0"/>
                                  </a:rPr>
                                  <m:t>𝜌</m:t>
                                </m:r>
                                <m:r>
                                  <a:rPr lang="en-US" altLang="zh-CN">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𝜙</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𝑠</m:t>
                                    </m:r>
                                  </m:e>
                                  <m:sub>
                                    <m:r>
                                      <a:rPr lang="en-US" altLang="zh-CN">
                                        <a:latin typeface="Cambria Math" panose="02040503050406030204" pitchFamily="18" charset="0"/>
                                      </a:rPr>
                                      <m:t>𝜙</m:t>
                                    </m:r>
                                  </m:sub>
                                </m:sSub>
                                <m:r>
                                  <a:rPr lang="en-US" altLang="zh-CN">
                                    <a:latin typeface="Cambria Math" panose="02040503050406030204" pitchFamily="18" charset="0"/>
                                  </a:rPr>
                                  <m:t>)=</m:t>
                                </m:r>
                                <m:r>
                                  <a:rPr lang="en-US" altLang="zh-CN">
                                    <a:latin typeface="Cambria Math" panose="02040503050406030204" pitchFamily="18" charset="0"/>
                                  </a:rPr>
                                  <m:t>𝜌</m:t>
                                </m:r>
                                <m:r>
                                  <a:rPr lang="en-US" altLang="zh-CN" i="1" smtClean="0">
                                    <a:latin typeface="Cambria Math" panose="02040503050406030204" pitchFamily="18" charset="0"/>
                                    <a:ea typeface="Cambria Math" panose="02040503050406030204" pitchFamily="18" charset="0"/>
                                  </a:rPr>
                                  <m:t>∙</m:t>
                                </m:r>
                                <m:r>
                                  <a:rPr lang="en-US" altLang="zh-CN">
                                    <a:latin typeface="Cambria Math" panose="02040503050406030204" pitchFamily="18" charset="0"/>
                                  </a:rPr>
                                  <m:t>𝑐</m:t>
                                </m:r>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r>
                                  <a:rPr lang="en-US" altLang="zh-CN">
                                    <a:latin typeface="Cambria Math" panose="02040503050406030204" pitchFamily="18" charset="0"/>
                                  </a:rPr>
                                  <m:t>)</m:t>
                                </m:r>
                                <m:r>
                                  <m:rPr>
                                    <m:nor/>
                                  </m:rPr>
                                  <a:rPr lang="zh-CN" altLang="en-US" dirty="0"/>
                                  <m:t> </m:t>
                                </m:r>
                              </m:e>
                            </m:mr>
                            <m:mr>
                              <m:e>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4</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5</m:t>
                                    </m:r>
                                  </m:sub>
                                </m:sSub>
                                <m:r>
                                  <a:rPr lang="en-US" altLang="zh-CN">
                                    <a:latin typeface="Cambria Math" panose="02040503050406030204" pitchFamily="18" charset="0"/>
                                  </a:rPr>
                                  <m:t>=−</m:t>
                                </m:r>
                                <m:r>
                                  <a:rPr lang="en-US" altLang="zh-CN">
                                    <a:latin typeface="Cambria Math" panose="02040503050406030204" pitchFamily="18" charset="0"/>
                                  </a:rPr>
                                  <m:t>𝜌</m:t>
                                </m:r>
                                <m:d>
                                  <m:dPr>
                                    <m:ctrlPr>
                                      <a:rPr lang="en-US" altLang="zh-CN" i="1">
                                        <a:latin typeface="Cambria Math" panose="02040503050406030204" pitchFamily="18" charset="0"/>
                                      </a:rPr>
                                    </m:ctrlPr>
                                  </m:dPr>
                                  <m:e>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𝑐</m:t>
                                        </m:r>
                                      </m:e>
                                      <m:sub>
                                        <m:r>
                                          <a:rPr lang="en-US" altLang="zh-CN">
                                            <a:latin typeface="Cambria Math" panose="02040503050406030204" pitchFamily="18" charset="0"/>
                                          </a:rPr>
                                          <m:t>𝜙</m:t>
                                        </m:r>
                                      </m:sub>
                                    </m:sSub>
                                    <m:r>
                                      <a:rPr lang="en-US" altLang="zh-CN"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e>
                                    </m:d>
                                    <m:r>
                                      <a:rPr lang="zh-CN" altLang="en-US" i="0">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𝑠</m:t>
                                        </m:r>
                                      </m:e>
                                      <m:sub>
                                        <m:r>
                                          <a:rPr lang="en-US" altLang="zh-CN">
                                            <a:latin typeface="Cambria Math" panose="02040503050406030204" pitchFamily="18" charset="0"/>
                                          </a:rPr>
                                          <m:t>𝜙</m:t>
                                        </m:r>
                                      </m:sub>
                                    </m:sSub>
                                  </m:e>
                                </m:d>
                                <m:r>
                                  <a:rPr lang="en-US" altLang="zh-CN">
                                    <a:latin typeface="Cambria Math" panose="02040503050406030204" pitchFamily="18" charset="0"/>
                                  </a:rPr>
                                  <m:t>=−</m:t>
                                </m:r>
                                <m:r>
                                  <a:rPr lang="en-US" altLang="zh-CN">
                                    <a:latin typeface="Cambria Math" panose="02040503050406030204" pitchFamily="18" charset="0"/>
                                  </a:rPr>
                                  <m:t>𝜌</m:t>
                                </m:r>
                                <m:r>
                                  <a:rPr lang="en-US" altLang="zh-CN">
                                    <a:latin typeface="Cambria Math" panose="02040503050406030204" pitchFamily="18" charset="0"/>
                                    <a:ea typeface="Cambria Math" panose="02040503050406030204" pitchFamily="18" charset="0"/>
                                  </a:rPr>
                                  <m:t>∙</m:t>
                                </m:r>
                                <m:r>
                                  <a:rPr lang="en-US" altLang="zh-CN">
                                    <a:latin typeface="Cambria Math" panose="02040503050406030204" pitchFamily="18" charset="0"/>
                                  </a:rPr>
                                  <m:t>𝑠</m:t>
                                </m:r>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r>
                                  <a:rPr lang="en-US" altLang="zh-CN">
                                    <a:latin typeface="Cambria Math" panose="02040503050406030204" pitchFamily="18" charset="0"/>
                                  </a:rPr>
                                  <m:t>)</m:t>
                                </m:r>
                                <m:r>
                                  <m:rPr>
                                    <m:nor/>
                                  </m:rPr>
                                  <a:rPr lang="zh-CN" altLang="en-US" dirty="0"/>
                                  <m:t> </m:t>
                                </m:r>
                              </m:e>
                            </m:mr>
                          </m:m>
                        </m:e>
                      </m:d>
                    </m:oMath>
                  </m:oMathPara>
                </a14:m>
                <a:endParaRPr lang="zh-CN" altLang="en-US" dirty="0"/>
              </a:p>
            </p:txBody>
          </p:sp>
        </mc:Choice>
        <mc:Fallback xmlns="">
          <p:sp>
            <p:nvSpPr>
              <p:cNvPr id="13" name="矩形 12">
                <a:extLst>
                  <a:ext uri="{FF2B5EF4-FFF2-40B4-BE49-F238E27FC236}">
                    <a16:creationId xmlns:a16="http://schemas.microsoft.com/office/drawing/2014/main" id="{AE410846-CFA4-421C-8E5B-6476B5B5A0E1}"/>
                  </a:ext>
                </a:extLst>
              </p:cNvPr>
              <p:cNvSpPr>
                <a:spLocks noRot="1" noChangeAspect="1" noMove="1" noResize="1" noEditPoints="1" noAdjustHandles="1" noChangeArrowheads="1" noChangeShapeType="1" noTextEdit="1"/>
              </p:cNvSpPr>
              <p:nvPr/>
            </p:nvSpPr>
            <p:spPr>
              <a:xfrm>
                <a:off x="52418" y="1848963"/>
                <a:ext cx="12229695" cy="92935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CC4D2C3-D9FE-49AA-A57C-07BECDF035DB}"/>
                  </a:ext>
                </a:extLst>
              </p:cNvPr>
              <p:cNvSpPr/>
              <p:nvPr/>
            </p:nvSpPr>
            <p:spPr>
              <a:xfrm>
                <a:off x="2230416" y="2921907"/>
                <a:ext cx="6008055" cy="7377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i="0" smtClean="0">
                          <a:latin typeface="Cambria Math" panose="02040503050406030204" pitchFamily="18" charset="0"/>
                        </a:rPr>
                        <m:t>px</m:t>
                      </m:r>
                      <m:r>
                        <a:rPr lang="zh-CN" altLang="en-US" i="0" smtClean="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r>
                        <a:rPr lang="zh-CN" altLang="en-US" i="0">
                          <a:latin typeface="Cambria Math" panose="02040503050406030204" pitchFamily="18" charset="0"/>
                        </a:rPr>
                        <m:t>+</m:t>
                      </m:r>
                      <m:r>
                        <m:rPr>
                          <m:sty m:val="p"/>
                        </m:rPr>
                        <a:rPr lang="zh-CN" altLang="en-US" i="0">
                          <a:latin typeface="Cambria Math" panose="02040503050406030204" pitchFamily="18" charset="0"/>
                        </a:rPr>
                        <m:t>py</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1</m:t>
                              </m:r>
                            </m:sub>
                          </m:sSub>
                        </m:e>
                      </m:d>
                      <m:r>
                        <a:rPr lang="en-US" altLang="zh-CN">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en-US" altLang="zh-CN">
                          <a:latin typeface="Cambria Math" panose="02040503050406030204" pitchFamily="18" charset="0"/>
                        </a:rPr>
                        <m:t>𝜌</m:t>
                      </m:r>
                      <m:r>
                        <a:rPr lang="en-US" altLang="zh-CN">
                          <a:latin typeface="Cambria Math" panose="02040503050406030204" pitchFamily="18" charset="0"/>
                          <a:ea typeface="Cambria Math" panose="02040503050406030204" pitchFamily="18" charset="0"/>
                        </a:rPr>
                        <m:t>∙</m:t>
                      </m:r>
                      <m:r>
                        <a:rPr lang="en-US" altLang="zh-CN" smtClean="0">
                          <a:latin typeface="Cambria Math" panose="02040503050406030204" pitchFamily="18" charset="0"/>
                        </a:rPr>
                        <m:t>𝑐</m:t>
                      </m:r>
                      <m:d>
                        <m:dPr>
                          <m:ctrlPr>
                            <a:rPr lang="en-US" altLang="zh-CN"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e>
                      </m:d>
                    </m:oMath>
                  </m:oMathPara>
                </a14:m>
                <a:endParaRPr lang="en-US" altLang="zh-CN" dirty="0"/>
              </a:p>
              <a:p>
                <a:pPr>
                  <a:lnSpc>
                    <a:spcPct val="150000"/>
                  </a:lnSpc>
                </a:pPr>
                <a:r>
                  <a:rPr lang="zh-CN" altLang="en-US" dirty="0"/>
                  <a:t>                             </a:t>
                </a:r>
                <a14:m>
                  <m:oMath xmlns:m="http://schemas.openxmlformats.org/officeDocument/2006/math">
                    <m:r>
                      <a:rPr lang="en-US" altLang="zh-CN" b="0" i="1" smtClean="0">
                        <a:latin typeface="Cambria Math" panose="02040503050406030204" pitchFamily="18" charset="0"/>
                      </a:rPr>
                      <m:t>−</m:t>
                    </m:r>
                    <m:r>
                      <m:rPr>
                        <m:sty m:val="p"/>
                      </m:rPr>
                      <a:rPr lang="zh-CN" altLang="en-US" i="0" smtClean="0">
                        <a:latin typeface="Cambria Math" panose="02040503050406030204" pitchFamily="18" charset="0"/>
                      </a:rPr>
                      <m:t>p</m:t>
                    </m:r>
                    <m:r>
                      <m:rPr>
                        <m:sty m:val="p"/>
                      </m:rPr>
                      <a:rPr lang="en-US" altLang="zh-CN" smtClean="0">
                        <a:latin typeface="Cambria Math" panose="02040503050406030204" pitchFamily="18" charset="0"/>
                      </a:rPr>
                      <m:t>z</m:t>
                    </m:r>
                    <m:r>
                      <a:rPr lang="en-US" altLang="zh-CN" b="0" i="1" smtClean="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2</m:t>
                        </m:r>
                      </m:sub>
                    </m:sSub>
                    <m:r>
                      <a:rPr lang="en-US" altLang="zh-CN" b="0" i="1" smtClean="0">
                        <a:latin typeface="Cambria Math" panose="02040503050406030204" pitchFamily="18" charset="0"/>
                      </a:rPr>
                      <m:t>+</m:t>
                    </m:r>
                    <m:r>
                      <a:rPr lang="en-US" altLang="zh-CN">
                        <a:latin typeface="Cambria Math" panose="02040503050406030204" pitchFamily="18" charset="0"/>
                      </a:rPr>
                      <m:t>𝜌</m:t>
                    </m:r>
                    <m:r>
                      <a:rPr lang="en-US" altLang="zh-CN">
                        <a:latin typeface="Cambria Math" panose="02040503050406030204" pitchFamily="18" charset="0"/>
                        <a:ea typeface="Cambria Math" panose="02040503050406030204" pitchFamily="18" charset="0"/>
                      </a:rPr>
                      <m:t>∙</m:t>
                    </m:r>
                    <m:r>
                      <a:rPr lang="en-US" altLang="zh-CN">
                        <a:latin typeface="Cambria Math" panose="02040503050406030204" pitchFamily="18" charset="0"/>
                      </a:rPr>
                      <m:t>𝑠</m:t>
                    </m:r>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r>
                      <a:rPr lang="en-US" altLang="zh-CN">
                        <a:latin typeface="Cambria Math" panose="02040503050406030204" pitchFamily="18" charset="0"/>
                      </a:rPr>
                      <m:t>)</m:t>
                    </m:r>
                  </m:oMath>
                </a14:m>
                <a:endParaRPr lang="zh-CN" altLang="en-US" dirty="0"/>
              </a:p>
            </p:txBody>
          </p:sp>
        </mc:Choice>
        <mc:Fallback xmlns="">
          <p:sp>
            <p:nvSpPr>
              <p:cNvPr id="14" name="矩形 13">
                <a:extLst>
                  <a:ext uri="{FF2B5EF4-FFF2-40B4-BE49-F238E27FC236}">
                    <a16:creationId xmlns:a16="http://schemas.microsoft.com/office/drawing/2014/main" id="{6CC4D2C3-D9FE-49AA-A57C-07BECDF035DB}"/>
                  </a:ext>
                </a:extLst>
              </p:cNvPr>
              <p:cNvSpPr>
                <a:spLocks noRot="1" noChangeAspect="1" noMove="1" noResize="1" noEditPoints="1" noAdjustHandles="1" noChangeArrowheads="1" noChangeShapeType="1" noTextEdit="1"/>
              </p:cNvSpPr>
              <p:nvPr/>
            </p:nvSpPr>
            <p:spPr>
              <a:xfrm>
                <a:off x="2230416" y="2921907"/>
                <a:ext cx="6008055" cy="737702"/>
              </a:xfrm>
              <a:prstGeom prst="rect">
                <a:avLst/>
              </a:prstGeom>
              <a:blipFill>
                <a:blip r:embed="rId6"/>
                <a:stretch>
                  <a:fillRect t="-62810" b="-95868"/>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5D925E6-9BF8-496D-8CD6-615454E09E19}"/>
              </a:ext>
            </a:extLst>
          </p:cNvPr>
          <p:cNvSpPr txBox="1"/>
          <p:nvPr/>
        </p:nvSpPr>
        <p:spPr>
          <a:xfrm>
            <a:off x="7996976" y="2930651"/>
            <a:ext cx="442750" cy="338554"/>
          </a:xfrm>
          <a:prstGeom prst="rect">
            <a:avLst/>
          </a:prstGeom>
          <a:noFill/>
        </p:spPr>
        <p:txBody>
          <a:bodyPr wrap="none" rtlCol="0">
            <a:spAutoFit/>
          </a:bodyPr>
          <a:lstStyle/>
          <a:p>
            <a:r>
              <a:rPr lang="en-US" altLang="zh-CN" sz="1600" i="0" dirty="0">
                <a:solidFill>
                  <a:srgbClr val="FF0000"/>
                </a:solidFill>
                <a:latin typeface="微软雅黑" panose="020B0503020204020204" pitchFamily="34" charset="-122"/>
                <a:ea typeface="微软雅黑" panose="020B0503020204020204" pitchFamily="34" charset="-122"/>
              </a:rPr>
              <a:t>(4)</a:t>
            </a:r>
            <a:endParaRPr lang="zh-CN" altLang="en-US" sz="1600" i="0" dirty="0">
              <a:solidFill>
                <a:srgbClr val="FF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4EDA4488-03BE-40C0-8D62-315D5BD09C59}"/>
              </a:ext>
            </a:extLst>
          </p:cNvPr>
          <p:cNvSpPr txBox="1"/>
          <p:nvPr/>
        </p:nvSpPr>
        <p:spPr>
          <a:xfrm>
            <a:off x="8008624" y="3303729"/>
            <a:ext cx="442750" cy="338554"/>
          </a:xfrm>
          <a:prstGeom prst="rect">
            <a:avLst/>
          </a:prstGeom>
          <a:noFill/>
        </p:spPr>
        <p:txBody>
          <a:bodyPr wrap="none" rtlCol="0">
            <a:spAutoFit/>
          </a:bodyPr>
          <a:lstStyle/>
          <a:p>
            <a:r>
              <a:rPr lang="en-US" altLang="zh-CN" sz="1600" i="0" dirty="0">
                <a:solidFill>
                  <a:srgbClr val="0000CC"/>
                </a:solidFill>
                <a:latin typeface="微软雅黑" panose="020B0503020204020204" pitchFamily="34" charset="-122"/>
                <a:ea typeface="微软雅黑" panose="020B0503020204020204" pitchFamily="34" charset="-122"/>
              </a:rPr>
              <a:t>(5)</a:t>
            </a:r>
            <a:endParaRPr lang="zh-CN" altLang="en-US" sz="1600"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D5C21658-7A73-48D7-8A2C-92FCCB06F9AD}"/>
                  </a:ext>
                </a:extLst>
              </p:cNvPr>
              <p:cNvSpPr/>
              <p:nvPr/>
            </p:nvSpPr>
            <p:spPr>
              <a:xfrm>
                <a:off x="178107" y="4698613"/>
                <a:ext cx="9139105" cy="10671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ea typeface="Cambria Math" panose="02040503050406030204" pitchFamily="18" charset="0"/>
                        </a:rPr>
                        <m:t>⟹</m:t>
                      </m:r>
                      <m:r>
                        <a:rPr lang="en-US" altLang="zh-CN" sz="2000">
                          <a:latin typeface="Cambria Math" panose="02040503050406030204" pitchFamily="18" charset="0"/>
                        </a:rPr>
                        <m:t>𝑐</m:t>
                      </m:r>
                      <m:d>
                        <m:dPr>
                          <m:ctrlPr>
                            <a:rPr lang="en-US" altLang="zh-CN"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3</m:t>
                              </m:r>
                            </m:sub>
                          </m:sSub>
                          <m:r>
                            <a:rPr lang="en-US" altLang="zh-CN" sz="2000">
                              <a:latin typeface="Cambria Math" panose="02040503050406030204" pitchFamily="18" charset="0"/>
                            </a:rPr>
                            <m:t>+</m:t>
                          </m:r>
                          <m:r>
                            <a:rPr lang="en-US" altLang="zh-CN" sz="2000">
                              <a:latin typeface="Cambria Math" panose="02040503050406030204" pitchFamily="18" charset="0"/>
                            </a:rPr>
                            <m:t>𝜙</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d>
                            <m:dPr>
                              <m:ctrlPr>
                                <a:rPr lang="en-US" altLang="zh-CN" sz="2000" b="0" i="1" smtClean="0">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𝑥</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𝑦</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𝑧</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sSubSup>
                                        <m:sSubSupPr>
                                          <m:ctrlPr>
                                            <a:rPr lang="en-US" altLang="zh-CN" sz="2000" i="1">
                                              <a:latin typeface="Cambria Math" panose="02040503050406030204" pitchFamily="18" charset="0"/>
                                            </a:rPr>
                                          </m:ctrlPr>
                                        </m:sSubSupPr>
                                        <m:e>
                                          <m:r>
                                            <a:rPr lang="zh-CN" altLang="en-US" sz="2000">
                                              <a:latin typeface="Cambria Math" panose="02040503050406030204" pitchFamily="18" charset="0"/>
                                            </a:rPr>
                                            <m:t>𝐿</m:t>
                                          </m:r>
                                        </m:e>
                                        <m:sub>
                                          <m:r>
                                            <a:rPr lang="en-US" altLang="zh-CN" sz="2000">
                                              <a:latin typeface="Cambria Math" panose="02040503050406030204" pitchFamily="18" charset="0"/>
                                            </a:rPr>
                                            <m:t>2</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r>
                                        <a:rPr lang="zh-CN" altLang="en-US" sz="2000">
                                          <a:latin typeface="Cambria Math" panose="02040503050406030204" pitchFamily="18" charset="0"/>
                                        </a:rPr>
                                        <m:t>𝐿</m:t>
                                      </m:r>
                                    </m:e>
                                    <m:sub>
                                      <m:r>
                                        <a:rPr lang="zh-CN" altLang="en-US" sz="2000" i="0">
                                          <a:latin typeface="Cambria Math" panose="02040503050406030204" pitchFamily="18" charset="0"/>
                                        </a:rPr>
                                        <m:t>3</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4</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5</m:t>
                                      </m:r>
                                    </m:sub>
                                    <m:sup>
                                      <m:r>
                                        <a:rPr lang="en-US" altLang="zh-CN" sz="2000">
                                          <a:latin typeface="Cambria Math" panose="02040503050406030204" pitchFamily="18" charset="0"/>
                                        </a:rPr>
                                        <m:t>2</m:t>
                                      </m:r>
                                    </m:sup>
                                  </m:sSubSup>
                                </m:e>
                              </m:d>
                            </m:e>
                          </m:d>
                        </m:num>
                        <m:den>
                          <m:r>
                            <a:rPr lang="en-US" altLang="zh-CN" sz="2000">
                              <a:latin typeface="Cambria Math" panose="02040503050406030204" pitchFamily="18" charset="0"/>
                            </a:rPr>
                            <m:t>2</m:t>
                          </m:r>
                          <m:r>
                            <a:rPr lang="en-US" altLang="zh-CN" sz="2000">
                              <a:latin typeface="Cambria Math" panose="02040503050406030204" pitchFamily="18" charset="0"/>
                            </a:rPr>
                            <m:t>𝜌</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2</m:t>
                              </m:r>
                            </m:sub>
                          </m:sSub>
                        </m:den>
                      </m:f>
                      <m:groupChr>
                        <m:groupChrPr>
                          <m:chr m:val="⇒"/>
                          <m:vertJc m:val="bot"/>
                          <m:ctrlPr>
                            <a:rPr lang="en-US" altLang="zh-CN" sz="2000" b="0" i="1" smtClean="0">
                              <a:latin typeface="Cambria Math" panose="02040503050406030204" pitchFamily="18" charset="0"/>
                            </a:rPr>
                          </m:ctrlPr>
                        </m:groupChrPr>
                        <m:e>
                          <m:r>
                            <m:rPr>
                              <m:brk m:alnAt="2"/>
                            </m:rP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𝑥</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𝑦</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𝑝</m:t>
                                      </m:r>
                                    </m:e>
                                    <m:sub>
                                      <m:r>
                                        <a:rPr lang="en-US" altLang="zh-CN" sz="2000">
                                          <a:latin typeface="Cambria Math" panose="02040503050406030204" pitchFamily="18" charset="0"/>
                                        </a:rPr>
                                        <m:t>𝑧</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sSubSup>
                                            <m:sSubSupPr>
                                              <m:ctrlPr>
                                                <a:rPr lang="en-US" altLang="zh-CN" sz="2000" i="1">
                                                  <a:latin typeface="Cambria Math" panose="02040503050406030204" pitchFamily="18" charset="0"/>
                                                </a:rPr>
                                              </m:ctrlPr>
                                            </m:sSubSupPr>
                                            <m:e>
                                              <m:r>
                                                <a:rPr lang="zh-CN" altLang="en-US" sz="2000">
                                                  <a:latin typeface="Cambria Math" panose="02040503050406030204" pitchFamily="18" charset="0"/>
                                                </a:rPr>
                                                <m:t>𝐿</m:t>
                                              </m:r>
                                            </m:e>
                                            <m:sub>
                                              <m:r>
                                                <a:rPr lang="en-US" altLang="zh-CN" sz="2000">
                                                  <a:latin typeface="Cambria Math" panose="02040503050406030204" pitchFamily="18" charset="0"/>
                                                </a:rPr>
                                                <m:t>2</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r>
                                            <a:rPr lang="zh-CN" altLang="en-US" sz="2000">
                                              <a:latin typeface="Cambria Math" panose="02040503050406030204" pitchFamily="18" charset="0"/>
                                            </a:rPr>
                                            <m:t>𝐿</m:t>
                                          </m:r>
                                        </m:e>
                                        <m:sub>
                                          <m:r>
                                            <a:rPr lang="zh-CN" altLang="en-US" sz="2000" i="0">
                                              <a:latin typeface="Cambria Math" panose="02040503050406030204" pitchFamily="18" charset="0"/>
                                            </a:rPr>
                                            <m:t>3</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4</m:t>
                                          </m:r>
                                        </m:sub>
                                        <m:sup>
                                          <m:r>
                                            <a:rPr lang="en-US" altLang="zh-CN" sz="2000">
                                              <a:latin typeface="Cambria Math" panose="02040503050406030204" pitchFamily="18" charset="0"/>
                                            </a:rPr>
                                            <m:t>2</m:t>
                                          </m:r>
                                        </m:sup>
                                      </m:sSubSup>
                                      <m:r>
                                        <a:rPr lang="en-US" altLang="zh-CN" sz="2000">
                                          <a:latin typeface="Cambria Math" panose="02040503050406030204" pitchFamily="18" charset="0"/>
                                        </a:rPr>
                                        <m:t>+</m:t>
                                      </m:r>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𝐿</m:t>
                                          </m:r>
                                        </m:e>
                                        <m:sub>
                                          <m:r>
                                            <a:rPr lang="en-US" altLang="zh-CN" sz="2000">
                                              <a:latin typeface="Cambria Math" panose="02040503050406030204" pitchFamily="18" charset="0"/>
                                            </a:rPr>
                                            <m:t>5</m:t>
                                          </m:r>
                                        </m:sub>
                                        <m:sup>
                                          <m:r>
                                            <a:rPr lang="en-US" altLang="zh-CN" sz="2000">
                                              <a:latin typeface="Cambria Math" panose="02040503050406030204" pitchFamily="18" charset="0"/>
                                            </a:rPr>
                                            <m:t>2</m:t>
                                          </m:r>
                                        </m:sup>
                                      </m:sSubSup>
                                    </m:e>
                                  </m:d>
                                </m:e>
                              </m:d>
                            </m:num>
                            <m:den>
                              <m:r>
                                <a:rPr lang="en-US" altLang="zh-CN" sz="2000">
                                  <a:latin typeface="Cambria Math" panose="02040503050406030204" pitchFamily="18" charset="0"/>
                                </a:rPr>
                                <m:t>2</m:t>
                              </m:r>
                              <m:r>
                                <a:rPr lang="en-US" altLang="zh-CN" sz="2000">
                                  <a:latin typeface="Cambria Math" panose="02040503050406030204" pitchFamily="18" charset="0"/>
                                </a:rPr>
                                <m:t>𝜌</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2</m:t>
                                  </m:r>
                                </m:sub>
                              </m:sSub>
                            </m:den>
                          </m:f>
                        </m:e>
                      </m:groupChr>
                    </m:oMath>
                  </m:oMathPara>
                </a14:m>
                <a:endParaRPr lang="zh-CN" altLang="en-US" sz="2000" dirty="0"/>
              </a:p>
            </p:txBody>
          </p:sp>
        </mc:Choice>
        <mc:Fallback xmlns="">
          <p:sp>
            <p:nvSpPr>
              <p:cNvPr id="19" name="矩形 18">
                <a:extLst>
                  <a:ext uri="{FF2B5EF4-FFF2-40B4-BE49-F238E27FC236}">
                    <a16:creationId xmlns:a16="http://schemas.microsoft.com/office/drawing/2014/main" id="{D5C21658-7A73-48D7-8A2C-92FCCB06F9AD}"/>
                  </a:ext>
                </a:extLst>
              </p:cNvPr>
              <p:cNvSpPr>
                <a:spLocks noRot="1" noChangeAspect="1" noMove="1" noResize="1" noEditPoints="1" noAdjustHandles="1" noChangeArrowheads="1" noChangeShapeType="1" noTextEdit="1"/>
              </p:cNvSpPr>
              <p:nvPr/>
            </p:nvSpPr>
            <p:spPr>
              <a:xfrm>
                <a:off x="178107" y="4698613"/>
                <a:ext cx="9139105" cy="1067152"/>
              </a:xfrm>
              <a:prstGeom prst="rect">
                <a:avLst/>
              </a:prstGeom>
              <a:blipFill>
                <a:blip r:embed="rId7"/>
                <a:stretch>
                  <a:fillRect/>
                </a:stretch>
              </a:blipFill>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8D5D1138-2F7B-4892-A029-83B489474C3E}"/>
              </a:ext>
            </a:extLst>
          </p:cNvPr>
          <p:cNvSpPr/>
          <p:nvPr/>
        </p:nvSpPr>
        <p:spPr>
          <a:xfrm>
            <a:off x="7543071" y="6034216"/>
            <a:ext cx="2214068"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对应的空间关系是</a:t>
            </a:r>
            <a:endParaRPr lang="en-US" altLang="zh-CN" b="1" i="0" dirty="0">
              <a:solidFill>
                <a:srgbClr val="0000C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63892E8A-3A21-433F-ACD0-87A852C84F25}"/>
              </a:ext>
            </a:extLst>
          </p:cNvPr>
          <p:cNvSpPr txBox="1"/>
          <p:nvPr/>
        </p:nvSpPr>
        <p:spPr>
          <a:xfrm>
            <a:off x="8013808" y="977494"/>
            <a:ext cx="409086" cy="307777"/>
          </a:xfrm>
          <a:prstGeom prst="rect">
            <a:avLst/>
          </a:prstGeom>
          <a:noFill/>
        </p:spPr>
        <p:txBody>
          <a:bodyPr wrap="none" rtlCol="0">
            <a:spAutoFit/>
          </a:bodyPr>
          <a:lstStyle/>
          <a:p>
            <a:r>
              <a:rPr lang="en-US" altLang="zh-CN" sz="1400" i="0" dirty="0">
                <a:solidFill>
                  <a:srgbClr val="00B050"/>
                </a:solidFill>
                <a:latin typeface="微软雅黑" panose="020B0503020204020204" pitchFamily="34" charset="-122"/>
                <a:ea typeface="微软雅黑" panose="020B0503020204020204" pitchFamily="34" charset="-122"/>
              </a:rPr>
              <a:t>(3)</a:t>
            </a:r>
            <a:endParaRPr lang="zh-CN" altLang="en-US" sz="1400" i="0" dirty="0">
              <a:solidFill>
                <a:srgbClr val="00B05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BC61EBE3-927C-4255-BBCB-6AA4A54A30B6}"/>
                  </a:ext>
                </a:extLst>
              </p:cNvPr>
              <p:cNvSpPr/>
              <p:nvPr/>
            </p:nvSpPr>
            <p:spPr>
              <a:xfrm>
                <a:off x="-1911" y="3694703"/>
                <a:ext cx="8010536" cy="879921"/>
              </a:xfrm>
              <a:prstGeom prst="rect">
                <a:avLst/>
              </a:prstGeom>
            </p:spPr>
            <p:txBody>
              <a:bodyPr wrap="square">
                <a:spAutoFit/>
              </a:bodyPr>
              <a:lstStyle/>
              <a:p>
                <a:pPr>
                  <a:lnSpc>
                    <a:spcPct val="110000"/>
                  </a:lnSpc>
                </a:pPr>
                <a14:m>
                  <m:oMathPara xmlns:m="http://schemas.openxmlformats.org/officeDocument/2006/math">
                    <m:oMathParaPr>
                      <m:jc m:val="left"/>
                    </m:oMathParaPr>
                    <m:oMath xmlns:m="http://schemas.openxmlformats.org/officeDocument/2006/math">
                      <m:groupChr>
                        <m:groupChrPr>
                          <m:chr m:val="⇒"/>
                          <m:vertJc m:val="bot"/>
                          <m:ctrlPr>
                            <a:rPr lang="zh-CN" altLang="en-US" i="1" smtClean="0">
                              <a:latin typeface="Cambria Math" panose="02040503050406030204" pitchFamily="18" charset="0"/>
                            </a:rPr>
                          </m:ctrlPr>
                        </m:groupChrPr>
                        <m:e>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4</m:t>
                                  </m:r>
                                </m:e>
                              </m:d>
                            </m:e>
                            <m:sup>
                              <m:r>
                                <m:rPr>
                                  <m:brk m:alnAt="2"/>
                                </m:rPr>
                                <a:rPr lang="en-US" altLang="zh-CN" b="0" i="1" smtClean="0">
                                  <a:latin typeface="Cambria Math" panose="02040503050406030204" pitchFamily="18" charset="0"/>
                                </a:rPr>
                                <m:t>2</m:t>
                              </m:r>
                            </m:sup>
                          </m:sSup>
                          <m:r>
                            <m:rPr>
                              <m:brk m:alnAt="2"/>
                            </m:rP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b="0" i="1" smtClean="0">
                                      <a:latin typeface="Cambria Math" panose="02040503050406030204" pitchFamily="18" charset="0"/>
                                    </a:rPr>
                                    <m:t>5</m:t>
                                  </m:r>
                                </m:e>
                              </m:d>
                            </m:e>
                            <m:sup>
                              <m:r>
                                <m:rPr>
                                  <m:brk m:alnAt="2"/>
                                </m:rPr>
                                <a:rPr lang="en-US" altLang="zh-CN">
                                  <a:latin typeface="Cambria Math" panose="02040503050406030204" pitchFamily="18" charset="0"/>
                                </a:rPr>
                                <m:t>2</m:t>
                              </m:r>
                            </m:sup>
                          </m:sSup>
                          <m:r>
                            <m:rPr>
                              <m:brk m:alnAt="2"/>
                            </m:rPr>
                            <a:rPr lang="en-US" altLang="zh-CN">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b="0" i="1" smtClean="0">
                                      <a:latin typeface="Cambria Math" panose="02040503050406030204" pitchFamily="18" charset="0"/>
                                    </a:rPr>
                                    <m:t>3</m:t>
                                  </m:r>
                                </m:e>
                              </m:d>
                            </m:e>
                            <m:sup>
                              <m:r>
                                <m:rPr>
                                  <m:brk m:alnAt="2"/>
                                </m:rPr>
                                <a:rPr lang="en-US" altLang="zh-CN">
                                  <a:latin typeface="Cambria Math" panose="02040503050406030204" pitchFamily="18" charset="0"/>
                                </a:rPr>
                                <m:t>2</m:t>
                              </m:r>
                            </m:sup>
                          </m:sSup>
                        </m:e>
                      </m:groupCh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𝑥</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𝑦</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𝑧</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sSubSup>
                            <m:sSubSupPr>
                              <m:ctrlPr>
                                <a:rPr lang="en-US" altLang="zh-CN" i="1">
                                  <a:latin typeface="Cambria Math" panose="02040503050406030204" pitchFamily="18" charset="0"/>
                                </a:rPr>
                              </m:ctrlPr>
                            </m:sSubSupPr>
                            <m:e>
                              <m:r>
                                <a:rPr lang="zh-CN" altLang="en-US">
                                  <a:latin typeface="Cambria Math" panose="02040503050406030204" pitchFamily="18" charset="0"/>
                                </a:rPr>
                                <m:t>𝐿</m:t>
                              </m:r>
                            </m:e>
                            <m:sub>
                              <m:r>
                                <a:rPr lang="en-US" altLang="zh-CN" b="0" i="1" smtClean="0">
                                  <a:latin typeface="Cambria Math" panose="02040503050406030204" pitchFamily="18" charset="0"/>
                                </a:rPr>
                                <m:t>2</m:t>
                              </m:r>
                            </m:sub>
                            <m:sup>
                              <m:r>
                                <a:rPr lang="en-US" altLang="zh-CN">
                                  <a:latin typeface="Cambria Math" panose="02040503050406030204" pitchFamily="18" charset="0"/>
                                </a:rPr>
                                <m:t>2</m:t>
                              </m:r>
                            </m:sup>
                          </m:sSubSup>
                          <m:r>
                            <a:rPr lang="en-US" altLang="zh-CN" b="0" i="1" smtClean="0">
                              <a:latin typeface="Cambria Math" panose="02040503050406030204" pitchFamily="18" charset="0"/>
                            </a:rPr>
                            <m:t>+</m:t>
                          </m:r>
                          <m:r>
                            <a:rPr lang="zh-CN" altLang="en-US">
                              <a:latin typeface="Cambria Math" panose="02040503050406030204" pitchFamily="18" charset="0"/>
                            </a:rPr>
                            <m:t>𝐿</m:t>
                          </m:r>
                        </m:e>
                        <m:sub>
                          <m:r>
                            <a:rPr lang="zh-CN" altLang="en-US" i="0">
                              <a:latin typeface="Cambria Math" panose="02040503050406030204" pitchFamily="18" charset="0"/>
                            </a:rPr>
                            <m:t>3</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4</m:t>
                          </m:r>
                        </m:sub>
                        <m:sup>
                          <m:r>
                            <a:rPr lang="en-US" altLang="zh-CN">
                              <a:latin typeface="Cambria Math" panose="02040503050406030204" pitchFamily="18" charset="0"/>
                            </a:rPr>
                            <m:t>2</m:t>
                          </m:r>
                        </m:sup>
                      </m:sSubSup>
                      <m:r>
                        <a:rPr lang="en-US" altLang="zh-CN">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5</m:t>
                          </m:r>
                        </m:sub>
                        <m:sup>
                          <m:r>
                            <a:rPr lang="en-US" altLang="zh-CN">
                              <a:latin typeface="Cambria Math" panose="02040503050406030204" pitchFamily="18" charset="0"/>
                            </a:rPr>
                            <m:t>2</m:t>
                          </m:r>
                        </m:sup>
                      </m:sSubSup>
                      <m:r>
                        <a:rPr lang="en-US" altLang="zh-CN" b="0" i="1" smtClean="0">
                          <a:latin typeface="Cambria Math" panose="02040503050406030204" pitchFamily="18" charset="0"/>
                        </a:rPr>
                        <m:t>+2</m:t>
                      </m:r>
                      <m:r>
                        <a:rPr lang="en-US" altLang="zh-CN">
                          <a:latin typeface="Cambria Math" panose="02040503050406030204" pitchFamily="18" charset="0"/>
                        </a:rPr>
                        <m:t>𝜌</m:t>
                      </m:r>
                      <m:sSub>
                        <m:sSubPr>
                          <m:ctrlPr>
                            <a:rPr lang="zh-CN" altLang="en-US" i="1">
                              <a:latin typeface="Cambria Math" panose="02040503050406030204" pitchFamily="18" charset="0"/>
                            </a:rPr>
                          </m:ctrlPr>
                        </m:sSubPr>
                        <m:e>
                          <m:r>
                            <a:rPr lang="zh-CN" altLang="en-US">
                              <a:latin typeface="Cambria Math" panose="02040503050406030204" pitchFamily="18" charset="0"/>
                            </a:rPr>
                            <m:t>𝐿</m:t>
                          </m:r>
                        </m:e>
                        <m:sub>
                          <m:r>
                            <a:rPr lang="zh-CN" altLang="en-US" i="0">
                              <a:latin typeface="Cambria Math" panose="02040503050406030204" pitchFamily="18" charset="0"/>
                            </a:rPr>
                            <m:t>2</m:t>
                          </m:r>
                        </m:sub>
                      </m:sSub>
                      <m:r>
                        <a:rPr lang="en-US" altLang="zh-CN" b="0" i="1" smtClean="0">
                          <a:latin typeface="Cambria Math" panose="02040503050406030204" pitchFamily="18" charset="0"/>
                        </a:rPr>
                        <m:t>(</m:t>
                      </m:r>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Cos</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e>
                      </m:d>
                      <m:r>
                        <a:rPr lang="zh-CN" altLang="en-US" i="0">
                          <a:latin typeface="Cambria Math" panose="02040503050406030204" pitchFamily="18" charset="0"/>
                        </a:rPr>
                        <m:t>⁢</m:t>
                      </m:r>
                      <m:r>
                        <a:rPr lang="en-US" altLang="zh-CN">
                          <a:latin typeface="Cambria Math" panose="02040503050406030204" pitchFamily="18" charset="0"/>
                        </a:rPr>
                        <m:t>𝑐</m:t>
                      </m:r>
                      <m:d>
                        <m:dPr>
                          <m:ctrlPr>
                            <a:rPr lang="en-US" altLang="zh-CN"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e>
                      </m:d>
                      <m:r>
                        <a:rPr lang="en-US" altLang="zh-CN" b="0" i="1" smtClean="0">
                          <a:latin typeface="Cambria Math" panose="02040503050406030204" pitchFamily="18" charset="0"/>
                        </a:rPr>
                        <m:t>+</m:t>
                      </m:r>
                    </m:oMath>
                  </m:oMathPara>
                </a14:m>
                <a:endParaRPr lang="en-US" altLang="zh-CN" b="0" i="1" dirty="0">
                  <a:latin typeface="Cambria Math" panose="02040503050406030204" pitchFamily="18" charset="0"/>
                </a:endParaRPr>
              </a:p>
              <a:p>
                <a:pPr>
                  <a:lnSpc>
                    <a:spcPct val="110000"/>
                  </a:lnSpc>
                </a:pPr>
                <a14:m>
                  <m:oMathPara xmlns:m="http://schemas.openxmlformats.org/officeDocument/2006/math">
                    <m:oMathParaPr>
                      <m:jc m:val="right"/>
                    </m:oMathParaPr>
                    <m:oMath xmlns:m="http://schemas.openxmlformats.org/officeDocument/2006/math">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Sin</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e>
                      </m:d>
                      <m:r>
                        <a:rPr lang="en-US" altLang="zh-CN">
                          <a:latin typeface="Cambria Math" panose="02040503050406030204" pitchFamily="18" charset="0"/>
                        </a:rPr>
                        <m:t>𝑠</m:t>
                      </m:r>
                      <m:r>
                        <a:rPr lang="en-US" altLang="zh-CN">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r>
                        <a:rPr lang="en-US" altLang="zh-CN">
                          <a:latin typeface="Cambria Math" panose="02040503050406030204" pitchFamily="18" charset="0"/>
                        </a:rPr>
                        <m:t>+</m:t>
                      </m:r>
                      <m:r>
                        <a:rPr lang="en-US" altLang="zh-CN">
                          <a:latin typeface="Cambria Math" panose="02040503050406030204" pitchFamily="18" charset="0"/>
                        </a:rPr>
                        <m:t>𝜙</m:t>
                      </m:r>
                      <m:r>
                        <a:rPr lang="en-US" altLang="zh-CN">
                          <a:latin typeface="Cambria Math" panose="02040503050406030204" pitchFamily="18" charset="0"/>
                        </a:rPr>
                        <m:t>)</m:t>
                      </m:r>
                      <m:r>
                        <a:rPr lang="en-US" altLang="zh-CN" b="0" i="1" smtClean="0">
                          <a:latin typeface="Cambria Math" panose="02040503050406030204" pitchFamily="18" charset="0"/>
                        </a:rPr>
                        <m:t>)</m:t>
                      </m:r>
                    </m:oMath>
                  </m:oMathPara>
                </a14:m>
                <a:endParaRPr lang="zh-CN" altLang="en-US" dirty="0"/>
              </a:p>
            </p:txBody>
          </p:sp>
        </mc:Choice>
        <mc:Fallback xmlns="">
          <p:sp>
            <p:nvSpPr>
              <p:cNvPr id="22" name="矩形 21">
                <a:extLst>
                  <a:ext uri="{FF2B5EF4-FFF2-40B4-BE49-F238E27FC236}">
                    <a16:creationId xmlns:a16="http://schemas.microsoft.com/office/drawing/2014/main" id="{BC61EBE3-927C-4255-BBCB-6AA4A54A30B6}"/>
                  </a:ext>
                </a:extLst>
              </p:cNvPr>
              <p:cNvSpPr>
                <a:spLocks noRot="1" noChangeAspect="1" noMove="1" noResize="1" noEditPoints="1" noAdjustHandles="1" noChangeArrowheads="1" noChangeShapeType="1" noTextEdit="1"/>
              </p:cNvSpPr>
              <p:nvPr/>
            </p:nvSpPr>
            <p:spPr>
              <a:xfrm>
                <a:off x="-1911" y="3694703"/>
                <a:ext cx="8010536" cy="879921"/>
              </a:xfrm>
              <a:prstGeom prst="rect">
                <a:avLst/>
              </a:prstGeom>
              <a:blipFill>
                <a:blip r:embed="rId8"/>
                <a:stretch>
                  <a:fillRect r="-304" b="-78472"/>
                </a:stretch>
              </a:blipFill>
            </p:spPr>
            <p:txBody>
              <a:bodyPr/>
              <a:lstStyle/>
              <a:p>
                <a:r>
                  <a:rPr lang="zh-CN" altLang="en-US">
                    <a:noFill/>
                  </a:rPr>
                  <a:t> </a:t>
                </a:r>
              </a:p>
            </p:txBody>
          </p:sp>
        </mc:Fallback>
      </mc:AlternateContent>
      <p:graphicFrame>
        <p:nvGraphicFramePr>
          <p:cNvPr id="23" name="Object 3">
            <a:extLst>
              <a:ext uri="{FF2B5EF4-FFF2-40B4-BE49-F238E27FC236}">
                <a16:creationId xmlns:a16="http://schemas.microsoft.com/office/drawing/2014/main" id="{84FF1E6F-5B4D-4B9C-BEAF-A2250205A3A1}"/>
              </a:ext>
            </a:extLst>
          </p:cNvPr>
          <p:cNvGraphicFramePr>
            <a:graphicFrameLocks noChangeAspect="1"/>
          </p:cNvGraphicFramePr>
          <p:nvPr>
            <p:extLst>
              <p:ext uri="{D42A27DB-BD31-4B8C-83A1-F6EECF244321}">
                <p14:modId xmlns:p14="http://schemas.microsoft.com/office/powerpoint/2010/main" val="2988217717"/>
              </p:ext>
            </p:extLst>
          </p:nvPr>
        </p:nvGraphicFramePr>
        <p:xfrm>
          <a:off x="9836448" y="4908482"/>
          <a:ext cx="2155147" cy="1936913"/>
        </p:xfrm>
        <a:graphic>
          <a:graphicData uri="http://schemas.openxmlformats.org/presentationml/2006/ole">
            <mc:AlternateContent xmlns:mc="http://schemas.openxmlformats.org/markup-compatibility/2006">
              <mc:Choice xmlns:v="urn:schemas-microsoft-com:vml" Requires="v">
                <p:oleObj name="位图图像" r:id="rId9" imgW="2392381" imgH="1996613" progId="Paint.Picture">
                  <p:embed/>
                </p:oleObj>
              </mc:Choice>
              <mc:Fallback>
                <p:oleObj name="位图图像" r:id="rId9" imgW="2392381" imgH="1996613" progId="Paint.Picture">
                  <p:embed/>
                  <p:pic>
                    <p:nvPicPr>
                      <p:cNvPr id="23" name="Object 3">
                        <a:extLst>
                          <a:ext uri="{FF2B5EF4-FFF2-40B4-BE49-F238E27FC236}">
                            <a16:creationId xmlns:a16="http://schemas.microsoft.com/office/drawing/2014/main" id="{84FF1E6F-5B4D-4B9C-BEAF-A2250205A3A1}"/>
                          </a:ext>
                        </a:extLst>
                      </p:cNvPr>
                      <p:cNvPicPr>
                        <a:picLocks noChangeAspect="1" noChangeArrowheads="1"/>
                      </p:cNvPicPr>
                      <p:nvPr/>
                    </p:nvPicPr>
                    <p:blipFill>
                      <a:blip r:embed="rId10">
                        <a:lum contrast="18000"/>
                        <a:extLst>
                          <a:ext uri="{28A0092B-C50C-407E-A947-70E740481C1C}">
                            <a14:useLocalDpi xmlns:a14="http://schemas.microsoft.com/office/drawing/2010/main" val="0"/>
                          </a:ext>
                        </a:extLst>
                      </a:blip>
                      <a:srcRect/>
                      <a:stretch>
                        <a:fillRect/>
                      </a:stretch>
                    </p:blipFill>
                    <p:spPr bwMode="auto">
                      <a:xfrm>
                        <a:off x="9836448" y="4908482"/>
                        <a:ext cx="2155147" cy="193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4">
            <a:extLst>
              <a:ext uri="{FF2B5EF4-FFF2-40B4-BE49-F238E27FC236}">
                <a16:creationId xmlns:a16="http://schemas.microsoft.com/office/drawing/2014/main" id="{01D17FBC-EF88-49B0-A795-EC8AC59DFE6F}"/>
              </a:ext>
            </a:extLst>
          </p:cNvPr>
          <p:cNvGraphicFramePr>
            <a:graphicFrameLocks noChangeAspect="1"/>
          </p:cNvGraphicFramePr>
          <p:nvPr>
            <p:extLst>
              <p:ext uri="{D42A27DB-BD31-4B8C-83A1-F6EECF244321}">
                <p14:modId xmlns:p14="http://schemas.microsoft.com/office/powerpoint/2010/main" val="2267602996"/>
              </p:ext>
            </p:extLst>
          </p:nvPr>
        </p:nvGraphicFramePr>
        <p:xfrm>
          <a:off x="9757139" y="2650641"/>
          <a:ext cx="2155147" cy="2106278"/>
        </p:xfrm>
        <a:graphic>
          <a:graphicData uri="http://schemas.openxmlformats.org/presentationml/2006/ole">
            <mc:AlternateContent xmlns:mc="http://schemas.openxmlformats.org/markup-compatibility/2006">
              <mc:Choice xmlns:v="urn:schemas-microsoft-com:vml" Requires="v">
                <p:oleObj name="位图图像" r:id="rId11" imgW="2309060" imgH="2171888" progId="Paint.Picture">
                  <p:embed/>
                </p:oleObj>
              </mc:Choice>
              <mc:Fallback>
                <p:oleObj name="位图图像" r:id="rId11" imgW="2309060" imgH="2171888" progId="Paint.Picture">
                  <p:embed/>
                  <p:pic>
                    <p:nvPicPr>
                      <p:cNvPr id="24" name="Object 4">
                        <a:extLst>
                          <a:ext uri="{FF2B5EF4-FFF2-40B4-BE49-F238E27FC236}">
                            <a16:creationId xmlns:a16="http://schemas.microsoft.com/office/drawing/2014/main" id="{01D17FBC-EF88-49B0-A795-EC8AC59DFE6F}"/>
                          </a:ext>
                        </a:extLst>
                      </p:cNvPr>
                      <p:cNvPicPr>
                        <a:picLocks noChangeAspect="1" noChangeArrowheads="1"/>
                      </p:cNvPicPr>
                      <p:nvPr/>
                    </p:nvPicPr>
                    <p:blipFill>
                      <a:blip r:embed="rId12">
                        <a:lum bright="-36000" contrast="94000"/>
                        <a:extLst>
                          <a:ext uri="{28A0092B-C50C-407E-A947-70E740481C1C}">
                            <a14:useLocalDpi xmlns:a14="http://schemas.microsoft.com/office/drawing/2010/main" val="0"/>
                          </a:ext>
                        </a:extLst>
                      </a:blip>
                      <a:srcRect/>
                      <a:stretch>
                        <a:fillRect/>
                      </a:stretch>
                    </p:blipFill>
                    <p:spPr bwMode="auto">
                      <a:xfrm>
                        <a:off x="9757139" y="2650641"/>
                        <a:ext cx="2155147" cy="2106278"/>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B58B0A0-4D00-467C-B9B3-DC74961233C3}"/>
                  </a:ext>
                </a:extLst>
              </p:cNvPr>
              <p:cNvSpPr txBox="1"/>
              <p:nvPr/>
            </p:nvSpPr>
            <p:spPr>
              <a:xfrm>
                <a:off x="335360" y="2384575"/>
                <a:ext cx="1904814" cy="53213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1400" i="1" smtClean="0">
                          <a:latin typeface="Cambria Math" panose="02040503050406030204" pitchFamily="18" charset="0"/>
                        </a:rPr>
                        <m:t>𝑠𝑖𝑛</m:t>
                      </m:r>
                      <m:r>
                        <a:rPr lang="zh-CN" altLang="en-US" sz="1400" i="1" smtClean="0">
                          <a:latin typeface="Cambria Math" panose="02040503050406030204" pitchFamily="18" charset="0"/>
                        </a:rPr>
                        <m:t>𝜑</m:t>
                      </m:r>
                      <m:r>
                        <a:rPr lang="zh-CN" altLang="en-US" sz="1400" i="0">
                          <a:latin typeface="Cambria Math" panose="02040503050406030204" pitchFamily="18" charset="0"/>
                        </a:rPr>
                        <m:t>=</m:t>
                      </m:r>
                      <m:f>
                        <m:fPr>
                          <m:ctrlPr>
                            <a:rPr lang="zh-CN" altLang="en-US" sz="1400" i="1">
                              <a:solidFill>
                                <a:srgbClr val="836967"/>
                              </a:solidFill>
                              <a:latin typeface="Cambria Math" panose="02040503050406030204" pitchFamily="18" charset="0"/>
                            </a:rPr>
                          </m:ctrlPr>
                        </m:fPr>
                        <m:num>
                          <m:sSub>
                            <m:sSubPr>
                              <m:ctrlPr>
                                <a:rPr lang="zh-CN" altLang="en-US" sz="1400" i="1">
                                  <a:solidFill>
                                    <a:srgbClr val="836967"/>
                                  </a:solidFill>
                                  <a:latin typeface="Cambria Math" panose="02040503050406030204" pitchFamily="18" charset="0"/>
                                </a:rPr>
                              </m:ctrlPr>
                            </m:sSubPr>
                            <m:e>
                              <m:r>
                                <a:rPr lang="en-US" altLang="zh-CN" sz="1400" b="0" i="1" smtClean="0">
                                  <a:latin typeface="Cambria Math" panose="02040503050406030204" pitchFamily="18" charset="0"/>
                                </a:rPr>
                                <m:t>𝐿</m:t>
                              </m:r>
                            </m:e>
                            <m:sub>
                              <m:r>
                                <a:rPr lang="en-US" altLang="zh-CN" sz="1400" b="0" i="1" smtClean="0">
                                  <a:latin typeface="Cambria Math" panose="02040503050406030204" pitchFamily="18" charset="0"/>
                                </a:rPr>
                                <m:t>5</m:t>
                              </m:r>
                            </m:sub>
                          </m:sSub>
                        </m:num>
                        <m:den>
                          <m:r>
                            <a:rPr lang="zh-CN" altLang="en-US" sz="1400" i="1">
                              <a:latin typeface="Cambria Math" panose="02040503050406030204" pitchFamily="18" charset="0"/>
                            </a:rPr>
                            <m:t>𝜌</m:t>
                          </m:r>
                        </m:den>
                      </m:f>
                      <m:r>
                        <a:rPr lang="zh-CN" altLang="en-US" sz="1400" i="0">
                          <a:latin typeface="Cambria Math" panose="02040503050406030204" pitchFamily="18" charset="0"/>
                        </a:rPr>
                        <m:t>  </m:t>
                      </m:r>
                      <m:r>
                        <a:rPr lang="zh-CN" altLang="en-US" sz="1400" i="1">
                          <a:latin typeface="Cambria Math" panose="02040503050406030204" pitchFamily="18" charset="0"/>
                        </a:rPr>
                        <m:t>𝑐𝑜𝑠</m:t>
                      </m:r>
                      <m:r>
                        <a:rPr lang="zh-CN" altLang="en-US" sz="1400" i="1">
                          <a:latin typeface="Cambria Math" panose="02040503050406030204" pitchFamily="18" charset="0"/>
                        </a:rPr>
                        <m:t>𝜑</m:t>
                      </m:r>
                      <m:r>
                        <a:rPr lang="zh-CN" altLang="en-US" sz="1400" i="0">
                          <a:latin typeface="Cambria Math" panose="02040503050406030204" pitchFamily="18" charset="0"/>
                        </a:rPr>
                        <m:t>=</m:t>
                      </m:r>
                      <m:f>
                        <m:fPr>
                          <m:ctrlPr>
                            <a:rPr lang="zh-CN" altLang="en-US" sz="1400" i="1">
                              <a:solidFill>
                                <a:srgbClr val="836967"/>
                              </a:solidFill>
                              <a:latin typeface="Cambria Math" panose="02040503050406030204" pitchFamily="18" charset="0"/>
                            </a:rPr>
                          </m:ctrlPr>
                        </m:fPr>
                        <m:num>
                          <m:sSub>
                            <m:sSubPr>
                              <m:ctrlPr>
                                <a:rPr lang="zh-CN" altLang="en-US" sz="1400" i="1">
                                  <a:solidFill>
                                    <a:srgbClr val="836967"/>
                                  </a:solidFill>
                                  <a:latin typeface="Cambria Math" panose="02040503050406030204" pitchFamily="18" charset="0"/>
                                </a:rPr>
                              </m:ctrlPr>
                            </m:sSubPr>
                            <m:e>
                              <m:r>
                                <a:rPr lang="en-US" altLang="zh-CN" sz="1400" b="0" i="1" smtClean="0">
                                  <a:latin typeface="Cambria Math" panose="02040503050406030204" pitchFamily="18" charset="0"/>
                                </a:rPr>
                                <m:t>𝐿</m:t>
                              </m:r>
                            </m:e>
                            <m:sub>
                              <m:r>
                                <a:rPr lang="en-US" altLang="zh-CN" sz="1400" b="0" i="1" smtClean="0">
                                  <a:latin typeface="Cambria Math" panose="02040503050406030204" pitchFamily="18" charset="0"/>
                                </a:rPr>
                                <m:t>4</m:t>
                              </m:r>
                            </m:sub>
                          </m:sSub>
                        </m:num>
                        <m:den>
                          <m:r>
                            <a:rPr lang="zh-CN" altLang="en-US" sz="1400" i="1">
                              <a:latin typeface="Cambria Math" panose="02040503050406030204" pitchFamily="18" charset="0"/>
                            </a:rPr>
                            <m:t>𝜌</m:t>
                          </m:r>
                        </m:den>
                      </m:f>
                    </m:oMath>
                  </m:oMathPara>
                </a14:m>
                <a:endParaRPr lang="zh-CN" altLang="en-US" sz="1400" dirty="0"/>
              </a:p>
            </p:txBody>
          </p:sp>
        </mc:Choice>
        <mc:Fallback xmlns="">
          <p:sp>
            <p:nvSpPr>
              <p:cNvPr id="25" name="文本框 24">
                <a:extLst>
                  <a:ext uri="{FF2B5EF4-FFF2-40B4-BE49-F238E27FC236}">
                    <a16:creationId xmlns:a16="http://schemas.microsoft.com/office/drawing/2014/main" id="{6B58B0A0-4D00-467C-B9B3-DC74961233C3}"/>
                  </a:ext>
                </a:extLst>
              </p:cNvPr>
              <p:cNvSpPr txBox="1">
                <a:spLocks noRot="1" noChangeAspect="1" noMove="1" noResize="1" noEditPoints="1" noAdjustHandles="1" noChangeArrowheads="1" noChangeShapeType="1" noTextEdit="1"/>
              </p:cNvSpPr>
              <p:nvPr/>
            </p:nvSpPr>
            <p:spPr>
              <a:xfrm>
                <a:off x="335360" y="2384575"/>
                <a:ext cx="1904814" cy="532133"/>
              </a:xfrm>
              <a:prstGeom prst="rect">
                <a:avLst/>
              </a:prstGeom>
              <a:blipFill>
                <a:blip r:embed="rId13"/>
                <a:stretch>
                  <a:fillRect b="-2299"/>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3F9748FA-2496-4524-87DA-750AB278A032}"/>
              </a:ext>
            </a:extLst>
          </p:cNvPr>
          <p:cNvSpPr txBox="1"/>
          <p:nvPr/>
        </p:nvSpPr>
        <p:spPr>
          <a:xfrm>
            <a:off x="8613998" y="994688"/>
            <a:ext cx="244490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由</a:t>
            </a:r>
            <a:r>
              <a:rPr lang="en-US" altLang="zh-CN" b="1" dirty="0">
                <a:latin typeface="微软雅黑" panose="020B0503020204020204" pitchFamily="34" charset="-122"/>
                <a:ea typeface="微软雅黑" panose="020B0503020204020204" pitchFamily="34" charset="-122"/>
              </a:rPr>
              <a:t>(1)(2)</a:t>
            </a:r>
            <a:r>
              <a:rPr lang="zh-CN" altLang="en-US" b="1" dirty="0">
                <a:latin typeface="微软雅黑" panose="020B0503020204020204" pitchFamily="34" charset="-122"/>
                <a:ea typeface="微软雅黑" panose="020B0503020204020204" pitchFamily="34" charset="-122"/>
              </a:rPr>
              <a:t>式右侧，有：</a:t>
            </a:r>
          </a:p>
        </p:txBody>
      </p:sp>
      <p:sp>
        <p:nvSpPr>
          <p:cNvPr id="28" name="文本框 27">
            <a:extLst>
              <a:ext uri="{FF2B5EF4-FFF2-40B4-BE49-F238E27FC236}">
                <a16:creationId xmlns:a16="http://schemas.microsoft.com/office/drawing/2014/main" id="{8CB8B65F-EBE0-4937-851C-9747ADC9AC77}"/>
              </a:ext>
            </a:extLst>
          </p:cNvPr>
          <p:cNvSpPr txBox="1"/>
          <p:nvPr/>
        </p:nvSpPr>
        <p:spPr>
          <a:xfrm>
            <a:off x="158504" y="2950042"/>
            <a:ext cx="2444900"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代回到</a:t>
            </a:r>
            <a:r>
              <a:rPr lang="en-US" altLang="zh-CN" b="1" dirty="0">
                <a:latin typeface="微软雅黑" panose="020B0503020204020204" pitchFamily="34" charset="-122"/>
                <a:ea typeface="微软雅黑" panose="020B0503020204020204" pitchFamily="34" charset="-122"/>
              </a:rPr>
              <a:t>(1)(2)</a:t>
            </a:r>
            <a:r>
              <a:rPr lang="zh-CN" altLang="en-US" b="1" dirty="0">
                <a:latin typeface="微软雅黑" panose="020B0503020204020204" pitchFamily="34" charset="-122"/>
                <a:ea typeface="微软雅黑" panose="020B0503020204020204" pitchFamily="34" charset="-122"/>
              </a:rPr>
              <a:t>式，有：</a:t>
            </a:r>
          </a:p>
        </p:txBody>
      </p:sp>
    </p:spTree>
    <p:extLst>
      <p:ext uri="{BB962C8B-B14F-4D97-AF65-F5344CB8AC3E}">
        <p14:creationId xmlns:p14="http://schemas.microsoft.com/office/powerpoint/2010/main" val="78017307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2" presetClass="entr" presetSubtype="4"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fill="hold"/>
                                        <p:tgtEl>
                                          <p:spTgt spid="25"/>
                                        </p:tgtEl>
                                        <p:attrNameLst>
                                          <p:attrName>ppt_x</p:attrName>
                                        </p:attrNameLst>
                                      </p:cBhvr>
                                      <p:tavLst>
                                        <p:tav tm="0">
                                          <p:val>
                                            <p:strVal val="#ppt_x"/>
                                          </p:val>
                                        </p:tav>
                                        <p:tav tm="100000">
                                          <p:val>
                                            <p:strVal val="#ppt_x"/>
                                          </p:val>
                                        </p:tav>
                                      </p:tavLst>
                                    </p:anim>
                                    <p:anim calcmode="lin" valueType="num">
                                      <p:cBhvr additive="base">
                                        <p:cTn id="4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additive="base">
                                        <p:cTn id="45" dur="500" fill="hold"/>
                                        <p:tgtEl>
                                          <p:spTgt spid="28"/>
                                        </p:tgtEl>
                                        <p:attrNameLst>
                                          <p:attrName>ppt_x</p:attrName>
                                        </p:attrNameLst>
                                      </p:cBhvr>
                                      <p:tavLst>
                                        <p:tav tm="0">
                                          <p:val>
                                            <p:strVal val="#ppt_x"/>
                                          </p:val>
                                        </p:tav>
                                        <p:tav tm="100000">
                                          <p:val>
                                            <p:strVal val="#ppt_x"/>
                                          </p:val>
                                        </p:tav>
                                      </p:tavLst>
                                    </p:anim>
                                    <p:anim calcmode="lin" valueType="num">
                                      <p:cBhvr additive="base">
                                        <p:cTn id="4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4">
                                            <p:txEl>
                                              <p:pRg st="1" end="1"/>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P spid="15" grpId="0"/>
      <p:bldP spid="16" grpId="0"/>
      <p:bldP spid="19" grpId="0"/>
      <p:bldP spid="20" grpId="0"/>
      <p:bldP spid="21" grpId="0"/>
      <p:bldP spid="22" grpId="0"/>
      <p:bldP spid="25"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2E447AE-4338-4C73-8290-B66AE6258BA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13</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D3AA5B5-4CFD-4537-8C0E-5412768D9F7C}"/>
                  </a:ext>
                </a:extLst>
              </p:cNvPr>
              <p:cNvSpPr/>
              <p:nvPr/>
            </p:nvSpPr>
            <p:spPr>
              <a:xfrm>
                <a:off x="417050" y="3218980"/>
                <a:ext cx="11728019" cy="1034450"/>
              </a:xfrm>
              <a:prstGeom prst="rect">
                <a:avLst/>
              </a:prstGeom>
            </p:spPr>
            <p:txBody>
              <a:bodyPr wrap="none">
                <a:spAutoFit/>
              </a:bodyPr>
              <a:lstStyle/>
              <a:p>
                <a:pPr>
                  <a:lnSpc>
                    <a:spcPct val="120000"/>
                  </a:lnSpc>
                </a:pPr>
                <a14:m>
                  <m:oMathPara xmlns:m="http://schemas.openxmlformats.org/officeDocument/2006/math">
                    <m:oMathParaPr>
                      <m:jc m:val="left"/>
                    </m:oMathParaPr>
                    <m:oMath xmlns:m="http://schemas.openxmlformats.org/officeDocument/2006/math">
                      <m:d>
                        <m:dPr>
                          <m:ctrlPr>
                            <a:rPr lang="zh-CN" altLang="en-US" sz="1300" i="1">
                              <a:latin typeface="Cambria Math" panose="02040503050406030204" pitchFamily="18" charset="0"/>
                            </a:rPr>
                          </m:ctrlPr>
                        </m:dPr>
                        <m:e>
                          <m:m>
                            <m:mPr>
                              <m:plcHide m:val="on"/>
                              <m:mcs>
                                <m:mc>
                                  <m:mcPr>
                                    <m:count m:val="4"/>
                                    <m:mcJc m:val="center"/>
                                  </m:mcPr>
                                </m:mc>
                              </m:mcs>
                              <m:ctrlPr>
                                <a:rPr lang="zh-CN" altLang="en-US" sz="1300" i="1">
                                  <a:latin typeface="Cambria Math" panose="02040503050406030204" pitchFamily="18" charset="0"/>
                                </a:rPr>
                              </m:ctrlPr>
                            </m:mPr>
                            <m:mr>
                              <m:e>
                                <m:r>
                                  <a:rPr lang="zh-CN" altLang="en-US" sz="1300">
                                    <a:latin typeface="Cambria Math" panose="02040503050406030204" pitchFamily="18" charset="0"/>
                                  </a:rPr>
                                  <m:t>∗</m:t>
                                </m:r>
                              </m:e>
                              <m:e>
                                <m:r>
                                  <a:rPr lang="zh-CN" altLang="en-US" sz="1300" i="0">
                                    <a:latin typeface="Cambria Math" panose="02040503050406030204" pitchFamily="18" charset="0"/>
                                  </a:rPr>
                                  <m:t>∗</m:t>
                                </m:r>
                              </m:e>
                              <m:e>
                                <m:r>
                                  <m:rPr>
                                    <m:sty m:val="p"/>
                                  </m:rPr>
                                  <a:rPr lang="zh-CN" altLang="en-US" sz="1300" i="0">
                                    <a:latin typeface="Cambria Math" panose="02040503050406030204" pitchFamily="18" charset="0"/>
                                  </a:rPr>
                                  <m:t>r</m:t>
                                </m:r>
                                <m:r>
                                  <a:rPr lang="zh-CN" altLang="en-US" sz="1300" i="0">
                                    <a:latin typeface="Cambria Math" panose="02040503050406030204" pitchFamily="18" charset="0"/>
                                  </a:rPr>
                                  <m:t>13⁢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23⁢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33⁢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e>
                              <m:e>
                                <m:r>
                                  <m:rPr>
                                    <m:sty m:val="p"/>
                                  </m:rPr>
                                  <a:rPr lang="zh-CN" altLang="en-US" sz="1300" i="0">
                                    <a:latin typeface="Cambria Math" panose="02040503050406030204" pitchFamily="18" charset="0"/>
                                  </a:rPr>
                                  <m:t>px</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py</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pz</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𝐿</m:t>
                                    </m:r>
                                  </m:e>
                                  <m:sub>
                                    <m:r>
                                      <a:rPr lang="zh-CN" altLang="en-US" sz="1300" i="0">
                                        <a:latin typeface="Cambria Math" panose="02040503050406030204" pitchFamily="18" charset="0"/>
                                      </a:rPr>
                                      <m:t>2</m:t>
                                    </m:r>
                                  </m:sub>
                                </m:sSub>
                              </m:e>
                            </m:mr>
                            <m:mr>
                              <m:e>
                                <m:r>
                                  <a:rPr lang="zh-CN" altLang="en-US" sz="1300" i="0">
                                    <a:latin typeface="Cambria Math" panose="02040503050406030204" pitchFamily="18" charset="0"/>
                                  </a:rPr>
                                  <m:t>∗</m:t>
                                </m:r>
                              </m:e>
                              <m:e>
                                <m:r>
                                  <a:rPr lang="zh-CN" altLang="en-US" sz="1300" i="0">
                                    <a:latin typeface="Cambria Math" panose="02040503050406030204" pitchFamily="18" charset="0"/>
                                  </a:rPr>
                                  <m:t>∗</m:t>
                                </m:r>
                              </m:e>
                              <m:e>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33⁢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13⁢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23⁢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e>
                              <m:e>
                                <m:r>
                                  <a:rPr lang="zh-CN" altLang="en-US" sz="1300" i="0">
                                    <a:latin typeface="Cambria Math" panose="02040503050406030204" pitchFamily="18" charset="0"/>
                                  </a:rPr>
                                  <m:t>−</m:t>
                                </m:r>
                                <m:r>
                                  <m:rPr>
                                    <m:sty m:val="p"/>
                                  </m:rPr>
                                  <a:rPr lang="zh-CN" altLang="en-US" sz="1300" i="0">
                                    <a:latin typeface="Cambria Math" panose="02040503050406030204" pitchFamily="18" charset="0"/>
                                  </a:rPr>
                                  <m:t>pz</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px</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py</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2</m:t>
                                        </m:r>
                                      </m:sub>
                                    </m:sSub>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3</m:t>
                                        </m:r>
                                      </m:sub>
                                    </m:sSub>
                                  </m:e>
                                </m:d>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𝐿</m:t>
                                    </m:r>
                                  </m:e>
                                  <m:sub>
                                    <m:r>
                                      <a:rPr lang="zh-CN" altLang="en-US" sz="1300" i="0">
                                        <a:latin typeface="Cambria Math" panose="02040503050406030204" pitchFamily="18" charset="0"/>
                                      </a:rPr>
                                      <m:t>2</m:t>
                                    </m:r>
                                  </m:sub>
                                </m:sSub>
                              </m:e>
                            </m:mr>
                            <m:mr>
                              <m:e>
                                <m:r>
                                  <a:rPr lang="zh-CN" altLang="en-US" sz="1300" i="0">
                                    <a:latin typeface="Cambria Math" panose="02040503050406030204" pitchFamily="18" charset="0"/>
                                  </a:rPr>
                                  <m:t>∗</m:t>
                                </m:r>
                              </m:e>
                              <m:e>
                                <m:r>
                                  <a:rPr lang="zh-CN" altLang="en-US" sz="1300" i="0">
                                    <a:latin typeface="Cambria Math" panose="02040503050406030204" pitchFamily="18" charset="0"/>
                                  </a:rPr>
                                  <m:t>∗</m:t>
                                </m:r>
                              </m:e>
                              <m:e>
                                <m:r>
                                  <m:rPr>
                                    <m:sty m:val="p"/>
                                  </m:rPr>
                                  <a:rPr lang="zh-CN" altLang="en-US" sz="1300" i="0">
                                    <a:latin typeface="Cambria Math" panose="02040503050406030204" pitchFamily="18" charset="0"/>
                                  </a:rPr>
                                  <m:t>r</m:t>
                                </m:r>
                                <m:r>
                                  <a:rPr lang="zh-CN" altLang="en-US" sz="1300" i="0">
                                    <a:latin typeface="Cambria Math" panose="02040503050406030204" pitchFamily="18" charset="0"/>
                                  </a:rPr>
                                  <m:t>23⁢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r</m:t>
                                </m:r>
                                <m:r>
                                  <a:rPr lang="zh-CN" altLang="en-US" sz="1300" i="0">
                                    <a:latin typeface="Cambria Math" panose="02040503050406030204" pitchFamily="18" charset="0"/>
                                  </a:rPr>
                                  <m:t>13⁢</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e>
                              <m:e>
                                <m:r>
                                  <m:rPr>
                                    <m:sty m:val="p"/>
                                  </m:rPr>
                                  <a:rPr lang="zh-CN" altLang="en-US" sz="1300" i="0">
                                    <a:latin typeface="Cambria Math" panose="02040503050406030204" pitchFamily="18" charset="0"/>
                                  </a:rPr>
                                  <m:t>py</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Cos</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r>
                                  <m:rPr>
                                    <m:sty m:val="p"/>
                                  </m:rPr>
                                  <a:rPr lang="zh-CN" altLang="en-US" sz="1300" i="0">
                                    <a:latin typeface="Cambria Math" panose="02040503050406030204" pitchFamily="18" charset="0"/>
                                  </a:rPr>
                                  <m:t>px</m:t>
                                </m:r>
                                <m:r>
                                  <a:rPr lang="zh-CN" altLang="en-US" sz="1300" i="0">
                                    <a:latin typeface="Cambria Math" panose="02040503050406030204" pitchFamily="18" charset="0"/>
                                  </a:rPr>
                                  <m:t>⁢</m:t>
                                </m:r>
                                <m:d>
                                  <m:dPr>
                                    <m:begChr m:val=""/>
                                    <m:endChr m:val="]"/>
                                    <m:ctrlPr>
                                      <a:rPr lang="zh-CN" altLang="en-US" sz="1300" i="1">
                                        <a:latin typeface="Cambria Math" panose="02040503050406030204" pitchFamily="18" charset="0"/>
                                      </a:rPr>
                                    </m:ctrlPr>
                                  </m:dPr>
                                  <m:e>
                                    <m:r>
                                      <m:rPr>
                                        <m:sty m:val="p"/>
                                      </m:rPr>
                                      <a:rPr lang="zh-CN" altLang="en-US" sz="1300" i="0">
                                        <a:latin typeface="Cambria Math" panose="02040503050406030204" pitchFamily="18" charset="0"/>
                                      </a:rPr>
                                      <m:t>Sin</m:t>
                                    </m:r>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𝜃</m:t>
                                        </m:r>
                                      </m:e>
                                      <m:sub>
                                        <m:r>
                                          <a:rPr lang="zh-CN" altLang="en-US" sz="1300" i="0">
                                            <a:latin typeface="Cambria Math" panose="02040503050406030204" pitchFamily="18" charset="0"/>
                                          </a:rPr>
                                          <m:t>1</m:t>
                                        </m:r>
                                      </m:sub>
                                    </m:sSub>
                                  </m:e>
                                </m:d>
                                <m:r>
                                  <a:rPr lang="zh-CN" altLang="en-US" sz="1300" i="0">
                                    <a:latin typeface="Cambria Math" panose="02040503050406030204" pitchFamily="18" charset="0"/>
                                  </a:rPr>
                                  <m:t>−</m:t>
                                </m:r>
                                <m:sSub>
                                  <m:sSubPr>
                                    <m:ctrlPr>
                                      <a:rPr lang="zh-CN" altLang="en-US" sz="1300" i="1">
                                        <a:latin typeface="Cambria Math" panose="02040503050406030204" pitchFamily="18" charset="0"/>
                                      </a:rPr>
                                    </m:ctrlPr>
                                  </m:sSubPr>
                                  <m:e>
                                    <m:r>
                                      <a:rPr lang="zh-CN" altLang="en-US" sz="1300">
                                        <a:latin typeface="Cambria Math" panose="02040503050406030204" pitchFamily="18" charset="0"/>
                                      </a:rPr>
                                      <m:t>𝐿</m:t>
                                    </m:r>
                                  </m:e>
                                  <m:sub>
                                    <m:r>
                                      <a:rPr lang="zh-CN" altLang="en-US" sz="1300" i="0">
                                        <a:latin typeface="Cambria Math" panose="02040503050406030204" pitchFamily="18" charset="0"/>
                                      </a:rPr>
                                      <m:t>3</m:t>
                                    </m:r>
                                  </m:sub>
                                </m:sSub>
                              </m:e>
                            </m:mr>
                            <m:mr>
                              <m:e>
                                <m:r>
                                  <a:rPr lang="zh-CN" altLang="en-US" sz="1300" i="0">
                                    <a:latin typeface="Cambria Math" panose="02040503050406030204" pitchFamily="18" charset="0"/>
                                  </a:rPr>
                                  <m:t>0</m:t>
                                </m:r>
                              </m:e>
                              <m:e>
                                <m:r>
                                  <a:rPr lang="zh-CN" altLang="en-US" sz="1300" i="0">
                                    <a:latin typeface="Cambria Math" panose="02040503050406030204" pitchFamily="18" charset="0"/>
                                  </a:rPr>
                                  <m:t>0</m:t>
                                </m:r>
                              </m:e>
                              <m:e>
                                <m:r>
                                  <a:rPr lang="zh-CN" altLang="en-US" sz="1300" i="0">
                                    <a:latin typeface="Cambria Math" panose="02040503050406030204" pitchFamily="18" charset="0"/>
                                  </a:rPr>
                                  <m:t>0</m:t>
                                </m:r>
                              </m:e>
                              <m:e>
                                <m:r>
                                  <a:rPr lang="zh-CN" altLang="en-US" sz="1300" i="0">
                                    <a:latin typeface="Cambria Math" panose="02040503050406030204" pitchFamily="18" charset="0"/>
                                  </a:rPr>
                                  <m:t>1</m:t>
                                </m:r>
                              </m:e>
                            </m:mr>
                          </m:m>
                        </m:e>
                      </m:d>
                    </m:oMath>
                  </m:oMathPara>
                </a14:m>
                <a:endParaRPr lang="zh-CN" altLang="en-US" sz="1300" dirty="0"/>
              </a:p>
            </p:txBody>
          </p:sp>
        </mc:Choice>
        <mc:Fallback xmlns="">
          <p:sp>
            <p:nvSpPr>
              <p:cNvPr id="3" name="矩形 2">
                <a:extLst>
                  <a:ext uri="{FF2B5EF4-FFF2-40B4-BE49-F238E27FC236}">
                    <a16:creationId xmlns:a16="http://schemas.microsoft.com/office/drawing/2014/main" id="{1D3AA5B5-4CFD-4537-8C0E-5412768D9F7C}"/>
                  </a:ext>
                </a:extLst>
              </p:cNvPr>
              <p:cNvSpPr>
                <a:spLocks noRot="1" noChangeAspect="1" noMove="1" noResize="1" noEditPoints="1" noAdjustHandles="1" noChangeArrowheads="1" noChangeShapeType="1" noTextEdit="1"/>
              </p:cNvSpPr>
              <p:nvPr/>
            </p:nvSpPr>
            <p:spPr>
              <a:xfrm>
                <a:off x="417050" y="3218980"/>
                <a:ext cx="11728019" cy="103445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26DE140-4522-4111-8E97-D9852EC75877}"/>
                  </a:ext>
                </a:extLst>
              </p:cNvPr>
              <p:cNvSpPr/>
              <p:nvPr/>
            </p:nvSpPr>
            <p:spPr>
              <a:xfrm>
                <a:off x="1022564" y="859846"/>
                <a:ext cx="11304954" cy="10589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US" altLang="zh-CN" sz="1600" i="1">
                              <a:latin typeface="Cambria Math" panose="02040503050406030204" pitchFamily="18" charset="0"/>
                            </a:rPr>
                          </m:ctrlPr>
                        </m:sPrePr>
                        <m:sub>
                          <m:r>
                            <a:rPr lang="en-US" altLang="zh-CN" sz="1600">
                              <a:latin typeface="Cambria Math" panose="02040503050406030204" pitchFamily="18" charset="0"/>
                            </a:rPr>
                            <m:t>4</m:t>
                          </m:r>
                        </m:sub>
                        <m:sup>
                          <m:r>
                            <a:rPr lang="en-US" altLang="zh-CN" sz="1600">
                              <a:latin typeface="Cambria Math" panose="02040503050406030204" pitchFamily="18" charset="0"/>
                            </a:rPr>
                            <m:t>3</m:t>
                          </m:r>
                        </m:sup>
                        <m:e>
                          <m:r>
                            <a:rPr lang="en-US" altLang="zh-CN" sz="1600">
                              <a:latin typeface="Cambria Math" panose="02040503050406030204" pitchFamily="18" charset="0"/>
                            </a:rPr>
                            <m:t>𝑇</m:t>
                          </m:r>
                        </m:e>
                      </m:sPre>
                      <m:r>
                        <a:rPr lang="en-US" altLang="zh-CN" sz="1600" dirty="0">
                          <a:latin typeface="Cambria Math" panose="02040503050406030204" pitchFamily="18" charset="0"/>
                          <a:ea typeface="Cambria Math" panose="02040503050406030204" pitchFamily="18" charset="0"/>
                        </a:rPr>
                        <m:t>∙</m:t>
                      </m:r>
                      <m:sPre>
                        <m:sPrePr>
                          <m:ctrlPr>
                            <a:rPr lang="en-US" altLang="zh-CN" sz="1600" i="1">
                              <a:latin typeface="Cambria Math" panose="02040503050406030204" pitchFamily="18" charset="0"/>
                            </a:rPr>
                          </m:ctrlPr>
                        </m:sPrePr>
                        <m:sub>
                          <m:r>
                            <a:rPr lang="en-US" altLang="zh-CN" sz="1600">
                              <a:latin typeface="Cambria Math" panose="02040503050406030204" pitchFamily="18" charset="0"/>
                            </a:rPr>
                            <m:t>5</m:t>
                          </m:r>
                        </m:sub>
                        <m:sup>
                          <m:r>
                            <a:rPr lang="en-US" altLang="zh-CN" sz="1600">
                              <a:latin typeface="Cambria Math" panose="02040503050406030204" pitchFamily="18" charset="0"/>
                            </a:rPr>
                            <m:t>4</m:t>
                          </m:r>
                        </m:sup>
                        <m:e>
                          <m:r>
                            <a:rPr lang="en-US" altLang="zh-CN" sz="1600">
                              <a:latin typeface="Cambria Math" panose="02040503050406030204" pitchFamily="18" charset="0"/>
                            </a:rPr>
                            <m:t>𝑇</m:t>
                          </m:r>
                        </m:e>
                      </m:sPre>
                      <m:r>
                        <a:rPr lang="en-US" altLang="zh-CN" sz="1600" dirty="0">
                          <a:latin typeface="Cambria Math" panose="02040503050406030204" pitchFamily="18" charset="0"/>
                          <a:ea typeface="Cambria Math" panose="02040503050406030204" pitchFamily="18" charset="0"/>
                        </a:rPr>
                        <m:t>∙</m:t>
                      </m:r>
                      <m:sPre>
                        <m:sPrePr>
                          <m:ctrlPr>
                            <a:rPr lang="en-US" altLang="zh-CN" sz="1600" i="1" smtClean="0">
                              <a:latin typeface="Cambria Math" panose="02040503050406030204" pitchFamily="18" charset="0"/>
                            </a:rPr>
                          </m:ctrlPr>
                        </m:sPrePr>
                        <m:sub>
                          <m:r>
                            <a:rPr lang="en-US" altLang="zh-CN" sz="1600">
                              <a:latin typeface="Cambria Math" panose="02040503050406030204" pitchFamily="18" charset="0"/>
                            </a:rPr>
                            <m:t>6</m:t>
                          </m:r>
                        </m:sub>
                        <m:sup>
                          <m:r>
                            <a:rPr lang="en-US" altLang="zh-CN" sz="1600">
                              <a:latin typeface="Cambria Math" panose="02040503050406030204" pitchFamily="18" charset="0"/>
                            </a:rPr>
                            <m:t>5</m:t>
                          </m:r>
                        </m:sup>
                        <m:e>
                          <m:r>
                            <a:rPr lang="en-US" altLang="zh-CN" sz="1600">
                              <a:latin typeface="Cambria Math" panose="02040503050406030204" pitchFamily="18" charset="0"/>
                            </a:rPr>
                            <m:t>𝑇</m:t>
                          </m:r>
                        </m:e>
                      </m:sPre>
                      <m:r>
                        <a:rPr lang="en-US" altLang="zh-CN" sz="1600">
                          <a:latin typeface="Cambria Math" panose="02040503050406030204" pitchFamily="18" charset="0"/>
                        </a:rPr>
                        <m:t>= </m:t>
                      </m:r>
                      <m:d>
                        <m:dPr>
                          <m:ctrlPr>
                            <a:rPr lang="zh-CN" altLang="en-US" sz="1600" i="1">
                              <a:latin typeface="Cambria Math" panose="02040503050406030204" pitchFamily="18" charset="0"/>
                            </a:rPr>
                          </m:ctrlPr>
                        </m:dPr>
                        <m:e>
                          <m:m>
                            <m:mPr>
                              <m:plcHide m:val="on"/>
                              <m:mcs>
                                <m:mc>
                                  <m:mcPr>
                                    <m:count m:val="4"/>
                                    <m:mcJc m:val="center"/>
                                  </m:mcPr>
                                </m:mc>
                              </m:mcs>
                              <m:ctrlPr>
                                <a:rPr lang="zh-CN" altLang="en-US" sz="1600" i="1">
                                  <a:latin typeface="Cambria Math" panose="02040503050406030204" pitchFamily="18" charset="0"/>
                                </a:rPr>
                              </m:ctrlPr>
                            </m:mPr>
                            <m:mr>
                              <m:e>
                                <m:d>
                                  <m:dPr>
                                    <m:begChr m:val=""/>
                                    <m:endChr m:val="]"/>
                                    <m:ctrlPr>
                                      <a:rPr lang="zh-CN" altLang="en-US" sz="1600" i="1">
                                        <a:latin typeface="Cambria Math" panose="02040503050406030204" pitchFamily="18" charset="0"/>
                                      </a:rPr>
                                    </m:ctrlPr>
                                  </m:dPr>
                                  <m:e>
                                    <m:r>
                                      <m:rPr>
                                        <m:sty m:val="p"/>
                                      </m:rPr>
                                      <a:rPr lang="zh-CN" altLang="en-US" sz="160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e>
                              <m:e>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e>
                              <m:e>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e>
                              <m:e>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𝐿</m:t>
                                    </m:r>
                                  </m:e>
                                  <m:sub>
                                    <m:r>
                                      <a:rPr lang="zh-CN" altLang="en-US" sz="1600" i="0">
                                        <a:latin typeface="Cambria Math" panose="02040503050406030204" pitchFamily="18" charset="0"/>
                                      </a:rPr>
                                      <m:t>4</m:t>
                                    </m:r>
                                  </m:sub>
                                </m:sSub>
                              </m:e>
                            </m:mr>
                            <m:mr>
                              <m:e>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e>
                              <m:e>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e>
                              <m:e>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e>
                              <m:e>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𝐿</m:t>
                                    </m:r>
                                  </m:e>
                                  <m:sub>
                                    <m:r>
                                      <a:rPr lang="zh-CN" altLang="en-US" sz="1600" i="0">
                                        <a:latin typeface="Cambria Math" panose="02040503050406030204" pitchFamily="18" charset="0"/>
                                      </a:rPr>
                                      <m:t>5</m:t>
                                    </m:r>
                                  </m:sub>
                                </m:sSub>
                              </m:e>
                            </m:mr>
                            <m:mr>
                              <m:e>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e>
                              <m:e>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Cos</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6</m:t>
                                        </m:r>
                                      </m:sub>
                                    </m:sSub>
                                  </m:e>
                                </m:d>
                              </m:e>
                              <m:e>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4</m:t>
                                        </m:r>
                                      </m:sub>
                                    </m:sSub>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m:rPr>
                                        <m:sty m:val="p"/>
                                      </m:rPr>
                                      <a:rPr lang="zh-CN" altLang="en-US" sz="1600" i="0">
                                        <a:latin typeface="Cambria Math" panose="02040503050406030204" pitchFamily="18" charset="0"/>
                                      </a:rPr>
                                      <m:t>Sin</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a:latin typeface="Cambria Math" panose="02040503050406030204" pitchFamily="18" charset="0"/>
                                          </a:rPr>
                                          <m:t>𝜃</m:t>
                                        </m:r>
                                      </m:e>
                                      <m:sub>
                                        <m:r>
                                          <a:rPr lang="zh-CN" altLang="en-US" sz="1600" i="0">
                                            <a:latin typeface="Cambria Math" panose="02040503050406030204" pitchFamily="18" charset="0"/>
                                          </a:rPr>
                                          <m:t>5</m:t>
                                        </m:r>
                                      </m:sub>
                                    </m:sSub>
                                  </m:e>
                                </m:d>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8" name="矩形 7">
                <a:extLst>
                  <a:ext uri="{FF2B5EF4-FFF2-40B4-BE49-F238E27FC236}">
                    <a16:creationId xmlns:a16="http://schemas.microsoft.com/office/drawing/2014/main" id="{326DE140-4522-4111-8E97-D9852EC75877}"/>
                  </a:ext>
                </a:extLst>
              </p:cNvPr>
              <p:cNvSpPr>
                <a:spLocks noRot="1" noChangeAspect="1" noMove="1" noResize="1" noEditPoints="1" noAdjustHandles="1" noChangeArrowheads="1" noChangeShapeType="1" noTextEdit="1"/>
              </p:cNvSpPr>
              <p:nvPr/>
            </p:nvSpPr>
            <p:spPr>
              <a:xfrm>
                <a:off x="1022564" y="859846"/>
                <a:ext cx="11304954" cy="1058944"/>
              </a:xfrm>
              <a:prstGeom prst="rect">
                <a:avLst/>
              </a:prstGeom>
              <a:blipFill>
                <a:blip r:embed="rId4"/>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D2EE9998-6307-461C-9F78-50F67EA408B0}"/>
              </a:ext>
            </a:extLst>
          </p:cNvPr>
          <p:cNvSpPr txBox="1"/>
          <p:nvPr/>
        </p:nvSpPr>
        <p:spPr>
          <a:xfrm>
            <a:off x="47298" y="1019986"/>
            <a:ext cx="1135116" cy="738664"/>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可以求得</a:t>
            </a:r>
            <a:endParaRPr lang="en-US" altLang="zh-CN" b="1" dirty="0">
              <a:latin typeface="微软雅黑" panose="020B0503020204020204" pitchFamily="34" charset="-122"/>
              <a:ea typeface="微软雅黑" panose="020B0503020204020204" pitchFamily="34" charset="-122"/>
            </a:endParaRPr>
          </a:p>
          <a:p>
            <a:r>
              <a:rPr lang="en-US" altLang="zh-CN" sz="1200" b="1"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个腕部自由度的变换矩阵</a:t>
            </a:r>
            <a:r>
              <a:rPr lang="en-US" altLang="zh-CN" sz="1200" b="1" dirty="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61DF9BC1-D32D-4DD6-943A-BC60F3487D8A}"/>
                  </a:ext>
                </a:extLst>
              </p:cNvPr>
              <p:cNvSpPr/>
              <p:nvPr/>
            </p:nvSpPr>
            <p:spPr>
              <a:xfrm>
                <a:off x="405755" y="2092929"/>
                <a:ext cx="4448397" cy="1012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US" altLang="zh-CN" sz="1600" i="1" smtClean="0">
                              <a:latin typeface="Cambria Math" panose="02040503050406030204" pitchFamily="18" charset="0"/>
                            </a:rPr>
                          </m:ctrlPr>
                        </m:sPrePr>
                        <m:sub>
                          <m:r>
                            <a:rPr lang="en-US" altLang="zh-CN" sz="1600">
                              <a:latin typeface="Cambria Math" panose="02040503050406030204" pitchFamily="18" charset="0"/>
                            </a:rPr>
                            <m:t>6</m:t>
                          </m:r>
                        </m:sub>
                        <m:sup>
                          <m:r>
                            <a:rPr lang="en-US" altLang="zh-CN" sz="1600" i="1">
                              <a:latin typeface="Cambria Math" panose="02040503050406030204" pitchFamily="18" charset="0"/>
                            </a:rPr>
                            <m:t>0</m:t>
                          </m:r>
                        </m:sup>
                        <m:e>
                          <m:r>
                            <a:rPr lang="en-US" altLang="zh-CN" sz="1600">
                              <a:latin typeface="Cambria Math" panose="02040503050406030204" pitchFamily="18" charset="0"/>
                            </a:rPr>
                            <m:t>𝑇</m:t>
                          </m:r>
                        </m:e>
                      </m:sPre>
                      <m:r>
                        <a:rPr lang="en-US" altLang="zh-CN" sz="1600" b="0" i="1" smtClean="0">
                          <a:latin typeface="Cambria Math" panose="02040503050406030204" pitchFamily="18" charset="0"/>
                        </a:rPr>
                        <m:t>=</m:t>
                      </m:r>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1</m:t>
                          </m:r>
                        </m:sub>
                        <m:sup>
                          <m:r>
                            <a:rPr lang="en-US" altLang="zh-CN" sz="1600" i="1">
                              <a:latin typeface="Cambria Math" panose="02040503050406030204" pitchFamily="18" charset="0"/>
                            </a:rPr>
                            <m:t>0</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2</m:t>
                          </m:r>
                        </m:sub>
                        <m:sup>
                          <m:r>
                            <a:rPr lang="en-US" altLang="zh-CN" sz="1600" b="0" i="1" smtClean="0">
                              <a:latin typeface="Cambria Math" panose="02040503050406030204" pitchFamily="18" charset="0"/>
                            </a:rPr>
                            <m:t>1</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3</m:t>
                          </m:r>
                        </m:sub>
                        <m:sup>
                          <m:r>
                            <a:rPr lang="en-US" altLang="zh-CN" sz="1600" b="0" i="1" smtClean="0">
                              <a:latin typeface="Cambria Math" panose="02040503050406030204" pitchFamily="18" charset="0"/>
                            </a:rPr>
                            <m:t>2</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4</m:t>
                          </m:r>
                        </m:sub>
                        <m:sup>
                          <m:r>
                            <a:rPr lang="en-US" altLang="zh-CN" sz="1600" b="0" i="1" smtClean="0">
                              <a:latin typeface="Cambria Math" panose="02040503050406030204" pitchFamily="18" charset="0"/>
                            </a:rPr>
                            <m:t>3</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5</m:t>
                          </m:r>
                        </m:sub>
                        <m:sup>
                          <m:r>
                            <a:rPr lang="en-US" altLang="zh-CN" sz="1600" b="0" i="1" smtClean="0">
                              <a:latin typeface="Cambria Math" panose="02040503050406030204" pitchFamily="18" charset="0"/>
                            </a:rPr>
                            <m:t>4</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a:latin typeface="Cambria Math" panose="02040503050406030204" pitchFamily="18" charset="0"/>
                            </a:rPr>
                            <m:t>6</m:t>
                          </m:r>
                        </m:sub>
                        <m:sup>
                          <m:r>
                            <a:rPr lang="en-US" altLang="zh-CN" sz="1600" b="0" i="1" smtClean="0">
                              <a:latin typeface="Cambria Math" panose="02040503050406030204" pitchFamily="18" charset="0"/>
                            </a:rPr>
                            <m:t>5</m:t>
                          </m:r>
                        </m:sup>
                        <m:e>
                          <m:r>
                            <a:rPr lang="en-US" altLang="zh-CN" sz="1600">
                              <a:latin typeface="Cambria Math" panose="02040503050406030204" pitchFamily="18" charset="0"/>
                            </a:rPr>
                            <m:t>𝑇</m:t>
                          </m:r>
                        </m:e>
                      </m:sPre>
                      <m:r>
                        <a:rPr lang="en-US" altLang="zh-CN" sz="1600" b="0" i="1" smtClean="0">
                          <a:latin typeface="Cambria Math" panose="02040503050406030204" pitchFamily="18" charset="0"/>
                        </a:rPr>
                        <m:t>=</m:t>
                      </m:r>
                      <m:d>
                        <m:dPr>
                          <m:ctrlPr>
                            <a:rPr lang="zh-CN" altLang="en-US" sz="1600" i="1">
                              <a:latin typeface="Cambria Math" panose="02040503050406030204" pitchFamily="18" charset="0"/>
                            </a:rPr>
                          </m:ctrlPr>
                        </m:dPr>
                        <m:e>
                          <m:m>
                            <m:mPr>
                              <m:plcHide m:val="on"/>
                              <m:mcs>
                                <m:mc>
                                  <m:mcPr>
                                    <m:count m:val="4"/>
                                    <m:mcJc m:val="center"/>
                                  </m:mcPr>
                                </m:mc>
                              </m:mcs>
                              <m:ctrlPr>
                                <a:rPr lang="zh-CN" altLang="en-US" sz="1600" i="1">
                                  <a:latin typeface="Cambria Math" panose="02040503050406030204" pitchFamily="18" charset="0"/>
                                </a:rPr>
                              </m:ctrlPr>
                            </m:mPr>
                            <m:mr>
                              <m:e>
                                <m:r>
                                  <m:rPr>
                                    <m:sty m:val="p"/>
                                  </m:rPr>
                                  <a:rPr lang="zh-CN" altLang="en-US" sz="1600">
                                    <a:latin typeface="Cambria Math" panose="02040503050406030204" pitchFamily="18" charset="0"/>
                                  </a:rPr>
                                  <m:t>r</m:t>
                                </m:r>
                                <m:r>
                                  <a:rPr lang="zh-CN" altLang="en-US" sz="1600">
                                    <a:latin typeface="Cambria Math" panose="02040503050406030204" pitchFamily="18" charset="0"/>
                                  </a:rPr>
                                  <m:t>11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13</m:t>
                                </m:r>
                              </m:e>
                              <m:e>
                                <m:r>
                                  <m:rPr>
                                    <m:sty m:val="p"/>
                                  </m:rPr>
                                  <a:rPr lang="zh-CN" altLang="en-US" sz="1600" i="0">
                                    <a:latin typeface="Cambria Math" panose="02040503050406030204" pitchFamily="18" charset="0"/>
                                  </a:rPr>
                                  <m:t>px</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23</m:t>
                                </m:r>
                              </m:e>
                              <m:e>
                                <m:r>
                                  <m:rPr>
                                    <m:sty m:val="p"/>
                                  </m:rPr>
                                  <a:rPr lang="zh-CN" altLang="en-US" sz="1600" i="0">
                                    <a:latin typeface="Cambria Math" panose="02040503050406030204" pitchFamily="18" charset="0"/>
                                  </a:rPr>
                                  <m:t>py</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33</m:t>
                                </m:r>
                              </m:e>
                              <m:e>
                                <m:r>
                                  <m:rPr>
                                    <m:sty m:val="p"/>
                                  </m:rPr>
                                  <a:rPr lang="zh-CN" altLang="en-US" sz="1600" i="0">
                                    <a:latin typeface="Cambria Math" panose="02040503050406030204" pitchFamily="18" charset="0"/>
                                  </a:rPr>
                                  <m:t>pz</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0" name="矩形 9">
                <a:extLst>
                  <a:ext uri="{FF2B5EF4-FFF2-40B4-BE49-F238E27FC236}">
                    <a16:creationId xmlns:a16="http://schemas.microsoft.com/office/drawing/2014/main" id="{61DF9BC1-D32D-4DD6-943A-BC60F3487D8A}"/>
                  </a:ext>
                </a:extLst>
              </p:cNvPr>
              <p:cNvSpPr>
                <a:spLocks noRot="1" noChangeAspect="1" noMove="1" noResize="1" noEditPoints="1" noAdjustHandles="1" noChangeArrowheads="1" noChangeShapeType="1" noTextEdit="1"/>
              </p:cNvSpPr>
              <p:nvPr/>
            </p:nvSpPr>
            <p:spPr>
              <a:xfrm>
                <a:off x="405755" y="2092929"/>
                <a:ext cx="4448397" cy="101207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F7788189-92E9-424F-8605-4A5B446DBA82}"/>
                  </a:ext>
                </a:extLst>
              </p:cNvPr>
              <p:cNvSpPr/>
              <p:nvPr/>
            </p:nvSpPr>
            <p:spPr>
              <a:xfrm>
                <a:off x="4854152" y="2092929"/>
                <a:ext cx="5044073" cy="10120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en-US" altLang="zh-CN" sz="1600" i="1" smtClean="0">
                              <a:latin typeface="Cambria Math" panose="02040503050406030204" pitchFamily="18" charset="0"/>
                            </a:rPr>
                          </m:ctrlPr>
                        </m:sPrePr>
                        <m:sub>
                          <m:r>
                            <a:rPr lang="en-US" altLang="zh-CN" sz="1600" b="0" i="0" smtClean="0">
                              <a:latin typeface="Cambria Math" panose="02040503050406030204" pitchFamily="18" charset="0"/>
                            </a:rPr>
                            <m:t>4</m:t>
                          </m:r>
                        </m:sub>
                        <m:sup>
                          <m:r>
                            <a:rPr lang="en-US" altLang="zh-CN" sz="1600" b="0" i="1" smtClean="0">
                              <a:latin typeface="Cambria Math" panose="02040503050406030204" pitchFamily="18" charset="0"/>
                            </a:rPr>
                            <m:t>3</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b="0" i="0" smtClean="0">
                              <a:latin typeface="Cambria Math" panose="02040503050406030204" pitchFamily="18" charset="0"/>
                            </a:rPr>
                            <m:t>5</m:t>
                          </m:r>
                        </m:sub>
                        <m:sup>
                          <m:r>
                            <a:rPr lang="en-US" altLang="zh-CN" sz="1600" b="0" i="1" smtClean="0">
                              <a:latin typeface="Cambria Math" panose="02040503050406030204" pitchFamily="18" charset="0"/>
                            </a:rPr>
                            <m:t>4</m:t>
                          </m:r>
                        </m:sup>
                        <m:e>
                          <m:r>
                            <a:rPr lang="en-US" altLang="zh-CN" sz="1600">
                              <a:latin typeface="Cambria Math" panose="02040503050406030204" pitchFamily="18" charset="0"/>
                            </a:rPr>
                            <m:t>𝑇</m:t>
                          </m:r>
                        </m:e>
                      </m:sPre>
                      <m:sPre>
                        <m:sPrePr>
                          <m:ctrlPr>
                            <a:rPr lang="en-US" altLang="zh-CN" sz="1600" i="1">
                              <a:latin typeface="Cambria Math" panose="02040503050406030204" pitchFamily="18" charset="0"/>
                            </a:rPr>
                          </m:ctrlPr>
                        </m:sPrePr>
                        <m:sub>
                          <m:r>
                            <a:rPr lang="en-US" altLang="zh-CN" sz="1600">
                              <a:latin typeface="Cambria Math" panose="02040503050406030204" pitchFamily="18" charset="0"/>
                            </a:rPr>
                            <m:t>6</m:t>
                          </m:r>
                        </m:sub>
                        <m:sup>
                          <m:r>
                            <a:rPr lang="en-US" altLang="zh-CN" sz="1600" b="0" i="1" smtClean="0">
                              <a:latin typeface="Cambria Math" panose="02040503050406030204" pitchFamily="18" charset="0"/>
                            </a:rPr>
                            <m:t>5</m:t>
                          </m:r>
                        </m:sup>
                        <m:e>
                          <m:r>
                            <a:rPr lang="en-US" altLang="zh-CN" sz="1600">
                              <a:latin typeface="Cambria Math" panose="02040503050406030204" pitchFamily="18" charset="0"/>
                            </a:rPr>
                            <m:t>𝑇</m:t>
                          </m:r>
                        </m:e>
                      </m:sPre>
                      <m:r>
                        <a:rPr lang="en-US" altLang="zh-CN" sz="1600" b="0" i="1" smtClean="0">
                          <a:latin typeface="Cambria Math" panose="02040503050406030204" pitchFamily="18" charset="0"/>
                        </a:rPr>
                        <m:t>=</m:t>
                      </m:r>
                      <m:sSup>
                        <m:sSupPr>
                          <m:ctrlPr>
                            <a:rPr lang="en-US" altLang="zh-CN" sz="1600" i="1">
                              <a:latin typeface="Cambria Math" panose="02040503050406030204" pitchFamily="18" charset="0"/>
                            </a:rPr>
                          </m:ctrlPr>
                        </m:sSupPr>
                        <m:e>
                          <m:sPre>
                            <m:sPrePr>
                              <m:ctrlPr>
                                <a:rPr lang="en-US" altLang="zh-CN" sz="1600" i="1">
                                  <a:latin typeface="Cambria Math" panose="02040503050406030204" pitchFamily="18" charset="0"/>
                                </a:rPr>
                              </m:ctrlPr>
                            </m:sPrePr>
                            <m:sub>
                              <m:r>
                                <a:rPr lang="en-US" altLang="zh-CN" sz="1600" b="0" i="1" smtClean="0">
                                  <a:latin typeface="Cambria Math" panose="02040503050406030204" pitchFamily="18" charset="0"/>
                                </a:rPr>
                                <m:t>3</m:t>
                              </m:r>
                            </m:sub>
                            <m:sup>
                              <m:r>
                                <a:rPr lang="en-US" altLang="zh-CN" sz="1600" b="0" i="1" smtClean="0">
                                  <a:latin typeface="Cambria Math" panose="02040503050406030204" pitchFamily="18" charset="0"/>
                                </a:rPr>
                                <m:t>2</m:t>
                              </m:r>
                            </m:sup>
                            <m:e>
                              <m:r>
                                <a:rPr lang="en-US" altLang="zh-CN" sz="1600">
                                  <a:latin typeface="Cambria Math" panose="02040503050406030204" pitchFamily="18" charset="0"/>
                                </a:rPr>
                                <m:t>𝑇</m:t>
                              </m:r>
                            </m:e>
                          </m:sPre>
                        </m:e>
                        <m:sup>
                          <m:r>
                            <a:rPr lang="en-US" altLang="zh-CN" sz="1600" i="1">
                              <a:latin typeface="Cambria Math" panose="02040503050406030204" pitchFamily="18" charset="0"/>
                            </a:rPr>
                            <m:t>−1</m:t>
                          </m:r>
                        </m:sup>
                      </m:sSup>
                      <m:r>
                        <a:rPr lang="en-US" altLang="zh-CN" sz="1600" dirty="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sPre>
                            <m:sPrePr>
                              <m:ctrlPr>
                                <a:rPr lang="en-US" altLang="zh-CN" sz="1600" i="1">
                                  <a:latin typeface="Cambria Math" panose="02040503050406030204" pitchFamily="18" charset="0"/>
                                </a:rPr>
                              </m:ctrlPr>
                            </m:sPrePr>
                            <m:sub>
                              <m:r>
                                <a:rPr lang="en-US" altLang="zh-CN" sz="1600" b="0" i="1" smtClean="0">
                                  <a:latin typeface="Cambria Math" panose="02040503050406030204" pitchFamily="18" charset="0"/>
                                </a:rPr>
                                <m:t>2</m:t>
                              </m:r>
                            </m:sub>
                            <m:sup>
                              <m:r>
                                <a:rPr lang="en-US" altLang="zh-CN" sz="1600" b="0" i="1" smtClean="0">
                                  <a:latin typeface="Cambria Math" panose="02040503050406030204" pitchFamily="18" charset="0"/>
                                </a:rPr>
                                <m:t>1</m:t>
                              </m:r>
                            </m:sup>
                            <m:e>
                              <m:r>
                                <a:rPr lang="en-US" altLang="zh-CN" sz="1600">
                                  <a:latin typeface="Cambria Math" panose="02040503050406030204" pitchFamily="18" charset="0"/>
                                </a:rPr>
                                <m:t>𝑇</m:t>
                              </m:r>
                            </m:e>
                          </m:sPre>
                        </m:e>
                        <m:sup>
                          <m:r>
                            <a:rPr lang="en-US" altLang="zh-CN" sz="1600" i="1">
                              <a:latin typeface="Cambria Math" panose="02040503050406030204" pitchFamily="18" charset="0"/>
                            </a:rPr>
                            <m:t>−1</m:t>
                          </m:r>
                        </m:sup>
                      </m:sSup>
                      <m:r>
                        <a:rPr lang="en-US" altLang="zh-CN" sz="1600" dirty="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sPre>
                            <m:sPrePr>
                              <m:ctrlPr>
                                <a:rPr lang="en-US" altLang="zh-CN" sz="1600" i="1">
                                  <a:latin typeface="Cambria Math" panose="02040503050406030204" pitchFamily="18" charset="0"/>
                                </a:rPr>
                              </m:ctrlPr>
                            </m:sPrePr>
                            <m:sub>
                              <m:r>
                                <a:rPr lang="en-US" altLang="zh-CN" sz="1600" i="1">
                                  <a:latin typeface="Cambria Math" panose="02040503050406030204" pitchFamily="18" charset="0"/>
                                </a:rPr>
                                <m:t>1</m:t>
                              </m:r>
                            </m:sub>
                            <m:sup>
                              <m:r>
                                <a:rPr lang="en-US" altLang="zh-CN" sz="1600" i="1">
                                  <a:latin typeface="Cambria Math" panose="02040503050406030204" pitchFamily="18" charset="0"/>
                                </a:rPr>
                                <m:t>0</m:t>
                              </m:r>
                            </m:sup>
                            <m:e>
                              <m:r>
                                <a:rPr lang="en-US" altLang="zh-CN" sz="1600">
                                  <a:latin typeface="Cambria Math" panose="02040503050406030204" pitchFamily="18" charset="0"/>
                                </a:rPr>
                                <m:t>𝑇</m:t>
                              </m:r>
                            </m:e>
                          </m:sPre>
                        </m:e>
                        <m:sup>
                          <m:r>
                            <a:rPr lang="en-US" altLang="zh-CN" sz="1600" i="1">
                              <a:latin typeface="Cambria Math" panose="02040503050406030204" pitchFamily="18" charset="0"/>
                            </a:rPr>
                            <m:t>−1</m:t>
                          </m:r>
                        </m:sup>
                      </m:sSup>
                      <m:r>
                        <a:rPr lang="en-US" altLang="zh-CN" sz="1600" dirty="0">
                          <a:latin typeface="Cambria Math" panose="02040503050406030204" pitchFamily="18" charset="0"/>
                          <a:ea typeface="Cambria Math" panose="02040503050406030204" pitchFamily="18" charset="0"/>
                        </a:rPr>
                        <m:t>∙</m:t>
                      </m:r>
                      <m:d>
                        <m:dPr>
                          <m:ctrlPr>
                            <a:rPr lang="zh-CN" altLang="en-US" sz="1600" i="1">
                              <a:latin typeface="Cambria Math" panose="02040503050406030204" pitchFamily="18" charset="0"/>
                            </a:rPr>
                          </m:ctrlPr>
                        </m:dPr>
                        <m:e>
                          <m:m>
                            <m:mPr>
                              <m:plcHide m:val="on"/>
                              <m:mcs>
                                <m:mc>
                                  <m:mcPr>
                                    <m:count m:val="4"/>
                                    <m:mcJc m:val="center"/>
                                  </m:mcPr>
                                </m:mc>
                              </m:mcs>
                              <m:ctrlPr>
                                <a:rPr lang="zh-CN" altLang="en-US" sz="1600" i="1">
                                  <a:latin typeface="Cambria Math" panose="02040503050406030204" pitchFamily="18" charset="0"/>
                                </a:rPr>
                              </m:ctrlPr>
                            </m:mPr>
                            <m:mr>
                              <m:e>
                                <m:r>
                                  <m:rPr>
                                    <m:sty m:val="p"/>
                                  </m:rPr>
                                  <a:rPr lang="zh-CN" altLang="en-US" sz="1600">
                                    <a:latin typeface="Cambria Math" panose="02040503050406030204" pitchFamily="18" charset="0"/>
                                  </a:rPr>
                                  <m:t>r</m:t>
                                </m:r>
                                <m:r>
                                  <a:rPr lang="zh-CN" altLang="en-US" sz="1600">
                                    <a:latin typeface="Cambria Math" panose="02040503050406030204" pitchFamily="18" charset="0"/>
                                  </a:rPr>
                                  <m:t>11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13</m:t>
                                </m:r>
                              </m:e>
                              <m:e>
                                <m:r>
                                  <m:rPr>
                                    <m:sty m:val="p"/>
                                  </m:rPr>
                                  <a:rPr lang="zh-CN" altLang="en-US" sz="1600" i="0">
                                    <a:latin typeface="Cambria Math" panose="02040503050406030204" pitchFamily="18" charset="0"/>
                                  </a:rPr>
                                  <m:t>px</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23</m:t>
                                </m:r>
                              </m:e>
                              <m:e>
                                <m:r>
                                  <m:rPr>
                                    <m:sty m:val="p"/>
                                  </m:rPr>
                                  <a:rPr lang="zh-CN" altLang="en-US" sz="1600" i="0">
                                    <a:latin typeface="Cambria Math" panose="02040503050406030204" pitchFamily="18" charset="0"/>
                                  </a:rPr>
                                  <m:t>py</m:t>
                                </m:r>
                              </m:e>
                            </m:mr>
                            <m:mr>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31</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32</m:t>
                                </m:r>
                              </m:e>
                              <m:e>
                                <m:r>
                                  <m:rPr>
                                    <m:sty m:val="p"/>
                                  </m:rPr>
                                  <a:rPr lang="zh-CN" altLang="en-US" sz="1600" i="0">
                                    <a:latin typeface="Cambria Math" panose="02040503050406030204" pitchFamily="18" charset="0"/>
                                  </a:rPr>
                                  <m:t>r</m:t>
                                </m:r>
                                <m:r>
                                  <a:rPr lang="zh-CN" altLang="en-US" sz="1600" i="0">
                                    <a:latin typeface="Cambria Math" panose="02040503050406030204" pitchFamily="18" charset="0"/>
                                  </a:rPr>
                                  <m:t>33</m:t>
                                </m:r>
                              </m:e>
                              <m:e>
                                <m:r>
                                  <m:rPr>
                                    <m:sty m:val="p"/>
                                  </m:rPr>
                                  <a:rPr lang="zh-CN" altLang="en-US" sz="1600" i="0">
                                    <a:latin typeface="Cambria Math" panose="02040503050406030204" pitchFamily="18" charset="0"/>
                                  </a:rPr>
                                  <m:t>pz</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1" name="矩形 10">
                <a:extLst>
                  <a:ext uri="{FF2B5EF4-FFF2-40B4-BE49-F238E27FC236}">
                    <a16:creationId xmlns:a16="http://schemas.microsoft.com/office/drawing/2014/main" id="{F7788189-92E9-424F-8605-4A5B446DBA82}"/>
                  </a:ext>
                </a:extLst>
              </p:cNvPr>
              <p:cNvSpPr>
                <a:spLocks noRot="1" noChangeAspect="1" noMove="1" noResize="1" noEditPoints="1" noAdjustHandles="1" noChangeArrowheads="1" noChangeShapeType="1" noTextEdit="1"/>
              </p:cNvSpPr>
              <p:nvPr/>
            </p:nvSpPr>
            <p:spPr>
              <a:xfrm>
                <a:off x="4854152" y="2092929"/>
                <a:ext cx="5044073" cy="101207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2C97FE4D-4B49-415C-B3E9-919261DE0E88}"/>
                  </a:ext>
                </a:extLst>
              </p:cNvPr>
              <p:cNvSpPr/>
              <p:nvPr/>
            </p:nvSpPr>
            <p:spPr>
              <a:xfrm>
                <a:off x="499242" y="4755471"/>
                <a:ext cx="4787461" cy="550664"/>
              </a:xfrm>
              <a:prstGeom prst="rect">
                <a:avLst/>
              </a:prstGeom>
            </p:spPr>
            <p:txBody>
              <a:bodyPr wrap="square">
                <a:spAutoFit/>
              </a:bodyPr>
              <a:lstStyle/>
              <a:p>
                <a14:m>
                  <m:oMath xmlns:m="http://schemas.openxmlformats.org/officeDocument/2006/math">
                    <m:groupChr>
                      <m:groupChrPr>
                        <m:chr m:val="⇒"/>
                        <m:vertJc m:val="bot"/>
                        <m:ctrlPr>
                          <a:rPr lang="zh-CN" altLang="en-US" sz="2000" i="1" smtClean="0">
                            <a:latin typeface="Cambria Math" panose="02040503050406030204" pitchFamily="18" charset="0"/>
                          </a:rPr>
                        </m:ctrlPr>
                      </m:groupChrPr>
                      <m:e>
                        <m:r>
                          <a:rPr lang="en-US" altLang="zh-CN" sz="2000" b="0" i="1" smtClean="0">
                            <a:latin typeface="Cambria Math" panose="02040503050406030204" pitchFamily="18" charset="0"/>
                          </a:rPr>
                          <m:t>(1)</m:t>
                        </m:r>
                      </m:e>
                    </m:groupCh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𝑧</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4</m:t>
                        </m:r>
                      </m:sub>
                    </m:sSub>
                  </m:oMath>
                </a14:m>
                <a:r>
                  <a:rPr lang="zh-CN" altLang="en-US" sz="2000" dirty="0"/>
                  <a:t> </a:t>
                </a:r>
              </a:p>
            </p:txBody>
          </p:sp>
        </mc:Choice>
        <mc:Fallback xmlns="">
          <p:sp>
            <p:nvSpPr>
              <p:cNvPr id="12" name="矩形 11">
                <a:extLst>
                  <a:ext uri="{FF2B5EF4-FFF2-40B4-BE49-F238E27FC236}">
                    <a16:creationId xmlns:a16="http://schemas.microsoft.com/office/drawing/2014/main" id="{2C97FE4D-4B49-415C-B3E9-919261DE0E88}"/>
                  </a:ext>
                </a:extLst>
              </p:cNvPr>
              <p:cNvSpPr>
                <a:spLocks noRot="1" noChangeAspect="1" noMove="1" noResize="1" noEditPoints="1" noAdjustHandles="1" noChangeArrowheads="1" noChangeShapeType="1" noTextEdit="1"/>
              </p:cNvSpPr>
              <p:nvPr/>
            </p:nvSpPr>
            <p:spPr>
              <a:xfrm>
                <a:off x="499242" y="4755471"/>
                <a:ext cx="4787461" cy="5506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A793DF5-E013-462F-9D79-337043E76EA6}"/>
                  </a:ext>
                </a:extLst>
              </p:cNvPr>
              <p:cNvSpPr/>
              <p:nvPr/>
            </p:nvSpPr>
            <p:spPr>
              <a:xfrm>
                <a:off x="499242" y="5196576"/>
                <a:ext cx="4960882" cy="550664"/>
              </a:xfrm>
              <a:prstGeom prst="rect">
                <a:avLst/>
              </a:prstGeom>
            </p:spPr>
            <p:txBody>
              <a:bodyPr wrap="square">
                <a:spAutoFit/>
              </a:bodyPr>
              <a:lstStyle/>
              <a:p>
                <a14:m>
                  <m:oMath xmlns:m="http://schemas.openxmlformats.org/officeDocument/2006/math">
                    <m:groupChr>
                      <m:groupChrPr>
                        <m:chr m:val="⇒"/>
                        <m:vertJc m:val="bot"/>
                        <m:ctrlPr>
                          <a:rPr lang="zh-CN" altLang="en-US" sz="2000" i="1" smtClean="0">
                            <a:latin typeface="Cambria Math" panose="02040503050406030204" pitchFamily="18" charset="0"/>
                          </a:rPr>
                        </m:ctrlPr>
                      </m:groupChrPr>
                      <m:e>
                        <m:r>
                          <a:rPr lang="en-US" altLang="zh-CN" sz="2000" b="0" i="1" smtClean="0">
                            <a:latin typeface="Cambria Math" panose="02040503050406030204" pitchFamily="18" charset="0"/>
                          </a:rPr>
                          <m:t>(2)</m:t>
                        </m:r>
                      </m:e>
                    </m:groupCh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1</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23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𝑧</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3</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𝐿</m:t>
                        </m:r>
                      </m:e>
                      <m:sub>
                        <m:r>
                          <a:rPr lang="en-US" altLang="zh-CN" sz="2000">
                            <a:latin typeface="Cambria Math" panose="02040503050406030204" pitchFamily="18" charset="0"/>
                          </a:rPr>
                          <m:t>5</m:t>
                        </m:r>
                      </m:sub>
                    </m:sSub>
                  </m:oMath>
                </a14:m>
                <a:r>
                  <a:rPr lang="zh-CN" altLang="en-US" sz="2000" dirty="0"/>
                  <a:t> </a:t>
                </a:r>
              </a:p>
            </p:txBody>
          </p:sp>
        </mc:Choice>
        <mc:Fallback xmlns="">
          <p:sp>
            <p:nvSpPr>
              <p:cNvPr id="13" name="矩形 12">
                <a:extLst>
                  <a:ext uri="{FF2B5EF4-FFF2-40B4-BE49-F238E27FC236}">
                    <a16:creationId xmlns:a16="http://schemas.microsoft.com/office/drawing/2014/main" id="{0A793DF5-E013-462F-9D79-337043E76EA6}"/>
                  </a:ext>
                </a:extLst>
              </p:cNvPr>
              <p:cNvSpPr>
                <a:spLocks noRot="1" noChangeAspect="1" noMove="1" noResize="1" noEditPoints="1" noAdjustHandles="1" noChangeArrowheads="1" noChangeShapeType="1" noTextEdit="1"/>
              </p:cNvSpPr>
              <p:nvPr/>
            </p:nvSpPr>
            <p:spPr>
              <a:xfrm>
                <a:off x="499242" y="5196576"/>
                <a:ext cx="4960882" cy="550664"/>
              </a:xfrm>
              <a:prstGeom prst="rect">
                <a:avLst/>
              </a:prstGeom>
              <a:blipFill>
                <a:blip r:embed="rId8"/>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B1564176-FE75-4E4F-93C3-EE669B376198}"/>
              </a:ext>
            </a:extLst>
          </p:cNvPr>
          <p:cNvSpPr txBox="1"/>
          <p:nvPr/>
        </p:nvSpPr>
        <p:spPr>
          <a:xfrm>
            <a:off x="47298" y="4372664"/>
            <a:ext cx="3185487"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上面等式联立，可得两个方程</a:t>
            </a:r>
          </a:p>
        </p:txBody>
      </p:sp>
      <p:sp>
        <p:nvSpPr>
          <p:cNvPr id="15" name="右大括号 14">
            <a:extLst>
              <a:ext uri="{FF2B5EF4-FFF2-40B4-BE49-F238E27FC236}">
                <a16:creationId xmlns:a16="http://schemas.microsoft.com/office/drawing/2014/main" id="{855D3167-23AA-469A-BA93-9EF91898531B}"/>
              </a:ext>
            </a:extLst>
          </p:cNvPr>
          <p:cNvSpPr/>
          <p:nvPr/>
        </p:nvSpPr>
        <p:spPr>
          <a:xfrm>
            <a:off x="5323490" y="4939869"/>
            <a:ext cx="136634" cy="677918"/>
          </a:xfrm>
          <a:prstGeom prst="rightBrace">
            <a:avLst>
              <a:gd name="adj1" fmla="val 1121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EC3C895-A67F-4118-8369-716F22AF74EA}"/>
              </a:ext>
            </a:extLst>
          </p:cNvPr>
          <p:cNvSpPr txBox="1"/>
          <p:nvPr/>
        </p:nvSpPr>
        <p:spPr>
          <a:xfrm>
            <a:off x="5434702" y="5082556"/>
            <a:ext cx="877163"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求解出</a:t>
            </a: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F1516F8-C628-474F-BA6B-7F4549BB6874}"/>
                  </a:ext>
                </a:extLst>
              </p:cNvPr>
              <p:cNvSpPr/>
              <p:nvPr/>
            </p:nvSpPr>
            <p:spPr>
              <a:xfrm>
                <a:off x="6099770" y="5055905"/>
                <a:ext cx="152779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a:latin typeface="Cambria Math" panose="02040503050406030204" pitchFamily="18" charset="0"/>
                              <a:ea typeface="Cambria Math" panose="02040503050406030204" pitchFamily="18" charset="0"/>
                            </a:rPr>
                            <m:t>𝑠</m:t>
                          </m:r>
                        </m:e>
                        <m:sub>
                          <m:r>
                            <a:rPr lang="en-US" altLang="zh-CN" sz="2000">
                              <a:latin typeface="Cambria Math" panose="02040503050406030204" pitchFamily="18" charset="0"/>
                              <a:ea typeface="Cambria Math" panose="02040503050406030204" pitchFamily="18" charset="0"/>
                            </a:rPr>
                            <m:t>23</m:t>
                          </m:r>
                        </m:sub>
                      </m:sSub>
                      <m:r>
                        <m:rPr>
                          <m:nor/>
                        </m:rPr>
                        <a:rPr lang="en-US" altLang="zh-CN" sz="2000" dirty="0"/>
                        <m:t> ,</m:t>
                      </m:r>
                      <m:r>
                        <m:rPr>
                          <m:nor/>
                        </m:rPr>
                        <a:rPr lang="en-US" altLang="zh-CN" sz="2000" dirty="0">
                          <a:ea typeface="Cambria Math" panose="02040503050406030204" pitchFamily="18" charset="0"/>
                        </a:rPr>
                        <m:t> </m:t>
                      </m:r>
                      <m:sSub>
                        <m:sSubPr>
                          <m:ctrlPr>
                            <a:rPr lang="en-US" altLang="zh-CN" sz="2000" i="1">
                              <a:latin typeface="Cambria Math" panose="02040503050406030204" pitchFamily="18" charset="0"/>
                              <a:ea typeface="Cambria Math" panose="02040503050406030204" pitchFamily="18" charset="0"/>
                            </a:rPr>
                          </m:ctrlPr>
                        </m:sSubPr>
                        <m:e>
                          <m:r>
                            <a:rPr lang="en-US" altLang="zh-CN" sz="2000">
                              <a:latin typeface="Cambria Math" panose="02040503050406030204" pitchFamily="18" charset="0"/>
                              <a:ea typeface="Cambria Math" panose="02040503050406030204" pitchFamily="18" charset="0"/>
                            </a:rPr>
                            <m:t>𝑐</m:t>
                          </m:r>
                        </m:e>
                        <m:sub>
                          <m:r>
                            <a:rPr lang="en-US" altLang="zh-CN" sz="2000">
                              <a:latin typeface="Cambria Math" panose="02040503050406030204" pitchFamily="18" charset="0"/>
                              <a:ea typeface="Cambria Math" panose="02040503050406030204" pitchFamily="18" charset="0"/>
                            </a:rPr>
                            <m:t>23</m:t>
                          </m:r>
                        </m:sub>
                      </m:sSub>
                    </m:oMath>
                  </m:oMathPara>
                </a14:m>
                <a:endParaRPr lang="zh-CN" altLang="en-US" sz="2000" dirty="0"/>
              </a:p>
            </p:txBody>
          </p:sp>
        </mc:Choice>
        <mc:Fallback xmlns="">
          <p:sp>
            <p:nvSpPr>
              <p:cNvPr id="18" name="矩形 17">
                <a:extLst>
                  <a:ext uri="{FF2B5EF4-FFF2-40B4-BE49-F238E27FC236}">
                    <a16:creationId xmlns:a16="http://schemas.microsoft.com/office/drawing/2014/main" id="{AF1516F8-C628-474F-BA6B-7F4549BB6874}"/>
                  </a:ext>
                </a:extLst>
              </p:cNvPr>
              <p:cNvSpPr>
                <a:spLocks noRot="1" noChangeAspect="1" noMove="1" noResize="1" noEditPoints="1" noAdjustHandles="1" noChangeArrowheads="1" noChangeShapeType="1" noTextEdit="1"/>
              </p:cNvSpPr>
              <p:nvPr/>
            </p:nvSpPr>
            <p:spPr>
              <a:xfrm>
                <a:off x="6099770" y="5055905"/>
                <a:ext cx="1527791" cy="400110"/>
              </a:xfrm>
              <a:prstGeom prst="rect">
                <a:avLst/>
              </a:prstGeom>
              <a:blipFill>
                <a:blip r:embed="rId9"/>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96C6CE88-286D-4AE0-B651-5FEF03615C0A}"/>
                  </a:ext>
                </a:extLst>
              </p:cNvPr>
              <p:cNvSpPr/>
              <p:nvPr/>
            </p:nvSpPr>
            <p:spPr>
              <a:xfrm>
                <a:off x="8620719" y="5109551"/>
                <a:ext cx="278954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23</m:t>
                          </m:r>
                        </m:sub>
                      </m:sSub>
                      <m:r>
                        <a:rPr lang="en-US" altLang="zh-CN" sz="2000" b="0" i="1" smtClean="0">
                          <a:latin typeface="Cambria Math" panose="02040503050406030204" pitchFamily="18" charset="0"/>
                          <a:ea typeface="Cambria Math" panose="02040503050406030204" pitchFamily="18" charset="0"/>
                        </a:rPr>
                        <m:t>=</m:t>
                      </m:r>
                      <m:r>
                        <m:rPr>
                          <m:sty m:val="p"/>
                        </m:rPr>
                        <a:rPr lang="en-US" altLang="zh-CN" sz="2000" b="0" i="0" smtClean="0">
                          <a:latin typeface="Cambria Math" panose="02040503050406030204" pitchFamily="18" charset="0"/>
                          <a:ea typeface="Cambria Math" panose="02040503050406030204" pitchFamily="18" charset="0"/>
                        </a:rPr>
                        <m:t>arctan</m:t>
                      </m:r>
                      <m:r>
                        <a:rPr lang="en-US" altLang="zh-CN" sz="2000" b="0" i="1" smtClean="0">
                          <a:latin typeface="Cambria Math" panose="02040503050406030204" pitchFamily="18" charset="0"/>
                          <a:ea typeface="Cambria Math" panose="02040503050406030204" pitchFamily="18" charset="0"/>
                        </a:rPr>
                        <m:t>2(</m:t>
                      </m:r>
                      <m:sSub>
                        <m:sSubPr>
                          <m:ctrlPr>
                            <a:rPr lang="en-US" altLang="zh-CN" sz="2000" i="1">
                              <a:latin typeface="Cambria Math" panose="02040503050406030204" pitchFamily="18" charset="0"/>
                              <a:ea typeface="Cambria Math" panose="02040503050406030204" pitchFamily="18" charset="0"/>
                            </a:rPr>
                          </m:ctrlPr>
                        </m:sSubPr>
                        <m:e>
                          <m:r>
                            <a:rPr lang="en-US" altLang="zh-CN" sz="2000">
                              <a:latin typeface="Cambria Math" panose="02040503050406030204" pitchFamily="18" charset="0"/>
                              <a:ea typeface="Cambria Math" panose="02040503050406030204" pitchFamily="18" charset="0"/>
                            </a:rPr>
                            <m:t>𝑠</m:t>
                          </m:r>
                        </m:e>
                        <m:sub>
                          <m:r>
                            <a:rPr lang="en-US" altLang="zh-CN" sz="2000">
                              <a:latin typeface="Cambria Math" panose="02040503050406030204" pitchFamily="18" charset="0"/>
                              <a:ea typeface="Cambria Math" panose="02040503050406030204" pitchFamily="18" charset="0"/>
                            </a:rPr>
                            <m:t>23</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𝑐</m:t>
                          </m:r>
                        </m:e>
                        <m:sub>
                          <m:r>
                            <a:rPr lang="en-US" altLang="zh-CN" sz="2000">
                              <a:latin typeface="Cambria Math" panose="02040503050406030204" pitchFamily="18" charset="0"/>
                              <a:ea typeface="Cambria Math" panose="02040503050406030204" pitchFamily="18" charset="0"/>
                            </a:rPr>
                            <m:t>23</m:t>
                          </m:r>
                        </m:sub>
                      </m:sSub>
                      <m:r>
                        <a:rPr lang="en-US" altLang="zh-CN" sz="2000" b="0" i="1" smtClean="0">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19" name="矩形 18">
                <a:extLst>
                  <a:ext uri="{FF2B5EF4-FFF2-40B4-BE49-F238E27FC236}">
                    <a16:creationId xmlns:a16="http://schemas.microsoft.com/office/drawing/2014/main" id="{96C6CE88-286D-4AE0-B651-5FEF03615C0A}"/>
                  </a:ext>
                </a:extLst>
              </p:cNvPr>
              <p:cNvSpPr>
                <a:spLocks noRot="1" noChangeAspect="1" noMove="1" noResize="1" noEditPoints="1" noAdjustHandles="1" noChangeArrowheads="1" noChangeShapeType="1" noTextEdit="1"/>
              </p:cNvSpPr>
              <p:nvPr/>
            </p:nvSpPr>
            <p:spPr>
              <a:xfrm>
                <a:off x="8620719" y="5109551"/>
                <a:ext cx="2789546" cy="400110"/>
              </a:xfrm>
              <a:prstGeom prst="rect">
                <a:avLst/>
              </a:prstGeom>
              <a:blipFill>
                <a:blip r:embed="rId10"/>
                <a:stretch>
                  <a:fillRect b="-16667"/>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8A9D08-E752-4ECA-87C5-21267725E49E}"/>
              </a:ext>
            </a:extLst>
          </p:cNvPr>
          <p:cNvSpPr txBox="1"/>
          <p:nvPr/>
        </p:nvSpPr>
        <p:spPr>
          <a:xfrm>
            <a:off x="7388564" y="5108131"/>
            <a:ext cx="1338828"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，进而求出</a:t>
            </a:r>
          </a:p>
        </p:txBody>
      </p:sp>
      <mc:AlternateContent xmlns:mc="http://schemas.openxmlformats.org/markup-compatibility/2006" xmlns:a14="http://schemas.microsoft.com/office/drawing/2010/main">
        <mc:Choice Requires="a14">
          <p:sp>
            <p:nvSpPr>
              <p:cNvPr id="21" name="矩形: 圆角 20">
                <a:extLst>
                  <a:ext uri="{FF2B5EF4-FFF2-40B4-BE49-F238E27FC236}">
                    <a16:creationId xmlns:a16="http://schemas.microsoft.com/office/drawing/2014/main" id="{A27647DA-A324-4BBF-BD8B-74CB4ACF4C1B}"/>
                  </a:ext>
                </a:extLst>
              </p:cNvPr>
              <p:cNvSpPr/>
              <p:nvPr/>
            </p:nvSpPr>
            <p:spPr>
              <a:xfrm>
                <a:off x="3776362" y="5825623"/>
                <a:ext cx="1683762"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b="0">
                              <a:solidFill>
                                <a:schemeClr val="tx1"/>
                              </a:solidFill>
                              <a:latin typeface="Cambria Math" panose="02040503050406030204" pitchFamily="18" charset="0"/>
                            </a:rPr>
                            <m:t>2</m:t>
                          </m:r>
                        </m:sub>
                      </m:sSub>
                      <m:r>
                        <a:rPr lang="en-US" altLang="zh-CN">
                          <a:solidFill>
                            <a:schemeClr val="tx1"/>
                          </a:solidFill>
                          <a:latin typeface="Cambria Math" panose="02040503050406030204" pitchFamily="18" charset="0"/>
                        </a:rPr>
                        <m:t>=</m:t>
                      </m:r>
                      <m:sSub>
                        <m:sSubPr>
                          <m:ctrlPr>
                            <a:rPr lang="en-US" altLang="zh-CN" i="1" smtClean="0">
                              <a:solidFill>
                                <a:schemeClr val="tx1"/>
                              </a:solidFill>
                              <a:latin typeface="Cambria Math" panose="02040503050406030204" pitchFamily="18" charset="0"/>
                              <a:ea typeface="Cambria Math" panose="02040503050406030204" pitchFamily="18" charset="0"/>
                            </a:rPr>
                          </m:ctrlPr>
                        </m:sSubPr>
                        <m:e>
                          <m:r>
                            <a:rPr lang="en-US" altLang="zh-CN">
                              <a:solidFill>
                                <a:schemeClr val="tx1"/>
                              </a:solidFill>
                              <a:latin typeface="Cambria Math" panose="02040503050406030204" pitchFamily="18" charset="0"/>
                              <a:ea typeface="Cambria Math" panose="02040503050406030204" pitchFamily="18" charset="0"/>
                            </a:rPr>
                            <m:t>𝜃</m:t>
                          </m:r>
                        </m:e>
                        <m:sub>
                          <m:r>
                            <a:rPr lang="en-US" altLang="zh-CN">
                              <a:solidFill>
                                <a:schemeClr val="tx1"/>
                              </a:solidFill>
                              <a:latin typeface="Cambria Math" panose="02040503050406030204" pitchFamily="18" charset="0"/>
                              <a:ea typeface="Cambria Math" panose="02040503050406030204" pitchFamily="18" charset="0"/>
                            </a:rPr>
                            <m:t>23</m:t>
                          </m:r>
                        </m:sub>
                      </m:sSub>
                      <m:r>
                        <a:rPr lang="en-US" altLang="zh-CN" b="0" i="1" smtClean="0">
                          <a:solidFill>
                            <a:schemeClr val="tx1"/>
                          </a:solidFill>
                          <a:latin typeface="Cambria Math" panose="02040503050406030204" pitchFamily="18" charset="0"/>
                          <a:ea typeface="Cambria Math" panose="02040503050406030204" pitchFamily="18" charset="0"/>
                        </a:rPr>
                        <m:t>−</m:t>
                      </m:r>
                      <m:sSub>
                        <m:sSubPr>
                          <m:ctrlPr>
                            <a:rPr lang="en-US" altLang="zh-CN" b="0" i="1" smtClean="0">
                              <a:solidFill>
                                <a:schemeClr val="tx1"/>
                              </a:solidFill>
                              <a:latin typeface="Cambria Math" panose="02040503050406030204" pitchFamily="18" charset="0"/>
                              <a:ea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𝜃</m:t>
                          </m:r>
                        </m:e>
                        <m:sub>
                          <m:r>
                            <a:rPr lang="en-US" altLang="zh-CN" b="0" i="1" smtClean="0">
                              <a:solidFill>
                                <a:schemeClr val="tx1"/>
                              </a:solidFill>
                              <a:latin typeface="Cambria Math" panose="02040503050406030204" pitchFamily="18" charset="0"/>
                              <a:ea typeface="Cambria Math" panose="02040503050406030204" pitchFamily="18" charset="0"/>
                            </a:rPr>
                            <m:t>3</m:t>
                          </m:r>
                        </m:sub>
                      </m:sSub>
                    </m:oMath>
                  </m:oMathPara>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21" name="矩形: 圆角 20">
                <a:extLst>
                  <a:ext uri="{FF2B5EF4-FFF2-40B4-BE49-F238E27FC236}">
                    <a16:creationId xmlns:a16="http://schemas.microsoft.com/office/drawing/2014/main" id="{A27647DA-A324-4BBF-BD8B-74CB4ACF4C1B}"/>
                  </a:ext>
                </a:extLst>
              </p:cNvPr>
              <p:cNvSpPr>
                <a:spLocks noRot="1" noChangeAspect="1" noMove="1" noResize="1" noEditPoints="1" noAdjustHandles="1" noChangeArrowheads="1" noChangeShapeType="1" noTextEdit="1"/>
              </p:cNvSpPr>
              <p:nvPr/>
            </p:nvSpPr>
            <p:spPr>
              <a:xfrm>
                <a:off x="3776362" y="5825623"/>
                <a:ext cx="1683762" cy="432048"/>
              </a:xfrm>
              <a:prstGeom prst="roundRect">
                <a:avLst/>
              </a:prstGeom>
              <a:blipFill>
                <a:blip r:embed="rId11"/>
                <a:stretch>
                  <a:fillRect/>
                </a:stretch>
              </a:blipFill>
              <a:ln>
                <a:solidFill>
                  <a:srgbClr val="FF0000"/>
                </a:solidFill>
              </a:ln>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C9D67D7C-8415-42C6-AE74-10C2125FFF21}"/>
              </a:ext>
            </a:extLst>
          </p:cNvPr>
          <p:cNvSpPr/>
          <p:nvPr/>
        </p:nvSpPr>
        <p:spPr>
          <a:xfrm>
            <a:off x="5504687" y="5843090"/>
            <a:ext cx="1059906"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唯一解</a:t>
            </a:r>
            <a:endParaRPr lang="en-US" altLang="zh-CN" b="1"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D0D85507-A02D-4A2C-830C-29AED854CB1A}"/>
                  </a:ext>
                </a:extLst>
              </p:cNvPr>
              <p:cNvSpPr/>
              <p:nvPr/>
            </p:nvSpPr>
            <p:spPr>
              <a:xfrm>
                <a:off x="671858" y="6437820"/>
                <a:ext cx="957653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000" i="1" smtClean="0">
                              <a:latin typeface="Cambria Math" panose="02040503050406030204" pitchFamily="18" charset="0"/>
                            </a:rPr>
                          </m:ctrlPr>
                        </m:dPr>
                        <m:e>
                          <m:r>
                            <m:rPr>
                              <m:sty m:val="p"/>
                            </m:rPr>
                            <a:rPr lang="zh-CN" altLang="en-US" sz="2000" i="0">
                              <a:latin typeface="Cambria Math" panose="02040503050406030204" pitchFamily="18" charset="0"/>
                            </a:rPr>
                            <m:t>Cos</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5</m:t>
                              </m:r>
                            </m:sub>
                          </m:sSub>
                        </m:e>
                      </m:d>
                      <m:r>
                        <a:rPr lang="en-US" altLang="zh-CN" sz="2000" b="0" i="1" smtClean="0">
                          <a:latin typeface="Cambria Math" panose="02040503050406030204" pitchFamily="18" charset="0"/>
                        </a:rPr>
                        <m:t>=−</m:t>
                      </m:r>
                      <m:r>
                        <m:rPr>
                          <m:sty m:val="p"/>
                        </m:rPr>
                        <a:rPr lang="zh-CN" altLang="en-US" sz="2000" i="0">
                          <a:latin typeface="Cambria Math" panose="02040503050406030204" pitchFamily="18" charset="0"/>
                        </a:rPr>
                        <m:t>r</m:t>
                      </m:r>
                      <m:r>
                        <a:rPr lang="zh-CN" altLang="en-US" sz="2000" i="0">
                          <a:latin typeface="Cambria Math" panose="02040503050406030204" pitchFamily="18" charset="0"/>
                        </a:rPr>
                        <m:t>33⁢</m:t>
                      </m:r>
                      <m:d>
                        <m:dPr>
                          <m:begChr m:val=""/>
                          <m:end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Cos</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3</m:t>
                              </m:r>
                            </m:sub>
                          </m:sSub>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r</m:t>
                      </m:r>
                      <m:r>
                        <a:rPr lang="zh-CN" altLang="en-US" sz="2000" i="0">
                          <a:latin typeface="Cambria Math" panose="02040503050406030204" pitchFamily="18" charset="0"/>
                        </a:rPr>
                        <m:t>13⁢</m:t>
                      </m:r>
                      <m:d>
                        <m:dPr>
                          <m:begChr m:val=""/>
                          <m:end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Cos</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1</m:t>
                              </m:r>
                            </m:sub>
                          </m:sSub>
                        </m:e>
                      </m:d>
                      <m:r>
                        <a:rPr lang="zh-CN" altLang="en-US" sz="2000" i="0">
                          <a:latin typeface="Cambria Math" panose="02040503050406030204" pitchFamily="18" charset="0"/>
                        </a:rPr>
                        <m:t>⁢</m:t>
                      </m:r>
                      <m:d>
                        <m:dPr>
                          <m:begChr m:val=""/>
                          <m:end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Sin</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3</m:t>
                              </m:r>
                            </m:sub>
                          </m:sSub>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r</m:t>
                      </m:r>
                      <m:r>
                        <a:rPr lang="zh-CN" altLang="en-US" sz="2000" i="0">
                          <a:latin typeface="Cambria Math" panose="02040503050406030204" pitchFamily="18" charset="0"/>
                        </a:rPr>
                        <m:t>23⁢</m:t>
                      </m:r>
                      <m:d>
                        <m:dPr>
                          <m:begChr m:val=""/>
                          <m:end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Sin</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1</m:t>
                              </m:r>
                            </m:sub>
                          </m:sSub>
                        </m:e>
                      </m:d>
                      <m:r>
                        <a:rPr lang="zh-CN" altLang="en-US" sz="2000" i="0">
                          <a:latin typeface="Cambria Math" panose="02040503050406030204" pitchFamily="18" charset="0"/>
                        </a:rPr>
                        <m:t>⁢</m:t>
                      </m:r>
                      <m:d>
                        <m:dPr>
                          <m:begChr m:val=""/>
                          <m:endChr m:val="]"/>
                          <m:ctrlPr>
                            <a:rPr lang="zh-CN" altLang="en-US" sz="2000" i="1">
                              <a:latin typeface="Cambria Math" panose="02040503050406030204" pitchFamily="18" charset="0"/>
                            </a:rPr>
                          </m:ctrlPr>
                        </m:dPr>
                        <m:e>
                          <m:r>
                            <m:rPr>
                              <m:sty m:val="p"/>
                            </m:rPr>
                            <a:rPr lang="zh-CN" altLang="en-US" sz="2000" i="0">
                              <a:latin typeface="Cambria Math" panose="02040503050406030204" pitchFamily="18" charset="0"/>
                            </a:rPr>
                            <m:t>Sin</m:t>
                          </m:r>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2</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𝜃</m:t>
                              </m:r>
                            </m:e>
                            <m:sub>
                              <m:r>
                                <a:rPr lang="zh-CN" altLang="en-US" sz="2000" i="0">
                                  <a:latin typeface="Cambria Math" panose="02040503050406030204" pitchFamily="18" charset="0"/>
                                </a:rPr>
                                <m:t>3</m:t>
                              </m:r>
                            </m:sub>
                          </m:sSub>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r>
                        <a:rPr lang="zh-CN" altLang="en-US" sz="2000">
                          <a:latin typeface="Cambria Math" panose="02040503050406030204" pitchFamily="18" charset="0"/>
                        </a:rPr>
                        <m:t>’</m:t>
                      </m:r>
                    </m:oMath>
                  </m:oMathPara>
                </a14:m>
                <a:endParaRPr lang="zh-CN" altLang="en-US" sz="2000" dirty="0"/>
              </a:p>
            </p:txBody>
          </p:sp>
        </mc:Choice>
        <mc:Fallback xmlns="">
          <p:sp>
            <p:nvSpPr>
              <p:cNvPr id="23" name="矩形 22">
                <a:extLst>
                  <a:ext uri="{FF2B5EF4-FFF2-40B4-BE49-F238E27FC236}">
                    <a16:creationId xmlns:a16="http://schemas.microsoft.com/office/drawing/2014/main" id="{D0D85507-A02D-4A2C-830C-29AED854CB1A}"/>
                  </a:ext>
                </a:extLst>
              </p:cNvPr>
              <p:cNvSpPr>
                <a:spLocks noRot="1" noChangeAspect="1" noMove="1" noResize="1" noEditPoints="1" noAdjustHandles="1" noChangeArrowheads="1" noChangeShapeType="1" noTextEdit="1"/>
              </p:cNvSpPr>
              <p:nvPr/>
            </p:nvSpPr>
            <p:spPr>
              <a:xfrm>
                <a:off x="671858" y="6437820"/>
                <a:ext cx="9576532" cy="400110"/>
              </a:xfrm>
              <a:prstGeom prst="rect">
                <a:avLst/>
              </a:prstGeom>
              <a:blipFill>
                <a:blip r:embed="rId12"/>
                <a:stretch>
                  <a:fillRect t="-124242" b="-190909"/>
                </a:stretch>
              </a:blipFill>
            </p:spPr>
            <p:txBody>
              <a:bodyPr/>
              <a:lstStyle/>
              <a:p>
                <a:r>
                  <a:rPr lang="zh-CN" altLang="en-US">
                    <a:noFill/>
                  </a:rPr>
                  <a:t> </a:t>
                </a:r>
              </a:p>
            </p:txBody>
          </p:sp>
        </mc:Fallback>
      </mc:AlternateContent>
      <p:sp>
        <p:nvSpPr>
          <p:cNvPr id="24" name="左大括号 23">
            <a:extLst>
              <a:ext uri="{FF2B5EF4-FFF2-40B4-BE49-F238E27FC236}">
                <a16:creationId xmlns:a16="http://schemas.microsoft.com/office/drawing/2014/main" id="{53E3948F-A7BD-4BBD-A0B6-18CBC81ECF82}"/>
              </a:ext>
            </a:extLst>
          </p:cNvPr>
          <p:cNvSpPr/>
          <p:nvPr/>
        </p:nvSpPr>
        <p:spPr>
          <a:xfrm rot="16200000">
            <a:off x="7650745" y="1327392"/>
            <a:ext cx="268659" cy="3737353"/>
          </a:xfrm>
          <a:prstGeom prst="leftBrace">
            <a:avLst>
              <a:gd name="adj1" fmla="val 219589"/>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006446A8-DEB7-4F51-8765-D3EC74D501A2}"/>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325968374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ppt_x</p:attrName>
                                        </p:attrNameLst>
                                      </p:cBhvr>
                                      <p:tavLst>
                                        <p:tav tm="0">
                                          <p:val>
                                            <p:strVal val="#ppt_x"/>
                                          </p:val>
                                        </p:tav>
                                        <p:tav tm="100000">
                                          <p:val>
                                            <p:strVal val="#ppt_x"/>
                                          </p:val>
                                        </p:tav>
                                      </p:tavLst>
                                    </p:anim>
                                    <p:anim calcmode="lin" valueType="num">
                                      <p:cBhvr additive="base">
                                        <p:cTn id="46" dur="500" fill="hold"/>
                                        <p:tgtEl>
                                          <p:spTgt spid="1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 calcmode="lin" valueType="num">
                                      <p:cBhvr additive="base">
                                        <p:cTn id="67" dur="500" fill="hold"/>
                                        <p:tgtEl>
                                          <p:spTgt spid="22"/>
                                        </p:tgtEl>
                                        <p:attrNameLst>
                                          <p:attrName>ppt_x</p:attrName>
                                        </p:attrNameLst>
                                      </p:cBhvr>
                                      <p:tavLst>
                                        <p:tav tm="0">
                                          <p:val>
                                            <p:strVal val="#ppt_x"/>
                                          </p:val>
                                        </p:tav>
                                        <p:tav tm="100000">
                                          <p:val>
                                            <p:strVal val="#ppt_x"/>
                                          </p:val>
                                        </p:tav>
                                      </p:tavLst>
                                    </p:anim>
                                    <p:anim calcmode="lin" valueType="num">
                                      <p:cBhvr additive="base">
                                        <p:cTn id="6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500" fill="hold"/>
                                        <p:tgtEl>
                                          <p:spTgt spid="23"/>
                                        </p:tgtEl>
                                        <p:attrNameLst>
                                          <p:attrName>ppt_x</p:attrName>
                                        </p:attrNameLst>
                                      </p:cBhvr>
                                      <p:tavLst>
                                        <p:tav tm="0">
                                          <p:val>
                                            <p:strVal val="#ppt_x"/>
                                          </p:val>
                                        </p:tav>
                                        <p:tav tm="100000">
                                          <p:val>
                                            <p:strVal val="#ppt_x"/>
                                          </p:val>
                                        </p:tav>
                                      </p:tavLst>
                                    </p:anim>
                                    <p:anim calcmode="lin" valueType="num">
                                      <p:cBhvr additive="base">
                                        <p:cTn id="7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P spid="12" grpId="0"/>
      <p:bldP spid="13" grpId="0"/>
      <p:bldP spid="14" grpId="0"/>
      <p:bldP spid="15" grpId="0" animBg="1"/>
      <p:bldP spid="16" grpId="0"/>
      <p:bldP spid="18" grpId="0"/>
      <p:bldP spid="19" grpId="0"/>
      <p:bldP spid="20" grpId="0"/>
      <p:bldP spid="21" grpId="0" animBg="1"/>
      <p:bldP spid="22" grpId="0"/>
      <p:bldP spid="23" grpId="0"/>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2F3821-75AA-47C5-AEB7-418054ABFCE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14</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8" name="矩形: 圆角 7">
                <a:extLst>
                  <a:ext uri="{FF2B5EF4-FFF2-40B4-BE49-F238E27FC236}">
                    <a16:creationId xmlns:a16="http://schemas.microsoft.com/office/drawing/2014/main" id="{D3AB1E78-2820-40F0-9861-296FB0426424}"/>
                  </a:ext>
                </a:extLst>
              </p:cNvPr>
              <p:cNvSpPr/>
              <p:nvPr/>
            </p:nvSpPr>
            <p:spPr>
              <a:xfrm>
                <a:off x="493760" y="1083246"/>
                <a:ext cx="5228953"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r>
                      <a:rPr lang="en-US" altLang="zh-CN" sz="200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zh-CN" altLang="en-US" sz="2000" smtClean="0">
                        <a:solidFill>
                          <a:schemeClr val="tx1"/>
                        </a:solidFill>
                        <a:latin typeface="Cambria Math" panose="02040503050406030204" pitchFamily="18" charset="0"/>
                      </a:rPr>
                      <m:t>’</m:t>
                    </m:r>
                  </m:oMath>
                </a14:m>
                <a:r>
                  <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r>
                      <a:rPr lang="en-US" altLang="zh-CN" sz="200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zh-CN" altLang="en-US" sz="2000" smtClean="0">
                        <a:solidFill>
                          <a:schemeClr val="tx1"/>
                        </a:solidFill>
                        <a:latin typeface="Cambria Math" panose="02040503050406030204" pitchFamily="18" charset="0"/>
                      </a:rPr>
                      <m:t>’</m:t>
                    </m:r>
                  </m:oMath>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8" name="矩形: 圆角 7">
                <a:extLst>
                  <a:ext uri="{FF2B5EF4-FFF2-40B4-BE49-F238E27FC236}">
                    <a16:creationId xmlns:a16="http://schemas.microsoft.com/office/drawing/2014/main" id="{D3AB1E78-2820-40F0-9861-296FB0426424}"/>
                  </a:ext>
                </a:extLst>
              </p:cNvPr>
              <p:cNvSpPr>
                <a:spLocks noRot="1" noChangeAspect="1" noMove="1" noResize="1" noEditPoints="1" noAdjustHandles="1" noChangeArrowheads="1" noChangeShapeType="1" noTextEdit="1"/>
              </p:cNvSpPr>
              <p:nvPr/>
            </p:nvSpPr>
            <p:spPr>
              <a:xfrm>
                <a:off x="493760" y="1083246"/>
                <a:ext cx="5228953" cy="432048"/>
              </a:xfrm>
              <a:prstGeom prst="roundRect">
                <a:avLst/>
              </a:prstGeom>
              <a:blipFill>
                <a:blip r:embed="rId3"/>
                <a:stretch>
                  <a:fillRect/>
                </a:stretch>
              </a:blipFill>
              <a:ln>
                <a:solidFill>
                  <a:srgbClr val="FF0000"/>
                </a:solidFill>
              </a:ln>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39BFDF22-6BEF-4561-9970-3DD321ECEEB4}"/>
              </a:ext>
            </a:extLst>
          </p:cNvPr>
          <p:cNvSpPr/>
          <p:nvPr/>
        </p:nvSpPr>
        <p:spPr>
          <a:xfrm>
            <a:off x="5529080" y="1120291"/>
            <a:ext cx="2954655"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对应的空间关系是什么？</a:t>
            </a:r>
            <a:endParaRPr lang="en-US" altLang="zh-CN" b="1"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8" name="矩形: 圆角 27">
                <a:extLst>
                  <a:ext uri="{FF2B5EF4-FFF2-40B4-BE49-F238E27FC236}">
                    <a16:creationId xmlns:a16="http://schemas.microsoft.com/office/drawing/2014/main" id="{4DEC4C2B-5D71-4694-A001-0F8DB22985EC}"/>
                  </a:ext>
                </a:extLst>
              </p:cNvPr>
              <p:cNvSpPr/>
              <p:nvPr/>
            </p:nvSpPr>
            <p:spPr>
              <a:xfrm>
                <a:off x="489219" y="2177438"/>
                <a:ext cx="5228955"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4</m:t>
                          </m:r>
                        </m:sub>
                      </m:sSub>
                      <m:r>
                        <a:rPr lang="en-US" altLang="zh-CN" sz="2000">
                          <a:solidFill>
                            <a:schemeClr val="tx1"/>
                          </a:solidFill>
                          <a:latin typeface="Cambria Math" panose="02040503050406030204" pitchFamily="18" charset="0"/>
                        </a:rPr>
                        <m:t>=</m:t>
                      </m:r>
                      <m:r>
                        <m:rPr>
                          <m:sty m:val="p"/>
                        </m:rPr>
                        <a:rPr lang="en-US" altLang="zh-CN" sz="2000" i="0" smtClean="0">
                          <a:solidFill>
                            <a:schemeClr val="tx1"/>
                          </a:solidFill>
                          <a:latin typeface="Cambria Math" panose="02040503050406030204" pitchFamily="18" charset="0"/>
                          <a:ea typeface="Cambria Math" panose="02040503050406030204" pitchFamily="18" charset="0"/>
                        </a:rPr>
                        <m:t>arctan</m:t>
                      </m:r>
                      <m:r>
                        <a:rPr lang="en-US" altLang="zh-CN" sz="2000">
                          <a:solidFill>
                            <a:schemeClr val="tx1"/>
                          </a:solidFill>
                          <a:latin typeface="Cambria Math" panose="02040503050406030204" pitchFamily="18" charset="0"/>
                          <a:ea typeface="Cambria Math" panose="02040503050406030204" pitchFamily="18" charset="0"/>
                        </a:rPr>
                        <m:t>2(</m:t>
                      </m:r>
                      <m:d>
                        <m:dPr>
                          <m:begChr m:val=""/>
                          <m:endChr m:val="]"/>
                          <m:ctrlPr>
                            <a:rPr lang="zh-CN" altLang="en-US" sz="2000" i="1" smtClean="0">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4</m:t>
                              </m:r>
                            </m:sub>
                          </m:sSub>
                        </m:e>
                      </m:d>
                      <m:r>
                        <a:rPr lang="zh-CN" altLang="en-US" sz="2000" i="0">
                          <a:solidFill>
                            <a:schemeClr val="tx1"/>
                          </a:solidFill>
                          <a:latin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5</m:t>
                              </m:r>
                            </m:sub>
                          </m:sSub>
                        </m:e>
                      </m:d>
                      <m:r>
                        <a:rPr lang="en-US" altLang="zh-CN" sz="2000">
                          <a:solidFill>
                            <a:schemeClr val="tx1"/>
                          </a:solidFill>
                          <a:latin typeface="Cambria Math" panose="02040503050406030204" pitchFamily="18" charset="0"/>
                          <a:ea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Cos</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4</m:t>
                              </m:r>
                            </m:sub>
                          </m:sSub>
                        </m:e>
                      </m:d>
                      <m:r>
                        <a:rPr lang="zh-CN" altLang="en-US" sz="2000" i="0">
                          <a:solidFill>
                            <a:schemeClr val="tx1"/>
                          </a:solidFill>
                          <a:latin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5</m:t>
                              </m:r>
                            </m:sub>
                          </m:sSub>
                        </m:e>
                      </m:d>
                      <m:r>
                        <a:rPr lang="en-US" altLang="zh-CN" sz="2000">
                          <a:solidFill>
                            <a:schemeClr val="tx1"/>
                          </a:solidFill>
                          <a:latin typeface="Cambria Math" panose="02040503050406030204" pitchFamily="18" charset="0"/>
                          <a:ea typeface="Cambria Math" panose="02040503050406030204" pitchFamily="18" charset="0"/>
                        </a:rPr>
                        <m:t>)</m:t>
                      </m:r>
                    </m:oMath>
                  </m:oMathPara>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28" name="矩形: 圆角 27">
                <a:extLst>
                  <a:ext uri="{FF2B5EF4-FFF2-40B4-BE49-F238E27FC236}">
                    <a16:creationId xmlns:a16="http://schemas.microsoft.com/office/drawing/2014/main" id="{4DEC4C2B-5D71-4694-A001-0F8DB22985EC}"/>
                  </a:ext>
                </a:extLst>
              </p:cNvPr>
              <p:cNvSpPr>
                <a:spLocks noRot="1" noChangeAspect="1" noMove="1" noResize="1" noEditPoints="1" noAdjustHandles="1" noChangeArrowheads="1" noChangeShapeType="1" noTextEdit="1"/>
              </p:cNvSpPr>
              <p:nvPr/>
            </p:nvSpPr>
            <p:spPr>
              <a:xfrm>
                <a:off x="489219" y="2177438"/>
                <a:ext cx="5228955" cy="432048"/>
              </a:xfrm>
              <a:prstGeom prst="roundRect">
                <a:avLst/>
              </a:prstGeom>
              <a:blipFill>
                <a:blip r:embed="rId4"/>
                <a:stretch>
                  <a:fillRect t="-106849" r="-5000" b="-168493"/>
                </a:stretch>
              </a:blipFill>
              <a:ln>
                <a:solidFill>
                  <a:srgbClr val="FF0000"/>
                </a:solidFill>
              </a:ln>
            </p:spPr>
            <p:txBody>
              <a:bodyPr/>
              <a:lstStyle/>
              <a:p>
                <a:r>
                  <a:rPr lang="zh-CN" altLang="en-US">
                    <a:noFill/>
                  </a:rPr>
                  <a:t> </a:t>
                </a:r>
              </a:p>
            </p:txBody>
          </p:sp>
        </mc:Fallback>
      </mc:AlternateContent>
      <p:sp>
        <p:nvSpPr>
          <p:cNvPr id="29" name="矩形 28">
            <a:extLst>
              <a:ext uri="{FF2B5EF4-FFF2-40B4-BE49-F238E27FC236}">
                <a16:creationId xmlns:a16="http://schemas.microsoft.com/office/drawing/2014/main" id="{A9B7DC8B-BE9A-4B31-9DD1-21C861E8AAD9}"/>
              </a:ext>
            </a:extLst>
          </p:cNvPr>
          <p:cNvSpPr/>
          <p:nvPr/>
        </p:nvSpPr>
        <p:spPr>
          <a:xfrm>
            <a:off x="5716638" y="2208796"/>
            <a:ext cx="1059906"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唯一解</a:t>
            </a:r>
            <a:endParaRPr lang="en-US" altLang="zh-CN" b="1"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0" name="矩形: 圆角 29">
                <a:extLst>
                  <a:ext uri="{FF2B5EF4-FFF2-40B4-BE49-F238E27FC236}">
                    <a16:creationId xmlns:a16="http://schemas.microsoft.com/office/drawing/2014/main" id="{64072A3C-6067-48C7-9E47-3315F87CDAB0}"/>
                  </a:ext>
                </a:extLst>
              </p:cNvPr>
              <p:cNvSpPr/>
              <p:nvPr/>
            </p:nvSpPr>
            <p:spPr>
              <a:xfrm>
                <a:off x="489219" y="3193565"/>
                <a:ext cx="5227419"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6</m:t>
                          </m:r>
                        </m:sub>
                      </m:sSub>
                      <m:r>
                        <a:rPr lang="en-US" altLang="zh-CN" sz="2000">
                          <a:solidFill>
                            <a:schemeClr val="tx1"/>
                          </a:solidFill>
                          <a:latin typeface="Cambria Math" panose="02040503050406030204" pitchFamily="18" charset="0"/>
                        </a:rPr>
                        <m:t>=</m:t>
                      </m:r>
                      <m:r>
                        <m:rPr>
                          <m:sty m:val="p"/>
                        </m:rPr>
                        <a:rPr lang="en-US" altLang="zh-CN" sz="2000" i="0" smtClean="0">
                          <a:solidFill>
                            <a:schemeClr val="tx1"/>
                          </a:solidFill>
                          <a:latin typeface="Cambria Math" panose="02040503050406030204" pitchFamily="18" charset="0"/>
                          <a:ea typeface="Cambria Math" panose="02040503050406030204" pitchFamily="18" charset="0"/>
                        </a:rPr>
                        <m:t>arctan</m:t>
                      </m:r>
                      <m:r>
                        <a:rPr lang="en-US" altLang="zh-CN" sz="2000">
                          <a:solidFill>
                            <a:schemeClr val="tx1"/>
                          </a:solidFill>
                          <a:latin typeface="Cambria Math" panose="02040503050406030204" pitchFamily="18" charset="0"/>
                          <a:ea typeface="Cambria Math" panose="02040503050406030204" pitchFamily="18" charset="0"/>
                        </a:rPr>
                        <m:t>2(</m:t>
                      </m:r>
                      <m:d>
                        <m:dPr>
                          <m:begChr m:val=""/>
                          <m:endChr m:val="]"/>
                          <m:ctrlPr>
                            <a:rPr lang="zh-CN" altLang="en-US" sz="2000" i="1" smtClean="0">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e>
                      </m:d>
                      <m:r>
                        <a:rPr lang="zh-CN" altLang="en-US" sz="2000" i="0">
                          <a:solidFill>
                            <a:schemeClr val="tx1"/>
                          </a:solidFill>
                          <a:latin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6</m:t>
                              </m:r>
                            </m:sub>
                          </m:sSub>
                        </m:e>
                      </m:d>
                      <m:r>
                        <a:rPr lang="en-US" altLang="zh-CN" sz="2000">
                          <a:solidFill>
                            <a:schemeClr val="tx1"/>
                          </a:solidFill>
                          <a:latin typeface="Cambria Math" panose="02040503050406030204" pitchFamily="18" charset="0"/>
                          <a:ea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Cos</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6</m:t>
                              </m:r>
                            </m:sub>
                          </m:sSub>
                        </m:e>
                      </m:d>
                      <m:r>
                        <a:rPr lang="zh-CN" altLang="en-US" sz="2000" i="0">
                          <a:solidFill>
                            <a:schemeClr val="tx1"/>
                          </a:solidFill>
                          <a:latin typeface="Cambria Math" panose="02040503050406030204" pitchFamily="18" charset="0"/>
                        </a:rPr>
                        <m:t>⁢</m:t>
                      </m:r>
                      <m:d>
                        <m:dPr>
                          <m:begChr m:val=""/>
                          <m:endChr m:val="]"/>
                          <m:ctrlPr>
                            <a:rPr lang="zh-CN" altLang="en-US" sz="2000" i="1">
                              <a:solidFill>
                                <a:schemeClr val="tx1"/>
                              </a:solidFill>
                              <a:latin typeface="Cambria Math" panose="02040503050406030204" pitchFamily="18" charset="0"/>
                            </a:rPr>
                          </m:ctrlPr>
                        </m:dPr>
                        <m:e>
                          <m:r>
                            <m:rPr>
                              <m:sty m:val="p"/>
                            </m:rPr>
                            <a:rPr lang="zh-CN" altLang="en-US" sz="2000" i="0">
                              <a:solidFill>
                                <a:schemeClr val="tx1"/>
                              </a:solidFill>
                              <a:latin typeface="Cambria Math" panose="02040503050406030204" pitchFamily="18" charset="0"/>
                            </a:rPr>
                            <m:t>Sin</m:t>
                          </m:r>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5</m:t>
                              </m:r>
                            </m:sub>
                          </m:sSub>
                        </m:e>
                      </m:d>
                      <m:r>
                        <a:rPr lang="en-US" altLang="zh-CN" sz="2000">
                          <a:solidFill>
                            <a:schemeClr val="tx1"/>
                          </a:solidFill>
                          <a:latin typeface="Cambria Math" panose="02040503050406030204" pitchFamily="18" charset="0"/>
                          <a:ea typeface="Cambria Math" panose="02040503050406030204" pitchFamily="18" charset="0"/>
                        </a:rPr>
                        <m:t>)</m:t>
                      </m:r>
                    </m:oMath>
                  </m:oMathPara>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30" name="矩形: 圆角 29">
                <a:extLst>
                  <a:ext uri="{FF2B5EF4-FFF2-40B4-BE49-F238E27FC236}">
                    <a16:creationId xmlns:a16="http://schemas.microsoft.com/office/drawing/2014/main" id="{64072A3C-6067-48C7-9E47-3315F87CDAB0}"/>
                  </a:ext>
                </a:extLst>
              </p:cNvPr>
              <p:cNvSpPr>
                <a:spLocks noRot="1" noChangeAspect="1" noMove="1" noResize="1" noEditPoints="1" noAdjustHandles="1" noChangeArrowheads="1" noChangeShapeType="1" noTextEdit="1"/>
              </p:cNvSpPr>
              <p:nvPr/>
            </p:nvSpPr>
            <p:spPr>
              <a:xfrm>
                <a:off x="489219" y="3193565"/>
                <a:ext cx="5227419" cy="432048"/>
              </a:xfrm>
              <a:prstGeom prst="roundRect">
                <a:avLst/>
              </a:prstGeom>
              <a:blipFill>
                <a:blip r:embed="rId5"/>
                <a:stretch>
                  <a:fillRect t="-106849" r="-5116" b="-168493"/>
                </a:stretch>
              </a:blipFill>
              <a:ln>
                <a:solidFill>
                  <a:srgbClr val="FF0000"/>
                </a:solidFill>
              </a:ln>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10724130-18B4-4CC0-AE0D-6D1EF8B8F690}"/>
              </a:ext>
            </a:extLst>
          </p:cNvPr>
          <p:cNvSpPr/>
          <p:nvPr/>
        </p:nvSpPr>
        <p:spPr>
          <a:xfrm>
            <a:off x="5716638" y="3218879"/>
            <a:ext cx="1059906" cy="369332"/>
          </a:xfrm>
          <a:prstGeom prst="rect">
            <a:avLst/>
          </a:prstGeom>
        </p:spPr>
        <p:txBody>
          <a:bodyPr wrap="none">
            <a:spAutoFit/>
          </a:bodyPr>
          <a:lstStyle/>
          <a:p>
            <a:pPr marL="180975" lvl="1"/>
            <a:r>
              <a:rPr lang="zh-CN" altLang="en-US" b="1" i="0" dirty="0">
                <a:solidFill>
                  <a:srgbClr val="0000CC"/>
                </a:solidFill>
                <a:latin typeface="微软雅黑" panose="020B0503020204020204" pitchFamily="34" charset="-122"/>
                <a:ea typeface="微软雅黑" panose="020B0503020204020204" pitchFamily="34" charset="-122"/>
              </a:rPr>
              <a:t>唯一解</a:t>
            </a:r>
            <a:endParaRPr lang="en-US" altLang="zh-CN" b="1" i="0" dirty="0">
              <a:solidFill>
                <a:srgbClr val="0000CC"/>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E7B1EEA2-8986-4A40-A67B-DB008A4C1D8C}"/>
                  </a:ext>
                </a:extLst>
              </p:cNvPr>
              <p:cNvSpPr/>
              <p:nvPr/>
            </p:nvSpPr>
            <p:spPr>
              <a:xfrm>
                <a:off x="518131" y="4494257"/>
                <a:ext cx="3502075" cy="12420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CN" sz="2000" i="1" smtClean="0">
                              <a:latin typeface="Cambria Math" panose="02040503050406030204" pitchFamily="18" charset="0"/>
                            </a:rPr>
                          </m:ctrlPr>
                        </m:sPrePr>
                        <m:sub>
                          <m:r>
                            <a:rPr lang="en-US" altLang="zh-CN" sz="2000" b="0" i="1" smtClean="0">
                              <a:latin typeface="Cambria Math" panose="02040503050406030204" pitchFamily="18" charset="0"/>
                            </a:rPr>
                            <m:t>6</m:t>
                          </m:r>
                        </m:sub>
                        <m:sup>
                          <m:r>
                            <a:rPr lang="en-US" altLang="zh-CN" sz="2000" b="0" i="1" smtClean="0">
                              <a:latin typeface="Cambria Math" panose="02040503050406030204" pitchFamily="18" charset="0"/>
                            </a:rPr>
                            <m:t>3</m:t>
                          </m:r>
                        </m:sup>
                        <m:e>
                          <m:r>
                            <a:rPr lang="en-US" altLang="zh-CN" sz="2000" b="0" i="1" smtClean="0">
                              <a:latin typeface="Cambria Math" panose="02040503050406030204" pitchFamily="18" charset="0"/>
                            </a:rPr>
                            <m:t>𝑇</m:t>
                          </m:r>
                        </m:e>
                      </m:sPre>
                      <m:r>
                        <a:rPr lang="en-US" altLang="zh-CN" sz="2000" b="0" i="1" smtClean="0">
                          <a:latin typeface="Cambria Math" panose="02040503050406030204" pitchFamily="18" charset="0"/>
                        </a:rPr>
                        <m:t>=</m:t>
                      </m:r>
                      <m:d>
                        <m:dPr>
                          <m:ctrlPr>
                            <a:rPr lang="zh-CN" altLang="en-US" sz="2000" i="1" smtClean="0">
                              <a:latin typeface="Cambria Math" panose="02040503050406030204" pitchFamily="18" charset="0"/>
                            </a:rPr>
                          </m:ctrlPr>
                        </m:dPr>
                        <m:e>
                          <m:m>
                            <m:mPr>
                              <m:plcHide m:val="on"/>
                              <m:mcs>
                                <m:mc>
                                  <m:mcPr>
                                    <m:count m:val="4"/>
                                    <m:mcJc m:val="center"/>
                                  </m:mcPr>
                                </m:mc>
                              </m:mcs>
                              <m:ctrlPr>
                                <a:rPr lang="zh-CN" altLang="en-US" sz="2000" i="1">
                                  <a:latin typeface="Cambria Math" panose="02040503050406030204" pitchFamily="18" charset="0"/>
                                </a:rPr>
                              </m:ctrlPr>
                            </m:mPr>
                            <m:m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46</m:t>
                                    </m:r>
                                  </m:sub>
                                </m:sSub>
                              </m:e>
                              <m:e>
                                <m:r>
                                  <a:rPr lang="zh-CN" altLang="en-US" sz="2000" i="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46</m:t>
                                    </m:r>
                                  </m:sub>
                                </m:sSub>
                              </m:e>
                              <m:e>
                                <m:r>
                                  <a:rPr lang="zh-CN" altLang="en-US" sz="2000" i="0">
                                    <a:latin typeface="Cambria Math" panose="02040503050406030204" pitchFamily="18" charset="0"/>
                                  </a:rPr>
                                  <m:t>⁢</m:t>
                                </m:r>
                                <m:r>
                                  <a:rPr lang="en-US" altLang="zh-CN" sz="2000" i="1" smtClean="0">
                                    <a:latin typeface="Cambria Math" panose="02040503050406030204" pitchFamily="18" charset="0"/>
                                  </a:rPr>
                                  <m:t>0</m:t>
                                </m:r>
                              </m:e>
                              <m:e>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4</m:t>
                                    </m:r>
                                  </m:sub>
                                </m:sSub>
                              </m:e>
                            </m:mr>
                            <m:mr>
                              <m:e>
                                <m:r>
                                  <a:rPr lang="en-US" altLang="zh-CN" sz="2000" b="0" i="1" smtClean="0">
                                    <a:latin typeface="Cambria Math" panose="02040503050406030204" pitchFamily="18" charset="0"/>
                                  </a:rPr>
                                  <m:t>0</m:t>
                                </m:r>
                              </m:e>
                              <m:e>
                                <m:r>
                                  <a:rPr lang="en-US" altLang="zh-CN" sz="2000" b="0" i="1" smtClean="0">
                                    <a:latin typeface="Cambria Math" panose="02040503050406030204" pitchFamily="18" charset="0"/>
                                  </a:rPr>
                                  <m:t>0</m:t>
                                </m:r>
                              </m:e>
                              <m:e>
                                <m:r>
                                  <a:rPr lang="en-US" altLang="zh-CN" sz="2000" b="0" i="1" smtClean="0">
                                    <a:latin typeface="Cambria Math" panose="02040503050406030204" pitchFamily="18" charset="0"/>
                                  </a:rPr>
                                  <m:t>1</m:t>
                                </m:r>
                              </m:e>
                              <m:e>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5</m:t>
                                    </m:r>
                                  </m:sub>
                                </m:sSub>
                              </m:e>
                            </m:mr>
                            <m:mr>
                              <m:e>
                                <m:r>
                                  <a:rPr lang="zh-CN" altLang="en-US" sz="2000" i="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𝑠</m:t>
                                    </m:r>
                                  </m:e>
                                  <m:sub>
                                    <m:r>
                                      <a:rPr lang="en-US" altLang="zh-CN" sz="2000" b="0" i="1" smtClean="0">
                                        <a:latin typeface="Cambria Math" panose="02040503050406030204" pitchFamily="18" charset="0"/>
                                      </a:rPr>
                                      <m:t>46</m:t>
                                    </m:r>
                                  </m:sub>
                                </m:sSub>
                              </m:e>
                              <m:e>
                                <m:r>
                                  <a:rPr lang="zh-CN" altLang="en-US" sz="2000" i="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𝑐</m:t>
                                    </m:r>
                                  </m:e>
                                  <m:sub>
                                    <m:r>
                                      <a:rPr lang="en-US" altLang="zh-CN" sz="2000" b="0" i="1" smtClean="0">
                                        <a:latin typeface="Cambria Math" panose="02040503050406030204" pitchFamily="18" charset="0"/>
                                      </a:rPr>
                                      <m:t>46</m:t>
                                    </m:r>
                                  </m:sub>
                                </m:sSub>
                              </m:e>
                              <m:e>
                                <m:r>
                                  <a:rPr lang="en-US" altLang="zh-CN" sz="2000" b="0" i="1" smtClean="0">
                                    <a:latin typeface="Cambria Math" panose="02040503050406030204" pitchFamily="18" charset="0"/>
                                  </a:rPr>
                                  <m:t>0</m:t>
                                </m:r>
                              </m:e>
                              <m:e>
                                <m:r>
                                  <a:rPr lang="zh-CN" altLang="en-US" sz="2000" i="0">
                                    <a:latin typeface="Cambria Math" panose="02040503050406030204" pitchFamily="18" charset="0"/>
                                  </a:rPr>
                                  <m:t>0</m:t>
                                </m:r>
                              </m:e>
                            </m:mr>
                            <m:mr>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1</m:t>
                                </m:r>
                              </m:e>
                            </m:mr>
                          </m:m>
                        </m:e>
                      </m:d>
                    </m:oMath>
                  </m:oMathPara>
                </a14:m>
                <a:endParaRPr lang="zh-CN" altLang="en-US" sz="2000" dirty="0"/>
              </a:p>
            </p:txBody>
          </p:sp>
        </mc:Choice>
        <mc:Fallback xmlns="">
          <p:sp>
            <p:nvSpPr>
              <p:cNvPr id="37" name="矩形 36">
                <a:extLst>
                  <a:ext uri="{FF2B5EF4-FFF2-40B4-BE49-F238E27FC236}">
                    <a16:creationId xmlns:a16="http://schemas.microsoft.com/office/drawing/2014/main" id="{E7B1EEA2-8986-4A40-A67B-DB008A4C1D8C}"/>
                  </a:ext>
                </a:extLst>
              </p:cNvPr>
              <p:cNvSpPr>
                <a:spLocks noRot="1" noChangeAspect="1" noMove="1" noResize="1" noEditPoints="1" noAdjustHandles="1" noChangeArrowheads="1" noChangeShapeType="1" noTextEdit="1"/>
              </p:cNvSpPr>
              <p:nvPr/>
            </p:nvSpPr>
            <p:spPr>
              <a:xfrm>
                <a:off x="518131" y="4494257"/>
                <a:ext cx="3502075" cy="124200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438E03E4-DF0C-4935-AD0F-1EC3EBCDE4A8}"/>
                  </a:ext>
                </a:extLst>
              </p:cNvPr>
              <p:cNvSpPr/>
              <p:nvPr/>
            </p:nvSpPr>
            <p:spPr>
              <a:xfrm>
                <a:off x="3956206" y="4451310"/>
                <a:ext cx="3052118" cy="1242007"/>
              </a:xfrm>
              <a:prstGeom prst="rect">
                <a:avLst/>
              </a:prstGeom>
            </p:spPr>
            <p:txBody>
              <a:bodyPr wrap="none">
                <a:spAutoFit/>
              </a:bodyPr>
              <a:lstStyle/>
              <a:p>
                <a:r>
                  <a:rPr lang="zh-CN" altLang="en-US" sz="2000" i="0" dirty="0">
                    <a:latin typeface="微软雅黑" panose="020B0503020204020204" pitchFamily="34" charset="-122"/>
                    <a:ea typeface="微软雅黑" panose="020B0503020204020204" pitchFamily="34" charset="-122"/>
                  </a:rPr>
                  <a:t>或</a:t>
                </a:r>
                <a14:m>
                  <m:oMath xmlns:m="http://schemas.openxmlformats.org/officeDocument/2006/math">
                    <m:d>
                      <m:dPr>
                        <m:ctrlPr>
                          <a:rPr lang="zh-CN" altLang="en-US" sz="2000" i="1" smtClean="0">
                            <a:latin typeface="Cambria Math" panose="02040503050406030204" pitchFamily="18" charset="0"/>
                          </a:rPr>
                        </m:ctrlPr>
                      </m:dPr>
                      <m:e>
                        <m:m>
                          <m:mPr>
                            <m:plcHide m:val="on"/>
                            <m:mcs>
                              <m:mc>
                                <m:mcPr>
                                  <m:count m:val="4"/>
                                  <m:mcJc m:val="center"/>
                                </m:mcPr>
                              </m:mc>
                            </m:mcs>
                            <m:ctrlPr>
                              <a:rPr lang="zh-CN" altLang="en-US" sz="2000" i="1">
                                <a:latin typeface="Cambria Math" panose="02040503050406030204" pitchFamily="18" charset="0"/>
                              </a:rPr>
                            </m:ctrlPr>
                          </m:mPr>
                          <m:mr>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a:latin typeface="Cambria Math" panose="02040503050406030204" pitchFamily="18" charset="0"/>
                                    </a:rPr>
                                    <m:t>𝑐</m:t>
                                  </m:r>
                                </m:e>
                                <m:sub>
                                  <m:r>
                                    <a:rPr lang="en-US" altLang="zh-CN" sz="2000">
                                      <a:latin typeface="Cambria Math" panose="02040503050406030204" pitchFamily="18" charset="0"/>
                                    </a:rPr>
                                    <m:t>46</m:t>
                                  </m:r>
                                </m:sub>
                              </m:sSub>
                            </m:e>
                            <m:e>
                              <m:r>
                                <a:rPr lang="zh-CN" altLang="en-US" sz="2000" i="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𝑠</m:t>
                                  </m:r>
                                </m:e>
                                <m:sub>
                                  <m:r>
                                    <a:rPr lang="en-US" altLang="zh-CN" sz="2000">
                                      <a:latin typeface="Cambria Math" panose="02040503050406030204" pitchFamily="18" charset="0"/>
                                    </a:rPr>
                                    <m:t>46</m:t>
                                  </m:r>
                                </m:sub>
                              </m:sSub>
                            </m:e>
                            <m:e>
                              <m:r>
                                <a:rPr lang="zh-CN" altLang="en-US" sz="2000" i="0">
                                  <a:latin typeface="Cambria Math" panose="02040503050406030204" pitchFamily="18" charset="0"/>
                                </a:rPr>
                                <m:t>⁢</m:t>
                              </m:r>
                              <m:r>
                                <a:rPr lang="en-US" altLang="zh-CN" sz="2000">
                                  <a:latin typeface="Cambria Math" panose="02040503050406030204" pitchFamily="18" charset="0"/>
                                </a:rPr>
                                <m:t>0</m:t>
                              </m:r>
                            </m:e>
                            <m:e>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4</m:t>
                                  </m:r>
                                </m:sub>
                              </m:sSub>
                            </m:e>
                          </m:mr>
                          <m:mr>
                            <m:e>
                              <m:r>
                                <a:rPr lang="en-US" altLang="zh-CN" sz="2000">
                                  <a:latin typeface="Cambria Math" panose="02040503050406030204" pitchFamily="18" charset="0"/>
                                </a:rPr>
                                <m:t>0</m:t>
                              </m:r>
                            </m:e>
                            <m:e>
                              <m:r>
                                <a:rPr lang="en-US" altLang="zh-CN" sz="2000">
                                  <a:latin typeface="Cambria Math" panose="02040503050406030204" pitchFamily="18" charset="0"/>
                                </a:rPr>
                                <m:t>0</m:t>
                              </m:r>
                            </m:e>
                            <m:e>
                              <m:r>
                                <a:rPr lang="en-US" altLang="zh-CN" sz="2000">
                                  <a:latin typeface="Cambria Math" panose="02040503050406030204" pitchFamily="18" charset="0"/>
                                </a:rPr>
                                <m:t>1</m:t>
                              </m:r>
                            </m:e>
                            <m:e>
                              <m:sSub>
                                <m:sSubPr>
                                  <m:ctrlPr>
                                    <a:rPr lang="zh-CN" altLang="en-US" sz="2000" i="1">
                                      <a:latin typeface="Cambria Math" panose="02040503050406030204" pitchFamily="18" charset="0"/>
                                    </a:rPr>
                                  </m:ctrlPr>
                                </m:sSubPr>
                                <m:e>
                                  <m:r>
                                    <a:rPr lang="zh-CN" altLang="en-US" sz="2000">
                                      <a:latin typeface="Cambria Math" panose="02040503050406030204" pitchFamily="18" charset="0"/>
                                    </a:rPr>
                                    <m:t>𝐿</m:t>
                                  </m:r>
                                </m:e>
                                <m:sub>
                                  <m:r>
                                    <a:rPr lang="zh-CN" altLang="en-US" sz="2000" i="0">
                                      <a:latin typeface="Cambria Math" panose="02040503050406030204" pitchFamily="18" charset="0"/>
                                    </a:rPr>
                                    <m:t>5</m:t>
                                  </m:r>
                                </m:sub>
                              </m:sSub>
                            </m:e>
                          </m:mr>
                          <m:mr>
                            <m:e>
                              <m:r>
                                <a:rPr lang="zh-CN" altLang="en-US" sz="2000" i="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𝑠</m:t>
                                  </m:r>
                                </m:e>
                                <m:sub>
                                  <m:r>
                                    <a:rPr lang="en-US" altLang="zh-CN" sz="2000">
                                      <a:latin typeface="Cambria Math" panose="02040503050406030204" pitchFamily="18" charset="0"/>
                                    </a:rPr>
                                    <m:t>46</m:t>
                                  </m:r>
                                </m:sub>
                              </m:sSub>
                            </m:e>
                            <m:e>
                              <m:r>
                                <a:rPr lang="zh-CN" altLang="en-US" sz="2000" i="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𝑐</m:t>
                                  </m:r>
                                </m:e>
                                <m:sub>
                                  <m:r>
                                    <a:rPr lang="en-US" altLang="zh-CN" sz="2000">
                                      <a:latin typeface="Cambria Math" panose="02040503050406030204" pitchFamily="18" charset="0"/>
                                    </a:rPr>
                                    <m:t>46</m:t>
                                  </m:r>
                                </m:sub>
                              </m:sSub>
                            </m:e>
                            <m:e>
                              <m:r>
                                <a:rPr lang="en-US" altLang="zh-CN" sz="2000">
                                  <a:latin typeface="Cambria Math" panose="02040503050406030204" pitchFamily="18" charset="0"/>
                                </a:rPr>
                                <m:t>0</m:t>
                              </m:r>
                            </m:e>
                            <m:e>
                              <m:r>
                                <a:rPr lang="zh-CN" altLang="en-US" sz="2000" i="0">
                                  <a:latin typeface="Cambria Math" panose="02040503050406030204" pitchFamily="18" charset="0"/>
                                </a:rPr>
                                <m:t>0</m:t>
                              </m:r>
                            </m:e>
                          </m:mr>
                          <m:mr>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1</m:t>
                              </m:r>
                            </m:e>
                          </m:mr>
                        </m:m>
                      </m:e>
                    </m:d>
                  </m:oMath>
                </a14:m>
                <a:endParaRPr lang="zh-CN" altLang="en-US" sz="2000" dirty="0"/>
              </a:p>
            </p:txBody>
          </p:sp>
        </mc:Choice>
        <mc:Fallback xmlns="">
          <p:sp>
            <p:nvSpPr>
              <p:cNvPr id="38" name="矩形 37">
                <a:extLst>
                  <a:ext uri="{FF2B5EF4-FFF2-40B4-BE49-F238E27FC236}">
                    <a16:creationId xmlns:a16="http://schemas.microsoft.com/office/drawing/2014/main" id="{438E03E4-DF0C-4935-AD0F-1EC3EBCDE4A8}"/>
                  </a:ext>
                </a:extLst>
              </p:cNvPr>
              <p:cNvSpPr>
                <a:spLocks noRot="1" noChangeAspect="1" noMove="1" noResize="1" noEditPoints="1" noAdjustHandles="1" noChangeArrowheads="1" noChangeShapeType="1" noTextEdit="1"/>
              </p:cNvSpPr>
              <p:nvPr/>
            </p:nvSpPr>
            <p:spPr>
              <a:xfrm>
                <a:off x="3956206" y="4451310"/>
                <a:ext cx="3052118" cy="1242007"/>
              </a:xfrm>
              <a:prstGeom prst="rect">
                <a:avLst/>
              </a:prstGeom>
              <a:blipFill>
                <a:blip r:embed="rId7"/>
                <a:stretch>
                  <a:fillRect l="-21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圆角 38">
                <a:extLst>
                  <a:ext uri="{FF2B5EF4-FFF2-40B4-BE49-F238E27FC236}">
                    <a16:creationId xmlns:a16="http://schemas.microsoft.com/office/drawing/2014/main" id="{E950FD46-0FAB-48EF-8202-06E7A56D65DD}"/>
                  </a:ext>
                </a:extLst>
              </p:cNvPr>
              <p:cNvSpPr/>
              <p:nvPr/>
            </p:nvSpPr>
            <p:spPr>
              <a:xfrm>
                <a:off x="323137" y="4031476"/>
                <a:ext cx="6672759" cy="43204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latin typeface="微软雅黑" panose="020B0503020204020204" pitchFamily="34" charset="-122"/>
                    <a:ea typeface="微软雅黑" panose="020B0503020204020204" pitchFamily="34" charset="-122"/>
                  </a:rPr>
                  <a:t>当</a:t>
                </a:r>
                <a14:m>
                  <m:oMath xmlns:m="http://schemas.openxmlformats.org/officeDocument/2006/math">
                    <m:d>
                      <m:dPr>
                        <m:begChr m:val=""/>
                        <m:endChr m:val="]"/>
                        <m:ctrlPr>
                          <a:rPr lang="zh-CN" altLang="en-US" b="1" i="1">
                            <a:solidFill>
                              <a:schemeClr val="tx1"/>
                            </a:solidFill>
                            <a:latin typeface="Cambria Math" panose="02040503050406030204" pitchFamily="18" charset="0"/>
                          </a:rPr>
                        </m:ctrlPr>
                      </m:dPr>
                      <m:e>
                        <m:r>
                          <a:rPr lang="zh-CN" altLang="en-US" b="1" i="0">
                            <a:solidFill>
                              <a:schemeClr val="tx1"/>
                            </a:solidFill>
                            <a:latin typeface="Cambria Math" panose="02040503050406030204" pitchFamily="18" charset="0"/>
                          </a:rPr>
                          <m:t>𝐒𝐢𝐧</m:t>
                        </m:r>
                        <m:r>
                          <a:rPr lang="zh-CN" altLang="en-US" b="1" i="0">
                            <a:solidFill>
                              <a:schemeClr val="tx1"/>
                            </a:solidFill>
                            <a:latin typeface="Cambria Math" panose="02040503050406030204" pitchFamily="18" charset="0"/>
                          </a:rPr>
                          <m:t>[</m:t>
                        </m:r>
                        <m:sSub>
                          <m:sSubPr>
                            <m:ctrlPr>
                              <a:rPr lang="zh-CN" altLang="en-US" b="1" i="1">
                                <a:solidFill>
                                  <a:schemeClr val="tx1"/>
                                </a:solidFill>
                                <a:latin typeface="Cambria Math" panose="02040503050406030204" pitchFamily="18" charset="0"/>
                              </a:rPr>
                            </m:ctrlPr>
                          </m:sSubPr>
                          <m:e>
                            <m:r>
                              <a:rPr lang="zh-CN" altLang="en-US" b="1">
                                <a:solidFill>
                                  <a:schemeClr val="tx1"/>
                                </a:solidFill>
                                <a:latin typeface="Cambria Math" panose="02040503050406030204" pitchFamily="18" charset="0"/>
                              </a:rPr>
                              <m:t>𝜽</m:t>
                            </m:r>
                          </m:e>
                          <m:sub>
                            <m:r>
                              <a:rPr lang="zh-CN" altLang="en-US" b="1" i="0">
                                <a:solidFill>
                                  <a:schemeClr val="tx1"/>
                                </a:solidFill>
                                <a:latin typeface="Cambria Math" panose="02040503050406030204" pitchFamily="18" charset="0"/>
                              </a:rPr>
                              <m:t>𝟓</m:t>
                            </m:r>
                          </m:sub>
                        </m:sSub>
                      </m:e>
                    </m:d>
                    <m:r>
                      <a:rPr lang="en-US" altLang="zh-CN" b="1">
                        <a:solidFill>
                          <a:schemeClr val="tx1"/>
                        </a:solidFill>
                        <a:latin typeface="Cambria Math" panose="02040503050406030204" pitchFamily="18" charset="0"/>
                      </a:rPr>
                      <m:t>=</m:t>
                    </m:r>
                    <m:r>
                      <a:rPr lang="en-US" altLang="zh-CN" b="1">
                        <a:solidFill>
                          <a:schemeClr val="tx1"/>
                        </a:solidFill>
                        <a:latin typeface="Cambria Math" panose="02040503050406030204" pitchFamily="18" charset="0"/>
                      </a:rPr>
                      <m:t>𝟎</m:t>
                    </m:r>
                  </m:oMath>
                </a14:m>
                <a:r>
                  <a:rPr lang="zh-CN" altLang="en-US" b="1" dirty="0">
                    <a:solidFill>
                      <a:schemeClr val="tx1"/>
                    </a:solidFill>
                    <a:latin typeface="微软雅黑" panose="020B0503020204020204" pitchFamily="34" charset="-122"/>
                    <a:ea typeface="微软雅黑" panose="020B0503020204020204" pitchFamily="34" charset="-122"/>
                  </a:rPr>
                  <a:t>时，</a:t>
                </a:r>
                <a:r>
                  <a:rPr lang="en-US" altLang="zh-CN" b="1" dirty="0">
                    <a:solidFill>
                      <a:schemeClr val="tx1"/>
                    </a:solidFill>
                    <a:latin typeface="微软雅黑" panose="020B0503020204020204" pitchFamily="34" charset="-122"/>
                    <a:ea typeface="微软雅黑" panose="020B0503020204020204" pitchFamily="34" charset="-122"/>
                  </a:rPr>
                  <a:t>cos[</a:t>
                </a:r>
                <a14:m>
                  <m:oMath xmlns:m="http://schemas.openxmlformats.org/officeDocument/2006/math">
                    <m:sSub>
                      <m:sSubPr>
                        <m:ctrlPr>
                          <a:rPr lang="zh-CN" altLang="en-US" b="1" i="1">
                            <a:solidFill>
                              <a:schemeClr val="tx1"/>
                            </a:solidFill>
                            <a:latin typeface="Cambria Math" panose="02040503050406030204" pitchFamily="18" charset="0"/>
                            <a:ea typeface="微软雅黑" panose="020B0503020204020204" pitchFamily="34" charset="-122"/>
                          </a:rPr>
                        </m:ctrlPr>
                      </m:sSubPr>
                      <m:e>
                        <m:r>
                          <a:rPr lang="zh-CN" altLang="en-US" b="1">
                            <a:solidFill>
                              <a:schemeClr val="tx1"/>
                            </a:solidFill>
                            <a:latin typeface="Cambria Math" panose="02040503050406030204" pitchFamily="18" charset="0"/>
                            <a:ea typeface="微软雅黑" panose="020B0503020204020204" pitchFamily="34" charset="-122"/>
                          </a:rPr>
                          <m:t>𝜽</m:t>
                        </m:r>
                      </m:e>
                      <m:sub>
                        <m:r>
                          <a:rPr lang="zh-CN" altLang="en-US" b="1">
                            <a:solidFill>
                              <a:schemeClr val="tx1"/>
                            </a:solidFill>
                            <a:latin typeface="Cambria Math" panose="02040503050406030204" pitchFamily="18" charset="0"/>
                            <a:ea typeface="微软雅黑" panose="020B0503020204020204" pitchFamily="34" charset="-122"/>
                          </a:rPr>
                          <m:t>𝟓</m:t>
                        </m:r>
                      </m:sub>
                    </m:sSub>
                  </m:oMath>
                </a14:m>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或 </a:t>
                </a:r>
                <a:r>
                  <a:rPr lang="en-US" altLang="zh-CN" b="1" dirty="0">
                    <a:solidFill>
                      <a:schemeClr val="tx1"/>
                    </a:solidFill>
                    <a:latin typeface="微软雅黑" panose="020B0503020204020204" pitchFamily="34" charset="-122"/>
                    <a:ea typeface="微软雅黑" panose="020B0503020204020204" pitchFamily="34" charset="-122"/>
                  </a:rPr>
                  <a:t>-1</a:t>
                </a:r>
                <a:r>
                  <a:rPr lang="zh-CN" altLang="en-US" b="1" dirty="0">
                    <a:solidFill>
                      <a:schemeClr val="tx1"/>
                    </a:solidFill>
                    <a:latin typeface="微软雅黑" panose="020B0503020204020204" pitchFamily="34" charset="-122"/>
                    <a:ea typeface="微软雅黑" panose="020B0503020204020204" pitchFamily="34" charset="-122"/>
                  </a:rPr>
                  <a:t>，代入上页最上面式子，有：</a:t>
                </a:r>
              </a:p>
            </p:txBody>
          </p:sp>
        </mc:Choice>
        <mc:Fallback xmlns="">
          <p:sp>
            <p:nvSpPr>
              <p:cNvPr id="39" name="矩形: 圆角 38">
                <a:extLst>
                  <a:ext uri="{FF2B5EF4-FFF2-40B4-BE49-F238E27FC236}">
                    <a16:creationId xmlns:a16="http://schemas.microsoft.com/office/drawing/2014/main" id="{E950FD46-0FAB-48EF-8202-06E7A56D65DD}"/>
                  </a:ext>
                </a:extLst>
              </p:cNvPr>
              <p:cNvSpPr>
                <a:spLocks noRot="1" noChangeAspect="1" noMove="1" noResize="1" noEditPoints="1" noAdjustHandles="1" noChangeArrowheads="1" noChangeShapeType="1" noTextEdit="1"/>
              </p:cNvSpPr>
              <p:nvPr/>
            </p:nvSpPr>
            <p:spPr>
              <a:xfrm>
                <a:off x="323137" y="4031476"/>
                <a:ext cx="6672759" cy="432048"/>
              </a:xfrm>
              <a:prstGeom prst="roundRect">
                <a:avLst/>
              </a:prstGeom>
              <a:blipFill>
                <a:blip r:embed="rId8"/>
                <a:stretch>
                  <a:fillRect l="-457" t="-98592" r="-3836" b="-157746"/>
                </a:stretch>
              </a:blipFill>
              <a:ln>
                <a:noFill/>
              </a:ln>
            </p:spPr>
            <p:txBody>
              <a:bodyPr/>
              <a:lstStyle/>
              <a:p>
                <a:r>
                  <a:rPr lang="zh-CN" altLang="en-US">
                    <a:noFill/>
                  </a:rPr>
                  <a:t> </a:t>
                </a:r>
              </a:p>
            </p:txBody>
          </p:sp>
        </mc:Fallback>
      </mc:AlternateContent>
      <p:pic>
        <p:nvPicPr>
          <p:cNvPr id="43" name="图片 42">
            <a:extLst>
              <a:ext uri="{FF2B5EF4-FFF2-40B4-BE49-F238E27FC236}">
                <a16:creationId xmlns:a16="http://schemas.microsoft.com/office/drawing/2014/main" id="{8AA9C756-D4B8-4B35-87E8-AACD06D63056}"/>
              </a:ext>
            </a:extLst>
          </p:cNvPr>
          <p:cNvPicPr>
            <a:picLocks noChangeAspect="1"/>
          </p:cNvPicPr>
          <p:nvPr/>
        </p:nvPicPr>
        <p:blipFill rotWithShape="1">
          <a:blip r:embed="rId9"/>
          <a:srcRect t="12909" r="46244" b="6154"/>
          <a:stretch/>
        </p:blipFill>
        <p:spPr>
          <a:xfrm>
            <a:off x="8426109" y="765960"/>
            <a:ext cx="3724618" cy="3154455"/>
          </a:xfrm>
          <a:prstGeom prst="rect">
            <a:avLst/>
          </a:prstGeom>
        </p:spPr>
      </p:pic>
      <mc:AlternateContent xmlns:mc="http://schemas.openxmlformats.org/markup-compatibility/2006" xmlns:a14="http://schemas.microsoft.com/office/drawing/2010/main">
        <mc:Choice Requires="a14">
          <p:sp>
            <p:nvSpPr>
              <p:cNvPr id="41" name="矩形: 圆角 40">
                <a:extLst>
                  <a:ext uri="{FF2B5EF4-FFF2-40B4-BE49-F238E27FC236}">
                    <a16:creationId xmlns:a16="http://schemas.microsoft.com/office/drawing/2014/main" id="{D2A67488-D25F-4B14-9FCF-4CF7C63E199F}"/>
                  </a:ext>
                </a:extLst>
              </p:cNvPr>
              <p:cNvSpPr/>
              <p:nvPr/>
            </p:nvSpPr>
            <p:spPr>
              <a:xfrm>
                <a:off x="329733" y="5920304"/>
                <a:ext cx="7380945" cy="89110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b>
                      <m:sSubPr>
                        <m:ctrlPr>
                          <a:rPr lang="zh-CN" altLang="en-US" sz="2400" b="1" i="1" smtClean="0">
                            <a:solidFill>
                              <a:schemeClr val="tx1"/>
                            </a:solidFill>
                            <a:latin typeface="Cambria Math" panose="02040503050406030204" pitchFamily="18" charset="0"/>
                            <a:ea typeface="微软雅黑" panose="020B0503020204020204" pitchFamily="34" charset="-122"/>
                          </a:rPr>
                        </m:ctrlPr>
                      </m:sSubPr>
                      <m:e>
                        <m:r>
                          <a:rPr lang="zh-CN" altLang="en-US" sz="2400" b="1">
                            <a:solidFill>
                              <a:schemeClr val="tx1"/>
                            </a:solidFill>
                            <a:latin typeface="Cambria Math" panose="02040503050406030204" pitchFamily="18" charset="0"/>
                            <a:ea typeface="微软雅黑" panose="020B0503020204020204" pitchFamily="34" charset="-122"/>
                          </a:rPr>
                          <m:t>𝜽</m:t>
                        </m:r>
                      </m:e>
                      <m:sub>
                        <m:r>
                          <a:rPr lang="en-US" altLang="zh-CN" sz="2400" b="1" i="0" smtClean="0">
                            <a:solidFill>
                              <a:schemeClr val="tx1"/>
                            </a:solidFill>
                            <a:latin typeface="Cambria Math" panose="02040503050406030204" pitchFamily="18" charset="0"/>
                            <a:ea typeface="微软雅黑" panose="020B0503020204020204" pitchFamily="34" charset="-122"/>
                          </a:rPr>
                          <m:t>𝟒</m:t>
                        </m:r>
                      </m:sub>
                    </m:sSub>
                    <m:r>
                      <a:rPr lang="en-US" altLang="zh-CN" sz="2400" b="1" i="0" smtClean="0">
                        <a:solidFill>
                          <a:schemeClr val="tx1"/>
                        </a:solidFill>
                        <a:latin typeface="Cambria Math" panose="02040503050406030204" pitchFamily="18" charset="0"/>
                        <a:ea typeface="微软雅黑" panose="020B0503020204020204" pitchFamily="34" charset="-122"/>
                      </a:rPr>
                      <m:t> </m:t>
                    </m:r>
                  </m:oMath>
                </a14:m>
                <a:r>
                  <a:rPr lang="zh-CN" altLang="en-US" sz="2400" b="1" dirty="0">
                    <a:solidFill>
                      <a:schemeClr val="tx1"/>
                    </a:solidFill>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en-US" sz="2400" b="1" i="1">
                            <a:solidFill>
                              <a:schemeClr val="tx1"/>
                            </a:solidFill>
                            <a:latin typeface="Cambria Math" panose="02040503050406030204" pitchFamily="18" charset="0"/>
                            <a:ea typeface="微软雅黑" panose="020B0503020204020204" pitchFamily="34" charset="-122"/>
                          </a:rPr>
                        </m:ctrlPr>
                      </m:sSubPr>
                      <m:e>
                        <m:r>
                          <a:rPr lang="zh-CN" altLang="en-US" sz="2400" b="1">
                            <a:solidFill>
                              <a:schemeClr val="tx1"/>
                            </a:solidFill>
                            <a:latin typeface="Cambria Math" panose="02040503050406030204" pitchFamily="18" charset="0"/>
                            <a:ea typeface="微软雅黑" panose="020B0503020204020204" pitchFamily="34" charset="-122"/>
                          </a:rPr>
                          <m:t>𝜽</m:t>
                        </m:r>
                      </m:e>
                      <m:sub>
                        <m:r>
                          <a:rPr lang="en-US" altLang="zh-CN" sz="2400" b="1">
                            <a:solidFill>
                              <a:schemeClr val="tx1"/>
                            </a:solidFill>
                            <a:latin typeface="Cambria Math" panose="02040503050406030204" pitchFamily="18" charset="0"/>
                            <a:ea typeface="微软雅黑" panose="020B0503020204020204" pitchFamily="34" charset="-122"/>
                          </a:rPr>
                          <m:t>𝟔</m:t>
                        </m:r>
                      </m:sub>
                    </m:sSub>
                    <m:r>
                      <a:rPr lang="en-US" altLang="zh-CN" sz="2400" b="1">
                        <a:solidFill>
                          <a:schemeClr val="tx1"/>
                        </a:solidFill>
                        <a:latin typeface="Cambria Math" panose="02040503050406030204" pitchFamily="18" charset="0"/>
                        <a:ea typeface="微软雅黑" panose="020B0503020204020204" pitchFamily="34" charset="-122"/>
                      </a:rPr>
                      <m:t> </m:t>
                    </m:r>
                    <m:r>
                      <a:rPr lang="zh-CN" altLang="en-US" sz="2400" b="1">
                        <a:solidFill>
                          <a:schemeClr val="tx1"/>
                        </a:solidFill>
                        <a:latin typeface="Cambria Math" panose="02040503050406030204" pitchFamily="18" charset="0"/>
                        <a:ea typeface="微软雅黑" panose="020B0503020204020204" pitchFamily="34" charset="-122"/>
                      </a:rPr>
                      <m:t>不可</m:t>
                    </m:r>
                  </m:oMath>
                </a14:m>
                <a:r>
                  <a:rPr lang="zh-CN" altLang="en-US" sz="2400" b="1" dirty="0">
                    <a:solidFill>
                      <a:schemeClr val="tx1"/>
                    </a:solidFill>
                    <a:latin typeface="微软雅黑" panose="020B0503020204020204" pitchFamily="34" charset="-122"/>
                    <a:ea typeface="微软雅黑" panose="020B0503020204020204" pitchFamily="34" charset="-122"/>
                  </a:rPr>
                  <a:t>分离，是一个奇异构型，关节</a:t>
                </a:r>
                <a:r>
                  <a:rPr lang="en-US" altLang="zh-CN" sz="2400" b="1" dirty="0">
                    <a:solidFill>
                      <a:schemeClr val="tx1"/>
                    </a:solidFill>
                    <a:latin typeface="微软雅黑" panose="020B0503020204020204" pitchFamily="34" charset="-122"/>
                    <a:ea typeface="微软雅黑" panose="020B0503020204020204" pitchFamily="34" charset="-122"/>
                  </a:rPr>
                  <a:t>4</a:t>
                </a:r>
                <a:r>
                  <a:rPr lang="zh-CN" altLang="en-US" sz="2400" b="1" dirty="0">
                    <a:solidFill>
                      <a:schemeClr val="tx1"/>
                    </a:solidFill>
                    <a:latin typeface="微软雅黑" panose="020B0503020204020204" pitchFamily="34" charset="-122"/>
                    <a:ea typeface="微软雅黑" panose="020B0503020204020204" pitchFamily="34" charset="-122"/>
                  </a:rPr>
                  <a:t>和关节</a:t>
                </a:r>
                <a:r>
                  <a:rPr lang="en-US" altLang="zh-CN" sz="2400" b="1" dirty="0">
                    <a:solidFill>
                      <a:schemeClr val="tx1"/>
                    </a:solidFill>
                    <a:latin typeface="微软雅黑" panose="020B0503020204020204" pitchFamily="34" charset="-122"/>
                    <a:ea typeface="微软雅黑" panose="020B0503020204020204" pitchFamily="34" charset="-122"/>
                  </a:rPr>
                  <a:t>6</a:t>
                </a:r>
                <a:r>
                  <a:rPr lang="zh-CN" altLang="en-US" sz="2400" b="1" dirty="0">
                    <a:solidFill>
                      <a:schemeClr val="tx1"/>
                    </a:solidFill>
                    <a:latin typeface="微软雅黑" panose="020B0503020204020204" pitchFamily="34" charset="-122"/>
                    <a:ea typeface="微软雅黑" panose="020B0503020204020204" pitchFamily="34" charset="-122"/>
                  </a:rPr>
                  <a:t>等效为一个关节</a:t>
                </a:r>
              </a:p>
            </p:txBody>
          </p:sp>
        </mc:Choice>
        <mc:Fallback xmlns="">
          <p:sp>
            <p:nvSpPr>
              <p:cNvPr id="41" name="矩形: 圆角 40">
                <a:extLst>
                  <a:ext uri="{FF2B5EF4-FFF2-40B4-BE49-F238E27FC236}">
                    <a16:creationId xmlns:a16="http://schemas.microsoft.com/office/drawing/2014/main" id="{D2A67488-D25F-4B14-9FCF-4CF7C63E199F}"/>
                  </a:ext>
                </a:extLst>
              </p:cNvPr>
              <p:cNvSpPr>
                <a:spLocks noRot="1" noChangeAspect="1" noMove="1" noResize="1" noEditPoints="1" noAdjustHandles="1" noChangeArrowheads="1" noChangeShapeType="1" noTextEdit="1"/>
              </p:cNvSpPr>
              <p:nvPr/>
            </p:nvSpPr>
            <p:spPr>
              <a:xfrm>
                <a:off x="329733" y="5920304"/>
                <a:ext cx="7380945" cy="891104"/>
              </a:xfrm>
              <a:prstGeom prst="roundRect">
                <a:avLst/>
              </a:prstGeom>
              <a:blipFill>
                <a:blip r:embed="rId10"/>
                <a:stretch>
                  <a:fillRect l="-661" t="-1370" b="-12329"/>
                </a:stretch>
              </a:blipFill>
              <a:ln>
                <a:noFill/>
              </a:ln>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06E2293A-1393-415A-A405-303424040D46}"/>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F2AD4E82-4BAF-4883-997E-419EBE183099}"/>
                  </a:ext>
                </a:extLst>
              </p:cNvPr>
              <p:cNvSpPr txBox="1"/>
              <p:nvPr/>
            </p:nvSpPr>
            <p:spPr>
              <a:xfrm>
                <a:off x="518131" y="1773014"/>
                <a:ext cx="3360186" cy="395301"/>
              </a:xfrm>
              <a:prstGeom prst="rect">
                <a:avLst/>
              </a:prstGeom>
              <a:noFill/>
            </p:spPr>
            <p:txBody>
              <a:bodyPr wrap="square">
                <a:spAutoFit/>
              </a:bodyPr>
              <a:lstStyle/>
              <a:p>
                <a:r>
                  <a:rPr lang="en-US" altLang="zh-CN" b="1" dirty="0"/>
                  <a:t>(</a:t>
                </a:r>
                <a14:m>
                  <m:oMath xmlns:m="http://schemas.openxmlformats.org/officeDocument/2006/math">
                    <m:sPre>
                      <m:sPrePr>
                        <m:ctrlPr>
                          <a:rPr lang="en-US" altLang="zh-CN" b="1" i="1" smtClean="0">
                            <a:latin typeface="Cambria Math" panose="02040503050406030204" pitchFamily="18" charset="0"/>
                          </a:rPr>
                        </m:ctrlPr>
                      </m:sPrePr>
                      <m:sub>
                        <m:r>
                          <a:rPr lang="en-US" altLang="zh-CN" b="1" i="1">
                            <a:latin typeface="Cambria Math" panose="02040503050406030204" pitchFamily="18" charset="0"/>
                          </a:rPr>
                          <m:t>𝟒</m:t>
                        </m:r>
                      </m:sub>
                      <m:sup>
                        <m:r>
                          <a:rPr lang="en-US" altLang="zh-CN" b="1" i="1">
                            <a:latin typeface="Cambria Math" panose="02040503050406030204" pitchFamily="18" charset="0"/>
                          </a:rPr>
                          <m:t>𝟑</m:t>
                        </m:r>
                      </m:sup>
                      <m:e>
                        <m:r>
                          <a:rPr lang="en-US" altLang="zh-CN" b="1" i="1">
                            <a:latin typeface="Cambria Math" panose="02040503050406030204" pitchFamily="18" charset="0"/>
                          </a:rPr>
                          <m:t>𝑻</m:t>
                        </m:r>
                      </m:e>
                    </m:sPre>
                    <m:r>
                      <a:rPr lang="en-US" altLang="zh-CN" b="1" dirty="0">
                        <a:latin typeface="Cambria Math" panose="02040503050406030204" pitchFamily="18" charset="0"/>
                        <a:ea typeface="Cambria Math" panose="02040503050406030204" pitchFamily="18" charset="0"/>
                      </a:rPr>
                      <m:t>∙</m:t>
                    </m:r>
                    <m:sPre>
                      <m:sPrePr>
                        <m:ctrlPr>
                          <a:rPr lang="en-US" altLang="zh-CN" b="1" i="1">
                            <a:latin typeface="Cambria Math" panose="02040503050406030204" pitchFamily="18" charset="0"/>
                          </a:rPr>
                        </m:ctrlPr>
                      </m:sPrePr>
                      <m:sub>
                        <m:r>
                          <a:rPr lang="en-US" altLang="zh-CN" b="1" i="1">
                            <a:latin typeface="Cambria Math" panose="02040503050406030204" pitchFamily="18" charset="0"/>
                          </a:rPr>
                          <m:t>𝟓</m:t>
                        </m:r>
                      </m:sub>
                      <m:sup>
                        <m:r>
                          <a:rPr lang="en-US" altLang="zh-CN" b="1" i="1">
                            <a:latin typeface="Cambria Math" panose="02040503050406030204" pitchFamily="18" charset="0"/>
                          </a:rPr>
                          <m:t>𝟒</m:t>
                        </m:r>
                      </m:sup>
                      <m:e>
                        <m:r>
                          <a:rPr lang="en-US" altLang="zh-CN" b="1" i="1">
                            <a:latin typeface="Cambria Math" panose="02040503050406030204" pitchFamily="18" charset="0"/>
                          </a:rPr>
                          <m:t>𝑻</m:t>
                        </m:r>
                      </m:e>
                    </m:sPre>
                    <m:r>
                      <a:rPr lang="en-US" altLang="zh-CN" b="1" dirty="0">
                        <a:latin typeface="Cambria Math" panose="02040503050406030204" pitchFamily="18" charset="0"/>
                        <a:ea typeface="Cambria Math" panose="02040503050406030204" pitchFamily="18" charset="0"/>
                      </a:rPr>
                      <m:t>∙</m:t>
                    </m:r>
                    <m:sPre>
                      <m:sPrePr>
                        <m:ctrlPr>
                          <a:rPr lang="en-US" altLang="zh-CN" b="1" i="1" smtClean="0">
                            <a:latin typeface="Cambria Math" panose="02040503050406030204" pitchFamily="18" charset="0"/>
                          </a:rPr>
                        </m:ctrlPr>
                      </m:sPrePr>
                      <m:sub>
                        <m:r>
                          <a:rPr lang="en-US" altLang="zh-CN" b="1" i="1">
                            <a:latin typeface="Cambria Math" panose="02040503050406030204" pitchFamily="18" charset="0"/>
                          </a:rPr>
                          <m:t>𝟔</m:t>
                        </m:r>
                      </m:sub>
                      <m:sup>
                        <m:r>
                          <a:rPr lang="en-US" altLang="zh-CN" b="1" i="1">
                            <a:latin typeface="Cambria Math" panose="02040503050406030204" pitchFamily="18" charset="0"/>
                          </a:rPr>
                          <m:t>𝟓</m:t>
                        </m:r>
                      </m:sup>
                      <m:e>
                        <m:r>
                          <a:rPr lang="en-US" altLang="zh-CN" b="1" i="1">
                            <a:latin typeface="Cambria Math" panose="02040503050406030204" pitchFamily="18" charset="0"/>
                          </a:rPr>
                          <m:t>𝑻</m:t>
                        </m:r>
                      </m:e>
                    </m:sPre>
                  </m:oMath>
                </a14:m>
                <a:r>
                  <a:rPr lang="en-US" altLang="zh-CN" b="1" dirty="0"/>
                  <a:t>)</a:t>
                </a:r>
                <a:r>
                  <a:rPr lang="zh-CN" altLang="en-US" b="1" dirty="0">
                    <a:latin typeface="微软雅黑" panose="020B0503020204020204" pitchFamily="34" charset="-122"/>
                    <a:ea typeface="微软雅黑" panose="020B0503020204020204" pitchFamily="34" charset="-122"/>
                  </a:rPr>
                  <a:t>的</a:t>
                </a:r>
                <a:r>
                  <a:rPr lang="en-US" altLang="zh-CN" b="1" dirty="0">
                    <a:latin typeface="Times New Roman" panose="02020603050405020304" pitchFamily="18" charset="0"/>
                    <a:cs typeface="Times New Roman" panose="02020603050405020304" pitchFamily="18" charset="0"/>
                  </a:rPr>
                  <a:t>(1, 3)</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(3, 3)</a:t>
                </a:r>
                <a:r>
                  <a:rPr lang="zh-CN" altLang="en-US" b="1" dirty="0">
                    <a:latin typeface="微软雅黑" panose="020B0503020204020204" pitchFamily="34" charset="-122"/>
                    <a:ea typeface="微软雅黑" panose="020B0503020204020204" pitchFamily="34" charset="-122"/>
                  </a:rPr>
                  <a:t>元素</a:t>
                </a:r>
              </a:p>
            </p:txBody>
          </p:sp>
        </mc:Choice>
        <mc:Fallback xmlns="">
          <p:sp>
            <p:nvSpPr>
              <p:cNvPr id="16" name="文本框 15">
                <a:extLst>
                  <a:ext uri="{FF2B5EF4-FFF2-40B4-BE49-F238E27FC236}">
                    <a16:creationId xmlns:a16="http://schemas.microsoft.com/office/drawing/2014/main" id="{F2AD4E82-4BAF-4883-997E-419EBE183099}"/>
                  </a:ext>
                </a:extLst>
              </p:cNvPr>
              <p:cNvSpPr txBox="1">
                <a:spLocks noRot="1" noChangeAspect="1" noMove="1" noResize="1" noEditPoints="1" noAdjustHandles="1" noChangeArrowheads="1" noChangeShapeType="1" noTextEdit="1"/>
              </p:cNvSpPr>
              <p:nvPr/>
            </p:nvSpPr>
            <p:spPr>
              <a:xfrm>
                <a:off x="518131" y="1773014"/>
                <a:ext cx="3360186" cy="395301"/>
              </a:xfrm>
              <a:prstGeom prst="rect">
                <a:avLst/>
              </a:prstGeom>
              <a:blipFill>
                <a:blip r:embed="rId11"/>
                <a:stretch>
                  <a:fillRect l="-1633" t="-3077" r="-544" b="-23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86051D3-C8D4-41E2-8FA6-05AAB67D8BE0}"/>
                  </a:ext>
                </a:extLst>
              </p:cNvPr>
              <p:cNvSpPr txBox="1"/>
              <p:nvPr/>
            </p:nvSpPr>
            <p:spPr>
              <a:xfrm>
                <a:off x="455290" y="2805850"/>
                <a:ext cx="3811910" cy="395301"/>
              </a:xfrm>
              <a:prstGeom prst="rect">
                <a:avLst/>
              </a:prstGeom>
              <a:noFill/>
            </p:spPr>
            <p:txBody>
              <a:bodyPr wrap="square">
                <a:spAutoFit/>
              </a:bodyPr>
              <a:lstStyle/>
              <a:p>
                <a:r>
                  <a:rPr lang="en-US" altLang="zh-CN" b="1" dirty="0"/>
                  <a:t>(</a:t>
                </a:r>
                <a14:m>
                  <m:oMath xmlns:m="http://schemas.openxmlformats.org/officeDocument/2006/math">
                    <m:sPre>
                      <m:sPrePr>
                        <m:ctrlPr>
                          <a:rPr lang="en-US" altLang="zh-CN" b="1" i="1" smtClean="0">
                            <a:latin typeface="Cambria Math" panose="02040503050406030204" pitchFamily="18" charset="0"/>
                          </a:rPr>
                        </m:ctrlPr>
                      </m:sPrePr>
                      <m:sub>
                        <m:r>
                          <a:rPr lang="en-US" altLang="zh-CN" b="1" i="1">
                            <a:latin typeface="Cambria Math" panose="02040503050406030204" pitchFamily="18" charset="0"/>
                          </a:rPr>
                          <m:t>𝟒</m:t>
                        </m:r>
                      </m:sub>
                      <m:sup>
                        <m:r>
                          <a:rPr lang="en-US" altLang="zh-CN" b="1" i="1">
                            <a:latin typeface="Cambria Math" panose="02040503050406030204" pitchFamily="18" charset="0"/>
                          </a:rPr>
                          <m:t>𝟑</m:t>
                        </m:r>
                      </m:sup>
                      <m:e>
                        <m:r>
                          <a:rPr lang="en-US" altLang="zh-CN" b="1" i="1">
                            <a:latin typeface="Cambria Math" panose="02040503050406030204" pitchFamily="18" charset="0"/>
                          </a:rPr>
                          <m:t>𝑻</m:t>
                        </m:r>
                      </m:e>
                    </m:sPre>
                    <m:r>
                      <a:rPr lang="en-US" altLang="zh-CN" b="1" dirty="0">
                        <a:latin typeface="Cambria Math" panose="02040503050406030204" pitchFamily="18" charset="0"/>
                        <a:ea typeface="Cambria Math" panose="02040503050406030204" pitchFamily="18" charset="0"/>
                      </a:rPr>
                      <m:t>∙</m:t>
                    </m:r>
                    <m:sPre>
                      <m:sPrePr>
                        <m:ctrlPr>
                          <a:rPr lang="en-US" altLang="zh-CN" b="1" i="1">
                            <a:latin typeface="Cambria Math" panose="02040503050406030204" pitchFamily="18" charset="0"/>
                          </a:rPr>
                        </m:ctrlPr>
                      </m:sPrePr>
                      <m:sub>
                        <m:r>
                          <a:rPr lang="en-US" altLang="zh-CN" b="1" i="1">
                            <a:latin typeface="Cambria Math" panose="02040503050406030204" pitchFamily="18" charset="0"/>
                          </a:rPr>
                          <m:t>𝟓</m:t>
                        </m:r>
                      </m:sub>
                      <m:sup>
                        <m:r>
                          <a:rPr lang="en-US" altLang="zh-CN" b="1" i="1">
                            <a:latin typeface="Cambria Math" panose="02040503050406030204" pitchFamily="18" charset="0"/>
                          </a:rPr>
                          <m:t>𝟒</m:t>
                        </m:r>
                      </m:sup>
                      <m:e>
                        <m:r>
                          <a:rPr lang="en-US" altLang="zh-CN" b="1" i="1">
                            <a:latin typeface="Cambria Math" panose="02040503050406030204" pitchFamily="18" charset="0"/>
                          </a:rPr>
                          <m:t>𝑻</m:t>
                        </m:r>
                      </m:e>
                    </m:sPre>
                    <m:r>
                      <a:rPr lang="en-US" altLang="zh-CN" b="1" dirty="0">
                        <a:latin typeface="Cambria Math" panose="02040503050406030204" pitchFamily="18" charset="0"/>
                        <a:ea typeface="Cambria Math" panose="02040503050406030204" pitchFamily="18" charset="0"/>
                      </a:rPr>
                      <m:t>∙</m:t>
                    </m:r>
                    <m:sPre>
                      <m:sPrePr>
                        <m:ctrlPr>
                          <a:rPr lang="en-US" altLang="zh-CN" b="1" i="1" smtClean="0">
                            <a:latin typeface="Cambria Math" panose="02040503050406030204" pitchFamily="18" charset="0"/>
                          </a:rPr>
                        </m:ctrlPr>
                      </m:sPrePr>
                      <m:sub>
                        <m:r>
                          <a:rPr lang="en-US" altLang="zh-CN" b="1" i="1">
                            <a:latin typeface="Cambria Math" panose="02040503050406030204" pitchFamily="18" charset="0"/>
                          </a:rPr>
                          <m:t>𝟔</m:t>
                        </m:r>
                      </m:sub>
                      <m:sup>
                        <m:r>
                          <a:rPr lang="en-US" altLang="zh-CN" b="1" i="1">
                            <a:latin typeface="Cambria Math" panose="02040503050406030204" pitchFamily="18" charset="0"/>
                          </a:rPr>
                          <m:t>𝟓</m:t>
                        </m:r>
                      </m:sup>
                      <m:e>
                        <m:r>
                          <a:rPr lang="en-US" altLang="zh-CN" b="1" i="1">
                            <a:latin typeface="Cambria Math" panose="02040503050406030204" pitchFamily="18" charset="0"/>
                          </a:rPr>
                          <m:t>𝑻</m:t>
                        </m:r>
                      </m:e>
                    </m:sPre>
                  </m:oMath>
                </a14:m>
                <a:r>
                  <a:rPr lang="en-US" altLang="zh-CN" b="1" dirty="0"/>
                  <a:t>)</a:t>
                </a:r>
                <a:r>
                  <a:rPr lang="zh-CN" altLang="en-US" b="1" dirty="0">
                    <a:latin typeface="微软雅黑" panose="020B0503020204020204" pitchFamily="34" charset="-122"/>
                    <a:ea typeface="微软雅黑" panose="020B0503020204020204" pitchFamily="34" charset="-122"/>
                  </a:rPr>
                  <a:t>的</a:t>
                </a:r>
                <a:r>
                  <a:rPr lang="en-US" altLang="zh-CN" b="1" dirty="0">
                    <a:latin typeface="Times New Roman" panose="02020603050405020304" pitchFamily="18" charset="0"/>
                    <a:cs typeface="Times New Roman" panose="02020603050405020304" pitchFamily="18" charset="0"/>
                  </a:rPr>
                  <a:t>(2, 2)</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(2, 1)</a:t>
                </a:r>
                <a:r>
                  <a:rPr lang="zh-CN" altLang="en-US" b="1" dirty="0">
                    <a:latin typeface="微软雅黑" panose="020B0503020204020204" pitchFamily="34" charset="-122"/>
                    <a:ea typeface="微软雅黑" panose="020B0503020204020204" pitchFamily="34" charset="-122"/>
                  </a:rPr>
                  <a:t>元素</a:t>
                </a:r>
              </a:p>
            </p:txBody>
          </p:sp>
        </mc:Choice>
        <mc:Fallback xmlns="">
          <p:sp>
            <p:nvSpPr>
              <p:cNvPr id="17" name="文本框 16">
                <a:extLst>
                  <a:ext uri="{FF2B5EF4-FFF2-40B4-BE49-F238E27FC236}">
                    <a16:creationId xmlns:a16="http://schemas.microsoft.com/office/drawing/2014/main" id="{286051D3-C8D4-41E2-8FA6-05AAB67D8BE0}"/>
                  </a:ext>
                </a:extLst>
              </p:cNvPr>
              <p:cNvSpPr txBox="1">
                <a:spLocks noRot="1" noChangeAspect="1" noMove="1" noResize="1" noEditPoints="1" noAdjustHandles="1" noChangeArrowheads="1" noChangeShapeType="1" noTextEdit="1"/>
              </p:cNvSpPr>
              <p:nvPr/>
            </p:nvSpPr>
            <p:spPr>
              <a:xfrm>
                <a:off x="455290" y="2805850"/>
                <a:ext cx="3811910" cy="395301"/>
              </a:xfrm>
              <a:prstGeom prst="rect">
                <a:avLst/>
              </a:prstGeom>
              <a:blipFill>
                <a:blip r:embed="rId12"/>
                <a:stretch>
                  <a:fillRect l="-1440" t="-1538" b="-23077"/>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106A0790-1863-438E-B443-C5AAB21E8087}"/>
              </a:ext>
            </a:extLst>
          </p:cNvPr>
          <p:cNvPicPr>
            <a:picLocks noChangeAspect="1"/>
          </p:cNvPicPr>
          <p:nvPr/>
        </p:nvPicPr>
        <p:blipFill rotWithShape="1">
          <a:blip r:embed="rId13"/>
          <a:srcRect l="7568" t="11676" r="16805"/>
          <a:stretch/>
        </p:blipFill>
        <p:spPr>
          <a:xfrm>
            <a:off x="8531951" y="4494257"/>
            <a:ext cx="2811796" cy="2044659"/>
          </a:xfrm>
          <a:prstGeom prst="rect">
            <a:avLst/>
          </a:prstGeom>
        </p:spPr>
      </p:pic>
    </p:spTree>
    <p:extLst>
      <p:ext uri="{BB962C8B-B14F-4D97-AF65-F5344CB8AC3E}">
        <p14:creationId xmlns:p14="http://schemas.microsoft.com/office/powerpoint/2010/main" val="186890598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ppt_x"/>
                                          </p:val>
                                        </p:tav>
                                        <p:tav tm="100000">
                                          <p:val>
                                            <p:strVal val="#ppt_x"/>
                                          </p:val>
                                        </p:tav>
                                      </p:tavLst>
                                    </p:anim>
                                    <p:anim calcmode="lin" valueType="num">
                                      <p:cBhvr additive="base">
                                        <p:cTn id="3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500" fill="hold"/>
                                        <p:tgtEl>
                                          <p:spTgt spid="39"/>
                                        </p:tgtEl>
                                        <p:attrNameLst>
                                          <p:attrName>ppt_x</p:attrName>
                                        </p:attrNameLst>
                                      </p:cBhvr>
                                      <p:tavLst>
                                        <p:tav tm="0">
                                          <p:val>
                                            <p:strVal val="#ppt_x"/>
                                          </p:val>
                                        </p:tav>
                                        <p:tav tm="100000">
                                          <p:val>
                                            <p:strVal val="#ppt_x"/>
                                          </p:val>
                                        </p:tav>
                                      </p:tavLst>
                                    </p:anim>
                                    <p:anim calcmode="lin" valueType="num">
                                      <p:cBhvr additive="base">
                                        <p:cTn id="36" dur="500" fill="hold"/>
                                        <p:tgtEl>
                                          <p:spTgt spid="3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 calcmode="lin" valueType="num">
                                      <p:cBhvr additive="base">
                                        <p:cTn id="39" dur="500" fill="hold"/>
                                        <p:tgtEl>
                                          <p:spTgt spid="37"/>
                                        </p:tgtEl>
                                        <p:attrNameLst>
                                          <p:attrName>ppt_x</p:attrName>
                                        </p:attrNameLst>
                                      </p:cBhvr>
                                      <p:tavLst>
                                        <p:tav tm="0">
                                          <p:val>
                                            <p:strVal val="#ppt_x"/>
                                          </p:val>
                                        </p:tav>
                                        <p:tav tm="100000">
                                          <p:val>
                                            <p:strVal val="#ppt_x"/>
                                          </p:val>
                                        </p:tav>
                                      </p:tavLst>
                                    </p:anim>
                                    <p:anim calcmode="lin" valueType="num">
                                      <p:cBhvr additive="base">
                                        <p:cTn id="40" dur="500" fill="hold"/>
                                        <p:tgtEl>
                                          <p:spTgt spid="3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 calcmode="lin" valueType="num">
                                      <p:cBhvr additive="base">
                                        <p:cTn id="49" dur="500" fill="hold"/>
                                        <p:tgtEl>
                                          <p:spTgt spid="41"/>
                                        </p:tgtEl>
                                        <p:attrNameLst>
                                          <p:attrName>ppt_x</p:attrName>
                                        </p:attrNameLst>
                                      </p:cBhvr>
                                      <p:tavLst>
                                        <p:tav tm="0">
                                          <p:val>
                                            <p:strVal val="#ppt_x"/>
                                          </p:val>
                                        </p:tav>
                                        <p:tav tm="100000">
                                          <p:val>
                                            <p:strVal val="#ppt_x"/>
                                          </p:val>
                                        </p:tav>
                                      </p:tavLst>
                                    </p:anim>
                                    <p:anim calcmode="lin" valueType="num">
                                      <p:cBhvr additive="base">
                                        <p:cTn id="5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0" grpId="0" animBg="1"/>
      <p:bldP spid="31" grpId="0"/>
      <p:bldP spid="37" grpId="0"/>
      <p:bldP spid="38" grpId="0"/>
      <p:bldP spid="39" grpId="0"/>
      <p:bldP spid="41"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2F3821-75AA-47C5-AEB7-418054ABFCE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15</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4" name="矩形: 圆角 3">
                <a:extLst>
                  <a:ext uri="{FF2B5EF4-FFF2-40B4-BE49-F238E27FC236}">
                    <a16:creationId xmlns:a16="http://schemas.microsoft.com/office/drawing/2014/main" id="{039F6189-790A-4E5A-A93A-01C891AF200D}"/>
                  </a:ext>
                </a:extLst>
              </p:cNvPr>
              <p:cNvSpPr/>
              <p:nvPr/>
            </p:nvSpPr>
            <p:spPr>
              <a:xfrm>
                <a:off x="725580" y="2721867"/>
                <a:ext cx="4594207" cy="513652"/>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solidFill>
                              <a:latin typeface="Cambria Math" panose="02040503050406030204" pitchFamily="18" charset="0"/>
                              <a:ea typeface="Cambria Math" panose="02040503050406030204" pitchFamily="18" charset="0"/>
                            </a:rPr>
                          </m:ctrlPr>
                        </m:sSubPr>
                        <m:e>
                          <m:r>
                            <a:rPr lang="en-US" altLang="zh-CN">
                              <a:solidFill>
                                <a:schemeClr val="tx1"/>
                              </a:solidFill>
                              <a:latin typeface="Cambria Math" panose="02040503050406030204" pitchFamily="18" charset="0"/>
                              <a:ea typeface="Cambria Math" panose="02040503050406030204" pitchFamily="18" charset="0"/>
                            </a:rPr>
                            <m:t>𝜃</m:t>
                          </m:r>
                        </m:e>
                        <m:sub>
                          <m:r>
                            <a:rPr lang="en-US" altLang="zh-CN">
                              <a:solidFill>
                                <a:schemeClr val="tx1"/>
                              </a:solidFill>
                              <a:latin typeface="Cambria Math" panose="02040503050406030204" pitchFamily="18" charset="0"/>
                              <a:ea typeface="Cambria Math" panose="02040503050406030204" pitchFamily="18" charset="0"/>
                            </a:rPr>
                            <m:t>23</m:t>
                          </m:r>
                        </m:sub>
                      </m:sSub>
                      <m:r>
                        <a:rPr lang="en-US" altLang="zh-CN">
                          <a:solidFill>
                            <a:schemeClr val="tx1"/>
                          </a:solidFill>
                          <a:latin typeface="Cambria Math" panose="02040503050406030204" pitchFamily="18" charset="0"/>
                          <a:ea typeface="Cambria Math" panose="02040503050406030204" pitchFamily="18" charset="0"/>
                        </a:rPr>
                        <m:t>=</m:t>
                      </m:r>
                      <m:r>
                        <m:rPr>
                          <m:sty m:val="p"/>
                        </m:rPr>
                        <a:rPr lang="en-US" altLang="zh-CN" i="0">
                          <a:solidFill>
                            <a:schemeClr val="tx1"/>
                          </a:solidFill>
                          <a:latin typeface="Cambria Math" panose="02040503050406030204" pitchFamily="18" charset="0"/>
                          <a:ea typeface="Cambria Math" panose="02040503050406030204" pitchFamily="18" charset="0"/>
                        </a:rPr>
                        <m:t>arctan</m:t>
                      </m:r>
                      <m:r>
                        <a:rPr lang="en-US" altLang="zh-CN">
                          <a:solidFill>
                            <a:schemeClr val="tx1"/>
                          </a:solidFill>
                          <a:latin typeface="Cambria Math" panose="02040503050406030204" pitchFamily="18" charset="0"/>
                          <a:ea typeface="Cambria Math" panose="02040503050406030204" pitchFamily="18" charset="0"/>
                        </a:rPr>
                        <m:t>2(</m:t>
                      </m:r>
                      <m:sSub>
                        <m:sSubPr>
                          <m:ctrlPr>
                            <a:rPr lang="en-US" altLang="zh-CN" i="1">
                              <a:solidFill>
                                <a:schemeClr val="tx1"/>
                              </a:solidFill>
                              <a:latin typeface="Cambria Math" panose="02040503050406030204" pitchFamily="18" charset="0"/>
                              <a:ea typeface="Cambria Math" panose="02040503050406030204" pitchFamily="18" charset="0"/>
                            </a:rPr>
                          </m:ctrlPr>
                        </m:sSubPr>
                        <m:e>
                          <m:r>
                            <a:rPr lang="en-US" altLang="zh-CN">
                              <a:solidFill>
                                <a:schemeClr val="tx1"/>
                              </a:solidFill>
                              <a:latin typeface="Cambria Math" panose="02040503050406030204" pitchFamily="18" charset="0"/>
                              <a:ea typeface="Cambria Math" panose="02040503050406030204" pitchFamily="18" charset="0"/>
                            </a:rPr>
                            <m:t>𝑠</m:t>
                          </m:r>
                        </m:e>
                        <m:sub>
                          <m:r>
                            <a:rPr lang="en-US" altLang="zh-CN">
                              <a:solidFill>
                                <a:schemeClr val="tx1"/>
                              </a:solidFill>
                              <a:latin typeface="Cambria Math" panose="02040503050406030204" pitchFamily="18" charset="0"/>
                              <a:ea typeface="Cambria Math" panose="02040503050406030204" pitchFamily="18" charset="0"/>
                            </a:rPr>
                            <m:t>23</m:t>
                          </m:r>
                        </m:sub>
                      </m:sSub>
                      <m:r>
                        <a:rPr lang="en-US" altLang="zh-CN">
                          <a:solidFill>
                            <a:schemeClr val="tx1"/>
                          </a:solidFill>
                          <a:latin typeface="Cambria Math" panose="02040503050406030204" pitchFamily="18" charset="0"/>
                          <a:ea typeface="Cambria Math" panose="02040503050406030204" pitchFamily="18" charset="0"/>
                        </a:rPr>
                        <m:t>,</m:t>
                      </m:r>
                      <m:sSub>
                        <m:sSubPr>
                          <m:ctrlPr>
                            <a:rPr lang="en-US" altLang="zh-CN" i="1">
                              <a:solidFill>
                                <a:schemeClr val="tx1"/>
                              </a:solidFill>
                              <a:latin typeface="Cambria Math" panose="02040503050406030204" pitchFamily="18" charset="0"/>
                              <a:ea typeface="Cambria Math" panose="02040503050406030204" pitchFamily="18" charset="0"/>
                            </a:rPr>
                          </m:ctrlPr>
                        </m:sSubPr>
                        <m:e>
                          <m:r>
                            <a:rPr lang="en-US" altLang="zh-CN">
                              <a:solidFill>
                                <a:schemeClr val="tx1"/>
                              </a:solidFill>
                              <a:latin typeface="Cambria Math" panose="02040503050406030204" pitchFamily="18" charset="0"/>
                              <a:ea typeface="Cambria Math" panose="02040503050406030204" pitchFamily="18" charset="0"/>
                            </a:rPr>
                            <m:t>𝑐</m:t>
                          </m:r>
                        </m:e>
                        <m:sub>
                          <m:r>
                            <a:rPr lang="en-US" altLang="zh-CN">
                              <a:solidFill>
                                <a:schemeClr val="tx1"/>
                              </a:solidFill>
                              <a:latin typeface="Cambria Math" panose="02040503050406030204" pitchFamily="18" charset="0"/>
                              <a:ea typeface="Cambria Math" panose="02040503050406030204" pitchFamily="18" charset="0"/>
                            </a:rPr>
                            <m:t>23</m:t>
                          </m:r>
                        </m:sub>
                      </m:sSub>
                      <m:r>
                        <a:rPr lang="en-US" altLang="zh-CN">
                          <a:solidFill>
                            <a:schemeClr val="tx1"/>
                          </a:solidFill>
                          <a:latin typeface="Cambria Math" panose="02040503050406030204" pitchFamily="18" charset="0"/>
                          <a:ea typeface="Cambria Math" panose="02040503050406030204" pitchFamily="18" charset="0"/>
                        </a:rPr>
                        <m:t>)</m:t>
                      </m:r>
                    </m:oMath>
                  </m:oMathPara>
                </a14:m>
                <a:endParaRPr lang="zh-CN" altLang="en-US" dirty="0">
                  <a:ln>
                    <a:solidFill>
                      <a:srgbClr val="FFFF00"/>
                    </a:solidFill>
                  </a:ln>
                  <a:solidFill>
                    <a:schemeClr val="tx1"/>
                  </a:solidFill>
                </a:endParaRPr>
              </a:p>
            </p:txBody>
          </p:sp>
        </mc:Choice>
        <mc:Fallback xmlns="">
          <p:sp>
            <p:nvSpPr>
              <p:cNvPr id="4" name="矩形: 圆角 3">
                <a:extLst>
                  <a:ext uri="{FF2B5EF4-FFF2-40B4-BE49-F238E27FC236}">
                    <a16:creationId xmlns:a16="http://schemas.microsoft.com/office/drawing/2014/main" id="{039F6189-790A-4E5A-A93A-01C891AF200D}"/>
                  </a:ext>
                </a:extLst>
              </p:cNvPr>
              <p:cNvSpPr>
                <a:spLocks noRot="1" noChangeAspect="1" noMove="1" noResize="1" noEditPoints="1" noAdjustHandles="1" noChangeArrowheads="1" noChangeShapeType="1" noTextEdit="1"/>
              </p:cNvSpPr>
              <p:nvPr/>
            </p:nvSpPr>
            <p:spPr>
              <a:xfrm>
                <a:off x="725580" y="2721867"/>
                <a:ext cx="4594207" cy="513652"/>
              </a:xfrm>
              <a:prstGeom prst="roundRect">
                <a:avLst/>
              </a:prstGeom>
              <a:blipFill>
                <a:blip r:embed="rId2"/>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圆角 4">
                <a:extLst>
                  <a:ext uri="{FF2B5EF4-FFF2-40B4-BE49-F238E27FC236}">
                    <a16:creationId xmlns:a16="http://schemas.microsoft.com/office/drawing/2014/main" id="{CFA01B9E-4D85-471F-AAFB-AEE21A19B9FF}"/>
                  </a:ext>
                </a:extLst>
              </p:cNvPr>
              <p:cNvSpPr/>
              <p:nvPr/>
            </p:nvSpPr>
            <p:spPr>
              <a:xfrm>
                <a:off x="725580" y="4197866"/>
                <a:ext cx="4594208" cy="513650"/>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b="0" i="0" smtClean="0">
                            <a:solidFill>
                              <a:schemeClr val="tx1"/>
                            </a:solidFill>
                            <a:latin typeface="Cambria Math" panose="02040503050406030204" pitchFamily="18" charset="0"/>
                          </a:rPr>
                          <m:t>5</m:t>
                        </m:r>
                      </m:sub>
                    </m:sSub>
                    <m:r>
                      <a:rPr lang="en-US" altLang="zh-CN">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zh-CN" altLang="en-US" smtClean="0">
                        <a:solidFill>
                          <a:schemeClr val="tx1"/>
                        </a:solidFill>
                        <a:latin typeface="Cambria Math" panose="02040503050406030204" pitchFamily="18" charset="0"/>
                      </a:rPr>
                      <m:t>’</m:t>
                    </m:r>
                  </m:oMath>
                </a14:m>
                <a:r>
                  <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b="0" i="0" smtClean="0">
                            <a:solidFill>
                              <a:schemeClr val="tx1"/>
                            </a:solidFill>
                            <a:latin typeface="Cambria Math" panose="02040503050406030204" pitchFamily="18" charset="0"/>
                          </a:rPr>
                          <m:t>5</m:t>
                        </m:r>
                      </m:sub>
                    </m:sSub>
                    <m:r>
                      <a:rPr lang="en-US" altLang="zh-CN">
                        <a:solidFill>
                          <a:schemeClr val="tx1"/>
                        </a:solidFill>
                        <a:latin typeface="Cambria Math" panose="02040503050406030204" pitchFamily="18" charset="0"/>
                      </a:rPr>
                      <m:t>=</m:t>
                    </m:r>
                    <m:r>
                      <a:rPr lang="en-US" altLang="zh-CN" b="0" i="0" smtClean="0">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zh-CN" altLang="en-US" smtClean="0">
                        <a:solidFill>
                          <a:schemeClr val="tx1"/>
                        </a:solidFill>
                        <a:latin typeface="Cambria Math" panose="02040503050406030204" pitchFamily="18" charset="0"/>
                      </a:rPr>
                      <m:t>’</m:t>
                    </m:r>
                  </m:oMath>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5" name="矩形: 圆角 4">
                <a:extLst>
                  <a:ext uri="{FF2B5EF4-FFF2-40B4-BE49-F238E27FC236}">
                    <a16:creationId xmlns:a16="http://schemas.microsoft.com/office/drawing/2014/main" id="{CFA01B9E-4D85-471F-AAFB-AEE21A19B9FF}"/>
                  </a:ext>
                </a:extLst>
              </p:cNvPr>
              <p:cNvSpPr>
                <a:spLocks noRot="1" noChangeAspect="1" noMove="1" noResize="1" noEditPoints="1" noAdjustHandles="1" noChangeArrowheads="1" noChangeShapeType="1" noTextEdit="1"/>
              </p:cNvSpPr>
              <p:nvPr/>
            </p:nvSpPr>
            <p:spPr>
              <a:xfrm>
                <a:off x="725580" y="4197866"/>
                <a:ext cx="4594208" cy="513650"/>
              </a:xfrm>
              <a:prstGeom prst="roundRect">
                <a:avLst/>
              </a:prstGeom>
              <a:blipFill>
                <a:blip r:embed="rId3"/>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圆角 7">
                <a:extLst>
                  <a:ext uri="{FF2B5EF4-FFF2-40B4-BE49-F238E27FC236}">
                    <a16:creationId xmlns:a16="http://schemas.microsoft.com/office/drawing/2014/main" id="{FA111005-0D41-45A6-9297-9186E1BC2266}"/>
                  </a:ext>
                </a:extLst>
              </p:cNvPr>
              <p:cNvSpPr/>
              <p:nvPr/>
            </p:nvSpPr>
            <p:spPr>
              <a:xfrm>
                <a:off x="725580" y="4935864"/>
                <a:ext cx="4594209" cy="508447"/>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a:solidFill>
                                <a:schemeClr val="tx1"/>
                              </a:solidFill>
                              <a:latin typeface="Cambria Math" panose="02040503050406030204" pitchFamily="18" charset="0"/>
                            </a:rPr>
                            <m:t>4</m:t>
                          </m:r>
                        </m:sub>
                      </m:sSub>
                      <m:r>
                        <a:rPr lang="en-US" altLang="zh-CN">
                          <a:solidFill>
                            <a:schemeClr val="tx1"/>
                          </a:solidFill>
                          <a:latin typeface="Cambria Math" panose="02040503050406030204" pitchFamily="18" charset="0"/>
                        </a:rPr>
                        <m:t>=</m:t>
                      </m:r>
                      <m:r>
                        <m:rPr>
                          <m:sty m:val="p"/>
                        </m:rPr>
                        <a:rPr lang="en-US" altLang="zh-CN" i="0" smtClean="0">
                          <a:solidFill>
                            <a:schemeClr val="tx1"/>
                          </a:solidFill>
                          <a:latin typeface="Cambria Math" panose="02040503050406030204" pitchFamily="18" charset="0"/>
                          <a:ea typeface="Cambria Math" panose="02040503050406030204" pitchFamily="18" charset="0"/>
                        </a:rPr>
                        <m:t>arctan</m:t>
                      </m:r>
                      <m:r>
                        <a:rPr lang="en-US" altLang="zh-CN">
                          <a:solidFill>
                            <a:schemeClr val="tx1"/>
                          </a:solidFill>
                          <a:latin typeface="Cambria Math" panose="02040503050406030204" pitchFamily="18" charset="0"/>
                          <a:ea typeface="Cambria Math" panose="02040503050406030204" pitchFamily="18" charset="0"/>
                        </a:rPr>
                        <m:t>2(</m:t>
                      </m:r>
                      <m:d>
                        <m:dPr>
                          <m:begChr m:val=""/>
                          <m:endChr m:val="]"/>
                          <m:ctrlPr>
                            <a:rPr lang="zh-CN" altLang="en-US" i="1" smtClean="0">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4</m:t>
                              </m:r>
                            </m:sub>
                          </m:sSub>
                        </m:e>
                      </m:d>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5</m:t>
                              </m:r>
                            </m:sub>
                          </m:sSub>
                        </m:e>
                      </m:d>
                      <m:r>
                        <a:rPr lang="en-US" altLang="zh-CN">
                          <a:solidFill>
                            <a:schemeClr val="tx1"/>
                          </a:solidFill>
                          <a:latin typeface="Cambria Math" panose="02040503050406030204" pitchFamily="18" charset="0"/>
                          <a:ea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4</m:t>
                              </m:r>
                            </m:sub>
                          </m:sSub>
                        </m:e>
                      </m:d>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5</m:t>
                              </m:r>
                            </m:sub>
                          </m:sSub>
                        </m:e>
                      </m:d>
                      <m:r>
                        <a:rPr lang="en-US" altLang="zh-CN">
                          <a:solidFill>
                            <a:schemeClr val="tx1"/>
                          </a:solidFill>
                          <a:latin typeface="Cambria Math" panose="02040503050406030204" pitchFamily="18" charset="0"/>
                          <a:ea typeface="Cambria Math" panose="02040503050406030204" pitchFamily="18" charset="0"/>
                        </a:rPr>
                        <m:t>)</m:t>
                      </m:r>
                    </m:oMath>
                  </m:oMathPara>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8" name="矩形: 圆角 7">
                <a:extLst>
                  <a:ext uri="{FF2B5EF4-FFF2-40B4-BE49-F238E27FC236}">
                    <a16:creationId xmlns:a16="http://schemas.microsoft.com/office/drawing/2014/main" id="{FA111005-0D41-45A6-9297-9186E1BC2266}"/>
                  </a:ext>
                </a:extLst>
              </p:cNvPr>
              <p:cNvSpPr>
                <a:spLocks noRot="1" noChangeAspect="1" noMove="1" noResize="1" noEditPoints="1" noAdjustHandles="1" noChangeArrowheads="1" noChangeShapeType="1" noTextEdit="1"/>
              </p:cNvSpPr>
              <p:nvPr/>
            </p:nvSpPr>
            <p:spPr>
              <a:xfrm>
                <a:off x="725580" y="4935864"/>
                <a:ext cx="4594209" cy="508447"/>
              </a:xfrm>
              <a:prstGeom prst="roundRect">
                <a:avLst/>
              </a:prstGeom>
              <a:blipFill>
                <a:blip r:embed="rId4"/>
                <a:stretch>
                  <a:fillRect t="-75294" r="-6481" b="-122353"/>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圆角 8">
                <a:extLst>
                  <a:ext uri="{FF2B5EF4-FFF2-40B4-BE49-F238E27FC236}">
                    <a16:creationId xmlns:a16="http://schemas.microsoft.com/office/drawing/2014/main" id="{CED91379-8AF0-4158-9985-D3B2A2715890}"/>
                  </a:ext>
                </a:extLst>
              </p:cNvPr>
              <p:cNvSpPr/>
              <p:nvPr/>
            </p:nvSpPr>
            <p:spPr>
              <a:xfrm>
                <a:off x="725580" y="5668660"/>
                <a:ext cx="4592850" cy="508447"/>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a:solidFill>
                                <a:schemeClr val="tx1"/>
                              </a:solidFill>
                              <a:latin typeface="Cambria Math" panose="02040503050406030204" pitchFamily="18" charset="0"/>
                            </a:rPr>
                            <m:t>6</m:t>
                          </m:r>
                        </m:sub>
                      </m:sSub>
                      <m:r>
                        <a:rPr lang="en-US" altLang="zh-CN">
                          <a:solidFill>
                            <a:schemeClr val="tx1"/>
                          </a:solidFill>
                          <a:latin typeface="Cambria Math" panose="02040503050406030204" pitchFamily="18" charset="0"/>
                        </a:rPr>
                        <m:t>=</m:t>
                      </m:r>
                      <m:r>
                        <m:rPr>
                          <m:sty m:val="p"/>
                        </m:rPr>
                        <a:rPr lang="en-US" altLang="zh-CN" i="0" smtClean="0">
                          <a:solidFill>
                            <a:schemeClr val="tx1"/>
                          </a:solidFill>
                          <a:latin typeface="Cambria Math" panose="02040503050406030204" pitchFamily="18" charset="0"/>
                          <a:ea typeface="Cambria Math" panose="02040503050406030204" pitchFamily="18" charset="0"/>
                        </a:rPr>
                        <m:t>arctan</m:t>
                      </m:r>
                      <m:r>
                        <a:rPr lang="en-US" altLang="zh-CN">
                          <a:solidFill>
                            <a:schemeClr val="tx1"/>
                          </a:solidFill>
                          <a:latin typeface="Cambria Math" panose="02040503050406030204" pitchFamily="18" charset="0"/>
                          <a:ea typeface="Cambria Math" panose="02040503050406030204" pitchFamily="18" charset="0"/>
                        </a:rPr>
                        <m:t>2(</m:t>
                      </m:r>
                      <m:d>
                        <m:dPr>
                          <m:begChr m:val=""/>
                          <m:endChr m:val="]"/>
                          <m:ctrlPr>
                            <a:rPr lang="zh-CN" altLang="en-US" i="1" smtClean="0">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4</m:t>
                              </m:r>
                            </m:sub>
                          </m:sSub>
                        </m:e>
                      </m:d>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5</m:t>
                              </m:r>
                            </m:sub>
                          </m:sSub>
                        </m:e>
                      </m:d>
                      <m:r>
                        <a:rPr lang="en-US" altLang="zh-CN">
                          <a:solidFill>
                            <a:schemeClr val="tx1"/>
                          </a:solidFill>
                          <a:latin typeface="Cambria Math" panose="02040503050406030204" pitchFamily="18" charset="0"/>
                          <a:ea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Cos</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4</m:t>
                              </m:r>
                            </m:sub>
                          </m:sSub>
                        </m:e>
                      </m:d>
                      <m:r>
                        <a:rPr lang="zh-CN" altLang="en-US" i="0">
                          <a:solidFill>
                            <a:schemeClr val="tx1"/>
                          </a:solidFill>
                          <a:latin typeface="Cambria Math" panose="02040503050406030204" pitchFamily="18" charset="0"/>
                        </a:rPr>
                        <m:t>⁢</m:t>
                      </m:r>
                      <m:d>
                        <m:dPr>
                          <m:begChr m:val=""/>
                          <m:endChr m:val="]"/>
                          <m:ctrlPr>
                            <a:rPr lang="zh-CN" altLang="en-US" i="1">
                              <a:solidFill>
                                <a:schemeClr val="tx1"/>
                              </a:solidFill>
                              <a:latin typeface="Cambria Math" panose="02040503050406030204" pitchFamily="18" charset="0"/>
                            </a:rPr>
                          </m:ctrlPr>
                        </m:dPr>
                        <m:e>
                          <m:r>
                            <m:rPr>
                              <m:sty m:val="p"/>
                            </m:rPr>
                            <a:rPr lang="zh-CN" altLang="en-US" i="0">
                              <a:solidFill>
                                <a:schemeClr val="tx1"/>
                              </a:solidFill>
                              <a:latin typeface="Cambria Math" panose="02040503050406030204" pitchFamily="18" charset="0"/>
                            </a:rPr>
                            <m:t>Sin</m:t>
                          </m:r>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5</m:t>
                              </m:r>
                            </m:sub>
                          </m:sSub>
                        </m:e>
                      </m:d>
                      <m:r>
                        <a:rPr lang="en-US" altLang="zh-CN">
                          <a:solidFill>
                            <a:schemeClr val="tx1"/>
                          </a:solidFill>
                          <a:latin typeface="Cambria Math" panose="02040503050406030204" pitchFamily="18" charset="0"/>
                          <a:ea typeface="Cambria Math" panose="02040503050406030204" pitchFamily="18" charset="0"/>
                        </a:rPr>
                        <m:t>)</m:t>
                      </m:r>
                    </m:oMath>
                  </m:oMathPara>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9" name="矩形: 圆角 8">
                <a:extLst>
                  <a:ext uri="{FF2B5EF4-FFF2-40B4-BE49-F238E27FC236}">
                    <a16:creationId xmlns:a16="http://schemas.microsoft.com/office/drawing/2014/main" id="{CED91379-8AF0-4158-9985-D3B2A2715890}"/>
                  </a:ext>
                </a:extLst>
              </p:cNvPr>
              <p:cNvSpPr>
                <a:spLocks noRot="1" noChangeAspect="1" noMove="1" noResize="1" noEditPoints="1" noAdjustHandles="1" noChangeArrowheads="1" noChangeShapeType="1" noTextEdit="1"/>
              </p:cNvSpPr>
              <p:nvPr/>
            </p:nvSpPr>
            <p:spPr>
              <a:xfrm>
                <a:off x="725580" y="5668660"/>
                <a:ext cx="4592850" cy="508447"/>
              </a:xfrm>
              <a:prstGeom prst="roundRect">
                <a:avLst/>
              </a:prstGeom>
              <a:blipFill>
                <a:blip r:embed="rId5"/>
                <a:stretch>
                  <a:fillRect t="-74118" r="-6623" b="-123529"/>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圆角 9">
                <a:extLst>
                  <a:ext uri="{FF2B5EF4-FFF2-40B4-BE49-F238E27FC236}">
                    <a16:creationId xmlns:a16="http://schemas.microsoft.com/office/drawing/2014/main" id="{B90451AA-D641-42A3-9FED-D95EFDA11658}"/>
                  </a:ext>
                </a:extLst>
              </p:cNvPr>
              <p:cNvSpPr/>
              <p:nvPr/>
            </p:nvSpPr>
            <p:spPr>
              <a:xfrm>
                <a:off x="725580" y="3459867"/>
                <a:ext cx="4594208" cy="513651"/>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en-US" altLang="zh-CN" b="0">
                              <a:solidFill>
                                <a:schemeClr val="tx1"/>
                              </a:solidFill>
                              <a:latin typeface="Cambria Math" panose="02040503050406030204" pitchFamily="18" charset="0"/>
                            </a:rPr>
                            <m:t>2</m:t>
                          </m:r>
                        </m:sub>
                      </m:sSub>
                      <m:r>
                        <a:rPr lang="en-US" altLang="zh-CN">
                          <a:solidFill>
                            <a:schemeClr val="tx1"/>
                          </a:solidFill>
                          <a:latin typeface="Cambria Math" panose="02040503050406030204" pitchFamily="18" charset="0"/>
                        </a:rPr>
                        <m:t>=</m:t>
                      </m:r>
                      <m:sSub>
                        <m:sSubPr>
                          <m:ctrlPr>
                            <a:rPr lang="en-US" altLang="zh-CN" i="1" smtClean="0">
                              <a:solidFill>
                                <a:schemeClr val="tx1"/>
                              </a:solidFill>
                              <a:latin typeface="Cambria Math" panose="02040503050406030204" pitchFamily="18" charset="0"/>
                              <a:ea typeface="Cambria Math" panose="02040503050406030204" pitchFamily="18" charset="0"/>
                            </a:rPr>
                          </m:ctrlPr>
                        </m:sSubPr>
                        <m:e>
                          <m:r>
                            <a:rPr lang="en-US" altLang="zh-CN">
                              <a:solidFill>
                                <a:schemeClr val="tx1"/>
                              </a:solidFill>
                              <a:latin typeface="Cambria Math" panose="02040503050406030204" pitchFamily="18" charset="0"/>
                              <a:ea typeface="Cambria Math" panose="02040503050406030204" pitchFamily="18" charset="0"/>
                            </a:rPr>
                            <m:t>𝜃</m:t>
                          </m:r>
                        </m:e>
                        <m:sub>
                          <m:r>
                            <a:rPr lang="en-US" altLang="zh-CN">
                              <a:solidFill>
                                <a:schemeClr val="tx1"/>
                              </a:solidFill>
                              <a:latin typeface="Cambria Math" panose="02040503050406030204" pitchFamily="18" charset="0"/>
                              <a:ea typeface="Cambria Math" panose="02040503050406030204" pitchFamily="18" charset="0"/>
                            </a:rPr>
                            <m:t>23</m:t>
                          </m:r>
                        </m:sub>
                      </m:sSub>
                      <m:r>
                        <a:rPr lang="en-US" altLang="zh-CN" b="0" i="1" smtClean="0">
                          <a:solidFill>
                            <a:schemeClr val="tx1"/>
                          </a:solidFill>
                          <a:latin typeface="Cambria Math" panose="02040503050406030204" pitchFamily="18" charset="0"/>
                          <a:ea typeface="Cambria Math" panose="02040503050406030204" pitchFamily="18" charset="0"/>
                        </a:rPr>
                        <m:t>−</m:t>
                      </m:r>
                      <m:sSub>
                        <m:sSubPr>
                          <m:ctrlPr>
                            <a:rPr lang="en-US" altLang="zh-CN" b="0" i="1" smtClean="0">
                              <a:solidFill>
                                <a:schemeClr val="tx1"/>
                              </a:solidFill>
                              <a:latin typeface="Cambria Math" panose="02040503050406030204" pitchFamily="18" charset="0"/>
                              <a:ea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𝜃</m:t>
                          </m:r>
                        </m:e>
                        <m:sub>
                          <m:r>
                            <a:rPr lang="en-US" altLang="zh-CN" b="0" i="1" smtClean="0">
                              <a:solidFill>
                                <a:schemeClr val="tx1"/>
                              </a:solidFill>
                              <a:latin typeface="Cambria Math" panose="02040503050406030204" pitchFamily="18" charset="0"/>
                              <a:ea typeface="Cambria Math" panose="02040503050406030204" pitchFamily="18" charset="0"/>
                            </a:rPr>
                            <m:t>3</m:t>
                          </m:r>
                        </m:sub>
                      </m:sSub>
                    </m:oMath>
                  </m:oMathPara>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10" name="矩形: 圆角 9">
                <a:extLst>
                  <a:ext uri="{FF2B5EF4-FFF2-40B4-BE49-F238E27FC236}">
                    <a16:creationId xmlns:a16="http://schemas.microsoft.com/office/drawing/2014/main" id="{B90451AA-D641-42A3-9FED-D95EFDA11658}"/>
                  </a:ext>
                </a:extLst>
              </p:cNvPr>
              <p:cNvSpPr>
                <a:spLocks noRot="1" noChangeAspect="1" noMove="1" noResize="1" noEditPoints="1" noAdjustHandles="1" noChangeArrowheads="1" noChangeShapeType="1" noTextEdit="1"/>
              </p:cNvSpPr>
              <p:nvPr/>
            </p:nvSpPr>
            <p:spPr>
              <a:xfrm>
                <a:off x="725580" y="3459867"/>
                <a:ext cx="4594208" cy="513651"/>
              </a:xfrm>
              <a:prstGeom prst="roundRect">
                <a:avLst/>
              </a:prstGeom>
              <a:blipFill>
                <a:blip r:embed="rId6"/>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1B40F2DA-9372-4B4B-91CB-5E537AAA798A}"/>
                  </a:ext>
                </a:extLst>
              </p:cNvPr>
              <p:cNvSpPr/>
              <p:nvPr/>
            </p:nvSpPr>
            <p:spPr>
              <a:xfrm>
                <a:off x="725580" y="1240952"/>
                <a:ext cx="4594207" cy="516110"/>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𝜃</m:t>
                        </m:r>
                      </m:e>
                      <m:sub>
                        <m:r>
                          <a:rPr lang="en-US" altLang="zh-CN">
                            <a:solidFill>
                              <a:schemeClr val="tx1"/>
                            </a:solidFill>
                            <a:latin typeface="Cambria Math" panose="02040503050406030204" pitchFamily="18" charset="0"/>
                          </a:rPr>
                          <m:t>1</m:t>
                        </m:r>
                      </m:sub>
                    </m:sSub>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𝜙</m:t>
                    </m:r>
                    <m:r>
                      <a:rPr lang="en-US" altLang="zh-CN">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arcsin</m:t>
                    </m:r>
                    <m:f>
                      <m:fPr>
                        <m:ctrlPr>
                          <a:rPr lang="en-US" altLang="zh-CN" i="1">
                            <a:solidFill>
                              <a:schemeClr val="tx1"/>
                            </a:solidFill>
                            <a:latin typeface="Cambria Math" panose="02040503050406030204" pitchFamily="18" charset="0"/>
                          </a:rPr>
                        </m:ctrlPr>
                      </m:fPr>
                      <m:num>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3</m:t>
                            </m:r>
                          </m:sub>
                        </m:sSub>
                      </m:num>
                      <m:den>
                        <m:r>
                          <a:rPr lang="en-US" altLang="zh-CN">
                            <a:solidFill>
                              <a:schemeClr val="tx1"/>
                            </a:solidFill>
                            <a:latin typeface="Cambria Math" panose="02040503050406030204" pitchFamily="18" charset="0"/>
                          </a:rPr>
                          <m:t>𝜌</m:t>
                        </m:r>
                      </m:den>
                    </m:f>
                  </m:oMath>
                </a14:m>
                <a:r>
                  <a:rPr lang="zh-CN" altLang="en-US" dirty="0">
                    <a:ln>
                      <a:solidFill>
                        <a:srgbClr val="FFFF00"/>
                      </a:solidFill>
                    </a:ln>
                    <a:solidFill>
                      <a:schemeClr val="tx1"/>
                    </a:solidFill>
                  </a:rPr>
                  <a:t> </a:t>
                </a:r>
                <a:r>
                  <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rPr>
                  <a:t>或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a:solidFill>
                              <a:schemeClr val="tx1"/>
                            </a:solidFill>
                            <a:latin typeface="Cambria Math" panose="02040503050406030204" pitchFamily="18" charset="0"/>
                          </a:rPr>
                          <m:t>𝜃</m:t>
                        </m:r>
                      </m:e>
                      <m:sub>
                        <m:r>
                          <a:rPr lang="en-US" altLang="zh-CN">
                            <a:solidFill>
                              <a:schemeClr val="tx1"/>
                            </a:solidFill>
                            <a:latin typeface="Cambria Math" panose="02040503050406030204" pitchFamily="18" charset="0"/>
                          </a:rPr>
                          <m:t>1</m:t>
                        </m:r>
                      </m:sub>
                    </m:sSub>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𝜙</m:t>
                    </m:r>
                    <m:r>
                      <a:rPr lang="en-US" altLang="zh-CN" b="0" i="0" smtClean="0">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arcsin</m:t>
                    </m:r>
                    <m:f>
                      <m:fPr>
                        <m:ctrlPr>
                          <a:rPr lang="en-US" altLang="zh-CN" i="1">
                            <a:solidFill>
                              <a:schemeClr val="tx1"/>
                            </a:solidFill>
                            <a:latin typeface="Cambria Math" panose="02040503050406030204" pitchFamily="18" charset="0"/>
                          </a:rPr>
                        </m:ctrlPr>
                      </m:fPr>
                      <m:num>
                        <m:sSub>
                          <m:sSubPr>
                            <m:ctrlPr>
                              <a:rPr lang="zh-CN" altLang="en-US" i="1">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𝐿</m:t>
                            </m:r>
                          </m:e>
                          <m:sub>
                            <m:r>
                              <a:rPr lang="zh-CN" altLang="en-US" i="0">
                                <a:solidFill>
                                  <a:schemeClr val="tx1"/>
                                </a:solidFill>
                                <a:latin typeface="Cambria Math" panose="02040503050406030204" pitchFamily="18" charset="0"/>
                              </a:rPr>
                              <m:t>3</m:t>
                            </m:r>
                          </m:sub>
                        </m:sSub>
                      </m:num>
                      <m:den>
                        <m:r>
                          <a:rPr lang="en-US" altLang="zh-CN">
                            <a:solidFill>
                              <a:schemeClr val="tx1"/>
                            </a:solidFill>
                            <a:latin typeface="Cambria Math" panose="02040503050406030204" pitchFamily="18" charset="0"/>
                          </a:rPr>
                          <m:t>𝜌</m:t>
                        </m:r>
                      </m:den>
                    </m:f>
                    <m:r>
                      <a:rPr lang="en-US" altLang="zh-CN" b="0" i="1" smtClean="0">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𝜋</m:t>
                    </m:r>
                  </m:oMath>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11" name="矩形: 圆角 10">
                <a:extLst>
                  <a:ext uri="{FF2B5EF4-FFF2-40B4-BE49-F238E27FC236}">
                    <a16:creationId xmlns:a16="http://schemas.microsoft.com/office/drawing/2014/main" id="{1B40F2DA-9372-4B4B-91CB-5E537AAA798A}"/>
                  </a:ext>
                </a:extLst>
              </p:cNvPr>
              <p:cNvSpPr>
                <a:spLocks noRot="1" noChangeAspect="1" noMove="1" noResize="1" noEditPoints="1" noAdjustHandles="1" noChangeArrowheads="1" noChangeShapeType="1" noTextEdit="1"/>
              </p:cNvSpPr>
              <p:nvPr/>
            </p:nvSpPr>
            <p:spPr>
              <a:xfrm>
                <a:off x="725580" y="1240952"/>
                <a:ext cx="4594207" cy="516110"/>
              </a:xfrm>
              <a:prstGeom prst="roundRect">
                <a:avLst/>
              </a:prstGeom>
              <a:blipFill>
                <a:blip r:embed="rId7"/>
                <a:stretch>
                  <a:fillRect b="-3488"/>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圆角 11">
                <a:extLst>
                  <a:ext uri="{FF2B5EF4-FFF2-40B4-BE49-F238E27FC236}">
                    <a16:creationId xmlns:a16="http://schemas.microsoft.com/office/drawing/2014/main" id="{F033F512-7E47-460D-A871-0EAA5E3E786A}"/>
                  </a:ext>
                </a:extLst>
              </p:cNvPr>
              <p:cNvSpPr/>
              <p:nvPr/>
            </p:nvSpPr>
            <p:spPr>
              <a:xfrm>
                <a:off x="725580" y="1981410"/>
                <a:ext cx="4594207" cy="516109"/>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r>
                      <a:rPr lang="en-US" altLang="zh-CN">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en-US" altLang="zh-CN">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𝜙</m:t>
                    </m:r>
                  </m:oMath>
                </a14:m>
                <a:r>
                  <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a:solidFill>
                              <a:schemeClr val="tx1"/>
                            </a:solidFill>
                            <a:latin typeface="Cambria Math" panose="02040503050406030204" pitchFamily="18" charset="0"/>
                          </a:rPr>
                          <m:t>𝜃</m:t>
                        </m:r>
                      </m:e>
                      <m:sub>
                        <m:r>
                          <a:rPr lang="zh-CN" altLang="en-US" i="0">
                            <a:solidFill>
                              <a:schemeClr val="tx1"/>
                            </a:solidFill>
                            <a:latin typeface="Cambria Math" panose="02040503050406030204" pitchFamily="18" charset="0"/>
                          </a:rPr>
                          <m:t>3</m:t>
                        </m:r>
                      </m:sub>
                    </m:sSub>
                    <m:r>
                      <a:rPr lang="en-US" altLang="zh-CN">
                        <a:solidFill>
                          <a:schemeClr val="tx1"/>
                        </a:solidFill>
                        <a:latin typeface="Cambria Math" panose="02040503050406030204" pitchFamily="18" charset="0"/>
                      </a:rPr>
                      <m:t>=</m:t>
                    </m:r>
                    <m:r>
                      <a:rPr lang="en-US" altLang="zh-CN" b="0" i="0" smtClean="0">
                        <a:solidFill>
                          <a:schemeClr val="tx1"/>
                        </a:solidFill>
                        <a:latin typeface="Cambria Math" panose="02040503050406030204" pitchFamily="18" charset="0"/>
                      </a:rPr>
                      <m:t>−</m:t>
                    </m:r>
                    <m:r>
                      <m:rPr>
                        <m:sty m:val="p"/>
                      </m:rPr>
                      <a:rPr lang="en-US" altLang="zh-CN" i="0">
                        <a:solidFill>
                          <a:schemeClr val="tx1"/>
                        </a:solidFill>
                        <a:latin typeface="Cambria Math" panose="02040503050406030204" pitchFamily="18" charset="0"/>
                      </a:rPr>
                      <m:t>arccos</m:t>
                    </m:r>
                    <m:r>
                      <a:rPr lang="en-US" altLang="zh-CN">
                        <a:solidFill>
                          <a:schemeClr val="tx1"/>
                        </a:solidFill>
                        <a:latin typeface="Cambria Math" panose="02040503050406030204" pitchFamily="18" charset="0"/>
                      </a:rPr>
                      <m:t>𝑘</m:t>
                    </m:r>
                    <m:r>
                      <a:rPr lang="en-US" altLang="zh-CN">
                        <a:solidFill>
                          <a:schemeClr val="tx1"/>
                        </a:solidFill>
                        <a:latin typeface="Cambria Math" panose="02040503050406030204" pitchFamily="18" charset="0"/>
                      </a:rPr>
                      <m:t>−</m:t>
                    </m:r>
                    <m:r>
                      <a:rPr lang="en-US" altLang="zh-CN">
                        <a:solidFill>
                          <a:schemeClr val="tx1"/>
                        </a:solidFill>
                        <a:latin typeface="Cambria Math" panose="02040503050406030204" pitchFamily="18" charset="0"/>
                      </a:rPr>
                      <m:t>𝜙</m:t>
                    </m:r>
                  </m:oMath>
                </a14:m>
                <a:endParaRPr lang="zh-CN" altLang="en-US"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12" name="矩形: 圆角 11">
                <a:extLst>
                  <a:ext uri="{FF2B5EF4-FFF2-40B4-BE49-F238E27FC236}">
                    <a16:creationId xmlns:a16="http://schemas.microsoft.com/office/drawing/2014/main" id="{F033F512-7E47-460D-A871-0EAA5E3E786A}"/>
                  </a:ext>
                </a:extLst>
              </p:cNvPr>
              <p:cNvSpPr>
                <a:spLocks noRot="1" noChangeAspect="1" noMove="1" noResize="1" noEditPoints="1" noAdjustHandles="1" noChangeArrowheads="1" noChangeShapeType="1" noTextEdit="1"/>
              </p:cNvSpPr>
              <p:nvPr/>
            </p:nvSpPr>
            <p:spPr>
              <a:xfrm>
                <a:off x="725580" y="1981410"/>
                <a:ext cx="4594207" cy="516109"/>
              </a:xfrm>
              <a:prstGeom prst="roundRect">
                <a:avLst/>
              </a:prstGeom>
              <a:blipFill>
                <a:blip r:embed="rId8"/>
                <a:stretch>
                  <a:fillRect/>
                </a:stretch>
              </a:blipFill>
              <a:ln>
                <a:solidFill>
                  <a:srgbClr val="FF0000"/>
                </a:solidFill>
              </a:ln>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249A4CAA-4976-4150-B572-B7C01E50EA27}"/>
              </a:ext>
            </a:extLst>
          </p:cNvPr>
          <p:cNvSpPr txBox="1"/>
          <p:nvPr/>
        </p:nvSpPr>
        <p:spPr>
          <a:xfrm>
            <a:off x="412674" y="1314341"/>
            <a:ext cx="312906" cy="369332"/>
          </a:xfrm>
          <a:prstGeom prst="rect">
            <a:avLst/>
          </a:prstGeom>
          <a:noFill/>
        </p:spPr>
        <p:txBody>
          <a:bodyPr wrap="none" rtlCol="0">
            <a:spAutoFit/>
          </a:bodyPr>
          <a:lstStyle/>
          <a:p>
            <a:r>
              <a:rPr lang="en-US" altLang="zh-CN" dirty="0"/>
              <a:t>1</a:t>
            </a:r>
            <a:endParaRPr lang="zh-CN" altLang="en-US" dirty="0"/>
          </a:p>
        </p:txBody>
      </p:sp>
      <p:sp>
        <p:nvSpPr>
          <p:cNvPr id="14" name="文本框 13">
            <a:extLst>
              <a:ext uri="{FF2B5EF4-FFF2-40B4-BE49-F238E27FC236}">
                <a16:creationId xmlns:a16="http://schemas.microsoft.com/office/drawing/2014/main" id="{20F101F2-0210-4664-B226-9F351DC65CDF}"/>
              </a:ext>
            </a:extLst>
          </p:cNvPr>
          <p:cNvSpPr txBox="1"/>
          <p:nvPr/>
        </p:nvSpPr>
        <p:spPr>
          <a:xfrm>
            <a:off x="412674" y="2054467"/>
            <a:ext cx="312906" cy="369332"/>
          </a:xfrm>
          <a:prstGeom prst="rect">
            <a:avLst/>
          </a:prstGeom>
          <a:noFill/>
        </p:spPr>
        <p:txBody>
          <a:bodyPr wrap="none" rtlCol="0">
            <a:spAutoFit/>
          </a:bodyPr>
          <a:lstStyle/>
          <a:p>
            <a:r>
              <a:rPr lang="en-US" altLang="zh-CN" dirty="0"/>
              <a:t>2</a:t>
            </a:r>
            <a:endParaRPr lang="zh-CN" altLang="en-US" dirty="0"/>
          </a:p>
        </p:txBody>
      </p:sp>
      <p:sp>
        <p:nvSpPr>
          <p:cNvPr id="15" name="文本框 14">
            <a:extLst>
              <a:ext uri="{FF2B5EF4-FFF2-40B4-BE49-F238E27FC236}">
                <a16:creationId xmlns:a16="http://schemas.microsoft.com/office/drawing/2014/main" id="{DDE4B988-F244-47B2-8EE6-D3C3B4AA058B}"/>
              </a:ext>
            </a:extLst>
          </p:cNvPr>
          <p:cNvSpPr txBox="1"/>
          <p:nvPr/>
        </p:nvSpPr>
        <p:spPr>
          <a:xfrm>
            <a:off x="412674" y="2794027"/>
            <a:ext cx="312906" cy="369332"/>
          </a:xfrm>
          <a:prstGeom prst="rect">
            <a:avLst/>
          </a:prstGeom>
          <a:noFill/>
        </p:spPr>
        <p:txBody>
          <a:bodyPr wrap="none" rtlCol="0">
            <a:spAutoFit/>
          </a:bodyPr>
          <a:lstStyle/>
          <a:p>
            <a:r>
              <a:rPr lang="en-US" altLang="zh-CN" dirty="0"/>
              <a:t>3</a:t>
            </a:r>
            <a:endParaRPr lang="zh-CN" altLang="en-US" dirty="0"/>
          </a:p>
        </p:txBody>
      </p:sp>
      <p:sp>
        <p:nvSpPr>
          <p:cNvPr id="16" name="文本框 15">
            <a:extLst>
              <a:ext uri="{FF2B5EF4-FFF2-40B4-BE49-F238E27FC236}">
                <a16:creationId xmlns:a16="http://schemas.microsoft.com/office/drawing/2014/main" id="{D34D2AA5-197F-43B2-9FDD-9ED1185D6736}"/>
              </a:ext>
            </a:extLst>
          </p:cNvPr>
          <p:cNvSpPr txBox="1"/>
          <p:nvPr/>
        </p:nvSpPr>
        <p:spPr>
          <a:xfrm>
            <a:off x="408010" y="3531694"/>
            <a:ext cx="312906" cy="369332"/>
          </a:xfrm>
          <a:prstGeom prst="rect">
            <a:avLst/>
          </a:prstGeom>
          <a:noFill/>
        </p:spPr>
        <p:txBody>
          <a:bodyPr wrap="none" rtlCol="0">
            <a:spAutoFit/>
          </a:bodyPr>
          <a:lstStyle/>
          <a:p>
            <a:r>
              <a:rPr lang="en-US" altLang="zh-CN" dirty="0"/>
              <a:t>4</a:t>
            </a:r>
            <a:endParaRPr lang="zh-CN" altLang="en-US" dirty="0"/>
          </a:p>
        </p:txBody>
      </p:sp>
      <p:sp>
        <p:nvSpPr>
          <p:cNvPr id="17" name="文本框 16">
            <a:extLst>
              <a:ext uri="{FF2B5EF4-FFF2-40B4-BE49-F238E27FC236}">
                <a16:creationId xmlns:a16="http://schemas.microsoft.com/office/drawing/2014/main" id="{E406B987-1BA5-4F14-9C94-0717D7550093}"/>
              </a:ext>
            </a:extLst>
          </p:cNvPr>
          <p:cNvSpPr txBox="1"/>
          <p:nvPr/>
        </p:nvSpPr>
        <p:spPr>
          <a:xfrm>
            <a:off x="408010" y="4269361"/>
            <a:ext cx="312906" cy="369332"/>
          </a:xfrm>
          <a:prstGeom prst="rect">
            <a:avLst/>
          </a:prstGeom>
          <a:noFill/>
        </p:spPr>
        <p:txBody>
          <a:bodyPr wrap="none" rtlCol="0">
            <a:spAutoFit/>
          </a:bodyPr>
          <a:lstStyle/>
          <a:p>
            <a:r>
              <a:rPr lang="en-US" altLang="zh-CN" dirty="0"/>
              <a:t>5</a:t>
            </a:r>
            <a:endParaRPr lang="zh-CN" altLang="en-US" dirty="0"/>
          </a:p>
        </p:txBody>
      </p:sp>
      <p:sp>
        <p:nvSpPr>
          <p:cNvPr id="18" name="文本框 17">
            <a:extLst>
              <a:ext uri="{FF2B5EF4-FFF2-40B4-BE49-F238E27FC236}">
                <a16:creationId xmlns:a16="http://schemas.microsoft.com/office/drawing/2014/main" id="{A5DE5022-C38C-4C8F-BD67-7D9ED2BEB380}"/>
              </a:ext>
            </a:extLst>
          </p:cNvPr>
          <p:cNvSpPr txBox="1"/>
          <p:nvPr/>
        </p:nvSpPr>
        <p:spPr>
          <a:xfrm>
            <a:off x="408010" y="5007028"/>
            <a:ext cx="312906" cy="369332"/>
          </a:xfrm>
          <a:prstGeom prst="rect">
            <a:avLst/>
          </a:prstGeom>
          <a:noFill/>
        </p:spPr>
        <p:txBody>
          <a:bodyPr wrap="none" rtlCol="0">
            <a:spAutoFit/>
          </a:bodyPr>
          <a:lstStyle/>
          <a:p>
            <a:r>
              <a:rPr lang="en-US" altLang="zh-CN" dirty="0"/>
              <a:t>6</a:t>
            </a:r>
            <a:endParaRPr lang="zh-CN" altLang="en-US" dirty="0"/>
          </a:p>
        </p:txBody>
      </p:sp>
      <p:sp>
        <p:nvSpPr>
          <p:cNvPr id="19" name="文本框 18">
            <a:extLst>
              <a:ext uri="{FF2B5EF4-FFF2-40B4-BE49-F238E27FC236}">
                <a16:creationId xmlns:a16="http://schemas.microsoft.com/office/drawing/2014/main" id="{4DAFC1D5-9F47-4FDA-A902-DFEE423D0478}"/>
              </a:ext>
            </a:extLst>
          </p:cNvPr>
          <p:cNvSpPr txBox="1"/>
          <p:nvPr/>
        </p:nvSpPr>
        <p:spPr>
          <a:xfrm>
            <a:off x="409521" y="5734270"/>
            <a:ext cx="312906" cy="369332"/>
          </a:xfrm>
          <a:prstGeom prst="rect">
            <a:avLst/>
          </a:prstGeom>
          <a:noFill/>
        </p:spPr>
        <p:txBody>
          <a:bodyPr wrap="none" rtlCol="0">
            <a:spAutoFit/>
          </a:bodyPr>
          <a:lstStyle/>
          <a:p>
            <a:r>
              <a:rPr lang="en-US" altLang="zh-CN" dirty="0"/>
              <a:t>7</a:t>
            </a:r>
            <a:endParaRPr lang="zh-CN" altLang="en-US" dirty="0"/>
          </a:p>
        </p:txBody>
      </p:sp>
      <p:sp>
        <p:nvSpPr>
          <p:cNvPr id="77" name="矩形 76">
            <a:extLst>
              <a:ext uri="{FF2B5EF4-FFF2-40B4-BE49-F238E27FC236}">
                <a16:creationId xmlns:a16="http://schemas.microsoft.com/office/drawing/2014/main" id="{E22B7E1A-40B2-4F41-9820-9AC3E8D96FB8}"/>
              </a:ext>
            </a:extLst>
          </p:cNvPr>
          <p:cNvSpPr/>
          <p:nvPr/>
        </p:nvSpPr>
        <p:spPr>
          <a:xfrm>
            <a:off x="11210940" y="1673379"/>
            <a:ext cx="352096" cy="4247317"/>
          </a:xfrm>
          <a:prstGeom prst="rect">
            <a:avLst/>
          </a:prstGeom>
        </p:spPr>
        <p:txBody>
          <a:bodyPr wrap="square">
            <a:spAutoFit/>
          </a:bodyPr>
          <a:lstStyle/>
          <a:p>
            <a:r>
              <a:rPr lang="en-US" altLang="zh-CN" b="1" i="0" dirty="0">
                <a:latin typeface="微软雅黑" panose="020B0503020204020204" pitchFamily="34" charset="-122"/>
                <a:ea typeface="微软雅黑" panose="020B0503020204020204" pitchFamily="34" charset="-122"/>
              </a:rPr>
              <a:t>PUMA</a:t>
            </a:r>
            <a:r>
              <a:rPr lang="zh-CN" altLang="en-US" b="1" i="0" dirty="0">
                <a:latin typeface="微软雅黑" panose="020B0503020204020204" pitchFamily="34" charset="-122"/>
                <a:ea typeface="微软雅黑" panose="020B0503020204020204" pitchFamily="34" charset="-122"/>
              </a:rPr>
              <a:t>机器人逆运动学的</a:t>
            </a:r>
            <a:r>
              <a:rPr lang="en-US" altLang="zh-CN" b="1" i="0" dirty="0">
                <a:latin typeface="微软雅黑" panose="020B0503020204020204" pitchFamily="34" charset="-122"/>
                <a:ea typeface="微软雅黑" panose="020B0503020204020204" pitchFamily="34" charset="-122"/>
              </a:rPr>
              <a:t>8</a:t>
            </a:r>
            <a:r>
              <a:rPr lang="zh-CN" altLang="en-US" b="1" i="0" dirty="0">
                <a:latin typeface="微软雅黑" panose="020B0503020204020204" pitchFamily="34" charset="-122"/>
                <a:ea typeface="微软雅黑" panose="020B0503020204020204" pitchFamily="34" charset="-122"/>
              </a:rPr>
              <a:t>个解</a:t>
            </a:r>
          </a:p>
        </p:txBody>
      </p:sp>
      <p:grpSp>
        <p:nvGrpSpPr>
          <p:cNvPr id="3" name="组合 2">
            <a:extLst>
              <a:ext uri="{FF2B5EF4-FFF2-40B4-BE49-F238E27FC236}">
                <a16:creationId xmlns:a16="http://schemas.microsoft.com/office/drawing/2014/main" id="{2DC73140-55ED-4F61-974F-788162E43383}"/>
              </a:ext>
            </a:extLst>
          </p:cNvPr>
          <p:cNvGrpSpPr/>
          <p:nvPr/>
        </p:nvGrpSpPr>
        <p:grpSpPr>
          <a:xfrm>
            <a:off x="5656443" y="1285999"/>
            <a:ext cx="3136433" cy="374589"/>
            <a:chOff x="5266223" y="1134571"/>
            <a:chExt cx="3136433" cy="374589"/>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C344A9F-913C-4FF3-B4F8-274059B7EFC2}"/>
                    </a:ext>
                  </a:extLst>
                </p:cNvPr>
                <p:cNvSpPr txBox="1"/>
                <p:nvPr/>
              </p:nvSpPr>
              <p:spPr>
                <a:xfrm>
                  <a:off x="5266223" y="1139828"/>
                  <a:ext cx="4725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𝜃</m:t>
                            </m:r>
                          </m:e>
                          <m:sub>
                            <m:r>
                              <a:rPr lang="en-US" altLang="zh-CN">
                                <a:latin typeface="Cambria Math" panose="02040503050406030204" pitchFamily="18" charset="0"/>
                              </a:rPr>
                              <m:t>1</m:t>
                            </m:r>
                          </m:sub>
                        </m:sSub>
                      </m:oMath>
                    </m:oMathPara>
                  </a14:m>
                  <a:endParaRPr lang="zh-CN" altLang="en-US" dirty="0"/>
                </a:p>
              </p:txBody>
            </p:sp>
          </mc:Choice>
          <mc:Fallback xmlns="">
            <p:sp>
              <p:nvSpPr>
                <p:cNvPr id="20" name="文本框 19">
                  <a:extLst>
                    <a:ext uri="{FF2B5EF4-FFF2-40B4-BE49-F238E27FC236}">
                      <a16:creationId xmlns:a16="http://schemas.microsoft.com/office/drawing/2014/main" id="{7C344A9F-913C-4FF3-B4F8-274059B7EFC2}"/>
                    </a:ext>
                  </a:extLst>
                </p:cNvPr>
                <p:cNvSpPr txBox="1">
                  <a:spLocks noRot="1" noChangeAspect="1" noMove="1" noResize="1" noEditPoints="1" noAdjustHandles="1" noChangeArrowheads="1" noChangeShapeType="1" noTextEdit="1"/>
                </p:cNvSpPr>
                <p:nvPr/>
              </p:nvSpPr>
              <p:spPr>
                <a:xfrm>
                  <a:off x="5266223" y="1139828"/>
                  <a:ext cx="472502" cy="369332"/>
                </a:xfrm>
                <a:prstGeom prst="rect">
                  <a:avLst/>
                </a:prstGeom>
                <a:blipFill>
                  <a:blip r:embed="rId9"/>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877ADB79-8214-464E-A1B7-FE2E63A28DD5}"/>
                    </a:ext>
                  </a:extLst>
                </p:cNvPr>
                <p:cNvSpPr txBox="1"/>
                <p:nvPr/>
              </p:nvSpPr>
              <p:spPr>
                <a:xfrm>
                  <a:off x="7925346" y="1134571"/>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a:latin typeface="Cambria Math" panose="02040503050406030204" pitchFamily="18" charset="0"/>
                              </a:rPr>
                              <m:t>𝜃</m:t>
                            </m:r>
                          </m:e>
                          <m:sub>
                            <m:r>
                              <a:rPr lang="en-US" altLang="zh-CN">
                                <a:latin typeface="Cambria Math" panose="02040503050406030204" pitchFamily="18" charset="0"/>
                              </a:rPr>
                              <m:t>1</m:t>
                            </m:r>
                          </m:sub>
                        </m:sSub>
                      </m:oMath>
                    </m:oMathPara>
                  </a14:m>
                  <a:endParaRPr lang="zh-CN" altLang="en-US" dirty="0"/>
                </a:p>
              </p:txBody>
            </p:sp>
          </mc:Choice>
          <mc:Fallback xmlns="">
            <p:sp>
              <p:nvSpPr>
                <p:cNvPr id="91" name="文本框 90">
                  <a:extLst>
                    <a:ext uri="{FF2B5EF4-FFF2-40B4-BE49-F238E27FC236}">
                      <a16:creationId xmlns:a16="http://schemas.microsoft.com/office/drawing/2014/main" id="{877ADB79-8214-464E-A1B7-FE2E63A28DD5}"/>
                    </a:ext>
                  </a:extLst>
                </p:cNvPr>
                <p:cNvSpPr txBox="1">
                  <a:spLocks noRot="1" noChangeAspect="1" noMove="1" noResize="1" noEditPoints="1" noAdjustHandles="1" noChangeArrowheads="1" noChangeShapeType="1" noTextEdit="1"/>
                </p:cNvSpPr>
                <p:nvPr/>
              </p:nvSpPr>
              <p:spPr>
                <a:xfrm>
                  <a:off x="7925346" y="1134571"/>
                  <a:ext cx="477310" cy="369332"/>
                </a:xfrm>
                <a:prstGeom prst="rect">
                  <a:avLst/>
                </a:prstGeom>
                <a:blipFill>
                  <a:blip r:embed="rId10"/>
                  <a:stretch>
                    <a:fillRect/>
                  </a:stretch>
                </a:blipFill>
              </p:spPr>
              <p:txBody>
                <a:bodyPr/>
                <a:lstStyle/>
                <a:p>
                  <a:r>
                    <a:rPr lang="zh-CN" altLang="en-US">
                      <a:noFill/>
                    </a:rPr>
                    <a:t> </a:t>
                  </a:r>
                </a:p>
              </p:txBody>
            </p:sp>
          </mc:Fallback>
        </mc:AlternateContent>
      </p:grpSp>
      <p:grpSp>
        <p:nvGrpSpPr>
          <p:cNvPr id="45" name="组合 44">
            <a:extLst>
              <a:ext uri="{FF2B5EF4-FFF2-40B4-BE49-F238E27FC236}">
                <a16:creationId xmlns:a16="http://schemas.microsoft.com/office/drawing/2014/main" id="{A7D6471E-D9B4-49DA-A67D-AE36CA597AD1}"/>
              </a:ext>
            </a:extLst>
          </p:cNvPr>
          <p:cNvGrpSpPr/>
          <p:nvPr/>
        </p:nvGrpSpPr>
        <p:grpSpPr>
          <a:xfrm>
            <a:off x="5656443" y="5346048"/>
            <a:ext cx="4730287" cy="757554"/>
            <a:chOff x="5266223" y="5194620"/>
            <a:chExt cx="4730287" cy="757554"/>
          </a:xfrm>
        </p:grpSpPr>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D32939AD-BB55-44B7-9D56-72A64517A834}"/>
                    </a:ext>
                  </a:extLst>
                </p:cNvPr>
                <p:cNvSpPr/>
                <p:nvPr/>
              </p:nvSpPr>
              <p:spPr>
                <a:xfrm>
                  <a:off x="5266223" y="5582842"/>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27" name="矩形 26">
                  <a:extLst>
                    <a:ext uri="{FF2B5EF4-FFF2-40B4-BE49-F238E27FC236}">
                      <a16:creationId xmlns:a16="http://schemas.microsoft.com/office/drawing/2014/main" id="{D32939AD-BB55-44B7-9D56-72A64517A834}"/>
                    </a:ext>
                  </a:extLst>
                </p:cNvPr>
                <p:cNvSpPr>
                  <a:spLocks noRot="1" noChangeAspect="1" noMove="1" noResize="1" noEditPoints="1" noAdjustHandles="1" noChangeArrowheads="1" noChangeShapeType="1" noTextEdit="1"/>
                </p:cNvSpPr>
                <p:nvPr/>
              </p:nvSpPr>
              <p:spPr>
                <a:xfrm>
                  <a:off x="5266223" y="5582842"/>
                  <a:ext cx="477823" cy="369332"/>
                </a:xfrm>
                <a:prstGeom prst="rect">
                  <a:avLst/>
                </a:prstGeom>
                <a:blipFill>
                  <a:blip r:embed="rId11"/>
                  <a:stretch>
                    <a:fillRect b="-1667"/>
                  </a:stretch>
                </a:blipFill>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A2BFFA88-AFAB-49D9-B609-70396134629D}"/>
                </a:ext>
              </a:extLst>
            </p:cNvPr>
            <p:cNvCxnSpPr>
              <a:cxnSpLocks/>
              <a:stCxn id="26" idx="2"/>
              <a:endCxn id="27" idx="0"/>
            </p:cNvCxnSpPr>
            <p:nvPr/>
          </p:nvCxnSpPr>
          <p:spPr>
            <a:xfrm>
              <a:off x="5502507" y="5204065"/>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C8EA5398-02AE-4B20-82CD-21C535CE8411}"/>
                    </a:ext>
                  </a:extLst>
                </p:cNvPr>
                <p:cNvSpPr/>
                <p:nvPr/>
              </p:nvSpPr>
              <p:spPr>
                <a:xfrm>
                  <a:off x="5807444" y="5580748"/>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31" name="矩形 30">
                  <a:extLst>
                    <a:ext uri="{FF2B5EF4-FFF2-40B4-BE49-F238E27FC236}">
                      <a16:creationId xmlns:a16="http://schemas.microsoft.com/office/drawing/2014/main" id="{C8EA5398-02AE-4B20-82CD-21C535CE8411}"/>
                    </a:ext>
                  </a:extLst>
                </p:cNvPr>
                <p:cNvSpPr>
                  <a:spLocks noRot="1" noChangeAspect="1" noMove="1" noResize="1" noEditPoints="1" noAdjustHandles="1" noChangeArrowheads="1" noChangeShapeType="1" noTextEdit="1"/>
                </p:cNvSpPr>
                <p:nvPr/>
              </p:nvSpPr>
              <p:spPr>
                <a:xfrm>
                  <a:off x="5807444" y="5580748"/>
                  <a:ext cx="477823" cy="369332"/>
                </a:xfrm>
                <a:prstGeom prst="rect">
                  <a:avLst/>
                </a:prstGeom>
                <a:blipFill>
                  <a:blip r:embed="rId12"/>
                  <a:stretch>
                    <a:fillRect/>
                  </a:stretch>
                </a:blipFill>
              </p:spPr>
              <p:txBody>
                <a:bodyPr/>
                <a:lstStyle/>
                <a:p>
                  <a:r>
                    <a:rPr lang="zh-CN" altLang="en-US">
                      <a:noFill/>
                    </a:rPr>
                    <a:t> </a:t>
                  </a:r>
                </a:p>
              </p:txBody>
            </p:sp>
          </mc:Fallback>
        </mc:AlternateContent>
        <p:cxnSp>
          <p:nvCxnSpPr>
            <p:cNvPr id="32" name="直接箭头连接符 31">
              <a:extLst>
                <a:ext uri="{FF2B5EF4-FFF2-40B4-BE49-F238E27FC236}">
                  <a16:creationId xmlns:a16="http://schemas.microsoft.com/office/drawing/2014/main" id="{3C616950-136E-4BAB-A4D7-947D2B2CEC94}"/>
                </a:ext>
              </a:extLst>
            </p:cNvPr>
            <p:cNvCxnSpPr>
              <a:cxnSpLocks/>
              <a:stCxn id="30" idx="2"/>
              <a:endCxn id="31" idx="0"/>
            </p:cNvCxnSpPr>
            <p:nvPr/>
          </p:nvCxnSpPr>
          <p:spPr>
            <a:xfrm>
              <a:off x="6043728" y="5201971"/>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BC86F033-B3F4-4690-BBD4-27D806C87704}"/>
                    </a:ext>
                  </a:extLst>
                </p:cNvPr>
                <p:cNvSpPr/>
                <p:nvPr/>
              </p:nvSpPr>
              <p:spPr>
                <a:xfrm>
                  <a:off x="6318343" y="5580748"/>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39" name="矩形 38">
                  <a:extLst>
                    <a:ext uri="{FF2B5EF4-FFF2-40B4-BE49-F238E27FC236}">
                      <a16:creationId xmlns:a16="http://schemas.microsoft.com/office/drawing/2014/main" id="{BC86F033-B3F4-4690-BBD4-27D806C87704}"/>
                    </a:ext>
                  </a:extLst>
                </p:cNvPr>
                <p:cNvSpPr>
                  <a:spLocks noRot="1" noChangeAspect="1" noMove="1" noResize="1" noEditPoints="1" noAdjustHandles="1" noChangeArrowheads="1" noChangeShapeType="1" noTextEdit="1"/>
                </p:cNvSpPr>
                <p:nvPr/>
              </p:nvSpPr>
              <p:spPr>
                <a:xfrm>
                  <a:off x="6318343" y="5580748"/>
                  <a:ext cx="477823" cy="369332"/>
                </a:xfrm>
                <a:prstGeom prst="rect">
                  <a:avLst/>
                </a:prstGeom>
                <a:blipFill>
                  <a:blip r:embed="rId13"/>
                  <a:stretch>
                    <a:fillRect/>
                  </a:stretch>
                </a:blipFill>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F3900DC5-F124-48B7-8D12-4C136298F283}"/>
                </a:ext>
              </a:extLst>
            </p:cNvPr>
            <p:cNvCxnSpPr>
              <a:cxnSpLocks/>
              <a:stCxn id="38" idx="2"/>
              <a:endCxn id="39" idx="0"/>
            </p:cNvCxnSpPr>
            <p:nvPr/>
          </p:nvCxnSpPr>
          <p:spPr>
            <a:xfrm>
              <a:off x="6554627" y="5201971"/>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6023E484-1FB1-4949-A9A1-CAB768835D27}"/>
                    </a:ext>
                  </a:extLst>
                </p:cNvPr>
                <p:cNvSpPr/>
                <p:nvPr/>
              </p:nvSpPr>
              <p:spPr>
                <a:xfrm>
                  <a:off x="6859564" y="5578654"/>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43" name="矩形 42">
                  <a:extLst>
                    <a:ext uri="{FF2B5EF4-FFF2-40B4-BE49-F238E27FC236}">
                      <a16:creationId xmlns:a16="http://schemas.microsoft.com/office/drawing/2014/main" id="{6023E484-1FB1-4949-A9A1-CAB768835D27}"/>
                    </a:ext>
                  </a:extLst>
                </p:cNvPr>
                <p:cNvSpPr>
                  <a:spLocks noRot="1" noChangeAspect="1" noMove="1" noResize="1" noEditPoints="1" noAdjustHandles="1" noChangeArrowheads="1" noChangeShapeType="1" noTextEdit="1"/>
                </p:cNvSpPr>
                <p:nvPr/>
              </p:nvSpPr>
              <p:spPr>
                <a:xfrm>
                  <a:off x="6859564" y="5578654"/>
                  <a:ext cx="477823" cy="369332"/>
                </a:xfrm>
                <a:prstGeom prst="rect">
                  <a:avLst/>
                </a:prstGeom>
                <a:blipFill>
                  <a:blip r:embed="rId14"/>
                  <a:stretch>
                    <a:fillRect/>
                  </a:stretch>
                </a:blipFill>
              </p:spPr>
              <p:txBody>
                <a:bodyPr/>
                <a:lstStyle/>
                <a:p>
                  <a:r>
                    <a:rPr lang="zh-CN" altLang="en-US">
                      <a:noFill/>
                    </a:rPr>
                    <a:t> </a:t>
                  </a:r>
                </a:p>
              </p:txBody>
            </p:sp>
          </mc:Fallback>
        </mc:AlternateContent>
        <p:cxnSp>
          <p:nvCxnSpPr>
            <p:cNvPr id="44" name="直接箭头连接符 43">
              <a:extLst>
                <a:ext uri="{FF2B5EF4-FFF2-40B4-BE49-F238E27FC236}">
                  <a16:creationId xmlns:a16="http://schemas.microsoft.com/office/drawing/2014/main" id="{2568C645-ABC4-43DF-8F1A-B2811973D0DE}"/>
                </a:ext>
              </a:extLst>
            </p:cNvPr>
            <p:cNvCxnSpPr>
              <a:cxnSpLocks/>
              <a:stCxn id="42" idx="2"/>
              <a:endCxn id="43" idx="0"/>
            </p:cNvCxnSpPr>
            <p:nvPr/>
          </p:nvCxnSpPr>
          <p:spPr>
            <a:xfrm>
              <a:off x="7095848" y="5199877"/>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2C624D5F-0712-4DB0-AB29-009054E8488E}"/>
                    </a:ext>
                  </a:extLst>
                </p:cNvPr>
                <p:cNvSpPr/>
                <p:nvPr/>
              </p:nvSpPr>
              <p:spPr>
                <a:xfrm>
                  <a:off x="7925346" y="5577585"/>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98" name="矩形 97">
                  <a:extLst>
                    <a:ext uri="{FF2B5EF4-FFF2-40B4-BE49-F238E27FC236}">
                      <a16:creationId xmlns:a16="http://schemas.microsoft.com/office/drawing/2014/main" id="{2C624D5F-0712-4DB0-AB29-009054E8488E}"/>
                    </a:ext>
                  </a:extLst>
                </p:cNvPr>
                <p:cNvSpPr>
                  <a:spLocks noRot="1" noChangeAspect="1" noMove="1" noResize="1" noEditPoints="1" noAdjustHandles="1" noChangeArrowheads="1" noChangeShapeType="1" noTextEdit="1"/>
                </p:cNvSpPr>
                <p:nvPr/>
              </p:nvSpPr>
              <p:spPr>
                <a:xfrm>
                  <a:off x="7925346" y="5577585"/>
                  <a:ext cx="477823" cy="369332"/>
                </a:xfrm>
                <a:prstGeom prst="rect">
                  <a:avLst/>
                </a:prstGeom>
                <a:blipFill>
                  <a:blip r:embed="rId15"/>
                  <a:stretch>
                    <a:fillRect b="-1667"/>
                  </a:stretch>
                </a:blipFill>
              </p:spPr>
              <p:txBody>
                <a:bodyPr/>
                <a:lstStyle/>
                <a:p>
                  <a:r>
                    <a:rPr lang="zh-CN" altLang="en-US">
                      <a:noFill/>
                    </a:rPr>
                    <a:t> </a:t>
                  </a:r>
                </a:p>
              </p:txBody>
            </p:sp>
          </mc:Fallback>
        </mc:AlternateContent>
        <p:cxnSp>
          <p:nvCxnSpPr>
            <p:cNvPr id="99" name="直接箭头连接符 98">
              <a:extLst>
                <a:ext uri="{FF2B5EF4-FFF2-40B4-BE49-F238E27FC236}">
                  <a16:creationId xmlns:a16="http://schemas.microsoft.com/office/drawing/2014/main" id="{4F9F4DDD-70F3-49AB-9D2D-E6E71EDA45BE}"/>
                </a:ext>
              </a:extLst>
            </p:cNvPr>
            <p:cNvCxnSpPr>
              <a:cxnSpLocks/>
              <a:stCxn id="97" idx="2"/>
              <a:endCxn id="98" idx="0"/>
            </p:cNvCxnSpPr>
            <p:nvPr/>
          </p:nvCxnSpPr>
          <p:spPr>
            <a:xfrm>
              <a:off x="8161630" y="5198808"/>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矩形 101">
                  <a:extLst>
                    <a:ext uri="{FF2B5EF4-FFF2-40B4-BE49-F238E27FC236}">
                      <a16:creationId xmlns:a16="http://schemas.microsoft.com/office/drawing/2014/main" id="{7D9E8CAF-E0CA-4275-95E4-26016A3405B7}"/>
                    </a:ext>
                  </a:extLst>
                </p:cNvPr>
                <p:cNvSpPr/>
                <p:nvPr/>
              </p:nvSpPr>
              <p:spPr>
                <a:xfrm>
                  <a:off x="8466567" y="5575491"/>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102" name="矩形 101">
                  <a:extLst>
                    <a:ext uri="{FF2B5EF4-FFF2-40B4-BE49-F238E27FC236}">
                      <a16:creationId xmlns:a16="http://schemas.microsoft.com/office/drawing/2014/main" id="{7D9E8CAF-E0CA-4275-95E4-26016A3405B7}"/>
                    </a:ext>
                  </a:extLst>
                </p:cNvPr>
                <p:cNvSpPr>
                  <a:spLocks noRot="1" noChangeAspect="1" noMove="1" noResize="1" noEditPoints="1" noAdjustHandles="1" noChangeArrowheads="1" noChangeShapeType="1" noTextEdit="1"/>
                </p:cNvSpPr>
                <p:nvPr/>
              </p:nvSpPr>
              <p:spPr>
                <a:xfrm>
                  <a:off x="8466567" y="5575491"/>
                  <a:ext cx="477823" cy="369332"/>
                </a:xfrm>
                <a:prstGeom prst="rect">
                  <a:avLst/>
                </a:prstGeom>
                <a:blipFill>
                  <a:blip r:embed="rId16"/>
                  <a:stretch>
                    <a:fillRect/>
                  </a:stretch>
                </a:blipFill>
              </p:spPr>
              <p:txBody>
                <a:bodyPr/>
                <a:lstStyle/>
                <a:p>
                  <a:r>
                    <a:rPr lang="zh-CN" altLang="en-US">
                      <a:noFill/>
                    </a:rPr>
                    <a:t> </a:t>
                  </a:r>
                </a:p>
              </p:txBody>
            </p:sp>
          </mc:Fallback>
        </mc:AlternateContent>
        <p:cxnSp>
          <p:nvCxnSpPr>
            <p:cNvPr id="103" name="直接箭头连接符 102">
              <a:extLst>
                <a:ext uri="{FF2B5EF4-FFF2-40B4-BE49-F238E27FC236}">
                  <a16:creationId xmlns:a16="http://schemas.microsoft.com/office/drawing/2014/main" id="{860220A0-D4DC-4B6F-8F72-6E95BC8A8830}"/>
                </a:ext>
              </a:extLst>
            </p:cNvPr>
            <p:cNvCxnSpPr>
              <a:cxnSpLocks/>
              <a:stCxn id="101" idx="2"/>
              <a:endCxn id="102" idx="0"/>
            </p:cNvCxnSpPr>
            <p:nvPr/>
          </p:nvCxnSpPr>
          <p:spPr>
            <a:xfrm>
              <a:off x="8702851" y="5196714"/>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矩形 107">
                  <a:extLst>
                    <a:ext uri="{FF2B5EF4-FFF2-40B4-BE49-F238E27FC236}">
                      <a16:creationId xmlns:a16="http://schemas.microsoft.com/office/drawing/2014/main" id="{918C581E-8A96-4134-AE2E-0C61CD1C8959}"/>
                    </a:ext>
                  </a:extLst>
                </p:cNvPr>
                <p:cNvSpPr/>
                <p:nvPr/>
              </p:nvSpPr>
              <p:spPr>
                <a:xfrm>
                  <a:off x="8977466" y="5575491"/>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108" name="矩形 107">
                  <a:extLst>
                    <a:ext uri="{FF2B5EF4-FFF2-40B4-BE49-F238E27FC236}">
                      <a16:creationId xmlns:a16="http://schemas.microsoft.com/office/drawing/2014/main" id="{918C581E-8A96-4134-AE2E-0C61CD1C8959}"/>
                    </a:ext>
                  </a:extLst>
                </p:cNvPr>
                <p:cNvSpPr>
                  <a:spLocks noRot="1" noChangeAspect="1" noMove="1" noResize="1" noEditPoints="1" noAdjustHandles="1" noChangeArrowheads="1" noChangeShapeType="1" noTextEdit="1"/>
                </p:cNvSpPr>
                <p:nvPr/>
              </p:nvSpPr>
              <p:spPr>
                <a:xfrm>
                  <a:off x="8977466" y="5575491"/>
                  <a:ext cx="477823" cy="369332"/>
                </a:xfrm>
                <a:prstGeom prst="rect">
                  <a:avLst/>
                </a:prstGeom>
                <a:blipFill>
                  <a:blip r:embed="rId17"/>
                  <a:stretch>
                    <a:fillRect/>
                  </a:stretch>
                </a:blipFill>
              </p:spPr>
              <p:txBody>
                <a:bodyPr/>
                <a:lstStyle/>
                <a:p>
                  <a:r>
                    <a:rPr lang="zh-CN" altLang="en-US">
                      <a:noFill/>
                    </a:rPr>
                    <a:t> </a:t>
                  </a:r>
                </a:p>
              </p:txBody>
            </p:sp>
          </mc:Fallback>
        </mc:AlternateContent>
        <p:cxnSp>
          <p:nvCxnSpPr>
            <p:cNvPr id="109" name="直接箭头连接符 108">
              <a:extLst>
                <a:ext uri="{FF2B5EF4-FFF2-40B4-BE49-F238E27FC236}">
                  <a16:creationId xmlns:a16="http://schemas.microsoft.com/office/drawing/2014/main" id="{3C8DA947-FD72-4C24-9225-F17D24C46EBF}"/>
                </a:ext>
              </a:extLst>
            </p:cNvPr>
            <p:cNvCxnSpPr>
              <a:cxnSpLocks/>
              <a:stCxn id="107" idx="2"/>
              <a:endCxn id="108" idx="0"/>
            </p:cNvCxnSpPr>
            <p:nvPr/>
          </p:nvCxnSpPr>
          <p:spPr>
            <a:xfrm>
              <a:off x="9213750" y="5196714"/>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矩形 111">
                  <a:extLst>
                    <a:ext uri="{FF2B5EF4-FFF2-40B4-BE49-F238E27FC236}">
                      <a16:creationId xmlns:a16="http://schemas.microsoft.com/office/drawing/2014/main" id="{88F2C9B0-81D5-4396-A9F6-9AA1AC42E586}"/>
                    </a:ext>
                  </a:extLst>
                </p:cNvPr>
                <p:cNvSpPr/>
                <p:nvPr/>
              </p:nvSpPr>
              <p:spPr>
                <a:xfrm>
                  <a:off x="9518687" y="5573397"/>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6</m:t>
                            </m:r>
                          </m:sub>
                        </m:sSub>
                      </m:oMath>
                    </m:oMathPara>
                  </a14:m>
                  <a:endParaRPr lang="zh-CN" altLang="en-US" dirty="0"/>
                </a:p>
              </p:txBody>
            </p:sp>
          </mc:Choice>
          <mc:Fallback xmlns="">
            <p:sp>
              <p:nvSpPr>
                <p:cNvPr id="112" name="矩形 111">
                  <a:extLst>
                    <a:ext uri="{FF2B5EF4-FFF2-40B4-BE49-F238E27FC236}">
                      <a16:creationId xmlns:a16="http://schemas.microsoft.com/office/drawing/2014/main" id="{88F2C9B0-81D5-4396-A9F6-9AA1AC42E586}"/>
                    </a:ext>
                  </a:extLst>
                </p:cNvPr>
                <p:cNvSpPr>
                  <a:spLocks noRot="1" noChangeAspect="1" noMove="1" noResize="1" noEditPoints="1" noAdjustHandles="1" noChangeArrowheads="1" noChangeShapeType="1" noTextEdit="1"/>
                </p:cNvSpPr>
                <p:nvPr/>
              </p:nvSpPr>
              <p:spPr>
                <a:xfrm>
                  <a:off x="9518687" y="5573397"/>
                  <a:ext cx="477823" cy="369332"/>
                </a:xfrm>
                <a:prstGeom prst="rect">
                  <a:avLst/>
                </a:prstGeom>
                <a:blipFill>
                  <a:blip r:embed="rId18"/>
                  <a:stretch>
                    <a:fillRect/>
                  </a:stretch>
                </a:blipFill>
              </p:spPr>
              <p:txBody>
                <a:bodyPr/>
                <a:lstStyle/>
                <a:p>
                  <a:r>
                    <a:rPr lang="zh-CN" altLang="en-US">
                      <a:noFill/>
                    </a:rPr>
                    <a:t> </a:t>
                  </a:r>
                </a:p>
              </p:txBody>
            </p:sp>
          </mc:Fallback>
        </mc:AlternateContent>
        <p:cxnSp>
          <p:nvCxnSpPr>
            <p:cNvPr id="113" name="直接箭头连接符 112">
              <a:extLst>
                <a:ext uri="{FF2B5EF4-FFF2-40B4-BE49-F238E27FC236}">
                  <a16:creationId xmlns:a16="http://schemas.microsoft.com/office/drawing/2014/main" id="{3736DABF-A595-4658-A91E-91F0F6F250F6}"/>
                </a:ext>
              </a:extLst>
            </p:cNvPr>
            <p:cNvCxnSpPr>
              <a:cxnSpLocks/>
              <a:stCxn id="111" idx="2"/>
              <a:endCxn id="112" idx="0"/>
            </p:cNvCxnSpPr>
            <p:nvPr/>
          </p:nvCxnSpPr>
          <p:spPr>
            <a:xfrm>
              <a:off x="9754971" y="5194620"/>
              <a:ext cx="2628" cy="37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8F3518C5-549F-4437-ABDE-76A9E3287EBE}"/>
              </a:ext>
            </a:extLst>
          </p:cNvPr>
          <p:cNvGrpSpPr/>
          <p:nvPr/>
        </p:nvGrpSpPr>
        <p:grpSpPr>
          <a:xfrm>
            <a:off x="5656443" y="1655331"/>
            <a:ext cx="4181867" cy="617040"/>
            <a:chOff x="5266223" y="1655331"/>
            <a:chExt cx="4181867" cy="617040"/>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D082D3B-0F41-44F2-A09C-C07E9DDA9112}"/>
                    </a:ext>
                  </a:extLst>
                </p:cNvPr>
                <p:cNvSpPr txBox="1"/>
                <p:nvPr/>
              </p:nvSpPr>
              <p:spPr>
                <a:xfrm>
                  <a:off x="5266223" y="1903039"/>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oMath>
                    </m:oMathPara>
                  </a14:m>
                  <a:endParaRPr lang="zh-CN" altLang="en-US" dirty="0"/>
                </a:p>
              </p:txBody>
            </p:sp>
          </mc:Choice>
          <mc:Fallback xmlns="">
            <p:sp>
              <p:nvSpPr>
                <p:cNvPr id="21" name="文本框 20">
                  <a:extLst>
                    <a:ext uri="{FF2B5EF4-FFF2-40B4-BE49-F238E27FC236}">
                      <a16:creationId xmlns:a16="http://schemas.microsoft.com/office/drawing/2014/main" id="{5D082D3B-0F41-44F2-A09C-C07E9DDA9112}"/>
                    </a:ext>
                  </a:extLst>
                </p:cNvPr>
                <p:cNvSpPr txBox="1">
                  <a:spLocks noRot="1" noChangeAspect="1" noMove="1" noResize="1" noEditPoints="1" noAdjustHandles="1" noChangeArrowheads="1" noChangeShapeType="1" noTextEdit="1"/>
                </p:cNvSpPr>
                <p:nvPr/>
              </p:nvSpPr>
              <p:spPr>
                <a:xfrm>
                  <a:off x="5266223" y="1903039"/>
                  <a:ext cx="477823" cy="369332"/>
                </a:xfrm>
                <a:prstGeom prst="rect">
                  <a:avLst/>
                </a:prstGeom>
                <a:blipFill>
                  <a:blip r:embed="rId19"/>
                  <a:stretch>
                    <a:fillRect/>
                  </a:stretch>
                </a:blipFill>
              </p:spPr>
              <p:txBody>
                <a:bodyPr/>
                <a:lstStyle/>
                <a:p>
                  <a:r>
                    <a:rPr lang="zh-CN" altLang="en-US">
                      <a:noFill/>
                    </a:rPr>
                    <a:t> </a:t>
                  </a:r>
                </a:p>
              </p:txBody>
            </p:sp>
          </mc:Fallback>
        </mc:AlternateContent>
        <p:cxnSp>
          <p:nvCxnSpPr>
            <p:cNvPr id="22" name="直接箭头连接符 21">
              <a:extLst>
                <a:ext uri="{FF2B5EF4-FFF2-40B4-BE49-F238E27FC236}">
                  <a16:creationId xmlns:a16="http://schemas.microsoft.com/office/drawing/2014/main" id="{1F85AF3E-A119-410D-8293-4F3C5C4B1A3F}"/>
                </a:ext>
              </a:extLst>
            </p:cNvPr>
            <p:cNvCxnSpPr>
              <a:stCxn id="20" idx="2"/>
              <a:endCxn id="21" idx="0"/>
            </p:cNvCxnSpPr>
            <p:nvPr/>
          </p:nvCxnSpPr>
          <p:spPr>
            <a:xfrm flipH="1">
              <a:off x="5505135" y="1660588"/>
              <a:ext cx="32284" cy="242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2CA88CA-8099-4C4E-A5FF-5C97B2D20D86}"/>
                </a:ext>
              </a:extLst>
            </p:cNvPr>
            <p:cNvCxnSpPr>
              <a:cxnSpLocks/>
              <a:stCxn id="20" idx="2"/>
              <a:endCxn id="48" idx="0"/>
            </p:cNvCxnSpPr>
            <p:nvPr/>
          </p:nvCxnSpPr>
          <p:spPr>
            <a:xfrm>
              <a:off x="5537419" y="1660588"/>
              <a:ext cx="1012637" cy="242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EAD8F689-2B53-4363-B303-E9621DA709CB}"/>
                    </a:ext>
                  </a:extLst>
                </p:cNvPr>
                <p:cNvSpPr txBox="1"/>
                <p:nvPr/>
              </p:nvSpPr>
              <p:spPr>
                <a:xfrm>
                  <a:off x="6311144" y="1903039"/>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oMath>
                    </m:oMathPara>
                  </a14:m>
                  <a:endParaRPr lang="zh-CN" altLang="en-US" dirty="0"/>
                </a:p>
              </p:txBody>
            </p:sp>
          </mc:Choice>
          <mc:Fallback xmlns="">
            <p:sp>
              <p:nvSpPr>
                <p:cNvPr id="48" name="文本框 47">
                  <a:extLst>
                    <a:ext uri="{FF2B5EF4-FFF2-40B4-BE49-F238E27FC236}">
                      <a16:creationId xmlns:a16="http://schemas.microsoft.com/office/drawing/2014/main" id="{EAD8F689-2B53-4363-B303-E9621DA709CB}"/>
                    </a:ext>
                  </a:extLst>
                </p:cNvPr>
                <p:cNvSpPr txBox="1">
                  <a:spLocks noRot="1" noChangeAspect="1" noMove="1" noResize="1" noEditPoints="1" noAdjustHandles="1" noChangeArrowheads="1" noChangeShapeType="1" noTextEdit="1"/>
                </p:cNvSpPr>
                <p:nvPr/>
              </p:nvSpPr>
              <p:spPr>
                <a:xfrm>
                  <a:off x="6311144" y="1903039"/>
                  <a:ext cx="477823" cy="36933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811B216F-6212-4E07-8079-F45C2BA51D93}"/>
                    </a:ext>
                  </a:extLst>
                </p:cNvPr>
                <p:cNvSpPr txBox="1"/>
                <p:nvPr/>
              </p:nvSpPr>
              <p:spPr>
                <a:xfrm>
                  <a:off x="7925346" y="1897782"/>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oMath>
                    </m:oMathPara>
                  </a14:m>
                  <a:endParaRPr lang="zh-CN" altLang="en-US" dirty="0"/>
                </a:p>
              </p:txBody>
            </p:sp>
          </mc:Choice>
          <mc:Fallback xmlns="">
            <p:sp>
              <p:nvSpPr>
                <p:cNvPr id="92" name="文本框 91">
                  <a:extLst>
                    <a:ext uri="{FF2B5EF4-FFF2-40B4-BE49-F238E27FC236}">
                      <a16:creationId xmlns:a16="http://schemas.microsoft.com/office/drawing/2014/main" id="{811B216F-6212-4E07-8079-F45C2BA51D93}"/>
                    </a:ext>
                  </a:extLst>
                </p:cNvPr>
                <p:cNvSpPr txBox="1">
                  <a:spLocks noRot="1" noChangeAspect="1" noMove="1" noResize="1" noEditPoints="1" noAdjustHandles="1" noChangeArrowheads="1" noChangeShapeType="1" noTextEdit="1"/>
                </p:cNvSpPr>
                <p:nvPr/>
              </p:nvSpPr>
              <p:spPr>
                <a:xfrm>
                  <a:off x="7925346" y="1897782"/>
                  <a:ext cx="477823" cy="369332"/>
                </a:xfrm>
                <a:prstGeom prst="rect">
                  <a:avLst/>
                </a:prstGeom>
                <a:blipFill>
                  <a:blip r:embed="rId21"/>
                  <a:stretch>
                    <a:fillRect/>
                  </a:stretch>
                </a:blipFill>
              </p:spPr>
              <p:txBody>
                <a:bodyPr/>
                <a:lstStyle/>
                <a:p>
                  <a:r>
                    <a:rPr lang="zh-CN" altLang="en-US">
                      <a:noFill/>
                    </a:rPr>
                    <a:t> </a:t>
                  </a:r>
                </a:p>
              </p:txBody>
            </p:sp>
          </mc:Fallback>
        </mc:AlternateContent>
        <p:cxnSp>
          <p:nvCxnSpPr>
            <p:cNvPr id="93" name="直接箭头连接符 92">
              <a:extLst>
                <a:ext uri="{FF2B5EF4-FFF2-40B4-BE49-F238E27FC236}">
                  <a16:creationId xmlns:a16="http://schemas.microsoft.com/office/drawing/2014/main" id="{4F24DE91-02F2-4CD8-9A3B-26FE7792ADF9}"/>
                </a:ext>
              </a:extLst>
            </p:cNvPr>
            <p:cNvCxnSpPr>
              <a:stCxn id="91" idx="2"/>
              <a:endCxn id="92" idx="0"/>
            </p:cNvCxnSpPr>
            <p:nvPr/>
          </p:nvCxnSpPr>
          <p:spPr>
            <a:xfrm flipH="1">
              <a:off x="8164258" y="1655331"/>
              <a:ext cx="34688" cy="242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CEF75ED4-0DC7-40D8-94D2-2DB8C0D660DC}"/>
                </a:ext>
              </a:extLst>
            </p:cNvPr>
            <p:cNvCxnSpPr>
              <a:cxnSpLocks/>
              <a:stCxn id="91" idx="2"/>
              <a:endCxn id="115" idx="0"/>
            </p:cNvCxnSpPr>
            <p:nvPr/>
          </p:nvCxnSpPr>
          <p:spPr>
            <a:xfrm>
              <a:off x="8198946" y="1655331"/>
              <a:ext cx="1010233" cy="242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529129C4-D524-4306-B8FA-8FCE2393881B}"/>
                    </a:ext>
                  </a:extLst>
                </p:cNvPr>
                <p:cNvSpPr txBox="1"/>
                <p:nvPr/>
              </p:nvSpPr>
              <p:spPr>
                <a:xfrm>
                  <a:off x="8970267" y="1897782"/>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zh-CN" altLang="en-US" i="0">
                                <a:latin typeface="Cambria Math" panose="02040503050406030204" pitchFamily="18" charset="0"/>
                              </a:rPr>
                              <m:t>3</m:t>
                            </m:r>
                          </m:sub>
                        </m:sSub>
                      </m:oMath>
                    </m:oMathPara>
                  </a14:m>
                  <a:endParaRPr lang="zh-CN" altLang="en-US" dirty="0"/>
                </a:p>
              </p:txBody>
            </p:sp>
          </mc:Choice>
          <mc:Fallback xmlns="">
            <p:sp>
              <p:nvSpPr>
                <p:cNvPr id="115" name="文本框 114">
                  <a:extLst>
                    <a:ext uri="{FF2B5EF4-FFF2-40B4-BE49-F238E27FC236}">
                      <a16:creationId xmlns:a16="http://schemas.microsoft.com/office/drawing/2014/main" id="{529129C4-D524-4306-B8FA-8FCE2393881B}"/>
                    </a:ext>
                  </a:extLst>
                </p:cNvPr>
                <p:cNvSpPr txBox="1">
                  <a:spLocks noRot="1" noChangeAspect="1" noMove="1" noResize="1" noEditPoints="1" noAdjustHandles="1" noChangeArrowheads="1" noChangeShapeType="1" noTextEdit="1"/>
                </p:cNvSpPr>
                <p:nvPr/>
              </p:nvSpPr>
              <p:spPr>
                <a:xfrm>
                  <a:off x="8970267" y="1897782"/>
                  <a:ext cx="477823" cy="369332"/>
                </a:xfrm>
                <a:prstGeom prst="rect">
                  <a:avLst/>
                </a:prstGeom>
                <a:blipFill>
                  <a:blip r:embed="rId22"/>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3C732155-345C-43FF-BD78-098485F7C5EF}"/>
              </a:ext>
            </a:extLst>
          </p:cNvPr>
          <p:cNvGrpSpPr/>
          <p:nvPr/>
        </p:nvGrpSpPr>
        <p:grpSpPr>
          <a:xfrm>
            <a:off x="5656443" y="2418542"/>
            <a:ext cx="4181873" cy="1482484"/>
            <a:chOff x="5266223" y="2267114"/>
            <a:chExt cx="4181873" cy="1482484"/>
          </a:xfrm>
        </p:grpSpPr>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02FC1A5-E81D-4ABF-B3FE-11F17E5FF0CF}"/>
                    </a:ext>
                  </a:extLst>
                </p:cNvPr>
                <p:cNvSpPr txBox="1"/>
                <p:nvPr/>
              </p:nvSpPr>
              <p:spPr>
                <a:xfrm>
                  <a:off x="5266223" y="3380266"/>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2</m:t>
                            </m:r>
                          </m:sub>
                        </m:sSub>
                      </m:oMath>
                    </m:oMathPara>
                  </a14:m>
                  <a:endParaRPr lang="zh-CN" altLang="en-US" dirty="0"/>
                </a:p>
              </p:txBody>
            </p:sp>
          </mc:Choice>
          <mc:Fallback xmlns="">
            <p:sp>
              <p:nvSpPr>
                <p:cNvPr id="24" name="文本框 23">
                  <a:extLst>
                    <a:ext uri="{FF2B5EF4-FFF2-40B4-BE49-F238E27FC236}">
                      <a16:creationId xmlns:a16="http://schemas.microsoft.com/office/drawing/2014/main" id="{602FC1A5-E81D-4ABF-B3FE-11F17E5FF0CF}"/>
                    </a:ext>
                  </a:extLst>
                </p:cNvPr>
                <p:cNvSpPr txBox="1">
                  <a:spLocks noRot="1" noChangeAspect="1" noMove="1" noResize="1" noEditPoints="1" noAdjustHandles="1" noChangeArrowheads="1" noChangeShapeType="1" noTextEdit="1"/>
                </p:cNvSpPr>
                <p:nvPr/>
              </p:nvSpPr>
              <p:spPr>
                <a:xfrm>
                  <a:off x="5266223" y="3380266"/>
                  <a:ext cx="477823" cy="369332"/>
                </a:xfrm>
                <a:prstGeom prst="rect">
                  <a:avLst/>
                </a:prstGeom>
                <a:blipFill>
                  <a:blip r:embed="rId23"/>
                  <a:stretch>
                    <a:fillRect/>
                  </a:stretch>
                </a:blipFill>
              </p:spPr>
              <p:txBody>
                <a:bodyPr/>
                <a:lstStyle/>
                <a:p>
                  <a:r>
                    <a:rPr lang="zh-CN" altLang="en-US">
                      <a:noFill/>
                    </a:rPr>
                    <a:t> </a:t>
                  </a:r>
                </a:p>
              </p:txBody>
            </p:sp>
          </mc:Fallback>
        </mc:AlternateContent>
        <p:cxnSp>
          <p:nvCxnSpPr>
            <p:cNvPr id="35" name="直接箭头连接符 34">
              <a:extLst>
                <a:ext uri="{FF2B5EF4-FFF2-40B4-BE49-F238E27FC236}">
                  <a16:creationId xmlns:a16="http://schemas.microsoft.com/office/drawing/2014/main" id="{5FD50DFF-0BDC-4EFE-9E65-5AC02CA42A31}"/>
                </a:ext>
              </a:extLst>
            </p:cNvPr>
            <p:cNvCxnSpPr>
              <a:cxnSpLocks/>
              <a:stCxn id="21" idx="2"/>
              <a:endCxn id="24" idx="0"/>
            </p:cNvCxnSpPr>
            <p:nvPr/>
          </p:nvCxnSpPr>
          <p:spPr>
            <a:xfrm flipH="1">
              <a:off x="5505135" y="2272371"/>
              <a:ext cx="34945" cy="12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6EB2CE5F-97F1-459B-8971-D3575A321392}"/>
                    </a:ext>
                  </a:extLst>
                </p:cNvPr>
                <p:cNvSpPr txBox="1"/>
                <p:nvPr/>
              </p:nvSpPr>
              <p:spPr>
                <a:xfrm>
                  <a:off x="6311150" y="3380266"/>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2</m:t>
                            </m:r>
                          </m:sub>
                        </m:sSub>
                      </m:oMath>
                    </m:oMathPara>
                  </a14:m>
                  <a:endParaRPr lang="zh-CN" altLang="en-US" dirty="0"/>
                </a:p>
              </p:txBody>
            </p:sp>
          </mc:Choice>
          <mc:Fallback xmlns="">
            <p:sp>
              <p:nvSpPr>
                <p:cNvPr id="49" name="文本框 48">
                  <a:extLst>
                    <a:ext uri="{FF2B5EF4-FFF2-40B4-BE49-F238E27FC236}">
                      <a16:creationId xmlns:a16="http://schemas.microsoft.com/office/drawing/2014/main" id="{6EB2CE5F-97F1-459B-8971-D3575A321392}"/>
                    </a:ext>
                  </a:extLst>
                </p:cNvPr>
                <p:cNvSpPr txBox="1">
                  <a:spLocks noRot="1" noChangeAspect="1" noMove="1" noResize="1" noEditPoints="1" noAdjustHandles="1" noChangeArrowheads="1" noChangeShapeType="1" noTextEdit="1"/>
                </p:cNvSpPr>
                <p:nvPr/>
              </p:nvSpPr>
              <p:spPr>
                <a:xfrm>
                  <a:off x="6311150" y="3380266"/>
                  <a:ext cx="477823" cy="369332"/>
                </a:xfrm>
                <a:prstGeom prst="rect">
                  <a:avLst/>
                </a:prstGeom>
                <a:blipFill>
                  <a:blip r:embed="rId24"/>
                  <a:stretch>
                    <a:fillRect/>
                  </a:stretch>
                </a:blipFill>
              </p:spPr>
              <p:txBody>
                <a:bodyPr/>
                <a:lstStyle/>
                <a:p>
                  <a:r>
                    <a:rPr lang="zh-CN" altLang="en-US">
                      <a:noFill/>
                    </a:rPr>
                    <a:t> </a:t>
                  </a:r>
                </a:p>
              </p:txBody>
            </p:sp>
          </mc:Fallback>
        </mc:AlternateContent>
        <p:cxnSp>
          <p:nvCxnSpPr>
            <p:cNvPr id="60" name="直接箭头连接符 59">
              <a:extLst>
                <a:ext uri="{FF2B5EF4-FFF2-40B4-BE49-F238E27FC236}">
                  <a16:creationId xmlns:a16="http://schemas.microsoft.com/office/drawing/2014/main" id="{0E27F9F7-B7EF-4EA5-B803-1E8F30A6430A}"/>
                </a:ext>
              </a:extLst>
            </p:cNvPr>
            <p:cNvCxnSpPr>
              <a:cxnSpLocks/>
              <a:stCxn id="48" idx="2"/>
              <a:endCxn id="49" idx="0"/>
            </p:cNvCxnSpPr>
            <p:nvPr/>
          </p:nvCxnSpPr>
          <p:spPr>
            <a:xfrm flipH="1">
              <a:off x="6550062" y="2272371"/>
              <a:ext cx="34939" cy="12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8EBA92B6-6F27-42DF-A8AB-2F42DAE8CFD3}"/>
                    </a:ext>
                  </a:extLst>
                </p:cNvPr>
                <p:cNvSpPr txBox="1"/>
                <p:nvPr/>
              </p:nvSpPr>
              <p:spPr>
                <a:xfrm>
                  <a:off x="7925346" y="3375009"/>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2</m:t>
                            </m:r>
                          </m:sub>
                        </m:sSub>
                      </m:oMath>
                    </m:oMathPara>
                  </a14:m>
                  <a:endParaRPr lang="zh-CN" altLang="en-US" dirty="0"/>
                </a:p>
              </p:txBody>
            </p:sp>
          </mc:Choice>
          <mc:Fallback xmlns="">
            <p:sp>
              <p:nvSpPr>
                <p:cNvPr id="95" name="文本框 94">
                  <a:extLst>
                    <a:ext uri="{FF2B5EF4-FFF2-40B4-BE49-F238E27FC236}">
                      <a16:creationId xmlns:a16="http://schemas.microsoft.com/office/drawing/2014/main" id="{8EBA92B6-6F27-42DF-A8AB-2F42DAE8CFD3}"/>
                    </a:ext>
                  </a:extLst>
                </p:cNvPr>
                <p:cNvSpPr txBox="1">
                  <a:spLocks noRot="1" noChangeAspect="1" noMove="1" noResize="1" noEditPoints="1" noAdjustHandles="1" noChangeArrowheads="1" noChangeShapeType="1" noTextEdit="1"/>
                </p:cNvSpPr>
                <p:nvPr/>
              </p:nvSpPr>
              <p:spPr>
                <a:xfrm>
                  <a:off x="7925346" y="3375009"/>
                  <a:ext cx="477823" cy="369332"/>
                </a:xfrm>
                <a:prstGeom prst="rect">
                  <a:avLst/>
                </a:prstGeom>
                <a:blipFill>
                  <a:blip r:embed="rId25"/>
                  <a:stretch>
                    <a:fillRect/>
                  </a:stretch>
                </a:blipFill>
              </p:spPr>
              <p:txBody>
                <a:bodyPr/>
                <a:lstStyle/>
                <a:p>
                  <a:r>
                    <a:rPr lang="zh-CN" altLang="en-US">
                      <a:noFill/>
                    </a:rPr>
                    <a:t> </a:t>
                  </a:r>
                </a:p>
              </p:txBody>
            </p:sp>
          </mc:Fallback>
        </mc:AlternateContent>
        <p:cxnSp>
          <p:nvCxnSpPr>
            <p:cNvPr id="105" name="直接箭头连接符 104">
              <a:extLst>
                <a:ext uri="{FF2B5EF4-FFF2-40B4-BE49-F238E27FC236}">
                  <a16:creationId xmlns:a16="http://schemas.microsoft.com/office/drawing/2014/main" id="{A979AD59-897C-4663-AB83-AEDEEBAB1454}"/>
                </a:ext>
              </a:extLst>
            </p:cNvPr>
            <p:cNvCxnSpPr>
              <a:cxnSpLocks/>
              <a:stCxn id="92" idx="2"/>
              <a:endCxn id="95" idx="0"/>
            </p:cNvCxnSpPr>
            <p:nvPr/>
          </p:nvCxnSpPr>
          <p:spPr>
            <a:xfrm flipH="1">
              <a:off x="8164258" y="2267114"/>
              <a:ext cx="34945" cy="12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01C53004-5987-4B8E-8EAC-357E1F8801D2}"/>
                    </a:ext>
                  </a:extLst>
                </p:cNvPr>
                <p:cNvSpPr txBox="1"/>
                <p:nvPr/>
              </p:nvSpPr>
              <p:spPr>
                <a:xfrm>
                  <a:off x="8970273" y="3375009"/>
                  <a:ext cx="4778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2</m:t>
                            </m:r>
                          </m:sub>
                        </m:sSub>
                      </m:oMath>
                    </m:oMathPara>
                  </a14:m>
                  <a:endParaRPr lang="zh-CN" altLang="en-US" dirty="0"/>
                </a:p>
              </p:txBody>
            </p:sp>
          </mc:Choice>
          <mc:Fallback xmlns="">
            <p:sp>
              <p:nvSpPr>
                <p:cNvPr id="116" name="文本框 115">
                  <a:extLst>
                    <a:ext uri="{FF2B5EF4-FFF2-40B4-BE49-F238E27FC236}">
                      <a16:creationId xmlns:a16="http://schemas.microsoft.com/office/drawing/2014/main" id="{01C53004-5987-4B8E-8EAC-357E1F8801D2}"/>
                    </a:ext>
                  </a:extLst>
                </p:cNvPr>
                <p:cNvSpPr txBox="1">
                  <a:spLocks noRot="1" noChangeAspect="1" noMove="1" noResize="1" noEditPoints="1" noAdjustHandles="1" noChangeArrowheads="1" noChangeShapeType="1" noTextEdit="1"/>
                </p:cNvSpPr>
                <p:nvPr/>
              </p:nvSpPr>
              <p:spPr>
                <a:xfrm>
                  <a:off x="8970273" y="3375009"/>
                  <a:ext cx="477823" cy="369332"/>
                </a:xfrm>
                <a:prstGeom prst="rect">
                  <a:avLst/>
                </a:prstGeom>
                <a:blipFill>
                  <a:blip r:embed="rId26"/>
                  <a:stretch>
                    <a:fillRect/>
                  </a:stretch>
                </a:blipFill>
              </p:spPr>
              <p:txBody>
                <a:bodyPr/>
                <a:lstStyle/>
                <a:p>
                  <a:r>
                    <a:rPr lang="zh-CN" altLang="en-US">
                      <a:noFill/>
                    </a:rPr>
                    <a:t> </a:t>
                  </a:r>
                </a:p>
              </p:txBody>
            </p:sp>
          </mc:Fallback>
        </mc:AlternateContent>
        <p:cxnSp>
          <p:nvCxnSpPr>
            <p:cNvPr id="119" name="直接箭头连接符 118">
              <a:extLst>
                <a:ext uri="{FF2B5EF4-FFF2-40B4-BE49-F238E27FC236}">
                  <a16:creationId xmlns:a16="http://schemas.microsoft.com/office/drawing/2014/main" id="{ABFA3353-8355-4314-8D6C-4AEC966D18AF}"/>
                </a:ext>
              </a:extLst>
            </p:cNvPr>
            <p:cNvCxnSpPr>
              <a:cxnSpLocks/>
              <a:stCxn id="115" idx="2"/>
              <a:endCxn id="116" idx="0"/>
            </p:cNvCxnSpPr>
            <p:nvPr/>
          </p:nvCxnSpPr>
          <p:spPr>
            <a:xfrm flipH="1">
              <a:off x="9209185" y="2267114"/>
              <a:ext cx="34939" cy="1259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3E3D0E99-D8C6-43A6-9438-7D8203E48CB4}"/>
              </a:ext>
            </a:extLst>
          </p:cNvPr>
          <p:cNvGrpSpPr/>
          <p:nvPr/>
        </p:nvGrpSpPr>
        <p:grpSpPr>
          <a:xfrm>
            <a:off x="5656443" y="3888693"/>
            <a:ext cx="4607541" cy="750000"/>
            <a:chOff x="5266223" y="3737265"/>
            <a:chExt cx="4607541" cy="750000"/>
          </a:xfrm>
        </p:grpSpPr>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9EB0743D-E8C1-419B-ABB8-ECC130F6B2DB}"/>
                    </a:ext>
                  </a:extLst>
                </p:cNvPr>
                <p:cNvSpPr/>
                <p:nvPr/>
              </p:nvSpPr>
              <p:spPr>
                <a:xfrm>
                  <a:off x="5266223" y="4117933"/>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25" name="矩形 24">
                  <a:extLst>
                    <a:ext uri="{FF2B5EF4-FFF2-40B4-BE49-F238E27FC236}">
                      <a16:creationId xmlns:a16="http://schemas.microsoft.com/office/drawing/2014/main" id="{9EB0743D-E8C1-419B-ABB8-ECC130F6B2DB}"/>
                    </a:ext>
                  </a:extLst>
                </p:cNvPr>
                <p:cNvSpPr>
                  <a:spLocks noRot="1" noChangeAspect="1" noMove="1" noResize="1" noEditPoints="1" noAdjustHandles="1" noChangeArrowheads="1" noChangeShapeType="1" noTextEdit="1"/>
                </p:cNvSpPr>
                <p:nvPr/>
              </p:nvSpPr>
              <p:spPr>
                <a:xfrm>
                  <a:off x="5266223" y="4117933"/>
                  <a:ext cx="477823" cy="369332"/>
                </a:xfrm>
                <a:prstGeom prst="rect">
                  <a:avLst/>
                </a:prstGeom>
                <a:blipFill>
                  <a:blip r:embed="rId27"/>
                  <a:stretch>
                    <a:fillRect b="-1639"/>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755ACA1E-DD8C-4A2A-BA7D-DF190730CF8F}"/>
                </a:ext>
              </a:extLst>
            </p:cNvPr>
            <p:cNvCxnSpPr>
              <a:cxnSpLocks/>
              <a:stCxn id="24" idx="2"/>
              <a:endCxn id="25" idx="0"/>
            </p:cNvCxnSpPr>
            <p:nvPr/>
          </p:nvCxnSpPr>
          <p:spPr>
            <a:xfrm flipH="1">
              <a:off x="5505135" y="3749598"/>
              <a:ext cx="34945" cy="368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B27AF75F-06D1-4360-8D9C-6FE7FC0D0281}"/>
                    </a:ext>
                  </a:extLst>
                </p:cNvPr>
                <p:cNvSpPr/>
                <p:nvPr/>
              </p:nvSpPr>
              <p:spPr>
                <a:xfrm>
                  <a:off x="6318343" y="4115839"/>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37" name="矩形 36">
                  <a:extLst>
                    <a:ext uri="{FF2B5EF4-FFF2-40B4-BE49-F238E27FC236}">
                      <a16:creationId xmlns:a16="http://schemas.microsoft.com/office/drawing/2014/main" id="{B27AF75F-06D1-4360-8D9C-6FE7FC0D0281}"/>
                    </a:ext>
                  </a:extLst>
                </p:cNvPr>
                <p:cNvSpPr>
                  <a:spLocks noRot="1" noChangeAspect="1" noMove="1" noResize="1" noEditPoints="1" noAdjustHandles="1" noChangeArrowheads="1" noChangeShapeType="1" noTextEdit="1"/>
                </p:cNvSpPr>
                <p:nvPr/>
              </p:nvSpPr>
              <p:spPr>
                <a:xfrm>
                  <a:off x="6318343" y="4115839"/>
                  <a:ext cx="477823" cy="369332"/>
                </a:xfrm>
                <a:prstGeom prst="rect">
                  <a:avLst/>
                </a:prstGeom>
                <a:blipFill>
                  <a:blip r:embed="rId28"/>
                  <a:stretch>
                    <a:fillRect b="-1639"/>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F0CC0D6D-CB1A-43FA-BD6A-82049DB729C3}"/>
                </a:ext>
              </a:extLst>
            </p:cNvPr>
            <p:cNvCxnSpPr>
              <a:cxnSpLocks/>
            </p:cNvCxnSpPr>
            <p:nvPr/>
          </p:nvCxnSpPr>
          <p:spPr>
            <a:xfrm>
              <a:off x="5505367" y="3751290"/>
              <a:ext cx="360589" cy="369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ACD26E04-0242-454C-8A33-6F58715D4AC8}"/>
                    </a:ext>
                  </a:extLst>
                </p:cNvPr>
                <p:cNvSpPr/>
                <p:nvPr/>
              </p:nvSpPr>
              <p:spPr>
                <a:xfrm>
                  <a:off x="6736818" y="4117933"/>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50" name="矩形 49">
                  <a:extLst>
                    <a:ext uri="{FF2B5EF4-FFF2-40B4-BE49-F238E27FC236}">
                      <a16:creationId xmlns:a16="http://schemas.microsoft.com/office/drawing/2014/main" id="{ACD26E04-0242-454C-8A33-6F58715D4AC8}"/>
                    </a:ext>
                  </a:extLst>
                </p:cNvPr>
                <p:cNvSpPr>
                  <a:spLocks noRot="1" noChangeAspect="1" noMove="1" noResize="1" noEditPoints="1" noAdjustHandles="1" noChangeArrowheads="1" noChangeShapeType="1" noTextEdit="1"/>
                </p:cNvSpPr>
                <p:nvPr/>
              </p:nvSpPr>
              <p:spPr>
                <a:xfrm>
                  <a:off x="6736818" y="4117933"/>
                  <a:ext cx="477823" cy="369332"/>
                </a:xfrm>
                <a:prstGeom prst="rect">
                  <a:avLst/>
                </a:prstGeom>
                <a:blipFill>
                  <a:blip r:embed="rId29"/>
                  <a:stretch>
                    <a:fillRect b="-1639"/>
                  </a:stretch>
                </a:blipFill>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7D880809-F947-4BE5-916C-3D5458596AF5}"/>
                </a:ext>
              </a:extLst>
            </p:cNvPr>
            <p:cNvCxnSpPr>
              <a:cxnSpLocks/>
              <a:stCxn id="49" idx="2"/>
              <a:endCxn id="37" idx="0"/>
            </p:cNvCxnSpPr>
            <p:nvPr/>
          </p:nvCxnSpPr>
          <p:spPr>
            <a:xfrm flipH="1">
              <a:off x="6557255" y="3749598"/>
              <a:ext cx="27752" cy="366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AA4996BB-FB2E-421B-A90A-854FECBAD21D}"/>
                    </a:ext>
                  </a:extLst>
                </p:cNvPr>
                <p:cNvSpPr/>
                <p:nvPr/>
              </p:nvSpPr>
              <p:spPr>
                <a:xfrm>
                  <a:off x="5766683" y="4111159"/>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81" name="矩形 80">
                  <a:extLst>
                    <a:ext uri="{FF2B5EF4-FFF2-40B4-BE49-F238E27FC236}">
                      <a16:creationId xmlns:a16="http://schemas.microsoft.com/office/drawing/2014/main" id="{AA4996BB-FB2E-421B-A90A-854FECBAD21D}"/>
                    </a:ext>
                  </a:extLst>
                </p:cNvPr>
                <p:cNvSpPr>
                  <a:spLocks noRot="1" noChangeAspect="1" noMove="1" noResize="1" noEditPoints="1" noAdjustHandles="1" noChangeArrowheads="1" noChangeShapeType="1" noTextEdit="1"/>
                </p:cNvSpPr>
                <p:nvPr/>
              </p:nvSpPr>
              <p:spPr>
                <a:xfrm>
                  <a:off x="5766683" y="4111159"/>
                  <a:ext cx="477823" cy="369332"/>
                </a:xfrm>
                <a:prstGeom prst="rect">
                  <a:avLst/>
                </a:prstGeom>
                <a:blipFill>
                  <a:blip r:embed="rId30"/>
                  <a:stretch>
                    <a:fillRect b="-1639"/>
                  </a:stretch>
                </a:blipFill>
              </p:spPr>
              <p:txBody>
                <a:bodyPr/>
                <a:lstStyle/>
                <a:p>
                  <a:r>
                    <a:rPr lang="zh-CN" altLang="en-US">
                      <a:noFill/>
                    </a:rPr>
                    <a:t> </a:t>
                  </a:r>
                </a:p>
              </p:txBody>
            </p:sp>
          </mc:Fallback>
        </mc:AlternateContent>
        <p:cxnSp>
          <p:nvCxnSpPr>
            <p:cNvPr id="86" name="直接箭头连接符 85">
              <a:extLst>
                <a:ext uri="{FF2B5EF4-FFF2-40B4-BE49-F238E27FC236}">
                  <a16:creationId xmlns:a16="http://schemas.microsoft.com/office/drawing/2014/main" id="{7F006AAF-31A8-44DA-8C5E-CF72DF50EF60}"/>
                </a:ext>
              </a:extLst>
            </p:cNvPr>
            <p:cNvCxnSpPr>
              <a:cxnSpLocks/>
            </p:cNvCxnSpPr>
            <p:nvPr/>
          </p:nvCxnSpPr>
          <p:spPr>
            <a:xfrm>
              <a:off x="6540271" y="3742522"/>
              <a:ext cx="360589" cy="369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F02274CA-419C-44B4-85F1-FE632788A735}"/>
                    </a:ext>
                  </a:extLst>
                </p:cNvPr>
                <p:cNvSpPr/>
                <p:nvPr/>
              </p:nvSpPr>
              <p:spPr>
                <a:xfrm>
                  <a:off x="7925346" y="4112676"/>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96" name="矩形 95">
                  <a:extLst>
                    <a:ext uri="{FF2B5EF4-FFF2-40B4-BE49-F238E27FC236}">
                      <a16:creationId xmlns:a16="http://schemas.microsoft.com/office/drawing/2014/main" id="{F02274CA-419C-44B4-85F1-FE632788A735}"/>
                    </a:ext>
                  </a:extLst>
                </p:cNvPr>
                <p:cNvSpPr>
                  <a:spLocks noRot="1" noChangeAspect="1" noMove="1" noResize="1" noEditPoints="1" noAdjustHandles="1" noChangeArrowheads="1" noChangeShapeType="1" noTextEdit="1"/>
                </p:cNvSpPr>
                <p:nvPr/>
              </p:nvSpPr>
              <p:spPr>
                <a:xfrm>
                  <a:off x="7925346" y="4112676"/>
                  <a:ext cx="477823" cy="369332"/>
                </a:xfrm>
                <a:prstGeom prst="rect">
                  <a:avLst/>
                </a:prstGeom>
                <a:blipFill>
                  <a:blip r:embed="rId31"/>
                  <a:stretch>
                    <a:fillRect b="-1639"/>
                  </a:stretch>
                </a:blipFill>
              </p:spPr>
              <p:txBody>
                <a:bodyPr/>
                <a:lstStyle/>
                <a:p>
                  <a:r>
                    <a:rPr lang="zh-CN" altLang="en-US">
                      <a:noFill/>
                    </a:rPr>
                    <a:t> </a:t>
                  </a:r>
                </a:p>
              </p:txBody>
            </p:sp>
          </mc:Fallback>
        </mc:AlternateContent>
        <p:cxnSp>
          <p:nvCxnSpPr>
            <p:cNvPr id="104" name="直接箭头连接符 103">
              <a:extLst>
                <a:ext uri="{FF2B5EF4-FFF2-40B4-BE49-F238E27FC236}">
                  <a16:creationId xmlns:a16="http://schemas.microsoft.com/office/drawing/2014/main" id="{AD0541DD-FD33-4E1F-89E2-BB837BE6BA77}"/>
                </a:ext>
              </a:extLst>
            </p:cNvPr>
            <p:cNvCxnSpPr>
              <a:cxnSpLocks/>
              <a:stCxn id="95" idx="2"/>
              <a:endCxn id="96" idx="0"/>
            </p:cNvCxnSpPr>
            <p:nvPr/>
          </p:nvCxnSpPr>
          <p:spPr>
            <a:xfrm flipH="1">
              <a:off x="8164258" y="3744341"/>
              <a:ext cx="34945" cy="368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矩形 105">
                  <a:extLst>
                    <a:ext uri="{FF2B5EF4-FFF2-40B4-BE49-F238E27FC236}">
                      <a16:creationId xmlns:a16="http://schemas.microsoft.com/office/drawing/2014/main" id="{61B7DD79-7C08-436A-94F2-05D3B8B978CA}"/>
                    </a:ext>
                  </a:extLst>
                </p:cNvPr>
                <p:cNvSpPr/>
                <p:nvPr/>
              </p:nvSpPr>
              <p:spPr>
                <a:xfrm>
                  <a:off x="8977466" y="4110582"/>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106" name="矩形 105">
                  <a:extLst>
                    <a:ext uri="{FF2B5EF4-FFF2-40B4-BE49-F238E27FC236}">
                      <a16:creationId xmlns:a16="http://schemas.microsoft.com/office/drawing/2014/main" id="{61B7DD79-7C08-436A-94F2-05D3B8B978CA}"/>
                    </a:ext>
                  </a:extLst>
                </p:cNvPr>
                <p:cNvSpPr>
                  <a:spLocks noRot="1" noChangeAspect="1" noMove="1" noResize="1" noEditPoints="1" noAdjustHandles="1" noChangeArrowheads="1" noChangeShapeType="1" noTextEdit="1"/>
                </p:cNvSpPr>
                <p:nvPr/>
              </p:nvSpPr>
              <p:spPr>
                <a:xfrm>
                  <a:off x="8977466" y="4110582"/>
                  <a:ext cx="477823" cy="369332"/>
                </a:xfrm>
                <a:prstGeom prst="rect">
                  <a:avLst/>
                </a:prstGeom>
                <a:blipFill>
                  <a:blip r:embed="rId32"/>
                  <a:stretch>
                    <a:fillRect b="-1639"/>
                  </a:stretch>
                </a:blipFill>
              </p:spPr>
              <p:txBody>
                <a:bodyPr/>
                <a:lstStyle/>
                <a:p>
                  <a:r>
                    <a:rPr lang="zh-CN" altLang="en-US">
                      <a:noFill/>
                    </a:rPr>
                    <a:t> </a:t>
                  </a:r>
                </a:p>
              </p:txBody>
            </p:sp>
          </mc:Fallback>
        </mc:AlternateContent>
        <p:cxnSp>
          <p:nvCxnSpPr>
            <p:cNvPr id="114" name="直接箭头连接符 113">
              <a:extLst>
                <a:ext uri="{FF2B5EF4-FFF2-40B4-BE49-F238E27FC236}">
                  <a16:creationId xmlns:a16="http://schemas.microsoft.com/office/drawing/2014/main" id="{C3B85D99-29EE-489C-9794-D56DC0565756}"/>
                </a:ext>
              </a:extLst>
            </p:cNvPr>
            <p:cNvCxnSpPr>
              <a:cxnSpLocks/>
            </p:cNvCxnSpPr>
            <p:nvPr/>
          </p:nvCxnSpPr>
          <p:spPr>
            <a:xfrm>
              <a:off x="8164490" y="3746033"/>
              <a:ext cx="360589" cy="369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矩形 116">
                  <a:extLst>
                    <a:ext uri="{FF2B5EF4-FFF2-40B4-BE49-F238E27FC236}">
                      <a16:creationId xmlns:a16="http://schemas.microsoft.com/office/drawing/2014/main" id="{2CB3D8EC-355D-4596-B143-11CFF84C23BA}"/>
                    </a:ext>
                  </a:extLst>
                </p:cNvPr>
                <p:cNvSpPr/>
                <p:nvPr/>
              </p:nvSpPr>
              <p:spPr>
                <a:xfrm>
                  <a:off x="9395941" y="4112676"/>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117" name="矩形 116">
                  <a:extLst>
                    <a:ext uri="{FF2B5EF4-FFF2-40B4-BE49-F238E27FC236}">
                      <a16:creationId xmlns:a16="http://schemas.microsoft.com/office/drawing/2014/main" id="{2CB3D8EC-355D-4596-B143-11CFF84C23BA}"/>
                    </a:ext>
                  </a:extLst>
                </p:cNvPr>
                <p:cNvSpPr>
                  <a:spLocks noRot="1" noChangeAspect="1" noMove="1" noResize="1" noEditPoints="1" noAdjustHandles="1" noChangeArrowheads="1" noChangeShapeType="1" noTextEdit="1"/>
                </p:cNvSpPr>
                <p:nvPr/>
              </p:nvSpPr>
              <p:spPr>
                <a:xfrm>
                  <a:off x="9395941" y="4112676"/>
                  <a:ext cx="477823" cy="369332"/>
                </a:xfrm>
                <a:prstGeom prst="rect">
                  <a:avLst/>
                </a:prstGeom>
                <a:blipFill>
                  <a:blip r:embed="rId33"/>
                  <a:stretch>
                    <a:fillRect b="-1639"/>
                  </a:stretch>
                </a:blipFill>
              </p:spPr>
              <p:txBody>
                <a:bodyPr/>
                <a:lstStyle/>
                <a:p>
                  <a:r>
                    <a:rPr lang="zh-CN" altLang="en-US">
                      <a:noFill/>
                    </a:rPr>
                    <a:t> </a:t>
                  </a:r>
                </a:p>
              </p:txBody>
            </p:sp>
          </mc:Fallback>
        </mc:AlternateContent>
        <p:cxnSp>
          <p:nvCxnSpPr>
            <p:cNvPr id="118" name="直接箭头连接符 117">
              <a:extLst>
                <a:ext uri="{FF2B5EF4-FFF2-40B4-BE49-F238E27FC236}">
                  <a16:creationId xmlns:a16="http://schemas.microsoft.com/office/drawing/2014/main" id="{A1AB95F4-FDCE-407F-8AB9-29824C8A59E7}"/>
                </a:ext>
              </a:extLst>
            </p:cNvPr>
            <p:cNvCxnSpPr>
              <a:cxnSpLocks/>
              <a:stCxn id="116" idx="2"/>
              <a:endCxn id="106" idx="0"/>
            </p:cNvCxnSpPr>
            <p:nvPr/>
          </p:nvCxnSpPr>
          <p:spPr>
            <a:xfrm flipH="1">
              <a:off x="9216378" y="3744341"/>
              <a:ext cx="27752" cy="366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矩形 119">
                  <a:extLst>
                    <a:ext uri="{FF2B5EF4-FFF2-40B4-BE49-F238E27FC236}">
                      <a16:creationId xmlns:a16="http://schemas.microsoft.com/office/drawing/2014/main" id="{B84D2AEC-9D24-4B24-9B54-7901542FBF21}"/>
                    </a:ext>
                  </a:extLst>
                </p:cNvPr>
                <p:cNvSpPr/>
                <p:nvPr/>
              </p:nvSpPr>
              <p:spPr>
                <a:xfrm>
                  <a:off x="8425806" y="4105902"/>
                  <a:ext cx="4778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i="0">
                                <a:latin typeface="Cambria Math" panose="02040503050406030204" pitchFamily="18" charset="0"/>
                              </a:rPr>
                              <m:t>5</m:t>
                            </m:r>
                          </m:sub>
                        </m:sSub>
                      </m:oMath>
                    </m:oMathPara>
                  </a14:m>
                  <a:endParaRPr lang="zh-CN" altLang="en-US" dirty="0"/>
                </a:p>
              </p:txBody>
            </p:sp>
          </mc:Choice>
          <mc:Fallback xmlns="">
            <p:sp>
              <p:nvSpPr>
                <p:cNvPr id="120" name="矩形 119">
                  <a:extLst>
                    <a:ext uri="{FF2B5EF4-FFF2-40B4-BE49-F238E27FC236}">
                      <a16:creationId xmlns:a16="http://schemas.microsoft.com/office/drawing/2014/main" id="{B84D2AEC-9D24-4B24-9B54-7901542FBF21}"/>
                    </a:ext>
                  </a:extLst>
                </p:cNvPr>
                <p:cNvSpPr>
                  <a:spLocks noRot="1" noChangeAspect="1" noMove="1" noResize="1" noEditPoints="1" noAdjustHandles="1" noChangeArrowheads="1" noChangeShapeType="1" noTextEdit="1"/>
                </p:cNvSpPr>
                <p:nvPr/>
              </p:nvSpPr>
              <p:spPr>
                <a:xfrm>
                  <a:off x="8425806" y="4105902"/>
                  <a:ext cx="477823" cy="369332"/>
                </a:xfrm>
                <a:prstGeom prst="rect">
                  <a:avLst/>
                </a:prstGeom>
                <a:blipFill>
                  <a:blip r:embed="rId34"/>
                  <a:stretch>
                    <a:fillRect b="-1639"/>
                  </a:stretch>
                </a:blipFill>
              </p:spPr>
              <p:txBody>
                <a:bodyPr/>
                <a:lstStyle/>
                <a:p>
                  <a:r>
                    <a:rPr lang="zh-CN" altLang="en-US">
                      <a:noFill/>
                    </a:rPr>
                    <a:t> </a:t>
                  </a:r>
                </a:p>
              </p:txBody>
            </p:sp>
          </mc:Fallback>
        </mc:AlternateContent>
        <p:cxnSp>
          <p:nvCxnSpPr>
            <p:cNvPr id="121" name="直接箭头连接符 120">
              <a:extLst>
                <a:ext uri="{FF2B5EF4-FFF2-40B4-BE49-F238E27FC236}">
                  <a16:creationId xmlns:a16="http://schemas.microsoft.com/office/drawing/2014/main" id="{60FC364A-B064-4F9F-BFCB-1C6651F4B8A6}"/>
                </a:ext>
              </a:extLst>
            </p:cNvPr>
            <p:cNvCxnSpPr>
              <a:cxnSpLocks/>
            </p:cNvCxnSpPr>
            <p:nvPr/>
          </p:nvCxnSpPr>
          <p:spPr>
            <a:xfrm>
              <a:off x="9199394" y="3737265"/>
              <a:ext cx="360589" cy="369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B8AE7377-67D1-496A-B331-736B6D0DCCB6}"/>
              </a:ext>
            </a:extLst>
          </p:cNvPr>
          <p:cNvGrpSpPr/>
          <p:nvPr/>
        </p:nvGrpSpPr>
        <p:grpSpPr>
          <a:xfrm>
            <a:off x="5656508" y="4631342"/>
            <a:ext cx="4724901" cy="724151"/>
            <a:chOff x="5266288" y="4502875"/>
            <a:chExt cx="4724901" cy="724151"/>
          </a:xfrm>
        </p:grpSpPr>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0E5DD85F-7E36-4351-8D83-7BDD81764323}"/>
                    </a:ext>
                  </a:extLst>
                </p:cNvPr>
                <p:cNvSpPr/>
                <p:nvPr/>
              </p:nvSpPr>
              <p:spPr>
                <a:xfrm>
                  <a:off x="5266288" y="4857694"/>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26" name="矩形 25">
                  <a:extLst>
                    <a:ext uri="{FF2B5EF4-FFF2-40B4-BE49-F238E27FC236}">
                      <a16:creationId xmlns:a16="http://schemas.microsoft.com/office/drawing/2014/main" id="{0E5DD85F-7E36-4351-8D83-7BDD81764323}"/>
                    </a:ext>
                  </a:extLst>
                </p:cNvPr>
                <p:cNvSpPr>
                  <a:spLocks noRot="1" noChangeAspect="1" noMove="1" noResize="1" noEditPoints="1" noAdjustHandles="1" noChangeArrowheads="1" noChangeShapeType="1" noTextEdit="1"/>
                </p:cNvSpPr>
                <p:nvPr/>
              </p:nvSpPr>
              <p:spPr>
                <a:xfrm>
                  <a:off x="5266288" y="4857694"/>
                  <a:ext cx="472437" cy="369332"/>
                </a:xfrm>
                <a:prstGeom prst="rect">
                  <a:avLst/>
                </a:prstGeom>
                <a:blipFill>
                  <a:blip r:embed="rId35"/>
                  <a:stretch>
                    <a:fillRect/>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30B5C33E-6CD9-4E7C-A5CB-9DF9C0B07A8F}"/>
                </a:ext>
              </a:extLst>
            </p:cNvPr>
            <p:cNvCxnSpPr>
              <a:cxnSpLocks/>
              <a:stCxn id="25" idx="2"/>
              <a:endCxn id="26" idx="0"/>
            </p:cNvCxnSpPr>
            <p:nvPr/>
          </p:nvCxnSpPr>
          <p:spPr>
            <a:xfrm flipH="1">
              <a:off x="5502507" y="4510226"/>
              <a:ext cx="37573" cy="34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142EA394-0B78-4163-88BE-7B0C6C7B454E}"/>
                    </a:ext>
                  </a:extLst>
                </p:cNvPr>
                <p:cNvSpPr/>
                <p:nvPr/>
              </p:nvSpPr>
              <p:spPr>
                <a:xfrm>
                  <a:off x="5807509" y="4855600"/>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30" name="矩形 29">
                  <a:extLst>
                    <a:ext uri="{FF2B5EF4-FFF2-40B4-BE49-F238E27FC236}">
                      <a16:creationId xmlns:a16="http://schemas.microsoft.com/office/drawing/2014/main" id="{142EA394-0B78-4163-88BE-7B0C6C7B454E}"/>
                    </a:ext>
                  </a:extLst>
                </p:cNvPr>
                <p:cNvSpPr>
                  <a:spLocks noRot="1" noChangeAspect="1" noMove="1" noResize="1" noEditPoints="1" noAdjustHandles="1" noChangeArrowheads="1" noChangeShapeType="1" noTextEdit="1"/>
                </p:cNvSpPr>
                <p:nvPr/>
              </p:nvSpPr>
              <p:spPr>
                <a:xfrm>
                  <a:off x="5807509" y="4855600"/>
                  <a:ext cx="472437" cy="369332"/>
                </a:xfrm>
                <a:prstGeom prst="rect">
                  <a:avLst/>
                </a:prstGeom>
                <a:blipFill>
                  <a:blip r:embed="rId36"/>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E0EEC9B6-49F0-4F8B-AFC9-063505B755F6}"/>
                    </a:ext>
                  </a:extLst>
                </p:cNvPr>
                <p:cNvSpPr/>
                <p:nvPr/>
              </p:nvSpPr>
              <p:spPr>
                <a:xfrm>
                  <a:off x="6318408" y="4855600"/>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38" name="矩形 37">
                  <a:extLst>
                    <a:ext uri="{FF2B5EF4-FFF2-40B4-BE49-F238E27FC236}">
                      <a16:creationId xmlns:a16="http://schemas.microsoft.com/office/drawing/2014/main" id="{E0EEC9B6-49F0-4F8B-AFC9-063505B755F6}"/>
                    </a:ext>
                  </a:extLst>
                </p:cNvPr>
                <p:cNvSpPr>
                  <a:spLocks noRot="1" noChangeAspect="1" noMove="1" noResize="1" noEditPoints="1" noAdjustHandles="1" noChangeArrowheads="1" noChangeShapeType="1" noTextEdit="1"/>
                </p:cNvSpPr>
                <p:nvPr/>
              </p:nvSpPr>
              <p:spPr>
                <a:xfrm>
                  <a:off x="6318408" y="4855600"/>
                  <a:ext cx="472437" cy="369332"/>
                </a:xfrm>
                <a:prstGeom prst="rect">
                  <a:avLst/>
                </a:prstGeom>
                <a:blipFill>
                  <a:blip r:embed="rId37"/>
                  <a:stretch>
                    <a:fillRect b="-1667"/>
                  </a:stretch>
                </a:blipFill>
              </p:spPr>
              <p:txBody>
                <a:bodyPr/>
                <a:lstStyle/>
                <a:p>
                  <a:r>
                    <a:rPr lang="zh-CN" altLang="en-US">
                      <a:noFill/>
                    </a:rPr>
                    <a:t> </a:t>
                  </a:r>
                </a:p>
              </p:txBody>
            </p:sp>
          </mc:Fallback>
        </mc:AlternateContent>
        <p:cxnSp>
          <p:nvCxnSpPr>
            <p:cNvPr id="41" name="直接箭头连接符 40">
              <a:extLst>
                <a:ext uri="{FF2B5EF4-FFF2-40B4-BE49-F238E27FC236}">
                  <a16:creationId xmlns:a16="http://schemas.microsoft.com/office/drawing/2014/main" id="{99C6CEF6-5A1E-434A-B9E9-66091377F159}"/>
                </a:ext>
              </a:extLst>
            </p:cNvPr>
            <p:cNvCxnSpPr>
              <a:cxnSpLocks/>
              <a:stCxn id="37" idx="2"/>
              <a:endCxn id="38" idx="0"/>
            </p:cNvCxnSpPr>
            <p:nvPr/>
          </p:nvCxnSpPr>
          <p:spPr>
            <a:xfrm flipH="1">
              <a:off x="6554627" y="4508132"/>
              <a:ext cx="37573" cy="34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D8E1FD66-C583-4A26-9DAF-251B8116B5D7}"/>
                    </a:ext>
                  </a:extLst>
                </p:cNvPr>
                <p:cNvSpPr/>
                <p:nvPr/>
              </p:nvSpPr>
              <p:spPr>
                <a:xfrm>
                  <a:off x="6859629" y="4853506"/>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42" name="矩形 41">
                  <a:extLst>
                    <a:ext uri="{FF2B5EF4-FFF2-40B4-BE49-F238E27FC236}">
                      <a16:creationId xmlns:a16="http://schemas.microsoft.com/office/drawing/2014/main" id="{D8E1FD66-C583-4A26-9DAF-251B8116B5D7}"/>
                    </a:ext>
                  </a:extLst>
                </p:cNvPr>
                <p:cNvSpPr>
                  <a:spLocks noRot="1" noChangeAspect="1" noMove="1" noResize="1" noEditPoints="1" noAdjustHandles="1" noChangeArrowheads="1" noChangeShapeType="1" noTextEdit="1"/>
                </p:cNvSpPr>
                <p:nvPr/>
              </p:nvSpPr>
              <p:spPr>
                <a:xfrm>
                  <a:off x="6859629" y="4853506"/>
                  <a:ext cx="472437" cy="369332"/>
                </a:xfrm>
                <a:prstGeom prst="rect">
                  <a:avLst/>
                </a:prstGeom>
                <a:blipFill>
                  <a:blip r:embed="rId38"/>
                  <a:stretch>
                    <a:fillRect/>
                  </a:stretch>
                </a:blipFill>
              </p:spPr>
              <p:txBody>
                <a:bodyPr/>
                <a:lstStyle/>
                <a:p>
                  <a:r>
                    <a:rPr lang="zh-CN" altLang="en-US">
                      <a:noFill/>
                    </a:rPr>
                    <a:t> </a:t>
                  </a:r>
                </a:p>
              </p:txBody>
            </p:sp>
          </mc:Fallback>
        </mc:AlternateContent>
        <p:cxnSp>
          <p:nvCxnSpPr>
            <p:cNvPr id="87" name="直接箭头连接符 86">
              <a:extLst>
                <a:ext uri="{FF2B5EF4-FFF2-40B4-BE49-F238E27FC236}">
                  <a16:creationId xmlns:a16="http://schemas.microsoft.com/office/drawing/2014/main" id="{268E8EB0-3833-46DE-85C4-B2A0B9BE2692}"/>
                </a:ext>
              </a:extLst>
            </p:cNvPr>
            <p:cNvCxnSpPr>
              <a:cxnSpLocks/>
            </p:cNvCxnSpPr>
            <p:nvPr/>
          </p:nvCxnSpPr>
          <p:spPr>
            <a:xfrm>
              <a:off x="5980668" y="4510226"/>
              <a:ext cx="2628" cy="35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7A60D41D-0318-4F06-8E5E-7E365E30AEA4}"/>
                </a:ext>
              </a:extLst>
            </p:cNvPr>
            <p:cNvCxnSpPr>
              <a:cxnSpLocks/>
            </p:cNvCxnSpPr>
            <p:nvPr/>
          </p:nvCxnSpPr>
          <p:spPr>
            <a:xfrm>
              <a:off x="7032788" y="4508132"/>
              <a:ext cx="2628" cy="35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619C3C27-1D97-462E-A956-58CF232382A4}"/>
                    </a:ext>
                  </a:extLst>
                </p:cNvPr>
                <p:cNvSpPr/>
                <p:nvPr/>
              </p:nvSpPr>
              <p:spPr>
                <a:xfrm>
                  <a:off x="7925411" y="4852437"/>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97" name="矩形 96">
                  <a:extLst>
                    <a:ext uri="{FF2B5EF4-FFF2-40B4-BE49-F238E27FC236}">
                      <a16:creationId xmlns:a16="http://schemas.microsoft.com/office/drawing/2014/main" id="{619C3C27-1D97-462E-A956-58CF232382A4}"/>
                    </a:ext>
                  </a:extLst>
                </p:cNvPr>
                <p:cNvSpPr>
                  <a:spLocks noRot="1" noChangeAspect="1" noMove="1" noResize="1" noEditPoints="1" noAdjustHandles="1" noChangeArrowheads="1" noChangeShapeType="1" noTextEdit="1"/>
                </p:cNvSpPr>
                <p:nvPr/>
              </p:nvSpPr>
              <p:spPr>
                <a:xfrm>
                  <a:off x="7925411" y="4852437"/>
                  <a:ext cx="472437" cy="369332"/>
                </a:xfrm>
                <a:prstGeom prst="rect">
                  <a:avLst/>
                </a:prstGeom>
                <a:blipFill>
                  <a:blip r:embed="rId39"/>
                  <a:stretch>
                    <a:fillRect/>
                  </a:stretch>
                </a:blipFill>
              </p:spPr>
              <p:txBody>
                <a:bodyPr/>
                <a:lstStyle/>
                <a:p>
                  <a:r>
                    <a:rPr lang="zh-CN" altLang="en-US">
                      <a:noFill/>
                    </a:rPr>
                    <a:t> </a:t>
                  </a:r>
                </a:p>
              </p:txBody>
            </p:sp>
          </mc:Fallback>
        </mc:AlternateContent>
        <p:cxnSp>
          <p:nvCxnSpPr>
            <p:cNvPr id="100" name="直接箭头连接符 99">
              <a:extLst>
                <a:ext uri="{FF2B5EF4-FFF2-40B4-BE49-F238E27FC236}">
                  <a16:creationId xmlns:a16="http://schemas.microsoft.com/office/drawing/2014/main" id="{78AB6DFC-186F-418E-9BDF-3C5CAA489856}"/>
                </a:ext>
              </a:extLst>
            </p:cNvPr>
            <p:cNvCxnSpPr>
              <a:cxnSpLocks/>
              <a:stCxn id="96" idx="2"/>
              <a:endCxn id="97" idx="0"/>
            </p:cNvCxnSpPr>
            <p:nvPr/>
          </p:nvCxnSpPr>
          <p:spPr>
            <a:xfrm flipH="1">
              <a:off x="8161630" y="4504969"/>
              <a:ext cx="37573" cy="34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矩形 100">
                  <a:extLst>
                    <a:ext uri="{FF2B5EF4-FFF2-40B4-BE49-F238E27FC236}">
                      <a16:creationId xmlns:a16="http://schemas.microsoft.com/office/drawing/2014/main" id="{48386CD4-81DA-49D9-ACC8-6965454A793E}"/>
                    </a:ext>
                  </a:extLst>
                </p:cNvPr>
                <p:cNvSpPr/>
                <p:nvPr/>
              </p:nvSpPr>
              <p:spPr>
                <a:xfrm>
                  <a:off x="8466632" y="4850343"/>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101" name="矩形 100">
                  <a:extLst>
                    <a:ext uri="{FF2B5EF4-FFF2-40B4-BE49-F238E27FC236}">
                      <a16:creationId xmlns:a16="http://schemas.microsoft.com/office/drawing/2014/main" id="{48386CD4-81DA-49D9-ACC8-6965454A793E}"/>
                    </a:ext>
                  </a:extLst>
                </p:cNvPr>
                <p:cNvSpPr>
                  <a:spLocks noRot="1" noChangeAspect="1" noMove="1" noResize="1" noEditPoints="1" noAdjustHandles="1" noChangeArrowheads="1" noChangeShapeType="1" noTextEdit="1"/>
                </p:cNvSpPr>
                <p:nvPr/>
              </p:nvSpPr>
              <p:spPr>
                <a:xfrm>
                  <a:off x="8466632" y="4850343"/>
                  <a:ext cx="472437" cy="369332"/>
                </a:xfrm>
                <a:prstGeom prst="rect">
                  <a:avLst/>
                </a:prstGeom>
                <a:blipFill>
                  <a:blip r:embed="rId40"/>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矩形 106">
                  <a:extLst>
                    <a:ext uri="{FF2B5EF4-FFF2-40B4-BE49-F238E27FC236}">
                      <a16:creationId xmlns:a16="http://schemas.microsoft.com/office/drawing/2014/main" id="{A57099F2-5E5E-4DD0-964D-88A332BBDDCD}"/>
                    </a:ext>
                  </a:extLst>
                </p:cNvPr>
                <p:cNvSpPr/>
                <p:nvPr/>
              </p:nvSpPr>
              <p:spPr>
                <a:xfrm>
                  <a:off x="8977531" y="4850343"/>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107" name="矩形 106">
                  <a:extLst>
                    <a:ext uri="{FF2B5EF4-FFF2-40B4-BE49-F238E27FC236}">
                      <a16:creationId xmlns:a16="http://schemas.microsoft.com/office/drawing/2014/main" id="{A57099F2-5E5E-4DD0-964D-88A332BBDDCD}"/>
                    </a:ext>
                  </a:extLst>
                </p:cNvPr>
                <p:cNvSpPr>
                  <a:spLocks noRot="1" noChangeAspect="1" noMove="1" noResize="1" noEditPoints="1" noAdjustHandles="1" noChangeArrowheads="1" noChangeShapeType="1" noTextEdit="1"/>
                </p:cNvSpPr>
                <p:nvPr/>
              </p:nvSpPr>
              <p:spPr>
                <a:xfrm>
                  <a:off x="8977531" y="4850343"/>
                  <a:ext cx="472437" cy="369332"/>
                </a:xfrm>
                <a:prstGeom prst="rect">
                  <a:avLst/>
                </a:prstGeom>
                <a:blipFill>
                  <a:blip r:embed="rId41"/>
                  <a:stretch>
                    <a:fillRect b="-1667"/>
                  </a:stretch>
                </a:blipFill>
              </p:spPr>
              <p:txBody>
                <a:bodyPr/>
                <a:lstStyle/>
                <a:p>
                  <a:r>
                    <a:rPr lang="zh-CN" altLang="en-US">
                      <a:noFill/>
                    </a:rPr>
                    <a:t> </a:t>
                  </a:r>
                </a:p>
              </p:txBody>
            </p:sp>
          </mc:Fallback>
        </mc:AlternateContent>
        <p:cxnSp>
          <p:nvCxnSpPr>
            <p:cNvPr id="110" name="直接箭头连接符 109">
              <a:extLst>
                <a:ext uri="{FF2B5EF4-FFF2-40B4-BE49-F238E27FC236}">
                  <a16:creationId xmlns:a16="http://schemas.microsoft.com/office/drawing/2014/main" id="{9871DD15-CF2D-489B-9FC6-A8C1B40539BA}"/>
                </a:ext>
              </a:extLst>
            </p:cNvPr>
            <p:cNvCxnSpPr>
              <a:cxnSpLocks/>
              <a:stCxn id="106" idx="2"/>
              <a:endCxn id="107" idx="0"/>
            </p:cNvCxnSpPr>
            <p:nvPr/>
          </p:nvCxnSpPr>
          <p:spPr>
            <a:xfrm flipH="1">
              <a:off x="9213750" y="4502875"/>
              <a:ext cx="37573" cy="347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 name="矩形 110">
                  <a:extLst>
                    <a:ext uri="{FF2B5EF4-FFF2-40B4-BE49-F238E27FC236}">
                      <a16:creationId xmlns:a16="http://schemas.microsoft.com/office/drawing/2014/main" id="{6D95D0BC-FAAF-48DD-9369-A876970B1EA0}"/>
                    </a:ext>
                  </a:extLst>
                </p:cNvPr>
                <p:cNvSpPr/>
                <p:nvPr/>
              </p:nvSpPr>
              <p:spPr>
                <a:xfrm>
                  <a:off x="9518752" y="4848249"/>
                  <a:ext cx="4724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𝜃</m:t>
                            </m:r>
                          </m:e>
                          <m:sub>
                            <m:r>
                              <a:rPr lang="en-US" altLang="zh-CN">
                                <a:latin typeface="Cambria Math" panose="02040503050406030204" pitchFamily="18" charset="0"/>
                              </a:rPr>
                              <m:t>4</m:t>
                            </m:r>
                          </m:sub>
                        </m:sSub>
                      </m:oMath>
                    </m:oMathPara>
                  </a14:m>
                  <a:endParaRPr lang="zh-CN" altLang="en-US" dirty="0"/>
                </a:p>
              </p:txBody>
            </p:sp>
          </mc:Choice>
          <mc:Fallback xmlns="">
            <p:sp>
              <p:nvSpPr>
                <p:cNvPr id="111" name="矩形 110">
                  <a:extLst>
                    <a:ext uri="{FF2B5EF4-FFF2-40B4-BE49-F238E27FC236}">
                      <a16:creationId xmlns:a16="http://schemas.microsoft.com/office/drawing/2014/main" id="{6D95D0BC-FAAF-48DD-9369-A876970B1EA0}"/>
                    </a:ext>
                  </a:extLst>
                </p:cNvPr>
                <p:cNvSpPr>
                  <a:spLocks noRot="1" noChangeAspect="1" noMove="1" noResize="1" noEditPoints="1" noAdjustHandles="1" noChangeArrowheads="1" noChangeShapeType="1" noTextEdit="1"/>
                </p:cNvSpPr>
                <p:nvPr/>
              </p:nvSpPr>
              <p:spPr>
                <a:xfrm>
                  <a:off x="9518752" y="4848249"/>
                  <a:ext cx="472437" cy="369332"/>
                </a:xfrm>
                <a:prstGeom prst="rect">
                  <a:avLst/>
                </a:prstGeom>
                <a:blipFill>
                  <a:blip r:embed="rId42"/>
                  <a:stretch>
                    <a:fillRect/>
                  </a:stretch>
                </a:blipFill>
              </p:spPr>
              <p:txBody>
                <a:bodyPr/>
                <a:lstStyle/>
                <a:p>
                  <a:r>
                    <a:rPr lang="zh-CN" altLang="en-US">
                      <a:noFill/>
                    </a:rPr>
                    <a:t> </a:t>
                  </a:r>
                </a:p>
              </p:txBody>
            </p:sp>
          </mc:Fallback>
        </mc:AlternateContent>
        <p:cxnSp>
          <p:nvCxnSpPr>
            <p:cNvPr id="122" name="直接箭头连接符 121">
              <a:extLst>
                <a:ext uri="{FF2B5EF4-FFF2-40B4-BE49-F238E27FC236}">
                  <a16:creationId xmlns:a16="http://schemas.microsoft.com/office/drawing/2014/main" id="{226E2A3A-A38B-40A6-9188-24D32820901D}"/>
                </a:ext>
              </a:extLst>
            </p:cNvPr>
            <p:cNvCxnSpPr>
              <a:cxnSpLocks/>
            </p:cNvCxnSpPr>
            <p:nvPr/>
          </p:nvCxnSpPr>
          <p:spPr>
            <a:xfrm>
              <a:off x="8639791" y="4504969"/>
              <a:ext cx="2628" cy="35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直接箭头连接符 122">
              <a:extLst>
                <a:ext uri="{FF2B5EF4-FFF2-40B4-BE49-F238E27FC236}">
                  <a16:creationId xmlns:a16="http://schemas.microsoft.com/office/drawing/2014/main" id="{2DA25B6B-7C00-4DC1-9B79-3E7425E23FBE}"/>
                </a:ext>
              </a:extLst>
            </p:cNvPr>
            <p:cNvCxnSpPr>
              <a:cxnSpLocks/>
            </p:cNvCxnSpPr>
            <p:nvPr/>
          </p:nvCxnSpPr>
          <p:spPr>
            <a:xfrm>
              <a:off x="9691911" y="4502875"/>
              <a:ext cx="2628" cy="355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9" name="文本框 88">
            <a:extLst>
              <a:ext uri="{FF2B5EF4-FFF2-40B4-BE49-F238E27FC236}">
                <a16:creationId xmlns:a16="http://schemas.microsoft.com/office/drawing/2014/main" id="{61F88257-3BE9-45DA-84A5-D26CA7097050}"/>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96455997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500" fill="hold"/>
                                        <p:tgtEl>
                                          <p:spTgt spid="33"/>
                                        </p:tgtEl>
                                        <p:attrNameLst>
                                          <p:attrName>ppt_x</p:attrName>
                                        </p:attrNameLst>
                                      </p:cBhvr>
                                      <p:tavLst>
                                        <p:tav tm="0">
                                          <p:val>
                                            <p:strVal val="#ppt_x"/>
                                          </p:val>
                                        </p:tav>
                                        <p:tav tm="100000">
                                          <p:val>
                                            <p:strVal val="#ppt_x"/>
                                          </p:val>
                                        </p:tav>
                                      </p:tavLst>
                                    </p:anim>
                                    <p:anim calcmode="lin" valueType="num">
                                      <p:cBhvr additive="base">
                                        <p:cTn id="2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500" fill="hold"/>
                                        <p:tgtEl>
                                          <p:spTgt spid="36"/>
                                        </p:tgtEl>
                                        <p:attrNameLst>
                                          <p:attrName>ppt_x</p:attrName>
                                        </p:attrNameLst>
                                      </p:cBhvr>
                                      <p:tavLst>
                                        <p:tav tm="0">
                                          <p:val>
                                            <p:strVal val="#ppt_x"/>
                                          </p:val>
                                        </p:tav>
                                        <p:tav tm="100000">
                                          <p:val>
                                            <p:strVal val="#ppt_x"/>
                                          </p:val>
                                        </p:tav>
                                      </p:tavLst>
                                    </p:anim>
                                    <p:anim calcmode="lin" valueType="num">
                                      <p:cBhvr additive="base">
                                        <p:cTn id="3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anim calcmode="lin" valueType="num">
                                      <p:cBhvr additive="base">
                                        <p:cTn id="37" dur="500" fill="hold"/>
                                        <p:tgtEl>
                                          <p:spTgt spid="45"/>
                                        </p:tgtEl>
                                        <p:attrNameLst>
                                          <p:attrName>ppt_x</p:attrName>
                                        </p:attrNameLst>
                                      </p:cBhvr>
                                      <p:tavLst>
                                        <p:tav tm="0">
                                          <p:val>
                                            <p:strVal val="#ppt_x"/>
                                          </p:val>
                                        </p:tav>
                                        <p:tav tm="100000">
                                          <p:val>
                                            <p:strVal val="#ppt_x"/>
                                          </p:val>
                                        </p:tav>
                                      </p:tavLst>
                                    </p:anim>
                                    <p:anim calcmode="lin" valueType="num">
                                      <p:cBhvr additive="base">
                                        <p:cTn id="3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7"/>
                                        </p:tgtEl>
                                        <p:attrNameLst>
                                          <p:attrName>style.visibility</p:attrName>
                                        </p:attrNameLst>
                                      </p:cBhvr>
                                      <p:to>
                                        <p:strVal val="visible"/>
                                      </p:to>
                                    </p:set>
                                    <p:anim calcmode="lin" valueType="num">
                                      <p:cBhvr additive="base">
                                        <p:cTn id="43" dur="500" fill="hold"/>
                                        <p:tgtEl>
                                          <p:spTgt spid="77"/>
                                        </p:tgtEl>
                                        <p:attrNameLst>
                                          <p:attrName>ppt_x</p:attrName>
                                        </p:attrNameLst>
                                      </p:cBhvr>
                                      <p:tavLst>
                                        <p:tav tm="0">
                                          <p:val>
                                            <p:strVal val="#ppt_x"/>
                                          </p:val>
                                        </p:tav>
                                        <p:tav tm="100000">
                                          <p:val>
                                            <p:strVal val="#ppt_x"/>
                                          </p:val>
                                        </p:tav>
                                      </p:tavLst>
                                    </p:anim>
                                    <p:anim calcmode="lin" valueType="num">
                                      <p:cBhvr additive="base">
                                        <p:cTn id="44"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3020ECD-08B4-43E1-BB84-D1B46223A457}"/>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16</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5" name="矩形: 圆角 4">
                <a:extLst>
                  <a:ext uri="{FF2B5EF4-FFF2-40B4-BE49-F238E27FC236}">
                    <a16:creationId xmlns:a16="http://schemas.microsoft.com/office/drawing/2014/main" id="{A32E2B45-3122-47DD-A0BE-173264489225}"/>
                  </a:ext>
                </a:extLst>
              </p:cNvPr>
              <p:cNvSpPr/>
              <p:nvPr/>
            </p:nvSpPr>
            <p:spPr>
              <a:xfrm>
                <a:off x="1358297" y="920928"/>
                <a:ext cx="5244821" cy="53889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r>
                      <a:rPr lang="en-US" altLang="zh-CN" sz="200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𝜙</m:t>
                    </m:r>
                    <m:r>
                      <a:rPr lang="en-US" altLang="zh-CN" sz="200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arcsin</m:t>
                    </m:r>
                    <m:f>
                      <m:fPr>
                        <m:ctrlPr>
                          <a:rPr lang="en-US" altLang="zh-CN" sz="2000" i="1">
                            <a:solidFill>
                              <a:schemeClr val="tx1"/>
                            </a:solidFill>
                            <a:latin typeface="Cambria Math" panose="02040503050406030204" pitchFamily="18" charset="0"/>
                          </a:rPr>
                        </m:ctrlPr>
                      </m:fPr>
                      <m:num>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𝐿</m:t>
                            </m:r>
                          </m:e>
                          <m:sub>
                            <m:r>
                              <a:rPr lang="zh-CN" altLang="en-US" sz="2000" i="0">
                                <a:solidFill>
                                  <a:schemeClr val="tx1"/>
                                </a:solidFill>
                                <a:latin typeface="Cambria Math" panose="02040503050406030204" pitchFamily="18" charset="0"/>
                              </a:rPr>
                              <m:t>3</m:t>
                            </m:r>
                          </m:sub>
                        </m:sSub>
                      </m:num>
                      <m:den>
                        <m:r>
                          <a:rPr lang="en-US" altLang="zh-CN" sz="2000">
                            <a:solidFill>
                              <a:schemeClr val="tx1"/>
                            </a:solidFill>
                            <a:latin typeface="Cambria Math" panose="02040503050406030204" pitchFamily="18" charset="0"/>
                          </a:rPr>
                          <m:t>𝜌</m:t>
                        </m:r>
                      </m:den>
                    </m:f>
                  </m:oMath>
                </a14:m>
                <a:r>
                  <a:rPr lang="zh-CN" altLang="en-US" sz="2000" dirty="0">
                    <a:ln>
                      <a:solidFill>
                        <a:srgbClr val="FFFF00"/>
                      </a:solidFill>
                    </a:ln>
                    <a:solidFill>
                      <a:schemeClr val="tx1"/>
                    </a:solidFill>
                  </a:rPr>
                  <a:t> </a:t>
                </a:r>
                <a:r>
                  <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rPr>
                  <a:t>或 </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r>
                      <a:rPr lang="en-US" altLang="zh-CN" sz="200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𝜙</m:t>
                    </m:r>
                    <m:r>
                      <a:rPr lang="en-US" altLang="zh-CN" sz="2000" b="0" i="0" smtClean="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arcsin</m:t>
                    </m:r>
                    <m:f>
                      <m:fPr>
                        <m:ctrlPr>
                          <a:rPr lang="en-US" altLang="zh-CN" sz="2000" i="1">
                            <a:solidFill>
                              <a:schemeClr val="tx1"/>
                            </a:solidFill>
                            <a:latin typeface="Cambria Math" panose="02040503050406030204" pitchFamily="18" charset="0"/>
                          </a:rPr>
                        </m:ctrlPr>
                      </m:fPr>
                      <m:num>
                        <m:sSub>
                          <m:sSubPr>
                            <m:ctrlPr>
                              <a:rPr lang="zh-CN" altLang="en-US" sz="2000" i="1">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𝐿</m:t>
                            </m:r>
                          </m:e>
                          <m:sub>
                            <m:r>
                              <a:rPr lang="zh-CN" altLang="en-US" sz="2000" i="0">
                                <a:solidFill>
                                  <a:schemeClr val="tx1"/>
                                </a:solidFill>
                                <a:latin typeface="Cambria Math" panose="02040503050406030204" pitchFamily="18" charset="0"/>
                              </a:rPr>
                              <m:t>3</m:t>
                            </m:r>
                          </m:sub>
                        </m:sSub>
                      </m:num>
                      <m:den>
                        <m:r>
                          <a:rPr lang="en-US" altLang="zh-CN" sz="2000">
                            <a:solidFill>
                              <a:schemeClr val="tx1"/>
                            </a:solidFill>
                            <a:latin typeface="Cambria Math" panose="02040503050406030204" pitchFamily="18" charset="0"/>
                          </a:rPr>
                          <m:t>𝜌</m:t>
                        </m:r>
                      </m:den>
                    </m:f>
                    <m:r>
                      <a:rPr lang="en-US" altLang="zh-CN" sz="2000" b="0" i="1" smtClean="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𝜋</m:t>
                    </m:r>
                  </m:oMath>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5" name="矩形: 圆角 4">
                <a:extLst>
                  <a:ext uri="{FF2B5EF4-FFF2-40B4-BE49-F238E27FC236}">
                    <a16:creationId xmlns:a16="http://schemas.microsoft.com/office/drawing/2014/main" id="{A32E2B45-3122-47DD-A0BE-173264489225}"/>
                  </a:ext>
                </a:extLst>
              </p:cNvPr>
              <p:cNvSpPr>
                <a:spLocks noRot="1" noChangeAspect="1" noMove="1" noResize="1" noEditPoints="1" noAdjustHandles="1" noChangeArrowheads="1" noChangeShapeType="1" noTextEdit="1"/>
              </p:cNvSpPr>
              <p:nvPr/>
            </p:nvSpPr>
            <p:spPr>
              <a:xfrm>
                <a:off x="1358297" y="920928"/>
                <a:ext cx="5244821" cy="538898"/>
              </a:xfrm>
              <a:prstGeom prst="roundRect">
                <a:avLst/>
              </a:prstGeom>
              <a:blipFill>
                <a:blip r:embed="rId4"/>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7384864-9128-4A56-8EF7-380C1AD02D1A}"/>
                  </a:ext>
                </a:extLst>
              </p:cNvPr>
              <p:cNvSpPr txBox="1"/>
              <p:nvPr/>
            </p:nvSpPr>
            <p:spPr>
              <a:xfrm>
                <a:off x="7573891" y="789549"/>
                <a:ext cx="1881352" cy="71865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smtClean="0">
                          <a:latin typeface="Cambria Math" panose="02040503050406030204" pitchFamily="18" charset="0"/>
                        </a:rPr>
                        <m:t>𝜌</m:t>
                      </m:r>
                      <m:r>
                        <a:rPr lang="en-US" altLang="zh-CN" sz="2000" b="0" i="1" smtClean="0">
                          <a:latin typeface="Cambria Math" panose="02040503050406030204" pitchFamily="18" charset="0"/>
                        </a:rPr>
                        <m:t>=</m:t>
                      </m:r>
                      <m:rad>
                        <m:radPr>
                          <m:degHide m:val="on"/>
                          <m:ctrlPr>
                            <a:rPr lang="en-US" altLang="zh-CN" sz="2000" b="0" i="1" smtClean="0">
                              <a:latin typeface="Cambria Math" panose="02040503050406030204" pitchFamily="18" charset="0"/>
                            </a:rPr>
                          </m:ctrlPr>
                        </m:radPr>
                        <m:deg/>
                        <m:e>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up>
                              <m:r>
                                <a:rPr lang="en-US" altLang="zh-CN" sz="2000">
                                  <a:latin typeface="Cambria Math" panose="02040503050406030204" pitchFamily="18" charset="0"/>
                                </a:rPr>
                                <m:t>2</m:t>
                              </m:r>
                            </m:sup>
                          </m:sSubSup>
                          <m:r>
                            <a:rPr lang="en-US" altLang="zh-CN" sz="2000"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up>
                              <m:r>
                                <a:rPr lang="en-US" altLang="zh-CN" sz="2000" b="0" i="1" smtClean="0">
                                  <a:latin typeface="Cambria Math" panose="02040503050406030204" pitchFamily="18" charset="0"/>
                                </a:rPr>
                                <m:t>2</m:t>
                              </m:r>
                            </m:sup>
                          </m:sSubSup>
                        </m:e>
                      </m:rad>
                    </m:oMath>
                  </m:oMathPara>
                </a14:m>
                <a:endParaRPr lang="zh-CN" altLang="en-US" sz="2000" dirty="0"/>
              </a:p>
            </p:txBody>
          </p:sp>
        </mc:Choice>
        <mc:Fallback xmlns="">
          <p:sp>
            <p:nvSpPr>
              <p:cNvPr id="7" name="文本框 6">
                <a:extLst>
                  <a:ext uri="{FF2B5EF4-FFF2-40B4-BE49-F238E27FC236}">
                    <a16:creationId xmlns:a16="http://schemas.microsoft.com/office/drawing/2014/main" id="{F7384864-9128-4A56-8EF7-380C1AD02D1A}"/>
                  </a:ext>
                </a:extLst>
              </p:cNvPr>
              <p:cNvSpPr txBox="1">
                <a:spLocks noRot="1" noChangeAspect="1" noMove="1" noResize="1" noEditPoints="1" noAdjustHandles="1" noChangeArrowheads="1" noChangeShapeType="1" noTextEdit="1"/>
              </p:cNvSpPr>
              <p:nvPr/>
            </p:nvSpPr>
            <p:spPr>
              <a:xfrm>
                <a:off x="7573891" y="789549"/>
                <a:ext cx="1881352" cy="718658"/>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942E35EF-7B32-465E-B772-D9B2BC664464}"/>
              </a:ext>
            </a:extLst>
          </p:cNvPr>
          <p:cNvSpPr txBox="1"/>
          <p:nvPr/>
        </p:nvSpPr>
        <p:spPr>
          <a:xfrm>
            <a:off x="587222" y="990322"/>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因为</a:t>
            </a:r>
          </a:p>
        </p:txBody>
      </p:sp>
      <p:sp>
        <p:nvSpPr>
          <p:cNvPr id="9" name="文本框 8">
            <a:extLst>
              <a:ext uri="{FF2B5EF4-FFF2-40B4-BE49-F238E27FC236}">
                <a16:creationId xmlns:a16="http://schemas.microsoft.com/office/drawing/2014/main" id="{BC360C51-473E-4DA1-9E9B-63D3E221EB58}"/>
              </a:ext>
            </a:extLst>
          </p:cNvPr>
          <p:cNvSpPr txBox="1"/>
          <p:nvPr/>
        </p:nvSpPr>
        <p:spPr>
          <a:xfrm>
            <a:off x="6720008" y="990322"/>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，这里</a:t>
            </a:r>
          </a:p>
        </p:txBody>
      </p:sp>
      <p:grpSp>
        <p:nvGrpSpPr>
          <p:cNvPr id="4" name="组合 3">
            <a:extLst>
              <a:ext uri="{FF2B5EF4-FFF2-40B4-BE49-F238E27FC236}">
                <a16:creationId xmlns:a16="http://schemas.microsoft.com/office/drawing/2014/main" id="{679C1B7C-C80C-4EF3-AA7F-2FB84D16EB33}"/>
              </a:ext>
            </a:extLst>
          </p:cNvPr>
          <p:cNvGrpSpPr/>
          <p:nvPr/>
        </p:nvGrpSpPr>
        <p:grpSpPr>
          <a:xfrm>
            <a:off x="587222" y="1803059"/>
            <a:ext cx="6780126" cy="400110"/>
            <a:chOff x="587222" y="1803059"/>
            <a:chExt cx="6780126" cy="400110"/>
          </a:xfrm>
        </p:grpSpPr>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E6993ABB-D09E-4326-B023-268F44FB0EBA}"/>
                    </a:ext>
                  </a:extLst>
                </p:cNvPr>
                <p:cNvSpPr/>
                <p:nvPr/>
              </p:nvSpPr>
              <p:spPr>
                <a:xfrm>
                  <a:off x="587222" y="1833837"/>
                  <a:ext cx="1473417" cy="36933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none">
                  <a:spAutoFit/>
                </a:bodyPr>
                <a:lstStyle/>
                <a:p>
                  <a:r>
                    <a:rPr lang="en-US" altLang="zh-CN" b="1" i="0" dirty="0">
                      <a:solidFill>
                        <a:srgbClr val="FF0000"/>
                      </a:solidFill>
                      <a:latin typeface="微软雅黑" panose="020B0503020204020204" pitchFamily="34" charset="-122"/>
                      <a:ea typeface="微软雅黑" panose="020B0503020204020204" pitchFamily="34" charset="-122"/>
                    </a:rPr>
                    <a:t>1</a:t>
                  </a:r>
                  <a:r>
                    <a:rPr lang="zh-CN" altLang="en-US" b="1" i="0" dirty="0">
                      <a:solidFill>
                        <a:srgbClr val="FF0000"/>
                      </a:solidFill>
                      <a:latin typeface="微软雅黑" panose="020B0503020204020204" pitchFamily="34" charset="-122"/>
                      <a:ea typeface="微软雅黑" panose="020B0503020204020204" pitchFamily="34" charset="-122"/>
                    </a:rPr>
                    <a:t>）若</a:t>
                  </a:r>
                  <a14:m>
                    <m:oMath xmlns:m="http://schemas.openxmlformats.org/officeDocument/2006/math">
                      <m:r>
                        <a:rPr lang="en-US" altLang="zh-CN" b="1" i="1" smtClean="0">
                          <a:solidFill>
                            <a:srgbClr val="FF0000"/>
                          </a:solidFill>
                          <a:latin typeface="Cambria Math" panose="02040503050406030204" pitchFamily="18" charset="0"/>
                          <a:ea typeface="微软雅黑" panose="020B0503020204020204" pitchFamily="34" charset="-122"/>
                        </a:rPr>
                        <m:t>𝝆</m:t>
                      </m:r>
                      <m:r>
                        <a:rPr lang="en-US" altLang="zh-CN" b="1" i="1" smtClean="0">
                          <a:solidFill>
                            <a:srgbClr val="FF0000"/>
                          </a:solidFill>
                          <a:latin typeface="Cambria Math" panose="02040503050406030204" pitchFamily="18" charset="0"/>
                          <a:ea typeface="微软雅黑" panose="020B0503020204020204" pitchFamily="34" charset="-122"/>
                        </a:rPr>
                        <m:t>&lt;</m:t>
                      </m:r>
                      <m:sSub>
                        <m:sSubPr>
                          <m:ctrlPr>
                            <a:rPr lang="en-US" altLang="zh-CN" b="1" i="1" smtClean="0">
                              <a:solidFill>
                                <a:srgbClr val="FF0000"/>
                              </a:solidFill>
                              <a:latin typeface="Cambria Math" panose="02040503050406030204" pitchFamily="18" charset="0"/>
                              <a:ea typeface="微软雅黑" panose="020B0503020204020204" pitchFamily="34" charset="-122"/>
                            </a:rPr>
                          </m:ctrlPr>
                        </m:sSubPr>
                        <m:e>
                          <m:r>
                            <a:rPr lang="en-US" altLang="zh-CN" b="1" i="1" smtClean="0">
                              <a:solidFill>
                                <a:srgbClr val="FF0000"/>
                              </a:solidFill>
                              <a:latin typeface="Cambria Math" panose="02040503050406030204" pitchFamily="18" charset="0"/>
                              <a:ea typeface="微软雅黑" panose="020B0503020204020204" pitchFamily="34" charset="-122"/>
                            </a:rPr>
                            <m:t>𝑳</m:t>
                          </m:r>
                        </m:e>
                        <m:sub>
                          <m:r>
                            <a:rPr lang="en-US" altLang="zh-CN" b="1" i="1" smtClean="0">
                              <a:solidFill>
                                <a:srgbClr val="FF0000"/>
                              </a:solidFill>
                              <a:latin typeface="Cambria Math" panose="02040503050406030204" pitchFamily="18" charset="0"/>
                              <a:ea typeface="微软雅黑" panose="020B0503020204020204" pitchFamily="34" charset="-122"/>
                            </a:rPr>
                            <m:t>𝟑</m:t>
                          </m:r>
                        </m:sub>
                      </m:sSub>
                    </m:oMath>
                  </a14:m>
                  <a:endParaRPr lang="zh-CN" altLang="en-US" b="1" i="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E6993ABB-D09E-4326-B023-268F44FB0EBA}"/>
                    </a:ext>
                  </a:extLst>
                </p:cNvPr>
                <p:cNvSpPr>
                  <a:spLocks noRot="1" noChangeAspect="1" noMove="1" noResize="1" noEditPoints="1" noAdjustHandles="1" noChangeArrowheads="1" noChangeShapeType="1" noTextEdit="1"/>
                </p:cNvSpPr>
                <p:nvPr/>
              </p:nvSpPr>
              <p:spPr>
                <a:xfrm>
                  <a:off x="587222" y="1833837"/>
                  <a:ext cx="1473417" cy="369332"/>
                </a:xfrm>
                <a:prstGeom prst="rect">
                  <a:avLst/>
                </a:prstGeom>
                <a:blipFill>
                  <a:blip r:embed="rId6"/>
                  <a:stretch>
                    <a:fillRect l="-3306" t="-10000" b="-26667"/>
                  </a:stretch>
                </a:blipFill>
                <a:ln w="9525" cap="flat" cmpd="sng" algn="ctr">
                  <a:noFill/>
                  <a:prstDash val="solid"/>
                  <a:round/>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6EC3331-B994-48BF-83AA-E1FB5A994579}"/>
                    </a:ext>
                  </a:extLst>
                </p:cNvPr>
                <p:cNvSpPr txBox="1"/>
                <p:nvPr/>
              </p:nvSpPr>
              <p:spPr>
                <a:xfrm>
                  <a:off x="2060639" y="1803059"/>
                  <a:ext cx="5306709"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，则</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a:solidFill>
                                <a:schemeClr val="tx1"/>
                              </a:solidFill>
                              <a:latin typeface="Cambria Math" panose="02040503050406030204" pitchFamily="18" charset="0"/>
                            </a:rPr>
                            <m:t>1</m:t>
                          </m:r>
                        </m:sub>
                      </m:sSub>
                    </m:oMath>
                  </a14:m>
                  <a:r>
                    <a:rPr lang="zh-CN" altLang="en-US" sz="2000" b="1" dirty="0">
                      <a:latin typeface="微软雅黑" panose="020B0503020204020204" pitchFamily="34" charset="-122"/>
                      <a:ea typeface="微软雅黑" panose="020B0503020204020204" pitchFamily="34" charset="-122"/>
                    </a:rPr>
                    <a:t>无解，表示目标点超出机器人工作空间</a:t>
                  </a:r>
                </a:p>
              </p:txBody>
            </p:sp>
          </mc:Choice>
          <mc:Fallback xmlns="">
            <p:sp>
              <p:nvSpPr>
                <p:cNvPr id="12" name="文本框 11">
                  <a:extLst>
                    <a:ext uri="{FF2B5EF4-FFF2-40B4-BE49-F238E27FC236}">
                      <a16:creationId xmlns:a16="http://schemas.microsoft.com/office/drawing/2014/main" id="{F6EC3331-B994-48BF-83AA-E1FB5A994579}"/>
                    </a:ext>
                  </a:extLst>
                </p:cNvPr>
                <p:cNvSpPr txBox="1">
                  <a:spLocks noRot="1" noChangeAspect="1" noMove="1" noResize="1" noEditPoints="1" noAdjustHandles="1" noChangeArrowheads="1" noChangeShapeType="1" noTextEdit="1"/>
                </p:cNvSpPr>
                <p:nvPr/>
              </p:nvSpPr>
              <p:spPr>
                <a:xfrm>
                  <a:off x="2060639" y="1803059"/>
                  <a:ext cx="5306709" cy="400110"/>
                </a:xfrm>
                <a:prstGeom prst="rect">
                  <a:avLst/>
                </a:prstGeom>
                <a:blipFill>
                  <a:blip r:embed="rId7"/>
                  <a:stretch>
                    <a:fillRect l="-1148" t="-9231" r="-574" b="-27692"/>
                  </a:stretch>
                </a:blipFill>
              </p:spPr>
              <p:txBody>
                <a:bodyPr/>
                <a:lstStyle/>
                <a:p>
                  <a:r>
                    <a:rPr lang="zh-CN" altLang="en-US">
                      <a:noFill/>
                    </a:rPr>
                    <a:t> </a:t>
                  </a:r>
                </a:p>
              </p:txBody>
            </p:sp>
          </mc:Fallback>
        </mc:AlternateContent>
      </p:grpSp>
      <p:grpSp>
        <p:nvGrpSpPr>
          <p:cNvPr id="10" name="组合 9">
            <a:extLst>
              <a:ext uri="{FF2B5EF4-FFF2-40B4-BE49-F238E27FC236}">
                <a16:creationId xmlns:a16="http://schemas.microsoft.com/office/drawing/2014/main" id="{802497F9-3972-4BBC-87F4-F2F0707643F3}"/>
              </a:ext>
            </a:extLst>
          </p:cNvPr>
          <p:cNvGrpSpPr/>
          <p:nvPr/>
        </p:nvGrpSpPr>
        <p:grpSpPr>
          <a:xfrm>
            <a:off x="634520" y="2646297"/>
            <a:ext cx="10853287" cy="1317727"/>
            <a:chOff x="634520" y="2646297"/>
            <a:chExt cx="10853287" cy="1317727"/>
          </a:xfrm>
        </p:grpSpPr>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4F1D79D-C9E5-4224-9530-940EA9880998}"/>
                    </a:ext>
                  </a:extLst>
                </p:cNvPr>
                <p:cNvSpPr txBox="1"/>
                <p:nvPr/>
              </p:nvSpPr>
              <p:spPr>
                <a:xfrm>
                  <a:off x="9687535" y="3308011"/>
                  <a:ext cx="1698922" cy="6560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mtClean="0">
                            <a:latin typeface="Cambria Math" panose="02040503050406030204" pitchFamily="18" charset="0"/>
                          </a:rPr>
                          <m:t>𝜌</m:t>
                        </m:r>
                        <m:r>
                          <a:rPr lang="en-US" altLang="zh-CN" smtClean="0">
                            <a:latin typeface="Cambria Math" panose="02040503050406030204" pitchFamily="18" charset="0"/>
                          </a:rPr>
                          <m:t>=</m:t>
                        </m:r>
                        <m:rad>
                          <m:radPr>
                            <m:degHide m:val="on"/>
                            <m:ctrlPr>
                              <a:rPr lang="en-US" altLang="zh-CN" i="1">
                                <a:latin typeface="Cambria Math" panose="02040503050406030204" pitchFamily="18" charset="0"/>
                              </a:rPr>
                            </m:ctrlPr>
                          </m:radPr>
                          <m:deg/>
                          <m:e>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4</m:t>
                                </m:r>
                              </m:sub>
                              <m:sup>
                                <m:r>
                                  <a:rPr lang="en-US" altLang="zh-CN">
                                    <a:latin typeface="Cambria Math" panose="02040503050406030204" pitchFamily="18" charset="0"/>
                                  </a:rPr>
                                  <m:t>2</m:t>
                                </m:r>
                              </m:sup>
                            </m:sSubSup>
                            <m:r>
                              <a:rPr lang="en-US" altLang="zh-CN">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a:latin typeface="Cambria Math" panose="02040503050406030204" pitchFamily="18" charset="0"/>
                                  </a:rPr>
                                  <m:t>𝐿</m:t>
                                </m:r>
                              </m:e>
                              <m:sub>
                                <m:r>
                                  <a:rPr lang="en-US" altLang="zh-CN">
                                    <a:latin typeface="Cambria Math" panose="02040503050406030204" pitchFamily="18" charset="0"/>
                                  </a:rPr>
                                  <m:t>5</m:t>
                                </m:r>
                              </m:sub>
                              <m:sup>
                                <m:r>
                                  <a:rPr lang="en-US" altLang="zh-CN">
                                    <a:latin typeface="Cambria Math" panose="02040503050406030204" pitchFamily="18" charset="0"/>
                                  </a:rPr>
                                  <m:t>2</m:t>
                                </m:r>
                              </m:sup>
                            </m:sSubSup>
                          </m:e>
                        </m:rad>
                      </m:oMath>
                    </m:oMathPara>
                  </a14:m>
                  <a:endParaRPr lang="zh-CN" altLang="en-US" dirty="0"/>
                </a:p>
              </p:txBody>
            </p:sp>
          </mc:Choice>
          <mc:Fallback xmlns="">
            <p:sp>
              <p:nvSpPr>
                <p:cNvPr id="18" name="文本框 17">
                  <a:extLst>
                    <a:ext uri="{FF2B5EF4-FFF2-40B4-BE49-F238E27FC236}">
                      <a16:creationId xmlns:a16="http://schemas.microsoft.com/office/drawing/2014/main" id="{64F1D79D-C9E5-4224-9530-940EA9880998}"/>
                    </a:ext>
                  </a:extLst>
                </p:cNvPr>
                <p:cNvSpPr txBox="1">
                  <a:spLocks noRot="1" noChangeAspect="1" noMove="1" noResize="1" noEditPoints="1" noAdjustHandles="1" noChangeArrowheads="1" noChangeShapeType="1" noTextEdit="1"/>
                </p:cNvSpPr>
                <p:nvPr/>
              </p:nvSpPr>
              <p:spPr>
                <a:xfrm>
                  <a:off x="9687535" y="3308011"/>
                  <a:ext cx="1698922" cy="656013"/>
                </a:xfrm>
                <a:prstGeom prst="rect">
                  <a:avLst/>
                </a:prstGeom>
                <a:blipFill>
                  <a:blip r:embed="rId8"/>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35DACFF-69A7-4699-83B4-4B0B9F4115E1}"/>
                </a:ext>
              </a:extLst>
            </p:cNvPr>
            <p:cNvGrpSpPr/>
            <p:nvPr/>
          </p:nvGrpSpPr>
          <p:grpSpPr>
            <a:xfrm>
              <a:off x="634520" y="2646297"/>
              <a:ext cx="10853287" cy="812658"/>
              <a:chOff x="634520" y="2646297"/>
              <a:chExt cx="10853287" cy="812658"/>
            </a:xfrm>
          </p:grpSpPr>
          <mc:AlternateContent xmlns:mc="http://schemas.openxmlformats.org/markup-compatibility/2006" xmlns:a14="http://schemas.microsoft.com/office/drawing/2010/main">
            <mc:Choice Requires="a14">
              <p:sp>
                <p:nvSpPr>
                  <p:cNvPr id="13" name="矩形: 圆角 12">
                    <a:extLst>
                      <a:ext uri="{FF2B5EF4-FFF2-40B4-BE49-F238E27FC236}">
                        <a16:creationId xmlns:a16="http://schemas.microsoft.com/office/drawing/2014/main" id="{5A8275E7-F8E4-4197-9DD3-5E3E17B41C98}"/>
                      </a:ext>
                    </a:extLst>
                  </p:cNvPr>
                  <p:cNvSpPr/>
                  <p:nvPr/>
                </p:nvSpPr>
                <p:spPr>
                  <a:xfrm>
                    <a:off x="1358297" y="2894443"/>
                    <a:ext cx="4672389"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3</m:t>
                            </m:r>
                          </m:sub>
                        </m:sSub>
                        <m:r>
                          <a:rPr lang="en-US" altLang="zh-CN" sz="200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en-US" altLang="zh-CN" sz="200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𝜙</m:t>
                        </m:r>
                      </m:oMath>
                    </a14:m>
                    <a:r>
                      <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zh-CN" altLang="en-US" sz="2000" i="0">
                                <a:solidFill>
                                  <a:schemeClr val="tx1"/>
                                </a:solidFill>
                                <a:latin typeface="Cambria Math" panose="02040503050406030204" pitchFamily="18" charset="0"/>
                              </a:rPr>
                              <m:t>3</m:t>
                            </m:r>
                          </m:sub>
                        </m:sSub>
                        <m:r>
                          <a:rPr lang="en-US" altLang="zh-CN" sz="200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en-US" altLang="zh-CN" sz="2000">
                            <a:solidFill>
                              <a:schemeClr val="tx1"/>
                            </a:solidFill>
                            <a:latin typeface="Cambria Math" panose="02040503050406030204" pitchFamily="18" charset="0"/>
                          </a:rPr>
                          <m:t>−</m:t>
                        </m:r>
                        <m:r>
                          <a:rPr lang="en-US" altLang="zh-CN" sz="2000">
                            <a:solidFill>
                              <a:schemeClr val="tx1"/>
                            </a:solidFill>
                            <a:latin typeface="Cambria Math" panose="02040503050406030204" pitchFamily="18" charset="0"/>
                          </a:rPr>
                          <m:t>𝜙</m:t>
                        </m:r>
                      </m:oMath>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13" name="矩形: 圆角 12">
                    <a:extLst>
                      <a:ext uri="{FF2B5EF4-FFF2-40B4-BE49-F238E27FC236}">
                        <a16:creationId xmlns:a16="http://schemas.microsoft.com/office/drawing/2014/main" id="{5A8275E7-F8E4-4197-9DD3-5E3E17B41C98}"/>
                      </a:ext>
                    </a:extLst>
                  </p:cNvPr>
                  <p:cNvSpPr>
                    <a:spLocks noRot="1" noChangeAspect="1" noMove="1" noResize="1" noEditPoints="1" noAdjustHandles="1" noChangeArrowheads="1" noChangeShapeType="1" noTextEdit="1"/>
                  </p:cNvSpPr>
                  <p:nvPr/>
                </p:nvSpPr>
                <p:spPr>
                  <a:xfrm>
                    <a:off x="1358297" y="2894443"/>
                    <a:ext cx="4672389" cy="432048"/>
                  </a:xfrm>
                  <a:prstGeom prst="roundRect">
                    <a:avLst/>
                  </a:prstGeom>
                  <a:blipFill>
                    <a:blip r:embed="rId9"/>
                    <a:stretch>
                      <a:fillRect b="-8219"/>
                    </a:stretch>
                  </a:blipFill>
                  <a:ln>
                    <a:solidFill>
                      <a:srgbClr val="FF0000"/>
                    </a:solidFill>
                  </a:ln>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A5F8B2D5-A3E3-4373-8055-C97D88164ECA}"/>
                  </a:ext>
                </a:extLst>
              </p:cNvPr>
              <p:cNvSpPr txBox="1"/>
              <p:nvPr/>
            </p:nvSpPr>
            <p:spPr>
              <a:xfrm>
                <a:off x="634520" y="2912806"/>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因为</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45672B0-907F-4A7D-AD3B-ED80E31B1B1D}"/>
                      </a:ext>
                    </a:extLst>
                  </p:cNvPr>
                  <p:cNvSpPr txBox="1"/>
                  <p:nvPr/>
                </p:nvSpPr>
                <p:spPr>
                  <a:xfrm>
                    <a:off x="6921062" y="2646297"/>
                    <a:ext cx="4566745" cy="81265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brk m:alnAt="2"/>
                            </m:rPr>
                            <a:rPr lang="en-US" altLang="zh-CN" sz="1800" b="0" i="1" smtClean="0">
                              <a:latin typeface="Cambria Math" panose="02040503050406030204" pitchFamily="18" charset="0"/>
                            </a:rPr>
                            <m:t>𝑘</m:t>
                          </m:r>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a:latin typeface="Cambria Math" panose="02040503050406030204" pitchFamily="18" charset="0"/>
                                        </a:rPr>
                                        <m:t>𝑝</m:t>
                                      </m:r>
                                    </m:e>
                                    <m:sub>
                                      <m:r>
                                        <a:rPr lang="en-US" altLang="zh-CN" sz="1800">
                                          <a:latin typeface="Cambria Math" panose="02040503050406030204" pitchFamily="18" charset="0"/>
                                        </a:rPr>
                                        <m:t>𝑥</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a:latin typeface="Cambria Math" panose="02040503050406030204" pitchFamily="18" charset="0"/>
                                        </a:rPr>
                                        <m:t>𝑝</m:t>
                                      </m:r>
                                    </m:e>
                                    <m:sub>
                                      <m:r>
                                        <a:rPr lang="en-US" altLang="zh-CN" sz="1800">
                                          <a:latin typeface="Cambria Math" panose="02040503050406030204" pitchFamily="18" charset="0"/>
                                        </a:rPr>
                                        <m:t>𝑦</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a:latin typeface="Cambria Math" panose="02040503050406030204" pitchFamily="18" charset="0"/>
                                        </a:rPr>
                                        <m:t>𝑝</m:t>
                                      </m:r>
                                    </m:e>
                                    <m:sub>
                                      <m:r>
                                        <a:rPr lang="en-US" altLang="zh-CN" sz="1800">
                                          <a:latin typeface="Cambria Math" panose="02040503050406030204" pitchFamily="18" charset="0"/>
                                        </a:rPr>
                                        <m:t>𝑧</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sSubSup>
                                            <m:sSubSupPr>
                                              <m:ctrlPr>
                                                <a:rPr lang="en-US" altLang="zh-CN" sz="1800" i="1">
                                                  <a:latin typeface="Cambria Math" panose="02040503050406030204" pitchFamily="18" charset="0"/>
                                                </a:rPr>
                                              </m:ctrlPr>
                                            </m:sSubSupPr>
                                            <m:e>
                                              <m:r>
                                                <a:rPr lang="zh-CN" altLang="en-US" sz="1800">
                                                  <a:latin typeface="Cambria Math" panose="02040503050406030204" pitchFamily="18" charset="0"/>
                                                </a:rPr>
                                                <m:t>𝐿</m:t>
                                              </m:r>
                                            </m:e>
                                            <m:sub>
                                              <m:r>
                                                <a:rPr lang="en-US" altLang="zh-CN" sz="1800">
                                                  <a:latin typeface="Cambria Math" panose="02040503050406030204" pitchFamily="18" charset="0"/>
                                                </a:rPr>
                                                <m:t>2</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r>
                                            <a:rPr lang="zh-CN" altLang="en-US" sz="1800">
                                              <a:latin typeface="Cambria Math" panose="02040503050406030204" pitchFamily="18" charset="0"/>
                                            </a:rPr>
                                            <m:t>𝐿</m:t>
                                          </m:r>
                                        </m:e>
                                        <m:sub>
                                          <m:r>
                                            <a:rPr lang="zh-CN" altLang="en-US" sz="1800" i="0">
                                              <a:latin typeface="Cambria Math" panose="02040503050406030204" pitchFamily="18" charset="0"/>
                                            </a:rPr>
                                            <m:t>3</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a:latin typeface="Cambria Math" panose="02040503050406030204" pitchFamily="18" charset="0"/>
                                            </a:rPr>
                                            <m:t>𝐿</m:t>
                                          </m:r>
                                        </m:e>
                                        <m:sub>
                                          <m:r>
                                            <a:rPr lang="en-US" altLang="zh-CN" sz="1800">
                                              <a:latin typeface="Cambria Math" panose="02040503050406030204" pitchFamily="18" charset="0"/>
                                            </a:rPr>
                                            <m:t>4</m:t>
                                          </m:r>
                                        </m:sub>
                                        <m:sup>
                                          <m:r>
                                            <a:rPr lang="en-US" altLang="zh-CN" sz="1800">
                                              <a:latin typeface="Cambria Math" panose="02040503050406030204" pitchFamily="18" charset="0"/>
                                            </a:rPr>
                                            <m:t>2</m:t>
                                          </m:r>
                                        </m:sup>
                                      </m:sSubSup>
                                      <m:r>
                                        <a:rPr lang="en-US" altLang="zh-CN" sz="180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a:latin typeface="Cambria Math" panose="02040503050406030204" pitchFamily="18" charset="0"/>
                                            </a:rPr>
                                            <m:t>𝐿</m:t>
                                          </m:r>
                                        </m:e>
                                        <m:sub>
                                          <m:r>
                                            <a:rPr lang="en-US" altLang="zh-CN" sz="1800">
                                              <a:latin typeface="Cambria Math" panose="02040503050406030204" pitchFamily="18" charset="0"/>
                                            </a:rPr>
                                            <m:t>5</m:t>
                                          </m:r>
                                        </m:sub>
                                        <m:sup>
                                          <m:r>
                                            <a:rPr lang="en-US" altLang="zh-CN" sz="1800">
                                              <a:latin typeface="Cambria Math" panose="02040503050406030204" pitchFamily="18" charset="0"/>
                                            </a:rPr>
                                            <m:t>2</m:t>
                                          </m:r>
                                        </m:sup>
                                      </m:sSubSup>
                                    </m:e>
                                  </m:d>
                                </m:e>
                              </m:d>
                            </m:num>
                            <m:den>
                              <m:r>
                                <a:rPr lang="en-US" altLang="zh-CN" sz="1800">
                                  <a:latin typeface="Cambria Math" panose="02040503050406030204" pitchFamily="18" charset="0"/>
                                </a:rPr>
                                <m:t>2</m:t>
                              </m:r>
                              <m:r>
                                <a:rPr lang="en-US" altLang="zh-CN" sz="1800">
                                  <a:latin typeface="Cambria Math" panose="02040503050406030204" pitchFamily="18" charset="0"/>
                                </a:rPr>
                                <m:t>𝜌</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𝐿</m:t>
                                  </m:r>
                                </m:e>
                                <m:sub>
                                  <m:r>
                                    <a:rPr lang="zh-CN" altLang="en-US" sz="1800" i="0">
                                      <a:latin typeface="Cambria Math" panose="02040503050406030204" pitchFamily="18" charset="0"/>
                                    </a:rPr>
                                    <m:t>2</m:t>
                                  </m:r>
                                </m:sub>
                              </m:sSub>
                            </m:den>
                          </m:f>
                        </m:oMath>
                      </m:oMathPara>
                    </a14:m>
                    <a:endParaRPr lang="zh-CN" altLang="en-US" dirty="0"/>
                  </a:p>
                </p:txBody>
              </p:sp>
            </mc:Choice>
            <mc:Fallback xmlns="">
              <p:sp>
                <p:nvSpPr>
                  <p:cNvPr id="16" name="文本框 15">
                    <a:extLst>
                      <a:ext uri="{FF2B5EF4-FFF2-40B4-BE49-F238E27FC236}">
                        <a16:creationId xmlns:a16="http://schemas.microsoft.com/office/drawing/2014/main" id="{945672B0-907F-4A7D-AD3B-ED80E31B1B1D}"/>
                      </a:ext>
                    </a:extLst>
                  </p:cNvPr>
                  <p:cNvSpPr txBox="1">
                    <a:spLocks noRot="1" noChangeAspect="1" noMove="1" noResize="1" noEditPoints="1" noAdjustHandles="1" noChangeArrowheads="1" noChangeShapeType="1" noTextEdit="1"/>
                  </p:cNvSpPr>
                  <p:nvPr/>
                </p:nvSpPr>
                <p:spPr>
                  <a:xfrm>
                    <a:off x="6921062" y="2646297"/>
                    <a:ext cx="4566745" cy="812658"/>
                  </a:xfrm>
                  <a:prstGeom prst="rect">
                    <a:avLst/>
                  </a:prstGeom>
                  <a:blipFill>
                    <a:blip r:embed="rId10"/>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B393A393-D51A-4F9F-884B-5172E421B69E}"/>
                  </a:ext>
                </a:extLst>
              </p:cNvPr>
              <p:cNvSpPr txBox="1"/>
              <p:nvPr/>
            </p:nvSpPr>
            <p:spPr>
              <a:xfrm>
                <a:off x="6001551" y="2912806"/>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，这里</a:t>
                </a:r>
              </a:p>
            </p:txBody>
          </p:sp>
        </p:grpSp>
      </p:grpSp>
      <p:grpSp>
        <p:nvGrpSpPr>
          <p:cNvPr id="15" name="组合 14">
            <a:extLst>
              <a:ext uri="{FF2B5EF4-FFF2-40B4-BE49-F238E27FC236}">
                <a16:creationId xmlns:a16="http://schemas.microsoft.com/office/drawing/2014/main" id="{0661821E-5D67-4696-B789-5B9F41ABE40F}"/>
              </a:ext>
            </a:extLst>
          </p:cNvPr>
          <p:cNvGrpSpPr/>
          <p:nvPr/>
        </p:nvGrpSpPr>
        <p:grpSpPr>
          <a:xfrm>
            <a:off x="646491" y="3636018"/>
            <a:ext cx="6550570" cy="400110"/>
            <a:chOff x="646491" y="3636018"/>
            <a:chExt cx="6550570" cy="400110"/>
          </a:xfrm>
        </p:grpSpPr>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8291240-D8C4-4C21-B1C5-E01D470B81AE}"/>
                    </a:ext>
                  </a:extLst>
                </p:cNvPr>
                <p:cNvSpPr txBox="1"/>
                <p:nvPr/>
              </p:nvSpPr>
              <p:spPr>
                <a:xfrm>
                  <a:off x="646491" y="3666796"/>
                  <a:ext cx="1414148" cy="369332"/>
                </a:xfrm>
                <a:prstGeom prst="rect">
                  <a:avLst/>
                </a:prstGeom>
                <a:noFill/>
              </p:spPr>
              <p:txBody>
                <a:bodyPr wrap="square">
                  <a:spAutoFit/>
                </a:bodyPr>
                <a:lstStyle/>
                <a:p>
                  <a:r>
                    <a:rPr lang="en-US" altLang="zh-CN" b="1" i="0" dirty="0">
                      <a:solidFill>
                        <a:srgbClr val="FF0000"/>
                      </a:solidFill>
                      <a:latin typeface="微软雅黑" panose="020B0503020204020204" pitchFamily="34" charset="-122"/>
                      <a:ea typeface="微软雅黑" panose="020B0503020204020204" pitchFamily="34" charset="-122"/>
                    </a:rPr>
                    <a:t>2</a:t>
                  </a:r>
                  <a:r>
                    <a:rPr lang="zh-CN" altLang="en-US" b="1" i="0" dirty="0">
                      <a:solidFill>
                        <a:srgbClr val="FF0000"/>
                      </a:solidFill>
                      <a:latin typeface="微软雅黑" panose="020B0503020204020204" pitchFamily="34" charset="-122"/>
                      <a:ea typeface="微软雅黑" panose="020B0503020204020204" pitchFamily="34" charset="-122"/>
                    </a:rPr>
                    <a:t>）若</a:t>
                  </a:r>
                  <a14:m>
                    <m:oMath xmlns:m="http://schemas.openxmlformats.org/officeDocument/2006/math">
                      <m:r>
                        <a:rPr lang="en-US" altLang="zh-CN" b="1" i="1" dirty="0" smtClean="0">
                          <a:solidFill>
                            <a:srgbClr val="FF0000"/>
                          </a:solidFill>
                          <a:latin typeface="Cambria Math" panose="02040503050406030204" pitchFamily="18" charset="0"/>
                          <a:ea typeface="微软雅黑" panose="020B0503020204020204" pitchFamily="34" charset="-122"/>
                        </a:rPr>
                        <m:t>𝒌</m:t>
                      </m:r>
                      <m:r>
                        <a:rPr lang="en-US" altLang="zh-CN" b="1" i="1" dirty="0" smtClean="0">
                          <a:solidFill>
                            <a:srgbClr val="FF0000"/>
                          </a:solidFill>
                          <a:latin typeface="Cambria Math" panose="02040503050406030204" pitchFamily="18" charset="0"/>
                          <a:ea typeface="微软雅黑" panose="020B0503020204020204" pitchFamily="34" charset="-122"/>
                        </a:rPr>
                        <m:t>&gt;</m:t>
                      </m:r>
                      <m:r>
                        <a:rPr lang="en-US" altLang="zh-CN" b="1" i="1" dirty="0" smtClean="0">
                          <a:solidFill>
                            <a:srgbClr val="FF0000"/>
                          </a:solidFill>
                          <a:latin typeface="Cambria Math" panose="02040503050406030204" pitchFamily="18" charset="0"/>
                          <a:ea typeface="微软雅黑" panose="020B0503020204020204" pitchFamily="34" charset="-122"/>
                        </a:rPr>
                        <m:t>𝟏</m:t>
                      </m:r>
                    </m:oMath>
                  </a14:m>
                  <a:endParaRPr lang="zh-CN" altLang="en-US" dirty="0"/>
                </a:p>
              </p:txBody>
            </p:sp>
          </mc:Choice>
          <mc:Fallback xmlns="">
            <p:sp>
              <p:nvSpPr>
                <p:cNvPr id="21" name="文本框 20">
                  <a:extLst>
                    <a:ext uri="{FF2B5EF4-FFF2-40B4-BE49-F238E27FC236}">
                      <a16:creationId xmlns:a16="http://schemas.microsoft.com/office/drawing/2014/main" id="{48291240-D8C4-4C21-B1C5-E01D470B81AE}"/>
                    </a:ext>
                  </a:extLst>
                </p:cNvPr>
                <p:cNvSpPr txBox="1">
                  <a:spLocks noRot="1" noChangeAspect="1" noMove="1" noResize="1" noEditPoints="1" noAdjustHandles="1" noChangeArrowheads="1" noChangeShapeType="1" noTextEdit="1"/>
                </p:cNvSpPr>
                <p:nvPr/>
              </p:nvSpPr>
              <p:spPr>
                <a:xfrm>
                  <a:off x="646491" y="3666796"/>
                  <a:ext cx="1414148" cy="369332"/>
                </a:xfrm>
                <a:prstGeom prst="rect">
                  <a:avLst/>
                </a:prstGeom>
                <a:blipFill>
                  <a:blip r:embed="rId11"/>
                  <a:stretch>
                    <a:fillRect l="-3448"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A49A831-C304-45C2-AB30-54708EDBCE02}"/>
                    </a:ext>
                  </a:extLst>
                </p:cNvPr>
                <p:cNvSpPr txBox="1"/>
                <p:nvPr/>
              </p:nvSpPr>
              <p:spPr>
                <a:xfrm>
                  <a:off x="1890352" y="3636018"/>
                  <a:ext cx="5306709"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，则</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3</m:t>
                          </m:r>
                        </m:sub>
                      </m:sSub>
                    </m:oMath>
                  </a14:m>
                  <a:r>
                    <a:rPr lang="zh-CN" altLang="en-US" sz="2000" b="1" dirty="0">
                      <a:latin typeface="微软雅黑" panose="020B0503020204020204" pitchFamily="34" charset="-122"/>
                      <a:ea typeface="微软雅黑" panose="020B0503020204020204" pitchFamily="34" charset="-122"/>
                    </a:rPr>
                    <a:t>无解，表示目标点超出机器人工作空间</a:t>
                  </a:r>
                </a:p>
              </p:txBody>
            </p:sp>
          </mc:Choice>
          <mc:Fallback xmlns="">
            <p:sp>
              <p:nvSpPr>
                <p:cNvPr id="22" name="文本框 21">
                  <a:extLst>
                    <a:ext uri="{FF2B5EF4-FFF2-40B4-BE49-F238E27FC236}">
                      <a16:creationId xmlns:a16="http://schemas.microsoft.com/office/drawing/2014/main" id="{4A49A831-C304-45C2-AB30-54708EDBCE02}"/>
                    </a:ext>
                  </a:extLst>
                </p:cNvPr>
                <p:cNvSpPr txBox="1">
                  <a:spLocks noRot="1" noChangeAspect="1" noMove="1" noResize="1" noEditPoints="1" noAdjustHandles="1" noChangeArrowheads="1" noChangeShapeType="1" noTextEdit="1"/>
                </p:cNvSpPr>
                <p:nvPr/>
              </p:nvSpPr>
              <p:spPr>
                <a:xfrm>
                  <a:off x="1890352" y="3636018"/>
                  <a:ext cx="5306709" cy="400110"/>
                </a:xfrm>
                <a:prstGeom prst="rect">
                  <a:avLst/>
                </a:prstGeom>
                <a:blipFill>
                  <a:blip r:embed="rId12"/>
                  <a:stretch>
                    <a:fillRect l="-1148" t="-7576" r="-689" b="-25758"/>
                  </a:stretch>
                </a:blipFill>
              </p:spPr>
              <p:txBody>
                <a:bodyPr/>
                <a:lstStyle/>
                <a:p>
                  <a:r>
                    <a:rPr lang="zh-CN" altLang="en-US">
                      <a:noFill/>
                    </a:rPr>
                    <a:t> </a:t>
                  </a:r>
                </a:p>
              </p:txBody>
            </p:sp>
          </mc:Fallback>
        </mc:AlternateContent>
      </p:grpSp>
      <p:grpSp>
        <p:nvGrpSpPr>
          <p:cNvPr id="20" name="组合 19">
            <a:extLst>
              <a:ext uri="{FF2B5EF4-FFF2-40B4-BE49-F238E27FC236}">
                <a16:creationId xmlns:a16="http://schemas.microsoft.com/office/drawing/2014/main" id="{D723EF91-D661-4FCB-AAE2-82F1E2334E0C}"/>
              </a:ext>
            </a:extLst>
          </p:cNvPr>
          <p:cNvGrpSpPr/>
          <p:nvPr/>
        </p:nvGrpSpPr>
        <p:grpSpPr>
          <a:xfrm>
            <a:off x="630226" y="4525548"/>
            <a:ext cx="11479841" cy="944352"/>
            <a:chOff x="630226" y="4525548"/>
            <a:chExt cx="11656470" cy="944352"/>
          </a:xfrm>
        </p:grpSpPr>
        <mc:AlternateContent xmlns:mc="http://schemas.openxmlformats.org/markup-compatibility/2006" xmlns:a14="http://schemas.microsoft.com/office/drawing/2010/main">
          <mc:Choice Requires="a14">
            <p:sp>
              <p:nvSpPr>
                <p:cNvPr id="23" name="矩形: 圆角 22">
                  <a:extLst>
                    <a:ext uri="{FF2B5EF4-FFF2-40B4-BE49-F238E27FC236}">
                      <a16:creationId xmlns:a16="http://schemas.microsoft.com/office/drawing/2014/main" id="{7360A1B1-4911-414D-A755-C3EE3F8DFFA4}"/>
                    </a:ext>
                  </a:extLst>
                </p:cNvPr>
                <p:cNvSpPr/>
                <p:nvPr/>
              </p:nvSpPr>
              <p:spPr>
                <a:xfrm>
                  <a:off x="1332148" y="4525548"/>
                  <a:ext cx="3891494" cy="432048"/>
                </a:xfrm>
                <a:prstGeom prst="round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r>
                        <a:rPr lang="en-US" altLang="zh-CN" sz="200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zh-CN" altLang="en-US" sz="2000" smtClean="0">
                          <a:solidFill>
                            <a:schemeClr val="tx1"/>
                          </a:solidFill>
                          <a:latin typeface="Cambria Math" panose="02040503050406030204" pitchFamily="18" charset="0"/>
                        </a:rPr>
                        <m:t>’</m:t>
                      </m:r>
                    </m:oMath>
                  </a14:m>
                  <a:r>
                    <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rPr>
                    <a:t> 或 </a:t>
                  </a:r>
                  <a14:m>
                    <m:oMath xmlns:m="http://schemas.openxmlformats.org/officeDocument/2006/math">
                      <m:sSub>
                        <m:sSubPr>
                          <m:ctrlPr>
                            <a:rPr lang="zh-CN" altLang="en-US" sz="2000" i="1" smtClean="0">
                              <a:solidFill>
                                <a:schemeClr val="tx1"/>
                              </a:solidFill>
                              <a:latin typeface="Cambria Math" panose="02040503050406030204" pitchFamily="18" charset="0"/>
                            </a:rPr>
                          </m:ctrlPr>
                        </m:sSubPr>
                        <m:e>
                          <m:r>
                            <a:rPr lang="zh-CN" altLang="en-US"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r>
                        <a:rPr lang="en-US" altLang="zh-CN" sz="2000">
                          <a:solidFill>
                            <a:schemeClr val="tx1"/>
                          </a:solidFill>
                          <a:latin typeface="Cambria Math" panose="02040503050406030204" pitchFamily="18" charset="0"/>
                        </a:rPr>
                        <m:t>=</m:t>
                      </m:r>
                      <m:r>
                        <a:rPr lang="en-US" altLang="zh-CN" sz="2000" b="0" i="0" smtClean="0">
                          <a:solidFill>
                            <a:schemeClr val="tx1"/>
                          </a:solidFill>
                          <a:latin typeface="Cambria Math" panose="02040503050406030204" pitchFamily="18" charset="0"/>
                        </a:rPr>
                        <m:t>−</m:t>
                      </m:r>
                      <m:r>
                        <m:rPr>
                          <m:sty m:val="p"/>
                        </m:rPr>
                        <a:rPr lang="en-US" altLang="zh-CN" sz="2000" i="0">
                          <a:solidFill>
                            <a:schemeClr val="tx1"/>
                          </a:solidFill>
                          <a:latin typeface="Cambria Math" panose="02040503050406030204" pitchFamily="18" charset="0"/>
                        </a:rPr>
                        <m:t>arccos</m:t>
                      </m:r>
                      <m:r>
                        <a:rPr lang="en-US" altLang="zh-CN" sz="2000">
                          <a:solidFill>
                            <a:schemeClr val="tx1"/>
                          </a:solidFill>
                          <a:latin typeface="Cambria Math" panose="02040503050406030204" pitchFamily="18" charset="0"/>
                        </a:rPr>
                        <m:t>𝑘</m:t>
                      </m:r>
                      <m:r>
                        <a:rPr lang="zh-CN" altLang="en-US" sz="2000" smtClean="0">
                          <a:solidFill>
                            <a:schemeClr val="tx1"/>
                          </a:solidFill>
                          <a:latin typeface="Cambria Math" panose="02040503050406030204" pitchFamily="18" charset="0"/>
                        </a:rPr>
                        <m:t>’</m:t>
                      </m:r>
                    </m:oMath>
                  </a14:m>
                  <a:endParaRPr lang="zh-CN" altLang="en-US" sz="2000" b="1" i="0" dirty="0">
                    <a:ln>
                      <a:solidFill>
                        <a:srgbClr val="FFFF00"/>
                      </a:solidFill>
                    </a:ln>
                    <a:solidFill>
                      <a:schemeClr val="tx1"/>
                    </a:solidFill>
                    <a:latin typeface="微软雅黑" panose="020B0503020204020204" pitchFamily="34" charset="-122"/>
                    <a:ea typeface="微软雅黑" panose="020B0503020204020204" pitchFamily="34" charset="-122"/>
                  </a:endParaRPr>
                </a:p>
              </p:txBody>
            </p:sp>
          </mc:Choice>
          <mc:Fallback xmlns="">
            <p:sp>
              <p:nvSpPr>
                <p:cNvPr id="23" name="矩形: 圆角 22">
                  <a:extLst>
                    <a:ext uri="{FF2B5EF4-FFF2-40B4-BE49-F238E27FC236}">
                      <a16:creationId xmlns:a16="http://schemas.microsoft.com/office/drawing/2014/main" id="{7360A1B1-4911-414D-A755-C3EE3F8DFFA4}"/>
                    </a:ext>
                  </a:extLst>
                </p:cNvPr>
                <p:cNvSpPr>
                  <a:spLocks noRot="1" noChangeAspect="1" noMove="1" noResize="1" noEditPoints="1" noAdjustHandles="1" noChangeArrowheads="1" noChangeShapeType="1" noTextEdit="1"/>
                </p:cNvSpPr>
                <p:nvPr/>
              </p:nvSpPr>
              <p:spPr>
                <a:xfrm>
                  <a:off x="1332148" y="4525548"/>
                  <a:ext cx="3891494" cy="432048"/>
                </a:xfrm>
                <a:prstGeom prst="roundRect">
                  <a:avLst/>
                </a:prstGeom>
                <a:blipFill>
                  <a:blip r:embed="rId13"/>
                  <a:stretch>
                    <a:fillRect/>
                  </a:stretch>
                </a:blipFill>
                <a:ln>
                  <a:solidFill>
                    <a:srgbClr val="FF0000"/>
                  </a:solidFill>
                </a:ln>
              </p:spPr>
              <p:txBody>
                <a:bodyPr/>
                <a:lstStyle/>
                <a:p>
                  <a:r>
                    <a:rPr lang="zh-CN" altLang="en-US">
                      <a:noFill/>
                    </a:rPr>
                    <a:t> </a:t>
                  </a:r>
                </a:p>
              </p:txBody>
            </p:sp>
          </mc:Fallback>
        </mc:AlternateContent>
        <p:grpSp>
          <p:nvGrpSpPr>
            <p:cNvPr id="17" name="组合 16">
              <a:extLst>
                <a:ext uri="{FF2B5EF4-FFF2-40B4-BE49-F238E27FC236}">
                  <a16:creationId xmlns:a16="http://schemas.microsoft.com/office/drawing/2014/main" id="{2A171DEF-6836-4290-B5E9-130F4A30BD89}"/>
                </a:ext>
              </a:extLst>
            </p:cNvPr>
            <p:cNvGrpSpPr/>
            <p:nvPr/>
          </p:nvGrpSpPr>
          <p:grpSpPr>
            <a:xfrm>
              <a:off x="630226" y="4525548"/>
              <a:ext cx="11656470" cy="944352"/>
              <a:chOff x="630226" y="4525548"/>
              <a:chExt cx="11656470" cy="944352"/>
            </a:xfrm>
          </p:grpSpPr>
          <p:sp>
            <p:nvSpPr>
              <p:cNvPr id="24" name="文本框 23">
                <a:extLst>
                  <a:ext uri="{FF2B5EF4-FFF2-40B4-BE49-F238E27FC236}">
                    <a16:creationId xmlns:a16="http://schemas.microsoft.com/office/drawing/2014/main" id="{6AD63767-8D1F-415C-96EA-5771D1326753}"/>
                  </a:ext>
                </a:extLst>
              </p:cNvPr>
              <p:cNvSpPr txBox="1"/>
              <p:nvPr/>
            </p:nvSpPr>
            <p:spPr>
              <a:xfrm>
                <a:off x="630226" y="4541313"/>
                <a:ext cx="69762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因为</a:t>
                </a:r>
              </a:p>
            </p:txBody>
          </p:sp>
          <p:sp>
            <p:nvSpPr>
              <p:cNvPr id="25" name="文本框 24">
                <a:extLst>
                  <a:ext uri="{FF2B5EF4-FFF2-40B4-BE49-F238E27FC236}">
                    <a16:creationId xmlns:a16="http://schemas.microsoft.com/office/drawing/2014/main" id="{8E867973-05D7-458C-8515-9037E671D82C}"/>
                  </a:ext>
                </a:extLst>
              </p:cNvPr>
              <p:cNvSpPr txBox="1"/>
              <p:nvPr/>
            </p:nvSpPr>
            <p:spPr>
              <a:xfrm>
                <a:off x="5223642" y="4525548"/>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，这里</a:t>
                </a: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DDB9B43B-763E-45B1-BD5A-4363B6E2B260}"/>
                      </a:ext>
                    </a:extLst>
                  </p:cNvPr>
                  <p:cNvSpPr txBox="1"/>
                  <p:nvPr/>
                </p:nvSpPr>
                <p:spPr>
                  <a:xfrm>
                    <a:off x="4713993" y="5100568"/>
                    <a:ext cx="7572703"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i="1" smtClean="0">
                              <a:latin typeface="Cambria Math" panose="02040503050406030204" pitchFamily="18" charset="0"/>
                            </a:rPr>
                            <m:t>𝑘</m:t>
                          </m:r>
                          <m:r>
                            <a:rPr lang="zh-CN" altLang="en-US">
                              <a:latin typeface="Cambria Math" panose="02040503050406030204" pitchFamily="18" charset="0"/>
                            </a:rPr>
                            <m:t>’</m:t>
                          </m:r>
                          <m:r>
                            <a:rPr lang="en-US" altLang="zh-CN" b="0" i="1" smtClean="0">
                              <a:latin typeface="Cambria Math" panose="02040503050406030204" pitchFamily="18" charset="0"/>
                            </a:rPr>
                            <m:t>=</m:t>
                          </m:r>
                          <m:r>
                            <a:rPr lang="en-US" altLang="zh-CN" sz="1800" b="0" i="1" smtClean="0">
                              <a:latin typeface="Cambria Math" panose="02040503050406030204" pitchFamily="18" charset="0"/>
                            </a:rPr>
                            <m:t>−</m:t>
                          </m:r>
                          <m:r>
                            <m:rPr>
                              <m:sty m:val="p"/>
                            </m:rPr>
                            <a:rPr lang="zh-CN" altLang="en-US" sz="1800" i="0">
                              <a:latin typeface="Cambria Math" panose="02040503050406030204" pitchFamily="18" charset="0"/>
                            </a:rPr>
                            <m:t>r</m:t>
                          </m:r>
                          <m:r>
                            <a:rPr lang="zh-CN" altLang="en-US" sz="1800" i="0">
                              <a:latin typeface="Cambria Math" panose="02040503050406030204" pitchFamily="18" charset="0"/>
                            </a:rPr>
                            <m:t>33⁢</m:t>
                          </m:r>
                          <m:d>
                            <m:dPr>
                              <m:begChr m:val=""/>
                              <m:endChr m:val="]"/>
                              <m:ctrlPr>
                                <a:rPr lang="zh-CN" altLang="en-US" sz="1800" i="1">
                                  <a:latin typeface="Cambria Math" panose="02040503050406030204" pitchFamily="18" charset="0"/>
                                </a:rPr>
                              </m:ctrlPr>
                            </m:dPr>
                            <m:e>
                              <m:r>
                                <m:rPr>
                                  <m:sty m:val="p"/>
                                </m:rPr>
                                <a:rPr lang="zh-CN" altLang="en-US" sz="1800" i="0">
                                  <a:latin typeface="Cambria Math" panose="02040503050406030204" pitchFamily="18" charset="0"/>
                                </a:rPr>
                                <m:t>Cos</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2</m:t>
                                  </m:r>
                                </m:sub>
                              </m:sSub>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3</m:t>
                                  </m:r>
                                </m:sub>
                              </m:sSub>
                            </m:e>
                          </m:d>
                          <m:r>
                            <a:rPr lang="zh-CN" altLang="en-US" sz="1800" i="0">
                              <a:latin typeface="Cambria Math" panose="02040503050406030204" pitchFamily="18" charset="0"/>
                            </a:rPr>
                            <m:t>−</m:t>
                          </m:r>
                          <m:r>
                            <m:rPr>
                              <m:sty m:val="p"/>
                            </m:rPr>
                            <a:rPr lang="zh-CN" altLang="en-US" sz="1800" i="0">
                              <a:latin typeface="Cambria Math" panose="02040503050406030204" pitchFamily="18" charset="0"/>
                            </a:rPr>
                            <m:t>r</m:t>
                          </m:r>
                          <m:r>
                            <a:rPr lang="zh-CN" altLang="en-US" sz="1800" i="0">
                              <a:latin typeface="Cambria Math" panose="02040503050406030204" pitchFamily="18" charset="0"/>
                            </a:rPr>
                            <m:t>13⁢</m:t>
                          </m:r>
                          <m:d>
                            <m:dPr>
                              <m:begChr m:val=""/>
                              <m:endChr m:val="]"/>
                              <m:ctrlPr>
                                <a:rPr lang="zh-CN" altLang="en-US" sz="1800" i="1">
                                  <a:latin typeface="Cambria Math" panose="02040503050406030204" pitchFamily="18" charset="0"/>
                                </a:rPr>
                              </m:ctrlPr>
                            </m:dPr>
                            <m:e>
                              <m:r>
                                <m:rPr>
                                  <m:sty m:val="p"/>
                                </m:rPr>
                                <a:rPr lang="zh-CN" altLang="en-US" sz="1800" i="0">
                                  <a:latin typeface="Cambria Math" panose="02040503050406030204" pitchFamily="18" charset="0"/>
                                </a:rPr>
                                <m:t>Cos</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1</m:t>
                                  </m:r>
                                </m:sub>
                              </m:sSub>
                            </m:e>
                          </m:d>
                          <m:r>
                            <a:rPr lang="zh-CN" altLang="en-US" sz="1800" i="0">
                              <a:latin typeface="Cambria Math" panose="02040503050406030204" pitchFamily="18" charset="0"/>
                            </a:rPr>
                            <m:t>⁢</m:t>
                          </m:r>
                          <m:d>
                            <m:dPr>
                              <m:begChr m:val=""/>
                              <m:endChr m:val="]"/>
                              <m:ctrlPr>
                                <a:rPr lang="zh-CN" altLang="en-US" sz="1800" i="1">
                                  <a:latin typeface="Cambria Math" panose="02040503050406030204" pitchFamily="18" charset="0"/>
                                </a:rPr>
                              </m:ctrlPr>
                            </m:dPr>
                            <m:e>
                              <m:r>
                                <m:rPr>
                                  <m:sty m:val="p"/>
                                </m:rPr>
                                <a:rPr lang="zh-CN" altLang="en-US" sz="1800" i="0">
                                  <a:latin typeface="Cambria Math" panose="02040503050406030204" pitchFamily="18" charset="0"/>
                                </a:rPr>
                                <m:t>Sin</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2</m:t>
                                  </m:r>
                                </m:sub>
                              </m:sSub>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3</m:t>
                                  </m:r>
                                </m:sub>
                              </m:sSub>
                            </m:e>
                          </m:d>
                          <m:r>
                            <a:rPr lang="zh-CN" altLang="en-US" sz="1800" i="0">
                              <a:latin typeface="Cambria Math" panose="02040503050406030204" pitchFamily="18" charset="0"/>
                            </a:rPr>
                            <m:t>−</m:t>
                          </m:r>
                          <m:r>
                            <m:rPr>
                              <m:sty m:val="p"/>
                            </m:rPr>
                            <a:rPr lang="zh-CN" altLang="en-US" sz="1800" i="0">
                              <a:latin typeface="Cambria Math" panose="02040503050406030204" pitchFamily="18" charset="0"/>
                            </a:rPr>
                            <m:t>r</m:t>
                          </m:r>
                          <m:r>
                            <a:rPr lang="zh-CN" altLang="en-US" sz="1800" i="0">
                              <a:latin typeface="Cambria Math" panose="02040503050406030204" pitchFamily="18" charset="0"/>
                            </a:rPr>
                            <m:t>23⁢</m:t>
                          </m:r>
                          <m:d>
                            <m:dPr>
                              <m:begChr m:val=""/>
                              <m:endChr m:val="]"/>
                              <m:ctrlPr>
                                <a:rPr lang="zh-CN" altLang="en-US" sz="1800" i="1">
                                  <a:latin typeface="Cambria Math" panose="02040503050406030204" pitchFamily="18" charset="0"/>
                                </a:rPr>
                              </m:ctrlPr>
                            </m:dPr>
                            <m:e>
                              <m:r>
                                <m:rPr>
                                  <m:sty m:val="p"/>
                                </m:rPr>
                                <a:rPr lang="zh-CN" altLang="en-US" sz="1800" i="0">
                                  <a:latin typeface="Cambria Math" panose="02040503050406030204" pitchFamily="18" charset="0"/>
                                </a:rPr>
                                <m:t>Sin</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1</m:t>
                                  </m:r>
                                </m:sub>
                              </m:sSub>
                            </m:e>
                          </m:d>
                          <m:r>
                            <a:rPr lang="zh-CN" altLang="en-US" sz="1800" i="0">
                              <a:latin typeface="Cambria Math" panose="02040503050406030204" pitchFamily="18" charset="0"/>
                            </a:rPr>
                            <m:t>⁢</m:t>
                          </m:r>
                          <m:d>
                            <m:dPr>
                              <m:begChr m:val=""/>
                              <m:endChr m:val="]"/>
                              <m:ctrlPr>
                                <a:rPr lang="zh-CN" altLang="en-US" sz="1800" i="1">
                                  <a:latin typeface="Cambria Math" panose="02040503050406030204" pitchFamily="18" charset="0"/>
                                </a:rPr>
                              </m:ctrlPr>
                            </m:dPr>
                            <m:e>
                              <m:r>
                                <m:rPr>
                                  <m:sty m:val="p"/>
                                </m:rPr>
                                <a:rPr lang="zh-CN" altLang="en-US" sz="1800" i="0">
                                  <a:latin typeface="Cambria Math" panose="02040503050406030204" pitchFamily="18" charset="0"/>
                                </a:rPr>
                                <m:t>Sin</m:t>
                              </m:r>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2</m:t>
                                  </m:r>
                                </m:sub>
                              </m:sSub>
                              <m:r>
                                <a:rPr lang="zh-CN" altLang="en-US" sz="1800" i="0">
                                  <a:latin typeface="Cambria Math" panose="02040503050406030204" pitchFamily="18" charset="0"/>
                                </a:rPr>
                                <m:t>+</m:t>
                              </m:r>
                              <m:sSub>
                                <m:sSubPr>
                                  <m:ctrlPr>
                                    <a:rPr lang="zh-CN" altLang="en-US" sz="1800" i="1">
                                      <a:latin typeface="Cambria Math" panose="02040503050406030204" pitchFamily="18" charset="0"/>
                                    </a:rPr>
                                  </m:ctrlPr>
                                </m:sSubPr>
                                <m:e>
                                  <m:r>
                                    <a:rPr lang="zh-CN" altLang="en-US" sz="1800">
                                      <a:latin typeface="Cambria Math" panose="02040503050406030204" pitchFamily="18" charset="0"/>
                                    </a:rPr>
                                    <m:t>𝜃</m:t>
                                  </m:r>
                                </m:e>
                                <m:sub>
                                  <m:r>
                                    <a:rPr lang="zh-CN" altLang="en-US" sz="1800" i="0">
                                      <a:latin typeface="Cambria Math" panose="02040503050406030204" pitchFamily="18" charset="0"/>
                                    </a:rPr>
                                    <m:t>3</m:t>
                                  </m:r>
                                </m:sub>
                              </m:sSub>
                            </m:e>
                          </m:d>
                        </m:oMath>
                      </m:oMathPara>
                    </a14:m>
                    <a:endParaRPr lang="zh-CN" altLang="en-US" dirty="0"/>
                  </a:p>
                </p:txBody>
              </p:sp>
            </mc:Choice>
            <mc:Fallback xmlns="">
              <p:sp>
                <p:nvSpPr>
                  <p:cNvPr id="27" name="文本框 26">
                    <a:extLst>
                      <a:ext uri="{FF2B5EF4-FFF2-40B4-BE49-F238E27FC236}">
                        <a16:creationId xmlns:a16="http://schemas.microsoft.com/office/drawing/2014/main" id="{DDB9B43B-763E-45B1-BD5A-4363B6E2B260}"/>
                      </a:ext>
                    </a:extLst>
                  </p:cNvPr>
                  <p:cNvSpPr txBox="1">
                    <a:spLocks noRot="1" noChangeAspect="1" noMove="1" noResize="1" noEditPoints="1" noAdjustHandles="1" noChangeArrowheads="1" noChangeShapeType="1" noTextEdit="1"/>
                  </p:cNvSpPr>
                  <p:nvPr/>
                </p:nvSpPr>
                <p:spPr>
                  <a:xfrm>
                    <a:off x="4713993" y="5100568"/>
                    <a:ext cx="7572703" cy="369332"/>
                  </a:xfrm>
                  <a:prstGeom prst="rect">
                    <a:avLst/>
                  </a:prstGeom>
                  <a:blipFill>
                    <a:blip r:embed="rId14"/>
                    <a:stretch>
                      <a:fillRect t="-126667" r="-6127" b="-195000"/>
                    </a:stretch>
                  </a:blipFill>
                </p:spPr>
                <p:txBody>
                  <a:bodyPr/>
                  <a:lstStyle/>
                  <a:p>
                    <a:r>
                      <a:rPr lang="zh-CN" altLang="en-US">
                        <a:noFill/>
                      </a:rPr>
                      <a:t> </a:t>
                    </a:r>
                  </a:p>
                </p:txBody>
              </p:sp>
            </mc:Fallback>
          </mc:AlternateContent>
        </p:grpSp>
      </p:grpSp>
      <p:grpSp>
        <p:nvGrpSpPr>
          <p:cNvPr id="29" name="组合 28">
            <a:extLst>
              <a:ext uri="{FF2B5EF4-FFF2-40B4-BE49-F238E27FC236}">
                <a16:creationId xmlns:a16="http://schemas.microsoft.com/office/drawing/2014/main" id="{42C0302C-E797-499E-94DB-6D25F61599C5}"/>
              </a:ext>
            </a:extLst>
          </p:cNvPr>
          <p:cNvGrpSpPr/>
          <p:nvPr/>
        </p:nvGrpSpPr>
        <p:grpSpPr>
          <a:xfrm>
            <a:off x="609706" y="5571502"/>
            <a:ext cx="6664876" cy="400110"/>
            <a:chOff x="609706" y="5571502"/>
            <a:chExt cx="6664876" cy="400110"/>
          </a:xfrm>
        </p:grpSpPr>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D6CD120-51B0-4D89-8D2B-1029EBB34782}"/>
                    </a:ext>
                  </a:extLst>
                </p:cNvPr>
                <p:cNvSpPr/>
                <p:nvPr/>
              </p:nvSpPr>
              <p:spPr>
                <a:xfrm>
                  <a:off x="609706" y="5580774"/>
                  <a:ext cx="1438151" cy="369332"/>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none">
                  <a:spAutoFit/>
                </a:bodyPr>
                <a:lstStyle/>
                <a:p>
                  <a:r>
                    <a:rPr lang="en-US" altLang="zh-CN" b="1" i="0" dirty="0">
                      <a:solidFill>
                        <a:srgbClr val="FF0000"/>
                      </a:solidFill>
                      <a:latin typeface="微软雅黑" panose="020B0503020204020204" pitchFamily="34" charset="-122"/>
                      <a:ea typeface="微软雅黑" panose="020B0503020204020204" pitchFamily="34" charset="-122"/>
                    </a:rPr>
                    <a:t>3</a:t>
                  </a:r>
                  <a:r>
                    <a:rPr lang="zh-CN" altLang="en-US" b="1" i="0" dirty="0">
                      <a:solidFill>
                        <a:srgbClr val="FF0000"/>
                      </a:solidFill>
                      <a:latin typeface="微软雅黑" panose="020B0503020204020204" pitchFamily="34" charset="-122"/>
                      <a:ea typeface="微软雅黑" panose="020B0503020204020204" pitchFamily="34" charset="-122"/>
                    </a:rPr>
                    <a:t>）若</a:t>
                  </a:r>
                  <a14:m>
                    <m:oMath xmlns:m="http://schemas.openxmlformats.org/officeDocument/2006/math">
                      <m:sSup>
                        <m:sSupPr>
                          <m:ctrlPr>
                            <a:rPr lang="en-US" altLang="zh-CN" b="1" i="1" dirty="0" smtClean="0">
                              <a:solidFill>
                                <a:srgbClr val="FF0000"/>
                              </a:solidFill>
                              <a:latin typeface="Cambria Math" panose="02040503050406030204" pitchFamily="18" charset="0"/>
                              <a:ea typeface="微软雅黑" panose="020B0503020204020204" pitchFamily="34" charset="-122"/>
                            </a:rPr>
                          </m:ctrlPr>
                        </m:sSupPr>
                        <m:e>
                          <m:r>
                            <a:rPr lang="en-US" altLang="zh-CN" b="1" i="1" dirty="0" smtClean="0">
                              <a:solidFill>
                                <a:srgbClr val="FF0000"/>
                              </a:solidFill>
                              <a:latin typeface="Cambria Math" panose="02040503050406030204" pitchFamily="18" charset="0"/>
                              <a:ea typeface="微软雅黑" panose="020B0503020204020204" pitchFamily="34" charset="-122"/>
                            </a:rPr>
                            <m:t>𝒌</m:t>
                          </m:r>
                        </m:e>
                        <m:sup>
                          <m:r>
                            <a:rPr lang="en-US" altLang="zh-CN" b="1" i="1" dirty="0" smtClean="0">
                              <a:solidFill>
                                <a:srgbClr val="FF0000"/>
                              </a:solidFill>
                              <a:latin typeface="Cambria Math" panose="02040503050406030204" pitchFamily="18" charset="0"/>
                              <a:ea typeface="微软雅黑" panose="020B0503020204020204" pitchFamily="34" charset="-122"/>
                            </a:rPr>
                            <m:t>′</m:t>
                          </m:r>
                        </m:sup>
                      </m:sSup>
                      <m:r>
                        <a:rPr lang="en-US" altLang="zh-CN" b="1" i="1" dirty="0" smtClean="0">
                          <a:solidFill>
                            <a:srgbClr val="FF0000"/>
                          </a:solidFill>
                          <a:latin typeface="Cambria Math" panose="02040503050406030204" pitchFamily="18" charset="0"/>
                          <a:ea typeface="微软雅黑" panose="020B0503020204020204" pitchFamily="34" charset="-122"/>
                        </a:rPr>
                        <m:t>&gt;</m:t>
                      </m:r>
                      <m:r>
                        <a:rPr lang="en-US" altLang="zh-CN" b="1" i="1" dirty="0" smtClean="0">
                          <a:solidFill>
                            <a:srgbClr val="FF0000"/>
                          </a:solidFill>
                          <a:latin typeface="Cambria Math" panose="02040503050406030204" pitchFamily="18" charset="0"/>
                          <a:ea typeface="微软雅黑" panose="020B0503020204020204" pitchFamily="34" charset="-122"/>
                        </a:rPr>
                        <m:t>𝟏</m:t>
                      </m:r>
                    </m:oMath>
                  </a14:m>
                  <a:endParaRPr lang="zh-CN" altLang="en-US" b="1" i="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7D6CD120-51B0-4D89-8D2B-1029EBB34782}"/>
                    </a:ext>
                  </a:extLst>
                </p:cNvPr>
                <p:cNvSpPr>
                  <a:spLocks noRot="1" noChangeAspect="1" noMove="1" noResize="1" noEditPoints="1" noAdjustHandles="1" noChangeArrowheads="1" noChangeShapeType="1" noTextEdit="1"/>
                </p:cNvSpPr>
                <p:nvPr/>
              </p:nvSpPr>
              <p:spPr>
                <a:xfrm>
                  <a:off x="609706" y="5580774"/>
                  <a:ext cx="1438151" cy="369332"/>
                </a:xfrm>
                <a:prstGeom prst="rect">
                  <a:avLst/>
                </a:prstGeom>
                <a:blipFill>
                  <a:blip r:embed="rId15"/>
                  <a:stretch>
                    <a:fillRect l="-3390" t="-8197" b="-24590"/>
                  </a:stretch>
                </a:blipFill>
                <a:ln w="9525" cap="flat" cmpd="sng" algn="ctr">
                  <a:noFill/>
                  <a:prstDash val="solid"/>
                  <a:round/>
                  <a:headEnd type="none" w="med" len="med"/>
                  <a:tailEnd type="none" w="med" len="me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7C88F9A-FD55-4B43-A561-846DCB02F054}"/>
                    </a:ext>
                  </a:extLst>
                </p:cNvPr>
                <p:cNvSpPr txBox="1"/>
                <p:nvPr/>
              </p:nvSpPr>
              <p:spPr>
                <a:xfrm>
                  <a:off x="1890351" y="5571502"/>
                  <a:ext cx="5384231"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，则</a:t>
                  </a:r>
                  <a14:m>
                    <m:oMath xmlns:m="http://schemas.openxmlformats.org/officeDocument/2006/math">
                      <m:sSub>
                        <m:sSubPr>
                          <m:ctrlPr>
                            <a:rPr lang="en-US" altLang="zh-CN" sz="2000" i="1" smtClean="0">
                              <a:solidFill>
                                <a:schemeClr val="tx1"/>
                              </a:solidFill>
                              <a:latin typeface="Cambria Math" panose="02040503050406030204" pitchFamily="18" charset="0"/>
                            </a:rPr>
                          </m:ctrlPr>
                        </m:sSubPr>
                        <m:e>
                          <m:r>
                            <a:rPr lang="en-US" altLang="zh-CN" sz="2000">
                              <a:solidFill>
                                <a:schemeClr val="tx1"/>
                              </a:solidFill>
                              <a:latin typeface="Cambria Math" panose="02040503050406030204" pitchFamily="18" charset="0"/>
                            </a:rPr>
                            <m:t>𝜃</m:t>
                          </m:r>
                        </m:e>
                        <m:sub>
                          <m:r>
                            <a:rPr lang="en-US" altLang="zh-CN" sz="2000" b="0" i="0" smtClean="0">
                              <a:solidFill>
                                <a:schemeClr val="tx1"/>
                              </a:solidFill>
                              <a:latin typeface="Cambria Math" panose="02040503050406030204" pitchFamily="18" charset="0"/>
                            </a:rPr>
                            <m:t>5</m:t>
                          </m:r>
                        </m:sub>
                      </m:sSub>
                    </m:oMath>
                  </a14:m>
                  <a:r>
                    <a:rPr lang="zh-CN" altLang="en-US" sz="2000" b="1" dirty="0">
                      <a:latin typeface="微软雅黑" panose="020B0503020204020204" pitchFamily="34" charset="-122"/>
                      <a:ea typeface="微软雅黑" panose="020B0503020204020204" pitchFamily="34" charset="-122"/>
                    </a:rPr>
                    <a:t>无解，表示目标点超出机器人工作空间</a:t>
                  </a:r>
                </a:p>
              </p:txBody>
            </p:sp>
          </mc:Choice>
          <mc:Fallback xmlns="">
            <p:sp>
              <p:nvSpPr>
                <p:cNvPr id="28" name="文本框 27">
                  <a:extLst>
                    <a:ext uri="{FF2B5EF4-FFF2-40B4-BE49-F238E27FC236}">
                      <a16:creationId xmlns:a16="http://schemas.microsoft.com/office/drawing/2014/main" id="{E7C88F9A-FD55-4B43-A561-846DCB02F054}"/>
                    </a:ext>
                  </a:extLst>
                </p:cNvPr>
                <p:cNvSpPr txBox="1">
                  <a:spLocks noRot="1" noChangeAspect="1" noMove="1" noResize="1" noEditPoints="1" noAdjustHandles="1" noChangeArrowheads="1" noChangeShapeType="1" noTextEdit="1"/>
                </p:cNvSpPr>
                <p:nvPr/>
              </p:nvSpPr>
              <p:spPr>
                <a:xfrm>
                  <a:off x="1890351" y="5571502"/>
                  <a:ext cx="5384231" cy="400110"/>
                </a:xfrm>
                <a:prstGeom prst="rect">
                  <a:avLst/>
                </a:prstGeom>
                <a:blipFill>
                  <a:blip r:embed="rId16"/>
                  <a:stretch>
                    <a:fillRect l="-1133" t="-9091" b="-25758"/>
                  </a:stretch>
                </a:blipFill>
              </p:spPr>
              <p:txBody>
                <a:bodyPr/>
                <a:lstStyle/>
                <a:p>
                  <a:r>
                    <a:rPr lang="zh-CN" altLang="en-US">
                      <a:noFill/>
                    </a:rPr>
                    <a:t> </a:t>
                  </a:r>
                </a:p>
              </p:txBody>
            </p:sp>
          </mc:Fallback>
        </mc:AlternateContent>
      </p:grpSp>
      <p:sp>
        <p:nvSpPr>
          <p:cNvPr id="26" name="文本框 25">
            <a:extLst>
              <a:ext uri="{FF2B5EF4-FFF2-40B4-BE49-F238E27FC236}">
                <a16:creationId xmlns:a16="http://schemas.microsoft.com/office/drawing/2014/main" id="{2BB1DC1E-80C3-4E5E-8A69-0D0E6C72F748}"/>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321607733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6D39A08-F800-4BBB-A586-770F2FDF3A93}"/>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17</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93A8A86-121D-40AF-9905-05F452D7D6BA}"/>
                  </a:ext>
                </a:extLst>
              </p:cNvPr>
              <p:cNvSpPr/>
              <p:nvPr/>
            </p:nvSpPr>
            <p:spPr>
              <a:xfrm>
                <a:off x="695400" y="711987"/>
                <a:ext cx="10523790" cy="6070893"/>
              </a:xfrm>
              <a:prstGeom prst="rect">
                <a:avLst/>
              </a:prstGeom>
            </p:spPr>
            <p:txBody>
              <a:bodyPr wrap="square">
                <a:spAutoFit/>
              </a:bodyPr>
              <a:lstStyle/>
              <a:p>
                <a:pPr marL="360363" indent="-360363">
                  <a:lnSpc>
                    <a:spcPct val="120000"/>
                  </a:lnSpc>
                  <a:spcAft>
                    <a:spcPts val="600"/>
                  </a:spcAft>
                  <a:buFont typeface="Wingdings" panose="05000000000000000000" pitchFamily="2" charset="2"/>
                  <a:buChar char="n"/>
                </a:pPr>
                <a:r>
                  <a:rPr lang="en-US" altLang="zh-CN" sz="2400" b="1" i="0" dirty="0">
                    <a:solidFill>
                      <a:srgbClr val="222222"/>
                    </a:solidFill>
                    <a:latin typeface="微软雅黑" panose="020B0503020204020204" pitchFamily="34" charset="-122"/>
                    <a:ea typeface="微软雅黑" panose="020B0503020204020204" pitchFamily="34" charset="-122"/>
                  </a:rPr>
                  <a:t>PUMA</a:t>
                </a:r>
                <a:r>
                  <a:rPr lang="zh-CN" altLang="en-US" sz="2400" b="1" i="0" dirty="0">
                    <a:solidFill>
                      <a:srgbClr val="222222"/>
                    </a:solidFill>
                    <a:latin typeface="微软雅黑" panose="020B0503020204020204" pitchFamily="34" charset="-122"/>
                    <a:ea typeface="微软雅黑" panose="020B0503020204020204" pitchFamily="34" charset="-122"/>
                  </a:rPr>
                  <a:t>机器人逆运动学求解总结：</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b="1" i="0" dirty="0">
                    <a:solidFill>
                      <a:srgbClr val="222222"/>
                    </a:solidFill>
                    <a:latin typeface="微软雅黑" panose="020B0503020204020204" pitchFamily="34" charset="-122"/>
                    <a:ea typeface="微软雅黑" panose="020B0503020204020204" pitchFamily="34" charset="-122"/>
                  </a:rPr>
                  <a:t>求解目标为腕部在基座坐标系的位置姿态与关节空间的映射</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en-US" altLang="zh-CN" sz="2400" b="1" i="0" dirty="0">
                    <a:solidFill>
                      <a:srgbClr val="222222"/>
                    </a:solidFill>
                    <a:latin typeface="微软雅黑" panose="020B0503020204020204" pitchFamily="34" charset="-122"/>
                    <a:ea typeface="微软雅黑" panose="020B0503020204020204" pitchFamily="34" charset="-122"/>
                  </a:rPr>
                  <a:t>PUMA</a:t>
                </a:r>
                <a:r>
                  <a:rPr lang="zh-CN" altLang="en-US" sz="2400" b="1" i="0" dirty="0">
                    <a:solidFill>
                      <a:srgbClr val="222222"/>
                    </a:solidFill>
                    <a:latin typeface="微软雅黑" panose="020B0503020204020204" pitchFamily="34" charset="-122"/>
                    <a:ea typeface="微软雅黑" panose="020B0503020204020204" pitchFamily="34" charset="-122"/>
                  </a:rPr>
                  <a:t>机器人末端</a:t>
                </a:r>
                <a:r>
                  <a:rPr lang="en-US" altLang="zh-CN" sz="2400" b="1" i="0" dirty="0">
                    <a:solidFill>
                      <a:srgbClr val="222222"/>
                    </a:solidFill>
                    <a:latin typeface="微软雅黑" panose="020B0503020204020204" pitchFamily="34" charset="-122"/>
                    <a:ea typeface="微软雅黑" panose="020B0503020204020204" pitchFamily="34" charset="-122"/>
                  </a:rPr>
                  <a:t>4</a:t>
                </a:r>
                <a:r>
                  <a:rPr lang="zh-CN" altLang="en-US" sz="2400" b="1" i="0" dirty="0">
                    <a:solidFill>
                      <a:srgbClr val="222222"/>
                    </a:solidFill>
                    <a:latin typeface="微软雅黑" panose="020B0503020204020204" pitchFamily="34" charset="-122"/>
                    <a:ea typeface="微软雅黑" panose="020B0503020204020204" pitchFamily="34" charset="-122"/>
                  </a:rPr>
                  <a:t>，</a:t>
                </a:r>
                <a:r>
                  <a:rPr lang="en-US" altLang="zh-CN" sz="2400" b="1" i="0" dirty="0">
                    <a:solidFill>
                      <a:srgbClr val="222222"/>
                    </a:solidFill>
                    <a:latin typeface="微软雅黑" panose="020B0503020204020204" pitchFamily="34" charset="-122"/>
                    <a:ea typeface="微软雅黑" panose="020B0503020204020204" pitchFamily="34" charset="-122"/>
                  </a:rPr>
                  <a:t>5</a:t>
                </a:r>
                <a:r>
                  <a:rPr lang="zh-CN" altLang="en-US" sz="2400" b="1" i="0" dirty="0">
                    <a:solidFill>
                      <a:srgbClr val="222222"/>
                    </a:solidFill>
                    <a:latin typeface="微软雅黑" panose="020B0503020204020204" pitchFamily="34" charset="-122"/>
                    <a:ea typeface="微软雅黑" panose="020B0503020204020204" pitchFamily="34" charset="-122"/>
                  </a:rPr>
                  <a:t>，</a:t>
                </a:r>
                <a:r>
                  <a:rPr lang="en-US" altLang="zh-CN" sz="2400" b="1" i="0" dirty="0">
                    <a:solidFill>
                      <a:srgbClr val="222222"/>
                    </a:solidFill>
                    <a:latin typeface="微软雅黑" panose="020B0503020204020204" pitchFamily="34" charset="-122"/>
                    <a:ea typeface="微软雅黑" panose="020B0503020204020204" pitchFamily="34" charset="-122"/>
                  </a:rPr>
                  <a:t>6</a:t>
                </a:r>
                <a:r>
                  <a:rPr lang="zh-CN" altLang="en-US" sz="2400" b="1" i="0" dirty="0">
                    <a:solidFill>
                      <a:srgbClr val="222222"/>
                    </a:solidFill>
                    <a:latin typeface="微软雅黑" panose="020B0503020204020204" pitchFamily="34" charset="-122"/>
                    <a:ea typeface="微软雅黑" panose="020B0503020204020204" pitchFamily="34" charset="-122"/>
                  </a:rPr>
                  <a:t>关节相交于一点</a:t>
                </a:r>
                <a:r>
                  <a:rPr lang="en-US" altLang="zh-CN" sz="2400" b="1" i="0" dirty="0">
                    <a:solidFill>
                      <a:srgbClr val="222222"/>
                    </a:solidFill>
                    <a:latin typeface="微软雅黑" panose="020B0503020204020204" pitchFamily="34" charset="-122"/>
                    <a:ea typeface="微软雅黑" panose="020B0503020204020204" pitchFamily="34" charset="-122"/>
                  </a:rPr>
                  <a:t>——</a:t>
                </a:r>
                <a:r>
                  <a:rPr lang="zh-CN" altLang="en-US" sz="2400" b="1" i="0" dirty="0">
                    <a:solidFill>
                      <a:srgbClr val="222222"/>
                    </a:solidFill>
                    <a:latin typeface="微软雅黑" panose="020B0503020204020204" pitchFamily="34" charset="-122"/>
                    <a:ea typeface="微软雅黑" panose="020B0503020204020204" pitchFamily="34" charset="-122"/>
                  </a:rPr>
                  <a:t>封闭解的充分条件</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机器人</a:t>
                </a:r>
                <a:r>
                  <a:rPr lang="zh-CN" altLang="en-US" sz="2000" b="1" i="0" dirty="0">
                    <a:solidFill>
                      <a:srgbClr val="FF0000"/>
                    </a:solidFill>
                    <a:latin typeface="微软雅黑" panose="020B0503020204020204" pitchFamily="34" charset="-122"/>
                    <a:ea typeface="微软雅黑" panose="020B0503020204020204" pitchFamily="34" charset="-122"/>
                  </a:rPr>
                  <a:t>腕部坐标系</a:t>
                </a:r>
                <a:r>
                  <a:rPr lang="zh-CN" altLang="en-US" sz="2000" b="1" i="0" dirty="0">
                    <a:solidFill>
                      <a:srgbClr val="222222"/>
                    </a:solidFill>
                    <a:latin typeface="微软雅黑" panose="020B0503020204020204" pitchFamily="34" charset="-122"/>
                    <a:ea typeface="微软雅黑" panose="020B0503020204020204" pitchFamily="34" charset="-122"/>
                  </a:rPr>
                  <a:t>的</a:t>
                </a:r>
                <a:r>
                  <a:rPr lang="zh-CN" altLang="en-US" sz="2000" b="1" i="0" dirty="0">
                    <a:solidFill>
                      <a:srgbClr val="FF0000"/>
                    </a:solidFill>
                    <a:latin typeface="微软雅黑" panose="020B0503020204020204" pitchFamily="34" charset="-122"/>
                    <a:ea typeface="微软雅黑" panose="020B0503020204020204" pitchFamily="34" charset="-122"/>
                  </a:rPr>
                  <a:t>位置仅由</a:t>
                </a:r>
                <a:r>
                  <a:rPr lang="en-US" altLang="zh-CN" sz="2000" b="1" i="0" dirty="0">
                    <a:solidFill>
                      <a:srgbClr val="222222"/>
                    </a:solidFill>
                    <a:latin typeface="微软雅黑" panose="020B0503020204020204" pitchFamily="34" charset="-122"/>
                    <a:ea typeface="微软雅黑" panose="020B0503020204020204" pitchFamily="34" charset="-122"/>
                  </a:rPr>
                  <a:t>1</a:t>
                </a:r>
                <a:r>
                  <a:rPr lang="zh-CN" altLang="en-US" sz="2000" b="1" i="0" dirty="0">
                    <a:solidFill>
                      <a:srgbClr val="222222"/>
                    </a:solidFill>
                    <a:latin typeface="微软雅黑" panose="020B0503020204020204" pitchFamily="34" charset="-122"/>
                    <a:ea typeface="微软雅黑" panose="020B0503020204020204" pitchFamily="34" charset="-122"/>
                  </a:rPr>
                  <a:t>，</a:t>
                </a:r>
                <a:r>
                  <a:rPr lang="en-US" altLang="zh-CN" sz="2000" b="1" i="0" dirty="0">
                    <a:solidFill>
                      <a:srgbClr val="222222"/>
                    </a:solidFill>
                    <a:latin typeface="微软雅黑" panose="020B0503020204020204" pitchFamily="34" charset="-122"/>
                    <a:ea typeface="微软雅黑" panose="020B0503020204020204" pitchFamily="34" charset="-122"/>
                  </a:rPr>
                  <a:t>2</a:t>
                </a:r>
                <a:r>
                  <a:rPr lang="zh-CN" altLang="en-US" sz="2000" b="1" i="0" dirty="0">
                    <a:solidFill>
                      <a:srgbClr val="222222"/>
                    </a:solidFill>
                    <a:latin typeface="微软雅黑" panose="020B0503020204020204" pitchFamily="34" charset="-122"/>
                    <a:ea typeface="微软雅黑" panose="020B0503020204020204" pitchFamily="34" charset="-122"/>
                  </a:rPr>
                  <a:t>，</a:t>
                </a:r>
                <a:r>
                  <a:rPr lang="en-US" altLang="zh-CN" sz="2000" b="1" i="0" dirty="0">
                    <a:solidFill>
                      <a:srgbClr val="222222"/>
                    </a:solidFill>
                    <a:latin typeface="微软雅黑" panose="020B0503020204020204" pitchFamily="34" charset="-122"/>
                    <a:ea typeface="微软雅黑" panose="020B0503020204020204" pitchFamily="34" charset="-122"/>
                  </a:rPr>
                  <a:t>3</a:t>
                </a:r>
                <a:r>
                  <a:rPr lang="zh-CN" altLang="en-US" sz="2000" b="1" i="0" dirty="0">
                    <a:solidFill>
                      <a:srgbClr val="222222"/>
                    </a:solidFill>
                    <a:latin typeface="微软雅黑" panose="020B0503020204020204" pitchFamily="34" charset="-122"/>
                    <a:ea typeface="微软雅黑" panose="020B0503020204020204" pitchFamily="34" charset="-122"/>
                  </a:rPr>
                  <a:t>关节有关：逆运动学求解的起点</a:t>
                </a:r>
                <a:endParaRPr lang="en-US" altLang="zh-CN" sz="2000" b="1"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末端</a:t>
                </a:r>
                <a:r>
                  <a:rPr lang="en-US" altLang="zh-CN" sz="2000" b="1" i="0" dirty="0">
                    <a:solidFill>
                      <a:srgbClr val="222222"/>
                    </a:solidFill>
                    <a:latin typeface="微软雅黑" panose="020B0503020204020204" pitchFamily="34" charset="-122"/>
                    <a:ea typeface="微软雅黑" panose="020B0503020204020204" pitchFamily="34" charset="-122"/>
                  </a:rPr>
                  <a:t>4</a:t>
                </a:r>
                <a:r>
                  <a:rPr lang="zh-CN" altLang="en-US" sz="2000" b="1" i="0" dirty="0">
                    <a:solidFill>
                      <a:srgbClr val="222222"/>
                    </a:solidFill>
                    <a:latin typeface="微软雅黑" panose="020B0503020204020204" pitchFamily="34" charset="-122"/>
                    <a:ea typeface="微软雅黑" panose="020B0503020204020204" pitchFamily="34" charset="-122"/>
                  </a:rPr>
                  <a:t>，</a:t>
                </a:r>
                <a:r>
                  <a:rPr lang="en-US" altLang="zh-CN" sz="2000" b="1" i="0" dirty="0">
                    <a:solidFill>
                      <a:srgbClr val="222222"/>
                    </a:solidFill>
                    <a:latin typeface="微软雅黑" panose="020B0503020204020204" pitchFamily="34" charset="-122"/>
                    <a:ea typeface="微软雅黑" panose="020B0503020204020204" pitchFamily="34" charset="-122"/>
                  </a:rPr>
                  <a:t>5</a:t>
                </a:r>
                <a:r>
                  <a:rPr lang="zh-CN" altLang="en-US" sz="2000" b="1" i="0" dirty="0">
                    <a:solidFill>
                      <a:srgbClr val="222222"/>
                    </a:solidFill>
                    <a:latin typeface="微软雅黑" panose="020B0503020204020204" pitchFamily="34" charset="-122"/>
                    <a:ea typeface="微软雅黑" panose="020B0503020204020204" pitchFamily="34" charset="-122"/>
                  </a:rPr>
                  <a:t>，</a:t>
                </a:r>
                <a:r>
                  <a:rPr lang="en-US" altLang="zh-CN" sz="2000" b="1" i="0" dirty="0">
                    <a:solidFill>
                      <a:srgbClr val="222222"/>
                    </a:solidFill>
                    <a:latin typeface="微软雅黑" panose="020B0503020204020204" pitchFamily="34" charset="-122"/>
                    <a:ea typeface="微软雅黑" panose="020B0503020204020204" pitchFamily="34" charset="-122"/>
                  </a:rPr>
                  <a:t>6</a:t>
                </a:r>
                <a:r>
                  <a:rPr lang="zh-CN" altLang="en-US" sz="2000" b="1" i="0" dirty="0">
                    <a:solidFill>
                      <a:srgbClr val="222222"/>
                    </a:solidFill>
                    <a:latin typeface="微软雅黑" panose="020B0503020204020204" pitchFamily="34" charset="-122"/>
                    <a:ea typeface="微软雅黑" panose="020B0503020204020204" pitchFamily="34" charset="-122"/>
                  </a:rPr>
                  <a:t>关节相交于一点，可以形成任意姿态</a:t>
                </a:r>
                <a:endParaRPr lang="en-US" altLang="zh-CN" sz="20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en-US" altLang="zh-CN" sz="2400" b="1" i="0" dirty="0">
                    <a:solidFill>
                      <a:srgbClr val="222222"/>
                    </a:solidFill>
                    <a:latin typeface="微软雅黑" panose="020B0503020204020204" pitchFamily="34" charset="-122"/>
                    <a:ea typeface="微软雅黑" panose="020B0503020204020204" pitchFamily="34" charset="-122"/>
                  </a:rPr>
                  <a:t>PUMA</a:t>
                </a:r>
                <a:r>
                  <a:rPr lang="zh-CN" altLang="en-US" sz="2400" b="1" i="0" dirty="0">
                    <a:solidFill>
                      <a:srgbClr val="222222"/>
                    </a:solidFill>
                    <a:latin typeface="微软雅黑" panose="020B0503020204020204" pitchFamily="34" charset="-122"/>
                    <a:ea typeface="微软雅黑" panose="020B0503020204020204" pitchFamily="34" charset="-122"/>
                  </a:rPr>
                  <a:t>机器人逆运动学存在</a:t>
                </a:r>
                <a:r>
                  <a:rPr lang="en-US" altLang="zh-CN" sz="2400" b="1" i="0" dirty="0">
                    <a:solidFill>
                      <a:srgbClr val="222222"/>
                    </a:solidFill>
                    <a:latin typeface="微软雅黑" panose="020B0503020204020204" pitchFamily="34" charset="-122"/>
                    <a:ea typeface="微软雅黑" panose="020B0503020204020204" pitchFamily="34" charset="-122"/>
                  </a:rPr>
                  <a:t>8</a:t>
                </a:r>
                <a:r>
                  <a:rPr lang="zh-CN" altLang="en-US" sz="2400" b="1" dirty="0">
                    <a:solidFill>
                      <a:srgbClr val="222222"/>
                    </a:solidFill>
                    <a:latin typeface="微软雅黑" panose="020B0503020204020204" pitchFamily="34" charset="-122"/>
                    <a:ea typeface="微软雅黑" panose="020B0503020204020204" pitchFamily="34" charset="-122"/>
                  </a:rPr>
                  <a:t>组</a:t>
                </a:r>
                <a:r>
                  <a:rPr lang="zh-CN" altLang="en-US" sz="2400" b="1" i="0" dirty="0">
                    <a:solidFill>
                      <a:srgbClr val="222222"/>
                    </a:solidFill>
                    <a:latin typeface="微软雅黑" panose="020B0503020204020204" pitchFamily="34" charset="-122"/>
                    <a:ea typeface="微软雅黑" panose="020B0503020204020204" pitchFamily="34" charset="-122"/>
                  </a:rPr>
                  <a:t>解，如何取舍</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能量最小：加权，例如质量大</a:t>
                </a:r>
                <a:r>
                  <a:rPr lang="en-US" altLang="zh-CN" sz="2000" b="1" i="0" dirty="0">
                    <a:solidFill>
                      <a:srgbClr val="222222"/>
                    </a:solidFill>
                    <a:latin typeface="微软雅黑" panose="020B0503020204020204" pitchFamily="34" charset="-122"/>
                    <a:ea typeface="微软雅黑" panose="020B0503020204020204" pitchFamily="34" charset="-122"/>
                  </a:rPr>
                  <a:t>/</a:t>
                </a:r>
                <a:r>
                  <a:rPr lang="zh-CN" altLang="en-US" sz="2000" b="1" i="0" dirty="0">
                    <a:solidFill>
                      <a:srgbClr val="222222"/>
                    </a:solidFill>
                    <a:latin typeface="微软雅黑" panose="020B0503020204020204" pitchFamily="34" charset="-122"/>
                    <a:ea typeface="微软雅黑" panose="020B0503020204020204" pitchFamily="34" charset="-122"/>
                  </a:rPr>
                  <a:t>负载大的关节运动距离短</a:t>
                </a:r>
                <a:endParaRPr lang="en-US" altLang="zh-CN" sz="2000" b="1"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规避障碍物：利用合理构型避开障碍物</a:t>
                </a:r>
                <a:endParaRPr lang="en-US" altLang="zh-CN" sz="20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en-US" altLang="zh-CN" sz="2400" b="1" i="0" dirty="0">
                    <a:solidFill>
                      <a:srgbClr val="222222"/>
                    </a:solidFill>
                    <a:latin typeface="微软雅黑" panose="020B0503020204020204" pitchFamily="34" charset="-122"/>
                    <a:ea typeface="微软雅黑" panose="020B0503020204020204" pitchFamily="34" charset="-122"/>
                  </a:rPr>
                  <a:t>PUMA</a:t>
                </a:r>
                <a:r>
                  <a:rPr lang="zh-CN" altLang="en-US" sz="2400" b="1" i="0" dirty="0">
                    <a:solidFill>
                      <a:srgbClr val="222222"/>
                    </a:solidFill>
                    <a:latin typeface="微软雅黑" panose="020B0503020204020204" pitchFamily="34" charset="-122"/>
                    <a:ea typeface="微软雅黑" panose="020B0503020204020204" pitchFamily="34" charset="-122"/>
                  </a:rPr>
                  <a:t>机器人逆运动学解的奇异性</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退化奇异：当</a:t>
                </a:r>
                <a:r>
                  <a:rPr lang="zh-CN" altLang="en-US" sz="2000" b="1" dirty="0">
                    <a:solidFill>
                      <a:srgbClr val="FF0000"/>
                    </a:solidFill>
                  </a:rPr>
                  <a:t> </a:t>
                </a:r>
                <a14:m>
                  <m:oMath xmlns:m="http://schemas.openxmlformats.org/officeDocument/2006/math">
                    <m:d>
                      <m:dPr>
                        <m:begChr m:val=""/>
                        <m:endChr m:val="]"/>
                        <m:ctrlPr>
                          <a:rPr lang="zh-CN" altLang="en-US" sz="2000" b="1" i="1">
                            <a:solidFill>
                              <a:srgbClr val="FF0000"/>
                            </a:solidFill>
                            <a:latin typeface="Cambria Math" panose="02040503050406030204" pitchFamily="18" charset="0"/>
                          </a:rPr>
                        </m:ctrlPr>
                      </m:dPr>
                      <m:e>
                        <m:r>
                          <a:rPr lang="zh-CN" altLang="en-US" sz="2000" b="1" i="0" smtClean="0">
                            <a:solidFill>
                              <a:srgbClr val="FF0000"/>
                            </a:solidFill>
                            <a:latin typeface="Cambria Math" panose="02040503050406030204" pitchFamily="18" charset="0"/>
                          </a:rPr>
                          <m:t>𝐒𝐢𝐧</m:t>
                        </m:r>
                        <m:r>
                          <a:rPr lang="zh-CN" altLang="en-US" sz="2000" b="1" i="0" smtClean="0">
                            <a:solidFill>
                              <a:srgbClr val="FF0000"/>
                            </a:solidFill>
                            <a:latin typeface="Cambria Math" panose="02040503050406030204" pitchFamily="18" charset="0"/>
                          </a:rPr>
                          <m:t>[</m:t>
                        </m:r>
                        <m:sSub>
                          <m:sSubPr>
                            <m:ctrlPr>
                              <a:rPr lang="zh-CN" altLang="en-US" sz="2000" b="1" i="1">
                                <a:solidFill>
                                  <a:srgbClr val="FF0000"/>
                                </a:solidFill>
                                <a:latin typeface="Cambria Math" panose="02040503050406030204" pitchFamily="18" charset="0"/>
                              </a:rPr>
                            </m:ctrlPr>
                          </m:sSubPr>
                          <m:e>
                            <m:r>
                              <a:rPr lang="zh-CN" altLang="en-US" sz="2000" b="1" i="1" smtClean="0">
                                <a:solidFill>
                                  <a:srgbClr val="FF0000"/>
                                </a:solidFill>
                                <a:latin typeface="Cambria Math" panose="02040503050406030204" pitchFamily="18" charset="0"/>
                              </a:rPr>
                              <m:t>𝛉</m:t>
                            </m:r>
                          </m:e>
                          <m:sub>
                            <m:r>
                              <a:rPr lang="zh-CN" altLang="en-US" sz="2000" b="1" i="0" smtClean="0">
                                <a:solidFill>
                                  <a:srgbClr val="FF0000"/>
                                </a:solidFill>
                                <a:latin typeface="Cambria Math" panose="02040503050406030204" pitchFamily="18" charset="0"/>
                              </a:rPr>
                              <m:t>𝟓</m:t>
                            </m:r>
                          </m:sub>
                        </m:sSub>
                      </m:e>
                    </m:d>
                    <m:r>
                      <a:rPr lang="en-US" altLang="zh-CN" sz="2000" b="1" smtClean="0">
                        <a:solidFill>
                          <a:srgbClr val="FF0000"/>
                        </a:solidFill>
                        <a:latin typeface="Cambria Math" panose="02040503050406030204" pitchFamily="18" charset="0"/>
                      </a:rPr>
                      <m:t>=</m:t>
                    </m:r>
                    <m:r>
                      <a:rPr lang="en-US" altLang="zh-CN" sz="2000" b="1" smtClean="0">
                        <a:solidFill>
                          <a:srgbClr val="FF0000"/>
                        </a:solidFill>
                        <a:latin typeface="Cambria Math" panose="02040503050406030204" pitchFamily="18" charset="0"/>
                      </a:rPr>
                      <m:t>𝟎</m:t>
                    </m:r>
                  </m:oMath>
                </a14:m>
                <a:r>
                  <a:rPr lang="zh-CN" altLang="en-US" sz="2000" b="1" i="0" dirty="0">
                    <a:solidFill>
                      <a:srgbClr val="222222"/>
                    </a:solidFill>
                    <a:latin typeface="微软雅黑" panose="020B0503020204020204" pitchFamily="34" charset="-122"/>
                    <a:ea typeface="微软雅黑" panose="020B0503020204020204" pitchFamily="34" charset="-122"/>
                  </a:rPr>
                  <a:t>时，机器人第</a:t>
                </a:r>
                <a:r>
                  <a:rPr lang="en-US" altLang="zh-CN" sz="2000" b="1" i="0" dirty="0">
                    <a:solidFill>
                      <a:srgbClr val="222222"/>
                    </a:solidFill>
                    <a:latin typeface="微软雅黑" panose="020B0503020204020204" pitchFamily="34" charset="-122"/>
                    <a:ea typeface="微软雅黑" panose="020B0503020204020204" pitchFamily="34" charset="-122"/>
                  </a:rPr>
                  <a:t>4</a:t>
                </a:r>
                <a:r>
                  <a:rPr lang="zh-CN" altLang="en-US" sz="2000" b="1" i="0" dirty="0">
                    <a:solidFill>
                      <a:srgbClr val="222222"/>
                    </a:solidFill>
                    <a:latin typeface="微软雅黑" panose="020B0503020204020204" pitchFamily="34" charset="-122"/>
                    <a:ea typeface="微软雅黑" panose="020B0503020204020204" pitchFamily="34" charset="-122"/>
                  </a:rPr>
                  <a:t>、</a:t>
                </a:r>
                <a:r>
                  <a:rPr lang="en-US" altLang="zh-CN" sz="2000" b="1" i="0" dirty="0">
                    <a:solidFill>
                      <a:srgbClr val="222222"/>
                    </a:solidFill>
                    <a:latin typeface="微软雅黑" panose="020B0503020204020204" pitchFamily="34" charset="-122"/>
                    <a:ea typeface="微软雅黑" panose="020B0503020204020204" pitchFamily="34" charset="-122"/>
                  </a:rPr>
                  <a:t>6</a:t>
                </a:r>
                <a:r>
                  <a:rPr lang="zh-CN" altLang="en-US" sz="2000" b="1" i="0" dirty="0">
                    <a:solidFill>
                      <a:srgbClr val="222222"/>
                    </a:solidFill>
                    <a:latin typeface="微软雅黑" panose="020B0503020204020204" pitchFamily="34" charset="-122"/>
                    <a:ea typeface="微软雅黑" panose="020B0503020204020204" pitchFamily="34" charset="-122"/>
                  </a:rPr>
                  <a:t>自由度合二为一</a:t>
                </a:r>
                <a:endParaRPr lang="en-US" altLang="zh-CN" sz="2000" b="1"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en-US" altLang="zh-CN" sz="2400" b="1" i="0" dirty="0">
                    <a:solidFill>
                      <a:srgbClr val="222222"/>
                    </a:solidFill>
                    <a:latin typeface="微软雅黑" panose="020B0503020204020204" pitchFamily="34" charset="-122"/>
                    <a:ea typeface="微软雅黑" panose="020B0503020204020204" pitchFamily="34" charset="-122"/>
                  </a:rPr>
                  <a:t>PUMA</a:t>
                </a:r>
                <a:r>
                  <a:rPr lang="zh-CN" altLang="en-US" sz="2400" b="1" i="0" dirty="0">
                    <a:solidFill>
                      <a:srgbClr val="222222"/>
                    </a:solidFill>
                    <a:latin typeface="微软雅黑" panose="020B0503020204020204" pitchFamily="34" charset="-122"/>
                    <a:ea typeface="微软雅黑" panose="020B0503020204020204" pitchFamily="34" charset="-122"/>
                  </a:rPr>
                  <a:t>机器人逆运动学求解的存在性</a:t>
                </a:r>
                <a:endParaRPr lang="en-US" altLang="zh-CN" sz="2400" b="1" i="0" dirty="0">
                  <a:solidFill>
                    <a:srgbClr val="222222"/>
                  </a:solidFill>
                  <a:latin typeface="微软雅黑" panose="020B0503020204020204" pitchFamily="34" charset="-122"/>
                  <a:ea typeface="微软雅黑" panose="020B0503020204020204" pitchFamily="34" charset="-122"/>
                </a:endParaRPr>
              </a:p>
              <a:p>
                <a:pPr marL="1274763" lvl="2" indent="-360363">
                  <a:spcAft>
                    <a:spcPts val="600"/>
                  </a:spcAft>
                  <a:buFont typeface="Wingdings" panose="05000000000000000000" pitchFamily="2" charset="2"/>
                  <a:buChar char="ü"/>
                </a:pPr>
                <a:r>
                  <a:rPr lang="zh-CN" altLang="en-US" sz="2000" b="1" i="0" dirty="0">
                    <a:solidFill>
                      <a:srgbClr val="222222"/>
                    </a:solidFill>
                    <a:latin typeface="微软雅黑" panose="020B0503020204020204" pitchFamily="34" charset="-122"/>
                    <a:ea typeface="微软雅黑" panose="020B0503020204020204" pitchFamily="34" charset="-122"/>
                  </a:rPr>
                  <a:t>期望位姿需要在机器人的工作空间：</a:t>
                </a:r>
                <a:r>
                  <a:rPr lang="zh-CN" altLang="en-US" sz="2000" b="1" i="0" dirty="0">
                    <a:solidFill>
                      <a:srgbClr val="FF0000"/>
                    </a:solidFill>
                    <a:latin typeface="微软雅黑" panose="020B0503020204020204" pitchFamily="34" charset="-122"/>
                    <a:ea typeface="微软雅黑" panose="020B0503020204020204" pitchFamily="34" charset="-122"/>
                  </a:rPr>
                  <a:t>若</a:t>
                </a:r>
                <a14:m>
                  <m:oMath xmlns:m="http://schemas.openxmlformats.org/officeDocument/2006/math">
                    <m:rad>
                      <m:radPr>
                        <m:degHide m:val="on"/>
                        <m:ctrlPr>
                          <a:rPr lang="en-US" altLang="zh-CN" sz="2000" b="1" i="1">
                            <a:solidFill>
                              <a:srgbClr val="FF0000"/>
                            </a:solidFill>
                            <a:latin typeface="Cambria Math" panose="02040503050406030204" pitchFamily="18" charset="0"/>
                            <a:ea typeface="微软雅黑" panose="020B0503020204020204" pitchFamily="34" charset="-122"/>
                          </a:rPr>
                        </m:ctrlPr>
                      </m:radPr>
                      <m:deg/>
                      <m:e>
                        <m:sSubSup>
                          <m:sSubSupPr>
                            <m:ctrlPr>
                              <a:rPr lang="en-US" altLang="zh-CN" sz="2000" b="1" i="1">
                                <a:solidFill>
                                  <a:srgbClr val="FF0000"/>
                                </a:solidFill>
                                <a:latin typeface="Cambria Math" panose="02040503050406030204" pitchFamily="18" charset="0"/>
                                <a:ea typeface="微软雅黑" panose="020B0503020204020204" pitchFamily="34" charset="-122"/>
                              </a:rPr>
                            </m:ctrlPr>
                          </m:sSubSupPr>
                          <m:e>
                            <m:r>
                              <a:rPr lang="zh-CN" altLang="en-US" sz="2000" b="1" i="1" smtClean="0">
                                <a:solidFill>
                                  <a:srgbClr val="FF0000"/>
                                </a:solidFill>
                                <a:latin typeface="Cambria Math" panose="02040503050406030204" pitchFamily="18" charset="0"/>
                                <a:ea typeface="微软雅黑" panose="020B0503020204020204" pitchFamily="34" charset="-122"/>
                              </a:rPr>
                              <m:t>𝐩</m:t>
                            </m:r>
                          </m:e>
                          <m:sub>
                            <m:r>
                              <a:rPr lang="zh-CN" altLang="en-US" sz="2000" b="1" i="1" smtClean="0">
                                <a:solidFill>
                                  <a:srgbClr val="FF0000"/>
                                </a:solidFill>
                                <a:latin typeface="Cambria Math" panose="02040503050406030204" pitchFamily="18" charset="0"/>
                                <a:ea typeface="微软雅黑" panose="020B0503020204020204" pitchFamily="34" charset="-122"/>
                              </a:rPr>
                              <m:t>𝐱</m:t>
                            </m:r>
                          </m:sub>
                          <m:sup>
                            <m:r>
                              <a:rPr lang="en-US" altLang="zh-CN" sz="2000" b="1" smtClean="0">
                                <a:solidFill>
                                  <a:srgbClr val="FF0000"/>
                                </a:solidFill>
                                <a:latin typeface="Cambria Math" panose="02040503050406030204" pitchFamily="18" charset="0"/>
                                <a:ea typeface="微软雅黑" panose="020B0503020204020204" pitchFamily="34" charset="-122"/>
                              </a:rPr>
                              <m:t>𝟐</m:t>
                            </m:r>
                          </m:sup>
                        </m:sSubSup>
                        <m:r>
                          <a:rPr lang="en-US" altLang="zh-CN" sz="2000" b="1" smtClean="0">
                            <a:solidFill>
                              <a:srgbClr val="FF0000"/>
                            </a:solidFill>
                            <a:latin typeface="Cambria Math" panose="02040503050406030204" pitchFamily="18" charset="0"/>
                            <a:ea typeface="微软雅黑" panose="020B0503020204020204" pitchFamily="34" charset="-122"/>
                          </a:rPr>
                          <m:t>+</m:t>
                        </m:r>
                        <m:sSubSup>
                          <m:sSubSupPr>
                            <m:ctrlPr>
                              <a:rPr lang="en-US" altLang="zh-CN" sz="2000" b="1" i="1">
                                <a:solidFill>
                                  <a:srgbClr val="FF0000"/>
                                </a:solidFill>
                                <a:latin typeface="Cambria Math" panose="02040503050406030204" pitchFamily="18" charset="0"/>
                                <a:ea typeface="微软雅黑" panose="020B0503020204020204" pitchFamily="34" charset="-122"/>
                              </a:rPr>
                            </m:ctrlPr>
                          </m:sSubSupPr>
                          <m:e>
                            <m:r>
                              <a:rPr lang="zh-CN" altLang="en-US" sz="2000" b="1" i="1" smtClean="0">
                                <a:solidFill>
                                  <a:srgbClr val="FF0000"/>
                                </a:solidFill>
                                <a:latin typeface="Cambria Math" panose="02040503050406030204" pitchFamily="18" charset="0"/>
                                <a:ea typeface="微软雅黑" panose="020B0503020204020204" pitchFamily="34" charset="-122"/>
                              </a:rPr>
                              <m:t>𝐩</m:t>
                            </m:r>
                          </m:e>
                          <m:sub>
                            <m:r>
                              <a:rPr lang="zh-CN" altLang="en-US" sz="2000" b="1" i="1" smtClean="0">
                                <a:solidFill>
                                  <a:srgbClr val="FF0000"/>
                                </a:solidFill>
                                <a:latin typeface="Cambria Math" panose="02040503050406030204" pitchFamily="18" charset="0"/>
                                <a:ea typeface="微软雅黑" panose="020B0503020204020204" pitchFamily="34" charset="-122"/>
                              </a:rPr>
                              <m:t>𝐲</m:t>
                            </m:r>
                          </m:sub>
                          <m:sup>
                            <m:r>
                              <a:rPr lang="en-US" altLang="zh-CN" sz="2000" b="1" smtClean="0">
                                <a:solidFill>
                                  <a:srgbClr val="FF0000"/>
                                </a:solidFill>
                                <a:latin typeface="Cambria Math" panose="02040503050406030204" pitchFamily="18" charset="0"/>
                                <a:ea typeface="微软雅黑" panose="020B0503020204020204" pitchFamily="34" charset="-122"/>
                              </a:rPr>
                              <m:t>𝟐</m:t>
                            </m:r>
                          </m:sup>
                        </m:sSubSup>
                      </m:e>
                    </m:rad>
                    <m:r>
                      <a:rPr lang="en-US" altLang="zh-CN" sz="2000" b="1" smtClean="0">
                        <a:solidFill>
                          <a:srgbClr val="FF0000"/>
                        </a:solidFill>
                        <a:latin typeface="Cambria Math" panose="02040503050406030204" pitchFamily="18" charset="0"/>
                        <a:ea typeface="微软雅黑" panose="020B0503020204020204" pitchFamily="34" charset="-122"/>
                      </a:rPr>
                      <m:t>&gt;</m:t>
                    </m:r>
                    <m:sSub>
                      <m:sSubPr>
                        <m:ctrlPr>
                          <a:rPr lang="en-US" altLang="zh-CN" sz="2000" b="1" i="1">
                            <a:solidFill>
                              <a:srgbClr val="FF0000"/>
                            </a:solidFill>
                            <a:latin typeface="Cambria Math" panose="02040503050406030204" pitchFamily="18" charset="0"/>
                            <a:ea typeface="微软雅黑" panose="020B0503020204020204" pitchFamily="34" charset="-122"/>
                          </a:rPr>
                        </m:ctrlPr>
                      </m:sSubPr>
                      <m:e>
                        <m:r>
                          <a:rPr lang="en-US" altLang="zh-CN" sz="2000" b="1" i="1" smtClean="0">
                            <a:solidFill>
                              <a:srgbClr val="FF0000"/>
                            </a:solidFill>
                            <a:latin typeface="Cambria Math" panose="02040503050406030204" pitchFamily="18" charset="0"/>
                            <a:ea typeface="微软雅黑" panose="020B0503020204020204" pitchFamily="34" charset="-122"/>
                          </a:rPr>
                          <m:t>𝐋</m:t>
                        </m:r>
                      </m:e>
                      <m:sub>
                        <m:r>
                          <a:rPr lang="en-US" altLang="zh-CN" sz="2000" b="1" smtClean="0">
                            <a:solidFill>
                              <a:srgbClr val="FF0000"/>
                            </a:solidFill>
                            <a:latin typeface="Cambria Math" panose="02040503050406030204" pitchFamily="18" charset="0"/>
                            <a:ea typeface="微软雅黑" panose="020B0503020204020204" pitchFamily="34" charset="-122"/>
                          </a:rPr>
                          <m:t>𝟑</m:t>
                        </m:r>
                      </m:sub>
                    </m:sSub>
                  </m:oMath>
                </a14:m>
                <a:r>
                  <a:rPr lang="zh-CN" altLang="en-US" sz="2000" b="1" i="0" dirty="0">
                    <a:solidFill>
                      <a:srgbClr val="FF0000"/>
                    </a:solidFill>
                    <a:latin typeface="微软雅黑" panose="020B0503020204020204" pitchFamily="34" charset="-122"/>
                    <a:ea typeface="微软雅黑" panose="020B0503020204020204" pitchFamily="34" charset="-122"/>
                  </a:rPr>
                  <a:t>且</a:t>
                </a:r>
                <a14:m>
                  <m:oMath xmlns:m="http://schemas.openxmlformats.org/officeDocument/2006/math">
                    <m:r>
                      <a:rPr lang="en-US" altLang="zh-CN" sz="2000" b="1" i="1" dirty="0" smtClean="0">
                        <a:solidFill>
                          <a:srgbClr val="FF0000"/>
                        </a:solidFill>
                        <a:latin typeface="Cambria Math" panose="02040503050406030204" pitchFamily="18" charset="0"/>
                        <a:ea typeface="微软雅黑" panose="020B0503020204020204" pitchFamily="34" charset="-122"/>
                      </a:rPr>
                      <m:t>𝐤</m:t>
                    </m:r>
                    <m:r>
                      <a:rPr lang="en-US" altLang="zh-CN" sz="2000" b="1" i="1" dirty="0" smtClean="0">
                        <a:solidFill>
                          <a:srgbClr val="FF0000"/>
                        </a:solidFill>
                        <a:latin typeface="Cambria Math" panose="02040503050406030204" pitchFamily="18" charset="0"/>
                        <a:ea typeface="微软雅黑" panose="020B0503020204020204" pitchFamily="34" charset="-122"/>
                      </a:rPr>
                      <m:t>&lt;</m:t>
                    </m:r>
                    <m:r>
                      <a:rPr lang="en-US" altLang="zh-CN" sz="2000" b="1" dirty="0" smtClean="0">
                        <a:solidFill>
                          <a:srgbClr val="FF0000"/>
                        </a:solidFill>
                        <a:latin typeface="Cambria Math" panose="02040503050406030204" pitchFamily="18" charset="0"/>
                        <a:ea typeface="微软雅黑" panose="020B0503020204020204" pitchFamily="34" charset="-122"/>
                      </a:rPr>
                      <m:t>𝟏</m:t>
                    </m:r>
                  </m:oMath>
                </a14:m>
                <a:r>
                  <a:rPr lang="zh-CN" altLang="en-US" sz="2000" b="1" i="0" dirty="0">
                    <a:solidFill>
                      <a:srgbClr val="FF0000"/>
                    </a:solidFill>
                    <a:latin typeface="微软雅黑" panose="020B0503020204020204" pitchFamily="34" charset="-122"/>
                    <a:ea typeface="微软雅黑" panose="020B0503020204020204" pitchFamily="34" charset="-122"/>
                  </a:rPr>
                  <a:t>且</a:t>
                </a:r>
                <a14:m>
                  <m:oMath xmlns:m="http://schemas.openxmlformats.org/officeDocument/2006/math">
                    <m:sSup>
                      <m:sSupPr>
                        <m:ctrlPr>
                          <a:rPr lang="en-US" altLang="zh-CN" sz="2000" b="1" i="1" dirty="0">
                            <a:solidFill>
                              <a:srgbClr val="FF0000"/>
                            </a:solidFill>
                            <a:latin typeface="Cambria Math" panose="02040503050406030204" pitchFamily="18" charset="0"/>
                            <a:ea typeface="微软雅黑" panose="020B0503020204020204" pitchFamily="34" charset="-122"/>
                          </a:rPr>
                        </m:ctrlPr>
                      </m:sSupPr>
                      <m:e>
                        <m:r>
                          <a:rPr lang="en-US" altLang="zh-CN" sz="2000" b="1" i="1" dirty="0" smtClean="0">
                            <a:solidFill>
                              <a:srgbClr val="FF0000"/>
                            </a:solidFill>
                            <a:latin typeface="Cambria Math" panose="02040503050406030204" pitchFamily="18" charset="0"/>
                            <a:ea typeface="微软雅黑" panose="020B0503020204020204" pitchFamily="34" charset="-122"/>
                          </a:rPr>
                          <m:t>𝐤</m:t>
                        </m:r>
                      </m:e>
                      <m:sup>
                        <m:r>
                          <a:rPr lang="en-US" altLang="zh-CN" sz="2000" b="1" dirty="0" smtClean="0">
                            <a:solidFill>
                              <a:srgbClr val="FF0000"/>
                            </a:solidFill>
                            <a:latin typeface="Cambria Math" panose="02040503050406030204" pitchFamily="18" charset="0"/>
                            <a:ea typeface="微软雅黑" panose="020B0503020204020204" pitchFamily="34" charset="-122"/>
                          </a:rPr>
                          <m:t>′</m:t>
                        </m:r>
                      </m:sup>
                    </m:sSup>
                    <m:r>
                      <a:rPr lang="en-US" altLang="zh-CN" sz="2000" b="1" i="1" dirty="0" smtClean="0">
                        <a:solidFill>
                          <a:srgbClr val="FF0000"/>
                        </a:solidFill>
                        <a:latin typeface="Cambria Math" panose="02040503050406030204" pitchFamily="18" charset="0"/>
                        <a:ea typeface="微软雅黑" panose="020B0503020204020204" pitchFamily="34" charset="-122"/>
                      </a:rPr>
                      <m:t>&lt;</m:t>
                    </m:r>
                    <m:r>
                      <a:rPr lang="en-US" altLang="zh-CN" sz="2000" b="1" dirty="0" smtClean="0">
                        <a:solidFill>
                          <a:srgbClr val="FF0000"/>
                        </a:solidFill>
                        <a:latin typeface="Cambria Math" panose="02040503050406030204" pitchFamily="18" charset="0"/>
                        <a:ea typeface="微软雅黑" panose="020B0503020204020204" pitchFamily="34" charset="-122"/>
                      </a:rPr>
                      <m:t>𝟏</m:t>
                    </m:r>
                  </m:oMath>
                </a14:m>
                <a:endParaRPr lang="zh-CN" altLang="en-US" sz="2000" b="1" i="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A93A8A86-121D-40AF-9905-05F452D7D6BA}"/>
                  </a:ext>
                </a:extLst>
              </p:cNvPr>
              <p:cNvSpPr>
                <a:spLocks noRot="1" noChangeAspect="1" noMove="1" noResize="1" noEditPoints="1" noAdjustHandles="1" noChangeArrowheads="1" noChangeShapeType="1" noTextEdit="1"/>
              </p:cNvSpPr>
              <p:nvPr/>
            </p:nvSpPr>
            <p:spPr>
              <a:xfrm>
                <a:off x="695400" y="711987"/>
                <a:ext cx="10523790" cy="6070893"/>
              </a:xfrm>
              <a:prstGeom prst="rect">
                <a:avLst/>
              </a:prstGeom>
              <a:blipFill>
                <a:blip r:embed="rId2"/>
                <a:stretch>
                  <a:fillRect l="-753" t="-201"/>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566E729E-74B5-426F-AA0E-07783BC849EB}"/>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4.2 </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代数法</a:t>
            </a:r>
            <a:r>
              <a:rPr lang="en-US" altLang="zh-CN" sz="2800" b="1" dirty="0">
                <a:solidFill>
                  <a:srgbClr val="9D1317"/>
                </a:solidFill>
                <a:latin typeface="微软雅黑" panose="020B0503020204020204" pitchFamily="34" charset="-122"/>
                <a:ea typeface="微软雅黑" panose="020B0503020204020204" pitchFamily="34" charset="-122"/>
              </a:rPr>
              <a:t>—</a:t>
            </a:r>
            <a:r>
              <a:rPr lang="zh-CN" altLang="en-US" sz="2800" b="1" dirty="0">
                <a:solidFill>
                  <a:srgbClr val="9D1317"/>
                </a:solidFill>
                <a:latin typeface="微软雅黑" panose="020B0503020204020204" pitchFamily="34" charset="-122"/>
                <a:ea typeface="微软雅黑" panose="020B0503020204020204" pitchFamily="34" charset="-122"/>
              </a:rPr>
              <a:t>小结</a:t>
            </a:r>
          </a:p>
        </p:txBody>
      </p:sp>
    </p:spTree>
    <p:extLst>
      <p:ext uri="{BB962C8B-B14F-4D97-AF65-F5344CB8AC3E}">
        <p14:creationId xmlns:p14="http://schemas.microsoft.com/office/powerpoint/2010/main" val="88814913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7">
            <a:extLst>
              <a:ext uri="{FF2B5EF4-FFF2-40B4-BE49-F238E27FC236}">
                <a16:creationId xmlns:a16="http://schemas.microsoft.com/office/drawing/2014/main" id="{42D3601E-2A97-4298-9E35-5F3EFBD8B527}"/>
              </a:ext>
            </a:extLst>
          </p:cNvPr>
          <p:cNvSpPr txBox="1">
            <a:spLocks/>
          </p:cNvSpPr>
          <p:nvPr/>
        </p:nvSpPr>
        <p:spPr>
          <a:xfrm>
            <a:off x="0" y="70984"/>
            <a:ext cx="12192000" cy="5497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solidFill>
                  <a:schemeClr val="accent4">
                    <a:lumMod val="50000"/>
                  </a:schemeClr>
                </a:solidFill>
                <a:latin typeface="微软雅黑" panose="020B0503020204020204" pitchFamily="34" charset="-122"/>
                <a:ea typeface="微软雅黑" panose="020B0503020204020204" pitchFamily="34" charset="-122"/>
              </a:rPr>
              <a:t>课程内容</a:t>
            </a:r>
          </a:p>
        </p:txBody>
      </p:sp>
      <p:grpSp>
        <p:nvGrpSpPr>
          <p:cNvPr id="21" name="组合 20">
            <a:extLst>
              <a:ext uri="{FF2B5EF4-FFF2-40B4-BE49-F238E27FC236}">
                <a16:creationId xmlns:a16="http://schemas.microsoft.com/office/drawing/2014/main" id="{E04DA488-34A8-4BB2-9570-44F909BAA1D6}"/>
              </a:ext>
            </a:extLst>
          </p:cNvPr>
          <p:cNvGrpSpPr/>
          <p:nvPr/>
        </p:nvGrpSpPr>
        <p:grpSpPr>
          <a:xfrm>
            <a:off x="2274561" y="3046524"/>
            <a:ext cx="7540362" cy="726162"/>
            <a:chOff x="2228047" y="3261190"/>
            <a:chExt cx="7540362" cy="726162"/>
          </a:xfrm>
        </p:grpSpPr>
        <p:grpSp>
          <p:nvGrpSpPr>
            <p:cNvPr id="22" name="组合 21">
              <a:extLst>
                <a:ext uri="{FF2B5EF4-FFF2-40B4-BE49-F238E27FC236}">
                  <a16:creationId xmlns:a16="http://schemas.microsoft.com/office/drawing/2014/main" id="{21ECC2D1-3206-4983-8CA5-283B9BA58860}"/>
                </a:ext>
              </a:extLst>
            </p:cNvPr>
            <p:cNvGrpSpPr/>
            <p:nvPr/>
          </p:nvGrpSpPr>
          <p:grpSpPr>
            <a:xfrm>
              <a:off x="2798723" y="3261190"/>
              <a:ext cx="6969686" cy="726162"/>
              <a:chOff x="2438826" y="4214941"/>
              <a:chExt cx="5708740" cy="726162"/>
            </a:xfrm>
          </p:grpSpPr>
          <p:sp>
            <p:nvSpPr>
              <p:cNvPr id="26" name="Line 22">
                <a:extLst>
                  <a:ext uri="{FF2B5EF4-FFF2-40B4-BE49-F238E27FC236}">
                    <a16:creationId xmlns:a16="http://schemas.microsoft.com/office/drawing/2014/main" id="{98483C49-1D27-4311-BA4A-5B5160EB4519}"/>
                  </a:ext>
                </a:extLst>
              </p:cNvPr>
              <p:cNvSpPr>
                <a:spLocks noChangeShapeType="1"/>
              </p:cNvSpPr>
              <p:nvPr/>
            </p:nvSpPr>
            <p:spPr bwMode="auto">
              <a:xfrm flipV="1">
                <a:off x="2438826" y="4583810"/>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27" name="AutoShape 26">
                <a:extLst>
                  <a:ext uri="{FF2B5EF4-FFF2-40B4-BE49-F238E27FC236}">
                    <a16:creationId xmlns:a16="http://schemas.microsoft.com/office/drawing/2014/main" id="{C2EB5E3D-B3AB-42F6-9D39-BE9D6DADD95F}"/>
                  </a:ext>
                </a:extLst>
              </p:cNvPr>
              <p:cNvSpPr>
                <a:spLocks noChangeArrowheads="1"/>
              </p:cNvSpPr>
              <p:nvPr/>
            </p:nvSpPr>
            <p:spPr bwMode="auto">
              <a:xfrm>
                <a:off x="2716059" y="4214941"/>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2. </a:t>
                </a:r>
                <a:r>
                  <a:rPr lang="zh-CN" altLang="en-US" sz="3200" dirty="0">
                    <a:solidFill>
                      <a:prstClr val="black"/>
                    </a:solidFill>
                    <a:latin typeface="微软雅黑" panose="020B0503020204020204" pitchFamily="34" charset="-122"/>
                    <a:ea typeface="微软雅黑" panose="020B0503020204020204" pitchFamily="34" charset="-122"/>
                  </a:rPr>
                  <a:t>机器人逆运动学求取方法</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23" name="组合 22">
              <a:extLst>
                <a:ext uri="{FF2B5EF4-FFF2-40B4-BE49-F238E27FC236}">
                  <a16:creationId xmlns:a16="http://schemas.microsoft.com/office/drawing/2014/main" id="{8819CC38-77E1-4D82-88A3-D036871DA939}"/>
                </a:ext>
              </a:extLst>
            </p:cNvPr>
            <p:cNvGrpSpPr/>
            <p:nvPr/>
          </p:nvGrpSpPr>
          <p:grpSpPr>
            <a:xfrm>
              <a:off x="2228047" y="3333436"/>
              <a:ext cx="570676" cy="598244"/>
              <a:chOff x="4613213" y="4247997"/>
              <a:chExt cx="504000" cy="504000"/>
            </a:xfrm>
          </p:grpSpPr>
          <p:sp>
            <p:nvSpPr>
              <p:cNvPr id="24" name="椭圆 23">
                <a:extLst>
                  <a:ext uri="{FF2B5EF4-FFF2-40B4-BE49-F238E27FC236}">
                    <a16:creationId xmlns:a16="http://schemas.microsoft.com/office/drawing/2014/main" id="{6A6784AE-BF4A-42B7-B8A9-6D4CAA1E58C1}"/>
                  </a:ext>
                </a:extLst>
              </p:cNvPr>
              <p:cNvSpPr/>
              <p:nvPr/>
            </p:nvSpPr>
            <p:spPr>
              <a:xfrm>
                <a:off x="4613213" y="4247997"/>
                <a:ext cx="504000" cy="504000"/>
              </a:xfrm>
              <a:prstGeom prst="ellips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solidFill>
                    <a:prstClr val="white"/>
                  </a:solidFill>
                  <a:latin typeface="华文中宋" panose="02010600040101010101" pitchFamily="2" charset="-122"/>
                  <a:ea typeface="华文中宋" panose="02010600040101010101" pitchFamily="2" charset="-122"/>
                </a:endParaRPr>
              </a:p>
            </p:txBody>
          </p:sp>
          <p:sp>
            <p:nvSpPr>
              <p:cNvPr id="25" name="Freeform 70">
                <a:extLst>
                  <a:ext uri="{FF2B5EF4-FFF2-40B4-BE49-F238E27FC236}">
                    <a16:creationId xmlns:a16="http://schemas.microsoft.com/office/drawing/2014/main" id="{B65B2162-1219-45CE-A279-1597D1791A7A}"/>
                  </a:ext>
                </a:extLst>
              </p:cNvPr>
              <p:cNvSpPr>
                <a:spLocks noChangeAspect="1" noEditPoints="1"/>
              </p:cNvSpPr>
              <p:nvPr/>
            </p:nvSpPr>
            <p:spPr bwMode="auto">
              <a:xfrm>
                <a:off x="4703213" y="4337463"/>
                <a:ext cx="324000" cy="325068"/>
              </a:xfrm>
              <a:custGeom>
                <a:avLst/>
                <a:gdLst>
                  <a:gd name="T0" fmla="*/ 111 w 128"/>
                  <a:gd name="T1" fmla="*/ 62 h 128"/>
                  <a:gd name="T2" fmla="*/ 68 w 128"/>
                  <a:gd name="T3" fmla="*/ 17 h 128"/>
                  <a:gd name="T4" fmla="*/ 66 w 128"/>
                  <a:gd name="T5" fmla="*/ 2 h 128"/>
                  <a:gd name="T6" fmla="*/ 62 w 128"/>
                  <a:gd name="T7" fmla="*/ 2 h 128"/>
                  <a:gd name="T8" fmla="*/ 60 w 128"/>
                  <a:gd name="T9" fmla="*/ 17 h 128"/>
                  <a:gd name="T10" fmla="*/ 17 w 128"/>
                  <a:gd name="T11" fmla="*/ 62 h 128"/>
                  <a:gd name="T12" fmla="*/ 0 w 128"/>
                  <a:gd name="T13" fmla="*/ 64 h 128"/>
                  <a:gd name="T14" fmla="*/ 17 w 128"/>
                  <a:gd name="T15" fmla="*/ 66 h 128"/>
                  <a:gd name="T16" fmla="*/ 60 w 128"/>
                  <a:gd name="T17" fmla="*/ 111 h 128"/>
                  <a:gd name="T18" fmla="*/ 62 w 128"/>
                  <a:gd name="T19" fmla="*/ 126 h 128"/>
                  <a:gd name="T20" fmla="*/ 66 w 128"/>
                  <a:gd name="T21" fmla="*/ 126 h 128"/>
                  <a:gd name="T22" fmla="*/ 68 w 128"/>
                  <a:gd name="T23" fmla="*/ 111 h 128"/>
                  <a:gd name="T24" fmla="*/ 111 w 128"/>
                  <a:gd name="T25" fmla="*/ 66 h 128"/>
                  <a:gd name="T26" fmla="*/ 128 w 128"/>
                  <a:gd name="T27" fmla="*/ 64 h 128"/>
                  <a:gd name="T28" fmla="*/ 62 w 128"/>
                  <a:gd name="T29" fmla="*/ 106 h 128"/>
                  <a:gd name="T30" fmla="*/ 48 w 128"/>
                  <a:gd name="T31" fmla="*/ 103 h 128"/>
                  <a:gd name="T32" fmla="*/ 25 w 128"/>
                  <a:gd name="T33" fmla="*/ 80 h 128"/>
                  <a:gd name="T34" fmla="*/ 22 w 128"/>
                  <a:gd name="T35" fmla="*/ 66 h 128"/>
                  <a:gd name="T36" fmla="*/ 62 w 128"/>
                  <a:gd name="T37" fmla="*/ 106 h 128"/>
                  <a:gd name="T38" fmla="*/ 22 w 128"/>
                  <a:gd name="T39" fmla="*/ 62 h 128"/>
                  <a:gd name="T40" fmla="*/ 25 w 128"/>
                  <a:gd name="T41" fmla="*/ 48 h 128"/>
                  <a:gd name="T42" fmla="*/ 48 w 128"/>
                  <a:gd name="T43" fmla="*/ 25 h 128"/>
                  <a:gd name="T44" fmla="*/ 62 w 128"/>
                  <a:gd name="T45" fmla="*/ 22 h 128"/>
                  <a:gd name="T46" fmla="*/ 106 w 128"/>
                  <a:gd name="T47" fmla="*/ 68 h 128"/>
                  <a:gd name="T48" fmla="*/ 94 w 128"/>
                  <a:gd name="T49" fmla="*/ 94 h 128"/>
                  <a:gd name="T50" fmla="*/ 68 w 128"/>
                  <a:gd name="T51" fmla="*/ 106 h 128"/>
                  <a:gd name="T52" fmla="*/ 66 w 128"/>
                  <a:gd name="T53" fmla="*/ 66 h 128"/>
                  <a:gd name="T54" fmla="*/ 106 w 128"/>
                  <a:gd name="T55" fmla="*/ 68 h 128"/>
                  <a:gd name="T56" fmla="*/ 66 w 128"/>
                  <a:gd name="T57" fmla="*/ 22 h 128"/>
                  <a:gd name="T58" fmla="*/ 80 w 128"/>
                  <a:gd name="T59" fmla="*/ 25 h 128"/>
                  <a:gd name="T60" fmla="*/ 103 w 128"/>
                  <a:gd name="T61" fmla="*/ 48 h 128"/>
                  <a:gd name="T62" fmla="*/ 106 w 128"/>
                  <a:gd name="T63"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28">
                    <a:moveTo>
                      <a:pt x="126" y="62"/>
                    </a:moveTo>
                    <a:cubicBezTo>
                      <a:pt x="111" y="62"/>
                      <a:pt x="111" y="62"/>
                      <a:pt x="111" y="62"/>
                    </a:cubicBezTo>
                    <a:cubicBezTo>
                      <a:pt x="111" y="60"/>
                      <a:pt x="111" y="60"/>
                      <a:pt x="111" y="60"/>
                    </a:cubicBezTo>
                    <a:cubicBezTo>
                      <a:pt x="109" y="38"/>
                      <a:pt x="90" y="19"/>
                      <a:pt x="68" y="17"/>
                    </a:cubicBezTo>
                    <a:cubicBezTo>
                      <a:pt x="66" y="17"/>
                      <a:pt x="66" y="17"/>
                      <a:pt x="66" y="17"/>
                    </a:cubicBezTo>
                    <a:cubicBezTo>
                      <a:pt x="66" y="2"/>
                      <a:pt x="66" y="2"/>
                      <a:pt x="66" y="2"/>
                    </a:cubicBezTo>
                    <a:cubicBezTo>
                      <a:pt x="66" y="1"/>
                      <a:pt x="65" y="0"/>
                      <a:pt x="64" y="0"/>
                    </a:cubicBezTo>
                    <a:cubicBezTo>
                      <a:pt x="63" y="0"/>
                      <a:pt x="62" y="1"/>
                      <a:pt x="62" y="2"/>
                    </a:cubicBezTo>
                    <a:cubicBezTo>
                      <a:pt x="62" y="17"/>
                      <a:pt x="62" y="17"/>
                      <a:pt x="62" y="17"/>
                    </a:cubicBezTo>
                    <a:cubicBezTo>
                      <a:pt x="60" y="17"/>
                      <a:pt x="60" y="17"/>
                      <a:pt x="60" y="17"/>
                    </a:cubicBezTo>
                    <a:cubicBezTo>
                      <a:pt x="38" y="19"/>
                      <a:pt x="19" y="38"/>
                      <a:pt x="17" y="60"/>
                    </a:cubicBezTo>
                    <a:cubicBezTo>
                      <a:pt x="17" y="62"/>
                      <a:pt x="17" y="62"/>
                      <a:pt x="17" y="62"/>
                    </a:cubicBezTo>
                    <a:cubicBezTo>
                      <a:pt x="2" y="62"/>
                      <a:pt x="2" y="62"/>
                      <a:pt x="2" y="62"/>
                    </a:cubicBezTo>
                    <a:cubicBezTo>
                      <a:pt x="1" y="62"/>
                      <a:pt x="0" y="63"/>
                      <a:pt x="0" y="64"/>
                    </a:cubicBezTo>
                    <a:cubicBezTo>
                      <a:pt x="0" y="65"/>
                      <a:pt x="1" y="66"/>
                      <a:pt x="2" y="66"/>
                    </a:cubicBezTo>
                    <a:cubicBezTo>
                      <a:pt x="17" y="66"/>
                      <a:pt x="17" y="66"/>
                      <a:pt x="17" y="66"/>
                    </a:cubicBezTo>
                    <a:cubicBezTo>
                      <a:pt x="17" y="68"/>
                      <a:pt x="17" y="68"/>
                      <a:pt x="17" y="68"/>
                    </a:cubicBezTo>
                    <a:cubicBezTo>
                      <a:pt x="19" y="90"/>
                      <a:pt x="38" y="109"/>
                      <a:pt x="60" y="111"/>
                    </a:cubicBezTo>
                    <a:cubicBezTo>
                      <a:pt x="62" y="111"/>
                      <a:pt x="62" y="111"/>
                      <a:pt x="62" y="111"/>
                    </a:cubicBezTo>
                    <a:cubicBezTo>
                      <a:pt x="62" y="126"/>
                      <a:pt x="62" y="126"/>
                      <a:pt x="62" y="126"/>
                    </a:cubicBezTo>
                    <a:cubicBezTo>
                      <a:pt x="62" y="127"/>
                      <a:pt x="63" y="128"/>
                      <a:pt x="64" y="128"/>
                    </a:cubicBezTo>
                    <a:cubicBezTo>
                      <a:pt x="65" y="128"/>
                      <a:pt x="66" y="127"/>
                      <a:pt x="66" y="126"/>
                    </a:cubicBezTo>
                    <a:cubicBezTo>
                      <a:pt x="66" y="111"/>
                      <a:pt x="66" y="111"/>
                      <a:pt x="66" y="111"/>
                    </a:cubicBezTo>
                    <a:cubicBezTo>
                      <a:pt x="68" y="111"/>
                      <a:pt x="68" y="111"/>
                      <a:pt x="68" y="111"/>
                    </a:cubicBezTo>
                    <a:cubicBezTo>
                      <a:pt x="90" y="109"/>
                      <a:pt x="109" y="90"/>
                      <a:pt x="111" y="68"/>
                    </a:cubicBezTo>
                    <a:cubicBezTo>
                      <a:pt x="111" y="66"/>
                      <a:pt x="111" y="66"/>
                      <a:pt x="111" y="66"/>
                    </a:cubicBezTo>
                    <a:cubicBezTo>
                      <a:pt x="126" y="66"/>
                      <a:pt x="126" y="66"/>
                      <a:pt x="126" y="66"/>
                    </a:cubicBezTo>
                    <a:cubicBezTo>
                      <a:pt x="127" y="66"/>
                      <a:pt x="128" y="65"/>
                      <a:pt x="128" y="64"/>
                    </a:cubicBezTo>
                    <a:cubicBezTo>
                      <a:pt x="128" y="63"/>
                      <a:pt x="127" y="62"/>
                      <a:pt x="126" y="62"/>
                    </a:cubicBezTo>
                    <a:close/>
                    <a:moveTo>
                      <a:pt x="62" y="106"/>
                    </a:moveTo>
                    <a:cubicBezTo>
                      <a:pt x="60" y="106"/>
                      <a:pt x="60" y="106"/>
                      <a:pt x="60" y="106"/>
                    </a:cubicBezTo>
                    <a:cubicBezTo>
                      <a:pt x="56" y="106"/>
                      <a:pt x="52" y="105"/>
                      <a:pt x="48" y="103"/>
                    </a:cubicBezTo>
                    <a:cubicBezTo>
                      <a:pt x="43" y="101"/>
                      <a:pt x="38" y="98"/>
                      <a:pt x="34" y="94"/>
                    </a:cubicBezTo>
                    <a:cubicBezTo>
                      <a:pt x="30" y="90"/>
                      <a:pt x="27" y="85"/>
                      <a:pt x="25" y="80"/>
                    </a:cubicBezTo>
                    <a:cubicBezTo>
                      <a:pt x="23" y="76"/>
                      <a:pt x="22" y="72"/>
                      <a:pt x="22" y="68"/>
                    </a:cubicBezTo>
                    <a:cubicBezTo>
                      <a:pt x="22" y="66"/>
                      <a:pt x="22" y="66"/>
                      <a:pt x="22" y="66"/>
                    </a:cubicBezTo>
                    <a:cubicBezTo>
                      <a:pt x="62" y="66"/>
                      <a:pt x="62" y="66"/>
                      <a:pt x="62" y="66"/>
                    </a:cubicBezTo>
                    <a:lnTo>
                      <a:pt x="62" y="106"/>
                    </a:lnTo>
                    <a:close/>
                    <a:moveTo>
                      <a:pt x="62" y="62"/>
                    </a:moveTo>
                    <a:cubicBezTo>
                      <a:pt x="22" y="62"/>
                      <a:pt x="22" y="62"/>
                      <a:pt x="22" y="62"/>
                    </a:cubicBezTo>
                    <a:cubicBezTo>
                      <a:pt x="22" y="60"/>
                      <a:pt x="22" y="60"/>
                      <a:pt x="22" y="60"/>
                    </a:cubicBezTo>
                    <a:cubicBezTo>
                      <a:pt x="22" y="56"/>
                      <a:pt x="23" y="52"/>
                      <a:pt x="25" y="48"/>
                    </a:cubicBezTo>
                    <a:cubicBezTo>
                      <a:pt x="27" y="43"/>
                      <a:pt x="30" y="38"/>
                      <a:pt x="34" y="34"/>
                    </a:cubicBezTo>
                    <a:cubicBezTo>
                      <a:pt x="38" y="30"/>
                      <a:pt x="43" y="27"/>
                      <a:pt x="48" y="25"/>
                    </a:cubicBezTo>
                    <a:cubicBezTo>
                      <a:pt x="52" y="23"/>
                      <a:pt x="56" y="22"/>
                      <a:pt x="60" y="22"/>
                    </a:cubicBezTo>
                    <a:cubicBezTo>
                      <a:pt x="62" y="22"/>
                      <a:pt x="62" y="22"/>
                      <a:pt x="62" y="22"/>
                    </a:cubicBezTo>
                    <a:lnTo>
                      <a:pt x="62" y="62"/>
                    </a:lnTo>
                    <a:close/>
                    <a:moveTo>
                      <a:pt x="106" y="68"/>
                    </a:moveTo>
                    <a:cubicBezTo>
                      <a:pt x="106" y="72"/>
                      <a:pt x="105" y="76"/>
                      <a:pt x="103" y="80"/>
                    </a:cubicBezTo>
                    <a:cubicBezTo>
                      <a:pt x="101" y="85"/>
                      <a:pt x="98" y="90"/>
                      <a:pt x="94" y="94"/>
                    </a:cubicBezTo>
                    <a:cubicBezTo>
                      <a:pt x="90" y="98"/>
                      <a:pt x="85" y="101"/>
                      <a:pt x="80" y="103"/>
                    </a:cubicBezTo>
                    <a:cubicBezTo>
                      <a:pt x="76" y="105"/>
                      <a:pt x="72" y="106"/>
                      <a:pt x="68" y="106"/>
                    </a:cubicBezTo>
                    <a:cubicBezTo>
                      <a:pt x="66" y="106"/>
                      <a:pt x="66" y="106"/>
                      <a:pt x="66" y="106"/>
                    </a:cubicBezTo>
                    <a:cubicBezTo>
                      <a:pt x="66" y="66"/>
                      <a:pt x="66" y="66"/>
                      <a:pt x="66" y="66"/>
                    </a:cubicBezTo>
                    <a:cubicBezTo>
                      <a:pt x="106" y="66"/>
                      <a:pt x="106" y="66"/>
                      <a:pt x="106" y="66"/>
                    </a:cubicBezTo>
                    <a:lnTo>
                      <a:pt x="106" y="68"/>
                    </a:lnTo>
                    <a:close/>
                    <a:moveTo>
                      <a:pt x="66" y="62"/>
                    </a:moveTo>
                    <a:cubicBezTo>
                      <a:pt x="66" y="22"/>
                      <a:pt x="66" y="22"/>
                      <a:pt x="66" y="22"/>
                    </a:cubicBezTo>
                    <a:cubicBezTo>
                      <a:pt x="68" y="22"/>
                      <a:pt x="68" y="22"/>
                      <a:pt x="68" y="22"/>
                    </a:cubicBezTo>
                    <a:cubicBezTo>
                      <a:pt x="72" y="22"/>
                      <a:pt x="76" y="23"/>
                      <a:pt x="80" y="25"/>
                    </a:cubicBezTo>
                    <a:cubicBezTo>
                      <a:pt x="85" y="27"/>
                      <a:pt x="90" y="30"/>
                      <a:pt x="94" y="34"/>
                    </a:cubicBezTo>
                    <a:cubicBezTo>
                      <a:pt x="98" y="38"/>
                      <a:pt x="101" y="43"/>
                      <a:pt x="103" y="48"/>
                    </a:cubicBezTo>
                    <a:cubicBezTo>
                      <a:pt x="105" y="52"/>
                      <a:pt x="106" y="56"/>
                      <a:pt x="106" y="60"/>
                    </a:cubicBezTo>
                    <a:cubicBezTo>
                      <a:pt x="106" y="62"/>
                      <a:pt x="106" y="62"/>
                      <a:pt x="106" y="62"/>
                    </a:cubicBezTo>
                    <a:lnTo>
                      <a:pt x="66"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28" name="组合 27">
            <a:extLst>
              <a:ext uri="{FF2B5EF4-FFF2-40B4-BE49-F238E27FC236}">
                <a16:creationId xmlns:a16="http://schemas.microsoft.com/office/drawing/2014/main" id="{1140A86E-1F2B-4581-926F-9B6A9EEB689D}"/>
              </a:ext>
            </a:extLst>
          </p:cNvPr>
          <p:cNvGrpSpPr/>
          <p:nvPr/>
        </p:nvGrpSpPr>
        <p:grpSpPr>
          <a:xfrm>
            <a:off x="2299240" y="1675616"/>
            <a:ext cx="7491004" cy="726162"/>
            <a:chOff x="2277405" y="1562253"/>
            <a:chExt cx="7491004" cy="726162"/>
          </a:xfrm>
        </p:grpSpPr>
        <p:grpSp>
          <p:nvGrpSpPr>
            <p:cNvPr id="29" name="组合 28">
              <a:extLst>
                <a:ext uri="{FF2B5EF4-FFF2-40B4-BE49-F238E27FC236}">
                  <a16:creationId xmlns:a16="http://schemas.microsoft.com/office/drawing/2014/main" id="{59410F9D-20D4-4884-9BE4-539200646C8D}"/>
                </a:ext>
              </a:extLst>
            </p:cNvPr>
            <p:cNvGrpSpPr/>
            <p:nvPr/>
          </p:nvGrpSpPr>
          <p:grpSpPr>
            <a:xfrm>
              <a:off x="2860631" y="1562253"/>
              <a:ext cx="6907778" cy="726162"/>
              <a:chOff x="2454402" y="2992068"/>
              <a:chExt cx="5681334" cy="726162"/>
            </a:xfrm>
          </p:grpSpPr>
          <p:sp>
            <p:nvSpPr>
              <p:cNvPr id="33" name="Line 22">
                <a:extLst>
                  <a:ext uri="{FF2B5EF4-FFF2-40B4-BE49-F238E27FC236}">
                    <a16:creationId xmlns:a16="http://schemas.microsoft.com/office/drawing/2014/main" id="{FBFFC67F-F4D8-4547-A28E-290F525CE241}"/>
                  </a:ext>
                </a:extLst>
              </p:cNvPr>
              <p:cNvSpPr>
                <a:spLocks noChangeShapeType="1"/>
              </p:cNvSpPr>
              <p:nvPr/>
            </p:nvSpPr>
            <p:spPr bwMode="auto">
              <a:xfrm flipV="1">
                <a:off x="2454402" y="3341256"/>
                <a:ext cx="5079786" cy="27784"/>
              </a:xfrm>
              <a:prstGeom prst="line">
                <a:avLst/>
              </a:prstGeom>
              <a:ln>
                <a:solidFill>
                  <a:srgbClr val="800080"/>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34" name="AutoShape 26">
                <a:extLst>
                  <a:ext uri="{FF2B5EF4-FFF2-40B4-BE49-F238E27FC236}">
                    <a16:creationId xmlns:a16="http://schemas.microsoft.com/office/drawing/2014/main" id="{77570620-2FC3-48B6-9F96-86A0D1D5F677}"/>
                  </a:ext>
                </a:extLst>
              </p:cNvPr>
              <p:cNvSpPr>
                <a:spLocks noChangeArrowheads="1"/>
              </p:cNvSpPr>
              <p:nvPr/>
            </p:nvSpPr>
            <p:spPr bwMode="auto">
              <a:xfrm>
                <a:off x="2704271" y="2992068"/>
                <a:ext cx="5431465" cy="726162"/>
              </a:xfrm>
              <a:prstGeom prst="roundRect">
                <a:avLst>
                  <a:gd name="adj" fmla="val 34361"/>
                </a:avLst>
              </a:prstGeom>
              <a:ln>
                <a:solidFill>
                  <a:srgbClr val="800080"/>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dirty="0">
                    <a:solidFill>
                      <a:prstClr val="black"/>
                    </a:solidFill>
                    <a:latin typeface="微软雅黑" panose="020B0503020204020204" pitchFamily="34" charset="-122"/>
                    <a:ea typeface="微软雅黑" panose="020B0503020204020204" pitchFamily="34" charset="-122"/>
                  </a:rPr>
                  <a:t>1. </a:t>
                </a:r>
                <a:r>
                  <a:rPr lang="zh-CN" altLang="en-US" sz="3200" dirty="0">
                    <a:solidFill>
                      <a:prstClr val="black"/>
                    </a:solidFill>
                    <a:latin typeface="微软雅黑" panose="020B0503020204020204" pitchFamily="34" charset="-122"/>
                    <a:ea typeface="微软雅黑" panose="020B0503020204020204" pitchFamily="34" charset="-122"/>
                  </a:rPr>
                  <a:t>机器人逆运动学基本概念</a:t>
                </a:r>
                <a:endParaRPr lang="en-US" altLang="zh-CN" sz="3200" dirty="0">
                  <a:solidFill>
                    <a:prstClr val="black"/>
                  </a:solidFill>
                  <a:latin typeface="微软雅黑" panose="020B0503020204020204" pitchFamily="34" charset="-122"/>
                  <a:ea typeface="微软雅黑" panose="020B0503020204020204" pitchFamily="34" charset="-122"/>
                </a:endParaRPr>
              </a:p>
            </p:txBody>
          </p:sp>
        </p:grpSp>
        <p:grpSp>
          <p:nvGrpSpPr>
            <p:cNvPr id="30" name="组合 29">
              <a:extLst>
                <a:ext uri="{FF2B5EF4-FFF2-40B4-BE49-F238E27FC236}">
                  <a16:creationId xmlns:a16="http://schemas.microsoft.com/office/drawing/2014/main" id="{F568140B-0C1A-48AA-975B-4FCA525CAC4E}"/>
                </a:ext>
              </a:extLst>
            </p:cNvPr>
            <p:cNvGrpSpPr/>
            <p:nvPr/>
          </p:nvGrpSpPr>
          <p:grpSpPr>
            <a:xfrm>
              <a:off x="2277405" y="1670987"/>
              <a:ext cx="570676" cy="598244"/>
              <a:chOff x="4613213" y="3130275"/>
              <a:chExt cx="504000" cy="504000"/>
            </a:xfrm>
          </p:grpSpPr>
          <p:sp>
            <p:nvSpPr>
              <p:cNvPr id="31" name="椭圆 30">
                <a:extLst>
                  <a:ext uri="{FF2B5EF4-FFF2-40B4-BE49-F238E27FC236}">
                    <a16:creationId xmlns:a16="http://schemas.microsoft.com/office/drawing/2014/main" id="{2102F388-2398-4D82-9283-93B39764175E}"/>
                  </a:ext>
                </a:extLst>
              </p:cNvPr>
              <p:cNvSpPr/>
              <p:nvPr/>
            </p:nvSpPr>
            <p:spPr>
              <a:xfrm>
                <a:off x="4613213" y="3130275"/>
                <a:ext cx="504000" cy="504000"/>
              </a:xfrm>
              <a:prstGeom prst="ellips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2" name="Freeform 105">
                <a:extLst>
                  <a:ext uri="{FF2B5EF4-FFF2-40B4-BE49-F238E27FC236}">
                    <a16:creationId xmlns:a16="http://schemas.microsoft.com/office/drawing/2014/main" id="{D2EEBB1E-1FAD-44CA-8BD7-510FDBB6FCC0}"/>
                  </a:ext>
                </a:extLst>
              </p:cNvPr>
              <p:cNvSpPr>
                <a:spLocks noChangeAspect="1" noEditPoints="1"/>
              </p:cNvSpPr>
              <p:nvPr/>
            </p:nvSpPr>
            <p:spPr bwMode="auto">
              <a:xfrm>
                <a:off x="4703213" y="3237919"/>
                <a:ext cx="324000" cy="288713"/>
              </a:xfrm>
              <a:custGeom>
                <a:avLst/>
                <a:gdLst>
                  <a:gd name="T0" fmla="*/ 101 w 128"/>
                  <a:gd name="T1" fmla="*/ 41 h 114"/>
                  <a:gd name="T2" fmla="*/ 125 w 128"/>
                  <a:gd name="T3" fmla="*/ 17 h 114"/>
                  <a:gd name="T4" fmla="*/ 128 w 128"/>
                  <a:gd name="T5" fmla="*/ 10 h 114"/>
                  <a:gd name="T6" fmla="*/ 125 w 128"/>
                  <a:gd name="T7" fmla="*/ 3 h 114"/>
                  <a:gd name="T8" fmla="*/ 111 w 128"/>
                  <a:gd name="T9" fmla="*/ 3 h 114"/>
                  <a:gd name="T10" fmla="*/ 87 w 128"/>
                  <a:gd name="T11" fmla="*/ 27 h 114"/>
                  <a:gd name="T12" fmla="*/ 6 w 128"/>
                  <a:gd name="T13" fmla="*/ 27 h 114"/>
                  <a:gd name="T14" fmla="*/ 0 w 128"/>
                  <a:gd name="T15" fmla="*/ 33 h 114"/>
                  <a:gd name="T16" fmla="*/ 0 w 128"/>
                  <a:gd name="T17" fmla="*/ 108 h 114"/>
                  <a:gd name="T18" fmla="*/ 6 w 128"/>
                  <a:gd name="T19" fmla="*/ 114 h 114"/>
                  <a:gd name="T20" fmla="*/ 95 w 128"/>
                  <a:gd name="T21" fmla="*/ 114 h 114"/>
                  <a:gd name="T22" fmla="*/ 101 w 128"/>
                  <a:gd name="T23" fmla="*/ 108 h 114"/>
                  <a:gd name="T24" fmla="*/ 101 w 128"/>
                  <a:gd name="T25" fmla="*/ 41 h 114"/>
                  <a:gd name="T26" fmla="*/ 96 w 128"/>
                  <a:gd name="T27" fmla="*/ 109 h 114"/>
                  <a:gd name="T28" fmla="*/ 5 w 128"/>
                  <a:gd name="T29" fmla="*/ 109 h 114"/>
                  <a:gd name="T30" fmla="*/ 5 w 128"/>
                  <a:gd name="T31" fmla="*/ 32 h 114"/>
                  <a:gd name="T32" fmla="*/ 83 w 128"/>
                  <a:gd name="T33" fmla="*/ 32 h 114"/>
                  <a:gd name="T34" fmla="*/ 63 w 128"/>
                  <a:gd name="T35" fmla="*/ 52 h 114"/>
                  <a:gd name="T36" fmla="*/ 62 w 128"/>
                  <a:gd name="T37" fmla="*/ 54 h 114"/>
                  <a:gd name="T38" fmla="*/ 62 w 128"/>
                  <a:gd name="T39" fmla="*/ 64 h 114"/>
                  <a:gd name="T40" fmla="*/ 63 w 128"/>
                  <a:gd name="T41" fmla="*/ 66 h 114"/>
                  <a:gd name="T42" fmla="*/ 64 w 128"/>
                  <a:gd name="T43" fmla="*/ 66 h 114"/>
                  <a:gd name="T44" fmla="*/ 75 w 128"/>
                  <a:gd name="T45" fmla="*/ 66 h 114"/>
                  <a:gd name="T46" fmla="*/ 76 w 128"/>
                  <a:gd name="T47" fmla="*/ 66 h 114"/>
                  <a:gd name="T48" fmla="*/ 76 w 128"/>
                  <a:gd name="T49" fmla="*/ 66 h 114"/>
                  <a:gd name="T50" fmla="*/ 96 w 128"/>
                  <a:gd name="T51" fmla="*/ 46 h 114"/>
                  <a:gd name="T52" fmla="*/ 96 w 128"/>
                  <a:gd name="T53" fmla="*/ 109 h 114"/>
                  <a:gd name="T54" fmla="*/ 74 w 128"/>
                  <a:gd name="T55" fmla="*/ 62 h 114"/>
                  <a:gd name="T56" fmla="*/ 67 w 128"/>
                  <a:gd name="T57" fmla="*/ 62 h 114"/>
                  <a:gd name="T58" fmla="*/ 67 w 128"/>
                  <a:gd name="T59" fmla="*/ 55 h 114"/>
                  <a:gd name="T60" fmla="*/ 115 w 128"/>
                  <a:gd name="T61" fmla="*/ 6 h 114"/>
                  <a:gd name="T62" fmla="*/ 118 w 128"/>
                  <a:gd name="T63" fmla="*/ 5 h 114"/>
                  <a:gd name="T64" fmla="*/ 122 w 128"/>
                  <a:gd name="T65" fmla="*/ 6 h 114"/>
                  <a:gd name="T66" fmla="*/ 122 w 128"/>
                  <a:gd name="T67" fmla="*/ 14 h 114"/>
                  <a:gd name="T68" fmla="*/ 74 w 128"/>
                  <a:gd name="T69" fmla="*/ 6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8" h="114">
                    <a:moveTo>
                      <a:pt x="101" y="41"/>
                    </a:moveTo>
                    <a:cubicBezTo>
                      <a:pt x="125" y="17"/>
                      <a:pt x="125" y="17"/>
                      <a:pt x="125" y="17"/>
                    </a:cubicBezTo>
                    <a:cubicBezTo>
                      <a:pt x="127" y="15"/>
                      <a:pt x="128" y="13"/>
                      <a:pt x="128" y="10"/>
                    </a:cubicBezTo>
                    <a:cubicBezTo>
                      <a:pt x="128" y="8"/>
                      <a:pt x="127" y="5"/>
                      <a:pt x="125" y="3"/>
                    </a:cubicBezTo>
                    <a:cubicBezTo>
                      <a:pt x="121" y="0"/>
                      <a:pt x="115" y="0"/>
                      <a:pt x="111" y="3"/>
                    </a:cubicBezTo>
                    <a:cubicBezTo>
                      <a:pt x="87" y="27"/>
                      <a:pt x="87" y="27"/>
                      <a:pt x="87" y="27"/>
                    </a:cubicBezTo>
                    <a:cubicBezTo>
                      <a:pt x="6" y="27"/>
                      <a:pt x="6" y="27"/>
                      <a:pt x="6" y="27"/>
                    </a:cubicBezTo>
                    <a:cubicBezTo>
                      <a:pt x="3" y="27"/>
                      <a:pt x="0" y="30"/>
                      <a:pt x="0" y="33"/>
                    </a:cubicBezTo>
                    <a:cubicBezTo>
                      <a:pt x="0" y="108"/>
                      <a:pt x="0" y="108"/>
                      <a:pt x="0" y="108"/>
                    </a:cubicBezTo>
                    <a:cubicBezTo>
                      <a:pt x="0" y="111"/>
                      <a:pt x="3" y="114"/>
                      <a:pt x="6" y="114"/>
                    </a:cubicBezTo>
                    <a:cubicBezTo>
                      <a:pt x="95" y="114"/>
                      <a:pt x="95" y="114"/>
                      <a:pt x="95" y="114"/>
                    </a:cubicBezTo>
                    <a:cubicBezTo>
                      <a:pt x="98" y="114"/>
                      <a:pt x="101" y="111"/>
                      <a:pt x="101" y="108"/>
                    </a:cubicBezTo>
                    <a:lnTo>
                      <a:pt x="101" y="41"/>
                    </a:lnTo>
                    <a:close/>
                    <a:moveTo>
                      <a:pt x="96" y="109"/>
                    </a:moveTo>
                    <a:cubicBezTo>
                      <a:pt x="5" y="109"/>
                      <a:pt x="5" y="109"/>
                      <a:pt x="5" y="109"/>
                    </a:cubicBezTo>
                    <a:cubicBezTo>
                      <a:pt x="5" y="32"/>
                      <a:pt x="5" y="32"/>
                      <a:pt x="5" y="32"/>
                    </a:cubicBezTo>
                    <a:cubicBezTo>
                      <a:pt x="83" y="32"/>
                      <a:pt x="83" y="32"/>
                      <a:pt x="83" y="32"/>
                    </a:cubicBezTo>
                    <a:cubicBezTo>
                      <a:pt x="63" y="52"/>
                      <a:pt x="63" y="52"/>
                      <a:pt x="63" y="52"/>
                    </a:cubicBezTo>
                    <a:cubicBezTo>
                      <a:pt x="62" y="52"/>
                      <a:pt x="62" y="53"/>
                      <a:pt x="62" y="54"/>
                    </a:cubicBezTo>
                    <a:cubicBezTo>
                      <a:pt x="62" y="64"/>
                      <a:pt x="62" y="64"/>
                      <a:pt x="62" y="64"/>
                    </a:cubicBezTo>
                    <a:cubicBezTo>
                      <a:pt x="62" y="65"/>
                      <a:pt x="62" y="65"/>
                      <a:pt x="63" y="66"/>
                    </a:cubicBezTo>
                    <a:cubicBezTo>
                      <a:pt x="63" y="66"/>
                      <a:pt x="64" y="66"/>
                      <a:pt x="64" y="66"/>
                    </a:cubicBezTo>
                    <a:cubicBezTo>
                      <a:pt x="75" y="66"/>
                      <a:pt x="75" y="66"/>
                      <a:pt x="75" y="66"/>
                    </a:cubicBezTo>
                    <a:cubicBezTo>
                      <a:pt x="75" y="66"/>
                      <a:pt x="76" y="66"/>
                      <a:pt x="76" y="66"/>
                    </a:cubicBezTo>
                    <a:cubicBezTo>
                      <a:pt x="76" y="66"/>
                      <a:pt x="76" y="66"/>
                      <a:pt x="76" y="66"/>
                    </a:cubicBezTo>
                    <a:cubicBezTo>
                      <a:pt x="96" y="46"/>
                      <a:pt x="96" y="46"/>
                      <a:pt x="96" y="46"/>
                    </a:cubicBezTo>
                    <a:lnTo>
                      <a:pt x="96" y="109"/>
                    </a:lnTo>
                    <a:close/>
                    <a:moveTo>
                      <a:pt x="74" y="62"/>
                    </a:moveTo>
                    <a:cubicBezTo>
                      <a:pt x="67" y="62"/>
                      <a:pt x="67" y="62"/>
                      <a:pt x="67" y="62"/>
                    </a:cubicBezTo>
                    <a:cubicBezTo>
                      <a:pt x="67" y="55"/>
                      <a:pt x="67" y="55"/>
                      <a:pt x="67" y="55"/>
                    </a:cubicBezTo>
                    <a:cubicBezTo>
                      <a:pt x="115" y="6"/>
                      <a:pt x="115" y="6"/>
                      <a:pt x="115" y="6"/>
                    </a:cubicBezTo>
                    <a:cubicBezTo>
                      <a:pt x="116" y="5"/>
                      <a:pt x="118" y="5"/>
                      <a:pt x="118" y="5"/>
                    </a:cubicBezTo>
                    <a:cubicBezTo>
                      <a:pt x="119" y="5"/>
                      <a:pt x="121" y="5"/>
                      <a:pt x="122" y="6"/>
                    </a:cubicBezTo>
                    <a:cubicBezTo>
                      <a:pt x="124" y="8"/>
                      <a:pt x="124" y="12"/>
                      <a:pt x="122" y="14"/>
                    </a:cubicBezTo>
                    <a:lnTo>
                      <a:pt x="74" y="6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a:solidFill>
                    <a:srgbClr val="000000"/>
                  </a:solidFill>
                  <a:latin typeface="华文中宋" panose="02010600040101010101" pitchFamily="2" charset="-122"/>
                  <a:ea typeface="华文中宋" panose="02010600040101010101" pitchFamily="2" charset="-122"/>
                </a:endParaRPr>
              </a:p>
            </p:txBody>
          </p:sp>
        </p:grpSp>
      </p:grpSp>
      <p:grpSp>
        <p:nvGrpSpPr>
          <p:cNvPr id="35" name="组合 34">
            <a:extLst>
              <a:ext uri="{FF2B5EF4-FFF2-40B4-BE49-F238E27FC236}">
                <a16:creationId xmlns:a16="http://schemas.microsoft.com/office/drawing/2014/main" id="{D6AB12EA-01DB-493F-B7C7-9F4F987EE72B}"/>
              </a:ext>
            </a:extLst>
          </p:cNvPr>
          <p:cNvGrpSpPr/>
          <p:nvPr/>
        </p:nvGrpSpPr>
        <p:grpSpPr>
          <a:xfrm>
            <a:off x="2260412" y="4437112"/>
            <a:ext cx="7568660" cy="726162"/>
            <a:chOff x="675749" y="5334955"/>
            <a:chExt cx="7568660" cy="726162"/>
          </a:xfrm>
        </p:grpSpPr>
        <p:grpSp>
          <p:nvGrpSpPr>
            <p:cNvPr id="36" name="组合 35">
              <a:extLst>
                <a:ext uri="{FF2B5EF4-FFF2-40B4-BE49-F238E27FC236}">
                  <a16:creationId xmlns:a16="http://schemas.microsoft.com/office/drawing/2014/main" id="{9BCCC1A1-163D-4F97-8FDE-35CB1560A477}"/>
                </a:ext>
              </a:extLst>
            </p:cNvPr>
            <p:cNvGrpSpPr/>
            <p:nvPr/>
          </p:nvGrpSpPr>
          <p:grpSpPr>
            <a:xfrm>
              <a:off x="1259632" y="5334955"/>
              <a:ext cx="6984777" cy="726162"/>
              <a:chOff x="2454402" y="5958489"/>
              <a:chExt cx="5708740" cy="726162"/>
            </a:xfrm>
          </p:grpSpPr>
          <p:sp>
            <p:nvSpPr>
              <p:cNvPr id="40" name="Line 22">
                <a:extLst>
                  <a:ext uri="{FF2B5EF4-FFF2-40B4-BE49-F238E27FC236}">
                    <a16:creationId xmlns:a16="http://schemas.microsoft.com/office/drawing/2014/main" id="{202F0BDA-CAA4-4DDD-AB66-10FBC8BC6073}"/>
                  </a:ext>
                </a:extLst>
              </p:cNvPr>
              <p:cNvSpPr>
                <a:spLocks noChangeShapeType="1"/>
              </p:cNvSpPr>
              <p:nvPr/>
            </p:nvSpPr>
            <p:spPr bwMode="auto">
              <a:xfrm flipV="1">
                <a:off x="2454402" y="6327358"/>
                <a:ext cx="5079786" cy="21995"/>
              </a:xfrm>
              <a:prstGeom prst="line">
                <a:avLst/>
              </a:prstGeom>
              <a:ln>
                <a:solidFill>
                  <a:schemeClr val="bg1">
                    <a:lumMod val="85000"/>
                  </a:schemeClr>
                </a:solidFill>
                <a:headEnd/>
                <a:tailEnd type="oval" w="med" len="me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defRPr/>
                </a:pPr>
                <a:endParaRPr lang="zh-CN" altLang="en-US" sz="3200" i="0" kern="0">
                  <a:solidFill>
                    <a:sysClr val="windowText" lastClr="000000"/>
                  </a:solidFill>
                  <a:latin typeface="微软雅黑" panose="020B0503020204020204" pitchFamily="34" charset="-122"/>
                  <a:ea typeface="微软雅黑" panose="020B0503020204020204" pitchFamily="34" charset="-122"/>
                </a:endParaRPr>
              </a:p>
            </p:txBody>
          </p:sp>
          <p:sp>
            <p:nvSpPr>
              <p:cNvPr id="41" name="AutoShape 26">
                <a:extLst>
                  <a:ext uri="{FF2B5EF4-FFF2-40B4-BE49-F238E27FC236}">
                    <a16:creationId xmlns:a16="http://schemas.microsoft.com/office/drawing/2014/main" id="{F2C07A27-D057-4BE4-9BEC-2147847D5F7F}"/>
                  </a:ext>
                </a:extLst>
              </p:cNvPr>
              <p:cNvSpPr>
                <a:spLocks noChangeArrowheads="1"/>
              </p:cNvSpPr>
              <p:nvPr/>
            </p:nvSpPr>
            <p:spPr bwMode="auto">
              <a:xfrm>
                <a:off x="2731635" y="5958489"/>
                <a:ext cx="5431507" cy="726162"/>
              </a:xfrm>
              <a:prstGeom prst="roundRect">
                <a:avLst>
                  <a:gd name="adj" fmla="val 34361"/>
                </a:avLst>
              </a:prstGeom>
              <a:ln>
                <a:solidFill>
                  <a:schemeClr val="bg1">
                    <a:lumMod val="85000"/>
                  </a:schemeClr>
                </a:solidFill>
                <a:headEnd/>
                <a:tailEnd/>
              </a:ln>
            </p:spPr>
            <p:style>
              <a:lnRef idx="2">
                <a:schemeClr val="accent1"/>
              </a:lnRef>
              <a:fillRef idx="1">
                <a:schemeClr val="lt1"/>
              </a:fillRef>
              <a:effectRef idx="0">
                <a:schemeClr val="accent1"/>
              </a:effectRef>
              <a:fontRef idx="minor">
                <a:schemeClr val="dk1"/>
              </a:fontRef>
            </p:style>
            <p:txBody>
              <a:bodyPr wrap="square" anchor="ctr">
                <a:spAutoFit/>
              </a:bodyPr>
              <a:lstStyle/>
              <a:p>
                <a:pPr eaLnBrk="0" fontAlgn="auto" hangingPunct="0">
                  <a:spcBef>
                    <a:spcPts val="0"/>
                  </a:spcBef>
                  <a:spcAft>
                    <a:spcPts val="0"/>
                  </a:spcAft>
                  <a:defRPr/>
                </a:pPr>
                <a:r>
                  <a:rPr lang="en-US" altLang="zh-CN" sz="3200" b="1" kern="0" dirty="0">
                    <a:solidFill>
                      <a:srgbClr val="8B247C"/>
                    </a:solidFill>
                    <a:latin typeface="微软雅黑" panose="020B0503020204020204" pitchFamily="34" charset="-122"/>
                    <a:ea typeface="微软雅黑" panose="020B0503020204020204" pitchFamily="34" charset="-122"/>
                  </a:rPr>
                  <a:t>3. </a:t>
                </a:r>
                <a:r>
                  <a:rPr lang="zh-CN" altLang="en-US" sz="3200" b="1" kern="0" dirty="0">
                    <a:solidFill>
                      <a:srgbClr val="8B247C"/>
                    </a:solidFill>
                    <a:latin typeface="微软雅黑" panose="020B0503020204020204" pitchFamily="34" charset="-122"/>
                    <a:ea typeface="微软雅黑" panose="020B0503020204020204" pitchFamily="34" charset="-122"/>
                  </a:rPr>
                  <a:t>机器人工作空间分析</a:t>
                </a:r>
                <a:endParaRPr lang="en-US" altLang="zh-CN" sz="3200" b="1" kern="0" dirty="0">
                  <a:solidFill>
                    <a:srgbClr val="8B247C"/>
                  </a:solidFill>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9B5C857D-62F9-4433-B8CA-15C09EB01530}"/>
                </a:ext>
              </a:extLst>
            </p:cNvPr>
            <p:cNvGrpSpPr/>
            <p:nvPr/>
          </p:nvGrpSpPr>
          <p:grpSpPr>
            <a:xfrm>
              <a:off x="675749" y="5415699"/>
              <a:ext cx="570676" cy="598244"/>
              <a:chOff x="7982080" y="5312514"/>
              <a:chExt cx="504000" cy="504000"/>
            </a:xfrm>
          </p:grpSpPr>
          <p:sp>
            <p:nvSpPr>
              <p:cNvPr id="38" name="椭圆 37">
                <a:extLst>
                  <a:ext uri="{FF2B5EF4-FFF2-40B4-BE49-F238E27FC236}">
                    <a16:creationId xmlns:a16="http://schemas.microsoft.com/office/drawing/2014/main" id="{6338DBC9-F872-4F02-B898-1180B8CC3480}"/>
                  </a:ext>
                </a:extLst>
              </p:cNvPr>
              <p:cNvSpPr/>
              <p:nvPr/>
            </p:nvSpPr>
            <p:spPr>
              <a:xfrm>
                <a:off x="7982080" y="5312514"/>
                <a:ext cx="504000" cy="504000"/>
              </a:xfrm>
              <a:prstGeom prst="ellipse">
                <a:avLst/>
              </a:prstGeom>
              <a:solidFill>
                <a:srgbClr val="7E0C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prstClr val="white"/>
                  </a:solidFill>
                  <a:latin typeface="华文中宋" panose="02010600040101010101" pitchFamily="2" charset="-122"/>
                  <a:ea typeface="华文中宋" panose="02010600040101010101" pitchFamily="2" charset="-122"/>
                </a:endParaRPr>
              </a:p>
            </p:txBody>
          </p:sp>
          <p:sp>
            <p:nvSpPr>
              <p:cNvPr id="39" name="Freeform 96">
                <a:extLst>
                  <a:ext uri="{FF2B5EF4-FFF2-40B4-BE49-F238E27FC236}">
                    <a16:creationId xmlns:a16="http://schemas.microsoft.com/office/drawing/2014/main" id="{F3473415-2A93-4E32-8B9F-4AACB4BB9EB3}"/>
                  </a:ext>
                </a:extLst>
              </p:cNvPr>
              <p:cNvSpPr>
                <a:spLocks noChangeAspect="1" noEditPoints="1"/>
              </p:cNvSpPr>
              <p:nvPr/>
            </p:nvSpPr>
            <p:spPr bwMode="auto">
              <a:xfrm>
                <a:off x="8072080" y="5401977"/>
                <a:ext cx="324000" cy="325074"/>
              </a:xfrm>
              <a:custGeom>
                <a:avLst/>
                <a:gdLst>
                  <a:gd name="T0" fmla="*/ 64 w 128"/>
                  <a:gd name="T1" fmla="*/ 128 h 128"/>
                  <a:gd name="T2" fmla="*/ 20 w 128"/>
                  <a:gd name="T3" fmla="*/ 24 h 128"/>
                  <a:gd name="T4" fmla="*/ 48 w 128"/>
                  <a:gd name="T5" fmla="*/ 7 h 128"/>
                  <a:gd name="T6" fmla="*/ 33 w 128"/>
                  <a:gd name="T7" fmla="*/ 30 h 128"/>
                  <a:gd name="T8" fmla="*/ 21 w 128"/>
                  <a:gd name="T9" fmla="*/ 26 h 128"/>
                  <a:gd name="T10" fmla="*/ 5 w 128"/>
                  <a:gd name="T11" fmla="*/ 60 h 128"/>
                  <a:gd name="T12" fmla="*/ 16 w 128"/>
                  <a:gd name="T13" fmla="*/ 29 h 128"/>
                  <a:gd name="T14" fmla="*/ 30 w 128"/>
                  <a:gd name="T15" fmla="*/ 35 h 128"/>
                  <a:gd name="T16" fmla="*/ 24 w 128"/>
                  <a:gd name="T17" fmla="*/ 62 h 128"/>
                  <a:gd name="T18" fmla="*/ 17 w 128"/>
                  <a:gd name="T19" fmla="*/ 98 h 128"/>
                  <a:gd name="T20" fmla="*/ 9 w 128"/>
                  <a:gd name="T21" fmla="*/ 87 h 128"/>
                  <a:gd name="T22" fmla="*/ 24 w 128"/>
                  <a:gd name="T23" fmla="*/ 66 h 128"/>
                  <a:gd name="T24" fmla="*/ 30 w 128"/>
                  <a:gd name="T25" fmla="*/ 93 h 128"/>
                  <a:gd name="T26" fmla="*/ 48 w 128"/>
                  <a:gd name="T27" fmla="*/ 121 h 128"/>
                  <a:gd name="T28" fmla="*/ 20 w 128"/>
                  <a:gd name="T29" fmla="*/ 104 h 128"/>
                  <a:gd name="T30" fmla="*/ 31 w 128"/>
                  <a:gd name="T31" fmla="*/ 98 h 128"/>
                  <a:gd name="T32" fmla="*/ 49 w 128"/>
                  <a:gd name="T33" fmla="*/ 119 h 128"/>
                  <a:gd name="T34" fmla="*/ 62 w 128"/>
                  <a:gd name="T35" fmla="*/ 122 h 128"/>
                  <a:gd name="T36" fmla="*/ 37 w 128"/>
                  <a:gd name="T37" fmla="*/ 97 h 128"/>
                  <a:gd name="T38" fmla="*/ 60 w 128"/>
                  <a:gd name="T39" fmla="*/ 92 h 128"/>
                  <a:gd name="T40" fmla="*/ 62 w 128"/>
                  <a:gd name="T41" fmla="*/ 88 h 128"/>
                  <a:gd name="T42" fmla="*/ 34 w 128"/>
                  <a:gd name="T43" fmla="*/ 92 h 128"/>
                  <a:gd name="T44" fmla="*/ 29 w 128"/>
                  <a:gd name="T45" fmla="*/ 66 h 128"/>
                  <a:gd name="T46" fmla="*/ 62 w 128"/>
                  <a:gd name="T47" fmla="*/ 62 h 128"/>
                  <a:gd name="T48" fmla="*/ 34 w 128"/>
                  <a:gd name="T49" fmla="*/ 38 h 128"/>
                  <a:gd name="T50" fmla="*/ 60 w 128"/>
                  <a:gd name="T51" fmla="*/ 40 h 128"/>
                  <a:gd name="T52" fmla="*/ 62 w 128"/>
                  <a:gd name="T53" fmla="*/ 36 h 128"/>
                  <a:gd name="T54" fmla="*/ 36 w 128"/>
                  <a:gd name="T55" fmla="*/ 32 h 128"/>
                  <a:gd name="T56" fmla="*/ 60 w 128"/>
                  <a:gd name="T57" fmla="*/ 7 h 128"/>
                  <a:gd name="T58" fmla="*/ 111 w 128"/>
                  <a:gd name="T59" fmla="*/ 30 h 128"/>
                  <a:gd name="T60" fmla="*/ 119 w 128"/>
                  <a:gd name="T61" fmla="*/ 41 h 128"/>
                  <a:gd name="T62" fmla="*/ 104 w 128"/>
                  <a:gd name="T63" fmla="*/ 62 h 128"/>
                  <a:gd name="T64" fmla="*/ 98 w 128"/>
                  <a:gd name="T65" fmla="*/ 35 h 128"/>
                  <a:gd name="T66" fmla="*/ 80 w 128"/>
                  <a:gd name="T67" fmla="*/ 7 h 128"/>
                  <a:gd name="T68" fmla="*/ 108 w 128"/>
                  <a:gd name="T69" fmla="*/ 24 h 128"/>
                  <a:gd name="T70" fmla="*/ 97 w 128"/>
                  <a:gd name="T71" fmla="*/ 30 h 128"/>
                  <a:gd name="T72" fmla="*/ 79 w 128"/>
                  <a:gd name="T73" fmla="*/ 9 h 128"/>
                  <a:gd name="T74" fmla="*/ 66 w 128"/>
                  <a:gd name="T75" fmla="*/ 6 h 128"/>
                  <a:gd name="T76" fmla="*/ 91 w 128"/>
                  <a:gd name="T77" fmla="*/ 31 h 128"/>
                  <a:gd name="T78" fmla="*/ 68 w 128"/>
                  <a:gd name="T79" fmla="*/ 36 h 128"/>
                  <a:gd name="T80" fmla="*/ 66 w 128"/>
                  <a:gd name="T81" fmla="*/ 40 h 128"/>
                  <a:gd name="T82" fmla="*/ 94 w 128"/>
                  <a:gd name="T83" fmla="*/ 36 h 128"/>
                  <a:gd name="T84" fmla="*/ 99 w 128"/>
                  <a:gd name="T85" fmla="*/ 62 h 128"/>
                  <a:gd name="T86" fmla="*/ 66 w 128"/>
                  <a:gd name="T87" fmla="*/ 66 h 128"/>
                  <a:gd name="T88" fmla="*/ 94 w 128"/>
                  <a:gd name="T89" fmla="*/ 90 h 128"/>
                  <a:gd name="T90" fmla="*/ 68 w 128"/>
                  <a:gd name="T91" fmla="*/ 88 h 128"/>
                  <a:gd name="T92" fmla="*/ 66 w 128"/>
                  <a:gd name="T93" fmla="*/ 122 h 128"/>
                  <a:gd name="T94" fmla="*/ 90 w 128"/>
                  <a:gd name="T95" fmla="*/ 95 h 128"/>
                  <a:gd name="T96" fmla="*/ 80 w 128"/>
                  <a:gd name="T97" fmla="*/ 112 h 128"/>
                  <a:gd name="T98" fmla="*/ 108 w 128"/>
                  <a:gd name="T99" fmla="*/ 104 h 128"/>
                  <a:gd name="T100" fmla="*/ 80 w 128"/>
                  <a:gd name="T101" fmla="*/ 121 h 128"/>
                  <a:gd name="T102" fmla="*/ 95 w 128"/>
                  <a:gd name="T103" fmla="*/ 98 h 128"/>
                  <a:gd name="T104" fmla="*/ 107 w 128"/>
                  <a:gd name="T105" fmla="*/ 102 h 128"/>
                  <a:gd name="T106" fmla="*/ 123 w 128"/>
                  <a:gd name="T107" fmla="*/ 68 h 128"/>
                  <a:gd name="T108" fmla="*/ 112 w 128"/>
                  <a:gd name="T109" fmla="*/ 99 h 128"/>
                  <a:gd name="T110" fmla="*/ 98 w 128"/>
                  <a:gd name="T111" fmla="*/ 93 h 128"/>
                  <a:gd name="T112" fmla="*/ 104 w 128"/>
                  <a:gd name="T11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20" y="24"/>
                    </a:moveTo>
                    <a:cubicBezTo>
                      <a:pt x="21" y="23"/>
                      <a:pt x="21" y="23"/>
                      <a:pt x="22" y="22"/>
                    </a:cubicBezTo>
                    <a:cubicBezTo>
                      <a:pt x="27" y="17"/>
                      <a:pt x="34" y="12"/>
                      <a:pt x="41" y="9"/>
                    </a:cubicBezTo>
                    <a:cubicBezTo>
                      <a:pt x="43" y="8"/>
                      <a:pt x="46" y="7"/>
                      <a:pt x="48" y="7"/>
                    </a:cubicBezTo>
                    <a:cubicBezTo>
                      <a:pt x="54" y="5"/>
                      <a:pt x="54" y="5"/>
                      <a:pt x="54" y="5"/>
                    </a:cubicBezTo>
                    <a:cubicBezTo>
                      <a:pt x="49" y="9"/>
                      <a:pt x="49" y="9"/>
                      <a:pt x="49" y="9"/>
                    </a:cubicBezTo>
                    <a:cubicBezTo>
                      <a:pt x="43" y="15"/>
                      <a:pt x="37" y="22"/>
                      <a:pt x="33" y="30"/>
                    </a:cubicBezTo>
                    <a:cubicBezTo>
                      <a:pt x="32" y="31"/>
                      <a:pt x="32" y="31"/>
                      <a:pt x="32" y="31"/>
                    </a:cubicBezTo>
                    <a:cubicBezTo>
                      <a:pt x="31" y="30"/>
                      <a:pt x="31" y="30"/>
                      <a:pt x="31" y="30"/>
                    </a:cubicBezTo>
                    <a:cubicBezTo>
                      <a:pt x="27" y="29"/>
                      <a:pt x="24" y="28"/>
                      <a:pt x="21" y="26"/>
                    </a:cubicBezTo>
                    <a:cubicBezTo>
                      <a:pt x="19" y="25"/>
                      <a:pt x="19" y="25"/>
                      <a:pt x="19" y="25"/>
                    </a:cubicBezTo>
                    <a:lnTo>
                      <a:pt x="20" y="24"/>
                    </a:lnTo>
                    <a:close/>
                    <a:moveTo>
                      <a:pt x="5" y="60"/>
                    </a:moveTo>
                    <a:cubicBezTo>
                      <a:pt x="5" y="54"/>
                      <a:pt x="7" y="47"/>
                      <a:pt x="9" y="41"/>
                    </a:cubicBezTo>
                    <a:cubicBezTo>
                      <a:pt x="11" y="37"/>
                      <a:pt x="13" y="33"/>
                      <a:pt x="15" y="30"/>
                    </a:cubicBezTo>
                    <a:cubicBezTo>
                      <a:pt x="16" y="29"/>
                      <a:pt x="16" y="29"/>
                      <a:pt x="16" y="29"/>
                    </a:cubicBezTo>
                    <a:cubicBezTo>
                      <a:pt x="17" y="30"/>
                      <a:pt x="17" y="30"/>
                      <a:pt x="17" y="30"/>
                    </a:cubicBezTo>
                    <a:cubicBezTo>
                      <a:pt x="21" y="31"/>
                      <a:pt x="25" y="33"/>
                      <a:pt x="29" y="34"/>
                    </a:cubicBezTo>
                    <a:cubicBezTo>
                      <a:pt x="30" y="35"/>
                      <a:pt x="30" y="35"/>
                      <a:pt x="30" y="35"/>
                    </a:cubicBezTo>
                    <a:cubicBezTo>
                      <a:pt x="29" y="36"/>
                      <a:pt x="29" y="36"/>
                      <a:pt x="29" y="36"/>
                    </a:cubicBezTo>
                    <a:cubicBezTo>
                      <a:pt x="26" y="44"/>
                      <a:pt x="24" y="52"/>
                      <a:pt x="24" y="60"/>
                    </a:cubicBezTo>
                    <a:cubicBezTo>
                      <a:pt x="24" y="62"/>
                      <a:pt x="24" y="62"/>
                      <a:pt x="24" y="62"/>
                    </a:cubicBezTo>
                    <a:cubicBezTo>
                      <a:pt x="5" y="62"/>
                      <a:pt x="5" y="62"/>
                      <a:pt x="5" y="62"/>
                    </a:cubicBezTo>
                    <a:lnTo>
                      <a:pt x="5" y="60"/>
                    </a:lnTo>
                    <a:close/>
                    <a:moveTo>
                      <a:pt x="17" y="98"/>
                    </a:moveTo>
                    <a:cubicBezTo>
                      <a:pt x="16" y="99"/>
                      <a:pt x="16" y="99"/>
                      <a:pt x="16" y="99"/>
                    </a:cubicBezTo>
                    <a:cubicBezTo>
                      <a:pt x="15" y="98"/>
                      <a:pt x="15" y="98"/>
                      <a:pt x="15" y="98"/>
                    </a:cubicBezTo>
                    <a:cubicBezTo>
                      <a:pt x="13" y="95"/>
                      <a:pt x="11" y="91"/>
                      <a:pt x="9" y="87"/>
                    </a:cubicBezTo>
                    <a:cubicBezTo>
                      <a:pt x="7" y="81"/>
                      <a:pt x="5" y="74"/>
                      <a:pt x="5" y="68"/>
                    </a:cubicBezTo>
                    <a:cubicBezTo>
                      <a:pt x="5" y="66"/>
                      <a:pt x="5" y="66"/>
                      <a:pt x="5" y="66"/>
                    </a:cubicBezTo>
                    <a:cubicBezTo>
                      <a:pt x="24" y="66"/>
                      <a:pt x="24" y="66"/>
                      <a:pt x="24" y="66"/>
                    </a:cubicBezTo>
                    <a:cubicBezTo>
                      <a:pt x="24" y="68"/>
                      <a:pt x="24" y="68"/>
                      <a:pt x="24" y="68"/>
                    </a:cubicBezTo>
                    <a:cubicBezTo>
                      <a:pt x="24" y="76"/>
                      <a:pt x="26" y="84"/>
                      <a:pt x="29" y="92"/>
                    </a:cubicBezTo>
                    <a:cubicBezTo>
                      <a:pt x="30" y="93"/>
                      <a:pt x="30" y="93"/>
                      <a:pt x="30" y="93"/>
                    </a:cubicBezTo>
                    <a:cubicBezTo>
                      <a:pt x="29" y="94"/>
                      <a:pt x="29" y="94"/>
                      <a:pt x="29" y="94"/>
                    </a:cubicBezTo>
                    <a:cubicBezTo>
                      <a:pt x="25" y="95"/>
                      <a:pt x="21" y="97"/>
                      <a:pt x="17" y="98"/>
                    </a:cubicBezTo>
                    <a:close/>
                    <a:moveTo>
                      <a:pt x="48" y="121"/>
                    </a:moveTo>
                    <a:cubicBezTo>
                      <a:pt x="46" y="121"/>
                      <a:pt x="43" y="120"/>
                      <a:pt x="41" y="119"/>
                    </a:cubicBezTo>
                    <a:cubicBezTo>
                      <a:pt x="34" y="116"/>
                      <a:pt x="27" y="112"/>
                      <a:pt x="22" y="106"/>
                    </a:cubicBezTo>
                    <a:cubicBezTo>
                      <a:pt x="21" y="105"/>
                      <a:pt x="21" y="105"/>
                      <a:pt x="20" y="104"/>
                    </a:cubicBezTo>
                    <a:cubicBezTo>
                      <a:pt x="19" y="103"/>
                      <a:pt x="19" y="103"/>
                      <a:pt x="19" y="103"/>
                    </a:cubicBezTo>
                    <a:cubicBezTo>
                      <a:pt x="21" y="102"/>
                      <a:pt x="21" y="102"/>
                      <a:pt x="21" y="102"/>
                    </a:cubicBezTo>
                    <a:cubicBezTo>
                      <a:pt x="24" y="100"/>
                      <a:pt x="27" y="99"/>
                      <a:pt x="31" y="98"/>
                    </a:cubicBezTo>
                    <a:cubicBezTo>
                      <a:pt x="32" y="97"/>
                      <a:pt x="32" y="97"/>
                      <a:pt x="32" y="97"/>
                    </a:cubicBezTo>
                    <a:cubicBezTo>
                      <a:pt x="33" y="98"/>
                      <a:pt x="33" y="98"/>
                      <a:pt x="33" y="98"/>
                    </a:cubicBezTo>
                    <a:cubicBezTo>
                      <a:pt x="37" y="106"/>
                      <a:pt x="43" y="113"/>
                      <a:pt x="49" y="119"/>
                    </a:cubicBezTo>
                    <a:cubicBezTo>
                      <a:pt x="54" y="123"/>
                      <a:pt x="54" y="123"/>
                      <a:pt x="54" y="123"/>
                    </a:cubicBezTo>
                    <a:lnTo>
                      <a:pt x="48" y="121"/>
                    </a:lnTo>
                    <a:close/>
                    <a:moveTo>
                      <a:pt x="62" y="122"/>
                    </a:moveTo>
                    <a:cubicBezTo>
                      <a:pt x="60" y="121"/>
                      <a:pt x="60" y="121"/>
                      <a:pt x="60" y="121"/>
                    </a:cubicBezTo>
                    <a:cubicBezTo>
                      <a:pt x="55" y="118"/>
                      <a:pt x="52" y="115"/>
                      <a:pt x="48" y="112"/>
                    </a:cubicBezTo>
                    <a:cubicBezTo>
                      <a:pt x="44" y="107"/>
                      <a:pt x="40" y="103"/>
                      <a:pt x="37" y="97"/>
                    </a:cubicBezTo>
                    <a:cubicBezTo>
                      <a:pt x="36" y="96"/>
                      <a:pt x="36" y="96"/>
                      <a:pt x="36" y="96"/>
                    </a:cubicBezTo>
                    <a:cubicBezTo>
                      <a:pt x="38" y="95"/>
                      <a:pt x="38" y="95"/>
                      <a:pt x="38" y="95"/>
                    </a:cubicBezTo>
                    <a:cubicBezTo>
                      <a:pt x="45" y="94"/>
                      <a:pt x="53" y="93"/>
                      <a:pt x="60" y="92"/>
                    </a:cubicBezTo>
                    <a:cubicBezTo>
                      <a:pt x="62" y="92"/>
                      <a:pt x="62" y="92"/>
                      <a:pt x="62" y="92"/>
                    </a:cubicBezTo>
                    <a:lnTo>
                      <a:pt x="62" y="122"/>
                    </a:lnTo>
                    <a:close/>
                    <a:moveTo>
                      <a:pt x="62" y="88"/>
                    </a:moveTo>
                    <a:cubicBezTo>
                      <a:pt x="60" y="88"/>
                      <a:pt x="60" y="88"/>
                      <a:pt x="60" y="88"/>
                    </a:cubicBezTo>
                    <a:cubicBezTo>
                      <a:pt x="52" y="88"/>
                      <a:pt x="44" y="89"/>
                      <a:pt x="36" y="91"/>
                    </a:cubicBezTo>
                    <a:cubicBezTo>
                      <a:pt x="34" y="92"/>
                      <a:pt x="34" y="92"/>
                      <a:pt x="34" y="92"/>
                    </a:cubicBezTo>
                    <a:cubicBezTo>
                      <a:pt x="34" y="90"/>
                      <a:pt x="34" y="90"/>
                      <a:pt x="34" y="90"/>
                    </a:cubicBezTo>
                    <a:cubicBezTo>
                      <a:pt x="31" y="83"/>
                      <a:pt x="29" y="76"/>
                      <a:pt x="29" y="68"/>
                    </a:cubicBezTo>
                    <a:cubicBezTo>
                      <a:pt x="29" y="66"/>
                      <a:pt x="29" y="66"/>
                      <a:pt x="29" y="66"/>
                    </a:cubicBezTo>
                    <a:cubicBezTo>
                      <a:pt x="62" y="66"/>
                      <a:pt x="62" y="66"/>
                      <a:pt x="62" y="66"/>
                    </a:cubicBezTo>
                    <a:lnTo>
                      <a:pt x="62" y="88"/>
                    </a:lnTo>
                    <a:close/>
                    <a:moveTo>
                      <a:pt x="62" y="62"/>
                    </a:moveTo>
                    <a:cubicBezTo>
                      <a:pt x="29" y="62"/>
                      <a:pt x="29" y="62"/>
                      <a:pt x="29" y="62"/>
                    </a:cubicBezTo>
                    <a:cubicBezTo>
                      <a:pt x="29" y="60"/>
                      <a:pt x="29" y="60"/>
                      <a:pt x="29" y="60"/>
                    </a:cubicBezTo>
                    <a:cubicBezTo>
                      <a:pt x="29" y="52"/>
                      <a:pt x="31" y="45"/>
                      <a:pt x="34" y="38"/>
                    </a:cubicBezTo>
                    <a:cubicBezTo>
                      <a:pt x="34" y="37"/>
                      <a:pt x="34" y="37"/>
                      <a:pt x="34" y="37"/>
                    </a:cubicBezTo>
                    <a:cubicBezTo>
                      <a:pt x="36" y="37"/>
                      <a:pt x="36" y="37"/>
                      <a:pt x="36" y="37"/>
                    </a:cubicBezTo>
                    <a:cubicBezTo>
                      <a:pt x="44" y="39"/>
                      <a:pt x="52" y="40"/>
                      <a:pt x="60" y="40"/>
                    </a:cubicBezTo>
                    <a:cubicBezTo>
                      <a:pt x="62" y="40"/>
                      <a:pt x="62" y="40"/>
                      <a:pt x="62" y="40"/>
                    </a:cubicBezTo>
                    <a:lnTo>
                      <a:pt x="62" y="62"/>
                    </a:lnTo>
                    <a:close/>
                    <a:moveTo>
                      <a:pt x="62" y="36"/>
                    </a:moveTo>
                    <a:cubicBezTo>
                      <a:pt x="60" y="36"/>
                      <a:pt x="60" y="36"/>
                      <a:pt x="60" y="36"/>
                    </a:cubicBezTo>
                    <a:cubicBezTo>
                      <a:pt x="53" y="35"/>
                      <a:pt x="45" y="34"/>
                      <a:pt x="38" y="33"/>
                    </a:cubicBezTo>
                    <a:cubicBezTo>
                      <a:pt x="36" y="32"/>
                      <a:pt x="36" y="32"/>
                      <a:pt x="36" y="32"/>
                    </a:cubicBezTo>
                    <a:cubicBezTo>
                      <a:pt x="37" y="31"/>
                      <a:pt x="37" y="31"/>
                      <a:pt x="37" y="31"/>
                    </a:cubicBezTo>
                    <a:cubicBezTo>
                      <a:pt x="40" y="25"/>
                      <a:pt x="44" y="21"/>
                      <a:pt x="48" y="17"/>
                    </a:cubicBezTo>
                    <a:cubicBezTo>
                      <a:pt x="52" y="13"/>
                      <a:pt x="55" y="10"/>
                      <a:pt x="60" y="7"/>
                    </a:cubicBezTo>
                    <a:cubicBezTo>
                      <a:pt x="62" y="6"/>
                      <a:pt x="62" y="6"/>
                      <a:pt x="62" y="6"/>
                    </a:cubicBezTo>
                    <a:lnTo>
                      <a:pt x="62" y="36"/>
                    </a:lnTo>
                    <a:close/>
                    <a:moveTo>
                      <a:pt x="111" y="30"/>
                    </a:moveTo>
                    <a:cubicBezTo>
                      <a:pt x="112" y="29"/>
                      <a:pt x="112" y="29"/>
                      <a:pt x="112" y="29"/>
                    </a:cubicBezTo>
                    <a:cubicBezTo>
                      <a:pt x="113" y="30"/>
                      <a:pt x="113" y="30"/>
                      <a:pt x="113" y="30"/>
                    </a:cubicBezTo>
                    <a:cubicBezTo>
                      <a:pt x="115" y="33"/>
                      <a:pt x="117" y="37"/>
                      <a:pt x="119" y="41"/>
                    </a:cubicBezTo>
                    <a:cubicBezTo>
                      <a:pt x="121" y="47"/>
                      <a:pt x="123" y="54"/>
                      <a:pt x="123" y="60"/>
                    </a:cubicBezTo>
                    <a:cubicBezTo>
                      <a:pt x="123" y="62"/>
                      <a:pt x="123" y="62"/>
                      <a:pt x="123" y="62"/>
                    </a:cubicBezTo>
                    <a:cubicBezTo>
                      <a:pt x="104" y="62"/>
                      <a:pt x="104" y="62"/>
                      <a:pt x="104" y="62"/>
                    </a:cubicBezTo>
                    <a:cubicBezTo>
                      <a:pt x="104" y="60"/>
                      <a:pt x="104" y="60"/>
                      <a:pt x="104" y="60"/>
                    </a:cubicBezTo>
                    <a:cubicBezTo>
                      <a:pt x="104" y="52"/>
                      <a:pt x="102" y="44"/>
                      <a:pt x="98" y="36"/>
                    </a:cubicBezTo>
                    <a:cubicBezTo>
                      <a:pt x="98" y="35"/>
                      <a:pt x="98" y="35"/>
                      <a:pt x="98" y="35"/>
                    </a:cubicBezTo>
                    <a:cubicBezTo>
                      <a:pt x="99" y="34"/>
                      <a:pt x="99" y="34"/>
                      <a:pt x="99" y="34"/>
                    </a:cubicBezTo>
                    <a:cubicBezTo>
                      <a:pt x="103" y="33"/>
                      <a:pt x="107" y="31"/>
                      <a:pt x="111" y="30"/>
                    </a:cubicBezTo>
                    <a:close/>
                    <a:moveTo>
                      <a:pt x="80" y="7"/>
                    </a:moveTo>
                    <a:cubicBezTo>
                      <a:pt x="82" y="7"/>
                      <a:pt x="85" y="8"/>
                      <a:pt x="87" y="9"/>
                    </a:cubicBezTo>
                    <a:cubicBezTo>
                      <a:pt x="94" y="12"/>
                      <a:pt x="101" y="17"/>
                      <a:pt x="106" y="22"/>
                    </a:cubicBezTo>
                    <a:cubicBezTo>
                      <a:pt x="107" y="23"/>
                      <a:pt x="107" y="23"/>
                      <a:pt x="108" y="24"/>
                    </a:cubicBezTo>
                    <a:cubicBezTo>
                      <a:pt x="109" y="25"/>
                      <a:pt x="109" y="25"/>
                      <a:pt x="109" y="25"/>
                    </a:cubicBezTo>
                    <a:cubicBezTo>
                      <a:pt x="107" y="26"/>
                      <a:pt x="107" y="26"/>
                      <a:pt x="107" y="26"/>
                    </a:cubicBezTo>
                    <a:cubicBezTo>
                      <a:pt x="104" y="28"/>
                      <a:pt x="101" y="29"/>
                      <a:pt x="97" y="30"/>
                    </a:cubicBezTo>
                    <a:cubicBezTo>
                      <a:pt x="96" y="31"/>
                      <a:pt x="96" y="31"/>
                      <a:pt x="96" y="31"/>
                    </a:cubicBezTo>
                    <a:cubicBezTo>
                      <a:pt x="95" y="30"/>
                      <a:pt x="95" y="30"/>
                      <a:pt x="95" y="30"/>
                    </a:cubicBezTo>
                    <a:cubicBezTo>
                      <a:pt x="91" y="22"/>
                      <a:pt x="85" y="15"/>
                      <a:pt x="79" y="9"/>
                    </a:cubicBezTo>
                    <a:cubicBezTo>
                      <a:pt x="74" y="5"/>
                      <a:pt x="74" y="5"/>
                      <a:pt x="74" y="5"/>
                    </a:cubicBezTo>
                    <a:lnTo>
                      <a:pt x="80" y="7"/>
                    </a:lnTo>
                    <a:close/>
                    <a:moveTo>
                      <a:pt x="66" y="6"/>
                    </a:moveTo>
                    <a:cubicBezTo>
                      <a:pt x="68" y="7"/>
                      <a:pt x="68" y="7"/>
                      <a:pt x="68" y="7"/>
                    </a:cubicBezTo>
                    <a:cubicBezTo>
                      <a:pt x="73" y="10"/>
                      <a:pt x="76" y="13"/>
                      <a:pt x="80" y="16"/>
                    </a:cubicBezTo>
                    <a:cubicBezTo>
                      <a:pt x="84" y="21"/>
                      <a:pt x="88" y="25"/>
                      <a:pt x="91" y="31"/>
                    </a:cubicBezTo>
                    <a:cubicBezTo>
                      <a:pt x="91" y="32"/>
                      <a:pt x="91" y="32"/>
                      <a:pt x="91" y="32"/>
                    </a:cubicBezTo>
                    <a:cubicBezTo>
                      <a:pt x="90" y="33"/>
                      <a:pt x="90" y="33"/>
                      <a:pt x="90" y="33"/>
                    </a:cubicBezTo>
                    <a:cubicBezTo>
                      <a:pt x="83" y="34"/>
                      <a:pt x="75" y="35"/>
                      <a:pt x="68" y="36"/>
                    </a:cubicBezTo>
                    <a:cubicBezTo>
                      <a:pt x="66" y="36"/>
                      <a:pt x="66" y="36"/>
                      <a:pt x="66" y="36"/>
                    </a:cubicBezTo>
                    <a:lnTo>
                      <a:pt x="66" y="6"/>
                    </a:lnTo>
                    <a:close/>
                    <a:moveTo>
                      <a:pt x="66" y="40"/>
                    </a:moveTo>
                    <a:cubicBezTo>
                      <a:pt x="68" y="40"/>
                      <a:pt x="68" y="40"/>
                      <a:pt x="68" y="40"/>
                    </a:cubicBezTo>
                    <a:cubicBezTo>
                      <a:pt x="76" y="40"/>
                      <a:pt x="84" y="39"/>
                      <a:pt x="92" y="37"/>
                    </a:cubicBezTo>
                    <a:cubicBezTo>
                      <a:pt x="94" y="36"/>
                      <a:pt x="94" y="36"/>
                      <a:pt x="94" y="36"/>
                    </a:cubicBezTo>
                    <a:cubicBezTo>
                      <a:pt x="94" y="38"/>
                      <a:pt x="94" y="38"/>
                      <a:pt x="94" y="38"/>
                    </a:cubicBezTo>
                    <a:cubicBezTo>
                      <a:pt x="97" y="45"/>
                      <a:pt x="99" y="52"/>
                      <a:pt x="99" y="60"/>
                    </a:cubicBezTo>
                    <a:cubicBezTo>
                      <a:pt x="99" y="62"/>
                      <a:pt x="99" y="62"/>
                      <a:pt x="99" y="62"/>
                    </a:cubicBezTo>
                    <a:cubicBezTo>
                      <a:pt x="66" y="62"/>
                      <a:pt x="66" y="62"/>
                      <a:pt x="66" y="62"/>
                    </a:cubicBezTo>
                    <a:lnTo>
                      <a:pt x="66" y="40"/>
                    </a:lnTo>
                    <a:close/>
                    <a:moveTo>
                      <a:pt x="66" y="66"/>
                    </a:moveTo>
                    <a:cubicBezTo>
                      <a:pt x="99" y="66"/>
                      <a:pt x="99" y="66"/>
                      <a:pt x="99" y="66"/>
                    </a:cubicBezTo>
                    <a:cubicBezTo>
                      <a:pt x="99" y="68"/>
                      <a:pt x="99" y="68"/>
                      <a:pt x="99" y="68"/>
                    </a:cubicBezTo>
                    <a:cubicBezTo>
                      <a:pt x="99" y="76"/>
                      <a:pt x="97" y="83"/>
                      <a:pt x="94" y="90"/>
                    </a:cubicBezTo>
                    <a:cubicBezTo>
                      <a:pt x="94" y="91"/>
                      <a:pt x="94" y="91"/>
                      <a:pt x="94" y="91"/>
                    </a:cubicBezTo>
                    <a:cubicBezTo>
                      <a:pt x="92" y="91"/>
                      <a:pt x="92" y="91"/>
                      <a:pt x="92" y="91"/>
                    </a:cubicBezTo>
                    <a:cubicBezTo>
                      <a:pt x="84" y="89"/>
                      <a:pt x="76" y="88"/>
                      <a:pt x="68" y="88"/>
                    </a:cubicBezTo>
                    <a:cubicBezTo>
                      <a:pt x="66" y="88"/>
                      <a:pt x="66" y="88"/>
                      <a:pt x="66" y="88"/>
                    </a:cubicBezTo>
                    <a:lnTo>
                      <a:pt x="66" y="66"/>
                    </a:lnTo>
                    <a:close/>
                    <a:moveTo>
                      <a:pt x="66" y="122"/>
                    </a:moveTo>
                    <a:cubicBezTo>
                      <a:pt x="66" y="92"/>
                      <a:pt x="66" y="92"/>
                      <a:pt x="66" y="92"/>
                    </a:cubicBezTo>
                    <a:cubicBezTo>
                      <a:pt x="68" y="92"/>
                      <a:pt x="68" y="92"/>
                      <a:pt x="68" y="92"/>
                    </a:cubicBezTo>
                    <a:cubicBezTo>
                      <a:pt x="75" y="93"/>
                      <a:pt x="83" y="94"/>
                      <a:pt x="90" y="95"/>
                    </a:cubicBezTo>
                    <a:cubicBezTo>
                      <a:pt x="91" y="96"/>
                      <a:pt x="91" y="96"/>
                      <a:pt x="91" y="96"/>
                    </a:cubicBezTo>
                    <a:cubicBezTo>
                      <a:pt x="91" y="97"/>
                      <a:pt x="91" y="97"/>
                      <a:pt x="91" y="97"/>
                    </a:cubicBezTo>
                    <a:cubicBezTo>
                      <a:pt x="88" y="103"/>
                      <a:pt x="84" y="107"/>
                      <a:pt x="80" y="112"/>
                    </a:cubicBezTo>
                    <a:cubicBezTo>
                      <a:pt x="76" y="115"/>
                      <a:pt x="73" y="118"/>
                      <a:pt x="68" y="121"/>
                    </a:cubicBezTo>
                    <a:lnTo>
                      <a:pt x="66" y="122"/>
                    </a:lnTo>
                    <a:close/>
                    <a:moveTo>
                      <a:pt x="108" y="104"/>
                    </a:moveTo>
                    <a:cubicBezTo>
                      <a:pt x="107" y="105"/>
                      <a:pt x="107" y="105"/>
                      <a:pt x="106" y="106"/>
                    </a:cubicBezTo>
                    <a:cubicBezTo>
                      <a:pt x="101" y="112"/>
                      <a:pt x="94" y="116"/>
                      <a:pt x="87" y="119"/>
                    </a:cubicBezTo>
                    <a:cubicBezTo>
                      <a:pt x="85" y="120"/>
                      <a:pt x="82" y="121"/>
                      <a:pt x="80" y="121"/>
                    </a:cubicBezTo>
                    <a:cubicBezTo>
                      <a:pt x="74" y="123"/>
                      <a:pt x="74" y="123"/>
                      <a:pt x="74" y="123"/>
                    </a:cubicBezTo>
                    <a:cubicBezTo>
                      <a:pt x="79" y="119"/>
                      <a:pt x="79" y="119"/>
                      <a:pt x="79" y="119"/>
                    </a:cubicBezTo>
                    <a:cubicBezTo>
                      <a:pt x="85" y="113"/>
                      <a:pt x="91" y="106"/>
                      <a:pt x="95" y="98"/>
                    </a:cubicBezTo>
                    <a:cubicBezTo>
                      <a:pt x="96" y="97"/>
                      <a:pt x="96" y="97"/>
                      <a:pt x="96" y="97"/>
                    </a:cubicBezTo>
                    <a:cubicBezTo>
                      <a:pt x="97" y="98"/>
                      <a:pt x="97" y="98"/>
                      <a:pt x="97" y="98"/>
                    </a:cubicBezTo>
                    <a:cubicBezTo>
                      <a:pt x="101" y="99"/>
                      <a:pt x="104" y="100"/>
                      <a:pt x="107" y="102"/>
                    </a:cubicBezTo>
                    <a:cubicBezTo>
                      <a:pt x="109" y="103"/>
                      <a:pt x="109" y="103"/>
                      <a:pt x="109" y="103"/>
                    </a:cubicBezTo>
                    <a:lnTo>
                      <a:pt x="108" y="104"/>
                    </a:lnTo>
                    <a:close/>
                    <a:moveTo>
                      <a:pt x="123" y="68"/>
                    </a:moveTo>
                    <a:cubicBezTo>
                      <a:pt x="123" y="74"/>
                      <a:pt x="121" y="81"/>
                      <a:pt x="119" y="87"/>
                    </a:cubicBezTo>
                    <a:cubicBezTo>
                      <a:pt x="117" y="91"/>
                      <a:pt x="115" y="95"/>
                      <a:pt x="113" y="98"/>
                    </a:cubicBezTo>
                    <a:cubicBezTo>
                      <a:pt x="112" y="99"/>
                      <a:pt x="112" y="99"/>
                      <a:pt x="112" y="99"/>
                    </a:cubicBezTo>
                    <a:cubicBezTo>
                      <a:pt x="111" y="98"/>
                      <a:pt x="111" y="98"/>
                      <a:pt x="111" y="98"/>
                    </a:cubicBezTo>
                    <a:cubicBezTo>
                      <a:pt x="107" y="97"/>
                      <a:pt x="103" y="95"/>
                      <a:pt x="99" y="94"/>
                    </a:cubicBezTo>
                    <a:cubicBezTo>
                      <a:pt x="98" y="93"/>
                      <a:pt x="98" y="93"/>
                      <a:pt x="98" y="93"/>
                    </a:cubicBezTo>
                    <a:cubicBezTo>
                      <a:pt x="98" y="92"/>
                      <a:pt x="98" y="92"/>
                      <a:pt x="98" y="92"/>
                    </a:cubicBezTo>
                    <a:cubicBezTo>
                      <a:pt x="102" y="84"/>
                      <a:pt x="104" y="76"/>
                      <a:pt x="104" y="68"/>
                    </a:cubicBezTo>
                    <a:cubicBezTo>
                      <a:pt x="104" y="66"/>
                      <a:pt x="104" y="66"/>
                      <a:pt x="104" y="66"/>
                    </a:cubicBezTo>
                    <a:cubicBezTo>
                      <a:pt x="123" y="66"/>
                      <a:pt x="123" y="66"/>
                      <a:pt x="123" y="66"/>
                    </a:cubicBezTo>
                    <a:lnTo>
                      <a:pt x="123" y="68"/>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zh-CN" altLang="en-US" sz="3200" i="0" dirty="0">
                  <a:solidFill>
                    <a:srgbClr val="000000"/>
                  </a:solidFill>
                  <a:latin typeface="华文中宋" panose="02010600040101010101" pitchFamily="2" charset="-122"/>
                  <a:ea typeface="华文中宋" panose="02010600040101010101" pitchFamily="2" charset="-122"/>
                </a:endParaRPr>
              </a:p>
            </p:txBody>
          </p:sp>
        </p:grpSp>
      </p:grpSp>
    </p:spTree>
    <p:extLst>
      <p:ext uri="{BB962C8B-B14F-4D97-AF65-F5344CB8AC3E}">
        <p14:creationId xmlns:p14="http://schemas.microsoft.com/office/powerpoint/2010/main" val="235015731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D182527-CB60-43A4-AFC6-6ADE53D5F4D8}"/>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19</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61973B88-A116-4B0E-BA4E-DCF3B8CA3E8C}"/>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4.3 </a:t>
            </a:r>
            <a:r>
              <a:rPr lang="zh-CN" altLang="en-US" sz="3200" b="1" dirty="0">
                <a:solidFill>
                  <a:srgbClr val="9D1317"/>
                </a:solidFill>
                <a:latin typeface="微软雅黑" panose="020B0503020204020204" pitchFamily="34" charset="-122"/>
                <a:ea typeface="微软雅黑" panose="020B0503020204020204" pitchFamily="34" charset="-122"/>
              </a:rPr>
              <a:t>机器人工作空间分析：可达与灵巧空间</a:t>
            </a:r>
          </a:p>
        </p:txBody>
      </p:sp>
      <p:sp>
        <p:nvSpPr>
          <p:cNvPr id="5" name="Rectangle 3">
            <a:extLst>
              <a:ext uri="{FF2B5EF4-FFF2-40B4-BE49-F238E27FC236}">
                <a16:creationId xmlns:a16="http://schemas.microsoft.com/office/drawing/2014/main" id="{861350BA-7C96-48AD-9AEF-EDAB45204061}"/>
              </a:ext>
            </a:extLst>
          </p:cNvPr>
          <p:cNvSpPr txBox="1">
            <a:spLocks noChangeArrowheads="1"/>
          </p:cNvSpPr>
          <p:nvPr/>
        </p:nvSpPr>
        <p:spPr>
          <a:xfrm>
            <a:off x="1043865" y="1112125"/>
            <a:ext cx="9793088" cy="4843050"/>
          </a:xfrm>
          <a:prstGeom prst="rect">
            <a:avLst/>
          </a:prstGeom>
        </p:spPr>
        <p:txBody>
          <a:bodyPr/>
          <a:lstStyle>
            <a:lvl1pPr marL="257175" indent="-257175" algn="l" defTabSz="685800" rtl="0" eaLnBrk="1" latinLnBrk="0" hangingPunct="1">
              <a:lnSpc>
                <a:spcPct val="125000"/>
              </a:lnSpc>
              <a:spcBef>
                <a:spcPts val="0"/>
              </a:spcBef>
              <a:spcAft>
                <a:spcPts val="450"/>
              </a:spcAft>
              <a:buFont typeface="Wingdings" panose="05000000000000000000" pitchFamily="2" charset="2"/>
              <a:buChar char="Ø"/>
              <a:defRPr lang="en-US" sz="150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1pPr>
            <a:lvl2pPr marL="557213" indent="-214313" algn="l" defTabSz="685800" rtl="0" eaLnBrk="1" latinLnBrk="0" hangingPunct="1">
              <a:lnSpc>
                <a:spcPct val="125000"/>
              </a:lnSpc>
              <a:spcBef>
                <a:spcPts val="0"/>
              </a:spcBef>
              <a:spcAft>
                <a:spcPts val="450"/>
              </a:spcAft>
              <a:buFont typeface="Wingdings" panose="05000000000000000000" pitchFamily="2" charset="2"/>
              <a:buChar char="Ø"/>
              <a:defRPr lang="en-US" sz="1350" b="0" kern="1200" baseline="0" dirty="0" smtClean="0">
                <a:solidFill>
                  <a:srgbClr val="711351"/>
                </a:solidFill>
                <a:effectLst/>
                <a:latin typeface="Segoe UI" panose="020B0502040204020203" pitchFamily="34" charset="0"/>
                <a:ea typeface="宋体" panose="02010600030101010101" pitchFamily="2" charset="-122"/>
                <a:cs typeface="Segoe UI" panose="020B0502040204020203" pitchFamily="34" charset="0"/>
              </a:defRPr>
            </a:lvl2pPr>
            <a:lvl3pPr marL="857250" indent="-171450" algn="l" defTabSz="685800" rtl="0" eaLnBrk="1" latinLnBrk="0" hangingPunct="1">
              <a:lnSpc>
                <a:spcPct val="100000"/>
              </a:lnSpc>
              <a:spcBef>
                <a:spcPts val="450"/>
              </a:spcBef>
              <a:buFont typeface="Wingdings" panose="05000000000000000000" pitchFamily="2" charset="2"/>
              <a:buChar char="Ø"/>
              <a:defRPr lang="en-US" sz="120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3pPr>
            <a:lvl4pPr marL="1200150" indent="-171450" algn="l" defTabSz="685800" rtl="0" eaLnBrk="1" latinLnBrk="0" hangingPunct="1">
              <a:lnSpc>
                <a:spcPct val="100000"/>
              </a:lnSpc>
              <a:spcBef>
                <a:spcPts val="450"/>
              </a:spcBef>
              <a:buFont typeface="Wingdings" panose="05000000000000000000" pitchFamily="2" charset="2"/>
              <a:buChar char="Ø"/>
              <a:defRPr lang="en-US" sz="1050" b="0" kern="1200" baseline="0" dirty="0" smtClean="0">
                <a:solidFill>
                  <a:srgbClr val="800080"/>
                </a:solidFill>
                <a:effectLst>
                  <a:outerShdw blurRad="38100" dist="38100" dir="2700000" algn="tl">
                    <a:srgbClr val="C0C0C0"/>
                  </a:outerShdw>
                </a:effectLst>
                <a:latin typeface="Segoe UI" panose="020B0502040204020203" pitchFamily="34" charset="0"/>
                <a:ea typeface="宋体" panose="02010600030101010101" pitchFamily="2" charset="-122"/>
                <a:cs typeface="Segoe UI" panose="020B0502040204020203" pitchFamily="34" charset="0"/>
              </a:defRPr>
            </a:lvl4pPr>
            <a:lvl5pPr marL="1543050" indent="-171450" algn="l" defTabSz="685800" rtl="0" eaLnBrk="1" latinLnBrk="0" hangingPunct="1">
              <a:spcBef>
                <a:spcPct val="20000"/>
              </a:spcBef>
              <a:buFont typeface="Wingdings" panose="05000000000000000000" pitchFamily="2" charset="2"/>
              <a:buChar char="Ø"/>
              <a:defRPr lang="en-US" sz="1500" b="0" kern="1200" baseline="0" dirty="0">
                <a:solidFill>
                  <a:srgbClr val="800080"/>
                </a:solidFill>
                <a:effectLst>
                  <a:outerShdw blurRad="38100" dist="38100" dir="2700000" algn="tl">
                    <a:srgbClr val="C0C0C0"/>
                  </a:outerShdw>
                </a:effectLst>
                <a:latin typeface="Segoe UI" panose="020B0502040204020203" pitchFamily="34" charset="0"/>
                <a:ea typeface="黑体" panose="02010609060101010101" pitchFamily="49" charset="-122"/>
                <a:cs typeface="Segoe UI" panose="020B0502040204020203" pitchFamily="34" charset="0"/>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360363" indent="-360363">
              <a:spcBef>
                <a:spcPts val="600"/>
              </a:spcBef>
              <a:spcAft>
                <a:spcPts val="600"/>
              </a:spcAft>
              <a:buFont typeface="Wingdings" panose="05000000000000000000" pitchFamily="2" charset="2"/>
              <a:buChar char="n"/>
              <a:defRPr/>
            </a:pPr>
            <a:r>
              <a:rPr lang="zh-CN" altLang="en-US" sz="2600" i="0" dirty="0">
                <a:solidFill>
                  <a:srgbClr val="222222"/>
                </a:solidFill>
                <a:latin typeface="微软雅黑" panose="020B0503020204020204" pitchFamily="34" charset="-122"/>
                <a:ea typeface="微软雅黑" panose="020B0503020204020204" pitchFamily="34" charset="-122"/>
                <a:cs typeface="+mn-cs"/>
              </a:rPr>
              <a:t>工作空间</a:t>
            </a:r>
            <a:r>
              <a:rPr lang="en-US" altLang="zh-CN" sz="2600" i="0" dirty="0">
                <a:solidFill>
                  <a:srgbClr val="222222"/>
                </a:solidFill>
                <a:latin typeface="微软雅黑" panose="020B0503020204020204" pitchFamily="34" charset="-122"/>
                <a:ea typeface="微软雅黑" panose="020B0503020204020204" pitchFamily="34" charset="-122"/>
                <a:cs typeface="+mn-cs"/>
              </a:rPr>
              <a:t>W</a:t>
            </a:r>
            <a:r>
              <a:rPr lang="zh-CN" altLang="en-US" sz="2600" i="0" dirty="0">
                <a:solidFill>
                  <a:srgbClr val="222222"/>
                </a:solidFill>
                <a:latin typeface="微软雅黑" panose="020B0503020204020204" pitchFamily="34" charset="-122"/>
                <a:ea typeface="微软雅黑" panose="020B0503020204020204" pitchFamily="34" charset="-122"/>
                <a:cs typeface="+mn-cs"/>
              </a:rPr>
              <a:t>：</a:t>
            </a:r>
            <a:r>
              <a:rPr lang="en-US" altLang="zh-CN" sz="2600" i="0" dirty="0">
                <a:solidFill>
                  <a:srgbClr val="222222"/>
                </a:solidFill>
                <a:latin typeface="微软雅黑" panose="020B0503020204020204" pitchFamily="34" charset="-122"/>
                <a:ea typeface="微软雅黑" panose="020B0503020204020204" pitchFamily="34" charset="-122"/>
                <a:cs typeface="+mn-cs"/>
              </a:rPr>
              <a:t>Workspace is that volume of space that the end-effector of the manipulator can </a:t>
            </a:r>
            <a:r>
              <a:rPr lang="en-US" altLang="zh-CN" sz="2600" i="0" dirty="0">
                <a:solidFill>
                  <a:srgbClr val="FF0000"/>
                </a:solidFill>
                <a:latin typeface="微软雅黑" panose="020B0503020204020204" pitchFamily="34" charset="-122"/>
                <a:ea typeface="微软雅黑" panose="020B0503020204020204" pitchFamily="34" charset="-122"/>
                <a:cs typeface="+mn-cs"/>
              </a:rPr>
              <a:t>reach</a:t>
            </a:r>
            <a:r>
              <a:rPr lang="en-US" altLang="zh-CN" sz="2600" i="0" dirty="0">
                <a:solidFill>
                  <a:srgbClr val="222222"/>
                </a:solidFill>
                <a:latin typeface="微软雅黑" panose="020B0503020204020204" pitchFamily="34" charset="-122"/>
                <a:ea typeface="微软雅黑" panose="020B0503020204020204" pitchFamily="34" charset="-122"/>
                <a:cs typeface="+mn-cs"/>
              </a:rPr>
              <a:t>.</a:t>
            </a:r>
          </a:p>
          <a:p>
            <a:pPr marL="360363" indent="-360363">
              <a:spcBef>
                <a:spcPts val="600"/>
              </a:spcBef>
              <a:spcAft>
                <a:spcPts val="600"/>
              </a:spcAft>
              <a:buFont typeface="Wingdings" panose="05000000000000000000" pitchFamily="2" charset="2"/>
              <a:buChar char="n"/>
              <a:defRPr/>
            </a:pPr>
            <a:r>
              <a:rPr lang="zh-CN" altLang="en-US" sz="2600" i="0" dirty="0">
                <a:solidFill>
                  <a:srgbClr val="222222"/>
                </a:solidFill>
                <a:latin typeface="微软雅黑" panose="020B0503020204020204" pitchFamily="34" charset="-122"/>
                <a:ea typeface="微软雅黑" panose="020B0503020204020204" pitchFamily="34" charset="-122"/>
                <a:cs typeface="+mn-cs"/>
              </a:rPr>
              <a:t>可达空间</a:t>
            </a:r>
            <a:r>
              <a:rPr lang="en-US" altLang="zh-CN" sz="2600" i="0" dirty="0">
                <a:solidFill>
                  <a:srgbClr val="222222"/>
                </a:solidFill>
                <a:latin typeface="微软雅黑" panose="020B0503020204020204" pitchFamily="34" charset="-122"/>
                <a:ea typeface="微软雅黑" panose="020B0503020204020204" pitchFamily="34" charset="-122"/>
                <a:cs typeface="+mn-cs"/>
              </a:rPr>
              <a:t>RW</a:t>
            </a:r>
            <a:r>
              <a:rPr lang="zh-CN" altLang="en-US" sz="2600" i="0" dirty="0">
                <a:solidFill>
                  <a:srgbClr val="222222"/>
                </a:solidFill>
                <a:latin typeface="微软雅黑" panose="020B0503020204020204" pitchFamily="34" charset="-122"/>
                <a:ea typeface="微软雅黑" panose="020B0503020204020204" pitchFamily="34" charset="-122"/>
                <a:cs typeface="+mn-cs"/>
              </a:rPr>
              <a:t>：</a:t>
            </a:r>
            <a:r>
              <a:rPr lang="en-US" altLang="zh-CN" sz="2600" i="0" dirty="0">
                <a:solidFill>
                  <a:srgbClr val="222222"/>
                </a:solidFill>
                <a:latin typeface="微软雅黑" panose="020B0503020204020204" pitchFamily="34" charset="-122"/>
                <a:ea typeface="微软雅黑" panose="020B0503020204020204" pitchFamily="34" charset="-122"/>
                <a:cs typeface="+mn-cs"/>
              </a:rPr>
              <a:t>The reachable workspace is that volume of space that the robot can </a:t>
            </a:r>
            <a:r>
              <a:rPr lang="en-US" altLang="zh-CN" sz="2600" i="0" dirty="0">
                <a:solidFill>
                  <a:srgbClr val="FF0000"/>
                </a:solidFill>
                <a:latin typeface="微软雅黑" panose="020B0503020204020204" pitchFamily="34" charset="-122"/>
                <a:ea typeface="微软雅黑" panose="020B0503020204020204" pitchFamily="34" charset="-122"/>
                <a:cs typeface="+mn-cs"/>
              </a:rPr>
              <a:t>reach in at least one orientation</a:t>
            </a:r>
            <a:r>
              <a:rPr lang="en-US" altLang="zh-CN" sz="2600" i="0" dirty="0">
                <a:solidFill>
                  <a:srgbClr val="222222"/>
                </a:solidFill>
                <a:latin typeface="微软雅黑" panose="020B0503020204020204" pitchFamily="34" charset="-122"/>
                <a:ea typeface="微软雅黑" panose="020B0503020204020204" pitchFamily="34" charset="-122"/>
                <a:cs typeface="+mn-cs"/>
              </a:rPr>
              <a:t>.</a:t>
            </a:r>
          </a:p>
          <a:p>
            <a:pPr marL="360363" indent="-360363">
              <a:spcBef>
                <a:spcPts val="600"/>
              </a:spcBef>
              <a:spcAft>
                <a:spcPts val="600"/>
              </a:spcAft>
              <a:buFont typeface="Wingdings" panose="05000000000000000000" pitchFamily="2" charset="2"/>
              <a:buChar char="n"/>
              <a:defRPr/>
            </a:pPr>
            <a:r>
              <a:rPr lang="zh-CN" altLang="en-US" sz="2600" i="0" dirty="0">
                <a:solidFill>
                  <a:srgbClr val="222222"/>
                </a:solidFill>
                <a:latin typeface="微软雅黑" panose="020B0503020204020204" pitchFamily="34" charset="-122"/>
                <a:ea typeface="微软雅黑" panose="020B0503020204020204" pitchFamily="34" charset="-122"/>
                <a:cs typeface="+mn-cs"/>
              </a:rPr>
              <a:t>灵巧空间</a:t>
            </a:r>
            <a:r>
              <a:rPr lang="en-US" altLang="zh-CN" sz="2600" i="0" dirty="0">
                <a:solidFill>
                  <a:srgbClr val="222222"/>
                </a:solidFill>
                <a:latin typeface="微软雅黑" panose="020B0503020204020204" pitchFamily="34" charset="-122"/>
                <a:ea typeface="微软雅黑" panose="020B0503020204020204" pitchFamily="34" charset="-122"/>
                <a:cs typeface="+mn-cs"/>
              </a:rPr>
              <a:t>DW</a:t>
            </a:r>
            <a:r>
              <a:rPr lang="zh-CN" altLang="en-US" sz="2600" i="0" dirty="0">
                <a:solidFill>
                  <a:srgbClr val="222222"/>
                </a:solidFill>
                <a:latin typeface="微软雅黑" panose="020B0503020204020204" pitchFamily="34" charset="-122"/>
                <a:ea typeface="微软雅黑" panose="020B0503020204020204" pitchFamily="34" charset="-122"/>
                <a:cs typeface="+mn-cs"/>
              </a:rPr>
              <a:t>：</a:t>
            </a:r>
            <a:r>
              <a:rPr lang="en-US" altLang="zh-CN" sz="2600" i="0" dirty="0" err="1">
                <a:solidFill>
                  <a:srgbClr val="222222"/>
                </a:solidFill>
                <a:latin typeface="微软雅黑" panose="020B0503020204020204" pitchFamily="34" charset="-122"/>
                <a:ea typeface="微软雅黑" panose="020B0503020204020204" pitchFamily="34" charset="-122"/>
                <a:cs typeface="+mn-cs"/>
              </a:rPr>
              <a:t>Dextrous</a:t>
            </a:r>
            <a:r>
              <a:rPr lang="en-US" altLang="zh-CN" sz="2600" i="0" dirty="0">
                <a:solidFill>
                  <a:srgbClr val="222222"/>
                </a:solidFill>
                <a:latin typeface="微软雅黑" panose="020B0503020204020204" pitchFamily="34" charset="-122"/>
                <a:ea typeface="微软雅黑" panose="020B0503020204020204" pitchFamily="34" charset="-122"/>
                <a:cs typeface="+mn-cs"/>
              </a:rPr>
              <a:t> workspace is that volume of space that the robot end-effector can </a:t>
            </a:r>
            <a:r>
              <a:rPr lang="en-US" altLang="zh-CN" sz="2600" i="0" dirty="0">
                <a:solidFill>
                  <a:srgbClr val="FF0000"/>
                </a:solidFill>
                <a:latin typeface="微软雅黑" panose="020B0503020204020204" pitchFamily="34" charset="-122"/>
                <a:ea typeface="微软雅黑" panose="020B0503020204020204" pitchFamily="34" charset="-122"/>
                <a:cs typeface="+mn-cs"/>
              </a:rPr>
              <a:t>reach with all orientations</a:t>
            </a:r>
            <a:r>
              <a:rPr lang="en-US" altLang="zh-CN" sz="2600" i="0" dirty="0">
                <a:solidFill>
                  <a:srgbClr val="222222"/>
                </a:solidFill>
                <a:latin typeface="微软雅黑" panose="020B0503020204020204" pitchFamily="34" charset="-122"/>
                <a:ea typeface="微软雅黑" panose="020B0503020204020204" pitchFamily="34" charset="-122"/>
                <a:cs typeface="+mn-cs"/>
              </a:rPr>
              <a:t>.</a:t>
            </a:r>
          </a:p>
          <a:p>
            <a:pPr marL="360363" indent="-360363">
              <a:spcBef>
                <a:spcPts val="600"/>
              </a:spcBef>
              <a:spcAft>
                <a:spcPts val="600"/>
              </a:spcAft>
              <a:buFont typeface="Wingdings" panose="05000000000000000000" pitchFamily="2" charset="2"/>
              <a:buChar char="n"/>
              <a:defRPr/>
            </a:pPr>
            <a:r>
              <a:rPr lang="zh-CN" altLang="en-US" sz="2600" i="0" dirty="0">
                <a:solidFill>
                  <a:srgbClr val="222222"/>
                </a:solidFill>
                <a:latin typeface="微软雅黑" panose="020B0503020204020204" pitchFamily="34" charset="-122"/>
                <a:ea typeface="微软雅黑" panose="020B0503020204020204" pitchFamily="34" charset="-122"/>
                <a:cs typeface="+mn-cs"/>
              </a:rPr>
              <a:t>注意：</a:t>
            </a:r>
          </a:p>
        </p:txBody>
      </p:sp>
      <p:sp>
        <p:nvSpPr>
          <p:cNvPr id="6" name="TextBox 1">
            <a:extLst>
              <a:ext uri="{FF2B5EF4-FFF2-40B4-BE49-F238E27FC236}">
                <a16:creationId xmlns:a16="http://schemas.microsoft.com/office/drawing/2014/main" id="{55AC6D36-9533-45A1-8165-E7CEB3A09617}"/>
              </a:ext>
            </a:extLst>
          </p:cNvPr>
          <p:cNvSpPr txBox="1"/>
          <p:nvPr/>
        </p:nvSpPr>
        <p:spPr>
          <a:xfrm>
            <a:off x="865788" y="6005962"/>
            <a:ext cx="10720470" cy="49244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zh-CN" altLang="en-US" sz="2600" b="1" i="0" dirty="0">
                <a:solidFill>
                  <a:srgbClr val="FF0000"/>
                </a:solidFill>
                <a:latin typeface="微软雅黑" pitchFamily="34" charset="-122"/>
                <a:ea typeface="微软雅黑" pitchFamily="34" charset="-122"/>
              </a:rPr>
              <a:t>灵巧空间指的是末端执行器的位姿，不是关节</a:t>
            </a:r>
            <a:r>
              <a:rPr lang="en-US" altLang="zh-CN" sz="2600" b="1" i="0" dirty="0">
                <a:solidFill>
                  <a:srgbClr val="FF0000"/>
                </a:solidFill>
                <a:latin typeface="微软雅黑" pitchFamily="34" charset="-122"/>
                <a:ea typeface="微软雅黑" pitchFamily="34" charset="-122"/>
              </a:rPr>
              <a:t>6</a:t>
            </a:r>
            <a:r>
              <a:rPr lang="zh-CN" altLang="en-US" sz="2600" b="1" i="0" dirty="0">
                <a:solidFill>
                  <a:srgbClr val="FF0000"/>
                </a:solidFill>
                <a:latin typeface="微软雅黑" pitchFamily="34" charset="-122"/>
                <a:ea typeface="微软雅黑" pitchFamily="34" charset="-122"/>
              </a:rPr>
              <a:t>坐标系的原点</a:t>
            </a:r>
          </a:p>
        </p:txBody>
      </p:sp>
      <p:graphicFrame>
        <p:nvGraphicFramePr>
          <p:cNvPr id="7" name="对象 6">
            <a:extLst>
              <a:ext uri="{FF2B5EF4-FFF2-40B4-BE49-F238E27FC236}">
                <a16:creationId xmlns:a16="http://schemas.microsoft.com/office/drawing/2014/main" id="{88AB229E-4CAA-427D-BD48-17D184560022}"/>
              </a:ext>
            </a:extLst>
          </p:cNvPr>
          <p:cNvGraphicFramePr>
            <a:graphicFrameLocks noChangeAspect="1"/>
          </p:cNvGraphicFramePr>
          <p:nvPr/>
        </p:nvGraphicFramePr>
        <p:xfrm>
          <a:off x="4322321" y="5160528"/>
          <a:ext cx="2772308" cy="504056"/>
        </p:xfrm>
        <a:graphic>
          <a:graphicData uri="http://schemas.openxmlformats.org/presentationml/2006/ole">
            <mc:AlternateContent xmlns:mc="http://schemas.openxmlformats.org/markup-compatibility/2006">
              <mc:Choice xmlns:v="urn:schemas-microsoft-com:vml" Requires="v">
                <p:oleObj name="Equation" r:id="rId3" imgW="977760" imgH="177480" progId="Equation.DSMT4">
                  <p:embed/>
                </p:oleObj>
              </mc:Choice>
              <mc:Fallback>
                <p:oleObj name="Equation" r:id="rId3" imgW="977760" imgH="177480" progId="Equation.DSMT4">
                  <p:embed/>
                  <p:pic>
                    <p:nvPicPr>
                      <p:cNvPr id="7" name="对象 6">
                        <a:extLst>
                          <a:ext uri="{FF2B5EF4-FFF2-40B4-BE49-F238E27FC236}">
                            <a16:creationId xmlns:a16="http://schemas.microsoft.com/office/drawing/2014/main" id="{88AB229E-4CAA-427D-BD48-17D184560022}"/>
                          </a:ext>
                        </a:extLst>
                      </p:cNvPr>
                      <p:cNvPicPr/>
                      <p:nvPr/>
                    </p:nvPicPr>
                    <p:blipFill>
                      <a:blip r:embed="rId4"/>
                      <a:stretch>
                        <a:fillRect/>
                      </a:stretch>
                    </p:blipFill>
                    <p:spPr>
                      <a:xfrm>
                        <a:off x="4322321" y="5160528"/>
                        <a:ext cx="2772308" cy="504056"/>
                      </a:xfrm>
                      <a:prstGeom prst="rect">
                        <a:avLst/>
                      </a:prstGeom>
                      <a:solidFill>
                        <a:schemeClr val="accent2">
                          <a:lumMod val="20000"/>
                          <a:lumOff val="80000"/>
                        </a:schemeClr>
                      </a:solidFill>
                      <a:ln w="12700">
                        <a:solidFill>
                          <a:schemeClr val="accent1"/>
                        </a:solidFill>
                      </a:ln>
                    </p:spPr>
                  </p:pic>
                </p:oleObj>
              </mc:Fallback>
            </mc:AlternateContent>
          </a:graphicData>
        </a:graphic>
      </p:graphicFrame>
    </p:spTree>
    <p:extLst>
      <p:ext uri="{BB962C8B-B14F-4D97-AF65-F5344CB8AC3E}">
        <p14:creationId xmlns:p14="http://schemas.microsoft.com/office/powerpoint/2010/main" val="174587923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CBA15DD-7EB5-417F-A866-97EB63002638}"/>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20</a:t>
            </a:fld>
            <a:endParaRPr lang="zh-CN" altLang="en-US">
              <a:solidFill>
                <a:prstClr val="black">
                  <a:tint val="75000"/>
                </a:prstClr>
              </a:solidFill>
            </a:endParaRPr>
          </a:p>
        </p:txBody>
      </p:sp>
      <p:pic>
        <p:nvPicPr>
          <p:cNvPr id="4" name="图片 3">
            <a:extLst>
              <a:ext uri="{FF2B5EF4-FFF2-40B4-BE49-F238E27FC236}">
                <a16:creationId xmlns:a16="http://schemas.microsoft.com/office/drawing/2014/main" id="{0284A50D-02CB-426F-9E44-FDFC356F6BB7}"/>
              </a:ext>
            </a:extLst>
          </p:cNvPr>
          <p:cNvPicPr>
            <a:picLocks noChangeAspect="1"/>
          </p:cNvPicPr>
          <p:nvPr/>
        </p:nvPicPr>
        <p:blipFill rotWithShape="1">
          <a:blip r:embed="rId3"/>
          <a:srcRect l="44470" t="27346" r="40444" b="40213"/>
          <a:stretch/>
        </p:blipFill>
        <p:spPr>
          <a:xfrm>
            <a:off x="9875096" y="765175"/>
            <a:ext cx="2096814" cy="3005963"/>
          </a:xfrm>
          <a:prstGeom prst="rect">
            <a:avLst/>
          </a:prstGeom>
        </p:spPr>
      </p:pic>
      <p:sp>
        <p:nvSpPr>
          <p:cNvPr id="5" name="文本框 4">
            <a:extLst>
              <a:ext uri="{FF2B5EF4-FFF2-40B4-BE49-F238E27FC236}">
                <a16:creationId xmlns:a16="http://schemas.microsoft.com/office/drawing/2014/main" id="{3DF3F803-FCDD-425C-9DD2-34D107A5B273}"/>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4.3 </a:t>
            </a:r>
            <a:r>
              <a:rPr lang="zh-CN" altLang="en-US" sz="3200" b="1" dirty="0">
                <a:solidFill>
                  <a:srgbClr val="9D1317"/>
                </a:solidFill>
                <a:latin typeface="微软雅黑" panose="020B0503020204020204" pitchFamily="34" charset="-122"/>
                <a:ea typeface="微软雅黑" panose="020B0503020204020204" pitchFamily="34" charset="-122"/>
              </a:rPr>
              <a:t>机器人工作空间分析：平面</a:t>
            </a:r>
            <a:r>
              <a:rPr lang="en-US" altLang="zh-CN" sz="3200" b="1" dirty="0">
                <a:solidFill>
                  <a:srgbClr val="9D1317"/>
                </a:solidFill>
                <a:latin typeface="微软雅黑" panose="020B0503020204020204" pitchFamily="34" charset="-122"/>
                <a:ea typeface="微软雅黑" panose="020B0503020204020204" pitchFamily="34" charset="-122"/>
              </a:rPr>
              <a:t>3R</a:t>
            </a:r>
            <a:r>
              <a:rPr lang="zh-CN" altLang="en-US" sz="3200" b="1" dirty="0">
                <a:solidFill>
                  <a:srgbClr val="9D1317"/>
                </a:solidFill>
                <a:latin typeface="微软雅黑" panose="020B0503020204020204" pitchFamily="34" charset="-122"/>
                <a:ea typeface="微软雅黑" panose="020B0503020204020204" pitchFamily="34" charset="-122"/>
              </a:rPr>
              <a:t>机器人举例</a:t>
            </a:r>
          </a:p>
        </p:txBody>
      </p:sp>
      <p:sp>
        <p:nvSpPr>
          <p:cNvPr id="6" name="矩形 5">
            <a:extLst>
              <a:ext uri="{FF2B5EF4-FFF2-40B4-BE49-F238E27FC236}">
                <a16:creationId xmlns:a16="http://schemas.microsoft.com/office/drawing/2014/main" id="{8AD4B578-432E-401E-89C8-5D4B4B6EFE45}"/>
              </a:ext>
            </a:extLst>
          </p:cNvPr>
          <p:cNvSpPr/>
          <p:nvPr/>
        </p:nvSpPr>
        <p:spPr>
          <a:xfrm>
            <a:off x="255948" y="1036638"/>
            <a:ext cx="5580742" cy="4427109"/>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lgn="l">
              <a:lnSpc>
                <a:spcPct val="120000"/>
              </a:lnSpc>
              <a:spcBef>
                <a:spcPts val="600"/>
              </a:spcBef>
              <a:spcAft>
                <a:spcPts val="600"/>
              </a:spcAft>
              <a:buFont typeface="Wingdings" panose="05000000000000000000" pitchFamily="2" charset="2"/>
              <a:buChar char="Ø"/>
            </a:pPr>
            <a:r>
              <a:rPr lang="zh-CN" altLang="en-US" sz="2200" b="1" i="0" dirty="0">
                <a:latin typeface="微软雅黑" panose="020B0503020204020204" pitchFamily="34" charset="-122"/>
                <a:ea typeface="微软雅黑" panose="020B0503020204020204" pitchFamily="34" charset="-122"/>
              </a:rPr>
              <a:t>三个关节分别在</a:t>
            </a:r>
            <a:r>
              <a:rPr lang="en-US" altLang="zh-CN" sz="2200" b="1" i="0" dirty="0">
                <a:latin typeface="微软雅黑" panose="020B0503020204020204" pitchFamily="34" charset="-122"/>
                <a:ea typeface="微软雅黑" panose="020B0503020204020204" pitchFamily="34" charset="-122"/>
              </a:rPr>
              <a:t>O</a:t>
            </a:r>
            <a:r>
              <a:rPr lang="zh-CN" altLang="en-US" sz="2200" b="1" i="0" dirty="0">
                <a:latin typeface="微软雅黑" panose="020B0503020204020204" pitchFamily="34" charset="-122"/>
                <a:ea typeface="微软雅黑" panose="020B0503020204020204" pitchFamily="34" charset="-122"/>
              </a:rPr>
              <a:t>、</a:t>
            </a:r>
            <a:r>
              <a:rPr lang="en-US" altLang="zh-CN" sz="2200" b="1" i="0" dirty="0">
                <a:latin typeface="微软雅黑" panose="020B0503020204020204" pitchFamily="34" charset="-122"/>
                <a:ea typeface="微软雅黑" panose="020B0503020204020204" pitchFamily="34" charset="-122"/>
              </a:rPr>
              <a:t>A</a:t>
            </a:r>
            <a:r>
              <a:rPr lang="zh-CN" altLang="en-US" sz="2200" b="1" i="0" dirty="0">
                <a:latin typeface="微软雅黑" panose="020B0503020204020204" pitchFamily="34" charset="-122"/>
                <a:ea typeface="微软雅黑" panose="020B0503020204020204" pitchFamily="34" charset="-122"/>
              </a:rPr>
              <a:t>、</a:t>
            </a:r>
            <a:r>
              <a:rPr lang="en-US" altLang="zh-CN" sz="2200" b="1" i="0" dirty="0">
                <a:latin typeface="微软雅黑" panose="020B0503020204020204" pitchFamily="34" charset="-122"/>
                <a:ea typeface="微软雅黑" panose="020B0503020204020204" pitchFamily="34" charset="-122"/>
              </a:rPr>
              <a:t>B</a:t>
            </a:r>
            <a:r>
              <a:rPr lang="zh-CN" altLang="en-US" sz="2200" b="1" i="0" dirty="0">
                <a:latin typeface="微软雅黑" panose="020B0503020204020204" pitchFamily="34" charset="-122"/>
                <a:ea typeface="微软雅黑" panose="020B0503020204020204" pitchFamily="34" charset="-122"/>
              </a:rPr>
              <a:t>，末端执行器端点在</a:t>
            </a:r>
            <a:r>
              <a:rPr lang="en-US" altLang="zh-CN" sz="2200" b="1" i="0" dirty="0">
                <a:latin typeface="微软雅黑" panose="020B0503020204020204" pitchFamily="34" charset="-122"/>
                <a:ea typeface="微软雅黑" panose="020B0503020204020204" pitchFamily="34" charset="-122"/>
              </a:rPr>
              <a:t>C</a:t>
            </a:r>
            <a:r>
              <a:rPr lang="zh-CN" altLang="en-US" sz="2200" b="1" i="0" dirty="0">
                <a:latin typeface="微软雅黑" panose="020B0503020204020204" pitchFamily="34" charset="-122"/>
                <a:ea typeface="微软雅黑" panose="020B0503020204020204" pitchFamily="34" charset="-122"/>
              </a:rPr>
              <a:t>；平面</a:t>
            </a:r>
            <a:r>
              <a:rPr lang="en-US" altLang="zh-CN" sz="2200" b="1" i="0" dirty="0">
                <a:latin typeface="微软雅黑" panose="020B0503020204020204" pitchFamily="34" charset="-122"/>
                <a:ea typeface="微软雅黑" panose="020B0503020204020204" pitchFamily="34" charset="-122"/>
              </a:rPr>
              <a:t>3R</a:t>
            </a:r>
            <a:r>
              <a:rPr lang="zh-CN" altLang="en-US" sz="2200" b="1" i="0" dirty="0">
                <a:latin typeface="微软雅黑" panose="020B0503020204020204" pitchFamily="34" charset="-122"/>
                <a:ea typeface="微软雅黑" panose="020B0503020204020204" pitchFamily="34" charset="-122"/>
              </a:rPr>
              <a:t>机器人在平面上的灵巧空间就是末端执行器能以</a:t>
            </a:r>
            <a:r>
              <a:rPr lang="en-US" altLang="zh-CN" sz="2200" b="1" i="0" dirty="0">
                <a:latin typeface="微软雅黑" panose="020B0503020204020204" pitchFamily="34" charset="-122"/>
                <a:ea typeface="微软雅黑" panose="020B0503020204020204" pitchFamily="34" charset="-122"/>
              </a:rPr>
              <a:t>360°</a:t>
            </a:r>
            <a:r>
              <a:rPr lang="zh-CN" altLang="en-US" sz="2200" b="1" i="0" dirty="0">
                <a:latin typeface="微软雅黑" panose="020B0503020204020204" pitchFamily="34" charset="-122"/>
                <a:ea typeface="微软雅黑" panose="020B0503020204020204" pitchFamily="34" charset="-122"/>
              </a:rPr>
              <a:t>姿态逼近</a:t>
            </a:r>
            <a:r>
              <a:rPr lang="en-US" altLang="zh-CN" sz="2200" b="1" i="0" dirty="0">
                <a:latin typeface="微软雅黑" panose="020B0503020204020204" pitchFamily="34" charset="-122"/>
                <a:ea typeface="微软雅黑" panose="020B0503020204020204" pitchFamily="34" charset="-122"/>
              </a:rPr>
              <a:t>C</a:t>
            </a:r>
            <a:r>
              <a:rPr lang="zh-CN" altLang="en-US" sz="2200" b="1" i="0" dirty="0">
                <a:latin typeface="微软雅黑" panose="020B0503020204020204" pitchFamily="34" charset="-122"/>
                <a:ea typeface="微软雅黑" panose="020B0503020204020204" pitchFamily="34" charset="-122"/>
              </a:rPr>
              <a:t>点的区域。</a:t>
            </a:r>
            <a:endParaRPr lang="en-US" altLang="zh-CN" sz="2200" b="1" dirty="0">
              <a:latin typeface="微软雅黑" panose="020B0503020204020204" pitchFamily="34" charset="-122"/>
              <a:ea typeface="微软雅黑" panose="020B0503020204020204" pitchFamily="34" charset="-122"/>
            </a:endParaRPr>
          </a:p>
          <a:p>
            <a:pPr marL="342900" indent="-342900" algn="l">
              <a:lnSpc>
                <a:spcPct val="120000"/>
              </a:lnSpc>
              <a:spcBef>
                <a:spcPts val="600"/>
              </a:spcBef>
              <a:spcAft>
                <a:spcPts val="600"/>
              </a:spcAft>
              <a:buFont typeface="Wingdings" panose="05000000000000000000" pitchFamily="2" charset="2"/>
              <a:buChar char="Ø"/>
            </a:pPr>
            <a:r>
              <a:rPr lang="en-US" altLang="zh-CN" sz="2200" b="1" i="0" dirty="0">
                <a:latin typeface="微软雅黑" panose="020B0503020204020204" pitchFamily="34" charset="-122"/>
                <a:ea typeface="微软雅黑" panose="020B0503020204020204" pitchFamily="34" charset="-122"/>
              </a:rPr>
              <a:t>C</a:t>
            </a:r>
            <a:r>
              <a:rPr lang="zh-CN" altLang="en-US" sz="2200" b="1" i="0" dirty="0">
                <a:latin typeface="微软雅黑" panose="020B0503020204020204" pitchFamily="34" charset="-122"/>
                <a:ea typeface="微软雅黑" panose="020B0503020204020204" pitchFamily="34" charset="-122"/>
              </a:rPr>
              <a:t>点</a:t>
            </a:r>
            <a:r>
              <a:rPr lang="en-US" altLang="zh-CN" sz="2200" b="1" i="0" dirty="0">
                <a:latin typeface="微软雅黑" panose="020B0503020204020204" pitchFamily="34" charset="-122"/>
                <a:ea typeface="微软雅黑" panose="020B0503020204020204" pitchFamily="34" charset="-122"/>
              </a:rPr>
              <a:t>360°</a:t>
            </a:r>
            <a:r>
              <a:rPr lang="zh-CN" altLang="en-US" sz="2200" b="1" i="0" dirty="0">
                <a:latin typeface="微软雅黑" panose="020B0503020204020204" pitchFamily="34" charset="-122"/>
                <a:ea typeface="微软雅黑" panose="020B0503020204020204" pitchFamily="34" charset="-122"/>
              </a:rPr>
              <a:t>可达，要求</a:t>
            </a:r>
            <a:r>
              <a:rPr lang="en-US" altLang="zh-CN" sz="2200" b="1" i="0" dirty="0">
                <a:latin typeface="微软雅黑" panose="020B0503020204020204" pitchFamily="34" charset="-122"/>
                <a:ea typeface="微软雅黑" panose="020B0503020204020204" pitchFamily="34" charset="-122"/>
              </a:rPr>
              <a:t>B</a:t>
            </a:r>
            <a:r>
              <a:rPr lang="zh-CN" altLang="en-US" sz="2200" b="1" i="0" dirty="0">
                <a:latin typeface="微软雅黑" panose="020B0503020204020204" pitchFamily="34" charset="-122"/>
                <a:ea typeface="微软雅黑" panose="020B0503020204020204" pitchFamily="34" charset="-122"/>
              </a:rPr>
              <a:t>点能够沿以</a:t>
            </a:r>
            <a:r>
              <a:rPr lang="en-US" altLang="zh-CN" sz="2200" b="1" i="0" dirty="0">
                <a:latin typeface="微软雅黑" panose="020B0503020204020204" pitchFamily="34" charset="-122"/>
                <a:ea typeface="微软雅黑" panose="020B0503020204020204" pitchFamily="34" charset="-122"/>
              </a:rPr>
              <a:t>C</a:t>
            </a:r>
            <a:r>
              <a:rPr lang="zh-CN" altLang="en-US" sz="2200" b="1" i="0" dirty="0">
                <a:latin typeface="微软雅黑" panose="020B0503020204020204" pitchFamily="34" charset="-122"/>
                <a:ea typeface="微软雅黑" panose="020B0503020204020204" pitchFamily="34" charset="-122"/>
              </a:rPr>
              <a:t>为圆心、半径为</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200" b="1" i="0" dirty="0">
                <a:latin typeface="微软雅黑" panose="020B0503020204020204" pitchFamily="34" charset="-122"/>
                <a:ea typeface="微软雅黑" panose="020B0503020204020204" pitchFamily="34" charset="-122"/>
              </a:rPr>
              <a:t>的圆周运动（黄色圆），即</a:t>
            </a:r>
            <a:r>
              <a:rPr lang="en-US" altLang="zh-CN" sz="2200" b="1" i="0" dirty="0">
                <a:latin typeface="微软雅黑" panose="020B0503020204020204" pitchFamily="34" charset="-122"/>
                <a:ea typeface="微软雅黑" panose="020B0503020204020204" pitchFamily="34" charset="-122"/>
              </a:rPr>
              <a:t>B</a:t>
            </a:r>
            <a:r>
              <a:rPr lang="zh-CN" altLang="en-US" sz="2200" b="1" i="0" dirty="0">
                <a:latin typeface="微软雅黑" panose="020B0503020204020204" pitchFamily="34" charset="-122"/>
                <a:ea typeface="微软雅黑" panose="020B0503020204020204" pitchFamily="34" charset="-122"/>
              </a:rPr>
              <a:t>点的可达空间必须包含黄色圆。</a:t>
            </a:r>
            <a:endParaRPr lang="en-US" altLang="zh-CN" sz="2200" b="1" i="0" dirty="0">
              <a:latin typeface="微软雅黑" panose="020B0503020204020204" pitchFamily="34" charset="-122"/>
              <a:ea typeface="微软雅黑" panose="020B0503020204020204" pitchFamily="34" charset="-122"/>
            </a:endParaRPr>
          </a:p>
          <a:p>
            <a:pPr marL="342900" indent="-342900" algn="l">
              <a:lnSpc>
                <a:spcPct val="120000"/>
              </a:lnSpc>
              <a:spcBef>
                <a:spcPts val="600"/>
              </a:spcBef>
              <a:spcAft>
                <a:spcPts val="600"/>
              </a:spcAft>
              <a:buFont typeface="Wingdings" panose="05000000000000000000" pitchFamily="2" charset="2"/>
              <a:buChar char="Ø"/>
            </a:pPr>
            <a:r>
              <a:rPr lang="en-US" altLang="zh-CN" sz="2200" b="1" dirty="0">
                <a:latin typeface="微软雅黑" panose="020B0503020204020204" pitchFamily="34" charset="-122"/>
                <a:ea typeface="微软雅黑" panose="020B0503020204020204" pitchFamily="34" charset="-122"/>
              </a:rPr>
              <a:t>B</a:t>
            </a:r>
            <a:r>
              <a:rPr lang="zh-CN" altLang="en-US" sz="2200" b="1" dirty="0">
                <a:latin typeface="微软雅黑" panose="020B0503020204020204" pitchFamily="34" charset="-122"/>
                <a:ea typeface="微软雅黑" panose="020B0503020204020204" pitchFamily="34" charset="-122"/>
              </a:rPr>
              <a:t>点的可达空间为：半径</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1" dirty="0">
                <a:latin typeface="微软雅黑" panose="020B0503020204020204" pitchFamily="34" charset="-122"/>
                <a:ea typeface="微软雅黑" panose="020B0503020204020204" pitchFamily="34" charset="-122"/>
              </a:rPr>
              <a:t>+</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b="1" dirty="0">
                <a:latin typeface="微软雅黑" panose="020B0503020204020204" pitchFamily="34" charset="-122"/>
                <a:ea typeface="微软雅黑" panose="020B0503020204020204" pitchFamily="34" charset="-122"/>
              </a:rPr>
              <a:t>圆与半径</a:t>
            </a:r>
            <a:r>
              <a:rPr lang="zh-CN" altLang="en-US" sz="2200" b="1"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1" dirty="0">
                <a:latin typeface="微软雅黑" panose="020B0503020204020204" pitchFamily="34" charset="-122"/>
                <a:ea typeface="微软雅黑" panose="020B0503020204020204" pitchFamily="34" charset="-122"/>
              </a:rPr>
              <a:t>-</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200" b="1" i="0" dirty="0">
                <a:latin typeface="Times New Roman" panose="02020603050405020304" pitchFamily="18" charset="0"/>
                <a:ea typeface="微软雅黑" panose="020B0503020204020204" pitchFamily="34" charset="-122"/>
                <a:cs typeface="Times New Roman" panose="02020603050405020304" pitchFamily="18" charset="0"/>
              </a:rPr>
              <a:t>圆之间的环带（两绿色圆之间的灰色环带），宽度为</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1" dirty="0">
                <a:latin typeface="微软雅黑" panose="020B0503020204020204" pitchFamily="34" charset="-122"/>
                <a:ea typeface="微软雅黑" panose="020B0503020204020204" pitchFamily="34" charset="-122"/>
              </a:rPr>
              <a:t>+</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200" b="1" dirty="0">
                <a:latin typeface="微软雅黑" panose="020B0503020204020204" pitchFamily="34" charset="-122"/>
                <a:ea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1" dirty="0">
                <a:latin typeface="微软雅黑" panose="020B0503020204020204" pitchFamily="34" charset="-122"/>
                <a:ea typeface="微软雅黑" panose="020B0503020204020204" pitchFamily="34" charset="-122"/>
              </a:rPr>
              <a:t>-</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200" b="1"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b="1" dirty="0">
                <a:latin typeface="微软雅黑" panose="020B0503020204020204" pitchFamily="34" charset="-122"/>
                <a:ea typeface="微软雅黑" panose="020B0503020204020204" pitchFamily="34" charset="-122"/>
                <a:sym typeface="Symbol" panose="05050102010706020507" pitchFamily="18" charset="2"/>
              </a:rPr>
              <a:t></a:t>
            </a:r>
          </a:p>
        </p:txBody>
      </p:sp>
      <p:grpSp>
        <p:nvGrpSpPr>
          <p:cNvPr id="26" name="组合 25">
            <a:extLst>
              <a:ext uri="{FF2B5EF4-FFF2-40B4-BE49-F238E27FC236}">
                <a16:creationId xmlns:a16="http://schemas.microsoft.com/office/drawing/2014/main" id="{CAC28F0B-02B0-4D98-B93A-5507777CC3BE}"/>
              </a:ext>
            </a:extLst>
          </p:cNvPr>
          <p:cNvGrpSpPr/>
          <p:nvPr/>
        </p:nvGrpSpPr>
        <p:grpSpPr>
          <a:xfrm>
            <a:off x="6415893" y="3658916"/>
            <a:ext cx="2880000" cy="2880000"/>
            <a:chOff x="6563711" y="3476354"/>
            <a:chExt cx="2880000" cy="2880000"/>
          </a:xfrm>
          <a:solidFill>
            <a:schemeClr val="bg1">
              <a:lumMod val="65000"/>
            </a:schemeClr>
          </a:solidFill>
        </p:grpSpPr>
        <p:sp>
          <p:nvSpPr>
            <p:cNvPr id="3" name="椭圆 2">
              <a:extLst>
                <a:ext uri="{FF2B5EF4-FFF2-40B4-BE49-F238E27FC236}">
                  <a16:creationId xmlns:a16="http://schemas.microsoft.com/office/drawing/2014/main" id="{0EC9E971-88F3-446F-8FBA-19F4601CC96F}"/>
                </a:ext>
              </a:extLst>
            </p:cNvPr>
            <p:cNvSpPr/>
            <p:nvPr/>
          </p:nvSpPr>
          <p:spPr>
            <a:xfrm>
              <a:off x="6563711" y="3476354"/>
              <a:ext cx="2880000" cy="2880000"/>
            </a:xfrm>
            <a:prstGeom prst="ellipse">
              <a:avLst/>
            </a:prstGeom>
            <a:grp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83EA014C-704F-4096-B644-2B62EC6DA546}"/>
                </a:ext>
              </a:extLst>
            </p:cNvPr>
            <p:cNvSpPr/>
            <p:nvPr/>
          </p:nvSpPr>
          <p:spPr>
            <a:xfrm>
              <a:off x="7553711" y="4479763"/>
              <a:ext cx="900000" cy="873182"/>
            </a:xfrm>
            <a:prstGeom prst="ellipse">
              <a:avLst/>
            </a:prstGeom>
            <a:solidFill>
              <a:schemeClr val="bg1"/>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28DC8FD0-4EA3-4D51-A078-4041D79493E3}"/>
                </a:ext>
              </a:extLst>
            </p:cNvPr>
            <p:cNvSpPr/>
            <p:nvPr/>
          </p:nvSpPr>
          <p:spPr>
            <a:xfrm>
              <a:off x="8679799" y="4134315"/>
              <a:ext cx="648000" cy="648000"/>
            </a:xfrm>
            <a:prstGeom prst="ellipse">
              <a:avLst/>
            </a:prstGeom>
            <a:grp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a:extLst>
                <a:ext uri="{FF2B5EF4-FFF2-40B4-BE49-F238E27FC236}">
                  <a16:creationId xmlns:a16="http://schemas.microsoft.com/office/drawing/2014/main" id="{70737BD0-F3E0-4DAA-93C1-86DCCE42D560}"/>
                </a:ext>
              </a:extLst>
            </p:cNvPr>
            <p:cNvCxnSpPr>
              <a:cxnSpLocks/>
            </p:cNvCxnSpPr>
            <p:nvPr/>
          </p:nvCxnSpPr>
          <p:spPr>
            <a:xfrm flipV="1">
              <a:off x="8003711" y="4214648"/>
              <a:ext cx="450000" cy="701708"/>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C35AC05-8A23-4502-ABB7-5EFF5D1CC3A9}"/>
                </a:ext>
              </a:extLst>
            </p:cNvPr>
            <p:cNvCxnSpPr>
              <a:cxnSpLocks/>
            </p:cNvCxnSpPr>
            <p:nvPr/>
          </p:nvCxnSpPr>
          <p:spPr>
            <a:xfrm flipV="1">
              <a:off x="8445211" y="4134315"/>
              <a:ext cx="432552" cy="81555"/>
            </a:xfrm>
            <a:prstGeom prst="line">
              <a:avLst/>
            </a:prstGeom>
            <a:grpFill/>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CA8235F-DA29-468E-899B-F024F9A44729}"/>
                </a:ext>
              </a:extLst>
            </p:cNvPr>
            <p:cNvCxnSpPr>
              <a:cxnSpLocks/>
            </p:cNvCxnSpPr>
            <p:nvPr/>
          </p:nvCxnSpPr>
          <p:spPr>
            <a:xfrm>
              <a:off x="8869886" y="4165376"/>
              <a:ext cx="165938" cy="292939"/>
            </a:xfrm>
            <a:prstGeom prst="line">
              <a:avLst/>
            </a:prstGeom>
            <a:grpFill/>
            <a:ln w="38100">
              <a:solidFill>
                <a:srgbClr val="FFFF00"/>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CD81EADC-A50E-4FAF-AF2D-F7D2BE899B0A}"/>
              </a:ext>
            </a:extLst>
          </p:cNvPr>
          <p:cNvGrpSpPr/>
          <p:nvPr/>
        </p:nvGrpSpPr>
        <p:grpSpPr>
          <a:xfrm>
            <a:off x="7747968" y="4009100"/>
            <a:ext cx="1422523" cy="1325109"/>
            <a:chOff x="7747968" y="4009100"/>
            <a:chExt cx="1422523" cy="1325109"/>
          </a:xfrm>
        </p:grpSpPr>
        <p:sp>
          <p:nvSpPr>
            <p:cNvPr id="27" name="文本框 26">
              <a:extLst>
                <a:ext uri="{FF2B5EF4-FFF2-40B4-BE49-F238E27FC236}">
                  <a16:creationId xmlns:a16="http://schemas.microsoft.com/office/drawing/2014/main" id="{661E67AD-F1D3-482A-866B-0D8FE4786EFC}"/>
                </a:ext>
              </a:extLst>
            </p:cNvPr>
            <p:cNvSpPr txBox="1"/>
            <p:nvPr/>
          </p:nvSpPr>
          <p:spPr>
            <a:xfrm>
              <a:off x="7780811" y="4964877"/>
              <a:ext cx="300082"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o</a:t>
              </a:r>
              <a:endParaRPr lang="zh-CN" altLang="en-US" b="1" dirty="0">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6C9B6689-D823-4D30-80AE-896295366077}"/>
                </a:ext>
              </a:extLst>
            </p:cNvPr>
            <p:cNvSpPr txBox="1"/>
            <p:nvPr/>
          </p:nvSpPr>
          <p:spPr>
            <a:xfrm>
              <a:off x="8024226" y="4203155"/>
              <a:ext cx="31451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A</a:t>
              </a:r>
              <a:endParaRPr lang="zh-CN" altLang="en-US" sz="1400" b="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0B0D661A-5BC4-41D7-8B9C-0E39194A1483}"/>
                </a:ext>
              </a:extLst>
            </p:cNvPr>
            <p:cNvSpPr txBox="1"/>
            <p:nvPr/>
          </p:nvSpPr>
          <p:spPr>
            <a:xfrm>
              <a:off x="8573496" y="4009100"/>
              <a:ext cx="31451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B</a:t>
              </a:r>
              <a:endParaRPr lang="zh-CN" altLang="en-US" sz="1400" b="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95DADA5F-5338-453F-A443-6236A658A5FB}"/>
                </a:ext>
              </a:extLst>
            </p:cNvPr>
            <p:cNvSpPr txBox="1"/>
            <p:nvPr/>
          </p:nvSpPr>
          <p:spPr>
            <a:xfrm>
              <a:off x="8855981" y="4486988"/>
              <a:ext cx="314510" cy="307777"/>
            </a:xfrm>
            <a:prstGeom prst="rect">
              <a:avLst/>
            </a:prstGeom>
            <a:noFill/>
          </p:spPr>
          <p:txBody>
            <a:bodyPr wrap="none" rtlCol="0">
              <a:spAutoFit/>
            </a:bodyPr>
            <a:lstStyle/>
            <a:p>
              <a:r>
                <a:rPr lang="en-US" altLang="zh-CN" sz="1400" b="1" dirty="0">
                  <a:latin typeface="Times New Roman" panose="02020603050405020304" pitchFamily="18" charset="0"/>
                  <a:cs typeface="Times New Roman" panose="02020603050405020304" pitchFamily="18" charset="0"/>
                </a:rPr>
                <a:t>C</a:t>
              </a:r>
              <a:endParaRPr lang="zh-CN" altLang="en-US" sz="1400"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4EDCED57-0550-4036-9136-FCEA42054E01}"/>
                </a:ext>
              </a:extLst>
            </p:cNvPr>
            <p:cNvSpPr txBox="1"/>
            <p:nvPr/>
          </p:nvSpPr>
          <p:spPr>
            <a:xfrm>
              <a:off x="7747968" y="4701515"/>
              <a:ext cx="341760" cy="261610"/>
            </a:xfrm>
            <a:prstGeom prst="rect">
              <a:avLst/>
            </a:prstGeom>
            <a:noFill/>
          </p:spPr>
          <p:txBody>
            <a:bodyPr wrap="none" rtlCol="0">
              <a:spAutoFit/>
            </a:bodyPr>
            <a:lstStyle/>
            <a:p>
              <a:r>
                <a:rPr lang="en-US" altLang="zh-CN" sz="1100" b="1" i="1" dirty="0">
                  <a:latin typeface="Times New Roman" panose="02020603050405020304" pitchFamily="18" charset="0"/>
                  <a:cs typeface="Times New Roman" panose="02020603050405020304" pitchFamily="18" charset="0"/>
                </a:rPr>
                <a:t>L</a:t>
              </a:r>
              <a:r>
                <a:rPr lang="en-US" altLang="zh-CN" sz="1100" b="1" dirty="0">
                  <a:latin typeface="Times New Roman" panose="02020603050405020304" pitchFamily="18" charset="0"/>
                  <a:cs typeface="Times New Roman" panose="02020603050405020304" pitchFamily="18" charset="0"/>
                </a:rPr>
                <a:t>1</a:t>
              </a:r>
              <a:endParaRPr lang="zh-CN" altLang="en-US" sz="1100" b="1"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8128865D-15A7-4F0B-96D5-773D52A12A9D}"/>
                </a:ext>
              </a:extLst>
            </p:cNvPr>
            <p:cNvSpPr txBox="1"/>
            <p:nvPr/>
          </p:nvSpPr>
          <p:spPr>
            <a:xfrm>
              <a:off x="8305893" y="4119546"/>
              <a:ext cx="341760" cy="261610"/>
            </a:xfrm>
            <a:prstGeom prst="rect">
              <a:avLst/>
            </a:prstGeom>
            <a:noFill/>
          </p:spPr>
          <p:txBody>
            <a:bodyPr wrap="none" rtlCol="0">
              <a:spAutoFit/>
            </a:bodyPr>
            <a:lstStyle/>
            <a:p>
              <a:r>
                <a:rPr lang="en-US" altLang="zh-CN" sz="1100" b="1" i="1" dirty="0">
                  <a:latin typeface="Times New Roman" panose="02020603050405020304" pitchFamily="18" charset="0"/>
                  <a:cs typeface="Times New Roman" panose="02020603050405020304" pitchFamily="18" charset="0"/>
                </a:rPr>
                <a:t>L</a:t>
              </a:r>
              <a:r>
                <a:rPr lang="en-US" altLang="zh-CN" sz="1100" b="1" dirty="0">
                  <a:latin typeface="Times New Roman" panose="02020603050405020304" pitchFamily="18" charset="0"/>
                  <a:cs typeface="Times New Roman" panose="02020603050405020304" pitchFamily="18" charset="0"/>
                </a:rPr>
                <a:t>2</a:t>
              </a:r>
              <a:endParaRPr lang="zh-CN" altLang="en-US" sz="1100"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06FAF7AF-6137-479D-8091-98B45C8D8C45}"/>
                </a:ext>
              </a:extLst>
            </p:cNvPr>
            <p:cNvSpPr txBox="1"/>
            <p:nvPr/>
          </p:nvSpPr>
          <p:spPr>
            <a:xfrm>
              <a:off x="8725297" y="4325122"/>
              <a:ext cx="341760" cy="261610"/>
            </a:xfrm>
            <a:prstGeom prst="rect">
              <a:avLst/>
            </a:prstGeom>
            <a:noFill/>
          </p:spPr>
          <p:txBody>
            <a:bodyPr wrap="none" rtlCol="0">
              <a:spAutoFit/>
            </a:bodyPr>
            <a:lstStyle/>
            <a:p>
              <a:r>
                <a:rPr lang="en-US" altLang="zh-CN" sz="1100" b="1" i="1" dirty="0">
                  <a:latin typeface="Times New Roman" panose="02020603050405020304" pitchFamily="18" charset="0"/>
                  <a:cs typeface="Times New Roman" panose="02020603050405020304" pitchFamily="18" charset="0"/>
                </a:rPr>
                <a:t>L</a:t>
              </a:r>
              <a:r>
                <a:rPr lang="en-US" altLang="zh-CN" sz="1100" b="1" dirty="0">
                  <a:latin typeface="Times New Roman" panose="02020603050405020304" pitchFamily="18" charset="0"/>
                  <a:cs typeface="Times New Roman" panose="02020603050405020304" pitchFamily="18" charset="0"/>
                </a:rPr>
                <a:t>3</a:t>
              </a:r>
              <a:endParaRPr lang="zh-CN" altLang="en-US" sz="1100"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08951520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 calcmode="lin" valueType="num">
                                      <p:cBhvr additive="base">
                                        <p:cTn id="2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additive="base">
                                        <p:cTn id="2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CBA15DD-7EB5-417F-A866-97EB63002638}"/>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21</a:t>
            </a:fld>
            <a:endParaRPr lang="zh-CN" altLang="en-US">
              <a:solidFill>
                <a:prstClr val="black">
                  <a:tint val="75000"/>
                </a:prstClr>
              </a:solidFill>
            </a:endParaRPr>
          </a:p>
        </p:txBody>
      </p:sp>
      <p:sp>
        <p:nvSpPr>
          <p:cNvPr id="5" name="文本框 4">
            <a:extLst>
              <a:ext uri="{FF2B5EF4-FFF2-40B4-BE49-F238E27FC236}">
                <a16:creationId xmlns:a16="http://schemas.microsoft.com/office/drawing/2014/main" id="{3DF3F803-FCDD-425C-9DD2-34D107A5B273}"/>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4.3 </a:t>
            </a:r>
            <a:r>
              <a:rPr lang="zh-CN" altLang="en-US" sz="3200" b="1" dirty="0">
                <a:solidFill>
                  <a:srgbClr val="9D1317"/>
                </a:solidFill>
                <a:latin typeface="微软雅黑" panose="020B0503020204020204" pitchFamily="34" charset="-122"/>
                <a:ea typeface="微软雅黑" panose="020B0503020204020204" pitchFamily="34" charset="-122"/>
              </a:rPr>
              <a:t>机器人工作空间分析：平面</a:t>
            </a:r>
            <a:r>
              <a:rPr lang="en-US" altLang="zh-CN" sz="3200" b="1" dirty="0">
                <a:solidFill>
                  <a:srgbClr val="9D1317"/>
                </a:solidFill>
                <a:latin typeface="微软雅黑" panose="020B0503020204020204" pitchFamily="34" charset="-122"/>
                <a:ea typeface="微软雅黑" panose="020B0503020204020204" pitchFamily="34" charset="-122"/>
              </a:rPr>
              <a:t>3R</a:t>
            </a:r>
            <a:r>
              <a:rPr lang="zh-CN" altLang="en-US" sz="3200" b="1" dirty="0">
                <a:solidFill>
                  <a:srgbClr val="9D1317"/>
                </a:solidFill>
                <a:latin typeface="微软雅黑" panose="020B0503020204020204" pitchFamily="34" charset="-122"/>
                <a:ea typeface="微软雅黑" panose="020B0503020204020204" pitchFamily="34" charset="-122"/>
              </a:rPr>
              <a:t>机器人举例</a:t>
            </a:r>
          </a:p>
        </p:txBody>
      </p:sp>
      <p:graphicFrame>
        <p:nvGraphicFramePr>
          <p:cNvPr id="7" name="对象 6">
            <a:extLst>
              <a:ext uri="{FF2B5EF4-FFF2-40B4-BE49-F238E27FC236}">
                <a16:creationId xmlns:a16="http://schemas.microsoft.com/office/drawing/2014/main" id="{2427FC80-F893-4098-AF9C-C647A403A613}"/>
              </a:ext>
            </a:extLst>
          </p:cNvPr>
          <p:cNvGraphicFramePr>
            <a:graphicFrameLocks noChangeAspect="1"/>
          </p:cNvGraphicFramePr>
          <p:nvPr>
            <p:extLst>
              <p:ext uri="{D42A27DB-BD31-4B8C-83A1-F6EECF244321}">
                <p14:modId xmlns:p14="http://schemas.microsoft.com/office/powerpoint/2010/main" val="3249464843"/>
              </p:ext>
            </p:extLst>
          </p:nvPr>
        </p:nvGraphicFramePr>
        <p:xfrm>
          <a:off x="8133907" y="808443"/>
          <a:ext cx="4013345" cy="4013345"/>
        </p:xfrm>
        <a:graphic>
          <a:graphicData uri="http://schemas.openxmlformats.org/presentationml/2006/ole">
            <mc:AlternateContent xmlns:mc="http://schemas.openxmlformats.org/markup-compatibility/2006">
              <mc:Choice xmlns:v="urn:schemas-microsoft-com:vml" Requires="v">
                <p:oleObj name="Visio" r:id="rId2" imgW="4895545" imgH="4895545" progId="Visio.Drawing.11">
                  <p:embed/>
                </p:oleObj>
              </mc:Choice>
              <mc:Fallback>
                <p:oleObj name="Visio" r:id="rId2" imgW="4895545" imgH="4895545" progId="Visio.Drawing.11">
                  <p:embed/>
                  <p:pic>
                    <p:nvPicPr>
                      <p:cNvPr id="7" name="对象 6">
                        <a:extLst>
                          <a:ext uri="{FF2B5EF4-FFF2-40B4-BE49-F238E27FC236}">
                            <a16:creationId xmlns:a16="http://schemas.microsoft.com/office/drawing/2014/main" id="{2427FC80-F893-4098-AF9C-C647A403A613}"/>
                          </a:ext>
                        </a:extLst>
                      </p:cNvPr>
                      <p:cNvPicPr>
                        <a:picLocks noChangeAspect="1" noChangeArrowheads="1"/>
                      </p:cNvPicPr>
                      <p:nvPr/>
                    </p:nvPicPr>
                    <p:blipFill>
                      <a:blip r:embed="rId3"/>
                      <a:srcRect/>
                      <a:stretch>
                        <a:fillRect/>
                      </a:stretch>
                    </p:blipFill>
                    <p:spPr bwMode="auto">
                      <a:xfrm>
                        <a:off x="8133907" y="808443"/>
                        <a:ext cx="4013345" cy="4013345"/>
                      </a:xfrm>
                      <a:prstGeom prst="rect">
                        <a:avLst/>
                      </a:prstGeom>
                      <a:noFill/>
                      <a:ln>
                        <a:noFill/>
                      </a:ln>
                    </p:spPr>
                  </p:pic>
                </p:oleObj>
              </mc:Fallback>
            </mc:AlternateContent>
          </a:graphicData>
        </a:graphic>
      </p:graphicFrame>
      <p:sp>
        <p:nvSpPr>
          <p:cNvPr id="9" name="文本框 8">
            <a:extLst>
              <a:ext uri="{FF2B5EF4-FFF2-40B4-BE49-F238E27FC236}">
                <a16:creationId xmlns:a16="http://schemas.microsoft.com/office/drawing/2014/main" id="{4141B476-DCD6-4895-8E84-2D57491D148E}"/>
              </a:ext>
            </a:extLst>
          </p:cNvPr>
          <p:cNvSpPr txBox="1"/>
          <p:nvPr/>
        </p:nvSpPr>
        <p:spPr>
          <a:xfrm>
            <a:off x="265899" y="808443"/>
            <a:ext cx="7745734" cy="5314725"/>
          </a:xfrm>
          <a:prstGeom prst="rect">
            <a:avLst/>
          </a:prstGeom>
          <a:noFill/>
        </p:spPr>
        <p:txBody>
          <a:bodyPr wrap="square">
            <a:spAutoFit/>
          </a:bodyPr>
          <a:lstStyle/>
          <a:p>
            <a:pPr marL="342900" indent="-342900" algn="l">
              <a:lnSpc>
                <a:spcPct val="150000"/>
              </a:lnSpc>
              <a:buFont typeface="Wingdings" panose="05000000000000000000" pitchFamily="2" charset="2"/>
              <a:buChar char="Ø"/>
            </a:pPr>
            <a:r>
              <a:rPr lang="zh-CN" altLang="en-US" sz="2400" b="1" i="0" dirty="0">
                <a:solidFill>
                  <a:srgbClr val="FF0000"/>
                </a:solidFill>
                <a:latin typeface="微软雅黑" panose="020B0503020204020204" pitchFamily="34" charset="-122"/>
                <a:ea typeface="微软雅黑" panose="020B0503020204020204" pitchFamily="34" charset="-122"/>
              </a:rPr>
              <a:t>情况</a:t>
            </a:r>
            <a:r>
              <a:rPr lang="en-US" altLang="zh-CN" sz="2400" b="1" i="0" dirty="0">
                <a:solidFill>
                  <a:srgbClr val="FF0000"/>
                </a:solidFill>
                <a:latin typeface="微软雅黑" panose="020B0503020204020204" pitchFamily="34" charset="-122"/>
                <a:ea typeface="微软雅黑" panose="020B0503020204020204" pitchFamily="34" charset="-122"/>
              </a:rPr>
              <a:t>1</a:t>
            </a:r>
            <a:r>
              <a:rPr lang="zh-CN" altLang="en-US" sz="2400" b="1" i="0" dirty="0">
                <a:solidFill>
                  <a:srgbClr val="FF0000"/>
                </a:solidFill>
                <a:latin typeface="微软雅黑" panose="020B0503020204020204" pitchFamily="34" charset="-122"/>
                <a:ea typeface="微软雅黑" panose="020B0503020204020204" pitchFamily="34" charset="-122"/>
              </a:rPr>
              <a:t>：只有圆环状灵巧空间</a:t>
            </a:r>
            <a:r>
              <a:rPr lang="zh-CN" altLang="en-US" sz="2400" b="1" i="0" dirty="0">
                <a:latin typeface="微软雅黑" panose="020B0503020204020204" pitchFamily="34" charset="-122"/>
                <a:ea typeface="微软雅黑" panose="020B0503020204020204" pitchFamily="34" charset="-122"/>
              </a:rPr>
              <a:t>，必须同时满足以下条件</a:t>
            </a:r>
            <a:endParaRPr lang="en-US" altLang="zh-CN" sz="2400" b="1" i="0" dirty="0">
              <a:latin typeface="微软雅黑" panose="020B0503020204020204" pitchFamily="34" charset="-122"/>
              <a:ea typeface="微软雅黑" panose="020B0503020204020204" pitchFamily="34" charset="-122"/>
            </a:endParaRPr>
          </a:p>
          <a:p>
            <a:pPr marL="627063" indent="-627063">
              <a:lnSpc>
                <a:spcPct val="120000"/>
              </a:lnSpc>
              <a:spcBef>
                <a:spcPts val="600"/>
              </a:spcBef>
            </a:pP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    a) </a:t>
            </a:r>
            <a:r>
              <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rPr>
              <a:t>黄圆落在</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rPr>
              <a:t>点的可达空间内、即灰色环带内，且黄圆直径小于灰色环带，即：</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627063" indent="-627063">
              <a:lnSpc>
                <a:spcPct val="120000"/>
              </a:lnSpc>
              <a:spcBef>
                <a:spcPts val="600"/>
              </a:spcBef>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b)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黄圆的半径小于小绿圆的半径（黄圆比小绿圆小），即：</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342900" indent="-342900">
              <a:lnSpc>
                <a:spcPct val="120000"/>
              </a:lnSpc>
              <a:spcBef>
                <a:spcPts val="600"/>
              </a:spcBef>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这样，</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C</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的灵巧空间边界是：所有与大绿圆内切黄圆的圆心、以及所有与小绿圆外切黄圆的圆心形成的环带，</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即半径</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圆与半径</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圆之间的环带 （蓝色）；注意：</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中不等式式取等号时，蓝色环带退化为圆周。</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marL="342900" indent="-342900">
              <a:lnSpc>
                <a:spcPct val="120000"/>
              </a:lnSpc>
              <a:spcBef>
                <a:spcPts val="600"/>
              </a:spcBef>
              <a:buFont typeface="Wingdings" panose="05000000000000000000" pitchFamily="2" charset="2"/>
              <a:buChar char="Ø"/>
            </a:pPr>
            <a:endParaRPr lang="zh-CN" altLang="en-US" sz="2200" b="1"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235967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 calcmode="lin" valueType="num">
                                      <p:cBhvr additive="base">
                                        <p:cTn id="1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4FD1A7A-FF47-4DBE-B078-F05EC5669F18}"/>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22</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8C947AA-B952-4D85-9A1B-A43D5D2E4434}"/>
                  </a:ext>
                </a:extLst>
              </p:cNvPr>
              <p:cNvSpPr/>
              <p:nvPr/>
            </p:nvSpPr>
            <p:spPr>
              <a:xfrm>
                <a:off x="326588" y="793777"/>
                <a:ext cx="7482598" cy="2501390"/>
              </a:xfrm>
              <a:prstGeom prst="rect">
                <a:avLst/>
              </a:prstGeom>
            </p:spPr>
            <p:txBody>
              <a:bodyPr wrap="square">
                <a:spAutoFit/>
              </a:bodyPr>
              <a:lstStyle/>
              <a:p>
                <a:pPr marL="342900" indent="-342900">
                  <a:lnSpc>
                    <a:spcPct val="120000"/>
                  </a:lnSpc>
                  <a:spcBef>
                    <a:spcPts val="600"/>
                  </a:spcBef>
                  <a:buFont typeface="Wingdings" panose="05000000000000000000" pitchFamily="2" charset="2"/>
                  <a:buChar char="Ø"/>
                </a:pPr>
                <a:r>
                  <a:rPr lang="zh-CN" altLang="en-US" sz="2400" b="1" i="0" dirty="0">
                    <a:solidFill>
                      <a:srgbClr val="FF0000"/>
                    </a:solidFill>
                    <a:latin typeface="微软雅黑" panose="020B0503020204020204" pitchFamily="34" charset="-122"/>
                    <a:ea typeface="微软雅黑" panose="020B0503020204020204" pitchFamily="34" charset="-122"/>
                  </a:rPr>
                  <a:t>情况</a:t>
                </a:r>
                <a:r>
                  <a:rPr lang="en-US" altLang="zh-CN" sz="2400" b="1" i="0" dirty="0">
                    <a:solidFill>
                      <a:srgbClr val="FF0000"/>
                    </a:solidFill>
                    <a:latin typeface="微软雅黑" panose="020B0503020204020204" pitchFamily="34" charset="-122"/>
                    <a:ea typeface="微软雅黑" panose="020B0503020204020204" pitchFamily="34" charset="-122"/>
                  </a:rPr>
                  <a:t>2</a:t>
                </a:r>
                <a:r>
                  <a:rPr lang="zh-CN" altLang="en-US" sz="2400" b="1" i="0" dirty="0">
                    <a:solidFill>
                      <a:srgbClr val="FF0000"/>
                    </a:solidFill>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anose="020B0503020204020204" pitchFamily="34" charset="-122"/>
                          </a:rPr>
                        </m:ctrlPr>
                      </m:sSubPr>
                      <m:e>
                        <m:r>
                          <a:rPr lang="en-US" altLang="zh-CN" sz="2400" b="1" i="1" dirty="0" smtClean="0">
                            <a:solidFill>
                              <a:srgbClr val="FF0000"/>
                            </a:solidFill>
                            <a:latin typeface="Cambria Math" panose="02040503050406030204" pitchFamily="18" charset="0"/>
                            <a:ea typeface="微软雅黑" panose="020B0503020204020204" pitchFamily="34" charset="-122"/>
                          </a:rPr>
                          <m:t>𝑳</m:t>
                        </m:r>
                      </m:e>
                      <m:sub>
                        <m:r>
                          <a:rPr lang="en-US" altLang="zh-CN" sz="2400" b="1" i="1" dirty="0" smtClean="0">
                            <a:solidFill>
                              <a:srgbClr val="FF0000"/>
                            </a:solidFill>
                            <a:latin typeface="Cambria Math" panose="02040503050406030204" pitchFamily="18" charset="0"/>
                            <a:ea typeface="微软雅黑" panose="020B0503020204020204" pitchFamily="34" charset="-122"/>
                          </a:rPr>
                          <m:t>𝟏</m:t>
                        </m:r>
                      </m:sub>
                    </m:sSub>
                    <m:r>
                      <a:rPr lang="en-US" altLang="zh-CN" sz="2400" b="1" i="1" dirty="0" smtClean="0">
                        <a:solidFill>
                          <a:srgbClr val="FF0000"/>
                        </a:solidFill>
                        <a:latin typeface="Cambria Math" panose="02040503050406030204" pitchFamily="18" charset="0"/>
                        <a:ea typeface="微软雅黑" panose="020B0503020204020204" pitchFamily="34" charset="-122"/>
                      </a:rPr>
                      <m:t>=</m:t>
                    </m:r>
                    <m:sSub>
                      <m:sSubPr>
                        <m:ctrlPr>
                          <a:rPr lang="en-US" altLang="zh-CN" sz="2400" b="1" i="1" dirty="0" smtClean="0">
                            <a:solidFill>
                              <a:srgbClr val="FF0000"/>
                            </a:solidFill>
                            <a:latin typeface="Cambria Math" panose="02040503050406030204" pitchFamily="18" charset="0"/>
                            <a:ea typeface="微软雅黑" panose="020B0503020204020204" pitchFamily="34" charset="-122"/>
                          </a:rPr>
                        </m:ctrlPr>
                      </m:sSubPr>
                      <m:e>
                        <m:r>
                          <a:rPr lang="en-US" altLang="zh-CN" sz="2400" b="1" i="1" dirty="0" smtClean="0">
                            <a:solidFill>
                              <a:srgbClr val="FF0000"/>
                            </a:solidFill>
                            <a:latin typeface="Cambria Math" panose="02040503050406030204" pitchFamily="18" charset="0"/>
                            <a:ea typeface="微软雅黑" panose="020B0503020204020204" pitchFamily="34" charset="-122"/>
                          </a:rPr>
                          <m:t>𝑳</m:t>
                        </m:r>
                      </m:e>
                      <m:sub>
                        <m:r>
                          <a:rPr lang="en-US" altLang="zh-CN" sz="2400" b="1" i="1" dirty="0" smtClean="0">
                            <a:solidFill>
                              <a:srgbClr val="FF0000"/>
                            </a:solidFill>
                            <a:latin typeface="Cambria Math" panose="02040503050406030204" pitchFamily="18" charset="0"/>
                            <a:ea typeface="微软雅黑" panose="020B0503020204020204" pitchFamily="34" charset="-122"/>
                          </a:rPr>
                          <m:t>𝟐</m:t>
                        </m:r>
                      </m:sub>
                    </m:sSub>
                  </m:oMath>
                </a14:m>
                <a:r>
                  <a:rPr lang="zh-CN" altLang="en-US" sz="2400" b="1" i="0" dirty="0">
                    <a:solidFill>
                      <a:srgbClr val="FF0000"/>
                    </a:solidFill>
                    <a:latin typeface="微软雅黑" panose="020B0503020204020204" pitchFamily="34" charset="-122"/>
                    <a:ea typeface="微软雅黑" panose="020B0503020204020204" pitchFamily="34" charset="-122"/>
                  </a:rPr>
                  <a:t>时，圆形灵巧空间</a:t>
                </a:r>
                <a:endParaRPr lang="en-US" altLang="zh-CN" sz="2400" b="1" dirty="0">
                  <a:solidFill>
                    <a:srgbClr val="FF0000"/>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2400" i="0" dirty="0">
                    <a:latin typeface="微软雅黑" panose="020B0503020204020204" pitchFamily="34" charset="-122"/>
                    <a:ea typeface="微软雅黑" panose="020B0503020204020204" pitchFamily="34" charset="-122"/>
                  </a:rPr>
                  <a:t>   </a:t>
                </a:r>
                <a:r>
                  <a:rPr lang="en-US" altLang="zh-CN" sz="2400" i="0" dirty="0">
                    <a:latin typeface="微软雅黑" panose="020B0503020204020204" pitchFamily="34" charset="-122"/>
                    <a:ea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rPr>
                  <a:t>小绿圆消失，</a:t>
                </a:r>
                <a:r>
                  <a:rPr lang="en-US" altLang="zh-CN" sz="2400" i="0" dirty="0">
                    <a:latin typeface="微软雅黑" panose="020B0503020204020204" pitchFamily="34" charset="-122"/>
                    <a:ea typeface="微软雅黑" panose="020B0503020204020204" pitchFamily="34" charset="-122"/>
                  </a:rPr>
                  <a:t>B</a:t>
                </a:r>
                <a:r>
                  <a:rPr lang="zh-CN" altLang="en-US" sz="2400" i="0" dirty="0">
                    <a:latin typeface="微软雅黑" panose="020B0503020204020204" pitchFamily="34" charset="-122"/>
                    <a:ea typeface="微软雅黑" panose="020B0503020204020204" pitchFamily="34" charset="-122"/>
                  </a:rPr>
                  <a:t>点的可达空间变成半径</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rPr>
                  <a:t>圆</a:t>
                </a:r>
                <a:endParaRPr lang="en-US" altLang="zh-CN" sz="2400" dirty="0">
                  <a:latin typeface="微软雅黑" panose="020B0503020204020204" pitchFamily="34" charset="-122"/>
                  <a:ea typeface="微软雅黑" panose="020B0503020204020204" pitchFamily="34" charset="-122"/>
                </a:endParaRPr>
              </a:p>
              <a:p>
                <a:pPr marL="446088" indent="-446088">
                  <a:lnSpc>
                    <a:spcPct val="120000"/>
                  </a:lnSpc>
                  <a:spcBef>
                    <a:spcPts val="600"/>
                  </a:spcBef>
                  <a:tabLst>
                    <a:tab pos="446088" algn="l"/>
                  </a:tabLst>
                </a:pPr>
                <a:r>
                  <a:rPr lang="en-US" altLang="zh-CN" sz="2400" i="0" dirty="0">
                    <a:latin typeface="微软雅黑" panose="020B0503020204020204" pitchFamily="34" charset="-122"/>
                    <a:ea typeface="微软雅黑" panose="020B0503020204020204" pitchFamily="34" charset="-122"/>
                  </a:rPr>
                  <a:t>   - </a:t>
                </a:r>
                <a:r>
                  <a:rPr lang="zh-CN" altLang="en-US" sz="2400" i="0" dirty="0">
                    <a:latin typeface="微软雅黑" panose="020B0503020204020204" pitchFamily="34" charset="-122"/>
                    <a:ea typeface="微软雅黑" panose="020B0503020204020204" pitchFamily="34" charset="-122"/>
                  </a:rPr>
                  <a:t>灵巧空间扩大为与大绿圆内切所有黄圆的圆心轨迹构成的圆内部，图中蓝色圆，半径为：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endParaRPr>
              </a:p>
              <a:p>
                <a:pPr marL="446088" indent="-446088">
                  <a:lnSpc>
                    <a:spcPct val="120000"/>
                  </a:lnSpc>
                  <a:spcBef>
                    <a:spcPts val="600"/>
                  </a:spcBef>
                  <a:tabLst>
                    <a:tab pos="446088" algn="l"/>
                  </a:tabLst>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条件：</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400" i="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400" i="0"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B8C947AA-B952-4D85-9A1B-A43D5D2E4434}"/>
                  </a:ext>
                </a:extLst>
              </p:cNvPr>
              <p:cNvSpPr>
                <a:spLocks noRot="1" noChangeAspect="1" noMove="1" noResize="1" noEditPoints="1" noAdjustHandles="1" noChangeArrowheads="1" noChangeShapeType="1" noTextEdit="1"/>
              </p:cNvSpPr>
              <p:nvPr/>
            </p:nvSpPr>
            <p:spPr>
              <a:xfrm>
                <a:off x="326588" y="793777"/>
                <a:ext cx="7482598" cy="2501390"/>
              </a:xfrm>
              <a:prstGeom prst="rect">
                <a:avLst/>
              </a:prstGeom>
              <a:blipFill>
                <a:blip r:embed="rId3"/>
                <a:stretch>
                  <a:fillRect l="-1141" t="-487" b="-4623"/>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ADAC7B86-A603-4FC4-95B2-9CB3904022E5}"/>
              </a:ext>
            </a:extLst>
          </p:cNvPr>
          <p:cNvSpPr/>
          <p:nvPr/>
        </p:nvSpPr>
        <p:spPr>
          <a:xfrm>
            <a:off x="1287639" y="3906021"/>
            <a:ext cx="4572000" cy="71340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lgn="l"/>
            <a:r>
              <a:rPr lang="zh-CN" altLang="en-US" sz="2000" i="0" dirty="0">
                <a:latin typeface="微软雅黑" panose="020B0503020204020204" pitchFamily="34" charset="-122"/>
                <a:ea typeface="微软雅黑" panose="020B0503020204020204" pitchFamily="34" charset="-122"/>
              </a:rPr>
              <a:t>注意黄圈变大的过程，变大过程中出现了各种情况，最后大到灵巧空间消失。</a:t>
            </a:r>
          </a:p>
        </p:txBody>
      </p:sp>
      <p:graphicFrame>
        <p:nvGraphicFramePr>
          <p:cNvPr id="5" name="对象 4">
            <a:extLst>
              <a:ext uri="{FF2B5EF4-FFF2-40B4-BE49-F238E27FC236}">
                <a16:creationId xmlns:a16="http://schemas.microsoft.com/office/drawing/2014/main" id="{4FAB61BE-9A2B-4686-BE3A-9A2A79FD1A38}"/>
              </a:ext>
            </a:extLst>
          </p:cNvPr>
          <p:cNvGraphicFramePr>
            <a:graphicFrameLocks noChangeAspect="1"/>
          </p:cNvGraphicFramePr>
          <p:nvPr>
            <p:extLst>
              <p:ext uri="{D42A27DB-BD31-4B8C-83A1-F6EECF244321}">
                <p14:modId xmlns:p14="http://schemas.microsoft.com/office/powerpoint/2010/main" val="3701257762"/>
              </p:ext>
            </p:extLst>
          </p:nvPr>
        </p:nvGraphicFramePr>
        <p:xfrm>
          <a:off x="7466553" y="1084543"/>
          <a:ext cx="4688787" cy="4688912"/>
        </p:xfrm>
        <a:graphic>
          <a:graphicData uri="http://schemas.openxmlformats.org/presentationml/2006/ole">
            <mc:AlternateContent xmlns:mc="http://schemas.openxmlformats.org/markup-compatibility/2006">
              <mc:Choice xmlns:v="urn:schemas-microsoft-com:vml" Requires="v">
                <p:oleObj name="Visio" r:id="rId4" imgW="4688787" imgH="4688912" progId="Visio.Drawing.11">
                  <p:embed/>
                </p:oleObj>
              </mc:Choice>
              <mc:Fallback>
                <p:oleObj name="Visio" r:id="rId4" imgW="4688787" imgH="4688912" progId="Visio.Drawing.11">
                  <p:embed/>
                  <p:pic>
                    <p:nvPicPr>
                      <p:cNvPr id="5" name="对象 4">
                        <a:extLst>
                          <a:ext uri="{FF2B5EF4-FFF2-40B4-BE49-F238E27FC236}">
                            <a16:creationId xmlns:a16="http://schemas.microsoft.com/office/drawing/2014/main" id="{4FAB61BE-9A2B-4686-BE3A-9A2A79FD1A38}"/>
                          </a:ext>
                        </a:extLst>
                      </p:cNvPr>
                      <p:cNvPicPr/>
                      <p:nvPr/>
                    </p:nvPicPr>
                    <p:blipFill>
                      <a:blip r:embed="rId5"/>
                      <a:stretch>
                        <a:fillRect/>
                      </a:stretch>
                    </p:blipFill>
                    <p:spPr>
                      <a:xfrm>
                        <a:off x="7466553" y="1084543"/>
                        <a:ext cx="4688787" cy="4688912"/>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231EF42F-481E-4DEE-8E04-D8D0A9D65C1D}"/>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3.3 3R</a:t>
            </a:r>
            <a:r>
              <a:rPr lang="zh-CN" altLang="en-US" sz="3200" b="1" dirty="0">
                <a:solidFill>
                  <a:srgbClr val="9D1317"/>
                </a:solidFill>
                <a:latin typeface="微软雅黑" panose="020B0503020204020204" pitchFamily="34" charset="-122"/>
                <a:ea typeface="微软雅黑" panose="020B0503020204020204" pitchFamily="34" charset="-122"/>
              </a:rPr>
              <a:t>操作臂灵巧空间的详细分析</a:t>
            </a:r>
          </a:p>
        </p:txBody>
      </p:sp>
    </p:spTree>
    <p:extLst>
      <p:ext uri="{BB962C8B-B14F-4D97-AF65-F5344CB8AC3E}">
        <p14:creationId xmlns:p14="http://schemas.microsoft.com/office/powerpoint/2010/main" val="282692902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86BBFB3-FD2F-49DB-AE7E-1C61E8BF4D37}"/>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23</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E3E21B6F-72CF-4AF0-A0EF-72068C2B9AD3}"/>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3.3 3R</a:t>
            </a:r>
            <a:r>
              <a:rPr lang="zh-CN" altLang="en-US" sz="3200" b="1" dirty="0">
                <a:solidFill>
                  <a:srgbClr val="9D1317"/>
                </a:solidFill>
                <a:latin typeface="微软雅黑" panose="020B0503020204020204" pitchFamily="34" charset="-122"/>
                <a:ea typeface="微软雅黑" panose="020B0503020204020204" pitchFamily="34" charset="-122"/>
              </a:rPr>
              <a:t>操作臂灵巧空间的详细分析</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0BACA64-9EF1-42B4-B2BB-283AA7532E1C}"/>
                  </a:ext>
                </a:extLst>
              </p:cNvPr>
              <p:cNvSpPr/>
              <p:nvPr/>
            </p:nvSpPr>
            <p:spPr>
              <a:xfrm>
                <a:off x="405846" y="926814"/>
                <a:ext cx="6620320" cy="5572038"/>
              </a:xfrm>
              <a:prstGeom prst="rect">
                <a:avLst/>
              </a:prstGeom>
            </p:spPr>
            <p:txBody>
              <a:bodyPr wrap="square">
                <a:spAutoFit/>
              </a:bodyPr>
              <a:lstStyle/>
              <a:p>
                <a:pPr>
                  <a:lnSpc>
                    <a:spcPct val="150000"/>
                  </a:lnSpc>
                </a:pPr>
                <a:r>
                  <a:rPr lang="zh-CN" altLang="en-US" sz="2400" b="1" i="0" dirty="0">
                    <a:solidFill>
                      <a:srgbClr val="FF0000"/>
                    </a:solidFill>
                    <a:latin typeface="微软雅黑" panose="020B0503020204020204" pitchFamily="34" charset="-122"/>
                    <a:ea typeface="微软雅黑" panose="020B0503020204020204" pitchFamily="34" charset="-122"/>
                  </a:rPr>
                  <a:t>情况</a:t>
                </a:r>
                <a:r>
                  <a:rPr lang="en-US" altLang="zh-CN" sz="2400" b="1" i="0" dirty="0">
                    <a:solidFill>
                      <a:srgbClr val="FF0000"/>
                    </a:solidFill>
                    <a:latin typeface="微软雅黑" panose="020B0503020204020204" pitchFamily="34" charset="-122"/>
                    <a:ea typeface="微软雅黑" panose="020B0503020204020204" pitchFamily="34" charset="-122"/>
                  </a:rPr>
                  <a:t>3</a:t>
                </a:r>
                <a:r>
                  <a:rPr lang="zh-CN" altLang="en-US" sz="2400" b="1" i="0" dirty="0">
                    <a:solidFill>
                      <a:srgbClr val="FF0000"/>
                    </a:solidFill>
                    <a:latin typeface="微软雅黑" panose="020B0503020204020204" pitchFamily="34" charset="-122"/>
                    <a:ea typeface="微软雅黑" panose="020B0503020204020204" pitchFamily="34" charset="-122"/>
                  </a:rPr>
                  <a:t>：同时有圆环状和中心圆状灵巧空间</a:t>
                </a:r>
              </a:p>
              <a:p>
                <a:pPr>
                  <a:lnSpc>
                    <a:spcPct val="150000"/>
                  </a:lnSpc>
                </a:pPr>
                <a:r>
                  <a:rPr lang="zh-CN" altLang="en-US" sz="2400" i="0" dirty="0">
                    <a:latin typeface="微软雅黑" panose="020B0503020204020204" pitchFamily="34" charset="-122"/>
                    <a:ea typeface="微软雅黑" panose="020B0503020204020204" pitchFamily="34" charset="-122"/>
                  </a:rPr>
                  <a:t>条件：</a:t>
                </a:r>
                <a:r>
                  <a:rPr lang="en-US" altLang="zh-CN" sz="2400" dirty="0">
                    <a:latin typeface="微软雅黑" panose="020B0503020204020204" pitchFamily="34" charset="-122"/>
                    <a:ea typeface="微软雅黑" panose="020B0503020204020204" pitchFamily="34" charset="-122"/>
                  </a:rPr>
                  <a:t>a) </a:t>
                </a:r>
                <a:r>
                  <a:rPr lang="zh-CN" altLang="en-US" sz="2400" dirty="0">
                    <a:latin typeface="微软雅黑" panose="020B0503020204020204" pitchFamily="34" charset="-122"/>
                    <a:ea typeface="微软雅黑" panose="020B0503020204020204" pitchFamily="34" charset="-122"/>
                  </a:rPr>
                  <a:t>黄圆</a:t>
                </a:r>
                <a14:m>
                  <m:oMath xmlns:m="http://schemas.openxmlformats.org/officeDocument/2006/math">
                    <m:r>
                      <a:rPr lang="zh-CN" altLang="en-US" sz="2400" b="0" i="1" dirty="0">
                        <a:latin typeface="Cambria Math" panose="02040503050406030204" pitchFamily="18" charset="0"/>
                        <a:ea typeface="微软雅黑" panose="020B0503020204020204" pitchFamily="34" charset="-122"/>
                      </a:rPr>
                      <m:t>直径</m:t>
                    </m:r>
                    <m:r>
                      <a:rPr lang="zh-CN" altLang="en-US" sz="2400" i="1" dirty="0" smtClean="0">
                        <a:latin typeface="Cambria Math" panose="02040503050406030204" pitchFamily="18" charset="0"/>
                        <a:ea typeface="微软雅黑" panose="020B0503020204020204" pitchFamily="34" charset="-122"/>
                      </a:rPr>
                      <m:t>小于</m:t>
                    </m:r>
                    <m:r>
                      <m:rPr>
                        <m:sty m:val="p"/>
                      </m:rPr>
                      <a:rPr lang="en-US" altLang="zh-CN" sz="2400" i="1" dirty="0">
                        <a:latin typeface="Cambria Math" panose="02040503050406030204" pitchFamily="18" charset="0"/>
                        <a:ea typeface="微软雅黑" panose="020B0503020204020204" pitchFamily="34" charset="-122"/>
                      </a:rPr>
                      <m:t>B</m:t>
                    </m:r>
                    <m:r>
                      <a:rPr lang="zh-CN" altLang="en-US" sz="2400" i="1" dirty="0" smtClean="0">
                        <a:latin typeface="Cambria Math" panose="02040503050406030204" pitchFamily="18" charset="0"/>
                        <a:ea typeface="微软雅黑" panose="020B0503020204020204" pitchFamily="34" charset="-122"/>
                      </a:rPr>
                      <m:t>可达空间</m:t>
                    </m:r>
                    <m:r>
                      <a:rPr lang="zh-CN" altLang="en-US" sz="2400" i="1" dirty="0">
                        <a:latin typeface="Cambria Math" panose="02040503050406030204" pitchFamily="18" charset="0"/>
                        <a:ea typeface="微软雅黑" panose="020B0503020204020204" pitchFamily="34" charset="-122"/>
                      </a:rPr>
                      <m:t>环带</m:t>
                    </m:r>
                    <m:r>
                      <a:rPr lang="zh-CN" altLang="en-US" sz="2400" i="1" dirty="0" smtClean="0">
                        <a:latin typeface="Cambria Math" panose="02040503050406030204" pitchFamily="18" charset="0"/>
                        <a:ea typeface="微软雅黑" panose="020B0503020204020204" pitchFamily="34" charset="-122"/>
                      </a:rPr>
                      <m:t>，</m:t>
                    </m:r>
                    <m:r>
                      <a:rPr lang="zh-CN" altLang="en-US" sz="2400" i="1" dirty="0">
                        <a:latin typeface="Cambria Math" panose="02040503050406030204" pitchFamily="18" charset="0"/>
                        <a:ea typeface="微软雅黑" panose="020B0503020204020204" pitchFamily="34" charset="-122"/>
                      </a:rPr>
                      <m:t>即</m:t>
                    </m:r>
                    <m:r>
                      <a:rPr lang="zh-CN" altLang="en-US" sz="2400" i="1" dirty="0" smtClean="0">
                        <a:latin typeface="Cambria Math" panose="02040503050406030204" pitchFamily="18" charset="0"/>
                        <a:ea typeface="微软雅黑" panose="020B0503020204020204" pitchFamily="34" charset="-122"/>
                      </a:rPr>
                      <m:t>：</m:t>
                    </m:r>
                  </m:oMath>
                </a14:m>
                <a:endParaRPr lang="en-US" altLang="zh-CN" sz="2400" i="1" dirty="0">
                  <a:latin typeface="Cambria Math" panose="02040503050406030204" pitchFamily="18" charset="0"/>
                  <a:ea typeface="微软雅黑" panose="020B0503020204020204" pitchFamily="34" charset="-122"/>
                </a:endParaRPr>
              </a:p>
              <a:p>
                <a:pPr>
                  <a:lnSpc>
                    <a:spcPct val="150000"/>
                  </a:lnSpc>
                </a:pPr>
                <a:r>
                  <a:rPr lang="en-US" altLang="zh-CN" sz="2400" b="0" dirty="0">
                    <a:ea typeface="微软雅黑" panose="020B0503020204020204" pitchFamily="34" charset="-122"/>
                  </a:rPr>
                  <a:t>                     </a:t>
                </a:r>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2</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2</m:t>
                        </m:r>
                      </m:sub>
                    </m:sSub>
                    <m:r>
                      <a:rPr lang="en-US" altLang="zh-CN" sz="2400" b="0" i="1" smtClean="0">
                        <a:latin typeface="Cambria Math" panose="02040503050406030204" pitchFamily="18" charset="0"/>
                        <a:ea typeface="微软雅黑" panose="020B0503020204020204" pitchFamily="34" charset="-122"/>
                      </a:rPr>
                      <m:t>−</m:t>
                    </m:r>
                    <m:d>
                      <m:dPr>
                        <m:begChr m:val="|"/>
                        <m:endChr m:val="|"/>
                        <m:ctrlPr>
                          <a:rPr lang="en-US" altLang="zh-CN" sz="2400" b="0" i="1" smtClean="0">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endParaRPr lang="en-US" altLang="zh-CN" sz="2400" dirty="0">
                  <a:ea typeface="微软雅黑" panose="020B0503020204020204" pitchFamily="34" charset="-122"/>
                </a:endParaRPr>
              </a:p>
              <a:p>
                <a:pPr>
                  <a:lnSpc>
                    <a:spcPct val="150000"/>
                  </a:lnSpc>
                </a:pPr>
                <a:r>
                  <a:rPr lang="zh-CN" altLang="en-US" sz="2400" dirty="0">
                    <a:ea typeface="微软雅黑" panose="020B0503020204020204" pitchFamily="34" charset="-122"/>
                  </a:rPr>
                  <a:t>               等号成立时，蓝色环带退化为圆周</a:t>
                </a:r>
                <a:endParaRPr lang="en-US" altLang="zh-CN" sz="2400" dirty="0">
                  <a:ea typeface="微软雅黑" panose="020B0503020204020204" pitchFamily="34" charset="-122"/>
                </a:endParaRPr>
              </a:p>
              <a:p>
                <a:pPr marL="1255713" indent="-1255713">
                  <a:lnSpc>
                    <a:spcPct val="150000"/>
                  </a:lnSpc>
                </a:pPr>
                <a:r>
                  <a:rPr lang="zh-CN" altLang="en-US" sz="2400" i="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b="0" i="1" dirty="0" smtClean="0">
                        <a:latin typeface="Cambria Math" panose="02040503050406030204" pitchFamily="18" charset="0"/>
                        <a:ea typeface="微软雅黑" panose="020B0503020204020204" pitchFamily="34" charset="-122"/>
                      </a:rPr>
                      <m:t>𝑏</m:t>
                    </m:r>
                    <m:r>
                      <a:rPr lang="en-US" altLang="zh-CN" sz="2400" b="0" i="1" dirty="0" smtClean="0">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 </m:t>
                    </m:r>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r>
                  <a:rPr lang="zh-CN" altLang="en-US" sz="2400" i="0" dirty="0">
                    <a:latin typeface="微软雅黑" panose="020B0503020204020204" pitchFamily="34" charset="-122"/>
                    <a:ea typeface="微软雅黑" panose="020B0503020204020204" pitchFamily="34" charset="-122"/>
                  </a:rPr>
                  <a:t>，此时黄圆可以外切小绿圆，这个外切黄圆也在</a:t>
                </a:r>
                <a:r>
                  <a:rPr lang="en-US" altLang="zh-CN" sz="2400" i="0" dirty="0">
                    <a:latin typeface="微软雅黑" panose="020B0503020204020204" pitchFamily="34" charset="-122"/>
                    <a:ea typeface="微软雅黑" panose="020B0503020204020204" pitchFamily="34" charset="-122"/>
                  </a:rPr>
                  <a:t>B</a:t>
                </a:r>
                <a:r>
                  <a:rPr lang="zh-CN" altLang="en-US" sz="2400" i="0" dirty="0">
                    <a:latin typeface="微软雅黑" panose="020B0503020204020204" pitchFamily="34" charset="-122"/>
                    <a:ea typeface="微软雅黑" panose="020B0503020204020204" pitchFamily="34" charset="-122"/>
                  </a:rPr>
                  <a:t>点可达空间即灰色环带内，小蓝圆</a:t>
                </a:r>
                <a:r>
                  <a:rPr lang="zh-CN" altLang="en-US" sz="2400" dirty="0">
                    <a:latin typeface="微软雅黑" panose="020B0503020204020204" pitchFamily="34" charset="-122"/>
                    <a:ea typeface="微软雅黑" panose="020B0503020204020204" pitchFamily="34" charset="-122"/>
                  </a:rPr>
                  <a:t>也是可达空间</a:t>
                </a:r>
                <a:r>
                  <a:rPr lang="zh-CN" altLang="en-US" sz="2400" i="0" dirty="0">
                    <a:latin typeface="微软雅黑" panose="020B0503020204020204" pitchFamily="34" charset="-122"/>
                    <a:ea typeface="微软雅黑" panose="020B0503020204020204" pitchFamily="34" charset="-122"/>
                  </a:rPr>
                  <a:t>、半径为</a:t>
                </a:r>
                <a14:m>
                  <m:oMath xmlns:m="http://schemas.openxmlformats.org/officeDocument/2006/math">
                    <m:r>
                      <a:rPr lang="en-US" altLang="zh-CN" sz="2400" b="0" i="0" smtClean="0">
                        <a:latin typeface="Cambria Math" panose="02040503050406030204" pitchFamily="18" charset="0"/>
                        <a:ea typeface="微软雅黑" panose="020B0503020204020204" pitchFamily="34" charset="-122"/>
                      </a:rPr>
                      <m:t> </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endParaRPr lang="en-US" altLang="zh-CN" sz="2400" i="0" dirty="0">
                  <a:latin typeface="微软雅黑" panose="020B0503020204020204" pitchFamily="34" charset="-122"/>
                  <a:ea typeface="微软雅黑" panose="020B0503020204020204" pitchFamily="34" charset="-122"/>
                </a:endParaRPr>
              </a:p>
              <a:p>
                <a:pPr marL="1255713" indent="-1255713">
                  <a:lnSpc>
                    <a:spcPct val="150000"/>
                  </a:lnSpc>
                </a:pPr>
                <a:r>
                  <a:rPr lang="zh-CN" altLang="en-US" sz="2400" i="0" dirty="0">
                    <a:latin typeface="微软雅黑" panose="020B0503020204020204" pitchFamily="34" charset="-122"/>
                    <a:ea typeface="微软雅黑" panose="020B0503020204020204" pitchFamily="34" charset="-122"/>
                  </a:rPr>
                  <a:t>              等号成立时圆环退化为圆周，中心蓝圆退化为圆心一点</a:t>
                </a:r>
              </a:p>
            </p:txBody>
          </p:sp>
        </mc:Choice>
        <mc:Fallback xmlns="">
          <p:sp>
            <p:nvSpPr>
              <p:cNvPr id="5" name="矩形 4">
                <a:extLst>
                  <a:ext uri="{FF2B5EF4-FFF2-40B4-BE49-F238E27FC236}">
                    <a16:creationId xmlns:a16="http://schemas.microsoft.com/office/drawing/2014/main" id="{C0BACA64-9EF1-42B4-B2BB-283AA7532E1C}"/>
                  </a:ext>
                </a:extLst>
              </p:cNvPr>
              <p:cNvSpPr>
                <a:spLocks noRot="1" noChangeAspect="1" noMove="1" noResize="1" noEditPoints="1" noAdjustHandles="1" noChangeArrowheads="1" noChangeShapeType="1" noTextEdit="1"/>
              </p:cNvSpPr>
              <p:nvPr/>
            </p:nvSpPr>
            <p:spPr>
              <a:xfrm>
                <a:off x="405846" y="926814"/>
                <a:ext cx="6620320" cy="5572038"/>
              </a:xfrm>
              <a:prstGeom prst="rect">
                <a:avLst/>
              </a:prstGeom>
              <a:blipFill>
                <a:blip r:embed="rId3"/>
                <a:stretch>
                  <a:fillRect l="-1473" r="-1381" b="-1532"/>
                </a:stretch>
              </a:blipFill>
            </p:spPr>
            <p:txBody>
              <a:bodyPr/>
              <a:lstStyle/>
              <a:p>
                <a:r>
                  <a:rPr lang="zh-CN" altLang="en-US">
                    <a:noFill/>
                  </a:rPr>
                  <a:t> </a:t>
                </a:r>
              </a:p>
            </p:txBody>
          </p:sp>
        </mc:Fallback>
      </mc:AlternateContent>
      <p:graphicFrame>
        <p:nvGraphicFramePr>
          <p:cNvPr id="7" name="对象 6">
            <a:extLst>
              <a:ext uri="{FF2B5EF4-FFF2-40B4-BE49-F238E27FC236}">
                <a16:creationId xmlns:a16="http://schemas.microsoft.com/office/drawing/2014/main" id="{413489C6-1F50-4E31-80D1-A0B86B615725}"/>
              </a:ext>
            </a:extLst>
          </p:cNvPr>
          <p:cNvGraphicFramePr>
            <a:graphicFrameLocks noChangeAspect="1"/>
          </p:cNvGraphicFramePr>
          <p:nvPr>
            <p:extLst>
              <p:ext uri="{D42A27DB-BD31-4B8C-83A1-F6EECF244321}">
                <p14:modId xmlns:p14="http://schemas.microsoft.com/office/powerpoint/2010/main" val="1294015600"/>
              </p:ext>
            </p:extLst>
          </p:nvPr>
        </p:nvGraphicFramePr>
        <p:xfrm>
          <a:off x="7310270" y="1371700"/>
          <a:ext cx="4752528" cy="4752528"/>
        </p:xfrm>
        <a:graphic>
          <a:graphicData uri="http://schemas.openxmlformats.org/presentationml/2006/ole">
            <mc:AlternateContent xmlns:mc="http://schemas.openxmlformats.org/markup-compatibility/2006">
              <mc:Choice xmlns:v="urn:schemas-microsoft-com:vml" Requires="v">
                <p:oleObj name="Visio" r:id="rId4" imgW="5205108" imgH="5205108" progId="Visio.Drawing.11">
                  <p:embed/>
                </p:oleObj>
              </mc:Choice>
              <mc:Fallback>
                <p:oleObj name="Visio" r:id="rId4" imgW="5205108" imgH="5205108" progId="Visio.Drawing.11">
                  <p:embed/>
                  <p:pic>
                    <p:nvPicPr>
                      <p:cNvPr id="7" name="对象 6">
                        <a:extLst>
                          <a:ext uri="{FF2B5EF4-FFF2-40B4-BE49-F238E27FC236}">
                            <a16:creationId xmlns:a16="http://schemas.microsoft.com/office/drawing/2014/main" id="{413489C6-1F50-4E31-80D1-A0B86B615725}"/>
                          </a:ext>
                        </a:extLst>
                      </p:cNvPr>
                      <p:cNvPicPr/>
                      <p:nvPr/>
                    </p:nvPicPr>
                    <p:blipFill>
                      <a:blip r:embed="rId5"/>
                      <a:stretch>
                        <a:fillRect/>
                      </a:stretch>
                    </p:blipFill>
                    <p:spPr>
                      <a:xfrm>
                        <a:off x="7310270" y="1371700"/>
                        <a:ext cx="4752528" cy="4752528"/>
                      </a:xfrm>
                      <a:prstGeom prst="rect">
                        <a:avLst/>
                      </a:prstGeom>
                    </p:spPr>
                  </p:pic>
                </p:oleObj>
              </mc:Fallback>
            </mc:AlternateContent>
          </a:graphicData>
        </a:graphic>
      </p:graphicFrame>
    </p:spTree>
    <p:extLst>
      <p:ext uri="{BB962C8B-B14F-4D97-AF65-F5344CB8AC3E}">
        <p14:creationId xmlns:p14="http://schemas.microsoft.com/office/powerpoint/2010/main" val="288763047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DF80378-8A05-41E8-B291-53E8CE28A8B0}"/>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24</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99AF0EE7-B135-4937-A11D-321FD0B76A67}"/>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3.3 3R</a:t>
            </a:r>
            <a:r>
              <a:rPr lang="zh-CN" altLang="en-US" sz="3200" b="1" dirty="0">
                <a:solidFill>
                  <a:srgbClr val="9D1317"/>
                </a:solidFill>
                <a:latin typeface="微软雅黑" panose="020B0503020204020204" pitchFamily="34" charset="-122"/>
                <a:ea typeface="微软雅黑" panose="020B0503020204020204" pitchFamily="34" charset="-122"/>
              </a:rPr>
              <a:t>操作臂灵巧空间的详细分析</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D7E8797-9604-46B0-AB38-81400C4E96ED}"/>
                  </a:ext>
                </a:extLst>
              </p:cNvPr>
              <p:cNvSpPr/>
              <p:nvPr/>
            </p:nvSpPr>
            <p:spPr>
              <a:xfrm>
                <a:off x="144975" y="861348"/>
                <a:ext cx="8280108" cy="4459041"/>
              </a:xfrm>
              <a:prstGeom prst="rect">
                <a:avLst/>
              </a:prstGeom>
            </p:spPr>
            <p:txBody>
              <a:bodyPr wrap="square">
                <a:spAutoFit/>
              </a:bodyPr>
              <a:lstStyle/>
              <a:p>
                <a:pPr>
                  <a:lnSpc>
                    <a:spcPct val="150000"/>
                  </a:lnSpc>
                </a:pPr>
                <a:r>
                  <a:rPr lang="zh-CN" altLang="en-US" sz="2400" b="1" i="0" dirty="0">
                    <a:solidFill>
                      <a:srgbClr val="FF0000"/>
                    </a:solidFill>
                    <a:latin typeface="微软雅黑" panose="020B0503020204020204" pitchFamily="34" charset="-122"/>
                    <a:ea typeface="微软雅黑" panose="020B0503020204020204" pitchFamily="34" charset="-122"/>
                  </a:rPr>
                  <a:t>情况</a:t>
                </a:r>
                <a:r>
                  <a:rPr lang="en-US" altLang="zh-CN" sz="2400" b="1" i="0" dirty="0">
                    <a:solidFill>
                      <a:srgbClr val="FF0000"/>
                    </a:solidFill>
                    <a:latin typeface="微软雅黑" panose="020B0503020204020204" pitchFamily="34" charset="-122"/>
                    <a:ea typeface="微软雅黑" panose="020B0503020204020204" pitchFamily="34" charset="-122"/>
                  </a:rPr>
                  <a:t>4</a:t>
                </a:r>
                <a:r>
                  <a:rPr lang="zh-CN" altLang="en-US" sz="2400" b="1" i="0" dirty="0">
                    <a:solidFill>
                      <a:srgbClr val="FF0000"/>
                    </a:solidFill>
                    <a:latin typeface="微软雅黑" panose="020B0503020204020204" pitchFamily="34" charset="-122"/>
                    <a:ea typeface="微软雅黑" panose="020B0503020204020204" pitchFamily="34" charset="-122"/>
                  </a:rPr>
                  <a:t>：灵巧空间只有中心圆（</a:t>
                </a:r>
                <a:r>
                  <a:rPr lang="en-US" altLang="zh-CN" sz="2400" b="1" i="0" dirty="0">
                    <a:solidFill>
                      <a:srgbClr val="FF0000"/>
                    </a:solidFill>
                    <a:latin typeface="微软雅黑" panose="020B0503020204020204" pitchFamily="34" charset="-122"/>
                    <a:ea typeface="微软雅黑" panose="020B0503020204020204" pitchFamily="34" charset="-122"/>
                  </a:rPr>
                  <a:t>L</a:t>
                </a:r>
                <a:r>
                  <a:rPr lang="en-US" altLang="zh-CN" sz="2400" b="1" i="0" baseline="-25000" dirty="0">
                    <a:solidFill>
                      <a:srgbClr val="FF0000"/>
                    </a:solidFill>
                    <a:latin typeface="微软雅黑" panose="020B0503020204020204" pitchFamily="34" charset="-122"/>
                    <a:ea typeface="微软雅黑" panose="020B0503020204020204" pitchFamily="34" charset="-122"/>
                  </a:rPr>
                  <a:t>3</a:t>
                </a:r>
                <a:r>
                  <a:rPr lang="zh-CN" altLang="en-US" sz="2400" b="1" i="0" dirty="0">
                    <a:solidFill>
                      <a:srgbClr val="FF0000"/>
                    </a:solidFill>
                    <a:latin typeface="微软雅黑" panose="020B0503020204020204" pitchFamily="34" charset="-122"/>
                    <a:ea typeface="微软雅黑" panose="020B0503020204020204" pitchFamily="34" charset="-122"/>
                  </a:rPr>
                  <a:t>继续增大）</a:t>
                </a:r>
                <a:r>
                  <a:rPr lang="zh-CN" altLang="en-US" sz="2400" i="0" dirty="0">
                    <a:latin typeface="微软雅黑" panose="020B0503020204020204" pitchFamily="34" charset="-122"/>
                    <a:ea typeface="微软雅黑" panose="020B0503020204020204" pitchFamily="34" charset="-122"/>
                  </a:rPr>
                  <a:t>，此时又分两种状态，即黄色圆与小绿圆外切、以及与大绿圆内切</a:t>
                </a:r>
              </a:p>
              <a:p>
                <a:pPr>
                  <a:lnSpc>
                    <a:spcPct val="150000"/>
                  </a:lnSpc>
                </a:pPr>
                <a:r>
                  <a:rPr lang="zh-CN" altLang="en-US" sz="2400" i="0" dirty="0">
                    <a:latin typeface="微软雅黑" panose="020B0503020204020204" pitchFamily="34" charset="-122"/>
                    <a:ea typeface="微软雅黑" panose="020B0503020204020204" pitchFamily="34" charset="-122"/>
                  </a:rPr>
                  <a:t>    条件：</a:t>
                </a:r>
                <a:r>
                  <a:rPr lang="en-US" altLang="zh-CN" sz="2400" dirty="0">
                    <a:ea typeface="微软雅黑" panose="020B0503020204020204" pitchFamily="34" charset="-122"/>
                  </a:rPr>
                  <a:t> </a:t>
                </a:r>
                <a14:m>
                  <m:oMath xmlns:m="http://schemas.openxmlformats.org/officeDocument/2006/math">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r>
                      <a:rPr lang="en-US" altLang="zh-CN" sz="2400" b="0" i="1" smtClean="0">
                        <a:latin typeface="Cambria Math" panose="02040503050406030204" pitchFamily="18" charset="0"/>
                        <a:ea typeface="微软雅黑" panose="020B0503020204020204" pitchFamily="34" charset="-122"/>
                      </a:rPr>
                      <m:t>≤ </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2</m:t>
                        </m:r>
                      </m:sub>
                    </m:sSub>
                  </m:oMath>
                </a14:m>
                <a:r>
                  <a:rPr lang="zh-CN" altLang="en-US" sz="2400" i="0" dirty="0">
                    <a:latin typeface="微软雅黑" panose="020B0503020204020204" pitchFamily="34" charset="-122"/>
                    <a:ea typeface="微软雅黑" panose="020B0503020204020204" pitchFamily="34" charset="-122"/>
                  </a:rPr>
                  <a:t> （黄圆大于小绿圆）         </a:t>
                </a:r>
                <a:endParaRPr lang="en-US" altLang="zh-CN" sz="2400" i="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rPr>
                  <a:t>且</a:t>
                </a:r>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2</m:t>
                        </m:r>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r>
                      <a:rPr lang="en-US" altLang="zh-CN" sz="2400" b="0" i="1" smtClean="0">
                        <a:latin typeface="Cambria Math" panose="02040503050406030204" pitchFamily="18" charset="0"/>
                        <a:ea typeface="微软雅黑" panose="020B0503020204020204" pitchFamily="34" charset="-122"/>
                      </a:rPr>
                      <m:t>−</m:t>
                    </m:r>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r>
                  <a:rPr lang="en-US" altLang="zh-CN" sz="2400" i="0" dirty="0">
                    <a:latin typeface="微软雅黑" panose="020B0503020204020204" pitchFamily="34" charset="-122"/>
                    <a:ea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rPr>
                  <a:t>（黄圆直径大于灰色环带）</a:t>
                </a:r>
                <a:endParaRPr lang="en-US" altLang="zh-CN" sz="2400" i="0" dirty="0">
                  <a:latin typeface="微软雅黑" panose="020B0503020204020204" pitchFamily="34" charset="-122"/>
                  <a:ea typeface="微软雅黑" panose="020B0503020204020204" pitchFamily="34" charset="-122"/>
                </a:endParaRPr>
              </a:p>
              <a:p>
                <a:pPr>
                  <a:lnSpc>
                    <a:spcPct val="150000"/>
                  </a:lnSpc>
                </a:pPr>
                <a:r>
                  <a:rPr lang="en-US" altLang="zh-CN" sz="2400" i="0" dirty="0">
                    <a:latin typeface="微软雅黑" panose="020B0503020204020204" pitchFamily="34" charset="-122"/>
                    <a:ea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rPr>
                  <a:t>黄圆外切小绿圆情况：灵巧空间半径为</a:t>
                </a:r>
                <a14:m>
                  <m:oMath xmlns:m="http://schemas.openxmlformats.org/officeDocument/2006/math">
                    <m:sSub>
                      <m:sSubPr>
                        <m:ctrlPr>
                          <a:rPr lang="en-US" altLang="zh-CN" sz="2400" i="1" smtClean="0">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m:t>
                    </m:r>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endParaRPr lang="en-US" altLang="zh-CN" sz="2400" i="0" dirty="0">
                  <a:latin typeface="微软雅黑" panose="020B0503020204020204" pitchFamily="34" charset="-122"/>
                  <a:ea typeface="微软雅黑" panose="020B0503020204020204" pitchFamily="34" charset="-122"/>
                </a:endParaRPr>
              </a:p>
              <a:p>
                <a:pPr>
                  <a:lnSpc>
                    <a:spcPct val="150000"/>
                  </a:lnSpc>
                </a:pPr>
                <a:r>
                  <a:rPr lang="en-US" altLang="zh-CN" sz="2400" i="0" dirty="0">
                    <a:latin typeface="微软雅黑" panose="020B0503020204020204" pitchFamily="34" charset="-122"/>
                    <a:ea typeface="微软雅黑" panose="020B0503020204020204" pitchFamily="34" charset="-122"/>
                  </a:rPr>
                  <a:t>    </a:t>
                </a:r>
                <a:r>
                  <a:rPr lang="zh-CN" altLang="en-US" sz="2400" i="0" dirty="0">
                    <a:latin typeface="微软雅黑" panose="020B0503020204020204" pitchFamily="34" charset="-122"/>
                    <a:ea typeface="微软雅黑" panose="020B0503020204020204" pitchFamily="34" charset="-122"/>
                  </a:rPr>
                  <a:t>黄圆内切大绿圆情况：灵巧空间半径为</a:t>
                </a:r>
                <a14:m>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1</m:t>
                        </m:r>
                      </m:sub>
                    </m:sSub>
                    <m:r>
                      <a:rPr lang="en-US" altLang="zh-CN" sz="2400" i="1">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2</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i="1" smtClean="0">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3</m:t>
                        </m:r>
                      </m:sub>
                    </m:sSub>
                  </m:oMath>
                </a14:m>
                <a:endParaRPr lang="en-US" altLang="zh-CN" sz="2400" i="0" dirty="0">
                  <a:latin typeface="微软雅黑" panose="020B0503020204020204" pitchFamily="34" charset="-122"/>
                  <a:ea typeface="微软雅黑" panose="020B0503020204020204" pitchFamily="34" charset="-122"/>
                </a:endParaRPr>
              </a:p>
              <a:p>
                <a:pPr>
                  <a:lnSpc>
                    <a:spcPct val="150000"/>
                  </a:lnSpc>
                </a:pPr>
                <a:r>
                  <a:rPr lang="zh-CN" altLang="en-US" sz="2400" i="0" dirty="0">
                    <a:latin typeface="微软雅黑" panose="020B0503020204020204" pitchFamily="34" charset="-122"/>
                    <a:ea typeface="微软雅黑" panose="020B0503020204020204" pitchFamily="34" charset="-122"/>
                  </a:rPr>
                  <a:t>    等号成立时中心</a:t>
                </a:r>
                <a:r>
                  <a:rPr lang="zh-CN" altLang="en-US" sz="2400" dirty="0">
                    <a:latin typeface="微软雅黑" panose="020B0503020204020204" pitchFamily="34" charset="-122"/>
                    <a:ea typeface="微软雅黑" panose="020B0503020204020204" pitchFamily="34" charset="-122"/>
                  </a:rPr>
                  <a:t>蓝</a:t>
                </a:r>
                <a:r>
                  <a:rPr lang="zh-CN" altLang="en-US" sz="2400" i="0" dirty="0">
                    <a:latin typeface="微软雅黑" panose="020B0503020204020204" pitchFamily="34" charset="-122"/>
                    <a:ea typeface="微软雅黑" panose="020B0503020204020204" pitchFamily="34" charset="-122"/>
                  </a:rPr>
                  <a:t>圆退化为圆心一点</a:t>
                </a:r>
              </a:p>
              <a:p>
                <a:pPr>
                  <a:lnSpc>
                    <a:spcPct val="150000"/>
                  </a:lnSpc>
                </a:pPr>
                <a:endParaRPr lang="zh-CN" altLang="en-US" sz="2400" i="0" dirty="0">
                  <a:latin typeface="微软雅黑" panose="020B0503020204020204" pitchFamily="34" charset="-122"/>
                  <a:ea typeface="微软雅黑" panose="020B0503020204020204" pitchFamily="34" charset="-122"/>
                </a:endParaRPr>
              </a:p>
            </p:txBody>
          </p:sp>
        </mc:Choice>
        <mc:Fallback xmlns="">
          <p:sp>
            <p:nvSpPr>
              <p:cNvPr id="4" name="矩形 3">
                <a:extLst>
                  <a:ext uri="{FF2B5EF4-FFF2-40B4-BE49-F238E27FC236}">
                    <a16:creationId xmlns:a16="http://schemas.microsoft.com/office/drawing/2014/main" id="{ED7E8797-9604-46B0-AB38-81400C4E96ED}"/>
                  </a:ext>
                </a:extLst>
              </p:cNvPr>
              <p:cNvSpPr>
                <a:spLocks noRot="1" noChangeAspect="1" noMove="1" noResize="1" noEditPoints="1" noAdjustHandles="1" noChangeArrowheads="1" noChangeShapeType="1" noTextEdit="1"/>
              </p:cNvSpPr>
              <p:nvPr/>
            </p:nvSpPr>
            <p:spPr>
              <a:xfrm>
                <a:off x="144975" y="861348"/>
                <a:ext cx="8280108" cy="4459041"/>
              </a:xfrm>
              <a:prstGeom prst="rect">
                <a:avLst/>
              </a:prstGeom>
              <a:blipFill>
                <a:blip r:embed="rId2"/>
                <a:stretch>
                  <a:fillRect l="-1178" r="-4713"/>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423A2D79-C39D-4CEE-834F-E99A87ACFC67}"/>
              </a:ext>
            </a:extLst>
          </p:cNvPr>
          <p:cNvPicPr>
            <a:picLocks noChangeAspect="1"/>
          </p:cNvPicPr>
          <p:nvPr/>
        </p:nvPicPr>
        <p:blipFill>
          <a:blip r:embed="rId3"/>
          <a:stretch>
            <a:fillRect/>
          </a:stretch>
        </p:blipFill>
        <p:spPr>
          <a:xfrm>
            <a:off x="8716708" y="136521"/>
            <a:ext cx="3183667" cy="3183667"/>
          </a:xfrm>
          <a:prstGeom prst="rect">
            <a:avLst/>
          </a:prstGeom>
        </p:spPr>
      </p:pic>
      <p:pic>
        <p:nvPicPr>
          <p:cNvPr id="6" name="图片 5">
            <a:extLst>
              <a:ext uri="{FF2B5EF4-FFF2-40B4-BE49-F238E27FC236}">
                <a16:creationId xmlns:a16="http://schemas.microsoft.com/office/drawing/2014/main" id="{22FA7566-5BBE-4D7D-B003-F2E01A754D82}"/>
              </a:ext>
            </a:extLst>
          </p:cNvPr>
          <p:cNvPicPr>
            <a:picLocks noChangeAspect="1"/>
          </p:cNvPicPr>
          <p:nvPr/>
        </p:nvPicPr>
        <p:blipFill>
          <a:blip r:embed="rId4"/>
          <a:stretch>
            <a:fillRect/>
          </a:stretch>
        </p:blipFill>
        <p:spPr>
          <a:xfrm>
            <a:off x="8716708" y="3413483"/>
            <a:ext cx="3327969" cy="3327969"/>
          </a:xfrm>
          <a:prstGeom prst="rect">
            <a:avLst/>
          </a:prstGeom>
        </p:spPr>
      </p:pic>
    </p:spTree>
    <p:extLst>
      <p:ext uri="{BB962C8B-B14F-4D97-AF65-F5344CB8AC3E}">
        <p14:creationId xmlns:p14="http://schemas.microsoft.com/office/powerpoint/2010/main" val="171250716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051233-BA5A-435D-A0C5-5777321A93BF}"/>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25</a:t>
            </a:fld>
            <a:endParaRPr lang="zh-CN" altLang="en-US">
              <a:solidFill>
                <a:prstClr val="black">
                  <a:tint val="75000"/>
                </a:prstClr>
              </a:solidFill>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2DEEBE5-48F4-4C52-95BB-B4C26F74D912}"/>
                  </a:ext>
                </a:extLst>
              </p:cNvPr>
              <p:cNvSpPr/>
              <p:nvPr/>
            </p:nvSpPr>
            <p:spPr>
              <a:xfrm>
                <a:off x="274986" y="788986"/>
                <a:ext cx="10597966" cy="2243050"/>
              </a:xfrm>
              <a:prstGeom prst="rect">
                <a:avLst/>
              </a:prstGeom>
            </p:spPr>
            <p:txBody>
              <a:bodyPr wrap="square">
                <a:spAutoFit/>
              </a:bodyPr>
              <a:lstStyle/>
              <a:p>
                <a:pPr>
                  <a:lnSpc>
                    <a:spcPct val="150000"/>
                  </a:lnSpc>
                </a:pPr>
                <a:r>
                  <a:rPr lang="zh-CN" altLang="en-US" sz="2400" b="1" i="0" dirty="0">
                    <a:solidFill>
                      <a:srgbClr val="FF0000"/>
                    </a:solidFill>
                    <a:latin typeface="微软雅黑" panose="020B0503020204020204" pitchFamily="34" charset="-122"/>
                    <a:ea typeface="微软雅黑" panose="020B0503020204020204" pitchFamily="34" charset="-122"/>
                  </a:rPr>
                  <a:t>情况</a:t>
                </a:r>
                <a:r>
                  <a:rPr lang="en-US" altLang="zh-CN" sz="2400" b="1" dirty="0">
                    <a:solidFill>
                      <a:srgbClr val="FF0000"/>
                    </a:solidFill>
                    <a:latin typeface="微软雅黑" panose="020B0503020204020204" pitchFamily="34" charset="-122"/>
                    <a:ea typeface="微软雅黑" panose="020B0503020204020204" pitchFamily="34" charset="-122"/>
                  </a:rPr>
                  <a:t>5</a:t>
                </a:r>
                <a:r>
                  <a:rPr lang="zh-CN" altLang="en-US" sz="2400" b="1" i="0" dirty="0">
                    <a:solidFill>
                      <a:srgbClr val="FF0000"/>
                    </a:solidFill>
                    <a:latin typeface="微软雅黑" panose="020B0503020204020204" pitchFamily="34" charset="-122"/>
                    <a:ea typeface="微软雅黑" panose="020B0503020204020204" pitchFamily="34" charset="-122"/>
                  </a:rPr>
                  <a:t>：没有灵巧空间</a:t>
                </a:r>
                <a:r>
                  <a:rPr lang="zh-CN" altLang="en-US" sz="2400" i="0" dirty="0">
                    <a:latin typeface="微软雅黑" panose="020B0503020204020204" pitchFamily="34" charset="-122"/>
                    <a:ea typeface="微软雅黑" panose="020B0503020204020204" pitchFamily="34" charset="-122"/>
                  </a:rPr>
                  <a:t>，有两种状态；</a:t>
                </a:r>
              </a:p>
              <a:p>
                <a:pPr>
                  <a:lnSpc>
                    <a:spcPct val="150000"/>
                  </a:lnSpc>
                </a:pPr>
                <a:r>
                  <a:rPr lang="en-US" altLang="zh-CN" sz="2400" i="0" dirty="0">
                    <a:latin typeface="微软雅黑" panose="020B0503020204020204" pitchFamily="34" charset="-122"/>
                    <a:ea typeface="微软雅黑" panose="020B0503020204020204" pitchFamily="34" charset="-122"/>
                  </a:rPr>
                  <a:t>1</a:t>
                </a:r>
                <a:r>
                  <a:rPr lang="zh-CN" altLang="en-US" sz="2400" i="0" dirty="0">
                    <a:latin typeface="微软雅黑" panose="020B0503020204020204" pitchFamily="34" charset="-122"/>
                    <a:ea typeface="微软雅黑" panose="020B0503020204020204" pitchFamily="34" charset="-122"/>
                  </a:rPr>
                  <a:t>）左下图是由于黄色的圆比中心绿色圆小又不能完全落在灰色环状带内；即：</a:t>
                </a:r>
                <a:endParaRPr lang="en-US" altLang="zh-CN" sz="2400" i="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b="0" i="0"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2</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&gt;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2</m:t>
                        </m:r>
                      </m:sub>
                    </m:sSub>
                    <m:r>
                      <a:rPr lang="en-US" altLang="zh-CN" sz="2400" b="0" i="1" smtClean="0">
                        <a:latin typeface="Cambria Math" panose="02040503050406030204" pitchFamily="18" charset="0"/>
                        <a:ea typeface="微软雅黑" panose="020B0503020204020204" pitchFamily="34" charset="-122"/>
                      </a:rPr>
                      <m:t>−</m:t>
                    </m:r>
                    <m:d>
                      <m:dPr>
                        <m:begChr m:val="|"/>
                        <m:endChr m:val="|"/>
                        <m:ctrlPr>
                          <a:rPr lang="en-US" altLang="zh-CN" sz="2400" b="0" i="1" smtClean="0">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r>
                  <a:rPr lang="zh-CN" altLang="en-US" sz="2400" i="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且 </a:t>
                </a:r>
                <a14:m>
                  <m:oMath xmlns:m="http://schemas.openxmlformats.org/officeDocument/2006/math">
                    <m:sSub>
                      <m:sSubPr>
                        <m:ctrlPr>
                          <a:rPr lang="en-US" altLang="zh-CN" sz="2400" i="1">
                            <a:latin typeface="Cambria Math" panose="02040503050406030204" pitchFamily="18" charset="0"/>
                            <a:ea typeface="微软雅黑" panose="020B0503020204020204" pitchFamily="34" charset="-122"/>
                          </a:rPr>
                        </m:ctrlPr>
                      </m:sSubPr>
                      <m:e>
                        <m:r>
                          <a:rPr lang="en-US" altLang="zh-CN" sz="2400" i="1">
                            <a:latin typeface="Cambria Math" panose="02040503050406030204" pitchFamily="18" charset="0"/>
                            <a:ea typeface="微软雅黑" panose="020B0503020204020204" pitchFamily="34" charset="-122"/>
                          </a:rPr>
                          <m:t>𝐿</m:t>
                        </m:r>
                      </m:e>
                      <m:sub>
                        <m:r>
                          <a:rPr lang="en-US" altLang="zh-CN" sz="2400" i="1">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&lt;</m:t>
                    </m:r>
                    <m:d>
                      <m:dPr>
                        <m:begChr m:val="|"/>
                        <m:endChr m:val="|"/>
                        <m:ctrlPr>
                          <a:rPr lang="en-US" altLang="zh-CN" sz="2400" i="1">
                            <a:latin typeface="Cambria Math" panose="02040503050406030204" pitchFamily="18" charset="0"/>
                            <a:ea typeface="微软雅黑" panose="020B0503020204020204" pitchFamily="34" charset="-122"/>
                          </a:rPr>
                        </m:ctrlPr>
                      </m:dPr>
                      <m:e>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1</m:t>
                            </m:r>
                          </m:sub>
                        </m:sSub>
                        <m:r>
                          <a:rPr lang="en-US" altLang="zh-CN" sz="2400" i="1">
                            <a:latin typeface="Cambria Math" panose="02040503050406030204" pitchFamily="18" charset="0"/>
                            <a:ea typeface="微软雅黑" panose="020B0503020204020204" pitchFamily="34" charset="-122"/>
                          </a:rPr>
                          <m:t>−</m:t>
                        </m:r>
                        <m:sSub>
                          <m:sSubPr>
                            <m:ctrlPr>
                              <a:rPr lang="en-US" altLang="zh-CN" sz="2400" i="1">
                                <a:latin typeface="Cambria Math" panose="02040503050406030204" pitchFamily="18" charset="0"/>
                                <a:ea typeface="微软雅黑" panose="020B0503020204020204" pitchFamily="34" charset="-122"/>
                              </a:rPr>
                            </m:ctrlPr>
                          </m:sSubPr>
                          <m:e>
                            <m:r>
                              <a:rPr lang="en-US" altLang="zh-CN" sz="2400">
                                <a:latin typeface="Cambria Math" panose="02040503050406030204" pitchFamily="18" charset="0"/>
                                <a:ea typeface="微软雅黑" panose="020B0503020204020204" pitchFamily="34" charset="-122"/>
                              </a:rPr>
                              <m:t>𝐿</m:t>
                            </m:r>
                          </m:e>
                          <m:sub>
                            <m:r>
                              <a:rPr lang="en-US" altLang="zh-CN" sz="2400">
                                <a:latin typeface="Cambria Math" panose="02040503050406030204" pitchFamily="18" charset="0"/>
                                <a:ea typeface="微软雅黑" panose="020B0503020204020204" pitchFamily="34" charset="-122"/>
                              </a:rPr>
                              <m:t>2</m:t>
                            </m:r>
                          </m:sub>
                        </m:sSub>
                      </m:e>
                    </m:d>
                  </m:oMath>
                </a14:m>
                <a:endParaRPr lang="zh-CN" altLang="en-US" sz="2400" i="0" dirty="0">
                  <a:latin typeface="微软雅黑" panose="020B0503020204020204" pitchFamily="34" charset="-122"/>
                  <a:ea typeface="微软雅黑" panose="020B0503020204020204" pitchFamily="34" charset="-122"/>
                </a:endParaRPr>
              </a:p>
              <a:p>
                <a:pPr>
                  <a:lnSpc>
                    <a:spcPct val="150000"/>
                  </a:lnSpc>
                </a:pPr>
                <a:r>
                  <a:rPr lang="en-US" altLang="zh-CN" sz="2400" i="0" dirty="0">
                    <a:latin typeface="微软雅黑" panose="020B0503020204020204" pitchFamily="34" charset="-122"/>
                    <a:ea typeface="微软雅黑" panose="020B0503020204020204" pitchFamily="34" charset="-122"/>
                  </a:rPr>
                  <a:t>2</a:t>
                </a:r>
                <a:r>
                  <a:rPr lang="zh-CN" altLang="en-US" sz="2400" i="0" dirty="0">
                    <a:latin typeface="微软雅黑" panose="020B0503020204020204" pitchFamily="34" charset="-122"/>
                    <a:ea typeface="微软雅黑" panose="020B0503020204020204" pitchFamily="34" charset="-122"/>
                  </a:rPr>
                  <a:t>）右下图是由于黄色圆太大，无法完整落在在灰色环内，即</a:t>
                </a:r>
                <a14:m>
                  <m:oMath xmlns:m="http://schemas.openxmlformats.org/officeDocument/2006/math">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 </m:t>
                        </m:r>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3</m:t>
                        </m:r>
                      </m:sub>
                    </m:sSub>
                    <m:r>
                      <a:rPr lang="en-US" altLang="zh-CN" sz="2400" b="0" i="1" smtClean="0">
                        <a:latin typeface="Cambria Math" panose="02040503050406030204" pitchFamily="18" charset="0"/>
                        <a:ea typeface="微软雅黑" panose="020B0503020204020204" pitchFamily="34" charset="-122"/>
                      </a:rPr>
                      <m:t>&gt;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1</m:t>
                        </m:r>
                      </m:sub>
                    </m:sSub>
                    <m:r>
                      <a:rPr lang="en-US" altLang="zh-CN" sz="2400" b="0" i="1" smtClean="0">
                        <a:latin typeface="Cambria Math" panose="02040503050406030204" pitchFamily="18" charset="0"/>
                        <a:ea typeface="微软雅黑" panose="020B0503020204020204" pitchFamily="34" charset="-122"/>
                      </a:rPr>
                      <m:t>+</m:t>
                    </m:r>
                    <m:sSub>
                      <m:sSubPr>
                        <m:ctrlPr>
                          <a:rPr lang="en-US" altLang="zh-CN" sz="2400" b="0" i="1" smtClean="0">
                            <a:latin typeface="Cambria Math" panose="02040503050406030204" pitchFamily="18" charset="0"/>
                            <a:ea typeface="微软雅黑" panose="020B0503020204020204" pitchFamily="34" charset="-122"/>
                          </a:rPr>
                        </m:ctrlPr>
                      </m:sSubPr>
                      <m:e>
                        <m:r>
                          <a:rPr lang="en-US" altLang="zh-CN" sz="2400" b="0" i="1" smtClean="0">
                            <a:latin typeface="Cambria Math" panose="02040503050406030204" pitchFamily="18" charset="0"/>
                            <a:ea typeface="微软雅黑" panose="020B0503020204020204" pitchFamily="34" charset="-122"/>
                          </a:rPr>
                          <m:t>𝐿</m:t>
                        </m:r>
                      </m:e>
                      <m:sub>
                        <m:r>
                          <a:rPr lang="en-US" altLang="zh-CN" sz="2400" b="0" i="1" smtClean="0">
                            <a:latin typeface="Cambria Math" panose="02040503050406030204" pitchFamily="18" charset="0"/>
                            <a:ea typeface="微软雅黑" panose="020B0503020204020204" pitchFamily="34" charset="-122"/>
                          </a:rPr>
                          <m:t>2</m:t>
                        </m:r>
                      </m:sub>
                    </m:sSub>
                  </m:oMath>
                </a14:m>
                <a:endParaRPr lang="zh-CN" altLang="en-US" sz="2400" i="0"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92DEEBE5-48F4-4C52-95BB-B4C26F74D912}"/>
                  </a:ext>
                </a:extLst>
              </p:cNvPr>
              <p:cNvSpPr>
                <a:spLocks noRot="1" noChangeAspect="1" noMove="1" noResize="1" noEditPoints="1" noAdjustHandles="1" noChangeArrowheads="1" noChangeShapeType="1" noTextEdit="1"/>
              </p:cNvSpPr>
              <p:nvPr/>
            </p:nvSpPr>
            <p:spPr>
              <a:xfrm>
                <a:off x="274986" y="788986"/>
                <a:ext cx="10597966" cy="2243050"/>
              </a:xfrm>
              <a:prstGeom prst="rect">
                <a:avLst/>
              </a:prstGeom>
              <a:blipFill>
                <a:blip r:embed="rId2"/>
                <a:stretch>
                  <a:fillRect l="-863" r="-2070" b="-543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5DE3873-DAE0-4079-93BF-01B82AA89691}"/>
              </a:ext>
            </a:extLst>
          </p:cNvPr>
          <p:cNvPicPr>
            <a:picLocks noChangeAspect="1"/>
          </p:cNvPicPr>
          <p:nvPr/>
        </p:nvPicPr>
        <p:blipFill>
          <a:blip r:embed="rId3"/>
          <a:stretch>
            <a:fillRect/>
          </a:stretch>
        </p:blipFill>
        <p:spPr>
          <a:xfrm>
            <a:off x="4394601" y="3136912"/>
            <a:ext cx="3584567" cy="3584567"/>
          </a:xfrm>
          <a:prstGeom prst="rect">
            <a:avLst/>
          </a:prstGeom>
        </p:spPr>
      </p:pic>
      <p:pic>
        <p:nvPicPr>
          <p:cNvPr id="5" name="图片 4">
            <a:extLst>
              <a:ext uri="{FF2B5EF4-FFF2-40B4-BE49-F238E27FC236}">
                <a16:creationId xmlns:a16="http://schemas.microsoft.com/office/drawing/2014/main" id="{BA83C285-2C1C-4C06-AE18-155C066315AE}"/>
              </a:ext>
            </a:extLst>
          </p:cNvPr>
          <p:cNvPicPr>
            <a:picLocks noChangeAspect="1"/>
          </p:cNvPicPr>
          <p:nvPr/>
        </p:nvPicPr>
        <p:blipFill>
          <a:blip r:embed="rId4"/>
          <a:stretch>
            <a:fillRect/>
          </a:stretch>
        </p:blipFill>
        <p:spPr>
          <a:xfrm>
            <a:off x="8222073" y="3079531"/>
            <a:ext cx="3887994" cy="3745128"/>
          </a:xfrm>
          <a:prstGeom prst="rect">
            <a:avLst/>
          </a:prstGeom>
        </p:spPr>
      </p:pic>
      <p:sp>
        <p:nvSpPr>
          <p:cNvPr id="6" name="文本框 5">
            <a:extLst>
              <a:ext uri="{FF2B5EF4-FFF2-40B4-BE49-F238E27FC236}">
                <a16:creationId xmlns:a16="http://schemas.microsoft.com/office/drawing/2014/main" id="{00A625B5-0AEB-4684-8FA5-6A3396A61611}"/>
              </a:ext>
            </a:extLst>
          </p:cNvPr>
          <p:cNvSpPr txBox="1"/>
          <p:nvPr/>
        </p:nvSpPr>
        <p:spPr>
          <a:xfrm>
            <a:off x="0" y="33341"/>
            <a:ext cx="12192000" cy="584775"/>
          </a:xfrm>
          <a:prstGeom prst="rect">
            <a:avLst/>
          </a:prstGeom>
          <a:noFill/>
        </p:spPr>
        <p:txBody>
          <a:bodyPr wrap="square" rtlCol="0">
            <a:spAutoFit/>
          </a:bodyPr>
          <a:lstStyle/>
          <a:p>
            <a:r>
              <a:rPr lang="en-US" altLang="zh-CN" sz="3200" b="1" dirty="0">
                <a:solidFill>
                  <a:srgbClr val="9D1317"/>
                </a:solidFill>
                <a:latin typeface="微软雅黑" panose="020B0503020204020204" pitchFamily="34" charset="-122"/>
                <a:ea typeface="微软雅黑" panose="020B0503020204020204" pitchFamily="34" charset="-122"/>
              </a:rPr>
              <a:t>3.3 3R</a:t>
            </a:r>
            <a:r>
              <a:rPr lang="zh-CN" altLang="en-US" sz="3200" b="1" dirty="0">
                <a:solidFill>
                  <a:srgbClr val="9D1317"/>
                </a:solidFill>
                <a:latin typeface="微软雅黑" panose="020B0503020204020204" pitchFamily="34" charset="-122"/>
                <a:ea typeface="微软雅黑" panose="020B0503020204020204" pitchFamily="34" charset="-122"/>
              </a:rPr>
              <a:t>操作臂灵巧空间的详细分析</a:t>
            </a:r>
          </a:p>
        </p:txBody>
      </p:sp>
    </p:spTree>
    <p:extLst>
      <p:ext uri="{BB962C8B-B14F-4D97-AF65-F5344CB8AC3E}">
        <p14:creationId xmlns:p14="http://schemas.microsoft.com/office/powerpoint/2010/main" val="233696108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049EA65-8B1D-4E75-9097-198565641DEE}"/>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26</a:t>
            </a:fld>
            <a:endParaRPr lang="zh-CN" altLang="en-US">
              <a:solidFill>
                <a:prstClr val="black">
                  <a:tint val="75000"/>
                </a:prstClr>
              </a:solidFill>
            </a:endParaRPr>
          </a:p>
        </p:txBody>
      </p:sp>
      <p:sp>
        <p:nvSpPr>
          <p:cNvPr id="8" name="文本框 7">
            <a:extLst>
              <a:ext uri="{FF2B5EF4-FFF2-40B4-BE49-F238E27FC236}">
                <a16:creationId xmlns:a16="http://schemas.microsoft.com/office/drawing/2014/main" id="{7ED33A7D-4250-4333-BE76-293288AE714A}"/>
              </a:ext>
            </a:extLst>
          </p:cNvPr>
          <p:cNvSpPr txBox="1"/>
          <p:nvPr/>
        </p:nvSpPr>
        <p:spPr>
          <a:xfrm>
            <a:off x="0" y="33341"/>
            <a:ext cx="12192000" cy="584775"/>
          </a:xfrm>
          <a:prstGeom prst="rect">
            <a:avLst/>
          </a:prstGeom>
          <a:noFill/>
        </p:spPr>
        <p:txBody>
          <a:bodyPr wrap="square" rtlCol="0">
            <a:spAutoFit/>
          </a:bodyPr>
          <a:lstStyle/>
          <a:p>
            <a:pPr algn="ctr"/>
            <a:r>
              <a:rPr lang="zh-CN" altLang="en-US" sz="3200" b="1" dirty="0">
                <a:solidFill>
                  <a:srgbClr val="9D1317"/>
                </a:solidFill>
                <a:latin typeface="微软雅黑" panose="020B0503020204020204" pitchFamily="34" charset="-122"/>
                <a:ea typeface="微软雅黑" panose="020B0503020204020204" pitchFamily="34" charset="-122"/>
              </a:rPr>
              <a:t>作 业</a:t>
            </a:r>
          </a:p>
        </p:txBody>
      </p:sp>
      <p:pic>
        <p:nvPicPr>
          <p:cNvPr id="6" name="图片 5">
            <a:extLst>
              <a:ext uri="{FF2B5EF4-FFF2-40B4-BE49-F238E27FC236}">
                <a16:creationId xmlns:a16="http://schemas.microsoft.com/office/drawing/2014/main" id="{50787702-1B85-41BC-9EAB-B704D6647E71}"/>
              </a:ext>
            </a:extLst>
          </p:cNvPr>
          <p:cNvPicPr>
            <a:picLocks noChangeAspect="1"/>
          </p:cNvPicPr>
          <p:nvPr/>
        </p:nvPicPr>
        <p:blipFill>
          <a:blip r:embed="rId3"/>
          <a:stretch>
            <a:fillRect/>
          </a:stretch>
        </p:blipFill>
        <p:spPr>
          <a:xfrm>
            <a:off x="4360150" y="2079388"/>
            <a:ext cx="7795064" cy="4745271"/>
          </a:xfrm>
          <a:prstGeom prst="rect">
            <a:avLst/>
          </a:prstGeom>
        </p:spPr>
      </p:pic>
      <p:pic>
        <p:nvPicPr>
          <p:cNvPr id="12" name="图片 11">
            <a:extLst>
              <a:ext uri="{FF2B5EF4-FFF2-40B4-BE49-F238E27FC236}">
                <a16:creationId xmlns:a16="http://schemas.microsoft.com/office/drawing/2014/main" id="{E48C3191-0482-4DA4-B52A-7C06C24F567B}"/>
              </a:ext>
            </a:extLst>
          </p:cNvPr>
          <p:cNvPicPr>
            <a:picLocks noChangeAspect="1"/>
          </p:cNvPicPr>
          <p:nvPr/>
        </p:nvPicPr>
        <p:blipFill rotWithShape="1">
          <a:blip r:embed="rId4">
            <a:biLevel thresh="50000"/>
          </a:blip>
          <a:srcRect b="32885"/>
          <a:stretch/>
        </p:blipFill>
        <p:spPr>
          <a:xfrm>
            <a:off x="361349" y="813172"/>
            <a:ext cx="11607373" cy="805422"/>
          </a:xfrm>
          <a:prstGeom prst="rect">
            <a:avLst/>
          </a:prstGeom>
        </p:spPr>
      </p:pic>
      <p:sp>
        <p:nvSpPr>
          <p:cNvPr id="13" name="文本框 12">
            <a:extLst>
              <a:ext uri="{FF2B5EF4-FFF2-40B4-BE49-F238E27FC236}">
                <a16:creationId xmlns:a16="http://schemas.microsoft.com/office/drawing/2014/main" id="{0408315C-43B2-4298-A263-6AFB62B78037}"/>
              </a:ext>
            </a:extLst>
          </p:cNvPr>
          <p:cNvSpPr txBox="1"/>
          <p:nvPr/>
        </p:nvSpPr>
        <p:spPr>
          <a:xfrm>
            <a:off x="287780" y="842768"/>
            <a:ext cx="1410844" cy="338554"/>
          </a:xfrm>
          <a:prstGeom prst="rect">
            <a:avLst/>
          </a:prstGeom>
          <a:solidFill>
            <a:schemeClr val="bg1"/>
          </a:solidFill>
        </p:spPr>
        <p:txBody>
          <a:bodyPr wrap="square" rtlCol="0">
            <a:spAutoFit/>
          </a:bodyPr>
          <a:lstStyle/>
          <a:p>
            <a:pPr algn="r"/>
            <a:r>
              <a:rPr lang="zh-CN" altLang="en-US" sz="1600" b="1" dirty="0">
                <a:latin typeface="微软雅黑" panose="020B0503020204020204" pitchFamily="34" charset="-122"/>
                <a:ea typeface="微软雅黑" panose="020B0503020204020204" pitchFamily="34" charset="-122"/>
              </a:rPr>
              <a:t>下图</a:t>
            </a:r>
          </a:p>
        </p:txBody>
      </p:sp>
      <p:sp>
        <p:nvSpPr>
          <p:cNvPr id="14" name="文本框 13">
            <a:extLst>
              <a:ext uri="{FF2B5EF4-FFF2-40B4-BE49-F238E27FC236}">
                <a16:creationId xmlns:a16="http://schemas.microsoft.com/office/drawing/2014/main" id="{E5B4EF9A-4ACB-4AC8-934D-D96E1DDC396D}"/>
              </a:ext>
            </a:extLst>
          </p:cNvPr>
          <p:cNvSpPr txBox="1"/>
          <p:nvPr/>
        </p:nvSpPr>
        <p:spPr>
          <a:xfrm>
            <a:off x="287780" y="1664325"/>
            <a:ext cx="2031325"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注意：初始构型为</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FACC4A0-E6ED-43AF-9F91-3E5660DA5ADC}"/>
                  </a:ext>
                </a:extLst>
              </p:cNvPr>
              <p:cNvSpPr txBox="1"/>
              <p:nvPr/>
            </p:nvSpPr>
            <p:spPr>
              <a:xfrm>
                <a:off x="2195404" y="1642827"/>
                <a:ext cx="4736168" cy="400110"/>
              </a:xfrm>
              <a:prstGeom prst="rect">
                <a:avLst/>
              </a:prstGeom>
              <a:noFill/>
            </p:spPr>
            <p:txBody>
              <a:bodyPr wrap="square">
                <a:spAutoFit/>
              </a:bodyPr>
              <a:lstStyle/>
              <a:p>
                <a14:m>
                  <m:oMath xmlns:m="http://schemas.openxmlformats.org/officeDocument/2006/math">
                    <m:d>
                      <m:dPr>
                        <m:begChr m:val="["/>
                        <m:endChr m:val="]"/>
                        <m:ctrlPr>
                          <a:rPr lang="zh-CN" altLang="en-US" sz="2000" b="1" i="1" smtClean="0">
                            <a:solidFill>
                              <a:srgbClr val="FF0000"/>
                            </a:solidFill>
                            <a:latin typeface="Cambria Math" panose="02040503050406030204" pitchFamily="18" charset="0"/>
                          </a:rPr>
                        </m:ctrlPr>
                      </m:dPr>
                      <m:e>
                        <m:sSub>
                          <m:sSubPr>
                            <m:ctrlPr>
                              <a:rPr lang="zh-CN" altLang="en-US" sz="2000" b="1" i="1">
                                <a:solidFill>
                                  <a:srgbClr val="FF0000"/>
                                </a:solidFill>
                                <a:latin typeface="Cambria Math" panose="02040503050406030204" pitchFamily="18" charset="0"/>
                              </a:rPr>
                            </m:ctrlPr>
                          </m:sSubPr>
                          <m:e>
                            <m:r>
                              <a:rPr lang="zh-CN" altLang="en-US" sz="2000" b="1" i="1">
                                <a:solidFill>
                                  <a:srgbClr val="FF0000"/>
                                </a:solidFill>
                                <a:latin typeface="Cambria Math" panose="02040503050406030204" pitchFamily="18" charset="0"/>
                              </a:rPr>
                              <m:t>𝜽</m:t>
                            </m:r>
                          </m:e>
                          <m:sub>
                            <m:r>
                              <a:rPr lang="zh-CN" altLang="en-US" sz="2000" b="1" i="0">
                                <a:solidFill>
                                  <a:srgbClr val="FF0000"/>
                                </a:solidFill>
                                <a:latin typeface="Cambria Math" panose="02040503050406030204" pitchFamily="18" charset="0"/>
                              </a:rPr>
                              <m:t>𝟏</m:t>
                            </m:r>
                          </m:sub>
                        </m:sSub>
                        <m:r>
                          <a:rPr lang="zh-CN" altLang="en-US" sz="2000" b="1" i="0">
                            <a:solidFill>
                              <a:srgbClr val="FF0000"/>
                            </a:solidFill>
                            <a:latin typeface="Cambria Math" panose="02040503050406030204" pitchFamily="18" charset="0"/>
                          </a:rPr>
                          <m:t>  </m:t>
                        </m:r>
                        <m:sSub>
                          <m:sSubPr>
                            <m:ctrlPr>
                              <a:rPr lang="zh-CN" altLang="en-US" sz="2000" b="1" i="1">
                                <a:solidFill>
                                  <a:srgbClr val="FF0000"/>
                                </a:solidFill>
                                <a:latin typeface="Cambria Math" panose="02040503050406030204" pitchFamily="18" charset="0"/>
                              </a:rPr>
                            </m:ctrlPr>
                          </m:sSubPr>
                          <m:e>
                            <m:r>
                              <a:rPr lang="zh-CN" altLang="en-US" sz="2000" b="1" i="1">
                                <a:solidFill>
                                  <a:srgbClr val="FF0000"/>
                                </a:solidFill>
                                <a:latin typeface="Cambria Math" panose="02040503050406030204" pitchFamily="18" charset="0"/>
                              </a:rPr>
                              <m:t>𝜽</m:t>
                            </m:r>
                          </m:e>
                          <m:sub>
                            <m:r>
                              <a:rPr lang="zh-CN" altLang="en-US" sz="2000" b="1" i="0">
                                <a:solidFill>
                                  <a:srgbClr val="FF0000"/>
                                </a:solidFill>
                                <a:latin typeface="Cambria Math" panose="02040503050406030204" pitchFamily="18" charset="0"/>
                              </a:rPr>
                              <m:t>𝟐</m:t>
                            </m:r>
                          </m:sub>
                        </m:sSub>
                        <m:r>
                          <a:rPr lang="zh-CN" altLang="en-US" sz="2000" b="1" i="0">
                            <a:solidFill>
                              <a:srgbClr val="FF0000"/>
                            </a:solidFill>
                            <a:latin typeface="Cambria Math" panose="02040503050406030204" pitchFamily="18" charset="0"/>
                          </a:rPr>
                          <m:t>  </m:t>
                        </m:r>
                        <m:sSub>
                          <m:sSubPr>
                            <m:ctrlPr>
                              <a:rPr lang="zh-CN" altLang="en-US" sz="2000" b="1" i="1">
                                <a:solidFill>
                                  <a:srgbClr val="FF0000"/>
                                </a:solidFill>
                                <a:latin typeface="Cambria Math" panose="02040503050406030204" pitchFamily="18" charset="0"/>
                              </a:rPr>
                            </m:ctrlPr>
                          </m:sSubPr>
                          <m:e>
                            <m:r>
                              <a:rPr lang="zh-CN" altLang="en-US" sz="2000" b="1" i="1">
                                <a:solidFill>
                                  <a:srgbClr val="FF0000"/>
                                </a:solidFill>
                                <a:latin typeface="Cambria Math" panose="02040503050406030204" pitchFamily="18" charset="0"/>
                              </a:rPr>
                              <m:t>𝜽</m:t>
                            </m:r>
                          </m:e>
                          <m:sub>
                            <m:r>
                              <a:rPr lang="zh-CN" altLang="en-US" sz="2000" b="1" i="0">
                                <a:solidFill>
                                  <a:srgbClr val="FF0000"/>
                                </a:solidFill>
                                <a:latin typeface="Cambria Math" panose="02040503050406030204" pitchFamily="18" charset="0"/>
                              </a:rPr>
                              <m:t>𝟑</m:t>
                            </m:r>
                          </m:sub>
                        </m:sSub>
                        <m:r>
                          <a:rPr lang="en-US" altLang="zh-CN" sz="2000" b="1" i="1" smtClean="0">
                            <a:solidFill>
                              <a:srgbClr val="FF0000"/>
                            </a:solidFill>
                            <a:latin typeface="Cambria Math" panose="02040503050406030204" pitchFamily="18" charset="0"/>
                          </a:rPr>
                          <m:t>  </m:t>
                        </m:r>
                        <m:r>
                          <a:rPr lang="en-US" altLang="zh-CN" sz="2000" b="1" i="1" smtClean="0">
                            <a:solidFill>
                              <a:srgbClr val="FF0000"/>
                            </a:solidFill>
                            <a:latin typeface="Cambria Math" panose="02040503050406030204" pitchFamily="18" charset="0"/>
                          </a:rPr>
                          <m:t>𝟎</m:t>
                        </m:r>
                      </m:e>
                    </m:d>
                    <m:r>
                      <a:rPr lang="en-US" altLang="zh-CN" sz="2000" b="1" i="1" baseline="30000" smtClean="0">
                        <a:solidFill>
                          <a:srgbClr val="FF0000"/>
                        </a:solidFill>
                        <a:latin typeface="Cambria Math" panose="02040503050406030204" pitchFamily="18" charset="0"/>
                      </a:rPr>
                      <m:t>𝑻</m:t>
                    </m:r>
                    <m:r>
                      <a:rPr lang="zh-CN" altLang="en-US" sz="2000" b="1" i="0">
                        <a:solidFill>
                          <a:srgbClr val="FF0000"/>
                        </a:solidFill>
                        <a:latin typeface="Cambria Math" panose="02040503050406030204" pitchFamily="18" charset="0"/>
                      </a:rPr>
                      <m:t>=</m:t>
                    </m:r>
                    <m:d>
                      <m:dPr>
                        <m:begChr m:val="["/>
                        <m:endChr m:val="]"/>
                        <m:ctrlPr>
                          <a:rPr lang="zh-CN" altLang="en-US" sz="2000" b="1" i="1">
                            <a:solidFill>
                              <a:srgbClr val="FF0000"/>
                            </a:solidFill>
                            <a:latin typeface="Cambria Math" panose="02040503050406030204" pitchFamily="18" charset="0"/>
                          </a:rPr>
                        </m:ctrlPr>
                      </m:dPr>
                      <m:e>
                        <m:r>
                          <a:rPr lang="zh-CN" altLang="en-US" sz="2000" b="1" i="0">
                            <a:solidFill>
                              <a:srgbClr val="FF0000"/>
                            </a:solidFill>
                            <a:latin typeface="Cambria Math" panose="02040503050406030204" pitchFamily="18" charset="0"/>
                          </a:rPr>
                          <m:t>𝟎</m:t>
                        </m:r>
                        <m:r>
                          <a:rPr lang="zh-CN" altLang="en-US" sz="2000" b="1" i="0">
                            <a:solidFill>
                              <a:srgbClr val="FF0000"/>
                            </a:solidFill>
                            <a:latin typeface="Cambria Math" panose="02040503050406030204" pitchFamily="18" charset="0"/>
                          </a:rPr>
                          <m:t>   </m:t>
                        </m:r>
                        <m:r>
                          <a:rPr lang="zh-CN" altLang="en-US" sz="2000" b="1" i="0">
                            <a:solidFill>
                              <a:srgbClr val="FF0000"/>
                            </a:solidFill>
                            <a:latin typeface="Cambria Math" panose="02040503050406030204" pitchFamily="18" charset="0"/>
                          </a:rPr>
                          <m:t>𝟗𝟎</m:t>
                        </m:r>
                        <m:r>
                          <a:rPr lang="zh-CN" altLang="en-US" sz="2000" b="1" i="0">
                            <a:solidFill>
                              <a:srgbClr val="FF0000"/>
                            </a:solidFill>
                            <a:latin typeface="Cambria Math" panose="02040503050406030204" pitchFamily="18" charset="0"/>
                          </a:rPr>
                          <m:t>°   −</m:t>
                        </m:r>
                        <m:r>
                          <a:rPr lang="zh-CN" altLang="en-US" sz="2000" b="1" i="0">
                            <a:solidFill>
                              <a:srgbClr val="FF0000"/>
                            </a:solidFill>
                            <a:latin typeface="Cambria Math" panose="02040503050406030204" pitchFamily="18" charset="0"/>
                          </a:rPr>
                          <m:t>𝟗𝟎</m:t>
                        </m:r>
                        <m:r>
                          <a:rPr lang="zh-CN" altLang="en-US" sz="2000" b="1" i="0">
                            <a:solidFill>
                              <a:srgbClr val="FF0000"/>
                            </a:solidFill>
                            <a:latin typeface="Cambria Math" panose="02040503050406030204" pitchFamily="18" charset="0"/>
                          </a:rPr>
                          <m:t>°</m:t>
                        </m:r>
                        <m:r>
                          <a:rPr lang="en-US" altLang="zh-CN" sz="2000" b="1" i="1" smtClean="0">
                            <a:solidFill>
                              <a:srgbClr val="FF0000"/>
                            </a:solidFill>
                            <a:latin typeface="Cambria Math" panose="02040503050406030204" pitchFamily="18" charset="0"/>
                          </a:rPr>
                          <m:t>   </m:t>
                        </m:r>
                        <m:r>
                          <a:rPr lang="en-US" altLang="zh-CN" sz="2000" b="1" i="1" smtClean="0">
                            <a:solidFill>
                              <a:srgbClr val="FF0000"/>
                            </a:solidFill>
                            <a:latin typeface="Cambria Math" panose="02040503050406030204" pitchFamily="18" charset="0"/>
                          </a:rPr>
                          <m:t>𝟎</m:t>
                        </m:r>
                      </m:e>
                    </m:d>
                  </m:oMath>
                </a14:m>
                <a:r>
                  <a:rPr lang="en-US" altLang="zh-CN" sz="2000" b="1" baseline="30000" dirty="0">
                    <a:solidFill>
                      <a:srgbClr val="FF0000"/>
                    </a:solidFill>
                  </a:rPr>
                  <a:t> </a:t>
                </a:r>
                <a14:m>
                  <m:oMath xmlns:m="http://schemas.openxmlformats.org/officeDocument/2006/math">
                    <m:r>
                      <a:rPr lang="en-US" altLang="zh-CN" sz="2000" b="1" i="1" baseline="30000">
                        <a:solidFill>
                          <a:srgbClr val="FF0000"/>
                        </a:solidFill>
                        <a:latin typeface="Cambria Math" panose="02040503050406030204" pitchFamily="18" charset="0"/>
                      </a:rPr>
                      <m:t>𝑻</m:t>
                    </m:r>
                  </m:oMath>
                </a14:m>
                <a:endParaRPr lang="zh-CN" altLang="en-US" sz="2000" b="1" dirty="0">
                  <a:solidFill>
                    <a:srgbClr val="FF0000"/>
                  </a:solidFill>
                </a:endParaRPr>
              </a:p>
            </p:txBody>
          </p:sp>
        </mc:Choice>
        <mc:Fallback xmlns="">
          <p:sp>
            <p:nvSpPr>
              <p:cNvPr id="18" name="文本框 17">
                <a:extLst>
                  <a:ext uri="{FF2B5EF4-FFF2-40B4-BE49-F238E27FC236}">
                    <a16:creationId xmlns:a16="http://schemas.microsoft.com/office/drawing/2014/main" id="{BFACC4A0-E6ED-43AF-9F91-3E5660DA5ADC}"/>
                  </a:ext>
                </a:extLst>
              </p:cNvPr>
              <p:cNvSpPr txBox="1">
                <a:spLocks noRot="1" noChangeAspect="1" noMove="1" noResize="1" noEditPoints="1" noAdjustHandles="1" noChangeArrowheads="1" noChangeShapeType="1" noTextEdit="1"/>
              </p:cNvSpPr>
              <p:nvPr/>
            </p:nvSpPr>
            <p:spPr>
              <a:xfrm>
                <a:off x="2195404" y="1642827"/>
                <a:ext cx="4736168" cy="400110"/>
              </a:xfrm>
              <a:prstGeom prst="rect">
                <a:avLst/>
              </a:prstGeom>
              <a:blipFill>
                <a:blip r:embed="rId5"/>
                <a:stretch>
                  <a:fillRect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2278B8B-7EE8-45ED-9D0E-67BCAEF83442}"/>
                  </a:ext>
                </a:extLst>
              </p:cNvPr>
              <p:cNvSpPr txBox="1"/>
              <p:nvPr/>
            </p:nvSpPr>
            <p:spPr>
              <a:xfrm>
                <a:off x="98593" y="2331994"/>
                <a:ext cx="4105546" cy="1224566"/>
              </a:xfrm>
              <a:prstGeom prst="rect">
                <a:avLst/>
              </a:prstGeom>
              <a:noFill/>
            </p:spPr>
            <p:txBody>
              <a:bodyPr wrap="square" rtlCol="0">
                <a:spAutoFit/>
              </a:bodyPr>
              <a:lstStyle/>
              <a:p>
                <a:pPr marL="446088" indent="-446088">
                  <a:lnSpc>
                    <a:spcPct val="125000"/>
                  </a:lnSpc>
                  <a:spcAft>
                    <a:spcPts val="600"/>
                  </a:spcAft>
                </a:pPr>
                <a:r>
                  <a:rPr lang="zh-CN" altLang="en-US" sz="2000" b="1" dirty="0">
                    <a:latin typeface="微软雅黑" panose="020B0503020204020204" pitchFamily="34" charset="-122"/>
                    <a:ea typeface="微软雅黑" panose="020B0503020204020204" pitchFamily="34" charset="-122"/>
                  </a:rPr>
                  <a:t>题</a:t>
                </a:r>
                <a:r>
                  <a:rPr lang="en-US" altLang="zh-CN" sz="2000" b="1" dirty="0">
                    <a:latin typeface="微软雅黑" panose="020B0503020204020204" pitchFamily="34" charset="-122"/>
                    <a:ea typeface="微软雅黑" panose="020B0503020204020204" pitchFamily="34" charset="-122"/>
                  </a:rPr>
                  <a:t>1. </a:t>
                </a:r>
                <a:r>
                  <a:rPr lang="zh-CN" altLang="en-US" sz="2000" b="1" dirty="0">
                    <a:latin typeface="微软雅黑" panose="020B0503020204020204" pitchFamily="34" charset="-122"/>
                    <a:ea typeface="微软雅黑" panose="020B0503020204020204" pitchFamily="34" charset="-122"/>
                  </a:rPr>
                  <a:t>定义该操作臂的关节坐标系，写出</a:t>
                </a:r>
                <a:r>
                  <a:rPr lang="en-US" altLang="zh-CN" sz="2000" b="1" dirty="0">
                    <a:latin typeface="微软雅黑" panose="020B0503020204020204" pitchFamily="34" charset="-122"/>
                    <a:ea typeface="微软雅黑" panose="020B0503020204020204" pitchFamily="34" charset="-122"/>
                  </a:rPr>
                  <a:t>DH</a:t>
                </a:r>
                <a:r>
                  <a:rPr lang="zh-CN" altLang="en-US" sz="2000" b="1" dirty="0">
                    <a:latin typeface="微软雅黑" panose="020B0503020204020204" pitchFamily="34" charset="-122"/>
                    <a:ea typeface="微软雅黑" panose="020B0503020204020204" pitchFamily="34" charset="-122"/>
                  </a:rPr>
                  <a:t>参数表；</a:t>
                </a:r>
                <a:r>
                  <a:rPr lang="zh-CN" altLang="en-US" sz="2000" b="1" dirty="0">
                    <a:solidFill>
                      <a:srgbClr val="222222"/>
                    </a:solidFill>
                    <a:latin typeface="微软雅黑" panose="020B0503020204020204" pitchFamily="34" charset="-122"/>
                    <a:ea typeface="微软雅黑" panose="020B0503020204020204" pitchFamily="34" charset="-122"/>
                  </a:rPr>
                  <a:t>分别</a:t>
                </a:r>
                <a14:m>
                  <m:oMath xmlns:m="http://schemas.openxmlformats.org/officeDocument/2006/math">
                    <m:r>
                      <m:rPr>
                        <m:nor/>
                      </m:rPr>
                      <a:rPr lang="zh-CN" altLang="en-US" sz="2000" b="1" dirty="0">
                        <a:solidFill>
                          <a:srgbClr val="222222"/>
                        </a:solidFill>
                        <a:latin typeface="微软雅黑" panose="020B0503020204020204" pitchFamily="34" charset="-122"/>
                        <a:ea typeface="微软雅黑" panose="020B0503020204020204" pitchFamily="34" charset="-122"/>
                      </a:rPr>
                      <m:t>求出</m:t>
                    </m:r>
                    <m:r>
                      <a:rPr lang="en-US" altLang="zh-CN" sz="2000" b="1" i="0" dirty="0" smtClean="0">
                        <a:solidFill>
                          <a:srgbClr val="222222"/>
                        </a:solidFill>
                        <a:latin typeface="Cambria Math" panose="02040503050406030204" pitchFamily="18" charset="0"/>
                        <a:ea typeface="微软雅黑" panose="020B0503020204020204" pitchFamily="34" charset="-122"/>
                      </a:rPr>
                      <m:t> </m:t>
                    </m:r>
                    <m:sPre>
                      <m:sPrePr>
                        <m:ctrlPr>
                          <a:rPr lang="en-US" altLang="zh-CN" sz="2000" b="1" i="1">
                            <a:solidFill>
                              <a:srgbClr val="222222"/>
                            </a:solidFill>
                            <a:latin typeface="Cambria Math" panose="02040503050406030204" pitchFamily="18" charset="0"/>
                            <a:ea typeface="微软雅黑" panose="020B0503020204020204" pitchFamily="34" charset="-122"/>
                          </a:rPr>
                        </m:ctrlPr>
                      </m:sPrePr>
                      <m:sub>
                        <m:r>
                          <a:rPr lang="en-US" altLang="zh-CN" sz="2000" b="1">
                            <a:solidFill>
                              <a:srgbClr val="222222"/>
                            </a:solidFill>
                            <a:latin typeface="Cambria Math" panose="02040503050406030204" pitchFamily="18" charset="0"/>
                            <a:ea typeface="微软雅黑" panose="020B0503020204020204" pitchFamily="34" charset="-122"/>
                          </a:rPr>
                          <m:t>1</m:t>
                        </m:r>
                      </m:sub>
                      <m:sup>
                        <m:r>
                          <a:rPr lang="en-US" altLang="zh-CN" sz="2000" b="1">
                            <a:solidFill>
                              <a:srgbClr val="222222"/>
                            </a:solidFill>
                            <a:latin typeface="Cambria Math" panose="02040503050406030204" pitchFamily="18" charset="0"/>
                            <a:ea typeface="微软雅黑" panose="020B0503020204020204" pitchFamily="34" charset="-122"/>
                          </a:rPr>
                          <m:t>0</m:t>
                        </m:r>
                      </m:sup>
                      <m:e>
                        <m:r>
                          <a:rPr lang="en-US" altLang="zh-CN" sz="2000" b="1">
                            <a:solidFill>
                              <a:srgbClr val="222222"/>
                            </a:solidFill>
                            <a:latin typeface="Cambria Math" panose="02040503050406030204" pitchFamily="18" charset="0"/>
                            <a:ea typeface="微软雅黑" panose="020B0503020204020204" pitchFamily="34" charset="-122"/>
                          </a:rPr>
                          <m:t>𝑇</m:t>
                        </m:r>
                      </m:e>
                    </m:sPre>
                  </m:oMath>
                </a14:m>
                <a:r>
                  <a:rPr lang="en-US" altLang="zh-CN" sz="2000" i="0" dirty="0">
                    <a:solidFill>
                      <a:srgbClr val="222222"/>
                    </a:solidFill>
                    <a:latin typeface="微软雅黑" panose="020B0503020204020204" pitchFamily="34" charset="-122"/>
                    <a:ea typeface="微软雅黑" panose="020B0503020204020204" pitchFamily="34" charset="-122"/>
                  </a:rPr>
                  <a:t>, </a:t>
                </a:r>
                <a14:m>
                  <m:oMath xmlns:m="http://schemas.openxmlformats.org/officeDocument/2006/math">
                    <m:sPre>
                      <m:sPrePr>
                        <m:ctrlPr>
                          <a:rPr lang="en-US" altLang="zh-CN" sz="2000" i="1">
                            <a:latin typeface="Cambria Math" panose="02040503050406030204" pitchFamily="18" charset="0"/>
                          </a:rPr>
                        </m:ctrlPr>
                      </m:sPrePr>
                      <m:sub>
                        <m:r>
                          <a:rPr lang="en-US" altLang="zh-CN" sz="2000" b="0" i="1" smtClean="0">
                            <a:latin typeface="Cambria Math" panose="02040503050406030204" pitchFamily="18" charset="0"/>
                          </a:rPr>
                          <m:t>2</m:t>
                        </m:r>
                      </m:sub>
                      <m:sup>
                        <m:r>
                          <a:rPr lang="en-US" altLang="zh-CN" sz="2000" b="0" i="1" smtClean="0">
                            <a:latin typeface="Cambria Math" panose="02040503050406030204" pitchFamily="18" charset="0"/>
                          </a:rPr>
                          <m:t>1</m:t>
                        </m:r>
                      </m:sup>
                      <m:e>
                        <m:r>
                          <a:rPr lang="en-US" altLang="zh-CN" sz="2000">
                            <a:latin typeface="Cambria Math" panose="02040503050406030204" pitchFamily="18" charset="0"/>
                          </a:rPr>
                          <m:t>𝑇</m:t>
                        </m:r>
                      </m:e>
                    </m:sPre>
                  </m:oMath>
                </a14:m>
                <a:r>
                  <a:rPr lang="en-US" altLang="zh-CN" sz="2000" i="0" dirty="0">
                    <a:solidFill>
                      <a:srgbClr val="222222"/>
                    </a:solidFill>
                    <a:latin typeface="微软雅黑" panose="020B0503020204020204" pitchFamily="34" charset="-122"/>
                    <a:ea typeface="微软雅黑" panose="020B0503020204020204" pitchFamily="34" charset="-122"/>
                  </a:rPr>
                  <a:t>, </a:t>
                </a:r>
                <a14:m>
                  <m:oMath xmlns:m="http://schemas.openxmlformats.org/officeDocument/2006/math">
                    <m:sPre>
                      <m:sPrePr>
                        <m:ctrlPr>
                          <a:rPr lang="en-US" altLang="zh-CN" sz="2000" i="1">
                            <a:latin typeface="Cambria Math" panose="02040503050406030204" pitchFamily="18" charset="0"/>
                          </a:rPr>
                        </m:ctrlPr>
                      </m:sPrePr>
                      <m:sub>
                        <m:r>
                          <a:rPr lang="en-US" altLang="zh-CN" sz="2000" b="0" i="1" smtClean="0">
                            <a:latin typeface="Cambria Math" panose="02040503050406030204" pitchFamily="18" charset="0"/>
                          </a:rPr>
                          <m:t>3</m:t>
                        </m:r>
                      </m:sub>
                      <m:sup>
                        <m:r>
                          <a:rPr lang="en-US" altLang="zh-CN" sz="2000" b="0" i="1" smtClean="0">
                            <a:latin typeface="Cambria Math" panose="02040503050406030204" pitchFamily="18" charset="0"/>
                          </a:rPr>
                          <m:t>2</m:t>
                        </m:r>
                      </m:sup>
                      <m:e>
                        <m:r>
                          <a:rPr lang="en-US" altLang="zh-CN" sz="2000">
                            <a:latin typeface="Cambria Math" panose="02040503050406030204" pitchFamily="18" charset="0"/>
                          </a:rPr>
                          <m:t>𝑇</m:t>
                        </m:r>
                      </m:e>
                    </m:sPre>
                  </m:oMath>
                </a14:m>
                <a:r>
                  <a:rPr lang="en-US" altLang="zh-CN" sz="2000" i="0" dirty="0">
                    <a:solidFill>
                      <a:srgbClr val="222222"/>
                    </a:solidFill>
                    <a:latin typeface="微软雅黑" panose="020B0503020204020204" pitchFamily="34" charset="-122"/>
                    <a:ea typeface="微软雅黑" panose="020B0503020204020204" pitchFamily="34" charset="-122"/>
                  </a:rPr>
                  <a:t>,</a:t>
                </a:r>
                <a:r>
                  <a:rPr lang="en-US" altLang="zh-CN" sz="2000" dirty="0"/>
                  <a:t> </a:t>
                </a:r>
                <a14:m>
                  <m:oMath xmlns:m="http://schemas.openxmlformats.org/officeDocument/2006/math">
                    <m:sPre>
                      <m:sPrePr>
                        <m:ctrlPr>
                          <a:rPr lang="en-US" altLang="zh-CN" sz="2000" i="1">
                            <a:latin typeface="Cambria Math" panose="02040503050406030204" pitchFamily="18" charset="0"/>
                          </a:rPr>
                        </m:ctrlPr>
                      </m:sPrePr>
                      <m:sub>
                        <m:r>
                          <a:rPr lang="en-US" altLang="zh-CN" sz="2000" b="0" i="1" smtClean="0">
                            <a:latin typeface="Cambria Math" panose="02040503050406030204" pitchFamily="18" charset="0"/>
                          </a:rPr>
                          <m:t>4</m:t>
                        </m:r>
                      </m:sub>
                      <m:sup>
                        <m:r>
                          <a:rPr lang="en-US" altLang="zh-CN" sz="2000" b="0" i="1" smtClean="0">
                            <a:latin typeface="Cambria Math" panose="02040503050406030204" pitchFamily="18" charset="0"/>
                          </a:rPr>
                          <m:t>3</m:t>
                        </m:r>
                      </m:sup>
                      <m:e>
                        <m:r>
                          <a:rPr lang="en-US" altLang="zh-CN" sz="2000">
                            <a:latin typeface="Cambria Math" panose="02040503050406030204" pitchFamily="18" charset="0"/>
                          </a:rPr>
                          <m:t>𝑇</m:t>
                        </m:r>
                      </m:e>
                    </m:sPre>
                  </m:oMath>
                </a14:m>
                <a:r>
                  <a:rPr lang="en-US" altLang="zh-CN" sz="2000" dirty="0"/>
                  <a:t> </a:t>
                </a:r>
                <a:r>
                  <a:rPr lang="zh-CN" altLang="en-US" sz="2000" b="1" dirty="0">
                    <a:latin typeface="微软雅黑" panose="020B0503020204020204" pitchFamily="34" charset="-122"/>
                    <a:ea typeface="微软雅黑" panose="020B0503020204020204" pitchFamily="34" charset="-122"/>
                  </a:rPr>
                  <a:t>及正运动学方程 </a:t>
                </a:r>
                <a14:m>
                  <m:oMath xmlns:m="http://schemas.openxmlformats.org/officeDocument/2006/math">
                    <m:sPre>
                      <m:sPrePr>
                        <m:ctrlPr>
                          <a:rPr lang="en-US" altLang="zh-CN" sz="2000" i="1">
                            <a:latin typeface="Cambria Math" panose="02040503050406030204" pitchFamily="18" charset="0"/>
                          </a:rPr>
                        </m:ctrlPr>
                      </m:sPrePr>
                      <m:sub>
                        <m:r>
                          <a:rPr lang="en-US" altLang="zh-CN" sz="2000" b="0" i="1" smtClean="0">
                            <a:latin typeface="Cambria Math" panose="02040503050406030204" pitchFamily="18" charset="0"/>
                          </a:rPr>
                          <m:t>4</m:t>
                        </m:r>
                      </m:sub>
                      <m:sup>
                        <m:r>
                          <a:rPr lang="en-US" altLang="zh-CN" sz="2000">
                            <a:latin typeface="Cambria Math" panose="02040503050406030204" pitchFamily="18" charset="0"/>
                          </a:rPr>
                          <m:t>0</m:t>
                        </m:r>
                      </m:sup>
                      <m:e>
                        <m:r>
                          <a:rPr lang="en-US" altLang="zh-CN" sz="2000">
                            <a:latin typeface="Cambria Math" panose="02040503050406030204" pitchFamily="18" charset="0"/>
                          </a:rPr>
                          <m:t>𝑇</m:t>
                        </m:r>
                      </m:e>
                    </m:sPre>
                  </m:oMath>
                </a14:m>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9" name="文本框 18">
                <a:extLst>
                  <a:ext uri="{FF2B5EF4-FFF2-40B4-BE49-F238E27FC236}">
                    <a16:creationId xmlns:a16="http://schemas.microsoft.com/office/drawing/2014/main" id="{E2278B8B-7EE8-45ED-9D0E-67BCAEF83442}"/>
                  </a:ext>
                </a:extLst>
              </p:cNvPr>
              <p:cNvSpPr txBox="1">
                <a:spLocks noRot="1" noChangeAspect="1" noMove="1" noResize="1" noEditPoints="1" noAdjustHandles="1" noChangeArrowheads="1" noChangeShapeType="1" noTextEdit="1"/>
              </p:cNvSpPr>
              <p:nvPr/>
            </p:nvSpPr>
            <p:spPr>
              <a:xfrm>
                <a:off x="98593" y="2331994"/>
                <a:ext cx="4105546" cy="1224566"/>
              </a:xfrm>
              <a:prstGeom prst="rect">
                <a:avLst/>
              </a:prstGeom>
              <a:blipFill>
                <a:blip r:embed="rId6"/>
                <a:stretch>
                  <a:fillRect l="-1484" r="-593" b="-8500"/>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00655E1D-FEBC-4276-A8D3-656C0FD0A0F7}"/>
              </a:ext>
            </a:extLst>
          </p:cNvPr>
          <p:cNvSpPr txBox="1"/>
          <p:nvPr/>
        </p:nvSpPr>
        <p:spPr>
          <a:xfrm>
            <a:off x="98592" y="3787676"/>
            <a:ext cx="3779723" cy="441916"/>
          </a:xfrm>
          <a:prstGeom prst="rect">
            <a:avLst/>
          </a:prstGeom>
          <a:noFill/>
        </p:spPr>
        <p:txBody>
          <a:bodyPr wrap="square" rtlCol="0">
            <a:spAutoFit/>
          </a:bodyPr>
          <a:lstStyle/>
          <a:p>
            <a:pPr marL="446088" indent="-446088">
              <a:lnSpc>
                <a:spcPct val="125000"/>
              </a:lnSpc>
              <a:spcAft>
                <a:spcPts val="600"/>
              </a:spcAft>
            </a:pPr>
            <a:r>
              <a:rPr lang="zh-CN" altLang="en-US" sz="2000" b="1" dirty="0">
                <a:latin typeface="微软雅黑" panose="020B0503020204020204" pitchFamily="34" charset="-122"/>
                <a:ea typeface="微软雅黑" panose="020B0503020204020204" pitchFamily="34" charset="-122"/>
              </a:rPr>
              <a:t>题</a:t>
            </a:r>
            <a:r>
              <a:rPr lang="en-US" altLang="zh-CN" sz="2000" b="1" dirty="0">
                <a:latin typeface="微软雅黑" panose="020B0503020204020204" pitchFamily="34" charset="-122"/>
                <a:ea typeface="微软雅黑" panose="020B0503020204020204" pitchFamily="34" charset="-122"/>
              </a:rPr>
              <a:t>2. </a:t>
            </a:r>
            <a:r>
              <a:rPr lang="zh-CN" altLang="en-US" sz="2000" b="1" dirty="0">
                <a:latin typeface="微软雅黑" panose="020B0503020204020204" pitchFamily="34" charset="-122"/>
                <a:ea typeface="微软雅黑" panose="020B0503020204020204" pitchFamily="34" charset="-122"/>
              </a:rPr>
              <a:t>如果已知期望位姿</a:t>
            </a:r>
          </a:p>
        </p:txBody>
      </p:sp>
      <mc:AlternateContent xmlns:mc="http://schemas.openxmlformats.org/markup-compatibility/2006" xmlns:a14="http://schemas.microsoft.com/office/drawing/2010/main">
        <mc:Choice Requires="a14">
          <p:sp>
            <p:nvSpPr>
              <p:cNvPr id="21" name="文本框 3">
                <a:extLst>
                  <a:ext uri="{FF2B5EF4-FFF2-40B4-BE49-F238E27FC236}">
                    <a16:creationId xmlns:a16="http://schemas.microsoft.com/office/drawing/2014/main" id="{93C08DB4-ADCF-415C-B4E9-CFD58AFE136C}"/>
                  </a:ext>
                </a:extLst>
              </p:cNvPr>
              <p:cNvSpPr txBox="1"/>
              <p:nvPr/>
            </p:nvSpPr>
            <p:spPr>
              <a:xfrm>
                <a:off x="761999" y="4251373"/>
                <a:ext cx="2879834" cy="1222451"/>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sPre>
                        <m:sPrePr>
                          <m:ctrlPr>
                            <a:rPr lang="en-US" altLang="zh-CN" i="1" smtClean="0">
                              <a:latin typeface="Cambria Math" panose="02040503050406030204" pitchFamily="18" charset="0"/>
                            </a:rPr>
                          </m:ctrlPr>
                        </m:sPrePr>
                        <m:sub>
                          <m:r>
                            <a:rPr lang="en-US" altLang="zh-CN" b="0" i="1" smtClean="0">
                              <a:latin typeface="Cambria Math" panose="02040503050406030204" pitchFamily="18" charset="0"/>
                            </a:rPr>
                            <m:t>4</m:t>
                          </m:r>
                        </m:sub>
                        <m:sup>
                          <m:r>
                            <a:rPr lang="en-US" altLang="zh-CN">
                              <a:latin typeface="Cambria Math" panose="02040503050406030204" pitchFamily="18" charset="0"/>
                            </a:rPr>
                            <m:t>0</m:t>
                          </m:r>
                        </m:sup>
                        <m:e>
                          <m:r>
                            <a:rPr lang="en-US" altLang="zh-CN">
                              <a:latin typeface="Cambria Math" panose="02040503050406030204" pitchFamily="18" charset="0"/>
                            </a:rPr>
                            <m:t>𝑇</m:t>
                          </m:r>
                        </m:e>
                      </m:sPre>
                      <m:r>
                        <a:rPr lang="en-US" altLang="zh-CN" b="0" i="0" smtClean="0">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4"/>
                                    <m:mcJc m:val="center"/>
                                  </m:mcPr>
                                </m:mc>
                              </m:mcs>
                              <m:ctrlPr>
                                <a:rPr lang="en-US" altLang="zh-CN" sz="2000" i="1">
                                  <a:latin typeface="Cambria Math" panose="02040503050406030204" pitchFamily="18" charset="0"/>
                                </a:rPr>
                              </m:ctrlPr>
                            </m:mPr>
                            <m:mr>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𝑟</m:t>
                                    </m:r>
                                  </m:e>
                                  <m:sub>
                                    <m:r>
                                      <a:rPr lang="en-US" altLang="zh-CN" sz="2000">
                                        <a:latin typeface="Cambria Math" panose="02040503050406030204" pitchFamily="18" charset="0"/>
                                      </a:rPr>
                                      <m:t>1</m:t>
                                    </m:r>
                                    <m:r>
                                      <a:rPr lang="en-US" altLang="zh-CN" sz="2000" b="0" i="1" smtClean="0">
                                        <a:latin typeface="Cambria Math" panose="02040503050406030204" pitchFamily="18" charset="0"/>
                                      </a:rPr>
                                      <m:t>1</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a:latin typeface="Cambria Math" panose="02040503050406030204" pitchFamily="18" charset="0"/>
                                      </a:rPr>
                                      <m:t>1</m:t>
                                    </m:r>
                                    <m:r>
                                      <a:rPr lang="en-US" altLang="zh-CN" sz="2000" b="0" i="1" smtClean="0">
                                        <a:latin typeface="Cambria Math" panose="02040503050406030204" pitchFamily="18" charset="0"/>
                                      </a:rPr>
                                      <m:t>2</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a:latin typeface="Cambria Math" panose="02040503050406030204" pitchFamily="18" charset="0"/>
                                      </a:rPr>
                                      <m:t>1</m:t>
                                    </m:r>
                                    <m:r>
                                      <a:rPr lang="en-US" altLang="zh-CN" sz="2000" b="0" i="1" smtClean="0">
                                        <a:latin typeface="Cambria Math" panose="02040503050406030204" pitchFamily="18" charset="0"/>
                                      </a:rPr>
                                      <m:t>3</m:t>
                                    </m:r>
                                  </m:sub>
                                </m:sSub>
                              </m:e>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𝑥</m:t>
                                    </m:r>
                                  </m:sub>
                                </m:sSub>
                              </m:e>
                            </m:mr>
                            <m:m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2</m:t>
                                    </m:r>
                                    <m:r>
                                      <a:rPr lang="en-US" altLang="zh-CN" sz="2000">
                                        <a:latin typeface="Cambria Math" panose="02040503050406030204" pitchFamily="18" charset="0"/>
                                      </a:rPr>
                                      <m:t>1</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22</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23</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𝑦</m:t>
                                    </m:r>
                                  </m:sub>
                                </m:sSub>
                              </m:e>
                            </m:mr>
                            <m:mr>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3</m:t>
                                    </m:r>
                                    <m:r>
                                      <a:rPr lang="en-US" altLang="zh-CN" sz="2000">
                                        <a:latin typeface="Cambria Math" panose="02040503050406030204" pitchFamily="18" charset="0"/>
                                      </a:rPr>
                                      <m:t>1</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32</m:t>
                                    </m:r>
                                  </m:sub>
                                </m:sSub>
                              </m:e>
                              <m:e>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𝑟</m:t>
                                    </m:r>
                                  </m:e>
                                  <m:sub>
                                    <m:r>
                                      <a:rPr lang="en-US" altLang="zh-CN" sz="2000" b="0" i="1" smtClean="0">
                                        <a:latin typeface="Cambria Math" panose="02040503050406030204" pitchFamily="18" charset="0"/>
                                      </a:rPr>
                                      <m:t>33</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𝑧</m:t>
                                    </m:r>
                                  </m:sub>
                                </m:sSub>
                              </m:e>
                            </m:mr>
                            <m:mr>
                              <m:e>
                                <m:r>
                                  <a:rPr lang="en-US" altLang="zh-CN" sz="2000">
                                    <a:latin typeface="Cambria Math" panose="02040503050406030204" pitchFamily="18" charset="0"/>
                                  </a:rPr>
                                  <m:t>0</m:t>
                                </m:r>
                              </m:e>
                              <m:e>
                                <m:r>
                                  <a:rPr lang="en-US" altLang="zh-CN" sz="2000">
                                    <a:latin typeface="Cambria Math" panose="02040503050406030204" pitchFamily="18" charset="0"/>
                                  </a:rPr>
                                  <m:t>0</m:t>
                                </m:r>
                              </m:e>
                              <m:e>
                                <m:r>
                                  <a:rPr lang="en-US" altLang="zh-CN" sz="2000">
                                    <a:latin typeface="Cambria Math" panose="02040503050406030204" pitchFamily="18" charset="0"/>
                                  </a:rPr>
                                  <m:t>0</m:t>
                                </m:r>
                              </m:e>
                              <m:e>
                                <m:r>
                                  <a:rPr lang="en-US" altLang="zh-CN" sz="2000">
                                    <a:latin typeface="Cambria Math" panose="02040503050406030204" pitchFamily="18" charset="0"/>
                                  </a:rPr>
                                  <m:t>1</m:t>
                                </m:r>
                              </m:e>
                            </m:mr>
                          </m:m>
                        </m:e>
                      </m:d>
                    </m:oMath>
                  </m:oMathPara>
                </a14:m>
                <a:endParaRPr lang="zh-CN" altLang="en-US" dirty="0"/>
              </a:p>
            </p:txBody>
          </p:sp>
        </mc:Choice>
        <mc:Fallback xmlns="">
          <p:sp>
            <p:nvSpPr>
              <p:cNvPr id="21" name="文本框 3">
                <a:extLst>
                  <a:ext uri="{FF2B5EF4-FFF2-40B4-BE49-F238E27FC236}">
                    <a16:creationId xmlns:a16="http://schemas.microsoft.com/office/drawing/2014/main" id="{93C08DB4-ADCF-415C-B4E9-CFD58AFE136C}"/>
                  </a:ext>
                </a:extLst>
              </p:cNvPr>
              <p:cNvSpPr txBox="1">
                <a:spLocks noRot="1" noChangeAspect="1" noMove="1" noResize="1" noEditPoints="1" noAdjustHandles="1" noChangeArrowheads="1" noChangeShapeType="1" noTextEdit="1"/>
              </p:cNvSpPr>
              <p:nvPr/>
            </p:nvSpPr>
            <p:spPr>
              <a:xfrm>
                <a:off x="761999" y="4251373"/>
                <a:ext cx="2879834" cy="1222451"/>
              </a:xfrm>
              <a:prstGeom prst="rect">
                <a:avLst/>
              </a:prstGeom>
              <a:blipFill>
                <a:blip r:embed="rId7"/>
                <a:stretch>
                  <a:fillRect/>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69C15AB3-A981-4AC8-904C-CA2C4E1965D2}"/>
              </a:ext>
            </a:extLst>
          </p:cNvPr>
          <p:cNvSpPr txBox="1"/>
          <p:nvPr/>
        </p:nvSpPr>
        <p:spPr>
          <a:xfrm>
            <a:off x="361349" y="5369483"/>
            <a:ext cx="3842790" cy="1211357"/>
          </a:xfrm>
          <a:prstGeom prst="rect">
            <a:avLst/>
          </a:prstGeom>
          <a:noFill/>
        </p:spPr>
        <p:txBody>
          <a:bodyPr wrap="square" rtlCol="0">
            <a:spAutoFit/>
          </a:bodyPr>
          <a:lstStyle/>
          <a:p>
            <a:pPr>
              <a:lnSpc>
                <a:spcPct val="125000"/>
              </a:lnSpc>
              <a:spcAft>
                <a:spcPts val="600"/>
              </a:spcAft>
            </a:pPr>
            <a:r>
              <a:rPr lang="zh-CN" altLang="en-US" sz="2000" b="1" dirty="0">
                <a:latin typeface="微软雅黑" panose="020B0503020204020204" pitchFamily="34" charset="-122"/>
                <a:ea typeface="微软雅黑" panose="020B0503020204020204" pitchFamily="34" charset="-122"/>
              </a:rPr>
              <a:t>求解逆运动学方程，得到</a:t>
            </a:r>
            <a:r>
              <a:rPr lang="zh-CN" altLang="en-US" sz="2000" b="1"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1</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b="1"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b="1"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3</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b="1" i="1"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1"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4</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表达式，求解过程中分析多组解、奇异情况</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096023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B78F72-8AC8-40A1-AC68-C3247FF9788C}"/>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27</a:t>
            </a:fld>
            <a:endParaRPr lang="zh-CN" altLang="en-US">
              <a:solidFill>
                <a:prstClr val="black">
                  <a:tint val="75000"/>
                </a:prstClr>
              </a:solidFill>
            </a:endParaRPr>
          </a:p>
        </p:txBody>
      </p:sp>
      <p:sp>
        <p:nvSpPr>
          <p:cNvPr id="3" name="文本框 2">
            <a:extLst>
              <a:ext uri="{FF2B5EF4-FFF2-40B4-BE49-F238E27FC236}">
                <a16:creationId xmlns:a16="http://schemas.microsoft.com/office/drawing/2014/main" id="{D1D2DDC2-0302-4D83-BF61-CD22C87704D3}"/>
              </a:ext>
            </a:extLst>
          </p:cNvPr>
          <p:cNvSpPr txBox="1"/>
          <p:nvPr/>
        </p:nvSpPr>
        <p:spPr>
          <a:xfrm>
            <a:off x="0" y="2592730"/>
            <a:ext cx="12192000" cy="1569660"/>
          </a:xfrm>
          <a:prstGeom prst="rect">
            <a:avLst/>
          </a:prstGeom>
          <a:noFill/>
        </p:spPr>
        <p:txBody>
          <a:bodyPr wrap="square" rtlCol="0">
            <a:spAutoFit/>
          </a:bodyPr>
          <a:lstStyle/>
          <a:p>
            <a:pPr algn="ctr"/>
            <a:r>
              <a:rPr lang="en-US" altLang="zh-CN" sz="9600" dirty="0">
                <a:solidFill>
                  <a:schemeClr val="accent4">
                    <a:lumMod val="50000"/>
                  </a:schemeClr>
                </a:solidFill>
                <a:latin typeface="华文隶书" panose="02010800040101010101" pitchFamily="2" charset="-122"/>
                <a:ea typeface="华文隶书" panose="02010800040101010101" pitchFamily="2" charset="-122"/>
              </a:rPr>
              <a:t>End  of  Chapter-4</a:t>
            </a:r>
            <a:endParaRPr lang="zh-CN" altLang="en-US" sz="9600" dirty="0">
              <a:solidFill>
                <a:schemeClr val="accent4">
                  <a:lumMod val="50000"/>
                </a:schemeClr>
              </a:solidFill>
              <a:latin typeface="华文隶书" panose="02010800040101010101" pitchFamily="2" charset="-122"/>
              <a:ea typeface="华文隶书" panose="02010800040101010101" pitchFamily="2" charset="-122"/>
            </a:endParaRPr>
          </a:p>
        </p:txBody>
      </p:sp>
    </p:spTree>
    <p:extLst>
      <p:ext uri="{BB962C8B-B14F-4D97-AF65-F5344CB8AC3E}">
        <p14:creationId xmlns:p14="http://schemas.microsoft.com/office/powerpoint/2010/main" val="11837178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8592096-1E32-43F9-A1C5-EEC35D698B1B}"/>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28</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E9DDA699-44F1-44A2-BF2C-F4B583A86748}"/>
              </a:ext>
            </a:extLst>
          </p:cNvPr>
          <p:cNvPicPr>
            <a:picLocks noChangeAspect="1"/>
          </p:cNvPicPr>
          <p:nvPr/>
        </p:nvPicPr>
        <p:blipFill>
          <a:blip r:embed="rId2"/>
          <a:stretch>
            <a:fillRect/>
          </a:stretch>
        </p:blipFill>
        <p:spPr>
          <a:xfrm>
            <a:off x="0" y="2536926"/>
            <a:ext cx="3104108" cy="3960440"/>
          </a:xfrm>
          <a:prstGeom prst="rect">
            <a:avLst/>
          </a:prstGeom>
        </p:spPr>
      </p:pic>
      <p:cxnSp>
        <p:nvCxnSpPr>
          <p:cNvPr id="4" name="直接箭头连接符 3">
            <a:extLst>
              <a:ext uri="{FF2B5EF4-FFF2-40B4-BE49-F238E27FC236}">
                <a16:creationId xmlns:a16="http://schemas.microsoft.com/office/drawing/2014/main" id="{926ECFD4-9F03-43B0-859C-CD3A8EB0ED0E}"/>
              </a:ext>
            </a:extLst>
          </p:cNvPr>
          <p:cNvCxnSpPr>
            <a:cxnSpLocks/>
          </p:cNvCxnSpPr>
          <p:nvPr/>
        </p:nvCxnSpPr>
        <p:spPr>
          <a:xfrm>
            <a:off x="432048" y="6168946"/>
            <a:ext cx="936104" cy="656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F69C7820-33CE-4A15-94F3-037404A49EA2}"/>
              </a:ext>
            </a:extLst>
          </p:cNvPr>
          <p:cNvCxnSpPr>
            <a:cxnSpLocks/>
          </p:cNvCxnSpPr>
          <p:nvPr/>
        </p:nvCxnSpPr>
        <p:spPr>
          <a:xfrm flipV="1">
            <a:off x="432048" y="5777286"/>
            <a:ext cx="864096" cy="39822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4A27BC57-9772-49E4-BB18-E47316321D65}"/>
              </a:ext>
            </a:extLst>
          </p:cNvPr>
          <p:cNvCxnSpPr>
            <a:cxnSpLocks/>
          </p:cNvCxnSpPr>
          <p:nvPr/>
        </p:nvCxnSpPr>
        <p:spPr>
          <a:xfrm flipV="1">
            <a:off x="1944216" y="4481142"/>
            <a:ext cx="0" cy="97917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4ADC31B1-E67B-478A-9B51-B5BB162BA59B}"/>
              </a:ext>
            </a:extLst>
          </p:cNvPr>
          <p:cNvCxnSpPr>
            <a:cxnSpLocks/>
          </p:cNvCxnSpPr>
          <p:nvPr/>
        </p:nvCxnSpPr>
        <p:spPr>
          <a:xfrm flipH="1" flipV="1">
            <a:off x="1224136" y="3329014"/>
            <a:ext cx="725852" cy="47511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02A0016-4A9E-43B5-BCEB-9C7582C72642}"/>
                  </a:ext>
                </a:extLst>
              </p:cNvPr>
              <p:cNvSpPr txBox="1"/>
              <p:nvPr/>
            </p:nvSpPr>
            <p:spPr>
              <a:xfrm>
                <a:off x="1208563" y="5662424"/>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𝟏</m:t>
                          </m:r>
                        </m:sub>
                      </m:sSub>
                    </m:oMath>
                  </m:oMathPara>
                </a14:m>
                <a:endParaRPr lang="zh-CN" altLang="en-US" b="1">
                  <a:solidFill>
                    <a:srgbClr val="FFC000"/>
                  </a:solidFill>
                </a:endParaRPr>
              </a:p>
            </p:txBody>
          </p:sp>
        </mc:Choice>
        <mc:Fallback xmlns="">
          <p:sp>
            <p:nvSpPr>
              <p:cNvPr id="8" name="文本框 7">
                <a:extLst>
                  <a:ext uri="{FF2B5EF4-FFF2-40B4-BE49-F238E27FC236}">
                    <a16:creationId xmlns:a16="http://schemas.microsoft.com/office/drawing/2014/main" id="{E02A0016-4A9E-43B5-BCEB-9C7582C72642}"/>
                  </a:ext>
                </a:extLst>
              </p:cNvPr>
              <p:cNvSpPr txBox="1">
                <a:spLocks noRot="1" noChangeAspect="1" noMove="1" noResize="1" noEditPoints="1" noAdjustHandles="1" noChangeArrowheads="1" noChangeShapeType="1" noTextEdit="1"/>
              </p:cNvSpPr>
              <p:nvPr/>
            </p:nvSpPr>
            <p:spPr>
              <a:xfrm>
                <a:off x="1208563" y="5662424"/>
                <a:ext cx="519629" cy="369332"/>
              </a:xfrm>
              <a:prstGeom prst="rect">
                <a:avLst/>
              </a:prstGeom>
              <a:blipFill>
                <a:blip r:embed="rId3"/>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E442581-DD84-401E-AFDA-D4E58B14570F}"/>
                  </a:ext>
                </a:extLst>
              </p:cNvPr>
              <p:cNvSpPr txBox="1"/>
              <p:nvPr/>
            </p:nvSpPr>
            <p:spPr>
              <a:xfrm>
                <a:off x="1936746" y="4363944"/>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𝟐</m:t>
                          </m:r>
                        </m:sub>
                      </m:sSub>
                    </m:oMath>
                  </m:oMathPara>
                </a14:m>
                <a:endParaRPr lang="zh-CN" altLang="en-US" b="1">
                  <a:solidFill>
                    <a:srgbClr val="FFC000"/>
                  </a:solidFill>
                </a:endParaRPr>
              </a:p>
            </p:txBody>
          </p:sp>
        </mc:Choice>
        <mc:Fallback xmlns="">
          <p:sp>
            <p:nvSpPr>
              <p:cNvPr id="9" name="文本框 8">
                <a:extLst>
                  <a:ext uri="{FF2B5EF4-FFF2-40B4-BE49-F238E27FC236}">
                    <a16:creationId xmlns:a16="http://schemas.microsoft.com/office/drawing/2014/main" id="{AE442581-DD84-401E-AFDA-D4E58B14570F}"/>
                  </a:ext>
                </a:extLst>
              </p:cNvPr>
              <p:cNvSpPr txBox="1">
                <a:spLocks noRot="1" noChangeAspect="1" noMove="1" noResize="1" noEditPoints="1" noAdjustHandles="1" noChangeArrowheads="1" noChangeShapeType="1" noTextEdit="1"/>
              </p:cNvSpPr>
              <p:nvPr/>
            </p:nvSpPr>
            <p:spPr>
              <a:xfrm>
                <a:off x="1936746" y="4363944"/>
                <a:ext cx="519629" cy="369332"/>
              </a:xfrm>
              <a:prstGeom prst="rect">
                <a:avLst/>
              </a:prstGeom>
              <a:blipFill>
                <a:blip r:embed="rId4"/>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F0E63AB-4991-4842-B6BB-663A83169E2E}"/>
                  </a:ext>
                </a:extLst>
              </p:cNvPr>
              <p:cNvSpPr txBox="1"/>
              <p:nvPr/>
            </p:nvSpPr>
            <p:spPr>
              <a:xfrm>
                <a:off x="1152128" y="3017779"/>
                <a:ext cx="519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i="1" smtClean="0">
                              <a:solidFill>
                                <a:srgbClr val="FFC000"/>
                              </a:solidFill>
                              <a:latin typeface="Cambria Math" panose="02040503050406030204" pitchFamily="18" charset="0"/>
                            </a:rPr>
                            <m:t>𝟑</m:t>
                          </m:r>
                        </m:sub>
                      </m:sSub>
                    </m:oMath>
                  </m:oMathPara>
                </a14:m>
                <a:endParaRPr lang="zh-CN" altLang="en-US" b="1">
                  <a:solidFill>
                    <a:srgbClr val="FFC000"/>
                  </a:solidFill>
                </a:endParaRPr>
              </a:p>
            </p:txBody>
          </p:sp>
        </mc:Choice>
        <mc:Fallback xmlns="">
          <p:sp>
            <p:nvSpPr>
              <p:cNvPr id="10" name="文本框 9">
                <a:extLst>
                  <a:ext uri="{FF2B5EF4-FFF2-40B4-BE49-F238E27FC236}">
                    <a16:creationId xmlns:a16="http://schemas.microsoft.com/office/drawing/2014/main" id="{5F0E63AB-4991-4842-B6BB-663A83169E2E}"/>
                  </a:ext>
                </a:extLst>
              </p:cNvPr>
              <p:cNvSpPr txBox="1">
                <a:spLocks noRot="1" noChangeAspect="1" noMove="1" noResize="1" noEditPoints="1" noAdjustHandles="1" noChangeArrowheads="1" noChangeShapeType="1" noTextEdit="1"/>
              </p:cNvSpPr>
              <p:nvPr/>
            </p:nvSpPr>
            <p:spPr>
              <a:xfrm>
                <a:off x="1152128" y="3017779"/>
                <a:ext cx="519629" cy="369332"/>
              </a:xfrm>
              <a:prstGeom prst="rect">
                <a:avLst/>
              </a:prstGeom>
              <a:blipFill>
                <a:blip r:embed="rId5"/>
                <a:stretch>
                  <a:fillRect b="-16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859F38F-F6A9-4538-B059-D425F8A04BE7}"/>
                  </a:ext>
                </a:extLst>
              </p:cNvPr>
              <p:cNvSpPr txBox="1"/>
              <p:nvPr/>
            </p:nvSpPr>
            <p:spPr>
              <a:xfrm>
                <a:off x="1111982" y="6151876"/>
                <a:ext cx="5164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𝑿</m:t>
                          </m:r>
                        </m:e>
                        <m:sub>
                          <m:r>
                            <a:rPr lang="en-US" altLang="zh-CN" b="1">
                              <a:solidFill>
                                <a:srgbClr val="FFC000"/>
                              </a:solidFill>
                              <a:latin typeface="Cambria Math" panose="02040503050406030204" pitchFamily="18" charset="0"/>
                            </a:rPr>
                            <m:t>0</m:t>
                          </m:r>
                        </m:sub>
                      </m:sSub>
                    </m:oMath>
                  </m:oMathPara>
                </a14:m>
                <a:endParaRPr lang="zh-CN" altLang="en-US" b="1" dirty="0">
                  <a:solidFill>
                    <a:srgbClr val="FFC000"/>
                  </a:solidFill>
                </a:endParaRPr>
              </a:p>
            </p:txBody>
          </p:sp>
        </mc:Choice>
        <mc:Fallback xmlns="">
          <p:sp>
            <p:nvSpPr>
              <p:cNvPr id="11" name="文本框 10">
                <a:extLst>
                  <a:ext uri="{FF2B5EF4-FFF2-40B4-BE49-F238E27FC236}">
                    <a16:creationId xmlns:a16="http://schemas.microsoft.com/office/drawing/2014/main" id="{B859F38F-F6A9-4538-B059-D425F8A04BE7}"/>
                  </a:ext>
                </a:extLst>
              </p:cNvPr>
              <p:cNvSpPr txBox="1">
                <a:spLocks noRot="1" noChangeAspect="1" noMove="1" noResize="1" noEditPoints="1" noAdjustHandles="1" noChangeArrowheads="1" noChangeShapeType="1" noTextEdit="1"/>
              </p:cNvSpPr>
              <p:nvPr/>
            </p:nvSpPr>
            <p:spPr>
              <a:xfrm>
                <a:off x="1111982" y="6151876"/>
                <a:ext cx="516423"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E1B47D0B-29FB-4C6F-8E45-C26AD511044A}"/>
                  </a:ext>
                </a:extLst>
              </p:cNvPr>
              <p:cNvGraphicFramePr>
                <a:graphicFrameLocks noGrp="1"/>
              </p:cNvGraphicFramePr>
              <p:nvPr/>
            </p:nvGraphicFramePr>
            <p:xfrm>
              <a:off x="14766" y="102292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964464573"/>
                        </a:ext>
                      </a:extLst>
                    </a:gridCol>
                    <a:gridCol w="897420">
                      <a:extLst>
                        <a:ext uri="{9D8B030D-6E8A-4147-A177-3AD203B41FA5}">
                          <a16:colId xmlns:a16="http://schemas.microsoft.com/office/drawing/2014/main" val="235533743"/>
                        </a:ext>
                      </a:extLst>
                    </a:gridCol>
                    <a:gridCol w="897420">
                      <a:extLst>
                        <a:ext uri="{9D8B030D-6E8A-4147-A177-3AD203B41FA5}">
                          <a16:colId xmlns:a16="http://schemas.microsoft.com/office/drawing/2014/main" val="641728310"/>
                        </a:ext>
                      </a:extLst>
                    </a:gridCol>
                    <a:gridCol w="897420">
                      <a:extLst>
                        <a:ext uri="{9D8B030D-6E8A-4147-A177-3AD203B41FA5}">
                          <a16:colId xmlns:a16="http://schemas.microsoft.com/office/drawing/2014/main" val="4182852785"/>
                        </a:ext>
                      </a:extLst>
                    </a:gridCol>
                    <a:gridCol w="897420">
                      <a:extLst>
                        <a:ext uri="{9D8B030D-6E8A-4147-A177-3AD203B41FA5}">
                          <a16:colId xmlns:a16="http://schemas.microsoft.com/office/drawing/2014/main" val="4281674283"/>
                        </a:ext>
                      </a:extLst>
                    </a:gridCol>
                  </a:tblGrid>
                  <a:tr h="370840">
                    <a:tc>
                      <a:txBody>
                        <a:bodyPr/>
                        <a:lstStyle/>
                        <a:p>
                          <a:pPr algn="ctr"/>
                          <a:r>
                            <a:rPr lang="zh-CN" altLang="en-US">
                              <a:latin typeface="微软雅黑" panose="020B0503020204020204" pitchFamily="34" charset="-122"/>
                              <a:ea typeface="微软雅黑" panose="020B0503020204020204" pitchFamily="34" charset="-122"/>
                            </a:rPr>
                            <a:t>关节</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r>
                                      <a:rPr lang="en-US" altLang="zh-CN" sz="1400" b="1">
                                        <a:solidFill>
                                          <a:schemeClr val="bg1"/>
                                        </a:solidFill>
                                        <a:latin typeface="Cambria Math" panose="02040503050406030204" pitchFamily="18" charset="0"/>
                                      </a:rPr>
                                      <m:t>𝜶</m:t>
                                    </m:r>
                                  </m:e>
                                  <m:sub>
                                    <m:r>
                                      <a:rPr lang="en-US" altLang="zh-CN" sz="1400" b="1">
                                        <a:solidFill>
                                          <a:schemeClr val="bg1"/>
                                        </a:solidFill>
                                        <a:latin typeface="Cambria Math" panose="02040503050406030204" pitchFamily="18" charset="0"/>
                                      </a:rPr>
                                      <m:t>𝒊</m:t>
                                    </m:r>
                                    <m:r>
                                      <a:rPr lang="en-US" altLang="zh-CN" sz="1400" b="1">
                                        <a:solidFill>
                                          <a:schemeClr val="bg1"/>
                                        </a:solidFill>
                                        <a:latin typeface="Cambria Math" panose="02040503050406030204" pitchFamily="18" charset="0"/>
                                      </a:rPr>
                                      <m:t>−</m:t>
                                    </m:r>
                                    <m:r>
                                      <a:rPr lang="en-US" altLang="zh-CN" sz="1400" b="1">
                                        <a:solidFill>
                                          <a:schemeClr val="bg1"/>
                                        </a:solidFill>
                                        <a:latin typeface="Cambria Math" panose="02040503050406030204" pitchFamily="18" charset="0"/>
                                      </a:rPr>
                                      <m:t>𝟏</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acc>
                                      <m:accPr>
                                        <m:chr m:val="⃗"/>
                                        <m:ctrlPr>
                                          <a:rPr lang="zh-CN" altLang="en-US" sz="1400" b="1" i="1">
                                            <a:solidFill>
                                              <a:schemeClr val="bg1"/>
                                            </a:solidFill>
                                            <a:latin typeface="Cambria Math" panose="02040503050406030204" pitchFamily="18" charset="0"/>
                                          </a:rPr>
                                        </m:ctrlPr>
                                      </m:accPr>
                                      <m:e>
                                        <m:r>
                                          <a:rPr lang="en-US" altLang="zh-CN" sz="1400" b="1">
                                            <a:solidFill>
                                              <a:schemeClr val="bg1"/>
                                            </a:solidFill>
                                            <a:latin typeface="Cambria Math" panose="02040503050406030204" pitchFamily="18" charset="0"/>
                                          </a:rPr>
                                          <m:t>𝒂</m:t>
                                        </m:r>
                                      </m:e>
                                    </m:acc>
                                  </m:e>
                                  <m:sub>
                                    <m:r>
                                      <a:rPr lang="en-US" altLang="zh-CN" sz="1400" b="1">
                                        <a:solidFill>
                                          <a:schemeClr val="bg1"/>
                                        </a:solidFill>
                                        <a:latin typeface="Cambria Math" panose="02040503050406030204" pitchFamily="18" charset="0"/>
                                      </a:rPr>
                                      <m:t>𝒊</m:t>
                                    </m:r>
                                    <m:r>
                                      <a:rPr lang="en-US" altLang="zh-CN" sz="1400" b="1">
                                        <a:solidFill>
                                          <a:schemeClr val="bg1"/>
                                        </a:solidFill>
                                        <a:latin typeface="Cambria Math" panose="02040503050406030204" pitchFamily="18" charset="0"/>
                                      </a:rPr>
                                      <m:t>−</m:t>
                                    </m:r>
                                    <m:r>
                                      <a:rPr lang="en-US" altLang="zh-CN" sz="1400" b="1">
                                        <a:solidFill>
                                          <a:schemeClr val="bg1"/>
                                        </a:solidFill>
                                        <a:latin typeface="Cambria Math" panose="02040503050406030204" pitchFamily="18" charset="0"/>
                                      </a:rPr>
                                      <m:t>𝟏</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200" b="1" i="1" smtClean="0">
                                        <a:solidFill>
                                          <a:schemeClr val="bg1"/>
                                        </a:solidFill>
                                        <a:latin typeface="Cambria Math" panose="02040503050406030204" pitchFamily="18" charset="0"/>
                                      </a:rPr>
                                    </m:ctrlPr>
                                  </m:sSubPr>
                                  <m:e>
                                    <m:r>
                                      <a:rPr lang="en-US" altLang="zh-CN" sz="1200" b="1">
                                        <a:solidFill>
                                          <a:schemeClr val="bg1"/>
                                        </a:solidFill>
                                        <a:latin typeface="Cambria Math" panose="02040503050406030204" pitchFamily="18" charset="0"/>
                                      </a:rPr>
                                      <m:t>𝒅</m:t>
                                    </m:r>
                                  </m:e>
                                  <m:sub>
                                    <m:r>
                                      <a:rPr lang="en-US" altLang="zh-CN" sz="1200" b="1">
                                        <a:solidFill>
                                          <a:schemeClr val="bg1"/>
                                        </a:solidFill>
                                        <a:latin typeface="Cambria Math" panose="02040503050406030204" pitchFamily="18" charset="0"/>
                                      </a:rPr>
                                      <m:t>𝒊</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1" i="1" smtClean="0">
                                        <a:solidFill>
                                          <a:schemeClr val="bg1"/>
                                        </a:solidFill>
                                        <a:latin typeface="Cambria Math" panose="02040503050406030204" pitchFamily="18" charset="0"/>
                                      </a:rPr>
                                    </m:ctrlPr>
                                  </m:sSubPr>
                                  <m:e>
                                    <m:r>
                                      <a:rPr lang="en-US" altLang="zh-CN" sz="1400" b="1">
                                        <a:solidFill>
                                          <a:schemeClr val="bg1"/>
                                        </a:solidFill>
                                        <a:latin typeface="Cambria Math" panose="02040503050406030204" pitchFamily="18" charset="0"/>
                                      </a:rPr>
                                      <m:t>𝜽</m:t>
                                    </m:r>
                                  </m:e>
                                  <m:sub>
                                    <m:r>
                                      <a:rPr lang="en-US" altLang="zh-CN" sz="1400" b="1">
                                        <a:solidFill>
                                          <a:schemeClr val="bg1"/>
                                        </a:solidFill>
                                        <a:latin typeface="Cambria Math" panose="02040503050406030204" pitchFamily="18" charset="0"/>
                                      </a:rPr>
                                      <m:t>𝒊</m:t>
                                    </m:r>
                                  </m:sub>
                                </m:sSub>
                              </m:oMath>
                            </m:oMathPara>
                          </a14:m>
                          <a:endParaRPr lang="zh-CN" altLang="en-US">
                            <a:solidFill>
                              <a:schemeClr val="bg1"/>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022884185"/>
                      </a:ext>
                    </a:extLst>
                  </a:tr>
                </a:tbl>
              </a:graphicData>
            </a:graphic>
          </p:graphicFrame>
        </mc:Choice>
        <mc:Fallback xmlns="">
          <p:graphicFrame>
            <p:nvGraphicFramePr>
              <p:cNvPr id="12" name="表格 11">
                <a:extLst>
                  <a:ext uri="{FF2B5EF4-FFF2-40B4-BE49-F238E27FC236}">
                    <a16:creationId xmlns:a16="http://schemas.microsoft.com/office/drawing/2014/main" id="{E1B47D0B-29FB-4C6F-8E45-C26AD511044A}"/>
                  </a:ext>
                </a:extLst>
              </p:cNvPr>
              <p:cNvGraphicFramePr>
                <a:graphicFrameLocks noGrp="1"/>
              </p:cNvGraphicFramePr>
              <p:nvPr/>
            </p:nvGraphicFramePr>
            <p:xfrm>
              <a:off x="14766" y="102292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964464573"/>
                        </a:ext>
                      </a:extLst>
                    </a:gridCol>
                    <a:gridCol w="897420">
                      <a:extLst>
                        <a:ext uri="{9D8B030D-6E8A-4147-A177-3AD203B41FA5}">
                          <a16:colId xmlns:a16="http://schemas.microsoft.com/office/drawing/2014/main" val="235533743"/>
                        </a:ext>
                      </a:extLst>
                    </a:gridCol>
                    <a:gridCol w="897420">
                      <a:extLst>
                        <a:ext uri="{9D8B030D-6E8A-4147-A177-3AD203B41FA5}">
                          <a16:colId xmlns:a16="http://schemas.microsoft.com/office/drawing/2014/main" val="641728310"/>
                        </a:ext>
                      </a:extLst>
                    </a:gridCol>
                    <a:gridCol w="897420">
                      <a:extLst>
                        <a:ext uri="{9D8B030D-6E8A-4147-A177-3AD203B41FA5}">
                          <a16:colId xmlns:a16="http://schemas.microsoft.com/office/drawing/2014/main" val="4182852785"/>
                        </a:ext>
                      </a:extLst>
                    </a:gridCol>
                    <a:gridCol w="897420">
                      <a:extLst>
                        <a:ext uri="{9D8B030D-6E8A-4147-A177-3AD203B41FA5}">
                          <a16:colId xmlns:a16="http://schemas.microsoft.com/office/drawing/2014/main" val="4281674283"/>
                        </a:ext>
                      </a:extLst>
                    </a:gridCol>
                  </a:tblGrid>
                  <a:tr h="370840">
                    <a:tc>
                      <a:txBody>
                        <a:bodyPr/>
                        <a:lstStyle/>
                        <a:p>
                          <a:pPr algn="ctr"/>
                          <a:r>
                            <a:rPr lang="zh-CN" altLang="en-US">
                              <a:latin typeface="微软雅黑" panose="020B0503020204020204" pitchFamily="34" charset="-122"/>
                              <a:ea typeface="微软雅黑" panose="020B0503020204020204" pitchFamily="34" charset="-122"/>
                            </a:rPr>
                            <a:t>关节</a:t>
                          </a:r>
                        </a:p>
                      </a:txBody>
                      <a:tcPr anchor="ctr"/>
                    </a:tc>
                    <a:tc>
                      <a:txBody>
                        <a:bodyPr/>
                        <a:lstStyle/>
                        <a:p>
                          <a:endParaRPr lang="zh-CN"/>
                        </a:p>
                      </a:txBody>
                      <a:tcPr anchor="ctr">
                        <a:blipFill>
                          <a:blip r:embed="rId7"/>
                          <a:stretch>
                            <a:fillRect l="-100000" t="-6452" r="-301351" b="-24194"/>
                          </a:stretch>
                        </a:blipFill>
                      </a:tcPr>
                    </a:tc>
                    <a:tc>
                      <a:txBody>
                        <a:bodyPr/>
                        <a:lstStyle/>
                        <a:p>
                          <a:endParaRPr lang="zh-CN"/>
                        </a:p>
                      </a:txBody>
                      <a:tcPr anchor="ctr">
                        <a:blipFill>
                          <a:blip r:embed="rId7"/>
                          <a:stretch>
                            <a:fillRect l="-201361" t="-6452" r="-203401" b="-24194"/>
                          </a:stretch>
                        </a:blipFill>
                      </a:tcPr>
                    </a:tc>
                    <a:tc>
                      <a:txBody>
                        <a:bodyPr/>
                        <a:lstStyle/>
                        <a:p>
                          <a:endParaRPr lang="zh-CN"/>
                        </a:p>
                      </a:txBody>
                      <a:tcPr anchor="ctr">
                        <a:blipFill>
                          <a:blip r:embed="rId7"/>
                          <a:stretch>
                            <a:fillRect l="-299324" t="-6452" r="-102027" b="-24194"/>
                          </a:stretch>
                        </a:blipFill>
                      </a:tcPr>
                    </a:tc>
                    <a:tc>
                      <a:txBody>
                        <a:bodyPr/>
                        <a:lstStyle/>
                        <a:p>
                          <a:endParaRPr lang="zh-CN"/>
                        </a:p>
                      </a:txBody>
                      <a:tcPr anchor="ctr">
                        <a:blipFill>
                          <a:blip r:embed="rId7"/>
                          <a:stretch>
                            <a:fillRect l="-402041" t="-6452" r="-2721" b="-24194"/>
                          </a:stretch>
                        </a:blipFill>
                      </a:tcPr>
                    </a:tc>
                    <a:extLst>
                      <a:ext uri="{0D108BD9-81ED-4DB2-BD59-A6C34878D82A}">
                        <a16:rowId xmlns:a16="http://schemas.microsoft.com/office/drawing/2014/main" val="3022884185"/>
                      </a:ext>
                    </a:extLst>
                  </a:tr>
                </a:tbl>
              </a:graphicData>
            </a:graphic>
          </p:graphicFrame>
        </mc:Fallback>
      </mc:AlternateContent>
      <p:sp>
        <p:nvSpPr>
          <p:cNvPr id="13" name="矩形 12">
            <a:extLst>
              <a:ext uri="{FF2B5EF4-FFF2-40B4-BE49-F238E27FC236}">
                <a16:creationId xmlns:a16="http://schemas.microsoft.com/office/drawing/2014/main" id="{E93B2B21-896E-408E-A10F-0480B9CE1831}"/>
              </a:ext>
            </a:extLst>
          </p:cNvPr>
          <p:cNvSpPr/>
          <p:nvPr/>
        </p:nvSpPr>
        <p:spPr>
          <a:xfrm>
            <a:off x="1600800" y="733233"/>
            <a:ext cx="1130438" cy="338554"/>
          </a:xfrm>
          <a:prstGeom prst="rect">
            <a:avLst/>
          </a:prstGeom>
        </p:spPr>
        <p:txBody>
          <a:bodyPr wrap="none">
            <a:spAutoFit/>
          </a:bodyPr>
          <a:lstStyle/>
          <a:p>
            <a:r>
              <a:rPr lang="en-US" altLang="zh-CN" sz="1600" b="1" i="0" dirty="0">
                <a:latin typeface="微软雅黑" panose="020B0503020204020204" pitchFamily="34" charset="-122"/>
                <a:ea typeface="微软雅黑" panose="020B0503020204020204" pitchFamily="34" charset="-122"/>
              </a:rPr>
              <a:t>DH</a:t>
            </a:r>
            <a:r>
              <a:rPr lang="zh-CN" altLang="en-US" sz="1600" b="1" i="0" dirty="0">
                <a:latin typeface="微软雅黑" panose="020B0503020204020204" pitchFamily="34" charset="-122"/>
                <a:ea typeface="微软雅黑" panose="020B0503020204020204" pitchFamily="34" charset="-122"/>
              </a:rPr>
              <a:t>参数表</a:t>
            </a:r>
            <a:endParaRPr lang="zh-CN" altLang="en-US" sz="1600" b="1" dirty="0"/>
          </a:p>
        </p:txBody>
      </p:sp>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9BE2B16D-95E6-4678-9881-060FC079431A}"/>
                  </a:ext>
                </a:extLst>
              </p:cNvPr>
              <p:cNvGraphicFramePr>
                <a:graphicFrameLocks noGrp="1"/>
              </p:cNvGraphicFramePr>
              <p:nvPr/>
            </p:nvGraphicFramePr>
            <p:xfrm>
              <a:off x="14766" y="139376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420908167"/>
                        </a:ext>
                      </a:extLst>
                    </a:gridCol>
                    <a:gridCol w="897420">
                      <a:extLst>
                        <a:ext uri="{9D8B030D-6E8A-4147-A177-3AD203B41FA5}">
                          <a16:colId xmlns:a16="http://schemas.microsoft.com/office/drawing/2014/main" val="4218493241"/>
                        </a:ext>
                      </a:extLst>
                    </a:gridCol>
                    <a:gridCol w="897420">
                      <a:extLst>
                        <a:ext uri="{9D8B030D-6E8A-4147-A177-3AD203B41FA5}">
                          <a16:colId xmlns:a16="http://schemas.microsoft.com/office/drawing/2014/main" val="72192403"/>
                        </a:ext>
                      </a:extLst>
                    </a:gridCol>
                    <a:gridCol w="897420">
                      <a:extLst>
                        <a:ext uri="{9D8B030D-6E8A-4147-A177-3AD203B41FA5}">
                          <a16:colId xmlns:a16="http://schemas.microsoft.com/office/drawing/2014/main" val="1679685032"/>
                        </a:ext>
                      </a:extLst>
                    </a:gridCol>
                    <a:gridCol w="897420">
                      <a:extLst>
                        <a:ext uri="{9D8B030D-6E8A-4147-A177-3AD203B41FA5}">
                          <a16:colId xmlns:a16="http://schemas.microsoft.com/office/drawing/2014/main" val="4095903732"/>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1</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𝟏</m:t>
                                    </m:r>
                                  </m:sub>
                                </m:sSub>
                              </m:oMath>
                            </m:oMathPara>
                          </a14:m>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3555426221"/>
                      </a:ext>
                    </a:extLst>
                  </a:tr>
                </a:tbl>
              </a:graphicData>
            </a:graphic>
          </p:graphicFrame>
        </mc:Choice>
        <mc:Fallback xmlns="">
          <p:graphicFrame>
            <p:nvGraphicFramePr>
              <p:cNvPr id="14" name="表格 13">
                <a:extLst>
                  <a:ext uri="{FF2B5EF4-FFF2-40B4-BE49-F238E27FC236}">
                    <a16:creationId xmlns:a16="http://schemas.microsoft.com/office/drawing/2014/main" id="{9BE2B16D-95E6-4678-9881-060FC079431A}"/>
                  </a:ext>
                </a:extLst>
              </p:cNvPr>
              <p:cNvGraphicFramePr>
                <a:graphicFrameLocks noGrp="1"/>
              </p:cNvGraphicFramePr>
              <p:nvPr>
                <p:extLst>
                  <p:ext uri="{D42A27DB-BD31-4B8C-83A1-F6EECF244321}">
                    <p14:modId xmlns:p14="http://schemas.microsoft.com/office/powerpoint/2010/main" val="367454742"/>
                  </p:ext>
                </p:extLst>
              </p:nvPr>
            </p:nvGraphicFramePr>
            <p:xfrm>
              <a:off x="14766" y="139376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420908167"/>
                        </a:ext>
                      </a:extLst>
                    </a:gridCol>
                    <a:gridCol w="897420">
                      <a:extLst>
                        <a:ext uri="{9D8B030D-6E8A-4147-A177-3AD203B41FA5}">
                          <a16:colId xmlns:a16="http://schemas.microsoft.com/office/drawing/2014/main" val="4218493241"/>
                        </a:ext>
                      </a:extLst>
                    </a:gridCol>
                    <a:gridCol w="897420">
                      <a:extLst>
                        <a:ext uri="{9D8B030D-6E8A-4147-A177-3AD203B41FA5}">
                          <a16:colId xmlns:a16="http://schemas.microsoft.com/office/drawing/2014/main" val="72192403"/>
                        </a:ext>
                      </a:extLst>
                    </a:gridCol>
                    <a:gridCol w="897420">
                      <a:extLst>
                        <a:ext uri="{9D8B030D-6E8A-4147-A177-3AD203B41FA5}">
                          <a16:colId xmlns:a16="http://schemas.microsoft.com/office/drawing/2014/main" val="1679685032"/>
                        </a:ext>
                      </a:extLst>
                    </a:gridCol>
                    <a:gridCol w="897420">
                      <a:extLst>
                        <a:ext uri="{9D8B030D-6E8A-4147-A177-3AD203B41FA5}">
                          <a16:colId xmlns:a16="http://schemas.microsoft.com/office/drawing/2014/main" val="4095903732"/>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1</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endParaRPr lang="zh-CN"/>
                        </a:p>
                      </a:txBody>
                      <a:tcPr anchor="ctr">
                        <a:blipFill>
                          <a:blip r:embed="rId8"/>
                          <a:stretch>
                            <a:fillRect l="-402041" t="-6452" r="-2721" b="-24194"/>
                          </a:stretch>
                        </a:blipFill>
                      </a:tcPr>
                    </a:tc>
                    <a:extLst>
                      <a:ext uri="{0D108BD9-81ED-4DB2-BD59-A6C34878D82A}">
                        <a16:rowId xmlns:a16="http://schemas.microsoft.com/office/drawing/2014/main" val="355542622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表格 14">
                <a:extLst>
                  <a:ext uri="{FF2B5EF4-FFF2-40B4-BE49-F238E27FC236}">
                    <a16:creationId xmlns:a16="http://schemas.microsoft.com/office/drawing/2014/main" id="{35D16467-B62E-44DC-ABC6-5EA598B6C9C1}"/>
                  </a:ext>
                </a:extLst>
              </p:cNvPr>
              <p:cNvGraphicFramePr>
                <a:graphicFrameLocks noGrp="1"/>
              </p:cNvGraphicFramePr>
              <p:nvPr/>
            </p:nvGraphicFramePr>
            <p:xfrm>
              <a:off x="14766" y="176460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903980153"/>
                        </a:ext>
                      </a:extLst>
                    </a:gridCol>
                    <a:gridCol w="897420">
                      <a:extLst>
                        <a:ext uri="{9D8B030D-6E8A-4147-A177-3AD203B41FA5}">
                          <a16:colId xmlns:a16="http://schemas.microsoft.com/office/drawing/2014/main" val="103550731"/>
                        </a:ext>
                      </a:extLst>
                    </a:gridCol>
                    <a:gridCol w="897420">
                      <a:extLst>
                        <a:ext uri="{9D8B030D-6E8A-4147-A177-3AD203B41FA5}">
                          <a16:colId xmlns:a16="http://schemas.microsoft.com/office/drawing/2014/main" val="1742137356"/>
                        </a:ext>
                      </a:extLst>
                    </a:gridCol>
                    <a:gridCol w="897420">
                      <a:extLst>
                        <a:ext uri="{9D8B030D-6E8A-4147-A177-3AD203B41FA5}">
                          <a16:colId xmlns:a16="http://schemas.microsoft.com/office/drawing/2014/main" val="2834064147"/>
                        </a:ext>
                      </a:extLst>
                    </a:gridCol>
                    <a:gridCol w="897420">
                      <a:extLst>
                        <a:ext uri="{9D8B030D-6E8A-4147-A177-3AD203B41FA5}">
                          <a16:colId xmlns:a16="http://schemas.microsoft.com/office/drawing/2014/main" val="2062733112"/>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2</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lgn="ctr"/>
                          <a:r>
                            <a:rPr lang="en-US" altLang="zh-CN" b="1">
                              <a:solidFill>
                                <a:schemeClr val="tx1"/>
                              </a:solidFill>
                              <a:latin typeface="Times New Roman" panose="02020603050405020304" pitchFamily="18" charset="0"/>
                              <a:cs typeface="Times New Roman" panose="02020603050405020304" pitchFamily="18" charset="0"/>
                            </a:rPr>
                            <a:t>0</a:t>
                          </a:r>
                          <a:endParaRPr lang="zh-CN" altLang="en-US" b="1">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𝑳</m:t>
                                    </m:r>
                                  </m:e>
                                  <m:sub>
                                    <m:r>
                                      <a:rPr lang="en-US" altLang="zh-CN" b="1" i="1" smtClean="0">
                                        <a:solidFill>
                                          <a:schemeClr val="tx1"/>
                                        </a:solidFill>
                                        <a:latin typeface="Cambria Math" panose="02040503050406030204" pitchFamily="18" charset="0"/>
                                      </a:rPr>
                                      <m:t>𝟏</m:t>
                                    </m:r>
                                  </m:sub>
                                </m:sSub>
                              </m:oMath>
                            </m:oMathPara>
                          </a14:m>
                          <a:endParaRPr lang="zh-CN" altLang="en-US" b="1">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lgn="ctr"/>
                          <a:r>
                            <a:rPr lang="en-US" altLang="zh-CN" b="1">
                              <a:solidFill>
                                <a:schemeClr val="tx1"/>
                              </a:solidFill>
                              <a:latin typeface="Times New Roman" panose="02020603050405020304" pitchFamily="18" charset="0"/>
                              <a:cs typeface="Times New Roman" panose="02020603050405020304" pitchFamily="18" charset="0"/>
                            </a:rPr>
                            <a:t>0</a:t>
                          </a:r>
                          <a:endParaRPr lang="zh-CN" altLang="en-US" b="1">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𝟐</m:t>
                                    </m:r>
                                  </m:sub>
                                </m:sSub>
                              </m:oMath>
                            </m:oMathPara>
                          </a14:m>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extLst>
                      <a:ext uri="{0D108BD9-81ED-4DB2-BD59-A6C34878D82A}">
                        <a16:rowId xmlns:a16="http://schemas.microsoft.com/office/drawing/2014/main" val="2547415582"/>
                      </a:ext>
                    </a:extLst>
                  </a:tr>
                </a:tbl>
              </a:graphicData>
            </a:graphic>
          </p:graphicFrame>
        </mc:Choice>
        <mc:Fallback xmlns="">
          <p:graphicFrame>
            <p:nvGraphicFramePr>
              <p:cNvPr id="15" name="表格 14">
                <a:extLst>
                  <a:ext uri="{FF2B5EF4-FFF2-40B4-BE49-F238E27FC236}">
                    <a16:creationId xmlns:a16="http://schemas.microsoft.com/office/drawing/2014/main" id="{35D16467-B62E-44DC-ABC6-5EA598B6C9C1}"/>
                  </a:ext>
                </a:extLst>
              </p:cNvPr>
              <p:cNvGraphicFramePr>
                <a:graphicFrameLocks noGrp="1"/>
              </p:cNvGraphicFramePr>
              <p:nvPr>
                <p:extLst>
                  <p:ext uri="{D42A27DB-BD31-4B8C-83A1-F6EECF244321}">
                    <p14:modId xmlns:p14="http://schemas.microsoft.com/office/powerpoint/2010/main" val="3567265962"/>
                  </p:ext>
                </p:extLst>
              </p:nvPr>
            </p:nvGraphicFramePr>
            <p:xfrm>
              <a:off x="14766" y="176460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3903980153"/>
                        </a:ext>
                      </a:extLst>
                    </a:gridCol>
                    <a:gridCol w="897420">
                      <a:extLst>
                        <a:ext uri="{9D8B030D-6E8A-4147-A177-3AD203B41FA5}">
                          <a16:colId xmlns:a16="http://schemas.microsoft.com/office/drawing/2014/main" val="103550731"/>
                        </a:ext>
                      </a:extLst>
                    </a:gridCol>
                    <a:gridCol w="897420">
                      <a:extLst>
                        <a:ext uri="{9D8B030D-6E8A-4147-A177-3AD203B41FA5}">
                          <a16:colId xmlns:a16="http://schemas.microsoft.com/office/drawing/2014/main" val="1742137356"/>
                        </a:ext>
                      </a:extLst>
                    </a:gridCol>
                    <a:gridCol w="897420">
                      <a:extLst>
                        <a:ext uri="{9D8B030D-6E8A-4147-A177-3AD203B41FA5}">
                          <a16:colId xmlns:a16="http://schemas.microsoft.com/office/drawing/2014/main" val="2834064147"/>
                        </a:ext>
                      </a:extLst>
                    </a:gridCol>
                    <a:gridCol w="897420">
                      <a:extLst>
                        <a:ext uri="{9D8B030D-6E8A-4147-A177-3AD203B41FA5}">
                          <a16:colId xmlns:a16="http://schemas.microsoft.com/office/drawing/2014/main" val="2062733112"/>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2</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pPr algn="ctr"/>
                          <a:r>
                            <a:rPr lang="en-US" altLang="zh-CN" b="1">
                              <a:solidFill>
                                <a:schemeClr val="tx1"/>
                              </a:solidFill>
                              <a:latin typeface="Times New Roman" panose="02020603050405020304" pitchFamily="18" charset="0"/>
                              <a:cs typeface="Times New Roman" panose="02020603050405020304" pitchFamily="18" charset="0"/>
                            </a:rPr>
                            <a:t>0</a:t>
                          </a:r>
                          <a:endParaRPr lang="zh-CN" altLang="en-US" b="1">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endParaRPr lang="zh-CN"/>
                        </a:p>
                      </a:txBody>
                      <a:tcPr anchor="ctr">
                        <a:blipFill>
                          <a:blip r:embed="rId9"/>
                          <a:stretch>
                            <a:fillRect l="-201361" t="-8065" r="-203401" b="-24194"/>
                          </a:stretch>
                        </a:blipFill>
                      </a:tcPr>
                    </a:tc>
                    <a:tc>
                      <a:txBody>
                        <a:bodyPr/>
                        <a:lstStyle/>
                        <a:p>
                          <a:pPr algn="ctr"/>
                          <a:r>
                            <a:rPr lang="en-US" altLang="zh-CN" b="1">
                              <a:solidFill>
                                <a:schemeClr val="tx1"/>
                              </a:solidFill>
                              <a:latin typeface="Times New Roman" panose="02020603050405020304" pitchFamily="18" charset="0"/>
                              <a:cs typeface="Times New Roman" panose="02020603050405020304" pitchFamily="18" charset="0"/>
                            </a:rPr>
                            <a:t>0</a:t>
                          </a:r>
                          <a:endParaRPr lang="zh-CN" altLang="en-US" b="1">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40000"/>
                            <a:lumOff val="60000"/>
                          </a:schemeClr>
                        </a:solidFill>
                      </a:tcPr>
                    </a:tc>
                    <a:tc>
                      <a:txBody>
                        <a:bodyPr/>
                        <a:lstStyle/>
                        <a:p>
                          <a:endParaRPr lang="zh-CN"/>
                        </a:p>
                      </a:txBody>
                      <a:tcPr anchor="ctr">
                        <a:blipFill>
                          <a:blip r:embed="rId9"/>
                          <a:stretch>
                            <a:fillRect l="-402041" t="-8065" r="-2721" b="-24194"/>
                          </a:stretch>
                        </a:blipFill>
                      </a:tcPr>
                    </a:tc>
                    <a:extLst>
                      <a:ext uri="{0D108BD9-81ED-4DB2-BD59-A6C34878D82A}">
                        <a16:rowId xmlns:a16="http://schemas.microsoft.com/office/drawing/2014/main" val="254741558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18448636-23E6-456E-B8EB-3B5EE8DC8EA1}"/>
                  </a:ext>
                </a:extLst>
              </p:cNvPr>
              <p:cNvGraphicFramePr>
                <a:graphicFrameLocks noGrp="1"/>
              </p:cNvGraphicFramePr>
              <p:nvPr/>
            </p:nvGraphicFramePr>
            <p:xfrm>
              <a:off x="14766" y="213544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1725029271"/>
                        </a:ext>
                      </a:extLst>
                    </a:gridCol>
                    <a:gridCol w="897420">
                      <a:extLst>
                        <a:ext uri="{9D8B030D-6E8A-4147-A177-3AD203B41FA5}">
                          <a16:colId xmlns:a16="http://schemas.microsoft.com/office/drawing/2014/main" val="3896583131"/>
                        </a:ext>
                      </a:extLst>
                    </a:gridCol>
                    <a:gridCol w="897420">
                      <a:extLst>
                        <a:ext uri="{9D8B030D-6E8A-4147-A177-3AD203B41FA5}">
                          <a16:colId xmlns:a16="http://schemas.microsoft.com/office/drawing/2014/main" val="2643787333"/>
                        </a:ext>
                      </a:extLst>
                    </a:gridCol>
                    <a:gridCol w="897420">
                      <a:extLst>
                        <a:ext uri="{9D8B030D-6E8A-4147-A177-3AD203B41FA5}">
                          <a16:colId xmlns:a16="http://schemas.microsoft.com/office/drawing/2014/main" val="713992570"/>
                        </a:ext>
                      </a:extLst>
                    </a:gridCol>
                    <a:gridCol w="897420">
                      <a:extLst>
                        <a:ext uri="{9D8B030D-6E8A-4147-A177-3AD203B41FA5}">
                          <a16:colId xmlns:a16="http://schemas.microsoft.com/office/drawing/2014/main" val="1146037426"/>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3</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𝑳</m:t>
                                    </m:r>
                                  </m:e>
                                  <m:sub>
                                    <m:r>
                                      <a:rPr lang="en-US" altLang="zh-CN" b="1" i="1" smtClean="0">
                                        <a:solidFill>
                                          <a:schemeClr val="tx1"/>
                                        </a:solidFill>
                                        <a:latin typeface="Cambria Math" panose="02040503050406030204" pitchFamily="18" charset="0"/>
                                      </a:rPr>
                                      <m:t>𝟐</m:t>
                                    </m:r>
                                  </m:sub>
                                </m:sSub>
                              </m:oMath>
                            </m:oMathPara>
                          </a14:m>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𝜽</m:t>
                                    </m:r>
                                  </m:e>
                                  <m:sub>
                                    <m:r>
                                      <a:rPr lang="en-US" altLang="zh-CN" b="1" i="1" smtClean="0">
                                        <a:solidFill>
                                          <a:schemeClr val="tx1"/>
                                        </a:solidFill>
                                        <a:latin typeface="Cambria Math" panose="02040503050406030204" pitchFamily="18" charset="0"/>
                                      </a:rPr>
                                      <m:t>𝟑</m:t>
                                    </m:r>
                                  </m:sub>
                                </m:sSub>
                              </m:oMath>
                            </m:oMathPara>
                          </a14:m>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1518110052"/>
                      </a:ext>
                    </a:extLst>
                  </a:tr>
                </a:tbl>
              </a:graphicData>
            </a:graphic>
          </p:graphicFrame>
        </mc:Choice>
        <mc:Fallback xmlns="">
          <p:graphicFrame>
            <p:nvGraphicFramePr>
              <p:cNvPr id="16" name="表格 15">
                <a:extLst>
                  <a:ext uri="{FF2B5EF4-FFF2-40B4-BE49-F238E27FC236}">
                    <a16:creationId xmlns:a16="http://schemas.microsoft.com/office/drawing/2014/main" id="{18448636-23E6-456E-B8EB-3B5EE8DC8EA1}"/>
                  </a:ext>
                </a:extLst>
              </p:cNvPr>
              <p:cNvGraphicFramePr>
                <a:graphicFrameLocks noGrp="1"/>
              </p:cNvGraphicFramePr>
              <p:nvPr>
                <p:extLst>
                  <p:ext uri="{D42A27DB-BD31-4B8C-83A1-F6EECF244321}">
                    <p14:modId xmlns:p14="http://schemas.microsoft.com/office/powerpoint/2010/main" val="1293979702"/>
                  </p:ext>
                </p:extLst>
              </p:nvPr>
            </p:nvGraphicFramePr>
            <p:xfrm>
              <a:off x="14766" y="2135441"/>
              <a:ext cx="4487100" cy="370840"/>
            </p:xfrm>
            <a:graphic>
              <a:graphicData uri="http://schemas.openxmlformats.org/drawingml/2006/table">
                <a:tbl>
                  <a:tblPr firstRow="1" bandRow="1">
                    <a:tableStyleId>{5C22544A-7EE6-4342-B048-85BDC9FD1C3A}</a:tableStyleId>
                  </a:tblPr>
                  <a:tblGrid>
                    <a:gridCol w="897420">
                      <a:extLst>
                        <a:ext uri="{9D8B030D-6E8A-4147-A177-3AD203B41FA5}">
                          <a16:colId xmlns:a16="http://schemas.microsoft.com/office/drawing/2014/main" val="1725029271"/>
                        </a:ext>
                      </a:extLst>
                    </a:gridCol>
                    <a:gridCol w="897420">
                      <a:extLst>
                        <a:ext uri="{9D8B030D-6E8A-4147-A177-3AD203B41FA5}">
                          <a16:colId xmlns:a16="http://schemas.microsoft.com/office/drawing/2014/main" val="3896583131"/>
                        </a:ext>
                      </a:extLst>
                    </a:gridCol>
                    <a:gridCol w="897420">
                      <a:extLst>
                        <a:ext uri="{9D8B030D-6E8A-4147-A177-3AD203B41FA5}">
                          <a16:colId xmlns:a16="http://schemas.microsoft.com/office/drawing/2014/main" val="2643787333"/>
                        </a:ext>
                      </a:extLst>
                    </a:gridCol>
                    <a:gridCol w="897420">
                      <a:extLst>
                        <a:ext uri="{9D8B030D-6E8A-4147-A177-3AD203B41FA5}">
                          <a16:colId xmlns:a16="http://schemas.microsoft.com/office/drawing/2014/main" val="713992570"/>
                        </a:ext>
                      </a:extLst>
                    </a:gridCol>
                    <a:gridCol w="897420">
                      <a:extLst>
                        <a:ext uri="{9D8B030D-6E8A-4147-A177-3AD203B41FA5}">
                          <a16:colId xmlns:a16="http://schemas.microsoft.com/office/drawing/2014/main" val="1146037426"/>
                        </a:ext>
                      </a:extLst>
                    </a:gridCol>
                  </a:tblGrid>
                  <a:tr h="370840">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3</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endParaRPr lang="zh-CN"/>
                        </a:p>
                      </a:txBody>
                      <a:tcPr anchor="ctr">
                        <a:blipFill>
                          <a:blip r:embed="rId10"/>
                          <a:stretch>
                            <a:fillRect l="-201361" t="-8065" r="-203401" b="-24194"/>
                          </a:stretch>
                        </a:blipFill>
                      </a:tcPr>
                    </a:tc>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0</a:t>
                          </a:r>
                          <a:endParaRPr lang="zh-CN" altLang="en-US" b="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endParaRPr lang="zh-CN"/>
                        </a:p>
                      </a:txBody>
                      <a:tcPr anchor="ctr">
                        <a:blipFill>
                          <a:blip r:embed="rId10"/>
                          <a:stretch>
                            <a:fillRect l="-402041" t="-8065" r="-2721" b="-24194"/>
                          </a:stretch>
                        </a:blipFill>
                      </a:tcPr>
                    </a:tc>
                    <a:extLst>
                      <a:ext uri="{0D108BD9-81ED-4DB2-BD59-A6C34878D82A}">
                        <a16:rowId xmlns:a16="http://schemas.microsoft.com/office/drawing/2014/main" val="1518110052"/>
                      </a:ext>
                    </a:extLst>
                  </a:tr>
                </a:tbl>
              </a:graphicData>
            </a:graphic>
          </p:graphicFrame>
        </mc:Fallback>
      </mc:AlternateContent>
      <p:cxnSp>
        <p:nvCxnSpPr>
          <p:cNvPr id="17" name="直接箭头连接符 16">
            <a:extLst>
              <a:ext uri="{FF2B5EF4-FFF2-40B4-BE49-F238E27FC236}">
                <a16:creationId xmlns:a16="http://schemas.microsoft.com/office/drawing/2014/main" id="{8E71BE3E-4029-4E5B-92B8-E049ACA404B6}"/>
              </a:ext>
            </a:extLst>
          </p:cNvPr>
          <p:cNvCxnSpPr>
            <a:cxnSpLocks/>
          </p:cNvCxnSpPr>
          <p:nvPr/>
        </p:nvCxnSpPr>
        <p:spPr>
          <a:xfrm flipV="1">
            <a:off x="432048" y="5340568"/>
            <a:ext cx="0" cy="83166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682FF63-43E5-49F3-9163-C98FCCD0E13B}"/>
                  </a:ext>
                </a:extLst>
              </p:cNvPr>
              <p:cNvSpPr txBox="1"/>
              <p:nvPr/>
            </p:nvSpPr>
            <p:spPr>
              <a:xfrm>
                <a:off x="-26180" y="5086098"/>
                <a:ext cx="5164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C000"/>
                              </a:solidFill>
                              <a:latin typeface="Cambria Math" panose="02040503050406030204" pitchFamily="18" charset="0"/>
                            </a:rPr>
                          </m:ctrlPr>
                        </m:sSubPr>
                        <m:e>
                          <m:r>
                            <a:rPr lang="en-US" altLang="zh-CN" b="1" i="1" smtClean="0">
                              <a:solidFill>
                                <a:srgbClr val="FFC000"/>
                              </a:solidFill>
                              <a:latin typeface="Cambria Math" panose="02040503050406030204" pitchFamily="18" charset="0"/>
                            </a:rPr>
                            <m:t>𝒀</m:t>
                          </m:r>
                        </m:e>
                        <m:sub>
                          <m:r>
                            <a:rPr lang="en-US" altLang="zh-CN" b="1">
                              <a:solidFill>
                                <a:srgbClr val="FFC000"/>
                              </a:solidFill>
                              <a:latin typeface="Cambria Math" panose="02040503050406030204" pitchFamily="18" charset="0"/>
                            </a:rPr>
                            <m:t>0</m:t>
                          </m:r>
                        </m:sub>
                      </m:sSub>
                    </m:oMath>
                  </m:oMathPara>
                </a14:m>
                <a:endParaRPr lang="zh-CN" altLang="en-US" b="1" dirty="0">
                  <a:solidFill>
                    <a:srgbClr val="FFC000"/>
                  </a:solidFill>
                </a:endParaRPr>
              </a:p>
            </p:txBody>
          </p:sp>
        </mc:Choice>
        <mc:Fallback xmlns="">
          <p:sp>
            <p:nvSpPr>
              <p:cNvPr id="18" name="文本框 17">
                <a:extLst>
                  <a:ext uri="{FF2B5EF4-FFF2-40B4-BE49-F238E27FC236}">
                    <a16:creationId xmlns:a16="http://schemas.microsoft.com/office/drawing/2014/main" id="{2682FF63-43E5-49F3-9163-C98FCCD0E13B}"/>
                  </a:ext>
                </a:extLst>
              </p:cNvPr>
              <p:cNvSpPr txBox="1">
                <a:spLocks noRot="1" noChangeAspect="1" noMove="1" noResize="1" noEditPoints="1" noAdjustHandles="1" noChangeArrowheads="1" noChangeShapeType="1" noTextEdit="1"/>
              </p:cNvSpPr>
              <p:nvPr/>
            </p:nvSpPr>
            <p:spPr>
              <a:xfrm>
                <a:off x="-26180" y="5086098"/>
                <a:ext cx="516423" cy="369332"/>
              </a:xfrm>
              <a:prstGeom prst="rect">
                <a:avLst/>
              </a:prstGeom>
              <a:blipFill>
                <a:blip r:embed="rId11"/>
                <a:stretch>
                  <a:fillRect/>
                </a:stretch>
              </a:blipFill>
            </p:spPr>
            <p:txBody>
              <a:bodyPr/>
              <a:lstStyle/>
              <a:p>
                <a:r>
                  <a:rPr lang="zh-CN" altLang="en-US">
                    <a:noFill/>
                  </a:rPr>
                  <a:t> </a:t>
                </a:r>
              </a:p>
            </p:txBody>
          </p:sp>
        </mc:Fallback>
      </mc:AlternateContent>
      <p:cxnSp>
        <p:nvCxnSpPr>
          <p:cNvPr id="19" name="直接连接符 18">
            <a:extLst>
              <a:ext uri="{FF2B5EF4-FFF2-40B4-BE49-F238E27FC236}">
                <a16:creationId xmlns:a16="http://schemas.microsoft.com/office/drawing/2014/main" id="{47C2FB15-1D42-4063-8AC1-E6F8EC8478E9}"/>
              </a:ext>
            </a:extLst>
          </p:cNvPr>
          <p:cNvCxnSpPr/>
          <p:nvPr/>
        </p:nvCxnSpPr>
        <p:spPr>
          <a:xfrm flipV="1">
            <a:off x="432048" y="3804128"/>
            <a:ext cx="1504698" cy="23713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8B1B375-3F30-4899-9C63-518F3D63F6AD}"/>
                  </a:ext>
                </a:extLst>
              </p:cNvPr>
              <p:cNvSpPr txBox="1"/>
              <p:nvPr/>
            </p:nvSpPr>
            <p:spPr>
              <a:xfrm>
                <a:off x="905034" y="4593801"/>
                <a:ext cx="4138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𝝆</m:t>
                      </m:r>
                    </m:oMath>
                  </m:oMathPara>
                </a14:m>
                <a:endParaRPr lang="zh-CN" altLang="en-US" sz="2000" b="1" dirty="0"/>
              </a:p>
            </p:txBody>
          </p:sp>
        </mc:Choice>
        <mc:Fallback xmlns="">
          <p:sp>
            <p:nvSpPr>
              <p:cNvPr id="20" name="文本框 19">
                <a:extLst>
                  <a:ext uri="{FF2B5EF4-FFF2-40B4-BE49-F238E27FC236}">
                    <a16:creationId xmlns:a16="http://schemas.microsoft.com/office/drawing/2014/main" id="{38B1B375-3F30-4899-9C63-518F3D63F6AD}"/>
                  </a:ext>
                </a:extLst>
              </p:cNvPr>
              <p:cNvSpPr txBox="1">
                <a:spLocks noRot="1" noChangeAspect="1" noMove="1" noResize="1" noEditPoints="1" noAdjustHandles="1" noChangeArrowheads="1" noChangeShapeType="1" noTextEdit="1"/>
              </p:cNvSpPr>
              <p:nvPr/>
            </p:nvSpPr>
            <p:spPr>
              <a:xfrm>
                <a:off x="905034" y="4593801"/>
                <a:ext cx="413896" cy="400110"/>
              </a:xfrm>
              <a:prstGeom prst="rect">
                <a:avLst/>
              </a:prstGeom>
              <a:blipFill>
                <a:blip r:embed="rId12"/>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2F91724D-0D09-4630-BEF1-D0271F8913F3}"/>
                  </a:ext>
                </a:extLst>
              </p:cNvPr>
              <p:cNvSpPr/>
              <p:nvPr/>
            </p:nvSpPr>
            <p:spPr>
              <a:xfrm>
                <a:off x="5277185" y="2566211"/>
                <a:ext cx="1931363" cy="7813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b="0" i="1" dirty="0" smtClean="0">
                          <a:latin typeface="Cambria Math" panose="02040503050406030204" pitchFamily="18" charset="0"/>
                        </a:rPr>
                        <m:t>𝜌</m:t>
                      </m:r>
                      <m:r>
                        <a:rPr lang="en-US" altLang="zh-CN" sz="2200" b="0" i="1" dirty="0" smtClean="0">
                          <a:latin typeface="Cambria Math" panose="02040503050406030204" pitchFamily="18" charset="0"/>
                        </a:rPr>
                        <m:t>=</m:t>
                      </m:r>
                      <m:rad>
                        <m:radPr>
                          <m:degHide m:val="on"/>
                          <m:ctrlPr>
                            <a:rPr lang="en-US" altLang="zh-CN" sz="2200" i="1" dirty="0">
                              <a:latin typeface="Cambria Math" panose="02040503050406030204" pitchFamily="18" charset="0"/>
                            </a:rPr>
                          </m:ctrlPr>
                        </m:radPr>
                        <m:deg/>
                        <m:e>
                          <m:sSubSup>
                            <m:sSubSupPr>
                              <m:ctrlPr>
                                <a:rPr lang="en-US" altLang="zh-CN" sz="2200" i="1" dirty="0">
                                  <a:latin typeface="Cambria Math" panose="02040503050406030204" pitchFamily="18" charset="0"/>
                                </a:rPr>
                              </m:ctrlPr>
                            </m:sSubSupPr>
                            <m:e>
                              <m:r>
                                <a:rPr lang="en-US" altLang="zh-CN" sz="2200" dirty="0">
                                  <a:latin typeface="Cambria Math" panose="02040503050406030204" pitchFamily="18" charset="0"/>
                                </a:rPr>
                                <m:t>𝑝</m:t>
                              </m:r>
                            </m:e>
                            <m:sub>
                              <m:r>
                                <a:rPr lang="en-US" altLang="zh-CN" sz="2200" dirty="0">
                                  <a:latin typeface="Cambria Math" panose="02040503050406030204" pitchFamily="18" charset="0"/>
                                </a:rPr>
                                <m:t>𝑥</m:t>
                              </m:r>
                            </m:sub>
                            <m:sup>
                              <m:r>
                                <a:rPr lang="en-US" altLang="zh-CN" sz="2200" dirty="0">
                                  <a:latin typeface="Cambria Math" panose="02040503050406030204" pitchFamily="18" charset="0"/>
                                </a:rPr>
                                <m:t>2</m:t>
                              </m:r>
                            </m:sup>
                          </m:sSubSup>
                          <m:r>
                            <a:rPr lang="en-US" altLang="zh-CN" sz="2200" dirty="0">
                              <a:latin typeface="Cambria Math" panose="02040503050406030204" pitchFamily="18" charset="0"/>
                            </a:rPr>
                            <m:t>+</m:t>
                          </m:r>
                          <m:sSubSup>
                            <m:sSubSupPr>
                              <m:ctrlPr>
                                <a:rPr lang="en-US" altLang="zh-CN" sz="2200" i="1" dirty="0">
                                  <a:latin typeface="Cambria Math" panose="02040503050406030204" pitchFamily="18" charset="0"/>
                                </a:rPr>
                              </m:ctrlPr>
                            </m:sSubSupPr>
                            <m:e>
                              <m:r>
                                <a:rPr lang="en-US" altLang="zh-CN" sz="2200" dirty="0">
                                  <a:latin typeface="Cambria Math" panose="02040503050406030204" pitchFamily="18" charset="0"/>
                                </a:rPr>
                                <m:t>𝑝</m:t>
                              </m:r>
                            </m:e>
                            <m:sub>
                              <m:r>
                                <a:rPr lang="en-US" altLang="zh-CN" sz="2200" dirty="0">
                                  <a:latin typeface="Cambria Math" panose="02040503050406030204" pitchFamily="18" charset="0"/>
                                </a:rPr>
                                <m:t>𝑦</m:t>
                              </m:r>
                            </m:sub>
                            <m:sup>
                              <m:r>
                                <a:rPr lang="en-US" altLang="zh-CN" sz="2200" dirty="0">
                                  <a:latin typeface="Cambria Math" panose="02040503050406030204" pitchFamily="18" charset="0"/>
                                </a:rPr>
                                <m:t>2</m:t>
                              </m:r>
                            </m:sup>
                          </m:sSubSup>
                        </m:e>
                      </m:rad>
                    </m:oMath>
                  </m:oMathPara>
                </a14:m>
                <a:endParaRPr lang="zh-CN" altLang="en-US" sz="2200" dirty="0"/>
              </a:p>
            </p:txBody>
          </p:sp>
        </mc:Choice>
        <mc:Fallback xmlns="">
          <p:sp>
            <p:nvSpPr>
              <p:cNvPr id="21" name="矩形 20">
                <a:extLst>
                  <a:ext uri="{FF2B5EF4-FFF2-40B4-BE49-F238E27FC236}">
                    <a16:creationId xmlns:a16="http://schemas.microsoft.com/office/drawing/2014/main" id="{2F91724D-0D09-4630-BEF1-D0271F8913F3}"/>
                  </a:ext>
                </a:extLst>
              </p:cNvPr>
              <p:cNvSpPr>
                <a:spLocks noRot="1" noChangeAspect="1" noMove="1" noResize="1" noEditPoints="1" noAdjustHandles="1" noChangeArrowheads="1" noChangeShapeType="1" noTextEdit="1"/>
              </p:cNvSpPr>
              <p:nvPr/>
            </p:nvSpPr>
            <p:spPr>
              <a:xfrm>
                <a:off x="5277185" y="2566211"/>
                <a:ext cx="1931363" cy="78130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FC3F2FAE-8BEA-4319-8216-171B40F00A44}"/>
                  </a:ext>
                </a:extLst>
              </p:cNvPr>
              <p:cNvSpPr txBox="1"/>
              <p:nvPr/>
            </p:nvSpPr>
            <p:spPr>
              <a:xfrm>
                <a:off x="1936746" y="3447431"/>
                <a:ext cx="1297085" cy="4282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𝑷</m:t>
                      </m:r>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m:t>
                          </m:r>
                        </m:e>
                        <m:sub>
                          <m:r>
                            <a:rPr lang="en-US" altLang="zh-CN" sz="2000" b="1" i="1" smtClean="0">
                              <a:latin typeface="Cambria Math" panose="02040503050406030204" pitchFamily="18" charset="0"/>
                            </a:rPr>
                            <m:t>𝒙</m:t>
                          </m:r>
                        </m:sub>
                      </m:sSub>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m:t>
                          </m:r>
                        </m:e>
                        <m:sub>
                          <m:r>
                            <a:rPr lang="en-US" altLang="zh-CN" sz="2000" b="1" i="1" smtClean="0">
                              <a:latin typeface="Cambria Math" panose="02040503050406030204" pitchFamily="18" charset="0"/>
                            </a:rPr>
                            <m:t>𝒚</m:t>
                          </m:r>
                        </m:sub>
                      </m:sSub>
                      <m:r>
                        <a:rPr lang="en-US" altLang="zh-CN" sz="2000" b="1" i="1" smtClean="0">
                          <a:latin typeface="Cambria Math" panose="02040503050406030204" pitchFamily="18" charset="0"/>
                        </a:rPr>
                        <m:t>)</m:t>
                      </m:r>
                    </m:oMath>
                  </m:oMathPara>
                </a14:m>
                <a:endParaRPr lang="zh-CN" altLang="en-US" sz="2000" b="1" dirty="0"/>
              </a:p>
            </p:txBody>
          </p:sp>
        </mc:Choice>
        <mc:Fallback xmlns="">
          <p:sp>
            <p:nvSpPr>
              <p:cNvPr id="22" name="文本框 21">
                <a:extLst>
                  <a:ext uri="{FF2B5EF4-FFF2-40B4-BE49-F238E27FC236}">
                    <a16:creationId xmlns:a16="http://schemas.microsoft.com/office/drawing/2014/main" id="{FC3F2FAE-8BEA-4319-8216-171B40F00A44}"/>
                  </a:ext>
                </a:extLst>
              </p:cNvPr>
              <p:cNvSpPr txBox="1">
                <a:spLocks noRot="1" noChangeAspect="1" noMove="1" noResize="1" noEditPoints="1" noAdjustHandles="1" noChangeArrowheads="1" noChangeShapeType="1" noTextEdit="1"/>
              </p:cNvSpPr>
              <p:nvPr/>
            </p:nvSpPr>
            <p:spPr>
              <a:xfrm>
                <a:off x="1936746" y="3447431"/>
                <a:ext cx="1297085" cy="428259"/>
              </a:xfrm>
              <a:prstGeom prst="rect">
                <a:avLst/>
              </a:prstGeom>
              <a:blipFill>
                <a:blip r:embed="rId14"/>
                <a:stretch>
                  <a:fillRect b="-8571"/>
                </a:stretch>
              </a:blipFill>
            </p:spPr>
            <p:txBody>
              <a:bodyPr/>
              <a:lstStyle/>
              <a:p>
                <a:r>
                  <a:rPr lang="zh-CN" altLang="en-US">
                    <a:noFill/>
                  </a:rPr>
                  <a:t> </a:t>
                </a:r>
              </a:p>
            </p:txBody>
          </p:sp>
        </mc:Fallback>
      </mc:AlternateContent>
      <p:sp>
        <p:nvSpPr>
          <p:cNvPr id="23" name="弧形 22">
            <a:extLst>
              <a:ext uri="{FF2B5EF4-FFF2-40B4-BE49-F238E27FC236}">
                <a16:creationId xmlns:a16="http://schemas.microsoft.com/office/drawing/2014/main" id="{58E9612A-BD82-4B2E-BB3C-2D0FB4C951A2}"/>
              </a:ext>
            </a:extLst>
          </p:cNvPr>
          <p:cNvSpPr/>
          <p:nvPr/>
        </p:nvSpPr>
        <p:spPr>
          <a:xfrm>
            <a:off x="1584216" y="5215426"/>
            <a:ext cx="720000" cy="720000"/>
          </a:xfrm>
          <a:prstGeom prst="arc">
            <a:avLst>
              <a:gd name="adj1" fmla="val 10074465"/>
              <a:gd name="adj2" fmla="val 1586471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54C32BD-E7A2-4455-A14F-962470AA334D}"/>
                  </a:ext>
                </a:extLst>
              </p:cNvPr>
              <p:cNvSpPr txBox="1"/>
              <p:nvPr/>
            </p:nvSpPr>
            <p:spPr>
              <a:xfrm>
                <a:off x="1285913" y="5045262"/>
                <a:ext cx="45076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𝝓</m:t>
                      </m:r>
                    </m:oMath>
                  </m:oMathPara>
                </a14:m>
                <a:endParaRPr lang="zh-CN" altLang="en-US" sz="2000" b="1" dirty="0"/>
              </a:p>
            </p:txBody>
          </p:sp>
        </mc:Choice>
        <mc:Fallback xmlns="">
          <p:sp>
            <p:nvSpPr>
              <p:cNvPr id="24" name="文本框 23">
                <a:extLst>
                  <a:ext uri="{FF2B5EF4-FFF2-40B4-BE49-F238E27FC236}">
                    <a16:creationId xmlns:a16="http://schemas.microsoft.com/office/drawing/2014/main" id="{254C32BD-E7A2-4455-A14F-962470AA334D}"/>
                  </a:ext>
                </a:extLst>
              </p:cNvPr>
              <p:cNvSpPr txBox="1">
                <a:spLocks noRot="1" noChangeAspect="1" noMove="1" noResize="1" noEditPoints="1" noAdjustHandles="1" noChangeArrowheads="1" noChangeShapeType="1" noTextEdit="1"/>
              </p:cNvSpPr>
              <p:nvPr/>
            </p:nvSpPr>
            <p:spPr>
              <a:xfrm>
                <a:off x="1285913" y="5045262"/>
                <a:ext cx="450764" cy="400110"/>
              </a:xfrm>
              <a:prstGeom prst="rect">
                <a:avLst/>
              </a:prstGeom>
              <a:blipFill>
                <a:blip r:embed="rId15"/>
                <a:stretch>
                  <a:fillRect b="-1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F0AF7E72-7CF2-4500-B8FD-5F6CEEBAA48C}"/>
                  </a:ext>
                </a:extLst>
              </p:cNvPr>
              <p:cNvSpPr/>
              <p:nvPr/>
            </p:nvSpPr>
            <p:spPr>
              <a:xfrm>
                <a:off x="8223377" y="2482628"/>
                <a:ext cx="3493713" cy="8463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b="0" i="1" dirty="0" smtClean="0">
                          <a:latin typeface="Cambria Math" panose="02040503050406030204" pitchFamily="18" charset="0"/>
                        </a:rPr>
                        <m:t>𝜙</m:t>
                      </m:r>
                      <m:r>
                        <a:rPr lang="en-US" altLang="zh-CN" sz="2200" b="0" i="1" dirty="0" smtClean="0">
                          <a:latin typeface="Cambria Math" panose="02040503050406030204" pitchFamily="18" charset="0"/>
                        </a:rPr>
                        <m:t>=</m:t>
                      </m:r>
                      <m:func>
                        <m:funcPr>
                          <m:ctrlPr>
                            <a:rPr lang="en-US" altLang="zh-CN" sz="2200" b="0" i="1" dirty="0" smtClean="0">
                              <a:latin typeface="Cambria Math" panose="02040503050406030204" pitchFamily="18" charset="0"/>
                            </a:rPr>
                          </m:ctrlPr>
                        </m:funcPr>
                        <m:fName>
                          <m:r>
                            <m:rPr>
                              <m:sty m:val="p"/>
                            </m:rPr>
                            <a:rPr lang="en-US" altLang="zh-CN" sz="2200" b="0" i="0" dirty="0" smtClean="0">
                              <a:latin typeface="Cambria Math" panose="02040503050406030204" pitchFamily="18" charset="0"/>
                            </a:rPr>
                            <m:t>arccos</m:t>
                          </m:r>
                        </m:fName>
                        <m:e>
                          <m:f>
                            <m:fPr>
                              <m:ctrlPr>
                                <a:rPr lang="en-US" altLang="zh-CN" sz="2200" b="0" i="1" dirty="0" smtClean="0">
                                  <a:latin typeface="Cambria Math" panose="02040503050406030204" pitchFamily="18" charset="0"/>
                                </a:rPr>
                              </m:ctrlPr>
                            </m:fPr>
                            <m:num>
                              <m:r>
                                <a:rPr lang="en-US" altLang="zh-CN" sz="2200" b="0" i="1" dirty="0" smtClean="0">
                                  <a:latin typeface="Cambria Math" panose="02040503050406030204" pitchFamily="18" charset="0"/>
                                </a:rPr>
                                <m:t> </m:t>
                              </m:r>
                              <m:d>
                                <m:dPr>
                                  <m:ctrlPr>
                                    <a:rPr lang="en-US" altLang="zh-CN" sz="2200" b="0" i="1" dirty="0" smtClean="0">
                                      <a:latin typeface="Cambria Math" panose="02040503050406030204" pitchFamily="18" charset="0"/>
                                    </a:rPr>
                                  </m:ctrlPr>
                                </m:dPr>
                                <m:e>
                                  <m:sSubSup>
                                    <m:sSubSupPr>
                                      <m:ctrlPr>
                                        <a:rPr lang="en-US" altLang="zh-CN" sz="2200" b="0" i="1" dirty="0" smtClean="0">
                                          <a:latin typeface="Cambria Math" panose="02040503050406030204" pitchFamily="18" charset="0"/>
                                        </a:rPr>
                                      </m:ctrlPr>
                                    </m:sSubSupPr>
                                    <m:e>
                                      <m:r>
                                        <a:rPr lang="en-US" altLang="zh-CN" sz="2200" b="0" i="1" dirty="0" smtClean="0">
                                          <a:latin typeface="Cambria Math" panose="02040503050406030204" pitchFamily="18" charset="0"/>
                                        </a:rPr>
                                        <m:t>𝐿</m:t>
                                      </m:r>
                                    </m:e>
                                    <m:sub>
                                      <m:r>
                                        <a:rPr lang="en-US" altLang="zh-CN" sz="2200" b="0" i="1" dirty="0" smtClean="0">
                                          <a:latin typeface="Cambria Math" panose="02040503050406030204" pitchFamily="18" charset="0"/>
                                        </a:rPr>
                                        <m:t>1</m:t>
                                      </m:r>
                                    </m:sub>
                                    <m:sup>
                                      <m:r>
                                        <a:rPr lang="en-US" altLang="zh-CN" sz="2200" b="0" i="1" dirty="0" smtClean="0">
                                          <a:latin typeface="Cambria Math" panose="02040503050406030204" pitchFamily="18" charset="0"/>
                                        </a:rPr>
                                        <m:t>2</m:t>
                                      </m:r>
                                    </m:sup>
                                  </m:sSubSup>
                                  <m:r>
                                    <a:rPr lang="en-US" altLang="zh-CN" sz="2200" b="0" i="1" dirty="0" smtClean="0">
                                      <a:latin typeface="Cambria Math" panose="02040503050406030204" pitchFamily="18" charset="0"/>
                                    </a:rPr>
                                    <m:t>+</m:t>
                                  </m:r>
                                  <m:sSubSup>
                                    <m:sSubSupPr>
                                      <m:ctrlPr>
                                        <a:rPr lang="en-US" altLang="zh-CN" sz="2200" b="0" i="1" dirty="0" smtClean="0">
                                          <a:latin typeface="Cambria Math" panose="02040503050406030204" pitchFamily="18" charset="0"/>
                                        </a:rPr>
                                      </m:ctrlPr>
                                    </m:sSubSupPr>
                                    <m:e>
                                      <m:r>
                                        <a:rPr lang="en-US" altLang="zh-CN" sz="2200" b="0" i="1" dirty="0" smtClean="0">
                                          <a:latin typeface="Cambria Math" panose="02040503050406030204" pitchFamily="18" charset="0"/>
                                        </a:rPr>
                                        <m:t>𝐿</m:t>
                                      </m:r>
                                    </m:e>
                                    <m:sub>
                                      <m:r>
                                        <a:rPr lang="en-US" altLang="zh-CN" sz="2200" b="0" i="1" dirty="0" smtClean="0">
                                          <a:latin typeface="Cambria Math" panose="02040503050406030204" pitchFamily="18" charset="0"/>
                                        </a:rPr>
                                        <m:t>2</m:t>
                                      </m:r>
                                    </m:sub>
                                    <m:sup>
                                      <m:r>
                                        <a:rPr lang="en-US" altLang="zh-CN" sz="2200" b="0" i="1" dirty="0" smtClean="0">
                                          <a:latin typeface="Cambria Math" panose="02040503050406030204" pitchFamily="18" charset="0"/>
                                        </a:rPr>
                                        <m:t>2</m:t>
                                      </m:r>
                                    </m:sup>
                                  </m:sSubSup>
                                </m:e>
                              </m:d>
                              <m:r>
                                <a:rPr lang="en-US" altLang="zh-CN" sz="2200" b="0" i="1" dirty="0" smtClean="0">
                                  <a:latin typeface="Cambria Math" panose="02040503050406030204" pitchFamily="18" charset="0"/>
                                </a:rPr>
                                <m:t>−</m:t>
                              </m:r>
                              <m:sSup>
                                <m:sSupPr>
                                  <m:ctrlPr>
                                    <a:rPr lang="en-US" altLang="zh-CN" sz="2200" b="0" i="1" dirty="0" smtClean="0">
                                      <a:latin typeface="Cambria Math" panose="02040503050406030204" pitchFamily="18" charset="0"/>
                                    </a:rPr>
                                  </m:ctrlPr>
                                </m:sSupPr>
                                <m:e>
                                  <m:r>
                                    <a:rPr lang="en-US" altLang="zh-CN" sz="2200" b="0" i="1" dirty="0" smtClean="0">
                                      <a:latin typeface="Cambria Math" panose="02040503050406030204" pitchFamily="18" charset="0"/>
                                    </a:rPr>
                                    <m:t>𝜌</m:t>
                                  </m:r>
                                </m:e>
                                <m:sup>
                                  <m:r>
                                    <a:rPr lang="en-US" altLang="zh-CN" sz="2200" b="0" i="1" dirty="0" smtClean="0">
                                      <a:latin typeface="Cambria Math" panose="02040503050406030204" pitchFamily="18" charset="0"/>
                                    </a:rPr>
                                    <m:t>2</m:t>
                                  </m:r>
                                </m:sup>
                              </m:sSup>
                            </m:num>
                            <m:den>
                              <m:r>
                                <a:rPr lang="en-US" altLang="zh-CN" sz="2200" b="0" i="1" dirty="0" smtClean="0">
                                  <a:latin typeface="Cambria Math" panose="02040503050406030204" pitchFamily="18" charset="0"/>
                                </a:rPr>
                                <m:t>2</m:t>
                              </m:r>
                              <m:sSub>
                                <m:sSubPr>
                                  <m:ctrlPr>
                                    <a:rPr lang="en-US" altLang="zh-CN" sz="2200" b="0" i="1" dirty="0" smtClean="0">
                                      <a:latin typeface="Cambria Math" panose="02040503050406030204" pitchFamily="18" charset="0"/>
                                    </a:rPr>
                                  </m:ctrlPr>
                                </m:sSubPr>
                                <m:e>
                                  <m:r>
                                    <a:rPr lang="en-US" altLang="zh-CN" sz="2200" b="0" i="1" dirty="0" smtClean="0">
                                      <a:latin typeface="Cambria Math" panose="02040503050406030204" pitchFamily="18" charset="0"/>
                                    </a:rPr>
                                    <m:t>𝐿</m:t>
                                  </m:r>
                                </m:e>
                                <m:sub>
                                  <m:r>
                                    <a:rPr lang="en-US" altLang="zh-CN" sz="2200" b="0" i="1" dirty="0" smtClean="0">
                                      <a:latin typeface="Cambria Math" panose="02040503050406030204" pitchFamily="18" charset="0"/>
                                    </a:rPr>
                                    <m:t>1</m:t>
                                  </m:r>
                                </m:sub>
                              </m:sSub>
                              <m:sSub>
                                <m:sSubPr>
                                  <m:ctrlPr>
                                    <a:rPr lang="en-US" altLang="zh-CN" sz="2200" b="0" i="1" dirty="0" smtClean="0">
                                      <a:latin typeface="Cambria Math" panose="02040503050406030204" pitchFamily="18" charset="0"/>
                                    </a:rPr>
                                  </m:ctrlPr>
                                </m:sSubPr>
                                <m:e>
                                  <m:r>
                                    <a:rPr lang="en-US" altLang="zh-CN" sz="2200" b="0" i="1" dirty="0" smtClean="0">
                                      <a:latin typeface="Cambria Math" panose="02040503050406030204" pitchFamily="18" charset="0"/>
                                    </a:rPr>
                                    <m:t>𝐿</m:t>
                                  </m:r>
                                </m:e>
                                <m:sub>
                                  <m:r>
                                    <a:rPr lang="en-US" altLang="zh-CN" sz="2200" b="0" i="1" dirty="0" smtClean="0">
                                      <a:latin typeface="Cambria Math" panose="02040503050406030204" pitchFamily="18" charset="0"/>
                                    </a:rPr>
                                    <m:t>2</m:t>
                                  </m:r>
                                </m:sub>
                              </m:sSub>
                            </m:den>
                          </m:f>
                        </m:e>
                      </m:func>
                    </m:oMath>
                  </m:oMathPara>
                </a14:m>
                <a:endParaRPr lang="zh-CN" altLang="en-US" sz="2200" dirty="0"/>
              </a:p>
            </p:txBody>
          </p:sp>
        </mc:Choice>
        <mc:Fallback xmlns="">
          <p:sp>
            <p:nvSpPr>
              <p:cNvPr id="25" name="矩形 24">
                <a:extLst>
                  <a:ext uri="{FF2B5EF4-FFF2-40B4-BE49-F238E27FC236}">
                    <a16:creationId xmlns:a16="http://schemas.microsoft.com/office/drawing/2014/main" id="{F0AF7E72-7CF2-4500-B8FD-5F6CEEBAA48C}"/>
                  </a:ext>
                </a:extLst>
              </p:cNvPr>
              <p:cNvSpPr>
                <a:spLocks noRot="1" noChangeAspect="1" noMove="1" noResize="1" noEditPoints="1" noAdjustHandles="1" noChangeArrowheads="1" noChangeShapeType="1" noTextEdit="1"/>
              </p:cNvSpPr>
              <p:nvPr/>
            </p:nvSpPr>
            <p:spPr>
              <a:xfrm>
                <a:off x="8223377" y="2482628"/>
                <a:ext cx="3493713" cy="846386"/>
              </a:xfrm>
              <a:prstGeom prst="rect">
                <a:avLst/>
              </a:prstGeom>
              <a:blipFill>
                <a:blip r:embed="rId16"/>
                <a:stretch>
                  <a:fillRect/>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1626DBB1-63B3-46CF-84AF-A2EBE40AC6FC}"/>
              </a:ext>
            </a:extLst>
          </p:cNvPr>
          <p:cNvCxnSpPr/>
          <p:nvPr/>
        </p:nvCxnSpPr>
        <p:spPr>
          <a:xfrm flipH="1" flipV="1">
            <a:off x="263352" y="4733276"/>
            <a:ext cx="168696" cy="1418600"/>
          </a:xfrm>
          <a:prstGeom prst="line">
            <a:avLst/>
          </a:prstGeom>
          <a:ln w="38100">
            <a:solidFill>
              <a:srgbClr val="0000CC"/>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DB8AB0A-65D7-4ADB-8547-F468DE995779}"/>
              </a:ext>
            </a:extLst>
          </p:cNvPr>
          <p:cNvCxnSpPr>
            <a:cxnSpLocks/>
          </p:cNvCxnSpPr>
          <p:nvPr/>
        </p:nvCxnSpPr>
        <p:spPr>
          <a:xfrm flipV="1">
            <a:off x="263352" y="3804128"/>
            <a:ext cx="1673394" cy="849008"/>
          </a:xfrm>
          <a:prstGeom prst="line">
            <a:avLst/>
          </a:prstGeom>
          <a:ln w="38100">
            <a:solidFill>
              <a:srgbClr val="0000CC"/>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AC7D4818-4BE8-4112-AD8C-1E083A6D9267}"/>
                  </a:ext>
                </a:extLst>
              </p:cNvPr>
              <p:cNvSpPr/>
              <p:nvPr/>
            </p:nvSpPr>
            <p:spPr>
              <a:xfrm>
                <a:off x="5189803" y="3921761"/>
                <a:ext cx="1758472" cy="36933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200" i="1" dirty="0" smtClean="0">
                              <a:solidFill>
                                <a:schemeClr val="tx1"/>
                              </a:solidFill>
                              <a:latin typeface="Cambria Math" panose="02040503050406030204" pitchFamily="18" charset="0"/>
                              <a:ea typeface="+mn-ea"/>
                            </a:rPr>
                          </m:ctrlPr>
                        </m:sSubPr>
                        <m:e>
                          <m:r>
                            <a:rPr lang="en-US" altLang="zh-CN" sz="2200" dirty="0">
                              <a:solidFill>
                                <a:schemeClr val="tx1"/>
                              </a:solidFill>
                              <a:latin typeface="Cambria Math" panose="02040503050406030204" pitchFamily="18" charset="0"/>
                              <a:ea typeface="+mn-ea"/>
                            </a:rPr>
                            <m:t>𝜃</m:t>
                          </m:r>
                        </m:e>
                        <m:sub>
                          <m:r>
                            <a:rPr lang="en-US" altLang="zh-CN" sz="2200" dirty="0">
                              <a:solidFill>
                                <a:schemeClr val="tx1"/>
                              </a:solidFill>
                              <a:latin typeface="Cambria Math" panose="02040503050406030204" pitchFamily="18" charset="0"/>
                              <a:ea typeface="+mn-ea"/>
                            </a:rPr>
                            <m:t>2</m:t>
                          </m:r>
                        </m:sub>
                      </m:sSub>
                      <m:r>
                        <a:rPr lang="en-US" altLang="zh-CN" sz="2200" dirty="0">
                          <a:solidFill>
                            <a:schemeClr val="tx1"/>
                          </a:solidFill>
                          <a:latin typeface="Cambria Math" panose="02040503050406030204" pitchFamily="18" charset="0"/>
                          <a:ea typeface="+mn-ea"/>
                        </a:rPr>
                        <m:t>=</m:t>
                      </m:r>
                      <m:r>
                        <a:rPr lang="en-US" altLang="zh-CN" sz="2200" dirty="0">
                          <a:solidFill>
                            <a:schemeClr val="tx1"/>
                          </a:solidFill>
                          <a:latin typeface="Cambria Math" panose="02040503050406030204" pitchFamily="18" charset="0"/>
                          <a:ea typeface="+mn-ea"/>
                        </a:rPr>
                        <m:t>𝜋</m:t>
                      </m:r>
                      <m:r>
                        <a:rPr lang="en-US" altLang="zh-CN" sz="2200" dirty="0">
                          <a:solidFill>
                            <a:schemeClr val="tx1"/>
                          </a:solidFill>
                          <a:latin typeface="Cambria Math" panose="02040503050406030204" pitchFamily="18" charset="0"/>
                          <a:ea typeface="+mn-ea"/>
                        </a:rPr>
                        <m:t>−</m:t>
                      </m:r>
                      <m:r>
                        <a:rPr lang="en-US" altLang="zh-CN" sz="2200" dirty="0">
                          <a:solidFill>
                            <a:schemeClr val="tx1"/>
                          </a:solidFill>
                          <a:latin typeface="Cambria Math" panose="02040503050406030204" pitchFamily="18" charset="0"/>
                          <a:ea typeface="+mn-ea"/>
                        </a:rPr>
                        <m:t>𝜙</m:t>
                      </m:r>
                    </m:oMath>
                  </m:oMathPara>
                </a14:m>
                <a:endParaRPr lang="zh-CN" altLang="en-US" sz="2200" dirty="0">
                  <a:solidFill>
                    <a:schemeClr val="tx1"/>
                  </a:solidFill>
                  <a:latin typeface="Cambria Math" panose="02040503050406030204" pitchFamily="18" charset="0"/>
                  <a:ea typeface="+mn-ea"/>
                </a:endParaRPr>
              </a:p>
            </p:txBody>
          </p:sp>
        </mc:Choice>
        <mc:Fallback xmlns="">
          <p:sp>
            <p:nvSpPr>
              <p:cNvPr id="28" name="矩形 27">
                <a:extLst>
                  <a:ext uri="{FF2B5EF4-FFF2-40B4-BE49-F238E27FC236}">
                    <a16:creationId xmlns:a16="http://schemas.microsoft.com/office/drawing/2014/main" id="{AC7D4818-4BE8-4112-AD8C-1E083A6D9267}"/>
                  </a:ext>
                </a:extLst>
              </p:cNvPr>
              <p:cNvSpPr>
                <a:spLocks noRot="1" noChangeAspect="1" noMove="1" noResize="1" noEditPoints="1" noAdjustHandles="1" noChangeArrowheads="1" noChangeShapeType="1" noTextEdit="1"/>
              </p:cNvSpPr>
              <p:nvPr/>
            </p:nvSpPr>
            <p:spPr>
              <a:xfrm>
                <a:off x="5189803" y="3921761"/>
                <a:ext cx="1758472" cy="369332"/>
              </a:xfrm>
              <a:prstGeom prst="rect">
                <a:avLst/>
              </a:prstGeom>
              <a:blipFill>
                <a:blip r:embed="rId17"/>
                <a:stretch>
                  <a:fillRect b="-26984"/>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859D831C-5720-4FF6-A08D-8B89F346C699}"/>
                  </a:ext>
                </a:extLst>
              </p:cNvPr>
              <p:cNvSpPr/>
              <p:nvPr/>
            </p:nvSpPr>
            <p:spPr>
              <a:xfrm>
                <a:off x="7343272" y="3901840"/>
                <a:ext cx="3751836" cy="36933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2200" i="1" dirty="0" smtClean="0">
                            <a:solidFill>
                              <a:schemeClr val="tx1"/>
                            </a:solidFill>
                            <a:latin typeface="Cambria Math" panose="02040503050406030204" pitchFamily="18" charset="0"/>
                          </a:rPr>
                        </m:ctrlPr>
                      </m:sSubPr>
                      <m:e>
                        <m:r>
                          <a:rPr lang="en-US" altLang="zh-CN" sz="2200" b="0" i="1" dirty="0" smtClean="0">
                            <a:solidFill>
                              <a:schemeClr val="tx1"/>
                            </a:solidFill>
                            <a:latin typeface="Cambria Math" panose="02040503050406030204" pitchFamily="18" charset="0"/>
                          </a:rPr>
                          <m:t>−</m:t>
                        </m:r>
                        <m:r>
                          <a:rPr lang="en-US" altLang="zh-CN" sz="2200" dirty="0">
                            <a:solidFill>
                              <a:schemeClr val="tx1"/>
                            </a:solidFill>
                            <a:latin typeface="Cambria Math" panose="02040503050406030204" pitchFamily="18" charset="0"/>
                          </a:rPr>
                          <m:t>𝜃</m:t>
                        </m:r>
                      </m:e>
                      <m:sub>
                        <m:r>
                          <a:rPr lang="en-US" altLang="zh-CN" sz="2200" dirty="0">
                            <a:solidFill>
                              <a:schemeClr val="tx1"/>
                            </a:solidFill>
                            <a:latin typeface="Cambria Math" panose="02040503050406030204" pitchFamily="18" charset="0"/>
                          </a:rPr>
                          <m:t>2</m:t>
                        </m:r>
                      </m:sub>
                    </m:sSub>
                    <m:r>
                      <a:rPr lang="en-US" altLang="zh-CN" sz="2200" dirty="0">
                        <a:solidFill>
                          <a:schemeClr val="tx1"/>
                        </a:solidFill>
                        <a:latin typeface="Cambria Math" panose="02040503050406030204" pitchFamily="18" charset="0"/>
                      </a:rPr>
                      <m:t>=</m:t>
                    </m:r>
                    <m:r>
                      <a:rPr lang="en-US" altLang="zh-CN" sz="2200" dirty="0">
                        <a:solidFill>
                          <a:schemeClr val="tx1"/>
                        </a:solidFill>
                        <a:latin typeface="Cambria Math" panose="02040503050406030204" pitchFamily="18" charset="0"/>
                      </a:rPr>
                      <m:t>𝜋</m:t>
                    </m:r>
                    <m:r>
                      <a:rPr lang="en-US" altLang="zh-CN" sz="2200" dirty="0">
                        <a:solidFill>
                          <a:schemeClr val="tx1"/>
                        </a:solidFill>
                        <a:latin typeface="Cambria Math" panose="02040503050406030204" pitchFamily="18" charset="0"/>
                      </a:rPr>
                      <m:t>−</m:t>
                    </m:r>
                    <m:r>
                      <a:rPr lang="en-US" altLang="zh-CN" sz="2200" dirty="0">
                        <a:solidFill>
                          <a:schemeClr val="tx1"/>
                        </a:solidFill>
                        <a:latin typeface="Cambria Math" panose="02040503050406030204" pitchFamily="18" charset="0"/>
                      </a:rPr>
                      <m:t>𝜙</m:t>
                    </m:r>
                    <m:r>
                      <a:rPr lang="en-US" altLang="zh-CN" sz="2200" i="1" dirty="0" smtClean="0">
                        <a:solidFill>
                          <a:schemeClr val="tx1"/>
                        </a:solidFill>
                        <a:latin typeface="Cambria Math" panose="02040503050406030204" pitchFamily="18" charset="0"/>
                        <a:ea typeface="Cambria Math" panose="02040503050406030204" pitchFamily="18" charset="0"/>
                      </a:rPr>
                      <m:t>⟹</m:t>
                    </m:r>
                  </m:oMath>
                </a14:m>
                <a:r>
                  <a:rPr lang="en-US" altLang="zh-CN" sz="2200" dirty="0">
                    <a:solidFill>
                      <a:schemeClr val="tx1"/>
                    </a:solidFill>
                  </a:rPr>
                  <a:t> </a:t>
                </a:r>
                <a14:m>
                  <m:oMath xmlns:m="http://schemas.openxmlformats.org/officeDocument/2006/math">
                    <m:sSub>
                      <m:sSubPr>
                        <m:ctrlPr>
                          <a:rPr lang="en-US" altLang="zh-CN" sz="2200" i="1" dirty="0">
                            <a:solidFill>
                              <a:schemeClr val="tx1"/>
                            </a:solidFill>
                            <a:latin typeface="Cambria Math" panose="02040503050406030204" pitchFamily="18" charset="0"/>
                          </a:rPr>
                        </m:ctrlPr>
                      </m:sSubPr>
                      <m:e>
                        <m:r>
                          <a:rPr lang="en-US" altLang="zh-CN" sz="2200" dirty="0">
                            <a:solidFill>
                              <a:schemeClr val="tx1"/>
                            </a:solidFill>
                            <a:latin typeface="Cambria Math" panose="02040503050406030204" pitchFamily="18" charset="0"/>
                          </a:rPr>
                          <m:t>𝜃</m:t>
                        </m:r>
                      </m:e>
                      <m:sub>
                        <m:r>
                          <a:rPr lang="en-US" altLang="zh-CN" sz="2200" dirty="0">
                            <a:solidFill>
                              <a:schemeClr val="tx1"/>
                            </a:solidFill>
                            <a:latin typeface="Cambria Math" panose="02040503050406030204" pitchFamily="18" charset="0"/>
                          </a:rPr>
                          <m:t>2</m:t>
                        </m:r>
                      </m:sub>
                    </m:sSub>
                    <m:r>
                      <a:rPr lang="en-US" altLang="zh-CN" sz="2200" dirty="0">
                        <a:solidFill>
                          <a:schemeClr val="tx1"/>
                        </a:solidFill>
                        <a:latin typeface="Cambria Math" panose="02040503050406030204" pitchFamily="18" charset="0"/>
                      </a:rPr>
                      <m:t>=</m:t>
                    </m:r>
                    <m:r>
                      <a:rPr lang="en-US" altLang="zh-CN" sz="2200" dirty="0">
                        <a:solidFill>
                          <a:schemeClr val="tx1"/>
                        </a:solidFill>
                        <a:latin typeface="Cambria Math" panose="02040503050406030204" pitchFamily="18" charset="0"/>
                      </a:rPr>
                      <m:t>𝜙</m:t>
                    </m:r>
                    <m:r>
                      <a:rPr lang="en-US" altLang="zh-CN" sz="2200" b="0" i="1" dirty="0" smtClean="0">
                        <a:solidFill>
                          <a:schemeClr val="tx1"/>
                        </a:solidFill>
                        <a:latin typeface="Cambria Math" panose="02040503050406030204" pitchFamily="18" charset="0"/>
                      </a:rPr>
                      <m:t>−</m:t>
                    </m:r>
                    <m:r>
                      <a:rPr lang="en-US" altLang="zh-CN" sz="2200" b="0" i="1" dirty="0" smtClean="0">
                        <a:solidFill>
                          <a:schemeClr val="tx1"/>
                        </a:solidFill>
                        <a:latin typeface="Cambria Math" panose="02040503050406030204" pitchFamily="18" charset="0"/>
                      </a:rPr>
                      <m:t>𝜋</m:t>
                    </m:r>
                  </m:oMath>
                </a14:m>
                <a:endParaRPr lang="zh-CN" altLang="en-US" sz="2200" dirty="0">
                  <a:solidFill>
                    <a:schemeClr val="tx1"/>
                  </a:solidFill>
                  <a:latin typeface="Cambria Math" panose="02040503050406030204" pitchFamily="18" charset="0"/>
                </a:endParaRPr>
              </a:p>
            </p:txBody>
          </p:sp>
        </mc:Choice>
        <mc:Fallback xmlns="">
          <p:sp>
            <p:nvSpPr>
              <p:cNvPr id="29" name="矩形 28">
                <a:extLst>
                  <a:ext uri="{FF2B5EF4-FFF2-40B4-BE49-F238E27FC236}">
                    <a16:creationId xmlns:a16="http://schemas.microsoft.com/office/drawing/2014/main" id="{859D831C-5720-4FF6-A08D-8B89F346C699}"/>
                  </a:ext>
                </a:extLst>
              </p:cNvPr>
              <p:cNvSpPr>
                <a:spLocks noRot="1" noChangeAspect="1" noMove="1" noResize="1" noEditPoints="1" noAdjustHandles="1" noChangeArrowheads="1" noChangeShapeType="1" noTextEdit="1"/>
              </p:cNvSpPr>
              <p:nvPr/>
            </p:nvSpPr>
            <p:spPr>
              <a:xfrm>
                <a:off x="7343272" y="3901840"/>
                <a:ext cx="3751836" cy="369332"/>
              </a:xfrm>
              <a:prstGeom prst="rect">
                <a:avLst/>
              </a:prstGeom>
              <a:blipFill>
                <a:blip r:embed="rId18"/>
                <a:stretch>
                  <a:fillRect b="-25397"/>
                </a:stretch>
              </a:blipFill>
              <a:ln>
                <a:solidFill>
                  <a:srgbClr val="FF0000"/>
                </a:solidFill>
              </a:ln>
            </p:spPr>
            <p:txBody>
              <a:bodyPr/>
              <a:lstStyle/>
              <a:p>
                <a:r>
                  <a:rPr lang="zh-CN" altLang="en-US">
                    <a:noFill/>
                  </a:rPr>
                  <a:t> </a:t>
                </a:r>
              </a:p>
            </p:txBody>
          </p:sp>
        </mc:Fallback>
      </mc:AlternateContent>
      <p:cxnSp>
        <p:nvCxnSpPr>
          <p:cNvPr id="30" name="直接连接符 29">
            <a:extLst>
              <a:ext uri="{FF2B5EF4-FFF2-40B4-BE49-F238E27FC236}">
                <a16:creationId xmlns:a16="http://schemas.microsoft.com/office/drawing/2014/main" id="{2451A663-9B8E-4373-AB49-B682C9561118}"/>
              </a:ext>
            </a:extLst>
          </p:cNvPr>
          <p:cNvCxnSpPr>
            <a:cxnSpLocks/>
          </p:cNvCxnSpPr>
          <p:nvPr/>
        </p:nvCxnSpPr>
        <p:spPr>
          <a:xfrm flipV="1">
            <a:off x="1841138" y="3813122"/>
            <a:ext cx="104467" cy="2393033"/>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1" name="弧形 30">
            <a:extLst>
              <a:ext uri="{FF2B5EF4-FFF2-40B4-BE49-F238E27FC236}">
                <a16:creationId xmlns:a16="http://schemas.microsoft.com/office/drawing/2014/main" id="{E64E4072-DA7A-4670-8157-292FBD97AD47}"/>
              </a:ext>
            </a:extLst>
          </p:cNvPr>
          <p:cNvSpPr/>
          <p:nvPr/>
        </p:nvSpPr>
        <p:spPr>
          <a:xfrm>
            <a:off x="44509" y="5792689"/>
            <a:ext cx="720000" cy="720000"/>
          </a:xfrm>
          <a:prstGeom prst="arc">
            <a:avLst>
              <a:gd name="adj1" fmla="val 18510047"/>
              <a:gd name="adj2" fmla="val 2045411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BAE1B034-BD01-478E-9CED-1A3498656FC5}"/>
                  </a:ext>
                </a:extLst>
              </p:cNvPr>
              <p:cNvSpPr txBox="1"/>
              <p:nvPr/>
            </p:nvSpPr>
            <p:spPr>
              <a:xfrm>
                <a:off x="566670" y="5609242"/>
                <a:ext cx="3866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𝝉</m:t>
                      </m:r>
                    </m:oMath>
                  </m:oMathPara>
                </a14:m>
                <a:endParaRPr lang="zh-CN" altLang="en-US" sz="2000" b="1" dirty="0">
                  <a:solidFill>
                    <a:srgbClr val="FF0000"/>
                  </a:solidFill>
                </a:endParaRPr>
              </a:p>
            </p:txBody>
          </p:sp>
        </mc:Choice>
        <mc:Fallback xmlns="">
          <p:sp>
            <p:nvSpPr>
              <p:cNvPr id="32" name="文本框 31">
                <a:extLst>
                  <a:ext uri="{FF2B5EF4-FFF2-40B4-BE49-F238E27FC236}">
                    <a16:creationId xmlns:a16="http://schemas.microsoft.com/office/drawing/2014/main" id="{BAE1B034-BD01-478E-9CED-1A3498656FC5}"/>
                  </a:ext>
                </a:extLst>
              </p:cNvPr>
              <p:cNvSpPr txBox="1">
                <a:spLocks noRot="1" noChangeAspect="1" noMove="1" noResize="1" noEditPoints="1" noAdjustHandles="1" noChangeArrowheads="1" noChangeShapeType="1" noTextEdit="1"/>
              </p:cNvSpPr>
              <p:nvPr/>
            </p:nvSpPr>
            <p:spPr>
              <a:xfrm>
                <a:off x="566670" y="5609242"/>
                <a:ext cx="386644" cy="400110"/>
              </a:xfrm>
              <a:prstGeom prst="rect">
                <a:avLst/>
              </a:prstGeom>
              <a:blipFill>
                <a:blip r:embed="rId19"/>
                <a:stretch>
                  <a:fillRect/>
                </a:stretch>
              </a:blipFill>
            </p:spPr>
            <p:txBody>
              <a:bodyPr/>
              <a:lstStyle/>
              <a:p>
                <a:r>
                  <a:rPr lang="zh-CN" altLang="en-US">
                    <a:noFill/>
                  </a:rPr>
                  <a:t> </a:t>
                </a:r>
              </a:p>
            </p:txBody>
          </p:sp>
        </mc:Fallback>
      </mc:AlternateContent>
      <p:sp>
        <p:nvSpPr>
          <p:cNvPr id="33" name="弧形 32">
            <a:extLst>
              <a:ext uri="{FF2B5EF4-FFF2-40B4-BE49-F238E27FC236}">
                <a16:creationId xmlns:a16="http://schemas.microsoft.com/office/drawing/2014/main" id="{EE0FC1BD-1C04-42D9-A155-92B5AEAF0CB1}"/>
              </a:ext>
            </a:extLst>
          </p:cNvPr>
          <p:cNvSpPr/>
          <p:nvPr/>
        </p:nvSpPr>
        <p:spPr>
          <a:xfrm>
            <a:off x="-149373" y="5312829"/>
            <a:ext cx="1479741" cy="1393046"/>
          </a:xfrm>
          <a:prstGeom prst="arc">
            <a:avLst>
              <a:gd name="adj1" fmla="val 17909011"/>
              <a:gd name="adj2" fmla="val 697268"/>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966D528-A1A2-41F7-A04E-3AAA3C532164}"/>
                  </a:ext>
                </a:extLst>
              </p:cNvPr>
              <p:cNvSpPr txBox="1"/>
              <p:nvPr/>
            </p:nvSpPr>
            <p:spPr>
              <a:xfrm>
                <a:off x="1046974" y="5246991"/>
                <a:ext cx="40908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B050"/>
                          </a:solidFill>
                          <a:latin typeface="Cambria Math" panose="02040503050406030204" pitchFamily="18" charset="0"/>
                        </a:rPr>
                        <m:t>𝜸</m:t>
                      </m:r>
                    </m:oMath>
                  </m:oMathPara>
                </a14:m>
                <a:endParaRPr lang="zh-CN" altLang="en-US" sz="2000" b="1" dirty="0">
                  <a:solidFill>
                    <a:srgbClr val="FF0000"/>
                  </a:solidFill>
                </a:endParaRPr>
              </a:p>
            </p:txBody>
          </p:sp>
        </mc:Choice>
        <mc:Fallback xmlns="">
          <p:sp>
            <p:nvSpPr>
              <p:cNvPr id="34" name="文本框 33">
                <a:extLst>
                  <a:ext uri="{FF2B5EF4-FFF2-40B4-BE49-F238E27FC236}">
                    <a16:creationId xmlns:a16="http://schemas.microsoft.com/office/drawing/2014/main" id="{9966D528-A1A2-41F7-A04E-3AAA3C532164}"/>
                  </a:ext>
                </a:extLst>
              </p:cNvPr>
              <p:cNvSpPr txBox="1">
                <a:spLocks noRot="1" noChangeAspect="1" noMove="1" noResize="1" noEditPoints="1" noAdjustHandles="1" noChangeArrowheads="1" noChangeShapeType="1" noTextEdit="1"/>
              </p:cNvSpPr>
              <p:nvPr/>
            </p:nvSpPr>
            <p:spPr>
              <a:xfrm>
                <a:off x="1046974" y="5246991"/>
                <a:ext cx="409086" cy="400110"/>
              </a:xfrm>
              <a:prstGeom prst="rect">
                <a:avLst/>
              </a:prstGeom>
              <a:blipFill>
                <a:blip r:embed="rId20"/>
                <a:stretch>
                  <a:fillRect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87C94B94-9294-4B84-A609-53215BCB7A87}"/>
                  </a:ext>
                </a:extLst>
              </p:cNvPr>
              <p:cNvSpPr txBox="1"/>
              <p:nvPr/>
            </p:nvSpPr>
            <p:spPr>
              <a:xfrm>
                <a:off x="4580126" y="4696512"/>
                <a:ext cx="3431196" cy="8483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𝜏</m:t>
                      </m:r>
                      <m:r>
                        <a:rPr lang="en-US" altLang="zh-CN" sz="2200" b="0" i="1" smtClean="0">
                          <a:latin typeface="Cambria Math" panose="02040503050406030204" pitchFamily="18" charset="0"/>
                        </a:rPr>
                        <m:t>=</m:t>
                      </m:r>
                      <m:func>
                        <m:funcPr>
                          <m:ctrlPr>
                            <a:rPr lang="en-US" altLang="zh-CN" sz="2200" b="0" i="1" smtClean="0">
                              <a:latin typeface="Cambria Math" panose="02040503050406030204" pitchFamily="18" charset="0"/>
                            </a:rPr>
                          </m:ctrlPr>
                        </m:funcPr>
                        <m:fName>
                          <m:r>
                            <m:rPr>
                              <m:sty m:val="p"/>
                            </m:rPr>
                            <a:rPr lang="en-US" altLang="zh-CN" sz="2200" b="0" i="0" smtClean="0">
                              <a:latin typeface="Cambria Math" panose="02040503050406030204" pitchFamily="18" charset="0"/>
                            </a:rPr>
                            <m:t>arccos</m:t>
                          </m:r>
                        </m:fName>
                        <m:e>
                          <m:f>
                            <m:fPr>
                              <m:ctrlPr>
                                <a:rPr lang="en-US" altLang="zh-CN" sz="2200" i="1" dirty="0">
                                  <a:latin typeface="Cambria Math" panose="02040503050406030204" pitchFamily="18" charset="0"/>
                                </a:rPr>
                              </m:ctrlPr>
                            </m:fPr>
                            <m:num>
                              <m:r>
                                <a:rPr lang="en-US" altLang="zh-CN" sz="2200" dirty="0">
                                  <a:latin typeface="Cambria Math" panose="02040503050406030204" pitchFamily="18" charset="0"/>
                                </a:rPr>
                                <m:t> </m:t>
                              </m:r>
                              <m:d>
                                <m:dPr>
                                  <m:ctrlPr>
                                    <a:rPr lang="en-US" altLang="zh-CN" sz="2200" i="1" dirty="0">
                                      <a:latin typeface="Cambria Math" panose="02040503050406030204" pitchFamily="18" charset="0"/>
                                    </a:rPr>
                                  </m:ctrlPr>
                                </m:dPr>
                                <m:e>
                                  <m:sSubSup>
                                    <m:sSubSupPr>
                                      <m:ctrlPr>
                                        <a:rPr lang="en-US" altLang="zh-CN" sz="2200" i="1" dirty="0">
                                          <a:latin typeface="Cambria Math" panose="02040503050406030204" pitchFamily="18" charset="0"/>
                                        </a:rPr>
                                      </m:ctrlPr>
                                    </m:sSubSupPr>
                                    <m:e>
                                      <m:r>
                                        <a:rPr lang="en-US" altLang="zh-CN" sz="2200" dirty="0">
                                          <a:latin typeface="Cambria Math" panose="02040503050406030204" pitchFamily="18" charset="0"/>
                                        </a:rPr>
                                        <m:t>𝐿</m:t>
                                      </m:r>
                                    </m:e>
                                    <m:sub>
                                      <m:r>
                                        <a:rPr lang="en-US" altLang="zh-CN" sz="2200" dirty="0">
                                          <a:latin typeface="Cambria Math" panose="02040503050406030204" pitchFamily="18" charset="0"/>
                                        </a:rPr>
                                        <m:t>1</m:t>
                                      </m:r>
                                    </m:sub>
                                    <m:sup>
                                      <m:r>
                                        <a:rPr lang="en-US" altLang="zh-CN" sz="2200" dirty="0">
                                          <a:latin typeface="Cambria Math" panose="02040503050406030204" pitchFamily="18" charset="0"/>
                                        </a:rPr>
                                        <m:t>2</m:t>
                                      </m:r>
                                    </m:sup>
                                  </m:sSubSup>
                                  <m:r>
                                    <a:rPr lang="en-US" altLang="zh-CN" sz="2200" dirty="0">
                                      <a:latin typeface="Cambria Math" panose="02040503050406030204" pitchFamily="18" charset="0"/>
                                    </a:rPr>
                                    <m:t>+</m:t>
                                  </m:r>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𝜌</m:t>
                                      </m:r>
                                    </m:e>
                                    <m:sup>
                                      <m:r>
                                        <a:rPr lang="en-US" altLang="zh-CN" sz="2200" dirty="0">
                                          <a:latin typeface="Cambria Math" panose="02040503050406030204" pitchFamily="18" charset="0"/>
                                        </a:rPr>
                                        <m:t>2</m:t>
                                      </m:r>
                                    </m:sup>
                                  </m:sSup>
                                </m:e>
                              </m:d>
                              <m:r>
                                <a:rPr lang="en-US" altLang="zh-CN" sz="2200" dirty="0">
                                  <a:latin typeface="Cambria Math" panose="02040503050406030204" pitchFamily="18" charset="0"/>
                                </a:rPr>
                                <m:t>−</m:t>
                              </m:r>
                              <m:sSubSup>
                                <m:sSubSupPr>
                                  <m:ctrlPr>
                                    <a:rPr lang="en-US" altLang="zh-CN" sz="2200" i="1" dirty="0">
                                      <a:latin typeface="Cambria Math" panose="02040503050406030204" pitchFamily="18" charset="0"/>
                                    </a:rPr>
                                  </m:ctrlPr>
                                </m:sSubSupPr>
                                <m:e>
                                  <m:r>
                                    <a:rPr lang="en-US" altLang="zh-CN" sz="2200" dirty="0">
                                      <a:latin typeface="Cambria Math" panose="02040503050406030204" pitchFamily="18" charset="0"/>
                                    </a:rPr>
                                    <m:t>𝐿</m:t>
                                  </m:r>
                                </m:e>
                                <m:sub>
                                  <m:r>
                                    <a:rPr lang="en-US" altLang="zh-CN" sz="2200" dirty="0">
                                      <a:latin typeface="Cambria Math" panose="02040503050406030204" pitchFamily="18" charset="0"/>
                                    </a:rPr>
                                    <m:t>2</m:t>
                                  </m:r>
                                </m:sub>
                                <m:sup>
                                  <m:r>
                                    <a:rPr lang="en-US" altLang="zh-CN" sz="2200" dirty="0">
                                      <a:latin typeface="Cambria Math" panose="02040503050406030204" pitchFamily="18" charset="0"/>
                                    </a:rPr>
                                    <m:t>2</m:t>
                                  </m:r>
                                </m:sup>
                              </m:sSubSup>
                            </m:num>
                            <m:den>
                              <m:r>
                                <a:rPr lang="en-US" altLang="zh-CN" sz="2200" dirty="0">
                                  <a:latin typeface="Cambria Math" panose="02040503050406030204" pitchFamily="18" charset="0"/>
                                </a:rPr>
                                <m:t>2</m:t>
                              </m:r>
                              <m:sSub>
                                <m:sSubPr>
                                  <m:ctrlPr>
                                    <a:rPr lang="en-US" altLang="zh-CN" sz="2200" i="1" dirty="0">
                                      <a:latin typeface="Cambria Math" panose="02040503050406030204" pitchFamily="18" charset="0"/>
                                    </a:rPr>
                                  </m:ctrlPr>
                                </m:sSubPr>
                                <m:e>
                                  <m:r>
                                    <a:rPr lang="en-US" altLang="zh-CN" sz="2200" dirty="0">
                                      <a:latin typeface="Cambria Math" panose="02040503050406030204" pitchFamily="18" charset="0"/>
                                    </a:rPr>
                                    <m:t>𝐿</m:t>
                                  </m:r>
                                </m:e>
                                <m:sub>
                                  <m:r>
                                    <a:rPr lang="en-US" altLang="zh-CN" sz="2200" dirty="0">
                                      <a:latin typeface="Cambria Math" panose="02040503050406030204" pitchFamily="18" charset="0"/>
                                    </a:rPr>
                                    <m:t>1</m:t>
                                  </m:r>
                                </m:sub>
                              </m:sSub>
                              <m:r>
                                <a:rPr lang="en-US" altLang="zh-CN" sz="2200" b="0" i="1" dirty="0" smtClean="0">
                                  <a:latin typeface="Cambria Math" panose="02040503050406030204" pitchFamily="18" charset="0"/>
                                </a:rPr>
                                <m:t>𝜌</m:t>
                              </m:r>
                            </m:den>
                          </m:f>
                        </m:e>
                      </m:func>
                    </m:oMath>
                  </m:oMathPara>
                </a14:m>
                <a:endParaRPr lang="zh-CN" altLang="en-US" sz="2200" dirty="0"/>
              </a:p>
            </p:txBody>
          </p:sp>
        </mc:Choice>
        <mc:Fallback xmlns="">
          <p:sp>
            <p:nvSpPr>
              <p:cNvPr id="35" name="文本框 34">
                <a:extLst>
                  <a:ext uri="{FF2B5EF4-FFF2-40B4-BE49-F238E27FC236}">
                    <a16:creationId xmlns:a16="http://schemas.microsoft.com/office/drawing/2014/main" id="{87C94B94-9294-4B84-A609-53215BCB7A87}"/>
                  </a:ext>
                </a:extLst>
              </p:cNvPr>
              <p:cNvSpPr txBox="1">
                <a:spLocks noRot="1" noChangeAspect="1" noMove="1" noResize="1" noEditPoints="1" noAdjustHandles="1" noChangeArrowheads="1" noChangeShapeType="1" noTextEdit="1"/>
              </p:cNvSpPr>
              <p:nvPr/>
            </p:nvSpPr>
            <p:spPr>
              <a:xfrm>
                <a:off x="4580126" y="4696512"/>
                <a:ext cx="3431196" cy="848309"/>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B3B1737A-F7BA-43DF-A499-2EC6C070A9E5}"/>
                  </a:ext>
                </a:extLst>
              </p:cNvPr>
              <p:cNvSpPr txBox="1"/>
              <p:nvPr/>
            </p:nvSpPr>
            <p:spPr>
              <a:xfrm>
                <a:off x="4580126" y="5543595"/>
                <a:ext cx="2679836" cy="4575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𝛾</m:t>
                      </m:r>
                      <m:r>
                        <a:rPr lang="en-US" altLang="zh-CN" sz="2200" b="0" i="1" smtClean="0">
                          <a:latin typeface="Cambria Math" panose="02040503050406030204" pitchFamily="18" charset="0"/>
                        </a:rPr>
                        <m:t>=</m:t>
                      </m:r>
                      <m:func>
                        <m:funcPr>
                          <m:ctrlPr>
                            <a:rPr lang="en-US" altLang="zh-CN" sz="2200" b="0" i="1" smtClean="0">
                              <a:latin typeface="Cambria Math" panose="02040503050406030204" pitchFamily="18" charset="0"/>
                            </a:rPr>
                          </m:ctrlPr>
                        </m:funcPr>
                        <m:fName>
                          <m:r>
                            <m:rPr>
                              <m:sty m:val="p"/>
                            </m:rPr>
                            <a:rPr lang="en-US" altLang="zh-CN" sz="2200" b="0" i="0" smtClean="0">
                              <a:latin typeface="Cambria Math" panose="02040503050406030204" pitchFamily="18" charset="0"/>
                            </a:rPr>
                            <m:t>arctan</m:t>
                          </m:r>
                        </m:fName>
                        <m:e>
                          <m:r>
                            <a:rPr lang="en-US" altLang="zh-CN" sz="2200" b="0" i="1" smtClean="0">
                              <a:latin typeface="Cambria Math" panose="02040503050406030204" pitchFamily="18" charset="0"/>
                            </a:rPr>
                            <m:t>2(</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𝑝</m:t>
                              </m:r>
                            </m:e>
                            <m:sub>
                              <m:r>
                                <a:rPr lang="en-US" altLang="zh-CN" sz="2200" b="0" i="1" smtClean="0">
                                  <a:latin typeface="Cambria Math" panose="02040503050406030204" pitchFamily="18" charset="0"/>
                                </a:rPr>
                                <m:t>𝑦</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𝑝</m:t>
                              </m:r>
                            </m:e>
                            <m:sub>
                              <m:r>
                                <a:rPr lang="en-US" altLang="zh-CN" sz="2200" b="0" i="1" smtClean="0">
                                  <a:latin typeface="Cambria Math" panose="02040503050406030204" pitchFamily="18" charset="0"/>
                                </a:rPr>
                                <m:t>𝑥</m:t>
                              </m:r>
                            </m:sub>
                          </m:sSub>
                          <m:r>
                            <a:rPr lang="en-US" altLang="zh-CN" sz="2200" b="0" i="1" smtClean="0">
                              <a:latin typeface="Cambria Math" panose="02040503050406030204" pitchFamily="18" charset="0"/>
                            </a:rPr>
                            <m:t>)</m:t>
                          </m:r>
                        </m:e>
                      </m:func>
                    </m:oMath>
                  </m:oMathPara>
                </a14:m>
                <a:endParaRPr lang="zh-CN" altLang="en-US" sz="2200" dirty="0"/>
              </a:p>
            </p:txBody>
          </p:sp>
        </mc:Choice>
        <mc:Fallback xmlns="">
          <p:sp>
            <p:nvSpPr>
              <p:cNvPr id="36" name="文本框 35">
                <a:extLst>
                  <a:ext uri="{FF2B5EF4-FFF2-40B4-BE49-F238E27FC236}">
                    <a16:creationId xmlns:a16="http://schemas.microsoft.com/office/drawing/2014/main" id="{B3B1737A-F7BA-43DF-A499-2EC6C070A9E5}"/>
                  </a:ext>
                </a:extLst>
              </p:cNvPr>
              <p:cNvSpPr txBox="1">
                <a:spLocks noRot="1" noChangeAspect="1" noMove="1" noResize="1" noEditPoints="1" noAdjustHandles="1" noChangeArrowheads="1" noChangeShapeType="1" noTextEdit="1"/>
              </p:cNvSpPr>
              <p:nvPr/>
            </p:nvSpPr>
            <p:spPr>
              <a:xfrm>
                <a:off x="4580126" y="5543595"/>
                <a:ext cx="2679836" cy="457561"/>
              </a:xfrm>
              <a:prstGeom prst="rect">
                <a:avLst/>
              </a:prstGeom>
              <a:blipFill>
                <a:blip r:embed="rId22"/>
                <a:stretch>
                  <a:fillRect b="-1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DF465418-FE84-4D87-8A40-AD452F78A58F}"/>
                  </a:ext>
                </a:extLst>
              </p:cNvPr>
              <p:cNvSpPr/>
              <p:nvPr/>
            </p:nvSpPr>
            <p:spPr>
              <a:xfrm>
                <a:off x="4544626" y="6207238"/>
                <a:ext cx="1873408" cy="36933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altLang="zh-CN" sz="2200" i="1" dirty="0" smtClean="0">
                            <a:solidFill>
                              <a:schemeClr val="tx1"/>
                            </a:solidFill>
                            <a:latin typeface="Cambria Math" panose="02040503050406030204" pitchFamily="18" charset="0"/>
                          </a:rPr>
                        </m:ctrlPr>
                      </m:sSubPr>
                      <m:e>
                        <m:r>
                          <a:rPr lang="en-US" altLang="zh-CN" sz="2200" dirty="0">
                            <a:solidFill>
                              <a:schemeClr val="tx1"/>
                            </a:solidFill>
                            <a:latin typeface="Cambria Math" panose="02040503050406030204" pitchFamily="18" charset="0"/>
                          </a:rPr>
                          <m:t>𝜃</m:t>
                        </m:r>
                      </m:e>
                      <m:sub>
                        <m:r>
                          <a:rPr lang="en-US" altLang="zh-CN" sz="2200" b="0" i="1" dirty="0" smtClean="0">
                            <a:solidFill>
                              <a:schemeClr val="tx1"/>
                            </a:solidFill>
                            <a:latin typeface="Cambria Math" panose="02040503050406030204" pitchFamily="18" charset="0"/>
                          </a:rPr>
                          <m:t>1</m:t>
                        </m:r>
                      </m:sub>
                    </m:sSub>
                    <m:r>
                      <a:rPr lang="en-US" altLang="zh-CN" sz="2200" dirty="0">
                        <a:solidFill>
                          <a:schemeClr val="tx1"/>
                        </a:solidFill>
                        <a:latin typeface="Cambria Math" panose="02040503050406030204" pitchFamily="18" charset="0"/>
                      </a:rPr>
                      <m:t>=</m:t>
                    </m:r>
                    <m:r>
                      <a:rPr lang="en-US" altLang="zh-CN" sz="2200">
                        <a:solidFill>
                          <a:schemeClr val="tx1"/>
                        </a:solidFill>
                        <a:latin typeface="Cambria Math" panose="02040503050406030204" pitchFamily="18" charset="0"/>
                      </a:rPr>
                      <m:t>𝛾</m:t>
                    </m:r>
                    <m:r>
                      <a:rPr lang="en-US" altLang="zh-CN" sz="2200" dirty="0">
                        <a:solidFill>
                          <a:schemeClr val="tx1"/>
                        </a:solidFill>
                        <a:latin typeface="Cambria Math" panose="02040503050406030204" pitchFamily="18" charset="0"/>
                      </a:rPr>
                      <m:t>−</m:t>
                    </m:r>
                    <m:r>
                      <a:rPr lang="en-US" altLang="zh-CN" sz="2200">
                        <a:solidFill>
                          <a:schemeClr val="tx1"/>
                        </a:solidFill>
                        <a:latin typeface="Cambria Math" panose="02040503050406030204" pitchFamily="18" charset="0"/>
                      </a:rPr>
                      <m:t>𝜏</m:t>
                    </m:r>
                  </m:oMath>
                </a14:m>
                <a:r>
                  <a:rPr lang="en-US" altLang="zh-CN" sz="2200" dirty="0">
                    <a:solidFill>
                      <a:schemeClr val="tx1"/>
                    </a:solidFill>
                    <a:latin typeface="Cambria Math" panose="02040503050406030204" pitchFamily="18" charset="0"/>
                  </a:rPr>
                  <a:t>2</a:t>
                </a:r>
                <a:endParaRPr lang="zh-CN" altLang="en-US" sz="2200" dirty="0">
                  <a:solidFill>
                    <a:schemeClr val="tx1"/>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DF465418-FE84-4D87-8A40-AD452F78A58F}"/>
                  </a:ext>
                </a:extLst>
              </p:cNvPr>
              <p:cNvSpPr>
                <a:spLocks noRot="1" noChangeAspect="1" noMove="1" noResize="1" noEditPoints="1" noAdjustHandles="1" noChangeArrowheads="1" noChangeShapeType="1" noTextEdit="1"/>
              </p:cNvSpPr>
              <p:nvPr/>
            </p:nvSpPr>
            <p:spPr>
              <a:xfrm>
                <a:off x="4544626" y="6207238"/>
                <a:ext cx="1873408" cy="369332"/>
              </a:xfrm>
              <a:prstGeom prst="rect">
                <a:avLst/>
              </a:prstGeom>
              <a:blipFill>
                <a:blip r:embed="rId23"/>
                <a:stretch>
                  <a:fillRect t="-15873" b="-38095"/>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CCAE5E6A-9AAD-4550-AC6C-E7C3E5D1F1CE}"/>
                  </a:ext>
                </a:extLst>
              </p:cNvPr>
              <p:cNvSpPr/>
              <p:nvPr/>
            </p:nvSpPr>
            <p:spPr>
              <a:xfrm>
                <a:off x="7259962" y="6205960"/>
                <a:ext cx="1873408" cy="36933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200" i="1" dirty="0" smtClean="0">
                              <a:solidFill>
                                <a:schemeClr val="tx1"/>
                              </a:solidFill>
                              <a:latin typeface="Cambria Math" panose="02040503050406030204" pitchFamily="18" charset="0"/>
                            </a:rPr>
                          </m:ctrlPr>
                        </m:sSubPr>
                        <m:e>
                          <m:r>
                            <a:rPr lang="en-US" altLang="zh-CN" sz="2200" dirty="0">
                              <a:solidFill>
                                <a:schemeClr val="tx1"/>
                              </a:solidFill>
                              <a:latin typeface="Cambria Math" panose="02040503050406030204" pitchFamily="18" charset="0"/>
                            </a:rPr>
                            <m:t>𝜃</m:t>
                          </m:r>
                        </m:e>
                        <m:sub>
                          <m:r>
                            <a:rPr lang="en-US" altLang="zh-CN" sz="2200" b="0" i="1" dirty="0" smtClean="0">
                              <a:solidFill>
                                <a:schemeClr val="tx1"/>
                              </a:solidFill>
                              <a:latin typeface="Cambria Math" panose="02040503050406030204" pitchFamily="18" charset="0"/>
                            </a:rPr>
                            <m:t>1</m:t>
                          </m:r>
                        </m:sub>
                      </m:sSub>
                      <m:r>
                        <a:rPr lang="en-US" altLang="zh-CN" sz="2200" dirty="0">
                          <a:solidFill>
                            <a:schemeClr val="tx1"/>
                          </a:solidFill>
                          <a:latin typeface="Cambria Math" panose="02040503050406030204" pitchFamily="18" charset="0"/>
                        </a:rPr>
                        <m:t>=</m:t>
                      </m:r>
                      <m:r>
                        <a:rPr lang="en-US" altLang="zh-CN" sz="2200">
                          <a:solidFill>
                            <a:schemeClr val="tx1"/>
                          </a:solidFill>
                          <a:latin typeface="Cambria Math" panose="02040503050406030204" pitchFamily="18" charset="0"/>
                        </a:rPr>
                        <m:t>𝛾</m:t>
                      </m:r>
                      <m:r>
                        <a:rPr lang="en-US" altLang="zh-CN" sz="2200" b="0" i="1" dirty="0" smtClean="0">
                          <a:solidFill>
                            <a:schemeClr val="tx1"/>
                          </a:solidFill>
                          <a:latin typeface="Cambria Math" panose="02040503050406030204" pitchFamily="18" charset="0"/>
                        </a:rPr>
                        <m:t>+</m:t>
                      </m:r>
                      <m:r>
                        <a:rPr lang="en-US" altLang="zh-CN" sz="2200">
                          <a:solidFill>
                            <a:schemeClr val="tx1"/>
                          </a:solidFill>
                          <a:latin typeface="Cambria Math" panose="02040503050406030204" pitchFamily="18" charset="0"/>
                        </a:rPr>
                        <m:t>𝜏</m:t>
                      </m:r>
                    </m:oMath>
                  </m:oMathPara>
                </a14:m>
                <a:endParaRPr lang="zh-CN" altLang="en-US" sz="2200" dirty="0">
                  <a:solidFill>
                    <a:schemeClr val="tx1"/>
                  </a:solidFill>
                  <a:latin typeface="Cambria Math" panose="02040503050406030204" pitchFamily="18" charset="0"/>
                </a:endParaRPr>
              </a:p>
            </p:txBody>
          </p:sp>
        </mc:Choice>
        <mc:Fallback xmlns="">
          <p:sp>
            <p:nvSpPr>
              <p:cNvPr id="38" name="矩形 37">
                <a:extLst>
                  <a:ext uri="{FF2B5EF4-FFF2-40B4-BE49-F238E27FC236}">
                    <a16:creationId xmlns:a16="http://schemas.microsoft.com/office/drawing/2014/main" id="{CCAE5E6A-9AAD-4550-AC6C-E7C3E5D1F1CE}"/>
                  </a:ext>
                </a:extLst>
              </p:cNvPr>
              <p:cNvSpPr>
                <a:spLocks noRot="1" noChangeAspect="1" noMove="1" noResize="1" noEditPoints="1" noAdjustHandles="1" noChangeArrowheads="1" noChangeShapeType="1" noTextEdit="1"/>
              </p:cNvSpPr>
              <p:nvPr/>
            </p:nvSpPr>
            <p:spPr>
              <a:xfrm>
                <a:off x="7259962" y="6205960"/>
                <a:ext cx="1873408" cy="369332"/>
              </a:xfrm>
              <a:prstGeom prst="rect">
                <a:avLst/>
              </a:prstGeom>
              <a:blipFill>
                <a:blip r:embed="rId24"/>
                <a:stretch>
                  <a:fillRect b="-17460"/>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9E296F43-5FFA-4B8F-AC2D-2DE4F62716D1}"/>
                  </a:ext>
                </a:extLst>
              </p:cNvPr>
              <p:cNvSpPr/>
              <p:nvPr/>
            </p:nvSpPr>
            <p:spPr>
              <a:xfrm>
                <a:off x="6418034" y="1024307"/>
                <a:ext cx="3802412" cy="12420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en-US" altLang="zh-CN" sz="2000" i="1" smtClean="0">
                              <a:latin typeface="Cambria Math" panose="02040503050406030204" pitchFamily="18" charset="0"/>
                            </a:rPr>
                          </m:ctrlPr>
                        </m:sPrePr>
                        <m:sub>
                          <m:r>
                            <a:rPr lang="en-US" altLang="zh-CN" sz="2000">
                              <a:latin typeface="Cambria Math" panose="02040503050406030204" pitchFamily="18" charset="0"/>
                            </a:rPr>
                            <m:t>3</m:t>
                          </m:r>
                        </m:sub>
                        <m:sup>
                          <m:r>
                            <a:rPr lang="en-US" altLang="zh-CN" sz="2000" b="0" i="1" smtClean="0">
                              <a:latin typeface="Cambria Math" panose="02040503050406030204" pitchFamily="18" charset="0"/>
                            </a:rPr>
                            <m:t>0</m:t>
                          </m:r>
                        </m:sup>
                        <m:e>
                          <m:r>
                            <a:rPr lang="en-US" altLang="zh-CN" sz="2000" b="0" i="1" smtClean="0">
                              <a:latin typeface="Cambria Math" panose="02040503050406030204" pitchFamily="18" charset="0"/>
                            </a:rPr>
                            <m:t>𝑇</m:t>
                          </m:r>
                        </m:e>
                      </m:sPre>
                      <m:r>
                        <a:rPr lang="en-US" altLang="zh-CN" sz="2000" smtClean="0">
                          <a:latin typeface="Cambria Math" panose="02040503050406030204" pitchFamily="18" charset="0"/>
                        </a:rPr>
                        <m:t>=</m:t>
                      </m:r>
                      <m:d>
                        <m:dPr>
                          <m:ctrlPr>
                            <a:rPr lang="zh-CN" altLang="en-US" sz="2000" i="1">
                              <a:latin typeface="Cambria Math" panose="02040503050406030204" pitchFamily="18" charset="0"/>
                            </a:rPr>
                          </m:ctrlPr>
                        </m:dPr>
                        <m:e>
                          <m:m>
                            <m:mPr>
                              <m:plcHide m:val="on"/>
                              <m:mcs>
                                <m:mc>
                                  <m:mcPr>
                                    <m:count m:val="4"/>
                                    <m:mcJc m:val="center"/>
                                  </m:mcPr>
                                </m:mc>
                              </m:mcs>
                              <m:ctrlPr>
                                <a:rPr lang="zh-CN" altLang="en-US" sz="2000" i="1">
                                  <a:latin typeface="Cambria Math" panose="02040503050406030204" pitchFamily="18" charset="0"/>
                                </a:rPr>
                              </m:ctrlPr>
                            </m:mPr>
                            <m:mr>
                              <m:e>
                                <m:r>
                                  <m:rPr>
                                    <m:sty m:val="p"/>
                                  </m:rPr>
                                  <a:rPr lang="zh-CN" altLang="en-US" sz="2000">
                                    <a:latin typeface="Cambria Math" panose="02040503050406030204" pitchFamily="18" charset="0"/>
                                  </a:rPr>
                                  <m:t>r</m:t>
                                </m:r>
                                <m:r>
                                  <a:rPr lang="zh-CN" altLang="en-US" sz="2000">
                                    <a:latin typeface="Cambria Math" panose="02040503050406030204" pitchFamily="18" charset="0"/>
                                  </a:rPr>
                                  <m:t>11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12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13</m:t>
                                </m:r>
                              </m:e>
                              <m:e>
                                <m:r>
                                  <m:rPr>
                                    <m:sty m:val="p"/>
                                  </m:rPr>
                                  <a:rPr lang="zh-CN" altLang="en-US" sz="2000" i="0">
                                    <a:latin typeface="Cambria Math" panose="02040503050406030204" pitchFamily="18" charset="0"/>
                                  </a:rPr>
                                  <m:t>px</m:t>
                                </m:r>
                              </m:e>
                            </m:mr>
                            <m:mr>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23</m:t>
                                </m:r>
                              </m:e>
                              <m:e>
                                <m:r>
                                  <m:rPr>
                                    <m:sty m:val="p"/>
                                  </m:rPr>
                                  <a:rPr lang="zh-CN" altLang="en-US" sz="2000" i="0">
                                    <a:latin typeface="Cambria Math" panose="02040503050406030204" pitchFamily="18" charset="0"/>
                                  </a:rPr>
                                  <m:t>py</m:t>
                                </m:r>
                              </m:e>
                            </m:mr>
                            <m:mr>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31</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32</m:t>
                                </m:r>
                              </m:e>
                              <m:e>
                                <m:r>
                                  <m:rPr>
                                    <m:sty m:val="p"/>
                                  </m:rPr>
                                  <a:rPr lang="zh-CN" altLang="en-US" sz="2000" i="0">
                                    <a:latin typeface="Cambria Math" panose="02040503050406030204" pitchFamily="18" charset="0"/>
                                  </a:rPr>
                                  <m:t>r</m:t>
                                </m:r>
                                <m:r>
                                  <a:rPr lang="zh-CN" altLang="en-US" sz="2000" i="0">
                                    <a:latin typeface="Cambria Math" panose="02040503050406030204" pitchFamily="18" charset="0"/>
                                  </a:rPr>
                                  <m:t>33</m:t>
                                </m:r>
                              </m:e>
                              <m:e>
                                <m:r>
                                  <m:rPr>
                                    <m:sty m:val="p"/>
                                  </m:rPr>
                                  <a:rPr lang="zh-CN" altLang="en-US" sz="2000" i="0">
                                    <a:latin typeface="Cambria Math" panose="02040503050406030204" pitchFamily="18" charset="0"/>
                                  </a:rPr>
                                  <m:t>pz</m:t>
                                </m:r>
                              </m:e>
                            </m:mr>
                            <m:mr>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0</m:t>
                                </m:r>
                              </m:e>
                              <m:e>
                                <m:r>
                                  <a:rPr lang="zh-CN" altLang="en-US" sz="2000" i="0">
                                    <a:latin typeface="Cambria Math" panose="02040503050406030204" pitchFamily="18" charset="0"/>
                                  </a:rPr>
                                  <m:t>1</m:t>
                                </m:r>
                              </m:e>
                            </m:mr>
                          </m:m>
                        </m:e>
                      </m:d>
                    </m:oMath>
                  </m:oMathPara>
                </a14:m>
                <a:endParaRPr lang="zh-CN" altLang="en-US" sz="2000" dirty="0"/>
              </a:p>
            </p:txBody>
          </p:sp>
        </mc:Choice>
        <mc:Fallback xmlns="">
          <p:sp>
            <p:nvSpPr>
              <p:cNvPr id="40" name="矩形 39">
                <a:extLst>
                  <a:ext uri="{FF2B5EF4-FFF2-40B4-BE49-F238E27FC236}">
                    <a16:creationId xmlns:a16="http://schemas.microsoft.com/office/drawing/2014/main" id="{9E296F43-5FFA-4B8F-AC2D-2DE4F62716D1}"/>
                  </a:ext>
                </a:extLst>
              </p:cNvPr>
              <p:cNvSpPr>
                <a:spLocks noRot="1" noChangeAspect="1" noMove="1" noResize="1" noEditPoints="1" noAdjustHandles="1" noChangeArrowheads="1" noChangeShapeType="1" noTextEdit="1"/>
              </p:cNvSpPr>
              <p:nvPr/>
            </p:nvSpPr>
            <p:spPr>
              <a:xfrm>
                <a:off x="6418034" y="1024307"/>
                <a:ext cx="3802412" cy="1242007"/>
              </a:xfrm>
              <a:prstGeom prst="rect">
                <a:avLst/>
              </a:prstGeom>
              <a:blipFill>
                <a:blip r:embed="rId26"/>
                <a:stretch>
                  <a:fillRect/>
                </a:stretch>
              </a:blipFill>
            </p:spPr>
            <p:txBody>
              <a:bodyPr/>
              <a:lstStyle/>
              <a:p>
                <a:r>
                  <a:rPr lang="zh-CN" altLang="en-US">
                    <a:noFill/>
                  </a:rPr>
                  <a:t> </a:t>
                </a:r>
              </a:p>
            </p:txBody>
          </p:sp>
        </mc:Fallback>
      </mc:AlternateContent>
      <p:sp>
        <p:nvSpPr>
          <p:cNvPr id="41" name="文本框 40">
            <a:extLst>
              <a:ext uri="{FF2B5EF4-FFF2-40B4-BE49-F238E27FC236}">
                <a16:creationId xmlns:a16="http://schemas.microsoft.com/office/drawing/2014/main" id="{280145FC-2447-4BFE-B13C-DB7969687224}"/>
              </a:ext>
            </a:extLst>
          </p:cNvPr>
          <p:cNvSpPr txBox="1"/>
          <p:nvPr/>
        </p:nvSpPr>
        <p:spPr>
          <a:xfrm>
            <a:off x="0" y="33341"/>
            <a:ext cx="12192000" cy="584775"/>
          </a:xfrm>
          <a:prstGeom prst="rect">
            <a:avLst/>
          </a:prstGeom>
          <a:noFill/>
        </p:spPr>
        <p:txBody>
          <a:bodyPr wrap="square" rtlCol="0">
            <a:spAutoFit/>
          </a:bodyPr>
          <a:lstStyle/>
          <a:p>
            <a:r>
              <a:rPr lang="zh-CN" altLang="en-US" sz="3200" b="1" dirty="0">
                <a:solidFill>
                  <a:srgbClr val="9D1317"/>
                </a:solidFill>
                <a:latin typeface="微软雅黑" panose="020B0503020204020204" pitchFamily="34" charset="-122"/>
                <a:ea typeface="微软雅黑" panose="020B0503020204020204" pitchFamily="34" charset="-122"/>
              </a:rPr>
              <a:t>附</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几何法</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2800" b="1" dirty="0">
                <a:solidFill>
                  <a:srgbClr val="9D1317"/>
                </a:solidFill>
                <a:latin typeface="微软雅黑" panose="020B0503020204020204" pitchFamily="34" charset="-122"/>
                <a:ea typeface="微软雅黑" panose="020B0503020204020204" pitchFamily="34" charset="-122"/>
              </a:rPr>
              <a:t>平面</a:t>
            </a:r>
            <a:r>
              <a:rPr lang="en-US" altLang="zh-CN" sz="2800" b="1" dirty="0">
                <a:solidFill>
                  <a:srgbClr val="9D1317"/>
                </a:solidFill>
                <a:latin typeface="微软雅黑" panose="020B0503020204020204" pitchFamily="34" charset="-122"/>
                <a:ea typeface="微软雅黑" panose="020B0503020204020204" pitchFamily="34" charset="-122"/>
              </a:rPr>
              <a:t>RRR</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
        <p:nvSpPr>
          <p:cNvPr id="42" name="文本框 41">
            <a:extLst>
              <a:ext uri="{FF2B5EF4-FFF2-40B4-BE49-F238E27FC236}">
                <a16:creationId xmlns:a16="http://schemas.microsoft.com/office/drawing/2014/main" id="{8CA4EF27-D141-4BC6-B872-3D7CFA7F8B6B}"/>
              </a:ext>
            </a:extLst>
          </p:cNvPr>
          <p:cNvSpPr txBox="1"/>
          <p:nvPr/>
        </p:nvSpPr>
        <p:spPr>
          <a:xfrm>
            <a:off x="5747712" y="1430878"/>
            <a:ext cx="80021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已知</a:t>
            </a:r>
          </a:p>
        </p:txBody>
      </p:sp>
      <p:sp>
        <p:nvSpPr>
          <p:cNvPr id="43" name="文本框 42">
            <a:extLst>
              <a:ext uri="{FF2B5EF4-FFF2-40B4-BE49-F238E27FC236}">
                <a16:creationId xmlns:a16="http://schemas.microsoft.com/office/drawing/2014/main" id="{382B715F-65EF-4012-B63E-631828FA2308}"/>
              </a:ext>
            </a:extLst>
          </p:cNvPr>
          <p:cNvSpPr txBox="1"/>
          <p:nvPr/>
        </p:nvSpPr>
        <p:spPr>
          <a:xfrm>
            <a:off x="8399992" y="3134577"/>
            <a:ext cx="1287532"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余弦定理</a:t>
            </a:r>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706FB256-25D9-4DCC-941D-9D76B96126DD}"/>
              </a:ext>
            </a:extLst>
          </p:cNvPr>
          <p:cNvSpPr txBox="1"/>
          <p:nvPr/>
        </p:nvSpPr>
        <p:spPr>
          <a:xfrm>
            <a:off x="8399992" y="4981838"/>
            <a:ext cx="1287532" cy="369332"/>
          </a:xfrm>
          <a:prstGeom prst="rect">
            <a:avLst/>
          </a:prstGeom>
          <a:noFill/>
        </p:spPr>
        <p:txBody>
          <a:bodyPr wrap="none" rtlCol="0">
            <a:spAutoFit/>
          </a:bodyPr>
          <a:lstStyle/>
          <a:p>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余弦定理</a:t>
            </a:r>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410839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anim calcmode="lin" valueType="num">
                                      <p:cBhvr additive="base">
                                        <p:cTn id="15" dur="500" fill="hold"/>
                                        <p:tgtEl>
                                          <p:spTgt spid="43"/>
                                        </p:tgtEl>
                                        <p:attrNameLst>
                                          <p:attrName>ppt_x</p:attrName>
                                        </p:attrNameLst>
                                      </p:cBhvr>
                                      <p:tavLst>
                                        <p:tav tm="0">
                                          <p:val>
                                            <p:strVal val="#ppt_x"/>
                                          </p:val>
                                        </p:tav>
                                        <p:tav tm="100000">
                                          <p:val>
                                            <p:strVal val="#ppt_x"/>
                                          </p:val>
                                        </p:tav>
                                      </p:tavLst>
                                    </p:anim>
                                    <p:anim calcmode="lin" valueType="num">
                                      <p:cBhvr additive="base">
                                        <p:cTn id="1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additive="base">
                                        <p:cTn id="21" dur="500" fill="hold"/>
                                        <p:tgtEl>
                                          <p:spTgt spid="28"/>
                                        </p:tgtEl>
                                        <p:attrNameLst>
                                          <p:attrName>ppt_x</p:attrName>
                                        </p:attrNameLst>
                                      </p:cBhvr>
                                      <p:tavLst>
                                        <p:tav tm="0">
                                          <p:val>
                                            <p:strVal val="#ppt_x"/>
                                          </p:val>
                                        </p:tav>
                                        <p:tav tm="100000">
                                          <p:val>
                                            <p:strVal val="#ppt_x"/>
                                          </p:val>
                                        </p:tav>
                                      </p:tavLst>
                                    </p:anim>
                                    <p:anim calcmode="lin" valueType="num">
                                      <p:cBhvr additive="base">
                                        <p:cTn id="22" dur="500" fill="hold"/>
                                        <p:tgtEl>
                                          <p:spTgt spid="2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 calcmode="lin" valueType="num">
                                      <p:cBhvr additive="base">
                                        <p:cTn id="31" dur="500" fill="hold"/>
                                        <p:tgtEl>
                                          <p:spTgt spid="35"/>
                                        </p:tgtEl>
                                        <p:attrNameLst>
                                          <p:attrName>ppt_x</p:attrName>
                                        </p:attrNameLst>
                                      </p:cBhvr>
                                      <p:tavLst>
                                        <p:tav tm="0">
                                          <p:val>
                                            <p:strVal val="#ppt_x"/>
                                          </p:val>
                                        </p:tav>
                                        <p:tav tm="100000">
                                          <p:val>
                                            <p:strVal val="#ppt_x"/>
                                          </p:val>
                                        </p:tav>
                                      </p:tavLst>
                                    </p:anim>
                                    <p:anim calcmode="lin" valueType="num">
                                      <p:cBhvr additive="base">
                                        <p:cTn id="32" dur="500" fill="hold"/>
                                        <p:tgtEl>
                                          <p:spTgt spid="3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500" fill="hold"/>
                                        <p:tgtEl>
                                          <p:spTgt spid="44"/>
                                        </p:tgtEl>
                                        <p:attrNameLst>
                                          <p:attrName>ppt_x</p:attrName>
                                        </p:attrNameLst>
                                      </p:cBhvr>
                                      <p:tavLst>
                                        <p:tav tm="0">
                                          <p:val>
                                            <p:strVal val="#ppt_x"/>
                                          </p:val>
                                        </p:tav>
                                        <p:tav tm="100000">
                                          <p:val>
                                            <p:strVal val="#ppt_x"/>
                                          </p:val>
                                        </p:tav>
                                      </p:tavLst>
                                    </p:anim>
                                    <p:anim calcmode="lin" valueType="num">
                                      <p:cBhvr additive="base">
                                        <p:cTn id="3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ppt_x"/>
                                          </p:val>
                                        </p:tav>
                                        <p:tav tm="100000">
                                          <p:val>
                                            <p:strVal val="#ppt_x"/>
                                          </p:val>
                                        </p:tav>
                                      </p:tavLst>
                                    </p:anim>
                                    <p:anim calcmode="lin" valueType="num">
                                      <p:cBhvr additive="base">
                                        <p:cTn id="4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additive="base">
                                        <p:cTn id="47" dur="500" fill="hold"/>
                                        <p:tgtEl>
                                          <p:spTgt spid="37"/>
                                        </p:tgtEl>
                                        <p:attrNameLst>
                                          <p:attrName>ppt_x</p:attrName>
                                        </p:attrNameLst>
                                      </p:cBhvr>
                                      <p:tavLst>
                                        <p:tav tm="0">
                                          <p:val>
                                            <p:strVal val="#ppt_x"/>
                                          </p:val>
                                        </p:tav>
                                        <p:tav tm="100000">
                                          <p:val>
                                            <p:strVal val="#ppt_x"/>
                                          </p:val>
                                        </p:tav>
                                      </p:tavLst>
                                    </p:anim>
                                    <p:anim calcmode="lin" valueType="num">
                                      <p:cBhvr additive="base">
                                        <p:cTn id="48" dur="500" fill="hold"/>
                                        <p:tgtEl>
                                          <p:spTgt spid="3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500" fill="hold"/>
                                        <p:tgtEl>
                                          <p:spTgt spid="38"/>
                                        </p:tgtEl>
                                        <p:attrNameLst>
                                          <p:attrName>ppt_x</p:attrName>
                                        </p:attrNameLst>
                                      </p:cBhvr>
                                      <p:tavLst>
                                        <p:tav tm="0">
                                          <p:val>
                                            <p:strVal val="#ppt_x"/>
                                          </p:val>
                                        </p:tav>
                                        <p:tav tm="100000">
                                          <p:val>
                                            <p:strVal val="#ppt_x"/>
                                          </p:val>
                                        </p:tav>
                                      </p:tavLst>
                                    </p:anim>
                                    <p:anim calcmode="lin" valueType="num">
                                      <p:cBhvr additive="base">
                                        <p:cTn id="5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8" grpId="0" animBg="1"/>
      <p:bldP spid="29" grpId="0" animBg="1"/>
      <p:bldP spid="35" grpId="0"/>
      <p:bldP spid="36" grpId="0"/>
      <p:bldP spid="37" grpId="0" animBg="1"/>
      <p:bldP spid="38" grpId="0" animBg="1"/>
      <p:bldP spid="43" grpId="0"/>
      <p:bldP spid="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2794836-46A7-4782-B110-C421BF499534}"/>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29</a:t>
            </a:fld>
            <a:endParaRPr lang="zh-CN" altLang="en-US">
              <a:solidFill>
                <a:prstClr val="black">
                  <a:tint val="75000"/>
                </a:prstClr>
              </a:solidFill>
            </a:endParaRPr>
          </a:p>
        </p:txBody>
      </p:sp>
      <p:pic>
        <p:nvPicPr>
          <p:cNvPr id="4" name="图片 3">
            <a:extLst>
              <a:ext uri="{FF2B5EF4-FFF2-40B4-BE49-F238E27FC236}">
                <a16:creationId xmlns:a16="http://schemas.microsoft.com/office/drawing/2014/main" id="{66114CB9-6E84-4F7B-A0EA-AB01B6A8FEE6}"/>
              </a:ext>
            </a:extLst>
          </p:cNvPr>
          <p:cNvPicPr>
            <a:picLocks noChangeAspect="1"/>
          </p:cNvPicPr>
          <p:nvPr/>
        </p:nvPicPr>
        <p:blipFill rotWithShape="1">
          <a:blip r:embed="rId3"/>
          <a:srcRect l="62106" t="28889" r="2083" b="12720"/>
          <a:stretch/>
        </p:blipFill>
        <p:spPr>
          <a:xfrm>
            <a:off x="8413531" y="3693290"/>
            <a:ext cx="2911366" cy="3164709"/>
          </a:xfrm>
          <a:prstGeom prst="rect">
            <a:avLst/>
          </a:prstGeom>
        </p:spPr>
      </p:pic>
      <p:pic>
        <p:nvPicPr>
          <p:cNvPr id="7" name="图片 6">
            <a:extLst>
              <a:ext uri="{FF2B5EF4-FFF2-40B4-BE49-F238E27FC236}">
                <a16:creationId xmlns:a16="http://schemas.microsoft.com/office/drawing/2014/main" id="{D474D262-4B6C-42F7-9F9E-FB16EB27EEE9}"/>
              </a:ext>
            </a:extLst>
          </p:cNvPr>
          <p:cNvPicPr>
            <a:picLocks noChangeAspect="1"/>
          </p:cNvPicPr>
          <p:nvPr/>
        </p:nvPicPr>
        <p:blipFill rotWithShape="1">
          <a:blip r:embed="rId4"/>
          <a:srcRect l="57959" t="45654" r="33939" b="51308"/>
          <a:stretch/>
        </p:blipFill>
        <p:spPr>
          <a:xfrm>
            <a:off x="1298238" y="5489721"/>
            <a:ext cx="2206962" cy="465484"/>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EEE562A-AF35-43C3-9A7B-613D49276B02}"/>
                  </a:ext>
                </a:extLst>
              </p:cNvPr>
              <p:cNvSpPr txBox="1"/>
              <p:nvPr/>
            </p:nvSpPr>
            <p:spPr>
              <a:xfrm>
                <a:off x="1215258" y="2380227"/>
                <a:ext cx="2000906" cy="8438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400" i="1" smtClean="0">
                          <a:latin typeface="Cambria Math" panose="02040503050406030204" pitchFamily="18" charset="0"/>
                        </a:rPr>
                        <m:t>𝑟</m:t>
                      </m:r>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𝑥</m:t>
                              </m:r>
                            </m:e>
                            <m:sub>
                              <m:r>
                                <a:rPr lang="zh-CN" altLang="en-US" sz="2400" i="1">
                                  <a:latin typeface="Cambria Math" panose="02040503050406030204" pitchFamily="18" charset="0"/>
                                </a:rPr>
                                <m:t>𝑐</m:t>
                              </m:r>
                            </m:sub>
                            <m:sup>
                              <m:r>
                                <a:rPr lang="zh-CN" altLang="en-US" sz="2400" i="0">
                                  <a:latin typeface="Cambria Math" panose="02040503050406030204" pitchFamily="18" charset="0"/>
                                </a:rPr>
                                <m:t>2</m:t>
                              </m:r>
                            </m:sup>
                          </m:sSubSup>
                          <m:r>
                            <a:rPr lang="zh-CN" altLang="en-US" sz="2400" i="0">
                              <a:latin typeface="Cambria Math" panose="02040503050406030204" pitchFamily="18" charset="0"/>
                            </a:rPr>
                            <m:t>+</m:t>
                          </m:r>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𝑐</m:t>
                              </m:r>
                            </m:sub>
                            <m:sup>
                              <m:r>
                                <a:rPr lang="zh-CN" altLang="en-US" sz="2400" i="0">
                                  <a:latin typeface="Cambria Math" panose="02040503050406030204" pitchFamily="18" charset="0"/>
                                </a:rPr>
                                <m:t>2</m:t>
                              </m:r>
                            </m:sup>
                          </m:sSubSup>
                        </m:e>
                      </m:rad>
                    </m:oMath>
                  </m:oMathPara>
                </a14:m>
                <a:endParaRPr lang="zh-CN" altLang="en-US" sz="2400" dirty="0"/>
              </a:p>
            </p:txBody>
          </p:sp>
        </mc:Choice>
        <mc:Fallback xmlns="">
          <p:sp>
            <p:nvSpPr>
              <p:cNvPr id="10" name="文本框 9">
                <a:extLst>
                  <a:ext uri="{FF2B5EF4-FFF2-40B4-BE49-F238E27FC236}">
                    <a16:creationId xmlns:a16="http://schemas.microsoft.com/office/drawing/2014/main" id="{1EEE562A-AF35-43C3-9A7B-613D49276B02}"/>
                  </a:ext>
                </a:extLst>
              </p:cNvPr>
              <p:cNvSpPr txBox="1">
                <a:spLocks noRot="1" noChangeAspect="1" noMove="1" noResize="1" noEditPoints="1" noAdjustHandles="1" noChangeArrowheads="1" noChangeShapeType="1" noTextEdit="1"/>
              </p:cNvSpPr>
              <p:nvPr/>
            </p:nvSpPr>
            <p:spPr>
              <a:xfrm>
                <a:off x="1215258" y="2380227"/>
                <a:ext cx="2000906" cy="843885"/>
              </a:xfrm>
              <a:prstGeom prst="rect">
                <a:avLst/>
              </a:prstGeom>
              <a:blipFill>
                <a:blip r:embed="rId6"/>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0B6D8E3-C76C-4449-A3CB-B94CDC205AE5}"/>
              </a:ext>
            </a:extLst>
          </p:cNvPr>
          <p:cNvSpPr txBox="1"/>
          <p:nvPr/>
        </p:nvSpPr>
        <p:spPr>
          <a:xfrm>
            <a:off x="276719" y="1820087"/>
            <a:ext cx="387798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令：已知的期望腕部位置为</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2B809F2-3611-4A80-90A9-A459C9249E09}"/>
                  </a:ext>
                </a:extLst>
              </p:cNvPr>
              <p:cNvSpPr txBox="1"/>
              <p:nvPr/>
            </p:nvSpPr>
            <p:spPr>
              <a:xfrm>
                <a:off x="4062248" y="1820087"/>
                <a:ext cx="1640406"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zh-CN" altLang="en-US" sz="2400" i="1" smtClean="0">
                              <a:solidFill>
                                <a:srgbClr val="836967"/>
                              </a:solidFill>
                              <a:latin typeface="Cambria Math" panose="02040503050406030204" pitchFamily="18" charset="0"/>
                            </a:rPr>
                          </m:ctrlPr>
                        </m:dP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1">
                                  <a:latin typeface="Cambria Math" panose="02040503050406030204" pitchFamily="18" charset="0"/>
                                </a:rPr>
                                <m:t>𝑐</m:t>
                              </m:r>
                            </m:sub>
                          </m:sSub>
                          <m:r>
                            <a:rPr lang="zh-CN" altLang="en-US" sz="2400" i="0">
                              <a:latin typeface="Cambria Math" panose="02040503050406030204" pitchFamily="18" charset="0"/>
                            </a:rPr>
                            <m:t>  </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𝑐</m:t>
                              </m:r>
                            </m:sub>
                          </m:sSub>
                          <m:r>
                            <a:rPr lang="zh-CN" altLang="en-US" sz="2400" i="0">
                              <a:latin typeface="Cambria Math" panose="02040503050406030204" pitchFamily="18" charset="0"/>
                            </a:rPr>
                            <m:t>  </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1">
                                  <a:latin typeface="Cambria Math" panose="02040503050406030204" pitchFamily="18" charset="0"/>
                                </a:rPr>
                                <m:t>𝑐</m:t>
                              </m:r>
                            </m:sub>
                          </m:sSub>
                        </m:e>
                      </m:d>
                    </m:oMath>
                  </m:oMathPara>
                </a14:m>
                <a:endParaRPr lang="zh-CN" altLang="en-US" sz="2400" dirty="0"/>
              </a:p>
            </p:txBody>
          </p:sp>
        </mc:Choice>
        <mc:Fallback xmlns="">
          <p:sp>
            <p:nvSpPr>
              <p:cNvPr id="13" name="文本框 12">
                <a:extLst>
                  <a:ext uri="{FF2B5EF4-FFF2-40B4-BE49-F238E27FC236}">
                    <a16:creationId xmlns:a16="http://schemas.microsoft.com/office/drawing/2014/main" id="{12B809F2-3611-4A80-90A9-A459C9249E09}"/>
                  </a:ext>
                </a:extLst>
              </p:cNvPr>
              <p:cNvSpPr txBox="1">
                <a:spLocks noRot="1" noChangeAspect="1" noMove="1" noResize="1" noEditPoints="1" noAdjustHandles="1" noChangeArrowheads="1" noChangeShapeType="1" noTextEdit="1"/>
              </p:cNvSpPr>
              <p:nvPr/>
            </p:nvSpPr>
            <p:spPr>
              <a:xfrm>
                <a:off x="4062248" y="1820087"/>
                <a:ext cx="1640406" cy="461665"/>
              </a:xfrm>
              <a:prstGeom prst="rect">
                <a:avLst/>
              </a:prstGeom>
              <a:blipFill>
                <a:blip r:embed="rId7"/>
                <a:stretch>
                  <a:fillRect b="-1200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420162CC-11A8-4462-88ED-2AB5FD884C93}"/>
              </a:ext>
            </a:extLst>
          </p:cNvPr>
          <p:cNvSpPr txBox="1"/>
          <p:nvPr/>
        </p:nvSpPr>
        <p:spPr>
          <a:xfrm>
            <a:off x="322426" y="2582087"/>
            <a:ext cx="1107996"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则有：</a:t>
            </a:r>
          </a:p>
        </p:txBody>
      </p:sp>
      <p:sp>
        <p:nvSpPr>
          <p:cNvPr id="15" name="文本框 14">
            <a:extLst>
              <a:ext uri="{FF2B5EF4-FFF2-40B4-BE49-F238E27FC236}">
                <a16:creationId xmlns:a16="http://schemas.microsoft.com/office/drawing/2014/main" id="{D28396EA-4A5E-4A55-9BB2-050D1E99D5E2}"/>
              </a:ext>
            </a:extLst>
          </p:cNvPr>
          <p:cNvSpPr txBox="1"/>
          <p:nvPr/>
        </p:nvSpPr>
        <p:spPr>
          <a:xfrm>
            <a:off x="331076" y="3394194"/>
            <a:ext cx="4493538"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做一条线与肩偏移垂直，则有：</a:t>
            </a:r>
          </a:p>
        </p:txBody>
      </p:sp>
      <p:grpSp>
        <p:nvGrpSpPr>
          <p:cNvPr id="3" name="组合 2">
            <a:extLst>
              <a:ext uri="{FF2B5EF4-FFF2-40B4-BE49-F238E27FC236}">
                <a16:creationId xmlns:a16="http://schemas.microsoft.com/office/drawing/2014/main" id="{A7ADD1BF-F214-4FA5-B5C1-10CEBD6A979D}"/>
              </a:ext>
            </a:extLst>
          </p:cNvPr>
          <p:cNvGrpSpPr/>
          <p:nvPr/>
        </p:nvGrpSpPr>
        <p:grpSpPr>
          <a:xfrm>
            <a:off x="8124103" y="808182"/>
            <a:ext cx="3985964" cy="2885108"/>
            <a:chOff x="8124103" y="808182"/>
            <a:chExt cx="3985964" cy="2885108"/>
          </a:xfrm>
        </p:grpSpPr>
        <p:pic>
          <p:nvPicPr>
            <p:cNvPr id="5" name="图片 4">
              <a:extLst>
                <a:ext uri="{FF2B5EF4-FFF2-40B4-BE49-F238E27FC236}">
                  <a16:creationId xmlns:a16="http://schemas.microsoft.com/office/drawing/2014/main" id="{2E3DDAC1-5962-49EA-929C-C99BBF4DD5A8}"/>
                </a:ext>
              </a:extLst>
            </p:cNvPr>
            <p:cNvPicPr>
              <a:picLocks noChangeAspect="1"/>
            </p:cNvPicPr>
            <p:nvPr/>
          </p:nvPicPr>
          <p:blipFill rotWithShape="1">
            <a:blip r:embed="rId8"/>
            <a:srcRect l="50554" t="45569" r="28228" b="22026"/>
            <a:stretch/>
          </p:blipFill>
          <p:spPr>
            <a:xfrm>
              <a:off x="8124103" y="808182"/>
              <a:ext cx="3358447" cy="2885108"/>
            </a:xfrm>
            <a:prstGeom prst="rect">
              <a:avLst/>
            </a:prstGeom>
          </p:spPr>
        </p:pic>
        <p:sp>
          <p:nvSpPr>
            <p:cNvPr id="6" name="文本框 5">
              <a:extLst>
                <a:ext uri="{FF2B5EF4-FFF2-40B4-BE49-F238E27FC236}">
                  <a16:creationId xmlns:a16="http://schemas.microsoft.com/office/drawing/2014/main" id="{69352E79-971C-48CF-93CF-50BFEF3A6531}"/>
                </a:ext>
              </a:extLst>
            </p:cNvPr>
            <p:cNvSpPr txBox="1"/>
            <p:nvPr/>
          </p:nvSpPr>
          <p:spPr>
            <a:xfrm>
              <a:off x="11763226" y="1178564"/>
              <a:ext cx="346841" cy="2031325"/>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从上往下俯视图</a:t>
              </a:r>
            </a:p>
          </p:txBody>
        </p:sp>
        <p:cxnSp>
          <p:nvCxnSpPr>
            <p:cNvPr id="17" name="直接连接符 16">
              <a:extLst>
                <a:ext uri="{FF2B5EF4-FFF2-40B4-BE49-F238E27FC236}">
                  <a16:creationId xmlns:a16="http://schemas.microsoft.com/office/drawing/2014/main" id="{338F3D54-9079-4ADA-8475-319EE704D555}"/>
                </a:ext>
              </a:extLst>
            </p:cNvPr>
            <p:cNvCxnSpPr/>
            <p:nvPr/>
          </p:nvCxnSpPr>
          <p:spPr>
            <a:xfrm flipV="1">
              <a:off x="9059917" y="2050527"/>
              <a:ext cx="2170386" cy="12602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8" name="图片 17">
            <a:extLst>
              <a:ext uri="{FF2B5EF4-FFF2-40B4-BE49-F238E27FC236}">
                <a16:creationId xmlns:a16="http://schemas.microsoft.com/office/drawing/2014/main" id="{ACEB57D0-5BA5-4F18-B73A-AA06DADA8175}"/>
              </a:ext>
            </a:extLst>
          </p:cNvPr>
          <p:cNvPicPr>
            <a:picLocks noChangeAspect="1"/>
          </p:cNvPicPr>
          <p:nvPr/>
        </p:nvPicPr>
        <p:blipFill rotWithShape="1">
          <a:blip r:embed="rId9"/>
          <a:srcRect l="53329" t="28918" r="30219" b="62920"/>
          <a:stretch/>
        </p:blipFill>
        <p:spPr>
          <a:xfrm>
            <a:off x="1025910" y="4028111"/>
            <a:ext cx="4359823" cy="1216626"/>
          </a:xfrm>
          <a:prstGeom prst="rect">
            <a:avLst/>
          </a:prstGeom>
        </p:spPr>
      </p:pic>
      <p:pic>
        <p:nvPicPr>
          <p:cNvPr id="19" name="图片 18">
            <a:extLst>
              <a:ext uri="{FF2B5EF4-FFF2-40B4-BE49-F238E27FC236}">
                <a16:creationId xmlns:a16="http://schemas.microsoft.com/office/drawing/2014/main" id="{9A2727F1-2982-4229-964C-C87750F0C30C}"/>
              </a:ext>
            </a:extLst>
          </p:cNvPr>
          <p:cNvPicPr>
            <a:picLocks noChangeAspect="1"/>
          </p:cNvPicPr>
          <p:nvPr/>
        </p:nvPicPr>
        <p:blipFill rotWithShape="1">
          <a:blip r:embed="rId9"/>
          <a:srcRect l="53329" t="25992" r="36609" b="71550"/>
          <a:stretch/>
        </p:blipFill>
        <p:spPr>
          <a:xfrm>
            <a:off x="3616716" y="2602122"/>
            <a:ext cx="2911366" cy="400093"/>
          </a:xfrm>
          <a:prstGeom prst="rect">
            <a:avLst/>
          </a:prstGeom>
        </p:spPr>
      </p:pic>
      <p:sp>
        <p:nvSpPr>
          <p:cNvPr id="20" name="文本框 19">
            <a:extLst>
              <a:ext uri="{FF2B5EF4-FFF2-40B4-BE49-F238E27FC236}">
                <a16:creationId xmlns:a16="http://schemas.microsoft.com/office/drawing/2014/main" id="{A5E6AEB4-129F-420A-9EFB-C4E8F6195EC6}"/>
              </a:ext>
            </a:extLst>
          </p:cNvPr>
          <p:cNvSpPr txBox="1"/>
          <p:nvPr/>
        </p:nvSpPr>
        <p:spPr>
          <a:xfrm>
            <a:off x="388913" y="5425673"/>
            <a:ext cx="1107996"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所以，</a:t>
            </a:r>
          </a:p>
        </p:txBody>
      </p:sp>
      <p:sp>
        <p:nvSpPr>
          <p:cNvPr id="21" name="文本框 20">
            <a:extLst>
              <a:ext uri="{FF2B5EF4-FFF2-40B4-BE49-F238E27FC236}">
                <a16:creationId xmlns:a16="http://schemas.microsoft.com/office/drawing/2014/main" id="{00906C9B-934B-4231-B51F-67EC8CE31B06}"/>
              </a:ext>
            </a:extLst>
          </p:cNvPr>
          <p:cNvSpPr txBox="1"/>
          <p:nvPr/>
        </p:nvSpPr>
        <p:spPr>
          <a:xfrm>
            <a:off x="0" y="33341"/>
            <a:ext cx="12192000" cy="584775"/>
          </a:xfrm>
          <a:prstGeom prst="rect">
            <a:avLst/>
          </a:prstGeom>
          <a:noFill/>
        </p:spPr>
        <p:txBody>
          <a:bodyPr wrap="square" rtlCol="0">
            <a:spAutoFit/>
          </a:bodyPr>
          <a:lstStyle/>
          <a:p>
            <a:r>
              <a:rPr lang="zh-CN" altLang="en-US" sz="3200" b="1" dirty="0">
                <a:solidFill>
                  <a:srgbClr val="9D1317"/>
                </a:solidFill>
                <a:latin typeface="微软雅黑" panose="020B0503020204020204" pitchFamily="34" charset="-122"/>
                <a:ea typeface="微软雅黑" panose="020B0503020204020204" pitchFamily="34" charset="-122"/>
              </a:rPr>
              <a:t>附</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几何法</a:t>
            </a:r>
            <a:r>
              <a:rPr lang="en-US" altLang="zh-CN" sz="3200" b="1" dirty="0">
                <a:solidFill>
                  <a:srgbClr val="9D1317"/>
                </a:solidFill>
                <a:latin typeface="微软雅黑" panose="020B0503020204020204" pitchFamily="34" charset="-122"/>
                <a:ea typeface="微软雅黑" panose="020B0503020204020204" pitchFamily="34" charset="-122"/>
              </a:rPr>
              <a:t>--</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pic>
        <p:nvPicPr>
          <p:cNvPr id="24" name="图片 23">
            <a:extLst>
              <a:ext uri="{FF2B5EF4-FFF2-40B4-BE49-F238E27FC236}">
                <a16:creationId xmlns:a16="http://schemas.microsoft.com/office/drawing/2014/main" id="{6DE0A8B5-AC87-4372-AC44-61DC24E67E22}"/>
              </a:ext>
            </a:extLst>
          </p:cNvPr>
          <p:cNvPicPr>
            <a:picLocks noChangeAspect="1"/>
          </p:cNvPicPr>
          <p:nvPr/>
        </p:nvPicPr>
        <p:blipFill rotWithShape="1">
          <a:blip r:embed="rId10"/>
          <a:srcRect l="47118" t="28270" r="37715" b="50718"/>
          <a:stretch/>
        </p:blipFill>
        <p:spPr>
          <a:xfrm>
            <a:off x="5439308" y="4645572"/>
            <a:ext cx="2815474" cy="2017054"/>
          </a:xfrm>
          <a:prstGeom prst="rect">
            <a:avLst/>
          </a:prstGeom>
        </p:spPr>
      </p:pic>
      <p:sp>
        <p:nvSpPr>
          <p:cNvPr id="25" name="文本框 24">
            <a:extLst>
              <a:ext uri="{FF2B5EF4-FFF2-40B4-BE49-F238E27FC236}">
                <a16:creationId xmlns:a16="http://schemas.microsoft.com/office/drawing/2014/main" id="{13577711-6AE4-4468-B880-72DA958FFF0D}"/>
              </a:ext>
            </a:extLst>
          </p:cNvPr>
          <p:cNvSpPr txBox="1"/>
          <p:nvPr/>
        </p:nvSpPr>
        <p:spPr>
          <a:xfrm>
            <a:off x="6587913" y="6128155"/>
            <a:ext cx="1005403"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左臂构型</a:t>
            </a:r>
          </a:p>
        </p:txBody>
      </p:sp>
      <p:sp>
        <p:nvSpPr>
          <p:cNvPr id="26" name="文本框 25">
            <a:extLst>
              <a:ext uri="{FF2B5EF4-FFF2-40B4-BE49-F238E27FC236}">
                <a16:creationId xmlns:a16="http://schemas.microsoft.com/office/drawing/2014/main" id="{08DEE94B-8501-4A6B-9188-ED4DAE9D7F7B}"/>
              </a:ext>
            </a:extLst>
          </p:cNvPr>
          <p:cNvSpPr txBox="1"/>
          <p:nvPr/>
        </p:nvSpPr>
        <p:spPr>
          <a:xfrm>
            <a:off x="173676" y="768745"/>
            <a:ext cx="6886080" cy="941155"/>
          </a:xfrm>
          <a:prstGeom prst="rect">
            <a:avLst/>
          </a:prstGeom>
          <a:noFill/>
        </p:spPr>
        <p:txBody>
          <a:bodyPr wrap="square" rtlCol="0">
            <a:spAutoFit/>
          </a:bodyPr>
          <a:lstStyle/>
          <a:p>
            <a:pPr marL="342900" indent="-342900">
              <a:lnSpc>
                <a:spcPct val="12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首先可以根据实际应用场景确定手臂构型（左臂</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右臂、肘上</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肘下等），假设采用左臂构型</a:t>
            </a:r>
          </a:p>
        </p:txBody>
      </p:sp>
    </p:spTree>
    <p:extLst>
      <p:ext uri="{BB962C8B-B14F-4D97-AF65-F5344CB8AC3E}">
        <p14:creationId xmlns:p14="http://schemas.microsoft.com/office/powerpoint/2010/main" val="20282690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ppt_x"/>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32CFCFB-00F1-4A58-B62D-B9430CB04EC5}"/>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30</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EA128077-C358-42CE-9B11-EAB08968144F}"/>
              </a:ext>
            </a:extLst>
          </p:cNvPr>
          <p:cNvPicPr>
            <a:picLocks noChangeAspect="1"/>
          </p:cNvPicPr>
          <p:nvPr/>
        </p:nvPicPr>
        <p:blipFill rotWithShape="1">
          <a:blip r:embed="rId3"/>
          <a:srcRect l="49461" t="42970" r="26520" b="52741"/>
          <a:stretch/>
        </p:blipFill>
        <p:spPr>
          <a:xfrm>
            <a:off x="323197" y="4404040"/>
            <a:ext cx="6433468" cy="646181"/>
          </a:xfrm>
          <a:prstGeom prst="rect">
            <a:avLst/>
          </a:prstGeom>
        </p:spPr>
      </p:pic>
      <p:pic>
        <p:nvPicPr>
          <p:cNvPr id="4" name="图片 3">
            <a:extLst>
              <a:ext uri="{FF2B5EF4-FFF2-40B4-BE49-F238E27FC236}">
                <a16:creationId xmlns:a16="http://schemas.microsoft.com/office/drawing/2014/main" id="{F5484D4D-54F5-495B-B6C2-A7BBC1F2FB69}"/>
              </a:ext>
            </a:extLst>
          </p:cNvPr>
          <p:cNvPicPr>
            <a:picLocks noChangeAspect="1"/>
          </p:cNvPicPr>
          <p:nvPr/>
        </p:nvPicPr>
        <p:blipFill rotWithShape="1">
          <a:blip r:embed="rId4"/>
          <a:srcRect l="48038" t="38566" r="26044" b="22596"/>
          <a:stretch/>
        </p:blipFill>
        <p:spPr>
          <a:xfrm>
            <a:off x="7172758" y="2921876"/>
            <a:ext cx="4971946" cy="3520348"/>
          </a:xfrm>
          <a:prstGeom prst="rect">
            <a:avLst/>
          </a:prstGeom>
        </p:spPr>
      </p:pic>
      <p:pic>
        <p:nvPicPr>
          <p:cNvPr id="7" name="图片 6">
            <a:extLst>
              <a:ext uri="{FF2B5EF4-FFF2-40B4-BE49-F238E27FC236}">
                <a16:creationId xmlns:a16="http://schemas.microsoft.com/office/drawing/2014/main" id="{F1D11034-0264-4E55-8159-893A83A880C1}"/>
              </a:ext>
            </a:extLst>
          </p:cNvPr>
          <p:cNvPicPr>
            <a:picLocks noChangeAspect="1"/>
          </p:cNvPicPr>
          <p:nvPr/>
        </p:nvPicPr>
        <p:blipFill rotWithShape="1">
          <a:blip r:embed="rId5"/>
          <a:srcRect l="64411" t="30743" r="21678" b="50645"/>
          <a:stretch/>
        </p:blipFill>
        <p:spPr>
          <a:xfrm>
            <a:off x="8981089" y="789046"/>
            <a:ext cx="3163615" cy="2132830"/>
          </a:xfrm>
          <a:prstGeom prst="rect">
            <a:avLst/>
          </a:prstGeom>
        </p:spPr>
      </p:pic>
      <p:sp>
        <p:nvSpPr>
          <p:cNvPr id="8" name="文本框 7">
            <a:extLst>
              <a:ext uri="{FF2B5EF4-FFF2-40B4-BE49-F238E27FC236}">
                <a16:creationId xmlns:a16="http://schemas.microsoft.com/office/drawing/2014/main" id="{DB551944-E142-4618-9E9F-1E8D9D20DA30}"/>
              </a:ext>
            </a:extLst>
          </p:cNvPr>
          <p:cNvSpPr txBox="1"/>
          <p:nvPr/>
        </p:nvSpPr>
        <p:spPr>
          <a:xfrm>
            <a:off x="173676" y="768745"/>
            <a:ext cx="6886080" cy="497957"/>
          </a:xfrm>
          <a:prstGeom prst="rect">
            <a:avLst/>
          </a:prstGeom>
          <a:noFill/>
        </p:spPr>
        <p:txBody>
          <a:bodyPr wrap="square" rtlCol="0">
            <a:spAutoFit/>
          </a:bodyPr>
          <a:lstStyle/>
          <a:p>
            <a:pPr marL="342900" indent="-342900">
              <a:lnSpc>
                <a:spcPct val="12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如果采用右臂构型</a:t>
            </a:r>
          </a:p>
        </p:txBody>
      </p:sp>
      <p:pic>
        <p:nvPicPr>
          <p:cNvPr id="9" name="图片 8">
            <a:extLst>
              <a:ext uri="{FF2B5EF4-FFF2-40B4-BE49-F238E27FC236}">
                <a16:creationId xmlns:a16="http://schemas.microsoft.com/office/drawing/2014/main" id="{F2E0778E-51A2-411C-8AD2-EC59A3CB87BE}"/>
              </a:ext>
            </a:extLst>
          </p:cNvPr>
          <p:cNvPicPr>
            <a:picLocks noChangeAspect="1"/>
          </p:cNvPicPr>
          <p:nvPr/>
        </p:nvPicPr>
        <p:blipFill rotWithShape="1">
          <a:blip r:embed="rId3"/>
          <a:srcRect l="55141" t="53537" r="31419" b="34324"/>
          <a:stretch/>
        </p:blipFill>
        <p:spPr>
          <a:xfrm>
            <a:off x="1240221" y="1417331"/>
            <a:ext cx="3599793" cy="1828800"/>
          </a:xfrm>
          <a:prstGeom prst="rect">
            <a:avLst/>
          </a:prstGeom>
        </p:spPr>
      </p:pic>
      <p:pic>
        <p:nvPicPr>
          <p:cNvPr id="10" name="图片 9">
            <a:extLst>
              <a:ext uri="{FF2B5EF4-FFF2-40B4-BE49-F238E27FC236}">
                <a16:creationId xmlns:a16="http://schemas.microsoft.com/office/drawing/2014/main" id="{8F2DA1B5-2BAB-4F22-8DB6-EAA7D8EF1963}"/>
              </a:ext>
            </a:extLst>
          </p:cNvPr>
          <p:cNvPicPr>
            <a:picLocks noChangeAspect="1"/>
          </p:cNvPicPr>
          <p:nvPr/>
        </p:nvPicPr>
        <p:blipFill rotWithShape="1">
          <a:blip r:embed="rId3"/>
          <a:srcRect l="54062" t="75204" r="30399" b="20507"/>
          <a:stretch/>
        </p:blipFill>
        <p:spPr>
          <a:xfrm>
            <a:off x="1298028" y="3429000"/>
            <a:ext cx="4162098" cy="646181"/>
          </a:xfrm>
          <a:prstGeom prst="rect">
            <a:avLst/>
          </a:prstGeom>
        </p:spPr>
      </p:pic>
      <p:sp>
        <p:nvSpPr>
          <p:cNvPr id="11" name="文本框 20">
            <a:extLst>
              <a:ext uri="{FF2B5EF4-FFF2-40B4-BE49-F238E27FC236}">
                <a16:creationId xmlns:a16="http://schemas.microsoft.com/office/drawing/2014/main" id="{00906C9B-934B-4231-B51F-67EC8CE31B06}"/>
              </a:ext>
            </a:extLst>
          </p:cNvPr>
          <p:cNvSpPr txBox="1"/>
          <p:nvPr/>
        </p:nvSpPr>
        <p:spPr>
          <a:xfrm>
            <a:off x="0" y="51817"/>
            <a:ext cx="12192000"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dirty="0">
                <a:solidFill>
                  <a:srgbClr val="9D1317"/>
                </a:solidFill>
                <a:latin typeface="微软雅黑" panose="020B0503020204020204" pitchFamily="34" charset="-122"/>
                <a:ea typeface="微软雅黑" panose="020B0503020204020204" pitchFamily="34" charset="-122"/>
              </a:rPr>
              <a:t>附</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a:t>
            </a:r>
            <a:r>
              <a:rPr lang="en-US" altLang="zh-CN" sz="3200" b="1" dirty="0">
                <a:solidFill>
                  <a:srgbClr val="9D1317"/>
                </a:solidFill>
                <a:latin typeface="微软雅黑" panose="020B0503020204020204" pitchFamily="34" charset="-122"/>
                <a:ea typeface="微软雅黑" panose="020B0503020204020204" pitchFamily="34" charset="-122"/>
              </a:rPr>
              <a:t>: </a:t>
            </a:r>
            <a:r>
              <a:rPr lang="zh-CN" altLang="en-US" sz="3200" b="1" dirty="0">
                <a:solidFill>
                  <a:srgbClr val="9D1317"/>
                </a:solidFill>
                <a:latin typeface="微软雅黑" panose="020B0503020204020204" pitchFamily="34" charset="-122"/>
                <a:ea typeface="微软雅黑" panose="020B0503020204020204" pitchFamily="34" charset="-122"/>
              </a:rPr>
              <a:t>几何法</a:t>
            </a:r>
            <a:r>
              <a:rPr lang="en-US" altLang="zh-CN" sz="3200" b="1" dirty="0">
                <a:solidFill>
                  <a:srgbClr val="9D1317"/>
                </a:solidFill>
                <a:latin typeface="微软雅黑" panose="020B0503020204020204" pitchFamily="34" charset="-122"/>
                <a:ea typeface="微软雅黑" panose="020B0503020204020204" pitchFamily="34" charset="-122"/>
              </a:rPr>
              <a:t>--</a:t>
            </a:r>
            <a:r>
              <a:rPr lang="en-US" altLang="zh-CN" sz="2800" b="1" dirty="0">
                <a:solidFill>
                  <a:srgbClr val="9D1317"/>
                </a:solidFill>
                <a:latin typeface="微软雅黑" panose="020B0503020204020204" pitchFamily="34" charset="-122"/>
                <a:ea typeface="微软雅黑" panose="020B0503020204020204" pitchFamily="34" charset="-122"/>
              </a:rPr>
              <a:t>PUMA</a:t>
            </a:r>
            <a:r>
              <a:rPr lang="zh-CN" altLang="en-US" sz="2800" b="1" dirty="0">
                <a:solidFill>
                  <a:srgbClr val="9D1317"/>
                </a:solidFill>
                <a:latin typeface="微软雅黑" panose="020B0503020204020204" pitchFamily="34" charset="-122"/>
                <a:ea typeface="微软雅黑" panose="020B0503020204020204" pitchFamily="34" charset="-122"/>
              </a:rPr>
              <a:t>机器人举例</a:t>
            </a:r>
          </a:p>
        </p:txBody>
      </p:sp>
    </p:spTree>
    <p:extLst>
      <p:ext uri="{BB962C8B-B14F-4D97-AF65-F5344CB8AC3E}">
        <p14:creationId xmlns:p14="http://schemas.microsoft.com/office/powerpoint/2010/main" val="227538358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CAA5474-D2F5-4C08-81E6-C67CBE2A1109}"/>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31</a:t>
            </a:fld>
            <a:endParaRPr lang="zh-CN" altLang="en-US">
              <a:solidFill>
                <a:prstClr val="black">
                  <a:tint val="75000"/>
                </a:prstClr>
              </a:solidFill>
            </a:endParaRPr>
          </a:p>
        </p:txBody>
      </p:sp>
      <p:pic>
        <p:nvPicPr>
          <p:cNvPr id="3" name="图片 2">
            <a:extLst>
              <a:ext uri="{FF2B5EF4-FFF2-40B4-BE49-F238E27FC236}">
                <a16:creationId xmlns:a16="http://schemas.microsoft.com/office/drawing/2014/main" id="{2CE54C72-EB0D-4D4D-9561-8A671A24440B}"/>
              </a:ext>
            </a:extLst>
          </p:cNvPr>
          <p:cNvPicPr>
            <a:picLocks noChangeAspect="1"/>
          </p:cNvPicPr>
          <p:nvPr/>
        </p:nvPicPr>
        <p:blipFill rotWithShape="1">
          <a:blip r:embed="rId3"/>
          <a:srcRect l="53921" t="48270" r="28671" b="22475"/>
          <a:stretch/>
        </p:blipFill>
        <p:spPr>
          <a:xfrm>
            <a:off x="9054662" y="753277"/>
            <a:ext cx="3000704" cy="3603263"/>
          </a:xfrm>
          <a:prstGeom prst="rect">
            <a:avLst/>
          </a:prstGeom>
        </p:spPr>
      </p:pic>
      <p:pic>
        <p:nvPicPr>
          <p:cNvPr id="4" name="图片 3">
            <a:extLst>
              <a:ext uri="{FF2B5EF4-FFF2-40B4-BE49-F238E27FC236}">
                <a16:creationId xmlns:a16="http://schemas.microsoft.com/office/drawing/2014/main" id="{420A4897-B9B6-42A7-879E-4FB3A7A94862}"/>
              </a:ext>
            </a:extLst>
          </p:cNvPr>
          <p:cNvPicPr>
            <a:picLocks noChangeAspect="1"/>
          </p:cNvPicPr>
          <p:nvPr/>
        </p:nvPicPr>
        <p:blipFill rotWithShape="1">
          <a:blip r:embed="rId4"/>
          <a:srcRect l="50520" t="24472" r="26938" b="64501"/>
          <a:stretch/>
        </p:blipFill>
        <p:spPr>
          <a:xfrm>
            <a:off x="1030012" y="1506912"/>
            <a:ext cx="5165835" cy="1746037"/>
          </a:xfrm>
          <a:prstGeom prst="rect">
            <a:avLst/>
          </a:prstGeom>
        </p:spPr>
      </p:pic>
      <p:sp>
        <p:nvSpPr>
          <p:cNvPr id="5" name="文本框 4">
            <a:extLst>
              <a:ext uri="{FF2B5EF4-FFF2-40B4-BE49-F238E27FC236}">
                <a16:creationId xmlns:a16="http://schemas.microsoft.com/office/drawing/2014/main" id="{045B1E36-9129-4D43-B96C-6723DC5474F5}"/>
              </a:ext>
            </a:extLst>
          </p:cNvPr>
          <p:cNvSpPr txBox="1"/>
          <p:nvPr/>
        </p:nvSpPr>
        <p:spPr>
          <a:xfrm>
            <a:off x="0" y="33341"/>
            <a:ext cx="12192000" cy="584775"/>
          </a:xfrm>
          <a:prstGeom prst="rect">
            <a:avLst/>
          </a:prstGeom>
          <a:noFill/>
        </p:spPr>
        <p:txBody>
          <a:bodyPr wrap="square" rtlCol="0">
            <a:spAutoFit/>
          </a:bodyPr>
          <a:lstStyle/>
          <a:p>
            <a:r>
              <a:rPr lang="zh-CN" altLang="en-US" sz="3200" b="1" dirty="0">
                <a:solidFill>
                  <a:srgbClr val="9D1317"/>
                </a:solidFill>
                <a:latin typeface="微软雅黑" panose="020B0503020204020204" pitchFamily="34" charset="-122"/>
                <a:ea typeface="微软雅黑" panose="020B0503020204020204" pitchFamily="34" charset="-122"/>
              </a:rPr>
              <a:t>附</a:t>
            </a:r>
            <a:r>
              <a:rPr lang="en-US" altLang="zh-CN" sz="3200" b="1" dirty="0">
                <a:solidFill>
                  <a:srgbClr val="9D1317"/>
                </a:solidFill>
                <a:latin typeface="微软雅黑" panose="020B0503020204020204" pitchFamily="34" charset="-122"/>
                <a:ea typeface="微软雅黑" panose="020B0503020204020204" pitchFamily="34" charset="-122"/>
              </a:rPr>
              <a:t>--</a:t>
            </a:r>
            <a:r>
              <a:rPr lang="zh-CN" altLang="en-US" sz="3200" b="1" dirty="0">
                <a:solidFill>
                  <a:srgbClr val="9D1317"/>
                </a:solidFill>
                <a:latin typeface="微软雅黑" panose="020B0503020204020204" pitchFamily="34" charset="-122"/>
                <a:ea typeface="微软雅黑" panose="020B0503020204020204" pitchFamily="34" charset="-122"/>
              </a:rPr>
              <a:t>机器人逆运动学求取：几何法</a:t>
            </a:r>
            <a:endParaRPr lang="zh-CN" altLang="en-US" sz="2800" b="1" dirty="0">
              <a:solidFill>
                <a:srgbClr val="9D1317"/>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5578E05F-8CFA-4E7D-BF87-199725C4F8B9}"/>
              </a:ext>
            </a:extLst>
          </p:cNvPr>
          <p:cNvPicPr>
            <a:picLocks noChangeAspect="1"/>
          </p:cNvPicPr>
          <p:nvPr/>
        </p:nvPicPr>
        <p:blipFill rotWithShape="1">
          <a:blip r:embed="rId5">
            <a:extLst>
              <a:ext uri="{28A0092B-C50C-407E-A947-70E740481C1C}">
                <a14:useLocalDpi xmlns:a14="http://schemas.microsoft.com/office/drawing/2010/main" val="0"/>
              </a:ext>
            </a:extLst>
          </a:blip>
          <a:srcRect l="7053" t="17347" r="31437" b="29263"/>
          <a:stretch/>
        </p:blipFill>
        <p:spPr>
          <a:xfrm>
            <a:off x="8975834" y="4334047"/>
            <a:ext cx="3189889" cy="2514770"/>
          </a:xfrm>
          <a:prstGeom prst="rect">
            <a:avLst/>
          </a:prstGeom>
        </p:spPr>
      </p:pic>
      <p:pic>
        <p:nvPicPr>
          <p:cNvPr id="8" name="图片 7">
            <a:extLst>
              <a:ext uri="{FF2B5EF4-FFF2-40B4-BE49-F238E27FC236}">
                <a16:creationId xmlns:a16="http://schemas.microsoft.com/office/drawing/2014/main" id="{E4727326-B7FB-47E4-864A-50FBF12718F5}"/>
              </a:ext>
            </a:extLst>
          </p:cNvPr>
          <p:cNvPicPr>
            <a:picLocks noChangeAspect="1"/>
          </p:cNvPicPr>
          <p:nvPr/>
        </p:nvPicPr>
        <p:blipFill rotWithShape="1">
          <a:blip r:embed="rId4"/>
          <a:srcRect l="53968" t="42829" r="30718" b="53110"/>
          <a:stretch/>
        </p:blipFill>
        <p:spPr>
          <a:xfrm>
            <a:off x="1110679" y="3678622"/>
            <a:ext cx="3699809" cy="677918"/>
          </a:xfrm>
          <a:prstGeom prst="rect">
            <a:avLst/>
          </a:prstGeom>
        </p:spPr>
      </p:pic>
      <p:pic>
        <p:nvPicPr>
          <p:cNvPr id="9" name="图片 8">
            <a:extLst>
              <a:ext uri="{FF2B5EF4-FFF2-40B4-BE49-F238E27FC236}">
                <a16:creationId xmlns:a16="http://schemas.microsoft.com/office/drawing/2014/main" id="{D7FADCC6-38DC-4685-BF36-30F24391D334}"/>
              </a:ext>
            </a:extLst>
          </p:cNvPr>
          <p:cNvPicPr>
            <a:picLocks noChangeAspect="1"/>
          </p:cNvPicPr>
          <p:nvPr/>
        </p:nvPicPr>
        <p:blipFill rotWithShape="1">
          <a:blip r:embed="rId4"/>
          <a:srcRect l="46835" t="54254" r="23623" b="38312"/>
          <a:stretch/>
        </p:blipFill>
        <p:spPr>
          <a:xfrm>
            <a:off x="1030012" y="4977734"/>
            <a:ext cx="7059151" cy="1227396"/>
          </a:xfrm>
          <a:prstGeom prst="rect">
            <a:avLst/>
          </a:prstGeom>
        </p:spPr>
      </p:pic>
      <p:sp>
        <p:nvSpPr>
          <p:cNvPr id="10" name="文本框 9">
            <a:extLst>
              <a:ext uri="{FF2B5EF4-FFF2-40B4-BE49-F238E27FC236}">
                <a16:creationId xmlns:a16="http://schemas.microsoft.com/office/drawing/2014/main" id="{F0071841-1C68-4C2F-8725-461FCC27344B}"/>
              </a:ext>
            </a:extLst>
          </p:cNvPr>
          <p:cNvSpPr txBox="1"/>
          <p:nvPr/>
        </p:nvSpPr>
        <p:spPr>
          <a:xfrm>
            <a:off x="7818426" y="2010598"/>
            <a:ext cx="1261884" cy="369332"/>
          </a:xfrm>
          <a:prstGeom prst="rect">
            <a:avLst/>
          </a:prstGeom>
          <a:noFill/>
        </p:spPr>
        <p:txBody>
          <a:bodyPr wrap="none" rtlCol="0">
            <a:spAutoFit/>
          </a:bodyPr>
          <a:lstStyle/>
          <a:p>
            <a:r>
              <a:rPr lang="en-US" altLang="zh-CN" b="1" i="1" dirty="0">
                <a:latin typeface="Times New Roman" panose="02020603050405020304" pitchFamily="18" charset="0"/>
                <a:cs typeface="Times New Roman" panose="02020603050405020304" pitchFamily="18" charset="0"/>
              </a:rPr>
              <a:t>X</a:t>
            </a:r>
            <a:r>
              <a:rPr lang="en-US" altLang="zh-CN" b="1" baseline="-25000" dirty="0">
                <a:latin typeface="Times New Roman" panose="02020603050405020304" pitchFamily="18" charset="0"/>
                <a:cs typeface="Times New Roman" panose="02020603050405020304" pitchFamily="18" charset="0"/>
              </a:rPr>
              <a:t>0</a:t>
            </a:r>
            <a:r>
              <a:rPr lang="en-US" altLang="zh-CN" b="1" i="1" dirty="0">
                <a:latin typeface="Times New Roman" panose="02020603050405020304" pitchFamily="18" charset="0"/>
                <a:cs typeface="Times New Roman" panose="02020603050405020304" pitchFamily="18" charset="0"/>
              </a:rPr>
              <a:t>OZ</a:t>
            </a:r>
            <a:r>
              <a:rPr lang="en-US" altLang="zh-CN" b="1" baseline="-25000" dirty="0">
                <a:latin typeface="Times New Roman" panose="02020603050405020304" pitchFamily="18" charset="0"/>
                <a:cs typeface="Times New Roman" panose="02020603050405020304" pitchFamily="18" charset="0"/>
              </a:rPr>
              <a:t>0</a:t>
            </a:r>
            <a:r>
              <a:rPr lang="zh-CN" altLang="en-US" b="1" dirty="0">
                <a:latin typeface="微软雅黑" panose="020B0503020204020204" pitchFamily="34" charset="-122"/>
                <a:ea typeface="微软雅黑" panose="020B0503020204020204" pitchFamily="34" charset="-122"/>
              </a:rPr>
              <a:t>平面</a:t>
            </a:r>
          </a:p>
        </p:txBody>
      </p:sp>
      <p:cxnSp>
        <p:nvCxnSpPr>
          <p:cNvPr id="12" name="直接连接符 11">
            <a:extLst>
              <a:ext uri="{FF2B5EF4-FFF2-40B4-BE49-F238E27FC236}">
                <a16:creationId xmlns:a16="http://schemas.microsoft.com/office/drawing/2014/main" id="{9A5667C2-7660-44A0-AD30-753E7B8E8AFA}"/>
              </a:ext>
            </a:extLst>
          </p:cNvPr>
          <p:cNvCxnSpPr/>
          <p:nvPr/>
        </p:nvCxnSpPr>
        <p:spPr>
          <a:xfrm flipH="1">
            <a:off x="9371144" y="1374512"/>
            <a:ext cx="1560887" cy="239790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C107272-8005-46F6-8CCD-A78FC4904197}"/>
              </a:ext>
            </a:extLst>
          </p:cNvPr>
          <p:cNvCxnSpPr>
            <a:cxnSpLocks/>
          </p:cNvCxnSpPr>
          <p:nvPr/>
        </p:nvCxnSpPr>
        <p:spPr>
          <a:xfrm>
            <a:off x="10932031" y="1374512"/>
            <a:ext cx="704728" cy="100541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33717"/>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51D2457-8599-4CC5-85A0-75B5F2968E95}"/>
              </a:ext>
            </a:extLst>
          </p:cNvPr>
          <p:cNvSpPr>
            <a:spLocks noGrp="1"/>
          </p:cNvSpPr>
          <p:nvPr>
            <p:ph type="sldNum" sz="quarter" idx="12"/>
          </p:nvPr>
        </p:nvSpPr>
        <p:spPr/>
        <p:txBody>
          <a:bodyPr/>
          <a:lstStyle/>
          <a:p>
            <a:pPr>
              <a:defRPr/>
            </a:pPr>
            <a:fld id="{DAA44188-3096-49C0-8534-FE6F15E0F67F}" type="slidenum">
              <a:rPr lang="zh-CN" altLang="en-US" smtClean="0">
                <a:solidFill>
                  <a:prstClr val="black">
                    <a:tint val="75000"/>
                  </a:prstClr>
                </a:solidFill>
              </a:rPr>
              <a:pPr>
                <a:defRPr/>
              </a:pPr>
              <a:t>32</a:t>
            </a:fld>
            <a:endParaRPr lang="zh-CN" altLang="en-US" dirty="0">
              <a:solidFill>
                <a:prstClr val="black">
                  <a:tint val="75000"/>
                </a:prstClr>
              </a:solidFill>
            </a:endParaRPr>
          </a:p>
        </p:txBody>
      </p:sp>
      <p:sp>
        <p:nvSpPr>
          <p:cNvPr id="3" name="文本框 2">
            <a:extLst>
              <a:ext uri="{FF2B5EF4-FFF2-40B4-BE49-F238E27FC236}">
                <a16:creationId xmlns:a16="http://schemas.microsoft.com/office/drawing/2014/main" id="{C3E64141-DA72-4ED4-8172-2ABF8653E19D}"/>
              </a:ext>
            </a:extLst>
          </p:cNvPr>
          <p:cNvSpPr txBox="1"/>
          <p:nvPr/>
        </p:nvSpPr>
        <p:spPr>
          <a:xfrm>
            <a:off x="0" y="33341"/>
            <a:ext cx="12192000" cy="584775"/>
          </a:xfrm>
          <a:prstGeom prst="rect">
            <a:avLst/>
          </a:prstGeom>
          <a:noFill/>
        </p:spPr>
        <p:txBody>
          <a:bodyPr wrap="square" rtlCol="0">
            <a:spAutoFit/>
          </a:bodyPr>
          <a:lstStyle/>
          <a:p>
            <a:r>
              <a:rPr lang="zh-CN" altLang="en-US" sz="3200" b="1" dirty="0">
                <a:solidFill>
                  <a:srgbClr val="9D1317"/>
                </a:solidFill>
                <a:latin typeface="微软雅黑" panose="020B0503020204020204" pitchFamily="34" charset="-122"/>
                <a:ea typeface="微软雅黑" panose="020B0503020204020204" pitchFamily="34" charset="-122"/>
              </a:rPr>
              <a:t>附</a:t>
            </a:r>
            <a:r>
              <a:rPr lang="en-US" altLang="zh-CN" sz="3200" b="1" dirty="0">
                <a:solidFill>
                  <a:srgbClr val="9D1317"/>
                </a:solidFill>
                <a:latin typeface="微软雅黑" panose="020B0503020204020204" pitchFamily="34" charset="-122"/>
                <a:ea typeface="微软雅黑" panose="020B0503020204020204" pitchFamily="34" charset="-122"/>
              </a:rPr>
              <a:t>--PUMA</a:t>
            </a:r>
            <a:r>
              <a:rPr lang="zh-CN" altLang="en-US" sz="3200" b="1" dirty="0">
                <a:solidFill>
                  <a:srgbClr val="9D1317"/>
                </a:solidFill>
                <a:latin typeface="微软雅黑" panose="020B0503020204020204" pitchFamily="34" charset="-122"/>
                <a:ea typeface="微软雅黑" panose="020B0503020204020204" pitchFamily="34" charset="-122"/>
              </a:rPr>
              <a:t>机器人逆运动学：几何法</a:t>
            </a:r>
          </a:p>
        </p:txBody>
      </p:sp>
      <p:sp>
        <p:nvSpPr>
          <p:cNvPr id="4" name="矩形 3">
            <a:extLst>
              <a:ext uri="{FF2B5EF4-FFF2-40B4-BE49-F238E27FC236}">
                <a16:creationId xmlns:a16="http://schemas.microsoft.com/office/drawing/2014/main" id="{89891FF5-9C00-44E7-BC7E-3BEEA81B15F1}"/>
              </a:ext>
            </a:extLst>
          </p:cNvPr>
          <p:cNvSpPr/>
          <p:nvPr/>
        </p:nvSpPr>
        <p:spPr>
          <a:xfrm>
            <a:off x="695400" y="1124744"/>
            <a:ext cx="10523790" cy="4954561"/>
          </a:xfrm>
          <a:prstGeom prst="rect">
            <a:avLst/>
          </a:prstGeom>
        </p:spPr>
        <p:txBody>
          <a:bodyPr wrap="square">
            <a:spAutoFit/>
          </a:bodyPr>
          <a:lstStyle/>
          <a:p>
            <a:pPr marL="360363" indent="-360363">
              <a:lnSpc>
                <a:spcPct val="120000"/>
              </a:lnSpc>
              <a:spcAft>
                <a:spcPts val="600"/>
              </a:spcAft>
              <a:buFont typeface="Wingdings" panose="05000000000000000000" pitchFamily="2" charset="2"/>
              <a:buChar char="n"/>
            </a:pPr>
            <a:r>
              <a:rPr lang="en-US" altLang="zh-CN" sz="2400" i="0" dirty="0">
                <a:solidFill>
                  <a:srgbClr val="222222"/>
                </a:solidFill>
                <a:latin typeface="微软雅黑" panose="020B0503020204020204" pitchFamily="34" charset="-122"/>
                <a:ea typeface="微软雅黑" panose="020B0503020204020204" pitchFamily="34" charset="-122"/>
              </a:rPr>
              <a:t>PUMA</a:t>
            </a:r>
            <a:r>
              <a:rPr lang="zh-CN" altLang="en-US" sz="2400" i="0" dirty="0">
                <a:solidFill>
                  <a:srgbClr val="222222"/>
                </a:solidFill>
                <a:latin typeface="微软雅黑" panose="020B0503020204020204" pitchFamily="34" charset="-122"/>
                <a:ea typeface="微软雅黑" panose="020B0503020204020204" pitchFamily="34" charset="-122"/>
              </a:rPr>
              <a:t>机器人逆运动学几何法求解总结：</a:t>
            </a:r>
            <a:endParaRPr lang="en-US" altLang="zh-CN" sz="24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i="0" dirty="0">
                <a:solidFill>
                  <a:srgbClr val="222222"/>
                </a:solidFill>
                <a:latin typeface="微软雅黑" panose="020B0503020204020204" pitchFamily="34" charset="-122"/>
                <a:ea typeface="微软雅黑" panose="020B0503020204020204" pitchFamily="34" charset="-122"/>
              </a:rPr>
              <a:t>求解目标为腕部在基座坐标系的位置姿态与关节空间的映射</a:t>
            </a:r>
            <a:endParaRPr lang="en-US" altLang="zh-CN" sz="24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en-US" altLang="zh-CN" sz="2400" i="0" dirty="0">
                <a:solidFill>
                  <a:srgbClr val="222222"/>
                </a:solidFill>
                <a:latin typeface="微软雅黑" panose="020B0503020204020204" pitchFamily="34" charset="-122"/>
                <a:ea typeface="微软雅黑" panose="020B0503020204020204" pitchFamily="34" charset="-122"/>
              </a:rPr>
              <a:t>PUMA</a:t>
            </a:r>
            <a:r>
              <a:rPr lang="zh-CN" altLang="en-US" sz="2400" i="0" dirty="0">
                <a:solidFill>
                  <a:srgbClr val="222222"/>
                </a:solidFill>
                <a:latin typeface="微软雅黑" panose="020B0503020204020204" pitchFamily="34" charset="-122"/>
                <a:ea typeface="微软雅黑" panose="020B0503020204020204" pitchFamily="34" charset="-122"/>
              </a:rPr>
              <a:t>机器人末端</a:t>
            </a:r>
            <a:r>
              <a:rPr lang="en-US" altLang="zh-CN" sz="2400" i="0" dirty="0">
                <a:solidFill>
                  <a:srgbClr val="222222"/>
                </a:solidFill>
                <a:latin typeface="微软雅黑" panose="020B0503020204020204" pitchFamily="34" charset="-122"/>
                <a:ea typeface="微软雅黑" panose="020B0503020204020204" pitchFamily="34" charset="-122"/>
              </a:rPr>
              <a:t>4</a:t>
            </a:r>
            <a:r>
              <a:rPr lang="zh-CN" altLang="en-US" sz="2400" i="0" dirty="0">
                <a:solidFill>
                  <a:srgbClr val="222222"/>
                </a:solidFill>
                <a:latin typeface="微软雅黑" panose="020B0503020204020204" pitchFamily="34" charset="-122"/>
                <a:ea typeface="微软雅黑" panose="020B0503020204020204" pitchFamily="34" charset="-122"/>
              </a:rPr>
              <a:t>，</a:t>
            </a:r>
            <a:r>
              <a:rPr lang="en-US" altLang="zh-CN" sz="2400" i="0" dirty="0">
                <a:solidFill>
                  <a:srgbClr val="222222"/>
                </a:solidFill>
                <a:latin typeface="微软雅黑" panose="020B0503020204020204" pitchFamily="34" charset="-122"/>
                <a:ea typeface="微软雅黑" panose="020B0503020204020204" pitchFamily="34" charset="-122"/>
              </a:rPr>
              <a:t>5</a:t>
            </a:r>
            <a:r>
              <a:rPr lang="zh-CN" altLang="en-US" sz="2400" i="0" dirty="0">
                <a:solidFill>
                  <a:srgbClr val="222222"/>
                </a:solidFill>
                <a:latin typeface="微软雅黑" panose="020B0503020204020204" pitchFamily="34" charset="-122"/>
                <a:ea typeface="微软雅黑" panose="020B0503020204020204" pitchFamily="34" charset="-122"/>
              </a:rPr>
              <a:t>，</a:t>
            </a:r>
            <a:r>
              <a:rPr lang="en-US" altLang="zh-CN" sz="2400" i="0" dirty="0">
                <a:solidFill>
                  <a:srgbClr val="222222"/>
                </a:solidFill>
                <a:latin typeface="微软雅黑" panose="020B0503020204020204" pitchFamily="34" charset="-122"/>
                <a:ea typeface="微软雅黑" panose="020B0503020204020204" pitchFamily="34" charset="-122"/>
              </a:rPr>
              <a:t>6</a:t>
            </a:r>
            <a:r>
              <a:rPr lang="zh-CN" altLang="en-US" sz="2400" i="0" dirty="0">
                <a:solidFill>
                  <a:srgbClr val="222222"/>
                </a:solidFill>
                <a:latin typeface="微软雅黑" panose="020B0503020204020204" pitchFamily="34" charset="-122"/>
                <a:ea typeface="微软雅黑" panose="020B0503020204020204" pitchFamily="34" charset="-122"/>
              </a:rPr>
              <a:t>关节相互垂直且交于一点</a:t>
            </a:r>
            <a:endParaRPr lang="en-US" altLang="zh-CN" sz="2400"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i="0" dirty="0">
                <a:solidFill>
                  <a:srgbClr val="222222"/>
                </a:solidFill>
                <a:latin typeface="微软雅黑" panose="020B0503020204020204" pitchFamily="34" charset="-122"/>
                <a:ea typeface="微软雅黑" panose="020B0503020204020204" pitchFamily="34" charset="-122"/>
              </a:rPr>
              <a:t>机器人</a:t>
            </a:r>
            <a:r>
              <a:rPr lang="zh-CN" altLang="en-US" sz="2000" i="0" dirty="0">
                <a:solidFill>
                  <a:srgbClr val="FF0000"/>
                </a:solidFill>
                <a:latin typeface="微软雅黑" panose="020B0503020204020204" pitchFamily="34" charset="-122"/>
                <a:ea typeface="微软雅黑" panose="020B0503020204020204" pitchFamily="34" charset="-122"/>
              </a:rPr>
              <a:t>腕部坐标系</a:t>
            </a:r>
            <a:r>
              <a:rPr lang="zh-CN" altLang="en-US" sz="2000" i="0" dirty="0">
                <a:solidFill>
                  <a:srgbClr val="222222"/>
                </a:solidFill>
                <a:latin typeface="微软雅黑" panose="020B0503020204020204" pitchFamily="34" charset="-122"/>
                <a:ea typeface="微软雅黑" panose="020B0503020204020204" pitchFamily="34" charset="-122"/>
              </a:rPr>
              <a:t>的</a:t>
            </a:r>
            <a:r>
              <a:rPr lang="zh-CN" altLang="en-US" sz="2000" i="0" dirty="0">
                <a:solidFill>
                  <a:srgbClr val="FF0000"/>
                </a:solidFill>
                <a:latin typeface="微软雅黑" panose="020B0503020204020204" pitchFamily="34" charset="-122"/>
                <a:ea typeface="微软雅黑" panose="020B0503020204020204" pitchFamily="34" charset="-122"/>
              </a:rPr>
              <a:t>位置仅由</a:t>
            </a:r>
            <a:r>
              <a:rPr lang="en-US" altLang="zh-CN" sz="2000" i="0" dirty="0">
                <a:solidFill>
                  <a:srgbClr val="222222"/>
                </a:solidFill>
                <a:latin typeface="微软雅黑" panose="020B0503020204020204" pitchFamily="34" charset="-122"/>
                <a:ea typeface="微软雅黑" panose="020B0503020204020204" pitchFamily="34" charset="-122"/>
              </a:rPr>
              <a:t>1</a:t>
            </a:r>
            <a:r>
              <a:rPr lang="zh-CN" altLang="en-US" sz="2000" i="0" dirty="0">
                <a:solidFill>
                  <a:srgbClr val="222222"/>
                </a:solidFill>
                <a:latin typeface="微软雅黑" panose="020B0503020204020204" pitchFamily="34" charset="-122"/>
                <a:ea typeface="微软雅黑" panose="020B0503020204020204" pitchFamily="34" charset="-122"/>
              </a:rPr>
              <a:t>，</a:t>
            </a:r>
            <a:r>
              <a:rPr lang="en-US" altLang="zh-CN" sz="2000" i="0" dirty="0">
                <a:solidFill>
                  <a:srgbClr val="222222"/>
                </a:solidFill>
                <a:latin typeface="微软雅黑" panose="020B0503020204020204" pitchFamily="34" charset="-122"/>
                <a:ea typeface="微软雅黑" panose="020B0503020204020204" pitchFamily="34" charset="-122"/>
              </a:rPr>
              <a:t>2</a:t>
            </a:r>
            <a:r>
              <a:rPr lang="zh-CN" altLang="en-US" sz="2000" i="0" dirty="0">
                <a:solidFill>
                  <a:srgbClr val="222222"/>
                </a:solidFill>
                <a:latin typeface="微软雅黑" panose="020B0503020204020204" pitchFamily="34" charset="-122"/>
                <a:ea typeface="微软雅黑" panose="020B0503020204020204" pitchFamily="34" charset="-122"/>
              </a:rPr>
              <a:t>，</a:t>
            </a:r>
            <a:r>
              <a:rPr lang="en-US" altLang="zh-CN" sz="2000" i="0" dirty="0">
                <a:solidFill>
                  <a:srgbClr val="222222"/>
                </a:solidFill>
                <a:latin typeface="微软雅黑" panose="020B0503020204020204" pitchFamily="34" charset="-122"/>
                <a:ea typeface="微软雅黑" panose="020B0503020204020204" pitchFamily="34" charset="-122"/>
              </a:rPr>
              <a:t>3</a:t>
            </a:r>
            <a:r>
              <a:rPr lang="zh-CN" altLang="en-US" sz="2000" i="0" dirty="0">
                <a:solidFill>
                  <a:srgbClr val="222222"/>
                </a:solidFill>
                <a:latin typeface="微软雅黑" panose="020B0503020204020204" pitchFamily="34" charset="-122"/>
                <a:ea typeface="微软雅黑" panose="020B0503020204020204" pitchFamily="34" charset="-122"/>
              </a:rPr>
              <a:t>关节有关</a:t>
            </a:r>
            <a:endParaRPr lang="en-US" altLang="zh-CN" sz="2000" i="0" dirty="0">
              <a:solidFill>
                <a:srgbClr val="222222"/>
              </a:solidFill>
              <a:latin typeface="微软雅黑" panose="020B0503020204020204" pitchFamily="34" charset="-122"/>
              <a:ea typeface="微软雅黑" panose="020B0503020204020204" pitchFamily="34" charset="-122"/>
            </a:endParaRPr>
          </a:p>
          <a:p>
            <a:pPr marL="1274763" lvl="2" indent="-360363">
              <a:lnSpc>
                <a:spcPct val="120000"/>
              </a:lnSpc>
              <a:spcAft>
                <a:spcPts val="600"/>
              </a:spcAft>
              <a:buFont typeface="Wingdings" panose="05000000000000000000" pitchFamily="2" charset="2"/>
              <a:buChar char="ü"/>
            </a:pPr>
            <a:r>
              <a:rPr lang="zh-CN" altLang="en-US" sz="2000" i="0" dirty="0">
                <a:solidFill>
                  <a:srgbClr val="222222"/>
                </a:solidFill>
                <a:latin typeface="微软雅黑" panose="020B0503020204020204" pitchFamily="34" charset="-122"/>
                <a:ea typeface="微软雅黑" panose="020B0503020204020204" pitchFamily="34" charset="-122"/>
              </a:rPr>
              <a:t>末端</a:t>
            </a:r>
            <a:r>
              <a:rPr lang="en-US" altLang="zh-CN" sz="2000" i="0" dirty="0">
                <a:solidFill>
                  <a:srgbClr val="222222"/>
                </a:solidFill>
                <a:latin typeface="微软雅黑" panose="020B0503020204020204" pitchFamily="34" charset="-122"/>
                <a:ea typeface="微软雅黑" panose="020B0503020204020204" pitchFamily="34" charset="-122"/>
              </a:rPr>
              <a:t>4</a:t>
            </a:r>
            <a:r>
              <a:rPr lang="zh-CN" altLang="en-US" sz="2000" i="0" dirty="0">
                <a:solidFill>
                  <a:srgbClr val="222222"/>
                </a:solidFill>
                <a:latin typeface="微软雅黑" panose="020B0503020204020204" pitchFamily="34" charset="-122"/>
                <a:ea typeface="微软雅黑" panose="020B0503020204020204" pitchFamily="34" charset="-122"/>
              </a:rPr>
              <a:t>，</a:t>
            </a:r>
            <a:r>
              <a:rPr lang="en-US" altLang="zh-CN" sz="2000" i="0" dirty="0">
                <a:solidFill>
                  <a:srgbClr val="222222"/>
                </a:solidFill>
                <a:latin typeface="微软雅黑" panose="020B0503020204020204" pitchFamily="34" charset="-122"/>
                <a:ea typeface="微软雅黑" panose="020B0503020204020204" pitchFamily="34" charset="-122"/>
              </a:rPr>
              <a:t>5</a:t>
            </a:r>
            <a:r>
              <a:rPr lang="zh-CN" altLang="en-US" sz="2000" i="0" dirty="0">
                <a:solidFill>
                  <a:srgbClr val="222222"/>
                </a:solidFill>
                <a:latin typeface="微软雅黑" panose="020B0503020204020204" pitchFamily="34" charset="-122"/>
                <a:ea typeface="微软雅黑" panose="020B0503020204020204" pitchFamily="34" charset="-122"/>
              </a:rPr>
              <a:t>，</a:t>
            </a:r>
            <a:r>
              <a:rPr lang="en-US" altLang="zh-CN" sz="2000" i="0" dirty="0">
                <a:solidFill>
                  <a:srgbClr val="222222"/>
                </a:solidFill>
                <a:latin typeface="微软雅黑" panose="020B0503020204020204" pitchFamily="34" charset="-122"/>
                <a:ea typeface="微软雅黑" panose="020B0503020204020204" pitchFamily="34" charset="-122"/>
              </a:rPr>
              <a:t>6</a:t>
            </a:r>
            <a:r>
              <a:rPr lang="zh-CN" altLang="en-US" sz="2000" i="0" dirty="0">
                <a:solidFill>
                  <a:srgbClr val="222222"/>
                </a:solidFill>
                <a:latin typeface="微软雅黑" panose="020B0503020204020204" pitchFamily="34" charset="-122"/>
                <a:ea typeface="微软雅黑" panose="020B0503020204020204" pitchFamily="34" charset="-122"/>
              </a:rPr>
              <a:t>关节相交于一点，可以形成任意姿态</a:t>
            </a:r>
            <a:endParaRPr lang="en-US" altLang="zh-CN" sz="20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i="0" dirty="0">
                <a:solidFill>
                  <a:srgbClr val="222222"/>
                </a:solidFill>
                <a:latin typeface="微软雅黑" panose="020B0503020204020204" pitchFamily="34" charset="-122"/>
                <a:ea typeface="微软雅黑" panose="020B0503020204020204" pitchFamily="34" charset="-122"/>
              </a:rPr>
              <a:t>关节</a:t>
            </a:r>
            <a:r>
              <a:rPr lang="en-US" altLang="zh-CN" sz="2400" i="0" dirty="0">
                <a:solidFill>
                  <a:srgbClr val="222222"/>
                </a:solidFill>
                <a:latin typeface="微软雅黑" panose="020B0503020204020204" pitchFamily="34" charset="-122"/>
                <a:ea typeface="微软雅黑" panose="020B0503020204020204" pitchFamily="34" charset="-122"/>
              </a:rPr>
              <a:t>3</a:t>
            </a:r>
            <a:r>
              <a:rPr lang="zh-CN" altLang="en-US" sz="2400" i="0" dirty="0">
                <a:solidFill>
                  <a:srgbClr val="222222"/>
                </a:solidFill>
                <a:latin typeface="微软雅黑" panose="020B0503020204020204" pitchFamily="34" charset="-122"/>
                <a:ea typeface="微软雅黑" panose="020B0503020204020204" pitchFamily="34" charset="-122"/>
              </a:rPr>
              <a:t>大小决定腕部到基坐标原点距离</a:t>
            </a:r>
            <a:r>
              <a:rPr lang="en-US" altLang="zh-CN" sz="2400" i="0" dirty="0">
                <a:solidFill>
                  <a:srgbClr val="222222"/>
                </a:solidFill>
                <a:latin typeface="微软雅黑" panose="020B0503020204020204" pitchFamily="34" charset="-122"/>
                <a:ea typeface="微软雅黑" panose="020B0503020204020204" pitchFamily="34" charset="-122"/>
              </a:rPr>
              <a:t>——</a:t>
            </a:r>
            <a:r>
              <a:rPr lang="zh-CN" altLang="en-US" sz="2400" i="0" dirty="0">
                <a:solidFill>
                  <a:srgbClr val="222222"/>
                </a:solidFill>
                <a:latin typeface="微软雅黑" panose="020B0503020204020204" pitchFamily="34" charset="-122"/>
                <a:ea typeface="微软雅黑" panose="020B0503020204020204" pitchFamily="34" charset="-122"/>
              </a:rPr>
              <a:t>余弦定理</a:t>
            </a:r>
            <a:endParaRPr lang="en-US" altLang="zh-CN" sz="20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i="0" dirty="0">
                <a:solidFill>
                  <a:srgbClr val="222222"/>
                </a:solidFill>
                <a:latin typeface="微软雅黑" panose="020B0503020204020204" pitchFamily="34" charset="-122"/>
                <a:ea typeface="微软雅黑" panose="020B0503020204020204" pitchFamily="34" charset="-122"/>
              </a:rPr>
              <a:t>关节</a:t>
            </a:r>
            <a:r>
              <a:rPr lang="en-US" altLang="zh-CN" sz="2400" i="0" dirty="0">
                <a:solidFill>
                  <a:srgbClr val="222222"/>
                </a:solidFill>
                <a:latin typeface="微软雅黑" panose="020B0503020204020204" pitchFamily="34" charset="-122"/>
                <a:ea typeface="微软雅黑" panose="020B0503020204020204" pitchFamily="34" charset="-122"/>
              </a:rPr>
              <a:t>1</a:t>
            </a:r>
            <a:r>
              <a:rPr lang="zh-CN" altLang="en-US" sz="2400" i="0" dirty="0">
                <a:solidFill>
                  <a:srgbClr val="222222"/>
                </a:solidFill>
                <a:latin typeface="微软雅黑" panose="020B0503020204020204" pitchFamily="34" charset="-122"/>
                <a:ea typeface="微软雅黑" panose="020B0503020204020204" pitchFamily="34" charset="-122"/>
              </a:rPr>
              <a:t>决定机械臂在</a:t>
            </a:r>
            <a:r>
              <a:rPr lang="en-US" altLang="zh-CN" sz="2400" i="0" dirty="0">
                <a:solidFill>
                  <a:srgbClr val="222222"/>
                </a:solidFill>
                <a:latin typeface="微软雅黑" panose="020B0503020204020204" pitchFamily="34" charset="-122"/>
                <a:ea typeface="微软雅黑" panose="020B0503020204020204" pitchFamily="34" charset="-122"/>
              </a:rPr>
              <a:t>XOY</a:t>
            </a:r>
            <a:r>
              <a:rPr lang="zh-CN" altLang="en-US" sz="2400" i="0" dirty="0">
                <a:solidFill>
                  <a:srgbClr val="222222"/>
                </a:solidFill>
                <a:latin typeface="微软雅黑" panose="020B0503020204020204" pitchFamily="34" charset="-122"/>
                <a:ea typeface="微软雅黑" panose="020B0503020204020204" pitchFamily="34" charset="-122"/>
              </a:rPr>
              <a:t>平面投影的方向</a:t>
            </a:r>
            <a:endParaRPr lang="en-US" altLang="zh-CN" sz="24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i="0" dirty="0">
                <a:solidFill>
                  <a:srgbClr val="222222"/>
                </a:solidFill>
                <a:latin typeface="微软雅黑" panose="020B0503020204020204" pitchFamily="34" charset="-122"/>
                <a:ea typeface="微软雅黑" panose="020B0503020204020204" pitchFamily="34" charset="-122"/>
              </a:rPr>
              <a:t>关节</a:t>
            </a:r>
            <a:r>
              <a:rPr lang="en-US" altLang="zh-CN" sz="2400" i="0" dirty="0">
                <a:solidFill>
                  <a:srgbClr val="222222"/>
                </a:solidFill>
                <a:latin typeface="微软雅黑" panose="020B0503020204020204" pitchFamily="34" charset="-122"/>
                <a:ea typeface="微软雅黑" panose="020B0503020204020204" pitchFamily="34" charset="-122"/>
              </a:rPr>
              <a:t>2</a:t>
            </a:r>
            <a:r>
              <a:rPr lang="zh-CN" altLang="en-US" sz="2400" i="0" dirty="0">
                <a:solidFill>
                  <a:srgbClr val="222222"/>
                </a:solidFill>
                <a:latin typeface="微软雅黑" panose="020B0503020204020204" pitchFamily="34" charset="-122"/>
                <a:ea typeface="微软雅黑" panose="020B0503020204020204" pitchFamily="34" charset="-122"/>
              </a:rPr>
              <a:t>、关节</a:t>
            </a:r>
            <a:r>
              <a:rPr lang="en-US" altLang="zh-CN" sz="2400" i="0" dirty="0">
                <a:solidFill>
                  <a:srgbClr val="222222"/>
                </a:solidFill>
                <a:latin typeface="微软雅黑" panose="020B0503020204020204" pitchFamily="34" charset="-122"/>
                <a:ea typeface="微软雅黑" panose="020B0503020204020204" pitchFamily="34" charset="-122"/>
              </a:rPr>
              <a:t>3</a:t>
            </a:r>
            <a:r>
              <a:rPr lang="zh-CN" altLang="en-US" sz="2400" dirty="0">
                <a:solidFill>
                  <a:srgbClr val="222222"/>
                </a:solidFill>
                <a:latin typeface="微软雅黑" panose="020B0503020204020204" pitchFamily="34" charset="-122"/>
                <a:ea typeface="微软雅黑" panose="020B0503020204020204" pitchFamily="34" charset="-122"/>
              </a:rPr>
              <a:t>与腕部</a:t>
            </a:r>
            <a:r>
              <a:rPr lang="en-US" altLang="zh-CN" sz="2400" dirty="0">
                <a:solidFill>
                  <a:srgbClr val="222222"/>
                </a:solidFill>
                <a:latin typeface="微软雅黑" panose="020B0503020204020204" pitchFamily="34" charset="-122"/>
                <a:ea typeface="微软雅黑" panose="020B0503020204020204" pitchFamily="34" charset="-122"/>
              </a:rPr>
              <a:t>Z</a:t>
            </a:r>
            <a:r>
              <a:rPr lang="zh-CN" altLang="en-US" sz="2400" dirty="0">
                <a:solidFill>
                  <a:srgbClr val="222222"/>
                </a:solidFill>
                <a:latin typeface="微软雅黑" panose="020B0503020204020204" pitchFamily="34" charset="-122"/>
                <a:ea typeface="微软雅黑" panose="020B0503020204020204" pitchFamily="34" charset="-122"/>
              </a:rPr>
              <a:t>方向高度和腕部到基坐标原点距离相关</a:t>
            </a:r>
            <a:endParaRPr lang="en-US" altLang="zh-CN" sz="2400" i="0" dirty="0">
              <a:solidFill>
                <a:srgbClr val="222222"/>
              </a:solidFill>
              <a:latin typeface="微软雅黑" panose="020B0503020204020204" pitchFamily="34" charset="-122"/>
              <a:ea typeface="微软雅黑" panose="020B0503020204020204" pitchFamily="34" charset="-122"/>
            </a:endParaRPr>
          </a:p>
          <a:p>
            <a:pPr marL="817563" lvl="1" indent="-360363">
              <a:lnSpc>
                <a:spcPct val="120000"/>
              </a:lnSpc>
              <a:spcAft>
                <a:spcPts val="600"/>
              </a:spcAft>
              <a:buFont typeface="Wingdings" panose="05000000000000000000" pitchFamily="2" charset="2"/>
              <a:buChar char="p"/>
            </a:pPr>
            <a:r>
              <a:rPr lang="zh-CN" altLang="en-US" sz="2400" i="0" dirty="0">
                <a:solidFill>
                  <a:srgbClr val="222222"/>
                </a:solidFill>
                <a:latin typeface="微软雅黑" panose="020B0503020204020204" pitchFamily="34" charset="-122"/>
                <a:ea typeface="微软雅黑" panose="020B0503020204020204" pitchFamily="34" charset="-122"/>
              </a:rPr>
              <a:t>几何法是通过几何关系、不需要考虑正运动学，解出对应的三个关节角，进而将原来</a:t>
            </a:r>
            <a:r>
              <a:rPr lang="en-US" altLang="zh-CN" sz="2400" i="0" dirty="0">
                <a:solidFill>
                  <a:srgbClr val="222222"/>
                </a:solidFill>
                <a:latin typeface="微软雅黑" panose="020B0503020204020204" pitchFamily="34" charset="-122"/>
                <a:ea typeface="微软雅黑" panose="020B0503020204020204" pitchFamily="34" charset="-122"/>
              </a:rPr>
              <a:t>6</a:t>
            </a:r>
            <a:r>
              <a:rPr lang="zh-CN" altLang="en-US" sz="2400" i="0" dirty="0">
                <a:solidFill>
                  <a:srgbClr val="222222"/>
                </a:solidFill>
                <a:latin typeface="微软雅黑" panose="020B0503020204020204" pitchFamily="34" charset="-122"/>
                <a:ea typeface="微软雅黑" panose="020B0503020204020204" pitchFamily="34" charset="-122"/>
              </a:rPr>
              <a:t>维的未知量降维至</a:t>
            </a:r>
            <a:r>
              <a:rPr lang="en-US" altLang="zh-CN" sz="2400" i="0" dirty="0">
                <a:solidFill>
                  <a:srgbClr val="222222"/>
                </a:solidFill>
                <a:latin typeface="微软雅黑" panose="020B0503020204020204" pitchFamily="34" charset="-122"/>
                <a:ea typeface="微软雅黑" panose="020B0503020204020204" pitchFamily="34" charset="-122"/>
              </a:rPr>
              <a:t>3</a:t>
            </a:r>
            <a:r>
              <a:rPr lang="zh-CN" altLang="en-US" sz="2400" i="0" dirty="0">
                <a:solidFill>
                  <a:srgbClr val="222222"/>
                </a:solidFill>
                <a:latin typeface="微软雅黑" panose="020B0503020204020204" pitchFamily="34" charset="-122"/>
                <a:ea typeface="微软雅黑" panose="020B0503020204020204" pitchFamily="34" charset="-122"/>
              </a:rPr>
              <a:t>维未知量</a:t>
            </a:r>
            <a:endParaRPr lang="en-US" altLang="zh-CN" sz="2400" i="0" dirty="0">
              <a:solidFill>
                <a:srgbClr val="22222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7032192"/>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theme/theme1.xml><?xml version="1.0" encoding="utf-8"?>
<a:theme xmlns:a="http://schemas.openxmlformats.org/drawingml/2006/main" name="山大16v9">
  <a:themeElements>
    <a:clrScheme name="0-红色">
      <a:dk1>
        <a:sysClr val="windowText" lastClr="000000"/>
      </a:dk1>
      <a:lt1>
        <a:sysClr val="window" lastClr="FFFFFF"/>
      </a:lt1>
      <a:dk2>
        <a:srgbClr val="44546A"/>
      </a:dk2>
      <a:lt2>
        <a:srgbClr val="E7E6E6"/>
      </a:lt2>
      <a:accent1>
        <a:srgbClr val="92090E"/>
      </a:accent1>
      <a:accent2>
        <a:srgbClr val="C00000"/>
      </a:accent2>
      <a:accent3>
        <a:srgbClr val="5257BF"/>
      </a:accent3>
      <a:accent4>
        <a:srgbClr val="303274"/>
      </a:accent4>
      <a:accent5>
        <a:srgbClr val="4472C4"/>
      </a:accent5>
      <a:accent6>
        <a:srgbClr val="70AD47"/>
      </a:accent6>
      <a:hlink>
        <a:srgbClr val="0563C1"/>
      </a:hlink>
      <a:folHlink>
        <a:srgbClr val="954F72"/>
      </a:folHlink>
    </a:clrScheme>
    <a:fontScheme name="0-常用">
      <a:majorFont>
        <a:latin typeface="Garamond"/>
        <a:ea typeface="方正小标宋简体"/>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山大16v9" id="{CBFC177C-67BC-4898-B209-AB3BAC7E3599}" vid="{370081A7-E90D-402D-BC69-F624A1726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南开4v3</Template>
  <TotalTime>10247</TotalTime>
  <Words>3001</Words>
  <Application>Microsoft Office PowerPoint</Application>
  <PresentationFormat>宽屏</PresentationFormat>
  <Paragraphs>421</Paragraphs>
  <Slides>32</Slides>
  <Notes>16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32</vt:i4>
      </vt:variant>
    </vt:vector>
  </HeadingPairs>
  <TitlesOfParts>
    <vt:vector size="51" baseType="lpstr">
      <vt:lpstr>方正小标宋简体</vt:lpstr>
      <vt:lpstr>华文隶书</vt:lpstr>
      <vt:lpstr>华文行楷</vt:lpstr>
      <vt:lpstr>华文中宋</vt:lpstr>
      <vt:lpstr>宋体</vt:lpstr>
      <vt:lpstr>微软雅黑</vt:lpstr>
      <vt:lpstr>微软雅黑 Light</vt:lpstr>
      <vt:lpstr>Arial</vt:lpstr>
      <vt:lpstr>Calibri</vt:lpstr>
      <vt:lpstr>Cambria Math</vt:lpstr>
      <vt:lpstr>Garamond</vt:lpstr>
      <vt:lpstr>Palatino Linotype</vt:lpstr>
      <vt:lpstr>Symbol</vt:lpstr>
      <vt:lpstr>Times New Roman</vt:lpstr>
      <vt:lpstr>Wingdings</vt:lpstr>
      <vt:lpstr>山大16v9</vt:lpstr>
      <vt:lpstr>Equation</vt:lpstr>
      <vt:lpstr>位图图像</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nyu</dc:creator>
  <cp:lastModifiedBy>轲 徐</cp:lastModifiedBy>
  <cp:revision>524</cp:revision>
  <dcterms:created xsi:type="dcterms:W3CDTF">2022-07-14T06:56:50Z</dcterms:created>
  <dcterms:modified xsi:type="dcterms:W3CDTF">2026-04-03T05:47:40Z</dcterms:modified>
</cp:coreProperties>
</file>