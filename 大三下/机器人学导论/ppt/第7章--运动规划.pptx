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mp4" ContentType="video/mp4"/>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sldIdLst>
    <p:sldId id="262" r:id="rId2"/>
    <p:sldId id="2046" r:id="rId3"/>
    <p:sldId id="2169" r:id="rId4"/>
    <p:sldId id="2170" r:id="rId5"/>
    <p:sldId id="2123" r:id="rId6"/>
    <p:sldId id="2124" r:id="rId7"/>
    <p:sldId id="2128" r:id="rId8"/>
    <p:sldId id="2129" r:id="rId9"/>
    <p:sldId id="2127" r:id="rId10"/>
    <p:sldId id="2167" r:id="rId11"/>
    <p:sldId id="2152" r:id="rId12"/>
    <p:sldId id="2130" r:id="rId13"/>
    <p:sldId id="2151" r:id="rId14"/>
    <p:sldId id="2133" r:id="rId15"/>
    <p:sldId id="2153" r:id="rId16"/>
    <p:sldId id="2134" r:id="rId17"/>
    <p:sldId id="2138" r:id="rId18"/>
    <p:sldId id="2135" r:id="rId19"/>
    <p:sldId id="2139" r:id="rId20"/>
    <p:sldId id="2136" r:id="rId21"/>
    <p:sldId id="2141" r:id="rId22"/>
    <p:sldId id="2144" r:id="rId23"/>
    <p:sldId id="2142" r:id="rId24"/>
    <p:sldId id="2143" r:id="rId25"/>
    <p:sldId id="2179" r:id="rId26"/>
    <p:sldId id="2145" r:id="rId27"/>
    <p:sldId id="2171" r:id="rId28"/>
    <p:sldId id="2149" r:id="rId29"/>
    <p:sldId id="2155" r:id="rId30"/>
    <p:sldId id="2168" r:id="rId31"/>
    <p:sldId id="2157" r:id="rId32"/>
    <p:sldId id="2158" r:id="rId33"/>
    <p:sldId id="2159" r:id="rId34"/>
    <p:sldId id="2160" r:id="rId35"/>
    <p:sldId id="1917" r:id="rId36"/>
    <p:sldId id="2178" r:id="rId37"/>
  </p:sldIdLst>
  <p:sldSz cx="12192000" cy="6858000"/>
  <p:notesSz cx="6800850" cy="993298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qdlwRomm5aRx0Rgqdl7XDg==" hashData="DFOGtLtc+BwHGtOThoiAbE+WcjLJcAZEr9LZ7YI70HyGUc3VxCu0HQ7ndk+droGMpDd56BAV0PtGF0u6YeAOKg=="/>
  <p:extLst>
    <p:ext uri="{521415D9-36F7-43E2-AB2F-B90AF26B5E84}">
      <p14:sectionLst xmlns:p14="http://schemas.microsoft.com/office/powerpoint/2010/main">
        <p14:section name="Default Section" id="{52251452-E94D-477E-AD2C-327D441C0DF1}">
          <p14:sldIdLst>
            <p14:sldId id="262"/>
            <p14:sldId id="2046"/>
            <p14:sldId id="2169"/>
            <p14:sldId id="2170"/>
            <p14:sldId id="2123"/>
            <p14:sldId id="2124"/>
            <p14:sldId id="2128"/>
            <p14:sldId id="2129"/>
            <p14:sldId id="2127"/>
            <p14:sldId id="2167"/>
            <p14:sldId id="2152"/>
            <p14:sldId id="2130"/>
            <p14:sldId id="2151"/>
            <p14:sldId id="2133"/>
            <p14:sldId id="2153"/>
            <p14:sldId id="2134"/>
            <p14:sldId id="2138"/>
            <p14:sldId id="2135"/>
            <p14:sldId id="2139"/>
            <p14:sldId id="2136"/>
            <p14:sldId id="2141"/>
            <p14:sldId id="2144"/>
            <p14:sldId id="2142"/>
            <p14:sldId id="2143"/>
            <p14:sldId id="2179"/>
            <p14:sldId id="2145"/>
            <p14:sldId id="2171"/>
            <p14:sldId id="2149"/>
            <p14:sldId id="2155"/>
            <p14:sldId id="2168"/>
            <p14:sldId id="2157"/>
            <p14:sldId id="2158"/>
            <p14:sldId id="2159"/>
            <p14:sldId id="2160"/>
            <p14:sldId id="1917"/>
            <p14:sldId id="21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9D9D9"/>
    <a:srgbClr val="7E0C6E"/>
    <a:srgbClr val="FFFFFF"/>
    <a:srgbClr val="0000FF"/>
    <a:srgbClr val="66FF33"/>
    <a:srgbClr val="9D1317"/>
    <a:srgbClr val="CCFFFF"/>
    <a:srgbClr val="AD2929"/>
    <a:srgbClr val="DCCCCC"/>
    <a:srgbClr val="E0D8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2" autoAdjust="0"/>
    <p:restoredTop sz="93800" autoAdjust="0"/>
  </p:normalViewPr>
  <p:slideViewPr>
    <p:cSldViewPr snapToGrid="0">
      <p:cViewPr varScale="1">
        <p:scale>
          <a:sx n="99" d="100"/>
          <a:sy n="99" d="100"/>
        </p:scale>
        <p:origin x="72" y="31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9" d="100"/>
          <a:sy n="49" d="100"/>
        </p:scale>
        <p:origin x="2672"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52241" y="0"/>
            <a:ext cx="2947035" cy="498374"/>
          </a:xfrm>
          <a:prstGeom prst="rect">
            <a:avLst/>
          </a:prstGeom>
        </p:spPr>
        <p:txBody>
          <a:bodyPr vert="horz" lIns="91440" tIns="45720" rIns="91440" bIns="45720" rtlCol="0"/>
          <a:lstStyle>
            <a:lvl1pPr algn="r">
              <a:defRPr sz="1200"/>
            </a:lvl1pPr>
          </a:lstStyle>
          <a:p>
            <a:fld id="{FDC1E2E0-388F-4DBA-9DA8-85681B3ACD52}" type="datetimeFigureOut">
              <a:rPr lang="en-001" smtClean="0"/>
              <a:t>05/15/2026</a:t>
            </a:fld>
            <a:endParaRPr lang="en-001"/>
          </a:p>
        </p:txBody>
      </p:sp>
      <p:sp>
        <p:nvSpPr>
          <p:cNvPr id="4" name="Slide Image Placeholder 3"/>
          <p:cNvSpPr>
            <a:spLocks noGrp="1" noRot="1" noChangeAspect="1"/>
          </p:cNvSpPr>
          <p:nvPr>
            <p:ph type="sldImg" idx="2"/>
          </p:nvPr>
        </p:nvSpPr>
        <p:spPr>
          <a:xfrm>
            <a:off x="420688" y="1241425"/>
            <a:ext cx="5959475" cy="33528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0085" y="4780250"/>
            <a:ext cx="5440680" cy="39111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9434615"/>
            <a:ext cx="2947035" cy="498373"/>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52241" y="9434615"/>
            <a:ext cx="2947035" cy="498373"/>
          </a:xfrm>
          <a:prstGeom prst="rect">
            <a:avLst/>
          </a:prstGeom>
        </p:spPr>
        <p:txBody>
          <a:bodyPr vert="horz" lIns="91440" tIns="45720" rIns="91440" bIns="45720" rtlCol="0" anchor="b"/>
          <a:lstStyle>
            <a:lvl1pPr algn="r">
              <a:defRPr sz="1200"/>
            </a:lvl1pPr>
          </a:lstStyle>
          <a:p>
            <a:fld id="{37A6D237-E89A-4204-9D81-552D7A5EEAD4}" type="slidenum">
              <a:rPr lang="en-001" smtClean="0"/>
              <a:t>‹#›</a:t>
            </a:fld>
            <a:endParaRPr lang="en-001"/>
          </a:p>
        </p:txBody>
      </p:sp>
    </p:spTree>
    <p:extLst>
      <p:ext uri="{BB962C8B-B14F-4D97-AF65-F5344CB8AC3E}">
        <p14:creationId xmlns:p14="http://schemas.microsoft.com/office/powerpoint/2010/main" val="349122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41425"/>
            <a:ext cx="5959475" cy="33528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a:t>
            </a:fld>
            <a:endParaRPr lang="en-001"/>
          </a:p>
        </p:txBody>
      </p:sp>
    </p:spTree>
    <p:extLst>
      <p:ext uri="{BB962C8B-B14F-4D97-AF65-F5344CB8AC3E}">
        <p14:creationId xmlns:p14="http://schemas.microsoft.com/office/powerpoint/2010/main" val="298503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31</a:t>
            </a:fld>
            <a:endParaRPr lang="en-001"/>
          </a:p>
        </p:txBody>
      </p:sp>
    </p:spTree>
    <p:extLst>
      <p:ext uri="{BB962C8B-B14F-4D97-AF65-F5344CB8AC3E}">
        <p14:creationId xmlns:p14="http://schemas.microsoft.com/office/powerpoint/2010/main" val="1648203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35</a:t>
            </a:fld>
            <a:endParaRPr lang="en-001"/>
          </a:p>
        </p:txBody>
      </p:sp>
    </p:spTree>
    <p:extLst>
      <p:ext uri="{BB962C8B-B14F-4D97-AF65-F5344CB8AC3E}">
        <p14:creationId xmlns:p14="http://schemas.microsoft.com/office/powerpoint/2010/main" val="3601042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日期占位符 3"/>
          <p:cNvSpPr>
            <a:spLocks noGrp="1"/>
          </p:cNvSpPr>
          <p:nvPr>
            <p:ph type="dt" sz="half" idx="10"/>
          </p:nvPr>
        </p:nvSpPr>
        <p:spPr/>
        <p:txBody>
          <a:body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49188418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14761346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2"/>
            <a:ext cx="10515600" cy="2852737"/>
          </a:xfrm>
        </p:spPr>
        <p:txBody>
          <a:bodyPr anchor="b"/>
          <a:lstStyle>
            <a:lvl1pPr>
              <a:defRPr sz="6000"/>
            </a:lvl1pPr>
          </a:lstStyle>
          <a:p>
            <a:r>
              <a:rPr lang="en-US" altLang="zh-CN"/>
              <a:t>Click to edit Master title style</a:t>
            </a:r>
            <a:endParaRPr lang="zh-CN" altLang="en-US"/>
          </a:p>
        </p:txBody>
      </p:sp>
      <p:sp>
        <p:nvSpPr>
          <p:cNvPr id="3" name="文本占位符 2"/>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日期占位符 3"/>
          <p:cNvSpPr>
            <a:spLocks noGrp="1"/>
          </p:cNvSpPr>
          <p:nvPr>
            <p:ph type="dt" sz="half" idx="10"/>
          </p:nvPr>
        </p:nvSpPr>
        <p:spPr/>
        <p:txBody>
          <a:body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12676685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日期占位符 4"/>
          <p:cNvSpPr>
            <a:spLocks noGrp="1"/>
          </p:cNvSpPr>
          <p:nvPr>
            <p:ph type="dt" sz="half" idx="10"/>
          </p:nvPr>
        </p:nvSpPr>
        <p:spPr/>
        <p:txBody>
          <a:bodyPr/>
          <a:lstStyle/>
          <a:p>
            <a:pPr>
              <a:defRPr/>
            </a:pPr>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0329440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en-US" altLang="zh-CN"/>
              <a:t>Click to edit Master title style</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839789"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6172202"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日期占位符 6"/>
          <p:cNvSpPr>
            <a:spLocks noGrp="1"/>
          </p:cNvSpPr>
          <p:nvPr>
            <p:ph type="dt" sz="half" idx="10"/>
          </p:nvPr>
        </p:nvSpPr>
        <p:spPr/>
        <p:txBody>
          <a:bodyPr/>
          <a:lstStyle/>
          <a:p>
            <a:pPr>
              <a:defRPr/>
            </a:pPr>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3298295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日期占位符 2"/>
          <p:cNvSpPr>
            <a:spLocks noGrp="1"/>
          </p:cNvSpPr>
          <p:nvPr>
            <p:ph type="dt" sz="half" idx="10"/>
          </p:nvPr>
        </p:nvSpPr>
        <p:spPr/>
        <p:txBody>
          <a:bodyPr/>
          <a:lstStyle/>
          <a:p>
            <a:pPr>
              <a:defRPr/>
            </a:pPr>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115431266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a:extLst>
              <a:ext uri="{FF2B5EF4-FFF2-40B4-BE49-F238E27FC236}">
                <a16:creationId xmlns:a16="http://schemas.microsoft.com/office/drawing/2014/main" id="{35914360-5F20-4391-B7B2-3639C308C2E7}"/>
              </a:ext>
            </a:extLst>
          </p:cNvPr>
          <p:cNvSpPr>
            <a:spLocks noGrp="1"/>
          </p:cNvSpPr>
          <p:nvPr>
            <p:ph type="sldNum" sz="quarter" idx="12"/>
          </p:nvPr>
        </p:nvSpPr>
        <p:spPr>
          <a:xfrm>
            <a:off x="10430067" y="6356354"/>
            <a:ext cx="1680000" cy="365125"/>
          </a:xfrm>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10229904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背景与需求">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19315" y="6356354"/>
            <a:ext cx="1680000" cy="365125"/>
          </a:xfrm>
        </p:spPr>
        <p:txBody>
          <a:bodyPr/>
          <a:lstStyle/>
          <a:p>
            <a:pPr>
              <a:defRPr/>
            </a:pPr>
            <a:endParaRPr lang="zh-CN" altLang="en-US" dirty="0">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pic>
        <p:nvPicPr>
          <p:cNvPr id="14" name="Picture 13">
            <a:extLst>
              <a:ext uri="{FF2B5EF4-FFF2-40B4-BE49-F238E27FC236}">
                <a16:creationId xmlns:a16="http://schemas.microsoft.com/office/drawing/2014/main" id="{180D0610-B1FC-4EBC-A3D5-9BEAE8DF7EC6}"/>
              </a:ext>
            </a:extLst>
          </p:cNvPr>
          <p:cNvPicPr>
            <a:picLocks noChangeAspect="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l="1395" t="10007" r="80341" b="8495"/>
          <a:stretch/>
        </p:blipFill>
        <p:spPr>
          <a:xfrm>
            <a:off x="11526253" y="33927"/>
            <a:ext cx="648765" cy="594635"/>
          </a:xfrm>
          <a:prstGeom prst="rect">
            <a:avLst/>
          </a:prstGeom>
        </p:spPr>
      </p:pic>
      <p:sp>
        <p:nvSpPr>
          <p:cNvPr id="15" name="文本框 4">
            <a:extLst>
              <a:ext uri="{FF2B5EF4-FFF2-40B4-BE49-F238E27FC236}">
                <a16:creationId xmlns:a16="http://schemas.microsoft.com/office/drawing/2014/main" id="{6FB56021-3A31-45D4-A825-223060142AFC}"/>
              </a:ext>
            </a:extLst>
          </p:cNvPr>
          <p:cNvSpPr txBox="1"/>
          <p:nvPr userDrawn="1"/>
        </p:nvSpPr>
        <p:spPr>
          <a:xfrm>
            <a:off x="9427945" y="136521"/>
            <a:ext cx="21993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altLang="zh-CN"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rPr>
              <a:t>《</a:t>
            </a:r>
            <a:r>
              <a:rPr kumimoji="0" lang="zh-CN" altLang="en-US"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rPr>
              <a:t>机器人学导论</a:t>
            </a:r>
            <a:r>
              <a:rPr kumimoji="0" lang="en-US" altLang="zh-CN"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rPr>
              <a:t>》</a:t>
            </a:r>
            <a:endParaRPr kumimoji="0" lang="zh-CN" altLang="en-US"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endParaRPr>
          </a:p>
        </p:txBody>
      </p:sp>
      <p:sp>
        <p:nvSpPr>
          <p:cNvPr id="9" name="Rectangle 8">
            <a:extLst>
              <a:ext uri="{FF2B5EF4-FFF2-40B4-BE49-F238E27FC236}">
                <a16:creationId xmlns:a16="http://schemas.microsoft.com/office/drawing/2014/main" id="{2828DD17-23E2-4EC9-9EE5-746AED6A9F0D}"/>
              </a:ext>
            </a:extLst>
          </p:cNvPr>
          <p:cNvSpPr>
            <a:spLocks noChangeArrowheads="1"/>
          </p:cNvSpPr>
          <p:nvPr userDrawn="1"/>
        </p:nvSpPr>
        <p:spPr bwMode="auto">
          <a:xfrm flipV="1">
            <a:off x="0" y="658795"/>
            <a:ext cx="12192000" cy="71438"/>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base" hangingPunct="1">
              <a:spcBef>
                <a:spcPct val="0"/>
              </a:spcBef>
              <a:spcAft>
                <a:spcPct val="0"/>
              </a:spcAft>
              <a:defRPr/>
            </a:pPr>
            <a:endParaRPr kumimoji="1" lang="zh-CN" altLang="zh-CN" sz="2400">
              <a:solidFill>
                <a:srgbClr val="333399"/>
              </a:solidFill>
              <a:latin typeface="Times New Roman" pitchFamily="18" charset="0"/>
            </a:endParaRPr>
          </a:p>
        </p:txBody>
      </p:sp>
      <p:sp>
        <p:nvSpPr>
          <p:cNvPr id="8" name="灯片编号占位符 4">
            <a:extLst>
              <a:ext uri="{FF2B5EF4-FFF2-40B4-BE49-F238E27FC236}">
                <a16:creationId xmlns:a16="http://schemas.microsoft.com/office/drawing/2014/main" id="{195026BA-439D-41DF-8809-DB56D55604AD}"/>
              </a:ext>
            </a:extLst>
          </p:cNvPr>
          <p:cNvSpPr>
            <a:spLocks noGrp="1"/>
          </p:cNvSpPr>
          <p:nvPr>
            <p:ph type="sldNum" sz="quarter" idx="12"/>
          </p:nvPr>
        </p:nvSpPr>
        <p:spPr>
          <a:xfrm>
            <a:off x="10430067" y="6356354"/>
            <a:ext cx="1680000" cy="365125"/>
          </a:xfrm>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136722717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背景与需求">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19315" y="6356354"/>
            <a:ext cx="1680000" cy="365125"/>
          </a:xfrm>
        </p:spPr>
        <p:txBody>
          <a:bodyPr/>
          <a:lstStyle/>
          <a:p>
            <a:pPr>
              <a:defRPr/>
            </a:pPr>
            <a:endParaRPr lang="zh-CN" altLang="en-US" dirty="0">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cxnSp>
        <p:nvCxnSpPr>
          <p:cNvPr id="8" name="直接连接符 7"/>
          <p:cNvCxnSpPr>
            <a:cxnSpLocks/>
          </p:cNvCxnSpPr>
          <p:nvPr/>
        </p:nvCxnSpPr>
        <p:spPr>
          <a:xfrm>
            <a:off x="1248000" y="683399"/>
            <a:ext cx="105600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800000" y="333829"/>
            <a:ext cx="1752000" cy="3495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tx1"/>
                </a:solidFill>
                <a:effectLst/>
                <a:uLnTx/>
                <a:uFillTx/>
                <a:latin typeface="方正小标宋简体" panose="03000509000000000000" pitchFamily="65" charset="-122"/>
                <a:ea typeface="方正小标宋简体" panose="03000509000000000000" pitchFamily="65" charset="-122"/>
                <a:cs typeface="+mn-cs"/>
              </a:rPr>
              <a:t>意义与必要性</a:t>
            </a:r>
          </a:p>
        </p:txBody>
      </p:sp>
      <p:sp>
        <p:nvSpPr>
          <p:cNvPr id="10" name="矩形 9"/>
          <p:cNvSpPr/>
          <p:nvPr/>
        </p:nvSpPr>
        <p:spPr>
          <a:xfrm>
            <a:off x="6552000" y="333829"/>
            <a:ext cx="1752000" cy="34957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chemeClr val="bg1"/>
                </a:solidFill>
                <a:effectLst/>
                <a:uLnTx/>
                <a:uFillTx/>
                <a:latin typeface="方正小标宋简体" panose="03000509000000000000" pitchFamily="65" charset="-122"/>
                <a:ea typeface="方正小标宋简体" panose="03000509000000000000" pitchFamily="65" charset="-122"/>
                <a:cs typeface="+mn-cs"/>
              </a:rPr>
              <a:t>单位与条件</a:t>
            </a:r>
          </a:p>
        </p:txBody>
      </p:sp>
      <p:sp>
        <p:nvSpPr>
          <p:cNvPr id="11" name="矩形 10"/>
          <p:cNvSpPr/>
          <p:nvPr/>
        </p:nvSpPr>
        <p:spPr>
          <a:xfrm>
            <a:off x="8304000" y="333829"/>
            <a:ext cx="1752000" cy="349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方正小标宋简体" panose="03000509000000000000" pitchFamily="65" charset="-122"/>
                <a:ea typeface="方正小标宋简体" panose="03000509000000000000" pitchFamily="65" charset="-122"/>
                <a:cs typeface="+mn-cs"/>
              </a:rPr>
              <a:t>目标与任务</a:t>
            </a:r>
          </a:p>
        </p:txBody>
      </p:sp>
      <p:sp>
        <p:nvSpPr>
          <p:cNvPr id="12" name="矩形 11"/>
          <p:cNvSpPr/>
          <p:nvPr/>
        </p:nvSpPr>
        <p:spPr>
          <a:xfrm>
            <a:off x="10056000" y="333829"/>
            <a:ext cx="1752000" cy="349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方正小标宋简体" panose="03000509000000000000" pitchFamily="65" charset="-122"/>
                <a:ea typeface="方正小标宋简体" panose="03000509000000000000" pitchFamily="65" charset="-122"/>
                <a:cs typeface="+mn-cs"/>
              </a:rPr>
              <a:t>管理与运行</a:t>
            </a:r>
          </a:p>
        </p:txBody>
      </p:sp>
      <p:pic>
        <p:nvPicPr>
          <p:cNvPr id="14" name="Picture 13">
            <a:extLst>
              <a:ext uri="{FF2B5EF4-FFF2-40B4-BE49-F238E27FC236}">
                <a16:creationId xmlns:a16="http://schemas.microsoft.com/office/drawing/2014/main" id="{180D0610-B1FC-4EBC-A3D5-9BEAE8DF7EC6}"/>
              </a:ext>
            </a:extLst>
          </p:cNvPr>
          <p:cNvPicPr>
            <a:picLocks noChangeAspect="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l="1395" t="10007" r="80341" b="8495"/>
          <a:stretch/>
        </p:blipFill>
        <p:spPr>
          <a:xfrm>
            <a:off x="319318" y="71399"/>
            <a:ext cx="854273" cy="612000"/>
          </a:xfrm>
          <a:prstGeom prst="rect">
            <a:avLst/>
          </a:prstGeom>
        </p:spPr>
      </p:pic>
      <p:sp>
        <p:nvSpPr>
          <p:cNvPr id="15" name="文本框 4">
            <a:extLst>
              <a:ext uri="{FF2B5EF4-FFF2-40B4-BE49-F238E27FC236}">
                <a16:creationId xmlns:a16="http://schemas.microsoft.com/office/drawing/2014/main" id="{6FB56021-3A31-45D4-A825-223060142AFC}"/>
              </a:ext>
            </a:extLst>
          </p:cNvPr>
          <p:cNvSpPr txBox="1"/>
          <p:nvPr userDrawn="1"/>
        </p:nvSpPr>
        <p:spPr>
          <a:xfrm>
            <a:off x="1120148" y="84802"/>
            <a:ext cx="3402680" cy="6360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zh-CN" altLang="en-US" sz="1600" b="1" i="0" u="none" strike="noStrike" kern="1200" cap="none" spc="0" normalizeH="0" baseline="0" noProof="0" dirty="0">
                <a:ln>
                  <a:noFill/>
                </a:ln>
                <a:solidFill>
                  <a:srgbClr val="AD2929"/>
                </a:solidFill>
                <a:effectLst/>
                <a:uLnTx/>
                <a:uFillTx/>
                <a:latin typeface="方正小标宋简体"/>
                <a:ea typeface="方正小标宋简体"/>
                <a:cs typeface="+mn-cs"/>
              </a:rPr>
              <a:t>可信行为智能算法与系统</a:t>
            </a:r>
            <a:endParaRPr kumimoji="0" lang="en-US" altLang="zh-CN" sz="1600" b="1" i="0" u="none" strike="noStrike" kern="1200" cap="none" spc="0" normalizeH="0" baseline="0" noProof="0" dirty="0">
              <a:ln>
                <a:noFill/>
              </a:ln>
              <a:solidFill>
                <a:srgbClr val="AD2929"/>
              </a:solidFill>
              <a:effectLst/>
              <a:uLnTx/>
              <a:uFillTx/>
              <a:latin typeface="方正小标宋简体"/>
              <a:ea typeface="方正小标宋简体"/>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方正小标宋简体"/>
                <a:ea typeface="方正小标宋简体"/>
                <a:cs typeface="+mn-cs"/>
              </a:rPr>
              <a:t>教育部工程研究中心</a:t>
            </a:r>
          </a:p>
        </p:txBody>
      </p:sp>
    </p:spTree>
    <p:extLst>
      <p:ext uri="{BB962C8B-B14F-4D97-AF65-F5344CB8AC3E}">
        <p14:creationId xmlns:p14="http://schemas.microsoft.com/office/powerpoint/2010/main" val="360922439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BD1FA8B2-3654-4F9A-8608-59C526649DA8}"/>
              </a:ext>
            </a:extLst>
          </p:cNvPr>
          <p:cNvSpPr>
            <a:spLocks noGrp="1"/>
          </p:cNvSpPr>
          <p:nvPr>
            <p:ph type="sldNum" sz="quarter" idx="12"/>
          </p:nvPr>
        </p:nvSpPr>
        <p:spPr>
          <a:xfrm>
            <a:off x="10430067" y="6356354"/>
            <a:ext cx="1680000" cy="365125"/>
          </a:xfrm>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26219055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80000" y="6356354"/>
            <a:ext cx="1680000" cy="365125"/>
          </a:xfrm>
          <a:prstGeom prst="rect">
            <a:avLst/>
          </a:prstGeom>
        </p:spPr>
        <p:txBody>
          <a:bodyPr vert="horz" lIns="91440" tIns="45720" rIns="91440" bIns="45720" rtlCol="0" anchor="ctr"/>
          <a:lstStyle>
            <a:lvl1pPr algn="ctr">
              <a:defRPr sz="1200" baseline="0">
                <a:solidFill>
                  <a:schemeClr val="tx1">
                    <a:tint val="75000"/>
                  </a:schemeClr>
                </a:solidFill>
                <a:latin typeface="Palatino Linotype" panose="02040502050505030304" pitchFamily="18" charset="0"/>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3"/>
          </p:nvPr>
        </p:nvSpPr>
        <p:spPr>
          <a:xfrm>
            <a:off x="2880000" y="6356354"/>
            <a:ext cx="6432000" cy="365125"/>
          </a:xfrm>
          <a:prstGeom prst="rect">
            <a:avLst/>
          </a:prstGeom>
        </p:spPr>
        <p:txBody>
          <a:bodyPr vert="horz" lIns="91440" tIns="45720" rIns="91440" bIns="45720" rtlCol="0" anchor="ctr"/>
          <a:lstStyle>
            <a:lvl1pPr algn="ctr">
              <a:defRPr sz="1200" baseline="0">
                <a:solidFill>
                  <a:schemeClr val="tx1">
                    <a:tint val="75000"/>
                  </a:schemeClr>
                </a:solidFill>
                <a:latin typeface="Palatino Linotype" panose="02040502050505030304" pitchFamily="18" charset="0"/>
              </a:defRPr>
            </a:lvl1pPr>
          </a:lstStyle>
          <a:p>
            <a:pPr>
              <a:defRPr/>
            </a:pPr>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10430067" y="6356354"/>
            <a:ext cx="1680000" cy="365125"/>
          </a:xfrm>
          <a:prstGeom prst="rect">
            <a:avLst/>
          </a:prstGeom>
        </p:spPr>
        <p:txBody>
          <a:bodyPr vert="horz" lIns="91440" tIns="45720" rIns="91440" bIns="45720" rtlCol="0" anchor="ctr"/>
          <a:lstStyle>
            <a:lvl1pPr algn="r">
              <a:defRPr sz="1200" baseline="0">
                <a:solidFill>
                  <a:schemeClr val="tx1">
                    <a:tint val="75000"/>
                  </a:schemeClr>
                </a:solidFill>
                <a:latin typeface="Palatino Linotype" panose="02040502050505030304" pitchFamily="18" charset="0"/>
              </a:defRPr>
            </a:lvl1p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
        <p:nvSpPr>
          <p:cNvPr id="7" name="文本框 6">
            <a:extLst>
              <a:ext uri="{FF2B5EF4-FFF2-40B4-BE49-F238E27FC236}">
                <a16:creationId xmlns:a16="http://schemas.microsoft.com/office/drawing/2014/main" id="{FDC09B5F-79A6-FC78-81B0-CD0A2BA88EE9}"/>
              </a:ext>
            </a:extLst>
          </p:cNvPr>
          <p:cNvSpPr txBox="1"/>
          <p:nvPr userDrawn="1"/>
        </p:nvSpPr>
        <p:spPr>
          <a:xfrm>
            <a:off x="2545465" y="1009121"/>
            <a:ext cx="7101069" cy="1482650"/>
          </a:xfrm>
          <a:prstGeom prst="rect">
            <a:avLst/>
          </a:prstGeom>
          <a:noFill/>
        </p:spPr>
        <p:txBody>
          <a:bodyPr wrap="square" rtlCol="0">
            <a:spAutoFit/>
          </a:bodyPr>
          <a:lstStyle/>
          <a:p>
            <a:pPr algn="ctr">
              <a:lnSpc>
                <a:spcPct val="150000"/>
              </a:lnSpc>
            </a:pPr>
            <a:r>
              <a:rPr lang="zh-CN" altLang="en-US" sz="3200" dirty="0">
                <a:solidFill>
                  <a:schemeClr val="bg1">
                    <a:lumMod val="65000"/>
                    <a:alpha val="20000"/>
                  </a:schemeClr>
                </a:solidFill>
                <a:latin typeface="微软雅黑" panose="020B0503020204020204" pitchFamily="34" charset="-122"/>
                <a:ea typeface="微软雅黑" panose="020B0503020204020204" pitchFamily="34" charset="-122"/>
              </a:rPr>
              <a:t>南开大学人工智能学院课件</a:t>
            </a:r>
            <a:endParaRPr lang="en-US" altLang="zh-CN" sz="3200" dirty="0">
              <a:solidFill>
                <a:schemeClr val="bg1">
                  <a:lumMod val="65000"/>
                  <a:alpha val="20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3200" dirty="0">
                <a:solidFill>
                  <a:schemeClr val="bg1">
                    <a:lumMod val="65000"/>
                    <a:alpha val="20000"/>
                  </a:schemeClr>
                </a:solidFill>
                <a:latin typeface="微软雅黑" panose="020B0503020204020204" pitchFamily="34" charset="-122"/>
                <a:ea typeface="微软雅黑" panose="020B0503020204020204" pitchFamily="34" charset="-122"/>
              </a:rPr>
              <a:t>仅供学生学习使用，禁止在网上发布</a:t>
            </a:r>
          </a:p>
        </p:txBody>
      </p:sp>
      <p:sp>
        <p:nvSpPr>
          <p:cNvPr id="8" name="文本框 7">
            <a:extLst>
              <a:ext uri="{FF2B5EF4-FFF2-40B4-BE49-F238E27FC236}">
                <a16:creationId xmlns:a16="http://schemas.microsoft.com/office/drawing/2014/main" id="{379B61D0-E38C-EB0D-E62E-9871A0B4A616}"/>
              </a:ext>
            </a:extLst>
          </p:cNvPr>
          <p:cNvSpPr txBox="1"/>
          <p:nvPr userDrawn="1"/>
        </p:nvSpPr>
        <p:spPr>
          <a:xfrm rot="-1800000">
            <a:off x="4477115" y="3174225"/>
            <a:ext cx="4273953" cy="861774"/>
          </a:xfrm>
          <a:prstGeom prst="rect">
            <a:avLst/>
          </a:prstGeom>
          <a:noFill/>
        </p:spPr>
        <p:txBody>
          <a:bodyPr wrap="square" rtlCol="0">
            <a:spAutoFit/>
          </a:bodyPr>
          <a:lstStyle/>
          <a:p>
            <a:r>
              <a:rPr lang="zh-CN" altLang="en-US" sz="5000" dirty="0">
                <a:solidFill>
                  <a:schemeClr val="tx1">
                    <a:alpha val="40000"/>
                  </a:schemeClr>
                </a:solidFill>
                <a:latin typeface="宋体" panose="02010600030101010101" pitchFamily="2" charset="-122"/>
                <a:ea typeface="宋体" panose="02010600030101010101" pitchFamily="2" charset="-122"/>
              </a:rPr>
              <a:t>机器人学导论</a:t>
            </a:r>
          </a:p>
        </p:txBody>
      </p:sp>
    </p:spTree>
    <p:extLst>
      <p:ext uri="{BB962C8B-B14F-4D97-AF65-F5344CB8AC3E}">
        <p14:creationId xmlns:p14="http://schemas.microsoft.com/office/powerpoint/2010/main" val="1809550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8" r:id="rId8"/>
    <p:sldLayoutId id="2147483682" r:id="rId9"/>
    <p:sldLayoutId id="2147483672" r:id="rId10"/>
  </p:sldLayoutIdLst>
  <mc:AlternateContent xmlns:mc="http://schemas.openxmlformats.org/markup-compatibility/2006" xmlns:p14="http://schemas.microsoft.com/office/powerpoint/2010/main">
    <mc:Choice Requires="p14">
      <p:transition p14:dur="0" advTm="0"/>
    </mc:Choice>
    <mc:Fallback xmlns="">
      <p:transition advTm="0"/>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4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18" Type="http://schemas.openxmlformats.org/officeDocument/2006/relationships/image" Target="../media/image12.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wmf"/><Relationship Id="rId17" Type="http://schemas.openxmlformats.org/officeDocument/2006/relationships/oleObject" Target="../embeddings/oleObject8.bin"/><Relationship Id="rId2" Type="http://schemas.openxmlformats.org/officeDocument/2006/relationships/image" Target="../media/image3.gif"/><Relationship Id="rId16" Type="http://schemas.openxmlformats.org/officeDocument/2006/relationships/image" Target="../media/image11.wmf"/><Relationship Id="rId20" Type="http://schemas.openxmlformats.org/officeDocument/2006/relationships/image" Target="../media/image13.wmf"/><Relationship Id="rId1" Type="http://schemas.openxmlformats.org/officeDocument/2006/relationships/slideLayout" Target="../slideLayouts/slideLayout8.xml"/><Relationship Id="rId6" Type="http://schemas.openxmlformats.org/officeDocument/2006/relationships/image" Target="../media/image6.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8.wmf"/><Relationship Id="rId19" Type="http://schemas.openxmlformats.org/officeDocument/2006/relationships/oleObject" Target="../embeddings/oleObject9.bin"/><Relationship Id="rId4" Type="http://schemas.openxmlformats.org/officeDocument/2006/relationships/image" Target="../media/image5.wmf"/><Relationship Id="rId9" Type="http://schemas.openxmlformats.org/officeDocument/2006/relationships/oleObject" Target="../embeddings/oleObject4.bin"/><Relationship Id="rId14" Type="http://schemas.openxmlformats.org/officeDocument/2006/relationships/image" Target="../media/image10.wmf"/></Relationships>
</file>

<file path=ppt/slides/_rels/slide9.xml.rels><?xml version="1.0" encoding="UTF-8" standalone="yes"?>
<Relationships xmlns="http://schemas.openxmlformats.org/package/2006/relationships"><Relationship Id="rId26" Type="http://schemas.openxmlformats.org/officeDocument/2006/relationships/image" Target="../media/image14.wmf"/><Relationship Id="rId25" Type="http://schemas.openxmlformats.org/officeDocument/2006/relationships/oleObject" Target="../embeddings/oleObject10.bin"/><Relationship Id="rId29" Type="http://schemas.openxmlformats.org/officeDocument/2006/relationships/oleObject" Target="../embeddings/oleObject12.bin"/><Relationship Id="rId1" Type="http://schemas.openxmlformats.org/officeDocument/2006/relationships/slideLayout" Target="../slideLayouts/slideLayout8.xml"/><Relationship Id="rId24" Type="http://schemas.openxmlformats.org/officeDocument/2006/relationships/image" Target="../media/image93.png"/><Relationship Id="rId28" Type="http://schemas.openxmlformats.org/officeDocument/2006/relationships/image" Target="../media/image15.wmf"/><Relationship Id="rId23" Type="http://schemas.openxmlformats.org/officeDocument/2006/relationships/image" Target="../media/image110.png"/><Relationship Id="rId27" Type="http://schemas.openxmlformats.org/officeDocument/2006/relationships/oleObject" Target="../embeddings/oleObject11.bin"/><Relationship Id="rId30" Type="http://schemas.openxmlformats.org/officeDocument/2006/relationships/image" Target="../media/image16.wmf"/><Relationship Id="rId22" Type="http://schemas.openxmlformats.org/officeDocument/2006/relationships/image" Target="../media/image109.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9.png"/><Relationship Id="rId7" Type="http://schemas.openxmlformats.org/officeDocument/2006/relationships/image" Target="../media/image18.wmf"/><Relationship Id="rId1" Type="http://schemas.openxmlformats.org/officeDocument/2006/relationships/slideLayout" Target="../slideLayouts/slideLayout8.xml"/><Relationship Id="rId6" Type="http://schemas.openxmlformats.org/officeDocument/2006/relationships/oleObject" Target="../embeddings/oleObject14.bin"/><Relationship Id="rId5" Type="http://schemas.openxmlformats.org/officeDocument/2006/relationships/image" Target="../media/image17.wmf"/><Relationship Id="rId4" Type="http://schemas.openxmlformats.org/officeDocument/2006/relationships/oleObject" Target="../embeddings/oleObject13.bin"/><Relationship Id="rId9" Type="http://schemas.openxmlformats.org/officeDocument/2006/relationships/image" Target="../media/image13.wmf"/></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112.png"/><Relationship Id="rId2" Type="http://schemas.openxmlformats.org/officeDocument/2006/relationships/image" Target="../media/image21.emf"/><Relationship Id="rId1" Type="http://schemas.openxmlformats.org/officeDocument/2006/relationships/slideLayout" Target="../slideLayouts/slideLayout8.xml"/><Relationship Id="rId5" Type="http://schemas.openxmlformats.org/officeDocument/2006/relationships/image" Target="../media/image24.emf"/><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113.png"/><Relationship Id="rId12" Type="http://schemas.openxmlformats.org/officeDocument/2006/relationships/image" Target="../media/image26.wmf"/><Relationship Id="rId1" Type="http://schemas.openxmlformats.org/officeDocument/2006/relationships/slideLayout" Target="../slideLayouts/slideLayout8.xml"/><Relationship Id="rId11" Type="http://schemas.openxmlformats.org/officeDocument/2006/relationships/oleObject" Target="../embeddings/oleObject16.bin"/><Relationship Id="rId10" Type="http://schemas.openxmlformats.org/officeDocument/2006/relationships/image" Target="../media/image25.wmf"/><Relationship Id="rId9"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image" Target="../media/image30.emf"/><Relationship Id="rId7" Type="http://schemas.openxmlformats.org/officeDocument/2006/relationships/image" Target="../media/image114.png"/><Relationship Id="rId1" Type="http://schemas.openxmlformats.org/officeDocument/2006/relationships/slideLayout" Target="../slideLayouts/slideLayout8.xml"/><Relationship Id="rId11" Type="http://schemas.openxmlformats.org/officeDocument/2006/relationships/image" Target="../media/image33.emf"/><Relationship Id="rId10" Type="http://schemas.openxmlformats.org/officeDocument/2006/relationships/image" Target="../media/image32.emf"/><Relationship Id="rId9" Type="http://schemas.openxmlformats.org/officeDocument/2006/relationships/image" Target="../media/image31.emf"/></Relationships>
</file>

<file path=ppt/slides/_rels/slide17.xml.rels><?xml version="1.0" encoding="UTF-8" standalone="yes"?>
<Relationships xmlns="http://schemas.openxmlformats.org/package/2006/relationships"><Relationship Id="rId3" Type="http://schemas.openxmlformats.org/officeDocument/2006/relationships/image" Target="../media/image11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70.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6" Type="http://schemas.openxmlformats.org/officeDocument/2006/relationships/image" Target="../media/image149.png"/><Relationship Id="rId3" Type="http://schemas.openxmlformats.org/officeDocument/2006/relationships/oleObject" Target="../embeddings/oleObject17.bin"/><Relationship Id="rId34" Type="http://schemas.openxmlformats.org/officeDocument/2006/relationships/image" Target="../media/image46.png"/><Relationship Id="rId33" Type="http://schemas.openxmlformats.org/officeDocument/2006/relationships/image" Target="../media/image48.png"/><Relationship Id="rId2" Type="http://schemas.openxmlformats.org/officeDocument/2006/relationships/image" Target="../media/image42.emf"/><Relationship Id="rId29" Type="http://schemas.openxmlformats.org/officeDocument/2006/relationships/image" Target="../media/image152.png"/><Relationship Id="rId1" Type="http://schemas.openxmlformats.org/officeDocument/2006/relationships/slideLayout" Target="../slideLayouts/slideLayout8.xml"/><Relationship Id="rId32" Type="http://schemas.openxmlformats.org/officeDocument/2006/relationships/image" Target="../media/image47.png"/><Relationship Id="rId28" Type="http://schemas.openxmlformats.org/officeDocument/2006/relationships/image" Target="../media/image151.png"/><Relationship Id="rId36" Type="http://schemas.openxmlformats.org/officeDocument/2006/relationships/image" Target="../media/image50.png"/><Relationship Id="rId31" Type="http://schemas.openxmlformats.org/officeDocument/2006/relationships/image" Target="../media/image154.png"/><Relationship Id="rId4" Type="http://schemas.openxmlformats.org/officeDocument/2006/relationships/image" Target="../media/image43.wmf"/><Relationship Id="rId27" Type="http://schemas.openxmlformats.org/officeDocument/2006/relationships/image" Target="../media/image150.png"/><Relationship Id="rId30" Type="http://schemas.openxmlformats.org/officeDocument/2006/relationships/image" Target="../media/image153.png"/><Relationship Id="rId35" Type="http://schemas.openxmlformats.org/officeDocument/2006/relationships/image" Target="../media/image49.png"/></Relationships>
</file>

<file path=ppt/slides/_rels/slide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54.png"/><Relationship Id="rId1" Type="http://schemas.openxmlformats.org/officeDocument/2006/relationships/slideLayout" Target="../slideLayouts/slideLayout8.xml"/><Relationship Id="rId6" Type="http://schemas.openxmlformats.org/officeDocument/2006/relationships/image" Target="../media/image490.png"/><Relationship Id="rId5" Type="http://schemas.openxmlformats.org/officeDocument/2006/relationships/image" Target="../media/image480.png"/><Relationship Id="rId4" Type="http://schemas.openxmlformats.org/officeDocument/2006/relationships/image" Target="../media/image470.png"/></Relationships>
</file>

<file path=ppt/slides/_rels/slide31.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49.wmf"/><Relationship Id="rId2" Type="http://schemas.openxmlformats.org/officeDocument/2006/relationships/notesSlide" Target="../notesSlides/notesSlide2.xml"/><Relationship Id="rId16" Type="http://schemas.openxmlformats.org/officeDocument/2006/relationships/image" Target="../media/image51.wmf"/><Relationship Id="rId1" Type="http://schemas.openxmlformats.org/officeDocument/2006/relationships/slideLayout" Target="../slideLayouts/slideLayout8.xml"/><Relationship Id="rId6" Type="http://schemas.openxmlformats.org/officeDocument/2006/relationships/image" Target="../media/image46.w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oleObject" Target="../embeddings/oleObject24.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21.bin"/><Relationship Id="rId14" Type="http://schemas.openxmlformats.org/officeDocument/2006/relationships/image" Target="../media/image50.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4.wmf"/><Relationship Id="rId12" Type="http://schemas.openxmlformats.org/officeDocument/2006/relationships/oleObject" Target="../embeddings/oleObject30.bin"/><Relationship Id="rId2" Type="http://schemas.openxmlformats.org/officeDocument/2006/relationships/oleObject" Target="../embeddings/oleObject25.bin"/><Relationship Id="rId1" Type="http://schemas.openxmlformats.org/officeDocument/2006/relationships/slideLayout" Target="../slideLayouts/slideLayout8.xml"/><Relationship Id="rId6" Type="http://schemas.openxmlformats.org/officeDocument/2006/relationships/oleObject" Target="../embeddings/oleObject27.bin"/><Relationship Id="rId11" Type="http://schemas.openxmlformats.org/officeDocument/2006/relationships/image" Target="../media/image56.wmf"/><Relationship Id="rId5" Type="http://schemas.openxmlformats.org/officeDocument/2006/relationships/image" Target="../media/image53.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55.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31.bin"/><Relationship Id="rId1" Type="http://schemas.openxmlformats.org/officeDocument/2006/relationships/slideLayout" Target="../slideLayouts/slideLayout8.xml"/><Relationship Id="rId6" Type="http://schemas.openxmlformats.org/officeDocument/2006/relationships/oleObject" Target="../embeddings/oleObject33.bin"/><Relationship Id="rId11" Type="http://schemas.openxmlformats.org/officeDocument/2006/relationships/image" Target="../media/image62.wmf"/><Relationship Id="rId5" Type="http://schemas.openxmlformats.org/officeDocument/2006/relationships/image" Target="../media/image59.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61.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68.wmf"/><Relationship Id="rId18" Type="http://schemas.openxmlformats.org/officeDocument/2006/relationships/oleObject" Target="../embeddings/oleObject44.bin"/><Relationship Id="rId26" Type="http://schemas.openxmlformats.org/officeDocument/2006/relationships/oleObject" Target="../embeddings/oleObject48.bin"/><Relationship Id="rId3" Type="http://schemas.openxmlformats.org/officeDocument/2006/relationships/image" Target="../media/image63.wmf"/><Relationship Id="rId21" Type="http://schemas.openxmlformats.org/officeDocument/2006/relationships/image" Target="../media/image72.wmf"/><Relationship Id="rId7" Type="http://schemas.openxmlformats.org/officeDocument/2006/relationships/image" Target="../media/image65.wmf"/><Relationship Id="rId12" Type="http://schemas.openxmlformats.org/officeDocument/2006/relationships/oleObject" Target="../embeddings/oleObject41.bin"/><Relationship Id="rId17" Type="http://schemas.openxmlformats.org/officeDocument/2006/relationships/image" Target="../media/image70.wmf"/><Relationship Id="rId25" Type="http://schemas.openxmlformats.org/officeDocument/2006/relationships/image" Target="../media/image74.wmf"/><Relationship Id="rId2" Type="http://schemas.openxmlformats.org/officeDocument/2006/relationships/oleObject" Target="../embeddings/oleObject36.bin"/><Relationship Id="rId16" Type="http://schemas.openxmlformats.org/officeDocument/2006/relationships/oleObject" Target="../embeddings/oleObject43.bin"/><Relationship Id="rId20" Type="http://schemas.openxmlformats.org/officeDocument/2006/relationships/oleObject" Target="../embeddings/oleObject45.bin"/><Relationship Id="rId29" Type="http://schemas.openxmlformats.org/officeDocument/2006/relationships/image" Target="../media/image76.wmf"/><Relationship Id="rId1" Type="http://schemas.openxmlformats.org/officeDocument/2006/relationships/slideLayout" Target="../slideLayouts/slideLayout8.xml"/><Relationship Id="rId6" Type="http://schemas.openxmlformats.org/officeDocument/2006/relationships/oleObject" Target="../embeddings/oleObject38.bin"/><Relationship Id="rId11" Type="http://schemas.openxmlformats.org/officeDocument/2006/relationships/image" Target="../media/image67.wmf"/><Relationship Id="rId24" Type="http://schemas.openxmlformats.org/officeDocument/2006/relationships/oleObject" Target="../embeddings/oleObject47.bin"/><Relationship Id="rId5" Type="http://schemas.openxmlformats.org/officeDocument/2006/relationships/image" Target="../media/image64.wmf"/><Relationship Id="rId15" Type="http://schemas.openxmlformats.org/officeDocument/2006/relationships/image" Target="../media/image69.wmf"/><Relationship Id="rId23" Type="http://schemas.openxmlformats.org/officeDocument/2006/relationships/image" Target="../media/image73.wmf"/><Relationship Id="rId28" Type="http://schemas.openxmlformats.org/officeDocument/2006/relationships/oleObject" Target="../embeddings/oleObject49.bin"/><Relationship Id="rId10" Type="http://schemas.openxmlformats.org/officeDocument/2006/relationships/oleObject" Target="../embeddings/oleObject40.bin"/><Relationship Id="rId19" Type="http://schemas.openxmlformats.org/officeDocument/2006/relationships/image" Target="../media/image71.wmf"/><Relationship Id="rId4" Type="http://schemas.openxmlformats.org/officeDocument/2006/relationships/oleObject" Target="../embeddings/oleObject37.bin"/><Relationship Id="rId9" Type="http://schemas.openxmlformats.org/officeDocument/2006/relationships/image" Target="../media/image66.wmf"/><Relationship Id="rId14" Type="http://schemas.openxmlformats.org/officeDocument/2006/relationships/oleObject" Target="../embeddings/oleObject42.bin"/><Relationship Id="rId22" Type="http://schemas.openxmlformats.org/officeDocument/2006/relationships/oleObject" Target="../embeddings/oleObject46.bin"/><Relationship Id="rId27" Type="http://schemas.openxmlformats.org/officeDocument/2006/relationships/image" Target="../media/image75.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821.png"/><Relationship Id="rId2" Type="http://schemas.openxmlformats.org/officeDocument/2006/relationships/image" Target="../media/image80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8">
            <a:extLst>
              <a:ext uri="{FF2B5EF4-FFF2-40B4-BE49-F238E27FC236}">
                <a16:creationId xmlns:a16="http://schemas.microsoft.com/office/drawing/2014/main" id="{548C5543-7B77-464A-AD53-82BB85259242}"/>
              </a:ext>
            </a:extLst>
          </p:cNvPr>
          <p:cNvSpPr/>
          <p:nvPr/>
        </p:nvSpPr>
        <p:spPr>
          <a:xfrm>
            <a:off x="0" y="1651562"/>
            <a:ext cx="12192000" cy="1897183"/>
          </a:xfrm>
          <a:prstGeom prst="rect">
            <a:avLst/>
          </a:prstGeom>
          <a:solidFill>
            <a:srgbClr val="9D13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6">
            <a:extLst>
              <a:ext uri="{FF2B5EF4-FFF2-40B4-BE49-F238E27FC236}">
                <a16:creationId xmlns:a16="http://schemas.microsoft.com/office/drawing/2014/main" id="{E0A80487-35BD-4212-BFAD-545906F74541}"/>
              </a:ext>
            </a:extLst>
          </p:cNvPr>
          <p:cNvSpPr txBox="1"/>
          <p:nvPr/>
        </p:nvSpPr>
        <p:spPr>
          <a:xfrm>
            <a:off x="0" y="1719942"/>
            <a:ext cx="12192000" cy="1828800"/>
          </a:xfrm>
          <a:prstGeom prst="rect">
            <a:avLst/>
          </a:prstGeom>
          <a:noFill/>
          <a:ln>
            <a:noFill/>
          </a:ln>
        </p:spPr>
        <p:txBody>
          <a:bodyPr wrap="square" rtlCol="0" anchor="ctr" anchorCtr="0">
            <a:noAutofit/>
          </a:bodyPr>
          <a:lstStyle/>
          <a:p>
            <a:pPr algn="ctr">
              <a:spcAft>
                <a:spcPts val="1200"/>
              </a:spcAft>
              <a:defRPr/>
            </a:pPr>
            <a:r>
              <a:rPr lang="zh-CN" altLang="en-US" sz="4400" b="1" spc="200" dirty="0">
                <a:solidFill>
                  <a:schemeClr val="bg1"/>
                </a:solidFill>
                <a:latin typeface="方正小标宋简体" panose="03000509000000000000" pitchFamily="65" charset="-122"/>
                <a:ea typeface="方正小标宋简体" panose="03000509000000000000" pitchFamily="65" charset="-122"/>
              </a:rPr>
              <a:t>第七章 机器人轨迹规划</a:t>
            </a:r>
            <a:endParaRPr lang="en-US" altLang="zh-CN" sz="4400" b="1" spc="200" dirty="0">
              <a:solidFill>
                <a:schemeClr val="bg1"/>
              </a:solidFill>
              <a:latin typeface="方正小标宋简体" panose="03000509000000000000" pitchFamily="65" charset="-122"/>
              <a:ea typeface="方正小标宋简体" panose="03000509000000000000" pitchFamily="65" charset="-122"/>
            </a:endParaRPr>
          </a:p>
        </p:txBody>
      </p:sp>
      <p:sp>
        <p:nvSpPr>
          <p:cNvPr id="5" name="圆角矩形 8">
            <a:extLst>
              <a:ext uri="{FF2B5EF4-FFF2-40B4-BE49-F238E27FC236}">
                <a16:creationId xmlns:a16="http://schemas.microsoft.com/office/drawing/2014/main" id="{B5A7BF65-4F6B-4643-BDF5-253E80639382}"/>
              </a:ext>
            </a:extLst>
          </p:cNvPr>
          <p:cNvSpPr/>
          <p:nvPr/>
        </p:nvSpPr>
        <p:spPr>
          <a:xfrm>
            <a:off x="0" y="4896856"/>
            <a:ext cx="12192000" cy="1497931"/>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lnSpc>
                <a:spcPct val="150000"/>
              </a:lnSpc>
              <a:defRPr/>
            </a:pPr>
            <a:r>
              <a:rPr lang="zh-CN" altLang="en-US" sz="4000" b="1" spc="200" dirty="0">
                <a:solidFill>
                  <a:schemeClr val="accent4">
                    <a:lumMod val="50000"/>
                  </a:schemeClr>
                </a:solidFill>
                <a:latin typeface="华文行楷" panose="02010800040101010101" pitchFamily="2" charset="-122"/>
                <a:ea typeface="华文行楷" panose="02010800040101010101" pitchFamily="2" charset="-122"/>
              </a:rPr>
              <a:t>韩建达  教授</a:t>
            </a:r>
            <a:endParaRPr lang="en-US" altLang="zh-CN" sz="4000" b="1" spc="200" dirty="0">
              <a:solidFill>
                <a:schemeClr val="accent4">
                  <a:lumMod val="50000"/>
                </a:schemeClr>
              </a:solidFill>
              <a:latin typeface="华文行楷" panose="02010800040101010101" pitchFamily="2" charset="-122"/>
              <a:ea typeface="华文行楷" panose="02010800040101010101" pitchFamily="2" charset="-122"/>
            </a:endParaRPr>
          </a:p>
          <a:p>
            <a:pPr algn="ctr">
              <a:lnSpc>
                <a:spcPct val="150000"/>
              </a:lnSpc>
              <a:defRPr/>
            </a:pPr>
            <a:r>
              <a:rPr lang="en-US" altLang="zh-CN" sz="3200" b="1" spc="200" dirty="0">
                <a:solidFill>
                  <a:schemeClr val="accent4">
                    <a:lumMod val="50000"/>
                  </a:schemeClr>
                </a:solidFill>
                <a:latin typeface="微软雅黑" panose="020B0503020204020204" pitchFamily="34" charset="-122"/>
                <a:ea typeface="微软雅黑" panose="020B0503020204020204" pitchFamily="34" charset="-122"/>
              </a:rPr>
              <a:t>Email: hanjianda@nankai.edu.cn</a:t>
            </a:r>
            <a:endParaRPr lang="zh-CN" altLang="en-US" sz="3200" b="1" spc="200" dirty="0">
              <a:solidFill>
                <a:schemeClr val="accent4">
                  <a:lumMod val="50000"/>
                </a:schemeClr>
              </a:solidFill>
              <a:latin typeface="微软雅黑" panose="020B0503020204020204" pitchFamily="34" charset="-122"/>
              <a:ea typeface="微软雅黑" panose="020B0503020204020204" pitchFamily="34" charset="-122"/>
            </a:endParaRPr>
          </a:p>
        </p:txBody>
      </p:sp>
      <p:sp>
        <p:nvSpPr>
          <p:cNvPr id="6" name="文本框 7">
            <a:extLst>
              <a:ext uri="{FF2B5EF4-FFF2-40B4-BE49-F238E27FC236}">
                <a16:creationId xmlns:a16="http://schemas.microsoft.com/office/drawing/2014/main" id="{C9CE0252-84FD-4699-8002-FA6A9BF4E6EB}"/>
              </a:ext>
            </a:extLst>
          </p:cNvPr>
          <p:cNvSpPr txBox="1"/>
          <p:nvPr/>
        </p:nvSpPr>
        <p:spPr>
          <a:xfrm>
            <a:off x="0" y="3731600"/>
            <a:ext cx="12192000" cy="707886"/>
          </a:xfrm>
          <a:prstGeom prst="rect">
            <a:avLst/>
          </a:prstGeom>
          <a:noFill/>
        </p:spPr>
        <p:txBody>
          <a:bodyPr wrap="square" rtlCol="0">
            <a:spAutoFit/>
          </a:bodyPr>
          <a:lstStyle/>
          <a:p>
            <a:pPr lvl="0" algn="ctr">
              <a:defRPr/>
            </a:pPr>
            <a:r>
              <a:rPr lang="en-US" altLang="zh-CN" sz="4000" b="1" spc="200" dirty="0">
                <a:solidFill>
                  <a:schemeClr val="accent4">
                    <a:lumMod val="50000"/>
                  </a:schemeClr>
                </a:solidFill>
                <a:latin typeface="华文行楷" panose="02010800040101010101" pitchFamily="2" charset="-122"/>
                <a:ea typeface="华文行楷" panose="02010800040101010101" pitchFamily="2" charset="-122"/>
              </a:rPr>
              <a:t>《</a:t>
            </a:r>
            <a:r>
              <a:rPr lang="zh-CN" altLang="en-US" sz="4000" b="1" spc="200" dirty="0">
                <a:solidFill>
                  <a:schemeClr val="accent4">
                    <a:lumMod val="50000"/>
                  </a:schemeClr>
                </a:solidFill>
                <a:latin typeface="华文行楷" panose="02010800040101010101" pitchFamily="2" charset="-122"/>
                <a:ea typeface="华文行楷" panose="02010800040101010101" pitchFamily="2" charset="-122"/>
              </a:rPr>
              <a:t>机器人学导论</a:t>
            </a:r>
            <a:r>
              <a:rPr lang="en-US" altLang="zh-CN" sz="4000" b="1" spc="200" dirty="0">
                <a:solidFill>
                  <a:schemeClr val="accent4">
                    <a:lumMod val="50000"/>
                  </a:schemeClr>
                </a:solidFill>
                <a:latin typeface="华文行楷" panose="02010800040101010101" pitchFamily="2" charset="-122"/>
                <a:ea typeface="华文行楷" panose="02010800040101010101" pitchFamily="2" charset="-122"/>
              </a:rPr>
              <a:t>》</a:t>
            </a:r>
          </a:p>
        </p:txBody>
      </p:sp>
      <p:pic>
        <p:nvPicPr>
          <p:cNvPr id="8" name="Picture 7">
            <a:extLst>
              <a:ext uri="{FF2B5EF4-FFF2-40B4-BE49-F238E27FC236}">
                <a16:creationId xmlns:a16="http://schemas.microsoft.com/office/drawing/2014/main" id="{2C56C94E-127A-494A-9C09-1571E867CA24}"/>
              </a:ext>
            </a:extLst>
          </p:cNvPr>
          <p:cNvPicPr>
            <a:picLocks noChangeAspect="1"/>
          </p:cNvPicPr>
          <p:nvPr/>
        </p:nvPicPr>
        <p:blipFill>
          <a:blip r:embed="rId3"/>
          <a:stretch>
            <a:fillRect/>
          </a:stretch>
        </p:blipFill>
        <p:spPr>
          <a:xfrm>
            <a:off x="252158" y="69891"/>
            <a:ext cx="3485034" cy="1178655"/>
          </a:xfrm>
          <a:prstGeom prst="rect">
            <a:avLst/>
          </a:prstGeom>
        </p:spPr>
      </p:pic>
    </p:spTree>
    <p:extLst>
      <p:ext uri="{BB962C8B-B14F-4D97-AF65-F5344CB8AC3E}">
        <p14:creationId xmlns:p14="http://schemas.microsoft.com/office/powerpoint/2010/main" val="2571878615"/>
      </p:ext>
    </p:extLst>
  </p:cSld>
  <p:clrMapOvr>
    <a:masterClrMapping/>
  </p:clrMapOvr>
  <mc:AlternateContent xmlns:mc="http://schemas.openxmlformats.org/markup-compatibility/2006" xmlns:p14="http://schemas.microsoft.com/office/powerpoint/2010/main">
    <mc:Choice Requires="p14">
      <p:transition p14:dur="0" advTm="13525"/>
    </mc:Choice>
    <mc:Fallback xmlns="">
      <p:transition advTm="1352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6F226DEE-AEB3-4B7D-9DFD-47BB32A2DAB2}"/>
              </a:ext>
            </a:extLst>
          </p:cNvPr>
          <p:cNvGrpSpPr/>
          <p:nvPr/>
        </p:nvGrpSpPr>
        <p:grpSpPr>
          <a:xfrm>
            <a:off x="2055836" y="2743369"/>
            <a:ext cx="7412937" cy="726162"/>
            <a:chOff x="2066719" y="3525333"/>
            <a:chExt cx="7412937" cy="726162"/>
          </a:xfrm>
        </p:grpSpPr>
        <p:sp>
          <p:nvSpPr>
            <p:cNvPr id="22" name="Line 22">
              <a:extLst>
                <a:ext uri="{FF2B5EF4-FFF2-40B4-BE49-F238E27FC236}">
                  <a16:creationId xmlns:a16="http://schemas.microsoft.com/office/drawing/2014/main" id="{BB4DE021-B01D-4F68-8962-D824C6404EA2}"/>
                </a:ext>
              </a:extLst>
            </p:cNvPr>
            <p:cNvSpPr>
              <a:spLocks noChangeShapeType="1"/>
            </p:cNvSpPr>
            <p:nvPr/>
          </p:nvSpPr>
          <p:spPr bwMode="auto">
            <a:xfrm flipV="1">
              <a:off x="2661401" y="3894203"/>
              <a:ext cx="6201809"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3" name="AutoShape 26">
              <a:extLst>
                <a:ext uri="{FF2B5EF4-FFF2-40B4-BE49-F238E27FC236}">
                  <a16:creationId xmlns:a16="http://schemas.microsoft.com/office/drawing/2014/main" id="{74B17825-6FE4-4667-BC7D-EFB2959ED9B2}"/>
                </a:ext>
              </a:extLst>
            </p:cNvPr>
            <p:cNvSpPr>
              <a:spLocks noChangeArrowheads="1"/>
            </p:cNvSpPr>
            <p:nvPr/>
          </p:nvSpPr>
          <p:spPr bwMode="auto">
            <a:xfrm>
              <a:off x="2999656" y="3525333"/>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dirty="0">
                  <a:solidFill>
                    <a:prstClr val="black"/>
                  </a:solidFill>
                  <a:latin typeface="微软雅黑" panose="020B0503020204020204" pitchFamily="34" charset="-122"/>
                  <a:ea typeface="微软雅黑" panose="020B0503020204020204" pitchFamily="34" charset="-122"/>
                </a:rPr>
                <a:t>2. </a:t>
              </a:r>
              <a:r>
                <a:rPr lang="zh-CN" altLang="en-US" sz="3200" i="0" dirty="0">
                  <a:solidFill>
                    <a:prstClr val="black"/>
                  </a:solidFill>
                  <a:latin typeface="微软雅黑" panose="020B0503020204020204" pitchFamily="34" charset="-122"/>
                  <a:ea typeface="微软雅黑" panose="020B0503020204020204" pitchFamily="34" charset="-122"/>
                </a:rPr>
                <a:t>基于多项式函数的轨迹规划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743E3999-0215-4015-AFE8-F5373ABE2158}"/>
                </a:ext>
              </a:extLst>
            </p:cNvPr>
            <p:cNvGrpSpPr/>
            <p:nvPr/>
          </p:nvGrpSpPr>
          <p:grpSpPr>
            <a:xfrm>
              <a:off x="2066719" y="3610087"/>
              <a:ext cx="576000" cy="576000"/>
              <a:chOff x="4613213" y="4247997"/>
              <a:chExt cx="504000" cy="504000"/>
            </a:xfrm>
          </p:grpSpPr>
          <p:sp>
            <p:nvSpPr>
              <p:cNvPr id="25" name="椭圆 24">
                <a:extLst>
                  <a:ext uri="{FF2B5EF4-FFF2-40B4-BE49-F238E27FC236}">
                    <a16:creationId xmlns:a16="http://schemas.microsoft.com/office/drawing/2014/main" id="{7AD90CCB-AFB3-45BD-9B1A-F5B617AD4306}"/>
                  </a:ext>
                </a:extLst>
              </p:cNvPr>
              <p:cNvSpPr/>
              <p:nvPr/>
            </p:nvSpPr>
            <p:spPr>
              <a:xfrm>
                <a:off x="4613213" y="4247997"/>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26" name="Freeform 70">
                <a:extLst>
                  <a:ext uri="{FF2B5EF4-FFF2-40B4-BE49-F238E27FC236}">
                    <a16:creationId xmlns:a16="http://schemas.microsoft.com/office/drawing/2014/main" id="{9CE89935-AD30-4BE4-A56B-D59891937EDA}"/>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7" name="组合 26">
            <a:extLst>
              <a:ext uri="{FF2B5EF4-FFF2-40B4-BE49-F238E27FC236}">
                <a16:creationId xmlns:a16="http://schemas.microsoft.com/office/drawing/2014/main" id="{F5C0FEFF-C193-46FF-BDD2-23FDF2A57A16}"/>
              </a:ext>
            </a:extLst>
          </p:cNvPr>
          <p:cNvGrpSpPr/>
          <p:nvPr/>
        </p:nvGrpSpPr>
        <p:grpSpPr>
          <a:xfrm>
            <a:off x="2055836" y="1615412"/>
            <a:ext cx="7412937" cy="726162"/>
            <a:chOff x="2066719" y="1833630"/>
            <a:chExt cx="7412937" cy="726162"/>
          </a:xfrm>
        </p:grpSpPr>
        <p:sp>
          <p:nvSpPr>
            <p:cNvPr id="30" name="Line 22">
              <a:extLst>
                <a:ext uri="{FF2B5EF4-FFF2-40B4-BE49-F238E27FC236}">
                  <a16:creationId xmlns:a16="http://schemas.microsoft.com/office/drawing/2014/main" id="{2036ADD0-B197-46C9-AD54-353CFF66895A}"/>
                </a:ext>
              </a:extLst>
            </p:cNvPr>
            <p:cNvSpPr>
              <a:spLocks noChangeShapeType="1"/>
            </p:cNvSpPr>
            <p:nvPr/>
          </p:nvSpPr>
          <p:spPr bwMode="auto">
            <a:xfrm>
              <a:off x="2645266" y="2190889"/>
              <a:ext cx="6744032" cy="5822"/>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1" name="AutoShape 26">
              <a:extLst>
                <a:ext uri="{FF2B5EF4-FFF2-40B4-BE49-F238E27FC236}">
                  <a16:creationId xmlns:a16="http://schemas.microsoft.com/office/drawing/2014/main" id="{29A1C0C6-3200-4D5E-A876-E7426DC3C739}"/>
                </a:ext>
              </a:extLst>
            </p:cNvPr>
            <p:cNvSpPr>
              <a:spLocks noChangeArrowheads="1"/>
            </p:cNvSpPr>
            <p:nvPr/>
          </p:nvSpPr>
          <p:spPr bwMode="auto">
            <a:xfrm>
              <a:off x="2999656" y="1833630"/>
              <a:ext cx="6480000" cy="726162"/>
            </a:xfrm>
            <a:prstGeom prst="roundRect">
              <a:avLst>
                <a:gd name="adj" fmla="val 34361"/>
              </a:avLst>
            </a:prstGeom>
            <a:ln>
              <a:solidFill>
                <a:srgbClr val="800080"/>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i="0" kern="0" dirty="0">
                  <a:solidFill>
                    <a:srgbClr val="8B247C"/>
                  </a:solidFill>
                  <a:latin typeface="微软雅黑" panose="020B0503020204020204" pitchFamily="34" charset="-122"/>
                  <a:ea typeface="微软雅黑" panose="020B0503020204020204" pitchFamily="34" charset="-122"/>
                </a:rPr>
                <a:t>1. </a:t>
              </a:r>
              <a:r>
                <a:rPr lang="zh-CN" altLang="en-US" sz="3200" b="1" i="0" kern="0" dirty="0">
                  <a:solidFill>
                    <a:srgbClr val="8B247C"/>
                  </a:solidFill>
                  <a:latin typeface="微软雅黑" panose="020B0503020204020204" pitchFamily="34" charset="-122"/>
                  <a:ea typeface="微软雅黑" panose="020B0503020204020204" pitchFamily="34" charset="-122"/>
                </a:rPr>
                <a:t>机器人轨迹规划基本概念</a:t>
              </a:r>
              <a:endParaRPr lang="en-US" altLang="zh-CN" sz="3200" b="1" i="0" kern="0" dirty="0">
                <a:solidFill>
                  <a:srgbClr val="8B247C"/>
                </a:solidFill>
                <a:latin typeface="微软雅黑" panose="020B0503020204020204" pitchFamily="34" charset="-122"/>
                <a:ea typeface="微软雅黑" panose="020B0503020204020204" pitchFamily="34" charset="-122"/>
              </a:endParaRPr>
            </a:p>
          </p:txBody>
        </p:sp>
        <p:grpSp>
          <p:nvGrpSpPr>
            <p:cNvPr id="32" name="组合 31">
              <a:extLst>
                <a:ext uri="{FF2B5EF4-FFF2-40B4-BE49-F238E27FC236}">
                  <a16:creationId xmlns:a16="http://schemas.microsoft.com/office/drawing/2014/main" id="{D72D09D8-C52F-481B-8E6D-9D5912BE043B}"/>
                </a:ext>
              </a:extLst>
            </p:cNvPr>
            <p:cNvGrpSpPr/>
            <p:nvPr/>
          </p:nvGrpSpPr>
          <p:grpSpPr>
            <a:xfrm>
              <a:off x="2066719" y="1908711"/>
              <a:ext cx="576000" cy="576000"/>
              <a:chOff x="4613213" y="3130275"/>
              <a:chExt cx="504000" cy="504000"/>
            </a:xfrm>
          </p:grpSpPr>
          <p:sp>
            <p:nvSpPr>
              <p:cNvPr id="33" name="椭圆 32">
                <a:extLst>
                  <a:ext uri="{FF2B5EF4-FFF2-40B4-BE49-F238E27FC236}">
                    <a16:creationId xmlns:a16="http://schemas.microsoft.com/office/drawing/2014/main" id="{201D05CB-5673-44C3-AE87-0E0C35750281}"/>
                  </a:ext>
                </a:extLst>
              </p:cNvPr>
              <p:cNvSpPr/>
              <p:nvPr/>
            </p:nvSpPr>
            <p:spPr>
              <a:xfrm>
                <a:off x="4613213" y="3130275"/>
                <a:ext cx="504000" cy="504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4" name="Freeform 105">
                <a:extLst>
                  <a:ext uri="{FF2B5EF4-FFF2-40B4-BE49-F238E27FC236}">
                    <a16:creationId xmlns:a16="http://schemas.microsoft.com/office/drawing/2014/main" id="{794BE36A-70CA-45DB-8A50-ABDB46965C23}"/>
                  </a:ext>
                </a:extLst>
              </p:cNvPr>
              <p:cNvSpPr>
                <a:spLocks noChangeAspect="1" noEditPoints="1"/>
              </p:cNvSpPr>
              <p:nvPr/>
            </p:nvSpPr>
            <p:spPr bwMode="auto">
              <a:xfrm>
                <a:off x="4703213" y="3237919"/>
                <a:ext cx="324000" cy="288713"/>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36" name="组合 35">
            <a:extLst>
              <a:ext uri="{FF2B5EF4-FFF2-40B4-BE49-F238E27FC236}">
                <a16:creationId xmlns:a16="http://schemas.microsoft.com/office/drawing/2014/main" id="{729AECDD-F26F-4F1D-B870-8CBE141D39F5}"/>
              </a:ext>
            </a:extLst>
          </p:cNvPr>
          <p:cNvGrpSpPr/>
          <p:nvPr/>
        </p:nvGrpSpPr>
        <p:grpSpPr>
          <a:xfrm>
            <a:off x="2055836" y="3965378"/>
            <a:ext cx="7412937" cy="726162"/>
            <a:chOff x="2066719" y="4647054"/>
            <a:chExt cx="7412937" cy="726162"/>
          </a:xfrm>
        </p:grpSpPr>
        <p:sp>
          <p:nvSpPr>
            <p:cNvPr id="40" name="Line 22">
              <a:extLst>
                <a:ext uri="{FF2B5EF4-FFF2-40B4-BE49-F238E27FC236}">
                  <a16:creationId xmlns:a16="http://schemas.microsoft.com/office/drawing/2014/main" id="{9D33B777-B1AA-4BFA-8C40-2663C80DCC29}"/>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E60011C3-CEE3-4528-92A5-D2F177F728E8}"/>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3. </a:t>
              </a:r>
              <a:r>
                <a:rPr lang="zh-CN" altLang="en-US" sz="3200" i="0" dirty="0">
                  <a:solidFill>
                    <a:prstClr val="black"/>
                  </a:solidFill>
                  <a:latin typeface="微软雅黑" panose="020B0503020204020204" pitchFamily="34" charset="-122"/>
                  <a:ea typeface="微软雅黑" panose="020B0503020204020204" pitchFamily="34" charset="-122"/>
                </a:rPr>
                <a:t>基于分段函数的轨迹规划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8A345FA0-27E7-4515-B369-EBCC74839CE4}"/>
                </a:ext>
              </a:extLst>
            </p:cNvPr>
            <p:cNvGrpSpPr/>
            <p:nvPr/>
          </p:nvGrpSpPr>
          <p:grpSpPr>
            <a:xfrm>
              <a:off x="2066719" y="4723745"/>
              <a:ext cx="576000" cy="576000"/>
              <a:chOff x="7982080" y="5312514"/>
              <a:chExt cx="504000" cy="504000"/>
            </a:xfrm>
          </p:grpSpPr>
          <p:sp>
            <p:nvSpPr>
              <p:cNvPr id="47" name="椭圆 46">
                <a:extLst>
                  <a:ext uri="{FF2B5EF4-FFF2-40B4-BE49-F238E27FC236}">
                    <a16:creationId xmlns:a16="http://schemas.microsoft.com/office/drawing/2014/main" id="{1AF08BF9-84EA-4D30-83A1-78448270B671}"/>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48" name="Freeform 96">
                <a:extLst>
                  <a:ext uri="{FF2B5EF4-FFF2-40B4-BE49-F238E27FC236}">
                    <a16:creationId xmlns:a16="http://schemas.microsoft.com/office/drawing/2014/main" id="{E8857E8D-BCBE-435A-B6BE-3686AAB6B301}"/>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grpSp>
        <p:nvGrpSpPr>
          <p:cNvPr id="49" name="组合 48">
            <a:extLst>
              <a:ext uri="{FF2B5EF4-FFF2-40B4-BE49-F238E27FC236}">
                <a16:creationId xmlns:a16="http://schemas.microsoft.com/office/drawing/2014/main" id="{DF9B30C7-9851-47E2-A99C-276673B06327}"/>
              </a:ext>
            </a:extLst>
          </p:cNvPr>
          <p:cNvGrpSpPr/>
          <p:nvPr/>
        </p:nvGrpSpPr>
        <p:grpSpPr>
          <a:xfrm>
            <a:off x="2055836" y="5213514"/>
            <a:ext cx="7412937" cy="726162"/>
            <a:chOff x="2066719" y="4647054"/>
            <a:chExt cx="7412937" cy="726162"/>
          </a:xfrm>
        </p:grpSpPr>
        <p:sp>
          <p:nvSpPr>
            <p:cNvPr id="50" name="Line 22">
              <a:extLst>
                <a:ext uri="{FF2B5EF4-FFF2-40B4-BE49-F238E27FC236}">
                  <a16:creationId xmlns:a16="http://schemas.microsoft.com/office/drawing/2014/main" id="{60D24324-A2E2-440E-88A8-CAF12949970C}"/>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53" name="AutoShape 26">
              <a:extLst>
                <a:ext uri="{FF2B5EF4-FFF2-40B4-BE49-F238E27FC236}">
                  <a16:creationId xmlns:a16="http://schemas.microsoft.com/office/drawing/2014/main" id="{F7419E05-6F60-4885-9F5F-7AFE62268719}"/>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4. </a:t>
              </a:r>
              <a:r>
                <a:rPr lang="zh-CN" altLang="en-US" sz="3200" i="0" kern="0" dirty="0">
                  <a:solidFill>
                    <a:prstClr val="black"/>
                  </a:solidFill>
                  <a:latin typeface="微软雅黑" panose="020B0503020204020204" pitchFamily="34" charset="-122"/>
                  <a:ea typeface="微软雅黑" panose="020B0503020204020204" pitchFamily="34" charset="-122"/>
                </a:rPr>
                <a:t>多中间点</a:t>
              </a:r>
              <a:r>
                <a:rPr lang="zh-CN" altLang="en-US" sz="3200" i="0" dirty="0">
                  <a:solidFill>
                    <a:prstClr val="black"/>
                  </a:solidFill>
                  <a:latin typeface="微软雅黑" panose="020B0503020204020204" pitchFamily="34" charset="-122"/>
                  <a:ea typeface="微软雅黑" panose="020B0503020204020204" pitchFamily="34" charset="-122"/>
                </a:rPr>
                <a:t>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54" name="组合 53">
              <a:extLst>
                <a:ext uri="{FF2B5EF4-FFF2-40B4-BE49-F238E27FC236}">
                  <a16:creationId xmlns:a16="http://schemas.microsoft.com/office/drawing/2014/main" id="{E5F2C38F-FF4C-4DEB-8BBC-3F8DBF10E4A3}"/>
                </a:ext>
              </a:extLst>
            </p:cNvPr>
            <p:cNvGrpSpPr/>
            <p:nvPr/>
          </p:nvGrpSpPr>
          <p:grpSpPr>
            <a:xfrm>
              <a:off x="2066719" y="4723745"/>
              <a:ext cx="576000" cy="576000"/>
              <a:chOff x="7982080" y="5312514"/>
              <a:chExt cx="504000" cy="504000"/>
            </a:xfrm>
          </p:grpSpPr>
          <p:sp>
            <p:nvSpPr>
              <p:cNvPr id="55" name="椭圆 54">
                <a:extLst>
                  <a:ext uri="{FF2B5EF4-FFF2-40B4-BE49-F238E27FC236}">
                    <a16:creationId xmlns:a16="http://schemas.microsoft.com/office/drawing/2014/main" id="{C46852E6-82FE-4773-9506-6B1ABCA803C9}"/>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56" name="Freeform 96">
                <a:extLst>
                  <a:ext uri="{FF2B5EF4-FFF2-40B4-BE49-F238E27FC236}">
                    <a16:creationId xmlns:a16="http://schemas.microsoft.com/office/drawing/2014/main" id="{7F5B9519-4E41-45CF-9E73-771AD4993755}"/>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Tree>
    <p:extLst>
      <p:ext uri="{BB962C8B-B14F-4D97-AF65-F5344CB8AC3E}">
        <p14:creationId xmlns:p14="http://schemas.microsoft.com/office/powerpoint/2010/main" val="178384012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F7C3056-568C-481D-8CA4-A605F06D8D3D}"/>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D5D92B9F-6CB6-4BCE-A388-6D8676F4727E}"/>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7.1 </a:t>
            </a:r>
            <a:r>
              <a:rPr lang="zh-CN" altLang="en-US" sz="3200" b="1" dirty="0">
                <a:solidFill>
                  <a:srgbClr val="9D1317"/>
                </a:solidFill>
                <a:latin typeface="微软雅黑" panose="020B0503020204020204" pitchFamily="34" charset="-122"/>
                <a:ea typeface="微软雅黑" panose="020B0503020204020204" pitchFamily="34" charset="-122"/>
              </a:rPr>
              <a:t>机器人轨迹规划基本概念</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3872AC9-7B09-4B25-A738-AC20070CA410}"/>
              </a:ext>
            </a:extLst>
          </p:cNvPr>
          <p:cNvSpPr txBox="1"/>
          <p:nvPr/>
        </p:nvSpPr>
        <p:spPr>
          <a:xfrm>
            <a:off x="337803" y="786268"/>
            <a:ext cx="11346839" cy="5994783"/>
          </a:xfrm>
          <a:prstGeom prst="rect">
            <a:avLst/>
          </a:prstGeom>
          <a:noFill/>
        </p:spPr>
        <p:txBody>
          <a:bodyPr wrap="square" rtlCol="0">
            <a:spAutoFit/>
          </a:bodyPr>
          <a:lstStyle/>
          <a:p>
            <a:pPr marL="457200" indent="-457200">
              <a:lnSpc>
                <a:spcPct val="120000"/>
              </a:lnSpc>
              <a:spcBef>
                <a:spcPts val="600"/>
              </a:spcBef>
              <a:buFont typeface="Wingdings" panose="05000000000000000000" pitchFamily="2" charset="2"/>
              <a:buChar char="Ø"/>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规划：</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是问题</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任务求解的过程，即从某个特定问题</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任务的初始状态开始，构造一些列操作步骤，使之达到解决该问题（完成该任务）的目标状态；对于机器人操作臂，其任务通常可以描述成工具坐标系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相对工件坐标系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的运动。</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20000"/>
              </a:lnSpc>
              <a:spcBef>
                <a:spcPts val="600"/>
              </a:spcBef>
              <a:buFont typeface="Wingdings" panose="05000000000000000000" pitchFamily="2" charset="2"/>
              <a:buChar char="Ø"/>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机械臂的运动，在笛卡尔空间，通常可以分为：点到点运动（</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PTP,</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Point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to</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point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motion</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）、连续路径运动（</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CP, Continuous path motion</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）两类</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典型的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运动任务包括：物体搬运、上下料、点焊等</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典型的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运动任务包括：弧焊、曲面打磨、加工等</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20000"/>
              </a:lnSpc>
              <a:spcBef>
                <a:spcPts val="600"/>
              </a:spcBef>
              <a:buFont typeface="Wingdings" panose="05000000000000000000" pitchFamily="2" charset="2"/>
              <a:buChar char="Ø"/>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机械臂轨迹规划，是指根据作业任务，为机器人生成一条从起始点到目标点的、符合机器人运动特性、能够被机器人执行的、连续的轨迹</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符合机器人运动特性：机器人奇异问题、关节运动同步问题</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marL="800100" lvl="1" indent="-342900">
              <a:lnSpc>
                <a:spcPct val="120000"/>
              </a:lnSpc>
              <a:spcBef>
                <a:spcPts val="600"/>
              </a:spcBef>
              <a:buFontTx/>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能够被机器人执行：执行器的性能（速度加速度约束）、机械性能（限位）</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连续：位移、速度、加速度</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光滑的曲线</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轨迹：包含时间信息的位移、速度、加速度</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365951469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 calcmode="lin" valueType="num">
                                      <p:cBhvr additive="base">
                                        <p:cTn id="2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 calcmode="lin" valueType="num">
                                      <p:cBhvr additive="base">
                                        <p:cTn id="3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 calcmode="lin" valueType="num">
                                      <p:cBhvr additive="base">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1BE1578-CC9B-4F91-9575-2B9AD12B1CEA}"/>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4</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5E77F922-E847-45D2-A7B0-549A0D627F97}"/>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7.1 </a:t>
            </a:r>
            <a:r>
              <a:rPr lang="zh-CN" altLang="en-US" sz="3200" b="1" dirty="0">
                <a:solidFill>
                  <a:srgbClr val="9D1317"/>
                </a:solidFill>
                <a:latin typeface="微软雅黑" panose="020B0503020204020204" pitchFamily="34" charset="-122"/>
                <a:ea typeface="微软雅黑" panose="020B0503020204020204" pitchFamily="34" charset="-122"/>
              </a:rPr>
              <a:t>机器人轨迹规划基本概念</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50EFF52-63D1-425D-BC89-3C80B453AC9D}"/>
              </a:ext>
            </a:extLst>
          </p:cNvPr>
          <p:cNvSpPr txBox="1"/>
          <p:nvPr/>
        </p:nvSpPr>
        <p:spPr>
          <a:xfrm>
            <a:off x="350422" y="850335"/>
            <a:ext cx="11409616" cy="5927072"/>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机械臂的规划通常包括笛卡尔空间规划、和关节空间规划两个层面</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20000"/>
              </a:lnSpc>
              <a:spcBef>
                <a:spcPts val="600"/>
              </a:spcBef>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笛卡尔空间路径规划：</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PTP</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规划：求解出</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T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运动到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S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过程中的一系列离散的路径点，要求</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的运动轨迹经过这些路径点，但不约束路径点之间的轨迹；</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CP</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规划：求解出</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T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在笛卡尔空间的连续路径，要求</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T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的运动轨迹跟踪该期望路径</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笛卡尔空间规划要满足机械臂的可达空间约束、规避奇异点约束、规避环境障碍约束等</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20000"/>
              </a:lnSpc>
              <a:spcBef>
                <a:spcPts val="600"/>
              </a:spcBef>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关节空间轨迹规划</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插补：求解出满足笛卡尔空间路径规划要求的机械臂各关节的运动轨迹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不考虑机器人运行过程中笛卡尔空间的构形（自由空间）</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解耦计算（各关节独立规划），计算简单、容易实现</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需要保证轨迹的可执行性：满足关节位置、最大速度、最大加速度限制，考虑高效性、同步性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无奇异构型影响（在关节空间规划）</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342900">
              <a:lnSpc>
                <a:spcPct val="120000"/>
              </a:lnSpc>
              <a:spcBef>
                <a:spcPts val="600"/>
              </a:spcBef>
              <a:buFontTx/>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易于在轨迹中添加中间点，实现实时路径修正</a:t>
            </a:r>
          </a:p>
        </p:txBody>
      </p:sp>
    </p:spTree>
    <p:extLst>
      <p:ext uri="{BB962C8B-B14F-4D97-AF65-F5344CB8AC3E}">
        <p14:creationId xmlns:p14="http://schemas.microsoft.com/office/powerpoint/2010/main" val="143544242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 calcmode="lin" valueType="num">
                                      <p:cBhvr additive="base">
                                        <p:cTn id="2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 calcmode="lin" valueType="num">
                                      <p:cBhvr additive="base">
                                        <p:cTn id="3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 calcmode="lin" valueType="num">
                                      <p:cBhvr additive="base">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anim calcmode="lin" valueType="num">
                                      <p:cBhvr additive="base">
                                        <p:cTn id="4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 calcmode="lin" valueType="num">
                                      <p:cBhvr additive="base">
                                        <p:cTn id="4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3BBE2EC-7A7E-4739-9C9E-A4457501E395}"/>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5</a:t>
            </a:fld>
            <a:endParaRPr lang="zh-CN" altLang="en-US">
              <a:solidFill>
                <a:prstClr val="black">
                  <a:tint val="75000"/>
                </a:prstClr>
              </a:solidFill>
            </a:endParaRPr>
          </a:p>
        </p:txBody>
      </p:sp>
      <p:sp>
        <p:nvSpPr>
          <p:cNvPr id="3" name="Rectangle 2">
            <a:extLst>
              <a:ext uri="{FF2B5EF4-FFF2-40B4-BE49-F238E27FC236}">
                <a16:creationId xmlns:a16="http://schemas.microsoft.com/office/drawing/2014/main" id="{26F91AFF-205F-46D9-9D73-9EF00E3D8EC3}"/>
              </a:ext>
            </a:extLst>
          </p:cNvPr>
          <p:cNvSpPr txBox="1">
            <a:spLocks noChangeArrowheads="1"/>
          </p:cNvSpPr>
          <p:nvPr/>
        </p:nvSpPr>
        <p:spPr>
          <a:xfrm>
            <a:off x="242674" y="764174"/>
            <a:ext cx="10884643" cy="3202110"/>
          </a:xfrm>
          <a:prstGeom prst="rect">
            <a:avLst/>
          </a:prstGeom>
        </p:spPr>
        <p:txBody>
          <a:bodyPr vert="horz" lIns="90000" tIns="0" rIns="90000" bIns="0" rtlCol="0">
            <a:noAutofit/>
          </a:bodyPr>
          <a:lstStyle>
            <a:lvl1pPr marL="257175" indent="-257175" algn="l" defTabSz="685800" rtl="0" eaLnBrk="1" latinLnBrk="0" hangingPunct="1">
              <a:lnSpc>
                <a:spcPct val="125000"/>
              </a:lnSpc>
              <a:spcBef>
                <a:spcPts val="0"/>
              </a:spcBef>
              <a:spcAft>
                <a:spcPts val="450"/>
              </a:spcAft>
              <a:buFont typeface="Wingdings" panose="05000000000000000000" pitchFamily="2" charset="2"/>
              <a:buChar char="Ø"/>
              <a:defRPr lang="en-US" sz="15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1pPr>
            <a:lvl2pPr marL="557213" indent="-214313" algn="l" defTabSz="685800" rtl="0" eaLnBrk="1" latinLnBrk="0" hangingPunct="1">
              <a:lnSpc>
                <a:spcPct val="125000"/>
              </a:lnSpc>
              <a:spcBef>
                <a:spcPts val="0"/>
              </a:spcBef>
              <a:spcAft>
                <a:spcPts val="450"/>
              </a:spcAft>
              <a:buFont typeface="Wingdings" panose="05000000000000000000" pitchFamily="2" charset="2"/>
              <a:buChar char="Ø"/>
              <a:defRPr lang="en-US" sz="135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2pPr>
            <a:lvl3pPr marL="857250" indent="-171450" algn="l" defTabSz="685800" rtl="0" eaLnBrk="1" latinLnBrk="0" hangingPunct="1">
              <a:lnSpc>
                <a:spcPct val="100000"/>
              </a:lnSpc>
              <a:spcBef>
                <a:spcPts val="450"/>
              </a:spcBef>
              <a:buFont typeface="Wingdings" panose="05000000000000000000" pitchFamily="2" charset="2"/>
              <a:buChar char="Ø"/>
              <a:defRPr lang="en-US" sz="1200" b="0" kern="1200" baseline="0" dirty="0" smtClean="0">
                <a:solidFill>
                  <a:srgbClr val="800080"/>
                </a:solidFill>
                <a:effectLst>
                  <a:outerShdw blurRad="38100" dist="38100" dir="2700000" algn="tl">
                    <a:srgbClr val="C0C0C0"/>
                  </a:outerShdw>
                </a:effectLst>
                <a:latin typeface="Segoe UI" panose="020B0502040204020203" pitchFamily="34" charset="0"/>
                <a:ea typeface="宋体" panose="02010600030101010101" pitchFamily="2" charset="-122"/>
                <a:cs typeface="Segoe UI" panose="020B0502040204020203" pitchFamily="34" charset="0"/>
              </a:defRPr>
            </a:lvl3pPr>
            <a:lvl4pPr marL="1200150" indent="-171450" algn="l" defTabSz="685800" rtl="0" eaLnBrk="1" latinLnBrk="0" hangingPunct="1">
              <a:lnSpc>
                <a:spcPct val="100000"/>
              </a:lnSpc>
              <a:spcBef>
                <a:spcPts val="450"/>
              </a:spcBef>
              <a:buFont typeface="Wingdings" panose="05000000000000000000" pitchFamily="2" charset="2"/>
              <a:buChar char="Ø"/>
              <a:defRPr lang="en-US" sz="1050" b="0" kern="1200" baseline="0" dirty="0" smtClean="0">
                <a:solidFill>
                  <a:srgbClr val="800080"/>
                </a:solidFill>
                <a:effectLst>
                  <a:outerShdw blurRad="38100" dist="38100" dir="2700000" algn="tl">
                    <a:srgbClr val="C0C0C0"/>
                  </a:outerShdw>
                </a:effectLst>
                <a:latin typeface="Segoe UI" panose="020B0502040204020203" pitchFamily="34" charset="0"/>
                <a:ea typeface="宋体" panose="02010600030101010101" pitchFamily="2" charset="-122"/>
                <a:cs typeface="Segoe UI" panose="020B0502040204020203" pitchFamily="34" charset="0"/>
              </a:defRPr>
            </a:lvl4pPr>
            <a:lvl5pPr marL="1543050" indent="-171450" algn="l" defTabSz="685800" rtl="0" eaLnBrk="1" latinLnBrk="0" hangingPunct="1">
              <a:spcBef>
                <a:spcPct val="20000"/>
              </a:spcBef>
              <a:buFont typeface="Wingdings" panose="05000000000000000000" pitchFamily="2" charset="2"/>
              <a:buChar char="Ø"/>
              <a:defRPr lang="en-US" sz="1500" b="0" kern="1200" baseline="0" dirty="0">
                <a:solidFill>
                  <a:srgbClr val="800080"/>
                </a:solidFill>
                <a:effectLst>
                  <a:outerShdw blurRad="38100" dist="38100" dir="2700000" algn="tl">
                    <a:srgbClr val="C0C0C0"/>
                  </a:outerShdw>
                </a:effectLst>
                <a:latin typeface="Segoe UI" panose="020B0502040204020203" pitchFamily="34" charset="0"/>
                <a:ea typeface="黑体" panose="02010609060101010101" pitchFamily="49" charset="-122"/>
                <a:cs typeface="Segoe UI" panose="020B0502040204020203" pitchFamily="34"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342900" indent="-342900">
              <a:lnSpc>
                <a:spcPct val="114000"/>
              </a:lnSpc>
              <a:spcBef>
                <a:spcPts val="600"/>
              </a:spcBef>
              <a:spcAft>
                <a:spcPts val="600"/>
              </a:spcAft>
              <a:buClr>
                <a:schemeClr val="tx1"/>
              </a:buClr>
              <a:buFont typeface="Wingdings" panose="05000000000000000000" pitchFamily="2" charset="2"/>
              <a:buChar char="n"/>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600" b="1" i="0" dirty="0">
                <a:solidFill>
                  <a:schemeClr val="tx1"/>
                </a:solidFill>
                <a:latin typeface="微软雅黑" panose="020B0503020204020204" pitchFamily="34" charset="-122"/>
                <a:ea typeface="微软雅黑" panose="020B0503020204020204" pitchFamily="34" charset="-122"/>
              </a:rPr>
              <a:t>点到点（</a:t>
            </a:r>
            <a:r>
              <a:rPr lang="en-US" altLang="zh-CN" sz="2600" b="1" i="0" dirty="0">
                <a:solidFill>
                  <a:schemeClr val="tx1"/>
                </a:solidFill>
                <a:latin typeface="微软雅黑" panose="020B0503020204020204" pitchFamily="34" charset="-122"/>
                <a:ea typeface="微软雅黑" panose="020B0503020204020204" pitchFamily="34" charset="-122"/>
              </a:rPr>
              <a:t>PTP</a:t>
            </a:r>
            <a:r>
              <a:rPr lang="zh-CN" altLang="en-US" sz="2600" b="1" i="0" dirty="0">
                <a:solidFill>
                  <a:schemeClr val="tx1"/>
                </a:solidFill>
                <a:latin typeface="微软雅黑" panose="020B0503020204020204" pitchFamily="34" charset="-122"/>
                <a:ea typeface="微软雅黑" panose="020B0503020204020204" pitchFamily="34" charset="-122"/>
              </a:rPr>
              <a:t>）轨迹规划</a:t>
            </a:r>
            <a:endParaRPr lang="en-US" altLang="zh-CN" sz="2600" b="1" i="0" dirty="0">
              <a:solidFill>
                <a:schemeClr val="tx1"/>
              </a:solidFill>
              <a:latin typeface="微软雅黑" panose="020B0503020204020204" pitchFamily="34" charset="-122"/>
              <a:ea typeface="微软雅黑" panose="020B0503020204020204" pitchFamily="34" charset="-122"/>
            </a:endParaRPr>
          </a:p>
          <a:p>
            <a:pPr marL="800100" lvl="1" indent="-342900">
              <a:lnSpc>
                <a:spcPct val="114000"/>
              </a:lnSpc>
              <a:spcBef>
                <a:spcPts val="600"/>
              </a:spcBef>
              <a:spcAft>
                <a:spcPts val="600"/>
              </a:spcAft>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i="0" dirty="0">
                <a:solidFill>
                  <a:schemeClr val="tx1"/>
                </a:solidFill>
                <a:latin typeface="微软雅黑" panose="020B0503020204020204" pitchFamily="34" charset="-122"/>
                <a:ea typeface="微软雅黑" panose="020B0503020204020204" pitchFamily="34" charset="-122"/>
                <a:cs typeface="+mn-cs"/>
              </a:rPr>
              <a:t>在笛卡尔空间，确定机器人末端执行器的起点、终点位置，用逆运动学求解该起点、终点位置所对应的各关节位置</a:t>
            </a:r>
            <a:endParaRPr lang="en-US" altLang="zh-CN" sz="2200" b="1" i="0" dirty="0">
              <a:solidFill>
                <a:schemeClr val="tx1"/>
              </a:solidFill>
              <a:latin typeface="微软雅黑" panose="020B0503020204020204" pitchFamily="34" charset="-122"/>
              <a:ea typeface="微软雅黑" panose="020B0503020204020204" pitchFamily="34" charset="-122"/>
              <a:cs typeface="+mn-cs"/>
            </a:endParaRPr>
          </a:p>
          <a:p>
            <a:pPr marL="800100" lvl="1" indent="-342900">
              <a:lnSpc>
                <a:spcPct val="114000"/>
              </a:lnSpc>
              <a:spcBef>
                <a:spcPts val="600"/>
              </a:spcBef>
              <a:spcAft>
                <a:spcPts val="600"/>
              </a:spcAft>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i="0" dirty="0">
                <a:solidFill>
                  <a:schemeClr val="tx1"/>
                </a:solidFill>
                <a:effectLst/>
                <a:latin typeface="微软雅黑" panose="020B0503020204020204" pitchFamily="34" charset="-122"/>
                <a:ea typeface="微软雅黑" panose="020B0503020204020204" pitchFamily="34" charset="-122"/>
                <a:cs typeface="+mn-cs"/>
              </a:rPr>
              <a:t>在关节空间，分别对各个关节进行点到点轨迹规划</a:t>
            </a:r>
            <a:r>
              <a:rPr lang="en-US" altLang="zh-CN" sz="2200" b="1" i="0" dirty="0">
                <a:solidFill>
                  <a:schemeClr val="tx1"/>
                </a:solidFill>
                <a:effectLst/>
                <a:latin typeface="微软雅黑" panose="020B0503020204020204" pitchFamily="34" charset="-122"/>
                <a:ea typeface="微软雅黑" panose="020B0503020204020204" pitchFamily="34" charset="-122"/>
                <a:cs typeface="+mn-cs"/>
              </a:rPr>
              <a:t>/</a:t>
            </a:r>
            <a:r>
              <a:rPr lang="zh-CN" altLang="en-US" sz="2200" b="1" dirty="0">
                <a:solidFill>
                  <a:schemeClr val="tx1"/>
                </a:solidFill>
                <a:latin typeface="微软雅黑" panose="020B0503020204020204" pitchFamily="34" charset="-122"/>
                <a:ea typeface="微软雅黑" panose="020B0503020204020204" pitchFamily="34" charset="-122"/>
                <a:cs typeface="+mn-cs"/>
              </a:rPr>
              <a:t>插补</a:t>
            </a:r>
            <a:endParaRPr lang="en-US" altLang="zh-CN" sz="2200" b="1" i="0" dirty="0">
              <a:solidFill>
                <a:schemeClr val="tx1"/>
              </a:solidFill>
              <a:effectLst/>
              <a:latin typeface="微软雅黑" panose="020B0503020204020204" pitchFamily="34" charset="-122"/>
              <a:ea typeface="微软雅黑" panose="020B0503020204020204" pitchFamily="34" charset="-122"/>
              <a:cs typeface="+mn-cs"/>
            </a:endParaRPr>
          </a:p>
          <a:p>
            <a:pPr marL="1100137" lvl="2" indent="-342900">
              <a:lnSpc>
                <a:spcPct val="114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cs typeface="+mn-cs"/>
              </a:rPr>
              <a:t>可执行性约束：关节位置、速度、加速度约束</a:t>
            </a:r>
            <a:endParaRPr lang="en-US" altLang="zh-CN" sz="2000" b="1" i="0" dirty="0">
              <a:solidFill>
                <a:schemeClr val="tx1"/>
              </a:solidFill>
              <a:effectLst/>
              <a:latin typeface="微软雅黑" panose="020B0503020204020204" pitchFamily="34" charset="-122"/>
              <a:ea typeface="微软雅黑" panose="020B0503020204020204" pitchFamily="34" charset="-122"/>
              <a:cs typeface="+mn-cs"/>
            </a:endParaRPr>
          </a:p>
          <a:p>
            <a:pPr marL="1100137" lvl="2" indent="-342900">
              <a:lnSpc>
                <a:spcPct val="114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cs typeface="+mn-cs"/>
              </a:rPr>
              <a:t>中间点的连续性约束</a:t>
            </a:r>
            <a:endParaRPr lang="en-US" altLang="zh-CN" sz="2000" b="1" i="0" dirty="0">
              <a:solidFill>
                <a:schemeClr val="tx1"/>
              </a:solidFill>
              <a:effectLst/>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E05480A8-D376-4DB3-95BB-B518DA7FD82F}"/>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7.1 </a:t>
            </a:r>
            <a:r>
              <a:rPr lang="zh-CN" altLang="en-US" sz="3200" b="1" dirty="0">
                <a:solidFill>
                  <a:srgbClr val="9D1317"/>
                </a:solidFill>
                <a:latin typeface="微软雅黑" panose="020B0503020204020204" pitchFamily="34" charset="-122"/>
                <a:ea typeface="微软雅黑" panose="020B0503020204020204" pitchFamily="34" charset="-122"/>
              </a:rPr>
              <a:t>机器人轨迹规划基本概念：点到点轨迹规划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pic>
        <p:nvPicPr>
          <p:cNvPr id="5" name="Picture 47" descr="https://p8.itc.cn/q_70/images03/20201010/a328b5793ae44f3e99912a21a40975b2.gif">
            <a:extLst>
              <a:ext uri="{FF2B5EF4-FFF2-40B4-BE49-F238E27FC236}">
                <a16:creationId xmlns:a16="http://schemas.microsoft.com/office/drawing/2014/main" id="{78B1A9D7-1397-4BCE-BFEE-8C09DB82597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733932" y="3525275"/>
            <a:ext cx="6458068" cy="32720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26F91AFF-205F-46D9-9D73-9EF00E3D8EC3}"/>
              </a:ext>
            </a:extLst>
          </p:cNvPr>
          <p:cNvSpPr txBox="1">
            <a:spLocks noChangeArrowheads="1"/>
          </p:cNvSpPr>
          <p:nvPr/>
        </p:nvSpPr>
        <p:spPr>
          <a:xfrm>
            <a:off x="242675" y="3801803"/>
            <a:ext cx="5173836" cy="3022856"/>
          </a:xfrm>
          <a:prstGeom prst="rect">
            <a:avLst/>
          </a:prstGeom>
        </p:spPr>
        <p:txBody>
          <a:bodyPr vert="horz" lIns="90000" tIns="0" rIns="9000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0100" lvl="1" indent="-342900">
              <a:lnSpc>
                <a:spcPct val="120000"/>
              </a:lnSpc>
              <a:spcBef>
                <a:spcPts val="600"/>
              </a:spcBef>
              <a:spcAft>
                <a:spcPts val="600"/>
              </a:spcAft>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dirty="0">
                <a:solidFill>
                  <a:schemeClr val="tx1"/>
                </a:solidFill>
                <a:latin typeface="微软雅黑" panose="020B0503020204020204" pitchFamily="34" charset="-122"/>
                <a:ea typeface="微软雅黑" panose="020B0503020204020204" pitchFamily="34" charset="-122"/>
                <a:cs typeface="+mn-cs"/>
              </a:rPr>
              <a:t>多关节的时间同步性：同时起（加速）同时停（减速）</a:t>
            </a:r>
            <a:endParaRPr lang="en-US" altLang="zh-CN" sz="2200" b="1" dirty="0">
              <a:solidFill>
                <a:schemeClr val="tx1"/>
              </a:solidFill>
              <a:latin typeface="微软雅黑" panose="020B0503020204020204" pitchFamily="34" charset="-122"/>
              <a:ea typeface="微软雅黑" panose="020B0503020204020204" pitchFamily="34" charset="-122"/>
              <a:cs typeface="+mn-cs"/>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dirty="0">
                <a:solidFill>
                  <a:schemeClr val="tx1"/>
                </a:solidFill>
                <a:effectLst/>
                <a:latin typeface="微软雅黑" panose="020B0503020204020204" pitchFamily="34" charset="-122"/>
                <a:ea typeface="微软雅黑" panose="020B0503020204020204" pitchFamily="34" charset="-122"/>
                <a:cs typeface="+mn-cs"/>
              </a:rPr>
              <a:t>给定时间的轨迹规划</a:t>
            </a:r>
            <a:endParaRPr lang="en-US" altLang="zh-CN" sz="2000" b="1" dirty="0">
              <a:solidFill>
                <a:schemeClr val="tx1"/>
              </a:solidFill>
              <a:effectLst/>
              <a:latin typeface="微软雅黑" panose="020B0503020204020204" pitchFamily="34" charset="-122"/>
              <a:ea typeface="微软雅黑" panose="020B0503020204020204" pitchFamily="34" charset="-122"/>
              <a:cs typeface="+mn-cs"/>
            </a:endParaRPr>
          </a:p>
          <a:p>
            <a:pPr marL="800100" lvl="1" indent="-342900">
              <a:lnSpc>
                <a:spcPct val="120000"/>
              </a:lnSpc>
              <a:spcBef>
                <a:spcPts val="600"/>
              </a:spcBef>
              <a:spcAft>
                <a:spcPts val="600"/>
              </a:spcAft>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dirty="0">
                <a:solidFill>
                  <a:schemeClr val="tx1"/>
                </a:solidFill>
                <a:latin typeface="微软雅黑" panose="020B0503020204020204" pitchFamily="34" charset="-122"/>
                <a:ea typeface="微软雅黑" panose="020B0503020204020204" pitchFamily="34" charset="-122"/>
                <a:cs typeface="+mn-cs"/>
              </a:rPr>
              <a:t>运行效率：</a:t>
            </a:r>
            <a:endParaRPr lang="en-US" altLang="zh-CN" sz="2200" b="1" dirty="0">
              <a:solidFill>
                <a:schemeClr val="tx1"/>
              </a:solidFill>
              <a:latin typeface="微软雅黑" panose="020B0503020204020204" pitchFamily="34" charset="-122"/>
              <a:ea typeface="微软雅黑" panose="020B0503020204020204" pitchFamily="34" charset="-122"/>
              <a:cs typeface="+mn-cs"/>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dirty="0">
                <a:solidFill>
                  <a:schemeClr val="tx1"/>
                </a:solidFill>
                <a:effectLst/>
                <a:latin typeface="微软雅黑" panose="020B0503020204020204" pitchFamily="34" charset="-122"/>
                <a:ea typeface="微软雅黑" panose="020B0503020204020204" pitchFamily="34" charset="-122"/>
                <a:cs typeface="+mn-cs"/>
              </a:rPr>
              <a:t>多项式函数</a:t>
            </a:r>
            <a:endParaRPr lang="en-US" altLang="zh-CN" sz="2000" b="1" dirty="0">
              <a:solidFill>
                <a:schemeClr val="tx1"/>
              </a:solidFill>
              <a:effectLst/>
              <a:latin typeface="微软雅黑" panose="020B0503020204020204" pitchFamily="34" charset="-122"/>
              <a:ea typeface="微软雅黑" panose="020B0503020204020204" pitchFamily="34" charset="-122"/>
              <a:cs typeface="+mn-cs"/>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dirty="0">
                <a:solidFill>
                  <a:schemeClr val="tx1"/>
                </a:solidFill>
                <a:effectLst/>
                <a:latin typeface="微软雅黑" panose="020B0503020204020204" pitchFamily="34" charset="-122"/>
                <a:ea typeface="微软雅黑" panose="020B0503020204020204" pitchFamily="34" charset="-122"/>
                <a:cs typeface="+mn-cs"/>
              </a:rPr>
              <a:t>分段函数</a:t>
            </a:r>
            <a:endParaRPr lang="en-US" altLang="zh-CN" sz="2000" b="1" dirty="0">
              <a:solidFill>
                <a:schemeClr val="tx1"/>
              </a:solidFill>
              <a:effectLst/>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2328659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additive="base">
                                        <p:cTn id="3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anim calcmode="lin" valueType="num">
                                      <p:cBhvr additive="base">
                                        <p:cTn id="4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anim calcmode="lin" valueType="num">
                                      <p:cBhvr additive="base">
                                        <p:cTn id="4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9CEC495-6A84-453C-BD39-9A6973518932}"/>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6</a:t>
            </a:fld>
            <a:endParaRPr lang="zh-CN" altLang="en-US">
              <a:solidFill>
                <a:prstClr val="black">
                  <a:tint val="75000"/>
                </a:prstClr>
              </a:solidFill>
            </a:endParaRPr>
          </a:p>
        </p:txBody>
      </p:sp>
      <p:sp>
        <p:nvSpPr>
          <p:cNvPr id="3" name="Rectangle 2">
            <a:extLst>
              <a:ext uri="{FF2B5EF4-FFF2-40B4-BE49-F238E27FC236}">
                <a16:creationId xmlns:a16="http://schemas.microsoft.com/office/drawing/2014/main" id="{507581FC-6494-47EB-AE3D-44F072D87D6F}"/>
              </a:ext>
            </a:extLst>
          </p:cNvPr>
          <p:cNvSpPr txBox="1">
            <a:spLocks noChangeArrowheads="1"/>
          </p:cNvSpPr>
          <p:nvPr/>
        </p:nvSpPr>
        <p:spPr>
          <a:xfrm>
            <a:off x="156586" y="846357"/>
            <a:ext cx="7729348" cy="5726873"/>
          </a:xfrm>
          <a:prstGeom prst="rect">
            <a:avLst/>
          </a:prstGeom>
        </p:spPr>
        <p:txBody>
          <a:bodyPr vert="horz" lIns="90000" tIns="0" rIns="90000" bIns="0" rtlCol="0">
            <a:noAutofit/>
          </a:bodyPr>
          <a:lstStyle>
            <a:lvl1pPr marL="257175" indent="-257175" algn="l" defTabSz="685800" rtl="0" eaLnBrk="1" latinLnBrk="0" hangingPunct="1">
              <a:lnSpc>
                <a:spcPct val="125000"/>
              </a:lnSpc>
              <a:spcBef>
                <a:spcPts val="0"/>
              </a:spcBef>
              <a:spcAft>
                <a:spcPts val="450"/>
              </a:spcAft>
              <a:buFont typeface="Wingdings" panose="05000000000000000000" pitchFamily="2" charset="2"/>
              <a:buChar char="Ø"/>
              <a:defRPr lang="en-US" sz="15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1pPr>
            <a:lvl2pPr marL="557213" indent="-214313" algn="l" defTabSz="685800" rtl="0" eaLnBrk="1" latinLnBrk="0" hangingPunct="1">
              <a:lnSpc>
                <a:spcPct val="125000"/>
              </a:lnSpc>
              <a:spcBef>
                <a:spcPts val="0"/>
              </a:spcBef>
              <a:spcAft>
                <a:spcPts val="450"/>
              </a:spcAft>
              <a:buFont typeface="Wingdings" panose="05000000000000000000" pitchFamily="2" charset="2"/>
              <a:buChar char="Ø"/>
              <a:defRPr lang="en-US" sz="135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2pPr>
            <a:lvl3pPr marL="857250" indent="-171450" algn="l" defTabSz="685800" rtl="0" eaLnBrk="1" latinLnBrk="0" hangingPunct="1">
              <a:lnSpc>
                <a:spcPct val="100000"/>
              </a:lnSpc>
              <a:spcBef>
                <a:spcPts val="450"/>
              </a:spcBef>
              <a:buFont typeface="Wingdings" panose="05000000000000000000" pitchFamily="2" charset="2"/>
              <a:buChar char="Ø"/>
              <a:defRPr lang="en-US" sz="1200" b="0" kern="1200" baseline="0" dirty="0" smtClean="0">
                <a:solidFill>
                  <a:srgbClr val="800080"/>
                </a:solidFill>
                <a:effectLst>
                  <a:outerShdw blurRad="38100" dist="38100" dir="2700000" algn="tl">
                    <a:srgbClr val="C0C0C0"/>
                  </a:outerShdw>
                </a:effectLst>
                <a:latin typeface="Segoe UI" panose="020B0502040204020203" pitchFamily="34" charset="0"/>
                <a:ea typeface="宋体" panose="02010600030101010101" pitchFamily="2" charset="-122"/>
                <a:cs typeface="Segoe UI" panose="020B0502040204020203" pitchFamily="34" charset="0"/>
              </a:defRPr>
            </a:lvl3pPr>
            <a:lvl4pPr marL="1200150" indent="-171450" algn="l" defTabSz="685800" rtl="0" eaLnBrk="1" latinLnBrk="0" hangingPunct="1">
              <a:lnSpc>
                <a:spcPct val="100000"/>
              </a:lnSpc>
              <a:spcBef>
                <a:spcPts val="450"/>
              </a:spcBef>
              <a:buFont typeface="Wingdings" panose="05000000000000000000" pitchFamily="2" charset="2"/>
              <a:buChar char="Ø"/>
              <a:defRPr lang="en-US" sz="1050" b="0" kern="1200" baseline="0" dirty="0" smtClean="0">
                <a:solidFill>
                  <a:srgbClr val="800080"/>
                </a:solidFill>
                <a:effectLst>
                  <a:outerShdw blurRad="38100" dist="38100" dir="2700000" algn="tl">
                    <a:srgbClr val="C0C0C0"/>
                  </a:outerShdw>
                </a:effectLst>
                <a:latin typeface="Segoe UI" panose="020B0502040204020203" pitchFamily="34" charset="0"/>
                <a:ea typeface="宋体" panose="02010600030101010101" pitchFamily="2" charset="-122"/>
                <a:cs typeface="Segoe UI" panose="020B0502040204020203" pitchFamily="34" charset="0"/>
              </a:defRPr>
            </a:lvl4pPr>
            <a:lvl5pPr marL="1543050" indent="-171450" algn="l" defTabSz="685800" rtl="0" eaLnBrk="1" latinLnBrk="0" hangingPunct="1">
              <a:spcBef>
                <a:spcPct val="20000"/>
              </a:spcBef>
              <a:buFont typeface="Wingdings" panose="05000000000000000000" pitchFamily="2" charset="2"/>
              <a:buChar char="Ø"/>
              <a:defRPr lang="en-US" sz="1500" b="0" kern="1200" baseline="0" dirty="0">
                <a:solidFill>
                  <a:srgbClr val="800080"/>
                </a:solidFill>
                <a:effectLst>
                  <a:outerShdw blurRad="38100" dist="38100" dir="2700000" algn="tl">
                    <a:srgbClr val="C0C0C0"/>
                  </a:outerShdw>
                </a:effectLst>
                <a:latin typeface="Segoe UI" panose="020B0502040204020203" pitchFamily="34" charset="0"/>
                <a:ea typeface="黑体" panose="02010609060101010101" pitchFamily="49" charset="-122"/>
                <a:cs typeface="Segoe UI" panose="020B0502040204020203" pitchFamily="34"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342900" indent="-342900">
              <a:lnSpc>
                <a:spcPct val="120000"/>
              </a:lnSpc>
              <a:spcBef>
                <a:spcPts val="600"/>
              </a:spcBef>
              <a:spcAft>
                <a:spcPts val="600"/>
              </a:spcAft>
              <a:buClr>
                <a:schemeClr val="tx1"/>
              </a:buClr>
              <a:buFont typeface="Wingdings" panose="05000000000000000000" pitchFamily="2" charset="2"/>
              <a:buChar char="n"/>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600" b="1" dirty="0">
                <a:solidFill>
                  <a:schemeClr val="tx1"/>
                </a:solidFill>
                <a:latin typeface="微软雅黑" panose="020B0503020204020204" pitchFamily="34" charset="-122"/>
                <a:ea typeface="微软雅黑" panose="020B0503020204020204" pitchFamily="34" charset="-122"/>
              </a:rPr>
              <a:t>连续轨迹规划</a:t>
            </a:r>
            <a:endParaRPr lang="en-US" altLang="zh-CN" sz="2600" b="1" i="0" dirty="0">
              <a:solidFill>
                <a:schemeClr val="tx1"/>
              </a:solidFill>
              <a:latin typeface="微软雅黑" panose="020B0503020204020204" pitchFamily="34" charset="-122"/>
              <a:ea typeface="微软雅黑" panose="020B0503020204020204" pitchFamily="34" charset="-122"/>
            </a:endParaRPr>
          </a:p>
          <a:p>
            <a:pPr marL="800100" lvl="1" indent="-342900">
              <a:lnSpc>
                <a:spcPct val="120000"/>
              </a:lnSpc>
              <a:spcBef>
                <a:spcPts val="600"/>
              </a:spcBef>
              <a:spcAft>
                <a:spcPts val="600"/>
              </a:spcAft>
              <a:buClr>
                <a:schemeClr val="tx1"/>
              </a:buClr>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i="0" dirty="0">
                <a:solidFill>
                  <a:schemeClr val="tx1"/>
                </a:solidFill>
                <a:latin typeface="微软雅黑" panose="020B0503020204020204" pitchFamily="34" charset="-122"/>
                <a:ea typeface="微软雅黑" panose="020B0503020204020204" pitchFamily="34" charset="-122"/>
                <a:cs typeface="+mn-cs"/>
              </a:rPr>
              <a:t>在笛卡尔空间，按照任务需要规划机器人末端执行器从起点运动到终点的连续运动轨迹。</a:t>
            </a:r>
            <a:endParaRPr lang="en-US" altLang="zh-CN" sz="2200" b="1" i="0" dirty="0">
              <a:solidFill>
                <a:schemeClr val="tx1"/>
              </a:solidFill>
              <a:latin typeface="微软雅黑" panose="020B0503020204020204" pitchFamily="34" charset="-122"/>
              <a:ea typeface="微软雅黑" panose="020B0503020204020204" pitchFamily="34" charset="-122"/>
              <a:cs typeface="+mn-cs"/>
            </a:endParaRPr>
          </a:p>
          <a:p>
            <a:pPr marL="800100" lvl="1" indent="-342900">
              <a:lnSpc>
                <a:spcPct val="120000"/>
              </a:lnSpc>
              <a:spcBef>
                <a:spcPts val="600"/>
              </a:spcBef>
              <a:spcAft>
                <a:spcPts val="600"/>
              </a:spcAft>
              <a:buClr>
                <a:schemeClr val="tx1"/>
              </a:buClr>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dirty="0">
                <a:solidFill>
                  <a:schemeClr val="tx1"/>
                </a:solidFill>
                <a:latin typeface="微软雅黑" panose="020B0503020204020204" pitchFamily="34" charset="-122"/>
                <a:ea typeface="微软雅黑" panose="020B0503020204020204" pitchFamily="34" charset="-122"/>
                <a:cs typeface="+mn-cs"/>
              </a:rPr>
              <a:t>在关节空间，通过逆运动学“连续”求解机器人关节值</a:t>
            </a:r>
            <a:endParaRPr lang="en-US" altLang="zh-CN" sz="2200" b="1" dirty="0">
              <a:solidFill>
                <a:schemeClr val="tx1"/>
              </a:solidFill>
              <a:latin typeface="微软雅黑" panose="020B0503020204020204" pitchFamily="34" charset="-122"/>
              <a:ea typeface="微软雅黑" panose="020B0503020204020204" pitchFamily="34" charset="-122"/>
              <a:cs typeface="+mn-cs"/>
            </a:endParaRPr>
          </a:p>
          <a:p>
            <a:pPr marL="800100" lvl="1" indent="-342900">
              <a:lnSpc>
                <a:spcPct val="120000"/>
              </a:lnSpc>
              <a:spcBef>
                <a:spcPts val="600"/>
              </a:spcBef>
              <a:spcAft>
                <a:spcPts val="600"/>
              </a:spcAft>
              <a:buClr>
                <a:schemeClr val="tx1"/>
              </a:buClr>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dirty="0">
                <a:solidFill>
                  <a:schemeClr val="tx1"/>
                </a:solidFill>
                <a:latin typeface="微软雅黑" panose="020B0503020204020204" pitchFamily="34" charset="-122"/>
                <a:ea typeface="微软雅黑" panose="020B0503020204020204" pitchFamily="34" charset="-122"/>
                <a:cs typeface="+mn-cs"/>
              </a:rPr>
              <a:t>在规划过程中需考虑</a:t>
            </a:r>
            <a:endParaRPr lang="en-US" altLang="zh-CN" sz="2200" b="1" i="0" dirty="0">
              <a:solidFill>
                <a:schemeClr val="tx1"/>
              </a:solidFill>
              <a:latin typeface="微软雅黑" panose="020B0503020204020204" pitchFamily="34" charset="-122"/>
              <a:ea typeface="微软雅黑" panose="020B0503020204020204" pitchFamily="34" charset="-122"/>
              <a:cs typeface="+mn-cs"/>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rPr>
              <a:t>多解问题：根据任务约束选择优化构型</a:t>
            </a:r>
            <a:endParaRPr lang="en-US" altLang="zh-CN" sz="2000" b="1" i="0" dirty="0">
              <a:solidFill>
                <a:schemeClr val="tx1"/>
              </a:solidFill>
              <a:effectLst/>
              <a:latin typeface="微软雅黑" panose="020B0503020204020204" pitchFamily="34" charset="-122"/>
              <a:ea typeface="微软雅黑" panose="020B0503020204020204" pitchFamily="34" charset="-122"/>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rPr>
              <a:t>无解问题：保障规划轨迹在机器人可达工作空间内</a:t>
            </a:r>
            <a:endParaRPr lang="en-US" altLang="zh-CN" sz="2000" b="1" i="0" dirty="0">
              <a:solidFill>
                <a:schemeClr val="tx1"/>
              </a:solidFill>
              <a:effectLst/>
              <a:latin typeface="微软雅黑" panose="020B0503020204020204" pitchFamily="34" charset="-122"/>
              <a:ea typeface="微软雅黑" panose="020B0503020204020204" pitchFamily="34" charset="-122"/>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rPr>
              <a:t>奇异问题：规避机械臂奇异点</a:t>
            </a:r>
            <a:endParaRPr lang="en-US" altLang="zh-CN" sz="2000" b="1" i="0" dirty="0">
              <a:solidFill>
                <a:schemeClr val="tx1"/>
              </a:solidFill>
              <a:effectLst/>
              <a:latin typeface="微软雅黑" panose="020B0503020204020204" pitchFamily="34" charset="-122"/>
              <a:ea typeface="微软雅黑" panose="020B0503020204020204" pitchFamily="34" charset="-122"/>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rPr>
              <a:t>关节驱动器的可执行性：关节最大速度、最大加速度限制</a:t>
            </a:r>
            <a:endParaRPr lang="en-US" altLang="zh-CN" sz="2000" b="1" i="0" dirty="0">
              <a:solidFill>
                <a:schemeClr val="tx1"/>
              </a:solidFill>
              <a:effectLst/>
              <a:latin typeface="微软雅黑" panose="020B0503020204020204" pitchFamily="34" charset="-122"/>
              <a:ea typeface="微软雅黑" panose="020B0503020204020204" pitchFamily="34" charset="-122"/>
            </a:endParaRPr>
          </a:p>
          <a:p>
            <a:pPr marL="1100137" lvl="2" indent="-342900">
              <a:lnSpc>
                <a:spcPct val="120000"/>
              </a:lnSpc>
              <a:spcBef>
                <a:spcPts val="600"/>
              </a:spcBef>
              <a:spcAft>
                <a:spcPts val="600"/>
              </a:spcAft>
              <a:buFont typeface="Wingdings" panose="05000000000000000000" pitchFamily="2" charset="2"/>
              <a:buChar char="ü"/>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000" b="1" i="0" dirty="0">
                <a:solidFill>
                  <a:schemeClr val="tx1"/>
                </a:solidFill>
                <a:effectLst/>
                <a:latin typeface="微软雅黑" panose="020B0503020204020204" pitchFamily="34" charset="-122"/>
                <a:ea typeface="微软雅黑" panose="020B0503020204020204" pitchFamily="34" charset="-122"/>
                <a:cs typeface="+mn-cs"/>
              </a:rPr>
              <a:t>多使用在焊接、涂胶、雕刻、磨削等机</a:t>
            </a:r>
            <a:r>
              <a:rPr lang="zh-CN" altLang="en-US" sz="2000" b="1" i="0" dirty="0">
                <a:solidFill>
                  <a:srgbClr val="C00000"/>
                </a:solidFill>
                <a:effectLst/>
                <a:latin typeface="微软雅黑" panose="020B0503020204020204" pitchFamily="34" charset="-122"/>
                <a:ea typeface="微软雅黑" panose="020B0503020204020204" pitchFamily="34" charset="-122"/>
                <a:cs typeface="+mn-cs"/>
              </a:rPr>
              <a:t>加工作业</a:t>
            </a:r>
            <a:r>
              <a:rPr lang="zh-CN" altLang="en-US" sz="2000" b="1" i="0" dirty="0">
                <a:solidFill>
                  <a:schemeClr val="tx1"/>
                </a:solidFill>
                <a:effectLst/>
                <a:latin typeface="微软雅黑" panose="020B0503020204020204" pitchFamily="34" charset="-122"/>
                <a:ea typeface="微软雅黑" panose="020B0503020204020204" pitchFamily="34" charset="-122"/>
                <a:cs typeface="+mn-cs"/>
              </a:rPr>
              <a:t>中</a:t>
            </a:r>
            <a:endParaRPr lang="en-US" altLang="zh-CN" sz="2000" b="1" i="0" dirty="0">
              <a:solidFill>
                <a:schemeClr val="tx1"/>
              </a:solidFill>
              <a:effectLst/>
              <a:latin typeface="微软雅黑" panose="020B0503020204020204" pitchFamily="34" charset="-122"/>
              <a:ea typeface="微软雅黑" panose="020B0503020204020204" pitchFamily="34" charset="-122"/>
              <a:cs typeface="+mn-cs"/>
            </a:endParaRPr>
          </a:p>
          <a:p>
            <a:pPr marL="800100" lvl="1" indent="-342900">
              <a:lnSpc>
                <a:spcPct val="120000"/>
              </a:lnSpc>
              <a:spcBef>
                <a:spcPts val="600"/>
              </a:spcBef>
              <a:spcAft>
                <a:spcPts val="600"/>
              </a:spcAft>
              <a:buClr>
                <a:schemeClr val="tx1"/>
              </a:buClr>
              <a:buFont typeface="Wingdings" panose="05000000000000000000" pitchFamily="2" charset="2"/>
              <a:buChar char="p"/>
              <a:tabLst>
                <a:tab pos="0" algn="l"/>
                <a:tab pos="1158875" algn="l"/>
                <a:tab pos="1828800" algn="l"/>
                <a:tab pos="2743200" algn="l"/>
                <a:tab pos="3657600" algn="l"/>
                <a:tab pos="4572000" algn="l"/>
                <a:tab pos="5486400" algn="l"/>
                <a:tab pos="6400800" algn="l"/>
                <a:tab pos="7315200" algn="l"/>
                <a:tab pos="8229600" algn="l"/>
                <a:tab pos="9144000" algn="l"/>
                <a:tab pos="10058400" algn="l"/>
              </a:tabLst>
              <a:defRPr/>
            </a:pPr>
            <a:r>
              <a:rPr lang="zh-CN" altLang="en-US" sz="2200" b="1" dirty="0">
                <a:solidFill>
                  <a:schemeClr val="tx1"/>
                </a:solidFill>
                <a:latin typeface="微软雅黑" panose="020B0503020204020204" pitchFamily="34" charset="-122"/>
                <a:ea typeface="微软雅黑" panose="020B0503020204020204" pitchFamily="34" charset="-122"/>
                <a:cs typeface="+mn-cs"/>
              </a:rPr>
              <a:t>可用离线仿验证规划轨迹的合理性</a:t>
            </a:r>
            <a:endParaRPr lang="en-US" altLang="zh-CN" sz="2200" b="1" dirty="0">
              <a:solidFill>
                <a:schemeClr val="tx1"/>
              </a:solidFill>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BCE0771A-6E8D-40F1-8750-6A4EC32C602D}"/>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7.1 </a:t>
            </a:r>
            <a:r>
              <a:rPr lang="zh-CN" altLang="en-US" sz="3200" b="1" dirty="0">
                <a:solidFill>
                  <a:srgbClr val="9D1317"/>
                </a:solidFill>
                <a:latin typeface="微软雅黑" panose="020B0503020204020204" pitchFamily="34" charset="-122"/>
                <a:ea typeface="微软雅黑" panose="020B0503020204020204" pitchFamily="34" charset="-122"/>
              </a:rPr>
              <a:t>机器人轨迹规划基本概念：连续轨迹规划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pic>
        <p:nvPicPr>
          <p:cNvPr id="5" name="格式工厂 屏幕录像20200526_230542~1">
            <a:hlinkClick r:id="" action="ppaction://media"/>
            <a:extLst>
              <a:ext uri="{FF2B5EF4-FFF2-40B4-BE49-F238E27FC236}">
                <a16:creationId xmlns:a16="http://schemas.microsoft.com/office/drawing/2014/main" id="{9ACAC289-AF0F-4612-BE3C-3AD9575DD5C6}"/>
              </a:ext>
            </a:extLst>
          </p:cNvPr>
          <p:cNvPicPr>
            <a:picLocks noChangeAspect="1"/>
          </p:cNvPicPr>
          <p:nvPr>
            <a:videoFile r:link="rId1"/>
            <p:extLst>
              <p:ext uri="{DAA4B4D4-6D71-4841-9C94-3DE7FCFB9230}">
                <p14:media xmlns:p14="http://schemas.microsoft.com/office/powerpoint/2010/main" r:embed="rId2">
                  <p14:trim st="3608" end="7531"/>
                </p14:media>
              </p:ext>
            </p:extLst>
          </p:nvPr>
        </p:nvPicPr>
        <p:blipFill>
          <a:blip r:embed="rId4"/>
          <a:stretch>
            <a:fillRect/>
          </a:stretch>
        </p:blipFill>
        <p:spPr>
          <a:xfrm>
            <a:off x="8475077" y="846357"/>
            <a:ext cx="3351682" cy="5919570"/>
          </a:xfrm>
          <a:prstGeom prst="rect">
            <a:avLst/>
          </a:prstGeom>
        </p:spPr>
      </p:pic>
    </p:spTree>
    <p:extLst>
      <p:ext uri="{BB962C8B-B14F-4D97-AF65-F5344CB8AC3E}">
        <p14:creationId xmlns:p14="http://schemas.microsoft.com/office/powerpoint/2010/main" val="68345844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mediacall" presetSubtype="0" fill="hold" nodeType="clickEffect">
                                  <p:stCondLst>
                                    <p:cond delay="0"/>
                                  </p:stCondLst>
                                  <p:childTnLst>
                                    <p:cmd type="call" cmd="playFrom(0.0)">
                                      <p:cBhvr>
                                        <p:cTn id="44" dur="216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
                    </p:tgtEl>
                  </p:cond>
                </p:stCondLst>
                <p:endSync evt="end" delay="0">
                  <p:rtn val="all"/>
                </p:endSync>
                <p:childTnLst>
                  <p:par>
                    <p:cTn id="46" fill="hold">
                      <p:stCondLst>
                        <p:cond delay="0"/>
                      </p:stCondLst>
                      <p:childTnLst>
                        <p:par>
                          <p:cTn id="47" fill="hold">
                            <p:stCondLst>
                              <p:cond delay="0"/>
                            </p:stCondLst>
                            <p:childTnLst>
                              <p:par>
                                <p:cTn id="48" presetID="2" presetClass="mediacall" presetSubtype="0" fill="hold" nodeType="clickEffect">
                                  <p:stCondLst>
                                    <p:cond delay="0"/>
                                  </p:stCondLst>
                                  <p:childTnLst>
                                    <p:cmd type="call" cmd="togglePause">
                                      <p:cBhvr>
                                        <p:cTn id="49" dur="1" fill="hold"/>
                                        <p:tgtEl>
                                          <p:spTgt spid="5"/>
                                        </p:tgtEl>
                                      </p:cBhvr>
                                    </p:cmd>
                                  </p:childTnLst>
                                </p:cTn>
                              </p:par>
                            </p:childTnLst>
                          </p:cTn>
                        </p:par>
                      </p:childTnLst>
                    </p:cTn>
                  </p:par>
                </p:childTnLst>
              </p:cTn>
              <p:nextCondLst>
                <p:cond evt="onClick" delay="0">
                  <p:tgtEl>
                    <p:spTgt spid="5"/>
                  </p:tgtEl>
                </p:cond>
              </p:nextCondLst>
            </p:seq>
            <p:video>
              <p:cMediaNode vol="80000" mute="1">
                <p:cTn id="50" fill="hold" display="0">
                  <p:stCondLst>
                    <p:cond delay="indefinite"/>
                  </p:stCondLst>
                </p:cTn>
                <p:tgtEl>
                  <p:spTgt spid="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6F226DEE-AEB3-4B7D-9DFD-47BB32A2DAB2}"/>
              </a:ext>
            </a:extLst>
          </p:cNvPr>
          <p:cNvGrpSpPr/>
          <p:nvPr/>
        </p:nvGrpSpPr>
        <p:grpSpPr>
          <a:xfrm>
            <a:off x="2055836" y="1542179"/>
            <a:ext cx="7412937" cy="1874536"/>
            <a:chOff x="2066719" y="2376959"/>
            <a:chExt cx="7412937" cy="1874536"/>
          </a:xfrm>
        </p:grpSpPr>
        <p:sp>
          <p:nvSpPr>
            <p:cNvPr id="22" name="Line 22">
              <a:extLst>
                <a:ext uri="{FF2B5EF4-FFF2-40B4-BE49-F238E27FC236}">
                  <a16:creationId xmlns:a16="http://schemas.microsoft.com/office/drawing/2014/main" id="{BB4DE021-B01D-4F68-8962-D824C6404EA2}"/>
                </a:ext>
              </a:extLst>
            </p:cNvPr>
            <p:cNvSpPr>
              <a:spLocks noChangeShapeType="1"/>
            </p:cNvSpPr>
            <p:nvPr/>
          </p:nvSpPr>
          <p:spPr bwMode="auto">
            <a:xfrm flipV="1">
              <a:off x="2661401" y="3894203"/>
              <a:ext cx="6201809"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3" name="AutoShape 26">
              <a:extLst>
                <a:ext uri="{FF2B5EF4-FFF2-40B4-BE49-F238E27FC236}">
                  <a16:creationId xmlns:a16="http://schemas.microsoft.com/office/drawing/2014/main" id="{74B17825-6FE4-4667-BC7D-EFB2959ED9B2}"/>
                </a:ext>
              </a:extLst>
            </p:cNvPr>
            <p:cNvSpPr>
              <a:spLocks noChangeArrowheads="1"/>
            </p:cNvSpPr>
            <p:nvPr/>
          </p:nvSpPr>
          <p:spPr bwMode="auto">
            <a:xfrm>
              <a:off x="2999656" y="3525333"/>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kern="0" dirty="0">
                  <a:solidFill>
                    <a:srgbClr val="8B247C"/>
                  </a:solidFill>
                  <a:latin typeface="微软雅黑" panose="020B0503020204020204" pitchFamily="34" charset="-122"/>
                  <a:ea typeface="微软雅黑" panose="020B0503020204020204" pitchFamily="34" charset="-122"/>
                </a:rPr>
                <a:t>2. </a:t>
              </a:r>
              <a:r>
                <a:rPr lang="zh-CN" altLang="en-US" sz="3200" b="1" kern="0" dirty="0">
                  <a:solidFill>
                    <a:srgbClr val="8B247C"/>
                  </a:solidFill>
                  <a:latin typeface="微软雅黑" panose="020B0503020204020204" pitchFamily="34" charset="-122"/>
                  <a:ea typeface="微软雅黑" panose="020B0503020204020204" pitchFamily="34" charset="-122"/>
                </a:rPr>
                <a:t>基于多项式函数的轨迹规划</a:t>
              </a:r>
              <a:endParaRPr lang="en-US" altLang="zh-CN" sz="3200" b="1" kern="0" dirty="0">
                <a:solidFill>
                  <a:srgbClr val="8B247C"/>
                </a:solidFill>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743E3999-0215-4015-AFE8-F5373ABE2158}"/>
                </a:ext>
              </a:extLst>
            </p:cNvPr>
            <p:cNvGrpSpPr/>
            <p:nvPr/>
          </p:nvGrpSpPr>
          <p:grpSpPr>
            <a:xfrm>
              <a:off x="2066719" y="2376959"/>
              <a:ext cx="576000" cy="576000"/>
              <a:chOff x="4613213" y="3169005"/>
              <a:chExt cx="504000" cy="504000"/>
            </a:xfrm>
          </p:grpSpPr>
          <p:sp>
            <p:nvSpPr>
              <p:cNvPr id="25" name="椭圆 24">
                <a:extLst>
                  <a:ext uri="{FF2B5EF4-FFF2-40B4-BE49-F238E27FC236}">
                    <a16:creationId xmlns:a16="http://schemas.microsoft.com/office/drawing/2014/main" id="{7AD90CCB-AFB3-45BD-9B1A-F5B617AD4306}"/>
                  </a:ext>
                </a:extLst>
              </p:cNvPr>
              <p:cNvSpPr/>
              <p:nvPr/>
            </p:nvSpPr>
            <p:spPr>
              <a:xfrm>
                <a:off x="4613213" y="3169005"/>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26" name="Freeform 70">
                <a:extLst>
                  <a:ext uri="{FF2B5EF4-FFF2-40B4-BE49-F238E27FC236}">
                    <a16:creationId xmlns:a16="http://schemas.microsoft.com/office/drawing/2014/main" id="{9CE89935-AD30-4BE4-A56B-D59891937EDA}"/>
                  </a:ext>
                </a:extLst>
              </p:cNvPr>
              <p:cNvSpPr>
                <a:spLocks noChangeAspect="1" noEditPoints="1"/>
              </p:cNvSpPr>
              <p:nvPr/>
            </p:nvSpPr>
            <p:spPr bwMode="auto">
              <a:xfrm>
                <a:off x="4703213" y="3258472"/>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7" name="组合 26">
            <a:extLst>
              <a:ext uri="{FF2B5EF4-FFF2-40B4-BE49-F238E27FC236}">
                <a16:creationId xmlns:a16="http://schemas.microsoft.com/office/drawing/2014/main" id="{F5C0FEFF-C193-46FF-BDD2-23FDF2A57A16}"/>
              </a:ext>
            </a:extLst>
          </p:cNvPr>
          <p:cNvGrpSpPr/>
          <p:nvPr/>
        </p:nvGrpSpPr>
        <p:grpSpPr>
          <a:xfrm>
            <a:off x="2634383" y="1484218"/>
            <a:ext cx="6834390" cy="726162"/>
            <a:chOff x="2645266" y="1833630"/>
            <a:chExt cx="6834390" cy="726162"/>
          </a:xfrm>
        </p:grpSpPr>
        <p:sp>
          <p:nvSpPr>
            <p:cNvPr id="30" name="Line 22">
              <a:extLst>
                <a:ext uri="{FF2B5EF4-FFF2-40B4-BE49-F238E27FC236}">
                  <a16:creationId xmlns:a16="http://schemas.microsoft.com/office/drawing/2014/main" id="{2036ADD0-B197-46C9-AD54-353CFF66895A}"/>
                </a:ext>
              </a:extLst>
            </p:cNvPr>
            <p:cNvSpPr>
              <a:spLocks noChangeShapeType="1"/>
            </p:cNvSpPr>
            <p:nvPr/>
          </p:nvSpPr>
          <p:spPr bwMode="auto">
            <a:xfrm>
              <a:off x="2645266" y="2190889"/>
              <a:ext cx="6744032" cy="5822"/>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1" name="AutoShape 26">
              <a:extLst>
                <a:ext uri="{FF2B5EF4-FFF2-40B4-BE49-F238E27FC236}">
                  <a16:creationId xmlns:a16="http://schemas.microsoft.com/office/drawing/2014/main" id="{29A1C0C6-3200-4D5E-A876-E7426DC3C739}"/>
                </a:ext>
              </a:extLst>
            </p:cNvPr>
            <p:cNvSpPr>
              <a:spLocks noChangeArrowheads="1"/>
            </p:cNvSpPr>
            <p:nvPr/>
          </p:nvSpPr>
          <p:spPr bwMode="auto">
            <a:xfrm>
              <a:off x="2999656" y="1833630"/>
              <a:ext cx="6480000" cy="726162"/>
            </a:xfrm>
            <a:prstGeom prst="roundRect">
              <a:avLst>
                <a:gd name="adj" fmla="val 34361"/>
              </a:avLst>
            </a:prstGeom>
            <a:ln>
              <a:solidFill>
                <a:srgbClr val="800080"/>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1. </a:t>
              </a:r>
              <a:r>
                <a:rPr lang="zh-CN" altLang="en-US" sz="3200" dirty="0">
                  <a:solidFill>
                    <a:prstClr val="black"/>
                  </a:solidFill>
                  <a:latin typeface="微软雅黑" panose="020B0503020204020204" pitchFamily="34" charset="-122"/>
                  <a:ea typeface="微软雅黑" panose="020B0503020204020204" pitchFamily="34" charset="-122"/>
                </a:rPr>
                <a:t>机器人轨迹规划基本概念</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729AECDD-F26F-4F1D-B870-8CBE141D39F5}"/>
              </a:ext>
            </a:extLst>
          </p:cNvPr>
          <p:cNvGrpSpPr/>
          <p:nvPr/>
        </p:nvGrpSpPr>
        <p:grpSpPr>
          <a:xfrm>
            <a:off x="2055836" y="3896888"/>
            <a:ext cx="7412937" cy="726162"/>
            <a:chOff x="2066719" y="4647054"/>
            <a:chExt cx="7412937" cy="726162"/>
          </a:xfrm>
        </p:grpSpPr>
        <p:sp>
          <p:nvSpPr>
            <p:cNvPr id="40" name="Line 22">
              <a:extLst>
                <a:ext uri="{FF2B5EF4-FFF2-40B4-BE49-F238E27FC236}">
                  <a16:creationId xmlns:a16="http://schemas.microsoft.com/office/drawing/2014/main" id="{9D33B777-B1AA-4BFA-8C40-2663C80DCC29}"/>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E60011C3-CEE3-4528-92A5-D2F177F728E8}"/>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3. </a:t>
              </a:r>
              <a:r>
                <a:rPr lang="zh-CN" altLang="en-US" sz="3200" i="0" dirty="0">
                  <a:solidFill>
                    <a:prstClr val="black"/>
                  </a:solidFill>
                  <a:latin typeface="微软雅黑" panose="020B0503020204020204" pitchFamily="34" charset="-122"/>
                  <a:ea typeface="微软雅黑" panose="020B0503020204020204" pitchFamily="34" charset="-122"/>
                </a:rPr>
                <a:t>基于分段函数的轨迹规划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8A345FA0-27E7-4515-B369-EBCC74839CE4}"/>
                </a:ext>
              </a:extLst>
            </p:cNvPr>
            <p:cNvGrpSpPr/>
            <p:nvPr/>
          </p:nvGrpSpPr>
          <p:grpSpPr>
            <a:xfrm>
              <a:off x="2066719" y="4723745"/>
              <a:ext cx="576000" cy="576000"/>
              <a:chOff x="7982080" y="5312514"/>
              <a:chExt cx="504000" cy="504000"/>
            </a:xfrm>
          </p:grpSpPr>
          <p:sp>
            <p:nvSpPr>
              <p:cNvPr id="47" name="椭圆 46">
                <a:extLst>
                  <a:ext uri="{FF2B5EF4-FFF2-40B4-BE49-F238E27FC236}">
                    <a16:creationId xmlns:a16="http://schemas.microsoft.com/office/drawing/2014/main" id="{1AF08BF9-84EA-4D30-83A1-78448270B671}"/>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48" name="Freeform 96">
                <a:extLst>
                  <a:ext uri="{FF2B5EF4-FFF2-40B4-BE49-F238E27FC236}">
                    <a16:creationId xmlns:a16="http://schemas.microsoft.com/office/drawing/2014/main" id="{E8857E8D-BCBE-435A-B6BE-3686AAB6B301}"/>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grpSp>
        <p:nvGrpSpPr>
          <p:cNvPr id="49" name="组合 48">
            <a:extLst>
              <a:ext uri="{FF2B5EF4-FFF2-40B4-BE49-F238E27FC236}">
                <a16:creationId xmlns:a16="http://schemas.microsoft.com/office/drawing/2014/main" id="{DF9B30C7-9851-47E2-A99C-276673B06327}"/>
              </a:ext>
            </a:extLst>
          </p:cNvPr>
          <p:cNvGrpSpPr/>
          <p:nvPr/>
        </p:nvGrpSpPr>
        <p:grpSpPr>
          <a:xfrm>
            <a:off x="2055836" y="5103223"/>
            <a:ext cx="7412937" cy="726162"/>
            <a:chOff x="2066719" y="4647054"/>
            <a:chExt cx="7412937" cy="726162"/>
          </a:xfrm>
        </p:grpSpPr>
        <p:sp>
          <p:nvSpPr>
            <p:cNvPr id="50" name="Line 22">
              <a:extLst>
                <a:ext uri="{FF2B5EF4-FFF2-40B4-BE49-F238E27FC236}">
                  <a16:creationId xmlns:a16="http://schemas.microsoft.com/office/drawing/2014/main" id="{60D24324-A2E2-440E-88A8-CAF12949970C}"/>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53" name="AutoShape 26">
              <a:extLst>
                <a:ext uri="{FF2B5EF4-FFF2-40B4-BE49-F238E27FC236}">
                  <a16:creationId xmlns:a16="http://schemas.microsoft.com/office/drawing/2014/main" id="{F7419E05-6F60-4885-9F5F-7AFE62268719}"/>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4. </a:t>
              </a:r>
              <a:r>
                <a:rPr lang="zh-CN" altLang="en-US" sz="3200" kern="0" dirty="0">
                  <a:solidFill>
                    <a:prstClr val="black"/>
                  </a:solidFill>
                  <a:latin typeface="微软雅黑" panose="020B0503020204020204" pitchFamily="34" charset="-122"/>
                  <a:ea typeface="微软雅黑" panose="020B0503020204020204" pitchFamily="34" charset="-122"/>
                </a:rPr>
                <a:t>多中间点</a:t>
              </a:r>
              <a:r>
                <a:rPr lang="zh-CN" altLang="en-US" sz="3200" i="0" dirty="0">
                  <a:solidFill>
                    <a:prstClr val="black"/>
                  </a:solidFill>
                  <a:latin typeface="微软雅黑" panose="020B0503020204020204" pitchFamily="34" charset="-122"/>
                  <a:ea typeface="微软雅黑" panose="020B0503020204020204" pitchFamily="34" charset="-122"/>
                </a:rPr>
                <a:t>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54" name="组合 53">
              <a:extLst>
                <a:ext uri="{FF2B5EF4-FFF2-40B4-BE49-F238E27FC236}">
                  <a16:creationId xmlns:a16="http://schemas.microsoft.com/office/drawing/2014/main" id="{E5F2C38F-FF4C-4DEB-8BBC-3F8DBF10E4A3}"/>
                </a:ext>
              </a:extLst>
            </p:cNvPr>
            <p:cNvGrpSpPr/>
            <p:nvPr/>
          </p:nvGrpSpPr>
          <p:grpSpPr>
            <a:xfrm>
              <a:off x="2066719" y="4723745"/>
              <a:ext cx="576000" cy="576000"/>
              <a:chOff x="7982080" y="5312514"/>
              <a:chExt cx="504000" cy="504000"/>
            </a:xfrm>
          </p:grpSpPr>
          <p:sp>
            <p:nvSpPr>
              <p:cNvPr id="55" name="椭圆 54">
                <a:extLst>
                  <a:ext uri="{FF2B5EF4-FFF2-40B4-BE49-F238E27FC236}">
                    <a16:creationId xmlns:a16="http://schemas.microsoft.com/office/drawing/2014/main" id="{C46852E6-82FE-4773-9506-6B1ABCA803C9}"/>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56" name="Freeform 96">
                <a:extLst>
                  <a:ext uri="{FF2B5EF4-FFF2-40B4-BE49-F238E27FC236}">
                    <a16:creationId xmlns:a16="http://schemas.microsoft.com/office/drawing/2014/main" id="{7F5B9519-4E41-45CF-9E73-771AD4993755}"/>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
        <p:nvSpPr>
          <p:cNvPr id="45" name="椭圆 44">
            <a:extLst>
              <a:ext uri="{FF2B5EF4-FFF2-40B4-BE49-F238E27FC236}">
                <a16:creationId xmlns:a16="http://schemas.microsoft.com/office/drawing/2014/main" id="{C93D7D13-5417-45DE-9D19-EAB4B82FB7A3}"/>
              </a:ext>
            </a:extLst>
          </p:cNvPr>
          <p:cNvSpPr/>
          <p:nvPr/>
        </p:nvSpPr>
        <p:spPr>
          <a:xfrm>
            <a:off x="2072050" y="2791073"/>
            <a:ext cx="576000" cy="576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46" name="Freeform 105">
            <a:extLst>
              <a:ext uri="{FF2B5EF4-FFF2-40B4-BE49-F238E27FC236}">
                <a16:creationId xmlns:a16="http://schemas.microsoft.com/office/drawing/2014/main" id="{61BF85B1-CBBB-4E6A-B5A7-AB205CCD68E7}"/>
              </a:ext>
            </a:extLst>
          </p:cNvPr>
          <p:cNvSpPr>
            <a:spLocks noChangeAspect="1" noEditPoints="1"/>
          </p:cNvSpPr>
          <p:nvPr/>
        </p:nvSpPr>
        <p:spPr bwMode="auto">
          <a:xfrm>
            <a:off x="2174907" y="2914095"/>
            <a:ext cx="370286" cy="329958"/>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99385367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9" name="Picture 47" descr="https://p8.itc.cn/q_70/images03/20201010/a328b5793ae44f3e99912a21a40975b2.gif">
            <a:extLst>
              <a:ext uri="{FF2B5EF4-FFF2-40B4-BE49-F238E27FC236}">
                <a16:creationId xmlns:a16="http://schemas.microsoft.com/office/drawing/2014/main" id="{EF82184B-BF97-4CE3-9491-47F5F63EAE71}"/>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67572" y="756901"/>
            <a:ext cx="4524427" cy="229237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E701FAE7-1BC1-4A5B-A30E-0A4A7B324179}"/>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8</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DC08F16E-C4A8-4862-BA9D-23C0F6BC83D1}"/>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1C82F39-30D2-4A34-B232-5876C6D49F54}"/>
              </a:ext>
            </a:extLst>
          </p:cNvPr>
          <p:cNvSpPr txBox="1"/>
          <p:nvPr/>
        </p:nvSpPr>
        <p:spPr>
          <a:xfrm>
            <a:off x="381071" y="844788"/>
            <a:ext cx="8192657" cy="973472"/>
          </a:xfrm>
          <a:prstGeom prst="rect">
            <a:avLst/>
          </a:prstGeom>
          <a:noFill/>
        </p:spPr>
        <p:txBody>
          <a:bodyPr wrap="square" rtlCol="0">
            <a:spAutoFit/>
          </a:bodyPr>
          <a:lstStyle/>
          <a:p>
            <a:pPr marL="342900" indent="-342900">
              <a:lnSpc>
                <a:spcPct val="125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针对</a:t>
            </a:r>
            <a:r>
              <a:rPr lang="en-US" altLang="zh-CN" sz="2400" b="1" dirty="0">
                <a:latin typeface="微软雅黑" panose="020B0503020204020204" pitchFamily="34" charset="-122"/>
                <a:ea typeface="微软雅黑" panose="020B0503020204020204" pitchFamily="34" charset="-122"/>
              </a:rPr>
              <a:t>PTP</a:t>
            </a:r>
            <a:r>
              <a:rPr lang="zh-CN" altLang="en-US" sz="2400" b="1" dirty="0">
                <a:latin typeface="微软雅黑" panose="020B0503020204020204" pitchFamily="34" charset="-122"/>
                <a:ea typeface="微软雅黑" panose="020B0503020204020204" pitchFamily="34" charset="-122"/>
              </a:rPr>
              <a:t>规划：</a:t>
            </a:r>
            <a:r>
              <a:rPr lang="zh-CN" altLang="en-US" sz="2400" b="1" dirty="0">
                <a:solidFill>
                  <a:srgbClr val="FF0000"/>
                </a:solidFill>
                <a:latin typeface="微软雅黑" panose="020B0503020204020204" pitchFamily="34" charset="-122"/>
                <a:ea typeface="微软雅黑" panose="020B0503020204020204" pitchFamily="34" charset="-122"/>
              </a:rPr>
              <a:t>在笛卡尔空间</a:t>
            </a:r>
            <a:r>
              <a:rPr lang="zh-CN" altLang="en-US" sz="2400" b="1" dirty="0">
                <a:latin typeface="微软雅黑" panose="020B0503020204020204" pitchFamily="34" charset="-122"/>
                <a:ea typeface="微软雅黑" panose="020B0503020204020204" pitchFamily="34" charset="-122"/>
              </a:rPr>
              <a:t>机械臂从起点到终点</a:t>
            </a:r>
            <a:r>
              <a:rPr lang="zh-CN" altLang="en-US" sz="2400" b="1" i="0" dirty="0">
                <a:latin typeface="微软雅黑" panose="020B0503020204020204" pitchFamily="34" charset="-122"/>
                <a:ea typeface="微软雅黑" panose="020B0503020204020204" pitchFamily="34" charset="-122"/>
              </a:rPr>
              <a:t>之间作业，不约束中间轨迹；那么至少</a:t>
            </a:r>
            <a:r>
              <a:rPr lang="zh-CN" altLang="en-US" sz="2400" b="1" dirty="0">
                <a:latin typeface="微软雅黑" panose="020B0503020204020204" pitchFamily="34" charset="-122"/>
                <a:ea typeface="微软雅黑" panose="020B0503020204020204" pitchFamily="34" charset="-122"/>
              </a:rPr>
              <a:t>要满足</a:t>
            </a:r>
            <a:r>
              <a:rPr lang="zh-CN" altLang="en-US" sz="2400" b="1" i="0" dirty="0">
                <a:latin typeface="微软雅黑" panose="020B0503020204020204" pitchFamily="34" charset="-122"/>
                <a:ea typeface="微软雅黑" panose="020B0503020204020204" pitchFamily="34" charset="-122"/>
              </a:rPr>
              <a:t>四个约束条件</a:t>
            </a:r>
            <a:r>
              <a:rPr lang="zh-CN" altLang="en-US" sz="2400" b="1" dirty="0">
                <a:latin typeface="微软雅黑" panose="020B0503020204020204" pitchFamily="34" charset="-122"/>
                <a:ea typeface="微软雅黑" panose="020B0503020204020204" pitchFamily="34" charset="-122"/>
              </a:rPr>
              <a:t>：</a:t>
            </a:r>
            <a:endParaRPr lang="en-US" altLang="zh-CN" sz="2400" b="1" i="0" dirty="0">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119E654D-B6DB-44A8-8820-FA281329F158}"/>
              </a:ext>
            </a:extLst>
          </p:cNvPr>
          <p:cNvGraphicFramePr>
            <a:graphicFrameLocks noChangeAspect="1"/>
          </p:cNvGraphicFramePr>
          <p:nvPr>
            <p:extLst>
              <p:ext uri="{D42A27DB-BD31-4B8C-83A1-F6EECF244321}">
                <p14:modId xmlns:p14="http://schemas.microsoft.com/office/powerpoint/2010/main" val="4002157999"/>
              </p:ext>
            </p:extLst>
          </p:nvPr>
        </p:nvGraphicFramePr>
        <p:xfrm>
          <a:off x="3269330" y="1994319"/>
          <a:ext cx="1716087" cy="465137"/>
        </p:xfrm>
        <a:graphic>
          <a:graphicData uri="http://schemas.openxmlformats.org/presentationml/2006/ole">
            <mc:AlternateContent xmlns:mc="http://schemas.openxmlformats.org/markup-compatibility/2006">
              <mc:Choice xmlns:v="urn:schemas-microsoft-com:vml" Requires="v">
                <p:oleObj name="Equation" r:id="rId3" imgW="774360" imgH="228600" progId="Equation.DSMT4">
                  <p:embed/>
                </p:oleObj>
              </mc:Choice>
              <mc:Fallback>
                <p:oleObj name="Equation" r:id="rId3" imgW="774360" imgH="228600" progId="Equation.DSMT4">
                  <p:embed/>
                  <p:pic>
                    <p:nvPicPr>
                      <p:cNvPr id="7" name="对象 6">
                        <a:extLst>
                          <a:ext uri="{FF2B5EF4-FFF2-40B4-BE49-F238E27FC236}">
                            <a16:creationId xmlns:a16="http://schemas.microsoft.com/office/drawing/2014/main" id="{0DB44F10-9097-459D-A73F-FBF54A3385C0}"/>
                          </a:ext>
                        </a:extLst>
                      </p:cNvPr>
                      <p:cNvPicPr>
                        <a:picLocks noChangeAspect="1" noChangeArrowheads="1"/>
                      </p:cNvPicPr>
                      <p:nvPr/>
                    </p:nvPicPr>
                    <p:blipFill>
                      <a:blip r:embed="rId4"/>
                      <a:srcRect/>
                      <a:stretch>
                        <a:fillRect/>
                      </a:stretch>
                    </p:blipFill>
                    <p:spPr bwMode="auto">
                      <a:xfrm>
                        <a:off x="3269330" y="1994319"/>
                        <a:ext cx="1716087" cy="465137"/>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056079B8-40A8-4AEF-B291-A63336CA7E16}"/>
              </a:ext>
            </a:extLst>
          </p:cNvPr>
          <p:cNvGraphicFramePr>
            <a:graphicFrameLocks noChangeAspect="1"/>
          </p:cNvGraphicFramePr>
          <p:nvPr>
            <p:extLst>
              <p:ext uri="{D42A27DB-BD31-4B8C-83A1-F6EECF244321}">
                <p14:modId xmlns:p14="http://schemas.microsoft.com/office/powerpoint/2010/main" val="1655669617"/>
              </p:ext>
            </p:extLst>
          </p:nvPr>
        </p:nvGraphicFramePr>
        <p:xfrm>
          <a:off x="5060737" y="1994319"/>
          <a:ext cx="1743075" cy="517525"/>
        </p:xfrm>
        <a:graphic>
          <a:graphicData uri="http://schemas.openxmlformats.org/presentationml/2006/ole">
            <mc:AlternateContent xmlns:mc="http://schemas.openxmlformats.org/markup-compatibility/2006">
              <mc:Choice xmlns:v="urn:schemas-microsoft-com:vml" Requires="v">
                <p:oleObj name="Equation" r:id="rId5" imgW="787320" imgH="253800" progId="Equation.DSMT4">
                  <p:embed/>
                </p:oleObj>
              </mc:Choice>
              <mc:Fallback>
                <p:oleObj name="Equation" r:id="rId5" imgW="787320" imgH="253800" progId="Equation.DSMT4">
                  <p:embed/>
                  <p:pic>
                    <p:nvPicPr>
                      <p:cNvPr id="9" name="对象 8">
                        <a:extLst>
                          <a:ext uri="{FF2B5EF4-FFF2-40B4-BE49-F238E27FC236}">
                            <a16:creationId xmlns:a16="http://schemas.microsoft.com/office/drawing/2014/main" id="{119E654D-B6DB-44A8-8820-FA281329F158}"/>
                          </a:ext>
                        </a:extLst>
                      </p:cNvPr>
                      <p:cNvPicPr>
                        <a:picLocks noChangeAspect="1" noChangeArrowheads="1"/>
                      </p:cNvPicPr>
                      <p:nvPr/>
                    </p:nvPicPr>
                    <p:blipFill>
                      <a:blip r:embed="rId6"/>
                      <a:srcRect/>
                      <a:stretch>
                        <a:fillRect/>
                      </a:stretch>
                    </p:blipFill>
                    <p:spPr bwMode="auto">
                      <a:xfrm>
                        <a:off x="5060737" y="1994319"/>
                        <a:ext cx="1743075" cy="517525"/>
                      </a:xfrm>
                      <a:prstGeom prst="rect">
                        <a:avLst/>
                      </a:prstGeom>
                      <a:noFill/>
                    </p:spPr>
                  </p:pic>
                </p:oleObj>
              </mc:Fallback>
            </mc:AlternateContent>
          </a:graphicData>
        </a:graphic>
      </p:graphicFrame>
      <p:sp>
        <p:nvSpPr>
          <p:cNvPr id="8" name="文本框 7">
            <a:extLst>
              <a:ext uri="{FF2B5EF4-FFF2-40B4-BE49-F238E27FC236}">
                <a16:creationId xmlns:a16="http://schemas.microsoft.com/office/drawing/2014/main" id="{B6FF7AAD-9C35-478F-B5C6-31EEBF086C64}"/>
              </a:ext>
            </a:extLst>
          </p:cNvPr>
          <p:cNvSpPr txBox="1"/>
          <p:nvPr/>
        </p:nvSpPr>
        <p:spPr>
          <a:xfrm>
            <a:off x="768097" y="1994319"/>
            <a:ext cx="2492990"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起点、终点位置约束</a:t>
            </a:r>
          </a:p>
        </p:txBody>
      </p:sp>
      <p:sp>
        <p:nvSpPr>
          <p:cNvPr id="12" name="文本框 11">
            <a:extLst>
              <a:ext uri="{FF2B5EF4-FFF2-40B4-BE49-F238E27FC236}">
                <a16:creationId xmlns:a16="http://schemas.microsoft.com/office/drawing/2014/main" id="{7C557464-B7EF-4678-8AB0-0ED01F5AC79E}"/>
              </a:ext>
            </a:extLst>
          </p:cNvPr>
          <p:cNvSpPr txBox="1"/>
          <p:nvPr/>
        </p:nvSpPr>
        <p:spPr>
          <a:xfrm>
            <a:off x="768097" y="2529562"/>
            <a:ext cx="2492990"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起点、终点速度约束</a:t>
            </a:r>
          </a:p>
        </p:txBody>
      </p:sp>
      <p:graphicFrame>
        <p:nvGraphicFramePr>
          <p:cNvPr id="13" name="对象 12">
            <a:extLst>
              <a:ext uri="{FF2B5EF4-FFF2-40B4-BE49-F238E27FC236}">
                <a16:creationId xmlns:a16="http://schemas.microsoft.com/office/drawing/2014/main" id="{F1A91A04-B6F4-4544-8F73-A48E01599F9B}"/>
              </a:ext>
            </a:extLst>
          </p:cNvPr>
          <p:cNvGraphicFramePr>
            <a:graphicFrameLocks noChangeAspect="1"/>
          </p:cNvGraphicFramePr>
          <p:nvPr>
            <p:extLst>
              <p:ext uri="{D42A27DB-BD31-4B8C-83A1-F6EECF244321}">
                <p14:modId xmlns:p14="http://schemas.microsoft.com/office/powerpoint/2010/main" val="2298909843"/>
              </p:ext>
            </p:extLst>
          </p:nvPr>
        </p:nvGraphicFramePr>
        <p:xfrm>
          <a:off x="3389313" y="2498725"/>
          <a:ext cx="1462087" cy="490538"/>
        </p:xfrm>
        <a:graphic>
          <a:graphicData uri="http://schemas.openxmlformats.org/presentationml/2006/ole">
            <mc:AlternateContent xmlns:mc="http://schemas.openxmlformats.org/markup-compatibility/2006">
              <mc:Choice xmlns:v="urn:schemas-microsoft-com:vml" Requires="v">
                <p:oleObj name="Equation" r:id="rId7" imgW="660240" imgH="241200" progId="Equation.DSMT4">
                  <p:embed/>
                </p:oleObj>
              </mc:Choice>
              <mc:Fallback>
                <p:oleObj name="Equation" r:id="rId7" imgW="660240" imgH="241200" progId="Equation.DSMT4">
                  <p:embed/>
                  <p:pic>
                    <p:nvPicPr>
                      <p:cNvPr id="9" name="对象 8">
                        <a:extLst>
                          <a:ext uri="{FF2B5EF4-FFF2-40B4-BE49-F238E27FC236}">
                            <a16:creationId xmlns:a16="http://schemas.microsoft.com/office/drawing/2014/main" id="{119E654D-B6DB-44A8-8820-FA281329F158}"/>
                          </a:ext>
                        </a:extLst>
                      </p:cNvPr>
                      <p:cNvPicPr>
                        <a:picLocks noChangeAspect="1" noChangeArrowheads="1"/>
                      </p:cNvPicPr>
                      <p:nvPr/>
                    </p:nvPicPr>
                    <p:blipFill>
                      <a:blip r:embed="rId8"/>
                      <a:srcRect/>
                      <a:stretch>
                        <a:fillRect/>
                      </a:stretch>
                    </p:blipFill>
                    <p:spPr bwMode="auto">
                      <a:xfrm>
                        <a:off x="3389313" y="2498725"/>
                        <a:ext cx="1462087" cy="490538"/>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7DD9FBC3-121B-41B1-A1C4-B7F7C2451CD3}"/>
              </a:ext>
            </a:extLst>
          </p:cNvPr>
          <p:cNvGraphicFramePr>
            <a:graphicFrameLocks noChangeAspect="1"/>
          </p:cNvGraphicFramePr>
          <p:nvPr>
            <p:extLst>
              <p:ext uri="{D42A27DB-BD31-4B8C-83A1-F6EECF244321}">
                <p14:modId xmlns:p14="http://schemas.microsoft.com/office/powerpoint/2010/main" val="212339447"/>
              </p:ext>
            </p:extLst>
          </p:nvPr>
        </p:nvGraphicFramePr>
        <p:xfrm>
          <a:off x="5208588" y="2498725"/>
          <a:ext cx="1433512" cy="542925"/>
        </p:xfrm>
        <a:graphic>
          <a:graphicData uri="http://schemas.openxmlformats.org/presentationml/2006/ole">
            <mc:AlternateContent xmlns:mc="http://schemas.openxmlformats.org/markup-compatibility/2006">
              <mc:Choice xmlns:v="urn:schemas-microsoft-com:vml" Requires="v">
                <p:oleObj name="Equation" r:id="rId9" imgW="647640" imgH="266400" progId="Equation.DSMT4">
                  <p:embed/>
                </p:oleObj>
              </mc:Choice>
              <mc:Fallback>
                <p:oleObj name="Equation" r:id="rId9" imgW="647640" imgH="266400" progId="Equation.DSMT4">
                  <p:embed/>
                  <p:pic>
                    <p:nvPicPr>
                      <p:cNvPr id="10" name="对象 9">
                        <a:extLst>
                          <a:ext uri="{FF2B5EF4-FFF2-40B4-BE49-F238E27FC236}">
                            <a16:creationId xmlns:a16="http://schemas.microsoft.com/office/drawing/2014/main" id="{056079B8-40A8-4AEF-B291-A63336CA7E16}"/>
                          </a:ext>
                        </a:extLst>
                      </p:cNvPr>
                      <p:cNvPicPr>
                        <a:picLocks noChangeAspect="1" noChangeArrowheads="1"/>
                      </p:cNvPicPr>
                      <p:nvPr/>
                    </p:nvPicPr>
                    <p:blipFill>
                      <a:blip r:embed="rId10"/>
                      <a:srcRect/>
                      <a:stretch>
                        <a:fillRect/>
                      </a:stretch>
                    </p:blipFill>
                    <p:spPr bwMode="auto">
                      <a:xfrm>
                        <a:off x="5208588" y="2498725"/>
                        <a:ext cx="1433512" cy="542925"/>
                      </a:xfrm>
                      <a:prstGeom prst="rect">
                        <a:avLst/>
                      </a:prstGeom>
                      <a:noFill/>
                    </p:spPr>
                  </p:pic>
                </p:oleObj>
              </mc:Fallback>
            </mc:AlternateContent>
          </a:graphicData>
        </a:graphic>
      </p:graphicFrame>
      <p:sp>
        <p:nvSpPr>
          <p:cNvPr id="15" name="文本框 14">
            <a:extLst>
              <a:ext uri="{FF2B5EF4-FFF2-40B4-BE49-F238E27FC236}">
                <a16:creationId xmlns:a16="http://schemas.microsoft.com/office/drawing/2014/main" id="{303E4068-292A-48C4-9EB7-2FEE03101B7F}"/>
              </a:ext>
            </a:extLst>
          </p:cNvPr>
          <p:cNvSpPr txBox="1"/>
          <p:nvPr/>
        </p:nvSpPr>
        <p:spPr>
          <a:xfrm>
            <a:off x="381071" y="3159423"/>
            <a:ext cx="10857199" cy="511807"/>
          </a:xfrm>
          <a:prstGeom prst="rect">
            <a:avLst/>
          </a:prstGeom>
          <a:noFill/>
        </p:spPr>
        <p:txBody>
          <a:bodyPr wrap="square" rtlCol="0">
            <a:spAutoFit/>
          </a:bodyPr>
          <a:lstStyle/>
          <a:p>
            <a:pPr marL="342900" indent="-342900">
              <a:lnSpc>
                <a:spcPct val="125000"/>
              </a:lnSpc>
              <a:buFont typeface="Wingdings" panose="05000000000000000000" pitchFamily="2" charset="2"/>
              <a:buChar char="n"/>
            </a:pPr>
            <a:r>
              <a:rPr lang="zh-CN" altLang="en-US" sz="2400" b="1" dirty="0">
                <a:solidFill>
                  <a:srgbClr val="FF0000"/>
                </a:solidFill>
                <a:latin typeface="微软雅黑" panose="020B0503020204020204" pitchFamily="34" charset="-122"/>
                <a:ea typeface="微软雅黑" panose="020B0503020204020204" pitchFamily="34" charset="-122"/>
              </a:rPr>
              <a:t>在关节空间</a:t>
            </a:r>
            <a:r>
              <a:rPr lang="zh-CN" altLang="en-US" sz="2400" b="1" dirty="0">
                <a:latin typeface="微软雅黑" panose="020B0503020204020204" pitchFamily="34" charset="-122"/>
                <a:ea typeface="微软雅黑" panose="020B0503020204020204" pitchFamily="34" charset="-122"/>
              </a:rPr>
              <a:t>，用机器人逆运动学方程，求解出与起点、终点对应的关节位置</a:t>
            </a:r>
            <a:endParaRPr lang="en-US" altLang="zh-CN" sz="2400" b="1" i="0" dirty="0">
              <a:latin typeface="微软雅黑" panose="020B0503020204020204" pitchFamily="34" charset="-122"/>
              <a:ea typeface="微软雅黑" panose="020B0503020204020204" pitchFamily="34" charset="-122"/>
            </a:endParaRPr>
          </a:p>
        </p:txBody>
      </p:sp>
      <p:graphicFrame>
        <p:nvGraphicFramePr>
          <p:cNvPr id="16" name="对象 15">
            <a:extLst>
              <a:ext uri="{FF2B5EF4-FFF2-40B4-BE49-F238E27FC236}">
                <a16:creationId xmlns:a16="http://schemas.microsoft.com/office/drawing/2014/main" id="{69E132E2-F947-4F62-8EF4-46FDF78E71FF}"/>
              </a:ext>
            </a:extLst>
          </p:cNvPr>
          <p:cNvGraphicFramePr>
            <a:graphicFrameLocks noChangeAspect="1"/>
          </p:cNvGraphicFramePr>
          <p:nvPr>
            <p:extLst>
              <p:ext uri="{D42A27DB-BD31-4B8C-83A1-F6EECF244321}">
                <p14:modId xmlns:p14="http://schemas.microsoft.com/office/powerpoint/2010/main" val="1299620597"/>
              </p:ext>
            </p:extLst>
          </p:nvPr>
        </p:nvGraphicFramePr>
        <p:xfrm>
          <a:off x="1393825" y="3789363"/>
          <a:ext cx="3516313" cy="542925"/>
        </p:xfrm>
        <a:graphic>
          <a:graphicData uri="http://schemas.openxmlformats.org/presentationml/2006/ole">
            <mc:AlternateContent xmlns:mc="http://schemas.openxmlformats.org/markup-compatibility/2006">
              <mc:Choice xmlns:v="urn:schemas-microsoft-com:vml" Requires="v">
                <p:oleObj name="Equation" r:id="rId11" imgW="1587240" imgH="266400" progId="Equation.DSMT4">
                  <p:embed/>
                </p:oleObj>
              </mc:Choice>
              <mc:Fallback>
                <p:oleObj name="Equation" r:id="rId11" imgW="1587240" imgH="266400" progId="Equation.DSMT4">
                  <p:embed/>
                  <p:pic>
                    <p:nvPicPr>
                      <p:cNvPr id="9" name="对象 8">
                        <a:extLst>
                          <a:ext uri="{FF2B5EF4-FFF2-40B4-BE49-F238E27FC236}">
                            <a16:creationId xmlns:a16="http://schemas.microsoft.com/office/drawing/2014/main" id="{119E654D-B6DB-44A8-8820-FA281329F158}"/>
                          </a:ext>
                        </a:extLst>
                      </p:cNvPr>
                      <p:cNvPicPr>
                        <a:picLocks noChangeAspect="1" noChangeArrowheads="1"/>
                      </p:cNvPicPr>
                      <p:nvPr/>
                    </p:nvPicPr>
                    <p:blipFill>
                      <a:blip r:embed="rId12"/>
                      <a:srcRect/>
                      <a:stretch>
                        <a:fillRect/>
                      </a:stretch>
                    </p:blipFill>
                    <p:spPr bwMode="auto">
                      <a:xfrm>
                        <a:off x="1393825" y="3789363"/>
                        <a:ext cx="3516313" cy="542925"/>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6D753FD0-CB21-49B6-A007-BE679EB0BFA9}"/>
              </a:ext>
            </a:extLst>
          </p:cNvPr>
          <p:cNvGraphicFramePr>
            <a:graphicFrameLocks noChangeAspect="1"/>
          </p:cNvGraphicFramePr>
          <p:nvPr>
            <p:extLst>
              <p:ext uri="{D42A27DB-BD31-4B8C-83A1-F6EECF244321}">
                <p14:modId xmlns:p14="http://schemas.microsoft.com/office/powerpoint/2010/main" val="1374901087"/>
              </p:ext>
            </p:extLst>
          </p:nvPr>
        </p:nvGraphicFramePr>
        <p:xfrm>
          <a:off x="1748658" y="4516769"/>
          <a:ext cx="2725737" cy="542925"/>
        </p:xfrm>
        <a:graphic>
          <a:graphicData uri="http://schemas.openxmlformats.org/presentationml/2006/ole">
            <mc:AlternateContent xmlns:mc="http://schemas.openxmlformats.org/markup-compatibility/2006">
              <mc:Choice xmlns:v="urn:schemas-microsoft-com:vml" Requires="v">
                <p:oleObj name="Equation" r:id="rId13" imgW="1231560" imgH="266400" progId="Equation.DSMT4">
                  <p:embed/>
                </p:oleObj>
              </mc:Choice>
              <mc:Fallback>
                <p:oleObj name="Equation" r:id="rId13" imgW="1231560" imgH="266400" progId="Equation.DSMT4">
                  <p:embed/>
                  <p:pic>
                    <p:nvPicPr>
                      <p:cNvPr id="16" name="对象 15">
                        <a:extLst>
                          <a:ext uri="{FF2B5EF4-FFF2-40B4-BE49-F238E27FC236}">
                            <a16:creationId xmlns:a16="http://schemas.microsoft.com/office/drawing/2014/main" id="{69E132E2-F947-4F62-8EF4-46FDF78E71FF}"/>
                          </a:ext>
                        </a:extLst>
                      </p:cNvPr>
                      <p:cNvPicPr>
                        <a:picLocks noChangeAspect="1" noChangeArrowheads="1"/>
                      </p:cNvPicPr>
                      <p:nvPr/>
                    </p:nvPicPr>
                    <p:blipFill>
                      <a:blip r:embed="rId14"/>
                      <a:srcRect/>
                      <a:stretch>
                        <a:fillRect/>
                      </a:stretch>
                    </p:blipFill>
                    <p:spPr bwMode="auto">
                      <a:xfrm>
                        <a:off x="1748658" y="4516769"/>
                        <a:ext cx="2725737" cy="542925"/>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48F6E4E6-C8CC-45B6-A5BD-DFC0A1AFD969}"/>
              </a:ext>
            </a:extLst>
          </p:cNvPr>
          <p:cNvGraphicFramePr>
            <a:graphicFrameLocks noChangeAspect="1"/>
          </p:cNvGraphicFramePr>
          <p:nvPr>
            <p:extLst>
              <p:ext uri="{D42A27DB-BD31-4B8C-83A1-F6EECF244321}">
                <p14:modId xmlns:p14="http://schemas.microsoft.com/office/powerpoint/2010/main" val="614327867"/>
              </p:ext>
            </p:extLst>
          </p:nvPr>
        </p:nvGraphicFramePr>
        <p:xfrm>
          <a:off x="5002213" y="3771900"/>
          <a:ext cx="3600450" cy="593725"/>
        </p:xfrm>
        <a:graphic>
          <a:graphicData uri="http://schemas.openxmlformats.org/presentationml/2006/ole">
            <mc:AlternateContent xmlns:mc="http://schemas.openxmlformats.org/markup-compatibility/2006">
              <mc:Choice xmlns:v="urn:schemas-microsoft-com:vml" Requires="v">
                <p:oleObj name="Equation" r:id="rId15" imgW="1625400" imgH="291960" progId="Equation.DSMT4">
                  <p:embed/>
                </p:oleObj>
              </mc:Choice>
              <mc:Fallback>
                <p:oleObj name="Equation" r:id="rId15" imgW="1625400" imgH="291960" progId="Equation.DSMT4">
                  <p:embed/>
                  <p:pic>
                    <p:nvPicPr>
                      <p:cNvPr id="16" name="对象 15">
                        <a:extLst>
                          <a:ext uri="{FF2B5EF4-FFF2-40B4-BE49-F238E27FC236}">
                            <a16:creationId xmlns:a16="http://schemas.microsoft.com/office/drawing/2014/main" id="{69E132E2-F947-4F62-8EF4-46FDF78E71FF}"/>
                          </a:ext>
                        </a:extLst>
                      </p:cNvPr>
                      <p:cNvPicPr>
                        <a:picLocks noChangeAspect="1" noChangeArrowheads="1"/>
                      </p:cNvPicPr>
                      <p:nvPr/>
                    </p:nvPicPr>
                    <p:blipFill>
                      <a:blip r:embed="rId16"/>
                      <a:srcRect/>
                      <a:stretch>
                        <a:fillRect/>
                      </a:stretch>
                    </p:blipFill>
                    <p:spPr bwMode="auto">
                      <a:xfrm>
                        <a:off x="5002213" y="3771900"/>
                        <a:ext cx="3600450" cy="593725"/>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0CFBE7EC-2988-4D45-9FCB-0578A45B4DBE}"/>
              </a:ext>
            </a:extLst>
          </p:cNvPr>
          <p:cNvGraphicFramePr>
            <a:graphicFrameLocks noChangeAspect="1"/>
          </p:cNvGraphicFramePr>
          <p:nvPr>
            <p:extLst>
              <p:ext uri="{D42A27DB-BD31-4B8C-83A1-F6EECF244321}">
                <p14:modId xmlns:p14="http://schemas.microsoft.com/office/powerpoint/2010/main" val="2354426919"/>
              </p:ext>
            </p:extLst>
          </p:nvPr>
        </p:nvGraphicFramePr>
        <p:xfrm>
          <a:off x="4967242" y="4514710"/>
          <a:ext cx="2813050" cy="595312"/>
        </p:xfrm>
        <a:graphic>
          <a:graphicData uri="http://schemas.openxmlformats.org/presentationml/2006/ole">
            <mc:AlternateContent xmlns:mc="http://schemas.openxmlformats.org/markup-compatibility/2006">
              <mc:Choice xmlns:v="urn:schemas-microsoft-com:vml" Requires="v">
                <p:oleObj name="Equation" r:id="rId17" imgW="1269720" imgH="291960" progId="Equation.DSMT4">
                  <p:embed/>
                </p:oleObj>
              </mc:Choice>
              <mc:Fallback>
                <p:oleObj name="Equation" r:id="rId17" imgW="1269720" imgH="291960" progId="Equation.DSMT4">
                  <p:embed/>
                  <p:pic>
                    <p:nvPicPr>
                      <p:cNvPr id="17" name="对象 16">
                        <a:extLst>
                          <a:ext uri="{FF2B5EF4-FFF2-40B4-BE49-F238E27FC236}">
                            <a16:creationId xmlns:a16="http://schemas.microsoft.com/office/drawing/2014/main" id="{6D753FD0-CB21-49B6-A007-BE679EB0BFA9}"/>
                          </a:ext>
                        </a:extLst>
                      </p:cNvPr>
                      <p:cNvPicPr>
                        <a:picLocks noChangeAspect="1" noChangeArrowheads="1"/>
                      </p:cNvPicPr>
                      <p:nvPr/>
                    </p:nvPicPr>
                    <p:blipFill>
                      <a:blip r:embed="rId18"/>
                      <a:srcRect/>
                      <a:stretch>
                        <a:fillRect/>
                      </a:stretch>
                    </p:blipFill>
                    <p:spPr bwMode="auto">
                      <a:xfrm>
                        <a:off x="4967242" y="4514710"/>
                        <a:ext cx="2813050" cy="595312"/>
                      </a:xfrm>
                      <a:prstGeom prst="rect">
                        <a:avLst/>
                      </a:prstGeom>
                      <a:noFill/>
                    </p:spPr>
                  </p:pic>
                </p:oleObj>
              </mc:Fallback>
            </mc:AlternateContent>
          </a:graphicData>
        </a:graphic>
      </p:graphicFrame>
      <p:sp>
        <p:nvSpPr>
          <p:cNvPr id="20" name="文本框 19">
            <a:extLst>
              <a:ext uri="{FF2B5EF4-FFF2-40B4-BE49-F238E27FC236}">
                <a16:creationId xmlns:a16="http://schemas.microsoft.com/office/drawing/2014/main" id="{C5B72472-5778-4771-8C45-04C85874414C}"/>
              </a:ext>
            </a:extLst>
          </p:cNvPr>
          <p:cNvSpPr txBox="1"/>
          <p:nvPr/>
        </p:nvSpPr>
        <p:spPr>
          <a:xfrm>
            <a:off x="381070" y="5161994"/>
            <a:ext cx="11810929" cy="973472"/>
          </a:xfrm>
          <a:prstGeom prst="rect">
            <a:avLst/>
          </a:prstGeom>
          <a:noFill/>
        </p:spPr>
        <p:txBody>
          <a:bodyPr wrap="square" rtlCol="0">
            <a:spAutoFit/>
          </a:bodyPr>
          <a:lstStyle/>
          <a:p>
            <a:pPr marL="342900" indent="-342900">
              <a:lnSpc>
                <a:spcPct val="125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在关节空间，</a:t>
            </a:r>
            <a:r>
              <a:rPr lang="en-US" altLang="zh-CN" sz="2400" b="1" dirty="0">
                <a:latin typeface="微软雅黑" panose="020B0503020204020204" pitchFamily="34" charset="-122"/>
                <a:ea typeface="微软雅黑" panose="020B0503020204020204" pitchFamily="34" charset="-122"/>
              </a:rPr>
              <a:t>PTP</a:t>
            </a:r>
            <a:r>
              <a:rPr lang="zh-CN" altLang="en-US" sz="2400" b="1" dirty="0">
                <a:latin typeface="微软雅黑" panose="020B0503020204020204" pitchFamily="34" charset="-122"/>
                <a:ea typeface="微软雅黑" panose="020B0503020204020204" pitchFamily="34" charset="-122"/>
              </a:rPr>
              <a:t>规划问题可以描述成：已知机械臂每个关节的起、终点位置和速度，求一条连续的轨迹（时间的函数），实现每个关节从起点到终点的运动，且满足</a:t>
            </a:r>
            <a:endParaRPr lang="en-US" altLang="zh-CN" sz="2400" b="1" i="0" dirty="0">
              <a:latin typeface="微软雅黑" panose="020B0503020204020204" pitchFamily="34" charset="-122"/>
              <a:ea typeface="微软雅黑" panose="020B0503020204020204" pitchFamily="34" charset="-122"/>
            </a:endParaRPr>
          </a:p>
        </p:txBody>
      </p:sp>
      <p:graphicFrame>
        <p:nvGraphicFramePr>
          <p:cNvPr id="21" name="对象 20">
            <a:extLst>
              <a:ext uri="{FF2B5EF4-FFF2-40B4-BE49-F238E27FC236}">
                <a16:creationId xmlns:a16="http://schemas.microsoft.com/office/drawing/2014/main" id="{08A16CB4-6DA1-4158-A423-9EA6736D5DA3}"/>
              </a:ext>
            </a:extLst>
          </p:cNvPr>
          <p:cNvGraphicFramePr>
            <a:graphicFrameLocks noChangeAspect="1"/>
          </p:cNvGraphicFramePr>
          <p:nvPr>
            <p:extLst>
              <p:ext uri="{D42A27DB-BD31-4B8C-83A1-F6EECF244321}">
                <p14:modId xmlns:p14="http://schemas.microsoft.com/office/powerpoint/2010/main" val="1762509110"/>
              </p:ext>
            </p:extLst>
          </p:nvPr>
        </p:nvGraphicFramePr>
        <p:xfrm>
          <a:off x="2020888" y="6245225"/>
          <a:ext cx="6159500" cy="517525"/>
        </p:xfrm>
        <a:graphic>
          <a:graphicData uri="http://schemas.openxmlformats.org/presentationml/2006/ole">
            <mc:AlternateContent xmlns:mc="http://schemas.openxmlformats.org/markup-compatibility/2006">
              <mc:Choice xmlns:v="urn:schemas-microsoft-com:vml" Requires="v">
                <p:oleObj name="Equation" r:id="rId19" imgW="2781000" imgH="253800" progId="Equation.DSMT4">
                  <p:embed/>
                </p:oleObj>
              </mc:Choice>
              <mc:Fallback>
                <p:oleObj name="Equation" r:id="rId19" imgW="2781000" imgH="253800" progId="Equation.DSMT4">
                  <p:embed/>
                  <p:pic>
                    <p:nvPicPr>
                      <p:cNvPr id="9" name="对象 8">
                        <a:extLst>
                          <a:ext uri="{FF2B5EF4-FFF2-40B4-BE49-F238E27FC236}">
                            <a16:creationId xmlns:a16="http://schemas.microsoft.com/office/drawing/2014/main" id="{119E654D-B6DB-44A8-8820-FA281329F158}"/>
                          </a:ext>
                        </a:extLst>
                      </p:cNvPr>
                      <p:cNvPicPr>
                        <a:picLocks noChangeAspect="1" noChangeArrowheads="1"/>
                      </p:cNvPicPr>
                      <p:nvPr/>
                    </p:nvPicPr>
                    <p:blipFill>
                      <a:blip r:embed="rId20"/>
                      <a:srcRect/>
                      <a:stretch>
                        <a:fillRect/>
                      </a:stretch>
                    </p:blipFill>
                    <p:spPr bwMode="auto">
                      <a:xfrm>
                        <a:off x="2020888" y="6245225"/>
                        <a:ext cx="6159500" cy="517525"/>
                      </a:xfrm>
                      <a:prstGeom prst="rect">
                        <a:avLst/>
                      </a:prstGeom>
                      <a:noFill/>
                    </p:spPr>
                  </p:pic>
                </p:oleObj>
              </mc:Fallback>
            </mc:AlternateContent>
          </a:graphicData>
        </a:graphic>
      </p:graphicFrame>
    </p:spTree>
    <p:extLst>
      <p:ext uri="{BB962C8B-B14F-4D97-AF65-F5344CB8AC3E}">
        <p14:creationId xmlns:p14="http://schemas.microsoft.com/office/powerpoint/2010/main" val="310811449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anim calcmode="lin" valueType="num">
                                      <p:cBhvr additive="base">
                                        <p:cTn id="35"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0">
                                            <p:txEl>
                                              <p:pRg st="0" end="0"/>
                                            </p:txEl>
                                          </p:spTgt>
                                        </p:tgtEl>
                                        <p:attrNameLst>
                                          <p:attrName>style.visibility</p:attrName>
                                        </p:attrNameLst>
                                      </p:cBhvr>
                                      <p:to>
                                        <p:strVal val="visible"/>
                                      </p:to>
                                    </p:set>
                                    <p:anim calcmode="lin" valueType="num">
                                      <p:cBhvr additive="base">
                                        <p:cTn id="57"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par>
                          <p:cTn id="59" fill="hold">
                            <p:stCondLst>
                              <p:cond delay="500"/>
                            </p:stCondLst>
                            <p:childTnLst>
                              <p:par>
                                <p:cTn id="60" presetID="2" presetClass="entr" presetSubtype="4" fill="hold" nodeType="after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ppt_x"/>
                                          </p:val>
                                        </p:tav>
                                        <p:tav tm="100000">
                                          <p:val>
                                            <p:strVal val="#ppt_x"/>
                                          </p:val>
                                        </p:tav>
                                      </p:tavLst>
                                    </p:anim>
                                    <p:anim calcmode="lin" valueType="num">
                                      <p:cBhvr additive="base">
                                        <p:cTn id="6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66C71B4-45B6-4C96-BB3F-F3FD34D2810B}"/>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9</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EB22FF2-C3F8-44D6-AB6A-77E259B4B3B5}"/>
                  </a:ext>
                </a:extLst>
              </p:cNvPr>
              <p:cNvSpPr txBox="1"/>
              <p:nvPr/>
            </p:nvSpPr>
            <p:spPr>
              <a:xfrm>
                <a:off x="276933" y="900168"/>
                <a:ext cx="11833134" cy="1029897"/>
              </a:xfrm>
              <a:prstGeom prst="rect">
                <a:avLst/>
              </a:prstGeom>
              <a:noFill/>
            </p:spPr>
            <p:txBody>
              <a:bodyPr wrap="square" rtlCol="0">
                <a:spAutoFit/>
              </a:bodyPr>
              <a:lstStyle/>
              <a:p>
                <a:pPr marL="342900" indent="-342900">
                  <a:lnSpc>
                    <a:spcPct val="120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问题描述：针对</a:t>
                </a:r>
                <a:r>
                  <a:rPr lang="zh-CN" altLang="en-US" sz="2400" b="1" dirty="0">
                    <a:latin typeface="微软雅黑" panose="020B0503020204020204" pitchFamily="34" charset="-122"/>
                    <a:ea typeface="微软雅黑" panose="020B0503020204020204" pitchFamily="34" charset="-122"/>
                  </a:rPr>
                  <a:t>一个</a:t>
                </a:r>
                <a:r>
                  <a:rPr lang="zh-CN" altLang="en-US" sz="2400" b="1" i="0" dirty="0">
                    <a:latin typeface="微软雅黑" panose="020B0503020204020204" pitchFamily="34" charset="-122"/>
                    <a:ea typeface="微软雅黑" panose="020B0503020204020204" pitchFamily="34" charset="-122"/>
                  </a:rPr>
                  <a:t>关节，给定一组机器人初始状态 </a:t>
                </a:r>
                <a14:m>
                  <m:oMath xmlns:m="http://schemas.openxmlformats.org/officeDocument/2006/math">
                    <m:d>
                      <m:dPr>
                        <m:begChr m:val="{"/>
                        <m:endChr m:val="}"/>
                        <m:ctrlPr>
                          <a:rPr lang="zh-CN" altLang="en-US" sz="2400" b="1" i="1">
                            <a:latin typeface="Cambria Math" panose="02040503050406030204" pitchFamily="18" charset="0"/>
                          </a:rPr>
                        </m:ctrlPr>
                      </m:dP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𝒒</m:t>
                            </m:r>
                          </m:e>
                          <m:sub>
                            <m:r>
                              <a:rPr lang="zh-CN" altLang="en-US" sz="2400" b="1" i="1">
                                <a:latin typeface="Cambria Math" panose="02040503050406030204" pitchFamily="18" charset="0"/>
                              </a:rPr>
                              <m:t>𝟎</m:t>
                            </m:r>
                          </m:sub>
                        </m:sSub>
                        <m:r>
                          <a:rPr lang="en-US" altLang="zh-CN" sz="2400" b="1" i="1">
                            <a:latin typeface="Cambria Math" panose="02040503050406030204" pitchFamily="18" charset="0"/>
                          </a:rPr>
                          <m:t>,</m:t>
                        </m:r>
                        <m:r>
                          <a:rPr lang="en-US" altLang="zh-CN" sz="2400" b="1" i="1" smtClean="0">
                            <a:latin typeface="Cambria Math" panose="02040503050406030204" pitchFamily="18" charset="0"/>
                          </a:rPr>
                          <m:t>  </m:t>
                        </m:r>
                        <m:sSub>
                          <m:sSubPr>
                            <m:ctrlPr>
                              <a:rPr lang="zh-CN" altLang="en-US" sz="2400" b="1" i="1">
                                <a:latin typeface="Cambria Math" panose="02040503050406030204" pitchFamily="18" charset="0"/>
                              </a:rPr>
                            </m:ctrlPr>
                          </m:sSubPr>
                          <m:e>
                            <m:acc>
                              <m:accPr>
                                <m:chr m:val="̇"/>
                                <m:ctrlPr>
                                  <a:rPr lang="zh-CN" altLang="en-US" sz="2400" b="1" i="1">
                                    <a:latin typeface="Cambria Math" panose="02040503050406030204" pitchFamily="18" charset="0"/>
                                  </a:rPr>
                                </m:ctrlPr>
                              </m:accPr>
                              <m:e>
                                <m:r>
                                  <a:rPr lang="zh-CN" altLang="en-US" sz="2400" b="1" i="1">
                                    <a:latin typeface="Cambria Math" panose="02040503050406030204" pitchFamily="18" charset="0"/>
                                  </a:rPr>
                                  <m:t>𝒒</m:t>
                                </m:r>
                              </m:e>
                            </m:acc>
                          </m:e>
                          <m:sub>
                            <m:r>
                              <a:rPr lang="zh-CN" altLang="en-US" sz="2400" b="1" i="1">
                                <a:latin typeface="Cambria Math" panose="02040503050406030204" pitchFamily="18" charset="0"/>
                              </a:rPr>
                              <m:t>𝟎</m:t>
                            </m:r>
                          </m:sub>
                        </m:sSub>
                        <m:r>
                          <a:rPr lang="en-US" altLang="zh-CN" sz="2400" b="1" i="1">
                            <a:latin typeface="Cambria Math" panose="02040503050406030204" pitchFamily="18" charset="0"/>
                          </a:rPr>
                          <m:t>, </m:t>
                        </m:r>
                        <m:sSub>
                          <m:sSubPr>
                            <m:ctrlPr>
                              <a:rPr lang="zh-CN" altLang="en-US" sz="2400" b="1" i="1">
                                <a:latin typeface="Cambria Math" panose="02040503050406030204" pitchFamily="18" charset="0"/>
                              </a:rPr>
                            </m:ctrlPr>
                          </m:sSubPr>
                          <m:e>
                            <m:acc>
                              <m:accPr>
                                <m:chr m:val="̈"/>
                                <m:ctrlPr>
                                  <a:rPr lang="zh-CN" altLang="en-US" sz="2400" b="1" i="1">
                                    <a:latin typeface="Cambria Math" panose="02040503050406030204" pitchFamily="18" charset="0"/>
                                  </a:rPr>
                                </m:ctrlPr>
                              </m:accPr>
                              <m:e>
                                <m:r>
                                  <a:rPr lang="zh-CN" altLang="en-US" sz="2400" b="1" i="1">
                                    <a:latin typeface="Cambria Math" panose="02040503050406030204" pitchFamily="18" charset="0"/>
                                  </a:rPr>
                                  <m:t>𝒒</m:t>
                                </m:r>
                              </m:e>
                            </m:acc>
                          </m:e>
                          <m:sub>
                            <m:r>
                              <a:rPr lang="zh-CN" altLang="en-US" sz="2400" b="1" i="1">
                                <a:latin typeface="Cambria Math" panose="02040503050406030204" pitchFamily="18" charset="0"/>
                              </a:rPr>
                              <m:t>𝟎</m:t>
                            </m:r>
                          </m:sub>
                        </m:sSub>
                      </m:e>
                    </m:d>
                  </m:oMath>
                </a14:m>
                <a:r>
                  <a:rPr lang="zh-CN" altLang="en-US" sz="2400" b="1" i="0" dirty="0">
                    <a:latin typeface="微软雅黑" panose="020B0503020204020204" pitchFamily="34" charset="-122"/>
                    <a:ea typeface="微软雅黑" panose="020B0503020204020204" pitchFamily="34" charset="-122"/>
                  </a:rPr>
                  <a:t> 及目标状态 </a:t>
                </a:r>
                <a14:m>
                  <m:oMath xmlns:m="http://schemas.openxmlformats.org/officeDocument/2006/math">
                    <m:d>
                      <m:dPr>
                        <m:begChr m:val="{"/>
                        <m:endChr m:val="}"/>
                        <m:ctrlPr>
                          <a:rPr lang="zh-CN" altLang="en-US" sz="2400" b="1" i="1" smtClean="0">
                            <a:solidFill>
                              <a:schemeClr val="tx1"/>
                            </a:solidFill>
                            <a:latin typeface="Cambria Math" panose="02040503050406030204" pitchFamily="18" charset="0"/>
                          </a:rPr>
                        </m:ctrlPr>
                      </m:dPr>
                      <m:e>
                        <m:sSub>
                          <m:sSubPr>
                            <m:ctrlPr>
                              <a:rPr lang="zh-CN" altLang="en-US" sz="2400" b="1" i="1">
                                <a:solidFill>
                                  <a:schemeClr val="tx1"/>
                                </a:solidFill>
                                <a:latin typeface="Cambria Math" panose="02040503050406030204" pitchFamily="18" charset="0"/>
                              </a:rPr>
                            </m:ctrlPr>
                          </m:sSubPr>
                          <m:e>
                            <m:r>
                              <a:rPr lang="zh-CN" altLang="en-US" sz="2400" b="1" i="1">
                                <a:solidFill>
                                  <a:schemeClr val="tx1"/>
                                </a:solidFill>
                                <a:latin typeface="Cambria Math" panose="02040503050406030204" pitchFamily="18" charset="0"/>
                              </a:rPr>
                              <m:t>𝒒</m:t>
                            </m:r>
                          </m:e>
                          <m:sub>
                            <m:r>
                              <a:rPr lang="zh-CN" altLang="en-US" sz="2400" b="1" i="1">
                                <a:solidFill>
                                  <a:schemeClr val="tx1"/>
                                </a:solidFill>
                                <a:latin typeface="Cambria Math" panose="02040503050406030204" pitchFamily="18" charset="0"/>
                              </a:rPr>
                              <m:t>𝒇</m:t>
                            </m:r>
                          </m:sub>
                        </m:sSub>
                        <m:r>
                          <a:rPr lang="en-US" altLang="zh-CN" sz="2400" b="1" i="0" smtClean="0">
                            <a:solidFill>
                              <a:schemeClr val="tx1"/>
                            </a:solidFill>
                            <a:latin typeface="Cambria Math" panose="02040503050406030204" pitchFamily="18" charset="0"/>
                          </a:rPr>
                          <m:t>,</m:t>
                        </m:r>
                        <m:r>
                          <a:rPr lang="zh-CN" altLang="en-US" sz="2400" b="1">
                            <a:solidFill>
                              <a:schemeClr val="tx1"/>
                            </a:solidFill>
                            <a:latin typeface="Cambria Math" panose="02040503050406030204" pitchFamily="18" charset="0"/>
                          </a:rPr>
                          <m:t>  </m:t>
                        </m:r>
                        <m:sSub>
                          <m:sSubPr>
                            <m:ctrlPr>
                              <a:rPr lang="zh-CN" altLang="en-US" sz="2400" b="1" i="1">
                                <a:solidFill>
                                  <a:schemeClr val="tx1"/>
                                </a:solidFill>
                                <a:latin typeface="Cambria Math" panose="02040503050406030204" pitchFamily="18" charset="0"/>
                              </a:rPr>
                            </m:ctrlPr>
                          </m:sSubPr>
                          <m:e>
                            <m:acc>
                              <m:accPr>
                                <m:chr m:val="̇"/>
                                <m:ctrlPr>
                                  <a:rPr lang="zh-CN" altLang="en-US" sz="2400" b="1" i="1">
                                    <a:solidFill>
                                      <a:schemeClr val="tx1"/>
                                    </a:solidFill>
                                    <a:latin typeface="Cambria Math" panose="02040503050406030204" pitchFamily="18" charset="0"/>
                                  </a:rPr>
                                </m:ctrlPr>
                              </m:accPr>
                              <m:e>
                                <m:r>
                                  <a:rPr lang="zh-CN" altLang="en-US" sz="2400" b="1" i="1">
                                    <a:solidFill>
                                      <a:schemeClr val="tx1"/>
                                    </a:solidFill>
                                    <a:latin typeface="Cambria Math" panose="02040503050406030204" pitchFamily="18" charset="0"/>
                                  </a:rPr>
                                  <m:t>𝒒</m:t>
                                </m:r>
                              </m:e>
                            </m:acc>
                          </m:e>
                          <m:sub>
                            <m:r>
                              <a:rPr lang="zh-CN" altLang="en-US" sz="2400" b="1" i="1">
                                <a:solidFill>
                                  <a:schemeClr val="tx1"/>
                                </a:solidFill>
                                <a:latin typeface="Cambria Math" panose="02040503050406030204" pitchFamily="18" charset="0"/>
                              </a:rPr>
                              <m:t>𝒇</m:t>
                            </m:r>
                          </m:sub>
                        </m:sSub>
                        <m:r>
                          <a:rPr lang="en-US" altLang="zh-CN" sz="2400" b="1" i="0" smtClean="0">
                            <a:solidFill>
                              <a:schemeClr val="tx1"/>
                            </a:solidFill>
                            <a:latin typeface="Cambria Math" panose="02040503050406030204" pitchFamily="18" charset="0"/>
                          </a:rPr>
                          <m:t>,</m:t>
                        </m:r>
                        <m:r>
                          <a:rPr lang="zh-CN" altLang="en-US" sz="2400" b="1">
                            <a:solidFill>
                              <a:schemeClr val="tx1"/>
                            </a:solidFill>
                            <a:latin typeface="Cambria Math" panose="02040503050406030204" pitchFamily="18" charset="0"/>
                          </a:rPr>
                          <m:t>  </m:t>
                        </m:r>
                        <m:sSub>
                          <m:sSubPr>
                            <m:ctrlPr>
                              <a:rPr lang="zh-CN" altLang="en-US" sz="2400" b="1" i="1">
                                <a:solidFill>
                                  <a:schemeClr val="tx1"/>
                                </a:solidFill>
                                <a:latin typeface="Cambria Math" panose="02040503050406030204" pitchFamily="18" charset="0"/>
                              </a:rPr>
                            </m:ctrlPr>
                          </m:sSubPr>
                          <m:e>
                            <m:acc>
                              <m:accPr>
                                <m:chr m:val="̈"/>
                                <m:ctrlPr>
                                  <a:rPr lang="zh-CN" altLang="en-US" sz="2400" b="1" i="1">
                                    <a:solidFill>
                                      <a:schemeClr val="tx1"/>
                                    </a:solidFill>
                                    <a:latin typeface="Cambria Math" panose="02040503050406030204" pitchFamily="18" charset="0"/>
                                  </a:rPr>
                                </m:ctrlPr>
                              </m:accPr>
                              <m:e>
                                <m:r>
                                  <a:rPr lang="zh-CN" altLang="en-US" sz="2400" b="1" i="1">
                                    <a:solidFill>
                                      <a:schemeClr val="tx1"/>
                                    </a:solidFill>
                                    <a:latin typeface="Cambria Math" panose="02040503050406030204" pitchFamily="18" charset="0"/>
                                  </a:rPr>
                                  <m:t>𝒒</m:t>
                                </m:r>
                              </m:e>
                            </m:acc>
                          </m:e>
                          <m:sub>
                            <m:r>
                              <a:rPr lang="zh-CN" altLang="en-US" sz="2400" b="1" i="1">
                                <a:solidFill>
                                  <a:schemeClr val="tx1"/>
                                </a:solidFill>
                                <a:latin typeface="Cambria Math" panose="02040503050406030204" pitchFamily="18" charset="0"/>
                              </a:rPr>
                              <m:t>𝒇</m:t>
                            </m:r>
                          </m:sub>
                        </m:sSub>
                      </m:e>
                    </m:d>
                  </m:oMath>
                </a14:m>
                <a:r>
                  <a:rPr lang="zh-CN" altLang="en-US" sz="2400" b="1" dirty="0">
                    <a:latin typeface="微软雅黑" panose="020B0503020204020204" pitchFamily="34" charset="-122"/>
                    <a:ea typeface="微软雅黑" panose="020B0503020204020204" pitchFamily="34" charset="-122"/>
                  </a:rPr>
                  <a:t>，求取一多项式函数</a:t>
                </a:r>
                <a14:m>
                  <m:oMath xmlns:m="http://schemas.openxmlformats.org/officeDocument/2006/math">
                    <m:r>
                      <a:rPr lang="en-US" altLang="zh-CN" sz="2400" b="1" i="1">
                        <a:latin typeface="Cambria Math" panose="02040503050406030204" pitchFamily="18" charset="0"/>
                      </a:rPr>
                      <m:t>𝒒</m:t>
                    </m:r>
                    <m:r>
                      <a:rPr lang="en-US" altLang="zh-CN" sz="2400" b="1" i="1" dirty="0">
                        <a:latin typeface="Cambria Math" panose="02040503050406030204" pitchFamily="18" charset="0"/>
                        <a:ea typeface="微软雅黑" panose="020B0503020204020204" pitchFamily="34" charset="-122"/>
                      </a:rPr>
                      <m:t>(</m:t>
                    </m:r>
                    <m:r>
                      <a:rPr lang="en-US" altLang="zh-CN" sz="2400" b="1" i="1" dirty="0">
                        <a:latin typeface="Cambria Math" panose="02040503050406030204" pitchFamily="18" charset="0"/>
                        <a:ea typeface="微软雅黑" panose="020B0503020204020204" pitchFamily="34" charset="-122"/>
                      </a:rPr>
                      <m:t>𝒕</m:t>
                    </m:r>
                    <m:r>
                      <a:rPr lang="en-US" altLang="zh-CN" sz="2400" b="1" i="1" dirty="0">
                        <a:latin typeface="Cambria Math" panose="02040503050406030204" pitchFamily="18" charset="0"/>
                        <a:ea typeface="微软雅黑" panose="020B0503020204020204" pitchFamily="34" charset="-122"/>
                      </a:rPr>
                      <m:t>)</m:t>
                    </m:r>
                  </m:oMath>
                </a14:m>
                <a:r>
                  <a:rPr lang="zh-CN" altLang="en-US" sz="2400" b="1" dirty="0">
                    <a:latin typeface="微软雅黑" panose="020B0503020204020204" pitchFamily="34" charset="-122"/>
                    <a:ea typeface="微软雅黑" panose="020B0503020204020204" pitchFamily="34" charset="-122"/>
                  </a:rPr>
                  <a:t>使得</a:t>
                </a:r>
                <a:r>
                  <a:rPr lang="en-US" altLang="zh-CN"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CEB22FF2-C3F8-44D6-AB6A-77E259B4B3B5}"/>
                  </a:ext>
                </a:extLst>
              </p:cNvPr>
              <p:cNvSpPr txBox="1">
                <a:spLocks noRot="1" noChangeAspect="1" noMove="1" noResize="1" noEditPoints="1" noAdjustHandles="1" noChangeArrowheads="1" noChangeShapeType="1" noTextEdit="1"/>
              </p:cNvSpPr>
              <p:nvPr/>
            </p:nvSpPr>
            <p:spPr>
              <a:xfrm>
                <a:off x="276933" y="900168"/>
                <a:ext cx="11833134" cy="1029897"/>
              </a:xfrm>
              <a:prstGeom prst="rect">
                <a:avLst/>
              </a:prstGeom>
              <a:blipFill>
                <a:blip r:embed="rId24"/>
                <a:stretch>
                  <a:fillRect l="-669" t="-1183" b="-887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2D597FE-B8E9-4C37-A3B1-C5A963A99677}"/>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基于多项式函数的关节轨迹规划：问题描述</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0DB44F10-9097-459D-A73F-FBF54A3385C0}"/>
              </a:ext>
            </a:extLst>
          </p:cNvPr>
          <p:cNvGraphicFramePr>
            <a:graphicFrameLocks noChangeAspect="1"/>
          </p:cNvGraphicFramePr>
          <p:nvPr>
            <p:extLst>
              <p:ext uri="{D42A27DB-BD31-4B8C-83A1-F6EECF244321}">
                <p14:modId xmlns:p14="http://schemas.microsoft.com/office/powerpoint/2010/main" val="3918015900"/>
              </p:ext>
            </p:extLst>
          </p:nvPr>
        </p:nvGraphicFramePr>
        <p:xfrm>
          <a:off x="2017406" y="2023378"/>
          <a:ext cx="3336925" cy="530225"/>
        </p:xfrm>
        <a:graphic>
          <a:graphicData uri="http://schemas.openxmlformats.org/presentationml/2006/ole">
            <mc:AlternateContent xmlns:mc="http://schemas.openxmlformats.org/markup-compatibility/2006">
              <mc:Choice xmlns:v="urn:schemas-microsoft-com:vml" Requires="v">
                <p:oleObj name="Equation" r:id="rId25" imgW="1320480" imgH="228600" progId="Equation.DSMT4">
                  <p:embed/>
                </p:oleObj>
              </mc:Choice>
              <mc:Fallback>
                <p:oleObj name="Equation" r:id="rId25" imgW="1320480" imgH="228600" progId="Equation.DSMT4">
                  <p:embed/>
                  <p:pic>
                    <p:nvPicPr>
                      <p:cNvPr id="5" name="对象 4">
                        <a:extLst>
                          <a:ext uri="{FF2B5EF4-FFF2-40B4-BE49-F238E27FC236}">
                            <a16:creationId xmlns:a16="http://schemas.microsoft.com/office/drawing/2014/main" id="{2B5225C4-17A4-4258-B3B8-C44C05E618D5}"/>
                          </a:ext>
                        </a:extLst>
                      </p:cNvPr>
                      <p:cNvPicPr>
                        <a:picLocks noChangeAspect="1" noChangeArrowheads="1"/>
                      </p:cNvPicPr>
                      <p:nvPr/>
                    </p:nvPicPr>
                    <p:blipFill>
                      <a:blip r:embed="rId26"/>
                      <a:srcRect/>
                      <a:stretch>
                        <a:fillRect/>
                      </a:stretch>
                    </p:blipFill>
                    <p:spPr bwMode="auto">
                      <a:xfrm>
                        <a:off x="2017406" y="2023378"/>
                        <a:ext cx="3336925" cy="530225"/>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E0E0D2C6-1EE0-4E01-BB6D-BDE32E4B565A}"/>
              </a:ext>
            </a:extLst>
          </p:cNvPr>
          <p:cNvGraphicFramePr>
            <a:graphicFrameLocks noChangeAspect="1"/>
          </p:cNvGraphicFramePr>
          <p:nvPr>
            <p:extLst>
              <p:ext uri="{D42A27DB-BD31-4B8C-83A1-F6EECF244321}">
                <p14:modId xmlns:p14="http://schemas.microsoft.com/office/powerpoint/2010/main" val="3434043545"/>
              </p:ext>
            </p:extLst>
          </p:nvPr>
        </p:nvGraphicFramePr>
        <p:xfrm>
          <a:off x="5814244" y="1990186"/>
          <a:ext cx="3594100" cy="588962"/>
        </p:xfrm>
        <a:graphic>
          <a:graphicData uri="http://schemas.openxmlformats.org/presentationml/2006/ole">
            <mc:AlternateContent xmlns:mc="http://schemas.openxmlformats.org/markup-compatibility/2006">
              <mc:Choice xmlns:v="urn:schemas-microsoft-com:vml" Requires="v">
                <p:oleObj name="Equation" r:id="rId27" imgW="1422360" imgH="253800" progId="Equation.DSMT4">
                  <p:embed/>
                </p:oleObj>
              </mc:Choice>
              <mc:Fallback>
                <p:oleObj name="Equation" r:id="rId27" imgW="1422360" imgH="253800" progId="Equation.DSMT4">
                  <p:embed/>
                  <p:pic>
                    <p:nvPicPr>
                      <p:cNvPr id="7" name="对象 6">
                        <a:extLst>
                          <a:ext uri="{FF2B5EF4-FFF2-40B4-BE49-F238E27FC236}">
                            <a16:creationId xmlns:a16="http://schemas.microsoft.com/office/drawing/2014/main" id="{0DB44F10-9097-459D-A73F-FBF54A3385C0}"/>
                          </a:ext>
                        </a:extLst>
                      </p:cNvPr>
                      <p:cNvPicPr>
                        <a:picLocks noChangeAspect="1" noChangeArrowheads="1"/>
                      </p:cNvPicPr>
                      <p:nvPr/>
                    </p:nvPicPr>
                    <p:blipFill>
                      <a:blip r:embed="rId28"/>
                      <a:srcRect/>
                      <a:stretch>
                        <a:fillRect/>
                      </a:stretch>
                    </p:blipFill>
                    <p:spPr bwMode="auto">
                      <a:xfrm>
                        <a:off x="5814244" y="1990186"/>
                        <a:ext cx="3594100" cy="588962"/>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82152F06-40D6-4CD7-9829-F2683B81269F}"/>
              </a:ext>
            </a:extLst>
          </p:cNvPr>
          <p:cNvGraphicFramePr>
            <a:graphicFrameLocks noChangeAspect="1"/>
          </p:cNvGraphicFramePr>
          <p:nvPr>
            <p:extLst>
              <p:ext uri="{D42A27DB-BD31-4B8C-83A1-F6EECF244321}">
                <p14:modId xmlns:p14="http://schemas.microsoft.com/office/powerpoint/2010/main" val="801794559"/>
              </p:ext>
            </p:extLst>
          </p:nvPr>
        </p:nvGraphicFramePr>
        <p:xfrm>
          <a:off x="3689350" y="2838450"/>
          <a:ext cx="5133975" cy="471488"/>
        </p:xfrm>
        <a:graphic>
          <a:graphicData uri="http://schemas.openxmlformats.org/presentationml/2006/ole">
            <mc:AlternateContent xmlns:mc="http://schemas.openxmlformats.org/markup-compatibility/2006">
              <mc:Choice xmlns:v="urn:schemas-microsoft-com:vml" Requires="v">
                <p:oleObj name="Equation" r:id="rId29" imgW="2031840" imgH="203040" progId="Equation.DSMT4">
                  <p:embed/>
                </p:oleObj>
              </mc:Choice>
              <mc:Fallback>
                <p:oleObj name="Equation" r:id="rId29" imgW="2031840" imgH="203040" progId="Equation.DSMT4">
                  <p:embed/>
                  <p:pic>
                    <p:nvPicPr>
                      <p:cNvPr id="8" name="对象 7">
                        <a:extLst>
                          <a:ext uri="{FF2B5EF4-FFF2-40B4-BE49-F238E27FC236}">
                            <a16:creationId xmlns:a16="http://schemas.microsoft.com/office/drawing/2014/main" id="{E0E0D2C6-1EE0-4E01-BB6D-BDE32E4B565A}"/>
                          </a:ext>
                        </a:extLst>
                      </p:cNvPr>
                      <p:cNvPicPr>
                        <a:picLocks noChangeAspect="1" noChangeArrowheads="1"/>
                      </p:cNvPicPr>
                      <p:nvPr/>
                    </p:nvPicPr>
                    <p:blipFill>
                      <a:blip r:embed="rId30"/>
                      <a:srcRect/>
                      <a:stretch>
                        <a:fillRect/>
                      </a:stretch>
                    </p:blipFill>
                    <p:spPr bwMode="auto">
                      <a:xfrm>
                        <a:off x="3689350" y="2838450"/>
                        <a:ext cx="5133975" cy="471488"/>
                      </a:xfrm>
                      <a:prstGeom prst="rect">
                        <a:avLst/>
                      </a:prstGeom>
                      <a:noFill/>
                    </p:spPr>
                  </p:pic>
                </p:oleObj>
              </mc:Fallback>
            </mc:AlternateContent>
          </a:graphicData>
        </a:graphic>
      </p:graphicFrame>
      <p:sp>
        <p:nvSpPr>
          <p:cNvPr id="15" name="文本框 14">
            <a:extLst>
              <a:ext uri="{FF2B5EF4-FFF2-40B4-BE49-F238E27FC236}">
                <a16:creationId xmlns:a16="http://schemas.microsoft.com/office/drawing/2014/main" id="{11A9E7A9-1F37-4525-81AD-C30B8FC67A86}"/>
              </a:ext>
            </a:extLst>
          </p:cNvPr>
          <p:cNvSpPr txBox="1"/>
          <p:nvPr/>
        </p:nvSpPr>
        <p:spPr>
          <a:xfrm>
            <a:off x="797914" y="2768508"/>
            <a:ext cx="2096713" cy="497957"/>
          </a:xfrm>
          <a:prstGeom prst="rect">
            <a:avLst/>
          </a:prstGeom>
          <a:noFill/>
        </p:spPr>
        <p:txBody>
          <a:bodyPr wrap="square">
            <a:spAutoFit/>
          </a:bodyPr>
          <a:lstStyle/>
          <a:p>
            <a:pPr>
              <a:lnSpc>
                <a:spcPct val="120000"/>
              </a:lnSpc>
              <a:spcBef>
                <a:spcPts val="600"/>
              </a:spcBef>
              <a:spcAft>
                <a:spcPts val="600"/>
              </a:spcAft>
            </a:pPr>
            <a:r>
              <a:rPr lang="zh-CN" altLang="en-US" sz="2400" b="1" dirty="0">
                <a:latin typeface="微软雅黑" panose="020B0503020204020204" pitchFamily="34" charset="-122"/>
                <a:ea typeface="微软雅黑" panose="020B0503020204020204" pitchFamily="34" charset="-122"/>
              </a:rPr>
              <a:t>且满足约束：</a:t>
            </a:r>
            <a:endParaRPr lang="en-US" altLang="zh-CN" sz="2400" b="1"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54C050C9-A0D0-4B45-B156-726B6AB452A7}"/>
              </a:ext>
            </a:extLst>
          </p:cNvPr>
          <p:cNvSpPr txBox="1"/>
          <p:nvPr/>
        </p:nvSpPr>
        <p:spPr>
          <a:xfrm>
            <a:off x="276933" y="3490014"/>
            <a:ext cx="3071984" cy="497957"/>
          </a:xfrm>
          <a:prstGeom prst="rect">
            <a:avLst/>
          </a:prstGeom>
          <a:noFill/>
        </p:spPr>
        <p:txBody>
          <a:bodyPr wrap="square" rtlCol="0">
            <a:spAutoFit/>
          </a:bodyPr>
          <a:lstStyle/>
          <a:p>
            <a:pPr marL="342900" indent="-342900">
              <a:lnSpc>
                <a:spcPct val="120000"/>
              </a:lnSpc>
              <a:spcBef>
                <a:spcPts val="600"/>
              </a:spcBef>
              <a:spcAft>
                <a:spcPts val="600"/>
              </a:spcAft>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设计</a:t>
            </a:r>
            <a:r>
              <a:rPr lang="zh-CN" altLang="en-US" sz="2400" b="1" i="0" dirty="0">
                <a:latin typeface="微软雅黑" panose="020B0503020204020204" pitchFamily="34" charset="-122"/>
                <a:ea typeface="微软雅黑" panose="020B0503020204020204" pitchFamily="34" charset="-122"/>
              </a:rPr>
              <a:t>多项式函数</a:t>
            </a:r>
            <a:endParaRPr lang="en-US" altLang="zh-CN" sz="2400" b="1" i="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B214583-6BE8-49E5-8EBF-19018376A7E5}"/>
                  </a:ext>
                </a:extLst>
              </p:cNvPr>
              <p:cNvSpPr txBox="1"/>
              <p:nvPr/>
            </p:nvSpPr>
            <p:spPr>
              <a:xfrm>
                <a:off x="2681545" y="4007066"/>
                <a:ext cx="6173656" cy="622478"/>
              </a:xfrm>
              <a:prstGeom prst="rect">
                <a:avLst/>
              </a:prstGeom>
              <a:noFill/>
            </p:spPr>
            <p:txBody>
              <a:bodyPr wrap="square">
                <a:spAutoFit/>
              </a:bodyPr>
              <a:lstStyle/>
              <a:p>
                <a:pPr>
                  <a:lnSpc>
                    <a:spcPct val="120000"/>
                  </a:lnSpc>
                  <a:spcBef>
                    <a:spcPts val="600"/>
                  </a:spcBef>
                  <a:spcAft>
                    <a:spcPts val="600"/>
                  </a:spcAft>
                </a:pPr>
                <a14:m>
                  <m:oMathPara xmlns:m="http://schemas.openxmlformats.org/officeDocument/2006/math">
                    <m:oMathParaPr>
                      <m:jc m:val="left"/>
                    </m:oMathParaPr>
                    <m:oMath xmlns:m="http://schemas.openxmlformats.org/officeDocument/2006/math">
                      <m:r>
                        <a:rPr lang="en-US" altLang="zh-CN" sz="2400" b="1" i="1" smtClean="0">
                          <a:latin typeface="Cambria Math" panose="02040503050406030204" pitchFamily="18" charset="0"/>
                          <a:ea typeface="微软雅黑" panose="020B0503020204020204" pitchFamily="34" charset="-122"/>
                        </a:rPr>
                        <m:t>𝒒</m:t>
                      </m:r>
                      <m:d>
                        <m:dPr>
                          <m:ctrlPr>
                            <a:rPr lang="en-US" altLang="zh-CN" sz="2400" b="1" i="1" smtClean="0">
                              <a:latin typeface="Cambria Math" panose="02040503050406030204" pitchFamily="18" charset="0"/>
                              <a:ea typeface="微软雅黑" panose="020B0503020204020204" pitchFamily="34" charset="-122"/>
                            </a:rPr>
                          </m:ctrlPr>
                        </m:dPr>
                        <m:e>
                          <m:r>
                            <a:rPr lang="en-US" altLang="zh-CN" sz="2400" b="1" i="1" smtClean="0">
                              <a:latin typeface="Cambria Math" panose="02040503050406030204" pitchFamily="18" charset="0"/>
                              <a:ea typeface="微软雅黑" panose="020B0503020204020204" pitchFamily="34" charset="-122"/>
                            </a:rPr>
                            <m:t>𝒕</m:t>
                          </m:r>
                        </m:e>
                      </m:d>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𝟎</m:t>
                          </m:r>
                        </m:sub>
                      </m:sSub>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𝟏</m:t>
                          </m:r>
                        </m:sub>
                      </m:sSub>
                      <m:r>
                        <a:rPr lang="en-US" altLang="zh-CN" sz="2400" b="1" i="1" smtClean="0">
                          <a:latin typeface="Cambria Math" panose="02040503050406030204" pitchFamily="18" charset="0"/>
                          <a:ea typeface="微软雅黑" panose="020B0503020204020204" pitchFamily="34" charset="-122"/>
                        </a:rPr>
                        <m:t>𝒕</m:t>
                      </m:r>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𝟐</m:t>
                          </m:r>
                        </m:sub>
                      </m:sSub>
                      <m:sSup>
                        <m:sSupPr>
                          <m:ctrlPr>
                            <a:rPr lang="en-US" altLang="zh-CN" sz="2400" b="1" i="1" smtClean="0">
                              <a:latin typeface="Cambria Math" panose="02040503050406030204" pitchFamily="18" charset="0"/>
                              <a:ea typeface="微软雅黑" panose="020B0503020204020204" pitchFamily="34" charset="-122"/>
                            </a:rPr>
                          </m:ctrlPr>
                        </m:sSupPr>
                        <m:e>
                          <m:r>
                            <a:rPr lang="en-US" altLang="zh-CN" sz="2400" b="1" i="1" smtClean="0">
                              <a:latin typeface="Cambria Math" panose="02040503050406030204" pitchFamily="18" charset="0"/>
                              <a:ea typeface="微软雅黑" panose="020B0503020204020204" pitchFamily="34" charset="-122"/>
                            </a:rPr>
                            <m:t>𝒕</m:t>
                          </m:r>
                        </m:e>
                        <m:sup>
                          <m:r>
                            <a:rPr lang="en-US" altLang="zh-CN" sz="2400" b="1" i="1" smtClean="0">
                              <a:latin typeface="Cambria Math" panose="02040503050406030204" pitchFamily="18" charset="0"/>
                              <a:ea typeface="微软雅黑" panose="020B0503020204020204" pitchFamily="34" charset="-122"/>
                            </a:rPr>
                            <m:t>𝟐</m:t>
                          </m:r>
                        </m:sup>
                      </m:sSup>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𝒏</m:t>
                          </m:r>
                        </m:sub>
                      </m:sSub>
                      <m:sSup>
                        <m:sSupPr>
                          <m:ctrlPr>
                            <a:rPr lang="en-US" altLang="zh-CN" sz="2400" b="1" i="1" smtClean="0">
                              <a:latin typeface="Cambria Math" panose="02040503050406030204" pitchFamily="18" charset="0"/>
                              <a:ea typeface="微软雅黑" panose="020B0503020204020204" pitchFamily="34" charset="-122"/>
                            </a:rPr>
                          </m:ctrlPr>
                        </m:sSupPr>
                        <m:e>
                          <m:r>
                            <a:rPr lang="en-US" altLang="zh-CN" sz="2400" b="1" i="1" smtClean="0">
                              <a:latin typeface="Cambria Math" panose="02040503050406030204" pitchFamily="18" charset="0"/>
                              <a:ea typeface="微软雅黑" panose="020B0503020204020204" pitchFamily="34" charset="-122"/>
                            </a:rPr>
                            <m:t>𝒕</m:t>
                          </m:r>
                        </m:e>
                        <m:sup>
                          <m:r>
                            <a:rPr lang="en-US" altLang="zh-CN" sz="2400" b="1" i="1" smtClean="0">
                              <a:latin typeface="Cambria Math" panose="02040503050406030204" pitchFamily="18" charset="0"/>
                              <a:ea typeface="微软雅黑" panose="020B0503020204020204" pitchFamily="34" charset="-122"/>
                            </a:rPr>
                            <m:t>𝒏</m:t>
                          </m:r>
                        </m:sup>
                      </m:sSup>
                    </m:oMath>
                  </m:oMathPara>
                </a14:m>
                <a:endParaRPr lang="en-US" altLang="zh-CN" sz="2400" b="1" i="0" dirty="0">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5B214583-6BE8-49E5-8EBF-19018376A7E5}"/>
                  </a:ext>
                </a:extLst>
              </p:cNvPr>
              <p:cNvSpPr txBox="1">
                <a:spLocks noRot="1" noChangeAspect="1" noMove="1" noResize="1" noEditPoints="1" noAdjustHandles="1" noChangeArrowheads="1" noChangeShapeType="1" noTextEdit="1"/>
              </p:cNvSpPr>
              <p:nvPr/>
            </p:nvSpPr>
            <p:spPr>
              <a:xfrm>
                <a:off x="2681545" y="4007066"/>
                <a:ext cx="6173656" cy="622478"/>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95E5C7F-8FBA-4352-945B-1C03C216CA96}"/>
                  </a:ext>
                </a:extLst>
              </p:cNvPr>
              <p:cNvSpPr txBox="1"/>
              <p:nvPr/>
            </p:nvSpPr>
            <p:spPr>
              <a:xfrm>
                <a:off x="678803" y="4625121"/>
                <a:ext cx="5855954" cy="1094082"/>
              </a:xfrm>
              <a:prstGeom prst="rect">
                <a:avLst/>
              </a:prstGeom>
              <a:noFill/>
            </p:spPr>
            <p:txBody>
              <a:bodyPr wrap="square" rtlCol="0">
                <a:spAutoFit/>
              </a:bodyPr>
              <a:lstStyle/>
              <a:p>
                <a:pPr>
                  <a:lnSpc>
                    <a:spcPct val="120000"/>
                  </a:lnSpc>
                  <a:spcBef>
                    <a:spcPts val="600"/>
                  </a:spcBef>
                  <a:spcAft>
                    <a:spcPts val="600"/>
                  </a:spcAft>
                </a:pPr>
                <a:r>
                  <a:rPr lang="zh-CN" altLang="en-US" sz="2400" b="1" i="0" dirty="0">
                    <a:latin typeface="微软雅黑" panose="020B0503020204020204" pitchFamily="34" charset="-122"/>
                    <a:ea typeface="微软雅黑" panose="020B0503020204020204" pitchFamily="34" charset="-122"/>
                  </a:rPr>
                  <a:t>首先需要解决</a:t>
                </a:r>
                <a14:m>
                  <m:oMath xmlns:m="http://schemas.openxmlformats.org/officeDocument/2006/math">
                    <m:r>
                      <a:rPr lang="en-US" altLang="zh-CN" sz="2400" b="1" i="1" dirty="0" smtClean="0">
                        <a:latin typeface="Cambria Math" panose="02040503050406030204" pitchFamily="18" charset="0"/>
                        <a:ea typeface="微软雅黑" panose="020B0503020204020204" pitchFamily="34" charset="-122"/>
                      </a:rPr>
                      <m:t>𝒏</m:t>
                    </m:r>
                  </m:oMath>
                </a14:m>
                <a:r>
                  <a:rPr lang="zh-CN" altLang="en-US" sz="2400" b="1" i="0" dirty="0">
                    <a:latin typeface="微软雅黑" panose="020B0503020204020204" pitchFamily="34" charset="-122"/>
                    <a:ea typeface="微软雅黑" panose="020B0503020204020204" pitchFamily="34" charset="-122"/>
                  </a:rPr>
                  <a:t>的选择问题：</a:t>
                </a:r>
                <a:endParaRPr lang="en-US" altLang="zh-CN" sz="2400" b="1" i="0" dirty="0">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pPr>
                <a:r>
                  <a:rPr lang="zh-CN" altLang="en-US" sz="2400" b="1" i="0" dirty="0">
                    <a:latin typeface="微软雅黑" panose="020B0503020204020204" pitchFamily="34" charset="-122"/>
                    <a:ea typeface="微软雅黑" panose="020B0503020204020204" pitchFamily="34" charset="-122"/>
                  </a:rPr>
                  <a:t>越大越好</a:t>
                </a:r>
                <a:r>
                  <a:rPr lang="zh-CN" altLang="en-US" sz="2400" b="1" dirty="0">
                    <a:latin typeface="微软雅黑" panose="020B0503020204020204" pitchFamily="34" charset="-122"/>
                    <a:ea typeface="微软雅黑" panose="020B0503020204020204" pitchFamily="34" charset="-122"/>
                  </a:rPr>
                  <a:t>、</a:t>
                </a:r>
                <a:r>
                  <a:rPr lang="zh-CN" altLang="en-US" sz="2400" b="1" i="0" dirty="0">
                    <a:latin typeface="微软雅黑" panose="020B0503020204020204" pitchFamily="34" charset="-122"/>
                    <a:ea typeface="微软雅黑" panose="020B0503020204020204" pitchFamily="34" charset="-122"/>
                  </a:rPr>
                  <a:t>还是越小越好？</a:t>
                </a:r>
                <a14:m>
                  <m:oMath xmlns:m="http://schemas.openxmlformats.org/officeDocument/2006/math">
                    <m:r>
                      <a:rPr lang="en-US" altLang="zh-CN" sz="2400" b="1" i="1" dirty="0">
                        <a:latin typeface="Cambria Math" panose="02040503050406030204" pitchFamily="18" charset="0"/>
                        <a:ea typeface="微软雅黑" panose="020B0503020204020204" pitchFamily="34" charset="-122"/>
                      </a:rPr>
                      <m:t>𝒏</m:t>
                    </m:r>
                  </m:oMath>
                </a14:m>
                <a:r>
                  <a:rPr lang="zh-CN" altLang="en-US" sz="2400" b="1" i="0" dirty="0">
                    <a:latin typeface="微软雅黑" panose="020B0503020204020204" pitchFamily="34" charset="-122"/>
                    <a:ea typeface="微软雅黑" panose="020B0503020204020204" pitchFamily="34" charset="-122"/>
                  </a:rPr>
                  <a:t>最小为几</a:t>
                </a:r>
                <a:endParaRPr lang="en-US" altLang="zh-CN" sz="2400" b="1" i="0" dirty="0">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595E5C7F-8FBA-4352-945B-1C03C216CA96}"/>
                  </a:ext>
                </a:extLst>
              </p:cNvPr>
              <p:cNvSpPr txBox="1">
                <a:spLocks noRot="1" noChangeAspect="1" noMove="1" noResize="1" noEditPoints="1" noAdjustHandles="1" noChangeArrowheads="1" noChangeShapeType="1" noTextEdit="1"/>
              </p:cNvSpPr>
              <p:nvPr/>
            </p:nvSpPr>
            <p:spPr>
              <a:xfrm>
                <a:off x="678803" y="4625121"/>
                <a:ext cx="5855954" cy="1094082"/>
              </a:xfrm>
              <a:prstGeom prst="rect">
                <a:avLst/>
              </a:prstGeom>
              <a:blipFill>
                <a:blip r:embed="rId23"/>
                <a:stretch>
                  <a:fillRect l="-1561" t="-1117" b="-122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00005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701FAE7-1BC1-4A5B-A30E-0A4A7B324179}"/>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10</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DC08F16E-C4A8-4862-BA9D-23C0F6BC83D1}"/>
              </a:ext>
            </a:extLst>
          </p:cNvPr>
          <p:cNvSpPr txBox="1"/>
          <p:nvPr/>
        </p:nvSpPr>
        <p:spPr>
          <a:xfrm>
            <a:off x="0" y="33341"/>
            <a:ext cx="9545269" cy="584775"/>
          </a:xfrm>
          <a:prstGeom prst="rect">
            <a:avLst/>
          </a:prstGeom>
          <a:solidFill>
            <a:schemeClr val="bg1"/>
          </a:solid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基于多项式函数的关节轨迹规划：三次多项式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1C82F39-30D2-4A34-B232-5876C6D49F54}"/>
                  </a:ext>
                </a:extLst>
              </p:cNvPr>
              <p:cNvSpPr txBox="1"/>
              <p:nvPr/>
            </p:nvSpPr>
            <p:spPr>
              <a:xfrm>
                <a:off x="634752" y="802987"/>
                <a:ext cx="10922496" cy="5804218"/>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要满足                                                                     四个条件，可以设计一个三次多项式函数（包含四个参数）</a:t>
                </a:r>
                <a:endParaRPr lang="en-US" altLang="zh-CN" sz="2400" b="1" i="0" dirty="0">
                  <a:latin typeface="微软雅黑" panose="020B0503020204020204" pitchFamily="34" charset="-122"/>
                  <a:ea typeface="微软雅黑" panose="020B0503020204020204" pitchFamily="34" charset="-122"/>
                </a:endParaRPr>
              </a:p>
              <a:p>
                <a:pPr marL="342900" indent="-342900">
                  <a:lnSpc>
                    <a:spcPct val="120000"/>
                  </a:lnSpc>
                  <a:spcBef>
                    <a:spcPts val="600"/>
                  </a:spcBef>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三次多项式函数</a:t>
                </a:r>
                <a14:m>
                  <m:oMath xmlns:m="http://schemas.openxmlformats.org/officeDocument/2006/math">
                    <m:r>
                      <a:rPr lang="en-US" altLang="zh-CN" sz="2400" b="1" i="1">
                        <a:latin typeface="Cambria Math" panose="02040503050406030204" pitchFamily="18" charset="0"/>
                      </a:rPr>
                      <m:t>𝒒</m:t>
                    </m:r>
                    <m:r>
                      <a:rPr lang="en-US" altLang="zh-CN" sz="2400" b="1" i="1" dirty="0" smtClean="0">
                        <a:latin typeface="Cambria Math" panose="02040503050406030204" pitchFamily="18" charset="0"/>
                        <a:ea typeface="微软雅黑" panose="020B0503020204020204" pitchFamily="34" charset="-122"/>
                      </a:rPr>
                      <m:t>(</m:t>
                    </m:r>
                    <m:r>
                      <a:rPr lang="en-US" altLang="zh-CN" sz="2400" b="1" i="1" dirty="0" smtClean="0">
                        <a:latin typeface="Cambria Math" panose="02040503050406030204" pitchFamily="18" charset="0"/>
                        <a:ea typeface="微软雅黑" panose="020B0503020204020204" pitchFamily="34" charset="-122"/>
                      </a:rPr>
                      <m:t>𝒕</m:t>
                    </m:r>
                    <m:r>
                      <a:rPr lang="en-US" altLang="zh-CN" sz="2400" b="1" i="1" dirty="0" smtClean="0">
                        <a:latin typeface="Cambria Math" panose="02040503050406030204" pitchFamily="18" charset="0"/>
                        <a:ea typeface="微软雅黑" panose="020B0503020204020204" pitchFamily="34" charset="-122"/>
                      </a:rPr>
                      <m:t>)</m:t>
                    </m:r>
                  </m:oMath>
                </a14:m>
                <a:r>
                  <a:rPr lang="zh-CN" altLang="en-US" sz="2400" b="1" i="0" dirty="0">
                    <a:latin typeface="微软雅黑" panose="020B0503020204020204" pitchFamily="34" charset="-122"/>
                    <a:ea typeface="微软雅黑" panose="020B0503020204020204" pitchFamily="34" charset="-122"/>
                  </a:rPr>
                  <a:t> 用于点到点规划</a:t>
                </a:r>
                <a:endParaRPr lang="en-US" altLang="zh-CN" sz="2400" b="1" i="0" dirty="0">
                  <a:latin typeface="微软雅黑" panose="020B0503020204020204" pitchFamily="34" charset="-122"/>
                  <a:ea typeface="微软雅黑" panose="020B0503020204020204" pitchFamily="34" charset="-122"/>
                </a:endParaRPr>
              </a:p>
              <a:p>
                <a:pPr>
                  <a:lnSpc>
                    <a:spcPct val="120000"/>
                  </a:lnSpc>
                  <a:spcBef>
                    <a:spcPts val="600"/>
                  </a:spcBef>
                </a:pPr>
                <a14:m>
                  <m:oMathPara xmlns:m="http://schemas.openxmlformats.org/officeDocument/2006/math">
                    <m:oMathParaPr>
                      <m:jc m:val="centerGroup"/>
                    </m:oMathParaPr>
                    <m:oMath xmlns:m="http://schemas.openxmlformats.org/officeDocument/2006/math">
                      <m:r>
                        <a:rPr lang="en-US" altLang="zh-CN" sz="2400" b="1" i="1">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r>
                        <a:rPr lang="en-US" altLang="zh-CN" sz="2400" b="1" i="1">
                          <a:latin typeface="Cambria Math" panose="02040503050406030204" pitchFamily="18" charset="0"/>
                          <a:ea typeface="微软雅黑" panose="020B0503020204020204" pitchFamily="34" charset="-122"/>
                        </a:rPr>
                        <m:t>𝐭</m:t>
                      </m:r>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𝟐</m:t>
                          </m:r>
                        </m:sup>
                      </m:s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𝟑</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smtClean="0">
                              <a:latin typeface="Cambria Math" panose="02040503050406030204" pitchFamily="18" charset="0"/>
                              <a:ea typeface="微软雅黑" panose="020B0503020204020204" pitchFamily="34" charset="-122"/>
                            </a:rPr>
                            <m:t>𝟑</m:t>
                          </m:r>
                        </m:sup>
                      </m:sSup>
                    </m:oMath>
                  </m:oMathPara>
                </a14:m>
                <a:endParaRPr lang="en-US" altLang="zh-CN" sz="2400" b="1" i="0" dirty="0">
                  <a:latin typeface="微软雅黑" panose="020B0503020204020204" pitchFamily="34" charset="-122"/>
                  <a:ea typeface="微软雅黑" panose="020B0503020204020204" pitchFamily="34" charset="-122"/>
                </a:endParaRPr>
              </a:p>
              <a:p>
                <a:pPr marL="800100" lvl="1" indent="-342900">
                  <a:lnSpc>
                    <a:spcPct val="120000"/>
                  </a:lnSpc>
                  <a:spcBef>
                    <a:spcPts val="600"/>
                  </a:spcBef>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已知初始状态</a:t>
                </a:r>
                <a:endParaRPr lang="en-US" altLang="zh-CN" sz="2400" b="1"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已知目标状态</a:t>
                </a:r>
                <a:endParaRPr lang="en-US" altLang="zh-CN" sz="2400" b="1" i="0" dirty="0">
                  <a:latin typeface="微软雅黑" panose="020B0503020204020204" pitchFamily="34" charset="-122"/>
                </a:endParaRPr>
              </a:p>
              <a:p>
                <a:pPr marL="800100" lvl="1" indent="-342900">
                  <a:lnSpc>
                    <a:spcPct val="120000"/>
                  </a:lnSpc>
                  <a:spcBef>
                    <a:spcPts val="60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已知终点时间  </a:t>
                </a:r>
                <a:r>
                  <a:rPr lang="zh-CN" altLang="en-US" sz="2400" b="1" i="0" dirty="0">
                    <a:latin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𝒕</m:t>
                        </m:r>
                      </m:e>
                      <m:sub>
                        <m:r>
                          <a:rPr lang="en-US" altLang="zh-CN" sz="2400" b="1" i="1" smtClean="0">
                            <a:latin typeface="Cambria Math" panose="02040503050406030204" pitchFamily="18" charset="0"/>
                          </a:rPr>
                          <m:t>𝒇</m:t>
                        </m:r>
                      </m:sub>
                    </m:sSub>
                  </m:oMath>
                </a14:m>
                <a:r>
                  <a:rPr lang="en-US" altLang="zh-CN" sz="2400" b="1" i="0" dirty="0">
                    <a:latin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（当</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𝒕</m:t>
                        </m:r>
                      </m:e>
                      <m:sub>
                        <m:r>
                          <a:rPr lang="en-US" altLang="zh-CN" sz="2400" b="1" i="1">
                            <a:latin typeface="Cambria Math" panose="02040503050406030204" pitchFamily="18" charset="0"/>
                          </a:rPr>
                          <m:t>𝒇</m:t>
                        </m:r>
                      </m:sub>
                    </m:sSub>
                  </m:oMath>
                </a14:m>
                <a:r>
                  <a:rPr lang="zh-CN" altLang="en-US" sz="2400" b="1" dirty="0">
                    <a:latin typeface="微软雅黑" panose="020B0503020204020204" pitchFamily="34" charset="-122"/>
                    <a:ea typeface="微软雅黑" panose="020B0503020204020204" pitchFamily="34" charset="-122"/>
                  </a:rPr>
                  <a:t>给定时，能够唯一确定多项式函数）</a:t>
                </a:r>
                <a:endParaRPr lang="en-US" altLang="zh-CN" sz="2400" b="1" i="0" dirty="0">
                  <a:latin typeface="微软雅黑" panose="020B0503020204020204" pitchFamily="34" charset="-122"/>
                  <a:ea typeface="微软雅黑" panose="020B0503020204020204" pitchFamily="34" charset="-122"/>
                </a:endParaRPr>
              </a:p>
              <a:p>
                <a:pPr marL="1074738" lvl="2" indent="-357188">
                  <a:lnSpc>
                    <a:spcPct val="120000"/>
                  </a:lnSpc>
                  <a:spcBef>
                    <a:spcPts val="600"/>
                  </a:spcBef>
                  <a:buFont typeface="Wingdings" panose="05000000000000000000" pitchFamily="2" charset="2"/>
                  <a:buChar char="ü"/>
                </a:pPr>
                <a14:m>
                  <m:oMath xmlns:m="http://schemas.openxmlformats.org/officeDocument/2006/math">
                    <m:r>
                      <a:rPr lang="en-US" altLang="zh-CN" sz="2400" b="1" i="1">
                        <a:latin typeface="Cambria Math" panose="02040503050406030204" pitchFamily="18" charset="0"/>
                        <a:ea typeface="微软雅黑" panose="020B0503020204020204" pitchFamily="34" charset="-122"/>
                      </a:rPr>
                      <m:t>𝐪</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𝟎</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𝟎</m:t>
                        </m:r>
                      </m:sub>
                    </m:sSub>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a:latin typeface="Cambria Math" panose="02040503050406030204" pitchFamily="18" charset="0"/>
                          </a:rPr>
                          <m:t>𝟎</m:t>
                        </m:r>
                      </m:sub>
                    </m:sSub>
                  </m:oMath>
                </a14:m>
                <a:endParaRPr lang="en-US" altLang="zh-CN" sz="2400" b="1" dirty="0">
                  <a:latin typeface="Cambria Math" panose="02040503050406030204" pitchFamily="18" charset="0"/>
                  <a:ea typeface="微软雅黑" panose="020B0503020204020204" pitchFamily="34" charset="-122"/>
                </a:endParaRPr>
              </a:p>
              <a:p>
                <a:pPr marL="1074738" lvl="2" indent="-357188">
                  <a:lnSpc>
                    <a:spcPct val="120000"/>
                  </a:lnSpc>
                  <a:spcBef>
                    <a:spcPts val="600"/>
                  </a:spcBef>
                  <a:buFont typeface="Wingdings" panose="05000000000000000000" pitchFamily="2" charset="2"/>
                  <a:buChar char="ü"/>
                </a:pPr>
                <a14:m>
                  <m:oMath xmlns:m="http://schemas.openxmlformats.org/officeDocument/2006/math">
                    <m:acc>
                      <m:accPr>
                        <m:chr m:val="̇"/>
                        <m:ctrlPr>
                          <a:rPr lang="en-US" altLang="zh-CN" sz="2400" b="1" i="1" smtClean="0">
                            <a:latin typeface="Cambria Math" panose="02040503050406030204" pitchFamily="18" charset="0"/>
                            <a:ea typeface="微软雅黑" panose="020B0503020204020204" pitchFamily="34" charset="-122"/>
                          </a:rPr>
                        </m:ctrlPr>
                      </m:accPr>
                      <m:e>
                        <m:r>
                          <a:rPr lang="en-US" altLang="zh-CN" sz="2400" b="1" i="1">
                            <a:latin typeface="Cambria Math" panose="02040503050406030204" pitchFamily="18" charset="0"/>
                            <a:ea typeface="微软雅黑" panose="020B0503020204020204" pitchFamily="34" charset="-122"/>
                          </a:rPr>
                          <m:t>𝒒</m:t>
                        </m:r>
                      </m:e>
                    </m:acc>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𝟎</m:t>
                        </m:r>
                      </m:e>
                    </m:d>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𝟎</m:t>
                    </m:r>
                  </m:oMath>
                </a14:m>
                <a:endParaRPr lang="en-US" altLang="zh-CN" sz="2400" b="1" dirty="0">
                  <a:latin typeface="Cambria Math" panose="02040503050406030204" pitchFamily="18" charset="0"/>
                  <a:ea typeface="微软雅黑" panose="020B0503020204020204" pitchFamily="34" charset="-122"/>
                </a:endParaRPr>
              </a:p>
              <a:p>
                <a:pPr marL="1074738" lvl="2" indent="-357188">
                  <a:lnSpc>
                    <a:spcPct val="120000"/>
                  </a:lnSpc>
                  <a:spcBef>
                    <a:spcPts val="600"/>
                  </a:spcBef>
                  <a:buFont typeface="Wingdings" panose="05000000000000000000" pitchFamily="2" charset="2"/>
                  <a:buChar char="ü"/>
                </a:pPr>
                <a14:m>
                  <m:oMath xmlns:m="http://schemas.openxmlformats.org/officeDocument/2006/math">
                    <m:r>
                      <a:rPr lang="en-US" altLang="zh-CN" sz="2400" b="1" i="1">
                        <a:latin typeface="Cambria Math" panose="02040503050406030204" pitchFamily="18" charset="0"/>
                        <a:ea typeface="微软雅黑" panose="020B0503020204020204" pitchFamily="34" charset="-122"/>
                      </a:rPr>
                      <m:t>𝐪</m:t>
                    </m:r>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Sub>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𝟐</m:t>
                        </m:r>
                      </m:sup>
                    </m:sSub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𝟑</m:t>
                        </m:r>
                      </m:sup>
                    </m:sSubSup>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a:latin typeface="Cambria Math" panose="02040503050406030204" pitchFamily="18" charset="0"/>
                          </a:rPr>
                          <m:t>𝒇</m:t>
                        </m:r>
                      </m:sub>
                    </m:sSub>
                  </m:oMath>
                </a14:m>
                <a:r>
                  <a:rPr lang="en-US" altLang="zh-CN" sz="2400" b="1" dirty="0">
                    <a:latin typeface="Cambria Math" panose="02040503050406030204" pitchFamily="18" charset="0"/>
                    <a:ea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𝟐</m:t>
                        </m:r>
                      </m:sup>
                    </m:sSub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𝟑</m:t>
                        </m:r>
                      </m:sup>
                    </m:sSubSup>
                    <m:r>
                      <a:rPr lang="en-US" altLang="zh-CN" sz="2400" b="1" i="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a:latin typeface="Cambria Math" panose="02040503050406030204" pitchFamily="18" charset="0"/>
                          </a:rPr>
                          <m:t>𝒇</m:t>
                        </m:r>
                      </m:sub>
                    </m:sSub>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a:latin typeface="Cambria Math" panose="02040503050406030204" pitchFamily="18" charset="0"/>
                          </a:rPr>
                          <m:t>𝟎</m:t>
                        </m:r>
                      </m:sub>
                    </m:sSub>
                  </m:oMath>
                </a14:m>
                <a:endParaRPr lang="en-US" altLang="zh-CN" sz="2400" b="1" dirty="0">
                  <a:latin typeface="Cambria Math" panose="02040503050406030204" pitchFamily="18" charset="0"/>
                  <a:ea typeface="微软雅黑" panose="020B0503020204020204" pitchFamily="34" charset="-122"/>
                </a:endParaRPr>
              </a:p>
              <a:p>
                <a:pPr marL="1074738" lvl="2" indent="-357188">
                  <a:lnSpc>
                    <a:spcPct val="120000"/>
                  </a:lnSpc>
                  <a:spcBef>
                    <a:spcPts val="600"/>
                  </a:spcBef>
                  <a:buFont typeface="Wingdings" panose="05000000000000000000" pitchFamily="2" charset="2"/>
                  <a:buChar char="ü"/>
                </a:pPr>
                <a14:m>
                  <m:oMath xmlns:m="http://schemas.openxmlformats.org/officeDocument/2006/math">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𝒒</m:t>
                        </m:r>
                      </m:e>
                    </m:acc>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e>
                    </m:d>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r>
                      <a:rPr lang="en-US" altLang="zh-CN" sz="2400" b="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Sub>
                    <m:r>
                      <a:rPr lang="en-US" altLang="zh-CN" sz="2400" b="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𝟑</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smtClean="0">
                            <a:latin typeface="Cambria Math" panose="02040503050406030204" pitchFamily="18" charset="0"/>
                            <a:ea typeface="微软雅黑" panose="020B0503020204020204" pitchFamily="34" charset="-122"/>
                          </a:rPr>
                          <m:t>𝟐</m:t>
                        </m:r>
                      </m:sup>
                    </m:sSubSup>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𝟎</m:t>
                    </m:r>
                  </m:oMath>
                </a14:m>
                <a:r>
                  <a:rPr lang="en-US" altLang="zh-CN" sz="2400" b="1" dirty="0">
                    <a:latin typeface="Cambria Math" panose="02040503050406030204" pitchFamily="18" charset="0"/>
                    <a:ea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r>
                          <a:rPr lang="en-US" altLang="zh-CN" sz="2400" b="1" i="1" smtClean="0">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𝟑</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𝟎</m:t>
                    </m:r>
                  </m:oMath>
                </a14:m>
                <a:endParaRPr lang="en-US" altLang="zh-CN" sz="2400" b="1" dirty="0">
                  <a:latin typeface="Cambria Math" panose="02040503050406030204" pitchFamily="18" charset="0"/>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11C82F39-30D2-4A34-B232-5876C6D49F54}"/>
                  </a:ext>
                </a:extLst>
              </p:cNvPr>
              <p:cNvSpPr txBox="1">
                <a:spLocks noRot="1" noChangeAspect="1" noMove="1" noResize="1" noEditPoints="1" noAdjustHandles="1" noChangeArrowheads="1" noChangeShapeType="1" noTextEdit="1"/>
              </p:cNvSpPr>
              <p:nvPr/>
            </p:nvSpPr>
            <p:spPr>
              <a:xfrm>
                <a:off x="634752" y="802987"/>
                <a:ext cx="10922496" cy="5804218"/>
              </a:xfrm>
              <a:prstGeom prst="rect">
                <a:avLst/>
              </a:prstGeom>
              <a:blipFill>
                <a:blip r:embed="rId3"/>
                <a:stretch>
                  <a:fillRect l="-725" t="-210"/>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9128FB95-AC1B-4910-8388-527233848DA2}"/>
              </a:ext>
            </a:extLst>
          </p:cNvPr>
          <p:cNvGraphicFramePr>
            <a:graphicFrameLocks noChangeAspect="1"/>
          </p:cNvGraphicFramePr>
          <p:nvPr>
            <p:extLst>
              <p:ext uri="{D42A27DB-BD31-4B8C-83A1-F6EECF244321}">
                <p14:modId xmlns:p14="http://schemas.microsoft.com/office/powerpoint/2010/main" val="495810479"/>
              </p:ext>
            </p:extLst>
          </p:nvPr>
        </p:nvGraphicFramePr>
        <p:xfrm>
          <a:off x="3639889" y="2691897"/>
          <a:ext cx="3111500" cy="530225"/>
        </p:xfrm>
        <a:graphic>
          <a:graphicData uri="http://schemas.openxmlformats.org/presentationml/2006/ole">
            <mc:AlternateContent xmlns:mc="http://schemas.openxmlformats.org/markup-compatibility/2006">
              <mc:Choice xmlns:v="urn:schemas-microsoft-com:vml" Requires="v">
                <p:oleObj name="Equation" r:id="rId4" imgW="1231560" imgH="228600" progId="Equation.DSMT4">
                  <p:embed/>
                </p:oleObj>
              </mc:Choice>
              <mc:Fallback>
                <p:oleObj name="Equation" r:id="rId4" imgW="1231560" imgH="228600" progId="Equation.DSMT4">
                  <p:embed/>
                  <p:pic>
                    <p:nvPicPr>
                      <p:cNvPr id="5" name="对象 4">
                        <a:extLst>
                          <a:ext uri="{FF2B5EF4-FFF2-40B4-BE49-F238E27FC236}">
                            <a16:creationId xmlns:a16="http://schemas.microsoft.com/office/drawing/2014/main" id="{9128FB95-AC1B-4910-8388-527233848DA2}"/>
                          </a:ext>
                        </a:extLst>
                      </p:cNvPr>
                      <p:cNvPicPr>
                        <a:picLocks noChangeAspect="1" noChangeArrowheads="1"/>
                      </p:cNvPicPr>
                      <p:nvPr/>
                    </p:nvPicPr>
                    <p:blipFill>
                      <a:blip r:embed="rId5"/>
                      <a:srcRect/>
                      <a:stretch>
                        <a:fillRect/>
                      </a:stretch>
                    </p:blipFill>
                    <p:spPr bwMode="auto">
                      <a:xfrm>
                        <a:off x="3639889" y="2691897"/>
                        <a:ext cx="3111500" cy="530225"/>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80E112CE-F0B4-433D-89D4-C160B8597F5B}"/>
              </a:ext>
            </a:extLst>
          </p:cNvPr>
          <p:cNvGraphicFramePr>
            <a:graphicFrameLocks noChangeAspect="1"/>
          </p:cNvGraphicFramePr>
          <p:nvPr>
            <p:extLst>
              <p:ext uri="{D42A27DB-BD31-4B8C-83A1-F6EECF244321}">
                <p14:modId xmlns:p14="http://schemas.microsoft.com/office/powerpoint/2010/main" val="3431909400"/>
              </p:ext>
            </p:extLst>
          </p:nvPr>
        </p:nvGraphicFramePr>
        <p:xfrm>
          <a:off x="3615536" y="3222122"/>
          <a:ext cx="3497262" cy="588963"/>
        </p:xfrm>
        <a:graphic>
          <a:graphicData uri="http://schemas.openxmlformats.org/presentationml/2006/ole">
            <mc:AlternateContent xmlns:mc="http://schemas.openxmlformats.org/markup-compatibility/2006">
              <mc:Choice xmlns:v="urn:schemas-microsoft-com:vml" Requires="v">
                <p:oleObj name="Equation" r:id="rId6" imgW="1384200" imgH="253800" progId="Equation.DSMT4">
                  <p:embed/>
                </p:oleObj>
              </mc:Choice>
              <mc:Fallback>
                <p:oleObj name="Equation" r:id="rId6" imgW="1384200" imgH="253800" progId="Equation.DSMT4">
                  <p:embed/>
                  <p:pic>
                    <p:nvPicPr>
                      <p:cNvPr id="6" name="对象 5">
                        <a:extLst>
                          <a:ext uri="{FF2B5EF4-FFF2-40B4-BE49-F238E27FC236}">
                            <a16:creationId xmlns:a16="http://schemas.microsoft.com/office/drawing/2014/main" id="{80E112CE-F0B4-433D-89D4-C160B8597F5B}"/>
                          </a:ext>
                        </a:extLst>
                      </p:cNvPr>
                      <p:cNvPicPr>
                        <a:picLocks noChangeAspect="1" noChangeArrowheads="1"/>
                      </p:cNvPicPr>
                      <p:nvPr/>
                    </p:nvPicPr>
                    <p:blipFill>
                      <a:blip r:embed="rId7"/>
                      <a:srcRect/>
                      <a:stretch>
                        <a:fillRect/>
                      </a:stretch>
                    </p:blipFill>
                    <p:spPr bwMode="auto">
                      <a:xfrm>
                        <a:off x="3615536" y="3222122"/>
                        <a:ext cx="3497262" cy="588963"/>
                      </a:xfrm>
                      <a:prstGeom prst="rect">
                        <a:avLst/>
                      </a:prstGeom>
                      <a:noFill/>
                    </p:spPr>
                  </p:pic>
                </p:oleObj>
              </mc:Fallback>
            </mc:AlternateContent>
          </a:graphicData>
        </a:graphic>
      </p:graphicFrame>
      <p:sp>
        <p:nvSpPr>
          <p:cNvPr id="7" name="箭头: 右 6">
            <a:extLst>
              <a:ext uri="{FF2B5EF4-FFF2-40B4-BE49-F238E27FC236}">
                <a16:creationId xmlns:a16="http://schemas.microsoft.com/office/drawing/2014/main" id="{9621E6F3-AC55-4628-ABAA-92920C98BEE4}"/>
              </a:ext>
            </a:extLst>
          </p:cNvPr>
          <p:cNvSpPr/>
          <p:nvPr/>
        </p:nvSpPr>
        <p:spPr>
          <a:xfrm>
            <a:off x="6500798" y="6216262"/>
            <a:ext cx="612000" cy="156754"/>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对象 8">
            <a:extLst>
              <a:ext uri="{FF2B5EF4-FFF2-40B4-BE49-F238E27FC236}">
                <a16:creationId xmlns:a16="http://schemas.microsoft.com/office/drawing/2014/main" id="{3DF85082-BD50-49E9-AB02-33B78A7FE95A}"/>
              </a:ext>
            </a:extLst>
          </p:cNvPr>
          <p:cNvGraphicFramePr>
            <a:graphicFrameLocks noChangeAspect="1"/>
          </p:cNvGraphicFramePr>
          <p:nvPr>
            <p:extLst>
              <p:ext uri="{D42A27DB-BD31-4B8C-83A1-F6EECF244321}">
                <p14:modId xmlns:p14="http://schemas.microsoft.com/office/powerpoint/2010/main" val="2446485741"/>
              </p:ext>
            </p:extLst>
          </p:nvPr>
        </p:nvGraphicFramePr>
        <p:xfrm>
          <a:off x="2036564" y="837931"/>
          <a:ext cx="6159500" cy="517525"/>
        </p:xfrm>
        <a:graphic>
          <a:graphicData uri="http://schemas.openxmlformats.org/presentationml/2006/ole">
            <mc:AlternateContent xmlns:mc="http://schemas.openxmlformats.org/markup-compatibility/2006">
              <mc:Choice xmlns:v="urn:schemas-microsoft-com:vml" Requires="v">
                <p:oleObj name="Equation" r:id="rId8" imgW="2781000" imgH="253800" progId="Equation.DSMT4">
                  <p:embed/>
                </p:oleObj>
              </mc:Choice>
              <mc:Fallback>
                <p:oleObj name="Equation" r:id="rId8" imgW="2781000" imgH="253800" progId="Equation.DSMT4">
                  <p:embed/>
                  <p:pic>
                    <p:nvPicPr>
                      <p:cNvPr id="21" name="对象 20">
                        <a:extLst>
                          <a:ext uri="{FF2B5EF4-FFF2-40B4-BE49-F238E27FC236}">
                            <a16:creationId xmlns:a16="http://schemas.microsoft.com/office/drawing/2014/main" id="{08A16CB4-6DA1-4158-A423-9EA6736D5DA3}"/>
                          </a:ext>
                        </a:extLst>
                      </p:cNvPr>
                      <p:cNvPicPr>
                        <a:picLocks noChangeAspect="1" noChangeArrowheads="1"/>
                      </p:cNvPicPr>
                      <p:nvPr/>
                    </p:nvPicPr>
                    <p:blipFill>
                      <a:blip r:embed="rId9"/>
                      <a:srcRect/>
                      <a:stretch>
                        <a:fillRect/>
                      </a:stretch>
                    </p:blipFill>
                    <p:spPr bwMode="auto">
                      <a:xfrm>
                        <a:off x="2036564" y="837931"/>
                        <a:ext cx="6159500" cy="517525"/>
                      </a:xfrm>
                      <a:prstGeom prst="rect">
                        <a:avLst/>
                      </a:prstGeom>
                      <a:noFill/>
                    </p:spPr>
                  </p:pic>
                </p:oleObj>
              </mc:Fallback>
            </mc:AlternateContent>
          </a:graphicData>
        </a:graphic>
      </p:graphicFrame>
      <p:grpSp>
        <p:nvGrpSpPr>
          <p:cNvPr id="11" name="组合 10">
            <a:extLst>
              <a:ext uri="{FF2B5EF4-FFF2-40B4-BE49-F238E27FC236}">
                <a16:creationId xmlns:a16="http://schemas.microsoft.com/office/drawing/2014/main" id="{F9F1BCD0-69E2-42DC-8A09-4657BF279B67}"/>
              </a:ext>
            </a:extLst>
          </p:cNvPr>
          <p:cNvGrpSpPr/>
          <p:nvPr/>
        </p:nvGrpSpPr>
        <p:grpSpPr>
          <a:xfrm>
            <a:off x="10156006" y="5553113"/>
            <a:ext cx="1954061" cy="922372"/>
            <a:chOff x="9545269" y="5491119"/>
            <a:chExt cx="1954061" cy="922372"/>
          </a:xfrm>
        </p:grpSpPr>
        <p:sp>
          <p:nvSpPr>
            <p:cNvPr id="8" name="右大括号 7">
              <a:extLst>
                <a:ext uri="{FF2B5EF4-FFF2-40B4-BE49-F238E27FC236}">
                  <a16:creationId xmlns:a16="http://schemas.microsoft.com/office/drawing/2014/main" id="{31DFA28C-FCED-4FBF-97CA-FCB66F787465}"/>
                </a:ext>
              </a:extLst>
            </p:cNvPr>
            <p:cNvSpPr/>
            <p:nvPr/>
          </p:nvSpPr>
          <p:spPr>
            <a:xfrm>
              <a:off x="9545269" y="5491119"/>
              <a:ext cx="331979" cy="922372"/>
            </a:xfrm>
            <a:prstGeom prst="rightBrace">
              <a:avLst>
                <a:gd name="adj1" fmla="val 36404"/>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E4E4353-5A9C-4E02-A081-857A41306FB7}"/>
                </a:ext>
              </a:extLst>
            </p:cNvPr>
            <p:cNvSpPr txBox="1"/>
            <p:nvPr/>
          </p:nvSpPr>
          <p:spPr>
            <a:xfrm>
              <a:off x="9862343" y="5767639"/>
              <a:ext cx="1636987" cy="400110"/>
            </a:xfrm>
            <a:prstGeom prst="rect">
              <a:avLst/>
            </a:prstGeom>
            <a:noFill/>
          </p:spPr>
          <p:txBody>
            <a:bodyPr wrap="none" rtlCol="0">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求解出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00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2" name="箭头: 右 11">
            <a:extLst>
              <a:ext uri="{FF2B5EF4-FFF2-40B4-BE49-F238E27FC236}">
                <a16:creationId xmlns:a16="http://schemas.microsoft.com/office/drawing/2014/main" id="{00CD963E-C6D7-4EB2-AE35-10F1C71E653A}"/>
              </a:ext>
            </a:extLst>
          </p:cNvPr>
          <p:cNvSpPr/>
          <p:nvPr/>
        </p:nvSpPr>
        <p:spPr>
          <a:xfrm>
            <a:off x="6952652" y="5647047"/>
            <a:ext cx="331979" cy="156753"/>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689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 calcmode="lin" valueType="num">
                                      <p:cBhvr additive="base">
                                        <p:cTn id="3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anim calcmode="lin" valueType="num">
                                      <p:cBhvr additive="base">
                                        <p:cTn id="4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 calcmode="lin" valueType="num">
                                      <p:cBhvr additive="base">
                                        <p:cTn id="5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additive="base">
                                        <p:cTn id="65" dur="500" fill="hold"/>
                                        <p:tgtEl>
                                          <p:spTgt spid="7"/>
                                        </p:tgtEl>
                                        <p:attrNameLst>
                                          <p:attrName>ppt_x</p:attrName>
                                        </p:attrNameLst>
                                      </p:cBhvr>
                                      <p:tavLst>
                                        <p:tav tm="0">
                                          <p:val>
                                            <p:strVal val="#ppt_x"/>
                                          </p:val>
                                        </p:tav>
                                        <p:tav tm="100000">
                                          <p:val>
                                            <p:strVal val="#ppt_x"/>
                                          </p:val>
                                        </p:tav>
                                      </p:tavLst>
                                    </p:anim>
                                    <p:anim calcmode="lin" valueType="num">
                                      <p:cBhvr additive="base">
                                        <p:cTn id="6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additive="base">
                                        <p:cTn id="71" dur="500" fill="hold"/>
                                        <p:tgtEl>
                                          <p:spTgt spid="11"/>
                                        </p:tgtEl>
                                        <p:attrNameLst>
                                          <p:attrName>ppt_x</p:attrName>
                                        </p:attrNameLst>
                                      </p:cBhvr>
                                      <p:tavLst>
                                        <p:tav tm="0">
                                          <p:val>
                                            <p:strVal val="#ppt_x"/>
                                          </p:val>
                                        </p:tav>
                                        <p:tav tm="100000">
                                          <p:val>
                                            <p:strVal val="#ppt_x"/>
                                          </p:val>
                                        </p:tav>
                                      </p:tavLst>
                                    </p:anim>
                                    <p:anim calcmode="lin" valueType="num">
                                      <p:cBhvr additive="base">
                                        <p:cTn id="7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C0F0815-5A6C-42D8-807F-BC60913ADBDD}"/>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11</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26A03628-DCC5-4694-BB2B-EEF8B071CFC7}"/>
              </a:ext>
            </a:extLst>
          </p:cNvPr>
          <p:cNvPicPr>
            <a:picLocks noChangeAspect="1"/>
          </p:cNvPicPr>
          <p:nvPr/>
        </p:nvPicPr>
        <p:blipFill rotWithShape="1">
          <a:blip r:embed="rId2"/>
          <a:srcRect l="38786" t="21181" r="34128" b="73162"/>
          <a:stretch/>
        </p:blipFill>
        <p:spPr>
          <a:xfrm>
            <a:off x="2897542" y="1531512"/>
            <a:ext cx="5955048" cy="699624"/>
          </a:xfrm>
          <a:prstGeom prst="rect">
            <a:avLst/>
          </a:prstGeom>
        </p:spPr>
      </p:pic>
      <p:pic>
        <p:nvPicPr>
          <p:cNvPr id="4" name="图片 3">
            <a:extLst>
              <a:ext uri="{FF2B5EF4-FFF2-40B4-BE49-F238E27FC236}">
                <a16:creationId xmlns:a16="http://schemas.microsoft.com/office/drawing/2014/main" id="{6CAB4C29-A5F0-4AB7-9D4B-3AFC1864FC4A}"/>
              </a:ext>
            </a:extLst>
          </p:cNvPr>
          <p:cNvPicPr>
            <a:picLocks noChangeAspect="1"/>
          </p:cNvPicPr>
          <p:nvPr/>
        </p:nvPicPr>
        <p:blipFill rotWithShape="1">
          <a:blip r:embed="rId2"/>
          <a:srcRect l="38786" t="34424" r="34128" b="62025"/>
          <a:stretch/>
        </p:blipFill>
        <p:spPr>
          <a:xfrm>
            <a:off x="2537007" y="2231136"/>
            <a:ext cx="6226841" cy="459107"/>
          </a:xfrm>
          <a:prstGeom prst="rect">
            <a:avLst/>
          </a:prstGeom>
        </p:spPr>
      </p:pic>
      <p:sp>
        <p:nvSpPr>
          <p:cNvPr id="5" name="矩形 4">
            <a:extLst>
              <a:ext uri="{FF2B5EF4-FFF2-40B4-BE49-F238E27FC236}">
                <a16:creationId xmlns:a16="http://schemas.microsoft.com/office/drawing/2014/main" id="{C682794B-49C7-4EB9-94A5-ED1365746E93}"/>
              </a:ext>
            </a:extLst>
          </p:cNvPr>
          <p:cNvSpPr/>
          <p:nvPr/>
        </p:nvSpPr>
        <p:spPr>
          <a:xfrm>
            <a:off x="481784" y="1033271"/>
            <a:ext cx="4110446" cy="461665"/>
          </a:xfrm>
          <a:prstGeom prst="rect">
            <a:avLst/>
          </a:prstGeom>
        </p:spPr>
        <p:txBody>
          <a:bodyPr wrap="square">
            <a:spAutoFit/>
          </a:bodyPr>
          <a:lstStyle/>
          <a:p>
            <a:r>
              <a:rPr lang="en-US" altLang="zh-CN" sz="2400" b="1" dirty="0">
                <a:solidFill>
                  <a:srgbClr val="000000"/>
                </a:solidFill>
                <a:latin typeface="Times New Roman" panose="02020603050405020304" pitchFamily="18" charset="0"/>
                <a:cs typeface="Times New Roman" panose="02020603050405020304" pitchFamily="18" charset="0"/>
              </a:rPr>
              <a:t>Cubic Polynomial Trajectory</a:t>
            </a:r>
            <a:endParaRPr lang="zh-CN" altLang="en-US" sz="24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7AA82718-FA5E-4A32-8C09-47DF743DD79B}"/>
              </a:ext>
            </a:extLst>
          </p:cNvPr>
          <p:cNvPicPr>
            <a:picLocks noChangeAspect="1"/>
          </p:cNvPicPr>
          <p:nvPr/>
        </p:nvPicPr>
        <p:blipFill rotWithShape="1">
          <a:blip r:embed="rId2"/>
          <a:srcRect l="38786" t="49991" r="34128" b="32941"/>
          <a:stretch/>
        </p:blipFill>
        <p:spPr>
          <a:xfrm>
            <a:off x="2350036" y="2789636"/>
            <a:ext cx="5679370" cy="2013080"/>
          </a:xfrm>
          <a:prstGeom prst="rect">
            <a:avLst/>
          </a:prstGeom>
        </p:spPr>
      </p:pic>
      <p:sp>
        <p:nvSpPr>
          <p:cNvPr id="7" name="矩形 6">
            <a:extLst>
              <a:ext uri="{FF2B5EF4-FFF2-40B4-BE49-F238E27FC236}">
                <a16:creationId xmlns:a16="http://schemas.microsoft.com/office/drawing/2014/main" id="{D5807661-D363-4156-B1DE-49C871280752}"/>
              </a:ext>
            </a:extLst>
          </p:cNvPr>
          <p:cNvSpPr/>
          <p:nvPr/>
        </p:nvSpPr>
        <p:spPr>
          <a:xfrm>
            <a:off x="547617" y="2789636"/>
            <a:ext cx="6096000" cy="461665"/>
          </a:xfrm>
          <a:prstGeom prst="rect">
            <a:avLst/>
          </a:prstGeom>
        </p:spPr>
        <p:txBody>
          <a:bodyPr>
            <a:spAutoFit/>
          </a:bodyPr>
          <a:lstStyle/>
          <a:p>
            <a:r>
              <a:rPr lang="en-US" altLang="zh-CN" sz="2400" b="1" dirty="0">
                <a:solidFill>
                  <a:srgbClr val="000000"/>
                </a:solidFill>
                <a:latin typeface="Times New Roman" panose="02020603050405020304" pitchFamily="18" charset="0"/>
                <a:cs typeface="Times New Roman" panose="02020603050405020304" pitchFamily="18" charset="0"/>
              </a:rPr>
              <a:t>Four constraints </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2324BB15-7348-4FC8-A2F2-D63D7CA61DB4}"/>
              </a:ext>
            </a:extLst>
          </p:cNvPr>
          <p:cNvPicPr>
            <a:picLocks noChangeAspect="1"/>
          </p:cNvPicPr>
          <p:nvPr/>
        </p:nvPicPr>
        <p:blipFill rotWithShape="1">
          <a:blip r:embed="rId2"/>
          <a:srcRect l="38786" t="74976" r="34128" b="10629"/>
          <a:stretch/>
        </p:blipFill>
        <p:spPr>
          <a:xfrm>
            <a:off x="2979857" y="4999441"/>
            <a:ext cx="5460511" cy="1632395"/>
          </a:xfrm>
          <a:prstGeom prst="rect">
            <a:avLst/>
          </a:prstGeom>
        </p:spPr>
      </p:pic>
      <p:sp>
        <p:nvSpPr>
          <p:cNvPr id="9" name="矩形 8">
            <a:extLst>
              <a:ext uri="{FF2B5EF4-FFF2-40B4-BE49-F238E27FC236}">
                <a16:creationId xmlns:a16="http://schemas.microsoft.com/office/drawing/2014/main" id="{E7C81453-8B16-4553-9B68-A5A0EF511A44}"/>
              </a:ext>
            </a:extLst>
          </p:cNvPr>
          <p:cNvSpPr/>
          <p:nvPr/>
        </p:nvSpPr>
        <p:spPr>
          <a:xfrm>
            <a:off x="547617" y="4710736"/>
            <a:ext cx="6096000" cy="461665"/>
          </a:xfrm>
          <a:prstGeom prst="rect">
            <a:avLst/>
          </a:prstGeom>
        </p:spPr>
        <p:txBody>
          <a:bodyPr>
            <a:spAutoFit/>
          </a:bodyPr>
          <a:lstStyle/>
          <a:p>
            <a:r>
              <a:rPr lang="en-US" altLang="zh-CN" sz="2400" b="1" dirty="0">
                <a:solidFill>
                  <a:srgbClr val="000000"/>
                </a:solidFill>
                <a:latin typeface="Times New Roman" panose="02020603050405020304" pitchFamily="18" charset="0"/>
                <a:cs typeface="Times New Roman" panose="02020603050405020304" pitchFamily="18" charset="0"/>
              </a:rPr>
              <a:t>Matrix equation </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9078F6-B912-4743-B373-BEF6A4238517}"/>
              </a:ext>
            </a:extLst>
          </p:cNvPr>
          <p:cNvSpPr txBox="1"/>
          <p:nvPr/>
        </p:nvSpPr>
        <p:spPr>
          <a:xfrm>
            <a:off x="-1" y="33341"/>
            <a:ext cx="9475981" cy="584775"/>
          </a:xfrm>
          <a:prstGeom prst="rect">
            <a:avLst/>
          </a:prstGeom>
          <a:solidFill>
            <a:schemeClr val="bg1"/>
          </a:solid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基于多项式函数的关节轨迹规划：三次多项式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175848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35A523A-7947-4B00-8097-F3AF8B8EF854}"/>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12</a:t>
            </a:fld>
            <a:endParaRPr lang="zh-CN" altLang="en-US">
              <a:solidFill>
                <a:prstClr val="black">
                  <a:tint val="75000"/>
                </a:prstClr>
              </a:solidFill>
            </a:endParaRPr>
          </a:p>
        </p:txBody>
      </p:sp>
      <p:pic>
        <p:nvPicPr>
          <p:cNvPr id="10" name="图片 9">
            <a:extLst>
              <a:ext uri="{FF2B5EF4-FFF2-40B4-BE49-F238E27FC236}">
                <a16:creationId xmlns:a16="http://schemas.microsoft.com/office/drawing/2014/main" id="{C2C70858-A7B6-4388-8157-44361ED6B59A}"/>
              </a:ext>
            </a:extLst>
          </p:cNvPr>
          <p:cNvPicPr>
            <a:picLocks noChangeAspect="1"/>
          </p:cNvPicPr>
          <p:nvPr/>
        </p:nvPicPr>
        <p:blipFill>
          <a:blip r:embed="rId2"/>
          <a:stretch>
            <a:fillRect/>
          </a:stretch>
        </p:blipFill>
        <p:spPr>
          <a:xfrm>
            <a:off x="437888" y="828429"/>
            <a:ext cx="10782738" cy="720080"/>
          </a:xfrm>
          <a:prstGeom prst="rect">
            <a:avLst/>
          </a:prstGeom>
        </p:spPr>
      </p:pic>
      <p:pic>
        <p:nvPicPr>
          <p:cNvPr id="11" name="图片 10">
            <a:extLst>
              <a:ext uri="{FF2B5EF4-FFF2-40B4-BE49-F238E27FC236}">
                <a16:creationId xmlns:a16="http://schemas.microsoft.com/office/drawing/2014/main" id="{73C24620-5E7D-44E2-933B-15E0723CB9AA}"/>
              </a:ext>
            </a:extLst>
          </p:cNvPr>
          <p:cNvPicPr>
            <a:picLocks noChangeAspect="1"/>
          </p:cNvPicPr>
          <p:nvPr/>
        </p:nvPicPr>
        <p:blipFill>
          <a:blip r:embed="rId3"/>
          <a:stretch>
            <a:fillRect/>
          </a:stretch>
        </p:blipFill>
        <p:spPr>
          <a:xfrm>
            <a:off x="181182" y="1480842"/>
            <a:ext cx="3698436" cy="3528393"/>
          </a:xfrm>
          <a:prstGeom prst="rect">
            <a:avLst/>
          </a:prstGeom>
        </p:spPr>
      </p:pic>
      <p:pic>
        <p:nvPicPr>
          <p:cNvPr id="12" name="图片 11">
            <a:extLst>
              <a:ext uri="{FF2B5EF4-FFF2-40B4-BE49-F238E27FC236}">
                <a16:creationId xmlns:a16="http://schemas.microsoft.com/office/drawing/2014/main" id="{DA5598DC-5587-410B-96BD-07DAE6DB750C}"/>
              </a:ext>
            </a:extLst>
          </p:cNvPr>
          <p:cNvPicPr>
            <a:picLocks noChangeAspect="1"/>
          </p:cNvPicPr>
          <p:nvPr/>
        </p:nvPicPr>
        <p:blipFill>
          <a:blip r:embed="rId4"/>
          <a:stretch>
            <a:fillRect/>
          </a:stretch>
        </p:blipFill>
        <p:spPr>
          <a:xfrm>
            <a:off x="4141622" y="1480842"/>
            <a:ext cx="3507514" cy="3528392"/>
          </a:xfrm>
          <a:prstGeom prst="rect">
            <a:avLst/>
          </a:prstGeom>
        </p:spPr>
      </p:pic>
      <p:pic>
        <p:nvPicPr>
          <p:cNvPr id="13" name="图片 12">
            <a:extLst>
              <a:ext uri="{FF2B5EF4-FFF2-40B4-BE49-F238E27FC236}">
                <a16:creationId xmlns:a16="http://schemas.microsoft.com/office/drawing/2014/main" id="{6E352C47-E8DA-4801-A575-E9132170BE64}"/>
              </a:ext>
            </a:extLst>
          </p:cNvPr>
          <p:cNvPicPr>
            <a:picLocks noChangeAspect="1"/>
          </p:cNvPicPr>
          <p:nvPr/>
        </p:nvPicPr>
        <p:blipFill>
          <a:blip r:embed="rId5"/>
          <a:stretch>
            <a:fillRect/>
          </a:stretch>
        </p:blipFill>
        <p:spPr>
          <a:xfrm>
            <a:off x="7911139" y="1480841"/>
            <a:ext cx="3539183" cy="3528393"/>
          </a:xfrm>
          <a:prstGeom prst="rect">
            <a:avLst/>
          </a:prstGeom>
        </p:spPr>
      </p:pic>
      <p:sp>
        <p:nvSpPr>
          <p:cNvPr id="15" name="文本框 14">
            <a:extLst>
              <a:ext uri="{FF2B5EF4-FFF2-40B4-BE49-F238E27FC236}">
                <a16:creationId xmlns:a16="http://schemas.microsoft.com/office/drawing/2014/main" id="{789EBF7B-4091-4562-8713-D48247F726A3}"/>
              </a:ext>
            </a:extLst>
          </p:cNvPr>
          <p:cNvSpPr txBox="1"/>
          <p:nvPr/>
        </p:nvSpPr>
        <p:spPr>
          <a:xfrm>
            <a:off x="0" y="33341"/>
            <a:ext cx="9330376" cy="584775"/>
          </a:xfrm>
          <a:prstGeom prst="rect">
            <a:avLst/>
          </a:prstGeom>
          <a:solidFill>
            <a:schemeClr val="bg1"/>
          </a:solid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基于多项式函数的关节轨迹规划：三次多项式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996D19C-4AE8-4F47-A245-C427E07F40FA}"/>
                  </a:ext>
                </a:extLst>
              </p:cNvPr>
              <p:cNvSpPr txBox="1"/>
              <p:nvPr/>
            </p:nvSpPr>
            <p:spPr>
              <a:xfrm>
                <a:off x="574583" y="5124030"/>
                <a:ext cx="9106147" cy="1495859"/>
              </a:xfrm>
              <a:prstGeom prst="rect">
                <a:avLst/>
              </a:prstGeom>
              <a:noFill/>
            </p:spPr>
            <p:txBody>
              <a:bodyPr wrap="none" rtlCol="0">
                <a:spAutoFit/>
              </a:bodyPr>
              <a:lstStyle/>
              <a:p>
                <a:pPr marL="342900" indent="-342900">
                  <a:lnSpc>
                    <a:spcPct val="125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起点、终点加速度不为零，在起、终点加速度不连续</a:t>
                </a:r>
                <a:endParaRPr lang="en-US" altLang="zh-CN" sz="2400" b="1" dirty="0">
                  <a:latin typeface="微软雅黑" panose="020B0503020204020204" pitchFamily="34" charset="-122"/>
                  <a:ea typeface="微软雅黑" panose="020B0503020204020204" pitchFamily="34" charset="-122"/>
                </a:endParaRPr>
              </a:p>
              <a:p>
                <a:pPr marL="342900" indent="-342900">
                  <a:lnSpc>
                    <a:spcPct val="125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如何满足条件</a:t>
                </a:r>
                <a:r>
                  <a:rPr lang="zh-CN" altLang="en-US" sz="2400" b="1" dirty="0"/>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𝒎𝒊𝒏</m:t>
                        </m:r>
                      </m:sub>
                    </m:sSub>
                    <m:r>
                      <a:rPr lang="en-US" altLang="zh-CN" sz="2400" b="1">
                        <a:latin typeface="Cambria Math" panose="02040503050406030204" pitchFamily="18" charset="0"/>
                        <a:ea typeface="Cambria Math" panose="02040503050406030204" pitchFamily="18" charset="0"/>
                      </a:rPr>
                      <m:t>≤</m:t>
                    </m:r>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𝒕</m:t>
                        </m:r>
                      </m:e>
                    </m:d>
                    <m:r>
                      <a:rPr lang="en-US" altLang="zh-CN" sz="2400" b="1" dirty="0">
                        <a:latin typeface="Cambria Math" panose="02040503050406030204" pitchFamily="18" charset="0"/>
                        <a:ea typeface="Cambria Math" panose="02040503050406030204" pitchFamily="18" charset="0"/>
                      </a:rPr>
                      <m:t>≤</m:t>
                    </m:r>
                  </m:oMath>
                </a14:m>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𝒎𝒂𝒙</m:t>
                        </m:r>
                      </m:sub>
                    </m:sSub>
                  </m:oMath>
                </a14:m>
                <a:r>
                  <a:rPr lang="en-US" altLang="zh-CN" sz="2400" b="1" dirty="0">
                    <a:latin typeface="微软雅黑" panose="020B0503020204020204" pitchFamily="34" charset="-122"/>
                  </a:rPr>
                  <a:t>  </a:t>
                </a:r>
                <a:r>
                  <a:rPr lang="zh-CN" altLang="en-US" sz="2400" b="1" dirty="0">
                    <a:latin typeface="微软雅黑" panose="020B0503020204020204" pitchFamily="34" charset="-122"/>
                  </a:rPr>
                  <a:t>以及</a:t>
                </a:r>
                <a14:m>
                  <m:oMath xmlns:m="http://schemas.openxmlformats.org/officeDocument/2006/math">
                    <m:r>
                      <a:rPr lang="en-US" altLang="zh-CN" sz="2400" b="1">
                        <a:latin typeface="Cambria Math" panose="02040503050406030204" pitchFamily="18" charset="0"/>
                      </a:rPr>
                      <m:t>    </m:t>
                    </m:r>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𝒎𝒊𝒏</m:t>
                        </m:r>
                      </m:sub>
                    </m:sSub>
                    <m:r>
                      <a:rPr lang="en-US" altLang="zh-CN" sz="2400" b="1">
                        <a:latin typeface="Cambria Math" panose="02040503050406030204" pitchFamily="18" charset="0"/>
                        <a:ea typeface="Cambria Math" panose="02040503050406030204" pitchFamily="18" charset="0"/>
                      </a:rPr>
                      <m:t>≤</m:t>
                    </m:r>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𝒕</m:t>
                        </m:r>
                      </m:e>
                    </m:d>
                    <m:r>
                      <a:rPr lang="en-US" altLang="zh-CN" sz="2400" b="1" dirty="0">
                        <a:latin typeface="Cambria Math" panose="02040503050406030204" pitchFamily="18" charset="0"/>
                        <a:ea typeface="Cambria Math" panose="02040503050406030204" pitchFamily="18" charset="0"/>
                      </a:rPr>
                      <m:t>≤</m:t>
                    </m:r>
                  </m:oMath>
                </a14:m>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𝒎𝒂𝒙</m:t>
                        </m:r>
                      </m:sub>
                    </m:sSub>
                  </m:oMath>
                </a14:m>
                <a:endParaRPr lang="en-US" altLang="zh-CN" sz="2400" b="1" dirty="0">
                  <a:latin typeface="微软雅黑" panose="020B0503020204020204" pitchFamily="34" charset="-122"/>
                </a:endParaRPr>
              </a:p>
              <a:p>
                <a:pPr>
                  <a:lnSpc>
                    <a:spcPct val="125000"/>
                  </a:lnSpc>
                </a:pPr>
                <a:r>
                  <a:rPr lang="zh-CN" altLang="en-US" sz="2400" b="1" dirty="0">
                    <a:latin typeface="微软雅黑" panose="020B0503020204020204" pitchFamily="34" charset="-122"/>
                    <a:ea typeface="微软雅黑" panose="020B0503020204020204" pitchFamily="34" charset="-122"/>
                  </a:rPr>
                  <a:t>    通过调整 </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𝒕</m:t>
                        </m:r>
                      </m:e>
                      <m:sub>
                        <m:r>
                          <a:rPr lang="en-US" altLang="zh-CN" sz="2400" b="1" i="1">
                            <a:latin typeface="Cambria Math" panose="02040503050406030204" pitchFamily="18" charset="0"/>
                          </a:rPr>
                          <m:t>𝒇</m:t>
                        </m:r>
                      </m:sub>
                    </m:sSub>
                  </m:oMath>
                </a14:m>
                <a:r>
                  <a:rPr lang="zh-CN" altLang="en-US" sz="2400" b="1" dirty="0">
                    <a:latin typeface="微软雅黑" panose="020B0503020204020204" pitchFamily="34" charset="-122"/>
                    <a:ea typeface="微软雅黑" panose="020B0503020204020204" pitchFamily="34" charset="-122"/>
                  </a:rPr>
                  <a:t>，满足最大速度、最大加速度约束</a:t>
                </a:r>
              </a:p>
            </p:txBody>
          </p:sp>
        </mc:Choice>
        <mc:Fallback xmlns="">
          <p:sp>
            <p:nvSpPr>
              <p:cNvPr id="16" name="文本框 15">
                <a:extLst>
                  <a:ext uri="{FF2B5EF4-FFF2-40B4-BE49-F238E27FC236}">
                    <a16:creationId xmlns:a16="http://schemas.microsoft.com/office/drawing/2014/main" id="{E996D19C-4AE8-4F47-A245-C427E07F40FA}"/>
                  </a:ext>
                </a:extLst>
              </p:cNvPr>
              <p:cNvSpPr txBox="1">
                <a:spLocks noRot="1" noChangeAspect="1" noMove="1" noResize="1" noEditPoints="1" noAdjustHandles="1" noChangeArrowheads="1" noChangeShapeType="1" noTextEdit="1"/>
              </p:cNvSpPr>
              <p:nvPr/>
            </p:nvSpPr>
            <p:spPr>
              <a:xfrm>
                <a:off x="574583" y="5124030"/>
                <a:ext cx="9106147" cy="1495859"/>
              </a:xfrm>
              <a:prstGeom prst="rect">
                <a:avLst/>
              </a:prstGeom>
              <a:blipFill>
                <a:blip r:embed="rId7"/>
                <a:stretch>
                  <a:fillRect l="-870" b="-61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53250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xEl>
                                              <p:pRg st="2" end="2"/>
                                            </p:txEl>
                                          </p:spTgt>
                                        </p:tgtEl>
                                        <p:attrNameLst>
                                          <p:attrName>style.visibility</p:attrName>
                                        </p:attrNameLst>
                                      </p:cBhvr>
                                      <p:to>
                                        <p:strVal val="visible"/>
                                      </p:to>
                                    </p:set>
                                    <p:anim calcmode="lin" valueType="num">
                                      <p:cBhvr additive="base">
                                        <p:cTn id="19"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7615E0-0843-4287-B4EF-8CAB425D2AD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13</a:t>
            </a:fld>
            <a:endParaRPr lang="zh-CN" altLang="en-US">
              <a:solidFill>
                <a:prstClr val="black">
                  <a:tint val="75000"/>
                </a:prstClr>
              </a:solidFill>
            </a:endParaRPr>
          </a:p>
        </p:txBody>
      </p:sp>
      <p:sp>
        <p:nvSpPr>
          <p:cNvPr id="3" name="矩形 2">
            <a:extLst>
              <a:ext uri="{FF2B5EF4-FFF2-40B4-BE49-F238E27FC236}">
                <a16:creationId xmlns:a16="http://schemas.microsoft.com/office/drawing/2014/main" id="{CFCA25D4-FEF1-4B58-AE25-9CA064952A13}"/>
              </a:ext>
            </a:extLst>
          </p:cNvPr>
          <p:cNvSpPr/>
          <p:nvPr/>
        </p:nvSpPr>
        <p:spPr>
          <a:xfrm>
            <a:off x="603699" y="1576421"/>
            <a:ext cx="10477242" cy="3910429"/>
          </a:xfrm>
          <a:prstGeom prst="rect">
            <a:avLst/>
          </a:prstGeom>
        </p:spPr>
        <p:txBody>
          <a:bodyPr wrap="square">
            <a:spAutoFit/>
          </a:bodyPr>
          <a:lstStyle/>
          <a:p>
            <a:pPr algn="just">
              <a:lnSpc>
                <a:spcPct val="170000"/>
              </a:lnSpc>
            </a:pPr>
            <a:r>
              <a:rPr lang="en-US" altLang="zh-CN" sz="3000" b="1" dirty="0">
                <a:solidFill>
                  <a:srgbClr val="000000"/>
                </a:solidFill>
                <a:latin typeface="Times New Roman" panose="02020603050405020304" pitchFamily="18" charset="0"/>
                <a:cs typeface="Times New Roman" panose="02020603050405020304" pitchFamily="18" charset="0"/>
              </a:rPr>
              <a:t>The derivative of acceleration is called the </a:t>
            </a:r>
            <a:r>
              <a:rPr lang="en-US" altLang="zh-CN" sz="3000" b="1" i="1" dirty="0">
                <a:solidFill>
                  <a:srgbClr val="FF0000"/>
                </a:solidFill>
                <a:latin typeface="Times New Roman" panose="02020603050405020304" pitchFamily="18" charset="0"/>
                <a:cs typeface="Times New Roman" panose="02020603050405020304" pitchFamily="18" charset="0"/>
              </a:rPr>
              <a:t>Jerk</a:t>
            </a:r>
            <a:r>
              <a:rPr lang="en-US" altLang="zh-CN" sz="3000" b="1" dirty="0">
                <a:solidFill>
                  <a:srgbClr val="000000"/>
                </a:solidFill>
                <a:latin typeface="Times New Roman" panose="02020603050405020304" pitchFamily="18" charset="0"/>
                <a:cs typeface="Times New Roman" panose="02020603050405020304" pitchFamily="18" charset="0"/>
              </a:rPr>
              <a:t>. A discontinuity in acceleration leads to an impulsive Jerk, which may excite vibrational modes in the manipulator and reduce tracking</a:t>
            </a:r>
            <a:r>
              <a:rPr lang="en-US" altLang="zh-CN" sz="3000" b="1" dirty="0">
                <a:latin typeface="Times New Roman" panose="02020603050405020304" pitchFamily="18" charset="0"/>
                <a:cs typeface="Times New Roman" panose="02020603050405020304" pitchFamily="18" charset="0"/>
              </a:rPr>
              <a:t> accuracy. For this reason, one may wish to specify constraints on the acceleration as well as on the position and velocity.</a:t>
            </a:r>
            <a:endParaRPr lang="zh-CN" altLang="en-US" sz="3000" b="1"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FBC37013-9958-49A9-AF55-FA772B97F74E}"/>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基于多项式函数的关节轨迹规划：五次多项式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330109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7D6D84-3A35-40E4-9007-B48DA536DB87}"/>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14</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D4585F9-BC75-4E6D-BB92-4C22851EC0E5}"/>
                  </a:ext>
                </a:extLst>
              </p:cNvPr>
              <p:cNvSpPr txBox="1"/>
              <p:nvPr/>
            </p:nvSpPr>
            <p:spPr>
              <a:xfrm>
                <a:off x="432945" y="1053000"/>
                <a:ext cx="11494242" cy="4549707"/>
              </a:xfrm>
              <a:prstGeom prst="rect">
                <a:avLst/>
              </a:prstGeom>
              <a:noFill/>
            </p:spPr>
            <p:txBody>
              <a:bodyPr wrap="square" rtlCol="0">
                <a:spAutoFit/>
              </a:bodyPr>
              <a:lstStyle/>
              <a:p>
                <a:pPr marL="342900" indent="-342900">
                  <a:lnSpc>
                    <a:spcPct val="140000"/>
                  </a:lnSpc>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问题描述：求取一个五次多项式函数</a:t>
                </a:r>
                <a14:m>
                  <m:oMath xmlns:m="http://schemas.openxmlformats.org/officeDocument/2006/math">
                    <m:r>
                      <a:rPr lang="en-US" altLang="zh-CN" sz="2400" b="1" i="1">
                        <a:latin typeface="Cambria Math" panose="02040503050406030204" pitchFamily="18" charset="0"/>
                      </a:rPr>
                      <m:t>𝒒</m:t>
                    </m:r>
                    <m:r>
                      <a:rPr lang="en-US" altLang="zh-CN" sz="2400" b="1" dirty="0">
                        <a:latin typeface="Cambria Math" panose="02040503050406030204" pitchFamily="18" charset="0"/>
                        <a:ea typeface="微软雅黑" panose="020B0503020204020204" pitchFamily="34" charset="-122"/>
                      </a:rPr>
                      <m:t>(</m:t>
                    </m:r>
                    <m:r>
                      <a:rPr lang="en-US" altLang="zh-CN" sz="2400" b="1" i="1" dirty="0">
                        <a:latin typeface="Cambria Math" panose="02040503050406030204" pitchFamily="18" charset="0"/>
                        <a:ea typeface="微软雅黑" panose="020B0503020204020204" pitchFamily="34" charset="-122"/>
                      </a:rPr>
                      <m:t>𝐭</m:t>
                    </m:r>
                    <m:r>
                      <a:rPr lang="en-US" altLang="zh-CN" sz="2400" b="1" dirty="0">
                        <a:latin typeface="Cambria Math" panose="02040503050406030204" pitchFamily="18" charset="0"/>
                        <a:ea typeface="微软雅黑" panose="020B0503020204020204" pitchFamily="34" charset="-122"/>
                      </a:rPr>
                      <m:t>)</m:t>
                    </m:r>
                  </m:oMath>
                </a14:m>
                <a:r>
                  <a:rPr lang="zh-CN" altLang="en-US" sz="2400" b="1" i="0" dirty="0">
                    <a:latin typeface="微软雅黑" panose="020B0503020204020204" pitchFamily="34" charset="-122"/>
                    <a:ea typeface="微软雅黑" panose="020B0503020204020204" pitchFamily="34" charset="-122"/>
                  </a:rPr>
                  <a:t> </a:t>
                </a:r>
                <a:r>
                  <a:rPr lang="en-US" altLang="zh-CN" sz="2400" b="1" i="0" dirty="0">
                    <a:latin typeface="微软雅黑" panose="020B0503020204020204" pitchFamily="34" charset="-122"/>
                    <a:ea typeface="微软雅黑" panose="020B0503020204020204" pitchFamily="34" charset="-122"/>
                  </a:rPr>
                  <a:t>:</a:t>
                </a:r>
              </a:p>
              <a:p>
                <a:pPr>
                  <a:lnSpc>
                    <a:spcPct val="140000"/>
                  </a:lnSpc>
                </a:pPr>
                <a14:m>
                  <m:oMathPara xmlns:m="http://schemas.openxmlformats.org/officeDocument/2006/math">
                    <m:oMathParaPr>
                      <m:jc m:val="centerGroup"/>
                    </m:oMathParaPr>
                    <m:oMath xmlns:m="http://schemas.openxmlformats.org/officeDocument/2006/math">
                      <m:r>
                        <a:rPr lang="en-US" altLang="zh-CN" sz="2400" b="1" i="1">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r>
                        <a:rPr lang="en-US" altLang="zh-CN" sz="2400" b="1" i="1">
                          <a:latin typeface="Cambria Math" panose="02040503050406030204" pitchFamily="18" charset="0"/>
                          <a:ea typeface="微软雅黑" panose="020B0503020204020204" pitchFamily="34" charset="-122"/>
                        </a:rPr>
                        <m:t>𝐭</m:t>
                      </m:r>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𝟐</m:t>
                          </m:r>
                        </m:sup>
                      </m:s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𝟑</m:t>
                          </m:r>
                        </m:sup>
                      </m:s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𝟒</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𝟒</m:t>
                          </m:r>
                        </m:sup>
                      </m:s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𝟓</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𝟓</m:t>
                          </m:r>
                        </m:sup>
                      </m:sSup>
                    </m:oMath>
                  </m:oMathPara>
                </a14:m>
                <a:endParaRPr lang="en-US" altLang="zh-CN" sz="2400" b="1" i="0" dirty="0">
                  <a:latin typeface="微软雅黑" panose="020B0503020204020204" pitchFamily="34" charset="-122"/>
                  <a:ea typeface="微软雅黑" panose="020B0503020204020204" pitchFamily="34" charset="-122"/>
                </a:endParaRPr>
              </a:p>
              <a:p>
                <a:pPr marL="342900" indent="-342900">
                  <a:lnSpc>
                    <a:spcPct val="140000"/>
                  </a:lnSpc>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满足：</a:t>
                </a:r>
                <a:endParaRPr lang="en-US" altLang="zh-CN" sz="2400" b="1" i="0" dirty="0">
                  <a:latin typeface="微软雅黑" panose="020B0503020204020204" pitchFamily="34" charset="-122"/>
                  <a:ea typeface="微软雅黑" panose="020B0503020204020204" pitchFamily="34" charset="-122"/>
                </a:endParaRPr>
              </a:p>
              <a:p>
                <a:pPr marL="800100" lvl="1" indent="-342900">
                  <a:lnSpc>
                    <a:spcPct val="140000"/>
                  </a:lnSpc>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已知初始状态</a:t>
                </a:r>
                <a:endParaRPr lang="en-US" altLang="zh-CN" sz="2400" b="1" dirty="0">
                  <a:latin typeface="Cambria Math" panose="02040503050406030204" pitchFamily="18" charset="0"/>
                </a:endParaRPr>
              </a:p>
              <a:p>
                <a:pPr marL="800100" lvl="1" indent="-342900">
                  <a:lnSpc>
                    <a:spcPct val="140000"/>
                  </a:lnSpc>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已知目标状态</a:t>
                </a:r>
                <a:endParaRPr lang="en-US" altLang="zh-CN" sz="2400" b="1" i="0" dirty="0">
                  <a:latin typeface="微软雅黑" panose="020B0503020204020204" pitchFamily="34" charset="-122"/>
                </a:endParaRPr>
              </a:p>
              <a:p>
                <a:pPr marL="1257300" lvl="2" indent="-342900">
                  <a:lnSpc>
                    <a:spcPct val="140000"/>
                  </a:lnSpc>
                  <a:buFont typeface="Wingdings" panose="05000000000000000000" pitchFamily="2" charset="2"/>
                  <a:buChar char="ü"/>
                </a:pP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a:latin typeface="Cambria Math" panose="02040503050406030204" pitchFamily="18" charset="0"/>
                          </a:rPr>
                          <m:t>𝟎</m:t>
                        </m:r>
                      </m:sub>
                    </m:sSub>
                    <m:r>
                      <a:rPr lang="en-US" altLang="zh-CN" sz="2400" b="1">
                        <a:latin typeface="Cambria Math" panose="02040503050406030204" pitchFamily="18" charset="0"/>
                      </a:rPr>
                      <m:t>=</m:t>
                    </m:r>
                    <m:r>
                      <a:rPr lang="en-US" altLang="zh-CN" sz="2400" b="1" i="1">
                        <a:latin typeface="Cambria Math" panose="02040503050406030204" pitchFamily="18" charset="0"/>
                        <a:ea typeface="微软雅黑" panose="020B0503020204020204" pitchFamily="34" charset="-122"/>
                      </a:rPr>
                      <m:t>𝐪</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𝟎</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𝟎</m:t>
                        </m:r>
                      </m:sub>
                    </m:sSub>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         </m:t>
                        </m:r>
                        <m:r>
                          <a:rPr lang="en-US" altLang="zh-CN" sz="2400" b="1" i="1">
                            <a:latin typeface="Cambria Math" panose="02040503050406030204" pitchFamily="18" charset="0"/>
                          </a:rPr>
                          <m:t>𝒒</m:t>
                        </m:r>
                      </m:e>
                      <m:sub>
                        <m:r>
                          <a:rPr lang="en-US" altLang="zh-CN" sz="2400" b="1" i="1">
                            <a:latin typeface="Cambria Math" panose="02040503050406030204" pitchFamily="18" charset="0"/>
                          </a:rPr>
                          <m:t>𝒇</m:t>
                        </m:r>
                      </m:sub>
                    </m:sSub>
                    <m:r>
                      <a:rPr lang="en-US" altLang="zh-CN" sz="2400" b="1">
                        <a:latin typeface="Cambria Math" panose="02040503050406030204" pitchFamily="18" charset="0"/>
                      </a:rPr>
                      <m:t>=</m:t>
                    </m:r>
                    <m:r>
                      <a:rPr lang="en-US" altLang="zh-CN" sz="2400" b="1" i="1">
                        <a:latin typeface="Cambria Math" panose="02040503050406030204" pitchFamily="18" charset="0"/>
                        <a:ea typeface="微软雅黑" panose="020B0503020204020204" pitchFamily="34" charset="-122"/>
                      </a:rPr>
                      <m:t>𝐪</m:t>
                    </m:r>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𝟐</m:t>
                        </m:r>
                      </m:sup>
                    </m:sSub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𝟑</m:t>
                        </m:r>
                      </m:sup>
                    </m:sSub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𝟒</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𝟒</m:t>
                        </m:r>
                      </m:sup>
                    </m:sSubSup>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𝟓</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𝟓</m:t>
                        </m:r>
                      </m:sup>
                    </m:sSubSup>
                  </m:oMath>
                </a14:m>
                <a:endParaRPr lang="en-US" altLang="zh-CN" sz="2400" b="1" dirty="0">
                  <a:latin typeface="Cambria Math" panose="02040503050406030204" pitchFamily="18" charset="0"/>
                  <a:ea typeface="微软雅黑" panose="020B0503020204020204" pitchFamily="34" charset="-122"/>
                </a:endParaRPr>
              </a:p>
              <a:p>
                <a:pPr marL="1257300" lvl="2" indent="-342900">
                  <a:lnSpc>
                    <a:spcPct val="140000"/>
                  </a:lnSpc>
                  <a:buFont typeface="Wingdings" panose="05000000000000000000" pitchFamily="2" charset="2"/>
                  <a:buChar char="ü"/>
                </a:pP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a:latin typeface="Cambria Math" panose="02040503050406030204" pitchFamily="18" charset="0"/>
                          </a:rPr>
                          <m:t>𝟎</m:t>
                        </m:r>
                      </m:sub>
                    </m:sSub>
                    <m:r>
                      <a:rPr lang="en-US" altLang="zh-CN" sz="2400" b="1">
                        <a:latin typeface="Cambria Math" panose="02040503050406030204" pitchFamily="18" charset="0"/>
                      </a:rPr>
                      <m:t>=</m:t>
                    </m:r>
                    <m:acc>
                      <m:accPr>
                        <m:chr m:val="̇"/>
                        <m:ctrlPr>
                          <a:rPr lang="en-US" altLang="zh-CN" sz="2400" b="1" i="1">
                            <a:latin typeface="Cambria Math" panose="02040503050406030204" pitchFamily="18" charset="0"/>
                            <a:ea typeface="微软雅黑" panose="020B0503020204020204" pitchFamily="34" charset="-122"/>
                          </a:rPr>
                        </m:ctrlPr>
                      </m:accPr>
                      <m:e>
                        <m:r>
                          <a:rPr lang="en-US" altLang="zh-CN" sz="2400" b="1" i="1">
                            <a:latin typeface="Cambria Math" panose="02040503050406030204" pitchFamily="18" charset="0"/>
                            <a:ea typeface="微软雅黑" panose="020B0503020204020204" pitchFamily="34" charset="-122"/>
                          </a:rPr>
                          <m:t>𝒒</m:t>
                        </m:r>
                      </m:e>
                    </m:acc>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𝟎</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r>
                      <a:rPr lang="en-US" altLang="zh-CN" sz="2400" b="1" i="1" smtClean="0">
                        <a:latin typeface="Cambria Math" panose="02040503050406030204" pitchFamily="18" charset="0"/>
                        <a:ea typeface="微软雅黑" panose="020B0503020204020204" pitchFamily="34" charset="-122"/>
                      </a:rPr>
                      <m:t>          </m:t>
                    </m:r>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a:latin typeface="Cambria Math" panose="02040503050406030204" pitchFamily="18" charset="0"/>
                          </a:rPr>
                          <m:t>𝒇</m:t>
                        </m:r>
                      </m:sub>
                    </m:sSub>
                    <m:r>
                      <a:rPr lang="en-US" altLang="zh-CN" sz="2400" b="1">
                        <a:latin typeface="Cambria Math" panose="02040503050406030204" pitchFamily="18" charset="0"/>
                        <a:ea typeface="微软雅黑" panose="020B0503020204020204" pitchFamily="34" charset="-122"/>
                      </a:rPr>
                      <m:t>=</m:t>
                    </m:r>
                    <m:acc>
                      <m:accPr>
                        <m:chr m:val="̇"/>
                        <m:ctrlPr>
                          <a:rPr lang="en-US" altLang="zh-CN" sz="2400" b="1" i="1">
                            <a:latin typeface="Cambria Math" panose="02040503050406030204" pitchFamily="18" charset="0"/>
                            <a:ea typeface="微软雅黑" panose="020B0503020204020204" pitchFamily="34" charset="-122"/>
                          </a:rPr>
                        </m:ctrlPr>
                      </m:accPr>
                      <m:e>
                        <m:r>
                          <a:rPr lang="en-US" altLang="zh-CN" sz="2400" b="1" i="1">
                            <a:latin typeface="Cambria Math" panose="02040503050406030204" pitchFamily="18" charset="0"/>
                            <a:ea typeface="微软雅黑" panose="020B0503020204020204" pitchFamily="34" charset="-122"/>
                          </a:rPr>
                          <m:t>𝒒</m:t>
                        </m:r>
                      </m:e>
                    </m:acc>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m:t>
                        </m:r>
                      </m:sub>
                    </m:sSub>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𝟑</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𝟐</m:t>
                        </m:r>
                      </m:sup>
                    </m:sSubSup>
                    <m:r>
                      <a:rPr lang="en-US" altLang="zh-CN" sz="2400" b="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𝟒</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𝟒</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𝟑</m:t>
                        </m:r>
                      </m:sup>
                    </m:sSubSup>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𝟓</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𝟓</m:t>
                        </m:r>
                      </m:sub>
                    </m:sSub>
                    <m:sSubSup>
                      <m:sSubSupPr>
                        <m:ctrlPr>
                          <a:rPr lang="en-US" altLang="zh-CN" sz="2400" b="1" i="1" smtClean="0">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up>
                        <m:r>
                          <a:rPr lang="en-US" altLang="zh-CN" sz="2400" b="1" i="1">
                            <a:latin typeface="Cambria Math" panose="02040503050406030204" pitchFamily="18" charset="0"/>
                            <a:ea typeface="微软雅黑" panose="020B0503020204020204" pitchFamily="34" charset="-122"/>
                          </a:rPr>
                          <m:t>𝟒</m:t>
                        </m:r>
                      </m:sup>
                    </m:sSubSup>
                  </m:oMath>
                </a14:m>
                <a:endParaRPr lang="en-US" altLang="zh-CN" sz="2400" b="1" dirty="0">
                  <a:latin typeface="Cambria Math" panose="02040503050406030204" pitchFamily="18" charset="0"/>
                  <a:ea typeface="微软雅黑" panose="020B0503020204020204" pitchFamily="34" charset="-122"/>
                </a:endParaRPr>
              </a:p>
              <a:p>
                <a:pPr marL="1257300" lvl="2" indent="-342900">
                  <a:lnSpc>
                    <a:spcPct val="140000"/>
                  </a:lnSpc>
                  <a:buFont typeface="Wingdings" panose="05000000000000000000" pitchFamily="2" charset="2"/>
                  <a:buChar char="ü"/>
                </a:pP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𝒒</m:t>
                            </m:r>
                          </m:e>
                        </m:acc>
                      </m:e>
                      <m:sub>
                        <m:r>
                          <a:rPr lang="en-US" altLang="zh-CN" sz="2400" b="1" i="1">
                            <a:latin typeface="Cambria Math" panose="02040503050406030204" pitchFamily="18" charset="0"/>
                          </a:rPr>
                          <m:t>𝟎</m:t>
                        </m:r>
                      </m:sub>
                    </m:sSub>
                    <m:r>
                      <a:rPr lang="en-US" altLang="zh-CN" sz="2400" b="1">
                        <a:latin typeface="Cambria Math" panose="02040503050406030204" pitchFamily="18" charset="0"/>
                      </a:rPr>
                      <m:t>=</m:t>
                    </m:r>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𝟎</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𝟐</m:t>
                        </m:r>
                        <m:r>
                          <a:rPr lang="en-US" altLang="zh-CN" sz="2400" b="1" i="1">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𝟐</m:t>
                        </m:r>
                      </m:sub>
                    </m:sSub>
                    <m:r>
                      <a:rPr lang="en-US" altLang="zh-CN" sz="2400" b="1">
                        <a:latin typeface="Cambria Math" panose="02040503050406030204" pitchFamily="18" charset="0"/>
                        <a:ea typeface="微软雅黑" panose="020B0503020204020204" pitchFamily="34" charset="-122"/>
                      </a:rPr>
                      <m:t>       </m:t>
                    </m:r>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a:latin typeface="Cambria Math" panose="02040503050406030204" pitchFamily="18" charset="0"/>
                          </a:rPr>
                          <m:t>𝒇</m:t>
                        </m:r>
                      </m:sub>
                    </m:sSub>
                    <m:r>
                      <a:rPr lang="en-US" altLang="zh-CN" sz="2400" b="1">
                        <a:latin typeface="Cambria Math" panose="02040503050406030204" pitchFamily="18" charset="0"/>
                        <a:ea typeface="微软雅黑" panose="020B0503020204020204" pitchFamily="34" charset="-122"/>
                      </a:rPr>
                      <m:t>=</m:t>
                    </m:r>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e>
                    </m:d>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m:t>
                        </m:r>
                      </m:sub>
                    </m:sSub>
                    <m:r>
                      <a:rPr lang="en-US" altLang="zh-CN" sz="2400" b="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𝟔</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sub>
                    </m:sSub>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r>
                      <a:rPr lang="en-US" altLang="zh-CN" sz="2400" b="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𝟏𝟐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𝟒</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smtClean="0">
                            <a:latin typeface="Cambria Math" panose="02040503050406030204" pitchFamily="18" charset="0"/>
                            <a:ea typeface="微软雅黑" panose="020B0503020204020204" pitchFamily="34" charset="-122"/>
                          </a:rPr>
                          <m:t>𝟐</m:t>
                        </m:r>
                      </m:sup>
                    </m:sSubSup>
                    <m:r>
                      <a:rPr lang="en-US" altLang="zh-CN" sz="2400" b="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𝟐𝟎</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𝟓</m:t>
                        </m:r>
                      </m:sub>
                    </m:sSub>
                    <m:sSubSup>
                      <m:sSubSupPr>
                        <m:ctrlPr>
                          <a:rPr lang="en-US" altLang="zh-CN" sz="2400" b="1" i="1">
                            <a:latin typeface="Cambria Math" panose="02040503050406030204" pitchFamily="18" charset="0"/>
                            <a:ea typeface="微软雅黑" panose="020B0503020204020204" pitchFamily="34" charset="-122"/>
                          </a:rPr>
                        </m:ctrlPr>
                      </m:sSubSup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up>
                        <m:r>
                          <a:rPr lang="en-US" altLang="zh-CN" sz="2400" b="1" i="1" smtClean="0">
                            <a:latin typeface="Cambria Math" panose="02040503050406030204" pitchFamily="18" charset="0"/>
                            <a:ea typeface="微软雅黑" panose="020B0503020204020204" pitchFamily="34" charset="-122"/>
                          </a:rPr>
                          <m:t>𝟑</m:t>
                        </m:r>
                      </m:sup>
                    </m:sSubSup>
                  </m:oMath>
                </a14:m>
                <a:endParaRPr lang="en-US" altLang="zh-CN" sz="2400" b="1" dirty="0">
                  <a:latin typeface="Cambria Math" panose="02040503050406030204" pitchFamily="18" charset="0"/>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FD4585F9-BC75-4E6D-BB92-4C22851EC0E5}"/>
                  </a:ext>
                </a:extLst>
              </p:cNvPr>
              <p:cNvSpPr txBox="1">
                <a:spLocks noRot="1" noChangeAspect="1" noMove="1" noResize="1" noEditPoints="1" noAdjustHandles="1" noChangeArrowheads="1" noChangeShapeType="1" noTextEdit="1"/>
              </p:cNvSpPr>
              <p:nvPr/>
            </p:nvSpPr>
            <p:spPr>
              <a:xfrm>
                <a:off x="432945" y="1053000"/>
                <a:ext cx="11494242" cy="4549707"/>
              </a:xfrm>
              <a:prstGeom prst="rect">
                <a:avLst/>
              </a:prstGeom>
              <a:blipFill>
                <a:blip r:embed="rId8"/>
                <a:stretch>
                  <a:fillRect l="-689"/>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D421BF7-FC21-4B06-95E3-5338CA4640C7}"/>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基于多项式函数的关节轨迹规划：五次多项式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5F7D6377-4806-42D6-8F51-55A45B22110A}"/>
              </a:ext>
            </a:extLst>
          </p:cNvPr>
          <p:cNvGraphicFramePr>
            <a:graphicFrameLocks noChangeAspect="1"/>
          </p:cNvGraphicFramePr>
          <p:nvPr>
            <p:extLst>
              <p:ext uri="{D42A27DB-BD31-4B8C-83A1-F6EECF244321}">
                <p14:modId xmlns:p14="http://schemas.microsoft.com/office/powerpoint/2010/main" val="2528223633"/>
              </p:ext>
            </p:extLst>
          </p:nvPr>
        </p:nvGraphicFramePr>
        <p:xfrm>
          <a:off x="3456463" y="2637631"/>
          <a:ext cx="4311650" cy="487363"/>
        </p:xfrm>
        <a:graphic>
          <a:graphicData uri="http://schemas.openxmlformats.org/presentationml/2006/ole">
            <mc:AlternateContent xmlns:mc="http://schemas.openxmlformats.org/markup-compatibility/2006">
              <mc:Choice xmlns:v="urn:schemas-microsoft-com:vml" Requires="v">
                <p:oleObj name="Equation" r:id="rId9" imgW="1854000" imgH="228600" progId="Equation.DSMT4">
                  <p:embed/>
                </p:oleObj>
              </mc:Choice>
              <mc:Fallback>
                <p:oleObj name="Equation" r:id="rId9" imgW="1854000" imgH="228600" progId="Equation.DSMT4">
                  <p:embed/>
                  <p:pic>
                    <p:nvPicPr>
                      <p:cNvPr id="5" name="对象 4">
                        <a:extLst>
                          <a:ext uri="{FF2B5EF4-FFF2-40B4-BE49-F238E27FC236}">
                            <a16:creationId xmlns:a16="http://schemas.microsoft.com/office/drawing/2014/main" id="{9128FB95-AC1B-4910-8388-527233848DA2}"/>
                          </a:ext>
                        </a:extLst>
                      </p:cNvPr>
                      <p:cNvPicPr>
                        <a:picLocks noChangeAspect="1" noChangeArrowheads="1"/>
                      </p:cNvPicPr>
                      <p:nvPr/>
                    </p:nvPicPr>
                    <p:blipFill>
                      <a:blip r:embed="rId10"/>
                      <a:srcRect/>
                      <a:stretch>
                        <a:fillRect/>
                      </a:stretch>
                    </p:blipFill>
                    <p:spPr bwMode="auto">
                      <a:xfrm>
                        <a:off x="3456463" y="2637631"/>
                        <a:ext cx="4311650" cy="487363"/>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57CEABBC-80FB-4A13-973D-372BD18357B5}"/>
              </a:ext>
            </a:extLst>
          </p:cNvPr>
          <p:cNvGraphicFramePr>
            <a:graphicFrameLocks noChangeAspect="1"/>
          </p:cNvGraphicFramePr>
          <p:nvPr>
            <p:extLst>
              <p:ext uri="{D42A27DB-BD31-4B8C-83A1-F6EECF244321}">
                <p14:modId xmlns:p14="http://schemas.microsoft.com/office/powerpoint/2010/main" val="372700444"/>
              </p:ext>
            </p:extLst>
          </p:nvPr>
        </p:nvGraphicFramePr>
        <p:xfrm>
          <a:off x="3456393" y="3150394"/>
          <a:ext cx="4984750" cy="557212"/>
        </p:xfrm>
        <a:graphic>
          <a:graphicData uri="http://schemas.openxmlformats.org/presentationml/2006/ole">
            <mc:AlternateContent xmlns:mc="http://schemas.openxmlformats.org/markup-compatibility/2006">
              <mc:Choice xmlns:v="urn:schemas-microsoft-com:vml" Requires="v">
                <p:oleObj name="Equation" r:id="rId11" imgW="2082600" imgH="253800" progId="Equation.DSMT4">
                  <p:embed/>
                </p:oleObj>
              </mc:Choice>
              <mc:Fallback>
                <p:oleObj name="Equation" r:id="rId11" imgW="2082600" imgH="253800" progId="Equation.DSMT4">
                  <p:embed/>
                  <p:pic>
                    <p:nvPicPr>
                      <p:cNvPr id="6" name="对象 5">
                        <a:extLst>
                          <a:ext uri="{FF2B5EF4-FFF2-40B4-BE49-F238E27FC236}">
                            <a16:creationId xmlns:a16="http://schemas.microsoft.com/office/drawing/2014/main" id="{80E112CE-F0B4-433D-89D4-C160B8597F5B}"/>
                          </a:ext>
                        </a:extLst>
                      </p:cNvPr>
                      <p:cNvPicPr>
                        <a:picLocks noChangeAspect="1" noChangeArrowheads="1"/>
                      </p:cNvPicPr>
                      <p:nvPr/>
                    </p:nvPicPr>
                    <p:blipFill>
                      <a:blip r:embed="rId12"/>
                      <a:srcRect/>
                      <a:stretch>
                        <a:fillRect/>
                      </a:stretch>
                    </p:blipFill>
                    <p:spPr bwMode="auto">
                      <a:xfrm>
                        <a:off x="3456393" y="3150394"/>
                        <a:ext cx="4984750" cy="557212"/>
                      </a:xfrm>
                      <a:prstGeom prst="rect">
                        <a:avLst/>
                      </a:prstGeom>
                      <a:noFill/>
                    </p:spPr>
                  </p:pic>
                </p:oleObj>
              </mc:Fallback>
            </mc:AlternateContent>
          </a:graphicData>
        </a:graphic>
      </p:graphicFrame>
    </p:spTree>
    <p:extLst>
      <p:ext uri="{BB962C8B-B14F-4D97-AF65-F5344CB8AC3E}">
        <p14:creationId xmlns:p14="http://schemas.microsoft.com/office/powerpoint/2010/main" val="172689249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72A0161-184E-438C-AE3F-67C69B2064E1}"/>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15</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4047C5F2-9A3B-4769-BDD5-D055BAB0000C}"/>
              </a:ext>
            </a:extLst>
          </p:cNvPr>
          <p:cNvPicPr>
            <a:picLocks noChangeAspect="1"/>
          </p:cNvPicPr>
          <p:nvPr/>
        </p:nvPicPr>
        <p:blipFill rotWithShape="1">
          <a:blip r:embed="rId2"/>
          <a:srcRect l="38229" t="46933" r="33871" b="49029"/>
          <a:stretch/>
        </p:blipFill>
        <p:spPr>
          <a:xfrm>
            <a:off x="3465310" y="1331139"/>
            <a:ext cx="6482220" cy="527739"/>
          </a:xfrm>
          <a:prstGeom prst="rect">
            <a:avLst/>
          </a:prstGeom>
        </p:spPr>
      </p:pic>
      <p:sp>
        <p:nvSpPr>
          <p:cNvPr id="4" name="矩形 3">
            <a:extLst>
              <a:ext uri="{FF2B5EF4-FFF2-40B4-BE49-F238E27FC236}">
                <a16:creationId xmlns:a16="http://schemas.microsoft.com/office/drawing/2014/main" id="{3B84FF38-A85E-4898-AB5E-2C38F88FEDBA}"/>
              </a:ext>
            </a:extLst>
          </p:cNvPr>
          <p:cNvSpPr/>
          <p:nvPr/>
        </p:nvSpPr>
        <p:spPr>
          <a:xfrm>
            <a:off x="243140" y="869474"/>
            <a:ext cx="6096000" cy="461665"/>
          </a:xfrm>
          <a:prstGeom prst="rect">
            <a:avLst/>
          </a:prstGeom>
        </p:spPr>
        <p:txBody>
          <a:bodyPr>
            <a:spAutoFit/>
          </a:bodyPr>
          <a:lstStyle/>
          <a:p>
            <a:r>
              <a:rPr lang="en-US" altLang="zh-CN" sz="2400" b="1" dirty="0" err="1">
                <a:solidFill>
                  <a:srgbClr val="000000"/>
                </a:solidFill>
                <a:latin typeface="Times New Roman" panose="02020603050405020304" pitchFamily="18" charset="0"/>
                <a:cs typeface="Times New Roman" panose="02020603050405020304" pitchFamily="18" charset="0"/>
              </a:rPr>
              <a:t>Quintic</a:t>
            </a:r>
            <a:r>
              <a:rPr lang="en-US" altLang="zh-CN" sz="2400" b="1" dirty="0">
                <a:solidFill>
                  <a:srgbClr val="000000"/>
                </a:solidFill>
                <a:latin typeface="Times New Roman" panose="02020603050405020304" pitchFamily="18" charset="0"/>
                <a:cs typeface="Times New Roman" panose="02020603050405020304" pitchFamily="18" charset="0"/>
              </a:rPr>
              <a:t> Polynomial Trajectory </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33EF6ECE-5982-4489-9F2E-84955F81C8EC}"/>
              </a:ext>
            </a:extLst>
          </p:cNvPr>
          <p:cNvPicPr>
            <a:picLocks noChangeAspect="1"/>
          </p:cNvPicPr>
          <p:nvPr/>
        </p:nvPicPr>
        <p:blipFill rotWithShape="1">
          <a:blip r:embed="rId3"/>
          <a:srcRect l="37243" t="26819" r="32200" b="47962"/>
          <a:stretch/>
        </p:blipFill>
        <p:spPr>
          <a:xfrm>
            <a:off x="1967439" y="1950725"/>
            <a:ext cx="6601796" cy="2245065"/>
          </a:xfrm>
          <a:prstGeom prst="rect">
            <a:avLst/>
          </a:prstGeom>
        </p:spPr>
      </p:pic>
      <p:pic>
        <p:nvPicPr>
          <p:cNvPr id="6" name="图片 5">
            <a:extLst>
              <a:ext uri="{FF2B5EF4-FFF2-40B4-BE49-F238E27FC236}">
                <a16:creationId xmlns:a16="http://schemas.microsoft.com/office/drawing/2014/main" id="{A2BD5EA4-595F-4369-86D7-7F0A998F87BE}"/>
              </a:ext>
            </a:extLst>
          </p:cNvPr>
          <p:cNvPicPr>
            <a:picLocks noChangeAspect="1"/>
          </p:cNvPicPr>
          <p:nvPr/>
        </p:nvPicPr>
        <p:blipFill rotWithShape="1">
          <a:blip r:embed="rId4"/>
          <a:srcRect l="35229" t="31628" r="30529" b="46133"/>
          <a:stretch/>
        </p:blipFill>
        <p:spPr>
          <a:xfrm>
            <a:off x="1818350" y="4392888"/>
            <a:ext cx="7325650" cy="2444724"/>
          </a:xfrm>
          <a:prstGeom prst="rect">
            <a:avLst/>
          </a:prstGeom>
        </p:spPr>
      </p:pic>
      <p:sp>
        <p:nvSpPr>
          <p:cNvPr id="7" name="文本框 6">
            <a:extLst>
              <a:ext uri="{FF2B5EF4-FFF2-40B4-BE49-F238E27FC236}">
                <a16:creationId xmlns:a16="http://schemas.microsoft.com/office/drawing/2014/main" id="{232BCAF6-1019-4F44-8D74-045659B425B9}"/>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基于多项式函数的关节轨迹规划：五次多项式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851995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E2BD462-FA73-4488-A9F8-986D4BC56E31}"/>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16</a:t>
            </a:fld>
            <a:endParaRPr lang="zh-CN" altLang="en-US" dirty="0">
              <a:solidFill>
                <a:prstClr val="black">
                  <a:tint val="75000"/>
                </a:prstClr>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0D06537-2938-45EA-9F06-407EA25A3F6A}"/>
                  </a:ext>
                </a:extLst>
              </p:cNvPr>
              <p:cNvSpPr txBox="1"/>
              <p:nvPr/>
            </p:nvSpPr>
            <p:spPr>
              <a:xfrm>
                <a:off x="656168" y="4901200"/>
                <a:ext cx="9433048" cy="1763496"/>
              </a:xfrm>
              <a:prstGeom prst="rect">
                <a:avLst/>
              </a:prstGeom>
              <a:noFill/>
            </p:spPr>
            <p:txBody>
              <a:bodyPr wrap="square" rtlCol="0">
                <a:spAutoFit/>
              </a:bodyPr>
              <a:lstStyle/>
              <a:p>
                <a:pPr marL="342900" indent="-342900">
                  <a:lnSpc>
                    <a:spcPct val="125000"/>
                  </a:lnSpc>
                  <a:spcBef>
                    <a:spcPts val="600"/>
                  </a:spcBef>
                  <a:spcAft>
                    <a:spcPts val="600"/>
                  </a:spcAft>
                  <a:buFont typeface="Wingdings" panose="05000000000000000000" pitchFamily="2" charset="2"/>
                  <a:buChar char="n"/>
                </a:pPr>
                <a:r>
                  <a:rPr lang="zh-CN" altLang="en-US" sz="2600" b="1" i="0" dirty="0">
                    <a:latin typeface="微软雅黑" panose="020B0503020204020204" pitchFamily="34" charset="-122"/>
                    <a:ea typeface="微软雅黑" panose="020B0503020204020204" pitchFamily="34" charset="-122"/>
                  </a:rPr>
                  <a:t>五次多项式规划：</a:t>
                </a:r>
                <a:endParaRPr lang="en-US" altLang="zh-CN" sz="2600" b="1" i="0" dirty="0">
                  <a:latin typeface="微软雅黑" panose="020B0503020204020204" pitchFamily="34" charset="-122"/>
                  <a:ea typeface="微软雅黑" panose="020B0503020204020204" pitchFamily="34" charset="-122"/>
                </a:endParaRPr>
              </a:p>
              <a:p>
                <a:pPr marL="800100" lvl="1" indent="-342900">
                  <a:lnSpc>
                    <a:spcPct val="125000"/>
                  </a:lnSpc>
                  <a:spcBef>
                    <a:spcPts val="600"/>
                  </a:spcBef>
                  <a:spcAft>
                    <a:spcPts val="600"/>
                  </a:spcAft>
                  <a:buFont typeface="Wingdings" panose="05000000000000000000" pitchFamily="2" charset="2"/>
                  <a:buChar char="p"/>
                </a:pPr>
                <a:r>
                  <a:rPr lang="zh-CN" altLang="en-US" sz="2200" b="1" i="0" dirty="0">
                    <a:latin typeface="微软雅黑" panose="020B0503020204020204" pitchFamily="34" charset="-122"/>
                    <a:ea typeface="微软雅黑" panose="020B0503020204020204" pitchFamily="34" charset="-122"/>
                  </a:rPr>
                  <a:t>加速度连续</a:t>
                </a:r>
                <a:endParaRPr lang="en-US" altLang="zh-CN" sz="2200" b="1" i="0" dirty="0">
                  <a:latin typeface="微软雅黑" panose="020B0503020204020204" pitchFamily="34" charset="-122"/>
                  <a:ea typeface="微软雅黑" panose="020B0503020204020204" pitchFamily="34" charset="-122"/>
                </a:endParaRPr>
              </a:p>
              <a:p>
                <a:pPr marL="800100" lvl="1" indent="-342900">
                  <a:lnSpc>
                    <a:spcPct val="125000"/>
                  </a:lnSpc>
                  <a:spcBef>
                    <a:spcPts val="600"/>
                  </a:spcBef>
                  <a:spcAft>
                    <a:spcPts val="600"/>
                  </a:spcAft>
                  <a:buFont typeface="Wingdings" panose="05000000000000000000" pitchFamily="2" charset="2"/>
                  <a:buChar char="p"/>
                </a:pPr>
                <a:r>
                  <a:rPr lang="zh-CN" altLang="en-US" sz="2200" b="1" dirty="0">
                    <a:latin typeface="微软雅黑" panose="020B0503020204020204" pitchFamily="34" charset="-122"/>
                    <a:ea typeface="微软雅黑" panose="020B0503020204020204" pitchFamily="34" charset="-122"/>
                  </a:rPr>
                  <a:t>通过</a:t>
                </a:r>
                <a:r>
                  <a:rPr lang="zh-CN" altLang="en-US" sz="2200" b="1" i="0" dirty="0">
                    <a:latin typeface="微软雅黑" panose="020B0503020204020204" pitchFamily="34" charset="-122"/>
                    <a:ea typeface="微软雅黑" panose="020B0503020204020204" pitchFamily="34" charset="-122"/>
                  </a:rPr>
                  <a:t>调整</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𝒇</m:t>
                        </m:r>
                      </m:sub>
                    </m:sSub>
                  </m:oMath>
                </a14:m>
                <a:r>
                  <a:rPr lang="zh-CN" altLang="en-US" sz="2200" b="1" i="0" dirty="0">
                    <a:latin typeface="微软雅黑" panose="020B0503020204020204" pitchFamily="34" charset="-122"/>
                    <a:ea typeface="微软雅黑" panose="020B0503020204020204" pitchFamily="34" charset="-122"/>
                  </a:rPr>
                  <a:t> 满足最大速度、最大加速度约束</a:t>
                </a:r>
                <a:endParaRPr lang="en-US" altLang="zh-CN" sz="2200" b="1" i="0" dirty="0">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E0D06537-2938-45EA-9F06-407EA25A3F6A}"/>
                  </a:ext>
                </a:extLst>
              </p:cNvPr>
              <p:cNvSpPr txBox="1">
                <a:spLocks noRot="1" noChangeAspect="1" noMove="1" noResize="1" noEditPoints="1" noAdjustHandles="1" noChangeArrowheads="1" noChangeShapeType="1" noTextEdit="1"/>
              </p:cNvSpPr>
              <p:nvPr/>
            </p:nvSpPr>
            <p:spPr>
              <a:xfrm>
                <a:off x="656168" y="4901200"/>
                <a:ext cx="9433048" cy="1763496"/>
              </a:xfrm>
              <a:prstGeom prst="rect">
                <a:avLst/>
              </a:prstGeom>
              <a:blipFill>
                <a:blip r:embed="rId7"/>
                <a:stretch>
                  <a:fillRect l="-1034" b="-4498"/>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03549E22-47A8-40C4-AD4E-AD024B928FED}"/>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基于多项式函数的关节轨迹规划：五次多项式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455849F9-63E5-499A-866A-918A10667C5A}"/>
              </a:ext>
            </a:extLst>
          </p:cNvPr>
          <p:cNvPicPr>
            <a:picLocks noChangeAspect="1"/>
          </p:cNvPicPr>
          <p:nvPr/>
        </p:nvPicPr>
        <p:blipFill>
          <a:blip r:embed="rId8"/>
          <a:stretch>
            <a:fillRect/>
          </a:stretch>
        </p:blipFill>
        <p:spPr>
          <a:xfrm>
            <a:off x="551332" y="834267"/>
            <a:ext cx="10404946" cy="729134"/>
          </a:xfrm>
          <a:prstGeom prst="rect">
            <a:avLst/>
          </a:prstGeom>
        </p:spPr>
      </p:pic>
      <p:pic>
        <p:nvPicPr>
          <p:cNvPr id="11" name="图片 10">
            <a:extLst>
              <a:ext uri="{FF2B5EF4-FFF2-40B4-BE49-F238E27FC236}">
                <a16:creationId xmlns:a16="http://schemas.microsoft.com/office/drawing/2014/main" id="{03552BAB-3969-4333-BFEA-704DF9BA5C81}"/>
              </a:ext>
            </a:extLst>
          </p:cNvPr>
          <p:cNvPicPr>
            <a:picLocks noChangeAspect="1"/>
          </p:cNvPicPr>
          <p:nvPr/>
        </p:nvPicPr>
        <p:blipFill>
          <a:blip r:embed="rId9"/>
          <a:stretch>
            <a:fillRect/>
          </a:stretch>
        </p:blipFill>
        <p:spPr>
          <a:xfrm>
            <a:off x="81933" y="1642093"/>
            <a:ext cx="3866932" cy="3172387"/>
          </a:xfrm>
          <a:prstGeom prst="rect">
            <a:avLst/>
          </a:prstGeom>
        </p:spPr>
      </p:pic>
      <p:pic>
        <p:nvPicPr>
          <p:cNvPr id="12" name="图片 11">
            <a:extLst>
              <a:ext uri="{FF2B5EF4-FFF2-40B4-BE49-F238E27FC236}">
                <a16:creationId xmlns:a16="http://schemas.microsoft.com/office/drawing/2014/main" id="{CBCAC463-C247-4BF3-AA74-7DCC7909F3BA}"/>
              </a:ext>
            </a:extLst>
          </p:cNvPr>
          <p:cNvPicPr>
            <a:picLocks noChangeAspect="1"/>
          </p:cNvPicPr>
          <p:nvPr/>
        </p:nvPicPr>
        <p:blipFill>
          <a:blip r:embed="rId10"/>
          <a:stretch>
            <a:fillRect/>
          </a:stretch>
        </p:blipFill>
        <p:spPr>
          <a:xfrm>
            <a:off x="4168356" y="1650121"/>
            <a:ext cx="3950655" cy="3164359"/>
          </a:xfrm>
          <a:prstGeom prst="rect">
            <a:avLst/>
          </a:prstGeom>
        </p:spPr>
      </p:pic>
      <p:pic>
        <p:nvPicPr>
          <p:cNvPr id="13" name="图片 12">
            <a:extLst>
              <a:ext uri="{FF2B5EF4-FFF2-40B4-BE49-F238E27FC236}">
                <a16:creationId xmlns:a16="http://schemas.microsoft.com/office/drawing/2014/main" id="{ED1CAAFC-D887-4B41-8111-A04632AE257F}"/>
              </a:ext>
            </a:extLst>
          </p:cNvPr>
          <p:cNvPicPr>
            <a:picLocks noChangeAspect="1"/>
          </p:cNvPicPr>
          <p:nvPr/>
        </p:nvPicPr>
        <p:blipFill>
          <a:blip r:embed="rId11"/>
          <a:stretch>
            <a:fillRect/>
          </a:stretch>
        </p:blipFill>
        <p:spPr>
          <a:xfrm>
            <a:off x="8259568" y="1637010"/>
            <a:ext cx="3888730" cy="3164359"/>
          </a:xfrm>
          <a:prstGeom prst="rect">
            <a:avLst/>
          </a:prstGeom>
        </p:spPr>
      </p:pic>
      <p:sp>
        <p:nvSpPr>
          <p:cNvPr id="3" name="文本框 2">
            <a:extLst>
              <a:ext uri="{FF2B5EF4-FFF2-40B4-BE49-F238E27FC236}">
                <a16:creationId xmlns:a16="http://schemas.microsoft.com/office/drawing/2014/main" id="{1F5DD860-AF93-4B26-82CC-4F12BD98B25D}"/>
              </a:ext>
            </a:extLst>
          </p:cNvPr>
          <p:cNvSpPr txBox="1"/>
          <p:nvPr/>
        </p:nvSpPr>
        <p:spPr>
          <a:xfrm>
            <a:off x="7972130" y="775703"/>
            <a:ext cx="410881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蓝色：五次多项式，绿色：三次多项式</a:t>
            </a:r>
          </a:p>
        </p:txBody>
      </p:sp>
    </p:spTree>
    <p:extLst>
      <p:ext uri="{BB962C8B-B14F-4D97-AF65-F5344CB8AC3E}">
        <p14:creationId xmlns:p14="http://schemas.microsoft.com/office/powerpoint/2010/main" val="23130141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45BFD22-1EE3-4DDB-8730-E3B4D95B70DB}"/>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17</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0853EBB-5BFE-40A0-A71E-3FA8648FB290}"/>
                  </a:ext>
                </a:extLst>
              </p:cNvPr>
              <p:cNvSpPr txBox="1"/>
              <p:nvPr/>
            </p:nvSpPr>
            <p:spPr>
              <a:xfrm>
                <a:off x="684891" y="1018660"/>
                <a:ext cx="10585176" cy="4974567"/>
              </a:xfrm>
              <a:prstGeom prst="rect">
                <a:avLst/>
              </a:prstGeom>
              <a:noFill/>
            </p:spPr>
            <p:txBody>
              <a:bodyPr wrap="square" rtlCol="0">
                <a:spAutoFit/>
              </a:bodyPr>
              <a:lstStyle/>
              <a:p>
                <a:pPr marL="342900"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五次多项式可以满足机器人规划在初始、终止条件下的位置、速度、加速度连续性</a:t>
                </a:r>
                <a:endParaRPr lang="en-US" altLang="zh-CN" sz="2400" b="1" i="0" dirty="0">
                  <a:latin typeface="微软雅黑" panose="020B0503020204020204" pitchFamily="34" charset="-122"/>
                  <a:ea typeface="微软雅黑" panose="020B0503020204020204" pitchFamily="34" charset="-122"/>
                </a:endParaRPr>
              </a:p>
              <a:p>
                <a:pPr marL="342900"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但还需要</a:t>
                </a:r>
                <a:r>
                  <a:rPr lang="zh-CN" altLang="en-US" sz="2400" b="1" i="0" dirty="0">
                    <a:solidFill>
                      <a:srgbClr val="FF0000"/>
                    </a:solidFill>
                    <a:latin typeface="微软雅黑" panose="020B0503020204020204" pitchFamily="34" charset="-122"/>
                    <a:ea typeface="微软雅黑" panose="020B0503020204020204" pitchFamily="34" charset="-122"/>
                  </a:rPr>
                  <a:t>同时满足</a:t>
                </a:r>
                <a:r>
                  <a:rPr lang="zh-CN" altLang="en-US" sz="2400" b="1" i="0" dirty="0">
                    <a:latin typeface="微软雅黑" panose="020B0503020204020204" pitchFamily="34" charset="-122"/>
                    <a:ea typeface="微软雅黑" panose="020B0503020204020204" pitchFamily="34" charset="-122"/>
                  </a:rPr>
                  <a:t>可执行性约束</a:t>
                </a:r>
                <a:r>
                  <a:rPr lang="zh-CN" altLang="en-US" sz="2400" b="1" dirty="0">
                    <a:latin typeface="微软雅黑" panose="020B0503020204020204" pitchFamily="34" charset="-122"/>
                    <a:ea typeface="微软雅黑" panose="020B0503020204020204" pitchFamily="34" charset="-122"/>
                    <a:sym typeface="Wingdings" panose="05000000000000000000" pitchFamily="2" charset="2"/>
                  </a:rPr>
                  <a:t>（通过调整</a:t>
                </a:r>
                <a:r>
                  <a:rPr lang="en-US" altLang="zh-CN" sz="2400" b="1" i="1" dirty="0" err="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t</a:t>
                </a:r>
                <a:r>
                  <a:rPr lang="en-US" altLang="zh-CN" sz="2400" b="1" i="1" baseline="-25000" dirty="0" err="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f</a:t>
                </a:r>
                <a:r>
                  <a:rPr lang="zh-CN" altLang="en-US" sz="24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i="0" dirty="0">
                  <a:latin typeface="微软雅黑" panose="020B0503020204020204" pitchFamily="34" charset="-122"/>
                  <a:ea typeface="微软雅黑" panose="020B0503020204020204" pitchFamily="34" charset="-122"/>
                </a:endParaRPr>
              </a:p>
              <a:p>
                <a:pPr algn="ctr">
                  <a:lnSpc>
                    <a:spcPct val="125000"/>
                  </a:lnSpc>
                  <a:spcBef>
                    <a:spcPts val="600"/>
                  </a:spcBef>
                  <a:spcAft>
                    <a:spcPts val="600"/>
                  </a:spcAft>
                </a:pP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dirty="0">
                            <a:latin typeface="Cambria Math" panose="02040503050406030204" pitchFamily="18" charset="0"/>
                          </a:rPr>
                          <m:t>𝒎𝒊𝒏</m:t>
                        </m:r>
                      </m:sub>
                    </m:sSub>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𝒒</m:t>
                    </m:r>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𝒕</m:t>
                        </m:r>
                      </m:e>
                    </m:d>
                    <m:r>
                      <a:rPr lang="en-US" altLang="zh-CN" sz="2400" b="1" i="1" dirty="0">
                        <a:latin typeface="Cambria Math" panose="02040503050406030204" pitchFamily="18" charset="0"/>
                        <a:ea typeface="Cambria Math" panose="02040503050406030204" pitchFamily="18" charset="0"/>
                      </a:rPr>
                      <m:t>≤</m:t>
                    </m:r>
                  </m:oMath>
                </a14:m>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𝒒</m:t>
                        </m:r>
                      </m:e>
                      <m:sub>
                        <m:r>
                          <a:rPr lang="en-US" altLang="zh-CN" sz="2400" b="1" i="1" dirty="0">
                            <a:latin typeface="Cambria Math" panose="02040503050406030204" pitchFamily="18" charset="0"/>
                          </a:rPr>
                          <m:t>𝒎𝒂𝒙</m:t>
                        </m:r>
                      </m:sub>
                    </m:sSub>
                  </m:oMath>
                </a14:m>
                <a:endParaRPr lang="en-US" altLang="zh-CN" sz="2400" b="1" dirty="0"/>
              </a:p>
              <a:p>
                <a:pPr algn="ctr">
                  <a:lnSpc>
                    <a:spcPct val="125000"/>
                  </a:lnSpc>
                  <a:spcBef>
                    <a:spcPts val="600"/>
                  </a:spcBef>
                  <a:spcAft>
                    <a:spcPts val="600"/>
                  </a:spcAft>
                </a:pP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smtClean="0">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𝒎𝒊𝒏</m:t>
                        </m:r>
                      </m:sub>
                    </m:sSub>
                    <m:r>
                      <a:rPr lang="en-US" altLang="zh-CN" sz="2400" b="1" i="1">
                        <a:latin typeface="Cambria Math" panose="02040503050406030204" pitchFamily="18" charset="0"/>
                        <a:ea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a:latin typeface="Cambria Math" panose="02040503050406030204" pitchFamily="18" charset="0"/>
                          </a:rPr>
                          <m:t>𝒒</m:t>
                        </m:r>
                      </m:e>
                    </m:acc>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𝒕</m:t>
                        </m:r>
                      </m:e>
                    </m:d>
                    <m:r>
                      <a:rPr lang="en-US" altLang="zh-CN" sz="2400" b="1" i="1" dirty="0">
                        <a:latin typeface="Cambria Math" panose="02040503050406030204" pitchFamily="18" charset="0"/>
                        <a:ea typeface="Cambria Math" panose="02040503050406030204" pitchFamily="18" charset="0"/>
                      </a:rPr>
                      <m:t>≤</m:t>
                    </m:r>
                  </m:oMath>
                </a14:m>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smtClean="0">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𝒎𝒂𝒙</m:t>
                        </m:r>
                      </m:sub>
                    </m:sSub>
                  </m:oMath>
                </a14:m>
                <a:endParaRPr lang="en-US" altLang="zh-CN" sz="2400" b="1" dirty="0">
                  <a:latin typeface="微软雅黑" panose="020B0503020204020204" pitchFamily="34" charset="-122"/>
                  <a:ea typeface="微软雅黑" panose="020B0503020204020204" pitchFamily="34" charset="-122"/>
                </a:endParaRPr>
              </a:p>
              <a:p>
                <a:pPr algn="ctr">
                  <a:lnSpc>
                    <a:spcPct val="125000"/>
                  </a:lnSpc>
                  <a:spcBef>
                    <a:spcPts val="600"/>
                  </a:spcBef>
                  <a:spcAft>
                    <a:spcPts val="600"/>
                  </a:spcAft>
                </a:pP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smtClean="0">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𝒎𝒊𝒏</m:t>
                        </m:r>
                      </m:sub>
                    </m:sSub>
                    <m:r>
                      <a:rPr lang="en-US" altLang="zh-CN" sz="2400" b="1">
                        <a:latin typeface="Cambria Math" panose="02040503050406030204" pitchFamily="18" charset="0"/>
                        <a:ea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a:latin typeface="Cambria Math" panose="02040503050406030204" pitchFamily="18" charset="0"/>
                          </a:rPr>
                          <m:t>𝒒</m:t>
                        </m:r>
                      </m:e>
                    </m:acc>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𝒕</m:t>
                        </m:r>
                      </m:e>
                    </m:d>
                    <m:r>
                      <a:rPr lang="en-US" altLang="zh-CN" sz="2400" b="1" dirty="0">
                        <a:latin typeface="Cambria Math" panose="02040503050406030204" pitchFamily="18" charset="0"/>
                        <a:ea typeface="Cambria Math" panose="02040503050406030204" pitchFamily="18" charset="0"/>
                      </a:rPr>
                      <m:t>≤</m:t>
                    </m:r>
                  </m:oMath>
                </a14:m>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smtClean="0">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𝒎𝒂𝒙</m:t>
                        </m:r>
                      </m:sub>
                    </m:sSub>
                  </m:oMath>
                </a14:m>
                <a:endParaRPr lang="en-US" altLang="zh-CN" sz="2400" b="1" i="0" dirty="0">
                  <a:latin typeface="微软雅黑" panose="020B0503020204020204" pitchFamily="34" charset="-122"/>
                  <a:ea typeface="微软雅黑" panose="020B0503020204020204" pitchFamily="34" charset="-122"/>
                </a:endParaRPr>
              </a:p>
              <a:p>
                <a:pPr marL="342900" indent="-342900">
                  <a:lnSpc>
                    <a:spcPct val="125000"/>
                  </a:lnSpc>
                  <a:spcBef>
                    <a:spcPts val="600"/>
                  </a:spcBef>
                  <a:spcAft>
                    <a:spcPts val="600"/>
                  </a:spcAft>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采用</a:t>
                </a:r>
                <a:r>
                  <a:rPr lang="zh-CN" altLang="en-US" sz="2400" b="1" i="0" dirty="0">
                    <a:latin typeface="微软雅黑" panose="020B0503020204020204" pitchFamily="34" charset="-122"/>
                    <a:ea typeface="微软雅黑" panose="020B0503020204020204" pitchFamily="34" charset="-122"/>
                  </a:rPr>
                  <a:t>更高阶多项式时，</a:t>
                </a:r>
                <a:r>
                  <a:rPr lang="zh-CN" altLang="en-US" sz="2400" b="1" dirty="0">
                    <a:latin typeface="微软雅黑" panose="020B0503020204020204" pitchFamily="34" charset="-122"/>
                    <a:ea typeface="微软雅黑" panose="020B0503020204020204" pitchFamily="34" charset="-122"/>
                  </a:rPr>
                  <a:t>需要考虑计算成本，如执行时间，执行效率等；同时，由于起止点的约束条件不足以确定所有参数的唯一解，需要考虑多解情况下的优化问题。</a:t>
                </a:r>
                <a:endParaRPr lang="zh-CN" altLang="en-US" sz="2400" b="1" i="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E0853EBB-5BFE-40A0-A71E-3FA8648FB290}"/>
                  </a:ext>
                </a:extLst>
              </p:cNvPr>
              <p:cNvSpPr txBox="1">
                <a:spLocks noRot="1" noChangeAspect="1" noMove="1" noResize="1" noEditPoints="1" noAdjustHandles="1" noChangeArrowheads="1" noChangeShapeType="1" noTextEdit="1"/>
              </p:cNvSpPr>
              <p:nvPr/>
            </p:nvSpPr>
            <p:spPr>
              <a:xfrm>
                <a:off x="684891" y="1018660"/>
                <a:ext cx="10585176" cy="4974567"/>
              </a:xfrm>
              <a:prstGeom prst="rect">
                <a:avLst/>
              </a:prstGeom>
              <a:blipFill>
                <a:blip r:embed="rId3"/>
                <a:stretch>
                  <a:fillRect l="-748" r="-3742" b="-1838"/>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0D69AD49-3E07-43B5-84FE-829E2F869C76}"/>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基于多项式函数的关节轨迹规划：五次多项式</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3577651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6700E4-78A3-49D1-B3A4-0896B969882C}"/>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18</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C884878-1E3A-4BBF-B121-5819077F8EAB}"/>
                  </a:ext>
                </a:extLst>
              </p:cNvPr>
              <p:cNvSpPr txBox="1"/>
              <p:nvPr/>
            </p:nvSpPr>
            <p:spPr>
              <a:xfrm>
                <a:off x="625275" y="1296030"/>
                <a:ext cx="10585176" cy="3970382"/>
              </a:xfrm>
              <a:prstGeom prst="rect">
                <a:avLst/>
              </a:prstGeom>
              <a:noFill/>
            </p:spPr>
            <p:txBody>
              <a:bodyPr wrap="square" rtlCol="0">
                <a:spAutoFit/>
              </a:bodyPr>
              <a:lstStyle/>
              <a:p>
                <a:pPr marL="342900" indent="-342900">
                  <a:lnSpc>
                    <a:spcPct val="150000"/>
                  </a:lnSpc>
                  <a:spcBef>
                    <a:spcPts val="600"/>
                  </a:spcBef>
                  <a:spcAft>
                    <a:spcPts val="600"/>
                  </a:spcAft>
                  <a:buFont typeface="Wingdings" panose="05000000000000000000" pitchFamily="2" charset="2"/>
                  <a:buChar char="n"/>
                </a:pPr>
                <a:r>
                  <a:rPr lang="zh-CN" altLang="en-US" sz="2800" b="1" i="0" dirty="0">
                    <a:latin typeface="微软雅黑" panose="020B0503020204020204" pitchFamily="34" charset="-122"/>
                    <a:ea typeface="微软雅黑" panose="020B0503020204020204" pitchFamily="34" charset="-122"/>
                  </a:rPr>
                  <a:t>计算各个关节执行时间</a:t>
                </a:r>
                <a14:m>
                  <m:oMath xmlns:m="http://schemas.openxmlformats.org/officeDocument/2006/math">
                    <m:sSub>
                      <m:sSubPr>
                        <m:ctrlPr>
                          <a:rPr lang="en-US" altLang="zh-CN" sz="2800" b="1" i="1" smtClean="0">
                            <a:latin typeface="Cambria Math" panose="02040503050406030204" pitchFamily="18" charset="0"/>
                            <a:ea typeface="微软雅黑" panose="020B0503020204020204" pitchFamily="34" charset="-122"/>
                          </a:rPr>
                        </m:ctrlPr>
                      </m:sSubPr>
                      <m:e>
                        <m:r>
                          <a:rPr lang="en-US" altLang="zh-CN" sz="2800" b="1" i="1" smtClean="0">
                            <a:latin typeface="Cambria Math" panose="02040503050406030204" pitchFamily="18" charset="0"/>
                            <a:ea typeface="微软雅黑" panose="020B0503020204020204" pitchFamily="34" charset="-122"/>
                          </a:rPr>
                          <m:t>𝒕</m:t>
                        </m:r>
                      </m:e>
                      <m:sub>
                        <m:r>
                          <a:rPr lang="en-US" altLang="zh-CN" sz="2800" b="1" i="1" smtClean="0">
                            <a:latin typeface="Cambria Math" panose="02040503050406030204" pitchFamily="18" charset="0"/>
                            <a:ea typeface="微软雅黑" panose="020B0503020204020204" pitchFamily="34" charset="-122"/>
                          </a:rPr>
                          <m:t>𝒇𝒊</m:t>
                        </m:r>
                      </m:sub>
                    </m:sSub>
                    <m:r>
                      <a:rPr lang="en-US" altLang="zh-CN" sz="2800" b="1" i="1" smtClean="0">
                        <a:latin typeface="Cambria Math" panose="02040503050406030204" pitchFamily="18" charset="0"/>
                        <a:ea typeface="微软雅黑" panose="020B0503020204020204" pitchFamily="34" charset="-122"/>
                      </a:rPr>
                      <m:t>, </m:t>
                    </m:r>
                    <m:r>
                      <a:rPr lang="en-US" altLang="zh-CN" sz="2800" b="1" i="1" smtClean="0">
                        <a:latin typeface="Cambria Math" panose="02040503050406030204" pitchFamily="18" charset="0"/>
                        <a:ea typeface="微软雅黑" panose="020B0503020204020204" pitchFamily="34" charset="-122"/>
                      </a:rPr>
                      <m:t>𝒊</m:t>
                    </m:r>
                    <m:r>
                      <a:rPr lang="en-US" altLang="zh-CN" sz="2800" b="1" i="1" smtClean="0">
                        <a:latin typeface="Cambria Math" panose="02040503050406030204" pitchFamily="18" charset="0"/>
                        <a:ea typeface="微软雅黑" panose="020B0503020204020204" pitchFamily="34" charset="-122"/>
                      </a:rPr>
                      <m:t>=</m:t>
                    </m:r>
                    <m:r>
                      <a:rPr lang="en-US" altLang="zh-CN" sz="2800" b="1" i="1" smtClean="0">
                        <a:latin typeface="Cambria Math" panose="02040503050406030204" pitchFamily="18" charset="0"/>
                        <a:ea typeface="微软雅黑" panose="020B0503020204020204" pitchFamily="34" charset="-122"/>
                      </a:rPr>
                      <m:t>𝟏</m:t>
                    </m:r>
                    <m:r>
                      <a:rPr lang="en-US" altLang="zh-CN" sz="2800" b="1" i="1" smtClean="0">
                        <a:latin typeface="Cambria Math" panose="02040503050406030204" pitchFamily="18" charset="0"/>
                        <a:ea typeface="微软雅黑" panose="020B0503020204020204" pitchFamily="34" charset="-122"/>
                      </a:rPr>
                      <m:t>:</m:t>
                    </m:r>
                    <m:r>
                      <a:rPr lang="en-US" altLang="zh-CN" sz="2800" b="1" i="1" smtClean="0">
                        <a:latin typeface="Cambria Math" panose="02040503050406030204" pitchFamily="18" charset="0"/>
                        <a:ea typeface="微软雅黑" panose="020B0503020204020204" pitchFamily="34" charset="-122"/>
                      </a:rPr>
                      <m:t>𝒏</m:t>
                    </m:r>
                  </m:oMath>
                </a14:m>
                <a:endParaRPr lang="en-US" altLang="zh-CN" sz="2800" b="1" dirty="0">
                  <a:latin typeface="微软雅黑" panose="020B0503020204020204" pitchFamily="34" charset="-122"/>
                  <a:ea typeface="微软雅黑" panose="020B0503020204020204" pitchFamily="34" charset="-122"/>
                </a:endParaRPr>
              </a:p>
              <a:p>
                <a:pPr marL="342900" indent="-342900">
                  <a:lnSpc>
                    <a:spcPct val="150000"/>
                  </a:lnSpc>
                  <a:spcBef>
                    <a:spcPts val="600"/>
                  </a:spcBef>
                  <a:spcAft>
                    <a:spcPts val="600"/>
                  </a:spcAft>
                  <a:buFont typeface="Wingdings" panose="05000000000000000000" pitchFamily="2" charset="2"/>
                  <a:buChar char="n"/>
                </a:pPr>
                <a:r>
                  <a:rPr lang="zh-CN" altLang="en-US" sz="2800" b="1" i="0" dirty="0">
                    <a:latin typeface="微软雅黑" panose="020B0503020204020204" pitchFamily="34" charset="-122"/>
                    <a:ea typeface="微软雅黑" panose="020B0503020204020204" pitchFamily="34" charset="-122"/>
                  </a:rPr>
                  <a:t>求取最大的执行时间：</a:t>
                </a:r>
                <a:endParaRPr lang="en-US" altLang="zh-CN" sz="2800" b="1" dirty="0">
                  <a:latin typeface="Cambria Math" panose="02040503050406030204" pitchFamily="18" charset="0"/>
                  <a:ea typeface="微软雅黑" panose="020B0503020204020204" pitchFamily="34" charset="-122"/>
                </a:endParaRPr>
              </a:p>
              <a:p>
                <a:pP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800" b="1" i="1" smtClean="0">
                              <a:latin typeface="Cambria Math" panose="02040503050406030204" pitchFamily="18" charset="0"/>
                              <a:ea typeface="微软雅黑" panose="020B0503020204020204" pitchFamily="34" charset="-122"/>
                            </a:rPr>
                          </m:ctrlPr>
                        </m:sSubPr>
                        <m:e>
                          <m:r>
                            <a:rPr lang="en-US" altLang="zh-CN" sz="2800" b="1" i="1" smtClean="0">
                              <a:latin typeface="Cambria Math" panose="02040503050406030204" pitchFamily="18" charset="0"/>
                              <a:ea typeface="微软雅黑" panose="020B0503020204020204" pitchFamily="34" charset="-122"/>
                            </a:rPr>
                            <m:t>𝒕</m:t>
                          </m:r>
                        </m:e>
                        <m:sub>
                          <m:r>
                            <a:rPr lang="en-US" altLang="zh-CN" sz="2800" b="1" i="1" smtClean="0">
                              <a:latin typeface="Cambria Math" panose="02040503050406030204" pitchFamily="18" charset="0"/>
                              <a:ea typeface="微软雅黑" panose="020B0503020204020204" pitchFamily="34" charset="-122"/>
                            </a:rPr>
                            <m:t>𝒇𝒎𝒂𝒙</m:t>
                          </m:r>
                        </m:sub>
                      </m:sSub>
                      <m:r>
                        <a:rPr lang="en-US" altLang="zh-CN" sz="2800" b="1" i="1" smtClean="0">
                          <a:latin typeface="Cambria Math" panose="02040503050406030204" pitchFamily="18" charset="0"/>
                          <a:ea typeface="微软雅黑" panose="020B0503020204020204" pitchFamily="34" charset="-122"/>
                        </a:rPr>
                        <m:t>=</m:t>
                      </m:r>
                      <m:r>
                        <a:rPr lang="en-US" altLang="zh-CN" sz="2800" b="1" i="0" smtClean="0">
                          <a:latin typeface="Cambria Math" panose="02040503050406030204" pitchFamily="18" charset="0"/>
                          <a:ea typeface="微软雅黑" panose="020B0503020204020204" pitchFamily="34" charset="-122"/>
                        </a:rPr>
                        <m:t>𝐦𝐚𝐱</m:t>
                      </m:r>
                      <m:r>
                        <a:rPr lang="en-US" altLang="zh-CN" sz="2800" b="1" i="1" smtClean="0">
                          <a:latin typeface="Cambria Math" panose="02040503050406030204" pitchFamily="18" charset="0"/>
                          <a:ea typeface="微软雅黑" panose="020B0503020204020204" pitchFamily="34" charset="-122"/>
                        </a:rPr>
                        <m:t>⁡[</m:t>
                      </m:r>
                      <m:sSub>
                        <m:sSubPr>
                          <m:ctrlPr>
                            <a:rPr lang="en-US" altLang="zh-CN" sz="2800" b="1" i="1">
                              <a:latin typeface="Cambria Math" panose="02040503050406030204" pitchFamily="18" charset="0"/>
                              <a:ea typeface="微软雅黑" panose="020B0503020204020204" pitchFamily="34" charset="-122"/>
                            </a:rPr>
                          </m:ctrlPr>
                        </m:sSubPr>
                        <m:e>
                          <m:r>
                            <a:rPr lang="en-US" altLang="zh-CN" sz="2800" b="1" i="1">
                              <a:latin typeface="Cambria Math" panose="02040503050406030204" pitchFamily="18" charset="0"/>
                              <a:ea typeface="微软雅黑" panose="020B0503020204020204" pitchFamily="34" charset="-122"/>
                            </a:rPr>
                            <m:t>𝒕</m:t>
                          </m:r>
                        </m:e>
                        <m:sub>
                          <m:r>
                            <a:rPr lang="en-US" altLang="zh-CN" sz="2800" b="1" i="1">
                              <a:latin typeface="Cambria Math" panose="02040503050406030204" pitchFamily="18" charset="0"/>
                              <a:ea typeface="微软雅黑" panose="020B0503020204020204" pitchFamily="34" charset="-122"/>
                            </a:rPr>
                            <m:t>𝒇𝒊</m:t>
                          </m:r>
                        </m:sub>
                      </m:sSub>
                      <m:r>
                        <a:rPr lang="en-US" altLang="zh-CN" sz="2800" b="1" i="1" smtClean="0">
                          <a:latin typeface="Cambria Math" panose="02040503050406030204" pitchFamily="18" charset="0"/>
                          <a:ea typeface="微软雅黑" panose="020B0503020204020204" pitchFamily="34" charset="-122"/>
                        </a:rPr>
                        <m:t>]</m:t>
                      </m:r>
                      <m:r>
                        <a:rPr lang="en-US" altLang="zh-CN" sz="2800" b="1">
                          <a:latin typeface="Cambria Math" panose="02040503050406030204" pitchFamily="18" charset="0"/>
                          <a:ea typeface="微软雅黑" panose="020B0503020204020204" pitchFamily="34" charset="-122"/>
                        </a:rPr>
                        <m:t>, </m:t>
                      </m:r>
                      <m:r>
                        <a:rPr lang="en-US" altLang="zh-CN" sz="2800" b="1" i="1">
                          <a:latin typeface="Cambria Math" panose="02040503050406030204" pitchFamily="18" charset="0"/>
                          <a:ea typeface="微软雅黑" panose="020B0503020204020204" pitchFamily="34" charset="-122"/>
                        </a:rPr>
                        <m:t>𝒊</m:t>
                      </m:r>
                      <m:r>
                        <a:rPr lang="en-US" altLang="zh-CN" sz="2800" b="1">
                          <a:latin typeface="Cambria Math" panose="02040503050406030204" pitchFamily="18" charset="0"/>
                          <a:ea typeface="微软雅黑" panose="020B0503020204020204" pitchFamily="34" charset="-122"/>
                        </a:rPr>
                        <m:t>=</m:t>
                      </m:r>
                      <m:r>
                        <a:rPr lang="en-US" altLang="zh-CN" sz="2800" b="1" i="1">
                          <a:latin typeface="Cambria Math" panose="02040503050406030204" pitchFamily="18" charset="0"/>
                          <a:ea typeface="微软雅黑" panose="020B0503020204020204" pitchFamily="34" charset="-122"/>
                        </a:rPr>
                        <m:t>𝟏</m:t>
                      </m:r>
                      <m:r>
                        <a:rPr lang="en-US" altLang="zh-CN" sz="2800" b="1">
                          <a:latin typeface="Cambria Math" panose="02040503050406030204" pitchFamily="18" charset="0"/>
                          <a:ea typeface="微软雅黑" panose="020B0503020204020204" pitchFamily="34" charset="-122"/>
                        </a:rPr>
                        <m:t>:</m:t>
                      </m:r>
                      <m:r>
                        <a:rPr lang="en-US" altLang="zh-CN" sz="2800" b="1" i="1">
                          <a:latin typeface="Cambria Math" panose="02040503050406030204" pitchFamily="18" charset="0"/>
                          <a:ea typeface="微软雅黑" panose="020B0503020204020204" pitchFamily="34" charset="-122"/>
                        </a:rPr>
                        <m:t>𝒏</m:t>
                      </m:r>
                    </m:oMath>
                  </m:oMathPara>
                </a14:m>
                <a:endParaRPr lang="en-US" altLang="zh-CN" sz="2800" b="1" i="1" dirty="0">
                  <a:latin typeface="微软雅黑" panose="020B0503020204020204" pitchFamily="34" charset="-122"/>
                  <a:ea typeface="微软雅黑" panose="020B0503020204020204" pitchFamily="34" charset="-122"/>
                </a:endParaRPr>
              </a:p>
              <a:p>
                <a:pPr marL="342900" indent="-342900">
                  <a:lnSpc>
                    <a:spcPct val="150000"/>
                  </a:lnSpc>
                  <a:spcBef>
                    <a:spcPts val="600"/>
                  </a:spcBef>
                  <a:spcAft>
                    <a:spcPts val="600"/>
                  </a:spcAft>
                  <a:buFont typeface="Wingdings" panose="05000000000000000000" pitchFamily="2" charset="2"/>
                  <a:buChar char="n"/>
                </a:pPr>
                <a:r>
                  <a:rPr lang="zh-CN" altLang="en-US" sz="2800" b="1" i="0" dirty="0">
                    <a:latin typeface="微软雅黑" panose="020B0503020204020204" pitchFamily="34" charset="-122"/>
                    <a:ea typeface="微软雅黑" panose="020B0503020204020204" pitchFamily="34" charset="-122"/>
                  </a:rPr>
                  <a:t>各关节按照求得的</a:t>
                </a:r>
                <a:r>
                  <a:rPr lang="en-US" altLang="zh-CN" sz="2800" b="1" i="0" dirty="0">
                    <a:latin typeface="微软雅黑" panose="020B0503020204020204" pitchFamily="34" charset="-122"/>
                    <a:ea typeface="微软雅黑" panose="020B0503020204020204" pitchFamily="34" charset="-122"/>
                  </a:rPr>
                  <a:t>”</a:t>
                </a:r>
                <a:r>
                  <a:rPr lang="zh-CN" altLang="en-US" sz="2800" b="1" i="0" dirty="0">
                    <a:latin typeface="微软雅黑" panose="020B0503020204020204" pitchFamily="34" charset="-122"/>
                    <a:ea typeface="微软雅黑" panose="020B0503020204020204" pitchFamily="34" charset="-122"/>
                  </a:rPr>
                  <a:t>最大</a:t>
                </a:r>
                <a:r>
                  <a:rPr lang="en-US" altLang="zh-CN" sz="2800" b="1" i="0" dirty="0">
                    <a:latin typeface="微软雅黑" panose="020B0503020204020204" pitchFamily="34" charset="-122"/>
                    <a:ea typeface="微软雅黑" panose="020B0503020204020204" pitchFamily="34" charset="-122"/>
                  </a:rPr>
                  <a:t>”</a:t>
                </a:r>
                <a:r>
                  <a:rPr lang="zh-CN" altLang="en-US" sz="2800" b="1" i="0" dirty="0">
                    <a:latin typeface="微软雅黑" panose="020B0503020204020204" pitchFamily="34" charset="-122"/>
                    <a:ea typeface="微软雅黑" panose="020B0503020204020204" pitchFamily="34" charset="-122"/>
                  </a:rPr>
                  <a:t>执行时间</a:t>
                </a:r>
                <a14:m>
                  <m:oMath xmlns:m="http://schemas.openxmlformats.org/officeDocument/2006/math">
                    <m:sSub>
                      <m:sSubPr>
                        <m:ctrlPr>
                          <a:rPr lang="en-US" altLang="zh-CN" sz="2800" b="1" i="1">
                            <a:latin typeface="Cambria Math" panose="02040503050406030204" pitchFamily="18" charset="0"/>
                            <a:ea typeface="微软雅黑" panose="020B0503020204020204" pitchFamily="34" charset="-122"/>
                          </a:rPr>
                        </m:ctrlPr>
                      </m:sSubPr>
                      <m:e>
                        <m:r>
                          <a:rPr lang="en-US" altLang="zh-CN" sz="2800" b="1" i="1">
                            <a:latin typeface="Cambria Math" panose="02040503050406030204" pitchFamily="18" charset="0"/>
                            <a:ea typeface="微软雅黑" panose="020B0503020204020204" pitchFamily="34" charset="-122"/>
                          </a:rPr>
                          <m:t>𝒕</m:t>
                        </m:r>
                      </m:e>
                      <m:sub>
                        <m:r>
                          <a:rPr lang="en-US" altLang="zh-CN" sz="2800" b="1" i="1">
                            <a:latin typeface="Cambria Math" panose="02040503050406030204" pitchFamily="18" charset="0"/>
                            <a:ea typeface="微软雅黑" panose="020B0503020204020204" pitchFamily="34" charset="-122"/>
                          </a:rPr>
                          <m:t>𝒇</m:t>
                        </m:r>
                        <m:r>
                          <a:rPr lang="en-US" altLang="zh-CN" sz="2800" b="1" i="1" smtClean="0">
                            <a:latin typeface="Cambria Math" panose="02040503050406030204" pitchFamily="18" charset="0"/>
                            <a:ea typeface="微软雅黑" panose="020B0503020204020204" pitchFamily="34" charset="-122"/>
                          </a:rPr>
                          <m:t>𝒎𝒂𝒙</m:t>
                        </m:r>
                      </m:sub>
                    </m:sSub>
                  </m:oMath>
                </a14:m>
                <a:r>
                  <a:rPr lang="zh-CN" altLang="en-US" sz="2800" b="1" i="0" dirty="0">
                    <a:latin typeface="微软雅黑" panose="020B0503020204020204" pitchFamily="34" charset="-122"/>
                    <a:ea typeface="微软雅黑" panose="020B0503020204020204" pitchFamily="34" charset="-122"/>
                  </a:rPr>
                  <a:t>重新规划</a:t>
                </a:r>
                <a:endParaRPr lang="en-US" altLang="zh-CN" sz="2800" b="1" i="0" dirty="0">
                  <a:latin typeface="微软雅黑" panose="020B0503020204020204" pitchFamily="34" charset="-122"/>
                  <a:ea typeface="微软雅黑" panose="020B0503020204020204" pitchFamily="34" charset="-122"/>
                </a:endParaRPr>
              </a:p>
              <a:p>
                <a:pPr marL="342900" indent="-342900">
                  <a:lnSpc>
                    <a:spcPct val="150000"/>
                  </a:lnSpc>
                  <a:spcBef>
                    <a:spcPts val="600"/>
                  </a:spcBef>
                  <a:spcAft>
                    <a:spcPts val="600"/>
                  </a:spcAft>
                  <a:buFont typeface="Wingdings" panose="05000000000000000000" pitchFamily="2" charset="2"/>
                  <a:buChar char="n"/>
                </a:pPr>
                <a:r>
                  <a:rPr lang="zh-CN" altLang="en-US" sz="2800" b="1" dirty="0">
                    <a:latin typeface="微软雅黑" panose="020B0503020204020204" pitchFamily="34" charset="-122"/>
                    <a:ea typeface="微软雅黑" panose="020B0503020204020204" pitchFamily="34" charset="-122"/>
                  </a:rPr>
                  <a:t>保障各个关节同时到达终点</a:t>
                </a:r>
                <a:r>
                  <a:rPr lang="zh-CN" altLang="en-US" sz="2800" b="1" i="0" dirty="0">
                    <a:latin typeface="微软雅黑" panose="020B0503020204020204" pitchFamily="34" charset="-122"/>
                    <a:ea typeface="微软雅黑" panose="020B0503020204020204" pitchFamily="34" charset="-122"/>
                  </a:rPr>
                  <a:t> </a:t>
                </a:r>
              </a:p>
            </p:txBody>
          </p:sp>
        </mc:Choice>
        <mc:Fallback xmlns="">
          <p:sp>
            <p:nvSpPr>
              <p:cNvPr id="3" name="文本框 2">
                <a:extLst>
                  <a:ext uri="{FF2B5EF4-FFF2-40B4-BE49-F238E27FC236}">
                    <a16:creationId xmlns:a16="http://schemas.microsoft.com/office/drawing/2014/main" id="{8C884878-1E3A-4BBF-B121-5819077F8EAB}"/>
                  </a:ext>
                </a:extLst>
              </p:cNvPr>
              <p:cNvSpPr txBox="1">
                <a:spLocks noRot="1" noChangeAspect="1" noMove="1" noResize="1" noEditPoints="1" noAdjustHandles="1" noChangeArrowheads="1" noChangeShapeType="1" noTextEdit="1"/>
              </p:cNvSpPr>
              <p:nvPr/>
            </p:nvSpPr>
            <p:spPr>
              <a:xfrm>
                <a:off x="625275" y="1296030"/>
                <a:ext cx="10585176" cy="3970382"/>
              </a:xfrm>
              <a:prstGeom prst="rect">
                <a:avLst/>
              </a:prstGeom>
              <a:blipFill>
                <a:blip r:embed="rId2"/>
                <a:stretch>
                  <a:fillRect l="-1037" b="-3379"/>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997AA0D1-83AB-4630-8AA2-75611A96B1DF}"/>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7.2 </a:t>
            </a:r>
            <a:r>
              <a:rPr lang="zh-CN" altLang="en-US" sz="3200" b="1" dirty="0">
                <a:solidFill>
                  <a:srgbClr val="9D1317"/>
                </a:solidFill>
                <a:latin typeface="微软雅黑" panose="020B0503020204020204" pitchFamily="34" charset="-122"/>
                <a:ea typeface="微软雅黑" panose="020B0503020204020204" pitchFamily="34" charset="-122"/>
              </a:rPr>
              <a:t>基于多项式函数的关节轨迹规划：多关节同步</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5663900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6F226DEE-AEB3-4B7D-9DFD-47BB32A2DAB2}"/>
              </a:ext>
            </a:extLst>
          </p:cNvPr>
          <p:cNvGrpSpPr/>
          <p:nvPr/>
        </p:nvGrpSpPr>
        <p:grpSpPr>
          <a:xfrm>
            <a:off x="2055836" y="1624696"/>
            <a:ext cx="7412937" cy="1874536"/>
            <a:chOff x="2066719" y="2376959"/>
            <a:chExt cx="7412937" cy="1874536"/>
          </a:xfrm>
        </p:grpSpPr>
        <p:sp>
          <p:nvSpPr>
            <p:cNvPr id="22" name="Line 22">
              <a:extLst>
                <a:ext uri="{FF2B5EF4-FFF2-40B4-BE49-F238E27FC236}">
                  <a16:creationId xmlns:a16="http://schemas.microsoft.com/office/drawing/2014/main" id="{BB4DE021-B01D-4F68-8962-D824C6404EA2}"/>
                </a:ext>
              </a:extLst>
            </p:cNvPr>
            <p:cNvSpPr>
              <a:spLocks noChangeShapeType="1"/>
            </p:cNvSpPr>
            <p:nvPr/>
          </p:nvSpPr>
          <p:spPr bwMode="auto">
            <a:xfrm flipV="1">
              <a:off x="2661401" y="3894203"/>
              <a:ext cx="6201809"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3" name="AutoShape 26">
              <a:extLst>
                <a:ext uri="{FF2B5EF4-FFF2-40B4-BE49-F238E27FC236}">
                  <a16:creationId xmlns:a16="http://schemas.microsoft.com/office/drawing/2014/main" id="{74B17825-6FE4-4667-BC7D-EFB2959ED9B2}"/>
                </a:ext>
              </a:extLst>
            </p:cNvPr>
            <p:cNvSpPr>
              <a:spLocks noChangeArrowheads="1"/>
            </p:cNvSpPr>
            <p:nvPr/>
          </p:nvSpPr>
          <p:spPr bwMode="auto">
            <a:xfrm>
              <a:off x="2999656" y="3525333"/>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2. </a:t>
              </a:r>
              <a:r>
                <a:rPr lang="zh-CN" altLang="en-US" sz="3200" dirty="0">
                  <a:solidFill>
                    <a:prstClr val="black"/>
                  </a:solidFill>
                  <a:latin typeface="微软雅黑" panose="020B0503020204020204" pitchFamily="34" charset="-122"/>
                  <a:ea typeface="微软雅黑" panose="020B0503020204020204" pitchFamily="34" charset="-122"/>
                </a:rPr>
                <a:t>基于多项式函数的轨迹规划</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743E3999-0215-4015-AFE8-F5373ABE2158}"/>
                </a:ext>
              </a:extLst>
            </p:cNvPr>
            <p:cNvGrpSpPr/>
            <p:nvPr/>
          </p:nvGrpSpPr>
          <p:grpSpPr>
            <a:xfrm>
              <a:off x="2066719" y="2376959"/>
              <a:ext cx="576000" cy="576000"/>
              <a:chOff x="4613213" y="3169005"/>
              <a:chExt cx="504000" cy="504000"/>
            </a:xfrm>
          </p:grpSpPr>
          <p:sp>
            <p:nvSpPr>
              <p:cNvPr id="25" name="椭圆 24">
                <a:extLst>
                  <a:ext uri="{FF2B5EF4-FFF2-40B4-BE49-F238E27FC236}">
                    <a16:creationId xmlns:a16="http://schemas.microsoft.com/office/drawing/2014/main" id="{7AD90CCB-AFB3-45BD-9B1A-F5B617AD4306}"/>
                  </a:ext>
                </a:extLst>
              </p:cNvPr>
              <p:cNvSpPr/>
              <p:nvPr/>
            </p:nvSpPr>
            <p:spPr>
              <a:xfrm>
                <a:off x="4613213" y="3169005"/>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26" name="Freeform 70">
                <a:extLst>
                  <a:ext uri="{FF2B5EF4-FFF2-40B4-BE49-F238E27FC236}">
                    <a16:creationId xmlns:a16="http://schemas.microsoft.com/office/drawing/2014/main" id="{9CE89935-AD30-4BE4-A56B-D59891937EDA}"/>
                  </a:ext>
                </a:extLst>
              </p:cNvPr>
              <p:cNvSpPr>
                <a:spLocks noChangeAspect="1" noEditPoints="1"/>
              </p:cNvSpPr>
              <p:nvPr/>
            </p:nvSpPr>
            <p:spPr bwMode="auto">
              <a:xfrm>
                <a:off x="4703213" y="3258472"/>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7" name="组合 26">
            <a:extLst>
              <a:ext uri="{FF2B5EF4-FFF2-40B4-BE49-F238E27FC236}">
                <a16:creationId xmlns:a16="http://schemas.microsoft.com/office/drawing/2014/main" id="{F5C0FEFF-C193-46FF-BDD2-23FDF2A57A16}"/>
              </a:ext>
            </a:extLst>
          </p:cNvPr>
          <p:cNvGrpSpPr/>
          <p:nvPr/>
        </p:nvGrpSpPr>
        <p:grpSpPr>
          <a:xfrm>
            <a:off x="2634383" y="1566735"/>
            <a:ext cx="6834390" cy="726162"/>
            <a:chOff x="2645266" y="1833630"/>
            <a:chExt cx="6834390" cy="726162"/>
          </a:xfrm>
        </p:grpSpPr>
        <p:sp>
          <p:nvSpPr>
            <p:cNvPr id="30" name="Line 22">
              <a:extLst>
                <a:ext uri="{FF2B5EF4-FFF2-40B4-BE49-F238E27FC236}">
                  <a16:creationId xmlns:a16="http://schemas.microsoft.com/office/drawing/2014/main" id="{2036ADD0-B197-46C9-AD54-353CFF66895A}"/>
                </a:ext>
              </a:extLst>
            </p:cNvPr>
            <p:cNvSpPr>
              <a:spLocks noChangeShapeType="1"/>
            </p:cNvSpPr>
            <p:nvPr/>
          </p:nvSpPr>
          <p:spPr bwMode="auto">
            <a:xfrm>
              <a:off x="2645266" y="2190889"/>
              <a:ext cx="6744032" cy="5822"/>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1" name="AutoShape 26">
              <a:extLst>
                <a:ext uri="{FF2B5EF4-FFF2-40B4-BE49-F238E27FC236}">
                  <a16:creationId xmlns:a16="http://schemas.microsoft.com/office/drawing/2014/main" id="{29A1C0C6-3200-4D5E-A876-E7426DC3C739}"/>
                </a:ext>
              </a:extLst>
            </p:cNvPr>
            <p:cNvSpPr>
              <a:spLocks noChangeArrowheads="1"/>
            </p:cNvSpPr>
            <p:nvPr/>
          </p:nvSpPr>
          <p:spPr bwMode="auto">
            <a:xfrm>
              <a:off x="2999656" y="1833630"/>
              <a:ext cx="6480000" cy="726162"/>
            </a:xfrm>
            <a:prstGeom prst="roundRect">
              <a:avLst>
                <a:gd name="adj" fmla="val 34361"/>
              </a:avLst>
            </a:prstGeom>
            <a:ln>
              <a:solidFill>
                <a:srgbClr val="800080"/>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1. </a:t>
              </a:r>
              <a:r>
                <a:rPr lang="zh-CN" altLang="en-US" sz="3200" dirty="0">
                  <a:solidFill>
                    <a:prstClr val="black"/>
                  </a:solidFill>
                  <a:latin typeface="微软雅黑" panose="020B0503020204020204" pitchFamily="34" charset="-122"/>
                  <a:ea typeface="微软雅黑" panose="020B0503020204020204" pitchFamily="34" charset="-122"/>
                </a:rPr>
                <a:t>机器人轨迹规划基本概念</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729AECDD-F26F-4F1D-B870-8CBE141D39F5}"/>
              </a:ext>
            </a:extLst>
          </p:cNvPr>
          <p:cNvGrpSpPr/>
          <p:nvPr/>
        </p:nvGrpSpPr>
        <p:grpSpPr>
          <a:xfrm>
            <a:off x="2055836" y="2875220"/>
            <a:ext cx="7412937" cy="1830347"/>
            <a:chOff x="2066719" y="3542869"/>
            <a:chExt cx="7412937" cy="1830347"/>
          </a:xfrm>
        </p:grpSpPr>
        <p:sp>
          <p:nvSpPr>
            <p:cNvPr id="40" name="Line 22">
              <a:extLst>
                <a:ext uri="{FF2B5EF4-FFF2-40B4-BE49-F238E27FC236}">
                  <a16:creationId xmlns:a16="http://schemas.microsoft.com/office/drawing/2014/main" id="{9D33B777-B1AA-4BFA-8C40-2663C80DCC29}"/>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E60011C3-CEE3-4528-92A5-D2F177F728E8}"/>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kern="0" dirty="0">
                  <a:solidFill>
                    <a:srgbClr val="8B247C"/>
                  </a:solidFill>
                  <a:latin typeface="微软雅黑" panose="020B0503020204020204" pitchFamily="34" charset="-122"/>
                  <a:ea typeface="微软雅黑" panose="020B0503020204020204" pitchFamily="34" charset="-122"/>
                </a:rPr>
                <a:t>3. </a:t>
              </a:r>
              <a:r>
                <a:rPr lang="zh-CN" altLang="en-US" sz="3200" b="1" kern="0" dirty="0">
                  <a:solidFill>
                    <a:srgbClr val="8B247C"/>
                  </a:solidFill>
                  <a:latin typeface="微软雅黑" panose="020B0503020204020204" pitchFamily="34" charset="-122"/>
                  <a:ea typeface="微软雅黑" panose="020B0503020204020204" pitchFamily="34" charset="-122"/>
                </a:rPr>
                <a:t>基于分段函数的轨迹规划</a:t>
              </a:r>
              <a:endParaRPr lang="en-US" altLang="zh-CN" sz="3200" b="1" kern="0" dirty="0">
                <a:solidFill>
                  <a:srgbClr val="8B247C"/>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8A345FA0-27E7-4515-B369-EBCC74839CE4}"/>
                </a:ext>
              </a:extLst>
            </p:cNvPr>
            <p:cNvGrpSpPr/>
            <p:nvPr/>
          </p:nvGrpSpPr>
          <p:grpSpPr>
            <a:xfrm>
              <a:off x="2066719" y="3542869"/>
              <a:ext cx="576000" cy="576000"/>
              <a:chOff x="7982080" y="4279242"/>
              <a:chExt cx="504000" cy="504000"/>
            </a:xfrm>
          </p:grpSpPr>
          <p:sp>
            <p:nvSpPr>
              <p:cNvPr id="47" name="椭圆 46">
                <a:extLst>
                  <a:ext uri="{FF2B5EF4-FFF2-40B4-BE49-F238E27FC236}">
                    <a16:creationId xmlns:a16="http://schemas.microsoft.com/office/drawing/2014/main" id="{1AF08BF9-84EA-4D30-83A1-78448270B671}"/>
                  </a:ext>
                </a:extLst>
              </p:cNvPr>
              <p:cNvSpPr/>
              <p:nvPr/>
            </p:nvSpPr>
            <p:spPr>
              <a:xfrm>
                <a:off x="7982080" y="4279242"/>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48" name="Freeform 96">
                <a:extLst>
                  <a:ext uri="{FF2B5EF4-FFF2-40B4-BE49-F238E27FC236}">
                    <a16:creationId xmlns:a16="http://schemas.microsoft.com/office/drawing/2014/main" id="{E8857E8D-BCBE-435A-B6BE-3686AAB6B301}"/>
                  </a:ext>
                </a:extLst>
              </p:cNvPr>
              <p:cNvSpPr>
                <a:spLocks noChangeAspect="1" noEditPoints="1"/>
              </p:cNvSpPr>
              <p:nvPr/>
            </p:nvSpPr>
            <p:spPr bwMode="auto">
              <a:xfrm>
                <a:off x="8072080" y="4368702"/>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grpSp>
        <p:nvGrpSpPr>
          <p:cNvPr id="49" name="组合 48">
            <a:extLst>
              <a:ext uri="{FF2B5EF4-FFF2-40B4-BE49-F238E27FC236}">
                <a16:creationId xmlns:a16="http://schemas.microsoft.com/office/drawing/2014/main" id="{DF9B30C7-9851-47E2-A99C-276673B06327}"/>
              </a:ext>
            </a:extLst>
          </p:cNvPr>
          <p:cNvGrpSpPr/>
          <p:nvPr/>
        </p:nvGrpSpPr>
        <p:grpSpPr>
          <a:xfrm>
            <a:off x="2055836" y="5185740"/>
            <a:ext cx="7412937" cy="726162"/>
            <a:chOff x="2066719" y="4647054"/>
            <a:chExt cx="7412937" cy="726162"/>
          </a:xfrm>
        </p:grpSpPr>
        <p:sp>
          <p:nvSpPr>
            <p:cNvPr id="50" name="Line 22">
              <a:extLst>
                <a:ext uri="{FF2B5EF4-FFF2-40B4-BE49-F238E27FC236}">
                  <a16:creationId xmlns:a16="http://schemas.microsoft.com/office/drawing/2014/main" id="{60D24324-A2E2-440E-88A8-CAF12949970C}"/>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53" name="AutoShape 26">
              <a:extLst>
                <a:ext uri="{FF2B5EF4-FFF2-40B4-BE49-F238E27FC236}">
                  <a16:creationId xmlns:a16="http://schemas.microsoft.com/office/drawing/2014/main" id="{F7419E05-6F60-4885-9F5F-7AFE62268719}"/>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4. </a:t>
              </a:r>
              <a:r>
                <a:rPr lang="zh-CN" altLang="en-US" sz="3200" kern="0" dirty="0">
                  <a:solidFill>
                    <a:prstClr val="black"/>
                  </a:solidFill>
                  <a:latin typeface="微软雅黑" panose="020B0503020204020204" pitchFamily="34" charset="-122"/>
                  <a:ea typeface="微软雅黑" panose="020B0503020204020204" pitchFamily="34" charset="-122"/>
                </a:rPr>
                <a:t>多中间点</a:t>
              </a:r>
              <a:r>
                <a:rPr lang="zh-CN" altLang="en-US" sz="3200" i="0" dirty="0">
                  <a:solidFill>
                    <a:prstClr val="black"/>
                  </a:solidFill>
                  <a:latin typeface="微软雅黑" panose="020B0503020204020204" pitchFamily="34" charset="-122"/>
                  <a:ea typeface="微软雅黑" panose="020B0503020204020204" pitchFamily="34" charset="-122"/>
                </a:rPr>
                <a:t>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54" name="组合 53">
              <a:extLst>
                <a:ext uri="{FF2B5EF4-FFF2-40B4-BE49-F238E27FC236}">
                  <a16:creationId xmlns:a16="http://schemas.microsoft.com/office/drawing/2014/main" id="{E5F2C38F-FF4C-4DEB-8BBC-3F8DBF10E4A3}"/>
                </a:ext>
              </a:extLst>
            </p:cNvPr>
            <p:cNvGrpSpPr/>
            <p:nvPr/>
          </p:nvGrpSpPr>
          <p:grpSpPr>
            <a:xfrm>
              <a:off x="2066719" y="4723745"/>
              <a:ext cx="576000" cy="576000"/>
              <a:chOff x="7982080" y="5312514"/>
              <a:chExt cx="504000" cy="504000"/>
            </a:xfrm>
          </p:grpSpPr>
          <p:sp>
            <p:nvSpPr>
              <p:cNvPr id="55" name="椭圆 54">
                <a:extLst>
                  <a:ext uri="{FF2B5EF4-FFF2-40B4-BE49-F238E27FC236}">
                    <a16:creationId xmlns:a16="http://schemas.microsoft.com/office/drawing/2014/main" id="{C46852E6-82FE-4773-9506-6B1ABCA803C9}"/>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56" name="Freeform 96">
                <a:extLst>
                  <a:ext uri="{FF2B5EF4-FFF2-40B4-BE49-F238E27FC236}">
                    <a16:creationId xmlns:a16="http://schemas.microsoft.com/office/drawing/2014/main" id="{7F5B9519-4E41-45CF-9E73-771AD4993755}"/>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
        <p:nvSpPr>
          <p:cNvPr id="28" name="椭圆 27">
            <a:extLst>
              <a:ext uri="{FF2B5EF4-FFF2-40B4-BE49-F238E27FC236}">
                <a16:creationId xmlns:a16="http://schemas.microsoft.com/office/drawing/2014/main" id="{418351EE-A2C5-4B52-B642-570E47A2D3C2}"/>
              </a:ext>
            </a:extLst>
          </p:cNvPr>
          <p:cNvSpPr/>
          <p:nvPr/>
        </p:nvSpPr>
        <p:spPr>
          <a:xfrm>
            <a:off x="2074518" y="4082271"/>
            <a:ext cx="576000" cy="576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prstClr val="white"/>
              </a:solidFill>
              <a:latin typeface="华文中宋" panose="02010600040101010101" pitchFamily="2" charset="-122"/>
              <a:ea typeface="华文中宋" panose="02010600040101010101" pitchFamily="2" charset="-122"/>
            </a:endParaRPr>
          </a:p>
        </p:txBody>
      </p:sp>
      <p:sp>
        <p:nvSpPr>
          <p:cNvPr id="29" name="Freeform 105">
            <a:extLst>
              <a:ext uri="{FF2B5EF4-FFF2-40B4-BE49-F238E27FC236}">
                <a16:creationId xmlns:a16="http://schemas.microsoft.com/office/drawing/2014/main" id="{1F8D421B-A2FA-432E-BB84-DCE32DA8A53D}"/>
              </a:ext>
            </a:extLst>
          </p:cNvPr>
          <p:cNvSpPr>
            <a:spLocks noChangeAspect="1" noEditPoints="1"/>
          </p:cNvSpPr>
          <p:nvPr/>
        </p:nvSpPr>
        <p:spPr bwMode="auto">
          <a:xfrm>
            <a:off x="2174907" y="4173173"/>
            <a:ext cx="370286" cy="329958"/>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65176946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C240CB-E9D3-4F19-8763-31F94BA31EE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20</a:t>
            </a:fld>
            <a:endParaRPr lang="zh-CN" altLang="en-US" dirty="0">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ECAAE11-08F3-43E2-A4E0-0F7E676CB445}"/>
                  </a:ext>
                </a:extLst>
              </p:cNvPr>
              <p:cNvSpPr txBox="1"/>
              <p:nvPr/>
            </p:nvSpPr>
            <p:spPr>
              <a:xfrm>
                <a:off x="27302" y="798329"/>
                <a:ext cx="12192000" cy="973472"/>
              </a:xfrm>
              <a:prstGeom prst="rect">
                <a:avLst/>
              </a:prstGeom>
              <a:noFill/>
            </p:spPr>
            <p:txBody>
              <a:bodyPr wrap="square" rtlCol="0">
                <a:spAutoFit/>
              </a:bodyPr>
              <a:lstStyle/>
              <a:p>
                <a:pPr marL="342900" lvl="1"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分段操作：分为“加速 </a:t>
                </a:r>
                <a:r>
                  <a:rPr lang="en-US" altLang="zh-CN" sz="2400" b="1" i="0" dirty="0">
                    <a:latin typeface="微软雅黑" panose="020B0503020204020204" pitchFamily="34" charset="-122"/>
                    <a:ea typeface="微软雅黑" panose="020B0503020204020204" pitchFamily="34" charset="-122"/>
                  </a:rPr>
                  <a:t>- </a:t>
                </a:r>
                <a:r>
                  <a:rPr lang="zh-CN" altLang="en-US" sz="2400" b="1" i="0" dirty="0">
                    <a:latin typeface="微软雅黑" panose="020B0503020204020204" pitchFamily="34" charset="-122"/>
                    <a:ea typeface="微软雅黑" panose="020B0503020204020204" pitchFamily="34" charset="-122"/>
                  </a:rPr>
                  <a:t>匀速（最大速度）</a:t>
                </a:r>
                <a:r>
                  <a:rPr lang="en-US" altLang="zh-CN" sz="2400" b="1" i="0" dirty="0">
                    <a:latin typeface="微软雅黑" panose="020B0503020204020204" pitchFamily="34" charset="-122"/>
                    <a:ea typeface="微软雅黑" panose="020B0503020204020204" pitchFamily="34" charset="-122"/>
                  </a:rPr>
                  <a:t>- </a:t>
                </a:r>
                <a:r>
                  <a:rPr lang="zh-CN" altLang="en-US" sz="2400" b="1" i="0" dirty="0">
                    <a:latin typeface="微软雅黑" panose="020B0503020204020204" pitchFamily="34" charset="-122"/>
                    <a:ea typeface="微软雅黑" panose="020B0503020204020204" pitchFamily="34" charset="-122"/>
                  </a:rPr>
                  <a:t>减速”三段</a:t>
                </a:r>
                <a:r>
                  <a:rPr lang="zh-CN" altLang="en-US" sz="2400" b="1" dirty="0">
                    <a:latin typeface="微软雅黑" panose="020B0503020204020204" pitchFamily="34" charset="-122"/>
                    <a:ea typeface="微软雅黑" panose="020B0503020204020204" pitchFamily="34" charset="-122"/>
                  </a:rPr>
                  <a:t>；设该关节的最大速度</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𝒗</m:t>
                        </m:r>
                      </m:e>
                      <m:sub>
                        <m:r>
                          <a:rPr lang="en-US" altLang="zh-CN" sz="2400" b="1" i="1">
                            <a:latin typeface="Cambria Math" panose="02040503050406030204" pitchFamily="18" charset="0"/>
                            <a:ea typeface="微软雅黑" panose="020B0503020204020204" pitchFamily="34" charset="-122"/>
                          </a:rPr>
                          <m:t>𝒎𝒂𝒙</m:t>
                        </m:r>
                      </m:sub>
                    </m:sSub>
                  </m:oMath>
                </a14:m>
                <a:r>
                  <a:rPr lang="zh-CN" altLang="en-US" sz="2400" b="1" dirty="0">
                    <a:latin typeface="微软雅黑" panose="020B0503020204020204" pitchFamily="34" charset="-122"/>
                    <a:ea typeface="微软雅黑" panose="020B0503020204020204" pitchFamily="34" charset="-122"/>
                  </a:rPr>
                  <a:t>、最大加速度</a:t>
                </a:r>
                <a14:m>
                  <m:oMath xmlns:m="http://schemas.openxmlformats.org/officeDocument/2006/math">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𝒎𝒂𝒙</m:t>
                        </m:r>
                      </m:sub>
                    </m:sSub>
                    <m:r>
                      <a:rPr lang="en-US" altLang="zh-CN" sz="2400" b="1" i="1">
                        <a:latin typeface="Cambria Math" panose="02040503050406030204" pitchFamily="18" charset="0"/>
                        <a:ea typeface="微软雅黑" panose="020B0503020204020204" pitchFamily="34" charset="-122"/>
                      </a:rPr>
                      <m:t> </m:t>
                    </m:r>
                  </m:oMath>
                </a14:m>
                <a:r>
                  <a:rPr lang="zh-CN" altLang="en-US" sz="2400" b="1" dirty="0">
                    <a:latin typeface="微软雅黑" panose="020B0503020204020204" pitchFamily="34" charset="-122"/>
                    <a:ea typeface="微软雅黑" panose="020B0503020204020204" pitchFamily="34" charset="-122"/>
                  </a:rPr>
                  <a:t>；</a:t>
                </a:r>
                <a:r>
                  <a:rPr lang="zh-CN" altLang="en-US" sz="2400" b="1" i="0" dirty="0">
                    <a:latin typeface="微软雅黑" panose="020B0503020204020204" pitchFamily="34" charset="-122"/>
                    <a:ea typeface="微软雅黑" panose="020B0503020204020204" pitchFamily="34" charset="-122"/>
                  </a:rPr>
                  <a:t>尽量维持在最大速度运行，</a:t>
                </a:r>
                <a:r>
                  <a:rPr lang="zh-CN" altLang="en-US" sz="2400" b="1" dirty="0">
                    <a:latin typeface="微软雅黑" panose="020B0503020204020204" pitchFamily="34" charset="-122"/>
                    <a:ea typeface="微软雅黑" panose="020B0503020204020204" pitchFamily="34" charset="-122"/>
                  </a:rPr>
                  <a:t>当机器人运行在最大速度时，加速度为</a:t>
                </a:r>
                <a:r>
                  <a:rPr lang="en-US" altLang="zh-CN" sz="2400" b="1" dirty="0">
                    <a:latin typeface="微软雅黑" panose="020B0503020204020204" pitchFamily="34" charset="-122"/>
                    <a:ea typeface="微软雅黑" panose="020B0503020204020204" pitchFamily="34" charset="-122"/>
                  </a:rPr>
                  <a:t>0</a:t>
                </a:r>
              </a:p>
            </p:txBody>
          </p:sp>
        </mc:Choice>
        <mc:Fallback xmlns="">
          <p:sp>
            <p:nvSpPr>
              <p:cNvPr id="3" name="文本框 2">
                <a:extLst>
                  <a:ext uri="{FF2B5EF4-FFF2-40B4-BE49-F238E27FC236}">
                    <a16:creationId xmlns:a16="http://schemas.microsoft.com/office/drawing/2014/main" id="{FECAAE11-08F3-43E2-A4E0-0F7E676CB445}"/>
                  </a:ext>
                </a:extLst>
              </p:cNvPr>
              <p:cNvSpPr txBox="1">
                <a:spLocks noRot="1" noChangeAspect="1" noMove="1" noResize="1" noEditPoints="1" noAdjustHandles="1" noChangeArrowheads="1" noChangeShapeType="1" noTextEdit="1"/>
              </p:cNvSpPr>
              <p:nvPr/>
            </p:nvSpPr>
            <p:spPr>
              <a:xfrm>
                <a:off x="27302" y="798329"/>
                <a:ext cx="12192000" cy="973472"/>
              </a:xfrm>
              <a:prstGeom prst="rect">
                <a:avLst/>
              </a:prstGeom>
              <a:blipFill>
                <a:blip r:embed="rId2"/>
                <a:stretch>
                  <a:fillRect l="-650" r="-250" b="-13125"/>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A8787ED1-A8E5-4248-95BB-25B000E69906}"/>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基于分段函数的关节轨迹规划：三段二次函数</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2">
                <a:extLst>
                  <a:ext uri="{FF2B5EF4-FFF2-40B4-BE49-F238E27FC236}">
                    <a16:creationId xmlns:a16="http://schemas.microsoft.com/office/drawing/2014/main" id="{FECAAE11-08F3-43E2-A4E0-0F7E676CB445}"/>
                  </a:ext>
                </a:extLst>
              </p:cNvPr>
              <p:cNvSpPr txBox="1"/>
              <p:nvPr/>
            </p:nvSpPr>
            <p:spPr>
              <a:xfrm>
                <a:off x="0" y="1881807"/>
                <a:ext cx="12192000" cy="159819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nSpc>
                    <a:spcPct val="120000"/>
                  </a:lnSpc>
                  <a:spcBef>
                    <a:spcPts val="600"/>
                  </a:spcBef>
                </a:pPr>
                <a:r>
                  <a:rPr lang="en-US" altLang="zh-CN" sz="2400" b="1" i="0" dirty="0">
                    <a:solidFill>
                      <a:srgbClr val="C00000"/>
                    </a:solidFill>
                    <a:latin typeface="微软雅黑" panose="020B0503020204020204" pitchFamily="34" charset="-122"/>
                    <a:ea typeface="微软雅黑" panose="020B0503020204020204" pitchFamily="34" charset="-122"/>
                  </a:rPr>
                  <a:t>1) </a:t>
                </a:r>
                <a:r>
                  <a:rPr lang="zh-CN" altLang="en-US" sz="2400" b="1" i="0" dirty="0">
                    <a:solidFill>
                      <a:srgbClr val="C00000"/>
                    </a:solidFill>
                    <a:latin typeface="微软雅黑" panose="020B0503020204020204" pitchFamily="34" charset="-122"/>
                    <a:ea typeface="微软雅黑" panose="020B0503020204020204" pitchFamily="34" charset="-122"/>
                  </a:rPr>
                  <a:t>加速段</a:t>
                </a:r>
                <a:r>
                  <a:rPr lang="zh-CN" altLang="en-US" sz="2400" b="1" i="0" dirty="0">
                    <a:latin typeface="微软雅黑" panose="020B0503020204020204" pitchFamily="34" charset="-122"/>
                    <a:ea typeface="微软雅黑" panose="020B0503020204020204" pitchFamily="34" charset="-122"/>
                  </a:rPr>
                  <a:t>：以最大加速能力加到最大速度，设计：</a:t>
                </a:r>
                <a14:m>
                  <m:oMath xmlns:m="http://schemas.openxmlformats.org/officeDocument/2006/math">
                    <m:r>
                      <a:rPr lang="en-US" altLang="zh-CN" sz="2400" b="1" i="1">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𝟏𝟏</m:t>
                        </m:r>
                      </m:sub>
                    </m:sSub>
                    <m:r>
                      <a:rPr lang="en-US" altLang="zh-CN" sz="2400" b="1" i="1">
                        <a:latin typeface="Cambria Math" panose="02040503050406030204" pitchFamily="18" charset="0"/>
                        <a:ea typeface="微软雅黑" panose="020B0503020204020204" pitchFamily="34" charset="-122"/>
                      </a:rPr>
                      <m:t>𝐭</m:t>
                    </m:r>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𝟏𝟐</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𝟐</m:t>
                        </m:r>
                      </m:sup>
                    </m:sSup>
                    <m:r>
                      <a:rPr lang="en-US" altLang="zh-CN" sz="2400" b="1" i="1">
                        <a:latin typeface="Cambria Math" panose="02040503050406030204" pitchFamily="18" charset="0"/>
                        <a:ea typeface="微软雅黑" panose="020B0503020204020204" pitchFamily="34" charset="-122"/>
                      </a:rPr>
                      <m:t> </m:t>
                    </m:r>
                  </m:oMath>
                </a14:m>
                <a:endParaRPr lang="en-US" altLang="zh-CN" sz="2400" b="1" i="0" dirty="0">
                  <a:latin typeface="微软雅黑" panose="020B0503020204020204" pitchFamily="34" charset="-122"/>
                  <a:ea typeface="微软雅黑" panose="020B0503020204020204" pitchFamily="34" charset="-122"/>
                </a:endParaRPr>
              </a:p>
              <a:p>
                <a:pPr marL="0" lvl="1">
                  <a:lnSpc>
                    <a:spcPct val="120000"/>
                  </a:lnSpc>
                  <a:spcBef>
                    <a:spcPts val="600"/>
                  </a:spcBef>
                </a:pPr>
                <a:r>
                  <a:rPr lang="en-US" altLang="zh-CN" sz="2200" b="1" dirty="0">
                    <a:ea typeface="微软雅黑" panose="020B0503020204020204" pitchFamily="34" charset="-122"/>
                  </a:rPr>
                  <a:t>      </a:t>
                </a:r>
                <a:r>
                  <a:rPr lang="zh-CN" altLang="en-US" sz="2200" b="1" dirty="0">
                    <a:ea typeface="微软雅黑" panose="020B0503020204020204" pitchFamily="34" charset="-122"/>
                  </a:rPr>
                  <a:t>求三个参数：</a:t>
                </a:r>
                <a14:m>
                  <m:oMath xmlns:m="http://schemas.openxmlformats.org/officeDocument/2006/math">
                    <m:r>
                      <a:rPr lang="en-US" altLang="zh-CN" sz="2200" b="1">
                        <a:latin typeface="Cambria Math" panose="02040503050406030204" pitchFamily="18" charset="0"/>
                        <a:ea typeface="微软雅黑" panose="020B0503020204020204" pitchFamily="34" charset="-122"/>
                      </a:rPr>
                      <m:t>𝒒</m:t>
                    </m:r>
                    <m:d>
                      <m:dPr>
                        <m:ctrlPr>
                          <a:rPr lang="en-US" altLang="zh-CN" sz="2200" b="1" i="1">
                            <a:latin typeface="Cambria Math" panose="02040503050406030204" pitchFamily="18" charset="0"/>
                            <a:ea typeface="微软雅黑" panose="020B0503020204020204" pitchFamily="34" charset="-122"/>
                          </a:rPr>
                        </m:ctrlPr>
                      </m:dPr>
                      <m:e>
                        <m:r>
                          <a:rPr lang="en-US" altLang="zh-CN" sz="2200" b="1">
                            <a:latin typeface="Cambria Math" panose="02040503050406030204" pitchFamily="18" charset="0"/>
                            <a:ea typeface="微软雅黑" panose="020B0503020204020204" pitchFamily="34" charset="-122"/>
                          </a:rPr>
                          <m:t>𝟎</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a:latin typeface="Cambria Math" panose="02040503050406030204" pitchFamily="18" charset="0"/>
                            <a:ea typeface="微软雅黑" panose="020B0503020204020204" pitchFamily="34" charset="-122"/>
                          </a:rPr>
                          <m:t>𝒂</m:t>
                        </m:r>
                      </m:e>
                      <m:sub>
                        <m:r>
                          <a:rPr lang="en-US" altLang="zh-CN" sz="2200" b="1">
                            <a:latin typeface="Cambria Math" panose="02040503050406030204" pitchFamily="18" charset="0"/>
                            <a:ea typeface="微软雅黑" panose="020B0503020204020204" pitchFamily="34" charset="-122"/>
                          </a:rPr>
                          <m:t>𝟏𝟎</m:t>
                        </m:r>
                      </m:sub>
                    </m:sSub>
                    <m:r>
                      <a:rPr lang="en-US" altLang="zh-CN" sz="2200" b="1">
                        <a:latin typeface="Cambria Math" panose="02040503050406030204" pitchFamily="18" charset="0"/>
                        <a:ea typeface="微软雅黑" panose="020B0503020204020204" pitchFamily="34" charset="-122"/>
                      </a:rPr>
                      <m:t>=</m:t>
                    </m:r>
                    <m:r>
                      <a:rPr lang="en-US" altLang="zh-CN" sz="2200" b="1">
                        <a:latin typeface="Cambria Math" panose="02040503050406030204" pitchFamily="18" charset="0"/>
                        <a:ea typeface="微软雅黑" panose="020B0503020204020204" pitchFamily="34" charset="-122"/>
                      </a:rPr>
                      <m:t>𝟎</m:t>
                    </m:r>
                    <m:r>
                      <a:rPr lang="en-US" altLang="zh-CN" sz="2200" b="1">
                        <a:latin typeface="Cambria Math" panose="02040503050406030204" pitchFamily="18" charset="0"/>
                        <a:ea typeface="微软雅黑" panose="020B0503020204020204" pitchFamily="34" charset="-122"/>
                      </a:rPr>
                      <m:t>,   </m:t>
                    </m:r>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a:latin typeface="Cambria Math" panose="02040503050406030204" pitchFamily="18" charset="0"/>
                            <a:ea typeface="微软雅黑" panose="020B0503020204020204" pitchFamily="34" charset="-122"/>
                          </a:rPr>
                          <m:t>𝒒</m:t>
                        </m:r>
                      </m:e>
                    </m:acc>
                    <m:d>
                      <m:dPr>
                        <m:ctrlPr>
                          <a:rPr lang="en-US" altLang="zh-CN" sz="2200" b="1" i="1">
                            <a:latin typeface="Cambria Math" panose="02040503050406030204" pitchFamily="18" charset="0"/>
                            <a:ea typeface="微软雅黑" panose="020B0503020204020204" pitchFamily="34" charset="-122"/>
                          </a:rPr>
                        </m:ctrlPr>
                      </m:dPr>
                      <m:e>
                        <m:r>
                          <a:rPr lang="en-US" altLang="zh-CN" sz="2200" b="1">
                            <a:latin typeface="Cambria Math" panose="02040503050406030204" pitchFamily="18" charset="0"/>
                            <a:ea typeface="微软雅黑" panose="020B0503020204020204" pitchFamily="34" charset="-122"/>
                          </a:rPr>
                          <m:t>𝟎</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a:latin typeface="Cambria Math" panose="02040503050406030204" pitchFamily="18" charset="0"/>
                            <a:ea typeface="微软雅黑" panose="020B0503020204020204" pitchFamily="34" charset="-122"/>
                          </a:rPr>
                          <m:t>𝒂</m:t>
                        </m:r>
                      </m:e>
                      <m:sub>
                        <m:r>
                          <a:rPr lang="en-US" altLang="zh-CN" sz="2200" b="1">
                            <a:latin typeface="Cambria Math" panose="02040503050406030204" pitchFamily="18" charset="0"/>
                            <a:ea typeface="微软雅黑" panose="020B0503020204020204" pitchFamily="34" charset="-122"/>
                          </a:rPr>
                          <m:t>𝟏𝟏</m:t>
                        </m:r>
                      </m:sub>
                    </m:sSub>
                    <m:r>
                      <a:rPr lang="en-US" altLang="zh-CN" sz="2200" b="1">
                        <a:latin typeface="Cambria Math" panose="02040503050406030204" pitchFamily="18" charset="0"/>
                        <a:ea typeface="微软雅黑" panose="020B0503020204020204" pitchFamily="34" charset="-122"/>
                      </a:rPr>
                      <m:t>=</m:t>
                    </m:r>
                    <m:r>
                      <a:rPr lang="en-US" altLang="zh-CN" sz="2200" b="1">
                        <a:latin typeface="Cambria Math" panose="02040503050406030204" pitchFamily="18" charset="0"/>
                        <a:ea typeface="微软雅黑" panose="020B0503020204020204" pitchFamily="34" charset="-122"/>
                      </a:rPr>
                      <m:t>𝟎</m:t>
                    </m:r>
                  </m:oMath>
                </a14:m>
                <a:r>
                  <a:rPr lang="zh-CN" altLang="en-US" sz="2200" b="1" dirty="0">
                    <a:ea typeface="微软雅黑" panose="020B0503020204020204" pitchFamily="34" charset="-122"/>
                  </a:rPr>
                  <a:t>，</a:t>
                </a:r>
                <a14:m>
                  <m:oMath xmlns:m="http://schemas.openxmlformats.org/officeDocument/2006/math">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r>
                      <a:rPr lang="en-US" altLang="zh-CN" sz="2200" b="1" i="1">
                        <a:latin typeface="Cambria Math" panose="02040503050406030204" pitchFamily="18" charset="0"/>
                        <a:ea typeface="微软雅黑" panose="020B0503020204020204" pitchFamily="34" charset="-122"/>
                      </a:rPr>
                      <m:t>𝟐</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𝟏𝟐</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𝒎𝒂𝒙</m:t>
                        </m:r>
                      </m:sub>
                    </m:sSub>
                  </m:oMath>
                </a14:m>
                <a:r>
                  <a:rPr lang="zh-CN" altLang="en-US" sz="2200" b="1" i="1" dirty="0">
                    <a:latin typeface="Cambria Math" panose="02040503050406030204" pitchFamily="18" charset="0"/>
                    <a:ea typeface="微软雅黑" panose="020B0503020204020204" pitchFamily="34" charset="-122"/>
                  </a:rPr>
                  <a:t> </a:t>
                </a:r>
                <a:endParaRPr lang="en-US" altLang="zh-CN" sz="2200" b="1" i="1" dirty="0">
                  <a:latin typeface="Cambria Math" panose="02040503050406030204" pitchFamily="18" charset="0"/>
                  <a:ea typeface="微软雅黑" panose="020B0503020204020204" pitchFamily="34" charset="-122"/>
                </a:endParaRPr>
              </a:p>
              <a:p>
                <a:pPr marL="0" lvl="1">
                  <a:lnSpc>
                    <a:spcPct val="120000"/>
                  </a:lnSpc>
                  <a:spcBef>
                    <a:spcPts val="600"/>
                  </a:spcBef>
                </a:pPr>
                <a:r>
                  <a:rPr lang="en-US" altLang="zh-CN" sz="2200" b="1" dirty="0">
                    <a:ea typeface="微软雅黑" panose="020B0503020204020204" pitchFamily="34" charset="-122"/>
                  </a:rPr>
                  <a:t>      </a:t>
                </a:r>
                <a:r>
                  <a:rPr lang="zh-CN" altLang="en-US" sz="2200" b="1" dirty="0">
                    <a:ea typeface="微软雅黑" panose="020B0503020204020204" pitchFamily="34" charset="-122"/>
                  </a:rPr>
                  <a:t>求</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𝟏</m:t>
                        </m:r>
                        <m:r>
                          <a:rPr lang="en-US" altLang="zh-CN" sz="2200" b="1" i="1">
                            <a:latin typeface="Cambria Math" panose="02040503050406030204" pitchFamily="18" charset="0"/>
                            <a:ea typeface="微软雅黑" panose="020B0503020204020204" pitchFamily="34" charset="-122"/>
                          </a:rPr>
                          <m:t>𝒇</m:t>
                        </m:r>
                      </m:sub>
                    </m:sSub>
                    <m:r>
                      <a:rPr lang="zh-CN" altLang="en-US" sz="2200" b="1" i="1">
                        <a:latin typeface="Cambria Math" panose="02040503050406030204" pitchFamily="18" charset="0"/>
                        <a:ea typeface="微软雅黑" panose="020B0503020204020204" pitchFamily="34" charset="-122"/>
                      </a:rPr>
                      <m:t>：</m:t>
                    </m:r>
                    <m:r>
                      <a:rPr lang="en-US" altLang="zh-CN" sz="2200" b="1" i="1">
                        <a:latin typeface="Cambria Math" panose="02040503050406030204" pitchFamily="18" charset="0"/>
                        <a:ea typeface="微软雅黑" panose="020B0503020204020204" pitchFamily="34" charset="-122"/>
                      </a:rPr>
                      <m:t> </m:t>
                    </m:r>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d>
                      <m:dPr>
                        <m:ctrlPr>
                          <a:rPr lang="en-US" altLang="zh-CN" sz="2200" b="1" i="1">
                            <a:latin typeface="Cambria Math" panose="02040503050406030204" pitchFamily="18" charset="0"/>
                            <a:ea typeface="微软雅黑" panose="020B0503020204020204" pitchFamily="34" charset="-122"/>
                          </a:rPr>
                        </m:ctrlPr>
                      </m:dPr>
                      <m:e>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𝟏</m:t>
                            </m:r>
                            <m:r>
                              <a:rPr lang="en-US" altLang="zh-CN" sz="2200" b="1" i="1">
                                <a:latin typeface="Cambria Math" panose="02040503050406030204" pitchFamily="18" charset="0"/>
                                <a:ea typeface="微软雅黑" panose="020B0503020204020204" pitchFamily="34" charset="-122"/>
                              </a:rPr>
                              <m:t>𝒇</m:t>
                            </m:r>
                          </m:sub>
                        </m:sSub>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𝟏</m:t>
                        </m:r>
                        <m:r>
                          <a:rPr lang="en-US" altLang="zh-CN" sz="2200" b="1" i="1" smtClean="0">
                            <a:latin typeface="Cambria Math" panose="02040503050406030204" pitchFamily="18" charset="0"/>
                            <a:ea typeface="微软雅黑" panose="020B0503020204020204" pitchFamily="34" charset="-122"/>
                          </a:rPr>
                          <m:t>𝟏</m:t>
                        </m:r>
                      </m:sub>
                    </m:sSub>
                    <m:r>
                      <a:rPr lang="en-US" altLang="zh-CN" sz="2200" b="1" i="1" smtClean="0">
                        <a:latin typeface="Cambria Math" panose="02040503050406030204" pitchFamily="18" charset="0"/>
                        <a:ea typeface="微软雅黑" panose="020B0503020204020204" pitchFamily="34" charset="-122"/>
                      </a:rPr>
                      <m:t>+</m:t>
                    </m:r>
                    <m:r>
                      <a:rPr lang="en-US" altLang="zh-CN" sz="2200" b="1" i="1">
                        <a:latin typeface="Cambria Math" panose="02040503050406030204" pitchFamily="18" charset="0"/>
                        <a:ea typeface="微软雅黑" panose="020B0503020204020204" pitchFamily="34" charset="-122"/>
                      </a:rPr>
                      <m:t>𝟐</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𝟏𝟐</m:t>
                        </m:r>
                      </m:sub>
                    </m:sSub>
                    <m:sSub>
                      <m:sSubPr>
                        <m:ctrlPr>
                          <a:rPr lang="en-US" altLang="zh-CN" sz="2200" b="1" i="1">
                            <a:latin typeface="Cambria Math" panose="02040503050406030204" pitchFamily="18" charset="0"/>
                            <a:ea typeface="微软雅黑" panose="020B0503020204020204" pitchFamily="34" charset="-122"/>
                          </a:rPr>
                        </m:ctrlPr>
                      </m:sSubPr>
                      <m:e>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𝟏</m:t>
                            </m:r>
                            <m:r>
                              <a:rPr lang="en-US" altLang="zh-CN" sz="2200" b="1" i="1">
                                <a:latin typeface="Cambria Math" panose="02040503050406030204" pitchFamily="18" charset="0"/>
                                <a:ea typeface="微软雅黑" panose="020B0503020204020204" pitchFamily="34" charset="-122"/>
                              </a:rPr>
                              <m:t>𝒇</m:t>
                            </m:r>
                          </m:sub>
                        </m:sSub>
                        <m:r>
                          <a:rPr lang="en-US" altLang="zh-CN" sz="2200" b="1" i="1" smtClean="0">
                            <a:latin typeface="Cambria Math" panose="02040503050406030204" pitchFamily="18" charset="0"/>
                            <a:ea typeface="微软雅黑" panose="020B0503020204020204" pitchFamily="34" charset="-122"/>
                          </a:rPr>
                          <m:t>=</m:t>
                        </m:r>
                        <m:r>
                          <a:rPr lang="en-US" altLang="zh-CN" sz="2200" b="1" i="1">
                            <a:latin typeface="Cambria Math" panose="02040503050406030204" pitchFamily="18" charset="0"/>
                            <a:ea typeface="微软雅黑" panose="020B0503020204020204" pitchFamily="34" charset="-122"/>
                          </a:rPr>
                          <m:t>𝒗</m:t>
                        </m:r>
                      </m:e>
                      <m:sub>
                        <m:r>
                          <a:rPr lang="en-US" altLang="zh-CN" sz="2200" b="1" i="1">
                            <a:latin typeface="Cambria Math" panose="02040503050406030204" pitchFamily="18" charset="0"/>
                            <a:ea typeface="微软雅黑" panose="020B0503020204020204" pitchFamily="34" charset="-122"/>
                          </a:rPr>
                          <m:t>𝒎𝒂𝒙</m:t>
                        </m:r>
                      </m:sub>
                    </m:sSub>
                  </m:oMath>
                </a14:m>
                <a:r>
                  <a:rPr lang="en-US" altLang="zh-CN" sz="2200" b="1" i="1" dirty="0">
                    <a:latin typeface="Cambria Math" panose="02040503050406030204" pitchFamily="18" charset="0"/>
                    <a:ea typeface="微软雅黑" panose="020B0503020204020204" pitchFamily="34" charset="-122"/>
                  </a:rPr>
                  <a:t>              </a:t>
                </a:r>
              </a:p>
            </p:txBody>
          </p:sp>
        </mc:Choice>
        <mc:Fallback xmlns="">
          <p:sp>
            <p:nvSpPr>
              <p:cNvPr id="11" name="文本框 2">
                <a:extLst>
                  <a:ext uri="{FF2B5EF4-FFF2-40B4-BE49-F238E27FC236}">
                    <a16:creationId xmlns:a16="http://schemas.microsoft.com/office/drawing/2014/main" id="{FECAAE11-08F3-43E2-A4E0-0F7E676CB445}"/>
                  </a:ext>
                </a:extLst>
              </p:cNvPr>
              <p:cNvSpPr txBox="1">
                <a:spLocks noRot="1" noChangeAspect="1" noMove="1" noResize="1" noEditPoints="1" noAdjustHandles="1" noChangeArrowheads="1" noChangeShapeType="1" noTextEdit="1"/>
              </p:cNvSpPr>
              <p:nvPr/>
            </p:nvSpPr>
            <p:spPr>
              <a:xfrm>
                <a:off x="0" y="1881807"/>
                <a:ext cx="12192000" cy="1598194"/>
              </a:xfrm>
              <a:prstGeom prst="rect">
                <a:avLst/>
              </a:prstGeom>
              <a:blipFill>
                <a:blip r:embed="rId3"/>
                <a:stretch>
                  <a:fillRect l="-750" t="-382" b="-22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6E99263-C2E4-4130-9A96-1B769D55951D}"/>
                  </a:ext>
                </a:extLst>
              </p:cNvPr>
              <p:cNvSpPr txBox="1"/>
              <p:nvPr/>
            </p:nvSpPr>
            <p:spPr>
              <a:xfrm>
                <a:off x="863759" y="4022391"/>
                <a:ext cx="991113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1" i="1" smtClean="0">
                              <a:latin typeface="Cambria Math" panose="02040503050406030204" pitchFamily="18" charset="0"/>
                              <a:ea typeface="微软雅黑" panose="020B0503020204020204" pitchFamily="34" charset="-122"/>
                            </a:rPr>
                          </m:ctrlPr>
                        </m:accPr>
                        <m:e>
                          <m:r>
                            <a:rPr lang="en-US" altLang="zh-CN" sz="2400" b="1" i="1">
                              <a:latin typeface="Cambria Math" panose="02040503050406030204" pitchFamily="18" charset="0"/>
                              <a:ea typeface="微软雅黑" panose="020B0503020204020204" pitchFamily="34" charset="-122"/>
                            </a:rPr>
                            <m:t>𝒒</m:t>
                          </m:r>
                        </m:e>
                      </m:acc>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𝟐</m:t>
                          </m:r>
                          <m:r>
                            <a:rPr lang="en-US" altLang="zh-CN" sz="2400" b="1" i="1">
                              <a:latin typeface="Cambria Math" panose="02040503050406030204" pitchFamily="18" charset="0"/>
                              <a:ea typeface="微软雅黑" panose="020B0503020204020204" pitchFamily="34" charset="-122"/>
                            </a:rPr>
                            <m:t>𝟏</m:t>
                          </m:r>
                        </m:sub>
                      </m:sSub>
                      <m:r>
                        <a:rPr lang="en-US" altLang="zh-CN" sz="2400" b="1">
                          <a:latin typeface="Cambria Math" panose="02040503050406030204" pitchFamily="18" charset="0"/>
                          <a:ea typeface="微软雅黑" panose="020B0503020204020204" pitchFamily="34" charset="-122"/>
                        </a:rPr>
                        <m:t> =</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𝒗</m:t>
                          </m:r>
                        </m:e>
                        <m:sub>
                          <m:r>
                            <a:rPr lang="en-US" altLang="zh-CN" sz="2400" b="1" i="1" smtClean="0">
                              <a:latin typeface="Cambria Math" panose="02040503050406030204" pitchFamily="18" charset="0"/>
                              <a:ea typeface="微软雅黑" panose="020B0503020204020204" pitchFamily="34" charset="-122"/>
                            </a:rPr>
                            <m:t>𝒎𝒂𝒙</m:t>
                          </m:r>
                        </m:sub>
                      </m:sSub>
                      <m:r>
                        <a:rPr lang="en-US" altLang="zh-CN" sz="2400" b="1" i="1" smtClean="0">
                          <a:latin typeface="Cambria Math" panose="02040503050406030204" pitchFamily="18" charset="0"/>
                          <a:ea typeface="微软雅黑" panose="020B0503020204020204" pitchFamily="34" charset="-122"/>
                        </a:rPr>
                        <m:t> ,  </m:t>
                      </m:r>
                      <m:r>
                        <a:rPr lang="en-US" altLang="zh-CN" sz="2400" b="1" i="1" smtClean="0">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r>
                            <a:rPr lang="en-US" altLang="zh-CN" sz="2400" b="1" i="1" smtClean="0">
                              <a:latin typeface="Cambria Math" panose="02040503050406030204" pitchFamily="18" charset="0"/>
                              <a:ea typeface="微软雅黑" panose="020B0503020204020204" pitchFamily="34" charset="-122"/>
                            </a:rPr>
                            <m:t>𝟎</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𝟐𝟎</m:t>
                          </m:r>
                        </m:sub>
                      </m:sSub>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𝟏</m:t>
                              </m:r>
                              <m:r>
                                <a:rPr lang="en-US" altLang="zh-CN" sz="2400" b="1" i="1" smtClean="0">
                                  <a:latin typeface="Cambria Math" panose="02040503050406030204" pitchFamily="18" charset="0"/>
                                  <a:ea typeface="微软雅黑" panose="020B0503020204020204" pitchFamily="34" charset="-122"/>
                                </a:rPr>
                                <m:t>𝒇</m:t>
                              </m:r>
                            </m:sub>
                          </m:sSub>
                        </m:e>
                      </m:d>
                      <m:r>
                        <a:rPr lang="en-US" altLang="zh-CN" sz="2400" b="1" i="1" smtClean="0">
                          <a:latin typeface="Cambria Math" panose="02040503050406030204" pitchFamily="18" charset="0"/>
                          <a:ea typeface="微软雅黑" panose="020B0503020204020204" pitchFamily="34" charset="-122"/>
                        </a:rPr>
                        <m:t>,   </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𝟐</m:t>
                          </m:r>
                          <m:r>
                            <a:rPr lang="en-US" altLang="zh-CN" sz="2400" b="1" i="1">
                              <a:latin typeface="Cambria Math" panose="02040503050406030204" pitchFamily="18" charset="0"/>
                              <a:ea typeface="微软雅黑" panose="020B0503020204020204" pitchFamily="34" charset="-122"/>
                            </a:rPr>
                            <m:t>𝒇</m:t>
                          </m:r>
                        </m:sub>
                      </m:sSub>
                      <m:r>
                        <a:rPr lang="en-US" altLang="zh-CN" sz="2400" b="1" i="1" smtClean="0">
                          <a:latin typeface="Cambria Math" panose="02040503050406030204" pitchFamily="18" charset="0"/>
                          <a:ea typeface="微软雅黑" panose="020B0503020204020204" pitchFamily="34" charset="-122"/>
                        </a:rPr>
                        <m:t>=</m:t>
                      </m:r>
                      <m:f>
                        <m:fPr>
                          <m:ctrlPr>
                            <a:rPr lang="en-US" altLang="zh-CN" sz="2400" b="1" i="1" smtClean="0">
                              <a:latin typeface="Cambria Math" panose="02040503050406030204" pitchFamily="18" charset="0"/>
                              <a:ea typeface="微软雅黑" panose="020B0503020204020204" pitchFamily="34" charset="-122"/>
                            </a:rPr>
                          </m:ctrlPr>
                        </m:fPr>
                        <m:num>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𝒒</m:t>
                              </m:r>
                            </m:e>
                            <m:sub>
                              <m:r>
                                <a:rPr lang="en-US" altLang="zh-CN" sz="2400" b="1" i="1">
                                  <a:latin typeface="Cambria Math" panose="02040503050406030204" pitchFamily="18" charset="0"/>
                                  <a:ea typeface="微软雅黑" panose="020B0503020204020204" pitchFamily="34" charset="-122"/>
                                </a:rPr>
                                <m:t>𝒇</m:t>
                              </m:r>
                            </m:sub>
                          </m:sSub>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𝟐</m:t>
                          </m:r>
                          <m:r>
                            <a:rPr lang="en-US" altLang="zh-CN" sz="2400" b="1" i="1" smtClean="0">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𝟏</m:t>
                                  </m:r>
                                  <m:r>
                                    <a:rPr lang="en-US" altLang="zh-CN" sz="2400" b="1" i="1">
                                      <a:latin typeface="Cambria Math" panose="02040503050406030204" pitchFamily="18" charset="0"/>
                                      <a:ea typeface="微软雅黑" panose="020B0503020204020204" pitchFamily="34" charset="-122"/>
                                    </a:rPr>
                                    <m:t>𝒇</m:t>
                                  </m:r>
                                </m:sub>
                              </m:sSub>
                            </m:e>
                          </m:d>
                        </m:num>
                        <m:den>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𝒗</m:t>
                              </m:r>
                            </m:e>
                            <m:sub>
                              <m:r>
                                <a:rPr lang="en-US" altLang="zh-CN" sz="2400" b="1" i="1">
                                  <a:latin typeface="Cambria Math" panose="02040503050406030204" pitchFamily="18" charset="0"/>
                                  <a:ea typeface="微软雅黑" panose="020B0503020204020204" pitchFamily="34" charset="-122"/>
                                </a:rPr>
                                <m:t>𝒎𝒂𝒙</m:t>
                              </m:r>
                            </m:sub>
                          </m:sSub>
                        </m:den>
                      </m:f>
                    </m:oMath>
                  </m:oMathPara>
                </a14:m>
                <a:endParaRPr lang="zh-CN" altLang="en-US" sz="2400" dirty="0"/>
              </a:p>
            </p:txBody>
          </p:sp>
        </mc:Choice>
        <mc:Fallback xmlns="">
          <p:sp>
            <p:nvSpPr>
              <p:cNvPr id="13" name="文本框 12">
                <a:extLst>
                  <a:ext uri="{FF2B5EF4-FFF2-40B4-BE49-F238E27FC236}">
                    <a16:creationId xmlns:a16="http://schemas.microsoft.com/office/drawing/2014/main" id="{36E99263-C2E4-4130-9A96-1B769D55951D}"/>
                  </a:ext>
                </a:extLst>
              </p:cNvPr>
              <p:cNvSpPr txBox="1">
                <a:spLocks noRot="1" noChangeAspect="1" noMove="1" noResize="1" noEditPoints="1" noAdjustHandles="1" noChangeArrowheads="1" noChangeShapeType="1" noTextEdit="1"/>
              </p:cNvSpPr>
              <p:nvPr/>
            </p:nvSpPr>
            <p:spPr>
              <a:xfrm>
                <a:off x="863759" y="4022391"/>
                <a:ext cx="9911136" cy="93051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29EEA37-DD60-41BC-B62F-89F939E192DB}"/>
                  </a:ext>
                </a:extLst>
              </p:cNvPr>
              <p:cNvSpPr txBox="1"/>
              <p:nvPr/>
            </p:nvSpPr>
            <p:spPr>
              <a:xfrm>
                <a:off x="0" y="3413635"/>
                <a:ext cx="12110067" cy="608756"/>
              </a:xfrm>
              <a:prstGeom prst="rect">
                <a:avLst/>
              </a:prstGeom>
              <a:noFill/>
            </p:spPr>
            <p:txBody>
              <a:bodyPr wrap="square" rtlCol="0">
                <a:spAutoFit/>
              </a:bodyPr>
              <a:lstStyle/>
              <a:p>
                <a:pPr marL="0" lvl="1">
                  <a:lnSpc>
                    <a:spcPct val="160000"/>
                  </a:lnSpc>
                </a:pPr>
                <a:r>
                  <a:rPr lang="en-US" altLang="zh-CN" sz="2400" b="1" i="0" dirty="0">
                    <a:solidFill>
                      <a:srgbClr val="C00000"/>
                    </a:solidFill>
                    <a:latin typeface="微软雅黑" panose="020B0503020204020204" pitchFamily="34" charset="-122"/>
                    <a:ea typeface="微软雅黑" panose="020B0503020204020204" pitchFamily="34" charset="-122"/>
                  </a:rPr>
                  <a:t>2) </a:t>
                </a:r>
                <a:r>
                  <a:rPr lang="zh-CN" altLang="en-US" sz="2400" b="1" i="0" dirty="0">
                    <a:solidFill>
                      <a:srgbClr val="C00000"/>
                    </a:solidFill>
                    <a:latin typeface="微软雅黑" panose="020B0503020204020204" pitchFamily="34" charset="-122"/>
                    <a:ea typeface="微软雅黑" panose="020B0503020204020204" pitchFamily="34" charset="-122"/>
                  </a:rPr>
                  <a:t>匀速段</a:t>
                </a:r>
                <a:r>
                  <a:rPr lang="zh-CN" altLang="en-US" sz="2400" b="1" i="0" dirty="0">
                    <a:latin typeface="微软雅黑" panose="020B0503020204020204" pitchFamily="34" charset="-122"/>
                    <a:ea typeface="微软雅黑" panose="020B0503020204020204" pitchFamily="34" charset="-122"/>
                  </a:rPr>
                  <a:t>：维持最大速度运行，加速度为</a:t>
                </a:r>
                <a:r>
                  <a:rPr lang="en-US" altLang="zh-CN" sz="2400" b="1" i="0" dirty="0">
                    <a:latin typeface="微软雅黑" panose="020B0503020204020204" pitchFamily="34" charset="-122"/>
                    <a:ea typeface="微软雅黑" panose="020B0503020204020204" pitchFamily="34" charset="-122"/>
                  </a:rPr>
                  <a:t>0</a:t>
                </a:r>
                <a:r>
                  <a:rPr lang="zh-CN" altLang="en-US" sz="2400" b="1" i="0" dirty="0">
                    <a:latin typeface="微软雅黑" panose="020B0503020204020204" pitchFamily="34" charset="-122"/>
                    <a:ea typeface="微软雅黑" panose="020B0503020204020204" pitchFamily="34" charset="-122"/>
                  </a:rPr>
                  <a:t>；设计</a:t>
                </a:r>
                <a:r>
                  <a:rPr lang="en-US" altLang="zh-CN" sz="2400" b="1" i="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smtClean="0">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𝟐𝟏</m:t>
                        </m:r>
                      </m:sub>
                    </m:sSub>
                    <m:r>
                      <a:rPr lang="en-US" altLang="zh-CN" sz="2400" b="1" i="1" smtClean="0">
                        <a:latin typeface="Cambria Math" panose="02040503050406030204" pitchFamily="18" charset="0"/>
                        <a:ea typeface="微软雅黑" panose="020B0503020204020204" pitchFamily="34" charset="-122"/>
                      </a:rPr>
                      <m:t>𝒕</m:t>
                    </m:r>
                  </m:oMath>
                </a14:m>
                <a:r>
                  <a:rPr lang="zh-CN" altLang="en-US" sz="2100" b="1" dirty="0">
                    <a:latin typeface="微软雅黑" panose="020B0503020204020204" pitchFamily="34" charset="-122"/>
                    <a:ea typeface="微软雅黑" panose="020B0503020204020204" pitchFamily="34" charset="-122"/>
                  </a:rPr>
                  <a:t>（第二段的</a:t>
                </a:r>
                <a:r>
                  <a:rPr lang="en-US" altLang="zh-CN" sz="2100" b="1" dirty="0">
                    <a:latin typeface="微软雅黑" panose="020B0503020204020204" pitchFamily="34" charset="-122"/>
                    <a:ea typeface="微软雅黑" panose="020B0503020204020204" pitchFamily="34" charset="-122"/>
                  </a:rPr>
                  <a:t>t</a:t>
                </a:r>
                <a:r>
                  <a:rPr lang="zh-CN" altLang="en-US" sz="2100" b="1" dirty="0">
                    <a:latin typeface="微软雅黑" panose="020B0503020204020204" pitchFamily="34" charset="-122"/>
                    <a:ea typeface="微软雅黑" panose="020B0503020204020204" pitchFamily="34" charset="-122"/>
                  </a:rPr>
                  <a:t>从</a:t>
                </a:r>
                <a:r>
                  <a:rPr lang="en-US" altLang="zh-CN" sz="2100" b="1" dirty="0">
                    <a:latin typeface="微软雅黑" panose="020B0503020204020204" pitchFamily="34" charset="-122"/>
                    <a:ea typeface="微软雅黑" panose="020B0503020204020204" pitchFamily="34" charset="-122"/>
                  </a:rPr>
                  <a:t>0</a:t>
                </a:r>
                <a:r>
                  <a:rPr lang="zh-CN" altLang="en-US" sz="2100" b="1" dirty="0">
                    <a:latin typeface="微软雅黑" panose="020B0503020204020204" pitchFamily="34" charset="-122"/>
                    <a:ea typeface="微软雅黑" panose="020B0503020204020204" pitchFamily="34" charset="-122"/>
                  </a:rPr>
                  <a:t>开始）</a:t>
                </a:r>
              </a:p>
            </p:txBody>
          </p:sp>
        </mc:Choice>
        <mc:Fallback xmlns="">
          <p:sp>
            <p:nvSpPr>
              <p:cNvPr id="14" name="文本框 13">
                <a:extLst>
                  <a:ext uri="{FF2B5EF4-FFF2-40B4-BE49-F238E27FC236}">
                    <a16:creationId xmlns:a16="http://schemas.microsoft.com/office/drawing/2014/main" id="{329EEA37-DD60-41BC-B62F-89F939E192DB}"/>
                  </a:ext>
                </a:extLst>
              </p:cNvPr>
              <p:cNvSpPr txBox="1">
                <a:spLocks noRot="1" noChangeAspect="1" noMove="1" noResize="1" noEditPoints="1" noAdjustHandles="1" noChangeArrowheads="1" noChangeShapeType="1" noTextEdit="1"/>
              </p:cNvSpPr>
              <p:nvPr/>
            </p:nvSpPr>
            <p:spPr>
              <a:xfrm>
                <a:off x="0" y="3413635"/>
                <a:ext cx="12110067" cy="608756"/>
              </a:xfrm>
              <a:prstGeom prst="rect">
                <a:avLst/>
              </a:prstGeom>
              <a:blipFill>
                <a:blip r:embed="rId5"/>
                <a:stretch>
                  <a:fillRect l="-755" r="-604" b="-2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C5C66EB-27DA-4E25-9B83-4410CD5815E8}"/>
                  </a:ext>
                </a:extLst>
              </p:cNvPr>
              <p:cNvSpPr txBox="1"/>
              <p:nvPr/>
            </p:nvSpPr>
            <p:spPr>
              <a:xfrm>
                <a:off x="0" y="4931595"/>
                <a:ext cx="12192000" cy="1803955"/>
              </a:xfrm>
              <a:prstGeom prst="rect">
                <a:avLst/>
              </a:prstGeom>
              <a:noFill/>
            </p:spPr>
            <p:txBody>
              <a:bodyPr wrap="square" rtlCol="0">
                <a:spAutoFit/>
              </a:bodyPr>
              <a:lstStyle/>
              <a:p>
                <a:pPr marL="0" lvl="1">
                  <a:lnSpc>
                    <a:spcPct val="160000"/>
                  </a:lnSpc>
                </a:pPr>
                <a:r>
                  <a:rPr lang="en-US" altLang="zh-CN" sz="2400" b="1" i="0" dirty="0">
                    <a:solidFill>
                      <a:srgbClr val="C00000"/>
                    </a:solidFill>
                    <a:latin typeface="微软雅黑" panose="020B0503020204020204" pitchFamily="34" charset="-122"/>
                    <a:ea typeface="微软雅黑" panose="020B0503020204020204" pitchFamily="34" charset="-122"/>
                  </a:rPr>
                  <a:t>3) </a:t>
                </a:r>
                <a:r>
                  <a:rPr lang="zh-CN" altLang="en-US" sz="2400" b="1" i="0" dirty="0">
                    <a:solidFill>
                      <a:srgbClr val="C00000"/>
                    </a:solidFill>
                    <a:latin typeface="微软雅黑" panose="020B0503020204020204" pitchFamily="34" charset="-122"/>
                    <a:ea typeface="微软雅黑" panose="020B0503020204020204" pitchFamily="34" charset="-122"/>
                  </a:rPr>
                  <a:t>减速段</a:t>
                </a:r>
                <a:r>
                  <a:rPr lang="zh-CN" altLang="en-US" sz="2400" b="1" i="0" dirty="0">
                    <a:latin typeface="微软雅黑" panose="020B0503020204020204" pitchFamily="34" charset="-122"/>
                    <a:ea typeface="微软雅黑" panose="020B0503020204020204" pitchFamily="34" charset="-122"/>
                  </a:rPr>
                  <a:t>：以最大加速能力减速到静止，</a:t>
                </a:r>
                <a:r>
                  <a:rPr lang="zh-CN" altLang="en-US" sz="2400" b="1" dirty="0">
                    <a:latin typeface="微软雅黑" panose="020B0503020204020204" pitchFamily="34" charset="-122"/>
                    <a:ea typeface="微软雅黑" panose="020B0503020204020204" pitchFamily="34" charset="-122"/>
                  </a:rPr>
                  <a:t>加速段的“逆过程”，设计：</a:t>
                </a:r>
                <a:endParaRPr lang="en-US" altLang="zh-CN" sz="2400" b="1" dirty="0">
                  <a:latin typeface="微软雅黑" panose="020B0503020204020204" pitchFamily="34" charset="-122"/>
                  <a:ea typeface="微软雅黑" panose="020B0503020204020204" pitchFamily="34" charset="-122"/>
                </a:endParaRPr>
              </a:p>
              <a:p>
                <a:pPr marL="0" lvl="1">
                  <a:lnSpc>
                    <a:spcPct val="160000"/>
                  </a:lnSpc>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微软雅黑" panose="020B0503020204020204" pitchFamily="34" charset="-122"/>
                        </a:rPr>
                        <m:t>𝒒</m:t>
                      </m:r>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𝟑𝟎</m:t>
                          </m:r>
                        </m:sub>
                      </m:sSub>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𝟑𝟏</m:t>
                          </m:r>
                        </m:sub>
                      </m:sSub>
                      <m:r>
                        <a:rPr lang="en-US" altLang="zh-CN" sz="2400" b="1" i="1" smtClean="0">
                          <a:latin typeface="Cambria Math" panose="02040503050406030204" pitchFamily="18" charset="0"/>
                          <a:ea typeface="微软雅黑" panose="020B0503020204020204" pitchFamily="34" charset="-122"/>
                        </a:rPr>
                        <m:t>𝒕</m:t>
                      </m:r>
                      <m:r>
                        <a:rPr lang="en-US" altLang="zh-CN" sz="24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𝟑𝟐</m:t>
                          </m:r>
                        </m:sub>
                      </m:sSub>
                      <m:sSup>
                        <m:sSupPr>
                          <m:ctrlPr>
                            <a:rPr lang="en-US" altLang="zh-CN" sz="2400" b="1" i="1">
                              <a:latin typeface="Cambria Math" panose="02040503050406030204" pitchFamily="18" charset="0"/>
                              <a:ea typeface="微软雅黑" panose="020B0503020204020204" pitchFamily="34" charset="-122"/>
                            </a:rPr>
                          </m:ctrlPr>
                        </m:sSupPr>
                        <m:e>
                          <m:r>
                            <a:rPr lang="en-US" altLang="zh-CN" sz="2400" b="1" i="1">
                              <a:latin typeface="Cambria Math" panose="02040503050406030204" pitchFamily="18" charset="0"/>
                              <a:ea typeface="微软雅黑" panose="020B0503020204020204" pitchFamily="34" charset="-122"/>
                            </a:rPr>
                            <m:t>𝒕</m:t>
                          </m:r>
                        </m:e>
                        <m:sup>
                          <m:r>
                            <a:rPr lang="en-US" altLang="zh-CN" sz="2400" b="1" i="1">
                              <a:latin typeface="Cambria Math" panose="02040503050406030204" pitchFamily="18" charset="0"/>
                              <a:ea typeface="微软雅黑" panose="020B0503020204020204" pitchFamily="34" charset="-122"/>
                            </a:rPr>
                            <m:t>𝟐</m:t>
                          </m:r>
                        </m:sup>
                      </m:sSup>
                    </m:oMath>
                  </m:oMathPara>
                </a14:m>
                <a:endParaRPr lang="zh-CN" altLang="en-US" sz="2400" dirty="0"/>
              </a:p>
              <a:p>
                <a:pPr marL="0" lvl="1">
                  <a:lnSpc>
                    <a:spcPct val="160000"/>
                  </a:lnSpc>
                </a:pPr>
                <a:endParaRPr lang="en-US" altLang="zh-CN" sz="2400" b="1" i="0"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1C5C66EB-27DA-4E25-9B83-4410CD5815E8}"/>
                  </a:ext>
                </a:extLst>
              </p:cNvPr>
              <p:cNvSpPr txBox="1">
                <a:spLocks noRot="1" noChangeAspect="1" noMove="1" noResize="1" noEditPoints="1" noAdjustHandles="1" noChangeArrowheads="1" noChangeShapeType="1" noTextEdit="1"/>
              </p:cNvSpPr>
              <p:nvPr/>
            </p:nvSpPr>
            <p:spPr>
              <a:xfrm>
                <a:off x="0" y="4931595"/>
                <a:ext cx="12192000" cy="1803955"/>
              </a:xfrm>
              <a:prstGeom prst="rect">
                <a:avLst/>
              </a:prstGeom>
              <a:blipFill>
                <a:blip r:embed="rId6"/>
                <a:stretch>
                  <a:fillRect l="-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5DD54E6-553B-4A33-9547-8D98FB91440A}"/>
                  </a:ext>
                </a:extLst>
              </p:cNvPr>
              <p:cNvSpPr txBox="1"/>
              <p:nvPr/>
            </p:nvSpPr>
            <p:spPr>
              <a:xfrm>
                <a:off x="278969" y="6228165"/>
                <a:ext cx="11541072" cy="487185"/>
              </a:xfrm>
              <a:prstGeom prst="rect">
                <a:avLst/>
              </a:prstGeom>
              <a:noFill/>
            </p:spPr>
            <p:txBody>
              <a:bodyPr wrap="square">
                <a:spAutoFit/>
              </a:bodyPr>
              <a:lstStyle/>
              <a:p>
                <a14:m>
                  <m:oMath xmlns:m="http://schemas.openxmlformats.org/officeDocument/2006/math">
                    <m:acc>
                      <m:accPr>
                        <m:chr m:val="̇"/>
                        <m:ctrlPr>
                          <a:rPr lang="en-US" altLang="zh-CN" sz="2200" b="1" i="1" smtClean="0">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d>
                      <m:dPr>
                        <m:ctrlPr>
                          <a:rPr lang="en-US" altLang="zh-CN" sz="2200" b="1" i="1">
                            <a:latin typeface="Cambria Math" panose="02040503050406030204" pitchFamily="18" charset="0"/>
                            <a:ea typeface="微软雅黑" panose="020B0503020204020204" pitchFamily="34" charset="-122"/>
                          </a:rPr>
                        </m:ctrlPr>
                      </m:dPr>
                      <m:e>
                        <m:r>
                          <a:rPr lang="en-US" altLang="zh-CN" sz="2200" b="1" i="1" smtClean="0">
                            <a:latin typeface="Cambria Math" panose="02040503050406030204" pitchFamily="18" charset="0"/>
                            <a:ea typeface="微软雅黑" panose="020B0503020204020204" pitchFamily="34" charset="-122"/>
                          </a:rPr>
                          <m:t>𝟎</m:t>
                        </m:r>
                      </m:e>
                    </m:d>
                    <m:r>
                      <a:rPr lang="en-US" altLang="zh-CN" sz="2200" b="1">
                        <a:latin typeface="Cambria Math" panose="02040503050406030204" pitchFamily="18" charset="0"/>
                        <a:ea typeface="微软雅黑" panose="020B0503020204020204" pitchFamily="34" charset="-122"/>
                      </a:rPr>
                      <m:t>=</m:t>
                    </m:r>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𝒂</m:t>
                        </m:r>
                      </m:e>
                      <m:sub>
                        <m:r>
                          <a:rPr lang="en-US" altLang="zh-CN" sz="2000" b="1" i="1">
                            <a:latin typeface="Cambria Math" panose="02040503050406030204" pitchFamily="18" charset="0"/>
                            <a:ea typeface="微软雅黑" panose="020B0503020204020204" pitchFamily="34" charset="-122"/>
                          </a:rPr>
                          <m:t>𝟑</m:t>
                        </m:r>
                        <m:r>
                          <a:rPr lang="en-US" altLang="zh-CN" sz="2000" b="1" i="1" smtClean="0">
                            <a:latin typeface="Cambria Math" panose="02040503050406030204" pitchFamily="18" charset="0"/>
                            <a:ea typeface="微软雅黑" panose="020B0503020204020204" pitchFamily="34" charset="-122"/>
                          </a:rPr>
                          <m:t>𝟏</m:t>
                        </m:r>
                      </m:sub>
                    </m:sSub>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𝒗</m:t>
                        </m:r>
                      </m:e>
                      <m:sub>
                        <m:r>
                          <a:rPr lang="en-US" altLang="zh-CN" sz="2200" b="1" i="1">
                            <a:latin typeface="Cambria Math" panose="02040503050406030204" pitchFamily="18" charset="0"/>
                            <a:ea typeface="微软雅黑" panose="020B0503020204020204" pitchFamily="34" charset="-122"/>
                          </a:rPr>
                          <m:t>𝒎𝒂𝒙</m:t>
                        </m:r>
                      </m:sub>
                    </m:sSub>
                    <m:r>
                      <a:rPr lang="en-US" altLang="zh-CN" sz="2200" b="1">
                        <a:latin typeface="Cambria Math" panose="02040503050406030204" pitchFamily="18" charset="0"/>
                        <a:ea typeface="微软雅黑" panose="020B0503020204020204" pitchFamily="34" charset="-122"/>
                      </a:rPr>
                      <m:t>,</m:t>
                    </m:r>
                    <m:r>
                      <a:rPr lang="en-US" altLang="zh-CN" sz="2200" b="1" i="0" smtClean="0">
                        <a:latin typeface="Cambria Math" panose="02040503050406030204" pitchFamily="18" charset="0"/>
                        <a:ea typeface="微软雅黑" panose="020B0503020204020204" pitchFamily="34" charset="-122"/>
                      </a:rPr>
                      <m:t>    </m:t>
                    </m:r>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d>
                      <m:dPr>
                        <m:ctrlPr>
                          <a:rPr lang="en-US" altLang="zh-CN" sz="2200" b="1" i="1">
                            <a:latin typeface="Cambria Math" panose="02040503050406030204" pitchFamily="18" charset="0"/>
                            <a:ea typeface="微软雅黑" panose="020B0503020204020204" pitchFamily="34" charset="-122"/>
                          </a:rPr>
                        </m:ctrlPr>
                      </m:dPr>
                      <m:e>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Sub>
                      </m:e>
                    </m:d>
                    <m:r>
                      <a:rPr lang="en-US" altLang="zh-CN" sz="2200" b="1">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𝟑𝟏</m:t>
                        </m:r>
                      </m:sub>
                    </m:sSub>
                    <m:r>
                      <a:rPr lang="en-US" altLang="zh-CN" sz="2400" b="1" i="0" smtClean="0">
                        <a:latin typeface="Cambria Math" panose="02040503050406030204" pitchFamily="18" charset="0"/>
                        <a:ea typeface="微软雅黑" panose="020B0503020204020204" pitchFamily="34" charset="-122"/>
                      </a:rPr>
                      <m:t>+</m:t>
                    </m:r>
                    <m:r>
                      <a:rPr lang="en-US" altLang="zh-CN" sz="2400" b="1" i="0" smtClean="0">
                        <a:latin typeface="Cambria Math" panose="02040503050406030204" pitchFamily="18" charset="0"/>
                        <a:ea typeface="微软雅黑" panose="020B0503020204020204" pitchFamily="34" charset="-122"/>
                      </a:rPr>
                      <m:t>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𝒂</m:t>
                        </m:r>
                      </m:e>
                      <m:sub>
                        <m:r>
                          <a:rPr lang="en-US" altLang="zh-CN" sz="2400" b="1" i="1">
                            <a:latin typeface="Cambria Math" panose="02040503050406030204" pitchFamily="18" charset="0"/>
                            <a:ea typeface="微软雅黑" panose="020B0503020204020204" pitchFamily="34" charset="-122"/>
                          </a:rPr>
                          <m:t>𝟑</m:t>
                        </m:r>
                        <m:r>
                          <a:rPr lang="en-US" altLang="zh-CN" sz="2400" b="1" i="1" smtClean="0">
                            <a:latin typeface="Cambria Math" panose="02040503050406030204" pitchFamily="18" charset="0"/>
                            <a:ea typeface="微软雅黑" panose="020B0503020204020204" pitchFamily="34" charset="-122"/>
                          </a:rPr>
                          <m:t>𝟐</m:t>
                        </m:r>
                      </m:sub>
                    </m:sSub>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Sub>
                    <m:r>
                      <a:rPr lang="en-US" altLang="zh-CN" sz="2200" b="1" i="0" smtClean="0">
                        <a:latin typeface="Cambria Math" panose="02040503050406030204" pitchFamily="18" charset="0"/>
                        <a:ea typeface="微软雅黑" panose="020B0503020204020204" pitchFamily="34" charset="-122"/>
                      </a:rPr>
                      <m:t>=</m:t>
                    </m:r>
                    <m:r>
                      <a:rPr lang="en-US" altLang="zh-CN" sz="2200" b="1" i="0" smtClean="0">
                        <a:latin typeface="Cambria Math" panose="02040503050406030204" pitchFamily="18" charset="0"/>
                        <a:ea typeface="微软雅黑" panose="020B0503020204020204" pitchFamily="34" charset="-122"/>
                      </a:rPr>
                      <m:t>𝟎</m:t>
                    </m:r>
                  </m:oMath>
                </a14:m>
                <a:r>
                  <a:rPr lang="en-US" altLang="zh-CN" sz="2200" b="1" dirty="0">
                    <a:latin typeface="Cambria Math" panose="02040503050406030204" pitchFamily="18" charset="0"/>
                    <a:ea typeface="微软雅黑" panose="020B0503020204020204" pitchFamily="34" charset="-122"/>
                  </a:rPr>
                  <a:t>,      </a:t>
                </a:r>
                <a:r>
                  <a:rPr lang="en-US" altLang="zh-CN" sz="2200" b="1" dirty="0">
                    <a:ea typeface="微软雅黑" panose="020B0503020204020204" pitchFamily="34" charset="-122"/>
                  </a:rPr>
                  <a:t> </a:t>
                </a:r>
                <a14:m>
                  <m:oMath xmlns:m="http://schemas.openxmlformats.org/officeDocument/2006/math">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r>
                      <a:rPr lang="en-US" altLang="zh-CN" sz="2200" b="1" i="1">
                        <a:latin typeface="Cambria Math" panose="02040503050406030204" pitchFamily="18" charset="0"/>
                        <a:ea typeface="微软雅黑" panose="020B0503020204020204" pitchFamily="34" charset="-122"/>
                      </a:rPr>
                      <m:t>𝟐</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𝟐</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m:t>
                        </m:r>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𝒎𝒂𝒙</m:t>
                        </m:r>
                      </m:sub>
                    </m:sSub>
                    <m:r>
                      <a:rPr lang="en-US" altLang="zh-CN" sz="2200" b="1" i="1" smtClean="0">
                        <a:latin typeface="Cambria Math" panose="02040503050406030204" pitchFamily="18" charset="0"/>
                        <a:ea typeface="微软雅黑" panose="020B0503020204020204" pitchFamily="34" charset="-122"/>
                      </a:rPr>
                      <m:t>,</m:t>
                    </m:r>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      </m:t>
                        </m:r>
                        <m:r>
                          <a:rPr lang="en-US" altLang="zh-CN" sz="2000" b="1" i="1">
                            <a:latin typeface="Cambria Math" panose="02040503050406030204" pitchFamily="18" charset="0"/>
                            <a:ea typeface="微软雅黑" panose="020B0503020204020204" pitchFamily="34" charset="-122"/>
                          </a:rPr>
                          <m:t>𝒕</m:t>
                        </m:r>
                      </m:e>
                      <m:sub>
                        <m:r>
                          <a:rPr lang="en-US" altLang="zh-CN" sz="2000" b="1" i="1" smtClean="0">
                            <a:latin typeface="Cambria Math" panose="02040503050406030204" pitchFamily="18" charset="0"/>
                            <a:ea typeface="微软雅黑" panose="020B0503020204020204" pitchFamily="34" charset="-122"/>
                          </a:rPr>
                          <m:t>𝟑</m:t>
                        </m:r>
                        <m:r>
                          <a:rPr lang="en-US" altLang="zh-CN" sz="2000" b="1" i="1">
                            <a:latin typeface="Cambria Math" panose="02040503050406030204" pitchFamily="18" charset="0"/>
                            <a:ea typeface="微软雅黑" panose="020B0503020204020204" pitchFamily="34" charset="-122"/>
                          </a:rPr>
                          <m:t>𝒇</m:t>
                        </m:r>
                      </m:sub>
                    </m:sSub>
                    <m:r>
                      <a:rPr lang="en-US" altLang="zh-CN" sz="2000" b="1" i="1" smtClean="0">
                        <a:latin typeface="Cambria Math" panose="02040503050406030204" pitchFamily="18" charset="0"/>
                        <a:ea typeface="微软雅黑" panose="020B0503020204020204" pitchFamily="34" charset="-122"/>
                      </a:rPr>
                      <m:t>=</m:t>
                    </m:r>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𝒕</m:t>
                        </m:r>
                      </m:e>
                      <m:sub>
                        <m:r>
                          <a:rPr lang="en-US" altLang="zh-CN" sz="2000" b="1" i="1" smtClean="0">
                            <a:latin typeface="Cambria Math" panose="02040503050406030204" pitchFamily="18" charset="0"/>
                            <a:ea typeface="微软雅黑" panose="020B0503020204020204" pitchFamily="34" charset="-122"/>
                          </a:rPr>
                          <m:t>𝟏</m:t>
                        </m:r>
                        <m:r>
                          <a:rPr lang="en-US" altLang="zh-CN" sz="2000" b="1" i="1">
                            <a:latin typeface="Cambria Math" panose="02040503050406030204" pitchFamily="18" charset="0"/>
                            <a:ea typeface="微软雅黑" panose="020B0503020204020204" pitchFamily="34" charset="-122"/>
                          </a:rPr>
                          <m:t>𝒇</m:t>
                        </m:r>
                      </m:sub>
                    </m:sSub>
                  </m:oMath>
                </a14:m>
                <a:endParaRPr lang="zh-CN" altLang="en-US" sz="2200" dirty="0"/>
              </a:p>
            </p:txBody>
          </p:sp>
        </mc:Choice>
        <mc:Fallback xmlns="">
          <p:sp>
            <p:nvSpPr>
              <p:cNvPr id="17" name="文本框 16">
                <a:extLst>
                  <a:ext uri="{FF2B5EF4-FFF2-40B4-BE49-F238E27FC236}">
                    <a16:creationId xmlns:a16="http://schemas.microsoft.com/office/drawing/2014/main" id="{B5DD54E6-553B-4A33-9547-8D98FB91440A}"/>
                  </a:ext>
                </a:extLst>
              </p:cNvPr>
              <p:cNvSpPr txBox="1">
                <a:spLocks noRot="1" noChangeAspect="1" noMove="1" noResize="1" noEditPoints="1" noAdjustHandles="1" noChangeArrowheads="1" noChangeShapeType="1" noTextEdit="1"/>
              </p:cNvSpPr>
              <p:nvPr/>
            </p:nvSpPr>
            <p:spPr>
              <a:xfrm>
                <a:off x="278969" y="6228165"/>
                <a:ext cx="11541072" cy="487185"/>
              </a:xfrm>
              <a:prstGeom prst="rect">
                <a:avLst/>
              </a:prstGeom>
              <a:blipFill>
                <a:blip r:embed="rId7"/>
                <a:stretch>
                  <a:fillRect l="-106" t="-6250" b="-1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714176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68A509F-7DE2-405D-8A2F-3E9A867FB5E2}"/>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21</a:t>
            </a:fld>
            <a:endParaRPr lang="zh-CN" altLang="en-US">
              <a:solidFill>
                <a:prstClr val="black">
                  <a:tint val="75000"/>
                </a:prstClr>
              </a:solidFill>
            </a:endParaRPr>
          </a:p>
        </p:txBody>
      </p:sp>
      <p:pic>
        <p:nvPicPr>
          <p:cNvPr id="3" name="Picture 3" descr="7-3q">
            <a:extLst>
              <a:ext uri="{FF2B5EF4-FFF2-40B4-BE49-F238E27FC236}">
                <a16:creationId xmlns:a16="http://schemas.microsoft.com/office/drawing/2014/main" id="{3A040947-756C-489F-9DA5-1BBDF3899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48"/>
          <a:stretch>
            <a:fillRect/>
          </a:stretch>
        </p:blipFill>
        <p:spPr bwMode="auto">
          <a:xfrm>
            <a:off x="6421647" y="720579"/>
            <a:ext cx="5266496" cy="46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7-2q">
            <a:extLst>
              <a:ext uri="{FF2B5EF4-FFF2-40B4-BE49-F238E27FC236}">
                <a16:creationId xmlns:a16="http://schemas.microsoft.com/office/drawing/2014/main" id="{9479D2CD-6B78-4F79-95C0-B9B3C8281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166" r="8437"/>
          <a:stretch>
            <a:fillRect/>
          </a:stretch>
        </p:blipFill>
        <p:spPr bwMode="auto">
          <a:xfrm>
            <a:off x="593073" y="738043"/>
            <a:ext cx="4848919" cy="46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307B6894-65E4-4BD2-8A89-A545068B146E}"/>
              </a:ext>
            </a:extLst>
          </p:cNvPr>
          <p:cNvSpPr/>
          <p:nvPr/>
        </p:nvSpPr>
        <p:spPr>
          <a:xfrm>
            <a:off x="1691038" y="5168638"/>
            <a:ext cx="2827188" cy="369332"/>
          </a:xfrm>
          <a:prstGeom prst="rect">
            <a:avLst/>
          </a:prstGeom>
        </p:spPr>
        <p:txBody>
          <a:bodyPr wrap="square">
            <a:spAutoFit/>
          </a:bodyPr>
          <a:lstStyle/>
          <a:p>
            <a:pPr marL="0" lvl="1" algn="just">
              <a:lnSpc>
                <a:spcPct val="90000"/>
              </a:lnSpc>
              <a:defRPr/>
            </a:pPr>
            <a:r>
              <a:rPr lang="zh-CN" altLang="en-US" sz="2000" b="1" i="0" dirty="0">
                <a:solidFill>
                  <a:srgbClr val="FF0000"/>
                </a:solidFill>
                <a:latin typeface="微软雅黑" panose="020B0503020204020204" pitchFamily="34" charset="-122"/>
                <a:ea typeface="微软雅黑" panose="020B0503020204020204" pitchFamily="34" charset="-122"/>
              </a:rPr>
              <a:t>单段三次</a:t>
            </a:r>
            <a:r>
              <a:rPr lang="zh-CN" altLang="en-US" sz="2000" b="1" i="0" dirty="0">
                <a:latin typeface="微软雅黑" panose="020B0503020204020204" pitchFamily="34" charset="-122"/>
                <a:ea typeface="微软雅黑" panose="020B0503020204020204" pitchFamily="34" charset="-122"/>
              </a:rPr>
              <a:t>多项式规划</a:t>
            </a:r>
            <a:endParaRPr lang="en-US" altLang="zh-CN" sz="2000" b="1" i="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8AB2DB6-4215-4E62-A43E-521B5A04899F}"/>
              </a:ext>
            </a:extLst>
          </p:cNvPr>
          <p:cNvSpPr/>
          <p:nvPr/>
        </p:nvSpPr>
        <p:spPr>
          <a:xfrm>
            <a:off x="8075003" y="5168638"/>
            <a:ext cx="2755303" cy="369332"/>
          </a:xfrm>
          <a:prstGeom prst="rect">
            <a:avLst/>
          </a:prstGeom>
        </p:spPr>
        <p:txBody>
          <a:bodyPr wrap="square">
            <a:spAutoFit/>
          </a:bodyPr>
          <a:lstStyle/>
          <a:p>
            <a:pPr marL="0" lvl="1" algn="just">
              <a:lnSpc>
                <a:spcPct val="90000"/>
              </a:lnSpc>
              <a:defRPr/>
            </a:pPr>
            <a:r>
              <a:rPr lang="zh-CN" altLang="en-US" sz="2000" b="1" dirty="0">
                <a:solidFill>
                  <a:srgbClr val="FF0000"/>
                </a:solidFill>
                <a:latin typeface="微软雅黑" panose="020B0503020204020204" pitchFamily="34" charset="-122"/>
                <a:ea typeface="微软雅黑" panose="020B0503020204020204" pitchFamily="34" charset="-122"/>
              </a:rPr>
              <a:t>三段</a:t>
            </a:r>
            <a:r>
              <a:rPr lang="zh-CN" altLang="en-US" sz="2000" b="1" i="0" dirty="0">
                <a:solidFill>
                  <a:srgbClr val="FF0000"/>
                </a:solidFill>
                <a:latin typeface="微软雅黑" panose="020B0503020204020204" pitchFamily="34" charset="-122"/>
                <a:ea typeface="微软雅黑" panose="020B0503020204020204" pitchFamily="34" charset="-122"/>
              </a:rPr>
              <a:t>二次</a:t>
            </a:r>
            <a:r>
              <a:rPr lang="zh-CN" altLang="en-US" sz="2000" b="1" dirty="0">
                <a:latin typeface="微软雅黑" panose="020B0503020204020204" pitchFamily="34" charset="-122"/>
                <a:ea typeface="微软雅黑" panose="020B0503020204020204" pitchFamily="34" charset="-122"/>
              </a:rPr>
              <a:t>多项式规划</a:t>
            </a:r>
            <a:endParaRPr lang="en-US" altLang="zh-CN" sz="20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B69A937C-B3DF-4682-A3D6-2AE332195033}"/>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基于分段函数的轨迹规划：三段二次函数</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AC64A1A6-69B7-4902-B59E-26DF2569EC71}"/>
              </a:ext>
            </a:extLst>
          </p:cNvPr>
          <p:cNvSpPr txBox="1"/>
          <p:nvPr/>
        </p:nvSpPr>
        <p:spPr>
          <a:xfrm>
            <a:off x="2681271" y="5584833"/>
            <a:ext cx="8480304" cy="1211357"/>
          </a:xfrm>
          <a:prstGeom prst="rect">
            <a:avLst/>
          </a:prstGeom>
          <a:noFill/>
        </p:spPr>
        <p:txBody>
          <a:bodyPr wrap="square" rtlCol="0">
            <a:spAutoFit/>
          </a:bodyPr>
          <a:lstStyle/>
          <a:p>
            <a:pPr marL="342900" indent="-342900">
              <a:lnSpc>
                <a:spcPct val="125000"/>
              </a:lnSpc>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可以同时满足最大速度、最大加速度约束</a:t>
            </a:r>
            <a:endParaRPr lang="en-US" altLang="zh-CN" sz="2000" b="1" dirty="0">
              <a:latin typeface="微软雅黑" panose="020B0503020204020204" pitchFamily="34" charset="-122"/>
              <a:ea typeface="微软雅黑" panose="020B0503020204020204" pitchFamily="34" charset="-122"/>
            </a:endParaRPr>
          </a:p>
          <a:p>
            <a:pPr marL="342900" indent="-342900">
              <a:lnSpc>
                <a:spcPct val="125000"/>
              </a:lnSpc>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充分发挥机器人的最大能力（用最大加速度加、减速，用最大速度匀速）</a:t>
            </a:r>
            <a:endParaRPr lang="en-US" altLang="zh-CN" sz="2000" b="1" dirty="0">
              <a:latin typeface="微软雅黑" panose="020B0503020204020204" pitchFamily="34" charset="-122"/>
              <a:ea typeface="微软雅黑" panose="020B0503020204020204" pitchFamily="34" charset="-122"/>
            </a:endParaRPr>
          </a:p>
          <a:p>
            <a:pPr marL="342900" indent="-342900">
              <a:lnSpc>
                <a:spcPct val="125000"/>
              </a:lnSpc>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加速度不连续</a:t>
            </a:r>
          </a:p>
        </p:txBody>
      </p:sp>
      <p:grpSp>
        <p:nvGrpSpPr>
          <p:cNvPr id="11" name="组合 10">
            <a:extLst>
              <a:ext uri="{FF2B5EF4-FFF2-40B4-BE49-F238E27FC236}">
                <a16:creationId xmlns:a16="http://schemas.microsoft.com/office/drawing/2014/main" id="{4EEEF97C-E612-4B62-8932-485950ECB28A}"/>
              </a:ext>
            </a:extLst>
          </p:cNvPr>
          <p:cNvGrpSpPr/>
          <p:nvPr/>
        </p:nvGrpSpPr>
        <p:grpSpPr>
          <a:xfrm>
            <a:off x="1091492" y="5756908"/>
            <a:ext cx="1655528" cy="867205"/>
            <a:chOff x="35510" y="5703817"/>
            <a:chExt cx="1655528" cy="867205"/>
          </a:xfrm>
        </p:grpSpPr>
        <p:sp>
          <p:nvSpPr>
            <p:cNvPr id="8" name="左大括号 7">
              <a:extLst>
                <a:ext uri="{FF2B5EF4-FFF2-40B4-BE49-F238E27FC236}">
                  <a16:creationId xmlns:a16="http://schemas.microsoft.com/office/drawing/2014/main" id="{3264C126-585F-49E4-AC26-502269F498C9}"/>
                </a:ext>
              </a:extLst>
            </p:cNvPr>
            <p:cNvSpPr/>
            <p:nvPr/>
          </p:nvSpPr>
          <p:spPr>
            <a:xfrm>
              <a:off x="1469795" y="5703817"/>
              <a:ext cx="221243" cy="867205"/>
            </a:xfrm>
            <a:prstGeom prst="leftBrace">
              <a:avLst>
                <a:gd name="adj1" fmla="val 30944"/>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F2C80-2547-4277-ADDE-611AF23F06DB}"/>
                </a:ext>
              </a:extLst>
            </p:cNvPr>
            <p:cNvSpPr/>
            <p:nvPr/>
          </p:nvSpPr>
          <p:spPr>
            <a:xfrm>
              <a:off x="35510" y="5796791"/>
              <a:ext cx="1462320" cy="646331"/>
            </a:xfrm>
            <a:prstGeom prst="rect">
              <a:avLst/>
            </a:prstGeom>
            <a:solidFill>
              <a:schemeClr val="bg1"/>
            </a:solidFill>
          </p:spPr>
          <p:txBody>
            <a:bodyPr wrap="square">
              <a:spAutoFit/>
            </a:bodyPr>
            <a:lstStyle/>
            <a:p>
              <a:pPr marL="0" lvl="1" algn="just">
                <a:lnSpc>
                  <a:spcPct val="90000"/>
                </a:lnSpc>
                <a:defRPr/>
              </a:pPr>
              <a:r>
                <a:rPr lang="zh-CN" altLang="en-US" sz="2000" b="1" dirty="0">
                  <a:latin typeface="微软雅黑" panose="020B0503020204020204" pitchFamily="34" charset="-122"/>
                  <a:ea typeface="微软雅黑" panose="020B0503020204020204" pitchFamily="34" charset="-122"/>
                </a:rPr>
                <a:t>三段</a:t>
              </a:r>
              <a:r>
                <a:rPr lang="zh-CN" altLang="en-US" sz="2000" b="1" i="0" dirty="0">
                  <a:latin typeface="微软雅黑" panose="020B0503020204020204" pitchFamily="34" charset="-122"/>
                  <a:ea typeface="微软雅黑" panose="020B0503020204020204" pitchFamily="34" charset="-122"/>
                </a:rPr>
                <a:t>二次</a:t>
              </a:r>
              <a:r>
                <a:rPr lang="zh-CN" altLang="en-US" sz="2000" b="1" dirty="0">
                  <a:latin typeface="微软雅黑" panose="020B0503020204020204" pitchFamily="34" charset="-122"/>
                  <a:ea typeface="微软雅黑" panose="020B0503020204020204" pitchFamily="34" charset="-122"/>
                </a:rPr>
                <a:t>多项式规划</a:t>
              </a:r>
              <a:endParaRPr lang="en-US" altLang="zh-CN" sz="20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94964958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D388AF6-BE3D-4F39-81F9-BC69461FEC7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22</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1994E7E-2321-4A69-91EB-19F6B09A5FA6}"/>
                  </a:ext>
                </a:extLst>
              </p:cNvPr>
              <p:cNvSpPr/>
              <p:nvPr/>
            </p:nvSpPr>
            <p:spPr>
              <a:xfrm>
                <a:off x="152539" y="741970"/>
                <a:ext cx="6096000" cy="4650568"/>
              </a:xfrm>
              <a:prstGeom prst="rect">
                <a:avLst/>
              </a:prstGeom>
            </p:spPr>
            <p:txBody>
              <a:bodyPr>
                <a:spAutoFit/>
              </a:bodyPr>
              <a:lstStyle/>
              <a:p>
                <a:pPr marL="342900"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满足机器人规划的给定目标：</a:t>
                </a:r>
                <a:endParaRPr lang="en-US" altLang="zh-CN" sz="2400" b="1" i="0" dirty="0">
                  <a:latin typeface="微软雅黑" panose="020B0503020204020204" pitchFamily="34" charset="-122"/>
                  <a:ea typeface="微软雅黑" panose="020B0503020204020204" pitchFamily="34" charset="-122"/>
                </a:endParaRPr>
              </a:p>
              <a:p>
                <a:pPr marL="800100" lvl="1" indent="-342900">
                  <a:lnSpc>
                    <a:spcPct val="125000"/>
                  </a:lnSpc>
                  <a:spcBef>
                    <a:spcPts val="600"/>
                  </a:spcBef>
                  <a:spcAft>
                    <a:spcPts val="600"/>
                  </a:spcAft>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初始状态：</a:t>
                </a:r>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𝐪</m:t>
                        </m:r>
                      </m:e>
                      <m:sub>
                        <m:r>
                          <a:rPr lang="en-US" altLang="zh-CN" sz="2400" b="1" i="1" dirty="0" smtClean="0">
                            <a:latin typeface="Cambria Math" panose="02040503050406030204" pitchFamily="18" charset="0"/>
                          </a:rPr>
                          <m:t>𝐢</m:t>
                        </m:r>
                      </m:sub>
                    </m:sSub>
                  </m:oMath>
                </a14:m>
                <a:r>
                  <a:rPr lang="en-US" altLang="zh-CN" sz="2400" b="1" i="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e>
                      <m:sub>
                        <m:r>
                          <a:rPr lang="en-US" altLang="zh-CN" sz="2400" b="1" i="1" dirty="0" smtClean="0">
                            <a:latin typeface="Cambria Math" panose="02040503050406030204" pitchFamily="18" charset="0"/>
                          </a:rPr>
                          <m:t>𝐢</m:t>
                        </m:r>
                      </m:sub>
                    </m:sSub>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𝟎</m:t>
                    </m:r>
                  </m:oMath>
                </a14:m>
                <a:r>
                  <a:rPr lang="en-US" altLang="zh-CN" sz="2400" b="1" i="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e>
                      <m:sub>
                        <m:r>
                          <a:rPr lang="en-US" altLang="zh-CN" sz="2400" b="1" i="1" dirty="0" smtClean="0">
                            <a:latin typeface="Cambria Math" panose="02040503050406030204" pitchFamily="18" charset="0"/>
                          </a:rPr>
                          <m:t>𝐢</m:t>
                        </m:r>
                      </m:sub>
                    </m:sSub>
                    <m:r>
                      <a:rPr lang="en-US" altLang="zh-CN" sz="2400" b="1" dirty="0" smtClean="0">
                        <a:latin typeface="Cambria Math" panose="02040503050406030204" pitchFamily="18" charset="0"/>
                      </a:rPr>
                      <m:t>=</m:t>
                    </m:r>
                    <m:r>
                      <a:rPr lang="en-US" altLang="zh-CN" sz="2400" b="1" dirty="0" smtClean="0">
                        <a:latin typeface="Cambria Math" panose="02040503050406030204" pitchFamily="18" charset="0"/>
                      </a:rPr>
                      <m:t>𝟎</m:t>
                    </m:r>
                  </m:oMath>
                </a14:m>
                <a:endParaRPr lang="en-US" altLang="zh-CN" sz="2400" b="1" i="0" dirty="0">
                  <a:latin typeface="微软雅黑" panose="020B0503020204020204" pitchFamily="34" charset="-122"/>
                  <a:ea typeface="微软雅黑" panose="020B0503020204020204" pitchFamily="34" charset="-122"/>
                </a:endParaRPr>
              </a:p>
              <a:p>
                <a:pPr marL="800100" lvl="1" indent="-342900">
                  <a:lnSpc>
                    <a:spcPct val="125000"/>
                  </a:lnSpc>
                  <a:spcBef>
                    <a:spcPts val="600"/>
                  </a:spcBef>
                  <a:spcAft>
                    <a:spcPts val="600"/>
                  </a:spcAft>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终止状态：</a:t>
                </a:r>
                <a:r>
                  <a:rPr lang="en-US" altLang="zh-CN" sz="2400" b="1" dirty="0"/>
                  <a:t> </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𝐪</m:t>
                        </m:r>
                      </m:e>
                      <m:sub>
                        <m:r>
                          <a:rPr lang="en-US" altLang="zh-CN" sz="2400" b="1" i="1" smtClean="0">
                            <a:latin typeface="Cambria Math" panose="02040503050406030204" pitchFamily="18" charset="0"/>
                          </a:rPr>
                          <m:t>𝐟</m:t>
                        </m:r>
                      </m:sub>
                    </m:sSub>
                  </m:oMath>
                </a14:m>
                <a:r>
                  <a:rPr lang="en-US" altLang="zh-CN" sz="2400" b="1" i="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e>
                      <m:sub>
                        <m:r>
                          <a:rPr lang="en-US" altLang="zh-CN" sz="2400" b="1" i="1" smtClean="0">
                            <a:latin typeface="Cambria Math" panose="02040503050406030204" pitchFamily="18" charset="0"/>
                          </a:rPr>
                          <m:t>𝐟</m:t>
                        </m:r>
                      </m:sub>
                    </m:sSub>
                    <m:r>
                      <a:rPr lang="en-US" altLang="zh-CN" sz="2400" b="1" dirty="0" smtClean="0">
                        <a:latin typeface="Cambria Math" panose="02040503050406030204" pitchFamily="18" charset="0"/>
                      </a:rPr>
                      <m:t>=</m:t>
                    </m:r>
                    <m:r>
                      <a:rPr lang="en-US" altLang="zh-CN" sz="2400" b="1" dirty="0" smtClean="0">
                        <a:latin typeface="Cambria Math" panose="02040503050406030204" pitchFamily="18" charset="0"/>
                      </a:rPr>
                      <m:t>𝟎</m:t>
                    </m:r>
                  </m:oMath>
                </a14:m>
                <a:r>
                  <a:rPr lang="en-US" altLang="zh-CN" sz="2400" b="1" i="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e>
                      <m:sub>
                        <m:r>
                          <a:rPr lang="en-US" altLang="zh-CN" sz="2400" b="1" i="1" smtClean="0">
                            <a:latin typeface="Cambria Math" panose="02040503050406030204" pitchFamily="18" charset="0"/>
                          </a:rPr>
                          <m:t>𝐟</m:t>
                        </m:r>
                      </m:sub>
                    </m:sSub>
                    <m:r>
                      <a:rPr lang="en-US" altLang="zh-CN" sz="2400" b="1" dirty="0" smtClean="0">
                        <a:latin typeface="Cambria Math" panose="02040503050406030204" pitchFamily="18" charset="0"/>
                      </a:rPr>
                      <m:t>=</m:t>
                    </m:r>
                    <m:r>
                      <a:rPr lang="en-US" altLang="zh-CN" sz="2400" b="1" dirty="0" smtClean="0">
                        <a:latin typeface="Cambria Math" panose="02040503050406030204" pitchFamily="18" charset="0"/>
                      </a:rPr>
                      <m:t>𝟎</m:t>
                    </m:r>
                  </m:oMath>
                </a14:m>
                <a:endParaRPr lang="en-US" altLang="zh-CN" sz="2400" b="1" i="0" dirty="0">
                  <a:latin typeface="微软雅黑" panose="020B0503020204020204" pitchFamily="34" charset="-122"/>
                  <a:ea typeface="微软雅黑" panose="020B0503020204020204" pitchFamily="34" charset="-122"/>
                </a:endParaRPr>
              </a:p>
              <a:p>
                <a:pPr marL="342900"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满足机器人的位置、速度、加速度连续性</a:t>
                </a:r>
                <a:endParaRPr lang="en-US" altLang="zh-CN" sz="2400" b="1" i="0" dirty="0">
                  <a:latin typeface="微软雅黑" panose="020B0503020204020204" pitchFamily="34" charset="-122"/>
                  <a:ea typeface="微软雅黑" panose="020B0503020204020204" pitchFamily="34" charset="-122"/>
                </a:endParaRPr>
              </a:p>
              <a:p>
                <a:pPr marL="342900"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同时满足可执行性约束：</a:t>
                </a:r>
                <a:endParaRPr lang="en-US" altLang="zh-CN" sz="2400" b="1" i="0" dirty="0">
                  <a:latin typeface="微软雅黑" panose="020B0503020204020204" pitchFamily="34" charset="-122"/>
                  <a:ea typeface="微软雅黑" panose="020B0503020204020204" pitchFamily="34" charset="-122"/>
                </a:endParaRPr>
              </a:p>
              <a:p>
                <a:pPr algn="ctr">
                  <a:lnSpc>
                    <a:spcPct val="125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d>
                        <m:dPr>
                          <m:ctrlPr>
                            <a:rPr lang="en-US" altLang="zh-CN" sz="2400" b="1" i="1" dirty="0">
                              <a:latin typeface="Cambria Math" panose="02040503050406030204" pitchFamily="18" charset="0"/>
                            </a:rPr>
                          </m:ctrlPr>
                        </m:dPr>
                        <m:e>
                          <m:r>
                            <a:rPr lang="en-US" altLang="zh-CN" sz="2400" b="1" i="1" dirty="0" smtClean="0">
                              <a:latin typeface="Cambria Math" panose="02040503050406030204" pitchFamily="18" charset="0"/>
                            </a:rPr>
                            <m:t>𝐭</m:t>
                          </m:r>
                        </m:e>
                      </m:d>
                      <m:r>
                        <a:rPr lang="en-US" altLang="zh-CN" sz="2400" b="1" dirty="0" smtClean="0">
                          <a:latin typeface="Cambria Math" panose="02040503050406030204" pitchFamily="18" charset="0"/>
                          <a:ea typeface="Cambria Math" panose="02040503050406030204" pitchFamily="18" charset="0"/>
                        </a:rPr>
                        <m:t>≤</m:t>
                      </m:r>
                      <m:d>
                        <m:dPr>
                          <m:begChr m:val="|"/>
                          <m:endChr m:val="|"/>
                          <m:ctrlPr>
                            <a:rPr lang="en-US" altLang="zh-CN" sz="2400" b="1" i="1" dirty="0" smtClean="0">
                              <a:latin typeface="Cambria Math" panose="02040503050406030204" pitchFamily="18" charset="0"/>
                              <a:ea typeface="Cambria Math" panose="02040503050406030204" pitchFamily="18" charset="0"/>
                            </a:rPr>
                          </m:ctrlPr>
                        </m:dPr>
                        <m:e>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e>
                            <m:sub>
                              <m:r>
                                <a:rPr lang="en-US" altLang="zh-CN" sz="2400" b="1" i="1" dirty="0" smtClean="0">
                                  <a:latin typeface="Cambria Math" panose="02040503050406030204" pitchFamily="18" charset="0"/>
                                </a:rPr>
                                <m:t>𝐦𝐚𝐱</m:t>
                              </m:r>
                            </m:sub>
                          </m:sSub>
                        </m:e>
                      </m:d>
                      <m:r>
                        <a:rPr lang="en-US" altLang="zh-CN" sz="2400" b="1" i="1" dirty="0" smtClean="0">
                          <a:latin typeface="Cambria Math" panose="02040503050406030204" pitchFamily="18" charset="0"/>
                          <a:ea typeface="Cambria Math" panose="02040503050406030204" pitchFamily="18" charset="0"/>
                        </a:rPr>
                        <m:t>, </m:t>
                      </m:r>
                      <m:acc>
                        <m:accPr>
                          <m:chr m:val="̈"/>
                          <m:ctrlPr>
                            <a:rPr lang="en-US" altLang="zh-CN" sz="2400" b="1" i="1" dirty="0" smtClean="0">
                              <a:latin typeface="Cambria Math" panose="02040503050406030204" pitchFamily="18" charset="0"/>
                              <a:ea typeface="Cambria Math" panose="02040503050406030204" pitchFamily="18" charset="0"/>
                            </a:rPr>
                          </m:ctrlPr>
                        </m:accPr>
                        <m:e>
                          <m:r>
                            <a:rPr lang="en-US" altLang="zh-CN" sz="2400" b="1" i="1" dirty="0" smtClean="0">
                              <a:latin typeface="Cambria Math" panose="02040503050406030204" pitchFamily="18" charset="0"/>
                              <a:ea typeface="Cambria Math" panose="02040503050406030204" pitchFamily="18" charset="0"/>
                            </a:rPr>
                            <m:t>𝒒</m:t>
                          </m:r>
                        </m:e>
                      </m:acc>
                      <m:d>
                        <m:dPr>
                          <m:ctrlPr>
                            <a:rPr lang="en-US" altLang="zh-CN" sz="2400" b="1" i="1" dirty="0">
                              <a:latin typeface="Cambria Math" panose="02040503050406030204" pitchFamily="18" charset="0"/>
                            </a:rPr>
                          </m:ctrlPr>
                        </m:dPr>
                        <m:e>
                          <m:r>
                            <a:rPr lang="en-US" altLang="zh-CN" sz="2400" b="1" i="1" dirty="0" smtClean="0">
                              <a:latin typeface="Cambria Math" panose="02040503050406030204" pitchFamily="18" charset="0"/>
                            </a:rPr>
                            <m:t>𝐭</m:t>
                          </m:r>
                        </m:e>
                      </m:d>
                      <m:r>
                        <a:rPr lang="en-US" altLang="zh-CN" sz="2400" b="1" dirty="0" smtClean="0">
                          <a:latin typeface="Cambria Math" panose="02040503050406030204" pitchFamily="18" charset="0"/>
                          <a:ea typeface="Cambria Math" panose="02040503050406030204" pitchFamily="18" charset="0"/>
                        </a:rPr>
                        <m:t>≤</m:t>
                      </m:r>
                      <m:d>
                        <m:dPr>
                          <m:begChr m:val="|"/>
                          <m:endChr m:val="|"/>
                          <m:ctrlPr>
                            <a:rPr lang="en-US" altLang="zh-CN" sz="2400" b="1" i="1" dirty="0" smtClean="0">
                              <a:latin typeface="Cambria Math" panose="02040503050406030204" pitchFamily="18" charset="0"/>
                              <a:ea typeface="Cambria Math" panose="02040503050406030204" pitchFamily="18" charset="0"/>
                            </a:rPr>
                          </m:ctrlPr>
                        </m:dPr>
                        <m:e>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smtClean="0">
                                      <a:latin typeface="Cambria Math" panose="02040503050406030204" pitchFamily="18" charset="0"/>
                                    </a:rPr>
                                    <m:t>𝐪</m:t>
                                  </m:r>
                                </m:e>
                              </m:acc>
                            </m:e>
                            <m:sub>
                              <m:r>
                                <a:rPr lang="en-US" altLang="zh-CN" sz="2400" b="1" i="1" dirty="0" smtClean="0">
                                  <a:latin typeface="Cambria Math" panose="02040503050406030204" pitchFamily="18" charset="0"/>
                                </a:rPr>
                                <m:t>𝐦𝐚𝐱</m:t>
                              </m:r>
                            </m:sub>
                          </m:sSub>
                        </m:e>
                      </m:d>
                      <m:r>
                        <a:rPr lang="en-US" altLang="zh-CN" sz="2400" b="1" i="1" dirty="0" smtClean="0">
                          <a:latin typeface="Cambria Math" panose="02040503050406030204" pitchFamily="18" charset="0"/>
                          <a:ea typeface="Cambria Math" panose="02040503050406030204" pitchFamily="18" charset="0"/>
                        </a:rPr>
                        <m:t>, </m:t>
                      </m:r>
                      <m:acc>
                        <m:accPr>
                          <m:chr m:val="⃛"/>
                          <m:ctrlPr>
                            <a:rPr lang="en-US" altLang="zh-CN" sz="2400" b="1" i="1" dirty="0" smtClean="0">
                              <a:latin typeface="Cambria Math" panose="02040503050406030204" pitchFamily="18" charset="0"/>
                              <a:ea typeface="Cambria Math" panose="02040503050406030204" pitchFamily="18" charset="0"/>
                            </a:rPr>
                          </m:ctrlPr>
                        </m:accPr>
                        <m:e>
                          <m:r>
                            <a:rPr lang="en-US" altLang="zh-CN" sz="2400" b="1" i="1" dirty="0" smtClean="0">
                              <a:latin typeface="Cambria Math" panose="02040503050406030204" pitchFamily="18" charset="0"/>
                              <a:ea typeface="Cambria Math" panose="02040503050406030204" pitchFamily="18" charset="0"/>
                            </a:rPr>
                            <m:t>𝒒</m:t>
                          </m:r>
                        </m:e>
                      </m:acc>
                      <m:r>
                        <a:rPr lang="en-US" altLang="zh-CN" sz="2400" b="1" i="1" dirty="0" smtClean="0">
                          <a:latin typeface="Cambria Math" panose="02040503050406030204" pitchFamily="18" charset="0"/>
                          <a:ea typeface="Cambria Math" panose="02040503050406030204" pitchFamily="18" charset="0"/>
                        </a:rPr>
                        <m:t>(</m:t>
                      </m:r>
                      <m:r>
                        <a:rPr lang="en-US" altLang="zh-CN" sz="2400" b="1" i="1" dirty="0" smtClean="0">
                          <a:latin typeface="Cambria Math" panose="02040503050406030204" pitchFamily="18" charset="0"/>
                          <a:ea typeface="Cambria Math" panose="02040503050406030204" pitchFamily="18" charset="0"/>
                        </a:rPr>
                        <m:t>𝒕</m:t>
                      </m:r>
                      <m:r>
                        <a:rPr lang="en-US" altLang="zh-CN" sz="2400" b="1" i="1" dirty="0" smtClean="0">
                          <a:latin typeface="Cambria Math" panose="02040503050406030204" pitchFamily="18" charset="0"/>
                          <a:ea typeface="Cambria Math" panose="02040503050406030204" pitchFamily="18" charset="0"/>
                        </a:rPr>
                        <m:t>)</m:t>
                      </m:r>
                      <m:r>
                        <a:rPr lang="en-US" altLang="zh-CN" sz="2400" b="1" dirty="0" smtClean="0">
                          <a:latin typeface="Cambria Math" panose="02040503050406030204" pitchFamily="18" charset="0"/>
                          <a:ea typeface="Cambria Math" panose="02040503050406030204" pitchFamily="18" charset="0"/>
                        </a:rPr>
                        <m:t>≤</m:t>
                      </m:r>
                      <m:d>
                        <m:dPr>
                          <m:begChr m:val="|"/>
                          <m:endChr m:val="|"/>
                          <m:ctrlPr>
                            <a:rPr lang="en-US" altLang="zh-CN" sz="2400" b="1" i="1" dirty="0">
                              <a:latin typeface="Cambria Math" panose="02040503050406030204" pitchFamily="18" charset="0"/>
                              <a:ea typeface="Cambria Math" panose="02040503050406030204" pitchFamily="18" charset="0"/>
                            </a:rPr>
                          </m:ctrlPr>
                        </m:dPr>
                        <m:e>
                          <m:sSub>
                            <m:sSubPr>
                              <m:ctrlPr>
                                <a:rPr lang="en-US" altLang="zh-CN" sz="2400" b="1" i="1">
                                  <a:latin typeface="Cambria Math" panose="02040503050406030204" pitchFamily="18" charset="0"/>
                                </a:rPr>
                              </m:ctrlPr>
                            </m:sSubPr>
                            <m:e>
                              <m:acc>
                                <m:accPr>
                                  <m:chr m:val="⃛"/>
                                  <m:ctrlPr>
                                    <a:rPr lang="en-US" altLang="zh-CN" sz="2400" b="1" i="1" dirty="0">
                                      <a:latin typeface="Cambria Math" panose="02040503050406030204" pitchFamily="18" charset="0"/>
                                      <a:ea typeface="Cambria Math" panose="02040503050406030204" pitchFamily="18" charset="0"/>
                                    </a:rPr>
                                  </m:ctrlPr>
                                </m:accPr>
                                <m:e>
                                  <m:r>
                                    <a:rPr lang="en-US" altLang="zh-CN" sz="2400" b="1" i="1" dirty="0">
                                      <a:latin typeface="Cambria Math" panose="02040503050406030204" pitchFamily="18" charset="0"/>
                                      <a:ea typeface="Cambria Math" panose="02040503050406030204" pitchFamily="18" charset="0"/>
                                    </a:rPr>
                                    <m:t>𝒒</m:t>
                                  </m:r>
                                </m:e>
                              </m:acc>
                            </m:e>
                            <m:sub>
                              <m:r>
                                <a:rPr lang="en-US" altLang="zh-CN" sz="2400" b="1" i="1" dirty="0" smtClean="0">
                                  <a:latin typeface="Cambria Math" panose="02040503050406030204" pitchFamily="18" charset="0"/>
                                </a:rPr>
                                <m:t>𝐦𝐚𝐱</m:t>
                              </m:r>
                            </m:sub>
                          </m:sSub>
                        </m:e>
                      </m:d>
                    </m:oMath>
                  </m:oMathPara>
                </a14:m>
                <a:endParaRPr lang="en-US" altLang="zh-CN" sz="2400" b="1" i="0" dirty="0">
                  <a:latin typeface="微软雅黑" panose="020B0503020204020204" pitchFamily="34" charset="-122"/>
                  <a:ea typeface="微软雅黑" panose="020B0503020204020204" pitchFamily="34" charset="-122"/>
                </a:endParaRPr>
              </a:p>
              <a:p>
                <a:pPr marL="342900" lvl="1" indent="-342900">
                  <a:lnSpc>
                    <a:spcPct val="125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求取机器人完成该作业目标的最小执行时间</a:t>
                </a:r>
                <a14:m>
                  <m:oMath xmlns:m="http://schemas.openxmlformats.org/officeDocument/2006/math">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sub>
                    </m:sSub>
                  </m:oMath>
                </a14:m>
                <a:r>
                  <a:rPr lang="zh-CN" altLang="en-US" sz="2400" b="1" i="0" dirty="0">
                    <a:latin typeface="微软雅黑" panose="020B0503020204020204" pitchFamily="34" charset="-122"/>
                    <a:ea typeface="微软雅黑" panose="020B0503020204020204" pitchFamily="34" charset="-122"/>
                  </a:rPr>
                  <a:t>及对应的轨迹</a:t>
                </a:r>
                <a:endParaRPr lang="en-US" altLang="zh-CN" sz="2400" b="1" i="0"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D1994E7E-2321-4A69-91EB-19F6B09A5FA6}"/>
                  </a:ext>
                </a:extLst>
              </p:cNvPr>
              <p:cNvSpPr>
                <a:spLocks noRot="1" noChangeAspect="1" noMove="1" noResize="1" noEditPoints="1" noAdjustHandles="1" noChangeArrowheads="1" noChangeShapeType="1" noTextEdit="1"/>
              </p:cNvSpPr>
              <p:nvPr/>
            </p:nvSpPr>
            <p:spPr>
              <a:xfrm>
                <a:off x="152539" y="741970"/>
                <a:ext cx="6096000" cy="4650568"/>
              </a:xfrm>
              <a:prstGeom prst="rect">
                <a:avLst/>
              </a:prstGeom>
              <a:blipFill>
                <a:blip r:embed="rId2"/>
                <a:stretch>
                  <a:fillRect l="-1300" r="-200" b="-1311"/>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26FD0F51-201B-413D-85A4-ADC283B93991}"/>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基于分段函数的轨迹规划：最小时间规划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5AB0BF7-2432-4188-97C4-443132356385}"/>
              </a:ext>
            </a:extLst>
          </p:cNvPr>
          <p:cNvSpPr txBox="1"/>
          <p:nvPr/>
        </p:nvSpPr>
        <p:spPr>
          <a:xfrm>
            <a:off x="152539" y="5206192"/>
            <a:ext cx="7718574" cy="1515287"/>
          </a:xfrm>
          <a:prstGeom prst="rect">
            <a:avLst/>
          </a:prstGeom>
          <a:noFill/>
        </p:spPr>
        <p:txBody>
          <a:bodyPr wrap="square" rtlCol="0">
            <a:spAutoFit/>
          </a:bodyPr>
          <a:lstStyle/>
          <a:p>
            <a:pPr marL="342900" lvl="1" indent="-342900">
              <a:lnSpc>
                <a:spcPct val="150000"/>
              </a:lnSpc>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思路：</a:t>
            </a:r>
            <a:endParaRPr lang="en-US" altLang="zh-CN" sz="2400" b="1" i="0" dirty="0">
              <a:latin typeface="微软雅黑" panose="020B0503020204020204" pitchFamily="34" charset="-122"/>
              <a:ea typeface="微软雅黑" panose="020B0503020204020204" pitchFamily="34" charset="-122"/>
            </a:endParaRPr>
          </a:p>
          <a:p>
            <a:pPr marL="447675" lvl="2" indent="-268288">
              <a:lnSpc>
                <a:spcPct val="150000"/>
              </a:lnSpc>
              <a:buFont typeface="Wingdings" panose="05000000000000000000" pitchFamily="2" charset="2"/>
              <a:buChar char="n"/>
              <a:tabLst>
                <a:tab pos="447675" algn="l"/>
              </a:tabLst>
            </a:pPr>
            <a:r>
              <a:rPr lang="zh-CN" altLang="en-US" sz="2000" b="1" i="0" dirty="0">
                <a:latin typeface="微软雅黑" panose="020B0503020204020204" pitchFamily="34" charset="-122"/>
                <a:ea typeface="微软雅黑" panose="020B0503020204020204" pitchFamily="34" charset="-122"/>
              </a:rPr>
              <a:t>以最大性能加速到最大加速度，并尽可能维持最大加速度</a:t>
            </a:r>
            <a:endParaRPr lang="en-US" altLang="zh-CN" sz="2000" b="1" i="0" dirty="0">
              <a:latin typeface="微软雅黑" panose="020B0503020204020204" pitchFamily="34" charset="-122"/>
              <a:ea typeface="微软雅黑" panose="020B0503020204020204" pitchFamily="34" charset="-122"/>
            </a:endParaRPr>
          </a:p>
          <a:p>
            <a:pPr marL="447675" lvl="2" indent="-268288">
              <a:lnSpc>
                <a:spcPct val="150000"/>
              </a:lnSpc>
              <a:buFont typeface="Wingdings" panose="05000000000000000000" pitchFamily="2" charset="2"/>
              <a:buChar char="n"/>
              <a:tabLst>
                <a:tab pos="447675" algn="l"/>
              </a:tabLst>
            </a:pPr>
            <a:r>
              <a:rPr lang="zh-CN" altLang="en-US" sz="2000" b="1" i="0" dirty="0">
                <a:latin typeface="微软雅黑" panose="020B0503020204020204" pitchFamily="34" charset="-122"/>
                <a:ea typeface="微软雅黑" panose="020B0503020204020204" pitchFamily="34" charset="-122"/>
              </a:rPr>
              <a:t>当快要到达最大速度时以最大性能降低加速度至</a:t>
            </a:r>
            <a:r>
              <a:rPr lang="en-US" altLang="zh-CN" sz="2000" b="1" i="0" dirty="0">
                <a:latin typeface="微软雅黑" panose="020B0503020204020204" pitchFamily="34" charset="-122"/>
                <a:ea typeface="微软雅黑" panose="020B0503020204020204" pitchFamily="34" charset="-122"/>
              </a:rPr>
              <a:t>0</a:t>
            </a:r>
          </a:p>
        </p:txBody>
      </p:sp>
      <p:grpSp>
        <p:nvGrpSpPr>
          <p:cNvPr id="9" name="组合 8">
            <a:extLst>
              <a:ext uri="{FF2B5EF4-FFF2-40B4-BE49-F238E27FC236}">
                <a16:creationId xmlns:a16="http://schemas.microsoft.com/office/drawing/2014/main" id="{96C643BD-8074-4C01-830C-49D0DA8A92F9}"/>
              </a:ext>
            </a:extLst>
          </p:cNvPr>
          <p:cNvGrpSpPr/>
          <p:nvPr/>
        </p:nvGrpSpPr>
        <p:grpSpPr>
          <a:xfrm>
            <a:off x="6328276" y="741970"/>
            <a:ext cx="5863724" cy="6116030"/>
            <a:chOff x="6328276" y="741970"/>
            <a:chExt cx="5863724" cy="6116030"/>
          </a:xfrm>
        </p:grpSpPr>
        <p:pic>
          <p:nvPicPr>
            <p:cNvPr id="4" name="图片 3">
              <a:extLst>
                <a:ext uri="{FF2B5EF4-FFF2-40B4-BE49-F238E27FC236}">
                  <a16:creationId xmlns:a16="http://schemas.microsoft.com/office/drawing/2014/main" id="{BE4C89E6-2DCA-443F-8299-498FB57C4ED2}"/>
                </a:ext>
              </a:extLst>
            </p:cNvPr>
            <p:cNvPicPr>
              <a:picLocks noChangeAspect="1"/>
            </p:cNvPicPr>
            <p:nvPr/>
          </p:nvPicPr>
          <p:blipFill>
            <a:blip r:embed="rId3"/>
            <a:stretch>
              <a:fillRect/>
            </a:stretch>
          </p:blipFill>
          <p:spPr>
            <a:xfrm>
              <a:off x="7037798" y="741970"/>
              <a:ext cx="5154202" cy="6116030"/>
            </a:xfrm>
            <a:prstGeom prst="rect">
              <a:avLst/>
            </a:prstGeom>
          </p:spPr>
        </p:pic>
        <p:sp>
          <p:nvSpPr>
            <p:cNvPr id="7" name="文本框 6">
              <a:extLst>
                <a:ext uri="{FF2B5EF4-FFF2-40B4-BE49-F238E27FC236}">
                  <a16:creationId xmlns:a16="http://schemas.microsoft.com/office/drawing/2014/main" id="{07CA455A-58F3-4105-BC78-8627888E46FD}"/>
                </a:ext>
              </a:extLst>
            </p:cNvPr>
            <p:cNvSpPr txBox="1"/>
            <p:nvPr/>
          </p:nvSpPr>
          <p:spPr>
            <a:xfrm>
              <a:off x="6328276" y="1465462"/>
              <a:ext cx="896233"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最大加加速度</a:t>
              </a:r>
            </a:p>
          </p:txBody>
        </p:sp>
        <p:sp>
          <p:nvSpPr>
            <p:cNvPr id="8" name="文本框 7">
              <a:extLst>
                <a:ext uri="{FF2B5EF4-FFF2-40B4-BE49-F238E27FC236}">
                  <a16:creationId xmlns:a16="http://schemas.microsoft.com/office/drawing/2014/main" id="{EDE05C81-EEFD-4F63-A883-D6AF2743AB2F}"/>
                </a:ext>
              </a:extLst>
            </p:cNvPr>
            <p:cNvSpPr txBox="1"/>
            <p:nvPr/>
          </p:nvSpPr>
          <p:spPr>
            <a:xfrm>
              <a:off x="6377730" y="2986434"/>
              <a:ext cx="896233"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梯形</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加速度</a:t>
              </a:r>
            </a:p>
          </p:txBody>
        </p:sp>
      </p:grpSp>
    </p:spTree>
    <p:extLst>
      <p:ext uri="{BB962C8B-B14F-4D97-AF65-F5344CB8AC3E}">
        <p14:creationId xmlns:p14="http://schemas.microsoft.com/office/powerpoint/2010/main" val="406103114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BA571C1-DC4C-4041-AAF9-CDE961BEA57E}"/>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23</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B24469F1-1877-4FCB-9B0B-1F37F2E664CF}"/>
              </a:ext>
            </a:extLst>
          </p:cNvPr>
          <p:cNvSpPr txBox="1"/>
          <p:nvPr/>
        </p:nvSpPr>
        <p:spPr>
          <a:xfrm>
            <a:off x="-1" y="818545"/>
            <a:ext cx="7842040" cy="5853269"/>
          </a:xfrm>
          <a:prstGeom prst="rect">
            <a:avLst/>
          </a:prstGeom>
          <a:noFill/>
        </p:spPr>
        <p:txBody>
          <a:bodyPr wrap="square" rtlCol="0">
            <a:spAutoFit/>
          </a:bodyPr>
          <a:lstStyle/>
          <a:p>
            <a:pPr marL="342900" lvl="1" indent="-342900">
              <a:lnSpc>
                <a:spcPct val="120000"/>
              </a:lnSpc>
              <a:spcBef>
                <a:spcPts val="600"/>
              </a:spcBef>
              <a:spcAft>
                <a:spcPts val="2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思路</a:t>
            </a:r>
            <a:r>
              <a:rPr lang="zh-CN" altLang="en-US" sz="2400" b="1" i="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2400" b="1" i="0" dirty="0">
                <a:latin typeface="微软雅黑" panose="020B0503020204020204" pitchFamily="34" charset="-122"/>
                <a:ea typeface="微软雅黑" panose="020B0503020204020204" pitchFamily="34" charset="-122"/>
                <a:sym typeface="Wingdings" panose="05000000000000000000" pitchFamily="2" charset="2"/>
              </a:rPr>
              <a:t>7</a:t>
            </a:r>
            <a:r>
              <a:rPr lang="zh-CN" altLang="en-US" sz="2400" b="1" i="0" dirty="0">
                <a:latin typeface="微软雅黑" panose="020B0503020204020204" pitchFamily="34" charset="-122"/>
                <a:ea typeface="微软雅黑" panose="020B0503020204020204" pitchFamily="34" charset="-122"/>
                <a:sym typeface="Wingdings" panose="05000000000000000000" pitchFamily="2" charset="2"/>
              </a:rPr>
              <a:t>段轨迹规划，加速度</a:t>
            </a:r>
            <a:r>
              <a:rPr lang="en-US" altLang="zh-CN" sz="2400" b="1" i="0" dirty="0">
                <a:latin typeface="微软雅黑" panose="020B0503020204020204" pitchFamily="34" charset="-122"/>
                <a:ea typeface="微软雅黑" panose="020B0503020204020204" pitchFamily="34" charset="-122"/>
                <a:sym typeface="Wingdings" panose="05000000000000000000" pitchFamily="2" charset="2"/>
              </a:rPr>
              <a:t>T</a:t>
            </a:r>
            <a:r>
              <a:rPr lang="zh-CN" altLang="en-US" sz="2400" b="1" i="0" dirty="0">
                <a:latin typeface="微软雅黑" panose="020B0503020204020204" pitchFamily="34" charset="-122"/>
                <a:ea typeface="微软雅黑" panose="020B0503020204020204" pitchFamily="34" charset="-122"/>
                <a:sym typeface="Wingdings" panose="05000000000000000000" pitchFamily="2" charset="2"/>
              </a:rPr>
              <a:t>型波规划）</a:t>
            </a:r>
            <a:endParaRPr lang="en-US" altLang="zh-CN" sz="2400" b="1" i="0" dirty="0">
              <a:latin typeface="微软雅黑" panose="020B0503020204020204" pitchFamily="34" charset="-122"/>
              <a:ea typeface="微软雅黑" panose="020B0503020204020204" pitchFamily="34" charset="-122"/>
            </a:endParaRPr>
          </a:p>
          <a:p>
            <a:pPr marL="630238" lvl="2" indent="-363538">
              <a:lnSpc>
                <a:spcPct val="120000"/>
              </a:lnSpc>
              <a:spcBef>
                <a:spcPts val="600"/>
              </a:spcBef>
              <a:spcAft>
                <a:spcPts val="200"/>
              </a:spcAft>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加速过程（三段）：加速度连续</a:t>
            </a:r>
            <a:endParaRPr lang="en-US" altLang="zh-CN" sz="2400" b="1" i="0" dirty="0">
              <a:latin typeface="微软雅黑" panose="020B0503020204020204" pitchFamily="34" charset="-122"/>
              <a:ea typeface="微软雅黑" panose="020B0503020204020204" pitchFamily="34" charset="-122"/>
            </a:endParaRPr>
          </a:p>
          <a:p>
            <a:pPr marL="914400" lvl="3" indent="-376238">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1) </a:t>
            </a:r>
            <a:r>
              <a:rPr lang="zh-CN" altLang="en-US" sz="2400" b="1" dirty="0">
                <a:latin typeface="微软雅黑" panose="020B0503020204020204" pitchFamily="34" charset="-122"/>
                <a:ea typeface="微软雅黑" panose="020B0503020204020204" pitchFamily="34" charset="-122"/>
              </a:rPr>
              <a:t>加加速段：</a:t>
            </a:r>
            <a:r>
              <a:rPr lang="zh-CN" altLang="en-US" sz="2400" b="1" i="0" dirty="0">
                <a:latin typeface="微软雅黑" panose="020B0503020204020204" pitchFamily="34" charset="-122"/>
                <a:ea typeface="微软雅黑" panose="020B0503020204020204" pitchFamily="34" charset="-122"/>
              </a:rPr>
              <a:t>以最大性能加速到最大加速度</a:t>
            </a:r>
            <a:endParaRPr lang="en-US" altLang="zh-CN" sz="2400" b="1" i="0" dirty="0">
              <a:latin typeface="微软雅黑" panose="020B0503020204020204" pitchFamily="34" charset="-122"/>
              <a:ea typeface="微软雅黑" panose="020B0503020204020204" pitchFamily="34" charset="-122"/>
            </a:endParaRPr>
          </a:p>
          <a:p>
            <a:pPr marL="914400" lvl="3" indent="-376238">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匀</a:t>
            </a:r>
            <a:r>
              <a:rPr lang="zh-CN" altLang="en-US" sz="2400" b="1" i="0" dirty="0">
                <a:latin typeface="微软雅黑" panose="020B0503020204020204" pitchFamily="34" charset="-122"/>
                <a:ea typeface="微软雅黑" panose="020B0503020204020204" pitchFamily="34" charset="-122"/>
              </a:rPr>
              <a:t>加速度：尽可能的维持最大加速度</a:t>
            </a:r>
            <a:endParaRPr lang="en-US" altLang="zh-CN" sz="2400" b="1" i="0" dirty="0">
              <a:latin typeface="微软雅黑" panose="020B0503020204020204" pitchFamily="34" charset="-122"/>
              <a:ea typeface="微软雅黑" panose="020B0503020204020204" pitchFamily="34" charset="-122"/>
            </a:endParaRPr>
          </a:p>
          <a:p>
            <a:pPr marL="914400" lvl="3" indent="-376238">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3) </a:t>
            </a:r>
            <a:r>
              <a:rPr lang="zh-CN" altLang="en-US" sz="2400" b="1" i="0" dirty="0">
                <a:latin typeface="微软雅黑" panose="020B0503020204020204" pitchFamily="34" charset="-122"/>
                <a:ea typeface="微软雅黑" panose="020B0503020204020204" pitchFamily="34" charset="-122"/>
              </a:rPr>
              <a:t>减加速段：</a:t>
            </a:r>
            <a:r>
              <a:rPr lang="zh-CN" altLang="en-US" sz="2400" b="1" dirty="0">
                <a:latin typeface="微软雅黑" panose="020B0503020204020204" pitchFamily="34" charset="-122"/>
                <a:ea typeface="微软雅黑" panose="020B0503020204020204" pitchFamily="34" charset="-122"/>
              </a:rPr>
              <a:t>在</a:t>
            </a:r>
            <a:r>
              <a:rPr lang="zh-CN" altLang="en-US" sz="2400" b="1" i="0" dirty="0">
                <a:latin typeface="微软雅黑" panose="020B0503020204020204" pitchFamily="34" charset="-122"/>
                <a:ea typeface="微软雅黑" panose="020B0503020204020204" pitchFamily="34" charset="-122"/>
              </a:rPr>
              <a:t>到达最大速度时以最大性能降低加速度至</a:t>
            </a:r>
            <a:r>
              <a:rPr lang="en-US" altLang="zh-CN" sz="2400" b="1" i="0" dirty="0">
                <a:latin typeface="微软雅黑" panose="020B0503020204020204" pitchFamily="34" charset="-122"/>
                <a:ea typeface="微软雅黑" panose="020B0503020204020204" pitchFamily="34" charset="-122"/>
              </a:rPr>
              <a:t>0</a:t>
            </a:r>
          </a:p>
          <a:p>
            <a:pPr marL="457200" lvl="2" indent="-190500">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4) </a:t>
            </a:r>
            <a:r>
              <a:rPr lang="zh-CN" altLang="en-US" sz="2400" b="1" i="0" dirty="0">
                <a:latin typeface="微软雅黑" panose="020B0503020204020204" pitchFamily="34" charset="-122"/>
                <a:ea typeface="微软雅黑" panose="020B0503020204020204" pitchFamily="34" charset="-122"/>
              </a:rPr>
              <a:t>匀速过程（一段）：维持最大速度运行，加速度为</a:t>
            </a:r>
            <a:r>
              <a:rPr lang="en-US" altLang="zh-CN" sz="2400" b="1" i="0" dirty="0">
                <a:latin typeface="微软雅黑" panose="020B0503020204020204" pitchFamily="34" charset="-122"/>
                <a:ea typeface="微软雅黑" panose="020B0503020204020204" pitchFamily="34" charset="-122"/>
              </a:rPr>
              <a:t>0</a:t>
            </a:r>
          </a:p>
          <a:p>
            <a:pPr marL="630238" lvl="2" indent="-363538">
              <a:lnSpc>
                <a:spcPct val="120000"/>
              </a:lnSpc>
              <a:spcBef>
                <a:spcPts val="600"/>
              </a:spcBef>
              <a:spcAft>
                <a:spcPts val="200"/>
              </a:spcAft>
              <a:buFont typeface="Wingdings" panose="05000000000000000000" pitchFamily="2" charset="2"/>
              <a:buChar char="p"/>
              <a:tabLst>
                <a:tab pos="896938" algn="l"/>
              </a:tabLst>
            </a:pPr>
            <a:r>
              <a:rPr lang="zh-CN" altLang="en-US" sz="2400" b="1" i="0" dirty="0">
                <a:latin typeface="微软雅黑" panose="020B0503020204020204" pitchFamily="34" charset="-122"/>
                <a:ea typeface="微软雅黑" panose="020B0503020204020204" pitchFamily="34" charset="-122"/>
              </a:rPr>
              <a:t>减速过程（三段）：加速度连续</a:t>
            </a:r>
            <a:endParaRPr lang="en-US" altLang="zh-CN" sz="2400" b="1" i="0" dirty="0">
              <a:latin typeface="微软雅黑" panose="020B0503020204020204" pitchFamily="34" charset="-122"/>
              <a:ea typeface="微软雅黑" panose="020B0503020204020204" pitchFamily="34" charset="-122"/>
            </a:endParaRPr>
          </a:p>
          <a:p>
            <a:pPr marL="896938" lvl="3" indent="-358775">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5) </a:t>
            </a:r>
            <a:r>
              <a:rPr lang="zh-CN" altLang="en-US" sz="2400" b="1" i="0" dirty="0">
                <a:latin typeface="微软雅黑" panose="020B0503020204020204" pitchFamily="34" charset="-122"/>
                <a:ea typeface="微软雅黑" panose="020B0503020204020204" pitchFamily="34" charset="-122"/>
              </a:rPr>
              <a:t>负向加加速段：以最大性能加速到</a:t>
            </a:r>
            <a:r>
              <a:rPr lang="zh-CN" altLang="en-US" sz="2400" b="1" dirty="0">
                <a:latin typeface="微软雅黑" panose="020B0503020204020204" pitchFamily="34" charset="-122"/>
                <a:ea typeface="微软雅黑" panose="020B0503020204020204" pitchFamily="34" charset="-122"/>
              </a:rPr>
              <a:t>负向</a:t>
            </a:r>
            <a:r>
              <a:rPr lang="zh-CN" altLang="en-US" sz="2400" b="1" i="0" dirty="0">
                <a:latin typeface="微软雅黑" panose="020B0503020204020204" pitchFamily="34" charset="-122"/>
                <a:ea typeface="微软雅黑" panose="020B0503020204020204" pitchFamily="34" charset="-122"/>
              </a:rPr>
              <a:t>最大加速度</a:t>
            </a:r>
            <a:endParaRPr lang="en-US" altLang="zh-CN" sz="2400" b="1" i="0" dirty="0">
              <a:latin typeface="微软雅黑" panose="020B0503020204020204" pitchFamily="34" charset="-122"/>
              <a:ea typeface="微软雅黑" panose="020B0503020204020204" pitchFamily="34" charset="-122"/>
            </a:endParaRPr>
          </a:p>
          <a:p>
            <a:pPr marL="896938" lvl="3" indent="-358775">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6) </a:t>
            </a:r>
            <a:r>
              <a:rPr lang="zh-CN" altLang="en-US" sz="2400" b="1" i="0" dirty="0">
                <a:latin typeface="微软雅黑" panose="020B0503020204020204" pitchFamily="34" charset="-122"/>
                <a:ea typeface="微软雅黑" panose="020B0503020204020204" pitchFamily="34" charset="-122"/>
              </a:rPr>
              <a:t>负向匀加速段：尽可能的维持最大负向加速度</a:t>
            </a:r>
            <a:endParaRPr lang="en-US" altLang="zh-CN" sz="2400" b="1" i="0" dirty="0">
              <a:latin typeface="微软雅黑" panose="020B0503020204020204" pitchFamily="34" charset="-122"/>
              <a:ea typeface="微软雅黑" panose="020B0503020204020204" pitchFamily="34" charset="-122"/>
            </a:endParaRPr>
          </a:p>
          <a:p>
            <a:pPr marL="896938" lvl="3" indent="-358775">
              <a:lnSpc>
                <a:spcPct val="120000"/>
              </a:lnSpc>
              <a:spcBef>
                <a:spcPts val="600"/>
              </a:spcBef>
              <a:spcAft>
                <a:spcPts val="200"/>
              </a:spcAft>
            </a:pPr>
            <a:r>
              <a:rPr lang="en-US" altLang="zh-CN" sz="2400" b="1" i="0" dirty="0">
                <a:latin typeface="微软雅黑" panose="020B0503020204020204" pitchFamily="34" charset="-122"/>
                <a:ea typeface="微软雅黑" panose="020B0503020204020204" pitchFamily="34" charset="-122"/>
              </a:rPr>
              <a:t>7) </a:t>
            </a:r>
            <a:r>
              <a:rPr lang="zh-CN" altLang="en-US" sz="2400" b="1" i="0" dirty="0">
                <a:latin typeface="微软雅黑" panose="020B0503020204020204" pitchFamily="34" charset="-122"/>
                <a:ea typeface="微软雅黑" panose="020B0503020204020204" pitchFamily="34" charset="-122"/>
              </a:rPr>
              <a:t>负向减加速段：以最大性能降低加速度至</a:t>
            </a:r>
            <a:r>
              <a:rPr lang="en-US" altLang="zh-CN" sz="2400" b="1" i="0" dirty="0">
                <a:latin typeface="微软雅黑" panose="020B0503020204020204" pitchFamily="34" charset="-122"/>
                <a:ea typeface="微软雅黑" panose="020B0503020204020204" pitchFamily="34" charset="-122"/>
              </a:rPr>
              <a:t>0</a:t>
            </a:r>
          </a:p>
        </p:txBody>
      </p:sp>
      <p:sp>
        <p:nvSpPr>
          <p:cNvPr id="4" name="文本框 3">
            <a:extLst>
              <a:ext uri="{FF2B5EF4-FFF2-40B4-BE49-F238E27FC236}">
                <a16:creationId xmlns:a16="http://schemas.microsoft.com/office/drawing/2014/main" id="{4364BA8A-B35E-4690-A263-749F9227BFAD}"/>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基于分段函数的轨迹规划：最小时间规划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B8372B40-5657-46A2-9428-5CD5A159163C}"/>
              </a:ext>
            </a:extLst>
          </p:cNvPr>
          <p:cNvPicPr>
            <a:picLocks noChangeAspect="1"/>
          </p:cNvPicPr>
          <p:nvPr/>
        </p:nvPicPr>
        <p:blipFill>
          <a:blip r:embed="rId2"/>
          <a:stretch>
            <a:fillRect/>
          </a:stretch>
        </p:blipFill>
        <p:spPr>
          <a:xfrm>
            <a:off x="7957096" y="741970"/>
            <a:ext cx="4234903" cy="6116030"/>
          </a:xfrm>
          <a:prstGeom prst="rect">
            <a:avLst/>
          </a:prstGeom>
        </p:spPr>
      </p:pic>
      <p:grpSp>
        <p:nvGrpSpPr>
          <p:cNvPr id="15" name="组合 14">
            <a:extLst>
              <a:ext uri="{FF2B5EF4-FFF2-40B4-BE49-F238E27FC236}">
                <a16:creationId xmlns:a16="http://schemas.microsoft.com/office/drawing/2014/main" id="{64C974C1-5B71-454B-B7C1-3D2A390187CE}"/>
              </a:ext>
            </a:extLst>
          </p:cNvPr>
          <p:cNvGrpSpPr/>
          <p:nvPr/>
        </p:nvGrpSpPr>
        <p:grpSpPr>
          <a:xfrm>
            <a:off x="8374935" y="866990"/>
            <a:ext cx="407600" cy="1961973"/>
            <a:chOff x="8374935" y="866990"/>
            <a:chExt cx="407600" cy="1961973"/>
          </a:xfrm>
        </p:grpSpPr>
        <p:sp>
          <p:nvSpPr>
            <p:cNvPr id="9" name="文本框 8">
              <a:extLst>
                <a:ext uri="{FF2B5EF4-FFF2-40B4-BE49-F238E27FC236}">
                  <a16:creationId xmlns:a16="http://schemas.microsoft.com/office/drawing/2014/main" id="{E3FA4A0F-67B3-42A9-8757-8CE9BAC5A623}"/>
                </a:ext>
              </a:extLst>
            </p:cNvPr>
            <p:cNvSpPr txBox="1"/>
            <p:nvPr/>
          </p:nvSpPr>
          <p:spPr>
            <a:xfrm>
              <a:off x="8374935" y="866990"/>
              <a:ext cx="364202"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①</a:t>
              </a:r>
            </a:p>
          </p:txBody>
        </p:sp>
        <p:sp>
          <p:nvSpPr>
            <p:cNvPr id="10" name="文本框 9">
              <a:extLst>
                <a:ext uri="{FF2B5EF4-FFF2-40B4-BE49-F238E27FC236}">
                  <a16:creationId xmlns:a16="http://schemas.microsoft.com/office/drawing/2014/main" id="{D52AA23E-627D-4A03-947E-31F6D7546508}"/>
                </a:ext>
              </a:extLst>
            </p:cNvPr>
            <p:cNvSpPr txBox="1"/>
            <p:nvPr/>
          </p:nvSpPr>
          <p:spPr>
            <a:xfrm>
              <a:off x="8418333" y="2521186"/>
              <a:ext cx="364202"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①</a:t>
              </a:r>
            </a:p>
          </p:txBody>
        </p:sp>
      </p:grpSp>
      <p:grpSp>
        <p:nvGrpSpPr>
          <p:cNvPr id="16" name="组合 15">
            <a:extLst>
              <a:ext uri="{FF2B5EF4-FFF2-40B4-BE49-F238E27FC236}">
                <a16:creationId xmlns:a16="http://schemas.microsoft.com/office/drawing/2014/main" id="{A5F5C847-C7C8-4620-A71E-1A2335C2FC2D}"/>
              </a:ext>
            </a:extLst>
          </p:cNvPr>
          <p:cNvGrpSpPr/>
          <p:nvPr/>
        </p:nvGrpSpPr>
        <p:grpSpPr>
          <a:xfrm>
            <a:off x="8600434" y="1277931"/>
            <a:ext cx="364202" cy="1369554"/>
            <a:chOff x="8600434" y="1277931"/>
            <a:chExt cx="364202" cy="1369554"/>
          </a:xfrm>
        </p:grpSpPr>
        <p:sp>
          <p:nvSpPr>
            <p:cNvPr id="11" name="文本框 10">
              <a:extLst>
                <a:ext uri="{FF2B5EF4-FFF2-40B4-BE49-F238E27FC236}">
                  <a16:creationId xmlns:a16="http://schemas.microsoft.com/office/drawing/2014/main" id="{6B895E45-DF79-4698-9354-C7AD3602F697}"/>
                </a:ext>
              </a:extLst>
            </p:cNvPr>
            <p:cNvSpPr txBox="1"/>
            <p:nvPr/>
          </p:nvSpPr>
          <p:spPr>
            <a:xfrm>
              <a:off x="8600434" y="1277931"/>
              <a:ext cx="364202"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②</a:t>
              </a:r>
            </a:p>
          </p:txBody>
        </p:sp>
        <p:sp>
          <p:nvSpPr>
            <p:cNvPr id="12" name="文本框 11">
              <a:extLst>
                <a:ext uri="{FF2B5EF4-FFF2-40B4-BE49-F238E27FC236}">
                  <a16:creationId xmlns:a16="http://schemas.microsoft.com/office/drawing/2014/main" id="{36E97473-D1D5-4FC1-A308-319FF59332EA}"/>
                </a:ext>
              </a:extLst>
            </p:cNvPr>
            <p:cNvSpPr txBox="1"/>
            <p:nvPr/>
          </p:nvSpPr>
          <p:spPr>
            <a:xfrm>
              <a:off x="8600434" y="2339708"/>
              <a:ext cx="364202"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②</a:t>
              </a:r>
            </a:p>
          </p:txBody>
        </p:sp>
      </p:grpSp>
      <p:grpSp>
        <p:nvGrpSpPr>
          <p:cNvPr id="17" name="组合 16">
            <a:extLst>
              <a:ext uri="{FF2B5EF4-FFF2-40B4-BE49-F238E27FC236}">
                <a16:creationId xmlns:a16="http://schemas.microsoft.com/office/drawing/2014/main" id="{95519D82-DE86-436D-8C50-DD4F74B8A624}"/>
              </a:ext>
            </a:extLst>
          </p:cNvPr>
          <p:cNvGrpSpPr/>
          <p:nvPr/>
        </p:nvGrpSpPr>
        <p:grpSpPr>
          <a:xfrm>
            <a:off x="8964636" y="1867323"/>
            <a:ext cx="400034" cy="889744"/>
            <a:chOff x="8964636" y="1867323"/>
            <a:chExt cx="400034" cy="889744"/>
          </a:xfrm>
        </p:grpSpPr>
        <p:sp>
          <p:nvSpPr>
            <p:cNvPr id="13" name="文本框 12">
              <a:extLst>
                <a:ext uri="{FF2B5EF4-FFF2-40B4-BE49-F238E27FC236}">
                  <a16:creationId xmlns:a16="http://schemas.microsoft.com/office/drawing/2014/main" id="{E1F8AB6A-B481-4A70-A05B-FD2807CB8E75}"/>
                </a:ext>
              </a:extLst>
            </p:cNvPr>
            <p:cNvSpPr txBox="1"/>
            <p:nvPr/>
          </p:nvSpPr>
          <p:spPr>
            <a:xfrm>
              <a:off x="8964636" y="1867323"/>
              <a:ext cx="364202"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③</a:t>
              </a:r>
            </a:p>
          </p:txBody>
        </p:sp>
        <p:sp>
          <p:nvSpPr>
            <p:cNvPr id="14" name="文本框 13">
              <a:extLst>
                <a:ext uri="{FF2B5EF4-FFF2-40B4-BE49-F238E27FC236}">
                  <a16:creationId xmlns:a16="http://schemas.microsoft.com/office/drawing/2014/main" id="{C4F52184-F4B2-44D8-BEAE-7AEB9600AA93}"/>
                </a:ext>
              </a:extLst>
            </p:cNvPr>
            <p:cNvSpPr txBox="1"/>
            <p:nvPr/>
          </p:nvSpPr>
          <p:spPr>
            <a:xfrm>
              <a:off x="9000468" y="2449290"/>
              <a:ext cx="364202"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③</a:t>
              </a:r>
            </a:p>
          </p:txBody>
        </p:sp>
      </p:grpSp>
    </p:spTree>
    <p:extLst>
      <p:ext uri="{BB962C8B-B14F-4D97-AF65-F5344CB8AC3E}">
        <p14:creationId xmlns:p14="http://schemas.microsoft.com/office/powerpoint/2010/main" val="268873032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2" presetClass="entr" presetSubtype="4"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2" presetClass="entr" presetSubtype="4"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49141D6-C92B-42C1-8041-9FF333CBB610}"/>
              </a:ext>
            </a:extLst>
          </p:cNvPr>
          <p:cNvSpPr>
            <a:spLocks noGrp="1"/>
          </p:cNvSpPr>
          <p:nvPr>
            <p:ph type="sldNum" sz="quarter" idx="12"/>
          </p:nvPr>
        </p:nvSpPr>
        <p:spPr>
          <a:xfrm>
            <a:off x="10445566" y="6356354"/>
            <a:ext cx="1680000" cy="365125"/>
          </a:xfrm>
        </p:spPr>
        <p:txBody>
          <a:bodyPr/>
          <a:lstStyle/>
          <a:p>
            <a:pPr>
              <a:defRPr/>
            </a:pPr>
            <a:fld id="{DAA44188-3096-49C0-8534-FE6F15E0F67F}" type="slidenum">
              <a:rPr lang="zh-CN" altLang="en-US" smtClean="0">
                <a:solidFill>
                  <a:prstClr val="black">
                    <a:tint val="75000"/>
                  </a:prstClr>
                </a:solidFill>
              </a:rPr>
              <a:pPr>
                <a:defRPr/>
              </a:pPr>
              <a:t>24</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438D73B-7232-4207-A13F-168356C4AF44}"/>
                  </a:ext>
                </a:extLst>
              </p:cNvPr>
              <p:cNvSpPr txBox="1"/>
              <p:nvPr/>
            </p:nvSpPr>
            <p:spPr>
              <a:xfrm>
                <a:off x="161565" y="669372"/>
                <a:ext cx="12130012" cy="5837688"/>
              </a:xfrm>
              <a:prstGeom prst="rect">
                <a:avLst/>
              </a:prstGeom>
              <a:noFill/>
            </p:spPr>
            <p:txBody>
              <a:bodyPr wrap="square" rtlCol="0">
                <a:spAutoFit/>
              </a:bodyPr>
              <a:lstStyle/>
              <a:p>
                <a:pPr marL="342900" lvl="1" indent="-342900">
                  <a:lnSpc>
                    <a:spcPct val="160000"/>
                  </a:lnSpc>
                  <a:buFont typeface="Wingdings" panose="05000000000000000000" pitchFamily="2" charset="2"/>
                  <a:buChar char="n"/>
                </a:pPr>
                <a:r>
                  <a:rPr lang="en-US" altLang="zh-CN" sz="2600" b="1" i="0" dirty="0">
                    <a:latin typeface="微软雅黑" panose="020B0503020204020204" pitchFamily="34" charset="-122"/>
                    <a:ea typeface="微软雅黑" panose="020B0503020204020204" pitchFamily="34" charset="-122"/>
                    <a:sym typeface="Wingdings" panose="05000000000000000000" pitchFamily="2" charset="2"/>
                  </a:rPr>
                  <a:t>7</a:t>
                </a:r>
                <a:r>
                  <a:rPr lang="zh-CN" altLang="en-US" sz="2600" b="1" i="0" dirty="0">
                    <a:latin typeface="微软雅黑" panose="020B0503020204020204" pitchFamily="34" charset="-122"/>
                    <a:ea typeface="微软雅黑" panose="020B0503020204020204" pitchFamily="34" charset="-122"/>
                    <a:sym typeface="Wingdings" panose="05000000000000000000" pitchFamily="2" charset="2"/>
                  </a:rPr>
                  <a:t>段轨迹规划：加速度规划</a:t>
                </a:r>
                <a:endParaRPr lang="en-US" altLang="zh-CN" sz="2600" b="1" i="0" dirty="0">
                  <a:latin typeface="微软雅黑" panose="020B0503020204020204" pitchFamily="34" charset="-122"/>
                  <a:ea typeface="微软雅黑" panose="020B0503020204020204" pitchFamily="34" charset="-122"/>
                </a:endParaRPr>
              </a:p>
              <a:p>
                <a:pPr marL="355600" lvl="2" indent="-355600">
                  <a:lnSpc>
                    <a:spcPct val="160000"/>
                  </a:lnSpc>
                  <a:buFont typeface="Wingdings" panose="05000000000000000000" pitchFamily="2" charset="2"/>
                  <a:buChar char="p"/>
                </a:pPr>
                <a:r>
                  <a:rPr lang="zh-CN" altLang="en-US" sz="2400" b="1" i="0" dirty="0">
                    <a:solidFill>
                      <a:schemeClr val="accent1"/>
                    </a:solidFill>
                    <a:latin typeface="微软雅黑" panose="020B0503020204020204" pitchFamily="34" charset="-122"/>
                    <a:ea typeface="微软雅黑" panose="020B0503020204020204" pitchFamily="34" charset="-122"/>
                  </a:rPr>
                  <a:t>加速过程：</a:t>
                </a:r>
                <a:r>
                  <a:rPr lang="zh-CN" altLang="en-US" sz="2400" b="1" i="0" dirty="0">
                    <a:latin typeface="微软雅黑" panose="020B0503020204020204" pitchFamily="34" charset="-122"/>
                    <a:ea typeface="微软雅黑" panose="020B0503020204020204" pitchFamily="34" charset="-122"/>
                  </a:rPr>
                  <a:t>加速度连续，包括三段</a:t>
                </a:r>
                <a:endParaRPr lang="en-US" altLang="zh-CN" sz="2400" b="1" i="0" dirty="0">
                  <a:latin typeface="微软雅黑" panose="020B0503020204020204" pitchFamily="34" charset="-122"/>
                  <a:ea typeface="微软雅黑" panose="020B0503020204020204" pitchFamily="34" charset="-122"/>
                </a:endParaRPr>
              </a:p>
              <a:p>
                <a:pPr marL="177800" lvl="3">
                  <a:lnSpc>
                    <a:spcPct val="160000"/>
                  </a:lnSpc>
                </a:pPr>
                <a:r>
                  <a:rPr lang="en-US" altLang="zh-CN" sz="2000" b="1" i="0" dirty="0">
                    <a:latin typeface="微软雅黑" panose="020B0503020204020204" pitchFamily="34" charset="-122"/>
                    <a:ea typeface="微软雅黑" panose="020B0503020204020204" pitchFamily="34" charset="-122"/>
                  </a:rPr>
                  <a:t>1</a:t>
                </a:r>
                <a:r>
                  <a:rPr lang="zh-CN" altLang="en-US" sz="2000" b="1" i="0" dirty="0">
                    <a:latin typeface="微软雅黑" panose="020B0503020204020204" pitchFamily="34" charset="-122"/>
                    <a:ea typeface="微软雅黑" panose="020B0503020204020204" pitchFamily="34" charset="-122"/>
                  </a:rPr>
                  <a:t>）</a:t>
                </a:r>
                <a:r>
                  <a:rPr lang="zh-CN" altLang="en-US" sz="2200" b="1" i="0" dirty="0">
                    <a:latin typeface="微软雅黑" panose="020B0503020204020204" pitchFamily="34" charset="-122"/>
                    <a:ea typeface="微软雅黑" panose="020B0503020204020204" pitchFamily="34" charset="-122"/>
                  </a:rPr>
                  <a:t>以最大性能加速到最大加速度</a:t>
                </a:r>
                <a:r>
                  <a:rPr lang="zh-CN" altLang="en-US" sz="2200" b="1" dirty="0">
                    <a:latin typeface="微软雅黑" panose="020B0503020204020204" pitchFamily="34" charset="-122"/>
                    <a:ea typeface="微软雅黑" panose="020B0503020204020204" pitchFamily="34" charset="-122"/>
                  </a:rPr>
                  <a:t>，</a:t>
                </a:r>
                <a:r>
                  <a:rPr lang="zh-CN" altLang="en-US" sz="2200" b="1" i="0" dirty="0">
                    <a:latin typeface="微软雅黑" panose="020B0503020204020204" pitchFamily="34" charset="-122"/>
                    <a:ea typeface="微软雅黑" panose="020B0503020204020204" pitchFamily="34" charset="-122"/>
                  </a:rPr>
                  <a:t>设计： </a:t>
                </a:r>
                <a14:m>
                  <m:oMath xmlns:m="http://schemas.openxmlformats.org/officeDocument/2006/math">
                    <m:sSub>
                      <m:sSubPr>
                        <m:ctrlPr>
                          <a:rPr lang="en-US" altLang="zh-CN" sz="2400" b="1" i="1" dirty="0" smtClean="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400" b="1" i="1" smtClean="0">
                                <a:latin typeface="Cambria Math" panose="02040503050406030204" pitchFamily="18" charset="0"/>
                                <a:ea typeface="微软雅黑" panose="020B0503020204020204" pitchFamily="34" charset="-122"/>
                              </a:rPr>
                            </m:ctrlPr>
                          </m:accPr>
                          <m:e>
                            <m:r>
                              <a:rPr lang="en-US" altLang="zh-CN" sz="2400" b="1" i="1" smtClean="0">
                                <a:latin typeface="Cambria Math" panose="02040503050406030204" pitchFamily="18" charset="0"/>
                                <a:ea typeface="微软雅黑" panose="020B0503020204020204" pitchFamily="34" charset="-122"/>
                              </a:rPr>
                              <m:t>𝒒</m:t>
                            </m:r>
                          </m:e>
                        </m:acc>
                      </m:e>
                      <m:sub>
                        <m:r>
                          <a:rPr lang="en-US" altLang="zh-CN" sz="2400" b="1" i="0" dirty="0" smtClean="0">
                            <a:latin typeface="Cambria Math" panose="02040503050406030204" pitchFamily="18" charset="0"/>
                            <a:ea typeface="微软雅黑" panose="020B0503020204020204" pitchFamily="34" charset="-122"/>
                            <a:sym typeface="Wingdings" panose="05000000000000000000" pitchFamily="2" charset="2"/>
                          </a:rPr>
                          <m:t>𝟏</m:t>
                        </m:r>
                      </m:sub>
                    </m:sSub>
                    <m:d>
                      <m:dPr>
                        <m:ctrlPr>
                          <a:rPr lang="en-US" altLang="zh-CN" sz="2400" b="1" i="1" smtClean="0">
                            <a:latin typeface="Cambria Math" panose="02040503050406030204" pitchFamily="18" charset="0"/>
                            <a:ea typeface="微软雅黑" panose="020B0503020204020204" pitchFamily="34" charset="-122"/>
                          </a:rPr>
                        </m:ctrlPr>
                      </m:dPr>
                      <m:e>
                        <m:r>
                          <a:rPr lang="en-US" altLang="zh-CN" sz="2400" b="1" i="1" smtClean="0">
                            <a:latin typeface="Cambria Math" panose="02040503050406030204" pitchFamily="18" charset="0"/>
                            <a:ea typeface="微软雅黑" panose="020B0503020204020204" pitchFamily="34" charset="-122"/>
                          </a:rPr>
                          <m:t>𝒕</m:t>
                        </m:r>
                      </m:e>
                    </m:d>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𝟏𝟎</m:t>
                        </m:r>
                      </m:sub>
                    </m:sSub>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𝒂</m:t>
                        </m:r>
                      </m:e>
                      <m:sub>
                        <m:r>
                          <a:rPr lang="en-US" altLang="zh-CN" sz="2400" b="1" i="1" smtClean="0">
                            <a:latin typeface="Cambria Math" panose="02040503050406030204" pitchFamily="18" charset="0"/>
                            <a:ea typeface="微软雅黑" panose="020B0503020204020204" pitchFamily="34" charset="-122"/>
                          </a:rPr>
                          <m:t>𝟏𝟏</m:t>
                        </m:r>
                      </m:sub>
                    </m:sSub>
                    <m:r>
                      <a:rPr lang="en-US" altLang="zh-CN" sz="2400" b="1" i="1" smtClean="0">
                        <a:latin typeface="Cambria Math" panose="02040503050406030204" pitchFamily="18" charset="0"/>
                        <a:ea typeface="微软雅黑" panose="020B0503020204020204" pitchFamily="34" charset="-122"/>
                      </a:rPr>
                      <m:t>𝒕</m:t>
                    </m:r>
                    <m:r>
                      <a:rPr lang="en-US" altLang="zh-CN" sz="2400" b="1" i="1" smtClean="0">
                        <a:latin typeface="Cambria Math" panose="02040503050406030204" pitchFamily="18" charset="0"/>
                        <a:ea typeface="微软雅黑" panose="020B0503020204020204" pitchFamily="34" charset="-122"/>
                      </a:rPr>
                      <m:t>  </m:t>
                    </m:r>
                  </m:oMath>
                </a14:m>
                <a:endParaRPr lang="en-US" altLang="zh-CN" sz="2400" b="1" i="1" dirty="0">
                  <a:latin typeface="Cambria Math" panose="02040503050406030204" pitchFamily="18" charset="0"/>
                  <a:ea typeface="微软雅黑" panose="020B0503020204020204" pitchFamily="34" charset="-122"/>
                </a:endParaRPr>
              </a:p>
              <a:p>
                <a:pPr marL="177800" lvl="3">
                  <a:lnSpc>
                    <a:spcPct val="160000"/>
                  </a:lnSpc>
                </a:pPr>
                <a:r>
                  <a:rPr lang="en-US" altLang="zh-CN" sz="2400" b="1" dirty="0">
                    <a:ea typeface="微软雅黑" panose="020B0503020204020204" pitchFamily="34" charset="-122"/>
                  </a:rPr>
                  <a:t>    </a:t>
                </a:r>
                <a:r>
                  <a:rPr lang="zh-CN" altLang="en-US" sz="2200" b="1" dirty="0">
                    <a:ea typeface="微软雅黑" panose="020B0503020204020204" pitchFamily="34" charset="-122"/>
                  </a:rPr>
                  <a:t>求两个参数：</a:t>
                </a:r>
                <a14:m>
                  <m:oMath xmlns:m="http://schemas.openxmlformats.org/officeDocument/2006/math">
                    <m:r>
                      <a:rPr lang="en-US" altLang="zh-CN" sz="2200" b="1" i="1" smtClean="0">
                        <a:latin typeface="Cambria Math" panose="02040503050406030204" pitchFamily="18" charset="0"/>
                        <a:ea typeface="微软雅黑" panose="020B0503020204020204" pitchFamily="34" charset="-122"/>
                      </a:rPr>
                      <m:t> </m:t>
                    </m:r>
                    <m:sSub>
                      <m:sSubPr>
                        <m:ctrlPr>
                          <a:rPr lang="en-US" altLang="zh-CN" sz="2200" b="1" i="1" smtClean="0">
                            <a:latin typeface="Cambria Math" panose="02040503050406030204" pitchFamily="18" charset="0"/>
                            <a:ea typeface="微软雅黑" panose="020B0503020204020204" pitchFamily="34" charset="-122"/>
                          </a:rPr>
                        </m:ctrlPr>
                      </m:sSubPr>
                      <m:e>
                        <m:acc>
                          <m:accPr>
                            <m:chr m:val="̈"/>
                            <m:ctrlPr>
                              <a:rPr lang="en-US" altLang="zh-CN" sz="2200" b="1" i="1" smtClean="0">
                                <a:latin typeface="Cambria Math" panose="02040503050406030204" pitchFamily="18" charset="0"/>
                                <a:ea typeface="微软雅黑" panose="020B0503020204020204" pitchFamily="34" charset="-122"/>
                              </a:rPr>
                            </m:ctrlPr>
                          </m:accPr>
                          <m:e>
                            <m:r>
                              <a:rPr lang="en-US" altLang="zh-CN" sz="2200" b="1" i="1" smtClean="0">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𝟏𝟎</m:t>
                        </m:r>
                      </m:sub>
                    </m:sSub>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𝟏𝟎</m:t>
                        </m:r>
                      </m:sub>
                    </m:sSub>
                    <m:r>
                      <a:rPr lang="en-US" altLang="zh-CN" sz="2200" b="1" i="1" smtClean="0">
                        <a:latin typeface="Cambria Math" panose="02040503050406030204" pitchFamily="18" charset="0"/>
                        <a:ea typeface="微软雅黑" panose="020B0503020204020204" pitchFamily="34" charset="-122"/>
                      </a:rPr>
                      <m:t>=</m:t>
                    </m:r>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d>
                      <m:dPr>
                        <m:ctrlP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ctrlPr>
                      </m:dPr>
                      <m:e>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𝟎</m:t>
                        </m:r>
                      </m:e>
                    </m:d>
                    <m:r>
                      <a:rPr lang="en-US" altLang="zh-CN" sz="2200" b="1" i="0"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  </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𝟏𝟏</m:t>
                        </m:r>
                      </m:sub>
                    </m:sSub>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smtClean="0">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𝒋</m:t>
                        </m:r>
                      </m:e>
                      <m:sub>
                        <m:r>
                          <a:rPr lang="en-US" altLang="zh-CN" sz="2200" b="1" i="1" smtClean="0">
                            <a:latin typeface="Cambria Math" panose="02040503050406030204" pitchFamily="18" charset="0"/>
                            <a:ea typeface="微软雅黑" panose="020B0503020204020204" pitchFamily="34" charset="-122"/>
                          </a:rPr>
                          <m:t>𝒎𝒂𝒙</m:t>
                        </m:r>
                      </m:sub>
                    </m:sSub>
                    <m:r>
                      <a:rPr lang="en-US" altLang="zh-CN" sz="2200" b="1" i="1" smtClean="0">
                        <a:latin typeface="Cambria Math" panose="02040503050406030204" pitchFamily="18" charset="0"/>
                        <a:ea typeface="微软雅黑" panose="020B0503020204020204" pitchFamily="34" charset="-122"/>
                      </a:rPr>
                      <m:t> </m:t>
                    </m:r>
                  </m:oMath>
                </a14:m>
                <a:r>
                  <a:rPr lang="zh-CN" altLang="en-US" sz="2200" b="1" dirty="0">
                    <a:latin typeface="微软雅黑" panose="020B0503020204020204" pitchFamily="34" charset="-122"/>
                    <a:ea typeface="微软雅黑" panose="020B0503020204020204" pitchFamily="34" charset="-122"/>
                  </a:rPr>
                  <a:t>；求</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𝟏</m:t>
                        </m:r>
                        <m:r>
                          <a:rPr lang="en-US" altLang="zh-CN" sz="2200" b="1" i="1">
                            <a:latin typeface="Cambria Math" panose="02040503050406030204" pitchFamily="18" charset="0"/>
                            <a:ea typeface="微软雅黑" panose="020B0503020204020204" pitchFamily="34" charset="-122"/>
                          </a:rPr>
                          <m:t>𝒇</m:t>
                        </m:r>
                      </m:sub>
                    </m:sSub>
                  </m:oMath>
                </a14:m>
                <a:r>
                  <a:rPr lang="zh-CN" altLang="en-US" sz="2200" b="1"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acc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𝒒</m:t>
                            </m:r>
                          </m:e>
                        </m:acc>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𝟏</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𝒇</m:t>
                        </m:r>
                      </m:sub>
                    </m:s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𝟏𝟎</m:t>
                        </m:r>
                      </m:sub>
                    </m:sSub>
                    <m:r>
                      <a:rPr lang="en-US" altLang="zh-CN" sz="2200" b="1" i="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𝟏</m:t>
                        </m:r>
                        <m:r>
                          <a:rPr lang="en-US" altLang="zh-CN" sz="2200" b="1" i="1">
                            <a:latin typeface="Cambria Math" panose="02040503050406030204" pitchFamily="18" charset="0"/>
                            <a:ea typeface="微软雅黑" panose="020B0503020204020204" pitchFamily="34" charset="-122"/>
                          </a:rPr>
                          <m:t>𝒇</m:t>
                        </m:r>
                      </m:sub>
                    </m:s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𝒎𝒂𝒙</m:t>
                        </m:r>
                      </m:sub>
                    </m:sSub>
                  </m:oMath>
                </a14:m>
                <a:endParaRPr lang="en-US" altLang="zh-CN" sz="2200" b="1" dirty="0">
                  <a:latin typeface="微软雅黑" panose="020B0503020204020204" pitchFamily="34" charset="-122"/>
                  <a:ea typeface="微软雅黑" panose="020B0503020204020204" pitchFamily="34" charset="-122"/>
                </a:endParaRPr>
              </a:p>
              <a:p>
                <a:pPr marL="177800" lvl="3">
                  <a:lnSpc>
                    <a:spcPct val="160000"/>
                  </a:lnSpc>
                </a:pPr>
                <a:r>
                  <a:rPr lang="en-US" altLang="zh-CN" sz="2000" b="1" i="0" dirty="0">
                    <a:latin typeface="微软雅黑" panose="020B0503020204020204" pitchFamily="34" charset="-122"/>
                    <a:ea typeface="微软雅黑" panose="020B0503020204020204" pitchFamily="34" charset="-122"/>
                  </a:rPr>
                  <a:t>2</a:t>
                </a:r>
                <a:r>
                  <a:rPr lang="zh-CN" altLang="en-US" sz="2000" b="1" i="0" dirty="0">
                    <a:latin typeface="微软雅黑" panose="020B0503020204020204" pitchFamily="34" charset="-122"/>
                    <a:ea typeface="微软雅黑" panose="020B0503020204020204" pitchFamily="34" charset="-122"/>
                  </a:rPr>
                  <a:t>）</a:t>
                </a:r>
                <a:r>
                  <a:rPr lang="zh-CN" altLang="en-US" sz="2200" b="1" i="0" dirty="0">
                    <a:latin typeface="微软雅黑" panose="020B0503020204020204" pitchFamily="34" charset="-122"/>
                    <a:ea typeface="微软雅黑" panose="020B0503020204020204" pitchFamily="34" charset="-122"/>
                  </a:rPr>
                  <a:t>尽可能的维持最大加速度：设计：</a:t>
                </a:r>
                <a:r>
                  <a:rPr lang="en-US" altLang="zh-CN" sz="2200" b="1" dirty="0">
                    <a:ea typeface="微软雅黑" panose="020B0503020204020204" pitchFamily="34" charset="-122"/>
                    <a:sym typeface="Wingdings" panose="05000000000000000000" pitchFamily="2" charset="2"/>
                  </a:rPr>
                  <a:t> </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𝟐</m:t>
                        </m:r>
                      </m:sub>
                    </m:sSub>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𝟐</m:t>
                        </m:r>
                        <m:r>
                          <a:rPr lang="en-US" altLang="zh-CN" sz="2200" b="1" i="1">
                            <a:latin typeface="Cambria Math" panose="02040503050406030204" pitchFamily="18" charset="0"/>
                            <a:ea typeface="微软雅黑" panose="020B0503020204020204" pitchFamily="34" charset="-122"/>
                          </a:rPr>
                          <m:t>𝟎</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𝒎𝒂𝒙</m:t>
                        </m:r>
                      </m:sub>
                    </m:sSub>
                  </m:oMath>
                </a14:m>
                <a:endParaRPr lang="en-US" altLang="zh-CN" sz="2200" b="1" dirty="0">
                  <a:ea typeface="微软雅黑" panose="020B0503020204020204" pitchFamily="34" charset="-122"/>
                  <a:sym typeface="Wingdings" panose="05000000000000000000" pitchFamily="2" charset="2"/>
                </a:endParaRPr>
              </a:p>
              <a:p>
                <a:pPr marL="177800" lvl="3">
                  <a:lnSpc>
                    <a:spcPct val="160000"/>
                  </a:lnSpc>
                </a:pPr>
                <a:r>
                  <a:rPr lang="zh-CN" altLang="en-US" sz="2000" b="1" i="0" dirty="0">
                    <a:latin typeface="微软雅黑" panose="020B0503020204020204" pitchFamily="34" charset="-122"/>
                    <a:ea typeface="微软雅黑" panose="020B0503020204020204" pitchFamily="34" charset="-122"/>
                  </a:rPr>
                  <a:t>     </a:t>
                </a:r>
                <a:r>
                  <a:rPr lang="zh-CN" altLang="en-US" sz="2200" b="1" i="0" dirty="0">
                    <a:latin typeface="微软雅黑" panose="020B0503020204020204" pitchFamily="34" charset="-122"/>
                    <a:ea typeface="微软雅黑" panose="020B0503020204020204" pitchFamily="34" charset="-122"/>
                  </a:rPr>
                  <a:t>求</a:t>
                </a:r>
                <a14:m>
                  <m:oMath xmlns:m="http://schemas.openxmlformats.org/officeDocument/2006/math">
                    <m:sSub>
                      <m:sSubPr>
                        <m:ctrlPr>
                          <a:rPr lang="en-US" altLang="zh-CN" sz="2200" b="1" i="1" smtClean="0">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𝟐</m:t>
                        </m:r>
                        <m:r>
                          <a:rPr lang="en-US" altLang="zh-CN" sz="2200" b="1" i="1">
                            <a:latin typeface="Cambria Math" panose="02040503050406030204" pitchFamily="18" charset="0"/>
                            <a:ea typeface="微软雅黑" panose="020B0503020204020204" pitchFamily="34" charset="-122"/>
                          </a:rPr>
                          <m:t>𝒇</m:t>
                        </m:r>
                      </m:sub>
                    </m:sSub>
                  </m:oMath>
                </a14:m>
                <a:r>
                  <a:rPr lang="zh-CN" altLang="en-US" sz="2200" b="1" i="0" dirty="0">
                    <a:latin typeface="微软雅黑" panose="020B0503020204020204" pitchFamily="34" charset="-122"/>
                    <a:ea typeface="微软雅黑" panose="020B0503020204020204" pitchFamily="34" charset="-122"/>
                  </a:rPr>
                  <a:t>：</a:t>
                </a:r>
                <a:r>
                  <a:rPr lang="en-US" altLang="zh-CN" sz="2200" b="1" dirty="0">
                    <a:ea typeface="微软雅黑" panose="020B0503020204020204" pitchFamily="34" charset="-122"/>
                  </a:rPr>
                  <a:t> </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f>
                          <m:fPr>
                            <m:ctrlPr>
                              <a:rPr lang="en-US" altLang="zh-CN" sz="2200" b="1" i="1" smtClean="0">
                                <a:latin typeface="Cambria Math" panose="02040503050406030204" pitchFamily="18" charset="0"/>
                                <a:ea typeface="微软雅黑" panose="020B0503020204020204" pitchFamily="34" charset="-122"/>
                              </a:rPr>
                            </m:ctrlPr>
                          </m:fPr>
                          <m:num>
                            <m:r>
                              <a:rPr lang="en-US" altLang="zh-CN" sz="2200" b="1" i="1" smtClean="0">
                                <a:latin typeface="Cambria Math" panose="02040503050406030204" pitchFamily="18" charset="0"/>
                                <a:ea typeface="微软雅黑" panose="020B0503020204020204" pitchFamily="34" charset="-122"/>
                              </a:rPr>
                              <m:t>𝟏</m:t>
                            </m:r>
                          </m:num>
                          <m:den>
                            <m:r>
                              <a:rPr lang="en-US" altLang="zh-CN" sz="2200" b="1" i="1" smtClean="0">
                                <a:latin typeface="Cambria Math" panose="02040503050406030204" pitchFamily="18" charset="0"/>
                                <a:ea typeface="微软雅黑" panose="020B0503020204020204" pitchFamily="34" charset="-122"/>
                              </a:rPr>
                              <m:t>𝟐</m:t>
                            </m:r>
                          </m:den>
                        </m:f>
                        <m:sSub>
                          <m:sSubPr>
                            <m:ctrlPr>
                              <a:rPr lang="en-US" altLang="zh-CN" sz="2200" b="1" i="1" smtClean="0">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𝒋</m:t>
                            </m:r>
                          </m:e>
                          <m:sub>
                            <m:r>
                              <a:rPr lang="en-US" altLang="zh-CN" sz="2200" b="1" i="1" smtClean="0">
                                <a:latin typeface="Cambria Math" panose="02040503050406030204" pitchFamily="18" charset="0"/>
                                <a:ea typeface="微软雅黑" panose="020B0503020204020204" pitchFamily="34" charset="-122"/>
                              </a:rPr>
                              <m:t>𝒎𝒂𝒙</m:t>
                            </m:r>
                          </m:sub>
                        </m:sSub>
                        <m:sSubSup>
                          <m:sSubSupPr>
                            <m:ctrlPr>
                              <a:rPr lang="en-US" altLang="zh-CN" sz="2200" b="1" i="1" smtClean="0">
                                <a:latin typeface="Cambria Math" panose="02040503050406030204" pitchFamily="18" charset="0"/>
                                <a:ea typeface="微软雅黑" panose="020B0503020204020204" pitchFamily="34" charset="-122"/>
                              </a:rPr>
                            </m:ctrlPr>
                          </m:sSubSupPr>
                          <m:e>
                            <m:r>
                              <a:rPr lang="en-US" altLang="zh-CN" sz="2200" b="1" i="1" smtClean="0">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𝟏</m:t>
                            </m:r>
                            <m:r>
                              <a:rPr lang="en-US" altLang="zh-CN" sz="2200" b="1" i="1" smtClean="0">
                                <a:latin typeface="Cambria Math" panose="02040503050406030204" pitchFamily="18" charset="0"/>
                                <a:ea typeface="微软雅黑" panose="020B0503020204020204" pitchFamily="34" charset="-122"/>
                              </a:rPr>
                              <m:t>𝒇</m:t>
                            </m:r>
                          </m:sub>
                          <m:sup>
                            <m:r>
                              <a:rPr lang="en-US" altLang="zh-CN" sz="2200" b="1" i="1" smtClean="0">
                                <a:latin typeface="Cambria Math" panose="02040503050406030204" pitchFamily="18" charset="0"/>
                                <a:ea typeface="微软雅黑" panose="020B0503020204020204" pitchFamily="34" charset="-122"/>
                              </a:rPr>
                              <m:t>𝟐</m:t>
                            </m:r>
                          </m:sup>
                        </m:sSubSup>
                        <m:r>
                          <a:rPr lang="en-US" altLang="zh-CN" sz="2200" b="1" i="1" smtClean="0">
                            <a:latin typeface="Cambria Math" panose="02040503050406030204" pitchFamily="18" charset="0"/>
                            <a:ea typeface="微软雅黑" panose="020B0503020204020204" pitchFamily="34" charset="-122"/>
                          </a:rPr>
                          <m:t>+</m:t>
                        </m:r>
                        <m:r>
                          <a:rPr lang="en-US" altLang="zh-CN" sz="2200" b="1" i="1" smtClean="0">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𝒎𝒂𝒙</m:t>
                        </m:r>
                      </m:sub>
                    </m:sSub>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𝟐</m:t>
                        </m:r>
                        <m:r>
                          <a:rPr lang="en-US" altLang="zh-CN" sz="2200" b="1" i="1">
                            <a:latin typeface="Cambria Math" panose="02040503050406030204" pitchFamily="18" charset="0"/>
                            <a:ea typeface="微软雅黑" panose="020B0503020204020204" pitchFamily="34" charset="-122"/>
                          </a:rPr>
                          <m:t>𝒇</m:t>
                        </m:r>
                      </m:sub>
                    </m:sSub>
                    <m:r>
                      <a:rPr lang="en-US" altLang="zh-CN" sz="2200" b="1" i="1" smtClean="0">
                        <a:latin typeface="Cambria Math" panose="02040503050406030204" pitchFamily="18" charset="0"/>
                        <a:ea typeface="微软雅黑" panose="020B0503020204020204" pitchFamily="34" charset="-122"/>
                      </a:rPr>
                      <m:t>+</m:t>
                    </m:r>
                    <m:f>
                      <m:fPr>
                        <m:ctrlPr>
                          <a:rPr lang="en-US" altLang="zh-CN" sz="2200" b="1" i="1">
                            <a:latin typeface="Cambria Math" panose="02040503050406030204" pitchFamily="18" charset="0"/>
                            <a:ea typeface="微软雅黑" panose="020B0503020204020204" pitchFamily="34" charset="-122"/>
                          </a:rPr>
                        </m:ctrlPr>
                      </m:fPr>
                      <m:num>
                        <m:r>
                          <a:rPr lang="en-US" altLang="zh-CN" sz="2200" b="1" i="1">
                            <a:latin typeface="Cambria Math" panose="02040503050406030204" pitchFamily="18" charset="0"/>
                            <a:ea typeface="微软雅黑" panose="020B0503020204020204" pitchFamily="34" charset="-122"/>
                          </a:rPr>
                          <m:t>𝟏</m:t>
                        </m:r>
                      </m:num>
                      <m:den>
                        <m:r>
                          <a:rPr lang="en-US" altLang="zh-CN" sz="2200" b="1" i="1">
                            <a:latin typeface="Cambria Math" panose="02040503050406030204" pitchFamily="18" charset="0"/>
                            <a:ea typeface="微软雅黑" panose="020B0503020204020204" pitchFamily="34" charset="-122"/>
                          </a:rPr>
                          <m:t>𝟐</m:t>
                        </m:r>
                      </m:den>
                    </m:f>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𝒋</m:t>
                        </m:r>
                      </m:e>
                      <m:sub>
                        <m:r>
                          <a:rPr lang="en-US" altLang="zh-CN" sz="2200" b="1" i="1">
                            <a:latin typeface="Cambria Math" panose="02040503050406030204" pitchFamily="18" charset="0"/>
                            <a:ea typeface="微软雅黑" panose="020B0503020204020204" pitchFamily="34" charset="-122"/>
                          </a:rPr>
                          <m:t>𝒎𝒂𝒙</m:t>
                        </m:r>
                      </m:sub>
                    </m:sSub>
                    <m:sSubSup>
                      <m:sSubSupPr>
                        <m:ctrlPr>
                          <a:rPr lang="en-US" altLang="zh-CN" sz="2200" b="1" i="1">
                            <a:latin typeface="Cambria Math" panose="02040503050406030204" pitchFamily="18" charset="0"/>
                            <a:ea typeface="微软雅黑" panose="020B0503020204020204" pitchFamily="34" charset="-122"/>
                          </a:rPr>
                        </m:ctrlPr>
                      </m:sSubSup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up>
                        <m:r>
                          <a:rPr lang="en-US" altLang="zh-CN" sz="2200" b="1" i="1">
                            <a:latin typeface="Cambria Math" panose="02040503050406030204" pitchFamily="18" charset="0"/>
                            <a:ea typeface="微软雅黑" panose="020B0503020204020204" pitchFamily="34" charset="-122"/>
                          </a:rPr>
                          <m:t>𝟐</m:t>
                        </m:r>
                      </m:sup>
                    </m:sSubSup>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𝒗</m:t>
                        </m:r>
                      </m:e>
                      <m:sub>
                        <m:r>
                          <a:rPr lang="en-US" altLang="zh-CN" sz="2200" b="1" i="1">
                            <a:latin typeface="Cambria Math" panose="02040503050406030204" pitchFamily="18" charset="0"/>
                            <a:ea typeface="微软雅黑" panose="020B0503020204020204" pitchFamily="34" charset="-122"/>
                          </a:rPr>
                          <m:t>𝒎𝒂𝒙</m:t>
                        </m:r>
                      </m:sub>
                    </m:sSub>
                    <m:r>
                      <a:rPr lang="en-US" altLang="zh-CN" sz="2200" b="1" i="1" smtClean="0">
                        <a:latin typeface="Cambria Math" panose="02040503050406030204" pitchFamily="18" charset="0"/>
                        <a:ea typeface="微软雅黑" panose="020B0503020204020204" pitchFamily="34" charset="-122"/>
                      </a:rPr>
                      <m:t>,    </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Sub>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𝟏</m:t>
                        </m:r>
                        <m:r>
                          <a:rPr lang="en-US" altLang="zh-CN" sz="2200" b="1" i="1">
                            <a:latin typeface="Cambria Math" panose="02040503050406030204" pitchFamily="18" charset="0"/>
                            <a:ea typeface="微软雅黑" panose="020B0503020204020204" pitchFamily="34" charset="-122"/>
                          </a:rPr>
                          <m:t>𝒇</m:t>
                        </m:r>
                      </m:sub>
                    </m:sSub>
                  </m:oMath>
                </a14:m>
                <a:endParaRPr lang="en-US" altLang="zh-CN" sz="2200" b="1" i="0" dirty="0">
                  <a:latin typeface="微软雅黑" panose="020B0503020204020204" pitchFamily="34" charset="-122"/>
                  <a:ea typeface="微软雅黑" panose="020B0503020204020204" pitchFamily="34" charset="-122"/>
                </a:endParaRPr>
              </a:p>
              <a:p>
                <a:pPr marL="177800" lvl="3">
                  <a:lnSpc>
                    <a:spcPct val="160000"/>
                  </a:lnSpc>
                </a:pPr>
                <a:r>
                  <a:rPr lang="en-US" altLang="zh-CN" sz="2200" b="1" i="0" dirty="0">
                    <a:latin typeface="微软雅黑" panose="020B0503020204020204" pitchFamily="34" charset="-122"/>
                    <a:ea typeface="微软雅黑" panose="020B0503020204020204" pitchFamily="34" charset="-122"/>
                  </a:rPr>
                  <a:t>3</a:t>
                </a:r>
                <a:r>
                  <a:rPr lang="zh-CN" altLang="en-US" sz="2200" b="1" i="0" dirty="0">
                    <a:latin typeface="微软雅黑" panose="020B0503020204020204" pitchFamily="34" charset="-122"/>
                    <a:ea typeface="微软雅黑" panose="020B0503020204020204" pitchFamily="34" charset="-122"/>
                  </a:rPr>
                  <a:t>）以最大性能降低加速度至</a:t>
                </a:r>
                <a:r>
                  <a:rPr lang="en-US" altLang="zh-CN" sz="2200" b="1" i="0" dirty="0">
                    <a:latin typeface="微软雅黑" panose="020B0503020204020204" pitchFamily="34" charset="-122"/>
                    <a:ea typeface="微软雅黑" panose="020B0503020204020204" pitchFamily="34" charset="-122"/>
                  </a:rPr>
                  <a:t>0</a:t>
                </a:r>
                <a:r>
                  <a:rPr lang="zh-CN" altLang="en-US" sz="2200" b="1" i="0" dirty="0">
                    <a:latin typeface="微软雅黑" panose="020B0503020204020204" pitchFamily="34" charset="-122"/>
                    <a:ea typeface="微软雅黑" panose="020B0503020204020204" pitchFamily="34" charset="-122"/>
                  </a:rPr>
                  <a:t>，达到最大速度，设计：</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𝟑</m:t>
                        </m:r>
                      </m:sub>
                    </m:sSub>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smtClean="0">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𝟏</m:t>
                        </m:r>
                      </m:sub>
                    </m:sSub>
                    <m:r>
                      <a:rPr lang="en-US" altLang="zh-CN" sz="2200" b="1" i="1" smtClean="0">
                        <a:latin typeface="Cambria Math" panose="02040503050406030204" pitchFamily="18" charset="0"/>
                        <a:ea typeface="微软雅黑" panose="020B0503020204020204" pitchFamily="34" charset="-122"/>
                      </a:rPr>
                      <m:t>𝒕</m:t>
                    </m:r>
                    <m:r>
                      <a:rPr lang="en-US" altLang="zh-CN" sz="2200" b="1" i="0" smtClean="0">
                        <a:latin typeface="Cambria Math" panose="02040503050406030204" pitchFamily="18" charset="0"/>
                        <a:ea typeface="微软雅黑" panose="020B0503020204020204" pitchFamily="34" charset="-122"/>
                      </a:rPr>
                      <m:t> </m:t>
                    </m:r>
                  </m:oMath>
                </a14:m>
                <a:endParaRPr lang="en-US" altLang="zh-CN" sz="2200" b="1" i="0" dirty="0">
                  <a:latin typeface="Cambria Math" panose="02040503050406030204" pitchFamily="18" charset="0"/>
                  <a:ea typeface="微软雅黑" panose="020B0503020204020204" pitchFamily="34" charset="-122"/>
                </a:endParaRPr>
              </a:p>
              <a:p>
                <a:pPr marL="177800" lvl="3">
                  <a:lnSpc>
                    <a:spcPct val="160000"/>
                  </a:lnSpc>
                </a:pPr>
                <a:r>
                  <a:rPr lang="en-US" altLang="zh-CN" sz="2000" b="1" dirty="0">
                    <a:ea typeface="微软雅黑" panose="020B0503020204020204" pitchFamily="34" charset="-122"/>
                  </a:rPr>
                  <a:t>      </a:t>
                </a:r>
                <a:r>
                  <a:rPr lang="zh-CN" altLang="en-US" sz="2200" b="1" dirty="0">
                    <a:ea typeface="微软雅黑" panose="020B0503020204020204" pitchFamily="34" charset="-122"/>
                  </a:rPr>
                  <a:t>求两个参数：</a:t>
                </a:r>
                <a:r>
                  <a:rPr lang="en-US" altLang="zh-CN" sz="2200" b="1" dirty="0">
                    <a:ea typeface="微软雅黑" panose="020B0503020204020204" pitchFamily="34" charset="-122"/>
                  </a:rPr>
                  <a:t>  </a:t>
                </a:r>
                <a14:m>
                  <m:oMath xmlns:m="http://schemas.openxmlformats.org/officeDocument/2006/math">
                    <m:r>
                      <a:rPr lang="en-US" altLang="zh-CN" sz="2200" b="1" i="0" smtClean="0">
                        <a:latin typeface="Cambria Math" panose="02040503050406030204" pitchFamily="18" charset="0"/>
                        <a:ea typeface="微软雅黑" panose="020B0503020204020204" pitchFamily="34" charset="-122"/>
                      </a:rPr>
                      <m:t> </m:t>
                    </m:r>
                    <m:sSub>
                      <m:sSubPr>
                        <m:ctrlPr>
                          <a:rPr lang="en-US" altLang="zh-CN" sz="2200" b="1" i="1">
                            <a:latin typeface="Cambria Math" panose="02040503050406030204" pitchFamily="18" charset="0"/>
                            <a:ea typeface="微软雅黑" panose="020B0503020204020204" pitchFamily="34" charset="-12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𝟑𝟎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𝟑𝟎</m:t>
                        </m:r>
                      </m:sub>
                    </m:sSub>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𝒎𝒂𝒙</m:t>
                        </m:r>
                      </m:sub>
                    </m:sSub>
                    <m:r>
                      <a:rPr lang="en-US" altLang="zh-CN" sz="2200" b="1" i="0" dirty="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0" dirty="0" smtClean="0">
                        <a:latin typeface="Cambria Math" panose="02040503050406030204" pitchFamily="18" charset="0"/>
                        <a:ea typeface="微软雅黑" panose="020B0503020204020204" pitchFamily="34" charset="-122"/>
                        <a:sym typeface="Wingdings" panose="05000000000000000000" pitchFamily="2" charset="2"/>
                      </a:rPr>
                      <m:t> </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    </m:t>
                        </m:r>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𝟏</m:t>
                        </m:r>
                      </m:sub>
                    </m:sSub>
                    <m:r>
                      <a:rPr lang="en-US" altLang="zh-CN" sz="2200" b="1">
                        <a:latin typeface="Cambria Math" panose="02040503050406030204" pitchFamily="18" charset="0"/>
                        <a:ea typeface="微软雅黑" panose="020B0503020204020204" pitchFamily="34" charset="-122"/>
                      </a:rPr>
                      <m:t>=</m:t>
                    </m:r>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𝒋</m:t>
                        </m:r>
                      </m:e>
                      <m:sub>
                        <m:r>
                          <a:rPr lang="en-US" altLang="zh-CN" sz="2200" b="1" i="1">
                            <a:latin typeface="Cambria Math" panose="02040503050406030204" pitchFamily="18" charset="0"/>
                            <a:ea typeface="微软雅黑" panose="020B0503020204020204" pitchFamily="34" charset="-122"/>
                          </a:rPr>
                          <m:t>𝒎𝒂𝒙</m:t>
                        </m:r>
                      </m:sub>
                    </m:sSub>
                  </m:oMath>
                </a14:m>
                <a:r>
                  <a:rPr lang="zh-CN" altLang="en-US" sz="2200" b="1" i="0" dirty="0">
                    <a:latin typeface="微软雅黑" panose="020B0503020204020204" pitchFamily="34" charset="-122"/>
                    <a:ea typeface="微软雅黑" panose="020B0503020204020204" pitchFamily="34" charset="-122"/>
                  </a:rPr>
                  <a:t>；求</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Sub>
                    <m:r>
                      <a:rPr lang="en-US" altLang="zh-CN" sz="2200" b="1" i="1">
                        <a:latin typeface="Cambria Math" panose="02040503050406030204" pitchFamily="18" charset="0"/>
                        <a:ea typeface="微软雅黑" panose="020B0503020204020204" pitchFamily="34" charset="-122"/>
                      </a:rPr>
                      <m:t> </m:t>
                    </m:r>
                  </m:oMath>
                </a14:m>
                <a:r>
                  <a:rPr lang="zh-CN" altLang="en-US" sz="2200" b="1" i="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Sub>
                    <m:r>
                      <a:rPr lang="en-US" altLang="zh-CN" sz="2200" b="1" i="1">
                        <a:latin typeface="Cambria Math" panose="02040503050406030204" pitchFamily="18" charset="0"/>
                        <a:ea typeface="微软雅黑" panose="020B0503020204020204" pitchFamily="34" charset="-122"/>
                      </a:rPr>
                      <m:t> </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acc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𝒒</m:t>
                            </m:r>
                          </m:e>
                        </m:acc>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𝟑</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𝒇</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𝟑𝟎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𝟑𝟏</m:t>
                        </m:r>
                      </m:sub>
                    </m:sSub>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𝟑</m:t>
                        </m:r>
                        <m:r>
                          <a:rPr lang="en-US" altLang="zh-CN" sz="2200" b="1" i="1">
                            <a:latin typeface="Cambria Math" panose="02040503050406030204" pitchFamily="18" charset="0"/>
                            <a:ea typeface="微软雅黑" panose="020B0503020204020204" pitchFamily="34" charset="-122"/>
                          </a:rPr>
                          <m:t>𝒇</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𝟎</m:t>
                    </m:r>
                  </m:oMath>
                </a14:m>
                <a:endParaRPr lang="en-US" altLang="zh-CN" sz="2200" b="1" i="0" dirty="0">
                  <a:latin typeface="微软雅黑" panose="020B0503020204020204" pitchFamily="34" charset="-122"/>
                  <a:ea typeface="微软雅黑" panose="020B0503020204020204" pitchFamily="34" charset="-122"/>
                </a:endParaRPr>
              </a:p>
              <a:p>
                <a:pPr marL="269875" lvl="2" indent="-269875">
                  <a:lnSpc>
                    <a:spcPct val="160000"/>
                  </a:lnSpc>
                  <a:buFont typeface="Wingdings" panose="05000000000000000000" pitchFamily="2" charset="2"/>
                  <a:buChar char="p"/>
                </a:pPr>
                <a:r>
                  <a:rPr lang="en-US" altLang="zh-CN" sz="2400" b="1" dirty="0">
                    <a:solidFill>
                      <a:schemeClr val="accent1"/>
                    </a:solidFill>
                    <a:latin typeface="微软雅黑" panose="020B0503020204020204" pitchFamily="34" charset="-122"/>
                    <a:ea typeface="微软雅黑" panose="020B0503020204020204" pitchFamily="34" charset="-122"/>
                  </a:rPr>
                  <a:t> </a:t>
                </a:r>
                <a:r>
                  <a:rPr lang="zh-CN" altLang="en-US" sz="2400" b="1" i="0" dirty="0">
                    <a:solidFill>
                      <a:schemeClr val="accent1"/>
                    </a:solidFill>
                    <a:latin typeface="微软雅黑" panose="020B0503020204020204" pitchFamily="34" charset="-122"/>
                    <a:ea typeface="微软雅黑" panose="020B0503020204020204" pitchFamily="34" charset="-122"/>
                  </a:rPr>
                  <a:t>匀速过程：</a:t>
                </a:r>
                <a:r>
                  <a:rPr lang="zh-CN" altLang="en-US" sz="2400" b="1" i="0" dirty="0">
                    <a:latin typeface="微软雅黑" panose="020B0503020204020204" pitchFamily="34" charset="-122"/>
                    <a:ea typeface="微软雅黑" panose="020B0503020204020204" pitchFamily="34" charset="-122"/>
                  </a:rPr>
                  <a:t>尽量维持最大速度运行：</a:t>
                </a:r>
                <a:r>
                  <a:rPr lang="en-US" altLang="zh-CN" sz="2400" b="1" dirty="0">
                    <a:ea typeface="微软雅黑" panose="020B0503020204020204" pitchFamily="34" charset="-122"/>
                    <a:sym typeface="Wingdings" panose="05000000000000000000" pitchFamily="2" charset="2"/>
                  </a:rPr>
                  <a:t> </a:t>
                </a:r>
                <a14:m>
                  <m:oMath xmlns:m="http://schemas.openxmlformats.org/officeDocument/2006/math">
                    <m:sSub>
                      <m:sSubPr>
                        <m:ctrlPr>
                          <a:rPr lang="en-US" altLang="zh-CN" sz="24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400" b="1" i="1">
                                <a:latin typeface="Cambria Math" panose="02040503050406030204" pitchFamily="18" charset="0"/>
                                <a:ea typeface="微软雅黑" panose="020B0503020204020204" pitchFamily="34" charset="-122"/>
                              </a:rPr>
                            </m:ctrlPr>
                          </m:accPr>
                          <m:e>
                            <m:r>
                              <a:rPr lang="en-US" altLang="zh-CN" sz="2400" b="1" i="1">
                                <a:latin typeface="Cambria Math" panose="02040503050406030204" pitchFamily="18" charset="0"/>
                                <a:ea typeface="微软雅黑" panose="020B0503020204020204" pitchFamily="34" charset="-122"/>
                              </a:rPr>
                              <m:t>𝒒</m:t>
                            </m:r>
                          </m:e>
                        </m:acc>
                      </m:e>
                      <m:sub>
                        <m:r>
                          <a:rPr lang="en-US" altLang="zh-CN" sz="2400" b="1" i="1">
                            <a:latin typeface="Cambria Math" panose="02040503050406030204" pitchFamily="18" charset="0"/>
                            <a:ea typeface="微软雅黑" panose="020B0503020204020204" pitchFamily="34" charset="-122"/>
                          </a:rPr>
                          <m:t>𝟒</m:t>
                        </m:r>
                      </m:sub>
                    </m:sSub>
                    <m:d>
                      <m:dPr>
                        <m:ctrlPr>
                          <a:rPr lang="en-US" altLang="zh-CN" sz="2400" b="1" i="1">
                            <a:latin typeface="Cambria Math" panose="02040503050406030204" pitchFamily="18" charset="0"/>
                            <a:ea typeface="微软雅黑" panose="020B0503020204020204" pitchFamily="34" charset="-122"/>
                          </a:rPr>
                        </m:ctrlPr>
                      </m:dPr>
                      <m:e>
                        <m:r>
                          <a:rPr lang="en-US" altLang="zh-CN" sz="2400" b="1" i="1">
                            <a:latin typeface="Cambria Math" panose="02040503050406030204" pitchFamily="18" charset="0"/>
                            <a:ea typeface="微软雅黑" panose="020B0503020204020204" pitchFamily="34" charset="-122"/>
                          </a:rPr>
                          <m:t>𝒕</m:t>
                        </m:r>
                      </m:e>
                    </m:d>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𝟎</m:t>
                    </m:r>
                    <m:r>
                      <a:rPr lang="en-US" altLang="zh-CN" sz="2400" b="1" i="1" smtClean="0">
                        <a:latin typeface="Cambria Math" panose="02040503050406030204" pitchFamily="18" charset="0"/>
                        <a:ea typeface="微软雅黑" panose="020B0503020204020204" pitchFamily="34" charset="-122"/>
                      </a:rPr>
                      <m:t>,  </m:t>
                    </m:r>
                    <m:acc>
                      <m:accPr>
                        <m:chr m:val="̇"/>
                        <m:ctrlPr>
                          <a:rPr lang="en-US" altLang="zh-CN" sz="2400" b="1" i="1" smtClean="0">
                            <a:latin typeface="Cambria Math" panose="02040503050406030204" pitchFamily="18" charset="0"/>
                            <a:ea typeface="微软雅黑" panose="020B0503020204020204" pitchFamily="34" charset="-122"/>
                            <a:sym typeface="Wingdings" panose="05000000000000000000" pitchFamily="2" charset="2"/>
                          </a:rPr>
                        </m:ctrlPr>
                      </m:accPr>
                      <m:e>
                        <m:r>
                          <a:rPr lang="en-US" altLang="zh-CN" sz="2400" b="1" i="1" smtClean="0">
                            <a:latin typeface="Cambria Math" panose="02040503050406030204" pitchFamily="18" charset="0"/>
                            <a:ea typeface="微软雅黑" panose="020B0503020204020204" pitchFamily="34" charset="-122"/>
                            <a:sym typeface="Wingdings" panose="05000000000000000000" pitchFamily="2" charset="2"/>
                          </a:rPr>
                          <m:t>𝒒</m:t>
                        </m:r>
                      </m:e>
                    </m:acc>
                    <m:d>
                      <m:dPr>
                        <m:ctrlPr>
                          <a:rPr lang="en-US" altLang="zh-CN" sz="2400" b="1" i="1" dirty="0" smtClean="0">
                            <a:latin typeface="Cambria Math" panose="02040503050406030204" pitchFamily="18" charset="0"/>
                            <a:ea typeface="微软雅黑" panose="020B0503020204020204" pitchFamily="34" charset="-122"/>
                            <a:sym typeface="Wingdings" panose="05000000000000000000" pitchFamily="2" charset="2"/>
                          </a:rPr>
                        </m:ctrlPr>
                      </m:dPr>
                      <m:e>
                        <m:r>
                          <a:rPr lang="en-US" altLang="zh-CN" sz="2400" b="1" i="1" dirty="0" smtClean="0">
                            <a:latin typeface="Cambria Math" panose="02040503050406030204" pitchFamily="18" charset="0"/>
                            <a:ea typeface="微软雅黑" panose="020B0503020204020204" pitchFamily="34" charset="-122"/>
                            <a:sym typeface="Wingdings" panose="05000000000000000000" pitchFamily="2" charset="2"/>
                          </a:rPr>
                          <m:t>𝒕</m:t>
                        </m:r>
                      </m:e>
                    </m:d>
                    <m:r>
                      <a:rPr lang="en-US" altLang="zh-CN" sz="2400" b="1" i="1" dirty="0" smtClean="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𝒗</m:t>
                        </m:r>
                      </m:e>
                      <m:sub>
                        <m:r>
                          <a:rPr lang="en-US" altLang="zh-CN" sz="2400" b="1" i="1">
                            <a:latin typeface="Cambria Math" panose="02040503050406030204" pitchFamily="18" charset="0"/>
                            <a:ea typeface="微软雅黑" panose="020B0503020204020204" pitchFamily="34" charset="-122"/>
                          </a:rPr>
                          <m:t>𝒎𝒂𝒙</m:t>
                        </m:r>
                      </m:sub>
                    </m:sSub>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   </m:t>
                        </m:r>
                        <m:r>
                          <a:rPr lang="en-US" altLang="zh-CN" sz="2400" b="1" i="1">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𝟒</m:t>
                        </m:r>
                        <m:r>
                          <a:rPr lang="en-US" altLang="zh-CN" sz="2400" b="1" i="1">
                            <a:latin typeface="Cambria Math" panose="02040503050406030204" pitchFamily="18" charset="0"/>
                            <a:ea typeface="微软雅黑" panose="020B0503020204020204" pitchFamily="34" charset="-122"/>
                          </a:rPr>
                          <m:t>𝒇</m:t>
                        </m:r>
                      </m:sub>
                    </m:sSub>
                    <m:r>
                      <a:rPr lang="en-US" altLang="zh-CN" sz="2400" b="1" i="1">
                        <a:latin typeface="Cambria Math" panose="02040503050406030204" pitchFamily="18" charset="0"/>
                        <a:ea typeface="微软雅黑" panose="020B0503020204020204" pitchFamily="34" charset="-122"/>
                      </a:rPr>
                      <m:t>=</m:t>
                    </m:r>
                    <m:f>
                      <m:fPr>
                        <m:ctrlPr>
                          <a:rPr lang="en-US" altLang="zh-CN" sz="2400" b="1" i="1">
                            <a:latin typeface="Cambria Math" panose="02040503050406030204" pitchFamily="18" charset="0"/>
                            <a:ea typeface="微软雅黑" panose="020B0503020204020204" pitchFamily="34" charset="-122"/>
                          </a:rPr>
                        </m:ctrlPr>
                      </m:fPr>
                      <m:num>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𝒒</m:t>
                            </m:r>
                          </m:e>
                          <m:sub>
                            <m:r>
                              <a:rPr lang="en-US" altLang="zh-CN" sz="2400" b="1" i="1">
                                <a:latin typeface="Cambria Math" panose="02040503050406030204" pitchFamily="18" charset="0"/>
                                <a:ea typeface="微软雅黑" panose="020B0503020204020204" pitchFamily="34" charset="-122"/>
                              </a:rPr>
                              <m:t>𝒇</m:t>
                            </m:r>
                          </m:sub>
                        </m:sSub>
                        <m:r>
                          <a:rPr lang="en-US" altLang="zh-CN" sz="2400" b="1" i="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𝟐</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𝒒</m:t>
                            </m:r>
                          </m:e>
                          <m:sub>
                            <m:r>
                              <a:rPr lang="en-US" altLang="zh-CN" sz="2400" b="1" i="1" smtClean="0">
                                <a:latin typeface="Cambria Math" panose="02040503050406030204" pitchFamily="18" charset="0"/>
                                <a:ea typeface="微软雅黑" panose="020B0503020204020204" pitchFamily="34" charset="-122"/>
                              </a:rPr>
                              <m:t>𝟏</m:t>
                            </m:r>
                            <m:r>
                              <a:rPr lang="en-US" altLang="zh-CN" sz="2400" b="1" i="1">
                                <a:latin typeface="Cambria Math" panose="02040503050406030204" pitchFamily="18" charset="0"/>
                                <a:ea typeface="微软雅黑" panose="020B0503020204020204" pitchFamily="34" charset="-122"/>
                              </a:rPr>
                              <m:t>𝒇</m:t>
                            </m:r>
                          </m:sub>
                        </m:sSub>
                      </m:num>
                      <m:den>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𝒗</m:t>
                            </m:r>
                          </m:e>
                          <m:sub>
                            <m:r>
                              <a:rPr lang="en-US" altLang="zh-CN" sz="2400" b="1" i="1">
                                <a:latin typeface="Cambria Math" panose="02040503050406030204" pitchFamily="18" charset="0"/>
                                <a:ea typeface="微软雅黑" panose="020B0503020204020204" pitchFamily="34" charset="-122"/>
                              </a:rPr>
                              <m:t>𝒎𝒂𝒙</m:t>
                            </m:r>
                          </m:sub>
                        </m:sSub>
                      </m:den>
                    </m:f>
                  </m:oMath>
                </a14:m>
                <a:endParaRPr lang="en-US" altLang="zh-CN" sz="2400" b="1" i="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6438D73B-7232-4207-A13F-168356C4AF44}"/>
                  </a:ext>
                </a:extLst>
              </p:cNvPr>
              <p:cNvSpPr txBox="1">
                <a:spLocks noRot="1" noChangeAspect="1" noMove="1" noResize="1" noEditPoints="1" noAdjustHandles="1" noChangeArrowheads="1" noChangeShapeType="1" noTextEdit="1"/>
              </p:cNvSpPr>
              <p:nvPr/>
            </p:nvSpPr>
            <p:spPr>
              <a:xfrm>
                <a:off x="161565" y="669372"/>
                <a:ext cx="12130012" cy="5837688"/>
              </a:xfrm>
              <a:prstGeom prst="rect">
                <a:avLst/>
              </a:prstGeom>
              <a:blipFill>
                <a:blip r:embed="rId2"/>
                <a:stretch>
                  <a:fillRect l="-80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9B1D616-2430-4645-801E-598BFAA956BA}"/>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基于分段函数的轨迹规划：最小时间规划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370230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49141D6-C92B-42C1-8041-9FF333CBB610}"/>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25</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438D73B-7232-4207-A13F-168356C4AF44}"/>
                  </a:ext>
                </a:extLst>
              </p:cNvPr>
              <p:cNvSpPr txBox="1"/>
              <p:nvPr/>
            </p:nvSpPr>
            <p:spPr>
              <a:xfrm>
                <a:off x="161565" y="653874"/>
                <a:ext cx="12130012" cy="4914102"/>
              </a:xfrm>
              <a:prstGeom prst="rect">
                <a:avLst/>
              </a:prstGeom>
              <a:noFill/>
            </p:spPr>
            <p:txBody>
              <a:bodyPr wrap="square" rtlCol="0">
                <a:spAutoFit/>
              </a:bodyPr>
              <a:lstStyle/>
              <a:p>
                <a:pPr marL="342900" lvl="1" indent="-342900">
                  <a:lnSpc>
                    <a:spcPct val="160000"/>
                  </a:lnSpc>
                  <a:buFont typeface="Wingdings" panose="05000000000000000000" pitchFamily="2" charset="2"/>
                  <a:buChar char="n"/>
                </a:pPr>
                <a:r>
                  <a:rPr lang="en-US" altLang="zh-CN" sz="2600" b="1" i="0" dirty="0">
                    <a:latin typeface="微软雅黑" panose="020B0503020204020204" pitchFamily="34" charset="-122"/>
                    <a:ea typeface="微软雅黑" panose="020B0503020204020204" pitchFamily="34" charset="-122"/>
                    <a:sym typeface="Wingdings" panose="05000000000000000000" pitchFamily="2" charset="2"/>
                  </a:rPr>
                  <a:t>7</a:t>
                </a:r>
                <a:r>
                  <a:rPr lang="zh-CN" altLang="en-US" sz="2600" b="1" i="0" dirty="0">
                    <a:latin typeface="微软雅黑" panose="020B0503020204020204" pitchFamily="34" charset="-122"/>
                    <a:ea typeface="微软雅黑" panose="020B0503020204020204" pitchFamily="34" charset="-122"/>
                    <a:sym typeface="Wingdings" panose="05000000000000000000" pitchFamily="2" charset="2"/>
                  </a:rPr>
                  <a:t>段轨迹规划：加速度规划</a:t>
                </a:r>
                <a:endParaRPr lang="en-US" altLang="zh-CN" sz="2600" b="1" i="0" dirty="0">
                  <a:latin typeface="微软雅黑" panose="020B0503020204020204" pitchFamily="34" charset="-122"/>
                  <a:ea typeface="微软雅黑" panose="020B0503020204020204" pitchFamily="34" charset="-122"/>
                </a:endParaRPr>
              </a:p>
              <a:p>
                <a:pPr marL="355600" lvl="2" indent="-355600">
                  <a:lnSpc>
                    <a:spcPct val="160000"/>
                  </a:lnSpc>
                  <a:buFont typeface="Wingdings" panose="05000000000000000000" pitchFamily="2" charset="2"/>
                  <a:buChar char="p"/>
                </a:pPr>
                <a:r>
                  <a:rPr lang="zh-CN" altLang="en-US" sz="2400" b="1" i="0" dirty="0">
                    <a:solidFill>
                      <a:schemeClr val="accent1"/>
                    </a:solidFill>
                    <a:latin typeface="微软雅黑" panose="020B0503020204020204" pitchFamily="34" charset="-122"/>
                    <a:ea typeface="微软雅黑" panose="020B0503020204020204" pitchFamily="34" charset="-122"/>
                  </a:rPr>
                  <a:t>减速过程：</a:t>
                </a:r>
                <a:r>
                  <a:rPr lang="zh-CN" altLang="en-US" sz="2400" b="1" i="0" dirty="0">
                    <a:latin typeface="微软雅黑" panose="020B0503020204020204" pitchFamily="34" charset="-122"/>
                    <a:ea typeface="微软雅黑" panose="020B0503020204020204" pitchFamily="34" charset="-122"/>
                  </a:rPr>
                  <a:t>加速度连续</a:t>
                </a:r>
                <a:endParaRPr lang="en-US" altLang="zh-CN" sz="2400" b="1" i="0" dirty="0">
                  <a:latin typeface="微软雅黑" panose="020B0503020204020204" pitchFamily="34" charset="-122"/>
                  <a:ea typeface="微软雅黑" panose="020B0503020204020204" pitchFamily="34" charset="-122"/>
                </a:endParaRPr>
              </a:p>
              <a:p>
                <a:pPr marL="914400" lvl="3" indent="-736600">
                  <a:lnSpc>
                    <a:spcPct val="160000"/>
                  </a:lnSpc>
                </a:pPr>
                <a:r>
                  <a:rPr lang="en-US" altLang="zh-CN" sz="2000" b="1" i="0" dirty="0">
                    <a:latin typeface="微软雅黑" panose="020B0503020204020204" pitchFamily="34" charset="-122"/>
                    <a:ea typeface="微软雅黑" panose="020B0503020204020204" pitchFamily="34" charset="-122"/>
                  </a:rPr>
                  <a:t>5</a:t>
                </a:r>
                <a:r>
                  <a:rPr lang="zh-CN" altLang="en-US" sz="2000" b="1" i="0" dirty="0">
                    <a:latin typeface="微软雅黑" panose="020B0503020204020204" pitchFamily="34" charset="-122"/>
                    <a:ea typeface="微软雅黑" panose="020B0503020204020204" pitchFamily="34" charset="-122"/>
                  </a:rPr>
                  <a:t>）</a:t>
                </a:r>
                <a:r>
                  <a:rPr lang="zh-CN" altLang="en-US" sz="2200" b="1" i="0" dirty="0">
                    <a:latin typeface="微软雅黑" panose="020B0503020204020204" pitchFamily="34" charset="-122"/>
                    <a:ea typeface="微软雅黑" panose="020B0503020204020204" pitchFamily="34" charset="-122"/>
                  </a:rPr>
                  <a:t>以最大性能加速到</a:t>
                </a:r>
                <a:r>
                  <a:rPr lang="zh-CN" altLang="en-US" sz="2200" b="1" dirty="0">
                    <a:latin typeface="微软雅黑" panose="020B0503020204020204" pitchFamily="34" charset="-122"/>
                    <a:ea typeface="微软雅黑" panose="020B0503020204020204" pitchFamily="34" charset="-122"/>
                  </a:rPr>
                  <a:t>“负向”</a:t>
                </a:r>
                <a:r>
                  <a:rPr lang="zh-CN" altLang="en-US" sz="2200" b="1" i="0" dirty="0">
                    <a:latin typeface="微软雅黑" panose="020B0503020204020204" pitchFamily="34" charset="-122"/>
                    <a:ea typeface="微软雅黑" panose="020B0503020204020204" pitchFamily="34" charset="-122"/>
                  </a:rPr>
                  <a:t>最大加速度，设计：</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a:latin typeface="Cambria Math" panose="02040503050406030204" pitchFamily="18" charset="0"/>
                            <a:ea typeface="微软雅黑" panose="020B0503020204020204" pitchFamily="34" charset="-122"/>
                          </a:rPr>
                          <m:t>𝟓</m:t>
                        </m:r>
                      </m:sub>
                    </m:sSub>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𝟓𝟎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𝟓𝟏</m:t>
                        </m:r>
                      </m:sub>
                    </m:sSub>
                    <m:r>
                      <a:rPr lang="en-US" altLang="zh-CN" sz="2200" b="1" i="1" smtClean="0">
                        <a:latin typeface="Cambria Math" panose="02040503050406030204" pitchFamily="18" charset="0"/>
                        <a:ea typeface="微软雅黑" panose="020B0503020204020204" pitchFamily="34" charset="-122"/>
                      </a:rPr>
                      <m:t>𝒕</m:t>
                    </m:r>
                    <m:r>
                      <a:rPr lang="en-US" altLang="zh-CN" sz="2200" b="1" i="0" smtClean="0">
                        <a:latin typeface="Cambria Math" panose="02040503050406030204" pitchFamily="18" charset="0"/>
                        <a:ea typeface="微软雅黑" panose="020B0503020204020204" pitchFamily="34" charset="-122"/>
                      </a:rPr>
                      <m:t>  </m:t>
                    </m:r>
                  </m:oMath>
                </a14:m>
                <a:endParaRPr lang="en-US" altLang="zh-CN" sz="2200" b="1" i="0" dirty="0">
                  <a:latin typeface="Cambria Math" panose="02040503050406030204" pitchFamily="18" charset="0"/>
                  <a:ea typeface="微软雅黑" panose="020B0503020204020204" pitchFamily="34" charset="-122"/>
                </a:endParaRPr>
              </a:p>
              <a:p>
                <a:pPr marL="914400" lvl="3" indent="-736600">
                  <a:lnSpc>
                    <a:spcPct val="160000"/>
                  </a:lnSpc>
                </a:pPr>
                <a:r>
                  <a:rPr lang="zh-CN" altLang="en-US" sz="2000" b="1" dirty="0">
                    <a:ea typeface="微软雅黑" panose="020B0503020204020204" pitchFamily="34" charset="-122"/>
                  </a:rPr>
                  <a:t>     </a:t>
                </a:r>
                <a:r>
                  <a:rPr lang="zh-CN" altLang="en-US" sz="2200" b="1" dirty="0">
                    <a:ea typeface="微软雅黑" panose="020B0503020204020204" pitchFamily="34" charset="-122"/>
                  </a:rPr>
                  <a:t>求两个参数：</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a:latin typeface="Cambria Math" panose="02040503050406030204" pitchFamily="18" charset="0"/>
                            <a:ea typeface="微软雅黑" panose="020B0503020204020204" pitchFamily="34" charset="-122"/>
                          </a:rPr>
                          <m:t>𝟓</m:t>
                        </m:r>
                        <m:r>
                          <a:rPr lang="en-US" altLang="zh-CN" sz="2200" b="1" i="1" smtClean="0">
                            <a:latin typeface="Cambria Math" panose="02040503050406030204" pitchFamily="18" charset="0"/>
                            <a:ea typeface="微软雅黑" panose="020B0503020204020204" pitchFamily="34" charset="-122"/>
                          </a:rPr>
                          <m:t>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𝟓𝟎</m:t>
                        </m:r>
                      </m:sub>
                    </m:sSub>
                    <m:r>
                      <a:rPr lang="en-US" altLang="zh-CN" sz="2200" b="1" i="1" smtClean="0">
                        <a:latin typeface="Cambria Math" panose="02040503050406030204" pitchFamily="18" charset="0"/>
                        <a:ea typeface="微软雅黑" panose="020B0503020204020204" pitchFamily="34" charset="-122"/>
                      </a:rPr>
                      <m:t>=</m:t>
                    </m:r>
                    <m:r>
                      <a:rPr lang="en-US" altLang="zh-CN" sz="2200" b="1" i="1" smtClean="0">
                        <a:latin typeface="Cambria Math" panose="02040503050406030204" pitchFamily="18" charset="0"/>
                        <a:ea typeface="微软雅黑" panose="020B0503020204020204" pitchFamily="34" charset="-122"/>
                      </a:rPr>
                      <m:t>𝟎</m:t>
                    </m:r>
                    <m:r>
                      <a:rPr lang="en-US" altLang="zh-CN" sz="2200" b="1" i="0" dirty="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0" dirty="0" smtClean="0">
                        <a:latin typeface="Cambria Math" panose="02040503050406030204" pitchFamily="18" charset="0"/>
                        <a:ea typeface="微软雅黑" panose="020B0503020204020204" pitchFamily="34" charset="-122"/>
                        <a:sym typeface="Wingdings" panose="05000000000000000000" pitchFamily="2" charset="2"/>
                      </a:rPr>
                      <m:t>       </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𝟓</m:t>
                        </m:r>
                        <m:r>
                          <a:rPr lang="en-US" altLang="zh-CN" sz="2200" b="1" i="1" smtClean="0">
                            <a:latin typeface="Cambria Math" panose="02040503050406030204" pitchFamily="18" charset="0"/>
                            <a:ea typeface="微软雅黑" panose="020B0503020204020204" pitchFamily="34" charset="-122"/>
                          </a:rPr>
                          <m:t>𝟏</m:t>
                        </m:r>
                      </m:sub>
                    </m:sSub>
                    <m:r>
                      <a:rPr lang="en-US" altLang="zh-CN" sz="2200" b="1">
                        <a:latin typeface="Cambria Math" panose="02040503050406030204" pitchFamily="18" charset="0"/>
                        <a:ea typeface="微软雅黑" panose="020B0503020204020204" pitchFamily="34" charset="-122"/>
                      </a:rPr>
                      <m:t>=</m:t>
                    </m:r>
                    <m:r>
                      <a:rPr lang="en-US" altLang="zh-CN" sz="2200" b="1" i="0"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𝒋</m:t>
                        </m:r>
                      </m:e>
                      <m:sub>
                        <m:r>
                          <a:rPr lang="en-US" altLang="zh-CN" sz="2200" b="1" i="1">
                            <a:latin typeface="Cambria Math" panose="02040503050406030204" pitchFamily="18" charset="0"/>
                            <a:ea typeface="微软雅黑" panose="020B0503020204020204" pitchFamily="34" charset="-122"/>
                          </a:rPr>
                          <m:t>𝒎𝒂𝒙</m:t>
                        </m:r>
                      </m:sub>
                    </m:sSub>
                    <m:r>
                      <a:rPr lang="en-US" altLang="zh-CN" sz="2200" b="1" i="1" smtClean="0">
                        <a:latin typeface="Cambria Math" panose="02040503050406030204" pitchFamily="18" charset="0"/>
                        <a:ea typeface="微软雅黑" panose="020B0503020204020204" pitchFamily="34" charset="-122"/>
                      </a:rPr>
                      <m:t>,</m:t>
                    </m:r>
                  </m:oMath>
                </a14:m>
                <a:r>
                  <a:rPr lang="en-US" altLang="zh-CN" sz="2200" b="1" i="0" dirty="0">
                    <a:latin typeface="微软雅黑" panose="020B0503020204020204" pitchFamily="34" charset="-122"/>
                    <a:ea typeface="微软雅黑" panose="020B0503020204020204" pitchFamily="34" charset="-122"/>
                  </a:rPr>
                  <a:t>   </a:t>
                </a:r>
                <a:r>
                  <a:rPr lang="zh-CN" altLang="en-US" sz="2200" b="1" i="0" dirty="0">
                    <a:latin typeface="微软雅黑" panose="020B0503020204020204" pitchFamily="34" charset="-122"/>
                    <a:ea typeface="微软雅黑" panose="020B0503020204020204" pitchFamily="34" charset="-122"/>
                  </a:rPr>
                  <a:t>求</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𝟓</m:t>
                        </m:r>
                        <m:r>
                          <a:rPr lang="en-US" altLang="zh-CN" sz="2200" b="1" i="1">
                            <a:latin typeface="Cambria Math" panose="02040503050406030204" pitchFamily="18" charset="0"/>
                            <a:ea typeface="微软雅黑" panose="020B0503020204020204" pitchFamily="34" charset="-122"/>
                          </a:rPr>
                          <m:t>𝒇</m:t>
                        </m:r>
                      </m:sub>
                    </m:sSub>
                    <m:r>
                      <a:rPr lang="en-US" altLang="zh-CN" sz="2200" b="1" i="1">
                        <a:latin typeface="Cambria Math" panose="02040503050406030204" pitchFamily="18" charset="0"/>
                        <a:ea typeface="微软雅黑" panose="020B0503020204020204" pitchFamily="34" charset="-122"/>
                      </a:rPr>
                      <m:t> </m:t>
                    </m:r>
                  </m:oMath>
                </a14:m>
                <a:r>
                  <a:rPr lang="zh-CN" altLang="en-US" sz="2200" b="1" i="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acc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𝒒</m:t>
                            </m:r>
                          </m:e>
                        </m:acc>
                      </m:e>
                      <m:sub>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𝟓</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𝒇</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𝟓𝟎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𝟓𝟏</m:t>
                        </m:r>
                      </m:sub>
                    </m:sSub>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𝟓</m:t>
                        </m:r>
                        <m:r>
                          <a:rPr lang="en-US" altLang="zh-CN" sz="2200" b="1" i="1" smtClean="0">
                            <a:latin typeface="Cambria Math" panose="02040503050406030204" pitchFamily="18" charset="0"/>
                            <a:ea typeface="微软雅黑" panose="020B0503020204020204" pitchFamily="34" charset="-122"/>
                          </a:rPr>
                          <m:t>𝒇</m:t>
                        </m:r>
                      </m:sub>
                    </m:sSub>
                    <m:r>
                      <a:rPr lang="en-US" altLang="zh-CN" sz="2200" b="1" i="0"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𝒎𝒂𝒙</m:t>
                        </m:r>
                      </m:sub>
                    </m:sSub>
                  </m:oMath>
                </a14:m>
                <a:endParaRPr lang="en-US" altLang="zh-CN" sz="2200" b="1" i="0" dirty="0">
                  <a:latin typeface="微软雅黑" panose="020B0503020204020204" pitchFamily="34" charset="-122"/>
                  <a:ea typeface="微软雅黑" panose="020B0503020204020204" pitchFamily="34" charset="-122"/>
                </a:endParaRPr>
              </a:p>
              <a:p>
                <a:pPr marL="914400" lvl="3" indent="-736600">
                  <a:lnSpc>
                    <a:spcPct val="160000"/>
                  </a:lnSpc>
                </a:pPr>
                <a:r>
                  <a:rPr lang="en-US" altLang="zh-CN" sz="2200" b="1" i="0" dirty="0">
                    <a:latin typeface="微软雅黑" panose="020B0503020204020204" pitchFamily="34" charset="-122"/>
                    <a:ea typeface="微软雅黑" panose="020B0503020204020204" pitchFamily="34" charset="-122"/>
                  </a:rPr>
                  <a:t>6</a:t>
                </a:r>
                <a:r>
                  <a:rPr lang="zh-CN" altLang="en-US" sz="2200" b="1" i="0" dirty="0">
                    <a:latin typeface="微软雅黑" panose="020B0503020204020204" pitchFamily="34" charset="-122"/>
                    <a:ea typeface="微软雅黑" panose="020B0503020204020204" pitchFamily="34" charset="-122"/>
                  </a:rPr>
                  <a:t>）尽可能维持</a:t>
                </a:r>
                <a:r>
                  <a:rPr lang="en-US" altLang="zh-CN" sz="2200" b="1" i="0" dirty="0">
                    <a:latin typeface="微软雅黑" panose="020B0503020204020204" pitchFamily="34" charset="-122"/>
                    <a:ea typeface="微软雅黑" panose="020B0503020204020204" pitchFamily="34" charset="-122"/>
                  </a:rPr>
                  <a:t>”</a:t>
                </a:r>
                <a:r>
                  <a:rPr lang="zh-CN" altLang="en-US" sz="2200" b="1" i="0" dirty="0">
                    <a:latin typeface="微软雅黑" panose="020B0503020204020204" pitchFamily="34" charset="-122"/>
                    <a:ea typeface="微软雅黑" panose="020B0503020204020204" pitchFamily="34" charset="-122"/>
                  </a:rPr>
                  <a:t>负向</a:t>
                </a:r>
                <a:r>
                  <a:rPr lang="en-US" altLang="zh-CN" sz="2200" b="1" i="0" dirty="0">
                    <a:latin typeface="微软雅黑" panose="020B0503020204020204" pitchFamily="34" charset="-122"/>
                    <a:ea typeface="微软雅黑" panose="020B0503020204020204" pitchFamily="34" charset="-122"/>
                  </a:rPr>
                  <a:t>”</a:t>
                </a:r>
                <a:r>
                  <a:rPr lang="zh-CN" altLang="en-US" sz="2200" b="1" i="0" dirty="0">
                    <a:latin typeface="微软雅黑" panose="020B0503020204020204" pitchFamily="34" charset="-122"/>
                    <a:ea typeface="微软雅黑" panose="020B0503020204020204" pitchFamily="34" charset="-122"/>
                  </a:rPr>
                  <a:t>最大加速度，设计：</a:t>
                </a:r>
                <a:r>
                  <a:rPr lang="en-US" altLang="zh-CN" sz="2200" b="1" dirty="0">
                    <a:ea typeface="微软雅黑" panose="020B0503020204020204" pitchFamily="34" charset="-122"/>
                    <a:sym typeface="Wingdings" panose="05000000000000000000" pitchFamily="2" charset="2"/>
                  </a:rPr>
                  <a:t> </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𝟔</m:t>
                        </m:r>
                      </m:sub>
                    </m:sSub>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𝟔</m:t>
                        </m:r>
                        <m:r>
                          <a:rPr lang="en-US" altLang="zh-CN" sz="2200" b="1" i="1">
                            <a:latin typeface="Cambria Math" panose="02040503050406030204" pitchFamily="18" charset="0"/>
                            <a:ea typeface="微软雅黑" panose="020B0503020204020204" pitchFamily="34" charset="-122"/>
                          </a:rPr>
                          <m:t>𝟎</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𝒎𝒂𝒙</m:t>
                        </m:r>
                      </m:sub>
                    </m:sSub>
                  </m:oMath>
                </a14:m>
                <a:endParaRPr lang="en-US" altLang="zh-CN" sz="2200" b="1" i="0" dirty="0">
                  <a:latin typeface="微软雅黑" panose="020B0503020204020204" pitchFamily="34" charset="-122"/>
                  <a:ea typeface="微软雅黑" panose="020B0503020204020204" pitchFamily="34" charset="-122"/>
                </a:endParaRPr>
              </a:p>
              <a:p>
                <a:pPr marL="914400" lvl="3" indent="-736600">
                  <a:lnSpc>
                    <a:spcPct val="160000"/>
                  </a:lnSpc>
                </a:pPr>
                <a:r>
                  <a:rPr lang="en-US" altLang="zh-CN" sz="2200" b="1" dirty="0">
                    <a:ea typeface="微软雅黑" panose="020B0503020204020204" pitchFamily="34" charset="-122"/>
                  </a:rPr>
                  <a:t>      </a:t>
                </a:r>
                <a:r>
                  <a:rPr lang="zh-CN" altLang="en-US" sz="2200" b="1" dirty="0">
                    <a:ea typeface="微软雅黑" panose="020B0503020204020204" pitchFamily="34" charset="-122"/>
                  </a:rPr>
                  <a:t>求</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𝟔</m:t>
                        </m:r>
                        <m:r>
                          <a:rPr lang="en-US" altLang="zh-CN" sz="2200" b="1" i="1">
                            <a:latin typeface="Cambria Math" panose="02040503050406030204" pitchFamily="18" charset="0"/>
                            <a:ea typeface="微软雅黑" panose="020B0503020204020204" pitchFamily="34" charset="-122"/>
                          </a:rPr>
                          <m:t>𝒇</m:t>
                        </m:r>
                      </m:sub>
                    </m:sSub>
                  </m:oMath>
                </a14:m>
                <a:r>
                  <a:rPr lang="zh-CN" altLang="en-US" sz="2200" b="1" dirty="0">
                    <a:ea typeface="微软雅黑" panose="020B0503020204020204" pitchFamily="34" charset="-122"/>
                  </a:rPr>
                  <a:t>： </a:t>
                </a:r>
                <a14:m>
                  <m:oMath xmlns:m="http://schemas.openxmlformats.org/officeDocument/2006/math">
                    <m:sSub>
                      <m:sSubPr>
                        <m:ctrlPr>
                          <a:rPr lang="en-US" altLang="zh-CN" sz="2200" b="1" i="1" smtClean="0">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𝒗</m:t>
                        </m:r>
                      </m:e>
                      <m:sub>
                        <m:r>
                          <a:rPr lang="en-US" altLang="zh-CN" sz="2200" b="1" i="1" smtClean="0">
                            <a:latin typeface="Cambria Math" panose="02040503050406030204" pitchFamily="18" charset="0"/>
                            <a:ea typeface="微软雅黑" panose="020B0503020204020204" pitchFamily="34" charset="-122"/>
                          </a:rPr>
                          <m:t>𝒎𝒂𝒙</m:t>
                        </m:r>
                      </m:sub>
                    </m:sSub>
                    <m:r>
                      <a:rPr lang="en-US" altLang="zh-CN" sz="2200" b="1" i="1" smtClean="0">
                        <a:latin typeface="Cambria Math" panose="02040503050406030204" pitchFamily="18" charset="0"/>
                        <a:ea typeface="微软雅黑" panose="020B0503020204020204" pitchFamily="34" charset="-122"/>
                      </a:rPr>
                      <m:t>−</m:t>
                    </m:r>
                    <m:f>
                      <m:fPr>
                        <m:ctrlPr>
                          <a:rPr lang="en-US" altLang="zh-CN" sz="2200" b="1" i="1" smtClean="0">
                            <a:latin typeface="Cambria Math" panose="02040503050406030204" pitchFamily="18" charset="0"/>
                            <a:ea typeface="微软雅黑" panose="020B0503020204020204" pitchFamily="34" charset="-122"/>
                          </a:rPr>
                        </m:ctrlPr>
                      </m:fPr>
                      <m:num>
                        <m:r>
                          <a:rPr lang="en-US" altLang="zh-CN" sz="2200" b="1" i="1" smtClean="0">
                            <a:latin typeface="Cambria Math" panose="02040503050406030204" pitchFamily="18" charset="0"/>
                            <a:ea typeface="微软雅黑" panose="020B0503020204020204" pitchFamily="34" charset="-122"/>
                          </a:rPr>
                          <m:t>𝟏</m:t>
                        </m:r>
                      </m:num>
                      <m:den>
                        <m:r>
                          <a:rPr lang="en-US" altLang="zh-CN" sz="2200" b="1" i="1" smtClean="0">
                            <a:latin typeface="Cambria Math" panose="02040503050406030204" pitchFamily="18" charset="0"/>
                            <a:ea typeface="微软雅黑" panose="020B0503020204020204" pitchFamily="34" charset="-122"/>
                          </a:rPr>
                          <m:t>𝟐</m:t>
                        </m:r>
                      </m:den>
                    </m:f>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𝒋</m:t>
                        </m:r>
                      </m:e>
                      <m:sub>
                        <m:r>
                          <a:rPr lang="en-US" altLang="zh-CN" sz="2200" b="1" i="1">
                            <a:latin typeface="Cambria Math" panose="02040503050406030204" pitchFamily="18" charset="0"/>
                            <a:ea typeface="微软雅黑" panose="020B0503020204020204" pitchFamily="34" charset="-122"/>
                          </a:rPr>
                          <m:t>𝒎𝒂𝒙</m:t>
                        </m:r>
                      </m:sub>
                    </m:sSub>
                    <m:sSubSup>
                      <m:sSubSupPr>
                        <m:ctrlPr>
                          <a:rPr lang="en-US" altLang="zh-CN" sz="2200" b="1" i="1" smtClean="0">
                            <a:latin typeface="Cambria Math" panose="02040503050406030204" pitchFamily="18" charset="0"/>
                            <a:ea typeface="微软雅黑" panose="020B0503020204020204" pitchFamily="34" charset="-122"/>
                          </a:rPr>
                        </m:ctrlPr>
                      </m:sSubSupPr>
                      <m:e>
                        <m:r>
                          <a:rPr lang="en-US" altLang="zh-CN" sz="2200" b="1" i="1" smtClean="0">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𝟓</m:t>
                        </m:r>
                        <m:r>
                          <a:rPr lang="en-US" altLang="zh-CN" sz="2200" b="1" i="1" smtClean="0">
                            <a:latin typeface="Cambria Math" panose="02040503050406030204" pitchFamily="18" charset="0"/>
                            <a:ea typeface="微软雅黑" panose="020B0503020204020204" pitchFamily="34" charset="-122"/>
                          </a:rPr>
                          <m:t>𝒇</m:t>
                        </m:r>
                      </m:sub>
                      <m:sup>
                        <m:r>
                          <a:rPr lang="en-US" altLang="zh-CN" sz="2200" b="1" i="1" smtClean="0">
                            <a:latin typeface="Cambria Math" panose="02040503050406030204" pitchFamily="18" charset="0"/>
                            <a:ea typeface="微软雅黑" panose="020B0503020204020204" pitchFamily="34" charset="-122"/>
                          </a:rPr>
                          <m:t>𝟐</m:t>
                        </m:r>
                      </m:sup>
                    </m:sSubSup>
                    <m:r>
                      <a:rPr lang="en-US" altLang="zh-CN" sz="2200" b="1" i="0" smtClean="0">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𝒎𝒂𝒙</m:t>
                        </m:r>
                      </m:sub>
                    </m:sSub>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smtClean="0">
                            <a:latin typeface="Cambria Math" panose="02040503050406030204" pitchFamily="18" charset="0"/>
                            <a:ea typeface="微软雅黑" panose="020B0503020204020204" pitchFamily="34" charset="-122"/>
                          </a:rPr>
                          <m:t>𝒕</m:t>
                        </m:r>
                      </m:e>
                      <m:sub>
                        <m:r>
                          <a:rPr lang="en-US" altLang="zh-CN" sz="2200" b="1" i="1">
                            <a:latin typeface="Cambria Math" panose="02040503050406030204" pitchFamily="18" charset="0"/>
                            <a:ea typeface="微软雅黑" panose="020B0503020204020204" pitchFamily="34" charset="-122"/>
                          </a:rPr>
                          <m:t>𝟓</m:t>
                        </m:r>
                        <m:r>
                          <a:rPr lang="en-US" altLang="zh-CN" sz="2200" b="1" i="1" smtClean="0">
                            <a:latin typeface="Cambria Math" panose="02040503050406030204" pitchFamily="18" charset="0"/>
                            <a:ea typeface="微软雅黑" panose="020B0503020204020204" pitchFamily="34" charset="-122"/>
                          </a:rPr>
                          <m:t>𝒇</m:t>
                        </m:r>
                      </m:sub>
                    </m:sSub>
                    <m:r>
                      <a:rPr lang="en-US" altLang="zh-CN" sz="2200" b="1" i="1" smtClean="0">
                        <a:latin typeface="Cambria Math" panose="02040503050406030204" pitchFamily="18" charset="0"/>
                        <a:ea typeface="微软雅黑" panose="020B0503020204020204" pitchFamily="34" charset="-122"/>
                      </a:rPr>
                      <m:t>−</m:t>
                    </m:r>
                    <m:f>
                      <m:fPr>
                        <m:ctrlPr>
                          <a:rPr lang="en-US" altLang="zh-CN" sz="2200" b="1" i="1">
                            <a:latin typeface="Cambria Math" panose="02040503050406030204" pitchFamily="18" charset="0"/>
                            <a:ea typeface="微软雅黑" panose="020B0503020204020204" pitchFamily="34" charset="-122"/>
                          </a:rPr>
                        </m:ctrlPr>
                      </m:fPr>
                      <m:num>
                        <m:r>
                          <a:rPr lang="en-US" altLang="zh-CN" sz="2200" b="1" i="1">
                            <a:latin typeface="Cambria Math" panose="02040503050406030204" pitchFamily="18" charset="0"/>
                            <a:ea typeface="微软雅黑" panose="020B0503020204020204" pitchFamily="34" charset="-122"/>
                          </a:rPr>
                          <m:t>𝟏</m:t>
                        </m:r>
                      </m:num>
                      <m:den>
                        <m:r>
                          <a:rPr lang="en-US" altLang="zh-CN" sz="2200" b="1" i="1">
                            <a:latin typeface="Cambria Math" panose="02040503050406030204" pitchFamily="18" charset="0"/>
                            <a:ea typeface="微软雅黑" panose="020B0503020204020204" pitchFamily="34" charset="-122"/>
                          </a:rPr>
                          <m:t>𝟐</m:t>
                        </m:r>
                      </m:den>
                    </m:f>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𝒋</m:t>
                        </m:r>
                      </m:e>
                      <m:sub>
                        <m:r>
                          <a:rPr lang="en-US" altLang="zh-CN" sz="2200" b="1" i="1">
                            <a:latin typeface="Cambria Math" panose="02040503050406030204" pitchFamily="18" charset="0"/>
                            <a:ea typeface="微软雅黑" panose="020B0503020204020204" pitchFamily="34" charset="-122"/>
                          </a:rPr>
                          <m:t>𝒎𝒂𝒙</m:t>
                        </m:r>
                      </m:sub>
                    </m:sSub>
                    <m:sSubSup>
                      <m:sSubSupPr>
                        <m:ctrlPr>
                          <a:rPr lang="en-US" altLang="zh-CN" sz="2200" b="1" i="1">
                            <a:latin typeface="Cambria Math" panose="02040503050406030204" pitchFamily="18" charset="0"/>
                            <a:ea typeface="微软雅黑" panose="020B0503020204020204" pitchFamily="34" charset="-122"/>
                          </a:rPr>
                        </m:ctrlPr>
                      </m:sSubSupPr>
                      <m:e>
                        <m:r>
                          <a:rPr lang="en-US" altLang="zh-CN" sz="2200" b="1" i="1">
                            <a:latin typeface="Cambria Math" panose="02040503050406030204" pitchFamily="18" charset="0"/>
                            <a:ea typeface="微软雅黑" panose="020B0503020204020204" pitchFamily="34" charset="-122"/>
                          </a:rPr>
                          <m:t>𝒕</m:t>
                        </m:r>
                      </m:e>
                      <m:sub>
                        <m:r>
                          <a:rPr lang="en-US" altLang="zh-CN" sz="2200" b="1" i="1" smtClean="0">
                            <a:latin typeface="Cambria Math" panose="02040503050406030204" pitchFamily="18" charset="0"/>
                            <a:ea typeface="微软雅黑" panose="020B0503020204020204" pitchFamily="34" charset="-122"/>
                          </a:rPr>
                          <m:t>𝟔</m:t>
                        </m:r>
                        <m:r>
                          <a:rPr lang="en-US" altLang="zh-CN" sz="2200" b="1" i="1">
                            <a:latin typeface="Cambria Math" panose="02040503050406030204" pitchFamily="18" charset="0"/>
                            <a:ea typeface="微软雅黑" panose="020B0503020204020204" pitchFamily="34" charset="-122"/>
                          </a:rPr>
                          <m:t>𝒇</m:t>
                        </m:r>
                      </m:sub>
                      <m:sup>
                        <m:r>
                          <a:rPr lang="en-US" altLang="zh-CN" sz="2200" b="1" i="1">
                            <a:latin typeface="Cambria Math" panose="02040503050406030204" pitchFamily="18" charset="0"/>
                            <a:ea typeface="微软雅黑" panose="020B0503020204020204" pitchFamily="34" charset="-122"/>
                          </a:rPr>
                          <m:t>𝟐</m:t>
                        </m:r>
                      </m:sup>
                    </m:sSubSup>
                    <m:r>
                      <a:rPr lang="en-US" altLang="zh-CN" sz="2200" b="1" i="1" smtClean="0">
                        <a:latin typeface="Cambria Math" panose="02040503050406030204" pitchFamily="18" charset="0"/>
                        <a:ea typeface="微软雅黑" panose="020B0503020204020204" pitchFamily="34" charset="-122"/>
                      </a:rPr>
                      <m:t>=</m:t>
                    </m:r>
                    <m:r>
                      <a:rPr lang="en-US" altLang="zh-CN" sz="2200" b="1" i="1" smtClean="0">
                        <a:latin typeface="Cambria Math" panose="02040503050406030204" pitchFamily="18" charset="0"/>
                        <a:ea typeface="微软雅黑" panose="020B0503020204020204" pitchFamily="34" charset="-122"/>
                      </a:rPr>
                      <m:t>𝟎</m:t>
                    </m:r>
                  </m:oMath>
                </a14:m>
                <a:endParaRPr lang="en-US" altLang="zh-CN" sz="2200" b="1" i="0" dirty="0">
                  <a:latin typeface="微软雅黑" panose="020B0503020204020204" pitchFamily="34" charset="-122"/>
                  <a:ea typeface="微软雅黑" panose="020B0503020204020204" pitchFamily="34" charset="-122"/>
                </a:endParaRPr>
              </a:p>
              <a:p>
                <a:pPr marL="914400" lvl="3" indent="-736600">
                  <a:lnSpc>
                    <a:spcPct val="160000"/>
                  </a:lnSpc>
                </a:pPr>
                <a:r>
                  <a:rPr lang="en-US" altLang="zh-CN" sz="2200" b="1" i="0" dirty="0">
                    <a:latin typeface="微软雅黑" panose="020B0503020204020204" pitchFamily="34" charset="-122"/>
                    <a:ea typeface="微软雅黑" panose="020B0503020204020204" pitchFamily="34" charset="-122"/>
                  </a:rPr>
                  <a:t>7</a:t>
                </a:r>
                <a:r>
                  <a:rPr lang="zh-CN" altLang="en-US" sz="2200" b="1" i="0" dirty="0">
                    <a:latin typeface="微软雅黑" panose="020B0503020204020204" pitchFamily="34" charset="-122"/>
                    <a:ea typeface="微软雅黑" panose="020B0503020204020204" pitchFamily="34" charset="-122"/>
                  </a:rPr>
                  <a:t>）以最大性能</a:t>
                </a:r>
                <a:r>
                  <a:rPr lang="zh-CN" altLang="en-US" sz="2200" b="1" dirty="0">
                    <a:latin typeface="微软雅黑" panose="020B0503020204020204" pitchFamily="34" charset="-122"/>
                    <a:ea typeface="微软雅黑" panose="020B0503020204020204" pitchFamily="34" charset="-122"/>
                  </a:rPr>
                  <a:t>将</a:t>
                </a:r>
                <a:r>
                  <a:rPr lang="zh-CN" altLang="en-US" sz="2200" b="1" i="0" dirty="0">
                    <a:latin typeface="微软雅黑" panose="020B0503020204020204" pitchFamily="34" charset="-122"/>
                    <a:ea typeface="微软雅黑" panose="020B0503020204020204" pitchFamily="34" charset="-122"/>
                  </a:rPr>
                  <a:t>加速度变化至目标加速度，设计</a:t>
                </a:r>
                <a:r>
                  <a:rPr lang="en-US" altLang="zh-CN" sz="2200" b="1" i="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𝟕</m:t>
                        </m:r>
                      </m:sub>
                    </m:sSub>
                    <m:d>
                      <m:dPr>
                        <m:ctrlPr>
                          <a:rPr lang="en-US" altLang="zh-CN" sz="2200" b="1" i="1">
                            <a:latin typeface="Cambria Math" panose="02040503050406030204" pitchFamily="18" charset="0"/>
                            <a:ea typeface="微软雅黑" panose="020B0503020204020204" pitchFamily="34" charset="-122"/>
                          </a:rPr>
                        </m:ctrlPr>
                      </m:dPr>
                      <m:e>
                        <m:r>
                          <a:rPr lang="en-US" altLang="zh-CN" sz="2200" b="1" i="1">
                            <a:latin typeface="Cambria Math" panose="02040503050406030204" pitchFamily="18" charset="0"/>
                            <a:ea typeface="微软雅黑" panose="020B0503020204020204" pitchFamily="34" charset="-122"/>
                          </a:rPr>
                          <m:t>𝒕</m:t>
                        </m:r>
                      </m:e>
                    </m:d>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𝟕</m:t>
                        </m:r>
                        <m:r>
                          <a:rPr lang="en-US" altLang="zh-CN" sz="2200" b="1" i="1">
                            <a:latin typeface="Cambria Math" panose="02040503050406030204" pitchFamily="18" charset="0"/>
                            <a:ea typeface="微软雅黑" panose="020B0503020204020204" pitchFamily="34" charset="-122"/>
                          </a:rPr>
                          <m:t>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smtClean="0">
                            <a:latin typeface="Cambria Math" panose="02040503050406030204" pitchFamily="18" charset="0"/>
                            <a:ea typeface="微软雅黑" panose="020B0503020204020204" pitchFamily="34" charset="-122"/>
                          </a:rPr>
                          <m:t>𝟕</m:t>
                        </m:r>
                        <m:r>
                          <a:rPr lang="en-US" altLang="zh-CN" sz="2200" b="1" i="1">
                            <a:latin typeface="Cambria Math" panose="02040503050406030204" pitchFamily="18" charset="0"/>
                            <a:ea typeface="微软雅黑" panose="020B0503020204020204" pitchFamily="34" charset="-122"/>
                          </a:rPr>
                          <m:t>𝟏</m:t>
                        </m:r>
                      </m:sub>
                    </m:sSub>
                    <m:r>
                      <a:rPr lang="en-US" altLang="zh-CN" sz="2200" b="1" i="1" smtClean="0">
                        <a:latin typeface="Cambria Math" panose="02040503050406030204" pitchFamily="18" charset="0"/>
                        <a:ea typeface="微软雅黑" panose="020B0503020204020204" pitchFamily="34" charset="-122"/>
                      </a:rPr>
                      <m:t>𝒕</m:t>
                    </m:r>
                    <m:r>
                      <a:rPr lang="en-US" altLang="zh-CN" sz="2200" b="1" i="0" smtClean="0">
                        <a:latin typeface="Cambria Math" panose="02040503050406030204" pitchFamily="18" charset="0"/>
                        <a:ea typeface="微软雅黑" panose="020B0503020204020204" pitchFamily="34" charset="-122"/>
                      </a:rPr>
                      <m:t>  </m:t>
                    </m:r>
                  </m:oMath>
                </a14:m>
                <a:endParaRPr lang="en-US" altLang="zh-CN" sz="2200" b="1" i="0" dirty="0">
                  <a:latin typeface="Cambria Math" panose="02040503050406030204" pitchFamily="18" charset="0"/>
                  <a:ea typeface="微软雅黑" panose="020B0503020204020204" pitchFamily="34" charset="-122"/>
                </a:endParaRPr>
              </a:p>
              <a:p>
                <a:pPr marL="914400" lvl="3" indent="-736600">
                  <a:lnSpc>
                    <a:spcPct val="160000"/>
                  </a:lnSpc>
                </a:pPr>
                <a:r>
                  <a:rPr lang="en-US" altLang="zh-CN" sz="2200" b="1" dirty="0">
                    <a:ea typeface="微软雅黑" panose="020B0503020204020204" pitchFamily="34" charset="-122"/>
                  </a:rPr>
                  <a:t>     </a:t>
                </a:r>
                <a:r>
                  <a:rPr lang="zh-CN" altLang="en-US" sz="2200" b="1" dirty="0">
                    <a:ea typeface="微软雅黑" panose="020B0503020204020204" pitchFamily="34" charset="-122"/>
                  </a:rPr>
                  <a:t>求两个参数：</a:t>
                </a:r>
                <a14:m>
                  <m:oMath xmlns:m="http://schemas.openxmlformats.org/officeDocument/2006/math">
                    <m:sSub>
                      <m:sSubPr>
                        <m:ctrlPr>
                          <a:rPr lang="en-US" altLang="zh-CN" sz="2200" b="1" i="1">
                            <a:latin typeface="Cambria Math" panose="02040503050406030204" pitchFamily="18" charset="0"/>
                            <a:ea typeface="微软雅黑" panose="020B0503020204020204" pitchFamily="34" charset="-122"/>
                          </a:rPr>
                        </m:ctrlPr>
                      </m:sSubPr>
                      <m:e>
                        <m:acc>
                          <m:accPr>
                            <m:chr m:val="̈"/>
                            <m:ctrlPr>
                              <a:rPr lang="en-US" altLang="zh-CN" sz="2200" b="1" i="1">
                                <a:latin typeface="Cambria Math" panose="02040503050406030204" pitchFamily="18" charset="0"/>
                                <a:ea typeface="微软雅黑" panose="020B0503020204020204" pitchFamily="34" charset="-122"/>
                              </a:rPr>
                            </m:ctrlPr>
                          </m:accPr>
                          <m:e>
                            <m:r>
                              <a:rPr lang="en-US" altLang="zh-CN" sz="2200" b="1" i="1">
                                <a:latin typeface="Cambria Math" panose="02040503050406030204" pitchFamily="18" charset="0"/>
                                <a:ea typeface="微软雅黑" panose="020B0503020204020204" pitchFamily="34" charset="-122"/>
                              </a:rPr>
                              <m:t>𝒒</m:t>
                            </m:r>
                          </m:e>
                        </m:acc>
                      </m:e>
                      <m:sub>
                        <m:r>
                          <a:rPr lang="en-US" altLang="zh-CN" sz="2200" b="1" i="1" smtClean="0">
                            <a:latin typeface="Cambria Math" panose="02040503050406030204" pitchFamily="18" charset="0"/>
                            <a:ea typeface="微软雅黑" panose="020B0503020204020204" pitchFamily="34" charset="-122"/>
                          </a:rPr>
                          <m:t>𝟕𝟎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𝟕𝟎</m:t>
                        </m:r>
                      </m:sub>
                    </m:sSub>
                    <m:r>
                      <a:rPr lang="en-US" altLang="zh-CN" sz="2200" b="1" i="1" smtClean="0">
                        <a:latin typeface="Cambria Math" panose="02040503050406030204" pitchFamily="18" charset="0"/>
                        <a:ea typeface="微软雅黑" panose="020B0503020204020204" pitchFamily="34" charset="-122"/>
                      </a:rPr>
                      <m:t>=</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𝒎𝒂𝒙</m:t>
                        </m:r>
                      </m:sub>
                    </m:sSub>
                    <m:r>
                      <a:rPr lang="en-US" altLang="zh-CN" sz="2200" b="1" i="0" dirty="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0" dirty="0" smtClean="0">
                        <a:latin typeface="Cambria Math" panose="02040503050406030204" pitchFamily="18" charset="0"/>
                        <a:ea typeface="微软雅黑" panose="020B0503020204020204" pitchFamily="34" charset="-122"/>
                        <a:sym typeface="Wingdings" panose="05000000000000000000" pitchFamily="2" charset="2"/>
                      </a:rPr>
                      <m:t>     </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zh-CN" altLang="en-US" sz="2200" b="1" i="1" dirty="0">
                            <a:latin typeface="Cambria Math" panose="02040503050406030204" pitchFamily="18" charset="0"/>
                            <a:ea typeface="微软雅黑" panose="020B0503020204020204" pitchFamily="34" charset="-122"/>
                            <a:sym typeface="Wingdings" panose="05000000000000000000" pitchFamily="2" charset="2"/>
                          </a:rPr>
                          <m:t>𝒂</m:t>
                        </m:r>
                      </m:e>
                      <m:sub>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𝟕</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𝟏</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zh-CN" altLang="en-US" sz="2200" b="1" i="1" dirty="0">
                            <a:latin typeface="Cambria Math" panose="02040503050406030204" pitchFamily="18" charset="0"/>
                            <a:ea typeface="微软雅黑" panose="020B0503020204020204" pitchFamily="34" charset="-122"/>
                            <a:sym typeface="Wingdings" panose="05000000000000000000" pitchFamily="2" charset="2"/>
                          </a:rPr>
                          <m:t>𝒋</m:t>
                        </m:r>
                      </m:e>
                      <m:sub>
                        <m:r>
                          <a:rPr lang="zh-CN" altLang="en-US" sz="2200" b="1" i="1" dirty="0">
                            <a:latin typeface="Cambria Math" panose="02040503050406030204" pitchFamily="18" charset="0"/>
                            <a:ea typeface="微软雅黑" panose="020B0503020204020204" pitchFamily="34" charset="-122"/>
                            <a:sym typeface="Wingdings" panose="05000000000000000000" pitchFamily="2" charset="2"/>
                          </a:rPr>
                          <m:t>𝐦𝐚</m:t>
                        </m:r>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𝒙</m:t>
                        </m:r>
                      </m:sub>
                    </m:sSub>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m:t>
                    </m:r>
                  </m:oMath>
                </a14:m>
                <a:r>
                  <a:rPr lang="en-US" altLang="zh-CN" sz="2200" b="1" i="0" dirty="0">
                    <a:latin typeface="微软雅黑" panose="020B0503020204020204" pitchFamily="34" charset="-122"/>
                    <a:ea typeface="微软雅黑" panose="020B0503020204020204" pitchFamily="34" charset="-122"/>
                  </a:rPr>
                  <a:t>    </a:t>
                </a:r>
                <a:r>
                  <a:rPr lang="zh-CN" altLang="en-US" sz="2200" b="1" i="0" dirty="0">
                    <a:latin typeface="微软雅黑" panose="020B0503020204020204" pitchFamily="34" charset="-122"/>
                    <a:ea typeface="微软雅黑" panose="020B0503020204020204" pitchFamily="34" charset="-122"/>
                  </a:rPr>
                  <a:t>求</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𝒕</m:t>
                        </m:r>
                      </m:e>
                      <m: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𝒕𝒇</m:t>
                        </m:r>
                      </m:sub>
                    </m:sSub>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 </m:t>
                    </m:r>
                  </m:oMath>
                </a14:m>
                <a:r>
                  <a:rPr lang="zh-CN" altLang="en-US" sz="2200" b="1" i="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acc>
                          <m:accPr>
                            <m:chr m:val="̈"/>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accPr>
                          <m:e>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𝒒</m:t>
                            </m:r>
                          </m:e>
                        </m:acc>
                      </m:e>
                      <m:sub>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𝟕</m:t>
                        </m:r>
                        <m: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t>𝒇</m:t>
                        </m:r>
                      </m:sub>
                    </m:sSub>
                    <m:r>
                      <a:rPr lang="en-US" altLang="zh-CN" sz="2200" b="1" dirty="0">
                        <a:latin typeface="Cambria Math" panose="02040503050406030204" pitchFamily="18" charset="0"/>
                        <a:ea typeface="微软雅黑" panose="020B0503020204020204" pitchFamily="34" charset="-122"/>
                        <a:sym typeface="Wingdings" panose="05000000000000000000" pitchFamily="2" charset="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𝟕𝟎</m:t>
                        </m:r>
                      </m:sub>
                    </m:sSub>
                    <m:r>
                      <a:rPr lang="en-US" altLang="zh-CN" sz="2200" b="1">
                        <a:latin typeface="Cambria Math" panose="02040503050406030204" pitchFamily="18" charset="0"/>
                        <a:ea typeface="微软雅黑" panose="020B0503020204020204" pitchFamily="34" charset="-122"/>
                      </a:rPr>
                      <m:t>+</m:t>
                    </m:r>
                    <m:sSub>
                      <m:sSubPr>
                        <m:ctrlPr>
                          <a:rPr lang="en-US" altLang="zh-CN" sz="2200" b="1" i="1">
                            <a:latin typeface="Cambria Math" panose="02040503050406030204" pitchFamily="18" charset="0"/>
                            <a:ea typeface="微软雅黑" panose="020B0503020204020204" pitchFamily="34" charset="-122"/>
                          </a:rPr>
                        </m:ctrlPr>
                      </m:sSubPr>
                      <m:e>
                        <m:r>
                          <a:rPr lang="en-US" altLang="zh-CN" sz="2200" b="1" i="1">
                            <a:latin typeface="Cambria Math" panose="02040503050406030204" pitchFamily="18" charset="0"/>
                            <a:ea typeface="微软雅黑" panose="020B0503020204020204" pitchFamily="34" charset="-122"/>
                          </a:rPr>
                          <m:t>𝒂</m:t>
                        </m:r>
                      </m:e>
                      <m:sub>
                        <m:r>
                          <a:rPr lang="en-US" altLang="zh-CN" sz="2200" b="1" i="1">
                            <a:latin typeface="Cambria Math" panose="02040503050406030204" pitchFamily="18" charset="0"/>
                            <a:ea typeface="微软雅黑" panose="020B0503020204020204" pitchFamily="34" charset="-122"/>
                          </a:rPr>
                          <m:t>𝟕𝟏</m:t>
                        </m:r>
                      </m:sub>
                    </m:sSub>
                    <m:sSub>
                      <m:sSubPr>
                        <m:ctrlPr>
                          <a:rPr lang="en-US" altLang="zh-CN" sz="2200" b="1" i="1" dirty="0">
                            <a:latin typeface="Cambria Math" panose="02040503050406030204" pitchFamily="18" charset="0"/>
                            <a:ea typeface="微软雅黑" panose="020B0503020204020204" pitchFamily="34" charset="-122"/>
                            <a:sym typeface="Wingdings" panose="05000000000000000000" pitchFamily="2" charset="2"/>
                          </a:rPr>
                        </m:ctrlPr>
                      </m:sSubPr>
                      <m:e>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𝒕</m:t>
                        </m:r>
                      </m:e>
                      <m:sub>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𝒕𝒇</m:t>
                        </m:r>
                      </m:sub>
                    </m:sSub>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sz="2200" b="1" i="1" dirty="0" smtClean="0">
                        <a:latin typeface="Cambria Math" panose="02040503050406030204" pitchFamily="18" charset="0"/>
                        <a:ea typeface="微软雅黑" panose="020B0503020204020204" pitchFamily="34" charset="-122"/>
                        <a:sym typeface="Wingdings" panose="05000000000000000000" pitchFamily="2" charset="2"/>
                      </a:rPr>
                      <m:t>𝟎</m:t>
                    </m:r>
                  </m:oMath>
                </a14:m>
                <a:endParaRPr lang="en-US" altLang="zh-CN" sz="2200" b="1" i="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6438D73B-7232-4207-A13F-168356C4AF44}"/>
                  </a:ext>
                </a:extLst>
              </p:cNvPr>
              <p:cNvSpPr txBox="1">
                <a:spLocks noRot="1" noChangeAspect="1" noMove="1" noResize="1" noEditPoints="1" noAdjustHandles="1" noChangeArrowheads="1" noChangeShapeType="1" noTextEdit="1"/>
              </p:cNvSpPr>
              <p:nvPr/>
            </p:nvSpPr>
            <p:spPr>
              <a:xfrm>
                <a:off x="161565" y="653874"/>
                <a:ext cx="12130012" cy="4914102"/>
              </a:xfrm>
              <a:prstGeom prst="rect">
                <a:avLst/>
              </a:prstGeom>
              <a:blipFill>
                <a:blip r:embed="rId2"/>
                <a:stretch>
                  <a:fillRect l="-80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9B1D616-2430-4645-801E-598BFAA956BA}"/>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基于分段函数的轨迹规划：最小时间规划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0728972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F7FD21A-17B5-4B0C-9880-84C5636C872E}"/>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26</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68F04B49-C2EE-4318-8B0B-FEE139C91882}"/>
              </a:ext>
            </a:extLst>
          </p:cNvPr>
          <p:cNvSpPr txBox="1"/>
          <p:nvPr/>
        </p:nvSpPr>
        <p:spPr>
          <a:xfrm>
            <a:off x="85286" y="669350"/>
            <a:ext cx="8270705" cy="581057"/>
          </a:xfrm>
          <a:prstGeom prst="rect">
            <a:avLst/>
          </a:prstGeom>
          <a:noFill/>
        </p:spPr>
        <p:txBody>
          <a:bodyPr wrap="square" rtlCol="0">
            <a:spAutoFit/>
          </a:bodyPr>
          <a:lstStyle/>
          <a:p>
            <a:pPr marL="342900" lvl="1" indent="-342900">
              <a:lnSpc>
                <a:spcPct val="150000"/>
              </a:lnSpc>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加速过程：</a:t>
            </a:r>
            <a:r>
              <a:rPr lang="zh-CN" altLang="en-US" sz="2200" b="1" i="0" dirty="0">
                <a:latin typeface="微软雅黑" panose="020B0503020204020204" pitchFamily="34" charset="-122"/>
                <a:ea typeface="微软雅黑" panose="020B0503020204020204" pitchFamily="34" charset="-122"/>
              </a:rPr>
              <a:t>判断是否有匀加速段：</a:t>
            </a:r>
            <a:endParaRPr lang="en-US" altLang="zh-CN" sz="2200" b="1" i="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AED26C7-AF1F-4412-B0D2-7824E3A0DD4F}"/>
              </a:ext>
            </a:extLst>
          </p:cNvPr>
          <p:cNvPicPr>
            <a:picLocks noChangeAspect="1"/>
          </p:cNvPicPr>
          <p:nvPr/>
        </p:nvPicPr>
        <p:blipFill>
          <a:blip r:embed="rId2"/>
          <a:stretch>
            <a:fillRect/>
          </a:stretch>
        </p:blipFill>
        <p:spPr>
          <a:xfrm>
            <a:off x="8658868" y="728094"/>
            <a:ext cx="3580254" cy="5488981"/>
          </a:xfrm>
          <a:prstGeom prst="rect">
            <a:avLst/>
          </a:prstGeom>
        </p:spPr>
      </p:pic>
      <p:sp>
        <p:nvSpPr>
          <p:cNvPr id="5" name="文本框 4">
            <a:extLst>
              <a:ext uri="{FF2B5EF4-FFF2-40B4-BE49-F238E27FC236}">
                <a16:creationId xmlns:a16="http://schemas.microsoft.com/office/drawing/2014/main" id="{E49A1592-C57D-47A6-8A76-A29F0C742839}"/>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基于分段函数的轨迹规划：最小时间规划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graphicFrame>
        <p:nvGraphicFramePr>
          <p:cNvPr id="6" name="对象 5">
            <a:extLst>
              <a:ext uri="{FF2B5EF4-FFF2-40B4-BE49-F238E27FC236}">
                <a16:creationId xmlns:a16="http://schemas.microsoft.com/office/drawing/2014/main" id="{83002EC8-D16E-469A-A360-E78AB1A465FF}"/>
              </a:ext>
            </a:extLst>
          </p:cNvPr>
          <p:cNvGraphicFramePr>
            <a:graphicFrameLocks noChangeAspect="1"/>
          </p:cNvGraphicFramePr>
          <p:nvPr>
            <p:extLst>
              <p:ext uri="{D42A27DB-BD31-4B8C-83A1-F6EECF244321}">
                <p14:modId xmlns:p14="http://schemas.microsoft.com/office/powerpoint/2010/main" val="1158402374"/>
              </p:ext>
            </p:extLst>
          </p:nvPr>
        </p:nvGraphicFramePr>
        <p:xfrm>
          <a:off x="4767262" y="700228"/>
          <a:ext cx="2657475" cy="541338"/>
        </p:xfrm>
        <a:graphic>
          <a:graphicData uri="http://schemas.openxmlformats.org/presentationml/2006/ole">
            <mc:AlternateContent xmlns:mc="http://schemas.openxmlformats.org/markup-compatibility/2006">
              <mc:Choice xmlns:v="urn:schemas-microsoft-com:vml" Requires="v">
                <p:oleObj name="Equation" r:id="rId3" imgW="1143000" imgH="253800" progId="Equation.DSMT4">
                  <p:embed/>
                </p:oleObj>
              </mc:Choice>
              <mc:Fallback>
                <p:oleObj name="Equation" r:id="rId3" imgW="1143000" imgH="253800" progId="Equation.DSMT4">
                  <p:embed/>
                  <p:pic>
                    <p:nvPicPr>
                      <p:cNvPr id="5" name="对象 4">
                        <a:extLst>
                          <a:ext uri="{FF2B5EF4-FFF2-40B4-BE49-F238E27FC236}">
                            <a16:creationId xmlns:a16="http://schemas.microsoft.com/office/drawing/2014/main" id="{5F7D6377-4806-42D6-8F51-55A45B22110A}"/>
                          </a:ext>
                        </a:extLst>
                      </p:cNvPr>
                      <p:cNvPicPr>
                        <a:picLocks noChangeAspect="1" noChangeArrowheads="1"/>
                      </p:cNvPicPr>
                      <p:nvPr/>
                    </p:nvPicPr>
                    <p:blipFill>
                      <a:blip r:embed="rId4"/>
                      <a:srcRect/>
                      <a:stretch>
                        <a:fillRect/>
                      </a:stretch>
                    </p:blipFill>
                    <p:spPr bwMode="auto">
                      <a:xfrm>
                        <a:off x="4767262" y="700228"/>
                        <a:ext cx="2657475" cy="541338"/>
                      </a:xfrm>
                      <a:prstGeom prst="rect">
                        <a:avLst/>
                      </a:prstGeom>
                      <a:noFill/>
                    </p:spPr>
                  </p:pic>
                </p:oleObj>
              </mc:Fallback>
            </mc:AlternateContent>
          </a:graphicData>
        </a:graphic>
      </p:graphicFrame>
      <p:sp>
        <p:nvSpPr>
          <p:cNvPr id="7" name="文本框 6">
            <a:extLst>
              <a:ext uri="{FF2B5EF4-FFF2-40B4-BE49-F238E27FC236}">
                <a16:creationId xmlns:a16="http://schemas.microsoft.com/office/drawing/2014/main" id="{5EC40C10-3995-4E1A-9134-670CDAF6D342}"/>
              </a:ext>
            </a:extLst>
          </p:cNvPr>
          <p:cNvSpPr txBox="1"/>
          <p:nvPr/>
        </p:nvSpPr>
        <p:spPr>
          <a:xfrm>
            <a:off x="862397" y="1283107"/>
            <a:ext cx="495199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加加速段：加速度从</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到最大值所需时间：</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AC1388A-FA76-4F6F-B528-9CEE81EB8A12}"/>
                  </a:ext>
                </a:extLst>
              </p:cNvPr>
              <p:cNvSpPr txBox="1"/>
              <p:nvPr/>
            </p:nvSpPr>
            <p:spPr>
              <a:xfrm>
                <a:off x="5503871" y="1177019"/>
                <a:ext cx="1240555" cy="6192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𝒕</m:t>
                          </m:r>
                        </m:e>
                        <m:sub>
                          <m:r>
                            <a:rPr lang="en-US" altLang="zh-CN" sz="1800" b="1" i="1" dirty="0" smtClean="0">
                              <a:latin typeface="Cambria Math" panose="02040503050406030204" pitchFamily="18" charset="0"/>
                              <a:ea typeface="微软雅黑" panose="020B0503020204020204" pitchFamily="34" charset="-122"/>
                            </a:rPr>
                            <m:t>𝟏</m:t>
                          </m:r>
                        </m:sub>
                      </m:sSub>
                      <m:r>
                        <a:rPr lang="en-US" altLang="zh-CN" sz="1800" b="1" i="1" dirty="0" smtClean="0">
                          <a:latin typeface="Cambria Math" panose="02040503050406030204" pitchFamily="18" charset="0"/>
                          <a:ea typeface="微软雅黑" panose="020B0503020204020204" pitchFamily="34" charset="-122"/>
                        </a:rPr>
                        <m:t>=</m:t>
                      </m:r>
                      <m:f>
                        <m:fPr>
                          <m:ctrlPr>
                            <a:rPr lang="en-US" altLang="zh-CN" sz="1800" b="1" i="1" dirty="0" smtClean="0">
                              <a:latin typeface="Cambria Math" panose="02040503050406030204" pitchFamily="18" charset="0"/>
                              <a:ea typeface="微软雅黑" panose="020B0503020204020204" pitchFamily="34" charset="-122"/>
                            </a:rPr>
                          </m:ctrlPr>
                        </m:fPr>
                        <m:num>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𝒂</m:t>
                              </m:r>
                            </m:e>
                            <m:sub>
                              <m:r>
                                <a:rPr lang="en-US" altLang="zh-CN" sz="1800" b="1" i="1" dirty="0" smtClean="0">
                                  <a:latin typeface="Cambria Math" panose="02040503050406030204" pitchFamily="18" charset="0"/>
                                  <a:ea typeface="微软雅黑" panose="020B0503020204020204" pitchFamily="34" charset="-122"/>
                                </a:rPr>
                                <m:t>𝒎𝒂𝒙</m:t>
                              </m:r>
                            </m:sub>
                          </m:sSub>
                        </m:num>
                        <m:den>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𝒋</m:t>
                              </m:r>
                            </m:e>
                            <m:sub>
                              <m:r>
                                <a:rPr lang="en-US" altLang="zh-CN" sz="1800" b="1" i="1" dirty="0" smtClean="0">
                                  <a:latin typeface="Cambria Math" panose="02040503050406030204" pitchFamily="18" charset="0"/>
                                  <a:ea typeface="微软雅黑" panose="020B0503020204020204" pitchFamily="34" charset="-122"/>
                                </a:rPr>
                                <m:t>𝒎𝒂𝒙</m:t>
                              </m:r>
                            </m:sub>
                          </m:sSub>
                        </m:den>
                      </m:f>
                    </m:oMath>
                  </m:oMathPara>
                </a14:m>
                <a:endParaRPr lang="zh-CN" altLang="en-US" dirty="0"/>
              </a:p>
            </p:txBody>
          </p:sp>
        </mc:Choice>
        <mc:Fallback xmlns="">
          <p:sp>
            <p:nvSpPr>
              <p:cNvPr id="9" name="文本框 8">
                <a:extLst>
                  <a:ext uri="{FF2B5EF4-FFF2-40B4-BE49-F238E27FC236}">
                    <a16:creationId xmlns:a16="http://schemas.microsoft.com/office/drawing/2014/main" id="{6AC1388A-FA76-4F6F-B528-9CEE81EB8A12}"/>
                  </a:ext>
                </a:extLst>
              </p:cNvPr>
              <p:cNvSpPr txBox="1">
                <a:spLocks noRot="1" noChangeAspect="1" noMove="1" noResize="1" noEditPoints="1" noAdjustHandles="1" noChangeArrowheads="1" noChangeShapeType="1" noTextEdit="1"/>
              </p:cNvSpPr>
              <p:nvPr/>
            </p:nvSpPr>
            <p:spPr>
              <a:xfrm>
                <a:off x="5503871" y="1177019"/>
                <a:ext cx="1240555" cy="619272"/>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DB9019D-059A-4C8C-AB80-9CB00F7D2EE7}"/>
                  </a:ext>
                </a:extLst>
              </p:cNvPr>
              <p:cNvSpPr txBox="1"/>
              <p:nvPr/>
            </p:nvSpPr>
            <p:spPr>
              <a:xfrm>
                <a:off x="4495677" y="1816493"/>
                <a:ext cx="2975353" cy="7037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1" i="1" dirty="0" smtClean="0">
                              <a:latin typeface="Cambria Math" panose="02040503050406030204" pitchFamily="18" charset="0"/>
                              <a:ea typeface="Cambria Math" panose="02040503050406030204" pitchFamily="18" charset="0"/>
                            </a:rPr>
                          </m:ctrlPr>
                        </m:sSubPr>
                        <m:e>
                          <m:r>
                            <a:rPr lang="en-US" altLang="zh-CN" b="1" dirty="0">
                              <a:latin typeface="Cambria Math" panose="02040503050406030204" pitchFamily="18" charset="0"/>
                              <a:ea typeface="Cambria Math" panose="02040503050406030204" pitchFamily="18" charset="0"/>
                            </a:rPr>
                            <m:t>𝚫</m:t>
                          </m:r>
                          <m:r>
                            <a:rPr lang="en-US" altLang="zh-CN" b="1" i="1" dirty="0">
                              <a:latin typeface="Cambria Math" panose="02040503050406030204" pitchFamily="18" charset="0"/>
                              <a:ea typeface="Cambria Math" panose="02040503050406030204" pitchFamily="18" charset="0"/>
                            </a:rPr>
                            <m:t>𝒗</m:t>
                          </m:r>
                        </m:e>
                        <m:sub>
                          <m:r>
                            <a:rPr lang="en-US" altLang="zh-CN" sz="1800" b="1" i="1" dirty="0" smtClean="0">
                              <a:latin typeface="Cambria Math" panose="02040503050406030204" pitchFamily="18" charset="0"/>
                              <a:ea typeface="Cambria Math" panose="02040503050406030204" pitchFamily="18" charset="0"/>
                            </a:rPr>
                            <m:t>𝟏</m:t>
                          </m:r>
                        </m:sub>
                      </m:sSub>
                      <m:r>
                        <a:rPr lang="en-US" altLang="zh-CN" sz="1800" b="1" i="1" dirty="0" smtClean="0">
                          <a:latin typeface="Cambria Math" panose="02040503050406030204" pitchFamily="18" charset="0"/>
                          <a:ea typeface="Cambria Math" panose="02040503050406030204" pitchFamily="18" charset="0"/>
                        </a:rPr>
                        <m:t>=</m:t>
                      </m:r>
                      <m:f>
                        <m:fPr>
                          <m:ctrlPr>
                            <a:rPr lang="en-US" altLang="zh-CN" sz="1800" b="1" i="1" dirty="0" smtClean="0">
                              <a:latin typeface="Cambria Math" panose="02040503050406030204" pitchFamily="18" charset="0"/>
                              <a:ea typeface="Cambria Math" panose="02040503050406030204" pitchFamily="18" charset="0"/>
                            </a:rPr>
                          </m:ctrlPr>
                        </m:fPr>
                        <m:num>
                          <m:r>
                            <a:rPr lang="en-US" altLang="zh-CN" sz="1800" b="1" i="1" dirty="0" smtClean="0">
                              <a:latin typeface="Cambria Math" panose="02040503050406030204" pitchFamily="18" charset="0"/>
                              <a:ea typeface="Cambria Math" panose="02040503050406030204" pitchFamily="18" charset="0"/>
                            </a:rPr>
                            <m:t>𝟏</m:t>
                          </m:r>
                        </m:num>
                        <m:den>
                          <m:r>
                            <a:rPr lang="en-US" altLang="zh-CN" sz="1800" b="1" i="1" dirty="0" smtClean="0">
                              <a:latin typeface="Cambria Math" panose="02040503050406030204" pitchFamily="18" charset="0"/>
                              <a:ea typeface="Cambria Math" panose="02040503050406030204" pitchFamily="18" charset="0"/>
                            </a:rPr>
                            <m:t>𝟐</m:t>
                          </m:r>
                        </m:den>
                      </m:f>
                      <m:sSub>
                        <m:sSubPr>
                          <m:ctrlPr>
                            <a:rPr lang="en-US" altLang="zh-CN" b="1" i="1" dirty="0">
                              <a:latin typeface="Cambria Math" panose="02040503050406030204" pitchFamily="18" charset="0"/>
                              <a:ea typeface="微软雅黑" panose="020B0503020204020204" pitchFamily="34" charset="-122"/>
                            </a:rPr>
                          </m:ctrlPr>
                        </m:sSubPr>
                        <m:e>
                          <m:r>
                            <a:rPr lang="en-US" altLang="zh-CN" b="1" i="1" dirty="0">
                              <a:latin typeface="Cambria Math" panose="02040503050406030204" pitchFamily="18" charset="0"/>
                              <a:ea typeface="微软雅黑" panose="020B0503020204020204" pitchFamily="34" charset="-122"/>
                            </a:rPr>
                            <m:t>𝒋</m:t>
                          </m:r>
                        </m:e>
                        <m:sub>
                          <m:r>
                            <a:rPr lang="en-US" altLang="zh-CN" b="1" i="1" dirty="0">
                              <a:latin typeface="Cambria Math" panose="02040503050406030204" pitchFamily="18" charset="0"/>
                              <a:ea typeface="微软雅黑" panose="020B0503020204020204" pitchFamily="34" charset="-122"/>
                            </a:rPr>
                            <m:t>𝒎𝒂𝒙</m:t>
                          </m:r>
                        </m:sub>
                      </m:sSub>
                      <m:sSubSup>
                        <m:sSubSupPr>
                          <m:ctrlPr>
                            <a:rPr lang="en-US" altLang="zh-CN" b="1" i="1" dirty="0" smtClean="0">
                              <a:latin typeface="Cambria Math" panose="02040503050406030204" pitchFamily="18" charset="0"/>
                              <a:ea typeface="微软雅黑" panose="020B0503020204020204" pitchFamily="34" charset="-122"/>
                            </a:rPr>
                          </m:ctrlPr>
                        </m:sSubSupPr>
                        <m:e>
                          <m:r>
                            <a:rPr lang="en-US" altLang="zh-CN" b="1" i="1" dirty="0" smtClean="0">
                              <a:latin typeface="Cambria Math" panose="02040503050406030204" pitchFamily="18" charset="0"/>
                              <a:ea typeface="微软雅黑" panose="020B0503020204020204" pitchFamily="34" charset="-122"/>
                            </a:rPr>
                            <m:t>𝒕</m:t>
                          </m:r>
                        </m:e>
                        <m:sub>
                          <m:r>
                            <a:rPr lang="en-US" altLang="zh-CN" b="1" i="1" dirty="0" smtClean="0">
                              <a:latin typeface="Cambria Math" panose="02040503050406030204" pitchFamily="18" charset="0"/>
                              <a:ea typeface="微软雅黑" panose="020B0503020204020204" pitchFamily="34" charset="-122"/>
                            </a:rPr>
                            <m:t>𝟏</m:t>
                          </m:r>
                        </m:sub>
                        <m:sup>
                          <m:r>
                            <a:rPr lang="en-US" altLang="zh-CN" b="1" i="1" dirty="0" smtClean="0">
                              <a:latin typeface="Cambria Math" panose="02040503050406030204" pitchFamily="18" charset="0"/>
                              <a:ea typeface="微软雅黑" panose="020B0503020204020204" pitchFamily="34" charset="-122"/>
                            </a:rPr>
                            <m:t>𝟐</m:t>
                          </m:r>
                        </m:sup>
                      </m:sSubSup>
                      <m:r>
                        <a:rPr lang="en-US" altLang="zh-CN" b="1" i="1" dirty="0" smtClean="0">
                          <a:latin typeface="Cambria Math" panose="02040503050406030204" pitchFamily="18" charset="0"/>
                          <a:ea typeface="微软雅黑" panose="020B0503020204020204" pitchFamily="34" charset="-122"/>
                        </a:rPr>
                        <m:t>=</m:t>
                      </m:r>
                      <m:f>
                        <m:fPr>
                          <m:ctrlPr>
                            <a:rPr lang="en-US" altLang="zh-CN" b="1" i="1" dirty="0">
                              <a:latin typeface="Cambria Math" panose="02040503050406030204" pitchFamily="18" charset="0"/>
                              <a:ea typeface="Cambria Math" panose="02040503050406030204" pitchFamily="18" charset="0"/>
                            </a:rPr>
                          </m:ctrlPr>
                        </m:fPr>
                        <m:num>
                          <m:r>
                            <a:rPr lang="en-US" altLang="zh-CN" b="1" i="1" dirty="0">
                              <a:latin typeface="Cambria Math" panose="02040503050406030204" pitchFamily="18" charset="0"/>
                              <a:ea typeface="Cambria Math" panose="02040503050406030204" pitchFamily="18" charset="0"/>
                            </a:rPr>
                            <m:t>𝟏</m:t>
                          </m:r>
                        </m:num>
                        <m:den>
                          <m:r>
                            <a:rPr lang="en-US" altLang="zh-CN" b="1" i="1" dirty="0">
                              <a:latin typeface="Cambria Math" panose="02040503050406030204" pitchFamily="18" charset="0"/>
                              <a:ea typeface="Cambria Math" panose="02040503050406030204" pitchFamily="18" charset="0"/>
                            </a:rPr>
                            <m:t>𝟐</m:t>
                          </m:r>
                        </m:den>
                      </m:f>
                      <m:f>
                        <m:fPr>
                          <m:ctrlPr>
                            <a:rPr lang="en-US" altLang="zh-CN" sz="1800" b="1" i="1" dirty="0">
                              <a:latin typeface="Cambria Math" panose="02040503050406030204" pitchFamily="18" charset="0"/>
                              <a:ea typeface="微软雅黑" panose="020B0503020204020204" pitchFamily="34" charset="-122"/>
                            </a:rPr>
                          </m:ctrlPr>
                        </m:fPr>
                        <m:num>
                          <m:sSubSup>
                            <m:sSubSupPr>
                              <m:ctrlPr>
                                <a:rPr lang="en-US" altLang="zh-CN" sz="1800" b="1" i="1" dirty="0" smtClean="0">
                                  <a:latin typeface="Cambria Math" panose="02040503050406030204" pitchFamily="18" charset="0"/>
                                  <a:ea typeface="微软雅黑" panose="020B0503020204020204" pitchFamily="34" charset="-122"/>
                                </a:rPr>
                              </m:ctrlPr>
                            </m:sSubSupPr>
                            <m:e>
                              <m:r>
                                <a:rPr lang="en-US" altLang="zh-CN" sz="1800" b="1" i="1" dirty="0">
                                  <a:latin typeface="Cambria Math" panose="02040503050406030204" pitchFamily="18" charset="0"/>
                                  <a:ea typeface="微软雅黑" panose="020B0503020204020204" pitchFamily="34" charset="-122"/>
                                </a:rPr>
                                <m:t>𝒂</m:t>
                              </m:r>
                            </m:e>
                            <m:sub>
                              <m:r>
                                <a:rPr lang="en-US" altLang="zh-CN" sz="1800" b="1" i="1" dirty="0">
                                  <a:latin typeface="Cambria Math" panose="02040503050406030204" pitchFamily="18" charset="0"/>
                                  <a:ea typeface="微软雅黑" panose="020B0503020204020204" pitchFamily="34" charset="-122"/>
                                </a:rPr>
                                <m:t>𝒎𝒂𝒙</m:t>
                              </m:r>
                            </m:sub>
                            <m:sup>
                              <m:r>
                                <a:rPr lang="en-US" altLang="zh-CN" sz="1800" b="1" i="1" dirty="0" smtClean="0">
                                  <a:latin typeface="Cambria Math" panose="02040503050406030204" pitchFamily="18" charset="0"/>
                                  <a:ea typeface="微软雅黑" panose="020B0503020204020204" pitchFamily="34" charset="-122"/>
                                </a:rPr>
                                <m:t>𝟐</m:t>
                              </m:r>
                            </m:sup>
                          </m:sSubSup>
                        </m:num>
                        <m:den>
                          <m:sSub>
                            <m:sSubPr>
                              <m:ctrlPr>
                                <a:rPr lang="en-US" altLang="zh-CN" sz="1800" b="1" i="1" dirty="0">
                                  <a:latin typeface="Cambria Math" panose="02040503050406030204" pitchFamily="18" charset="0"/>
                                  <a:ea typeface="微软雅黑" panose="020B0503020204020204" pitchFamily="34" charset="-122"/>
                                </a:rPr>
                              </m:ctrlPr>
                            </m:sSubPr>
                            <m:e>
                              <m:r>
                                <a:rPr lang="en-US" altLang="zh-CN" sz="1800" b="1" i="1" dirty="0">
                                  <a:latin typeface="Cambria Math" panose="02040503050406030204" pitchFamily="18" charset="0"/>
                                  <a:ea typeface="微软雅黑" panose="020B0503020204020204" pitchFamily="34" charset="-122"/>
                                </a:rPr>
                                <m:t>𝒋</m:t>
                              </m:r>
                            </m:e>
                            <m:sub>
                              <m:r>
                                <a:rPr lang="en-US" altLang="zh-CN" sz="1800" b="1" i="1" dirty="0">
                                  <a:latin typeface="Cambria Math" panose="02040503050406030204" pitchFamily="18" charset="0"/>
                                  <a:ea typeface="微软雅黑" panose="020B0503020204020204" pitchFamily="34" charset="-122"/>
                                </a:rPr>
                                <m:t>𝒎𝒂𝒙</m:t>
                              </m:r>
                            </m:sub>
                          </m:sSub>
                        </m:den>
                      </m:f>
                    </m:oMath>
                  </m:oMathPara>
                </a14:m>
                <a:endParaRPr lang="zh-CN" altLang="en-US" dirty="0"/>
              </a:p>
            </p:txBody>
          </p:sp>
        </mc:Choice>
        <mc:Fallback xmlns="">
          <p:sp>
            <p:nvSpPr>
              <p:cNvPr id="11" name="文本框 10">
                <a:extLst>
                  <a:ext uri="{FF2B5EF4-FFF2-40B4-BE49-F238E27FC236}">
                    <a16:creationId xmlns:a16="http://schemas.microsoft.com/office/drawing/2014/main" id="{EDB9019D-059A-4C8C-AB80-9CB00F7D2EE7}"/>
                  </a:ext>
                </a:extLst>
              </p:cNvPr>
              <p:cNvSpPr txBox="1">
                <a:spLocks noRot="1" noChangeAspect="1" noMove="1" noResize="1" noEditPoints="1" noAdjustHandles="1" noChangeArrowheads="1" noChangeShapeType="1" noTextEdit="1"/>
              </p:cNvSpPr>
              <p:nvPr/>
            </p:nvSpPr>
            <p:spPr>
              <a:xfrm>
                <a:off x="4495677" y="1816493"/>
                <a:ext cx="2975353" cy="703782"/>
              </a:xfrm>
              <a:prstGeom prst="rect">
                <a:avLst/>
              </a:prstGeom>
              <a:blipFill>
                <a:blip r:embed="rId27"/>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DB4712DC-BA5F-4337-8D1D-3E6831A719E4}"/>
              </a:ext>
            </a:extLst>
          </p:cNvPr>
          <p:cNvSpPr txBox="1"/>
          <p:nvPr/>
        </p:nvSpPr>
        <p:spPr>
          <a:xfrm>
            <a:off x="1363276" y="1968329"/>
            <a:ext cx="3509294"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在</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微软雅黑" panose="020B0503020204020204" pitchFamily="34" charset="-122"/>
                <a:ea typeface="微软雅黑" panose="020B0503020204020204" pitchFamily="34" charset="-122"/>
              </a:rPr>
              <a:t>时间内产生的速度增量：</a:t>
            </a:r>
          </a:p>
        </p:txBody>
      </p:sp>
      <p:sp>
        <p:nvSpPr>
          <p:cNvPr id="13" name="文本框 12">
            <a:extLst>
              <a:ext uri="{FF2B5EF4-FFF2-40B4-BE49-F238E27FC236}">
                <a16:creationId xmlns:a16="http://schemas.microsoft.com/office/drawing/2014/main" id="{1E925155-B66D-4E48-9835-89AB8D162BBD}"/>
              </a:ext>
            </a:extLst>
          </p:cNvPr>
          <p:cNvSpPr txBox="1"/>
          <p:nvPr/>
        </p:nvSpPr>
        <p:spPr>
          <a:xfrm>
            <a:off x="862397" y="2480631"/>
            <a:ext cx="4929555" cy="400110"/>
          </a:xfrm>
          <a:prstGeom prst="rect">
            <a:avLst/>
          </a:prstGeom>
          <a:noFill/>
        </p:spPr>
        <p:txBody>
          <a:bodyPr wrap="none" rtlCol="0">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减加速段：加速度从最大值到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所需时间：</a:t>
            </a:r>
            <a:endParaRPr lang="zh-CN" altLang="en-US" sz="20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ECC6C06-29E6-47CF-BBFA-DDDD11BF7F21}"/>
                  </a:ext>
                </a:extLst>
              </p:cNvPr>
              <p:cNvSpPr txBox="1"/>
              <p:nvPr/>
            </p:nvSpPr>
            <p:spPr>
              <a:xfrm>
                <a:off x="5534429" y="2483205"/>
                <a:ext cx="1363788"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1" i="1" dirty="0" smtClean="0">
                              <a:latin typeface="Cambria Math" panose="02040503050406030204" pitchFamily="18" charset="0"/>
                              <a:ea typeface="Cambria Math" panose="02040503050406030204" pitchFamily="18" charset="0"/>
                            </a:rPr>
                          </m:ctrlPr>
                        </m:sSubPr>
                        <m:e>
                          <m:r>
                            <a:rPr lang="en-US" altLang="zh-CN" b="1" i="1" dirty="0" smtClean="0">
                              <a:latin typeface="Cambria Math" panose="02040503050406030204" pitchFamily="18" charset="0"/>
                              <a:ea typeface="Cambria Math" panose="02040503050406030204" pitchFamily="18" charset="0"/>
                            </a:rPr>
                            <m:t>𝒕</m:t>
                          </m:r>
                        </m:e>
                        <m:sub>
                          <m:r>
                            <a:rPr lang="en-US" altLang="zh-CN" sz="1800" b="1" i="1" dirty="0" smtClean="0">
                              <a:latin typeface="Cambria Math" panose="02040503050406030204" pitchFamily="18" charset="0"/>
                              <a:ea typeface="Cambria Math" panose="02040503050406030204" pitchFamily="18" charset="0"/>
                            </a:rPr>
                            <m:t>𝟑</m:t>
                          </m:r>
                        </m:sub>
                      </m:sSub>
                      <m:r>
                        <a:rPr lang="en-US" altLang="zh-CN" sz="1800" b="1" i="1" dirty="0" smtClean="0">
                          <a:latin typeface="Cambria Math" panose="02040503050406030204" pitchFamily="18" charset="0"/>
                          <a:ea typeface="Cambria Math" panose="02040503050406030204" pitchFamily="18" charset="0"/>
                        </a:rPr>
                        <m:t>=</m:t>
                      </m:r>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smtClean="0">
                              <a:latin typeface="Cambria Math" panose="02040503050406030204" pitchFamily="18" charset="0"/>
                              <a:ea typeface="Cambria Math" panose="02040503050406030204" pitchFamily="18" charset="0"/>
                            </a:rPr>
                            <m:t>𝒕</m:t>
                          </m:r>
                        </m:e>
                        <m:sub>
                          <m:r>
                            <a:rPr lang="en-US" altLang="zh-CN" b="1" i="1" dirty="0">
                              <a:latin typeface="Cambria Math" panose="02040503050406030204" pitchFamily="18" charset="0"/>
                              <a:ea typeface="Cambria Math" panose="02040503050406030204" pitchFamily="18" charset="0"/>
                            </a:rPr>
                            <m:t>𝟏</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EECC6C06-29E6-47CF-BBFA-DDDD11BF7F21}"/>
                  </a:ext>
                </a:extLst>
              </p:cNvPr>
              <p:cNvSpPr txBox="1">
                <a:spLocks noRot="1" noChangeAspect="1" noMove="1" noResize="1" noEditPoints="1" noAdjustHandles="1" noChangeArrowheads="1" noChangeShapeType="1" noTextEdit="1"/>
              </p:cNvSpPr>
              <p:nvPr/>
            </p:nvSpPr>
            <p:spPr>
              <a:xfrm>
                <a:off x="5534429" y="2483205"/>
                <a:ext cx="1363788" cy="369332"/>
              </a:xfrm>
              <a:prstGeom prst="rect">
                <a:avLst/>
              </a:prstGeom>
              <a:blipFill>
                <a:blip r:embed="rId28"/>
                <a:stretch>
                  <a:fillRect b="-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622CC32-1F0E-45B3-B30E-1F9C5849EEBD}"/>
                  </a:ext>
                </a:extLst>
              </p:cNvPr>
              <p:cNvSpPr txBox="1"/>
              <p:nvPr/>
            </p:nvSpPr>
            <p:spPr>
              <a:xfrm>
                <a:off x="4519628" y="2948357"/>
                <a:ext cx="1363788"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1" i="1" dirty="0" smtClean="0">
                              <a:latin typeface="Cambria Math" panose="02040503050406030204" pitchFamily="18" charset="0"/>
                              <a:ea typeface="Cambria Math" panose="02040503050406030204" pitchFamily="18" charset="0"/>
                            </a:rPr>
                          </m:ctrlPr>
                        </m:sSubPr>
                        <m:e>
                          <m:r>
                            <a:rPr lang="en-US" altLang="zh-CN" b="1" dirty="0">
                              <a:latin typeface="Cambria Math" panose="02040503050406030204" pitchFamily="18" charset="0"/>
                              <a:ea typeface="Cambria Math" panose="02040503050406030204" pitchFamily="18" charset="0"/>
                            </a:rPr>
                            <m:t>𝚫</m:t>
                          </m:r>
                          <m:r>
                            <a:rPr lang="en-US" altLang="zh-CN" b="1" i="1" dirty="0">
                              <a:latin typeface="Cambria Math" panose="02040503050406030204" pitchFamily="18" charset="0"/>
                              <a:ea typeface="Cambria Math" panose="02040503050406030204" pitchFamily="18" charset="0"/>
                            </a:rPr>
                            <m:t>𝒗</m:t>
                          </m:r>
                        </m:e>
                        <m:sub>
                          <m:r>
                            <a:rPr lang="en-US" altLang="zh-CN" sz="1800" b="1" i="1" dirty="0" smtClean="0">
                              <a:latin typeface="Cambria Math" panose="02040503050406030204" pitchFamily="18" charset="0"/>
                              <a:ea typeface="Cambria Math" panose="02040503050406030204" pitchFamily="18" charset="0"/>
                            </a:rPr>
                            <m:t>𝟑</m:t>
                          </m:r>
                        </m:sub>
                      </m:sSub>
                      <m:r>
                        <a:rPr lang="en-US" altLang="zh-CN" sz="1800" b="1" i="1" dirty="0" smtClean="0">
                          <a:latin typeface="Cambria Math" panose="02040503050406030204" pitchFamily="18" charset="0"/>
                          <a:ea typeface="Cambria Math" panose="02040503050406030204" pitchFamily="18" charset="0"/>
                        </a:rPr>
                        <m:t>=</m:t>
                      </m:r>
                      <m:sSub>
                        <m:sSubPr>
                          <m:ctrlPr>
                            <a:rPr lang="en-US" altLang="zh-CN" b="1" i="1" dirty="0">
                              <a:latin typeface="Cambria Math" panose="02040503050406030204" pitchFamily="18" charset="0"/>
                              <a:ea typeface="Cambria Math" panose="02040503050406030204" pitchFamily="18" charset="0"/>
                            </a:rPr>
                          </m:ctrlPr>
                        </m:sSubPr>
                        <m:e>
                          <m:r>
                            <a:rPr lang="en-US" altLang="zh-CN" b="1" dirty="0">
                              <a:latin typeface="Cambria Math" panose="02040503050406030204" pitchFamily="18" charset="0"/>
                              <a:ea typeface="Cambria Math" panose="02040503050406030204" pitchFamily="18" charset="0"/>
                            </a:rPr>
                            <m:t>𝚫</m:t>
                          </m:r>
                          <m:r>
                            <a:rPr lang="en-US" altLang="zh-CN" b="1" i="1" dirty="0">
                              <a:latin typeface="Cambria Math" panose="02040503050406030204" pitchFamily="18" charset="0"/>
                              <a:ea typeface="Cambria Math" panose="02040503050406030204" pitchFamily="18" charset="0"/>
                            </a:rPr>
                            <m:t>𝒗</m:t>
                          </m:r>
                        </m:e>
                        <m:sub>
                          <m:r>
                            <a:rPr lang="en-US" altLang="zh-CN" b="1" i="1" dirty="0">
                              <a:latin typeface="Cambria Math" panose="02040503050406030204" pitchFamily="18" charset="0"/>
                              <a:ea typeface="Cambria Math" panose="02040503050406030204" pitchFamily="18" charset="0"/>
                            </a:rPr>
                            <m:t>𝟏</m:t>
                          </m:r>
                        </m:sub>
                      </m:sSub>
                    </m:oMath>
                  </m:oMathPara>
                </a14:m>
                <a:endParaRPr lang="zh-CN" altLang="en-US" dirty="0"/>
              </a:p>
            </p:txBody>
          </p:sp>
        </mc:Choice>
        <mc:Fallback xmlns="">
          <p:sp>
            <p:nvSpPr>
              <p:cNvPr id="15" name="文本框 14">
                <a:extLst>
                  <a:ext uri="{FF2B5EF4-FFF2-40B4-BE49-F238E27FC236}">
                    <a16:creationId xmlns:a16="http://schemas.microsoft.com/office/drawing/2014/main" id="{C622CC32-1F0E-45B3-B30E-1F9C5849EEBD}"/>
                  </a:ext>
                </a:extLst>
              </p:cNvPr>
              <p:cNvSpPr txBox="1">
                <a:spLocks noRot="1" noChangeAspect="1" noMove="1" noResize="1" noEditPoints="1" noAdjustHandles="1" noChangeArrowheads="1" noChangeShapeType="1" noTextEdit="1"/>
              </p:cNvSpPr>
              <p:nvPr/>
            </p:nvSpPr>
            <p:spPr>
              <a:xfrm>
                <a:off x="4519628" y="2948357"/>
                <a:ext cx="1363788" cy="369332"/>
              </a:xfrm>
              <a:prstGeom prst="rect">
                <a:avLst/>
              </a:prstGeom>
              <a:blipFill>
                <a:blip r:embed="rId29"/>
                <a:stretch>
                  <a:fillRect b="-1667"/>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C7A4F97D-DFAE-4570-9265-4E0CB4700118}"/>
              </a:ext>
            </a:extLst>
          </p:cNvPr>
          <p:cNvSpPr txBox="1"/>
          <p:nvPr/>
        </p:nvSpPr>
        <p:spPr>
          <a:xfrm>
            <a:off x="1363276" y="2953100"/>
            <a:ext cx="3509294"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在</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微软雅黑" panose="020B0503020204020204" pitchFamily="34" charset="-122"/>
                <a:ea typeface="微软雅黑" panose="020B0503020204020204" pitchFamily="34" charset="-122"/>
              </a:rPr>
              <a:t>时间内产生的速度增量：</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5804870-F21B-47CD-ACCB-626DC45A14E1}"/>
                  </a:ext>
                </a:extLst>
              </p:cNvPr>
              <p:cNvSpPr txBox="1"/>
              <p:nvPr/>
            </p:nvSpPr>
            <p:spPr>
              <a:xfrm>
                <a:off x="862397" y="3433343"/>
                <a:ext cx="5096139"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如果</a:t>
                </a:r>
                <a14:m>
                  <m:oMath xmlns:m="http://schemas.openxmlformats.org/officeDocument/2006/math">
                    <m:sSub>
                      <m:sSubPr>
                        <m:ctrlPr>
                          <a:rPr lang="en-US" altLang="zh-CN" sz="2000" b="1" i="1" dirty="0" smtClean="0">
                            <a:latin typeface="Cambria Math" panose="02040503050406030204" pitchFamily="18" charset="0"/>
                            <a:ea typeface="Cambria Math" panose="02040503050406030204" pitchFamily="18" charset="0"/>
                          </a:rPr>
                        </m:ctrlPr>
                      </m:sSubPr>
                      <m:e>
                        <m:r>
                          <a:rPr lang="en-US" altLang="zh-CN" sz="2000" b="1" dirty="0">
                            <a:latin typeface="Cambria Math" panose="02040503050406030204" pitchFamily="18" charset="0"/>
                            <a:ea typeface="Cambria Math" panose="02040503050406030204" pitchFamily="18" charset="0"/>
                          </a:rPr>
                          <m:t>𝚫</m:t>
                        </m:r>
                        <m:r>
                          <a:rPr lang="en-US" altLang="zh-CN" sz="2000" b="1" i="1" dirty="0">
                            <a:latin typeface="Cambria Math" panose="02040503050406030204" pitchFamily="18" charset="0"/>
                            <a:ea typeface="Cambria Math" panose="02040503050406030204" pitchFamily="18" charset="0"/>
                          </a:rPr>
                          <m:t>𝒗</m:t>
                        </m:r>
                      </m:e>
                      <m:sub>
                        <m:r>
                          <a:rPr lang="en-US" altLang="zh-CN" sz="2000" b="1" i="1" dirty="0" smtClean="0">
                            <a:latin typeface="Cambria Math" panose="02040503050406030204" pitchFamily="18" charset="0"/>
                            <a:ea typeface="Cambria Math" panose="02040503050406030204" pitchFamily="18" charset="0"/>
                          </a:rPr>
                          <m:t>𝟑</m:t>
                        </m:r>
                      </m:sub>
                    </m:sSub>
                    <m:r>
                      <a:rPr lang="en-US" altLang="zh-CN" sz="2000" b="1" i="1" dirty="0" smtClean="0">
                        <a:latin typeface="Cambria Math" panose="02040503050406030204" pitchFamily="18" charset="0"/>
                        <a:ea typeface="Cambria Math" panose="02040503050406030204" pitchFamily="18" charset="0"/>
                      </a:rPr>
                      <m:t>+</m:t>
                    </m:r>
                    <m:sSub>
                      <m:sSubPr>
                        <m:ctrlPr>
                          <a:rPr lang="en-US" altLang="zh-CN" sz="2000" b="1" i="1" dirty="0">
                            <a:latin typeface="Cambria Math" panose="02040503050406030204" pitchFamily="18" charset="0"/>
                            <a:ea typeface="Cambria Math" panose="02040503050406030204" pitchFamily="18" charset="0"/>
                          </a:rPr>
                        </m:ctrlPr>
                      </m:sSubPr>
                      <m:e>
                        <m:r>
                          <a:rPr lang="en-US" altLang="zh-CN" sz="2000" b="1" dirty="0">
                            <a:latin typeface="Cambria Math" panose="02040503050406030204" pitchFamily="18" charset="0"/>
                            <a:ea typeface="Cambria Math" panose="02040503050406030204" pitchFamily="18" charset="0"/>
                          </a:rPr>
                          <m:t>𝚫</m:t>
                        </m:r>
                        <m:r>
                          <a:rPr lang="en-US" altLang="zh-CN" sz="2000" b="1" i="1" dirty="0">
                            <a:latin typeface="Cambria Math" panose="02040503050406030204" pitchFamily="18" charset="0"/>
                            <a:ea typeface="Cambria Math" panose="02040503050406030204" pitchFamily="18" charset="0"/>
                          </a:rPr>
                          <m:t>𝒗</m:t>
                        </m:r>
                      </m:e>
                      <m:sub>
                        <m:r>
                          <a:rPr lang="en-US" altLang="zh-CN" sz="2000" b="1" i="1" dirty="0">
                            <a:latin typeface="Cambria Math" panose="02040503050406030204" pitchFamily="18" charset="0"/>
                            <a:ea typeface="Cambria Math" panose="02040503050406030204" pitchFamily="18" charset="0"/>
                          </a:rPr>
                          <m:t>𝟏</m:t>
                        </m:r>
                      </m:sub>
                    </m:sSub>
                    <m:r>
                      <a:rPr lang="en-US" altLang="zh-CN" sz="2000" b="1" i="1" dirty="0" smtClean="0">
                        <a:latin typeface="Cambria Math" panose="02040503050406030204" pitchFamily="18" charset="0"/>
                        <a:ea typeface="Cambria Math" panose="02040503050406030204" pitchFamily="18" charset="0"/>
                      </a:rPr>
                      <m:t>&lt;</m:t>
                    </m:r>
                    <m:sSub>
                      <m:sSubPr>
                        <m:ctrlPr>
                          <a:rPr lang="en-US" altLang="zh-CN" sz="2000" b="1" i="1" dirty="0" smtClean="0">
                            <a:latin typeface="Cambria Math" panose="02040503050406030204" pitchFamily="18" charset="0"/>
                            <a:ea typeface="Cambria Math" panose="02040503050406030204" pitchFamily="18" charset="0"/>
                          </a:rPr>
                        </m:ctrlPr>
                      </m:sSubPr>
                      <m:e>
                        <m:r>
                          <a:rPr lang="en-US" altLang="zh-CN" sz="2000" b="1" i="1" dirty="0" smtClean="0">
                            <a:latin typeface="Cambria Math" panose="02040503050406030204" pitchFamily="18" charset="0"/>
                            <a:ea typeface="Cambria Math" panose="02040503050406030204" pitchFamily="18" charset="0"/>
                          </a:rPr>
                          <m:t>𝒗</m:t>
                        </m:r>
                      </m:e>
                      <m:sub>
                        <m:r>
                          <a:rPr lang="en-US" altLang="zh-CN" sz="2000" b="1" i="1" dirty="0" smtClean="0">
                            <a:latin typeface="Cambria Math" panose="02040503050406030204" pitchFamily="18" charset="0"/>
                            <a:ea typeface="Cambria Math" panose="02040503050406030204" pitchFamily="18" charset="0"/>
                          </a:rPr>
                          <m:t>𝒎𝒂𝒙</m:t>
                        </m:r>
                      </m:sub>
                    </m:sSub>
                  </m:oMath>
                </a14:m>
                <a:r>
                  <a:rPr lang="zh-CN" altLang="en-US" sz="2000" dirty="0">
                    <a:latin typeface="微软雅黑" panose="020B0503020204020204" pitchFamily="34" charset="-122"/>
                    <a:ea typeface="微软雅黑" panose="020B0503020204020204" pitchFamily="34" charset="-122"/>
                  </a:rPr>
                  <a:t>，则存在匀加速段，</a:t>
                </a:r>
              </a:p>
            </p:txBody>
          </p:sp>
        </mc:Choice>
        <mc:Fallback xmlns="">
          <p:sp>
            <p:nvSpPr>
              <p:cNvPr id="17" name="文本框 16">
                <a:extLst>
                  <a:ext uri="{FF2B5EF4-FFF2-40B4-BE49-F238E27FC236}">
                    <a16:creationId xmlns:a16="http://schemas.microsoft.com/office/drawing/2014/main" id="{75804870-F21B-47CD-ACCB-626DC45A14E1}"/>
                  </a:ext>
                </a:extLst>
              </p:cNvPr>
              <p:cNvSpPr txBox="1">
                <a:spLocks noRot="1" noChangeAspect="1" noMove="1" noResize="1" noEditPoints="1" noAdjustHandles="1" noChangeArrowheads="1" noChangeShapeType="1" noTextEdit="1"/>
              </p:cNvSpPr>
              <p:nvPr/>
            </p:nvSpPr>
            <p:spPr>
              <a:xfrm>
                <a:off x="862397" y="3433343"/>
                <a:ext cx="5096139" cy="400110"/>
              </a:xfrm>
              <a:prstGeom prst="rect">
                <a:avLst/>
              </a:prstGeom>
              <a:blipFill>
                <a:blip r:embed="rId30"/>
                <a:stretch>
                  <a:fillRect l="-1196" t="-7576" r="-718"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FBF0D2E-58BC-46D5-99E0-2AEA8A68B059}"/>
                  </a:ext>
                </a:extLst>
              </p:cNvPr>
              <p:cNvSpPr txBox="1"/>
              <p:nvPr/>
            </p:nvSpPr>
            <p:spPr>
              <a:xfrm>
                <a:off x="5630490" y="3317689"/>
                <a:ext cx="2535453" cy="677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𝒕</m:t>
                          </m:r>
                        </m:e>
                        <m:sub>
                          <m:r>
                            <a:rPr lang="en-US" altLang="zh-CN" sz="1800" b="1" i="1" dirty="0" smtClean="0">
                              <a:latin typeface="Cambria Math" panose="02040503050406030204" pitchFamily="18" charset="0"/>
                              <a:ea typeface="微软雅黑" panose="020B0503020204020204" pitchFamily="34" charset="-122"/>
                            </a:rPr>
                            <m:t>𝟐</m:t>
                          </m:r>
                        </m:sub>
                      </m:sSub>
                      <m:r>
                        <a:rPr lang="en-US" altLang="zh-CN" sz="1800" b="1" i="1" dirty="0" smtClean="0">
                          <a:latin typeface="Cambria Math" panose="02040503050406030204" pitchFamily="18" charset="0"/>
                          <a:ea typeface="微软雅黑" panose="020B0503020204020204" pitchFamily="34" charset="-122"/>
                        </a:rPr>
                        <m:t>=</m:t>
                      </m:r>
                      <m:f>
                        <m:fPr>
                          <m:ctrlPr>
                            <a:rPr lang="en-US" altLang="zh-CN" sz="1800" b="1" i="1" dirty="0" smtClean="0">
                              <a:latin typeface="Cambria Math" panose="02040503050406030204" pitchFamily="18" charset="0"/>
                              <a:ea typeface="微软雅黑" panose="020B0503020204020204" pitchFamily="34" charset="-122"/>
                            </a:rPr>
                          </m:ctrlPr>
                        </m:fPr>
                        <m:num>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𝒗</m:t>
                              </m:r>
                            </m:e>
                            <m:sub>
                              <m:r>
                                <a:rPr lang="en-US" altLang="zh-CN" sz="1800" b="1" i="1" dirty="0" smtClean="0">
                                  <a:latin typeface="Cambria Math" panose="02040503050406030204" pitchFamily="18" charset="0"/>
                                  <a:ea typeface="微软雅黑" panose="020B0503020204020204" pitchFamily="34" charset="-122"/>
                                </a:rPr>
                                <m:t>𝒎𝒂𝒙</m:t>
                              </m:r>
                            </m:sub>
                          </m:sSub>
                          <m:r>
                            <a:rPr lang="en-US" altLang="zh-CN" sz="1800" b="1" i="1" dirty="0" smtClean="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Cambria Math" panose="02040503050406030204" pitchFamily="18" charset="0"/>
                                </a:rPr>
                              </m:ctrlPr>
                            </m:sSubPr>
                            <m:e>
                              <m:r>
                                <a:rPr lang="en-US" altLang="zh-CN" b="1" dirty="0">
                                  <a:latin typeface="Cambria Math" panose="02040503050406030204" pitchFamily="18" charset="0"/>
                                  <a:ea typeface="Cambria Math" panose="02040503050406030204" pitchFamily="18" charset="0"/>
                                </a:rPr>
                                <m:t>𝚫</m:t>
                              </m:r>
                              <m:r>
                                <a:rPr lang="en-US" altLang="zh-CN" b="1" i="1" dirty="0">
                                  <a:latin typeface="Cambria Math" panose="02040503050406030204" pitchFamily="18" charset="0"/>
                                  <a:ea typeface="Cambria Math" panose="02040503050406030204" pitchFamily="18" charset="0"/>
                                </a:rPr>
                                <m:t>𝒗</m:t>
                              </m:r>
                            </m:e>
                            <m:sub>
                              <m:r>
                                <a:rPr lang="en-US" altLang="zh-CN" b="1" i="1" dirty="0">
                                  <a:latin typeface="Cambria Math" panose="02040503050406030204" pitchFamily="18" charset="0"/>
                                  <a:ea typeface="Cambria Math" panose="02040503050406030204" pitchFamily="18" charset="0"/>
                                </a:rPr>
                                <m:t>𝟑</m:t>
                              </m:r>
                            </m:sub>
                          </m:sSub>
                          <m:r>
                            <a:rPr lang="en-US" altLang="zh-CN" b="1" i="1" dirty="0" smtClean="0">
                              <a:latin typeface="Cambria Math" panose="02040503050406030204" pitchFamily="18" charset="0"/>
                              <a:ea typeface="Cambria Math" panose="02040503050406030204" pitchFamily="18" charset="0"/>
                            </a:rPr>
                            <m:t>−</m:t>
                          </m:r>
                          <m:sSub>
                            <m:sSubPr>
                              <m:ctrlPr>
                                <a:rPr lang="en-US" altLang="zh-CN" b="1" i="1" dirty="0">
                                  <a:latin typeface="Cambria Math" panose="02040503050406030204" pitchFamily="18" charset="0"/>
                                  <a:ea typeface="Cambria Math" panose="02040503050406030204" pitchFamily="18" charset="0"/>
                                </a:rPr>
                              </m:ctrlPr>
                            </m:sSubPr>
                            <m:e>
                              <m:r>
                                <a:rPr lang="en-US" altLang="zh-CN" b="1" dirty="0">
                                  <a:latin typeface="Cambria Math" panose="02040503050406030204" pitchFamily="18" charset="0"/>
                                  <a:ea typeface="Cambria Math" panose="02040503050406030204" pitchFamily="18" charset="0"/>
                                </a:rPr>
                                <m:t>𝚫</m:t>
                              </m:r>
                              <m:r>
                                <a:rPr lang="en-US" altLang="zh-CN" b="1" i="1" dirty="0">
                                  <a:latin typeface="Cambria Math" panose="02040503050406030204" pitchFamily="18" charset="0"/>
                                  <a:ea typeface="Cambria Math" panose="02040503050406030204" pitchFamily="18" charset="0"/>
                                </a:rPr>
                                <m:t>𝒗</m:t>
                              </m:r>
                            </m:e>
                            <m:sub>
                              <m:r>
                                <a:rPr lang="en-US" altLang="zh-CN" b="1" i="1" dirty="0">
                                  <a:latin typeface="Cambria Math" panose="02040503050406030204" pitchFamily="18" charset="0"/>
                                  <a:ea typeface="Cambria Math" panose="02040503050406030204" pitchFamily="18" charset="0"/>
                                </a:rPr>
                                <m:t>𝟏</m:t>
                              </m:r>
                            </m:sub>
                          </m:sSub>
                        </m:num>
                        <m:den>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𝒂</m:t>
                              </m:r>
                            </m:e>
                            <m:sub>
                              <m:r>
                                <a:rPr lang="en-US" altLang="zh-CN" sz="1800" b="1" i="1" dirty="0" smtClean="0">
                                  <a:latin typeface="Cambria Math" panose="02040503050406030204" pitchFamily="18" charset="0"/>
                                  <a:ea typeface="微软雅黑" panose="020B0503020204020204" pitchFamily="34" charset="-122"/>
                                </a:rPr>
                                <m:t>𝒎𝒂𝒙</m:t>
                              </m:r>
                            </m:sub>
                          </m:sSub>
                        </m:den>
                      </m:f>
                    </m:oMath>
                  </m:oMathPara>
                </a14:m>
                <a:endParaRPr lang="zh-CN" altLang="en-US" dirty="0"/>
              </a:p>
            </p:txBody>
          </p:sp>
        </mc:Choice>
        <mc:Fallback xmlns="">
          <p:sp>
            <p:nvSpPr>
              <p:cNvPr id="19" name="文本框 18">
                <a:extLst>
                  <a:ext uri="{FF2B5EF4-FFF2-40B4-BE49-F238E27FC236}">
                    <a16:creationId xmlns:a16="http://schemas.microsoft.com/office/drawing/2014/main" id="{EFBF0D2E-58BC-46D5-99E0-2AEA8A68B059}"/>
                  </a:ext>
                </a:extLst>
              </p:cNvPr>
              <p:cNvSpPr txBox="1">
                <a:spLocks noRot="1" noChangeAspect="1" noMove="1" noResize="1" noEditPoints="1" noAdjustHandles="1" noChangeArrowheads="1" noChangeShapeType="1" noTextEdit="1"/>
              </p:cNvSpPr>
              <p:nvPr/>
            </p:nvSpPr>
            <p:spPr>
              <a:xfrm>
                <a:off x="5630490" y="3317689"/>
                <a:ext cx="2535453" cy="677750"/>
              </a:xfrm>
              <a:prstGeom prst="rect">
                <a:avLst/>
              </a:prstGeom>
              <a:blipFill>
                <a:blip r:embed="rId3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538573E-443B-4823-875F-6AE707B130FA}"/>
                  </a:ext>
                </a:extLst>
              </p:cNvPr>
              <p:cNvSpPr txBox="1"/>
              <p:nvPr/>
            </p:nvSpPr>
            <p:spPr>
              <a:xfrm>
                <a:off x="862398" y="3931376"/>
                <a:ext cx="7493594" cy="799706"/>
              </a:xfrm>
              <a:prstGeom prst="rect">
                <a:avLst/>
              </a:prstGeom>
              <a:noFill/>
            </p:spPr>
            <p:txBody>
              <a:bodyPr wrap="square" rtlCol="0">
                <a:spAutoFit/>
              </a:bodyPr>
              <a:lstStyle/>
              <a:p>
                <a:pPr>
                  <a:lnSpc>
                    <a:spcPct val="120000"/>
                  </a:lnSpc>
                </a:pPr>
                <a:r>
                  <a:rPr lang="zh-CN" altLang="en-US" sz="2000" dirty="0">
                    <a:latin typeface="微软雅黑" panose="020B0503020204020204" pitchFamily="34" charset="-122"/>
                    <a:ea typeface="微软雅黑" panose="020B0503020204020204" pitchFamily="34" charset="-122"/>
                  </a:rPr>
                  <a:t>否则，没有匀加速段，</a:t>
                </a:r>
                <a14:m>
                  <m:oMath xmlns:m="http://schemas.openxmlformats.org/officeDocument/2006/math">
                    <m:sSub>
                      <m:sSubPr>
                        <m:ctrlPr>
                          <a:rPr lang="en-US" altLang="zh-CN" sz="2000" b="1" i="1" dirty="0" smtClean="0">
                            <a:latin typeface="Cambria Math" panose="02040503050406030204" pitchFamily="18" charset="0"/>
                            <a:ea typeface="微软雅黑" panose="020B0503020204020204" pitchFamily="34" charset="-122"/>
                          </a:rPr>
                        </m:ctrlPr>
                      </m:sSubPr>
                      <m:e>
                        <m:r>
                          <a:rPr lang="en-US" altLang="zh-CN" sz="2000" b="1" i="1" dirty="0" smtClean="0">
                            <a:latin typeface="Cambria Math" panose="02040503050406030204" pitchFamily="18" charset="0"/>
                            <a:ea typeface="微软雅黑" panose="020B0503020204020204" pitchFamily="34" charset="-122"/>
                          </a:rPr>
                          <m:t>𝒕</m:t>
                        </m:r>
                      </m:e>
                      <m:sub>
                        <m:r>
                          <a:rPr lang="en-US" altLang="zh-CN" sz="2000" b="1" i="1" dirty="0" smtClean="0">
                            <a:latin typeface="Cambria Math" panose="02040503050406030204" pitchFamily="18" charset="0"/>
                            <a:ea typeface="微软雅黑" panose="020B0503020204020204" pitchFamily="34" charset="-122"/>
                          </a:rPr>
                          <m:t>𝟐</m:t>
                        </m:r>
                      </m:sub>
                    </m:sSub>
                    <m:r>
                      <a:rPr lang="en-US" altLang="zh-CN" sz="2000" b="1" i="1" dirty="0" smtClean="0">
                        <a:latin typeface="Cambria Math" panose="02040503050406030204" pitchFamily="18" charset="0"/>
                        <a:ea typeface="微软雅黑" panose="020B0503020204020204" pitchFamily="34" charset="-122"/>
                      </a:rPr>
                      <m:t>=</m:t>
                    </m:r>
                    <m:r>
                      <a:rPr lang="en-US" altLang="zh-CN" sz="2000" b="1" i="1" dirty="0" smtClean="0">
                        <a:latin typeface="Cambria Math" panose="02040503050406030204" pitchFamily="18" charset="0"/>
                        <a:ea typeface="微软雅黑" panose="020B0503020204020204" pitchFamily="34" charset="-122"/>
                      </a:rPr>
                      <m:t>𝟎</m:t>
                    </m:r>
                  </m:oMath>
                </a14:m>
                <a:r>
                  <a:rPr lang="zh-CN" altLang="en-US" sz="2000" dirty="0">
                    <a:latin typeface="微软雅黑" panose="020B0503020204020204" pitchFamily="34" charset="-122"/>
                    <a:ea typeface="微软雅黑" panose="020B0503020204020204" pitchFamily="34" charset="-122"/>
                  </a:rPr>
                  <a:t>；重新依照</a:t>
                </a:r>
                <a14:m>
                  <m:oMath xmlns:m="http://schemas.openxmlformats.org/officeDocument/2006/math">
                    <m:sSub>
                      <m:sSubPr>
                        <m:ctrlPr>
                          <a:rPr lang="en-US" altLang="zh-CN" sz="2000" b="1" i="1" dirty="0">
                            <a:latin typeface="Cambria Math" panose="02040503050406030204" pitchFamily="18" charset="0"/>
                            <a:ea typeface="Cambria Math" panose="02040503050406030204" pitchFamily="18" charset="0"/>
                          </a:rPr>
                        </m:ctrlPr>
                      </m:sSubPr>
                      <m:e>
                        <m:r>
                          <a:rPr lang="en-US" altLang="zh-CN" sz="2000" b="1" i="1" dirty="0">
                            <a:latin typeface="Cambria Math" panose="02040503050406030204" pitchFamily="18" charset="0"/>
                            <a:ea typeface="Cambria Math" panose="02040503050406030204" pitchFamily="18" charset="0"/>
                          </a:rPr>
                          <m:t>𝒗</m:t>
                        </m:r>
                      </m:e>
                      <m:sub>
                        <m:r>
                          <a:rPr lang="en-US" altLang="zh-CN" sz="2000" b="1" i="1" dirty="0">
                            <a:latin typeface="Cambria Math" panose="02040503050406030204" pitchFamily="18" charset="0"/>
                            <a:ea typeface="Cambria Math" panose="02040503050406030204" pitchFamily="18" charset="0"/>
                          </a:rPr>
                          <m:t>𝒎𝒂𝒙</m:t>
                        </m:r>
                      </m:sub>
                    </m:sSub>
                  </m:oMath>
                </a14:m>
                <a:r>
                  <a:rPr lang="zh-CN" altLang="en-US" sz="2000" dirty="0">
                    <a:latin typeface="微软雅黑" panose="020B0503020204020204" pitchFamily="34" charset="-122"/>
                    <a:ea typeface="微软雅黑" panose="020B0503020204020204" pitchFamily="34" charset="-122"/>
                  </a:rPr>
                  <a:t>计算</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微软雅黑" panose="020B0503020204020204" pitchFamily="34" charset="-122"/>
                    <a:ea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（当速度达到</a:t>
                </a:r>
                <a14:m>
                  <m:oMath xmlns:m="http://schemas.openxmlformats.org/officeDocument/2006/math">
                    <m:sSub>
                      <m:sSubPr>
                        <m:ctrlPr>
                          <a:rPr lang="en-US" altLang="zh-CN" sz="2000" b="1" i="1" dirty="0">
                            <a:latin typeface="Cambria Math" panose="02040503050406030204" pitchFamily="18" charset="0"/>
                            <a:ea typeface="Cambria Math" panose="02040503050406030204" pitchFamily="18" charset="0"/>
                          </a:rPr>
                        </m:ctrlPr>
                      </m:sSubPr>
                      <m:e>
                        <m:r>
                          <a:rPr lang="en-US" altLang="zh-CN" sz="2000" b="1" i="1" dirty="0">
                            <a:latin typeface="Cambria Math" panose="02040503050406030204" pitchFamily="18" charset="0"/>
                            <a:ea typeface="Cambria Math" panose="02040503050406030204" pitchFamily="18" charset="0"/>
                          </a:rPr>
                          <m:t>𝒗</m:t>
                        </m:r>
                      </m:e>
                      <m:sub>
                        <m:r>
                          <a:rPr lang="en-US" altLang="zh-CN" sz="2000" b="1" i="1" dirty="0">
                            <a:latin typeface="Cambria Math" panose="02040503050406030204" pitchFamily="18" charset="0"/>
                            <a:ea typeface="Cambria Math" panose="02040503050406030204" pitchFamily="18" charset="0"/>
                          </a:rPr>
                          <m:t>𝒎𝒂𝒙</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时，加加速度掉头为负，进入减加速段）</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20" name="文本框 19">
                <a:extLst>
                  <a:ext uri="{FF2B5EF4-FFF2-40B4-BE49-F238E27FC236}">
                    <a16:creationId xmlns:a16="http://schemas.microsoft.com/office/drawing/2014/main" id="{2538573E-443B-4823-875F-6AE707B130FA}"/>
                  </a:ext>
                </a:extLst>
              </p:cNvPr>
              <p:cNvSpPr txBox="1">
                <a:spLocks noRot="1" noChangeAspect="1" noMove="1" noResize="1" noEditPoints="1" noAdjustHandles="1" noChangeArrowheads="1" noChangeShapeType="1" noTextEdit="1"/>
              </p:cNvSpPr>
              <p:nvPr/>
            </p:nvSpPr>
            <p:spPr>
              <a:xfrm>
                <a:off x="862398" y="3931376"/>
                <a:ext cx="7493594" cy="799706"/>
              </a:xfrm>
              <a:prstGeom prst="rect">
                <a:avLst/>
              </a:prstGeom>
              <a:blipFill>
                <a:blip r:embed="rId32"/>
                <a:stretch>
                  <a:fillRect l="-813" t="-763" b="-12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90D91F39-8F28-4330-B10D-119CC55343C8}"/>
                  </a:ext>
                </a:extLst>
              </p:cNvPr>
              <p:cNvSpPr txBox="1"/>
              <p:nvPr/>
            </p:nvSpPr>
            <p:spPr>
              <a:xfrm>
                <a:off x="85286" y="4664882"/>
                <a:ext cx="6208600" cy="581057"/>
              </a:xfrm>
              <a:prstGeom prst="rect">
                <a:avLst/>
              </a:prstGeom>
              <a:noFill/>
            </p:spPr>
            <p:txBody>
              <a:bodyPr wrap="square">
                <a:spAutoFit/>
              </a:bodyPr>
              <a:lstStyle/>
              <a:p>
                <a:pPr marL="342900" lvl="1" indent="-342900">
                  <a:lnSpc>
                    <a:spcPct val="150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减速过程：同理可求</a:t>
                </a:r>
                <a14:m>
                  <m:oMath xmlns:m="http://schemas.openxmlformats.org/officeDocument/2006/math">
                    <m:sSub>
                      <m:sSubPr>
                        <m:ctrlPr>
                          <a:rPr lang="en-US" altLang="zh-CN" sz="2400" b="1" i="1" dirty="0">
                            <a:latin typeface="Cambria Math" panose="02040503050406030204" pitchFamily="18" charset="0"/>
                            <a:ea typeface="微软雅黑" panose="020B0503020204020204" pitchFamily="34" charset="-122"/>
                          </a:rPr>
                        </m:ctrlPr>
                      </m:sSubPr>
                      <m:e>
                        <m:r>
                          <a:rPr lang="en-US" altLang="zh-CN" sz="2400" b="1" dirty="0">
                            <a:latin typeface="Cambria Math" panose="02040503050406030204" pitchFamily="18" charset="0"/>
                            <a:ea typeface="微软雅黑" panose="020B0503020204020204" pitchFamily="34" charset="-122"/>
                          </a:rPr>
                          <m:t>𝒕</m:t>
                        </m:r>
                      </m:e>
                      <m:sub>
                        <m:r>
                          <a:rPr lang="en-US" altLang="zh-CN" sz="2400" b="1" dirty="0">
                            <a:latin typeface="Cambria Math" panose="02040503050406030204" pitchFamily="18" charset="0"/>
                            <a:ea typeface="微软雅黑" panose="020B0503020204020204" pitchFamily="34" charset="-122"/>
                          </a:rPr>
                          <m:t>𝟓</m:t>
                        </m:r>
                      </m:sub>
                    </m:sSub>
                    <m:r>
                      <a:rPr lang="zh-CN" altLang="en-US" sz="2400" b="1" dirty="0">
                        <a:latin typeface="Cambria Math" panose="02040503050406030204" pitchFamily="18" charset="0"/>
                        <a:ea typeface="微软雅黑" panose="020B0503020204020204" pitchFamily="34" charset="-122"/>
                      </a:rPr>
                      <m:t>，</m:t>
                    </m:r>
                    <m:sSub>
                      <m:sSubPr>
                        <m:ctrlPr>
                          <a:rPr lang="en-US" altLang="zh-CN" sz="2400" b="1" i="1" dirty="0">
                            <a:latin typeface="Cambria Math" panose="02040503050406030204" pitchFamily="18" charset="0"/>
                            <a:ea typeface="微软雅黑" panose="020B0503020204020204" pitchFamily="34" charset="-122"/>
                          </a:rPr>
                        </m:ctrlPr>
                      </m:sSubPr>
                      <m:e>
                        <m:r>
                          <a:rPr lang="en-US" altLang="zh-CN" sz="2400" b="1" dirty="0">
                            <a:latin typeface="Cambria Math" panose="02040503050406030204" pitchFamily="18" charset="0"/>
                            <a:ea typeface="微软雅黑" panose="020B0503020204020204" pitchFamily="34" charset="-122"/>
                          </a:rPr>
                          <m:t>𝒕</m:t>
                        </m:r>
                      </m:e>
                      <m:sub>
                        <m:r>
                          <a:rPr lang="en-US" altLang="zh-CN" sz="2400" b="1" dirty="0">
                            <a:latin typeface="Cambria Math" panose="02040503050406030204" pitchFamily="18" charset="0"/>
                            <a:ea typeface="微软雅黑" panose="020B0503020204020204" pitchFamily="34" charset="-122"/>
                          </a:rPr>
                          <m:t>𝟔</m:t>
                        </m:r>
                      </m:sub>
                    </m:sSub>
                    <m:r>
                      <a:rPr lang="en-US" altLang="zh-CN" sz="2400" b="1" dirty="0">
                        <a:latin typeface="Cambria Math" panose="02040503050406030204" pitchFamily="18" charset="0"/>
                        <a:ea typeface="微软雅黑" panose="020B0503020204020204" pitchFamily="34" charset="-122"/>
                      </a:rPr>
                      <m:t>,  </m:t>
                    </m:r>
                    <m:sSub>
                      <m:sSubPr>
                        <m:ctrlPr>
                          <a:rPr lang="en-US" altLang="zh-CN" sz="2400" b="1" i="1" dirty="0">
                            <a:latin typeface="Cambria Math" panose="02040503050406030204" pitchFamily="18" charset="0"/>
                            <a:ea typeface="微软雅黑" panose="020B0503020204020204" pitchFamily="34" charset="-122"/>
                          </a:rPr>
                        </m:ctrlPr>
                      </m:sSubPr>
                      <m:e>
                        <m:r>
                          <a:rPr lang="en-US" altLang="zh-CN" sz="2400" b="1" dirty="0">
                            <a:latin typeface="Cambria Math" panose="02040503050406030204" pitchFamily="18" charset="0"/>
                            <a:ea typeface="微软雅黑" panose="020B0503020204020204" pitchFamily="34" charset="-122"/>
                          </a:rPr>
                          <m:t>𝒕</m:t>
                        </m:r>
                      </m:e>
                      <m:sub>
                        <m:r>
                          <a:rPr lang="en-US" altLang="zh-CN" sz="2400" b="1" dirty="0">
                            <a:latin typeface="Cambria Math" panose="02040503050406030204" pitchFamily="18" charset="0"/>
                            <a:ea typeface="微软雅黑" panose="020B0503020204020204" pitchFamily="34" charset="-122"/>
                          </a:rPr>
                          <m:t>𝟕</m:t>
                        </m:r>
                      </m:sub>
                    </m:sSub>
                  </m:oMath>
                </a14:m>
                <a:endParaRPr lang="en-US" altLang="zh-CN" sz="2400" b="1" dirty="0">
                  <a:latin typeface="微软雅黑" panose="020B0503020204020204" pitchFamily="34" charset="-122"/>
                  <a:ea typeface="微软雅黑" panose="020B0503020204020204" pitchFamily="34" charset="-122"/>
                </a:endParaRPr>
              </a:p>
            </p:txBody>
          </p:sp>
        </mc:Choice>
        <mc:Fallback xmlns="">
          <p:sp>
            <p:nvSpPr>
              <p:cNvPr id="22" name="文本框 21">
                <a:extLst>
                  <a:ext uri="{FF2B5EF4-FFF2-40B4-BE49-F238E27FC236}">
                    <a16:creationId xmlns:a16="http://schemas.microsoft.com/office/drawing/2014/main" id="{90D91F39-8F28-4330-B10D-119CC55343C8}"/>
                  </a:ext>
                </a:extLst>
              </p:cNvPr>
              <p:cNvSpPr txBox="1">
                <a:spLocks noRot="1" noChangeAspect="1" noMove="1" noResize="1" noEditPoints="1" noAdjustHandles="1" noChangeArrowheads="1" noChangeShapeType="1" noTextEdit="1"/>
              </p:cNvSpPr>
              <p:nvPr/>
            </p:nvSpPr>
            <p:spPr>
              <a:xfrm>
                <a:off x="85286" y="4664882"/>
                <a:ext cx="6208600" cy="581057"/>
              </a:xfrm>
              <a:prstGeom prst="rect">
                <a:avLst/>
              </a:prstGeom>
              <a:blipFill>
                <a:blip r:embed="rId33"/>
                <a:stretch>
                  <a:fillRect l="-1375" b="-229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9968FEA-F653-4F7C-BF6F-EC38FCA630FD}"/>
                  </a:ext>
                </a:extLst>
              </p:cNvPr>
              <p:cNvSpPr txBox="1"/>
              <p:nvPr/>
            </p:nvSpPr>
            <p:spPr>
              <a:xfrm>
                <a:off x="85286" y="5180806"/>
                <a:ext cx="8144314" cy="1109599"/>
              </a:xfrm>
              <a:prstGeom prst="rect">
                <a:avLst/>
              </a:prstGeom>
              <a:noFill/>
            </p:spPr>
            <p:txBody>
              <a:bodyPr wrap="square">
                <a:spAutoFit/>
              </a:bodyPr>
              <a:lstStyle/>
              <a:p>
                <a:pPr marL="342900" lvl="1" indent="-342900">
                  <a:lnSpc>
                    <a:spcPct val="150000"/>
                  </a:lnSpc>
                  <a:spcBef>
                    <a:spcPts val="600"/>
                  </a:spcBef>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匀速过程：</a:t>
                </a:r>
                <a:r>
                  <a:rPr lang="zh-CN" altLang="en-US" sz="2000" b="1" i="0" dirty="0">
                    <a:latin typeface="微软雅黑" panose="020B0503020204020204" pitchFamily="34" charset="-122"/>
                    <a:ea typeface="微软雅黑" panose="020B0503020204020204" pitchFamily="34" charset="-122"/>
                  </a:rPr>
                  <a:t>已知</a:t>
                </a:r>
                <a14:m>
                  <m:oMath xmlns:m="http://schemas.openxmlformats.org/officeDocument/2006/math">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𝒕</m:t>
                        </m:r>
                      </m:e>
                      <m:sub>
                        <m:r>
                          <a:rPr lang="en-US" altLang="zh-CN" sz="2000" b="1" i="1" dirty="0">
                            <a:latin typeface="Cambria Math" panose="02040503050406030204" pitchFamily="18" charset="0"/>
                            <a:ea typeface="微软雅黑" panose="020B0503020204020204" pitchFamily="34" charset="-122"/>
                          </a:rPr>
                          <m:t>𝟏</m:t>
                        </m:r>
                      </m:sub>
                    </m:sSub>
                    <m:r>
                      <a:rPr lang="zh-CN" altLang="en-US" sz="2000" b="1" dirty="0" smtClean="0">
                        <a:latin typeface="Cambria Math" panose="02040503050406030204" pitchFamily="18" charset="0"/>
                        <a:ea typeface="微软雅黑" panose="020B0503020204020204" pitchFamily="34" charset="-122"/>
                      </a:rPr>
                      <m:t>，</m:t>
                    </m:r>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𝒕</m:t>
                        </m:r>
                      </m:e>
                      <m:sub>
                        <m:r>
                          <a:rPr lang="en-US" altLang="zh-CN" sz="2000" b="1" i="1" dirty="0">
                            <a:latin typeface="Cambria Math" panose="02040503050406030204" pitchFamily="18" charset="0"/>
                            <a:ea typeface="微软雅黑" panose="020B0503020204020204" pitchFamily="34" charset="-122"/>
                          </a:rPr>
                          <m:t>𝟐</m:t>
                        </m:r>
                      </m:sub>
                    </m:sSub>
                    <m:r>
                      <a:rPr lang="zh-CN" altLang="en-US" sz="2000" b="1" dirty="0">
                        <a:latin typeface="Cambria Math" panose="02040503050406030204" pitchFamily="18" charset="0"/>
                        <a:ea typeface="微软雅黑" panose="020B0503020204020204" pitchFamily="34" charset="-122"/>
                      </a:rPr>
                      <m:t>，</m:t>
                    </m:r>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𝒕</m:t>
                        </m:r>
                      </m:e>
                      <m:sub>
                        <m:r>
                          <a:rPr lang="en-US" altLang="zh-CN" sz="2000" b="1" i="1" dirty="0">
                            <a:latin typeface="Cambria Math" panose="02040503050406030204" pitchFamily="18" charset="0"/>
                            <a:ea typeface="微软雅黑" panose="020B0503020204020204" pitchFamily="34" charset="-122"/>
                          </a:rPr>
                          <m:t>𝟑</m:t>
                        </m:r>
                      </m:sub>
                    </m:sSub>
                    <m:r>
                      <a:rPr lang="zh-CN" altLang="en-US" sz="2000" b="1" dirty="0" smtClean="0">
                        <a:latin typeface="Cambria Math" panose="02040503050406030204" pitchFamily="18" charset="0"/>
                        <a:ea typeface="微软雅黑" panose="020B0503020204020204" pitchFamily="34" charset="-122"/>
                      </a:rPr>
                      <m:t>，</m:t>
                    </m:r>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𝒕</m:t>
                        </m:r>
                      </m:e>
                      <m:sub>
                        <m:r>
                          <a:rPr lang="en-US" altLang="zh-CN" sz="2000" b="1" i="1" dirty="0">
                            <a:latin typeface="Cambria Math" panose="02040503050406030204" pitchFamily="18" charset="0"/>
                            <a:ea typeface="微软雅黑" panose="020B0503020204020204" pitchFamily="34" charset="-122"/>
                          </a:rPr>
                          <m:t>𝟓</m:t>
                        </m:r>
                      </m:sub>
                    </m:sSub>
                    <m:r>
                      <a:rPr lang="zh-CN" altLang="en-US" sz="2000" b="1" dirty="0">
                        <a:latin typeface="Cambria Math" panose="02040503050406030204" pitchFamily="18" charset="0"/>
                        <a:ea typeface="微软雅黑" panose="020B0503020204020204" pitchFamily="34" charset="-122"/>
                      </a:rPr>
                      <m:t>，</m:t>
                    </m:r>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𝒕</m:t>
                        </m:r>
                      </m:e>
                      <m:sub>
                        <m:r>
                          <a:rPr lang="en-US" altLang="zh-CN" sz="2000" b="1" i="1" dirty="0">
                            <a:latin typeface="Cambria Math" panose="02040503050406030204" pitchFamily="18" charset="0"/>
                            <a:ea typeface="微软雅黑" panose="020B0503020204020204" pitchFamily="34" charset="-122"/>
                          </a:rPr>
                          <m:t>𝟔</m:t>
                        </m:r>
                      </m:sub>
                    </m:sSub>
                    <m:r>
                      <a:rPr lang="en-US" altLang="zh-CN" sz="2000" b="1" dirty="0">
                        <a:latin typeface="Cambria Math" panose="02040503050406030204" pitchFamily="18" charset="0"/>
                        <a:ea typeface="微软雅黑" panose="020B0503020204020204" pitchFamily="34" charset="-122"/>
                      </a:rPr>
                      <m:t>,  </m:t>
                    </m:r>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𝒕</m:t>
                        </m:r>
                      </m:e>
                      <m:sub>
                        <m:r>
                          <a:rPr lang="en-US" altLang="zh-CN" sz="2000" b="1" i="1" dirty="0">
                            <a:latin typeface="Cambria Math" panose="02040503050406030204" pitchFamily="18" charset="0"/>
                            <a:ea typeface="微软雅黑" panose="020B0503020204020204" pitchFamily="34" charset="-122"/>
                          </a:rPr>
                          <m:t>𝟕</m:t>
                        </m:r>
                      </m:sub>
                    </m:sSub>
                  </m:oMath>
                </a14:m>
                <a:r>
                  <a:rPr lang="zh-CN" altLang="en-US" sz="2000" b="1" i="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求出这些时间段的位移之和 </a:t>
                </a:r>
                <a14:m>
                  <m:oMath xmlns:m="http://schemas.openxmlformats.org/officeDocument/2006/math">
                    <m:r>
                      <a:rPr lang="en-US" altLang="zh-CN" sz="2000" b="1">
                        <a:latin typeface="Cambria Math" panose="02040503050406030204" pitchFamily="18" charset="0"/>
                        <a:ea typeface="微软雅黑" panose="020B0503020204020204" pitchFamily="34" charset="-122"/>
                      </a:rPr>
                      <m:t>𝚫</m:t>
                    </m:r>
                    <m:r>
                      <a:rPr lang="en-US" altLang="zh-CN" sz="2000" b="1">
                        <a:latin typeface="Cambria Math" panose="02040503050406030204" pitchFamily="18" charset="0"/>
                        <a:ea typeface="微软雅黑" panose="020B0503020204020204" pitchFamily="34" charset="-122"/>
                      </a:rPr>
                      <m:t>𝒒</m:t>
                    </m:r>
                  </m:oMath>
                </a14:m>
                <a:r>
                  <a:rPr lang="zh-CN" altLang="en-US" sz="2000" b="1" i="0" dirty="0">
                    <a:latin typeface="微软雅黑" panose="020B0503020204020204" pitchFamily="34" charset="-122"/>
                    <a:ea typeface="微软雅黑" panose="020B0503020204020204" pitchFamily="34" charset="-122"/>
                  </a:rPr>
                  <a:t>，如果小于总位移，即：</a:t>
                </a:r>
                <a14:m>
                  <m:oMath xmlns:m="http://schemas.openxmlformats.org/officeDocument/2006/math">
                    <m:r>
                      <a:rPr lang="en-US" altLang="zh-CN" sz="2000" b="1">
                        <a:latin typeface="Cambria Math" panose="02040503050406030204" pitchFamily="18" charset="0"/>
                        <a:ea typeface="微软雅黑" panose="020B0503020204020204" pitchFamily="34" charset="-122"/>
                      </a:rPr>
                      <m:t>𝚫</m:t>
                    </m:r>
                    <m:r>
                      <a:rPr lang="en-US" altLang="zh-CN" sz="2000" b="1">
                        <a:latin typeface="Cambria Math" panose="02040503050406030204" pitchFamily="18" charset="0"/>
                        <a:ea typeface="微软雅黑" panose="020B0503020204020204" pitchFamily="34" charset="-122"/>
                      </a:rPr>
                      <m:t>𝒒</m:t>
                    </m:r>
                    <m:r>
                      <a:rPr lang="en-US" altLang="zh-CN" sz="2000" b="1" i="1" smtClean="0">
                        <a:latin typeface="Cambria Math" panose="02040503050406030204" pitchFamily="18" charset="0"/>
                        <a:ea typeface="微软雅黑" panose="020B0503020204020204" pitchFamily="34" charset="-122"/>
                      </a:rPr>
                      <m:t>&lt;</m:t>
                    </m:r>
                    <m:sSub>
                      <m:sSubPr>
                        <m:ctrlPr>
                          <a:rPr lang="en-US" altLang="zh-CN" sz="2000" b="1" i="1" dirty="0" smtClean="0">
                            <a:latin typeface="Cambria Math" panose="02040503050406030204" pitchFamily="18" charset="0"/>
                            <a:ea typeface="微软雅黑" panose="020B0503020204020204" pitchFamily="34" charset="-122"/>
                          </a:rPr>
                        </m:ctrlPr>
                      </m:sSubPr>
                      <m:e>
                        <m:sSub>
                          <m:sSubPr>
                            <m:ctrlPr>
                              <a:rPr lang="en-US" altLang="zh-CN" sz="2000" b="1" i="1" dirty="0" smtClean="0">
                                <a:latin typeface="Cambria Math" panose="02040503050406030204" pitchFamily="18" charset="0"/>
                                <a:ea typeface="微软雅黑" panose="020B0503020204020204" pitchFamily="34" charset="-122"/>
                              </a:rPr>
                            </m:ctrlPr>
                          </m:sSubPr>
                          <m:e>
                            <m:r>
                              <a:rPr lang="en-US" altLang="zh-CN" sz="2000" b="1" i="1" dirty="0" smtClean="0">
                                <a:latin typeface="Cambria Math" panose="02040503050406030204" pitchFamily="18" charset="0"/>
                                <a:ea typeface="微软雅黑" panose="020B0503020204020204" pitchFamily="34" charset="-122"/>
                              </a:rPr>
                              <m:t>𝒒</m:t>
                            </m:r>
                          </m:e>
                          <m:sub>
                            <m:r>
                              <a:rPr lang="en-US" altLang="zh-CN" sz="2000" b="1" i="1" dirty="0" smtClean="0">
                                <a:latin typeface="Cambria Math" panose="02040503050406030204" pitchFamily="18" charset="0"/>
                                <a:ea typeface="微软雅黑" panose="020B0503020204020204" pitchFamily="34" charset="-122"/>
                              </a:rPr>
                              <m:t>𝒇</m:t>
                            </m:r>
                          </m:sub>
                        </m:sSub>
                        <m:r>
                          <a:rPr lang="en-US" altLang="zh-CN" sz="2000" b="1" i="1" dirty="0" smtClean="0">
                            <a:latin typeface="Cambria Math" panose="02040503050406030204" pitchFamily="18" charset="0"/>
                            <a:ea typeface="微软雅黑" panose="020B0503020204020204" pitchFamily="34" charset="-122"/>
                          </a:rPr>
                          <m:t>−</m:t>
                        </m:r>
                        <m:r>
                          <a:rPr lang="en-US" altLang="zh-CN" sz="2000" b="1" i="1" dirty="0" smtClean="0">
                            <a:latin typeface="Cambria Math" panose="02040503050406030204" pitchFamily="18" charset="0"/>
                            <a:ea typeface="微软雅黑" panose="020B0503020204020204" pitchFamily="34" charset="-122"/>
                          </a:rPr>
                          <m:t>𝒒</m:t>
                        </m:r>
                      </m:e>
                      <m:sub>
                        <m:r>
                          <a:rPr lang="en-US" altLang="zh-CN" sz="2000" b="1" i="1" dirty="0" smtClean="0">
                            <a:latin typeface="Cambria Math" panose="02040503050406030204" pitchFamily="18" charset="0"/>
                            <a:ea typeface="微软雅黑" panose="020B0503020204020204" pitchFamily="34" charset="-122"/>
                          </a:rPr>
                          <m:t>𝟎</m:t>
                        </m:r>
                      </m:sub>
                    </m:sSub>
                  </m:oMath>
                </a14:m>
                <a:r>
                  <a:rPr lang="zh-CN" altLang="en-US" sz="2000" b="1" dirty="0">
                    <a:latin typeface="微软雅黑" panose="020B0503020204020204" pitchFamily="34" charset="-122"/>
                    <a:ea typeface="微软雅黑" panose="020B0503020204020204" pitchFamily="34" charset="-122"/>
                  </a:rPr>
                  <a:t>，则</a:t>
                </a:r>
                <a:endParaRPr lang="zh-CN" altLang="en-US" sz="2000" dirty="0"/>
              </a:p>
            </p:txBody>
          </p:sp>
        </mc:Choice>
        <mc:Fallback xmlns="">
          <p:sp>
            <p:nvSpPr>
              <p:cNvPr id="24" name="文本框 23">
                <a:extLst>
                  <a:ext uri="{FF2B5EF4-FFF2-40B4-BE49-F238E27FC236}">
                    <a16:creationId xmlns:a16="http://schemas.microsoft.com/office/drawing/2014/main" id="{B9968FEA-F653-4F7C-BF6F-EC38FCA630FD}"/>
                  </a:ext>
                </a:extLst>
              </p:cNvPr>
              <p:cNvSpPr txBox="1">
                <a:spLocks noRot="1" noChangeAspect="1" noMove="1" noResize="1" noEditPoints="1" noAdjustHandles="1" noChangeArrowheads="1" noChangeShapeType="1" noTextEdit="1"/>
              </p:cNvSpPr>
              <p:nvPr/>
            </p:nvSpPr>
            <p:spPr>
              <a:xfrm>
                <a:off x="85286" y="5180806"/>
                <a:ext cx="8144314" cy="1109599"/>
              </a:xfrm>
              <a:prstGeom prst="rect">
                <a:avLst/>
              </a:prstGeom>
              <a:blipFill>
                <a:blip r:embed="rId34"/>
                <a:stretch>
                  <a:fillRect l="-1048" b="-60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5768840-B604-41A2-9C32-24AFD074057B}"/>
                  </a:ext>
                </a:extLst>
              </p:cNvPr>
              <p:cNvSpPr txBox="1"/>
              <p:nvPr/>
            </p:nvSpPr>
            <p:spPr>
              <a:xfrm>
                <a:off x="6185714" y="5713192"/>
                <a:ext cx="2026414" cy="6723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𝒕</m:t>
                          </m:r>
                        </m:e>
                        <m:sub>
                          <m:r>
                            <a:rPr lang="en-US" altLang="zh-CN" sz="1800" b="1" i="1" dirty="0" smtClean="0">
                              <a:latin typeface="Cambria Math" panose="02040503050406030204" pitchFamily="18" charset="0"/>
                              <a:ea typeface="微软雅黑" panose="020B0503020204020204" pitchFamily="34" charset="-122"/>
                            </a:rPr>
                            <m:t>𝟒</m:t>
                          </m:r>
                        </m:sub>
                      </m:sSub>
                      <m:r>
                        <a:rPr lang="en-US" altLang="zh-CN" sz="1800" b="1" i="1" dirty="0" smtClean="0">
                          <a:latin typeface="Cambria Math" panose="02040503050406030204" pitchFamily="18" charset="0"/>
                          <a:ea typeface="微软雅黑" panose="020B0503020204020204" pitchFamily="34" charset="-122"/>
                        </a:rPr>
                        <m:t>=</m:t>
                      </m:r>
                      <m:f>
                        <m:fPr>
                          <m:ctrlPr>
                            <a:rPr lang="en-US" altLang="zh-CN" sz="1800" b="1" i="1" dirty="0" smtClean="0">
                              <a:latin typeface="Cambria Math" panose="02040503050406030204" pitchFamily="18" charset="0"/>
                              <a:ea typeface="微软雅黑" panose="020B0503020204020204" pitchFamily="34" charset="-122"/>
                            </a:rPr>
                          </m:ctrlPr>
                        </m:fPr>
                        <m:num>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𝒒</m:t>
                              </m:r>
                            </m:e>
                            <m:sub>
                              <m:r>
                                <a:rPr lang="en-US" altLang="zh-CN" sz="1800" b="1" i="1" dirty="0" smtClean="0">
                                  <a:latin typeface="Cambria Math" panose="02040503050406030204" pitchFamily="18" charset="0"/>
                                  <a:ea typeface="微软雅黑" panose="020B0503020204020204" pitchFamily="34" charset="-122"/>
                                </a:rPr>
                                <m:t>𝒇</m:t>
                              </m:r>
                            </m:sub>
                          </m:sSub>
                          <m:r>
                            <a:rPr lang="en-US" altLang="zh-CN" sz="1800" b="1" i="1" dirty="0" smtClean="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r>
                                <a:rPr lang="en-US" altLang="zh-CN" b="1" i="1" dirty="0">
                                  <a:latin typeface="Cambria Math" panose="02040503050406030204" pitchFamily="18" charset="0"/>
                                  <a:ea typeface="微软雅黑" panose="020B0503020204020204" pitchFamily="34" charset="-122"/>
                                </a:rPr>
                                <m:t>𝒒</m:t>
                              </m:r>
                            </m:e>
                            <m:sub>
                              <m:r>
                                <a:rPr lang="en-US" altLang="zh-CN" b="1" i="1" dirty="0" smtClean="0">
                                  <a:latin typeface="Cambria Math" panose="02040503050406030204" pitchFamily="18" charset="0"/>
                                  <a:ea typeface="微软雅黑" panose="020B0503020204020204" pitchFamily="34" charset="-122"/>
                                </a:rPr>
                                <m:t>𝟎</m:t>
                              </m:r>
                            </m:sub>
                          </m:sSub>
                          <m:r>
                            <a:rPr lang="en-US" altLang="zh-CN" b="1" i="1" dirty="0" smtClean="0">
                              <a:latin typeface="Cambria Math" panose="02040503050406030204" pitchFamily="18" charset="0"/>
                              <a:ea typeface="微软雅黑" panose="020B0503020204020204" pitchFamily="34" charset="-122"/>
                            </a:rPr>
                            <m:t>−</m:t>
                          </m:r>
                          <m:r>
                            <a:rPr lang="en-US" altLang="zh-CN" b="1">
                              <a:latin typeface="Cambria Math" panose="02040503050406030204" pitchFamily="18" charset="0"/>
                              <a:ea typeface="微软雅黑" panose="020B0503020204020204" pitchFamily="34" charset="-122"/>
                            </a:rPr>
                            <m:t>𝚫</m:t>
                          </m:r>
                          <m:r>
                            <a:rPr lang="en-US" altLang="zh-CN" b="1">
                              <a:latin typeface="Cambria Math" panose="02040503050406030204" pitchFamily="18" charset="0"/>
                              <a:ea typeface="微软雅黑" panose="020B0503020204020204" pitchFamily="34" charset="-122"/>
                            </a:rPr>
                            <m:t>𝒒</m:t>
                          </m:r>
                        </m:num>
                        <m:den>
                          <m:sSub>
                            <m:sSubPr>
                              <m:ctrlPr>
                                <a:rPr lang="en-US" altLang="zh-CN" sz="1800" b="1" i="1" dirty="0" smtClean="0">
                                  <a:latin typeface="Cambria Math" panose="02040503050406030204" pitchFamily="18" charset="0"/>
                                  <a:ea typeface="微软雅黑" panose="020B0503020204020204" pitchFamily="34" charset="-122"/>
                                </a:rPr>
                              </m:ctrlPr>
                            </m:sSubPr>
                            <m:e>
                              <m:r>
                                <a:rPr lang="en-US" altLang="zh-CN" sz="1800" b="1" i="1" dirty="0" smtClean="0">
                                  <a:latin typeface="Cambria Math" panose="02040503050406030204" pitchFamily="18" charset="0"/>
                                  <a:ea typeface="微软雅黑" panose="020B0503020204020204" pitchFamily="34" charset="-122"/>
                                </a:rPr>
                                <m:t>𝒗</m:t>
                              </m:r>
                            </m:e>
                            <m:sub>
                              <m:r>
                                <a:rPr lang="en-US" altLang="zh-CN" sz="1800" b="1" i="1" dirty="0" smtClean="0">
                                  <a:latin typeface="Cambria Math" panose="02040503050406030204" pitchFamily="18" charset="0"/>
                                  <a:ea typeface="微软雅黑" panose="020B0503020204020204" pitchFamily="34" charset="-122"/>
                                </a:rPr>
                                <m:t>𝒎𝒂𝒙</m:t>
                              </m:r>
                            </m:sub>
                          </m:sSub>
                        </m:den>
                      </m:f>
                    </m:oMath>
                  </m:oMathPara>
                </a14:m>
                <a:endParaRPr lang="zh-CN" altLang="en-US" dirty="0"/>
              </a:p>
            </p:txBody>
          </p:sp>
        </mc:Choice>
        <mc:Fallback xmlns="">
          <p:sp>
            <p:nvSpPr>
              <p:cNvPr id="25" name="文本框 24">
                <a:extLst>
                  <a:ext uri="{FF2B5EF4-FFF2-40B4-BE49-F238E27FC236}">
                    <a16:creationId xmlns:a16="http://schemas.microsoft.com/office/drawing/2014/main" id="{D5768840-B604-41A2-9C32-24AFD074057B}"/>
                  </a:ext>
                </a:extLst>
              </p:cNvPr>
              <p:cNvSpPr txBox="1">
                <a:spLocks noRot="1" noChangeAspect="1" noMove="1" noResize="1" noEditPoints="1" noAdjustHandles="1" noChangeArrowheads="1" noChangeShapeType="1" noTextEdit="1"/>
              </p:cNvSpPr>
              <p:nvPr/>
            </p:nvSpPr>
            <p:spPr>
              <a:xfrm>
                <a:off x="6185714" y="5713192"/>
                <a:ext cx="2026414" cy="672364"/>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5B680E0-0B92-4F13-8239-0C2A2EF2D194}"/>
                  </a:ext>
                </a:extLst>
              </p:cNvPr>
              <p:cNvSpPr txBox="1"/>
              <p:nvPr/>
            </p:nvSpPr>
            <p:spPr>
              <a:xfrm>
                <a:off x="463910" y="6327054"/>
                <a:ext cx="10568278" cy="535468"/>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否则，需重新规划加、减速过程：降低</a:t>
                </a:r>
                <a14:m>
                  <m:oMath xmlns:m="http://schemas.openxmlformats.org/officeDocument/2006/math">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𝒋</m:t>
                        </m:r>
                      </m:e>
                      <m:sub>
                        <m:r>
                          <a:rPr lang="en-US" altLang="zh-CN" sz="2000" b="1" i="1" dirty="0">
                            <a:latin typeface="Cambria Math" panose="02040503050406030204" pitchFamily="18" charset="0"/>
                            <a:ea typeface="微软雅黑" panose="020B0503020204020204" pitchFamily="34" charset="-122"/>
                          </a:rPr>
                          <m:t>𝒎𝒂𝒙</m:t>
                        </m:r>
                      </m:sub>
                    </m:sSub>
                  </m:oMath>
                </a14:m>
                <a:r>
                  <a:rPr lang="zh-CN" altLang="en-US" sz="2000" b="1" dirty="0">
                    <a:latin typeface="微软雅黑" panose="020B0503020204020204" pitchFamily="34" charset="-122"/>
                    <a:ea typeface="微软雅黑" panose="020B0503020204020204" pitchFamily="34" charset="-122"/>
                  </a:rPr>
                  <a:t>，使加、减速段的位置行程等于</a:t>
                </a:r>
                <a14:m>
                  <m:oMath xmlns:m="http://schemas.openxmlformats.org/officeDocument/2006/math">
                    <m:f>
                      <m:fPr>
                        <m:ctrlPr>
                          <a:rPr lang="en-US" altLang="zh-CN" sz="2000" b="1" i="1" smtClean="0">
                            <a:latin typeface="Cambria Math" panose="02040503050406030204" pitchFamily="18" charset="0"/>
                            <a:ea typeface="微软雅黑" panose="020B0503020204020204" pitchFamily="34" charset="-122"/>
                          </a:rPr>
                        </m:ctrlPr>
                      </m:fPr>
                      <m:num>
                        <m:r>
                          <a:rPr lang="en-US" altLang="zh-CN" sz="2000" b="1" i="1" smtClean="0">
                            <a:latin typeface="Cambria Math" panose="02040503050406030204" pitchFamily="18" charset="0"/>
                            <a:ea typeface="微软雅黑" panose="020B0503020204020204" pitchFamily="34" charset="-122"/>
                          </a:rPr>
                          <m:t>𝟏</m:t>
                        </m:r>
                      </m:num>
                      <m:den>
                        <m:r>
                          <a:rPr lang="en-US" altLang="zh-CN" sz="2000" b="1" i="1" smtClean="0">
                            <a:latin typeface="Cambria Math" panose="02040503050406030204" pitchFamily="18" charset="0"/>
                            <a:ea typeface="微软雅黑" panose="020B0503020204020204" pitchFamily="34" charset="-122"/>
                          </a:rPr>
                          <m:t>𝟐</m:t>
                        </m:r>
                      </m:den>
                    </m:f>
                    <m:r>
                      <a:rPr lang="en-US" altLang="zh-CN" sz="2000" b="1" smtClean="0">
                        <a:latin typeface="Cambria Math" panose="02040503050406030204" pitchFamily="18" charset="0"/>
                        <a:ea typeface="微软雅黑" panose="020B0503020204020204" pitchFamily="34" charset="-122"/>
                      </a:rPr>
                      <m:t>𝚫</m:t>
                    </m:r>
                    <m:r>
                      <a:rPr lang="en-US" altLang="zh-CN" sz="2000" b="1" smtClean="0">
                        <a:latin typeface="Cambria Math" panose="02040503050406030204" pitchFamily="18" charset="0"/>
                        <a:ea typeface="微软雅黑" panose="020B0503020204020204" pitchFamily="34" charset="-122"/>
                      </a:rPr>
                      <m:t>𝒒</m:t>
                    </m:r>
                    <m:r>
                      <a:rPr lang="en-US" altLang="zh-CN" sz="2000" b="1" i="1" smtClean="0">
                        <a:latin typeface="Cambria Math" panose="02040503050406030204" pitchFamily="18" charset="0"/>
                        <a:ea typeface="微软雅黑" panose="020B0503020204020204" pitchFamily="34" charset="-122"/>
                      </a:rPr>
                      <m:t>=</m:t>
                    </m:r>
                    <m:sSub>
                      <m:sSubPr>
                        <m:ctrlPr>
                          <a:rPr lang="en-US" altLang="zh-CN" sz="2000" b="1" i="1" dirty="0" smtClean="0">
                            <a:latin typeface="Cambria Math" panose="02040503050406030204" pitchFamily="18" charset="0"/>
                            <a:ea typeface="微软雅黑" panose="020B0503020204020204" pitchFamily="34" charset="-122"/>
                          </a:rPr>
                        </m:ctrlPr>
                      </m:sSubPr>
                      <m:e>
                        <m:sSub>
                          <m:sSubPr>
                            <m:ctrlPr>
                              <a:rPr lang="en-US" altLang="zh-CN" sz="2000" b="1" i="1" dirty="0">
                                <a:latin typeface="Cambria Math" panose="02040503050406030204" pitchFamily="18" charset="0"/>
                                <a:ea typeface="微软雅黑" panose="020B0503020204020204" pitchFamily="34" charset="-122"/>
                              </a:rPr>
                            </m:ctrlPr>
                          </m:sSubPr>
                          <m:e>
                            <m:r>
                              <a:rPr lang="en-US" altLang="zh-CN" sz="2000" b="1" i="1" dirty="0">
                                <a:latin typeface="Cambria Math" panose="02040503050406030204" pitchFamily="18" charset="0"/>
                                <a:ea typeface="微软雅黑" panose="020B0503020204020204" pitchFamily="34" charset="-122"/>
                              </a:rPr>
                              <m:t>𝒒</m:t>
                            </m:r>
                          </m:e>
                          <m:sub>
                            <m:r>
                              <a:rPr lang="en-US" altLang="zh-CN" sz="2000" b="1" i="1" dirty="0">
                                <a:latin typeface="Cambria Math" panose="02040503050406030204" pitchFamily="18" charset="0"/>
                                <a:ea typeface="微软雅黑" panose="020B0503020204020204" pitchFamily="34" charset="-122"/>
                              </a:rPr>
                              <m:t>𝒇</m:t>
                            </m:r>
                          </m:sub>
                        </m:sSub>
                        <m:r>
                          <a:rPr lang="en-US" altLang="zh-CN" sz="2000" b="1" i="1" dirty="0">
                            <a:latin typeface="Cambria Math" panose="02040503050406030204" pitchFamily="18" charset="0"/>
                            <a:ea typeface="微软雅黑" panose="020B0503020204020204" pitchFamily="34" charset="-122"/>
                          </a:rPr>
                          <m:t>−</m:t>
                        </m:r>
                        <m:r>
                          <a:rPr lang="en-US" altLang="zh-CN" sz="2000" b="1" i="1" dirty="0">
                            <a:latin typeface="Cambria Math" panose="02040503050406030204" pitchFamily="18" charset="0"/>
                            <a:ea typeface="微软雅黑" panose="020B0503020204020204" pitchFamily="34" charset="-122"/>
                          </a:rPr>
                          <m:t>𝒒</m:t>
                        </m:r>
                      </m:e>
                      <m:sub>
                        <m:r>
                          <a:rPr lang="en-US" altLang="zh-CN" sz="2000" b="1" i="1" dirty="0">
                            <a:latin typeface="Cambria Math" panose="02040503050406030204" pitchFamily="18" charset="0"/>
                            <a:ea typeface="微软雅黑" panose="020B0503020204020204" pitchFamily="34" charset="-122"/>
                          </a:rPr>
                          <m:t>𝟎</m:t>
                        </m:r>
                      </m:sub>
                    </m:sSub>
                  </m:oMath>
                </a14:m>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D5B680E0-0B92-4F13-8239-0C2A2EF2D194}"/>
                  </a:ext>
                </a:extLst>
              </p:cNvPr>
              <p:cNvSpPr txBox="1">
                <a:spLocks noRot="1" noChangeAspect="1" noMove="1" noResize="1" noEditPoints="1" noAdjustHandles="1" noChangeArrowheads="1" noChangeShapeType="1" noTextEdit="1"/>
              </p:cNvSpPr>
              <p:nvPr/>
            </p:nvSpPr>
            <p:spPr>
              <a:xfrm>
                <a:off x="463910" y="6327054"/>
                <a:ext cx="10568278" cy="535468"/>
              </a:xfrm>
              <a:prstGeom prst="rect">
                <a:avLst/>
              </a:prstGeom>
              <a:blipFill>
                <a:blip r:embed="rId36"/>
                <a:stretch>
                  <a:fillRect l="-577" b="-68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7378100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fill="hold"/>
                                        <p:tgtEl>
                                          <p:spTgt spid="24"/>
                                        </p:tgtEl>
                                        <p:attrNameLst>
                                          <p:attrName>ppt_x</p:attrName>
                                        </p:attrNameLst>
                                      </p:cBhvr>
                                      <p:tavLst>
                                        <p:tav tm="0">
                                          <p:val>
                                            <p:strVal val="#ppt_x"/>
                                          </p:val>
                                        </p:tav>
                                        <p:tav tm="100000">
                                          <p:val>
                                            <p:strVal val="#ppt_x"/>
                                          </p:val>
                                        </p:tav>
                                      </p:tavLst>
                                    </p:anim>
                                    <p:anim calcmode="lin" valueType="num">
                                      <p:cBhvr additive="base">
                                        <p:cTn id="70" dur="500" fill="hold"/>
                                        <p:tgtEl>
                                          <p:spTgt spid="2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2" grpId="0"/>
      <p:bldP spid="13" grpId="0"/>
      <p:bldP spid="14" grpId="0"/>
      <p:bldP spid="15" grpId="0"/>
      <p:bldP spid="16" grpId="0"/>
      <p:bldP spid="17" grpId="0"/>
      <p:bldP spid="19" grpId="0"/>
      <p:bldP spid="20" grpId="0"/>
      <p:bldP spid="22" grpId="0"/>
      <p:bldP spid="24" grpId="0"/>
      <p:bldP spid="25"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ED92E7F-7167-42DB-97A4-43BE40CDAF18}"/>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27</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D546BCF-C6FD-440D-A4DC-CF5A1ED70122}"/>
                  </a:ext>
                </a:extLst>
              </p:cNvPr>
              <p:cNvSpPr txBox="1"/>
              <p:nvPr/>
            </p:nvSpPr>
            <p:spPr>
              <a:xfrm>
                <a:off x="836132" y="1358921"/>
                <a:ext cx="10418966" cy="4507452"/>
              </a:xfrm>
              <a:prstGeom prst="rect">
                <a:avLst/>
              </a:prstGeom>
              <a:noFill/>
            </p:spPr>
            <p:txBody>
              <a:bodyPr wrap="square" rtlCol="0">
                <a:spAutoFit/>
              </a:bodyPr>
              <a:lstStyle/>
              <a:p>
                <a:pPr marL="342900" indent="-342900">
                  <a:lnSpc>
                    <a:spcPct val="120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计算各个关节执行时间</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𝒇𝒊</m:t>
                        </m:r>
                      </m:sub>
                    </m:sSub>
                    <m:r>
                      <a:rPr lang="en-US" altLang="zh-CN" sz="2400" b="1" i="1" smtClean="0">
                        <a:latin typeface="Cambria Math" panose="02040503050406030204" pitchFamily="18" charset="0"/>
                        <a:ea typeface="微软雅黑" panose="020B0503020204020204" pitchFamily="34" charset="-122"/>
                      </a:rPr>
                      <m:t>, </m:t>
                    </m:r>
                    <m:r>
                      <a:rPr lang="en-US" altLang="zh-CN" sz="2400" b="1" i="1" smtClean="0">
                        <a:latin typeface="Cambria Math" panose="02040503050406030204" pitchFamily="18" charset="0"/>
                        <a:ea typeface="微软雅黑" panose="020B0503020204020204" pitchFamily="34" charset="-122"/>
                      </a:rPr>
                      <m:t>𝒊</m:t>
                    </m:r>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𝟏</m:t>
                    </m:r>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𝒏</m:t>
                    </m:r>
                  </m:oMath>
                </a14:m>
                <a:endParaRPr lang="en-US" altLang="zh-CN" sz="2400" b="1" dirty="0">
                  <a:latin typeface="微软雅黑" panose="020B0503020204020204" pitchFamily="34" charset="-122"/>
                  <a:ea typeface="微软雅黑" panose="020B0503020204020204" pitchFamily="34" charset="-122"/>
                </a:endParaRPr>
              </a:p>
              <a:p>
                <a:pPr marL="342900" indent="-342900">
                  <a:lnSpc>
                    <a:spcPct val="120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求取最大的执行时间：</a:t>
                </a:r>
                <a:endParaRPr lang="en-US" altLang="zh-CN" sz="2400" b="1" dirty="0">
                  <a:latin typeface="Cambria Math" panose="02040503050406030204" pitchFamily="18" charset="0"/>
                  <a:ea typeface="微软雅黑" panose="020B0503020204020204" pitchFamily="34" charset="-122"/>
                </a:endParaRPr>
              </a:p>
              <a:p>
                <a:pPr>
                  <a:lnSpc>
                    <a:spcPct val="12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𝒎𝒂𝒙</m:t>
                          </m:r>
                        </m:sub>
                      </m:sSub>
                      <m:r>
                        <a:rPr lang="en-US" altLang="zh-CN" sz="2400" b="1" i="1" smtClean="0">
                          <a:latin typeface="Cambria Math" panose="02040503050406030204" pitchFamily="18" charset="0"/>
                          <a:ea typeface="微软雅黑" panose="020B0503020204020204" pitchFamily="34" charset="-122"/>
                        </a:rPr>
                        <m:t>=</m:t>
                      </m:r>
                      <m:r>
                        <a:rPr lang="en-US" altLang="zh-CN" sz="2400" b="1" i="0" smtClean="0">
                          <a:latin typeface="Cambria Math" panose="02040503050406030204" pitchFamily="18" charset="0"/>
                          <a:ea typeface="微软雅黑" panose="020B0503020204020204" pitchFamily="34" charset="-122"/>
                        </a:rPr>
                        <m:t>𝐦𝐚𝐱</m:t>
                      </m:r>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𝒇𝒊</m:t>
                          </m:r>
                        </m:sub>
                      </m:sSub>
                      <m:r>
                        <a:rPr lang="en-US" altLang="zh-CN" sz="2400" b="1" i="1" smtClean="0">
                          <a:latin typeface="Cambria Math" panose="02040503050406030204" pitchFamily="18" charset="0"/>
                          <a:ea typeface="微软雅黑" panose="020B0503020204020204" pitchFamily="34" charset="-122"/>
                        </a:rPr>
                        <m:t>]</m:t>
                      </m:r>
                      <m:r>
                        <a:rPr lang="en-US" altLang="zh-CN" sz="2400" b="1">
                          <a:latin typeface="Cambria Math" panose="02040503050406030204" pitchFamily="18" charset="0"/>
                          <a:ea typeface="微软雅黑" panose="020B0503020204020204" pitchFamily="34" charset="-122"/>
                        </a:rPr>
                        <m:t>, </m:t>
                      </m:r>
                      <m:r>
                        <a:rPr lang="en-US" altLang="zh-CN" sz="2400" b="1" i="1">
                          <a:latin typeface="Cambria Math" panose="02040503050406030204" pitchFamily="18" charset="0"/>
                          <a:ea typeface="微软雅黑" panose="020B0503020204020204" pitchFamily="34" charset="-122"/>
                        </a:rPr>
                        <m:t>𝐢</m:t>
                      </m:r>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𝟏</m:t>
                      </m:r>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𝐧</m:t>
                      </m:r>
                    </m:oMath>
                  </m:oMathPara>
                </a14:m>
                <a:endParaRPr lang="en-US" altLang="zh-CN" sz="2400" b="1" dirty="0">
                  <a:latin typeface="微软雅黑" panose="020B0503020204020204" pitchFamily="34" charset="-122"/>
                  <a:ea typeface="微软雅黑" panose="020B0503020204020204" pitchFamily="34" charset="-122"/>
                </a:endParaRPr>
              </a:p>
              <a:p>
                <a:pPr marL="342900" indent="-342900">
                  <a:lnSpc>
                    <a:spcPct val="120000"/>
                  </a:lnSpc>
                  <a:spcBef>
                    <a:spcPts val="600"/>
                  </a:spcBef>
                  <a:spcAft>
                    <a:spcPts val="600"/>
                  </a:spcAft>
                  <a:buFont typeface="Wingdings" panose="05000000000000000000" pitchFamily="2" charset="2"/>
                  <a:buChar char="n"/>
                </a:pPr>
                <a:r>
                  <a:rPr lang="zh-CN" altLang="en-US" sz="2400" b="1" i="0" dirty="0">
                    <a:latin typeface="微软雅黑" panose="020B0503020204020204" pitchFamily="34" charset="-122"/>
                    <a:ea typeface="微软雅黑" panose="020B0503020204020204" pitchFamily="34" charset="-122"/>
                  </a:rPr>
                  <a:t>各关节按照求得的执行时间</a:t>
                </a:r>
                <a14:m>
                  <m:oMath xmlns:m="http://schemas.openxmlformats.org/officeDocument/2006/math">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𝒕</m:t>
                        </m:r>
                      </m:e>
                      <m:sub>
                        <m:r>
                          <a:rPr lang="en-US" altLang="zh-CN" sz="2400" b="1" i="1">
                            <a:latin typeface="Cambria Math" panose="02040503050406030204" pitchFamily="18" charset="0"/>
                            <a:ea typeface="微软雅黑" panose="020B0503020204020204" pitchFamily="34" charset="-122"/>
                          </a:rPr>
                          <m:t>𝒇</m:t>
                        </m:r>
                      </m:sub>
                    </m:sSub>
                  </m:oMath>
                </a14:m>
                <a:r>
                  <a:rPr lang="zh-CN" altLang="en-US" sz="2400" b="1" i="0" dirty="0">
                    <a:latin typeface="微软雅黑" panose="020B0503020204020204" pitchFamily="34" charset="-122"/>
                    <a:ea typeface="微软雅黑" panose="020B0503020204020204" pitchFamily="34" charset="-122"/>
                  </a:rPr>
                  <a:t>重新规划</a:t>
                </a:r>
                <a:endParaRPr lang="en-US" altLang="zh-CN" sz="2400" b="1" i="0" dirty="0">
                  <a:latin typeface="微软雅黑" panose="020B0503020204020204" pitchFamily="34" charset="-122"/>
                  <a:ea typeface="微软雅黑" panose="020B0503020204020204" pitchFamily="34" charset="-122"/>
                </a:endParaRPr>
              </a:p>
              <a:p>
                <a:pPr marL="800100" lvl="1" indent="-342900">
                  <a:lnSpc>
                    <a:spcPct val="120000"/>
                  </a:lnSpc>
                  <a:spcBef>
                    <a:spcPts val="600"/>
                  </a:spcBef>
                  <a:spcAft>
                    <a:spcPts val="600"/>
                  </a:spcAft>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等比缩放：仅适用于</a:t>
                </a:r>
                <a14:m>
                  <m:oMath xmlns:m="http://schemas.openxmlformats.org/officeDocument/2006/math">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𝒊</m:t>
                        </m:r>
                      </m:sub>
                    </m:sSub>
                    <m:r>
                      <a:rPr lang="en-US" altLang="zh-CN" sz="2400" b="1" dirty="0">
                        <a:latin typeface="Cambria Math" panose="02040503050406030204" pitchFamily="18" charset="0"/>
                      </a:rPr>
                      <m:t>=</m:t>
                    </m:r>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dirty="0">
                            <a:latin typeface="Cambria Math" panose="02040503050406030204" pitchFamily="18" charset="0"/>
                          </a:rPr>
                          <m:t>𝒊</m:t>
                        </m:r>
                      </m:sub>
                    </m:sSub>
                    <m:r>
                      <a:rPr lang="en-US" altLang="zh-CN" sz="2400" b="1" dirty="0">
                        <a:latin typeface="Cambria Math" panose="02040503050406030204" pitchFamily="18" charset="0"/>
                      </a:rPr>
                      <m:t>=</m:t>
                    </m:r>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a:latin typeface="Cambria Math" panose="02040503050406030204" pitchFamily="18" charset="0"/>
                          </a:rPr>
                          <m:t>𝒇</m:t>
                        </m:r>
                      </m:sub>
                    </m:sSub>
                    <m:r>
                      <a:rPr lang="en-US" altLang="zh-CN" sz="2400" b="1" dirty="0">
                        <a:latin typeface="Cambria Math" panose="02040503050406030204" pitchFamily="18" charset="0"/>
                      </a:rPr>
                      <m:t>=</m:t>
                    </m:r>
                    <m:sSub>
                      <m:sSubPr>
                        <m:ctrlPr>
                          <a:rPr lang="en-US" altLang="zh-CN" sz="2400" b="1" i="1">
                            <a:latin typeface="Cambria Math" panose="02040503050406030204" pitchFamily="18" charset="0"/>
                          </a:rPr>
                        </m:ctrlPr>
                      </m:sSubPr>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𝒒</m:t>
                            </m:r>
                          </m:e>
                        </m:acc>
                      </m:e>
                      <m:sub>
                        <m:r>
                          <a:rPr lang="en-US" altLang="zh-CN" sz="2400" b="1" i="1">
                            <a:latin typeface="Cambria Math" panose="02040503050406030204" pitchFamily="18" charset="0"/>
                          </a:rPr>
                          <m:t>𝒇</m:t>
                        </m:r>
                      </m:sub>
                    </m:sSub>
                    <m:r>
                      <a:rPr lang="en-US" altLang="zh-CN" sz="2400" b="1">
                        <a:latin typeface="Cambria Math" panose="02040503050406030204" pitchFamily="18" charset="0"/>
                      </a:rPr>
                      <m:t>=</m:t>
                    </m:r>
                    <m:r>
                      <a:rPr lang="en-US" altLang="zh-CN" sz="2400" b="1" dirty="0">
                        <a:latin typeface="Cambria Math" panose="02040503050406030204" pitchFamily="18" charset="0"/>
                      </a:rPr>
                      <m:t>𝟎</m:t>
                    </m:r>
                  </m:oMath>
                </a14:m>
                <a:endParaRPr lang="en-US" altLang="zh-CN" sz="2400" b="1" i="0" dirty="0">
                  <a:latin typeface="微软雅黑" panose="020B0503020204020204" pitchFamily="34" charset="-122"/>
                  <a:ea typeface="微软雅黑" panose="020B0503020204020204" pitchFamily="34" charset="-122"/>
                </a:endParaRPr>
              </a:p>
              <a:p>
                <a:pPr lvl="2">
                  <a:lnSpc>
                    <a:spcPct val="120000"/>
                  </a:lnSpc>
                  <a:spcBef>
                    <a:spcPts val="600"/>
                  </a:spcBef>
                  <a:spcAft>
                    <a:spcPts val="600"/>
                  </a:spcAft>
                </a:pPr>
                <a:r>
                  <a:rPr lang="en-US" altLang="zh-CN" sz="2400" b="1" dirty="0">
                    <a:ea typeface="微软雅黑" panose="020B0503020204020204" pitchFamily="34" charset="-122"/>
                  </a:rPr>
                  <a:t>                 </a:t>
                </a:r>
                <a14:m>
                  <m:oMath xmlns:m="http://schemas.openxmlformats.org/officeDocument/2006/math">
                    <m:r>
                      <a:rPr lang="en-US" altLang="zh-CN" sz="2400" b="1" i="0" smtClean="0">
                        <a:latin typeface="Cambria Math" panose="02040503050406030204" pitchFamily="18" charset="0"/>
                        <a:ea typeface="微软雅黑" panose="020B0503020204020204" pitchFamily="34" charset="-122"/>
                      </a:rPr>
                      <m:t>𝚫</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𝒔</m:t>
                        </m:r>
                      </m:e>
                      <m:sub>
                        <m:r>
                          <a:rPr lang="en-US" altLang="zh-CN" sz="2400" b="1" i="1" smtClean="0">
                            <a:latin typeface="Cambria Math" panose="02040503050406030204" pitchFamily="18" charset="0"/>
                            <a:ea typeface="微软雅黑" panose="020B0503020204020204" pitchFamily="34" charset="-122"/>
                          </a:rPr>
                          <m:t>𝒊</m:t>
                        </m:r>
                      </m:sub>
                    </m:sSub>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𝒗</m:t>
                        </m:r>
                      </m:e>
                      <m:sub>
                        <m:r>
                          <a:rPr lang="en-US" altLang="zh-CN" sz="2400" b="1" i="1" smtClean="0">
                            <a:latin typeface="Cambria Math" panose="02040503050406030204" pitchFamily="18" charset="0"/>
                            <a:ea typeface="微软雅黑" panose="020B0503020204020204" pitchFamily="34" charset="-122"/>
                          </a:rPr>
                          <m:t>𝒊</m:t>
                        </m:r>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𝒎𝒂𝒙</m:t>
                        </m:r>
                      </m:sub>
                    </m:sSub>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m:t>
                        </m:r>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𝒎𝒂𝒙</m:t>
                        </m:r>
                      </m:sub>
                    </m:sSub>
                    <m:r>
                      <a:rPr lang="en-US" altLang="zh-CN" sz="2400" b="1" i="1" smtClean="0">
                        <a:latin typeface="Cambria Math" panose="02040503050406030204" pitchFamily="18" charset="0"/>
                        <a:ea typeface="微软雅黑" panose="020B0503020204020204" pitchFamily="34" charset="-122"/>
                      </a:rPr>
                      <m:t>−</m:t>
                    </m:r>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𝒕</m:t>
                        </m:r>
                      </m:e>
                      <m:sub>
                        <m:r>
                          <a:rPr lang="en-US" altLang="zh-CN" sz="2400" b="1" i="1" smtClean="0">
                            <a:latin typeface="Cambria Math" panose="02040503050406030204" pitchFamily="18" charset="0"/>
                            <a:ea typeface="微软雅黑" panose="020B0503020204020204" pitchFamily="34" charset="-122"/>
                          </a:rPr>
                          <m:t>𝒇𝒊</m:t>
                        </m:r>
                      </m:sub>
                    </m:sSub>
                    <m:r>
                      <a:rPr lang="en-US" altLang="zh-CN" sz="2400" b="1" i="1" smtClean="0">
                        <a:latin typeface="Cambria Math" panose="02040503050406030204" pitchFamily="18" charset="0"/>
                        <a:ea typeface="微软雅黑" panose="020B0503020204020204" pitchFamily="34" charset="-122"/>
                      </a:rPr>
                      <m:t>)</m:t>
                    </m:r>
                  </m:oMath>
                </a14:m>
                <a:r>
                  <a:rPr lang="zh-CN" altLang="en-US" sz="2400" b="1" i="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𝒌</m:t>
                        </m:r>
                      </m:e>
                      <m:sub>
                        <m:r>
                          <a:rPr lang="en-US" altLang="zh-CN" sz="2400" b="1" i="1" smtClean="0">
                            <a:latin typeface="Cambria Math" panose="02040503050406030204" pitchFamily="18" charset="0"/>
                            <a:ea typeface="微软雅黑" panose="020B0503020204020204" pitchFamily="34" charset="-122"/>
                          </a:rPr>
                          <m:t>𝒊</m:t>
                        </m:r>
                      </m:sub>
                    </m:sSub>
                    <m:r>
                      <a:rPr lang="en-US" altLang="zh-CN" sz="2400" b="1" i="1" smtClean="0">
                        <a:latin typeface="Cambria Math" panose="02040503050406030204" pitchFamily="18" charset="0"/>
                        <a:ea typeface="微软雅黑" panose="020B0503020204020204" pitchFamily="34" charset="-122"/>
                      </a:rPr>
                      <m:t>=</m:t>
                    </m:r>
                    <m:f>
                      <m:fPr>
                        <m:ctrlPr>
                          <a:rPr lang="en-US" altLang="zh-CN" sz="2400" b="1" i="1" smtClean="0">
                            <a:latin typeface="Cambria Math" panose="02040503050406030204" pitchFamily="18" charset="0"/>
                            <a:ea typeface="微软雅黑" panose="020B0503020204020204" pitchFamily="34" charset="-122"/>
                          </a:rPr>
                        </m:ctrlPr>
                      </m:fPr>
                      <m:num>
                        <m:sSub>
                          <m:sSubPr>
                            <m:ctrlPr>
                              <a:rPr lang="en-US" altLang="zh-CN" sz="2400" b="1" i="1" smtClean="0">
                                <a:latin typeface="Cambria Math" panose="02040503050406030204" pitchFamily="18" charset="0"/>
                                <a:ea typeface="微软雅黑" panose="020B0503020204020204" pitchFamily="34" charset="-122"/>
                              </a:rPr>
                            </m:ctrlPr>
                          </m:sSubPr>
                          <m:e>
                            <m:sSub>
                              <m:sSubPr>
                                <m:ctrlPr>
                                  <a:rPr lang="en-US" altLang="zh-CN" sz="2400" b="1" i="1" smtClean="0">
                                    <a:latin typeface="Cambria Math" panose="02040503050406030204" pitchFamily="18" charset="0"/>
                                    <a:ea typeface="微软雅黑" panose="020B0503020204020204" pitchFamily="34" charset="-122"/>
                                  </a:rPr>
                                </m:ctrlPr>
                              </m:sSubPr>
                              <m:e>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𝒒</m:t>
                                </m:r>
                              </m:e>
                              <m:sub>
                                <m:r>
                                  <a:rPr lang="en-US" altLang="zh-CN" sz="2400" b="1" i="1" smtClean="0">
                                    <a:latin typeface="Cambria Math" panose="02040503050406030204" pitchFamily="18" charset="0"/>
                                    <a:ea typeface="微软雅黑" panose="020B0503020204020204" pitchFamily="34" charset="-122"/>
                                  </a:rPr>
                                  <m:t>𝒊𝒇</m:t>
                                </m:r>
                              </m:sub>
                            </m:sSub>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𝒒</m:t>
                            </m:r>
                          </m:e>
                          <m:sub>
                            <m:r>
                              <a:rPr lang="en-US" altLang="zh-CN" sz="2400" b="1" i="1" smtClean="0">
                                <a:latin typeface="Cambria Math" panose="02040503050406030204" pitchFamily="18" charset="0"/>
                                <a:ea typeface="微软雅黑" panose="020B0503020204020204" pitchFamily="34" charset="-122"/>
                              </a:rPr>
                              <m:t>𝒊</m:t>
                            </m:r>
                            <m:r>
                              <a:rPr lang="en-US" altLang="zh-CN" sz="2400" b="1" i="1" smtClean="0">
                                <a:latin typeface="Cambria Math" panose="02040503050406030204" pitchFamily="18" charset="0"/>
                                <a:ea typeface="微软雅黑" panose="020B0503020204020204" pitchFamily="34" charset="-122"/>
                              </a:rPr>
                              <m:t>𝟎</m:t>
                            </m:r>
                          </m:sub>
                        </m:sSub>
                        <m:r>
                          <a:rPr lang="en-US" altLang="zh-CN" sz="2400" b="1" i="1" smtClean="0">
                            <a:latin typeface="Cambria Math" panose="02040503050406030204" pitchFamily="18" charset="0"/>
                            <a:ea typeface="微软雅黑" panose="020B0503020204020204" pitchFamily="34" charset="-122"/>
                          </a:rPr>
                          <m:t>) </m:t>
                        </m:r>
                      </m:num>
                      <m:den>
                        <m:sSub>
                          <m:sSubPr>
                            <m:ctrlPr>
                              <a:rPr lang="en-US" altLang="zh-CN" sz="2400" b="1" i="1">
                                <a:latin typeface="Cambria Math" panose="02040503050406030204" pitchFamily="18" charset="0"/>
                                <a:ea typeface="微软雅黑" panose="020B0503020204020204" pitchFamily="34" charset="-122"/>
                              </a:rPr>
                            </m:ctrlPr>
                          </m:sSubPr>
                          <m:e>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𝒒</m:t>
                                </m:r>
                              </m:e>
                              <m:sub>
                                <m:r>
                                  <a:rPr lang="en-US" altLang="zh-CN" sz="2400" b="1" i="1">
                                    <a:latin typeface="Cambria Math" panose="02040503050406030204" pitchFamily="18" charset="0"/>
                                    <a:ea typeface="微软雅黑" panose="020B0503020204020204" pitchFamily="34" charset="-122"/>
                                  </a:rPr>
                                  <m:t>𝒊𝒇</m:t>
                                </m:r>
                              </m:sub>
                            </m:sSub>
                            <m:r>
                              <a:rPr lang="en-US" altLang="zh-CN" sz="2400" b="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𝒒</m:t>
                            </m:r>
                          </m:e>
                          <m:sub>
                            <m:r>
                              <a:rPr lang="en-US" altLang="zh-CN" sz="2400" b="1" i="1">
                                <a:latin typeface="Cambria Math" panose="02040503050406030204" pitchFamily="18" charset="0"/>
                                <a:ea typeface="微软雅黑" panose="020B0503020204020204" pitchFamily="34" charset="-122"/>
                              </a:rPr>
                              <m:t>𝒊</m:t>
                            </m:r>
                            <m:r>
                              <a:rPr lang="en-US" altLang="zh-CN" sz="2400" b="1" i="1">
                                <a:latin typeface="Cambria Math" panose="02040503050406030204" pitchFamily="18" charset="0"/>
                                <a:ea typeface="微软雅黑" panose="020B0503020204020204" pitchFamily="34" charset="-122"/>
                              </a:rPr>
                              <m:t>𝟎</m:t>
                            </m:r>
                          </m:sub>
                        </m:sSub>
                        <m:r>
                          <a:rPr lang="en-US" altLang="zh-CN" sz="2400" b="1">
                            <a:latin typeface="Cambria Math" panose="02040503050406030204" pitchFamily="18" charset="0"/>
                            <a:ea typeface="微软雅黑" panose="020B0503020204020204" pitchFamily="34" charset="-122"/>
                          </a:rPr>
                          <m:t>)+</m:t>
                        </m:r>
                        <m:r>
                          <a:rPr lang="en-US" altLang="zh-CN" sz="2400" b="1" i="0">
                            <a:latin typeface="Cambria Math" panose="02040503050406030204" pitchFamily="18" charset="0"/>
                            <a:ea typeface="微软雅黑" panose="020B0503020204020204" pitchFamily="34" charset="-122"/>
                          </a:rPr>
                          <m:t>𝚫</m:t>
                        </m:r>
                        <m:sSub>
                          <m:sSubPr>
                            <m:ctrlPr>
                              <a:rPr lang="en-US" altLang="zh-CN" sz="2400" b="1" i="1">
                                <a:latin typeface="Cambria Math" panose="02040503050406030204" pitchFamily="18" charset="0"/>
                                <a:ea typeface="微软雅黑" panose="020B0503020204020204" pitchFamily="34" charset="-122"/>
                              </a:rPr>
                            </m:ctrlPr>
                          </m:sSubPr>
                          <m:e>
                            <m:r>
                              <a:rPr lang="en-US" altLang="zh-CN" sz="2400" b="1" i="1">
                                <a:latin typeface="Cambria Math" panose="02040503050406030204" pitchFamily="18" charset="0"/>
                                <a:ea typeface="微软雅黑" panose="020B0503020204020204" pitchFamily="34" charset="-122"/>
                              </a:rPr>
                              <m:t>𝒔</m:t>
                            </m:r>
                          </m:e>
                          <m:sub>
                            <m:r>
                              <a:rPr lang="en-US" altLang="zh-CN" sz="2400" b="1" i="1">
                                <a:latin typeface="Cambria Math" panose="02040503050406030204" pitchFamily="18" charset="0"/>
                                <a:ea typeface="微软雅黑" panose="020B0503020204020204" pitchFamily="34" charset="-122"/>
                              </a:rPr>
                              <m:t>𝒊</m:t>
                            </m:r>
                          </m:sub>
                        </m:sSub>
                      </m:den>
                    </m:f>
                  </m:oMath>
                </a14:m>
                <a:endParaRPr lang="en-US" altLang="zh-CN" sz="2400" b="1" i="0" dirty="0">
                  <a:latin typeface="微软雅黑" panose="020B0503020204020204" pitchFamily="34" charset="-122"/>
                  <a:ea typeface="微软雅黑" panose="020B0503020204020204" pitchFamily="34" charset="-122"/>
                </a:endParaRPr>
              </a:p>
              <a:p>
                <a:pPr marL="800100" lvl="1" indent="-342900">
                  <a:lnSpc>
                    <a:spcPct val="120000"/>
                  </a:lnSpc>
                  <a:spcBef>
                    <a:spcPts val="600"/>
                  </a:spcBef>
                  <a:spcAft>
                    <a:spcPts val="600"/>
                  </a:spcAft>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优化</a:t>
                </a:r>
                <a:r>
                  <a:rPr lang="en-US" altLang="zh-CN" sz="2400" b="1" i="0" dirty="0">
                    <a:latin typeface="微软雅黑" panose="020B0503020204020204" pitchFamily="34" charset="-122"/>
                    <a:ea typeface="微软雅黑" panose="020B0503020204020204" pitchFamily="34" charset="-122"/>
                  </a:rPr>
                  <a:t>Jerk</a:t>
                </a:r>
                <a:r>
                  <a:rPr lang="zh-CN" altLang="en-US" sz="2400" b="1" i="0" dirty="0">
                    <a:latin typeface="微软雅黑" panose="020B0503020204020204" pitchFamily="34" charset="-122"/>
                    <a:ea typeface="微软雅黑" panose="020B0503020204020204" pitchFamily="34" charset="-122"/>
                  </a:rPr>
                  <a:t>使其最小</a:t>
                </a:r>
                <a:endParaRPr lang="en-US" altLang="zh-CN" sz="2400" b="1" i="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DD546BCF-C6FD-440D-A4DC-CF5A1ED70122}"/>
                  </a:ext>
                </a:extLst>
              </p:cNvPr>
              <p:cNvSpPr txBox="1">
                <a:spLocks noRot="1" noChangeAspect="1" noMove="1" noResize="1" noEditPoints="1" noAdjustHandles="1" noChangeArrowheads="1" noChangeShapeType="1" noTextEdit="1"/>
              </p:cNvSpPr>
              <p:nvPr/>
            </p:nvSpPr>
            <p:spPr>
              <a:xfrm>
                <a:off x="836132" y="1358921"/>
                <a:ext cx="10418966" cy="4507452"/>
              </a:xfrm>
              <a:prstGeom prst="rect">
                <a:avLst/>
              </a:prstGeom>
              <a:blipFill>
                <a:blip r:embed="rId2"/>
                <a:stretch>
                  <a:fillRect l="-761" b="-2165"/>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EF7E9244-7513-416A-8C78-F7DBC9F8E293}"/>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 </a:t>
            </a:r>
            <a:r>
              <a:rPr lang="zh-CN" altLang="en-US" sz="3200" b="1" dirty="0">
                <a:solidFill>
                  <a:srgbClr val="9D1317"/>
                </a:solidFill>
                <a:latin typeface="微软雅黑" panose="020B0503020204020204" pitchFamily="34" charset="-122"/>
                <a:ea typeface="微软雅黑" panose="020B0503020204020204" pitchFamily="34" charset="-122"/>
              </a:rPr>
              <a:t>基于分段函数的轨迹规划：多轴同步规划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9384746-31B5-4BFF-B2F6-6B7BC09E3651}"/>
              </a:ext>
            </a:extLst>
          </p:cNvPr>
          <p:cNvSpPr txBox="1"/>
          <p:nvPr/>
        </p:nvSpPr>
        <p:spPr>
          <a:xfrm>
            <a:off x="1692961" y="4674261"/>
            <a:ext cx="1391728"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对于关节</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2200" i="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83485133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6F226DEE-AEB3-4B7D-9DFD-47BB32A2DAB2}"/>
              </a:ext>
            </a:extLst>
          </p:cNvPr>
          <p:cNvGrpSpPr/>
          <p:nvPr/>
        </p:nvGrpSpPr>
        <p:grpSpPr>
          <a:xfrm>
            <a:off x="2055836" y="2675368"/>
            <a:ext cx="7412937" cy="726162"/>
            <a:chOff x="2066719" y="3525333"/>
            <a:chExt cx="7412937" cy="726162"/>
          </a:xfrm>
        </p:grpSpPr>
        <p:sp>
          <p:nvSpPr>
            <p:cNvPr id="22" name="Line 22">
              <a:extLst>
                <a:ext uri="{FF2B5EF4-FFF2-40B4-BE49-F238E27FC236}">
                  <a16:creationId xmlns:a16="http://schemas.microsoft.com/office/drawing/2014/main" id="{BB4DE021-B01D-4F68-8962-D824C6404EA2}"/>
                </a:ext>
              </a:extLst>
            </p:cNvPr>
            <p:cNvSpPr>
              <a:spLocks noChangeShapeType="1"/>
            </p:cNvSpPr>
            <p:nvPr/>
          </p:nvSpPr>
          <p:spPr bwMode="auto">
            <a:xfrm flipV="1">
              <a:off x="2661401" y="3894203"/>
              <a:ext cx="6201809"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3" name="AutoShape 26">
              <a:extLst>
                <a:ext uri="{FF2B5EF4-FFF2-40B4-BE49-F238E27FC236}">
                  <a16:creationId xmlns:a16="http://schemas.microsoft.com/office/drawing/2014/main" id="{74B17825-6FE4-4667-BC7D-EFB2959ED9B2}"/>
                </a:ext>
              </a:extLst>
            </p:cNvPr>
            <p:cNvSpPr>
              <a:spLocks noChangeArrowheads="1"/>
            </p:cNvSpPr>
            <p:nvPr/>
          </p:nvSpPr>
          <p:spPr bwMode="auto">
            <a:xfrm>
              <a:off x="2999656" y="3525333"/>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dirty="0">
                  <a:solidFill>
                    <a:prstClr val="black"/>
                  </a:solidFill>
                  <a:latin typeface="微软雅黑" panose="020B0503020204020204" pitchFamily="34" charset="-122"/>
                  <a:ea typeface="微软雅黑" panose="020B0503020204020204" pitchFamily="34" charset="-122"/>
                </a:rPr>
                <a:t>2. </a:t>
              </a:r>
              <a:r>
                <a:rPr lang="zh-CN" altLang="en-US" sz="3200" i="0" dirty="0">
                  <a:solidFill>
                    <a:prstClr val="black"/>
                  </a:solidFill>
                  <a:latin typeface="微软雅黑" panose="020B0503020204020204" pitchFamily="34" charset="-122"/>
                  <a:ea typeface="微软雅黑" panose="020B0503020204020204" pitchFamily="34" charset="-122"/>
                </a:rPr>
                <a:t>基于多项式函数的轨迹规划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743E3999-0215-4015-AFE8-F5373ABE2158}"/>
                </a:ext>
              </a:extLst>
            </p:cNvPr>
            <p:cNvGrpSpPr/>
            <p:nvPr/>
          </p:nvGrpSpPr>
          <p:grpSpPr>
            <a:xfrm>
              <a:off x="2066719" y="3610087"/>
              <a:ext cx="576000" cy="576000"/>
              <a:chOff x="4613213" y="4247997"/>
              <a:chExt cx="504000" cy="504000"/>
            </a:xfrm>
          </p:grpSpPr>
          <p:sp>
            <p:nvSpPr>
              <p:cNvPr id="25" name="椭圆 24">
                <a:extLst>
                  <a:ext uri="{FF2B5EF4-FFF2-40B4-BE49-F238E27FC236}">
                    <a16:creationId xmlns:a16="http://schemas.microsoft.com/office/drawing/2014/main" id="{7AD90CCB-AFB3-45BD-9B1A-F5B617AD4306}"/>
                  </a:ext>
                </a:extLst>
              </p:cNvPr>
              <p:cNvSpPr/>
              <p:nvPr/>
            </p:nvSpPr>
            <p:spPr>
              <a:xfrm>
                <a:off x="4613213" y="4247997"/>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26" name="Freeform 70">
                <a:extLst>
                  <a:ext uri="{FF2B5EF4-FFF2-40B4-BE49-F238E27FC236}">
                    <a16:creationId xmlns:a16="http://schemas.microsoft.com/office/drawing/2014/main" id="{9CE89935-AD30-4BE4-A56B-D59891937EDA}"/>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7" name="组合 26">
            <a:extLst>
              <a:ext uri="{FF2B5EF4-FFF2-40B4-BE49-F238E27FC236}">
                <a16:creationId xmlns:a16="http://schemas.microsoft.com/office/drawing/2014/main" id="{F5C0FEFF-C193-46FF-BDD2-23FDF2A57A16}"/>
              </a:ext>
            </a:extLst>
          </p:cNvPr>
          <p:cNvGrpSpPr/>
          <p:nvPr/>
        </p:nvGrpSpPr>
        <p:grpSpPr>
          <a:xfrm>
            <a:off x="2634383" y="1469033"/>
            <a:ext cx="6834390" cy="726162"/>
            <a:chOff x="2645266" y="1833630"/>
            <a:chExt cx="6834390" cy="726162"/>
          </a:xfrm>
        </p:grpSpPr>
        <p:sp>
          <p:nvSpPr>
            <p:cNvPr id="30" name="Line 22">
              <a:extLst>
                <a:ext uri="{FF2B5EF4-FFF2-40B4-BE49-F238E27FC236}">
                  <a16:creationId xmlns:a16="http://schemas.microsoft.com/office/drawing/2014/main" id="{2036ADD0-B197-46C9-AD54-353CFF66895A}"/>
                </a:ext>
              </a:extLst>
            </p:cNvPr>
            <p:cNvSpPr>
              <a:spLocks noChangeShapeType="1"/>
            </p:cNvSpPr>
            <p:nvPr/>
          </p:nvSpPr>
          <p:spPr bwMode="auto">
            <a:xfrm>
              <a:off x="2645266" y="2190889"/>
              <a:ext cx="6744032" cy="5822"/>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1" name="AutoShape 26">
              <a:extLst>
                <a:ext uri="{FF2B5EF4-FFF2-40B4-BE49-F238E27FC236}">
                  <a16:creationId xmlns:a16="http://schemas.microsoft.com/office/drawing/2014/main" id="{29A1C0C6-3200-4D5E-A876-E7426DC3C739}"/>
                </a:ext>
              </a:extLst>
            </p:cNvPr>
            <p:cNvSpPr>
              <a:spLocks noChangeArrowheads="1"/>
            </p:cNvSpPr>
            <p:nvPr/>
          </p:nvSpPr>
          <p:spPr bwMode="auto">
            <a:xfrm>
              <a:off x="2999656" y="1833630"/>
              <a:ext cx="6480000" cy="726162"/>
            </a:xfrm>
            <a:prstGeom prst="roundRect">
              <a:avLst>
                <a:gd name="adj" fmla="val 34361"/>
              </a:avLst>
            </a:prstGeom>
            <a:ln>
              <a:solidFill>
                <a:srgbClr val="D9D9D9"/>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1. </a:t>
              </a:r>
              <a:r>
                <a:rPr lang="zh-CN" altLang="en-US" sz="3200" dirty="0">
                  <a:solidFill>
                    <a:prstClr val="black"/>
                  </a:solidFill>
                  <a:latin typeface="微软雅黑" panose="020B0503020204020204" pitchFamily="34" charset="-122"/>
                  <a:ea typeface="微软雅黑" panose="020B0503020204020204" pitchFamily="34" charset="-122"/>
                </a:rPr>
                <a:t>机器人轨迹规划基本概念</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729AECDD-F26F-4F1D-B870-8CBE141D39F5}"/>
              </a:ext>
            </a:extLst>
          </p:cNvPr>
          <p:cNvGrpSpPr/>
          <p:nvPr/>
        </p:nvGrpSpPr>
        <p:grpSpPr>
          <a:xfrm>
            <a:off x="2055836" y="3881703"/>
            <a:ext cx="7412937" cy="726162"/>
            <a:chOff x="2066719" y="4647054"/>
            <a:chExt cx="7412937" cy="726162"/>
          </a:xfrm>
        </p:grpSpPr>
        <p:sp>
          <p:nvSpPr>
            <p:cNvPr id="40" name="Line 22">
              <a:extLst>
                <a:ext uri="{FF2B5EF4-FFF2-40B4-BE49-F238E27FC236}">
                  <a16:creationId xmlns:a16="http://schemas.microsoft.com/office/drawing/2014/main" id="{9D33B777-B1AA-4BFA-8C40-2663C80DCC29}"/>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E60011C3-CEE3-4528-92A5-D2F177F728E8}"/>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3. </a:t>
              </a:r>
              <a:r>
                <a:rPr lang="zh-CN" altLang="en-US" sz="3200" i="0" dirty="0">
                  <a:solidFill>
                    <a:prstClr val="black"/>
                  </a:solidFill>
                  <a:latin typeface="微软雅黑" panose="020B0503020204020204" pitchFamily="34" charset="-122"/>
                  <a:ea typeface="微软雅黑" panose="020B0503020204020204" pitchFamily="34" charset="-122"/>
                </a:rPr>
                <a:t>基于分段函数的轨迹规划</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8A345FA0-27E7-4515-B369-EBCC74839CE4}"/>
                </a:ext>
              </a:extLst>
            </p:cNvPr>
            <p:cNvGrpSpPr/>
            <p:nvPr/>
          </p:nvGrpSpPr>
          <p:grpSpPr>
            <a:xfrm>
              <a:off x="2066719" y="4723745"/>
              <a:ext cx="576000" cy="576000"/>
              <a:chOff x="7982080" y="5312514"/>
              <a:chExt cx="504000" cy="504000"/>
            </a:xfrm>
          </p:grpSpPr>
          <p:sp>
            <p:nvSpPr>
              <p:cNvPr id="47" name="椭圆 46">
                <a:extLst>
                  <a:ext uri="{FF2B5EF4-FFF2-40B4-BE49-F238E27FC236}">
                    <a16:creationId xmlns:a16="http://schemas.microsoft.com/office/drawing/2014/main" id="{1AF08BF9-84EA-4D30-83A1-78448270B671}"/>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48" name="Freeform 96">
                <a:extLst>
                  <a:ext uri="{FF2B5EF4-FFF2-40B4-BE49-F238E27FC236}">
                    <a16:creationId xmlns:a16="http://schemas.microsoft.com/office/drawing/2014/main" id="{E8857E8D-BCBE-435A-B6BE-3686AAB6B301}"/>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grpSp>
        <p:nvGrpSpPr>
          <p:cNvPr id="49" name="组合 48">
            <a:extLst>
              <a:ext uri="{FF2B5EF4-FFF2-40B4-BE49-F238E27FC236}">
                <a16:creationId xmlns:a16="http://schemas.microsoft.com/office/drawing/2014/main" id="{DF9B30C7-9851-47E2-A99C-276673B06327}"/>
              </a:ext>
            </a:extLst>
          </p:cNvPr>
          <p:cNvGrpSpPr/>
          <p:nvPr/>
        </p:nvGrpSpPr>
        <p:grpSpPr>
          <a:xfrm>
            <a:off x="2055836" y="1538501"/>
            <a:ext cx="7412937" cy="4275699"/>
            <a:chOff x="2066719" y="1097517"/>
            <a:chExt cx="7412937" cy="4275699"/>
          </a:xfrm>
        </p:grpSpPr>
        <p:sp>
          <p:nvSpPr>
            <p:cNvPr id="50" name="Line 22">
              <a:extLst>
                <a:ext uri="{FF2B5EF4-FFF2-40B4-BE49-F238E27FC236}">
                  <a16:creationId xmlns:a16="http://schemas.microsoft.com/office/drawing/2014/main" id="{60D24324-A2E2-440E-88A8-CAF12949970C}"/>
                </a:ext>
              </a:extLst>
            </p:cNvPr>
            <p:cNvSpPr>
              <a:spLocks noChangeShapeType="1"/>
            </p:cNvSpPr>
            <p:nvPr/>
          </p:nvSpPr>
          <p:spPr bwMode="auto">
            <a:xfrm flipV="1">
              <a:off x="2674608" y="5015925"/>
              <a:ext cx="621523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53" name="AutoShape 26">
              <a:extLst>
                <a:ext uri="{FF2B5EF4-FFF2-40B4-BE49-F238E27FC236}">
                  <a16:creationId xmlns:a16="http://schemas.microsoft.com/office/drawing/2014/main" id="{F7419E05-6F60-4885-9F5F-7AFE62268719}"/>
                </a:ext>
              </a:extLst>
            </p:cNvPr>
            <p:cNvSpPr>
              <a:spLocks noChangeArrowheads="1"/>
            </p:cNvSpPr>
            <p:nvPr/>
          </p:nvSpPr>
          <p:spPr bwMode="auto">
            <a:xfrm>
              <a:off x="2999656" y="4647054"/>
              <a:ext cx="6480000"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kern="0" dirty="0">
                  <a:solidFill>
                    <a:srgbClr val="8B247C"/>
                  </a:solidFill>
                  <a:latin typeface="微软雅黑" panose="020B0503020204020204" pitchFamily="34" charset="-122"/>
                  <a:ea typeface="微软雅黑" panose="020B0503020204020204" pitchFamily="34" charset="-122"/>
                </a:rPr>
                <a:t>4. </a:t>
              </a:r>
              <a:r>
                <a:rPr lang="zh-CN" altLang="en-US" sz="3200" b="1" kern="0" dirty="0">
                  <a:solidFill>
                    <a:srgbClr val="8B247C"/>
                  </a:solidFill>
                  <a:latin typeface="微软雅黑" panose="020B0503020204020204" pitchFamily="34" charset="-122"/>
                  <a:ea typeface="微软雅黑" panose="020B0503020204020204" pitchFamily="34" charset="-122"/>
                </a:rPr>
                <a:t>多中间点轨迹规划</a:t>
              </a:r>
              <a:endParaRPr lang="en-US" altLang="zh-CN" sz="3200" b="1" kern="0" dirty="0">
                <a:solidFill>
                  <a:srgbClr val="8B247C"/>
                </a:solidFill>
                <a:latin typeface="微软雅黑" panose="020B0503020204020204" pitchFamily="34" charset="-122"/>
                <a:ea typeface="微软雅黑" panose="020B0503020204020204" pitchFamily="34" charset="-122"/>
              </a:endParaRPr>
            </a:p>
          </p:txBody>
        </p:sp>
        <p:grpSp>
          <p:nvGrpSpPr>
            <p:cNvPr id="54" name="组合 53">
              <a:extLst>
                <a:ext uri="{FF2B5EF4-FFF2-40B4-BE49-F238E27FC236}">
                  <a16:creationId xmlns:a16="http://schemas.microsoft.com/office/drawing/2014/main" id="{E5F2C38F-FF4C-4DEB-8BBC-3F8DBF10E4A3}"/>
                </a:ext>
              </a:extLst>
            </p:cNvPr>
            <p:cNvGrpSpPr/>
            <p:nvPr/>
          </p:nvGrpSpPr>
          <p:grpSpPr>
            <a:xfrm>
              <a:off x="2066719" y="1097517"/>
              <a:ext cx="576000" cy="576000"/>
              <a:chOff x="7982080" y="2139546"/>
              <a:chExt cx="504000" cy="504000"/>
            </a:xfrm>
          </p:grpSpPr>
          <p:sp>
            <p:nvSpPr>
              <p:cNvPr id="55" name="椭圆 54">
                <a:extLst>
                  <a:ext uri="{FF2B5EF4-FFF2-40B4-BE49-F238E27FC236}">
                    <a16:creationId xmlns:a16="http://schemas.microsoft.com/office/drawing/2014/main" id="{C46852E6-82FE-4773-9506-6B1ABCA803C9}"/>
                  </a:ext>
                </a:extLst>
              </p:cNvPr>
              <p:cNvSpPr/>
              <p:nvPr/>
            </p:nvSpPr>
            <p:spPr>
              <a:xfrm>
                <a:off x="7982080" y="2139546"/>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56" name="Freeform 96">
                <a:extLst>
                  <a:ext uri="{FF2B5EF4-FFF2-40B4-BE49-F238E27FC236}">
                    <a16:creationId xmlns:a16="http://schemas.microsoft.com/office/drawing/2014/main" id="{7F5B9519-4E41-45CF-9E73-771AD4993755}"/>
                  </a:ext>
                </a:extLst>
              </p:cNvPr>
              <p:cNvSpPr>
                <a:spLocks noChangeAspect="1" noEditPoints="1"/>
              </p:cNvSpPr>
              <p:nvPr/>
            </p:nvSpPr>
            <p:spPr bwMode="auto">
              <a:xfrm>
                <a:off x="8072080" y="2229006"/>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
        <p:nvSpPr>
          <p:cNvPr id="45" name="椭圆 44">
            <a:extLst>
              <a:ext uri="{FF2B5EF4-FFF2-40B4-BE49-F238E27FC236}">
                <a16:creationId xmlns:a16="http://schemas.microsoft.com/office/drawing/2014/main" id="{88850C49-CB77-4634-AFA3-AF48C478BAFF}"/>
              </a:ext>
            </a:extLst>
          </p:cNvPr>
          <p:cNvSpPr/>
          <p:nvPr/>
        </p:nvSpPr>
        <p:spPr>
          <a:xfrm>
            <a:off x="2067149" y="5193985"/>
            <a:ext cx="576000" cy="576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46" name="Freeform 105">
            <a:extLst>
              <a:ext uri="{FF2B5EF4-FFF2-40B4-BE49-F238E27FC236}">
                <a16:creationId xmlns:a16="http://schemas.microsoft.com/office/drawing/2014/main" id="{4A16430F-2982-46BD-A0E8-0FE4DB869AEA}"/>
              </a:ext>
            </a:extLst>
          </p:cNvPr>
          <p:cNvSpPr>
            <a:spLocks noChangeAspect="1" noEditPoints="1"/>
          </p:cNvSpPr>
          <p:nvPr/>
        </p:nvSpPr>
        <p:spPr bwMode="auto">
          <a:xfrm>
            <a:off x="2170006" y="5317007"/>
            <a:ext cx="370286" cy="329958"/>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43390989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1A255AD-61F5-48F9-B492-D831AC64CA4D}"/>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29</a:t>
            </a:fld>
            <a:endParaRPr lang="zh-CN" altLang="en-US">
              <a:solidFill>
                <a:prstClr val="black">
                  <a:tint val="75000"/>
                </a:prstClr>
              </a:solidFill>
            </a:endParaRPr>
          </a:p>
        </p:txBody>
      </p:sp>
      <p:sp>
        <p:nvSpPr>
          <p:cNvPr id="3" name="矩形 2">
            <a:extLst>
              <a:ext uri="{FF2B5EF4-FFF2-40B4-BE49-F238E27FC236}">
                <a16:creationId xmlns:a16="http://schemas.microsoft.com/office/drawing/2014/main" id="{F2E44593-EA7B-415B-945B-CD3814CB407A}"/>
              </a:ext>
            </a:extLst>
          </p:cNvPr>
          <p:cNvSpPr/>
          <p:nvPr/>
        </p:nvSpPr>
        <p:spPr>
          <a:xfrm>
            <a:off x="234866" y="848374"/>
            <a:ext cx="9657736" cy="470257"/>
          </a:xfrm>
          <a:prstGeom prst="rect">
            <a:avLst/>
          </a:prstGeom>
        </p:spPr>
        <p:txBody>
          <a:bodyPr wrap="square">
            <a:spAutoFit/>
          </a:bodyPr>
          <a:lstStyle/>
          <a:p>
            <a:pPr marL="342900" indent="-342900">
              <a:lnSpc>
                <a:spcPct val="110000"/>
              </a:lnSpc>
              <a:spcBef>
                <a:spcPts val="600"/>
              </a:spcBef>
              <a:spcAft>
                <a:spcPts val="600"/>
              </a:spcAft>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通常需要在起点和终点之间设置中间点，以适应作业环境、避障等</a:t>
            </a:r>
          </a:p>
        </p:txBody>
      </p:sp>
      <p:grpSp>
        <p:nvGrpSpPr>
          <p:cNvPr id="10" name="组合 9">
            <a:extLst>
              <a:ext uri="{FF2B5EF4-FFF2-40B4-BE49-F238E27FC236}">
                <a16:creationId xmlns:a16="http://schemas.microsoft.com/office/drawing/2014/main" id="{8F105518-C05E-465A-AB74-675F3A673B2F}"/>
              </a:ext>
            </a:extLst>
          </p:cNvPr>
          <p:cNvGrpSpPr/>
          <p:nvPr/>
        </p:nvGrpSpPr>
        <p:grpSpPr>
          <a:xfrm>
            <a:off x="6917910" y="1479067"/>
            <a:ext cx="5188568" cy="2471494"/>
            <a:chOff x="6243479" y="4146904"/>
            <a:chExt cx="5188568" cy="2471494"/>
          </a:xfrm>
        </p:grpSpPr>
        <p:pic>
          <p:nvPicPr>
            <p:cNvPr id="4" name="图片 3">
              <a:extLst>
                <a:ext uri="{FF2B5EF4-FFF2-40B4-BE49-F238E27FC236}">
                  <a16:creationId xmlns:a16="http://schemas.microsoft.com/office/drawing/2014/main" id="{BB92D4CE-C9F7-48BD-B7DC-3A8EB374423D}"/>
                </a:ext>
              </a:extLst>
            </p:cNvPr>
            <p:cNvPicPr>
              <a:picLocks noChangeAspect="1"/>
            </p:cNvPicPr>
            <p:nvPr/>
          </p:nvPicPr>
          <p:blipFill rotWithShape="1">
            <a:blip r:embed="rId2">
              <a:biLevel thresh="75000"/>
            </a:blip>
            <a:srcRect l="29529" t="37943" r="27914" b="26019"/>
            <a:stretch/>
          </p:blipFill>
          <p:spPr>
            <a:xfrm>
              <a:off x="6243479" y="4146904"/>
              <a:ext cx="5188568" cy="2471494"/>
            </a:xfrm>
            <a:prstGeom prst="rect">
              <a:avLst/>
            </a:prstGeom>
          </p:spPr>
        </p:pic>
        <p:sp>
          <p:nvSpPr>
            <p:cNvPr id="5" name="文本框 4">
              <a:extLst>
                <a:ext uri="{FF2B5EF4-FFF2-40B4-BE49-F238E27FC236}">
                  <a16:creationId xmlns:a16="http://schemas.microsoft.com/office/drawing/2014/main" id="{36563643-69B0-4140-9764-F3CAC6C4E022}"/>
                </a:ext>
              </a:extLst>
            </p:cNvPr>
            <p:cNvSpPr txBox="1"/>
            <p:nvPr/>
          </p:nvSpPr>
          <p:spPr>
            <a:xfrm>
              <a:off x="9646292" y="5554328"/>
              <a:ext cx="909175" cy="369332"/>
            </a:xfrm>
            <a:prstGeom prst="rect">
              <a:avLst/>
            </a:prstGeom>
            <a:solidFill>
              <a:schemeClr val="bg1"/>
            </a:solid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初始段</a:t>
              </a:r>
            </a:p>
          </p:txBody>
        </p:sp>
        <p:sp>
          <p:nvSpPr>
            <p:cNvPr id="6" name="文本框 5">
              <a:extLst>
                <a:ext uri="{FF2B5EF4-FFF2-40B4-BE49-F238E27FC236}">
                  <a16:creationId xmlns:a16="http://schemas.microsoft.com/office/drawing/2014/main" id="{80D19EC3-DB79-42BB-A840-D595A367B5E4}"/>
                </a:ext>
              </a:extLst>
            </p:cNvPr>
            <p:cNvSpPr txBox="1"/>
            <p:nvPr/>
          </p:nvSpPr>
          <p:spPr>
            <a:xfrm>
              <a:off x="7074557" y="5440617"/>
              <a:ext cx="909175" cy="369332"/>
            </a:xfrm>
            <a:prstGeom prst="rect">
              <a:avLst/>
            </a:prstGeom>
            <a:solidFill>
              <a:schemeClr val="bg1"/>
            </a:solid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终止段</a:t>
              </a:r>
            </a:p>
          </p:txBody>
        </p:sp>
        <p:sp>
          <p:nvSpPr>
            <p:cNvPr id="7" name="文本框 6">
              <a:extLst>
                <a:ext uri="{FF2B5EF4-FFF2-40B4-BE49-F238E27FC236}">
                  <a16:creationId xmlns:a16="http://schemas.microsoft.com/office/drawing/2014/main" id="{76B6512D-AC7B-47F1-8D10-BEE44675FD06}"/>
                </a:ext>
              </a:extLst>
            </p:cNvPr>
            <p:cNvSpPr txBox="1"/>
            <p:nvPr/>
          </p:nvSpPr>
          <p:spPr>
            <a:xfrm>
              <a:off x="7367167" y="4204870"/>
              <a:ext cx="909175" cy="369332"/>
            </a:xfrm>
            <a:prstGeom prst="rect">
              <a:avLst/>
            </a:prstGeom>
            <a:solidFill>
              <a:schemeClr val="bg1"/>
            </a:solid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中间段</a:t>
              </a:r>
            </a:p>
          </p:txBody>
        </p:sp>
      </p:grpSp>
      <p:sp>
        <p:nvSpPr>
          <p:cNvPr id="9" name="文本框 8">
            <a:extLst>
              <a:ext uri="{FF2B5EF4-FFF2-40B4-BE49-F238E27FC236}">
                <a16:creationId xmlns:a16="http://schemas.microsoft.com/office/drawing/2014/main" id="{73665602-E3DB-42FC-B02C-076A800CCB72}"/>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7.4 </a:t>
            </a:r>
            <a:r>
              <a:rPr lang="zh-CN" altLang="en-US" sz="3200" b="1" dirty="0">
                <a:solidFill>
                  <a:srgbClr val="9D1317"/>
                </a:solidFill>
                <a:latin typeface="微软雅黑" panose="020B0503020204020204" pitchFamily="34" charset="-122"/>
                <a:ea typeface="微软雅黑" panose="020B0503020204020204" pitchFamily="34" charset="-122"/>
              </a:rPr>
              <a:t>多中间点轨迹规划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75DA7A6C-38F3-42A0-B471-30395C33AD10}"/>
                  </a:ext>
                </a:extLst>
              </p:cNvPr>
              <p:cNvSpPr/>
              <p:nvPr/>
            </p:nvSpPr>
            <p:spPr>
              <a:xfrm>
                <a:off x="565878" y="1340686"/>
                <a:ext cx="6352032" cy="3538854"/>
              </a:xfrm>
              <a:prstGeom prst="rect">
                <a:avLst/>
              </a:prstGeom>
            </p:spPr>
            <p:txBody>
              <a:bodyPr wrap="square">
                <a:spAutoFit/>
              </a:bodyPr>
              <a:lstStyle/>
              <a:p>
                <a:pPr marL="266700" indent="-266700">
                  <a:lnSpc>
                    <a:spcPct val="120000"/>
                  </a:lnSpc>
                  <a:spcBef>
                    <a:spcPts val="600"/>
                  </a:spcBef>
                  <a:buFont typeface="Arial" panose="020B0604020202020204" pitchFamily="34" charset="0"/>
                  <a:buChar char="•"/>
                </a:pPr>
                <a:r>
                  <a:rPr lang="zh-CN" altLang="en-US" sz="2200" dirty="0">
                    <a:solidFill>
                      <a:srgbClr val="000000"/>
                    </a:solidFill>
                    <a:latin typeface="微软雅黑" panose="020B0503020204020204" pitchFamily="34" charset="-122"/>
                    <a:ea typeface="微软雅黑" panose="020B0503020204020204" pitchFamily="34" charset="-122"/>
                  </a:rPr>
                  <a:t>如右图所示，假定要求机器人手部从空间起始点</a:t>
                </a:r>
                <a:r>
                  <a:rPr lang="en-US" altLang="zh-CN" sz="2200" dirty="0">
                    <a:solidFill>
                      <a:srgbClr val="000000"/>
                    </a:solidFill>
                    <a:latin typeface="微软雅黑" panose="020B0503020204020204" pitchFamily="34" charset="-122"/>
                    <a:ea typeface="微软雅黑" panose="020B0503020204020204" pitchFamily="34" charset="-122"/>
                  </a:rPr>
                  <a:t>A</a:t>
                </a:r>
                <a:r>
                  <a:rPr lang="zh-CN" altLang="en-US" sz="2200" dirty="0">
                    <a:solidFill>
                      <a:srgbClr val="000000"/>
                    </a:solidFill>
                    <a:latin typeface="微软雅黑" panose="020B0503020204020204" pitchFamily="34" charset="-122"/>
                    <a:ea typeface="微软雅黑" panose="020B0503020204020204" pitchFamily="34" charset="-122"/>
                  </a:rPr>
                  <a:t>经抬起点</a:t>
                </a:r>
                <a:r>
                  <a:rPr lang="en-US" altLang="zh-CN" sz="2200" dirty="0">
                    <a:solidFill>
                      <a:srgbClr val="000000"/>
                    </a:solidFill>
                    <a:latin typeface="微软雅黑" panose="020B0503020204020204" pitchFamily="34" charset="-122"/>
                    <a:ea typeface="微软雅黑" panose="020B0503020204020204" pitchFamily="34" charset="-122"/>
                  </a:rPr>
                  <a:t>B</a:t>
                </a:r>
                <a:r>
                  <a:rPr lang="zh-CN" altLang="en-US" sz="2200" dirty="0">
                    <a:solidFill>
                      <a:srgbClr val="000000"/>
                    </a:solidFill>
                    <a:latin typeface="微软雅黑" panose="020B0503020204020204" pitchFamily="34" charset="-122"/>
                    <a:ea typeface="微软雅黑" panose="020B0503020204020204" pitchFamily="34" charset="-122"/>
                  </a:rPr>
                  <a:t>和下降点</a:t>
                </a:r>
                <a:r>
                  <a:rPr lang="en-US" altLang="zh-CN" sz="2200" dirty="0">
                    <a:solidFill>
                      <a:srgbClr val="000000"/>
                    </a:solidFill>
                    <a:latin typeface="微软雅黑" panose="020B0503020204020204" pitchFamily="34" charset="-122"/>
                    <a:ea typeface="微软雅黑" panose="020B0503020204020204" pitchFamily="34" charset="-122"/>
                  </a:rPr>
                  <a:t>C</a:t>
                </a:r>
                <a:r>
                  <a:rPr lang="zh-CN" altLang="en-US" sz="2200" dirty="0">
                    <a:solidFill>
                      <a:srgbClr val="000000"/>
                    </a:solidFill>
                    <a:latin typeface="微软雅黑" panose="020B0503020204020204" pitchFamily="34" charset="-122"/>
                    <a:ea typeface="微软雅黑" panose="020B0503020204020204" pitchFamily="34" charset="-122"/>
                  </a:rPr>
                  <a:t>运动到终点</a:t>
                </a:r>
                <a:r>
                  <a:rPr lang="en-US" altLang="zh-CN" sz="2200" dirty="0">
                    <a:solidFill>
                      <a:srgbClr val="000000"/>
                    </a:solidFill>
                    <a:latin typeface="微软雅黑" panose="020B0503020204020204" pitchFamily="34" charset="-122"/>
                    <a:ea typeface="微软雅黑" panose="020B0503020204020204" pitchFamily="34" charset="-122"/>
                  </a:rPr>
                  <a:t>D</a:t>
                </a:r>
              </a:p>
              <a:p>
                <a:pPr marL="342900" indent="-342900">
                  <a:lnSpc>
                    <a:spcPct val="120000"/>
                  </a:lnSpc>
                  <a:spcBef>
                    <a:spcPts val="600"/>
                  </a:spcBef>
                  <a:buFont typeface="Arial" panose="020B0604020202020204" pitchFamily="34" charset="0"/>
                  <a:buChar char="•"/>
                </a:pPr>
                <a:r>
                  <a:rPr lang="zh-CN" altLang="en-US" sz="2200" dirty="0">
                    <a:solidFill>
                      <a:srgbClr val="000000"/>
                    </a:solidFill>
                    <a:latin typeface="微软雅黑" panose="020B0503020204020204" pitchFamily="34" charset="-122"/>
                    <a:ea typeface="微软雅黑" panose="020B0503020204020204" pitchFamily="34" charset="-122"/>
                  </a:rPr>
                  <a:t>机械臂在</a:t>
                </a:r>
                <a:r>
                  <a:rPr lang="en-US" altLang="zh-CN" sz="2200" dirty="0">
                    <a:solidFill>
                      <a:srgbClr val="000000"/>
                    </a:solidFill>
                    <a:latin typeface="微软雅黑" panose="020B0503020204020204" pitchFamily="34" charset="-122"/>
                    <a:ea typeface="微软雅黑" panose="020B0503020204020204" pitchFamily="34" charset="-122"/>
                  </a:rPr>
                  <a:t>A</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dirty="0">
                    <a:solidFill>
                      <a:srgbClr val="000000"/>
                    </a:solidFill>
                    <a:latin typeface="微软雅黑" panose="020B0503020204020204" pitchFamily="34" charset="-122"/>
                    <a:ea typeface="微软雅黑" panose="020B0503020204020204" pitchFamily="34" charset="-122"/>
                  </a:rPr>
                  <a:t>B</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dirty="0">
                    <a:solidFill>
                      <a:srgbClr val="000000"/>
                    </a:solidFill>
                    <a:latin typeface="微软雅黑" panose="020B0503020204020204" pitchFamily="34" charset="-122"/>
                    <a:ea typeface="微软雅黑" panose="020B0503020204020204" pitchFamily="34" charset="-122"/>
                  </a:rPr>
                  <a:t>C</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dirty="0">
                    <a:solidFill>
                      <a:srgbClr val="000000"/>
                    </a:solidFill>
                    <a:latin typeface="微软雅黑" panose="020B0503020204020204" pitchFamily="34" charset="-122"/>
                    <a:ea typeface="微软雅黑" panose="020B0503020204020204" pitchFamily="34" charset="-122"/>
                  </a:rPr>
                  <a:t>D</a:t>
                </a:r>
                <a:r>
                  <a:rPr lang="zh-CN" altLang="en-US" sz="2200" dirty="0">
                    <a:solidFill>
                      <a:srgbClr val="000000"/>
                    </a:solidFill>
                    <a:latin typeface="微软雅黑" panose="020B0503020204020204" pitchFamily="34" charset="-122"/>
                    <a:ea typeface="微软雅黑" panose="020B0503020204020204" pitchFamily="34" charset="-122"/>
                  </a:rPr>
                  <a:t>四点相对基座坐标系的笛卡尔坐标位姿分别用齐次变换矩阵 </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1</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2</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3</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4</a:t>
                </a:r>
                <a:r>
                  <a:rPr lang="zh-CN" altLang="en-US" sz="2200" dirty="0">
                    <a:solidFill>
                      <a:srgbClr val="000000"/>
                    </a:solidFill>
                    <a:latin typeface="微软雅黑" panose="020B0503020204020204" pitchFamily="34" charset="-122"/>
                    <a:ea typeface="微软雅黑" panose="020B0503020204020204" pitchFamily="34" charset="-122"/>
                  </a:rPr>
                  <a:t>表示</a:t>
                </a:r>
                <a:endParaRPr lang="en-US" altLang="zh-CN" sz="2200" dirty="0">
                  <a:solidFill>
                    <a:srgbClr val="000000"/>
                  </a:solidFill>
                  <a:latin typeface="微软雅黑" panose="020B0503020204020204" pitchFamily="34" charset="-122"/>
                  <a:ea typeface="微软雅黑" panose="020B0503020204020204" pitchFamily="34" charset="-122"/>
                </a:endParaRPr>
              </a:p>
              <a:p>
                <a:pPr marL="342900" indent="-342900">
                  <a:lnSpc>
                    <a:spcPct val="120000"/>
                  </a:lnSpc>
                  <a:spcBef>
                    <a:spcPts val="600"/>
                  </a:spcBef>
                  <a:buFont typeface="Arial" panose="020B0604020202020204" pitchFamily="34" charset="0"/>
                  <a:buChar char="•"/>
                </a:pPr>
                <a:r>
                  <a:rPr lang="zh-CN" altLang="en-US" sz="2200" dirty="0">
                    <a:solidFill>
                      <a:srgbClr val="000000"/>
                    </a:solidFill>
                    <a:latin typeface="微软雅黑" panose="020B0503020204020204" pitchFamily="34" charset="-122"/>
                    <a:ea typeface="微软雅黑" panose="020B0503020204020204" pitchFamily="34" charset="-122"/>
                  </a:rPr>
                  <a:t>利用</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1</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2</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3</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i="1" dirty="0">
                    <a:solidFill>
                      <a:srgbClr val="000000"/>
                    </a:solidFill>
                    <a:latin typeface="微软雅黑" panose="020B0503020204020204" pitchFamily="34" charset="-122"/>
                    <a:ea typeface="微软雅黑" panose="020B0503020204020204" pitchFamily="34" charset="-122"/>
                  </a:rPr>
                  <a:t>T</a:t>
                </a:r>
                <a:r>
                  <a:rPr lang="en-US" altLang="zh-CN" sz="2200" baseline="-25000" dirty="0">
                    <a:solidFill>
                      <a:srgbClr val="000000"/>
                    </a:solidFill>
                    <a:latin typeface="微软雅黑" panose="020B0503020204020204" pitchFamily="34" charset="-122"/>
                    <a:ea typeface="微软雅黑" panose="020B0503020204020204" pitchFamily="34" charset="-122"/>
                  </a:rPr>
                  <a:t>4</a:t>
                </a:r>
                <a:r>
                  <a:rPr lang="zh-CN" altLang="en-US" sz="2200" dirty="0">
                    <a:solidFill>
                      <a:srgbClr val="000000"/>
                    </a:solidFill>
                    <a:latin typeface="微软雅黑" panose="020B0503020204020204" pitchFamily="34" charset="-122"/>
                    <a:ea typeface="微软雅黑" panose="020B0503020204020204" pitchFamily="34" charset="-122"/>
                  </a:rPr>
                  <a:t>进行运动学反解求出四组关节变量</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𝑞</m:t>
                        </m:r>
                      </m:e>
                      <m:sub>
                        <m:r>
                          <a:rPr lang="en-US" altLang="zh-CN" sz="2200" i="1">
                            <a:latin typeface="Cambria Math" panose="02040503050406030204" pitchFamily="18" charset="0"/>
                          </a:rPr>
                          <m:t>1</m:t>
                        </m:r>
                      </m:sub>
                    </m:sSub>
                    <m:r>
                      <a:rPr lang="zh-CN" altLang="en-US"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𝑞</m:t>
                        </m:r>
                      </m:e>
                      <m:sub>
                        <m:r>
                          <a:rPr lang="en-US" altLang="zh-CN" sz="2200" i="1">
                            <a:latin typeface="Cambria Math" panose="02040503050406030204" pitchFamily="18" charset="0"/>
                          </a:rPr>
                          <m:t>2</m:t>
                        </m:r>
                      </m:sub>
                    </m:sSub>
                    <m:r>
                      <a:rPr lang="zh-CN" altLang="en-US"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𝑞</m:t>
                        </m:r>
                      </m:e>
                      <m:sub>
                        <m:r>
                          <a:rPr lang="en-US" altLang="zh-CN" sz="2200" i="1">
                            <a:latin typeface="Cambria Math" panose="02040503050406030204" pitchFamily="18" charset="0"/>
                          </a:rPr>
                          <m:t>3</m:t>
                        </m:r>
                      </m:sub>
                    </m:sSub>
                    <m:r>
                      <a:rPr lang="zh-CN" altLang="en-US"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𝑞</m:t>
                        </m:r>
                      </m:e>
                      <m:sub>
                        <m:r>
                          <a:rPr lang="en-US" altLang="zh-CN" sz="2200" i="1">
                            <a:latin typeface="Cambria Math" panose="02040503050406030204" pitchFamily="18" charset="0"/>
                          </a:rPr>
                          <m:t>4</m:t>
                        </m:r>
                      </m:sub>
                    </m:sSub>
                  </m:oMath>
                </a14:m>
                <a:endParaRPr lang="zh-CN" altLang="en-US" sz="2200" dirty="0"/>
              </a:p>
              <a:p>
                <a:pPr marL="342900" indent="-342900">
                  <a:lnSpc>
                    <a:spcPct val="120000"/>
                  </a:lnSpc>
                  <a:spcBef>
                    <a:spcPts val="600"/>
                  </a:spcBef>
                  <a:buFont typeface="Arial" panose="020B0604020202020204" pitchFamily="34" charset="0"/>
                  <a:buChar char="•"/>
                </a:pPr>
                <a:r>
                  <a:rPr lang="zh-CN" altLang="en-US" sz="2200" dirty="0">
                    <a:solidFill>
                      <a:srgbClr val="000000"/>
                    </a:solidFill>
                    <a:latin typeface="微软雅黑" panose="020B0503020204020204" pitchFamily="34" charset="-122"/>
                    <a:ea typeface="微软雅黑" panose="020B0503020204020204" pitchFamily="34" charset="-122"/>
                  </a:rPr>
                  <a:t>设定初始条件值：</a:t>
                </a:r>
                <a:endParaRPr lang="zh-CN" altLang="en-US" sz="2200" dirty="0">
                  <a:latin typeface="微软雅黑" panose="020B0503020204020204" pitchFamily="34" charset="-122"/>
                  <a:ea typeface="微软雅黑" panose="020B0503020204020204" pitchFamily="34" charset="-122"/>
                </a:endParaRPr>
              </a:p>
            </p:txBody>
          </p:sp>
        </mc:Choice>
        <mc:Fallback xmlns="">
          <p:sp>
            <p:nvSpPr>
              <p:cNvPr id="11" name="矩形 10">
                <a:extLst>
                  <a:ext uri="{FF2B5EF4-FFF2-40B4-BE49-F238E27FC236}">
                    <a16:creationId xmlns:a16="http://schemas.microsoft.com/office/drawing/2014/main" id="{75DA7A6C-38F3-42A0-B471-30395C33AD10}"/>
                  </a:ext>
                </a:extLst>
              </p:cNvPr>
              <p:cNvSpPr>
                <a:spLocks noRot="1" noChangeAspect="1" noMove="1" noResize="1" noEditPoints="1" noAdjustHandles="1" noChangeArrowheads="1" noChangeShapeType="1" noTextEdit="1"/>
              </p:cNvSpPr>
              <p:nvPr/>
            </p:nvSpPr>
            <p:spPr>
              <a:xfrm>
                <a:off x="565878" y="1340686"/>
                <a:ext cx="6352032" cy="3538854"/>
              </a:xfrm>
              <a:prstGeom prst="rect">
                <a:avLst/>
              </a:prstGeom>
              <a:blipFill>
                <a:blip r:embed="rId3"/>
                <a:stretch>
                  <a:fillRect l="-1152" t="-172" r="-2687" b="-2586"/>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FCD9EEC1-2114-4210-AD9F-3A83C8580B5B}"/>
              </a:ext>
            </a:extLst>
          </p:cNvPr>
          <p:cNvSpPr txBox="1"/>
          <p:nvPr/>
        </p:nvSpPr>
        <p:spPr>
          <a:xfrm>
            <a:off x="10775310" y="3429000"/>
            <a:ext cx="357790"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a:t>
            </a:r>
            <a:endParaRPr lang="zh-CN" altLang="en-US" b="1"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3E078A1-9E41-4144-9C6E-DDBC7A9C60B8}"/>
              </a:ext>
            </a:extLst>
          </p:cNvPr>
          <p:cNvSpPr txBox="1"/>
          <p:nvPr/>
        </p:nvSpPr>
        <p:spPr>
          <a:xfrm>
            <a:off x="11299753" y="1537033"/>
            <a:ext cx="341760"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B</a:t>
            </a:r>
            <a:endParaRPr lang="zh-CN" altLang="en-US" b="1" dirty="0">
              <a:latin typeface="微软雅黑" panose="020B0503020204020204" pitchFamily="34" charset="-122"/>
              <a:ea typeface="微软雅黑" panose="020B0503020204020204" pitchFamily="34" charset="-122"/>
            </a:endParaRPr>
          </a:p>
        </p:txBody>
      </p:sp>
      <p:sp>
        <p:nvSpPr>
          <p:cNvPr id="14" name="文本框 11">
            <a:extLst>
              <a:ext uri="{FF2B5EF4-FFF2-40B4-BE49-F238E27FC236}">
                <a16:creationId xmlns:a16="http://schemas.microsoft.com/office/drawing/2014/main" id="{FCD9EEC1-2114-4210-AD9F-3A83C8580B5B}"/>
              </a:ext>
            </a:extLst>
          </p:cNvPr>
          <p:cNvSpPr txBox="1"/>
          <p:nvPr/>
        </p:nvSpPr>
        <p:spPr>
          <a:xfrm>
            <a:off x="7391198" y="1537033"/>
            <a:ext cx="34015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微软雅黑" panose="020B0503020204020204" pitchFamily="34" charset="-122"/>
                <a:ea typeface="微软雅黑" panose="020B0503020204020204" pitchFamily="34" charset="-122"/>
              </a:rPr>
              <a:t>C</a:t>
            </a:r>
            <a:endParaRPr lang="zh-CN" altLang="en-US" b="1" dirty="0">
              <a:latin typeface="微软雅黑" panose="020B0503020204020204" pitchFamily="34" charset="-122"/>
              <a:ea typeface="微软雅黑" panose="020B0503020204020204" pitchFamily="34" charset="-122"/>
            </a:endParaRPr>
          </a:p>
        </p:txBody>
      </p:sp>
      <p:sp>
        <p:nvSpPr>
          <p:cNvPr id="15" name="文本框 11">
            <a:extLst>
              <a:ext uri="{FF2B5EF4-FFF2-40B4-BE49-F238E27FC236}">
                <a16:creationId xmlns:a16="http://schemas.microsoft.com/office/drawing/2014/main" id="{FCD9EEC1-2114-4210-AD9F-3A83C8580B5B}"/>
              </a:ext>
            </a:extLst>
          </p:cNvPr>
          <p:cNvSpPr txBox="1"/>
          <p:nvPr/>
        </p:nvSpPr>
        <p:spPr>
          <a:xfrm>
            <a:off x="7826109" y="3429000"/>
            <a:ext cx="36740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微软雅黑" panose="020B0503020204020204" pitchFamily="34" charset="-122"/>
                <a:ea typeface="微软雅黑" panose="020B0503020204020204" pitchFamily="34" charset="-122"/>
              </a:rPr>
              <a:t>D</a:t>
            </a:r>
            <a:endParaRPr lang="zh-CN" altLang="en-US" b="1"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1273E9C7-F611-4643-9BC2-9F822C71AB94}"/>
              </a:ext>
            </a:extLst>
          </p:cNvPr>
          <p:cNvSpPr/>
          <p:nvPr/>
        </p:nvSpPr>
        <p:spPr>
          <a:xfrm>
            <a:off x="883745" y="4884629"/>
            <a:ext cx="8628449" cy="1836850"/>
          </a:xfrm>
          <a:prstGeom prst="rect">
            <a:avLst/>
          </a:prstGeom>
        </p:spPr>
        <p:txBody>
          <a:bodyPr wrap="square">
            <a:spAutoFit/>
          </a:bodyPr>
          <a:lstStyle/>
          <a:p>
            <a:pPr>
              <a:lnSpc>
                <a:spcPct val="120000"/>
              </a:lnSpc>
              <a:spcBef>
                <a:spcPts val="600"/>
              </a:spcBef>
            </a:pPr>
            <a:r>
              <a:rPr lang="zh-CN" altLang="en-US" sz="2200" dirty="0">
                <a:solidFill>
                  <a:srgbClr val="000000"/>
                </a:solidFill>
                <a:latin typeface="微软雅黑" panose="020B0503020204020204" pitchFamily="34" charset="-122"/>
                <a:ea typeface="微软雅黑" panose="020B0503020204020204" pitchFamily="34" charset="-122"/>
              </a:rPr>
              <a:t>关节在起点的位置、速度和加速度</a:t>
            </a:r>
            <a:r>
              <a:rPr lang="zh-CN" altLang="en-US" sz="2200" dirty="0">
                <a:latin typeface="微软雅黑" panose="020B0503020204020204" pitchFamily="34" charset="-122"/>
                <a:ea typeface="微软雅黑" panose="020B0503020204020204" pitchFamily="34" charset="-122"/>
              </a:rPr>
              <a:t> </a:t>
            </a:r>
            <a:br>
              <a:rPr lang="zh-CN" altLang="en-US" sz="2200" dirty="0">
                <a:latin typeface="微软雅黑" panose="020B0503020204020204" pitchFamily="34" charset="-122"/>
                <a:ea typeface="微软雅黑" panose="020B0503020204020204" pitchFamily="34" charset="-122"/>
              </a:rPr>
            </a:br>
            <a:r>
              <a:rPr lang="zh-CN" altLang="en-US" sz="2200" dirty="0">
                <a:solidFill>
                  <a:srgbClr val="000000"/>
                </a:solidFill>
                <a:latin typeface="微软雅黑" panose="020B0503020204020204" pitchFamily="34" charset="-122"/>
                <a:ea typeface="微软雅黑" panose="020B0503020204020204" pitchFamily="34" charset="-122"/>
              </a:rPr>
              <a:t>关节在终点的位置、速度和加速度</a:t>
            </a:r>
            <a:endParaRPr lang="en-US" altLang="zh-CN" sz="2200" dirty="0">
              <a:solidFill>
                <a:srgbClr val="000000"/>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2200" dirty="0">
                <a:latin typeface="微软雅黑" panose="020B0503020204020204" pitchFamily="34" charset="-122"/>
                <a:ea typeface="微软雅黑" panose="020B0503020204020204" pitchFamily="34" charset="-122"/>
              </a:rPr>
              <a:t>关节在抬起点和下降点的位置、速度、加速度</a:t>
            </a:r>
            <a:endParaRPr lang="en-US" altLang="zh-CN" sz="2200" dirty="0">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2200" dirty="0">
                <a:latin typeface="微软雅黑" panose="020B0503020204020204" pitchFamily="34" charset="-122"/>
                <a:ea typeface="微软雅黑" panose="020B0503020204020204" pitchFamily="34" charset="-122"/>
              </a:rPr>
              <a:t>关节在抬起点和下降点的位置、速度和加速度都保持连续</a:t>
            </a:r>
          </a:p>
        </p:txBody>
      </p:sp>
      <p:sp>
        <p:nvSpPr>
          <p:cNvPr id="18" name="文本框 17">
            <a:extLst>
              <a:ext uri="{FF2B5EF4-FFF2-40B4-BE49-F238E27FC236}">
                <a16:creationId xmlns:a16="http://schemas.microsoft.com/office/drawing/2014/main" id="{87BDEB19-F74D-438E-A52F-42A2B7A73377}"/>
              </a:ext>
            </a:extLst>
          </p:cNvPr>
          <p:cNvSpPr txBox="1"/>
          <p:nvPr/>
        </p:nvSpPr>
        <p:spPr>
          <a:xfrm>
            <a:off x="8057545" y="4189891"/>
            <a:ext cx="4048933" cy="2526846"/>
          </a:xfrm>
          <a:prstGeom prst="rect">
            <a:avLst/>
          </a:prstGeom>
          <a:solidFill>
            <a:schemeClr val="accent6">
              <a:lumMod val="40000"/>
              <a:lumOff val="60000"/>
            </a:schemeClr>
          </a:solidFill>
        </p:spPr>
        <p:txBody>
          <a:bodyPr wrap="square" rtlCol="0">
            <a:spAutoFit/>
          </a:bodyPr>
          <a:lstStyle/>
          <a:p>
            <a:pPr>
              <a:lnSpc>
                <a:spcPct val="110000"/>
              </a:lnSpc>
              <a:spcBef>
                <a:spcPts val="600"/>
              </a:spcBef>
              <a:spcAft>
                <a:spcPts val="600"/>
              </a:spcAft>
            </a:pPr>
            <a:r>
              <a:rPr lang="zh-CN" altLang="en-US" b="1" dirty="0">
                <a:latin typeface="微软雅黑" panose="020B0503020204020204" pitchFamily="34" charset="-122"/>
                <a:ea typeface="微软雅黑" panose="020B0503020204020204" pitchFamily="34" charset="-122"/>
              </a:rPr>
              <a:t>通常将整个作业过程分成三段规划：初始段、中间段、终止段</a:t>
            </a:r>
            <a:endParaRPr lang="en-US" altLang="zh-CN" b="1" dirty="0">
              <a:latin typeface="微软雅黑" panose="020B0503020204020204" pitchFamily="34" charset="-122"/>
              <a:ea typeface="微软雅黑" panose="020B0503020204020204" pitchFamily="34" charset="-122"/>
            </a:endParaRPr>
          </a:p>
          <a:p>
            <a:pPr marL="1346200" indent="-1346200">
              <a:lnSpc>
                <a:spcPct val="110000"/>
              </a:lnSpc>
              <a:spcBef>
                <a:spcPts val="600"/>
              </a:spcBef>
              <a:spcAft>
                <a:spcPts val="600"/>
              </a:spcAft>
            </a:pPr>
            <a:r>
              <a:rPr lang="en-US" altLang="zh-CN" b="1" dirty="0">
                <a:latin typeface="微软雅黑" panose="020B0503020204020204" pitchFamily="34" charset="-122"/>
                <a:ea typeface="微软雅黑" panose="020B0503020204020204" pitchFamily="34" charset="-122"/>
              </a:rPr>
              <a:t>3-3-3-3-3</a:t>
            </a:r>
            <a:r>
              <a:rPr lang="zh-CN" altLang="en-US" b="1" dirty="0">
                <a:latin typeface="微软雅黑" panose="020B0503020204020204" pitchFamily="34" charset="-122"/>
                <a:ea typeface="微软雅黑" panose="020B0503020204020204" pitchFamily="34" charset="-122"/>
              </a:rPr>
              <a:t>法：中间段包含多个中间点， 每段都用三次多项式拟合</a:t>
            </a:r>
            <a:endParaRPr lang="en-US" altLang="zh-CN" b="1" dirty="0">
              <a:latin typeface="微软雅黑" panose="020B0503020204020204" pitchFamily="34" charset="-122"/>
              <a:ea typeface="微软雅黑" panose="020B0503020204020204" pitchFamily="34" charset="-122"/>
            </a:endParaRPr>
          </a:p>
          <a:p>
            <a:pPr marL="1076325" indent="-1076325">
              <a:spcAft>
                <a:spcPts val="600"/>
              </a:spcAft>
            </a:pPr>
            <a:r>
              <a:rPr lang="en-US" altLang="zh-CN" b="1" dirty="0">
                <a:latin typeface="微软雅黑" panose="020B0503020204020204" pitchFamily="34" charset="-122"/>
                <a:ea typeface="微软雅黑" panose="020B0503020204020204" pitchFamily="34" charset="-122"/>
              </a:rPr>
              <a:t>3-5-3</a:t>
            </a:r>
            <a:r>
              <a:rPr lang="zh-CN" altLang="en-US" b="1" dirty="0">
                <a:latin typeface="微软雅黑" panose="020B0503020204020204" pitchFamily="34" charset="-122"/>
                <a:ea typeface="微软雅黑" panose="020B0503020204020204" pitchFamily="34" charset="-122"/>
              </a:rPr>
              <a:t>法：初始段用三次多项式拟合</a:t>
            </a:r>
            <a:endParaRPr lang="en-US" altLang="zh-CN" b="1" dirty="0">
              <a:latin typeface="微软雅黑" panose="020B0503020204020204" pitchFamily="34" charset="-122"/>
              <a:ea typeface="微软雅黑" panose="020B0503020204020204" pitchFamily="34" charset="-122"/>
            </a:endParaRPr>
          </a:p>
          <a:p>
            <a:pPr marL="1076325" indent="-1076325">
              <a:spcAft>
                <a:spcPts val="600"/>
              </a:spcAft>
            </a:pPr>
            <a:r>
              <a:rPr lang="zh-CN" altLang="en-US" b="1" dirty="0">
                <a:latin typeface="微软雅黑" panose="020B0503020204020204" pitchFamily="34" charset="-122"/>
                <a:ea typeface="微软雅黑" panose="020B0503020204020204" pitchFamily="34" charset="-122"/>
              </a:rPr>
              <a:t>                中间段用五次多项式拟合</a:t>
            </a:r>
            <a:endParaRPr lang="en-US" altLang="zh-CN" b="1" dirty="0">
              <a:latin typeface="微软雅黑" panose="020B0503020204020204" pitchFamily="34" charset="-122"/>
              <a:ea typeface="微软雅黑" panose="020B0503020204020204" pitchFamily="34" charset="-122"/>
            </a:endParaRPr>
          </a:p>
          <a:p>
            <a:pPr marL="1076325" indent="-1076325">
              <a:spcAft>
                <a:spcPts val="600"/>
              </a:spcAft>
            </a:pPr>
            <a:r>
              <a:rPr lang="zh-CN" altLang="en-US" b="1" dirty="0">
                <a:latin typeface="微软雅黑" panose="020B0503020204020204" pitchFamily="34" charset="-122"/>
                <a:ea typeface="微软雅黑" panose="020B0503020204020204" pitchFamily="34" charset="-122"/>
              </a:rPr>
              <a:t>                终止段用三次多项式拟合</a:t>
            </a:r>
            <a:endParaRPr lang="en-US"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6310281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 calcmode="lin" valueType="num">
                                      <p:cBhvr additive="base">
                                        <p:cTn id="19"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anim calcmode="lin" valueType="num">
                                      <p:cBhvr additive="base">
                                        <p:cTn id="25"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 calcmode="lin" valueType="num">
                                      <p:cBhvr additive="base">
                                        <p:cTn id="31"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1" end="1"/>
                                            </p:txEl>
                                          </p:spTgt>
                                        </p:tgtEl>
                                        <p:attrNameLst>
                                          <p:attrName>style.visibility</p:attrName>
                                        </p:attrNameLst>
                                      </p:cBhvr>
                                      <p:to>
                                        <p:strVal val="visible"/>
                                      </p:to>
                                    </p:set>
                                    <p:anim calcmode="lin" valueType="num">
                                      <p:cBhvr additive="base">
                                        <p:cTn id="35"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 calcmode="lin" valueType="num">
                                      <p:cBhvr additive="base">
                                        <p:cTn id="39"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6BC764-C2BE-4C07-8028-70AA718C8CA7}"/>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30</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AE0E992D-FFAC-442A-9DE1-DE6C49B0D323}"/>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 </a:t>
            </a:r>
            <a:r>
              <a:rPr lang="zh-CN" altLang="en-US" sz="3200" b="1" dirty="0">
                <a:solidFill>
                  <a:srgbClr val="9D1317"/>
                </a:solidFill>
                <a:latin typeface="微软雅黑" panose="020B0503020204020204" pitchFamily="34" charset="-122"/>
                <a:ea typeface="微软雅黑" panose="020B0503020204020204" pitchFamily="34" charset="-122"/>
              </a:rPr>
              <a:t>多段轨迹规划：</a:t>
            </a:r>
            <a:r>
              <a:rPr lang="en-US" altLang="zh-CN" sz="3200" b="1" dirty="0">
                <a:solidFill>
                  <a:srgbClr val="9D1317"/>
                </a:solidFill>
                <a:latin typeface="微软雅黑" panose="020B0503020204020204" pitchFamily="34" charset="-122"/>
                <a:ea typeface="微软雅黑" panose="020B0503020204020204" pitchFamily="34" charset="-122"/>
              </a:rPr>
              <a:t>3-3-3-…-3</a:t>
            </a:r>
            <a:r>
              <a:rPr lang="zh-CN" altLang="en-US" sz="3200" b="1" dirty="0">
                <a:solidFill>
                  <a:srgbClr val="9D1317"/>
                </a:solidFill>
                <a:latin typeface="微软雅黑" panose="020B0503020204020204" pitchFamily="34" charset="-122"/>
                <a:ea typeface="微软雅黑" panose="020B0503020204020204" pitchFamily="34" charset="-122"/>
              </a:rPr>
              <a:t>规划</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8F7E5A8-9F25-414D-A4A3-68838720EFE7}"/>
                  </a:ext>
                </a:extLst>
              </p:cNvPr>
              <p:cNvSpPr txBox="1"/>
              <p:nvPr/>
            </p:nvSpPr>
            <p:spPr>
              <a:xfrm>
                <a:off x="615825" y="760392"/>
                <a:ext cx="10922496" cy="2805512"/>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把多个中间点划分成多段轨迹，每段轨迹都用一个三次多项式函数规划</a:t>
                </a:r>
                <a:r>
                  <a:rPr lang="zh-CN" altLang="en-US" sz="2400" i="0" dirty="0">
                    <a:latin typeface="微软雅黑" panose="020B0503020204020204" pitchFamily="34" charset="-122"/>
                    <a:ea typeface="微软雅黑" panose="020B0503020204020204" pitchFamily="34" charset="-122"/>
                  </a:rPr>
                  <a:t>：</a:t>
                </a:r>
                <a:endParaRPr lang="en-US" altLang="zh-CN" sz="2400" i="0" dirty="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sz="2400" b="0" i="1" baseline="30000" smtClean="0">
                        <a:latin typeface="Cambria Math" panose="02040503050406030204" pitchFamily="18" charset="0"/>
                        <a:ea typeface="微软雅黑" panose="020B0503020204020204" pitchFamily="34" charset="-122"/>
                      </a:rPr>
                      <m:t>𝑖</m:t>
                    </m:r>
                    <m:r>
                      <a:rPr lang="en-US" altLang="zh-CN" sz="2400">
                        <a:latin typeface="Cambria Math" panose="02040503050406030204" pitchFamily="18" charset="0"/>
                        <a:ea typeface="微软雅黑" panose="020B0503020204020204" pitchFamily="34" charset="-122"/>
                      </a:rPr>
                      <m:t>𝑞</m:t>
                    </m:r>
                    <m:d>
                      <m:dPr>
                        <m:ctrlPr>
                          <a:rPr lang="en-US" altLang="zh-CN" sz="2400" i="1">
                            <a:latin typeface="Cambria Math" panose="02040503050406030204" pitchFamily="18" charset="0"/>
                            <a:ea typeface="微软雅黑" panose="020B0503020204020204" pitchFamily="34" charset="-122"/>
                          </a:rPr>
                        </m:ctrlPr>
                      </m:dPr>
                      <m:e>
                        <m:r>
                          <a:rPr lang="en-US" altLang="zh-CN" sz="2400">
                            <a:latin typeface="Cambria Math" panose="02040503050406030204" pitchFamily="18" charset="0"/>
                            <a:ea typeface="微软雅黑" panose="020B0503020204020204" pitchFamily="34" charset="-122"/>
                          </a:rPr>
                          <m:t>𝑡</m:t>
                        </m:r>
                      </m:e>
                    </m:d>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𝑎</m:t>
                        </m:r>
                      </m:e>
                      <m:sub>
                        <m:r>
                          <a:rPr lang="en-US" altLang="zh-CN" sz="2400">
                            <a:latin typeface="Cambria Math" panose="02040503050406030204" pitchFamily="18" charset="0"/>
                            <a:ea typeface="微软雅黑" panose="020B0503020204020204" pitchFamily="34" charset="-122"/>
                          </a:rPr>
                          <m:t>0</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𝑎</m:t>
                        </m:r>
                      </m:e>
                      <m:sub>
                        <m:r>
                          <a:rPr lang="en-US" altLang="zh-CN" sz="2400">
                            <a:latin typeface="Cambria Math" panose="02040503050406030204" pitchFamily="18" charset="0"/>
                            <a:ea typeface="微软雅黑" panose="020B0503020204020204" pitchFamily="34" charset="-122"/>
                          </a:rPr>
                          <m:t>1</m:t>
                        </m:r>
                      </m:sub>
                    </m:sSub>
                    <m:d>
                      <m:dPr>
                        <m:ctrlPr>
                          <a:rPr lang="en-US" altLang="zh-CN" sz="2400" b="0" i="1" smtClean="0">
                            <a:latin typeface="Cambria Math" panose="02040503050406030204" pitchFamily="18" charset="0"/>
                            <a:ea typeface="微软雅黑" panose="020B0503020204020204" pitchFamily="34" charset="-122"/>
                          </a:rPr>
                        </m:ctrlPr>
                      </m:dPr>
                      <m:e>
                        <m:r>
                          <a:rPr lang="en-US" altLang="zh-CN" sz="2400">
                            <a:latin typeface="Cambria Math" panose="02040503050406030204" pitchFamily="18" charset="0"/>
                            <a:ea typeface="微软雅黑" panose="020B0503020204020204" pitchFamily="34" charset="-122"/>
                          </a:rPr>
                          <m:t>𝑡</m:t>
                        </m:r>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𝑡</m:t>
                            </m:r>
                          </m:e>
                          <m:sub>
                            <m:r>
                              <a:rPr lang="en-US" altLang="zh-CN" sz="2400" b="0" i="1" smtClean="0">
                                <a:latin typeface="Cambria Math" panose="02040503050406030204" pitchFamily="18" charset="0"/>
                                <a:ea typeface="微软雅黑" panose="020B0503020204020204" pitchFamily="34" charset="-122"/>
                              </a:rPr>
                              <m:t>𝑖</m:t>
                            </m:r>
                          </m:sub>
                        </m:sSub>
                      </m:e>
                    </m:d>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𝑎</m:t>
                        </m:r>
                      </m:e>
                      <m:sub>
                        <m:r>
                          <a:rPr lang="en-US" altLang="zh-CN" sz="2400">
                            <a:latin typeface="Cambria Math" panose="02040503050406030204" pitchFamily="18" charset="0"/>
                            <a:ea typeface="微软雅黑" panose="020B0503020204020204" pitchFamily="34" charset="-122"/>
                          </a:rPr>
                          <m:t>2</m:t>
                        </m:r>
                      </m:sub>
                    </m:sSub>
                    <m:sSup>
                      <m:sSupPr>
                        <m:ctrlPr>
                          <a:rPr lang="en-US" altLang="zh-CN" sz="2400" i="1">
                            <a:latin typeface="Cambria Math" panose="02040503050406030204" pitchFamily="18" charset="0"/>
                            <a:ea typeface="微软雅黑" panose="020B0503020204020204" pitchFamily="34" charset="-122"/>
                          </a:rPr>
                        </m:ctrlPr>
                      </m:sSupPr>
                      <m:e>
                        <m:d>
                          <m:dPr>
                            <m:ctrlPr>
                              <a:rPr lang="en-US" altLang="zh-CN" sz="2400" i="1">
                                <a:latin typeface="Cambria Math" panose="02040503050406030204" pitchFamily="18" charset="0"/>
                                <a:ea typeface="微软雅黑" panose="020B0503020204020204" pitchFamily="34" charset="-122"/>
                              </a:rPr>
                            </m:ctrlPr>
                          </m:dPr>
                          <m:e>
                            <m:r>
                              <a:rPr lang="en-US" altLang="zh-CN" sz="2400">
                                <a:latin typeface="Cambria Math" panose="02040503050406030204" pitchFamily="18" charset="0"/>
                                <a:ea typeface="微软雅黑" panose="020B0503020204020204" pitchFamily="34" charset="-122"/>
                              </a:rPr>
                              <m:t>𝑡</m:t>
                            </m:r>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𝑡</m:t>
                                </m:r>
                              </m:e>
                              <m:sub>
                                <m:r>
                                  <a:rPr lang="en-US" altLang="zh-CN" sz="2400">
                                    <a:latin typeface="Cambria Math" panose="02040503050406030204" pitchFamily="18" charset="0"/>
                                    <a:ea typeface="微软雅黑" panose="020B0503020204020204" pitchFamily="34" charset="-122"/>
                                  </a:rPr>
                                  <m:t>𝑖</m:t>
                                </m:r>
                              </m:sub>
                            </m:sSub>
                          </m:e>
                        </m:d>
                      </m:e>
                      <m:sup>
                        <m:r>
                          <a:rPr lang="en-US" altLang="zh-CN" sz="2400">
                            <a:latin typeface="Cambria Math" panose="02040503050406030204" pitchFamily="18" charset="0"/>
                            <a:ea typeface="微软雅黑" panose="020B0503020204020204" pitchFamily="34" charset="-122"/>
                          </a:rPr>
                          <m:t>2</m:t>
                        </m:r>
                      </m:sup>
                    </m:sSup>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𝑎</m:t>
                        </m:r>
                      </m:e>
                      <m:sub>
                        <m:r>
                          <a:rPr lang="en-US" altLang="zh-CN" sz="2400" smtClean="0">
                            <a:latin typeface="Cambria Math" panose="02040503050406030204" pitchFamily="18" charset="0"/>
                            <a:ea typeface="微软雅黑" panose="020B0503020204020204" pitchFamily="34" charset="-122"/>
                          </a:rPr>
                          <m:t>3</m:t>
                        </m:r>
                      </m:sub>
                    </m:sSub>
                    <m:sSup>
                      <m:sSupPr>
                        <m:ctrlPr>
                          <a:rPr lang="en-US" altLang="zh-CN" sz="2400" i="1">
                            <a:latin typeface="Cambria Math" panose="02040503050406030204" pitchFamily="18" charset="0"/>
                            <a:ea typeface="微软雅黑" panose="020B0503020204020204" pitchFamily="34" charset="-122"/>
                          </a:rPr>
                        </m:ctrlPr>
                      </m:sSupPr>
                      <m:e>
                        <m:d>
                          <m:dPr>
                            <m:ctrlPr>
                              <a:rPr lang="en-US" altLang="zh-CN" sz="2400" i="1">
                                <a:latin typeface="Cambria Math" panose="02040503050406030204" pitchFamily="18" charset="0"/>
                                <a:ea typeface="微软雅黑" panose="020B0503020204020204" pitchFamily="34" charset="-122"/>
                              </a:rPr>
                            </m:ctrlPr>
                          </m:dPr>
                          <m:e>
                            <m:r>
                              <a:rPr lang="en-US" altLang="zh-CN" sz="2400">
                                <a:latin typeface="Cambria Math" panose="02040503050406030204" pitchFamily="18" charset="0"/>
                                <a:ea typeface="微软雅黑" panose="020B0503020204020204" pitchFamily="34" charset="-122"/>
                              </a:rPr>
                              <m:t>𝑡</m:t>
                            </m:r>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𝑡</m:t>
                                </m:r>
                              </m:e>
                              <m:sub>
                                <m:r>
                                  <a:rPr lang="en-US" altLang="zh-CN" sz="2400">
                                    <a:latin typeface="Cambria Math" panose="02040503050406030204" pitchFamily="18" charset="0"/>
                                    <a:ea typeface="微软雅黑" panose="020B0503020204020204" pitchFamily="34" charset="-122"/>
                                  </a:rPr>
                                  <m:t>𝑖</m:t>
                                </m:r>
                              </m:sub>
                            </m:sSub>
                          </m:e>
                        </m:d>
                      </m:e>
                      <m:sup>
                        <m:r>
                          <a:rPr lang="en-US" altLang="zh-CN" sz="2400" smtClean="0">
                            <a:latin typeface="Cambria Math" panose="02040503050406030204" pitchFamily="18" charset="0"/>
                            <a:ea typeface="微软雅黑" panose="020B0503020204020204" pitchFamily="34" charset="-122"/>
                          </a:rPr>
                          <m:t>3</m:t>
                        </m:r>
                      </m:sup>
                    </m:sSup>
                    <m:r>
                      <a:rPr lang="en-US" altLang="zh-CN" sz="2400" b="0" i="1" smtClean="0">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𝑡</m:t>
                        </m:r>
                      </m:e>
                      <m:sub>
                        <m:r>
                          <a:rPr lang="en-US" altLang="zh-CN" sz="2400">
                            <a:latin typeface="Cambria Math" panose="02040503050406030204" pitchFamily="18" charset="0"/>
                            <a:ea typeface="微软雅黑" panose="020B0503020204020204" pitchFamily="34" charset="-122"/>
                          </a:rPr>
                          <m:t>𝑖</m:t>
                        </m:r>
                      </m:sub>
                    </m:sSub>
                    <m:r>
                      <a:rPr lang="en-US" altLang="zh-CN" sz="2400">
                        <a:latin typeface="Cambria Math" panose="02040503050406030204" pitchFamily="18" charset="0"/>
                        <a:ea typeface="Cambria Math" panose="02040503050406030204" pitchFamily="18" charset="0"/>
                      </a:rPr>
                      <m:t>≤ </m:t>
                    </m:r>
                    <m:r>
                      <a:rPr lang="en-US" altLang="zh-CN" sz="2400">
                        <a:latin typeface="Cambria Math" panose="02040503050406030204" pitchFamily="18" charset="0"/>
                        <a:ea typeface="微软雅黑" panose="020B0503020204020204" pitchFamily="34" charset="-122"/>
                      </a:rPr>
                      <m:t>𝑡</m:t>
                    </m:r>
                    <m:r>
                      <a:rPr lang="en-US" altLang="zh-CN" sz="240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𝑡</m:t>
                        </m:r>
                      </m:e>
                      <m:sub>
                        <m:r>
                          <a:rPr lang="en-US" altLang="zh-CN" sz="2400">
                            <a:latin typeface="Cambria Math" panose="02040503050406030204" pitchFamily="18" charset="0"/>
                            <a:ea typeface="微软雅黑" panose="020B0503020204020204" pitchFamily="34" charset="-122"/>
                          </a:rPr>
                          <m:t>𝑖</m:t>
                        </m:r>
                        <m:r>
                          <a:rPr lang="en-US" altLang="zh-CN" sz="2400" b="0" i="1" smtClean="0">
                            <a:latin typeface="Cambria Math" panose="02040503050406030204" pitchFamily="18" charset="0"/>
                            <a:ea typeface="微软雅黑" panose="020B0503020204020204" pitchFamily="34" charset="-122"/>
                          </a:rPr>
                          <m:t>+1</m:t>
                        </m:r>
                      </m:sub>
                    </m:sSub>
                  </m:oMath>
                </a14:m>
                <a:r>
                  <a:rPr lang="zh-CN" altLang="en-US" sz="2400" i="0" dirty="0">
                    <a:latin typeface="微软雅黑" panose="020B0503020204020204" pitchFamily="34" charset="-122"/>
                    <a:ea typeface="微软雅黑" panose="020B0503020204020204" pitchFamily="34" charset="-122"/>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rPr>
                  <a:t>是分段标号</a:t>
                </a:r>
                <a:endParaRPr lang="en-US" altLang="zh-CN" sz="2000" i="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n"/>
                </a:pPr>
                <a:r>
                  <a:rPr lang="zh-CN" altLang="en-US" sz="2400" i="0" dirty="0">
                    <a:latin typeface="微软雅黑" panose="020B0503020204020204" pitchFamily="34" charset="-122"/>
                    <a:ea typeface="微软雅黑" panose="020B0503020204020204" pitchFamily="34" charset="-122"/>
                  </a:rPr>
                  <a:t>已知每一段的起、终位置、速度：</a:t>
                </a:r>
                <a:endParaRPr lang="en-US" altLang="zh-CN" sz="2400" i="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第</a:t>
                </a:r>
                <a:r>
                  <a:rPr lang="en-US" altLang="zh-CN" sz="2200" b="1"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i="0" dirty="0">
                    <a:latin typeface="微软雅黑" panose="020B0503020204020204" pitchFamily="34" charset="-122"/>
                    <a:ea typeface="微软雅黑" panose="020B0503020204020204" pitchFamily="34" charset="-122"/>
                  </a:rPr>
                  <a:t>段</a:t>
                </a:r>
                <a:r>
                  <a:rPr lang="zh-CN" altLang="en-US" sz="2200" dirty="0">
                    <a:latin typeface="微软雅黑" panose="020B0503020204020204" pitchFamily="34" charset="-122"/>
                    <a:ea typeface="微软雅黑" panose="020B0503020204020204" pitchFamily="34" charset="-122"/>
                  </a:rPr>
                  <a:t>的</a:t>
                </a:r>
                <a:r>
                  <a:rPr lang="zh-CN" altLang="en-US" sz="2200" i="0" dirty="0">
                    <a:latin typeface="微软雅黑" panose="020B0503020204020204" pitchFamily="34" charset="-122"/>
                    <a:ea typeface="微软雅黑" panose="020B0503020204020204" pitchFamily="34" charset="-122"/>
                  </a:rPr>
                  <a:t>起点状态</a:t>
                </a:r>
                <a14:m>
                  <m:oMath xmlns:m="http://schemas.openxmlformats.org/officeDocument/2006/math">
                    <m:sSub>
                      <m:sSubPr>
                        <m:ctrlPr>
                          <a:rPr lang="en-US" altLang="zh-CN" sz="2200" i="1">
                            <a:latin typeface="Cambria Math" panose="02040503050406030204" pitchFamily="18" charset="0"/>
                          </a:rPr>
                        </m:ctrlPr>
                      </m:sSubPr>
                      <m:e>
                        <m:r>
                          <a:rPr lang="en-US" altLang="zh-CN" sz="2200" b="0" i="0" smtClean="0">
                            <a:latin typeface="Cambria Math" panose="02040503050406030204" pitchFamily="18" charset="0"/>
                          </a:rPr>
                          <m:t> </m:t>
                        </m:r>
                        <m:r>
                          <a:rPr lang="en-US" altLang="zh-CN" sz="2200">
                            <a:latin typeface="Cambria Math" panose="02040503050406030204" pitchFamily="18" charset="0"/>
                          </a:rPr>
                          <m:t>𝑞</m:t>
                        </m:r>
                      </m:e>
                      <m:sub>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0</m:t>
                        </m:r>
                      </m:sub>
                    </m:sSub>
                    <m:r>
                      <a:rPr lang="en-US" altLang="zh-CN" sz="2200">
                        <a:latin typeface="Cambria Math" panose="02040503050406030204" pitchFamily="18" charset="0"/>
                      </a:rPr>
                      <m:t>, </m:t>
                    </m:r>
                    <m:sSub>
                      <m:sSubPr>
                        <m:ctrlPr>
                          <a:rPr lang="en-US" altLang="zh-CN" sz="2200" i="1">
                            <a:latin typeface="Cambria Math" panose="02040503050406030204" pitchFamily="18" charset="0"/>
                          </a:rPr>
                        </m:ctrlPr>
                      </m:sSubPr>
                      <m:e>
                        <m:acc>
                          <m:accPr>
                            <m:chr m:val="̇"/>
                            <m:ctrlPr>
                              <a:rPr lang="en-US" altLang="zh-CN" sz="2200" i="1">
                                <a:latin typeface="Cambria Math" panose="02040503050406030204" pitchFamily="18" charset="0"/>
                              </a:rPr>
                            </m:ctrlPr>
                          </m:accPr>
                          <m:e>
                            <m:r>
                              <a:rPr lang="en-US" altLang="zh-CN" sz="2200" b="0" i="0" smtClean="0">
                                <a:latin typeface="Cambria Math" panose="02040503050406030204" pitchFamily="18" charset="0"/>
                              </a:rPr>
                              <m:t> </m:t>
                            </m:r>
                            <m:r>
                              <a:rPr lang="en-US" altLang="zh-CN" sz="2200">
                                <a:latin typeface="Cambria Math" panose="02040503050406030204" pitchFamily="18" charset="0"/>
                              </a:rPr>
                              <m:t>𝑞</m:t>
                            </m:r>
                          </m:e>
                        </m:acc>
                      </m:e>
                      <m:sub>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0</m:t>
                        </m:r>
                      </m:sub>
                    </m:sSub>
                  </m:oMath>
                </a14:m>
                <a:r>
                  <a:rPr lang="zh-CN" altLang="en-US" sz="2200" dirty="0">
                    <a:latin typeface="微软雅黑" panose="020B0503020204020204" pitchFamily="34" charset="-122"/>
                    <a:ea typeface="微软雅黑" panose="020B0503020204020204" pitchFamily="34" charset="-122"/>
                  </a:rPr>
                  <a:t>（通常，</a:t>
                </a:r>
                <a14:m>
                  <m:oMath xmlns:m="http://schemas.openxmlformats.org/officeDocument/2006/math">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 </m:t>
                        </m:r>
                        <m:r>
                          <a:rPr lang="en-US" altLang="zh-CN" sz="2200">
                            <a:latin typeface="Cambria Math" panose="02040503050406030204" pitchFamily="18" charset="0"/>
                          </a:rPr>
                          <m:t>𝑞</m:t>
                        </m:r>
                      </m:e>
                      <m:sub>
                        <m:r>
                          <a:rPr lang="en-US" altLang="zh-CN" sz="2200" i="1">
                            <a:latin typeface="Cambria Math" panose="02040503050406030204" pitchFamily="18" charset="0"/>
                          </a:rPr>
                          <m:t>𝑖</m:t>
                        </m:r>
                        <m:r>
                          <a:rPr lang="en-US" altLang="zh-CN" sz="2200" i="1">
                            <a:latin typeface="Cambria Math" panose="02040503050406030204" pitchFamily="18" charset="0"/>
                          </a:rPr>
                          <m:t>0</m:t>
                        </m:r>
                      </m:sub>
                    </m:sSub>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 </m:t>
                        </m:r>
                        <m:r>
                          <a:rPr lang="en-US" altLang="zh-CN" sz="2200">
                            <a:latin typeface="Cambria Math" panose="02040503050406030204" pitchFamily="18" charset="0"/>
                          </a:rPr>
                          <m:t>𝑞</m:t>
                        </m:r>
                      </m:e>
                      <m:sub>
                        <m:d>
                          <m:dPr>
                            <m:ctrlPr>
                              <a:rPr lang="en-US" altLang="zh-CN" sz="2200" b="0" i="1" smtClean="0">
                                <a:latin typeface="Cambria Math" panose="02040503050406030204" pitchFamily="18" charset="0"/>
                              </a:rPr>
                            </m:ctrlPr>
                          </m:dPr>
                          <m:e>
                            <m:r>
                              <a:rPr lang="en-US" altLang="zh-CN" sz="2200" i="1">
                                <a:latin typeface="Cambria Math" panose="02040503050406030204" pitchFamily="18" charset="0"/>
                              </a:rPr>
                              <m:t>𝑖</m:t>
                            </m:r>
                            <m:r>
                              <a:rPr lang="en-US" altLang="zh-CN" sz="2200" b="0" i="1" smtClean="0">
                                <a:latin typeface="Cambria Math" panose="02040503050406030204" pitchFamily="18" charset="0"/>
                              </a:rPr>
                              <m:t>−1</m:t>
                            </m:r>
                          </m:e>
                        </m:d>
                        <m:r>
                          <a:rPr lang="en-US" altLang="zh-CN" sz="2200" b="0" i="1" smtClean="0">
                            <a:latin typeface="Cambria Math" panose="02040503050406030204" pitchFamily="18" charset="0"/>
                          </a:rPr>
                          <m:t>𝑓</m:t>
                        </m:r>
                      </m:sub>
                    </m:sSub>
                    <m:r>
                      <a:rPr lang="en-US" altLang="zh-CN" sz="2200">
                        <a:latin typeface="Cambria Math" panose="02040503050406030204" pitchFamily="18" charset="0"/>
                      </a:rPr>
                      <m:t>, </m:t>
                    </m:r>
                    <m:sSub>
                      <m:sSubPr>
                        <m:ctrlPr>
                          <a:rPr lang="en-US" altLang="zh-CN" sz="2200" i="1">
                            <a:latin typeface="Cambria Math" panose="02040503050406030204" pitchFamily="18" charset="0"/>
                          </a:rPr>
                        </m:ctrlPr>
                      </m:sSubPr>
                      <m:e>
                        <m:acc>
                          <m:accPr>
                            <m:chr m:val="̇"/>
                            <m:ctrlPr>
                              <a:rPr lang="en-US" altLang="zh-CN" sz="2200" i="1">
                                <a:latin typeface="Cambria Math" panose="02040503050406030204" pitchFamily="18" charset="0"/>
                              </a:rPr>
                            </m:ctrlPr>
                          </m:accPr>
                          <m:e>
                            <m:r>
                              <a:rPr lang="en-US" altLang="zh-CN" sz="2200">
                                <a:latin typeface="Cambria Math" panose="02040503050406030204" pitchFamily="18" charset="0"/>
                              </a:rPr>
                              <m:t> </m:t>
                            </m:r>
                            <m:r>
                              <a:rPr lang="en-US" altLang="zh-CN" sz="2200">
                                <a:latin typeface="Cambria Math" panose="02040503050406030204" pitchFamily="18" charset="0"/>
                              </a:rPr>
                              <m:t>𝑞</m:t>
                            </m:r>
                          </m:e>
                        </m:acc>
                      </m:e>
                      <m:sub>
                        <m:r>
                          <a:rPr lang="en-US" altLang="zh-CN" sz="2200" i="1">
                            <a:latin typeface="Cambria Math" panose="02040503050406030204" pitchFamily="18" charset="0"/>
                          </a:rPr>
                          <m:t>𝑖</m:t>
                        </m:r>
                        <m:r>
                          <a:rPr lang="en-US" altLang="zh-CN" sz="2200" i="1">
                            <a:latin typeface="Cambria Math" panose="02040503050406030204" pitchFamily="18" charset="0"/>
                          </a:rPr>
                          <m:t>0</m:t>
                        </m:r>
                      </m:sub>
                    </m:sSub>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acc>
                          <m:accPr>
                            <m:chr m:val="̇"/>
                            <m:ctrlPr>
                              <a:rPr lang="en-US" altLang="zh-CN" sz="2200" i="1">
                                <a:latin typeface="Cambria Math" panose="02040503050406030204" pitchFamily="18" charset="0"/>
                              </a:rPr>
                            </m:ctrlPr>
                          </m:accPr>
                          <m:e>
                            <m:r>
                              <a:rPr lang="en-US" altLang="zh-CN" sz="2200">
                                <a:latin typeface="Cambria Math" panose="02040503050406030204" pitchFamily="18" charset="0"/>
                              </a:rPr>
                              <m:t> </m:t>
                            </m:r>
                            <m:r>
                              <a:rPr lang="en-US" altLang="zh-CN" sz="2200">
                                <a:latin typeface="Cambria Math" panose="02040503050406030204" pitchFamily="18" charset="0"/>
                              </a:rPr>
                              <m:t>𝑞</m:t>
                            </m:r>
                          </m:e>
                        </m:acc>
                      </m:e>
                      <m:sub>
                        <m:d>
                          <m:dPr>
                            <m:ctrlPr>
                              <a:rPr lang="en-US" altLang="zh-CN" sz="2200" b="0" i="1" smtClean="0">
                                <a:latin typeface="Cambria Math" panose="02040503050406030204" pitchFamily="18" charset="0"/>
                              </a:rPr>
                            </m:ctrlPr>
                          </m:dPr>
                          <m:e>
                            <m:r>
                              <a:rPr lang="en-US" altLang="zh-CN" sz="2200" i="1">
                                <a:latin typeface="Cambria Math" panose="02040503050406030204" pitchFamily="18" charset="0"/>
                              </a:rPr>
                              <m:t>𝑖</m:t>
                            </m:r>
                            <m:r>
                              <a:rPr lang="en-US" altLang="zh-CN" sz="2200" b="0" i="1" smtClean="0">
                                <a:latin typeface="Cambria Math" panose="02040503050406030204" pitchFamily="18" charset="0"/>
                              </a:rPr>
                              <m:t>−1</m:t>
                            </m:r>
                          </m:e>
                        </m:d>
                        <m:r>
                          <a:rPr lang="en-US" altLang="zh-CN" sz="2200" b="0" i="1" smtClean="0">
                            <a:latin typeface="Cambria Math" panose="02040503050406030204" pitchFamily="18" charset="0"/>
                          </a:rPr>
                          <m:t>𝑓</m:t>
                        </m:r>
                      </m:sub>
                    </m:sSub>
                  </m:oMath>
                </a14:m>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第</a:t>
                </a:r>
                <a:r>
                  <a:rPr lang="en-US" altLang="zh-CN" sz="2200" b="1"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微软雅黑" panose="020B0503020204020204" pitchFamily="34" charset="-122"/>
                    <a:ea typeface="微软雅黑" panose="020B0503020204020204" pitchFamily="34" charset="-122"/>
                  </a:rPr>
                  <a:t>段的</a:t>
                </a:r>
                <a:r>
                  <a:rPr lang="zh-CN" altLang="en-US" sz="2200" i="0" dirty="0">
                    <a:latin typeface="微软雅黑" panose="020B0503020204020204" pitchFamily="34" charset="-122"/>
                    <a:ea typeface="微软雅黑" panose="020B0503020204020204" pitchFamily="34" charset="-122"/>
                  </a:rPr>
                  <a:t>终点状态 </a:t>
                </a:r>
                <a14:m>
                  <m:oMath xmlns:m="http://schemas.openxmlformats.org/officeDocument/2006/math">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𝑞</m:t>
                        </m:r>
                      </m:e>
                      <m:sub>
                        <m:r>
                          <a:rPr lang="en-US" altLang="zh-CN" sz="2200" b="0" i="1" smtClean="0">
                            <a:latin typeface="Cambria Math" panose="02040503050406030204" pitchFamily="18" charset="0"/>
                          </a:rPr>
                          <m:t>𝑖𝑓</m:t>
                        </m:r>
                      </m:sub>
                    </m:sSub>
                    <m:r>
                      <a:rPr lang="en-US" altLang="zh-CN" sz="2200">
                        <a:latin typeface="Cambria Math" panose="02040503050406030204" pitchFamily="18" charset="0"/>
                      </a:rPr>
                      <m:t>, </m:t>
                    </m:r>
                    <m:sSub>
                      <m:sSubPr>
                        <m:ctrlPr>
                          <a:rPr lang="en-US" altLang="zh-CN" sz="2200" i="1">
                            <a:latin typeface="Cambria Math" panose="02040503050406030204" pitchFamily="18" charset="0"/>
                          </a:rPr>
                        </m:ctrlPr>
                      </m:sSubPr>
                      <m:e>
                        <m:acc>
                          <m:accPr>
                            <m:chr m:val="̇"/>
                            <m:ctrlPr>
                              <a:rPr lang="en-US" altLang="zh-CN" sz="2200" i="1">
                                <a:latin typeface="Cambria Math" panose="02040503050406030204" pitchFamily="18" charset="0"/>
                              </a:rPr>
                            </m:ctrlPr>
                          </m:accPr>
                          <m:e>
                            <m:r>
                              <a:rPr lang="en-US" altLang="zh-CN" sz="2200">
                                <a:latin typeface="Cambria Math" panose="02040503050406030204" pitchFamily="18" charset="0"/>
                              </a:rPr>
                              <m:t>𝑞</m:t>
                            </m:r>
                          </m:e>
                        </m:acc>
                      </m:e>
                      <m:sub>
                        <m:r>
                          <a:rPr lang="en-US" altLang="zh-CN" sz="2200" b="0" i="1" smtClean="0">
                            <a:latin typeface="Cambria Math" panose="02040503050406030204" pitchFamily="18" charset="0"/>
                          </a:rPr>
                          <m:t>𝑖𝑓</m:t>
                        </m:r>
                      </m:sub>
                    </m:sSub>
                  </m:oMath>
                </a14:m>
                <a:endParaRPr lang="en-US" altLang="zh-CN" sz="2200" dirty="0">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78F7E5A8-9F25-414D-A4A3-68838720EFE7}"/>
                  </a:ext>
                </a:extLst>
              </p:cNvPr>
              <p:cNvSpPr txBox="1">
                <a:spLocks noRot="1" noChangeAspect="1" noMove="1" noResize="1" noEditPoints="1" noAdjustHandles="1" noChangeArrowheads="1" noChangeShapeType="1" noTextEdit="1"/>
              </p:cNvSpPr>
              <p:nvPr/>
            </p:nvSpPr>
            <p:spPr>
              <a:xfrm>
                <a:off x="615825" y="760392"/>
                <a:ext cx="10922496" cy="2805512"/>
              </a:xfrm>
              <a:prstGeom prst="rect">
                <a:avLst/>
              </a:prstGeom>
              <a:blipFill>
                <a:blip r:embed="rId2"/>
                <a:stretch>
                  <a:fillRect l="-725" b="-23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B435703-74C7-4800-81EF-74D76FC26ECD}"/>
                  </a:ext>
                </a:extLst>
              </p:cNvPr>
              <p:cNvSpPr txBox="1"/>
              <p:nvPr/>
            </p:nvSpPr>
            <p:spPr>
              <a:xfrm>
                <a:off x="2617595" y="3492599"/>
                <a:ext cx="152986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2200" i="1" smtClean="0">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𝑎</m:t>
                          </m:r>
                        </m:e>
                        <m:sub>
                          <m:r>
                            <a:rPr lang="zh-CN" altLang="en-US" sz="2200" i="0">
                              <a:solidFill>
                                <a:schemeClr val="tx1"/>
                              </a:solidFill>
                              <a:latin typeface="Cambria Math" panose="02040503050406030204" pitchFamily="18" charset="0"/>
                            </a:rPr>
                            <m:t>0</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𝑞</m:t>
                          </m:r>
                        </m:e>
                        <m:sub>
                          <m:r>
                            <a:rPr lang="zh-CN" altLang="en-US" sz="2200" i="1">
                              <a:solidFill>
                                <a:schemeClr val="tx1"/>
                              </a:solidFill>
                              <a:latin typeface="Cambria Math" panose="02040503050406030204" pitchFamily="18" charset="0"/>
                            </a:rPr>
                            <m:t>𝑖</m:t>
                          </m:r>
                          <m:r>
                            <a:rPr lang="zh-CN" altLang="en-US" sz="2200" i="0">
                              <a:solidFill>
                                <a:schemeClr val="tx1"/>
                              </a:solidFill>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9" name="文本框 8">
                <a:extLst>
                  <a:ext uri="{FF2B5EF4-FFF2-40B4-BE49-F238E27FC236}">
                    <a16:creationId xmlns:a16="http://schemas.microsoft.com/office/drawing/2014/main" id="{1B435703-74C7-4800-81EF-74D76FC26ECD}"/>
                  </a:ext>
                </a:extLst>
              </p:cNvPr>
              <p:cNvSpPr txBox="1">
                <a:spLocks noRot="1" noChangeAspect="1" noMove="1" noResize="1" noEditPoints="1" noAdjustHandles="1" noChangeArrowheads="1" noChangeShapeType="1" noTextEdit="1"/>
              </p:cNvSpPr>
              <p:nvPr/>
            </p:nvSpPr>
            <p:spPr>
              <a:xfrm>
                <a:off x="2617595" y="3492599"/>
                <a:ext cx="1529862" cy="430887"/>
              </a:xfrm>
              <a:prstGeom prst="rect">
                <a:avLst/>
              </a:prstGeom>
              <a:blipFill>
                <a:blip r:embed="rId3"/>
                <a:stretch>
                  <a:fillRect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BE3A245-CBCB-48EC-9F18-89B448A0495C}"/>
                  </a:ext>
                </a:extLst>
              </p:cNvPr>
              <p:cNvSpPr txBox="1"/>
              <p:nvPr/>
            </p:nvSpPr>
            <p:spPr>
              <a:xfrm>
                <a:off x="2617595" y="4014819"/>
                <a:ext cx="1364063"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2200" i="1" smtClean="0">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𝑎</m:t>
                          </m:r>
                        </m:e>
                        <m:sub>
                          <m:r>
                            <a:rPr lang="zh-CN" altLang="en-US" sz="2200" i="0">
                              <a:solidFill>
                                <a:schemeClr val="tx1"/>
                              </a:solidFill>
                              <a:latin typeface="Cambria Math" panose="02040503050406030204" pitchFamily="18" charset="0"/>
                            </a:rPr>
                            <m:t>1</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acc>
                            <m:accPr>
                              <m:chr m:val="̇"/>
                              <m:ctrlPr>
                                <a:rPr lang="zh-CN" altLang="en-US" sz="2200" i="1">
                                  <a:solidFill>
                                    <a:schemeClr val="tx1"/>
                                  </a:solidFill>
                                  <a:latin typeface="Cambria Math" panose="02040503050406030204" pitchFamily="18" charset="0"/>
                                </a:rPr>
                              </m:ctrlPr>
                            </m:accPr>
                            <m:e>
                              <m:r>
                                <a:rPr lang="zh-CN" altLang="en-US" sz="2200" i="1">
                                  <a:solidFill>
                                    <a:schemeClr val="tx1"/>
                                  </a:solidFill>
                                  <a:latin typeface="Cambria Math" panose="02040503050406030204" pitchFamily="18" charset="0"/>
                                </a:rPr>
                                <m:t>𝑞</m:t>
                              </m:r>
                            </m:e>
                          </m:acc>
                        </m:e>
                        <m:sub>
                          <m:r>
                            <a:rPr lang="zh-CN" altLang="en-US" sz="2200" i="1">
                              <a:solidFill>
                                <a:schemeClr val="tx1"/>
                              </a:solidFill>
                              <a:latin typeface="Cambria Math" panose="02040503050406030204" pitchFamily="18" charset="0"/>
                            </a:rPr>
                            <m:t>𝑖</m:t>
                          </m:r>
                          <m:r>
                            <a:rPr lang="zh-CN" altLang="en-US" sz="2200" i="0">
                              <a:solidFill>
                                <a:schemeClr val="tx1"/>
                              </a:solidFill>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0" name="文本框 9">
                <a:extLst>
                  <a:ext uri="{FF2B5EF4-FFF2-40B4-BE49-F238E27FC236}">
                    <a16:creationId xmlns:a16="http://schemas.microsoft.com/office/drawing/2014/main" id="{3BE3A245-CBCB-48EC-9F18-89B448A0495C}"/>
                  </a:ext>
                </a:extLst>
              </p:cNvPr>
              <p:cNvSpPr txBox="1">
                <a:spLocks noRot="1" noChangeAspect="1" noMove="1" noResize="1" noEditPoints="1" noAdjustHandles="1" noChangeArrowheads="1" noChangeShapeType="1" noTextEdit="1"/>
              </p:cNvSpPr>
              <p:nvPr/>
            </p:nvSpPr>
            <p:spPr>
              <a:xfrm>
                <a:off x="2617595" y="4014819"/>
                <a:ext cx="1364063" cy="430887"/>
              </a:xfrm>
              <a:prstGeom prst="rect">
                <a:avLst/>
              </a:prstGeom>
              <a:blipFill>
                <a:blip r:embed="rId4"/>
                <a:stretch>
                  <a:fillRect b="-1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B61AD8F-DD37-449A-8988-F2B201CC04D9}"/>
                  </a:ext>
                </a:extLst>
              </p:cNvPr>
              <p:cNvSpPr txBox="1"/>
              <p:nvPr/>
            </p:nvSpPr>
            <p:spPr>
              <a:xfrm>
                <a:off x="2617595" y="4556353"/>
                <a:ext cx="6174712" cy="98770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2200" i="1" smtClean="0">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𝑎</m:t>
                          </m:r>
                        </m:e>
                        <m:sub>
                          <m:r>
                            <a:rPr lang="zh-CN" altLang="en-US" sz="2200" i="0">
                              <a:solidFill>
                                <a:schemeClr val="tx1"/>
                              </a:solidFill>
                              <a:latin typeface="Cambria Math" panose="02040503050406030204" pitchFamily="18" charset="0"/>
                            </a:rPr>
                            <m:t>2</m:t>
                          </m:r>
                        </m:sub>
                      </m:sSub>
                      <m:r>
                        <a:rPr lang="zh-CN" altLang="en-US" sz="2200" i="0">
                          <a:solidFill>
                            <a:schemeClr val="tx1"/>
                          </a:solidFill>
                          <a:latin typeface="Cambria Math" panose="02040503050406030204" pitchFamily="18" charset="0"/>
                        </a:rPr>
                        <m:t>=</m:t>
                      </m:r>
                      <m:f>
                        <m:fPr>
                          <m:ctrlPr>
                            <a:rPr lang="zh-CN" altLang="en-US" sz="2200" i="1">
                              <a:solidFill>
                                <a:schemeClr val="tx1"/>
                              </a:solidFill>
                              <a:latin typeface="Cambria Math" panose="02040503050406030204" pitchFamily="18" charset="0"/>
                            </a:rPr>
                          </m:ctrlPr>
                        </m:fPr>
                        <m:num>
                          <m:r>
                            <a:rPr lang="zh-CN" altLang="en-US" sz="2200" i="0">
                              <a:solidFill>
                                <a:schemeClr val="tx1"/>
                              </a:solidFill>
                              <a:latin typeface="Cambria Math" panose="02040503050406030204" pitchFamily="18" charset="0"/>
                            </a:rPr>
                            <m:t>−3</m:t>
                          </m:r>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𝑞</m:t>
                                  </m:r>
                                </m:e>
                                <m:sub>
                                  <m:r>
                                    <a:rPr lang="zh-CN" altLang="en-US" sz="2200" i="1">
                                      <a:solidFill>
                                        <a:schemeClr val="tx1"/>
                                      </a:solidFill>
                                      <a:latin typeface="Cambria Math" panose="02040503050406030204" pitchFamily="18" charset="0"/>
                                    </a:rPr>
                                    <m:t>𝑖</m:t>
                                  </m:r>
                                  <m:r>
                                    <a:rPr lang="zh-CN" altLang="en-US" sz="2200" i="0">
                                      <a:solidFill>
                                        <a:schemeClr val="tx1"/>
                                      </a:solidFill>
                                      <a:latin typeface="Cambria Math" panose="02040503050406030204" pitchFamily="18" charset="0"/>
                                    </a:rPr>
                                    <m:t>0</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𝑞</m:t>
                                  </m:r>
                                </m:e>
                                <m:sub>
                                  <m:r>
                                    <a:rPr lang="zh-CN" altLang="en-US" sz="2200" i="1">
                                      <a:solidFill>
                                        <a:schemeClr val="tx1"/>
                                      </a:solidFill>
                                      <a:latin typeface="Cambria Math" panose="02040503050406030204" pitchFamily="18" charset="0"/>
                                    </a:rPr>
                                    <m:t>𝑖𝑓</m:t>
                                  </m:r>
                                </m:sub>
                              </m:sSub>
                            </m:e>
                          </m:d>
                          <m:r>
                            <a:rPr lang="zh-CN" altLang="en-US" sz="2200" i="0">
                              <a:solidFill>
                                <a:schemeClr val="tx1"/>
                              </a:solidFill>
                              <a:latin typeface="Cambria Math" panose="02040503050406030204" pitchFamily="18" charset="0"/>
                            </a:rPr>
                            <m:t>−</m:t>
                          </m:r>
                          <m:d>
                            <m:dPr>
                              <m:ctrlPr>
                                <a:rPr lang="zh-CN" altLang="en-US" sz="2200" i="1">
                                  <a:solidFill>
                                    <a:schemeClr val="tx1"/>
                                  </a:solidFill>
                                  <a:latin typeface="Cambria Math" panose="02040503050406030204" pitchFamily="18" charset="0"/>
                                </a:rPr>
                              </m:ctrlPr>
                            </m:dPr>
                            <m:e>
                              <m:r>
                                <a:rPr lang="zh-CN" altLang="en-US" sz="2200" i="0">
                                  <a:solidFill>
                                    <a:schemeClr val="tx1"/>
                                  </a:solidFill>
                                  <a:latin typeface="Cambria Math" panose="02040503050406030204" pitchFamily="18" charset="0"/>
                                </a:rPr>
                                <m:t>2</m:t>
                              </m:r>
                              <m:sSub>
                                <m:sSubPr>
                                  <m:ctrlPr>
                                    <a:rPr lang="zh-CN" altLang="en-US" sz="2200" i="1">
                                      <a:solidFill>
                                        <a:schemeClr val="tx1"/>
                                      </a:solidFill>
                                      <a:latin typeface="Cambria Math" panose="02040503050406030204" pitchFamily="18" charset="0"/>
                                    </a:rPr>
                                  </m:ctrlPr>
                                </m:sSubPr>
                                <m:e>
                                  <m:acc>
                                    <m:accPr>
                                      <m:chr m:val="̇"/>
                                      <m:ctrlPr>
                                        <a:rPr lang="zh-CN" altLang="en-US" sz="2200" i="1">
                                          <a:solidFill>
                                            <a:schemeClr val="tx1"/>
                                          </a:solidFill>
                                          <a:latin typeface="Cambria Math" panose="02040503050406030204" pitchFamily="18" charset="0"/>
                                        </a:rPr>
                                      </m:ctrlPr>
                                    </m:accPr>
                                    <m:e>
                                      <m:r>
                                        <a:rPr lang="zh-CN" altLang="en-US" sz="2200" i="1">
                                          <a:solidFill>
                                            <a:schemeClr val="tx1"/>
                                          </a:solidFill>
                                          <a:latin typeface="Cambria Math" panose="02040503050406030204" pitchFamily="18" charset="0"/>
                                        </a:rPr>
                                        <m:t>𝑞</m:t>
                                      </m:r>
                                    </m:e>
                                  </m:acc>
                                </m:e>
                                <m:sub>
                                  <m:r>
                                    <a:rPr lang="zh-CN" altLang="en-US" sz="2200" i="1">
                                      <a:solidFill>
                                        <a:schemeClr val="tx1"/>
                                      </a:solidFill>
                                      <a:latin typeface="Cambria Math" panose="02040503050406030204" pitchFamily="18" charset="0"/>
                                    </a:rPr>
                                    <m:t>𝑖</m:t>
                                  </m:r>
                                  <m:r>
                                    <a:rPr lang="zh-CN" altLang="en-US" sz="2200" i="0">
                                      <a:solidFill>
                                        <a:schemeClr val="tx1"/>
                                      </a:solidFill>
                                      <a:latin typeface="Cambria Math" panose="02040503050406030204" pitchFamily="18" charset="0"/>
                                    </a:rPr>
                                    <m:t>0</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acc>
                                    <m:accPr>
                                      <m:chr m:val="̇"/>
                                      <m:ctrlPr>
                                        <a:rPr lang="zh-CN" altLang="en-US" sz="2200" i="1">
                                          <a:solidFill>
                                            <a:schemeClr val="tx1"/>
                                          </a:solidFill>
                                          <a:latin typeface="Cambria Math" panose="02040503050406030204" pitchFamily="18" charset="0"/>
                                        </a:rPr>
                                      </m:ctrlPr>
                                    </m:accPr>
                                    <m:e>
                                      <m:r>
                                        <a:rPr lang="zh-CN" altLang="en-US" sz="2200" i="1">
                                          <a:solidFill>
                                            <a:schemeClr val="tx1"/>
                                          </a:solidFill>
                                          <a:latin typeface="Cambria Math" panose="02040503050406030204" pitchFamily="18" charset="0"/>
                                        </a:rPr>
                                        <m:t>𝑞</m:t>
                                      </m:r>
                                    </m:e>
                                  </m:acc>
                                </m:e>
                                <m:sub>
                                  <m:r>
                                    <a:rPr lang="zh-CN" altLang="en-US" sz="2200" i="1">
                                      <a:solidFill>
                                        <a:schemeClr val="tx1"/>
                                      </a:solidFill>
                                      <a:latin typeface="Cambria Math" panose="02040503050406030204" pitchFamily="18" charset="0"/>
                                    </a:rPr>
                                    <m:t>𝑖𝑓</m:t>
                                  </m:r>
                                </m:sub>
                              </m:sSub>
                            </m:e>
                          </m:d>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𝑓</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𝑖</m:t>
                                  </m:r>
                                </m:sub>
                              </m:sSub>
                            </m:e>
                          </m:d>
                        </m:num>
                        <m:den>
                          <m:sSup>
                            <m:sSupPr>
                              <m:ctrlPr>
                                <a:rPr lang="zh-CN" altLang="en-US" sz="2200" i="1">
                                  <a:solidFill>
                                    <a:schemeClr val="tx1"/>
                                  </a:solidFill>
                                  <a:latin typeface="Cambria Math" panose="02040503050406030204" pitchFamily="18" charset="0"/>
                                </a:rPr>
                              </m:ctrlPr>
                            </m:sSupPr>
                            <m:e>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𝑓</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𝑖</m:t>
                                      </m:r>
                                    </m:sub>
                                  </m:sSub>
                                </m:e>
                              </m:d>
                            </m:e>
                            <m:sup>
                              <m:r>
                                <a:rPr lang="zh-CN" altLang="en-US" sz="2200" i="0">
                                  <a:solidFill>
                                    <a:schemeClr val="tx1"/>
                                  </a:solidFill>
                                  <a:latin typeface="Cambria Math" panose="02040503050406030204" pitchFamily="18" charset="0"/>
                                </a:rPr>
                                <m:t>2</m:t>
                              </m:r>
                            </m:sup>
                          </m:sSup>
                        </m:den>
                      </m:f>
                    </m:oMath>
                  </m:oMathPara>
                </a14:m>
                <a:endParaRPr lang="zh-CN" altLang="en-US" sz="2200" dirty="0">
                  <a:solidFill>
                    <a:schemeClr val="tx1"/>
                  </a:solidFill>
                </a:endParaRPr>
              </a:p>
            </p:txBody>
          </p:sp>
        </mc:Choice>
        <mc:Fallback xmlns="">
          <p:sp>
            <p:nvSpPr>
              <p:cNvPr id="12" name="文本框 11">
                <a:extLst>
                  <a:ext uri="{FF2B5EF4-FFF2-40B4-BE49-F238E27FC236}">
                    <a16:creationId xmlns:a16="http://schemas.microsoft.com/office/drawing/2014/main" id="{8B61AD8F-DD37-449A-8988-F2B201CC04D9}"/>
                  </a:ext>
                </a:extLst>
              </p:cNvPr>
              <p:cNvSpPr txBox="1">
                <a:spLocks noRot="1" noChangeAspect="1" noMove="1" noResize="1" noEditPoints="1" noAdjustHandles="1" noChangeArrowheads="1" noChangeShapeType="1" noTextEdit="1"/>
              </p:cNvSpPr>
              <p:nvPr/>
            </p:nvSpPr>
            <p:spPr>
              <a:xfrm>
                <a:off x="2617595" y="4556353"/>
                <a:ext cx="6174712" cy="98770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11BB97E-4913-4FB9-93D5-113910AB1F88}"/>
                  </a:ext>
                </a:extLst>
              </p:cNvPr>
              <p:cNvSpPr txBox="1"/>
              <p:nvPr/>
            </p:nvSpPr>
            <p:spPr>
              <a:xfrm>
                <a:off x="2617595" y="5733773"/>
                <a:ext cx="5245240" cy="98770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2200" i="1" smtClean="0">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𝑎</m:t>
                          </m:r>
                        </m:e>
                        <m:sub>
                          <m:r>
                            <a:rPr lang="zh-CN" altLang="en-US" sz="2200" i="0">
                              <a:solidFill>
                                <a:schemeClr val="tx1"/>
                              </a:solidFill>
                              <a:latin typeface="Cambria Math" panose="02040503050406030204" pitchFamily="18" charset="0"/>
                            </a:rPr>
                            <m:t>3</m:t>
                          </m:r>
                        </m:sub>
                      </m:sSub>
                      <m:r>
                        <a:rPr lang="zh-CN" altLang="en-US" sz="2200" i="0">
                          <a:solidFill>
                            <a:schemeClr val="tx1"/>
                          </a:solidFill>
                          <a:latin typeface="Cambria Math" panose="02040503050406030204" pitchFamily="18" charset="0"/>
                        </a:rPr>
                        <m:t>=</m:t>
                      </m:r>
                      <m:f>
                        <m:fPr>
                          <m:ctrlPr>
                            <a:rPr lang="zh-CN" altLang="en-US" sz="2200" i="1">
                              <a:solidFill>
                                <a:schemeClr val="tx1"/>
                              </a:solidFill>
                              <a:latin typeface="Cambria Math" panose="02040503050406030204" pitchFamily="18" charset="0"/>
                            </a:rPr>
                          </m:ctrlPr>
                        </m:fPr>
                        <m:num>
                          <m:r>
                            <a:rPr lang="zh-CN" altLang="en-US" sz="2200" i="0">
                              <a:solidFill>
                                <a:schemeClr val="tx1"/>
                              </a:solidFill>
                              <a:latin typeface="Cambria Math" panose="02040503050406030204" pitchFamily="18" charset="0"/>
                            </a:rPr>
                            <m:t>2</m:t>
                          </m:r>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𝑞</m:t>
                                  </m:r>
                                </m:e>
                                <m:sub>
                                  <m:r>
                                    <a:rPr lang="zh-CN" altLang="en-US" sz="2200" i="1">
                                      <a:solidFill>
                                        <a:schemeClr val="tx1"/>
                                      </a:solidFill>
                                      <a:latin typeface="Cambria Math" panose="02040503050406030204" pitchFamily="18" charset="0"/>
                                    </a:rPr>
                                    <m:t>𝑖</m:t>
                                  </m:r>
                                  <m:r>
                                    <a:rPr lang="zh-CN" altLang="en-US" sz="2200" i="0">
                                      <a:solidFill>
                                        <a:schemeClr val="tx1"/>
                                      </a:solidFill>
                                      <a:latin typeface="Cambria Math" panose="02040503050406030204" pitchFamily="18" charset="0"/>
                                    </a:rPr>
                                    <m:t>0</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𝑞</m:t>
                                  </m:r>
                                </m:e>
                                <m:sub>
                                  <m:r>
                                    <a:rPr lang="zh-CN" altLang="en-US" sz="2200" i="1">
                                      <a:solidFill>
                                        <a:schemeClr val="tx1"/>
                                      </a:solidFill>
                                      <a:latin typeface="Cambria Math" panose="02040503050406030204" pitchFamily="18" charset="0"/>
                                    </a:rPr>
                                    <m:t>𝑖𝑓</m:t>
                                  </m:r>
                                </m:sub>
                              </m:sSub>
                            </m:e>
                          </m:d>
                          <m:r>
                            <a:rPr lang="zh-CN" altLang="en-US" sz="2200" i="0">
                              <a:solidFill>
                                <a:schemeClr val="tx1"/>
                              </a:solidFill>
                              <a:latin typeface="Cambria Math" panose="02040503050406030204" pitchFamily="18" charset="0"/>
                            </a:rPr>
                            <m:t>+</m:t>
                          </m:r>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acc>
                                    <m:accPr>
                                      <m:chr m:val="̇"/>
                                      <m:ctrlPr>
                                        <a:rPr lang="zh-CN" altLang="en-US" sz="2200" i="1">
                                          <a:solidFill>
                                            <a:schemeClr val="tx1"/>
                                          </a:solidFill>
                                          <a:latin typeface="Cambria Math" panose="02040503050406030204" pitchFamily="18" charset="0"/>
                                        </a:rPr>
                                      </m:ctrlPr>
                                    </m:accPr>
                                    <m:e>
                                      <m:r>
                                        <a:rPr lang="zh-CN" altLang="en-US" sz="2200" i="1">
                                          <a:solidFill>
                                            <a:schemeClr val="tx1"/>
                                          </a:solidFill>
                                          <a:latin typeface="Cambria Math" panose="02040503050406030204" pitchFamily="18" charset="0"/>
                                        </a:rPr>
                                        <m:t>𝑞</m:t>
                                      </m:r>
                                    </m:e>
                                  </m:acc>
                                </m:e>
                                <m:sub>
                                  <m:r>
                                    <a:rPr lang="zh-CN" altLang="en-US" sz="2200" i="1">
                                      <a:solidFill>
                                        <a:schemeClr val="tx1"/>
                                      </a:solidFill>
                                      <a:latin typeface="Cambria Math" panose="02040503050406030204" pitchFamily="18" charset="0"/>
                                    </a:rPr>
                                    <m:t>𝑖</m:t>
                                  </m:r>
                                  <m:r>
                                    <a:rPr lang="zh-CN" altLang="en-US" sz="2200" i="0">
                                      <a:solidFill>
                                        <a:schemeClr val="tx1"/>
                                      </a:solidFill>
                                      <a:latin typeface="Cambria Math" panose="02040503050406030204" pitchFamily="18" charset="0"/>
                                    </a:rPr>
                                    <m:t>0</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acc>
                                    <m:accPr>
                                      <m:chr m:val="̇"/>
                                      <m:ctrlPr>
                                        <a:rPr lang="zh-CN" altLang="en-US" sz="2200" i="1">
                                          <a:solidFill>
                                            <a:schemeClr val="tx1"/>
                                          </a:solidFill>
                                          <a:latin typeface="Cambria Math" panose="02040503050406030204" pitchFamily="18" charset="0"/>
                                        </a:rPr>
                                      </m:ctrlPr>
                                    </m:accPr>
                                    <m:e>
                                      <m:r>
                                        <a:rPr lang="zh-CN" altLang="en-US" sz="2200" i="1">
                                          <a:solidFill>
                                            <a:schemeClr val="tx1"/>
                                          </a:solidFill>
                                          <a:latin typeface="Cambria Math" panose="02040503050406030204" pitchFamily="18" charset="0"/>
                                        </a:rPr>
                                        <m:t>𝑞</m:t>
                                      </m:r>
                                    </m:e>
                                  </m:acc>
                                </m:e>
                                <m:sub>
                                  <m:r>
                                    <a:rPr lang="zh-CN" altLang="en-US" sz="2200" i="1">
                                      <a:solidFill>
                                        <a:schemeClr val="tx1"/>
                                      </a:solidFill>
                                      <a:latin typeface="Cambria Math" panose="02040503050406030204" pitchFamily="18" charset="0"/>
                                    </a:rPr>
                                    <m:t>𝑖𝑓</m:t>
                                  </m:r>
                                </m:sub>
                              </m:sSub>
                            </m:e>
                          </m:d>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𝑓</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𝑖</m:t>
                                  </m:r>
                                </m:sub>
                              </m:sSub>
                            </m:e>
                          </m:d>
                        </m:num>
                        <m:den>
                          <m:sSup>
                            <m:sSupPr>
                              <m:ctrlPr>
                                <a:rPr lang="zh-CN" altLang="en-US" sz="2200" i="1">
                                  <a:solidFill>
                                    <a:schemeClr val="tx1"/>
                                  </a:solidFill>
                                  <a:latin typeface="Cambria Math" panose="02040503050406030204" pitchFamily="18" charset="0"/>
                                </a:rPr>
                              </m:ctrlPr>
                            </m:sSupPr>
                            <m:e>
                              <m:d>
                                <m:dPr>
                                  <m:ctrlPr>
                                    <a:rPr lang="zh-CN" altLang="en-US" sz="2200" i="1">
                                      <a:solidFill>
                                        <a:schemeClr val="tx1"/>
                                      </a:solidFill>
                                      <a:latin typeface="Cambria Math" panose="02040503050406030204" pitchFamily="18" charset="0"/>
                                    </a:rPr>
                                  </m:ctrlPr>
                                </m:dPr>
                                <m:e>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𝑓</m:t>
                                      </m:r>
                                    </m:sub>
                                  </m:sSub>
                                  <m:r>
                                    <a:rPr lang="zh-CN" altLang="en-US" sz="2200" i="0">
                                      <a:solidFill>
                                        <a:schemeClr val="tx1"/>
                                      </a:solidFill>
                                      <a:latin typeface="Cambria Math" panose="02040503050406030204" pitchFamily="18" charset="0"/>
                                    </a:rPr>
                                    <m:t>−</m:t>
                                  </m:r>
                                  <m:sSub>
                                    <m:sSubPr>
                                      <m:ctrlPr>
                                        <a:rPr lang="zh-CN" altLang="en-US" sz="2200" i="1">
                                          <a:solidFill>
                                            <a:schemeClr val="tx1"/>
                                          </a:solidFill>
                                          <a:latin typeface="Cambria Math" panose="02040503050406030204" pitchFamily="18" charset="0"/>
                                        </a:rPr>
                                      </m:ctrlPr>
                                    </m:sSubPr>
                                    <m:e>
                                      <m:r>
                                        <a:rPr lang="zh-CN" altLang="en-US" sz="2200" i="1">
                                          <a:solidFill>
                                            <a:schemeClr val="tx1"/>
                                          </a:solidFill>
                                          <a:latin typeface="Cambria Math" panose="02040503050406030204" pitchFamily="18" charset="0"/>
                                        </a:rPr>
                                        <m:t>𝑡</m:t>
                                      </m:r>
                                    </m:e>
                                    <m:sub>
                                      <m:r>
                                        <a:rPr lang="zh-CN" altLang="en-US" sz="2200" i="1">
                                          <a:solidFill>
                                            <a:schemeClr val="tx1"/>
                                          </a:solidFill>
                                          <a:latin typeface="Cambria Math" panose="02040503050406030204" pitchFamily="18" charset="0"/>
                                        </a:rPr>
                                        <m:t>𝑖</m:t>
                                      </m:r>
                                    </m:sub>
                                  </m:sSub>
                                </m:e>
                              </m:d>
                            </m:e>
                            <m:sup>
                              <m:r>
                                <a:rPr lang="zh-CN" altLang="en-US" sz="2200" i="0">
                                  <a:solidFill>
                                    <a:schemeClr val="tx1"/>
                                  </a:solidFill>
                                  <a:latin typeface="Cambria Math" panose="02040503050406030204" pitchFamily="18" charset="0"/>
                                </a:rPr>
                                <m:t>3</m:t>
                              </m:r>
                            </m:sup>
                          </m:sSup>
                        </m:den>
                      </m:f>
                    </m:oMath>
                  </m:oMathPara>
                </a14:m>
                <a:endParaRPr lang="zh-CN" altLang="en-US" sz="2200" dirty="0">
                  <a:solidFill>
                    <a:schemeClr val="tx1"/>
                  </a:solidFill>
                </a:endParaRPr>
              </a:p>
            </p:txBody>
          </p:sp>
        </mc:Choice>
        <mc:Fallback xmlns="">
          <p:sp>
            <p:nvSpPr>
              <p:cNvPr id="14" name="文本框 13">
                <a:extLst>
                  <a:ext uri="{FF2B5EF4-FFF2-40B4-BE49-F238E27FC236}">
                    <a16:creationId xmlns:a16="http://schemas.microsoft.com/office/drawing/2014/main" id="{811BB97E-4913-4FB9-93D5-113910AB1F88}"/>
                  </a:ext>
                </a:extLst>
              </p:cNvPr>
              <p:cNvSpPr txBox="1">
                <a:spLocks noRot="1" noChangeAspect="1" noMove="1" noResize="1" noEditPoints="1" noAdjustHandles="1" noChangeArrowheads="1" noChangeShapeType="1" noTextEdit="1"/>
              </p:cNvSpPr>
              <p:nvPr/>
            </p:nvSpPr>
            <p:spPr>
              <a:xfrm>
                <a:off x="2617595" y="5733773"/>
                <a:ext cx="5245240" cy="987706"/>
              </a:xfrm>
              <a:prstGeom prst="rect">
                <a:avLst/>
              </a:prstGeom>
              <a:blipFill>
                <a:blip r:embed="rId6"/>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5CDF179-F8D3-4AAC-9D13-80CC437C384C}"/>
              </a:ext>
            </a:extLst>
          </p:cNvPr>
          <p:cNvSpPr txBox="1"/>
          <p:nvPr/>
        </p:nvSpPr>
        <p:spPr>
          <a:xfrm>
            <a:off x="8245460" y="5774442"/>
            <a:ext cx="3131496" cy="646331"/>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上式中，下标</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代表每一段的起点值、</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代表终点值</a:t>
            </a:r>
          </a:p>
        </p:txBody>
      </p:sp>
    </p:spTree>
    <p:extLst>
      <p:ext uri="{BB962C8B-B14F-4D97-AF65-F5344CB8AC3E}">
        <p14:creationId xmlns:p14="http://schemas.microsoft.com/office/powerpoint/2010/main" val="263851574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anim calcmode="lin" valueType="num">
                                      <p:cBhvr additive="base">
                                        <p:cTn id="1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 calcmode="lin" valueType="num">
                                      <p:cBhvr additive="base">
                                        <p:cTn id="1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4"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069F603-E4EB-457C-B84C-33F0FAC7AEA6}"/>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31</a:t>
            </a:fld>
            <a:endParaRPr lang="zh-CN" altLang="en-US">
              <a:solidFill>
                <a:prstClr val="black">
                  <a:tint val="75000"/>
                </a:prstClr>
              </a:solidFill>
            </a:endParaRPr>
          </a:p>
        </p:txBody>
      </p:sp>
      <p:sp>
        <p:nvSpPr>
          <p:cNvPr id="3" name="矩形 2">
            <a:extLst>
              <a:ext uri="{FF2B5EF4-FFF2-40B4-BE49-F238E27FC236}">
                <a16:creationId xmlns:a16="http://schemas.microsoft.com/office/drawing/2014/main" id="{CC0A167B-6E8D-4695-A3D9-DAF9A35D89B3}"/>
              </a:ext>
            </a:extLst>
          </p:cNvPr>
          <p:cNvSpPr/>
          <p:nvPr/>
        </p:nvSpPr>
        <p:spPr>
          <a:xfrm>
            <a:off x="456329" y="978348"/>
            <a:ext cx="6534911" cy="525657"/>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为方便计算，引入无量纲时间</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4" name="对象 3">
            <a:extLst>
              <a:ext uri="{FF2B5EF4-FFF2-40B4-BE49-F238E27FC236}">
                <a16:creationId xmlns:a16="http://schemas.microsoft.com/office/drawing/2014/main" id="{B566360A-303E-45ED-BBB4-B2376A5AC939}"/>
              </a:ext>
            </a:extLst>
          </p:cNvPr>
          <p:cNvGraphicFramePr>
            <a:graphicFrameLocks noChangeAspect="1"/>
          </p:cNvGraphicFramePr>
          <p:nvPr>
            <p:extLst>
              <p:ext uri="{D42A27DB-BD31-4B8C-83A1-F6EECF244321}">
                <p14:modId xmlns:p14="http://schemas.microsoft.com/office/powerpoint/2010/main" val="3526326923"/>
              </p:ext>
            </p:extLst>
          </p:nvPr>
        </p:nvGraphicFramePr>
        <p:xfrm>
          <a:off x="4963675" y="1025374"/>
          <a:ext cx="4908550" cy="530225"/>
        </p:xfrm>
        <a:graphic>
          <a:graphicData uri="http://schemas.openxmlformats.org/presentationml/2006/ole">
            <mc:AlternateContent xmlns:mc="http://schemas.openxmlformats.org/markup-compatibility/2006">
              <mc:Choice xmlns:v="urn:schemas-microsoft-com:vml" Requires="v">
                <p:oleObj name="Equation" r:id="rId3" imgW="1942920" imgH="228600" progId="Equation.DSMT4">
                  <p:embed/>
                </p:oleObj>
              </mc:Choice>
              <mc:Fallback>
                <p:oleObj name="Equation" r:id="rId3" imgW="1942920" imgH="228600" progId="Equation.DSMT4">
                  <p:embed/>
                  <p:pic>
                    <p:nvPicPr>
                      <p:cNvPr id="5" name="对象 4">
                        <a:extLst>
                          <a:ext uri="{FF2B5EF4-FFF2-40B4-BE49-F238E27FC236}">
                            <a16:creationId xmlns:a16="http://schemas.microsoft.com/office/drawing/2014/main" id="{9128FB95-AC1B-4910-8388-527233848DA2}"/>
                          </a:ext>
                        </a:extLst>
                      </p:cNvPr>
                      <p:cNvPicPr>
                        <a:picLocks noChangeAspect="1" noChangeArrowheads="1"/>
                      </p:cNvPicPr>
                      <p:nvPr/>
                    </p:nvPicPr>
                    <p:blipFill>
                      <a:blip r:embed="rId4"/>
                      <a:srcRect/>
                      <a:stretch>
                        <a:fillRect/>
                      </a:stretch>
                    </p:blipFill>
                    <p:spPr bwMode="auto">
                      <a:xfrm>
                        <a:off x="4963675" y="1025374"/>
                        <a:ext cx="4908550" cy="530225"/>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0826B43B-99C2-401A-9AD5-C1A7192AC84C}"/>
              </a:ext>
            </a:extLst>
          </p:cNvPr>
          <p:cNvGraphicFramePr>
            <a:graphicFrameLocks noChangeAspect="1"/>
          </p:cNvGraphicFramePr>
          <p:nvPr>
            <p:extLst>
              <p:ext uri="{D42A27DB-BD31-4B8C-83A1-F6EECF244321}">
                <p14:modId xmlns:p14="http://schemas.microsoft.com/office/powerpoint/2010/main" val="1182592359"/>
              </p:ext>
            </p:extLst>
          </p:nvPr>
        </p:nvGraphicFramePr>
        <p:xfrm>
          <a:off x="10085711" y="1084111"/>
          <a:ext cx="1412875" cy="412750"/>
        </p:xfrm>
        <a:graphic>
          <a:graphicData uri="http://schemas.openxmlformats.org/presentationml/2006/ole">
            <mc:AlternateContent xmlns:mc="http://schemas.openxmlformats.org/markup-compatibility/2006">
              <mc:Choice xmlns:v="urn:schemas-microsoft-com:vml" Requires="v">
                <p:oleObj name="Equation" r:id="rId5" imgW="558720" imgH="177480" progId="Equation.DSMT4">
                  <p:embed/>
                </p:oleObj>
              </mc:Choice>
              <mc:Fallback>
                <p:oleObj name="Equation" r:id="rId5" imgW="558720" imgH="177480" progId="Equation.DSMT4">
                  <p:embed/>
                  <p:pic>
                    <p:nvPicPr>
                      <p:cNvPr id="4" name="对象 3">
                        <a:extLst>
                          <a:ext uri="{FF2B5EF4-FFF2-40B4-BE49-F238E27FC236}">
                            <a16:creationId xmlns:a16="http://schemas.microsoft.com/office/drawing/2014/main" id="{B566360A-303E-45ED-BBB4-B2376A5AC939}"/>
                          </a:ext>
                        </a:extLst>
                      </p:cNvPr>
                      <p:cNvPicPr>
                        <a:picLocks noChangeAspect="1" noChangeArrowheads="1"/>
                      </p:cNvPicPr>
                      <p:nvPr/>
                    </p:nvPicPr>
                    <p:blipFill>
                      <a:blip r:embed="rId6"/>
                      <a:srcRect/>
                      <a:stretch>
                        <a:fillRect/>
                      </a:stretch>
                    </p:blipFill>
                    <p:spPr bwMode="auto">
                      <a:xfrm>
                        <a:off x="10085711" y="1084111"/>
                        <a:ext cx="1412875" cy="412750"/>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2C8B7588-460C-4A12-A2B1-0E56674E03EF}"/>
              </a:ext>
            </a:extLst>
          </p:cNvPr>
          <p:cNvSpPr/>
          <p:nvPr/>
        </p:nvSpPr>
        <p:spPr>
          <a:xfrm>
            <a:off x="456329" y="1642812"/>
            <a:ext cx="8572718" cy="2243050"/>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按照“</a:t>
            </a:r>
            <a:r>
              <a:rPr lang="en-US" altLang="zh-CN" sz="2400" b="1" dirty="0">
                <a:solidFill>
                  <a:srgbClr val="000000"/>
                </a:solidFill>
                <a:latin typeface="微软雅黑" panose="020B0503020204020204" pitchFamily="34" charset="-122"/>
                <a:ea typeface="微软雅黑" panose="020B0503020204020204" pitchFamily="34" charset="-122"/>
              </a:rPr>
              <a:t>3-5-3</a:t>
            </a:r>
            <a:r>
              <a:rPr lang="zh-CN" altLang="en-US" sz="2400" b="1" dirty="0">
                <a:solidFill>
                  <a:srgbClr val="000000"/>
                </a:solidFill>
                <a:latin typeface="微软雅黑" panose="020B0503020204020204" pitchFamily="34" charset="-122"/>
                <a:ea typeface="微软雅黑" panose="020B0503020204020204" pitchFamily="34" charset="-122"/>
              </a:rPr>
              <a:t>”设计每个关节的轨迹，</a:t>
            </a:r>
            <a:r>
              <a:rPr lang="zh-CN" altLang="en-US" sz="2400" b="1" dirty="0">
                <a:solidFill>
                  <a:srgbClr val="C00000"/>
                </a:solidFill>
                <a:latin typeface="微软雅黑" panose="020B0503020204020204" pitchFamily="34" charset="-122"/>
                <a:ea typeface="微软雅黑" panose="020B0503020204020204" pitchFamily="34" charset="-122"/>
              </a:rPr>
              <a:t>需确定</a:t>
            </a:r>
            <a:r>
              <a:rPr lang="en-US" altLang="zh-CN" sz="2400" b="1" dirty="0">
                <a:solidFill>
                  <a:srgbClr val="C00000"/>
                </a:solidFill>
                <a:latin typeface="微软雅黑" panose="020B0503020204020204" pitchFamily="34" charset="-122"/>
                <a:ea typeface="微软雅黑" panose="020B0503020204020204" pitchFamily="34" charset="-122"/>
              </a:rPr>
              <a:t>14</a:t>
            </a:r>
            <a:r>
              <a:rPr lang="zh-CN" altLang="en-US" sz="2400" b="1" dirty="0">
                <a:solidFill>
                  <a:srgbClr val="C00000"/>
                </a:solidFill>
                <a:latin typeface="微软雅黑" panose="020B0503020204020204" pitchFamily="34" charset="-122"/>
                <a:ea typeface="微软雅黑" panose="020B0503020204020204" pitchFamily="34" charset="-122"/>
              </a:rPr>
              <a:t>个参数</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第一段：</a:t>
            </a:r>
            <a:endParaRPr lang="en-US" altLang="zh-CN" sz="2400" b="1" dirty="0">
              <a:solidFill>
                <a:srgbClr val="000000"/>
              </a:solidFill>
              <a:latin typeface="微软雅黑" panose="020B0503020204020204" pitchFamily="34" charset="-122"/>
              <a:ea typeface="微软雅黑" panose="020B0503020204020204" pitchFamily="34" charset="-122"/>
            </a:endParaRPr>
          </a:p>
          <a:p>
            <a:pPr>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第二段：</a:t>
            </a:r>
            <a:endParaRPr lang="en-US" altLang="zh-CN" sz="2400" b="1" dirty="0">
              <a:solidFill>
                <a:srgbClr val="000000"/>
              </a:solidFill>
              <a:latin typeface="微软雅黑" panose="020B0503020204020204" pitchFamily="34" charset="-122"/>
              <a:ea typeface="微软雅黑" panose="020B0503020204020204" pitchFamily="34" charset="-122"/>
            </a:endParaRPr>
          </a:p>
          <a:p>
            <a:pPr>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第三段：</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19A5067C-B8B2-4CB6-8D25-A92AF5CB7857}"/>
              </a:ext>
            </a:extLst>
          </p:cNvPr>
          <p:cNvGraphicFramePr>
            <a:graphicFrameLocks noChangeAspect="1"/>
          </p:cNvGraphicFramePr>
          <p:nvPr>
            <p:extLst>
              <p:ext uri="{D42A27DB-BD31-4B8C-83A1-F6EECF244321}">
                <p14:modId xmlns:p14="http://schemas.microsoft.com/office/powerpoint/2010/main" val="530826046"/>
              </p:ext>
            </p:extLst>
          </p:nvPr>
        </p:nvGraphicFramePr>
        <p:xfrm>
          <a:off x="2215712" y="2210339"/>
          <a:ext cx="5202238" cy="619125"/>
        </p:xfrm>
        <a:graphic>
          <a:graphicData uri="http://schemas.openxmlformats.org/presentationml/2006/ole">
            <mc:AlternateContent xmlns:mc="http://schemas.openxmlformats.org/markup-compatibility/2006">
              <mc:Choice xmlns:v="urn:schemas-microsoft-com:vml" Requires="v">
                <p:oleObj name="Equation" r:id="rId7" imgW="2057400" imgH="266400" progId="Equation.DSMT4">
                  <p:embed/>
                </p:oleObj>
              </mc:Choice>
              <mc:Fallback>
                <p:oleObj name="Equation" r:id="rId7" imgW="2057400" imgH="266400" progId="Equation.DSMT4">
                  <p:embed/>
                  <p:pic>
                    <p:nvPicPr>
                      <p:cNvPr id="5" name="对象 4">
                        <a:extLst>
                          <a:ext uri="{FF2B5EF4-FFF2-40B4-BE49-F238E27FC236}">
                            <a16:creationId xmlns:a16="http://schemas.microsoft.com/office/drawing/2014/main" id="{0826B43B-99C2-401A-9AD5-C1A7192AC84C}"/>
                          </a:ext>
                        </a:extLst>
                      </p:cNvPr>
                      <p:cNvPicPr>
                        <a:picLocks noChangeAspect="1" noChangeArrowheads="1"/>
                      </p:cNvPicPr>
                      <p:nvPr/>
                    </p:nvPicPr>
                    <p:blipFill>
                      <a:blip r:embed="rId8"/>
                      <a:srcRect/>
                      <a:stretch>
                        <a:fillRect/>
                      </a:stretch>
                    </p:blipFill>
                    <p:spPr bwMode="auto">
                      <a:xfrm>
                        <a:off x="2215712" y="2210339"/>
                        <a:ext cx="5202238" cy="619125"/>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651B4154-399B-428F-81B9-4755B12A5CF6}"/>
              </a:ext>
            </a:extLst>
          </p:cNvPr>
          <p:cNvGraphicFramePr>
            <a:graphicFrameLocks noChangeAspect="1"/>
          </p:cNvGraphicFramePr>
          <p:nvPr>
            <p:extLst>
              <p:ext uri="{D42A27DB-BD31-4B8C-83A1-F6EECF244321}">
                <p14:modId xmlns:p14="http://schemas.microsoft.com/office/powerpoint/2010/main" val="1166453240"/>
              </p:ext>
            </p:extLst>
          </p:nvPr>
        </p:nvGraphicFramePr>
        <p:xfrm>
          <a:off x="2215712" y="2774787"/>
          <a:ext cx="7994650" cy="619125"/>
        </p:xfrm>
        <a:graphic>
          <a:graphicData uri="http://schemas.openxmlformats.org/presentationml/2006/ole">
            <mc:AlternateContent xmlns:mc="http://schemas.openxmlformats.org/markup-compatibility/2006">
              <mc:Choice xmlns:v="urn:schemas-microsoft-com:vml" Requires="v">
                <p:oleObj name="Equation" r:id="rId9" imgW="3162240" imgH="266400" progId="Equation.DSMT4">
                  <p:embed/>
                </p:oleObj>
              </mc:Choice>
              <mc:Fallback>
                <p:oleObj name="Equation" r:id="rId9" imgW="3162240" imgH="266400" progId="Equation.DSMT4">
                  <p:embed/>
                  <p:pic>
                    <p:nvPicPr>
                      <p:cNvPr id="7" name="对象 6">
                        <a:extLst>
                          <a:ext uri="{FF2B5EF4-FFF2-40B4-BE49-F238E27FC236}">
                            <a16:creationId xmlns:a16="http://schemas.microsoft.com/office/drawing/2014/main" id="{19A5067C-B8B2-4CB6-8D25-A92AF5CB7857}"/>
                          </a:ext>
                        </a:extLst>
                      </p:cNvPr>
                      <p:cNvPicPr>
                        <a:picLocks noChangeAspect="1" noChangeArrowheads="1"/>
                      </p:cNvPicPr>
                      <p:nvPr/>
                    </p:nvPicPr>
                    <p:blipFill>
                      <a:blip r:embed="rId10"/>
                      <a:srcRect/>
                      <a:stretch>
                        <a:fillRect/>
                      </a:stretch>
                    </p:blipFill>
                    <p:spPr bwMode="auto">
                      <a:xfrm>
                        <a:off x="2215712" y="2774787"/>
                        <a:ext cx="7994650" cy="619125"/>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A084372A-968A-4E54-8BEA-1DA9F6EF8B0A}"/>
              </a:ext>
            </a:extLst>
          </p:cNvPr>
          <p:cNvGraphicFramePr>
            <a:graphicFrameLocks noChangeAspect="1"/>
          </p:cNvGraphicFramePr>
          <p:nvPr>
            <p:extLst>
              <p:ext uri="{D42A27DB-BD31-4B8C-83A1-F6EECF244321}">
                <p14:modId xmlns:p14="http://schemas.microsoft.com/office/powerpoint/2010/main" val="3372363865"/>
              </p:ext>
            </p:extLst>
          </p:nvPr>
        </p:nvGraphicFramePr>
        <p:xfrm>
          <a:off x="2215712" y="3330325"/>
          <a:ext cx="5362575" cy="619125"/>
        </p:xfrm>
        <a:graphic>
          <a:graphicData uri="http://schemas.openxmlformats.org/presentationml/2006/ole">
            <mc:AlternateContent xmlns:mc="http://schemas.openxmlformats.org/markup-compatibility/2006">
              <mc:Choice xmlns:v="urn:schemas-microsoft-com:vml" Requires="v">
                <p:oleObj name="Equation" r:id="rId11" imgW="2120760" imgH="266400" progId="Equation.DSMT4">
                  <p:embed/>
                </p:oleObj>
              </mc:Choice>
              <mc:Fallback>
                <p:oleObj name="Equation" r:id="rId11" imgW="2120760" imgH="266400" progId="Equation.DSMT4">
                  <p:embed/>
                  <p:pic>
                    <p:nvPicPr>
                      <p:cNvPr id="7" name="对象 6">
                        <a:extLst>
                          <a:ext uri="{FF2B5EF4-FFF2-40B4-BE49-F238E27FC236}">
                            <a16:creationId xmlns:a16="http://schemas.microsoft.com/office/drawing/2014/main" id="{19A5067C-B8B2-4CB6-8D25-A92AF5CB7857}"/>
                          </a:ext>
                        </a:extLst>
                      </p:cNvPr>
                      <p:cNvPicPr>
                        <a:picLocks noChangeAspect="1" noChangeArrowheads="1"/>
                      </p:cNvPicPr>
                      <p:nvPr/>
                    </p:nvPicPr>
                    <p:blipFill>
                      <a:blip r:embed="rId12"/>
                      <a:srcRect/>
                      <a:stretch>
                        <a:fillRect/>
                      </a:stretch>
                    </p:blipFill>
                    <p:spPr bwMode="auto">
                      <a:xfrm>
                        <a:off x="2215712" y="3330325"/>
                        <a:ext cx="5362575" cy="619125"/>
                      </a:xfrm>
                      <a:prstGeom prst="rect">
                        <a:avLst/>
                      </a:prstGeom>
                      <a:noFill/>
                    </p:spPr>
                  </p:pic>
                </p:oleObj>
              </mc:Fallback>
            </mc:AlternateContent>
          </a:graphicData>
        </a:graphic>
      </p:graphicFrame>
      <p:sp>
        <p:nvSpPr>
          <p:cNvPr id="11" name="矩形 10">
            <a:extLst>
              <a:ext uri="{FF2B5EF4-FFF2-40B4-BE49-F238E27FC236}">
                <a16:creationId xmlns:a16="http://schemas.microsoft.com/office/drawing/2014/main" id="{5E366470-92A5-4B7B-9EC9-E53CCB3D5E20}"/>
              </a:ext>
            </a:extLst>
          </p:cNvPr>
          <p:cNvSpPr/>
          <p:nvPr/>
        </p:nvSpPr>
        <p:spPr>
          <a:xfrm>
            <a:off x="456328" y="3978216"/>
            <a:ext cx="6534911" cy="525657"/>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则有</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15" name="对象 14">
            <a:extLst>
              <a:ext uri="{FF2B5EF4-FFF2-40B4-BE49-F238E27FC236}">
                <a16:creationId xmlns:a16="http://schemas.microsoft.com/office/drawing/2014/main" id="{CFCFEB9D-EF93-4626-8EC0-484F5551F9EC}"/>
              </a:ext>
            </a:extLst>
          </p:cNvPr>
          <p:cNvGraphicFramePr>
            <a:graphicFrameLocks noChangeAspect="1"/>
          </p:cNvGraphicFramePr>
          <p:nvPr>
            <p:extLst>
              <p:ext uri="{D42A27DB-BD31-4B8C-83A1-F6EECF244321}">
                <p14:modId xmlns:p14="http://schemas.microsoft.com/office/powerpoint/2010/main" val="2324702120"/>
              </p:ext>
            </p:extLst>
          </p:nvPr>
        </p:nvGraphicFramePr>
        <p:xfrm>
          <a:off x="1938510" y="4241044"/>
          <a:ext cx="7578725" cy="1003300"/>
        </p:xfrm>
        <a:graphic>
          <a:graphicData uri="http://schemas.openxmlformats.org/presentationml/2006/ole">
            <mc:AlternateContent xmlns:mc="http://schemas.openxmlformats.org/markup-compatibility/2006">
              <mc:Choice xmlns:v="urn:schemas-microsoft-com:vml" Requires="v">
                <p:oleObj name="Equation" r:id="rId13" imgW="2997000" imgH="431640" progId="Equation.DSMT4">
                  <p:embed/>
                </p:oleObj>
              </mc:Choice>
              <mc:Fallback>
                <p:oleObj name="Equation" r:id="rId13" imgW="2997000" imgH="431640" progId="Equation.DSMT4">
                  <p:embed/>
                  <p:pic>
                    <p:nvPicPr>
                      <p:cNvPr id="7" name="对象 6">
                        <a:extLst>
                          <a:ext uri="{FF2B5EF4-FFF2-40B4-BE49-F238E27FC236}">
                            <a16:creationId xmlns:a16="http://schemas.microsoft.com/office/drawing/2014/main" id="{19A5067C-B8B2-4CB6-8D25-A92AF5CB7857}"/>
                          </a:ext>
                        </a:extLst>
                      </p:cNvPr>
                      <p:cNvPicPr>
                        <a:picLocks noChangeAspect="1" noChangeArrowheads="1"/>
                      </p:cNvPicPr>
                      <p:nvPr/>
                    </p:nvPicPr>
                    <p:blipFill>
                      <a:blip r:embed="rId14"/>
                      <a:srcRect/>
                      <a:stretch>
                        <a:fillRect/>
                      </a:stretch>
                    </p:blipFill>
                    <p:spPr bwMode="auto">
                      <a:xfrm>
                        <a:off x="1938510" y="4241044"/>
                        <a:ext cx="7578725" cy="1003300"/>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61A6B2E2-19EC-4E4C-BB66-0C5539AFCC73}"/>
              </a:ext>
            </a:extLst>
          </p:cNvPr>
          <p:cNvGraphicFramePr>
            <a:graphicFrameLocks noChangeAspect="1"/>
          </p:cNvGraphicFramePr>
          <p:nvPr>
            <p:extLst>
              <p:ext uri="{D42A27DB-BD31-4B8C-83A1-F6EECF244321}">
                <p14:modId xmlns:p14="http://schemas.microsoft.com/office/powerpoint/2010/main" val="4239492574"/>
              </p:ext>
            </p:extLst>
          </p:nvPr>
        </p:nvGraphicFramePr>
        <p:xfrm>
          <a:off x="1922463" y="5464175"/>
          <a:ext cx="7610475" cy="1003300"/>
        </p:xfrm>
        <a:graphic>
          <a:graphicData uri="http://schemas.openxmlformats.org/presentationml/2006/ole">
            <mc:AlternateContent xmlns:mc="http://schemas.openxmlformats.org/markup-compatibility/2006">
              <mc:Choice xmlns:v="urn:schemas-microsoft-com:vml" Requires="v">
                <p:oleObj name="Equation" r:id="rId15" imgW="3009600" imgH="431640" progId="Equation.DSMT4">
                  <p:embed/>
                </p:oleObj>
              </mc:Choice>
              <mc:Fallback>
                <p:oleObj name="Equation" r:id="rId15" imgW="3009600" imgH="431640" progId="Equation.DSMT4">
                  <p:embed/>
                  <p:pic>
                    <p:nvPicPr>
                      <p:cNvPr id="15" name="对象 14">
                        <a:extLst>
                          <a:ext uri="{FF2B5EF4-FFF2-40B4-BE49-F238E27FC236}">
                            <a16:creationId xmlns:a16="http://schemas.microsoft.com/office/drawing/2014/main" id="{CFCFEB9D-EF93-4626-8EC0-484F5551F9EC}"/>
                          </a:ext>
                        </a:extLst>
                      </p:cNvPr>
                      <p:cNvPicPr>
                        <a:picLocks noChangeAspect="1" noChangeArrowheads="1"/>
                      </p:cNvPicPr>
                      <p:nvPr/>
                    </p:nvPicPr>
                    <p:blipFill>
                      <a:blip r:embed="rId16"/>
                      <a:srcRect/>
                      <a:stretch>
                        <a:fillRect/>
                      </a:stretch>
                    </p:blipFill>
                    <p:spPr bwMode="auto">
                      <a:xfrm>
                        <a:off x="1922463" y="5464175"/>
                        <a:ext cx="7610475" cy="1003300"/>
                      </a:xfrm>
                      <a:prstGeom prst="rect">
                        <a:avLst/>
                      </a:prstGeom>
                      <a:noFill/>
                    </p:spPr>
                  </p:pic>
                </p:oleObj>
              </mc:Fallback>
            </mc:AlternateContent>
          </a:graphicData>
        </a:graphic>
      </p:graphicFrame>
      <p:sp>
        <p:nvSpPr>
          <p:cNvPr id="17" name="文本框 16">
            <a:extLst>
              <a:ext uri="{FF2B5EF4-FFF2-40B4-BE49-F238E27FC236}">
                <a16:creationId xmlns:a16="http://schemas.microsoft.com/office/drawing/2014/main" id="{59B4D652-DD04-410C-9409-BA74837ABB9B}"/>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 </a:t>
            </a:r>
            <a:r>
              <a:rPr lang="zh-CN" altLang="en-US" sz="3200" b="1" dirty="0">
                <a:solidFill>
                  <a:srgbClr val="9D1317"/>
                </a:solidFill>
                <a:latin typeface="微软雅黑" panose="020B0503020204020204" pitchFamily="34" charset="-122"/>
                <a:ea typeface="微软雅黑" panose="020B0503020204020204" pitchFamily="34" charset="-122"/>
              </a:rPr>
              <a:t>多段轨迹规划：</a:t>
            </a:r>
            <a:r>
              <a:rPr lang="en-US" altLang="zh-CN" sz="3200" b="1" dirty="0">
                <a:solidFill>
                  <a:srgbClr val="9D1317"/>
                </a:solidFill>
                <a:latin typeface="微软雅黑" panose="020B0503020204020204" pitchFamily="34" charset="-122"/>
                <a:ea typeface="微软雅黑" panose="020B0503020204020204" pitchFamily="34" charset="-122"/>
              </a:rPr>
              <a:t>3-5-3</a:t>
            </a:r>
            <a:r>
              <a:rPr lang="zh-CN" altLang="en-US" sz="3200" b="1" dirty="0">
                <a:solidFill>
                  <a:srgbClr val="9D1317"/>
                </a:solidFill>
                <a:latin typeface="微软雅黑" panose="020B0503020204020204" pitchFamily="34" charset="-122"/>
                <a:ea typeface="微软雅黑" panose="020B0503020204020204" pitchFamily="34" charset="-122"/>
              </a:rPr>
              <a:t>规划</a:t>
            </a:r>
          </a:p>
        </p:txBody>
      </p:sp>
    </p:spTree>
    <p:extLst>
      <p:ext uri="{BB962C8B-B14F-4D97-AF65-F5344CB8AC3E}">
        <p14:creationId xmlns:p14="http://schemas.microsoft.com/office/powerpoint/2010/main" val="373011506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 calcmode="lin" valueType="num">
                                      <p:cBhvr additive="base">
                                        <p:cTn id="3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3" end="3"/>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BB70857-5880-4AE9-AB4E-1F5613DA3C39}"/>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32</a:t>
            </a:fld>
            <a:endParaRPr lang="zh-CN" altLang="en-US">
              <a:solidFill>
                <a:prstClr val="black">
                  <a:tint val="75000"/>
                </a:prstClr>
              </a:solidFill>
            </a:endParaRPr>
          </a:p>
        </p:txBody>
      </p:sp>
      <p:sp>
        <p:nvSpPr>
          <p:cNvPr id="4" name="矩形 3">
            <a:extLst>
              <a:ext uri="{FF2B5EF4-FFF2-40B4-BE49-F238E27FC236}">
                <a16:creationId xmlns:a16="http://schemas.microsoft.com/office/drawing/2014/main" id="{421B27C8-D1A6-42BD-94FD-9E4342EEDC49}"/>
              </a:ext>
            </a:extLst>
          </p:cNvPr>
          <p:cNvSpPr/>
          <p:nvPr/>
        </p:nvSpPr>
        <p:spPr>
          <a:xfrm>
            <a:off x="597407" y="1031236"/>
            <a:ext cx="6534911" cy="525657"/>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则有</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79FBD852-29C1-4CDC-AA98-8F421B47142C}"/>
              </a:ext>
            </a:extLst>
          </p:cNvPr>
          <p:cNvGraphicFramePr>
            <a:graphicFrameLocks noChangeAspect="1"/>
          </p:cNvGraphicFramePr>
          <p:nvPr>
            <p:extLst>
              <p:ext uri="{D42A27DB-BD31-4B8C-83A1-F6EECF244321}">
                <p14:modId xmlns:p14="http://schemas.microsoft.com/office/powerpoint/2010/main" val="2905380857"/>
              </p:ext>
            </p:extLst>
          </p:nvPr>
        </p:nvGraphicFramePr>
        <p:xfrm>
          <a:off x="1330943" y="1612821"/>
          <a:ext cx="5330825" cy="619125"/>
        </p:xfrm>
        <a:graphic>
          <a:graphicData uri="http://schemas.openxmlformats.org/presentationml/2006/ole">
            <mc:AlternateContent xmlns:mc="http://schemas.openxmlformats.org/markup-compatibility/2006">
              <mc:Choice xmlns:v="urn:schemas-microsoft-com:vml" Requires="v">
                <p:oleObj name="Equation" r:id="rId2" imgW="2108160" imgH="266400" progId="Equation.DSMT4">
                  <p:embed/>
                </p:oleObj>
              </mc:Choice>
              <mc:Fallback>
                <p:oleObj name="Equation" r:id="rId2" imgW="2108160" imgH="266400" progId="Equation.DSMT4">
                  <p:embed/>
                  <p:pic>
                    <p:nvPicPr>
                      <p:cNvPr id="12" name="对象 11">
                        <a:extLst>
                          <a:ext uri="{FF2B5EF4-FFF2-40B4-BE49-F238E27FC236}">
                            <a16:creationId xmlns:a16="http://schemas.microsoft.com/office/drawing/2014/main" id="{EA97955C-9367-4156-A9E3-FB2D88821465}"/>
                          </a:ext>
                        </a:extLst>
                      </p:cNvPr>
                      <p:cNvPicPr>
                        <a:picLocks noChangeAspect="1" noChangeArrowheads="1"/>
                      </p:cNvPicPr>
                      <p:nvPr/>
                    </p:nvPicPr>
                    <p:blipFill>
                      <a:blip r:embed="rId3"/>
                      <a:srcRect/>
                      <a:stretch>
                        <a:fillRect/>
                      </a:stretch>
                    </p:blipFill>
                    <p:spPr bwMode="auto">
                      <a:xfrm>
                        <a:off x="1330943" y="1612821"/>
                        <a:ext cx="5330825" cy="619125"/>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65122B15-993F-40F6-A636-E1BA4B16760F}"/>
              </a:ext>
            </a:extLst>
          </p:cNvPr>
          <p:cNvGraphicFramePr>
            <a:graphicFrameLocks noChangeAspect="1"/>
          </p:cNvGraphicFramePr>
          <p:nvPr>
            <p:extLst>
              <p:ext uri="{D42A27DB-BD31-4B8C-83A1-F6EECF244321}">
                <p14:modId xmlns:p14="http://schemas.microsoft.com/office/powerpoint/2010/main" val="2113109017"/>
              </p:ext>
            </p:extLst>
          </p:nvPr>
        </p:nvGraphicFramePr>
        <p:xfrm>
          <a:off x="1330943" y="2422446"/>
          <a:ext cx="8507412" cy="619125"/>
        </p:xfrm>
        <a:graphic>
          <a:graphicData uri="http://schemas.openxmlformats.org/presentationml/2006/ole">
            <mc:AlternateContent xmlns:mc="http://schemas.openxmlformats.org/markup-compatibility/2006">
              <mc:Choice xmlns:v="urn:schemas-microsoft-com:vml" Requires="v">
                <p:oleObj name="Equation" r:id="rId4" imgW="3365280" imgH="266400" progId="Equation.DSMT4">
                  <p:embed/>
                </p:oleObj>
              </mc:Choice>
              <mc:Fallback>
                <p:oleObj name="Equation" r:id="rId4" imgW="3365280" imgH="266400" progId="Equation.DSMT4">
                  <p:embed/>
                  <p:pic>
                    <p:nvPicPr>
                      <p:cNvPr id="13" name="对象 12">
                        <a:extLst>
                          <a:ext uri="{FF2B5EF4-FFF2-40B4-BE49-F238E27FC236}">
                            <a16:creationId xmlns:a16="http://schemas.microsoft.com/office/drawing/2014/main" id="{1A2E838F-6C3C-46CC-9AE6-105012982782}"/>
                          </a:ext>
                        </a:extLst>
                      </p:cNvPr>
                      <p:cNvPicPr>
                        <a:picLocks noChangeAspect="1" noChangeArrowheads="1"/>
                      </p:cNvPicPr>
                      <p:nvPr/>
                    </p:nvPicPr>
                    <p:blipFill>
                      <a:blip r:embed="rId5"/>
                      <a:srcRect/>
                      <a:stretch>
                        <a:fillRect/>
                      </a:stretch>
                    </p:blipFill>
                    <p:spPr bwMode="auto">
                      <a:xfrm>
                        <a:off x="1330943" y="2422446"/>
                        <a:ext cx="8507412" cy="619125"/>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2D00E796-0C49-4DD0-BC20-98513BFFE19A}"/>
              </a:ext>
            </a:extLst>
          </p:cNvPr>
          <p:cNvGraphicFramePr>
            <a:graphicFrameLocks noChangeAspect="1"/>
          </p:cNvGraphicFramePr>
          <p:nvPr>
            <p:extLst>
              <p:ext uri="{D42A27DB-BD31-4B8C-83A1-F6EECF244321}">
                <p14:modId xmlns:p14="http://schemas.microsoft.com/office/powerpoint/2010/main" val="2314598478"/>
              </p:ext>
            </p:extLst>
          </p:nvPr>
        </p:nvGraphicFramePr>
        <p:xfrm>
          <a:off x="1330943" y="3215909"/>
          <a:ext cx="5491163" cy="619125"/>
        </p:xfrm>
        <a:graphic>
          <a:graphicData uri="http://schemas.openxmlformats.org/presentationml/2006/ole">
            <mc:AlternateContent xmlns:mc="http://schemas.openxmlformats.org/markup-compatibility/2006">
              <mc:Choice xmlns:v="urn:schemas-microsoft-com:vml" Requires="v">
                <p:oleObj name="Equation" r:id="rId6" imgW="2171520" imgH="266400" progId="Equation.DSMT4">
                  <p:embed/>
                </p:oleObj>
              </mc:Choice>
              <mc:Fallback>
                <p:oleObj name="Equation" r:id="rId6" imgW="2171520" imgH="266400" progId="Equation.DSMT4">
                  <p:embed/>
                  <p:pic>
                    <p:nvPicPr>
                      <p:cNvPr id="14" name="对象 13">
                        <a:extLst>
                          <a:ext uri="{FF2B5EF4-FFF2-40B4-BE49-F238E27FC236}">
                            <a16:creationId xmlns:a16="http://schemas.microsoft.com/office/drawing/2014/main" id="{E6A95EDE-9BCC-4ACC-A0C7-2C6020635D46}"/>
                          </a:ext>
                        </a:extLst>
                      </p:cNvPr>
                      <p:cNvPicPr>
                        <a:picLocks noChangeAspect="1" noChangeArrowheads="1"/>
                      </p:cNvPicPr>
                      <p:nvPr/>
                    </p:nvPicPr>
                    <p:blipFill>
                      <a:blip r:embed="rId7"/>
                      <a:srcRect/>
                      <a:stretch>
                        <a:fillRect/>
                      </a:stretch>
                    </p:blipFill>
                    <p:spPr bwMode="auto">
                      <a:xfrm>
                        <a:off x="1330943" y="3215909"/>
                        <a:ext cx="5491163" cy="619125"/>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8C972DFE-D2EC-418D-83DF-FCFD36E77D2F}"/>
              </a:ext>
            </a:extLst>
          </p:cNvPr>
          <p:cNvGraphicFramePr>
            <a:graphicFrameLocks noChangeAspect="1"/>
          </p:cNvGraphicFramePr>
          <p:nvPr>
            <p:extLst>
              <p:ext uri="{D42A27DB-BD31-4B8C-83A1-F6EECF244321}">
                <p14:modId xmlns:p14="http://schemas.microsoft.com/office/powerpoint/2010/main" val="845862582"/>
              </p:ext>
            </p:extLst>
          </p:nvPr>
        </p:nvGraphicFramePr>
        <p:xfrm>
          <a:off x="1330943" y="4008583"/>
          <a:ext cx="4592637" cy="619125"/>
        </p:xfrm>
        <a:graphic>
          <a:graphicData uri="http://schemas.openxmlformats.org/presentationml/2006/ole">
            <mc:AlternateContent xmlns:mc="http://schemas.openxmlformats.org/markup-compatibility/2006">
              <mc:Choice xmlns:v="urn:schemas-microsoft-com:vml" Requires="v">
                <p:oleObj name="Equation" r:id="rId8" imgW="1815840" imgH="266400" progId="Equation.DSMT4">
                  <p:embed/>
                </p:oleObj>
              </mc:Choice>
              <mc:Fallback>
                <p:oleObj name="Equation" r:id="rId8" imgW="1815840" imgH="266400" progId="Equation.DSMT4">
                  <p:embed/>
                  <p:pic>
                    <p:nvPicPr>
                      <p:cNvPr id="5" name="对象 4">
                        <a:extLst>
                          <a:ext uri="{FF2B5EF4-FFF2-40B4-BE49-F238E27FC236}">
                            <a16:creationId xmlns:a16="http://schemas.microsoft.com/office/drawing/2014/main" id="{79FBD852-29C1-4CDC-AA98-8F421B47142C}"/>
                          </a:ext>
                        </a:extLst>
                      </p:cNvPr>
                      <p:cNvPicPr>
                        <a:picLocks noChangeAspect="1" noChangeArrowheads="1"/>
                      </p:cNvPicPr>
                      <p:nvPr/>
                    </p:nvPicPr>
                    <p:blipFill>
                      <a:blip r:embed="rId9"/>
                      <a:srcRect/>
                      <a:stretch>
                        <a:fillRect/>
                      </a:stretch>
                    </p:blipFill>
                    <p:spPr bwMode="auto">
                      <a:xfrm>
                        <a:off x="1330943" y="4008583"/>
                        <a:ext cx="4592637" cy="619125"/>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D81A5F24-B148-464B-936C-1A83160C90C5}"/>
              </a:ext>
            </a:extLst>
          </p:cNvPr>
          <p:cNvGraphicFramePr>
            <a:graphicFrameLocks noChangeAspect="1"/>
          </p:cNvGraphicFramePr>
          <p:nvPr>
            <p:extLst>
              <p:ext uri="{D42A27DB-BD31-4B8C-83A1-F6EECF244321}">
                <p14:modId xmlns:p14="http://schemas.microsoft.com/office/powerpoint/2010/main" val="505248637"/>
              </p:ext>
            </p:extLst>
          </p:nvPr>
        </p:nvGraphicFramePr>
        <p:xfrm>
          <a:off x="1330943" y="4884883"/>
          <a:ext cx="8089900" cy="619125"/>
        </p:xfrm>
        <a:graphic>
          <a:graphicData uri="http://schemas.openxmlformats.org/presentationml/2006/ole">
            <mc:AlternateContent xmlns:mc="http://schemas.openxmlformats.org/markup-compatibility/2006">
              <mc:Choice xmlns:v="urn:schemas-microsoft-com:vml" Requires="v">
                <p:oleObj name="Equation" r:id="rId10" imgW="3200400" imgH="266400" progId="Equation.DSMT4">
                  <p:embed/>
                </p:oleObj>
              </mc:Choice>
              <mc:Fallback>
                <p:oleObj name="Equation" r:id="rId10" imgW="3200400" imgH="266400" progId="Equation.DSMT4">
                  <p:embed/>
                  <p:pic>
                    <p:nvPicPr>
                      <p:cNvPr id="6" name="对象 5">
                        <a:extLst>
                          <a:ext uri="{FF2B5EF4-FFF2-40B4-BE49-F238E27FC236}">
                            <a16:creationId xmlns:a16="http://schemas.microsoft.com/office/drawing/2014/main" id="{65122B15-993F-40F6-A636-E1BA4B16760F}"/>
                          </a:ext>
                        </a:extLst>
                      </p:cNvPr>
                      <p:cNvPicPr>
                        <a:picLocks noChangeAspect="1" noChangeArrowheads="1"/>
                      </p:cNvPicPr>
                      <p:nvPr/>
                    </p:nvPicPr>
                    <p:blipFill>
                      <a:blip r:embed="rId11"/>
                      <a:srcRect/>
                      <a:stretch>
                        <a:fillRect/>
                      </a:stretch>
                    </p:blipFill>
                    <p:spPr bwMode="auto">
                      <a:xfrm>
                        <a:off x="1330943" y="4884883"/>
                        <a:ext cx="8089900" cy="619125"/>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161714BE-08A8-4FDD-83D5-6A4397039F1E}"/>
              </a:ext>
            </a:extLst>
          </p:cNvPr>
          <p:cNvGraphicFramePr>
            <a:graphicFrameLocks noChangeAspect="1"/>
          </p:cNvGraphicFramePr>
          <p:nvPr>
            <p:extLst>
              <p:ext uri="{D42A27DB-BD31-4B8C-83A1-F6EECF244321}">
                <p14:modId xmlns:p14="http://schemas.microsoft.com/office/powerpoint/2010/main" val="1272764407"/>
              </p:ext>
            </p:extLst>
          </p:nvPr>
        </p:nvGraphicFramePr>
        <p:xfrm>
          <a:off x="1355556" y="5721350"/>
          <a:ext cx="4719637" cy="620713"/>
        </p:xfrm>
        <a:graphic>
          <a:graphicData uri="http://schemas.openxmlformats.org/presentationml/2006/ole">
            <mc:AlternateContent xmlns:mc="http://schemas.openxmlformats.org/markup-compatibility/2006">
              <mc:Choice xmlns:v="urn:schemas-microsoft-com:vml" Requires="v">
                <p:oleObj name="Equation" r:id="rId12" imgW="1866600" imgH="266400" progId="Equation.DSMT4">
                  <p:embed/>
                </p:oleObj>
              </mc:Choice>
              <mc:Fallback>
                <p:oleObj name="Equation" r:id="rId12" imgW="1866600" imgH="266400" progId="Equation.DSMT4">
                  <p:embed/>
                  <p:pic>
                    <p:nvPicPr>
                      <p:cNvPr id="7" name="对象 6">
                        <a:extLst>
                          <a:ext uri="{FF2B5EF4-FFF2-40B4-BE49-F238E27FC236}">
                            <a16:creationId xmlns:a16="http://schemas.microsoft.com/office/drawing/2014/main" id="{2D00E796-0C49-4DD0-BC20-98513BFFE19A}"/>
                          </a:ext>
                        </a:extLst>
                      </p:cNvPr>
                      <p:cNvPicPr>
                        <a:picLocks noChangeAspect="1" noChangeArrowheads="1"/>
                      </p:cNvPicPr>
                      <p:nvPr/>
                    </p:nvPicPr>
                    <p:blipFill>
                      <a:blip r:embed="rId13"/>
                      <a:srcRect/>
                      <a:stretch>
                        <a:fillRect/>
                      </a:stretch>
                    </p:blipFill>
                    <p:spPr bwMode="auto">
                      <a:xfrm>
                        <a:off x="1355556" y="5721350"/>
                        <a:ext cx="4719637" cy="620713"/>
                      </a:xfrm>
                      <a:prstGeom prst="rect">
                        <a:avLst/>
                      </a:prstGeom>
                      <a:noFill/>
                    </p:spPr>
                  </p:pic>
                </p:oleObj>
              </mc:Fallback>
            </mc:AlternateContent>
          </a:graphicData>
        </a:graphic>
      </p:graphicFrame>
      <p:sp>
        <p:nvSpPr>
          <p:cNvPr id="12" name="文本框 11">
            <a:extLst>
              <a:ext uri="{FF2B5EF4-FFF2-40B4-BE49-F238E27FC236}">
                <a16:creationId xmlns:a16="http://schemas.microsoft.com/office/drawing/2014/main" id="{12577781-158D-44CE-863B-D1B17E360C6B}"/>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 </a:t>
            </a:r>
            <a:r>
              <a:rPr lang="zh-CN" altLang="en-US" sz="3200" b="1" dirty="0">
                <a:solidFill>
                  <a:srgbClr val="9D1317"/>
                </a:solidFill>
                <a:latin typeface="微软雅黑" panose="020B0503020204020204" pitchFamily="34" charset="-122"/>
                <a:ea typeface="微软雅黑" panose="020B0503020204020204" pitchFamily="34" charset="-122"/>
              </a:rPr>
              <a:t>多段轨迹规划：</a:t>
            </a:r>
            <a:r>
              <a:rPr lang="en-US" altLang="zh-CN" sz="3200" b="1" dirty="0">
                <a:solidFill>
                  <a:srgbClr val="9D1317"/>
                </a:solidFill>
                <a:latin typeface="微软雅黑" panose="020B0503020204020204" pitchFamily="34" charset="-122"/>
                <a:ea typeface="微软雅黑" panose="020B0503020204020204" pitchFamily="34" charset="-122"/>
              </a:rPr>
              <a:t>3-5-3</a:t>
            </a:r>
            <a:r>
              <a:rPr lang="zh-CN" altLang="en-US" sz="3200" b="1" dirty="0">
                <a:solidFill>
                  <a:srgbClr val="9D1317"/>
                </a:solidFill>
                <a:latin typeface="微软雅黑" panose="020B0503020204020204" pitchFamily="34" charset="-122"/>
                <a:ea typeface="微软雅黑" panose="020B0503020204020204" pitchFamily="34" charset="-122"/>
              </a:rPr>
              <a:t>规划</a:t>
            </a:r>
          </a:p>
        </p:txBody>
      </p:sp>
    </p:spTree>
    <p:extLst>
      <p:ext uri="{BB962C8B-B14F-4D97-AF65-F5344CB8AC3E}">
        <p14:creationId xmlns:p14="http://schemas.microsoft.com/office/powerpoint/2010/main" val="110176964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E0A4071-6D51-4A02-A718-61A65D7D731C}"/>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33</a:t>
            </a:fld>
            <a:endParaRPr lang="zh-CN" altLang="en-US">
              <a:solidFill>
                <a:prstClr val="black">
                  <a:tint val="75000"/>
                </a:prstClr>
              </a:solidFill>
            </a:endParaRPr>
          </a:p>
        </p:txBody>
      </p:sp>
      <p:sp>
        <p:nvSpPr>
          <p:cNvPr id="3" name="矩形 2">
            <a:extLst>
              <a:ext uri="{FF2B5EF4-FFF2-40B4-BE49-F238E27FC236}">
                <a16:creationId xmlns:a16="http://schemas.microsoft.com/office/drawing/2014/main" id="{13CFC425-D83E-4B6B-9013-5EF4F58DD7DF}"/>
              </a:ext>
            </a:extLst>
          </p:cNvPr>
          <p:cNvSpPr/>
          <p:nvPr/>
        </p:nvSpPr>
        <p:spPr>
          <a:xfrm>
            <a:off x="597407" y="1031236"/>
            <a:ext cx="7935251" cy="525657"/>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满足起点、终点位置、速度、加速度约束，</a:t>
            </a:r>
            <a:r>
              <a:rPr lang="en-US" altLang="zh-CN" sz="2400" b="1" dirty="0">
                <a:solidFill>
                  <a:srgbClr val="000000"/>
                </a:solidFill>
                <a:latin typeface="微软雅黑" panose="020B0503020204020204" pitchFamily="34" charset="-122"/>
                <a:ea typeface="微软雅黑" panose="020B0503020204020204" pitchFamily="34" charset="-122"/>
              </a:rPr>
              <a:t>6</a:t>
            </a:r>
            <a:r>
              <a:rPr lang="zh-CN" altLang="en-US" sz="2400" b="1" dirty="0">
                <a:solidFill>
                  <a:srgbClr val="000000"/>
                </a:solidFill>
                <a:latin typeface="微软雅黑" panose="020B0503020204020204" pitchFamily="34" charset="-122"/>
                <a:ea typeface="微软雅黑" panose="020B0503020204020204" pitchFamily="34" charset="-122"/>
              </a:rPr>
              <a:t>个方程</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4" name="对象 3">
            <a:extLst>
              <a:ext uri="{FF2B5EF4-FFF2-40B4-BE49-F238E27FC236}">
                <a16:creationId xmlns:a16="http://schemas.microsoft.com/office/drawing/2014/main" id="{FF7BFFA4-68BB-4016-B3D9-312F2EF63ECD}"/>
              </a:ext>
            </a:extLst>
          </p:cNvPr>
          <p:cNvGraphicFramePr>
            <a:graphicFrameLocks noChangeAspect="1"/>
          </p:cNvGraphicFramePr>
          <p:nvPr>
            <p:extLst>
              <p:ext uri="{D42A27DB-BD31-4B8C-83A1-F6EECF244321}">
                <p14:modId xmlns:p14="http://schemas.microsoft.com/office/powerpoint/2010/main" val="2094743693"/>
              </p:ext>
            </p:extLst>
          </p:nvPr>
        </p:nvGraphicFramePr>
        <p:xfrm>
          <a:off x="2223779" y="1713112"/>
          <a:ext cx="5297487" cy="531812"/>
        </p:xfrm>
        <a:graphic>
          <a:graphicData uri="http://schemas.openxmlformats.org/presentationml/2006/ole">
            <mc:AlternateContent xmlns:mc="http://schemas.openxmlformats.org/markup-compatibility/2006">
              <mc:Choice xmlns:v="urn:schemas-microsoft-com:vml" Requires="v">
                <p:oleObj name="Equation" r:id="rId2" imgW="2095200" imgH="228600" progId="Equation.DSMT4">
                  <p:embed/>
                </p:oleObj>
              </mc:Choice>
              <mc:Fallback>
                <p:oleObj name="Equation" r:id="rId2" imgW="2095200" imgH="228600" progId="Equation.DSMT4">
                  <p:embed/>
                  <p:pic>
                    <p:nvPicPr>
                      <p:cNvPr id="3" name="对象 2">
                        <a:extLst>
                          <a:ext uri="{FF2B5EF4-FFF2-40B4-BE49-F238E27FC236}">
                            <a16:creationId xmlns:a16="http://schemas.microsoft.com/office/drawing/2014/main" id="{21968800-D70D-42E0-99E1-0F634F8C5899}"/>
                          </a:ext>
                        </a:extLst>
                      </p:cNvPr>
                      <p:cNvPicPr>
                        <a:picLocks noChangeAspect="1" noChangeArrowheads="1"/>
                      </p:cNvPicPr>
                      <p:nvPr/>
                    </p:nvPicPr>
                    <p:blipFill>
                      <a:blip r:embed="rId3"/>
                      <a:srcRect/>
                      <a:stretch>
                        <a:fillRect/>
                      </a:stretch>
                    </p:blipFill>
                    <p:spPr bwMode="auto">
                      <a:xfrm>
                        <a:off x="2223779" y="1713112"/>
                        <a:ext cx="5297487" cy="531812"/>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796CB82E-75DA-48BE-AE52-D491EF5EF465}"/>
              </a:ext>
            </a:extLst>
          </p:cNvPr>
          <p:cNvGraphicFramePr>
            <a:graphicFrameLocks noChangeAspect="1"/>
          </p:cNvGraphicFramePr>
          <p:nvPr>
            <p:extLst>
              <p:ext uri="{D42A27DB-BD31-4B8C-83A1-F6EECF244321}">
                <p14:modId xmlns:p14="http://schemas.microsoft.com/office/powerpoint/2010/main" val="1500447957"/>
              </p:ext>
            </p:extLst>
          </p:nvPr>
        </p:nvGraphicFramePr>
        <p:xfrm>
          <a:off x="2223779" y="2401143"/>
          <a:ext cx="5394325" cy="590550"/>
        </p:xfrm>
        <a:graphic>
          <a:graphicData uri="http://schemas.openxmlformats.org/presentationml/2006/ole">
            <mc:AlternateContent xmlns:mc="http://schemas.openxmlformats.org/markup-compatibility/2006">
              <mc:Choice xmlns:v="urn:schemas-microsoft-com:vml" Requires="v">
                <p:oleObj name="Equation" r:id="rId4" imgW="2133360" imgH="253800" progId="Equation.DSMT4">
                  <p:embed/>
                </p:oleObj>
              </mc:Choice>
              <mc:Fallback>
                <p:oleObj name="Equation" r:id="rId4" imgW="2133360" imgH="253800" progId="Equation.DSMT4">
                  <p:embed/>
                  <p:pic>
                    <p:nvPicPr>
                      <p:cNvPr id="4" name="对象 3">
                        <a:extLst>
                          <a:ext uri="{FF2B5EF4-FFF2-40B4-BE49-F238E27FC236}">
                            <a16:creationId xmlns:a16="http://schemas.microsoft.com/office/drawing/2014/main" id="{FF7BFFA4-68BB-4016-B3D9-312F2EF63ECD}"/>
                          </a:ext>
                        </a:extLst>
                      </p:cNvPr>
                      <p:cNvPicPr>
                        <a:picLocks noChangeAspect="1" noChangeArrowheads="1"/>
                      </p:cNvPicPr>
                      <p:nvPr/>
                    </p:nvPicPr>
                    <p:blipFill>
                      <a:blip r:embed="rId5"/>
                      <a:srcRect/>
                      <a:stretch>
                        <a:fillRect/>
                      </a:stretch>
                    </p:blipFill>
                    <p:spPr bwMode="auto">
                      <a:xfrm>
                        <a:off x="2223779" y="2401143"/>
                        <a:ext cx="5394325" cy="590550"/>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9B0CF314-A4FF-496D-9F34-44FDF52A7026}"/>
              </a:ext>
            </a:extLst>
          </p:cNvPr>
          <p:cNvSpPr/>
          <p:nvPr/>
        </p:nvSpPr>
        <p:spPr>
          <a:xfrm>
            <a:off x="597406" y="3028269"/>
            <a:ext cx="6534911" cy="525657"/>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满足抬起点、下降点位置约束，</a:t>
            </a:r>
            <a:r>
              <a:rPr lang="en-US" altLang="zh-CN" sz="2400" b="1" dirty="0">
                <a:solidFill>
                  <a:srgbClr val="000000"/>
                </a:solidFill>
                <a:latin typeface="微软雅黑" panose="020B0503020204020204" pitchFamily="34" charset="-122"/>
                <a:ea typeface="微软雅黑" panose="020B0503020204020204" pitchFamily="34" charset="-122"/>
              </a:rPr>
              <a:t>2</a:t>
            </a:r>
            <a:r>
              <a:rPr lang="zh-CN" altLang="en-US" sz="2400" b="1" dirty="0">
                <a:solidFill>
                  <a:srgbClr val="000000"/>
                </a:solidFill>
                <a:latin typeface="微软雅黑" panose="020B0503020204020204" pitchFamily="34" charset="-122"/>
                <a:ea typeface="微软雅黑" panose="020B0503020204020204" pitchFamily="34" charset="-122"/>
              </a:rPr>
              <a:t>个方程</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CBF6E44C-3AC3-4801-AD62-3B8AD3752305}"/>
              </a:ext>
            </a:extLst>
          </p:cNvPr>
          <p:cNvGraphicFramePr>
            <a:graphicFrameLocks noChangeAspect="1"/>
          </p:cNvGraphicFramePr>
          <p:nvPr>
            <p:extLst>
              <p:ext uri="{D42A27DB-BD31-4B8C-83A1-F6EECF244321}">
                <p14:modId xmlns:p14="http://schemas.microsoft.com/office/powerpoint/2010/main" val="682563258"/>
              </p:ext>
            </p:extLst>
          </p:nvPr>
        </p:nvGraphicFramePr>
        <p:xfrm>
          <a:off x="3251200" y="3627438"/>
          <a:ext cx="3340100" cy="531812"/>
        </p:xfrm>
        <a:graphic>
          <a:graphicData uri="http://schemas.openxmlformats.org/presentationml/2006/ole">
            <mc:AlternateContent xmlns:mc="http://schemas.openxmlformats.org/markup-compatibility/2006">
              <mc:Choice xmlns:v="urn:schemas-microsoft-com:vml" Requires="v">
                <p:oleObj name="Equation" r:id="rId6" imgW="1320480" imgH="228600" progId="Equation.DSMT4">
                  <p:embed/>
                </p:oleObj>
              </mc:Choice>
              <mc:Fallback>
                <p:oleObj name="Equation" r:id="rId6" imgW="1320480" imgH="228600" progId="Equation.DSMT4">
                  <p:embed/>
                  <p:pic>
                    <p:nvPicPr>
                      <p:cNvPr id="5" name="对象 4">
                        <a:extLst>
                          <a:ext uri="{FF2B5EF4-FFF2-40B4-BE49-F238E27FC236}">
                            <a16:creationId xmlns:a16="http://schemas.microsoft.com/office/drawing/2014/main" id="{796CB82E-75DA-48BE-AE52-D491EF5EF465}"/>
                          </a:ext>
                        </a:extLst>
                      </p:cNvPr>
                      <p:cNvPicPr>
                        <a:picLocks noChangeAspect="1" noChangeArrowheads="1"/>
                      </p:cNvPicPr>
                      <p:nvPr/>
                    </p:nvPicPr>
                    <p:blipFill>
                      <a:blip r:embed="rId7"/>
                      <a:srcRect/>
                      <a:stretch>
                        <a:fillRect/>
                      </a:stretch>
                    </p:blipFill>
                    <p:spPr bwMode="auto">
                      <a:xfrm>
                        <a:off x="3251200" y="3627438"/>
                        <a:ext cx="3340100" cy="531812"/>
                      </a:xfrm>
                      <a:prstGeom prst="rect">
                        <a:avLst/>
                      </a:prstGeom>
                      <a:noFill/>
                    </p:spPr>
                  </p:pic>
                </p:oleObj>
              </mc:Fallback>
            </mc:AlternateContent>
          </a:graphicData>
        </a:graphic>
      </p:graphicFrame>
      <p:sp>
        <p:nvSpPr>
          <p:cNvPr id="8" name="矩形 7">
            <a:extLst>
              <a:ext uri="{FF2B5EF4-FFF2-40B4-BE49-F238E27FC236}">
                <a16:creationId xmlns:a16="http://schemas.microsoft.com/office/drawing/2014/main" id="{B5EE1AA0-6790-4F15-9476-20FF3A5DE047}"/>
              </a:ext>
            </a:extLst>
          </p:cNvPr>
          <p:cNvSpPr/>
          <p:nvPr/>
        </p:nvSpPr>
        <p:spPr>
          <a:xfrm>
            <a:off x="597405" y="4159250"/>
            <a:ext cx="8933255" cy="525657"/>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rPr>
              <a:t>满足抬起点、下降点位置、速度、加速度连续约束，</a:t>
            </a:r>
            <a:r>
              <a:rPr lang="en-US" altLang="zh-CN" sz="2400" b="1" dirty="0">
                <a:solidFill>
                  <a:srgbClr val="000000"/>
                </a:solidFill>
                <a:latin typeface="微软雅黑" panose="020B0503020204020204" pitchFamily="34" charset="-122"/>
                <a:ea typeface="微软雅黑" panose="020B0503020204020204" pitchFamily="34" charset="-122"/>
              </a:rPr>
              <a:t>6</a:t>
            </a:r>
            <a:r>
              <a:rPr lang="zh-CN" altLang="en-US" sz="2400" b="1" dirty="0">
                <a:solidFill>
                  <a:srgbClr val="000000"/>
                </a:solidFill>
                <a:latin typeface="微软雅黑" panose="020B0503020204020204" pitchFamily="34" charset="-122"/>
                <a:ea typeface="微软雅黑" panose="020B0503020204020204" pitchFamily="34" charset="-122"/>
              </a:rPr>
              <a:t>个方程</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559E5F80-2DEA-4057-A671-9CD7C515AA7F}"/>
              </a:ext>
            </a:extLst>
          </p:cNvPr>
          <p:cNvGraphicFramePr>
            <a:graphicFrameLocks noChangeAspect="1"/>
          </p:cNvGraphicFramePr>
          <p:nvPr>
            <p:extLst>
              <p:ext uri="{D42A27DB-BD31-4B8C-83A1-F6EECF244321}">
                <p14:modId xmlns:p14="http://schemas.microsoft.com/office/powerpoint/2010/main" val="4172278701"/>
              </p:ext>
            </p:extLst>
          </p:nvPr>
        </p:nvGraphicFramePr>
        <p:xfrm>
          <a:off x="1792288" y="4781550"/>
          <a:ext cx="6550025" cy="531813"/>
        </p:xfrm>
        <a:graphic>
          <a:graphicData uri="http://schemas.openxmlformats.org/presentationml/2006/ole">
            <mc:AlternateContent xmlns:mc="http://schemas.openxmlformats.org/markup-compatibility/2006">
              <mc:Choice xmlns:v="urn:schemas-microsoft-com:vml" Requires="v">
                <p:oleObj name="Equation" r:id="rId8" imgW="2590560" imgH="228600" progId="Equation.DSMT4">
                  <p:embed/>
                </p:oleObj>
              </mc:Choice>
              <mc:Fallback>
                <p:oleObj name="Equation" r:id="rId8" imgW="2590560" imgH="228600" progId="Equation.DSMT4">
                  <p:embed/>
                  <p:pic>
                    <p:nvPicPr>
                      <p:cNvPr id="4" name="对象 3">
                        <a:extLst>
                          <a:ext uri="{FF2B5EF4-FFF2-40B4-BE49-F238E27FC236}">
                            <a16:creationId xmlns:a16="http://schemas.microsoft.com/office/drawing/2014/main" id="{FF7BFFA4-68BB-4016-B3D9-312F2EF63ECD}"/>
                          </a:ext>
                        </a:extLst>
                      </p:cNvPr>
                      <p:cNvPicPr>
                        <a:picLocks noChangeAspect="1" noChangeArrowheads="1"/>
                      </p:cNvPicPr>
                      <p:nvPr/>
                    </p:nvPicPr>
                    <p:blipFill>
                      <a:blip r:embed="rId9"/>
                      <a:srcRect/>
                      <a:stretch>
                        <a:fillRect/>
                      </a:stretch>
                    </p:blipFill>
                    <p:spPr bwMode="auto">
                      <a:xfrm>
                        <a:off x="1792288" y="4781550"/>
                        <a:ext cx="6550025" cy="531813"/>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5F0442EA-1E4D-4C7A-A0B8-987F1E8720CD}"/>
              </a:ext>
            </a:extLst>
          </p:cNvPr>
          <p:cNvGraphicFramePr>
            <a:graphicFrameLocks noChangeAspect="1"/>
          </p:cNvGraphicFramePr>
          <p:nvPr>
            <p:extLst>
              <p:ext uri="{D42A27DB-BD31-4B8C-83A1-F6EECF244321}">
                <p14:modId xmlns:p14="http://schemas.microsoft.com/office/powerpoint/2010/main" val="786196276"/>
              </p:ext>
            </p:extLst>
          </p:nvPr>
        </p:nvGraphicFramePr>
        <p:xfrm>
          <a:off x="1728788" y="5410200"/>
          <a:ext cx="6678612" cy="531813"/>
        </p:xfrm>
        <a:graphic>
          <a:graphicData uri="http://schemas.openxmlformats.org/presentationml/2006/ole">
            <mc:AlternateContent xmlns:mc="http://schemas.openxmlformats.org/markup-compatibility/2006">
              <mc:Choice xmlns:v="urn:schemas-microsoft-com:vml" Requires="v">
                <p:oleObj name="Equation" r:id="rId10" imgW="2641320" imgH="228600" progId="Equation.DSMT4">
                  <p:embed/>
                </p:oleObj>
              </mc:Choice>
              <mc:Fallback>
                <p:oleObj name="Equation" r:id="rId10" imgW="2641320" imgH="228600" progId="Equation.DSMT4">
                  <p:embed/>
                  <p:pic>
                    <p:nvPicPr>
                      <p:cNvPr id="9" name="对象 8">
                        <a:extLst>
                          <a:ext uri="{FF2B5EF4-FFF2-40B4-BE49-F238E27FC236}">
                            <a16:creationId xmlns:a16="http://schemas.microsoft.com/office/drawing/2014/main" id="{559E5F80-2DEA-4057-A671-9CD7C515AA7F}"/>
                          </a:ext>
                        </a:extLst>
                      </p:cNvPr>
                      <p:cNvPicPr>
                        <a:picLocks noChangeAspect="1" noChangeArrowheads="1"/>
                      </p:cNvPicPr>
                      <p:nvPr/>
                    </p:nvPicPr>
                    <p:blipFill>
                      <a:blip r:embed="rId11"/>
                      <a:srcRect/>
                      <a:stretch>
                        <a:fillRect/>
                      </a:stretch>
                    </p:blipFill>
                    <p:spPr bwMode="auto">
                      <a:xfrm>
                        <a:off x="1728788" y="5410200"/>
                        <a:ext cx="6678612" cy="531813"/>
                      </a:xfrm>
                      <a:prstGeom prst="rect">
                        <a:avLst/>
                      </a:prstGeom>
                      <a:noFill/>
                    </p:spPr>
                  </p:pic>
                </p:oleObj>
              </mc:Fallback>
            </mc:AlternateContent>
          </a:graphicData>
        </a:graphic>
      </p:graphicFrame>
      <p:sp>
        <p:nvSpPr>
          <p:cNvPr id="11" name="矩形 10">
            <a:extLst>
              <a:ext uri="{FF2B5EF4-FFF2-40B4-BE49-F238E27FC236}">
                <a16:creationId xmlns:a16="http://schemas.microsoft.com/office/drawing/2014/main" id="{64E009C5-EF15-42E3-BC56-4EBF56FD5C33}"/>
              </a:ext>
            </a:extLst>
          </p:cNvPr>
          <p:cNvSpPr/>
          <p:nvPr/>
        </p:nvSpPr>
        <p:spPr>
          <a:xfrm>
            <a:off x="2223779" y="6069385"/>
            <a:ext cx="6189028" cy="597921"/>
          </a:xfrm>
          <a:prstGeom prst="rect">
            <a:avLst/>
          </a:prstGeom>
        </p:spPr>
        <p:txBody>
          <a:bodyPr wrap="square">
            <a:spAutoFit/>
          </a:bodyPr>
          <a:lstStyle/>
          <a:p>
            <a:pPr>
              <a:lnSpc>
                <a:spcPct val="130000"/>
              </a:lnSpc>
            </a:pPr>
            <a:r>
              <a:rPr lang="zh-CN" altLang="en-US" sz="2800" b="1" dirty="0">
                <a:solidFill>
                  <a:srgbClr val="C00000"/>
                </a:solidFill>
                <a:latin typeface="微软雅黑" panose="020B0503020204020204" pitchFamily="34" charset="-122"/>
                <a:ea typeface="微软雅黑" panose="020B0503020204020204" pitchFamily="34" charset="-122"/>
              </a:rPr>
              <a:t>可以求出“</a:t>
            </a:r>
            <a:r>
              <a:rPr lang="en-US" altLang="zh-CN" sz="2800" b="1" dirty="0">
                <a:solidFill>
                  <a:srgbClr val="C00000"/>
                </a:solidFill>
                <a:latin typeface="微软雅黑" panose="020B0503020204020204" pitchFamily="34" charset="-122"/>
                <a:ea typeface="微软雅黑" panose="020B0503020204020204" pitchFamily="34" charset="-122"/>
              </a:rPr>
              <a:t>3-5-3</a:t>
            </a:r>
            <a:r>
              <a:rPr lang="zh-CN" altLang="en-US" sz="2800" b="1" dirty="0">
                <a:solidFill>
                  <a:srgbClr val="C00000"/>
                </a:solidFill>
                <a:latin typeface="微软雅黑" panose="020B0503020204020204" pitchFamily="34" charset="-122"/>
                <a:ea typeface="微软雅黑" panose="020B0503020204020204" pitchFamily="34" charset="-122"/>
              </a:rPr>
              <a:t>”规划的</a:t>
            </a:r>
            <a:r>
              <a:rPr lang="en-US" altLang="zh-CN" sz="2800" b="1" dirty="0">
                <a:solidFill>
                  <a:srgbClr val="C00000"/>
                </a:solidFill>
                <a:latin typeface="微软雅黑" panose="020B0503020204020204" pitchFamily="34" charset="-122"/>
                <a:ea typeface="微软雅黑" panose="020B0503020204020204" pitchFamily="34" charset="-122"/>
              </a:rPr>
              <a:t>14</a:t>
            </a:r>
            <a:r>
              <a:rPr lang="zh-CN" altLang="en-US" sz="2800" b="1" dirty="0">
                <a:solidFill>
                  <a:srgbClr val="C00000"/>
                </a:solidFill>
                <a:latin typeface="微软雅黑" panose="020B0503020204020204" pitchFamily="34" charset="-122"/>
                <a:ea typeface="微软雅黑" panose="020B0503020204020204" pitchFamily="34" charset="-122"/>
              </a:rPr>
              <a:t>个参数</a:t>
            </a:r>
          </a:p>
        </p:txBody>
      </p:sp>
      <p:sp>
        <p:nvSpPr>
          <p:cNvPr id="13" name="文本框 12">
            <a:extLst>
              <a:ext uri="{FF2B5EF4-FFF2-40B4-BE49-F238E27FC236}">
                <a16:creationId xmlns:a16="http://schemas.microsoft.com/office/drawing/2014/main" id="{EEB6FBE0-FB2C-4BA9-AAC4-DB93570802A3}"/>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 </a:t>
            </a:r>
            <a:r>
              <a:rPr lang="zh-CN" altLang="en-US" sz="3200" b="1" dirty="0">
                <a:solidFill>
                  <a:srgbClr val="9D1317"/>
                </a:solidFill>
                <a:latin typeface="微软雅黑" panose="020B0503020204020204" pitchFamily="34" charset="-122"/>
                <a:ea typeface="微软雅黑" panose="020B0503020204020204" pitchFamily="34" charset="-122"/>
              </a:rPr>
              <a:t>多段轨迹规划：</a:t>
            </a:r>
            <a:r>
              <a:rPr lang="en-US" altLang="zh-CN" sz="3200" b="1" dirty="0">
                <a:solidFill>
                  <a:srgbClr val="9D1317"/>
                </a:solidFill>
                <a:latin typeface="微软雅黑" panose="020B0503020204020204" pitchFamily="34" charset="-122"/>
                <a:ea typeface="微软雅黑" panose="020B0503020204020204" pitchFamily="34" charset="-122"/>
              </a:rPr>
              <a:t>3-5-3</a:t>
            </a:r>
            <a:r>
              <a:rPr lang="zh-CN" altLang="en-US" sz="3200" b="1" dirty="0">
                <a:solidFill>
                  <a:srgbClr val="9D1317"/>
                </a:solidFill>
                <a:latin typeface="微软雅黑" panose="020B0503020204020204" pitchFamily="34" charset="-122"/>
                <a:ea typeface="微软雅黑" panose="020B0503020204020204" pitchFamily="34" charset="-122"/>
              </a:rPr>
              <a:t>规划</a:t>
            </a:r>
          </a:p>
        </p:txBody>
      </p:sp>
    </p:spTree>
    <p:extLst>
      <p:ext uri="{BB962C8B-B14F-4D97-AF65-F5344CB8AC3E}">
        <p14:creationId xmlns:p14="http://schemas.microsoft.com/office/powerpoint/2010/main" val="350981439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 calcmode="lin" valueType="num">
                                      <p:cBhvr additive="base">
                                        <p:cTn id="2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3DBD07D-CE19-4368-88BC-9894BBF87999}"/>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34</a:t>
            </a:fld>
            <a:endParaRPr lang="zh-CN" altLang="en-US">
              <a:solidFill>
                <a:prstClr val="black">
                  <a:tint val="75000"/>
                </a:prstClr>
              </a:solidFill>
            </a:endParaRPr>
          </a:p>
        </p:txBody>
      </p:sp>
      <p:graphicFrame>
        <p:nvGraphicFramePr>
          <p:cNvPr id="17" name="对象 16">
            <a:extLst>
              <a:ext uri="{FF2B5EF4-FFF2-40B4-BE49-F238E27FC236}">
                <a16:creationId xmlns:a16="http://schemas.microsoft.com/office/drawing/2014/main" id="{1E6B3AC0-FAAC-4C35-99D5-F38FD548DAC9}"/>
              </a:ext>
            </a:extLst>
          </p:cNvPr>
          <p:cNvGraphicFramePr>
            <a:graphicFrameLocks noChangeAspect="1"/>
          </p:cNvGraphicFramePr>
          <p:nvPr>
            <p:extLst>
              <p:ext uri="{D42A27DB-BD31-4B8C-83A1-F6EECF244321}">
                <p14:modId xmlns:p14="http://schemas.microsoft.com/office/powerpoint/2010/main" val="3236543643"/>
              </p:ext>
            </p:extLst>
          </p:nvPr>
        </p:nvGraphicFramePr>
        <p:xfrm>
          <a:off x="930901" y="758227"/>
          <a:ext cx="9632951" cy="915988"/>
        </p:xfrm>
        <a:graphic>
          <a:graphicData uri="http://schemas.openxmlformats.org/presentationml/2006/ole">
            <mc:AlternateContent xmlns:mc="http://schemas.openxmlformats.org/markup-compatibility/2006">
              <mc:Choice xmlns:v="urn:schemas-microsoft-com:vml" Requires="v">
                <p:oleObj name="Equation" r:id="rId2" imgW="3809880" imgH="393480" progId="Equation.DSMT4">
                  <p:embed/>
                </p:oleObj>
              </mc:Choice>
              <mc:Fallback>
                <p:oleObj name="Equation" r:id="rId2" imgW="3809880" imgH="393480" progId="Equation.DSMT4">
                  <p:embed/>
                  <p:pic>
                    <p:nvPicPr>
                      <p:cNvPr id="3" name="对象 2">
                        <a:extLst>
                          <a:ext uri="{FF2B5EF4-FFF2-40B4-BE49-F238E27FC236}">
                            <a16:creationId xmlns:a16="http://schemas.microsoft.com/office/drawing/2014/main" id="{5C357A2E-6ACE-4FD4-909C-2C3CBC038A35}"/>
                          </a:ext>
                        </a:extLst>
                      </p:cNvPr>
                      <p:cNvPicPr>
                        <a:picLocks noChangeAspect="1" noChangeArrowheads="1"/>
                      </p:cNvPicPr>
                      <p:nvPr/>
                    </p:nvPicPr>
                    <p:blipFill>
                      <a:blip r:embed="rId3"/>
                      <a:srcRect/>
                      <a:stretch>
                        <a:fillRect/>
                      </a:stretch>
                    </p:blipFill>
                    <p:spPr bwMode="auto">
                      <a:xfrm>
                        <a:off x="930901" y="758227"/>
                        <a:ext cx="9632951" cy="915988"/>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ACA073A7-81CA-4FED-BA5B-202FE27F9AC1}"/>
              </a:ext>
            </a:extLst>
          </p:cNvPr>
          <p:cNvGraphicFramePr>
            <a:graphicFrameLocks noChangeAspect="1"/>
          </p:cNvGraphicFramePr>
          <p:nvPr>
            <p:extLst>
              <p:ext uri="{D42A27DB-BD31-4B8C-83A1-F6EECF244321}">
                <p14:modId xmlns:p14="http://schemas.microsoft.com/office/powerpoint/2010/main" val="2196766241"/>
              </p:ext>
            </p:extLst>
          </p:nvPr>
        </p:nvGraphicFramePr>
        <p:xfrm>
          <a:off x="930901" y="1830433"/>
          <a:ext cx="7546975" cy="530225"/>
        </p:xfrm>
        <a:graphic>
          <a:graphicData uri="http://schemas.openxmlformats.org/presentationml/2006/ole">
            <mc:AlternateContent xmlns:mc="http://schemas.openxmlformats.org/markup-compatibility/2006">
              <mc:Choice xmlns:v="urn:schemas-microsoft-com:vml" Requires="v">
                <p:oleObj name="Equation" r:id="rId4" imgW="2984400" imgH="228600" progId="Equation.DSMT4">
                  <p:embed/>
                </p:oleObj>
              </mc:Choice>
              <mc:Fallback>
                <p:oleObj name="Equation" r:id="rId4" imgW="2984400" imgH="228600" progId="Equation.DSMT4">
                  <p:embed/>
                  <p:pic>
                    <p:nvPicPr>
                      <p:cNvPr id="4" name="对象 3">
                        <a:extLst>
                          <a:ext uri="{FF2B5EF4-FFF2-40B4-BE49-F238E27FC236}">
                            <a16:creationId xmlns:a16="http://schemas.microsoft.com/office/drawing/2014/main" id="{04B1A7D4-34CC-415D-89ED-D398692872E4}"/>
                          </a:ext>
                        </a:extLst>
                      </p:cNvPr>
                      <p:cNvPicPr>
                        <a:picLocks noChangeAspect="1" noChangeArrowheads="1"/>
                      </p:cNvPicPr>
                      <p:nvPr/>
                    </p:nvPicPr>
                    <p:blipFill>
                      <a:blip r:embed="rId5"/>
                      <a:srcRect/>
                      <a:stretch>
                        <a:fillRect/>
                      </a:stretch>
                    </p:blipFill>
                    <p:spPr bwMode="auto">
                      <a:xfrm>
                        <a:off x="930901" y="1830433"/>
                        <a:ext cx="7546975" cy="530225"/>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F337AFB3-C07F-4EF2-B98F-D34192A81882}"/>
              </a:ext>
            </a:extLst>
          </p:cNvPr>
          <p:cNvGraphicFramePr>
            <a:graphicFrameLocks noChangeAspect="1"/>
          </p:cNvGraphicFramePr>
          <p:nvPr>
            <p:extLst>
              <p:ext uri="{D42A27DB-BD31-4B8C-83A1-F6EECF244321}">
                <p14:modId xmlns:p14="http://schemas.microsoft.com/office/powerpoint/2010/main" val="2573925463"/>
              </p:ext>
            </p:extLst>
          </p:nvPr>
        </p:nvGraphicFramePr>
        <p:xfrm>
          <a:off x="898525" y="2597150"/>
          <a:ext cx="4529138" cy="619125"/>
        </p:xfrm>
        <a:graphic>
          <a:graphicData uri="http://schemas.openxmlformats.org/presentationml/2006/ole">
            <mc:AlternateContent xmlns:mc="http://schemas.openxmlformats.org/markup-compatibility/2006">
              <mc:Choice xmlns:v="urn:schemas-microsoft-com:vml" Requires="v">
                <p:oleObj name="Equation" r:id="rId6" imgW="1790640" imgH="266400" progId="Equation.DSMT4">
                  <p:embed/>
                </p:oleObj>
              </mc:Choice>
              <mc:Fallback>
                <p:oleObj name="Equation" r:id="rId6" imgW="1790640" imgH="266400" progId="Equation.DSMT4">
                  <p:embed/>
                  <p:pic>
                    <p:nvPicPr>
                      <p:cNvPr id="5" name="对象 4">
                        <a:extLst>
                          <a:ext uri="{FF2B5EF4-FFF2-40B4-BE49-F238E27FC236}">
                            <a16:creationId xmlns:a16="http://schemas.microsoft.com/office/drawing/2014/main" id="{B401B75A-B835-46D2-8E4F-CBD048E9CD4D}"/>
                          </a:ext>
                        </a:extLst>
                      </p:cNvPr>
                      <p:cNvPicPr>
                        <a:picLocks noChangeAspect="1" noChangeArrowheads="1"/>
                      </p:cNvPicPr>
                      <p:nvPr/>
                    </p:nvPicPr>
                    <p:blipFill>
                      <a:blip r:embed="rId7"/>
                      <a:srcRect/>
                      <a:stretch>
                        <a:fillRect/>
                      </a:stretch>
                    </p:blipFill>
                    <p:spPr bwMode="auto">
                      <a:xfrm>
                        <a:off x="898525" y="2597150"/>
                        <a:ext cx="4529138" cy="619125"/>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B6056993-87EC-4D73-BAE3-B572197B3F89}"/>
              </a:ext>
            </a:extLst>
          </p:cNvPr>
          <p:cNvGraphicFramePr>
            <a:graphicFrameLocks noChangeAspect="1"/>
          </p:cNvGraphicFramePr>
          <p:nvPr>
            <p:extLst>
              <p:ext uri="{D42A27DB-BD31-4B8C-83A1-F6EECF244321}">
                <p14:modId xmlns:p14="http://schemas.microsoft.com/office/powerpoint/2010/main" val="2886098944"/>
              </p:ext>
            </p:extLst>
          </p:nvPr>
        </p:nvGraphicFramePr>
        <p:xfrm>
          <a:off x="5869396" y="2686132"/>
          <a:ext cx="2505075" cy="530225"/>
        </p:xfrm>
        <a:graphic>
          <a:graphicData uri="http://schemas.openxmlformats.org/presentationml/2006/ole">
            <mc:AlternateContent xmlns:mc="http://schemas.openxmlformats.org/markup-compatibility/2006">
              <mc:Choice xmlns:v="urn:schemas-microsoft-com:vml" Requires="v">
                <p:oleObj name="Equation" r:id="rId8" imgW="990360" imgH="228600" progId="Equation.DSMT4">
                  <p:embed/>
                </p:oleObj>
              </mc:Choice>
              <mc:Fallback>
                <p:oleObj name="Equation" r:id="rId8" imgW="990360" imgH="228600" progId="Equation.DSMT4">
                  <p:embed/>
                  <p:pic>
                    <p:nvPicPr>
                      <p:cNvPr id="6" name="对象 5">
                        <a:extLst>
                          <a:ext uri="{FF2B5EF4-FFF2-40B4-BE49-F238E27FC236}">
                            <a16:creationId xmlns:a16="http://schemas.microsoft.com/office/drawing/2014/main" id="{0336A906-4482-4E2A-AEFC-58F4C3C502F3}"/>
                          </a:ext>
                        </a:extLst>
                      </p:cNvPr>
                      <p:cNvPicPr>
                        <a:picLocks noChangeAspect="1" noChangeArrowheads="1"/>
                      </p:cNvPicPr>
                      <p:nvPr/>
                    </p:nvPicPr>
                    <p:blipFill>
                      <a:blip r:embed="rId9"/>
                      <a:srcRect/>
                      <a:stretch>
                        <a:fillRect/>
                      </a:stretch>
                    </p:blipFill>
                    <p:spPr bwMode="auto">
                      <a:xfrm>
                        <a:off x="5869396" y="2686132"/>
                        <a:ext cx="2505075" cy="530225"/>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1DB6BA20-B184-4A91-83D3-7D452010C984}"/>
              </a:ext>
            </a:extLst>
          </p:cNvPr>
          <p:cNvGraphicFramePr>
            <a:graphicFrameLocks noChangeAspect="1"/>
          </p:cNvGraphicFramePr>
          <p:nvPr>
            <p:extLst>
              <p:ext uri="{D42A27DB-BD31-4B8C-83A1-F6EECF244321}">
                <p14:modId xmlns:p14="http://schemas.microsoft.com/office/powerpoint/2010/main" val="1257798160"/>
              </p:ext>
            </p:extLst>
          </p:nvPr>
        </p:nvGraphicFramePr>
        <p:xfrm>
          <a:off x="914400" y="3443288"/>
          <a:ext cx="5746750" cy="677862"/>
        </p:xfrm>
        <a:graphic>
          <a:graphicData uri="http://schemas.openxmlformats.org/presentationml/2006/ole">
            <mc:AlternateContent xmlns:mc="http://schemas.openxmlformats.org/markup-compatibility/2006">
              <mc:Choice xmlns:v="urn:schemas-microsoft-com:vml" Requires="v">
                <p:oleObj name="Equation" r:id="rId10" imgW="2273040" imgH="291960" progId="Equation.DSMT4">
                  <p:embed/>
                </p:oleObj>
              </mc:Choice>
              <mc:Fallback>
                <p:oleObj name="Equation" r:id="rId10" imgW="2273040" imgH="291960" progId="Equation.DSMT4">
                  <p:embed/>
                  <p:pic>
                    <p:nvPicPr>
                      <p:cNvPr id="7" name="对象 6">
                        <a:extLst>
                          <a:ext uri="{FF2B5EF4-FFF2-40B4-BE49-F238E27FC236}">
                            <a16:creationId xmlns:a16="http://schemas.microsoft.com/office/drawing/2014/main" id="{2D2CA0DC-6B77-4C97-8136-E3F1230B6B43}"/>
                          </a:ext>
                        </a:extLst>
                      </p:cNvPr>
                      <p:cNvPicPr>
                        <a:picLocks noChangeAspect="1" noChangeArrowheads="1"/>
                      </p:cNvPicPr>
                      <p:nvPr/>
                    </p:nvPicPr>
                    <p:blipFill>
                      <a:blip r:embed="rId11"/>
                      <a:srcRect/>
                      <a:stretch>
                        <a:fillRect/>
                      </a:stretch>
                    </p:blipFill>
                    <p:spPr bwMode="auto">
                      <a:xfrm>
                        <a:off x="914400" y="3443288"/>
                        <a:ext cx="5746750" cy="677862"/>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748B9883-1EE9-4BFE-B281-9EA9D2ECD1E9}"/>
              </a:ext>
            </a:extLst>
          </p:cNvPr>
          <p:cNvGraphicFramePr>
            <a:graphicFrameLocks noChangeAspect="1"/>
          </p:cNvGraphicFramePr>
          <p:nvPr>
            <p:extLst>
              <p:ext uri="{D42A27DB-BD31-4B8C-83A1-F6EECF244321}">
                <p14:modId xmlns:p14="http://schemas.microsoft.com/office/powerpoint/2010/main" val="3182874321"/>
              </p:ext>
            </p:extLst>
          </p:nvPr>
        </p:nvGraphicFramePr>
        <p:xfrm>
          <a:off x="7196138" y="3443288"/>
          <a:ext cx="3884612" cy="588962"/>
        </p:xfrm>
        <a:graphic>
          <a:graphicData uri="http://schemas.openxmlformats.org/presentationml/2006/ole">
            <mc:AlternateContent xmlns:mc="http://schemas.openxmlformats.org/markup-compatibility/2006">
              <mc:Choice xmlns:v="urn:schemas-microsoft-com:vml" Requires="v">
                <p:oleObj name="Equation" r:id="rId12" imgW="1536480" imgH="253800" progId="Equation.DSMT4">
                  <p:embed/>
                </p:oleObj>
              </mc:Choice>
              <mc:Fallback>
                <p:oleObj name="Equation" r:id="rId12" imgW="1536480" imgH="253800" progId="Equation.DSMT4">
                  <p:embed/>
                  <p:pic>
                    <p:nvPicPr>
                      <p:cNvPr id="8" name="对象 7">
                        <a:extLst>
                          <a:ext uri="{FF2B5EF4-FFF2-40B4-BE49-F238E27FC236}">
                            <a16:creationId xmlns:a16="http://schemas.microsoft.com/office/drawing/2014/main" id="{24D3EC9C-42C1-46F4-AE81-7B3C1C942EBA}"/>
                          </a:ext>
                        </a:extLst>
                      </p:cNvPr>
                      <p:cNvPicPr>
                        <a:picLocks noChangeAspect="1" noChangeArrowheads="1"/>
                      </p:cNvPicPr>
                      <p:nvPr/>
                    </p:nvPicPr>
                    <p:blipFill>
                      <a:blip r:embed="rId13"/>
                      <a:srcRect/>
                      <a:stretch>
                        <a:fillRect/>
                      </a:stretch>
                    </p:blipFill>
                    <p:spPr bwMode="auto">
                      <a:xfrm>
                        <a:off x="7196138" y="3443288"/>
                        <a:ext cx="3884612" cy="588962"/>
                      </a:xfrm>
                      <a:prstGeom prst="rect">
                        <a:avLst/>
                      </a:prstGeom>
                      <a:noFill/>
                    </p:spPr>
                  </p:pic>
                </p:oleObj>
              </mc:Fallback>
            </mc:AlternateContent>
          </a:graphicData>
        </a:graphic>
      </p:graphicFrame>
      <p:graphicFrame>
        <p:nvGraphicFramePr>
          <p:cNvPr id="23" name="对象 22">
            <a:extLst>
              <a:ext uri="{FF2B5EF4-FFF2-40B4-BE49-F238E27FC236}">
                <a16:creationId xmlns:a16="http://schemas.microsoft.com/office/drawing/2014/main" id="{1D71C413-EBF9-490C-A700-650D08A07AFA}"/>
              </a:ext>
            </a:extLst>
          </p:cNvPr>
          <p:cNvGraphicFramePr>
            <a:graphicFrameLocks noChangeAspect="1"/>
          </p:cNvGraphicFramePr>
          <p:nvPr>
            <p:extLst>
              <p:ext uri="{D42A27DB-BD31-4B8C-83A1-F6EECF244321}">
                <p14:modId xmlns:p14="http://schemas.microsoft.com/office/powerpoint/2010/main" val="3169889394"/>
              </p:ext>
            </p:extLst>
          </p:nvPr>
        </p:nvGraphicFramePr>
        <p:xfrm>
          <a:off x="946150" y="4300002"/>
          <a:ext cx="3305175" cy="530225"/>
        </p:xfrm>
        <a:graphic>
          <a:graphicData uri="http://schemas.openxmlformats.org/presentationml/2006/ole">
            <mc:AlternateContent xmlns:mc="http://schemas.openxmlformats.org/markup-compatibility/2006">
              <mc:Choice xmlns:v="urn:schemas-microsoft-com:vml" Requires="v">
                <p:oleObj name="Equation" r:id="rId14" imgW="1307880" imgH="228600" progId="Equation.DSMT4">
                  <p:embed/>
                </p:oleObj>
              </mc:Choice>
              <mc:Fallback>
                <p:oleObj name="Equation" r:id="rId14" imgW="1307880" imgH="228600" progId="Equation.DSMT4">
                  <p:embed/>
                  <p:pic>
                    <p:nvPicPr>
                      <p:cNvPr id="9" name="对象 8">
                        <a:extLst>
                          <a:ext uri="{FF2B5EF4-FFF2-40B4-BE49-F238E27FC236}">
                            <a16:creationId xmlns:a16="http://schemas.microsoft.com/office/drawing/2014/main" id="{93138E9E-B2BB-4144-BF83-15DED746A814}"/>
                          </a:ext>
                        </a:extLst>
                      </p:cNvPr>
                      <p:cNvPicPr>
                        <a:picLocks noChangeAspect="1" noChangeArrowheads="1"/>
                      </p:cNvPicPr>
                      <p:nvPr/>
                    </p:nvPicPr>
                    <p:blipFill>
                      <a:blip r:embed="rId15"/>
                      <a:srcRect/>
                      <a:stretch>
                        <a:fillRect/>
                      </a:stretch>
                    </p:blipFill>
                    <p:spPr bwMode="auto">
                      <a:xfrm>
                        <a:off x="946150" y="4300002"/>
                        <a:ext cx="3305175" cy="530225"/>
                      </a:xfrm>
                      <a:prstGeom prst="rect">
                        <a:avLst/>
                      </a:prstGeom>
                      <a:noFill/>
                    </p:spPr>
                  </p:pic>
                </p:oleObj>
              </mc:Fallback>
            </mc:AlternateContent>
          </a:graphicData>
        </a:graphic>
      </p:graphicFrame>
      <p:graphicFrame>
        <p:nvGraphicFramePr>
          <p:cNvPr id="24" name="对象 23">
            <a:extLst>
              <a:ext uri="{FF2B5EF4-FFF2-40B4-BE49-F238E27FC236}">
                <a16:creationId xmlns:a16="http://schemas.microsoft.com/office/drawing/2014/main" id="{8820C13C-D842-4878-B7A9-F46255CF2626}"/>
              </a:ext>
            </a:extLst>
          </p:cNvPr>
          <p:cNvGraphicFramePr>
            <a:graphicFrameLocks noChangeAspect="1"/>
          </p:cNvGraphicFramePr>
          <p:nvPr>
            <p:extLst>
              <p:ext uri="{D42A27DB-BD31-4B8C-83A1-F6EECF244321}">
                <p14:modId xmlns:p14="http://schemas.microsoft.com/office/powerpoint/2010/main" val="2845848217"/>
              </p:ext>
            </p:extLst>
          </p:nvPr>
        </p:nvGraphicFramePr>
        <p:xfrm>
          <a:off x="4538663" y="4297363"/>
          <a:ext cx="3113087" cy="530225"/>
        </p:xfrm>
        <a:graphic>
          <a:graphicData uri="http://schemas.openxmlformats.org/presentationml/2006/ole">
            <mc:AlternateContent xmlns:mc="http://schemas.openxmlformats.org/markup-compatibility/2006">
              <mc:Choice xmlns:v="urn:schemas-microsoft-com:vml" Requires="v">
                <p:oleObj name="Equation" r:id="rId16" imgW="1231560" imgH="228600" progId="Equation.DSMT4">
                  <p:embed/>
                </p:oleObj>
              </mc:Choice>
              <mc:Fallback>
                <p:oleObj name="Equation" r:id="rId16" imgW="1231560" imgH="228600" progId="Equation.DSMT4">
                  <p:embed/>
                  <p:pic>
                    <p:nvPicPr>
                      <p:cNvPr id="10" name="对象 9">
                        <a:extLst>
                          <a:ext uri="{FF2B5EF4-FFF2-40B4-BE49-F238E27FC236}">
                            <a16:creationId xmlns:a16="http://schemas.microsoft.com/office/drawing/2014/main" id="{3FA4FB40-7662-4ADD-8B5E-C1674B9E8E44}"/>
                          </a:ext>
                        </a:extLst>
                      </p:cNvPr>
                      <p:cNvPicPr>
                        <a:picLocks noChangeAspect="1" noChangeArrowheads="1"/>
                      </p:cNvPicPr>
                      <p:nvPr/>
                    </p:nvPicPr>
                    <p:blipFill>
                      <a:blip r:embed="rId17"/>
                      <a:srcRect/>
                      <a:stretch>
                        <a:fillRect/>
                      </a:stretch>
                    </p:blipFill>
                    <p:spPr bwMode="auto">
                      <a:xfrm>
                        <a:off x="4538663" y="4297363"/>
                        <a:ext cx="3113087" cy="530225"/>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E92DE266-FF3C-41C7-AEE8-A797BA517190}"/>
              </a:ext>
            </a:extLst>
          </p:cNvPr>
          <p:cNvGraphicFramePr>
            <a:graphicFrameLocks noChangeAspect="1"/>
          </p:cNvGraphicFramePr>
          <p:nvPr>
            <p:extLst>
              <p:ext uri="{D42A27DB-BD31-4B8C-83A1-F6EECF244321}">
                <p14:modId xmlns:p14="http://schemas.microsoft.com/office/powerpoint/2010/main" val="205857187"/>
              </p:ext>
            </p:extLst>
          </p:nvPr>
        </p:nvGraphicFramePr>
        <p:xfrm>
          <a:off x="7946796" y="4208463"/>
          <a:ext cx="4011612" cy="619125"/>
        </p:xfrm>
        <a:graphic>
          <a:graphicData uri="http://schemas.openxmlformats.org/presentationml/2006/ole">
            <mc:AlternateContent xmlns:mc="http://schemas.openxmlformats.org/markup-compatibility/2006">
              <mc:Choice xmlns:v="urn:schemas-microsoft-com:vml" Requires="v">
                <p:oleObj name="Equation" r:id="rId18" imgW="1587240" imgH="266400" progId="Equation.DSMT4">
                  <p:embed/>
                </p:oleObj>
              </mc:Choice>
              <mc:Fallback>
                <p:oleObj name="Equation" r:id="rId18" imgW="1587240" imgH="266400" progId="Equation.DSMT4">
                  <p:embed/>
                  <p:pic>
                    <p:nvPicPr>
                      <p:cNvPr id="11" name="对象 10">
                        <a:extLst>
                          <a:ext uri="{FF2B5EF4-FFF2-40B4-BE49-F238E27FC236}">
                            <a16:creationId xmlns:a16="http://schemas.microsoft.com/office/drawing/2014/main" id="{0DA3100E-D320-403A-853D-DD4080F888A9}"/>
                          </a:ext>
                        </a:extLst>
                      </p:cNvPr>
                      <p:cNvPicPr>
                        <a:picLocks noChangeAspect="1" noChangeArrowheads="1"/>
                      </p:cNvPicPr>
                      <p:nvPr/>
                    </p:nvPicPr>
                    <p:blipFill>
                      <a:blip r:embed="rId19"/>
                      <a:srcRect/>
                      <a:stretch>
                        <a:fillRect/>
                      </a:stretch>
                    </p:blipFill>
                    <p:spPr bwMode="auto">
                      <a:xfrm>
                        <a:off x="7946796" y="4208463"/>
                        <a:ext cx="4011612" cy="619125"/>
                      </a:xfrm>
                      <a:prstGeom prst="rect">
                        <a:avLst/>
                      </a:prstGeom>
                      <a:noFill/>
                    </p:spPr>
                  </p:pic>
                </p:oleObj>
              </mc:Fallback>
            </mc:AlternateContent>
          </a:graphicData>
        </a:graphic>
      </p:graphicFrame>
      <p:graphicFrame>
        <p:nvGraphicFramePr>
          <p:cNvPr id="26" name="对象 25">
            <a:extLst>
              <a:ext uri="{FF2B5EF4-FFF2-40B4-BE49-F238E27FC236}">
                <a16:creationId xmlns:a16="http://schemas.microsoft.com/office/drawing/2014/main" id="{6A92BB96-6142-40B2-997D-C5D430DAF41A}"/>
              </a:ext>
            </a:extLst>
          </p:cNvPr>
          <p:cNvGraphicFramePr>
            <a:graphicFrameLocks noChangeAspect="1"/>
          </p:cNvGraphicFramePr>
          <p:nvPr>
            <p:extLst>
              <p:ext uri="{D42A27DB-BD31-4B8C-83A1-F6EECF244321}">
                <p14:modId xmlns:p14="http://schemas.microsoft.com/office/powerpoint/2010/main" val="573955692"/>
              </p:ext>
            </p:extLst>
          </p:nvPr>
        </p:nvGraphicFramePr>
        <p:xfrm>
          <a:off x="1041400" y="5040313"/>
          <a:ext cx="4814888" cy="531812"/>
        </p:xfrm>
        <a:graphic>
          <a:graphicData uri="http://schemas.openxmlformats.org/presentationml/2006/ole">
            <mc:AlternateContent xmlns:mc="http://schemas.openxmlformats.org/markup-compatibility/2006">
              <mc:Choice xmlns:v="urn:schemas-microsoft-com:vml" Requires="v">
                <p:oleObj name="Equation" r:id="rId20" imgW="1904760" imgH="228600" progId="Equation.DSMT4">
                  <p:embed/>
                </p:oleObj>
              </mc:Choice>
              <mc:Fallback>
                <p:oleObj name="Equation" r:id="rId20" imgW="1904760" imgH="228600" progId="Equation.DSMT4">
                  <p:embed/>
                  <p:pic>
                    <p:nvPicPr>
                      <p:cNvPr id="12" name="对象 11">
                        <a:extLst>
                          <a:ext uri="{FF2B5EF4-FFF2-40B4-BE49-F238E27FC236}">
                            <a16:creationId xmlns:a16="http://schemas.microsoft.com/office/drawing/2014/main" id="{D5CFF1C0-7AA7-4A08-BF41-946202A13149}"/>
                          </a:ext>
                        </a:extLst>
                      </p:cNvPr>
                      <p:cNvPicPr>
                        <a:picLocks noChangeAspect="1" noChangeArrowheads="1"/>
                      </p:cNvPicPr>
                      <p:nvPr/>
                    </p:nvPicPr>
                    <p:blipFill>
                      <a:blip r:embed="rId21"/>
                      <a:srcRect/>
                      <a:stretch>
                        <a:fillRect/>
                      </a:stretch>
                    </p:blipFill>
                    <p:spPr bwMode="auto">
                      <a:xfrm>
                        <a:off x="1041400" y="5040313"/>
                        <a:ext cx="4814888" cy="531812"/>
                      </a:xfrm>
                      <a:prstGeom prst="rect">
                        <a:avLst/>
                      </a:prstGeom>
                      <a:noFill/>
                    </p:spPr>
                  </p:pic>
                </p:oleObj>
              </mc:Fallback>
            </mc:AlternateContent>
          </a:graphicData>
        </a:graphic>
      </p:graphicFrame>
      <p:graphicFrame>
        <p:nvGraphicFramePr>
          <p:cNvPr id="27" name="对象 26">
            <a:extLst>
              <a:ext uri="{FF2B5EF4-FFF2-40B4-BE49-F238E27FC236}">
                <a16:creationId xmlns:a16="http://schemas.microsoft.com/office/drawing/2014/main" id="{E75F1719-1344-404D-8E54-36177CA4BB31}"/>
              </a:ext>
            </a:extLst>
          </p:cNvPr>
          <p:cNvGraphicFramePr>
            <a:graphicFrameLocks noChangeAspect="1"/>
          </p:cNvGraphicFramePr>
          <p:nvPr>
            <p:extLst>
              <p:ext uri="{D42A27DB-BD31-4B8C-83A1-F6EECF244321}">
                <p14:modId xmlns:p14="http://schemas.microsoft.com/office/powerpoint/2010/main" val="1724602139"/>
              </p:ext>
            </p:extLst>
          </p:nvPr>
        </p:nvGraphicFramePr>
        <p:xfrm>
          <a:off x="6499225" y="5091113"/>
          <a:ext cx="3017838" cy="530225"/>
        </p:xfrm>
        <a:graphic>
          <a:graphicData uri="http://schemas.openxmlformats.org/presentationml/2006/ole">
            <mc:AlternateContent xmlns:mc="http://schemas.openxmlformats.org/markup-compatibility/2006">
              <mc:Choice xmlns:v="urn:schemas-microsoft-com:vml" Requires="v">
                <p:oleObj name="Equation" r:id="rId22" imgW="1193760" imgH="228600" progId="Equation.DSMT4">
                  <p:embed/>
                </p:oleObj>
              </mc:Choice>
              <mc:Fallback>
                <p:oleObj name="Equation" r:id="rId22" imgW="1193760" imgH="228600" progId="Equation.DSMT4">
                  <p:embed/>
                  <p:pic>
                    <p:nvPicPr>
                      <p:cNvPr id="13" name="对象 12">
                        <a:extLst>
                          <a:ext uri="{FF2B5EF4-FFF2-40B4-BE49-F238E27FC236}">
                            <a16:creationId xmlns:a16="http://schemas.microsoft.com/office/drawing/2014/main" id="{78FF839A-9D2C-4145-8344-798DBD3DA51F}"/>
                          </a:ext>
                        </a:extLst>
                      </p:cNvPr>
                      <p:cNvPicPr>
                        <a:picLocks noChangeAspect="1" noChangeArrowheads="1"/>
                      </p:cNvPicPr>
                      <p:nvPr/>
                    </p:nvPicPr>
                    <p:blipFill>
                      <a:blip r:embed="rId23"/>
                      <a:srcRect/>
                      <a:stretch>
                        <a:fillRect/>
                      </a:stretch>
                    </p:blipFill>
                    <p:spPr bwMode="auto">
                      <a:xfrm>
                        <a:off x="6499225" y="5091113"/>
                        <a:ext cx="3017838" cy="530225"/>
                      </a:xfrm>
                      <a:prstGeom prst="rect">
                        <a:avLst/>
                      </a:prstGeom>
                      <a:noFill/>
                    </p:spPr>
                  </p:pic>
                </p:oleObj>
              </mc:Fallback>
            </mc:AlternateContent>
          </a:graphicData>
        </a:graphic>
      </p:graphicFrame>
      <p:graphicFrame>
        <p:nvGraphicFramePr>
          <p:cNvPr id="28" name="对象 27">
            <a:extLst>
              <a:ext uri="{FF2B5EF4-FFF2-40B4-BE49-F238E27FC236}">
                <a16:creationId xmlns:a16="http://schemas.microsoft.com/office/drawing/2014/main" id="{F79096FD-DFE7-4642-B859-17E56B525BAB}"/>
              </a:ext>
            </a:extLst>
          </p:cNvPr>
          <p:cNvGraphicFramePr>
            <a:graphicFrameLocks noChangeAspect="1"/>
          </p:cNvGraphicFramePr>
          <p:nvPr>
            <p:extLst>
              <p:ext uri="{D42A27DB-BD31-4B8C-83A1-F6EECF244321}">
                <p14:modId xmlns:p14="http://schemas.microsoft.com/office/powerpoint/2010/main" val="2475101190"/>
              </p:ext>
            </p:extLst>
          </p:nvPr>
        </p:nvGraphicFramePr>
        <p:xfrm>
          <a:off x="946150" y="5680970"/>
          <a:ext cx="3659188" cy="530225"/>
        </p:xfrm>
        <a:graphic>
          <a:graphicData uri="http://schemas.openxmlformats.org/presentationml/2006/ole">
            <mc:AlternateContent xmlns:mc="http://schemas.openxmlformats.org/markup-compatibility/2006">
              <mc:Choice xmlns:v="urn:schemas-microsoft-com:vml" Requires="v">
                <p:oleObj name="Equation" r:id="rId24" imgW="1447560" imgH="228600" progId="Equation.DSMT4">
                  <p:embed/>
                </p:oleObj>
              </mc:Choice>
              <mc:Fallback>
                <p:oleObj name="Equation" r:id="rId24" imgW="1447560" imgH="228600" progId="Equation.DSMT4">
                  <p:embed/>
                  <p:pic>
                    <p:nvPicPr>
                      <p:cNvPr id="14" name="对象 13">
                        <a:extLst>
                          <a:ext uri="{FF2B5EF4-FFF2-40B4-BE49-F238E27FC236}">
                            <a16:creationId xmlns:a16="http://schemas.microsoft.com/office/drawing/2014/main" id="{F6EFD3A3-AB17-45B3-94C8-F788FD3418A3}"/>
                          </a:ext>
                        </a:extLst>
                      </p:cNvPr>
                      <p:cNvPicPr>
                        <a:picLocks noChangeAspect="1" noChangeArrowheads="1"/>
                      </p:cNvPicPr>
                      <p:nvPr/>
                    </p:nvPicPr>
                    <p:blipFill>
                      <a:blip r:embed="rId25"/>
                      <a:srcRect/>
                      <a:stretch>
                        <a:fillRect/>
                      </a:stretch>
                    </p:blipFill>
                    <p:spPr bwMode="auto">
                      <a:xfrm>
                        <a:off x="946150" y="5680970"/>
                        <a:ext cx="3659188" cy="530225"/>
                      </a:xfrm>
                      <a:prstGeom prst="rect">
                        <a:avLst/>
                      </a:prstGeom>
                      <a:noFill/>
                    </p:spPr>
                  </p:pic>
                </p:oleObj>
              </mc:Fallback>
            </mc:AlternateContent>
          </a:graphicData>
        </a:graphic>
      </p:graphicFrame>
      <p:graphicFrame>
        <p:nvGraphicFramePr>
          <p:cNvPr id="29" name="对象 28">
            <a:extLst>
              <a:ext uri="{FF2B5EF4-FFF2-40B4-BE49-F238E27FC236}">
                <a16:creationId xmlns:a16="http://schemas.microsoft.com/office/drawing/2014/main" id="{35EB3584-957B-4951-9EA7-B769D0846DC2}"/>
              </a:ext>
            </a:extLst>
          </p:cNvPr>
          <p:cNvGraphicFramePr>
            <a:graphicFrameLocks noChangeAspect="1"/>
          </p:cNvGraphicFramePr>
          <p:nvPr>
            <p:extLst>
              <p:ext uri="{D42A27DB-BD31-4B8C-83A1-F6EECF244321}">
                <p14:modId xmlns:p14="http://schemas.microsoft.com/office/powerpoint/2010/main" val="2066048180"/>
              </p:ext>
            </p:extLst>
          </p:nvPr>
        </p:nvGraphicFramePr>
        <p:xfrm>
          <a:off x="5360988" y="5624513"/>
          <a:ext cx="3209925" cy="530225"/>
        </p:xfrm>
        <a:graphic>
          <a:graphicData uri="http://schemas.openxmlformats.org/presentationml/2006/ole">
            <mc:AlternateContent xmlns:mc="http://schemas.openxmlformats.org/markup-compatibility/2006">
              <mc:Choice xmlns:v="urn:schemas-microsoft-com:vml" Requires="v">
                <p:oleObj name="Equation" r:id="rId26" imgW="1269720" imgH="228600" progId="Equation.DSMT4">
                  <p:embed/>
                </p:oleObj>
              </mc:Choice>
              <mc:Fallback>
                <p:oleObj name="Equation" r:id="rId26" imgW="1269720" imgH="228600" progId="Equation.DSMT4">
                  <p:embed/>
                  <p:pic>
                    <p:nvPicPr>
                      <p:cNvPr id="15" name="对象 14">
                        <a:extLst>
                          <a:ext uri="{FF2B5EF4-FFF2-40B4-BE49-F238E27FC236}">
                            <a16:creationId xmlns:a16="http://schemas.microsoft.com/office/drawing/2014/main" id="{514FE145-F592-4E97-944E-084948499235}"/>
                          </a:ext>
                        </a:extLst>
                      </p:cNvPr>
                      <p:cNvPicPr>
                        <a:picLocks noChangeAspect="1" noChangeArrowheads="1"/>
                      </p:cNvPicPr>
                      <p:nvPr/>
                    </p:nvPicPr>
                    <p:blipFill>
                      <a:blip r:embed="rId27"/>
                      <a:srcRect/>
                      <a:stretch>
                        <a:fillRect/>
                      </a:stretch>
                    </p:blipFill>
                    <p:spPr bwMode="auto">
                      <a:xfrm>
                        <a:off x="5360988" y="5624513"/>
                        <a:ext cx="3209925" cy="530225"/>
                      </a:xfrm>
                      <a:prstGeom prst="rect">
                        <a:avLst/>
                      </a:prstGeom>
                      <a:noFill/>
                    </p:spPr>
                  </p:pic>
                </p:oleObj>
              </mc:Fallback>
            </mc:AlternateContent>
          </a:graphicData>
        </a:graphic>
      </p:graphicFrame>
      <p:graphicFrame>
        <p:nvGraphicFramePr>
          <p:cNvPr id="30" name="对象 29">
            <a:extLst>
              <a:ext uri="{FF2B5EF4-FFF2-40B4-BE49-F238E27FC236}">
                <a16:creationId xmlns:a16="http://schemas.microsoft.com/office/drawing/2014/main" id="{402CE211-6CBD-475E-9680-8F70F97B78C2}"/>
              </a:ext>
            </a:extLst>
          </p:cNvPr>
          <p:cNvGraphicFramePr>
            <a:graphicFrameLocks noChangeAspect="1"/>
          </p:cNvGraphicFramePr>
          <p:nvPr>
            <p:extLst>
              <p:ext uri="{D42A27DB-BD31-4B8C-83A1-F6EECF244321}">
                <p14:modId xmlns:p14="http://schemas.microsoft.com/office/powerpoint/2010/main" val="3539941787"/>
              </p:ext>
            </p:extLst>
          </p:nvPr>
        </p:nvGraphicFramePr>
        <p:xfrm>
          <a:off x="1679767" y="6245657"/>
          <a:ext cx="8750300" cy="491261"/>
        </p:xfrm>
        <a:graphic>
          <a:graphicData uri="http://schemas.openxmlformats.org/presentationml/2006/ole">
            <mc:AlternateContent xmlns:mc="http://schemas.openxmlformats.org/markup-compatibility/2006">
              <mc:Choice xmlns:v="urn:schemas-microsoft-com:vml" Requires="v">
                <p:oleObj name="Equation" r:id="rId28" imgW="3746160" imgH="228600" progId="Equation.DSMT4">
                  <p:embed/>
                </p:oleObj>
              </mc:Choice>
              <mc:Fallback>
                <p:oleObj name="Equation" r:id="rId28" imgW="3746160" imgH="228600" progId="Equation.DSMT4">
                  <p:embed/>
                  <p:pic>
                    <p:nvPicPr>
                      <p:cNvPr id="3" name="对象 2">
                        <a:extLst>
                          <a:ext uri="{FF2B5EF4-FFF2-40B4-BE49-F238E27FC236}">
                            <a16:creationId xmlns:a16="http://schemas.microsoft.com/office/drawing/2014/main" id="{21968800-D70D-42E0-99E1-0F634F8C5899}"/>
                          </a:ext>
                        </a:extLst>
                      </p:cNvPr>
                      <p:cNvPicPr>
                        <a:picLocks noChangeAspect="1" noChangeArrowheads="1"/>
                      </p:cNvPicPr>
                      <p:nvPr/>
                    </p:nvPicPr>
                    <p:blipFill>
                      <a:blip r:embed="rId29"/>
                      <a:srcRect/>
                      <a:stretch>
                        <a:fillRect/>
                      </a:stretch>
                    </p:blipFill>
                    <p:spPr bwMode="auto">
                      <a:xfrm>
                        <a:off x="1679767" y="6245657"/>
                        <a:ext cx="8750300" cy="491261"/>
                      </a:xfrm>
                      <a:prstGeom prst="rect">
                        <a:avLst/>
                      </a:prstGeom>
                      <a:noFill/>
                    </p:spPr>
                  </p:pic>
                </p:oleObj>
              </mc:Fallback>
            </mc:AlternateContent>
          </a:graphicData>
        </a:graphic>
      </p:graphicFrame>
      <p:sp>
        <p:nvSpPr>
          <p:cNvPr id="3" name="文本框 2">
            <a:extLst>
              <a:ext uri="{FF2B5EF4-FFF2-40B4-BE49-F238E27FC236}">
                <a16:creationId xmlns:a16="http://schemas.microsoft.com/office/drawing/2014/main" id="{1E368CB0-BF28-4061-AF82-2268EFFD5C8E}"/>
              </a:ext>
            </a:extLst>
          </p:cNvPr>
          <p:cNvSpPr txBox="1"/>
          <p:nvPr/>
        </p:nvSpPr>
        <p:spPr>
          <a:xfrm>
            <a:off x="898525" y="6280321"/>
            <a:ext cx="95410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式中：</a:t>
            </a:r>
          </a:p>
        </p:txBody>
      </p:sp>
      <p:sp>
        <p:nvSpPr>
          <p:cNvPr id="31" name="文本框 30">
            <a:extLst>
              <a:ext uri="{FF2B5EF4-FFF2-40B4-BE49-F238E27FC236}">
                <a16:creationId xmlns:a16="http://schemas.microsoft.com/office/drawing/2014/main" id="{1EC3E412-76B2-480E-9577-E50608C48951}"/>
              </a:ext>
            </a:extLst>
          </p:cNvPr>
          <p:cNvSpPr txBox="1"/>
          <p:nvPr/>
        </p:nvSpPr>
        <p:spPr>
          <a:xfrm>
            <a:off x="-1" y="33341"/>
            <a:ext cx="11684643"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 </a:t>
            </a:r>
            <a:r>
              <a:rPr lang="zh-CN" altLang="en-US" sz="3200" b="1" dirty="0">
                <a:solidFill>
                  <a:srgbClr val="9D1317"/>
                </a:solidFill>
                <a:latin typeface="微软雅黑" panose="020B0503020204020204" pitchFamily="34" charset="-122"/>
                <a:ea typeface="微软雅黑" panose="020B0503020204020204" pitchFamily="34" charset="-122"/>
              </a:rPr>
              <a:t>多段轨迹规划：</a:t>
            </a:r>
            <a:r>
              <a:rPr lang="en-US" altLang="zh-CN" sz="3200" b="1" dirty="0">
                <a:solidFill>
                  <a:srgbClr val="9D1317"/>
                </a:solidFill>
                <a:latin typeface="微软雅黑" panose="020B0503020204020204" pitchFamily="34" charset="-122"/>
                <a:ea typeface="微软雅黑" panose="020B0503020204020204" pitchFamily="34" charset="-122"/>
              </a:rPr>
              <a:t>3-5-3</a:t>
            </a:r>
            <a:r>
              <a:rPr lang="zh-CN" altLang="en-US" sz="3200" b="1" dirty="0">
                <a:solidFill>
                  <a:srgbClr val="9D1317"/>
                </a:solidFill>
                <a:latin typeface="微软雅黑" panose="020B0503020204020204" pitchFamily="34" charset="-122"/>
                <a:ea typeface="微软雅黑" panose="020B0503020204020204" pitchFamily="34" charset="-122"/>
              </a:rPr>
              <a:t>规划</a:t>
            </a:r>
          </a:p>
        </p:txBody>
      </p:sp>
    </p:spTree>
    <p:extLst>
      <p:ext uri="{BB962C8B-B14F-4D97-AF65-F5344CB8AC3E}">
        <p14:creationId xmlns:p14="http://schemas.microsoft.com/office/powerpoint/2010/main" val="330754176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ppt_x"/>
                                          </p:val>
                                        </p:tav>
                                        <p:tav tm="100000">
                                          <p:val>
                                            <p:strVal val="#ppt_x"/>
                                          </p:val>
                                        </p:tav>
                                      </p:tavLst>
                                    </p:anim>
                                    <p:anim calcmode="lin" valueType="num">
                                      <p:cBhvr additive="base">
                                        <p:cTn id="44" dur="500" fill="hold"/>
                                        <p:tgtEl>
                                          <p:spTgt spid="26"/>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ppt_x"/>
                                          </p:val>
                                        </p:tav>
                                        <p:tav tm="100000">
                                          <p:val>
                                            <p:strVal val="#ppt_x"/>
                                          </p:val>
                                        </p:tav>
                                      </p:tavLst>
                                    </p:anim>
                                    <p:anim calcmode="lin" valueType="num">
                                      <p:cBhvr additive="base">
                                        <p:cTn id="6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B78F72-8AC8-40A1-AC68-C3247FF9788C}"/>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35</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D1D2DDC2-0302-4D83-BF61-CD22C87704D3}"/>
              </a:ext>
            </a:extLst>
          </p:cNvPr>
          <p:cNvSpPr txBox="1"/>
          <p:nvPr/>
        </p:nvSpPr>
        <p:spPr>
          <a:xfrm>
            <a:off x="0" y="2592730"/>
            <a:ext cx="12192000" cy="1569660"/>
          </a:xfrm>
          <a:prstGeom prst="rect">
            <a:avLst/>
          </a:prstGeom>
          <a:noFill/>
        </p:spPr>
        <p:txBody>
          <a:bodyPr wrap="square" rtlCol="0">
            <a:spAutoFit/>
          </a:bodyPr>
          <a:lstStyle/>
          <a:p>
            <a:pPr algn="ctr"/>
            <a:r>
              <a:rPr lang="en-US" altLang="zh-CN" sz="9600" dirty="0">
                <a:solidFill>
                  <a:schemeClr val="accent4">
                    <a:lumMod val="50000"/>
                  </a:schemeClr>
                </a:solidFill>
                <a:latin typeface="华文隶书" panose="02010800040101010101" pitchFamily="2" charset="-122"/>
                <a:ea typeface="华文隶书" panose="02010800040101010101" pitchFamily="2" charset="-122"/>
              </a:rPr>
              <a:t>End  of  Chapter-7</a:t>
            </a:r>
            <a:endParaRPr lang="zh-CN" altLang="en-US" sz="9600" dirty="0">
              <a:solidFill>
                <a:schemeClr val="accent4">
                  <a:lumMod val="50000"/>
                </a:schemeClr>
              </a:solidFill>
              <a:latin typeface="华文隶书" panose="02010800040101010101" pitchFamily="2" charset="-122"/>
              <a:ea typeface="华文隶书" panose="02010800040101010101" pitchFamily="2" charset="-122"/>
            </a:endParaRPr>
          </a:p>
        </p:txBody>
      </p:sp>
    </p:spTree>
    <p:extLst>
      <p:ext uri="{BB962C8B-B14F-4D97-AF65-F5344CB8AC3E}">
        <p14:creationId xmlns:p14="http://schemas.microsoft.com/office/powerpoint/2010/main" val="314090752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019920-C48D-44F7-9909-5CB02FDABFC6}"/>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36</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F1ADBB32-F4BC-4CBD-B4DC-A24F529FB923}"/>
                  </a:ext>
                </a:extLst>
              </p:cNvPr>
              <p:cNvSpPr/>
              <p:nvPr/>
            </p:nvSpPr>
            <p:spPr>
              <a:xfrm>
                <a:off x="793637" y="1107638"/>
                <a:ext cx="8119249" cy="491288"/>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题</a:t>
                </a: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：已知 </a:t>
                </a: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0</m:t>
                        </m:r>
                      </m:sub>
                    </m:sSub>
                    <m:r>
                      <a:rPr lang="zh-CN" altLang="en-US" sz="2400" i="0">
                        <a:latin typeface="Cambria Math" panose="02040503050406030204" pitchFamily="18" charset="0"/>
                      </a:rPr>
                      <m:t>=0,</m:t>
                    </m:r>
                    <m:r>
                      <a:rPr lang="en-US" altLang="zh-CN" sz="2400" b="0" i="0" smtClean="0">
                        <a:latin typeface="Cambria Math" panose="02040503050406030204" pitchFamily="18" charset="0"/>
                      </a:rPr>
                      <m:t>  </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1">
                            <a:latin typeface="Cambria Math" panose="02040503050406030204" pitchFamily="18" charset="0"/>
                          </a:rPr>
                          <m:t>𝑓</m:t>
                        </m:r>
                      </m:sub>
                    </m:sSub>
                    <m:r>
                      <a:rPr lang="zh-CN" altLang="en-US" sz="2400" i="0">
                        <a:latin typeface="Cambria Math" panose="02040503050406030204" pitchFamily="18" charset="0"/>
                      </a:rPr>
                      <m:t>=90,</m:t>
                    </m:r>
                    <m:r>
                      <a:rPr lang="en-US" altLang="zh-CN" sz="2400" b="0" i="0" smtClean="0">
                        <a:latin typeface="Cambria Math" panose="02040503050406030204" pitchFamily="18" charset="0"/>
                      </a:rPr>
                      <m:t>  </m:t>
                    </m:r>
                    <m:sSub>
                      <m:sSubPr>
                        <m:ctrlPr>
                          <a:rPr lang="zh-CN" altLang="en-US" sz="2400" i="1">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𝑞</m:t>
                            </m:r>
                          </m:e>
                        </m:acc>
                      </m:e>
                      <m:sub>
                        <m:r>
                          <a:rPr lang="zh-CN" altLang="en-US" sz="2400" i="0">
                            <a:latin typeface="Cambria Math" panose="02040503050406030204" pitchFamily="18" charset="0"/>
                          </a:rPr>
                          <m:t>0</m:t>
                        </m:r>
                      </m:sub>
                    </m:sSub>
                    <m:r>
                      <a:rPr lang="zh-CN" altLang="en-US" sz="2400" i="0">
                        <a:latin typeface="Cambria Math" panose="02040503050406030204" pitchFamily="18" charset="0"/>
                      </a:rPr>
                      <m:t>=0,</m:t>
                    </m:r>
                    <m:r>
                      <a:rPr lang="en-US" altLang="zh-CN" sz="2400" b="0" i="0" smtClean="0">
                        <a:latin typeface="Cambria Math" panose="02040503050406030204" pitchFamily="18" charset="0"/>
                      </a:rPr>
                      <m:t>  </m:t>
                    </m:r>
                    <m:sSub>
                      <m:sSubPr>
                        <m:ctrlPr>
                          <a:rPr lang="zh-CN" altLang="en-US" sz="2400" i="1">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𝑞</m:t>
                            </m:r>
                          </m:e>
                        </m:acc>
                      </m:e>
                      <m:sub>
                        <m:r>
                          <a:rPr lang="zh-CN" altLang="en-US" sz="2400" i="1">
                            <a:latin typeface="Cambria Math" panose="02040503050406030204" pitchFamily="18" charset="0"/>
                          </a:rPr>
                          <m:t>𝑓</m:t>
                        </m:r>
                      </m:sub>
                    </m:sSub>
                    <m:r>
                      <a:rPr lang="zh-CN" altLang="en-US" sz="2400" i="0">
                        <a:latin typeface="Cambria Math" panose="02040503050406030204" pitchFamily="18" charset="0"/>
                      </a:rPr>
                      <m:t>=0</m:t>
                    </m:r>
                  </m:oMath>
                </a14:m>
                <a:endParaRPr lang="zh-CN" altLang="en-US" sz="2400" b="1" dirty="0">
                  <a:latin typeface="Times New Roman" panose="02020603050405020304" pitchFamily="18" charset="0"/>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F1ADBB32-F4BC-4CBD-B4DC-A24F529FB923}"/>
                  </a:ext>
                </a:extLst>
              </p:cNvPr>
              <p:cNvSpPr>
                <a:spLocks noRot="1" noChangeAspect="1" noMove="1" noResize="1" noEditPoints="1" noAdjustHandles="1" noChangeArrowheads="1" noChangeShapeType="1" noTextEdit="1"/>
              </p:cNvSpPr>
              <p:nvPr/>
            </p:nvSpPr>
            <p:spPr>
              <a:xfrm>
                <a:off x="793637" y="1107638"/>
                <a:ext cx="8119249" cy="491288"/>
              </a:xfrm>
              <a:prstGeom prst="rect">
                <a:avLst/>
              </a:prstGeom>
              <a:blipFill>
                <a:blip r:embed="rId2"/>
                <a:stretch>
                  <a:fillRect l="-1126" t="-10000" b="-2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5E1B95B-F68B-4BE6-B82D-BE73282AEF6D}"/>
                  </a:ext>
                </a:extLst>
              </p:cNvPr>
              <p:cNvSpPr/>
              <p:nvPr/>
            </p:nvSpPr>
            <p:spPr>
              <a:xfrm>
                <a:off x="793637" y="1695639"/>
                <a:ext cx="11086011" cy="4363887"/>
              </a:xfrm>
              <a:prstGeom prst="rect">
                <a:avLst/>
              </a:prstGeom>
            </p:spPr>
            <p:txBody>
              <a:bodyPr wrap="square">
                <a:spAutoFit/>
              </a:bodyPr>
              <a:lstStyle/>
              <a:p>
                <a:pPr marL="984250" indent="-984250">
                  <a:lnSpc>
                    <a:spcPct val="120000"/>
                  </a:lnSpc>
                  <a:spcBef>
                    <a:spcPts val="1200"/>
                  </a:spcBef>
                  <a:spcAft>
                    <a:spcPts val="600"/>
                  </a:spcAft>
                  <a:tabLst>
                    <a:tab pos="1073150" algn="l"/>
                  </a:tabLst>
                </a:pP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求：</a:t>
                </a: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）令</a:t>
                </a:r>
                <a14:m>
                  <m:oMath xmlns:m="http://schemas.openxmlformats.org/officeDocument/2006/math">
                    <m:sSub>
                      <m:sSubPr>
                        <m:ctrlPr>
                          <a:rPr lang="zh-CN" altLang="en-US"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𝑡</m:t>
                        </m:r>
                      </m:e>
                      <m:sub>
                        <m:r>
                          <a:rPr lang="zh-CN" altLang="en-US" sz="2400" i="1">
                            <a:solidFill>
                              <a:schemeClr val="tx1"/>
                            </a:solidFill>
                            <a:latin typeface="Cambria Math" panose="02040503050406030204" pitchFamily="18" charset="0"/>
                          </a:rPr>
                          <m:t>𝑓</m:t>
                        </m:r>
                      </m:sub>
                    </m:sSub>
                    <m:r>
                      <a:rPr lang="zh-CN" altLang="en-US" sz="2400" i="0">
                        <a:latin typeface="Cambria Math" panose="02040503050406030204" pitchFamily="18" charset="0"/>
                      </a:rPr>
                      <m:t>=</m:t>
                    </m:r>
                    <m:r>
                      <a:rPr lang="en-US" altLang="zh-CN" sz="2400" b="0" i="0" smtClean="0">
                        <a:latin typeface="Cambria Math" panose="02040503050406030204" pitchFamily="18" charset="0"/>
                      </a:rPr>
                      <m:t>6</m:t>
                    </m:r>
                    <m:r>
                      <a:rPr lang="zh-CN" altLang="en-US" sz="2400" i="0">
                        <a:latin typeface="Cambria Math" panose="02040503050406030204" pitchFamily="18" charset="0"/>
                      </a:rPr>
                      <m:t>0</m:t>
                    </m:r>
                  </m:oMath>
                </a14:m>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，用三次多项式规划轨迹，给出多项式结果，画出位置、速度、加速度时间轨迹图；</a:t>
                </a:r>
                <a:endPar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073150" indent="-1073150">
                  <a:lnSpc>
                    <a:spcPct val="120000"/>
                  </a:lnSpc>
                  <a:spcBef>
                    <a:spcPts val="1200"/>
                  </a:spcBef>
                  <a:spcAft>
                    <a:spcPts val="600"/>
                  </a:spcAft>
                </a:pP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2</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）令</a:t>
                </a:r>
                <a14:m>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𝑡</m:t>
                        </m:r>
                      </m:e>
                      <m:sub>
                        <m:r>
                          <a:rPr lang="zh-CN" altLang="en-US" sz="2400" i="1">
                            <a:latin typeface="Cambria Math" panose="02040503050406030204" pitchFamily="18" charset="0"/>
                          </a:rPr>
                          <m:t>𝑓</m:t>
                        </m:r>
                      </m:sub>
                    </m:sSub>
                    <m:r>
                      <a:rPr lang="zh-CN" altLang="en-US" sz="2400">
                        <a:latin typeface="Cambria Math" panose="02040503050406030204" pitchFamily="18" charset="0"/>
                      </a:rPr>
                      <m:t>=</m:t>
                    </m:r>
                    <m:r>
                      <a:rPr lang="en-US" altLang="zh-CN" sz="2400" b="0" i="0" smtClean="0">
                        <a:latin typeface="Cambria Math" panose="02040503050406030204" pitchFamily="18" charset="0"/>
                      </a:rPr>
                      <m:t>6</m:t>
                    </m:r>
                    <m:r>
                      <a:rPr lang="zh-CN" altLang="en-US" sz="2400">
                        <a:latin typeface="Cambria Math" panose="02040503050406030204" pitchFamily="18" charset="0"/>
                      </a:rPr>
                      <m:t>0</m:t>
                    </m:r>
                  </m:oMath>
                </a14:m>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，增加加速度约束 </a:t>
                </a: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𝑞</m:t>
                            </m:r>
                          </m:e>
                        </m:acc>
                      </m:e>
                      <m:sub>
                        <m:r>
                          <a:rPr lang="zh-CN" altLang="en-US" sz="2400" i="0">
                            <a:latin typeface="Cambria Math" panose="02040503050406030204" pitchFamily="18" charset="0"/>
                          </a:rPr>
                          <m:t>0</m:t>
                        </m:r>
                      </m:sub>
                    </m:sSub>
                    <m:r>
                      <a:rPr lang="zh-CN" altLang="en-US" sz="2400" i="0">
                        <a:latin typeface="Cambria Math" panose="02040503050406030204" pitchFamily="18" charset="0"/>
                      </a:rPr>
                      <m:t>=0,</m:t>
                    </m:r>
                    <m:sSub>
                      <m:sSubPr>
                        <m:ctrlPr>
                          <a:rPr lang="zh-CN" altLang="en-US" sz="2400" i="1">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𝑞</m:t>
                            </m:r>
                          </m:e>
                        </m:acc>
                      </m:e>
                      <m:sub>
                        <m:r>
                          <a:rPr lang="zh-CN" altLang="en-US" sz="2400" i="1">
                            <a:latin typeface="Cambria Math" panose="02040503050406030204" pitchFamily="18" charset="0"/>
                          </a:rPr>
                          <m:t>𝑓</m:t>
                        </m:r>
                      </m:sub>
                    </m:sSub>
                    <m:r>
                      <a:rPr lang="zh-CN" altLang="en-US" sz="2400" i="0">
                        <a:latin typeface="Cambria Math" panose="02040503050406030204" pitchFamily="18" charset="0"/>
                      </a:rPr>
                      <m:t>=0</m:t>
                    </m:r>
                  </m:oMath>
                </a14:m>
                <a:r>
                  <a:rPr lang="zh-CN" altLang="en-US" sz="2400" b="1" dirty="0">
                    <a:solidFill>
                      <a:srgbClr val="000000"/>
                    </a:solidFill>
                    <a:latin typeface="Times New Roman" panose="02020603050405020304" pitchFamily="18" charset="0"/>
                    <a:cs typeface="Times New Roman" panose="02020603050405020304" pitchFamily="18" charset="0"/>
                  </a:rPr>
                  <a:t>，</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用五次多项式规划轨迹，给出多项式结果，画出位置、速度、加速度时间轨迹图；</a:t>
                </a:r>
                <a:endPar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984250" indent="-984250">
                  <a:lnSpc>
                    <a:spcPct val="120000"/>
                  </a:lnSpc>
                  <a:spcBef>
                    <a:spcPts val="1200"/>
                  </a:spcBef>
                  <a:spcAft>
                    <a:spcPts val="600"/>
                  </a:spcAft>
                </a:pP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3</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）增加约束 </a:t>
                </a: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𝑞</m:t>
                            </m:r>
                          </m:e>
                        </m:acc>
                      </m:e>
                      <m:sub>
                        <m:r>
                          <a:rPr lang="zh-CN" altLang="en-US" sz="2400" i="1">
                            <a:latin typeface="Cambria Math" panose="02040503050406030204" pitchFamily="18" charset="0"/>
                          </a:rPr>
                          <m:t>𝑚𝑎𝑥</m:t>
                        </m:r>
                      </m:sub>
                    </m:sSub>
                    <m:r>
                      <a:rPr lang="zh-CN" altLang="en-US" sz="2400" i="0">
                        <a:latin typeface="Cambria Math" panose="02040503050406030204" pitchFamily="18" charset="0"/>
                      </a:rPr>
                      <m:t>=1</m:t>
                    </m:r>
                    <m:r>
                      <a:rPr lang="en-US" altLang="zh-CN" sz="2400" b="0" i="0" smtClean="0">
                        <a:latin typeface="Cambria Math" panose="02040503050406030204" pitchFamily="18" charset="0"/>
                      </a:rPr>
                      <m:t>.5</m:t>
                    </m:r>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𝑞</m:t>
                            </m:r>
                          </m:e>
                        </m:acc>
                      </m:e>
                      <m:sub>
                        <m:r>
                          <a:rPr lang="zh-CN" altLang="en-US" sz="2400" i="1">
                            <a:latin typeface="Cambria Math" panose="02040503050406030204" pitchFamily="18" charset="0"/>
                          </a:rPr>
                          <m:t>𝑚𝑎𝑥</m:t>
                        </m:r>
                      </m:sub>
                    </m:sSub>
                    <m:r>
                      <a:rPr lang="zh-CN" altLang="en-US" sz="2400" i="0">
                        <a:latin typeface="Cambria Math" panose="02040503050406030204" pitchFamily="18" charset="0"/>
                      </a:rPr>
                      <m:t>=0.1</m:t>
                    </m:r>
                  </m:oMath>
                </a14:m>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，用三段二次函数规划轨迹，给出各段多项式结果，画出位置、速度、加速度时间轨迹图；</a:t>
                </a:r>
                <a:endPar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073150" indent="-1073150">
                  <a:lnSpc>
                    <a:spcPct val="120000"/>
                  </a:lnSpc>
                  <a:spcBef>
                    <a:spcPts val="1200"/>
                  </a:spcBef>
                  <a:spcAft>
                    <a:spcPts val="600"/>
                  </a:spcAft>
                </a:pP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4</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）增加约束 </a:t>
                </a:r>
                <a:r>
                  <a:rPr lang="en-US" altLang="zh-CN" sz="2400" b="1" i="1"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j</a:t>
                </a:r>
                <a:r>
                  <a:rPr lang="en-US" altLang="zh-CN" sz="2400" b="1" i="1" baseline="-250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max</a:t>
                </a: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=0.02</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a:t>
                </a:r>
                <a:r>
                  <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段最小时间法规划轨迹，给出各段多项式结果，画出位置、速度、加速度、加加速度时间轨迹图。</a:t>
                </a:r>
                <a:endParaRPr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F5E1B95B-F68B-4BE6-B82D-BE73282AEF6D}"/>
                  </a:ext>
                </a:extLst>
              </p:cNvPr>
              <p:cNvSpPr>
                <a:spLocks noRot="1" noChangeAspect="1" noMove="1" noResize="1" noEditPoints="1" noAdjustHandles="1" noChangeArrowheads="1" noChangeShapeType="1" noTextEdit="1"/>
              </p:cNvSpPr>
              <p:nvPr/>
            </p:nvSpPr>
            <p:spPr>
              <a:xfrm>
                <a:off x="793637" y="1695639"/>
                <a:ext cx="11086011" cy="4363887"/>
              </a:xfrm>
              <a:prstGeom prst="rect">
                <a:avLst/>
              </a:prstGeom>
              <a:blipFill>
                <a:blip r:embed="rId3"/>
                <a:stretch>
                  <a:fillRect l="-825" r="-3628" b="-2235"/>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E09457D6-D224-42F4-9508-5EA994918FBA}"/>
              </a:ext>
            </a:extLst>
          </p:cNvPr>
          <p:cNvSpPr txBox="1"/>
          <p:nvPr/>
        </p:nvSpPr>
        <p:spPr>
          <a:xfrm>
            <a:off x="-1" y="33341"/>
            <a:ext cx="12192001" cy="584775"/>
          </a:xfrm>
          <a:prstGeom prst="rect">
            <a:avLst/>
          </a:prstGeom>
          <a:noFill/>
        </p:spPr>
        <p:txBody>
          <a:bodyPr wrap="square" rtlCol="0">
            <a:spAutoFit/>
          </a:bodyPr>
          <a:lstStyle/>
          <a:p>
            <a:pPr algn="ctr"/>
            <a:r>
              <a:rPr lang="zh-CN" altLang="en-US" sz="3200" b="1" dirty="0">
                <a:solidFill>
                  <a:srgbClr val="9D1317"/>
                </a:solidFill>
                <a:latin typeface="微软雅黑" panose="020B0503020204020204" pitchFamily="34" charset="-122"/>
                <a:ea typeface="微软雅黑" panose="020B0503020204020204" pitchFamily="34" charset="-122"/>
              </a:rPr>
              <a:t>作  业</a:t>
            </a:r>
            <a:endParaRPr lang="zh-CN" altLang="en-US" sz="2400" b="1" dirty="0">
              <a:solidFill>
                <a:srgbClr val="9D131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2312607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theme/theme1.xml><?xml version="1.0" encoding="utf-8"?>
<a:theme xmlns:a="http://schemas.openxmlformats.org/drawingml/2006/main" name="山大16v9">
  <a:themeElements>
    <a:clrScheme name="0-红色">
      <a:dk1>
        <a:sysClr val="windowText" lastClr="000000"/>
      </a:dk1>
      <a:lt1>
        <a:sysClr val="window" lastClr="FFFFFF"/>
      </a:lt1>
      <a:dk2>
        <a:srgbClr val="44546A"/>
      </a:dk2>
      <a:lt2>
        <a:srgbClr val="E7E6E6"/>
      </a:lt2>
      <a:accent1>
        <a:srgbClr val="92090E"/>
      </a:accent1>
      <a:accent2>
        <a:srgbClr val="C00000"/>
      </a:accent2>
      <a:accent3>
        <a:srgbClr val="5257BF"/>
      </a:accent3>
      <a:accent4>
        <a:srgbClr val="303274"/>
      </a:accent4>
      <a:accent5>
        <a:srgbClr val="4472C4"/>
      </a:accent5>
      <a:accent6>
        <a:srgbClr val="70AD47"/>
      </a:accent6>
      <a:hlink>
        <a:srgbClr val="0563C1"/>
      </a:hlink>
      <a:folHlink>
        <a:srgbClr val="954F72"/>
      </a:folHlink>
    </a:clrScheme>
    <a:fontScheme name="0-常用">
      <a:majorFont>
        <a:latin typeface="Garamond"/>
        <a:ea typeface="方正小标宋简体"/>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山大16v9" id="{CBFC177C-67BC-4898-B209-AB3BAC7E3599}" vid="{370081A7-E90D-402D-BC69-F624A1726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南开4v3</Template>
  <TotalTime>24130</TotalTime>
  <Words>3559</Words>
  <Application>Microsoft Office PowerPoint</Application>
  <PresentationFormat>宽屏</PresentationFormat>
  <Paragraphs>314</Paragraphs>
  <Slides>36</Slides>
  <Notes>3</Notes>
  <HiddenSlides>0</HiddenSlides>
  <MMClips>1</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2" baseType="lpstr">
      <vt:lpstr>方正小标宋简体</vt:lpstr>
      <vt:lpstr>华文隶书</vt:lpstr>
      <vt:lpstr>华文行楷</vt:lpstr>
      <vt:lpstr>华文中宋</vt:lpstr>
      <vt:lpstr>宋体</vt:lpstr>
      <vt:lpstr>微软雅黑</vt:lpstr>
      <vt:lpstr>微软雅黑 Light</vt:lpstr>
      <vt:lpstr>Arial</vt:lpstr>
      <vt:lpstr>Calibri</vt:lpstr>
      <vt:lpstr>Cambria Math</vt:lpstr>
      <vt:lpstr>Garamond</vt:lpstr>
      <vt:lpstr>Palatino Linotype</vt:lpstr>
      <vt:lpstr>Times New Roman</vt:lpstr>
      <vt:lpstr>Wingdings</vt:lpstr>
      <vt:lpstr>山大16v9</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nyu</dc:creator>
  <cp:lastModifiedBy>轲 徐</cp:lastModifiedBy>
  <cp:revision>1013</cp:revision>
  <cp:lastPrinted>2023-03-06T04:30:28Z</cp:lastPrinted>
  <dcterms:created xsi:type="dcterms:W3CDTF">2022-07-14T06:56:50Z</dcterms:created>
  <dcterms:modified xsi:type="dcterms:W3CDTF">2026-05-15T06:55:49Z</dcterms:modified>
</cp:coreProperties>
</file>