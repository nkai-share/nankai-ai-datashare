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9" r:id="rId2"/>
    <p:sldId id="262" r:id="rId3"/>
    <p:sldId id="318" r:id="rId4"/>
    <p:sldId id="281" r:id="rId5"/>
    <p:sldId id="282" r:id="rId6"/>
    <p:sldId id="319" r:id="rId7"/>
    <p:sldId id="351" r:id="rId8"/>
    <p:sldId id="353" r:id="rId9"/>
    <p:sldId id="352" r:id="rId10"/>
    <p:sldId id="354" r:id="rId11"/>
    <p:sldId id="355" r:id="rId12"/>
    <p:sldId id="356" r:id="rId13"/>
    <p:sldId id="295" r:id="rId14"/>
    <p:sldId id="321" r:id="rId15"/>
    <p:sldId id="296" r:id="rId16"/>
    <p:sldId id="357" r:id="rId17"/>
    <p:sldId id="358" r:id="rId18"/>
    <p:sldId id="359" r:id="rId19"/>
    <p:sldId id="303" r:id="rId20"/>
    <p:sldId id="304" r:id="rId21"/>
    <p:sldId id="360" r:id="rId22"/>
    <p:sldId id="361" r:id="rId23"/>
    <p:sldId id="362" r:id="rId24"/>
    <p:sldId id="363" r:id="rId25"/>
    <p:sldId id="364" r:id="rId26"/>
    <p:sldId id="305" r:id="rId27"/>
    <p:sldId id="373" r:id="rId28"/>
    <p:sldId id="365" r:id="rId29"/>
    <p:sldId id="366" r:id="rId30"/>
    <p:sldId id="367" r:id="rId31"/>
    <p:sldId id="368" r:id="rId32"/>
    <p:sldId id="369" r:id="rId33"/>
    <p:sldId id="370" r:id="rId34"/>
    <p:sldId id="307" r:id="rId35"/>
    <p:sldId id="371" r:id="rId36"/>
    <p:sldId id="374" r:id="rId37"/>
    <p:sldId id="375" r:id="rId38"/>
    <p:sldId id="376" r:id="rId39"/>
    <p:sldId id="308" r:id="rId40"/>
    <p:sldId id="372" r:id="rId41"/>
    <p:sldId id="309" r:id="rId42"/>
    <p:sldId id="322" r:id="rId43"/>
    <p:sldId id="310" r:id="rId44"/>
    <p:sldId id="323" r:id="rId45"/>
    <p:sldId id="316" r:id="rId46"/>
    <p:sldId id="317" r:id="rId47"/>
    <p:sldId id="311"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660"/>
  </p:normalViewPr>
  <p:slideViewPr>
    <p:cSldViewPr snapToGrid="0">
      <p:cViewPr varScale="1">
        <p:scale>
          <a:sx n="92" d="100"/>
          <a:sy n="92" d="100"/>
        </p:scale>
        <p:origin x="872" y="64"/>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2050930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2961947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3769512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2380600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4052165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extLst>
      <p:ext uri="{BB962C8B-B14F-4D97-AF65-F5344CB8AC3E}">
        <p14:creationId xmlns:p14="http://schemas.microsoft.com/office/powerpoint/2010/main" val="4177699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421237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extLst>
      <p:ext uri="{BB962C8B-B14F-4D97-AF65-F5344CB8AC3E}">
        <p14:creationId xmlns:p14="http://schemas.microsoft.com/office/powerpoint/2010/main" val="1573662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extLst>
      <p:ext uri="{BB962C8B-B14F-4D97-AF65-F5344CB8AC3E}">
        <p14:creationId xmlns:p14="http://schemas.microsoft.com/office/powerpoint/2010/main" val="2494275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extLst>
      <p:ext uri="{BB962C8B-B14F-4D97-AF65-F5344CB8AC3E}">
        <p14:creationId xmlns:p14="http://schemas.microsoft.com/office/powerpoint/2010/main" val="3316446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30630517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extLst>
      <p:ext uri="{BB962C8B-B14F-4D97-AF65-F5344CB8AC3E}">
        <p14:creationId xmlns:p14="http://schemas.microsoft.com/office/powerpoint/2010/main" val="1277997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extLst>
      <p:ext uri="{BB962C8B-B14F-4D97-AF65-F5344CB8AC3E}">
        <p14:creationId xmlns:p14="http://schemas.microsoft.com/office/powerpoint/2010/main" val="177337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2010050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36317058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38665782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638516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1381772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extLst>
      <p:ext uri="{BB962C8B-B14F-4D97-AF65-F5344CB8AC3E}">
        <p14:creationId xmlns:p14="http://schemas.microsoft.com/office/powerpoint/2010/main" val="21771297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extLst>
      <p:ext uri="{BB962C8B-B14F-4D97-AF65-F5344CB8AC3E}">
        <p14:creationId xmlns:p14="http://schemas.microsoft.com/office/powerpoint/2010/main" val="1588406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11252756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33989258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extLst>
      <p:ext uri="{BB962C8B-B14F-4D97-AF65-F5344CB8AC3E}">
        <p14:creationId xmlns:p14="http://schemas.microsoft.com/office/powerpoint/2010/main" val="33989258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4132862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2380367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E0D8B92-EFEF-4D49-AC37-555EABA38A24}" type="datetime1">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DB309B7-BFD6-48D1-B1A8-14664AA5C5D3}" type="datetime1">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14F19EF-3458-44EE-ACC7-9985E3AA0FEC}" type="datetime1">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541E38B-1C5F-4FF8-AD40-3229EA81844D}" type="datetime1">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647DA63-7C1A-45BF-B46D-E616D174D6F1}" type="datetime1">
              <a:rPr lang="zh-CN" altLang="en-US" smtClean="0"/>
              <a:t>2026/4/22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99F7C6D-94D8-4119-B977-807A6B42C90D}" type="datetime1">
              <a:rPr lang="zh-CN" altLang="en-US" smtClean="0"/>
              <a:t>2026/4/22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61E6BF7-44F9-4F33-97EA-CF55A117E30F}" type="datetime1">
              <a:rPr lang="zh-CN" altLang="en-US" smtClean="0"/>
              <a:t>2026/4/22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4F4E728-EA5F-4026-9AE8-4E74C28E6816}" type="datetime1">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5FFE467-FD40-4515-BD97-7438602D2B34}" type="datetime1">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7EEA341-1E9E-46BC-90B9-0536D45C4F59}" type="datetime1">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B0922FC-86D5-482D-B84B-B7ABC9F05EE8}" type="datetime1">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BC23DD-5349-48AF-9603-8CEF159824C1}" type="datetime1">
              <a:rPr lang="zh-CN" altLang="en-US" smtClean="0"/>
              <a:t>2026/4/22</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279475" y="6356351"/>
            <a:ext cx="77620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slide" Target="slide2.xml"/><Relationship Id="rId7" Type="http://schemas.openxmlformats.org/officeDocument/2006/relationships/slide" Target="slide19.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slide" Target="slide47.xml"/><Relationship Id="rId4" Type="http://schemas.openxmlformats.org/officeDocument/2006/relationships/slide" Target="slide13.xml"/><Relationship Id="rId9" Type="http://schemas.openxmlformats.org/officeDocument/2006/relationships/slide" Target="slide4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6.bin"/><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17.bin"/><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2.wmf"/><Relationship Id="rId2" Type="http://schemas.openxmlformats.org/officeDocument/2006/relationships/notesSlide" Target="../notesSlides/notesSlide19.xml"/><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image" Target="../media/image24.png"/><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5.bin"/><Relationship Id="rId14" Type="http://schemas.openxmlformats.org/officeDocument/2006/relationships/image" Target="../media/image23.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9.emf"/><Relationship Id="rId3" Type="http://schemas.openxmlformats.org/officeDocument/2006/relationships/image" Target="../media/image17.png"/><Relationship Id="rId7" Type="http://schemas.openxmlformats.org/officeDocument/2006/relationships/image" Target="../media/image26.wmf"/><Relationship Id="rId12" Type="http://schemas.openxmlformats.org/officeDocument/2006/relationships/oleObject" Target="../embeddings/oleObject22.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28.wmf"/><Relationship Id="rId5" Type="http://schemas.openxmlformats.org/officeDocument/2006/relationships/image" Target="../media/image25.wmf"/><Relationship Id="rId15" Type="http://schemas.openxmlformats.org/officeDocument/2006/relationships/image" Target="../media/image30.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7.wmf"/><Relationship Id="rId14" Type="http://schemas.openxmlformats.org/officeDocument/2006/relationships/oleObject" Target="../embeddings/oleObject23.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24.bin"/><Relationship Id="rId7"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2.wmf"/><Relationship Id="rId11" Type="http://schemas.openxmlformats.org/officeDocument/2006/relationships/image" Target="../media/image34.emf"/><Relationship Id="rId5" Type="http://schemas.openxmlformats.org/officeDocument/2006/relationships/oleObject" Target="../embeddings/oleObject25.bin"/><Relationship Id="rId10" Type="http://schemas.openxmlformats.org/officeDocument/2006/relationships/oleObject" Target="../embeddings/oleObject26.bin"/><Relationship Id="rId4" Type="http://schemas.openxmlformats.org/officeDocument/2006/relationships/image" Target="../media/image31.wmf"/><Relationship Id="rId9" Type="http://schemas.openxmlformats.org/officeDocument/2006/relationships/image" Target="../media/image28.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33.png"/><Relationship Id="rId7" Type="http://schemas.openxmlformats.org/officeDocument/2006/relationships/image" Target="../media/image32.wmf"/><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oleObject" Target="../embeddings/oleObject25.bin"/><Relationship Id="rId5" Type="http://schemas.openxmlformats.org/officeDocument/2006/relationships/image" Target="../media/image31.wmf"/><Relationship Id="rId4" Type="http://schemas.openxmlformats.org/officeDocument/2006/relationships/oleObject" Target="../embeddings/oleObject24.bin"/><Relationship Id="rId9" Type="http://schemas.openxmlformats.org/officeDocument/2006/relationships/image" Target="../media/image35.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oleObject" Target="../embeddings/oleObject29.bin"/><Relationship Id="rId4" Type="http://schemas.openxmlformats.org/officeDocument/2006/relationships/image" Target="../media/image36.wmf"/></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oleObject" Target="../embeddings/oleObject30.bin"/><Relationship Id="rId7" Type="http://schemas.openxmlformats.org/officeDocument/2006/relationships/image" Target="../media/image41.wmf"/><Relationship Id="rId2" Type="http://schemas.openxmlformats.org/officeDocument/2006/relationships/image" Target="../media/image39.wmf"/><Relationship Id="rId1" Type="http://schemas.openxmlformats.org/officeDocument/2006/relationships/slideLayout" Target="../slideLayouts/slideLayout2.xml"/><Relationship Id="rId6" Type="http://schemas.openxmlformats.org/officeDocument/2006/relationships/oleObject" Target="../embeddings/oleObject31.bin"/><Relationship Id="rId11" Type="http://schemas.openxmlformats.org/officeDocument/2006/relationships/image" Target="../media/image43.wmf"/><Relationship Id="rId5" Type="http://schemas.openxmlformats.org/officeDocument/2006/relationships/image" Target="../media/image38.png"/><Relationship Id="rId10" Type="http://schemas.openxmlformats.org/officeDocument/2006/relationships/oleObject" Target="../embeddings/oleObject33.bin"/><Relationship Id="rId4" Type="http://schemas.openxmlformats.org/officeDocument/2006/relationships/image" Target="../media/image40.wmf"/><Relationship Id="rId9" Type="http://schemas.openxmlformats.org/officeDocument/2006/relationships/image" Target="../media/image42.wmf"/></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5.w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oleObject" Target="../embeddings/oleObject35.bin"/><Relationship Id="rId5" Type="http://schemas.openxmlformats.org/officeDocument/2006/relationships/image" Target="../media/image44.wmf"/><Relationship Id="rId4" Type="http://schemas.openxmlformats.org/officeDocument/2006/relationships/oleObject" Target="../embeddings/oleObject3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image" Target="../media/image38.png"/><Relationship Id="rId7" Type="http://schemas.openxmlformats.org/officeDocument/2006/relationships/image" Target="../media/image47.wmf"/><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oleObject" Target="../embeddings/oleObject37.bin"/><Relationship Id="rId5" Type="http://schemas.openxmlformats.org/officeDocument/2006/relationships/image" Target="../media/image46.wmf"/><Relationship Id="rId4" Type="http://schemas.openxmlformats.org/officeDocument/2006/relationships/oleObject" Target="../embeddings/oleObject36.bin"/><Relationship Id="rId9" Type="http://schemas.openxmlformats.org/officeDocument/2006/relationships/image" Target="../media/image48.wmf"/></Relationships>
</file>

<file path=ppt/slides/_rels/slide30.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39.bin"/><Relationship Id="rId1"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image" Target="../media/image50.wmf"/><Relationship Id="rId4" Type="http://schemas.openxmlformats.org/officeDocument/2006/relationships/oleObject" Target="../embeddings/oleObject40.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41.bin"/><Relationship Id="rId1" Type="http://schemas.openxmlformats.org/officeDocument/2006/relationships/slideLayout" Target="../slideLayouts/slideLayout7.xml"/><Relationship Id="rId6" Type="http://schemas.openxmlformats.org/officeDocument/2006/relationships/oleObject" Target="../embeddings/oleObject43.bin"/><Relationship Id="rId5" Type="http://schemas.openxmlformats.org/officeDocument/2006/relationships/image" Target="../media/image52.wmf"/><Relationship Id="rId4" Type="http://schemas.openxmlformats.org/officeDocument/2006/relationships/oleObject" Target="../embeddings/oleObject42.bin"/><Relationship Id="rId9" Type="http://schemas.openxmlformats.org/officeDocument/2006/relationships/image" Target="../media/image54.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55.wmf"/><Relationship Id="rId7" Type="http://schemas.openxmlformats.org/officeDocument/2006/relationships/image" Target="../media/image56.emf"/><Relationship Id="rId2" Type="http://schemas.openxmlformats.org/officeDocument/2006/relationships/oleObject" Target="../embeddings/oleObject45.bin"/><Relationship Id="rId1" Type="http://schemas.openxmlformats.org/officeDocument/2006/relationships/slideLayout" Target="../slideLayouts/slideLayout7.xml"/><Relationship Id="rId6" Type="http://schemas.openxmlformats.org/officeDocument/2006/relationships/oleObject" Target="../embeddings/oleObject46.bin"/><Relationship Id="rId11" Type="http://schemas.openxmlformats.org/officeDocument/2006/relationships/image" Target="../media/image58.emf"/><Relationship Id="rId5" Type="http://schemas.openxmlformats.org/officeDocument/2006/relationships/image" Target="../media/image52.wmf"/><Relationship Id="rId10" Type="http://schemas.openxmlformats.org/officeDocument/2006/relationships/oleObject" Target="../embeddings/oleObject48.bin"/><Relationship Id="rId4" Type="http://schemas.openxmlformats.org/officeDocument/2006/relationships/oleObject" Target="../embeddings/oleObject42.bin"/><Relationship Id="rId9" Type="http://schemas.openxmlformats.org/officeDocument/2006/relationships/image" Target="../media/image57.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50">
            <a:extLst>
              <a:ext uri="{FF2B5EF4-FFF2-40B4-BE49-F238E27FC236}">
                <a16:creationId xmlns:a16="http://schemas.microsoft.com/office/drawing/2014/main" id="{9A4AE14B-3B6B-4FE1-9403-43B3AA775C5D}"/>
              </a:ext>
            </a:extLst>
          </p:cNvPr>
          <p:cNvSpPr/>
          <p:nvPr/>
        </p:nvSpPr>
        <p:spPr>
          <a:xfrm flipH="1">
            <a:off x="1303497" y="2155520"/>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39">
            <a:extLst>
              <a:ext uri="{FF2B5EF4-FFF2-40B4-BE49-F238E27FC236}">
                <a16:creationId xmlns:a16="http://schemas.microsoft.com/office/drawing/2014/main" id="{84A85D58-A656-4D8C-B124-40B5D4DE3D3D}"/>
              </a:ext>
            </a:extLst>
          </p:cNvPr>
          <p:cNvSpPr/>
          <p:nvPr/>
        </p:nvSpPr>
        <p:spPr>
          <a:xfrm rot="10800000" flipV="1">
            <a:off x="348139" y="2130755"/>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宋体" panose="02010600030101010101" pitchFamily="2" charset="-122"/>
                <a:cs typeface="Arial" panose="020B0604020202020204" pitchFamily="34" charset="0"/>
                <a:sym typeface="+mn-ea"/>
              </a:rPr>
              <a:t>6</a:t>
            </a:r>
            <a:endParaRPr lang="zh-CN" altLang="en-US" sz="6000" b="1" dirty="0">
              <a:latin typeface="Arial" panose="020B0604020202020204" pitchFamily="34" charset="0"/>
              <a:cs typeface="Arial" panose="020B0604020202020204" pitchFamily="34" charset="0"/>
            </a:endParaRPr>
          </a:p>
        </p:txBody>
      </p:sp>
      <p:sp>
        <p:nvSpPr>
          <p:cNvPr id="23" name="文本框 41">
            <a:extLst>
              <a:ext uri="{FF2B5EF4-FFF2-40B4-BE49-F238E27FC236}">
                <a16:creationId xmlns:a16="http://schemas.microsoft.com/office/drawing/2014/main" id="{3EA9ED22-AA5E-4E17-B0EC-7DFD74C685FF}"/>
              </a:ext>
            </a:extLst>
          </p:cNvPr>
          <p:cNvSpPr txBox="1"/>
          <p:nvPr/>
        </p:nvSpPr>
        <p:spPr>
          <a:xfrm>
            <a:off x="2622698" y="2377134"/>
            <a:ext cx="4041487" cy="769439"/>
          </a:xfrm>
          <a:prstGeom prst="rect">
            <a:avLst/>
          </a:prstGeom>
          <a:noFill/>
        </p:spPr>
        <p:txBody>
          <a:bodyPr wrap="none" lIns="91438" tIns="45719" rIns="91438" bIns="45719" rtlCol="0">
            <a:spAutoFit/>
          </a:bodyPr>
          <a:lstStyle/>
          <a:p>
            <a:r>
              <a:rPr lang="zh-CN" altLang="en-US" sz="4400" b="1" spc="600">
                <a:solidFill>
                  <a:schemeClr val="bg1"/>
                </a:solidFill>
                <a:latin typeface="宋体" panose="02010600030101010101" pitchFamily="2" charset="-122"/>
                <a:ea typeface="宋体" panose="02010600030101010101" pitchFamily="2" charset="-122"/>
                <a:sym typeface="+mn-ea"/>
              </a:rPr>
              <a:t>压电式传感器</a:t>
            </a:r>
            <a:endParaRPr lang="zh-CN" altLang="en-US" sz="4400" b="1" spc="600" dirty="0">
              <a:solidFill>
                <a:schemeClr val="bg1"/>
              </a:solidFill>
              <a:latin typeface="宋体" panose="02010600030101010101" pitchFamily="2" charset="-122"/>
              <a:ea typeface="宋体" panose="02010600030101010101" pitchFamily="2" charset="-122"/>
              <a:sym typeface="+mn-ea"/>
            </a:endParaRPr>
          </a:p>
        </p:txBody>
      </p:sp>
      <p:grpSp>
        <p:nvGrpSpPr>
          <p:cNvPr id="24" name="组 2">
            <a:extLst>
              <a:ext uri="{FF2B5EF4-FFF2-40B4-BE49-F238E27FC236}">
                <a16:creationId xmlns:a16="http://schemas.microsoft.com/office/drawing/2014/main" id="{B8E24DFD-33D7-4FEF-9F3F-4F4A61E797AE}"/>
              </a:ext>
            </a:extLst>
          </p:cNvPr>
          <p:cNvGrpSpPr/>
          <p:nvPr/>
        </p:nvGrpSpPr>
        <p:grpSpPr>
          <a:xfrm>
            <a:off x="-15717" y="2142184"/>
            <a:ext cx="181928" cy="1285240"/>
            <a:chOff x="-21102" y="2858492"/>
            <a:chExt cx="242777" cy="1285286"/>
          </a:xfrm>
        </p:grpSpPr>
        <p:sp>
          <p:nvSpPr>
            <p:cNvPr id="25" name="圆角矩形 45">
              <a:extLst>
                <a:ext uri="{FF2B5EF4-FFF2-40B4-BE49-F238E27FC236}">
                  <a16:creationId xmlns:a16="http://schemas.microsoft.com/office/drawing/2014/main" id="{CA39BEBB-BB1D-4068-A589-EE63F2BE169E}"/>
                </a:ext>
              </a:extLst>
            </p:cNvPr>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46">
              <a:extLst>
                <a:ext uri="{FF2B5EF4-FFF2-40B4-BE49-F238E27FC236}">
                  <a16:creationId xmlns:a16="http://schemas.microsoft.com/office/drawing/2014/main" id="{8A3CBEAE-41D0-4865-A4D9-A2FBE6E2DFE6}"/>
                </a:ext>
              </a:extLst>
            </p:cNvPr>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47">
              <a:extLst>
                <a:ext uri="{FF2B5EF4-FFF2-40B4-BE49-F238E27FC236}">
                  <a16:creationId xmlns:a16="http://schemas.microsoft.com/office/drawing/2014/main" id="{2CE12580-E128-47B5-803A-D789C29B0E2B}"/>
                </a:ext>
              </a:extLst>
            </p:cNvPr>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48">
              <a:extLst>
                <a:ext uri="{FF2B5EF4-FFF2-40B4-BE49-F238E27FC236}">
                  <a16:creationId xmlns:a16="http://schemas.microsoft.com/office/drawing/2014/main" id="{BB9E7DC0-9549-4113-ABBC-48069B2BAB85}"/>
                </a:ext>
              </a:extLst>
            </p:cNvPr>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44">
              <a:extLst>
                <a:ext uri="{FF2B5EF4-FFF2-40B4-BE49-F238E27FC236}">
                  <a16:creationId xmlns:a16="http://schemas.microsoft.com/office/drawing/2014/main" id="{5FF9530A-59FC-4F42-B8CB-CC995325E15F}"/>
                </a:ext>
              </a:extLst>
            </p:cNvPr>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TextBox 40">
            <a:extLst>
              <a:ext uri="{FF2B5EF4-FFF2-40B4-BE49-F238E27FC236}">
                <a16:creationId xmlns:a16="http://schemas.microsoft.com/office/drawing/2014/main" id="{EF85BA8E-D63D-4494-A903-7F4BACAE3114}"/>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a:t>
            </a:r>
            <a:endParaRPr lang="zh-CN" alt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p:cNvSpPr/>
          <p:nvPr/>
        </p:nvSpPr>
        <p:spPr>
          <a:xfrm>
            <a:off x="1960200" y="329520"/>
            <a:ext cx="2810377" cy="615549"/>
          </a:xfrm>
          <a:prstGeom prst="rect">
            <a:avLst/>
          </a:prstGeom>
        </p:spPr>
        <p:txBody>
          <a:bodyPr wrap="none" lIns="91436" tIns="45718" rIns="91436" bIns="45718">
            <a:spAutoFit/>
          </a:bodyPr>
          <a:lstStyle/>
          <a:p>
            <a:pPr marL="9525" indent="-9525"/>
            <a:r>
              <a:rPr lang="zh-CN" altLang="en-US" sz="3400" b="1" dirty="0">
                <a:solidFill>
                  <a:schemeClr val="bg1"/>
                </a:solidFill>
                <a:latin typeface="宋体" panose="02010600030101010101" pitchFamily="2" charset="-122"/>
                <a:ea typeface="宋体" panose="02010600030101010101" pitchFamily="2" charset="-122"/>
              </a:rPr>
              <a:t>压电式传感器</a:t>
            </a:r>
          </a:p>
        </p:txBody>
      </p:sp>
      <p:sp>
        <p:nvSpPr>
          <p:cNvPr id="22" name="Rectangle 3"/>
          <p:cNvSpPr txBox="1">
            <a:spLocks noRot="1" noChangeArrowheads="1"/>
          </p:cNvSpPr>
          <p:nvPr/>
        </p:nvSpPr>
        <p:spPr>
          <a:xfrm>
            <a:off x="1057194" y="3582912"/>
            <a:ext cx="3103396" cy="24898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Font typeface="Wingdings" pitchFamily="2" charset="2"/>
              <a:buNone/>
            </a:pPr>
            <a:r>
              <a:rPr lang="zh-CN" altLang="en-US" sz="2400" b="1" dirty="0">
                <a:latin typeface="宋体" panose="02010600030101010101" pitchFamily="2" charset="-122"/>
                <a:ea typeface="宋体" panose="02010600030101010101" pitchFamily="2" charset="-122"/>
              </a:rPr>
              <a:t>石英晶体的压电效应早在</a:t>
            </a:r>
            <a:r>
              <a:rPr lang="en-US" altLang="zh-CN" sz="2400" b="1" dirty="0">
                <a:latin typeface="宋体" panose="02010600030101010101" pitchFamily="2" charset="-122"/>
                <a:ea typeface="宋体" panose="02010600030101010101" pitchFamily="2" charset="-122"/>
              </a:rPr>
              <a:t>1880</a:t>
            </a:r>
            <a:r>
              <a:rPr lang="zh-CN" altLang="en-US" sz="2400" b="1" dirty="0">
                <a:latin typeface="宋体" panose="02010600030101010101" pitchFamily="2" charset="-122"/>
                <a:ea typeface="宋体" panose="02010600030101010101" pitchFamily="2" charset="-122"/>
              </a:rPr>
              <a:t>年即已发现，</a:t>
            </a:r>
            <a:r>
              <a:rPr lang="en-US" altLang="zh-CN" sz="2400" b="1" dirty="0">
                <a:latin typeface="宋体" panose="02010600030101010101" pitchFamily="2" charset="-122"/>
                <a:ea typeface="宋体" panose="02010600030101010101" pitchFamily="2" charset="-122"/>
              </a:rPr>
              <a:t>1948</a:t>
            </a:r>
            <a:r>
              <a:rPr lang="zh-CN" altLang="en-US" sz="2400" b="1" dirty="0">
                <a:latin typeface="宋体" panose="02010600030101010101" pitchFamily="2" charset="-122"/>
                <a:ea typeface="宋体" panose="02010600030101010101" pitchFamily="2" charset="-122"/>
              </a:rPr>
              <a:t>年制作出第一个石英传感器。</a:t>
            </a:r>
          </a:p>
        </p:txBody>
      </p:sp>
      <p:pic>
        <p:nvPicPr>
          <p:cNvPr id="26" name="Picture 39" descr="abc307_01_p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775300"/>
            <a:ext cx="3671887"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文本框 3"/>
          <p:cNvSpPr txBox="1"/>
          <p:nvPr/>
        </p:nvSpPr>
        <p:spPr>
          <a:xfrm>
            <a:off x="1064508" y="1403004"/>
            <a:ext cx="6359325"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Piezoelectric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4" name="矩形 3"/>
          <p:cNvSpPr/>
          <p:nvPr/>
        </p:nvSpPr>
        <p:spPr>
          <a:xfrm>
            <a:off x="1079225" y="1960581"/>
            <a:ext cx="4373696" cy="683264"/>
          </a:xfrm>
          <a:prstGeom prst="rect">
            <a:avLst/>
          </a:prstGeom>
        </p:spPr>
        <p:txBody>
          <a:bodyPr wrap="square">
            <a:spAutoFit/>
          </a:bodyPr>
          <a:lstStyle/>
          <a:p>
            <a:pPr lvl="0">
              <a:lnSpc>
                <a:spcPct val="160000"/>
              </a:lnSpc>
            </a:pPr>
            <a:r>
              <a:rPr lang="zh-CN" altLang="en-US" sz="2400" b="1" dirty="0">
                <a:solidFill>
                  <a:prstClr val="black"/>
                </a:solidFill>
                <a:latin typeface="宋体" panose="02010600030101010101" pitchFamily="2" charset="-122"/>
                <a:ea typeface="宋体" panose="02010600030101010101" pitchFamily="2" charset="-122"/>
              </a:rPr>
              <a:t>一种有源的双向机电传感器。</a:t>
            </a:r>
            <a:endParaRPr lang="en-US" altLang="zh-CN" sz="2400" b="1" dirty="0">
              <a:solidFill>
                <a:prstClr val="black"/>
              </a:solidFill>
              <a:latin typeface="宋体" panose="02010600030101010101" pitchFamily="2" charset="-122"/>
              <a:ea typeface="宋体" panose="02010600030101010101" pitchFamily="2" charset="-122"/>
            </a:endParaRPr>
          </a:p>
        </p:txBody>
      </p:sp>
      <p:sp>
        <p:nvSpPr>
          <p:cNvPr id="8" name="矩形 7"/>
          <p:cNvSpPr/>
          <p:nvPr/>
        </p:nvSpPr>
        <p:spPr>
          <a:xfrm>
            <a:off x="1079225" y="2722888"/>
            <a:ext cx="5370283" cy="683264"/>
          </a:xfrm>
          <a:prstGeom prst="rect">
            <a:avLst/>
          </a:prstGeom>
        </p:spPr>
        <p:txBody>
          <a:bodyPr wrap="square">
            <a:spAutoFit/>
          </a:bodyPr>
          <a:lstStyle/>
          <a:p>
            <a:pPr lvl="0">
              <a:lnSpc>
                <a:spcPct val="160000"/>
              </a:lnSpc>
            </a:pPr>
            <a:r>
              <a:rPr lang="zh-CN" altLang="en-US" sz="2400" b="1" dirty="0">
                <a:solidFill>
                  <a:prstClr val="black"/>
                </a:solidFill>
                <a:latin typeface="宋体" panose="02010600030101010101" pitchFamily="2" charset="-122"/>
                <a:ea typeface="宋体" panose="02010600030101010101" pitchFamily="2" charset="-122"/>
              </a:rPr>
              <a:t>工作原理：基于压电材料的压电效应。</a:t>
            </a:r>
            <a:endParaRPr lang="en-US" altLang="zh-CN" sz="2400" b="1" dirty="0">
              <a:solidFill>
                <a:prstClr val="black"/>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F54DB26F-6C7A-457E-AB5F-B9D7CECEC4B7}"/>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圆角矩形 72"/>
          <p:cNvSpPr/>
          <p:nvPr/>
        </p:nvSpPr>
        <p:spPr>
          <a:xfrm rot="10800000" flipV="1">
            <a:off x="1473427" y="946513"/>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6.1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1473428" y="1744382"/>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6.2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2624387" y="859707"/>
            <a:ext cx="183254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sym typeface="+mn-ea"/>
                <a:hlinkClick r:id="rId2" action="ppaction://hlinksldjump"/>
              </a:rPr>
              <a:t>压电效应</a:t>
            </a:r>
            <a:endParaRPr lang="zh-CN" altLang="en-US" sz="3200" b="1" dirty="0">
              <a:solidFill>
                <a:schemeClr val="tx2"/>
              </a:solidFill>
              <a:latin typeface="宋体" panose="02010600030101010101" pitchFamily="2" charset="-122"/>
              <a:ea typeface="宋体" panose="02010600030101010101" pitchFamily="2" charset="-122"/>
              <a:sym typeface="+mn-ea"/>
            </a:endParaRPr>
          </a:p>
        </p:txBody>
      </p:sp>
      <p:sp>
        <p:nvSpPr>
          <p:cNvPr id="88" name="文本框 87">
            <a:hlinkClick r:id="rId3" action="ppaction://hlinksldjump"/>
          </p:cNvPr>
          <p:cNvSpPr txBox="1"/>
          <p:nvPr/>
        </p:nvSpPr>
        <p:spPr>
          <a:xfrm>
            <a:off x="2624387" y="1643235"/>
            <a:ext cx="183254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sym typeface="+mn-ea"/>
                <a:hlinkClick r:id="rId4" action="ppaction://hlinksldjump"/>
              </a:rPr>
              <a:t>压电材料</a:t>
            </a:r>
            <a:endParaRPr lang="zh-CN" altLang="en-US" sz="3200" b="1" dirty="0">
              <a:solidFill>
                <a:schemeClr val="tx2"/>
              </a:solidFill>
              <a:latin typeface="宋体" panose="02010600030101010101" pitchFamily="2" charset="-122"/>
              <a:ea typeface="宋体" panose="02010600030101010101" pitchFamily="2" charset="-122"/>
              <a:sym typeface="+mn-ea"/>
            </a:endParaRPr>
          </a:p>
        </p:txBody>
      </p:sp>
      <p:sp>
        <p:nvSpPr>
          <p:cNvPr id="16" name="圆角矩形 72"/>
          <p:cNvSpPr/>
          <p:nvPr/>
        </p:nvSpPr>
        <p:spPr>
          <a:xfrm rot="10800000" flipV="1">
            <a:off x="1473427" y="5733738"/>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200" b="1" dirty="0">
              <a:latin typeface="宋体" panose="02010600030101010101" pitchFamily="2" charset="-122"/>
              <a:ea typeface="宋体" panose="02010600030101010101" pitchFamily="2" charset="-122"/>
            </a:endParaRPr>
          </a:p>
        </p:txBody>
      </p:sp>
      <p:sp>
        <p:nvSpPr>
          <p:cNvPr id="18" name="文本框 17"/>
          <p:cNvSpPr txBox="1"/>
          <p:nvPr/>
        </p:nvSpPr>
        <p:spPr>
          <a:xfrm>
            <a:off x="2624387" y="5560874"/>
            <a:ext cx="183254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5" action="ppaction://hlinksldjump"/>
              </a:rPr>
              <a:t>本章要点</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31" name="圆角矩形 30"/>
          <p:cNvSpPr/>
          <p:nvPr/>
        </p:nvSpPr>
        <p:spPr>
          <a:xfrm rot="10800000" flipV="1">
            <a:off x="1473427" y="2542255"/>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6.3</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2" name="圆角矩形 31"/>
          <p:cNvSpPr/>
          <p:nvPr/>
        </p:nvSpPr>
        <p:spPr>
          <a:xfrm rot="10800000" flipV="1">
            <a:off x="1473428" y="3340125"/>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6.4</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3" name="文本框 32"/>
          <p:cNvSpPr txBox="1"/>
          <p:nvPr/>
        </p:nvSpPr>
        <p:spPr>
          <a:xfrm>
            <a:off x="2624387" y="2426763"/>
            <a:ext cx="183254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sym typeface="+mn-ea"/>
                <a:hlinkClick r:id="rId6" action="ppaction://hlinksldjump"/>
              </a:rPr>
              <a:t>等效电路</a:t>
            </a:r>
            <a:endParaRPr lang="zh-CN" altLang="en-US" sz="3200" b="1" dirty="0">
              <a:solidFill>
                <a:schemeClr val="tx2"/>
              </a:solidFill>
              <a:latin typeface="宋体" panose="02010600030101010101" pitchFamily="2" charset="-122"/>
              <a:ea typeface="宋体" panose="02010600030101010101" pitchFamily="2" charset="-122"/>
              <a:sym typeface="+mn-ea"/>
            </a:endParaRPr>
          </a:p>
        </p:txBody>
      </p:sp>
      <p:sp>
        <p:nvSpPr>
          <p:cNvPr id="34" name="文本框 33">
            <a:hlinkClick r:id="rId3" action="ppaction://hlinksldjump"/>
          </p:cNvPr>
          <p:cNvSpPr txBox="1"/>
          <p:nvPr/>
        </p:nvSpPr>
        <p:spPr>
          <a:xfrm>
            <a:off x="2624387" y="3210291"/>
            <a:ext cx="183254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sym typeface="+mn-ea"/>
                <a:hlinkClick r:id="rId7" action="ppaction://hlinksldjump"/>
              </a:rPr>
              <a:t>测量电路</a:t>
            </a:r>
            <a:endParaRPr lang="zh-CN" altLang="en-US" sz="3200" b="1" dirty="0">
              <a:solidFill>
                <a:schemeClr val="tx2"/>
              </a:solidFill>
              <a:latin typeface="宋体" panose="02010600030101010101" pitchFamily="2" charset="-122"/>
              <a:ea typeface="宋体" panose="02010600030101010101" pitchFamily="2" charset="-122"/>
              <a:sym typeface="+mn-ea"/>
            </a:endParaRPr>
          </a:p>
        </p:txBody>
      </p:sp>
      <p:sp>
        <p:nvSpPr>
          <p:cNvPr id="35" name="圆角矩形 34"/>
          <p:cNvSpPr/>
          <p:nvPr/>
        </p:nvSpPr>
        <p:spPr>
          <a:xfrm rot="10800000" flipV="1">
            <a:off x="1473428" y="4137997"/>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6.5</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文本框 37"/>
          <p:cNvSpPr txBox="1"/>
          <p:nvPr/>
        </p:nvSpPr>
        <p:spPr>
          <a:xfrm>
            <a:off x="2624387" y="3993819"/>
            <a:ext cx="4716348"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sym typeface="+mn-ea"/>
                <a:hlinkClick r:id="rId8" action="ppaction://hlinksldjump"/>
              </a:rPr>
              <a:t>压电式传感器的应用举例</a:t>
            </a:r>
            <a:endParaRPr lang="zh-CN" altLang="en-US" sz="3200" b="1" dirty="0">
              <a:solidFill>
                <a:schemeClr val="tx2"/>
              </a:solidFill>
              <a:latin typeface="宋体" panose="02010600030101010101" pitchFamily="2" charset="-122"/>
              <a:ea typeface="宋体" panose="02010600030101010101" pitchFamily="2" charset="-122"/>
              <a:sym typeface="+mn-ea"/>
            </a:endParaRPr>
          </a:p>
        </p:txBody>
      </p:sp>
      <p:sp>
        <p:nvSpPr>
          <p:cNvPr id="37" name="圆角矩形 36"/>
          <p:cNvSpPr/>
          <p:nvPr/>
        </p:nvSpPr>
        <p:spPr>
          <a:xfrm rot="10800000" flipV="1">
            <a:off x="1473428" y="4935867"/>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6.6</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文本框 38"/>
          <p:cNvSpPr txBox="1"/>
          <p:nvPr/>
        </p:nvSpPr>
        <p:spPr>
          <a:xfrm>
            <a:off x="2624387" y="4777347"/>
            <a:ext cx="636423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sym typeface="+mn-ea"/>
                <a:hlinkClick r:id="rId9" action="ppaction://hlinksldjump"/>
              </a:rPr>
              <a:t>影响压电式传感器精度的因素分析</a:t>
            </a:r>
            <a:endParaRPr lang="zh-CN" altLang="en-US" sz="3200" b="1" dirty="0">
              <a:solidFill>
                <a:schemeClr val="tx2"/>
              </a:solidFill>
              <a:latin typeface="宋体" panose="02010600030101010101" pitchFamily="2" charset="-122"/>
              <a:ea typeface="宋体" panose="02010600030101010101" pitchFamily="2" charset="-122"/>
              <a:sym typeface="+mn-ea"/>
            </a:endParaRPr>
          </a:p>
        </p:txBody>
      </p:sp>
      <p:cxnSp>
        <p:nvCxnSpPr>
          <p:cNvPr id="36" name="直接连接符 79">
            <a:extLst>
              <a:ext uri="{FF2B5EF4-FFF2-40B4-BE49-F238E27FC236}">
                <a16:creationId xmlns:a16="http://schemas.microsoft.com/office/drawing/2014/main" id="{FEAE17C2-FEE8-4965-9288-77CD51D9CABC}"/>
              </a:ext>
            </a:extLst>
          </p:cNvPr>
          <p:cNvCxnSpPr/>
          <p:nvPr/>
        </p:nvCxnSpPr>
        <p:spPr>
          <a:xfrm>
            <a:off x="1211690" y="707037"/>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0" name="矩形 3">
            <a:extLst>
              <a:ext uri="{FF2B5EF4-FFF2-40B4-BE49-F238E27FC236}">
                <a16:creationId xmlns:a16="http://schemas.microsoft.com/office/drawing/2014/main" id="{4F9D3DA9-C4AB-471E-813A-0D72E26CBC42}"/>
              </a:ext>
            </a:extLst>
          </p:cNvPr>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41" name="组 14">
            <a:extLst>
              <a:ext uri="{FF2B5EF4-FFF2-40B4-BE49-F238E27FC236}">
                <a16:creationId xmlns:a16="http://schemas.microsoft.com/office/drawing/2014/main" id="{C3128F44-E757-481B-BCED-D0C6DCD0DD57}"/>
              </a:ext>
            </a:extLst>
          </p:cNvPr>
          <p:cNvGrpSpPr/>
          <p:nvPr/>
        </p:nvGrpSpPr>
        <p:grpSpPr>
          <a:xfrm>
            <a:off x="-16725" y="6654792"/>
            <a:ext cx="953603" cy="203211"/>
            <a:chOff x="-22302" y="6654791"/>
            <a:chExt cx="1271471" cy="203210"/>
          </a:xfrm>
        </p:grpSpPr>
        <p:sp>
          <p:nvSpPr>
            <p:cNvPr id="42" name="圆角矩形 8">
              <a:extLst>
                <a:ext uri="{FF2B5EF4-FFF2-40B4-BE49-F238E27FC236}">
                  <a16:creationId xmlns:a16="http://schemas.microsoft.com/office/drawing/2014/main" id="{E57A6D0A-9B0F-46C2-9100-B08E26EEDA4C}"/>
                </a:ext>
              </a:extLst>
            </p:cNvPr>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9">
              <a:extLst>
                <a:ext uri="{FF2B5EF4-FFF2-40B4-BE49-F238E27FC236}">
                  <a16:creationId xmlns:a16="http://schemas.microsoft.com/office/drawing/2014/main" id="{D9C7201F-F1AE-4EE0-9CE5-EF34BD6E6068}"/>
                </a:ext>
              </a:extLst>
            </p:cNvPr>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10">
              <a:extLst>
                <a:ext uri="{FF2B5EF4-FFF2-40B4-BE49-F238E27FC236}">
                  <a16:creationId xmlns:a16="http://schemas.microsoft.com/office/drawing/2014/main" id="{974CF03A-35F8-4AC2-B3EC-F17958CBA5D1}"/>
                </a:ext>
              </a:extLst>
            </p:cNvPr>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11">
              <a:extLst>
                <a:ext uri="{FF2B5EF4-FFF2-40B4-BE49-F238E27FC236}">
                  <a16:creationId xmlns:a16="http://schemas.microsoft.com/office/drawing/2014/main" id="{20D27495-8FA7-4F30-B61F-F2EC3C5C55AE}"/>
                </a:ext>
              </a:extLst>
            </p:cNvPr>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7">
              <a:extLst>
                <a:ext uri="{FF2B5EF4-FFF2-40B4-BE49-F238E27FC236}">
                  <a16:creationId xmlns:a16="http://schemas.microsoft.com/office/drawing/2014/main" id="{549C3D4E-BEF8-4143-81A2-8C6D77726087}"/>
                </a:ext>
              </a:extLst>
            </p:cNvPr>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19">
            <a:extLst>
              <a:ext uri="{FF2B5EF4-FFF2-40B4-BE49-F238E27FC236}">
                <a16:creationId xmlns:a16="http://schemas.microsoft.com/office/drawing/2014/main" id="{F8F0878E-CFBA-43B9-9031-55D541E848D1}"/>
              </a:ext>
            </a:extLst>
          </p:cNvPr>
          <p:cNvSpPr txBox="1"/>
          <p:nvPr/>
        </p:nvSpPr>
        <p:spPr>
          <a:xfrm>
            <a:off x="104043" y="1495425"/>
            <a:ext cx="754047" cy="3269788"/>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5" name="Slide Number Placeholder 4">
            <a:extLst>
              <a:ext uri="{FF2B5EF4-FFF2-40B4-BE49-F238E27FC236}">
                <a16:creationId xmlns:a16="http://schemas.microsoft.com/office/drawing/2014/main" id="{D33C932F-3E81-4D46-B8A7-5EC3465A01F0}"/>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Tree>
    <p:extLst>
      <p:ext uri="{BB962C8B-B14F-4D97-AF65-F5344CB8AC3E}">
        <p14:creationId xmlns:p14="http://schemas.microsoft.com/office/powerpoint/2010/main" val="36077051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25" name="Rectangle 3"/>
          <p:cNvSpPr txBox="1">
            <a:spLocks noRot="1" noChangeArrowheads="1"/>
          </p:cNvSpPr>
          <p:nvPr/>
        </p:nvSpPr>
        <p:spPr>
          <a:xfrm>
            <a:off x="671722" y="1419523"/>
            <a:ext cx="7563194" cy="486459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ct val="30000"/>
              </a:spcBef>
              <a:buFont typeface="Wingdings" pitchFamily="2" charset="2"/>
              <a:buNone/>
            </a:pPr>
            <a:r>
              <a:rPr lang="zh-CN" altLang="en-US" sz="2400" b="1" dirty="0">
                <a:latin typeface="宋体" panose="02010600030101010101" pitchFamily="2" charset="-122"/>
                <a:ea typeface="宋体" panose="02010600030101010101" pitchFamily="2" charset="-122"/>
              </a:rPr>
              <a:t>某些晶体或多晶陶</a:t>
            </a:r>
            <a:r>
              <a:rPr lang="zh-CN" altLang="en-US" sz="2400" b="1">
                <a:latin typeface="宋体" panose="02010600030101010101" pitchFamily="2" charset="-122"/>
                <a:ea typeface="宋体" panose="02010600030101010101" pitchFamily="2" charset="-122"/>
              </a:rPr>
              <a:t>瓷，</a:t>
            </a:r>
            <a:endParaRPr lang="en-US" altLang="zh-CN" sz="2400" b="1">
              <a:latin typeface="宋体" panose="02010600030101010101" pitchFamily="2" charset="-122"/>
              <a:ea typeface="宋体" panose="02010600030101010101" pitchFamily="2" charset="-122"/>
            </a:endParaRPr>
          </a:p>
          <a:p>
            <a:pPr>
              <a:lnSpc>
                <a:spcPct val="140000"/>
              </a:lnSpc>
              <a:spcBef>
                <a:spcPct val="30000"/>
              </a:spcBef>
            </a:pPr>
            <a:r>
              <a:rPr lang="zh-CN" altLang="en-US" sz="2400" b="1">
                <a:latin typeface="宋体" panose="02010600030101010101" pitchFamily="2" charset="-122"/>
                <a:ea typeface="宋体" panose="02010600030101010101" pitchFamily="2" charset="-122"/>
              </a:rPr>
              <a:t>当</a:t>
            </a:r>
            <a:r>
              <a:rPr lang="zh-CN" altLang="en-US" sz="2400" b="1" dirty="0">
                <a:latin typeface="宋体" panose="02010600030101010101" pitchFamily="2" charset="-122"/>
                <a:ea typeface="宋体" panose="02010600030101010101" pitchFamily="2" charset="-122"/>
              </a:rPr>
              <a:t>沿着一定方向受到外力作用时，内部就产生极化现象，同时在某两个表面上产生符号相反的电</a:t>
            </a:r>
            <a:r>
              <a:rPr lang="zh-CN" altLang="en-US" sz="2400" b="1">
                <a:latin typeface="宋体" panose="02010600030101010101" pitchFamily="2" charset="-122"/>
                <a:ea typeface="宋体" panose="02010600030101010101" pitchFamily="2" charset="-122"/>
              </a:rPr>
              <a:t>荷；</a:t>
            </a:r>
            <a:endParaRPr lang="en-US" altLang="zh-CN" sz="2400" b="1">
              <a:latin typeface="宋体" panose="02010600030101010101" pitchFamily="2" charset="-122"/>
              <a:ea typeface="宋体" panose="02010600030101010101" pitchFamily="2" charset="-122"/>
            </a:endParaRPr>
          </a:p>
          <a:p>
            <a:pPr>
              <a:lnSpc>
                <a:spcPct val="140000"/>
              </a:lnSpc>
              <a:spcBef>
                <a:spcPct val="30000"/>
              </a:spcBef>
            </a:pPr>
            <a:r>
              <a:rPr lang="zh-CN" altLang="en-US" sz="2400" b="1">
                <a:latin typeface="宋体" panose="02010600030101010101" pitchFamily="2" charset="-122"/>
                <a:ea typeface="宋体" panose="02010600030101010101" pitchFamily="2" charset="-122"/>
              </a:rPr>
              <a:t>当</a:t>
            </a:r>
            <a:r>
              <a:rPr lang="zh-CN" altLang="en-US" sz="2400" b="1" dirty="0">
                <a:latin typeface="宋体" panose="02010600030101010101" pitchFamily="2" charset="-122"/>
                <a:ea typeface="宋体" panose="02010600030101010101" pitchFamily="2" charset="-122"/>
              </a:rPr>
              <a:t>外力去掉后，又恢复到不带电状</a:t>
            </a:r>
            <a:r>
              <a:rPr lang="zh-CN" altLang="en-US" sz="2400" b="1">
                <a:latin typeface="宋体" panose="02010600030101010101" pitchFamily="2" charset="-122"/>
                <a:ea typeface="宋体" panose="02010600030101010101" pitchFamily="2" charset="-122"/>
              </a:rPr>
              <a:t>态；</a:t>
            </a:r>
            <a:endParaRPr lang="en-US" altLang="zh-CN" sz="2400" b="1">
              <a:latin typeface="宋体" panose="02010600030101010101" pitchFamily="2" charset="-122"/>
              <a:ea typeface="宋体" panose="02010600030101010101" pitchFamily="2" charset="-122"/>
            </a:endParaRPr>
          </a:p>
          <a:p>
            <a:pPr>
              <a:lnSpc>
                <a:spcPct val="140000"/>
              </a:lnSpc>
              <a:spcBef>
                <a:spcPct val="30000"/>
              </a:spcBef>
            </a:pPr>
            <a:r>
              <a:rPr lang="zh-CN" altLang="en-US" sz="2400" b="1">
                <a:latin typeface="宋体" panose="02010600030101010101" pitchFamily="2" charset="-122"/>
                <a:ea typeface="宋体" panose="02010600030101010101" pitchFamily="2" charset="-122"/>
              </a:rPr>
              <a:t>当</a:t>
            </a:r>
            <a:r>
              <a:rPr lang="zh-CN" altLang="en-US" sz="2400" b="1" dirty="0">
                <a:latin typeface="宋体" panose="02010600030101010101" pitchFamily="2" charset="-122"/>
                <a:ea typeface="宋体" panose="02010600030101010101" pitchFamily="2" charset="-122"/>
              </a:rPr>
              <a:t>作用力方向改变时，电荷的极性也随着改</a:t>
            </a:r>
            <a:r>
              <a:rPr lang="zh-CN" altLang="en-US" sz="2400" b="1">
                <a:latin typeface="宋体" panose="02010600030101010101" pitchFamily="2" charset="-122"/>
                <a:ea typeface="宋体" panose="02010600030101010101" pitchFamily="2" charset="-122"/>
              </a:rPr>
              <a:t>变；</a:t>
            </a:r>
            <a:endParaRPr lang="en-US" altLang="zh-CN" sz="2400" b="1">
              <a:latin typeface="宋体" panose="02010600030101010101" pitchFamily="2" charset="-122"/>
              <a:ea typeface="宋体" panose="02010600030101010101" pitchFamily="2" charset="-122"/>
            </a:endParaRPr>
          </a:p>
          <a:p>
            <a:pPr>
              <a:lnSpc>
                <a:spcPct val="140000"/>
              </a:lnSpc>
              <a:spcBef>
                <a:spcPct val="30000"/>
              </a:spcBef>
            </a:pPr>
            <a:r>
              <a:rPr lang="zh-CN" altLang="en-US" sz="2400" b="1">
                <a:latin typeface="宋体" panose="02010600030101010101" pitchFamily="2" charset="-122"/>
                <a:ea typeface="宋体" panose="02010600030101010101" pitchFamily="2" charset="-122"/>
              </a:rPr>
              <a:t>晶</a:t>
            </a:r>
            <a:r>
              <a:rPr lang="zh-CN" altLang="en-US" sz="2400" b="1" dirty="0">
                <a:latin typeface="宋体" panose="02010600030101010101" pitchFamily="2" charset="-122"/>
                <a:ea typeface="宋体" panose="02010600030101010101" pitchFamily="2" charset="-122"/>
              </a:rPr>
              <a:t>体受力所产生的电荷量与外力的大小成正比。</a:t>
            </a:r>
          </a:p>
          <a:p>
            <a:pPr marL="0" indent="628650">
              <a:lnSpc>
                <a:spcPct val="140000"/>
              </a:lnSpc>
              <a:spcBef>
                <a:spcPct val="30000"/>
              </a:spcBef>
              <a:buFont typeface="Wingdings" pitchFamily="2" charset="2"/>
              <a:buNone/>
            </a:pPr>
            <a:r>
              <a:rPr lang="zh-CN" altLang="en-US" sz="2400" b="1" dirty="0">
                <a:latin typeface="宋体" panose="02010600030101010101" pitchFamily="2" charset="-122"/>
                <a:ea typeface="宋体" panose="02010600030101010101" pitchFamily="2" charset="-122"/>
              </a:rPr>
              <a:t>上述现象称为</a:t>
            </a:r>
            <a:r>
              <a:rPr lang="zh-CN" altLang="en-US" sz="2400" b="1" dirty="0">
                <a:solidFill>
                  <a:srgbClr val="FF0000"/>
                </a:solidFill>
                <a:latin typeface="宋体" panose="02010600030101010101" pitchFamily="2" charset="-122"/>
                <a:ea typeface="宋体" panose="02010600030101010101" pitchFamily="2" charset="-122"/>
              </a:rPr>
              <a:t>正压电效</a:t>
            </a:r>
            <a:r>
              <a:rPr lang="zh-CN" altLang="en-US" sz="2400" b="1">
                <a:solidFill>
                  <a:srgbClr val="FF0000"/>
                </a:solidFill>
                <a:latin typeface="宋体" panose="02010600030101010101" pitchFamily="2" charset="-122"/>
                <a:ea typeface="宋体" panose="02010600030101010101" pitchFamily="2" charset="-122"/>
              </a:rPr>
              <a:t>应</a:t>
            </a:r>
            <a:r>
              <a:rPr lang="zh-CN" altLang="en-US" sz="2400" b="1">
                <a:latin typeface="宋体" panose="02010600030101010101" pitchFamily="2" charset="-122"/>
                <a:ea typeface="宋体" panose="02010600030101010101" pitchFamily="2" charset="-122"/>
              </a:rPr>
              <a:t>。</a:t>
            </a:r>
            <a:endParaRPr lang="en-US" altLang="zh-CN" sz="2400" b="1">
              <a:latin typeface="宋体" panose="02010600030101010101" pitchFamily="2" charset="-122"/>
              <a:ea typeface="宋体" panose="02010600030101010101" pitchFamily="2" charset="-122"/>
            </a:endParaRPr>
          </a:p>
          <a:p>
            <a:pPr marL="0" indent="628650">
              <a:lnSpc>
                <a:spcPct val="140000"/>
              </a:lnSpc>
              <a:spcBef>
                <a:spcPct val="30000"/>
              </a:spcBef>
              <a:buFont typeface="Wingdings" pitchFamily="2" charset="2"/>
              <a:buNone/>
            </a:pPr>
            <a:r>
              <a:rPr lang="zh-CN" altLang="en-US" sz="2400" b="1">
                <a:latin typeface="宋体" panose="02010600030101010101" pitchFamily="2" charset="-122"/>
                <a:ea typeface="宋体" panose="02010600030101010101" pitchFamily="2" charset="-122"/>
              </a:rPr>
              <a:t>反</a:t>
            </a:r>
            <a:r>
              <a:rPr lang="zh-CN" altLang="en-US" sz="2400" b="1" dirty="0">
                <a:latin typeface="宋体" panose="02010600030101010101" pitchFamily="2" charset="-122"/>
                <a:ea typeface="宋体" panose="02010600030101010101" pitchFamily="2" charset="-122"/>
              </a:rPr>
              <a:t>之</a:t>
            </a:r>
            <a:r>
              <a:rPr lang="zh-CN" altLang="en-US" sz="2400" b="1">
                <a:latin typeface="宋体" panose="02010600030101010101" pitchFamily="2" charset="-122"/>
                <a:ea typeface="宋体" panose="02010600030101010101" pitchFamily="2" charset="-122"/>
              </a:rPr>
              <a:t>，如果对</a:t>
            </a:r>
            <a:r>
              <a:rPr lang="zh-CN" altLang="en-US" sz="2400" b="1" dirty="0">
                <a:latin typeface="宋体" panose="02010600030101010101" pitchFamily="2" charset="-122"/>
                <a:ea typeface="宋体" panose="02010600030101010101" pitchFamily="2" charset="-122"/>
              </a:rPr>
              <a:t>晶体施加一定交变电场，晶体本身将产生机械变形，外电场撤离，变形也随之消失，称为</a:t>
            </a:r>
            <a:r>
              <a:rPr lang="zh-CN" altLang="en-US" sz="2400" b="1" dirty="0">
                <a:solidFill>
                  <a:srgbClr val="0070C0"/>
                </a:solidFill>
                <a:latin typeface="宋体" panose="02010600030101010101" pitchFamily="2" charset="-122"/>
                <a:ea typeface="宋体" panose="02010600030101010101" pitchFamily="2" charset="-122"/>
              </a:rPr>
              <a:t>逆压电效应</a:t>
            </a:r>
            <a:r>
              <a:rPr lang="zh-CN" altLang="en-US" sz="2400" b="1" dirty="0">
                <a:latin typeface="宋体" panose="02010600030101010101" pitchFamily="2" charset="-122"/>
                <a:ea typeface="宋体" panose="02010600030101010101" pitchFamily="2" charset="-122"/>
              </a:rPr>
              <a:t>。 </a:t>
            </a:r>
          </a:p>
        </p:txBody>
      </p:sp>
      <p:sp>
        <p:nvSpPr>
          <p:cNvPr id="2" name="Slide Number Placeholder 1">
            <a:extLst>
              <a:ext uri="{FF2B5EF4-FFF2-40B4-BE49-F238E27FC236}">
                <a16:creationId xmlns:a16="http://schemas.microsoft.com/office/drawing/2014/main" id="{2E2BE910-C48F-413A-921D-E09D20530E6C}"/>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29" name="Rectangle 6"/>
          <p:cNvSpPr>
            <a:spLocks noRot="1" noChangeArrowheads="1"/>
          </p:cNvSpPr>
          <p:nvPr/>
        </p:nvSpPr>
        <p:spPr bwMode="auto">
          <a:xfrm>
            <a:off x="185083" y="1367828"/>
            <a:ext cx="4688936" cy="1126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50000"/>
              </a:lnSpc>
              <a:buFont typeface="Arial" panose="020B0604020202020204" pitchFamily="34" charset="0"/>
              <a:buChar char="•"/>
            </a:pPr>
            <a:r>
              <a:rPr lang="zh-CN" altLang="en-US" sz="2000" b="1" dirty="0">
                <a:latin typeface="宋体" panose="02010600030101010101" pitchFamily="2" charset="-122"/>
                <a:ea typeface="宋体" panose="02010600030101010101" pitchFamily="2" charset="-122"/>
              </a:rPr>
              <a:t>压电式传</a:t>
            </a:r>
            <a:r>
              <a:rPr lang="zh-CN" altLang="en-US" sz="2000" b="1">
                <a:latin typeface="宋体" panose="02010600030101010101" pitchFamily="2" charset="-122"/>
                <a:ea typeface="宋体" panose="02010600030101010101" pitchFamily="2" charset="-122"/>
              </a:rPr>
              <a:t>感器是</a:t>
            </a:r>
            <a:r>
              <a:rPr lang="zh-CN" altLang="en-US" sz="2000" b="1" dirty="0">
                <a:latin typeface="宋体" panose="02010600030101010101" pitchFamily="2" charset="-122"/>
                <a:ea typeface="宋体" panose="02010600030101010101" pitchFamily="2" charset="-122"/>
              </a:rPr>
              <a:t>利用压电效应制成。</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000" b="1" dirty="0">
                <a:latin typeface="宋体" panose="02010600030101010101" pitchFamily="2" charset="-122"/>
                <a:ea typeface="宋体" panose="02010600030101010101" pitchFamily="2" charset="-122"/>
              </a:rPr>
              <a:t>压电转换元件受力变形的状态可分为几种基本形式。</a:t>
            </a:r>
          </a:p>
        </p:txBody>
      </p:sp>
      <p:sp>
        <p:nvSpPr>
          <p:cNvPr id="3" name="矩形 2"/>
          <p:cNvSpPr/>
          <p:nvPr/>
        </p:nvSpPr>
        <p:spPr>
          <a:xfrm>
            <a:off x="185083" y="3314555"/>
            <a:ext cx="4682948" cy="304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50000"/>
              </a:lnSpc>
              <a:buFont typeface="Arial" panose="020B0604020202020204" pitchFamily="34" charset="0"/>
              <a:buChar char="•"/>
            </a:pPr>
            <a:r>
              <a:rPr lang="zh-CN" altLang="en-US" sz="2000" b="1" dirty="0">
                <a:latin typeface="宋体" panose="02010600030101010101" pitchFamily="2" charset="-122"/>
                <a:ea typeface="宋体" panose="02010600030101010101" pitchFamily="2" charset="-122"/>
              </a:rPr>
              <a:t>由于压电晶体的各向异性，并非</a:t>
            </a:r>
            <a:r>
              <a:rPr lang="zh-CN" altLang="en-US" sz="2000" b="1">
                <a:latin typeface="宋体" panose="02010600030101010101" pitchFamily="2" charset="-122"/>
                <a:ea typeface="宋体" panose="02010600030101010101" pitchFamily="2" charset="-122"/>
              </a:rPr>
              <a:t>所有压</a:t>
            </a:r>
            <a:r>
              <a:rPr lang="zh-CN" altLang="en-US" sz="2000" b="1" dirty="0">
                <a:latin typeface="宋体" panose="02010600030101010101" pitchFamily="2" charset="-122"/>
                <a:ea typeface="宋体" panose="02010600030101010101" pitchFamily="2" charset="-122"/>
              </a:rPr>
              <a:t>电晶体在几种变形状态下都能产生压电效</a:t>
            </a:r>
            <a:r>
              <a:rPr lang="zh-CN" altLang="en-US" sz="2000" b="1">
                <a:latin typeface="宋体" panose="02010600030101010101" pitchFamily="2" charset="-122"/>
                <a:ea typeface="宋体" panose="02010600030101010101" pitchFamily="2" charset="-122"/>
              </a:rPr>
              <a:t>应。</a:t>
            </a:r>
            <a:endParaRPr lang="en-US" altLang="zh-CN" sz="2000" b="1">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例如石</a:t>
            </a:r>
            <a:r>
              <a:rPr lang="zh-CN" altLang="en-US" sz="2000" b="1" dirty="0">
                <a:latin typeface="宋体" panose="02010600030101010101" pitchFamily="2" charset="-122"/>
                <a:ea typeface="宋体" panose="02010600030101010101" pitchFamily="2" charset="-122"/>
              </a:rPr>
              <a:t>英晶体没有体积变形压电效应。但它具有良好的厚度变形和长度变形压电效应。</a:t>
            </a:r>
          </a:p>
        </p:txBody>
      </p:sp>
      <p:sp>
        <p:nvSpPr>
          <p:cNvPr id="2" name="Slide Number Placeholder 1">
            <a:extLst>
              <a:ext uri="{FF2B5EF4-FFF2-40B4-BE49-F238E27FC236}">
                <a16:creationId xmlns:a16="http://schemas.microsoft.com/office/drawing/2014/main" id="{1366365E-3B4A-4F9C-A660-DCB5E3EF2604}"/>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pic>
        <p:nvPicPr>
          <p:cNvPr id="22" name="Picture 10">
            <a:extLst>
              <a:ext uri="{FF2B5EF4-FFF2-40B4-BE49-F238E27FC236}">
                <a16:creationId xmlns:a16="http://schemas.microsoft.com/office/drawing/2014/main" id="{2F7E7015-BD67-4876-934B-CB3F912D0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6609" y="1367828"/>
            <a:ext cx="3827282" cy="265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Text Box 9">
            <a:extLst>
              <a:ext uri="{FF2B5EF4-FFF2-40B4-BE49-F238E27FC236}">
                <a16:creationId xmlns:a16="http://schemas.microsoft.com/office/drawing/2014/main" id="{83A4A33E-1261-4930-81D5-E3C89665F406}"/>
              </a:ext>
            </a:extLst>
          </p:cNvPr>
          <p:cNvSpPr txBox="1">
            <a:spLocks noChangeArrowheads="1"/>
          </p:cNvSpPr>
          <p:nvPr/>
        </p:nvSpPr>
        <p:spPr bwMode="auto">
          <a:xfrm>
            <a:off x="4727019" y="4515090"/>
            <a:ext cx="432865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b="1" dirty="0">
                <a:solidFill>
                  <a:srgbClr val="000099"/>
                </a:solidFill>
                <a:latin typeface="宋体" panose="02010600030101010101" pitchFamily="2" charset="-122"/>
                <a:ea typeface="宋体" panose="02010600030101010101" pitchFamily="2" charset="-122"/>
              </a:rPr>
              <a:t>图</a:t>
            </a:r>
            <a:r>
              <a:rPr lang="en-US" altLang="zh-CN" b="1" dirty="0">
                <a:solidFill>
                  <a:srgbClr val="000099"/>
                </a:solidFill>
                <a:latin typeface="宋体" panose="02010600030101010101" pitchFamily="2" charset="-122"/>
                <a:ea typeface="宋体" panose="02010600030101010101" pitchFamily="2" charset="-122"/>
              </a:rPr>
              <a:t>6-l </a:t>
            </a:r>
            <a:r>
              <a:rPr lang="zh-CN" altLang="en-US" b="1" dirty="0">
                <a:solidFill>
                  <a:srgbClr val="000099"/>
                </a:solidFill>
                <a:latin typeface="宋体" panose="02010600030101010101" pitchFamily="2" charset="-122"/>
                <a:ea typeface="宋体" panose="02010600030101010101" pitchFamily="2" charset="-122"/>
              </a:rPr>
              <a:t>压电转换元件受力变形的几种基本状态形式</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20" name="Rectangle 17"/>
          <p:cNvSpPr>
            <a:spLocks noRot="1" noChangeArrowheads="1"/>
          </p:cNvSpPr>
          <p:nvPr/>
        </p:nvSpPr>
        <p:spPr bwMode="auto">
          <a:xfrm>
            <a:off x="478621" y="1415868"/>
            <a:ext cx="8186757" cy="42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50000"/>
              </a:lnSpc>
            </a:pP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dF</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或      </a:t>
            </a: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p>
          <a:p>
            <a:pPr marL="1878013" indent="-1878013">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d</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压电常数</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q</a:t>
            </a:r>
            <a:r>
              <a:rPr lang="en-US" altLang="zh-CN" sz="2400" b="1" i="1">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电荷表面密度</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i="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r>
              <a:rPr lang="zh-CN" altLang="en-US" sz="2400" b="1" i="1">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 </a:t>
            </a:r>
            <a:r>
              <a:rPr lang="en-US" altLang="zh-CN" sz="2400" b="1" i="1">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应力</a:t>
            </a:r>
          </a:p>
          <a:p>
            <a:pPr marL="1878013" indent="-1878013">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物</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理意义：在“短路条件”下，</a:t>
            </a:r>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单位应力</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产生的</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电荷密度</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a:p>
            <a:pPr marL="1878013" indent="-1878013">
              <a:lnSpc>
                <a:spcPct val="150000"/>
              </a:lnSpc>
            </a:pP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1878013" indent="-1878013">
              <a:lnSpc>
                <a:spcPct val="150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实</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际应用中，还存在其他的压电常数定义：</a:t>
            </a:r>
          </a:p>
          <a:p>
            <a:pPr marL="1878013" indent="-1878013">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压电常数</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单位应力</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产生的</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电势梯度</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p>
          <a:p>
            <a:pPr marL="1878013" indent="-1878013">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压电常数</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h</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单位应变</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产生的</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电势梯度</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p>
          <a:p>
            <a:pPr marL="1878013" indent="-1878013">
              <a:lnSpc>
                <a:spcPct val="20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机电耦合系数</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26" name="Object 19"/>
          <p:cNvGraphicFramePr>
            <a:graphicFrameLocks noChangeAspect="1"/>
          </p:cNvGraphicFramePr>
          <p:nvPr>
            <p:extLst>
              <p:ext uri="{D42A27DB-BD31-4B8C-83A1-F6EECF244321}">
                <p14:modId xmlns:p14="http://schemas.microsoft.com/office/powerpoint/2010/main" val="155968228"/>
              </p:ext>
            </p:extLst>
          </p:nvPr>
        </p:nvGraphicFramePr>
        <p:xfrm>
          <a:off x="2707334" y="4838676"/>
          <a:ext cx="1008062" cy="431800"/>
        </p:xfrm>
        <a:graphic>
          <a:graphicData uri="http://schemas.openxmlformats.org/presentationml/2006/ole">
            <mc:AlternateContent xmlns:mc="http://schemas.openxmlformats.org/markup-compatibility/2006">
              <mc:Choice xmlns:v="urn:schemas-microsoft-com:vml" Requires="v">
                <p:oleObj name="Equation" r:id="rId3" imgW="469696" imgH="203112" progId="Equation.DSMT4">
                  <p:embed/>
                </p:oleObj>
              </mc:Choice>
              <mc:Fallback>
                <p:oleObj name="Equation" r:id="rId3" imgW="469696"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7334" y="4838676"/>
                        <a:ext cx="10080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21"/>
          <p:cNvGraphicFramePr>
            <a:graphicFrameLocks noChangeAspect="1"/>
          </p:cNvGraphicFramePr>
          <p:nvPr>
            <p:extLst>
              <p:ext uri="{D42A27DB-BD31-4B8C-83A1-F6EECF244321}">
                <p14:modId xmlns:p14="http://schemas.microsoft.com/office/powerpoint/2010/main" val="3371263445"/>
              </p:ext>
            </p:extLst>
          </p:nvPr>
        </p:nvGraphicFramePr>
        <p:xfrm>
          <a:off x="3328988" y="5379090"/>
          <a:ext cx="3463698" cy="763154"/>
        </p:xfrm>
        <a:graphic>
          <a:graphicData uri="http://schemas.openxmlformats.org/presentationml/2006/ole">
            <mc:AlternateContent xmlns:mc="http://schemas.openxmlformats.org/markup-compatibility/2006">
              <mc:Choice xmlns:v="urn:schemas-microsoft-com:vml" Requires="v">
                <p:oleObj name="Equation" r:id="rId5" imgW="1904760" imgH="419040" progId="Equation.DSMT4">
                  <p:embed/>
                </p:oleObj>
              </mc:Choice>
              <mc:Fallback>
                <p:oleObj name="Equation" r:id="rId5" imgW="1904760" imgH="419040" progId="Equation.DSMT4">
                  <p:embed/>
                  <p:pic>
                    <p:nvPicPr>
                      <p:cNvPr id="0" name=""/>
                      <p:cNvPicPr>
                        <a:picLocks noChangeAspect="1" noChangeArrowheads="1"/>
                      </p:cNvPicPr>
                      <p:nvPr/>
                    </p:nvPicPr>
                    <p:blipFill>
                      <a:blip r:embed="rId6"/>
                      <a:srcRect/>
                      <a:stretch>
                        <a:fillRect/>
                      </a:stretch>
                    </p:blipFill>
                    <p:spPr bwMode="auto">
                      <a:xfrm>
                        <a:off x="3328988" y="5379090"/>
                        <a:ext cx="3463698" cy="763154"/>
                      </a:xfrm>
                      <a:prstGeom prst="rect">
                        <a:avLst/>
                      </a:prstGeom>
                      <a:noFill/>
                      <a:ln>
                        <a:noFill/>
                      </a:ln>
                    </p:spPr>
                  </p:pic>
                </p:oleObj>
              </mc:Fallback>
            </mc:AlternateContent>
          </a:graphicData>
        </a:graphic>
      </p:graphicFrame>
      <p:graphicFrame>
        <p:nvGraphicFramePr>
          <p:cNvPr id="30" name="Object 23"/>
          <p:cNvGraphicFramePr>
            <a:graphicFrameLocks noChangeAspect="1"/>
          </p:cNvGraphicFramePr>
          <p:nvPr>
            <p:extLst>
              <p:ext uri="{D42A27DB-BD31-4B8C-83A1-F6EECF244321}">
                <p14:modId xmlns:p14="http://schemas.microsoft.com/office/powerpoint/2010/main" val="3453278478"/>
              </p:ext>
            </p:extLst>
          </p:nvPr>
        </p:nvGraphicFramePr>
        <p:xfrm>
          <a:off x="2736749" y="4111946"/>
          <a:ext cx="935037" cy="765175"/>
        </p:xfrm>
        <a:graphic>
          <a:graphicData uri="http://schemas.openxmlformats.org/presentationml/2006/ole">
            <mc:AlternateContent xmlns:mc="http://schemas.openxmlformats.org/markup-compatibility/2006">
              <mc:Choice xmlns:v="urn:schemas-microsoft-com:vml" Requires="v">
                <p:oleObj name="Equation" r:id="rId7" imgW="520474" imgH="431613" progId="Equation.DSMT4">
                  <p:embed/>
                </p:oleObj>
              </mc:Choice>
              <mc:Fallback>
                <p:oleObj name="Equation" r:id="rId7" imgW="520474" imgH="43161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36749" y="4111946"/>
                        <a:ext cx="935037"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483489" y="1522825"/>
            <a:ext cx="1808508" cy="461665"/>
          </a:xfrm>
          <a:prstGeom prst="rect">
            <a:avLst/>
          </a:prstGeom>
        </p:spPr>
        <p:txBody>
          <a:bodyPr wrap="none">
            <a:spAutoFit/>
          </a:bodyPr>
          <a:lstStyle/>
          <a:p>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压电方程：</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p>
        </p:txBody>
      </p:sp>
      <p:sp>
        <p:nvSpPr>
          <p:cNvPr id="3" name="Slide Number Placeholder 2">
            <a:extLst>
              <a:ext uri="{FF2B5EF4-FFF2-40B4-BE49-F238E27FC236}">
                <a16:creationId xmlns:a16="http://schemas.microsoft.com/office/drawing/2014/main" id="{D49838C7-B6C0-475C-A655-C4D6FFE40A78}"/>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Tree>
    <p:extLst>
      <p:ext uri="{BB962C8B-B14F-4D97-AF65-F5344CB8AC3E}">
        <p14:creationId xmlns:p14="http://schemas.microsoft.com/office/powerpoint/2010/main" val="41510559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3" name="Slide Number Placeholder 2">
            <a:extLst>
              <a:ext uri="{FF2B5EF4-FFF2-40B4-BE49-F238E27FC236}">
                <a16:creationId xmlns:a16="http://schemas.microsoft.com/office/drawing/2014/main" id="{D49838C7-B6C0-475C-A655-C4D6FFE40A78}"/>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sp>
        <p:nvSpPr>
          <p:cNvPr id="4" name="TextBox 3">
            <a:extLst>
              <a:ext uri="{FF2B5EF4-FFF2-40B4-BE49-F238E27FC236}">
                <a16:creationId xmlns:a16="http://schemas.microsoft.com/office/drawing/2014/main" id="{D5408865-69EF-4BB0-BCC5-E5C65EA575DD}"/>
              </a:ext>
            </a:extLst>
          </p:cNvPr>
          <p:cNvSpPr txBox="1"/>
          <p:nvPr/>
        </p:nvSpPr>
        <p:spPr>
          <a:xfrm>
            <a:off x="400050" y="2035173"/>
            <a:ext cx="8067675" cy="2327277"/>
          </a:xfrm>
          <a:prstGeom prst="rect">
            <a:avLst/>
          </a:prstGeom>
          <a:noFill/>
        </p:spPr>
        <p:txBody>
          <a:bodyPr wrap="square" rtlCol="0">
            <a:noAutofit/>
          </a:bodyPr>
          <a:lstStyle/>
          <a:p>
            <a:pPr>
              <a:lnSpc>
                <a:spcPct val="130000"/>
              </a:lnSpc>
              <a:spcBef>
                <a:spcPts val="600"/>
              </a:spcBef>
            </a:pPr>
            <a:r>
              <a:rPr lang="zh-CN" altLang="en-US" sz="2400">
                <a:latin typeface="宋体" panose="02010600030101010101" pitchFamily="2" charset="-122"/>
                <a:ea typeface="宋体" panose="02010600030101010101" pitchFamily="2" charset="-122"/>
              </a:rPr>
              <a:t>压电系数对于一定的施力方向和一定的产生电荷的表面是一个常数，上式仅适用于一定尺寸的压电元件。</a:t>
            </a:r>
            <a:endParaRPr lang="en-US" altLang="zh-CN" sz="2400">
              <a:latin typeface="宋体" panose="02010600030101010101" pitchFamily="2" charset="-122"/>
              <a:ea typeface="宋体" panose="02010600030101010101" pitchFamily="2" charset="-122"/>
            </a:endParaRPr>
          </a:p>
          <a:p>
            <a:pPr>
              <a:lnSpc>
                <a:spcPct val="130000"/>
              </a:lnSpc>
              <a:spcBef>
                <a:spcPts val="1800"/>
              </a:spcBef>
            </a:pPr>
            <a:r>
              <a:rPr lang="zh-CN" altLang="en-US" sz="2400">
                <a:latin typeface="宋体" panose="02010600030101010101" pitchFamily="2" charset="-122"/>
                <a:ea typeface="宋体" panose="02010600030101010101" pitchFamily="2" charset="-122"/>
              </a:rPr>
              <a:t>为使用方便，常采用以下公式</a:t>
            </a:r>
            <a:endParaRPr lang="en-001" sz="2400">
              <a:latin typeface="宋体" panose="02010600030101010101" pitchFamily="2" charset="-122"/>
              <a:ea typeface="宋体" panose="02010600030101010101" pitchFamily="2" charset="-122"/>
            </a:endParaRPr>
          </a:p>
        </p:txBody>
      </p:sp>
      <p:sp>
        <p:nvSpPr>
          <p:cNvPr id="12" name="TextBox 11">
            <a:extLst>
              <a:ext uri="{FF2B5EF4-FFF2-40B4-BE49-F238E27FC236}">
                <a16:creationId xmlns:a16="http://schemas.microsoft.com/office/drawing/2014/main" id="{F310ABF5-0546-4FAB-A549-85F354BC78C9}"/>
              </a:ext>
            </a:extLst>
          </p:cNvPr>
          <p:cNvSpPr txBox="1"/>
          <p:nvPr/>
        </p:nvSpPr>
        <p:spPr>
          <a:xfrm>
            <a:off x="330200" y="1251495"/>
            <a:ext cx="3090862" cy="576248"/>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2400" b="0"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400" b="0"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0"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dF</a:t>
            </a:r>
            <a:r>
              <a:rPr kumimoji="0" lang="en-US" altLang="zh-CN" sz="2400" b="1"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或      </a:t>
            </a:r>
            <a:r>
              <a:rPr kumimoji="0" lang="en-US" altLang="zh-CN" sz="2400" b="0"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400" b="0"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0"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1"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rPr>
              <a:t></a:t>
            </a:r>
            <a:endParaRPr kumimoji="0" lang="en-US" altLang="zh-CN" sz="2400" b="0"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Symbol" pitchFamily="18" charset="2"/>
            </a:endParaRPr>
          </a:p>
        </p:txBody>
      </p:sp>
      <p:graphicFrame>
        <p:nvGraphicFramePr>
          <p:cNvPr id="5" name="Object 4">
            <a:extLst>
              <a:ext uri="{FF2B5EF4-FFF2-40B4-BE49-F238E27FC236}">
                <a16:creationId xmlns:a16="http://schemas.microsoft.com/office/drawing/2014/main" id="{4266C571-5C02-44E3-BB40-B752416F3D69}"/>
              </a:ext>
            </a:extLst>
          </p:cNvPr>
          <p:cNvGraphicFramePr>
            <a:graphicFrameLocks noChangeAspect="1"/>
          </p:cNvGraphicFramePr>
          <p:nvPr>
            <p:extLst>
              <p:ext uri="{D42A27DB-BD31-4B8C-83A1-F6EECF244321}">
                <p14:modId xmlns:p14="http://schemas.microsoft.com/office/powerpoint/2010/main" val="2564222963"/>
              </p:ext>
            </p:extLst>
          </p:nvPr>
        </p:nvGraphicFramePr>
        <p:xfrm>
          <a:off x="3363912" y="3880905"/>
          <a:ext cx="1857237" cy="688975"/>
        </p:xfrm>
        <a:graphic>
          <a:graphicData uri="http://schemas.openxmlformats.org/presentationml/2006/ole">
            <mc:AlternateContent xmlns:mc="http://schemas.openxmlformats.org/markup-compatibility/2006">
              <mc:Choice xmlns:v="urn:schemas-microsoft-com:vml" Requires="v">
                <p:oleObj name="Equation" r:id="rId3" imgW="787320" imgH="291960" progId="Equation.DSMT4">
                  <p:embed/>
                </p:oleObj>
              </mc:Choice>
              <mc:Fallback>
                <p:oleObj name="Equation" r:id="rId3" imgW="787320" imgH="291960" progId="Equation.DSMT4">
                  <p:embed/>
                  <p:pic>
                    <p:nvPicPr>
                      <p:cNvPr id="0" name=""/>
                      <p:cNvPicPr/>
                      <p:nvPr/>
                    </p:nvPicPr>
                    <p:blipFill>
                      <a:blip r:embed="rId4"/>
                      <a:stretch>
                        <a:fillRect/>
                      </a:stretch>
                    </p:blipFill>
                    <p:spPr>
                      <a:xfrm>
                        <a:off x="3363912" y="3880905"/>
                        <a:ext cx="1857237" cy="688975"/>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1027DD57-BFD1-4DCE-A556-A5A994010D67}"/>
              </a:ext>
            </a:extLst>
          </p:cNvPr>
          <p:cNvSpPr txBox="1"/>
          <p:nvPr/>
        </p:nvSpPr>
        <p:spPr>
          <a:xfrm>
            <a:off x="1665705" y="4737839"/>
            <a:ext cx="3914775" cy="1828800"/>
          </a:xfrm>
          <a:prstGeom prst="rect">
            <a:avLst/>
          </a:prstGeom>
          <a:noFill/>
        </p:spPr>
        <p:txBody>
          <a:bodyPr wrap="none" rtlCol="0">
            <a:noAutofit/>
          </a:bodyPr>
          <a:lstStyle/>
          <a:p>
            <a:pPr algn="l">
              <a:lnSpc>
                <a:spcPct val="130000"/>
              </a:lnSpc>
              <a:spcBef>
                <a:spcPts val="600"/>
              </a:spcBef>
            </a:pPr>
            <a:r>
              <a:rPr lang="en-US" altLang="zh-CN" sz="2400" dirty="0">
                <a:latin typeface="宋体" panose="02010600030101010101" pitchFamily="2" charset="-122"/>
                <a:ea typeface="宋体" panose="02010600030101010101" pitchFamily="2" charset="-122"/>
              </a:rPr>
              <a:t>q - </a:t>
            </a:r>
            <a:r>
              <a:rPr lang="zh-CN" altLang="en-US" sz="2400" dirty="0">
                <a:latin typeface="宋体" panose="02010600030101010101" pitchFamily="2" charset="-122"/>
                <a:ea typeface="宋体" panose="02010600030101010101" pitchFamily="2" charset="-122"/>
              </a:rPr>
              <a:t>电荷表面密度</a:t>
            </a:r>
            <a:endParaRPr lang="en-US" altLang="zh-CN" sz="2400" dirty="0">
              <a:latin typeface="宋体" panose="02010600030101010101" pitchFamily="2" charset="-122"/>
              <a:ea typeface="宋体" panose="02010600030101010101" pitchFamily="2" charset="-122"/>
            </a:endParaRPr>
          </a:p>
          <a:p>
            <a:pPr algn="l">
              <a:lnSpc>
                <a:spcPct val="130000"/>
              </a:lnSpc>
              <a:spcBef>
                <a:spcPts val="600"/>
              </a:spcBef>
            </a:pPr>
            <a:r>
              <a:rPr lang="en-US" altLang="zh-CN" sz="2400" dirty="0">
                <a:latin typeface="宋体" panose="02010600030101010101" pitchFamily="2" charset="-122"/>
                <a:ea typeface="宋体" panose="02010600030101010101" pitchFamily="2" charset="-122"/>
              </a:rPr>
              <a:t>σ- </a:t>
            </a:r>
            <a:r>
              <a:rPr lang="zh-CN" altLang="en-US" sz="2400" dirty="0">
                <a:latin typeface="宋体" panose="02010600030101010101" pitchFamily="2" charset="-122"/>
                <a:ea typeface="宋体" panose="02010600030101010101" pitchFamily="2" charset="-122"/>
              </a:rPr>
              <a:t>单位面积上的作用力</a:t>
            </a:r>
            <a:endParaRPr lang="en-US" altLang="zh-CN" sz="2400" dirty="0">
              <a:latin typeface="宋体" panose="02010600030101010101" pitchFamily="2" charset="-122"/>
              <a:ea typeface="宋体" panose="02010600030101010101" pitchFamily="2" charset="-122"/>
            </a:endParaRPr>
          </a:p>
          <a:p>
            <a:pPr algn="l">
              <a:lnSpc>
                <a:spcPct val="130000"/>
              </a:lnSpc>
              <a:spcBef>
                <a:spcPts val="600"/>
              </a:spcBef>
            </a:pPr>
            <a:r>
              <a:rPr lang="en-US" altLang="zh-CN" sz="2400" dirty="0" err="1">
                <a:latin typeface="宋体" panose="02010600030101010101" pitchFamily="2" charset="-122"/>
                <a:ea typeface="宋体" panose="02010600030101010101" pitchFamily="2" charset="-122"/>
              </a:rPr>
              <a:t>d</a:t>
            </a:r>
            <a:r>
              <a:rPr lang="en-US" altLang="zh-CN" sz="2400" baseline="-25000" dirty="0" err="1">
                <a:latin typeface="宋体" panose="02010600030101010101" pitchFamily="2" charset="-122"/>
                <a:ea typeface="宋体" panose="02010600030101010101" pitchFamily="2" charset="-122"/>
              </a:rPr>
              <a:t>ij</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压电常数</a:t>
            </a:r>
            <a:endParaRPr lang="en-001"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016127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3" name="Slide Number Placeholder 2">
            <a:extLst>
              <a:ext uri="{FF2B5EF4-FFF2-40B4-BE49-F238E27FC236}">
                <a16:creationId xmlns:a16="http://schemas.microsoft.com/office/drawing/2014/main" id="{D49838C7-B6C0-475C-A655-C4D6FFE40A78}"/>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pic>
        <p:nvPicPr>
          <p:cNvPr id="2" name="Picture 1">
            <a:extLst>
              <a:ext uri="{FF2B5EF4-FFF2-40B4-BE49-F238E27FC236}">
                <a16:creationId xmlns:a16="http://schemas.microsoft.com/office/drawing/2014/main" id="{8C21AF8E-6FC3-4327-A1A7-34F6451177C9}"/>
              </a:ext>
            </a:extLst>
          </p:cNvPr>
          <p:cNvPicPr>
            <a:picLocks noChangeAspect="1"/>
          </p:cNvPicPr>
          <p:nvPr/>
        </p:nvPicPr>
        <p:blipFill>
          <a:blip r:embed="rId3"/>
          <a:stretch>
            <a:fillRect/>
          </a:stretch>
        </p:blipFill>
        <p:spPr>
          <a:xfrm>
            <a:off x="6522139" y="1879075"/>
            <a:ext cx="2368375" cy="2184705"/>
          </a:xfrm>
          <a:prstGeom prst="rect">
            <a:avLst/>
          </a:prstGeom>
        </p:spPr>
      </p:pic>
      <p:sp>
        <p:nvSpPr>
          <p:cNvPr id="7" name="Text Box 9">
            <a:extLst>
              <a:ext uri="{FF2B5EF4-FFF2-40B4-BE49-F238E27FC236}">
                <a16:creationId xmlns:a16="http://schemas.microsoft.com/office/drawing/2014/main" id="{C0077A48-E04D-4B4B-8612-D44409ECFFF0}"/>
              </a:ext>
            </a:extLst>
          </p:cNvPr>
          <p:cNvSpPr txBox="1">
            <a:spLocks noChangeArrowheads="1"/>
          </p:cNvSpPr>
          <p:nvPr/>
        </p:nvSpPr>
        <p:spPr bwMode="auto">
          <a:xfrm>
            <a:off x="6384985" y="4362426"/>
            <a:ext cx="250552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b="1">
                <a:solidFill>
                  <a:srgbClr val="000099"/>
                </a:solidFill>
                <a:latin typeface="宋体" panose="02010600030101010101" pitchFamily="2" charset="-122"/>
                <a:ea typeface="宋体" panose="02010600030101010101" pitchFamily="2" charset="-122"/>
              </a:rPr>
              <a:t>图</a:t>
            </a:r>
            <a:r>
              <a:rPr lang="en-US" altLang="zh-CN" b="1">
                <a:solidFill>
                  <a:srgbClr val="000099"/>
                </a:solidFill>
                <a:latin typeface="宋体" panose="02010600030101010101" pitchFamily="2" charset="-122"/>
                <a:ea typeface="宋体" panose="02010600030101010101" pitchFamily="2" charset="-122"/>
              </a:rPr>
              <a:t>6-7 </a:t>
            </a:r>
            <a:r>
              <a:rPr lang="zh-CN" altLang="en-US" b="1">
                <a:solidFill>
                  <a:srgbClr val="000099"/>
                </a:solidFill>
                <a:latin typeface="宋体" panose="02010600030101010101" pitchFamily="2" charset="-122"/>
                <a:ea typeface="宋体" panose="02010600030101010101" pitchFamily="2" charset="-122"/>
              </a:rPr>
              <a:t>剪切力的作用方向</a:t>
            </a:r>
            <a:endParaRPr lang="zh-CN" altLang="en-US" b="1" dirty="0">
              <a:solidFill>
                <a:srgbClr val="000099"/>
              </a:solidFill>
              <a:latin typeface="宋体" panose="02010600030101010101" pitchFamily="2" charset="-122"/>
              <a:ea typeface="宋体" panose="02010600030101010101" pitchFamily="2" charset="-122"/>
            </a:endParaRPr>
          </a:p>
        </p:txBody>
      </p:sp>
      <p:sp>
        <p:nvSpPr>
          <p:cNvPr id="4" name="TextBox 3">
            <a:extLst>
              <a:ext uri="{FF2B5EF4-FFF2-40B4-BE49-F238E27FC236}">
                <a16:creationId xmlns:a16="http://schemas.microsoft.com/office/drawing/2014/main" id="{3A799759-39BE-4DAD-AE2B-C4163276431E}"/>
              </a:ext>
            </a:extLst>
          </p:cNvPr>
          <p:cNvSpPr txBox="1"/>
          <p:nvPr/>
        </p:nvSpPr>
        <p:spPr>
          <a:xfrm>
            <a:off x="185083" y="1292305"/>
            <a:ext cx="6057899" cy="5252400"/>
          </a:xfrm>
          <a:prstGeom prst="rect">
            <a:avLst/>
          </a:prstGeom>
          <a:noFill/>
        </p:spPr>
        <p:txBody>
          <a:bodyPr wrap="square" rtlCol="0">
            <a:spAutoFit/>
          </a:bodyPr>
          <a:lstStyle/>
          <a:p>
            <a:pPr>
              <a:lnSpc>
                <a:spcPct val="110000"/>
              </a:lnSpc>
              <a:spcBef>
                <a:spcPts val="600"/>
              </a:spcBef>
            </a:pPr>
            <a:r>
              <a:rPr lang="zh-CN" altLang="en-US" sz="2000" b="1">
                <a:latin typeface="宋体" panose="02010600030101010101" pitchFamily="2" charset="-122"/>
                <a:ea typeface="宋体" panose="02010600030101010101" pitchFamily="2" charset="-122"/>
              </a:rPr>
              <a:t>压电常数有两个下角注：</a:t>
            </a:r>
            <a:endParaRPr lang="en-US" altLang="zh-CN" sz="2000" b="1">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第一个角注</a:t>
            </a:r>
            <a:r>
              <a:rPr lang="en-US" altLang="zh-CN" sz="2000" b="1">
                <a:latin typeface="宋体" panose="02010600030101010101" pitchFamily="2" charset="-122"/>
                <a:ea typeface="宋体" panose="02010600030101010101" pitchFamily="2" charset="-122"/>
              </a:rPr>
              <a:t>i</a:t>
            </a:r>
            <a:r>
              <a:rPr lang="zh-CN" altLang="en-US" sz="2000" b="1">
                <a:latin typeface="宋体" panose="02010600030101010101" pitchFamily="2" charset="-122"/>
                <a:ea typeface="宋体" panose="02010600030101010101" pitchFamily="2" charset="-122"/>
              </a:rPr>
              <a:t>表示</a:t>
            </a:r>
            <a:r>
              <a:rPr lang="zh-CN" altLang="en-US" sz="2000" b="1">
                <a:solidFill>
                  <a:srgbClr val="C00000"/>
                </a:solidFill>
                <a:latin typeface="宋体" panose="02010600030101010101" pitchFamily="2" charset="-122"/>
                <a:ea typeface="宋体" panose="02010600030101010101" pitchFamily="2" charset="-122"/>
              </a:rPr>
              <a:t>晶体的极化方向</a:t>
            </a:r>
            <a:r>
              <a:rPr lang="zh-CN" altLang="en-US" sz="2000" b="1">
                <a:latin typeface="宋体" panose="02010600030101010101" pitchFamily="2" charset="-122"/>
                <a:ea typeface="宋体" panose="02010600030101010101" pitchFamily="2" charset="-122"/>
              </a:rPr>
              <a:t>，即产生电荷的表面垂直于</a:t>
            </a:r>
            <a:r>
              <a:rPr lang="en-US" altLang="zh-CN" sz="2000" b="1">
                <a:latin typeface="宋体" panose="02010600030101010101" pitchFamily="2" charset="-122"/>
                <a:ea typeface="宋体" panose="02010600030101010101" pitchFamily="2" charset="-122"/>
              </a:rPr>
              <a:t>X</a:t>
            </a:r>
            <a:r>
              <a:rPr lang="zh-CN" altLang="en-US" sz="2000" b="1">
                <a:latin typeface="宋体" panose="02010600030101010101" pitchFamily="2" charset="-122"/>
                <a:ea typeface="宋体" panose="02010600030101010101" pitchFamily="2" charset="-122"/>
              </a:rPr>
              <a:t>轴</a:t>
            </a:r>
            <a:r>
              <a:rPr lang="en-US" altLang="zh-CN" sz="2000" b="1">
                <a:latin typeface="宋体" panose="02010600030101010101" pitchFamily="2" charset="-122"/>
                <a:ea typeface="宋体" panose="02010600030101010101" pitchFamily="2" charset="-122"/>
              </a:rPr>
              <a:t>(Y</a:t>
            </a:r>
            <a:r>
              <a:rPr lang="zh-CN" altLang="en-US" sz="2000" b="1">
                <a:latin typeface="宋体" panose="02010600030101010101" pitchFamily="2" charset="-122"/>
                <a:ea typeface="宋体" panose="02010600030101010101" pitchFamily="2" charset="-122"/>
              </a:rPr>
              <a:t>轴或</a:t>
            </a:r>
            <a:r>
              <a:rPr lang="en-US" altLang="zh-CN" sz="2000" b="1">
                <a:latin typeface="宋体" panose="02010600030101010101" pitchFamily="2" charset="-122"/>
                <a:ea typeface="宋体" panose="02010600030101010101" pitchFamily="2" charset="-122"/>
              </a:rPr>
              <a:t>Z</a:t>
            </a:r>
            <a:r>
              <a:rPr lang="zh-CN" altLang="en-US" sz="2000" b="1">
                <a:latin typeface="宋体" panose="02010600030101010101" pitchFamily="2" charset="-122"/>
                <a:ea typeface="宋体" panose="02010600030101010101" pitchFamily="2" charset="-122"/>
              </a:rPr>
              <a:t>轴</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，记作</a:t>
            </a:r>
            <a:r>
              <a:rPr lang="en-US" altLang="zh-CN" sz="2000" b="1">
                <a:latin typeface="宋体" panose="02010600030101010101" pitchFamily="2" charset="-122"/>
                <a:ea typeface="宋体" panose="02010600030101010101" pitchFamily="2" charset="-122"/>
              </a:rPr>
              <a:t>i=1(</a:t>
            </a:r>
            <a:r>
              <a:rPr lang="zh-CN" altLang="en-US" sz="2000" b="1">
                <a:latin typeface="宋体" panose="02010600030101010101" pitchFamily="2" charset="-122"/>
                <a:ea typeface="宋体" panose="02010600030101010101" pitchFamily="2" charset="-122"/>
              </a:rPr>
              <a:t>或</a:t>
            </a:r>
            <a:r>
              <a:rPr lang="en-US" altLang="zh-CN" sz="2000" b="1">
                <a:latin typeface="宋体" panose="02010600030101010101" pitchFamily="2" charset="-122"/>
                <a:ea typeface="宋体" panose="02010600030101010101" pitchFamily="2" charset="-122"/>
              </a:rPr>
              <a:t>2</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3)</a:t>
            </a:r>
            <a:r>
              <a:rPr lang="zh-CN" altLang="en-US" sz="2000" b="1">
                <a:latin typeface="宋体" panose="02010600030101010101" pitchFamily="2" charset="-122"/>
                <a:ea typeface="宋体" panose="02010600030101010101" pitchFamily="2" charset="-122"/>
              </a:rPr>
              <a:t>；</a:t>
            </a:r>
            <a:endParaRPr lang="en-US" altLang="zh-CN" sz="2000" b="1">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第二个角注</a:t>
            </a:r>
            <a:r>
              <a:rPr lang="en-US" altLang="zh-CN" sz="2000" b="1">
                <a:latin typeface="宋体" panose="02010600030101010101" pitchFamily="2" charset="-122"/>
                <a:ea typeface="宋体" panose="02010600030101010101" pitchFamily="2" charset="-122"/>
              </a:rPr>
              <a:t>j=1(</a:t>
            </a:r>
            <a:r>
              <a:rPr lang="zh-CN" altLang="en-US" sz="2000" b="1">
                <a:latin typeface="宋体" panose="02010600030101010101" pitchFamily="2" charset="-122"/>
                <a:ea typeface="宋体" panose="02010600030101010101" pitchFamily="2" charset="-122"/>
              </a:rPr>
              <a:t>或</a:t>
            </a:r>
            <a:r>
              <a:rPr lang="en-US" altLang="zh-CN" sz="2000" b="1">
                <a:latin typeface="宋体" panose="02010600030101010101" pitchFamily="2" charset="-122"/>
                <a:ea typeface="宋体" panose="02010600030101010101" pitchFamily="2" charset="-122"/>
              </a:rPr>
              <a:t>2</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3</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4</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5</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6)</a:t>
            </a:r>
            <a:r>
              <a:rPr lang="zh-CN" altLang="en-US" sz="2000" b="1">
                <a:latin typeface="宋体" panose="02010600030101010101" pitchFamily="2" charset="-122"/>
                <a:ea typeface="宋体" panose="02010600030101010101" pitchFamily="2" charset="-122"/>
              </a:rPr>
              <a:t>，分别表示在沿</a:t>
            </a:r>
            <a:r>
              <a:rPr lang="en-US" altLang="zh-CN" sz="2000" b="1">
                <a:latin typeface="宋体" panose="02010600030101010101" pitchFamily="2" charset="-122"/>
                <a:ea typeface="宋体" panose="02010600030101010101" pitchFamily="2" charset="-122"/>
              </a:rPr>
              <a:t>X</a:t>
            </a:r>
            <a:r>
              <a:rPr lang="zh-CN" altLang="en-US" sz="2000" b="1">
                <a:latin typeface="宋体" panose="02010600030101010101" pitchFamily="2" charset="-122"/>
                <a:ea typeface="宋体" panose="02010600030101010101" pitchFamily="2" charset="-122"/>
              </a:rPr>
              <a:t>轴、</a:t>
            </a:r>
            <a:r>
              <a:rPr lang="en-US" altLang="zh-CN" sz="2000" b="1">
                <a:latin typeface="宋体" panose="02010600030101010101" pitchFamily="2" charset="-122"/>
                <a:ea typeface="宋体" panose="02010600030101010101" pitchFamily="2" charset="-122"/>
              </a:rPr>
              <a:t>Y</a:t>
            </a:r>
            <a:r>
              <a:rPr lang="zh-CN" altLang="en-US" sz="2000" b="1">
                <a:latin typeface="宋体" panose="02010600030101010101" pitchFamily="2" charset="-122"/>
                <a:ea typeface="宋体" panose="02010600030101010101" pitchFamily="2" charset="-122"/>
              </a:rPr>
              <a:t>轴、</a:t>
            </a:r>
            <a:r>
              <a:rPr lang="en-US" altLang="zh-CN" sz="2000" b="1">
                <a:latin typeface="宋体" panose="02010600030101010101" pitchFamily="2" charset="-122"/>
                <a:ea typeface="宋体" panose="02010600030101010101" pitchFamily="2" charset="-122"/>
              </a:rPr>
              <a:t>Z</a:t>
            </a:r>
            <a:r>
              <a:rPr lang="zh-CN" altLang="en-US" sz="2000" b="1">
                <a:latin typeface="宋体" panose="02010600030101010101" pitchFamily="2" charset="-122"/>
                <a:ea typeface="宋体" panose="02010600030101010101" pitchFamily="2" charset="-122"/>
              </a:rPr>
              <a:t>轴方向作用的</a:t>
            </a:r>
            <a:r>
              <a:rPr lang="zh-CN" altLang="en-US" sz="2000" b="1">
                <a:solidFill>
                  <a:srgbClr val="C00000"/>
                </a:solidFill>
                <a:latin typeface="宋体" panose="02010600030101010101" pitchFamily="2" charset="-122"/>
                <a:ea typeface="宋体" panose="02010600030101010101" pitchFamily="2" charset="-122"/>
              </a:rPr>
              <a:t>单向应力</a:t>
            </a:r>
            <a:r>
              <a:rPr lang="zh-CN" altLang="en-US" sz="2000" b="1">
                <a:latin typeface="宋体" panose="02010600030101010101" pitchFamily="2" charset="-122"/>
                <a:ea typeface="宋体" panose="02010600030101010101" pitchFamily="2" charset="-122"/>
              </a:rPr>
              <a:t>和在垂直于</a:t>
            </a:r>
            <a:r>
              <a:rPr lang="en-US" altLang="zh-CN" sz="2000" b="1">
                <a:latin typeface="宋体" panose="02010600030101010101" pitchFamily="2" charset="-122"/>
                <a:ea typeface="宋体" panose="02010600030101010101" pitchFamily="2" charset="-122"/>
              </a:rPr>
              <a:t>X</a:t>
            </a:r>
            <a:r>
              <a:rPr lang="zh-CN" altLang="en-US" sz="2000" b="1">
                <a:latin typeface="宋体" panose="02010600030101010101" pitchFamily="2" charset="-122"/>
                <a:ea typeface="宋体" panose="02010600030101010101" pitchFamily="2" charset="-122"/>
              </a:rPr>
              <a:t>轴、</a:t>
            </a:r>
            <a:r>
              <a:rPr lang="en-US" altLang="zh-CN" sz="2000" b="1">
                <a:latin typeface="宋体" panose="02010600030101010101" pitchFamily="2" charset="-122"/>
                <a:ea typeface="宋体" panose="02010600030101010101" pitchFamily="2" charset="-122"/>
              </a:rPr>
              <a:t>Y</a:t>
            </a:r>
            <a:r>
              <a:rPr lang="zh-CN" altLang="en-US" sz="2000" b="1">
                <a:latin typeface="宋体" panose="02010600030101010101" pitchFamily="2" charset="-122"/>
                <a:ea typeface="宋体" panose="02010600030101010101" pitchFamily="2" charset="-122"/>
              </a:rPr>
              <a:t>轴、</a:t>
            </a:r>
            <a:r>
              <a:rPr lang="en-US" altLang="zh-CN" sz="2000" b="1">
                <a:latin typeface="宋体" panose="02010600030101010101" pitchFamily="2" charset="-122"/>
                <a:ea typeface="宋体" panose="02010600030101010101" pitchFamily="2" charset="-122"/>
              </a:rPr>
              <a:t>Z</a:t>
            </a:r>
            <a:r>
              <a:rPr lang="zh-CN" altLang="en-US" sz="2000" b="1">
                <a:latin typeface="宋体" panose="02010600030101010101" pitchFamily="2" charset="-122"/>
                <a:ea typeface="宋体" panose="02010600030101010101" pitchFamily="2" charset="-122"/>
              </a:rPr>
              <a:t>轴的平面内</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即</a:t>
            </a:r>
            <a:r>
              <a:rPr lang="en-US" altLang="zh-CN" sz="2000" b="1">
                <a:latin typeface="宋体" panose="02010600030101010101" pitchFamily="2" charset="-122"/>
                <a:ea typeface="宋体" panose="02010600030101010101" pitchFamily="2" charset="-122"/>
              </a:rPr>
              <a:t>YZ</a:t>
            </a:r>
            <a:r>
              <a:rPr lang="zh-CN" altLang="en-US" sz="2000" b="1">
                <a:latin typeface="宋体" panose="02010600030101010101" pitchFamily="2" charset="-122"/>
                <a:ea typeface="宋体" panose="02010600030101010101" pitchFamily="2" charset="-122"/>
              </a:rPr>
              <a:t>平面、</a:t>
            </a:r>
            <a:r>
              <a:rPr lang="en-US" altLang="zh-CN" sz="2000" b="1">
                <a:latin typeface="宋体" panose="02010600030101010101" pitchFamily="2" charset="-122"/>
                <a:ea typeface="宋体" panose="02010600030101010101" pitchFamily="2" charset="-122"/>
              </a:rPr>
              <a:t>XZ</a:t>
            </a:r>
            <a:r>
              <a:rPr lang="zh-CN" altLang="en-US" sz="2000" b="1">
                <a:latin typeface="宋体" panose="02010600030101010101" pitchFamily="2" charset="-122"/>
                <a:ea typeface="宋体" panose="02010600030101010101" pitchFamily="2" charset="-122"/>
              </a:rPr>
              <a:t>平面、</a:t>
            </a:r>
            <a:r>
              <a:rPr lang="en-US" altLang="zh-CN" sz="2000" b="1">
                <a:latin typeface="宋体" panose="02010600030101010101" pitchFamily="2" charset="-122"/>
                <a:ea typeface="宋体" panose="02010600030101010101" pitchFamily="2" charset="-122"/>
              </a:rPr>
              <a:t>XY</a:t>
            </a:r>
            <a:r>
              <a:rPr lang="zh-CN" altLang="en-US" sz="2000" b="1">
                <a:latin typeface="宋体" panose="02010600030101010101" pitchFamily="2" charset="-122"/>
                <a:ea typeface="宋体" panose="02010600030101010101" pitchFamily="2" charset="-122"/>
              </a:rPr>
              <a:t>平面</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作用的</a:t>
            </a:r>
            <a:r>
              <a:rPr lang="zh-CN" altLang="en-US" sz="2000" b="1">
                <a:solidFill>
                  <a:srgbClr val="C00000"/>
                </a:solidFill>
                <a:latin typeface="宋体" panose="02010600030101010101" pitchFamily="2" charset="-122"/>
                <a:ea typeface="宋体" panose="02010600030101010101" pitchFamily="2" charset="-122"/>
              </a:rPr>
              <a:t>剪切力</a:t>
            </a:r>
            <a:r>
              <a:rPr lang="zh-CN" altLang="en-US" sz="2000" b="1">
                <a:latin typeface="宋体" panose="02010600030101010101" pitchFamily="2" charset="-122"/>
                <a:ea typeface="宋体" panose="02010600030101010101" pitchFamily="2" charset="-122"/>
              </a:rPr>
              <a:t>。</a:t>
            </a:r>
            <a:endParaRPr lang="en-US" altLang="zh-CN" sz="2000" b="1">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单位应力的符号规定</a:t>
            </a:r>
            <a:r>
              <a:rPr lang="zh-CN" altLang="en-US" sz="2000" b="1">
                <a:solidFill>
                  <a:srgbClr val="C00000"/>
                </a:solidFill>
                <a:latin typeface="宋体" panose="02010600030101010101" pitchFamily="2" charset="-122"/>
                <a:ea typeface="宋体" panose="02010600030101010101" pitchFamily="2" charset="-122"/>
              </a:rPr>
              <a:t>拉应力为正，而压应力为负</a:t>
            </a:r>
            <a:r>
              <a:rPr lang="zh-CN" altLang="en-US" sz="2000" b="1">
                <a:latin typeface="宋体" panose="02010600030101010101" pitchFamily="2" charset="-122"/>
                <a:ea typeface="宋体" panose="02010600030101010101" pitchFamily="2" charset="-122"/>
              </a:rPr>
              <a:t>。</a:t>
            </a:r>
            <a:endParaRPr lang="en-US" altLang="zh-CN" sz="2000" b="1">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剪切力的正号规定为</a:t>
            </a:r>
            <a:r>
              <a:rPr lang="zh-CN" altLang="en-US" sz="2000" b="1">
                <a:solidFill>
                  <a:srgbClr val="C00000"/>
                </a:solidFill>
                <a:latin typeface="宋体" panose="02010600030101010101" pitchFamily="2" charset="-122"/>
                <a:ea typeface="宋体" panose="02010600030101010101" pitchFamily="2" charset="-122"/>
              </a:rPr>
              <a:t>自旋转轴的正向</a:t>
            </a:r>
            <a:r>
              <a:rPr lang="zh-CN" altLang="en-US" sz="2000" b="1">
                <a:latin typeface="宋体" panose="02010600030101010101" pitchFamily="2" charset="-122"/>
                <a:ea typeface="宋体" panose="02010600030101010101" pitchFamily="2" charset="-122"/>
              </a:rPr>
              <a:t>看去使其</a:t>
            </a:r>
            <a:r>
              <a:rPr lang="en-US" altLang="zh-CN" sz="2000" b="1">
                <a:latin typeface="宋体" panose="02010600030101010101" pitchFamily="2" charset="-122"/>
                <a:ea typeface="宋体" panose="02010600030101010101" pitchFamily="2" charset="-122"/>
              </a:rPr>
              <a:t>I</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Ⅲ</a:t>
            </a:r>
            <a:r>
              <a:rPr lang="zh-CN" altLang="en-US" sz="2000" b="1">
                <a:latin typeface="宋体" panose="02010600030101010101" pitchFamily="2" charset="-122"/>
                <a:ea typeface="宋体" panose="02010600030101010101" pitchFamily="2" charset="-122"/>
              </a:rPr>
              <a:t>象限的对象线伸长。</a:t>
            </a:r>
            <a:endParaRPr lang="en-US" altLang="zh-CN" sz="2000" b="1">
              <a:latin typeface="宋体" panose="02010600030101010101" pitchFamily="2" charset="-122"/>
              <a:ea typeface="宋体" panose="02010600030101010101" pitchFamily="2" charset="-122"/>
            </a:endParaRPr>
          </a:p>
          <a:p>
            <a:pPr marL="285750" indent="-285750">
              <a:lnSpc>
                <a:spcPct val="11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压电常数</a:t>
            </a:r>
            <a:r>
              <a:rPr lang="en-US" altLang="zh-CN" sz="2000" b="1">
                <a:solidFill>
                  <a:srgbClr val="C00000"/>
                </a:solidFill>
                <a:latin typeface="宋体" panose="02010600030101010101" pitchFamily="2" charset="-122"/>
                <a:ea typeface="宋体" panose="02010600030101010101" pitchFamily="2" charset="-122"/>
              </a:rPr>
              <a:t>d31</a:t>
            </a:r>
            <a:r>
              <a:rPr lang="zh-CN" altLang="en-US" sz="2000" b="1">
                <a:latin typeface="宋体" panose="02010600030101010101" pitchFamily="2" charset="-122"/>
                <a:ea typeface="宋体" panose="02010600030101010101" pitchFamily="2" charset="-122"/>
              </a:rPr>
              <a:t>表示沿</a:t>
            </a:r>
            <a:r>
              <a:rPr lang="en-US" altLang="zh-CN" sz="2000" b="1">
                <a:latin typeface="宋体" panose="02010600030101010101" pitchFamily="2" charset="-122"/>
                <a:ea typeface="宋体" panose="02010600030101010101" pitchFamily="2" charset="-122"/>
              </a:rPr>
              <a:t>X</a:t>
            </a:r>
            <a:r>
              <a:rPr lang="zh-CN" altLang="en-US" sz="2000" b="1">
                <a:latin typeface="宋体" panose="02010600030101010101" pitchFamily="2" charset="-122"/>
                <a:ea typeface="宋体" panose="02010600030101010101" pitchFamily="2" charset="-122"/>
              </a:rPr>
              <a:t>轴方向作用单向应力，而在垂直于</a:t>
            </a:r>
            <a:r>
              <a:rPr lang="en-US" altLang="zh-CN" sz="2000" b="1">
                <a:latin typeface="宋体" panose="02010600030101010101" pitchFamily="2" charset="-122"/>
                <a:ea typeface="宋体" panose="02010600030101010101" pitchFamily="2" charset="-122"/>
              </a:rPr>
              <a:t>Z</a:t>
            </a:r>
            <a:r>
              <a:rPr lang="zh-CN" altLang="en-US" sz="2000" b="1">
                <a:latin typeface="宋体" panose="02010600030101010101" pitchFamily="2" charset="-122"/>
                <a:ea typeface="宋体" panose="02010600030101010101" pitchFamily="2" charset="-122"/>
              </a:rPr>
              <a:t>轴的表面产生电荷；</a:t>
            </a:r>
            <a:endParaRPr lang="en-US" altLang="zh-CN" sz="2000" b="1">
              <a:latin typeface="宋体" panose="02010600030101010101" pitchFamily="2" charset="-122"/>
              <a:ea typeface="宋体" panose="02010600030101010101" pitchFamily="2" charset="-122"/>
            </a:endParaRPr>
          </a:p>
          <a:p>
            <a:pPr marL="285750" indent="-285750">
              <a:lnSpc>
                <a:spcPct val="11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压电常数</a:t>
            </a:r>
            <a:r>
              <a:rPr lang="en-US" altLang="zh-CN" sz="2000" b="1">
                <a:latin typeface="宋体" panose="02010600030101010101" pitchFamily="2" charset="-122"/>
                <a:ea typeface="宋体" panose="02010600030101010101" pitchFamily="2" charset="-122"/>
              </a:rPr>
              <a:t>d16</a:t>
            </a:r>
            <a:r>
              <a:rPr lang="zh-CN" altLang="en-US" sz="2000" b="1">
                <a:latin typeface="宋体" panose="02010600030101010101" pitchFamily="2" charset="-122"/>
                <a:ea typeface="宋体" panose="02010600030101010101" pitchFamily="2" charset="-122"/>
              </a:rPr>
              <a:t>表示在垂直于</a:t>
            </a:r>
            <a:r>
              <a:rPr lang="en-US" altLang="zh-CN" sz="2000" b="1">
                <a:latin typeface="宋体" panose="02010600030101010101" pitchFamily="2" charset="-122"/>
                <a:ea typeface="宋体" panose="02010600030101010101" pitchFamily="2" charset="-122"/>
              </a:rPr>
              <a:t>Z</a:t>
            </a:r>
            <a:r>
              <a:rPr lang="zh-CN" altLang="en-US" sz="2000" b="1">
                <a:latin typeface="宋体" panose="02010600030101010101" pitchFamily="2" charset="-122"/>
                <a:ea typeface="宋体" panose="02010600030101010101" pitchFamily="2" charset="-122"/>
              </a:rPr>
              <a:t>轴的平面即</a:t>
            </a:r>
            <a:r>
              <a:rPr lang="en-US" altLang="zh-CN" sz="2000" b="1">
                <a:latin typeface="宋体" panose="02010600030101010101" pitchFamily="2" charset="-122"/>
                <a:ea typeface="宋体" panose="02010600030101010101" pitchFamily="2" charset="-122"/>
              </a:rPr>
              <a:t>XY</a:t>
            </a:r>
            <a:r>
              <a:rPr lang="zh-CN" altLang="en-US" sz="2000" b="1">
                <a:latin typeface="宋体" panose="02010600030101010101" pitchFamily="2" charset="-122"/>
                <a:ea typeface="宋体" panose="02010600030101010101" pitchFamily="2" charset="-122"/>
              </a:rPr>
              <a:t>平面内作用剪切力，而在垂直于</a:t>
            </a:r>
            <a:r>
              <a:rPr lang="en-US" altLang="zh-CN" sz="2000" b="1">
                <a:latin typeface="宋体" panose="02010600030101010101" pitchFamily="2" charset="-122"/>
                <a:ea typeface="宋体" panose="02010600030101010101" pitchFamily="2" charset="-122"/>
              </a:rPr>
              <a:t>X</a:t>
            </a:r>
            <a:r>
              <a:rPr lang="zh-CN" altLang="en-US" sz="2000" b="1">
                <a:latin typeface="宋体" panose="02010600030101010101" pitchFamily="2" charset="-122"/>
                <a:ea typeface="宋体" panose="02010600030101010101" pitchFamily="2" charset="-122"/>
              </a:rPr>
              <a:t>轴的表面产生电荷。</a:t>
            </a:r>
            <a:endParaRPr lang="en-US" altLang="zh-CN" sz="2000" b="1">
              <a:latin typeface="宋体" panose="02010600030101010101" pitchFamily="2" charset="-122"/>
              <a:ea typeface="宋体" panose="02010600030101010101" pitchFamily="2" charset="-122"/>
            </a:endParaRPr>
          </a:p>
        </p:txBody>
      </p:sp>
      <p:graphicFrame>
        <p:nvGraphicFramePr>
          <p:cNvPr id="5" name="Object 4">
            <a:extLst>
              <a:ext uri="{FF2B5EF4-FFF2-40B4-BE49-F238E27FC236}">
                <a16:creationId xmlns:a16="http://schemas.microsoft.com/office/drawing/2014/main" id="{429E92B0-3553-4016-A7E9-9B7AD487E92B}"/>
              </a:ext>
            </a:extLst>
          </p:cNvPr>
          <p:cNvGraphicFramePr>
            <a:graphicFrameLocks noChangeAspect="1"/>
          </p:cNvGraphicFramePr>
          <p:nvPr>
            <p:extLst>
              <p:ext uri="{D42A27DB-BD31-4B8C-83A1-F6EECF244321}">
                <p14:modId xmlns:p14="http://schemas.microsoft.com/office/powerpoint/2010/main" val="1189710982"/>
              </p:ext>
            </p:extLst>
          </p:nvPr>
        </p:nvGraphicFramePr>
        <p:xfrm>
          <a:off x="6709061" y="1082437"/>
          <a:ext cx="1857375" cy="688975"/>
        </p:xfrm>
        <a:graphic>
          <a:graphicData uri="http://schemas.openxmlformats.org/presentationml/2006/ole">
            <mc:AlternateContent xmlns:mc="http://schemas.openxmlformats.org/markup-compatibility/2006">
              <mc:Choice xmlns:v="urn:schemas-microsoft-com:vml" Requires="v">
                <p:oleObj name="Equation" r:id="rId4" imgW="1857739" imgH="689065" progId="Equation.DSMT4">
                  <p:embed/>
                </p:oleObj>
              </mc:Choice>
              <mc:Fallback>
                <p:oleObj name="Equation" r:id="rId4" imgW="1857739" imgH="689065" progId="Equation.DSMT4">
                  <p:embed/>
                  <p:pic>
                    <p:nvPicPr>
                      <p:cNvPr id="0" name=""/>
                      <p:cNvPicPr/>
                      <p:nvPr/>
                    </p:nvPicPr>
                    <p:blipFill>
                      <a:blip r:embed="rId5"/>
                      <a:stretch>
                        <a:fillRect/>
                      </a:stretch>
                    </p:blipFill>
                    <p:spPr>
                      <a:xfrm>
                        <a:off x="6709061" y="1082437"/>
                        <a:ext cx="1857375" cy="688975"/>
                      </a:xfrm>
                      <a:prstGeom prst="rect">
                        <a:avLst/>
                      </a:prstGeom>
                    </p:spPr>
                  </p:pic>
                </p:oleObj>
              </mc:Fallback>
            </mc:AlternateContent>
          </a:graphicData>
        </a:graphic>
      </p:graphicFrame>
    </p:spTree>
    <p:extLst>
      <p:ext uri="{BB962C8B-B14F-4D97-AF65-F5344CB8AC3E}">
        <p14:creationId xmlns:p14="http://schemas.microsoft.com/office/powerpoint/2010/main" val="14149254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3" name="Slide Number Placeholder 2">
            <a:extLst>
              <a:ext uri="{FF2B5EF4-FFF2-40B4-BE49-F238E27FC236}">
                <a16:creationId xmlns:a16="http://schemas.microsoft.com/office/drawing/2014/main" id="{D49838C7-B6C0-475C-A655-C4D6FFE40A78}"/>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
        <p:nvSpPr>
          <p:cNvPr id="7" name="TextBox 6">
            <a:extLst>
              <a:ext uri="{FF2B5EF4-FFF2-40B4-BE49-F238E27FC236}">
                <a16:creationId xmlns:a16="http://schemas.microsoft.com/office/drawing/2014/main" id="{D901AECF-7342-4FB4-A73B-85982DB0A920}"/>
              </a:ext>
            </a:extLst>
          </p:cNvPr>
          <p:cNvSpPr txBox="1"/>
          <p:nvPr/>
        </p:nvSpPr>
        <p:spPr>
          <a:xfrm>
            <a:off x="1078096" y="1874013"/>
            <a:ext cx="6732404" cy="2944076"/>
          </a:xfrm>
          <a:prstGeom prst="rect">
            <a:avLst/>
          </a:prstGeom>
          <a:noFill/>
        </p:spPr>
        <p:txBody>
          <a:bodyPr wrap="square" rtlCol="0">
            <a:spAutoFit/>
          </a:bodyPr>
          <a:lstStyle>
            <a:defPPr>
              <a:defRPr lang="zh-CN"/>
            </a:defPPr>
            <a:lvl1pPr>
              <a:lnSpc>
                <a:spcPct val="110000"/>
              </a:lnSpc>
              <a:spcBef>
                <a:spcPts val="600"/>
              </a:spcBef>
              <a:defRPr sz="2000" b="1">
                <a:latin typeface="宋体" panose="02010600030101010101" pitchFamily="2" charset="-122"/>
                <a:ea typeface="宋体" panose="02010600030101010101" pitchFamily="2" charset="-122"/>
              </a:defRPr>
            </a:lvl1pPr>
          </a:lstStyle>
          <a:p>
            <a:pPr>
              <a:lnSpc>
                <a:spcPct val="150000"/>
              </a:lnSpc>
            </a:pPr>
            <a:r>
              <a:rPr lang="zh-CN" altLang="en-US"/>
              <a:t>此外，还需要对</a:t>
            </a:r>
            <a:r>
              <a:rPr lang="zh-CN" altLang="en-US">
                <a:solidFill>
                  <a:srgbClr val="C00000"/>
                </a:solidFill>
              </a:rPr>
              <a:t>因逆压电效应、受机械应力而在晶体内部产生的电场方向</a:t>
            </a:r>
            <a:r>
              <a:rPr lang="zh-CN" altLang="en-US"/>
              <a:t>也作一个规定，以确定压电常数</a:t>
            </a:r>
            <a:r>
              <a:rPr lang="en-US" altLang="zh-CN"/>
              <a:t>dij</a:t>
            </a:r>
            <a:r>
              <a:rPr lang="zh-CN" altLang="en-US"/>
              <a:t>的符号。</a:t>
            </a:r>
            <a:endParaRPr lang="en-US" altLang="zh-CN"/>
          </a:p>
          <a:p>
            <a:pPr marL="342900" indent="-342900">
              <a:lnSpc>
                <a:spcPct val="150000"/>
              </a:lnSpc>
              <a:buFont typeface="Arial" panose="020B0604020202020204" pitchFamily="34" charset="0"/>
              <a:buChar char="•"/>
            </a:pPr>
            <a:r>
              <a:rPr lang="zh-CN" altLang="en-US"/>
              <a:t>当电场方向指向</a:t>
            </a:r>
            <a:r>
              <a:rPr lang="zh-CN" altLang="en-US">
                <a:solidFill>
                  <a:srgbClr val="C00000"/>
                </a:solidFill>
              </a:rPr>
              <a:t>晶轴的正向</a:t>
            </a:r>
            <a:r>
              <a:rPr lang="zh-CN" altLang="en-US"/>
              <a:t>时为正，而电场方向与晶轴方向相反时为负。</a:t>
            </a:r>
            <a:endParaRPr lang="en-US" altLang="zh-CN"/>
          </a:p>
          <a:p>
            <a:pPr marL="342900" indent="-342900">
              <a:lnSpc>
                <a:spcPct val="150000"/>
              </a:lnSpc>
              <a:buFont typeface="Arial" panose="020B0604020202020204" pitchFamily="34" charset="0"/>
              <a:buChar char="•"/>
            </a:pPr>
            <a:r>
              <a:rPr lang="zh-CN" altLang="en-US"/>
              <a:t>晶体内部产生的电场方向是由产生负电荷的表面指向产生正电荷的表面。</a:t>
            </a:r>
            <a:endParaRPr lang="en-001"/>
          </a:p>
        </p:txBody>
      </p:sp>
    </p:spTree>
    <p:extLst>
      <p:ext uri="{BB962C8B-B14F-4D97-AF65-F5344CB8AC3E}">
        <p14:creationId xmlns:p14="http://schemas.microsoft.com/office/powerpoint/2010/main" val="28473486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3" name="Slide Number Placeholder 2">
            <a:extLst>
              <a:ext uri="{FF2B5EF4-FFF2-40B4-BE49-F238E27FC236}">
                <a16:creationId xmlns:a16="http://schemas.microsoft.com/office/drawing/2014/main" id="{D49838C7-B6C0-475C-A655-C4D6FFE40A78}"/>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p:sp>
        <p:nvSpPr>
          <p:cNvPr id="2" name="TextBox 1">
            <a:extLst>
              <a:ext uri="{FF2B5EF4-FFF2-40B4-BE49-F238E27FC236}">
                <a16:creationId xmlns:a16="http://schemas.microsoft.com/office/drawing/2014/main" id="{FBEE6376-8BE1-44D2-B0A1-790D7435AF0B}"/>
              </a:ext>
            </a:extLst>
          </p:cNvPr>
          <p:cNvSpPr txBox="1"/>
          <p:nvPr/>
        </p:nvSpPr>
        <p:spPr>
          <a:xfrm>
            <a:off x="789994" y="1126270"/>
            <a:ext cx="7002176" cy="978120"/>
          </a:xfrm>
          <a:prstGeom prst="rect">
            <a:avLst/>
          </a:prstGeom>
          <a:noFill/>
        </p:spPr>
        <p:txBody>
          <a:bodyPr wrap="square" rtlCol="0">
            <a:noAutofit/>
          </a:bodyPr>
          <a:lstStyle/>
          <a:p>
            <a:pPr algn="l">
              <a:lnSpc>
                <a:spcPct val="130000"/>
              </a:lnSpc>
              <a:spcBef>
                <a:spcPts val="600"/>
              </a:spcBef>
            </a:pPr>
            <a:r>
              <a:rPr lang="zh-CN" altLang="en-US" sz="2400">
                <a:latin typeface="宋体" panose="02010600030101010101" pitchFamily="2" charset="-122"/>
                <a:ea typeface="宋体" panose="02010600030101010101" pitchFamily="2" charset="-122"/>
              </a:rPr>
              <a:t>当晶体在任意受力状态下产生的表面电荷密度可由下列方程组决定：</a:t>
            </a:r>
            <a:endParaRPr lang="en-001" sz="2400">
              <a:latin typeface="宋体" panose="02010600030101010101" pitchFamily="2" charset="-122"/>
              <a:ea typeface="宋体" panose="02010600030101010101" pitchFamily="2" charset="-122"/>
            </a:endParaRPr>
          </a:p>
        </p:txBody>
      </p:sp>
      <p:sp>
        <p:nvSpPr>
          <p:cNvPr id="13" name="TextBox 12">
            <a:extLst>
              <a:ext uri="{FF2B5EF4-FFF2-40B4-BE49-F238E27FC236}">
                <a16:creationId xmlns:a16="http://schemas.microsoft.com/office/drawing/2014/main" id="{00C37468-FD9E-4F25-BE32-9E2C7E701AEA}"/>
              </a:ext>
            </a:extLst>
          </p:cNvPr>
          <p:cNvSpPr txBox="1"/>
          <p:nvPr/>
        </p:nvSpPr>
        <p:spPr>
          <a:xfrm>
            <a:off x="441732" y="3437961"/>
            <a:ext cx="8556218" cy="1669907"/>
          </a:xfrm>
          <a:prstGeom prst="rect">
            <a:avLst/>
          </a:prstGeom>
          <a:noFill/>
        </p:spPr>
        <p:txBody>
          <a:bodyPr wrap="square" rtlCol="0">
            <a:noAutofit/>
          </a:bodyPr>
          <a:lstStyle/>
          <a:p>
            <a:pPr marL="342900" lvl="0" indent="-342900" fontAlgn="base">
              <a:spcBef>
                <a:spcPts val="600"/>
              </a:spcBef>
              <a:spcAft>
                <a:spcPct val="0"/>
              </a:spcAft>
              <a:buClr>
                <a:schemeClr val="accent1"/>
              </a:buClr>
              <a:buFont typeface="Arial" panose="020B0604020202020204" pitchFamily="34" charset="0"/>
              <a:buChar char="•"/>
            </a:pPr>
            <a:r>
              <a:rPr lang="en-US" altLang="zh-CN" sz="2200" b="1" i="1">
                <a:solidFill>
                  <a:srgbClr val="000099"/>
                </a:solidFill>
                <a:latin typeface="Times New Roman" panose="02020603050405020304" pitchFamily="18" charset="0"/>
                <a:ea typeface="宋体"/>
              </a:rPr>
              <a:t>q</a:t>
            </a:r>
            <a:r>
              <a:rPr lang="en-US" altLang="zh-CN" sz="2200" b="1" i="1" baseline="-16000">
                <a:solidFill>
                  <a:srgbClr val="000099"/>
                </a:solidFill>
                <a:latin typeface="Times New Roman" panose="02020603050405020304" pitchFamily="18" charset="0"/>
                <a:ea typeface="宋体"/>
              </a:rPr>
              <a:t>xx</a:t>
            </a:r>
            <a:r>
              <a:rPr lang="zh-CN" altLang="en-US" sz="2200" b="1">
                <a:solidFill>
                  <a:srgbClr val="000099"/>
                </a:solidFill>
                <a:latin typeface="Times New Roman" panose="02020603050405020304" pitchFamily="18" charset="0"/>
                <a:ea typeface="宋体"/>
              </a:rPr>
              <a:t>、</a:t>
            </a:r>
            <a:r>
              <a:rPr lang="en-US" altLang="zh-CN" sz="2200" b="1" i="1">
                <a:solidFill>
                  <a:srgbClr val="000099"/>
                </a:solidFill>
                <a:latin typeface="Times New Roman" panose="02020603050405020304" pitchFamily="18" charset="0"/>
                <a:ea typeface="宋体"/>
              </a:rPr>
              <a:t>q</a:t>
            </a:r>
            <a:r>
              <a:rPr lang="en-US" altLang="zh-CN" sz="2200" b="1" i="1" baseline="-16000">
                <a:solidFill>
                  <a:srgbClr val="000099"/>
                </a:solidFill>
                <a:latin typeface="Times New Roman" panose="02020603050405020304" pitchFamily="18" charset="0"/>
                <a:ea typeface="宋体"/>
              </a:rPr>
              <a:t>yy</a:t>
            </a:r>
            <a:r>
              <a:rPr lang="zh-CN" altLang="en-US" sz="2200" b="1">
                <a:solidFill>
                  <a:srgbClr val="000099"/>
                </a:solidFill>
                <a:latin typeface="Times New Roman" panose="02020603050405020304" pitchFamily="18" charset="0"/>
                <a:ea typeface="宋体"/>
              </a:rPr>
              <a:t>、</a:t>
            </a:r>
            <a:r>
              <a:rPr lang="en-US" altLang="zh-CN" sz="2200" b="1" i="1">
                <a:solidFill>
                  <a:srgbClr val="000099"/>
                </a:solidFill>
                <a:latin typeface="Times New Roman" panose="02020603050405020304" pitchFamily="18" charset="0"/>
                <a:ea typeface="宋体"/>
              </a:rPr>
              <a:t>q</a:t>
            </a:r>
            <a:r>
              <a:rPr lang="en-US" altLang="zh-CN" sz="2200" b="1" i="1" baseline="-16000">
                <a:solidFill>
                  <a:srgbClr val="000099"/>
                </a:solidFill>
                <a:latin typeface="Times New Roman" panose="02020603050405020304" pitchFamily="18" charset="0"/>
                <a:ea typeface="宋体"/>
              </a:rPr>
              <a:t>zz</a:t>
            </a:r>
            <a:r>
              <a:rPr lang="zh-CN" altLang="en-US" sz="2200" b="1">
                <a:solidFill>
                  <a:srgbClr val="000099"/>
                </a:solidFill>
                <a:latin typeface="Times New Roman" panose="02020603050405020304" pitchFamily="18" charset="0"/>
                <a:ea typeface="宋体"/>
              </a:rPr>
              <a:t>－垂直于</a:t>
            </a:r>
            <a:r>
              <a:rPr lang="en-US" altLang="zh-CN" sz="2200" b="1">
                <a:solidFill>
                  <a:srgbClr val="000099"/>
                </a:solidFill>
                <a:latin typeface="Times New Roman" panose="02020603050405020304" pitchFamily="18" charset="0"/>
                <a:ea typeface="宋体"/>
              </a:rPr>
              <a:t>x</a:t>
            </a:r>
            <a:r>
              <a:rPr lang="zh-CN" altLang="en-US" sz="2200" b="1">
                <a:solidFill>
                  <a:srgbClr val="000099"/>
                </a:solidFill>
                <a:latin typeface="Times New Roman" panose="02020603050405020304" pitchFamily="18" charset="0"/>
                <a:ea typeface="宋体"/>
              </a:rPr>
              <a:t>轴、</a:t>
            </a:r>
            <a:r>
              <a:rPr lang="en-US" altLang="zh-CN" sz="2200" b="1">
                <a:solidFill>
                  <a:srgbClr val="000099"/>
                </a:solidFill>
                <a:latin typeface="Times New Roman" panose="02020603050405020304" pitchFamily="18" charset="0"/>
                <a:ea typeface="宋体"/>
              </a:rPr>
              <a:t>y</a:t>
            </a:r>
            <a:r>
              <a:rPr lang="zh-CN" altLang="en-US" sz="2200" b="1">
                <a:solidFill>
                  <a:srgbClr val="000099"/>
                </a:solidFill>
                <a:latin typeface="Times New Roman" panose="02020603050405020304" pitchFamily="18" charset="0"/>
                <a:ea typeface="宋体"/>
              </a:rPr>
              <a:t>轴、</a:t>
            </a:r>
            <a:r>
              <a:rPr lang="en-US" altLang="zh-CN" sz="2200" b="1">
                <a:solidFill>
                  <a:srgbClr val="000099"/>
                </a:solidFill>
                <a:latin typeface="Times New Roman" panose="02020603050405020304" pitchFamily="18" charset="0"/>
                <a:ea typeface="宋体"/>
              </a:rPr>
              <a:t>z</a:t>
            </a:r>
            <a:r>
              <a:rPr lang="zh-CN" altLang="en-US" sz="2200" b="1">
                <a:solidFill>
                  <a:srgbClr val="000099"/>
                </a:solidFill>
                <a:latin typeface="Times New Roman" panose="02020603050405020304" pitchFamily="18" charset="0"/>
                <a:ea typeface="宋体"/>
              </a:rPr>
              <a:t>轴的平面上的电荷面密度；</a:t>
            </a:r>
            <a:endParaRPr lang="en-US" altLang="zh-CN" sz="2200" b="1">
              <a:solidFill>
                <a:srgbClr val="000099"/>
              </a:solidFill>
              <a:latin typeface="Times New Roman" panose="02020603050405020304" pitchFamily="18" charset="0"/>
              <a:ea typeface="宋体"/>
            </a:endParaRPr>
          </a:p>
          <a:p>
            <a:pPr marL="342900" lvl="0" indent="-342900" fontAlgn="base">
              <a:spcBef>
                <a:spcPts val="600"/>
              </a:spcBef>
              <a:spcAft>
                <a:spcPct val="0"/>
              </a:spcAft>
              <a:buClr>
                <a:schemeClr val="accent1"/>
              </a:buClr>
              <a:buFont typeface="Arial" panose="020B0604020202020204" pitchFamily="34" charset="0"/>
              <a:buChar char="•"/>
            </a:pPr>
            <a:r>
              <a:rPr lang="zh-CN" altLang="en-US" sz="2200" b="1">
                <a:solidFill>
                  <a:srgbClr val="000099"/>
                </a:solidFill>
                <a:latin typeface="Times New Roman" panose="02020603050405020304" pitchFamily="18" charset="0"/>
                <a:ea typeface="宋体"/>
                <a:sym typeface="Symbol" panose="05050102010706020507" pitchFamily="18" charset="2"/>
              </a:rPr>
              <a:t></a:t>
            </a:r>
            <a:r>
              <a:rPr lang="en-US" altLang="zh-CN" sz="2200" b="1" i="1" baseline="-16000">
                <a:solidFill>
                  <a:srgbClr val="000099"/>
                </a:solidFill>
                <a:latin typeface="Times New Roman" panose="02020603050405020304" pitchFamily="18" charset="0"/>
                <a:ea typeface="宋体"/>
              </a:rPr>
              <a:t>xx</a:t>
            </a:r>
            <a:r>
              <a:rPr lang="zh-CN" altLang="en-US" sz="2200" b="1">
                <a:solidFill>
                  <a:srgbClr val="000099"/>
                </a:solidFill>
                <a:latin typeface="Times New Roman" panose="02020603050405020304" pitchFamily="18" charset="0"/>
                <a:ea typeface="宋体"/>
              </a:rPr>
              <a:t>、 </a:t>
            </a:r>
            <a:r>
              <a:rPr lang="zh-CN" altLang="en-US" sz="2200" b="1">
                <a:solidFill>
                  <a:srgbClr val="000099"/>
                </a:solidFill>
                <a:latin typeface="Times New Roman" panose="02020603050405020304" pitchFamily="18" charset="0"/>
                <a:ea typeface="宋体"/>
                <a:sym typeface="Symbol" panose="05050102010706020507" pitchFamily="18" charset="2"/>
              </a:rPr>
              <a:t></a:t>
            </a:r>
            <a:r>
              <a:rPr lang="en-US" altLang="zh-CN" sz="2200" b="1" i="1" baseline="-16000">
                <a:solidFill>
                  <a:srgbClr val="000099"/>
                </a:solidFill>
                <a:latin typeface="Times New Roman" panose="02020603050405020304" pitchFamily="18" charset="0"/>
                <a:ea typeface="宋体"/>
              </a:rPr>
              <a:t>y</a:t>
            </a:r>
            <a:r>
              <a:rPr lang="en-US" altLang="zh-CN" sz="2200" i="1" baseline="-16000">
                <a:solidFill>
                  <a:srgbClr val="000099"/>
                </a:solidFill>
                <a:latin typeface="Times New Roman" panose="02020603050405020304" pitchFamily="18" charset="0"/>
                <a:ea typeface="宋体"/>
              </a:rPr>
              <a:t>y</a:t>
            </a:r>
            <a:r>
              <a:rPr lang="en-US" altLang="zh-CN" sz="2200" b="1">
                <a:solidFill>
                  <a:srgbClr val="000099"/>
                </a:solidFill>
                <a:latin typeface="Times New Roman" panose="02020603050405020304" pitchFamily="18" charset="0"/>
                <a:ea typeface="宋体"/>
              </a:rPr>
              <a:t> </a:t>
            </a:r>
            <a:r>
              <a:rPr lang="zh-CN" altLang="en-US" sz="2200" b="1">
                <a:solidFill>
                  <a:srgbClr val="000099"/>
                </a:solidFill>
                <a:latin typeface="Times New Roman" panose="02020603050405020304" pitchFamily="18" charset="0"/>
                <a:ea typeface="宋体"/>
              </a:rPr>
              <a:t>、 </a:t>
            </a:r>
            <a:r>
              <a:rPr lang="zh-CN" altLang="en-US" sz="2200" b="1">
                <a:solidFill>
                  <a:srgbClr val="000099"/>
                </a:solidFill>
                <a:latin typeface="Times New Roman" panose="02020603050405020304" pitchFamily="18" charset="0"/>
                <a:ea typeface="宋体"/>
                <a:sym typeface="Symbol" panose="05050102010706020507" pitchFamily="18" charset="2"/>
              </a:rPr>
              <a:t></a:t>
            </a:r>
            <a:r>
              <a:rPr lang="en-US" altLang="zh-CN" sz="2200" b="1" i="1" baseline="-16000">
                <a:solidFill>
                  <a:srgbClr val="000099"/>
                </a:solidFill>
                <a:latin typeface="Times New Roman" panose="02020603050405020304" pitchFamily="18" charset="0"/>
                <a:ea typeface="宋体"/>
              </a:rPr>
              <a:t>zz</a:t>
            </a:r>
            <a:r>
              <a:rPr lang="en-US" altLang="zh-CN" sz="2200" b="1">
                <a:solidFill>
                  <a:srgbClr val="000099"/>
                </a:solidFill>
                <a:latin typeface="Arial"/>
                <a:ea typeface="宋体"/>
              </a:rPr>
              <a:t>—</a:t>
            </a:r>
            <a:r>
              <a:rPr lang="zh-CN" altLang="en-US" sz="2200" b="1">
                <a:solidFill>
                  <a:srgbClr val="000099"/>
                </a:solidFill>
                <a:latin typeface="Times New Roman" panose="02020603050405020304" pitchFamily="18" charset="0"/>
                <a:ea typeface="宋体"/>
              </a:rPr>
              <a:t>沿着 </a:t>
            </a:r>
            <a:r>
              <a:rPr lang="en-US" altLang="zh-CN" sz="2200" b="1">
                <a:solidFill>
                  <a:srgbClr val="000099"/>
                </a:solidFill>
                <a:latin typeface="Times New Roman" panose="02020603050405020304" pitchFamily="18" charset="0"/>
                <a:ea typeface="宋体"/>
              </a:rPr>
              <a:t>x</a:t>
            </a:r>
            <a:r>
              <a:rPr lang="zh-CN" altLang="en-US" sz="2200" b="1">
                <a:solidFill>
                  <a:srgbClr val="000099"/>
                </a:solidFill>
                <a:latin typeface="Times New Roman" panose="02020603050405020304" pitchFamily="18" charset="0"/>
                <a:ea typeface="宋体"/>
              </a:rPr>
              <a:t>轴、</a:t>
            </a:r>
            <a:r>
              <a:rPr lang="en-US" altLang="zh-CN" sz="2200" b="1">
                <a:solidFill>
                  <a:srgbClr val="000099"/>
                </a:solidFill>
                <a:latin typeface="Times New Roman" panose="02020603050405020304" pitchFamily="18" charset="0"/>
                <a:ea typeface="宋体"/>
              </a:rPr>
              <a:t>y</a:t>
            </a:r>
            <a:r>
              <a:rPr lang="zh-CN" altLang="en-US" sz="2200" b="1">
                <a:solidFill>
                  <a:srgbClr val="000099"/>
                </a:solidFill>
                <a:latin typeface="Times New Roman" panose="02020603050405020304" pitchFamily="18" charset="0"/>
                <a:ea typeface="宋体"/>
              </a:rPr>
              <a:t>轴、</a:t>
            </a:r>
            <a:r>
              <a:rPr lang="en-US" altLang="zh-CN" sz="2200" b="1">
                <a:solidFill>
                  <a:srgbClr val="000099"/>
                </a:solidFill>
                <a:latin typeface="Times New Roman" panose="02020603050405020304" pitchFamily="18" charset="0"/>
                <a:ea typeface="宋体"/>
              </a:rPr>
              <a:t>z</a:t>
            </a:r>
            <a:r>
              <a:rPr lang="zh-CN" altLang="en-US" sz="2200" b="1">
                <a:solidFill>
                  <a:srgbClr val="000099"/>
                </a:solidFill>
                <a:latin typeface="Times New Roman" panose="02020603050405020304" pitchFamily="18" charset="0"/>
                <a:ea typeface="宋体"/>
              </a:rPr>
              <a:t>轴的单向应力； </a:t>
            </a:r>
          </a:p>
          <a:p>
            <a:pPr marL="342900" lvl="0" indent="-342900" fontAlgn="base">
              <a:spcBef>
                <a:spcPts val="600"/>
              </a:spcBef>
              <a:spcAft>
                <a:spcPct val="0"/>
              </a:spcAft>
              <a:buClr>
                <a:schemeClr val="accent1"/>
              </a:buClr>
              <a:buFont typeface="Arial" panose="020B0604020202020204" pitchFamily="34" charset="0"/>
              <a:buChar char="•"/>
            </a:pPr>
            <a:r>
              <a:rPr lang="zh-CN" altLang="en-US" sz="2200" b="1">
                <a:solidFill>
                  <a:srgbClr val="000099"/>
                </a:solidFill>
                <a:latin typeface="Times New Roman" panose="02020603050405020304" pitchFamily="18" charset="0"/>
                <a:ea typeface="宋体"/>
                <a:sym typeface="Symbol" panose="05050102010706020507" pitchFamily="18" charset="2"/>
              </a:rPr>
              <a:t></a:t>
            </a:r>
            <a:r>
              <a:rPr lang="en-US" altLang="zh-CN" sz="2200" b="1" i="1" baseline="-16000">
                <a:solidFill>
                  <a:srgbClr val="000099"/>
                </a:solidFill>
                <a:latin typeface="Times New Roman" panose="02020603050405020304" pitchFamily="18" charset="0"/>
                <a:ea typeface="宋体"/>
              </a:rPr>
              <a:t>yz</a:t>
            </a:r>
            <a:r>
              <a:rPr lang="en-US" altLang="zh-CN" sz="2200" b="1">
                <a:solidFill>
                  <a:srgbClr val="000099"/>
                </a:solidFill>
                <a:latin typeface="Times New Roman" panose="02020603050405020304" pitchFamily="18" charset="0"/>
                <a:ea typeface="宋体"/>
              </a:rPr>
              <a:t> </a:t>
            </a:r>
            <a:r>
              <a:rPr lang="zh-CN" altLang="en-US" sz="2200" b="1">
                <a:solidFill>
                  <a:srgbClr val="000099"/>
                </a:solidFill>
                <a:latin typeface="Times New Roman" panose="02020603050405020304" pitchFamily="18" charset="0"/>
                <a:ea typeface="宋体"/>
              </a:rPr>
              <a:t>、 </a:t>
            </a:r>
            <a:r>
              <a:rPr lang="zh-CN" altLang="en-US" sz="2200" b="1">
                <a:solidFill>
                  <a:srgbClr val="000099"/>
                </a:solidFill>
                <a:latin typeface="Times New Roman" panose="02020603050405020304" pitchFamily="18" charset="0"/>
                <a:ea typeface="宋体"/>
                <a:sym typeface="Symbol" panose="05050102010706020507" pitchFamily="18" charset="2"/>
              </a:rPr>
              <a:t></a:t>
            </a:r>
            <a:r>
              <a:rPr lang="en-US" altLang="zh-CN" sz="2200" b="1" i="1" baseline="-16000">
                <a:solidFill>
                  <a:srgbClr val="000099"/>
                </a:solidFill>
                <a:latin typeface="Times New Roman" panose="02020603050405020304" pitchFamily="18" charset="0"/>
                <a:ea typeface="宋体"/>
              </a:rPr>
              <a:t>zx</a:t>
            </a:r>
            <a:r>
              <a:rPr lang="en-US" altLang="zh-CN" sz="2200" b="1">
                <a:solidFill>
                  <a:srgbClr val="000099"/>
                </a:solidFill>
                <a:latin typeface="Times New Roman" panose="02020603050405020304" pitchFamily="18" charset="0"/>
                <a:ea typeface="宋体"/>
              </a:rPr>
              <a:t> </a:t>
            </a:r>
            <a:r>
              <a:rPr lang="zh-CN" altLang="en-US" sz="2200" b="1">
                <a:solidFill>
                  <a:srgbClr val="000099"/>
                </a:solidFill>
                <a:latin typeface="Times New Roman" panose="02020603050405020304" pitchFamily="18" charset="0"/>
                <a:ea typeface="宋体"/>
              </a:rPr>
              <a:t>、 </a:t>
            </a:r>
            <a:r>
              <a:rPr lang="zh-CN" altLang="en-US" sz="2200" b="1">
                <a:solidFill>
                  <a:srgbClr val="000099"/>
                </a:solidFill>
                <a:latin typeface="Times New Roman" panose="02020603050405020304" pitchFamily="18" charset="0"/>
                <a:ea typeface="宋体"/>
                <a:sym typeface="Symbol" panose="05050102010706020507" pitchFamily="18" charset="2"/>
              </a:rPr>
              <a:t></a:t>
            </a:r>
            <a:r>
              <a:rPr lang="en-US" altLang="zh-CN" sz="2200" b="1" i="1" baseline="-16000">
                <a:solidFill>
                  <a:srgbClr val="000099"/>
                </a:solidFill>
                <a:latin typeface="Times New Roman" panose="02020603050405020304" pitchFamily="18" charset="0"/>
                <a:ea typeface="宋体"/>
              </a:rPr>
              <a:t>xy</a:t>
            </a:r>
            <a:r>
              <a:rPr lang="en-US" altLang="zh-CN" sz="2200" b="1">
                <a:solidFill>
                  <a:srgbClr val="000099"/>
                </a:solidFill>
                <a:latin typeface="Arial"/>
                <a:ea typeface="宋体"/>
              </a:rPr>
              <a:t>—</a:t>
            </a:r>
            <a:r>
              <a:rPr lang="zh-CN" altLang="en-US" sz="2200" b="1">
                <a:solidFill>
                  <a:srgbClr val="000099"/>
                </a:solidFill>
                <a:latin typeface="Times New Roman" panose="02020603050405020304" pitchFamily="18" charset="0"/>
                <a:ea typeface="宋体"/>
              </a:rPr>
              <a:t>垂直于</a:t>
            </a:r>
            <a:r>
              <a:rPr lang="en-US" altLang="zh-CN" sz="2200" b="1">
                <a:solidFill>
                  <a:srgbClr val="000099"/>
                </a:solidFill>
                <a:latin typeface="Times New Roman" panose="02020603050405020304" pitchFamily="18" charset="0"/>
                <a:ea typeface="宋体"/>
              </a:rPr>
              <a:t>x</a:t>
            </a:r>
            <a:r>
              <a:rPr lang="zh-CN" altLang="en-US" sz="2200" b="1">
                <a:solidFill>
                  <a:srgbClr val="000099"/>
                </a:solidFill>
                <a:latin typeface="Times New Roman" panose="02020603050405020304" pitchFamily="18" charset="0"/>
                <a:ea typeface="宋体"/>
              </a:rPr>
              <a:t>轴、</a:t>
            </a:r>
            <a:r>
              <a:rPr lang="en-US" altLang="zh-CN" sz="2200" b="1">
                <a:solidFill>
                  <a:srgbClr val="000099"/>
                </a:solidFill>
                <a:latin typeface="Times New Roman" panose="02020603050405020304" pitchFamily="18" charset="0"/>
                <a:ea typeface="宋体"/>
              </a:rPr>
              <a:t>y</a:t>
            </a:r>
            <a:r>
              <a:rPr lang="zh-CN" altLang="en-US" sz="2200" b="1">
                <a:solidFill>
                  <a:srgbClr val="000099"/>
                </a:solidFill>
                <a:latin typeface="Times New Roman" panose="02020603050405020304" pitchFamily="18" charset="0"/>
                <a:ea typeface="宋体"/>
              </a:rPr>
              <a:t>轴、</a:t>
            </a:r>
            <a:r>
              <a:rPr lang="en-US" altLang="zh-CN" sz="2200" b="1">
                <a:solidFill>
                  <a:srgbClr val="000099"/>
                </a:solidFill>
                <a:latin typeface="Times New Roman" panose="02020603050405020304" pitchFamily="18" charset="0"/>
                <a:ea typeface="宋体"/>
              </a:rPr>
              <a:t>z</a:t>
            </a:r>
            <a:r>
              <a:rPr lang="zh-CN" altLang="en-US" sz="2200" b="1">
                <a:solidFill>
                  <a:srgbClr val="000099"/>
                </a:solidFill>
                <a:latin typeface="Times New Roman" panose="02020603050405020304" pitchFamily="18" charset="0"/>
                <a:ea typeface="宋体"/>
              </a:rPr>
              <a:t>轴的平面内的剪切应力；</a:t>
            </a:r>
          </a:p>
          <a:p>
            <a:pPr marL="342900" lvl="0" indent="-342900" fontAlgn="base">
              <a:spcBef>
                <a:spcPts val="600"/>
              </a:spcBef>
              <a:spcAft>
                <a:spcPct val="0"/>
              </a:spcAft>
              <a:buClr>
                <a:schemeClr val="accent1"/>
              </a:buClr>
              <a:buFont typeface="Arial" panose="020B0604020202020204" pitchFamily="34" charset="0"/>
              <a:buChar char="•"/>
            </a:pPr>
            <a:r>
              <a:rPr lang="en-US" altLang="zh-CN" sz="2200" b="1" i="1">
                <a:solidFill>
                  <a:srgbClr val="000099"/>
                </a:solidFill>
                <a:latin typeface="Times New Roman" panose="02020603050405020304" pitchFamily="18" charset="0"/>
                <a:ea typeface="宋体"/>
              </a:rPr>
              <a:t>d</a:t>
            </a:r>
            <a:r>
              <a:rPr lang="en-US" altLang="zh-CN" sz="2200" b="1" i="1" baseline="-16000">
                <a:solidFill>
                  <a:srgbClr val="000099"/>
                </a:solidFill>
                <a:latin typeface="Times New Roman" panose="02020603050405020304" pitchFamily="18" charset="0"/>
                <a:ea typeface="宋体"/>
              </a:rPr>
              <a:t>ij </a:t>
            </a:r>
            <a:r>
              <a:rPr lang="en-US" altLang="zh-CN" sz="2200" b="1">
                <a:solidFill>
                  <a:srgbClr val="000099"/>
                </a:solidFill>
                <a:latin typeface="Times New Roman" panose="02020603050405020304" pitchFamily="18" charset="0"/>
                <a:ea typeface="宋体"/>
              </a:rPr>
              <a:t>(i</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1</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2</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3</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j</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1</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2</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3</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4</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5</a:t>
            </a:r>
            <a:r>
              <a:rPr lang="zh-CN" altLang="en-US" sz="2200" b="1">
                <a:solidFill>
                  <a:srgbClr val="000099"/>
                </a:solidFill>
                <a:latin typeface="Times New Roman" panose="02020603050405020304" pitchFamily="18" charset="0"/>
                <a:ea typeface="宋体"/>
              </a:rPr>
              <a:t>，</a:t>
            </a:r>
            <a:r>
              <a:rPr lang="en-US" altLang="zh-CN" sz="2200" b="1">
                <a:solidFill>
                  <a:srgbClr val="000099"/>
                </a:solidFill>
                <a:latin typeface="Times New Roman" panose="02020603050405020304" pitchFamily="18" charset="0"/>
                <a:ea typeface="宋体"/>
              </a:rPr>
              <a:t>6)</a:t>
            </a:r>
            <a:r>
              <a:rPr lang="en-US" altLang="zh-CN" sz="2200" b="1">
                <a:solidFill>
                  <a:srgbClr val="000099"/>
                </a:solidFill>
                <a:latin typeface="Arial"/>
                <a:ea typeface="宋体"/>
              </a:rPr>
              <a:t>—</a:t>
            </a:r>
            <a:r>
              <a:rPr lang="zh-CN" altLang="en-US" sz="2200" b="1">
                <a:solidFill>
                  <a:srgbClr val="000099"/>
                </a:solidFill>
                <a:latin typeface="Times New Roman" panose="02020603050405020304" pitchFamily="18" charset="0"/>
                <a:ea typeface="宋体"/>
              </a:rPr>
              <a:t>压电常数。</a:t>
            </a:r>
          </a:p>
        </p:txBody>
      </p:sp>
      <p:graphicFrame>
        <p:nvGraphicFramePr>
          <p:cNvPr id="22" name="Object 21">
            <a:extLst>
              <a:ext uri="{FF2B5EF4-FFF2-40B4-BE49-F238E27FC236}">
                <a16:creationId xmlns:a16="http://schemas.microsoft.com/office/drawing/2014/main" id="{BAF0B15C-4B6F-43B3-92C8-891C8F57F490}"/>
              </a:ext>
            </a:extLst>
          </p:cNvPr>
          <p:cNvGraphicFramePr>
            <a:graphicFrameLocks noChangeAspect="1"/>
          </p:cNvGraphicFramePr>
          <p:nvPr>
            <p:extLst>
              <p:ext uri="{D42A27DB-BD31-4B8C-83A1-F6EECF244321}">
                <p14:modId xmlns:p14="http://schemas.microsoft.com/office/powerpoint/2010/main" val="1202019032"/>
              </p:ext>
            </p:extLst>
          </p:nvPr>
        </p:nvGraphicFramePr>
        <p:xfrm>
          <a:off x="1486763" y="2086540"/>
          <a:ext cx="5608637" cy="1333500"/>
        </p:xfrm>
        <a:graphic>
          <a:graphicData uri="http://schemas.openxmlformats.org/presentationml/2006/ole">
            <mc:AlternateContent xmlns:mc="http://schemas.openxmlformats.org/markup-compatibility/2006">
              <mc:Choice xmlns:v="urn:schemas-microsoft-com:vml" Requires="v">
                <p:oleObj name="Equation" r:id="rId3" imgW="5608498" imgH="1333488" progId="Equation.DSMT4">
                  <p:embed/>
                </p:oleObj>
              </mc:Choice>
              <mc:Fallback>
                <p:oleObj name="Equation" r:id="rId3" imgW="5608498" imgH="1333488" progId="Equation.DSMT4">
                  <p:embed/>
                  <p:pic>
                    <p:nvPicPr>
                      <p:cNvPr id="0" name=""/>
                      <p:cNvPicPr/>
                      <p:nvPr/>
                    </p:nvPicPr>
                    <p:blipFill>
                      <a:blip r:embed="rId4"/>
                      <a:stretch>
                        <a:fillRect/>
                      </a:stretch>
                    </p:blipFill>
                    <p:spPr>
                      <a:xfrm>
                        <a:off x="1486763" y="2086540"/>
                        <a:ext cx="5608637" cy="1333500"/>
                      </a:xfrm>
                      <a:prstGeom prst="rect">
                        <a:avLst/>
                      </a:prstGeom>
                    </p:spPr>
                  </p:pic>
                </p:oleObj>
              </mc:Fallback>
            </mc:AlternateContent>
          </a:graphicData>
        </a:graphic>
      </p:graphicFrame>
      <p:grpSp>
        <p:nvGrpSpPr>
          <p:cNvPr id="25" name="Group 24">
            <a:extLst>
              <a:ext uri="{FF2B5EF4-FFF2-40B4-BE49-F238E27FC236}">
                <a16:creationId xmlns:a16="http://schemas.microsoft.com/office/drawing/2014/main" id="{B2E8D238-BB5F-478B-A826-C7A04D9D66B5}"/>
              </a:ext>
            </a:extLst>
          </p:cNvPr>
          <p:cNvGrpSpPr/>
          <p:nvPr/>
        </p:nvGrpSpPr>
        <p:grpSpPr>
          <a:xfrm>
            <a:off x="151324" y="5213003"/>
            <a:ext cx="6944076" cy="1306513"/>
            <a:chOff x="296966" y="5238714"/>
            <a:chExt cx="6944076" cy="1306513"/>
          </a:xfrm>
        </p:grpSpPr>
        <p:sp>
          <p:nvSpPr>
            <p:cNvPr id="27" name="TextBox 26">
              <a:extLst>
                <a:ext uri="{FF2B5EF4-FFF2-40B4-BE49-F238E27FC236}">
                  <a16:creationId xmlns:a16="http://schemas.microsoft.com/office/drawing/2014/main" id="{D3803AD3-46A5-471B-B0F6-A494983B85B5}"/>
                </a:ext>
              </a:extLst>
            </p:cNvPr>
            <p:cNvSpPr txBox="1"/>
            <p:nvPr/>
          </p:nvSpPr>
          <p:spPr>
            <a:xfrm>
              <a:off x="296966" y="5399721"/>
              <a:ext cx="2957863" cy="984500"/>
            </a:xfrm>
            <a:prstGeom prst="rect">
              <a:avLst/>
            </a:prstGeom>
            <a:noFill/>
          </p:spPr>
          <p:txBody>
            <a:bodyPr wrap="square" rtlCol="0">
              <a:noAutofit/>
            </a:bodyPr>
            <a:lstStyle>
              <a:defPPr>
                <a:defRPr lang="zh-CN"/>
              </a:defPPr>
              <a:lvl1pPr>
                <a:lnSpc>
                  <a:spcPct val="130000"/>
                </a:lnSpc>
                <a:spcBef>
                  <a:spcPts val="600"/>
                </a:spcBef>
                <a:defRPr sz="2400">
                  <a:latin typeface="宋体" panose="02010600030101010101" pitchFamily="2" charset="-122"/>
                  <a:ea typeface="宋体" panose="02010600030101010101" pitchFamily="2" charset="-122"/>
                </a:defRPr>
              </a:lvl1pPr>
            </a:lstStyle>
            <a:p>
              <a:r>
                <a:rPr lang="zh-CN" altLang="en-US"/>
                <a:t>压电材料的压电特性的</a:t>
              </a:r>
              <a:r>
                <a:rPr lang="zh-CN" altLang="en-US">
                  <a:solidFill>
                    <a:srgbClr val="C00000"/>
                  </a:solidFill>
                </a:rPr>
                <a:t>压电常数矩阵</a:t>
              </a:r>
              <a:r>
                <a:rPr lang="zh-CN" altLang="en-US"/>
                <a:t>：</a:t>
              </a:r>
              <a:endParaRPr lang="en-001"/>
            </a:p>
          </p:txBody>
        </p:sp>
        <p:graphicFrame>
          <p:nvGraphicFramePr>
            <p:cNvPr id="24" name="Object 23">
              <a:extLst>
                <a:ext uri="{FF2B5EF4-FFF2-40B4-BE49-F238E27FC236}">
                  <a16:creationId xmlns:a16="http://schemas.microsoft.com/office/drawing/2014/main" id="{A3B8D725-82E3-4444-A7F2-31C5D160B5D9}"/>
                </a:ext>
              </a:extLst>
            </p:cNvPr>
            <p:cNvGraphicFramePr>
              <a:graphicFrameLocks noChangeAspect="1"/>
            </p:cNvGraphicFramePr>
            <p:nvPr>
              <p:extLst>
                <p:ext uri="{D42A27DB-BD31-4B8C-83A1-F6EECF244321}">
                  <p14:modId xmlns:p14="http://schemas.microsoft.com/office/powerpoint/2010/main" val="2624321337"/>
                </p:ext>
              </p:extLst>
            </p:nvPr>
          </p:nvGraphicFramePr>
          <p:xfrm>
            <a:off x="3254829" y="5238714"/>
            <a:ext cx="3986213" cy="1306513"/>
          </p:xfrm>
          <a:graphic>
            <a:graphicData uri="http://schemas.openxmlformats.org/presentationml/2006/ole">
              <mc:AlternateContent xmlns:mc="http://schemas.openxmlformats.org/markup-compatibility/2006">
                <mc:Choice xmlns:v="urn:schemas-microsoft-com:vml" Requires="v">
                  <p:oleObj name="Equation" r:id="rId5" imgW="3985497" imgH="1306127" progId="Equation.DSMT4">
                    <p:embed/>
                  </p:oleObj>
                </mc:Choice>
                <mc:Fallback>
                  <p:oleObj name="Equation" r:id="rId5" imgW="3985497" imgH="1306127" progId="Equation.DSMT4">
                    <p:embed/>
                    <p:pic>
                      <p:nvPicPr>
                        <p:cNvPr id="0" name=""/>
                        <p:cNvPicPr/>
                        <p:nvPr/>
                      </p:nvPicPr>
                      <p:blipFill>
                        <a:blip r:embed="rId6"/>
                        <a:stretch>
                          <a:fillRect/>
                        </a:stretch>
                      </p:blipFill>
                      <p:spPr>
                        <a:xfrm>
                          <a:off x="3254829" y="5238714"/>
                          <a:ext cx="3986213" cy="1306513"/>
                        </a:xfrm>
                        <a:prstGeom prst="rect">
                          <a:avLst/>
                        </a:prstGeom>
                      </p:spPr>
                    </p:pic>
                  </p:oleObj>
                </mc:Fallback>
              </mc:AlternateContent>
            </a:graphicData>
          </a:graphic>
        </p:graphicFrame>
      </p:grpSp>
      <p:graphicFrame>
        <p:nvGraphicFramePr>
          <p:cNvPr id="26" name="Object 25">
            <a:extLst>
              <a:ext uri="{FF2B5EF4-FFF2-40B4-BE49-F238E27FC236}">
                <a16:creationId xmlns:a16="http://schemas.microsoft.com/office/drawing/2014/main" id="{CB64AE8D-BB29-4A44-B52E-A95B19403159}"/>
              </a:ext>
            </a:extLst>
          </p:cNvPr>
          <p:cNvGraphicFramePr>
            <a:graphicFrameLocks noChangeAspect="1"/>
          </p:cNvGraphicFramePr>
          <p:nvPr>
            <p:extLst>
              <p:ext uri="{D42A27DB-BD31-4B8C-83A1-F6EECF244321}">
                <p14:modId xmlns:p14="http://schemas.microsoft.com/office/powerpoint/2010/main" val="1696542063"/>
              </p:ext>
            </p:extLst>
          </p:nvPr>
        </p:nvGraphicFramePr>
        <p:xfrm>
          <a:off x="7264297" y="5455884"/>
          <a:ext cx="1582737" cy="552450"/>
        </p:xfrm>
        <a:graphic>
          <a:graphicData uri="http://schemas.openxmlformats.org/presentationml/2006/ole">
            <mc:AlternateContent xmlns:mc="http://schemas.openxmlformats.org/markup-compatibility/2006">
              <mc:Choice xmlns:v="urn:schemas-microsoft-com:vml" Requires="v">
                <p:oleObj name="Equation" r:id="rId7" imgW="1583398" imgH="551900" progId="Equation.DSMT4">
                  <p:embed/>
                </p:oleObj>
              </mc:Choice>
              <mc:Fallback>
                <p:oleObj name="Equation" r:id="rId7" imgW="1583398" imgH="551900" progId="Equation.DSMT4">
                  <p:embed/>
                  <p:pic>
                    <p:nvPicPr>
                      <p:cNvPr id="0" name=""/>
                      <p:cNvPicPr/>
                      <p:nvPr/>
                    </p:nvPicPr>
                    <p:blipFill>
                      <a:blip r:embed="rId8"/>
                      <a:stretch>
                        <a:fillRect/>
                      </a:stretch>
                    </p:blipFill>
                    <p:spPr>
                      <a:xfrm>
                        <a:off x="7264297" y="5455884"/>
                        <a:ext cx="1582737" cy="552450"/>
                      </a:xfrm>
                      <a:prstGeom prst="rect">
                        <a:avLst/>
                      </a:prstGeom>
                    </p:spPr>
                  </p:pic>
                </p:oleObj>
              </mc:Fallback>
            </mc:AlternateContent>
          </a:graphicData>
        </a:graphic>
      </p:graphicFrame>
    </p:spTree>
    <p:extLst>
      <p:ext uri="{BB962C8B-B14F-4D97-AF65-F5344CB8AC3E}">
        <p14:creationId xmlns:p14="http://schemas.microsoft.com/office/powerpoint/2010/main" val="13249076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3" name="Slide Number Placeholder 2">
            <a:extLst>
              <a:ext uri="{FF2B5EF4-FFF2-40B4-BE49-F238E27FC236}">
                <a16:creationId xmlns:a16="http://schemas.microsoft.com/office/drawing/2014/main" id="{D49838C7-B6C0-475C-A655-C4D6FFE40A78}"/>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graphicFrame>
        <p:nvGraphicFramePr>
          <p:cNvPr id="23" name="Object 4">
            <a:extLst>
              <a:ext uri="{FF2B5EF4-FFF2-40B4-BE49-F238E27FC236}">
                <a16:creationId xmlns:a16="http://schemas.microsoft.com/office/drawing/2014/main" id="{C79B7179-F992-49B0-BDD0-34F38712D409}"/>
              </a:ext>
            </a:extLst>
          </p:cNvPr>
          <p:cNvGraphicFramePr>
            <a:graphicFrameLocks noChangeAspect="1"/>
          </p:cNvGraphicFramePr>
          <p:nvPr>
            <p:extLst>
              <p:ext uri="{D42A27DB-BD31-4B8C-83A1-F6EECF244321}">
                <p14:modId xmlns:p14="http://schemas.microsoft.com/office/powerpoint/2010/main" val="1681262843"/>
              </p:ext>
            </p:extLst>
          </p:nvPr>
        </p:nvGraphicFramePr>
        <p:xfrm>
          <a:off x="2536825" y="1889125"/>
          <a:ext cx="3671888" cy="1168400"/>
        </p:xfrm>
        <a:graphic>
          <a:graphicData uri="http://schemas.openxmlformats.org/presentationml/2006/ole">
            <mc:AlternateContent xmlns:mc="http://schemas.openxmlformats.org/markup-compatibility/2006">
              <mc:Choice xmlns:v="urn:schemas-microsoft-com:vml" Requires="v">
                <p:oleObj name="公式" r:id="rId3" imgW="2234880" imgH="711000" progId="Equation.3">
                  <p:embed/>
                </p:oleObj>
              </mc:Choice>
              <mc:Fallback>
                <p:oleObj name="公式" r:id="rId3" imgW="2234880" imgH="711000" progId="Equation.3">
                  <p:embed/>
                  <p:pic>
                    <p:nvPicPr>
                      <p:cNvPr id="258052" name="Object 4">
                        <a:extLst>
                          <a:ext uri="{FF2B5EF4-FFF2-40B4-BE49-F238E27FC236}">
                            <a16:creationId xmlns:a16="http://schemas.microsoft.com/office/drawing/2014/main" id="{615C5E59-F9B1-47E1-AE36-2353813BC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6825" y="1889125"/>
                        <a:ext cx="3671888"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Text Box 7">
            <a:extLst>
              <a:ext uri="{FF2B5EF4-FFF2-40B4-BE49-F238E27FC236}">
                <a16:creationId xmlns:a16="http://schemas.microsoft.com/office/drawing/2014/main" id="{3FC91695-7956-45F8-B974-415C5B59C97A}"/>
              </a:ext>
            </a:extLst>
          </p:cNvPr>
          <p:cNvSpPr txBox="1">
            <a:spLocks noChangeArrowheads="1"/>
          </p:cNvSpPr>
          <p:nvPr/>
        </p:nvSpPr>
        <p:spPr bwMode="auto">
          <a:xfrm>
            <a:off x="827088" y="1330325"/>
            <a:ext cx="44735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对石英晶体，其压电常数矩阵为</a:t>
            </a:r>
          </a:p>
        </p:txBody>
      </p:sp>
      <p:sp>
        <p:nvSpPr>
          <p:cNvPr id="25" name="Text Box 9">
            <a:extLst>
              <a:ext uri="{FF2B5EF4-FFF2-40B4-BE49-F238E27FC236}">
                <a16:creationId xmlns:a16="http://schemas.microsoft.com/office/drawing/2014/main" id="{20224BA7-1A5B-419A-A0D6-A4EEF29F2A97}"/>
              </a:ext>
            </a:extLst>
          </p:cNvPr>
          <p:cNvSpPr txBox="1">
            <a:spLocks noChangeArrowheads="1"/>
          </p:cNvSpPr>
          <p:nvPr/>
        </p:nvSpPr>
        <p:spPr bwMode="auto">
          <a:xfrm>
            <a:off x="685801" y="3134555"/>
            <a:ext cx="8064500" cy="2563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Arial" panose="020B0604020202020204" pitchFamily="34" charset="0"/>
              <a:buChar char="•"/>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矩阵中第三行全部元素为零，且</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d</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13</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d</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23</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d</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33</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=0</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endPar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a:p>
            <a:pPr marL="342900" marR="0" lvl="0" indent="-342900" defTabSz="914400" eaLnBrk="1" fontAlgn="base" latinLnBrk="0" hangingPunct="1">
              <a:lnSpc>
                <a:spcPct val="120000"/>
              </a:lnSpc>
              <a:spcBef>
                <a:spcPct val="20000"/>
              </a:spcBef>
              <a:spcAft>
                <a:spcPct val="0"/>
              </a:spcAft>
              <a:buClr>
                <a:srgbClr val="FF0000"/>
              </a:buClr>
              <a:buSzTx/>
              <a:buFont typeface="Arial" panose="020B0604020202020204" pitchFamily="34" charset="0"/>
              <a:buChar char="•"/>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说明石英晶体在沿</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Z</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轴方向受力时，并不存在压电效应。</a:t>
            </a:r>
            <a:endPar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a:p>
            <a:pPr marL="0" marR="0" lvl="0" indent="0" defTabSz="914400" eaLnBrk="1" fontAlgn="base" latinLnBrk="0" hangingPunct="1">
              <a:lnSpc>
                <a:spcPct val="120000"/>
              </a:lnSpc>
              <a:spcBef>
                <a:spcPct val="20000"/>
              </a:spcBef>
              <a:spcAft>
                <a:spcPct val="0"/>
              </a:spcAft>
              <a:buClr>
                <a:srgbClr val="FF0000"/>
              </a:buClr>
              <a:buSzTx/>
              <a:tabLst/>
              <a:defRPr/>
            </a:pPr>
            <a:endPar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a:p>
            <a:pPr marL="0" marR="0" lvl="0" indent="0" defTabSz="914400" eaLnBrk="1" fontAlgn="base" latinLnBrk="0" hangingPunct="1">
              <a:lnSpc>
                <a:spcPct val="120000"/>
              </a:lnSpc>
              <a:spcBef>
                <a:spcPct val="20000"/>
              </a:spcBef>
              <a:spcAft>
                <a:spcPct val="0"/>
              </a:spcAft>
              <a:buClr>
                <a:srgbClr val="FF0000"/>
              </a:buClr>
              <a:buSzTx/>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同时由于晶格的对称性，有</a:t>
            </a:r>
          </a:p>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aphicFrame>
        <p:nvGraphicFramePr>
          <p:cNvPr id="26" name="Object 10">
            <a:extLst>
              <a:ext uri="{FF2B5EF4-FFF2-40B4-BE49-F238E27FC236}">
                <a16:creationId xmlns:a16="http://schemas.microsoft.com/office/drawing/2014/main" id="{A06C79B3-0ED2-4D3E-A0E4-73310DE241C4}"/>
              </a:ext>
            </a:extLst>
          </p:cNvPr>
          <p:cNvGraphicFramePr>
            <a:graphicFrameLocks noChangeAspect="1"/>
          </p:cNvGraphicFramePr>
          <p:nvPr>
            <p:extLst>
              <p:ext uri="{D42A27DB-BD31-4B8C-83A1-F6EECF244321}">
                <p14:modId xmlns:p14="http://schemas.microsoft.com/office/powerpoint/2010/main" val="1640208216"/>
              </p:ext>
            </p:extLst>
          </p:nvPr>
        </p:nvGraphicFramePr>
        <p:xfrm>
          <a:off x="4718051" y="4133899"/>
          <a:ext cx="1758949" cy="1563665"/>
        </p:xfrm>
        <a:graphic>
          <a:graphicData uri="http://schemas.openxmlformats.org/presentationml/2006/ole">
            <mc:AlternateContent xmlns:mc="http://schemas.openxmlformats.org/markup-compatibility/2006">
              <mc:Choice xmlns:v="urn:schemas-microsoft-com:vml" Requires="v">
                <p:oleObj name="公式" r:id="rId5" imgW="799920" imgH="711000" progId="Equation.3">
                  <p:embed/>
                </p:oleObj>
              </mc:Choice>
              <mc:Fallback>
                <p:oleObj name="公式" r:id="rId5" imgW="799920" imgH="711000" progId="Equation.3">
                  <p:embed/>
                  <p:pic>
                    <p:nvPicPr>
                      <p:cNvPr id="258058" name="Object 10">
                        <a:extLst>
                          <a:ext uri="{FF2B5EF4-FFF2-40B4-BE49-F238E27FC236}">
                            <a16:creationId xmlns:a16="http://schemas.microsoft.com/office/drawing/2014/main" id="{1176D9F7-32D7-4E55-B8B6-E8BC77ECBE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8051" y="4133899"/>
                        <a:ext cx="1758949" cy="156366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293204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6.1</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压电效应</a:t>
            </a:r>
          </a:p>
        </p:txBody>
      </p:sp>
      <p:sp>
        <p:nvSpPr>
          <p:cNvPr id="3" name="Slide Number Placeholder 2">
            <a:extLst>
              <a:ext uri="{FF2B5EF4-FFF2-40B4-BE49-F238E27FC236}">
                <a16:creationId xmlns:a16="http://schemas.microsoft.com/office/drawing/2014/main" id="{D49838C7-B6C0-475C-A655-C4D6FFE40A78}"/>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sp>
        <p:nvSpPr>
          <p:cNvPr id="12" name="Rectangle 3">
            <a:extLst>
              <a:ext uri="{FF2B5EF4-FFF2-40B4-BE49-F238E27FC236}">
                <a16:creationId xmlns:a16="http://schemas.microsoft.com/office/drawing/2014/main" id="{13318938-F94B-4000-B50B-0F3584FFDA58}"/>
              </a:ext>
            </a:extLst>
          </p:cNvPr>
          <p:cNvSpPr txBox="1">
            <a:spLocks noRot="1" noChangeArrowheads="1"/>
          </p:cNvSpPr>
          <p:nvPr/>
        </p:nvSpPr>
        <p:spPr bwMode="auto">
          <a:xfrm>
            <a:off x="301625" y="1397912"/>
            <a:ext cx="8540750" cy="475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ts val="600"/>
              </a:spcBef>
              <a:spcAft>
                <a:spcPct val="0"/>
              </a:spcAft>
              <a:buClr>
                <a:srgbClr val="FF0000"/>
              </a:buClr>
              <a:buSzTx/>
              <a:buNone/>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压电常数矩阵物理意义</a:t>
            </a:r>
          </a:p>
          <a:p>
            <a:pPr marL="342900" marR="0" lvl="0" indent="-342900" algn="l" defTabSz="914400" rtl="0" eaLnBrk="1" fontAlgn="base" latinLnBrk="0" hangingPunct="1">
              <a:lnSpc>
                <a:spcPct val="120000"/>
              </a:lnSpc>
              <a:spcBef>
                <a:spcPts val="6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矩阵每一行表示，压电元件分别受到</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X</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Y</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Z</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向正应力及</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YZ</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ZX</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XY</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平面内剪切力作用时，相应地在垂直于</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X</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轴、</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Y</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轴和</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Z</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轴表面产生电荷的可能性和大小。</a:t>
            </a:r>
          </a:p>
          <a:p>
            <a:pPr marL="342900" marR="0" lvl="0" indent="-342900" algn="l" defTabSz="914400" rtl="0" eaLnBrk="1" fontAlgn="base" latinLnBrk="0" hangingPunct="1">
              <a:lnSpc>
                <a:spcPct val="120000"/>
              </a:lnSpc>
              <a:spcBef>
                <a:spcPts val="6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若矩阵中某一</a:t>
            </a:r>
            <a:r>
              <a:rPr lang="zh-CN" altLang="en-US" sz="2400" b="1">
                <a:solidFill>
                  <a:srgbClr val="000099"/>
                </a:solidFill>
                <a:latin typeface="Arial"/>
                <a:ea typeface="宋体"/>
              </a:rPr>
              <a:t>个</a:t>
            </a:r>
            <a:r>
              <a:rPr kumimoji="0" lang="en-US" altLang="zh-CN" sz="2400" b="1" i="1" u="none" strike="noStrike" kern="1200" cap="none" spc="0" normalizeH="0" baseline="0" noProof="0">
                <a:ln>
                  <a:noFill/>
                </a:ln>
                <a:solidFill>
                  <a:srgbClr val="000099"/>
                </a:solidFill>
                <a:effectLst/>
                <a:uLnTx/>
                <a:uFillTx/>
                <a:latin typeface="Arial"/>
                <a:ea typeface="宋体"/>
                <a:cs typeface="+mn-cs"/>
              </a:rPr>
              <a:t>d</a:t>
            </a:r>
            <a:r>
              <a:rPr kumimoji="0" lang="en-US" altLang="zh-CN" sz="2400" b="1" i="0" u="none" strike="noStrike" kern="1200" cap="none" spc="0" normalizeH="0" baseline="-25000" noProof="0">
                <a:ln>
                  <a:noFill/>
                </a:ln>
                <a:solidFill>
                  <a:srgbClr val="000099"/>
                </a:solidFill>
                <a:effectLst/>
                <a:uLnTx/>
                <a:uFillTx/>
                <a:latin typeface="Arial"/>
                <a:ea typeface="宋体"/>
                <a:cs typeface="+mn-cs"/>
              </a:rPr>
              <a:t>ij</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0</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，则表示在该方向上没有压电效应，这说明压电元件不是任何方向都存在压电效应。</a:t>
            </a:r>
          </a:p>
          <a:p>
            <a:pPr marL="342900" marR="0" lvl="0" indent="-342900" algn="l" defTabSz="914400" rtl="0" eaLnBrk="1" fontAlgn="base" latinLnBrk="0" hangingPunct="1">
              <a:lnSpc>
                <a:spcPct val="120000"/>
              </a:lnSpc>
              <a:spcBef>
                <a:spcPts val="6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对于石英晶体来讲，当石英晶体承受机械力作用时，可通过</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d</a:t>
            </a:r>
            <a:r>
              <a:rPr kumimoji="0" lang="en-US" altLang="zh-CN" sz="2400" b="1" i="0" u="none" strike="noStrike" kern="1200" cap="none" spc="0" normalizeH="0" baseline="-25000" noProof="0">
                <a:ln>
                  <a:noFill/>
                </a:ln>
                <a:solidFill>
                  <a:srgbClr val="000099"/>
                </a:solidFill>
                <a:effectLst/>
                <a:uLnTx/>
                <a:uFillTx/>
                <a:latin typeface="Arial"/>
                <a:ea typeface="宋体"/>
                <a:cs typeface="+mn-cs"/>
              </a:rPr>
              <a:t>ij</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将五种不同的机械效应转换为电效应，也可以将电效应转换为五种不同模式的振动。</a:t>
            </a:r>
          </a:p>
          <a:p>
            <a:pPr marL="342900" marR="0" lvl="0" indent="-342900" algn="l" defTabSz="914400" rtl="0" eaLnBrk="1" fontAlgn="base" latinLnBrk="0" hangingPunct="1">
              <a:lnSpc>
                <a:spcPct val="120000"/>
              </a:lnSpc>
              <a:spcBef>
                <a:spcPts val="6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根据压电常数绝对值大小可判断在哪几个方向作用时，压电效应最显著。</a:t>
            </a:r>
          </a:p>
          <a:p>
            <a:pPr marL="342900" marR="0" lvl="0" indent="-342900" algn="l" defTabSz="914400" rtl="0" eaLnBrk="1" fontAlgn="base" latinLnBrk="0" hangingPunct="1">
              <a:lnSpc>
                <a:spcPct val="120000"/>
              </a:lnSpc>
              <a:spcBef>
                <a:spcPts val="600"/>
              </a:spcBef>
              <a:spcAft>
                <a:spcPct val="0"/>
              </a:spcAft>
              <a:buClr>
                <a:srgbClr val="FF0000"/>
              </a:buClr>
              <a:buSzTx/>
              <a:buFont typeface="Wingdings" panose="05000000000000000000" pitchFamily="2" charset="2"/>
              <a:buNone/>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    </a:t>
            </a:r>
          </a:p>
        </p:txBody>
      </p:sp>
    </p:spTree>
    <p:extLst>
      <p:ext uri="{BB962C8B-B14F-4D97-AF65-F5344CB8AC3E}">
        <p14:creationId xmlns:p14="http://schemas.microsoft.com/office/powerpoint/2010/main" val="33410029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B8BEDD16-6864-432A-B9E7-64B7B7F3CB19}"/>
              </a:ext>
            </a:extLst>
          </p:cNvPr>
          <p:cNvSpPr txBox="1">
            <a:spLocks noRot="1" noChangeArrowheads="1"/>
          </p:cNvSpPr>
          <p:nvPr/>
        </p:nvSpPr>
        <p:spPr bwMode="auto">
          <a:xfrm>
            <a:off x="293914" y="1219200"/>
            <a:ext cx="8469086" cy="4767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0"/>
              </a:spcBef>
              <a:spcAft>
                <a:spcPct val="0"/>
              </a:spcAft>
              <a:buClr>
                <a:srgbClr val="FF0000"/>
              </a:buClr>
              <a:buSzTx/>
              <a:buFont typeface="Wingdings" panose="05000000000000000000" pitchFamily="2" charset="2"/>
              <a:buNone/>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选用合适的压电材料是设计高性能传感器的关键。一般应考虑以下几个方面： </a:t>
            </a:r>
          </a:p>
          <a:p>
            <a:pPr marL="342900" marR="0" lvl="0" indent="-342900" algn="l" defTabSz="914400" rtl="0" eaLnBrk="1" fontAlgn="base" latinLnBrk="0" hangingPunct="1">
              <a:lnSpc>
                <a:spcPct val="11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C00000"/>
                </a:solidFill>
                <a:effectLst/>
                <a:uLnTx/>
                <a:uFillTx/>
                <a:latin typeface="Arial"/>
                <a:ea typeface="宋体"/>
                <a:cs typeface="+mn-cs"/>
              </a:rPr>
              <a:t>转换性能</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：具有较高的耦合系数或具有较大的压电常数；   </a:t>
            </a:r>
          </a:p>
          <a:p>
            <a:pPr marL="342900" marR="0" lvl="0" indent="-342900" algn="l" defTabSz="914400" rtl="0" eaLnBrk="1" fontAlgn="base" latinLnBrk="0" hangingPunct="1">
              <a:lnSpc>
                <a:spcPct val="11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C00000"/>
                </a:solidFill>
                <a:effectLst/>
                <a:uLnTx/>
                <a:uFillTx/>
                <a:latin typeface="Arial"/>
                <a:ea typeface="宋体"/>
                <a:cs typeface="+mn-cs"/>
              </a:rPr>
              <a:t>机械性能</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：压电元件作为受力元件，希望它的机械强度高、机械刚度大。以期获得宽的线性范围和高的固有振动频率；</a:t>
            </a:r>
          </a:p>
          <a:p>
            <a:pPr marL="342900" marR="0" lvl="0" indent="-342900" algn="l" defTabSz="914400" rtl="0" eaLnBrk="1" fontAlgn="base" latinLnBrk="0" hangingPunct="1">
              <a:lnSpc>
                <a:spcPct val="110000"/>
              </a:lnSpc>
              <a:spcBef>
                <a:spcPct val="20000"/>
              </a:spcBef>
              <a:spcAft>
                <a:spcPct val="0"/>
              </a:spcAft>
              <a:buClr>
                <a:srgbClr val="FF0000"/>
              </a:buClr>
              <a:buSzTx/>
              <a:buFont typeface="Wingdings" panose="05000000000000000000" pitchFamily="2" charset="2"/>
              <a:buChar char="§"/>
              <a:tabLst/>
              <a:defRPr/>
            </a:pPr>
            <a:endParaRPr kumimoji="0" lang="en-US" altLang="zh-CN" sz="2400" b="1" i="0" u="none" strike="noStrike" kern="1200" cap="none" spc="0" normalizeH="0" baseline="0" noProof="0">
              <a:ln>
                <a:noFill/>
              </a:ln>
              <a:solidFill>
                <a:srgbClr val="000099"/>
              </a:solidFill>
              <a:effectLst/>
              <a:uLnTx/>
              <a:uFillTx/>
              <a:latin typeface="Arial"/>
              <a:ea typeface="宋体"/>
              <a:cs typeface="+mn-cs"/>
            </a:endParaRPr>
          </a:p>
          <a:p>
            <a:pPr marL="342900" marR="0" lvl="0" indent="-342900" algn="l" defTabSz="914400" rtl="0" eaLnBrk="1" fontAlgn="base" latinLnBrk="0" hangingPunct="1">
              <a:lnSpc>
                <a:spcPct val="11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C00000"/>
                </a:solidFill>
                <a:effectLst/>
                <a:uLnTx/>
                <a:uFillTx/>
                <a:latin typeface="Arial"/>
                <a:ea typeface="宋体"/>
                <a:cs typeface="+mn-cs"/>
              </a:rPr>
              <a:t>电性能</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：希望具有高的电阻率和大的介电常数，以期望减弱外部分布电容的影响并获得良好的低频特性； </a:t>
            </a:r>
          </a:p>
          <a:p>
            <a:pPr marL="342900" marR="0" lvl="0" indent="-342900" algn="l" defTabSz="914400" rtl="0" eaLnBrk="1" fontAlgn="base" latinLnBrk="0" hangingPunct="1">
              <a:lnSpc>
                <a:spcPct val="11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C00000"/>
                </a:solidFill>
                <a:effectLst/>
                <a:uLnTx/>
                <a:uFillTx/>
                <a:latin typeface="Arial"/>
                <a:ea typeface="宋体"/>
                <a:cs typeface="+mn-cs"/>
              </a:rPr>
              <a:t>温度和湿度稳定性</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要好：具有较高的居里点、以期望得到宽的工作温度范围；</a:t>
            </a:r>
          </a:p>
          <a:p>
            <a:pPr marL="342900" marR="0" lvl="0" indent="-342900" algn="l" defTabSz="914400" rtl="0" eaLnBrk="1" fontAlgn="base" latinLnBrk="0" hangingPunct="1">
              <a:lnSpc>
                <a:spcPct val="11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C00000"/>
                </a:solidFill>
                <a:effectLst/>
                <a:uLnTx/>
                <a:uFillTx/>
                <a:latin typeface="Arial"/>
                <a:ea typeface="宋体"/>
                <a:cs typeface="+mn-cs"/>
              </a:rPr>
              <a:t>时间稳定性</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：压电特性不随时间蜕变。</a:t>
            </a:r>
          </a:p>
        </p:txBody>
      </p:sp>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压电材料</a:t>
            </a:r>
          </a:p>
        </p:txBody>
      </p:sp>
      <p:sp>
        <p:nvSpPr>
          <p:cNvPr id="33" name="Text Box 31"/>
          <p:cNvSpPr txBox="1">
            <a:spLocks noChangeArrowheads="1"/>
          </p:cNvSpPr>
          <p:nvPr/>
        </p:nvSpPr>
        <p:spPr bwMode="auto">
          <a:xfrm>
            <a:off x="744721" y="3425985"/>
            <a:ext cx="65762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800" b="1">
                <a:solidFill>
                  <a:schemeClr val="tx2"/>
                </a:solidFill>
                <a:latin typeface="Arial" charset="0"/>
                <a:ea typeface="宋体" charset="-122"/>
              </a:defRPr>
            </a:lvl1pPr>
            <a:lvl2pPr marL="742950" indent="-285750" eaLnBrk="0" hangingPunct="0">
              <a:defRPr sz="2800" b="1">
                <a:solidFill>
                  <a:schemeClr val="tx2"/>
                </a:solidFill>
                <a:latin typeface="Arial" charset="0"/>
                <a:ea typeface="宋体" charset="-122"/>
              </a:defRPr>
            </a:lvl2pPr>
            <a:lvl3pPr marL="1143000" indent="-228600" eaLnBrk="0" hangingPunct="0">
              <a:defRPr sz="2800" b="1">
                <a:solidFill>
                  <a:schemeClr val="tx2"/>
                </a:solidFill>
                <a:latin typeface="Arial" charset="0"/>
                <a:ea typeface="宋体" charset="-122"/>
              </a:defRPr>
            </a:lvl3pPr>
            <a:lvl4pPr marL="1600200" indent="-228600" eaLnBrk="0" hangingPunct="0">
              <a:defRPr sz="2800" b="1">
                <a:solidFill>
                  <a:schemeClr val="tx2"/>
                </a:solidFill>
                <a:latin typeface="Arial" charset="0"/>
                <a:ea typeface="宋体" charset="-122"/>
              </a:defRPr>
            </a:lvl4pPr>
            <a:lvl5pPr marL="2057400" indent="-228600" eaLnBrk="0" hangingPunct="0">
              <a:defRPr sz="2800" b="1">
                <a:solidFill>
                  <a:schemeClr val="tx2"/>
                </a:solidFill>
                <a:latin typeface="Arial" charset="0"/>
                <a:ea typeface="宋体" charset="-122"/>
              </a:defRPr>
            </a:lvl5pPr>
            <a:lvl6pPr marL="25146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6pPr>
            <a:lvl7pPr marL="29718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7pPr>
            <a:lvl8pPr marL="34290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8pPr>
            <a:lvl9pPr marL="38862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9pPr>
          </a:lstStyle>
          <a:p>
            <a:pPr eaLnBrk="1" hangingPunct="1">
              <a:spcBef>
                <a:spcPct val="50000"/>
              </a:spcBef>
            </a:pPr>
            <a:r>
              <a:rPr lang="zh-CN" altLang="en-US" sz="2400" dirty="0">
                <a:solidFill>
                  <a:srgbClr val="CC3300"/>
                </a:solidFill>
              </a:rPr>
              <a:t>当压电体的应变较大时，压电效应出现非线性。</a:t>
            </a:r>
          </a:p>
        </p:txBody>
      </p:sp>
      <p:sp>
        <p:nvSpPr>
          <p:cNvPr id="2" name="Slide Number Placeholder 1">
            <a:extLst>
              <a:ext uri="{FF2B5EF4-FFF2-40B4-BE49-F238E27FC236}">
                <a16:creationId xmlns:a16="http://schemas.microsoft.com/office/drawing/2014/main" id="{67933922-12CA-4A1E-8E28-6A38B53B2088}"/>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6.2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压电材料</a:t>
            </a:r>
          </a:p>
        </p:txBody>
      </p:sp>
      <p:sp>
        <p:nvSpPr>
          <p:cNvPr id="19" name="Text Box 5"/>
          <p:cNvSpPr txBox="1">
            <a:spLocks noChangeArrowheads="1"/>
          </p:cNvSpPr>
          <p:nvPr/>
        </p:nvSpPr>
        <p:spPr bwMode="auto">
          <a:xfrm>
            <a:off x="936171" y="1686573"/>
            <a:ext cx="7422009" cy="3898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800" b="1">
                <a:solidFill>
                  <a:schemeClr val="tx2"/>
                </a:solidFill>
                <a:latin typeface="Arial" charset="0"/>
                <a:ea typeface="宋体" charset="-122"/>
              </a:defRPr>
            </a:lvl1pPr>
            <a:lvl2pPr marL="742950" indent="-285750" eaLnBrk="0" hangingPunct="0">
              <a:defRPr sz="2800" b="1">
                <a:solidFill>
                  <a:schemeClr val="tx2"/>
                </a:solidFill>
                <a:latin typeface="Arial" charset="0"/>
                <a:ea typeface="宋体" charset="-122"/>
              </a:defRPr>
            </a:lvl2pPr>
            <a:lvl3pPr marL="1143000" indent="-228600" eaLnBrk="0" hangingPunct="0">
              <a:defRPr sz="2800" b="1">
                <a:solidFill>
                  <a:schemeClr val="tx2"/>
                </a:solidFill>
                <a:latin typeface="Arial" charset="0"/>
                <a:ea typeface="宋体" charset="-122"/>
              </a:defRPr>
            </a:lvl3pPr>
            <a:lvl4pPr marL="1600200" indent="-228600" eaLnBrk="0" hangingPunct="0">
              <a:defRPr sz="2800" b="1">
                <a:solidFill>
                  <a:schemeClr val="tx2"/>
                </a:solidFill>
                <a:latin typeface="Arial" charset="0"/>
                <a:ea typeface="宋体" charset="-122"/>
              </a:defRPr>
            </a:lvl4pPr>
            <a:lvl5pPr marL="2057400" indent="-228600" eaLnBrk="0" hangingPunct="0">
              <a:defRPr sz="2800" b="1">
                <a:solidFill>
                  <a:schemeClr val="tx2"/>
                </a:solidFill>
                <a:latin typeface="Arial" charset="0"/>
                <a:ea typeface="宋体" charset="-122"/>
              </a:defRPr>
            </a:lvl5pPr>
            <a:lvl6pPr marL="25146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6pPr>
            <a:lvl7pPr marL="29718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7pPr>
            <a:lvl8pPr marL="34290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8pPr>
            <a:lvl9pPr marL="38862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9pPr>
          </a:lstStyle>
          <a:p>
            <a:pPr eaLnBrk="1" hangingPunct="1">
              <a:lnSpc>
                <a:spcPct val="150000"/>
              </a:lnSpc>
              <a:spcBef>
                <a:spcPct val="50000"/>
              </a:spcBef>
            </a:pPr>
            <a:r>
              <a:rPr lang="zh-CN" altLang="en-US" sz="2400" dirty="0">
                <a:solidFill>
                  <a:schemeClr val="tx1"/>
                </a:solidFill>
              </a:rPr>
              <a:t>一、压电晶体（主要是</a:t>
            </a:r>
            <a:r>
              <a:rPr lang="zh-CN" altLang="en-US" sz="2400" dirty="0">
                <a:solidFill>
                  <a:srgbClr val="0070C0"/>
                </a:solidFill>
              </a:rPr>
              <a:t>单晶体</a:t>
            </a:r>
            <a:r>
              <a:rPr lang="zh-CN" altLang="en-US" sz="2400" dirty="0">
                <a:solidFill>
                  <a:schemeClr val="tx1"/>
                </a:solidFill>
              </a:rPr>
              <a:t>）</a:t>
            </a:r>
          </a:p>
          <a:p>
            <a:pPr eaLnBrk="1" hangingPunct="1">
              <a:lnSpc>
                <a:spcPct val="150000"/>
              </a:lnSpc>
              <a:spcBef>
                <a:spcPct val="50000"/>
              </a:spcBef>
            </a:pPr>
            <a:r>
              <a:rPr lang="zh-CN" altLang="en-US" sz="2400" dirty="0">
                <a:solidFill>
                  <a:schemeClr val="tx1"/>
                </a:solidFill>
              </a:rPr>
              <a:t>        石英、天然晶体，除压电常数不大外，性能优越</a:t>
            </a:r>
            <a:r>
              <a:rPr lang="en-US" altLang="zh-CN" sz="2400" dirty="0">
                <a:solidFill>
                  <a:schemeClr val="tx1"/>
                </a:solidFill>
              </a:rPr>
              <a:t>, </a:t>
            </a:r>
            <a:r>
              <a:rPr lang="zh-CN" altLang="en-US" sz="2400" dirty="0">
                <a:solidFill>
                  <a:schemeClr val="tx1"/>
                </a:solidFill>
              </a:rPr>
              <a:t>作为标准传感器。</a:t>
            </a:r>
          </a:p>
          <a:p>
            <a:pPr eaLnBrk="1" hangingPunct="1">
              <a:lnSpc>
                <a:spcPct val="150000"/>
              </a:lnSpc>
              <a:spcBef>
                <a:spcPct val="50000"/>
              </a:spcBef>
            </a:pPr>
            <a:r>
              <a:rPr lang="zh-CN" altLang="en-US" sz="2400" dirty="0">
                <a:solidFill>
                  <a:schemeClr val="tx1"/>
                </a:solidFill>
              </a:rPr>
              <a:t>二、压电陶瓷（</a:t>
            </a:r>
            <a:r>
              <a:rPr lang="zh-CN" altLang="en-US" sz="2400" dirty="0">
                <a:solidFill>
                  <a:srgbClr val="00B050"/>
                </a:solidFill>
              </a:rPr>
              <a:t>多晶体</a:t>
            </a:r>
            <a:r>
              <a:rPr lang="zh-CN" altLang="en-US" sz="2400" dirty="0">
                <a:solidFill>
                  <a:schemeClr val="tx1"/>
                </a:solidFill>
              </a:rPr>
              <a:t>）</a:t>
            </a:r>
          </a:p>
          <a:p>
            <a:pPr eaLnBrk="1" hangingPunct="1">
              <a:lnSpc>
                <a:spcPct val="150000"/>
              </a:lnSpc>
              <a:spcBef>
                <a:spcPct val="50000"/>
              </a:spcBef>
            </a:pPr>
            <a:r>
              <a:rPr lang="zh-CN" altLang="en-US" sz="2400" dirty="0">
                <a:solidFill>
                  <a:schemeClr val="tx1"/>
                </a:solidFill>
              </a:rPr>
              <a:t>       属于人工制造的多晶体，压电方程仍以</a:t>
            </a:r>
            <a:r>
              <a:rPr lang="en-US" altLang="zh-CN" sz="2400" b="0" i="1" dirty="0">
                <a:solidFill>
                  <a:schemeClr val="tx1"/>
                </a:solidFill>
                <a:latin typeface="Times New Roman" pitchFamily="18" charset="0"/>
              </a:rPr>
              <a:t>Q</a:t>
            </a:r>
            <a:r>
              <a:rPr lang="en-US" altLang="zh-CN" sz="2400" b="0" dirty="0">
                <a:solidFill>
                  <a:schemeClr val="tx1"/>
                </a:solidFill>
                <a:latin typeface="Times New Roman" pitchFamily="18" charset="0"/>
              </a:rPr>
              <a:t>=</a:t>
            </a:r>
            <a:r>
              <a:rPr lang="en-US" altLang="zh-CN" sz="2400" b="0" i="1" dirty="0" err="1">
                <a:solidFill>
                  <a:schemeClr val="tx1"/>
                </a:solidFill>
                <a:latin typeface="Times New Roman" pitchFamily="18" charset="0"/>
              </a:rPr>
              <a:t>dF</a:t>
            </a:r>
            <a:r>
              <a:rPr lang="zh-CN" altLang="en-US" sz="2400" dirty="0">
                <a:solidFill>
                  <a:schemeClr val="tx1"/>
                </a:solidFill>
              </a:rPr>
              <a:t>表示，较大的压电常数、介电常数，机械强度</a:t>
            </a:r>
            <a:r>
              <a:rPr lang="en-US" altLang="zh-CN" sz="2400" dirty="0">
                <a:solidFill>
                  <a:schemeClr val="tx1"/>
                </a:solidFill>
              </a:rPr>
              <a:t>&lt;</a:t>
            </a:r>
            <a:r>
              <a:rPr lang="zh-CN" altLang="en-US" sz="2400" dirty="0">
                <a:solidFill>
                  <a:schemeClr val="tx1"/>
                </a:solidFill>
              </a:rPr>
              <a:t>石英。</a:t>
            </a:r>
          </a:p>
        </p:txBody>
      </p:sp>
      <p:sp>
        <p:nvSpPr>
          <p:cNvPr id="2" name="Slide Number Placeholder 1">
            <a:extLst>
              <a:ext uri="{FF2B5EF4-FFF2-40B4-BE49-F238E27FC236}">
                <a16:creationId xmlns:a16="http://schemas.microsoft.com/office/drawing/2014/main" id="{914E6153-CF5A-445A-90D4-4573741D9300}"/>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Tree>
    <p:extLst>
      <p:ext uri="{BB962C8B-B14F-4D97-AF65-F5344CB8AC3E}">
        <p14:creationId xmlns:p14="http://schemas.microsoft.com/office/powerpoint/2010/main" val="14016679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6.3</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等效电路</a:t>
            </a:r>
          </a:p>
        </p:txBody>
      </p:sp>
      <p:sp>
        <p:nvSpPr>
          <p:cNvPr id="29" name="Rectangle 3"/>
          <p:cNvSpPr txBox="1">
            <a:spLocks noRot="1" noChangeArrowheads="1"/>
          </p:cNvSpPr>
          <p:nvPr/>
        </p:nvSpPr>
        <p:spPr>
          <a:xfrm>
            <a:off x="979714" y="1369764"/>
            <a:ext cx="7281099" cy="27615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622300">
              <a:lnSpc>
                <a:spcPct val="140000"/>
              </a:lnSpc>
              <a:spcBef>
                <a:spcPts val="0"/>
              </a:spcBef>
              <a:buNone/>
            </a:pPr>
            <a:r>
              <a:rPr lang="zh-CN" altLang="en-US" sz="2400" b="1" dirty="0">
                <a:solidFill>
                  <a:srgbClr val="C00000"/>
                </a:solidFill>
                <a:latin typeface="宋体" panose="02010600030101010101" pitchFamily="2" charset="-122"/>
                <a:ea typeface="宋体" panose="02010600030101010101" pitchFamily="2" charset="-122"/>
              </a:rPr>
              <a:t>压电式传感器</a:t>
            </a:r>
            <a:r>
              <a:rPr lang="zh-CN" altLang="en-US" sz="2400" b="1" dirty="0">
                <a:latin typeface="宋体" panose="02010600030101010101" pitchFamily="2" charset="-122"/>
                <a:ea typeface="宋体" panose="02010600030101010101" pitchFamily="2" charset="-122"/>
              </a:rPr>
              <a:t>对被测量的变化是通过其压电元件产生电荷量的大小来反映的，它相当于一个</a:t>
            </a:r>
            <a:r>
              <a:rPr lang="zh-CN" altLang="en-US" sz="2400" b="1" dirty="0">
                <a:solidFill>
                  <a:srgbClr val="FF0000"/>
                </a:solidFill>
                <a:latin typeface="宋体" panose="02010600030101010101" pitchFamily="2" charset="-122"/>
                <a:ea typeface="宋体" panose="02010600030101010101" pitchFamily="2" charset="-122"/>
              </a:rPr>
              <a:t>电荷源</a:t>
            </a:r>
            <a:r>
              <a:rPr lang="zh-CN" altLang="en-US" sz="2400" b="1" dirty="0">
                <a:latin typeface="宋体" panose="02010600030101010101" pitchFamily="2" charset="-122"/>
                <a:ea typeface="宋体" panose="02010600030101010101" pitchFamily="2" charset="-122"/>
              </a:rPr>
              <a:t>。</a:t>
            </a:r>
          </a:p>
          <a:p>
            <a:pPr marL="0" indent="0">
              <a:lnSpc>
                <a:spcPct val="140000"/>
              </a:lnSpc>
              <a:spcBef>
                <a:spcPts val="0"/>
              </a:spcBef>
              <a:buFont typeface="Wingdings" pitchFamily="2" charset="2"/>
              <a:buNone/>
            </a:pPr>
            <a:r>
              <a:rPr lang="zh-CN" altLang="en-US" sz="2400" b="1" dirty="0">
                <a:latin typeface="宋体" panose="02010600030101010101" pitchFamily="2" charset="-122"/>
                <a:ea typeface="宋体" panose="02010600030101010101" pitchFamily="2" charset="-122"/>
              </a:rPr>
              <a:t>    而压电元件电极表面聚集电荷时，它又相当于一个以压电材料为电介质的</a:t>
            </a:r>
            <a:r>
              <a:rPr lang="zh-CN" altLang="en-US" sz="2400" b="1" dirty="0">
                <a:solidFill>
                  <a:srgbClr val="0070C0"/>
                </a:solidFill>
                <a:latin typeface="宋体" panose="02010600030101010101" pitchFamily="2" charset="-122"/>
                <a:ea typeface="宋体" panose="02010600030101010101" pitchFamily="2" charset="-122"/>
              </a:rPr>
              <a:t>电容器</a:t>
            </a:r>
            <a:r>
              <a:rPr lang="zh-CN" altLang="en-US" sz="2400" b="1" dirty="0">
                <a:latin typeface="宋体" panose="02010600030101010101" pitchFamily="2" charset="-122"/>
                <a:ea typeface="宋体" panose="02010600030101010101" pitchFamily="2" charset="-122"/>
              </a:rPr>
              <a:t>，其电容量为：</a:t>
            </a:r>
          </a:p>
        </p:txBody>
      </p:sp>
      <p:sp>
        <p:nvSpPr>
          <p:cNvPr id="31" name="Rectangle 6"/>
          <p:cNvSpPr>
            <a:spLocks noChangeArrowheads="1"/>
          </p:cNvSpPr>
          <p:nvPr/>
        </p:nvSpPr>
        <p:spPr bwMode="auto">
          <a:xfrm>
            <a:off x="1508581" y="4621364"/>
            <a:ext cx="69798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0000"/>
              </a:lnSpc>
              <a:spcBef>
                <a:spcPct val="50000"/>
              </a:spcBef>
              <a:buClrTx/>
              <a:buFontTx/>
              <a:buNone/>
            </a:pPr>
            <a:r>
              <a:rPr lang="zh-CN" altLang="en-US" sz="2400" b="1" dirty="0">
                <a:latin typeface="Times New Roman" pitchFamily="18" charset="0"/>
                <a:ea typeface="宋体" pitchFamily="2" charset="-122"/>
                <a:cs typeface="Times New Roman" pitchFamily="18" charset="0"/>
              </a:rPr>
              <a:t>式中 </a:t>
            </a:r>
            <a:r>
              <a:rPr lang="en-US" altLang="zh-CN" sz="2400" i="1" dirty="0">
                <a:latin typeface="Times New Roman" pitchFamily="18" charset="0"/>
                <a:ea typeface="宋体" pitchFamily="2" charset="-122"/>
                <a:cs typeface="Times New Roman" pitchFamily="18" charset="0"/>
              </a:rPr>
              <a:t>S</a:t>
            </a:r>
            <a:r>
              <a:rPr lang="en-US" altLang="zh-CN" sz="2400" b="1" dirty="0">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极板面积             </a:t>
            </a:r>
            <a:r>
              <a:rPr lang="en-US" altLang="zh-CN" sz="2400" i="1" dirty="0" err="1">
                <a:latin typeface="Times New Roman" pitchFamily="18" charset="0"/>
                <a:ea typeface="宋体" pitchFamily="2" charset="-122"/>
                <a:cs typeface="Times New Roman" pitchFamily="18" charset="0"/>
              </a:rPr>
              <a:t>ε</a:t>
            </a:r>
            <a:r>
              <a:rPr lang="en-US" altLang="zh-CN" sz="2400" i="1" baseline="-25000" dirty="0" err="1">
                <a:latin typeface="Times New Roman" pitchFamily="18" charset="0"/>
                <a:ea typeface="宋体" pitchFamily="2" charset="-122"/>
                <a:cs typeface="Times New Roman" pitchFamily="18" charset="0"/>
              </a:rPr>
              <a:t>r</a:t>
            </a:r>
            <a:r>
              <a:rPr lang="en-US" altLang="zh-CN" sz="2400" b="1" dirty="0">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压电材料相对介电常数 </a:t>
            </a:r>
          </a:p>
          <a:p>
            <a:pPr>
              <a:lnSpc>
                <a:spcPct val="100000"/>
              </a:lnSpc>
              <a:spcBef>
                <a:spcPct val="50000"/>
              </a:spcBef>
              <a:buClrTx/>
              <a:buFontTx/>
              <a:buNone/>
            </a:pPr>
            <a:r>
              <a:rPr lang="zh-CN" altLang="en-US" sz="2400" b="1" i="1" dirty="0">
                <a:latin typeface="Times New Roman" pitchFamily="18" charset="0"/>
                <a:ea typeface="宋体" pitchFamily="2" charset="-122"/>
                <a:cs typeface="Times New Roman" pitchFamily="18" charset="0"/>
                <a:sym typeface="Symbol" pitchFamily="18" charset="2"/>
              </a:rPr>
              <a:t>        </a:t>
            </a:r>
            <a:r>
              <a:rPr lang="zh-CN" altLang="en-US" sz="2400" i="1" dirty="0">
                <a:latin typeface="Times New Roman" pitchFamily="18" charset="0"/>
                <a:ea typeface="宋体" pitchFamily="2" charset="-122"/>
                <a:cs typeface="Times New Roman" pitchFamily="18" charset="0"/>
                <a:sym typeface="Symbol" pitchFamily="18" charset="2"/>
              </a:rPr>
              <a:t></a:t>
            </a:r>
            <a:r>
              <a:rPr lang="en-US" altLang="zh-CN" sz="2400" baseline="-25000" dirty="0">
                <a:latin typeface="Times New Roman" pitchFamily="18" charset="0"/>
                <a:ea typeface="宋体" pitchFamily="2" charset="-122"/>
                <a:cs typeface="Times New Roman" pitchFamily="18" charset="0"/>
                <a:sym typeface="Symbol" pitchFamily="18" charset="2"/>
              </a:rPr>
              <a:t>0</a:t>
            </a:r>
            <a:r>
              <a:rPr lang="en-US" altLang="zh-CN" sz="2400" b="1" baseline="-25000" dirty="0">
                <a:latin typeface="Times New Roman" pitchFamily="18" charset="0"/>
                <a:ea typeface="宋体" pitchFamily="2" charset="-122"/>
                <a:cs typeface="Times New Roman" pitchFamily="18" charset="0"/>
                <a:sym typeface="Symbol" pitchFamily="18" charset="2"/>
              </a:rPr>
              <a:t> </a:t>
            </a:r>
            <a:r>
              <a:rPr lang="en-US" altLang="zh-CN" sz="2400" b="1" dirty="0">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真空介电常数     </a:t>
            </a:r>
            <a:r>
              <a:rPr lang="en-US" altLang="zh-CN" sz="2400" i="1" dirty="0">
                <a:latin typeface="Times New Roman" pitchFamily="18" charset="0"/>
                <a:ea typeface="宋体" pitchFamily="2" charset="-122"/>
                <a:cs typeface="Times New Roman" pitchFamily="18" charset="0"/>
              </a:rPr>
              <a:t>δ</a:t>
            </a:r>
            <a:r>
              <a:rPr lang="en-US" altLang="zh-CN" sz="2400" b="1" dirty="0">
                <a:latin typeface="Times New Roman" pitchFamily="18" charset="0"/>
                <a:ea typeface="宋体" pitchFamily="2" charset="-122"/>
                <a:cs typeface="Times New Roman" pitchFamily="18" charset="0"/>
              </a:rPr>
              <a:t>--</a:t>
            </a:r>
            <a:r>
              <a:rPr lang="zh-CN" altLang="en-US" sz="2400" b="1" dirty="0">
                <a:latin typeface="Times New Roman" pitchFamily="18" charset="0"/>
                <a:ea typeface="宋体" pitchFamily="2" charset="-122"/>
                <a:cs typeface="Times New Roman" pitchFamily="18" charset="0"/>
              </a:rPr>
              <a:t>压电元件厚度</a:t>
            </a:r>
          </a:p>
        </p:txBody>
      </p:sp>
      <mc:AlternateContent xmlns:mc="http://schemas.openxmlformats.org/markup-compatibility/2006" xmlns:a14="http://schemas.microsoft.com/office/drawing/2010/main">
        <mc:Choice Requires="a14">
          <p:sp>
            <p:nvSpPr>
              <p:cNvPr id="7" name="TextBox 6"/>
              <p:cNvSpPr txBox="1"/>
              <p:nvPr/>
            </p:nvSpPr>
            <p:spPr>
              <a:xfrm>
                <a:off x="3895337" y="3483467"/>
                <a:ext cx="1783117" cy="78617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𝐶</m:t>
                          </m:r>
                        </m:e>
                        <m:sub>
                          <m:r>
                            <a:rPr lang="en-US" altLang="zh-CN" sz="2400" b="0" i="1" smtClean="0">
                              <a:latin typeface="Cambria Math"/>
                            </a:rPr>
                            <m:t>𝑎</m:t>
                          </m:r>
                        </m:sub>
                      </m:sSub>
                      <m:r>
                        <a:rPr lang="en-US" altLang="zh-CN" sz="2400" i="1" smtClean="0">
                          <a:latin typeface="Cambria Math"/>
                        </a:rPr>
                        <m:t>=</m:t>
                      </m:r>
                      <m:f>
                        <m:fPr>
                          <m:ctrlPr>
                            <a:rPr lang="en-US" altLang="zh-CN" sz="2400" i="1" smtClean="0">
                              <a:latin typeface="Cambria Math" panose="02040503050406030204" pitchFamily="18" charset="0"/>
                            </a:rPr>
                          </m:ctrlPr>
                        </m:fPr>
                        <m:num>
                          <m:sSub>
                            <m:sSubPr>
                              <m:ctrlPr>
                                <a:rPr lang="en-US" altLang="zh-CN" sz="2400" i="1" smtClean="0">
                                  <a:latin typeface="Cambria Math" panose="02040503050406030204" pitchFamily="18" charset="0"/>
                                </a:rPr>
                              </m:ctrlPr>
                            </m:sSubPr>
                            <m:e>
                              <m:r>
                                <a:rPr lang="zh-CN" altLang="en-US" sz="2400" i="1" smtClean="0">
                                  <a:latin typeface="Cambria Math"/>
                                </a:rPr>
                                <m:t>𝜀</m:t>
                              </m:r>
                            </m:e>
                            <m:sub>
                              <m:r>
                                <a:rPr lang="en-US" altLang="zh-CN" sz="2400" b="0" i="1" smtClean="0">
                                  <a:latin typeface="Cambria Math"/>
                                </a:rPr>
                                <m:t>𝑟</m:t>
                              </m:r>
                            </m:sub>
                          </m:sSub>
                          <m:sSub>
                            <m:sSubPr>
                              <m:ctrlPr>
                                <a:rPr lang="en-US" altLang="zh-CN" sz="2400" i="1" smtClean="0">
                                  <a:latin typeface="Cambria Math" panose="02040503050406030204" pitchFamily="18" charset="0"/>
                                </a:rPr>
                              </m:ctrlPr>
                            </m:sSubPr>
                            <m:e>
                              <m:r>
                                <a:rPr lang="zh-CN" altLang="en-US" sz="2400" i="1" smtClean="0">
                                  <a:latin typeface="Cambria Math"/>
                                </a:rPr>
                                <m:t>𝜀</m:t>
                              </m:r>
                            </m:e>
                            <m:sub>
                              <m:r>
                                <a:rPr lang="en-US" altLang="zh-CN" sz="2400" b="0" i="1" smtClean="0">
                                  <a:latin typeface="Cambria Math"/>
                                </a:rPr>
                                <m:t>0</m:t>
                              </m:r>
                            </m:sub>
                          </m:sSub>
                          <m:r>
                            <a:rPr lang="en-US" altLang="zh-CN" sz="2400" b="0" i="1" smtClean="0">
                              <a:latin typeface="Cambria Math"/>
                            </a:rPr>
                            <m:t>𝑆</m:t>
                          </m:r>
                        </m:num>
                        <m:den>
                          <m:r>
                            <a:rPr lang="zh-CN" altLang="en-US" sz="2400" i="1" smtClean="0">
                              <a:latin typeface="Cambria Math"/>
                            </a:rPr>
                            <m:t>𝛿</m:t>
                          </m:r>
                        </m:den>
                      </m:f>
                    </m:oMath>
                  </m:oMathPara>
                </a14:m>
                <a:endParaRPr lang="zh-CN" alt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3895337" y="3483467"/>
                <a:ext cx="1783117" cy="786177"/>
              </a:xfrm>
              <a:prstGeom prst="rect">
                <a:avLst/>
              </a:prstGeom>
              <a:blipFill>
                <a:blip r:embed="rId3"/>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616307F4-B796-47EC-893E-562BA84AA4D1}"/>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9">
            <a:extLst>
              <a:ext uri="{FF2B5EF4-FFF2-40B4-BE49-F238E27FC236}">
                <a16:creationId xmlns:a16="http://schemas.microsoft.com/office/drawing/2014/main" id="{3280AB2E-CC40-456A-8E11-F00D47DB3A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213"/>
          <a:stretch/>
        </p:blipFill>
        <p:spPr bwMode="auto">
          <a:xfrm>
            <a:off x="2920001" y="4454802"/>
            <a:ext cx="6001232" cy="2403198"/>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6.3</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等效电路</a:t>
            </a:r>
          </a:p>
        </p:txBody>
      </p:sp>
      <p:sp>
        <p:nvSpPr>
          <p:cNvPr id="2" name="Slide Number Placeholder 1">
            <a:extLst>
              <a:ext uri="{FF2B5EF4-FFF2-40B4-BE49-F238E27FC236}">
                <a16:creationId xmlns:a16="http://schemas.microsoft.com/office/drawing/2014/main" id="{616307F4-B796-47EC-893E-562BA84AA4D1}"/>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
        <p:nvSpPr>
          <p:cNvPr id="9" name="Rectangle 3">
            <a:extLst>
              <a:ext uri="{FF2B5EF4-FFF2-40B4-BE49-F238E27FC236}">
                <a16:creationId xmlns:a16="http://schemas.microsoft.com/office/drawing/2014/main" id="{78109D97-9EA8-4DB7-8B6C-B21D22774B03}"/>
              </a:ext>
            </a:extLst>
          </p:cNvPr>
          <p:cNvSpPr txBox="1">
            <a:spLocks noRot="1" noChangeArrowheads="1"/>
          </p:cNvSpPr>
          <p:nvPr/>
        </p:nvSpPr>
        <p:spPr bwMode="auto">
          <a:xfrm>
            <a:off x="185083" y="1099191"/>
            <a:ext cx="8046689"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15000"/>
              </a:lnSpc>
              <a:spcBef>
                <a:spcPct val="20000"/>
              </a:spcBef>
              <a:spcAft>
                <a:spcPct val="0"/>
              </a:spcAft>
              <a:buClr>
                <a:srgbClr val="FF0000"/>
              </a:buClr>
              <a:buSzTx/>
              <a:buFont typeface="Wingdings" panose="05000000000000000000" pitchFamily="2" charset="2"/>
              <a:buChar char="§"/>
              <a:tabLst/>
              <a:defRPr/>
            </a:pPr>
            <a:r>
              <a:rPr kumimoji="0" lang="zh-CN" altLang="en-US" sz="2200" b="1" i="0" u="none" strike="noStrike" kern="1200" cap="none" spc="0" normalizeH="0" baseline="0" noProof="0">
                <a:ln>
                  <a:noFill/>
                </a:ln>
                <a:solidFill>
                  <a:srgbClr val="000099"/>
                </a:solidFill>
                <a:effectLst/>
                <a:uLnTx/>
                <a:uFillTx/>
                <a:latin typeface="Arial"/>
                <a:ea typeface="宋体"/>
                <a:cs typeface="+mn-cs"/>
              </a:rPr>
              <a:t>当压电元件受外力作用时，两表面产生等量的正、负电荷</a:t>
            </a:r>
            <a:r>
              <a:rPr kumimoji="0" lang="en-US" altLang="zh-CN" sz="2200" b="1" i="0" u="none" strike="noStrike" kern="1200" cap="none" spc="0" normalizeH="0" baseline="0" noProof="0">
                <a:ln>
                  <a:noFill/>
                </a:ln>
                <a:solidFill>
                  <a:srgbClr val="000099"/>
                </a:solidFill>
                <a:effectLst/>
                <a:uLnTx/>
                <a:uFillTx/>
                <a:latin typeface="Arial"/>
                <a:ea typeface="宋体"/>
                <a:cs typeface="+mn-cs"/>
              </a:rPr>
              <a:t>Q</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，压电元件的开路电压 </a:t>
            </a:r>
            <a:r>
              <a:rPr kumimoji="0" lang="en-US" altLang="zh-CN" sz="2200" b="1" i="0" u="none" strike="noStrike" kern="1200" cap="none" spc="0" normalizeH="0" baseline="0" noProof="0">
                <a:ln>
                  <a:noFill/>
                </a:ln>
                <a:effectLst/>
                <a:uLnTx/>
                <a:uFillTx/>
                <a:latin typeface="Arial"/>
                <a:ea typeface="宋体"/>
                <a:cs typeface="+mn-cs"/>
              </a:rPr>
              <a:t>(</a:t>
            </a:r>
            <a:r>
              <a:rPr kumimoji="0" lang="zh-CN" altLang="en-US" sz="2200" b="1" i="0" u="none" strike="noStrike" kern="1200" cap="none" spc="0" normalizeH="0" baseline="0" noProof="0">
                <a:ln>
                  <a:noFill/>
                </a:ln>
                <a:effectLst/>
                <a:uLnTx/>
                <a:uFillTx/>
                <a:latin typeface="Arial"/>
                <a:ea typeface="宋体"/>
                <a:cs typeface="+mn-cs"/>
              </a:rPr>
              <a:t>认为其负载电阻为无穷大</a:t>
            </a:r>
            <a:r>
              <a:rPr kumimoji="0" lang="en-US" altLang="zh-CN" sz="2200" b="1" i="0" u="none" strike="noStrike" kern="1200" cap="none" spc="0" normalizeH="0" baseline="0" noProof="0">
                <a:ln>
                  <a:noFill/>
                </a:ln>
                <a:effectLst/>
                <a:uLnTx/>
                <a:uFillTx/>
                <a:latin typeface="Arial"/>
                <a:ea typeface="宋体"/>
                <a:cs typeface="+mn-cs"/>
              </a:rPr>
              <a:t>) </a:t>
            </a:r>
            <a:r>
              <a:rPr kumimoji="0" lang="en-US" altLang="zh-CN" sz="2200" b="1" i="0" u="none" strike="noStrike" kern="1200" cap="none" spc="0" normalizeH="0" baseline="0" noProof="0">
                <a:ln>
                  <a:noFill/>
                </a:ln>
                <a:solidFill>
                  <a:srgbClr val="000099"/>
                </a:solidFill>
                <a:effectLst/>
                <a:uLnTx/>
                <a:uFillTx/>
                <a:latin typeface="Arial"/>
                <a:ea typeface="宋体"/>
                <a:cs typeface="+mn-cs"/>
              </a:rPr>
              <a:t>U</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为</a:t>
            </a:r>
            <a:r>
              <a:rPr kumimoji="0" lang="zh-CN" altLang="en-US" sz="1600" b="1" i="0" u="none" strike="noStrike" kern="1200" cap="none" spc="0" normalizeH="0" baseline="0" noProof="0">
                <a:ln>
                  <a:noFill/>
                </a:ln>
                <a:solidFill>
                  <a:srgbClr val="000099"/>
                </a:solidFill>
                <a:effectLst/>
                <a:uLnTx/>
                <a:uFillTx/>
                <a:latin typeface="Arial"/>
                <a:ea typeface="宋体"/>
                <a:cs typeface="+mn-cs"/>
              </a:rPr>
              <a:t>                                                   </a:t>
            </a:r>
          </a:p>
        </p:txBody>
      </p:sp>
      <p:sp>
        <p:nvSpPr>
          <p:cNvPr id="11" name="Rectangle 40">
            <a:extLst>
              <a:ext uri="{FF2B5EF4-FFF2-40B4-BE49-F238E27FC236}">
                <a16:creationId xmlns:a16="http://schemas.microsoft.com/office/drawing/2014/main" id="{BA888ECE-5F32-43C4-8FD2-9EC799AD3C1F}"/>
              </a:ext>
            </a:extLst>
          </p:cNvPr>
          <p:cNvSpPr>
            <a:spLocks noChangeArrowheads="1"/>
          </p:cNvSpPr>
          <p:nvPr/>
        </p:nvSpPr>
        <p:spPr bwMode="auto">
          <a:xfrm>
            <a:off x="185082" y="2466029"/>
            <a:ext cx="8736151" cy="1995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05000"/>
              </a:lnSpc>
              <a:spcBef>
                <a:spcPts val="600"/>
              </a:spcBef>
              <a:spcAft>
                <a:spcPct val="0"/>
              </a:spcAft>
              <a:buClr>
                <a:srgbClr val="FF0000"/>
              </a:buClr>
              <a:buSzTx/>
              <a:buFont typeface="Wingdings" panose="05000000000000000000" pitchFamily="2" charset="2"/>
              <a:buChar char="§"/>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这样，可以把压电元件等效为一个</a:t>
            </a:r>
            <a:r>
              <a:rPr kumimoji="0" lang="zh-CN" altLang="en-US"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电荷源</a:t>
            </a:r>
            <a:r>
              <a:rPr kumimoji="0" lang="en-US" altLang="zh-CN"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Q</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和一个</a:t>
            </a:r>
            <a:r>
              <a:rPr kumimoji="0" lang="zh-CN" altLang="en-US"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电容器</a:t>
            </a:r>
            <a:r>
              <a:rPr kumimoji="0" lang="en-US" altLang="zh-CN"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Ca</a:t>
            </a:r>
            <a:r>
              <a:rPr kumimoji="0" lang="zh-CN" altLang="en-US" sz="2200" b="1" i="0" u="none" strike="noStrike" kern="0" cap="none" spc="0" normalizeH="0" baseline="0" noProof="0">
                <a:ln>
                  <a:noFill/>
                </a:ln>
                <a:solidFill>
                  <a:srgbClr val="00B050"/>
                </a:solidFill>
                <a:effectLst/>
                <a:uLnTx/>
                <a:uFillTx/>
                <a:latin typeface="Arial" panose="020B0604020202020204" pitchFamily="34" charset="0"/>
                <a:ea typeface="宋体" panose="02010600030101010101" pitchFamily="2" charset="-122"/>
              </a:rPr>
              <a:t>并联</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的等效电路，如图中</a:t>
            </a:r>
            <a:r>
              <a:rPr lang="zh-CN" altLang="en-US" sz="2200" b="1" kern="0">
                <a:solidFill>
                  <a:srgbClr val="000099"/>
                </a:solidFill>
              </a:rPr>
              <a:t>（</a:t>
            </a:r>
            <a:r>
              <a:rPr lang="en-US" altLang="zh-CN" sz="2200" b="1" kern="0">
                <a:solidFill>
                  <a:srgbClr val="000099"/>
                </a:solidFill>
              </a:rPr>
              <a:t>a</a:t>
            </a:r>
            <a:r>
              <a:rPr lang="zh-CN" altLang="en-US" sz="2200" b="1" kern="0">
                <a:solidFill>
                  <a:srgbClr val="000099"/>
                </a:solidFill>
              </a:rPr>
              <a:t>）</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的虚线方框；</a:t>
            </a:r>
            <a:endPar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a:p>
            <a:pPr marL="342900" marR="0" lvl="0" indent="-342900" defTabSz="914400" eaLnBrk="1" fontAlgn="base" latinLnBrk="0" hangingPunct="1">
              <a:lnSpc>
                <a:spcPct val="105000"/>
              </a:lnSpc>
              <a:spcBef>
                <a:spcPts val="600"/>
              </a:spcBef>
              <a:spcAft>
                <a:spcPct val="0"/>
              </a:spcAft>
              <a:buClr>
                <a:srgbClr val="FF0000"/>
              </a:buClr>
              <a:buSzTx/>
              <a:buFont typeface="Wingdings" panose="05000000000000000000" pitchFamily="2" charset="2"/>
              <a:buChar char="§"/>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同时也等效为一个</a:t>
            </a:r>
            <a:r>
              <a:rPr kumimoji="0" lang="zh-CN" altLang="en-US"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电压源 </a:t>
            </a:r>
            <a:r>
              <a:rPr kumimoji="0" lang="en-US" altLang="zh-CN"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U</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和一个</a:t>
            </a:r>
            <a:r>
              <a:rPr kumimoji="0" lang="zh-CN" altLang="en-US"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电容器</a:t>
            </a:r>
            <a:r>
              <a:rPr kumimoji="0" lang="en-US" altLang="zh-CN" sz="2200" b="1" i="0" u="none" strike="noStrike" kern="0" cap="none" spc="0" normalizeH="0" baseline="0" noProof="0">
                <a:ln>
                  <a:noFill/>
                </a:ln>
                <a:solidFill>
                  <a:srgbClr val="C00000"/>
                </a:solidFill>
                <a:effectLst/>
                <a:uLnTx/>
                <a:uFillTx/>
                <a:latin typeface="Arial" panose="020B0604020202020204" pitchFamily="34" charset="0"/>
                <a:ea typeface="宋体" panose="02010600030101010101" pitchFamily="2" charset="-122"/>
              </a:rPr>
              <a:t>Ca </a:t>
            </a:r>
            <a:r>
              <a:rPr kumimoji="0" lang="zh-CN" altLang="en-US" sz="2200" b="1" i="0" u="none" strike="noStrike" kern="0" cap="none" spc="0" normalizeH="0" baseline="0" noProof="0">
                <a:ln>
                  <a:noFill/>
                </a:ln>
                <a:solidFill>
                  <a:srgbClr val="00B050"/>
                </a:solidFill>
                <a:effectLst/>
                <a:uLnTx/>
                <a:uFillTx/>
                <a:latin typeface="Arial" panose="020B0604020202020204" pitchFamily="34" charset="0"/>
                <a:ea typeface="宋体" panose="02010600030101010101" pitchFamily="2" charset="-122"/>
              </a:rPr>
              <a:t>串联 </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的等效电路，如图中（</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b</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）的虚线方框所示。</a:t>
            </a:r>
            <a:endPar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a:p>
            <a:pPr marL="342900" marR="0" lvl="0" indent="-342900" defTabSz="914400" eaLnBrk="1" fontAlgn="base" latinLnBrk="0" hangingPunct="1">
              <a:lnSpc>
                <a:spcPct val="105000"/>
              </a:lnSpc>
              <a:spcBef>
                <a:spcPts val="600"/>
              </a:spcBef>
              <a:spcAft>
                <a:spcPct val="0"/>
              </a:spcAft>
              <a:buClr>
                <a:srgbClr val="FF0000"/>
              </a:buClr>
              <a:buSzTx/>
              <a:buFont typeface="Wingdings" panose="05000000000000000000" pitchFamily="2" charset="2"/>
              <a:buChar char="§"/>
              <a:tabLst/>
              <a:defRPr/>
            </a:pPr>
            <a:r>
              <a:rPr kumimoji="0" lang="en-US" altLang="zh-CN" sz="2200" b="1" i="0" u="none" strike="noStrike" kern="0" cap="none" spc="0" normalizeH="0" baseline="0" noProof="0">
                <a:ln>
                  <a:noFill/>
                </a:ln>
                <a:effectLst/>
                <a:uLnTx/>
                <a:uFillTx/>
                <a:latin typeface="Arial" panose="020B0604020202020204" pitchFamily="34" charset="0"/>
                <a:ea typeface="宋体" panose="02010600030101010101" pitchFamily="2" charset="-122"/>
              </a:rPr>
              <a:t>Ra</a:t>
            </a:r>
            <a:r>
              <a:rPr kumimoji="0" lang="zh-CN" altLang="en-US" sz="2200" b="1" i="0" u="none" strike="noStrike" kern="0" cap="none" spc="0" normalizeH="0" baseline="0" noProof="0">
                <a:ln>
                  <a:noFill/>
                </a:ln>
                <a:effectLst/>
                <a:uLnTx/>
                <a:uFillTx/>
                <a:latin typeface="Arial" panose="020B0604020202020204" pitchFamily="34" charset="0"/>
                <a:ea typeface="宋体" panose="02010600030101010101" pitchFamily="2" charset="-122"/>
              </a:rPr>
              <a:t>为压电元件的漏电阻。</a:t>
            </a:r>
          </a:p>
        </p:txBody>
      </p:sp>
      <p:sp>
        <p:nvSpPr>
          <p:cNvPr id="12" name="Text Box 41">
            <a:extLst>
              <a:ext uri="{FF2B5EF4-FFF2-40B4-BE49-F238E27FC236}">
                <a16:creationId xmlns:a16="http://schemas.microsoft.com/office/drawing/2014/main" id="{AFC0F3EF-658B-425A-9AC0-4FD815BCA692}"/>
              </a:ext>
            </a:extLst>
          </p:cNvPr>
          <p:cNvSpPr txBox="1">
            <a:spLocks noChangeArrowheads="1"/>
          </p:cNvSpPr>
          <p:nvPr/>
        </p:nvSpPr>
        <p:spPr bwMode="auto">
          <a:xfrm>
            <a:off x="2012374" y="1987324"/>
            <a:ext cx="1841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alt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aphicFrame>
        <p:nvGraphicFramePr>
          <p:cNvPr id="13" name="Object 42">
            <a:extLst>
              <a:ext uri="{FF2B5EF4-FFF2-40B4-BE49-F238E27FC236}">
                <a16:creationId xmlns:a16="http://schemas.microsoft.com/office/drawing/2014/main" id="{9C51D027-55E9-46D1-9DAC-AECC61F792A9}"/>
              </a:ext>
            </a:extLst>
          </p:cNvPr>
          <p:cNvGraphicFramePr>
            <a:graphicFrameLocks noChangeAspect="1"/>
          </p:cNvGraphicFramePr>
          <p:nvPr>
            <p:extLst>
              <p:ext uri="{D42A27DB-BD31-4B8C-83A1-F6EECF244321}">
                <p14:modId xmlns:p14="http://schemas.microsoft.com/office/powerpoint/2010/main" val="3565176232"/>
              </p:ext>
            </p:extLst>
          </p:nvPr>
        </p:nvGraphicFramePr>
        <p:xfrm>
          <a:off x="3328411" y="1825399"/>
          <a:ext cx="863600" cy="735012"/>
        </p:xfrm>
        <a:graphic>
          <a:graphicData uri="http://schemas.openxmlformats.org/presentationml/2006/ole">
            <mc:AlternateContent xmlns:mc="http://schemas.openxmlformats.org/markup-compatibility/2006">
              <mc:Choice xmlns:v="urn:schemas-microsoft-com:vml" Requires="v">
                <p:oleObj name="公式" r:id="rId4" imgW="507960" imgH="431640" progId="Equation.3">
                  <p:embed/>
                </p:oleObj>
              </mc:Choice>
              <mc:Fallback>
                <p:oleObj name="公式" r:id="rId4" imgW="507960" imgH="431640" progId="Equation.3">
                  <p:embed/>
                  <p:pic>
                    <p:nvPicPr>
                      <p:cNvPr id="222250" name="Object 42">
                        <a:extLst>
                          <a:ext uri="{FF2B5EF4-FFF2-40B4-BE49-F238E27FC236}">
                            <a16:creationId xmlns:a16="http://schemas.microsoft.com/office/drawing/2014/main" id="{AE1C03DA-8CB5-4018-9A1D-1B18042D07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8411" y="1825399"/>
                        <a:ext cx="863600" cy="735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46">
            <a:extLst>
              <a:ext uri="{FF2B5EF4-FFF2-40B4-BE49-F238E27FC236}">
                <a16:creationId xmlns:a16="http://schemas.microsoft.com/office/drawing/2014/main" id="{5150020E-C684-4AEF-A483-5C799325616A}"/>
              </a:ext>
            </a:extLst>
          </p:cNvPr>
          <p:cNvSpPr>
            <a:spLocks noChangeArrowheads="1"/>
          </p:cNvSpPr>
          <p:nvPr/>
        </p:nvSpPr>
        <p:spPr bwMode="auto">
          <a:xfrm>
            <a:off x="271864" y="5055212"/>
            <a:ext cx="279559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effectLst/>
                <a:uLnTx/>
                <a:uFillTx/>
                <a:latin typeface="Arial" panose="020B0604020202020204" pitchFamily="34" charset="0"/>
                <a:ea typeface="宋体" panose="02010600030101010101" pitchFamily="2" charset="-122"/>
              </a:rPr>
              <a:t>图</a:t>
            </a:r>
            <a:r>
              <a:rPr kumimoji="1" lang="en-US" altLang="zh-CN" sz="2000" b="1" i="0" u="none" strike="noStrike" kern="0" cap="none" spc="0" normalizeH="0" baseline="0" noProof="0">
                <a:ln>
                  <a:noFill/>
                </a:ln>
                <a:effectLst/>
                <a:uLnTx/>
                <a:uFillTx/>
                <a:latin typeface="Arial" panose="020B0604020202020204" pitchFamily="34" charset="0"/>
                <a:ea typeface="宋体" panose="02010600030101010101" pitchFamily="2" charset="-122"/>
              </a:rPr>
              <a:t>6-8   </a:t>
            </a:r>
            <a:r>
              <a:rPr kumimoji="1" lang="zh-CN" altLang="en-US" sz="2000" b="1" i="0" u="none" strike="noStrike" kern="0" cap="none" spc="0" normalizeH="0" baseline="0" noProof="0">
                <a:ln>
                  <a:noFill/>
                </a:ln>
                <a:effectLst/>
                <a:uLnTx/>
                <a:uFillTx/>
                <a:latin typeface="Arial" panose="020B0604020202020204" pitchFamily="34" charset="0"/>
                <a:ea typeface="宋体" panose="02010600030101010101" pitchFamily="2" charset="-122"/>
              </a:rPr>
              <a:t>压电式传感器测试系统的等效电路</a:t>
            </a:r>
          </a:p>
        </p:txBody>
      </p:sp>
    </p:spTree>
    <p:extLst>
      <p:ext uri="{BB962C8B-B14F-4D97-AF65-F5344CB8AC3E}">
        <p14:creationId xmlns:p14="http://schemas.microsoft.com/office/powerpoint/2010/main" val="33890785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6.3</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等效电路</a:t>
            </a:r>
          </a:p>
        </p:txBody>
      </p:sp>
      <p:sp>
        <p:nvSpPr>
          <p:cNvPr id="2" name="Slide Number Placeholder 1">
            <a:extLst>
              <a:ext uri="{FF2B5EF4-FFF2-40B4-BE49-F238E27FC236}">
                <a16:creationId xmlns:a16="http://schemas.microsoft.com/office/drawing/2014/main" id="{616307F4-B796-47EC-893E-562BA84AA4D1}"/>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
        <p:nvSpPr>
          <p:cNvPr id="96" name="Text Box 3">
            <a:extLst>
              <a:ext uri="{FF2B5EF4-FFF2-40B4-BE49-F238E27FC236}">
                <a16:creationId xmlns:a16="http://schemas.microsoft.com/office/drawing/2014/main" id="{87F50CDB-2EE9-4E55-BBEE-29DBDAA8D075}"/>
              </a:ext>
            </a:extLst>
          </p:cNvPr>
          <p:cNvSpPr txBox="1">
            <a:spLocks noChangeArrowheads="1"/>
          </p:cNvSpPr>
          <p:nvPr/>
        </p:nvSpPr>
        <p:spPr bwMode="auto">
          <a:xfrm>
            <a:off x="19529" y="1294797"/>
            <a:ext cx="8870591" cy="13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fontAlgn="base">
              <a:lnSpc>
                <a:spcPct val="115000"/>
              </a:lnSpc>
              <a:spcBef>
                <a:spcPct val="50000"/>
              </a:spcBef>
              <a:spcAft>
                <a:spcPct val="0"/>
              </a:spcAft>
            </a:pPr>
            <a:r>
              <a:rPr kumimoji="1" lang="en-US" altLang="zh-CN" sz="2400" b="1">
                <a:solidFill>
                  <a:srgbClr val="000000"/>
                </a:solidFill>
                <a:latin typeface="Times New Roman" panose="02020603050405020304" pitchFamily="18" charset="0"/>
                <a:ea typeface="宋体" panose="02010600030101010101" pitchFamily="2" charset="-122"/>
              </a:rPr>
              <a:t>        </a:t>
            </a:r>
            <a:r>
              <a:rPr kumimoji="1" lang="zh-CN" altLang="en-US" sz="2400" b="1">
                <a:solidFill>
                  <a:srgbClr val="000099"/>
                </a:solidFill>
                <a:latin typeface="Times New Roman" panose="02020603050405020304" pitchFamily="18" charset="0"/>
                <a:ea typeface="宋体" panose="02010600030101010101" pitchFamily="2" charset="-122"/>
              </a:rPr>
              <a:t>利用压电式传感器进行测量时，由于它要与测量电路相连接，于是应考虑</a:t>
            </a:r>
            <a:r>
              <a:rPr kumimoji="1" lang="zh-CN" altLang="en-US" sz="2400" b="1">
                <a:solidFill>
                  <a:srgbClr val="CC3300"/>
                </a:solidFill>
                <a:latin typeface="Times New Roman" panose="02020603050405020304" pitchFamily="18" charset="0"/>
                <a:ea typeface="宋体" panose="02010600030101010101" pitchFamily="2" charset="-122"/>
              </a:rPr>
              <a:t>电缆电容</a:t>
            </a:r>
            <a:r>
              <a:rPr kumimoji="1" lang="en-US" altLang="zh-CN" sz="2400" b="1" i="1">
                <a:solidFill>
                  <a:srgbClr val="CC3300"/>
                </a:solidFill>
                <a:latin typeface="Times New Roman" panose="02020603050405020304" pitchFamily="18" charset="0"/>
                <a:ea typeface="宋体" panose="02010600030101010101" pitchFamily="2" charset="-122"/>
              </a:rPr>
              <a:t>Cc</a:t>
            </a:r>
            <a:r>
              <a:rPr kumimoji="1" lang="zh-CN" altLang="en-US" sz="2400" b="1">
                <a:solidFill>
                  <a:srgbClr val="000000"/>
                </a:solidFill>
                <a:latin typeface="Times New Roman" panose="02020603050405020304" pitchFamily="18" charset="0"/>
                <a:ea typeface="宋体" panose="02010600030101010101" pitchFamily="2" charset="-122"/>
              </a:rPr>
              <a:t>，</a:t>
            </a:r>
            <a:r>
              <a:rPr kumimoji="1" lang="zh-CN" altLang="en-US" sz="2400" b="1">
                <a:solidFill>
                  <a:srgbClr val="000099"/>
                </a:solidFill>
                <a:latin typeface="Times New Roman" panose="02020603050405020304" pitchFamily="18" charset="0"/>
                <a:ea typeface="宋体" panose="02010600030101010101" pitchFamily="2" charset="-122"/>
              </a:rPr>
              <a:t>放大器的</a:t>
            </a:r>
            <a:r>
              <a:rPr kumimoji="1" lang="zh-CN" altLang="en-US" sz="2400" b="1">
                <a:solidFill>
                  <a:srgbClr val="CC3300"/>
                </a:solidFill>
                <a:latin typeface="Times New Roman" panose="02020603050405020304" pitchFamily="18" charset="0"/>
                <a:ea typeface="宋体" panose="02010600030101010101" pitchFamily="2" charset="-122"/>
              </a:rPr>
              <a:t>输入电阻</a:t>
            </a:r>
            <a:r>
              <a:rPr kumimoji="1" lang="en-US" altLang="zh-CN" sz="2400" b="1" i="1">
                <a:solidFill>
                  <a:srgbClr val="CC3300"/>
                </a:solidFill>
                <a:latin typeface="Times New Roman" panose="02020603050405020304" pitchFamily="18" charset="0"/>
                <a:ea typeface="宋体" panose="02010600030101010101" pitchFamily="2" charset="-122"/>
              </a:rPr>
              <a:t>Ri</a:t>
            </a:r>
            <a:r>
              <a:rPr kumimoji="1" lang="zh-CN" altLang="en-US" sz="2400" b="1">
                <a:solidFill>
                  <a:srgbClr val="000000"/>
                </a:solidFill>
                <a:latin typeface="Times New Roman" panose="02020603050405020304" pitchFamily="18" charset="0"/>
                <a:ea typeface="宋体" panose="02010600030101010101" pitchFamily="2" charset="-122"/>
              </a:rPr>
              <a:t>、</a:t>
            </a:r>
            <a:r>
              <a:rPr kumimoji="1" lang="zh-CN" altLang="en-US" sz="2400" b="1">
                <a:solidFill>
                  <a:srgbClr val="CC3300"/>
                </a:solidFill>
                <a:latin typeface="Times New Roman" panose="02020603050405020304" pitchFamily="18" charset="0"/>
                <a:ea typeface="宋体" panose="02010600030101010101" pitchFamily="2" charset="-122"/>
              </a:rPr>
              <a:t>输入电容</a:t>
            </a:r>
            <a:r>
              <a:rPr kumimoji="1" lang="en-US" altLang="zh-CN" sz="2400" b="1" i="1">
                <a:solidFill>
                  <a:srgbClr val="CC3300"/>
                </a:solidFill>
                <a:latin typeface="Times New Roman" panose="02020603050405020304" pitchFamily="18" charset="0"/>
                <a:ea typeface="宋体" panose="02010600030101010101" pitchFamily="2" charset="-122"/>
              </a:rPr>
              <a:t>Ci </a:t>
            </a:r>
            <a:r>
              <a:rPr kumimoji="1" lang="zh-CN" altLang="en-US" sz="2400" b="1">
                <a:solidFill>
                  <a:srgbClr val="000099"/>
                </a:solidFill>
                <a:latin typeface="Times New Roman" panose="02020603050405020304" pitchFamily="18" charset="0"/>
                <a:ea typeface="宋体" panose="02010600030101010101" pitchFamily="2" charset="-122"/>
              </a:rPr>
              <a:t>以及压电传感器的</a:t>
            </a:r>
            <a:r>
              <a:rPr kumimoji="1" lang="zh-CN" altLang="en-US" sz="2400" b="1">
                <a:solidFill>
                  <a:srgbClr val="CC3300"/>
                </a:solidFill>
                <a:latin typeface="Times New Roman" panose="02020603050405020304" pitchFamily="18" charset="0"/>
                <a:ea typeface="宋体" panose="02010600030101010101" pitchFamily="2" charset="-122"/>
              </a:rPr>
              <a:t>泄漏电阻</a:t>
            </a:r>
            <a:r>
              <a:rPr kumimoji="1" lang="en-US" altLang="zh-CN" sz="2400" b="1" i="1">
                <a:solidFill>
                  <a:srgbClr val="CC3300"/>
                </a:solidFill>
                <a:latin typeface="Times New Roman" panose="02020603050405020304" pitchFamily="18" charset="0"/>
                <a:ea typeface="宋体" panose="02010600030101010101" pitchFamily="2" charset="-122"/>
              </a:rPr>
              <a:t>Ra</a:t>
            </a:r>
            <a:r>
              <a:rPr kumimoji="1" lang="zh-CN" altLang="en-US" sz="2400" b="1">
                <a:solidFill>
                  <a:srgbClr val="000000"/>
                </a:solidFill>
                <a:latin typeface="Times New Roman" panose="02020603050405020304" pitchFamily="18" charset="0"/>
                <a:ea typeface="宋体" panose="02010600030101010101" pitchFamily="2" charset="-122"/>
              </a:rPr>
              <a:t>，</a:t>
            </a:r>
            <a:r>
              <a:rPr kumimoji="1" lang="zh-CN" altLang="en-US" sz="2400" b="1">
                <a:solidFill>
                  <a:srgbClr val="000099"/>
                </a:solidFill>
                <a:latin typeface="Times New Roman" panose="02020603050405020304" pitchFamily="18" charset="0"/>
                <a:ea typeface="宋体" panose="02010600030101010101" pitchFamily="2" charset="-122"/>
              </a:rPr>
              <a:t>从而得到压电传感器完整等效电路。 </a:t>
            </a:r>
          </a:p>
        </p:txBody>
      </p:sp>
      <p:grpSp>
        <p:nvGrpSpPr>
          <p:cNvPr id="97" name="Group 4">
            <a:extLst>
              <a:ext uri="{FF2B5EF4-FFF2-40B4-BE49-F238E27FC236}">
                <a16:creationId xmlns:a16="http://schemas.microsoft.com/office/drawing/2014/main" id="{67355878-22F8-405E-BB35-7D057AEB0380}"/>
              </a:ext>
            </a:extLst>
          </p:cNvPr>
          <p:cNvGrpSpPr>
            <a:grpSpLocks/>
          </p:cNvGrpSpPr>
          <p:nvPr/>
        </p:nvGrpSpPr>
        <p:grpSpPr bwMode="auto">
          <a:xfrm>
            <a:off x="116757" y="3131229"/>
            <a:ext cx="3957637" cy="1441450"/>
            <a:chOff x="569" y="1706"/>
            <a:chExt cx="2493" cy="908"/>
          </a:xfrm>
        </p:grpSpPr>
        <p:grpSp>
          <p:nvGrpSpPr>
            <p:cNvPr id="98" name="Group 5">
              <a:extLst>
                <a:ext uri="{FF2B5EF4-FFF2-40B4-BE49-F238E27FC236}">
                  <a16:creationId xmlns:a16="http://schemas.microsoft.com/office/drawing/2014/main" id="{CDE34AE4-BAD0-4DA0-8BF7-B601C94B208D}"/>
                </a:ext>
              </a:extLst>
            </p:cNvPr>
            <p:cNvGrpSpPr>
              <a:grpSpLocks/>
            </p:cNvGrpSpPr>
            <p:nvPr/>
          </p:nvGrpSpPr>
          <p:grpSpPr bwMode="auto">
            <a:xfrm>
              <a:off x="894" y="2024"/>
              <a:ext cx="272" cy="272"/>
              <a:chOff x="975" y="1979"/>
              <a:chExt cx="272" cy="272"/>
            </a:xfrm>
          </p:grpSpPr>
          <p:sp>
            <p:nvSpPr>
              <p:cNvPr id="135" name="Oval 6">
                <a:extLst>
                  <a:ext uri="{FF2B5EF4-FFF2-40B4-BE49-F238E27FC236}">
                    <a16:creationId xmlns:a16="http://schemas.microsoft.com/office/drawing/2014/main" id="{EC1E0CA3-D17A-46B0-8338-656C5059B147}"/>
                  </a:ext>
                </a:extLst>
              </p:cNvPr>
              <p:cNvSpPr>
                <a:spLocks noChangeArrowheads="1"/>
              </p:cNvSpPr>
              <p:nvPr/>
            </p:nvSpPr>
            <p:spPr bwMode="auto">
              <a:xfrm>
                <a:off x="975" y="1979"/>
                <a:ext cx="272" cy="272"/>
              </a:xfrm>
              <a:prstGeom prst="ellipse">
                <a:avLst/>
              </a:prstGeom>
              <a:solidFill>
                <a:srgbClr val="FFFF99"/>
              </a:solidFill>
              <a:ln w="25400" algn="ctr">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36" name="Line 7">
                <a:extLst>
                  <a:ext uri="{FF2B5EF4-FFF2-40B4-BE49-F238E27FC236}">
                    <a16:creationId xmlns:a16="http://schemas.microsoft.com/office/drawing/2014/main" id="{2F0AAF9A-CEE5-4A84-80B5-D39A979FA10C}"/>
                  </a:ext>
                </a:extLst>
              </p:cNvPr>
              <p:cNvSpPr>
                <a:spLocks noChangeShapeType="1"/>
              </p:cNvSpPr>
              <p:nvPr/>
            </p:nvSpPr>
            <p:spPr bwMode="auto">
              <a:xfrm flipV="1">
                <a:off x="1114" y="2024"/>
                <a:ext cx="0" cy="181"/>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99" name="Line 8">
              <a:extLst>
                <a:ext uri="{FF2B5EF4-FFF2-40B4-BE49-F238E27FC236}">
                  <a16:creationId xmlns:a16="http://schemas.microsoft.com/office/drawing/2014/main" id="{2A22889C-0CD6-4AAE-A09C-815B17B5EBA7}"/>
                </a:ext>
              </a:extLst>
            </p:cNvPr>
            <p:cNvSpPr>
              <a:spLocks noChangeShapeType="1"/>
            </p:cNvSpPr>
            <p:nvPr/>
          </p:nvSpPr>
          <p:spPr bwMode="auto">
            <a:xfrm flipV="1">
              <a:off x="1030" y="1706"/>
              <a:ext cx="0" cy="31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00" name="Line 9">
              <a:extLst>
                <a:ext uri="{FF2B5EF4-FFF2-40B4-BE49-F238E27FC236}">
                  <a16:creationId xmlns:a16="http://schemas.microsoft.com/office/drawing/2014/main" id="{0CBE415D-28BC-4006-8F0D-14B768581326}"/>
                </a:ext>
              </a:extLst>
            </p:cNvPr>
            <p:cNvSpPr>
              <a:spLocks noChangeShapeType="1"/>
            </p:cNvSpPr>
            <p:nvPr/>
          </p:nvSpPr>
          <p:spPr bwMode="auto">
            <a:xfrm>
              <a:off x="1030" y="1706"/>
              <a:ext cx="2031" cy="0"/>
            </a:xfrm>
            <a:prstGeom prst="line">
              <a:avLst/>
            </a:prstGeom>
            <a:noFill/>
            <a:ln w="25400">
              <a:solidFill>
                <a:srgbClr val="000000"/>
              </a:solidFill>
              <a:round/>
              <a:headEnd/>
              <a:tailEnd type="diamond"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01" name="Line 10">
              <a:extLst>
                <a:ext uri="{FF2B5EF4-FFF2-40B4-BE49-F238E27FC236}">
                  <a16:creationId xmlns:a16="http://schemas.microsoft.com/office/drawing/2014/main" id="{1D594CD1-13B2-477B-BE6D-91534EF76798}"/>
                </a:ext>
              </a:extLst>
            </p:cNvPr>
            <p:cNvSpPr>
              <a:spLocks noChangeShapeType="1"/>
            </p:cNvSpPr>
            <p:nvPr/>
          </p:nvSpPr>
          <p:spPr bwMode="auto">
            <a:xfrm flipV="1">
              <a:off x="1030" y="2296"/>
              <a:ext cx="0" cy="31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02" name="Line 11">
              <a:extLst>
                <a:ext uri="{FF2B5EF4-FFF2-40B4-BE49-F238E27FC236}">
                  <a16:creationId xmlns:a16="http://schemas.microsoft.com/office/drawing/2014/main" id="{90CC70D4-035B-4E57-A89C-50B1ADC1CE8D}"/>
                </a:ext>
              </a:extLst>
            </p:cNvPr>
            <p:cNvSpPr>
              <a:spLocks noChangeShapeType="1"/>
            </p:cNvSpPr>
            <p:nvPr/>
          </p:nvSpPr>
          <p:spPr bwMode="auto">
            <a:xfrm>
              <a:off x="1030" y="2613"/>
              <a:ext cx="2031" cy="1"/>
            </a:xfrm>
            <a:prstGeom prst="line">
              <a:avLst/>
            </a:prstGeom>
            <a:noFill/>
            <a:ln w="25400">
              <a:solidFill>
                <a:srgbClr val="000000"/>
              </a:solidFill>
              <a:round/>
              <a:headEnd/>
              <a:tailEnd type="diamond"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nvGrpSpPr>
            <p:cNvPr id="103" name="Group 12">
              <a:extLst>
                <a:ext uri="{FF2B5EF4-FFF2-40B4-BE49-F238E27FC236}">
                  <a16:creationId xmlns:a16="http://schemas.microsoft.com/office/drawing/2014/main" id="{8CF916CB-1959-4DDE-9171-8C17BADAA9A5}"/>
                </a:ext>
              </a:extLst>
            </p:cNvPr>
            <p:cNvGrpSpPr>
              <a:grpSpLocks/>
            </p:cNvGrpSpPr>
            <p:nvPr/>
          </p:nvGrpSpPr>
          <p:grpSpPr bwMode="auto">
            <a:xfrm>
              <a:off x="1292" y="1706"/>
              <a:ext cx="226" cy="907"/>
              <a:chOff x="1372" y="1706"/>
              <a:chExt cx="226" cy="907"/>
            </a:xfrm>
          </p:grpSpPr>
          <p:grpSp>
            <p:nvGrpSpPr>
              <p:cNvPr id="130" name="Group 13">
                <a:extLst>
                  <a:ext uri="{FF2B5EF4-FFF2-40B4-BE49-F238E27FC236}">
                    <a16:creationId xmlns:a16="http://schemas.microsoft.com/office/drawing/2014/main" id="{D6D05ADB-124A-4CFC-B3C9-3734AF5C0367}"/>
                  </a:ext>
                </a:extLst>
              </p:cNvPr>
              <p:cNvGrpSpPr>
                <a:grpSpLocks/>
              </p:cNvGrpSpPr>
              <p:nvPr/>
            </p:nvGrpSpPr>
            <p:grpSpPr bwMode="auto">
              <a:xfrm>
                <a:off x="1372" y="2114"/>
                <a:ext cx="226" cy="90"/>
                <a:chOff x="1701" y="2115"/>
                <a:chExt cx="226" cy="90"/>
              </a:xfrm>
            </p:grpSpPr>
            <p:sp>
              <p:nvSpPr>
                <p:cNvPr id="133" name="Line 14">
                  <a:extLst>
                    <a:ext uri="{FF2B5EF4-FFF2-40B4-BE49-F238E27FC236}">
                      <a16:creationId xmlns:a16="http://schemas.microsoft.com/office/drawing/2014/main" id="{2A8E5B31-FF37-47E2-BEFA-E91256F79CC7}"/>
                    </a:ext>
                  </a:extLst>
                </p:cNvPr>
                <p:cNvSpPr>
                  <a:spLocks noChangeShapeType="1"/>
                </p:cNvSpPr>
                <p:nvPr/>
              </p:nvSpPr>
              <p:spPr bwMode="auto">
                <a:xfrm>
                  <a:off x="1701" y="211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34" name="Line 15">
                  <a:extLst>
                    <a:ext uri="{FF2B5EF4-FFF2-40B4-BE49-F238E27FC236}">
                      <a16:creationId xmlns:a16="http://schemas.microsoft.com/office/drawing/2014/main" id="{C0AD676B-EA04-4050-9423-308B370DE762}"/>
                    </a:ext>
                  </a:extLst>
                </p:cNvPr>
                <p:cNvSpPr>
                  <a:spLocks noChangeShapeType="1"/>
                </p:cNvSpPr>
                <p:nvPr/>
              </p:nvSpPr>
              <p:spPr bwMode="auto">
                <a:xfrm>
                  <a:off x="1701" y="220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31" name="Line 16">
                <a:extLst>
                  <a:ext uri="{FF2B5EF4-FFF2-40B4-BE49-F238E27FC236}">
                    <a16:creationId xmlns:a16="http://schemas.microsoft.com/office/drawing/2014/main" id="{536C28E1-918C-46BE-84E7-12EE8EC1DEA8}"/>
                  </a:ext>
                </a:extLst>
              </p:cNvPr>
              <p:cNvSpPr>
                <a:spLocks noChangeShapeType="1"/>
              </p:cNvSpPr>
              <p:nvPr/>
            </p:nvSpPr>
            <p:spPr bwMode="auto">
              <a:xfrm>
                <a:off x="1484" y="1706"/>
                <a:ext cx="0" cy="40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32" name="Line 17">
                <a:extLst>
                  <a:ext uri="{FF2B5EF4-FFF2-40B4-BE49-F238E27FC236}">
                    <a16:creationId xmlns:a16="http://schemas.microsoft.com/office/drawing/2014/main" id="{250188D1-42DE-4F29-BAAC-0AD5FB9E96EE}"/>
                  </a:ext>
                </a:extLst>
              </p:cNvPr>
              <p:cNvSpPr>
                <a:spLocks noChangeShapeType="1"/>
              </p:cNvSpPr>
              <p:nvPr/>
            </p:nvSpPr>
            <p:spPr bwMode="auto">
              <a:xfrm>
                <a:off x="1481" y="2205"/>
                <a:ext cx="0" cy="408"/>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grpSp>
          <p:nvGrpSpPr>
            <p:cNvPr id="104" name="Group 18">
              <a:extLst>
                <a:ext uri="{FF2B5EF4-FFF2-40B4-BE49-F238E27FC236}">
                  <a16:creationId xmlns:a16="http://schemas.microsoft.com/office/drawing/2014/main" id="{B51BC3F8-7610-4E38-9F75-CE04EE564B97}"/>
                </a:ext>
              </a:extLst>
            </p:cNvPr>
            <p:cNvGrpSpPr>
              <a:grpSpLocks/>
            </p:cNvGrpSpPr>
            <p:nvPr/>
          </p:nvGrpSpPr>
          <p:grpSpPr bwMode="auto">
            <a:xfrm>
              <a:off x="1701" y="1706"/>
              <a:ext cx="91" cy="907"/>
              <a:chOff x="1937" y="1706"/>
              <a:chExt cx="91" cy="907"/>
            </a:xfrm>
          </p:grpSpPr>
          <p:sp>
            <p:nvSpPr>
              <p:cNvPr id="127" name="Rectangle 19">
                <a:extLst>
                  <a:ext uri="{FF2B5EF4-FFF2-40B4-BE49-F238E27FC236}">
                    <a16:creationId xmlns:a16="http://schemas.microsoft.com/office/drawing/2014/main" id="{14BFDD33-C79B-4441-970A-8AC677EB86E8}"/>
                  </a:ext>
                </a:extLst>
              </p:cNvPr>
              <p:cNvSpPr>
                <a:spLocks noChangeArrowheads="1"/>
              </p:cNvSpPr>
              <p:nvPr/>
            </p:nvSpPr>
            <p:spPr bwMode="auto">
              <a:xfrm>
                <a:off x="1937" y="2024"/>
                <a:ext cx="91" cy="317"/>
              </a:xfrm>
              <a:prstGeom prst="rect">
                <a:avLst/>
              </a:prstGeom>
              <a:solidFill>
                <a:srgbClr val="00FF00"/>
              </a:solidFill>
              <a:ln w="254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28" name="Line 20">
                <a:extLst>
                  <a:ext uri="{FF2B5EF4-FFF2-40B4-BE49-F238E27FC236}">
                    <a16:creationId xmlns:a16="http://schemas.microsoft.com/office/drawing/2014/main" id="{11DBB8E5-41AE-4175-886D-D9C8BCA78957}"/>
                  </a:ext>
                </a:extLst>
              </p:cNvPr>
              <p:cNvSpPr>
                <a:spLocks noChangeShapeType="1"/>
              </p:cNvSpPr>
              <p:nvPr/>
            </p:nvSpPr>
            <p:spPr bwMode="auto">
              <a:xfrm>
                <a:off x="1983" y="1706"/>
                <a:ext cx="0" cy="31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29" name="Line 21">
                <a:extLst>
                  <a:ext uri="{FF2B5EF4-FFF2-40B4-BE49-F238E27FC236}">
                    <a16:creationId xmlns:a16="http://schemas.microsoft.com/office/drawing/2014/main" id="{50BF7FD9-8D57-4586-BE9D-7353CFF8DCF7}"/>
                  </a:ext>
                </a:extLst>
              </p:cNvPr>
              <p:cNvSpPr>
                <a:spLocks noChangeShapeType="1"/>
              </p:cNvSpPr>
              <p:nvPr/>
            </p:nvSpPr>
            <p:spPr bwMode="auto">
              <a:xfrm>
                <a:off x="1983" y="2341"/>
                <a:ext cx="0" cy="272"/>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05" name="Text Box 22">
              <a:extLst>
                <a:ext uri="{FF2B5EF4-FFF2-40B4-BE49-F238E27FC236}">
                  <a16:creationId xmlns:a16="http://schemas.microsoft.com/office/drawing/2014/main" id="{A9939510-C121-4AE6-802C-A6C655F779C2}"/>
                </a:ext>
              </a:extLst>
            </p:cNvPr>
            <p:cNvSpPr txBox="1">
              <a:spLocks noChangeArrowheads="1"/>
            </p:cNvSpPr>
            <p:nvPr/>
          </p:nvSpPr>
          <p:spPr bwMode="auto">
            <a:xfrm>
              <a:off x="569" y="2025"/>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Q</a:t>
              </a:r>
            </a:p>
          </p:txBody>
        </p:sp>
        <p:sp>
          <p:nvSpPr>
            <p:cNvPr id="106" name="Text Box 23">
              <a:extLst>
                <a:ext uri="{FF2B5EF4-FFF2-40B4-BE49-F238E27FC236}">
                  <a16:creationId xmlns:a16="http://schemas.microsoft.com/office/drawing/2014/main" id="{9F5C461D-CC2C-4DFA-B7EE-8EF122258B99}"/>
                </a:ext>
              </a:extLst>
            </p:cNvPr>
            <p:cNvSpPr txBox="1">
              <a:spLocks noChangeArrowheads="1"/>
            </p:cNvSpPr>
            <p:nvPr/>
          </p:nvSpPr>
          <p:spPr bwMode="auto">
            <a:xfrm>
              <a:off x="1345" y="1865"/>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a:t>
              </a:r>
            </a:p>
          </p:txBody>
        </p:sp>
        <p:sp>
          <p:nvSpPr>
            <p:cNvPr id="107" name="Text Box 24">
              <a:extLst>
                <a:ext uri="{FF2B5EF4-FFF2-40B4-BE49-F238E27FC236}">
                  <a16:creationId xmlns:a16="http://schemas.microsoft.com/office/drawing/2014/main" id="{E09B864F-BABA-43B6-98CD-B7C992F31CE7}"/>
                </a:ext>
              </a:extLst>
            </p:cNvPr>
            <p:cNvSpPr txBox="1">
              <a:spLocks noChangeArrowheads="1"/>
            </p:cNvSpPr>
            <p:nvPr/>
          </p:nvSpPr>
          <p:spPr bwMode="auto">
            <a:xfrm>
              <a:off x="1701" y="1776"/>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a:t>
              </a:r>
            </a:p>
          </p:txBody>
        </p:sp>
        <p:grpSp>
          <p:nvGrpSpPr>
            <p:cNvPr id="108" name="Group 25">
              <a:extLst>
                <a:ext uri="{FF2B5EF4-FFF2-40B4-BE49-F238E27FC236}">
                  <a16:creationId xmlns:a16="http://schemas.microsoft.com/office/drawing/2014/main" id="{0643C0E7-1357-42E7-86AB-C18CF4A39F76}"/>
                </a:ext>
              </a:extLst>
            </p:cNvPr>
            <p:cNvGrpSpPr>
              <a:grpSpLocks/>
            </p:cNvGrpSpPr>
            <p:nvPr/>
          </p:nvGrpSpPr>
          <p:grpSpPr bwMode="auto">
            <a:xfrm>
              <a:off x="1973" y="1706"/>
              <a:ext cx="226" cy="907"/>
              <a:chOff x="3040" y="1706"/>
              <a:chExt cx="226" cy="907"/>
            </a:xfrm>
          </p:grpSpPr>
          <p:grpSp>
            <p:nvGrpSpPr>
              <p:cNvPr id="122" name="Group 26">
                <a:extLst>
                  <a:ext uri="{FF2B5EF4-FFF2-40B4-BE49-F238E27FC236}">
                    <a16:creationId xmlns:a16="http://schemas.microsoft.com/office/drawing/2014/main" id="{1FD2AECE-2C65-4E6F-8FE5-597AD7B57704}"/>
                  </a:ext>
                </a:extLst>
              </p:cNvPr>
              <p:cNvGrpSpPr>
                <a:grpSpLocks/>
              </p:cNvGrpSpPr>
              <p:nvPr/>
            </p:nvGrpSpPr>
            <p:grpSpPr bwMode="auto">
              <a:xfrm>
                <a:off x="3040" y="2114"/>
                <a:ext cx="226" cy="90"/>
                <a:chOff x="1701" y="2115"/>
                <a:chExt cx="226" cy="90"/>
              </a:xfrm>
            </p:grpSpPr>
            <p:sp>
              <p:nvSpPr>
                <p:cNvPr id="125" name="Line 27">
                  <a:extLst>
                    <a:ext uri="{FF2B5EF4-FFF2-40B4-BE49-F238E27FC236}">
                      <a16:creationId xmlns:a16="http://schemas.microsoft.com/office/drawing/2014/main" id="{60F225E4-687C-42BE-B471-BD8285F6F62C}"/>
                    </a:ext>
                  </a:extLst>
                </p:cNvPr>
                <p:cNvSpPr>
                  <a:spLocks noChangeShapeType="1"/>
                </p:cNvSpPr>
                <p:nvPr/>
              </p:nvSpPr>
              <p:spPr bwMode="auto">
                <a:xfrm>
                  <a:off x="1701" y="211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26" name="Line 28">
                  <a:extLst>
                    <a:ext uri="{FF2B5EF4-FFF2-40B4-BE49-F238E27FC236}">
                      <a16:creationId xmlns:a16="http://schemas.microsoft.com/office/drawing/2014/main" id="{DB9500D4-E135-4E3A-80CC-A873601E3F7A}"/>
                    </a:ext>
                  </a:extLst>
                </p:cNvPr>
                <p:cNvSpPr>
                  <a:spLocks noChangeShapeType="1"/>
                </p:cNvSpPr>
                <p:nvPr/>
              </p:nvSpPr>
              <p:spPr bwMode="auto">
                <a:xfrm>
                  <a:off x="1701" y="220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23" name="Line 29">
                <a:extLst>
                  <a:ext uri="{FF2B5EF4-FFF2-40B4-BE49-F238E27FC236}">
                    <a16:creationId xmlns:a16="http://schemas.microsoft.com/office/drawing/2014/main" id="{EB780D9A-8C62-4D01-BB77-73B225252B4E}"/>
                  </a:ext>
                </a:extLst>
              </p:cNvPr>
              <p:cNvSpPr>
                <a:spLocks noChangeShapeType="1"/>
              </p:cNvSpPr>
              <p:nvPr/>
            </p:nvSpPr>
            <p:spPr bwMode="auto">
              <a:xfrm>
                <a:off x="3152" y="1706"/>
                <a:ext cx="0" cy="40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24" name="Line 30">
                <a:extLst>
                  <a:ext uri="{FF2B5EF4-FFF2-40B4-BE49-F238E27FC236}">
                    <a16:creationId xmlns:a16="http://schemas.microsoft.com/office/drawing/2014/main" id="{9F62DEB0-D51B-4346-967B-1AAFBAC58E73}"/>
                  </a:ext>
                </a:extLst>
              </p:cNvPr>
              <p:cNvSpPr>
                <a:spLocks noChangeShapeType="1"/>
              </p:cNvSpPr>
              <p:nvPr/>
            </p:nvSpPr>
            <p:spPr bwMode="auto">
              <a:xfrm>
                <a:off x="3152" y="2205"/>
                <a:ext cx="0" cy="408"/>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grpSp>
          <p:nvGrpSpPr>
            <p:cNvPr id="109" name="Group 31">
              <a:extLst>
                <a:ext uri="{FF2B5EF4-FFF2-40B4-BE49-F238E27FC236}">
                  <a16:creationId xmlns:a16="http://schemas.microsoft.com/office/drawing/2014/main" id="{56DE3752-2972-4337-BC45-9E584B9ED85F}"/>
                </a:ext>
              </a:extLst>
            </p:cNvPr>
            <p:cNvGrpSpPr>
              <a:grpSpLocks/>
            </p:cNvGrpSpPr>
            <p:nvPr/>
          </p:nvGrpSpPr>
          <p:grpSpPr bwMode="auto">
            <a:xfrm>
              <a:off x="2653" y="1706"/>
              <a:ext cx="226" cy="907"/>
              <a:chOff x="3539" y="1661"/>
              <a:chExt cx="226" cy="907"/>
            </a:xfrm>
          </p:grpSpPr>
          <p:grpSp>
            <p:nvGrpSpPr>
              <p:cNvPr id="117" name="Group 32">
                <a:extLst>
                  <a:ext uri="{FF2B5EF4-FFF2-40B4-BE49-F238E27FC236}">
                    <a16:creationId xmlns:a16="http://schemas.microsoft.com/office/drawing/2014/main" id="{1FA65346-9FE6-461F-B9D6-4EA464F65863}"/>
                  </a:ext>
                </a:extLst>
              </p:cNvPr>
              <p:cNvGrpSpPr>
                <a:grpSpLocks/>
              </p:cNvGrpSpPr>
              <p:nvPr/>
            </p:nvGrpSpPr>
            <p:grpSpPr bwMode="auto">
              <a:xfrm>
                <a:off x="3539" y="2069"/>
                <a:ext cx="226" cy="90"/>
                <a:chOff x="1701" y="2115"/>
                <a:chExt cx="226" cy="90"/>
              </a:xfrm>
            </p:grpSpPr>
            <p:sp>
              <p:nvSpPr>
                <p:cNvPr id="120" name="Line 33">
                  <a:extLst>
                    <a:ext uri="{FF2B5EF4-FFF2-40B4-BE49-F238E27FC236}">
                      <a16:creationId xmlns:a16="http://schemas.microsoft.com/office/drawing/2014/main" id="{24ECAF64-88DB-4D31-8884-07A3834837F2}"/>
                    </a:ext>
                  </a:extLst>
                </p:cNvPr>
                <p:cNvSpPr>
                  <a:spLocks noChangeShapeType="1"/>
                </p:cNvSpPr>
                <p:nvPr/>
              </p:nvSpPr>
              <p:spPr bwMode="auto">
                <a:xfrm>
                  <a:off x="1701" y="211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21" name="Line 34">
                  <a:extLst>
                    <a:ext uri="{FF2B5EF4-FFF2-40B4-BE49-F238E27FC236}">
                      <a16:creationId xmlns:a16="http://schemas.microsoft.com/office/drawing/2014/main" id="{31ACCBEF-A2F2-44E0-AEAF-523A9F2B5C59}"/>
                    </a:ext>
                  </a:extLst>
                </p:cNvPr>
                <p:cNvSpPr>
                  <a:spLocks noChangeShapeType="1"/>
                </p:cNvSpPr>
                <p:nvPr/>
              </p:nvSpPr>
              <p:spPr bwMode="auto">
                <a:xfrm>
                  <a:off x="1701" y="220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18" name="Line 35">
                <a:extLst>
                  <a:ext uri="{FF2B5EF4-FFF2-40B4-BE49-F238E27FC236}">
                    <a16:creationId xmlns:a16="http://schemas.microsoft.com/office/drawing/2014/main" id="{83D18EBB-A55A-4E67-9DCE-8B5008F27DF0}"/>
                  </a:ext>
                </a:extLst>
              </p:cNvPr>
              <p:cNvSpPr>
                <a:spLocks noChangeShapeType="1"/>
              </p:cNvSpPr>
              <p:nvPr/>
            </p:nvSpPr>
            <p:spPr bwMode="auto">
              <a:xfrm>
                <a:off x="3651" y="1661"/>
                <a:ext cx="0" cy="40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19" name="Line 36">
                <a:extLst>
                  <a:ext uri="{FF2B5EF4-FFF2-40B4-BE49-F238E27FC236}">
                    <a16:creationId xmlns:a16="http://schemas.microsoft.com/office/drawing/2014/main" id="{E1BFCA93-5DF5-4AE0-BCA3-4B9E4426649E}"/>
                  </a:ext>
                </a:extLst>
              </p:cNvPr>
              <p:cNvSpPr>
                <a:spLocks noChangeShapeType="1"/>
              </p:cNvSpPr>
              <p:nvPr/>
            </p:nvSpPr>
            <p:spPr bwMode="auto">
              <a:xfrm>
                <a:off x="3651" y="2160"/>
                <a:ext cx="0" cy="408"/>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grpSp>
          <p:nvGrpSpPr>
            <p:cNvPr id="110" name="Group 37">
              <a:extLst>
                <a:ext uri="{FF2B5EF4-FFF2-40B4-BE49-F238E27FC236}">
                  <a16:creationId xmlns:a16="http://schemas.microsoft.com/office/drawing/2014/main" id="{B081F8C6-17A5-4A5A-A7AC-3D2F34836735}"/>
                </a:ext>
              </a:extLst>
            </p:cNvPr>
            <p:cNvGrpSpPr>
              <a:grpSpLocks/>
            </p:cNvGrpSpPr>
            <p:nvPr/>
          </p:nvGrpSpPr>
          <p:grpSpPr bwMode="auto">
            <a:xfrm>
              <a:off x="2381" y="1706"/>
              <a:ext cx="91" cy="907"/>
              <a:chOff x="4377" y="1661"/>
              <a:chExt cx="91" cy="907"/>
            </a:xfrm>
          </p:grpSpPr>
          <p:sp>
            <p:nvSpPr>
              <p:cNvPr id="114" name="Rectangle 38">
                <a:extLst>
                  <a:ext uri="{FF2B5EF4-FFF2-40B4-BE49-F238E27FC236}">
                    <a16:creationId xmlns:a16="http://schemas.microsoft.com/office/drawing/2014/main" id="{9EFD4AA8-010B-4716-900F-BCEE2F48DFCA}"/>
                  </a:ext>
                </a:extLst>
              </p:cNvPr>
              <p:cNvSpPr>
                <a:spLocks noChangeArrowheads="1"/>
              </p:cNvSpPr>
              <p:nvPr/>
            </p:nvSpPr>
            <p:spPr bwMode="auto">
              <a:xfrm>
                <a:off x="4377" y="1979"/>
                <a:ext cx="91" cy="317"/>
              </a:xfrm>
              <a:prstGeom prst="rect">
                <a:avLst/>
              </a:prstGeom>
              <a:solidFill>
                <a:srgbClr val="00FF00"/>
              </a:solidFill>
              <a:ln w="254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15" name="Line 39">
                <a:extLst>
                  <a:ext uri="{FF2B5EF4-FFF2-40B4-BE49-F238E27FC236}">
                    <a16:creationId xmlns:a16="http://schemas.microsoft.com/office/drawing/2014/main" id="{7798565F-966C-4FD1-9280-0DDA41932427}"/>
                  </a:ext>
                </a:extLst>
              </p:cNvPr>
              <p:cNvSpPr>
                <a:spLocks noChangeShapeType="1"/>
              </p:cNvSpPr>
              <p:nvPr/>
            </p:nvSpPr>
            <p:spPr bwMode="auto">
              <a:xfrm>
                <a:off x="4423" y="1661"/>
                <a:ext cx="0" cy="31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16" name="Line 40">
                <a:extLst>
                  <a:ext uri="{FF2B5EF4-FFF2-40B4-BE49-F238E27FC236}">
                    <a16:creationId xmlns:a16="http://schemas.microsoft.com/office/drawing/2014/main" id="{B866C81F-6409-47F9-BE69-02B0F7ABD2CF}"/>
                  </a:ext>
                </a:extLst>
              </p:cNvPr>
              <p:cNvSpPr>
                <a:spLocks noChangeShapeType="1"/>
              </p:cNvSpPr>
              <p:nvPr/>
            </p:nvSpPr>
            <p:spPr bwMode="auto">
              <a:xfrm>
                <a:off x="4423" y="2296"/>
                <a:ext cx="0" cy="272"/>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11" name="Text Box 41">
              <a:extLst>
                <a:ext uri="{FF2B5EF4-FFF2-40B4-BE49-F238E27FC236}">
                  <a16:creationId xmlns:a16="http://schemas.microsoft.com/office/drawing/2014/main" id="{1B488535-12C3-4E18-B3BC-DE850A3EA4DE}"/>
                </a:ext>
              </a:extLst>
            </p:cNvPr>
            <p:cNvSpPr txBox="1">
              <a:spLocks noChangeArrowheads="1"/>
            </p:cNvSpPr>
            <p:nvPr/>
          </p:nvSpPr>
          <p:spPr bwMode="auto">
            <a:xfrm>
              <a:off x="2018" y="1865"/>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Cc</a:t>
              </a:r>
            </a:p>
          </p:txBody>
        </p:sp>
        <p:sp>
          <p:nvSpPr>
            <p:cNvPr id="112" name="Text Box 42">
              <a:extLst>
                <a:ext uri="{FF2B5EF4-FFF2-40B4-BE49-F238E27FC236}">
                  <a16:creationId xmlns:a16="http://schemas.microsoft.com/office/drawing/2014/main" id="{96D7D900-CA6C-4466-8CC3-FF26276A7B75}"/>
                </a:ext>
              </a:extLst>
            </p:cNvPr>
            <p:cNvSpPr txBox="1">
              <a:spLocks noChangeArrowheads="1"/>
            </p:cNvSpPr>
            <p:nvPr/>
          </p:nvSpPr>
          <p:spPr bwMode="auto">
            <a:xfrm>
              <a:off x="2381" y="1774"/>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Ri</a:t>
              </a:r>
            </a:p>
          </p:txBody>
        </p:sp>
        <p:sp>
          <p:nvSpPr>
            <p:cNvPr id="113" name="Text Box 43">
              <a:extLst>
                <a:ext uri="{FF2B5EF4-FFF2-40B4-BE49-F238E27FC236}">
                  <a16:creationId xmlns:a16="http://schemas.microsoft.com/office/drawing/2014/main" id="{190C31C7-A025-4FAA-82DF-EABF9BD2D1FC}"/>
                </a:ext>
              </a:extLst>
            </p:cNvPr>
            <p:cNvSpPr txBox="1">
              <a:spLocks noChangeArrowheads="1"/>
            </p:cNvSpPr>
            <p:nvPr/>
          </p:nvSpPr>
          <p:spPr bwMode="auto">
            <a:xfrm>
              <a:off x="2699" y="1865"/>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Ci</a:t>
              </a:r>
            </a:p>
          </p:txBody>
        </p:sp>
      </p:grpSp>
      <p:grpSp>
        <p:nvGrpSpPr>
          <p:cNvPr id="137" name="Group 44">
            <a:extLst>
              <a:ext uri="{FF2B5EF4-FFF2-40B4-BE49-F238E27FC236}">
                <a16:creationId xmlns:a16="http://schemas.microsoft.com/office/drawing/2014/main" id="{10FAD390-0461-47BC-A76B-041516CC84AF}"/>
              </a:ext>
            </a:extLst>
          </p:cNvPr>
          <p:cNvGrpSpPr>
            <a:grpSpLocks/>
          </p:cNvGrpSpPr>
          <p:nvPr/>
        </p:nvGrpSpPr>
        <p:grpSpPr bwMode="auto">
          <a:xfrm>
            <a:off x="4421262" y="2582633"/>
            <a:ext cx="3671888" cy="2017712"/>
            <a:chOff x="1610" y="2704"/>
            <a:chExt cx="2313" cy="1271"/>
          </a:xfrm>
        </p:grpSpPr>
        <p:sp>
          <p:nvSpPr>
            <p:cNvPr id="138" name="Oval 45">
              <a:extLst>
                <a:ext uri="{FF2B5EF4-FFF2-40B4-BE49-F238E27FC236}">
                  <a16:creationId xmlns:a16="http://schemas.microsoft.com/office/drawing/2014/main" id="{05A40B57-58E6-4394-81B3-DA933D763579}"/>
                </a:ext>
              </a:extLst>
            </p:cNvPr>
            <p:cNvSpPr>
              <a:spLocks noChangeArrowheads="1"/>
            </p:cNvSpPr>
            <p:nvPr/>
          </p:nvSpPr>
          <p:spPr bwMode="auto">
            <a:xfrm>
              <a:off x="1935" y="3385"/>
              <a:ext cx="272" cy="272"/>
            </a:xfrm>
            <a:prstGeom prst="ellipse">
              <a:avLst/>
            </a:prstGeom>
            <a:solidFill>
              <a:srgbClr val="FFFF99"/>
            </a:solidFill>
            <a:ln w="25400" algn="ctr">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000" b="1"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a:t>
              </a:r>
            </a:p>
          </p:txBody>
        </p:sp>
        <p:sp>
          <p:nvSpPr>
            <p:cNvPr id="139" name="Line 46">
              <a:extLst>
                <a:ext uri="{FF2B5EF4-FFF2-40B4-BE49-F238E27FC236}">
                  <a16:creationId xmlns:a16="http://schemas.microsoft.com/office/drawing/2014/main" id="{688E43C0-820D-4D61-8FC3-02E9284EC667}"/>
                </a:ext>
              </a:extLst>
            </p:cNvPr>
            <p:cNvSpPr>
              <a:spLocks noChangeShapeType="1"/>
            </p:cNvSpPr>
            <p:nvPr/>
          </p:nvSpPr>
          <p:spPr bwMode="auto">
            <a:xfrm flipV="1">
              <a:off x="2071" y="3067"/>
              <a:ext cx="0" cy="31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40" name="Line 47">
              <a:extLst>
                <a:ext uri="{FF2B5EF4-FFF2-40B4-BE49-F238E27FC236}">
                  <a16:creationId xmlns:a16="http://schemas.microsoft.com/office/drawing/2014/main" id="{4DA4360E-1416-45C1-9774-73FE841B2237}"/>
                </a:ext>
              </a:extLst>
            </p:cNvPr>
            <p:cNvSpPr>
              <a:spLocks noChangeShapeType="1"/>
            </p:cNvSpPr>
            <p:nvPr/>
          </p:nvSpPr>
          <p:spPr bwMode="auto">
            <a:xfrm>
              <a:off x="2427" y="3067"/>
              <a:ext cx="1496" cy="0"/>
            </a:xfrm>
            <a:prstGeom prst="line">
              <a:avLst/>
            </a:prstGeom>
            <a:noFill/>
            <a:ln w="25400">
              <a:solidFill>
                <a:srgbClr val="000000"/>
              </a:solidFill>
              <a:round/>
              <a:headEnd/>
              <a:tailEnd type="diamond"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41" name="Line 48">
              <a:extLst>
                <a:ext uri="{FF2B5EF4-FFF2-40B4-BE49-F238E27FC236}">
                  <a16:creationId xmlns:a16="http://schemas.microsoft.com/office/drawing/2014/main" id="{DCC86E5E-8012-43DA-BB28-E1B4F4D28586}"/>
                </a:ext>
              </a:extLst>
            </p:cNvPr>
            <p:cNvSpPr>
              <a:spLocks noChangeShapeType="1"/>
            </p:cNvSpPr>
            <p:nvPr/>
          </p:nvSpPr>
          <p:spPr bwMode="auto">
            <a:xfrm flipV="1">
              <a:off x="2071" y="3657"/>
              <a:ext cx="0" cy="31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42" name="Line 49">
              <a:extLst>
                <a:ext uri="{FF2B5EF4-FFF2-40B4-BE49-F238E27FC236}">
                  <a16:creationId xmlns:a16="http://schemas.microsoft.com/office/drawing/2014/main" id="{31909DFC-C27E-4AF6-A085-F2DF4E07D530}"/>
                </a:ext>
              </a:extLst>
            </p:cNvPr>
            <p:cNvSpPr>
              <a:spLocks noChangeShapeType="1"/>
            </p:cNvSpPr>
            <p:nvPr/>
          </p:nvSpPr>
          <p:spPr bwMode="auto">
            <a:xfrm>
              <a:off x="2071" y="3974"/>
              <a:ext cx="1852" cy="0"/>
            </a:xfrm>
            <a:prstGeom prst="line">
              <a:avLst/>
            </a:prstGeom>
            <a:noFill/>
            <a:ln w="25400">
              <a:solidFill>
                <a:srgbClr val="000000"/>
              </a:solidFill>
              <a:round/>
              <a:headEnd/>
              <a:tailEnd type="diamond"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43" name="Text Box 50">
              <a:extLst>
                <a:ext uri="{FF2B5EF4-FFF2-40B4-BE49-F238E27FC236}">
                  <a16:creationId xmlns:a16="http://schemas.microsoft.com/office/drawing/2014/main" id="{51AF6CB0-483D-4651-8E2C-A521D276020A}"/>
                </a:ext>
              </a:extLst>
            </p:cNvPr>
            <p:cNvSpPr txBox="1">
              <a:spLocks noChangeArrowheads="1"/>
            </p:cNvSpPr>
            <p:nvPr/>
          </p:nvSpPr>
          <p:spPr bwMode="auto">
            <a:xfrm>
              <a:off x="1610" y="3386"/>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U</a:t>
              </a:r>
            </a:p>
          </p:txBody>
        </p:sp>
        <p:sp>
          <p:nvSpPr>
            <p:cNvPr id="144" name="Text Box 51">
              <a:extLst>
                <a:ext uri="{FF2B5EF4-FFF2-40B4-BE49-F238E27FC236}">
                  <a16:creationId xmlns:a16="http://schemas.microsoft.com/office/drawing/2014/main" id="{CCA53D76-C5BF-40EE-B142-D3EAAA372805}"/>
                </a:ext>
              </a:extLst>
            </p:cNvPr>
            <p:cNvSpPr txBox="1">
              <a:spLocks noChangeArrowheads="1"/>
            </p:cNvSpPr>
            <p:nvPr/>
          </p:nvSpPr>
          <p:spPr bwMode="auto">
            <a:xfrm>
              <a:off x="2200" y="2704"/>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a:t>
              </a:r>
            </a:p>
          </p:txBody>
        </p:sp>
        <p:grpSp>
          <p:nvGrpSpPr>
            <p:cNvPr id="145" name="Group 52">
              <a:extLst>
                <a:ext uri="{FF2B5EF4-FFF2-40B4-BE49-F238E27FC236}">
                  <a16:creationId xmlns:a16="http://schemas.microsoft.com/office/drawing/2014/main" id="{1DFE274C-5F0E-4760-8DDF-59C406CF2EAE}"/>
                </a:ext>
              </a:extLst>
            </p:cNvPr>
            <p:cNvGrpSpPr>
              <a:grpSpLocks/>
            </p:cNvGrpSpPr>
            <p:nvPr/>
          </p:nvGrpSpPr>
          <p:grpSpPr bwMode="auto">
            <a:xfrm>
              <a:off x="2337" y="2962"/>
              <a:ext cx="90" cy="227"/>
              <a:chOff x="2835" y="935"/>
              <a:chExt cx="90" cy="227"/>
            </a:xfrm>
          </p:grpSpPr>
          <p:sp>
            <p:nvSpPr>
              <p:cNvPr id="171" name="Line 53">
                <a:extLst>
                  <a:ext uri="{FF2B5EF4-FFF2-40B4-BE49-F238E27FC236}">
                    <a16:creationId xmlns:a16="http://schemas.microsoft.com/office/drawing/2014/main" id="{73517E63-4191-4C8C-9DD7-EDCF57A3E82D}"/>
                  </a:ext>
                </a:extLst>
              </p:cNvPr>
              <p:cNvSpPr>
                <a:spLocks noChangeShapeType="1"/>
              </p:cNvSpPr>
              <p:nvPr/>
            </p:nvSpPr>
            <p:spPr bwMode="auto">
              <a:xfrm>
                <a:off x="2835" y="935"/>
                <a:ext cx="0" cy="227"/>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72" name="Line 54">
                <a:extLst>
                  <a:ext uri="{FF2B5EF4-FFF2-40B4-BE49-F238E27FC236}">
                    <a16:creationId xmlns:a16="http://schemas.microsoft.com/office/drawing/2014/main" id="{6597B7A6-28F7-4498-AAA7-52A068A80C6F}"/>
                  </a:ext>
                </a:extLst>
              </p:cNvPr>
              <p:cNvSpPr>
                <a:spLocks noChangeShapeType="1"/>
              </p:cNvSpPr>
              <p:nvPr/>
            </p:nvSpPr>
            <p:spPr bwMode="auto">
              <a:xfrm>
                <a:off x="2925" y="935"/>
                <a:ext cx="0" cy="227"/>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46" name="Line 55">
              <a:extLst>
                <a:ext uri="{FF2B5EF4-FFF2-40B4-BE49-F238E27FC236}">
                  <a16:creationId xmlns:a16="http://schemas.microsoft.com/office/drawing/2014/main" id="{777975B4-2E9A-447E-A449-2A6FF781130B}"/>
                </a:ext>
              </a:extLst>
            </p:cNvPr>
            <p:cNvSpPr>
              <a:spLocks noChangeShapeType="1"/>
            </p:cNvSpPr>
            <p:nvPr/>
          </p:nvSpPr>
          <p:spPr bwMode="auto">
            <a:xfrm>
              <a:off x="2064" y="3067"/>
              <a:ext cx="272"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nvGrpSpPr>
            <p:cNvPr id="147" name="Group 56">
              <a:extLst>
                <a:ext uri="{FF2B5EF4-FFF2-40B4-BE49-F238E27FC236}">
                  <a16:creationId xmlns:a16="http://schemas.microsoft.com/office/drawing/2014/main" id="{FA553CE9-1543-4C66-AACC-664E4115CC7D}"/>
                </a:ext>
              </a:extLst>
            </p:cNvPr>
            <p:cNvGrpSpPr>
              <a:grpSpLocks/>
            </p:cNvGrpSpPr>
            <p:nvPr/>
          </p:nvGrpSpPr>
          <p:grpSpPr bwMode="auto">
            <a:xfrm>
              <a:off x="3515" y="3067"/>
              <a:ext cx="226" cy="907"/>
              <a:chOff x="3539" y="1661"/>
              <a:chExt cx="226" cy="907"/>
            </a:xfrm>
          </p:grpSpPr>
          <p:grpSp>
            <p:nvGrpSpPr>
              <p:cNvPr id="166" name="Group 57">
                <a:extLst>
                  <a:ext uri="{FF2B5EF4-FFF2-40B4-BE49-F238E27FC236}">
                    <a16:creationId xmlns:a16="http://schemas.microsoft.com/office/drawing/2014/main" id="{EE092D1B-9884-44F2-AD6B-18EFB89898FA}"/>
                  </a:ext>
                </a:extLst>
              </p:cNvPr>
              <p:cNvGrpSpPr>
                <a:grpSpLocks/>
              </p:cNvGrpSpPr>
              <p:nvPr/>
            </p:nvGrpSpPr>
            <p:grpSpPr bwMode="auto">
              <a:xfrm>
                <a:off x="3539" y="2069"/>
                <a:ext cx="226" cy="90"/>
                <a:chOff x="1701" y="2115"/>
                <a:chExt cx="226" cy="90"/>
              </a:xfrm>
            </p:grpSpPr>
            <p:sp>
              <p:nvSpPr>
                <p:cNvPr id="169" name="Line 58">
                  <a:extLst>
                    <a:ext uri="{FF2B5EF4-FFF2-40B4-BE49-F238E27FC236}">
                      <a16:creationId xmlns:a16="http://schemas.microsoft.com/office/drawing/2014/main" id="{821C09DE-BC97-4D0E-BBDB-7462FBD25C05}"/>
                    </a:ext>
                  </a:extLst>
                </p:cNvPr>
                <p:cNvSpPr>
                  <a:spLocks noChangeShapeType="1"/>
                </p:cNvSpPr>
                <p:nvPr/>
              </p:nvSpPr>
              <p:spPr bwMode="auto">
                <a:xfrm>
                  <a:off x="1701" y="211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70" name="Line 59">
                  <a:extLst>
                    <a:ext uri="{FF2B5EF4-FFF2-40B4-BE49-F238E27FC236}">
                      <a16:creationId xmlns:a16="http://schemas.microsoft.com/office/drawing/2014/main" id="{0808465D-5E8C-4F35-9C83-ED6BA1CE1608}"/>
                    </a:ext>
                  </a:extLst>
                </p:cNvPr>
                <p:cNvSpPr>
                  <a:spLocks noChangeShapeType="1"/>
                </p:cNvSpPr>
                <p:nvPr/>
              </p:nvSpPr>
              <p:spPr bwMode="auto">
                <a:xfrm>
                  <a:off x="1701" y="220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67" name="Line 60">
                <a:extLst>
                  <a:ext uri="{FF2B5EF4-FFF2-40B4-BE49-F238E27FC236}">
                    <a16:creationId xmlns:a16="http://schemas.microsoft.com/office/drawing/2014/main" id="{4C5A7E3B-8B6F-4EBF-87D6-52325D9E8AC2}"/>
                  </a:ext>
                </a:extLst>
              </p:cNvPr>
              <p:cNvSpPr>
                <a:spLocks noChangeShapeType="1"/>
              </p:cNvSpPr>
              <p:nvPr/>
            </p:nvSpPr>
            <p:spPr bwMode="auto">
              <a:xfrm>
                <a:off x="3651" y="1661"/>
                <a:ext cx="0" cy="40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68" name="Line 61">
                <a:extLst>
                  <a:ext uri="{FF2B5EF4-FFF2-40B4-BE49-F238E27FC236}">
                    <a16:creationId xmlns:a16="http://schemas.microsoft.com/office/drawing/2014/main" id="{5D68AE05-4EAF-43B6-8CB8-0DCB714FC0F1}"/>
                  </a:ext>
                </a:extLst>
              </p:cNvPr>
              <p:cNvSpPr>
                <a:spLocks noChangeShapeType="1"/>
              </p:cNvSpPr>
              <p:nvPr/>
            </p:nvSpPr>
            <p:spPr bwMode="auto">
              <a:xfrm>
                <a:off x="3651" y="2160"/>
                <a:ext cx="0" cy="408"/>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grpSp>
          <p:nvGrpSpPr>
            <p:cNvPr id="148" name="Group 62">
              <a:extLst>
                <a:ext uri="{FF2B5EF4-FFF2-40B4-BE49-F238E27FC236}">
                  <a16:creationId xmlns:a16="http://schemas.microsoft.com/office/drawing/2014/main" id="{25D20149-485B-43BE-BC47-04AF44205621}"/>
                </a:ext>
              </a:extLst>
            </p:cNvPr>
            <p:cNvGrpSpPr>
              <a:grpSpLocks/>
            </p:cNvGrpSpPr>
            <p:nvPr/>
          </p:nvGrpSpPr>
          <p:grpSpPr bwMode="auto">
            <a:xfrm>
              <a:off x="3243" y="3067"/>
              <a:ext cx="91" cy="907"/>
              <a:chOff x="4377" y="1661"/>
              <a:chExt cx="91" cy="907"/>
            </a:xfrm>
          </p:grpSpPr>
          <p:sp>
            <p:nvSpPr>
              <p:cNvPr id="163" name="Rectangle 63">
                <a:extLst>
                  <a:ext uri="{FF2B5EF4-FFF2-40B4-BE49-F238E27FC236}">
                    <a16:creationId xmlns:a16="http://schemas.microsoft.com/office/drawing/2014/main" id="{91B6B027-3481-4AC4-BC06-1F8CE524923E}"/>
                  </a:ext>
                </a:extLst>
              </p:cNvPr>
              <p:cNvSpPr>
                <a:spLocks noChangeArrowheads="1"/>
              </p:cNvSpPr>
              <p:nvPr/>
            </p:nvSpPr>
            <p:spPr bwMode="auto">
              <a:xfrm>
                <a:off x="4377" y="1979"/>
                <a:ext cx="91" cy="317"/>
              </a:xfrm>
              <a:prstGeom prst="rect">
                <a:avLst/>
              </a:prstGeom>
              <a:solidFill>
                <a:srgbClr val="00FF00"/>
              </a:solidFill>
              <a:ln w="254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64" name="Line 64">
                <a:extLst>
                  <a:ext uri="{FF2B5EF4-FFF2-40B4-BE49-F238E27FC236}">
                    <a16:creationId xmlns:a16="http://schemas.microsoft.com/office/drawing/2014/main" id="{6C37B282-6D04-4CF9-9D92-132A2FD7FF39}"/>
                  </a:ext>
                </a:extLst>
              </p:cNvPr>
              <p:cNvSpPr>
                <a:spLocks noChangeShapeType="1"/>
              </p:cNvSpPr>
              <p:nvPr/>
            </p:nvSpPr>
            <p:spPr bwMode="auto">
              <a:xfrm>
                <a:off x="4423" y="1661"/>
                <a:ext cx="0" cy="31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65" name="Line 65">
                <a:extLst>
                  <a:ext uri="{FF2B5EF4-FFF2-40B4-BE49-F238E27FC236}">
                    <a16:creationId xmlns:a16="http://schemas.microsoft.com/office/drawing/2014/main" id="{84DFD9AA-EB32-48DA-A55E-2EE8B64AC166}"/>
                  </a:ext>
                </a:extLst>
              </p:cNvPr>
              <p:cNvSpPr>
                <a:spLocks noChangeShapeType="1"/>
              </p:cNvSpPr>
              <p:nvPr/>
            </p:nvSpPr>
            <p:spPr bwMode="auto">
              <a:xfrm>
                <a:off x="4423" y="2296"/>
                <a:ext cx="0" cy="272"/>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grpSp>
          <p:nvGrpSpPr>
            <p:cNvPr id="149" name="Group 66">
              <a:extLst>
                <a:ext uri="{FF2B5EF4-FFF2-40B4-BE49-F238E27FC236}">
                  <a16:creationId xmlns:a16="http://schemas.microsoft.com/office/drawing/2014/main" id="{BE4258D8-1AFE-4724-B99A-C2A0CAAEFE94}"/>
                </a:ext>
              </a:extLst>
            </p:cNvPr>
            <p:cNvGrpSpPr>
              <a:grpSpLocks/>
            </p:cNvGrpSpPr>
            <p:nvPr/>
          </p:nvGrpSpPr>
          <p:grpSpPr bwMode="auto">
            <a:xfrm>
              <a:off x="2562" y="3067"/>
              <a:ext cx="91" cy="907"/>
              <a:chOff x="4377" y="1661"/>
              <a:chExt cx="91" cy="907"/>
            </a:xfrm>
          </p:grpSpPr>
          <p:sp>
            <p:nvSpPr>
              <p:cNvPr id="160" name="Rectangle 67">
                <a:extLst>
                  <a:ext uri="{FF2B5EF4-FFF2-40B4-BE49-F238E27FC236}">
                    <a16:creationId xmlns:a16="http://schemas.microsoft.com/office/drawing/2014/main" id="{B8D7FAB5-B3F4-4DFC-80B0-09708D16888D}"/>
                  </a:ext>
                </a:extLst>
              </p:cNvPr>
              <p:cNvSpPr>
                <a:spLocks noChangeArrowheads="1"/>
              </p:cNvSpPr>
              <p:nvPr/>
            </p:nvSpPr>
            <p:spPr bwMode="auto">
              <a:xfrm>
                <a:off x="4377" y="1979"/>
                <a:ext cx="91" cy="317"/>
              </a:xfrm>
              <a:prstGeom prst="rect">
                <a:avLst/>
              </a:prstGeom>
              <a:solidFill>
                <a:srgbClr val="00FF00"/>
              </a:solidFill>
              <a:ln w="254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61" name="Line 68">
                <a:extLst>
                  <a:ext uri="{FF2B5EF4-FFF2-40B4-BE49-F238E27FC236}">
                    <a16:creationId xmlns:a16="http://schemas.microsoft.com/office/drawing/2014/main" id="{E97BC629-E3E5-428E-9CA6-7D1B66A3A819}"/>
                  </a:ext>
                </a:extLst>
              </p:cNvPr>
              <p:cNvSpPr>
                <a:spLocks noChangeShapeType="1"/>
              </p:cNvSpPr>
              <p:nvPr/>
            </p:nvSpPr>
            <p:spPr bwMode="auto">
              <a:xfrm>
                <a:off x="4423" y="1661"/>
                <a:ext cx="0" cy="31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62" name="Line 69">
                <a:extLst>
                  <a:ext uri="{FF2B5EF4-FFF2-40B4-BE49-F238E27FC236}">
                    <a16:creationId xmlns:a16="http://schemas.microsoft.com/office/drawing/2014/main" id="{8297B7B0-3E4E-4D44-BF59-D2C7E771C8F2}"/>
                  </a:ext>
                </a:extLst>
              </p:cNvPr>
              <p:cNvSpPr>
                <a:spLocks noChangeShapeType="1"/>
              </p:cNvSpPr>
              <p:nvPr/>
            </p:nvSpPr>
            <p:spPr bwMode="auto">
              <a:xfrm>
                <a:off x="4423" y="2296"/>
                <a:ext cx="0" cy="272"/>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50" name="Text Box 70">
              <a:extLst>
                <a:ext uri="{FF2B5EF4-FFF2-40B4-BE49-F238E27FC236}">
                  <a16:creationId xmlns:a16="http://schemas.microsoft.com/office/drawing/2014/main" id="{2FCE91C2-2961-4D6D-9030-BE8B61F044FE}"/>
                </a:ext>
              </a:extLst>
            </p:cNvPr>
            <p:cNvSpPr txBox="1">
              <a:spLocks noChangeArrowheads="1"/>
            </p:cNvSpPr>
            <p:nvPr/>
          </p:nvSpPr>
          <p:spPr bwMode="auto">
            <a:xfrm>
              <a:off x="2238" y="3388"/>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Ra</a:t>
              </a:r>
            </a:p>
          </p:txBody>
        </p:sp>
        <p:grpSp>
          <p:nvGrpSpPr>
            <p:cNvPr id="151" name="Group 71">
              <a:extLst>
                <a:ext uri="{FF2B5EF4-FFF2-40B4-BE49-F238E27FC236}">
                  <a16:creationId xmlns:a16="http://schemas.microsoft.com/office/drawing/2014/main" id="{6A77C747-F17E-4927-99A5-E3F1A21F876E}"/>
                </a:ext>
              </a:extLst>
            </p:cNvPr>
            <p:cNvGrpSpPr>
              <a:grpSpLocks/>
            </p:cNvGrpSpPr>
            <p:nvPr/>
          </p:nvGrpSpPr>
          <p:grpSpPr bwMode="auto">
            <a:xfrm>
              <a:off x="2835" y="3067"/>
              <a:ext cx="226" cy="907"/>
              <a:chOff x="3539" y="1661"/>
              <a:chExt cx="226" cy="907"/>
            </a:xfrm>
          </p:grpSpPr>
          <p:grpSp>
            <p:nvGrpSpPr>
              <p:cNvPr id="155" name="Group 72">
                <a:extLst>
                  <a:ext uri="{FF2B5EF4-FFF2-40B4-BE49-F238E27FC236}">
                    <a16:creationId xmlns:a16="http://schemas.microsoft.com/office/drawing/2014/main" id="{80543DAB-9FC2-43D1-9578-FF1841FCA0B7}"/>
                  </a:ext>
                </a:extLst>
              </p:cNvPr>
              <p:cNvGrpSpPr>
                <a:grpSpLocks/>
              </p:cNvGrpSpPr>
              <p:nvPr/>
            </p:nvGrpSpPr>
            <p:grpSpPr bwMode="auto">
              <a:xfrm>
                <a:off x="3539" y="2069"/>
                <a:ext cx="226" cy="90"/>
                <a:chOff x="1701" y="2115"/>
                <a:chExt cx="226" cy="90"/>
              </a:xfrm>
            </p:grpSpPr>
            <p:sp>
              <p:nvSpPr>
                <p:cNvPr id="158" name="Line 73">
                  <a:extLst>
                    <a:ext uri="{FF2B5EF4-FFF2-40B4-BE49-F238E27FC236}">
                      <a16:creationId xmlns:a16="http://schemas.microsoft.com/office/drawing/2014/main" id="{B5CE5096-0B85-4314-94AA-207DC6A57FA7}"/>
                    </a:ext>
                  </a:extLst>
                </p:cNvPr>
                <p:cNvSpPr>
                  <a:spLocks noChangeShapeType="1"/>
                </p:cNvSpPr>
                <p:nvPr/>
              </p:nvSpPr>
              <p:spPr bwMode="auto">
                <a:xfrm>
                  <a:off x="1701" y="211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59" name="Line 74">
                  <a:extLst>
                    <a:ext uri="{FF2B5EF4-FFF2-40B4-BE49-F238E27FC236}">
                      <a16:creationId xmlns:a16="http://schemas.microsoft.com/office/drawing/2014/main" id="{20EC6A3F-DACC-4105-8E97-44CBEE8B5058}"/>
                    </a:ext>
                  </a:extLst>
                </p:cNvPr>
                <p:cNvSpPr>
                  <a:spLocks noChangeShapeType="1"/>
                </p:cNvSpPr>
                <p:nvPr/>
              </p:nvSpPr>
              <p:spPr bwMode="auto">
                <a:xfrm>
                  <a:off x="1701" y="2205"/>
                  <a:ext cx="226" cy="0"/>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56" name="Line 75">
                <a:extLst>
                  <a:ext uri="{FF2B5EF4-FFF2-40B4-BE49-F238E27FC236}">
                    <a16:creationId xmlns:a16="http://schemas.microsoft.com/office/drawing/2014/main" id="{A256DAA0-CA3A-4AAD-AC2B-7440219C0BBA}"/>
                  </a:ext>
                </a:extLst>
              </p:cNvPr>
              <p:cNvSpPr>
                <a:spLocks noChangeShapeType="1"/>
              </p:cNvSpPr>
              <p:nvPr/>
            </p:nvSpPr>
            <p:spPr bwMode="auto">
              <a:xfrm>
                <a:off x="3651" y="1661"/>
                <a:ext cx="0" cy="408"/>
              </a:xfrm>
              <a:prstGeom prst="line">
                <a:avLst/>
              </a:prstGeom>
              <a:noFill/>
              <a:ln w="25400">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57" name="Line 76">
                <a:extLst>
                  <a:ext uri="{FF2B5EF4-FFF2-40B4-BE49-F238E27FC236}">
                    <a16:creationId xmlns:a16="http://schemas.microsoft.com/office/drawing/2014/main" id="{1AC3CC69-76B5-4308-A400-C3436FA65C03}"/>
                  </a:ext>
                </a:extLst>
              </p:cNvPr>
              <p:cNvSpPr>
                <a:spLocks noChangeShapeType="1"/>
              </p:cNvSpPr>
              <p:nvPr/>
            </p:nvSpPr>
            <p:spPr bwMode="auto">
              <a:xfrm>
                <a:off x="3651" y="2160"/>
                <a:ext cx="0" cy="408"/>
              </a:xfrm>
              <a:prstGeom prst="line">
                <a:avLst/>
              </a:prstGeom>
              <a:noFill/>
              <a:ln w="25400">
                <a:solidFill>
                  <a:srgbClr val="00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152" name="Text Box 77">
              <a:extLst>
                <a:ext uri="{FF2B5EF4-FFF2-40B4-BE49-F238E27FC236}">
                  <a16:creationId xmlns:a16="http://schemas.microsoft.com/office/drawing/2014/main" id="{90A7C40B-FBF8-4BE7-B40C-66210852577A}"/>
                </a:ext>
              </a:extLst>
            </p:cNvPr>
            <p:cNvSpPr txBox="1">
              <a:spLocks noChangeArrowheads="1"/>
            </p:cNvSpPr>
            <p:nvPr/>
          </p:nvSpPr>
          <p:spPr bwMode="auto">
            <a:xfrm>
              <a:off x="2625" y="3135"/>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Cc</a:t>
              </a:r>
            </a:p>
          </p:txBody>
        </p:sp>
        <p:sp>
          <p:nvSpPr>
            <p:cNvPr id="153" name="Text Box 78">
              <a:extLst>
                <a:ext uri="{FF2B5EF4-FFF2-40B4-BE49-F238E27FC236}">
                  <a16:creationId xmlns:a16="http://schemas.microsoft.com/office/drawing/2014/main" id="{4E232910-E64C-43F0-84B1-4C9F9AFBE363}"/>
                </a:ext>
              </a:extLst>
            </p:cNvPr>
            <p:cNvSpPr txBox="1">
              <a:spLocks noChangeArrowheads="1"/>
            </p:cNvSpPr>
            <p:nvPr/>
          </p:nvSpPr>
          <p:spPr bwMode="auto">
            <a:xfrm>
              <a:off x="2971" y="3137"/>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Ri</a:t>
              </a:r>
            </a:p>
          </p:txBody>
        </p:sp>
        <p:sp>
          <p:nvSpPr>
            <p:cNvPr id="154" name="Text Box 79">
              <a:extLst>
                <a:ext uri="{FF2B5EF4-FFF2-40B4-BE49-F238E27FC236}">
                  <a16:creationId xmlns:a16="http://schemas.microsoft.com/office/drawing/2014/main" id="{08899108-1B7A-487C-AB99-B1C6CC68FDEE}"/>
                </a:ext>
              </a:extLst>
            </p:cNvPr>
            <p:cNvSpPr txBox="1">
              <a:spLocks noChangeArrowheads="1"/>
            </p:cNvSpPr>
            <p:nvPr/>
          </p:nvSpPr>
          <p:spPr bwMode="auto">
            <a:xfrm>
              <a:off x="3333" y="3135"/>
              <a:ext cx="3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Ci</a:t>
              </a:r>
            </a:p>
          </p:txBody>
        </p:sp>
      </p:grpSp>
      <p:sp>
        <p:nvSpPr>
          <p:cNvPr id="173" name="Text Box 80">
            <a:extLst>
              <a:ext uri="{FF2B5EF4-FFF2-40B4-BE49-F238E27FC236}">
                <a16:creationId xmlns:a16="http://schemas.microsoft.com/office/drawing/2014/main" id="{F69DA7CC-EEDE-4B1B-AE2D-79FAA4122853}"/>
              </a:ext>
            </a:extLst>
          </p:cNvPr>
          <p:cNvSpPr txBox="1">
            <a:spLocks noChangeArrowheads="1"/>
          </p:cNvSpPr>
          <p:nvPr/>
        </p:nvSpPr>
        <p:spPr bwMode="auto">
          <a:xfrm>
            <a:off x="323849" y="4830780"/>
            <a:ext cx="8566257" cy="177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fontAlgn="base">
              <a:lnSpc>
                <a:spcPct val="115000"/>
              </a:lnSpc>
              <a:spcBef>
                <a:spcPct val="50000"/>
              </a:spcBef>
              <a:spcAft>
                <a:spcPct val="0"/>
              </a:spcAft>
            </a:pPr>
            <a:r>
              <a:rPr kumimoji="1" lang="en-US" altLang="zh-CN" sz="2400" b="1">
                <a:solidFill>
                  <a:srgbClr val="000000"/>
                </a:solidFill>
                <a:latin typeface="Times New Roman" panose="02020603050405020304" pitchFamily="18" charset="0"/>
                <a:ea typeface="宋体" panose="02010600030101010101" pitchFamily="2" charset="-122"/>
              </a:rPr>
              <a:t>     </a:t>
            </a:r>
            <a:r>
              <a:rPr kumimoji="1" lang="zh-CN" altLang="en-US" sz="2400" b="1">
                <a:solidFill>
                  <a:srgbClr val="000099"/>
                </a:solidFill>
                <a:latin typeface="Times New Roman" panose="02020603050405020304" pitchFamily="18" charset="0"/>
                <a:ea typeface="宋体" panose="02010600030101010101" pitchFamily="2" charset="-122"/>
              </a:rPr>
              <a:t>压电传感器产生的电荷很少，信号微弱，而自身又要有极高的绝缘电阻，因此需经测量电路进行阻抗变换和信号放大，且</a:t>
            </a:r>
            <a:r>
              <a:rPr kumimoji="1" lang="zh-CN" altLang="en-US" sz="2400" b="1">
                <a:solidFill>
                  <a:srgbClr val="CC3300"/>
                </a:solidFill>
                <a:latin typeface="Times New Roman" panose="02020603050405020304" pitchFamily="18" charset="0"/>
                <a:ea typeface="宋体" panose="02010600030101010101" pitchFamily="2" charset="-122"/>
              </a:rPr>
              <a:t>要求测量电路输入端必须有足够高的阻抗和较小的分布电容</a:t>
            </a:r>
            <a:r>
              <a:rPr kumimoji="1" lang="zh-CN" altLang="en-US" sz="2400" b="1">
                <a:solidFill>
                  <a:srgbClr val="000099"/>
                </a:solidFill>
                <a:latin typeface="Times New Roman" panose="02020603050405020304" pitchFamily="18" charset="0"/>
                <a:ea typeface="宋体" panose="02010600030101010101" pitchFamily="2" charset="-122"/>
              </a:rPr>
              <a:t>，以防止电荷迅速泄漏，电荷泄漏将引起测量误差。</a:t>
            </a:r>
            <a:r>
              <a:rPr kumimoji="1" lang="zh-CN" altLang="en-US" sz="2400" b="1">
                <a:solidFill>
                  <a:srgbClr val="000000"/>
                </a:solidFill>
                <a:latin typeface="Times New Roman" panose="02020603050405020304" pitchFamily="18" charset="0"/>
                <a:ea typeface="宋体" panose="02010600030101010101" pitchFamily="2" charset="-122"/>
              </a:rPr>
              <a:t> </a:t>
            </a:r>
          </a:p>
        </p:txBody>
      </p:sp>
    </p:spTree>
    <p:extLst>
      <p:ext uri="{BB962C8B-B14F-4D97-AF65-F5344CB8AC3E}">
        <p14:creationId xmlns:p14="http://schemas.microsoft.com/office/powerpoint/2010/main" val="39132442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6.3</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等效电路</a:t>
            </a:r>
          </a:p>
        </p:txBody>
      </p:sp>
      <p:sp>
        <p:nvSpPr>
          <p:cNvPr id="2" name="Slide Number Placeholder 1">
            <a:extLst>
              <a:ext uri="{FF2B5EF4-FFF2-40B4-BE49-F238E27FC236}">
                <a16:creationId xmlns:a16="http://schemas.microsoft.com/office/drawing/2014/main" id="{616307F4-B796-47EC-893E-562BA84AA4D1}"/>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sp>
        <p:nvSpPr>
          <p:cNvPr id="85" name="Rectangle 9">
            <a:extLst>
              <a:ext uri="{FF2B5EF4-FFF2-40B4-BE49-F238E27FC236}">
                <a16:creationId xmlns:a16="http://schemas.microsoft.com/office/drawing/2014/main" id="{2FF0988F-FE93-48A4-B029-BB7493E745D8}"/>
              </a:ext>
            </a:extLst>
          </p:cNvPr>
          <p:cNvSpPr>
            <a:spLocks noChangeArrowheads="1"/>
          </p:cNvSpPr>
          <p:nvPr/>
        </p:nvSpPr>
        <p:spPr bwMode="auto">
          <a:xfrm>
            <a:off x="514926" y="1641475"/>
            <a:ext cx="8540750" cy="268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Char char="§"/>
              <a:defRPr sz="3200">
                <a:solidFill>
                  <a:schemeClr val="tx1"/>
                </a:solidFill>
                <a:latin typeface="Arial" panose="020B0604020202020204" pitchFamily="34" charset="0"/>
                <a:ea typeface="宋体" panose="02010600030101010101" pitchFamily="2" charset="-122"/>
              </a:defRPr>
            </a:lvl1pPr>
            <a:lvl2pPr marL="742950" indent="-285750">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buChar char="§"/>
              <a:defRPr sz="2400">
                <a:solidFill>
                  <a:schemeClr val="tx1"/>
                </a:solidFill>
                <a:latin typeface="Arial" panose="020B0604020202020204" pitchFamily="34" charset="0"/>
                <a:ea typeface="宋体" panose="02010600030101010101" pitchFamily="2" charset="-122"/>
              </a:defRPr>
            </a:lvl3pPr>
            <a:lvl4pPr marL="1600200" indent="-228600">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50000"/>
              </a:lnSpc>
              <a:spcBef>
                <a:spcPts val="1200"/>
              </a:spcBef>
              <a:spcAft>
                <a:spcPct val="0"/>
              </a:spcAft>
              <a:buClr>
                <a:srgbClr val="FF0000"/>
              </a:buClr>
              <a:buSzTx/>
              <a:buNone/>
              <a:tabLst/>
              <a:defRPr/>
            </a:pPr>
            <a:r>
              <a:rPr kumimoji="0" lang="zh-CN" altLang="en-US" sz="2400" b="1" i="0" u="none" strike="noStrike" kern="0" cap="none" spc="0" normalizeH="0" baseline="0" noProof="0">
                <a:ln>
                  <a:noFill/>
                </a:ln>
                <a:solidFill>
                  <a:srgbClr val="FF0000"/>
                </a:solidFill>
                <a:effectLst/>
                <a:uLnTx/>
                <a:uFillTx/>
                <a:latin typeface="Arial" panose="020B0604020202020204" pitchFamily="34" charset="0"/>
                <a:ea typeface="宋体" panose="02010600030101010101" pitchFamily="2" charset="-122"/>
              </a:rPr>
              <a:t>压电式传感器的灵敏度</a:t>
            </a:r>
            <a:endPar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a:p>
            <a:pPr marL="342900" marR="0" lvl="0" indent="-342900" defTabSz="914400" eaLnBrk="1" fontAlgn="base" latinLnBrk="0" hangingPunct="1">
              <a:lnSpc>
                <a:spcPct val="150000"/>
              </a:lnSpc>
              <a:spcBef>
                <a:spcPts val="1200"/>
              </a:spcBef>
              <a:spcAft>
                <a:spcPct val="0"/>
              </a:spcAft>
              <a:buClr>
                <a:srgbClr val="FF0000"/>
              </a:buClr>
              <a:buSzTx/>
              <a:buFont typeface="Wingdings" panose="05000000000000000000" pitchFamily="2" charset="2"/>
              <a:buChar char="§"/>
              <a:tabLst/>
              <a:defRPr/>
            </a:pPr>
            <a:r>
              <a:rPr kumimoji="0" lang="zh-CN" altLang="en-US" sz="2400" b="1" i="0" u="none" strike="noStrike" kern="0" cap="none" spc="0" normalizeH="0" baseline="0" noProof="0">
                <a:ln>
                  <a:noFill/>
                </a:ln>
                <a:solidFill>
                  <a:srgbClr val="00B0F0"/>
                </a:solidFill>
                <a:effectLst/>
                <a:uLnTx/>
                <a:uFillTx/>
                <a:latin typeface="Arial" panose="020B0604020202020204" pitchFamily="34" charset="0"/>
                <a:ea typeface="宋体" panose="02010600030101010101" pitchFamily="2" charset="-122"/>
              </a:rPr>
              <a:t>电压灵敏度  </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K</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u</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U</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a</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单位力所产生的电压；</a:t>
            </a:r>
            <a:endPar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endParaRPr>
          </a:p>
          <a:p>
            <a:pPr marL="342900" marR="0" lvl="0" indent="-342900" defTabSz="914400" eaLnBrk="1" fontAlgn="base" latinLnBrk="0" hangingPunct="1">
              <a:lnSpc>
                <a:spcPct val="150000"/>
              </a:lnSpc>
              <a:spcBef>
                <a:spcPts val="1200"/>
              </a:spcBef>
              <a:spcAft>
                <a:spcPct val="0"/>
              </a:spcAft>
              <a:buClr>
                <a:srgbClr val="FF0000"/>
              </a:buClr>
              <a:buSzTx/>
              <a:buFont typeface="Wingdings" panose="05000000000000000000" pitchFamily="2" charset="2"/>
              <a:buChar char="§"/>
              <a:tabLst/>
              <a:defRPr/>
            </a:pPr>
            <a:r>
              <a:rPr kumimoji="0" lang="zh-CN" altLang="en-US" sz="2400" b="1" i="0" u="none" strike="noStrike" kern="0" cap="none" spc="0" normalizeH="0" baseline="0" noProof="0">
                <a:ln>
                  <a:noFill/>
                </a:ln>
                <a:solidFill>
                  <a:srgbClr val="00B0F0"/>
                </a:solidFill>
                <a:effectLst/>
                <a:uLnTx/>
                <a:uFillTx/>
                <a:latin typeface="Arial" panose="020B0604020202020204" pitchFamily="34" charset="0"/>
                <a:ea typeface="宋体" panose="02010600030101010101" pitchFamily="2" charset="-122"/>
              </a:rPr>
              <a:t>电荷灵敏度  </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K</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q</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Q</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单位力所产生的电荷。</a:t>
            </a:r>
          </a:p>
          <a:p>
            <a:pPr marL="342900" marR="0" lvl="0" indent="-342900" defTabSz="914400" eaLnBrk="1" fontAlgn="base" latinLnBrk="0" hangingPunct="1">
              <a:lnSpc>
                <a:spcPct val="150000"/>
              </a:lnSpc>
              <a:spcBef>
                <a:spcPts val="12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它们之间的关系是</a:t>
            </a:r>
          </a:p>
          <a:p>
            <a:pPr marL="342900" marR="0" lvl="0" indent="-342900" defTabSz="914400" eaLnBrk="1" fontAlgn="base" latinLnBrk="0" hangingPunct="1">
              <a:lnSpc>
                <a:spcPct val="150000"/>
              </a:lnSpc>
              <a:spcBef>
                <a:spcPts val="1200"/>
              </a:spcBef>
              <a:spcAft>
                <a:spcPct val="0"/>
              </a:spcAft>
              <a:buClr>
                <a:srgbClr val="FF0000"/>
              </a:buClr>
              <a:buSzTx/>
              <a:buFont typeface="Wingdings" panose="05000000000000000000" pitchFamily="2" charset="2"/>
              <a:buNone/>
              <a:tabLst/>
              <a:defRPr/>
            </a:pPr>
            <a:r>
              <a:rPr kumimoji="0" lang="zh-CN" altLang="en-US"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K</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u</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K</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q</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C</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a</a:t>
            </a:r>
            <a:endPar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aphicFrame>
        <p:nvGraphicFramePr>
          <p:cNvPr id="3" name="Object 2">
            <a:extLst>
              <a:ext uri="{FF2B5EF4-FFF2-40B4-BE49-F238E27FC236}">
                <a16:creationId xmlns:a16="http://schemas.microsoft.com/office/drawing/2014/main" id="{047C5205-EE51-4513-9798-FB50EC73F47B}"/>
              </a:ext>
            </a:extLst>
          </p:cNvPr>
          <p:cNvGraphicFramePr>
            <a:graphicFrameLocks noChangeAspect="1"/>
          </p:cNvGraphicFramePr>
          <p:nvPr>
            <p:extLst>
              <p:ext uri="{D42A27DB-BD31-4B8C-83A1-F6EECF244321}">
                <p14:modId xmlns:p14="http://schemas.microsoft.com/office/powerpoint/2010/main" val="1787438859"/>
              </p:ext>
            </p:extLst>
          </p:nvPr>
        </p:nvGraphicFramePr>
        <p:xfrm>
          <a:off x="5695270" y="4325938"/>
          <a:ext cx="1423987" cy="1209737"/>
        </p:xfrm>
        <a:graphic>
          <a:graphicData uri="http://schemas.openxmlformats.org/presentationml/2006/ole">
            <mc:AlternateContent xmlns:mc="http://schemas.openxmlformats.org/markup-compatibility/2006">
              <mc:Choice xmlns:v="urn:schemas-microsoft-com:vml" Requires="v">
                <p:oleObj name="Equation" r:id="rId3" imgW="864424" imgH="734786" progId="Equation.DSMT4">
                  <p:embed/>
                </p:oleObj>
              </mc:Choice>
              <mc:Fallback>
                <p:oleObj name="Equation" r:id="rId3" imgW="864424" imgH="734786" progId="Equation.DSMT4">
                  <p:embed/>
                  <p:pic>
                    <p:nvPicPr>
                      <p:cNvPr id="0" name=""/>
                      <p:cNvPicPr/>
                      <p:nvPr/>
                    </p:nvPicPr>
                    <p:blipFill>
                      <a:blip r:embed="rId4"/>
                      <a:stretch>
                        <a:fillRect/>
                      </a:stretch>
                    </p:blipFill>
                    <p:spPr>
                      <a:xfrm>
                        <a:off x="5695270" y="4325938"/>
                        <a:ext cx="1423987" cy="1209737"/>
                      </a:xfrm>
                      <a:prstGeom prst="rect">
                        <a:avLst/>
                      </a:prstGeom>
                    </p:spPr>
                  </p:pic>
                </p:oleObj>
              </mc:Fallback>
            </mc:AlternateContent>
          </a:graphicData>
        </a:graphic>
      </p:graphicFrame>
    </p:spTree>
    <p:extLst>
      <p:ext uri="{BB962C8B-B14F-4D97-AF65-F5344CB8AC3E}">
        <p14:creationId xmlns:p14="http://schemas.microsoft.com/office/powerpoint/2010/main" val="39177135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6.4</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3EF248BC-08CD-492B-B9A5-71FCAA0DC43D}"/>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
        <p:nvSpPr>
          <p:cNvPr id="14" name="Rectangle 3">
            <a:extLst>
              <a:ext uri="{FF2B5EF4-FFF2-40B4-BE49-F238E27FC236}">
                <a16:creationId xmlns:a16="http://schemas.microsoft.com/office/drawing/2014/main" id="{81F58CD2-2D29-4D28-B684-6E667816BC98}"/>
              </a:ext>
            </a:extLst>
          </p:cNvPr>
          <p:cNvSpPr txBox="1">
            <a:spLocks noRot="1" noChangeArrowheads="1"/>
          </p:cNvSpPr>
          <p:nvPr/>
        </p:nvSpPr>
        <p:spPr bwMode="auto">
          <a:xfrm>
            <a:off x="405379" y="1674030"/>
            <a:ext cx="8333241" cy="396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ts val="600"/>
              </a:spcBef>
              <a:spcAft>
                <a:spcPct val="0"/>
              </a:spcAft>
              <a:buClr>
                <a:srgbClr val="FF0000"/>
              </a:buClr>
              <a:buSzTx/>
              <a:buFont typeface="Wingdings" panose="05000000000000000000" pitchFamily="2" charset="2"/>
              <a:buNone/>
              <a:tabLst/>
              <a:defRPr/>
            </a:pPr>
            <a:r>
              <a:rPr kumimoji="0" lang="zh-CN" altLang="en-US" sz="2800" b="1" i="0" u="none" strike="noStrike" kern="1200" cap="none" spc="0" normalizeH="0" baseline="0" noProof="0">
                <a:ln>
                  <a:noFill/>
                </a:ln>
                <a:solidFill>
                  <a:srgbClr val="000099"/>
                </a:solidFill>
                <a:effectLst/>
                <a:uLnTx/>
                <a:uFillTx/>
                <a:latin typeface="Arial"/>
                <a:ea typeface="宋体"/>
                <a:cs typeface="+mn-cs"/>
              </a:rPr>
              <a:t>根据压电元件的工作原理及上节所述两种等效电路，</a:t>
            </a:r>
            <a:r>
              <a:rPr kumimoji="1" lang="zh-CN" altLang="en-US" sz="2800" b="1" i="0" u="none" strike="noStrike" kern="1200" cap="none" spc="0" normalizeH="0" baseline="0" noProof="0">
                <a:ln>
                  <a:noFill/>
                </a:ln>
                <a:solidFill>
                  <a:srgbClr val="000099"/>
                </a:solidFill>
                <a:effectLst/>
                <a:uLnTx/>
                <a:uFillTx/>
                <a:latin typeface="Arial"/>
                <a:ea typeface="宋体"/>
                <a:cs typeface="+mn-cs"/>
              </a:rPr>
              <a:t>它的输出可以是</a:t>
            </a:r>
            <a:r>
              <a:rPr kumimoji="1" lang="zh-CN" altLang="en-US" sz="2800" b="1" i="0" u="none" strike="noStrike" kern="1200" cap="none" spc="0" normalizeH="0" baseline="0" noProof="0">
                <a:ln>
                  <a:noFill/>
                </a:ln>
                <a:solidFill>
                  <a:srgbClr val="FF0000"/>
                </a:solidFill>
                <a:effectLst/>
                <a:uLnTx/>
                <a:uFillTx/>
                <a:latin typeface="Arial"/>
                <a:ea typeface="宋体"/>
                <a:cs typeface="+mn-cs"/>
              </a:rPr>
              <a:t>电压信号</a:t>
            </a:r>
            <a:r>
              <a:rPr kumimoji="1" lang="zh-CN" altLang="en-US" sz="2800" b="1" i="0" u="none" strike="noStrike" kern="1200" cap="none" spc="0" normalizeH="0" baseline="0" noProof="0">
                <a:ln>
                  <a:noFill/>
                </a:ln>
                <a:solidFill>
                  <a:srgbClr val="000099"/>
                </a:solidFill>
                <a:effectLst/>
                <a:uLnTx/>
                <a:uFillTx/>
                <a:latin typeface="Arial"/>
                <a:ea typeface="宋体"/>
                <a:cs typeface="+mn-cs"/>
              </a:rPr>
              <a:t>也可以是</a:t>
            </a:r>
            <a:r>
              <a:rPr kumimoji="1" lang="zh-CN" altLang="en-US" sz="2800" b="1" i="0" u="none" strike="noStrike" kern="1200" cap="none" spc="0" normalizeH="0" baseline="0" noProof="0">
                <a:ln>
                  <a:noFill/>
                </a:ln>
                <a:solidFill>
                  <a:srgbClr val="FF0000"/>
                </a:solidFill>
                <a:effectLst/>
                <a:uLnTx/>
                <a:uFillTx/>
                <a:latin typeface="Arial"/>
                <a:ea typeface="宋体"/>
                <a:cs typeface="+mn-cs"/>
              </a:rPr>
              <a:t>电荷信号</a:t>
            </a:r>
            <a:r>
              <a:rPr kumimoji="1" lang="zh-CN" altLang="en-US" sz="2800" b="1" i="0" u="none" strike="noStrike" kern="1200" cap="none" spc="0" normalizeH="0" baseline="0" noProof="0">
                <a:ln>
                  <a:noFill/>
                </a:ln>
                <a:solidFill>
                  <a:srgbClr val="000099"/>
                </a:solidFill>
                <a:effectLst/>
                <a:uLnTx/>
                <a:uFillTx/>
                <a:latin typeface="Arial"/>
                <a:ea typeface="宋体"/>
                <a:cs typeface="+mn-cs"/>
              </a:rPr>
              <a:t>，因此设计前置放大器也有两种形式：</a:t>
            </a:r>
          </a:p>
          <a:p>
            <a:pPr>
              <a:lnSpc>
                <a:spcPct val="120000"/>
              </a:lnSpc>
              <a:buClr>
                <a:srgbClr val="FF0000"/>
              </a:buClr>
            </a:pPr>
            <a:r>
              <a:rPr kumimoji="1" lang="zh-CN" altLang="en-US" sz="2800" b="1" i="0" u="none" strike="noStrike" kern="1200" cap="none" spc="0" normalizeH="0" baseline="0" noProof="0">
                <a:ln>
                  <a:noFill/>
                </a:ln>
                <a:solidFill>
                  <a:srgbClr val="CC3300"/>
                </a:solidFill>
                <a:effectLst/>
                <a:uLnTx/>
                <a:uFillTx/>
                <a:latin typeface="Arial"/>
                <a:ea typeface="宋体"/>
                <a:cs typeface="+mn-cs"/>
              </a:rPr>
              <a:t>电压放大器</a:t>
            </a:r>
            <a:r>
              <a:rPr kumimoji="1" lang="zh-CN" altLang="en-US" sz="2800" b="1" i="0" u="none" strike="noStrike" kern="1200" cap="none" spc="0" normalizeH="0" baseline="0" noProof="0">
                <a:ln>
                  <a:noFill/>
                </a:ln>
                <a:solidFill>
                  <a:srgbClr val="000000"/>
                </a:solidFill>
                <a:effectLst/>
                <a:uLnTx/>
                <a:uFillTx/>
                <a:latin typeface="Arial"/>
                <a:ea typeface="宋体"/>
                <a:cs typeface="+mn-cs"/>
              </a:rPr>
              <a:t>，</a:t>
            </a:r>
            <a:r>
              <a:rPr kumimoji="1" lang="zh-CN" altLang="en-US" sz="2800" b="1" i="0" u="none" strike="noStrike" kern="1200" cap="none" spc="0" normalizeH="0" baseline="0" noProof="0">
                <a:ln>
                  <a:noFill/>
                </a:ln>
                <a:solidFill>
                  <a:srgbClr val="000099"/>
                </a:solidFill>
                <a:effectLst/>
                <a:uLnTx/>
                <a:uFillTx/>
                <a:latin typeface="Arial"/>
                <a:ea typeface="宋体"/>
                <a:cs typeface="+mn-cs"/>
              </a:rPr>
              <a:t>其输出电压与输入电压（传感器的输出电压）成正比；</a:t>
            </a:r>
          </a:p>
          <a:p>
            <a:pPr>
              <a:lnSpc>
                <a:spcPct val="120000"/>
              </a:lnSpc>
              <a:buClr>
                <a:srgbClr val="FF0000"/>
              </a:buClr>
            </a:pPr>
            <a:r>
              <a:rPr kumimoji="1" lang="zh-CN" altLang="en-US" sz="2800" b="1" i="0" u="none" strike="noStrike" kern="1200" cap="none" spc="0" normalizeH="0" baseline="0" noProof="0">
                <a:ln>
                  <a:noFill/>
                </a:ln>
                <a:solidFill>
                  <a:srgbClr val="CC3300"/>
                </a:solidFill>
                <a:effectLst/>
                <a:uLnTx/>
                <a:uFillTx/>
                <a:latin typeface="Arial"/>
                <a:ea typeface="宋体"/>
                <a:cs typeface="+mn-cs"/>
              </a:rPr>
              <a:t>电荷放大器，</a:t>
            </a:r>
            <a:r>
              <a:rPr kumimoji="1" lang="zh-CN" altLang="en-US" sz="2800" b="1" i="0" u="none" strike="noStrike" kern="1200" cap="none" spc="0" normalizeH="0" baseline="0" noProof="0">
                <a:ln>
                  <a:noFill/>
                </a:ln>
                <a:solidFill>
                  <a:srgbClr val="000099"/>
                </a:solidFill>
                <a:effectLst/>
                <a:uLnTx/>
                <a:uFillTx/>
                <a:latin typeface="Arial"/>
                <a:ea typeface="宋体"/>
                <a:cs typeface="+mn-cs"/>
              </a:rPr>
              <a:t>其输出电压与输入电荷成正比。</a:t>
            </a:r>
            <a:r>
              <a:rPr kumimoji="1" lang="zh-CN" altLang="en-US" sz="2800" b="0" i="0" u="none" strike="noStrike" kern="1200" cap="none" spc="0" normalizeH="0" baseline="0" noProof="0">
                <a:ln>
                  <a:noFill/>
                </a:ln>
                <a:solidFill>
                  <a:srgbClr val="000000"/>
                </a:solidFill>
                <a:effectLst/>
                <a:uLnTx/>
                <a:uFillTx/>
                <a:latin typeface="Arial"/>
                <a:ea typeface="宋体"/>
                <a:cs typeface="+mn-cs"/>
              </a:rPr>
              <a:t> </a:t>
            </a:r>
            <a:endParaRPr kumimoji="0" lang="zh-CN" altLang="en-US" sz="2800" b="1" i="0" u="none" strike="noStrike" kern="1200" cap="none" spc="0" normalizeH="0" baseline="0" noProof="0">
              <a:ln>
                <a:noFill/>
              </a:ln>
              <a:solidFill>
                <a:srgbClr val="000099"/>
              </a:solidFill>
              <a:effectLst/>
              <a:uLnTx/>
              <a:uFillTx/>
              <a:latin typeface="Arial"/>
              <a:ea typeface="宋体"/>
              <a:cs typeface="+mn-cs"/>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3"/>
          <p:cNvSpPr txBox="1">
            <a:spLocks noRot="1" noChangeArrowheads="1"/>
          </p:cNvSpPr>
          <p:nvPr/>
        </p:nvSpPr>
        <p:spPr>
          <a:xfrm>
            <a:off x="612153" y="1248257"/>
            <a:ext cx="7919693" cy="2387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628650">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作用：将压电式传感器的高输出阻抗经放大器变换为低阻抗输出，并将微弱的电压信号进行适当放大．因此也把这种测量电路称为</a:t>
            </a:r>
            <a:r>
              <a:rPr lang="zh-CN" altLang="en-US" sz="2400" b="1" dirty="0">
                <a:solidFill>
                  <a:srgbClr val="FF0000"/>
                </a:solidFill>
                <a:latin typeface="宋体" panose="02010600030101010101" pitchFamily="2" charset="-122"/>
                <a:ea typeface="宋体" panose="02010600030101010101" pitchFamily="2" charset="-122"/>
              </a:rPr>
              <a:t>阻抗变换器</a:t>
            </a:r>
            <a:r>
              <a:rPr lang="zh-CN" altLang="en-US" sz="2400" b="1" dirty="0">
                <a:solidFill>
                  <a:srgbClr val="002060"/>
                </a:solidFill>
                <a:latin typeface="宋体" panose="02010600030101010101" pitchFamily="2" charset="-122"/>
                <a:ea typeface="宋体" panose="02010600030101010101" pitchFamily="2" charset="-122"/>
              </a:rPr>
              <a:t>。</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6.4.1</a:t>
            </a:r>
          </a:p>
        </p:txBody>
      </p:sp>
      <p:sp>
        <p:nvSpPr>
          <p:cNvPr id="29" name="矩形 28"/>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电压放大器</a:t>
            </a:r>
          </a:p>
        </p:txBody>
      </p:sp>
      <p:sp>
        <p:nvSpPr>
          <p:cNvPr id="3" name="Slide Number Placeholder 2">
            <a:extLst>
              <a:ext uri="{FF2B5EF4-FFF2-40B4-BE49-F238E27FC236}">
                <a16:creationId xmlns:a16="http://schemas.microsoft.com/office/drawing/2014/main" id="{7AB7BA79-C2FA-4C88-8BAA-E8A1753300BD}"/>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
        <p:nvSpPr>
          <p:cNvPr id="9" name="Text Box 35">
            <a:extLst>
              <a:ext uri="{FF2B5EF4-FFF2-40B4-BE49-F238E27FC236}">
                <a16:creationId xmlns:a16="http://schemas.microsoft.com/office/drawing/2014/main" id="{8937310E-7AEC-4F1B-82A3-5EEC0CE724B7}"/>
              </a:ext>
            </a:extLst>
          </p:cNvPr>
          <p:cNvSpPr txBox="1">
            <a:spLocks noChangeArrowheads="1"/>
          </p:cNvSpPr>
          <p:nvPr/>
        </p:nvSpPr>
        <p:spPr bwMode="auto">
          <a:xfrm>
            <a:off x="2437947" y="6024261"/>
            <a:ext cx="4885644" cy="479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0"/>
              </a:spcBef>
              <a:buClrTx/>
              <a:buFontTx/>
              <a:buNone/>
            </a:pPr>
            <a:r>
              <a:rPr kumimoji="1" lang="zh-CN" altLang="en-US" sz="2400" b="1">
                <a:solidFill>
                  <a:srgbClr val="000099"/>
                </a:solidFill>
                <a:latin typeface="宋体" panose="02010600030101010101" pitchFamily="2" charset="-122"/>
                <a:ea typeface="宋体" panose="02010600030101010101" pitchFamily="2" charset="-122"/>
              </a:rPr>
              <a:t>图</a:t>
            </a:r>
            <a:r>
              <a:rPr kumimoji="1" lang="en-US" altLang="zh-CN" sz="2400" b="1">
                <a:solidFill>
                  <a:srgbClr val="000099"/>
                </a:solidFill>
                <a:latin typeface="宋体" panose="02010600030101010101" pitchFamily="2" charset="-122"/>
                <a:ea typeface="宋体" panose="02010600030101010101" pitchFamily="2" charset="-122"/>
              </a:rPr>
              <a:t>6-9  </a:t>
            </a:r>
            <a:r>
              <a:rPr kumimoji="1" lang="zh-CN" altLang="en-US" sz="2400" b="1">
                <a:solidFill>
                  <a:srgbClr val="000099"/>
                </a:solidFill>
                <a:latin typeface="宋体" panose="02010600030101010101" pitchFamily="2" charset="-122"/>
                <a:ea typeface="宋体" panose="02010600030101010101" pitchFamily="2" charset="-122"/>
              </a:rPr>
              <a:t>电压放大器的简化电路图</a:t>
            </a:r>
          </a:p>
        </p:txBody>
      </p:sp>
      <p:pic>
        <p:nvPicPr>
          <p:cNvPr id="10" name="Picture 40">
            <a:extLst>
              <a:ext uri="{FF2B5EF4-FFF2-40B4-BE49-F238E27FC236}">
                <a16:creationId xmlns:a16="http://schemas.microsoft.com/office/drawing/2014/main" id="{0A2A65B0-C0E5-45AE-80CE-70B1DA9EC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083" y="2989459"/>
            <a:ext cx="8809037" cy="257175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41">
            <a:extLst>
              <a:ext uri="{FF2B5EF4-FFF2-40B4-BE49-F238E27FC236}">
                <a16:creationId xmlns:a16="http://schemas.microsoft.com/office/drawing/2014/main" id="{188207A5-801F-4FB9-B290-9447A39B0C60}"/>
              </a:ext>
            </a:extLst>
          </p:cNvPr>
          <p:cNvSpPr>
            <a:spLocks noChangeArrowheads="1"/>
          </p:cNvSpPr>
          <p:nvPr/>
        </p:nvSpPr>
        <p:spPr bwMode="auto">
          <a:xfrm>
            <a:off x="2920136" y="5546695"/>
            <a:ext cx="39212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kumimoji="1" lang="en-US" altLang="zh-CN" sz="2000" b="1">
                <a:solidFill>
                  <a:schemeClr val="tx2"/>
                </a:solidFill>
              </a:rPr>
              <a:t>(a)</a:t>
            </a:r>
            <a:r>
              <a:rPr kumimoji="1" lang="zh-CN" altLang="en-US" sz="2000" b="1">
                <a:solidFill>
                  <a:schemeClr val="tx2"/>
                </a:solidFill>
              </a:rPr>
              <a:t>等效电路原理图；</a:t>
            </a:r>
            <a:r>
              <a:rPr kumimoji="1" lang="en-US" altLang="zh-CN" sz="2000" b="1">
                <a:solidFill>
                  <a:schemeClr val="tx2"/>
                </a:solidFill>
              </a:rPr>
              <a:t>(b)</a:t>
            </a:r>
            <a:r>
              <a:rPr kumimoji="1" lang="zh-CN" altLang="en-US" sz="2000" b="1">
                <a:solidFill>
                  <a:schemeClr val="tx2"/>
                </a:solidFill>
              </a:rPr>
              <a:t>简化电路</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6.4.1</a:t>
            </a:r>
          </a:p>
        </p:txBody>
      </p:sp>
      <p:sp>
        <p:nvSpPr>
          <p:cNvPr id="29" name="矩形 28"/>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电压放大器</a:t>
            </a:r>
          </a:p>
        </p:txBody>
      </p:sp>
      <p:sp>
        <p:nvSpPr>
          <p:cNvPr id="3" name="Slide Number Placeholder 2">
            <a:extLst>
              <a:ext uri="{FF2B5EF4-FFF2-40B4-BE49-F238E27FC236}">
                <a16:creationId xmlns:a16="http://schemas.microsoft.com/office/drawing/2014/main" id="{7AB7BA79-C2FA-4C88-8BAA-E8A1753300BD}"/>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
        <p:nvSpPr>
          <p:cNvPr id="23" name="Rectangle 3">
            <a:extLst>
              <a:ext uri="{FF2B5EF4-FFF2-40B4-BE49-F238E27FC236}">
                <a16:creationId xmlns:a16="http://schemas.microsoft.com/office/drawing/2014/main" id="{C09D5BD7-78FF-4F6E-9DE1-49CD4D0160AD}"/>
              </a:ext>
            </a:extLst>
          </p:cNvPr>
          <p:cNvSpPr txBox="1">
            <a:spLocks noRot="1" noChangeArrowheads="1"/>
          </p:cNvSpPr>
          <p:nvPr/>
        </p:nvSpPr>
        <p:spPr bwMode="auto">
          <a:xfrm>
            <a:off x="369833" y="1286968"/>
            <a:ext cx="3804357" cy="422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简化电路的等效电阻</a:t>
            </a:r>
            <a:r>
              <a:rPr kumimoji="0" lang="en-US" altLang="zh-CN" sz="2200" b="1" i="0"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R</a:t>
            </a:r>
            <a:r>
              <a:rPr kumimoji="0" lang="zh-CN" altLang="en-US" sz="2200" b="1" i="0"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为</a:t>
            </a:r>
            <a:endParaRPr kumimoji="0" lang="zh-CN" altLang="en-US" sz="2200" b="0" i="0" u="none" strike="noStrike" kern="1200" cap="none" spc="0" normalizeH="0" baseline="0" noProof="0">
              <a:ln>
                <a:noFill/>
              </a:ln>
              <a:solidFill>
                <a:srgbClr val="000000"/>
              </a:solidFill>
              <a:effectLst/>
              <a:uLnTx/>
              <a:uFillTx/>
              <a:latin typeface="Times New Roman" panose="02020603050405020304" pitchFamily="18" charset="0"/>
              <a:ea typeface="宋体"/>
              <a:cs typeface="+mn-cs"/>
            </a:endParaRPr>
          </a:p>
        </p:txBody>
      </p:sp>
      <p:graphicFrame>
        <p:nvGraphicFramePr>
          <p:cNvPr id="24" name="Object 4">
            <a:extLst>
              <a:ext uri="{FF2B5EF4-FFF2-40B4-BE49-F238E27FC236}">
                <a16:creationId xmlns:a16="http://schemas.microsoft.com/office/drawing/2014/main" id="{6906DB77-05BA-4033-8D4A-68633D56EB59}"/>
              </a:ext>
            </a:extLst>
          </p:cNvPr>
          <p:cNvGraphicFramePr>
            <a:graphicFrameLocks noChangeAspect="1"/>
          </p:cNvGraphicFramePr>
          <p:nvPr>
            <p:extLst>
              <p:ext uri="{D42A27DB-BD31-4B8C-83A1-F6EECF244321}">
                <p14:modId xmlns:p14="http://schemas.microsoft.com/office/powerpoint/2010/main" val="1854027276"/>
              </p:ext>
            </p:extLst>
          </p:nvPr>
        </p:nvGraphicFramePr>
        <p:xfrm>
          <a:off x="803221" y="1790206"/>
          <a:ext cx="3671887" cy="473075"/>
        </p:xfrm>
        <a:graphic>
          <a:graphicData uri="http://schemas.openxmlformats.org/presentationml/2006/ole">
            <mc:AlternateContent xmlns:mc="http://schemas.openxmlformats.org/markup-compatibility/2006">
              <mc:Choice xmlns:v="urn:schemas-microsoft-com:vml" Requires="v">
                <p:oleObj name="公式" r:id="rId3" imgW="1777680" imgH="228600" progId="Equation.3">
                  <p:embed/>
                </p:oleObj>
              </mc:Choice>
              <mc:Fallback>
                <p:oleObj name="公式" r:id="rId3" imgW="1777680" imgH="228600" progId="Equation.3">
                  <p:embed/>
                  <p:pic>
                    <p:nvPicPr>
                      <p:cNvPr id="265220" name="Object 4">
                        <a:extLst>
                          <a:ext uri="{FF2B5EF4-FFF2-40B4-BE49-F238E27FC236}">
                            <a16:creationId xmlns:a16="http://schemas.microsoft.com/office/drawing/2014/main" id="{5CCE46EE-C94E-4DF2-BF43-E322F5C391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221" y="1790206"/>
                        <a:ext cx="3671887"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7">
            <a:extLst>
              <a:ext uri="{FF2B5EF4-FFF2-40B4-BE49-F238E27FC236}">
                <a16:creationId xmlns:a16="http://schemas.microsoft.com/office/drawing/2014/main" id="{7445BF46-0E82-4496-893D-F3F0D1C6D0C7}"/>
              </a:ext>
            </a:extLst>
          </p:cNvPr>
          <p:cNvGraphicFramePr>
            <a:graphicFrameLocks noChangeAspect="1"/>
          </p:cNvGraphicFramePr>
          <p:nvPr>
            <p:extLst>
              <p:ext uri="{D42A27DB-BD31-4B8C-83A1-F6EECF244321}">
                <p14:modId xmlns:p14="http://schemas.microsoft.com/office/powerpoint/2010/main" val="508483407"/>
              </p:ext>
            </p:extLst>
          </p:nvPr>
        </p:nvGraphicFramePr>
        <p:xfrm>
          <a:off x="2299878" y="2498160"/>
          <a:ext cx="2016125" cy="447675"/>
        </p:xfrm>
        <a:graphic>
          <a:graphicData uri="http://schemas.openxmlformats.org/presentationml/2006/ole">
            <mc:AlternateContent xmlns:mc="http://schemas.openxmlformats.org/markup-compatibility/2006">
              <mc:Choice xmlns:v="urn:schemas-microsoft-com:vml" Requires="v">
                <p:oleObj name="公式" r:id="rId5" imgW="1028520" imgH="228600" progId="Equation.3">
                  <p:embed/>
                </p:oleObj>
              </mc:Choice>
              <mc:Fallback>
                <p:oleObj name="公式" r:id="rId5" imgW="1028520" imgH="228600" progId="Equation.3">
                  <p:embed/>
                  <p:pic>
                    <p:nvPicPr>
                      <p:cNvPr id="265223" name="Object 7">
                        <a:extLst>
                          <a:ext uri="{FF2B5EF4-FFF2-40B4-BE49-F238E27FC236}">
                            <a16:creationId xmlns:a16="http://schemas.microsoft.com/office/drawing/2014/main" id="{9B627EAC-22DF-4740-8E93-757C6C7052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9878" y="2498160"/>
                        <a:ext cx="2016125"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Rectangle 20">
            <a:extLst>
              <a:ext uri="{FF2B5EF4-FFF2-40B4-BE49-F238E27FC236}">
                <a16:creationId xmlns:a16="http://schemas.microsoft.com/office/drawing/2014/main" id="{C365A7D7-0815-42C7-B844-D779FAB17D04}"/>
              </a:ext>
            </a:extLst>
          </p:cNvPr>
          <p:cNvSpPr>
            <a:spLocks noChangeArrowheads="1"/>
          </p:cNvSpPr>
          <p:nvPr/>
        </p:nvSpPr>
        <p:spPr bwMode="auto">
          <a:xfrm>
            <a:off x="397700" y="2398007"/>
            <a:ext cx="18161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等效电容</a:t>
            </a:r>
            <a:r>
              <a:rPr kumimoji="0" lang="en-US" altLang="zh-CN" sz="22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C</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为</a:t>
            </a:r>
          </a:p>
        </p:txBody>
      </p:sp>
      <p:grpSp>
        <p:nvGrpSpPr>
          <p:cNvPr id="6" name="Group 5">
            <a:extLst>
              <a:ext uri="{FF2B5EF4-FFF2-40B4-BE49-F238E27FC236}">
                <a16:creationId xmlns:a16="http://schemas.microsoft.com/office/drawing/2014/main" id="{09E69F0F-50FE-4FDB-BD92-D9CB7E6D1845}"/>
              </a:ext>
            </a:extLst>
          </p:cNvPr>
          <p:cNvGrpSpPr/>
          <p:nvPr/>
        </p:nvGrpSpPr>
        <p:grpSpPr>
          <a:xfrm>
            <a:off x="-139" y="3266774"/>
            <a:ext cx="8703146" cy="2930992"/>
            <a:chOff x="-139" y="3266774"/>
            <a:chExt cx="8703146" cy="2930992"/>
          </a:xfrm>
        </p:grpSpPr>
        <p:sp>
          <p:nvSpPr>
            <p:cNvPr id="27" name="Rectangle 10">
              <a:extLst>
                <a:ext uri="{FF2B5EF4-FFF2-40B4-BE49-F238E27FC236}">
                  <a16:creationId xmlns:a16="http://schemas.microsoft.com/office/drawing/2014/main" id="{1853965A-5FE5-4AC7-82C6-B89BB636FA84}"/>
                </a:ext>
              </a:extLst>
            </p:cNvPr>
            <p:cNvSpPr>
              <a:spLocks noChangeArrowheads="1"/>
            </p:cNvSpPr>
            <p:nvPr/>
          </p:nvSpPr>
          <p:spPr bwMode="auto">
            <a:xfrm>
              <a:off x="-139" y="3266774"/>
              <a:ext cx="8703146"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1"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如果压电元件受到</a:t>
              </a:r>
              <a:r>
                <a:rPr kumimoji="1" lang="zh-CN" altLang="en-US" sz="2200" b="1" i="0" u="none" strike="noStrike" kern="0" cap="none" spc="0" normalizeH="0" baseline="0" noProof="0">
                  <a:ln>
                    <a:noFill/>
                  </a:ln>
                  <a:solidFill>
                    <a:srgbClr val="FF0000"/>
                  </a:solidFill>
                  <a:effectLst/>
                  <a:uLnTx/>
                  <a:uFillTx/>
                  <a:latin typeface="Arial" panose="020B0604020202020204" pitchFamily="34" charset="0"/>
                  <a:ea typeface="宋体" panose="02010600030101010101" pitchFamily="2" charset="-122"/>
                </a:rPr>
                <a:t>交变正弦力</a:t>
              </a: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的作用，则所产生的电荷及</a:t>
              </a:r>
              <a:r>
                <a:rPr kumimoji="1" lang="zh-CN" altLang="en-US" sz="2200" b="1" kern="0">
                  <a:solidFill>
                    <a:srgbClr val="000099"/>
                  </a:solidFill>
                </a:rPr>
                <a:t>电压</a:t>
              </a: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均按正弦规律变化，即，</a:t>
              </a:r>
              <a:r>
                <a:rPr kumimoji="1"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p>
          </p:txBody>
        </p:sp>
        <p:graphicFrame>
          <p:nvGraphicFramePr>
            <p:cNvPr id="30" name="Object 12">
              <a:extLst>
                <a:ext uri="{FF2B5EF4-FFF2-40B4-BE49-F238E27FC236}">
                  <a16:creationId xmlns:a16="http://schemas.microsoft.com/office/drawing/2014/main" id="{CA8E7F0E-30EE-4413-977D-045D56F958A3}"/>
                </a:ext>
              </a:extLst>
            </p:cNvPr>
            <p:cNvGraphicFramePr>
              <a:graphicFrameLocks noChangeAspect="1"/>
            </p:cNvGraphicFramePr>
            <p:nvPr>
              <p:extLst>
                <p:ext uri="{D42A27DB-BD31-4B8C-83A1-F6EECF244321}">
                  <p14:modId xmlns:p14="http://schemas.microsoft.com/office/powerpoint/2010/main" val="921512000"/>
                </p:ext>
              </p:extLst>
            </p:nvPr>
          </p:nvGraphicFramePr>
          <p:xfrm>
            <a:off x="905529" y="4396361"/>
            <a:ext cx="1428750" cy="546100"/>
          </p:xfrm>
          <a:graphic>
            <a:graphicData uri="http://schemas.openxmlformats.org/presentationml/2006/ole">
              <mc:AlternateContent xmlns:mc="http://schemas.openxmlformats.org/markup-compatibility/2006">
                <mc:Choice xmlns:v="urn:schemas-microsoft-com:vml" Requires="v">
                  <p:oleObj name="公式" r:id="rId7" imgW="596880" imgH="228600" progId="Equation.3">
                    <p:embed/>
                  </p:oleObj>
                </mc:Choice>
                <mc:Fallback>
                  <p:oleObj name="公式" r:id="rId7" imgW="596880" imgH="228600" progId="Equation.3">
                    <p:embed/>
                    <p:pic>
                      <p:nvPicPr>
                        <p:cNvPr id="265228" name="Object 12">
                          <a:extLst>
                            <a:ext uri="{FF2B5EF4-FFF2-40B4-BE49-F238E27FC236}">
                              <a16:creationId xmlns:a16="http://schemas.microsoft.com/office/drawing/2014/main" id="{D3BC13C3-98CC-4DC9-88FC-2672D11264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5529" y="4396361"/>
                          <a:ext cx="142875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15">
              <a:extLst>
                <a:ext uri="{FF2B5EF4-FFF2-40B4-BE49-F238E27FC236}">
                  <a16:creationId xmlns:a16="http://schemas.microsoft.com/office/drawing/2014/main" id="{B353ADBB-90C5-4FDB-A7FF-6BCE60E3AB2C}"/>
                </a:ext>
              </a:extLst>
            </p:cNvPr>
            <p:cNvGraphicFramePr>
              <a:graphicFrameLocks noChangeAspect="1"/>
            </p:cNvGraphicFramePr>
            <p:nvPr>
              <p:extLst>
                <p:ext uri="{D42A27DB-BD31-4B8C-83A1-F6EECF244321}">
                  <p14:modId xmlns:p14="http://schemas.microsoft.com/office/powerpoint/2010/main" val="3691297957"/>
                </p:ext>
              </p:extLst>
            </p:nvPr>
          </p:nvGraphicFramePr>
          <p:xfrm>
            <a:off x="3043900" y="4278645"/>
            <a:ext cx="5235575" cy="819150"/>
          </p:xfrm>
          <a:graphic>
            <a:graphicData uri="http://schemas.openxmlformats.org/presentationml/2006/ole">
              <mc:AlternateContent xmlns:mc="http://schemas.openxmlformats.org/markup-compatibility/2006">
                <mc:Choice xmlns:v="urn:schemas-microsoft-com:vml" Requires="v">
                  <p:oleObj name="公式" r:id="rId9" imgW="2514600" imgH="393480" progId="Equation.3">
                    <p:embed/>
                  </p:oleObj>
                </mc:Choice>
                <mc:Fallback>
                  <p:oleObj name="公式" r:id="rId9" imgW="2514600" imgH="393480" progId="Equation.3">
                    <p:embed/>
                    <p:pic>
                      <p:nvPicPr>
                        <p:cNvPr id="265231" name="Object 15">
                          <a:extLst>
                            <a:ext uri="{FF2B5EF4-FFF2-40B4-BE49-F238E27FC236}">
                              <a16:creationId xmlns:a16="http://schemas.microsoft.com/office/drawing/2014/main" id="{930463BE-8C8E-4D18-B4C0-ECE4BC4934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3900" y="4278645"/>
                          <a:ext cx="5235575"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17">
              <a:extLst>
                <a:ext uri="{FF2B5EF4-FFF2-40B4-BE49-F238E27FC236}">
                  <a16:creationId xmlns:a16="http://schemas.microsoft.com/office/drawing/2014/main" id="{D0E0E6E5-16E8-4961-AC3C-C8C16B74867A}"/>
                </a:ext>
              </a:extLst>
            </p:cNvPr>
            <p:cNvGraphicFramePr>
              <a:graphicFrameLocks noChangeAspect="1"/>
            </p:cNvGraphicFramePr>
            <p:nvPr>
              <p:extLst>
                <p:ext uri="{D42A27DB-BD31-4B8C-83A1-F6EECF244321}">
                  <p14:modId xmlns:p14="http://schemas.microsoft.com/office/powerpoint/2010/main" val="3906347381"/>
                </p:ext>
              </p:extLst>
            </p:nvPr>
          </p:nvGraphicFramePr>
          <p:xfrm>
            <a:off x="2272011" y="5256379"/>
            <a:ext cx="2808288" cy="941387"/>
          </p:xfrm>
          <a:graphic>
            <a:graphicData uri="http://schemas.openxmlformats.org/presentationml/2006/ole">
              <mc:AlternateContent xmlns:mc="http://schemas.openxmlformats.org/markup-compatibility/2006">
                <mc:Choice xmlns:v="urn:schemas-microsoft-com:vml" Requires="v">
                  <p:oleObj name="公式" r:id="rId11" imgW="1244520" imgH="419040" progId="Equation.3">
                    <p:embed/>
                  </p:oleObj>
                </mc:Choice>
                <mc:Fallback>
                  <p:oleObj name="公式" r:id="rId11" imgW="1244520" imgH="419040" progId="Equation.3">
                    <p:embed/>
                    <p:pic>
                      <p:nvPicPr>
                        <p:cNvPr id="265233" name="Object 17">
                          <a:extLst>
                            <a:ext uri="{FF2B5EF4-FFF2-40B4-BE49-F238E27FC236}">
                              <a16:creationId xmlns:a16="http://schemas.microsoft.com/office/drawing/2014/main" id="{9B3351C7-CAAB-49D9-9422-E4D3A6CA683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72011" y="5256379"/>
                          <a:ext cx="2808288" cy="941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Text Box 18">
              <a:extLst>
                <a:ext uri="{FF2B5EF4-FFF2-40B4-BE49-F238E27FC236}">
                  <a16:creationId xmlns:a16="http://schemas.microsoft.com/office/drawing/2014/main" id="{EFD2ADB6-85EA-434F-82E3-F76BD5E93283}"/>
                </a:ext>
              </a:extLst>
            </p:cNvPr>
            <p:cNvSpPr txBox="1">
              <a:spLocks noChangeArrowheads="1"/>
            </p:cNvSpPr>
            <p:nvPr/>
          </p:nvSpPr>
          <p:spPr bwMode="auto">
            <a:xfrm>
              <a:off x="371114" y="5465646"/>
              <a:ext cx="1589087"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复数形式为</a:t>
              </a:r>
            </a:p>
          </p:txBody>
        </p:sp>
        <p:graphicFrame>
          <p:nvGraphicFramePr>
            <p:cNvPr id="4" name="Object 3">
              <a:extLst>
                <a:ext uri="{FF2B5EF4-FFF2-40B4-BE49-F238E27FC236}">
                  <a16:creationId xmlns:a16="http://schemas.microsoft.com/office/drawing/2014/main" id="{9583F4BA-7444-4358-8E8D-43F3E1D903F2}"/>
                </a:ext>
              </a:extLst>
            </p:cNvPr>
            <p:cNvGraphicFramePr>
              <a:graphicFrameLocks noChangeAspect="1"/>
            </p:cNvGraphicFramePr>
            <p:nvPr>
              <p:extLst>
                <p:ext uri="{D42A27DB-BD31-4B8C-83A1-F6EECF244321}">
                  <p14:modId xmlns:p14="http://schemas.microsoft.com/office/powerpoint/2010/main" val="2041146551"/>
                </p:ext>
              </p:extLst>
            </p:nvPr>
          </p:nvGraphicFramePr>
          <p:xfrm>
            <a:off x="4140858" y="3328265"/>
            <a:ext cx="1800225" cy="476250"/>
          </p:xfrm>
          <a:graphic>
            <a:graphicData uri="http://schemas.openxmlformats.org/presentationml/2006/ole">
              <mc:AlternateContent xmlns:mc="http://schemas.openxmlformats.org/markup-compatibility/2006">
                <mc:Choice xmlns:v="urn:schemas-microsoft-com:vml" Requires="v">
                  <p:oleObj name="Equation" r:id="rId13" imgW="1800134" imgH="477017" progId="Equation.DSMT4">
                    <p:embed/>
                  </p:oleObj>
                </mc:Choice>
                <mc:Fallback>
                  <p:oleObj name="Equation" r:id="rId13" imgW="1800134" imgH="477017" progId="Equation.DSMT4">
                    <p:embed/>
                    <p:pic>
                      <p:nvPicPr>
                        <p:cNvPr id="0" name=""/>
                        <p:cNvPicPr/>
                        <p:nvPr/>
                      </p:nvPicPr>
                      <p:blipFill>
                        <a:blip r:embed="rId14"/>
                        <a:stretch>
                          <a:fillRect/>
                        </a:stretch>
                      </p:blipFill>
                      <p:spPr>
                        <a:xfrm>
                          <a:off x="4140858" y="3328265"/>
                          <a:ext cx="1800225" cy="476250"/>
                        </a:xfrm>
                        <a:prstGeom prst="rect">
                          <a:avLst/>
                        </a:prstGeom>
                      </p:spPr>
                    </p:pic>
                  </p:oleObj>
                </mc:Fallback>
              </mc:AlternateContent>
            </a:graphicData>
          </a:graphic>
        </p:graphicFrame>
      </p:grpSp>
      <p:pic>
        <p:nvPicPr>
          <p:cNvPr id="5" name="Picture 4">
            <a:extLst>
              <a:ext uri="{FF2B5EF4-FFF2-40B4-BE49-F238E27FC236}">
                <a16:creationId xmlns:a16="http://schemas.microsoft.com/office/drawing/2014/main" id="{7DD3551E-0D6B-4A35-B403-C6D45EE2C4F6}"/>
              </a:ext>
            </a:extLst>
          </p:cNvPr>
          <p:cNvPicPr>
            <a:picLocks noChangeAspect="1"/>
          </p:cNvPicPr>
          <p:nvPr/>
        </p:nvPicPr>
        <p:blipFill>
          <a:blip r:embed="rId15"/>
          <a:stretch>
            <a:fillRect/>
          </a:stretch>
        </p:blipFill>
        <p:spPr>
          <a:xfrm>
            <a:off x="5393641" y="61441"/>
            <a:ext cx="3662035" cy="1559004"/>
          </a:xfrm>
          <a:prstGeom prst="rect">
            <a:avLst/>
          </a:prstGeom>
        </p:spPr>
      </p:pic>
      <p:pic>
        <p:nvPicPr>
          <p:cNvPr id="36" name="Picture 40">
            <a:extLst>
              <a:ext uri="{FF2B5EF4-FFF2-40B4-BE49-F238E27FC236}">
                <a16:creationId xmlns:a16="http://schemas.microsoft.com/office/drawing/2014/main" id="{78E157BC-49CA-4303-9547-44F08C8CB1FD}"/>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57338" b="18019"/>
          <a:stretch/>
        </p:blipFill>
        <p:spPr bwMode="auto">
          <a:xfrm>
            <a:off x="6323284" y="1609783"/>
            <a:ext cx="2794391" cy="1567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6232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6.4.1</a:t>
            </a:r>
          </a:p>
        </p:txBody>
      </p:sp>
      <p:sp>
        <p:nvSpPr>
          <p:cNvPr id="29" name="矩形 28"/>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电压放大器</a:t>
            </a:r>
          </a:p>
        </p:txBody>
      </p:sp>
      <p:sp>
        <p:nvSpPr>
          <p:cNvPr id="3" name="Slide Number Placeholder 2">
            <a:extLst>
              <a:ext uri="{FF2B5EF4-FFF2-40B4-BE49-F238E27FC236}">
                <a16:creationId xmlns:a16="http://schemas.microsoft.com/office/drawing/2014/main" id="{7AB7BA79-C2FA-4C88-8BAA-E8A1753300BD}"/>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pic>
        <p:nvPicPr>
          <p:cNvPr id="6" name="Picture 40">
            <a:extLst>
              <a:ext uri="{FF2B5EF4-FFF2-40B4-BE49-F238E27FC236}">
                <a16:creationId xmlns:a16="http://schemas.microsoft.com/office/drawing/2014/main" id="{93CC06FF-D405-4B6D-B217-5AF0F7C843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338" b="18019"/>
          <a:stretch/>
        </p:blipFill>
        <p:spPr bwMode="auto">
          <a:xfrm>
            <a:off x="5671738" y="107884"/>
            <a:ext cx="3472262" cy="194798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BB4BBBCF-13A9-41F5-BE9F-F808C38CA2F2}"/>
              </a:ext>
            </a:extLst>
          </p:cNvPr>
          <p:cNvSpPr txBox="1">
            <a:spLocks noRot="1" noChangeArrowheads="1"/>
          </p:cNvSpPr>
          <p:nvPr/>
        </p:nvSpPr>
        <p:spPr bwMode="auto">
          <a:xfrm>
            <a:off x="387079" y="1176793"/>
            <a:ext cx="4890407" cy="56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30000"/>
              </a:lnSpc>
              <a:spcBef>
                <a:spcPts val="600"/>
              </a:spcBef>
              <a:spcAft>
                <a:spcPct val="0"/>
              </a:spcAft>
              <a:buClr>
                <a:srgbClr val="FF0000"/>
              </a:buClr>
              <a:buSzTx/>
              <a:buNone/>
              <a:tabLst/>
              <a:defRPr/>
            </a:pPr>
            <a:r>
              <a:rPr kumimoji="0" lang="zh-CN" altLang="en-US" sz="2200" b="1" i="0" u="none" strike="noStrike" kern="1200" cap="none" spc="0" normalizeH="0" baseline="0" noProof="0">
                <a:ln>
                  <a:noFill/>
                </a:ln>
                <a:solidFill>
                  <a:srgbClr val="000099"/>
                </a:solidFill>
                <a:effectLst/>
                <a:uLnTx/>
                <a:uFillTx/>
                <a:latin typeface="Arial"/>
                <a:ea typeface="宋体"/>
                <a:cs typeface="+mn-cs"/>
              </a:rPr>
              <a:t>电压 </a:t>
            </a: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U</a:t>
            </a:r>
            <a:r>
              <a:rPr kumimoji="0" lang="en-US" altLang="zh-CN" sz="2200" b="1" i="0" u="none" strike="noStrike" kern="1200" cap="none" spc="0" normalizeH="0" baseline="-25000" noProof="0">
                <a:ln>
                  <a:noFill/>
                </a:ln>
                <a:solidFill>
                  <a:srgbClr val="000099"/>
                </a:solidFill>
                <a:effectLst/>
                <a:uLnTx/>
                <a:uFillTx/>
                <a:latin typeface="Times New Roman" panose="02020603050405020304" pitchFamily="18" charset="0"/>
                <a:ea typeface="宋体"/>
                <a:cs typeface="+mn-cs"/>
              </a:rPr>
              <a:t>i </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的幅值以及它与作用力之间的相位差 </a:t>
            </a:r>
            <a:r>
              <a:rPr kumimoji="0" lang="zh-CN" altLang="en-US" sz="2200" b="1" i="1" u="none" strike="noStrike" kern="1200" cap="none" spc="0" normalizeH="0" baseline="0" noProof="0">
                <a:ln>
                  <a:noFill/>
                </a:ln>
                <a:solidFill>
                  <a:srgbClr val="000099"/>
                </a:solidFill>
                <a:effectLst/>
                <a:uLnTx/>
                <a:uFillTx/>
                <a:latin typeface="Symbol" panose="05050102010706020507" pitchFamily="18" charset="2"/>
                <a:ea typeface="宋体"/>
                <a:cs typeface="+mn-cs"/>
                <a:sym typeface="Symbol" panose="05050102010706020507" pitchFamily="18" charset="2"/>
              </a:rPr>
              <a:t> </a:t>
            </a:r>
            <a:r>
              <a:rPr kumimoji="0" lang="zh-CN" altLang="en-US" sz="2200" b="1" i="0" u="none" strike="noStrike" kern="1200" cap="none" spc="0" normalizeH="0" baseline="0" noProof="0">
                <a:ln>
                  <a:noFill/>
                </a:ln>
                <a:solidFill>
                  <a:srgbClr val="000099"/>
                </a:solidFill>
                <a:effectLst/>
                <a:uLnTx/>
                <a:uFillTx/>
                <a:latin typeface="Symbol" panose="05050102010706020507" pitchFamily="18" charset="2"/>
                <a:ea typeface="宋体"/>
                <a:cs typeface="+mn-cs"/>
                <a:sym typeface="Symbol" panose="05050102010706020507" pitchFamily="18" charset="2"/>
              </a:rPr>
              <a:t>可表示为</a:t>
            </a:r>
            <a:endParaRPr kumimoji="0" lang="zh-CN" altLang="en-US" sz="1800" b="0" i="0" u="none" strike="noStrike" kern="1200" cap="none" spc="0" normalizeH="0" baseline="0" noProof="0">
              <a:ln>
                <a:noFill/>
              </a:ln>
              <a:solidFill>
                <a:srgbClr val="000099"/>
              </a:solidFill>
              <a:effectLst/>
              <a:uLnTx/>
              <a:uFillTx/>
              <a:latin typeface="Symbol" panose="05050102010706020507" pitchFamily="18" charset="2"/>
              <a:ea typeface="宋体"/>
              <a:cs typeface="+mn-cs"/>
              <a:sym typeface="Symbol" panose="05050102010706020507" pitchFamily="18" charset="2"/>
            </a:endParaRPr>
          </a:p>
        </p:txBody>
      </p:sp>
      <p:graphicFrame>
        <p:nvGraphicFramePr>
          <p:cNvPr id="8" name="Object 4">
            <a:extLst>
              <a:ext uri="{FF2B5EF4-FFF2-40B4-BE49-F238E27FC236}">
                <a16:creationId xmlns:a16="http://schemas.microsoft.com/office/drawing/2014/main" id="{7B573A13-9232-446C-BD21-543CF37E0A86}"/>
              </a:ext>
            </a:extLst>
          </p:cNvPr>
          <p:cNvGraphicFramePr>
            <a:graphicFrameLocks noChangeAspect="1"/>
          </p:cNvGraphicFramePr>
          <p:nvPr>
            <p:extLst>
              <p:ext uri="{D42A27DB-BD31-4B8C-83A1-F6EECF244321}">
                <p14:modId xmlns:p14="http://schemas.microsoft.com/office/powerpoint/2010/main" val="1949908688"/>
              </p:ext>
            </p:extLst>
          </p:nvPr>
        </p:nvGraphicFramePr>
        <p:xfrm>
          <a:off x="527930" y="2316956"/>
          <a:ext cx="2087562" cy="812800"/>
        </p:xfrm>
        <a:graphic>
          <a:graphicData uri="http://schemas.openxmlformats.org/presentationml/2006/ole">
            <mc:AlternateContent xmlns:mc="http://schemas.openxmlformats.org/markup-compatibility/2006">
              <mc:Choice xmlns:v="urn:schemas-microsoft-com:vml" Requires="v">
                <p:oleObj name="公式" r:id="rId4" imgW="1206360" imgH="469800" progId="Equation.3">
                  <p:embed/>
                </p:oleObj>
              </mc:Choice>
              <mc:Fallback>
                <p:oleObj name="公式" r:id="rId4" imgW="1206360" imgH="469800" progId="Equation.3">
                  <p:embed/>
                  <p:pic>
                    <p:nvPicPr>
                      <p:cNvPr id="268292" name="Object 4">
                        <a:extLst>
                          <a:ext uri="{FF2B5EF4-FFF2-40B4-BE49-F238E27FC236}">
                            <a16:creationId xmlns:a16="http://schemas.microsoft.com/office/drawing/2014/main" id="{CB9C9A37-F89C-473C-B879-46452F60D7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930" y="2316956"/>
                        <a:ext cx="2087562" cy="812800"/>
                      </a:xfrm>
                      <a:prstGeom prst="rect">
                        <a:avLst/>
                      </a:prstGeom>
                      <a:solidFill>
                        <a:schemeClr val="accent2">
                          <a:lumMod val="40000"/>
                          <a:lumOff val="60000"/>
                        </a:schemeClr>
                      </a:solidFill>
                      <a:ln>
                        <a:noFill/>
                      </a:ln>
                      <a:effectLst/>
                    </p:spPr>
                  </p:pic>
                </p:oleObj>
              </mc:Fallback>
            </mc:AlternateContent>
          </a:graphicData>
        </a:graphic>
      </p:graphicFrame>
      <p:graphicFrame>
        <p:nvGraphicFramePr>
          <p:cNvPr id="9" name="Object 7">
            <a:extLst>
              <a:ext uri="{FF2B5EF4-FFF2-40B4-BE49-F238E27FC236}">
                <a16:creationId xmlns:a16="http://schemas.microsoft.com/office/drawing/2014/main" id="{80BC6B3A-13C7-4A72-A71F-5BA554C8E304}"/>
              </a:ext>
            </a:extLst>
          </p:cNvPr>
          <p:cNvGraphicFramePr>
            <a:graphicFrameLocks noChangeAspect="1"/>
          </p:cNvGraphicFramePr>
          <p:nvPr>
            <p:extLst>
              <p:ext uri="{D42A27DB-BD31-4B8C-83A1-F6EECF244321}">
                <p14:modId xmlns:p14="http://schemas.microsoft.com/office/powerpoint/2010/main" val="2009224117"/>
              </p:ext>
            </p:extLst>
          </p:nvPr>
        </p:nvGraphicFramePr>
        <p:xfrm>
          <a:off x="3036764" y="2316956"/>
          <a:ext cx="2592387" cy="773112"/>
        </p:xfrm>
        <a:graphic>
          <a:graphicData uri="http://schemas.openxmlformats.org/presentationml/2006/ole">
            <mc:AlternateContent xmlns:mc="http://schemas.openxmlformats.org/markup-compatibility/2006">
              <mc:Choice xmlns:v="urn:schemas-microsoft-com:vml" Requires="v">
                <p:oleObj name="公式" r:id="rId6" imgW="1320480" imgH="393480" progId="Equation.3">
                  <p:embed/>
                </p:oleObj>
              </mc:Choice>
              <mc:Fallback>
                <p:oleObj name="公式" r:id="rId6" imgW="1320480" imgH="393480" progId="Equation.3">
                  <p:embed/>
                  <p:pic>
                    <p:nvPicPr>
                      <p:cNvPr id="268295" name="Object 7">
                        <a:extLst>
                          <a:ext uri="{FF2B5EF4-FFF2-40B4-BE49-F238E27FC236}">
                            <a16:creationId xmlns:a16="http://schemas.microsoft.com/office/drawing/2014/main" id="{25313CD5-A823-484E-891F-904AEEE400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6764" y="2316956"/>
                        <a:ext cx="2592387" cy="773112"/>
                      </a:xfrm>
                      <a:prstGeom prst="rect">
                        <a:avLst/>
                      </a:prstGeom>
                      <a:solidFill>
                        <a:schemeClr val="accent6">
                          <a:lumMod val="40000"/>
                          <a:lumOff val="60000"/>
                        </a:schemeClr>
                      </a:solidFill>
                      <a:ln>
                        <a:noFill/>
                      </a:ln>
                      <a:effectLst/>
                    </p:spPr>
                  </p:pic>
                </p:oleObj>
              </mc:Fallback>
            </mc:AlternateContent>
          </a:graphicData>
        </a:graphic>
      </p:graphicFrame>
      <p:grpSp>
        <p:nvGrpSpPr>
          <p:cNvPr id="5" name="Group 4">
            <a:extLst>
              <a:ext uri="{FF2B5EF4-FFF2-40B4-BE49-F238E27FC236}">
                <a16:creationId xmlns:a16="http://schemas.microsoft.com/office/drawing/2014/main" id="{09028801-7692-4044-9836-840BBBCD31BD}"/>
              </a:ext>
            </a:extLst>
          </p:cNvPr>
          <p:cNvGrpSpPr/>
          <p:nvPr/>
        </p:nvGrpSpPr>
        <p:grpSpPr>
          <a:xfrm>
            <a:off x="59820" y="3593646"/>
            <a:ext cx="8806543" cy="2360544"/>
            <a:chOff x="59820" y="3419475"/>
            <a:chExt cx="8806543" cy="2360544"/>
          </a:xfrm>
        </p:grpSpPr>
        <p:sp>
          <p:nvSpPr>
            <p:cNvPr id="10" name="Text Box 11">
              <a:extLst>
                <a:ext uri="{FF2B5EF4-FFF2-40B4-BE49-F238E27FC236}">
                  <a16:creationId xmlns:a16="http://schemas.microsoft.com/office/drawing/2014/main" id="{AC3ED49A-B7DC-42E4-87CA-9B960FE56056}"/>
                </a:ext>
              </a:extLst>
            </p:cNvPr>
            <p:cNvSpPr txBox="1">
              <a:spLocks noChangeArrowheads="1"/>
            </p:cNvSpPr>
            <p:nvPr/>
          </p:nvSpPr>
          <p:spPr bwMode="auto">
            <a:xfrm>
              <a:off x="59820" y="3419475"/>
              <a:ext cx="8806543"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r>
                <a:rPr kumimoji="0" lang="zh-CN" altLang="en-US" sz="2200" b="1" i="0" u="none" strike="noStrike" kern="0" cap="none" spc="0" normalizeH="0" baseline="0" noProof="0">
                  <a:ln>
                    <a:noFill/>
                  </a:ln>
                  <a:solidFill>
                    <a:srgbClr val="CC3300"/>
                  </a:solidFill>
                  <a:effectLst/>
                  <a:uLnTx/>
                  <a:uFillTx/>
                  <a:latin typeface="Arial" panose="020B0604020202020204" pitchFamily="34" charset="0"/>
                  <a:ea typeface="宋体" panose="02010600030101010101" pitchFamily="2" charset="-122"/>
                </a:rPr>
                <a:t>理想情况</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下，传感器的绝缘电阻</a:t>
              </a:r>
              <a:r>
                <a:rPr kumimoji="0" lang="en-US" altLang="zh-CN" sz="22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R</a:t>
              </a:r>
              <a:r>
                <a:rPr kumimoji="0" lang="en-US" altLang="zh-CN" sz="22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a</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和前置放大器的输入电阻</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R</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i</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都为</a:t>
              </a:r>
              <a:r>
                <a:rPr kumimoji="0" lang="zh-CN" altLang="en-US" sz="2200" b="1" i="0" u="none" strike="noStrike" kern="0" cap="none" spc="0" normalizeH="0" baseline="0" noProof="0">
                  <a:ln>
                    <a:noFill/>
                  </a:ln>
                  <a:solidFill>
                    <a:srgbClr val="00B0F0"/>
                  </a:solidFill>
                  <a:effectLst/>
                  <a:uLnTx/>
                  <a:uFillTx/>
                  <a:latin typeface="Arial" panose="020B0604020202020204" pitchFamily="34" charset="0"/>
                  <a:ea typeface="宋体" panose="02010600030101010101" pitchFamily="2" charset="-122"/>
                </a:rPr>
                <a:t>无限大</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，也就是电荷没有泄漏；或当  </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ω</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R</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a</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i</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&gt;&gt;1</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时，前置放大器输入电压</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即传感器的开路电压</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幅值</a:t>
              </a:r>
            </a:p>
          </p:txBody>
        </p:sp>
        <p:graphicFrame>
          <p:nvGraphicFramePr>
            <p:cNvPr id="11" name="Object 14">
              <a:extLst>
                <a:ext uri="{FF2B5EF4-FFF2-40B4-BE49-F238E27FC236}">
                  <a16:creationId xmlns:a16="http://schemas.microsoft.com/office/drawing/2014/main" id="{F8C3F4A6-5513-4612-896C-D29187E0F712}"/>
                </a:ext>
              </a:extLst>
            </p:cNvPr>
            <p:cNvGraphicFramePr>
              <a:graphicFrameLocks noChangeAspect="1"/>
            </p:cNvGraphicFramePr>
            <p:nvPr>
              <p:extLst>
                <p:ext uri="{D42A27DB-BD31-4B8C-83A1-F6EECF244321}">
                  <p14:modId xmlns:p14="http://schemas.microsoft.com/office/powerpoint/2010/main" val="2081856656"/>
                </p:ext>
              </p:extLst>
            </p:nvPr>
          </p:nvGraphicFramePr>
          <p:xfrm>
            <a:off x="1235921" y="4867955"/>
            <a:ext cx="1767124" cy="912064"/>
          </p:xfrm>
          <a:graphic>
            <a:graphicData uri="http://schemas.openxmlformats.org/presentationml/2006/ole">
              <mc:AlternateContent xmlns:mc="http://schemas.openxmlformats.org/markup-compatibility/2006">
                <mc:Choice xmlns:v="urn:schemas-microsoft-com:vml" Requires="v">
                  <p:oleObj name="公式" r:id="rId8" imgW="761760" imgH="393480" progId="Equation.3">
                    <p:embed/>
                  </p:oleObj>
                </mc:Choice>
                <mc:Fallback>
                  <p:oleObj name="公式" r:id="rId8" imgW="761760" imgH="393480" progId="Equation.3">
                    <p:embed/>
                    <p:pic>
                      <p:nvPicPr>
                        <p:cNvPr id="268302" name="Object 14">
                          <a:extLst>
                            <a:ext uri="{FF2B5EF4-FFF2-40B4-BE49-F238E27FC236}">
                              <a16:creationId xmlns:a16="http://schemas.microsoft.com/office/drawing/2014/main" id="{84A540D2-BC92-4930-959A-5E958B94095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35921" y="4867955"/>
                          <a:ext cx="1767124" cy="912064"/>
                        </a:xfrm>
                        <a:prstGeom prst="rect">
                          <a:avLst/>
                        </a:prstGeom>
                        <a:solidFill>
                          <a:schemeClr val="accent2">
                            <a:lumMod val="40000"/>
                            <a:lumOff val="60000"/>
                          </a:schemeClr>
                        </a:solidFill>
                      </p:spPr>
                    </p:pic>
                  </p:oleObj>
                </mc:Fallback>
              </mc:AlternateContent>
            </a:graphicData>
          </a:graphic>
        </p:graphicFrame>
        <p:graphicFrame>
          <p:nvGraphicFramePr>
            <p:cNvPr id="12" name="Object 16">
              <a:extLst>
                <a:ext uri="{FF2B5EF4-FFF2-40B4-BE49-F238E27FC236}">
                  <a16:creationId xmlns:a16="http://schemas.microsoft.com/office/drawing/2014/main" id="{6E4AE58B-7CFD-4A2F-9EC1-295057F8D59A}"/>
                </a:ext>
              </a:extLst>
            </p:cNvPr>
            <p:cNvGraphicFramePr>
              <a:graphicFrameLocks noChangeAspect="1"/>
            </p:cNvGraphicFramePr>
            <p:nvPr>
              <p:extLst>
                <p:ext uri="{D42A27DB-BD31-4B8C-83A1-F6EECF244321}">
                  <p14:modId xmlns:p14="http://schemas.microsoft.com/office/powerpoint/2010/main" val="1244426085"/>
                </p:ext>
              </p:extLst>
            </p:nvPr>
          </p:nvGraphicFramePr>
          <p:xfrm>
            <a:off x="3644232" y="4867955"/>
            <a:ext cx="3327899" cy="912063"/>
          </p:xfrm>
          <a:graphic>
            <a:graphicData uri="http://schemas.openxmlformats.org/presentationml/2006/ole">
              <mc:AlternateContent xmlns:mc="http://schemas.openxmlformats.org/markup-compatibility/2006">
                <mc:Choice xmlns:v="urn:schemas-microsoft-com:vml" Requires="v">
                  <p:oleObj name="公式" r:id="rId10" imgW="1714320" imgH="469800" progId="Equation.3">
                    <p:embed/>
                  </p:oleObj>
                </mc:Choice>
                <mc:Fallback>
                  <p:oleObj name="公式" r:id="rId10" imgW="1714320" imgH="469800" progId="Equation.3">
                    <p:embed/>
                    <p:pic>
                      <p:nvPicPr>
                        <p:cNvPr id="268304" name="Object 16">
                          <a:extLst>
                            <a:ext uri="{FF2B5EF4-FFF2-40B4-BE49-F238E27FC236}">
                              <a16:creationId xmlns:a16="http://schemas.microsoft.com/office/drawing/2014/main" id="{FC07C630-3458-41AD-8E99-EC55EF2B9C1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44232" y="4867955"/>
                          <a:ext cx="3327899" cy="912063"/>
                        </a:xfrm>
                        <a:prstGeom prst="rect">
                          <a:avLst/>
                        </a:prstGeom>
                        <a:solidFill>
                          <a:schemeClr val="accent4">
                            <a:lumMod val="40000"/>
                            <a:lumOff val="60000"/>
                          </a:schemeClr>
                        </a:solidFill>
                      </p:spPr>
                    </p:pic>
                  </p:oleObj>
                </mc:Fallback>
              </mc:AlternateContent>
            </a:graphicData>
          </a:graphic>
        </p:graphicFrame>
      </p:grpSp>
      <p:graphicFrame>
        <p:nvGraphicFramePr>
          <p:cNvPr id="2" name="Object 1">
            <a:extLst>
              <a:ext uri="{FF2B5EF4-FFF2-40B4-BE49-F238E27FC236}">
                <a16:creationId xmlns:a16="http://schemas.microsoft.com/office/drawing/2014/main" id="{A002503F-B5A3-4F83-AD3A-2D9CE2532404}"/>
              </a:ext>
            </a:extLst>
          </p:cNvPr>
          <p:cNvGraphicFramePr>
            <a:graphicFrameLocks noChangeAspect="1"/>
          </p:cNvGraphicFramePr>
          <p:nvPr>
            <p:extLst>
              <p:ext uri="{D42A27DB-BD31-4B8C-83A1-F6EECF244321}">
                <p14:modId xmlns:p14="http://schemas.microsoft.com/office/powerpoint/2010/main" val="2506702154"/>
              </p:ext>
            </p:extLst>
          </p:nvPr>
        </p:nvGraphicFramePr>
        <p:xfrm>
          <a:off x="6140956" y="2506803"/>
          <a:ext cx="2748714" cy="921417"/>
        </p:xfrm>
        <a:graphic>
          <a:graphicData uri="http://schemas.openxmlformats.org/presentationml/2006/ole">
            <mc:AlternateContent xmlns:mc="http://schemas.openxmlformats.org/markup-compatibility/2006">
              <mc:Choice xmlns:v="urn:schemas-microsoft-com:vml" Requires="v">
                <p:oleObj name="Equation" r:id="rId12" imgW="2808930" imgH="941794" progId="Equation.DSMT4">
                  <p:embed/>
                </p:oleObj>
              </mc:Choice>
              <mc:Fallback>
                <p:oleObj name="Equation" r:id="rId12" imgW="2808930" imgH="941794" progId="Equation.DSMT4">
                  <p:embed/>
                  <p:pic>
                    <p:nvPicPr>
                      <p:cNvPr id="0" name=""/>
                      <p:cNvPicPr/>
                      <p:nvPr/>
                    </p:nvPicPr>
                    <p:blipFill>
                      <a:blip r:embed="rId13"/>
                      <a:stretch>
                        <a:fillRect/>
                      </a:stretch>
                    </p:blipFill>
                    <p:spPr>
                      <a:xfrm>
                        <a:off x="6140956" y="2506803"/>
                        <a:ext cx="2748714" cy="921417"/>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5024F5BE-BC76-43CC-9377-97DF7CAF6AB1}"/>
              </a:ext>
            </a:extLst>
          </p:cNvPr>
          <p:cNvGraphicFramePr>
            <a:graphicFrameLocks noChangeAspect="1"/>
          </p:cNvGraphicFramePr>
          <p:nvPr>
            <p:extLst>
              <p:ext uri="{D42A27DB-BD31-4B8C-83A1-F6EECF244321}">
                <p14:modId xmlns:p14="http://schemas.microsoft.com/office/powerpoint/2010/main" val="1640515330"/>
              </p:ext>
            </p:extLst>
          </p:nvPr>
        </p:nvGraphicFramePr>
        <p:xfrm>
          <a:off x="6140956" y="2103361"/>
          <a:ext cx="1805615" cy="456592"/>
        </p:xfrm>
        <a:graphic>
          <a:graphicData uri="http://schemas.openxmlformats.org/presentationml/2006/ole">
            <mc:AlternateContent xmlns:mc="http://schemas.openxmlformats.org/markup-compatibility/2006">
              <mc:Choice xmlns:v="urn:schemas-microsoft-com:vml" Requires="v">
                <p:oleObj name="Equation" r:id="rId14" imgW="1104840" imgH="279360" progId="Equation.DSMT4">
                  <p:embed/>
                </p:oleObj>
              </mc:Choice>
              <mc:Fallback>
                <p:oleObj name="Equation" r:id="rId14" imgW="1104840" imgH="279360" progId="Equation.DSMT4">
                  <p:embed/>
                  <p:pic>
                    <p:nvPicPr>
                      <p:cNvPr id="0" name=""/>
                      <p:cNvPicPr/>
                      <p:nvPr/>
                    </p:nvPicPr>
                    <p:blipFill>
                      <a:blip r:embed="rId15"/>
                      <a:stretch>
                        <a:fillRect/>
                      </a:stretch>
                    </p:blipFill>
                    <p:spPr>
                      <a:xfrm>
                        <a:off x="6140956" y="2103361"/>
                        <a:ext cx="1805615" cy="456592"/>
                      </a:xfrm>
                      <a:prstGeom prst="rect">
                        <a:avLst/>
                      </a:prstGeom>
                    </p:spPr>
                  </p:pic>
                </p:oleObj>
              </mc:Fallback>
            </mc:AlternateContent>
          </a:graphicData>
        </a:graphic>
      </p:graphicFrame>
    </p:spTree>
    <p:extLst>
      <p:ext uri="{BB962C8B-B14F-4D97-AF65-F5344CB8AC3E}">
        <p14:creationId xmlns:p14="http://schemas.microsoft.com/office/powerpoint/2010/main" val="42659642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6.4.1</a:t>
            </a:r>
          </a:p>
        </p:txBody>
      </p:sp>
      <p:sp>
        <p:nvSpPr>
          <p:cNvPr id="29" name="矩形 28"/>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电压放大器</a:t>
            </a:r>
          </a:p>
        </p:txBody>
      </p:sp>
      <p:sp>
        <p:nvSpPr>
          <p:cNvPr id="3" name="Slide Number Placeholder 2">
            <a:extLst>
              <a:ext uri="{FF2B5EF4-FFF2-40B4-BE49-F238E27FC236}">
                <a16:creationId xmlns:a16="http://schemas.microsoft.com/office/drawing/2014/main" id="{7AB7BA79-C2FA-4C88-8BAA-E8A1753300BD}"/>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sp>
        <p:nvSpPr>
          <p:cNvPr id="6" name="Rectangle 3">
            <a:extLst>
              <a:ext uri="{FF2B5EF4-FFF2-40B4-BE49-F238E27FC236}">
                <a16:creationId xmlns:a16="http://schemas.microsoft.com/office/drawing/2014/main" id="{FB77AC1C-09C5-4694-AEA9-C5AEDE6F6697}"/>
              </a:ext>
            </a:extLst>
          </p:cNvPr>
          <p:cNvSpPr txBox="1">
            <a:spLocks noRot="1" noChangeArrowheads="1"/>
          </p:cNvSpPr>
          <p:nvPr/>
        </p:nvSpPr>
        <p:spPr bwMode="auto">
          <a:xfrm>
            <a:off x="291711" y="1276457"/>
            <a:ext cx="3671207"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0"/>
              </a:spcBef>
              <a:spcAft>
                <a:spcPct val="0"/>
              </a:spcAft>
              <a:buClr>
                <a:srgbClr val="FF0000"/>
              </a:buClr>
              <a:buSzTx/>
              <a:buFont typeface="Wingdings" panose="05000000000000000000" pitchFamily="2" charset="2"/>
              <a:buNone/>
              <a:tabLst/>
              <a:defRPr/>
            </a:pPr>
            <a:r>
              <a:rPr kumimoji="0" lang="zh-CN" altLang="en-US" sz="2400" b="1" i="0"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令 </a:t>
            </a:r>
            <a:r>
              <a:rPr kumimoji="0" lang="zh-CN" altLang="en-US" sz="2400" b="1" i="0" u="none" strike="noStrike" kern="1200" cap="none" spc="0" normalizeH="0" baseline="0" noProof="0">
                <a:ln>
                  <a:noFill/>
                </a:ln>
                <a:solidFill>
                  <a:srgbClr val="FF0000"/>
                </a:solidFill>
                <a:effectLst/>
                <a:uLnTx/>
                <a:uFillTx/>
                <a:latin typeface="Times New Roman" panose="02020603050405020304" pitchFamily="18" charset="0"/>
                <a:ea typeface="宋体"/>
                <a:cs typeface="+mn-cs"/>
                <a:sym typeface="Symbol" panose="05050102010706020507" pitchFamily="18" charset="2"/>
              </a:rPr>
              <a:t></a:t>
            </a:r>
            <a:r>
              <a:rPr kumimoji="0" lang="en-US" altLang="zh-CN" sz="2400" b="1" i="1" u="none" strike="noStrike" kern="1200" cap="none" spc="0" normalizeH="0" baseline="-16000" noProof="0">
                <a:ln>
                  <a:noFill/>
                </a:ln>
                <a:solidFill>
                  <a:srgbClr val="FF0000"/>
                </a:solidFill>
                <a:effectLst/>
                <a:uLnTx/>
                <a:uFillTx/>
                <a:latin typeface="Times New Roman" panose="02020603050405020304" pitchFamily="18" charset="0"/>
                <a:ea typeface="宋体"/>
                <a:cs typeface="+mn-cs"/>
              </a:rPr>
              <a:t>1</a:t>
            </a:r>
            <a:r>
              <a:rPr kumimoji="0" lang="en-US" altLang="zh-CN" sz="2400" b="1" i="1" u="none" strike="noStrike" kern="1200" cap="none" spc="0" normalizeH="0" baseline="0" noProof="0">
                <a:ln>
                  <a:noFill/>
                </a:ln>
                <a:solidFill>
                  <a:srgbClr val="FF0000"/>
                </a:solidFill>
                <a:effectLst/>
                <a:uLnTx/>
                <a:uFillTx/>
                <a:latin typeface="Times New Roman" panose="02020603050405020304" pitchFamily="18" charset="0"/>
                <a:ea typeface="宋体"/>
                <a:cs typeface="+mn-cs"/>
              </a:rPr>
              <a:t>=1/RC</a:t>
            </a:r>
            <a:r>
              <a:rPr kumimoji="0" lang="zh-CN" altLang="en-US" sz="2400" b="1" i="0"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，则</a:t>
            </a:r>
            <a:endParaRPr kumimoji="0" lang="zh-CN" altLang="en-US" sz="2400" b="0" i="0" u="none" strike="noStrike" kern="1200" cap="none" spc="0" normalizeH="0" baseline="0" noProof="0">
              <a:ln>
                <a:noFill/>
              </a:ln>
              <a:solidFill>
                <a:srgbClr val="000000"/>
              </a:solidFill>
              <a:effectLst/>
              <a:uLnTx/>
              <a:uFillTx/>
              <a:latin typeface="Arial"/>
              <a:ea typeface="宋体"/>
              <a:cs typeface="+mn-cs"/>
            </a:endParaRPr>
          </a:p>
        </p:txBody>
      </p:sp>
      <p:graphicFrame>
        <p:nvGraphicFramePr>
          <p:cNvPr id="7" name="Object 9">
            <a:extLst>
              <a:ext uri="{FF2B5EF4-FFF2-40B4-BE49-F238E27FC236}">
                <a16:creationId xmlns:a16="http://schemas.microsoft.com/office/drawing/2014/main" id="{E1344E2D-B8CE-4A27-931F-334CC260404B}"/>
              </a:ext>
            </a:extLst>
          </p:cNvPr>
          <p:cNvGraphicFramePr>
            <a:graphicFrameLocks noChangeAspect="1"/>
          </p:cNvGraphicFramePr>
          <p:nvPr>
            <p:extLst>
              <p:ext uri="{D42A27DB-BD31-4B8C-83A1-F6EECF244321}">
                <p14:modId xmlns:p14="http://schemas.microsoft.com/office/powerpoint/2010/main" val="3392335587"/>
              </p:ext>
            </p:extLst>
          </p:nvPr>
        </p:nvGraphicFramePr>
        <p:xfrm>
          <a:off x="727889" y="1845470"/>
          <a:ext cx="3611058" cy="968374"/>
        </p:xfrm>
        <a:graphic>
          <a:graphicData uri="http://schemas.openxmlformats.org/presentationml/2006/ole">
            <mc:AlternateContent xmlns:mc="http://schemas.openxmlformats.org/markup-compatibility/2006">
              <mc:Choice xmlns:v="urn:schemas-microsoft-com:vml" Requires="v">
                <p:oleObj name="公式" r:id="rId3" imgW="1752480" imgH="469800" progId="Equation.3">
                  <p:embed/>
                </p:oleObj>
              </mc:Choice>
              <mc:Fallback>
                <p:oleObj name="公式" r:id="rId3" imgW="1752480" imgH="469800" progId="Equation.3">
                  <p:embed/>
                  <p:pic>
                    <p:nvPicPr>
                      <p:cNvPr id="273417" name="Object 9">
                        <a:extLst>
                          <a:ext uri="{FF2B5EF4-FFF2-40B4-BE49-F238E27FC236}">
                            <a16:creationId xmlns:a16="http://schemas.microsoft.com/office/drawing/2014/main" id="{926C4133-21B3-4288-A065-DAC84C8970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889" y="1845470"/>
                        <a:ext cx="3611058" cy="968374"/>
                      </a:xfrm>
                      <a:prstGeom prst="rect">
                        <a:avLst/>
                      </a:prstGeom>
                      <a:solidFill>
                        <a:schemeClr val="accent4">
                          <a:lumMod val="40000"/>
                          <a:lumOff val="60000"/>
                        </a:schemeClr>
                      </a:solidFill>
                      <a:ln>
                        <a:noFill/>
                      </a:ln>
                      <a:effectLst/>
                    </p:spPr>
                  </p:pic>
                </p:oleObj>
              </mc:Fallback>
            </mc:AlternateContent>
          </a:graphicData>
        </a:graphic>
      </p:graphicFrame>
      <p:sp>
        <p:nvSpPr>
          <p:cNvPr id="8" name="Text Box 4">
            <a:extLst>
              <a:ext uri="{FF2B5EF4-FFF2-40B4-BE49-F238E27FC236}">
                <a16:creationId xmlns:a16="http://schemas.microsoft.com/office/drawing/2014/main" id="{B50914F7-E0D0-40FA-99DB-C8CFF37CC724}"/>
              </a:ext>
            </a:extLst>
          </p:cNvPr>
          <p:cNvSpPr txBox="1">
            <a:spLocks noChangeArrowheads="1"/>
          </p:cNvSpPr>
          <p:nvPr/>
        </p:nvSpPr>
        <p:spPr bwMode="auto">
          <a:xfrm>
            <a:off x="2247900" y="2511425"/>
            <a:ext cx="18415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alt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9" name="Text Box 8">
            <a:extLst>
              <a:ext uri="{FF2B5EF4-FFF2-40B4-BE49-F238E27FC236}">
                <a16:creationId xmlns:a16="http://schemas.microsoft.com/office/drawing/2014/main" id="{BB0D7A73-6506-4776-917F-A7C654E3C0AA}"/>
              </a:ext>
            </a:extLst>
          </p:cNvPr>
          <p:cNvSpPr txBox="1">
            <a:spLocks noChangeArrowheads="1"/>
          </p:cNvSpPr>
          <p:nvPr/>
        </p:nvSpPr>
        <p:spPr bwMode="auto">
          <a:xfrm>
            <a:off x="1671638" y="2246313"/>
            <a:ext cx="67627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p>
        </p:txBody>
      </p:sp>
      <p:graphicFrame>
        <p:nvGraphicFramePr>
          <p:cNvPr id="10" name="Object 13">
            <a:extLst>
              <a:ext uri="{FF2B5EF4-FFF2-40B4-BE49-F238E27FC236}">
                <a16:creationId xmlns:a16="http://schemas.microsoft.com/office/drawing/2014/main" id="{FF4FF8D4-CAB5-4675-B0FA-2A9224917D93}"/>
              </a:ext>
            </a:extLst>
          </p:cNvPr>
          <p:cNvGraphicFramePr>
            <a:graphicFrameLocks noChangeAspect="1"/>
          </p:cNvGraphicFramePr>
          <p:nvPr>
            <p:extLst>
              <p:ext uri="{D42A27DB-BD31-4B8C-83A1-F6EECF244321}">
                <p14:modId xmlns:p14="http://schemas.microsoft.com/office/powerpoint/2010/main" val="862191896"/>
              </p:ext>
            </p:extLst>
          </p:nvPr>
        </p:nvGraphicFramePr>
        <p:xfrm>
          <a:off x="781843" y="2941437"/>
          <a:ext cx="2932113" cy="849313"/>
        </p:xfrm>
        <a:graphic>
          <a:graphicData uri="http://schemas.openxmlformats.org/presentationml/2006/ole">
            <mc:AlternateContent xmlns:mc="http://schemas.openxmlformats.org/markup-compatibility/2006">
              <mc:Choice xmlns:v="urn:schemas-microsoft-com:vml" Requires="v">
                <p:oleObj name="公式" r:id="rId5" imgW="1358640" imgH="393480" progId="Equation.3">
                  <p:embed/>
                </p:oleObj>
              </mc:Choice>
              <mc:Fallback>
                <p:oleObj name="公式" r:id="rId5" imgW="1358640" imgH="393480" progId="Equation.3">
                  <p:embed/>
                  <p:pic>
                    <p:nvPicPr>
                      <p:cNvPr id="273421" name="Object 13">
                        <a:extLst>
                          <a:ext uri="{FF2B5EF4-FFF2-40B4-BE49-F238E27FC236}">
                            <a16:creationId xmlns:a16="http://schemas.microsoft.com/office/drawing/2014/main" id="{938F6875-4E62-4050-B25F-4A14D80D2B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843" y="2941437"/>
                        <a:ext cx="2932113" cy="849313"/>
                      </a:xfrm>
                      <a:prstGeom prst="rect">
                        <a:avLst/>
                      </a:prstGeom>
                      <a:solidFill>
                        <a:schemeClr val="accent6">
                          <a:lumMod val="40000"/>
                          <a:lumOff val="60000"/>
                        </a:schemeClr>
                      </a:solidFill>
                      <a:ln>
                        <a:noFill/>
                      </a:ln>
                      <a:effectLst/>
                    </p:spPr>
                  </p:pic>
                </p:oleObj>
              </mc:Fallback>
            </mc:AlternateContent>
          </a:graphicData>
        </a:graphic>
      </p:graphicFrame>
      <p:pic>
        <p:nvPicPr>
          <p:cNvPr id="13" name="Picture 19">
            <a:extLst>
              <a:ext uri="{FF2B5EF4-FFF2-40B4-BE49-F238E27FC236}">
                <a16:creationId xmlns:a16="http://schemas.microsoft.com/office/drawing/2014/main" id="{9BD338A4-FFF1-4569-AD90-65FD407995A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2305" r="7256"/>
          <a:stretch/>
        </p:blipFill>
        <p:spPr bwMode="auto">
          <a:xfrm>
            <a:off x="5664944" y="1793875"/>
            <a:ext cx="3202086" cy="36182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20">
            <a:extLst>
              <a:ext uri="{FF2B5EF4-FFF2-40B4-BE49-F238E27FC236}">
                <a16:creationId xmlns:a16="http://schemas.microsoft.com/office/drawing/2014/main" id="{7DDCE0F9-3B3C-4B5F-ADEC-C0BF91FF5676}"/>
              </a:ext>
            </a:extLst>
          </p:cNvPr>
          <p:cNvSpPr txBox="1">
            <a:spLocks noChangeArrowheads="1"/>
          </p:cNvSpPr>
          <p:nvPr/>
        </p:nvSpPr>
        <p:spPr bwMode="auto">
          <a:xfrm>
            <a:off x="5590494" y="5413378"/>
            <a:ext cx="335098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ct val="100000"/>
              </a:lnSpc>
              <a:spcBef>
                <a:spcPct val="0"/>
              </a:spcBef>
              <a:buClrTx/>
              <a:buFontTx/>
              <a:buNone/>
              <a:defRPr kumimoji="1" sz="2400" b="1">
                <a:solidFill>
                  <a:srgbClr val="000099"/>
                </a:solidFill>
                <a:latin typeface="宋体" panose="02010600030101010101" pitchFamily="2" charset="-122"/>
                <a:ea typeface="宋体" panose="02010600030101010101" pitchFamily="2" charset="-122"/>
              </a:defRPr>
            </a:lvl1pPr>
          </a:lstStyle>
          <a:p>
            <a:r>
              <a:rPr lang="zh-CN" altLang="en-US"/>
              <a:t>图</a:t>
            </a:r>
            <a:r>
              <a:rPr lang="en-US" altLang="zh-CN"/>
              <a:t>6-10 </a:t>
            </a:r>
            <a:r>
              <a:rPr lang="zh-CN" altLang="en-US"/>
              <a:t>电压幅值比和相角频率比的关系曲线</a:t>
            </a:r>
          </a:p>
        </p:txBody>
      </p:sp>
      <p:sp>
        <p:nvSpPr>
          <p:cNvPr id="15" name="Text Box 21">
            <a:extLst>
              <a:ext uri="{FF2B5EF4-FFF2-40B4-BE49-F238E27FC236}">
                <a16:creationId xmlns:a16="http://schemas.microsoft.com/office/drawing/2014/main" id="{1E7A9229-234B-4F66-BCE6-3F256EBA0F68}"/>
              </a:ext>
            </a:extLst>
          </p:cNvPr>
          <p:cNvSpPr txBox="1">
            <a:spLocks noChangeArrowheads="1"/>
          </p:cNvSpPr>
          <p:nvPr/>
        </p:nvSpPr>
        <p:spPr bwMode="auto">
          <a:xfrm>
            <a:off x="276970" y="3881038"/>
            <a:ext cx="503963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由此得到电压幅值比和相角频率比关系曲线。</a:t>
            </a:r>
          </a:p>
        </p:txBody>
      </p:sp>
      <p:graphicFrame>
        <p:nvGraphicFramePr>
          <p:cNvPr id="19" name="Object 16">
            <a:extLst>
              <a:ext uri="{FF2B5EF4-FFF2-40B4-BE49-F238E27FC236}">
                <a16:creationId xmlns:a16="http://schemas.microsoft.com/office/drawing/2014/main" id="{765CC955-971C-4EAC-98BF-9DC54BF88A8A}"/>
              </a:ext>
            </a:extLst>
          </p:cNvPr>
          <p:cNvGraphicFramePr>
            <a:graphicFrameLocks noChangeAspect="1"/>
          </p:cNvGraphicFramePr>
          <p:nvPr>
            <p:extLst>
              <p:ext uri="{D42A27DB-BD31-4B8C-83A1-F6EECF244321}">
                <p14:modId xmlns:p14="http://schemas.microsoft.com/office/powerpoint/2010/main" val="3911816794"/>
              </p:ext>
            </p:extLst>
          </p:nvPr>
        </p:nvGraphicFramePr>
        <p:xfrm>
          <a:off x="5775789" y="974775"/>
          <a:ext cx="3327899" cy="912063"/>
        </p:xfrm>
        <a:graphic>
          <a:graphicData uri="http://schemas.openxmlformats.org/presentationml/2006/ole">
            <mc:AlternateContent xmlns:mc="http://schemas.openxmlformats.org/markup-compatibility/2006">
              <mc:Choice xmlns:v="urn:schemas-microsoft-com:vml" Requires="v">
                <p:oleObj name="公式" r:id="rId8" imgW="1714320" imgH="469800" progId="Equation.3">
                  <p:embed/>
                </p:oleObj>
              </mc:Choice>
              <mc:Fallback>
                <p:oleObj name="公式" r:id="rId8" imgW="1714320" imgH="469800" progId="Equation.3">
                  <p:embed/>
                  <p:pic>
                    <p:nvPicPr>
                      <p:cNvPr id="12" name="Object 16">
                        <a:extLst>
                          <a:ext uri="{FF2B5EF4-FFF2-40B4-BE49-F238E27FC236}">
                            <a16:creationId xmlns:a16="http://schemas.microsoft.com/office/drawing/2014/main" id="{6E4AE58B-7CFD-4A2F-9EC1-295057F8D5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75789" y="974775"/>
                        <a:ext cx="3327899" cy="912063"/>
                      </a:xfrm>
                      <a:prstGeom prst="rect">
                        <a:avLst/>
                      </a:prstGeom>
                      <a:solidFill>
                        <a:schemeClr val="accent4">
                          <a:lumMod val="40000"/>
                          <a:lumOff val="60000"/>
                        </a:schemeClr>
                      </a:solidFill>
                    </p:spPr>
                  </p:pic>
                </p:oleObj>
              </mc:Fallback>
            </mc:AlternateContent>
          </a:graphicData>
        </a:graphic>
      </p:graphicFrame>
      <p:graphicFrame>
        <p:nvGraphicFramePr>
          <p:cNvPr id="2" name="Object 1">
            <a:extLst>
              <a:ext uri="{FF2B5EF4-FFF2-40B4-BE49-F238E27FC236}">
                <a16:creationId xmlns:a16="http://schemas.microsoft.com/office/drawing/2014/main" id="{34BB1FE5-4021-417C-81FB-1B0723DCF2BE}"/>
              </a:ext>
            </a:extLst>
          </p:cNvPr>
          <p:cNvGraphicFramePr>
            <a:graphicFrameLocks noChangeAspect="1"/>
          </p:cNvGraphicFramePr>
          <p:nvPr>
            <p:extLst>
              <p:ext uri="{D42A27DB-BD31-4B8C-83A1-F6EECF244321}">
                <p14:modId xmlns:p14="http://schemas.microsoft.com/office/powerpoint/2010/main" val="1681929185"/>
              </p:ext>
            </p:extLst>
          </p:nvPr>
        </p:nvGraphicFramePr>
        <p:xfrm>
          <a:off x="5775789" y="188761"/>
          <a:ext cx="2592387" cy="774700"/>
        </p:xfrm>
        <a:graphic>
          <a:graphicData uri="http://schemas.openxmlformats.org/presentationml/2006/ole">
            <mc:AlternateContent xmlns:mc="http://schemas.openxmlformats.org/markup-compatibility/2006">
              <mc:Choice xmlns:v="urn:schemas-microsoft-com:vml" Requires="v">
                <p:oleObj name="Equation" r:id="rId10" imgW="2592553" imgH="774388" progId="Equation.DSMT4">
                  <p:embed/>
                </p:oleObj>
              </mc:Choice>
              <mc:Fallback>
                <p:oleObj name="Equation" r:id="rId10" imgW="2592553" imgH="774388" progId="Equation.DSMT4">
                  <p:embed/>
                  <p:pic>
                    <p:nvPicPr>
                      <p:cNvPr id="0" name=""/>
                      <p:cNvPicPr/>
                      <p:nvPr/>
                    </p:nvPicPr>
                    <p:blipFill>
                      <a:blip r:embed="rId11"/>
                      <a:stretch>
                        <a:fillRect/>
                      </a:stretch>
                    </p:blipFill>
                    <p:spPr>
                      <a:xfrm>
                        <a:off x="5775789" y="188761"/>
                        <a:ext cx="2592387" cy="774700"/>
                      </a:xfrm>
                      <a:prstGeom prst="rect">
                        <a:avLst/>
                      </a:prstGeom>
                    </p:spPr>
                  </p:pic>
                </p:oleObj>
              </mc:Fallback>
            </mc:AlternateContent>
          </a:graphicData>
        </a:graphic>
      </p:graphicFrame>
    </p:spTree>
    <p:extLst>
      <p:ext uri="{BB962C8B-B14F-4D97-AF65-F5344CB8AC3E}">
        <p14:creationId xmlns:p14="http://schemas.microsoft.com/office/powerpoint/2010/main" val="12757815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6.4.1</a:t>
            </a:r>
          </a:p>
        </p:txBody>
      </p:sp>
      <p:sp>
        <p:nvSpPr>
          <p:cNvPr id="29" name="矩形 28"/>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电压放大器</a:t>
            </a:r>
          </a:p>
        </p:txBody>
      </p:sp>
      <p:sp>
        <p:nvSpPr>
          <p:cNvPr id="3" name="Slide Number Placeholder 2">
            <a:extLst>
              <a:ext uri="{FF2B5EF4-FFF2-40B4-BE49-F238E27FC236}">
                <a16:creationId xmlns:a16="http://schemas.microsoft.com/office/drawing/2014/main" id="{7AB7BA79-C2FA-4C88-8BAA-E8A1753300BD}"/>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pic>
        <p:nvPicPr>
          <p:cNvPr id="8" name="Picture 19">
            <a:extLst>
              <a:ext uri="{FF2B5EF4-FFF2-40B4-BE49-F238E27FC236}">
                <a16:creationId xmlns:a16="http://schemas.microsoft.com/office/drawing/2014/main" id="{9664364C-C05D-4F48-B639-DE3B53A556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05" r="7256"/>
          <a:stretch/>
        </p:blipFill>
        <p:spPr bwMode="auto">
          <a:xfrm>
            <a:off x="5649104" y="1981637"/>
            <a:ext cx="3202086" cy="36182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Object 9">
            <a:extLst>
              <a:ext uri="{FF2B5EF4-FFF2-40B4-BE49-F238E27FC236}">
                <a16:creationId xmlns:a16="http://schemas.microsoft.com/office/drawing/2014/main" id="{D71B694F-6A89-481A-9B1B-6F58BA790910}"/>
              </a:ext>
            </a:extLst>
          </p:cNvPr>
          <p:cNvGraphicFramePr>
            <a:graphicFrameLocks noChangeAspect="1"/>
          </p:cNvGraphicFramePr>
          <p:nvPr>
            <p:extLst>
              <p:ext uri="{D42A27DB-BD31-4B8C-83A1-F6EECF244321}">
                <p14:modId xmlns:p14="http://schemas.microsoft.com/office/powerpoint/2010/main" val="669749090"/>
              </p:ext>
            </p:extLst>
          </p:nvPr>
        </p:nvGraphicFramePr>
        <p:xfrm>
          <a:off x="5444618" y="6401"/>
          <a:ext cx="3611058" cy="968374"/>
        </p:xfrm>
        <a:graphic>
          <a:graphicData uri="http://schemas.openxmlformats.org/presentationml/2006/ole">
            <mc:AlternateContent xmlns:mc="http://schemas.openxmlformats.org/markup-compatibility/2006">
              <mc:Choice xmlns:v="urn:schemas-microsoft-com:vml" Requires="v">
                <p:oleObj name="公式" r:id="rId4" imgW="1752480" imgH="469800" progId="Equation.3">
                  <p:embed/>
                </p:oleObj>
              </mc:Choice>
              <mc:Fallback>
                <p:oleObj name="公式" r:id="rId4" imgW="1752480" imgH="469800" progId="Equation.3">
                  <p:embed/>
                  <p:pic>
                    <p:nvPicPr>
                      <p:cNvPr id="7" name="Object 9">
                        <a:extLst>
                          <a:ext uri="{FF2B5EF4-FFF2-40B4-BE49-F238E27FC236}">
                            <a16:creationId xmlns:a16="http://schemas.microsoft.com/office/drawing/2014/main" id="{E1344E2D-B8CE-4A27-931F-334CC26040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4618" y="6401"/>
                        <a:ext cx="3611058" cy="968374"/>
                      </a:xfrm>
                      <a:prstGeom prst="rect">
                        <a:avLst/>
                      </a:prstGeom>
                      <a:solidFill>
                        <a:schemeClr val="accent4">
                          <a:lumMod val="40000"/>
                          <a:lumOff val="60000"/>
                        </a:schemeClr>
                      </a:solidFill>
                      <a:ln>
                        <a:noFill/>
                      </a:ln>
                      <a:effectLst/>
                    </p:spPr>
                  </p:pic>
                </p:oleObj>
              </mc:Fallback>
            </mc:AlternateContent>
          </a:graphicData>
        </a:graphic>
      </p:graphicFrame>
      <p:graphicFrame>
        <p:nvGraphicFramePr>
          <p:cNvPr id="10" name="Object 13">
            <a:extLst>
              <a:ext uri="{FF2B5EF4-FFF2-40B4-BE49-F238E27FC236}">
                <a16:creationId xmlns:a16="http://schemas.microsoft.com/office/drawing/2014/main" id="{B40A1EBD-A5A9-42AF-A3FA-979B8F98C120}"/>
              </a:ext>
            </a:extLst>
          </p:cNvPr>
          <p:cNvGraphicFramePr>
            <a:graphicFrameLocks noChangeAspect="1"/>
          </p:cNvGraphicFramePr>
          <p:nvPr>
            <p:extLst>
              <p:ext uri="{D42A27DB-BD31-4B8C-83A1-F6EECF244321}">
                <p14:modId xmlns:p14="http://schemas.microsoft.com/office/powerpoint/2010/main" val="2428790747"/>
              </p:ext>
            </p:extLst>
          </p:nvPr>
        </p:nvGraphicFramePr>
        <p:xfrm>
          <a:off x="5498572" y="1102368"/>
          <a:ext cx="2932113" cy="849313"/>
        </p:xfrm>
        <a:graphic>
          <a:graphicData uri="http://schemas.openxmlformats.org/presentationml/2006/ole">
            <mc:AlternateContent xmlns:mc="http://schemas.openxmlformats.org/markup-compatibility/2006">
              <mc:Choice xmlns:v="urn:schemas-microsoft-com:vml" Requires="v">
                <p:oleObj name="公式" r:id="rId6" imgW="1358640" imgH="393480" progId="Equation.3">
                  <p:embed/>
                </p:oleObj>
              </mc:Choice>
              <mc:Fallback>
                <p:oleObj name="公式" r:id="rId6" imgW="1358640" imgH="393480" progId="Equation.3">
                  <p:embed/>
                  <p:pic>
                    <p:nvPicPr>
                      <p:cNvPr id="10" name="Object 13">
                        <a:extLst>
                          <a:ext uri="{FF2B5EF4-FFF2-40B4-BE49-F238E27FC236}">
                            <a16:creationId xmlns:a16="http://schemas.microsoft.com/office/drawing/2014/main" id="{FF4FF8D4-CAB5-4675-B0FA-2A9224917D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8572" y="1102368"/>
                        <a:ext cx="2932113" cy="849313"/>
                      </a:xfrm>
                      <a:prstGeom prst="rect">
                        <a:avLst/>
                      </a:prstGeom>
                      <a:solidFill>
                        <a:schemeClr val="accent6">
                          <a:lumMod val="40000"/>
                          <a:lumOff val="60000"/>
                        </a:schemeClr>
                      </a:solidFill>
                      <a:ln>
                        <a:noFill/>
                      </a:ln>
                      <a:effectLst/>
                    </p:spPr>
                  </p:pic>
                </p:oleObj>
              </mc:Fallback>
            </mc:AlternateContent>
          </a:graphicData>
        </a:graphic>
      </p:graphicFrame>
      <p:sp>
        <p:nvSpPr>
          <p:cNvPr id="11" name="Text Box 20">
            <a:extLst>
              <a:ext uri="{FF2B5EF4-FFF2-40B4-BE49-F238E27FC236}">
                <a16:creationId xmlns:a16="http://schemas.microsoft.com/office/drawing/2014/main" id="{7AE948FD-36B2-43A9-B2A5-94F1F34BD28E}"/>
              </a:ext>
            </a:extLst>
          </p:cNvPr>
          <p:cNvSpPr txBox="1">
            <a:spLocks noChangeArrowheads="1"/>
          </p:cNvSpPr>
          <p:nvPr/>
        </p:nvSpPr>
        <p:spPr bwMode="auto">
          <a:xfrm>
            <a:off x="5590494" y="5413378"/>
            <a:ext cx="335098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ct val="100000"/>
              </a:lnSpc>
              <a:spcBef>
                <a:spcPct val="0"/>
              </a:spcBef>
              <a:buClrTx/>
              <a:buFontTx/>
              <a:buNone/>
              <a:defRPr kumimoji="1" sz="2400" b="1">
                <a:solidFill>
                  <a:srgbClr val="000099"/>
                </a:solidFill>
                <a:latin typeface="宋体" panose="02010600030101010101" pitchFamily="2" charset="-122"/>
                <a:ea typeface="宋体" panose="02010600030101010101" pitchFamily="2" charset="-122"/>
              </a:defRPr>
            </a:lvl1pPr>
          </a:lstStyle>
          <a:p>
            <a:r>
              <a:rPr lang="zh-CN" altLang="en-US"/>
              <a:t>图</a:t>
            </a:r>
            <a:r>
              <a:rPr lang="en-US" altLang="zh-CN"/>
              <a:t>6-10 </a:t>
            </a:r>
            <a:r>
              <a:rPr lang="zh-CN" altLang="en-US"/>
              <a:t>电压幅值比和相角频率比的关系曲线</a:t>
            </a:r>
          </a:p>
        </p:txBody>
      </p:sp>
      <p:sp>
        <p:nvSpPr>
          <p:cNvPr id="12" name="Rectangle 4">
            <a:extLst>
              <a:ext uri="{FF2B5EF4-FFF2-40B4-BE49-F238E27FC236}">
                <a16:creationId xmlns:a16="http://schemas.microsoft.com/office/drawing/2014/main" id="{2A57D87C-A321-4A53-88D6-107303AFD6DC}"/>
              </a:ext>
            </a:extLst>
          </p:cNvPr>
          <p:cNvSpPr txBox="1">
            <a:spLocks noChangeArrowheads="1"/>
          </p:cNvSpPr>
          <p:nvPr/>
        </p:nvSpPr>
        <p:spPr bwMode="auto">
          <a:xfrm>
            <a:off x="1" y="1071107"/>
            <a:ext cx="5138056" cy="53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00000"/>
              </a:lnSpc>
              <a:spcBef>
                <a:spcPts val="0"/>
              </a:spcBef>
              <a:spcAft>
                <a:spcPct val="0"/>
              </a:spcAft>
              <a:buClr>
                <a:srgbClr val="FF0000"/>
              </a:buClr>
              <a:buSzTx/>
              <a:buFont typeface="Wingdings" panose="05000000000000000000" pitchFamily="2" charset="2"/>
              <a:buChar char="§"/>
              <a:tabLst/>
              <a:defRPr/>
            </a:pPr>
            <a:r>
              <a:rPr kumimoji="0" lang="zh-CN" altLang="en-US"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0" u="none" strike="noStrike" kern="1200" cap="none" spc="0" normalizeH="0" baseline="0" noProof="0">
                <a:ln>
                  <a:noFill/>
                </a:ln>
                <a:solidFill>
                  <a:srgbClr val="000099"/>
                </a:solidFill>
                <a:effectLst/>
                <a:uLnTx/>
                <a:uFillTx/>
                <a:latin typeface="Arial"/>
                <a:ea typeface="宋体"/>
              </a:rPr>
              <a:t>=0</a:t>
            </a:r>
            <a:r>
              <a:rPr kumimoji="0" lang="zh-CN" altLang="en-US" sz="2200" b="1" i="0" u="none" strike="noStrike" kern="1200" cap="none" spc="0" normalizeH="0" baseline="0" noProof="0">
                <a:ln>
                  <a:noFill/>
                </a:ln>
                <a:solidFill>
                  <a:srgbClr val="000099"/>
                </a:solidFill>
                <a:effectLst/>
                <a:uLnTx/>
                <a:uFillTx/>
                <a:latin typeface="Arial"/>
                <a:ea typeface="宋体"/>
              </a:rPr>
              <a:t>时，</a:t>
            </a: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rPr>
              <a:t>U</a:t>
            </a:r>
            <a:r>
              <a:rPr kumimoji="0" lang="en-US" altLang="zh-CN" sz="2200" b="1" i="0" u="none" strike="noStrike" kern="1200" cap="none" spc="0" normalizeH="0" baseline="-25000" noProof="0">
                <a:ln>
                  <a:noFill/>
                </a:ln>
                <a:solidFill>
                  <a:srgbClr val="000099"/>
                </a:solidFill>
                <a:effectLst/>
                <a:uLnTx/>
                <a:uFillTx/>
                <a:latin typeface="Times New Roman" panose="02020603050405020304" pitchFamily="18" charset="0"/>
                <a:ea typeface="宋体"/>
              </a:rPr>
              <a:t>i</a:t>
            </a:r>
            <a:r>
              <a:rPr kumimoji="0" lang="en-US" altLang="zh-CN" sz="2200" b="1" i="0" u="none" strike="noStrike" kern="1200" cap="none" spc="0" normalizeH="0" baseline="0" noProof="0">
                <a:ln>
                  <a:noFill/>
                </a:ln>
                <a:solidFill>
                  <a:srgbClr val="000099"/>
                </a:solidFill>
                <a:effectLst/>
                <a:uLnTx/>
                <a:uFillTx/>
                <a:latin typeface="Arial"/>
                <a:ea typeface="宋体"/>
              </a:rPr>
              <a:t>=0</a:t>
            </a:r>
            <a:r>
              <a:rPr kumimoji="0" lang="zh-CN" altLang="en-US" sz="2200" b="1" i="0" u="none" strike="noStrike" kern="1200" cap="none" spc="0" normalizeH="0" baseline="0" noProof="0">
                <a:ln>
                  <a:noFill/>
                </a:ln>
                <a:solidFill>
                  <a:srgbClr val="000099"/>
                </a:solidFill>
                <a:effectLst/>
                <a:uLnTx/>
                <a:uFillTx/>
                <a:latin typeface="Arial"/>
                <a:ea typeface="宋体"/>
              </a:rPr>
              <a:t>，意味着电荷被泄露，</a:t>
            </a:r>
            <a:r>
              <a:rPr kumimoji="0" lang="zh-CN" altLang="en-US" sz="2200" b="1" i="0" u="none" strike="noStrike" kern="1200" cap="none" spc="0" normalizeH="0" baseline="0" noProof="0">
                <a:ln>
                  <a:noFill/>
                </a:ln>
                <a:solidFill>
                  <a:srgbClr val="FF0000"/>
                </a:solidFill>
                <a:effectLst/>
                <a:uLnTx/>
                <a:uFillTx/>
                <a:latin typeface="Arial"/>
                <a:ea typeface="宋体"/>
              </a:rPr>
              <a:t>压电传感器不能测静态量</a:t>
            </a:r>
            <a:r>
              <a:rPr kumimoji="0" lang="zh-CN" altLang="en-US" sz="2200" b="1" i="0" u="none" strike="noStrike" kern="1200" cap="none" spc="0" normalizeH="0" baseline="0" noProof="0">
                <a:ln>
                  <a:noFill/>
                </a:ln>
                <a:solidFill>
                  <a:srgbClr val="000099"/>
                </a:solidFill>
                <a:effectLst/>
                <a:uLnTx/>
                <a:uFillTx/>
                <a:latin typeface="Arial"/>
                <a:ea typeface="宋体"/>
              </a:rPr>
              <a:t>。</a:t>
            </a:r>
            <a:endParaRPr kumimoji="0" lang="zh-CN" altLang="en-US"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endParaRPr>
          </a:p>
          <a:p>
            <a:pPr marL="342900" marR="0" lvl="0" indent="-342900" algn="just" defTabSz="914400" rtl="0" eaLnBrk="1" fontAlgn="base" latinLnBrk="0" hangingPunct="1">
              <a:lnSpc>
                <a:spcPct val="100000"/>
              </a:lnSpc>
              <a:spcBef>
                <a:spcPts val="0"/>
              </a:spcBef>
              <a:spcAft>
                <a:spcPct val="0"/>
              </a:spcAft>
              <a:buClr>
                <a:srgbClr val="FF0000"/>
              </a:buClr>
              <a:buSzTx/>
              <a:buFont typeface="Wingdings" panose="05000000000000000000" pitchFamily="2" charset="2"/>
              <a:buChar char="§"/>
              <a:tabLst/>
              <a:defRPr/>
            </a:pPr>
            <a:r>
              <a:rPr kumimoji="0" lang="zh-CN" altLang="en-US"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 </a:t>
            </a:r>
            <a:r>
              <a:rPr kumimoji="0" lang="zh-CN" altLang="en-US" sz="2200" b="1" i="0" u="none" strike="noStrike" kern="1200" cap="none" spc="0" normalizeH="0" baseline="0" noProof="0">
                <a:ln>
                  <a:noFill/>
                </a:ln>
                <a:solidFill>
                  <a:srgbClr val="000099"/>
                </a:solidFill>
                <a:effectLst/>
                <a:uLnTx/>
                <a:uFillTx/>
                <a:latin typeface="Arial"/>
                <a:ea typeface="宋体"/>
              </a:rPr>
              <a:t>高频响应，当</a:t>
            </a:r>
            <a:r>
              <a:rPr kumimoji="0" lang="zh-CN" altLang="en-US"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en-US" altLang="zh-CN"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1" u="none" strike="noStrike" kern="1200" cap="none" spc="0" normalizeH="0" baseline="-25000" noProof="0">
                <a:ln>
                  <a:noFill/>
                </a:ln>
                <a:solidFill>
                  <a:srgbClr val="000099"/>
                </a:solidFill>
                <a:effectLst/>
                <a:uLnTx/>
                <a:uFillTx/>
                <a:latin typeface="Arial"/>
                <a:ea typeface="宋体"/>
              </a:rPr>
              <a:t>1</a:t>
            </a:r>
            <a:r>
              <a:rPr kumimoji="0" lang="en-US" altLang="zh-CN" sz="2200" b="1" i="0" u="none" strike="noStrike" kern="1200" cap="none" spc="0" normalizeH="0" baseline="0" noProof="0">
                <a:ln>
                  <a:noFill/>
                </a:ln>
                <a:solidFill>
                  <a:srgbClr val="000099"/>
                </a:solidFill>
                <a:effectLst/>
                <a:uLnTx/>
                <a:uFillTx/>
                <a:latin typeface="Arial"/>
                <a:ea typeface="宋体"/>
              </a:rPr>
              <a:t>&gt;&gt;1</a:t>
            </a:r>
            <a:r>
              <a:rPr kumimoji="0" lang="zh-CN" altLang="en-US" sz="2200" b="1" i="0" u="none" strike="noStrike" kern="1200" cap="none" spc="0" normalizeH="0" baseline="0" noProof="0">
                <a:ln>
                  <a:noFill/>
                </a:ln>
                <a:solidFill>
                  <a:srgbClr val="000099"/>
                </a:solidFill>
                <a:effectLst/>
                <a:uLnTx/>
                <a:uFillTx/>
                <a:latin typeface="Arial"/>
                <a:ea typeface="宋体"/>
              </a:rPr>
              <a:t>，即</a:t>
            </a:r>
            <a:r>
              <a:rPr kumimoji="0" lang="zh-CN" altLang="en-US"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0" u="none" strike="noStrike" kern="1200" cap="none" spc="0" normalizeH="0" baseline="0" noProof="0">
                <a:ln>
                  <a:noFill/>
                </a:ln>
                <a:solidFill>
                  <a:srgbClr val="000099"/>
                </a:solidFill>
                <a:effectLst/>
                <a:uLnTx/>
                <a:uFillTx/>
                <a:latin typeface="Arial"/>
                <a:ea typeface="宋体"/>
              </a:rPr>
              <a:t>&gt;&gt;1</a:t>
            </a:r>
            <a:r>
              <a:rPr kumimoji="0" lang="zh-CN" altLang="en-US" sz="2200" b="1" i="0" u="none" strike="noStrike" kern="1200" cap="none" spc="0" normalizeH="0" baseline="0" noProof="0">
                <a:ln>
                  <a:noFill/>
                </a:ln>
                <a:solidFill>
                  <a:srgbClr val="000099"/>
                </a:solidFill>
                <a:effectLst/>
                <a:uLnTx/>
                <a:uFillTx/>
                <a:latin typeface="Arial"/>
                <a:ea typeface="宋体"/>
              </a:rPr>
              <a:t>，一般当</a:t>
            </a:r>
            <a:r>
              <a:rPr kumimoji="0" lang="zh-CN" altLang="en-US"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en-US" altLang="zh-CN"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1" u="none" strike="noStrike" kern="1200" cap="none" spc="0" normalizeH="0" baseline="-25000" noProof="0">
                <a:ln>
                  <a:noFill/>
                </a:ln>
                <a:solidFill>
                  <a:srgbClr val="000099"/>
                </a:solidFill>
                <a:effectLst/>
                <a:uLnTx/>
                <a:uFillTx/>
                <a:latin typeface="Arial"/>
                <a:ea typeface="宋体"/>
              </a:rPr>
              <a:t>1</a:t>
            </a:r>
            <a:r>
              <a:rPr kumimoji="0" lang="en-US" altLang="zh-CN" sz="2200" b="1" i="1" u="none" strike="noStrike" kern="1200" cap="none" spc="0" normalizeH="0" baseline="0" noProof="0">
                <a:ln>
                  <a:noFill/>
                </a:ln>
                <a:solidFill>
                  <a:srgbClr val="000099"/>
                </a:solidFill>
                <a:effectLst/>
                <a:uLnTx/>
                <a:uFillTx/>
                <a:latin typeface="Arial"/>
                <a:ea typeface="宋体"/>
              </a:rPr>
              <a:t> </a:t>
            </a:r>
            <a:r>
              <a:rPr kumimoji="0" lang="en-US" altLang="zh-CN"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0" u="none" strike="noStrike" kern="1200" cap="none" spc="0" normalizeH="0" baseline="0" noProof="0">
                <a:ln>
                  <a:noFill/>
                </a:ln>
                <a:solidFill>
                  <a:srgbClr val="000099"/>
                </a:solidFill>
                <a:effectLst/>
                <a:uLnTx/>
                <a:uFillTx/>
                <a:latin typeface="Arial"/>
                <a:ea typeface="宋体"/>
              </a:rPr>
              <a:t>3</a:t>
            </a:r>
            <a:r>
              <a:rPr kumimoji="0" lang="zh-CN" altLang="en-US" sz="2200" b="1" i="0" u="none" strike="noStrike" kern="1200" cap="none" spc="0" normalizeH="0" baseline="0" noProof="0">
                <a:ln>
                  <a:noFill/>
                </a:ln>
                <a:solidFill>
                  <a:srgbClr val="000099"/>
                </a:solidFill>
                <a:effectLst/>
                <a:uLnTx/>
                <a:uFillTx/>
                <a:latin typeface="Arial"/>
                <a:ea typeface="宋体"/>
              </a:rPr>
              <a:t>时，</a:t>
            </a: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rPr>
              <a:t>U</a:t>
            </a:r>
            <a:r>
              <a:rPr kumimoji="0" lang="en-US" altLang="zh-CN" sz="2200" b="1" i="0" u="none" strike="noStrike" kern="1200" cap="none" spc="0" normalizeH="0" baseline="-25000" noProof="0">
                <a:ln>
                  <a:noFill/>
                </a:ln>
                <a:solidFill>
                  <a:srgbClr val="000099"/>
                </a:solidFill>
                <a:effectLst/>
                <a:uLnTx/>
                <a:uFillTx/>
                <a:latin typeface="Times New Roman" panose="02020603050405020304" pitchFamily="18" charset="0"/>
                <a:ea typeface="宋体"/>
              </a:rPr>
              <a:t>im</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rPr>
              <a:t>U</a:t>
            </a:r>
            <a:r>
              <a:rPr kumimoji="0" lang="en-US" altLang="zh-CN" sz="2200" b="1" i="0" u="none" strike="noStrike" kern="1200" cap="none" spc="0" normalizeH="0" baseline="-25000" noProof="0">
                <a:ln>
                  <a:noFill/>
                </a:ln>
                <a:solidFill>
                  <a:srgbClr val="000099"/>
                </a:solidFill>
                <a:effectLst/>
                <a:uLnTx/>
                <a:uFillTx/>
                <a:latin typeface="Arial"/>
                <a:ea typeface="宋体"/>
              </a:rPr>
              <a:t>m</a:t>
            </a:r>
            <a:r>
              <a:rPr kumimoji="0" lang="zh-CN" altLang="en-US" sz="2200" b="1" i="0" u="none" strike="noStrike" kern="1200" cap="none" spc="0" normalizeH="0" baseline="0" noProof="0">
                <a:ln>
                  <a:noFill/>
                </a:ln>
                <a:solidFill>
                  <a:srgbClr val="000099"/>
                </a:solidFill>
                <a:effectLst/>
                <a:uLnTx/>
                <a:uFillTx/>
                <a:latin typeface="Arial"/>
                <a:ea typeface="宋体"/>
              </a:rPr>
              <a:t>可</a:t>
            </a:r>
            <a:r>
              <a:rPr lang="zh-CN" altLang="en-US" sz="2200" b="1">
                <a:solidFill>
                  <a:srgbClr val="000099"/>
                </a:solidFill>
                <a:latin typeface="Arial"/>
                <a:ea typeface="宋体"/>
              </a:rPr>
              <a:t>以</a:t>
            </a:r>
            <a:r>
              <a:rPr kumimoji="0" lang="zh-CN" altLang="en-US" sz="2200" b="1" i="0" u="none" strike="noStrike" kern="1200" cap="none" spc="0" normalizeH="0" baseline="0" noProof="0">
                <a:ln>
                  <a:noFill/>
                </a:ln>
                <a:solidFill>
                  <a:srgbClr val="000099"/>
                </a:solidFill>
                <a:effectLst/>
                <a:uLnTx/>
                <a:uFillTx/>
                <a:latin typeface="Arial"/>
                <a:ea typeface="宋体"/>
              </a:rPr>
              <a:t>近似看作输入电压与作用力的频率无关。</a:t>
            </a:r>
            <a:r>
              <a:rPr kumimoji="0" lang="en-US" altLang="zh-CN" sz="2200" b="1" i="1" u="none" strike="noStrike" kern="1200" cap="none" spc="0" normalizeH="0" baseline="0" noProof="0">
                <a:ln>
                  <a:noFill/>
                </a:ln>
                <a:solidFill>
                  <a:srgbClr val="000099"/>
                </a:solidFill>
                <a:effectLst/>
                <a:uLnTx/>
                <a:uFillTx/>
                <a:latin typeface="Arial"/>
                <a:ea typeface="宋体"/>
              </a:rPr>
              <a:t>K</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en-US" altLang="zh-CN"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zh-CN" altLang="en-US" sz="2200" b="1" i="0" u="none" strike="noStrike" kern="1200" cap="none" spc="0" normalizeH="0" baseline="0" noProof="0">
                <a:ln>
                  <a:noFill/>
                </a:ln>
                <a:solidFill>
                  <a:srgbClr val="000099"/>
                </a:solidFill>
                <a:effectLst/>
                <a:uLnTx/>
                <a:uFillTx/>
                <a:latin typeface="Arial"/>
                <a:ea typeface="宋体"/>
              </a:rPr>
              <a:t>＝</a:t>
            </a:r>
            <a:r>
              <a:rPr kumimoji="0" lang="en-US" altLang="zh-CN" sz="2200" b="1" i="0" u="none" strike="noStrike" kern="1200" cap="none" spc="0" normalizeH="0" baseline="0" noProof="0">
                <a:ln>
                  <a:noFill/>
                </a:ln>
                <a:solidFill>
                  <a:srgbClr val="000099"/>
                </a:solidFill>
                <a:effectLst/>
                <a:uLnTx/>
                <a:uFillTx/>
                <a:latin typeface="Arial"/>
                <a:ea typeface="宋体"/>
              </a:rPr>
              <a:t>1</a:t>
            </a:r>
            <a:r>
              <a:rPr kumimoji="0" lang="zh-CN" altLang="en-US" sz="2200" b="1" i="0" u="none" strike="noStrike" kern="1200" cap="none" spc="0" normalizeH="0" baseline="0" noProof="0">
                <a:ln>
                  <a:noFill/>
                </a:ln>
                <a:solidFill>
                  <a:srgbClr val="000099"/>
                </a:solidFill>
                <a:effectLst/>
                <a:uLnTx/>
                <a:uFillTx/>
                <a:latin typeface="Arial"/>
                <a:ea typeface="宋体"/>
              </a:rPr>
              <a:t>，这就说明压电式传感器的</a:t>
            </a:r>
            <a:r>
              <a:rPr kumimoji="0" lang="zh-CN" altLang="en-US" sz="2200" b="1" i="0" u="none" strike="noStrike" kern="1200" cap="none" spc="0" normalizeH="0" baseline="0" noProof="0">
                <a:ln>
                  <a:noFill/>
                </a:ln>
                <a:solidFill>
                  <a:srgbClr val="FF0000"/>
                </a:solidFill>
                <a:effectLst/>
                <a:uLnTx/>
                <a:uFillTx/>
                <a:latin typeface="Arial"/>
                <a:ea typeface="宋体"/>
              </a:rPr>
              <a:t>高频响应相当好</a:t>
            </a:r>
            <a:r>
              <a:rPr kumimoji="0" lang="zh-CN" altLang="en-US" sz="2200" b="1" i="0" u="none" strike="noStrike" kern="1200" cap="none" spc="0" normalizeH="0" baseline="0" noProof="0">
                <a:ln>
                  <a:noFill/>
                </a:ln>
                <a:solidFill>
                  <a:srgbClr val="000099"/>
                </a:solidFill>
                <a:effectLst/>
                <a:uLnTx/>
                <a:uFillTx/>
                <a:latin typeface="Arial"/>
                <a:ea typeface="宋体"/>
              </a:rPr>
              <a:t>。</a:t>
            </a:r>
          </a:p>
          <a:p>
            <a:pPr marL="342900" marR="0" lvl="0" indent="-342900" algn="just" defTabSz="914400" rtl="0" eaLnBrk="1" fontAlgn="base" latinLnBrk="0" hangingPunct="1">
              <a:lnSpc>
                <a:spcPct val="100000"/>
              </a:lnSpc>
              <a:spcBef>
                <a:spcPts val="0"/>
              </a:spcBef>
              <a:spcAft>
                <a:spcPct val="0"/>
              </a:spcAft>
              <a:buClr>
                <a:srgbClr val="FF0000"/>
              </a:buClr>
              <a:buSzTx/>
              <a:buFont typeface="Wingdings" panose="05000000000000000000" pitchFamily="2" charset="2"/>
              <a:buChar char="§"/>
              <a:tabLst/>
              <a:defRPr/>
            </a:pPr>
            <a:r>
              <a:rPr kumimoji="0" lang="zh-CN" altLang="en-US" sz="2200" b="1" i="0" u="none" strike="noStrike" kern="1200" cap="none" spc="0" normalizeH="0" baseline="0" noProof="0">
                <a:ln>
                  <a:noFill/>
                </a:ln>
                <a:solidFill>
                  <a:srgbClr val="000099"/>
                </a:solidFill>
                <a:effectLst/>
                <a:uLnTx/>
                <a:uFillTx/>
                <a:latin typeface="Arial"/>
                <a:ea typeface="宋体"/>
              </a:rPr>
              <a:t>低频响应，如被测物理量是缓慢变化的动态量 </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en-US" altLang="zh-CN"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zh-CN" altLang="en-US" sz="2200" b="1" i="0" u="none" strike="noStrike" kern="1200" cap="none" spc="0" normalizeH="0" baseline="0" noProof="0">
                <a:ln>
                  <a:noFill/>
                </a:ln>
                <a:solidFill>
                  <a:srgbClr val="000099"/>
                </a:solidFill>
                <a:effectLst/>
                <a:uLnTx/>
                <a:uFillTx/>
                <a:latin typeface="Arial"/>
                <a:ea typeface="宋体"/>
              </a:rPr>
              <a:t>小</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zh-CN" altLang="en-US" sz="2200" b="1" i="0" u="none" strike="noStrike" kern="1200" cap="none" spc="0" normalizeH="0" baseline="0" noProof="0">
                <a:ln>
                  <a:noFill/>
                </a:ln>
                <a:solidFill>
                  <a:srgbClr val="000099"/>
                </a:solidFill>
                <a:effectLst/>
                <a:uLnTx/>
                <a:uFillTx/>
                <a:latin typeface="Arial"/>
                <a:ea typeface="宋体"/>
              </a:rPr>
              <a:t>，而测量回路的时间常数</a:t>
            </a:r>
            <a:r>
              <a:rPr kumimoji="0" lang="zh-CN" altLang="en-US"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zh-CN" altLang="en-US" sz="2200" b="1" i="0" u="none" strike="noStrike" kern="1200" cap="none" spc="0" normalizeH="0" baseline="0" noProof="0">
                <a:ln>
                  <a:noFill/>
                </a:ln>
                <a:solidFill>
                  <a:srgbClr val="000099"/>
                </a:solidFill>
                <a:effectLst/>
                <a:uLnTx/>
                <a:uFillTx/>
                <a:latin typeface="Arial"/>
                <a:ea typeface="宋体"/>
              </a:rPr>
              <a:t>又不大，则造成传感器灵敏度</a:t>
            </a:r>
            <a:r>
              <a:rPr kumimoji="0" lang="en-US" altLang="zh-CN" sz="2200" b="1" i="0" u="none" strike="noStrike" kern="1200" cap="none" spc="0" normalizeH="0" baseline="0" noProof="0">
                <a:ln>
                  <a:noFill/>
                </a:ln>
                <a:solidFill>
                  <a:srgbClr val="000099"/>
                </a:solidFill>
                <a:effectLst/>
                <a:uLnTx/>
                <a:uFillTx/>
                <a:latin typeface="Arial"/>
                <a:ea typeface="宋体"/>
              </a:rPr>
              <a:t>K(</a:t>
            </a:r>
            <a:r>
              <a:rPr kumimoji="0" lang="en-US" altLang="zh-CN" sz="2200" b="1" i="0" u="none" strike="noStrike" kern="1200" cap="none" spc="0" normalizeH="0" baseline="0" noProof="0">
                <a:ln>
                  <a:noFill/>
                </a:ln>
                <a:solidFill>
                  <a:srgbClr val="000099"/>
                </a:solidFill>
                <a:effectLst/>
                <a:uLnTx/>
                <a:uFillTx/>
                <a:latin typeface="Arial"/>
                <a:ea typeface="宋体"/>
                <a:sym typeface="Symbol" panose="05050102010706020507" pitchFamily="18" charset="2"/>
              </a:rPr>
              <a:t></a:t>
            </a:r>
            <a:r>
              <a:rPr kumimoji="0" lang="en-US" altLang="zh-CN" sz="2200" b="1" i="0" u="none" strike="noStrike" kern="1200" cap="none" spc="0" normalizeH="0" baseline="0" noProof="0">
                <a:ln>
                  <a:noFill/>
                </a:ln>
                <a:solidFill>
                  <a:srgbClr val="000099"/>
                </a:solidFill>
                <a:effectLst/>
                <a:uLnTx/>
                <a:uFillTx/>
                <a:latin typeface="Arial"/>
                <a:ea typeface="宋体"/>
              </a:rPr>
              <a:t>)</a:t>
            </a:r>
            <a:r>
              <a:rPr kumimoji="0" lang="zh-CN" altLang="en-US" sz="2200" b="1" i="0" u="none" strike="noStrike" kern="1200" cap="none" spc="0" normalizeH="0" baseline="0" noProof="0">
                <a:ln>
                  <a:noFill/>
                </a:ln>
                <a:solidFill>
                  <a:srgbClr val="000099"/>
                </a:solidFill>
                <a:effectLst/>
                <a:uLnTx/>
                <a:uFillTx/>
                <a:latin typeface="Arial"/>
                <a:ea typeface="宋体"/>
              </a:rPr>
              <a:t>下降，产生低频动态误差。这时，</a:t>
            </a:r>
            <a:r>
              <a:rPr kumimoji="0" lang="zh-CN" altLang="en-US" sz="2200" b="1" i="0" u="none" strike="noStrike" kern="1200" cap="none" spc="0" normalizeH="0" baseline="0" noProof="0">
                <a:ln>
                  <a:noFill/>
                </a:ln>
                <a:solidFill>
                  <a:srgbClr val="FF0000"/>
                </a:solidFill>
                <a:effectLst/>
                <a:uLnTx/>
                <a:uFillTx/>
                <a:latin typeface="Arial"/>
                <a:ea typeface="宋体"/>
              </a:rPr>
              <a:t>尽可能提高输入电阻来加大时间常数</a:t>
            </a:r>
            <a:r>
              <a:rPr kumimoji="0" lang="zh-CN" altLang="en-US" sz="2200" b="1" i="0" u="none" strike="noStrike" kern="1200" cap="none" spc="0" normalizeH="0" baseline="0" noProof="0">
                <a:ln>
                  <a:noFill/>
                </a:ln>
                <a:solidFill>
                  <a:srgbClr val="000099"/>
                </a:solidFill>
                <a:effectLst/>
                <a:uLnTx/>
                <a:uFillTx/>
                <a:latin typeface="Arial"/>
                <a:ea typeface="宋体"/>
              </a:rPr>
              <a:t>，而不应增加回路电容，否则导致电压灵敏度</a:t>
            </a:r>
            <a:r>
              <a:rPr kumimoji="0" lang="en-US" altLang="zh-CN" sz="2200" b="1" i="1" u="none" strike="noStrike" kern="1200" cap="none" spc="0" normalizeH="0" baseline="0" noProof="0">
                <a:ln>
                  <a:noFill/>
                </a:ln>
                <a:solidFill>
                  <a:srgbClr val="000099"/>
                </a:solidFill>
                <a:effectLst/>
                <a:uLnTx/>
                <a:uFillTx/>
                <a:latin typeface="Arial"/>
                <a:ea typeface="宋体"/>
              </a:rPr>
              <a:t>k</a:t>
            </a:r>
            <a:r>
              <a:rPr kumimoji="0" lang="en-US" altLang="zh-CN" sz="2200" b="1" i="1" u="none" strike="noStrike" kern="1200" cap="none" spc="0" normalizeH="0" baseline="-25000" noProof="0">
                <a:ln>
                  <a:noFill/>
                </a:ln>
                <a:solidFill>
                  <a:srgbClr val="000099"/>
                </a:solidFill>
                <a:effectLst/>
                <a:uLnTx/>
                <a:uFillTx/>
                <a:latin typeface="Arial"/>
                <a:ea typeface="宋体"/>
              </a:rPr>
              <a:t>u</a:t>
            </a:r>
            <a:r>
              <a:rPr kumimoji="0" lang="zh-CN" altLang="en-US" sz="2200" b="1" i="0" u="none" strike="noStrike" kern="1200" cap="none" spc="0" normalizeH="0" baseline="0" noProof="0">
                <a:ln>
                  <a:noFill/>
                </a:ln>
                <a:solidFill>
                  <a:srgbClr val="000099"/>
                </a:solidFill>
                <a:effectLst/>
                <a:uLnTx/>
                <a:uFillTx/>
                <a:latin typeface="Arial"/>
                <a:ea typeface="宋体"/>
              </a:rPr>
              <a:t>下降。</a:t>
            </a:r>
          </a:p>
        </p:txBody>
      </p:sp>
      <p:graphicFrame>
        <p:nvGraphicFramePr>
          <p:cNvPr id="13" name="Object 6">
            <a:extLst>
              <a:ext uri="{FF2B5EF4-FFF2-40B4-BE49-F238E27FC236}">
                <a16:creationId xmlns:a16="http://schemas.microsoft.com/office/drawing/2014/main" id="{ADBE4DF3-6FD8-4FD3-9405-63F9A53123DB}"/>
              </a:ext>
            </a:extLst>
          </p:cNvPr>
          <p:cNvGraphicFramePr>
            <a:graphicFrameLocks noChangeAspect="1"/>
          </p:cNvGraphicFramePr>
          <p:nvPr>
            <p:extLst>
              <p:ext uri="{D42A27DB-BD31-4B8C-83A1-F6EECF244321}">
                <p14:modId xmlns:p14="http://schemas.microsoft.com/office/powerpoint/2010/main" val="524869664"/>
              </p:ext>
            </p:extLst>
          </p:nvPr>
        </p:nvGraphicFramePr>
        <p:xfrm>
          <a:off x="744721" y="5828876"/>
          <a:ext cx="3864466" cy="994852"/>
        </p:xfrm>
        <a:graphic>
          <a:graphicData uri="http://schemas.openxmlformats.org/presentationml/2006/ole">
            <mc:AlternateContent xmlns:mc="http://schemas.openxmlformats.org/markup-compatibility/2006">
              <mc:Choice xmlns:v="urn:schemas-microsoft-com:vml" Requires="v">
                <p:oleObj name="公式" r:id="rId8" imgW="2565360" imgH="660240" progId="Equation.3">
                  <p:embed/>
                </p:oleObj>
              </mc:Choice>
              <mc:Fallback>
                <p:oleObj name="公式" r:id="rId8" imgW="2565360" imgH="660240" progId="Equation.3">
                  <p:embed/>
                  <p:pic>
                    <p:nvPicPr>
                      <p:cNvPr id="271366" name="Object 6">
                        <a:extLst>
                          <a:ext uri="{FF2B5EF4-FFF2-40B4-BE49-F238E27FC236}">
                            <a16:creationId xmlns:a16="http://schemas.microsoft.com/office/drawing/2014/main" id="{92CEF39C-8121-409C-904C-AF14F7BEBB6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4721" y="5828876"/>
                        <a:ext cx="3864466" cy="99485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971899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8" name="圆角矩形 27"/>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6.4.1</a:t>
            </a:r>
          </a:p>
        </p:txBody>
      </p:sp>
      <p:sp>
        <p:nvSpPr>
          <p:cNvPr id="29" name="矩形 28"/>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电压放大器</a:t>
            </a:r>
          </a:p>
        </p:txBody>
      </p:sp>
      <p:sp>
        <p:nvSpPr>
          <p:cNvPr id="3" name="Slide Number Placeholder 2">
            <a:extLst>
              <a:ext uri="{FF2B5EF4-FFF2-40B4-BE49-F238E27FC236}">
                <a16:creationId xmlns:a16="http://schemas.microsoft.com/office/drawing/2014/main" id="{7AB7BA79-C2FA-4C88-8BAA-E8A1753300BD}"/>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
        <p:nvSpPr>
          <p:cNvPr id="9" name="Rectangle 3">
            <a:extLst>
              <a:ext uri="{FF2B5EF4-FFF2-40B4-BE49-F238E27FC236}">
                <a16:creationId xmlns:a16="http://schemas.microsoft.com/office/drawing/2014/main" id="{D56C425C-A5D4-4623-8534-3EAB507DFFE5}"/>
              </a:ext>
            </a:extLst>
          </p:cNvPr>
          <p:cNvSpPr txBox="1">
            <a:spLocks noRot="1" noChangeArrowheads="1"/>
          </p:cNvSpPr>
          <p:nvPr/>
        </p:nvSpPr>
        <p:spPr bwMode="auto">
          <a:xfrm>
            <a:off x="161450" y="1495473"/>
            <a:ext cx="8447088"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Char char="§"/>
              <a:tabLst/>
              <a:defRPr/>
            </a:pPr>
            <a:r>
              <a:rPr lang="zh-CN" altLang="en-US" sz="2200" b="1">
                <a:solidFill>
                  <a:srgbClr val="000099"/>
                </a:solidFill>
                <a:latin typeface="Arial"/>
                <a:ea typeface="宋体"/>
              </a:rPr>
              <a:t>当</a:t>
            </a:r>
            <a:r>
              <a:rPr lang="zh-CN" altLang="en-US" sz="2200" b="1">
                <a:solidFill>
                  <a:srgbClr val="000099"/>
                </a:solidFill>
                <a:latin typeface="Arial"/>
                <a:ea typeface="宋体"/>
                <a:sym typeface="Symbol" panose="05050102010706020507" pitchFamily="18" charset="2"/>
              </a:rPr>
              <a:t></a:t>
            </a:r>
            <a:r>
              <a:rPr lang="en-US" altLang="zh-CN" sz="2200" b="1">
                <a:solidFill>
                  <a:srgbClr val="000099"/>
                </a:solidFill>
                <a:latin typeface="Arial"/>
                <a:ea typeface="宋体"/>
                <a:sym typeface="Symbol" panose="05050102010706020507" pitchFamily="18" charset="2"/>
              </a:rPr>
              <a:t>R&gt;&gt;1</a:t>
            </a:r>
            <a:r>
              <a:rPr lang="zh-CN" altLang="en-US" sz="2200" b="1">
                <a:solidFill>
                  <a:srgbClr val="000099"/>
                </a:solidFill>
                <a:latin typeface="Arial"/>
                <a:ea typeface="宋体"/>
                <a:sym typeface="Symbol" panose="05050102010706020507" pitchFamily="18" charset="2"/>
              </a:rPr>
              <a:t>时</a:t>
            </a:r>
          </a:p>
        </p:txBody>
      </p:sp>
      <p:graphicFrame>
        <p:nvGraphicFramePr>
          <p:cNvPr id="10" name="Object 4">
            <a:extLst>
              <a:ext uri="{FF2B5EF4-FFF2-40B4-BE49-F238E27FC236}">
                <a16:creationId xmlns:a16="http://schemas.microsoft.com/office/drawing/2014/main" id="{1B28CD31-FD34-49A8-AF81-15C7FA39809D}"/>
              </a:ext>
            </a:extLst>
          </p:cNvPr>
          <p:cNvGraphicFramePr>
            <a:graphicFrameLocks noChangeAspect="1"/>
          </p:cNvGraphicFramePr>
          <p:nvPr>
            <p:extLst>
              <p:ext uri="{D42A27DB-BD31-4B8C-83A1-F6EECF244321}">
                <p14:modId xmlns:p14="http://schemas.microsoft.com/office/powerpoint/2010/main" val="1226546078"/>
              </p:ext>
            </p:extLst>
          </p:nvPr>
        </p:nvGraphicFramePr>
        <p:xfrm>
          <a:off x="925389" y="2221178"/>
          <a:ext cx="6815137" cy="1554162"/>
        </p:xfrm>
        <a:graphic>
          <a:graphicData uri="http://schemas.openxmlformats.org/presentationml/2006/ole">
            <mc:AlternateContent xmlns:mc="http://schemas.openxmlformats.org/markup-compatibility/2006">
              <mc:Choice xmlns:v="urn:schemas-microsoft-com:vml" Requires="v">
                <p:oleObj name="公式" r:id="rId3" imgW="2895480" imgH="660240" progId="Equation.3">
                  <p:embed/>
                </p:oleObj>
              </mc:Choice>
              <mc:Fallback>
                <p:oleObj name="公式" r:id="rId3" imgW="2895480" imgH="660240" progId="Equation.3">
                  <p:embed/>
                  <p:pic>
                    <p:nvPicPr>
                      <p:cNvPr id="279556" name="Object 4">
                        <a:extLst>
                          <a:ext uri="{FF2B5EF4-FFF2-40B4-BE49-F238E27FC236}">
                            <a16:creationId xmlns:a16="http://schemas.microsoft.com/office/drawing/2014/main" id="{830AC341-B660-4DA3-A2A0-1814149ACE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389" y="2221178"/>
                        <a:ext cx="6815137" cy="155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Text Box 8">
            <a:extLst>
              <a:ext uri="{FF2B5EF4-FFF2-40B4-BE49-F238E27FC236}">
                <a16:creationId xmlns:a16="http://schemas.microsoft.com/office/drawing/2014/main" id="{213C5C2A-6EB9-49F9-BFBB-B9B47D82C1EE}"/>
              </a:ext>
            </a:extLst>
          </p:cNvPr>
          <p:cNvSpPr txBox="1">
            <a:spLocks noChangeArrowheads="1"/>
          </p:cNvSpPr>
          <p:nvPr/>
        </p:nvSpPr>
        <p:spPr bwMode="auto">
          <a:xfrm>
            <a:off x="274143" y="4048607"/>
            <a:ext cx="8393432"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可见，</a:t>
            </a:r>
            <a:r>
              <a:rPr kumimoji="0" lang="zh-CN" altLang="en-US" sz="2400" b="1" i="0" u="none" strike="noStrike" kern="0" cap="none" spc="0" normalizeH="0" baseline="0" noProof="0">
                <a:ln>
                  <a:noFill/>
                </a:ln>
                <a:solidFill>
                  <a:srgbClr val="FF0000"/>
                </a:solidFill>
                <a:effectLst/>
                <a:uLnTx/>
                <a:uFillTx/>
                <a:latin typeface="Arial" panose="020B0604020202020204" pitchFamily="34" charset="0"/>
                <a:ea typeface="宋体" panose="02010600030101010101" pitchFamily="2" charset="-122"/>
              </a:rPr>
              <a:t>连接电缆线不宜太长</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1"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电缆长，电缆电容</a:t>
            </a:r>
            <a:r>
              <a:rPr kumimoji="1" lang="en-US" altLang="zh-CN" sz="24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C</a:t>
            </a:r>
            <a:r>
              <a:rPr kumimoji="1"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c</a:t>
            </a:r>
            <a:r>
              <a:rPr kumimoji="1"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就大，</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而且</a:t>
            </a:r>
            <a:r>
              <a:rPr kumimoji="0" lang="zh-CN" altLang="en-US" sz="2400" b="1" i="0" u="none" strike="noStrike" kern="0" cap="none" spc="0" normalizeH="0" baseline="0" noProof="0">
                <a:ln>
                  <a:noFill/>
                </a:ln>
                <a:solidFill>
                  <a:srgbClr val="FF0000"/>
                </a:solidFill>
                <a:effectLst/>
                <a:uLnTx/>
                <a:uFillTx/>
                <a:latin typeface="Arial" panose="020B0604020202020204" pitchFamily="34" charset="0"/>
                <a:ea typeface="宋体" panose="02010600030101010101" pitchFamily="2" charset="-122"/>
              </a:rPr>
              <a:t>也不能随意更换电缆</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，否则会使传感器实际灵敏度与出厂校正灵敏度不一致，导致测量误差。</a:t>
            </a:r>
          </a:p>
        </p:txBody>
      </p:sp>
      <p:graphicFrame>
        <p:nvGraphicFramePr>
          <p:cNvPr id="2" name="Object 1">
            <a:extLst>
              <a:ext uri="{FF2B5EF4-FFF2-40B4-BE49-F238E27FC236}">
                <a16:creationId xmlns:a16="http://schemas.microsoft.com/office/drawing/2014/main" id="{6BB5BADA-DBC4-46DF-99C1-DFF96B614978}"/>
              </a:ext>
            </a:extLst>
          </p:cNvPr>
          <p:cNvGraphicFramePr>
            <a:graphicFrameLocks noChangeAspect="1"/>
          </p:cNvGraphicFramePr>
          <p:nvPr>
            <p:extLst>
              <p:ext uri="{D42A27DB-BD31-4B8C-83A1-F6EECF244321}">
                <p14:modId xmlns:p14="http://schemas.microsoft.com/office/powerpoint/2010/main" val="1895104593"/>
              </p:ext>
            </p:extLst>
          </p:nvPr>
        </p:nvGraphicFramePr>
        <p:xfrm>
          <a:off x="6696744" y="1088279"/>
          <a:ext cx="2087563" cy="814387"/>
        </p:xfrm>
        <a:graphic>
          <a:graphicData uri="http://schemas.openxmlformats.org/presentationml/2006/ole">
            <mc:AlternateContent xmlns:mc="http://schemas.openxmlformats.org/markup-compatibility/2006">
              <mc:Choice xmlns:v="urn:schemas-microsoft-com:vml" Requires="v">
                <p:oleObj name="Equation" r:id="rId5" imgW="2088156" imgH="813989" progId="Equation.DSMT4">
                  <p:embed/>
                </p:oleObj>
              </mc:Choice>
              <mc:Fallback>
                <p:oleObj name="Equation" r:id="rId5" imgW="2088156" imgH="813989" progId="Equation.DSMT4">
                  <p:embed/>
                  <p:pic>
                    <p:nvPicPr>
                      <p:cNvPr id="0" name=""/>
                      <p:cNvPicPr/>
                      <p:nvPr/>
                    </p:nvPicPr>
                    <p:blipFill>
                      <a:blip r:embed="rId6"/>
                      <a:stretch>
                        <a:fillRect/>
                      </a:stretch>
                    </p:blipFill>
                    <p:spPr>
                      <a:xfrm>
                        <a:off x="6696744" y="1088279"/>
                        <a:ext cx="2087563" cy="814387"/>
                      </a:xfrm>
                      <a:prstGeom prst="rect">
                        <a:avLst/>
                      </a:prstGeom>
                    </p:spPr>
                  </p:pic>
                </p:oleObj>
              </mc:Fallback>
            </mc:AlternateContent>
          </a:graphicData>
        </a:graphic>
      </p:graphicFrame>
    </p:spTree>
    <p:extLst>
      <p:ext uri="{BB962C8B-B14F-4D97-AF65-F5344CB8AC3E}">
        <p14:creationId xmlns:p14="http://schemas.microsoft.com/office/powerpoint/2010/main" val="11957676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2" name="圆角矩形 21"/>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27" name="矩形 26"/>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sp>
        <p:nvSpPr>
          <p:cNvPr id="2" name="Slide Number Placeholder 1">
            <a:extLst>
              <a:ext uri="{FF2B5EF4-FFF2-40B4-BE49-F238E27FC236}">
                <a16:creationId xmlns:a16="http://schemas.microsoft.com/office/drawing/2014/main" id="{A3558403-EB0C-436A-A360-203A3DD9F73E}"/>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pic>
        <p:nvPicPr>
          <p:cNvPr id="10" name="Picture 34">
            <a:extLst>
              <a:ext uri="{FF2B5EF4-FFF2-40B4-BE49-F238E27FC236}">
                <a16:creationId xmlns:a16="http://schemas.microsoft.com/office/drawing/2014/main" id="{970B70AD-0FCA-4EB7-9702-1C9DB5E43B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2839" y="3141961"/>
            <a:ext cx="4592837" cy="27527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35">
            <a:extLst>
              <a:ext uri="{FF2B5EF4-FFF2-40B4-BE49-F238E27FC236}">
                <a16:creationId xmlns:a16="http://schemas.microsoft.com/office/drawing/2014/main" id="{F190B6D3-DC98-4B28-95D8-E809520D53EB}"/>
              </a:ext>
            </a:extLst>
          </p:cNvPr>
          <p:cNvSpPr txBox="1">
            <a:spLocks noChangeArrowheads="1"/>
          </p:cNvSpPr>
          <p:nvPr/>
        </p:nvSpPr>
        <p:spPr bwMode="auto">
          <a:xfrm>
            <a:off x="250825" y="4211167"/>
            <a:ext cx="4735286" cy="1451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fontAlgn="base">
              <a:lnSpc>
                <a:spcPct val="120000"/>
              </a:lnSpc>
              <a:spcBef>
                <a:spcPct val="20000"/>
              </a:spcBef>
              <a:spcAft>
                <a:spcPct val="0"/>
              </a:spcAft>
              <a:buClr>
                <a:srgbClr val="FF0000"/>
              </a:buClr>
            </a:pPr>
            <a:r>
              <a:rPr kumimoji="1" lang="zh-CN" altLang="en-US" sz="2400" b="1" kern="0">
                <a:solidFill>
                  <a:srgbClr val="000099"/>
                </a:solidFill>
              </a:rPr>
              <a:t>电荷放大器的一个突出优点</a:t>
            </a:r>
            <a:r>
              <a:rPr kumimoji="1" lang="zh-CN" altLang="en-US"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a:t>
            </a:r>
            <a:endParaRPr kumimoji="1" lang="en-US" altLang="zh-CN" sz="24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a:p>
            <a:pPr marL="0" lvl="0" indent="0" fontAlgn="base">
              <a:lnSpc>
                <a:spcPct val="120000"/>
              </a:lnSpc>
              <a:spcBef>
                <a:spcPct val="20000"/>
              </a:spcBef>
              <a:spcAft>
                <a:spcPct val="0"/>
              </a:spcAft>
              <a:buClr>
                <a:srgbClr val="FF0000"/>
              </a:buClr>
            </a:pPr>
            <a:r>
              <a:rPr kumimoji="1" lang="zh-CN" altLang="en-US" sz="2400" b="1" i="0" u="none" strike="noStrike" kern="0" cap="none" spc="0" normalizeH="0" baseline="0" noProof="0">
                <a:ln>
                  <a:noFill/>
                </a:ln>
                <a:solidFill>
                  <a:srgbClr val="CC3300"/>
                </a:solidFill>
                <a:effectLst/>
                <a:uLnTx/>
                <a:uFillTx/>
                <a:latin typeface="Arial" panose="020B0604020202020204" pitchFamily="34" charset="0"/>
                <a:ea typeface="宋体" panose="02010600030101010101" pitchFamily="2" charset="-122"/>
              </a:rPr>
              <a:t>在一定条件下，传感器的灵敏度与电缆长度无关。</a:t>
            </a:r>
          </a:p>
        </p:txBody>
      </p:sp>
      <p:sp>
        <p:nvSpPr>
          <p:cNvPr id="12" name="Rectangle 36">
            <a:extLst>
              <a:ext uri="{FF2B5EF4-FFF2-40B4-BE49-F238E27FC236}">
                <a16:creationId xmlns:a16="http://schemas.microsoft.com/office/drawing/2014/main" id="{08FEFB48-6340-45D8-94F4-BDCF1B2F2719}"/>
              </a:ext>
            </a:extLst>
          </p:cNvPr>
          <p:cNvSpPr>
            <a:spLocks noChangeArrowheads="1"/>
          </p:cNvSpPr>
          <p:nvPr/>
        </p:nvSpPr>
        <p:spPr bwMode="auto">
          <a:xfrm>
            <a:off x="4844267" y="5894686"/>
            <a:ext cx="42114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a:solidFill>
                  <a:srgbClr val="000099"/>
                </a:solidFill>
                <a:latin typeface="宋体" panose="02010600030101010101" pitchFamily="2" charset="-122"/>
              </a:rPr>
              <a:t>图</a:t>
            </a:r>
            <a:r>
              <a:rPr kumimoji="1" lang="en-US" altLang="zh-CN" sz="2400" b="1">
                <a:solidFill>
                  <a:srgbClr val="000099"/>
                </a:solidFill>
                <a:latin typeface="宋体" panose="02010600030101010101" pitchFamily="2" charset="-122"/>
              </a:rPr>
              <a:t>6-11  </a:t>
            </a:r>
            <a:r>
              <a:rPr kumimoji="1" lang="zh-CN" altLang="en-US" sz="2400" b="1">
                <a:solidFill>
                  <a:srgbClr val="000099"/>
                </a:solidFill>
                <a:latin typeface="宋体" panose="02010600030101010101" pitchFamily="2" charset="-122"/>
              </a:rPr>
              <a:t>电荷放大器等效电路</a:t>
            </a:r>
          </a:p>
        </p:txBody>
      </p:sp>
      <p:sp>
        <p:nvSpPr>
          <p:cNvPr id="9" name="Rectangle 3">
            <a:extLst>
              <a:ext uri="{FF2B5EF4-FFF2-40B4-BE49-F238E27FC236}">
                <a16:creationId xmlns:a16="http://schemas.microsoft.com/office/drawing/2014/main" id="{8DAD0C25-B483-454D-ABE7-97AD3C3493B5}"/>
              </a:ext>
            </a:extLst>
          </p:cNvPr>
          <p:cNvSpPr txBox="1">
            <a:spLocks noRot="1" noChangeArrowheads="1"/>
          </p:cNvSpPr>
          <p:nvPr/>
        </p:nvSpPr>
        <p:spPr bwMode="auto">
          <a:xfrm>
            <a:off x="250825" y="1135868"/>
            <a:ext cx="8501743"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FF0000"/>
              </a:buClr>
            </a:pPr>
            <a:r>
              <a:rPr kumimoji="0" lang="zh-CN" altLang="en-US" sz="2200" b="1" i="0" u="none" strike="noStrike" kern="1200" cap="none" spc="0" normalizeH="0" baseline="0" noProof="0">
                <a:ln>
                  <a:noFill/>
                </a:ln>
                <a:solidFill>
                  <a:srgbClr val="000099"/>
                </a:solidFill>
                <a:effectLst/>
                <a:uLnTx/>
                <a:uFillTx/>
                <a:latin typeface="Arial"/>
                <a:ea typeface="宋体"/>
                <a:cs typeface="+mn-cs"/>
              </a:rPr>
              <a:t>电压放大器使所配接的压电式传感器的</a:t>
            </a:r>
            <a:r>
              <a:rPr kumimoji="0" lang="zh-CN" altLang="en-US" sz="2200" b="1" i="0" u="none" strike="noStrike" kern="1200" cap="none" spc="0" normalizeH="0" baseline="0" noProof="0">
                <a:ln>
                  <a:noFill/>
                </a:ln>
                <a:solidFill>
                  <a:srgbClr val="FF0000"/>
                </a:solidFill>
                <a:effectLst/>
                <a:uLnTx/>
                <a:uFillTx/>
                <a:latin typeface="Arial"/>
                <a:ea typeface="宋体"/>
                <a:cs typeface="+mn-cs"/>
              </a:rPr>
              <a:t>电压灵敏度</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将随电缆</a:t>
            </a:r>
            <a:r>
              <a:rPr kumimoji="0" lang="zh-CN" altLang="en-US" sz="2200" b="1" i="0" u="none" strike="noStrike" kern="1200" cap="none" spc="0" normalizeH="0" baseline="0" noProof="0">
                <a:ln>
                  <a:noFill/>
                </a:ln>
                <a:solidFill>
                  <a:srgbClr val="FF0000"/>
                </a:solidFill>
                <a:effectLst/>
                <a:uLnTx/>
                <a:uFillTx/>
                <a:latin typeface="Arial"/>
                <a:ea typeface="宋体"/>
                <a:cs typeface="+mn-cs"/>
              </a:rPr>
              <a:t>分布电容</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及传感器</a:t>
            </a:r>
            <a:r>
              <a:rPr kumimoji="0" lang="zh-CN" altLang="en-US" sz="2200" b="1" i="0" u="none" strike="noStrike" kern="1200" cap="none" spc="0" normalizeH="0" baseline="0" noProof="0">
                <a:ln>
                  <a:noFill/>
                </a:ln>
                <a:solidFill>
                  <a:srgbClr val="FF0000"/>
                </a:solidFill>
                <a:effectLst/>
                <a:uLnTx/>
                <a:uFillTx/>
                <a:latin typeface="Arial"/>
                <a:ea typeface="宋体"/>
                <a:cs typeface="+mn-cs"/>
              </a:rPr>
              <a:t>自身电容</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的变化而</a:t>
            </a:r>
            <a:r>
              <a:rPr kumimoji="0" lang="zh-CN" altLang="en-US" sz="2200" b="1" i="0" u="none" strike="noStrike" kern="1200" cap="none" spc="0" normalizeH="0" baseline="0" noProof="0">
                <a:ln>
                  <a:noFill/>
                </a:ln>
                <a:solidFill>
                  <a:srgbClr val="FF0000"/>
                </a:solidFill>
                <a:effectLst/>
                <a:uLnTx/>
                <a:uFillTx/>
                <a:latin typeface="Arial"/>
                <a:ea typeface="宋体"/>
                <a:cs typeface="+mn-cs"/>
              </a:rPr>
              <a:t>变化</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，而且更换电缆需重新标定</a:t>
            </a:r>
            <a:endParaRPr kumimoji="0" lang="en-US" altLang="zh-CN" sz="2200" b="1" i="0" u="none" strike="noStrike" kern="1200" cap="none" spc="0" normalizeH="0" baseline="0" noProof="0">
              <a:ln>
                <a:noFill/>
              </a:ln>
              <a:solidFill>
                <a:srgbClr val="000099"/>
              </a:solidFill>
              <a:effectLst/>
              <a:uLnTx/>
              <a:uFillTx/>
              <a:latin typeface="Arial"/>
              <a:ea typeface="宋体"/>
              <a:cs typeface="+mn-cs"/>
            </a:endParaRPr>
          </a:p>
          <a:p>
            <a:pPr>
              <a:lnSpc>
                <a:spcPct val="120000"/>
              </a:lnSpc>
              <a:spcBef>
                <a:spcPts val="0"/>
              </a:spcBef>
              <a:buClr>
                <a:srgbClr val="FF0000"/>
              </a:buClr>
            </a:pPr>
            <a:r>
              <a:rPr kumimoji="0" lang="zh-CN" altLang="en-US" sz="2200" b="1" i="0" u="none" strike="noStrike" kern="1200" cap="none" spc="0" normalizeH="0" baseline="0" noProof="0">
                <a:ln>
                  <a:noFill/>
                </a:ln>
                <a:solidFill>
                  <a:srgbClr val="000099"/>
                </a:solidFill>
                <a:effectLst/>
                <a:uLnTx/>
                <a:uFillTx/>
                <a:latin typeface="Arial"/>
                <a:ea typeface="宋体"/>
                <a:cs typeface="+mn-cs"/>
              </a:rPr>
              <a:t>为此又发展了便于</a:t>
            </a:r>
            <a:r>
              <a:rPr kumimoji="0" lang="zh-CN" altLang="en-US" sz="2200" b="1" i="0" u="none" strike="noStrike" kern="1200" cap="none" spc="0" normalizeH="0" baseline="0" noProof="0">
                <a:ln>
                  <a:noFill/>
                </a:ln>
                <a:solidFill>
                  <a:srgbClr val="FF0000"/>
                </a:solidFill>
                <a:effectLst/>
                <a:uLnTx/>
                <a:uFillTx/>
                <a:latin typeface="Arial"/>
                <a:ea typeface="宋体"/>
                <a:cs typeface="+mn-cs"/>
              </a:rPr>
              <a:t>远距离测量</a:t>
            </a:r>
            <a:r>
              <a:rPr kumimoji="0" lang="zh-CN" altLang="en-US" sz="2200" b="1" i="0" u="none" strike="noStrike" kern="1200" cap="none" spc="0" normalizeH="0" baseline="0" noProof="0">
                <a:ln>
                  <a:noFill/>
                </a:ln>
                <a:solidFill>
                  <a:srgbClr val="000099"/>
                </a:solidFill>
                <a:effectLst/>
                <a:uLnTx/>
                <a:uFillTx/>
                <a:latin typeface="Arial"/>
                <a:ea typeface="宋体"/>
                <a:cs typeface="+mn-cs"/>
              </a:rPr>
              <a:t>的电荷放大器，被公认是一种较好的冲击测量放大器。</a:t>
            </a:r>
          </a:p>
          <a:p>
            <a:pPr>
              <a:lnSpc>
                <a:spcPct val="120000"/>
              </a:lnSpc>
              <a:buClr>
                <a:srgbClr val="FF0000"/>
              </a:buClr>
            </a:pPr>
            <a:r>
              <a:rPr kumimoji="0" lang="zh-CN" altLang="en-US" sz="2200" b="1" i="0"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电荷放大器实际上是一种具有</a:t>
            </a:r>
            <a:r>
              <a:rPr kumimoji="0" lang="zh-CN" altLang="en-US" sz="2200" b="1" i="0" u="none" strike="noStrike" kern="1200" cap="none" spc="0" normalizeH="0" baseline="0" noProof="0">
                <a:ln>
                  <a:noFill/>
                </a:ln>
                <a:solidFill>
                  <a:srgbClr val="FF0000"/>
                </a:solidFill>
                <a:effectLst/>
                <a:uLnTx/>
                <a:uFillTx/>
                <a:latin typeface="Times New Roman" panose="02020603050405020304" pitchFamily="18" charset="0"/>
                <a:ea typeface="宋体"/>
                <a:cs typeface="+mn-cs"/>
              </a:rPr>
              <a:t>深度电容负反馈</a:t>
            </a:r>
            <a:r>
              <a:rPr kumimoji="0" lang="zh-CN" altLang="en-US" sz="2200" b="1" i="0"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的高增益放大器，其等效电路如图所示。</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4AF150-A418-48BF-94A1-B31D22B3D90D}"/>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
        <p:nvSpPr>
          <p:cNvPr id="5" name="矩形 20">
            <a:extLst>
              <a:ext uri="{FF2B5EF4-FFF2-40B4-BE49-F238E27FC236}">
                <a16:creationId xmlns:a16="http://schemas.microsoft.com/office/drawing/2014/main" id="{48176855-3E1C-40B1-8632-1F44B033E3D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21">
            <a:extLst>
              <a:ext uri="{FF2B5EF4-FFF2-40B4-BE49-F238E27FC236}">
                <a16:creationId xmlns:a16="http://schemas.microsoft.com/office/drawing/2014/main" id="{633936AE-8B45-4964-A0C8-FFADDD0A8489}"/>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7" name="矩形 26">
            <a:extLst>
              <a:ext uri="{FF2B5EF4-FFF2-40B4-BE49-F238E27FC236}">
                <a16:creationId xmlns:a16="http://schemas.microsoft.com/office/drawing/2014/main" id="{6BDD8515-14BA-441B-AD7B-A4B230EAB759}"/>
              </a:ext>
            </a:extLst>
          </p:cNvPr>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pic>
        <p:nvPicPr>
          <p:cNvPr id="8" name="Picture 7">
            <a:extLst>
              <a:ext uri="{FF2B5EF4-FFF2-40B4-BE49-F238E27FC236}">
                <a16:creationId xmlns:a16="http://schemas.microsoft.com/office/drawing/2014/main" id="{C3354A7D-6C04-4677-8940-2089E44C8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7674" y="1173289"/>
            <a:ext cx="4798001" cy="140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2">
            <a:extLst>
              <a:ext uri="{FF2B5EF4-FFF2-40B4-BE49-F238E27FC236}">
                <a16:creationId xmlns:a16="http://schemas.microsoft.com/office/drawing/2014/main" id="{B5501A92-3139-40D8-9D4D-886FD45DFA60}"/>
              </a:ext>
            </a:extLst>
          </p:cNvPr>
          <p:cNvSpPr txBox="1">
            <a:spLocks noRot="1" noChangeArrowheads="1"/>
          </p:cNvSpPr>
          <p:nvPr/>
        </p:nvSpPr>
        <p:spPr bwMode="auto">
          <a:xfrm>
            <a:off x="-57150" y="2622310"/>
            <a:ext cx="7122659" cy="405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None/>
              <a:tabLst/>
              <a:defRPr/>
            </a:pP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    C</a:t>
            </a:r>
            <a:r>
              <a:rPr kumimoji="0" lang="en-US" altLang="zh-CN" sz="2200" b="1" i="0" u="none" strike="noStrike" kern="1200" cap="none" spc="0" normalizeH="0" baseline="-25000" noProof="0">
                <a:ln>
                  <a:noFill/>
                </a:ln>
                <a:solidFill>
                  <a:srgbClr val="000099"/>
                </a:solidFill>
                <a:effectLst/>
                <a:uLnTx/>
                <a:uFillTx/>
                <a:latin typeface="Times New Roman" panose="02020603050405020304" pitchFamily="18" charset="0"/>
                <a:ea typeface="宋体"/>
                <a:cs typeface="+mn-cs"/>
              </a:rPr>
              <a:t>F</a:t>
            </a:r>
            <a:r>
              <a:rPr kumimoji="0" lang="zh-CN" altLang="en-US"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a:t>
            </a: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R</a:t>
            </a:r>
            <a:r>
              <a:rPr kumimoji="0" lang="en-US" altLang="zh-CN" sz="2200" b="1" i="1" u="none" strike="noStrike" kern="1200" cap="none" spc="0" normalizeH="0" baseline="-25000" noProof="0">
                <a:ln>
                  <a:noFill/>
                </a:ln>
                <a:solidFill>
                  <a:srgbClr val="000099"/>
                </a:solidFill>
                <a:effectLst/>
                <a:uLnTx/>
                <a:uFillTx/>
                <a:latin typeface="Times New Roman" panose="02020603050405020304" pitchFamily="18" charset="0"/>
                <a:ea typeface="宋体"/>
                <a:cs typeface="+mn-cs"/>
              </a:rPr>
              <a:t>F</a:t>
            </a:r>
            <a:r>
              <a:rPr kumimoji="0" lang="zh-CN" altLang="en-US"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等效到运放输入端时，电容</a:t>
            </a: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C</a:t>
            </a:r>
            <a:r>
              <a:rPr kumimoji="0" lang="en-US" altLang="zh-CN" sz="2200" b="1" i="1" u="none" strike="noStrike" kern="1200" cap="none" spc="0" normalizeH="0" baseline="-25000" noProof="0">
                <a:ln>
                  <a:noFill/>
                </a:ln>
                <a:solidFill>
                  <a:srgbClr val="000099"/>
                </a:solidFill>
                <a:effectLst/>
                <a:uLnTx/>
                <a:uFillTx/>
                <a:latin typeface="Times New Roman" panose="02020603050405020304" pitchFamily="18" charset="0"/>
                <a:ea typeface="宋体"/>
                <a:cs typeface="+mn-cs"/>
              </a:rPr>
              <a:t>F</a:t>
            </a:r>
            <a:r>
              <a:rPr kumimoji="0" lang="zh-CN" altLang="en-US"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a:t>
            </a:r>
            <a:r>
              <a:rPr kumimoji="0" lang="en-US" altLang="zh-CN" sz="2200" b="1" i="1"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R</a:t>
            </a:r>
            <a:r>
              <a:rPr kumimoji="0" lang="en-US" altLang="zh-CN" sz="2200" b="1" i="1" u="none" strike="noStrike" kern="1200" cap="none" spc="0" normalizeH="0" baseline="-25000" noProof="0">
                <a:ln>
                  <a:noFill/>
                </a:ln>
                <a:solidFill>
                  <a:srgbClr val="000099"/>
                </a:solidFill>
                <a:effectLst/>
                <a:uLnTx/>
                <a:uFillTx/>
                <a:latin typeface="Times New Roman" panose="02020603050405020304" pitchFamily="18" charset="0"/>
                <a:ea typeface="宋体"/>
                <a:cs typeface="+mn-cs"/>
              </a:rPr>
              <a:t>F</a:t>
            </a:r>
            <a:r>
              <a:rPr kumimoji="0" lang="zh-CN" altLang="en-US"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分别为</a:t>
            </a:r>
          </a:p>
        </p:txBody>
      </p:sp>
      <p:graphicFrame>
        <p:nvGraphicFramePr>
          <p:cNvPr id="12" name="Object 10">
            <a:extLst>
              <a:ext uri="{FF2B5EF4-FFF2-40B4-BE49-F238E27FC236}">
                <a16:creationId xmlns:a16="http://schemas.microsoft.com/office/drawing/2014/main" id="{A35501C1-18F5-4F2B-AB20-4A66785A31FE}"/>
              </a:ext>
            </a:extLst>
          </p:cNvPr>
          <p:cNvGraphicFramePr>
            <a:graphicFrameLocks noChangeAspect="1"/>
          </p:cNvGraphicFramePr>
          <p:nvPr>
            <p:extLst>
              <p:ext uri="{D42A27DB-BD31-4B8C-83A1-F6EECF244321}">
                <p14:modId xmlns:p14="http://schemas.microsoft.com/office/powerpoint/2010/main" val="4113651229"/>
              </p:ext>
            </p:extLst>
          </p:nvPr>
        </p:nvGraphicFramePr>
        <p:xfrm>
          <a:off x="2356642" y="3025855"/>
          <a:ext cx="2993765" cy="626429"/>
        </p:xfrm>
        <a:graphic>
          <a:graphicData uri="http://schemas.openxmlformats.org/presentationml/2006/ole">
            <mc:AlternateContent xmlns:mc="http://schemas.openxmlformats.org/markup-compatibility/2006">
              <mc:Choice xmlns:v="urn:schemas-microsoft-com:vml" Requires="v">
                <p:oleObj name="公式" r:id="rId3" imgW="1879600" imgH="393700" progId="Equation.3">
                  <p:embed/>
                </p:oleObj>
              </mc:Choice>
              <mc:Fallback>
                <p:oleObj name="公式" r:id="rId3" imgW="1879600" imgH="393700" progId="Equation.3">
                  <p:embed/>
                  <p:pic>
                    <p:nvPicPr>
                      <p:cNvPr id="38919" name="Object 10">
                        <a:extLst>
                          <a:ext uri="{FF2B5EF4-FFF2-40B4-BE49-F238E27FC236}">
                            <a16:creationId xmlns:a16="http://schemas.microsoft.com/office/drawing/2014/main" id="{EBE81AC3-6BB9-4502-8590-4E7166714C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6642" y="3025855"/>
                        <a:ext cx="2993765" cy="626429"/>
                      </a:xfrm>
                      <a:prstGeom prst="rect">
                        <a:avLst/>
                      </a:prstGeom>
                      <a:noFill/>
                      <a:ln>
                        <a:noFill/>
                      </a:ln>
                      <a:effectLst/>
                    </p:spPr>
                  </p:pic>
                </p:oleObj>
              </mc:Fallback>
            </mc:AlternateContent>
          </a:graphicData>
        </a:graphic>
      </p:graphicFrame>
      <p:pic>
        <p:nvPicPr>
          <p:cNvPr id="13" name="Picture 34">
            <a:extLst>
              <a:ext uri="{FF2B5EF4-FFF2-40B4-BE49-F238E27FC236}">
                <a16:creationId xmlns:a16="http://schemas.microsoft.com/office/drawing/2014/main" id="{8FD5CDE1-E3E1-4EBC-8F55-164FA0DC6A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721" y="1183342"/>
            <a:ext cx="2310467" cy="138478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Object 13">
            <a:extLst>
              <a:ext uri="{FF2B5EF4-FFF2-40B4-BE49-F238E27FC236}">
                <a16:creationId xmlns:a16="http://schemas.microsoft.com/office/drawing/2014/main" id="{FCB57BE2-FDAC-4365-A7EC-3500434CD758}"/>
              </a:ext>
            </a:extLst>
          </p:cNvPr>
          <p:cNvGraphicFramePr>
            <a:graphicFrameLocks noChangeAspect="1"/>
          </p:cNvGraphicFramePr>
          <p:nvPr>
            <p:extLst>
              <p:ext uri="{D42A27DB-BD31-4B8C-83A1-F6EECF244321}">
                <p14:modId xmlns:p14="http://schemas.microsoft.com/office/powerpoint/2010/main" val="2691127087"/>
              </p:ext>
            </p:extLst>
          </p:nvPr>
        </p:nvGraphicFramePr>
        <p:xfrm>
          <a:off x="2438400" y="3665538"/>
          <a:ext cx="4267200" cy="825500"/>
        </p:xfrm>
        <a:graphic>
          <a:graphicData uri="http://schemas.openxmlformats.org/presentationml/2006/ole">
            <mc:AlternateContent xmlns:mc="http://schemas.openxmlformats.org/markup-compatibility/2006">
              <mc:Choice xmlns:v="urn:schemas-microsoft-com:vml" Requires="v">
                <p:oleObj name="Equation" r:id="rId6" imgW="4267080" imgH="825480" progId="Equation.DSMT4">
                  <p:embed/>
                </p:oleObj>
              </mc:Choice>
              <mc:Fallback>
                <p:oleObj name="Equation" r:id="rId6" imgW="4267080" imgH="825480" progId="Equation.DSMT4">
                  <p:embed/>
                  <p:pic>
                    <p:nvPicPr>
                      <p:cNvPr id="0" name=""/>
                      <p:cNvPicPr/>
                      <p:nvPr/>
                    </p:nvPicPr>
                    <p:blipFill>
                      <a:blip r:embed="rId7"/>
                      <a:stretch>
                        <a:fillRect/>
                      </a:stretch>
                    </p:blipFill>
                    <p:spPr>
                      <a:xfrm>
                        <a:off x="2438400" y="3665538"/>
                        <a:ext cx="4267200" cy="825500"/>
                      </a:xfrm>
                      <a:prstGeom prst="rect">
                        <a:avLst/>
                      </a:prstGeom>
                    </p:spPr>
                  </p:pic>
                </p:oleObj>
              </mc:Fallback>
            </mc:AlternateContent>
          </a:graphicData>
        </a:graphic>
      </p:graphicFrame>
      <p:sp>
        <p:nvSpPr>
          <p:cNvPr id="17" name="Text Box 11">
            <a:extLst>
              <a:ext uri="{FF2B5EF4-FFF2-40B4-BE49-F238E27FC236}">
                <a16:creationId xmlns:a16="http://schemas.microsoft.com/office/drawing/2014/main" id="{5D28EA51-37DF-4DA5-A552-18ACFCABA1BE}"/>
              </a:ext>
            </a:extLst>
          </p:cNvPr>
          <p:cNvSpPr txBox="1">
            <a:spLocks noChangeArrowheads="1"/>
          </p:cNvSpPr>
          <p:nvPr/>
        </p:nvSpPr>
        <p:spPr bwMode="auto">
          <a:xfrm>
            <a:off x="185083" y="4819564"/>
            <a:ext cx="3544887"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4pPr>
            <a:lvl5pPr marL="2057400" indent="-2286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如果</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R</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a</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R</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i</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看作无限大，则</a:t>
            </a:r>
          </a:p>
        </p:txBody>
      </p:sp>
      <p:graphicFrame>
        <p:nvGraphicFramePr>
          <p:cNvPr id="18" name="Object 12">
            <a:extLst>
              <a:ext uri="{FF2B5EF4-FFF2-40B4-BE49-F238E27FC236}">
                <a16:creationId xmlns:a16="http://schemas.microsoft.com/office/drawing/2014/main" id="{53FC0D10-71F0-4789-93D6-FED75107436B}"/>
              </a:ext>
            </a:extLst>
          </p:cNvPr>
          <p:cNvGraphicFramePr>
            <a:graphicFrameLocks noChangeAspect="1"/>
          </p:cNvGraphicFramePr>
          <p:nvPr>
            <p:extLst>
              <p:ext uri="{D42A27DB-BD31-4B8C-83A1-F6EECF244321}">
                <p14:modId xmlns:p14="http://schemas.microsoft.com/office/powerpoint/2010/main" val="2442302762"/>
              </p:ext>
            </p:extLst>
          </p:nvPr>
        </p:nvGraphicFramePr>
        <p:xfrm>
          <a:off x="3943350" y="4675188"/>
          <a:ext cx="4433888" cy="1058862"/>
        </p:xfrm>
        <a:graphic>
          <a:graphicData uri="http://schemas.openxmlformats.org/presentationml/2006/ole">
            <mc:AlternateContent xmlns:mc="http://schemas.openxmlformats.org/markup-compatibility/2006">
              <mc:Choice xmlns:v="urn:schemas-microsoft-com:vml" Requires="v">
                <p:oleObj name="Equation" r:id="rId8" imgW="3454200" imgH="825480" progId="Equation.DSMT4">
                  <p:embed/>
                </p:oleObj>
              </mc:Choice>
              <mc:Fallback>
                <p:oleObj name="Equation" r:id="rId8" imgW="3454200" imgH="825480" progId="Equation.DSMT4">
                  <p:embed/>
                  <p:pic>
                    <p:nvPicPr>
                      <p:cNvPr id="38921" name="Object 12">
                        <a:extLst>
                          <a:ext uri="{FF2B5EF4-FFF2-40B4-BE49-F238E27FC236}">
                            <a16:creationId xmlns:a16="http://schemas.microsoft.com/office/drawing/2014/main" id="{CCEB7211-2FC5-41D8-A260-70875454712C}"/>
                          </a:ext>
                        </a:extLst>
                      </p:cNvPr>
                      <p:cNvPicPr>
                        <a:picLocks noChangeAspect="1" noChangeArrowheads="1"/>
                      </p:cNvPicPr>
                      <p:nvPr/>
                    </p:nvPicPr>
                    <p:blipFill>
                      <a:blip r:embed="rId9"/>
                      <a:srcRect/>
                      <a:stretch>
                        <a:fillRect/>
                      </a:stretch>
                    </p:blipFill>
                    <p:spPr bwMode="auto">
                      <a:xfrm>
                        <a:off x="3943350" y="4675188"/>
                        <a:ext cx="4433888" cy="1058862"/>
                      </a:xfrm>
                      <a:prstGeom prst="rect">
                        <a:avLst/>
                      </a:prstGeom>
                      <a:noFill/>
                      <a:ln>
                        <a:noFill/>
                      </a:ln>
                      <a:effectLst/>
                    </p:spPr>
                  </p:pic>
                </p:oleObj>
              </mc:Fallback>
            </mc:AlternateContent>
          </a:graphicData>
        </a:graphic>
      </p:graphicFrame>
      <p:sp>
        <p:nvSpPr>
          <p:cNvPr id="20" name="Text Box 9">
            <a:extLst>
              <a:ext uri="{FF2B5EF4-FFF2-40B4-BE49-F238E27FC236}">
                <a16:creationId xmlns:a16="http://schemas.microsoft.com/office/drawing/2014/main" id="{27104A2A-DC7B-4F1A-AE9A-957D9197622A}"/>
              </a:ext>
            </a:extLst>
          </p:cNvPr>
          <p:cNvSpPr txBox="1">
            <a:spLocks noChangeArrowheads="1"/>
          </p:cNvSpPr>
          <p:nvPr/>
        </p:nvSpPr>
        <p:spPr bwMode="auto">
          <a:xfrm>
            <a:off x="185083" y="5870577"/>
            <a:ext cx="2101850"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2pPr>
            <a:lvl3pPr marL="1143000" indent="-2286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3pPr>
            <a:lvl4pPr marL="1600200" indent="-2286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4pPr>
            <a:lvl5pPr marL="2057400" indent="-228600">
              <a:lnSpc>
                <a:spcPct val="120000"/>
              </a:lnSpc>
              <a:spcBef>
                <a:spcPct val="20000"/>
              </a:spcBef>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folHlink"/>
              </a:buClr>
              <a:buFont typeface="Wingdings" panose="05000000000000000000" pitchFamily="2" charset="2"/>
              <a:defRPr sz="2800" b="1">
                <a:solidFill>
                  <a:schemeClr val="tx2"/>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由于</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1/</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R</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&lt;&lt;</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p>
        </p:txBody>
      </p:sp>
      <p:graphicFrame>
        <p:nvGraphicFramePr>
          <p:cNvPr id="21" name="Object 20">
            <a:extLst>
              <a:ext uri="{FF2B5EF4-FFF2-40B4-BE49-F238E27FC236}">
                <a16:creationId xmlns:a16="http://schemas.microsoft.com/office/drawing/2014/main" id="{CFE4CC95-766E-4514-AC1B-54BB70791043}"/>
              </a:ext>
            </a:extLst>
          </p:cNvPr>
          <p:cNvGraphicFramePr>
            <a:graphicFrameLocks noChangeAspect="1"/>
          </p:cNvGraphicFramePr>
          <p:nvPr>
            <p:extLst>
              <p:ext uri="{D42A27DB-BD31-4B8C-83A1-F6EECF244321}">
                <p14:modId xmlns:p14="http://schemas.microsoft.com/office/powerpoint/2010/main" val="1035079902"/>
              </p:ext>
            </p:extLst>
          </p:nvPr>
        </p:nvGraphicFramePr>
        <p:xfrm>
          <a:off x="2446338" y="5799138"/>
          <a:ext cx="5932487" cy="704850"/>
        </p:xfrm>
        <a:graphic>
          <a:graphicData uri="http://schemas.openxmlformats.org/presentationml/2006/ole">
            <mc:AlternateContent xmlns:mc="http://schemas.openxmlformats.org/markup-compatibility/2006">
              <mc:Choice xmlns:v="urn:schemas-microsoft-com:vml" Requires="v">
                <p:oleObj name="Equation" r:id="rId10" imgW="5029200" imgH="596880" progId="Equation.DSMT4">
                  <p:embed/>
                </p:oleObj>
              </mc:Choice>
              <mc:Fallback>
                <p:oleObj name="Equation" r:id="rId10" imgW="5029200" imgH="596880" progId="Equation.DSMT4">
                  <p:embed/>
                  <p:pic>
                    <p:nvPicPr>
                      <p:cNvPr id="0" name=""/>
                      <p:cNvPicPr/>
                      <p:nvPr/>
                    </p:nvPicPr>
                    <p:blipFill>
                      <a:blip r:embed="rId11"/>
                      <a:stretch>
                        <a:fillRect/>
                      </a:stretch>
                    </p:blipFill>
                    <p:spPr>
                      <a:xfrm>
                        <a:off x="2446338" y="5799138"/>
                        <a:ext cx="5932487" cy="704850"/>
                      </a:xfrm>
                      <a:prstGeom prst="rect">
                        <a:avLst/>
                      </a:prstGeom>
                    </p:spPr>
                  </p:pic>
                </p:oleObj>
              </mc:Fallback>
            </mc:AlternateContent>
          </a:graphicData>
        </a:graphic>
      </p:graphicFrame>
    </p:spTree>
    <p:extLst>
      <p:ext uri="{BB962C8B-B14F-4D97-AF65-F5344CB8AC3E}">
        <p14:creationId xmlns:p14="http://schemas.microsoft.com/office/powerpoint/2010/main" val="1792522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2" name="圆角矩形 21"/>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27" name="矩形 26"/>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sp>
        <p:nvSpPr>
          <p:cNvPr id="2" name="Slide Number Placeholder 1">
            <a:extLst>
              <a:ext uri="{FF2B5EF4-FFF2-40B4-BE49-F238E27FC236}">
                <a16:creationId xmlns:a16="http://schemas.microsoft.com/office/drawing/2014/main" id="{A3558403-EB0C-436A-A360-203A3DD9F73E}"/>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pic>
        <p:nvPicPr>
          <p:cNvPr id="10" name="Picture 34">
            <a:extLst>
              <a:ext uri="{FF2B5EF4-FFF2-40B4-BE49-F238E27FC236}">
                <a16:creationId xmlns:a16="http://schemas.microsoft.com/office/drawing/2014/main" id="{970B70AD-0FCA-4EB7-9702-1C9DB5E43B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97" r="7320"/>
          <a:stretch/>
        </p:blipFill>
        <p:spPr bwMode="auto">
          <a:xfrm>
            <a:off x="5255600" y="0"/>
            <a:ext cx="3888400" cy="2884188"/>
          </a:xfrm>
          <a:prstGeom prst="rect">
            <a:avLst/>
          </a:prstGeom>
          <a:solidFill>
            <a:schemeClr val="bg1"/>
          </a:solidFill>
        </p:spPr>
      </p:pic>
      <p:sp>
        <p:nvSpPr>
          <p:cNvPr id="15" name="Text Box 4">
            <a:extLst>
              <a:ext uri="{FF2B5EF4-FFF2-40B4-BE49-F238E27FC236}">
                <a16:creationId xmlns:a16="http://schemas.microsoft.com/office/drawing/2014/main" id="{25CC717D-A91B-4133-94CA-76664A52E5E4}"/>
              </a:ext>
            </a:extLst>
          </p:cNvPr>
          <p:cNvSpPr txBox="1">
            <a:spLocks noChangeArrowheads="1"/>
          </p:cNvSpPr>
          <p:nvPr/>
        </p:nvSpPr>
        <p:spPr bwMode="auto">
          <a:xfrm>
            <a:off x="799535" y="2884188"/>
            <a:ext cx="3810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alt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6" name="Text Box 9">
            <a:extLst>
              <a:ext uri="{FF2B5EF4-FFF2-40B4-BE49-F238E27FC236}">
                <a16:creationId xmlns:a16="http://schemas.microsoft.com/office/drawing/2014/main" id="{82043D88-F67C-484B-B87B-813FB1C9B14C}"/>
              </a:ext>
            </a:extLst>
          </p:cNvPr>
          <p:cNvSpPr txBox="1">
            <a:spLocks noChangeArrowheads="1"/>
          </p:cNvSpPr>
          <p:nvPr/>
        </p:nvSpPr>
        <p:spPr bwMode="auto">
          <a:xfrm>
            <a:off x="1356747" y="3333451"/>
            <a:ext cx="1841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alt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aphicFrame>
        <p:nvGraphicFramePr>
          <p:cNvPr id="23" name="Object 13">
            <a:extLst>
              <a:ext uri="{FF2B5EF4-FFF2-40B4-BE49-F238E27FC236}">
                <a16:creationId xmlns:a16="http://schemas.microsoft.com/office/drawing/2014/main" id="{780951F4-50BB-4356-BDE8-D41ACF8D89D9}"/>
              </a:ext>
            </a:extLst>
          </p:cNvPr>
          <p:cNvGraphicFramePr>
            <a:graphicFrameLocks noChangeAspect="1"/>
          </p:cNvGraphicFramePr>
          <p:nvPr>
            <p:extLst>
              <p:ext uri="{D42A27DB-BD31-4B8C-83A1-F6EECF244321}">
                <p14:modId xmlns:p14="http://schemas.microsoft.com/office/powerpoint/2010/main" val="3133287650"/>
              </p:ext>
            </p:extLst>
          </p:nvPr>
        </p:nvGraphicFramePr>
        <p:xfrm>
          <a:off x="3103036" y="3404990"/>
          <a:ext cx="1343452" cy="952216"/>
        </p:xfrm>
        <a:graphic>
          <a:graphicData uri="http://schemas.openxmlformats.org/presentationml/2006/ole">
            <mc:AlternateContent xmlns:mc="http://schemas.openxmlformats.org/markup-compatibility/2006">
              <mc:Choice xmlns:v="urn:schemas-microsoft-com:vml" Requires="v">
                <p:oleObj name="公式" r:id="rId4" imgW="609480" imgH="431640" progId="Equation.3">
                  <p:embed/>
                </p:oleObj>
              </mc:Choice>
              <mc:Fallback>
                <p:oleObj name="公式" r:id="rId4" imgW="609480" imgH="431640" progId="Equation.3">
                  <p:embed/>
                  <p:pic>
                    <p:nvPicPr>
                      <p:cNvPr id="310285" name="Object 13">
                        <a:extLst>
                          <a:ext uri="{FF2B5EF4-FFF2-40B4-BE49-F238E27FC236}">
                            <a16:creationId xmlns:a16="http://schemas.microsoft.com/office/drawing/2014/main" id="{9EBBA617-B88A-4A4D-8241-2C7B80D348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3036" y="3404990"/>
                        <a:ext cx="1343452" cy="952216"/>
                      </a:xfrm>
                      <a:prstGeom prst="rect">
                        <a:avLst/>
                      </a:prstGeom>
                      <a:noFill/>
                      <a:ln>
                        <a:noFill/>
                      </a:ln>
                      <a:effectLst/>
                    </p:spPr>
                  </p:pic>
                </p:oleObj>
              </mc:Fallback>
            </mc:AlternateContent>
          </a:graphicData>
        </a:graphic>
      </p:graphicFrame>
      <p:sp>
        <p:nvSpPr>
          <p:cNvPr id="24" name="Text Box 7">
            <a:extLst>
              <a:ext uri="{FF2B5EF4-FFF2-40B4-BE49-F238E27FC236}">
                <a16:creationId xmlns:a16="http://schemas.microsoft.com/office/drawing/2014/main" id="{E5BDD868-2605-4F5D-B17F-8AC175139953}"/>
              </a:ext>
            </a:extLst>
          </p:cNvPr>
          <p:cNvSpPr txBox="1">
            <a:spLocks noChangeArrowheads="1"/>
          </p:cNvSpPr>
          <p:nvPr/>
        </p:nvSpPr>
        <p:spPr bwMode="auto">
          <a:xfrm>
            <a:off x="355829" y="2856255"/>
            <a:ext cx="5832475"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只要</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K</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足够大，</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(1+</a:t>
            </a:r>
            <a:r>
              <a:rPr kumimoji="0" lang="en-US" altLang="zh-CN" sz="22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K</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)&gt;&gt;(C</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a</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i</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p>
        </p:txBody>
      </p:sp>
      <p:sp>
        <p:nvSpPr>
          <p:cNvPr id="25" name="Rectangle 8">
            <a:extLst>
              <a:ext uri="{FF2B5EF4-FFF2-40B4-BE49-F238E27FC236}">
                <a16:creationId xmlns:a16="http://schemas.microsoft.com/office/drawing/2014/main" id="{063E5EB9-4755-4525-8B6F-F6D5A83C789D}"/>
              </a:ext>
            </a:extLst>
          </p:cNvPr>
          <p:cNvSpPr>
            <a:spLocks noChangeArrowheads="1"/>
          </p:cNvSpPr>
          <p:nvPr/>
        </p:nvSpPr>
        <p:spPr bwMode="auto">
          <a:xfrm>
            <a:off x="355829" y="1438312"/>
            <a:ext cx="1897062"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输出电压</a:t>
            </a:r>
            <a:r>
              <a:rPr kumimoji="0" lang="en-US" altLang="zh-CN" sz="22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U</a:t>
            </a:r>
            <a:r>
              <a:rPr kumimoji="0" lang="en-US" altLang="zh-CN" sz="22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0</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为</a:t>
            </a:r>
          </a:p>
        </p:txBody>
      </p:sp>
      <p:graphicFrame>
        <p:nvGraphicFramePr>
          <p:cNvPr id="26" name="Object 17">
            <a:extLst>
              <a:ext uri="{FF2B5EF4-FFF2-40B4-BE49-F238E27FC236}">
                <a16:creationId xmlns:a16="http://schemas.microsoft.com/office/drawing/2014/main" id="{7F4000DE-6097-4A7E-92A1-E4267C242FCF}"/>
              </a:ext>
            </a:extLst>
          </p:cNvPr>
          <p:cNvGraphicFramePr>
            <a:graphicFrameLocks noChangeAspect="1"/>
          </p:cNvGraphicFramePr>
          <p:nvPr>
            <p:extLst>
              <p:ext uri="{D42A27DB-BD31-4B8C-83A1-F6EECF244321}">
                <p14:modId xmlns:p14="http://schemas.microsoft.com/office/powerpoint/2010/main" val="767985371"/>
              </p:ext>
            </p:extLst>
          </p:nvPr>
        </p:nvGraphicFramePr>
        <p:xfrm>
          <a:off x="869950" y="1822450"/>
          <a:ext cx="4327525" cy="982663"/>
        </p:xfrm>
        <a:graphic>
          <a:graphicData uri="http://schemas.openxmlformats.org/presentationml/2006/ole">
            <mc:AlternateContent xmlns:mc="http://schemas.openxmlformats.org/markup-compatibility/2006">
              <mc:Choice xmlns:v="urn:schemas-microsoft-com:vml" Requires="v">
                <p:oleObj name="Equation" r:id="rId6" imgW="2463480" imgH="558720" progId="Equation.DSMT4">
                  <p:embed/>
                </p:oleObj>
              </mc:Choice>
              <mc:Fallback>
                <p:oleObj name="Equation" r:id="rId6" imgW="2463480" imgH="558720" progId="Equation.DSMT4">
                  <p:embed/>
                  <p:pic>
                    <p:nvPicPr>
                      <p:cNvPr id="310289" name="Object 17">
                        <a:extLst>
                          <a:ext uri="{FF2B5EF4-FFF2-40B4-BE49-F238E27FC236}">
                            <a16:creationId xmlns:a16="http://schemas.microsoft.com/office/drawing/2014/main" id="{8ABA664C-1DC9-41F5-BBA3-F6585219F215}"/>
                          </a:ext>
                        </a:extLst>
                      </p:cNvPr>
                      <p:cNvPicPr>
                        <a:picLocks noChangeAspect="1" noChangeArrowheads="1"/>
                      </p:cNvPicPr>
                      <p:nvPr/>
                    </p:nvPicPr>
                    <p:blipFill>
                      <a:blip r:embed="rId7"/>
                      <a:srcRect/>
                      <a:stretch>
                        <a:fillRect/>
                      </a:stretch>
                    </p:blipFill>
                    <p:spPr bwMode="auto">
                      <a:xfrm>
                        <a:off x="869950" y="1822450"/>
                        <a:ext cx="4327525"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 name="Text Box 22">
            <a:extLst>
              <a:ext uri="{FF2B5EF4-FFF2-40B4-BE49-F238E27FC236}">
                <a16:creationId xmlns:a16="http://schemas.microsoft.com/office/drawing/2014/main" id="{2C1A4439-0613-4DAA-BC45-6E8B6E3E77BE}"/>
              </a:ext>
            </a:extLst>
          </p:cNvPr>
          <p:cNvSpPr txBox="1">
            <a:spLocks noChangeArrowheads="1"/>
          </p:cNvSpPr>
          <p:nvPr/>
        </p:nvSpPr>
        <p:spPr bwMode="auto">
          <a:xfrm>
            <a:off x="179388" y="4525318"/>
            <a:ext cx="8876288" cy="1424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ts val="1200"/>
              </a:spcBef>
              <a:spcAft>
                <a:spcPct val="0"/>
              </a:spcAft>
              <a:buClr>
                <a:srgbClr val="FF0000"/>
              </a:buClr>
              <a:buSzTx/>
              <a:buFont typeface="Arial" panose="020B0604020202020204" pitchFamily="34" charset="0"/>
              <a:buChar char="•"/>
              <a:tabLst/>
              <a:defRPr/>
            </a:pP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反馈电容 </a:t>
            </a:r>
            <a:r>
              <a:rPr kumimoji="1"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1" lang="en-US" altLang="zh-CN" sz="2200" b="1" i="1"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F</a:t>
            </a:r>
            <a:r>
              <a:rPr kumimoji="1"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=100~10000</a:t>
            </a:r>
            <a:r>
              <a:rPr kumimoji="1" lang="en-US" altLang="zh-CN" sz="22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p</a:t>
            </a:r>
            <a:r>
              <a:rPr kumimoji="1"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F</a:t>
            </a: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连续可调以满足不同量程的被测物理量。</a:t>
            </a:r>
          </a:p>
          <a:p>
            <a:pPr marR="0" lvl="0" defTabSz="914400" eaLnBrk="1" fontAlgn="base" latinLnBrk="0" hangingPunct="1">
              <a:lnSpc>
                <a:spcPct val="120000"/>
              </a:lnSpc>
              <a:spcBef>
                <a:spcPts val="1200"/>
              </a:spcBef>
              <a:spcAft>
                <a:spcPct val="0"/>
              </a:spcAft>
              <a:buClr>
                <a:srgbClr val="FF0000"/>
              </a:buClr>
              <a:buSzTx/>
              <a:buFont typeface="Arial" panose="020B0604020202020204" pitchFamily="34" charset="0"/>
              <a:buChar char="•"/>
              <a:tabLst/>
              <a:defRPr/>
            </a:pP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输出电压</a:t>
            </a:r>
            <a:r>
              <a:rPr kumimoji="1"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U</a:t>
            </a:r>
            <a:r>
              <a:rPr kumimoji="1" lang="en-US" altLang="zh-CN" sz="22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0</a:t>
            </a: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正比于输入</a:t>
            </a:r>
            <a:r>
              <a:rPr kumimoji="1" lang="zh-CN" altLang="en-US" sz="2200" b="1" kern="0">
                <a:solidFill>
                  <a:srgbClr val="000099"/>
                </a:solidFill>
              </a:rPr>
              <a:t>电荷</a:t>
            </a:r>
            <a:r>
              <a:rPr kumimoji="1"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Q</a:t>
            </a:r>
            <a:r>
              <a:rPr kumimoji="1"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，输出与输入反相，而且输出灵敏度不受分布电容影响。</a:t>
            </a:r>
          </a:p>
        </p:txBody>
      </p:sp>
    </p:spTree>
    <p:extLst>
      <p:ext uri="{BB962C8B-B14F-4D97-AF65-F5344CB8AC3E}">
        <p14:creationId xmlns:p14="http://schemas.microsoft.com/office/powerpoint/2010/main" val="1447105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2" name="圆角矩形 21"/>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27" name="矩形 26"/>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sp>
        <p:nvSpPr>
          <p:cNvPr id="2" name="Slide Number Placeholder 1">
            <a:extLst>
              <a:ext uri="{FF2B5EF4-FFF2-40B4-BE49-F238E27FC236}">
                <a16:creationId xmlns:a16="http://schemas.microsoft.com/office/drawing/2014/main" id="{A3558403-EB0C-436A-A360-203A3DD9F73E}"/>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pic>
        <p:nvPicPr>
          <p:cNvPr id="10" name="Picture 34">
            <a:extLst>
              <a:ext uri="{FF2B5EF4-FFF2-40B4-BE49-F238E27FC236}">
                <a16:creationId xmlns:a16="http://schemas.microsoft.com/office/drawing/2014/main" id="{970B70AD-0FCA-4EB7-9702-1C9DB5E43B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97" r="7320"/>
          <a:stretch/>
        </p:blipFill>
        <p:spPr bwMode="auto">
          <a:xfrm>
            <a:off x="5255600" y="0"/>
            <a:ext cx="3888400" cy="2884188"/>
          </a:xfrm>
          <a:prstGeom prst="rect">
            <a:avLst/>
          </a:prstGeom>
          <a:solidFill>
            <a:schemeClr val="bg1"/>
          </a:solidFill>
        </p:spPr>
      </p:pic>
      <p:sp>
        <p:nvSpPr>
          <p:cNvPr id="14" name="Rectangle 3">
            <a:extLst>
              <a:ext uri="{FF2B5EF4-FFF2-40B4-BE49-F238E27FC236}">
                <a16:creationId xmlns:a16="http://schemas.microsoft.com/office/drawing/2014/main" id="{156F95D1-9A30-492C-A98C-078A26A00BB8}"/>
              </a:ext>
            </a:extLst>
          </p:cNvPr>
          <p:cNvSpPr txBox="1">
            <a:spLocks noRot="1" noChangeArrowheads="1"/>
          </p:cNvSpPr>
          <p:nvPr/>
        </p:nvSpPr>
        <p:spPr bwMode="auto">
          <a:xfrm>
            <a:off x="323850" y="1412875"/>
            <a:ext cx="4803321" cy="147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20000"/>
              </a:lnSpc>
              <a:spcBef>
                <a:spcPts val="6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但实际上，在远距离传输时，电缆电容</a:t>
            </a:r>
            <a:r>
              <a:rPr kumimoji="0" lang="en-US" altLang="zh-CN" sz="2400" b="1" i="1"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C</a:t>
            </a:r>
            <a:r>
              <a:rPr kumimoji="0" lang="en-US" altLang="zh-CN" sz="2400" b="1" i="1" u="none" strike="noStrike" kern="1200" cap="none" spc="0" normalizeH="0" baseline="-25000" noProof="0">
                <a:ln>
                  <a:noFill/>
                </a:ln>
                <a:solidFill>
                  <a:srgbClr val="000099"/>
                </a:solidFill>
                <a:effectLst/>
                <a:uLnTx/>
                <a:uFillTx/>
                <a:latin typeface="Times New Roman" panose="02020603050405020304" pitchFamily="18" charset="0"/>
                <a:ea typeface="宋体"/>
                <a:cs typeface="+mn-cs"/>
              </a:rPr>
              <a:t>c</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会对测量结果有影响，由此产生的（</a:t>
            </a:r>
            <a:r>
              <a:rPr kumimoji="0" lang="zh-CN" altLang="en-US" sz="2400" b="1" i="0" u="none" strike="noStrike" kern="1200" cap="none" spc="0" normalizeH="0" baseline="0" noProof="0">
                <a:ln>
                  <a:noFill/>
                </a:ln>
                <a:solidFill>
                  <a:srgbClr val="FF0000"/>
                </a:solidFill>
                <a:effectLst/>
                <a:uLnTx/>
                <a:uFillTx/>
                <a:latin typeface="Arial"/>
                <a:ea typeface="宋体"/>
                <a:cs typeface="+mn-cs"/>
              </a:rPr>
              <a:t>相对</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a:t>
            </a:r>
            <a:r>
              <a:rPr kumimoji="0" lang="zh-CN" altLang="en-US" sz="2400" b="1" i="0" u="none" strike="noStrike" kern="1200" cap="none" spc="0" normalizeH="0" baseline="0" noProof="0">
                <a:ln>
                  <a:noFill/>
                </a:ln>
                <a:solidFill>
                  <a:srgbClr val="FF0000"/>
                </a:solidFill>
                <a:effectLst/>
                <a:uLnTx/>
                <a:uFillTx/>
                <a:latin typeface="Arial"/>
                <a:ea typeface="宋体"/>
                <a:cs typeface="+mn-cs"/>
              </a:rPr>
              <a:t>测量误差</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为（忽略</a:t>
            </a:r>
            <a:r>
              <a:rPr kumimoji="0" lang="en-US" altLang="zh-CN" sz="2400" b="1" i="1" u="none" strike="noStrike" kern="1200" cap="none" spc="0" normalizeH="0" baseline="0" noProof="0">
                <a:ln>
                  <a:noFill/>
                </a:ln>
                <a:solidFill>
                  <a:srgbClr val="000099"/>
                </a:solidFill>
                <a:effectLst/>
                <a:uLnTx/>
                <a:uFillTx/>
                <a:latin typeface="Times New Roman" panose="02020603050405020304" pitchFamily="18" charset="0"/>
                <a:ea typeface="宋体"/>
                <a:cs typeface="+mn-cs"/>
              </a:rPr>
              <a:t>C</a:t>
            </a:r>
            <a:r>
              <a:rPr kumimoji="0" lang="en-US" altLang="zh-CN" sz="2400" b="1" i="0" u="none" strike="noStrike" kern="1200" cap="none" spc="0" normalizeH="0" baseline="-25000" noProof="0">
                <a:ln>
                  <a:noFill/>
                </a:ln>
                <a:solidFill>
                  <a:srgbClr val="000099"/>
                </a:solidFill>
                <a:effectLst/>
                <a:uLnTx/>
                <a:uFillTx/>
                <a:latin typeface="Times New Roman" panose="02020603050405020304" pitchFamily="18" charset="0"/>
                <a:ea typeface="宋体"/>
                <a:cs typeface="+mn-cs"/>
              </a:rPr>
              <a:t>i</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a:t>
            </a:r>
          </a:p>
        </p:txBody>
      </p:sp>
      <p:graphicFrame>
        <p:nvGraphicFramePr>
          <p:cNvPr id="17" name="Object 5">
            <a:extLst>
              <a:ext uri="{FF2B5EF4-FFF2-40B4-BE49-F238E27FC236}">
                <a16:creationId xmlns:a16="http://schemas.microsoft.com/office/drawing/2014/main" id="{A38A2010-7B85-4A2C-B256-27B7B6D98B13}"/>
              </a:ext>
            </a:extLst>
          </p:cNvPr>
          <p:cNvGraphicFramePr>
            <a:graphicFrameLocks noChangeAspect="1"/>
          </p:cNvGraphicFramePr>
          <p:nvPr>
            <p:extLst>
              <p:ext uri="{D42A27DB-BD31-4B8C-83A1-F6EECF244321}">
                <p14:modId xmlns:p14="http://schemas.microsoft.com/office/powerpoint/2010/main" val="3639968663"/>
              </p:ext>
            </p:extLst>
          </p:nvPr>
        </p:nvGraphicFramePr>
        <p:xfrm>
          <a:off x="980158" y="3490759"/>
          <a:ext cx="6553200" cy="863600"/>
        </p:xfrm>
        <a:graphic>
          <a:graphicData uri="http://schemas.openxmlformats.org/presentationml/2006/ole">
            <mc:AlternateContent xmlns:mc="http://schemas.openxmlformats.org/markup-compatibility/2006">
              <mc:Choice xmlns:v="urn:schemas-microsoft-com:vml" Requires="v">
                <p:oleObj name="公式" r:id="rId4" imgW="3276360" imgH="431640" progId="Equation.3">
                  <p:embed/>
                </p:oleObj>
              </mc:Choice>
              <mc:Fallback>
                <p:oleObj name="公式" r:id="rId4" imgW="3276360" imgH="431640" progId="Equation.3">
                  <p:embed/>
                  <p:pic>
                    <p:nvPicPr>
                      <p:cNvPr id="284677" name="Object 5">
                        <a:extLst>
                          <a:ext uri="{FF2B5EF4-FFF2-40B4-BE49-F238E27FC236}">
                            <a16:creationId xmlns:a16="http://schemas.microsoft.com/office/drawing/2014/main" id="{60FD9AD6-70B9-459C-BE87-E6AE154E76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0158" y="3490759"/>
                        <a:ext cx="65532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8">
            <a:extLst>
              <a:ext uri="{FF2B5EF4-FFF2-40B4-BE49-F238E27FC236}">
                <a16:creationId xmlns:a16="http://schemas.microsoft.com/office/drawing/2014/main" id="{3358C5FF-DC37-40B3-B082-F1CB13F314FC}"/>
              </a:ext>
            </a:extLst>
          </p:cNvPr>
          <p:cNvGraphicFramePr>
            <a:graphicFrameLocks noChangeAspect="1"/>
          </p:cNvGraphicFramePr>
          <p:nvPr>
            <p:extLst>
              <p:ext uri="{D42A27DB-BD31-4B8C-83A1-F6EECF244321}">
                <p14:modId xmlns:p14="http://schemas.microsoft.com/office/powerpoint/2010/main" val="406140485"/>
              </p:ext>
            </p:extLst>
          </p:nvPr>
        </p:nvGraphicFramePr>
        <p:xfrm>
          <a:off x="1381795" y="4354359"/>
          <a:ext cx="2951163" cy="920750"/>
        </p:xfrm>
        <a:graphic>
          <a:graphicData uri="http://schemas.openxmlformats.org/presentationml/2006/ole">
            <mc:AlternateContent xmlns:mc="http://schemas.openxmlformats.org/markup-compatibility/2006">
              <mc:Choice xmlns:v="urn:schemas-microsoft-com:vml" Requires="v">
                <p:oleObj name="公式" r:id="rId6" imgW="1384200" imgH="431640" progId="Equation.3">
                  <p:embed/>
                </p:oleObj>
              </mc:Choice>
              <mc:Fallback>
                <p:oleObj name="公式" r:id="rId6" imgW="1384200" imgH="431640" progId="Equation.3">
                  <p:embed/>
                  <p:pic>
                    <p:nvPicPr>
                      <p:cNvPr id="284680" name="Object 8">
                        <a:extLst>
                          <a:ext uri="{FF2B5EF4-FFF2-40B4-BE49-F238E27FC236}">
                            <a16:creationId xmlns:a16="http://schemas.microsoft.com/office/drawing/2014/main" id="{B3E19859-41C4-45C2-90D9-7D57A98865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1795" y="4354359"/>
                        <a:ext cx="2951163"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12">
            <a:extLst>
              <a:ext uri="{FF2B5EF4-FFF2-40B4-BE49-F238E27FC236}">
                <a16:creationId xmlns:a16="http://schemas.microsoft.com/office/drawing/2014/main" id="{18037363-3A55-4F3B-A573-77EBC9CE0307}"/>
              </a:ext>
            </a:extLst>
          </p:cNvPr>
          <p:cNvSpPr txBox="1">
            <a:spLocks noChangeArrowheads="1"/>
          </p:cNvSpPr>
          <p:nvPr/>
        </p:nvSpPr>
        <p:spPr bwMode="auto">
          <a:xfrm>
            <a:off x="788264" y="5715227"/>
            <a:ext cx="6141425"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20000"/>
              </a:spcBef>
              <a:spcAft>
                <a:spcPct val="0"/>
              </a:spcAft>
              <a:buClr>
                <a:srgbClr val="FF0000"/>
              </a:buClr>
              <a:buFont typeface="Wingdings" panose="05000000000000000000" pitchFamily="2" charset="2"/>
              <a:buNone/>
            </a:pPr>
            <a:r>
              <a:rPr lang="zh-CN" altLang="en-US" sz="2400" b="1">
                <a:solidFill>
                  <a:srgbClr val="000099"/>
                </a:solidFill>
                <a:latin typeface="宋体" panose="02010600030101010101" pitchFamily="2" charset="-122"/>
              </a:rPr>
              <a:t>可见，</a:t>
            </a:r>
            <a:r>
              <a:rPr lang="zh-CN" altLang="en-US" sz="2400" b="1">
                <a:solidFill>
                  <a:srgbClr val="FF0000"/>
                </a:solidFill>
                <a:latin typeface="宋体" panose="02010600030101010101" pitchFamily="2" charset="-122"/>
              </a:rPr>
              <a:t>增大 </a:t>
            </a:r>
            <a:r>
              <a:rPr lang="en-US" altLang="zh-CN" sz="2400" b="1" i="1">
                <a:solidFill>
                  <a:srgbClr val="FF0000"/>
                </a:solidFill>
                <a:latin typeface="Times New Roman" panose="02020603050405020304" pitchFamily="18" charset="0"/>
              </a:rPr>
              <a:t>C</a:t>
            </a:r>
            <a:r>
              <a:rPr lang="en-US" altLang="zh-CN" sz="2400" b="1" i="1" baseline="-25000">
                <a:solidFill>
                  <a:srgbClr val="FF0000"/>
                </a:solidFill>
                <a:latin typeface="宋体" panose="02010600030101010101" pitchFamily="2" charset="-122"/>
              </a:rPr>
              <a:t>F </a:t>
            </a:r>
            <a:r>
              <a:rPr lang="zh-CN" altLang="en-US" sz="2400" b="1">
                <a:solidFill>
                  <a:srgbClr val="FF0000"/>
                </a:solidFill>
                <a:latin typeface="宋体" panose="02010600030101010101" pitchFamily="2" charset="-122"/>
              </a:rPr>
              <a:t>或 </a:t>
            </a:r>
            <a:r>
              <a:rPr lang="en-US" altLang="zh-CN" sz="2400" b="1" i="1">
                <a:solidFill>
                  <a:srgbClr val="FF0000"/>
                </a:solidFill>
                <a:latin typeface="Times New Roman" panose="02020603050405020304" pitchFamily="18" charset="0"/>
              </a:rPr>
              <a:t>K </a:t>
            </a:r>
            <a:r>
              <a:rPr lang="zh-CN" altLang="en-US" sz="2400" b="1">
                <a:solidFill>
                  <a:srgbClr val="FF0000"/>
                </a:solidFill>
                <a:latin typeface="宋体" panose="02010600030101010101" pitchFamily="2" charset="-122"/>
              </a:rPr>
              <a:t>值，可减小测量误差</a:t>
            </a:r>
            <a:r>
              <a:rPr lang="zh-CN" altLang="en-US" sz="2400" b="1">
                <a:solidFill>
                  <a:srgbClr val="000099"/>
                </a:solidFill>
                <a:latin typeface="宋体" panose="02010600030101010101" pitchFamily="2" charset="-122"/>
              </a:rPr>
              <a:t>。</a:t>
            </a:r>
          </a:p>
        </p:txBody>
      </p:sp>
      <p:graphicFrame>
        <p:nvGraphicFramePr>
          <p:cNvPr id="3" name="Object 2">
            <a:extLst>
              <a:ext uri="{FF2B5EF4-FFF2-40B4-BE49-F238E27FC236}">
                <a16:creationId xmlns:a16="http://schemas.microsoft.com/office/drawing/2014/main" id="{D25D72C0-B1F6-462F-8D02-815003DB0CEC}"/>
              </a:ext>
            </a:extLst>
          </p:cNvPr>
          <p:cNvGraphicFramePr>
            <a:graphicFrameLocks noChangeAspect="1"/>
          </p:cNvGraphicFramePr>
          <p:nvPr>
            <p:extLst>
              <p:ext uri="{D42A27DB-BD31-4B8C-83A1-F6EECF244321}">
                <p14:modId xmlns:p14="http://schemas.microsoft.com/office/powerpoint/2010/main" val="2444388959"/>
              </p:ext>
            </p:extLst>
          </p:nvPr>
        </p:nvGraphicFramePr>
        <p:xfrm>
          <a:off x="4524332" y="4403686"/>
          <a:ext cx="1887354" cy="1154401"/>
        </p:xfrm>
        <a:graphic>
          <a:graphicData uri="http://schemas.openxmlformats.org/presentationml/2006/ole">
            <mc:AlternateContent xmlns:mc="http://schemas.openxmlformats.org/markup-compatibility/2006">
              <mc:Choice xmlns:v="urn:schemas-microsoft-com:vml" Requires="v">
                <p:oleObj name="Equation" r:id="rId8" imgW="1307880" imgH="799920" progId="Equation.DSMT4">
                  <p:embed/>
                </p:oleObj>
              </mc:Choice>
              <mc:Fallback>
                <p:oleObj name="Equation" r:id="rId8" imgW="1307880" imgH="799920" progId="Equation.DSMT4">
                  <p:embed/>
                  <p:pic>
                    <p:nvPicPr>
                      <p:cNvPr id="0" name=""/>
                      <p:cNvPicPr/>
                      <p:nvPr/>
                    </p:nvPicPr>
                    <p:blipFill>
                      <a:blip r:embed="rId9"/>
                      <a:stretch>
                        <a:fillRect/>
                      </a:stretch>
                    </p:blipFill>
                    <p:spPr>
                      <a:xfrm>
                        <a:off x="4524332" y="4403686"/>
                        <a:ext cx="1887354" cy="1154401"/>
                      </a:xfrm>
                      <a:prstGeom prst="rect">
                        <a:avLst/>
                      </a:prstGeom>
                      <a:solidFill>
                        <a:schemeClr val="accent4">
                          <a:lumMod val="40000"/>
                          <a:lumOff val="60000"/>
                        </a:schemeClr>
                      </a:solidFill>
                    </p:spPr>
                  </p:pic>
                </p:oleObj>
              </mc:Fallback>
            </mc:AlternateContent>
          </a:graphicData>
        </a:graphic>
      </p:graphicFrame>
    </p:spTree>
    <p:extLst>
      <p:ext uri="{BB962C8B-B14F-4D97-AF65-F5344CB8AC3E}">
        <p14:creationId xmlns:p14="http://schemas.microsoft.com/office/powerpoint/2010/main" val="16371325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2A6A46-3852-4CB3-B2D7-C77B893A9963}"/>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
        <p:nvSpPr>
          <p:cNvPr id="5" name="矩形 20">
            <a:extLst>
              <a:ext uri="{FF2B5EF4-FFF2-40B4-BE49-F238E27FC236}">
                <a16:creationId xmlns:a16="http://schemas.microsoft.com/office/drawing/2014/main" id="{788AF412-0FF0-4229-9EE9-6DFC070CE166}"/>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21">
            <a:extLst>
              <a:ext uri="{FF2B5EF4-FFF2-40B4-BE49-F238E27FC236}">
                <a16:creationId xmlns:a16="http://schemas.microsoft.com/office/drawing/2014/main" id="{3BD3FEF8-6CD8-4852-B865-5D5A061E3B31}"/>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7" name="矩形 26">
            <a:extLst>
              <a:ext uri="{FF2B5EF4-FFF2-40B4-BE49-F238E27FC236}">
                <a16:creationId xmlns:a16="http://schemas.microsoft.com/office/drawing/2014/main" id="{65E050AE-BBDB-482E-90DD-16C70D228421}"/>
              </a:ext>
            </a:extLst>
          </p:cNvPr>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sp>
        <p:nvSpPr>
          <p:cNvPr id="8" name="Rectangle 3">
            <a:extLst>
              <a:ext uri="{FF2B5EF4-FFF2-40B4-BE49-F238E27FC236}">
                <a16:creationId xmlns:a16="http://schemas.microsoft.com/office/drawing/2014/main" id="{F9F58F26-904D-4F3D-99F4-F28B74160A04}"/>
              </a:ext>
            </a:extLst>
          </p:cNvPr>
          <p:cNvSpPr txBox="1">
            <a:spLocks noRot="1" noChangeArrowheads="1"/>
          </p:cNvSpPr>
          <p:nvPr/>
        </p:nvSpPr>
        <p:spPr bwMode="auto">
          <a:xfrm>
            <a:off x="370557" y="1327607"/>
            <a:ext cx="8447088"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前边推导的放大器前端电压</a:t>
            </a:r>
            <a:r>
              <a:rPr kumimoji="0" lang="en-US" altLang="zh-CN" sz="2400" b="1" i="1" u="none" strike="noStrike" kern="1200" cap="none" spc="0" normalizeH="0" baseline="0" noProof="0">
                <a:ln>
                  <a:noFill/>
                </a:ln>
                <a:solidFill>
                  <a:srgbClr val="000099"/>
                </a:solidFill>
                <a:effectLst/>
                <a:uLnTx/>
                <a:uFillTx/>
                <a:latin typeface="Arial"/>
                <a:ea typeface="宋体"/>
                <a:cs typeface="+mn-cs"/>
              </a:rPr>
              <a:t>u</a:t>
            </a:r>
            <a:r>
              <a:rPr kumimoji="0" lang="en-US" altLang="zh-CN" sz="2400" b="1" i="1" u="none" strike="noStrike" kern="1200" cap="none" spc="0" normalizeH="0" baseline="-25000" noProof="0">
                <a:ln>
                  <a:noFill/>
                </a:ln>
                <a:solidFill>
                  <a:srgbClr val="000099"/>
                </a:solidFill>
                <a:effectLst/>
                <a:uLnTx/>
                <a:uFillTx/>
                <a:latin typeface="Arial"/>
                <a:ea typeface="宋体"/>
                <a:cs typeface="+mn-cs"/>
              </a:rPr>
              <a:t>i</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为</a:t>
            </a:r>
            <a:endParaRPr kumimoji="0" lang="zh-CN" altLang="en-US" sz="2400" b="1" i="0" u="none" strike="noStrike" kern="1200" cap="none" spc="0" normalizeH="0" baseline="0" noProof="0">
              <a:ln>
                <a:noFill/>
              </a:ln>
              <a:solidFill>
                <a:srgbClr val="000099"/>
              </a:solidFill>
              <a:effectLst/>
              <a:uLnTx/>
              <a:uFillTx/>
              <a:latin typeface="Arial"/>
              <a:ea typeface="宋体"/>
              <a:cs typeface="+mn-cs"/>
              <a:sym typeface="Symbol" panose="05050102010706020507" pitchFamily="18" charset="2"/>
            </a:endParaRPr>
          </a:p>
        </p:txBody>
      </p:sp>
      <p:graphicFrame>
        <p:nvGraphicFramePr>
          <p:cNvPr id="9" name="Object 18">
            <a:extLst>
              <a:ext uri="{FF2B5EF4-FFF2-40B4-BE49-F238E27FC236}">
                <a16:creationId xmlns:a16="http://schemas.microsoft.com/office/drawing/2014/main" id="{AB31CAA4-E8AD-4A2D-B30A-937FB3F7EF2B}"/>
              </a:ext>
            </a:extLst>
          </p:cNvPr>
          <p:cNvGraphicFramePr>
            <a:graphicFrameLocks noChangeAspect="1"/>
          </p:cNvGraphicFramePr>
          <p:nvPr>
            <p:extLst>
              <p:ext uri="{D42A27DB-BD31-4B8C-83A1-F6EECF244321}">
                <p14:modId xmlns:p14="http://schemas.microsoft.com/office/powerpoint/2010/main" val="1471056080"/>
              </p:ext>
            </p:extLst>
          </p:nvPr>
        </p:nvGraphicFramePr>
        <p:xfrm>
          <a:off x="862661" y="1702694"/>
          <a:ext cx="6940593" cy="2247691"/>
        </p:xfrm>
        <a:graphic>
          <a:graphicData uri="http://schemas.openxmlformats.org/presentationml/2006/ole">
            <mc:AlternateContent xmlns:mc="http://schemas.openxmlformats.org/markup-compatibility/2006">
              <mc:Choice xmlns:v="urn:schemas-microsoft-com:vml" Requires="v">
                <p:oleObj name="Equation" r:id="rId2" imgW="4546440" imgH="1473120" progId="Equation.DSMT4">
                  <p:embed/>
                </p:oleObj>
              </mc:Choice>
              <mc:Fallback>
                <p:oleObj name="Equation" r:id="rId2" imgW="4546440" imgH="1473120" progId="Equation.DSMT4">
                  <p:embed/>
                  <p:pic>
                    <p:nvPicPr>
                      <p:cNvPr id="290834" name="Object 18">
                        <a:extLst>
                          <a:ext uri="{FF2B5EF4-FFF2-40B4-BE49-F238E27FC236}">
                            <a16:creationId xmlns:a16="http://schemas.microsoft.com/office/drawing/2014/main" id="{B4787F8B-38AB-4737-81B3-933205DBB517}"/>
                          </a:ext>
                        </a:extLst>
                      </p:cNvPr>
                      <p:cNvPicPr>
                        <a:picLocks noChangeAspect="1" noChangeArrowheads="1"/>
                      </p:cNvPicPr>
                      <p:nvPr/>
                    </p:nvPicPr>
                    <p:blipFill>
                      <a:blip r:embed="rId3"/>
                      <a:srcRect/>
                      <a:stretch>
                        <a:fillRect/>
                      </a:stretch>
                    </p:blipFill>
                    <p:spPr bwMode="auto">
                      <a:xfrm>
                        <a:off x="862661" y="1702694"/>
                        <a:ext cx="6940593" cy="2247691"/>
                      </a:xfrm>
                      <a:prstGeom prst="rect">
                        <a:avLst/>
                      </a:prstGeom>
                      <a:noFill/>
                      <a:ln>
                        <a:noFill/>
                      </a:ln>
                      <a:effectLst/>
                    </p:spPr>
                  </p:pic>
                </p:oleObj>
              </mc:Fallback>
            </mc:AlternateContent>
          </a:graphicData>
        </a:graphic>
      </p:graphicFrame>
      <p:graphicFrame>
        <p:nvGraphicFramePr>
          <p:cNvPr id="10" name="Object 22">
            <a:extLst>
              <a:ext uri="{FF2B5EF4-FFF2-40B4-BE49-F238E27FC236}">
                <a16:creationId xmlns:a16="http://schemas.microsoft.com/office/drawing/2014/main" id="{56FC7F82-0E16-4E2A-8757-9981D0EAE6C6}"/>
              </a:ext>
            </a:extLst>
          </p:cNvPr>
          <p:cNvGraphicFramePr>
            <a:graphicFrameLocks noChangeAspect="1"/>
          </p:cNvGraphicFramePr>
          <p:nvPr>
            <p:extLst>
              <p:ext uri="{D42A27DB-BD31-4B8C-83A1-F6EECF244321}">
                <p14:modId xmlns:p14="http://schemas.microsoft.com/office/powerpoint/2010/main" val="2090947936"/>
              </p:ext>
            </p:extLst>
          </p:nvPr>
        </p:nvGraphicFramePr>
        <p:xfrm>
          <a:off x="699046" y="4767581"/>
          <a:ext cx="7968529" cy="979380"/>
        </p:xfrm>
        <a:graphic>
          <a:graphicData uri="http://schemas.openxmlformats.org/presentationml/2006/ole">
            <mc:AlternateContent xmlns:mc="http://schemas.openxmlformats.org/markup-compatibility/2006">
              <mc:Choice xmlns:v="urn:schemas-microsoft-com:vml" Requires="v">
                <p:oleObj name="Equation" r:id="rId4" imgW="4762440" imgH="583920" progId="Equation.DSMT4">
                  <p:embed/>
                </p:oleObj>
              </mc:Choice>
              <mc:Fallback>
                <p:oleObj name="Equation" r:id="rId4" imgW="4762440" imgH="583920" progId="Equation.DSMT4">
                  <p:embed/>
                  <p:pic>
                    <p:nvPicPr>
                      <p:cNvPr id="290838" name="Object 22">
                        <a:extLst>
                          <a:ext uri="{FF2B5EF4-FFF2-40B4-BE49-F238E27FC236}">
                            <a16:creationId xmlns:a16="http://schemas.microsoft.com/office/drawing/2014/main" id="{643EE1A2-6AEA-4E45-9AE2-C60C2234824A}"/>
                          </a:ext>
                        </a:extLst>
                      </p:cNvPr>
                      <p:cNvPicPr>
                        <a:picLocks noChangeAspect="1" noChangeArrowheads="1"/>
                      </p:cNvPicPr>
                      <p:nvPr/>
                    </p:nvPicPr>
                    <p:blipFill>
                      <a:blip r:embed="rId5"/>
                      <a:srcRect/>
                      <a:stretch>
                        <a:fillRect/>
                      </a:stretch>
                    </p:blipFill>
                    <p:spPr bwMode="auto">
                      <a:xfrm>
                        <a:off x="699046" y="4767581"/>
                        <a:ext cx="7968529" cy="979380"/>
                      </a:xfrm>
                      <a:prstGeom prst="rect">
                        <a:avLst/>
                      </a:prstGeom>
                      <a:noFill/>
                      <a:ln>
                        <a:noFill/>
                      </a:ln>
                      <a:effectLst/>
                    </p:spPr>
                  </p:pic>
                </p:oleObj>
              </mc:Fallback>
            </mc:AlternateContent>
          </a:graphicData>
        </a:graphic>
      </p:graphicFrame>
      <p:sp>
        <p:nvSpPr>
          <p:cNvPr id="11" name="Text Box 26">
            <a:extLst>
              <a:ext uri="{FF2B5EF4-FFF2-40B4-BE49-F238E27FC236}">
                <a16:creationId xmlns:a16="http://schemas.microsoft.com/office/drawing/2014/main" id="{76CD3959-3782-4207-B504-568162FC18BD}"/>
              </a:ext>
            </a:extLst>
          </p:cNvPr>
          <p:cNvSpPr txBox="1">
            <a:spLocks noChangeArrowheads="1"/>
          </p:cNvSpPr>
          <p:nvPr/>
        </p:nvSpPr>
        <p:spPr bwMode="auto">
          <a:xfrm>
            <a:off x="564661" y="4139978"/>
            <a:ext cx="8064500"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只要</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K</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足够大，</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(1+</a:t>
            </a:r>
            <a:r>
              <a:rPr kumimoji="0" lang="en-US" altLang="zh-CN" sz="2200" b="1" i="1"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K</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)&gt;&gt;(C</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a</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C</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i</a:t>
            </a:r>
            <a:r>
              <a:rPr kumimoji="0" lang="en-US" altLang="zh-CN"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G</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a</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+G</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i</a:t>
            </a:r>
            <a:r>
              <a:rPr kumimoji="0" lang="en-US" altLang="zh-CN" sz="22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&lt;&lt;(1+K)</a:t>
            </a:r>
            <a:r>
              <a:rPr kumimoji="0" lang="en-US" altLang="zh-CN" sz="2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G</a:t>
            </a:r>
            <a:r>
              <a:rPr kumimoji="0" lang="en-US" altLang="zh-CN" sz="2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p>
        </p:txBody>
      </p:sp>
      <p:pic>
        <p:nvPicPr>
          <p:cNvPr id="12" name="Picture 11">
            <a:extLst>
              <a:ext uri="{FF2B5EF4-FFF2-40B4-BE49-F238E27FC236}">
                <a16:creationId xmlns:a16="http://schemas.microsoft.com/office/drawing/2014/main" id="{E9570431-4B9C-4A1D-9AD0-DFFC36F29D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1448" y="-6891"/>
            <a:ext cx="4422552" cy="1294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6458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54B52-FB4A-4429-BDD1-53DC47E457FE}"/>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sp>
        <p:nvSpPr>
          <p:cNvPr id="14" name="Text Box 5">
            <a:extLst>
              <a:ext uri="{FF2B5EF4-FFF2-40B4-BE49-F238E27FC236}">
                <a16:creationId xmlns:a16="http://schemas.microsoft.com/office/drawing/2014/main" id="{8D678A08-BE2E-4F8A-A276-4A9A4CCD6A1A}"/>
              </a:ext>
            </a:extLst>
          </p:cNvPr>
          <p:cNvSpPr txBox="1">
            <a:spLocks noChangeArrowheads="1"/>
          </p:cNvSpPr>
          <p:nvPr/>
        </p:nvSpPr>
        <p:spPr bwMode="auto">
          <a:xfrm>
            <a:off x="384728" y="3303338"/>
            <a:ext cx="14097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其幅值为</a:t>
            </a:r>
          </a:p>
        </p:txBody>
      </p:sp>
      <p:graphicFrame>
        <p:nvGraphicFramePr>
          <p:cNvPr id="15" name="Object 6">
            <a:extLst>
              <a:ext uri="{FF2B5EF4-FFF2-40B4-BE49-F238E27FC236}">
                <a16:creationId xmlns:a16="http://schemas.microsoft.com/office/drawing/2014/main" id="{945C61C9-6E05-4CAE-BB12-33AFECA0C628}"/>
              </a:ext>
            </a:extLst>
          </p:cNvPr>
          <p:cNvGraphicFramePr>
            <a:graphicFrameLocks noChangeAspect="1"/>
          </p:cNvGraphicFramePr>
          <p:nvPr>
            <p:extLst>
              <p:ext uri="{D42A27DB-BD31-4B8C-83A1-F6EECF244321}">
                <p14:modId xmlns:p14="http://schemas.microsoft.com/office/powerpoint/2010/main" val="3995641785"/>
              </p:ext>
            </p:extLst>
          </p:nvPr>
        </p:nvGraphicFramePr>
        <p:xfrm>
          <a:off x="1847198" y="3238500"/>
          <a:ext cx="6331985" cy="1247302"/>
        </p:xfrm>
        <a:graphic>
          <a:graphicData uri="http://schemas.openxmlformats.org/presentationml/2006/ole">
            <mc:AlternateContent xmlns:mc="http://schemas.openxmlformats.org/markup-compatibility/2006">
              <mc:Choice xmlns:v="urn:schemas-microsoft-com:vml" Requires="v">
                <p:oleObj name="Equation" r:id="rId2" imgW="4254480" imgH="838080" progId="Equation.DSMT4">
                  <p:embed/>
                </p:oleObj>
              </mc:Choice>
              <mc:Fallback>
                <p:oleObj name="Equation" r:id="rId2" imgW="4254480" imgH="838080" progId="Equation.DSMT4">
                  <p:embed/>
                  <p:pic>
                    <p:nvPicPr>
                      <p:cNvPr id="320518" name="Object 6">
                        <a:extLst>
                          <a:ext uri="{FF2B5EF4-FFF2-40B4-BE49-F238E27FC236}">
                            <a16:creationId xmlns:a16="http://schemas.microsoft.com/office/drawing/2014/main" id="{9F74358B-785C-4BB9-A376-2D4414C1D54A}"/>
                          </a:ext>
                        </a:extLst>
                      </p:cNvPr>
                      <p:cNvPicPr>
                        <a:picLocks noChangeAspect="1" noChangeArrowheads="1"/>
                      </p:cNvPicPr>
                      <p:nvPr/>
                    </p:nvPicPr>
                    <p:blipFill>
                      <a:blip r:embed="rId3"/>
                      <a:srcRect/>
                      <a:stretch>
                        <a:fillRect/>
                      </a:stretch>
                    </p:blipFill>
                    <p:spPr bwMode="auto">
                      <a:xfrm>
                        <a:off x="1847198" y="3238500"/>
                        <a:ext cx="6331985" cy="1247302"/>
                      </a:xfrm>
                      <a:prstGeom prst="rect">
                        <a:avLst/>
                      </a:prstGeom>
                      <a:noFill/>
                      <a:ln>
                        <a:noFill/>
                      </a:ln>
                      <a:effectLst/>
                    </p:spPr>
                  </p:pic>
                </p:oleObj>
              </mc:Fallback>
            </mc:AlternateContent>
          </a:graphicData>
        </a:graphic>
      </p:graphicFrame>
      <p:sp>
        <p:nvSpPr>
          <p:cNvPr id="17" name="Text Box 8">
            <a:extLst>
              <a:ext uri="{FF2B5EF4-FFF2-40B4-BE49-F238E27FC236}">
                <a16:creationId xmlns:a16="http://schemas.microsoft.com/office/drawing/2014/main" id="{DCBD37FE-5247-4DB8-BC26-F40B4DBEB185}"/>
              </a:ext>
            </a:extLst>
          </p:cNvPr>
          <p:cNvSpPr txBox="1">
            <a:spLocks noChangeArrowheads="1"/>
          </p:cNvSpPr>
          <p:nvPr/>
        </p:nvSpPr>
        <p:spPr bwMode="auto">
          <a:xfrm>
            <a:off x="301268" y="4614371"/>
            <a:ext cx="85693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当频率越低，</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G</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越不能忽略，若反馈电导增加到</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G</a:t>
            </a:r>
            <a:r>
              <a:rPr kumimoji="0" lang="en-US" altLang="zh-CN" sz="24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sym typeface="Symbol" panose="05050102010706020507" pitchFamily="18" charset="2"/>
              </a:rPr>
              <a:t>C</a:t>
            </a:r>
            <a:r>
              <a:rPr kumimoji="0" lang="en-US" altLang="zh-CN" sz="24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sym typeface="Symbol" panose="05050102010706020507" pitchFamily="18" charset="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，则</a:t>
            </a:r>
          </a:p>
        </p:txBody>
      </p:sp>
      <p:sp>
        <p:nvSpPr>
          <p:cNvPr id="18" name="Text Box 9">
            <a:extLst>
              <a:ext uri="{FF2B5EF4-FFF2-40B4-BE49-F238E27FC236}">
                <a16:creationId xmlns:a16="http://schemas.microsoft.com/office/drawing/2014/main" id="{15B256EB-B3D1-432C-A8CF-23D9E9332DDD}"/>
              </a:ext>
            </a:extLst>
          </p:cNvPr>
          <p:cNvSpPr txBox="1">
            <a:spLocks noChangeArrowheads="1"/>
          </p:cNvSpPr>
          <p:nvPr/>
        </p:nvSpPr>
        <p:spPr bwMode="auto">
          <a:xfrm>
            <a:off x="746300" y="4614371"/>
            <a:ext cx="1841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endParaRPr kumimoji="0" lang="en-001" altLang="en-001"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aphicFrame>
        <p:nvGraphicFramePr>
          <p:cNvPr id="19" name="Object 10">
            <a:extLst>
              <a:ext uri="{FF2B5EF4-FFF2-40B4-BE49-F238E27FC236}">
                <a16:creationId xmlns:a16="http://schemas.microsoft.com/office/drawing/2014/main" id="{AE66C5A5-4CB0-43F6-B090-288D8F6D836C}"/>
              </a:ext>
            </a:extLst>
          </p:cNvPr>
          <p:cNvGraphicFramePr>
            <a:graphicFrameLocks noChangeAspect="1"/>
          </p:cNvGraphicFramePr>
          <p:nvPr>
            <p:extLst>
              <p:ext uri="{D42A27DB-BD31-4B8C-83A1-F6EECF244321}">
                <p14:modId xmlns:p14="http://schemas.microsoft.com/office/powerpoint/2010/main" val="796884694"/>
              </p:ext>
            </p:extLst>
          </p:nvPr>
        </p:nvGraphicFramePr>
        <p:xfrm>
          <a:off x="2781166" y="5107533"/>
          <a:ext cx="2232025" cy="985838"/>
        </p:xfrm>
        <a:graphic>
          <a:graphicData uri="http://schemas.openxmlformats.org/presentationml/2006/ole">
            <mc:AlternateContent xmlns:mc="http://schemas.openxmlformats.org/markup-compatibility/2006">
              <mc:Choice xmlns:v="urn:schemas-microsoft-com:vml" Requires="v">
                <p:oleObj name="公式" r:id="rId4" imgW="977760" imgH="431640" progId="Equation.3">
                  <p:embed/>
                </p:oleObj>
              </mc:Choice>
              <mc:Fallback>
                <p:oleObj name="公式" r:id="rId4" imgW="977760" imgH="431640" progId="Equation.3">
                  <p:embed/>
                  <p:pic>
                    <p:nvPicPr>
                      <p:cNvPr id="320522" name="Object 10">
                        <a:extLst>
                          <a:ext uri="{FF2B5EF4-FFF2-40B4-BE49-F238E27FC236}">
                            <a16:creationId xmlns:a16="http://schemas.microsoft.com/office/drawing/2014/main" id="{68EECE6A-BE5E-495F-90A9-1D5B4D61C6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1166" y="5107533"/>
                        <a:ext cx="2232025"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Text Box 15">
            <a:extLst>
              <a:ext uri="{FF2B5EF4-FFF2-40B4-BE49-F238E27FC236}">
                <a16:creationId xmlns:a16="http://schemas.microsoft.com/office/drawing/2014/main" id="{FA3A55D8-ABE0-40BC-AA01-D2EA942A8FF6}"/>
              </a:ext>
            </a:extLst>
          </p:cNvPr>
          <p:cNvSpPr txBox="1">
            <a:spLocks noChangeArrowheads="1"/>
          </p:cNvSpPr>
          <p:nvPr/>
        </p:nvSpPr>
        <p:spPr bwMode="auto">
          <a:xfrm>
            <a:off x="0" y="1322688"/>
            <a:ext cx="8360401"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当工作频率很低时，上式中</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G</a:t>
            </a:r>
            <a:r>
              <a:rPr kumimoji="0" lang="en-US" altLang="zh-CN" sz="2400" b="1" i="0" u="none" strike="noStrike" kern="0" cap="none" spc="0" normalizeH="0" baseline="-25000" noProof="0">
                <a:ln>
                  <a:noFill/>
                </a:ln>
                <a:solidFill>
                  <a:srgbClr val="000099"/>
                </a:solidFill>
                <a:effectLst/>
                <a:uLnTx/>
                <a:uFillTx/>
                <a:latin typeface="Arial" panose="020B0604020202020204" pitchFamily="34" charset="0"/>
                <a:ea typeface="宋体" panose="02010600030101010101" pitchFamily="2" charset="-12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值与</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j</a:t>
            </a:r>
            <a:r>
              <a:rPr kumimoji="0" lang="el-GR"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Arial" panose="020B0604020202020204" pitchFamily="34" charset="0"/>
              </a:rPr>
              <a:t>ω</a:t>
            </a:r>
            <a:r>
              <a:rPr kumimoji="0" lang="en-US" altLang="zh-CN" sz="24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C</a:t>
            </a:r>
            <a:r>
              <a:rPr kumimoji="0" lang="en-US" altLang="zh-CN" sz="24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Arial" panose="020B0604020202020204" pitchFamily="34" charset="0"/>
              </a:rPr>
              <a:t>值相当，</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G</a:t>
            </a:r>
            <a:r>
              <a:rPr kumimoji="0" lang="en-US" altLang="zh-CN" sz="2400" b="1" i="0"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F</a:t>
            </a:r>
            <a:r>
              <a:rPr kumimoji="0" lang="en-US" altLang="zh-CN" sz="24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(1+</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K</a:t>
            </a:r>
            <a:r>
              <a:rPr kumimoji="0" lang="en-US" altLang="zh-CN" sz="24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a:t>
            </a:r>
            <a:r>
              <a:rPr kumimoji="0" lang="zh-CN" altLang="en-US" sz="24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rPr>
              <a:t>就不能忽略，于是有</a:t>
            </a:r>
            <a:endParaRPr kumimoji="0" lang="zh-CN" altLang="el-GR" sz="2400" b="1" i="0"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Arial" panose="020B0604020202020204" pitchFamily="34" charset="0"/>
            </a:endParaRPr>
          </a:p>
        </p:txBody>
      </p:sp>
      <p:graphicFrame>
        <p:nvGraphicFramePr>
          <p:cNvPr id="22" name="Object 16">
            <a:extLst>
              <a:ext uri="{FF2B5EF4-FFF2-40B4-BE49-F238E27FC236}">
                <a16:creationId xmlns:a16="http://schemas.microsoft.com/office/drawing/2014/main" id="{264ED75B-4B5F-4944-925E-B747B51E97FC}"/>
              </a:ext>
            </a:extLst>
          </p:cNvPr>
          <p:cNvGraphicFramePr>
            <a:graphicFrameLocks noChangeAspect="1"/>
          </p:cNvGraphicFramePr>
          <p:nvPr>
            <p:extLst>
              <p:ext uri="{D42A27DB-BD31-4B8C-83A1-F6EECF244321}">
                <p14:modId xmlns:p14="http://schemas.microsoft.com/office/powerpoint/2010/main" val="211180106"/>
              </p:ext>
            </p:extLst>
          </p:nvPr>
        </p:nvGraphicFramePr>
        <p:xfrm>
          <a:off x="1847198" y="2270929"/>
          <a:ext cx="4752975" cy="882650"/>
        </p:xfrm>
        <a:graphic>
          <a:graphicData uri="http://schemas.openxmlformats.org/presentationml/2006/ole">
            <mc:AlternateContent xmlns:mc="http://schemas.openxmlformats.org/markup-compatibility/2006">
              <mc:Choice xmlns:v="urn:schemas-microsoft-com:vml" Requires="v">
                <p:oleObj name="公式" r:id="rId6" imgW="2463480" imgH="457200" progId="Equation.3">
                  <p:embed/>
                </p:oleObj>
              </mc:Choice>
              <mc:Fallback>
                <p:oleObj name="公式" r:id="rId6" imgW="2463480" imgH="457200" progId="Equation.3">
                  <p:embed/>
                  <p:pic>
                    <p:nvPicPr>
                      <p:cNvPr id="320528" name="Object 16">
                        <a:extLst>
                          <a:ext uri="{FF2B5EF4-FFF2-40B4-BE49-F238E27FC236}">
                            <a16:creationId xmlns:a16="http://schemas.microsoft.com/office/drawing/2014/main" id="{373AF531-D8D5-469D-B19B-65BBB79175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7198" y="2270929"/>
                        <a:ext cx="4752975"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矩形 20">
            <a:extLst>
              <a:ext uri="{FF2B5EF4-FFF2-40B4-BE49-F238E27FC236}">
                <a16:creationId xmlns:a16="http://schemas.microsoft.com/office/drawing/2014/main" id="{24D5FBC8-4FDF-4AF1-A9D8-ECDFEC956554}"/>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1">
            <a:extLst>
              <a:ext uri="{FF2B5EF4-FFF2-40B4-BE49-F238E27FC236}">
                <a16:creationId xmlns:a16="http://schemas.microsoft.com/office/drawing/2014/main" id="{374925FA-CB4E-4531-B423-F8A4FB594355}"/>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26" name="矩形 26">
            <a:extLst>
              <a:ext uri="{FF2B5EF4-FFF2-40B4-BE49-F238E27FC236}">
                <a16:creationId xmlns:a16="http://schemas.microsoft.com/office/drawing/2014/main" id="{C4164B99-CF8F-472F-98F4-4EADB3EF5464}"/>
              </a:ext>
            </a:extLst>
          </p:cNvPr>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graphicFrame>
        <p:nvGraphicFramePr>
          <p:cNvPr id="27" name="Object 26">
            <a:extLst>
              <a:ext uri="{FF2B5EF4-FFF2-40B4-BE49-F238E27FC236}">
                <a16:creationId xmlns:a16="http://schemas.microsoft.com/office/drawing/2014/main" id="{0348B397-464A-4E55-87BC-67A99FCD2C60}"/>
              </a:ext>
            </a:extLst>
          </p:cNvPr>
          <p:cNvGraphicFramePr>
            <a:graphicFrameLocks noChangeAspect="1"/>
          </p:cNvGraphicFramePr>
          <p:nvPr>
            <p:extLst>
              <p:ext uri="{D42A27DB-BD31-4B8C-83A1-F6EECF244321}">
                <p14:modId xmlns:p14="http://schemas.microsoft.com/office/powerpoint/2010/main" val="2396726939"/>
              </p:ext>
            </p:extLst>
          </p:nvPr>
        </p:nvGraphicFramePr>
        <p:xfrm>
          <a:off x="4975777" y="136524"/>
          <a:ext cx="4168223" cy="968375"/>
        </p:xfrm>
        <a:graphic>
          <a:graphicData uri="http://schemas.openxmlformats.org/presentationml/2006/ole">
            <mc:AlternateContent xmlns:mc="http://schemas.openxmlformats.org/markup-compatibility/2006">
              <mc:Choice xmlns:v="urn:schemas-microsoft-com:vml" Requires="v">
                <p:oleObj name="Equation" r:id="rId8" imgW="2514600" imgH="583920" progId="Equation.DSMT4">
                  <p:embed/>
                </p:oleObj>
              </mc:Choice>
              <mc:Fallback>
                <p:oleObj name="Equation" r:id="rId8" imgW="2514600" imgH="583920" progId="Equation.DSMT4">
                  <p:embed/>
                  <p:pic>
                    <p:nvPicPr>
                      <p:cNvPr id="0" name=""/>
                      <p:cNvPicPr/>
                      <p:nvPr/>
                    </p:nvPicPr>
                    <p:blipFill>
                      <a:blip r:embed="rId9"/>
                      <a:stretch>
                        <a:fillRect/>
                      </a:stretch>
                    </p:blipFill>
                    <p:spPr>
                      <a:xfrm>
                        <a:off x="4975777" y="136524"/>
                        <a:ext cx="4168223" cy="968375"/>
                      </a:xfrm>
                      <a:prstGeom prst="rect">
                        <a:avLst/>
                      </a:prstGeom>
                      <a:solidFill>
                        <a:schemeClr val="accent4">
                          <a:lumMod val="40000"/>
                          <a:lumOff val="60000"/>
                        </a:schemeClr>
                      </a:solidFill>
                    </p:spPr>
                  </p:pic>
                </p:oleObj>
              </mc:Fallback>
            </mc:AlternateContent>
          </a:graphicData>
        </a:graphic>
      </p:graphicFrame>
      <p:sp>
        <p:nvSpPr>
          <p:cNvPr id="29" name="TextBox 28">
            <a:extLst>
              <a:ext uri="{FF2B5EF4-FFF2-40B4-BE49-F238E27FC236}">
                <a16:creationId xmlns:a16="http://schemas.microsoft.com/office/drawing/2014/main" id="{E390AA27-D058-4AC1-A0EB-9E49B5355F8F}"/>
              </a:ext>
            </a:extLst>
          </p:cNvPr>
          <p:cNvSpPr txBox="1"/>
          <p:nvPr/>
        </p:nvSpPr>
        <p:spPr>
          <a:xfrm>
            <a:off x="308972" y="6093371"/>
            <a:ext cx="7195771" cy="461665"/>
          </a:xfrm>
          <a:prstGeom prst="rect">
            <a:avLst/>
          </a:prstGeom>
          <a:noFill/>
        </p:spPr>
        <p:txBody>
          <a:bodyPr wrap="square">
            <a:spAutoFit/>
          </a:bodyPr>
          <a:lstStyle/>
          <a:p>
            <a:r>
              <a:rPr kumimoji="0" lang="zh-CN" altLang="en-US"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这是</a:t>
            </a:r>
            <a:r>
              <a:rPr kumimoji="0" lang="zh-CN" altLang="en-US" sz="2400" b="1" i="0" u="none" strike="noStrike" kern="1200" cap="none" spc="0" normalizeH="0" baseline="0" noProof="0">
                <a:ln>
                  <a:noFill/>
                </a:ln>
                <a:solidFill>
                  <a:srgbClr val="CC3300"/>
                </a:solidFill>
                <a:effectLst/>
                <a:uLnTx/>
                <a:uFillTx/>
                <a:latin typeface="宋体" panose="02010600030101010101" pitchFamily="2" charset="-122"/>
                <a:ea typeface="宋体"/>
                <a:cs typeface="+mn-cs"/>
              </a:rPr>
              <a:t>增益</a:t>
            </a:r>
            <a:r>
              <a:rPr kumimoji="0" lang="zh-CN" altLang="en-US"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下降</a:t>
            </a:r>
            <a:r>
              <a:rPr kumimoji="0" lang="en-US" altLang="zh-CN"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3dB</a:t>
            </a:r>
            <a:r>
              <a:rPr kumimoji="0" lang="zh-CN" altLang="en-US"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时的下限截止频率点的电压输出值</a:t>
            </a:r>
            <a:endParaRPr lang="en-001"/>
          </a:p>
        </p:txBody>
      </p:sp>
    </p:spTree>
    <p:extLst>
      <p:ext uri="{BB962C8B-B14F-4D97-AF65-F5344CB8AC3E}">
        <p14:creationId xmlns:p14="http://schemas.microsoft.com/office/powerpoint/2010/main" val="272075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10">
            <a:extLst>
              <a:ext uri="{FF2B5EF4-FFF2-40B4-BE49-F238E27FC236}">
                <a16:creationId xmlns:a16="http://schemas.microsoft.com/office/drawing/2014/main" id="{FFE021E8-445D-453D-B11C-1819153A8CAB}"/>
              </a:ext>
            </a:extLst>
          </p:cNvPr>
          <p:cNvSpPr txBox="1">
            <a:spLocks noChangeArrowheads="1"/>
          </p:cNvSpPr>
          <p:nvPr/>
        </p:nvSpPr>
        <p:spPr bwMode="auto">
          <a:xfrm>
            <a:off x="4967950" y="1529037"/>
            <a:ext cx="289174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ts val="600"/>
              </a:spcBef>
            </a:pPr>
            <a:r>
              <a:rPr lang="zh-CN" altLang="en-US" sz="2400" b="1">
                <a:solidFill>
                  <a:srgbClr val="00B0F0"/>
                </a:solidFill>
              </a:rPr>
              <a:t>下限截止频率</a:t>
            </a:r>
            <a:r>
              <a:rPr lang="en-US" altLang="zh-CN" sz="2400" b="1">
                <a:solidFill>
                  <a:srgbClr val="00B0F0"/>
                </a:solidFill>
              </a:rPr>
              <a:t>:</a:t>
            </a:r>
          </a:p>
          <a:p>
            <a:pPr>
              <a:spcBef>
                <a:spcPts val="600"/>
              </a:spcBef>
            </a:pPr>
            <a:endParaRPr lang="en-US" altLang="zh-CN" sz="2400" b="1" i="1">
              <a:solidFill>
                <a:srgbClr val="00B0F0"/>
              </a:solidFill>
              <a:latin typeface="Times New Roman" panose="02020603050405020304" pitchFamily="18" charset="0"/>
            </a:endParaRPr>
          </a:p>
          <a:p>
            <a:pPr>
              <a:spcBef>
                <a:spcPts val="600"/>
              </a:spcBef>
            </a:pPr>
            <a:endParaRPr lang="en-US" altLang="zh-CN" sz="2400" b="1" i="1">
              <a:solidFill>
                <a:srgbClr val="00B0F0"/>
              </a:solidFill>
              <a:latin typeface="Times New Roman" panose="02020603050405020304" pitchFamily="18" charset="0"/>
            </a:endParaRPr>
          </a:p>
          <a:p>
            <a:pPr>
              <a:spcBef>
                <a:spcPts val="600"/>
              </a:spcBef>
            </a:pPr>
            <a:endParaRPr lang="en-US" altLang="zh-CN" sz="2400" b="1" i="1">
              <a:solidFill>
                <a:srgbClr val="00B0F0"/>
              </a:solidFill>
              <a:latin typeface="Times New Roman" panose="02020603050405020304" pitchFamily="18" charset="0"/>
            </a:endParaRPr>
          </a:p>
          <a:p>
            <a:pPr>
              <a:spcBef>
                <a:spcPts val="600"/>
              </a:spcBef>
            </a:pPr>
            <a:r>
              <a:rPr lang="en-US" altLang="zh-CN" sz="2400" b="1" i="1">
                <a:solidFill>
                  <a:srgbClr val="00B0F0"/>
                </a:solidFill>
                <a:latin typeface="Times New Roman" panose="02020603050405020304" pitchFamily="18" charset="0"/>
              </a:rPr>
              <a:t>R</a:t>
            </a:r>
            <a:r>
              <a:rPr lang="en-US" altLang="zh-CN" sz="2400" b="1" i="1" baseline="-25000">
                <a:solidFill>
                  <a:srgbClr val="00B0F0"/>
                </a:solidFill>
                <a:latin typeface="Times New Roman" panose="02020603050405020304" pitchFamily="18" charset="0"/>
              </a:rPr>
              <a:t>F </a:t>
            </a:r>
            <a:r>
              <a:rPr lang="zh-CN" altLang="en-US" sz="2400" b="1">
                <a:solidFill>
                  <a:srgbClr val="00B0F0"/>
                </a:solidFill>
              </a:rPr>
              <a:t>为反馈电阻。</a:t>
            </a:r>
          </a:p>
        </p:txBody>
      </p:sp>
      <p:sp>
        <p:nvSpPr>
          <p:cNvPr id="2" name="Slide Number Placeholder 1">
            <a:extLst>
              <a:ext uri="{FF2B5EF4-FFF2-40B4-BE49-F238E27FC236}">
                <a16:creationId xmlns:a16="http://schemas.microsoft.com/office/drawing/2014/main" id="{7E2BA8FF-EC78-4B43-91E8-BB155E2C684B}"/>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
        <p:nvSpPr>
          <p:cNvPr id="3" name="矩形 20">
            <a:extLst>
              <a:ext uri="{FF2B5EF4-FFF2-40B4-BE49-F238E27FC236}">
                <a16:creationId xmlns:a16="http://schemas.microsoft.com/office/drawing/2014/main" id="{95621C2D-D499-46FE-81E5-62DB4868042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21">
            <a:extLst>
              <a:ext uri="{FF2B5EF4-FFF2-40B4-BE49-F238E27FC236}">
                <a16:creationId xmlns:a16="http://schemas.microsoft.com/office/drawing/2014/main" id="{624A3F61-BE22-422C-B425-99FCC4CAE232}"/>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5" name="矩形 26">
            <a:extLst>
              <a:ext uri="{FF2B5EF4-FFF2-40B4-BE49-F238E27FC236}">
                <a16:creationId xmlns:a16="http://schemas.microsoft.com/office/drawing/2014/main" id="{9B2E650D-6BEE-45CE-AF35-587CAD57E80C}"/>
              </a:ext>
            </a:extLst>
          </p:cNvPr>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graphicFrame>
        <p:nvGraphicFramePr>
          <p:cNvPr id="7" name="Object 6">
            <a:extLst>
              <a:ext uri="{FF2B5EF4-FFF2-40B4-BE49-F238E27FC236}">
                <a16:creationId xmlns:a16="http://schemas.microsoft.com/office/drawing/2014/main" id="{3C102BFE-1DED-47B5-AE41-E6B0AA30AE6A}"/>
              </a:ext>
            </a:extLst>
          </p:cNvPr>
          <p:cNvGraphicFramePr>
            <a:graphicFrameLocks noChangeAspect="1"/>
          </p:cNvGraphicFramePr>
          <p:nvPr>
            <p:extLst>
              <p:ext uri="{D42A27DB-BD31-4B8C-83A1-F6EECF244321}">
                <p14:modId xmlns:p14="http://schemas.microsoft.com/office/powerpoint/2010/main" val="869579105"/>
              </p:ext>
            </p:extLst>
          </p:nvPr>
        </p:nvGraphicFramePr>
        <p:xfrm>
          <a:off x="529887" y="1290006"/>
          <a:ext cx="2275101" cy="839567"/>
        </p:xfrm>
        <a:graphic>
          <a:graphicData uri="http://schemas.openxmlformats.org/presentationml/2006/ole">
            <mc:AlternateContent xmlns:mc="http://schemas.openxmlformats.org/markup-compatibility/2006">
              <mc:Choice xmlns:v="urn:schemas-microsoft-com:vml" Requires="v">
                <p:oleObj name="Equation" r:id="rId2" imgW="1650960" imgH="609480" progId="Equation.DSMT4">
                  <p:embed/>
                </p:oleObj>
              </mc:Choice>
              <mc:Fallback>
                <p:oleObj name="Equation" r:id="rId2" imgW="1650960" imgH="609480" progId="Equation.DSMT4">
                  <p:embed/>
                  <p:pic>
                    <p:nvPicPr>
                      <p:cNvPr id="320518" name="Object 6">
                        <a:extLst>
                          <a:ext uri="{FF2B5EF4-FFF2-40B4-BE49-F238E27FC236}">
                            <a16:creationId xmlns:a16="http://schemas.microsoft.com/office/drawing/2014/main" id="{9F74358B-785C-4BB9-A376-2D4414C1D54A}"/>
                          </a:ext>
                        </a:extLst>
                      </p:cNvPr>
                      <p:cNvPicPr>
                        <a:picLocks noChangeAspect="1" noChangeArrowheads="1"/>
                      </p:cNvPicPr>
                      <p:nvPr/>
                    </p:nvPicPr>
                    <p:blipFill>
                      <a:blip r:embed="rId3"/>
                      <a:srcRect/>
                      <a:stretch>
                        <a:fillRect/>
                      </a:stretch>
                    </p:blipFill>
                    <p:spPr bwMode="auto">
                      <a:xfrm>
                        <a:off x="529887" y="1290006"/>
                        <a:ext cx="2275101" cy="839567"/>
                      </a:xfrm>
                      <a:prstGeom prst="rect">
                        <a:avLst/>
                      </a:prstGeom>
                      <a:noFill/>
                      <a:ln>
                        <a:noFill/>
                      </a:ln>
                      <a:effectLst/>
                    </p:spPr>
                  </p:pic>
                </p:oleObj>
              </mc:Fallback>
            </mc:AlternateContent>
          </a:graphicData>
        </a:graphic>
      </p:graphicFrame>
      <p:graphicFrame>
        <p:nvGraphicFramePr>
          <p:cNvPr id="8" name="Object 10">
            <a:extLst>
              <a:ext uri="{FF2B5EF4-FFF2-40B4-BE49-F238E27FC236}">
                <a16:creationId xmlns:a16="http://schemas.microsoft.com/office/drawing/2014/main" id="{922FE3B5-1DAD-479E-AB31-4CC1598BBC96}"/>
              </a:ext>
            </a:extLst>
          </p:cNvPr>
          <p:cNvGraphicFramePr>
            <a:graphicFrameLocks noChangeAspect="1"/>
          </p:cNvGraphicFramePr>
          <p:nvPr>
            <p:extLst>
              <p:ext uri="{D42A27DB-BD31-4B8C-83A1-F6EECF244321}">
                <p14:modId xmlns:p14="http://schemas.microsoft.com/office/powerpoint/2010/main" val="1301284933"/>
              </p:ext>
            </p:extLst>
          </p:nvPr>
        </p:nvGraphicFramePr>
        <p:xfrm>
          <a:off x="556076" y="2908535"/>
          <a:ext cx="1888674" cy="834188"/>
        </p:xfrm>
        <a:graphic>
          <a:graphicData uri="http://schemas.openxmlformats.org/presentationml/2006/ole">
            <mc:AlternateContent xmlns:mc="http://schemas.openxmlformats.org/markup-compatibility/2006">
              <mc:Choice xmlns:v="urn:schemas-microsoft-com:vml" Requires="v">
                <p:oleObj name="公式" r:id="rId4" imgW="977760" imgH="431640" progId="Equation.3">
                  <p:embed/>
                </p:oleObj>
              </mc:Choice>
              <mc:Fallback>
                <p:oleObj name="公式" r:id="rId4" imgW="977760" imgH="431640" progId="Equation.3">
                  <p:embed/>
                  <p:pic>
                    <p:nvPicPr>
                      <p:cNvPr id="320522" name="Object 10">
                        <a:extLst>
                          <a:ext uri="{FF2B5EF4-FFF2-40B4-BE49-F238E27FC236}">
                            <a16:creationId xmlns:a16="http://schemas.microsoft.com/office/drawing/2014/main" id="{68EECE6A-BE5E-495F-90A9-1D5B4D61C6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076" y="2908535"/>
                        <a:ext cx="1888674" cy="834188"/>
                      </a:xfrm>
                      <a:prstGeom prst="rect">
                        <a:avLst/>
                      </a:prstGeom>
                      <a:noFill/>
                      <a:ln>
                        <a:noFill/>
                      </a:ln>
                      <a:effectLst/>
                    </p:spPr>
                  </p:pic>
                </p:oleObj>
              </mc:Fallback>
            </mc:AlternateContent>
          </a:graphicData>
        </a:graphic>
      </p:graphicFrame>
      <p:graphicFrame>
        <p:nvGraphicFramePr>
          <p:cNvPr id="9" name="Object 8">
            <a:extLst>
              <a:ext uri="{FF2B5EF4-FFF2-40B4-BE49-F238E27FC236}">
                <a16:creationId xmlns:a16="http://schemas.microsoft.com/office/drawing/2014/main" id="{A523F6E2-36C2-4106-A94E-12F76A5DAF86}"/>
              </a:ext>
            </a:extLst>
          </p:cNvPr>
          <p:cNvGraphicFramePr>
            <a:graphicFrameLocks noChangeAspect="1"/>
          </p:cNvGraphicFramePr>
          <p:nvPr>
            <p:extLst>
              <p:ext uri="{D42A27DB-BD31-4B8C-83A1-F6EECF244321}">
                <p14:modId xmlns:p14="http://schemas.microsoft.com/office/powerpoint/2010/main" val="3352659097"/>
              </p:ext>
            </p:extLst>
          </p:nvPr>
        </p:nvGraphicFramePr>
        <p:xfrm>
          <a:off x="5093085" y="1965124"/>
          <a:ext cx="2496963" cy="1212080"/>
        </p:xfrm>
        <a:graphic>
          <a:graphicData uri="http://schemas.openxmlformats.org/presentationml/2006/ole">
            <mc:AlternateContent xmlns:mc="http://schemas.openxmlformats.org/markup-compatibility/2006">
              <mc:Choice xmlns:v="urn:schemas-microsoft-com:vml" Requires="v">
                <p:oleObj name="Equation" r:id="rId6" imgW="2014710" imgH="978515" progId="Equation.DSMT4">
                  <p:embed/>
                </p:oleObj>
              </mc:Choice>
              <mc:Fallback>
                <p:oleObj name="Equation" r:id="rId6" imgW="2014710" imgH="978515" progId="Equation.DSMT4">
                  <p:embed/>
                  <p:pic>
                    <p:nvPicPr>
                      <p:cNvPr id="0" name=""/>
                      <p:cNvPicPr/>
                      <p:nvPr/>
                    </p:nvPicPr>
                    <p:blipFill>
                      <a:blip r:embed="rId7"/>
                      <a:stretch>
                        <a:fillRect/>
                      </a:stretch>
                    </p:blipFill>
                    <p:spPr>
                      <a:xfrm>
                        <a:off x="5093085" y="1965124"/>
                        <a:ext cx="2496963" cy="1212080"/>
                      </a:xfrm>
                      <a:prstGeom prst="rect">
                        <a:avLst/>
                      </a:prstGeom>
                      <a:solidFill>
                        <a:schemeClr val="accent4">
                          <a:lumMod val="40000"/>
                          <a:lumOff val="60000"/>
                        </a:schemeClr>
                      </a:solidFill>
                    </p:spPr>
                  </p:pic>
                </p:oleObj>
              </mc:Fallback>
            </mc:AlternateContent>
          </a:graphicData>
        </a:graphic>
      </p:graphicFrame>
      <p:sp>
        <p:nvSpPr>
          <p:cNvPr id="11" name="TextBox 10">
            <a:extLst>
              <a:ext uri="{FF2B5EF4-FFF2-40B4-BE49-F238E27FC236}">
                <a16:creationId xmlns:a16="http://schemas.microsoft.com/office/drawing/2014/main" id="{D93F7D83-1D8D-49D0-B721-37262D8B7193}"/>
              </a:ext>
            </a:extLst>
          </p:cNvPr>
          <p:cNvSpPr txBox="1"/>
          <p:nvPr/>
        </p:nvSpPr>
        <p:spPr>
          <a:xfrm>
            <a:off x="481228" y="2213881"/>
            <a:ext cx="2323760" cy="584775"/>
          </a:xfrm>
          <a:prstGeom prst="rect">
            <a:avLst/>
          </a:prstGeom>
          <a:noFill/>
        </p:spPr>
        <p:txBody>
          <a:bodyPr wrap="square">
            <a:spAutoFit/>
          </a:bodyPr>
          <a:lstStyle/>
          <a:p>
            <a:r>
              <a:rPr kumimoji="0" lang="en-US" altLang="zh-CN" sz="3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G</a:t>
            </a:r>
            <a:r>
              <a:rPr kumimoji="0" lang="en-US" altLang="zh-CN" sz="3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r>
              <a:rPr lang="en-US" altLang="zh-CN" sz="3200" kern="0">
                <a:solidFill>
                  <a:srgbClr val="000099"/>
                </a:solidFill>
                <a:latin typeface="Arial" panose="020B0604020202020204" pitchFamily="34" charset="0"/>
                <a:ea typeface="宋体" panose="02010600030101010101" pitchFamily="2" charset="-122"/>
              </a:rPr>
              <a:t>=</a:t>
            </a:r>
            <a:r>
              <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a:t>
            </a:r>
            <a:r>
              <a:rPr kumimoji="0" lang="en-US" altLang="zh-CN" sz="32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sym typeface="Symbol" panose="05050102010706020507" pitchFamily="18" charset="2"/>
              </a:rPr>
              <a:t>C</a:t>
            </a:r>
            <a:r>
              <a:rPr kumimoji="0" lang="en-US" altLang="zh-CN" sz="32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sym typeface="Symbol" panose="05050102010706020507" pitchFamily="18" charset="2"/>
              </a:rPr>
              <a:t>F</a:t>
            </a:r>
            <a:endParaRPr lang="en-001" sz="3200"/>
          </a:p>
        </p:txBody>
      </p:sp>
      <p:sp>
        <p:nvSpPr>
          <p:cNvPr id="12" name="Arrow: Right 11">
            <a:extLst>
              <a:ext uri="{FF2B5EF4-FFF2-40B4-BE49-F238E27FC236}">
                <a16:creationId xmlns:a16="http://schemas.microsoft.com/office/drawing/2014/main" id="{8463649C-3D1E-4661-AFCE-DD4795D11028}"/>
              </a:ext>
            </a:extLst>
          </p:cNvPr>
          <p:cNvSpPr/>
          <p:nvPr/>
        </p:nvSpPr>
        <p:spPr>
          <a:xfrm>
            <a:off x="3501126" y="2183225"/>
            <a:ext cx="936171" cy="7197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4" name="Text Box 10">
            <a:extLst>
              <a:ext uri="{FF2B5EF4-FFF2-40B4-BE49-F238E27FC236}">
                <a16:creationId xmlns:a16="http://schemas.microsoft.com/office/drawing/2014/main" id="{3A937FCF-715E-4AC0-878D-076A21CE8721}"/>
              </a:ext>
            </a:extLst>
          </p:cNvPr>
          <p:cNvSpPr txBox="1">
            <a:spLocks noChangeArrowheads="1"/>
          </p:cNvSpPr>
          <p:nvPr/>
        </p:nvSpPr>
        <p:spPr bwMode="auto">
          <a:xfrm>
            <a:off x="222701" y="3850144"/>
            <a:ext cx="7705725"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低频时，输出电压与输入电荷之间的相位差</a:t>
            </a:r>
            <a:r>
              <a:rPr lang="zh-CN" altLang="en-US" sz="2400" b="1" kern="0">
                <a:solidFill>
                  <a:srgbClr val="000099"/>
                </a:solidFill>
              </a:rPr>
              <a:t>：</a:t>
            </a:r>
            <a:endPar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16" name="Text Box 15">
            <a:extLst>
              <a:ext uri="{FF2B5EF4-FFF2-40B4-BE49-F238E27FC236}">
                <a16:creationId xmlns:a16="http://schemas.microsoft.com/office/drawing/2014/main" id="{8EE171D7-6A06-4A79-82FD-AC40A5EF8DDF}"/>
              </a:ext>
            </a:extLst>
          </p:cNvPr>
          <p:cNvSpPr txBox="1">
            <a:spLocks noChangeArrowheads="1"/>
          </p:cNvSpPr>
          <p:nvPr/>
        </p:nvSpPr>
        <p:spPr bwMode="auto">
          <a:xfrm>
            <a:off x="222701" y="5945649"/>
            <a:ext cx="8704280" cy="55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在下限截止频率点时，因为</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rPr>
              <a:t>G</a:t>
            </a:r>
            <a:r>
              <a:rPr kumimoji="0" lang="en-US" altLang="zh-CN" sz="24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a:t>
            </a:r>
            <a:r>
              <a:rPr kumimoji="0" lang="en-US" altLang="zh-CN" sz="2400" b="1" i="1" u="none" strike="noStrike" kern="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sym typeface="Symbol" panose="05050102010706020507" pitchFamily="18" charset="2"/>
              </a:rPr>
              <a:t>C</a:t>
            </a:r>
            <a:r>
              <a:rPr kumimoji="0" lang="en-US" altLang="zh-CN" sz="2400" b="1" i="1" u="none" strike="noStrike" kern="0" cap="none" spc="0" normalizeH="0" baseline="-25000" noProof="0">
                <a:ln>
                  <a:noFill/>
                </a:ln>
                <a:solidFill>
                  <a:srgbClr val="000099"/>
                </a:solidFill>
                <a:effectLst/>
                <a:uLnTx/>
                <a:uFillTx/>
                <a:latin typeface="Times New Roman" panose="02020603050405020304" pitchFamily="18" charset="0"/>
                <a:ea typeface="宋体" panose="02010600030101010101" pitchFamily="2" charset="-122"/>
                <a:sym typeface="Symbol" panose="05050102010706020507" pitchFamily="18" charset="2"/>
              </a:rPr>
              <a:t>F</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，有：</a:t>
            </a:r>
            <a:r>
              <a:rPr kumimoji="0" lang="zh-CN" altLang="en-US" sz="2400" b="1" i="1" u="none" strike="noStrike" kern="0" cap="none" spc="0" normalizeH="0" baseline="0" noProof="0">
                <a:ln>
                  <a:noFill/>
                </a:ln>
                <a:solidFill>
                  <a:srgbClr val="000099"/>
                </a:solidFill>
                <a:effectLst/>
                <a:uLnTx/>
                <a:uFillTx/>
                <a:latin typeface="Symbol" panose="05050102010706020507" pitchFamily="18" charset="2"/>
                <a:ea typeface="宋体" panose="02010600030101010101" pitchFamily="2" charset="-122"/>
                <a:sym typeface="Symbol" panose="05050102010706020507" pitchFamily="18" charset="2"/>
              </a:rPr>
              <a:t> </a:t>
            </a:r>
            <a:r>
              <a:rPr kumimoji="0" lang="en-US" altLang="zh-CN"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=arctan1=45</a:t>
            </a:r>
            <a:r>
              <a:rPr kumimoji="0" lang="en-US" altLang="zh-CN" sz="28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sym typeface="Symbol" panose="05050102010706020507" pitchFamily="18" charset="2"/>
              </a:rPr>
              <a:t>°</a:t>
            </a:r>
          </a:p>
        </p:txBody>
      </p:sp>
      <p:graphicFrame>
        <p:nvGraphicFramePr>
          <p:cNvPr id="23" name="Object 22">
            <a:extLst>
              <a:ext uri="{FF2B5EF4-FFF2-40B4-BE49-F238E27FC236}">
                <a16:creationId xmlns:a16="http://schemas.microsoft.com/office/drawing/2014/main" id="{3747707A-615F-4452-8EAE-401FDD0575F3}"/>
              </a:ext>
            </a:extLst>
          </p:cNvPr>
          <p:cNvGraphicFramePr>
            <a:graphicFrameLocks noChangeAspect="1"/>
          </p:cNvGraphicFramePr>
          <p:nvPr>
            <p:extLst>
              <p:ext uri="{D42A27DB-BD31-4B8C-83A1-F6EECF244321}">
                <p14:modId xmlns:p14="http://schemas.microsoft.com/office/powerpoint/2010/main" val="907022878"/>
              </p:ext>
            </p:extLst>
          </p:nvPr>
        </p:nvGraphicFramePr>
        <p:xfrm>
          <a:off x="364022" y="4411191"/>
          <a:ext cx="8365162" cy="1115692"/>
        </p:xfrm>
        <a:graphic>
          <a:graphicData uri="http://schemas.openxmlformats.org/presentationml/2006/ole">
            <mc:AlternateContent xmlns:mc="http://schemas.openxmlformats.org/markup-compatibility/2006">
              <mc:Choice xmlns:v="urn:schemas-microsoft-com:vml" Requires="v">
                <p:oleObj name="Equation" r:id="rId8" imgW="6197400" imgH="825480" progId="Equation.DSMT4">
                  <p:embed/>
                </p:oleObj>
              </mc:Choice>
              <mc:Fallback>
                <p:oleObj name="Equation" r:id="rId8" imgW="6197400" imgH="825480" progId="Equation.DSMT4">
                  <p:embed/>
                  <p:pic>
                    <p:nvPicPr>
                      <p:cNvPr id="0" name=""/>
                      <p:cNvPicPr/>
                      <p:nvPr/>
                    </p:nvPicPr>
                    <p:blipFill>
                      <a:blip r:embed="rId9"/>
                      <a:stretch>
                        <a:fillRect/>
                      </a:stretch>
                    </p:blipFill>
                    <p:spPr>
                      <a:xfrm>
                        <a:off x="364022" y="4411191"/>
                        <a:ext cx="8365162" cy="111569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0E84736-529E-425E-978E-17AC724F3E50}"/>
              </a:ext>
            </a:extLst>
          </p:cNvPr>
          <p:cNvGraphicFramePr>
            <a:graphicFrameLocks noChangeAspect="1"/>
          </p:cNvGraphicFramePr>
          <p:nvPr>
            <p:extLst>
              <p:ext uri="{D42A27DB-BD31-4B8C-83A1-F6EECF244321}">
                <p14:modId xmlns:p14="http://schemas.microsoft.com/office/powerpoint/2010/main" val="3412672416"/>
              </p:ext>
            </p:extLst>
          </p:nvPr>
        </p:nvGraphicFramePr>
        <p:xfrm>
          <a:off x="3144714" y="5168663"/>
          <a:ext cx="2376487" cy="898525"/>
        </p:xfrm>
        <a:graphic>
          <a:graphicData uri="http://schemas.openxmlformats.org/presentationml/2006/ole">
            <mc:AlternateContent xmlns:mc="http://schemas.openxmlformats.org/markup-compatibility/2006">
              <mc:Choice xmlns:v="urn:schemas-microsoft-com:vml" Requires="v">
                <p:oleObj name="Equation" r:id="rId10" imgW="2376177" imgH="897872" progId="Equation.DSMT4">
                  <p:embed/>
                </p:oleObj>
              </mc:Choice>
              <mc:Fallback>
                <p:oleObj name="Equation" r:id="rId10" imgW="2376177" imgH="897872" progId="Equation.DSMT4">
                  <p:embed/>
                  <p:pic>
                    <p:nvPicPr>
                      <p:cNvPr id="0" name=""/>
                      <p:cNvPicPr/>
                      <p:nvPr/>
                    </p:nvPicPr>
                    <p:blipFill>
                      <a:blip r:embed="rId11"/>
                      <a:stretch>
                        <a:fillRect/>
                      </a:stretch>
                    </p:blipFill>
                    <p:spPr>
                      <a:xfrm>
                        <a:off x="3144714" y="5168663"/>
                        <a:ext cx="2376487" cy="898525"/>
                      </a:xfrm>
                      <a:prstGeom prst="rect">
                        <a:avLst/>
                      </a:prstGeom>
                    </p:spPr>
                  </p:pic>
                </p:oleObj>
              </mc:Fallback>
            </mc:AlternateContent>
          </a:graphicData>
        </a:graphic>
      </p:graphicFrame>
    </p:spTree>
    <p:extLst>
      <p:ext uri="{BB962C8B-B14F-4D97-AF65-F5344CB8AC3E}">
        <p14:creationId xmlns:p14="http://schemas.microsoft.com/office/powerpoint/2010/main" val="283161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49AB5F-9E90-42A8-8AF8-964191F55740}"/>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
        <p:nvSpPr>
          <p:cNvPr id="3" name="矩形 20">
            <a:extLst>
              <a:ext uri="{FF2B5EF4-FFF2-40B4-BE49-F238E27FC236}">
                <a16:creationId xmlns:a16="http://schemas.microsoft.com/office/drawing/2014/main" id="{476CB2FF-A984-4488-98EB-9A13264F2EE1}"/>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21">
            <a:extLst>
              <a:ext uri="{FF2B5EF4-FFF2-40B4-BE49-F238E27FC236}">
                <a16:creationId xmlns:a16="http://schemas.microsoft.com/office/drawing/2014/main" id="{D4701C7C-806C-4E5A-A0DA-E335ECBE4B84}"/>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6.4.2</a:t>
            </a:r>
          </a:p>
        </p:txBody>
      </p:sp>
      <p:sp>
        <p:nvSpPr>
          <p:cNvPr id="5" name="矩形 26">
            <a:extLst>
              <a:ext uri="{FF2B5EF4-FFF2-40B4-BE49-F238E27FC236}">
                <a16:creationId xmlns:a16="http://schemas.microsoft.com/office/drawing/2014/main" id="{6F8F0C0D-9E16-4FED-8D55-CAFF7010B115}"/>
              </a:ext>
            </a:extLst>
          </p:cNvPr>
          <p:cNvSpPr/>
          <p:nvPr/>
        </p:nvSpPr>
        <p:spPr>
          <a:xfrm>
            <a:off x="1960201" y="329520"/>
            <a:ext cx="237275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电荷放大器</a:t>
            </a:r>
          </a:p>
        </p:txBody>
      </p:sp>
      <p:sp>
        <p:nvSpPr>
          <p:cNvPr id="6" name="Rectangle 3">
            <a:extLst>
              <a:ext uri="{FF2B5EF4-FFF2-40B4-BE49-F238E27FC236}">
                <a16:creationId xmlns:a16="http://schemas.microsoft.com/office/drawing/2014/main" id="{F01B5097-2CEF-4D9F-9BF7-177F0B5F0D44}"/>
              </a:ext>
            </a:extLst>
          </p:cNvPr>
          <p:cNvSpPr txBox="1">
            <a:spLocks noRot="1" noChangeArrowheads="1"/>
          </p:cNvSpPr>
          <p:nvPr/>
        </p:nvSpPr>
        <p:spPr bwMode="auto">
          <a:xfrm>
            <a:off x="962025" y="2060599"/>
            <a:ext cx="721995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30000"/>
              </a:lnSpc>
              <a:spcBef>
                <a:spcPts val="6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截止上限频率主要取决于运算放大器的频率响应。</a:t>
            </a:r>
            <a:endParaRPr kumimoji="0" lang="en-US" altLang="zh-CN" sz="2400" b="1" i="0" u="none" strike="noStrike" kern="1200" cap="none" spc="0" normalizeH="0" baseline="0" noProof="0">
              <a:ln>
                <a:noFill/>
              </a:ln>
              <a:solidFill>
                <a:srgbClr val="000099"/>
              </a:solidFill>
              <a:effectLst/>
              <a:uLnTx/>
              <a:uFillTx/>
              <a:latin typeface="Arial"/>
              <a:ea typeface="宋体"/>
              <a:cs typeface="+mn-cs"/>
            </a:endParaRPr>
          </a:p>
          <a:p>
            <a:pPr marL="342900" marR="0" lvl="0" indent="-342900" algn="just" defTabSz="914400" rtl="0" eaLnBrk="1" fontAlgn="base" latinLnBrk="0" hangingPunct="1">
              <a:lnSpc>
                <a:spcPct val="130000"/>
              </a:lnSpc>
              <a:spcBef>
                <a:spcPts val="600"/>
              </a:spcBef>
              <a:spcAft>
                <a:spcPct val="0"/>
              </a:spcAft>
              <a:buClr>
                <a:srgbClr val="FF0000"/>
              </a:buClr>
              <a:buSzTx/>
              <a:buFont typeface="Wingdings" panose="05000000000000000000" pitchFamily="2" charset="2"/>
              <a:buChar char="§"/>
              <a:tabLst/>
              <a:defRPr/>
            </a:pPr>
            <a:r>
              <a:rPr kumimoji="0" lang="zh-CN" altLang="en-US" sz="2400" b="1" i="0" u="none" strike="noStrike" kern="1200" cap="none" spc="0" normalizeH="0" baseline="0" noProof="0">
                <a:ln>
                  <a:noFill/>
                </a:ln>
                <a:solidFill>
                  <a:srgbClr val="000099"/>
                </a:solidFill>
                <a:effectLst/>
                <a:uLnTx/>
                <a:uFillTx/>
                <a:latin typeface="Arial"/>
                <a:ea typeface="宋体"/>
                <a:cs typeface="+mn-cs"/>
              </a:rPr>
              <a:t>若电缆太长，杂散电容和电缆电容增加，电缆的导线电阻</a:t>
            </a:r>
            <a:r>
              <a:rPr kumimoji="0" lang="en-US" altLang="zh-CN" sz="2400" b="1" i="0" u="none" strike="noStrike" kern="1200" cap="none" spc="0" normalizeH="0" baseline="0" noProof="0">
                <a:ln>
                  <a:noFill/>
                </a:ln>
                <a:solidFill>
                  <a:srgbClr val="000099"/>
                </a:solidFill>
                <a:effectLst/>
                <a:uLnTx/>
                <a:uFillTx/>
                <a:latin typeface="Arial"/>
                <a:ea typeface="宋体"/>
                <a:cs typeface="+mn-cs"/>
              </a:rPr>
              <a:t>Rc</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也增加，影响放大器的高频特性</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，但影响不大。</a:t>
            </a:r>
            <a:endParaRPr kumimoji="0" lang="zh-CN" altLang="en-US" sz="2400" b="1" i="0" u="none" strike="noStrike" kern="1200" cap="none" spc="0" normalizeH="0" baseline="0" noProof="0">
              <a:ln>
                <a:noFill/>
              </a:ln>
              <a:solidFill>
                <a:srgbClr val="000099"/>
              </a:solidFill>
              <a:effectLst/>
              <a:uLnTx/>
              <a:uFillTx/>
              <a:latin typeface="Arial"/>
              <a:ea typeface="宋体"/>
              <a:cs typeface="+mn-cs"/>
            </a:endParaRPr>
          </a:p>
        </p:txBody>
      </p:sp>
    </p:spTree>
    <p:extLst>
      <p:ext uri="{BB962C8B-B14F-4D97-AF65-F5344CB8AC3E}">
        <p14:creationId xmlns:p14="http://schemas.microsoft.com/office/powerpoint/2010/main" val="1150861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6.5</a:t>
            </a:r>
          </a:p>
        </p:txBody>
      </p:sp>
      <p:sp>
        <p:nvSpPr>
          <p:cNvPr id="46" name="矩形 45"/>
          <p:cNvSpPr/>
          <p:nvPr/>
        </p:nvSpPr>
        <p:spPr>
          <a:xfrm>
            <a:off x="1960200" y="360001"/>
            <a:ext cx="4998476" cy="113876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压电式传感器的应用举例</a:t>
            </a:r>
            <a:br>
              <a:rPr lang="zh-CN" altLang="en-US" sz="3400" b="1" dirty="0">
                <a:solidFill>
                  <a:schemeClr val="bg1"/>
                </a:solidFill>
                <a:latin typeface="宋体" panose="02010600030101010101" pitchFamily="2" charset="-122"/>
                <a:ea typeface="宋体" panose="02010600030101010101" pitchFamily="2" charset="-122"/>
                <a:sym typeface="+mn-ea"/>
              </a:rPr>
            </a:b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28" name="Rectangle 3"/>
          <p:cNvSpPr txBox="1">
            <a:spLocks noRot="1" noChangeArrowheads="1"/>
          </p:cNvSpPr>
          <p:nvPr/>
        </p:nvSpPr>
        <p:spPr>
          <a:xfrm>
            <a:off x="1009691" y="2298469"/>
            <a:ext cx="7124617" cy="16718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628650">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压电元件是一种典型的力敏感</a:t>
            </a:r>
            <a:r>
              <a:rPr lang="zh-CN" altLang="en-US" sz="2400" b="1">
                <a:latin typeface="宋体" panose="02010600030101010101" pitchFamily="2" charset="-122"/>
                <a:ea typeface="宋体" panose="02010600030101010101" pitchFamily="2" charset="-122"/>
              </a:rPr>
              <a:t>元件</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可</a:t>
            </a:r>
            <a:r>
              <a:rPr lang="zh-CN" altLang="en-US" sz="2400" b="1" dirty="0">
                <a:latin typeface="宋体" panose="02010600030101010101" pitchFamily="2" charset="-122"/>
                <a:ea typeface="宋体" panose="02010600030101010101" pitchFamily="2" charset="-122"/>
              </a:rPr>
              <a:t>用来测量最终能转换为力的多种物</a:t>
            </a:r>
            <a:r>
              <a:rPr lang="zh-CN" altLang="en-US" sz="2400" b="1">
                <a:latin typeface="宋体" panose="02010600030101010101" pitchFamily="2" charset="-122"/>
                <a:ea typeface="宋体" panose="02010600030101010101" pitchFamily="2" charset="-122"/>
              </a:rPr>
              <a:t>理量，如力</a:t>
            </a:r>
            <a:r>
              <a:rPr lang="zh-CN" altLang="en-US" sz="2400" b="1" dirty="0">
                <a:latin typeface="宋体" panose="02010600030101010101" pitchFamily="2" charset="-122"/>
                <a:ea typeface="宋体" panose="02010600030101010101" pitchFamily="2" charset="-122"/>
              </a:rPr>
              <a:t>和加速度。</a:t>
            </a:r>
            <a:endParaRPr kumimoji="1"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302A8074-FB18-4E08-A5BA-2FAB29805AD0}"/>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压电式传感器的应用举例</a:t>
            </a:r>
          </a:p>
        </p:txBody>
      </p:sp>
      <p:sp>
        <p:nvSpPr>
          <p:cNvPr id="2" name="Slide Number Placeholder 1">
            <a:extLst>
              <a:ext uri="{FF2B5EF4-FFF2-40B4-BE49-F238E27FC236}">
                <a16:creationId xmlns:a16="http://schemas.microsoft.com/office/drawing/2014/main" id="{448F4E18-8C58-471D-9450-B611571B3ADB}"/>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
        <p:nvSpPr>
          <p:cNvPr id="6" name="Rectangle 3">
            <a:extLst>
              <a:ext uri="{FF2B5EF4-FFF2-40B4-BE49-F238E27FC236}">
                <a16:creationId xmlns:a16="http://schemas.microsoft.com/office/drawing/2014/main" id="{F6A79B03-8867-4AEB-91F8-C7B2E87706C4}"/>
              </a:ext>
            </a:extLst>
          </p:cNvPr>
          <p:cNvSpPr txBox="1">
            <a:spLocks noRot="1" noChangeArrowheads="1"/>
          </p:cNvSpPr>
          <p:nvPr/>
        </p:nvSpPr>
        <p:spPr bwMode="auto">
          <a:xfrm>
            <a:off x="381000" y="1524000"/>
            <a:ext cx="7772400" cy="388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None/>
              <a:tabLst/>
              <a:defRPr/>
            </a:pPr>
            <a:r>
              <a:rPr kumimoji="0" lang="en-US" altLang="zh-CN" sz="3200" b="1" i="0" u="none" strike="noStrike" kern="1200" cap="none" spc="0" normalizeH="0" baseline="0" noProof="0">
                <a:ln>
                  <a:noFill/>
                </a:ln>
                <a:solidFill>
                  <a:srgbClr val="000099"/>
                </a:solidFill>
                <a:effectLst/>
                <a:uLnTx/>
                <a:uFillTx/>
                <a:latin typeface="Arial"/>
                <a:ea typeface="宋体"/>
                <a:cs typeface="+mn-cs"/>
              </a:rPr>
              <a:t>  6.5.1  </a:t>
            </a:r>
            <a:r>
              <a:rPr kumimoji="0" lang="zh-CN" altLang="en-US" sz="3200" b="1" i="0" u="none" strike="noStrike" kern="1200" cap="none" spc="0" normalizeH="0" baseline="0" noProof="0">
                <a:ln>
                  <a:noFill/>
                </a:ln>
                <a:solidFill>
                  <a:srgbClr val="000099"/>
                </a:solidFill>
                <a:effectLst/>
                <a:uLnTx/>
                <a:uFillTx/>
                <a:latin typeface="Arial"/>
                <a:ea typeface="宋体"/>
                <a:cs typeface="+mn-cs"/>
              </a:rPr>
              <a:t>压电式测力传感器</a:t>
            </a:r>
          </a:p>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None/>
              <a:tabLst/>
              <a:defRPr/>
            </a:pPr>
            <a:endParaRPr kumimoji="0" lang="zh-CN" altLang="en-US" sz="3200" b="1" i="0" u="none" strike="noStrike" kern="1200" cap="none" spc="0" normalizeH="0" baseline="0" noProof="0">
              <a:ln>
                <a:noFill/>
              </a:ln>
              <a:solidFill>
                <a:srgbClr val="000099"/>
              </a:solidFill>
              <a:effectLst/>
              <a:uLnTx/>
              <a:uFillTx/>
              <a:latin typeface="Arial"/>
              <a:ea typeface="宋体"/>
              <a:cs typeface="+mn-cs"/>
            </a:endParaRPr>
          </a:p>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None/>
              <a:tabLst/>
              <a:defRPr/>
            </a:pPr>
            <a:r>
              <a:rPr kumimoji="0" lang="zh-CN" altLang="en-US" sz="3200" b="1" i="0" u="none" strike="noStrike" kern="1200" cap="none" spc="0" normalizeH="0" baseline="0" noProof="0">
                <a:ln>
                  <a:noFill/>
                </a:ln>
                <a:solidFill>
                  <a:srgbClr val="000099"/>
                </a:solidFill>
                <a:effectLst/>
                <a:uLnTx/>
                <a:uFillTx/>
                <a:latin typeface="Arial"/>
                <a:ea typeface="宋体"/>
                <a:cs typeface="+mn-cs"/>
              </a:rPr>
              <a:t>  </a:t>
            </a:r>
            <a:r>
              <a:rPr kumimoji="0" lang="zh-CN" altLang="en-US" sz="2800" b="1" i="0" u="none" strike="noStrike" kern="1200" cap="none" spc="0" normalizeH="0" baseline="0" noProof="0">
                <a:ln>
                  <a:noFill/>
                </a:ln>
                <a:solidFill>
                  <a:srgbClr val="000099"/>
                </a:solidFill>
                <a:effectLst/>
                <a:uLnTx/>
                <a:uFillTx/>
                <a:latin typeface="Arial"/>
                <a:ea typeface="宋体"/>
                <a:cs typeface="+mn-cs"/>
              </a:rPr>
              <a:t>          </a:t>
            </a:r>
          </a:p>
        </p:txBody>
      </p:sp>
      <p:sp>
        <p:nvSpPr>
          <p:cNvPr id="7" name="Rectangle 33">
            <a:extLst>
              <a:ext uri="{FF2B5EF4-FFF2-40B4-BE49-F238E27FC236}">
                <a16:creationId xmlns:a16="http://schemas.microsoft.com/office/drawing/2014/main" id="{C2BC4D03-C231-473B-8C15-C209BFF15D20}"/>
              </a:ext>
            </a:extLst>
          </p:cNvPr>
          <p:cNvSpPr>
            <a:spLocks noChangeArrowheads="1"/>
          </p:cNvSpPr>
          <p:nvPr/>
        </p:nvSpPr>
        <p:spPr bwMode="auto">
          <a:xfrm>
            <a:off x="573238" y="2241551"/>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buChar char="§"/>
              <a:defRPr sz="3200">
                <a:solidFill>
                  <a:schemeClr val="tx1"/>
                </a:solidFill>
                <a:latin typeface="Arial" panose="020B0604020202020204" pitchFamily="34" charset="0"/>
                <a:ea typeface="宋体" panose="02010600030101010101" pitchFamily="2" charset="-122"/>
              </a:defRPr>
            </a:lvl1pPr>
            <a:lvl2pPr marL="742950" indent="-285750">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buChar char="§"/>
              <a:defRPr sz="2400">
                <a:solidFill>
                  <a:schemeClr val="tx1"/>
                </a:solidFill>
                <a:latin typeface="Arial" panose="020B0604020202020204" pitchFamily="34" charset="0"/>
                <a:ea typeface="宋体" panose="02010600030101010101" pitchFamily="2" charset="-122"/>
              </a:defRPr>
            </a:lvl3pPr>
            <a:lvl4pPr marL="1600200" indent="-228600">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en-US" altLang="zh-CN"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     </a:t>
            </a: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压电元件是直接把力转换为电荷的传感器。</a:t>
            </a:r>
          </a:p>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变形方式：利用纵向压电效应的方式最简便。</a:t>
            </a:r>
          </a:p>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材料选择：决定于所测力的量值大小，对测量误差提</a:t>
            </a:r>
          </a:p>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出的要求、工作环境温度等各种因素。</a:t>
            </a:r>
          </a:p>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Char char="§"/>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晶片数目：通常是使用机械串联而电气并联的两片。</a:t>
            </a:r>
          </a:p>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晶片电气并联两片，可以使传感器的电荷</a:t>
            </a:r>
          </a:p>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                      输出灵敏度增大一倍。</a:t>
            </a:r>
          </a:p>
        </p:txBody>
      </p:sp>
    </p:spTree>
    <p:extLst>
      <p:ext uri="{BB962C8B-B14F-4D97-AF65-F5344CB8AC3E}">
        <p14:creationId xmlns:p14="http://schemas.microsoft.com/office/powerpoint/2010/main" val="37179883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压电式传感器的应用举例</a:t>
            </a:r>
          </a:p>
        </p:txBody>
      </p:sp>
      <p:sp>
        <p:nvSpPr>
          <p:cNvPr id="2" name="Slide Number Placeholder 1">
            <a:extLst>
              <a:ext uri="{FF2B5EF4-FFF2-40B4-BE49-F238E27FC236}">
                <a16:creationId xmlns:a16="http://schemas.microsoft.com/office/drawing/2014/main" id="{448F4E18-8C58-471D-9450-B611571B3ADB}"/>
              </a:ext>
            </a:extLst>
          </p:cNvPr>
          <p:cNvSpPr>
            <a:spLocks noGrp="1"/>
          </p:cNvSpPr>
          <p:nvPr>
            <p:ph type="sldNum" sz="quarter" idx="12"/>
          </p:nvPr>
        </p:nvSpPr>
        <p:spPr/>
        <p:txBody>
          <a:bodyPr/>
          <a:lstStyle/>
          <a:p>
            <a:fld id="{B53602B4-F12B-41CD-B648-531F86B2CC91}" type="slidenum">
              <a:rPr lang="zh-CN" altLang="en-US" smtClean="0"/>
              <a:t>36</a:t>
            </a:fld>
            <a:endParaRPr lang="zh-CN" altLang="en-US"/>
          </a:p>
        </p:txBody>
      </p:sp>
      <p:pic>
        <p:nvPicPr>
          <p:cNvPr id="4" name="Picture 3">
            <a:extLst>
              <a:ext uri="{FF2B5EF4-FFF2-40B4-BE49-F238E27FC236}">
                <a16:creationId xmlns:a16="http://schemas.microsoft.com/office/drawing/2014/main" id="{31C61A0A-1828-43A0-8F77-6D6FA3BCA9FA}"/>
              </a:ext>
            </a:extLst>
          </p:cNvPr>
          <p:cNvPicPr>
            <a:picLocks noChangeAspect="1"/>
          </p:cNvPicPr>
          <p:nvPr/>
        </p:nvPicPr>
        <p:blipFill>
          <a:blip r:embed="rId3"/>
          <a:stretch>
            <a:fillRect/>
          </a:stretch>
        </p:blipFill>
        <p:spPr>
          <a:xfrm>
            <a:off x="4805916" y="1175440"/>
            <a:ext cx="4374119" cy="2597494"/>
          </a:xfrm>
          <a:prstGeom prst="rect">
            <a:avLst/>
          </a:prstGeom>
        </p:spPr>
      </p:pic>
      <p:sp>
        <p:nvSpPr>
          <p:cNvPr id="11" name="TextBox 10">
            <a:extLst>
              <a:ext uri="{FF2B5EF4-FFF2-40B4-BE49-F238E27FC236}">
                <a16:creationId xmlns:a16="http://schemas.microsoft.com/office/drawing/2014/main" id="{925465F4-C249-48AB-BCED-46FF754FC5E4}"/>
              </a:ext>
            </a:extLst>
          </p:cNvPr>
          <p:cNvSpPr txBox="1"/>
          <p:nvPr/>
        </p:nvSpPr>
        <p:spPr>
          <a:xfrm>
            <a:off x="281762" y="1386239"/>
            <a:ext cx="4146697" cy="4504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defPPr>
              <a:defRPr lang="zh-CN"/>
            </a:defPPr>
            <a:lvl1pPr marL="342900" marR="0" lvl="0" indent="-342900" algn="just" fontAlgn="base">
              <a:lnSpc>
                <a:spcPct val="105000"/>
              </a:lnSpc>
              <a:spcBef>
                <a:spcPct val="20000"/>
              </a:spcBef>
              <a:spcAft>
                <a:spcPct val="0"/>
              </a:spcAft>
              <a:buClr>
                <a:srgbClr val="FF0000"/>
              </a:buClr>
              <a:buSzTx/>
              <a:buFont typeface="Wingdings" panose="05000000000000000000" pitchFamily="2" charset="2"/>
              <a:buNone/>
              <a:tabLst/>
              <a:defRPr kumimoji="0" sz="2400" b="0" i="0" u="none" strike="noStrike" kern="0" cap="none" spc="0" normalizeH="0" baseline="0">
                <a:ln>
                  <a:noFill/>
                </a:ln>
                <a:solidFill>
                  <a:srgbClr val="000000"/>
                </a:solidFill>
                <a:effectLst/>
                <a:uLnTx/>
                <a:uFillTx/>
                <a:latin typeface="Times New Roman" panose="02020603050405020304" pitchFamily="18" charset="0"/>
                <a:ea typeface="宋体" panose="02010600030101010101" pitchFamily="2" charset="-122"/>
              </a:defRPr>
            </a:lvl1pPr>
            <a:lvl2pPr marL="742950" indent="-285750">
              <a:buClr>
                <a:schemeClr val="hlink"/>
              </a:buClr>
              <a:buChar char="•"/>
              <a:defRPr sz="2800">
                <a:latin typeface="Arial" panose="020B0604020202020204" pitchFamily="34" charset="0"/>
                <a:ea typeface="宋体" panose="02010600030101010101" pitchFamily="2" charset="-122"/>
              </a:defRPr>
            </a:lvl2pPr>
            <a:lvl3pPr marL="1143000" indent="-228600">
              <a:buChar char="§"/>
              <a:defRPr sz="2400">
                <a:latin typeface="Arial" panose="020B0604020202020204" pitchFamily="34" charset="0"/>
                <a:ea typeface="宋体" panose="02010600030101010101" pitchFamily="2" charset="-122"/>
              </a:defRPr>
            </a:lvl3pPr>
            <a:lvl4pPr marL="1600200" indent="-228600">
              <a:buClr>
                <a:schemeClr val="hlink"/>
              </a:buClr>
              <a:buSzPct val="115000"/>
              <a:buChar char="•"/>
              <a:defRPr sz="2000">
                <a:latin typeface="Arial" panose="020B0604020202020204" pitchFamily="34" charset="0"/>
                <a:ea typeface="宋体" panose="02010600030101010101" pitchFamily="2" charset="-122"/>
              </a:defRPr>
            </a:lvl4pPr>
            <a:lvl5pPr marL="2057400" indent="-228600">
              <a:buChar char="§"/>
              <a:defRPr sz="2000">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9pPr>
          </a:lstStyle>
          <a:p>
            <a:pPr>
              <a:buClrTx/>
              <a:buFont typeface="Wingdings" panose="05000000000000000000" pitchFamily="2" charset="2"/>
              <a:buChar char="Ø"/>
            </a:pPr>
            <a:r>
              <a:rPr lang="zh-CN" altLang="en-US" sz="2000" dirty="0"/>
              <a:t>图</a:t>
            </a:r>
            <a:r>
              <a:rPr lang="en-US" altLang="zh-CN" sz="2000" dirty="0"/>
              <a:t>6 -13 </a:t>
            </a:r>
            <a:r>
              <a:rPr lang="zh-CN" altLang="en-US" sz="2000" dirty="0"/>
              <a:t>所示为压电式单向测力传感器的结构图。</a:t>
            </a:r>
          </a:p>
          <a:p>
            <a:pPr>
              <a:buClrTx/>
              <a:buFont typeface="Wingdings" panose="05000000000000000000" pitchFamily="2" charset="2"/>
              <a:buChar char="Ø"/>
            </a:pPr>
            <a:r>
              <a:rPr lang="zh-CN" altLang="en-US" sz="2000" dirty="0"/>
              <a:t>该传感器可用于机床动态切削力的测量。</a:t>
            </a:r>
          </a:p>
          <a:p>
            <a:pPr>
              <a:buClrTx/>
              <a:buFont typeface="Wingdings" panose="05000000000000000000" pitchFamily="2" charset="2"/>
              <a:buChar char="Ø"/>
            </a:pPr>
            <a:r>
              <a:rPr lang="zh-CN" altLang="en-US" sz="2000" dirty="0"/>
              <a:t>晶体片为</a:t>
            </a:r>
            <a:r>
              <a:rPr lang="en-US" altLang="zh-CN" sz="2000" dirty="0"/>
              <a:t>0°X</a:t>
            </a:r>
            <a:r>
              <a:rPr lang="zh-CN" altLang="en-US" sz="2000" dirty="0"/>
              <a:t>切石英晶片，上盖为传力元件，其变形壁的厚度为</a:t>
            </a:r>
            <a:r>
              <a:rPr lang="en-US" altLang="zh-CN" sz="2000" dirty="0"/>
              <a:t>0.1 -0.5 mm, </a:t>
            </a:r>
            <a:r>
              <a:rPr lang="zh-CN" altLang="en-US" sz="2000" dirty="0"/>
              <a:t>由测力范围</a:t>
            </a:r>
            <a:r>
              <a:rPr lang="en-US" altLang="zh-CN" sz="2000" dirty="0"/>
              <a:t>(Fmax = 500 kg) </a:t>
            </a:r>
            <a:r>
              <a:rPr lang="zh-CN" altLang="en-US" sz="2000" dirty="0"/>
              <a:t>决定。</a:t>
            </a:r>
          </a:p>
          <a:p>
            <a:pPr>
              <a:buClrTx/>
              <a:buFont typeface="Wingdings" panose="05000000000000000000" pitchFamily="2" charset="2"/>
              <a:buChar char="Ø"/>
            </a:pPr>
            <a:r>
              <a:rPr lang="zh-CN" altLang="en-US" sz="2000" dirty="0"/>
              <a:t>聚四氮套用来绝缘和定位。</a:t>
            </a:r>
          </a:p>
        </p:txBody>
      </p:sp>
      <p:sp>
        <p:nvSpPr>
          <p:cNvPr id="13" name="TextBox 12">
            <a:extLst>
              <a:ext uri="{FF2B5EF4-FFF2-40B4-BE49-F238E27FC236}">
                <a16:creationId xmlns:a16="http://schemas.microsoft.com/office/drawing/2014/main" id="{5544109E-918C-4665-9C5E-3CE04FE55FBB}"/>
              </a:ext>
            </a:extLst>
          </p:cNvPr>
          <p:cNvSpPr txBox="1"/>
          <p:nvPr/>
        </p:nvSpPr>
        <p:spPr>
          <a:xfrm>
            <a:off x="281762" y="4673009"/>
            <a:ext cx="8245550" cy="177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defPPr>
              <a:defRPr lang="zh-CN"/>
            </a:defPPr>
            <a:lvl1pPr marL="342900" marR="0" lvl="0" indent="-342900" algn="just" fontAlgn="base">
              <a:lnSpc>
                <a:spcPct val="105000"/>
              </a:lnSpc>
              <a:spcBef>
                <a:spcPct val="20000"/>
              </a:spcBef>
              <a:spcAft>
                <a:spcPct val="0"/>
              </a:spcAft>
              <a:buClrTx/>
              <a:buSzTx/>
              <a:buFont typeface="Wingdings" panose="05000000000000000000" pitchFamily="2" charset="2"/>
              <a:buChar char="Ø"/>
              <a:tabLst/>
              <a:defRPr kumimoji="0" sz="2000" b="0" i="0" u="none" strike="noStrike" kern="0" cap="none" spc="0" normalizeH="0" baseline="0">
                <a:ln>
                  <a:noFill/>
                </a:ln>
                <a:solidFill>
                  <a:srgbClr val="000000"/>
                </a:solidFill>
                <a:effectLst/>
                <a:uLnTx/>
                <a:uFillTx/>
                <a:latin typeface="Times New Roman" panose="02020603050405020304" pitchFamily="18" charset="0"/>
                <a:ea typeface="宋体" panose="02010600030101010101" pitchFamily="2" charset="-122"/>
              </a:defRPr>
            </a:lvl1pPr>
            <a:lvl2pPr marL="742950" indent="-285750">
              <a:buClr>
                <a:schemeClr val="hlink"/>
              </a:buClr>
              <a:buChar char="•"/>
              <a:defRPr sz="2800">
                <a:latin typeface="Arial" panose="020B0604020202020204" pitchFamily="34" charset="0"/>
                <a:ea typeface="宋体" panose="02010600030101010101" pitchFamily="2" charset="-122"/>
              </a:defRPr>
            </a:lvl2pPr>
            <a:lvl3pPr marL="1143000" indent="-228600">
              <a:buChar char="§"/>
              <a:defRPr sz="2400">
                <a:latin typeface="Arial" panose="020B0604020202020204" pitchFamily="34" charset="0"/>
                <a:ea typeface="宋体" panose="02010600030101010101" pitchFamily="2" charset="-122"/>
              </a:defRPr>
            </a:lvl3pPr>
            <a:lvl4pPr marL="1600200" indent="-228600">
              <a:buClr>
                <a:schemeClr val="hlink"/>
              </a:buClr>
              <a:buSzPct val="115000"/>
              <a:buChar char="•"/>
              <a:defRPr sz="2000">
                <a:latin typeface="Arial" panose="020B0604020202020204" pitchFamily="34" charset="0"/>
                <a:ea typeface="宋体" panose="02010600030101010101" pitchFamily="2" charset="-122"/>
              </a:defRPr>
            </a:lvl4pPr>
            <a:lvl5pPr marL="2057400" indent="-228600">
              <a:buChar char="§"/>
              <a:defRPr sz="2000">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9pPr>
          </a:lstStyle>
          <a:p>
            <a:r>
              <a:rPr lang="zh-CN" altLang="en-US" dirty="0"/>
              <a:t>基座内外底面对其中心线的垂直度、上盖及晶片、电极的上下底面的平行度与表面光洁度都有极严格的要求。</a:t>
            </a:r>
            <a:endParaRPr lang="en-US" altLang="zh-CN" dirty="0"/>
          </a:p>
          <a:p>
            <a:r>
              <a:rPr lang="zh-CN" altLang="en-US" dirty="0"/>
              <a:t>为提高绝缘阻抗，传感器装配前要经过多次净化（包括超声波清洗），然后在超常工作环境下进行装配，加盖之后封焊。</a:t>
            </a:r>
            <a:endParaRPr lang="en-US" dirty="0"/>
          </a:p>
        </p:txBody>
      </p:sp>
    </p:spTree>
    <p:extLst>
      <p:ext uri="{BB962C8B-B14F-4D97-AF65-F5344CB8AC3E}">
        <p14:creationId xmlns:p14="http://schemas.microsoft.com/office/powerpoint/2010/main" val="9916102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压电式传感器的应用举例</a:t>
            </a:r>
          </a:p>
        </p:txBody>
      </p:sp>
      <p:sp>
        <p:nvSpPr>
          <p:cNvPr id="2" name="Slide Number Placeholder 1">
            <a:extLst>
              <a:ext uri="{FF2B5EF4-FFF2-40B4-BE49-F238E27FC236}">
                <a16:creationId xmlns:a16="http://schemas.microsoft.com/office/drawing/2014/main" id="{448F4E18-8C58-471D-9450-B611571B3ADB}"/>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pic>
        <p:nvPicPr>
          <p:cNvPr id="4" name="Picture 3">
            <a:extLst>
              <a:ext uri="{FF2B5EF4-FFF2-40B4-BE49-F238E27FC236}">
                <a16:creationId xmlns:a16="http://schemas.microsoft.com/office/drawing/2014/main" id="{FF88D5D2-B124-42DB-8B2D-5DAA289E8EEA}"/>
              </a:ext>
            </a:extLst>
          </p:cNvPr>
          <p:cNvPicPr>
            <a:picLocks noChangeAspect="1"/>
          </p:cNvPicPr>
          <p:nvPr/>
        </p:nvPicPr>
        <p:blipFill>
          <a:blip r:embed="rId3"/>
          <a:stretch>
            <a:fillRect/>
          </a:stretch>
        </p:blipFill>
        <p:spPr>
          <a:xfrm>
            <a:off x="4859065" y="1371918"/>
            <a:ext cx="3657627" cy="3976259"/>
          </a:xfrm>
          <a:prstGeom prst="rect">
            <a:avLst/>
          </a:prstGeom>
        </p:spPr>
      </p:pic>
      <p:sp>
        <p:nvSpPr>
          <p:cNvPr id="8" name="TextBox 7">
            <a:extLst>
              <a:ext uri="{FF2B5EF4-FFF2-40B4-BE49-F238E27FC236}">
                <a16:creationId xmlns:a16="http://schemas.microsoft.com/office/drawing/2014/main" id="{52C81E28-BD1A-4393-BCB6-EFECDB6A61B9}"/>
              </a:ext>
            </a:extLst>
          </p:cNvPr>
          <p:cNvSpPr txBox="1"/>
          <p:nvPr/>
        </p:nvSpPr>
        <p:spPr>
          <a:xfrm>
            <a:off x="281762" y="1386239"/>
            <a:ext cx="4146697" cy="4504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defPPr>
              <a:defRPr lang="zh-CN"/>
            </a:defPPr>
            <a:lvl1pPr marL="342900" marR="0" lvl="0" indent="-342900" algn="just" fontAlgn="base">
              <a:lnSpc>
                <a:spcPct val="105000"/>
              </a:lnSpc>
              <a:spcBef>
                <a:spcPct val="20000"/>
              </a:spcBef>
              <a:spcAft>
                <a:spcPct val="0"/>
              </a:spcAft>
              <a:buClr>
                <a:srgbClr val="FF0000"/>
              </a:buClr>
              <a:buSzTx/>
              <a:buFont typeface="Wingdings" panose="05000000000000000000" pitchFamily="2" charset="2"/>
              <a:buNone/>
              <a:tabLst/>
              <a:defRPr kumimoji="0" sz="2400" b="0" i="0" u="none" strike="noStrike" kern="0" cap="none" spc="0" normalizeH="0" baseline="0">
                <a:ln>
                  <a:noFill/>
                </a:ln>
                <a:solidFill>
                  <a:srgbClr val="000000"/>
                </a:solidFill>
                <a:effectLst/>
                <a:uLnTx/>
                <a:uFillTx/>
                <a:latin typeface="Times New Roman" panose="02020603050405020304" pitchFamily="18" charset="0"/>
                <a:ea typeface="宋体" panose="02010600030101010101" pitchFamily="2" charset="-122"/>
              </a:defRPr>
            </a:lvl1pPr>
            <a:lvl2pPr marL="742950" indent="-285750">
              <a:buClr>
                <a:schemeClr val="hlink"/>
              </a:buClr>
              <a:buChar char="•"/>
              <a:defRPr sz="2800">
                <a:latin typeface="Arial" panose="020B0604020202020204" pitchFamily="34" charset="0"/>
                <a:ea typeface="宋体" panose="02010600030101010101" pitchFamily="2" charset="-122"/>
              </a:defRPr>
            </a:lvl2pPr>
            <a:lvl3pPr marL="1143000" indent="-228600">
              <a:buChar char="§"/>
              <a:defRPr sz="2400">
                <a:latin typeface="Arial" panose="020B0604020202020204" pitchFamily="34" charset="0"/>
                <a:ea typeface="宋体" panose="02010600030101010101" pitchFamily="2" charset="-122"/>
              </a:defRPr>
            </a:lvl3pPr>
            <a:lvl4pPr marL="1600200" indent="-228600">
              <a:buClr>
                <a:schemeClr val="hlink"/>
              </a:buClr>
              <a:buSzPct val="115000"/>
              <a:buChar char="•"/>
              <a:defRPr sz="2000">
                <a:latin typeface="Arial" panose="020B0604020202020204" pitchFamily="34" charset="0"/>
                <a:ea typeface="宋体" panose="02010600030101010101" pitchFamily="2" charset="-122"/>
              </a:defRPr>
            </a:lvl4pPr>
            <a:lvl5pPr marL="2057400" indent="-228600">
              <a:buChar char="§"/>
              <a:defRPr sz="2000">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9pPr>
          </a:lstStyle>
          <a:p>
            <a:pPr>
              <a:lnSpc>
                <a:spcPct val="135000"/>
              </a:lnSpc>
              <a:spcBef>
                <a:spcPts val="600"/>
              </a:spcBef>
              <a:buClrTx/>
              <a:buFont typeface="Wingdings" panose="05000000000000000000" pitchFamily="2" charset="2"/>
              <a:buChar char="Ø"/>
            </a:pPr>
            <a:r>
              <a:rPr lang="zh-CN" altLang="en-US" sz="2000" dirty="0"/>
              <a:t>图</a:t>
            </a:r>
            <a:r>
              <a:rPr lang="en-US" altLang="zh-CN" sz="2000" dirty="0"/>
              <a:t>6 -14 </a:t>
            </a:r>
            <a:r>
              <a:rPr lang="zh-CN" altLang="en-US" sz="2000" dirty="0"/>
              <a:t>所示为一种测量均布压力的传感器结构。</a:t>
            </a:r>
            <a:endParaRPr lang="en-US" altLang="zh-CN" sz="2000" dirty="0"/>
          </a:p>
          <a:p>
            <a:pPr>
              <a:lnSpc>
                <a:spcPct val="135000"/>
              </a:lnSpc>
              <a:spcBef>
                <a:spcPts val="600"/>
              </a:spcBef>
              <a:buClrTx/>
              <a:buFont typeface="Wingdings" panose="05000000000000000000" pitchFamily="2" charset="2"/>
              <a:buChar char="Ø"/>
            </a:pPr>
            <a:r>
              <a:rPr lang="zh-CN" altLang="en-US" sz="2000" dirty="0"/>
              <a:t>拉紧的薄壁管对晶片提供预载力，而感受外部压力的是由挠性材料做成的很薄的膜片。</a:t>
            </a:r>
            <a:endParaRPr lang="en-US" altLang="zh-CN" sz="2000" dirty="0"/>
          </a:p>
          <a:p>
            <a:pPr>
              <a:lnSpc>
                <a:spcPct val="135000"/>
              </a:lnSpc>
              <a:spcBef>
                <a:spcPts val="600"/>
              </a:spcBef>
              <a:buClrTx/>
              <a:buFont typeface="Wingdings" panose="05000000000000000000" pitchFamily="2" charset="2"/>
              <a:buChar char="Ø"/>
            </a:pPr>
            <a:r>
              <a:rPr lang="zh-CN" altLang="en-US" sz="2000" dirty="0"/>
              <a:t>预载筒外的空腔可以连接冷却系统，以保证传感器工作在一定的环境温度条件下，这样就避免了因温度变化造成预载力变化引起的测量误差。</a:t>
            </a:r>
          </a:p>
        </p:txBody>
      </p:sp>
    </p:spTree>
    <p:extLst>
      <p:ext uri="{BB962C8B-B14F-4D97-AF65-F5344CB8AC3E}">
        <p14:creationId xmlns:p14="http://schemas.microsoft.com/office/powerpoint/2010/main" val="15269891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压电式传感器的应用举例</a:t>
            </a:r>
          </a:p>
        </p:txBody>
      </p:sp>
      <p:sp>
        <p:nvSpPr>
          <p:cNvPr id="2" name="Slide Number Placeholder 1">
            <a:extLst>
              <a:ext uri="{FF2B5EF4-FFF2-40B4-BE49-F238E27FC236}">
                <a16:creationId xmlns:a16="http://schemas.microsoft.com/office/drawing/2014/main" id="{448F4E18-8C58-471D-9450-B611571B3ADB}"/>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pic>
        <p:nvPicPr>
          <p:cNvPr id="4" name="Picture 3">
            <a:extLst>
              <a:ext uri="{FF2B5EF4-FFF2-40B4-BE49-F238E27FC236}">
                <a16:creationId xmlns:a16="http://schemas.microsoft.com/office/drawing/2014/main" id="{B17527E9-278A-47B8-A69A-1318DBCC93AD}"/>
              </a:ext>
            </a:extLst>
          </p:cNvPr>
          <p:cNvPicPr>
            <a:picLocks noChangeAspect="1"/>
          </p:cNvPicPr>
          <p:nvPr/>
        </p:nvPicPr>
        <p:blipFill rotWithShape="1">
          <a:blip r:embed="rId3"/>
          <a:srcRect l="10540"/>
          <a:stretch/>
        </p:blipFill>
        <p:spPr>
          <a:xfrm>
            <a:off x="4800600" y="1350153"/>
            <a:ext cx="4196683" cy="4504523"/>
          </a:xfrm>
          <a:prstGeom prst="rect">
            <a:avLst/>
          </a:prstGeom>
        </p:spPr>
      </p:pic>
      <p:sp>
        <p:nvSpPr>
          <p:cNvPr id="8" name="TextBox 7">
            <a:extLst>
              <a:ext uri="{FF2B5EF4-FFF2-40B4-BE49-F238E27FC236}">
                <a16:creationId xmlns:a16="http://schemas.microsoft.com/office/drawing/2014/main" id="{7E45929B-0EAB-4F6C-9699-51D57D32C70C}"/>
              </a:ext>
            </a:extLst>
          </p:cNvPr>
          <p:cNvSpPr txBox="1"/>
          <p:nvPr/>
        </p:nvSpPr>
        <p:spPr>
          <a:xfrm>
            <a:off x="281762" y="1386239"/>
            <a:ext cx="4354033" cy="4504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defPPr>
              <a:defRPr lang="zh-CN"/>
            </a:defPPr>
            <a:lvl1pPr marL="342900" marR="0" lvl="0" indent="-342900" algn="just" fontAlgn="base">
              <a:lnSpc>
                <a:spcPct val="105000"/>
              </a:lnSpc>
              <a:spcBef>
                <a:spcPct val="20000"/>
              </a:spcBef>
              <a:spcAft>
                <a:spcPct val="0"/>
              </a:spcAft>
              <a:buClr>
                <a:srgbClr val="FF0000"/>
              </a:buClr>
              <a:buSzTx/>
              <a:buFont typeface="Wingdings" panose="05000000000000000000" pitchFamily="2" charset="2"/>
              <a:buNone/>
              <a:tabLst/>
              <a:defRPr kumimoji="0" sz="2400" b="0" i="0" u="none" strike="noStrike" kern="0" cap="none" spc="0" normalizeH="0" baseline="0">
                <a:ln>
                  <a:noFill/>
                </a:ln>
                <a:solidFill>
                  <a:srgbClr val="000000"/>
                </a:solidFill>
                <a:effectLst/>
                <a:uLnTx/>
                <a:uFillTx/>
                <a:latin typeface="Times New Roman" panose="02020603050405020304" pitchFamily="18" charset="0"/>
                <a:ea typeface="宋体" panose="02010600030101010101" pitchFamily="2" charset="-122"/>
              </a:defRPr>
            </a:lvl1pPr>
            <a:lvl2pPr marL="742950" indent="-285750">
              <a:buClr>
                <a:schemeClr val="hlink"/>
              </a:buClr>
              <a:buChar char="•"/>
              <a:defRPr sz="2800">
                <a:latin typeface="Arial" panose="020B0604020202020204" pitchFamily="34" charset="0"/>
                <a:ea typeface="宋体" panose="02010600030101010101" pitchFamily="2" charset="-122"/>
              </a:defRPr>
            </a:lvl2pPr>
            <a:lvl3pPr marL="1143000" indent="-228600">
              <a:buChar char="§"/>
              <a:defRPr sz="2400">
                <a:latin typeface="Arial" panose="020B0604020202020204" pitchFamily="34" charset="0"/>
                <a:ea typeface="宋体" panose="02010600030101010101" pitchFamily="2" charset="-122"/>
              </a:defRPr>
            </a:lvl3pPr>
            <a:lvl4pPr marL="1600200" indent="-228600">
              <a:buClr>
                <a:schemeClr val="hlink"/>
              </a:buClr>
              <a:buSzPct val="115000"/>
              <a:buChar char="•"/>
              <a:defRPr sz="2000">
                <a:latin typeface="Arial" panose="020B0604020202020204" pitchFamily="34" charset="0"/>
                <a:ea typeface="宋体" panose="02010600030101010101" pitchFamily="2" charset="-122"/>
              </a:defRPr>
            </a:lvl4pPr>
            <a:lvl5pPr marL="2057400" indent="-228600">
              <a:buChar char="§"/>
              <a:defRPr sz="2000">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buChar char="§"/>
              <a:defRPr sz="2000">
                <a:latin typeface="Arial" panose="020B0604020202020204" pitchFamily="34" charset="0"/>
                <a:ea typeface="宋体" panose="02010600030101010101" pitchFamily="2" charset="-122"/>
              </a:defRPr>
            </a:lvl9pPr>
          </a:lstStyle>
          <a:p>
            <a:pPr>
              <a:lnSpc>
                <a:spcPct val="135000"/>
              </a:lnSpc>
              <a:spcBef>
                <a:spcPts val="600"/>
              </a:spcBef>
              <a:buClrTx/>
              <a:buFont typeface="Wingdings" panose="05000000000000000000" pitchFamily="2" charset="2"/>
              <a:buChar char="Ø"/>
            </a:pPr>
            <a:r>
              <a:rPr lang="zh-CN" altLang="en-US" sz="2000" dirty="0"/>
              <a:t>图</a:t>
            </a:r>
            <a:r>
              <a:rPr lang="en-US" altLang="zh-CN" sz="2000" dirty="0"/>
              <a:t>6 -15 </a:t>
            </a:r>
            <a:r>
              <a:rPr lang="zh-CN" altLang="en-US" sz="2000" dirty="0"/>
              <a:t>给出了另一种压力传感器的结构。</a:t>
            </a:r>
            <a:endParaRPr lang="en-US" altLang="zh-CN" sz="2000" dirty="0"/>
          </a:p>
          <a:p>
            <a:pPr>
              <a:lnSpc>
                <a:spcPct val="135000"/>
              </a:lnSpc>
              <a:spcBef>
                <a:spcPts val="600"/>
              </a:spcBef>
              <a:buClrTx/>
              <a:buFont typeface="Wingdings" panose="05000000000000000000" pitchFamily="2" charset="2"/>
              <a:buChar char="Ø"/>
            </a:pPr>
            <a:r>
              <a:rPr lang="zh-CN" altLang="en-US" sz="2000" dirty="0"/>
              <a:t>它采用两个相同的膜片对晶片施加预载力，从而可以消除由振动加速度引起的附加输出。</a:t>
            </a:r>
          </a:p>
        </p:txBody>
      </p:sp>
    </p:spTree>
    <p:extLst>
      <p:ext uri="{BB962C8B-B14F-4D97-AF65-F5344CB8AC3E}">
        <p14:creationId xmlns:p14="http://schemas.microsoft.com/office/powerpoint/2010/main" val="25494754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压电式传感器的应用举例</a:t>
            </a:r>
          </a:p>
        </p:txBody>
      </p:sp>
      <p:sp>
        <p:nvSpPr>
          <p:cNvPr id="2" name="Slide Number Placeholder 1">
            <a:extLst>
              <a:ext uri="{FF2B5EF4-FFF2-40B4-BE49-F238E27FC236}">
                <a16:creationId xmlns:a16="http://schemas.microsoft.com/office/drawing/2014/main" id="{448F4E18-8C58-471D-9450-B611571B3ADB}"/>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
        <p:nvSpPr>
          <p:cNvPr id="13" name="Rectangle 3">
            <a:extLst>
              <a:ext uri="{FF2B5EF4-FFF2-40B4-BE49-F238E27FC236}">
                <a16:creationId xmlns:a16="http://schemas.microsoft.com/office/drawing/2014/main" id="{74A01722-5933-46BE-B00A-2F50A72466B8}"/>
              </a:ext>
            </a:extLst>
          </p:cNvPr>
          <p:cNvSpPr txBox="1">
            <a:spLocks noRot="1" noChangeArrowheads="1"/>
          </p:cNvSpPr>
          <p:nvPr/>
        </p:nvSpPr>
        <p:spPr bwMode="auto">
          <a:xfrm>
            <a:off x="88324" y="1164378"/>
            <a:ext cx="77724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FF0000"/>
              </a:buClr>
              <a:buSzTx/>
              <a:buFont typeface="Wingdings" panose="05000000000000000000" pitchFamily="2" charset="2"/>
              <a:buNone/>
              <a:tabLst/>
              <a:defRPr/>
            </a:pPr>
            <a:r>
              <a:rPr kumimoji="0" lang="en-US" altLang="zh-CN" sz="2800" b="1" i="0" u="none" strike="noStrike" kern="1200" cap="none" spc="0" normalizeH="0" baseline="0" noProof="0">
                <a:ln>
                  <a:noFill/>
                </a:ln>
                <a:solidFill>
                  <a:srgbClr val="000099"/>
                </a:solidFill>
                <a:effectLst/>
                <a:uLnTx/>
                <a:uFillTx/>
                <a:latin typeface="Arial"/>
                <a:ea typeface="宋体"/>
                <a:cs typeface="+mn-cs"/>
              </a:rPr>
              <a:t>  6.5.2  </a:t>
            </a:r>
            <a:r>
              <a:rPr kumimoji="0" lang="zh-CN" altLang="en-US" sz="2800" b="1" i="0" u="none" strike="noStrike" kern="1200" cap="none" spc="0" normalizeH="0" baseline="0" noProof="0">
                <a:ln>
                  <a:noFill/>
                </a:ln>
                <a:solidFill>
                  <a:srgbClr val="000099"/>
                </a:solidFill>
                <a:effectLst/>
                <a:uLnTx/>
                <a:uFillTx/>
                <a:latin typeface="Arial"/>
                <a:ea typeface="宋体"/>
                <a:cs typeface="+mn-cs"/>
              </a:rPr>
              <a:t>压电式加速度传感器        </a:t>
            </a:r>
          </a:p>
        </p:txBody>
      </p:sp>
      <p:sp>
        <p:nvSpPr>
          <p:cNvPr id="14" name="Rectangle 21">
            <a:extLst>
              <a:ext uri="{FF2B5EF4-FFF2-40B4-BE49-F238E27FC236}">
                <a16:creationId xmlns:a16="http://schemas.microsoft.com/office/drawing/2014/main" id="{C8D7A7D9-30D8-499B-8FC6-61F55B803F25}"/>
              </a:ext>
            </a:extLst>
          </p:cNvPr>
          <p:cNvSpPr>
            <a:spLocks noChangeArrowheads="1"/>
          </p:cNvSpPr>
          <p:nvPr/>
        </p:nvSpPr>
        <p:spPr bwMode="auto">
          <a:xfrm>
            <a:off x="88324" y="1740641"/>
            <a:ext cx="5023643"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buChar char="§"/>
              <a:defRPr sz="3200">
                <a:solidFill>
                  <a:schemeClr val="tx1"/>
                </a:solidFill>
                <a:latin typeface="Arial" panose="020B0604020202020204" pitchFamily="34" charset="0"/>
                <a:ea typeface="宋体" panose="02010600030101010101" pitchFamily="2" charset="-122"/>
              </a:defRPr>
            </a:lvl1pPr>
            <a:lvl2pPr marL="742950" indent="-285750">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buChar char="§"/>
              <a:defRPr sz="2400">
                <a:solidFill>
                  <a:schemeClr val="tx1"/>
                </a:solidFill>
                <a:latin typeface="Arial" panose="020B0604020202020204" pitchFamily="34" charset="0"/>
                <a:ea typeface="宋体" panose="02010600030101010101" pitchFamily="2" charset="-122"/>
              </a:defRPr>
            </a:lvl3pPr>
            <a:lvl4pPr marL="1600200" indent="-228600">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algn="just" defTabSz="914400" eaLnBrk="1" fontAlgn="base" latinLnBrk="0" hangingPunct="1">
              <a:lnSpc>
                <a:spcPct val="105000"/>
              </a:lnSpc>
              <a:spcBef>
                <a:spcPct val="20000"/>
              </a:spcBef>
              <a:spcAft>
                <a:spcPct val="0"/>
              </a:spcAft>
              <a:buClr>
                <a:srgbClr val="FF0000"/>
              </a:buClr>
              <a:buSzTx/>
              <a:buFont typeface="Wingdings" panose="05000000000000000000" pitchFamily="2" charset="2"/>
              <a:buNone/>
              <a:tabLst/>
              <a:defRPr/>
            </a:pP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zh-CN" altLang="en-US" sz="2000" b="1" i="0" u="none" strike="noStrike" kern="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rPr>
              <a:t>当传感器感受振动时，质量块感受与传感器基座相同的振动，并受到与加速度方向相反的惯性力的作用。这样，</a:t>
            </a: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质量块就有一正比于加速度的交变力作用在压电片上</a:t>
            </a:r>
            <a:r>
              <a:rPr kumimoji="0" lang="zh-CN" altLang="en-US" sz="2000" b="1" i="0" u="none" strike="noStrike" kern="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rPr>
              <a:t>。由于压电片压电效应，两个表面上就产生交变电荷，当振动频率远低于传感器的固有频率时，传感器的输出电荷（电压）与作用力成正比，亦即与试件的加速度成正比。</a:t>
            </a:r>
          </a:p>
          <a:p>
            <a:pPr marL="342900" marR="0" lvl="0" indent="-342900" algn="just" defTabSz="914400" eaLnBrk="1" fontAlgn="base" latinLnBrk="0" hangingPunct="1">
              <a:lnSpc>
                <a:spcPct val="105000"/>
              </a:lnSpc>
              <a:spcBef>
                <a:spcPct val="20000"/>
              </a:spcBef>
              <a:spcAft>
                <a:spcPct val="0"/>
              </a:spcAft>
              <a:buClr>
                <a:srgbClr val="FF0000"/>
              </a:buClr>
              <a:buSzTx/>
              <a:buFont typeface="Wingdings" panose="05000000000000000000" pitchFamily="2" charset="2"/>
              <a:buNone/>
              <a:tabLst/>
              <a:defRPr/>
            </a:pPr>
            <a:r>
              <a:rPr kumimoji="0" lang="zh-CN" altLang="en-US" sz="2000" b="1" i="0" u="none" strike="noStrike" kern="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rPr>
              <a:t>	输出电量由传感器输出端引出，输入到前置放大器后就可以用普通的测量仪器测出试件的加速度，如在放大器中加进适当的积分电路，就可以测出试件的振动速度或位移。</a:t>
            </a:r>
            <a:endPar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pic>
        <p:nvPicPr>
          <p:cNvPr id="15" name="Picture 22">
            <a:extLst>
              <a:ext uri="{FF2B5EF4-FFF2-40B4-BE49-F238E27FC236}">
                <a16:creationId xmlns:a16="http://schemas.microsoft.com/office/drawing/2014/main" id="{6374C8D8-5540-4847-A5A8-1E2AB48A7D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014"/>
          <a:stretch/>
        </p:blipFill>
        <p:spPr bwMode="auto">
          <a:xfrm>
            <a:off x="5754905" y="1452509"/>
            <a:ext cx="2925762" cy="3735230"/>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24">
            <a:extLst>
              <a:ext uri="{FF2B5EF4-FFF2-40B4-BE49-F238E27FC236}">
                <a16:creationId xmlns:a16="http://schemas.microsoft.com/office/drawing/2014/main" id="{63550A8B-5423-4CAF-9595-E5B9696E123F}"/>
              </a:ext>
            </a:extLst>
          </p:cNvPr>
          <p:cNvSpPr txBox="1">
            <a:spLocks noChangeArrowheads="1"/>
          </p:cNvSpPr>
          <p:nvPr/>
        </p:nvSpPr>
        <p:spPr bwMode="auto">
          <a:xfrm>
            <a:off x="5111967" y="5117360"/>
            <a:ext cx="4211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base" latinLnBrk="0" hangingPunct="1">
              <a:lnSpc>
                <a:spcPct val="120000"/>
              </a:lnSpc>
              <a:spcBef>
                <a:spcPct val="20000"/>
              </a:spcBef>
              <a:spcAft>
                <a:spcPct val="0"/>
              </a:spcAft>
              <a:buClr>
                <a:srgbClr val="FF0000"/>
              </a:buClr>
              <a:buSzTx/>
              <a:buFont typeface="Wingdings" panose="05000000000000000000" pitchFamily="2" charset="2"/>
              <a:buNone/>
              <a:tabLst/>
              <a:defRPr/>
            </a:pPr>
            <a:r>
              <a:rPr kumimoji="0" lang="en-US" altLang="zh-CN"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1 </a:t>
            </a:r>
            <a:r>
              <a:rPr kumimoji="0" lang="zh-CN" altLang="en-US"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质量块；</a:t>
            </a:r>
            <a:r>
              <a:rPr kumimoji="0" lang="en-US" altLang="zh-CN"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2 </a:t>
            </a:r>
            <a:r>
              <a:rPr kumimoji="0" lang="zh-CN" altLang="en-US"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晶片；</a:t>
            </a:r>
            <a:r>
              <a:rPr kumimoji="0" lang="en-US" altLang="zh-CN"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3 </a:t>
            </a:r>
            <a:r>
              <a:rPr kumimoji="0" lang="zh-CN" altLang="en-US"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引线；</a:t>
            </a:r>
            <a:r>
              <a:rPr kumimoji="0" lang="en-US" altLang="zh-CN"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4 </a:t>
            </a:r>
            <a:r>
              <a:rPr kumimoji="0" lang="zh-CN" altLang="en-US" sz="20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底座</a:t>
            </a:r>
          </a:p>
        </p:txBody>
      </p:sp>
      <p:sp>
        <p:nvSpPr>
          <p:cNvPr id="17" name="Text Box 25">
            <a:extLst>
              <a:ext uri="{FF2B5EF4-FFF2-40B4-BE49-F238E27FC236}">
                <a16:creationId xmlns:a16="http://schemas.microsoft.com/office/drawing/2014/main" id="{140950DE-B9CA-4CF7-91A9-8116C94EE493}"/>
              </a:ext>
            </a:extLst>
          </p:cNvPr>
          <p:cNvSpPr txBox="1">
            <a:spLocks noChangeArrowheads="1"/>
          </p:cNvSpPr>
          <p:nvPr/>
        </p:nvSpPr>
        <p:spPr bwMode="auto">
          <a:xfrm>
            <a:off x="5491529" y="5568103"/>
            <a:ext cx="343900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ct val="100000"/>
              </a:lnSpc>
              <a:spcBef>
                <a:spcPct val="0"/>
              </a:spcBef>
              <a:buClrTx/>
              <a:buFontTx/>
              <a:buNone/>
              <a:defRPr kumimoji="1" sz="2400" b="1">
                <a:solidFill>
                  <a:srgbClr val="000099"/>
                </a:solidFill>
                <a:latin typeface="宋体" panose="02010600030101010101" pitchFamily="2" charset="-122"/>
                <a:ea typeface="宋体" panose="02010600030101010101" pitchFamily="2" charset="-122"/>
              </a:defRPr>
            </a:lvl1pPr>
          </a:lstStyle>
          <a:p>
            <a:pPr algn="r"/>
            <a:r>
              <a:rPr lang="zh-CN" altLang="en-US"/>
              <a:t>图</a:t>
            </a:r>
            <a:r>
              <a:rPr lang="en-US" altLang="zh-CN"/>
              <a:t>6-16  </a:t>
            </a:r>
            <a:r>
              <a:rPr lang="zh-CN" altLang="en-US"/>
              <a:t>压电式加速度传感器结构原理图</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E19F6B-A418-4048-B93A-B23C35BB6E9D}"/>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
        <p:nvSpPr>
          <p:cNvPr id="7" name="Rectangle 3">
            <a:extLst>
              <a:ext uri="{FF2B5EF4-FFF2-40B4-BE49-F238E27FC236}">
                <a16:creationId xmlns:a16="http://schemas.microsoft.com/office/drawing/2014/main" id="{E79E5E2D-FB71-4694-90AB-534B66947AE3}"/>
              </a:ext>
            </a:extLst>
          </p:cNvPr>
          <p:cNvSpPr txBox="1">
            <a:spLocks noRot="1" noChangeArrowheads="1"/>
          </p:cNvSpPr>
          <p:nvPr/>
        </p:nvSpPr>
        <p:spPr bwMode="auto">
          <a:xfrm>
            <a:off x="476425" y="1530375"/>
            <a:ext cx="4839394" cy="427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30000"/>
              </a:lnSpc>
              <a:spcBef>
                <a:spcPts val="600"/>
              </a:spcBef>
              <a:spcAft>
                <a:spcPct val="0"/>
              </a:spcAft>
              <a:buClr>
                <a:srgbClr val="FF0000"/>
              </a:buClr>
              <a:buSzTx/>
              <a:buNone/>
              <a:tabLst/>
              <a:defRPr/>
            </a:pPr>
            <a:r>
              <a:rPr kumimoji="0" lang="zh-CN" altLang="en-US" b="1" i="0" u="none" strike="noStrike" kern="1200" cap="none" spc="0" normalizeH="0" baseline="0" noProof="0">
                <a:ln>
                  <a:noFill/>
                </a:ln>
                <a:solidFill>
                  <a:srgbClr val="C00000"/>
                </a:solidFill>
                <a:effectLst/>
                <a:uLnTx/>
                <a:uFillTx/>
                <a:latin typeface="Arial"/>
                <a:ea typeface="宋体"/>
                <a:cs typeface="+mn-cs"/>
              </a:rPr>
              <a:t>梁式加速度传感器</a:t>
            </a:r>
            <a:endParaRPr kumimoji="0" lang="en-US" altLang="zh-CN" b="1" i="0" u="none" strike="noStrike" kern="1200" cap="none" spc="0" normalizeH="0" baseline="0" noProof="0">
              <a:ln>
                <a:noFill/>
              </a:ln>
              <a:solidFill>
                <a:srgbClr val="C00000"/>
              </a:solidFill>
              <a:effectLst/>
              <a:uLnTx/>
              <a:uFillTx/>
              <a:latin typeface="Arial"/>
              <a:ea typeface="宋体"/>
              <a:cs typeface="+mn-cs"/>
            </a:endParaRPr>
          </a:p>
          <a:p>
            <a:pPr marL="342900" marR="0" lvl="0" indent="-342900" algn="l" defTabSz="914400" rtl="0" eaLnBrk="1" fontAlgn="base" latinLnBrk="0" hangingPunct="1">
              <a:lnSpc>
                <a:spcPct val="130000"/>
              </a:lnSpc>
              <a:spcBef>
                <a:spcPts val="600"/>
              </a:spcBef>
              <a:spcAft>
                <a:spcPct val="0"/>
              </a:spcAft>
              <a:buClr>
                <a:srgbClr val="FF0000"/>
              </a:buClr>
              <a:buSzTx/>
              <a:buFont typeface="Wingdings" panose="05000000000000000000" pitchFamily="2" charset="2"/>
              <a:buChar char="§"/>
              <a:tabLst/>
              <a:defRPr/>
            </a:pPr>
            <a:r>
              <a:rPr kumimoji="1" lang="zh-CN" altLang="en-US" sz="2400" b="1" i="0" u="none" strike="noStrike" kern="1200" cap="none" spc="0" normalizeH="0" baseline="0" noProof="0">
                <a:ln>
                  <a:noFill/>
                </a:ln>
                <a:solidFill>
                  <a:srgbClr val="000099"/>
                </a:solidFill>
                <a:effectLst/>
                <a:uLnTx/>
                <a:uFillTx/>
                <a:latin typeface="Arial"/>
                <a:ea typeface="宋体"/>
                <a:cs typeface="+mn-cs"/>
              </a:rPr>
              <a:t>由特殊的压电悬臂梁构成，</a:t>
            </a:r>
            <a:r>
              <a:rPr kumimoji="0" lang="zh-CN" altLang="en-US" sz="2400" b="1" i="0" u="none" strike="noStrike" kern="1200" cap="none" spc="0" normalizeH="0" baseline="0" noProof="0">
                <a:ln>
                  <a:noFill/>
                </a:ln>
                <a:solidFill>
                  <a:srgbClr val="000099"/>
                </a:solidFill>
                <a:effectLst/>
                <a:uLnTx/>
                <a:uFillTx/>
                <a:latin typeface="Arial"/>
                <a:ea typeface="宋体"/>
                <a:cs typeface="+mn-cs"/>
              </a:rPr>
              <a:t>利用压电晶体弯曲变形产生电荷</a:t>
            </a:r>
            <a:endParaRPr kumimoji="1" lang="en-US" altLang="zh-CN" sz="2400" b="1" i="0" u="none" strike="noStrike" kern="1200" cap="none" spc="0" normalizeH="0" baseline="0" noProof="0">
              <a:ln>
                <a:noFill/>
              </a:ln>
              <a:solidFill>
                <a:srgbClr val="000099"/>
              </a:solidFill>
              <a:effectLst/>
              <a:uLnTx/>
              <a:uFillTx/>
              <a:latin typeface="Arial"/>
              <a:ea typeface="宋体"/>
              <a:cs typeface="+mn-cs"/>
            </a:endParaRPr>
          </a:p>
          <a:p>
            <a:pPr marL="342900" marR="0" lvl="0" indent="-342900" algn="l" defTabSz="914400" rtl="0" eaLnBrk="1" fontAlgn="base" latinLnBrk="0" hangingPunct="1">
              <a:lnSpc>
                <a:spcPct val="130000"/>
              </a:lnSpc>
              <a:spcBef>
                <a:spcPts val="600"/>
              </a:spcBef>
              <a:spcAft>
                <a:spcPct val="0"/>
              </a:spcAft>
              <a:buClr>
                <a:srgbClr val="FF0000"/>
              </a:buClr>
              <a:buSzTx/>
              <a:buFont typeface="Wingdings" panose="05000000000000000000" pitchFamily="2" charset="2"/>
              <a:buChar char="§"/>
              <a:tabLst/>
              <a:defRPr/>
            </a:pPr>
            <a:r>
              <a:rPr kumimoji="1" lang="zh-CN" altLang="en-US" sz="2400" b="1" i="0" u="none" strike="noStrike" kern="1200" cap="none" spc="0" normalizeH="0" baseline="0" noProof="0">
                <a:ln>
                  <a:noFill/>
                </a:ln>
                <a:solidFill>
                  <a:srgbClr val="000099"/>
                </a:solidFill>
                <a:effectLst/>
                <a:uLnTx/>
                <a:uFillTx/>
                <a:latin typeface="Arial"/>
                <a:ea typeface="宋体"/>
                <a:cs typeface="+mn-cs"/>
              </a:rPr>
              <a:t>它有很高的灵敏度和很低的频率响应</a:t>
            </a:r>
            <a:endParaRPr kumimoji="1" lang="en-US" altLang="zh-CN" sz="2400" b="1" i="0" u="none" strike="noStrike" kern="1200" cap="none" spc="0" normalizeH="0" baseline="0" noProof="0">
              <a:ln>
                <a:noFill/>
              </a:ln>
              <a:solidFill>
                <a:srgbClr val="000099"/>
              </a:solidFill>
              <a:effectLst/>
              <a:uLnTx/>
              <a:uFillTx/>
              <a:latin typeface="Arial"/>
              <a:ea typeface="宋体"/>
              <a:cs typeface="+mn-cs"/>
            </a:endParaRPr>
          </a:p>
          <a:p>
            <a:pPr marL="342900" marR="0" lvl="0" indent="-342900" algn="l" defTabSz="914400" rtl="0" eaLnBrk="1" fontAlgn="base" latinLnBrk="0" hangingPunct="1">
              <a:lnSpc>
                <a:spcPct val="130000"/>
              </a:lnSpc>
              <a:spcBef>
                <a:spcPts val="600"/>
              </a:spcBef>
              <a:spcAft>
                <a:spcPct val="0"/>
              </a:spcAft>
              <a:buClr>
                <a:srgbClr val="FF0000"/>
              </a:buClr>
              <a:buSzTx/>
              <a:buFont typeface="Wingdings" panose="05000000000000000000" pitchFamily="2" charset="2"/>
              <a:buChar char="§"/>
              <a:tabLst/>
              <a:defRPr/>
            </a:pPr>
            <a:r>
              <a:rPr kumimoji="1" lang="zh-CN" altLang="en-US" sz="2400" b="1" i="0" u="none" strike="noStrike" kern="1200" cap="none" spc="0" normalizeH="0" baseline="0" noProof="0">
                <a:ln>
                  <a:noFill/>
                </a:ln>
                <a:solidFill>
                  <a:srgbClr val="000099"/>
                </a:solidFill>
                <a:effectLst/>
                <a:uLnTx/>
                <a:uFillTx/>
                <a:latin typeface="Arial"/>
                <a:ea typeface="宋体"/>
                <a:cs typeface="+mn-cs"/>
              </a:rPr>
              <a:t>主要用于医学上和其他低频响应很重要的领域，如测量地壳和建筑物的振动等。</a:t>
            </a:r>
            <a:r>
              <a:rPr kumimoji="1" lang="zh-CN" altLang="en-US" sz="2400" b="1" i="0" u="none" strike="noStrike" kern="1200" cap="none" spc="0" normalizeH="0" baseline="0" noProof="0">
                <a:ln>
                  <a:noFill/>
                </a:ln>
                <a:solidFill>
                  <a:srgbClr val="000000"/>
                </a:solidFill>
                <a:effectLst/>
                <a:uLnTx/>
                <a:uFillTx/>
                <a:latin typeface="Arial"/>
                <a:ea typeface="宋体"/>
                <a:cs typeface="+mn-cs"/>
              </a:rPr>
              <a:t>  </a:t>
            </a:r>
          </a:p>
          <a:p>
            <a:pPr marL="342900" marR="0" lvl="0" indent="-342900" algn="l" defTabSz="914400" rtl="0" eaLnBrk="1" fontAlgn="base" latinLnBrk="0" hangingPunct="1">
              <a:lnSpc>
                <a:spcPct val="130000"/>
              </a:lnSpc>
              <a:spcBef>
                <a:spcPts val="600"/>
              </a:spcBef>
              <a:spcAft>
                <a:spcPct val="0"/>
              </a:spcAft>
              <a:buClr>
                <a:srgbClr val="FF0000"/>
              </a:buClr>
              <a:buSzTx/>
              <a:buFont typeface="Wingdings" panose="05000000000000000000" pitchFamily="2" charset="2"/>
              <a:buChar char="§"/>
              <a:tabLst/>
              <a:defRPr/>
            </a:pPr>
            <a:endParaRPr kumimoji="0" lang="zh-CN" altLang="en-US" sz="2400" b="1" i="0" u="none" strike="noStrike" kern="1200" cap="none" spc="0" normalizeH="0" baseline="0" noProof="0">
              <a:ln>
                <a:noFill/>
              </a:ln>
              <a:solidFill>
                <a:srgbClr val="000099"/>
              </a:solidFill>
              <a:effectLst/>
              <a:uLnTx/>
              <a:uFillTx/>
              <a:latin typeface="Arial"/>
              <a:ea typeface="宋体"/>
              <a:cs typeface="+mn-cs"/>
            </a:endParaRPr>
          </a:p>
        </p:txBody>
      </p:sp>
      <p:pic>
        <p:nvPicPr>
          <p:cNvPr id="8" name="Picture 5">
            <a:extLst>
              <a:ext uri="{FF2B5EF4-FFF2-40B4-BE49-F238E27FC236}">
                <a16:creationId xmlns:a16="http://schemas.microsoft.com/office/drawing/2014/main" id="{C43B9ED4-8660-4165-ACEC-9B525DE85B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41"/>
          <a:stretch/>
        </p:blipFill>
        <p:spPr bwMode="auto">
          <a:xfrm>
            <a:off x="5769033" y="2108225"/>
            <a:ext cx="2898542" cy="3114675"/>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40">
            <a:extLst>
              <a:ext uri="{FF2B5EF4-FFF2-40B4-BE49-F238E27FC236}">
                <a16:creationId xmlns:a16="http://schemas.microsoft.com/office/drawing/2014/main" id="{137B18C0-270E-495E-892C-5F0E218A2F62}"/>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0" name="圆角矩形 43">
            <a:extLst>
              <a:ext uri="{FF2B5EF4-FFF2-40B4-BE49-F238E27FC236}">
                <a16:creationId xmlns:a16="http://schemas.microsoft.com/office/drawing/2014/main" id="{ECFA473E-59C1-4BAC-A9F0-34D96A7E2336}"/>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6.5</a:t>
            </a:r>
          </a:p>
        </p:txBody>
      </p:sp>
      <p:sp>
        <p:nvSpPr>
          <p:cNvPr id="11" name="矩形 45">
            <a:extLst>
              <a:ext uri="{FF2B5EF4-FFF2-40B4-BE49-F238E27FC236}">
                <a16:creationId xmlns:a16="http://schemas.microsoft.com/office/drawing/2014/main" id="{B67A7B2E-8324-4E36-BA5B-8E9983FD570F}"/>
              </a:ext>
            </a:extLst>
          </p:cNvPr>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压电式传感器的应用举例</a:t>
            </a:r>
          </a:p>
        </p:txBody>
      </p:sp>
    </p:spTree>
    <p:extLst>
      <p:ext uri="{BB962C8B-B14F-4D97-AF65-F5344CB8AC3E}">
        <p14:creationId xmlns:p14="http://schemas.microsoft.com/office/powerpoint/2010/main" val="29081943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6.6</a:t>
            </a:r>
          </a:p>
        </p:txBody>
      </p:sp>
      <p:sp>
        <p:nvSpPr>
          <p:cNvPr id="46" name="矩形 45"/>
          <p:cNvSpPr/>
          <p:nvPr/>
        </p:nvSpPr>
        <p:spPr>
          <a:xfrm>
            <a:off x="1960201" y="360001"/>
            <a:ext cx="6748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影响压电式传感器精度的因素分析</a:t>
            </a:r>
          </a:p>
        </p:txBody>
      </p:sp>
      <p:sp>
        <p:nvSpPr>
          <p:cNvPr id="30" name="Rectangle 3"/>
          <p:cNvSpPr txBox="1">
            <a:spLocks noRot="1" noChangeArrowheads="1"/>
          </p:cNvSpPr>
          <p:nvPr/>
        </p:nvSpPr>
        <p:spPr>
          <a:xfrm>
            <a:off x="324646" y="1271246"/>
            <a:ext cx="4606583" cy="5428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buFont typeface="Wingdings" pitchFamily="2" charset="2"/>
              <a:buNone/>
            </a:pPr>
            <a:r>
              <a:rPr lang="en-US" altLang="zh-CN" sz="2400" b="1" dirty="0">
                <a:latin typeface="宋体" panose="02010600030101010101" pitchFamily="2" charset="-122"/>
                <a:ea typeface="宋体" panose="02010600030101010101" pitchFamily="2" charset="-122"/>
              </a:rPr>
              <a:t>6.6.1 </a:t>
            </a:r>
            <a:r>
              <a:rPr lang="zh-CN" altLang="en-US" sz="2400" b="1" dirty="0">
                <a:latin typeface="宋体" panose="02010600030101010101" pitchFamily="2" charset="-122"/>
                <a:ea typeface="宋体" panose="02010600030101010101" pitchFamily="2" charset="-122"/>
              </a:rPr>
              <a:t>非线性 </a:t>
            </a:r>
          </a:p>
          <a:p>
            <a:pPr marL="0" indent="0">
              <a:lnSpc>
                <a:spcPct val="120000"/>
              </a:lnSpc>
              <a:spcBef>
                <a:spcPts val="600"/>
              </a:spcBef>
              <a:buFont typeface="Wingdings" pitchFamily="2" charset="2"/>
              <a:buNone/>
            </a:pPr>
            <a:r>
              <a:rPr lang="zh-CN" altLang="en-US" sz="24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压电传感器的幅值线性度是指被测物理量</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如力、压力、加速度等</a:t>
            </a:r>
            <a:r>
              <a:rPr lang="en-US" altLang="zh-CN" sz="2200" b="1" dirty="0">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的增加，其灵敏度的变化程度。</a:t>
            </a:r>
          </a:p>
          <a:p>
            <a:pPr marL="0" indent="0">
              <a:lnSpc>
                <a:spcPct val="120000"/>
              </a:lnSpc>
              <a:spcBef>
                <a:spcPts val="600"/>
              </a:spcBef>
              <a:buFont typeface="Wingdings" pitchFamily="2" charset="2"/>
              <a:buNone/>
            </a:pPr>
            <a:r>
              <a:rPr lang="zh-CN" altLang="en-US" sz="2200" b="1" dirty="0">
                <a:latin typeface="宋体" panose="02010600030101010101" pitchFamily="2" charset="-122"/>
                <a:ea typeface="宋体" panose="02010600030101010101" pitchFamily="2" charset="-122"/>
              </a:rPr>
              <a:t>   线性范围下限理论</a:t>
            </a:r>
            <a:r>
              <a:rPr lang="zh-CN" altLang="en-US" sz="2200" b="1">
                <a:latin typeface="宋体" panose="02010600030101010101" pitchFamily="2" charset="-122"/>
                <a:ea typeface="宋体" panose="02010600030101010101" pitchFamily="2" charset="-122"/>
              </a:rPr>
              <a:t>值可以达</a:t>
            </a:r>
            <a:r>
              <a:rPr lang="zh-CN" altLang="en-US" sz="2200" b="1" dirty="0">
                <a:latin typeface="宋体" panose="02010600030101010101" pitchFamily="2" charset="-122"/>
                <a:ea typeface="宋体" panose="02010600030101010101" pitchFamily="2" charset="-122"/>
              </a:rPr>
              <a:t>到</a:t>
            </a:r>
            <a:r>
              <a:rPr lang="en-US" altLang="zh-CN" sz="2200" b="1" dirty="0">
                <a:latin typeface="宋体" panose="02010600030101010101" pitchFamily="2" charset="-122"/>
                <a:ea typeface="宋体" panose="02010600030101010101" pitchFamily="2" charset="-122"/>
              </a:rPr>
              <a:t>0</a:t>
            </a:r>
            <a:r>
              <a:rPr lang="zh-CN" altLang="en-US" sz="2200" b="1" dirty="0">
                <a:latin typeface="宋体" panose="02010600030101010101" pitchFamily="2" charset="-122"/>
                <a:ea typeface="宋体" panose="02010600030101010101" pitchFamily="2" charset="-122"/>
              </a:rPr>
              <a:t>，上限由弹性极限、线性响应</a:t>
            </a:r>
            <a:r>
              <a:rPr lang="zh-CN" altLang="en-US" sz="2200" b="1">
                <a:latin typeface="宋体" panose="02010600030101010101" pitchFamily="2" charset="-122"/>
                <a:ea typeface="宋体" panose="02010600030101010101" pitchFamily="2" charset="-122"/>
              </a:rPr>
              <a:t>极限、和</a:t>
            </a:r>
            <a:r>
              <a:rPr lang="zh-CN" altLang="en-US" sz="2200" b="1" dirty="0">
                <a:latin typeface="宋体" panose="02010600030101010101" pitchFamily="2" charset="-122"/>
                <a:ea typeface="宋体" panose="02010600030101010101" pitchFamily="2" charset="-122"/>
              </a:rPr>
              <a:t>传感器的额定预载荷极限决</a:t>
            </a:r>
            <a:r>
              <a:rPr lang="zh-CN" altLang="en-US" sz="2200" b="1">
                <a:latin typeface="宋体" panose="02010600030101010101" pitchFamily="2" charset="-122"/>
                <a:ea typeface="宋体" panose="02010600030101010101" pitchFamily="2" charset="-122"/>
              </a:rPr>
              <a:t>定。</a:t>
            </a:r>
            <a:endParaRPr lang="en-US" altLang="zh-CN" sz="2200" b="1">
              <a:latin typeface="宋体" panose="02010600030101010101" pitchFamily="2" charset="-122"/>
              <a:ea typeface="宋体" panose="02010600030101010101" pitchFamily="2" charset="-122"/>
            </a:endParaRPr>
          </a:p>
          <a:p>
            <a:pPr>
              <a:lnSpc>
                <a:spcPct val="120000"/>
              </a:lnSpc>
              <a:spcBef>
                <a:spcPts val="600"/>
              </a:spcBef>
            </a:pPr>
            <a:r>
              <a:rPr lang="zh-CN" altLang="en-US" sz="2200" b="1">
                <a:solidFill>
                  <a:schemeClr val="accent2">
                    <a:lumMod val="75000"/>
                  </a:schemeClr>
                </a:solidFill>
                <a:latin typeface="宋体" panose="02010600030101010101" pitchFamily="2" charset="-122"/>
                <a:ea typeface="宋体" panose="02010600030101010101" pitchFamily="2" charset="-122"/>
              </a:rPr>
              <a:t>压电转换元件的弹性极限和线性响应极限；</a:t>
            </a:r>
            <a:endParaRPr lang="en-US" altLang="zh-CN" sz="2200" b="1">
              <a:solidFill>
                <a:schemeClr val="accent2">
                  <a:lumMod val="75000"/>
                </a:schemeClr>
              </a:solidFill>
              <a:latin typeface="宋体" panose="02010600030101010101" pitchFamily="2" charset="-122"/>
              <a:ea typeface="宋体" panose="02010600030101010101" pitchFamily="2" charset="-122"/>
            </a:endParaRPr>
          </a:p>
          <a:p>
            <a:pPr>
              <a:lnSpc>
                <a:spcPct val="120000"/>
              </a:lnSpc>
              <a:spcBef>
                <a:spcPts val="600"/>
              </a:spcBef>
            </a:pPr>
            <a:r>
              <a:rPr lang="zh-CN" altLang="en-US" sz="2200" b="1">
                <a:solidFill>
                  <a:schemeClr val="accent2">
                    <a:lumMod val="75000"/>
                  </a:schemeClr>
                </a:solidFill>
                <a:latin typeface="宋体" panose="02010600030101010101" pitchFamily="2" charset="-122"/>
                <a:ea typeface="宋体" panose="02010600030101010101" pitchFamily="2" charset="-122"/>
              </a:rPr>
              <a:t>传感器的额定预载荷极限。</a:t>
            </a:r>
            <a:endParaRPr lang="en-US" altLang="zh-CN" sz="2200" b="1">
              <a:solidFill>
                <a:schemeClr val="accent2">
                  <a:lumMod val="75000"/>
                </a:schemeClr>
              </a:solidFill>
              <a:latin typeface="宋体" panose="02010600030101010101" pitchFamily="2" charset="-122"/>
              <a:ea typeface="宋体" panose="02010600030101010101" pitchFamily="2" charset="-122"/>
            </a:endParaRPr>
          </a:p>
          <a:p>
            <a:pPr marL="0" indent="0">
              <a:lnSpc>
                <a:spcPct val="120000"/>
              </a:lnSpc>
              <a:spcBef>
                <a:spcPts val="600"/>
              </a:spcBef>
              <a:buFont typeface="Wingdings" pitchFamily="2" charset="2"/>
              <a:buNone/>
            </a:pPr>
            <a:r>
              <a:rPr lang="zh-CN" altLang="en-US" sz="2200">
                <a:latin typeface="宋体" panose="02010600030101010101" pitchFamily="2" charset="-122"/>
                <a:ea typeface="宋体" panose="02010600030101010101" pitchFamily="2" charset="-122"/>
              </a:rPr>
              <a:t>压电传感器的幅值线性度变化规律一般是随载荷增大，灵敏度增高</a:t>
            </a:r>
            <a:endParaRPr lang="zh-CN" altLang="en-US" sz="22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E25F858D-B967-4BB2-9BE3-D796B3D7507F}"/>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sp>
        <p:nvSpPr>
          <p:cNvPr id="8" name="Text Box 9">
            <a:extLst>
              <a:ext uri="{FF2B5EF4-FFF2-40B4-BE49-F238E27FC236}">
                <a16:creationId xmlns:a16="http://schemas.microsoft.com/office/drawing/2014/main" id="{073785E6-D03C-4D67-94FF-006471D85F1F}"/>
              </a:ext>
            </a:extLst>
          </p:cNvPr>
          <p:cNvSpPr txBox="1">
            <a:spLocks noChangeArrowheads="1"/>
          </p:cNvSpPr>
          <p:nvPr/>
        </p:nvSpPr>
        <p:spPr bwMode="auto">
          <a:xfrm>
            <a:off x="5251158" y="3928818"/>
            <a:ext cx="329713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r>
              <a:rPr lang="zh-CN" altLang="en-US" sz="2000" b="1" dirty="0">
                <a:solidFill>
                  <a:srgbClr val="000099"/>
                </a:solidFill>
                <a:latin typeface="宋体" panose="02010600030101010101" pitchFamily="2" charset="-122"/>
                <a:ea typeface="宋体" panose="02010600030101010101" pitchFamily="2" charset="-122"/>
              </a:rPr>
              <a:t>图</a:t>
            </a:r>
            <a:r>
              <a:rPr lang="en-US" altLang="zh-CN" sz="2000" b="1" dirty="0">
                <a:solidFill>
                  <a:srgbClr val="000099"/>
                </a:solidFill>
                <a:latin typeface="宋体" panose="02010600030101010101" pitchFamily="2" charset="-122"/>
                <a:ea typeface="宋体" panose="02010600030101010101" pitchFamily="2" charset="-122"/>
              </a:rPr>
              <a:t>6-17 </a:t>
            </a:r>
            <a:r>
              <a:rPr lang="zh-CN" altLang="en-US" sz="2000" b="1" dirty="0">
                <a:solidFill>
                  <a:srgbClr val="000099"/>
                </a:solidFill>
                <a:latin typeface="宋体" panose="02010600030101010101" pitchFamily="2" charset="-122"/>
                <a:ea typeface="宋体" panose="02010600030101010101" pitchFamily="2" charset="-122"/>
              </a:rPr>
              <a:t>压电加速度传感器的幅值线性度曲线</a:t>
            </a:r>
          </a:p>
        </p:txBody>
      </p:sp>
      <p:pic>
        <p:nvPicPr>
          <p:cNvPr id="9" name="Picture 10">
            <a:extLst>
              <a:ext uri="{FF2B5EF4-FFF2-40B4-BE49-F238E27FC236}">
                <a16:creationId xmlns:a16="http://schemas.microsoft.com/office/drawing/2014/main" id="{85A92E24-41CF-4799-B1E7-52221BFBD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1876" y="1761038"/>
            <a:ext cx="3535699" cy="1878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FDCCA0EA-B7C5-437D-BC05-74DCDC47860F}"/>
              </a:ext>
            </a:extLst>
          </p:cNvPr>
          <p:cNvSpPr txBox="1"/>
          <p:nvPr/>
        </p:nvSpPr>
        <p:spPr>
          <a:xfrm>
            <a:off x="5283655" y="5002134"/>
            <a:ext cx="3535699" cy="1354217"/>
          </a:xfrm>
          <a:prstGeom prst="rect">
            <a:avLst/>
          </a:prstGeom>
          <a:noFill/>
        </p:spPr>
        <p:txBody>
          <a:bodyPr wrap="square">
            <a:spAutoFit/>
          </a:bodyPr>
          <a:lstStyle/>
          <a:p>
            <a:pPr>
              <a:spcBef>
                <a:spcPts val="600"/>
              </a:spcBef>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 我国规定：</a:t>
            </a:r>
            <a:endPar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342900" indent="-342900">
              <a:spcBef>
                <a:spcPts val="600"/>
              </a:spcBef>
              <a:buFont typeface="Arial" panose="020B0604020202020204" pitchFamily="34" charset="0"/>
              <a:buChar char="•"/>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测振非线性度</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itchFamily="18" charset="0"/>
              </a:rPr>
              <a:t>≤</a:t>
            </a:r>
            <a:r>
              <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endParaRPr>
          </a:p>
          <a:p>
            <a:pPr marL="342900" indent="-342900">
              <a:spcBef>
                <a:spcPts val="600"/>
              </a:spcBef>
              <a:buFont typeface="Arial" panose="020B0604020202020204" pitchFamily="34" charset="0"/>
              <a:buChar char="•"/>
            </a:pP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测冲击非线性度</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itchFamily="18" charset="0"/>
              </a:rPr>
              <a:t>≤</a:t>
            </a:r>
            <a:r>
              <a:rPr kumimoji="0" lang="en-US" altLang="zh-CN"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a:t>
            </a:r>
            <a:endParaRPr lang="en-001"/>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6.6</a:t>
            </a:r>
          </a:p>
        </p:txBody>
      </p:sp>
      <p:sp>
        <p:nvSpPr>
          <p:cNvPr id="46" name="矩形 45"/>
          <p:cNvSpPr/>
          <p:nvPr/>
        </p:nvSpPr>
        <p:spPr>
          <a:xfrm>
            <a:off x="1960201" y="360001"/>
            <a:ext cx="6748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影响压电式传感器精度的因素分析</a:t>
            </a:r>
          </a:p>
        </p:txBody>
      </p:sp>
      <p:sp>
        <p:nvSpPr>
          <p:cNvPr id="21" name="Rectangle 2"/>
          <p:cNvSpPr>
            <a:spLocks noChangeArrowheads="1"/>
          </p:cNvSpPr>
          <p:nvPr/>
        </p:nvSpPr>
        <p:spPr bwMode="auto">
          <a:xfrm>
            <a:off x="1341306" y="1600200"/>
            <a:ext cx="7062465" cy="3329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2400" b="1" dirty="0">
                <a:latin typeface="宋体" panose="02010600030101010101" pitchFamily="2" charset="-122"/>
                <a:ea typeface="宋体" panose="02010600030101010101" pitchFamily="2" charset="-122"/>
              </a:rPr>
              <a:t>6.6.2 </a:t>
            </a:r>
            <a:r>
              <a:rPr lang="zh-CN" altLang="en-US" sz="2400" b="1" dirty="0">
                <a:latin typeface="宋体" panose="02010600030101010101" pitchFamily="2" charset="-122"/>
                <a:ea typeface="宋体" panose="02010600030101010101" pitchFamily="2" charset="-122"/>
              </a:rPr>
              <a:t>横向灵敏度</a:t>
            </a:r>
          </a:p>
          <a:p>
            <a:pPr>
              <a:lnSpc>
                <a:spcPct val="150000"/>
              </a:lnSpc>
            </a:pPr>
            <a:r>
              <a:rPr lang="zh-CN" altLang="en-US" sz="2400" b="1" dirty="0">
                <a:latin typeface="宋体" panose="02010600030101010101" pitchFamily="2" charset="-122"/>
                <a:ea typeface="宋体" panose="02010600030101010101" pitchFamily="2" charset="-122"/>
              </a:rPr>
              <a:t>    压电加速度传感器的横向灵敏度是指当加速度传感器感受到</a:t>
            </a:r>
            <a:r>
              <a:rPr lang="zh-CN" altLang="en-US" sz="2400" b="1" dirty="0">
                <a:solidFill>
                  <a:schemeClr val="accent2">
                    <a:lumMod val="75000"/>
                  </a:schemeClr>
                </a:solidFill>
                <a:latin typeface="宋体" panose="02010600030101010101" pitchFamily="2" charset="-122"/>
                <a:ea typeface="宋体" panose="02010600030101010101" pitchFamily="2" charset="-122"/>
              </a:rPr>
              <a:t>与其主轴向</a:t>
            </a:r>
            <a:r>
              <a:rPr lang="en-US" altLang="zh-CN" sz="2400" b="1" dirty="0">
                <a:solidFill>
                  <a:schemeClr val="accent2">
                    <a:lumMod val="75000"/>
                  </a:schemeClr>
                </a:solidFill>
                <a:latin typeface="宋体" panose="02010600030101010101" pitchFamily="2" charset="-122"/>
                <a:ea typeface="宋体" panose="02010600030101010101" pitchFamily="2" charset="-122"/>
              </a:rPr>
              <a:t>(</a:t>
            </a:r>
            <a:r>
              <a:rPr lang="zh-CN" altLang="en-US" sz="2400" b="1" dirty="0">
                <a:solidFill>
                  <a:schemeClr val="accent2">
                    <a:lumMod val="75000"/>
                  </a:schemeClr>
                </a:solidFill>
                <a:latin typeface="宋体" panose="02010600030101010101" pitchFamily="2" charset="-122"/>
                <a:ea typeface="宋体" panose="02010600030101010101" pitchFamily="2" charset="-122"/>
              </a:rPr>
              <a:t>轴向灵敏度方向</a:t>
            </a:r>
            <a:r>
              <a:rPr lang="en-US" altLang="zh-CN" sz="2400" b="1" dirty="0">
                <a:solidFill>
                  <a:schemeClr val="accent2">
                    <a:lumMod val="75000"/>
                  </a:schemeClr>
                </a:solidFill>
                <a:latin typeface="宋体" panose="02010600030101010101" pitchFamily="2" charset="-122"/>
                <a:ea typeface="宋体" panose="02010600030101010101" pitchFamily="2" charset="-122"/>
              </a:rPr>
              <a:t>)</a:t>
            </a:r>
            <a:r>
              <a:rPr lang="zh-CN" altLang="en-US" sz="2400" b="1" dirty="0">
                <a:solidFill>
                  <a:schemeClr val="accent2">
                    <a:lumMod val="75000"/>
                  </a:schemeClr>
                </a:solidFill>
                <a:latin typeface="宋体" panose="02010600030101010101" pitchFamily="2" charset="-122"/>
                <a:ea typeface="宋体" panose="02010600030101010101" pitchFamily="2" charset="-122"/>
              </a:rPr>
              <a:t>垂直的单位加速度振动时的灵</a:t>
            </a:r>
            <a:r>
              <a:rPr lang="zh-CN" altLang="en-US" sz="2400" b="1">
                <a:solidFill>
                  <a:schemeClr val="accent2">
                    <a:lumMod val="75000"/>
                  </a:schemeClr>
                </a:solidFill>
                <a:latin typeface="宋体" panose="02010600030101010101" pitchFamily="2" charset="-122"/>
                <a:ea typeface="宋体" panose="02010600030101010101" pitchFamily="2" charset="-122"/>
              </a:rPr>
              <a:t>敏度</a:t>
            </a:r>
            <a:endParaRPr lang="en-US" altLang="zh-CN" sz="2400" b="1">
              <a:latin typeface="宋体" panose="02010600030101010101" pitchFamily="2" charset="-122"/>
              <a:ea typeface="宋体" panose="02010600030101010101" pitchFamily="2" charset="-122"/>
            </a:endParaRPr>
          </a:p>
          <a:p>
            <a:pPr>
              <a:lnSpc>
                <a:spcPct val="150000"/>
              </a:lnSpc>
            </a:pPr>
            <a:r>
              <a:rPr lang="zh-CN" altLang="en-US" sz="2400" b="1">
                <a:latin typeface="宋体" panose="02010600030101010101" pitchFamily="2" charset="-122"/>
                <a:ea typeface="宋体" panose="02010600030101010101" pitchFamily="2" charset="-122"/>
              </a:rPr>
              <a:t>    一</a:t>
            </a:r>
            <a:r>
              <a:rPr lang="zh-CN" altLang="en-US" sz="2400" b="1" dirty="0">
                <a:latin typeface="宋体" panose="02010600030101010101" pitchFamily="2" charset="-122"/>
                <a:ea typeface="宋体" panose="02010600030101010101" pitchFamily="2" charset="-122"/>
              </a:rPr>
              <a:t>般用它与主轴向灵敏度的百分比来表示，称为横向灵敏度比。</a:t>
            </a:r>
          </a:p>
        </p:txBody>
      </p:sp>
      <p:sp>
        <p:nvSpPr>
          <p:cNvPr id="25" name="Text Box 22"/>
          <p:cNvSpPr txBox="1">
            <a:spLocks noChangeArrowheads="1"/>
          </p:cNvSpPr>
          <p:nvPr/>
        </p:nvSpPr>
        <p:spPr bwMode="auto">
          <a:xfrm>
            <a:off x="1791723" y="5257800"/>
            <a:ext cx="55605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800" b="1">
                <a:solidFill>
                  <a:schemeClr val="tx2"/>
                </a:solidFill>
                <a:latin typeface="Arial" charset="0"/>
                <a:ea typeface="宋体" charset="-122"/>
              </a:defRPr>
            </a:lvl1pPr>
            <a:lvl2pPr marL="742950" indent="-285750" eaLnBrk="0" hangingPunct="0">
              <a:defRPr sz="2800" b="1">
                <a:solidFill>
                  <a:schemeClr val="tx2"/>
                </a:solidFill>
                <a:latin typeface="Arial" charset="0"/>
                <a:ea typeface="宋体" charset="-122"/>
              </a:defRPr>
            </a:lvl2pPr>
            <a:lvl3pPr marL="1143000" indent="-228600" eaLnBrk="0" hangingPunct="0">
              <a:defRPr sz="2800" b="1">
                <a:solidFill>
                  <a:schemeClr val="tx2"/>
                </a:solidFill>
                <a:latin typeface="Arial" charset="0"/>
                <a:ea typeface="宋体" charset="-122"/>
              </a:defRPr>
            </a:lvl3pPr>
            <a:lvl4pPr marL="1600200" indent="-228600" eaLnBrk="0" hangingPunct="0">
              <a:defRPr sz="2800" b="1">
                <a:solidFill>
                  <a:schemeClr val="tx2"/>
                </a:solidFill>
                <a:latin typeface="Arial" charset="0"/>
                <a:ea typeface="宋体" charset="-122"/>
              </a:defRPr>
            </a:lvl4pPr>
            <a:lvl5pPr marL="2057400" indent="-228600" eaLnBrk="0" hangingPunct="0">
              <a:defRPr sz="2800" b="1">
                <a:solidFill>
                  <a:schemeClr val="tx2"/>
                </a:solidFill>
                <a:latin typeface="Arial" charset="0"/>
                <a:ea typeface="宋体" charset="-122"/>
              </a:defRPr>
            </a:lvl5pPr>
            <a:lvl6pPr marL="25146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6pPr>
            <a:lvl7pPr marL="29718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7pPr>
            <a:lvl8pPr marL="34290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8pPr>
            <a:lvl9pPr marL="38862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9pPr>
          </a:lstStyle>
          <a:p>
            <a:pPr eaLnBrk="1" hangingPunct="1">
              <a:spcBef>
                <a:spcPct val="50000"/>
              </a:spcBef>
            </a:pPr>
            <a:r>
              <a:rPr lang="zh-CN" altLang="en-US" sz="2400" dirty="0">
                <a:solidFill>
                  <a:schemeClr val="tx1"/>
                </a:solidFill>
                <a:latin typeface="宋体" panose="02010600030101010101" pitchFamily="2" charset="-122"/>
                <a:ea typeface="宋体" panose="02010600030101010101" pitchFamily="2" charset="-122"/>
              </a:rPr>
              <a:t>集中反映压电传感器的内在质量缺陷。</a:t>
            </a:r>
          </a:p>
        </p:txBody>
      </p:sp>
      <p:sp>
        <p:nvSpPr>
          <p:cNvPr id="2" name="Slide Number Placeholder 1">
            <a:extLst>
              <a:ext uri="{FF2B5EF4-FFF2-40B4-BE49-F238E27FC236}">
                <a16:creationId xmlns:a16="http://schemas.microsoft.com/office/drawing/2014/main" id="{2477E161-D0BF-4192-9891-13BDD80BE5CD}"/>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spTree>
    <p:extLst>
      <p:ext uri="{BB962C8B-B14F-4D97-AF65-F5344CB8AC3E}">
        <p14:creationId xmlns:p14="http://schemas.microsoft.com/office/powerpoint/2010/main" val="959588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6.6</a:t>
            </a:r>
          </a:p>
        </p:txBody>
      </p:sp>
      <p:sp>
        <p:nvSpPr>
          <p:cNvPr id="46" name="矩形 45"/>
          <p:cNvSpPr/>
          <p:nvPr/>
        </p:nvSpPr>
        <p:spPr>
          <a:xfrm>
            <a:off x="1960201" y="360001"/>
            <a:ext cx="6748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影响压电式传感器精度的因素分析</a:t>
            </a:r>
          </a:p>
        </p:txBody>
      </p:sp>
      <p:sp>
        <p:nvSpPr>
          <p:cNvPr id="26" name="Rectangle 3"/>
          <p:cNvSpPr txBox="1">
            <a:spLocks noRot="1" noChangeArrowheads="1"/>
          </p:cNvSpPr>
          <p:nvPr/>
        </p:nvSpPr>
        <p:spPr>
          <a:xfrm>
            <a:off x="554470" y="1711287"/>
            <a:ext cx="8154686" cy="31924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en-US" altLang="zh-CN" sz="2400" b="1" dirty="0">
                <a:latin typeface="宋体" panose="02010600030101010101" pitchFamily="2" charset="-122"/>
                <a:ea typeface="宋体" panose="02010600030101010101" pitchFamily="2" charset="-122"/>
              </a:rPr>
              <a:t>6.6.3 </a:t>
            </a:r>
            <a:r>
              <a:rPr lang="zh-CN" altLang="en-US" sz="2400" b="1" dirty="0">
                <a:latin typeface="宋体" panose="02010600030101010101" pitchFamily="2" charset="-122"/>
                <a:ea typeface="宋体" panose="02010600030101010101" pitchFamily="2" charset="-122"/>
              </a:rPr>
              <a:t>环境温度的影响  </a:t>
            </a:r>
          </a:p>
          <a:p>
            <a:pPr marL="0" indent="628650">
              <a:lnSpc>
                <a:spcPct val="140000"/>
              </a:lnSpc>
              <a:buFont typeface="Wingdings" pitchFamily="2" charset="2"/>
              <a:buNone/>
            </a:pPr>
            <a:r>
              <a:rPr lang="zh-CN" altLang="en-US" sz="2400" b="1" dirty="0">
                <a:latin typeface="宋体" panose="02010600030101010101" pitchFamily="2" charset="-122"/>
                <a:ea typeface="宋体" panose="02010600030101010101" pitchFamily="2" charset="-122"/>
              </a:rPr>
              <a:t>环境温度的变化对压电材料的</a:t>
            </a:r>
            <a:r>
              <a:rPr lang="zh-CN" altLang="en-US" sz="2400" b="1" dirty="0">
                <a:solidFill>
                  <a:srgbClr val="002060"/>
                </a:solidFill>
                <a:latin typeface="宋体" panose="02010600030101010101" pitchFamily="2" charset="-122"/>
                <a:ea typeface="宋体" panose="02010600030101010101" pitchFamily="2" charset="-122"/>
              </a:rPr>
              <a:t>压电常数和介电常数</a:t>
            </a:r>
            <a:r>
              <a:rPr lang="zh-CN" altLang="en-US" sz="2400" b="1" dirty="0">
                <a:latin typeface="宋体" panose="02010600030101010101" pitchFamily="2" charset="-122"/>
                <a:ea typeface="宋体" panose="02010600030101010101" pitchFamily="2" charset="-122"/>
              </a:rPr>
              <a:t>的影响都很大，它将使传感器灵敏度发生变化，压电材料不同，温度影响的程度也不同。当温度低于</a:t>
            </a:r>
            <a:r>
              <a:rPr lang="en-US" altLang="zh-CN" sz="2400" b="1" dirty="0">
                <a:latin typeface="宋体" panose="02010600030101010101" pitchFamily="2" charset="-122"/>
                <a:ea typeface="宋体" panose="02010600030101010101" pitchFamily="2" charset="-122"/>
              </a:rPr>
              <a:t>400℃</a:t>
            </a:r>
            <a:r>
              <a:rPr lang="zh-CN" altLang="en-US" sz="2400" b="1" dirty="0">
                <a:latin typeface="宋体" panose="02010600030101010101" pitchFamily="2" charset="-122"/>
                <a:ea typeface="宋体" panose="02010600030101010101" pitchFamily="2" charset="-122"/>
              </a:rPr>
              <a:t>时，其压电常数和介电常数都很稳定。</a:t>
            </a:r>
          </a:p>
        </p:txBody>
      </p:sp>
      <p:sp>
        <p:nvSpPr>
          <p:cNvPr id="27" name="Text Box 33"/>
          <p:cNvSpPr txBox="1">
            <a:spLocks noChangeArrowheads="1"/>
          </p:cNvSpPr>
          <p:nvPr/>
        </p:nvSpPr>
        <p:spPr bwMode="auto">
          <a:xfrm>
            <a:off x="2570617" y="4672917"/>
            <a:ext cx="40027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800" b="1">
                <a:solidFill>
                  <a:schemeClr val="tx2"/>
                </a:solidFill>
                <a:latin typeface="Arial" charset="0"/>
                <a:ea typeface="宋体" charset="-122"/>
              </a:defRPr>
            </a:lvl1pPr>
            <a:lvl2pPr marL="742950" indent="-285750" eaLnBrk="0" hangingPunct="0">
              <a:defRPr sz="2800" b="1">
                <a:solidFill>
                  <a:schemeClr val="tx2"/>
                </a:solidFill>
                <a:latin typeface="Arial" charset="0"/>
                <a:ea typeface="宋体" charset="-122"/>
              </a:defRPr>
            </a:lvl2pPr>
            <a:lvl3pPr marL="1143000" indent="-228600" eaLnBrk="0" hangingPunct="0">
              <a:defRPr sz="2800" b="1">
                <a:solidFill>
                  <a:schemeClr val="tx2"/>
                </a:solidFill>
                <a:latin typeface="Arial" charset="0"/>
                <a:ea typeface="宋体" charset="-122"/>
              </a:defRPr>
            </a:lvl3pPr>
            <a:lvl4pPr marL="1600200" indent="-228600" eaLnBrk="0" hangingPunct="0">
              <a:defRPr sz="2800" b="1">
                <a:solidFill>
                  <a:schemeClr val="tx2"/>
                </a:solidFill>
                <a:latin typeface="Arial" charset="0"/>
                <a:ea typeface="宋体" charset="-122"/>
              </a:defRPr>
            </a:lvl4pPr>
            <a:lvl5pPr marL="2057400" indent="-228600" eaLnBrk="0" hangingPunct="0">
              <a:defRPr sz="2800" b="1">
                <a:solidFill>
                  <a:schemeClr val="tx2"/>
                </a:solidFill>
                <a:latin typeface="Arial" charset="0"/>
                <a:ea typeface="宋体" charset="-122"/>
              </a:defRPr>
            </a:lvl5pPr>
            <a:lvl6pPr marL="25146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6pPr>
            <a:lvl7pPr marL="29718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7pPr>
            <a:lvl8pPr marL="34290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8pPr>
            <a:lvl9pPr marL="3886200" indent="-228600" eaLnBrk="0" fontAlgn="base" hangingPunct="0">
              <a:lnSpc>
                <a:spcPct val="120000"/>
              </a:lnSpc>
              <a:spcBef>
                <a:spcPct val="20000"/>
              </a:spcBef>
              <a:spcAft>
                <a:spcPct val="0"/>
              </a:spcAft>
              <a:buClr>
                <a:schemeClr val="folHlink"/>
              </a:buClr>
              <a:buFont typeface="Wingdings" pitchFamily="2" charset="2"/>
              <a:defRPr sz="2800" b="1">
                <a:solidFill>
                  <a:schemeClr val="tx2"/>
                </a:solidFill>
                <a:latin typeface="Arial" charset="0"/>
                <a:ea typeface="宋体" charset="-122"/>
              </a:defRPr>
            </a:lvl9pPr>
          </a:lstStyle>
          <a:p>
            <a:pPr eaLnBrk="1" hangingPunct="1">
              <a:spcBef>
                <a:spcPct val="50000"/>
              </a:spcBef>
            </a:pPr>
            <a:r>
              <a:rPr lang="zh-CN" altLang="en-US" sz="2400" dirty="0">
                <a:solidFill>
                  <a:schemeClr val="tx1"/>
                </a:solidFill>
                <a:latin typeface="宋体" panose="02010600030101010101" pitchFamily="2" charset="-122"/>
                <a:ea typeface="宋体" panose="02010600030101010101" pitchFamily="2" charset="-122"/>
              </a:rPr>
              <a:t>涉及到压电元件的</a:t>
            </a:r>
            <a:r>
              <a:rPr lang="zh-CN" altLang="en-US" sz="2400" dirty="0">
                <a:solidFill>
                  <a:srgbClr val="FF0000"/>
                </a:solidFill>
                <a:latin typeface="宋体" panose="02010600030101010101" pitchFamily="2" charset="-122"/>
                <a:ea typeface="宋体" panose="02010600030101010101" pitchFamily="2" charset="-122"/>
              </a:rPr>
              <a:t>热电性</a:t>
            </a:r>
            <a:r>
              <a:rPr lang="zh-CN" altLang="en-US" sz="2400" dirty="0">
                <a:solidFill>
                  <a:schemeClr val="tx1"/>
                </a:solidFill>
                <a:latin typeface="宋体" panose="02010600030101010101" pitchFamily="2" charset="-122"/>
                <a:ea typeface="宋体" panose="02010600030101010101" pitchFamily="2" charset="-122"/>
              </a:rPr>
              <a:t>。</a:t>
            </a:r>
          </a:p>
        </p:txBody>
      </p:sp>
      <p:sp>
        <p:nvSpPr>
          <p:cNvPr id="2" name="Slide Number Placeholder 1">
            <a:extLst>
              <a:ext uri="{FF2B5EF4-FFF2-40B4-BE49-F238E27FC236}">
                <a16:creationId xmlns:a16="http://schemas.microsoft.com/office/drawing/2014/main" id="{451DDF89-1585-4C87-A7CE-93CD43F38137}"/>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Tree>
    <p:extLst>
      <p:ext uri="{BB962C8B-B14F-4D97-AF65-F5344CB8AC3E}">
        <p14:creationId xmlns:p14="http://schemas.microsoft.com/office/powerpoint/2010/main" val="9895104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6.6</a:t>
            </a:r>
          </a:p>
        </p:txBody>
      </p:sp>
      <p:sp>
        <p:nvSpPr>
          <p:cNvPr id="46" name="矩形 45"/>
          <p:cNvSpPr/>
          <p:nvPr/>
        </p:nvSpPr>
        <p:spPr>
          <a:xfrm>
            <a:off x="1960201" y="360001"/>
            <a:ext cx="6748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影响压电式传感器精度的因素分析</a:t>
            </a:r>
          </a:p>
        </p:txBody>
      </p:sp>
      <p:sp>
        <p:nvSpPr>
          <p:cNvPr id="21" name="Rectangle 5"/>
          <p:cNvSpPr>
            <a:spLocks noChangeArrowheads="1"/>
          </p:cNvSpPr>
          <p:nvPr/>
        </p:nvSpPr>
        <p:spPr bwMode="auto">
          <a:xfrm>
            <a:off x="1142030" y="1648234"/>
            <a:ext cx="7137445"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40000"/>
              </a:lnSpc>
            </a:pPr>
            <a:r>
              <a:rPr lang="en-US" altLang="zh-CN" sz="2400" b="1" dirty="0">
                <a:latin typeface="宋体" panose="02010600030101010101" pitchFamily="2" charset="-122"/>
                <a:ea typeface="宋体" panose="02010600030101010101" pitchFamily="2" charset="-122"/>
              </a:rPr>
              <a:t>6.6.4 </a:t>
            </a:r>
            <a:r>
              <a:rPr lang="zh-CN" altLang="en-US" sz="2400" b="1" dirty="0">
                <a:latin typeface="宋体" panose="02010600030101010101" pitchFamily="2" charset="-122"/>
                <a:ea typeface="宋体" panose="02010600030101010101" pitchFamily="2" charset="-122"/>
              </a:rPr>
              <a:t>湿度的影响  </a:t>
            </a:r>
          </a:p>
          <a:p>
            <a:pPr indent="628650">
              <a:lnSpc>
                <a:spcPct val="140000"/>
              </a:lnSpc>
            </a:pPr>
            <a:r>
              <a:rPr lang="zh-CN" altLang="en-US" sz="2400" b="1" dirty="0">
                <a:latin typeface="宋体" panose="02010600030101010101" pitchFamily="2" charset="-122"/>
                <a:ea typeface="宋体" panose="02010600030101010101" pitchFamily="2" charset="-122"/>
              </a:rPr>
              <a:t>环境湿度对压电式传感器性能的影响也很大。如果传感器长期在高湿度环境下工作，其绝缘电阻将会减小，低频响应变坏。</a:t>
            </a:r>
          </a:p>
        </p:txBody>
      </p:sp>
      <p:sp>
        <p:nvSpPr>
          <p:cNvPr id="2" name="矩形 1"/>
          <p:cNvSpPr/>
          <p:nvPr/>
        </p:nvSpPr>
        <p:spPr>
          <a:xfrm>
            <a:off x="1003277" y="4311698"/>
            <a:ext cx="7137445" cy="532069"/>
          </a:xfrm>
          <a:prstGeom prst="rect">
            <a:avLst/>
          </a:prstGeom>
        </p:spPr>
        <p:txBody>
          <a:bodyPr wrap="square">
            <a:spAutoFit/>
          </a:bodyPr>
          <a:lstStyle/>
          <a:p>
            <a:pPr lvl="0" indent="533400">
              <a:lnSpc>
                <a:spcPct val="140000"/>
              </a:lnSpc>
            </a:pPr>
            <a:r>
              <a:rPr lang="zh-CN" altLang="en-US" sz="2400" b="1" dirty="0">
                <a:solidFill>
                  <a:srgbClr val="FF0000"/>
                </a:solidFill>
                <a:latin typeface="宋体" panose="02010600030101010101" pitchFamily="2" charset="-122"/>
                <a:ea typeface="宋体" panose="02010600030101010101" pitchFamily="2" charset="-122"/>
              </a:rPr>
              <a:t>绝缘电阻</a:t>
            </a:r>
            <a:r>
              <a:rPr lang="zh-CN" altLang="en-US" sz="2400" b="1" dirty="0">
                <a:solidFill>
                  <a:prstClr val="black"/>
                </a:solidFill>
                <a:latin typeface="宋体" panose="02010600030101010101" pitchFamily="2" charset="-122"/>
                <a:ea typeface="宋体" panose="02010600030101010101" pitchFamily="2" charset="-122"/>
              </a:rPr>
              <a:t>是选择压电式传感器的一个重要指标。</a:t>
            </a:r>
          </a:p>
        </p:txBody>
      </p:sp>
      <p:sp>
        <p:nvSpPr>
          <p:cNvPr id="3" name="Slide Number Placeholder 2">
            <a:extLst>
              <a:ext uri="{FF2B5EF4-FFF2-40B4-BE49-F238E27FC236}">
                <a16:creationId xmlns:a16="http://schemas.microsoft.com/office/drawing/2014/main" id="{11338C93-4912-4757-B8CB-42DEE227CC93}"/>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Tree>
    <p:extLst>
      <p:ext uri="{BB962C8B-B14F-4D97-AF65-F5344CB8AC3E}">
        <p14:creationId xmlns:p14="http://schemas.microsoft.com/office/powerpoint/2010/main" val="41740796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6.6</a:t>
            </a:r>
          </a:p>
        </p:txBody>
      </p:sp>
      <p:sp>
        <p:nvSpPr>
          <p:cNvPr id="46" name="矩形 45"/>
          <p:cNvSpPr/>
          <p:nvPr/>
        </p:nvSpPr>
        <p:spPr>
          <a:xfrm>
            <a:off x="1960201" y="360001"/>
            <a:ext cx="6748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影响压电式传感器精度的因素分析</a:t>
            </a:r>
          </a:p>
        </p:txBody>
      </p:sp>
      <p:sp>
        <p:nvSpPr>
          <p:cNvPr id="26" name="Rectangle 3"/>
          <p:cNvSpPr txBox="1">
            <a:spLocks noRot="1" noChangeArrowheads="1"/>
          </p:cNvSpPr>
          <p:nvPr/>
        </p:nvSpPr>
        <p:spPr>
          <a:xfrm>
            <a:off x="1364180" y="1150786"/>
            <a:ext cx="6856093" cy="54303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None/>
            </a:pPr>
            <a:r>
              <a:rPr lang="en-US" altLang="zh-CN" sz="2400" b="1" dirty="0">
                <a:latin typeface="宋体" panose="02010600030101010101" pitchFamily="2" charset="-122"/>
                <a:ea typeface="宋体" panose="02010600030101010101" pitchFamily="2" charset="-122"/>
              </a:rPr>
              <a:t>6.6.5 </a:t>
            </a:r>
            <a:r>
              <a:rPr lang="zh-CN" altLang="en-US" sz="2400" b="1" dirty="0">
                <a:latin typeface="宋体" panose="02010600030101010101" pitchFamily="2" charset="-122"/>
                <a:ea typeface="宋体" panose="02010600030101010101" pitchFamily="2" charset="-122"/>
              </a:rPr>
              <a:t>电缆噪声</a:t>
            </a:r>
          </a:p>
          <a:p>
            <a:pPr marL="0" indent="628650">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为了减小电缆引线电容噪声，可使用特制的低噪声电缆（屏蔽线），同时将电缆固紧，以免产生相对运动。</a:t>
            </a:r>
          </a:p>
          <a:p>
            <a:pPr>
              <a:lnSpc>
                <a:spcPct val="150000"/>
              </a:lnSpc>
              <a:buFont typeface="Wingdings" pitchFamily="2" charset="2"/>
              <a:buNone/>
            </a:pPr>
            <a:r>
              <a:rPr lang="en-US" altLang="zh-CN" sz="2400" b="1" dirty="0">
                <a:latin typeface="宋体" panose="02010600030101010101" pitchFamily="2" charset="-122"/>
                <a:ea typeface="宋体" panose="02010600030101010101" pitchFamily="2" charset="-122"/>
              </a:rPr>
              <a:t>6.6.6 </a:t>
            </a:r>
            <a:r>
              <a:rPr lang="zh-CN" altLang="en-US" sz="2400" b="1" dirty="0">
                <a:latin typeface="宋体" panose="02010600030101010101" pitchFamily="2" charset="-122"/>
                <a:ea typeface="宋体" panose="02010600030101010101" pitchFamily="2" charset="-122"/>
              </a:rPr>
              <a:t>接地回路噪声 </a:t>
            </a:r>
          </a:p>
          <a:p>
            <a:pPr marL="0" indent="628650">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在测试系统中各仪器与传感器分别接地，各接地点又有电位差。防止这种噪声的有效办法是整个测量系统在一点接地。而且选择指示器的输入端为接地点。</a:t>
            </a:r>
          </a:p>
        </p:txBody>
      </p:sp>
      <p:sp>
        <p:nvSpPr>
          <p:cNvPr id="2" name="Slide Number Placeholder 1">
            <a:extLst>
              <a:ext uri="{FF2B5EF4-FFF2-40B4-BE49-F238E27FC236}">
                <a16:creationId xmlns:a16="http://schemas.microsoft.com/office/drawing/2014/main" id="{A1993EB7-9CF4-439A-BC6C-05CD82F6F562}"/>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Tree>
    <p:extLst>
      <p:ext uri="{BB962C8B-B14F-4D97-AF65-F5344CB8AC3E}">
        <p14:creationId xmlns:p14="http://schemas.microsoft.com/office/powerpoint/2010/main" val="29644234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6.6</a:t>
            </a:r>
          </a:p>
        </p:txBody>
      </p:sp>
      <p:sp>
        <p:nvSpPr>
          <p:cNvPr id="46" name="矩形 45"/>
          <p:cNvSpPr/>
          <p:nvPr/>
        </p:nvSpPr>
        <p:spPr>
          <a:xfrm>
            <a:off x="1960201" y="360001"/>
            <a:ext cx="6748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影响压电式传感器精度的因素分析</a:t>
            </a:r>
          </a:p>
        </p:txBody>
      </p:sp>
      <p:sp>
        <p:nvSpPr>
          <p:cNvPr id="26" name="Rectangle 3"/>
          <p:cNvSpPr txBox="1">
            <a:spLocks noRot="1" noChangeArrowheads="1"/>
          </p:cNvSpPr>
          <p:nvPr/>
        </p:nvSpPr>
        <p:spPr>
          <a:xfrm>
            <a:off x="1432193" y="1676400"/>
            <a:ext cx="6301648" cy="25871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628650">
              <a:lnSpc>
                <a:spcPct val="200000"/>
              </a:lnSpc>
              <a:spcBef>
                <a:spcPct val="10000"/>
              </a:spcBef>
              <a:buFont typeface="Wingdings" pitchFamily="2" charset="2"/>
              <a:buNone/>
            </a:pPr>
            <a:r>
              <a:rPr lang="zh-CN" altLang="en-US" sz="2400" b="1" dirty="0">
                <a:latin typeface="宋体" panose="02010600030101010101" pitchFamily="2" charset="-122"/>
                <a:ea typeface="宋体" panose="02010600030101010101" pitchFamily="2" charset="-122"/>
              </a:rPr>
              <a:t>除以上分析的、影响压电式传感器精度的几个因素外，还存在有声场效应、磁场效应及射频场效应、基座应变效应等因素。</a:t>
            </a:r>
          </a:p>
        </p:txBody>
      </p:sp>
      <p:sp>
        <p:nvSpPr>
          <p:cNvPr id="2" name="Slide Number Placeholder 1">
            <a:extLst>
              <a:ext uri="{FF2B5EF4-FFF2-40B4-BE49-F238E27FC236}">
                <a16:creationId xmlns:a16="http://schemas.microsoft.com/office/drawing/2014/main" id="{32056D9F-CF8B-4CF9-9DE9-731C4C925936}"/>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Tree>
    <p:extLst>
      <p:ext uri="{BB962C8B-B14F-4D97-AF65-F5344CB8AC3E}">
        <p14:creationId xmlns:p14="http://schemas.microsoft.com/office/powerpoint/2010/main" val="8932592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6</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32" name="Rectangle 3"/>
          <p:cNvSpPr>
            <a:spLocks noRot="1" noChangeArrowheads="1"/>
          </p:cNvSpPr>
          <p:nvPr/>
        </p:nvSpPr>
        <p:spPr bwMode="auto">
          <a:xfrm>
            <a:off x="1665089" y="1428520"/>
            <a:ext cx="4651603" cy="4751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170000"/>
              </a:lnSpc>
              <a:buFont typeface="Arial" pitchFamily="34" charset="0"/>
              <a:buChar char="•"/>
            </a:pPr>
            <a:r>
              <a:rPr lang="zh-CN" altLang="en-US" sz="2600" b="1" dirty="0">
                <a:latin typeface="宋体" panose="02010600030101010101" pitchFamily="2" charset="-122"/>
                <a:ea typeface="宋体" panose="02010600030101010101" pitchFamily="2" charset="-122"/>
              </a:rPr>
              <a:t>压电效应</a:t>
            </a:r>
          </a:p>
          <a:p>
            <a:pPr indent="715963">
              <a:lnSpc>
                <a:spcPct val="170000"/>
              </a:lnSpc>
            </a:pPr>
            <a:r>
              <a:rPr lang="zh-CN" altLang="en-US" sz="2600" b="1">
                <a:latin typeface="宋体" panose="02010600030101010101" pitchFamily="2" charset="-122"/>
                <a:ea typeface="宋体" panose="02010600030101010101" pitchFamily="2" charset="-122"/>
              </a:rPr>
              <a:t>压</a:t>
            </a:r>
            <a:r>
              <a:rPr lang="zh-CN" altLang="en-US" sz="2600" b="1" dirty="0">
                <a:latin typeface="宋体" panose="02010600030101010101" pitchFamily="2" charset="-122"/>
                <a:ea typeface="宋体" panose="02010600030101010101" pitchFamily="2" charset="-122"/>
              </a:rPr>
              <a:t>电陶瓷的压电效应</a:t>
            </a:r>
          </a:p>
          <a:p>
            <a:pPr marL="457200" indent="-457200">
              <a:lnSpc>
                <a:spcPct val="170000"/>
              </a:lnSpc>
              <a:buFont typeface="Arial" pitchFamily="34" charset="0"/>
              <a:buChar char="•"/>
            </a:pPr>
            <a:r>
              <a:rPr lang="zh-CN" altLang="en-US" sz="2600" b="1">
                <a:latin typeface="宋体" panose="02010600030101010101" pitchFamily="2" charset="-122"/>
                <a:ea typeface="宋体" panose="02010600030101010101" pitchFamily="2" charset="-122"/>
              </a:rPr>
              <a:t>等</a:t>
            </a:r>
            <a:r>
              <a:rPr lang="zh-CN" altLang="en-US" sz="2600" b="1" dirty="0">
                <a:latin typeface="宋体" panose="02010600030101010101" pitchFamily="2" charset="-122"/>
                <a:ea typeface="宋体" panose="02010600030101010101" pitchFamily="2" charset="-122"/>
              </a:rPr>
              <a:t>效电路</a:t>
            </a:r>
          </a:p>
          <a:p>
            <a:pPr marL="457200" indent="-457200">
              <a:lnSpc>
                <a:spcPct val="170000"/>
              </a:lnSpc>
              <a:buFont typeface="Arial" pitchFamily="34" charset="0"/>
              <a:buChar char="•"/>
            </a:pPr>
            <a:r>
              <a:rPr lang="zh-CN" altLang="en-US" sz="2600" b="1" dirty="0">
                <a:latin typeface="宋体" panose="02010600030101010101" pitchFamily="2" charset="-122"/>
                <a:ea typeface="宋体" panose="02010600030101010101" pitchFamily="2" charset="-122"/>
              </a:rPr>
              <a:t>测量电路</a:t>
            </a:r>
            <a:endParaRPr lang="en-US" altLang="zh-CN" sz="2600" b="1" dirty="0">
              <a:latin typeface="宋体" panose="02010600030101010101" pitchFamily="2" charset="-122"/>
              <a:ea typeface="宋体" panose="02010600030101010101" pitchFamily="2" charset="-122"/>
            </a:endParaRPr>
          </a:p>
          <a:p>
            <a:pPr marL="457200" indent="-457200">
              <a:lnSpc>
                <a:spcPct val="170000"/>
              </a:lnSpc>
              <a:buFont typeface="Arial" pitchFamily="34" charset="0"/>
              <a:buChar char="•"/>
            </a:pPr>
            <a:r>
              <a:rPr lang="zh-CN" altLang="en-US" sz="2600" b="1" dirty="0">
                <a:latin typeface="宋体" panose="02010600030101010101" pitchFamily="2" charset="-122"/>
                <a:ea typeface="宋体" panose="02010600030101010101" pitchFamily="2" charset="-122"/>
              </a:rPr>
              <a:t>应用</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7FFDFA56-5BC9-45F8-9FFB-EBD238B39322}"/>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sp>
        <p:nvSpPr>
          <p:cNvPr id="3" name="文本框 2">
            <a:extLst>
              <a:ext uri="{FF2B5EF4-FFF2-40B4-BE49-F238E27FC236}">
                <a16:creationId xmlns:a16="http://schemas.microsoft.com/office/drawing/2014/main" id="{598BA5D2-EE56-47D6-9309-3F9DDAA251A0}"/>
              </a:ext>
            </a:extLst>
          </p:cNvPr>
          <p:cNvSpPr txBox="1"/>
          <p:nvPr/>
        </p:nvSpPr>
        <p:spPr>
          <a:xfrm>
            <a:off x="1604444" y="5314280"/>
            <a:ext cx="4772891" cy="620462"/>
          </a:xfrm>
          <a:prstGeom prst="rect">
            <a:avLst/>
          </a:prstGeom>
          <a:noFill/>
        </p:spPr>
        <p:txBody>
          <a:bodyPr wrap="square" rtlCol="0">
            <a:noAutofit/>
          </a:bodyPr>
          <a:lstStyle/>
          <a:p>
            <a:pPr algn="l">
              <a:lnSpc>
                <a:spcPct val="130000"/>
              </a:lnSpc>
              <a:spcBef>
                <a:spcPts val="600"/>
              </a:spcBef>
            </a:pPr>
            <a:r>
              <a:rPr lang="zh-CN" altLang="en-US" sz="2400" b="1" dirty="0">
                <a:highlight>
                  <a:srgbClr val="FFFF00"/>
                </a:highlight>
                <a:latin typeface="宋体" panose="02010600030101010101" pitchFamily="2" charset="-122"/>
                <a:ea typeface="宋体" panose="02010600030101010101" pitchFamily="2" charset="-122"/>
              </a:rPr>
              <a:t>作业：</a:t>
            </a:r>
            <a:r>
              <a:rPr lang="en-US" altLang="zh-CN" sz="2400" b="1" dirty="0">
                <a:highlight>
                  <a:srgbClr val="FFFF00"/>
                </a:highlight>
                <a:latin typeface="宋体" panose="02010600030101010101" pitchFamily="2" charset="-122"/>
                <a:ea typeface="宋体" panose="02010600030101010101" pitchFamily="2" charset="-122"/>
              </a:rPr>
              <a:t>6.2</a:t>
            </a:r>
            <a:endParaRPr lang="zh-CN" altLang="en-US" sz="2400" b="1" dirty="0">
              <a:highlight>
                <a:srgbClr val="FFFF00"/>
              </a:highlight>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7465260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lnSpc>
            <a:spcPct val="130000"/>
          </a:lnSpc>
          <a:spcBef>
            <a:spcPts val="600"/>
          </a:spcBef>
          <a:defRPr sz="2400" smtClean="0">
            <a:latin typeface="宋体" panose="02010600030101010101" pitchFamily="2" charset="-122"/>
            <a:ea typeface="宋体" panose="02010600030101010101" pitchFamily="2"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1111</TotalTime>
  <Words>3611</Words>
  <Application>Microsoft Office PowerPoint</Application>
  <PresentationFormat>全屏显示(4:3)</PresentationFormat>
  <Paragraphs>408</Paragraphs>
  <Slides>47</Slides>
  <Notes>39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47</vt:i4>
      </vt:variant>
    </vt:vector>
  </HeadingPairs>
  <TitlesOfParts>
    <vt:vector size="59" baseType="lpstr">
      <vt:lpstr>等线</vt:lpstr>
      <vt:lpstr>等线 Light</vt:lpstr>
      <vt:lpstr>宋体</vt:lpstr>
      <vt:lpstr>微软雅黑</vt:lpstr>
      <vt:lpstr>Arial</vt:lpstr>
      <vt:lpstr>Cambria Math</vt:lpstr>
      <vt:lpstr>Symbol</vt:lpstr>
      <vt:lpstr>Times New Roman</vt:lpstr>
      <vt:lpstr>Wingdings</vt:lpstr>
      <vt:lpstr>Office 主题​​</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nyu</dc:creator>
  <cp:lastModifiedBy>GE FANG</cp:lastModifiedBy>
  <cp:revision>136</cp:revision>
  <dcterms:created xsi:type="dcterms:W3CDTF">2020-09-26T11:04:00Z</dcterms:created>
  <dcterms:modified xsi:type="dcterms:W3CDTF">2026-04-22T11:55:28Z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