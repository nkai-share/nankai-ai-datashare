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 id="2147483660" r:id="rId2"/>
  </p:sldMasterIdLst>
  <p:notesMasterIdLst>
    <p:notesMasterId r:id="rId24"/>
  </p:notesMasterIdLst>
  <p:sldIdLst>
    <p:sldId id="259" r:id="rId3"/>
    <p:sldId id="293" r:id="rId4"/>
    <p:sldId id="284" r:id="rId5"/>
    <p:sldId id="292" r:id="rId6"/>
    <p:sldId id="393" r:id="rId7"/>
    <p:sldId id="283" r:id="rId8"/>
    <p:sldId id="289" r:id="rId9"/>
    <p:sldId id="290" r:id="rId10"/>
    <p:sldId id="291" r:id="rId11"/>
    <p:sldId id="262" r:id="rId12"/>
    <p:sldId id="258" r:id="rId13"/>
    <p:sldId id="287" r:id="rId14"/>
    <p:sldId id="286" r:id="rId15"/>
    <p:sldId id="263" r:id="rId16"/>
    <p:sldId id="264" r:id="rId17"/>
    <p:sldId id="275" r:id="rId18"/>
    <p:sldId id="276" r:id="rId19"/>
    <p:sldId id="277" r:id="rId20"/>
    <p:sldId id="278" r:id="rId21"/>
    <p:sldId id="279" r:id="rId22"/>
    <p:sldId id="280" r:id="rId23"/>
  </p:sldIdLst>
  <p:sldSz cx="9144000" cy="6858000" type="screen4x3"/>
  <p:notesSz cx="6858000" cy="9144000"/>
  <p:defaultTextStyle>
    <a:defPPr>
      <a:defRPr lang="zh-CN"/>
    </a:defPPr>
    <a:lvl1pPr marL="0" algn="l" defTabSz="685800" rtl="0" eaLnBrk="1" latinLnBrk="0" hangingPunct="1">
      <a:defRPr sz="1400" kern="1200">
        <a:solidFill>
          <a:schemeClr val="tx1"/>
        </a:solidFill>
        <a:latin typeface="+mn-lt"/>
        <a:ea typeface="+mn-ea"/>
        <a:cs typeface="+mn-cs"/>
      </a:defRPr>
    </a:lvl1pPr>
    <a:lvl2pPr marL="342900" algn="l" defTabSz="685800" rtl="0" eaLnBrk="1" latinLnBrk="0" hangingPunct="1">
      <a:defRPr sz="1400" kern="1200">
        <a:solidFill>
          <a:schemeClr val="tx1"/>
        </a:solidFill>
        <a:latin typeface="+mn-lt"/>
        <a:ea typeface="+mn-ea"/>
        <a:cs typeface="+mn-cs"/>
      </a:defRPr>
    </a:lvl2pPr>
    <a:lvl3pPr marL="685800" algn="l" defTabSz="685800" rtl="0" eaLnBrk="1" latinLnBrk="0" hangingPunct="1">
      <a:defRPr sz="1400" kern="1200">
        <a:solidFill>
          <a:schemeClr val="tx1"/>
        </a:solidFill>
        <a:latin typeface="+mn-lt"/>
        <a:ea typeface="+mn-ea"/>
        <a:cs typeface="+mn-cs"/>
      </a:defRPr>
    </a:lvl3pPr>
    <a:lvl4pPr marL="1028700" algn="l" defTabSz="685800" rtl="0" eaLnBrk="1" latinLnBrk="0" hangingPunct="1">
      <a:defRPr sz="1400" kern="1200">
        <a:solidFill>
          <a:schemeClr val="tx1"/>
        </a:solidFill>
        <a:latin typeface="+mn-lt"/>
        <a:ea typeface="+mn-ea"/>
        <a:cs typeface="+mn-cs"/>
      </a:defRPr>
    </a:lvl4pPr>
    <a:lvl5pPr marL="1371600" algn="l" defTabSz="685800" rtl="0" eaLnBrk="1" latinLnBrk="0" hangingPunct="1">
      <a:defRPr sz="1400" kern="1200">
        <a:solidFill>
          <a:schemeClr val="tx1"/>
        </a:solidFill>
        <a:latin typeface="+mn-lt"/>
        <a:ea typeface="+mn-ea"/>
        <a:cs typeface="+mn-cs"/>
      </a:defRPr>
    </a:lvl5pPr>
    <a:lvl6pPr marL="1714500" algn="l" defTabSz="685800" rtl="0" eaLnBrk="1" latinLnBrk="0" hangingPunct="1">
      <a:defRPr sz="1400" kern="1200">
        <a:solidFill>
          <a:schemeClr val="tx1"/>
        </a:solidFill>
        <a:latin typeface="+mn-lt"/>
        <a:ea typeface="+mn-ea"/>
        <a:cs typeface="+mn-cs"/>
      </a:defRPr>
    </a:lvl6pPr>
    <a:lvl7pPr marL="2057400" algn="l" defTabSz="685800" rtl="0" eaLnBrk="1" latinLnBrk="0" hangingPunct="1">
      <a:defRPr sz="1400" kern="1200">
        <a:solidFill>
          <a:schemeClr val="tx1"/>
        </a:solidFill>
        <a:latin typeface="+mn-lt"/>
        <a:ea typeface="+mn-ea"/>
        <a:cs typeface="+mn-cs"/>
      </a:defRPr>
    </a:lvl7pPr>
    <a:lvl8pPr marL="2400300" algn="l" defTabSz="685800" rtl="0" eaLnBrk="1" latinLnBrk="0" hangingPunct="1">
      <a:defRPr sz="1400" kern="1200">
        <a:solidFill>
          <a:schemeClr val="tx1"/>
        </a:solidFill>
        <a:latin typeface="+mn-lt"/>
        <a:ea typeface="+mn-ea"/>
        <a:cs typeface="+mn-cs"/>
      </a:defRPr>
    </a:lvl8pPr>
    <a:lvl9pPr marL="2743200" algn="l" defTabSz="685800" rtl="0" eaLnBrk="1" latinLnBrk="0" hangingPunct="1">
      <a:defRPr sz="1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33CC"/>
    <a:srgbClr val="CC3300"/>
    <a:srgbClr val="FF9900"/>
    <a:srgbClr val="FFFF00"/>
    <a:srgbClr val="FF00FF"/>
    <a:srgbClr val="954F7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7892" autoAdjust="0"/>
    <p:restoredTop sz="94660"/>
  </p:normalViewPr>
  <p:slideViewPr>
    <p:cSldViewPr snapToGrid="0">
      <p:cViewPr varScale="1">
        <p:scale>
          <a:sx n="47" d="100"/>
          <a:sy n="47" d="100"/>
        </p:scale>
        <p:origin x="54" y="210"/>
      </p:cViewPr>
      <p:guideLst>
        <p:guide orient="horz" pos="2160"/>
        <p:guide pos="2880"/>
      </p:guideLst>
    </p:cSldViewPr>
  </p:slideViewPr>
  <p:notesTextViewPr>
    <p:cViewPr>
      <p:scale>
        <a:sx n="1" d="1"/>
        <a:sy n="1" d="1"/>
      </p:scale>
      <p:origin x="0" y="0"/>
    </p:cViewPr>
  </p:notesTextViewPr>
  <p:gridSpacing cx="72000" cy="720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viewProps" Target="view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04BFE69-A663-48FE-847E-961ADB1B89B2}" type="datetimeFigureOut">
              <a:rPr lang="zh-CN" altLang="en-US" smtClean="0"/>
              <a:t>2026/3/9</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48BAB27-5BFC-45E6-A928-A1804196FCF3}" type="slidenum">
              <a:rPr lang="zh-CN" altLang="en-US" smtClean="0"/>
              <a:t>‹#›</a:t>
            </a:fld>
            <a:endParaRPr lang="zh-CN" altLang="en-US"/>
          </a:p>
        </p:txBody>
      </p:sp>
    </p:spTree>
    <p:extLst>
      <p:ext uri="{BB962C8B-B14F-4D97-AF65-F5344CB8AC3E}">
        <p14:creationId xmlns:p14="http://schemas.microsoft.com/office/powerpoint/2010/main" val="2847421546"/>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5</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10</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12</a:t>
            </a:fld>
            <a:endParaRPr lang="zh-CN" altLang="en-US"/>
          </a:p>
        </p:txBody>
      </p:sp>
    </p:spTree>
    <p:extLst>
      <p:ext uri="{BB962C8B-B14F-4D97-AF65-F5344CB8AC3E}">
        <p14:creationId xmlns:p14="http://schemas.microsoft.com/office/powerpoint/2010/main" val="41110970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13</a:t>
            </a:fld>
            <a:endParaRPr lang="zh-CN" altLang="en-US"/>
          </a:p>
        </p:txBody>
      </p:sp>
    </p:spTree>
    <p:extLst>
      <p:ext uri="{BB962C8B-B14F-4D97-AF65-F5344CB8AC3E}">
        <p14:creationId xmlns:p14="http://schemas.microsoft.com/office/powerpoint/2010/main" val="36233217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14</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15</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16</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17</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18</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19</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20</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21</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r>
              <a:rPr lang="zh-CN" altLang="en-US"/>
              <a:t>单击此处编辑母版标题样式</a:t>
            </a:r>
          </a:p>
        </p:txBody>
      </p:sp>
      <p:sp>
        <p:nvSpPr>
          <p:cNvPr id="3" name="副标题 2"/>
          <p:cNvSpPr>
            <a:spLocks noGrp="1"/>
          </p:cNvSpPr>
          <p:nvPr>
            <p:ph type="subTitle" idx="1"/>
          </p:nvPr>
        </p:nvSpPr>
        <p:spPr>
          <a:xfrm>
            <a:off x="1143000" y="3602037"/>
            <a:ext cx="6858000" cy="1655763"/>
          </a:xfrm>
        </p:spPr>
        <p:txBody>
          <a:bodyPr/>
          <a:lstStyle>
            <a:lvl1pPr marL="0" indent="0" algn="ctr">
              <a:buNone/>
              <a:defRPr sz="1800"/>
            </a:lvl1pPr>
            <a:lvl2pPr marL="342900" indent="0" algn="ctr">
              <a:buNone/>
              <a:defRPr sz="1500"/>
            </a:lvl2pPr>
            <a:lvl3pPr marL="685800" indent="0" algn="ctr">
              <a:buNone/>
              <a:defRPr sz="140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B54608CC-E318-43E3-B604-D0B541F3003D}" type="datetime1">
              <a:rPr lang="zh-CN" altLang="en-US" smtClean="0"/>
              <a:t>2026/3/9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53602B4-F12B-41CD-B648-531F86B2CC91}"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212F1B8F-5BFE-4178-8E87-070C545A3F21}" type="datetime1">
              <a:rPr lang="zh-CN" altLang="en-US" smtClean="0"/>
              <a:t>2026/3/9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53602B4-F12B-41CD-B648-531F86B2CC91}"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40"/>
            <a:ext cx="7886700" cy="2852737"/>
          </a:xfrm>
        </p:spPr>
        <p:txBody>
          <a:bodyPr anchor="b"/>
          <a:lstStyle>
            <a:lvl1pPr>
              <a:defRPr sz="4500"/>
            </a:lvl1pPr>
          </a:lstStyle>
          <a:p>
            <a:r>
              <a:rPr lang="zh-CN" altLang="en-US"/>
              <a:t>单击此处编辑母版标题样式</a:t>
            </a:r>
          </a:p>
        </p:txBody>
      </p:sp>
      <p:sp>
        <p:nvSpPr>
          <p:cNvPr id="3" name="文本占位符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40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5F3E6CE5-4818-49B0-A4A1-C98A5020A436}" type="datetime1">
              <a:rPr lang="zh-CN" altLang="en-US" smtClean="0"/>
              <a:t>2026/3/9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53602B4-F12B-41CD-B648-531F86B2CC91}"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28650" y="1825625"/>
            <a:ext cx="3886200" cy="4351339"/>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4629150" y="1825625"/>
            <a:ext cx="3886200" cy="4351339"/>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19B63E40-BF15-4BED-9ED9-30A98EEFFA50}" type="datetime1">
              <a:rPr lang="zh-CN" altLang="en-US" smtClean="0"/>
              <a:t>2026/3/9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53602B4-F12B-41CD-B648-531F86B2CC91}"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40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4" name="内容占位符 3"/>
          <p:cNvSpPr>
            <a:spLocks noGrp="1"/>
          </p:cNvSpPr>
          <p:nvPr>
            <p:ph sz="half" idx="2"/>
          </p:nvPr>
        </p:nvSpPr>
        <p:spPr>
          <a:xfrm>
            <a:off x="629842" y="2505075"/>
            <a:ext cx="3868340"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4629151" y="1681163"/>
            <a:ext cx="3887391" cy="823912"/>
          </a:xfrm>
        </p:spPr>
        <p:txBody>
          <a:bodyPr anchor="b"/>
          <a:lstStyle>
            <a:lvl1pPr marL="0" indent="0">
              <a:buNone/>
              <a:defRPr sz="1800" b="1"/>
            </a:lvl1pPr>
            <a:lvl2pPr marL="342900" indent="0">
              <a:buNone/>
              <a:defRPr sz="1500" b="1"/>
            </a:lvl2pPr>
            <a:lvl3pPr marL="685800" indent="0">
              <a:buNone/>
              <a:defRPr sz="140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6" name="内容占位符 5"/>
          <p:cNvSpPr>
            <a:spLocks noGrp="1"/>
          </p:cNvSpPr>
          <p:nvPr>
            <p:ph sz="quarter" idx="4"/>
          </p:nvPr>
        </p:nvSpPr>
        <p:spPr>
          <a:xfrm>
            <a:off x="4629151" y="2505075"/>
            <a:ext cx="3887391"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505472E8-E2B6-4624-9F35-775EC38B6B5D}" type="datetime1">
              <a:rPr lang="zh-CN" altLang="en-US" smtClean="0"/>
              <a:t>2026/3/9</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B53602B4-F12B-41CD-B648-531F86B2CC91}"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FE332861-D4A3-43EB-A009-DA37BFE10DF6}" type="datetime1">
              <a:rPr lang="zh-CN" altLang="en-US" smtClean="0"/>
              <a:t>2026/3/9</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B53602B4-F12B-41CD-B648-531F86B2CC91}"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349D3F57-CD73-4256-BD00-E052CAF44D7E}" type="datetime1">
              <a:rPr lang="zh-CN" altLang="en-US" smtClean="0"/>
              <a:t>2026/3/9</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B53602B4-F12B-41CD-B648-531F86B2CC91}"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a:t>单击此处编辑母版标题样式</a:t>
            </a:r>
          </a:p>
        </p:txBody>
      </p:sp>
      <p:sp>
        <p:nvSpPr>
          <p:cNvPr id="3" name="内容占位符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629841" y="2057401"/>
            <a:ext cx="2949178" cy="3811588"/>
          </a:xfrm>
        </p:spPr>
        <p:txBody>
          <a:bodyPr/>
          <a:lstStyle>
            <a:lvl1pPr marL="0" indent="0">
              <a:buNone/>
              <a:defRPr sz="1200"/>
            </a:lvl1pPr>
            <a:lvl2pPr marL="342900" indent="0">
              <a:buNone/>
              <a:defRPr sz="1100"/>
            </a:lvl2pPr>
            <a:lvl3pPr marL="685800" indent="0">
              <a:buNone/>
              <a:defRPr sz="900"/>
            </a:lvl3pPr>
            <a:lvl4pPr marL="1028700" indent="0">
              <a:buNone/>
              <a:defRPr sz="800"/>
            </a:lvl4pPr>
            <a:lvl5pPr marL="1371600" indent="0">
              <a:buNone/>
              <a:defRPr sz="800"/>
            </a:lvl5pPr>
            <a:lvl6pPr marL="1714500" indent="0">
              <a:buNone/>
              <a:defRPr sz="800"/>
            </a:lvl6pPr>
            <a:lvl7pPr marL="2057400" indent="0">
              <a:buNone/>
              <a:defRPr sz="800"/>
            </a:lvl7pPr>
            <a:lvl8pPr marL="2400300" indent="0">
              <a:buNone/>
              <a:defRPr sz="800"/>
            </a:lvl8pPr>
            <a:lvl9pPr marL="2743200" indent="0">
              <a:buNone/>
              <a:defRPr sz="8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09D56F7A-7EC5-4447-9A35-0FBF204CD67C}" type="datetime1">
              <a:rPr lang="zh-CN" altLang="en-US" smtClean="0"/>
              <a:t>2026/3/9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53602B4-F12B-41CD-B648-531F86B2CC91}"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a:t>单击此处编辑母版标题样式</a:t>
            </a:r>
          </a:p>
        </p:txBody>
      </p:sp>
      <p:sp>
        <p:nvSpPr>
          <p:cNvPr id="3" name="图片占位符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文本占位符 3"/>
          <p:cNvSpPr>
            <a:spLocks noGrp="1"/>
          </p:cNvSpPr>
          <p:nvPr>
            <p:ph type="body" sz="half" idx="2"/>
          </p:nvPr>
        </p:nvSpPr>
        <p:spPr>
          <a:xfrm>
            <a:off x="629841" y="2057401"/>
            <a:ext cx="2949178" cy="3811588"/>
          </a:xfrm>
        </p:spPr>
        <p:txBody>
          <a:bodyPr/>
          <a:lstStyle>
            <a:lvl1pPr marL="0" indent="0">
              <a:buNone/>
              <a:defRPr sz="1200"/>
            </a:lvl1pPr>
            <a:lvl2pPr marL="342900" indent="0">
              <a:buNone/>
              <a:defRPr sz="1100"/>
            </a:lvl2pPr>
            <a:lvl3pPr marL="685800" indent="0">
              <a:buNone/>
              <a:defRPr sz="900"/>
            </a:lvl3pPr>
            <a:lvl4pPr marL="1028700" indent="0">
              <a:buNone/>
              <a:defRPr sz="800"/>
            </a:lvl4pPr>
            <a:lvl5pPr marL="1371600" indent="0">
              <a:buNone/>
              <a:defRPr sz="800"/>
            </a:lvl5pPr>
            <a:lvl6pPr marL="1714500" indent="0">
              <a:buNone/>
              <a:defRPr sz="800"/>
            </a:lvl6pPr>
            <a:lvl7pPr marL="2057400" indent="0">
              <a:buNone/>
              <a:defRPr sz="800"/>
            </a:lvl7pPr>
            <a:lvl8pPr marL="2400300" indent="0">
              <a:buNone/>
              <a:defRPr sz="800"/>
            </a:lvl8pPr>
            <a:lvl9pPr marL="2743200" indent="0">
              <a:buNone/>
              <a:defRPr sz="8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28F8767B-908F-4CB0-8762-DCDC537B427A}" type="datetime1">
              <a:rPr lang="zh-CN" altLang="en-US" smtClean="0"/>
              <a:t>2026/3/9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53602B4-F12B-41CD-B648-531F86B2CC91}"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94448CC7-8FEB-4BDA-A0BA-6C95BE8607A3}" type="datetime1">
              <a:rPr lang="zh-CN" altLang="en-US" smtClean="0"/>
              <a:t>2026/3/9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53602B4-F12B-41CD-B648-531F86B2CC91}"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6" y="365126"/>
            <a:ext cx="1971675" cy="5811839"/>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28651" y="365126"/>
            <a:ext cx="5800725" cy="5811839"/>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58A4789C-8D67-4A46-A43A-EE8BC3D3A771}" type="datetime1">
              <a:rPr lang="zh-CN" altLang="en-US" smtClean="0"/>
              <a:t>2026/3/9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53602B4-F12B-41CD-B648-531F86B2CC91}"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r>
              <a:rPr lang="zh-CN" altLang="en-US"/>
              <a:t>单击此处编辑母版标题样式</a:t>
            </a:r>
          </a:p>
        </p:txBody>
      </p:sp>
      <p:sp>
        <p:nvSpPr>
          <p:cNvPr id="3" name="副标题 2"/>
          <p:cNvSpPr>
            <a:spLocks noGrp="1"/>
          </p:cNvSpPr>
          <p:nvPr>
            <p:ph type="subTitle" idx="1"/>
          </p:nvPr>
        </p:nvSpPr>
        <p:spPr>
          <a:xfrm>
            <a:off x="1143000" y="3602037"/>
            <a:ext cx="6858000" cy="1655763"/>
          </a:xfrm>
        </p:spPr>
        <p:txBody>
          <a:bodyPr/>
          <a:lstStyle>
            <a:lvl1pPr marL="0" indent="0" algn="ctr">
              <a:buNone/>
              <a:defRPr sz="1800"/>
            </a:lvl1pPr>
            <a:lvl2pPr marL="342900" indent="0" algn="ctr">
              <a:buNone/>
              <a:defRPr sz="1500"/>
            </a:lvl2pPr>
            <a:lvl3pPr marL="685800" indent="0" algn="ctr">
              <a:buNone/>
              <a:defRPr sz="140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57C01793-0EF6-4DFF-BB4E-60FBB332A942}" type="datetime1">
              <a:rPr lang="zh-CN" altLang="en-US" smtClean="0"/>
              <a:t>2026/3/9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53602B4-F12B-41CD-B648-531F86B2CC91}" type="slidenum">
              <a:rPr lang="zh-CN" altLang="en-US" smtClean="0"/>
              <a:t>‹#›</a:t>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FFD14D63-971B-4C69-A9EA-A6F92B84B8F1}" type="datetime1">
              <a:rPr lang="zh-CN" altLang="en-US" smtClean="0"/>
              <a:t>2026/3/9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53602B4-F12B-41CD-B648-531F86B2CC91}" type="slidenum">
              <a:rPr lang="zh-CN" altLang="en-US" smtClean="0"/>
              <a:t>‹#›</a:t>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40"/>
            <a:ext cx="7886700" cy="2852737"/>
          </a:xfrm>
        </p:spPr>
        <p:txBody>
          <a:bodyPr anchor="b"/>
          <a:lstStyle>
            <a:lvl1pPr>
              <a:defRPr sz="4500"/>
            </a:lvl1pPr>
          </a:lstStyle>
          <a:p>
            <a:r>
              <a:rPr lang="zh-CN" altLang="en-US"/>
              <a:t>单击此处编辑母版标题样式</a:t>
            </a:r>
          </a:p>
        </p:txBody>
      </p:sp>
      <p:sp>
        <p:nvSpPr>
          <p:cNvPr id="3" name="文本占位符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40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B41FA627-AE22-45DC-B370-566327BFA45D}" type="datetime1">
              <a:rPr lang="zh-CN" altLang="en-US" smtClean="0"/>
              <a:t>2026/3/9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53602B4-F12B-41CD-B648-531F86B2CC91}" type="slidenum">
              <a:rPr lang="zh-CN" altLang="en-US" smtClean="0"/>
              <a:t>‹#›</a:t>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28650" y="1825625"/>
            <a:ext cx="3886200" cy="4351339"/>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4629150" y="1825625"/>
            <a:ext cx="3886200" cy="4351339"/>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B16E7F44-9398-4C9E-B3C3-686DA1F644D2}" type="datetime1">
              <a:rPr lang="zh-CN" altLang="en-US" smtClean="0"/>
              <a:t>2026/3/9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53602B4-F12B-41CD-B648-531F86B2CC91}" type="slidenum">
              <a:rPr lang="zh-CN" altLang="en-US" smtClean="0"/>
              <a:t>‹#›</a:t>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40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4" name="内容占位符 3"/>
          <p:cNvSpPr>
            <a:spLocks noGrp="1"/>
          </p:cNvSpPr>
          <p:nvPr>
            <p:ph sz="half" idx="2"/>
          </p:nvPr>
        </p:nvSpPr>
        <p:spPr>
          <a:xfrm>
            <a:off x="629842" y="2505075"/>
            <a:ext cx="3868340"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4629151" y="1681163"/>
            <a:ext cx="3887391" cy="823912"/>
          </a:xfrm>
        </p:spPr>
        <p:txBody>
          <a:bodyPr anchor="b"/>
          <a:lstStyle>
            <a:lvl1pPr marL="0" indent="0">
              <a:buNone/>
              <a:defRPr sz="1800" b="1"/>
            </a:lvl1pPr>
            <a:lvl2pPr marL="342900" indent="0">
              <a:buNone/>
              <a:defRPr sz="1500" b="1"/>
            </a:lvl2pPr>
            <a:lvl3pPr marL="685800" indent="0">
              <a:buNone/>
              <a:defRPr sz="140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6" name="内容占位符 5"/>
          <p:cNvSpPr>
            <a:spLocks noGrp="1"/>
          </p:cNvSpPr>
          <p:nvPr>
            <p:ph sz="quarter" idx="4"/>
          </p:nvPr>
        </p:nvSpPr>
        <p:spPr>
          <a:xfrm>
            <a:off x="4629151" y="2505075"/>
            <a:ext cx="3887391"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B6307B97-DFC3-450B-B704-D9A6839E1671}" type="datetime1">
              <a:rPr lang="zh-CN" altLang="en-US" smtClean="0"/>
              <a:t>2026/3/9</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B53602B4-F12B-41CD-B648-531F86B2CC91}" type="slidenum">
              <a:rPr lang="zh-CN" altLang="en-US" smtClean="0"/>
              <a:t>‹#›</a:t>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150CA30F-C883-4186-B242-09E2680359A4}" type="datetime1">
              <a:rPr lang="zh-CN" altLang="en-US" smtClean="0"/>
              <a:t>2026/3/9</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B53602B4-F12B-41CD-B648-531F86B2CC91}" type="slidenum">
              <a:rPr lang="zh-CN" altLang="en-US" smtClean="0"/>
              <a:t>‹#›</a:t>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BC76324F-099B-4359-83E9-5F4DDDB56EE0}" type="datetime1">
              <a:rPr lang="zh-CN" altLang="en-US" smtClean="0"/>
              <a:t>2026/3/9</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B53602B4-F12B-41CD-B648-531F86B2CC91}" type="slidenum">
              <a:rPr lang="zh-CN" altLang="en-US" smtClean="0"/>
              <a:t>‹#›</a:t>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a:t>单击此处编辑母版标题样式</a:t>
            </a:r>
          </a:p>
        </p:txBody>
      </p:sp>
      <p:sp>
        <p:nvSpPr>
          <p:cNvPr id="3" name="内容占位符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629841" y="2057401"/>
            <a:ext cx="2949178" cy="3811588"/>
          </a:xfrm>
        </p:spPr>
        <p:txBody>
          <a:bodyPr/>
          <a:lstStyle>
            <a:lvl1pPr marL="0" indent="0">
              <a:buNone/>
              <a:defRPr sz="1200"/>
            </a:lvl1pPr>
            <a:lvl2pPr marL="342900" indent="0">
              <a:buNone/>
              <a:defRPr sz="1100"/>
            </a:lvl2pPr>
            <a:lvl3pPr marL="685800" indent="0">
              <a:buNone/>
              <a:defRPr sz="900"/>
            </a:lvl3pPr>
            <a:lvl4pPr marL="1028700" indent="0">
              <a:buNone/>
              <a:defRPr sz="800"/>
            </a:lvl4pPr>
            <a:lvl5pPr marL="1371600" indent="0">
              <a:buNone/>
              <a:defRPr sz="800"/>
            </a:lvl5pPr>
            <a:lvl6pPr marL="1714500" indent="0">
              <a:buNone/>
              <a:defRPr sz="800"/>
            </a:lvl6pPr>
            <a:lvl7pPr marL="2057400" indent="0">
              <a:buNone/>
              <a:defRPr sz="800"/>
            </a:lvl7pPr>
            <a:lvl8pPr marL="2400300" indent="0">
              <a:buNone/>
              <a:defRPr sz="800"/>
            </a:lvl8pPr>
            <a:lvl9pPr marL="2743200" indent="0">
              <a:buNone/>
              <a:defRPr sz="8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7827D81D-847E-4622-B759-EC58B4A0150C}" type="datetime1">
              <a:rPr lang="zh-CN" altLang="en-US" smtClean="0"/>
              <a:t>2026/3/9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53602B4-F12B-41CD-B648-531F86B2CC91}" type="slidenum">
              <a:rPr lang="zh-CN" altLang="en-US" smtClean="0"/>
              <a:t>‹#›</a:t>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a:t>单击此处编辑母版标题样式</a:t>
            </a:r>
          </a:p>
        </p:txBody>
      </p:sp>
      <p:sp>
        <p:nvSpPr>
          <p:cNvPr id="3" name="图片占位符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文本占位符 3"/>
          <p:cNvSpPr>
            <a:spLocks noGrp="1"/>
          </p:cNvSpPr>
          <p:nvPr>
            <p:ph type="body" sz="half" idx="2"/>
          </p:nvPr>
        </p:nvSpPr>
        <p:spPr>
          <a:xfrm>
            <a:off x="629841" y="2057401"/>
            <a:ext cx="2949178" cy="3811588"/>
          </a:xfrm>
        </p:spPr>
        <p:txBody>
          <a:bodyPr/>
          <a:lstStyle>
            <a:lvl1pPr marL="0" indent="0">
              <a:buNone/>
              <a:defRPr sz="1200"/>
            </a:lvl1pPr>
            <a:lvl2pPr marL="342900" indent="0">
              <a:buNone/>
              <a:defRPr sz="1100"/>
            </a:lvl2pPr>
            <a:lvl3pPr marL="685800" indent="0">
              <a:buNone/>
              <a:defRPr sz="900"/>
            </a:lvl3pPr>
            <a:lvl4pPr marL="1028700" indent="0">
              <a:buNone/>
              <a:defRPr sz="800"/>
            </a:lvl4pPr>
            <a:lvl5pPr marL="1371600" indent="0">
              <a:buNone/>
              <a:defRPr sz="800"/>
            </a:lvl5pPr>
            <a:lvl6pPr marL="1714500" indent="0">
              <a:buNone/>
              <a:defRPr sz="800"/>
            </a:lvl6pPr>
            <a:lvl7pPr marL="2057400" indent="0">
              <a:buNone/>
              <a:defRPr sz="800"/>
            </a:lvl7pPr>
            <a:lvl8pPr marL="2400300" indent="0">
              <a:buNone/>
              <a:defRPr sz="800"/>
            </a:lvl8pPr>
            <a:lvl9pPr marL="2743200" indent="0">
              <a:buNone/>
              <a:defRPr sz="8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86C909A6-A22E-4F4F-B8F6-D32BC0E93371}" type="datetime1">
              <a:rPr lang="zh-CN" altLang="en-US" smtClean="0"/>
              <a:t>2026/3/9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53602B4-F12B-41CD-B648-531F86B2CC91}" type="slidenum">
              <a:rPr lang="zh-CN" altLang="en-US" smtClean="0"/>
              <a:t>‹#›</a:t>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3285C593-6FF6-4F33-85C0-7F984B89951F}" type="datetime1">
              <a:rPr lang="zh-CN" altLang="en-US" smtClean="0"/>
              <a:t>2026/3/9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53602B4-F12B-41CD-B648-531F86B2CC91}" type="slidenum">
              <a:rPr lang="zh-CN" altLang="en-US" smtClean="0"/>
              <a:t>‹#›</a:t>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6" y="365126"/>
            <a:ext cx="1971675" cy="5811839"/>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28651" y="365126"/>
            <a:ext cx="5800725" cy="5811839"/>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5F2B9EF6-713C-49A7-BE71-2F896FF97070}" type="datetime1">
              <a:rPr lang="zh-CN" altLang="en-US" smtClean="0"/>
              <a:t>2026/3/9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53602B4-F12B-41CD-B648-531F86B2CC91}"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28650" y="365125"/>
            <a:ext cx="7886700" cy="1325563"/>
          </a:xfrm>
          <a:prstGeom prst="rect">
            <a:avLst/>
          </a:prstGeom>
        </p:spPr>
        <p:txBody>
          <a:bodyPr vert="horz" lIns="68580" tIns="34290" rIns="68580" bIns="34290" rtlCol="0" anchor="ctr">
            <a:normAutofit/>
          </a:bodyPr>
          <a:lstStyle/>
          <a:p>
            <a:r>
              <a:rPr lang="zh-CN" altLang="en-US"/>
              <a:t>单击此处编辑母版标题样式</a:t>
            </a:r>
          </a:p>
        </p:txBody>
      </p:sp>
      <p:sp>
        <p:nvSpPr>
          <p:cNvPr id="3" name="文本占位符 2"/>
          <p:cNvSpPr>
            <a:spLocks noGrp="1"/>
          </p:cNvSpPr>
          <p:nvPr>
            <p:ph type="body" idx="1"/>
          </p:nvPr>
        </p:nvSpPr>
        <p:spPr>
          <a:xfrm>
            <a:off x="628650" y="1825625"/>
            <a:ext cx="7886700" cy="4351339"/>
          </a:xfrm>
          <a:prstGeom prst="rect">
            <a:avLst/>
          </a:prstGeom>
        </p:spPr>
        <p:txBody>
          <a:bodyPr vert="horz" lIns="68580" tIns="34290" rIns="68580" bIns="3429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628650" y="6356351"/>
            <a:ext cx="2057400" cy="365125"/>
          </a:xfrm>
          <a:prstGeom prst="rect">
            <a:avLst/>
          </a:prstGeom>
        </p:spPr>
        <p:txBody>
          <a:bodyPr vert="horz" lIns="68580" tIns="34290" rIns="68580" bIns="34290" rtlCol="0" anchor="ctr"/>
          <a:lstStyle>
            <a:lvl1pPr algn="l">
              <a:defRPr sz="900">
                <a:solidFill>
                  <a:schemeClr val="tx1">
                    <a:tint val="75000"/>
                  </a:schemeClr>
                </a:solidFill>
              </a:defRPr>
            </a:lvl1pPr>
          </a:lstStyle>
          <a:p>
            <a:fld id="{CBB4D5D1-46C6-4D53-B576-CFA826558067}" type="datetime1">
              <a:rPr lang="zh-CN" altLang="en-US" smtClean="0"/>
              <a:t>2026/3/9</a:t>
            </a:fld>
            <a:endParaRPr lang="zh-CN" altLang="en-US"/>
          </a:p>
        </p:txBody>
      </p:sp>
      <p:sp>
        <p:nvSpPr>
          <p:cNvPr id="5" name="页脚占位符 4"/>
          <p:cNvSpPr>
            <a:spLocks noGrp="1"/>
          </p:cNvSpPr>
          <p:nvPr>
            <p:ph type="ftr" sz="quarter" idx="3"/>
          </p:nvPr>
        </p:nvSpPr>
        <p:spPr>
          <a:xfrm>
            <a:off x="3028950" y="6356351"/>
            <a:ext cx="3086100" cy="365125"/>
          </a:xfrm>
          <a:prstGeom prst="rect">
            <a:avLst/>
          </a:prstGeom>
        </p:spPr>
        <p:txBody>
          <a:bodyPr vert="horz" lIns="68580" tIns="34290" rIns="68580" bIns="34290" rtlCol="0" anchor="ctr"/>
          <a:lstStyle>
            <a:lvl1pPr algn="ctr">
              <a:defRPr sz="9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457950" y="6356351"/>
            <a:ext cx="2057400" cy="365125"/>
          </a:xfrm>
          <a:prstGeom prst="rect">
            <a:avLst/>
          </a:prstGeom>
        </p:spPr>
        <p:txBody>
          <a:bodyPr vert="horz" lIns="68580" tIns="34290" rIns="68580" bIns="34290" rtlCol="0" anchor="ctr"/>
          <a:lstStyle>
            <a:lvl1pPr algn="r">
              <a:defRPr sz="900">
                <a:solidFill>
                  <a:schemeClr val="tx1">
                    <a:tint val="75000"/>
                  </a:schemeClr>
                </a:solidFill>
                <a:latin typeface="Times New Roman" panose="02020603050405020304" pitchFamily="18" charset="0"/>
                <a:cs typeface="Times New Roman" panose="02020603050405020304" pitchFamily="18" charset="0"/>
              </a:defRPr>
            </a:lvl1pPr>
          </a:lstStyle>
          <a:p>
            <a:fld id="{B53602B4-F12B-41CD-B648-531F86B2CC91}"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9pPr>
    </p:bodyStyle>
    <p:otherStyle>
      <a:defPPr>
        <a:defRPr lang="zh-CN"/>
      </a:defPPr>
      <a:lvl1pPr marL="0" algn="l" defTabSz="685800" rtl="0" eaLnBrk="1" latinLnBrk="0" hangingPunct="1">
        <a:defRPr sz="1400" kern="1200">
          <a:solidFill>
            <a:schemeClr val="tx1"/>
          </a:solidFill>
          <a:latin typeface="+mn-lt"/>
          <a:ea typeface="+mn-ea"/>
          <a:cs typeface="+mn-cs"/>
        </a:defRPr>
      </a:lvl1pPr>
      <a:lvl2pPr marL="342900" algn="l" defTabSz="685800" rtl="0" eaLnBrk="1" latinLnBrk="0" hangingPunct="1">
        <a:defRPr sz="1400" kern="1200">
          <a:solidFill>
            <a:schemeClr val="tx1"/>
          </a:solidFill>
          <a:latin typeface="+mn-lt"/>
          <a:ea typeface="+mn-ea"/>
          <a:cs typeface="+mn-cs"/>
        </a:defRPr>
      </a:lvl2pPr>
      <a:lvl3pPr marL="685800" algn="l" defTabSz="685800" rtl="0" eaLnBrk="1" latinLnBrk="0" hangingPunct="1">
        <a:defRPr sz="1400" kern="1200">
          <a:solidFill>
            <a:schemeClr val="tx1"/>
          </a:solidFill>
          <a:latin typeface="+mn-lt"/>
          <a:ea typeface="+mn-ea"/>
          <a:cs typeface="+mn-cs"/>
        </a:defRPr>
      </a:lvl3pPr>
      <a:lvl4pPr marL="1028700" algn="l" defTabSz="685800" rtl="0" eaLnBrk="1" latinLnBrk="0" hangingPunct="1">
        <a:defRPr sz="1400" kern="1200">
          <a:solidFill>
            <a:schemeClr val="tx1"/>
          </a:solidFill>
          <a:latin typeface="+mn-lt"/>
          <a:ea typeface="+mn-ea"/>
          <a:cs typeface="+mn-cs"/>
        </a:defRPr>
      </a:lvl4pPr>
      <a:lvl5pPr marL="1371600" algn="l" defTabSz="685800" rtl="0" eaLnBrk="1" latinLnBrk="0" hangingPunct="1">
        <a:defRPr sz="1400" kern="1200">
          <a:solidFill>
            <a:schemeClr val="tx1"/>
          </a:solidFill>
          <a:latin typeface="+mn-lt"/>
          <a:ea typeface="+mn-ea"/>
          <a:cs typeface="+mn-cs"/>
        </a:defRPr>
      </a:lvl5pPr>
      <a:lvl6pPr marL="1714500" algn="l" defTabSz="685800" rtl="0" eaLnBrk="1" latinLnBrk="0" hangingPunct="1">
        <a:defRPr sz="1400" kern="1200">
          <a:solidFill>
            <a:schemeClr val="tx1"/>
          </a:solidFill>
          <a:latin typeface="+mn-lt"/>
          <a:ea typeface="+mn-ea"/>
          <a:cs typeface="+mn-cs"/>
        </a:defRPr>
      </a:lvl6pPr>
      <a:lvl7pPr marL="2057400" algn="l" defTabSz="685800" rtl="0" eaLnBrk="1" latinLnBrk="0" hangingPunct="1">
        <a:defRPr sz="1400" kern="1200">
          <a:solidFill>
            <a:schemeClr val="tx1"/>
          </a:solidFill>
          <a:latin typeface="+mn-lt"/>
          <a:ea typeface="+mn-ea"/>
          <a:cs typeface="+mn-cs"/>
        </a:defRPr>
      </a:lvl7pPr>
      <a:lvl8pPr marL="2400300" algn="l" defTabSz="685800" rtl="0" eaLnBrk="1" latinLnBrk="0" hangingPunct="1">
        <a:defRPr sz="1400" kern="1200">
          <a:solidFill>
            <a:schemeClr val="tx1"/>
          </a:solidFill>
          <a:latin typeface="+mn-lt"/>
          <a:ea typeface="+mn-ea"/>
          <a:cs typeface="+mn-cs"/>
        </a:defRPr>
      </a:lvl8pPr>
      <a:lvl9pPr marL="2743200" algn="l" defTabSz="685800" rtl="0" eaLnBrk="1" latinLnBrk="0" hangingPunct="1">
        <a:defRPr sz="14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28650" y="365125"/>
            <a:ext cx="7886700" cy="1325563"/>
          </a:xfrm>
          <a:prstGeom prst="rect">
            <a:avLst/>
          </a:prstGeom>
        </p:spPr>
        <p:txBody>
          <a:bodyPr vert="horz" lIns="68580" tIns="34290" rIns="68580" bIns="34290" rtlCol="0" anchor="ctr">
            <a:normAutofit/>
          </a:bodyPr>
          <a:lstStyle/>
          <a:p>
            <a:r>
              <a:rPr lang="zh-CN" altLang="en-US"/>
              <a:t>单击此处编辑母版标题样式</a:t>
            </a:r>
          </a:p>
        </p:txBody>
      </p:sp>
      <p:sp>
        <p:nvSpPr>
          <p:cNvPr id="3" name="文本占位符 2"/>
          <p:cNvSpPr>
            <a:spLocks noGrp="1"/>
          </p:cNvSpPr>
          <p:nvPr>
            <p:ph type="body" idx="1"/>
          </p:nvPr>
        </p:nvSpPr>
        <p:spPr>
          <a:xfrm>
            <a:off x="628650" y="1825625"/>
            <a:ext cx="7886700" cy="4351339"/>
          </a:xfrm>
          <a:prstGeom prst="rect">
            <a:avLst/>
          </a:prstGeom>
        </p:spPr>
        <p:txBody>
          <a:bodyPr vert="horz" lIns="68580" tIns="34290" rIns="68580" bIns="3429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628650" y="6356351"/>
            <a:ext cx="2057400" cy="365125"/>
          </a:xfrm>
          <a:prstGeom prst="rect">
            <a:avLst/>
          </a:prstGeom>
        </p:spPr>
        <p:txBody>
          <a:bodyPr vert="horz" lIns="68580" tIns="34290" rIns="68580" bIns="34290" rtlCol="0" anchor="ctr"/>
          <a:lstStyle>
            <a:lvl1pPr algn="l">
              <a:defRPr sz="900">
                <a:solidFill>
                  <a:schemeClr val="tx1">
                    <a:tint val="75000"/>
                  </a:schemeClr>
                </a:solidFill>
              </a:defRPr>
            </a:lvl1pPr>
          </a:lstStyle>
          <a:p>
            <a:fld id="{BC45CF26-7572-4E0B-80E2-01B8263B0A22}" type="datetime1">
              <a:rPr lang="zh-CN" altLang="en-US" smtClean="0"/>
              <a:t>2026/3/9</a:t>
            </a:fld>
            <a:endParaRPr lang="zh-CN" altLang="en-US"/>
          </a:p>
        </p:txBody>
      </p:sp>
      <p:sp>
        <p:nvSpPr>
          <p:cNvPr id="5" name="页脚占位符 4"/>
          <p:cNvSpPr>
            <a:spLocks noGrp="1"/>
          </p:cNvSpPr>
          <p:nvPr>
            <p:ph type="ftr" sz="quarter" idx="3"/>
          </p:nvPr>
        </p:nvSpPr>
        <p:spPr>
          <a:xfrm>
            <a:off x="3028950" y="6356351"/>
            <a:ext cx="3086100" cy="365125"/>
          </a:xfrm>
          <a:prstGeom prst="rect">
            <a:avLst/>
          </a:prstGeom>
        </p:spPr>
        <p:txBody>
          <a:bodyPr vert="horz" lIns="68580" tIns="34290" rIns="68580" bIns="34290" rtlCol="0" anchor="ctr"/>
          <a:lstStyle>
            <a:lvl1pPr algn="ctr">
              <a:defRPr sz="9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457950" y="6356351"/>
            <a:ext cx="2057400" cy="365125"/>
          </a:xfrm>
          <a:prstGeom prst="rect">
            <a:avLst/>
          </a:prstGeom>
        </p:spPr>
        <p:txBody>
          <a:bodyPr vert="horz" lIns="68580" tIns="34290" rIns="68580" bIns="34290" rtlCol="0" anchor="ctr"/>
          <a:lstStyle>
            <a:lvl1pPr algn="r">
              <a:defRPr sz="900">
                <a:solidFill>
                  <a:schemeClr val="tx1">
                    <a:tint val="75000"/>
                  </a:schemeClr>
                </a:solidFill>
              </a:defRPr>
            </a:lvl1pPr>
          </a:lstStyle>
          <a:p>
            <a:fld id="{B53602B4-F12B-41CD-B648-531F86B2CC91}"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9pPr>
    </p:bodyStyle>
    <p:otherStyle>
      <a:defPPr>
        <a:defRPr lang="zh-CN"/>
      </a:defPPr>
      <a:lvl1pPr marL="0" algn="l" defTabSz="685800" rtl="0" eaLnBrk="1" latinLnBrk="0" hangingPunct="1">
        <a:defRPr sz="1400" kern="1200">
          <a:solidFill>
            <a:schemeClr val="tx1"/>
          </a:solidFill>
          <a:latin typeface="+mn-lt"/>
          <a:ea typeface="+mn-ea"/>
          <a:cs typeface="+mn-cs"/>
        </a:defRPr>
      </a:lvl1pPr>
      <a:lvl2pPr marL="342900" algn="l" defTabSz="685800" rtl="0" eaLnBrk="1" latinLnBrk="0" hangingPunct="1">
        <a:defRPr sz="1400" kern="1200">
          <a:solidFill>
            <a:schemeClr val="tx1"/>
          </a:solidFill>
          <a:latin typeface="+mn-lt"/>
          <a:ea typeface="+mn-ea"/>
          <a:cs typeface="+mn-cs"/>
        </a:defRPr>
      </a:lvl2pPr>
      <a:lvl3pPr marL="685800" algn="l" defTabSz="685800" rtl="0" eaLnBrk="1" latinLnBrk="0" hangingPunct="1">
        <a:defRPr sz="1400" kern="1200">
          <a:solidFill>
            <a:schemeClr val="tx1"/>
          </a:solidFill>
          <a:latin typeface="+mn-lt"/>
          <a:ea typeface="+mn-ea"/>
          <a:cs typeface="+mn-cs"/>
        </a:defRPr>
      </a:lvl3pPr>
      <a:lvl4pPr marL="1028700" algn="l" defTabSz="685800" rtl="0" eaLnBrk="1" latinLnBrk="0" hangingPunct="1">
        <a:defRPr sz="1400" kern="1200">
          <a:solidFill>
            <a:schemeClr val="tx1"/>
          </a:solidFill>
          <a:latin typeface="+mn-lt"/>
          <a:ea typeface="+mn-ea"/>
          <a:cs typeface="+mn-cs"/>
        </a:defRPr>
      </a:lvl4pPr>
      <a:lvl5pPr marL="1371600" algn="l" defTabSz="685800" rtl="0" eaLnBrk="1" latinLnBrk="0" hangingPunct="1">
        <a:defRPr sz="1400" kern="1200">
          <a:solidFill>
            <a:schemeClr val="tx1"/>
          </a:solidFill>
          <a:latin typeface="+mn-lt"/>
          <a:ea typeface="+mn-ea"/>
          <a:cs typeface="+mn-cs"/>
        </a:defRPr>
      </a:lvl5pPr>
      <a:lvl6pPr marL="1714500" algn="l" defTabSz="685800" rtl="0" eaLnBrk="1" latinLnBrk="0" hangingPunct="1">
        <a:defRPr sz="1400" kern="1200">
          <a:solidFill>
            <a:schemeClr val="tx1"/>
          </a:solidFill>
          <a:latin typeface="+mn-lt"/>
          <a:ea typeface="+mn-ea"/>
          <a:cs typeface="+mn-cs"/>
        </a:defRPr>
      </a:lvl6pPr>
      <a:lvl7pPr marL="2057400" algn="l" defTabSz="685800" rtl="0" eaLnBrk="1" latinLnBrk="0" hangingPunct="1">
        <a:defRPr sz="1400" kern="1200">
          <a:solidFill>
            <a:schemeClr val="tx1"/>
          </a:solidFill>
          <a:latin typeface="+mn-lt"/>
          <a:ea typeface="+mn-ea"/>
          <a:cs typeface="+mn-cs"/>
        </a:defRPr>
      </a:lvl7pPr>
      <a:lvl8pPr marL="2400300" algn="l" defTabSz="685800" rtl="0" eaLnBrk="1" latinLnBrk="0" hangingPunct="1">
        <a:defRPr sz="1400" kern="1200">
          <a:solidFill>
            <a:schemeClr val="tx1"/>
          </a:solidFill>
          <a:latin typeface="+mn-lt"/>
          <a:ea typeface="+mn-ea"/>
          <a:cs typeface="+mn-cs"/>
        </a:defRPr>
      </a:lvl8pPr>
      <a:lvl9pPr marL="2743200" algn="l" defTabSz="685800" rtl="0" eaLnBrk="1" latinLnBrk="0" hangingPunct="1">
        <a:defRPr sz="1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hyperlink" Target="mailto:2120240518@mail.nankai.edu.cn"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8.tiff"/><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10.tiff"/><Relationship Id="rId4" Type="http://schemas.openxmlformats.org/officeDocument/2006/relationships/image" Target="../media/image9.tiff"/></Relationships>
</file>

<file path=ppt/slides/_rels/slide11.xml.rels><?xml version="1.0" encoding="UTF-8" standalone="yes"?>
<Relationships xmlns="http://schemas.openxmlformats.org/package/2006/relationships"><Relationship Id="rId8" Type="http://schemas.openxmlformats.org/officeDocument/2006/relationships/slide" Target="slide15.xml"/><Relationship Id="rId3" Type="http://schemas.openxmlformats.org/officeDocument/2006/relationships/slide" Target="slide11.xml"/><Relationship Id="rId7" Type="http://schemas.openxmlformats.org/officeDocument/2006/relationships/slide" Target="slide19.xml"/><Relationship Id="rId2" Type="http://schemas.openxmlformats.org/officeDocument/2006/relationships/slide" Target="slide12.xml"/><Relationship Id="rId1" Type="http://schemas.openxmlformats.org/officeDocument/2006/relationships/slideLayout" Target="../slideLayouts/slideLayout2.xml"/><Relationship Id="rId6" Type="http://schemas.openxmlformats.org/officeDocument/2006/relationships/slide" Target="slide14.xml"/><Relationship Id="rId5" Type="http://schemas.openxmlformats.org/officeDocument/2006/relationships/slide" Target="slide18.xml"/><Relationship Id="rId10" Type="http://schemas.openxmlformats.org/officeDocument/2006/relationships/slide" Target="slide20.xml"/><Relationship Id="rId4" Type="http://schemas.openxmlformats.org/officeDocument/2006/relationships/slide" Target="slide17.xml"/><Relationship Id="rId9" Type="http://schemas.openxmlformats.org/officeDocument/2006/relationships/slide" Target="slide21.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2.emf"/></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13.xml"/><Relationship Id="rId5" Type="http://schemas.openxmlformats.org/officeDocument/2006/relationships/image" Target="../media/image16.tiff"/><Relationship Id="rId4" Type="http://schemas.openxmlformats.org/officeDocument/2006/relationships/image" Target="../media/image15.tiff"/></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30693E2F-B640-4B1A-9065-216F09BF24DC}"/>
              </a:ext>
            </a:extLst>
          </p:cNvPr>
          <p:cNvGrpSpPr/>
          <p:nvPr/>
        </p:nvGrpSpPr>
        <p:grpSpPr>
          <a:xfrm>
            <a:off x="802140" y="372155"/>
            <a:ext cx="7870372" cy="1170895"/>
            <a:chOff x="802140" y="372155"/>
            <a:chExt cx="7870372" cy="1306287"/>
          </a:xfrm>
        </p:grpSpPr>
        <p:sp>
          <p:nvSpPr>
            <p:cNvPr id="51" name="矩形 50"/>
            <p:cNvSpPr/>
            <p:nvPr/>
          </p:nvSpPr>
          <p:spPr>
            <a:xfrm flipH="1">
              <a:off x="802140" y="372155"/>
              <a:ext cx="7870372" cy="1306287"/>
            </a:xfrm>
            <a:prstGeom prst="rect">
              <a:avLst/>
            </a:prstGeom>
            <a:solidFill>
              <a:schemeClr val="accent5"/>
            </a:soli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p>
          </p:txBody>
        </p:sp>
        <p:sp>
          <p:nvSpPr>
            <p:cNvPr id="42" name="文本框 41"/>
            <p:cNvSpPr txBox="1"/>
            <p:nvPr/>
          </p:nvSpPr>
          <p:spPr>
            <a:xfrm>
              <a:off x="2648293" y="570753"/>
              <a:ext cx="4178065" cy="807911"/>
            </a:xfrm>
            <a:prstGeom prst="rect">
              <a:avLst/>
            </a:prstGeom>
            <a:noFill/>
          </p:spPr>
          <p:txBody>
            <a:bodyPr wrap="none" lIns="68579" tIns="34289" rIns="68579" bIns="34289" rtlCol="0">
              <a:spAutoFit/>
            </a:bodyPr>
            <a:lstStyle/>
            <a:p>
              <a:pPr algn="l" eaLnBrk="1" hangingPunct="1"/>
              <a:r>
                <a:rPr lang="zh-CN" altLang="en-US" sz="4800" b="1" spc="450">
                  <a:solidFill>
                    <a:schemeClr val="bg1"/>
                  </a:solidFill>
                  <a:latin typeface="微软雅黑" panose="020B0503020204020204" pitchFamily="34" charset="-122"/>
                  <a:ea typeface="微软雅黑" panose="020B0503020204020204" pitchFamily="34" charset="-122"/>
                  <a:sym typeface="+mn-ea"/>
                </a:rPr>
                <a:t>课程情况简介</a:t>
              </a:r>
              <a:endParaRPr lang="zh-CN" altLang="en-US" sz="4800" spc="450" dirty="0">
                <a:solidFill>
                  <a:schemeClr val="bg1"/>
                </a:solidFill>
                <a:latin typeface="微软雅黑" panose="020B0503020204020204" pitchFamily="34" charset="-122"/>
                <a:ea typeface="微软雅黑" panose="020B0503020204020204" pitchFamily="34" charset="-122"/>
              </a:endParaRPr>
            </a:p>
          </p:txBody>
        </p:sp>
      </p:grpSp>
      <p:sp>
        <p:nvSpPr>
          <p:cNvPr id="8" name="TextBox 7">
            <a:extLst>
              <a:ext uri="{FF2B5EF4-FFF2-40B4-BE49-F238E27FC236}">
                <a16:creationId xmlns:a16="http://schemas.microsoft.com/office/drawing/2014/main" id="{8FB021AA-95A3-429D-B825-A82F1CA6D0C9}"/>
              </a:ext>
            </a:extLst>
          </p:cNvPr>
          <p:cNvSpPr txBox="1"/>
          <p:nvPr/>
        </p:nvSpPr>
        <p:spPr>
          <a:xfrm>
            <a:off x="1300163" y="1853829"/>
            <a:ext cx="7024687" cy="3554819"/>
          </a:xfrm>
          <a:prstGeom prst="rect">
            <a:avLst/>
          </a:prstGeom>
          <a:noFill/>
        </p:spPr>
        <p:txBody>
          <a:bodyPr wrap="square" rtlCol="0">
            <a:spAutoFit/>
          </a:bodyPr>
          <a:lstStyle/>
          <a:p>
            <a:pPr algn="ctr"/>
            <a:r>
              <a:rPr lang="zh-CN" altLang="en-US" sz="4000" b="1" spc="450" dirty="0">
                <a:latin typeface="微软雅黑" panose="020B0503020204020204" pitchFamily="34" charset="-122"/>
                <a:ea typeface="微软雅黑" panose="020B0503020204020204" pitchFamily="34" charset="-122"/>
              </a:rPr>
              <a:t>自动检测技术与系统</a:t>
            </a:r>
            <a:endParaRPr lang="en-US" altLang="zh-CN" sz="4000" b="1" spc="450" dirty="0">
              <a:latin typeface="微软雅黑" panose="020B0503020204020204" pitchFamily="34" charset="-122"/>
              <a:ea typeface="微软雅黑" panose="020B0503020204020204" pitchFamily="34" charset="-122"/>
            </a:endParaRPr>
          </a:p>
          <a:p>
            <a:endParaRPr lang="en-US" dirty="0">
              <a:latin typeface="微软雅黑" panose="020B0503020204020204" pitchFamily="34" charset="-122"/>
              <a:ea typeface="微软雅黑" panose="020B0503020204020204" pitchFamily="34" charset="-122"/>
            </a:endParaRPr>
          </a:p>
          <a:p>
            <a:endParaRPr lang="en-US" dirty="0">
              <a:latin typeface="微软雅黑" panose="020B0503020204020204" pitchFamily="34" charset="-122"/>
              <a:ea typeface="微软雅黑" panose="020B0503020204020204" pitchFamily="34" charset="-122"/>
            </a:endParaRPr>
          </a:p>
          <a:p>
            <a:pPr algn="l">
              <a:spcAft>
                <a:spcPts val="1200"/>
              </a:spcAft>
            </a:pPr>
            <a:r>
              <a:rPr lang="zh-CN" altLang="en-US" sz="2200" b="1" i="0" u="none" strike="noStrike" baseline="0" dirty="0">
                <a:latin typeface="微软雅黑" panose="020B0503020204020204" pitchFamily="34" charset="-122"/>
                <a:ea typeface="微软雅黑" panose="020B0503020204020204" pitchFamily="34" charset="-122"/>
              </a:rPr>
              <a:t>课程：</a:t>
            </a:r>
            <a:r>
              <a:rPr lang="en-US" altLang="zh-CN" sz="2200" b="1" i="0" u="none" strike="noStrike" baseline="0" dirty="0">
                <a:latin typeface="微软雅黑" panose="020B0503020204020204" pitchFamily="34" charset="-122"/>
                <a:ea typeface="微软雅黑" panose="020B0503020204020204" pitchFamily="34" charset="-122"/>
              </a:rPr>
              <a:t>2</a:t>
            </a:r>
            <a:r>
              <a:rPr lang="zh-CN" altLang="en-US" sz="2200" b="1" i="0" u="none" strike="noStrike" baseline="0" dirty="0">
                <a:latin typeface="微软雅黑" panose="020B0503020204020204" pitchFamily="34" charset="-122"/>
                <a:ea typeface="微软雅黑" panose="020B0503020204020204" pitchFamily="34" charset="-122"/>
              </a:rPr>
              <a:t>学分，专业必修课，</a:t>
            </a:r>
            <a:r>
              <a:rPr lang="en-US" altLang="zh-CN" sz="2200" b="1" i="0" u="none" strike="noStrike" baseline="0" dirty="0">
                <a:latin typeface="微软雅黑" panose="020B0503020204020204" pitchFamily="34" charset="-122"/>
                <a:ea typeface="微软雅黑" panose="020B0503020204020204" pitchFamily="34" charset="-122"/>
              </a:rPr>
              <a:t>36</a:t>
            </a:r>
            <a:r>
              <a:rPr lang="zh-CN" altLang="en-US" sz="2200" b="1" i="0" u="none" strike="noStrike" baseline="0" dirty="0">
                <a:latin typeface="微软雅黑" panose="020B0503020204020204" pitchFamily="34" charset="-122"/>
                <a:ea typeface="微软雅黑" panose="020B0503020204020204" pitchFamily="34" charset="-122"/>
              </a:rPr>
              <a:t>学时</a:t>
            </a:r>
            <a:endParaRPr lang="en-US" altLang="zh-CN" sz="2200" b="1" i="0" u="none" strike="noStrike" baseline="0" dirty="0">
              <a:latin typeface="微软雅黑" panose="020B0503020204020204" pitchFamily="34" charset="-122"/>
              <a:ea typeface="微软雅黑" panose="020B0503020204020204" pitchFamily="34" charset="-122"/>
            </a:endParaRPr>
          </a:p>
          <a:p>
            <a:pPr algn="l">
              <a:spcAft>
                <a:spcPts val="1200"/>
              </a:spcAft>
            </a:pPr>
            <a:r>
              <a:rPr lang="zh-CN" altLang="en-US" sz="2200" b="1" i="0" u="none" strike="noStrike" baseline="0" dirty="0">
                <a:latin typeface="微软雅黑" panose="020B0503020204020204" pitchFamily="34" charset="-122"/>
                <a:ea typeface="微软雅黑" panose="020B0503020204020204" pitchFamily="34" charset="-122"/>
              </a:rPr>
              <a:t>考评：平时分</a:t>
            </a:r>
            <a:r>
              <a:rPr lang="en-US" altLang="zh-CN" sz="2200" b="1" i="0" u="none" strike="noStrike" baseline="0" dirty="0">
                <a:latin typeface="微软雅黑" panose="020B0503020204020204" pitchFamily="34" charset="-122"/>
                <a:ea typeface="微软雅黑" panose="020B0503020204020204" pitchFamily="34" charset="-122"/>
              </a:rPr>
              <a:t>40</a:t>
            </a:r>
            <a:r>
              <a:rPr lang="zh-CN" altLang="en-US" sz="2200" b="1" i="0" u="none" strike="noStrike" baseline="0" dirty="0">
                <a:latin typeface="微软雅黑" panose="020B0503020204020204" pitchFamily="34" charset="-122"/>
                <a:ea typeface="微软雅黑" panose="020B0503020204020204" pitchFamily="34" charset="-122"/>
              </a:rPr>
              <a:t> </a:t>
            </a:r>
            <a:r>
              <a:rPr lang="en-US" altLang="zh-CN" sz="2200" b="1" i="0" u="none" strike="noStrike" baseline="0" dirty="0">
                <a:latin typeface="微软雅黑" panose="020B0503020204020204" pitchFamily="34" charset="-122"/>
                <a:ea typeface="微软雅黑" panose="020B0503020204020204" pitchFamily="34" charset="-122"/>
              </a:rPr>
              <a:t>+ </a:t>
            </a:r>
            <a:r>
              <a:rPr lang="zh-CN" altLang="en-US" sz="2200" b="1" i="0" u="none" strike="noStrike" baseline="0" dirty="0">
                <a:latin typeface="微软雅黑" panose="020B0503020204020204" pitchFamily="34" charset="-122"/>
                <a:ea typeface="微软雅黑" panose="020B0503020204020204" pitchFamily="34" charset="-122"/>
              </a:rPr>
              <a:t>期末分</a:t>
            </a:r>
            <a:r>
              <a:rPr lang="en-US" altLang="zh-CN" sz="2200" b="1" i="0" u="none" strike="noStrike" baseline="0" dirty="0">
                <a:latin typeface="微软雅黑" panose="020B0503020204020204" pitchFamily="34" charset="-122"/>
                <a:ea typeface="微软雅黑" panose="020B0503020204020204" pitchFamily="34" charset="-122"/>
              </a:rPr>
              <a:t>60</a:t>
            </a:r>
          </a:p>
          <a:p>
            <a:pPr algn="l">
              <a:spcAft>
                <a:spcPts val="600"/>
              </a:spcAft>
            </a:pPr>
            <a:r>
              <a:rPr lang="zh-CN" altLang="en-US" sz="2200" b="1" i="0" u="none" strike="noStrike" baseline="0" dirty="0">
                <a:latin typeface="微软雅黑" panose="020B0503020204020204" pitchFamily="34" charset="-122"/>
                <a:ea typeface="微软雅黑" panose="020B0503020204020204" pitchFamily="34" charset="-122"/>
              </a:rPr>
              <a:t>教师：</a:t>
            </a:r>
            <a:r>
              <a:rPr lang="zh-CN" altLang="en-US" sz="2200" b="1" dirty="0">
                <a:latin typeface="微软雅黑" panose="020B0503020204020204" pitchFamily="34" charset="-122"/>
                <a:ea typeface="微软雅黑" panose="020B0503020204020204" pitchFamily="34" charset="-122"/>
              </a:rPr>
              <a:t>方格</a:t>
            </a:r>
            <a:r>
              <a:rPr lang="zh-CN" altLang="en-US" sz="2200" b="1" i="0" u="none" strike="noStrike" baseline="0" dirty="0">
                <a:latin typeface="微软雅黑" panose="020B0503020204020204" pitchFamily="34" charset="-122"/>
                <a:ea typeface="微软雅黑" panose="020B0503020204020204" pitchFamily="34" charset="-122"/>
              </a:rPr>
              <a:t>，王润花</a:t>
            </a:r>
            <a:endParaRPr lang="en-US" altLang="zh-CN" sz="2200" b="1" i="0" u="none" strike="noStrike" baseline="0" dirty="0">
              <a:latin typeface="微软雅黑" panose="020B0503020204020204" pitchFamily="34" charset="-122"/>
              <a:ea typeface="微软雅黑" panose="020B0503020204020204" pitchFamily="34" charset="-122"/>
            </a:endParaRPr>
          </a:p>
          <a:p>
            <a:pPr algn="l"/>
            <a:r>
              <a:rPr lang="en-US" altLang="zh-CN" sz="2200" b="1" dirty="0">
                <a:latin typeface="微软雅黑" panose="020B0503020204020204" pitchFamily="34" charset="-122"/>
                <a:ea typeface="微软雅黑" panose="020B0503020204020204" pitchFamily="34" charset="-122"/>
              </a:rPr>
              <a:t>	  </a:t>
            </a:r>
            <a:r>
              <a:rPr lang="zh-CN" altLang="en-US" sz="2200" b="1" dirty="0">
                <a:latin typeface="微软雅黑" panose="020B0503020204020204" pitchFamily="34" charset="-122"/>
                <a:ea typeface="微软雅黑" panose="020B0503020204020204" pitchFamily="34" charset="-122"/>
              </a:rPr>
              <a:t>包秀娟（实验）</a:t>
            </a:r>
            <a:endParaRPr lang="en-US" altLang="zh-CN" sz="2200" b="1" dirty="0">
              <a:latin typeface="微软雅黑" panose="020B0503020204020204" pitchFamily="34" charset="-122"/>
              <a:ea typeface="微软雅黑" panose="020B0503020204020204" pitchFamily="34" charset="-122"/>
            </a:endParaRPr>
          </a:p>
          <a:p>
            <a:pPr algn="l"/>
            <a:endParaRPr lang="en-US" sz="2200" b="1" dirty="0">
              <a:latin typeface="微软雅黑" panose="020B0503020204020204" pitchFamily="34" charset="-122"/>
              <a:ea typeface="微软雅黑" panose="020B0503020204020204" pitchFamily="34" charset="-122"/>
            </a:endParaRPr>
          </a:p>
          <a:p>
            <a:pPr algn="l"/>
            <a:endParaRPr lang="en-US" altLang="zh-CN" sz="2200" b="1" i="0" u="none" strike="noStrike" baseline="0" dirty="0">
              <a:solidFill>
                <a:srgbClr val="3333CD"/>
              </a:solidFill>
              <a:latin typeface="微软雅黑" panose="020B0503020204020204" pitchFamily="34" charset="-122"/>
              <a:ea typeface="微软雅黑" panose="020B0503020204020204" pitchFamily="34" charset="-122"/>
            </a:endParaRPr>
          </a:p>
        </p:txBody>
      </p:sp>
      <p:pic>
        <p:nvPicPr>
          <p:cNvPr id="3" name="图片 2">
            <a:extLst>
              <a:ext uri="{FF2B5EF4-FFF2-40B4-BE49-F238E27FC236}">
                <a16:creationId xmlns:a16="http://schemas.microsoft.com/office/drawing/2014/main" id="{2378D5E8-1A72-C0D7-D328-01460BC7BD70}"/>
              </a:ext>
            </a:extLst>
          </p:cNvPr>
          <p:cNvPicPr>
            <a:picLocks noChangeAspect="1"/>
          </p:cNvPicPr>
          <p:nvPr/>
        </p:nvPicPr>
        <p:blipFill>
          <a:blip r:embed="rId2" cstate="print">
            <a:extLst>
              <a:ext uri="{28A0092B-C50C-407E-A947-70E740481C1C}">
                <a14:useLocalDpi xmlns:a14="http://schemas.microsoft.com/office/drawing/2010/main" val="0"/>
              </a:ext>
            </a:extLst>
          </a:blip>
          <a:srcRect b="21275"/>
          <a:stretch>
            <a:fillRect/>
          </a:stretch>
        </p:blipFill>
        <p:spPr>
          <a:xfrm>
            <a:off x="5561574" y="3581397"/>
            <a:ext cx="3464662" cy="317269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30693E2F-B640-4B1A-9065-216F09BF24DC}"/>
              </a:ext>
            </a:extLst>
          </p:cNvPr>
          <p:cNvGrpSpPr/>
          <p:nvPr/>
        </p:nvGrpSpPr>
        <p:grpSpPr>
          <a:xfrm>
            <a:off x="802140" y="372155"/>
            <a:ext cx="7870372" cy="1170895"/>
            <a:chOff x="802140" y="372155"/>
            <a:chExt cx="7870372" cy="1306287"/>
          </a:xfrm>
        </p:grpSpPr>
        <p:sp>
          <p:nvSpPr>
            <p:cNvPr id="51" name="矩形 50"/>
            <p:cNvSpPr/>
            <p:nvPr/>
          </p:nvSpPr>
          <p:spPr>
            <a:xfrm flipH="1">
              <a:off x="802140" y="372155"/>
              <a:ext cx="7870372" cy="1306287"/>
            </a:xfrm>
            <a:prstGeom prst="rect">
              <a:avLst/>
            </a:prstGeom>
            <a:solidFill>
              <a:schemeClr val="accent5"/>
            </a:soli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p>
          </p:txBody>
        </p:sp>
        <p:sp>
          <p:nvSpPr>
            <p:cNvPr id="42" name="文本框 41"/>
            <p:cNvSpPr txBox="1"/>
            <p:nvPr/>
          </p:nvSpPr>
          <p:spPr>
            <a:xfrm>
              <a:off x="2648293" y="570753"/>
              <a:ext cx="4178065" cy="807911"/>
            </a:xfrm>
            <a:prstGeom prst="rect">
              <a:avLst/>
            </a:prstGeom>
            <a:noFill/>
          </p:spPr>
          <p:txBody>
            <a:bodyPr wrap="none" lIns="68579" tIns="34289" rIns="68579" bIns="34289" rtlCol="0">
              <a:spAutoFit/>
            </a:bodyPr>
            <a:lstStyle/>
            <a:p>
              <a:pPr algn="l" eaLnBrk="1" hangingPunct="1"/>
              <a:r>
                <a:rPr lang="zh-CN" altLang="en-US" sz="4800" b="1" spc="450" dirty="0">
                  <a:solidFill>
                    <a:schemeClr val="bg1"/>
                  </a:solidFill>
                  <a:latin typeface="微软雅黑" panose="020B0503020204020204" pitchFamily="34" charset="-122"/>
                  <a:ea typeface="微软雅黑" panose="020B0503020204020204" pitchFamily="34" charset="-122"/>
                  <a:sym typeface="+mn-ea"/>
                </a:rPr>
                <a:t>课程情况简介</a:t>
              </a:r>
              <a:endParaRPr lang="zh-CN" altLang="en-US" sz="4800" spc="450" dirty="0">
                <a:solidFill>
                  <a:schemeClr val="bg1"/>
                </a:solidFill>
                <a:latin typeface="微软雅黑" panose="020B0503020204020204" pitchFamily="34" charset="-122"/>
                <a:ea typeface="微软雅黑" panose="020B0503020204020204" pitchFamily="34" charset="-122"/>
              </a:endParaRPr>
            </a:p>
          </p:txBody>
        </p:sp>
      </p:grpSp>
      <p:sp>
        <p:nvSpPr>
          <p:cNvPr id="7" name="TextBox 6">
            <a:extLst>
              <a:ext uri="{FF2B5EF4-FFF2-40B4-BE49-F238E27FC236}">
                <a16:creationId xmlns:a16="http://schemas.microsoft.com/office/drawing/2014/main" id="{3CCA4C8C-0C15-4DFB-AA18-62377EA72169}"/>
              </a:ext>
            </a:extLst>
          </p:cNvPr>
          <p:cNvSpPr txBox="1"/>
          <p:nvPr/>
        </p:nvSpPr>
        <p:spPr>
          <a:xfrm>
            <a:off x="729343" y="1961000"/>
            <a:ext cx="8122920" cy="4346831"/>
          </a:xfrm>
          <a:prstGeom prst="rect">
            <a:avLst/>
          </a:prstGeom>
          <a:noFill/>
        </p:spPr>
        <p:txBody>
          <a:bodyPr wrap="square">
            <a:spAutoFit/>
          </a:bodyPr>
          <a:lstStyle/>
          <a:p>
            <a:pPr marL="450900" indent="-342900">
              <a:lnSpc>
                <a:spcPct val="150000"/>
              </a:lnSpc>
            </a:pPr>
            <a:r>
              <a:rPr lang="zh-CN" altLang="en-US" sz="2000" b="1" dirty="0">
                <a:solidFill>
                  <a:srgbClr val="0000FF"/>
                </a:solidFill>
                <a:latin typeface="微软雅黑" panose="020B0503020204020204" pitchFamily="34" charset="-122"/>
                <a:ea typeface="微软雅黑" panose="020B0503020204020204" pitchFamily="34" charset="-122"/>
              </a:rPr>
              <a:t>答疑</a:t>
            </a:r>
            <a:endParaRPr lang="en-US" altLang="zh-CN" sz="2000" b="1" dirty="0">
              <a:solidFill>
                <a:srgbClr val="0000FF"/>
              </a:solidFill>
              <a:latin typeface="微软雅黑" panose="020B0503020204020204" pitchFamily="34" charset="-122"/>
              <a:ea typeface="微软雅黑" panose="020B0503020204020204" pitchFamily="34" charset="-122"/>
            </a:endParaRPr>
          </a:p>
          <a:p>
            <a:pPr lvl="1">
              <a:lnSpc>
                <a:spcPct val="150000"/>
              </a:lnSpc>
              <a:spcBef>
                <a:spcPts val="600"/>
              </a:spcBef>
            </a:pPr>
            <a:r>
              <a:rPr lang="en-US" altLang="zh-CN" sz="2000" dirty="0">
                <a:latin typeface="微软雅黑" panose="020B0503020204020204" pitchFamily="34" charset="-122"/>
                <a:ea typeface="微软雅黑" panose="020B0503020204020204" pitchFamily="34" charset="-122"/>
              </a:rPr>
              <a:t>Email</a:t>
            </a: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fangge@nankai.edu.cn</a:t>
            </a:r>
          </a:p>
          <a:p>
            <a:pPr lvl="1">
              <a:lnSpc>
                <a:spcPct val="150000"/>
              </a:lnSpc>
              <a:spcBef>
                <a:spcPts val="600"/>
              </a:spcBef>
            </a:pPr>
            <a:r>
              <a:rPr lang="zh-CN" altLang="en-US" sz="2000" dirty="0">
                <a:latin typeface="微软雅黑" panose="020B0503020204020204" pitchFamily="34" charset="-122"/>
                <a:ea typeface="微软雅黑" panose="020B0503020204020204" pitchFamily="34" charset="-122"/>
              </a:rPr>
              <a:t>地点：  </a:t>
            </a:r>
            <a:r>
              <a:rPr lang="zh-TW" altLang="en-US" sz="2000" u="sng" dirty="0">
                <a:latin typeface="微软雅黑" panose="020B0503020204020204" pitchFamily="34" charset="-122"/>
                <a:ea typeface="微软雅黑" panose="020B0503020204020204" pitchFamily="34" charset="-122"/>
              </a:rPr>
              <a:t>智能北楼</a:t>
            </a:r>
            <a:r>
              <a:rPr lang="zh-CN" altLang="en-US" sz="2000" u="sng" dirty="0">
                <a:latin typeface="微软雅黑" panose="020B0503020204020204" pitchFamily="34" charset="-122"/>
                <a:ea typeface="微软雅黑" panose="020B0503020204020204" pitchFamily="34" charset="-122"/>
              </a:rPr>
              <a:t> </a:t>
            </a:r>
            <a:r>
              <a:rPr lang="en-US" altLang="zh-CN" sz="2000" u="sng" dirty="0">
                <a:latin typeface="微软雅黑" panose="020B0503020204020204" pitchFamily="34" charset="-122"/>
                <a:ea typeface="微软雅黑" panose="020B0503020204020204" pitchFamily="34" charset="-122"/>
              </a:rPr>
              <a:t>503</a:t>
            </a:r>
          </a:p>
          <a:p>
            <a:pPr marL="450900" indent="-342900">
              <a:lnSpc>
                <a:spcPct val="150000"/>
              </a:lnSpc>
            </a:pPr>
            <a:r>
              <a:rPr lang="zh-CN" altLang="en-US" sz="2000" b="1" dirty="0">
                <a:solidFill>
                  <a:srgbClr val="0000FF"/>
                </a:solidFill>
                <a:latin typeface="微软雅黑" panose="020B0503020204020204" pitchFamily="34" charset="-122"/>
                <a:ea typeface="微软雅黑" panose="020B0503020204020204" pitchFamily="34" charset="-122"/>
              </a:rPr>
              <a:t>助教和作业</a:t>
            </a:r>
            <a:endParaRPr lang="en-US" altLang="zh-CN" sz="2000" b="1" dirty="0">
              <a:solidFill>
                <a:srgbClr val="0000FF"/>
              </a:solidFill>
              <a:latin typeface="微软雅黑" panose="020B0503020204020204" pitchFamily="34" charset="-122"/>
              <a:ea typeface="微软雅黑" panose="020B0503020204020204" pitchFamily="34" charset="-122"/>
            </a:endParaRPr>
          </a:p>
          <a:p>
            <a:pPr lvl="1">
              <a:lnSpc>
                <a:spcPct val="150000"/>
              </a:lnSpc>
            </a:pPr>
            <a:r>
              <a:rPr lang="en-US" sz="2000" dirty="0">
                <a:latin typeface="微软雅黑" panose="020B0503020204020204" pitchFamily="34" charset="-122"/>
                <a:ea typeface="微软雅黑" panose="020B0503020204020204" pitchFamily="34" charset="-122"/>
                <a:hlinkClick r:id="rId2"/>
              </a:rPr>
              <a:t>2120240518@mail.nankai.edu.cn</a:t>
            </a:r>
            <a:r>
              <a:rPr lang="zh-CN" altLang="en-US" sz="2000">
                <a:latin typeface="微软雅黑" panose="020B0503020204020204" pitchFamily="34" charset="-122"/>
                <a:ea typeface="微软雅黑" panose="020B0503020204020204" pitchFamily="34" charset="-122"/>
              </a:rPr>
              <a:t>，郭鸿哲</a:t>
            </a:r>
            <a:endParaRPr lang="en-US" sz="2000" dirty="0">
              <a:latin typeface="微软雅黑" panose="020B0503020204020204" pitchFamily="34" charset="-122"/>
              <a:ea typeface="微软雅黑" panose="020B0503020204020204" pitchFamily="34" charset="-122"/>
            </a:endParaRPr>
          </a:p>
          <a:p>
            <a:pPr lvl="1">
              <a:lnSpc>
                <a:spcPct val="150000"/>
              </a:lnSpc>
            </a:pPr>
            <a:r>
              <a:rPr lang="zh-CN" altLang="en-US" sz="2000" dirty="0">
                <a:latin typeface="微软雅黑" panose="020B0503020204020204" pitchFamily="34" charset="-122"/>
                <a:ea typeface="微软雅黑" panose="020B0503020204020204" pitchFamily="34" charset="-122"/>
              </a:rPr>
              <a:t>邮件题目：学号</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姓名</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第*次作业</a:t>
            </a:r>
            <a:r>
              <a:rPr lang="en-US" altLang="zh-CN" sz="2000" dirty="0">
                <a:latin typeface="微软雅黑" panose="020B0503020204020204" pitchFamily="34" charset="-122"/>
                <a:ea typeface="微软雅黑" panose="020B0503020204020204" pitchFamily="34" charset="-122"/>
              </a:rPr>
              <a:t> </a:t>
            </a:r>
          </a:p>
          <a:p>
            <a:pPr lvl="1">
              <a:lnSpc>
                <a:spcPct val="150000"/>
              </a:lnSpc>
            </a:pPr>
            <a:r>
              <a:rPr lang="zh-CN" altLang="en-US" sz="2000" dirty="0">
                <a:latin typeface="微软雅黑" panose="020B0503020204020204" pitchFamily="34" charset="-122"/>
                <a:ea typeface="微软雅黑" panose="020B0503020204020204" pitchFamily="34" charset="-122"/>
              </a:rPr>
              <a:t>作业形式：手写拍照图片</a:t>
            </a:r>
            <a:r>
              <a:rPr lang="en-US" altLang="zh-CN" sz="2000" dirty="0">
                <a:latin typeface="微软雅黑" panose="020B0503020204020204" pitchFamily="34" charset="-122"/>
                <a:ea typeface="微软雅黑" panose="020B0503020204020204" pitchFamily="34" charset="-122"/>
              </a:rPr>
              <a:t>/pdf/word</a:t>
            </a:r>
            <a:r>
              <a:rPr lang="zh-CN" altLang="en-US" sz="2000" dirty="0">
                <a:latin typeface="微软雅黑" panose="020B0503020204020204" pitchFamily="34" charset="-122"/>
                <a:ea typeface="微软雅黑" panose="020B0503020204020204" pitchFamily="34" charset="-122"/>
              </a:rPr>
              <a:t>文件，</a:t>
            </a:r>
            <a:r>
              <a:rPr lang="en-US" altLang="zh-CN" sz="2000" dirty="0">
                <a:latin typeface="微软雅黑" panose="020B0503020204020204" pitchFamily="34" charset="-122"/>
                <a:ea typeface="微软雅黑" panose="020B0503020204020204" pitchFamily="34" charset="-122"/>
              </a:rPr>
              <a:t>						   </a:t>
            </a:r>
            <a:r>
              <a:rPr lang="en-US" altLang="zh-CN" sz="2000" dirty="0" err="1">
                <a:latin typeface="微软雅黑" panose="020B0503020204020204" pitchFamily="34" charset="-122"/>
                <a:ea typeface="微软雅黑" panose="020B0503020204020204" pitchFamily="34" charset="-122"/>
              </a:rPr>
              <a:t>matlab</a:t>
            </a:r>
            <a:r>
              <a:rPr lang="en-US" altLang="zh-CN" sz="2000" dirty="0">
                <a:latin typeface="微软雅黑" panose="020B0503020204020204" pitchFamily="34" charset="-122"/>
                <a:ea typeface="微软雅黑" panose="020B0503020204020204" pitchFamily="34" charset="-122"/>
              </a:rPr>
              <a:t>/</a:t>
            </a:r>
            <a:r>
              <a:rPr lang="en-US" altLang="zh-CN" sz="2000" dirty="0" err="1">
                <a:latin typeface="微软雅黑" panose="020B0503020204020204" pitchFamily="34" charset="-122"/>
                <a:ea typeface="微软雅黑" panose="020B0503020204020204" pitchFamily="34" charset="-122"/>
              </a:rPr>
              <a:t>simulink</a:t>
            </a:r>
            <a:r>
              <a:rPr lang="en-US" altLang="zh-CN" sz="2000" dirty="0">
                <a:latin typeface="微软雅黑" panose="020B0503020204020204" pitchFamily="34" charset="-122"/>
                <a:ea typeface="微软雅黑" panose="020B0503020204020204" pitchFamily="34" charset="-122"/>
              </a:rPr>
              <a:t>/python</a:t>
            </a:r>
            <a:r>
              <a:rPr lang="zh-CN" altLang="en-US" sz="2000" dirty="0">
                <a:latin typeface="微软雅黑" panose="020B0503020204020204" pitchFamily="34" charset="-122"/>
                <a:ea typeface="微软雅黑" panose="020B0503020204020204" pitchFamily="34" charset="-122"/>
              </a:rPr>
              <a:t>文件</a:t>
            </a:r>
            <a:endParaRPr lang="en-US" altLang="zh-CN" sz="2000" dirty="0">
              <a:latin typeface="微软雅黑" panose="020B0503020204020204" pitchFamily="34" charset="-122"/>
              <a:ea typeface="微软雅黑" panose="020B0503020204020204" pitchFamily="34" charset="-122"/>
            </a:endParaRPr>
          </a:p>
          <a:p>
            <a:pPr lvl="1">
              <a:lnSpc>
                <a:spcPct val="150000"/>
              </a:lnSpc>
            </a:pPr>
            <a:r>
              <a:rPr lang="zh-CN" altLang="en-US" sz="2000" dirty="0">
                <a:latin typeface="微软雅黑" panose="020B0503020204020204" pitchFamily="34" charset="-122"/>
                <a:ea typeface="微软雅黑" panose="020B0503020204020204" pitchFamily="34" charset="-122"/>
              </a:rPr>
              <a:t>截止日期：周一晚 </a:t>
            </a:r>
            <a:r>
              <a:rPr lang="en-US" altLang="zh-CN" sz="2000" dirty="0">
                <a:latin typeface="微软雅黑" panose="020B0503020204020204" pitchFamily="34" charset="-122"/>
                <a:ea typeface="微软雅黑" panose="020B0503020204020204" pitchFamily="34" charset="-122"/>
              </a:rPr>
              <a:t>20</a:t>
            </a: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00</a:t>
            </a:r>
          </a:p>
        </p:txBody>
      </p:sp>
    </p:spTree>
    <p:extLst>
      <p:ext uri="{BB962C8B-B14F-4D97-AF65-F5344CB8AC3E}">
        <p14:creationId xmlns:p14="http://schemas.microsoft.com/office/powerpoint/2010/main" val="32998780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30693E2F-B640-4B1A-9065-216F09BF24DC}"/>
              </a:ext>
            </a:extLst>
          </p:cNvPr>
          <p:cNvGrpSpPr/>
          <p:nvPr/>
        </p:nvGrpSpPr>
        <p:grpSpPr>
          <a:xfrm>
            <a:off x="793431" y="11089"/>
            <a:ext cx="7870372" cy="1170895"/>
            <a:chOff x="802140" y="372155"/>
            <a:chExt cx="7870372" cy="1306287"/>
          </a:xfrm>
        </p:grpSpPr>
        <p:sp>
          <p:nvSpPr>
            <p:cNvPr id="51" name="矩形 50"/>
            <p:cNvSpPr/>
            <p:nvPr/>
          </p:nvSpPr>
          <p:spPr>
            <a:xfrm flipH="1">
              <a:off x="802140" y="372155"/>
              <a:ext cx="7870372" cy="1306287"/>
            </a:xfrm>
            <a:prstGeom prst="rect">
              <a:avLst/>
            </a:prstGeom>
            <a:solidFill>
              <a:schemeClr val="accent5"/>
            </a:soli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p>
          </p:txBody>
        </p:sp>
        <p:sp>
          <p:nvSpPr>
            <p:cNvPr id="42" name="文本框 41"/>
            <p:cNvSpPr txBox="1"/>
            <p:nvPr/>
          </p:nvSpPr>
          <p:spPr>
            <a:xfrm>
              <a:off x="3205642" y="398659"/>
              <a:ext cx="2946959" cy="626639"/>
            </a:xfrm>
            <a:prstGeom prst="rect">
              <a:avLst/>
            </a:prstGeom>
            <a:noFill/>
          </p:spPr>
          <p:txBody>
            <a:bodyPr wrap="none" lIns="68579" tIns="34289" rIns="68579" bIns="34289" rtlCol="0">
              <a:spAutoFit/>
            </a:bodyPr>
            <a:lstStyle/>
            <a:p>
              <a:pPr algn="l" eaLnBrk="1" hangingPunct="1"/>
              <a:r>
                <a:rPr lang="zh-CN" altLang="en-US" sz="3200" b="1" spc="450" dirty="0">
                  <a:solidFill>
                    <a:schemeClr val="bg1"/>
                  </a:solidFill>
                  <a:latin typeface="微软雅黑" panose="020B0503020204020204" pitchFamily="34" charset="-122"/>
                  <a:ea typeface="微软雅黑" panose="020B0503020204020204" pitchFamily="34" charset="-122"/>
                  <a:sym typeface="+mn-ea"/>
                </a:rPr>
                <a:t>课程情况简介</a:t>
              </a:r>
              <a:endParaRPr lang="zh-CN" altLang="en-US" sz="3200" spc="450" dirty="0">
                <a:solidFill>
                  <a:schemeClr val="bg1"/>
                </a:solidFill>
                <a:latin typeface="微软雅黑" panose="020B0503020204020204" pitchFamily="34" charset="-122"/>
                <a:ea typeface="微软雅黑" panose="020B0503020204020204" pitchFamily="34" charset="-122"/>
              </a:endParaRPr>
            </a:p>
          </p:txBody>
        </p:sp>
      </p:grpSp>
      <p:sp>
        <p:nvSpPr>
          <p:cNvPr id="6" name="Slide Number Placeholder 3">
            <a:extLst>
              <a:ext uri="{FF2B5EF4-FFF2-40B4-BE49-F238E27FC236}">
                <a16:creationId xmlns:a16="http://schemas.microsoft.com/office/drawing/2014/main" id="{4192C937-36EE-4D75-9A78-F18235DA1485}"/>
              </a:ext>
            </a:extLst>
          </p:cNvPr>
          <p:cNvSpPr>
            <a:spLocks noGrp="1"/>
          </p:cNvSpPr>
          <p:nvPr>
            <p:ph type="sldNum" sz="quarter" idx="12"/>
          </p:nvPr>
        </p:nvSpPr>
        <p:spPr>
          <a:xfrm>
            <a:off x="6457950" y="6356351"/>
            <a:ext cx="2057400" cy="365125"/>
          </a:xfrm>
        </p:spPr>
        <p:txBody>
          <a:bodyPr/>
          <a:lstStyle/>
          <a:p>
            <a:fld id="{B53602B4-F12B-41CD-B648-531F86B2CC91}" type="slidenum">
              <a:rPr lang="zh-CN" altLang="en-US" smtClean="0"/>
              <a:t>3</a:t>
            </a:fld>
            <a:endParaRPr lang="zh-CN" altLang="en-US"/>
          </a:p>
        </p:txBody>
      </p:sp>
      <p:pic>
        <p:nvPicPr>
          <p:cNvPr id="2" name="图片 1">
            <a:extLst>
              <a:ext uri="{FF2B5EF4-FFF2-40B4-BE49-F238E27FC236}">
                <a16:creationId xmlns:a16="http://schemas.microsoft.com/office/drawing/2014/main" id="{5605E03A-48D6-9A51-7900-B84AEF550225}"/>
              </a:ext>
            </a:extLst>
          </p:cNvPr>
          <p:cNvPicPr>
            <a:picLocks noChangeAspect="1"/>
          </p:cNvPicPr>
          <p:nvPr/>
        </p:nvPicPr>
        <p:blipFill>
          <a:blip r:embed="rId2"/>
          <a:stretch>
            <a:fillRect/>
          </a:stretch>
        </p:blipFill>
        <p:spPr>
          <a:xfrm>
            <a:off x="0" y="611620"/>
            <a:ext cx="9144000" cy="6246380"/>
          </a:xfrm>
          <a:prstGeom prst="rect">
            <a:avLst/>
          </a:prstGeom>
        </p:spPr>
      </p:pic>
      <p:sp>
        <p:nvSpPr>
          <p:cNvPr id="12" name="Rectangle: Rounded Corners 11">
            <a:extLst>
              <a:ext uri="{FF2B5EF4-FFF2-40B4-BE49-F238E27FC236}">
                <a16:creationId xmlns:a16="http://schemas.microsoft.com/office/drawing/2014/main" id="{FFBB30B6-4A1A-4A9F-89A7-7D3B11ED780F}"/>
              </a:ext>
            </a:extLst>
          </p:cNvPr>
          <p:cNvSpPr/>
          <p:nvPr/>
        </p:nvSpPr>
        <p:spPr>
          <a:xfrm>
            <a:off x="5448916" y="2303520"/>
            <a:ext cx="252000" cy="2364276"/>
          </a:xfrm>
          <a:prstGeom prst="roundRect">
            <a:avLst/>
          </a:prstGeom>
          <a:solidFill>
            <a:srgbClr val="FF00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106697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76250DE-FCB6-42AE-ACC4-89C082780442}"/>
              </a:ext>
            </a:extLst>
          </p:cNvPr>
          <p:cNvSpPr>
            <a:spLocks noGrp="1"/>
          </p:cNvSpPr>
          <p:nvPr>
            <p:ph type="sldNum" sz="quarter" idx="12"/>
          </p:nvPr>
        </p:nvSpPr>
        <p:spPr/>
        <p:txBody>
          <a:bodyPr/>
          <a:lstStyle/>
          <a:p>
            <a:fld id="{B53602B4-F12B-41CD-B648-531F86B2CC91}" type="slidenum">
              <a:rPr lang="zh-CN" altLang="en-US" smtClean="0"/>
              <a:t>4</a:t>
            </a:fld>
            <a:endParaRPr lang="zh-CN" altLang="en-US"/>
          </a:p>
        </p:txBody>
      </p:sp>
      <p:pic>
        <p:nvPicPr>
          <p:cNvPr id="3" name="Picture 2">
            <a:extLst>
              <a:ext uri="{FF2B5EF4-FFF2-40B4-BE49-F238E27FC236}">
                <a16:creationId xmlns:a16="http://schemas.microsoft.com/office/drawing/2014/main" id="{FA900238-D99A-47BB-BA3E-E1D002139E3C}"/>
              </a:ext>
            </a:extLst>
          </p:cNvPr>
          <p:cNvPicPr>
            <a:picLocks noChangeAspect="1"/>
          </p:cNvPicPr>
          <p:nvPr/>
        </p:nvPicPr>
        <p:blipFill>
          <a:blip r:embed="rId2"/>
          <a:stretch>
            <a:fillRect/>
          </a:stretch>
        </p:blipFill>
        <p:spPr>
          <a:xfrm>
            <a:off x="0" y="458487"/>
            <a:ext cx="9144000" cy="4424646"/>
          </a:xfrm>
          <a:prstGeom prst="rect">
            <a:avLst/>
          </a:prstGeom>
        </p:spPr>
      </p:pic>
    </p:spTree>
    <p:extLst>
      <p:ext uri="{BB962C8B-B14F-4D97-AF65-F5344CB8AC3E}">
        <p14:creationId xmlns:p14="http://schemas.microsoft.com/office/powerpoint/2010/main" val="39956459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91399" y="274884"/>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6" name="矩形 45"/>
          <p:cNvSpPr/>
          <p:nvPr/>
        </p:nvSpPr>
        <p:spPr>
          <a:xfrm>
            <a:off x="120039" y="243730"/>
            <a:ext cx="4123237" cy="615549"/>
          </a:xfrm>
          <a:prstGeom prst="rect">
            <a:avLst/>
          </a:prstGeom>
        </p:spPr>
        <p:txBody>
          <a:bodyPr wrap="none" lIns="91436" tIns="45718" rIns="91436" bIns="45718">
            <a:spAutoFit/>
          </a:bodyPr>
          <a:lstStyle/>
          <a:p>
            <a:pPr marL="838200" indent="-838200"/>
            <a:r>
              <a:rPr lang="zh-CN" altLang="en-US" sz="3400" b="1" dirty="0">
                <a:solidFill>
                  <a:schemeClr val="bg1"/>
                </a:solidFill>
                <a:latin typeface="SimSun" pitchFamily="2" charset="-122"/>
                <a:ea typeface="SimSun" pitchFamily="2" charset="-122"/>
                <a:sym typeface="+mn-ea"/>
              </a:rPr>
              <a:t>自动检测技术与系统</a:t>
            </a:r>
          </a:p>
        </p:txBody>
      </p:sp>
      <p:grpSp>
        <p:nvGrpSpPr>
          <p:cNvPr id="43" name="组 42"/>
          <p:cNvGrpSpPr/>
          <p:nvPr/>
        </p:nvGrpSpPr>
        <p:grpSpPr>
          <a:xfrm>
            <a:off x="8590580" y="252857"/>
            <a:ext cx="553419" cy="484288"/>
            <a:chOff x="11454105" y="252856"/>
            <a:chExt cx="737892" cy="484288"/>
          </a:xfrm>
        </p:grpSpPr>
        <p:grpSp>
          <p:nvGrpSpPr>
            <p:cNvPr id="50" name="组 49"/>
            <p:cNvGrpSpPr/>
            <p:nvPr/>
          </p:nvGrpSpPr>
          <p:grpSpPr>
            <a:xfrm>
              <a:off x="12039604" y="252856"/>
              <a:ext cx="152393" cy="484287"/>
              <a:chOff x="12039604" y="252856"/>
              <a:chExt cx="152393" cy="484287"/>
            </a:xfrm>
          </p:grpSpPr>
          <p:sp>
            <p:nvSpPr>
              <p:cNvPr id="54" name="圆角矩形 53"/>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圆角矩形 54"/>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圆角矩形 70"/>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圆角矩形 71"/>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圆角矩形 72"/>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1" name="组合 99"/>
            <p:cNvGrpSpPr/>
            <p:nvPr/>
          </p:nvGrpSpPr>
          <p:grpSpPr>
            <a:xfrm>
              <a:off x="11454105" y="252857"/>
              <a:ext cx="491115" cy="484287"/>
              <a:chOff x="1528923" y="220268"/>
              <a:chExt cx="1284096" cy="1266241"/>
            </a:xfrm>
          </p:grpSpPr>
          <p:sp>
            <p:nvSpPr>
              <p:cNvPr id="52" name="圆角矩形 51"/>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Freeform 96"/>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sp>
        <p:nvSpPr>
          <p:cNvPr id="3" name="Rectangle 2"/>
          <p:cNvSpPr/>
          <p:nvPr/>
        </p:nvSpPr>
        <p:spPr>
          <a:xfrm>
            <a:off x="652180" y="1248705"/>
            <a:ext cx="7839637" cy="954107"/>
          </a:xfrm>
          <a:prstGeom prst="rect">
            <a:avLst/>
          </a:prstGeom>
          <a:solidFill>
            <a:schemeClr val="bg1"/>
          </a:solidFill>
          <a:effectLst>
            <a:outerShdw blurRad="50800" dist="38100" dir="2700000" algn="tl" rotWithShape="0">
              <a:prstClr val="black">
                <a:alpha val="40000"/>
              </a:prstClr>
            </a:outerShdw>
          </a:effectLst>
        </p:spPr>
        <p:txBody>
          <a:bodyPr wrap="square">
            <a:spAutoFit/>
          </a:bodyPr>
          <a:lstStyle/>
          <a:p>
            <a:r>
              <a:rPr lang="zh-CN" altLang="en-US" sz="2800" dirty="0">
                <a:latin typeface="Times New Roman" panose="02020603050405020304" pitchFamily="18" charset="0"/>
                <a:ea typeface="SimSun" pitchFamily="2" charset="-122"/>
                <a:cs typeface="Times New Roman" panose="02020603050405020304" pitchFamily="18" charset="0"/>
              </a:rPr>
              <a:t>自动检测技术与系统是讲授传感器、检测技术和方法的基础课。</a:t>
            </a:r>
            <a:r>
              <a:rPr lang="en-US" sz="2800" dirty="0"/>
              <a:t> </a:t>
            </a:r>
          </a:p>
        </p:txBody>
      </p:sp>
      <p:sp>
        <p:nvSpPr>
          <p:cNvPr id="4" name="Rectangle 3"/>
          <p:cNvSpPr/>
          <p:nvPr/>
        </p:nvSpPr>
        <p:spPr>
          <a:xfrm>
            <a:off x="652181" y="2622063"/>
            <a:ext cx="3262432" cy="461665"/>
          </a:xfrm>
          <a:prstGeom prst="rect">
            <a:avLst/>
          </a:prstGeom>
        </p:spPr>
        <p:txBody>
          <a:bodyPr wrap="none">
            <a:spAutoFit/>
          </a:bodyPr>
          <a:lstStyle/>
          <a:p>
            <a:pPr>
              <a:spcAft>
                <a:spcPts val="600"/>
              </a:spcAft>
            </a:pPr>
            <a:r>
              <a:rPr lang="zh-CN" altLang="en-US" sz="2400" b="1" dirty="0"/>
              <a:t>本课程由三部分组成：</a:t>
            </a:r>
            <a:endParaRPr lang="en-US" altLang="zh-CN" sz="2400" b="1" dirty="0"/>
          </a:p>
        </p:txBody>
      </p:sp>
      <p:sp>
        <p:nvSpPr>
          <p:cNvPr id="5" name="Rectangle 4"/>
          <p:cNvSpPr/>
          <p:nvPr/>
        </p:nvSpPr>
        <p:spPr>
          <a:xfrm>
            <a:off x="652181" y="3180715"/>
            <a:ext cx="7839637" cy="2985433"/>
          </a:xfrm>
          <a:prstGeom prst="rect">
            <a:avLst/>
          </a:prstGeom>
        </p:spPr>
        <p:txBody>
          <a:bodyPr wrap="square">
            <a:spAutoFit/>
          </a:bodyPr>
          <a:lstStyle/>
          <a:p>
            <a:pPr>
              <a:spcAft>
                <a:spcPts val="1200"/>
              </a:spcAft>
            </a:pPr>
            <a:r>
              <a:rPr lang="zh-CN" altLang="en-US" sz="2400" b="1" dirty="0">
                <a:latin typeface="Times New Roman" panose="02020603050405020304" pitchFamily="18" charset="0"/>
                <a:ea typeface="SimSun" pitchFamily="2" charset="-122"/>
                <a:cs typeface="Times New Roman" panose="02020603050405020304" pitchFamily="18" charset="0"/>
              </a:rPr>
              <a:t>第一部分</a:t>
            </a:r>
            <a:r>
              <a:rPr lang="zh-CN" altLang="en-US" sz="2400" dirty="0">
                <a:latin typeface="Times New Roman" panose="02020603050405020304" pitchFamily="18" charset="0"/>
                <a:ea typeface="SimSun" pitchFamily="2" charset="-122"/>
                <a:cs typeface="Times New Roman" panose="02020603050405020304" pitchFamily="18" charset="0"/>
              </a:rPr>
              <a:t>：</a:t>
            </a:r>
            <a:r>
              <a:rPr lang="zh-CN" altLang="en-US" sz="2400" b="1" dirty="0">
                <a:solidFill>
                  <a:srgbClr val="0070C0"/>
                </a:solidFill>
                <a:latin typeface="Times New Roman" panose="02020603050405020304" pitchFamily="18" charset="0"/>
                <a:ea typeface="SimSun" pitchFamily="2" charset="-122"/>
                <a:cs typeface="Times New Roman" panose="02020603050405020304" pitchFamily="18" charset="0"/>
              </a:rPr>
              <a:t>传感器，</a:t>
            </a:r>
            <a:r>
              <a:rPr lang="zh-CN" altLang="en-US" sz="2400" dirty="0">
                <a:latin typeface="Times New Roman" panose="02020603050405020304" pitchFamily="18" charset="0"/>
                <a:ea typeface="SimSun" pitchFamily="2" charset="-122"/>
                <a:cs typeface="Times New Roman" panose="02020603050405020304" pitchFamily="18" charset="0"/>
              </a:rPr>
              <a:t>如电阻式、电感式、电容式、磁电式、压电式、光电式、热电式的基本原理和设计知识，并介绍集成智能传感器，以及讲授传感器的标定和传感器可靠性技术</a:t>
            </a:r>
            <a:endParaRPr lang="en-US" altLang="zh-CN" sz="2400" dirty="0">
              <a:latin typeface="Times New Roman" panose="02020603050405020304" pitchFamily="18" charset="0"/>
              <a:ea typeface="SimSun" pitchFamily="2" charset="-122"/>
              <a:cs typeface="Times New Roman" panose="02020603050405020304" pitchFamily="18" charset="0"/>
            </a:endParaRPr>
          </a:p>
          <a:p>
            <a:pPr>
              <a:spcAft>
                <a:spcPts val="1200"/>
              </a:spcAft>
            </a:pPr>
            <a:r>
              <a:rPr lang="zh-CN" altLang="en-US" sz="2400" b="1" dirty="0">
                <a:latin typeface="Times New Roman" panose="02020603050405020304" pitchFamily="18" charset="0"/>
                <a:ea typeface="SimSun" pitchFamily="2" charset="-122"/>
                <a:cs typeface="Times New Roman" panose="02020603050405020304" pitchFamily="18" charset="0"/>
              </a:rPr>
              <a:t>第二部分</a:t>
            </a:r>
            <a:r>
              <a:rPr lang="zh-CN" altLang="en-US" sz="2400" dirty="0">
                <a:latin typeface="Times New Roman" panose="02020603050405020304" pitchFamily="18" charset="0"/>
                <a:ea typeface="SimSun" pitchFamily="2" charset="-122"/>
                <a:cs typeface="Times New Roman" panose="02020603050405020304" pitchFamily="18" charset="0"/>
              </a:rPr>
              <a:t>：</a:t>
            </a:r>
            <a:r>
              <a:rPr lang="zh-CN" altLang="en-US" sz="2400" b="1" dirty="0">
                <a:solidFill>
                  <a:srgbClr val="0070C0"/>
                </a:solidFill>
                <a:latin typeface="Times New Roman" panose="02020603050405020304" pitchFamily="18" charset="0"/>
                <a:ea typeface="SimSun" pitchFamily="2" charset="-122"/>
                <a:cs typeface="Times New Roman" panose="02020603050405020304" pitchFamily="18" charset="0"/>
              </a:rPr>
              <a:t>检测技术，</a:t>
            </a:r>
            <a:r>
              <a:rPr lang="zh-CN" altLang="en-US" sz="2400" dirty="0">
                <a:latin typeface="Times New Roman" panose="02020603050405020304" pitchFamily="18" charset="0"/>
                <a:ea typeface="SimSun" pitchFamily="2" charset="-122"/>
                <a:cs typeface="Times New Roman" panose="02020603050405020304" pitchFamily="18" charset="0"/>
              </a:rPr>
              <a:t>主要介绍检测系统基本概念和原理、检测系统相关指标和数据处理方法等</a:t>
            </a:r>
            <a:endParaRPr lang="en-US" altLang="zh-CN" sz="2400" dirty="0">
              <a:latin typeface="Times New Roman" panose="02020603050405020304" pitchFamily="18" charset="0"/>
              <a:ea typeface="SimSun" pitchFamily="2" charset="-122"/>
              <a:cs typeface="Times New Roman" panose="02020603050405020304" pitchFamily="18" charset="0"/>
            </a:endParaRPr>
          </a:p>
          <a:p>
            <a:r>
              <a:rPr lang="zh-CN" altLang="en-US" sz="2400" b="1" dirty="0">
                <a:latin typeface="Times New Roman" panose="02020603050405020304" pitchFamily="18" charset="0"/>
                <a:ea typeface="SimSun" pitchFamily="2" charset="-122"/>
                <a:cs typeface="Times New Roman" panose="02020603050405020304" pitchFamily="18" charset="0"/>
              </a:rPr>
              <a:t>第三部分</a:t>
            </a:r>
            <a:r>
              <a:rPr lang="zh-CN" altLang="en-US" sz="2400" dirty="0">
                <a:latin typeface="Times New Roman" panose="02020603050405020304" pitchFamily="18" charset="0"/>
                <a:ea typeface="SimSun" pitchFamily="2" charset="-122"/>
                <a:cs typeface="Times New Roman" panose="02020603050405020304" pitchFamily="18" charset="0"/>
              </a:rPr>
              <a:t>：</a:t>
            </a:r>
            <a:r>
              <a:rPr lang="zh-CN" altLang="en-US" sz="2400" b="1" dirty="0">
                <a:solidFill>
                  <a:srgbClr val="0070C0"/>
                </a:solidFill>
                <a:latin typeface="Times New Roman" panose="02020603050405020304" pitchFamily="18" charset="0"/>
                <a:ea typeface="SimSun" pitchFamily="2" charset="-122"/>
                <a:cs typeface="Times New Roman" panose="02020603050405020304" pitchFamily="18" charset="0"/>
              </a:rPr>
              <a:t>实验</a:t>
            </a:r>
            <a:endParaRPr lang="en-US" sz="2400" dirty="0"/>
          </a:p>
        </p:txBody>
      </p:sp>
      <p:sp>
        <p:nvSpPr>
          <p:cNvPr id="2" name="Slide Number Placeholder 1"/>
          <p:cNvSpPr>
            <a:spLocks noGrp="1"/>
          </p:cNvSpPr>
          <p:nvPr>
            <p:ph type="sldNum" sz="quarter" idx="12"/>
          </p:nvPr>
        </p:nvSpPr>
        <p:spPr/>
        <p:txBody>
          <a:bodyPr/>
          <a:lstStyle/>
          <a:p>
            <a:fld id="{B53602B4-F12B-41CD-B648-531F86B2CC91}" type="slidenum">
              <a:rPr lang="zh-CN" altLang="en-US" smtClean="0"/>
              <a:t>5</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矩形 50"/>
          <p:cNvSpPr/>
          <p:nvPr/>
        </p:nvSpPr>
        <p:spPr>
          <a:xfrm flipH="1">
            <a:off x="1273628" y="2118954"/>
            <a:ext cx="7870372" cy="1306287"/>
          </a:xfrm>
          <a:prstGeom prst="rect">
            <a:avLst/>
          </a:prstGeom>
          <a:solidFill>
            <a:schemeClr val="accent5"/>
          </a:soli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p>
        </p:txBody>
      </p:sp>
      <p:sp>
        <p:nvSpPr>
          <p:cNvPr id="40" name="圆角矩形 39"/>
          <p:cNvSpPr/>
          <p:nvPr/>
        </p:nvSpPr>
        <p:spPr>
          <a:xfrm rot="10800000" flipV="1">
            <a:off x="348339" y="2103446"/>
            <a:ext cx="955496" cy="1291039"/>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9" tIns="34289" rIns="68579" bIns="34289" rtlCol="0" anchor="ctr"/>
          <a:lstStyle/>
          <a:p>
            <a:pPr algn="ctr"/>
            <a:r>
              <a:rPr lang="en-US" altLang="zh-CN" sz="4500" b="1" dirty="0">
                <a:latin typeface="Arial" panose="020B0604020202020204" pitchFamily="34" charset="0"/>
                <a:cs typeface="Arial" panose="020B0604020202020204" pitchFamily="34" charset="0"/>
              </a:rPr>
              <a:t>0</a:t>
            </a:r>
            <a:endParaRPr lang="zh-CN" altLang="en-US" sz="4500" b="1" dirty="0">
              <a:latin typeface="Arial" panose="020B0604020202020204" pitchFamily="34" charset="0"/>
              <a:cs typeface="Arial" panose="020B0604020202020204" pitchFamily="34" charset="0"/>
            </a:endParaRPr>
          </a:p>
        </p:txBody>
      </p:sp>
      <p:sp>
        <p:nvSpPr>
          <p:cNvPr id="42" name="文本框 41"/>
          <p:cNvSpPr txBox="1"/>
          <p:nvPr/>
        </p:nvSpPr>
        <p:spPr>
          <a:xfrm>
            <a:off x="2336953" y="2460425"/>
            <a:ext cx="5348257" cy="623246"/>
          </a:xfrm>
          <a:prstGeom prst="rect">
            <a:avLst/>
          </a:prstGeom>
          <a:noFill/>
        </p:spPr>
        <p:txBody>
          <a:bodyPr wrap="none" lIns="68579" tIns="34289" rIns="68579" bIns="34289" rtlCol="0">
            <a:spAutoFit/>
          </a:bodyPr>
          <a:lstStyle/>
          <a:p>
            <a:pPr algn="l" eaLnBrk="1" hangingPunct="1"/>
            <a:r>
              <a:rPr lang="zh-CN" altLang="en-US" sz="3600" b="1" spc="450" dirty="0">
                <a:solidFill>
                  <a:schemeClr val="bg1"/>
                </a:solidFill>
                <a:latin typeface="宋体" panose="02010600030101010101" pitchFamily="2" charset="-122"/>
                <a:ea typeface="宋体" panose="02010600030101010101" pitchFamily="2" charset="-122"/>
                <a:sym typeface="+mn-ea"/>
              </a:rPr>
              <a:t>传感器与检测技术概念</a:t>
            </a:r>
            <a:endParaRPr lang="zh-CN" altLang="en-US" sz="3600" spc="450" dirty="0">
              <a:solidFill>
                <a:schemeClr val="bg1"/>
              </a:solidFill>
              <a:latin typeface="宋体" panose="02010600030101010101" pitchFamily="2" charset="-122"/>
              <a:ea typeface="宋体" panose="02010600030101010101" pitchFamily="2" charset="-122"/>
            </a:endParaRPr>
          </a:p>
        </p:txBody>
      </p:sp>
      <p:grpSp>
        <p:nvGrpSpPr>
          <p:cNvPr id="3" name="组 2"/>
          <p:cNvGrpSpPr/>
          <p:nvPr/>
        </p:nvGrpSpPr>
        <p:grpSpPr>
          <a:xfrm>
            <a:off x="-15826" y="2114505"/>
            <a:ext cx="182083" cy="1285287"/>
            <a:chOff x="-21102" y="2858492"/>
            <a:chExt cx="242777" cy="1285286"/>
          </a:xfrm>
        </p:grpSpPr>
        <p:sp>
          <p:nvSpPr>
            <p:cNvPr id="46" name="圆角矩形 45"/>
            <p:cNvSpPr/>
            <p:nvPr/>
          </p:nvSpPr>
          <p:spPr>
            <a:xfrm rot="16200000" flipV="1">
              <a:off x="-13338" y="3643334"/>
              <a:ext cx="227250" cy="242777"/>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圆角矩形 46"/>
            <p:cNvSpPr/>
            <p:nvPr/>
          </p:nvSpPr>
          <p:spPr>
            <a:xfrm rot="16200000" flipV="1">
              <a:off x="-13338" y="3908764"/>
              <a:ext cx="227250" cy="242777"/>
            </a:xfrm>
            <a:prstGeom prst="roundRect">
              <a:avLst>
                <a:gd name="adj" fmla="val 5039"/>
              </a:avLst>
            </a:prstGeom>
            <a:solidFill>
              <a:schemeClr val="accent5">
                <a:lumMod val="5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圆角矩形 47"/>
            <p:cNvSpPr/>
            <p:nvPr/>
          </p:nvSpPr>
          <p:spPr>
            <a:xfrm rot="16200000" flipV="1">
              <a:off x="-13338" y="3122170"/>
              <a:ext cx="227250" cy="242777"/>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圆角矩形 48"/>
            <p:cNvSpPr/>
            <p:nvPr/>
          </p:nvSpPr>
          <p:spPr>
            <a:xfrm rot="16200000" flipV="1">
              <a:off x="-13338" y="3387600"/>
              <a:ext cx="227250" cy="242777"/>
            </a:xfrm>
            <a:prstGeom prst="roundRect">
              <a:avLst>
                <a:gd name="adj" fmla="val 5039"/>
              </a:avLst>
            </a:prstGeom>
            <a:solidFill>
              <a:schemeClr val="accent5">
                <a:lumMod val="5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圆角矩形 44"/>
            <p:cNvSpPr/>
            <p:nvPr/>
          </p:nvSpPr>
          <p:spPr>
            <a:xfrm rot="16200000" flipV="1">
              <a:off x="-13338" y="2850728"/>
              <a:ext cx="227250" cy="242777"/>
            </a:xfrm>
            <a:prstGeom prst="roundRect">
              <a:avLst>
                <a:gd name="adj" fmla="val 5039"/>
              </a:avLst>
            </a:prstGeom>
            <a:solidFill>
              <a:schemeClr val="accent5">
                <a:lumMod val="5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 name="Slide Number Placeholder 3">
            <a:extLst>
              <a:ext uri="{FF2B5EF4-FFF2-40B4-BE49-F238E27FC236}">
                <a16:creationId xmlns:a16="http://schemas.microsoft.com/office/drawing/2014/main" id="{820EE9B5-E056-4843-A763-49D16EA71019}"/>
              </a:ext>
            </a:extLst>
          </p:cNvPr>
          <p:cNvSpPr>
            <a:spLocks noGrp="1"/>
          </p:cNvSpPr>
          <p:nvPr>
            <p:ph type="sldNum" sz="quarter" idx="12"/>
          </p:nvPr>
        </p:nvSpPr>
        <p:spPr>
          <a:xfrm>
            <a:off x="6457950" y="6356351"/>
            <a:ext cx="2057400" cy="365125"/>
          </a:xfrm>
        </p:spPr>
        <p:txBody>
          <a:bodyPr/>
          <a:lstStyle/>
          <a:p>
            <a:fld id="{B53602B4-F12B-41CD-B648-531F86B2CC91}" type="slidenum">
              <a:rPr lang="zh-CN" altLang="en-US" smtClean="0"/>
              <a:t>6</a:t>
            </a:fld>
            <a:endParaRPr lang="zh-CN" altLang="en-US"/>
          </a:p>
        </p:txBody>
      </p:sp>
    </p:spTree>
    <p:extLst>
      <p:ext uri="{BB962C8B-B14F-4D97-AF65-F5344CB8AC3E}">
        <p14:creationId xmlns:p14="http://schemas.microsoft.com/office/powerpoint/2010/main" val="36201702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07FCAEA-61BC-4604-8DE6-DF5DA9A20098}"/>
              </a:ext>
            </a:extLst>
          </p:cNvPr>
          <p:cNvSpPr>
            <a:spLocks noGrp="1"/>
          </p:cNvSpPr>
          <p:nvPr>
            <p:ph type="sldNum" sz="quarter" idx="12"/>
          </p:nvPr>
        </p:nvSpPr>
        <p:spPr/>
        <p:txBody>
          <a:bodyPr/>
          <a:lstStyle/>
          <a:p>
            <a:fld id="{B53602B4-F12B-41CD-B648-531F86B2CC91}" type="slidenum">
              <a:rPr lang="zh-CN" altLang="en-US" smtClean="0"/>
              <a:t>7</a:t>
            </a:fld>
            <a:endParaRPr lang="zh-CN" altLang="en-US"/>
          </a:p>
        </p:txBody>
      </p:sp>
      <p:pic>
        <p:nvPicPr>
          <p:cNvPr id="5" name="Picture 2" descr="D:\Work\Proposals\2013_03_05_NSFCProposal\申请书\Graphics\humunculus.jpg">
            <a:extLst>
              <a:ext uri="{FF2B5EF4-FFF2-40B4-BE49-F238E27FC236}">
                <a16:creationId xmlns:a16="http://schemas.microsoft.com/office/drawing/2014/main" id="{A89E5D6C-CF1B-46C1-AFF7-98668CD8F85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3883"/>
          <a:stretch/>
        </p:blipFill>
        <p:spPr bwMode="auto">
          <a:xfrm>
            <a:off x="672689" y="2100011"/>
            <a:ext cx="7722067" cy="4107494"/>
          </a:xfrm>
          <a:prstGeom prst="rect">
            <a:avLst/>
          </a:prstGeom>
          <a:noFill/>
          <a:extLst>
            <a:ext uri="{909E8E84-426E-40DD-AFC4-6F175D3DCCD1}">
              <a14:hiddenFill xmlns:a14="http://schemas.microsoft.com/office/drawing/2010/main">
                <a:solidFill>
                  <a:srgbClr val="FFFFFF"/>
                </a:solidFill>
              </a14:hiddenFill>
            </a:ext>
          </a:extLst>
        </p:spPr>
      </p:pic>
      <p:sp>
        <p:nvSpPr>
          <p:cNvPr id="6" name="Title 5">
            <a:extLst>
              <a:ext uri="{FF2B5EF4-FFF2-40B4-BE49-F238E27FC236}">
                <a16:creationId xmlns:a16="http://schemas.microsoft.com/office/drawing/2014/main" id="{FDEE7E42-BAA5-442F-ADB2-7C52F6BBF196}"/>
              </a:ext>
            </a:extLst>
          </p:cNvPr>
          <p:cNvSpPr txBox="1">
            <a:spLocks/>
          </p:cNvSpPr>
          <p:nvPr/>
        </p:nvSpPr>
        <p:spPr>
          <a:xfrm>
            <a:off x="418923" y="565652"/>
            <a:ext cx="8229600" cy="648000"/>
          </a:xfrm>
          <a:prstGeom prst="rect">
            <a:avLst/>
          </a:prstGeom>
        </p:spPr>
        <p:txBody>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n-US" altLang="zh-CN" sz="3200" b="1">
                <a:latin typeface="Palatino Linotype" panose="02040502050505030304" pitchFamily="18" charset="0"/>
                <a:ea typeface="黑体" panose="02010609060101010101" pitchFamily="49" charset="-122"/>
                <a:cs typeface="Arial" panose="020B0604020202020204" pitchFamily="34" charset="0"/>
              </a:rPr>
              <a:t>Human Sense</a:t>
            </a:r>
            <a:endParaRPr lang="en-US" sz="3200" b="1" dirty="0">
              <a:latin typeface="Palatino Linotype" panose="02040502050505030304" pitchFamily="18" charset="0"/>
              <a:ea typeface="黑体" panose="02010609060101010101" pitchFamily="49" charset="-122"/>
              <a:cs typeface="Arial" panose="020B0604020202020204" pitchFamily="34" charset="0"/>
            </a:endParaRPr>
          </a:p>
        </p:txBody>
      </p:sp>
      <p:sp>
        <p:nvSpPr>
          <p:cNvPr id="7" name="Content Placeholder 6">
            <a:extLst>
              <a:ext uri="{FF2B5EF4-FFF2-40B4-BE49-F238E27FC236}">
                <a16:creationId xmlns:a16="http://schemas.microsoft.com/office/drawing/2014/main" id="{1BBEE2D2-392F-4CE0-868D-83A838D85D1D}"/>
              </a:ext>
            </a:extLst>
          </p:cNvPr>
          <p:cNvSpPr txBox="1">
            <a:spLocks/>
          </p:cNvSpPr>
          <p:nvPr/>
        </p:nvSpPr>
        <p:spPr>
          <a:xfrm>
            <a:off x="3380426" y="312574"/>
            <a:ext cx="5268097" cy="1772719"/>
          </a:xfrm>
          <a:prstGeom prst="rect">
            <a:avLst/>
          </a:prstGeom>
        </p:spPr>
        <p:txBody>
          <a:bodyPr vert="horz" lIns="0" tIns="0" rIns="0" bIns="0" rtlCol="0">
            <a:noAutofit/>
          </a:bodyPr>
          <a:lstStyle>
            <a:lvl1pPr marL="360000" indent="-360000" algn="just" defTabSz="914400" rtl="0" eaLnBrk="1" latinLnBrk="0" hangingPunct="1">
              <a:lnSpc>
                <a:spcPct val="125000"/>
              </a:lnSpc>
              <a:spcBef>
                <a:spcPts val="1200"/>
              </a:spcBef>
              <a:spcAft>
                <a:spcPts val="0"/>
              </a:spcAft>
              <a:buFont typeface="Wingdings" panose="05000000000000000000" pitchFamily="2" charset="2"/>
              <a:buChar char="Ø"/>
              <a:defRPr lang="en-US" sz="2000" b="0" kern="1200" baseline="0" dirty="0" smtClean="0">
                <a:solidFill>
                  <a:srgbClr val="711351"/>
                </a:solidFill>
                <a:effectLst/>
                <a:latin typeface="Segoe UI" panose="020B0502040204020203" pitchFamily="34" charset="0"/>
                <a:ea typeface="宋体" panose="02010600030101010101" pitchFamily="2" charset="-122"/>
                <a:cs typeface="Segoe UI" panose="020B0502040204020203" pitchFamily="34" charset="0"/>
              </a:defRPr>
            </a:lvl1pPr>
            <a:lvl2pPr marL="684000" marR="0" indent="-252000" algn="just" defTabSz="914400" rtl="0" eaLnBrk="1" fontAlgn="auto" latinLnBrk="0" hangingPunct="1">
              <a:lnSpc>
                <a:spcPct val="125000"/>
              </a:lnSpc>
              <a:spcBef>
                <a:spcPts val="600"/>
              </a:spcBef>
              <a:spcAft>
                <a:spcPts val="0"/>
              </a:spcAft>
              <a:buClrTx/>
              <a:buSzTx/>
              <a:buFont typeface="Wingdings" panose="05000000000000000000" pitchFamily="2" charset="2"/>
              <a:buChar char="§"/>
              <a:tabLst/>
              <a:defRPr lang="en-US" sz="1800" b="0" kern="1200" baseline="0" dirty="0" smtClean="0">
                <a:solidFill>
                  <a:srgbClr val="711351"/>
                </a:solidFill>
                <a:effectLst/>
                <a:latin typeface="Segoe UI" panose="020B0502040204020203" pitchFamily="34" charset="0"/>
                <a:ea typeface="宋体" panose="02010600030101010101" pitchFamily="2" charset="-122"/>
                <a:cs typeface="Segoe UI" panose="020B0502040204020203" pitchFamily="34" charset="0"/>
              </a:defRPr>
            </a:lvl2pPr>
            <a:lvl3pPr marL="972000" marR="0" indent="-216000" algn="just" defTabSz="914400" rtl="0" eaLnBrk="1" fontAlgn="auto" latinLnBrk="0" hangingPunct="1">
              <a:lnSpc>
                <a:spcPct val="125000"/>
              </a:lnSpc>
              <a:spcBef>
                <a:spcPts val="300"/>
              </a:spcBef>
              <a:spcAft>
                <a:spcPts val="0"/>
              </a:spcAft>
              <a:buClrTx/>
              <a:buSzTx/>
              <a:buFont typeface="Arial" panose="020B0604020202020204" pitchFamily="34" charset="0"/>
              <a:buChar char="•"/>
              <a:tabLst/>
              <a:defRPr lang="en-US" altLang="zh-CN" sz="1700" b="0" kern="1200" baseline="0" dirty="0" smtClean="0">
                <a:solidFill>
                  <a:srgbClr val="711351"/>
                </a:solidFill>
                <a:effectLst/>
                <a:latin typeface="Segoe UI" panose="020B0502040204020203" pitchFamily="34" charset="0"/>
                <a:ea typeface="宋体" panose="02010600030101010101" pitchFamily="2" charset="-122"/>
                <a:cs typeface="Segoe UI" panose="020B0502040204020203" pitchFamily="34" charset="0"/>
              </a:defRPr>
            </a:lvl3pPr>
            <a:lvl4pPr marL="1143000" indent="-285750" algn="l" defTabSz="914400" rtl="0" eaLnBrk="1" latinLnBrk="0" hangingPunct="1">
              <a:lnSpc>
                <a:spcPct val="100000"/>
              </a:lnSpc>
              <a:spcBef>
                <a:spcPts val="600"/>
              </a:spcBef>
              <a:buFont typeface="Wingdings" panose="05000000000000000000" pitchFamily="2" charset="2"/>
              <a:buChar char="Ø"/>
              <a:defRPr lang="en-US" altLang="zh-CN" sz="1400" b="0" kern="1200" baseline="0" dirty="0" smtClean="0">
                <a:solidFill>
                  <a:srgbClr val="711351"/>
                </a:solidFill>
                <a:effectLst/>
                <a:latin typeface="Segoe UI" panose="020B0502040204020203" pitchFamily="34" charset="0"/>
                <a:ea typeface="宋体" panose="02010600030101010101" pitchFamily="2" charset="-122"/>
                <a:cs typeface="Segoe UI" panose="020B0502040204020203" pitchFamily="34" charset="0"/>
              </a:defRPr>
            </a:lvl4pPr>
            <a:lvl5pPr marL="2057400" indent="-228600" algn="l" defTabSz="914400" rtl="0" eaLnBrk="1" latinLnBrk="0" hangingPunct="1">
              <a:spcBef>
                <a:spcPct val="20000"/>
              </a:spcBef>
              <a:buFont typeface="Wingdings" panose="05000000000000000000" pitchFamily="2" charset="2"/>
              <a:buChar char="Ø"/>
              <a:defRPr lang="en-US" sz="2000" b="0" kern="1200" baseline="0" dirty="0">
                <a:solidFill>
                  <a:srgbClr val="800080"/>
                </a:solidFill>
                <a:effectLst>
                  <a:outerShdw blurRad="38100" dist="38100" dir="2700000" algn="tl">
                    <a:srgbClr val="C0C0C0"/>
                  </a:outerShdw>
                </a:effectLst>
                <a:latin typeface="Segoe UI" panose="020B0502040204020203" pitchFamily="34" charset="0"/>
                <a:ea typeface="黑体" panose="02010609060101010101" pitchFamily="49" charset="-122"/>
                <a:cs typeface="Segoe UI" panose="020B0502040204020203"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lgn="l">
              <a:lnSpc>
                <a:spcPct val="114000"/>
              </a:lnSpc>
              <a:spcBef>
                <a:spcPts val="600"/>
              </a:spcBef>
            </a:pPr>
            <a:r>
              <a:rPr lang="en-US" altLang="zh-CN" sz="1800" dirty="0">
                <a:solidFill>
                  <a:schemeClr val="tx1"/>
                </a:solidFill>
                <a:latin typeface="Palatino Linotype" panose="02040502050505030304" pitchFamily="18" charset="0"/>
              </a:rPr>
              <a:t>Buddha and Aristotle classified five ‘traditional’ human senses which have become universally accepted:  </a:t>
            </a:r>
            <a:r>
              <a:rPr lang="en-US" altLang="zh-CN" sz="1800" dirty="0">
                <a:solidFill>
                  <a:srgbClr val="0000FF"/>
                </a:solidFill>
                <a:latin typeface="Palatino Linotype" panose="02040502050505030304" pitchFamily="18" charset="0"/>
              </a:rPr>
              <a:t>touch, sight, hearing, taste, smell</a:t>
            </a:r>
          </a:p>
          <a:p>
            <a:pPr algn="l">
              <a:lnSpc>
                <a:spcPct val="114000"/>
              </a:lnSpc>
              <a:spcBef>
                <a:spcPts val="600"/>
              </a:spcBef>
            </a:pPr>
            <a:r>
              <a:rPr lang="en-US" sz="1800" dirty="0">
                <a:solidFill>
                  <a:schemeClr val="tx1"/>
                </a:solidFill>
                <a:latin typeface="Palatino Linotype" panose="02040502050505030304" pitchFamily="18" charset="0"/>
              </a:rPr>
              <a:t>Other senses that have been well-accepted: </a:t>
            </a:r>
            <a:r>
              <a:rPr lang="en-US" altLang="zh-CN" sz="1800" dirty="0">
                <a:solidFill>
                  <a:srgbClr val="0000FF"/>
                </a:solidFill>
                <a:latin typeface="Palatino Linotype" panose="02040502050505030304" pitchFamily="18" charset="0"/>
              </a:rPr>
              <a:t>kinaesthesia, equilibrioception, thermoception, nociception</a:t>
            </a:r>
            <a:endParaRPr lang="en-US" sz="1800" dirty="0">
              <a:solidFill>
                <a:srgbClr val="0000FF"/>
              </a:solidFill>
              <a:latin typeface="Palatino Linotype" panose="02040502050505030304" pitchFamily="18" charset="0"/>
            </a:endParaRPr>
          </a:p>
          <a:p>
            <a:pPr algn="l">
              <a:lnSpc>
                <a:spcPct val="114000"/>
              </a:lnSpc>
              <a:spcBef>
                <a:spcPts val="600"/>
              </a:spcBef>
            </a:pPr>
            <a:endParaRPr lang="en-US" sz="1800" dirty="0">
              <a:latin typeface="Palatino Linotype" panose="02040502050505030304" pitchFamily="18" charset="0"/>
            </a:endParaRPr>
          </a:p>
        </p:txBody>
      </p:sp>
      <p:sp>
        <p:nvSpPr>
          <p:cNvPr id="8" name="TextBox 7">
            <a:extLst>
              <a:ext uri="{FF2B5EF4-FFF2-40B4-BE49-F238E27FC236}">
                <a16:creationId xmlns:a16="http://schemas.microsoft.com/office/drawing/2014/main" id="{CA4C3891-46DD-4B15-BE9C-A53E395B54B2}"/>
              </a:ext>
            </a:extLst>
          </p:cNvPr>
          <p:cNvSpPr txBox="1"/>
          <p:nvPr/>
        </p:nvSpPr>
        <p:spPr>
          <a:xfrm>
            <a:off x="418923" y="1915345"/>
            <a:ext cx="1946246" cy="369332"/>
          </a:xfrm>
          <a:prstGeom prst="rect">
            <a:avLst/>
          </a:prstGeom>
          <a:noFill/>
        </p:spPr>
        <p:txBody>
          <a:bodyPr wrap="square" lIns="0" tIns="0" rIns="0" bIns="0" rtlCol="0">
            <a:spAutoFit/>
          </a:bodyPr>
          <a:lstStyle/>
          <a:p>
            <a:r>
              <a:rPr lang="en-US" sz="2400" dirty="0">
                <a:solidFill>
                  <a:srgbClr val="0000FF"/>
                </a:solidFill>
                <a:latin typeface="Palatino Linotype" panose="02040502050505030304" pitchFamily="18" charset="0"/>
                <a:ea typeface="宋体" panose="02010600030101010101" pitchFamily="2" charset="-122"/>
                <a:cs typeface="Segoe UI" panose="020B0502040204020203" pitchFamily="34" charset="0"/>
              </a:rPr>
              <a:t>Homunculus</a:t>
            </a:r>
          </a:p>
        </p:txBody>
      </p:sp>
    </p:spTree>
    <p:extLst>
      <p:ext uri="{BB962C8B-B14F-4D97-AF65-F5344CB8AC3E}">
        <p14:creationId xmlns:p14="http://schemas.microsoft.com/office/powerpoint/2010/main" val="39188697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3709586-AAFB-4F78-B3FF-0A933B54981B}"/>
              </a:ext>
            </a:extLst>
          </p:cNvPr>
          <p:cNvSpPr>
            <a:spLocks noGrp="1"/>
          </p:cNvSpPr>
          <p:nvPr>
            <p:ph type="sldNum" sz="quarter" idx="12"/>
          </p:nvPr>
        </p:nvSpPr>
        <p:spPr/>
        <p:txBody>
          <a:bodyPr/>
          <a:lstStyle/>
          <a:p>
            <a:fld id="{B53602B4-F12B-41CD-B648-531F86B2CC91}" type="slidenum">
              <a:rPr lang="zh-CN" altLang="en-US" smtClean="0"/>
              <a:t>8</a:t>
            </a:fld>
            <a:endParaRPr lang="zh-CN" altLang="en-US"/>
          </a:p>
        </p:txBody>
      </p:sp>
      <p:sp>
        <p:nvSpPr>
          <p:cNvPr id="3" name="Title 1">
            <a:extLst>
              <a:ext uri="{FF2B5EF4-FFF2-40B4-BE49-F238E27FC236}">
                <a16:creationId xmlns:a16="http://schemas.microsoft.com/office/drawing/2014/main" id="{266319CC-A6A2-4C0B-A7D3-DC6F30094F93}"/>
              </a:ext>
            </a:extLst>
          </p:cNvPr>
          <p:cNvSpPr txBox="1">
            <a:spLocks/>
          </p:cNvSpPr>
          <p:nvPr/>
        </p:nvSpPr>
        <p:spPr>
          <a:xfrm>
            <a:off x="491224" y="540134"/>
            <a:ext cx="8229600" cy="648000"/>
          </a:xfrm>
          <a:prstGeom prst="rect">
            <a:avLst/>
          </a:prstGeom>
        </p:spPr>
        <p:txBody>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zh-CN" altLang="en-US" sz="3200">
                <a:latin typeface="微软雅黑" panose="020B0503020204020204" pitchFamily="34" charset="-122"/>
                <a:ea typeface="微软雅黑" panose="020B0503020204020204" pitchFamily="34" charset="-122"/>
              </a:rPr>
              <a:t>人的部分感知能力特性</a:t>
            </a:r>
            <a:endParaRPr lang="en-US" sz="3200" dirty="0">
              <a:latin typeface="微软雅黑" panose="020B0503020204020204" pitchFamily="34" charset="-122"/>
              <a:ea typeface="微软雅黑" panose="020B0503020204020204" pitchFamily="34" charset="-122"/>
            </a:endParaRPr>
          </a:p>
        </p:txBody>
      </p:sp>
      <p:pic>
        <p:nvPicPr>
          <p:cNvPr id="4" name="Picture 2">
            <a:extLst>
              <a:ext uri="{FF2B5EF4-FFF2-40B4-BE49-F238E27FC236}">
                <a16:creationId xmlns:a16="http://schemas.microsoft.com/office/drawing/2014/main" id="{7A309CD4-CFA1-4CFE-930E-C550913FA62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8736" y="1177206"/>
            <a:ext cx="7180247" cy="45035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TextBox 5">
            <a:extLst>
              <a:ext uri="{FF2B5EF4-FFF2-40B4-BE49-F238E27FC236}">
                <a16:creationId xmlns:a16="http://schemas.microsoft.com/office/drawing/2014/main" id="{FFC95A18-6BF5-4E55-9A55-A42421EF27FE}"/>
              </a:ext>
            </a:extLst>
          </p:cNvPr>
          <p:cNvSpPr txBox="1"/>
          <p:nvPr/>
        </p:nvSpPr>
        <p:spPr>
          <a:xfrm>
            <a:off x="614678" y="5785243"/>
            <a:ext cx="8163561" cy="338554"/>
          </a:xfrm>
          <a:prstGeom prst="rect">
            <a:avLst/>
          </a:prstGeom>
          <a:noFill/>
        </p:spPr>
        <p:txBody>
          <a:bodyPr wrap="square">
            <a:spAutoFit/>
          </a:bodyPr>
          <a:lstStyle/>
          <a:p>
            <a:r>
              <a:rPr lang="en-US" altLang="zh-CN" sz="1600" dirty="0"/>
              <a:t>DL: </a:t>
            </a:r>
            <a:r>
              <a:rPr lang="zh-CN" altLang="en-US" sz="1600" dirty="0"/>
              <a:t>差别阈限</a:t>
            </a:r>
            <a:r>
              <a:rPr lang="en-US" altLang="zh-CN" sz="1600" dirty="0"/>
              <a:t>,</a:t>
            </a:r>
            <a:r>
              <a:rPr lang="zh-CN" altLang="en-US" sz="1600" b="0" i="0" dirty="0">
                <a:solidFill>
                  <a:srgbClr val="333333"/>
                </a:solidFill>
                <a:effectLst/>
                <a:latin typeface="Arial" panose="020B0604020202020204" pitchFamily="34" charset="0"/>
              </a:rPr>
              <a:t> </a:t>
            </a:r>
            <a:r>
              <a:rPr lang="zh-CN" altLang="en-US" sz="1600" b="0" i="0" dirty="0">
                <a:solidFill>
                  <a:srgbClr val="191B1F"/>
                </a:solidFill>
                <a:effectLst/>
                <a:latin typeface="-apple-system"/>
              </a:rPr>
              <a:t>能引起可感知差别的刺激物理强度的最小变化</a:t>
            </a:r>
            <a:r>
              <a:rPr lang="en-US" altLang="zh-CN" sz="1600" b="0" i="0" dirty="0">
                <a:solidFill>
                  <a:srgbClr val="191B1F"/>
                </a:solidFill>
                <a:effectLst/>
                <a:latin typeface="-apple-system"/>
              </a:rPr>
              <a:t>,</a:t>
            </a:r>
            <a:r>
              <a:rPr lang="en-US" sz="1600" b="0" i="0" dirty="0">
                <a:solidFill>
                  <a:srgbClr val="191B1F"/>
                </a:solidFill>
                <a:effectLst/>
                <a:latin typeface="-apple-system"/>
              </a:rPr>
              <a:t> just-noticeable difference, JND</a:t>
            </a:r>
            <a:endParaRPr lang="en-US" sz="1600" dirty="0"/>
          </a:p>
        </p:txBody>
      </p:sp>
      <p:pic>
        <p:nvPicPr>
          <p:cNvPr id="8" name="Picture 7">
            <a:extLst>
              <a:ext uri="{FF2B5EF4-FFF2-40B4-BE49-F238E27FC236}">
                <a16:creationId xmlns:a16="http://schemas.microsoft.com/office/drawing/2014/main" id="{3E90B93B-57C7-4298-B548-1FD9AF2EC9F8}"/>
              </a:ext>
            </a:extLst>
          </p:cNvPr>
          <p:cNvPicPr>
            <a:picLocks noChangeAspect="1"/>
          </p:cNvPicPr>
          <p:nvPr/>
        </p:nvPicPr>
        <p:blipFill>
          <a:blip r:embed="rId3"/>
          <a:stretch>
            <a:fillRect/>
          </a:stretch>
        </p:blipFill>
        <p:spPr>
          <a:xfrm>
            <a:off x="983344" y="6228247"/>
            <a:ext cx="693056" cy="411502"/>
          </a:xfrm>
          <a:prstGeom prst="rect">
            <a:avLst/>
          </a:prstGeom>
        </p:spPr>
      </p:pic>
    </p:spTree>
    <p:extLst>
      <p:ext uri="{BB962C8B-B14F-4D97-AF65-F5344CB8AC3E}">
        <p14:creationId xmlns:p14="http://schemas.microsoft.com/office/powerpoint/2010/main" val="8343552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1BF5866-A086-4A7F-85F9-ECA2EB06C761}"/>
              </a:ext>
            </a:extLst>
          </p:cNvPr>
          <p:cNvSpPr>
            <a:spLocks noGrp="1"/>
          </p:cNvSpPr>
          <p:nvPr>
            <p:ph type="sldNum" sz="quarter" idx="12"/>
          </p:nvPr>
        </p:nvSpPr>
        <p:spPr/>
        <p:txBody>
          <a:bodyPr/>
          <a:lstStyle/>
          <a:p>
            <a:fld id="{B53602B4-F12B-41CD-B648-531F86B2CC91}" type="slidenum">
              <a:rPr lang="zh-CN" altLang="en-US" smtClean="0"/>
              <a:t>9</a:t>
            </a:fld>
            <a:endParaRPr lang="zh-CN" altLang="en-US"/>
          </a:p>
        </p:txBody>
      </p:sp>
      <p:pic>
        <p:nvPicPr>
          <p:cNvPr id="4" name="Picture 2">
            <a:extLst>
              <a:ext uri="{FF2B5EF4-FFF2-40B4-BE49-F238E27FC236}">
                <a16:creationId xmlns:a16="http://schemas.microsoft.com/office/drawing/2014/main" id="{D26786C6-5114-45D8-9AE0-B6D978597A7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44028" y="1188134"/>
            <a:ext cx="5255943" cy="55529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Title 1">
            <a:extLst>
              <a:ext uri="{FF2B5EF4-FFF2-40B4-BE49-F238E27FC236}">
                <a16:creationId xmlns:a16="http://schemas.microsoft.com/office/drawing/2014/main" id="{CBFA50B8-FDE4-47E2-B46F-0BA67DCF44CB}"/>
              </a:ext>
            </a:extLst>
          </p:cNvPr>
          <p:cNvSpPr txBox="1">
            <a:spLocks/>
          </p:cNvSpPr>
          <p:nvPr/>
        </p:nvSpPr>
        <p:spPr>
          <a:xfrm>
            <a:off x="491224" y="540134"/>
            <a:ext cx="8229600" cy="648000"/>
          </a:xfrm>
          <a:prstGeom prst="rect">
            <a:avLst/>
          </a:prstGeom>
        </p:spPr>
        <p:txBody>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zh-CN" altLang="en-US" sz="3200" dirty="0">
                <a:latin typeface="微软雅黑" panose="020B0503020204020204" pitchFamily="34" charset="-122"/>
                <a:ea typeface="微软雅黑" panose="020B0503020204020204" pitchFamily="34" charset="-122"/>
              </a:rPr>
              <a:t>人的部分感知能力特性</a:t>
            </a:r>
            <a:endParaRPr lang="en-US" sz="32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9293224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1915188" y="402452"/>
            <a:ext cx="3153741" cy="469357"/>
          </a:xfrm>
          <a:prstGeom prst="rect">
            <a:avLst/>
          </a:prstGeom>
        </p:spPr>
        <p:txBody>
          <a:bodyPr wrap="none" lIns="68577" tIns="34289" rIns="68577" bIns="34289">
            <a:spAutoFit/>
          </a:bodyPr>
          <a:lstStyle/>
          <a:p>
            <a:pPr marL="6985" indent="-6985" algn="ctr"/>
            <a:r>
              <a:rPr lang="zh-CN" altLang="en-US" sz="2600" b="1" dirty="0">
                <a:solidFill>
                  <a:schemeClr val="bg1"/>
                </a:solidFill>
                <a:latin typeface="SimSun" pitchFamily="2" charset="-122"/>
                <a:ea typeface="SimSun" pitchFamily="2" charset="-122"/>
              </a:rPr>
              <a:t>传感器的组成与分类</a:t>
            </a:r>
          </a:p>
        </p:txBody>
      </p:sp>
      <p:pic>
        <p:nvPicPr>
          <p:cNvPr id="4" name="Picture 3"/>
          <p:cNvPicPr>
            <a:picLocks noChangeAspect="1"/>
          </p:cNvPicPr>
          <p:nvPr/>
        </p:nvPicPr>
        <p:blipFill rotWithShape="1">
          <a:blip r:embed="rId3"/>
          <a:srcRect l="12614" r="14278"/>
          <a:stretch>
            <a:fillRect/>
          </a:stretch>
        </p:blipFill>
        <p:spPr>
          <a:xfrm>
            <a:off x="86386" y="1867228"/>
            <a:ext cx="4827106" cy="3714041"/>
          </a:xfrm>
          <a:prstGeom prst="rect">
            <a:avLst/>
          </a:prstGeom>
        </p:spPr>
      </p:pic>
      <p:pic>
        <p:nvPicPr>
          <p:cNvPr id="8" name="Picture 7"/>
          <p:cNvPicPr>
            <a:picLocks noChangeAspect="1"/>
          </p:cNvPicPr>
          <p:nvPr/>
        </p:nvPicPr>
        <p:blipFill rotWithShape="1">
          <a:blip r:embed="rId4"/>
          <a:srcRect l="5428" t="21471" r="28775" b="15396"/>
          <a:stretch>
            <a:fillRect/>
          </a:stretch>
        </p:blipFill>
        <p:spPr>
          <a:xfrm>
            <a:off x="5192438" y="1795118"/>
            <a:ext cx="3477090" cy="1876666"/>
          </a:xfrm>
          <a:prstGeom prst="rect">
            <a:avLst/>
          </a:prstGeom>
        </p:spPr>
      </p:pic>
      <p:sp>
        <p:nvSpPr>
          <p:cNvPr id="25" name="Rectangle 24"/>
          <p:cNvSpPr/>
          <p:nvPr/>
        </p:nvSpPr>
        <p:spPr>
          <a:xfrm>
            <a:off x="2499939" y="1911563"/>
            <a:ext cx="2356988" cy="362536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3" name="Picture 12"/>
          <p:cNvPicPr>
            <a:picLocks noChangeAspect="1"/>
          </p:cNvPicPr>
          <p:nvPr/>
        </p:nvPicPr>
        <p:blipFill>
          <a:blip r:embed="rId5"/>
          <a:stretch>
            <a:fillRect/>
          </a:stretch>
        </p:blipFill>
        <p:spPr>
          <a:xfrm>
            <a:off x="5192438" y="3862820"/>
            <a:ext cx="3477090" cy="1738545"/>
          </a:xfrm>
          <a:prstGeom prst="rect">
            <a:avLst/>
          </a:prstGeom>
        </p:spPr>
      </p:pic>
      <p:sp>
        <p:nvSpPr>
          <p:cNvPr id="2" name="Slide Number Placeholder 1"/>
          <p:cNvSpPr>
            <a:spLocks noGrp="1"/>
          </p:cNvSpPr>
          <p:nvPr>
            <p:ph type="sldNum" sz="quarter" idx="12"/>
          </p:nvPr>
        </p:nvSpPr>
        <p:spPr/>
        <p:txBody>
          <a:bodyPr/>
          <a:lstStyle/>
          <a:p>
            <a:fld id="{B53602B4-F12B-41CD-B648-531F86B2CC91}" type="slidenum">
              <a:rPr lang="zh-CN" altLang="en-US" smtClean="0"/>
              <a:t>10</a:t>
            </a:fld>
            <a:endParaRPr lang="zh-CN" altLang="en-US"/>
          </a:p>
        </p:txBody>
      </p:sp>
      <p:sp>
        <p:nvSpPr>
          <p:cNvPr id="3" name="Title 1">
            <a:extLst>
              <a:ext uri="{FF2B5EF4-FFF2-40B4-BE49-F238E27FC236}">
                <a16:creationId xmlns:a16="http://schemas.microsoft.com/office/drawing/2014/main" id="{42D39C44-F58E-17E2-B8A0-65D7608AF62A}"/>
              </a:ext>
            </a:extLst>
          </p:cNvPr>
          <p:cNvSpPr txBox="1">
            <a:spLocks/>
          </p:cNvSpPr>
          <p:nvPr/>
        </p:nvSpPr>
        <p:spPr>
          <a:xfrm>
            <a:off x="491224" y="540134"/>
            <a:ext cx="8229600" cy="648000"/>
          </a:xfrm>
          <a:prstGeom prst="rect">
            <a:avLst/>
          </a:prstGeom>
        </p:spPr>
        <p:txBody>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zh-CN" altLang="en-US" sz="3200" dirty="0">
                <a:latin typeface="微软雅黑" panose="020B0503020204020204" pitchFamily="34" charset="-122"/>
                <a:ea typeface="微软雅黑" panose="020B0503020204020204" pitchFamily="34" charset="-122"/>
              </a:rPr>
              <a:t>传感器的应用实例</a:t>
            </a:r>
            <a:endParaRPr lang="en-US" sz="3200"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p14:dur="0" advClick="0">
        <p:fade/>
      </p:transition>
    </mc:Choice>
    <mc:Fallback xmlns="">
      <p:transition advClick="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xit" presetSubtype="10" fill="hold" grpId="0" nodeType="clickEffect">
                                  <p:stCondLst>
                                    <p:cond delay="0"/>
                                  </p:stCondLst>
                                  <p:childTnLst>
                                    <p:animEffect transition="out" filter="blinds(horizontal)">
                                      <p:cBhvr>
                                        <p:cTn id="6" dur="500"/>
                                        <p:tgtEl>
                                          <p:spTgt spid="25"/>
                                        </p:tgtEl>
                                      </p:cBhvr>
                                    </p:animEffect>
                                    <p:set>
                                      <p:cBhvr>
                                        <p:cTn id="7" dur="1" fill="hold">
                                          <p:stCondLst>
                                            <p:cond delay="499"/>
                                          </p:stCondLst>
                                        </p:cTn>
                                        <p:tgtEl>
                                          <p:spTgt spid="25"/>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0" name="直接连接符 79"/>
          <p:cNvCxnSpPr/>
          <p:nvPr/>
        </p:nvCxnSpPr>
        <p:spPr>
          <a:xfrm>
            <a:off x="1803319" y="28769"/>
            <a:ext cx="0" cy="5643645"/>
          </a:xfrm>
          <a:prstGeom prst="line">
            <a:avLst/>
          </a:prstGeom>
          <a:ln w="3175">
            <a:solidFill>
              <a:schemeClr val="tx1">
                <a:lumMod val="50000"/>
                <a:lumOff val="50000"/>
                <a:alpha val="33000"/>
              </a:schemeClr>
            </a:solidFill>
            <a:headEnd type="diamond"/>
            <a:tailEnd type="diamond"/>
          </a:ln>
        </p:spPr>
        <p:style>
          <a:lnRef idx="1">
            <a:schemeClr val="accent1"/>
          </a:lnRef>
          <a:fillRef idx="0">
            <a:schemeClr val="accent1"/>
          </a:fillRef>
          <a:effectRef idx="0">
            <a:schemeClr val="accent1"/>
          </a:effectRef>
          <a:fontRef idx="minor">
            <a:schemeClr val="tx1"/>
          </a:fontRef>
        </p:style>
      </p:cxnSp>
      <p:sp>
        <p:nvSpPr>
          <p:cNvPr id="4" name="矩形 3"/>
          <p:cNvSpPr/>
          <p:nvPr/>
        </p:nvSpPr>
        <p:spPr>
          <a:xfrm rot="5400000">
            <a:off x="-2908718" y="2904934"/>
            <a:ext cx="6818603" cy="1008743"/>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9" tIns="34289" rIns="68579" bIns="34289" rtlCol="0" anchor="ctr"/>
          <a:lstStyle/>
          <a:p>
            <a:pPr algn="ctr"/>
            <a:endParaRPr lang="zh-CN" altLang="en-US"/>
          </a:p>
        </p:txBody>
      </p:sp>
      <p:grpSp>
        <p:nvGrpSpPr>
          <p:cNvPr id="15" name="组 14"/>
          <p:cNvGrpSpPr/>
          <p:nvPr/>
        </p:nvGrpSpPr>
        <p:grpSpPr>
          <a:xfrm>
            <a:off x="-16725" y="6654792"/>
            <a:ext cx="953603" cy="203211"/>
            <a:chOff x="-22302" y="6654791"/>
            <a:chExt cx="1271471" cy="203210"/>
          </a:xfrm>
        </p:grpSpPr>
        <p:sp>
          <p:nvSpPr>
            <p:cNvPr id="9" name="圆角矩形 8"/>
            <p:cNvSpPr/>
            <p:nvPr/>
          </p:nvSpPr>
          <p:spPr>
            <a:xfrm flipV="1">
              <a:off x="240276" y="6654791"/>
              <a:ext cx="224807" cy="203210"/>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圆角矩形 9"/>
            <p:cNvSpPr/>
            <p:nvPr/>
          </p:nvSpPr>
          <p:spPr>
            <a:xfrm flipV="1">
              <a:off x="-22302" y="6654791"/>
              <a:ext cx="224807" cy="203210"/>
            </a:xfrm>
            <a:prstGeom prst="roundRect">
              <a:avLst>
                <a:gd name="adj" fmla="val 5039"/>
              </a:avLst>
            </a:prstGeom>
            <a:solidFill>
              <a:schemeClr val="accent5">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圆角矩形 10"/>
            <p:cNvSpPr/>
            <p:nvPr/>
          </p:nvSpPr>
          <p:spPr>
            <a:xfrm flipV="1">
              <a:off x="755838" y="6654791"/>
              <a:ext cx="224807" cy="203210"/>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圆角矩形 11"/>
            <p:cNvSpPr/>
            <p:nvPr/>
          </p:nvSpPr>
          <p:spPr>
            <a:xfrm flipV="1">
              <a:off x="493260" y="6654791"/>
              <a:ext cx="224807" cy="203210"/>
            </a:xfrm>
            <a:prstGeom prst="roundRect">
              <a:avLst>
                <a:gd name="adj" fmla="val 5039"/>
              </a:avLst>
            </a:prstGeom>
            <a:solidFill>
              <a:schemeClr val="accent5">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圆角矩形 7"/>
            <p:cNvSpPr/>
            <p:nvPr/>
          </p:nvSpPr>
          <p:spPr>
            <a:xfrm flipV="1">
              <a:off x="1024362" y="6654791"/>
              <a:ext cx="224807" cy="203210"/>
            </a:xfrm>
            <a:prstGeom prst="roundRect">
              <a:avLst>
                <a:gd name="adj" fmla="val 5039"/>
              </a:avLst>
            </a:prstGeom>
            <a:solidFill>
              <a:schemeClr val="accent5">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0" name="文本框 19"/>
          <p:cNvSpPr txBox="1"/>
          <p:nvPr/>
        </p:nvSpPr>
        <p:spPr>
          <a:xfrm>
            <a:off x="104043" y="901931"/>
            <a:ext cx="754047" cy="3863281"/>
          </a:xfrm>
          <a:prstGeom prst="rect">
            <a:avLst/>
          </a:prstGeom>
          <a:noFill/>
        </p:spPr>
        <p:txBody>
          <a:bodyPr vert="eaVert" wrap="square" lIns="68577" tIns="34289" rIns="68577" bIns="34289" rtlCol="0">
            <a:spAutoFit/>
          </a:bodyPr>
          <a:lstStyle/>
          <a:p>
            <a:r>
              <a:rPr lang="ja-JP" altLang="en-US" sz="4000" b="1" spc="1200">
                <a:solidFill>
                  <a:schemeClr val="bg1"/>
                </a:solidFill>
                <a:latin typeface="微软雅黑" panose="020B0503020204020204" pitchFamily="34" charset="-122"/>
                <a:ea typeface="微软雅黑" panose="020B0503020204020204" pitchFamily="34" charset="-122"/>
              </a:rPr>
              <a:t>内容提纲</a:t>
            </a:r>
            <a:endParaRPr lang="zh-CN" altLang="en-US" sz="4000" b="1" spc="1200" dirty="0">
              <a:solidFill>
                <a:schemeClr val="bg1"/>
              </a:solidFill>
              <a:latin typeface="微软雅黑" panose="020B0503020204020204" pitchFamily="34" charset="-122"/>
              <a:ea typeface="微软雅黑" panose="020B0503020204020204" pitchFamily="34" charset="-122"/>
            </a:endParaRPr>
          </a:p>
        </p:txBody>
      </p:sp>
      <p:sp>
        <p:nvSpPr>
          <p:cNvPr id="73" name="圆角矩形 72"/>
          <p:cNvSpPr/>
          <p:nvPr/>
        </p:nvSpPr>
        <p:spPr>
          <a:xfrm rot="10800000" flipV="1">
            <a:off x="2686979" y="623785"/>
            <a:ext cx="861785" cy="424267"/>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9" rIns="68577" bIns="34289" rtlCol="0" anchor="ctr"/>
          <a:lstStyle/>
          <a:p>
            <a:pPr algn="ctr"/>
            <a:r>
              <a:rPr lang="en-US" altLang="zh-CN" sz="2700" b="1" dirty="0">
                <a:latin typeface="Arial" panose="020B0604020202020204" pitchFamily="34" charset="0"/>
                <a:ea typeface="宋体" panose="02010600030101010101" pitchFamily="2" charset="-122"/>
                <a:cs typeface="Arial" panose="020B0604020202020204" pitchFamily="34" charset="0"/>
              </a:rPr>
              <a:t>0.1</a:t>
            </a:r>
            <a:endParaRPr lang="zh-CN" altLang="en-US" sz="2700" b="1" dirty="0">
              <a:latin typeface="Arial" panose="020B0604020202020204" pitchFamily="34" charset="0"/>
              <a:ea typeface="宋体" panose="02010600030101010101" pitchFamily="2" charset="-122"/>
              <a:cs typeface="Arial" panose="020B0604020202020204" pitchFamily="34" charset="0"/>
            </a:endParaRPr>
          </a:p>
        </p:txBody>
      </p:sp>
      <p:sp>
        <p:nvSpPr>
          <p:cNvPr id="74" name="圆角矩形 73"/>
          <p:cNvSpPr/>
          <p:nvPr/>
        </p:nvSpPr>
        <p:spPr>
          <a:xfrm rot="10800000" flipV="1">
            <a:off x="2686980" y="1540892"/>
            <a:ext cx="861781" cy="424269"/>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9" rIns="68577" bIns="34289" rtlCol="0" anchor="ctr"/>
          <a:lstStyle/>
          <a:p>
            <a:pPr algn="ctr"/>
            <a:r>
              <a:rPr lang="en-US" altLang="zh-CN" sz="2700" b="1" dirty="0">
                <a:latin typeface="Arial" panose="020B0604020202020204" pitchFamily="34" charset="0"/>
                <a:ea typeface="宋体" panose="02010600030101010101" pitchFamily="2" charset="-122"/>
                <a:cs typeface="Arial" panose="020B0604020202020204" pitchFamily="34" charset="0"/>
              </a:rPr>
              <a:t>0.2</a:t>
            </a:r>
            <a:endParaRPr lang="zh-CN" altLang="en-US" sz="2700" b="1" dirty="0">
              <a:latin typeface="Arial" panose="020B0604020202020204" pitchFamily="34" charset="0"/>
              <a:ea typeface="宋体" panose="02010600030101010101" pitchFamily="2" charset="-122"/>
              <a:cs typeface="Arial" panose="020B0604020202020204" pitchFamily="34" charset="0"/>
            </a:endParaRPr>
          </a:p>
        </p:txBody>
      </p:sp>
      <p:sp>
        <p:nvSpPr>
          <p:cNvPr id="87" name="文本框 86"/>
          <p:cNvSpPr txBox="1"/>
          <p:nvPr/>
        </p:nvSpPr>
        <p:spPr>
          <a:xfrm>
            <a:off x="3836593" y="545027"/>
            <a:ext cx="3269159" cy="484746"/>
          </a:xfrm>
          <a:prstGeom prst="rect">
            <a:avLst/>
          </a:prstGeom>
          <a:noFill/>
        </p:spPr>
        <p:txBody>
          <a:bodyPr wrap="none" lIns="68577" tIns="34289" rIns="68577" bIns="34289" rtlCol="0">
            <a:spAutoFit/>
          </a:bodyPr>
          <a:lstStyle/>
          <a:p>
            <a:pPr algn="l"/>
            <a:r>
              <a:rPr lang="zh-CN" altLang="en-US" sz="2700" b="1" dirty="0">
                <a:solidFill>
                  <a:schemeClr val="tx2"/>
                </a:solidFill>
                <a:latin typeface="宋体" panose="02010600030101010101" pitchFamily="2" charset="-122"/>
                <a:ea typeface="宋体" panose="02010600030101010101" pitchFamily="2" charset="-122"/>
                <a:sym typeface="+mn-ea"/>
                <a:hlinkClick r:id="rId2" action="ppaction://hlinksldjump"/>
              </a:rPr>
              <a:t>传感器的组成与分类</a:t>
            </a:r>
            <a:endParaRPr lang="zh-CN" altLang="en-US" sz="2700" b="1" dirty="0">
              <a:solidFill>
                <a:schemeClr val="tx2"/>
              </a:solidFill>
            </a:endParaRPr>
          </a:p>
        </p:txBody>
      </p:sp>
      <p:sp>
        <p:nvSpPr>
          <p:cNvPr id="88" name="文本框 87">
            <a:hlinkClick r:id="rId3" action="ppaction://hlinksldjump"/>
          </p:cNvPr>
          <p:cNvSpPr txBox="1"/>
          <p:nvPr/>
        </p:nvSpPr>
        <p:spPr>
          <a:xfrm>
            <a:off x="3836594" y="1456653"/>
            <a:ext cx="3269159" cy="484746"/>
          </a:xfrm>
          <a:prstGeom prst="rect">
            <a:avLst/>
          </a:prstGeom>
          <a:noFill/>
        </p:spPr>
        <p:txBody>
          <a:bodyPr wrap="none" lIns="68577" tIns="34289" rIns="68577" bIns="34289" rtlCol="0">
            <a:spAutoFit/>
          </a:bodyPr>
          <a:lstStyle/>
          <a:p>
            <a:pPr algn="l"/>
            <a:r>
              <a:rPr lang="zh-CN" altLang="en-US" sz="2700" b="1" dirty="0">
                <a:solidFill>
                  <a:schemeClr val="tx2"/>
                </a:solidFill>
                <a:latin typeface="宋体" panose="02010600030101010101" pitchFamily="2" charset="-122"/>
                <a:ea typeface="宋体" panose="02010600030101010101" pitchFamily="2" charset="-122"/>
                <a:sym typeface="+mn-ea"/>
                <a:hlinkClick r:id="rId4" action="ppaction://hlinksldjump"/>
              </a:rPr>
              <a:t>传感器的作用与地位</a:t>
            </a:r>
            <a:endParaRPr lang="zh-CN" altLang="en-US" sz="2700" b="1" dirty="0">
              <a:solidFill>
                <a:schemeClr val="tx2"/>
              </a:solidFill>
              <a:latin typeface="宋体" panose="02010600030101010101" pitchFamily="2" charset="-122"/>
              <a:ea typeface="宋体" panose="02010600030101010101" pitchFamily="2" charset="-122"/>
            </a:endParaRPr>
          </a:p>
        </p:txBody>
      </p:sp>
      <p:sp>
        <p:nvSpPr>
          <p:cNvPr id="5" name="圆角矩形 72"/>
          <p:cNvSpPr/>
          <p:nvPr/>
        </p:nvSpPr>
        <p:spPr>
          <a:xfrm rot="10800000" flipV="1">
            <a:off x="2686979" y="2458001"/>
            <a:ext cx="861785" cy="424267"/>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9" rIns="68577" bIns="34289" rtlCol="0" anchor="ctr"/>
          <a:lstStyle/>
          <a:p>
            <a:pPr algn="ctr"/>
            <a:r>
              <a:rPr lang="en-US" altLang="zh-CN" sz="2700" b="1" dirty="0">
                <a:latin typeface="Arial" panose="020B0604020202020204" pitchFamily="34" charset="0"/>
                <a:ea typeface="宋体" panose="02010600030101010101" pitchFamily="2" charset="-122"/>
                <a:cs typeface="Arial" panose="020B0604020202020204" pitchFamily="34" charset="0"/>
              </a:rPr>
              <a:t>0.3</a:t>
            </a:r>
            <a:endParaRPr lang="zh-CN" altLang="en-US" sz="2700" b="1" dirty="0">
              <a:latin typeface="Arial" panose="020B0604020202020204" pitchFamily="34" charset="0"/>
              <a:ea typeface="宋体" panose="02010600030101010101" pitchFamily="2" charset="-122"/>
              <a:cs typeface="Arial" panose="020B0604020202020204" pitchFamily="34" charset="0"/>
            </a:endParaRPr>
          </a:p>
        </p:txBody>
      </p:sp>
      <p:sp>
        <p:nvSpPr>
          <p:cNvPr id="6" name="圆角矩形 73"/>
          <p:cNvSpPr/>
          <p:nvPr/>
        </p:nvSpPr>
        <p:spPr>
          <a:xfrm rot="10800000" flipV="1">
            <a:off x="2686981" y="3375107"/>
            <a:ext cx="861781" cy="424269"/>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9" rIns="68577" bIns="34289" rtlCol="0" anchor="ctr"/>
          <a:lstStyle/>
          <a:p>
            <a:pPr algn="ctr"/>
            <a:r>
              <a:rPr lang="en-US" altLang="zh-CN" sz="2700" b="1" dirty="0">
                <a:latin typeface="Arial" panose="020B0604020202020204" pitchFamily="34" charset="0"/>
                <a:ea typeface="宋体" panose="02010600030101010101" pitchFamily="2" charset="-122"/>
                <a:cs typeface="Arial" panose="020B0604020202020204" pitchFamily="34" charset="0"/>
              </a:rPr>
              <a:t>0.4</a:t>
            </a:r>
            <a:endParaRPr lang="zh-CN" altLang="en-US" sz="2700" b="1" dirty="0">
              <a:latin typeface="Arial" panose="020B0604020202020204" pitchFamily="34" charset="0"/>
              <a:ea typeface="宋体" panose="02010600030101010101" pitchFamily="2" charset="-122"/>
              <a:cs typeface="Arial" panose="020B0604020202020204" pitchFamily="34" charset="0"/>
            </a:endParaRPr>
          </a:p>
        </p:txBody>
      </p:sp>
      <p:sp>
        <p:nvSpPr>
          <p:cNvPr id="7" name="文本框 6"/>
          <p:cNvSpPr txBox="1"/>
          <p:nvPr/>
        </p:nvSpPr>
        <p:spPr>
          <a:xfrm>
            <a:off x="3836594" y="2365846"/>
            <a:ext cx="2921306" cy="484746"/>
          </a:xfrm>
          <a:prstGeom prst="rect">
            <a:avLst/>
          </a:prstGeom>
          <a:noFill/>
        </p:spPr>
        <p:txBody>
          <a:bodyPr wrap="none" lIns="68577" tIns="34289" rIns="68577" bIns="34289" rtlCol="0">
            <a:spAutoFit/>
          </a:bodyPr>
          <a:lstStyle/>
          <a:p>
            <a:pPr lvl="0" algn="l">
              <a:buClrTx/>
              <a:buSzTx/>
              <a:buFontTx/>
            </a:pPr>
            <a:r>
              <a:rPr lang="zh-CN" altLang="en-US" sz="2700" b="1" dirty="0">
                <a:solidFill>
                  <a:schemeClr val="tx2"/>
                </a:solidFill>
                <a:latin typeface="宋体" panose="02010600030101010101" pitchFamily="2" charset="-122"/>
                <a:ea typeface="宋体" panose="02010600030101010101" pitchFamily="2" charset="-122"/>
                <a:sym typeface="+mn-ea"/>
                <a:hlinkClick r:id="rId5" action="ppaction://hlinksldjump"/>
              </a:rPr>
              <a:t>传感器的发展动向</a:t>
            </a:r>
            <a:endParaRPr lang="zh-CN" altLang="en-US" sz="2700" b="1" dirty="0">
              <a:solidFill>
                <a:schemeClr val="tx2"/>
              </a:solidFill>
              <a:latin typeface="宋体" panose="02010600030101010101" pitchFamily="2" charset="-122"/>
              <a:ea typeface="宋体" panose="02010600030101010101" pitchFamily="2" charset="-122"/>
              <a:sym typeface="+mn-ea"/>
              <a:hlinkClick r:id="rId6" action="ppaction://hlinksldjump"/>
            </a:endParaRPr>
          </a:p>
        </p:txBody>
      </p:sp>
      <p:sp>
        <p:nvSpPr>
          <p:cNvPr id="13" name="文本框 12"/>
          <p:cNvSpPr txBox="1"/>
          <p:nvPr/>
        </p:nvSpPr>
        <p:spPr>
          <a:xfrm>
            <a:off x="3836593" y="3275038"/>
            <a:ext cx="2573455" cy="484746"/>
          </a:xfrm>
          <a:prstGeom prst="rect">
            <a:avLst/>
          </a:prstGeom>
          <a:noFill/>
        </p:spPr>
        <p:txBody>
          <a:bodyPr wrap="none" lIns="68577" tIns="34289" rIns="68577" bIns="34289" rtlCol="0">
            <a:spAutoFit/>
          </a:bodyPr>
          <a:lstStyle/>
          <a:p>
            <a:pPr lvl="0" algn="l">
              <a:buClrTx/>
              <a:buSzTx/>
              <a:buFontTx/>
            </a:pPr>
            <a:r>
              <a:rPr lang="zh-CN" altLang="en-US" sz="2700" b="1" dirty="0">
                <a:solidFill>
                  <a:schemeClr val="tx2"/>
                </a:solidFill>
                <a:latin typeface="宋体" panose="02010600030101010101" pitchFamily="2" charset="-122"/>
                <a:ea typeface="宋体" panose="02010600030101010101" pitchFamily="2" charset="-122"/>
                <a:sym typeface="+mn-ea"/>
                <a:hlinkClick r:id="rId7" action="ppaction://hlinksldjump"/>
              </a:rPr>
              <a:t>检测技术的定义</a:t>
            </a:r>
            <a:endParaRPr lang="zh-CN" altLang="en-US" sz="2700" b="1" dirty="0">
              <a:solidFill>
                <a:schemeClr val="tx2"/>
              </a:solidFill>
              <a:latin typeface="宋体" panose="02010600030101010101" pitchFamily="2" charset="-122"/>
              <a:ea typeface="宋体" panose="02010600030101010101" pitchFamily="2" charset="-122"/>
              <a:sym typeface="+mn-ea"/>
              <a:hlinkClick r:id="rId8" action="ppaction://hlinksldjump"/>
            </a:endParaRPr>
          </a:p>
        </p:txBody>
      </p:sp>
      <p:sp>
        <p:nvSpPr>
          <p:cNvPr id="16" name="圆角矩形 72"/>
          <p:cNvSpPr/>
          <p:nvPr/>
        </p:nvSpPr>
        <p:spPr>
          <a:xfrm rot="10800000" flipV="1">
            <a:off x="2686980" y="5209324"/>
            <a:ext cx="861785" cy="424267"/>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9" rIns="68577" bIns="34289" rtlCol="0" anchor="ctr"/>
          <a:lstStyle/>
          <a:p>
            <a:pPr algn="ctr"/>
            <a:endParaRPr lang="zh-CN" altLang="en-US" sz="2700" b="1" dirty="0">
              <a:latin typeface="宋体" panose="02010600030101010101" pitchFamily="2" charset="-122"/>
              <a:ea typeface="宋体" panose="02010600030101010101" pitchFamily="2" charset="-122"/>
            </a:endParaRPr>
          </a:p>
        </p:txBody>
      </p:sp>
      <p:sp>
        <p:nvSpPr>
          <p:cNvPr id="18" name="文本框 17"/>
          <p:cNvSpPr txBox="1"/>
          <p:nvPr/>
        </p:nvSpPr>
        <p:spPr>
          <a:xfrm>
            <a:off x="3836593" y="5098294"/>
            <a:ext cx="1529900" cy="484746"/>
          </a:xfrm>
          <a:prstGeom prst="rect">
            <a:avLst/>
          </a:prstGeom>
          <a:noFill/>
        </p:spPr>
        <p:txBody>
          <a:bodyPr wrap="none" lIns="68577" tIns="34289" rIns="68577" bIns="34289" rtlCol="0">
            <a:spAutoFit/>
          </a:bodyPr>
          <a:lstStyle/>
          <a:p>
            <a:r>
              <a:rPr lang="zh-CN" altLang="en-US" sz="2700" b="1" dirty="0">
                <a:solidFill>
                  <a:schemeClr val="tx2"/>
                </a:solidFill>
                <a:latin typeface="宋体" panose="02010600030101010101" pitchFamily="2" charset="-122"/>
                <a:ea typeface="宋体" panose="02010600030101010101" pitchFamily="2" charset="-122"/>
                <a:hlinkClick r:id="rId9" action="ppaction://hlinksldjump"/>
              </a:rPr>
              <a:t>本章要点</a:t>
            </a:r>
            <a:endParaRPr lang="zh-CN" altLang="en-US" sz="2700" b="1" dirty="0">
              <a:solidFill>
                <a:schemeClr val="tx2"/>
              </a:solidFill>
              <a:latin typeface="宋体" panose="02010600030101010101" pitchFamily="2" charset="-122"/>
              <a:ea typeface="宋体" panose="02010600030101010101" pitchFamily="2" charset="-122"/>
            </a:endParaRPr>
          </a:p>
        </p:txBody>
      </p:sp>
      <p:sp>
        <p:nvSpPr>
          <p:cNvPr id="34" name="圆角矩形 73"/>
          <p:cNvSpPr/>
          <p:nvPr/>
        </p:nvSpPr>
        <p:spPr>
          <a:xfrm rot="10800000" flipV="1">
            <a:off x="2686981" y="4292216"/>
            <a:ext cx="861781" cy="424269"/>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9" rIns="68577" bIns="34289" rtlCol="0" anchor="ctr"/>
          <a:lstStyle/>
          <a:p>
            <a:pPr algn="ctr"/>
            <a:r>
              <a:rPr lang="en-US" altLang="zh-CN" sz="2700" b="1" dirty="0">
                <a:latin typeface="Arial" panose="020B0604020202020204" pitchFamily="34" charset="0"/>
                <a:ea typeface="宋体" panose="02010600030101010101" pitchFamily="2" charset="-122"/>
                <a:cs typeface="Arial" panose="020B0604020202020204" pitchFamily="34" charset="0"/>
              </a:rPr>
              <a:t>0.5</a:t>
            </a:r>
            <a:endParaRPr lang="zh-CN" altLang="en-US" sz="2700" b="1" dirty="0">
              <a:latin typeface="Arial" panose="020B0604020202020204" pitchFamily="34" charset="0"/>
              <a:ea typeface="宋体" panose="02010600030101010101" pitchFamily="2" charset="-122"/>
              <a:cs typeface="Arial" panose="020B0604020202020204" pitchFamily="34" charset="0"/>
            </a:endParaRPr>
          </a:p>
        </p:txBody>
      </p:sp>
      <p:sp>
        <p:nvSpPr>
          <p:cNvPr id="35" name="文本框 34"/>
          <p:cNvSpPr txBox="1"/>
          <p:nvPr/>
        </p:nvSpPr>
        <p:spPr>
          <a:xfrm>
            <a:off x="3836593" y="4186666"/>
            <a:ext cx="2573455" cy="484746"/>
          </a:xfrm>
          <a:prstGeom prst="rect">
            <a:avLst/>
          </a:prstGeom>
          <a:noFill/>
        </p:spPr>
        <p:txBody>
          <a:bodyPr wrap="none" lIns="68577" tIns="34289" rIns="68577" bIns="34289" rtlCol="0">
            <a:spAutoFit/>
          </a:bodyPr>
          <a:lstStyle/>
          <a:p>
            <a:pPr lvl="0" algn="l">
              <a:buClrTx/>
              <a:buSzTx/>
              <a:buFontTx/>
            </a:pPr>
            <a:r>
              <a:rPr lang="zh-CN" altLang="en-US" sz="2700" b="1" dirty="0">
                <a:solidFill>
                  <a:schemeClr val="tx2"/>
                </a:solidFill>
                <a:latin typeface="宋体" panose="02010600030101010101" pitchFamily="2" charset="-122"/>
                <a:ea typeface="宋体" panose="02010600030101010101" pitchFamily="2" charset="-122"/>
                <a:sym typeface="+mn-ea"/>
                <a:hlinkClick r:id="rId10" action="ppaction://hlinksldjump"/>
              </a:rPr>
              <a:t>检测技术的作用</a:t>
            </a:r>
            <a:endParaRPr lang="zh-CN" altLang="en-US" sz="2700" b="1" dirty="0">
              <a:solidFill>
                <a:schemeClr val="tx2"/>
              </a:solidFill>
              <a:latin typeface="宋体" panose="02010600030101010101" pitchFamily="2" charset="-122"/>
              <a:ea typeface="宋体" panose="02010600030101010101" pitchFamily="2" charset="-122"/>
              <a:sym typeface="+mn-ea"/>
              <a:hlinkClick r:id="rId8" action="ppaction://hlinksldjump"/>
            </a:endParaRPr>
          </a:p>
        </p:txBody>
      </p:sp>
      <p:sp>
        <p:nvSpPr>
          <p:cNvPr id="17" name="Slide Number Placeholder 16">
            <a:extLst>
              <a:ext uri="{FF2B5EF4-FFF2-40B4-BE49-F238E27FC236}">
                <a16:creationId xmlns:a16="http://schemas.microsoft.com/office/drawing/2014/main" id="{B1399D39-F90F-42AD-BE4B-BBF72CFEF641}"/>
              </a:ext>
            </a:extLst>
          </p:cNvPr>
          <p:cNvSpPr>
            <a:spLocks noGrp="1"/>
          </p:cNvSpPr>
          <p:nvPr>
            <p:ph type="sldNum" sz="quarter" idx="12"/>
          </p:nvPr>
        </p:nvSpPr>
        <p:spPr/>
        <p:txBody>
          <a:bodyPr/>
          <a:lstStyle/>
          <a:p>
            <a:fld id="{B53602B4-F12B-41CD-B648-531F86B2CC91}" type="slidenum">
              <a:rPr lang="zh-CN" altLang="en-US" smtClean="0"/>
              <a:t>11</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388116" y="1426081"/>
            <a:ext cx="6490666" cy="1980027"/>
          </a:xfrm>
          <a:prstGeom prst="rect">
            <a:avLst/>
          </a:prstGeom>
        </p:spPr>
        <p:txBody>
          <a:bodyPr wrap="square" lIns="68579" tIns="34289" rIns="68579" bIns="34289">
            <a:spAutoFit/>
          </a:bodyPr>
          <a:lstStyle/>
          <a:p>
            <a:pPr>
              <a:lnSpc>
                <a:spcPts val="3600"/>
              </a:lnSpc>
              <a:spcBef>
                <a:spcPts val="503"/>
              </a:spcBef>
            </a:pPr>
            <a:r>
              <a:rPr lang="zh-CN" altLang="en-US" sz="2400" b="1" dirty="0">
                <a:latin typeface="宋体" panose="02010600030101010101" pitchFamily="2" charset="-122"/>
                <a:ea typeface="宋体" panose="02010600030101010101" pitchFamily="2" charset="-122"/>
                <a:sym typeface="+mn-ea"/>
              </a:rPr>
              <a:t>传感器的</a:t>
            </a:r>
            <a:r>
              <a:rPr lang="zh-CN" altLang="en-US" sz="2400" b="1" dirty="0">
                <a:solidFill>
                  <a:srgbClr val="FF0000"/>
                </a:solidFill>
                <a:latin typeface="宋体" panose="02010600030101010101" pitchFamily="2" charset="-122"/>
                <a:ea typeface="宋体" panose="02010600030101010101" pitchFamily="2" charset="-122"/>
                <a:sym typeface="+mn-ea"/>
              </a:rPr>
              <a:t>定义</a:t>
            </a:r>
          </a:p>
          <a:p>
            <a:pPr>
              <a:lnSpc>
                <a:spcPts val="3600"/>
              </a:lnSpc>
              <a:spcBef>
                <a:spcPts val="503"/>
              </a:spcBef>
            </a:pPr>
            <a:r>
              <a:rPr lang="zh-CN" altLang="en-US" sz="2400" b="1" dirty="0">
                <a:latin typeface="宋体" panose="02010600030101010101" pitchFamily="2" charset="-122"/>
                <a:ea typeface="宋体" panose="02010600030101010101" pitchFamily="2" charset="-122"/>
              </a:rPr>
              <a:t>    </a:t>
            </a:r>
            <a:r>
              <a:rPr lang="en-US" altLang="zh-CN" sz="2400" b="1" dirty="0">
                <a:latin typeface="宋体" panose="02010600030101010101" pitchFamily="2" charset="-122"/>
                <a:ea typeface="宋体" panose="02010600030101010101" pitchFamily="2" charset="-122"/>
              </a:rPr>
              <a:t>GB/T 7665-2005</a:t>
            </a:r>
            <a:r>
              <a:rPr lang="zh-CN" altLang="en-US" sz="2400" b="1" dirty="0">
                <a:latin typeface="宋体" panose="02010600030101010101" pitchFamily="2" charset="-122"/>
                <a:ea typeface="宋体" panose="02010600030101010101" pitchFamily="2" charset="-122"/>
              </a:rPr>
              <a:t>：</a:t>
            </a:r>
            <a:r>
              <a:rPr lang="zh-CN" altLang="en-US" sz="2400" b="1" dirty="0">
                <a:latin typeface="宋体" panose="02010600030101010101" pitchFamily="2" charset="-122"/>
                <a:ea typeface="宋体" panose="02010600030101010101" pitchFamily="2" charset="-122"/>
                <a:sym typeface="+mn-ea"/>
              </a:rPr>
              <a:t>传感器是能感受规定的被测量并按照一定规律转换成可用输出信号的器件或装置，通常由敏感元件和转换元件组成。</a:t>
            </a:r>
            <a:endParaRPr lang="zh-CN" altLang="en-US" sz="2400" b="1" dirty="0">
              <a:latin typeface="宋体" panose="02010600030101010101" pitchFamily="2" charset="-122"/>
              <a:ea typeface="宋体" panose="02010600030101010101" pitchFamily="2" charset="-122"/>
            </a:endParaRPr>
          </a:p>
        </p:txBody>
      </p:sp>
      <p:sp>
        <p:nvSpPr>
          <p:cNvPr id="5" name="矩形 4"/>
          <p:cNvSpPr/>
          <p:nvPr/>
        </p:nvSpPr>
        <p:spPr>
          <a:xfrm>
            <a:off x="1571712" y="354314"/>
            <a:ext cx="7839637" cy="620463"/>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9" rIns="68577" bIns="34289" rtlCol="0" anchor="ctr"/>
          <a:lstStyle/>
          <a:p>
            <a:pPr algn="ctr"/>
            <a:endParaRPr lang="zh-CN" altLang="en-US"/>
          </a:p>
        </p:txBody>
      </p:sp>
      <p:sp>
        <p:nvSpPr>
          <p:cNvPr id="6"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9" rIns="68577" bIns="34289" rtlCol="0" anchor="ctr"/>
          <a:lstStyle/>
          <a:p>
            <a:pPr algn="ctr"/>
            <a:r>
              <a:rPr lang="en-US" altLang="zh-CN" sz="2600" b="1" dirty="0">
                <a:latin typeface="Arial" panose="020B0604020202020204" pitchFamily="34" charset="0"/>
                <a:ea typeface="宋体" panose="02010600030101010101" pitchFamily="2" charset="-122"/>
                <a:cs typeface="Arial" panose="020B0604020202020204" pitchFamily="34" charset="0"/>
              </a:rPr>
              <a:t>0.1</a:t>
            </a:r>
            <a:endParaRPr lang="zh-CN" altLang="en-US" sz="2600" b="1" dirty="0">
              <a:latin typeface="Arial" panose="020B0604020202020204" pitchFamily="34" charset="0"/>
              <a:ea typeface="宋体" panose="02010600030101010101" pitchFamily="2" charset="-122"/>
              <a:cs typeface="Arial" panose="020B0604020202020204" pitchFamily="34" charset="0"/>
            </a:endParaRPr>
          </a:p>
        </p:txBody>
      </p:sp>
      <p:sp>
        <p:nvSpPr>
          <p:cNvPr id="7" name="矩形 6"/>
          <p:cNvSpPr/>
          <p:nvPr/>
        </p:nvSpPr>
        <p:spPr>
          <a:xfrm>
            <a:off x="1915188" y="402452"/>
            <a:ext cx="3153741" cy="469357"/>
          </a:xfrm>
          <a:prstGeom prst="rect">
            <a:avLst/>
          </a:prstGeom>
        </p:spPr>
        <p:txBody>
          <a:bodyPr wrap="none" lIns="68577" tIns="34289" rIns="68577" bIns="34289">
            <a:spAutoFit/>
          </a:bodyPr>
          <a:lstStyle/>
          <a:p>
            <a:pPr marL="7144" indent="-7144" algn="ctr"/>
            <a:r>
              <a:rPr lang="zh-CN" altLang="en-US" sz="2600" b="1" dirty="0">
                <a:solidFill>
                  <a:schemeClr val="bg1"/>
                </a:solidFill>
                <a:latin typeface="宋体" panose="02010600030101010101" pitchFamily="2" charset="-122"/>
                <a:ea typeface="宋体" panose="02010600030101010101" pitchFamily="2" charset="-122"/>
              </a:rPr>
              <a:t>传感器的组成与分类</a:t>
            </a:r>
          </a:p>
        </p:txBody>
      </p:sp>
      <p:sp>
        <p:nvSpPr>
          <p:cNvPr id="4" name="Slide Number Placeholder 3">
            <a:extLst>
              <a:ext uri="{FF2B5EF4-FFF2-40B4-BE49-F238E27FC236}">
                <a16:creationId xmlns:a16="http://schemas.microsoft.com/office/drawing/2014/main" id="{82567FB5-9BB4-40C5-BD05-9821E69F0353}"/>
              </a:ext>
            </a:extLst>
          </p:cNvPr>
          <p:cNvSpPr>
            <a:spLocks noGrp="1"/>
          </p:cNvSpPr>
          <p:nvPr>
            <p:ph type="sldNum" sz="quarter" idx="12"/>
          </p:nvPr>
        </p:nvSpPr>
        <p:spPr/>
        <p:txBody>
          <a:bodyPr/>
          <a:lstStyle/>
          <a:p>
            <a:fld id="{B53602B4-F12B-41CD-B648-531F86B2CC91}" type="slidenum">
              <a:rPr lang="zh-CN" altLang="en-US" smtClean="0"/>
              <a:t>12</a:t>
            </a:fld>
            <a:endParaRPr lang="zh-CN" altLang="en-US"/>
          </a:p>
        </p:txBody>
      </p:sp>
      <p:pic>
        <p:nvPicPr>
          <p:cNvPr id="20" name="Picture 11" descr="C:\Documents and Settings\huang\桌面\未命名.bmp">
            <a:extLst>
              <a:ext uri="{FF2B5EF4-FFF2-40B4-BE49-F238E27FC236}">
                <a16:creationId xmlns:a16="http://schemas.microsoft.com/office/drawing/2014/main" id="{B361E70C-666E-4BB2-91F8-36CB6621209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42454"/>
          <a:stretch/>
        </p:blipFill>
        <p:spPr bwMode="auto">
          <a:xfrm>
            <a:off x="228561" y="3836510"/>
            <a:ext cx="8766175" cy="20796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 name="Rectangle 2">
            <a:extLst>
              <a:ext uri="{FF2B5EF4-FFF2-40B4-BE49-F238E27FC236}">
                <a16:creationId xmlns:a16="http://schemas.microsoft.com/office/drawing/2014/main" id="{D60DA881-3238-4FB5-B230-C6CCAC46E7BC}"/>
              </a:ext>
            </a:extLst>
          </p:cNvPr>
          <p:cNvSpPr>
            <a:spLocks noChangeArrowheads="1"/>
          </p:cNvSpPr>
          <p:nvPr/>
        </p:nvSpPr>
        <p:spPr bwMode="auto">
          <a:xfrm>
            <a:off x="4274518" y="4818727"/>
            <a:ext cx="184731"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zh-CN" sz="4400">
              <a:solidFill>
                <a:schemeClr val="tx2"/>
              </a:solidFill>
            </a:endParaRPr>
          </a:p>
        </p:txBody>
      </p:sp>
      <p:sp>
        <p:nvSpPr>
          <p:cNvPr id="22" name="Text Box 12">
            <a:extLst>
              <a:ext uri="{FF2B5EF4-FFF2-40B4-BE49-F238E27FC236}">
                <a16:creationId xmlns:a16="http://schemas.microsoft.com/office/drawing/2014/main" id="{03ABA63F-B9C5-48D2-B4BB-1627EEB2284A}"/>
              </a:ext>
            </a:extLst>
          </p:cNvPr>
          <p:cNvSpPr txBox="1">
            <a:spLocks noChangeArrowheads="1"/>
          </p:cNvSpPr>
          <p:nvPr/>
        </p:nvSpPr>
        <p:spPr bwMode="auto">
          <a:xfrm>
            <a:off x="838200" y="4766934"/>
            <a:ext cx="2209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000" b="1" dirty="0">
                <a:ea typeface="黑体" pitchFamily="2" charset="-122"/>
              </a:rPr>
              <a:t>Sensing element</a:t>
            </a:r>
          </a:p>
        </p:txBody>
      </p:sp>
      <p:sp>
        <p:nvSpPr>
          <p:cNvPr id="23" name="Text Box 13">
            <a:extLst>
              <a:ext uri="{FF2B5EF4-FFF2-40B4-BE49-F238E27FC236}">
                <a16:creationId xmlns:a16="http://schemas.microsoft.com/office/drawing/2014/main" id="{85A533C0-5924-4C81-9CDA-220C17C66740}"/>
              </a:ext>
            </a:extLst>
          </p:cNvPr>
          <p:cNvSpPr txBox="1">
            <a:spLocks noChangeArrowheads="1"/>
          </p:cNvSpPr>
          <p:nvPr/>
        </p:nvSpPr>
        <p:spPr bwMode="auto">
          <a:xfrm>
            <a:off x="2712822" y="3472697"/>
            <a:ext cx="3123391"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spcBef>
                <a:spcPct val="50000"/>
              </a:spcBef>
            </a:pPr>
            <a:r>
              <a:rPr lang="en-US" altLang="zh-CN" sz="2000" b="1" dirty="0">
                <a:ea typeface="微软雅黑" panose="020B0503020204020204" pitchFamily="34" charset="-122"/>
              </a:rPr>
              <a:t>Transduction element</a:t>
            </a:r>
          </a:p>
        </p:txBody>
      </p:sp>
      <p:sp>
        <p:nvSpPr>
          <p:cNvPr id="25" name="Line 14">
            <a:extLst>
              <a:ext uri="{FF2B5EF4-FFF2-40B4-BE49-F238E27FC236}">
                <a16:creationId xmlns:a16="http://schemas.microsoft.com/office/drawing/2014/main" id="{DBBEDEC4-5064-4EC8-8A97-FFE6B9C3F383}"/>
              </a:ext>
            </a:extLst>
          </p:cNvPr>
          <p:cNvSpPr>
            <a:spLocks noChangeShapeType="1"/>
          </p:cNvSpPr>
          <p:nvPr/>
        </p:nvSpPr>
        <p:spPr bwMode="auto">
          <a:xfrm>
            <a:off x="8458200" y="4309734"/>
            <a:ext cx="533400"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 name="Text Box 15">
            <a:extLst>
              <a:ext uri="{FF2B5EF4-FFF2-40B4-BE49-F238E27FC236}">
                <a16:creationId xmlns:a16="http://schemas.microsoft.com/office/drawing/2014/main" id="{5D089ED9-9BC1-485C-B67C-16EA65A23832}"/>
              </a:ext>
            </a:extLst>
          </p:cNvPr>
          <p:cNvSpPr txBox="1">
            <a:spLocks noChangeArrowheads="1"/>
          </p:cNvSpPr>
          <p:nvPr/>
        </p:nvSpPr>
        <p:spPr bwMode="auto">
          <a:xfrm>
            <a:off x="8305800" y="3508795"/>
            <a:ext cx="8382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en-US" sz="2400" b="1">
                <a:latin typeface="宋体" pitchFamily="2" charset="-122"/>
                <a:ea typeface="宋体" pitchFamily="2" charset="-122"/>
              </a:rPr>
              <a:t>电量</a:t>
            </a:r>
          </a:p>
        </p:txBody>
      </p:sp>
      <p:sp>
        <p:nvSpPr>
          <p:cNvPr id="28" name="Text Box 9">
            <a:extLst>
              <a:ext uri="{FF2B5EF4-FFF2-40B4-BE49-F238E27FC236}">
                <a16:creationId xmlns:a16="http://schemas.microsoft.com/office/drawing/2014/main" id="{60B64681-C8C5-497E-8093-CD717ED55488}"/>
              </a:ext>
            </a:extLst>
          </p:cNvPr>
          <p:cNvSpPr txBox="1">
            <a:spLocks noChangeArrowheads="1"/>
          </p:cNvSpPr>
          <p:nvPr/>
        </p:nvSpPr>
        <p:spPr bwMode="auto">
          <a:xfrm>
            <a:off x="2827222" y="5993883"/>
            <a:ext cx="38862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b="1" dirty="0">
                <a:solidFill>
                  <a:srgbClr val="3333CC"/>
                </a:solidFill>
              </a:rPr>
              <a:t>图</a:t>
            </a:r>
            <a:r>
              <a:rPr lang="en-US" altLang="zh-CN" b="1" dirty="0">
                <a:solidFill>
                  <a:srgbClr val="3333CC"/>
                </a:solidFill>
              </a:rPr>
              <a:t>0-1 </a:t>
            </a:r>
            <a:r>
              <a:rPr lang="zh-CN" altLang="en-US" b="1" dirty="0">
                <a:solidFill>
                  <a:srgbClr val="3333CC"/>
                </a:solidFill>
              </a:rPr>
              <a:t>传感器的组成方框图</a:t>
            </a:r>
          </a:p>
        </p:txBody>
      </p:sp>
      <p:pic>
        <p:nvPicPr>
          <p:cNvPr id="14" name="Picture 13">
            <a:extLst>
              <a:ext uri="{FF2B5EF4-FFF2-40B4-BE49-F238E27FC236}">
                <a16:creationId xmlns:a16="http://schemas.microsoft.com/office/drawing/2014/main" id="{8473C564-6160-4782-800F-A3D70701E9C9}"/>
              </a:ext>
            </a:extLst>
          </p:cNvPr>
          <p:cNvPicPr>
            <a:picLocks noChangeAspect="1"/>
          </p:cNvPicPr>
          <p:nvPr/>
        </p:nvPicPr>
        <p:blipFill>
          <a:blip r:embed="rId4"/>
          <a:stretch>
            <a:fillRect/>
          </a:stretch>
        </p:blipFill>
        <p:spPr>
          <a:xfrm>
            <a:off x="6915071" y="354314"/>
            <a:ext cx="2183209" cy="3074686"/>
          </a:xfrm>
          <a:prstGeom prst="rect">
            <a:avLst/>
          </a:prstGeom>
        </p:spPr>
      </p:pic>
    </p:spTree>
    <p:extLst>
      <p:ext uri="{BB962C8B-B14F-4D97-AF65-F5344CB8AC3E}">
        <p14:creationId xmlns:p14="http://schemas.microsoft.com/office/powerpoint/2010/main" val="2358912782"/>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571712" y="354314"/>
            <a:ext cx="7839637" cy="620463"/>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9" rIns="68577" bIns="34289" rtlCol="0" anchor="ctr"/>
          <a:lstStyle/>
          <a:p>
            <a:pPr algn="ctr"/>
            <a:endParaRPr lang="zh-CN" altLang="en-US"/>
          </a:p>
        </p:txBody>
      </p:sp>
      <p:sp>
        <p:nvSpPr>
          <p:cNvPr id="6"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9" rIns="68577" bIns="34289" rtlCol="0" anchor="ctr"/>
          <a:lstStyle/>
          <a:p>
            <a:pPr algn="ctr"/>
            <a:r>
              <a:rPr lang="en-US" altLang="zh-CN" sz="2600" b="1" dirty="0">
                <a:latin typeface="Arial" panose="020B0604020202020204" pitchFamily="34" charset="0"/>
                <a:ea typeface="宋体" panose="02010600030101010101" pitchFamily="2" charset="-122"/>
                <a:cs typeface="Arial" panose="020B0604020202020204" pitchFamily="34" charset="0"/>
              </a:rPr>
              <a:t>0.1</a:t>
            </a:r>
            <a:endParaRPr lang="zh-CN" altLang="en-US" sz="2600" b="1" dirty="0">
              <a:latin typeface="Arial" panose="020B0604020202020204" pitchFamily="34" charset="0"/>
              <a:ea typeface="宋体" panose="02010600030101010101" pitchFamily="2" charset="-122"/>
              <a:cs typeface="Arial" panose="020B0604020202020204" pitchFamily="34" charset="0"/>
            </a:endParaRPr>
          </a:p>
        </p:txBody>
      </p:sp>
      <p:sp>
        <p:nvSpPr>
          <p:cNvPr id="7" name="矩形 6"/>
          <p:cNvSpPr/>
          <p:nvPr/>
        </p:nvSpPr>
        <p:spPr>
          <a:xfrm>
            <a:off x="1915188" y="402452"/>
            <a:ext cx="3153741" cy="469357"/>
          </a:xfrm>
          <a:prstGeom prst="rect">
            <a:avLst/>
          </a:prstGeom>
        </p:spPr>
        <p:txBody>
          <a:bodyPr wrap="none" lIns="68577" tIns="34289" rIns="68577" bIns="34289">
            <a:spAutoFit/>
          </a:bodyPr>
          <a:lstStyle/>
          <a:p>
            <a:pPr marL="7144" indent="-7144" algn="ctr"/>
            <a:r>
              <a:rPr lang="zh-CN" altLang="en-US" sz="2600" b="1" dirty="0">
                <a:solidFill>
                  <a:schemeClr val="bg1"/>
                </a:solidFill>
                <a:latin typeface="宋体" panose="02010600030101010101" pitchFamily="2" charset="-122"/>
                <a:ea typeface="宋体" panose="02010600030101010101" pitchFamily="2" charset="-122"/>
              </a:rPr>
              <a:t>传感器的组成与分类</a:t>
            </a:r>
          </a:p>
        </p:txBody>
      </p:sp>
      <p:sp>
        <p:nvSpPr>
          <p:cNvPr id="4" name="Slide Number Placeholder 3">
            <a:extLst>
              <a:ext uri="{FF2B5EF4-FFF2-40B4-BE49-F238E27FC236}">
                <a16:creationId xmlns:a16="http://schemas.microsoft.com/office/drawing/2014/main" id="{82567FB5-9BB4-40C5-BD05-9821E69F0353}"/>
              </a:ext>
            </a:extLst>
          </p:cNvPr>
          <p:cNvSpPr>
            <a:spLocks noGrp="1"/>
          </p:cNvSpPr>
          <p:nvPr>
            <p:ph type="sldNum" sz="quarter" idx="12"/>
          </p:nvPr>
        </p:nvSpPr>
        <p:spPr/>
        <p:txBody>
          <a:bodyPr/>
          <a:lstStyle/>
          <a:p>
            <a:fld id="{B53602B4-F12B-41CD-B648-531F86B2CC91}" type="slidenum">
              <a:rPr lang="zh-CN" altLang="en-US" smtClean="0"/>
              <a:t>13</a:t>
            </a:fld>
            <a:endParaRPr lang="zh-CN" altLang="en-US"/>
          </a:p>
        </p:txBody>
      </p:sp>
      <p:sp>
        <p:nvSpPr>
          <p:cNvPr id="14" name="矩形 1">
            <a:extLst>
              <a:ext uri="{FF2B5EF4-FFF2-40B4-BE49-F238E27FC236}">
                <a16:creationId xmlns:a16="http://schemas.microsoft.com/office/drawing/2014/main" id="{38F90B03-99B3-488F-9075-18D483469CFC}"/>
              </a:ext>
            </a:extLst>
          </p:cNvPr>
          <p:cNvSpPr/>
          <p:nvPr/>
        </p:nvSpPr>
        <p:spPr>
          <a:xfrm>
            <a:off x="612559" y="1184528"/>
            <a:ext cx="7838965" cy="1916548"/>
          </a:xfrm>
          <a:prstGeom prst="rect">
            <a:avLst/>
          </a:prstGeom>
        </p:spPr>
        <p:txBody>
          <a:bodyPr wrap="square" lIns="68579" tIns="34289" rIns="68579" bIns="34289">
            <a:spAutoFit/>
          </a:bodyPr>
          <a:lstStyle/>
          <a:p>
            <a:pPr indent="457200" algn="just">
              <a:lnSpc>
                <a:spcPts val="3600"/>
              </a:lnSpc>
              <a:spcBef>
                <a:spcPts val="503"/>
              </a:spcBef>
            </a:pPr>
            <a:r>
              <a:rPr lang="zh-CN" altLang="en-US" sz="2400" b="1">
                <a:solidFill>
                  <a:srgbClr val="C00000"/>
                </a:solidFill>
                <a:latin typeface="宋体" panose="02010600030101010101" pitchFamily="2" charset="-122"/>
                <a:ea typeface="宋体" panose="02010600030101010101" pitchFamily="2" charset="-122"/>
                <a:sym typeface="+mn-ea"/>
              </a:rPr>
              <a:t>敏感元件</a:t>
            </a:r>
            <a:r>
              <a:rPr lang="zh-CN" altLang="en-US" sz="2400" b="1">
                <a:latin typeface="宋体" panose="02010600030101010101" pitchFamily="2" charset="-122"/>
                <a:ea typeface="宋体" panose="02010600030101010101" pitchFamily="2" charset="-122"/>
                <a:sym typeface="+mn-ea"/>
              </a:rPr>
              <a:t>是直接感受被测量的部分，</a:t>
            </a:r>
            <a:r>
              <a:rPr lang="zh-CN" altLang="en-US" sz="2400" b="1">
                <a:solidFill>
                  <a:srgbClr val="0070C0"/>
                </a:solidFill>
                <a:latin typeface="宋体" panose="02010600030101010101" pitchFamily="2" charset="-122"/>
                <a:ea typeface="宋体" panose="02010600030101010101" pitchFamily="2" charset="-122"/>
                <a:sym typeface="+mn-ea"/>
              </a:rPr>
              <a:t>转换元件</a:t>
            </a:r>
            <a:r>
              <a:rPr lang="zh-CN" altLang="en-US" sz="2400" b="1">
                <a:latin typeface="宋体" panose="02010600030101010101" pitchFamily="2" charset="-122"/>
                <a:ea typeface="宋体" panose="02010600030101010101" pitchFamily="2" charset="-122"/>
                <a:sym typeface="+mn-ea"/>
              </a:rPr>
              <a:t>是能将敏感元件输出转换为适于传输和测量的电信号的部分。</a:t>
            </a:r>
            <a:endParaRPr lang="zh-CN" altLang="en-US" sz="2400" b="1">
              <a:latin typeface="宋体" panose="02010600030101010101" pitchFamily="2" charset="-122"/>
              <a:ea typeface="宋体" panose="02010600030101010101" pitchFamily="2" charset="-122"/>
            </a:endParaRPr>
          </a:p>
          <a:p>
            <a:pPr indent="457200" algn="just">
              <a:lnSpc>
                <a:spcPts val="3600"/>
              </a:lnSpc>
              <a:spcBef>
                <a:spcPts val="503"/>
              </a:spcBef>
            </a:pPr>
            <a:r>
              <a:rPr lang="zh-CN" altLang="en-US" sz="2400" b="1">
                <a:latin typeface="宋体" panose="02010600030101010101" pitchFamily="2" charset="-122"/>
                <a:ea typeface="宋体" panose="02010600030101010101" pitchFamily="2" charset="-122"/>
                <a:sym typeface="+mn-ea"/>
              </a:rPr>
              <a:t>常</a:t>
            </a:r>
            <a:r>
              <a:rPr lang="zh-CN" altLang="en-US" sz="2400" b="1" dirty="0">
                <a:latin typeface="宋体" panose="02010600030101010101" pitchFamily="2" charset="-122"/>
                <a:ea typeface="宋体" panose="02010600030101010101" pitchFamily="2" charset="-122"/>
                <a:sym typeface="+mn-ea"/>
              </a:rPr>
              <a:t>见的</a:t>
            </a:r>
            <a:r>
              <a:rPr lang="zh-CN" altLang="en-US" sz="2400" b="1" dirty="0">
                <a:solidFill>
                  <a:srgbClr val="00B050"/>
                </a:solidFill>
                <a:latin typeface="宋体" panose="02010600030101010101" pitchFamily="2" charset="-122"/>
                <a:ea typeface="宋体" panose="02010600030101010101" pitchFamily="2" charset="-122"/>
                <a:sym typeface="+mn-ea"/>
              </a:rPr>
              <a:t>信号调节与转换电路</a:t>
            </a:r>
            <a:r>
              <a:rPr lang="zh-CN" altLang="en-US" sz="2400" b="1" dirty="0">
                <a:latin typeface="宋体" panose="02010600030101010101" pitchFamily="2" charset="-122"/>
                <a:ea typeface="宋体" panose="02010600030101010101" pitchFamily="2" charset="-122"/>
                <a:sym typeface="+mn-ea"/>
              </a:rPr>
              <a:t>有</a:t>
            </a:r>
            <a:r>
              <a:rPr lang="zh-CN" altLang="en-US" sz="2400" b="1" u="sng" dirty="0">
                <a:latin typeface="宋体" panose="02010600030101010101" pitchFamily="2" charset="-122"/>
                <a:ea typeface="宋体" panose="02010600030101010101" pitchFamily="2" charset="-122"/>
                <a:sym typeface="+mn-ea"/>
              </a:rPr>
              <a:t>放大器</a:t>
            </a:r>
            <a:r>
              <a:rPr lang="zh-CN" altLang="en-US" sz="2400" b="1" dirty="0">
                <a:latin typeface="宋体" panose="02010600030101010101" pitchFamily="2" charset="-122"/>
                <a:ea typeface="宋体" panose="02010600030101010101" pitchFamily="2" charset="-122"/>
                <a:sym typeface="+mn-ea"/>
              </a:rPr>
              <a:t>、</a:t>
            </a:r>
            <a:r>
              <a:rPr lang="zh-CN" altLang="en-US" sz="2400" b="1" u="sng" dirty="0">
                <a:latin typeface="宋体" panose="02010600030101010101" pitchFamily="2" charset="-122"/>
                <a:ea typeface="宋体" panose="02010600030101010101" pitchFamily="2" charset="-122"/>
                <a:sym typeface="+mn-ea"/>
              </a:rPr>
              <a:t>电桥</a:t>
            </a:r>
            <a:r>
              <a:rPr lang="zh-CN" altLang="en-US" sz="2400" b="1" dirty="0">
                <a:latin typeface="宋体" panose="02010600030101010101" pitchFamily="2" charset="-122"/>
                <a:ea typeface="宋体" panose="02010600030101010101" pitchFamily="2" charset="-122"/>
                <a:sym typeface="+mn-ea"/>
              </a:rPr>
              <a:t>、</a:t>
            </a:r>
            <a:r>
              <a:rPr lang="zh-CN" altLang="en-US" sz="2400" b="1" u="sng" dirty="0">
                <a:latin typeface="宋体" panose="02010600030101010101" pitchFamily="2" charset="-122"/>
                <a:ea typeface="宋体" panose="02010600030101010101" pitchFamily="2" charset="-122"/>
                <a:sym typeface="+mn-ea"/>
              </a:rPr>
              <a:t>振荡器</a:t>
            </a:r>
            <a:r>
              <a:rPr lang="zh-CN" altLang="en-US" sz="2400" b="1" dirty="0">
                <a:latin typeface="宋体" panose="02010600030101010101" pitchFamily="2" charset="-122"/>
                <a:ea typeface="宋体" panose="02010600030101010101" pitchFamily="2" charset="-122"/>
                <a:sym typeface="+mn-ea"/>
              </a:rPr>
              <a:t>、</a:t>
            </a:r>
            <a:r>
              <a:rPr lang="zh-CN" altLang="en-US" sz="2400" b="1" u="sng" dirty="0">
                <a:latin typeface="宋体" panose="02010600030101010101" pitchFamily="2" charset="-122"/>
                <a:ea typeface="宋体" panose="02010600030101010101" pitchFamily="2" charset="-122"/>
                <a:sym typeface="+mn-ea"/>
              </a:rPr>
              <a:t>电荷放大器</a:t>
            </a:r>
            <a:r>
              <a:rPr lang="zh-CN" altLang="en-US" sz="2400" b="1" dirty="0">
                <a:latin typeface="宋体" panose="02010600030101010101" pitchFamily="2" charset="-122"/>
                <a:ea typeface="宋体" panose="02010600030101010101" pitchFamily="2" charset="-122"/>
                <a:sym typeface="+mn-ea"/>
              </a:rPr>
              <a:t>等，它们分别与相应的传感器配合。</a:t>
            </a:r>
            <a:endParaRPr lang="zh-CN" altLang="en-US" sz="2400" b="1" dirty="0">
              <a:latin typeface="宋体" panose="02010600030101010101" pitchFamily="2" charset="-122"/>
              <a:ea typeface="宋体" panose="02010600030101010101" pitchFamily="2" charset="-122"/>
            </a:endParaRPr>
          </a:p>
        </p:txBody>
      </p:sp>
      <p:pic>
        <p:nvPicPr>
          <p:cNvPr id="15" name="Picture 11" descr="C:\Documents and Settings\huang\桌面\未命名.bmp">
            <a:extLst>
              <a:ext uri="{FF2B5EF4-FFF2-40B4-BE49-F238E27FC236}">
                <a16:creationId xmlns:a16="http://schemas.microsoft.com/office/drawing/2014/main" id="{DD954819-18A1-4A11-9D57-E4783376BCD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42454"/>
          <a:stretch/>
        </p:blipFill>
        <p:spPr bwMode="auto">
          <a:xfrm>
            <a:off x="228561" y="3836510"/>
            <a:ext cx="8766175" cy="20796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Rectangle 2">
            <a:extLst>
              <a:ext uri="{FF2B5EF4-FFF2-40B4-BE49-F238E27FC236}">
                <a16:creationId xmlns:a16="http://schemas.microsoft.com/office/drawing/2014/main" id="{39439BE3-CB3C-4684-8BB0-DED4B1A9DEF2}"/>
              </a:ext>
            </a:extLst>
          </p:cNvPr>
          <p:cNvSpPr>
            <a:spLocks noChangeArrowheads="1"/>
          </p:cNvSpPr>
          <p:nvPr/>
        </p:nvSpPr>
        <p:spPr bwMode="auto">
          <a:xfrm>
            <a:off x="4274518" y="4818727"/>
            <a:ext cx="184731"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zh-CN" sz="4400">
              <a:solidFill>
                <a:schemeClr val="tx2"/>
              </a:solidFill>
            </a:endParaRPr>
          </a:p>
        </p:txBody>
      </p:sp>
      <p:sp>
        <p:nvSpPr>
          <p:cNvPr id="17" name="Text Box 12">
            <a:extLst>
              <a:ext uri="{FF2B5EF4-FFF2-40B4-BE49-F238E27FC236}">
                <a16:creationId xmlns:a16="http://schemas.microsoft.com/office/drawing/2014/main" id="{4D88BF8E-F43F-428F-BB55-81F040A857C0}"/>
              </a:ext>
            </a:extLst>
          </p:cNvPr>
          <p:cNvSpPr txBox="1">
            <a:spLocks noChangeArrowheads="1"/>
          </p:cNvSpPr>
          <p:nvPr/>
        </p:nvSpPr>
        <p:spPr bwMode="auto">
          <a:xfrm>
            <a:off x="838200" y="4766934"/>
            <a:ext cx="2209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000" b="1" dirty="0">
                <a:ea typeface="黑体" pitchFamily="2" charset="-122"/>
              </a:rPr>
              <a:t>Sensing element</a:t>
            </a:r>
          </a:p>
        </p:txBody>
      </p:sp>
      <p:sp>
        <p:nvSpPr>
          <p:cNvPr id="18" name="Text Box 13">
            <a:extLst>
              <a:ext uri="{FF2B5EF4-FFF2-40B4-BE49-F238E27FC236}">
                <a16:creationId xmlns:a16="http://schemas.microsoft.com/office/drawing/2014/main" id="{00E7E8C6-FF5C-4D1F-BDF2-727B096D6F87}"/>
              </a:ext>
            </a:extLst>
          </p:cNvPr>
          <p:cNvSpPr txBox="1">
            <a:spLocks noChangeArrowheads="1"/>
          </p:cNvSpPr>
          <p:nvPr/>
        </p:nvSpPr>
        <p:spPr bwMode="auto">
          <a:xfrm>
            <a:off x="2712822" y="3472697"/>
            <a:ext cx="3123391"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spcBef>
                <a:spcPct val="50000"/>
              </a:spcBef>
            </a:pPr>
            <a:r>
              <a:rPr lang="en-US" altLang="zh-CN" sz="2000" b="1" dirty="0">
                <a:ea typeface="微软雅黑" panose="020B0503020204020204" pitchFamily="34" charset="-122"/>
              </a:rPr>
              <a:t>Transduction element</a:t>
            </a:r>
          </a:p>
        </p:txBody>
      </p:sp>
      <p:sp>
        <p:nvSpPr>
          <p:cNvPr id="19" name="Line 14">
            <a:extLst>
              <a:ext uri="{FF2B5EF4-FFF2-40B4-BE49-F238E27FC236}">
                <a16:creationId xmlns:a16="http://schemas.microsoft.com/office/drawing/2014/main" id="{45F545EE-0025-4B59-A948-B884F1D3D56A}"/>
              </a:ext>
            </a:extLst>
          </p:cNvPr>
          <p:cNvSpPr>
            <a:spLocks noChangeShapeType="1"/>
          </p:cNvSpPr>
          <p:nvPr/>
        </p:nvSpPr>
        <p:spPr bwMode="auto">
          <a:xfrm>
            <a:off x="8458200" y="4309734"/>
            <a:ext cx="533400"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4" name="Text Box 15">
            <a:extLst>
              <a:ext uri="{FF2B5EF4-FFF2-40B4-BE49-F238E27FC236}">
                <a16:creationId xmlns:a16="http://schemas.microsoft.com/office/drawing/2014/main" id="{D603311E-3532-4AF8-9772-818137BAD30D}"/>
              </a:ext>
            </a:extLst>
          </p:cNvPr>
          <p:cNvSpPr txBox="1">
            <a:spLocks noChangeArrowheads="1"/>
          </p:cNvSpPr>
          <p:nvPr/>
        </p:nvSpPr>
        <p:spPr bwMode="auto">
          <a:xfrm>
            <a:off x="8305800" y="3508795"/>
            <a:ext cx="8382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en-US" sz="2400" b="1">
                <a:latin typeface="宋体" pitchFamily="2" charset="-122"/>
                <a:ea typeface="宋体" pitchFamily="2" charset="-122"/>
              </a:rPr>
              <a:t>电量</a:t>
            </a:r>
          </a:p>
        </p:txBody>
      </p:sp>
      <p:sp>
        <p:nvSpPr>
          <p:cNvPr id="26" name="Text Box 9">
            <a:extLst>
              <a:ext uri="{FF2B5EF4-FFF2-40B4-BE49-F238E27FC236}">
                <a16:creationId xmlns:a16="http://schemas.microsoft.com/office/drawing/2014/main" id="{F4BF772E-9CB9-48CF-A69D-00EB01ECF1E8}"/>
              </a:ext>
            </a:extLst>
          </p:cNvPr>
          <p:cNvSpPr txBox="1">
            <a:spLocks noChangeArrowheads="1"/>
          </p:cNvSpPr>
          <p:nvPr/>
        </p:nvSpPr>
        <p:spPr bwMode="auto">
          <a:xfrm>
            <a:off x="2827222" y="5993883"/>
            <a:ext cx="38862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b="1" dirty="0">
                <a:solidFill>
                  <a:srgbClr val="3333CC"/>
                </a:solidFill>
              </a:rPr>
              <a:t>图</a:t>
            </a:r>
            <a:r>
              <a:rPr lang="en-US" altLang="zh-CN" b="1" dirty="0">
                <a:solidFill>
                  <a:srgbClr val="3333CC"/>
                </a:solidFill>
              </a:rPr>
              <a:t>0-1 </a:t>
            </a:r>
            <a:r>
              <a:rPr lang="zh-CN" altLang="en-US" b="1" dirty="0">
                <a:solidFill>
                  <a:srgbClr val="3333CC"/>
                </a:solidFill>
              </a:rPr>
              <a:t>传感器的组成方框图</a:t>
            </a:r>
          </a:p>
        </p:txBody>
      </p:sp>
    </p:spTree>
    <p:extLst>
      <p:ext uri="{BB962C8B-B14F-4D97-AF65-F5344CB8AC3E}">
        <p14:creationId xmlns:p14="http://schemas.microsoft.com/office/powerpoint/2010/main" val="965309409"/>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096926" y="1847821"/>
            <a:ext cx="7498433" cy="1107994"/>
          </a:xfrm>
          <a:prstGeom prst="rect">
            <a:avLst/>
          </a:prstGeom>
        </p:spPr>
        <p:txBody>
          <a:bodyPr wrap="square" lIns="68579" tIns="34289" rIns="68579" bIns="34289">
            <a:spAutoFit/>
          </a:bodyPr>
          <a:lstStyle/>
          <a:p>
            <a:pPr>
              <a:lnSpc>
                <a:spcPct val="150000"/>
              </a:lnSpc>
              <a:spcBef>
                <a:spcPts val="503"/>
              </a:spcBef>
            </a:pPr>
            <a:r>
              <a:rPr lang="zh-CN" altLang="en-US" sz="2400" b="1" dirty="0">
                <a:latin typeface="Arial" panose="020B0604020202020204" pitchFamily="34" charset="0"/>
                <a:ea typeface="宋体" panose="02010600030101010101" pitchFamily="2" charset="-122"/>
                <a:cs typeface="Arial" panose="020B0604020202020204" pitchFamily="34" charset="0"/>
                <a:sym typeface="+mn-ea"/>
              </a:rPr>
              <a:t>若需</a:t>
            </a:r>
            <a:r>
              <a:rPr lang="en-US" altLang="zh-CN" sz="2400" b="1" dirty="0" err="1">
                <a:latin typeface="Arial" panose="020B0604020202020204" pitchFamily="34" charset="0"/>
                <a:ea typeface="宋体" panose="02010600030101010101" pitchFamily="2" charset="-122"/>
                <a:cs typeface="Arial" panose="020B0604020202020204" pitchFamily="34" charset="0"/>
                <a:sym typeface="+mn-ea"/>
              </a:rPr>
              <a:t>测量一</a:t>
            </a:r>
            <a:r>
              <a:rPr lang="zh-CN" altLang="en-US" sz="2400" b="1" dirty="0">
                <a:latin typeface="Arial" panose="020B0604020202020204" pitchFamily="34" charset="0"/>
                <a:ea typeface="宋体" panose="02010600030101010101" pitchFamily="2" charset="-122"/>
                <a:cs typeface="Arial" panose="020B0604020202020204" pitchFamily="34" charset="0"/>
                <a:sym typeface="+mn-ea"/>
              </a:rPr>
              <a:t>辆</a:t>
            </a:r>
            <a:r>
              <a:rPr lang="en-US" altLang="zh-CN" sz="2400" b="1" dirty="0" err="1">
                <a:latin typeface="Arial" panose="020B0604020202020204" pitchFamily="34" charset="0"/>
                <a:ea typeface="宋体" panose="02010600030101010101" pitchFamily="2" charset="-122"/>
                <a:cs typeface="Arial" panose="020B0604020202020204" pitchFamily="34" charset="0"/>
                <a:sym typeface="+mn-ea"/>
              </a:rPr>
              <a:t>直线运动汽车的加速度（规定的被测量</a:t>
            </a:r>
            <a:r>
              <a:rPr lang="en-US" altLang="zh-CN" sz="2400" b="1" dirty="0">
                <a:latin typeface="Arial" panose="020B0604020202020204" pitchFamily="34" charset="0"/>
                <a:ea typeface="宋体" panose="02010600030101010101" pitchFamily="2" charset="-122"/>
                <a:cs typeface="Arial" panose="020B0604020202020204" pitchFamily="34" charset="0"/>
                <a:sym typeface="+mn-ea"/>
              </a:rPr>
              <a:t>）</a:t>
            </a:r>
            <a:r>
              <a:rPr lang="zh-CN" altLang="en-US" sz="2400" b="1" dirty="0">
                <a:latin typeface="Arial" panose="020B0604020202020204" pitchFamily="34" charset="0"/>
                <a:ea typeface="宋体" panose="02010600030101010101" pitchFamily="2" charset="-122"/>
                <a:cs typeface="Arial" panose="020B0604020202020204" pitchFamily="34" charset="0"/>
                <a:sym typeface="+mn-ea"/>
              </a:rPr>
              <a:t>，</a:t>
            </a:r>
            <a:r>
              <a:rPr lang="en-US" altLang="zh-CN" sz="2400" b="1" dirty="0" err="1">
                <a:latin typeface="Arial" panose="020B0604020202020204" pitchFamily="34" charset="0"/>
                <a:ea typeface="宋体" panose="02010600030101010101" pitchFamily="2" charset="-122"/>
                <a:cs typeface="Arial" panose="020B0604020202020204" pitchFamily="34" charset="0"/>
                <a:sym typeface="+mn-ea"/>
              </a:rPr>
              <a:t>可设计</a:t>
            </a:r>
            <a:r>
              <a:rPr lang="zh-CN" altLang="en-US" sz="2400" b="1" dirty="0">
                <a:latin typeface="Arial" panose="020B0604020202020204" pitchFamily="34" charset="0"/>
                <a:ea typeface="宋体" panose="02010600030101010101" pitchFamily="2" charset="-122"/>
                <a:cs typeface="Arial" panose="020B0604020202020204" pitchFamily="34" charset="0"/>
                <a:sym typeface="+mn-ea"/>
              </a:rPr>
              <a:t>如下的</a:t>
            </a:r>
            <a:r>
              <a:rPr lang="en-US" altLang="zh-CN" sz="2400" b="1" dirty="0" err="1">
                <a:latin typeface="Arial" panose="020B0604020202020204" pitchFamily="34" charset="0"/>
                <a:ea typeface="宋体" panose="02010600030101010101" pitchFamily="2" charset="-122"/>
                <a:cs typeface="Arial" panose="020B0604020202020204" pitchFamily="34" charset="0"/>
                <a:sym typeface="+mn-ea"/>
              </a:rPr>
              <a:t>简单实验装置</a:t>
            </a:r>
            <a:r>
              <a:rPr lang="en-US" altLang="zh-CN" sz="2400" b="1" dirty="0">
                <a:latin typeface="Arial" panose="020B0604020202020204" pitchFamily="34" charset="0"/>
                <a:ea typeface="宋体" panose="02010600030101010101" pitchFamily="2" charset="-122"/>
                <a:cs typeface="Arial" panose="020B0604020202020204" pitchFamily="34" charset="0"/>
                <a:sym typeface="+mn-ea"/>
              </a:rPr>
              <a:t>。</a:t>
            </a:r>
            <a:endParaRPr lang="en-US" altLang="zh-CN" dirty="0">
              <a:latin typeface="微软雅黑" panose="020B0503020204020204" pitchFamily="34" charset="-122"/>
              <a:ea typeface="微软雅黑" panose="020B0503020204020204" pitchFamily="34" charset="-122"/>
            </a:endParaRPr>
          </a:p>
        </p:txBody>
      </p:sp>
      <p:sp>
        <p:nvSpPr>
          <p:cNvPr id="3" name="矩形 2"/>
          <p:cNvSpPr/>
          <p:nvPr/>
        </p:nvSpPr>
        <p:spPr>
          <a:xfrm>
            <a:off x="1571712" y="354314"/>
            <a:ext cx="7839637" cy="620463"/>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9" rIns="68577" bIns="34289" rtlCol="0" anchor="ctr"/>
          <a:lstStyle/>
          <a:p>
            <a:pPr algn="ctr"/>
            <a:endParaRPr lang="zh-CN" altLang="en-US"/>
          </a:p>
        </p:txBody>
      </p:sp>
      <p:sp>
        <p:nvSpPr>
          <p:cNvPr id="5"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9" rIns="68577" bIns="34289" rtlCol="0" anchor="ctr"/>
          <a:lstStyle/>
          <a:p>
            <a:pPr algn="ctr"/>
            <a:r>
              <a:rPr lang="en-US" altLang="zh-CN" sz="2600" b="1" dirty="0">
                <a:latin typeface="Arial" panose="020B0604020202020204" pitchFamily="34" charset="0"/>
                <a:ea typeface="宋体" panose="02010600030101010101" pitchFamily="2" charset="-122"/>
                <a:cs typeface="Arial" panose="020B0604020202020204" pitchFamily="34" charset="0"/>
              </a:rPr>
              <a:t>0.1</a:t>
            </a:r>
            <a:endParaRPr lang="zh-CN" altLang="en-US" sz="2600" b="1" dirty="0">
              <a:latin typeface="Arial" panose="020B0604020202020204" pitchFamily="34" charset="0"/>
              <a:ea typeface="宋体" panose="02010600030101010101" pitchFamily="2" charset="-122"/>
              <a:cs typeface="Arial" panose="020B0604020202020204" pitchFamily="34" charset="0"/>
            </a:endParaRPr>
          </a:p>
        </p:txBody>
      </p:sp>
      <p:grpSp>
        <p:nvGrpSpPr>
          <p:cNvPr id="7" name="Group 72"/>
          <p:cNvGrpSpPr/>
          <p:nvPr/>
        </p:nvGrpSpPr>
        <p:grpSpPr bwMode="auto">
          <a:xfrm>
            <a:off x="2770030" y="3044715"/>
            <a:ext cx="3940411" cy="2907141"/>
            <a:chOff x="1392" y="1968"/>
            <a:chExt cx="2753" cy="1552"/>
          </a:xfrm>
        </p:grpSpPr>
        <p:sp>
          <p:nvSpPr>
            <p:cNvPr id="5152" name="Rectangle 19"/>
            <p:cNvSpPr>
              <a:spLocks noChangeArrowheads="1"/>
            </p:cNvSpPr>
            <p:nvPr/>
          </p:nvSpPr>
          <p:spPr bwMode="auto">
            <a:xfrm>
              <a:off x="1462" y="2186"/>
              <a:ext cx="2683" cy="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9pPr>
            </a:lstStyle>
            <a:p>
              <a:pPr eaLnBrk="1" hangingPunct="1"/>
              <a:endParaRPr lang="zh-CN" altLang="en-US"/>
            </a:p>
          </p:txBody>
        </p:sp>
        <p:sp>
          <p:nvSpPr>
            <p:cNvPr id="5132" name="Freeform 46"/>
            <p:cNvSpPr/>
            <p:nvPr/>
          </p:nvSpPr>
          <p:spPr bwMode="auto">
            <a:xfrm>
              <a:off x="2016" y="2592"/>
              <a:ext cx="805" cy="92"/>
            </a:xfrm>
            <a:custGeom>
              <a:avLst/>
              <a:gdLst>
                <a:gd name="T0" fmla="*/ 0 w 1939"/>
                <a:gd name="T1" fmla="*/ 33 h 209"/>
                <a:gd name="T2" fmla="*/ 162 w 1939"/>
                <a:gd name="T3" fmla="*/ 39 h 209"/>
                <a:gd name="T4" fmla="*/ 174 w 1939"/>
                <a:gd name="T5" fmla="*/ 59 h 209"/>
                <a:gd name="T6" fmla="*/ 212 w 1939"/>
                <a:gd name="T7" fmla="*/ 52 h 209"/>
                <a:gd name="T8" fmla="*/ 218 w 1939"/>
                <a:gd name="T9" fmla="*/ 13 h 209"/>
                <a:gd name="T10" fmla="*/ 199 w 1939"/>
                <a:gd name="T11" fmla="*/ 19 h 209"/>
                <a:gd name="T12" fmla="*/ 206 w 1939"/>
                <a:gd name="T13" fmla="*/ 52 h 209"/>
                <a:gd name="T14" fmla="*/ 268 w 1939"/>
                <a:gd name="T15" fmla="*/ 52 h 209"/>
                <a:gd name="T16" fmla="*/ 262 w 1939"/>
                <a:gd name="T17" fmla="*/ 6 h 209"/>
                <a:gd name="T18" fmla="*/ 249 w 1939"/>
                <a:gd name="T19" fmla="*/ 26 h 209"/>
                <a:gd name="T20" fmla="*/ 255 w 1939"/>
                <a:gd name="T21" fmla="*/ 59 h 209"/>
                <a:gd name="T22" fmla="*/ 311 w 1939"/>
                <a:gd name="T23" fmla="*/ 13 h 209"/>
                <a:gd name="T24" fmla="*/ 324 w 1939"/>
                <a:gd name="T25" fmla="*/ 59 h 209"/>
                <a:gd name="T26" fmla="*/ 374 w 1939"/>
                <a:gd name="T27" fmla="*/ 52 h 209"/>
                <a:gd name="T28" fmla="*/ 380 w 1939"/>
                <a:gd name="T29" fmla="*/ 33 h 209"/>
                <a:gd name="T30" fmla="*/ 361 w 1939"/>
                <a:gd name="T31" fmla="*/ 19 h 209"/>
                <a:gd name="T32" fmla="*/ 349 w 1939"/>
                <a:gd name="T33" fmla="*/ 39 h 209"/>
                <a:gd name="T34" fmla="*/ 386 w 1939"/>
                <a:gd name="T35" fmla="*/ 59 h 209"/>
                <a:gd name="T36" fmla="*/ 423 w 1939"/>
                <a:gd name="T37" fmla="*/ 33 h 209"/>
                <a:gd name="T38" fmla="*/ 417 w 1939"/>
                <a:gd name="T39" fmla="*/ 13 h 209"/>
                <a:gd name="T40" fmla="*/ 405 w 1939"/>
                <a:gd name="T41" fmla="*/ 33 h 209"/>
                <a:gd name="T42" fmla="*/ 473 w 1939"/>
                <a:gd name="T43" fmla="*/ 46 h 209"/>
                <a:gd name="T44" fmla="*/ 480 w 1939"/>
                <a:gd name="T45" fmla="*/ 26 h 209"/>
                <a:gd name="T46" fmla="*/ 461 w 1939"/>
                <a:gd name="T47" fmla="*/ 19 h 209"/>
                <a:gd name="T48" fmla="*/ 467 w 1939"/>
                <a:gd name="T49" fmla="*/ 52 h 209"/>
                <a:gd name="T50" fmla="*/ 486 w 1939"/>
                <a:gd name="T51" fmla="*/ 59 h 209"/>
                <a:gd name="T52" fmla="*/ 529 w 1939"/>
                <a:gd name="T53" fmla="*/ 33 h 209"/>
                <a:gd name="T54" fmla="*/ 511 w 1939"/>
                <a:gd name="T55" fmla="*/ 19 h 209"/>
                <a:gd name="T56" fmla="*/ 542 w 1939"/>
                <a:gd name="T57" fmla="*/ 66 h 209"/>
                <a:gd name="T58" fmla="*/ 598 w 1939"/>
                <a:gd name="T59" fmla="*/ 59 h 209"/>
                <a:gd name="T60" fmla="*/ 610 w 1939"/>
                <a:gd name="T61" fmla="*/ 19 h 209"/>
                <a:gd name="T62" fmla="*/ 592 w 1939"/>
                <a:gd name="T63" fmla="*/ 13 h 209"/>
                <a:gd name="T64" fmla="*/ 704 w 1939"/>
                <a:gd name="T65" fmla="*/ 59 h 209"/>
                <a:gd name="T66" fmla="*/ 710 w 1939"/>
                <a:gd name="T67" fmla="*/ 79 h 209"/>
                <a:gd name="T68" fmla="*/ 747 w 1939"/>
                <a:gd name="T69" fmla="*/ 92 h 209"/>
                <a:gd name="T70" fmla="*/ 785 w 1939"/>
                <a:gd name="T71" fmla="*/ 85 h 209"/>
                <a:gd name="T72" fmla="*/ 797 w 1939"/>
                <a:gd name="T73" fmla="*/ 19 h 209"/>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939"/>
                <a:gd name="T112" fmla="*/ 0 h 209"/>
                <a:gd name="T113" fmla="*/ 1939 w 1939"/>
                <a:gd name="T114" fmla="*/ 209 h 209"/>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939" h="209">
                  <a:moveTo>
                    <a:pt x="0" y="74"/>
                  </a:moveTo>
                  <a:cubicBezTo>
                    <a:pt x="130" y="79"/>
                    <a:pt x="261" y="71"/>
                    <a:pt x="390" y="89"/>
                  </a:cubicBezTo>
                  <a:cubicBezTo>
                    <a:pt x="408" y="92"/>
                    <a:pt x="403" y="130"/>
                    <a:pt x="420" y="134"/>
                  </a:cubicBezTo>
                  <a:cubicBezTo>
                    <a:pt x="450" y="141"/>
                    <a:pt x="480" y="124"/>
                    <a:pt x="510" y="119"/>
                  </a:cubicBezTo>
                  <a:cubicBezTo>
                    <a:pt x="519" y="105"/>
                    <a:pt x="572" y="52"/>
                    <a:pt x="525" y="29"/>
                  </a:cubicBezTo>
                  <a:cubicBezTo>
                    <a:pt x="511" y="22"/>
                    <a:pt x="495" y="39"/>
                    <a:pt x="480" y="44"/>
                  </a:cubicBezTo>
                  <a:cubicBezTo>
                    <a:pt x="485" y="69"/>
                    <a:pt x="481" y="98"/>
                    <a:pt x="495" y="119"/>
                  </a:cubicBezTo>
                  <a:cubicBezTo>
                    <a:pt x="515" y="150"/>
                    <a:pt x="605" y="125"/>
                    <a:pt x="645" y="119"/>
                  </a:cubicBezTo>
                  <a:cubicBezTo>
                    <a:pt x="640" y="84"/>
                    <a:pt x="651" y="42"/>
                    <a:pt x="630" y="14"/>
                  </a:cubicBezTo>
                  <a:cubicBezTo>
                    <a:pt x="619" y="0"/>
                    <a:pt x="602" y="41"/>
                    <a:pt x="600" y="59"/>
                  </a:cubicBezTo>
                  <a:cubicBezTo>
                    <a:pt x="597" y="84"/>
                    <a:pt x="610" y="109"/>
                    <a:pt x="615" y="134"/>
                  </a:cubicBezTo>
                  <a:cubicBezTo>
                    <a:pt x="712" y="122"/>
                    <a:pt x="788" y="143"/>
                    <a:pt x="750" y="29"/>
                  </a:cubicBezTo>
                  <a:cubicBezTo>
                    <a:pt x="707" y="93"/>
                    <a:pt x="702" y="108"/>
                    <a:pt x="780" y="134"/>
                  </a:cubicBezTo>
                  <a:cubicBezTo>
                    <a:pt x="820" y="129"/>
                    <a:pt x="863" y="135"/>
                    <a:pt x="900" y="119"/>
                  </a:cubicBezTo>
                  <a:cubicBezTo>
                    <a:pt x="914" y="113"/>
                    <a:pt x="921" y="89"/>
                    <a:pt x="915" y="74"/>
                  </a:cubicBezTo>
                  <a:cubicBezTo>
                    <a:pt x="908" y="57"/>
                    <a:pt x="885" y="54"/>
                    <a:pt x="870" y="44"/>
                  </a:cubicBezTo>
                  <a:cubicBezTo>
                    <a:pt x="860" y="59"/>
                    <a:pt x="836" y="71"/>
                    <a:pt x="840" y="89"/>
                  </a:cubicBezTo>
                  <a:cubicBezTo>
                    <a:pt x="844" y="110"/>
                    <a:pt x="915" y="129"/>
                    <a:pt x="930" y="134"/>
                  </a:cubicBezTo>
                  <a:cubicBezTo>
                    <a:pt x="964" y="123"/>
                    <a:pt x="1006" y="116"/>
                    <a:pt x="1020" y="74"/>
                  </a:cubicBezTo>
                  <a:cubicBezTo>
                    <a:pt x="1025" y="59"/>
                    <a:pt x="1010" y="44"/>
                    <a:pt x="1005" y="29"/>
                  </a:cubicBezTo>
                  <a:cubicBezTo>
                    <a:pt x="995" y="44"/>
                    <a:pt x="978" y="56"/>
                    <a:pt x="975" y="74"/>
                  </a:cubicBezTo>
                  <a:cubicBezTo>
                    <a:pt x="959" y="171"/>
                    <a:pt x="1124" y="106"/>
                    <a:pt x="1140" y="104"/>
                  </a:cubicBezTo>
                  <a:cubicBezTo>
                    <a:pt x="1145" y="89"/>
                    <a:pt x="1162" y="73"/>
                    <a:pt x="1155" y="59"/>
                  </a:cubicBezTo>
                  <a:cubicBezTo>
                    <a:pt x="1148" y="45"/>
                    <a:pt x="1117" y="30"/>
                    <a:pt x="1110" y="44"/>
                  </a:cubicBezTo>
                  <a:cubicBezTo>
                    <a:pt x="1099" y="67"/>
                    <a:pt x="1111" y="98"/>
                    <a:pt x="1125" y="119"/>
                  </a:cubicBezTo>
                  <a:cubicBezTo>
                    <a:pt x="1134" y="132"/>
                    <a:pt x="1155" y="129"/>
                    <a:pt x="1170" y="134"/>
                  </a:cubicBezTo>
                  <a:cubicBezTo>
                    <a:pt x="1178" y="133"/>
                    <a:pt x="1301" y="139"/>
                    <a:pt x="1275" y="74"/>
                  </a:cubicBezTo>
                  <a:cubicBezTo>
                    <a:pt x="1268" y="57"/>
                    <a:pt x="1245" y="54"/>
                    <a:pt x="1230" y="44"/>
                  </a:cubicBezTo>
                  <a:cubicBezTo>
                    <a:pt x="1265" y="149"/>
                    <a:pt x="1230" y="124"/>
                    <a:pt x="1305" y="149"/>
                  </a:cubicBezTo>
                  <a:cubicBezTo>
                    <a:pt x="1350" y="144"/>
                    <a:pt x="1397" y="148"/>
                    <a:pt x="1440" y="134"/>
                  </a:cubicBezTo>
                  <a:cubicBezTo>
                    <a:pt x="1481" y="120"/>
                    <a:pt x="1503" y="77"/>
                    <a:pt x="1470" y="44"/>
                  </a:cubicBezTo>
                  <a:cubicBezTo>
                    <a:pt x="1459" y="33"/>
                    <a:pt x="1440" y="34"/>
                    <a:pt x="1425" y="29"/>
                  </a:cubicBezTo>
                  <a:cubicBezTo>
                    <a:pt x="1316" y="192"/>
                    <a:pt x="1571" y="127"/>
                    <a:pt x="1695" y="134"/>
                  </a:cubicBezTo>
                  <a:cubicBezTo>
                    <a:pt x="1700" y="149"/>
                    <a:pt x="1697" y="170"/>
                    <a:pt x="1710" y="179"/>
                  </a:cubicBezTo>
                  <a:cubicBezTo>
                    <a:pt x="1736" y="197"/>
                    <a:pt x="1800" y="209"/>
                    <a:pt x="1800" y="209"/>
                  </a:cubicBezTo>
                  <a:cubicBezTo>
                    <a:pt x="1830" y="204"/>
                    <a:pt x="1863" y="208"/>
                    <a:pt x="1890" y="194"/>
                  </a:cubicBezTo>
                  <a:cubicBezTo>
                    <a:pt x="1939" y="169"/>
                    <a:pt x="1920" y="71"/>
                    <a:pt x="1920" y="44"/>
                  </a:cubicBezTo>
                </a:path>
              </a:pathLst>
            </a:custGeom>
            <a:noFill/>
            <a:ln w="9525">
              <a:solidFill>
                <a:srgbClr val="333399"/>
              </a:solidFill>
              <a:round/>
            </a:ln>
            <a:extLst>
              <a:ext uri="{909E8E84-426E-40DD-AFC4-6F175D3DCCD1}">
                <a14:hiddenFill xmlns:a14="http://schemas.microsoft.com/office/drawing/2010/main">
                  <a:solidFill>
                    <a:srgbClr val="FFFFFF"/>
                  </a:solidFill>
                </a14:hiddenFill>
              </a:ext>
            </a:extLst>
          </p:spPr>
          <p:txBody>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9pPr>
            </a:lstStyle>
            <a:p>
              <a:pPr eaLnBrk="1" hangingPunct="1"/>
              <a:endParaRPr lang="zh-CN" altLang="en-US"/>
            </a:p>
          </p:txBody>
        </p:sp>
        <p:sp>
          <p:nvSpPr>
            <p:cNvPr id="5133" name="AutoShape 45"/>
            <p:cNvSpPr>
              <a:spLocks noChangeArrowheads="1"/>
            </p:cNvSpPr>
            <p:nvPr/>
          </p:nvSpPr>
          <p:spPr bwMode="auto">
            <a:xfrm>
              <a:off x="2880" y="2592"/>
              <a:ext cx="217" cy="96"/>
            </a:xfrm>
            <a:prstGeom prst="flowChartPredefinedProcess">
              <a:avLst/>
            </a:prstGeom>
            <a:solidFill>
              <a:srgbClr val="3366FF"/>
            </a:solidFill>
            <a:ln w="9525">
              <a:solidFill>
                <a:srgbClr val="333399"/>
              </a:solidFill>
              <a:miter lim="800000"/>
            </a:ln>
          </p:spPr>
          <p:txBody>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9pPr>
            </a:lstStyle>
            <a:p>
              <a:pPr eaLnBrk="1" hangingPunct="1"/>
              <a:endParaRPr lang="zh-CN" altLang="en-US"/>
            </a:p>
          </p:txBody>
        </p:sp>
        <p:sp>
          <p:nvSpPr>
            <p:cNvPr id="5134" name="Line 44"/>
            <p:cNvSpPr>
              <a:spLocks noChangeShapeType="1"/>
            </p:cNvSpPr>
            <p:nvPr/>
          </p:nvSpPr>
          <p:spPr bwMode="auto">
            <a:xfrm>
              <a:off x="2735" y="2654"/>
              <a:ext cx="145" cy="1"/>
            </a:xfrm>
            <a:prstGeom prst="line">
              <a:avLst/>
            </a:prstGeom>
            <a:noFill/>
            <a:ln w="9525">
              <a:solidFill>
                <a:srgbClr val="333399"/>
              </a:solidFill>
              <a:round/>
            </a:ln>
            <a:extLst>
              <a:ext uri="{909E8E84-426E-40DD-AFC4-6F175D3DCCD1}">
                <a14:hiddenFill xmlns:a14="http://schemas.microsoft.com/office/drawing/2010/main">
                  <a:noFill/>
                </a14:hiddenFill>
              </a:ext>
            </a:extLst>
          </p:spPr>
          <p:txBody>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9pPr>
            </a:lstStyle>
            <a:p>
              <a:endParaRPr lang="zh-CN" altLang="en-US"/>
            </a:p>
          </p:txBody>
        </p:sp>
        <p:sp>
          <p:nvSpPr>
            <p:cNvPr id="5135" name="Line 43"/>
            <p:cNvSpPr>
              <a:spLocks noChangeShapeType="1"/>
            </p:cNvSpPr>
            <p:nvPr/>
          </p:nvSpPr>
          <p:spPr bwMode="auto">
            <a:xfrm>
              <a:off x="2640" y="2640"/>
              <a:ext cx="0" cy="384"/>
            </a:xfrm>
            <a:prstGeom prst="line">
              <a:avLst/>
            </a:prstGeom>
            <a:noFill/>
            <a:ln w="9525">
              <a:solidFill>
                <a:srgbClr val="333399"/>
              </a:solidFill>
              <a:round/>
              <a:tailEnd type="triangle" w="med" len="med"/>
            </a:ln>
            <a:extLst>
              <a:ext uri="{909E8E84-426E-40DD-AFC4-6F175D3DCCD1}">
                <a14:hiddenFill xmlns:a14="http://schemas.microsoft.com/office/drawing/2010/main">
                  <a:noFill/>
                </a14:hiddenFill>
              </a:ext>
            </a:extLst>
          </p:spPr>
          <p:txBody>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9pPr>
            </a:lstStyle>
            <a:p>
              <a:endParaRPr lang="zh-CN" altLang="en-US"/>
            </a:p>
          </p:txBody>
        </p:sp>
        <p:sp>
          <p:nvSpPr>
            <p:cNvPr id="5136" name="Rectangle 42"/>
            <p:cNvSpPr>
              <a:spLocks noChangeArrowheads="1"/>
            </p:cNvSpPr>
            <p:nvPr/>
          </p:nvSpPr>
          <p:spPr bwMode="auto">
            <a:xfrm>
              <a:off x="2590" y="3029"/>
              <a:ext cx="217" cy="48"/>
            </a:xfrm>
            <a:prstGeom prst="rect">
              <a:avLst/>
            </a:prstGeom>
            <a:solidFill>
              <a:srgbClr val="333399"/>
            </a:solidFill>
            <a:ln w="9525">
              <a:solidFill>
                <a:srgbClr val="333399"/>
              </a:solidFill>
              <a:miter lim="800000"/>
            </a:ln>
          </p:spPr>
          <p:txBody>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9pPr>
            </a:lstStyle>
            <a:p>
              <a:pPr eaLnBrk="1" hangingPunct="1"/>
              <a:endParaRPr lang="zh-CN" altLang="en-US"/>
            </a:p>
          </p:txBody>
        </p:sp>
        <p:sp>
          <p:nvSpPr>
            <p:cNvPr id="5137" name="Freeform 41"/>
            <p:cNvSpPr/>
            <p:nvPr/>
          </p:nvSpPr>
          <p:spPr bwMode="auto">
            <a:xfrm>
              <a:off x="2368" y="3060"/>
              <a:ext cx="222" cy="47"/>
            </a:xfrm>
            <a:custGeom>
              <a:avLst/>
              <a:gdLst>
                <a:gd name="T0" fmla="*/ 222 w 555"/>
                <a:gd name="T1" fmla="*/ 0 h 1"/>
                <a:gd name="T2" fmla="*/ 0 w 555"/>
                <a:gd name="T3" fmla="*/ 0 h 1"/>
                <a:gd name="T4" fmla="*/ 0 60000 65536"/>
                <a:gd name="T5" fmla="*/ 0 60000 65536"/>
                <a:gd name="T6" fmla="*/ 0 w 555"/>
                <a:gd name="T7" fmla="*/ 0 h 1"/>
                <a:gd name="T8" fmla="*/ 555 w 555"/>
                <a:gd name="T9" fmla="*/ 1 h 1"/>
              </a:gdLst>
              <a:ahLst/>
              <a:cxnLst>
                <a:cxn ang="T4">
                  <a:pos x="T0" y="T1"/>
                </a:cxn>
                <a:cxn ang="T5">
                  <a:pos x="T2" y="T3"/>
                </a:cxn>
              </a:cxnLst>
              <a:rect l="T6" t="T7" r="T8" b="T9"/>
              <a:pathLst>
                <a:path w="555" h="1">
                  <a:moveTo>
                    <a:pt x="555" y="0"/>
                  </a:moveTo>
                  <a:lnTo>
                    <a:pt x="0" y="0"/>
                  </a:lnTo>
                </a:path>
              </a:pathLst>
            </a:custGeom>
            <a:noFill/>
            <a:ln w="9525">
              <a:solidFill>
                <a:srgbClr val="333399"/>
              </a:solidFill>
              <a:round/>
            </a:ln>
            <a:extLst>
              <a:ext uri="{909E8E84-426E-40DD-AFC4-6F175D3DCCD1}">
                <a14:hiddenFill xmlns:a14="http://schemas.microsoft.com/office/drawing/2010/main">
                  <a:solidFill>
                    <a:srgbClr val="FFFFFF"/>
                  </a:solidFill>
                </a14:hiddenFill>
              </a:ext>
            </a:extLst>
          </p:spPr>
          <p:txBody>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9pPr>
            </a:lstStyle>
            <a:p>
              <a:pPr eaLnBrk="1" hangingPunct="1"/>
              <a:endParaRPr lang="zh-CN" altLang="en-US"/>
            </a:p>
          </p:txBody>
        </p:sp>
        <p:sp>
          <p:nvSpPr>
            <p:cNvPr id="5138" name="Freeform 40"/>
            <p:cNvSpPr/>
            <p:nvPr/>
          </p:nvSpPr>
          <p:spPr bwMode="auto">
            <a:xfrm>
              <a:off x="2812" y="3054"/>
              <a:ext cx="318" cy="47"/>
            </a:xfrm>
            <a:custGeom>
              <a:avLst/>
              <a:gdLst>
                <a:gd name="T0" fmla="*/ 0 w 795"/>
                <a:gd name="T1" fmla="*/ 0 h 1"/>
                <a:gd name="T2" fmla="*/ 318 w 795"/>
                <a:gd name="T3" fmla="*/ 0 h 1"/>
                <a:gd name="T4" fmla="*/ 0 60000 65536"/>
                <a:gd name="T5" fmla="*/ 0 60000 65536"/>
                <a:gd name="T6" fmla="*/ 0 w 795"/>
                <a:gd name="T7" fmla="*/ 0 h 1"/>
                <a:gd name="T8" fmla="*/ 795 w 795"/>
                <a:gd name="T9" fmla="*/ 1 h 1"/>
              </a:gdLst>
              <a:ahLst/>
              <a:cxnLst>
                <a:cxn ang="T4">
                  <a:pos x="T0" y="T1"/>
                </a:cxn>
                <a:cxn ang="T5">
                  <a:pos x="T2" y="T3"/>
                </a:cxn>
              </a:cxnLst>
              <a:rect l="T6" t="T7" r="T8" b="T9"/>
              <a:pathLst>
                <a:path w="795" h="1">
                  <a:moveTo>
                    <a:pt x="0" y="0"/>
                  </a:moveTo>
                  <a:lnTo>
                    <a:pt x="795" y="0"/>
                  </a:lnTo>
                </a:path>
              </a:pathLst>
            </a:custGeom>
            <a:noFill/>
            <a:ln w="9525">
              <a:solidFill>
                <a:srgbClr val="333399"/>
              </a:solidFill>
              <a:round/>
            </a:ln>
            <a:extLst>
              <a:ext uri="{909E8E84-426E-40DD-AFC4-6F175D3DCCD1}">
                <a14:hiddenFill xmlns:a14="http://schemas.microsoft.com/office/drawing/2010/main">
                  <a:solidFill>
                    <a:srgbClr val="FFFFFF"/>
                  </a:solidFill>
                </a14:hiddenFill>
              </a:ext>
            </a:extLst>
          </p:spPr>
          <p:txBody>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9pPr>
            </a:lstStyle>
            <a:p>
              <a:pPr eaLnBrk="1" hangingPunct="1"/>
              <a:endParaRPr lang="zh-CN" altLang="en-US"/>
            </a:p>
          </p:txBody>
        </p:sp>
        <p:sp>
          <p:nvSpPr>
            <p:cNvPr id="5139" name="Oval 39"/>
            <p:cNvSpPr>
              <a:spLocks noChangeArrowheads="1"/>
            </p:cNvSpPr>
            <p:nvPr/>
          </p:nvSpPr>
          <p:spPr bwMode="auto">
            <a:xfrm>
              <a:off x="2326" y="3029"/>
              <a:ext cx="47" cy="47"/>
            </a:xfrm>
            <a:prstGeom prst="ellipse">
              <a:avLst/>
            </a:prstGeom>
            <a:solidFill>
              <a:srgbClr val="FFFFFF"/>
            </a:solidFill>
            <a:ln w="9525">
              <a:solidFill>
                <a:srgbClr val="333399"/>
              </a:solidFill>
              <a:round/>
            </a:ln>
          </p:spPr>
          <p:txBody>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9pPr>
            </a:lstStyle>
            <a:p>
              <a:pPr eaLnBrk="1" hangingPunct="1"/>
              <a:endParaRPr lang="zh-CN" altLang="en-US"/>
            </a:p>
          </p:txBody>
        </p:sp>
        <p:sp>
          <p:nvSpPr>
            <p:cNvPr id="5140" name="Freeform 38"/>
            <p:cNvSpPr/>
            <p:nvPr/>
          </p:nvSpPr>
          <p:spPr bwMode="auto">
            <a:xfrm>
              <a:off x="3120" y="3054"/>
              <a:ext cx="48" cy="114"/>
            </a:xfrm>
            <a:custGeom>
              <a:avLst/>
              <a:gdLst>
                <a:gd name="T0" fmla="*/ 0 w 1"/>
                <a:gd name="T1" fmla="*/ 0 h 240"/>
                <a:gd name="T2" fmla="*/ 0 w 1"/>
                <a:gd name="T3" fmla="*/ 114 h 240"/>
                <a:gd name="T4" fmla="*/ 0 60000 65536"/>
                <a:gd name="T5" fmla="*/ 0 60000 65536"/>
                <a:gd name="T6" fmla="*/ 0 w 1"/>
                <a:gd name="T7" fmla="*/ 0 h 240"/>
                <a:gd name="T8" fmla="*/ 1 w 1"/>
                <a:gd name="T9" fmla="*/ 240 h 240"/>
              </a:gdLst>
              <a:ahLst/>
              <a:cxnLst>
                <a:cxn ang="T4">
                  <a:pos x="T0" y="T1"/>
                </a:cxn>
                <a:cxn ang="T5">
                  <a:pos x="T2" y="T3"/>
                </a:cxn>
              </a:cxnLst>
              <a:rect l="T6" t="T7" r="T8" b="T9"/>
              <a:pathLst>
                <a:path w="1" h="240">
                  <a:moveTo>
                    <a:pt x="0" y="0"/>
                  </a:moveTo>
                  <a:lnTo>
                    <a:pt x="0" y="240"/>
                  </a:lnTo>
                </a:path>
              </a:pathLst>
            </a:custGeom>
            <a:noFill/>
            <a:ln w="9525">
              <a:solidFill>
                <a:srgbClr val="333399"/>
              </a:solidFill>
              <a:round/>
            </a:ln>
            <a:extLst>
              <a:ext uri="{909E8E84-426E-40DD-AFC4-6F175D3DCCD1}">
                <a14:hiddenFill xmlns:a14="http://schemas.microsoft.com/office/drawing/2010/main">
                  <a:solidFill>
                    <a:srgbClr val="FFFFFF"/>
                  </a:solidFill>
                </a14:hiddenFill>
              </a:ext>
            </a:extLst>
          </p:spPr>
          <p:txBody>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9pPr>
            </a:lstStyle>
            <a:p>
              <a:pPr eaLnBrk="1" hangingPunct="1"/>
              <a:endParaRPr lang="zh-CN" altLang="en-US"/>
            </a:p>
          </p:txBody>
        </p:sp>
        <p:sp>
          <p:nvSpPr>
            <p:cNvPr id="5141" name="Oval 28"/>
            <p:cNvSpPr>
              <a:spLocks noChangeArrowheads="1"/>
            </p:cNvSpPr>
            <p:nvPr/>
          </p:nvSpPr>
          <p:spPr bwMode="auto">
            <a:xfrm>
              <a:off x="3095" y="3154"/>
              <a:ext cx="47" cy="47"/>
            </a:xfrm>
            <a:prstGeom prst="ellipse">
              <a:avLst/>
            </a:prstGeom>
            <a:solidFill>
              <a:srgbClr val="FFFFFF"/>
            </a:solidFill>
            <a:ln w="9525">
              <a:solidFill>
                <a:srgbClr val="000000"/>
              </a:solidFill>
              <a:round/>
            </a:ln>
          </p:spPr>
          <p:txBody>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9pPr>
            </a:lstStyle>
            <a:p>
              <a:pPr eaLnBrk="1" hangingPunct="1"/>
              <a:endParaRPr lang="zh-CN" altLang="en-US"/>
            </a:p>
          </p:txBody>
        </p:sp>
        <p:sp>
          <p:nvSpPr>
            <p:cNvPr id="5142" name="Freeform 37"/>
            <p:cNvSpPr/>
            <p:nvPr/>
          </p:nvSpPr>
          <p:spPr bwMode="auto">
            <a:xfrm>
              <a:off x="2640" y="2880"/>
              <a:ext cx="648" cy="47"/>
            </a:xfrm>
            <a:custGeom>
              <a:avLst/>
              <a:gdLst>
                <a:gd name="T0" fmla="*/ 0 w 1620"/>
                <a:gd name="T1" fmla="*/ 0 h 1"/>
                <a:gd name="T2" fmla="*/ 648 w 1620"/>
                <a:gd name="T3" fmla="*/ 0 h 1"/>
                <a:gd name="T4" fmla="*/ 0 60000 65536"/>
                <a:gd name="T5" fmla="*/ 0 60000 65536"/>
                <a:gd name="T6" fmla="*/ 0 w 1620"/>
                <a:gd name="T7" fmla="*/ 0 h 1"/>
                <a:gd name="T8" fmla="*/ 1620 w 1620"/>
                <a:gd name="T9" fmla="*/ 1 h 1"/>
              </a:gdLst>
              <a:ahLst/>
              <a:cxnLst>
                <a:cxn ang="T4">
                  <a:pos x="T0" y="T1"/>
                </a:cxn>
                <a:cxn ang="T5">
                  <a:pos x="T2" y="T3"/>
                </a:cxn>
              </a:cxnLst>
              <a:rect l="T6" t="T7" r="T8" b="T9"/>
              <a:pathLst>
                <a:path w="1620" h="1">
                  <a:moveTo>
                    <a:pt x="0" y="0"/>
                  </a:moveTo>
                  <a:lnTo>
                    <a:pt x="1620" y="0"/>
                  </a:lnTo>
                </a:path>
              </a:pathLst>
            </a:custGeom>
            <a:noFill/>
            <a:ln w="9525">
              <a:solidFill>
                <a:srgbClr val="333399"/>
              </a:solidFill>
              <a:round/>
            </a:ln>
            <a:extLst>
              <a:ext uri="{909E8E84-426E-40DD-AFC4-6F175D3DCCD1}">
                <a14:hiddenFill xmlns:a14="http://schemas.microsoft.com/office/drawing/2010/main">
                  <a:solidFill>
                    <a:srgbClr val="FFFFFF"/>
                  </a:solidFill>
                </a14:hiddenFill>
              </a:ext>
            </a:extLst>
          </p:spPr>
          <p:txBody>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9pPr>
            </a:lstStyle>
            <a:p>
              <a:pPr eaLnBrk="1" hangingPunct="1"/>
              <a:endParaRPr lang="zh-CN" altLang="en-US"/>
            </a:p>
          </p:txBody>
        </p:sp>
        <p:sp>
          <p:nvSpPr>
            <p:cNvPr id="5143" name="Oval 36"/>
            <p:cNvSpPr>
              <a:spLocks noChangeArrowheads="1"/>
            </p:cNvSpPr>
            <p:nvPr/>
          </p:nvSpPr>
          <p:spPr bwMode="auto">
            <a:xfrm>
              <a:off x="3264" y="2832"/>
              <a:ext cx="47" cy="47"/>
            </a:xfrm>
            <a:prstGeom prst="ellipse">
              <a:avLst/>
            </a:prstGeom>
            <a:solidFill>
              <a:srgbClr val="FFFFFF"/>
            </a:solidFill>
            <a:ln w="9525">
              <a:solidFill>
                <a:srgbClr val="333399"/>
              </a:solidFill>
              <a:round/>
            </a:ln>
          </p:spPr>
          <p:txBody>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9pPr>
            </a:lstStyle>
            <a:p>
              <a:pPr eaLnBrk="1" hangingPunct="1"/>
              <a:endParaRPr lang="zh-CN" altLang="en-US"/>
            </a:p>
          </p:txBody>
        </p:sp>
        <p:sp>
          <p:nvSpPr>
            <p:cNvPr id="5144" name="AutoShape 35"/>
            <p:cNvSpPr/>
            <p:nvPr/>
          </p:nvSpPr>
          <p:spPr bwMode="auto">
            <a:xfrm>
              <a:off x="3242" y="2256"/>
              <a:ext cx="790" cy="288"/>
            </a:xfrm>
            <a:prstGeom prst="borderCallout2">
              <a:avLst>
                <a:gd name="adj1" fmla="val 25000"/>
                <a:gd name="adj2" fmla="val -6074"/>
                <a:gd name="adj3" fmla="val 25000"/>
                <a:gd name="adj4" fmla="val -9875"/>
                <a:gd name="adj5" fmla="val 111111"/>
                <a:gd name="adj6" fmla="val -23417"/>
              </a:avLst>
            </a:prstGeom>
            <a:solidFill>
              <a:srgbClr val="D0D8F0">
                <a:alpha val="50195"/>
              </a:srgbClr>
            </a:solidFill>
            <a:ln w="9525">
              <a:solidFill>
                <a:srgbClr val="333399"/>
              </a:solidFill>
              <a:miter lim="800000"/>
            </a:ln>
          </p:spPr>
          <p:txBody>
            <a:bodyPr anchor="ctr"/>
            <a:lstStyle>
              <a:defPPr>
                <a:defRPr lang="zh-CN"/>
              </a:defPPr>
              <a:lvl1pPr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9pPr>
            </a:lstStyle>
            <a:p>
              <a:pPr algn="ctr" eaLnBrk="1" hangingPunct="1"/>
              <a:r>
                <a:rPr lang="zh-CN" altLang="en-US" b="1" dirty="0">
                  <a:solidFill>
                    <a:srgbClr val="C00000"/>
                  </a:solidFill>
                  <a:latin typeface="Times New Roman" panose="02020603050405020304" pitchFamily="18" charset="0"/>
                  <a:ea typeface="宋体" panose="02010600030101010101" pitchFamily="2" charset="-122"/>
                </a:rPr>
                <a:t>敏感元件</a:t>
              </a:r>
              <a:endParaRPr lang="zh-CN" altLang="en-US" b="1" dirty="0">
                <a:solidFill>
                  <a:srgbClr val="C00000"/>
                </a:solidFill>
                <a:ea typeface="宋体" panose="02010600030101010101" pitchFamily="2" charset="-122"/>
              </a:endParaRPr>
            </a:p>
          </p:txBody>
        </p:sp>
        <p:sp>
          <p:nvSpPr>
            <p:cNvPr id="5145" name="AutoShape 34"/>
            <p:cNvSpPr/>
            <p:nvPr/>
          </p:nvSpPr>
          <p:spPr bwMode="auto">
            <a:xfrm>
              <a:off x="1392" y="1968"/>
              <a:ext cx="764" cy="240"/>
            </a:xfrm>
            <a:prstGeom prst="borderCallout2">
              <a:avLst>
                <a:gd name="adj1" fmla="val 30000"/>
                <a:gd name="adj2" fmla="val 106282"/>
                <a:gd name="adj3" fmla="val 30000"/>
                <a:gd name="adj4" fmla="val 128009"/>
                <a:gd name="adj5" fmla="val 284167"/>
                <a:gd name="adj6" fmla="val 150787"/>
              </a:avLst>
            </a:prstGeom>
            <a:solidFill>
              <a:srgbClr val="D0D8F0">
                <a:alpha val="50195"/>
              </a:srgbClr>
            </a:solidFill>
            <a:ln w="9525">
              <a:solidFill>
                <a:srgbClr val="333399"/>
              </a:solidFill>
              <a:miter lim="800000"/>
            </a:ln>
          </p:spPr>
          <p:txBody>
            <a:bodyPr anchor="ctr"/>
            <a:lstStyle>
              <a:defPPr>
                <a:defRPr lang="zh-CN"/>
              </a:defPPr>
              <a:lvl1pPr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9pPr>
            </a:lstStyle>
            <a:p>
              <a:pPr algn="ctr" eaLnBrk="1" hangingPunct="1"/>
              <a:r>
                <a:rPr lang="zh-CN" altLang="en-US" b="1" dirty="0">
                  <a:solidFill>
                    <a:srgbClr val="C00000"/>
                  </a:solidFill>
                  <a:latin typeface="Times New Roman" panose="02020603050405020304" pitchFamily="18" charset="0"/>
                  <a:ea typeface="宋体" panose="02010600030101010101" pitchFamily="2" charset="-122"/>
                </a:rPr>
                <a:t>转换元件</a:t>
              </a:r>
              <a:endParaRPr lang="zh-CN" altLang="en-US" b="1" dirty="0">
                <a:solidFill>
                  <a:srgbClr val="C00000"/>
                </a:solidFill>
                <a:ea typeface="宋体" panose="02010600030101010101" pitchFamily="2" charset="-122"/>
              </a:endParaRPr>
            </a:p>
          </p:txBody>
        </p:sp>
        <p:sp>
          <p:nvSpPr>
            <p:cNvPr id="5146" name="Oval 33"/>
            <p:cNvSpPr>
              <a:spLocks noChangeArrowheads="1"/>
            </p:cNvSpPr>
            <p:nvPr/>
          </p:nvSpPr>
          <p:spPr bwMode="auto">
            <a:xfrm>
              <a:off x="3095" y="3152"/>
              <a:ext cx="47" cy="47"/>
            </a:xfrm>
            <a:prstGeom prst="ellipse">
              <a:avLst/>
            </a:prstGeom>
            <a:solidFill>
              <a:srgbClr val="FFFFFF"/>
            </a:solidFill>
            <a:ln w="9525">
              <a:solidFill>
                <a:srgbClr val="333399"/>
              </a:solidFill>
              <a:round/>
            </a:ln>
          </p:spPr>
          <p:txBody>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9pPr>
            </a:lstStyle>
            <a:p>
              <a:pPr eaLnBrk="1" hangingPunct="1"/>
              <a:endParaRPr lang="zh-CN" altLang="en-US"/>
            </a:p>
          </p:txBody>
        </p:sp>
        <p:sp>
          <p:nvSpPr>
            <p:cNvPr id="5147" name="Text Box 32"/>
            <p:cNvSpPr txBox="1">
              <a:spLocks noChangeArrowheads="1"/>
            </p:cNvSpPr>
            <p:nvPr/>
          </p:nvSpPr>
          <p:spPr bwMode="auto">
            <a:xfrm>
              <a:off x="3169" y="3101"/>
              <a:ext cx="177" cy="133"/>
            </a:xfrm>
            <a:prstGeom prst="rect">
              <a:avLst/>
            </a:prstGeom>
            <a:solidFill>
              <a:srgbClr val="D0D8F0">
                <a:alpha val="50195"/>
              </a:srgbClr>
            </a:solidFill>
            <a:ln w="9525">
              <a:solidFill>
                <a:srgbClr val="D0D8F0"/>
              </a:solidFill>
              <a:miter lim="800000"/>
            </a:ln>
          </p:spPr>
          <p:txBody>
            <a:bodyPr tIns="0"/>
            <a:lstStyle>
              <a:defPPr>
                <a:defRPr lang="zh-CN"/>
              </a:defPPr>
              <a:lvl1pPr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9pPr>
            </a:lstStyle>
            <a:p>
              <a:pPr algn="just" eaLnBrk="1" hangingPunct="1"/>
              <a:r>
                <a:rPr lang="en-US" altLang="zh-CN" sz="1200" b="1" dirty="0">
                  <a:solidFill>
                    <a:srgbClr val="333399"/>
                  </a:solidFill>
                  <a:latin typeface="Times New Roman" panose="02020603050405020304" pitchFamily="18" charset="0"/>
                  <a:ea typeface="宋体" panose="02010600030101010101" pitchFamily="2" charset="-122"/>
                  <a:cs typeface="Times New Roman" panose="02020603050405020304" pitchFamily="18" charset="0"/>
                </a:rPr>
                <a:t>+</a:t>
              </a:r>
              <a:endParaRPr lang="en-US" altLang="zh-CN" sz="1100" b="1" dirty="0">
                <a:solidFill>
                  <a:srgbClr val="333399"/>
                </a:solidFill>
                <a:ea typeface="宋体" panose="02010600030101010101" pitchFamily="2" charset="-122"/>
                <a:cs typeface="Times New Roman" panose="02020603050405020304" pitchFamily="18" charset="0"/>
              </a:endParaRPr>
            </a:p>
          </p:txBody>
        </p:sp>
        <p:sp>
          <p:nvSpPr>
            <p:cNvPr id="5149" name="Rectangle 30"/>
            <p:cNvSpPr>
              <a:spLocks noChangeArrowheads="1"/>
            </p:cNvSpPr>
            <p:nvPr/>
          </p:nvSpPr>
          <p:spPr bwMode="auto">
            <a:xfrm>
              <a:off x="2304" y="3312"/>
              <a:ext cx="720" cy="208"/>
            </a:xfrm>
            <a:prstGeom prst="rect">
              <a:avLst/>
            </a:prstGeom>
            <a:solidFill>
              <a:srgbClr val="D0D8F0">
                <a:alpha val="50195"/>
              </a:srgbClr>
            </a:solidFill>
            <a:ln w="9525">
              <a:solidFill>
                <a:srgbClr val="333399"/>
              </a:solidFill>
              <a:miter lim="800000"/>
            </a:ln>
          </p:spPr>
          <p:txBody>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9pPr>
            </a:lstStyle>
            <a:p>
              <a:pPr algn="ctr" eaLnBrk="1" hangingPunct="1"/>
              <a:r>
                <a:rPr lang="zh-CN" altLang="en-US" b="1" dirty="0">
                  <a:solidFill>
                    <a:srgbClr val="C00000"/>
                  </a:solidFill>
                  <a:latin typeface="Times New Roman" panose="02020603050405020304" pitchFamily="18" charset="0"/>
                  <a:ea typeface="宋体" panose="02010600030101010101" pitchFamily="2" charset="-122"/>
                </a:rPr>
                <a:t>转换电路</a:t>
              </a:r>
              <a:endParaRPr lang="zh-CN" altLang="en-US" b="1" dirty="0">
                <a:solidFill>
                  <a:srgbClr val="C00000"/>
                </a:solidFill>
                <a:ea typeface="宋体" panose="02010600030101010101" pitchFamily="2" charset="-122"/>
              </a:endParaRPr>
            </a:p>
          </p:txBody>
        </p:sp>
        <p:sp>
          <p:nvSpPr>
            <p:cNvPr id="5150" name="Rectangle 29"/>
            <p:cNvSpPr>
              <a:spLocks noChangeArrowheads="1"/>
            </p:cNvSpPr>
            <p:nvPr/>
          </p:nvSpPr>
          <p:spPr bwMode="auto">
            <a:xfrm>
              <a:off x="3456" y="2784"/>
              <a:ext cx="480" cy="262"/>
            </a:xfrm>
            <a:prstGeom prst="rect">
              <a:avLst/>
            </a:prstGeom>
            <a:solidFill>
              <a:srgbClr val="D0D8F0">
                <a:alpha val="50195"/>
              </a:srgbClr>
            </a:solidFill>
            <a:ln w="9525">
              <a:solidFill>
                <a:srgbClr val="D0D8F0"/>
              </a:solidFill>
              <a:miter lim="800000"/>
            </a:ln>
          </p:spPr>
          <p:txBody>
            <a:bodyPr anchor="ctr"/>
            <a:lstStyle>
              <a:defPPr>
                <a:defRPr lang="zh-CN"/>
              </a:defPPr>
              <a:lvl1pPr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9pPr>
            </a:lstStyle>
            <a:p>
              <a:pPr algn="ctr" eaLnBrk="1" hangingPunct="1"/>
              <a:r>
                <a:rPr lang="zh-CN" altLang="en-US" b="1" dirty="0">
                  <a:solidFill>
                    <a:srgbClr val="C00000"/>
                  </a:solidFill>
                  <a:latin typeface="Times New Roman" panose="02020603050405020304" pitchFamily="18" charset="0"/>
                  <a:ea typeface="宋体" panose="02010600030101010101" pitchFamily="2" charset="-122"/>
                </a:rPr>
                <a:t>输出</a:t>
              </a:r>
              <a:endParaRPr lang="zh-CN" altLang="en-US" b="1" dirty="0">
                <a:solidFill>
                  <a:srgbClr val="C00000"/>
                </a:solidFill>
                <a:ea typeface="宋体" panose="02010600030101010101" pitchFamily="2" charset="-122"/>
              </a:endParaRPr>
            </a:p>
          </p:txBody>
        </p:sp>
        <p:sp>
          <p:nvSpPr>
            <p:cNvPr id="5151" name="Rectangle 57" descr="深色上对角线"/>
            <p:cNvSpPr>
              <a:spLocks noChangeArrowheads="1"/>
            </p:cNvSpPr>
            <p:nvPr/>
          </p:nvSpPr>
          <p:spPr bwMode="auto">
            <a:xfrm>
              <a:off x="1824" y="2448"/>
              <a:ext cx="192" cy="375"/>
            </a:xfrm>
            <a:prstGeom prst="rect">
              <a:avLst/>
            </a:prstGeom>
            <a:pattFill prst="dkUpDiag">
              <a:fgClr>
                <a:srgbClr val="AAB9E4"/>
              </a:fgClr>
              <a:bgClr>
                <a:srgbClr val="FFFFFF"/>
              </a:bgClr>
            </a:pattFill>
            <a:ln w="9525">
              <a:solidFill>
                <a:srgbClr val="333399"/>
              </a:solidFill>
              <a:miter lim="800000"/>
            </a:ln>
          </p:spPr>
          <p:txBody>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9pPr>
            </a:lstStyle>
            <a:p>
              <a:pPr eaLnBrk="1" hangingPunct="1"/>
              <a:endParaRPr lang="zh-CN" altLang="en-US"/>
            </a:p>
          </p:txBody>
        </p:sp>
        <p:sp>
          <p:nvSpPr>
            <p:cNvPr id="46" name="Text Box 32"/>
            <p:cNvSpPr txBox="1">
              <a:spLocks noChangeArrowheads="1"/>
            </p:cNvSpPr>
            <p:nvPr/>
          </p:nvSpPr>
          <p:spPr bwMode="auto">
            <a:xfrm>
              <a:off x="2241" y="3100"/>
              <a:ext cx="177" cy="133"/>
            </a:xfrm>
            <a:prstGeom prst="rect">
              <a:avLst/>
            </a:prstGeom>
            <a:solidFill>
              <a:srgbClr val="D0D8F0">
                <a:alpha val="50195"/>
              </a:srgbClr>
            </a:solidFill>
            <a:ln w="9525">
              <a:solidFill>
                <a:srgbClr val="D0D8F0"/>
              </a:solidFill>
              <a:miter lim="800000"/>
            </a:ln>
          </p:spPr>
          <p:txBody>
            <a:bodyPr tIns="0"/>
            <a:lstStyle>
              <a:defPPr>
                <a:defRPr lang="zh-CN"/>
              </a:defPPr>
              <a:lvl1pPr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9pPr>
            </a:lstStyle>
            <a:p>
              <a:pPr algn="just" eaLnBrk="1" hangingPunct="1"/>
              <a:r>
                <a:rPr lang="en-US" altLang="zh-CN" sz="1100" b="1" dirty="0">
                  <a:solidFill>
                    <a:srgbClr val="333399"/>
                  </a:solidFill>
                  <a:ea typeface="宋体" panose="02010600030101010101" pitchFamily="2" charset="-122"/>
                  <a:cs typeface="Times New Roman" panose="02020603050405020304" pitchFamily="18" charset="0"/>
                </a:rPr>
                <a:t>-</a:t>
              </a:r>
            </a:p>
          </p:txBody>
        </p:sp>
      </p:grpSp>
      <p:sp>
        <p:nvSpPr>
          <p:cNvPr id="4" name="矩形 3"/>
          <p:cNvSpPr/>
          <p:nvPr/>
        </p:nvSpPr>
        <p:spPr>
          <a:xfrm>
            <a:off x="1053565" y="1461695"/>
            <a:ext cx="757259" cy="438582"/>
          </a:xfrm>
          <a:prstGeom prst="rect">
            <a:avLst/>
          </a:prstGeom>
        </p:spPr>
        <p:txBody>
          <a:bodyPr wrap="none" lIns="68580" tIns="34290" rIns="68580" bIns="34290">
            <a:spAutoFit/>
          </a:bodyPr>
          <a:lstStyle/>
          <a:p>
            <a:pPr algn="ctr"/>
            <a:r>
              <a:rPr lang="en-US" altLang="zh-CN" sz="2400" b="1" dirty="0">
                <a:solidFill>
                  <a:srgbClr val="002060"/>
                </a:solidFill>
                <a:latin typeface="Arial" panose="020B0604020202020204" pitchFamily="34" charset="0"/>
                <a:ea typeface="宋体" panose="02010600030101010101" pitchFamily="2" charset="-122"/>
                <a:cs typeface="Arial" panose="020B0604020202020204" pitchFamily="34" charset="0"/>
                <a:sym typeface="+mn-ea"/>
              </a:rPr>
              <a:t>例：</a:t>
            </a:r>
            <a:endParaRPr lang="zh-CN" altLang="en-US" sz="2400" dirty="0">
              <a:solidFill>
                <a:srgbClr val="002060"/>
              </a:solidFill>
            </a:endParaRPr>
          </a:p>
        </p:txBody>
      </p:sp>
      <p:sp>
        <p:nvSpPr>
          <p:cNvPr id="8" name="Slide Number Placeholder 7">
            <a:extLst>
              <a:ext uri="{FF2B5EF4-FFF2-40B4-BE49-F238E27FC236}">
                <a16:creationId xmlns:a16="http://schemas.microsoft.com/office/drawing/2014/main" id="{B2C23EAE-CDD6-413C-9A01-BC6A2B896A4F}"/>
              </a:ext>
            </a:extLst>
          </p:cNvPr>
          <p:cNvSpPr>
            <a:spLocks noGrp="1"/>
          </p:cNvSpPr>
          <p:nvPr>
            <p:ph type="sldNum" sz="quarter" idx="12"/>
          </p:nvPr>
        </p:nvSpPr>
        <p:spPr/>
        <p:txBody>
          <a:bodyPr/>
          <a:lstStyle/>
          <a:p>
            <a:fld id="{B53602B4-F12B-41CD-B648-531F86B2CC91}" type="slidenum">
              <a:rPr lang="zh-CN" altLang="en-US" smtClean="0"/>
              <a:t>14</a:t>
            </a:fld>
            <a:endParaRPr lang="zh-CN" altLang="en-US"/>
          </a:p>
        </p:txBody>
      </p:sp>
      <p:sp>
        <p:nvSpPr>
          <p:cNvPr id="31" name="矩形 6">
            <a:extLst>
              <a:ext uri="{FF2B5EF4-FFF2-40B4-BE49-F238E27FC236}">
                <a16:creationId xmlns:a16="http://schemas.microsoft.com/office/drawing/2014/main" id="{5420B6E9-9A50-4547-ADA5-D71DC2D3D526}"/>
              </a:ext>
            </a:extLst>
          </p:cNvPr>
          <p:cNvSpPr/>
          <p:nvPr/>
        </p:nvSpPr>
        <p:spPr>
          <a:xfrm>
            <a:off x="1915188" y="402452"/>
            <a:ext cx="3153741" cy="469357"/>
          </a:xfrm>
          <a:prstGeom prst="rect">
            <a:avLst/>
          </a:prstGeom>
        </p:spPr>
        <p:txBody>
          <a:bodyPr wrap="none" lIns="68577" tIns="34289" rIns="68577" bIns="34289">
            <a:spAutoFit/>
          </a:bodyPr>
          <a:lstStyle/>
          <a:p>
            <a:pPr marL="7144" indent="-7144" algn="ctr"/>
            <a:r>
              <a:rPr lang="zh-CN" altLang="en-US" sz="2600" b="1" dirty="0">
                <a:solidFill>
                  <a:schemeClr val="bg1"/>
                </a:solidFill>
                <a:latin typeface="宋体" panose="02010600030101010101" pitchFamily="2" charset="-122"/>
                <a:ea typeface="宋体" panose="02010600030101010101" pitchFamily="2" charset="-122"/>
              </a:rPr>
              <a:t>传感器的组成与分类</a:t>
            </a:r>
          </a:p>
        </p:txBody>
      </p:sp>
    </p:spTree>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2" y="354314"/>
            <a:ext cx="7839637" cy="620463"/>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9" rIns="68577" bIns="34289"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9" rIns="68577" bIns="34289" rtlCol="0" anchor="ctr"/>
          <a:lstStyle/>
          <a:p>
            <a:pPr algn="ctr"/>
            <a:r>
              <a:rPr lang="en-US" altLang="zh-CN" sz="2600" b="1" dirty="0">
                <a:latin typeface="Arial" panose="020B0604020202020204" pitchFamily="34" charset="0"/>
                <a:ea typeface="宋体" panose="02010600030101010101" pitchFamily="2" charset="-122"/>
                <a:cs typeface="Arial" panose="020B0604020202020204" pitchFamily="34" charset="0"/>
              </a:rPr>
              <a:t>0.1</a:t>
            </a:r>
            <a:endParaRPr lang="zh-CN" altLang="en-US" sz="2600" b="1" dirty="0">
              <a:latin typeface="Arial" panose="020B0604020202020204" pitchFamily="34" charset="0"/>
              <a:ea typeface="宋体" panose="02010600030101010101" pitchFamily="2" charset="-122"/>
              <a:cs typeface="Arial" panose="020B0604020202020204" pitchFamily="34" charset="0"/>
            </a:endParaRPr>
          </a:p>
        </p:txBody>
      </p:sp>
      <p:grpSp>
        <p:nvGrpSpPr>
          <p:cNvPr id="7" name="Group 49"/>
          <p:cNvGrpSpPr/>
          <p:nvPr/>
        </p:nvGrpSpPr>
        <p:grpSpPr bwMode="auto">
          <a:xfrm>
            <a:off x="1679608" y="1865623"/>
            <a:ext cx="6221646" cy="1714068"/>
            <a:chOff x="768" y="1248"/>
            <a:chExt cx="3697" cy="528"/>
          </a:xfrm>
        </p:grpSpPr>
        <p:sp>
          <p:nvSpPr>
            <p:cNvPr id="6179" name="Line 12"/>
            <p:cNvSpPr>
              <a:spLocks noChangeShapeType="1"/>
            </p:cNvSpPr>
            <p:nvPr/>
          </p:nvSpPr>
          <p:spPr bwMode="auto">
            <a:xfrm>
              <a:off x="768" y="1536"/>
              <a:ext cx="769" cy="0"/>
            </a:xfrm>
            <a:prstGeom prst="line">
              <a:avLst/>
            </a:prstGeom>
            <a:noFill/>
            <a:ln w="9525">
              <a:solidFill>
                <a:srgbClr val="333399"/>
              </a:solidFill>
              <a:round/>
              <a:tailEnd type="triangle" w="med" len="med"/>
            </a:ln>
            <a:extLst>
              <a:ext uri="{909E8E84-426E-40DD-AFC4-6F175D3DCCD1}">
                <a14:hiddenFill xmlns:a14="http://schemas.microsoft.com/office/drawing/2010/main">
                  <a:noFill/>
                </a14:hiddenFill>
              </a:ext>
            </a:extLst>
          </p:spPr>
          <p:txBody>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9pPr>
            </a:lstStyle>
            <a:p>
              <a:endParaRPr lang="zh-CN" altLang="en-US" sz="2000"/>
            </a:p>
          </p:txBody>
        </p:sp>
        <p:sp>
          <p:nvSpPr>
            <p:cNvPr id="6180" name="Rectangle 11"/>
            <p:cNvSpPr>
              <a:spLocks noChangeArrowheads="1"/>
            </p:cNvSpPr>
            <p:nvPr/>
          </p:nvSpPr>
          <p:spPr bwMode="auto">
            <a:xfrm>
              <a:off x="1536" y="1344"/>
              <a:ext cx="528" cy="432"/>
            </a:xfrm>
            <a:prstGeom prst="rect">
              <a:avLst/>
            </a:prstGeom>
            <a:solidFill>
              <a:srgbClr val="D0D8F0">
                <a:alpha val="50195"/>
              </a:srgbClr>
            </a:solidFill>
            <a:ln w="9525">
              <a:solidFill>
                <a:srgbClr val="333399"/>
              </a:solidFill>
              <a:miter lim="800000"/>
            </a:ln>
          </p:spPr>
          <p:txBody>
            <a:bodyPr anchor="ctr" anchorCtr="0"/>
            <a:lstStyle>
              <a:defPPr>
                <a:defRPr lang="zh-CN"/>
              </a:defPPr>
              <a:lvl1pPr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9pPr>
            </a:lstStyle>
            <a:p>
              <a:pPr algn="ctr" eaLnBrk="1" hangingPunct="1"/>
              <a:r>
                <a:rPr lang="zh-CN" altLang="en-US" sz="2000" b="1" dirty="0">
                  <a:solidFill>
                    <a:srgbClr val="333399"/>
                  </a:solidFill>
                  <a:latin typeface="Times New Roman" panose="02020603050405020304" pitchFamily="18" charset="0"/>
                  <a:ea typeface="宋体" panose="02010600030101010101" pitchFamily="2" charset="-122"/>
                </a:rPr>
                <a:t>敏感元件</a:t>
              </a:r>
              <a:endParaRPr lang="zh-CN" altLang="en-US" sz="2000" b="1" dirty="0">
                <a:solidFill>
                  <a:srgbClr val="333399"/>
                </a:solidFill>
                <a:ea typeface="宋体" panose="02010600030101010101" pitchFamily="2" charset="-122"/>
              </a:endParaRPr>
            </a:p>
          </p:txBody>
        </p:sp>
        <p:sp>
          <p:nvSpPr>
            <p:cNvPr id="6181" name="Line 10"/>
            <p:cNvSpPr>
              <a:spLocks noChangeShapeType="1"/>
            </p:cNvSpPr>
            <p:nvPr/>
          </p:nvSpPr>
          <p:spPr bwMode="auto">
            <a:xfrm>
              <a:off x="3024" y="1536"/>
              <a:ext cx="338" cy="0"/>
            </a:xfrm>
            <a:prstGeom prst="line">
              <a:avLst/>
            </a:prstGeom>
            <a:noFill/>
            <a:ln w="9525">
              <a:solidFill>
                <a:srgbClr val="333399"/>
              </a:solidFill>
              <a:round/>
              <a:tailEnd type="triangle" w="med" len="med"/>
            </a:ln>
            <a:extLst>
              <a:ext uri="{909E8E84-426E-40DD-AFC4-6F175D3DCCD1}">
                <a14:hiddenFill xmlns:a14="http://schemas.microsoft.com/office/drawing/2010/main">
                  <a:noFill/>
                </a14:hiddenFill>
              </a:ext>
            </a:extLst>
          </p:spPr>
          <p:txBody>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9pPr>
            </a:lstStyle>
            <a:p>
              <a:endParaRPr lang="zh-CN" altLang="en-US" sz="2000"/>
            </a:p>
          </p:txBody>
        </p:sp>
        <p:sp>
          <p:nvSpPr>
            <p:cNvPr id="6182" name="Freeform 9"/>
            <p:cNvSpPr/>
            <p:nvPr/>
          </p:nvSpPr>
          <p:spPr bwMode="auto">
            <a:xfrm>
              <a:off x="2053" y="1514"/>
              <a:ext cx="395" cy="2"/>
            </a:xfrm>
            <a:custGeom>
              <a:avLst/>
              <a:gdLst>
                <a:gd name="T0" fmla="*/ 0 w 395"/>
                <a:gd name="T1" fmla="*/ 0 h 2"/>
                <a:gd name="T2" fmla="*/ 395 w 395"/>
                <a:gd name="T3" fmla="*/ 2 h 2"/>
                <a:gd name="T4" fmla="*/ 0 60000 65536"/>
                <a:gd name="T5" fmla="*/ 0 60000 65536"/>
                <a:gd name="T6" fmla="*/ 0 w 395"/>
                <a:gd name="T7" fmla="*/ 0 h 2"/>
                <a:gd name="T8" fmla="*/ 395 w 395"/>
                <a:gd name="T9" fmla="*/ 2 h 2"/>
              </a:gdLst>
              <a:ahLst/>
              <a:cxnLst>
                <a:cxn ang="T4">
                  <a:pos x="T0" y="T1"/>
                </a:cxn>
                <a:cxn ang="T5">
                  <a:pos x="T2" y="T3"/>
                </a:cxn>
              </a:cxnLst>
              <a:rect l="T6" t="T7" r="T8" b="T9"/>
              <a:pathLst>
                <a:path w="395" h="2">
                  <a:moveTo>
                    <a:pt x="0" y="0"/>
                  </a:moveTo>
                  <a:lnTo>
                    <a:pt x="395" y="2"/>
                  </a:lnTo>
                </a:path>
              </a:pathLst>
            </a:custGeom>
            <a:solidFill>
              <a:srgbClr val="FFFFFF"/>
            </a:solidFill>
            <a:ln w="9525">
              <a:solidFill>
                <a:srgbClr val="333399"/>
              </a:solidFill>
              <a:round/>
              <a:tailEnd type="triangle" w="med" len="med"/>
            </a:ln>
          </p:spPr>
          <p:txBody>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9pPr>
            </a:lstStyle>
            <a:p>
              <a:pPr eaLnBrk="1" hangingPunct="1"/>
              <a:endParaRPr lang="zh-CN" altLang="en-US" sz="2000"/>
            </a:p>
          </p:txBody>
        </p:sp>
        <p:sp>
          <p:nvSpPr>
            <p:cNvPr id="6183" name="Line 8"/>
            <p:cNvSpPr>
              <a:spLocks noChangeShapeType="1"/>
            </p:cNvSpPr>
            <p:nvPr/>
          </p:nvSpPr>
          <p:spPr bwMode="auto">
            <a:xfrm>
              <a:off x="3984" y="1536"/>
              <a:ext cx="481" cy="0"/>
            </a:xfrm>
            <a:prstGeom prst="line">
              <a:avLst/>
            </a:prstGeom>
            <a:noFill/>
            <a:ln w="9525">
              <a:solidFill>
                <a:srgbClr val="333399"/>
              </a:solidFill>
              <a:round/>
              <a:tailEnd type="triangle" w="med" len="med"/>
            </a:ln>
            <a:extLst>
              <a:ext uri="{909E8E84-426E-40DD-AFC4-6F175D3DCCD1}">
                <a14:hiddenFill xmlns:a14="http://schemas.microsoft.com/office/drawing/2010/main">
                  <a:noFill/>
                </a14:hiddenFill>
              </a:ext>
            </a:extLst>
          </p:spPr>
          <p:txBody>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9pPr>
            </a:lstStyle>
            <a:p>
              <a:endParaRPr lang="zh-CN" altLang="en-US" sz="2000"/>
            </a:p>
          </p:txBody>
        </p:sp>
        <p:sp>
          <p:nvSpPr>
            <p:cNvPr id="6184" name="Rectangle 7"/>
            <p:cNvSpPr>
              <a:spLocks noChangeArrowheads="1"/>
            </p:cNvSpPr>
            <p:nvPr/>
          </p:nvSpPr>
          <p:spPr bwMode="auto">
            <a:xfrm>
              <a:off x="2448" y="1344"/>
              <a:ext cx="576" cy="432"/>
            </a:xfrm>
            <a:prstGeom prst="rect">
              <a:avLst/>
            </a:prstGeom>
            <a:solidFill>
              <a:srgbClr val="D0D8F0">
                <a:alpha val="50195"/>
              </a:srgbClr>
            </a:solidFill>
            <a:ln w="9525">
              <a:solidFill>
                <a:srgbClr val="333399"/>
              </a:solidFill>
              <a:miter lim="800000"/>
            </a:ln>
          </p:spPr>
          <p:txBody>
            <a:bodyPr anchor="ctr" anchorCtr="0"/>
            <a:lstStyle>
              <a:defPPr>
                <a:defRPr lang="zh-CN"/>
              </a:defPPr>
              <a:lvl1pPr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9pPr>
            </a:lstStyle>
            <a:p>
              <a:pPr algn="ctr" eaLnBrk="1" hangingPunct="1"/>
              <a:r>
                <a:rPr lang="zh-CN" altLang="en-US" sz="2000" b="1" dirty="0">
                  <a:solidFill>
                    <a:srgbClr val="333399"/>
                  </a:solidFill>
                  <a:latin typeface="Times New Roman" panose="02020603050405020304" pitchFamily="18" charset="0"/>
                  <a:ea typeface="宋体" panose="02010600030101010101" pitchFamily="2" charset="-122"/>
                </a:rPr>
                <a:t>转换</a:t>
              </a:r>
              <a:endParaRPr lang="en-US" altLang="zh-CN" sz="2000" b="1" dirty="0">
                <a:solidFill>
                  <a:srgbClr val="333399"/>
                </a:solidFill>
                <a:latin typeface="Times New Roman" panose="02020603050405020304" pitchFamily="18" charset="0"/>
                <a:ea typeface="宋体" panose="02010600030101010101" pitchFamily="2" charset="-122"/>
              </a:endParaRPr>
            </a:p>
            <a:p>
              <a:pPr algn="ctr" eaLnBrk="1" hangingPunct="1"/>
              <a:r>
                <a:rPr lang="zh-CN" altLang="en-US" sz="2000" b="1" dirty="0">
                  <a:solidFill>
                    <a:srgbClr val="333399"/>
                  </a:solidFill>
                  <a:latin typeface="Times New Roman" panose="02020603050405020304" pitchFamily="18" charset="0"/>
                  <a:ea typeface="宋体" panose="02010600030101010101" pitchFamily="2" charset="-122"/>
                </a:rPr>
                <a:t>元件</a:t>
              </a:r>
              <a:endParaRPr lang="zh-CN" altLang="en-US" sz="2000" b="1" dirty="0">
                <a:solidFill>
                  <a:srgbClr val="333399"/>
                </a:solidFill>
                <a:ea typeface="宋体" panose="02010600030101010101" pitchFamily="2" charset="-122"/>
              </a:endParaRPr>
            </a:p>
          </p:txBody>
        </p:sp>
        <p:sp>
          <p:nvSpPr>
            <p:cNvPr id="6185" name="Rectangle 6"/>
            <p:cNvSpPr>
              <a:spLocks noChangeArrowheads="1"/>
            </p:cNvSpPr>
            <p:nvPr/>
          </p:nvSpPr>
          <p:spPr bwMode="auto">
            <a:xfrm>
              <a:off x="3360" y="1344"/>
              <a:ext cx="596" cy="432"/>
            </a:xfrm>
            <a:prstGeom prst="rect">
              <a:avLst/>
            </a:prstGeom>
            <a:solidFill>
              <a:srgbClr val="D0D8F0">
                <a:alpha val="50195"/>
              </a:srgbClr>
            </a:solidFill>
            <a:ln w="9525">
              <a:solidFill>
                <a:srgbClr val="333399"/>
              </a:solidFill>
              <a:miter lim="800000"/>
            </a:ln>
          </p:spPr>
          <p:txBody>
            <a:bodyPr anchor="ctr" anchorCtr="0"/>
            <a:lstStyle>
              <a:defPPr>
                <a:defRPr lang="zh-CN"/>
              </a:defPPr>
              <a:lvl1pPr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9pPr>
            </a:lstStyle>
            <a:p>
              <a:pPr algn="ctr" eaLnBrk="1" hangingPunct="1"/>
              <a:r>
                <a:rPr lang="zh-CN" altLang="en-US" sz="2000" b="1" dirty="0">
                  <a:solidFill>
                    <a:srgbClr val="333399"/>
                  </a:solidFill>
                  <a:latin typeface="Times New Roman" panose="02020603050405020304" pitchFamily="18" charset="0"/>
                  <a:ea typeface="宋体" panose="02010600030101010101" pitchFamily="2" charset="-122"/>
                </a:rPr>
                <a:t>转换    电路</a:t>
              </a:r>
              <a:endParaRPr lang="zh-CN" altLang="en-US" sz="2000" b="1" dirty="0">
                <a:solidFill>
                  <a:srgbClr val="333399"/>
                </a:solidFill>
                <a:ea typeface="宋体" panose="02010600030101010101" pitchFamily="2" charset="-122"/>
              </a:endParaRPr>
            </a:p>
          </p:txBody>
        </p:sp>
        <p:sp>
          <p:nvSpPr>
            <p:cNvPr id="6186" name="Rectangle 5"/>
            <p:cNvSpPr>
              <a:spLocks noChangeArrowheads="1"/>
            </p:cNvSpPr>
            <p:nvPr/>
          </p:nvSpPr>
          <p:spPr bwMode="auto">
            <a:xfrm>
              <a:off x="768" y="1248"/>
              <a:ext cx="624" cy="192"/>
            </a:xfrm>
            <a:prstGeom prst="rect">
              <a:avLst/>
            </a:prstGeom>
            <a:solidFill>
              <a:srgbClr val="D0D8F0">
                <a:alpha val="50195"/>
              </a:srgbClr>
            </a:solidFill>
            <a:ln w="9525">
              <a:solidFill>
                <a:srgbClr val="D0D8F0"/>
              </a:solidFill>
              <a:miter lim="800000"/>
            </a:ln>
          </p:spPr>
          <p:txBody>
            <a:bodyPr anchor="ctr" anchorCtr="0"/>
            <a:lstStyle>
              <a:defPPr>
                <a:defRPr lang="zh-CN"/>
              </a:defPPr>
              <a:lvl1pPr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9pPr>
            </a:lstStyle>
            <a:p>
              <a:pPr algn="ctr" eaLnBrk="1" hangingPunct="1"/>
              <a:r>
                <a:rPr lang="zh-CN" altLang="en-US" sz="1600" b="1" dirty="0">
                  <a:solidFill>
                    <a:srgbClr val="333399"/>
                  </a:solidFill>
                  <a:latin typeface="Times New Roman" panose="02020603050405020304" pitchFamily="18" charset="0"/>
                  <a:ea typeface="宋体" panose="02010600030101010101" pitchFamily="2" charset="-122"/>
                </a:rPr>
                <a:t>被测量</a:t>
              </a:r>
              <a:endParaRPr lang="zh-CN" altLang="en-US" sz="1600" b="1" dirty="0">
                <a:solidFill>
                  <a:srgbClr val="333399"/>
                </a:solidFill>
                <a:ea typeface="宋体" panose="02010600030101010101" pitchFamily="2" charset="-122"/>
              </a:endParaRPr>
            </a:p>
          </p:txBody>
        </p:sp>
        <p:sp>
          <p:nvSpPr>
            <p:cNvPr id="6187" name="Rectangle 4"/>
            <p:cNvSpPr>
              <a:spLocks noChangeArrowheads="1"/>
            </p:cNvSpPr>
            <p:nvPr/>
          </p:nvSpPr>
          <p:spPr bwMode="auto">
            <a:xfrm>
              <a:off x="4032" y="1248"/>
              <a:ext cx="384" cy="192"/>
            </a:xfrm>
            <a:prstGeom prst="rect">
              <a:avLst/>
            </a:prstGeom>
            <a:solidFill>
              <a:srgbClr val="D0D8F0">
                <a:alpha val="50195"/>
              </a:srgbClr>
            </a:solidFill>
            <a:ln w="9525">
              <a:solidFill>
                <a:srgbClr val="D0D8F0"/>
              </a:solidFill>
              <a:miter lim="800000"/>
            </a:ln>
          </p:spPr>
          <p:txBody>
            <a:bodyPr anchor="ctr" anchorCtr="0"/>
            <a:lstStyle>
              <a:defPPr>
                <a:defRPr lang="zh-CN"/>
              </a:defPPr>
              <a:lvl1pPr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9pPr>
            </a:lstStyle>
            <a:p>
              <a:pPr algn="just" eaLnBrk="1" hangingPunct="1"/>
              <a:r>
                <a:rPr lang="zh-CN" altLang="en-US" sz="1600" b="1" dirty="0">
                  <a:solidFill>
                    <a:srgbClr val="333399"/>
                  </a:solidFill>
                  <a:latin typeface="Times New Roman" panose="02020603050405020304" pitchFamily="18" charset="0"/>
                  <a:ea typeface="宋体" panose="02010600030101010101" pitchFamily="2" charset="-122"/>
                </a:rPr>
                <a:t>电量</a:t>
              </a:r>
              <a:endParaRPr lang="zh-CN" altLang="en-US" sz="2000" b="1" dirty="0">
                <a:solidFill>
                  <a:srgbClr val="333399"/>
                </a:solidFill>
                <a:ea typeface="宋体" panose="02010600030101010101" pitchFamily="2" charset="-122"/>
              </a:endParaRPr>
            </a:p>
          </p:txBody>
        </p:sp>
      </p:grpSp>
      <p:grpSp>
        <p:nvGrpSpPr>
          <p:cNvPr id="8" name="Group 50"/>
          <p:cNvGrpSpPr/>
          <p:nvPr/>
        </p:nvGrpSpPr>
        <p:grpSpPr bwMode="auto">
          <a:xfrm>
            <a:off x="1679607" y="4030355"/>
            <a:ext cx="6338993" cy="1841997"/>
            <a:chOff x="768" y="2400"/>
            <a:chExt cx="4224" cy="624"/>
          </a:xfrm>
        </p:grpSpPr>
        <p:sp>
          <p:nvSpPr>
            <p:cNvPr id="6162" name="Line 22"/>
            <p:cNvSpPr>
              <a:spLocks noChangeShapeType="1"/>
            </p:cNvSpPr>
            <p:nvPr/>
          </p:nvSpPr>
          <p:spPr bwMode="auto">
            <a:xfrm>
              <a:off x="768" y="2688"/>
              <a:ext cx="769" cy="0"/>
            </a:xfrm>
            <a:prstGeom prst="line">
              <a:avLst/>
            </a:prstGeom>
            <a:noFill/>
            <a:ln w="9525">
              <a:solidFill>
                <a:srgbClr val="333399"/>
              </a:solidFill>
              <a:round/>
              <a:tailEnd type="triangle" w="med" len="med"/>
            </a:ln>
            <a:extLst>
              <a:ext uri="{909E8E84-426E-40DD-AFC4-6F175D3DCCD1}">
                <a14:hiddenFill xmlns:a14="http://schemas.microsoft.com/office/drawing/2010/main">
                  <a:noFill/>
                </a14:hiddenFill>
              </a:ext>
            </a:extLst>
          </p:spPr>
          <p:txBody>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9pPr>
            </a:lstStyle>
            <a:p>
              <a:endParaRPr lang="zh-CN" altLang="en-US" sz="2000"/>
            </a:p>
          </p:txBody>
        </p:sp>
        <p:sp>
          <p:nvSpPr>
            <p:cNvPr id="6163" name="Rectangle 23"/>
            <p:cNvSpPr>
              <a:spLocks noChangeArrowheads="1"/>
            </p:cNvSpPr>
            <p:nvPr/>
          </p:nvSpPr>
          <p:spPr bwMode="auto">
            <a:xfrm>
              <a:off x="1536" y="2496"/>
              <a:ext cx="528" cy="432"/>
            </a:xfrm>
            <a:prstGeom prst="rect">
              <a:avLst/>
            </a:prstGeom>
            <a:solidFill>
              <a:srgbClr val="D0D8F0">
                <a:alpha val="50195"/>
              </a:srgbClr>
            </a:solidFill>
            <a:ln w="9525">
              <a:solidFill>
                <a:srgbClr val="333399"/>
              </a:solidFill>
              <a:miter lim="800000"/>
            </a:ln>
          </p:spPr>
          <p:txBody>
            <a:bodyPr anchor="ctr" anchorCtr="0"/>
            <a:lstStyle>
              <a:defPPr>
                <a:defRPr lang="zh-CN"/>
              </a:defPPr>
              <a:lvl1pPr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9pPr>
            </a:lstStyle>
            <a:p>
              <a:pPr algn="ctr" eaLnBrk="1" hangingPunct="1"/>
              <a:r>
                <a:rPr lang="zh-CN" altLang="en-US" sz="1800" b="1" dirty="0">
                  <a:solidFill>
                    <a:srgbClr val="333399"/>
                  </a:solidFill>
                  <a:latin typeface="Times New Roman" panose="02020603050405020304" pitchFamily="18" charset="0"/>
                  <a:ea typeface="宋体" panose="02010600030101010101" pitchFamily="2" charset="-122"/>
                </a:rPr>
                <a:t>砝码</a:t>
              </a:r>
            </a:p>
            <a:p>
              <a:pPr algn="ctr" eaLnBrk="1" hangingPunct="1"/>
              <a:r>
                <a:rPr lang="en-US" altLang="zh-CN" sz="1800" b="1" i="1" dirty="0">
                  <a:solidFill>
                    <a:srgbClr val="333399"/>
                  </a:solidFill>
                  <a:latin typeface="Times New Roman" panose="02020603050405020304" pitchFamily="18" charset="0"/>
                  <a:ea typeface="宋体" panose="02010600030101010101" pitchFamily="2" charset="-122"/>
                </a:rPr>
                <a:t>m</a:t>
              </a:r>
              <a:endParaRPr lang="zh-CN" altLang="en-US" sz="1800" b="1" dirty="0">
                <a:solidFill>
                  <a:srgbClr val="333399"/>
                </a:solidFill>
                <a:ea typeface="宋体" panose="02010600030101010101" pitchFamily="2" charset="-122"/>
              </a:endParaRPr>
            </a:p>
          </p:txBody>
        </p:sp>
        <p:sp>
          <p:nvSpPr>
            <p:cNvPr id="6164" name="Line 24"/>
            <p:cNvSpPr>
              <a:spLocks noChangeShapeType="1"/>
            </p:cNvSpPr>
            <p:nvPr/>
          </p:nvSpPr>
          <p:spPr bwMode="auto">
            <a:xfrm>
              <a:off x="3072" y="2688"/>
              <a:ext cx="624" cy="0"/>
            </a:xfrm>
            <a:prstGeom prst="line">
              <a:avLst/>
            </a:prstGeom>
            <a:noFill/>
            <a:ln w="9525">
              <a:solidFill>
                <a:srgbClr val="333399"/>
              </a:solidFill>
              <a:round/>
              <a:tailEnd type="triangle" w="med" len="med"/>
            </a:ln>
            <a:extLst>
              <a:ext uri="{909E8E84-426E-40DD-AFC4-6F175D3DCCD1}">
                <a14:hiddenFill xmlns:a14="http://schemas.microsoft.com/office/drawing/2010/main">
                  <a:noFill/>
                </a14:hiddenFill>
              </a:ext>
            </a:extLst>
          </p:spPr>
          <p:txBody>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9pPr>
            </a:lstStyle>
            <a:p>
              <a:endParaRPr lang="zh-CN" altLang="en-US" sz="2000"/>
            </a:p>
          </p:txBody>
        </p:sp>
        <p:sp>
          <p:nvSpPr>
            <p:cNvPr id="6165" name="Freeform 25"/>
            <p:cNvSpPr/>
            <p:nvPr/>
          </p:nvSpPr>
          <p:spPr bwMode="auto">
            <a:xfrm>
              <a:off x="2062" y="2666"/>
              <a:ext cx="434" cy="2"/>
            </a:xfrm>
            <a:custGeom>
              <a:avLst/>
              <a:gdLst>
                <a:gd name="T0" fmla="*/ 0 w 434"/>
                <a:gd name="T1" fmla="*/ 0 h 2"/>
                <a:gd name="T2" fmla="*/ 434 w 434"/>
                <a:gd name="T3" fmla="*/ 2 h 2"/>
                <a:gd name="T4" fmla="*/ 0 60000 65536"/>
                <a:gd name="T5" fmla="*/ 0 60000 65536"/>
                <a:gd name="T6" fmla="*/ 0 w 434"/>
                <a:gd name="T7" fmla="*/ 0 h 2"/>
                <a:gd name="T8" fmla="*/ 434 w 434"/>
                <a:gd name="T9" fmla="*/ 2 h 2"/>
              </a:gdLst>
              <a:ahLst/>
              <a:cxnLst>
                <a:cxn ang="T4">
                  <a:pos x="T0" y="T1"/>
                </a:cxn>
                <a:cxn ang="T5">
                  <a:pos x="T2" y="T3"/>
                </a:cxn>
              </a:cxnLst>
              <a:rect l="T6" t="T7" r="T8" b="T9"/>
              <a:pathLst>
                <a:path w="434" h="2">
                  <a:moveTo>
                    <a:pt x="0" y="0"/>
                  </a:moveTo>
                  <a:lnTo>
                    <a:pt x="434" y="2"/>
                  </a:lnTo>
                </a:path>
              </a:pathLst>
            </a:custGeom>
            <a:solidFill>
              <a:srgbClr val="FFFFFF"/>
            </a:solidFill>
            <a:ln w="9525">
              <a:solidFill>
                <a:srgbClr val="333399"/>
              </a:solidFill>
              <a:round/>
              <a:tailEnd type="triangle" w="med" len="med"/>
            </a:ln>
          </p:spPr>
          <p:txBody>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9pPr>
            </a:lstStyle>
            <a:p>
              <a:pPr eaLnBrk="1" hangingPunct="1"/>
              <a:endParaRPr lang="zh-CN" altLang="en-US" sz="2000"/>
            </a:p>
          </p:txBody>
        </p:sp>
        <p:sp>
          <p:nvSpPr>
            <p:cNvPr id="6166" name="Line 26"/>
            <p:cNvSpPr>
              <a:spLocks noChangeShapeType="1"/>
            </p:cNvSpPr>
            <p:nvPr/>
          </p:nvSpPr>
          <p:spPr bwMode="auto">
            <a:xfrm>
              <a:off x="4272" y="2688"/>
              <a:ext cx="481" cy="0"/>
            </a:xfrm>
            <a:prstGeom prst="line">
              <a:avLst/>
            </a:prstGeom>
            <a:noFill/>
            <a:ln w="9525">
              <a:solidFill>
                <a:srgbClr val="333399"/>
              </a:solidFill>
              <a:round/>
              <a:tailEnd type="triangle" w="med" len="med"/>
            </a:ln>
            <a:extLst>
              <a:ext uri="{909E8E84-426E-40DD-AFC4-6F175D3DCCD1}">
                <a14:hiddenFill xmlns:a14="http://schemas.microsoft.com/office/drawing/2010/main">
                  <a:noFill/>
                </a14:hiddenFill>
              </a:ext>
            </a:extLst>
          </p:spPr>
          <p:txBody>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9pPr>
            </a:lstStyle>
            <a:p>
              <a:endParaRPr lang="zh-CN" altLang="en-US" sz="2000"/>
            </a:p>
          </p:txBody>
        </p:sp>
        <p:sp>
          <p:nvSpPr>
            <p:cNvPr id="6167" name="Rectangle 27"/>
            <p:cNvSpPr>
              <a:spLocks noChangeArrowheads="1"/>
            </p:cNvSpPr>
            <p:nvPr/>
          </p:nvSpPr>
          <p:spPr bwMode="auto">
            <a:xfrm>
              <a:off x="2496" y="2496"/>
              <a:ext cx="576" cy="432"/>
            </a:xfrm>
            <a:prstGeom prst="rect">
              <a:avLst/>
            </a:prstGeom>
            <a:solidFill>
              <a:srgbClr val="D0D8F0">
                <a:alpha val="50195"/>
              </a:srgbClr>
            </a:solidFill>
            <a:ln w="9525">
              <a:solidFill>
                <a:srgbClr val="333399"/>
              </a:solidFill>
              <a:miter lim="800000"/>
            </a:ln>
          </p:spPr>
          <p:txBody>
            <a:bodyPr anchor="ctr" anchorCtr="0"/>
            <a:lstStyle>
              <a:defPPr>
                <a:defRPr lang="zh-CN"/>
              </a:defPPr>
              <a:lvl1pPr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9pPr>
            </a:lstStyle>
            <a:p>
              <a:pPr algn="ctr" eaLnBrk="1" hangingPunct="1"/>
              <a:r>
                <a:rPr lang="zh-CN" altLang="en-US" sz="2000" b="1" dirty="0">
                  <a:solidFill>
                    <a:srgbClr val="333399"/>
                  </a:solidFill>
                  <a:latin typeface="Times New Roman" panose="02020603050405020304" pitchFamily="18" charset="0"/>
                  <a:ea typeface="宋体" panose="02010600030101010101" pitchFamily="2" charset="-122"/>
                </a:rPr>
                <a:t>弹簧</a:t>
              </a:r>
            </a:p>
            <a:p>
              <a:pPr algn="ctr" eaLnBrk="1" hangingPunct="1"/>
              <a:r>
                <a:rPr lang="en-US" altLang="zh-CN" sz="2000" b="1" i="1" dirty="0">
                  <a:solidFill>
                    <a:srgbClr val="333399"/>
                  </a:solidFill>
                  <a:latin typeface="Times New Roman" panose="02020603050405020304" pitchFamily="18" charset="0"/>
                  <a:ea typeface="宋体" panose="02010600030101010101" pitchFamily="2" charset="-122"/>
                </a:rPr>
                <a:t>k</a:t>
              </a:r>
              <a:endParaRPr lang="en-US" altLang="zh-CN" sz="2000" b="1" i="1" dirty="0">
                <a:solidFill>
                  <a:srgbClr val="333399"/>
                </a:solidFill>
                <a:ea typeface="宋体" panose="02010600030101010101" pitchFamily="2" charset="-122"/>
              </a:endParaRPr>
            </a:p>
          </p:txBody>
        </p:sp>
        <p:sp>
          <p:nvSpPr>
            <p:cNvPr id="6168" name="Rectangle 28"/>
            <p:cNvSpPr>
              <a:spLocks noChangeArrowheads="1"/>
            </p:cNvSpPr>
            <p:nvPr/>
          </p:nvSpPr>
          <p:spPr bwMode="auto">
            <a:xfrm>
              <a:off x="3676" y="2496"/>
              <a:ext cx="596" cy="432"/>
            </a:xfrm>
            <a:prstGeom prst="rect">
              <a:avLst/>
            </a:prstGeom>
            <a:solidFill>
              <a:srgbClr val="D0D8F0">
                <a:alpha val="50195"/>
              </a:srgbClr>
            </a:solidFill>
            <a:ln w="9525">
              <a:solidFill>
                <a:srgbClr val="333399"/>
              </a:solidFill>
              <a:miter lim="800000"/>
            </a:ln>
          </p:spPr>
          <p:txBody>
            <a:bodyPr anchor="ctr" anchorCtr="0"/>
            <a:lstStyle>
              <a:defPPr>
                <a:defRPr lang="zh-CN"/>
              </a:defPPr>
              <a:lvl1pPr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9pPr>
            </a:lstStyle>
            <a:p>
              <a:pPr algn="ctr" eaLnBrk="1" hangingPunct="1"/>
              <a:r>
                <a:rPr lang="zh-CN" altLang="en-US" sz="2000" b="1" dirty="0">
                  <a:solidFill>
                    <a:srgbClr val="333399"/>
                  </a:solidFill>
                  <a:latin typeface="Times New Roman" panose="02020603050405020304" pitchFamily="18" charset="0"/>
                  <a:ea typeface="宋体" panose="02010600030101010101" pitchFamily="2" charset="-122"/>
                </a:rPr>
                <a:t>转换    电路</a:t>
              </a:r>
              <a:endParaRPr lang="zh-CN" altLang="en-US" sz="2000" b="1" dirty="0">
                <a:solidFill>
                  <a:srgbClr val="333399"/>
                </a:solidFill>
                <a:ea typeface="宋体" panose="02010600030101010101" pitchFamily="2" charset="-122"/>
              </a:endParaRPr>
            </a:p>
          </p:txBody>
        </p:sp>
        <p:sp>
          <p:nvSpPr>
            <p:cNvPr id="6169" name="Rectangle 29"/>
            <p:cNvSpPr>
              <a:spLocks noChangeArrowheads="1"/>
            </p:cNvSpPr>
            <p:nvPr/>
          </p:nvSpPr>
          <p:spPr bwMode="auto">
            <a:xfrm>
              <a:off x="768" y="2400"/>
              <a:ext cx="624" cy="192"/>
            </a:xfrm>
            <a:prstGeom prst="rect">
              <a:avLst/>
            </a:prstGeom>
            <a:solidFill>
              <a:srgbClr val="D0D8F0">
                <a:alpha val="50195"/>
              </a:srgbClr>
            </a:solidFill>
            <a:ln w="9525">
              <a:solidFill>
                <a:srgbClr val="D0D8F0"/>
              </a:solidFill>
              <a:miter lim="800000"/>
            </a:ln>
          </p:spPr>
          <p:txBody>
            <a:bodyPr anchor="ctr" anchorCtr="0"/>
            <a:lstStyle>
              <a:defPPr>
                <a:defRPr lang="zh-CN"/>
              </a:defPPr>
              <a:lvl1pPr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9pPr>
            </a:lstStyle>
            <a:p>
              <a:pPr algn="ctr" eaLnBrk="1" hangingPunct="1"/>
              <a:r>
                <a:rPr lang="zh-CN" altLang="en-US" sz="1600" b="1" dirty="0">
                  <a:solidFill>
                    <a:srgbClr val="333399"/>
                  </a:solidFill>
                  <a:latin typeface="Times New Roman" panose="02020603050405020304" pitchFamily="18" charset="0"/>
                  <a:ea typeface="宋体" panose="02010600030101010101" pitchFamily="2" charset="-122"/>
                </a:rPr>
                <a:t>加速度</a:t>
              </a:r>
              <a:endParaRPr lang="zh-CN" altLang="en-US" sz="1600" b="1" dirty="0">
                <a:solidFill>
                  <a:srgbClr val="333399"/>
                </a:solidFill>
                <a:ea typeface="宋体" panose="02010600030101010101" pitchFamily="2" charset="-122"/>
              </a:endParaRPr>
            </a:p>
          </p:txBody>
        </p:sp>
        <p:sp>
          <p:nvSpPr>
            <p:cNvPr id="6170" name="Rectangle 30"/>
            <p:cNvSpPr>
              <a:spLocks noChangeArrowheads="1"/>
            </p:cNvSpPr>
            <p:nvPr/>
          </p:nvSpPr>
          <p:spPr bwMode="auto">
            <a:xfrm>
              <a:off x="4368" y="2400"/>
              <a:ext cx="491" cy="192"/>
            </a:xfrm>
            <a:prstGeom prst="rect">
              <a:avLst/>
            </a:prstGeom>
            <a:solidFill>
              <a:srgbClr val="D0D8F0">
                <a:alpha val="50195"/>
              </a:srgbClr>
            </a:solidFill>
            <a:ln w="9525">
              <a:solidFill>
                <a:srgbClr val="D0D8F0"/>
              </a:solidFill>
              <a:miter lim="800000"/>
            </a:ln>
          </p:spPr>
          <p:txBody>
            <a:bodyPr anchor="ctr" anchorCtr="0"/>
            <a:lstStyle>
              <a:defPPr>
                <a:defRPr lang="zh-CN"/>
              </a:defPPr>
              <a:lvl1pPr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9pPr>
            </a:lstStyle>
            <a:p>
              <a:pPr algn="ctr" eaLnBrk="1" hangingPunct="1"/>
              <a:r>
                <a:rPr lang="zh-CN" altLang="en-US" sz="1600" b="1" dirty="0">
                  <a:solidFill>
                    <a:srgbClr val="333399"/>
                  </a:solidFill>
                  <a:latin typeface="Times New Roman" panose="02020603050405020304" pitchFamily="18" charset="0"/>
                  <a:ea typeface="宋体" panose="02010600030101010101" pitchFamily="2" charset="-122"/>
                </a:rPr>
                <a:t>电量</a:t>
              </a:r>
              <a:endParaRPr lang="zh-CN" altLang="en-US" sz="2000" b="1" dirty="0">
                <a:solidFill>
                  <a:srgbClr val="333399"/>
                </a:solidFill>
                <a:ea typeface="宋体" panose="02010600030101010101" pitchFamily="2" charset="-122"/>
              </a:endParaRPr>
            </a:p>
          </p:txBody>
        </p:sp>
        <p:sp>
          <p:nvSpPr>
            <p:cNvPr id="6171" name="Rectangle 31"/>
            <p:cNvSpPr>
              <a:spLocks noChangeArrowheads="1"/>
            </p:cNvSpPr>
            <p:nvPr/>
          </p:nvSpPr>
          <p:spPr bwMode="auto">
            <a:xfrm>
              <a:off x="864" y="2736"/>
              <a:ext cx="240" cy="192"/>
            </a:xfrm>
            <a:prstGeom prst="rect">
              <a:avLst/>
            </a:prstGeom>
            <a:solidFill>
              <a:srgbClr val="D0D8F0">
                <a:alpha val="50195"/>
              </a:srgbClr>
            </a:solidFill>
            <a:ln w="9525">
              <a:solidFill>
                <a:srgbClr val="D0D8F0"/>
              </a:solidFill>
              <a:miter lim="800000"/>
            </a:ln>
          </p:spPr>
          <p:txBody>
            <a:bodyPr anchor="ctr" anchorCtr="0"/>
            <a:lstStyle>
              <a:defPPr>
                <a:defRPr lang="zh-CN"/>
              </a:defPPr>
              <a:lvl1pPr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9pPr>
            </a:lstStyle>
            <a:p>
              <a:pPr algn="ctr" eaLnBrk="1" hangingPunct="1"/>
              <a:r>
                <a:rPr lang="en-US" altLang="zh-CN" sz="2000" b="1" i="1" dirty="0">
                  <a:solidFill>
                    <a:srgbClr val="333399"/>
                  </a:solidFill>
                  <a:latin typeface="Times New Roman" panose="02020603050405020304" pitchFamily="18" charset="0"/>
                  <a:ea typeface="宋体" panose="02010600030101010101" pitchFamily="2" charset="-122"/>
                </a:rPr>
                <a:t>a</a:t>
              </a:r>
              <a:endParaRPr lang="en-US" altLang="zh-CN" sz="2000" b="1" i="1" dirty="0">
                <a:solidFill>
                  <a:srgbClr val="333399"/>
                </a:solidFill>
                <a:ea typeface="宋体" panose="02010600030101010101" pitchFamily="2" charset="-122"/>
              </a:endParaRPr>
            </a:p>
          </p:txBody>
        </p:sp>
        <p:sp>
          <p:nvSpPr>
            <p:cNvPr id="6172" name="Rectangle 32"/>
            <p:cNvSpPr>
              <a:spLocks noChangeArrowheads="1"/>
            </p:cNvSpPr>
            <p:nvPr/>
          </p:nvSpPr>
          <p:spPr bwMode="auto">
            <a:xfrm>
              <a:off x="2160" y="2400"/>
              <a:ext cx="240" cy="192"/>
            </a:xfrm>
            <a:prstGeom prst="rect">
              <a:avLst/>
            </a:prstGeom>
            <a:solidFill>
              <a:srgbClr val="D0D8F0">
                <a:alpha val="50195"/>
              </a:srgbClr>
            </a:solidFill>
            <a:ln w="9525">
              <a:solidFill>
                <a:srgbClr val="D0D8F0"/>
              </a:solidFill>
              <a:miter lim="800000"/>
            </a:ln>
          </p:spPr>
          <p:txBody>
            <a:bodyPr anchor="ctr" anchorCtr="0"/>
            <a:lstStyle>
              <a:defPPr>
                <a:defRPr lang="zh-CN"/>
              </a:defPPr>
              <a:lvl1pPr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9pPr>
            </a:lstStyle>
            <a:p>
              <a:pPr algn="just" eaLnBrk="1" hangingPunct="1"/>
              <a:r>
                <a:rPr lang="zh-CN" altLang="en-US" sz="1600" b="1" dirty="0">
                  <a:solidFill>
                    <a:srgbClr val="333399"/>
                  </a:solidFill>
                  <a:latin typeface="Times New Roman" panose="02020603050405020304" pitchFamily="18" charset="0"/>
                  <a:ea typeface="宋体" panose="02010600030101010101" pitchFamily="2" charset="-122"/>
                </a:rPr>
                <a:t>力</a:t>
              </a:r>
              <a:endParaRPr lang="zh-CN" altLang="en-US" sz="1600" b="1" dirty="0">
                <a:solidFill>
                  <a:srgbClr val="333399"/>
                </a:solidFill>
                <a:ea typeface="宋体" panose="02010600030101010101" pitchFamily="2" charset="-122"/>
              </a:endParaRPr>
            </a:p>
          </p:txBody>
        </p:sp>
        <p:sp>
          <p:nvSpPr>
            <p:cNvPr id="6173" name="Rectangle 33"/>
            <p:cNvSpPr>
              <a:spLocks noChangeArrowheads="1"/>
            </p:cNvSpPr>
            <p:nvPr/>
          </p:nvSpPr>
          <p:spPr bwMode="auto">
            <a:xfrm>
              <a:off x="2112" y="2736"/>
              <a:ext cx="384" cy="240"/>
            </a:xfrm>
            <a:prstGeom prst="rect">
              <a:avLst/>
            </a:prstGeom>
            <a:solidFill>
              <a:srgbClr val="D0D8F0">
                <a:alpha val="50195"/>
              </a:srgbClr>
            </a:solidFill>
            <a:ln w="9525">
              <a:solidFill>
                <a:srgbClr val="D0D8F0"/>
              </a:solidFill>
              <a:miter lim="800000"/>
            </a:ln>
          </p:spPr>
          <p:txBody>
            <a:bodyPr anchor="ctr" anchorCtr="0"/>
            <a:lstStyle>
              <a:defPPr>
                <a:defRPr lang="zh-CN"/>
              </a:defPPr>
              <a:lvl1pPr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9pPr>
            </a:lstStyle>
            <a:p>
              <a:pPr algn="ctr" eaLnBrk="1" hangingPunct="1"/>
              <a:r>
                <a:rPr lang="en-US" altLang="zh-CN" sz="2000" b="1" i="1" dirty="0">
                  <a:solidFill>
                    <a:srgbClr val="333399"/>
                  </a:solidFill>
                  <a:latin typeface="Times New Roman" panose="02020603050405020304" pitchFamily="18" charset="0"/>
                  <a:ea typeface="宋体" panose="02010600030101010101" pitchFamily="2" charset="-122"/>
                </a:rPr>
                <a:t>ma</a:t>
              </a:r>
              <a:endParaRPr lang="en-US" altLang="zh-CN" sz="2000" b="1" i="1" dirty="0">
                <a:solidFill>
                  <a:srgbClr val="333399"/>
                </a:solidFill>
                <a:ea typeface="宋体" panose="02010600030101010101" pitchFamily="2" charset="-122"/>
              </a:endParaRPr>
            </a:p>
          </p:txBody>
        </p:sp>
        <p:sp>
          <p:nvSpPr>
            <p:cNvPr id="6174" name="Rectangle 34"/>
            <p:cNvSpPr>
              <a:spLocks noChangeArrowheads="1"/>
            </p:cNvSpPr>
            <p:nvPr/>
          </p:nvSpPr>
          <p:spPr bwMode="auto">
            <a:xfrm>
              <a:off x="3168" y="2832"/>
              <a:ext cx="432" cy="192"/>
            </a:xfrm>
            <a:prstGeom prst="rect">
              <a:avLst/>
            </a:prstGeom>
            <a:solidFill>
              <a:srgbClr val="D0D8F0">
                <a:alpha val="50195"/>
              </a:srgbClr>
            </a:solidFill>
            <a:ln w="9525">
              <a:solidFill>
                <a:srgbClr val="D0D8F0"/>
              </a:solidFill>
              <a:miter lim="800000"/>
            </a:ln>
          </p:spPr>
          <p:txBody>
            <a:bodyPr anchor="ctr" anchorCtr="0"/>
            <a:lstStyle>
              <a:defPPr>
                <a:defRPr lang="zh-CN"/>
              </a:defPPr>
              <a:lvl1pPr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9pPr>
            </a:lstStyle>
            <a:p>
              <a:pPr algn="just" eaLnBrk="1" hangingPunct="1"/>
              <a:r>
                <a:rPr lang="en-US" altLang="zh-CN" sz="1600" b="1" i="1" dirty="0">
                  <a:solidFill>
                    <a:srgbClr val="333399"/>
                  </a:solidFill>
                  <a:latin typeface="Times New Roman" panose="02020603050405020304" pitchFamily="18" charset="0"/>
                  <a:ea typeface="宋体" panose="02010600030101010101" pitchFamily="2" charset="-122"/>
                </a:rPr>
                <a:t>ma</a:t>
              </a:r>
              <a:r>
                <a:rPr lang="en-US" altLang="zh-CN" sz="1600" b="1" dirty="0">
                  <a:solidFill>
                    <a:srgbClr val="333399"/>
                  </a:solidFill>
                  <a:latin typeface="Times New Roman" panose="02020603050405020304" pitchFamily="18" charset="0"/>
                  <a:ea typeface="宋体" panose="02010600030101010101" pitchFamily="2" charset="-122"/>
                </a:rPr>
                <a:t>/</a:t>
              </a:r>
              <a:r>
                <a:rPr lang="en-US" altLang="zh-CN" sz="1600" b="1" i="1" dirty="0">
                  <a:solidFill>
                    <a:srgbClr val="333399"/>
                  </a:solidFill>
                  <a:latin typeface="Times New Roman" panose="02020603050405020304" pitchFamily="18" charset="0"/>
                  <a:ea typeface="宋体" panose="02010600030101010101" pitchFamily="2" charset="-122"/>
                </a:rPr>
                <a:t>k</a:t>
              </a:r>
              <a:endParaRPr lang="en-US" altLang="zh-CN" sz="1600" b="1" i="1" dirty="0">
                <a:solidFill>
                  <a:srgbClr val="333399"/>
                </a:solidFill>
                <a:ea typeface="宋体" panose="02010600030101010101" pitchFamily="2" charset="-122"/>
              </a:endParaRPr>
            </a:p>
          </p:txBody>
        </p:sp>
        <p:sp>
          <p:nvSpPr>
            <p:cNvPr id="6175" name="Rectangle 35"/>
            <p:cNvSpPr>
              <a:spLocks noChangeArrowheads="1"/>
            </p:cNvSpPr>
            <p:nvPr/>
          </p:nvSpPr>
          <p:spPr bwMode="auto">
            <a:xfrm>
              <a:off x="3120" y="2400"/>
              <a:ext cx="467" cy="192"/>
            </a:xfrm>
            <a:prstGeom prst="rect">
              <a:avLst/>
            </a:prstGeom>
            <a:solidFill>
              <a:srgbClr val="D0D8F0">
                <a:alpha val="50195"/>
              </a:srgbClr>
            </a:solidFill>
            <a:ln w="9525">
              <a:solidFill>
                <a:srgbClr val="D0D8F0"/>
              </a:solidFill>
              <a:miter lim="800000"/>
            </a:ln>
          </p:spPr>
          <p:txBody>
            <a:bodyPr anchor="ctr" anchorCtr="0"/>
            <a:lstStyle>
              <a:defPPr>
                <a:defRPr lang="zh-CN"/>
              </a:defPPr>
              <a:lvl1pPr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9pPr>
            </a:lstStyle>
            <a:p>
              <a:pPr algn="ctr" eaLnBrk="1" hangingPunct="1"/>
              <a:r>
                <a:rPr lang="zh-CN" altLang="en-US" sz="1600" b="1" dirty="0">
                  <a:solidFill>
                    <a:srgbClr val="333399"/>
                  </a:solidFill>
                  <a:latin typeface="Times New Roman" panose="02020603050405020304" pitchFamily="18" charset="0"/>
                  <a:ea typeface="宋体" panose="02010600030101010101" pitchFamily="2" charset="-122"/>
                </a:rPr>
                <a:t>位移</a:t>
              </a:r>
            </a:p>
          </p:txBody>
        </p:sp>
        <p:sp>
          <p:nvSpPr>
            <p:cNvPr id="6176" name="Rectangle 36"/>
            <p:cNvSpPr>
              <a:spLocks noChangeArrowheads="1"/>
            </p:cNvSpPr>
            <p:nvPr/>
          </p:nvSpPr>
          <p:spPr bwMode="auto">
            <a:xfrm>
              <a:off x="4368" y="2784"/>
              <a:ext cx="624" cy="192"/>
            </a:xfrm>
            <a:prstGeom prst="rect">
              <a:avLst/>
            </a:prstGeom>
            <a:solidFill>
              <a:srgbClr val="D0D8F0">
                <a:alpha val="50195"/>
              </a:srgbClr>
            </a:solidFill>
            <a:ln w="9525">
              <a:solidFill>
                <a:srgbClr val="D0D8F0"/>
              </a:solidFill>
              <a:miter lim="800000"/>
            </a:ln>
          </p:spPr>
          <p:txBody>
            <a:bodyPr anchor="ctr" anchorCtr="0"/>
            <a:lstStyle>
              <a:defPPr>
                <a:defRPr lang="zh-CN"/>
              </a:defPPr>
              <a:lvl1pPr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9pPr>
            </a:lstStyle>
            <a:p>
              <a:pPr algn="ctr" eaLnBrk="1" hangingPunct="1"/>
              <a:r>
                <a:rPr lang="en-US" altLang="zh-CN" sz="1600" b="1" i="1" dirty="0" err="1">
                  <a:solidFill>
                    <a:srgbClr val="333399"/>
                  </a:solidFill>
                  <a:latin typeface="Times New Roman" panose="02020603050405020304" pitchFamily="18" charset="0"/>
                  <a:ea typeface="宋体" panose="02010600030101010101" pitchFamily="2" charset="-122"/>
                  <a:cs typeface="Times New Roman" panose="02020603050405020304" pitchFamily="18" charset="0"/>
                </a:rPr>
                <a:t>v•ma</a:t>
              </a:r>
              <a:r>
                <a:rPr lang="en-US" altLang="zh-CN" sz="1600" b="1" dirty="0">
                  <a:solidFill>
                    <a:srgbClr val="333399"/>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1600" b="1" i="1" dirty="0" err="1">
                  <a:solidFill>
                    <a:srgbClr val="333399"/>
                  </a:solidFill>
                  <a:latin typeface="Times New Roman" panose="02020603050405020304" pitchFamily="18" charset="0"/>
                  <a:ea typeface="宋体" panose="02010600030101010101" pitchFamily="2" charset="-122"/>
                  <a:cs typeface="Times New Roman" panose="02020603050405020304" pitchFamily="18" charset="0"/>
                </a:rPr>
                <a:t>kL</a:t>
              </a:r>
              <a:endParaRPr lang="en-US" altLang="zh-CN" sz="1600" b="1" i="1" dirty="0">
                <a:solidFill>
                  <a:srgbClr val="333399"/>
                </a:solidFill>
                <a:latin typeface="Times New Roman" panose="02020603050405020304" pitchFamily="18" charset="0"/>
                <a:ea typeface="宋体" panose="02010600030101010101" pitchFamily="2" charset="-122"/>
                <a:cs typeface="Times New Roman" panose="02020603050405020304" pitchFamily="18" charset="0"/>
              </a:endParaRPr>
            </a:p>
          </p:txBody>
        </p:sp>
      </p:grpSp>
      <p:sp>
        <p:nvSpPr>
          <p:cNvPr id="2" name="Slide Number Placeholder 1">
            <a:extLst>
              <a:ext uri="{FF2B5EF4-FFF2-40B4-BE49-F238E27FC236}">
                <a16:creationId xmlns:a16="http://schemas.microsoft.com/office/drawing/2014/main" id="{14C0290A-C07D-47CB-A058-6612FB5D7ED9}"/>
              </a:ext>
            </a:extLst>
          </p:cNvPr>
          <p:cNvSpPr>
            <a:spLocks noGrp="1"/>
          </p:cNvSpPr>
          <p:nvPr>
            <p:ph type="sldNum" sz="quarter" idx="12"/>
          </p:nvPr>
        </p:nvSpPr>
        <p:spPr/>
        <p:txBody>
          <a:bodyPr/>
          <a:lstStyle/>
          <a:p>
            <a:fld id="{B53602B4-F12B-41CD-B648-531F86B2CC91}" type="slidenum">
              <a:rPr lang="zh-CN" altLang="en-US" smtClean="0"/>
              <a:t>15</a:t>
            </a:fld>
            <a:endParaRPr lang="zh-CN" altLang="en-US"/>
          </a:p>
        </p:txBody>
      </p:sp>
      <p:pic>
        <p:nvPicPr>
          <p:cNvPr id="3" name="Picture 2">
            <a:extLst>
              <a:ext uri="{FF2B5EF4-FFF2-40B4-BE49-F238E27FC236}">
                <a16:creationId xmlns:a16="http://schemas.microsoft.com/office/drawing/2014/main" id="{97B90E4B-787F-46F7-94D1-08F1F84BE4B8}"/>
              </a:ext>
            </a:extLst>
          </p:cNvPr>
          <p:cNvPicPr>
            <a:picLocks noChangeAspect="1"/>
          </p:cNvPicPr>
          <p:nvPr/>
        </p:nvPicPr>
        <p:blipFill>
          <a:blip r:embed="rId3"/>
          <a:stretch>
            <a:fillRect/>
          </a:stretch>
        </p:blipFill>
        <p:spPr>
          <a:xfrm>
            <a:off x="7044663" y="18097"/>
            <a:ext cx="2054836" cy="1600811"/>
          </a:xfrm>
          <a:prstGeom prst="rect">
            <a:avLst/>
          </a:prstGeom>
        </p:spPr>
      </p:pic>
      <p:sp>
        <p:nvSpPr>
          <p:cNvPr id="33" name="矩形 6">
            <a:extLst>
              <a:ext uri="{FF2B5EF4-FFF2-40B4-BE49-F238E27FC236}">
                <a16:creationId xmlns:a16="http://schemas.microsoft.com/office/drawing/2014/main" id="{60933148-E89E-4DD6-80B0-CEB7DBD0A77E}"/>
              </a:ext>
            </a:extLst>
          </p:cNvPr>
          <p:cNvSpPr/>
          <p:nvPr/>
        </p:nvSpPr>
        <p:spPr>
          <a:xfrm>
            <a:off x="1915188" y="402452"/>
            <a:ext cx="3153741" cy="469357"/>
          </a:xfrm>
          <a:prstGeom prst="rect">
            <a:avLst/>
          </a:prstGeom>
        </p:spPr>
        <p:txBody>
          <a:bodyPr wrap="none" lIns="68577" tIns="34289" rIns="68577" bIns="34289">
            <a:spAutoFit/>
          </a:bodyPr>
          <a:lstStyle/>
          <a:p>
            <a:pPr marL="7144" indent="-7144" algn="ctr"/>
            <a:r>
              <a:rPr lang="zh-CN" altLang="en-US" sz="2600" b="1" dirty="0">
                <a:solidFill>
                  <a:schemeClr val="bg1"/>
                </a:solidFill>
                <a:latin typeface="宋体" panose="02010600030101010101" pitchFamily="2" charset="-122"/>
                <a:ea typeface="宋体" panose="02010600030101010101" pitchFamily="2" charset="-122"/>
              </a:rPr>
              <a:t>传感器的组成与分类</a:t>
            </a:r>
          </a:p>
        </p:txBody>
      </p:sp>
    </p:spTree>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2" y="354314"/>
            <a:ext cx="7839637" cy="620463"/>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9" rIns="68577" bIns="34289"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9" rIns="68577" bIns="34289" rtlCol="0" anchor="ctr"/>
          <a:lstStyle/>
          <a:p>
            <a:pPr algn="ctr"/>
            <a:r>
              <a:rPr lang="en-US" altLang="zh-CN" sz="2600" b="1" dirty="0">
                <a:latin typeface="Arial" panose="020B0604020202020204" pitchFamily="34" charset="0"/>
                <a:ea typeface="宋体" panose="02010600030101010101" pitchFamily="2" charset="-122"/>
                <a:cs typeface="Arial" panose="020B0604020202020204" pitchFamily="34" charset="0"/>
              </a:rPr>
              <a:t>0.1</a:t>
            </a:r>
            <a:endParaRPr lang="zh-CN" altLang="en-US" sz="2600" b="1" dirty="0">
              <a:latin typeface="Arial" panose="020B0604020202020204" pitchFamily="34" charset="0"/>
              <a:ea typeface="宋体" panose="02010600030101010101" pitchFamily="2" charset="-122"/>
              <a:cs typeface="Arial" panose="020B0604020202020204" pitchFamily="34" charset="0"/>
            </a:endParaRPr>
          </a:p>
        </p:txBody>
      </p:sp>
      <p:sp>
        <p:nvSpPr>
          <p:cNvPr id="222223" name="Rectangle 15"/>
          <p:cNvSpPr>
            <a:spLocks noRot="1" noChangeArrowheads="1"/>
          </p:cNvSpPr>
          <p:nvPr/>
        </p:nvSpPr>
        <p:spPr bwMode="auto">
          <a:xfrm>
            <a:off x="802499" y="1376649"/>
            <a:ext cx="7788081" cy="49074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lstStyle>
            <a:defPPr>
              <a:defRPr lang="zh-CN"/>
            </a:defPPr>
            <a:lvl1pPr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9pPr>
          </a:lstStyle>
          <a:p>
            <a:pPr>
              <a:lnSpc>
                <a:spcPct val="150000"/>
              </a:lnSpc>
              <a:spcBef>
                <a:spcPct val="20000"/>
              </a:spcBef>
              <a:buClr>
                <a:schemeClr val="folHlink"/>
              </a:buClr>
            </a:pPr>
            <a:r>
              <a:rPr lang="zh-CN" altLang="en-US" sz="2400" b="1" dirty="0">
                <a:ea typeface="宋体" panose="02010600030101010101" pitchFamily="2" charset="-122"/>
              </a:rPr>
              <a:t>传感器的分类：</a:t>
            </a:r>
          </a:p>
          <a:p>
            <a:pPr marL="1431925" indent="-1431925">
              <a:lnSpc>
                <a:spcPct val="150000"/>
              </a:lnSpc>
              <a:spcBef>
                <a:spcPct val="20000"/>
              </a:spcBef>
              <a:buClr>
                <a:schemeClr val="bg1"/>
              </a:buClr>
            </a:pPr>
            <a:r>
              <a:rPr lang="zh-CN" altLang="en-US" sz="2400" b="1" dirty="0">
                <a:ea typeface="宋体" panose="02010600030101010101" pitchFamily="2" charset="-122"/>
              </a:rPr>
              <a:t>按</a:t>
            </a:r>
            <a:r>
              <a:rPr lang="zh-CN" altLang="en-US" sz="2400" b="1" dirty="0">
                <a:solidFill>
                  <a:srgbClr val="FF0000"/>
                </a:solidFill>
                <a:ea typeface="宋体" panose="02010600030101010101" pitchFamily="2" charset="-122"/>
              </a:rPr>
              <a:t>输入量</a:t>
            </a:r>
            <a:r>
              <a:rPr lang="en-US" altLang="zh-CN" sz="2400" b="1" dirty="0">
                <a:ea typeface="宋体" panose="02010600030101010101" pitchFamily="2" charset="-122"/>
              </a:rPr>
              <a:t>: </a:t>
            </a:r>
            <a:r>
              <a:rPr lang="zh-CN" altLang="en-US" sz="2400" b="1" dirty="0">
                <a:ea typeface="宋体" panose="02010600030101010101" pitchFamily="2" charset="-122"/>
              </a:rPr>
              <a:t>位移传感器、速度传感器、温度传感器、压力传感器等</a:t>
            </a:r>
          </a:p>
          <a:p>
            <a:pPr marL="1708150" indent="-1708150">
              <a:lnSpc>
                <a:spcPct val="150000"/>
              </a:lnSpc>
              <a:spcBef>
                <a:spcPct val="20000"/>
              </a:spcBef>
              <a:buClr>
                <a:schemeClr val="bg1"/>
              </a:buClr>
            </a:pPr>
            <a:r>
              <a:rPr lang="zh-CN" altLang="en-US" sz="2400" b="1" dirty="0">
                <a:ea typeface="宋体" panose="02010600030101010101" pitchFamily="2" charset="-122"/>
              </a:rPr>
              <a:t>按</a:t>
            </a:r>
            <a:r>
              <a:rPr lang="zh-CN" altLang="en-US" sz="2400" b="1" dirty="0">
                <a:solidFill>
                  <a:srgbClr val="FF9900"/>
                </a:solidFill>
                <a:ea typeface="宋体" panose="02010600030101010101" pitchFamily="2" charset="-122"/>
              </a:rPr>
              <a:t>工作原理</a:t>
            </a:r>
            <a:r>
              <a:rPr lang="en-US" altLang="zh-CN" sz="2400" b="1" dirty="0">
                <a:ea typeface="宋体" panose="02010600030101010101" pitchFamily="2" charset="-122"/>
              </a:rPr>
              <a:t>: </a:t>
            </a:r>
            <a:r>
              <a:rPr lang="zh-CN" altLang="en-US" sz="2400" b="1" dirty="0">
                <a:ea typeface="宋体" panose="02010600030101010101" pitchFamily="2" charset="-122"/>
              </a:rPr>
              <a:t>电阻式、电容式、电感式、压电式、热电式等</a:t>
            </a:r>
          </a:p>
          <a:p>
            <a:pPr>
              <a:lnSpc>
                <a:spcPct val="150000"/>
              </a:lnSpc>
              <a:spcBef>
                <a:spcPct val="20000"/>
              </a:spcBef>
              <a:buClr>
                <a:schemeClr val="bg1"/>
              </a:buClr>
            </a:pPr>
            <a:r>
              <a:rPr lang="zh-CN" altLang="en-US" sz="2400" b="1" dirty="0">
                <a:ea typeface="宋体" panose="02010600030101010101" pitchFamily="2" charset="-122"/>
              </a:rPr>
              <a:t>按</a:t>
            </a:r>
            <a:r>
              <a:rPr lang="zh-CN" altLang="en-US" sz="2400" b="1" dirty="0">
                <a:solidFill>
                  <a:srgbClr val="00B050"/>
                </a:solidFill>
                <a:ea typeface="宋体" panose="02010600030101010101" pitchFamily="2" charset="-122"/>
              </a:rPr>
              <a:t>物理现象</a:t>
            </a:r>
            <a:r>
              <a:rPr lang="en-US" altLang="zh-CN" sz="2400" b="1" dirty="0">
                <a:ea typeface="宋体" panose="02010600030101010101" pitchFamily="2" charset="-122"/>
              </a:rPr>
              <a:t>: </a:t>
            </a:r>
            <a:r>
              <a:rPr lang="zh-CN" altLang="en-US" sz="2400" b="1" dirty="0">
                <a:ea typeface="宋体" panose="02010600030101010101" pitchFamily="2" charset="-122"/>
              </a:rPr>
              <a:t>结构型传感器、特性型传感器</a:t>
            </a:r>
          </a:p>
          <a:p>
            <a:pPr>
              <a:lnSpc>
                <a:spcPct val="150000"/>
              </a:lnSpc>
              <a:spcBef>
                <a:spcPct val="20000"/>
              </a:spcBef>
              <a:buClr>
                <a:schemeClr val="bg1"/>
              </a:buClr>
            </a:pPr>
            <a:r>
              <a:rPr lang="zh-CN" altLang="en-US" sz="2400" b="1" dirty="0">
                <a:ea typeface="宋体" panose="02010600030101010101" pitchFamily="2" charset="-122"/>
              </a:rPr>
              <a:t>按</a:t>
            </a:r>
            <a:r>
              <a:rPr lang="zh-CN" altLang="en-US" sz="2400" b="1" dirty="0">
                <a:solidFill>
                  <a:srgbClr val="00B0F0"/>
                </a:solidFill>
                <a:ea typeface="宋体" panose="02010600030101010101" pitchFamily="2" charset="-122"/>
              </a:rPr>
              <a:t>能量关系</a:t>
            </a:r>
            <a:r>
              <a:rPr lang="en-US" altLang="zh-CN" sz="2400" b="1" dirty="0">
                <a:ea typeface="宋体" panose="02010600030101010101" pitchFamily="2" charset="-122"/>
              </a:rPr>
              <a:t>: </a:t>
            </a:r>
            <a:r>
              <a:rPr lang="zh-CN" altLang="en-US" sz="2400" b="1" dirty="0">
                <a:ea typeface="宋体" panose="02010600030101010101" pitchFamily="2" charset="-122"/>
              </a:rPr>
              <a:t>能量转换型传感器、能量控制传感器</a:t>
            </a:r>
          </a:p>
          <a:p>
            <a:pPr>
              <a:lnSpc>
                <a:spcPct val="150000"/>
              </a:lnSpc>
              <a:spcBef>
                <a:spcPct val="20000"/>
              </a:spcBef>
              <a:buClr>
                <a:schemeClr val="bg1"/>
              </a:buClr>
            </a:pPr>
            <a:r>
              <a:rPr lang="zh-CN" altLang="en-US" sz="2400" b="1" dirty="0">
                <a:ea typeface="宋体" panose="02010600030101010101" pitchFamily="2" charset="-122"/>
              </a:rPr>
              <a:t>按</a:t>
            </a:r>
            <a:r>
              <a:rPr lang="zh-CN" altLang="en-US" sz="2400" b="1" dirty="0">
                <a:solidFill>
                  <a:srgbClr val="C00000"/>
                </a:solidFill>
                <a:ea typeface="宋体" panose="02010600030101010101" pitchFamily="2" charset="-122"/>
              </a:rPr>
              <a:t>输出信号</a:t>
            </a:r>
            <a:r>
              <a:rPr lang="en-US" altLang="zh-CN" sz="2400" b="1" dirty="0">
                <a:ea typeface="宋体" panose="02010600030101010101" pitchFamily="2" charset="-122"/>
              </a:rPr>
              <a:t>: </a:t>
            </a:r>
            <a:r>
              <a:rPr lang="zh-CN" altLang="en-US" sz="2400" b="1" dirty="0">
                <a:ea typeface="宋体" panose="02010600030101010101" pitchFamily="2" charset="-122"/>
              </a:rPr>
              <a:t>模拟式传感器、数字式传感器</a:t>
            </a:r>
          </a:p>
        </p:txBody>
      </p:sp>
      <p:sp>
        <p:nvSpPr>
          <p:cNvPr id="2" name="Slide Number Placeholder 1">
            <a:extLst>
              <a:ext uri="{FF2B5EF4-FFF2-40B4-BE49-F238E27FC236}">
                <a16:creationId xmlns:a16="http://schemas.microsoft.com/office/drawing/2014/main" id="{E7B9C88C-BD2F-4CCC-895F-609992539D0F}"/>
              </a:ext>
            </a:extLst>
          </p:cNvPr>
          <p:cNvSpPr>
            <a:spLocks noGrp="1"/>
          </p:cNvSpPr>
          <p:nvPr>
            <p:ph type="sldNum" sz="quarter" idx="12"/>
          </p:nvPr>
        </p:nvSpPr>
        <p:spPr/>
        <p:txBody>
          <a:bodyPr/>
          <a:lstStyle/>
          <a:p>
            <a:fld id="{B53602B4-F12B-41CD-B648-531F86B2CC91}" type="slidenum">
              <a:rPr lang="zh-CN" altLang="en-US" smtClean="0"/>
              <a:t>16</a:t>
            </a:fld>
            <a:endParaRPr lang="zh-CN" altLang="en-US"/>
          </a:p>
        </p:txBody>
      </p:sp>
      <p:sp>
        <p:nvSpPr>
          <p:cNvPr id="7" name="矩形 6">
            <a:extLst>
              <a:ext uri="{FF2B5EF4-FFF2-40B4-BE49-F238E27FC236}">
                <a16:creationId xmlns:a16="http://schemas.microsoft.com/office/drawing/2014/main" id="{371D94B4-3AB7-41B1-9DA2-A8866A64C9A2}"/>
              </a:ext>
            </a:extLst>
          </p:cNvPr>
          <p:cNvSpPr/>
          <p:nvPr/>
        </p:nvSpPr>
        <p:spPr>
          <a:xfrm>
            <a:off x="1915188" y="402452"/>
            <a:ext cx="3153741" cy="469357"/>
          </a:xfrm>
          <a:prstGeom prst="rect">
            <a:avLst/>
          </a:prstGeom>
        </p:spPr>
        <p:txBody>
          <a:bodyPr wrap="none" lIns="68577" tIns="34289" rIns="68577" bIns="34289">
            <a:spAutoFit/>
          </a:bodyPr>
          <a:lstStyle/>
          <a:p>
            <a:pPr marL="7144" indent="-7144" algn="ctr"/>
            <a:r>
              <a:rPr lang="zh-CN" altLang="en-US" sz="2600" b="1" dirty="0">
                <a:solidFill>
                  <a:schemeClr val="bg1"/>
                </a:solidFill>
                <a:latin typeface="宋体" panose="02010600030101010101" pitchFamily="2" charset="-122"/>
                <a:ea typeface="宋体" panose="02010600030101010101" pitchFamily="2" charset="-122"/>
              </a:rPr>
              <a:t>传感器的组成与分类</a:t>
            </a:r>
          </a:p>
        </p:txBody>
      </p:sp>
    </p:spTree>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2" y="354314"/>
            <a:ext cx="7839637" cy="620463"/>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9" rIns="68577" bIns="34289"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9" rIns="68577" bIns="34289" rtlCol="0" anchor="ctr"/>
          <a:lstStyle/>
          <a:p>
            <a:pPr algn="ctr"/>
            <a:r>
              <a:rPr lang="en-US" altLang="zh-CN" sz="2600" b="1" dirty="0">
                <a:latin typeface="Arial" panose="020B0604020202020204" pitchFamily="34" charset="0"/>
                <a:ea typeface="宋体" panose="02010600030101010101" pitchFamily="2" charset="-122"/>
                <a:cs typeface="Arial" panose="020B0604020202020204" pitchFamily="34" charset="0"/>
              </a:rPr>
              <a:t>0.2</a:t>
            </a:r>
            <a:endParaRPr lang="zh-CN" altLang="en-US" sz="2600" b="1" dirty="0">
              <a:latin typeface="Arial" panose="020B0604020202020204" pitchFamily="34" charset="0"/>
              <a:ea typeface="宋体" panose="02010600030101010101" pitchFamily="2" charset="-122"/>
              <a:cs typeface="Arial" panose="020B0604020202020204" pitchFamily="34" charset="0"/>
            </a:endParaRPr>
          </a:p>
        </p:txBody>
      </p:sp>
      <p:sp>
        <p:nvSpPr>
          <p:cNvPr id="46" name="矩形 45"/>
          <p:cNvSpPr/>
          <p:nvPr/>
        </p:nvSpPr>
        <p:spPr>
          <a:xfrm>
            <a:off x="1960201" y="395667"/>
            <a:ext cx="3153742" cy="469357"/>
          </a:xfrm>
          <a:prstGeom prst="rect">
            <a:avLst/>
          </a:prstGeom>
        </p:spPr>
        <p:txBody>
          <a:bodyPr wrap="none" lIns="68577" tIns="34289" rIns="68577" bIns="34289">
            <a:spAutoFit/>
          </a:bodyPr>
          <a:lstStyle/>
          <a:p>
            <a:pPr algn="l" eaLnBrk="1" hangingPunct="1"/>
            <a:r>
              <a:rPr lang="zh-CN" altLang="en-US" sz="2600" b="1" dirty="0">
                <a:solidFill>
                  <a:schemeClr val="bg1"/>
                </a:solidFill>
                <a:latin typeface="宋体" panose="02010600030101010101" pitchFamily="2" charset="-122"/>
                <a:ea typeface="宋体" panose="02010600030101010101" pitchFamily="2" charset="-122"/>
                <a:sym typeface="+mn-ea"/>
              </a:rPr>
              <a:t>传感器的作用与地位</a:t>
            </a:r>
          </a:p>
        </p:txBody>
      </p:sp>
      <p:sp>
        <p:nvSpPr>
          <p:cNvPr id="222223" name="Rectangle 15"/>
          <p:cNvSpPr>
            <a:spLocks noRot="1" noChangeArrowheads="1"/>
          </p:cNvSpPr>
          <p:nvPr/>
        </p:nvSpPr>
        <p:spPr bwMode="auto">
          <a:xfrm>
            <a:off x="1304360" y="1556093"/>
            <a:ext cx="6572726" cy="40319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lstStyle>
            <a:defPPr>
              <a:defRPr lang="zh-CN"/>
            </a:defPPr>
            <a:lvl1pPr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9pPr>
          </a:lstStyle>
          <a:p>
            <a:pPr indent="603647" algn="just">
              <a:lnSpc>
                <a:spcPct val="150000"/>
              </a:lnSpc>
              <a:spcBef>
                <a:spcPct val="20000"/>
              </a:spcBef>
              <a:buClr>
                <a:schemeClr val="folHlink"/>
              </a:buClr>
            </a:pPr>
            <a:r>
              <a:rPr lang="zh-CN" altLang="en-US" sz="2400" b="1" dirty="0">
                <a:ea typeface="宋体" panose="02010600030101010101" pitchFamily="2" charset="-122"/>
                <a:sym typeface="+mn-ea"/>
              </a:rPr>
              <a:t>传感器处于研究对象与测试系统的接口位置，即检测与控制系统之首。</a:t>
            </a:r>
            <a:endParaRPr lang="en-US" altLang="zh-CN" sz="2400" b="1" dirty="0">
              <a:ea typeface="宋体" panose="02010600030101010101" pitchFamily="2" charset="-122"/>
              <a:sym typeface="+mn-ea"/>
            </a:endParaRPr>
          </a:p>
          <a:p>
            <a:pPr indent="603647" algn="just">
              <a:lnSpc>
                <a:spcPct val="150000"/>
              </a:lnSpc>
              <a:spcBef>
                <a:spcPct val="20000"/>
              </a:spcBef>
              <a:buClr>
                <a:schemeClr val="folHlink"/>
              </a:buClr>
            </a:pPr>
            <a:r>
              <a:rPr lang="zh-CN" altLang="en-US" sz="2400" b="1" dirty="0">
                <a:ea typeface="宋体" panose="02010600030101010101" pitchFamily="2" charset="-122"/>
                <a:sym typeface="+mn-ea"/>
              </a:rPr>
              <a:t>因此，传感器成为</a:t>
            </a:r>
            <a:r>
              <a:rPr lang="zh-CN" altLang="en-US" sz="2400" b="1" dirty="0">
                <a:solidFill>
                  <a:srgbClr val="FF0000"/>
                </a:solidFill>
                <a:ea typeface="宋体" panose="02010600030101010101" pitchFamily="2" charset="-122"/>
                <a:sym typeface="+mn-ea"/>
              </a:rPr>
              <a:t>感知</a:t>
            </a:r>
            <a:r>
              <a:rPr lang="zh-CN" altLang="en-US" sz="2400" b="1" dirty="0">
                <a:ea typeface="宋体" panose="02010600030101010101" pitchFamily="2" charset="-122"/>
                <a:sym typeface="+mn-ea"/>
              </a:rPr>
              <a:t>、</a:t>
            </a:r>
            <a:r>
              <a:rPr lang="zh-CN" altLang="en-US" sz="2400" b="1" dirty="0">
                <a:solidFill>
                  <a:srgbClr val="FF0000"/>
                </a:solidFill>
                <a:ea typeface="宋体" panose="02010600030101010101" pitchFamily="2" charset="-122"/>
                <a:sym typeface="+mn-ea"/>
              </a:rPr>
              <a:t>获取</a:t>
            </a:r>
            <a:r>
              <a:rPr lang="zh-CN" altLang="en-US" sz="2400" b="1" dirty="0">
                <a:ea typeface="宋体" panose="02010600030101010101" pitchFamily="2" charset="-122"/>
                <a:sym typeface="+mn-ea"/>
              </a:rPr>
              <a:t>与</a:t>
            </a:r>
            <a:r>
              <a:rPr lang="zh-CN" altLang="en-US" sz="2400" b="1" dirty="0">
                <a:solidFill>
                  <a:srgbClr val="FF0000"/>
                </a:solidFill>
                <a:ea typeface="宋体" panose="02010600030101010101" pitchFamily="2" charset="-122"/>
                <a:sym typeface="+mn-ea"/>
              </a:rPr>
              <a:t>检测</a:t>
            </a:r>
            <a:r>
              <a:rPr lang="zh-CN" altLang="en-US" sz="2400" b="1" dirty="0">
                <a:ea typeface="宋体" panose="02010600030101010101" pitchFamily="2" charset="-122"/>
                <a:sym typeface="+mn-ea"/>
              </a:rPr>
              <a:t>信息的窗口。一切科学研究与自动化生产过程需要的信息，都要通过传感器获取，并通过它转换为容易传输与处理的电信号。所以，传感器技术一直是当今世界各国重点发展的高新技术，备受重视。</a:t>
            </a:r>
            <a:endParaRPr lang="zh-CN" altLang="en-US" sz="2400" b="1" dirty="0">
              <a:ea typeface="宋体" panose="02010600030101010101" pitchFamily="2" charset="-122"/>
            </a:endParaRPr>
          </a:p>
        </p:txBody>
      </p:sp>
      <p:sp>
        <p:nvSpPr>
          <p:cNvPr id="2" name="Slide Number Placeholder 1">
            <a:extLst>
              <a:ext uri="{FF2B5EF4-FFF2-40B4-BE49-F238E27FC236}">
                <a16:creationId xmlns:a16="http://schemas.microsoft.com/office/drawing/2014/main" id="{5ABB49BC-BB52-4C6C-B02E-D5E2DC89468F}"/>
              </a:ext>
            </a:extLst>
          </p:cNvPr>
          <p:cNvSpPr>
            <a:spLocks noGrp="1"/>
          </p:cNvSpPr>
          <p:nvPr>
            <p:ph type="sldNum" sz="quarter" idx="12"/>
          </p:nvPr>
        </p:nvSpPr>
        <p:spPr/>
        <p:txBody>
          <a:bodyPr/>
          <a:lstStyle/>
          <a:p>
            <a:fld id="{B53602B4-F12B-41CD-B648-531F86B2CC91}" type="slidenum">
              <a:rPr lang="zh-CN" altLang="en-US" smtClean="0"/>
              <a:t>17</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2" y="354314"/>
            <a:ext cx="7839637" cy="620463"/>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9" rIns="68577" bIns="34289"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9" rIns="68577" bIns="34289" rtlCol="0" anchor="ctr"/>
          <a:lstStyle/>
          <a:p>
            <a:pPr algn="ctr"/>
            <a:r>
              <a:rPr lang="en-US" altLang="zh-CN" sz="2600" b="1" dirty="0">
                <a:latin typeface="Arial" panose="020B0604020202020204" pitchFamily="34" charset="0"/>
                <a:ea typeface="宋体" panose="02010600030101010101" pitchFamily="2" charset="-122"/>
                <a:cs typeface="Arial" panose="020B0604020202020204" pitchFamily="34" charset="0"/>
              </a:rPr>
              <a:t>0.3</a:t>
            </a:r>
            <a:endParaRPr lang="zh-CN" altLang="en-US" sz="2600" b="1" dirty="0">
              <a:latin typeface="Arial" panose="020B0604020202020204" pitchFamily="34" charset="0"/>
              <a:ea typeface="宋体" panose="02010600030101010101" pitchFamily="2" charset="-122"/>
              <a:cs typeface="Arial" panose="020B0604020202020204" pitchFamily="34" charset="0"/>
            </a:endParaRPr>
          </a:p>
        </p:txBody>
      </p:sp>
      <p:sp>
        <p:nvSpPr>
          <p:cNvPr id="46" name="矩形 45"/>
          <p:cNvSpPr/>
          <p:nvPr/>
        </p:nvSpPr>
        <p:spPr>
          <a:xfrm>
            <a:off x="1960200" y="381577"/>
            <a:ext cx="3488770" cy="469357"/>
          </a:xfrm>
          <a:prstGeom prst="rect">
            <a:avLst/>
          </a:prstGeom>
        </p:spPr>
        <p:txBody>
          <a:bodyPr wrap="none" lIns="68577" tIns="34289" rIns="68577" bIns="34289">
            <a:spAutoFit/>
          </a:bodyPr>
          <a:lstStyle/>
          <a:p>
            <a:pPr algn="l" eaLnBrk="1" hangingPunct="1"/>
            <a:r>
              <a:rPr lang="zh-CN" altLang="en-US" sz="2600" b="1" dirty="0">
                <a:solidFill>
                  <a:schemeClr val="bg1"/>
                </a:solidFill>
                <a:latin typeface="宋体" panose="02010600030101010101" pitchFamily="2" charset="-122"/>
                <a:ea typeface="宋体" panose="02010600030101010101" pitchFamily="2" charset="-122"/>
                <a:sym typeface="+mn-ea"/>
              </a:rPr>
              <a:t>传感器技术的发展动向</a:t>
            </a:r>
          </a:p>
        </p:txBody>
      </p:sp>
      <p:sp>
        <p:nvSpPr>
          <p:cNvPr id="224272" name="Text Box 16"/>
          <p:cNvSpPr txBox="1">
            <a:spLocks noChangeArrowheads="1"/>
          </p:cNvSpPr>
          <p:nvPr/>
        </p:nvSpPr>
        <p:spPr bwMode="auto">
          <a:xfrm>
            <a:off x="656844" y="1414948"/>
            <a:ext cx="4000500" cy="4501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9pPr>
          </a:lstStyle>
          <a:p>
            <a:pPr indent="-342900">
              <a:lnSpc>
                <a:spcPct val="150000"/>
              </a:lnSpc>
              <a:spcBef>
                <a:spcPts val="0"/>
              </a:spcBef>
              <a:buClr>
                <a:srgbClr val="954F72"/>
              </a:buClr>
              <a:buFont typeface="Arial" panose="020B0604020202020204" pitchFamily="34" charset="0"/>
              <a:buChar char="•"/>
            </a:pPr>
            <a:r>
              <a:rPr lang="zh-CN" altLang="en-US" sz="2400" b="1" dirty="0">
                <a:ea typeface="宋体" panose="02010600030101010101" pitchFamily="2" charset="-122"/>
              </a:rPr>
              <a:t>开展基础研究</a:t>
            </a:r>
            <a:endParaRPr lang="en-US" altLang="zh-CN" sz="2400" b="1" dirty="0">
              <a:ea typeface="宋体" panose="02010600030101010101" pitchFamily="2" charset="-122"/>
            </a:endParaRPr>
          </a:p>
          <a:p>
            <a:pPr indent="-342900">
              <a:lnSpc>
                <a:spcPct val="150000"/>
              </a:lnSpc>
              <a:spcBef>
                <a:spcPts val="0"/>
              </a:spcBef>
              <a:buClr>
                <a:srgbClr val="954F72"/>
              </a:buClr>
              <a:buFont typeface="Arial" panose="020B0604020202020204" pitchFamily="34" charset="0"/>
              <a:buChar char="•"/>
            </a:pPr>
            <a:r>
              <a:rPr lang="zh-CN" altLang="en-US" sz="2400" b="1" dirty="0">
                <a:ea typeface="宋体" panose="02010600030101010101" pitchFamily="2" charset="-122"/>
              </a:rPr>
              <a:t>发现新现象</a:t>
            </a:r>
          </a:p>
          <a:p>
            <a:pPr indent="-342900">
              <a:lnSpc>
                <a:spcPct val="150000"/>
              </a:lnSpc>
              <a:spcBef>
                <a:spcPts val="0"/>
              </a:spcBef>
              <a:buClr>
                <a:srgbClr val="954F72"/>
              </a:buClr>
              <a:buFont typeface="Arial" panose="020B0604020202020204" pitchFamily="34" charset="0"/>
              <a:buChar char="•"/>
            </a:pPr>
            <a:r>
              <a:rPr lang="zh-CN" altLang="en-US" sz="2400" b="1" dirty="0">
                <a:ea typeface="宋体" panose="02010600030101010101" pitchFamily="2" charset="-122"/>
              </a:rPr>
              <a:t>开发新材料</a:t>
            </a:r>
          </a:p>
          <a:p>
            <a:pPr indent="-342900">
              <a:lnSpc>
                <a:spcPct val="150000"/>
              </a:lnSpc>
              <a:spcBef>
                <a:spcPts val="0"/>
              </a:spcBef>
              <a:buClr>
                <a:srgbClr val="954F72"/>
              </a:buClr>
              <a:buFont typeface="Arial" panose="020B0604020202020204" pitchFamily="34" charset="0"/>
              <a:buChar char="•"/>
            </a:pPr>
            <a:r>
              <a:rPr lang="zh-CN" altLang="en-US" sz="2400" b="1" dirty="0">
                <a:ea typeface="宋体" panose="02010600030101010101" pitchFamily="2" charset="-122"/>
              </a:rPr>
              <a:t>采用微细加工技术</a:t>
            </a:r>
          </a:p>
          <a:p>
            <a:pPr indent="-342900">
              <a:lnSpc>
                <a:spcPct val="150000"/>
              </a:lnSpc>
              <a:spcBef>
                <a:spcPts val="0"/>
              </a:spcBef>
              <a:buClr>
                <a:srgbClr val="954F72"/>
              </a:buClr>
              <a:buFont typeface="Arial" panose="020B0604020202020204" pitchFamily="34" charset="0"/>
              <a:buChar char="•"/>
            </a:pPr>
            <a:r>
              <a:rPr lang="zh-CN" altLang="en-US" sz="2400" b="1" dirty="0">
                <a:ea typeface="宋体" panose="02010600030101010101" pitchFamily="2" charset="-122"/>
              </a:rPr>
              <a:t>研究多功能集成传感器</a:t>
            </a:r>
          </a:p>
          <a:p>
            <a:pPr indent="-342900">
              <a:lnSpc>
                <a:spcPct val="150000"/>
              </a:lnSpc>
              <a:spcBef>
                <a:spcPts val="0"/>
              </a:spcBef>
              <a:buClr>
                <a:srgbClr val="954F72"/>
              </a:buClr>
              <a:buFont typeface="Arial" panose="020B0604020202020204" pitchFamily="34" charset="0"/>
              <a:buChar char="•"/>
            </a:pPr>
            <a:r>
              <a:rPr lang="zh-CN" altLang="en-US" sz="2400" b="1" dirty="0">
                <a:ea typeface="宋体" panose="02010600030101010101" pitchFamily="2" charset="-122"/>
              </a:rPr>
              <a:t>智能化传感器</a:t>
            </a:r>
          </a:p>
          <a:p>
            <a:pPr indent="-342900">
              <a:lnSpc>
                <a:spcPct val="150000"/>
              </a:lnSpc>
              <a:spcBef>
                <a:spcPts val="0"/>
              </a:spcBef>
              <a:buClr>
                <a:srgbClr val="954F72"/>
              </a:buClr>
              <a:buFont typeface="Arial" panose="020B0604020202020204" pitchFamily="34" charset="0"/>
              <a:buChar char="•"/>
            </a:pPr>
            <a:r>
              <a:rPr lang="zh-CN" altLang="en-US" sz="2400" b="1" dirty="0">
                <a:ea typeface="宋体" panose="02010600030101010101" pitchFamily="2" charset="-122"/>
              </a:rPr>
              <a:t>新一代航天传感器</a:t>
            </a:r>
          </a:p>
          <a:p>
            <a:pPr indent="-342900">
              <a:lnSpc>
                <a:spcPct val="150000"/>
              </a:lnSpc>
              <a:spcBef>
                <a:spcPts val="0"/>
              </a:spcBef>
              <a:buClr>
                <a:srgbClr val="954F72"/>
              </a:buClr>
              <a:buFont typeface="Arial" panose="020B0604020202020204" pitchFamily="34" charset="0"/>
              <a:buChar char="•"/>
            </a:pPr>
            <a:r>
              <a:rPr lang="zh-CN" altLang="en-US" sz="2400" b="1" dirty="0">
                <a:ea typeface="宋体" panose="02010600030101010101" pitchFamily="2" charset="-122"/>
              </a:rPr>
              <a:t>仿生传感器</a:t>
            </a:r>
            <a:endParaRPr lang="en-US" altLang="zh-CN" sz="1600" dirty="0"/>
          </a:p>
        </p:txBody>
      </p:sp>
      <p:sp>
        <p:nvSpPr>
          <p:cNvPr id="2" name="Slide Number Placeholder 1">
            <a:extLst>
              <a:ext uri="{FF2B5EF4-FFF2-40B4-BE49-F238E27FC236}">
                <a16:creationId xmlns:a16="http://schemas.microsoft.com/office/drawing/2014/main" id="{6F3AA0C2-84D7-427C-9DC8-610ACB294A42}"/>
              </a:ext>
            </a:extLst>
          </p:cNvPr>
          <p:cNvSpPr>
            <a:spLocks noGrp="1"/>
          </p:cNvSpPr>
          <p:nvPr>
            <p:ph type="sldNum" sz="quarter" idx="12"/>
          </p:nvPr>
        </p:nvSpPr>
        <p:spPr/>
        <p:txBody>
          <a:bodyPr/>
          <a:lstStyle/>
          <a:p>
            <a:fld id="{B53602B4-F12B-41CD-B648-531F86B2CC91}" type="slidenum">
              <a:rPr lang="zh-CN" altLang="en-US" smtClean="0"/>
              <a:t>18</a:t>
            </a:fld>
            <a:endParaRPr lang="zh-CN" altLang="en-US"/>
          </a:p>
        </p:txBody>
      </p:sp>
      <p:pic>
        <p:nvPicPr>
          <p:cNvPr id="3" name="Picture 18">
            <a:extLst>
              <a:ext uri="{FF2B5EF4-FFF2-40B4-BE49-F238E27FC236}">
                <a16:creationId xmlns:a16="http://schemas.microsoft.com/office/drawing/2014/main" id="{66124910-1C20-4FDE-336D-6649120D1EBE}"/>
              </a:ext>
            </a:extLst>
          </p:cNvPr>
          <p:cNvPicPr>
            <a:picLocks noChangeAspect="1"/>
          </p:cNvPicPr>
          <p:nvPr/>
        </p:nvPicPr>
        <p:blipFill rotWithShape="1">
          <a:blip r:embed="rId3"/>
          <a:srcRect l="36873" t="-3195" r="-3843" b="3195"/>
          <a:stretch>
            <a:fillRect/>
          </a:stretch>
        </p:blipFill>
        <p:spPr>
          <a:xfrm>
            <a:off x="4190163" y="1206882"/>
            <a:ext cx="1668026" cy="1401961"/>
          </a:xfrm>
          <a:prstGeom prst="rect">
            <a:avLst/>
          </a:prstGeom>
        </p:spPr>
      </p:pic>
      <p:sp>
        <p:nvSpPr>
          <p:cNvPr id="4" name="Rectangle 4">
            <a:extLst>
              <a:ext uri="{FF2B5EF4-FFF2-40B4-BE49-F238E27FC236}">
                <a16:creationId xmlns:a16="http://schemas.microsoft.com/office/drawing/2014/main" id="{D778FDEC-513C-D3FA-F061-763869632829}"/>
              </a:ext>
            </a:extLst>
          </p:cNvPr>
          <p:cNvSpPr/>
          <p:nvPr/>
        </p:nvSpPr>
        <p:spPr>
          <a:xfrm>
            <a:off x="5777803" y="1907862"/>
            <a:ext cx="1772722" cy="707886"/>
          </a:xfrm>
          <a:prstGeom prst="rect">
            <a:avLst/>
          </a:prstGeom>
        </p:spPr>
        <p:txBody>
          <a:bodyPr wrap="square">
            <a:spAutoFit/>
          </a:bodyPr>
          <a:lstStyle/>
          <a:p>
            <a:r>
              <a:rPr lang="en-US" altLang="zh-CN" sz="1000" dirty="0">
                <a:solidFill>
                  <a:srgbClr val="121212"/>
                </a:solidFill>
                <a:latin typeface="-apple-system"/>
              </a:rPr>
              <a:t>1922</a:t>
            </a:r>
            <a:r>
              <a:rPr lang="zh-CN" altLang="en-US" sz="1000" dirty="0">
                <a:solidFill>
                  <a:srgbClr val="121212"/>
                </a:solidFill>
                <a:latin typeface="-apple-system"/>
              </a:rPr>
              <a:t>年，</a:t>
            </a:r>
            <a:r>
              <a:rPr lang="en-US" altLang="zh-CN" sz="1000" dirty="0" err="1">
                <a:solidFill>
                  <a:srgbClr val="121212"/>
                </a:solidFill>
                <a:latin typeface="-apple-system"/>
              </a:rPr>
              <a:t>Herber</a:t>
            </a:r>
            <a:r>
              <a:rPr lang="en-US" altLang="zh-CN" sz="1000" dirty="0">
                <a:solidFill>
                  <a:srgbClr val="121212"/>
                </a:solidFill>
                <a:latin typeface="-apple-system"/>
              </a:rPr>
              <a:t> Joseph</a:t>
            </a:r>
            <a:r>
              <a:rPr lang="zh-CN" altLang="en-US" sz="1000" dirty="0">
                <a:solidFill>
                  <a:srgbClr val="121212"/>
                </a:solidFill>
                <a:latin typeface="-apple-system"/>
              </a:rPr>
              <a:t>利用阴极射线示波器在肌肉活动中观察到了生物电信号变化，并因此获得了诺贝尔奖</a:t>
            </a:r>
            <a:endParaRPr lang="en-US" sz="1000" dirty="0"/>
          </a:p>
        </p:txBody>
      </p:sp>
      <p:pic>
        <p:nvPicPr>
          <p:cNvPr id="5" name="Picture 5">
            <a:extLst>
              <a:ext uri="{FF2B5EF4-FFF2-40B4-BE49-F238E27FC236}">
                <a16:creationId xmlns:a16="http://schemas.microsoft.com/office/drawing/2014/main" id="{403AE641-C75A-F34E-6289-EAB9E0D4A66B}"/>
              </a:ext>
            </a:extLst>
          </p:cNvPr>
          <p:cNvPicPr>
            <a:picLocks noChangeAspect="1"/>
          </p:cNvPicPr>
          <p:nvPr/>
        </p:nvPicPr>
        <p:blipFill>
          <a:blip r:embed="rId4"/>
          <a:stretch>
            <a:fillRect/>
          </a:stretch>
        </p:blipFill>
        <p:spPr>
          <a:xfrm>
            <a:off x="5140552" y="2822198"/>
            <a:ext cx="1111250" cy="1676400"/>
          </a:xfrm>
          <a:prstGeom prst="rect">
            <a:avLst/>
          </a:prstGeom>
        </p:spPr>
      </p:pic>
      <p:sp>
        <p:nvSpPr>
          <p:cNvPr id="6" name="Rectangle 6">
            <a:extLst>
              <a:ext uri="{FF2B5EF4-FFF2-40B4-BE49-F238E27FC236}">
                <a16:creationId xmlns:a16="http://schemas.microsoft.com/office/drawing/2014/main" id="{B94059DA-716D-3469-18C0-E44E6E410D51}"/>
              </a:ext>
            </a:extLst>
          </p:cNvPr>
          <p:cNvSpPr/>
          <p:nvPr/>
        </p:nvSpPr>
        <p:spPr>
          <a:xfrm>
            <a:off x="6244298" y="3944600"/>
            <a:ext cx="1772722" cy="553998"/>
          </a:xfrm>
          <a:prstGeom prst="rect">
            <a:avLst/>
          </a:prstGeom>
        </p:spPr>
        <p:txBody>
          <a:bodyPr wrap="square">
            <a:spAutoFit/>
          </a:bodyPr>
          <a:lstStyle/>
          <a:p>
            <a:r>
              <a:rPr lang="en-US" altLang="zh-CN" sz="1000" dirty="0">
                <a:solidFill>
                  <a:srgbClr val="121212"/>
                </a:solidFill>
                <a:latin typeface="-apple-system"/>
              </a:rPr>
              <a:t>2009</a:t>
            </a:r>
            <a:r>
              <a:rPr lang="zh-CN" altLang="en-US" sz="1000" dirty="0">
                <a:solidFill>
                  <a:srgbClr val="121212"/>
                </a:solidFill>
                <a:latin typeface="-apple-system"/>
              </a:rPr>
              <a:t>年，高锟因其对光纤事业的重要贡献，获得了当年的诺贝尔物理学奖</a:t>
            </a:r>
            <a:endParaRPr lang="en-US" sz="1000" dirty="0"/>
          </a:p>
        </p:txBody>
      </p:sp>
      <p:pic>
        <p:nvPicPr>
          <p:cNvPr id="7" name="Picture 8">
            <a:extLst>
              <a:ext uri="{FF2B5EF4-FFF2-40B4-BE49-F238E27FC236}">
                <a16:creationId xmlns:a16="http://schemas.microsoft.com/office/drawing/2014/main" id="{8B2AFFED-40DA-A78B-8771-315D3CB92CC3}"/>
              </a:ext>
            </a:extLst>
          </p:cNvPr>
          <p:cNvPicPr>
            <a:picLocks noChangeAspect="1"/>
          </p:cNvPicPr>
          <p:nvPr/>
        </p:nvPicPr>
        <p:blipFill>
          <a:blip r:embed="rId5"/>
          <a:stretch>
            <a:fillRect/>
          </a:stretch>
        </p:blipFill>
        <p:spPr>
          <a:xfrm>
            <a:off x="5524075" y="4798902"/>
            <a:ext cx="1455454" cy="1129827"/>
          </a:xfrm>
          <a:prstGeom prst="rect">
            <a:avLst/>
          </a:prstGeom>
        </p:spPr>
      </p:pic>
      <p:sp>
        <p:nvSpPr>
          <p:cNvPr id="8" name="Rectangle 26">
            <a:extLst>
              <a:ext uri="{FF2B5EF4-FFF2-40B4-BE49-F238E27FC236}">
                <a16:creationId xmlns:a16="http://schemas.microsoft.com/office/drawing/2014/main" id="{068CEDA7-5482-1D29-8F02-27AA875C891E}"/>
              </a:ext>
            </a:extLst>
          </p:cNvPr>
          <p:cNvSpPr/>
          <p:nvPr/>
        </p:nvSpPr>
        <p:spPr>
          <a:xfrm>
            <a:off x="6979529" y="5528619"/>
            <a:ext cx="1772722" cy="400110"/>
          </a:xfrm>
          <a:prstGeom prst="rect">
            <a:avLst/>
          </a:prstGeom>
        </p:spPr>
        <p:txBody>
          <a:bodyPr wrap="square">
            <a:spAutoFit/>
          </a:bodyPr>
          <a:lstStyle/>
          <a:p>
            <a:r>
              <a:rPr lang="zh-CN" altLang="en-US" sz="1000" dirty="0">
                <a:solidFill>
                  <a:srgbClr val="121212"/>
                </a:solidFill>
                <a:latin typeface="-apple-system"/>
              </a:rPr>
              <a:t>电子皮肤</a:t>
            </a:r>
            <a:r>
              <a:rPr lang="en-US" altLang="zh-CN" sz="1000" dirty="0">
                <a:solidFill>
                  <a:srgbClr val="121212"/>
                </a:solidFill>
                <a:latin typeface="-apple-system"/>
              </a:rPr>
              <a:t>/</a:t>
            </a:r>
          </a:p>
          <a:p>
            <a:r>
              <a:rPr lang="zh-CN" altLang="en-US" sz="1000" dirty="0"/>
              <a:t>触觉传感器</a:t>
            </a:r>
            <a:endParaRPr lang="en-US" sz="1000" dirty="0"/>
          </a:p>
        </p:txBody>
      </p:sp>
    </p:spTree>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2" y="354314"/>
            <a:ext cx="7839637" cy="620463"/>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9" rIns="68577" bIns="34289"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9" rIns="68577" bIns="34289" rtlCol="0" anchor="ctr"/>
          <a:lstStyle/>
          <a:p>
            <a:pPr algn="ctr"/>
            <a:r>
              <a:rPr lang="en-US" altLang="zh-CN" sz="2600" b="1" dirty="0">
                <a:latin typeface="Arial" panose="020B0604020202020204" pitchFamily="34" charset="0"/>
                <a:ea typeface="宋体" panose="02010600030101010101" pitchFamily="2" charset="-122"/>
                <a:cs typeface="Arial" panose="020B0604020202020204" pitchFamily="34" charset="0"/>
              </a:rPr>
              <a:t>0.4</a:t>
            </a:r>
            <a:endParaRPr lang="zh-CN" altLang="en-US" sz="2600" b="1" dirty="0">
              <a:latin typeface="Arial" panose="020B0604020202020204" pitchFamily="34" charset="0"/>
              <a:ea typeface="宋体" panose="02010600030101010101" pitchFamily="2" charset="-122"/>
              <a:cs typeface="Arial" panose="020B0604020202020204" pitchFamily="34" charset="0"/>
            </a:endParaRPr>
          </a:p>
        </p:txBody>
      </p:sp>
      <p:sp>
        <p:nvSpPr>
          <p:cNvPr id="46" name="矩形 45"/>
          <p:cNvSpPr/>
          <p:nvPr/>
        </p:nvSpPr>
        <p:spPr>
          <a:xfrm>
            <a:off x="1960201" y="403611"/>
            <a:ext cx="2483687" cy="469357"/>
          </a:xfrm>
          <a:prstGeom prst="rect">
            <a:avLst/>
          </a:prstGeom>
        </p:spPr>
        <p:txBody>
          <a:bodyPr wrap="none" lIns="68577" tIns="34289" rIns="68577" bIns="34289">
            <a:spAutoFit/>
          </a:bodyPr>
          <a:lstStyle/>
          <a:p>
            <a:pPr algn="l" eaLnBrk="1" hangingPunct="1"/>
            <a:r>
              <a:rPr lang="zh-CN" altLang="en-US" sz="2600" b="1" dirty="0">
                <a:solidFill>
                  <a:schemeClr val="bg1"/>
                </a:solidFill>
                <a:latin typeface="宋体" panose="02010600030101010101" pitchFamily="2" charset="-122"/>
                <a:ea typeface="宋体" panose="02010600030101010101" pitchFamily="2" charset="-122"/>
                <a:sym typeface="+mn-ea"/>
              </a:rPr>
              <a:t>检测技术的定义</a:t>
            </a:r>
          </a:p>
        </p:txBody>
      </p:sp>
      <p:sp>
        <p:nvSpPr>
          <p:cNvPr id="222223" name="Rectangle 15"/>
          <p:cNvSpPr>
            <a:spLocks noRot="1" noChangeArrowheads="1"/>
          </p:cNvSpPr>
          <p:nvPr/>
        </p:nvSpPr>
        <p:spPr bwMode="auto">
          <a:xfrm>
            <a:off x="571625" y="1548203"/>
            <a:ext cx="7824701" cy="45529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lstStyle>
            <a:defPPr>
              <a:defRPr lang="zh-CN"/>
            </a:defPPr>
            <a:lvl1pPr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9pPr>
          </a:lstStyle>
          <a:p>
            <a:pPr indent="542925">
              <a:lnSpc>
                <a:spcPct val="200000"/>
              </a:lnSpc>
              <a:spcBef>
                <a:spcPct val="20000"/>
              </a:spcBef>
              <a:buClr>
                <a:schemeClr val="folHlink"/>
              </a:buClr>
            </a:pPr>
            <a:r>
              <a:rPr lang="zh-CN" altLang="en-US" sz="2400" b="1" dirty="0">
                <a:solidFill>
                  <a:srgbClr val="FF0000"/>
                </a:solidFill>
                <a:ea typeface="宋体" panose="02010600030101010101" pitchFamily="2" charset="-122"/>
                <a:sym typeface="+mn-ea"/>
              </a:rPr>
              <a:t>检测技术</a:t>
            </a:r>
            <a:r>
              <a:rPr lang="zh-CN" altLang="en-US" sz="2400" b="1" dirty="0">
                <a:ea typeface="宋体" panose="02010600030101010101" pitchFamily="2" charset="-122"/>
                <a:sym typeface="+mn-ea"/>
              </a:rPr>
              <a:t>属于信息科学的范畴，与计算机技术、自动控制技术和通信技术构成完整的信息技术学科。</a:t>
            </a:r>
          </a:p>
          <a:p>
            <a:pPr indent="542925">
              <a:lnSpc>
                <a:spcPct val="200000"/>
              </a:lnSpc>
              <a:spcBef>
                <a:spcPct val="20000"/>
              </a:spcBef>
              <a:buClr>
                <a:schemeClr val="folHlink"/>
              </a:buClr>
            </a:pPr>
            <a:r>
              <a:rPr lang="zh-CN" altLang="en-US" sz="2400" b="1" dirty="0">
                <a:solidFill>
                  <a:srgbClr val="00B050"/>
                </a:solidFill>
                <a:ea typeface="宋体" panose="02010600030101010101" pitchFamily="2" charset="-122"/>
                <a:sym typeface="+mn-ea"/>
              </a:rPr>
              <a:t>测量</a:t>
            </a:r>
            <a:r>
              <a:rPr lang="zh-CN" altLang="en-US" sz="2400" b="1" dirty="0">
                <a:ea typeface="宋体" panose="02010600030101010101" pitchFamily="2" charset="-122"/>
                <a:sym typeface="+mn-ea"/>
              </a:rPr>
              <a:t>是指确定被测对象属性量值为目的的全部操作。</a:t>
            </a:r>
            <a:endParaRPr lang="en-US" altLang="zh-CN" sz="2400" b="1" dirty="0">
              <a:ea typeface="宋体" panose="02010600030101010101" pitchFamily="2" charset="-122"/>
              <a:sym typeface="+mn-ea"/>
            </a:endParaRPr>
          </a:p>
          <a:p>
            <a:pPr indent="542925">
              <a:lnSpc>
                <a:spcPct val="200000"/>
              </a:lnSpc>
              <a:spcBef>
                <a:spcPct val="20000"/>
              </a:spcBef>
              <a:buClr>
                <a:schemeClr val="folHlink"/>
              </a:buClr>
            </a:pPr>
            <a:r>
              <a:rPr lang="zh-CN" altLang="en-US" sz="2400" b="1" dirty="0">
                <a:solidFill>
                  <a:srgbClr val="FF9900"/>
                </a:solidFill>
                <a:ea typeface="宋体" panose="02010600030101010101" pitchFamily="2" charset="-122"/>
                <a:sym typeface="+mn-ea"/>
              </a:rPr>
              <a:t>测试</a:t>
            </a:r>
            <a:r>
              <a:rPr lang="zh-CN" altLang="en-US" sz="2400" b="1" dirty="0">
                <a:ea typeface="宋体" panose="02010600030101010101" pitchFamily="2" charset="-122"/>
                <a:sym typeface="+mn-ea"/>
              </a:rPr>
              <a:t>是具有试验性质的测量，可以理解为测量和试验的综合。</a:t>
            </a:r>
            <a:endParaRPr lang="zh-CN" altLang="en-US" sz="2400" b="1" dirty="0">
              <a:ea typeface="宋体" panose="02010600030101010101" pitchFamily="2" charset="-122"/>
            </a:endParaRPr>
          </a:p>
        </p:txBody>
      </p:sp>
      <p:sp>
        <p:nvSpPr>
          <p:cNvPr id="2" name="Slide Number Placeholder 1">
            <a:extLst>
              <a:ext uri="{FF2B5EF4-FFF2-40B4-BE49-F238E27FC236}">
                <a16:creationId xmlns:a16="http://schemas.microsoft.com/office/drawing/2014/main" id="{F5E22BB3-233D-49D1-97C7-8B0DBCB382B2}"/>
              </a:ext>
            </a:extLst>
          </p:cNvPr>
          <p:cNvSpPr>
            <a:spLocks noGrp="1"/>
          </p:cNvSpPr>
          <p:nvPr>
            <p:ph type="sldNum" sz="quarter" idx="12"/>
          </p:nvPr>
        </p:nvSpPr>
        <p:spPr/>
        <p:txBody>
          <a:bodyPr/>
          <a:lstStyle/>
          <a:p>
            <a:fld id="{B53602B4-F12B-41CD-B648-531F86B2CC91}" type="slidenum">
              <a:rPr lang="zh-CN" altLang="en-US" smtClean="0"/>
              <a:t>19</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2" y="354314"/>
            <a:ext cx="7839637" cy="620463"/>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9" rIns="68577" bIns="34289"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9" rIns="68577" bIns="34289" rtlCol="0" anchor="ctr"/>
          <a:lstStyle/>
          <a:p>
            <a:pPr algn="ctr"/>
            <a:r>
              <a:rPr lang="en-US" altLang="zh-CN" sz="2600" b="1" dirty="0">
                <a:latin typeface="Arial" panose="020B0604020202020204" pitchFamily="34" charset="0"/>
                <a:ea typeface="宋体" panose="02010600030101010101" pitchFamily="2" charset="-122"/>
                <a:cs typeface="Arial" panose="020B0604020202020204" pitchFamily="34" charset="0"/>
              </a:rPr>
              <a:t>0.5</a:t>
            </a:r>
            <a:endParaRPr lang="zh-CN" altLang="en-US" sz="2600" b="1" dirty="0">
              <a:latin typeface="Arial" panose="020B0604020202020204" pitchFamily="34" charset="0"/>
              <a:ea typeface="宋体" panose="02010600030101010101" pitchFamily="2" charset="-122"/>
              <a:cs typeface="Arial" panose="020B0604020202020204" pitchFamily="34" charset="0"/>
            </a:endParaRPr>
          </a:p>
        </p:txBody>
      </p:sp>
      <p:sp>
        <p:nvSpPr>
          <p:cNvPr id="46" name="矩形 45"/>
          <p:cNvSpPr/>
          <p:nvPr/>
        </p:nvSpPr>
        <p:spPr>
          <a:xfrm>
            <a:off x="1960201" y="402452"/>
            <a:ext cx="2483687" cy="469357"/>
          </a:xfrm>
          <a:prstGeom prst="rect">
            <a:avLst/>
          </a:prstGeom>
        </p:spPr>
        <p:txBody>
          <a:bodyPr wrap="none" lIns="68577" tIns="34289" rIns="68577" bIns="34289">
            <a:spAutoFit/>
          </a:bodyPr>
          <a:lstStyle/>
          <a:p>
            <a:pPr algn="l" eaLnBrk="1" hangingPunct="1"/>
            <a:r>
              <a:rPr lang="zh-CN" altLang="en-US" sz="2600" b="1" dirty="0">
                <a:solidFill>
                  <a:schemeClr val="bg1"/>
                </a:solidFill>
                <a:latin typeface="宋体" panose="02010600030101010101" pitchFamily="2" charset="-122"/>
                <a:ea typeface="宋体" panose="02010600030101010101" pitchFamily="2" charset="-122"/>
                <a:sym typeface="+mn-ea"/>
              </a:rPr>
              <a:t>检测技术的作用</a:t>
            </a:r>
          </a:p>
        </p:txBody>
      </p:sp>
      <p:sp>
        <p:nvSpPr>
          <p:cNvPr id="222223" name="Rectangle 15"/>
          <p:cNvSpPr>
            <a:spLocks noRot="1" noChangeArrowheads="1"/>
          </p:cNvSpPr>
          <p:nvPr/>
        </p:nvSpPr>
        <p:spPr bwMode="auto">
          <a:xfrm>
            <a:off x="689956" y="1278257"/>
            <a:ext cx="7530119" cy="45886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lstStyle>
            <a:defPPr>
              <a:defRPr lang="zh-CN"/>
            </a:defPPr>
            <a:lvl1pPr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9pPr>
          </a:lstStyle>
          <a:p>
            <a:pPr>
              <a:lnSpc>
                <a:spcPct val="150000"/>
              </a:lnSpc>
              <a:spcBef>
                <a:spcPct val="20000"/>
              </a:spcBef>
              <a:buClr>
                <a:schemeClr val="folHlink"/>
              </a:buClr>
            </a:pPr>
            <a:r>
              <a:rPr lang="en-US" altLang="zh-CN" sz="2400" b="1" dirty="0">
                <a:solidFill>
                  <a:schemeClr val="tx2"/>
                </a:solidFill>
                <a:ea typeface="宋体" panose="02010600030101010101" pitchFamily="2" charset="-122"/>
                <a:sym typeface="+mn-ea"/>
              </a:rPr>
              <a:t>	</a:t>
            </a:r>
            <a:r>
              <a:rPr lang="zh-CN" altLang="en-US" sz="2400" b="1" dirty="0">
                <a:ea typeface="宋体" panose="02010600030101010101" pitchFamily="2" charset="-122"/>
                <a:sym typeface="+mn-ea"/>
              </a:rPr>
              <a:t>客观世界的一切物质都以不同形式不断地运动着。运动着的物质是以一定的能量或状态表现出来的，这就是</a:t>
            </a:r>
            <a:r>
              <a:rPr lang="zh-CN" altLang="en-US" sz="2400" b="1" dirty="0">
                <a:solidFill>
                  <a:srgbClr val="FF0000"/>
                </a:solidFill>
                <a:ea typeface="宋体" panose="02010600030101010101" pitchFamily="2" charset="-122"/>
                <a:sym typeface="+mn-ea"/>
              </a:rPr>
              <a:t>信号</a:t>
            </a:r>
            <a:r>
              <a:rPr lang="zh-CN" altLang="en-US" sz="2400" b="1" dirty="0">
                <a:ea typeface="宋体" panose="02010600030101010101" pitchFamily="2" charset="-122"/>
                <a:sym typeface="+mn-ea"/>
              </a:rPr>
              <a:t>。人们为了认识物质世界，就必须寻找表征物质运动的各种信号以及</a:t>
            </a:r>
            <a:r>
              <a:rPr lang="zh-CN" altLang="en-US" sz="2400" b="1" dirty="0">
                <a:solidFill>
                  <a:srgbClr val="CC3300"/>
                </a:solidFill>
                <a:ea typeface="宋体" panose="02010600030101010101" pitchFamily="2" charset="-122"/>
                <a:sym typeface="+mn-ea"/>
              </a:rPr>
              <a:t>信号与物质运动的关系</a:t>
            </a:r>
            <a:r>
              <a:rPr lang="zh-CN" altLang="en-US" sz="2400" b="1" dirty="0">
                <a:ea typeface="宋体" panose="02010600030101010101" pitchFamily="2" charset="-122"/>
                <a:sym typeface="+mn-ea"/>
              </a:rPr>
              <a:t>。</a:t>
            </a:r>
            <a:endParaRPr lang="zh-CN" altLang="en-US" sz="2400" b="1" dirty="0">
              <a:ea typeface="宋体" panose="02010600030101010101" pitchFamily="2" charset="-122"/>
            </a:endParaRPr>
          </a:p>
        </p:txBody>
      </p:sp>
      <p:sp>
        <p:nvSpPr>
          <p:cNvPr id="226308" name="Text Box 4"/>
          <p:cNvSpPr txBox="1">
            <a:spLocks noChangeArrowheads="1"/>
          </p:cNvSpPr>
          <p:nvPr/>
        </p:nvSpPr>
        <p:spPr bwMode="auto">
          <a:xfrm>
            <a:off x="1304360" y="3700767"/>
            <a:ext cx="4000500" cy="18789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9pPr>
          </a:lstStyle>
          <a:p>
            <a:pPr marL="342900" indent="-342900">
              <a:lnSpc>
                <a:spcPct val="150000"/>
              </a:lnSpc>
              <a:spcBef>
                <a:spcPct val="20000"/>
              </a:spcBef>
              <a:buClr>
                <a:srgbClr val="FF9900"/>
              </a:buClr>
              <a:buFont typeface="Arial" panose="020B0604020202020204" pitchFamily="34" charset="0"/>
              <a:buChar char="•"/>
            </a:pPr>
            <a:r>
              <a:rPr lang="zh-CN" altLang="en-US" sz="2400" b="1" dirty="0">
                <a:ea typeface="宋体" panose="02010600030101010101" pitchFamily="2" charset="-122"/>
              </a:rPr>
              <a:t>工业生产领域</a:t>
            </a:r>
          </a:p>
          <a:p>
            <a:pPr marL="342900" indent="-342900">
              <a:lnSpc>
                <a:spcPct val="150000"/>
              </a:lnSpc>
              <a:spcBef>
                <a:spcPct val="20000"/>
              </a:spcBef>
              <a:buClr>
                <a:srgbClr val="FF9900"/>
              </a:buClr>
              <a:buFont typeface="Arial" panose="020B0604020202020204" pitchFamily="34" charset="0"/>
              <a:buChar char="•"/>
            </a:pPr>
            <a:r>
              <a:rPr lang="zh-CN" altLang="en-US" sz="2400" b="1" dirty="0">
                <a:ea typeface="宋体" panose="02010600030101010101" pitchFamily="2" charset="-122"/>
              </a:rPr>
              <a:t>科学研究领域</a:t>
            </a:r>
          </a:p>
          <a:p>
            <a:pPr marL="342900" indent="-342900">
              <a:lnSpc>
                <a:spcPct val="150000"/>
              </a:lnSpc>
              <a:spcBef>
                <a:spcPct val="20000"/>
              </a:spcBef>
              <a:buClr>
                <a:srgbClr val="FF9900"/>
              </a:buClr>
              <a:buFont typeface="Arial" panose="020B0604020202020204" pitchFamily="34" charset="0"/>
              <a:buChar char="•"/>
            </a:pPr>
            <a:r>
              <a:rPr lang="zh-CN" altLang="en-US" sz="2400" b="1" dirty="0">
                <a:ea typeface="宋体" panose="02010600030101010101" pitchFamily="2" charset="-122"/>
              </a:rPr>
              <a:t>人们的日常生活中</a:t>
            </a:r>
          </a:p>
        </p:txBody>
      </p:sp>
      <p:sp>
        <p:nvSpPr>
          <p:cNvPr id="2" name="Slide Number Placeholder 1">
            <a:extLst>
              <a:ext uri="{FF2B5EF4-FFF2-40B4-BE49-F238E27FC236}">
                <a16:creationId xmlns:a16="http://schemas.microsoft.com/office/drawing/2014/main" id="{29935C97-AC04-41EB-9DE3-A5124B356882}"/>
              </a:ext>
            </a:extLst>
          </p:cNvPr>
          <p:cNvSpPr>
            <a:spLocks noGrp="1"/>
          </p:cNvSpPr>
          <p:nvPr>
            <p:ph type="sldNum" sz="quarter" idx="12"/>
          </p:nvPr>
        </p:nvSpPr>
        <p:spPr/>
        <p:txBody>
          <a:bodyPr/>
          <a:lstStyle/>
          <a:p>
            <a:fld id="{B53602B4-F12B-41CD-B648-531F86B2CC91}" type="slidenum">
              <a:rPr lang="zh-CN" altLang="en-US" smtClean="0"/>
              <a:t>20</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2" y="354314"/>
            <a:ext cx="7839637" cy="620463"/>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9" rIns="68577" bIns="34289"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9" rIns="68577" bIns="34289" rtlCol="0" anchor="ctr"/>
          <a:lstStyle/>
          <a:p>
            <a:pPr algn="ctr"/>
            <a:r>
              <a:rPr lang="en-US" altLang="zh-CN" sz="2600" b="1" dirty="0">
                <a:latin typeface="Arial" panose="020B0604020202020204" pitchFamily="34" charset="0"/>
                <a:ea typeface="宋体" panose="02010600030101010101" pitchFamily="2" charset="-122"/>
                <a:cs typeface="Arial" panose="020B0604020202020204" pitchFamily="34" charset="0"/>
              </a:rPr>
              <a:t>0</a:t>
            </a:r>
            <a:endParaRPr lang="zh-CN" altLang="en-US" sz="2600" b="1" dirty="0">
              <a:latin typeface="Arial" panose="020B0604020202020204" pitchFamily="34" charset="0"/>
              <a:ea typeface="宋体" panose="02010600030101010101" pitchFamily="2" charset="-122"/>
              <a:cs typeface="Arial" panose="020B0604020202020204" pitchFamily="34" charset="0"/>
            </a:endParaRPr>
          </a:p>
        </p:txBody>
      </p:sp>
      <p:sp>
        <p:nvSpPr>
          <p:cNvPr id="46" name="矩形 45"/>
          <p:cNvSpPr/>
          <p:nvPr/>
        </p:nvSpPr>
        <p:spPr>
          <a:xfrm>
            <a:off x="1960200" y="417578"/>
            <a:ext cx="1478604" cy="469357"/>
          </a:xfrm>
          <a:prstGeom prst="rect">
            <a:avLst/>
          </a:prstGeom>
        </p:spPr>
        <p:txBody>
          <a:bodyPr wrap="none" lIns="68577" tIns="34289" rIns="68577" bIns="34289">
            <a:spAutoFit/>
          </a:bodyPr>
          <a:lstStyle/>
          <a:p>
            <a:pPr algn="l" eaLnBrk="1" hangingPunct="1"/>
            <a:r>
              <a:rPr lang="zh-CN" altLang="en-US" sz="2600" b="1" dirty="0">
                <a:solidFill>
                  <a:schemeClr val="bg1"/>
                </a:solidFill>
                <a:latin typeface="宋体" panose="02010600030101010101" pitchFamily="2" charset="-122"/>
                <a:ea typeface="宋体" panose="02010600030101010101" pitchFamily="2" charset="-122"/>
                <a:sym typeface="+mn-ea"/>
              </a:rPr>
              <a:t>本章要点</a:t>
            </a:r>
          </a:p>
        </p:txBody>
      </p:sp>
      <p:sp>
        <p:nvSpPr>
          <p:cNvPr id="222223" name="Rectangle 15"/>
          <p:cNvSpPr>
            <a:spLocks noRot="1" noChangeArrowheads="1"/>
          </p:cNvSpPr>
          <p:nvPr/>
        </p:nvSpPr>
        <p:spPr bwMode="auto">
          <a:xfrm>
            <a:off x="1698861" y="1661054"/>
            <a:ext cx="4328593" cy="44399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lstStyle>
            <a:defPPr>
              <a:defRPr lang="zh-CN"/>
            </a:defPPr>
            <a:lvl1pPr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9pPr>
          </a:lstStyle>
          <a:p>
            <a:pPr marL="342900" indent="-342900">
              <a:lnSpc>
                <a:spcPct val="150000"/>
              </a:lnSpc>
              <a:spcBef>
                <a:spcPct val="20000"/>
              </a:spcBef>
              <a:buClr>
                <a:schemeClr val="folHlink"/>
              </a:buClr>
              <a:buFont typeface="Arial" panose="020B0604020202020204" pitchFamily="34" charset="0"/>
              <a:buChar char="•"/>
            </a:pPr>
            <a:r>
              <a:rPr lang="zh-CN" altLang="en-US" sz="2400" b="1" dirty="0">
                <a:ea typeface="宋体" panose="02010600030101010101" pitchFamily="2" charset="-122"/>
                <a:sym typeface="+mn-ea"/>
              </a:rPr>
              <a:t>检测技术的作用</a:t>
            </a:r>
          </a:p>
          <a:p>
            <a:pPr marL="342900" indent="-342900" algn="l" eaLnBrk="1" hangingPunct="1">
              <a:lnSpc>
                <a:spcPct val="150000"/>
              </a:lnSpc>
              <a:spcBef>
                <a:spcPct val="20000"/>
              </a:spcBef>
              <a:buClr>
                <a:schemeClr val="folHlink"/>
              </a:buClr>
              <a:buSzTx/>
              <a:buFont typeface="Arial" panose="020B0604020202020204" pitchFamily="34" charset="0"/>
              <a:buChar char="•"/>
            </a:pPr>
            <a:r>
              <a:rPr lang="zh-CN" altLang="en-US" sz="2400" b="1" dirty="0">
                <a:ea typeface="宋体" panose="02010600030101010101" pitchFamily="2" charset="-122"/>
                <a:sym typeface="+mn-ea"/>
              </a:rPr>
              <a:t>传感器的定义、组成、分类</a:t>
            </a:r>
          </a:p>
          <a:p>
            <a:pPr marL="342900" indent="-342900" algn="l" eaLnBrk="1" hangingPunct="1">
              <a:lnSpc>
                <a:spcPct val="150000"/>
              </a:lnSpc>
              <a:spcBef>
                <a:spcPct val="20000"/>
              </a:spcBef>
              <a:buClr>
                <a:schemeClr val="folHlink"/>
              </a:buClr>
              <a:buSzTx/>
              <a:buFont typeface="Arial" panose="020B0604020202020204" pitchFamily="34" charset="0"/>
              <a:buChar char="•"/>
            </a:pPr>
            <a:r>
              <a:rPr lang="zh-CN" altLang="en-US" sz="2400" b="1" dirty="0">
                <a:ea typeface="宋体" panose="02010600030101010101" pitchFamily="2" charset="-122"/>
                <a:sym typeface="+mn-ea"/>
              </a:rPr>
              <a:t>传感器的作用和地位</a:t>
            </a:r>
          </a:p>
          <a:p>
            <a:pPr marL="342900" indent="-342900" algn="l" eaLnBrk="1" hangingPunct="1">
              <a:lnSpc>
                <a:spcPct val="150000"/>
              </a:lnSpc>
              <a:spcBef>
                <a:spcPct val="20000"/>
              </a:spcBef>
              <a:buClr>
                <a:schemeClr val="folHlink"/>
              </a:buClr>
              <a:buSzTx/>
              <a:buFont typeface="Arial" panose="020B0604020202020204" pitchFamily="34" charset="0"/>
              <a:buChar char="•"/>
            </a:pPr>
            <a:r>
              <a:rPr lang="zh-CN" altLang="en-US" sz="2400" b="1" dirty="0">
                <a:ea typeface="宋体" panose="02010600030101010101" pitchFamily="2" charset="-122"/>
                <a:sym typeface="+mn-ea"/>
              </a:rPr>
              <a:t>传感器技术的发展动向</a:t>
            </a:r>
          </a:p>
          <a:p>
            <a:pPr marL="342900" indent="-342900" algn="l" eaLnBrk="1" hangingPunct="1">
              <a:lnSpc>
                <a:spcPct val="150000"/>
              </a:lnSpc>
              <a:spcBef>
                <a:spcPct val="20000"/>
              </a:spcBef>
              <a:buClr>
                <a:schemeClr val="folHlink"/>
              </a:buClr>
              <a:buSzTx/>
              <a:buFont typeface="Arial" panose="020B0604020202020204" pitchFamily="34" charset="0"/>
              <a:buChar char="•"/>
            </a:pPr>
            <a:r>
              <a:rPr lang="zh-CN" altLang="en-US" sz="2400" b="1" dirty="0">
                <a:ea typeface="宋体" panose="02010600030101010101" pitchFamily="2" charset="-122"/>
                <a:sym typeface="+mn-ea"/>
              </a:rPr>
              <a:t>检测技术的定义</a:t>
            </a:r>
          </a:p>
          <a:p>
            <a:pPr marL="342900" indent="-342900" algn="l" eaLnBrk="1" hangingPunct="1">
              <a:lnSpc>
                <a:spcPct val="150000"/>
              </a:lnSpc>
              <a:spcBef>
                <a:spcPct val="20000"/>
              </a:spcBef>
              <a:buClr>
                <a:schemeClr val="folHlink"/>
              </a:buClr>
              <a:buSzTx/>
              <a:buFont typeface="Arial" panose="020B0604020202020204" pitchFamily="34" charset="0"/>
              <a:buChar char="•"/>
            </a:pPr>
            <a:r>
              <a:rPr lang="zh-CN" altLang="en-US" sz="2400" b="1" dirty="0">
                <a:ea typeface="宋体" panose="02010600030101010101" pitchFamily="2" charset="-122"/>
                <a:sym typeface="+mn-ea"/>
              </a:rPr>
              <a:t>检测技术的作用</a:t>
            </a:r>
            <a:endParaRPr lang="zh-CN" altLang="en-US" sz="2400" b="1" dirty="0">
              <a:ea typeface="宋体" panose="02010600030101010101" pitchFamily="2" charset="-122"/>
            </a:endParaRPr>
          </a:p>
        </p:txBody>
      </p:sp>
      <p:sp>
        <p:nvSpPr>
          <p:cNvPr id="2" name="Slide Number Placeholder 1">
            <a:extLst>
              <a:ext uri="{FF2B5EF4-FFF2-40B4-BE49-F238E27FC236}">
                <a16:creationId xmlns:a16="http://schemas.microsoft.com/office/drawing/2014/main" id="{9B058285-F552-4BB5-B65F-2BFF0E7DE105}"/>
              </a:ext>
            </a:extLst>
          </p:cNvPr>
          <p:cNvSpPr>
            <a:spLocks noGrp="1"/>
          </p:cNvSpPr>
          <p:nvPr>
            <p:ph type="sldNum" sz="quarter" idx="12"/>
          </p:nvPr>
        </p:nvSpPr>
        <p:spPr/>
        <p:txBody>
          <a:bodyPr/>
          <a:lstStyle/>
          <a:p>
            <a:fld id="{B53602B4-F12B-41CD-B648-531F86B2CC91}" type="slidenum">
              <a:rPr lang="zh-CN" altLang="en-US" smtClean="0"/>
              <a:t>21</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a:spPr>
      <a:bodyPr rtlCol="0" anchor="ctr"/>
      <a:lstStyle>
        <a:defPPr algn="ctr">
          <a:defRPr b="1" dirty="0">
            <a:solidFill>
              <a:schemeClr val="bg1"/>
            </a:solidFill>
            <a:hlinkClick xmlns:r="http://schemas.openxmlformats.org/officeDocument/2006/relationships" r:id="" action="ppaction://hlinksldjump"/>
          </a:defRPr>
        </a:defPPr>
      </a:lstStyle>
      <a:style>
        <a:lnRef idx="1">
          <a:schemeClr val="accent3"/>
        </a:lnRef>
        <a:fillRef idx="2">
          <a:schemeClr val="accent3"/>
        </a:fillRef>
        <a:effectRef idx="1">
          <a:schemeClr val="accent3"/>
        </a:effectRef>
        <a:fontRef idx="minor">
          <a:schemeClr val="dk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956</TotalTime>
  <Words>943</Words>
  <Application>Microsoft Office PowerPoint</Application>
  <PresentationFormat>全屏显示(4:3)</PresentationFormat>
  <Paragraphs>170</Paragraphs>
  <Slides>21</Slides>
  <Notes>12</Notes>
  <HiddenSlides>0</HiddenSlides>
  <MMClips>0</MMClips>
  <ScaleCrop>false</ScaleCrop>
  <HeadingPairs>
    <vt:vector size="6" baseType="variant">
      <vt:variant>
        <vt:lpstr>已用的字体</vt:lpstr>
      </vt:variant>
      <vt:variant>
        <vt:i4>10</vt:i4>
      </vt:variant>
      <vt:variant>
        <vt:lpstr>主题</vt:lpstr>
      </vt:variant>
      <vt:variant>
        <vt:i4>2</vt:i4>
      </vt:variant>
      <vt:variant>
        <vt:lpstr>幻灯片标题</vt:lpstr>
      </vt:variant>
      <vt:variant>
        <vt:i4>21</vt:i4>
      </vt:variant>
    </vt:vector>
  </HeadingPairs>
  <TitlesOfParts>
    <vt:vector size="33" baseType="lpstr">
      <vt:lpstr>-apple-system</vt:lpstr>
      <vt:lpstr>等线</vt:lpstr>
      <vt:lpstr>等线 Light</vt:lpstr>
      <vt:lpstr>黑体</vt:lpstr>
      <vt:lpstr>SimSun</vt:lpstr>
      <vt:lpstr>SimSun</vt:lpstr>
      <vt:lpstr>微软雅黑</vt:lpstr>
      <vt:lpstr>Arial</vt:lpstr>
      <vt:lpstr>Palatino Linotype</vt:lpstr>
      <vt:lpstr>Times New Roman</vt:lpstr>
      <vt:lpstr>Office 主题​​</vt:lpstr>
      <vt:lpstr>1_Office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
  <cp:lastModifiedBy>GE FANG</cp:lastModifiedBy>
  <cp:revision>110</cp:revision>
  <dcterms:created xsi:type="dcterms:W3CDTF">2020-09-26T11:04:00Z</dcterms:created>
  <dcterms:modified xsi:type="dcterms:W3CDTF">2026-03-09T00:40:52Z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2052-11.1.0.10000</vt:lpwstr>
  </property>
</Properties>
</file>