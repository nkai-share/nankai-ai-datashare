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9" r:id="rId2"/>
    <p:sldId id="258" r:id="rId3"/>
    <p:sldId id="289" r:id="rId4"/>
    <p:sldId id="325" r:id="rId5"/>
    <p:sldId id="284" r:id="rId6"/>
    <p:sldId id="392" r:id="rId7"/>
    <p:sldId id="326" r:id="rId8"/>
    <p:sldId id="292" r:id="rId9"/>
    <p:sldId id="327" r:id="rId10"/>
    <p:sldId id="328" r:id="rId11"/>
    <p:sldId id="333" r:id="rId12"/>
    <p:sldId id="335" r:id="rId13"/>
    <p:sldId id="334" r:id="rId14"/>
    <p:sldId id="337" r:id="rId15"/>
    <p:sldId id="338" r:id="rId16"/>
    <p:sldId id="339" r:id="rId17"/>
    <p:sldId id="340" r:id="rId18"/>
    <p:sldId id="341" r:id="rId19"/>
    <p:sldId id="342" r:id="rId20"/>
    <p:sldId id="393" r:id="rId21"/>
    <p:sldId id="343" r:id="rId22"/>
    <p:sldId id="344" r:id="rId23"/>
    <p:sldId id="345" r:id="rId24"/>
    <p:sldId id="346" r:id="rId25"/>
    <p:sldId id="347" r:id="rId26"/>
    <p:sldId id="394" r:id="rId27"/>
    <p:sldId id="395" r:id="rId28"/>
    <p:sldId id="348" r:id="rId29"/>
    <p:sldId id="349" r:id="rId30"/>
    <p:sldId id="350" r:id="rId31"/>
    <p:sldId id="351" r:id="rId32"/>
    <p:sldId id="396" r:id="rId33"/>
    <p:sldId id="352" r:id="rId34"/>
    <p:sldId id="353" r:id="rId35"/>
    <p:sldId id="354" r:id="rId36"/>
    <p:sldId id="355" r:id="rId37"/>
    <p:sldId id="356" r:id="rId38"/>
    <p:sldId id="398" r:id="rId39"/>
    <p:sldId id="399" r:id="rId40"/>
    <p:sldId id="357" r:id="rId41"/>
    <p:sldId id="400" r:id="rId42"/>
    <p:sldId id="358" r:id="rId43"/>
    <p:sldId id="359" r:id="rId44"/>
    <p:sldId id="361" r:id="rId45"/>
    <p:sldId id="362" r:id="rId46"/>
    <p:sldId id="401" r:id="rId47"/>
    <p:sldId id="402" r:id="rId48"/>
    <p:sldId id="364" r:id="rId49"/>
    <p:sldId id="365" r:id="rId50"/>
    <p:sldId id="366" r:id="rId51"/>
    <p:sldId id="403" r:id="rId52"/>
    <p:sldId id="404" r:id="rId53"/>
    <p:sldId id="368" r:id="rId54"/>
    <p:sldId id="369" r:id="rId55"/>
    <p:sldId id="371" r:id="rId56"/>
    <p:sldId id="372" r:id="rId57"/>
    <p:sldId id="373" r:id="rId58"/>
    <p:sldId id="374" r:id="rId59"/>
    <p:sldId id="375" r:id="rId60"/>
    <p:sldId id="376" r:id="rId61"/>
    <p:sldId id="377" r:id="rId62"/>
    <p:sldId id="378" r:id="rId63"/>
    <p:sldId id="379" r:id="rId64"/>
    <p:sldId id="380" r:id="rId65"/>
    <p:sldId id="381" r:id="rId66"/>
    <p:sldId id="370" r:id="rId67"/>
    <p:sldId id="382" r:id="rId68"/>
    <p:sldId id="383" r:id="rId69"/>
    <p:sldId id="384" r:id="rId70"/>
    <p:sldId id="405" r:id="rId71"/>
    <p:sldId id="385" r:id="rId72"/>
    <p:sldId id="386" r:id="rId73"/>
    <p:sldId id="387" r:id="rId74"/>
    <p:sldId id="388" r:id="rId75"/>
    <p:sldId id="389" r:id="rId76"/>
    <p:sldId id="390" r:id="rId77"/>
    <p:sldId id="274" r:id="rId7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A16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0" d="100"/>
          <a:sy n="110" d="100"/>
        </p:scale>
        <p:origin x="147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06C744-ECB0-454F-82FF-D5E4D14D567F}" type="datetimeFigureOut">
              <a:rPr lang="zh-CN" altLang="en-US" smtClean="0"/>
              <a:t>2026/6/4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C164E-2498-4040-BA87-856957E333D2}" type="slidenum">
              <a:rPr lang="zh-CN" altLang="en-US" smtClean="0"/>
              <a:t>‹#›</a:t>
            </a:fld>
            <a:endParaRPr lang="zh-CN" altLang="en-US"/>
          </a:p>
        </p:txBody>
      </p:sp>
    </p:spTree>
    <p:extLst>
      <p:ext uri="{BB962C8B-B14F-4D97-AF65-F5344CB8AC3E}">
        <p14:creationId xmlns:p14="http://schemas.microsoft.com/office/powerpoint/2010/main" val="3496262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a:t>
            </a:fld>
            <a:endParaRPr lang="zh-CN" altLang="en-US"/>
          </a:p>
        </p:txBody>
      </p:sp>
    </p:spTree>
    <p:extLst>
      <p:ext uri="{BB962C8B-B14F-4D97-AF65-F5344CB8AC3E}">
        <p14:creationId xmlns:p14="http://schemas.microsoft.com/office/powerpoint/2010/main" val="865354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a:t>
            </a:fld>
            <a:endParaRPr lang="zh-CN" altLang="en-US"/>
          </a:p>
        </p:txBody>
      </p:sp>
    </p:spTree>
    <p:extLst>
      <p:ext uri="{BB962C8B-B14F-4D97-AF65-F5344CB8AC3E}">
        <p14:creationId xmlns:p14="http://schemas.microsoft.com/office/powerpoint/2010/main" val="865354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a:t>
            </a:fld>
            <a:endParaRPr lang="zh-CN" altLang="en-US"/>
          </a:p>
        </p:txBody>
      </p:sp>
    </p:spTree>
    <p:extLst>
      <p:ext uri="{BB962C8B-B14F-4D97-AF65-F5344CB8AC3E}">
        <p14:creationId xmlns:p14="http://schemas.microsoft.com/office/powerpoint/2010/main" val="1880299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a:t>
            </a:fld>
            <a:endParaRPr lang="zh-CN" altLang="en-US"/>
          </a:p>
        </p:txBody>
      </p:sp>
    </p:spTree>
    <p:extLst>
      <p:ext uri="{BB962C8B-B14F-4D97-AF65-F5344CB8AC3E}">
        <p14:creationId xmlns:p14="http://schemas.microsoft.com/office/powerpoint/2010/main" val="3862633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9</a:t>
            </a:fld>
            <a:endParaRPr lang="zh-CN" altLang="en-US"/>
          </a:p>
        </p:txBody>
      </p:sp>
    </p:spTree>
    <p:extLst>
      <p:ext uri="{BB962C8B-B14F-4D97-AF65-F5344CB8AC3E}">
        <p14:creationId xmlns:p14="http://schemas.microsoft.com/office/powerpoint/2010/main" val="2867084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extLst>
      <p:ext uri="{BB962C8B-B14F-4D97-AF65-F5344CB8AC3E}">
        <p14:creationId xmlns:p14="http://schemas.microsoft.com/office/powerpoint/2010/main" val="1318781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12</a:t>
            </a:fld>
            <a:endParaRPr lang="zh-CN" altLang="en-US"/>
          </a:p>
        </p:txBody>
      </p:sp>
    </p:spTree>
    <p:extLst>
      <p:ext uri="{BB962C8B-B14F-4D97-AF65-F5344CB8AC3E}">
        <p14:creationId xmlns:p14="http://schemas.microsoft.com/office/powerpoint/2010/main" val="2216441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13</a:t>
            </a:fld>
            <a:endParaRPr lang="zh-CN" altLang="en-US"/>
          </a:p>
        </p:txBody>
      </p:sp>
    </p:spTree>
    <p:extLst>
      <p:ext uri="{BB962C8B-B14F-4D97-AF65-F5344CB8AC3E}">
        <p14:creationId xmlns:p14="http://schemas.microsoft.com/office/powerpoint/2010/main" val="4033288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14</a:t>
            </a:fld>
            <a:endParaRPr lang="zh-CN" altLang="en-US"/>
          </a:p>
        </p:txBody>
      </p:sp>
    </p:spTree>
    <p:extLst>
      <p:ext uri="{BB962C8B-B14F-4D97-AF65-F5344CB8AC3E}">
        <p14:creationId xmlns:p14="http://schemas.microsoft.com/office/powerpoint/2010/main" val="1796378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16</a:t>
            </a:fld>
            <a:endParaRPr lang="zh-CN" altLang="en-US"/>
          </a:p>
        </p:txBody>
      </p:sp>
    </p:spTree>
    <p:extLst>
      <p:ext uri="{BB962C8B-B14F-4D97-AF65-F5344CB8AC3E}">
        <p14:creationId xmlns:p14="http://schemas.microsoft.com/office/powerpoint/2010/main" val="3645915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17</a:t>
            </a:fld>
            <a:endParaRPr lang="zh-CN" altLang="en-US"/>
          </a:p>
        </p:txBody>
      </p:sp>
    </p:spTree>
    <p:extLst>
      <p:ext uri="{BB962C8B-B14F-4D97-AF65-F5344CB8AC3E}">
        <p14:creationId xmlns:p14="http://schemas.microsoft.com/office/powerpoint/2010/main" val="21514753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18</a:t>
            </a:fld>
            <a:endParaRPr lang="zh-CN" altLang="en-US"/>
          </a:p>
        </p:txBody>
      </p:sp>
    </p:spTree>
    <p:extLst>
      <p:ext uri="{BB962C8B-B14F-4D97-AF65-F5344CB8AC3E}">
        <p14:creationId xmlns:p14="http://schemas.microsoft.com/office/powerpoint/2010/main" val="3158609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extLst>
      <p:ext uri="{BB962C8B-B14F-4D97-AF65-F5344CB8AC3E}">
        <p14:creationId xmlns:p14="http://schemas.microsoft.com/office/powerpoint/2010/main" val="584274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extLst>
      <p:ext uri="{BB962C8B-B14F-4D97-AF65-F5344CB8AC3E}">
        <p14:creationId xmlns:p14="http://schemas.microsoft.com/office/powerpoint/2010/main" val="584274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extLst>
      <p:ext uri="{BB962C8B-B14F-4D97-AF65-F5344CB8AC3E}">
        <p14:creationId xmlns:p14="http://schemas.microsoft.com/office/powerpoint/2010/main" val="4132331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22</a:t>
            </a:fld>
            <a:endParaRPr lang="zh-CN" altLang="en-US"/>
          </a:p>
        </p:txBody>
      </p:sp>
    </p:spTree>
    <p:extLst>
      <p:ext uri="{BB962C8B-B14F-4D97-AF65-F5344CB8AC3E}">
        <p14:creationId xmlns:p14="http://schemas.microsoft.com/office/powerpoint/2010/main" val="38507138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23</a:t>
            </a:fld>
            <a:endParaRPr lang="zh-CN" altLang="en-US"/>
          </a:p>
        </p:txBody>
      </p:sp>
    </p:spTree>
    <p:extLst>
      <p:ext uri="{BB962C8B-B14F-4D97-AF65-F5344CB8AC3E}">
        <p14:creationId xmlns:p14="http://schemas.microsoft.com/office/powerpoint/2010/main" val="1021979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24</a:t>
            </a:fld>
            <a:endParaRPr lang="zh-CN" altLang="en-US"/>
          </a:p>
        </p:txBody>
      </p:sp>
    </p:spTree>
    <p:extLst>
      <p:ext uri="{BB962C8B-B14F-4D97-AF65-F5344CB8AC3E}">
        <p14:creationId xmlns:p14="http://schemas.microsoft.com/office/powerpoint/2010/main" val="28759686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20748261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extLst>
      <p:ext uri="{BB962C8B-B14F-4D97-AF65-F5344CB8AC3E}">
        <p14:creationId xmlns:p14="http://schemas.microsoft.com/office/powerpoint/2010/main" val="20748261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27</a:t>
            </a:fld>
            <a:endParaRPr lang="zh-CN" altLang="en-US"/>
          </a:p>
        </p:txBody>
      </p:sp>
    </p:spTree>
    <p:extLst>
      <p:ext uri="{BB962C8B-B14F-4D97-AF65-F5344CB8AC3E}">
        <p14:creationId xmlns:p14="http://schemas.microsoft.com/office/powerpoint/2010/main" val="20748261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extLst>
      <p:ext uri="{BB962C8B-B14F-4D97-AF65-F5344CB8AC3E}">
        <p14:creationId xmlns:p14="http://schemas.microsoft.com/office/powerpoint/2010/main" val="22137027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extLst>
      <p:ext uri="{BB962C8B-B14F-4D97-AF65-F5344CB8AC3E}">
        <p14:creationId xmlns:p14="http://schemas.microsoft.com/office/powerpoint/2010/main" val="35809638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extLst>
      <p:ext uri="{BB962C8B-B14F-4D97-AF65-F5344CB8AC3E}">
        <p14:creationId xmlns:p14="http://schemas.microsoft.com/office/powerpoint/2010/main" val="38764974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extLst>
      <p:ext uri="{BB962C8B-B14F-4D97-AF65-F5344CB8AC3E}">
        <p14:creationId xmlns:p14="http://schemas.microsoft.com/office/powerpoint/2010/main" val="29694918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extLst>
      <p:ext uri="{BB962C8B-B14F-4D97-AF65-F5344CB8AC3E}">
        <p14:creationId xmlns:p14="http://schemas.microsoft.com/office/powerpoint/2010/main" val="29694918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33</a:t>
            </a:fld>
            <a:endParaRPr lang="zh-CN" altLang="en-US"/>
          </a:p>
        </p:txBody>
      </p:sp>
    </p:spTree>
    <p:extLst>
      <p:ext uri="{BB962C8B-B14F-4D97-AF65-F5344CB8AC3E}">
        <p14:creationId xmlns:p14="http://schemas.microsoft.com/office/powerpoint/2010/main" val="8555283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34</a:t>
            </a:fld>
            <a:endParaRPr lang="zh-CN" altLang="en-US"/>
          </a:p>
        </p:txBody>
      </p:sp>
    </p:spTree>
    <p:extLst>
      <p:ext uri="{BB962C8B-B14F-4D97-AF65-F5344CB8AC3E}">
        <p14:creationId xmlns:p14="http://schemas.microsoft.com/office/powerpoint/2010/main" val="41538729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35</a:t>
            </a:fld>
            <a:endParaRPr lang="zh-CN" altLang="en-US"/>
          </a:p>
        </p:txBody>
      </p:sp>
    </p:spTree>
    <p:extLst>
      <p:ext uri="{BB962C8B-B14F-4D97-AF65-F5344CB8AC3E}">
        <p14:creationId xmlns:p14="http://schemas.microsoft.com/office/powerpoint/2010/main" val="15886832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36</a:t>
            </a:fld>
            <a:endParaRPr lang="zh-CN" altLang="en-US"/>
          </a:p>
        </p:txBody>
      </p:sp>
    </p:spTree>
    <p:extLst>
      <p:ext uri="{BB962C8B-B14F-4D97-AF65-F5344CB8AC3E}">
        <p14:creationId xmlns:p14="http://schemas.microsoft.com/office/powerpoint/2010/main" val="9948677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37</a:t>
            </a:fld>
            <a:endParaRPr lang="zh-CN" altLang="en-US"/>
          </a:p>
        </p:txBody>
      </p:sp>
    </p:spTree>
    <p:extLst>
      <p:ext uri="{BB962C8B-B14F-4D97-AF65-F5344CB8AC3E}">
        <p14:creationId xmlns:p14="http://schemas.microsoft.com/office/powerpoint/2010/main" val="2470267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38</a:t>
            </a:fld>
            <a:endParaRPr lang="zh-CN" altLang="en-US"/>
          </a:p>
        </p:txBody>
      </p:sp>
    </p:spTree>
    <p:extLst>
      <p:ext uri="{BB962C8B-B14F-4D97-AF65-F5344CB8AC3E}">
        <p14:creationId xmlns:p14="http://schemas.microsoft.com/office/powerpoint/2010/main" val="37631232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extLst>
      <p:ext uri="{BB962C8B-B14F-4D97-AF65-F5344CB8AC3E}">
        <p14:creationId xmlns:p14="http://schemas.microsoft.com/office/powerpoint/2010/main" val="16582728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extLst>
      <p:ext uri="{BB962C8B-B14F-4D97-AF65-F5344CB8AC3E}">
        <p14:creationId xmlns:p14="http://schemas.microsoft.com/office/powerpoint/2010/main" val="20308488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extLst>
      <p:ext uri="{BB962C8B-B14F-4D97-AF65-F5344CB8AC3E}">
        <p14:creationId xmlns:p14="http://schemas.microsoft.com/office/powerpoint/2010/main" val="15819040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extLst>
      <p:ext uri="{BB962C8B-B14F-4D97-AF65-F5344CB8AC3E}">
        <p14:creationId xmlns:p14="http://schemas.microsoft.com/office/powerpoint/2010/main" val="13195466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extLst>
      <p:ext uri="{BB962C8B-B14F-4D97-AF65-F5344CB8AC3E}">
        <p14:creationId xmlns:p14="http://schemas.microsoft.com/office/powerpoint/2010/main" val="30572144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44</a:t>
            </a:fld>
            <a:endParaRPr lang="zh-CN" altLang="en-US"/>
          </a:p>
        </p:txBody>
      </p:sp>
    </p:spTree>
    <p:extLst>
      <p:ext uri="{BB962C8B-B14F-4D97-AF65-F5344CB8AC3E}">
        <p14:creationId xmlns:p14="http://schemas.microsoft.com/office/powerpoint/2010/main" val="8401324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45</a:t>
            </a:fld>
            <a:endParaRPr lang="zh-CN" altLang="en-US"/>
          </a:p>
        </p:txBody>
      </p:sp>
    </p:spTree>
    <p:extLst>
      <p:ext uri="{BB962C8B-B14F-4D97-AF65-F5344CB8AC3E}">
        <p14:creationId xmlns:p14="http://schemas.microsoft.com/office/powerpoint/2010/main" val="17445492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46</a:t>
            </a:fld>
            <a:endParaRPr lang="zh-CN" altLang="en-US"/>
          </a:p>
        </p:txBody>
      </p:sp>
    </p:spTree>
    <p:extLst>
      <p:ext uri="{BB962C8B-B14F-4D97-AF65-F5344CB8AC3E}">
        <p14:creationId xmlns:p14="http://schemas.microsoft.com/office/powerpoint/2010/main" val="36332290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47</a:t>
            </a:fld>
            <a:endParaRPr lang="zh-CN" altLang="en-US"/>
          </a:p>
        </p:txBody>
      </p:sp>
    </p:spTree>
    <p:extLst>
      <p:ext uri="{BB962C8B-B14F-4D97-AF65-F5344CB8AC3E}">
        <p14:creationId xmlns:p14="http://schemas.microsoft.com/office/powerpoint/2010/main" val="40350535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48</a:t>
            </a:fld>
            <a:endParaRPr lang="zh-CN" altLang="en-US"/>
          </a:p>
        </p:txBody>
      </p:sp>
    </p:spTree>
    <p:extLst>
      <p:ext uri="{BB962C8B-B14F-4D97-AF65-F5344CB8AC3E}">
        <p14:creationId xmlns:p14="http://schemas.microsoft.com/office/powerpoint/2010/main" val="39041289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49</a:t>
            </a:fld>
            <a:endParaRPr lang="zh-CN" altLang="en-US"/>
          </a:p>
        </p:txBody>
      </p:sp>
    </p:spTree>
    <p:extLst>
      <p:ext uri="{BB962C8B-B14F-4D97-AF65-F5344CB8AC3E}">
        <p14:creationId xmlns:p14="http://schemas.microsoft.com/office/powerpoint/2010/main" val="15968287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50</a:t>
            </a:fld>
            <a:endParaRPr lang="zh-CN" altLang="en-US"/>
          </a:p>
        </p:txBody>
      </p:sp>
    </p:spTree>
    <p:extLst>
      <p:ext uri="{BB962C8B-B14F-4D97-AF65-F5344CB8AC3E}">
        <p14:creationId xmlns:p14="http://schemas.microsoft.com/office/powerpoint/2010/main" val="7660834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51</a:t>
            </a:fld>
            <a:endParaRPr lang="zh-CN" altLang="en-US"/>
          </a:p>
        </p:txBody>
      </p:sp>
    </p:spTree>
    <p:extLst>
      <p:ext uri="{BB962C8B-B14F-4D97-AF65-F5344CB8AC3E}">
        <p14:creationId xmlns:p14="http://schemas.microsoft.com/office/powerpoint/2010/main" val="33466047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52</a:t>
            </a:fld>
            <a:endParaRPr lang="zh-CN" altLang="en-US"/>
          </a:p>
        </p:txBody>
      </p:sp>
    </p:spTree>
    <p:extLst>
      <p:ext uri="{BB962C8B-B14F-4D97-AF65-F5344CB8AC3E}">
        <p14:creationId xmlns:p14="http://schemas.microsoft.com/office/powerpoint/2010/main" val="386693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53</a:t>
            </a:fld>
            <a:endParaRPr lang="zh-CN" altLang="en-US"/>
          </a:p>
        </p:txBody>
      </p:sp>
    </p:spTree>
    <p:extLst>
      <p:ext uri="{BB962C8B-B14F-4D97-AF65-F5344CB8AC3E}">
        <p14:creationId xmlns:p14="http://schemas.microsoft.com/office/powerpoint/2010/main" val="24757330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54</a:t>
            </a:fld>
            <a:endParaRPr lang="zh-CN" altLang="en-US"/>
          </a:p>
        </p:txBody>
      </p:sp>
    </p:spTree>
    <p:extLst>
      <p:ext uri="{BB962C8B-B14F-4D97-AF65-F5344CB8AC3E}">
        <p14:creationId xmlns:p14="http://schemas.microsoft.com/office/powerpoint/2010/main" val="14969220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55</a:t>
            </a:fld>
            <a:endParaRPr lang="zh-CN" altLang="en-US"/>
          </a:p>
        </p:txBody>
      </p:sp>
    </p:spTree>
    <p:extLst>
      <p:ext uri="{BB962C8B-B14F-4D97-AF65-F5344CB8AC3E}">
        <p14:creationId xmlns:p14="http://schemas.microsoft.com/office/powerpoint/2010/main" val="35216238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56</a:t>
            </a:fld>
            <a:endParaRPr lang="zh-CN" altLang="en-US"/>
          </a:p>
        </p:txBody>
      </p:sp>
    </p:spTree>
    <p:extLst>
      <p:ext uri="{BB962C8B-B14F-4D97-AF65-F5344CB8AC3E}">
        <p14:creationId xmlns:p14="http://schemas.microsoft.com/office/powerpoint/2010/main" val="17208343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57</a:t>
            </a:fld>
            <a:endParaRPr lang="zh-CN" altLang="en-US"/>
          </a:p>
        </p:txBody>
      </p:sp>
    </p:spTree>
    <p:extLst>
      <p:ext uri="{BB962C8B-B14F-4D97-AF65-F5344CB8AC3E}">
        <p14:creationId xmlns:p14="http://schemas.microsoft.com/office/powerpoint/2010/main" val="236102336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58</a:t>
            </a:fld>
            <a:endParaRPr lang="zh-CN" altLang="en-US"/>
          </a:p>
        </p:txBody>
      </p:sp>
    </p:spTree>
    <p:extLst>
      <p:ext uri="{BB962C8B-B14F-4D97-AF65-F5344CB8AC3E}">
        <p14:creationId xmlns:p14="http://schemas.microsoft.com/office/powerpoint/2010/main" val="42212682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59</a:t>
            </a:fld>
            <a:endParaRPr lang="zh-CN" altLang="en-US"/>
          </a:p>
        </p:txBody>
      </p:sp>
    </p:spTree>
    <p:extLst>
      <p:ext uri="{BB962C8B-B14F-4D97-AF65-F5344CB8AC3E}">
        <p14:creationId xmlns:p14="http://schemas.microsoft.com/office/powerpoint/2010/main" val="8586694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60</a:t>
            </a:fld>
            <a:endParaRPr lang="zh-CN" altLang="en-US"/>
          </a:p>
        </p:txBody>
      </p:sp>
    </p:spTree>
    <p:extLst>
      <p:ext uri="{BB962C8B-B14F-4D97-AF65-F5344CB8AC3E}">
        <p14:creationId xmlns:p14="http://schemas.microsoft.com/office/powerpoint/2010/main" val="20846592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61</a:t>
            </a:fld>
            <a:endParaRPr lang="zh-CN" altLang="en-US"/>
          </a:p>
        </p:txBody>
      </p:sp>
    </p:spTree>
    <p:extLst>
      <p:ext uri="{BB962C8B-B14F-4D97-AF65-F5344CB8AC3E}">
        <p14:creationId xmlns:p14="http://schemas.microsoft.com/office/powerpoint/2010/main" val="8838671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62</a:t>
            </a:fld>
            <a:endParaRPr lang="zh-CN" altLang="en-US"/>
          </a:p>
        </p:txBody>
      </p:sp>
    </p:spTree>
    <p:extLst>
      <p:ext uri="{BB962C8B-B14F-4D97-AF65-F5344CB8AC3E}">
        <p14:creationId xmlns:p14="http://schemas.microsoft.com/office/powerpoint/2010/main" val="14058877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63</a:t>
            </a:fld>
            <a:endParaRPr lang="zh-CN" altLang="en-US"/>
          </a:p>
        </p:txBody>
      </p:sp>
    </p:spTree>
    <p:extLst>
      <p:ext uri="{BB962C8B-B14F-4D97-AF65-F5344CB8AC3E}">
        <p14:creationId xmlns:p14="http://schemas.microsoft.com/office/powerpoint/2010/main" val="40572836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64</a:t>
            </a:fld>
            <a:endParaRPr lang="zh-CN" altLang="en-US"/>
          </a:p>
        </p:txBody>
      </p:sp>
    </p:spTree>
    <p:extLst>
      <p:ext uri="{BB962C8B-B14F-4D97-AF65-F5344CB8AC3E}">
        <p14:creationId xmlns:p14="http://schemas.microsoft.com/office/powerpoint/2010/main" val="11706334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65</a:t>
            </a:fld>
            <a:endParaRPr lang="zh-CN" altLang="en-US"/>
          </a:p>
        </p:txBody>
      </p:sp>
    </p:spTree>
    <p:extLst>
      <p:ext uri="{BB962C8B-B14F-4D97-AF65-F5344CB8AC3E}">
        <p14:creationId xmlns:p14="http://schemas.microsoft.com/office/powerpoint/2010/main" val="284715941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66</a:t>
            </a:fld>
            <a:endParaRPr lang="zh-CN" altLang="en-US"/>
          </a:p>
        </p:txBody>
      </p:sp>
    </p:spTree>
    <p:extLst>
      <p:ext uri="{BB962C8B-B14F-4D97-AF65-F5344CB8AC3E}">
        <p14:creationId xmlns:p14="http://schemas.microsoft.com/office/powerpoint/2010/main" val="28106542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67</a:t>
            </a:fld>
            <a:endParaRPr lang="zh-CN" altLang="en-US"/>
          </a:p>
        </p:txBody>
      </p:sp>
    </p:spTree>
    <p:extLst>
      <p:ext uri="{BB962C8B-B14F-4D97-AF65-F5344CB8AC3E}">
        <p14:creationId xmlns:p14="http://schemas.microsoft.com/office/powerpoint/2010/main" val="1582411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68</a:t>
            </a:fld>
            <a:endParaRPr lang="zh-CN" altLang="en-US"/>
          </a:p>
        </p:txBody>
      </p:sp>
    </p:spTree>
    <p:extLst>
      <p:ext uri="{BB962C8B-B14F-4D97-AF65-F5344CB8AC3E}">
        <p14:creationId xmlns:p14="http://schemas.microsoft.com/office/powerpoint/2010/main" val="12464507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69</a:t>
            </a:fld>
            <a:endParaRPr lang="zh-CN" altLang="en-US"/>
          </a:p>
        </p:txBody>
      </p:sp>
    </p:spTree>
    <p:extLst>
      <p:ext uri="{BB962C8B-B14F-4D97-AF65-F5344CB8AC3E}">
        <p14:creationId xmlns:p14="http://schemas.microsoft.com/office/powerpoint/2010/main" val="19667405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70</a:t>
            </a:fld>
            <a:endParaRPr lang="zh-CN" altLang="en-US"/>
          </a:p>
        </p:txBody>
      </p:sp>
    </p:spTree>
    <p:extLst>
      <p:ext uri="{BB962C8B-B14F-4D97-AF65-F5344CB8AC3E}">
        <p14:creationId xmlns:p14="http://schemas.microsoft.com/office/powerpoint/2010/main" val="27542132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71</a:t>
            </a:fld>
            <a:endParaRPr lang="zh-CN" altLang="en-US"/>
          </a:p>
        </p:txBody>
      </p:sp>
    </p:spTree>
    <p:extLst>
      <p:ext uri="{BB962C8B-B14F-4D97-AF65-F5344CB8AC3E}">
        <p14:creationId xmlns:p14="http://schemas.microsoft.com/office/powerpoint/2010/main" val="36972143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72</a:t>
            </a:fld>
            <a:endParaRPr lang="zh-CN" altLang="en-US"/>
          </a:p>
        </p:txBody>
      </p:sp>
    </p:spTree>
    <p:extLst>
      <p:ext uri="{BB962C8B-B14F-4D97-AF65-F5344CB8AC3E}">
        <p14:creationId xmlns:p14="http://schemas.microsoft.com/office/powerpoint/2010/main" val="279417344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73</a:t>
            </a:fld>
            <a:endParaRPr lang="zh-CN" altLang="en-US"/>
          </a:p>
        </p:txBody>
      </p:sp>
    </p:spTree>
    <p:extLst>
      <p:ext uri="{BB962C8B-B14F-4D97-AF65-F5344CB8AC3E}">
        <p14:creationId xmlns:p14="http://schemas.microsoft.com/office/powerpoint/2010/main" val="247619560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74</a:t>
            </a:fld>
            <a:endParaRPr lang="zh-CN" altLang="en-US"/>
          </a:p>
        </p:txBody>
      </p:sp>
    </p:spTree>
    <p:extLst>
      <p:ext uri="{BB962C8B-B14F-4D97-AF65-F5344CB8AC3E}">
        <p14:creationId xmlns:p14="http://schemas.microsoft.com/office/powerpoint/2010/main" val="40620734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75</a:t>
            </a:fld>
            <a:endParaRPr lang="zh-CN" altLang="en-US"/>
          </a:p>
        </p:txBody>
      </p:sp>
    </p:spTree>
    <p:extLst>
      <p:ext uri="{BB962C8B-B14F-4D97-AF65-F5344CB8AC3E}">
        <p14:creationId xmlns:p14="http://schemas.microsoft.com/office/powerpoint/2010/main" val="403974381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76</a:t>
            </a:fld>
            <a:endParaRPr lang="zh-CN" altLang="en-US"/>
          </a:p>
        </p:txBody>
      </p:sp>
    </p:spTree>
    <p:extLst>
      <p:ext uri="{BB962C8B-B14F-4D97-AF65-F5344CB8AC3E}">
        <p14:creationId xmlns:p14="http://schemas.microsoft.com/office/powerpoint/2010/main" val="3195496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649D74-6738-4F1C-8932-8E1193EF7FE3}"/>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A817CF1-F71F-4C32-A590-59DE7378AA7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BF3B45C-8E0C-44FA-8043-60671A0FF37C}"/>
              </a:ext>
            </a:extLst>
          </p:cNvPr>
          <p:cNvSpPr>
            <a:spLocks noGrp="1"/>
          </p:cNvSpPr>
          <p:nvPr>
            <p:ph type="dt" sz="half" idx="10"/>
          </p:nvPr>
        </p:nvSpPr>
        <p:spPr/>
        <p:txBody>
          <a:bodyPr/>
          <a:lstStyle/>
          <a:p>
            <a:fld id="{9DAC74B1-E080-4F77-8251-105670F2A9F6}" type="datetime1">
              <a:rPr lang="zh-CN" altLang="en-US" smtClean="0"/>
              <a:t>2026/6/4</a:t>
            </a:fld>
            <a:endParaRPr lang="zh-CN" altLang="en-US"/>
          </a:p>
        </p:txBody>
      </p:sp>
      <p:sp>
        <p:nvSpPr>
          <p:cNvPr id="5" name="页脚占位符 4">
            <a:extLst>
              <a:ext uri="{FF2B5EF4-FFF2-40B4-BE49-F238E27FC236}">
                <a16:creationId xmlns:a16="http://schemas.microsoft.com/office/drawing/2014/main" id="{6B7D1055-873B-4D79-9C9F-AE403D7120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D6FCD8F-3F6F-4323-9C9E-B8CC10965632}"/>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2252694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F7D531-DE5D-4AF9-A953-4125DE9F6CB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FBE332-96E4-4439-A9E3-8D5EBF0BC1C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23EB24B-BB1F-4CE6-BFD5-28F5C4C27CDE}"/>
              </a:ext>
            </a:extLst>
          </p:cNvPr>
          <p:cNvSpPr>
            <a:spLocks noGrp="1"/>
          </p:cNvSpPr>
          <p:nvPr>
            <p:ph type="dt" sz="half" idx="10"/>
          </p:nvPr>
        </p:nvSpPr>
        <p:spPr/>
        <p:txBody>
          <a:bodyPr/>
          <a:lstStyle/>
          <a:p>
            <a:fld id="{0E0C2289-4D73-4D73-B46F-0979A1FE078D}" type="datetime1">
              <a:rPr lang="zh-CN" altLang="en-US" smtClean="0"/>
              <a:t>2026/6/4</a:t>
            </a:fld>
            <a:endParaRPr lang="zh-CN" altLang="en-US"/>
          </a:p>
        </p:txBody>
      </p:sp>
      <p:sp>
        <p:nvSpPr>
          <p:cNvPr id="5" name="页脚占位符 4">
            <a:extLst>
              <a:ext uri="{FF2B5EF4-FFF2-40B4-BE49-F238E27FC236}">
                <a16:creationId xmlns:a16="http://schemas.microsoft.com/office/drawing/2014/main" id="{178B3EAB-8981-4C9A-BFCC-385A67829D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4149561-BF87-4D6B-BAAC-5FBE3115BFF7}"/>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389360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879E8-A428-4F5A-9FF9-8E41C9ECEE95}"/>
              </a:ext>
            </a:extLst>
          </p:cNvPr>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5335ABB-BD9D-4525-AEA8-FA2A0A54746E}"/>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C482501-1D15-4408-92B4-53C1D21B14E8}"/>
              </a:ext>
            </a:extLst>
          </p:cNvPr>
          <p:cNvSpPr>
            <a:spLocks noGrp="1"/>
          </p:cNvSpPr>
          <p:nvPr>
            <p:ph type="dt" sz="half" idx="10"/>
          </p:nvPr>
        </p:nvSpPr>
        <p:spPr/>
        <p:txBody>
          <a:bodyPr/>
          <a:lstStyle/>
          <a:p>
            <a:fld id="{1409A136-D1B8-46B7-AFA6-B1D763D12F4A}" type="datetime1">
              <a:rPr lang="zh-CN" altLang="en-US" smtClean="0"/>
              <a:t>2026/6/4</a:t>
            </a:fld>
            <a:endParaRPr lang="zh-CN" altLang="en-US"/>
          </a:p>
        </p:txBody>
      </p:sp>
      <p:sp>
        <p:nvSpPr>
          <p:cNvPr id="5" name="页脚占位符 4">
            <a:extLst>
              <a:ext uri="{FF2B5EF4-FFF2-40B4-BE49-F238E27FC236}">
                <a16:creationId xmlns:a16="http://schemas.microsoft.com/office/drawing/2014/main" id="{DE16F92F-3403-4652-8FE5-0B19FDCDA50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379A6E-AE8A-4767-A883-9B2CC58ADB29}"/>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323805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A78D81-6BA1-4278-A649-76C2A5AFAF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BF9A0F6-9B0D-4BC8-B0C6-027DF92027C3}"/>
              </a:ext>
            </a:extLst>
          </p:cNvPr>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3BE0C00-B8CF-4BDB-9AD3-201C0CB82AEF}"/>
              </a:ext>
            </a:extLst>
          </p:cNvPr>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1D883D1-8D7C-40AE-9853-3734C070A948}"/>
              </a:ext>
            </a:extLst>
          </p:cNvPr>
          <p:cNvSpPr>
            <a:spLocks noGrp="1"/>
          </p:cNvSpPr>
          <p:nvPr>
            <p:ph type="dt" sz="half" idx="10"/>
          </p:nvPr>
        </p:nvSpPr>
        <p:spPr/>
        <p:txBody>
          <a:bodyPr/>
          <a:lstStyle/>
          <a:p>
            <a:fld id="{789F7B57-EC1F-4A91-B2C1-8E557425A52D}" type="datetime1">
              <a:rPr lang="zh-CN" altLang="en-US" smtClean="0"/>
              <a:t>2026/6/4</a:t>
            </a:fld>
            <a:endParaRPr lang="zh-CN" altLang="en-US"/>
          </a:p>
        </p:txBody>
      </p:sp>
      <p:sp>
        <p:nvSpPr>
          <p:cNvPr id="6" name="页脚占位符 5">
            <a:extLst>
              <a:ext uri="{FF2B5EF4-FFF2-40B4-BE49-F238E27FC236}">
                <a16:creationId xmlns:a16="http://schemas.microsoft.com/office/drawing/2014/main" id="{B4F48F3B-6D64-4FD8-8CED-0FD50449F54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63175CC-DD18-4876-8285-3399AD38539D}"/>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273442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431285-6C78-4B5D-BDFE-6F3A81621784}"/>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DB22852-5D9B-4575-B132-E6E8B733A9F0}"/>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0D59C1B-3039-47DE-A09D-62005511B3FC}"/>
              </a:ext>
            </a:extLst>
          </p:cNvPr>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9287839-D576-4BAC-A660-6F785B8A79A4}"/>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5B3417B-E4B8-4984-8F6B-9165B1C26E28}"/>
              </a:ext>
            </a:extLst>
          </p:cNvPr>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7673D2A-6FC7-4E94-AA24-CC6A94F36F79}"/>
              </a:ext>
            </a:extLst>
          </p:cNvPr>
          <p:cNvSpPr>
            <a:spLocks noGrp="1"/>
          </p:cNvSpPr>
          <p:nvPr>
            <p:ph type="dt" sz="half" idx="10"/>
          </p:nvPr>
        </p:nvSpPr>
        <p:spPr/>
        <p:txBody>
          <a:bodyPr/>
          <a:lstStyle/>
          <a:p>
            <a:fld id="{46C03BF0-55B5-49C1-93B6-0134F47B99E0}" type="datetime1">
              <a:rPr lang="zh-CN" altLang="en-US" smtClean="0"/>
              <a:t>2026/6/4</a:t>
            </a:fld>
            <a:endParaRPr lang="zh-CN" altLang="en-US"/>
          </a:p>
        </p:txBody>
      </p:sp>
      <p:sp>
        <p:nvSpPr>
          <p:cNvPr id="8" name="页脚占位符 7">
            <a:extLst>
              <a:ext uri="{FF2B5EF4-FFF2-40B4-BE49-F238E27FC236}">
                <a16:creationId xmlns:a16="http://schemas.microsoft.com/office/drawing/2014/main" id="{514DB515-9BD4-4E41-9557-B16E6B9422E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E85A1CC-A603-4864-8447-11A337F089EB}"/>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4217253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131C4E-EFCA-44A0-AD56-7E8CBAC76F9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9DF08FA-47FE-42CB-85BC-15BC6334956C}"/>
              </a:ext>
            </a:extLst>
          </p:cNvPr>
          <p:cNvSpPr>
            <a:spLocks noGrp="1"/>
          </p:cNvSpPr>
          <p:nvPr>
            <p:ph type="dt" sz="half" idx="10"/>
          </p:nvPr>
        </p:nvSpPr>
        <p:spPr/>
        <p:txBody>
          <a:bodyPr/>
          <a:lstStyle/>
          <a:p>
            <a:fld id="{9A508A4C-F588-4670-9E82-4BBB5BB04F4A}" type="datetime1">
              <a:rPr lang="zh-CN" altLang="en-US" smtClean="0"/>
              <a:t>2026/6/4</a:t>
            </a:fld>
            <a:endParaRPr lang="zh-CN" altLang="en-US"/>
          </a:p>
        </p:txBody>
      </p:sp>
      <p:sp>
        <p:nvSpPr>
          <p:cNvPr id="4" name="页脚占位符 3">
            <a:extLst>
              <a:ext uri="{FF2B5EF4-FFF2-40B4-BE49-F238E27FC236}">
                <a16:creationId xmlns:a16="http://schemas.microsoft.com/office/drawing/2014/main" id="{0C7771AC-4B72-4E5D-BB2D-D22A4AEA1A2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F32A0A5-418B-4C30-A9AE-E89C7C1F274E}"/>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1079279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60CF27B-A98D-414E-ABF8-1DE4BE261A67}"/>
              </a:ext>
            </a:extLst>
          </p:cNvPr>
          <p:cNvSpPr>
            <a:spLocks noGrp="1"/>
          </p:cNvSpPr>
          <p:nvPr>
            <p:ph type="dt" sz="half" idx="10"/>
          </p:nvPr>
        </p:nvSpPr>
        <p:spPr/>
        <p:txBody>
          <a:bodyPr/>
          <a:lstStyle/>
          <a:p>
            <a:fld id="{6D234B33-90F6-42A1-870A-56AF08E44ABE}" type="datetime1">
              <a:rPr lang="zh-CN" altLang="en-US" smtClean="0"/>
              <a:t>2026/6/4</a:t>
            </a:fld>
            <a:endParaRPr lang="zh-CN" altLang="en-US"/>
          </a:p>
        </p:txBody>
      </p:sp>
      <p:sp>
        <p:nvSpPr>
          <p:cNvPr id="3" name="页脚占位符 2">
            <a:extLst>
              <a:ext uri="{FF2B5EF4-FFF2-40B4-BE49-F238E27FC236}">
                <a16:creationId xmlns:a16="http://schemas.microsoft.com/office/drawing/2014/main" id="{FCE41876-EB16-4C89-8E20-DE70BFFDE99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413FBAC-9E82-4337-9988-7D456A693C07}"/>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62375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F4155-1B88-44F5-B25A-42C84BB00F96}"/>
              </a:ext>
            </a:extLst>
          </p:cNvPr>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E71474D-6C64-426E-BA42-4951CB9F9AEF}"/>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3C4070B-62ED-48FF-99A2-CB4B87654B4A}"/>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329708C-6A72-4F73-91EB-155430165801}"/>
              </a:ext>
            </a:extLst>
          </p:cNvPr>
          <p:cNvSpPr>
            <a:spLocks noGrp="1"/>
          </p:cNvSpPr>
          <p:nvPr>
            <p:ph type="dt" sz="half" idx="10"/>
          </p:nvPr>
        </p:nvSpPr>
        <p:spPr/>
        <p:txBody>
          <a:bodyPr/>
          <a:lstStyle/>
          <a:p>
            <a:fld id="{EB5A1ACB-E245-4B98-A339-BC036706D073}" type="datetime1">
              <a:rPr lang="zh-CN" altLang="en-US" smtClean="0"/>
              <a:t>2026/6/4</a:t>
            </a:fld>
            <a:endParaRPr lang="zh-CN" altLang="en-US"/>
          </a:p>
        </p:txBody>
      </p:sp>
      <p:sp>
        <p:nvSpPr>
          <p:cNvPr id="6" name="页脚占位符 5">
            <a:extLst>
              <a:ext uri="{FF2B5EF4-FFF2-40B4-BE49-F238E27FC236}">
                <a16:creationId xmlns:a16="http://schemas.microsoft.com/office/drawing/2014/main" id="{A2D77275-C165-43CF-B1B6-3F79D8B567D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FBC0A2-D101-4E0A-A569-5DC0823DE096}"/>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3845518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C8C9B6-737A-4278-9473-C4755AB46648}"/>
              </a:ext>
            </a:extLst>
          </p:cNvPr>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7B840A6-0DD1-46E4-B1A5-0190261C951B}"/>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591FC63-25D5-44F5-B0E4-E58BE4BBAC49}"/>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621C4DD-7D32-4305-BCF5-0A465CCFCCDA}"/>
              </a:ext>
            </a:extLst>
          </p:cNvPr>
          <p:cNvSpPr>
            <a:spLocks noGrp="1"/>
          </p:cNvSpPr>
          <p:nvPr>
            <p:ph type="dt" sz="half" idx="10"/>
          </p:nvPr>
        </p:nvSpPr>
        <p:spPr/>
        <p:txBody>
          <a:bodyPr/>
          <a:lstStyle/>
          <a:p>
            <a:fld id="{59F2B995-CFE6-4B21-8A89-16934AE0A2A1}" type="datetime1">
              <a:rPr lang="zh-CN" altLang="en-US" smtClean="0"/>
              <a:t>2026/6/4</a:t>
            </a:fld>
            <a:endParaRPr lang="zh-CN" altLang="en-US"/>
          </a:p>
        </p:txBody>
      </p:sp>
      <p:sp>
        <p:nvSpPr>
          <p:cNvPr id="6" name="页脚占位符 5">
            <a:extLst>
              <a:ext uri="{FF2B5EF4-FFF2-40B4-BE49-F238E27FC236}">
                <a16:creationId xmlns:a16="http://schemas.microsoft.com/office/drawing/2014/main" id="{92FCBD4A-16B4-423A-9556-93B1863173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46C44EC-4FDC-47DA-BE33-B22BC318BD20}"/>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2113629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3E3710-3032-4814-BCA5-32A79C7BD3E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8D3E49-4D45-4062-90B3-148139ED473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B5BE1F0-B448-47C2-BD98-314799D8C53B}"/>
              </a:ext>
            </a:extLst>
          </p:cNvPr>
          <p:cNvSpPr>
            <a:spLocks noGrp="1"/>
          </p:cNvSpPr>
          <p:nvPr>
            <p:ph type="dt" sz="half" idx="10"/>
          </p:nvPr>
        </p:nvSpPr>
        <p:spPr/>
        <p:txBody>
          <a:bodyPr/>
          <a:lstStyle/>
          <a:p>
            <a:fld id="{088DF436-D2A3-47AD-ACA3-1C2330E846F3}" type="datetime1">
              <a:rPr lang="zh-CN" altLang="en-US" smtClean="0"/>
              <a:t>2026/6/4</a:t>
            </a:fld>
            <a:endParaRPr lang="zh-CN" altLang="en-US"/>
          </a:p>
        </p:txBody>
      </p:sp>
      <p:sp>
        <p:nvSpPr>
          <p:cNvPr id="5" name="页脚占位符 4">
            <a:extLst>
              <a:ext uri="{FF2B5EF4-FFF2-40B4-BE49-F238E27FC236}">
                <a16:creationId xmlns:a16="http://schemas.microsoft.com/office/drawing/2014/main" id="{DD0EBEF9-7BDF-44CD-B83A-66B0787FA2E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046CEB-32AD-45EC-A108-4E96A236B3FE}"/>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1586707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B4CC3A0-EB6D-4D7F-A0B3-7432E6BDD395}"/>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9B430BC-E65B-4BBA-8BFD-6BFEA6F4982E}"/>
              </a:ext>
            </a:extLst>
          </p:cNvPr>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C9798B-247A-41D4-A7E1-0B5A288FF144}"/>
              </a:ext>
            </a:extLst>
          </p:cNvPr>
          <p:cNvSpPr>
            <a:spLocks noGrp="1"/>
          </p:cNvSpPr>
          <p:nvPr>
            <p:ph type="dt" sz="half" idx="10"/>
          </p:nvPr>
        </p:nvSpPr>
        <p:spPr/>
        <p:txBody>
          <a:bodyPr/>
          <a:lstStyle/>
          <a:p>
            <a:fld id="{C085567E-EDB8-4A21-9775-464683AC4618}" type="datetime1">
              <a:rPr lang="zh-CN" altLang="en-US" smtClean="0"/>
              <a:t>2026/6/4</a:t>
            </a:fld>
            <a:endParaRPr lang="zh-CN" altLang="en-US"/>
          </a:p>
        </p:txBody>
      </p:sp>
      <p:sp>
        <p:nvSpPr>
          <p:cNvPr id="5" name="页脚占位符 4">
            <a:extLst>
              <a:ext uri="{FF2B5EF4-FFF2-40B4-BE49-F238E27FC236}">
                <a16:creationId xmlns:a16="http://schemas.microsoft.com/office/drawing/2014/main" id="{7E366AF3-4F10-4F5C-9CBF-C8529B848D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F3E87D1-AF47-4972-85F6-206BB4C8DAA7}"/>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1649046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F112B46-8BF9-4DD0-BD35-CBEF4AFDBE9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8471E3B-351A-45CB-B1B2-013EF6843A7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5BDC43E-B6D1-49BC-A940-B6BD0E604DE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9FA910-85AC-41CA-AB36-A4A4965766A3}" type="datetime1">
              <a:rPr lang="zh-CN" altLang="en-US" smtClean="0"/>
              <a:t>2026/6/4</a:t>
            </a:fld>
            <a:endParaRPr lang="zh-CN" altLang="en-US"/>
          </a:p>
        </p:txBody>
      </p:sp>
      <p:sp>
        <p:nvSpPr>
          <p:cNvPr id="5" name="页脚占位符 4">
            <a:extLst>
              <a:ext uri="{FF2B5EF4-FFF2-40B4-BE49-F238E27FC236}">
                <a16:creationId xmlns:a16="http://schemas.microsoft.com/office/drawing/2014/main" id="{866C3AF0-A1CA-4FA5-8E45-090D1FB29D0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9C1FA5B-C06B-4669-BBBE-83F2CF0799D2}"/>
              </a:ext>
            </a:extLst>
          </p:cNvPr>
          <p:cNvSpPr>
            <a:spLocks noGrp="1"/>
          </p:cNvSpPr>
          <p:nvPr>
            <p:ph type="sldNum" sz="quarter" idx="4"/>
          </p:nvPr>
        </p:nvSpPr>
        <p:spPr>
          <a:xfrm>
            <a:off x="8515349" y="6356351"/>
            <a:ext cx="461177" cy="434063"/>
          </a:xfrm>
          <a:prstGeom prst="rect">
            <a:avLst/>
          </a:prstGeom>
        </p:spPr>
        <p:txBody>
          <a:bodyPr vert="horz" lIns="91440" tIns="45720" rIns="91440" bIns="45720" rtlCol="0" anchor="ctr"/>
          <a:lstStyle>
            <a:lvl1pPr algn="r">
              <a:defRPr sz="1200">
                <a:solidFill>
                  <a:schemeClr val="tx1">
                    <a:tint val="75000"/>
                  </a:schemeClr>
                </a:solidFill>
                <a:latin typeface="Palatino Linotype" panose="02040502050505030304" pitchFamily="18" charset="0"/>
              </a:defRPr>
            </a:lvl1pPr>
          </a:lstStyle>
          <a:p>
            <a:fld id="{DC11BA4E-7967-4102-867C-9D230A2E6791}" type="slidenum">
              <a:rPr lang="zh-CN" altLang="en-US" smtClean="0"/>
              <a:pPr/>
              <a:t>‹#›</a:t>
            </a:fld>
            <a:endParaRPr lang="zh-CN" altLang="en-US"/>
          </a:p>
        </p:txBody>
      </p:sp>
    </p:spTree>
    <p:extLst>
      <p:ext uri="{BB962C8B-B14F-4D97-AF65-F5344CB8AC3E}">
        <p14:creationId xmlns:p14="http://schemas.microsoft.com/office/powerpoint/2010/main" val="1522345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77.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slide" Target="slide11.xml"/><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5.xml"/><Relationship Id="rId1" Type="http://schemas.openxmlformats.org/officeDocument/2006/relationships/slideLayout" Target="../slideLayouts/slideLayout2.xml"/><Relationship Id="rId4" Type="http://schemas.openxmlformats.org/officeDocument/2006/relationships/slide" Target="slide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slide" Target="slide9.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3.xml"/><Relationship Id="rId1" Type="http://schemas.openxmlformats.org/officeDocument/2006/relationships/slideLayout" Target="../slideLayouts/slideLayout2.xml"/><Relationship Id="rId5" Type="http://schemas.openxmlformats.org/officeDocument/2006/relationships/slide" Target="slide14.xml"/><Relationship Id="rId4" Type="http://schemas.openxmlformats.org/officeDocument/2006/relationships/slide" Target="slide1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6.bin"/><Relationship Id="rId4" Type="http://schemas.openxmlformats.org/officeDocument/2006/relationships/image" Target="../media/image6.wmf"/></Relationships>
</file>

<file path=ppt/slides/_rels/slide14.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8.emf"/></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6.xml"/><Relationship Id="rId1" Type="http://schemas.openxmlformats.org/officeDocument/2006/relationships/slideLayout" Target="../slideLayouts/slideLayout2.xml"/><Relationship Id="rId4" Type="http://schemas.openxmlformats.org/officeDocument/2006/relationships/slide" Target="slide67.xml"/></Relationships>
</file>

<file path=ppt/slides/_rels/slide16.xml.rels><?xml version="1.0" encoding="UTF-8" standalone="yes"?>
<Relationships xmlns="http://schemas.openxmlformats.org/package/2006/relationships"><Relationship Id="rId8" Type="http://schemas.openxmlformats.org/officeDocument/2006/relationships/slide" Target="slide66.xml"/><Relationship Id="rId3" Type="http://schemas.openxmlformats.org/officeDocument/2006/relationships/slide" Target="slide17.xml"/><Relationship Id="rId7" Type="http://schemas.openxmlformats.org/officeDocument/2006/relationships/slide" Target="slide6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slide" Target="slide60.xml"/><Relationship Id="rId5" Type="http://schemas.openxmlformats.org/officeDocument/2006/relationships/slide" Target="slide54.xml"/><Relationship Id="rId4" Type="http://schemas.openxmlformats.org/officeDocument/2006/relationships/slide" Target="slide44.xml"/></Relationships>
</file>

<file path=ppt/slides/_rels/slide17.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slide" Target="slide18.xml"/><Relationship Id="rId7" Type="http://schemas.openxmlformats.org/officeDocument/2006/relationships/slide" Target="slide28.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slide" Target="slide25.xml"/><Relationship Id="rId5" Type="http://schemas.openxmlformats.org/officeDocument/2006/relationships/slide" Target="slide24.xml"/><Relationship Id="rId4" Type="http://schemas.openxmlformats.org/officeDocument/2006/relationships/slide" Target="slide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11.bin"/><Relationship Id="rId4" Type="http://schemas.openxmlformats.org/officeDocument/2006/relationships/image" Target="../media/image11.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oleObject" Target="../embeddings/oleObject14.bin"/><Relationship Id="rId4" Type="http://schemas.openxmlformats.org/officeDocument/2006/relationships/image" Target="../media/image14.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oleObject" Target="../embeddings/oleObject16.bin"/><Relationship Id="rId4" Type="http://schemas.openxmlformats.org/officeDocument/2006/relationships/image" Target="../media/image16.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wmf"/></Relationships>
</file>

<file path=ppt/slides/_rels/slide2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oleObject" Target="../embeddings/oleObject18.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19.bin"/><Relationship Id="rId4" Type="http://schemas.openxmlformats.org/officeDocument/2006/relationships/image" Target="../media/image24.wmf"/></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oleObject" Target="../embeddings/oleObject20.bin"/><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21.bin"/><Relationship Id="rId4" Type="http://schemas.openxmlformats.org/officeDocument/2006/relationships/image" Target="../media/image27.wmf"/></Relationships>
</file>

<file path=ppt/slides/_rels/slide39.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oleObject" Target="../embeddings/oleObject23.bin"/><Relationship Id="rId4" Type="http://schemas.openxmlformats.org/officeDocument/2006/relationships/image" Target="../media/image29.wmf"/></Relationships>
</file>

<file path=ppt/slides/_rels/slide40.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3.wmf"/><Relationship Id="rId5" Type="http://schemas.openxmlformats.org/officeDocument/2006/relationships/oleObject" Target="../embeddings/oleObject26.bin"/><Relationship Id="rId4" Type="http://schemas.openxmlformats.org/officeDocument/2006/relationships/image" Target="../media/image32.wmf"/></Relationships>
</file>

<file path=ppt/slides/_rels/slide41.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6.emf"/><Relationship Id="rId5" Type="http://schemas.openxmlformats.org/officeDocument/2006/relationships/oleObject" Target="../embeddings/oleObject29.bin"/><Relationship Id="rId4" Type="http://schemas.openxmlformats.org/officeDocument/2006/relationships/image" Target="../media/image35.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5.wmf"/><Relationship Id="rId5" Type="http://schemas.openxmlformats.org/officeDocument/2006/relationships/oleObject" Target="../embeddings/oleObject28.bin"/><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9.emf"/><Relationship Id="rId5" Type="http://schemas.openxmlformats.org/officeDocument/2006/relationships/oleObject" Target="../embeddings/oleObject32.bin"/><Relationship Id="rId4" Type="http://schemas.openxmlformats.org/officeDocument/2006/relationships/image" Target="../media/image38.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oleObject" Target="../embeddings/oleObject33.bin"/><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7" Type="http://schemas.openxmlformats.org/officeDocument/2006/relationships/image" Target="../media/image52.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34.bin"/><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4.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57.png"/><Relationship Id="rId4" Type="http://schemas.openxmlformats.org/officeDocument/2006/relationships/image" Target="../media/image55.emf"/></Relationships>
</file>

<file path=ppt/slides/_rels/slide54.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slide" Target="slide59.xml"/><Relationship Id="rId5" Type="http://schemas.openxmlformats.org/officeDocument/2006/relationships/slide" Target="slide58.xml"/><Relationship Id="rId4" Type="http://schemas.openxmlformats.org/officeDocument/2006/relationships/slide" Target="slide56.xml"/></Relationships>
</file>

<file path=ppt/slides/_rels/slide55.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57.emf"/><Relationship Id="rId5" Type="http://schemas.openxmlformats.org/officeDocument/2006/relationships/oleObject" Target="../embeddings/oleObject38.bin"/><Relationship Id="rId4" Type="http://schemas.openxmlformats.org/officeDocument/2006/relationships/image" Target="../media/image56.e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oleObject" Target="../embeddings/oleObject40.bin"/><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60.wmf"/><Relationship Id="rId5" Type="http://schemas.openxmlformats.org/officeDocument/2006/relationships/oleObject" Target="../embeddings/oleObject41.bin"/><Relationship Id="rId4" Type="http://schemas.openxmlformats.org/officeDocument/2006/relationships/image" Target="../media/image59.emf"/></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slide" Target="slide6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62.emf"/><Relationship Id="rId5" Type="http://schemas.openxmlformats.org/officeDocument/2006/relationships/oleObject" Target="../embeddings/oleObject43.bin"/><Relationship Id="rId10" Type="http://schemas.openxmlformats.org/officeDocument/2006/relationships/image" Target="../media/image64.wmf"/><Relationship Id="rId4" Type="http://schemas.openxmlformats.org/officeDocument/2006/relationships/image" Target="../media/image61.emf"/><Relationship Id="rId9" Type="http://schemas.openxmlformats.org/officeDocument/2006/relationships/oleObject" Target="../embeddings/oleObject45.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65.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66.e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3.xml"/></Relationships>
</file>

<file path=ppt/slides/_rels/slide6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oleObject" Target="../embeddings/oleObject48.bin"/><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68.wmf"/><Relationship Id="rId5" Type="http://schemas.openxmlformats.org/officeDocument/2006/relationships/oleObject" Target="../embeddings/oleObject49.bin"/><Relationship Id="rId4" Type="http://schemas.openxmlformats.org/officeDocument/2006/relationships/image" Target="../media/image67.wmf"/></Relationships>
</file>

<file path=ppt/slides/_rels/slide69.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oleObject" Target="../embeddings/oleObject50.bin"/><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69.wmf"/><Relationship Id="rId5" Type="http://schemas.openxmlformats.org/officeDocument/2006/relationships/oleObject" Target="../embeddings/oleObject51.bin"/><Relationship Id="rId10" Type="http://schemas.openxmlformats.org/officeDocument/2006/relationships/image" Target="../media/image77.png"/><Relationship Id="rId4" Type="http://schemas.openxmlformats.org/officeDocument/2006/relationships/image" Target="../media/image32.wmf"/><Relationship Id="rId9" Type="http://schemas.openxmlformats.org/officeDocument/2006/relationships/image" Target="../media/image76.png"/></Relationships>
</file>

<file path=ppt/slides/_rels/slide70.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73.emf"/><Relationship Id="rId3" Type="http://schemas.openxmlformats.org/officeDocument/2006/relationships/oleObject" Target="../embeddings/oleObject52.bin"/><Relationship Id="rId7" Type="http://schemas.openxmlformats.org/officeDocument/2006/relationships/oleObject" Target="../embeddings/oleObject54.bin"/><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72.wmf"/><Relationship Id="rId5" Type="http://schemas.openxmlformats.org/officeDocument/2006/relationships/oleObject" Target="../embeddings/oleObject53.bin"/><Relationship Id="rId4" Type="http://schemas.openxmlformats.org/officeDocument/2006/relationships/image" Target="../media/image71.wmf"/></Relationships>
</file>

<file path=ppt/slides/_rels/slide72.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69.wmf"/><Relationship Id="rId5" Type="http://schemas.openxmlformats.org/officeDocument/2006/relationships/oleObject" Target="../embeddings/oleObject56.bin"/><Relationship Id="rId10" Type="http://schemas.openxmlformats.org/officeDocument/2006/relationships/image" Target="../media/image75.emf"/><Relationship Id="rId4" Type="http://schemas.openxmlformats.org/officeDocument/2006/relationships/image" Target="../media/image32.wmf"/><Relationship Id="rId9" Type="http://schemas.openxmlformats.org/officeDocument/2006/relationships/oleObject" Target="../embeddings/oleObject58.bin"/></Relationships>
</file>

<file path=ppt/slides/_rels/slide73.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oleObject" Target="../embeddings/oleObject59.bin"/><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69.wmf"/><Relationship Id="rId5" Type="http://schemas.openxmlformats.org/officeDocument/2006/relationships/oleObject" Target="../embeddings/oleObject60.bin"/><Relationship Id="rId4" Type="http://schemas.openxmlformats.org/officeDocument/2006/relationships/image" Target="../media/image32.wmf"/><Relationship Id="rId9" Type="http://schemas.openxmlformats.org/officeDocument/2006/relationships/image" Target="../media/image85.png"/></Relationships>
</file>

<file path=ppt/slides/_rels/slide74.xml.rels><?xml version="1.0" encoding="UTF-8" standalone="yes"?>
<Relationships xmlns="http://schemas.openxmlformats.org/package/2006/relationships"><Relationship Id="rId8" Type="http://schemas.openxmlformats.org/officeDocument/2006/relationships/image" Target="../media/image76.emf"/><Relationship Id="rId13" Type="http://schemas.openxmlformats.org/officeDocument/2006/relationships/oleObject" Target="../embeddings/oleObject66.bin"/><Relationship Id="rId3" Type="http://schemas.openxmlformats.org/officeDocument/2006/relationships/oleObject" Target="../embeddings/oleObject61.bin"/><Relationship Id="rId7" Type="http://schemas.openxmlformats.org/officeDocument/2006/relationships/oleObject" Target="../embeddings/oleObject63.bin"/><Relationship Id="rId12" Type="http://schemas.openxmlformats.org/officeDocument/2006/relationships/image" Target="../media/image78.emf"/><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69.wmf"/><Relationship Id="rId11" Type="http://schemas.openxmlformats.org/officeDocument/2006/relationships/oleObject" Target="../embeddings/oleObject65.bin"/><Relationship Id="rId5" Type="http://schemas.openxmlformats.org/officeDocument/2006/relationships/oleObject" Target="../embeddings/oleObject62.bin"/><Relationship Id="rId10" Type="http://schemas.openxmlformats.org/officeDocument/2006/relationships/image" Target="../media/image77.emf"/><Relationship Id="rId4" Type="http://schemas.openxmlformats.org/officeDocument/2006/relationships/image" Target="../media/image32.wmf"/><Relationship Id="rId9" Type="http://schemas.openxmlformats.org/officeDocument/2006/relationships/oleObject" Target="../embeddings/oleObject64.bin"/><Relationship Id="rId14" Type="http://schemas.openxmlformats.org/officeDocument/2006/relationships/image" Target="../media/image79.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81.wmf"/><Relationship Id="rId5" Type="http://schemas.openxmlformats.org/officeDocument/2006/relationships/oleObject" Target="../embeddings/oleObject68.bin"/><Relationship Id="rId4" Type="http://schemas.openxmlformats.org/officeDocument/2006/relationships/image" Target="../media/image80.emf"/></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5826" y="2171572"/>
            <a:ext cx="9159827" cy="1296345"/>
            <a:chOff x="-21102" y="2847433"/>
            <a:chExt cx="12213102" cy="1296345"/>
          </a:xfrm>
        </p:grpSpPr>
        <p:sp>
          <p:nvSpPr>
            <p:cNvPr id="51" name="矩形 50"/>
            <p:cNvSpPr/>
            <p:nvPr/>
          </p:nvSpPr>
          <p:spPr>
            <a:xfrm flipH="1">
              <a:off x="0" y="2872348"/>
              <a:ext cx="12192000" cy="125206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863112"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Arial" panose="020B0604020202020204" pitchFamily="34" charset="0"/>
                  <a:cs typeface="Arial" panose="020B0604020202020204" pitchFamily="34" charset="0"/>
                </a:rPr>
                <a:t>15</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4718060" y="3044279"/>
              <a:ext cx="3674505"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rPr>
                <a:t>检测技术</a:t>
              </a:r>
            </a:p>
          </p:txBody>
        </p:sp>
        <p:grpSp>
          <p:nvGrpSpPr>
            <p:cNvPr id="3" name="组 2"/>
            <p:cNvGrpSpPr/>
            <p:nvPr/>
          </p:nvGrpSpPr>
          <p:grpSpPr>
            <a:xfrm>
              <a:off x="-21102" y="2858492"/>
              <a:ext cx="242777" cy="1285286"/>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6" name="TextBox 25">
            <a:extLst>
              <a:ext uri="{FF2B5EF4-FFF2-40B4-BE49-F238E27FC236}">
                <a16:creationId xmlns:a16="http://schemas.microsoft.com/office/drawing/2014/main" id="{D4F36E8B-05B4-45ED-97D0-0FE571F80240}"/>
              </a:ext>
            </a:extLst>
          </p:cNvPr>
          <p:cNvSpPr txBox="1"/>
          <p:nvPr/>
        </p:nvSpPr>
        <p:spPr>
          <a:xfrm>
            <a:off x="1454943" y="566039"/>
            <a:ext cx="6234113" cy="83099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自动检测技术与系统</a:t>
            </a:r>
            <a:endParaRPr kumimoji="0" lang="en-US" altLang="zh-CN"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283683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797516" y="365765"/>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2505692" y="1189001"/>
            <a:ext cx="120654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15.1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505693" y="2174219"/>
            <a:ext cx="1194066"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15.2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4000074" y="1077971"/>
            <a:ext cx="296426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2" action="ppaction://hlinksldjump"/>
              </a:rPr>
              <a:t>检测技术概述</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88" name="文本框 87">
            <a:hlinkClick r:id="rId3" action="ppaction://hlinksldjump"/>
          </p:cNvPr>
          <p:cNvSpPr txBox="1"/>
          <p:nvPr/>
        </p:nvSpPr>
        <p:spPr>
          <a:xfrm>
            <a:off x="3972862" y="2080347"/>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测量方法</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5" name="圆角矩形 72">
            <a:extLst>
              <a:ext uri="{FF2B5EF4-FFF2-40B4-BE49-F238E27FC236}">
                <a16:creationId xmlns:a16="http://schemas.microsoft.com/office/drawing/2014/main" id="{7FC6BBF0-77C3-40AF-86D3-A85CAF66AA58}"/>
              </a:ext>
            </a:extLst>
          </p:cNvPr>
          <p:cNvSpPr/>
          <p:nvPr/>
        </p:nvSpPr>
        <p:spPr>
          <a:xfrm rot="10800000" flipV="1">
            <a:off x="2505694" y="3159440"/>
            <a:ext cx="118689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15.3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2A710E0A-D4CD-4A00-B02F-5CC498406030}"/>
              </a:ext>
            </a:extLst>
          </p:cNvPr>
          <p:cNvSpPr txBox="1"/>
          <p:nvPr/>
        </p:nvSpPr>
        <p:spPr>
          <a:xfrm>
            <a:off x="3972862" y="3045091"/>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测量系统</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16" name="圆角矩形 72">
            <a:extLst>
              <a:ext uri="{FF2B5EF4-FFF2-40B4-BE49-F238E27FC236}">
                <a16:creationId xmlns:a16="http://schemas.microsoft.com/office/drawing/2014/main" id="{4F185087-379A-4ECF-AC00-2D0B608230D2}"/>
              </a:ext>
            </a:extLst>
          </p:cNvPr>
          <p:cNvSpPr/>
          <p:nvPr/>
        </p:nvSpPr>
        <p:spPr>
          <a:xfrm rot="10800000" flipV="1">
            <a:off x="2505693" y="4144659"/>
            <a:ext cx="1186896"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15.4</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18" name="文本框 17">
            <a:extLst>
              <a:ext uri="{FF2B5EF4-FFF2-40B4-BE49-F238E27FC236}">
                <a16:creationId xmlns:a16="http://schemas.microsoft.com/office/drawing/2014/main" id="{E39DC9A3-7A53-4D1A-8D27-109D8684D9D3}"/>
              </a:ext>
            </a:extLst>
          </p:cNvPr>
          <p:cNvSpPr txBox="1"/>
          <p:nvPr/>
        </p:nvSpPr>
        <p:spPr>
          <a:xfrm>
            <a:off x="4000074" y="4009835"/>
            <a:ext cx="3890801"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6" action="ppaction://hlinksldjump"/>
              </a:rPr>
              <a:t>测量数据处理方法</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6" name="圆角矩形 72">
            <a:extLst>
              <a:ext uri="{FF2B5EF4-FFF2-40B4-BE49-F238E27FC236}">
                <a16:creationId xmlns:a16="http://schemas.microsoft.com/office/drawing/2014/main" id="{DED03F23-8B17-4E58-AA5C-DA8BDCFED308}"/>
              </a:ext>
            </a:extLst>
          </p:cNvPr>
          <p:cNvSpPr/>
          <p:nvPr/>
        </p:nvSpPr>
        <p:spPr>
          <a:xfrm rot="10800000" flipV="1">
            <a:off x="2505693" y="5129878"/>
            <a:ext cx="1194070"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13" name="文本框 12">
            <a:extLst>
              <a:ext uri="{FF2B5EF4-FFF2-40B4-BE49-F238E27FC236}">
                <a16:creationId xmlns:a16="http://schemas.microsoft.com/office/drawing/2014/main" id="{0CBAE7B1-300D-40DB-BF44-26C920E963E9}"/>
              </a:ext>
            </a:extLst>
          </p:cNvPr>
          <p:cNvSpPr txBox="1"/>
          <p:nvPr/>
        </p:nvSpPr>
        <p:spPr>
          <a:xfrm>
            <a:off x="4000074" y="4974579"/>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7" action="ppaction://hlinksldjump"/>
              </a:rPr>
              <a:t>本章要点</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14" name="Slide Number Placeholder 13">
            <a:extLst>
              <a:ext uri="{FF2B5EF4-FFF2-40B4-BE49-F238E27FC236}">
                <a16:creationId xmlns:a16="http://schemas.microsoft.com/office/drawing/2014/main" id="{6F110F57-8586-4F9C-A6AB-61A231984447}"/>
              </a:ext>
            </a:extLst>
          </p:cNvPr>
          <p:cNvSpPr>
            <a:spLocks noGrp="1"/>
          </p:cNvSpPr>
          <p:nvPr>
            <p:ph type="sldNum" sz="quarter" idx="12"/>
          </p:nvPr>
        </p:nvSpPr>
        <p:spPr/>
        <p:txBody>
          <a:bodyPr/>
          <a:lstStyle/>
          <a:p>
            <a:fld id="{DC11BA4E-7967-4102-867C-9D230A2E6791}" type="slidenum">
              <a:rPr lang="zh-CN" altLang="en-US" smtClean="0"/>
              <a:t>2</a:t>
            </a:fld>
            <a:endParaRPr lang="zh-CN" altLang="en-US"/>
          </a:p>
        </p:txBody>
      </p:sp>
      <p:sp>
        <p:nvSpPr>
          <p:cNvPr id="33" name="文本框 19">
            <a:extLst>
              <a:ext uri="{FF2B5EF4-FFF2-40B4-BE49-F238E27FC236}">
                <a16:creationId xmlns:a16="http://schemas.microsoft.com/office/drawing/2014/main" id="{353A7A2A-7B48-44B4-B3F5-2D27CDB8046E}"/>
              </a:ext>
            </a:extLst>
          </p:cNvPr>
          <p:cNvSpPr txBox="1"/>
          <p:nvPr/>
        </p:nvSpPr>
        <p:spPr>
          <a:xfrm>
            <a:off x="96423" y="1560285"/>
            <a:ext cx="754047" cy="2881086"/>
          </a:xfrm>
          <a:prstGeom prst="rect">
            <a:avLst/>
          </a:prstGeom>
          <a:noFill/>
        </p:spPr>
        <p:txBody>
          <a:bodyPr vert="eaVert" wrap="square" lIns="68577" tIns="34289" rIns="68577" bIns="34289" rtlCol="0">
            <a:spAutoFit/>
          </a:bodyPr>
          <a:lstStyle/>
          <a:p>
            <a:r>
              <a:rPr lang="ja-JP" altLang="en-US" sz="4000" b="1" spc="1200">
                <a:solidFill>
                  <a:schemeClr val="bg1"/>
                </a:solidFill>
                <a:latin typeface="微软雅黑" panose="020B0503020204020204" pitchFamily="34" charset="-122"/>
                <a:ea typeface="微软雅黑" panose="020B0503020204020204" pitchFamily="34" charset="-122"/>
              </a:rPr>
              <a:t>内容提纲</a:t>
            </a:r>
            <a:endParaRPr lang="zh-CN" altLang="en-US" sz="4000" b="1" spc="12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750338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15.1</a:t>
            </a:r>
          </a:p>
        </p:txBody>
      </p:sp>
      <p:sp>
        <p:nvSpPr>
          <p:cNvPr id="28" name="矩形 27"/>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检测技术概述</a:t>
            </a:r>
          </a:p>
        </p:txBody>
      </p:sp>
      <p:sp>
        <p:nvSpPr>
          <p:cNvPr id="40" name="Rectangle 3"/>
          <p:cNvSpPr>
            <a:spLocks noRot="1" noChangeArrowheads="1"/>
          </p:cNvSpPr>
          <p:nvPr/>
        </p:nvSpPr>
        <p:spPr bwMode="auto">
          <a:xfrm>
            <a:off x="1097280" y="1426028"/>
            <a:ext cx="7132320" cy="4597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在工业生产这个领域内，广泛地应用检测技术，如生产过程中产品质量的检测、产品质量的控制、提高生产的经济效益、节能和生产过程的</a:t>
            </a:r>
            <a:r>
              <a:rPr lang="zh-CN" altLang="en-US" sz="2400" b="1">
                <a:latin typeface="宋体" pitchFamily="2" charset="-122"/>
                <a:ea typeface="宋体" pitchFamily="2" charset="-122"/>
              </a:rPr>
              <a:t>自动化等。</a:t>
            </a:r>
            <a:r>
              <a:rPr lang="zh-CN" altLang="en-US" sz="2400" b="1" dirty="0">
                <a:latin typeface="宋体" pitchFamily="2" charset="-122"/>
                <a:ea typeface="宋体" pitchFamily="2" charset="-122"/>
              </a:rPr>
              <a:t>这些都要测量生产过程中的</a:t>
            </a:r>
            <a:r>
              <a:rPr lang="zh-CN" altLang="en-US" sz="2400" b="1">
                <a:latin typeface="宋体" pitchFamily="2" charset="-122"/>
                <a:ea typeface="宋体" pitchFamily="2" charset="-122"/>
              </a:rPr>
              <a:t>有关参数</a:t>
            </a:r>
            <a:r>
              <a:rPr lang="en-US" altLang="zh-CN" sz="2400" b="1">
                <a:latin typeface="宋体" pitchFamily="2" charset="-122"/>
                <a:ea typeface="宋体" pitchFamily="2" charset="-122"/>
              </a:rPr>
              <a:t>/</a:t>
            </a:r>
            <a:r>
              <a:rPr lang="zh-CN" altLang="en-US" sz="2400" b="1">
                <a:latin typeface="宋体" pitchFamily="2" charset="-122"/>
                <a:ea typeface="宋体" pitchFamily="2" charset="-122"/>
              </a:rPr>
              <a:t>进行</a:t>
            </a:r>
            <a:r>
              <a:rPr lang="zh-CN" altLang="en-US" sz="2400" b="1" dirty="0">
                <a:latin typeface="宋体" pitchFamily="2" charset="-122"/>
                <a:ea typeface="宋体" pitchFamily="2" charset="-122"/>
              </a:rPr>
              <a:t>反馈控制，以保证生产过程中的这些参数处在最佳状态。</a:t>
            </a:r>
          </a:p>
          <a:p>
            <a:pPr>
              <a:lnSpc>
                <a:spcPct val="150000"/>
              </a:lnSpc>
            </a:pPr>
            <a:r>
              <a:rPr lang="zh-CN" altLang="en-US" sz="2400" b="1" dirty="0">
                <a:latin typeface="宋体" pitchFamily="2" charset="-122"/>
                <a:ea typeface="宋体" pitchFamily="2" charset="-122"/>
              </a:rPr>
              <a:t>    检测技术研究的主要内容是被测量的</a:t>
            </a:r>
            <a:r>
              <a:rPr lang="zh-CN" altLang="en-US" sz="2400" b="1" dirty="0">
                <a:solidFill>
                  <a:srgbClr val="00B0F0"/>
                </a:solidFill>
                <a:latin typeface="宋体" pitchFamily="2" charset="-122"/>
                <a:ea typeface="宋体" pitchFamily="2" charset="-122"/>
              </a:rPr>
              <a:t>测量原理</a:t>
            </a:r>
            <a:r>
              <a:rPr lang="zh-CN" altLang="en-US" sz="2400" b="1" dirty="0">
                <a:latin typeface="宋体" pitchFamily="2" charset="-122"/>
                <a:ea typeface="宋体" pitchFamily="2" charset="-122"/>
              </a:rPr>
              <a:t>、</a:t>
            </a:r>
            <a:r>
              <a:rPr lang="zh-CN" altLang="en-US" sz="2400" b="1" dirty="0">
                <a:solidFill>
                  <a:schemeClr val="accent2"/>
                </a:solidFill>
                <a:latin typeface="宋体" pitchFamily="2" charset="-122"/>
                <a:ea typeface="宋体" pitchFamily="2" charset="-122"/>
              </a:rPr>
              <a:t>测量方法</a:t>
            </a:r>
            <a:r>
              <a:rPr lang="zh-CN" altLang="en-US" sz="2400" b="1" dirty="0">
                <a:latin typeface="宋体" pitchFamily="2" charset="-122"/>
                <a:ea typeface="宋体" pitchFamily="2" charset="-122"/>
              </a:rPr>
              <a:t>、</a:t>
            </a:r>
            <a:r>
              <a:rPr lang="zh-CN" altLang="en-US" sz="2400" b="1" dirty="0">
                <a:solidFill>
                  <a:srgbClr val="7030A0"/>
                </a:solidFill>
                <a:latin typeface="宋体" pitchFamily="2" charset="-122"/>
                <a:ea typeface="宋体" pitchFamily="2" charset="-122"/>
              </a:rPr>
              <a:t>测量系统</a:t>
            </a:r>
            <a:r>
              <a:rPr lang="zh-CN" altLang="en-US" sz="2400" b="1" dirty="0">
                <a:latin typeface="宋体" pitchFamily="2" charset="-122"/>
                <a:ea typeface="宋体" pitchFamily="2" charset="-122"/>
              </a:rPr>
              <a:t>和</a:t>
            </a:r>
            <a:r>
              <a:rPr lang="zh-CN" altLang="en-US" sz="2400" b="1" dirty="0">
                <a:solidFill>
                  <a:srgbClr val="008000"/>
                </a:solidFill>
                <a:latin typeface="宋体" pitchFamily="2" charset="-122"/>
                <a:ea typeface="宋体" pitchFamily="2" charset="-122"/>
              </a:rPr>
              <a:t>数据处理</a:t>
            </a:r>
            <a:r>
              <a:rPr lang="zh-CN" altLang="en-US" sz="2400" b="1" dirty="0">
                <a:latin typeface="宋体" pitchFamily="2" charset="-122"/>
                <a:ea typeface="宋体" pitchFamily="2" charset="-122"/>
              </a:rPr>
              <a:t>四个方面。</a:t>
            </a:r>
          </a:p>
        </p:txBody>
      </p:sp>
      <p:sp>
        <p:nvSpPr>
          <p:cNvPr id="2" name="Slide Number Placeholder 1">
            <a:extLst>
              <a:ext uri="{FF2B5EF4-FFF2-40B4-BE49-F238E27FC236}">
                <a16:creationId xmlns:a16="http://schemas.microsoft.com/office/drawing/2014/main" id="{9A6692DF-FF31-42EB-A965-D94BA15E6538}"/>
              </a:ext>
            </a:extLst>
          </p:cNvPr>
          <p:cNvSpPr>
            <a:spLocks noGrp="1"/>
          </p:cNvSpPr>
          <p:nvPr>
            <p:ph type="sldNum" sz="quarter" idx="12"/>
          </p:nvPr>
        </p:nvSpPr>
        <p:spPr/>
        <p:txBody>
          <a:bodyPr/>
          <a:lstStyle/>
          <a:p>
            <a:fld id="{DC11BA4E-7967-4102-867C-9D230A2E6791}" type="slidenum">
              <a:rPr lang="zh-CN" altLang="en-US" smtClean="0"/>
              <a:t>3</a:t>
            </a:fld>
            <a:endParaRPr lang="zh-CN" altLang="en-US"/>
          </a:p>
        </p:txBody>
      </p:sp>
    </p:spTree>
    <p:extLst>
      <p:ext uri="{BB962C8B-B14F-4D97-AF65-F5344CB8AC3E}">
        <p14:creationId xmlns:p14="http://schemas.microsoft.com/office/powerpoint/2010/main" val="22684046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85BCAD95-D352-468D-9323-BA13ABDF50F6}"/>
              </a:ext>
            </a:extLst>
          </p:cNvPr>
          <p:cNvSpPr txBox="1"/>
          <p:nvPr/>
        </p:nvSpPr>
        <p:spPr>
          <a:xfrm>
            <a:off x="2870634" y="2352984"/>
            <a:ext cx="5234117" cy="523216"/>
          </a:xfrm>
          <a:prstGeom prst="rect">
            <a:avLst/>
          </a:prstGeom>
          <a:noFill/>
        </p:spPr>
        <p:txBody>
          <a:bodyPr wrap="non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hlinkClick r:id="rId2" action="ppaction://hlinksldjump"/>
              </a:rPr>
              <a:t>直接测量、间接测量和联立测量</a:t>
            </a:r>
            <a:endParaRPr lang="zh-CN" altLang="en-US" sz="2800" b="1" dirty="0">
              <a:solidFill>
                <a:schemeClr val="tx2"/>
              </a:solidFill>
              <a:latin typeface="宋体" panose="02010600030101010101" pitchFamily="2" charset="-122"/>
              <a:ea typeface="宋体" panose="02010600030101010101" pitchFamily="2" charset="-122"/>
            </a:endParaRPr>
          </a:p>
        </p:txBody>
      </p:sp>
      <p:sp>
        <p:nvSpPr>
          <p:cNvPr id="11" name="文本框 10">
            <a:hlinkClick r:id="rId3" action="ppaction://hlinksldjump"/>
            <a:extLst>
              <a:ext uri="{FF2B5EF4-FFF2-40B4-BE49-F238E27FC236}">
                <a16:creationId xmlns:a16="http://schemas.microsoft.com/office/drawing/2014/main" id="{397A0068-2B17-47DF-B0E0-B0577263EECD}"/>
              </a:ext>
            </a:extLst>
          </p:cNvPr>
          <p:cNvSpPr txBox="1"/>
          <p:nvPr/>
        </p:nvSpPr>
        <p:spPr>
          <a:xfrm>
            <a:off x="2895749" y="3717311"/>
            <a:ext cx="5093343" cy="1384990"/>
          </a:xfrm>
          <a:prstGeom prst="rect">
            <a:avLst/>
          </a:prstGeom>
          <a:noFill/>
        </p:spPr>
        <p:txBody>
          <a:bodyPr wrap="square" lIns="91436" tIns="45718" rIns="91436" bIns="45718" rtlCol="0">
            <a:spAutoFit/>
          </a:bodyPr>
          <a:lstStyle/>
          <a:p>
            <a:pPr>
              <a:lnSpc>
                <a:spcPct val="150000"/>
              </a:lnSpc>
            </a:pPr>
            <a:r>
              <a:rPr lang="zh-CN" altLang="en-US" sz="2800" b="1" dirty="0">
                <a:solidFill>
                  <a:schemeClr val="tx2"/>
                </a:solidFill>
                <a:latin typeface="宋体" panose="02010600030101010101" pitchFamily="2" charset="-122"/>
                <a:ea typeface="宋体" panose="02010600030101010101" pitchFamily="2" charset="-122"/>
                <a:hlinkClick r:id="rId4" action="ppaction://hlinksldjump"/>
              </a:rPr>
              <a:t>偏差式测量、零位式测量和微差式测量</a:t>
            </a:r>
            <a:endParaRPr lang="zh-CN" altLang="en-US" sz="2800" b="1" dirty="0">
              <a:solidFill>
                <a:schemeClr val="tx2"/>
              </a:solidFill>
              <a:latin typeface="宋体" panose="02010600030101010101" pitchFamily="2" charset="-122"/>
              <a:ea typeface="宋体" panose="02010600030101010101" pitchFamily="2" charset="-122"/>
            </a:endParaRPr>
          </a:p>
        </p:txBody>
      </p:sp>
      <p:sp>
        <p:nvSpPr>
          <p:cNvPr id="29" name="矩形 2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0" name="圆角矩形 2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15.2</a:t>
            </a:r>
          </a:p>
        </p:txBody>
      </p:sp>
      <p:sp>
        <p:nvSpPr>
          <p:cNvPr id="31" name="矩形 30"/>
          <p:cNvSpPr/>
          <p:nvPr/>
        </p:nvSpPr>
        <p:spPr>
          <a:xfrm>
            <a:off x="1960201" y="329520"/>
            <a:ext cx="19351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测量方法</a:t>
            </a:r>
          </a:p>
        </p:txBody>
      </p:sp>
      <p:sp>
        <p:nvSpPr>
          <p:cNvPr id="42" name="圆角矩形 72">
            <a:extLst>
              <a:ext uri="{FF2B5EF4-FFF2-40B4-BE49-F238E27FC236}">
                <a16:creationId xmlns:a16="http://schemas.microsoft.com/office/drawing/2014/main" id="{343D7C8A-72E9-4E11-82F9-04D1F37F1B07}"/>
              </a:ext>
            </a:extLst>
          </p:cNvPr>
          <p:cNvSpPr/>
          <p:nvPr/>
        </p:nvSpPr>
        <p:spPr>
          <a:xfrm rot="10800000" flipV="1">
            <a:off x="972877" y="2374955"/>
            <a:ext cx="1392152"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15.2.1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3" name="圆角矩形 73">
            <a:extLst>
              <a:ext uri="{FF2B5EF4-FFF2-40B4-BE49-F238E27FC236}">
                <a16:creationId xmlns:a16="http://schemas.microsoft.com/office/drawing/2014/main" id="{7997A031-0667-4F3B-9AA0-BAB02B443096}"/>
              </a:ext>
            </a:extLst>
          </p:cNvPr>
          <p:cNvSpPr/>
          <p:nvPr/>
        </p:nvSpPr>
        <p:spPr>
          <a:xfrm rot="10800000" flipV="1">
            <a:off x="972876" y="3842859"/>
            <a:ext cx="139215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15.2.2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12" name="TextBox 11"/>
          <p:cNvSpPr txBox="1"/>
          <p:nvPr/>
        </p:nvSpPr>
        <p:spPr>
          <a:xfrm>
            <a:off x="2927769" y="2890714"/>
            <a:ext cx="2140178" cy="461665"/>
          </a:xfrm>
          <a:prstGeom prst="rect">
            <a:avLst/>
          </a:prstGeom>
          <a:noFill/>
        </p:spPr>
        <p:txBody>
          <a:bodyPr wrap="square" rtlCol="0">
            <a:spAutoFit/>
          </a:bodyPr>
          <a:lstStyle/>
          <a:p>
            <a:r>
              <a:rPr lang="zh-CN" altLang="en-US" sz="2400" b="1" dirty="0">
                <a:latin typeface="宋体" pitchFamily="2" charset="-122"/>
                <a:ea typeface="宋体" pitchFamily="2" charset="-122"/>
              </a:rPr>
              <a:t>（按手段分类）</a:t>
            </a:r>
          </a:p>
        </p:txBody>
      </p:sp>
      <p:sp>
        <p:nvSpPr>
          <p:cNvPr id="49" name="TextBox 48"/>
          <p:cNvSpPr txBox="1"/>
          <p:nvPr/>
        </p:nvSpPr>
        <p:spPr>
          <a:xfrm>
            <a:off x="2870634" y="5101876"/>
            <a:ext cx="3099686" cy="461665"/>
          </a:xfrm>
          <a:prstGeom prst="rect">
            <a:avLst/>
          </a:prstGeom>
          <a:noFill/>
        </p:spPr>
        <p:txBody>
          <a:bodyPr wrap="square" rtlCol="0">
            <a:spAutoFit/>
          </a:bodyPr>
          <a:lstStyle/>
          <a:p>
            <a:r>
              <a:rPr lang="zh-CN" altLang="en-US" sz="2400" b="1" dirty="0">
                <a:latin typeface="宋体" pitchFamily="2" charset="-122"/>
                <a:ea typeface="宋体" pitchFamily="2" charset="-122"/>
              </a:rPr>
              <a:t>（按测量方式分类）</a:t>
            </a:r>
          </a:p>
        </p:txBody>
      </p:sp>
      <p:sp>
        <p:nvSpPr>
          <p:cNvPr id="2" name="Slide Number Placeholder 1">
            <a:extLst>
              <a:ext uri="{FF2B5EF4-FFF2-40B4-BE49-F238E27FC236}">
                <a16:creationId xmlns:a16="http://schemas.microsoft.com/office/drawing/2014/main" id="{D68DCB0E-ECB3-4D62-AFE9-0A681E0DBB16}"/>
              </a:ext>
            </a:extLst>
          </p:cNvPr>
          <p:cNvSpPr>
            <a:spLocks noGrp="1"/>
          </p:cNvSpPr>
          <p:nvPr>
            <p:ph type="sldNum" sz="quarter" idx="12"/>
          </p:nvPr>
        </p:nvSpPr>
        <p:spPr/>
        <p:txBody>
          <a:bodyPr/>
          <a:lstStyle/>
          <a:p>
            <a:fld id="{DC11BA4E-7967-4102-867C-9D230A2E6791}" type="slidenum">
              <a:rPr lang="zh-CN" altLang="en-US" smtClean="0"/>
              <a:t>4</a:t>
            </a:fld>
            <a:endParaRPr lang="zh-CN" altLang="en-US"/>
          </a:p>
        </p:txBody>
      </p:sp>
    </p:spTree>
    <p:extLst>
      <p:ext uri="{BB962C8B-B14F-4D97-AF65-F5344CB8AC3E}">
        <p14:creationId xmlns:p14="http://schemas.microsoft.com/office/powerpoint/2010/main" val="19634847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15.2.1</a:t>
            </a:r>
          </a:p>
        </p:txBody>
      </p:sp>
      <p:sp>
        <p:nvSpPr>
          <p:cNvPr id="28" name="矩形 27"/>
          <p:cNvSpPr/>
          <p:nvPr/>
        </p:nvSpPr>
        <p:spPr>
          <a:xfrm>
            <a:off x="1960201" y="329520"/>
            <a:ext cx="631133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直接测量、间接测量和联立测量</a:t>
            </a:r>
          </a:p>
        </p:txBody>
      </p:sp>
      <p:sp>
        <p:nvSpPr>
          <p:cNvPr id="39" name="Rectangle 6"/>
          <p:cNvSpPr>
            <a:spLocks noRot="1" noChangeArrowheads="1"/>
          </p:cNvSpPr>
          <p:nvPr/>
        </p:nvSpPr>
        <p:spPr bwMode="auto">
          <a:xfrm>
            <a:off x="185083" y="1550095"/>
            <a:ext cx="8802376"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50000"/>
              </a:lnSpc>
            </a:pPr>
            <a:r>
              <a:rPr lang="zh-CN" altLang="en-US" sz="2400" b="1" dirty="0">
                <a:solidFill>
                  <a:srgbClr val="FF0000"/>
                </a:solidFill>
                <a:latin typeface="Times New Roman" pitchFamily="18" charset="0"/>
                <a:ea typeface="宋体" pitchFamily="2" charset="-122"/>
                <a:cs typeface="Times New Roman" pitchFamily="18" charset="0"/>
              </a:rPr>
              <a:t>一、直接测量</a:t>
            </a:r>
          </a:p>
          <a:p>
            <a:pPr marL="342900" indent="-342900">
              <a:lnSpc>
                <a:spcPct val="150000"/>
              </a:lnSpc>
              <a:spcAft>
                <a:spcPts val="1200"/>
              </a:spcAft>
            </a:pPr>
            <a:r>
              <a:rPr lang="zh-CN" altLang="en-US" sz="2400" b="1" dirty="0">
                <a:latin typeface="Times New Roman" pitchFamily="18" charset="0"/>
                <a:ea typeface="宋体" pitchFamily="2" charset="-122"/>
                <a:cs typeface="Times New Roman" pitchFamily="18" charset="0"/>
              </a:rPr>
              <a:t>      应用已标定好的仪表直接测量，测出未知量，称为直接测量。</a:t>
            </a:r>
          </a:p>
          <a:p>
            <a:pPr marL="342900" indent="-342900">
              <a:lnSpc>
                <a:spcPct val="150000"/>
              </a:lnSpc>
            </a:pPr>
            <a:r>
              <a:rPr lang="zh-CN" altLang="en-US" sz="2400" b="1" dirty="0">
                <a:solidFill>
                  <a:srgbClr val="FF0000"/>
                </a:solidFill>
                <a:latin typeface="Times New Roman" pitchFamily="18" charset="0"/>
                <a:ea typeface="宋体" pitchFamily="2" charset="-122"/>
                <a:cs typeface="Times New Roman" pitchFamily="18" charset="0"/>
              </a:rPr>
              <a:t>二、间接测量</a:t>
            </a:r>
          </a:p>
          <a:p>
            <a:pPr marL="342900" indent="-342900">
              <a:lnSpc>
                <a:spcPct val="150000"/>
              </a:lnSpc>
            </a:pPr>
            <a:r>
              <a:rPr lang="zh-CN" altLang="en-US" sz="2400" b="1" dirty="0">
                <a:latin typeface="Times New Roman" pitchFamily="18" charset="0"/>
                <a:ea typeface="宋体" pitchFamily="2" charset="-122"/>
                <a:cs typeface="Times New Roman" pitchFamily="18" charset="0"/>
              </a:rPr>
              <a:t>      对与被测物理量有确定函数关系的几个量进行测量，将测量值代入函数关系式，经过计算得到所需的结果，这种方法称为间接测量。</a:t>
            </a:r>
          </a:p>
          <a:p>
            <a:pPr marL="342900" indent="-342900">
              <a:lnSpc>
                <a:spcPct val="150000"/>
              </a:lnSpc>
            </a:pPr>
            <a:r>
              <a:rPr lang="zh-CN" altLang="en-US" sz="2400" b="1" dirty="0">
                <a:latin typeface="Times New Roman" pitchFamily="18" charset="0"/>
                <a:ea typeface="宋体" pitchFamily="2" charset="-122"/>
                <a:cs typeface="Times New Roman" pitchFamily="18" charset="0"/>
              </a:rPr>
              <a:t>      </a:t>
            </a:r>
            <a:r>
              <a:rPr lang="zh-CN" altLang="en-US" sz="2400" b="1">
                <a:latin typeface="Times New Roman" pitchFamily="18" charset="0"/>
                <a:ea typeface="宋体" pitchFamily="2" charset="-122"/>
                <a:cs typeface="Times New Roman" pitchFamily="18" charset="0"/>
              </a:rPr>
              <a:t>例：          </a:t>
            </a:r>
            <a:r>
              <a:rPr lang="en-US" altLang="zh-CN" sz="2400" b="1" i="1">
                <a:latin typeface="Times New Roman" pitchFamily="18" charset="0"/>
                <a:ea typeface="宋体" pitchFamily="2" charset="-122"/>
                <a:cs typeface="Times New Roman" pitchFamily="18" charset="0"/>
              </a:rPr>
              <a:t>P </a:t>
            </a:r>
            <a:r>
              <a:rPr lang="en-US" altLang="zh-CN" sz="2400" b="1">
                <a:latin typeface="Times New Roman" pitchFamily="18" charset="0"/>
                <a:ea typeface="宋体" pitchFamily="2" charset="-122"/>
                <a:cs typeface="Times New Roman" pitchFamily="18" charset="0"/>
              </a:rPr>
              <a:t>= </a:t>
            </a:r>
            <a:r>
              <a:rPr lang="en-US" altLang="zh-CN" sz="2400" b="1" i="1">
                <a:latin typeface="Times New Roman" pitchFamily="18" charset="0"/>
                <a:ea typeface="宋体" pitchFamily="2" charset="-122"/>
                <a:cs typeface="Times New Roman" pitchFamily="18" charset="0"/>
              </a:rPr>
              <a:t>U I </a:t>
            </a:r>
            <a:r>
              <a:rPr lang="en-US" altLang="zh-CN" sz="2400" b="1">
                <a:latin typeface="Times New Roman" pitchFamily="18" charset="0"/>
                <a:ea typeface="宋体" pitchFamily="2" charset="-122"/>
                <a:cs typeface="Times New Roman" pitchFamily="18" charset="0"/>
              </a:rPr>
              <a:t>,     </a:t>
            </a:r>
            <a:r>
              <a:rPr lang="en-US" altLang="zh-CN" sz="2400" b="1" i="1">
                <a:latin typeface="Times New Roman" pitchFamily="18" charset="0"/>
                <a:ea typeface="宋体" pitchFamily="2" charset="-122"/>
                <a:cs typeface="Times New Roman" pitchFamily="18" charset="0"/>
              </a:rPr>
              <a:t>V </a:t>
            </a:r>
            <a:r>
              <a:rPr lang="en-US" altLang="zh-CN" sz="2400" b="1">
                <a:latin typeface="Times New Roman" pitchFamily="18" charset="0"/>
                <a:ea typeface="宋体" pitchFamily="2" charset="-122"/>
                <a:cs typeface="Times New Roman" pitchFamily="18" charset="0"/>
              </a:rPr>
              <a:t>= </a:t>
            </a:r>
            <a:r>
              <a:rPr lang="en-US" altLang="zh-CN" sz="2400" b="1" i="1">
                <a:latin typeface="Times New Roman" pitchFamily="18" charset="0"/>
                <a:ea typeface="宋体" pitchFamily="2" charset="-122"/>
                <a:cs typeface="Times New Roman" pitchFamily="18" charset="0"/>
              </a:rPr>
              <a:t>π r</a:t>
            </a:r>
            <a:r>
              <a:rPr lang="en-US" altLang="zh-CN" sz="2400" b="1" baseline="30000">
                <a:latin typeface="Times New Roman" pitchFamily="18" charset="0"/>
                <a:ea typeface="宋体" pitchFamily="2" charset="-122"/>
                <a:cs typeface="Times New Roman" pitchFamily="18" charset="0"/>
              </a:rPr>
              <a:t>2 </a:t>
            </a:r>
            <a:r>
              <a:rPr lang="en-US" altLang="zh-CN" sz="2400" b="1" i="1">
                <a:latin typeface="Times New Roman" pitchFamily="18" charset="0"/>
                <a:ea typeface="宋体" pitchFamily="2" charset="-122"/>
                <a:cs typeface="Times New Roman" pitchFamily="18" charset="0"/>
              </a:rPr>
              <a:t>h</a:t>
            </a:r>
            <a:endParaRPr lang="en-US" altLang="zh-CN" sz="2400" b="1" i="1" dirty="0">
              <a:latin typeface="Times New Roman" pitchFamily="18" charset="0"/>
              <a:ea typeface="宋体" pitchFamily="2" charset="-122"/>
              <a:cs typeface="Times New Roman" pitchFamily="18" charset="0"/>
            </a:endParaRPr>
          </a:p>
        </p:txBody>
      </p:sp>
      <p:sp>
        <p:nvSpPr>
          <p:cNvPr id="2" name="Slide Number Placeholder 1">
            <a:extLst>
              <a:ext uri="{FF2B5EF4-FFF2-40B4-BE49-F238E27FC236}">
                <a16:creationId xmlns:a16="http://schemas.microsoft.com/office/drawing/2014/main" id="{1209A750-342D-46E7-A4EE-AB985819D06A}"/>
              </a:ext>
            </a:extLst>
          </p:cNvPr>
          <p:cNvSpPr>
            <a:spLocks noGrp="1"/>
          </p:cNvSpPr>
          <p:nvPr>
            <p:ph type="sldNum" sz="quarter" idx="12"/>
          </p:nvPr>
        </p:nvSpPr>
        <p:spPr/>
        <p:txBody>
          <a:bodyPr/>
          <a:lstStyle/>
          <a:p>
            <a:fld id="{DC11BA4E-7967-4102-867C-9D230A2E6791}" type="slidenum">
              <a:rPr lang="zh-CN" altLang="en-US" smtClean="0"/>
              <a:t>5</a:t>
            </a:fld>
            <a:endParaRPr lang="zh-CN" altLang="en-US"/>
          </a:p>
        </p:txBody>
      </p:sp>
    </p:spTree>
    <p:extLst>
      <p:ext uri="{BB962C8B-B14F-4D97-AF65-F5344CB8AC3E}">
        <p14:creationId xmlns:p14="http://schemas.microsoft.com/office/powerpoint/2010/main" val="13498966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15.2.1</a:t>
            </a:r>
          </a:p>
        </p:txBody>
      </p:sp>
      <p:sp>
        <p:nvSpPr>
          <p:cNvPr id="28" name="矩形 27"/>
          <p:cNvSpPr/>
          <p:nvPr/>
        </p:nvSpPr>
        <p:spPr>
          <a:xfrm>
            <a:off x="1960201" y="329520"/>
            <a:ext cx="631133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直接测量、间接测量和联立测量</a:t>
            </a:r>
          </a:p>
        </p:txBody>
      </p:sp>
      <p:sp>
        <p:nvSpPr>
          <p:cNvPr id="39" name="Rectangle 6"/>
          <p:cNvSpPr>
            <a:spLocks noRot="1" noChangeArrowheads="1"/>
          </p:cNvSpPr>
          <p:nvPr/>
        </p:nvSpPr>
        <p:spPr bwMode="auto">
          <a:xfrm>
            <a:off x="652181" y="1713285"/>
            <a:ext cx="7839637"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50000"/>
              </a:lnSpc>
            </a:pPr>
            <a:r>
              <a:rPr lang="zh-CN" altLang="en-US" sz="2400" b="1" dirty="0">
                <a:latin typeface="Times New Roman" pitchFamily="18" charset="0"/>
                <a:ea typeface="宋体" pitchFamily="2" charset="-122"/>
                <a:cs typeface="Times New Roman" pitchFamily="18" charset="0"/>
              </a:rPr>
              <a:t>三、联立测量</a:t>
            </a:r>
            <a:r>
              <a:rPr lang="en-US" altLang="zh-CN" sz="2400" b="1" dirty="0">
                <a:latin typeface="Times New Roman" pitchFamily="18" charset="0"/>
                <a:ea typeface="宋体" pitchFamily="2" charset="-122"/>
                <a:cs typeface="Times New Roman" pitchFamily="18" charset="0"/>
              </a:rPr>
              <a:t>(</a:t>
            </a:r>
            <a:r>
              <a:rPr lang="zh-CN" altLang="en-US" sz="2400" b="1" dirty="0">
                <a:latin typeface="Times New Roman" pitchFamily="18" charset="0"/>
                <a:ea typeface="宋体" pitchFamily="2" charset="-122"/>
                <a:cs typeface="Times New Roman" pitchFamily="18" charset="0"/>
              </a:rPr>
              <a:t>也称组合测量</a:t>
            </a:r>
            <a:r>
              <a:rPr lang="en-US" altLang="zh-CN" sz="2400" b="1" dirty="0">
                <a:latin typeface="Times New Roman" pitchFamily="18" charset="0"/>
                <a:ea typeface="宋体" pitchFamily="2" charset="-122"/>
                <a:cs typeface="Times New Roman" pitchFamily="18" charset="0"/>
              </a:rPr>
              <a:t>)</a:t>
            </a:r>
          </a:p>
          <a:p>
            <a:pPr marL="342900" indent="-342900">
              <a:lnSpc>
                <a:spcPct val="150000"/>
              </a:lnSpc>
            </a:pPr>
            <a:r>
              <a:rPr lang="en-US" altLang="zh-CN" sz="2400" b="1" dirty="0">
                <a:latin typeface="Times New Roman" pitchFamily="18" charset="0"/>
                <a:ea typeface="宋体" pitchFamily="2" charset="-122"/>
                <a:cs typeface="Times New Roman" pitchFamily="18" charset="0"/>
              </a:rPr>
              <a:t>      </a:t>
            </a:r>
            <a:r>
              <a:rPr lang="zh-CN" altLang="en-US" sz="2400" b="1" dirty="0">
                <a:latin typeface="Times New Roman" pitchFamily="18" charset="0"/>
                <a:ea typeface="宋体" pitchFamily="2" charset="-122"/>
                <a:cs typeface="Times New Roman" pitchFamily="18" charset="0"/>
              </a:rPr>
              <a:t>在应用仪表进行测量时，若被测物理量必须经过求解联立方程组，才能得到最后结果，则称这样的测量为联立测量。</a:t>
            </a:r>
          </a:p>
          <a:p>
            <a:pPr marL="342900" indent="-342900">
              <a:lnSpc>
                <a:spcPct val="150000"/>
              </a:lnSpc>
            </a:pPr>
            <a:r>
              <a:rPr lang="zh-CN" altLang="en-US" sz="2400" b="1" dirty="0">
                <a:latin typeface="Times New Roman" pitchFamily="18" charset="0"/>
                <a:ea typeface="宋体" pitchFamily="2" charset="-122"/>
                <a:cs typeface="Times New Roman" pitchFamily="18" charset="0"/>
              </a:rPr>
              <a:t>      例：</a:t>
            </a:r>
            <a:r>
              <a:rPr lang="en-US" altLang="zh-CN" sz="2400" b="1" i="1" dirty="0" err="1">
                <a:latin typeface="Times New Roman" pitchFamily="18" charset="0"/>
                <a:ea typeface="宋体" pitchFamily="2" charset="-122"/>
                <a:cs typeface="Times New Roman" pitchFamily="18" charset="0"/>
              </a:rPr>
              <a:t>R</a:t>
            </a:r>
            <a:r>
              <a:rPr lang="en-US" altLang="zh-CN" sz="2400" b="1" i="1" baseline="-25000" dirty="0" err="1">
                <a:latin typeface="Times New Roman" pitchFamily="18" charset="0"/>
                <a:ea typeface="宋体" pitchFamily="2" charset="-122"/>
                <a:cs typeface="Times New Roman" pitchFamily="18" charset="0"/>
              </a:rPr>
              <a:t>t</a:t>
            </a:r>
            <a:r>
              <a:rPr lang="en-US" altLang="zh-CN" sz="2400" b="1" dirty="0">
                <a:latin typeface="Times New Roman" pitchFamily="18" charset="0"/>
                <a:ea typeface="宋体" pitchFamily="2" charset="-122"/>
                <a:cs typeface="Times New Roman" pitchFamily="18" charset="0"/>
              </a:rPr>
              <a:t>=</a:t>
            </a:r>
            <a:r>
              <a:rPr lang="en-US" altLang="zh-CN" sz="2400" b="1" i="1" dirty="0">
                <a:latin typeface="Times New Roman" pitchFamily="18" charset="0"/>
                <a:ea typeface="宋体" pitchFamily="2" charset="-122"/>
                <a:cs typeface="Times New Roman" pitchFamily="18" charset="0"/>
              </a:rPr>
              <a:t>R</a:t>
            </a:r>
            <a:r>
              <a:rPr lang="en-US" altLang="zh-CN" sz="2400" b="1" baseline="-25000" dirty="0">
                <a:latin typeface="Times New Roman" pitchFamily="18" charset="0"/>
                <a:ea typeface="宋体" pitchFamily="2" charset="-122"/>
                <a:cs typeface="Times New Roman" pitchFamily="18" charset="0"/>
              </a:rPr>
              <a:t>0</a:t>
            </a:r>
            <a:r>
              <a:rPr lang="en-US" altLang="zh-CN" sz="2400" b="1" dirty="0">
                <a:latin typeface="Times New Roman" pitchFamily="18" charset="0"/>
                <a:ea typeface="宋体" pitchFamily="2" charset="-122"/>
                <a:cs typeface="Times New Roman" pitchFamily="18" charset="0"/>
              </a:rPr>
              <a:t>(1+A</a:t>
            </a:r>
            <a:r>
              <a:rPr lang="en-US" altLang="zh-CN" sz="2400" b="1" i="1" dirty="0">
                <a:latin typeface="Times New Roman" pitchFamily="18" charset="0"/>
                <a:ea typeface="宋体" pitchFamily="2" charset="-122"/>
                <a:cs typeface="Times New Roman" pitchFamily="18" charset="0"/>
              </a:rPr>
              <a:t>t</a:t>
            </a:r>
            <a:r>
              <a:rPr lang="en-US" altLang="zh-CN" sz="2400" b="1" dirty="0">
                <a:latin typeface="Times New Roman" pitchFamily="18" charset="0"/>
                <a:ea typeface="宋体" pitchFamily="2" charset="-122"/>
                <a:cs typeface="Times New Roman" pitchFamily="18" charset="0"/>
              </a:rPr>
              <a:t>+B</a:t>
            </a:r>
            <a:r>
              <a:rPr lang="en-US" altLang="zh-CN" sz="2400" b="1" i="1" dirty="0">
                <a:latin typeface="Times New Roman" pitchFamily="18" charset="0"/>
                <a:ea typeface="宋体" pitchFamily="2" charset="-122"/>
                <a:cs typeface="Times New Roman" pitchFamily="18" charset="0"/>
              </a:rPr>
              <a:t>t</a:t>
            </a:r>
            <a:r>
              <a:rPr lang="en-US" altLang="zh-CN" sz="2400" b="1" baseline="30000" dirty="0">
                <a:latin typeface="Times New Roman" pitchFamily="18" charset="0"/>
                <a:ea typeface="宋体" pitchFamily="2" charset="-122"/>
                <a:cs typeface="Times New Roman" pitchFamily="18" charset="0"/>
              </a:rPr>
              <a:t>2</a:t>
            </a:r>
            <a:r>
              <a:rPr lang="en-US" altLang="zh-CN" sz="2400" b="1" dirty="0">
                <a:latin typeface="Times New Roman" pitchFamily="18" charset="0"/>
                <a:ea typeface="宋体" pitchFamily="2" charset="-122"/>
                <a:cs typeface="Times New Roman" pitchFamily="18" charset="0"/>
              </a:rPr>
              <a:t>) ,</a:t>
            </a:r>
            <a:r>
              <a:rPr lang="zh-CN" altLang="en-US" sz="2400" b="1" dirty="0">
                <a:latin typeface="Times New Roman" pitchFamily="18" charset="0"/>
                <a:ea typeface="宋体" pitchFamily="2" charset="-122"/>
                <a:cs typeface="Times New Roman" pitchFamily="18" charset="0"/>
              </a:rPr>
              <a:t>测</a:t>
            </a:r>
            <a:r>
              <a:rPr lang="en-US" altLang="zh-CN" sz="2400" b="1" dirty="0">
                <a:latin typeface="Times New Roman" pitchFamily="18" charset="0"/>
                <a:ea typeface="宋体" pitchFamily="2" charset="-122"/>
                <a:cs typeface="Times New Roman" pitchFamily="18" charset="0"/>
              </a:rPr>
              <a:t>A</a:t>
            </a:r>
            <a:r>
              <a:rPr lang="zh-CN" altLang="en-US" sz="2400" b="1" dirty="0">
                <a:latin typeface="Times New Roman" pitchFamily="18" charset="0"/>
                <a:ea typeface="宋体" pitchFamily="2" charset="-122"/>
                <a:cs typeface="Times New Roman" pitchFamily="18" charset="0"/>
              </a:rPr>
              <a:t>和</a:t>
            </a:r>
            <a:r>
              <a:rPr lang="en-US" altLang="zh-CN" sz="2400" b="1" dirty="0">
                <a:latin typeface="Times New Roman" pitchFamily="18" charset="0"/>
                <a:ea typeface="宋体" pitchFamily="2" charset="-122"/>
                <a:cs typeface="Times New Roman" pitchFamily="18" charset="0"/>
              </a:rPr>
              <a:t>B</a:t>
            </a:r>
          </a:p>
        </p:txBody>
      </p:sp>
      <p:sp>
        <p:nvSpPr>
          <p:cNvPr id="2" name="Slide Number Placeholder 1">
            <a:extLst>
              <a:ext uri="{FF2B5EF4-FFF2-40B4-BE49-F238E27FC236}">
                <a16:creationId xmlns:a16="http://schemas.microsoft.com/office/drawing/2014/main" id="{1E4E8A6B-CB68-4D84-9D77-B8ED9C56A601}"/>
              </a:ext>
            </a:extLst>
          </p:cNvPr>
          <p:cNvSpPr>
            <a:spLocks noGrp="1"/>
          </p:cNvSpPr>
          <p:nvPr>
            <p:ph type="sldNum" sz="quarter" idx="12"/>
          </p:nvPr>
        </p:nvSpPr>
        <p:spPr/>
        <p:txBody>
          <a:bodyPr/>
          <a:lstStyle/>
          <a:p>
            <a:fld id="{DC11BA4E-7967-4102-867C-9D230A2E6791}" type="slidenum">
              <a:rPr lang="zh-CN" altLang="en-US" smtClean="0"/>
              <a:t>6</a:t>
            </a:fld>
            <a:endParaRPr lang="zh-CN" altLang="en-US"/>
          </a:p>
        </p:txBody>
      </p:sp>
    </p:spTree>
    <p:extLst>
      <p:ext uri="{BB962C8B-B14F-4D97-AF65-F5344CB8AC3E}">
        <p14:creationId xmlns:p14="http://schemas.microsoft.com/office/powerpoint/2010/main" val="24974637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2611561" y="1556855"/>
            <a:ext cx="4439245" cy="3376361"/>
          </a:xfrm>
        </p:spPr>
        <p:txBody>
          <a:bodyPr>
            <a:noAutofit/>
          </a:bodyPr>
          <a:lstStyle/>
          <a:p>
            <a:pPr marL="0" indent="0" eaLnBrk="1" hangingPunct="1">
              <a:lnSpc>
                <a:spcPct val="200000"/>
              </a:lnSpc>
              <a:spcBef>
                <a:spcPts val="768"/>
              </a:spcBef>
              <a:buNone/>
              <a:defRPr/>
            </a:pPr>
            <a:r>
              <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3" action="ppaction://hlinksldjump"/>
              </a:rPr>
              <a:t>一、偏差式测量</a:t>
            </a:r>
            <a:endPar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768"/>
              </a:spcBef>
              <a:buNone/>
              <a:defRPr/>
            </a:pPr>
            <a:r>
              <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4" action="ppaction://hlinksldjump"/>
              </a:rPr>
              <a:t>二、零位式测量</a:t>
            </a:r>
            <a:endPar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768"/>
              </a:spcBef>
              <a:buNone/>
              <a:defRPr/>
            </a:pPr>
            <a:r>
              <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5" action="ppaction://hlinksldjump"/>
              </a:rPr>
              <a:t>三、微差式测量 </a:t>
            </a:r>
            <a:endPar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672"/>
              </a:spcBef>
              <a:buNone/>
              <a:defRPr/>
            </a:pPr>
            <a:endParaRPr lang="zh-CN" altLang="en-US" sz="2400"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p:txBody>
      </p:sp>
      <p:sp>
        <p:nvSpPr>
          <p:cNvPr id="25" name="矩形 24"/>
          <p:cNvSpPr/>
          <p:nvPr/>
        </p:nvSpPr>
        <p:spPr>
          <a:xfrm>
            <a:off x="1571711" y="354313"/>
            <a:ext cx="7839637" cy="6275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15.2.2</a:t>
            </a:r>
          </a:p>
        </p:txBody>
      </p:sp>
      <p:sp>
        <p:nvSpPr>
          <p:cNvPr id="28" name="矩形 27"/>
          <p:cNvSpPr/>
          <p:nvPr/>
        </p:nvSpPr>
        <p:spPr>
          <a:xfrm>
            <a:off x="1571711" y="329520"/>
            <a:ext cx="7572289" cy="615549"/>
          </a:xfrm>
          <a:prstGeom prst="rect">
            <a:avLst/>
          </a:prstGeom>
        </p:spPr>
        <p:txBody>
          <a:bodyPr wrap="squar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偏</a:t>
            </a:r>
            <a:r>
              <a:rPr lang="zh-CN" altLang="en-US" sz="3400" b="1">
                <a:solidFill>
                  <a:schemeClr val="bg1"/>
                </a:solidFill>
                <a:latin typeface="宋体" panose="02010600030101010101" pitchFamily="2" charset="-122"/>
                <a:ea typeface="宋体" panose="02010600030101010101" pitchFamily="2" charset="-122"/>
                <a:sym typeface="+mn-ea"/>
              </a:rPr>
              <a:t>差式、</a:t>
            </a:r>
            <a:r>
              <a:rPr lang="zh-CN" altLang="en-US" sz="3400" b="1" dirty="0">
                <a:solidFill>
                  <a:schemeClr val="bg1"/>
                </a:solidFill>
                <a:latin typeface="宋体" panose="02010600030101010101" pitchFamily="2" charset="-122"/>
                <a:ea typeface="宋体" panose="02010600030101010101" pitchFamily="2" charset="-122"/>
                <a:sym typeface="+mn-ea"/>
              </a:rPr>
              <a:t>零</a:t>
            </a:r>
            <a:r>
              <a:rPr lang="zh-CN" altLang="en-US" sz="3400" b="1">
                <a:solidFill>
                  <a:schemeClr val="bg1"/>
                </a:solidFill>
                <a:latin typeface="宋体" panose="02010600030101010101" pitchFamily="2" charset="-122"/>
                <a:ea typeface="宋体" panose="02010600030101010101" pitchFamily="2" charset="-122"/>
                <a:sym typeface="+mn-ea"/>
              </a:rPr>
              <a:t>位式和</a:t>
            </a:r>
            <a:r>
              <a:rPr lang="zh-CN" altLang="en-US" sz="3400" b="1" dirty="0">
                <a:solidFill>
                  <a:schemeClr val="bg1"/>
                </a:solidFill>
                <a:latin typeface="宋体" panose="02010600030101010101" pitchFamily="2" charset="-122"/>
                <a:ea typeface="宋体" panose="02010600030101010101" pitchFamily="2" charset="-122"/>
                <a:sym typeface="+mn-ea"/>
              </a:rPr>
              <a:t>微差式测量</a:t>
            </a:r>
          </a:p>
        </p:txBody>
      </p:sp>
      <p:sp>
        <p:nvSpPr>
          <p:cNvPr id="2" name="Slide Number Placeholder 1">
            <a:extLst>
              <a:ext uri="{FF2B5EF4-FFF2-40B4-BE49-F238E27FC236}">
                <a16:creationId xmlns:a16="http://schemas.microsoft.com/office/drawing/2014/main" id="{488B106F-0F1D-4BE2-BF0D-2C0200DBA34F}"/>
              </a:ext>
            </a:extLst>
          </p:cNvPr>
          <p:cNvSpPr>
            <a:spLocks noGrp="1"/>
          </p:cNvSpPr>
          <p:nvPr>
            <p:ph type="sldNum" sz="quarter" idx="12"/>
          </p:nvPr>
        </p:nvSpPr>
        <p:spPr/>
        <p:txBody>
          <a:bodyPr/>
          <a:lstStyle/>
          <a:p>
            <a:fld id="{DC11BA4E-7967-4102-867C-9D230A2E6791}" type="slidenum">
              <a:rPr lang="zh-CN" altLang="en-US" smtClean="0"/>
              <a:t>7</a:t>
            </a:fld>
            <a:endParaRPr lang="zh-CN" altLang="en-US"/>
          </a:p>
        </p:txBody>
      </p:sp>
    </p:spTree>
    <p:extLst>
      <p:ext uri="{BB962C8B-B14F-4D97-AF65-F5344CB8AC3E}">
        <p14:creationId xmlns:p14="http://schemas.microsoft.com/office/powerpoint/2010/main" val="139541910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偏差式测量</a:t>
            </a:r>
          </a:p>
        </p:txBody>
      </p:sp>
      <p:sp>
        <p:nvSpPr>
          <p:cNvPr id="38" name="Rectangle 3"/>
          <p:cNvSpPr>
            <a:spLocks noRot="1" noChangeArrowheads="1"/>
          </p:cNvSpPr>
          <p:nvPr/>
        </p:nvSpPr>
        <p:spPr bwMode="auto">
          <a:xfrm>
            <a:off x="115170" y="1353047"/>
            <a:ext cx="4757968" cy="1204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623888">
              <a:lnSpc>
                <a:spcPct val="150000"/>
              </a:lnSpc>
            </a:pPr>
            <a:r>
              <a:rPr lang="zh-CN" altLang="en-US" sz="2000" b="1" dirty="0">
                <a:latin typeface="宋体" pitchFamily="2" charset="-122"/>
                <a:ea typeface="宋体" pitchFamily="2" charset="-122"/>
              </a:rPr>
              <a:t>在测量过程中，用仪表指针的位移</a:t>
            </a:r>
            <a:r>
              <a:rPr lang="en-US" altLang="zh-CN" sz="2000" b="1" dirty="0">
                <a:latin typeface="宋体" pitchFamily="2" charset="-122"/>
                <a:ea typeface="宋体" pitchFamily="2" charset="-122"/>
              </a:rPr>
              <a:t>(</a:t>
            </a:r>
            <a:r>
              <a:rPr lang="zh-CN" altLang="en-US" sz="2000" b="1" dirty="0">
                <a:latin typeface="宋体" pitchFamily="2" charset="-122"/>
                <a:ea typeface="宋体" pitchFamily="2" charset="-122"/>
              </a:rPr>
              <a:t>即偏差</a:t>
            </a:r>
            <a:r>
              <a:rPr lang="en-US" altLang="zh-CN" sz="2000" b="1" dirty="0">
                <a:latin typeface="宋体" pitchFamily="2" charset="-122"/>
                <a:ea typeface="宋体" pitchFamily="2" charset="-122"/>
              </a:rPr>
              <a:t>)</a:t>
            </a:r>
            <a:r>
              <a:rPr lang="zh-CN" altLang="en-US" sz="2000" b="1" dirty="0">
                <a:latin typeface="宋体" pitchFamily="2" charset="-122"/>
                <a:ea typeface="宋体" pitchFamily="2" charset="-122"/>
              </a:rPr>
              <a:t>决定被测量的测量方法。</a:t>
            </a:r>
          </a:p>
        </p:txBody>
      </p:sp>
      <p:sp>
        <p:nvSpPr>
          <p:cNvPr id="9" name="矩形 8"/>
          <p:cNvSpPr/>
          <p:nvPr/>
        </p:nvSpPr>
        <p:spPr>
          <a:xfrm>
            <a:off x="139707" y="2329588"/>
            <a:ext cx="4768388" cy="4056752"/>
          </a:xfrm>
          <a:prstGeom prst="rect">
            <a:avLst/>
          </a:prstGeom>
        </p:spPr>
        <p:txBody>
          <a:bodyPr wrap="square">
            <a:spAutoFit/>
          </a:bodyPr>
          <a:lstStyle/>
          <a:p>
            <a:pPr marL="342900" lvl="0" indent="-342900">
              <a:lnSpc>
                <a:spcPct val="150000"/>
              </a:lnSpc>
              <a:spcBef>
                <a:spcPts val="600"/>
              </a:spcBef>
              <a:buFont typeface="Arial" panose="020B0604020202020204" pitchFamily="34" charset="0"/>
              <a:buChar char="•"/>
            </a:pPr>
            <a:r>
              <a:rPr lang="zh-CN" altLang="en-US" sz="2000" b="1">
                <a:solidFill>
                  <a:prstClr val="black"/>
                </a:solidFill>
                <a:latin typeface="宋体" pitchFamily="2" charset="-122"/>
                <a:ea typeface="宋体" pitchFamily="2" charset="-122"/>
              </a:rPr>
              <a:t>被</a:t>
            </a:r>
            <a:r>
              <a:rPr lang="zh-CN" altLang="en-US" sz="2000" b="1" dirty="0">
                <a:solidFill>
                  <a:prstClr val="black"/>
                </a:solidFill>
                <a:latin typeface="宋体" pitchFamily="2" charset="-122"/>
                <a:ea typeface="宋体" pitchFamily="2" charset="-122"/>
              </a:rPr>
              <a:t>测</a:t>
            </a:r>
            <a:r>
              <a:rPr lang="zh-CN" altLang="en-US" sz="2000" b="1">
                <a:solidFill>
                  <a:prstClr val="black"/>
                </a:solidFill>
                <a:latin typeface="宋体" pitchFamily="2" charset="-122"/>
                <a:ea typeface="宋体" pitchFamily="2" charset="-122"/>
              </a:rPr>
              <a:t>介质压力使</a:t>
            </a:r>
            <a:r>
              <a:rPr lang="zh-CN" altLang="en-US" sz="2000" b="1" dirty="0">
                <a:solidFill>
                  <a:prstClr val="black"/>
                </a:solidFill>
                <a:latin typeface="宋体" pitchFamily="2" charset="-122"/>
                <a:ea typeface="宋体" pitchFamily="2" charset="-122"/>
              </a:rPr>
              <a:t>弹簧变形，产生</a:t>
            </a:r>
            <a:r>
              <a:rPr lang="zh-CN" altLang="en-US" sz="2000" b="1">
                <a:solidFill>
                  <a:prstClr val="black"/>
                </a:solidFill>
                <a:latin typeface="宋体" pitchFamily="2" charset="-122"/>
                <a:ea typeface="宋体" pitchFamily="2" charset="-122"/>
              </a:rPr>
              <a:t>弹性反作用力</a:t>
            </a:r>
            <a:endParaRPr lang="en-US" altLang="zh-CN" sz="2000" b="1">
              <a:solidFill>
                <a:prstClr val="black"/>
              </a:solidFill>
              <a:latin typeface="宋体" pitchFamily="2" charset="-122"/>
              <a:ea typeface="宋体" pitchFamily="2" charset="-122"/>
            </a:endParaRPr>
          </a:p>
          <a:p>
            <a:pPr marL="342900" lvl="0" indent="-342900">
              <a:lnSpc>
                <a:spcPct val="150000"/>
              </a:lnSpc>
              <a:spcBef>
                <a:spcPts val="600"/>
              </a:spcBef>
              <a:buFont typeface="Arial" panose="020B0604020202020204" pitchFamily="34" charset="0"/>
              <a:buChar char="•"/>
            </a:pPr>
            <a:r>
              <a:rPr lang="zh-CN" altLang="en-US" sz="2000" b="1">
                <a:solidFill>
                  <a:prstClr val="black"/>
                </a:solidFill>
                <a:latin typeface="宋体" pitchFamily="2" charset="-122"/>
                <a:ea typeface="宋体" pitchFamily="2" charset="-122"/>
              </a:rPr>
              <a:t>当</a:t>
            </a:r>
            <a:r>
              <a:rPr lang="zh-CN" altLang="en-US" sz="2000" b="1" dirty="0">
                <a:solidFill>
                  <a:prstClr val="black"/>
                </a:solidFill>
                <a:latin typeface="宋体" pitchFamily="2" charset="-122"/>
                <a:ea typeface="宋体" pitchFamily="2" charset="-122"/>
              </a:rPr>
              <a:t>被测介质压力产生的作用力与弹簧反作用力相平衡时，活塞</a:t>
            </a:r>
            <a:r>
              <a:rPr lang="zh-CN" altLang="en-US" sz="2000" b="1">
                <a:solidFill>
                  <a:prstClr val="black"/>
                </a:solidFill>
                <a:latin typeface="宋体" pitchFamily="2" charset="-122"/>
                <a:ea typeface="宋体" pitchFamily="2" charset="-122"/>
              </a:rPr>
              <a:t>达到平衡</a:t>
            </a:r>
            <a:endParaRPr lang="en-US" altLang="zh-CN" sz="2000" b="1">
              <a:solidFill>
                <a:prstClr val="black"/>
              </a:solidFill>
              <a:latin typeface="宋体" pitchFamily="2" charset="-122"/>
              <a:ea typeface="宋体" pitchFamily="2" charset="-122"/>
            </a:endParaRPr>
          </a:p>
          <a:p>
            <a:pPr marL="342900" lvl="0" indent="-342900">
              <a:lnSpc>
                <a:spcPct val="150000"/>
              </a:lnSpc>
              <a:spcBef>
                <a:spcPts val="600"/>
              </a:spcBef>
              <a:buFont typeface="Arial" panose="020B0604020202020204" pitchFamily="34" charset="0"/>
              <a:buChar char="•"/>
            </a:pPr>
            <a:r>
              <a:rPr lang="zh-CN" altLang="en-US" sz="2000" b="1">
                <a:solidFill>
                  <a:prstClr val="black"/>
                </a:solidFill>
                <a:latin typeface="宋体" pitchFamily="2" charset="-122"/>
                <a:ea typeface="宋体" pitchFamily="2" charset="-122"/>
              </a:rPr>
              <a:t>这时</a:t>
            </a:r>
            <a:r>
              <a:rPr lang="zh-CN" altLang="en-US" sz="2000" b="1" dirty="0">
                <a:solidFill>
                  <a:prstClr val="black"/>
                </a:solidFill>
                <a:latin typeface="宋体" pitchFamily="2" charset="-122"/>
                <a:ea typeface="宋体" pitchFamily="2" charset="-122"/>
              </a:rPr>
              <a:t>指针位移在标尺上对应的刻度值，就表示被测介质压力值。</a:t>
            </a:r>
          </a:p>
          <a:p>
            <a:pPr indent="623888">
              <a:lnSpc>
                <a:spcPct val="150000"/>
              </a:lnSpc>
              <a:spcBef>
                <a:spcPts val="600"/>
              </a:spcBef>
            </a:pPr>
            <a:r>
              <a:rPr lang="zh-CN" altLang="en-US" sz="2000" b="1" dirty="0">
                <a:latin typeface="宋体" pitchFamily="2" charset="-122"/>
                <a:ea typeface="宋体" pitchFamily="2" charset="-122"/>
              </a:rPr>
              <a:t>过程简单、迅速，但精度</a:t>
            </a:r>
            <a:r>
              <a:rPr lang="zh-CN" altLang="en-US" sz="2000" b="1">
                <a:latin typeface="宋体" pitchFamily="2" charset="-122"/>
                <a:ea typeface="宋体" pitchFamily="2" charset="-122"/>
              </a:rPr>
              <a:t>较低。</a:t>
            </a:r>
            <a:endParaRPr lang="en-US" altLang="zh-CN" sz="2000" b="1">
              <a:latin typeface="宋体" pitchFamily="2" charset="-122"/>
              <a:ea typeface="宋体" pitchFamily="2" charset="-122"/>
            </a:endParaRPr>
          </a:p>
          <a:p>
            <a:pPr indent="623888">
              <a:lnSpc>
                <a:spcPct val="150000"/>
              </a:lnSpc>
              <a:spcBef>
                <a:spcPts val="600"/>
              </a:spcBef>
            </a:pPr>
            <a:r>
              <a:rPr lang="zh-CN" altLang="en-US" sz="2000" b="1">
                <a:solidFill>
                  <a:prstClr val="black"/>
                </a:solidFill>
                <a:latin typeface="宋体" pitchFamily="2" charset="-122"/>
                <a:ea typeface="宋体" pitchFamily="2" charset="-122"/>
              </a:rPr>
              <a:t>类似于</a:t>
            </a:r>
            <a:r>
              <a:rPr lang="zh-CN" altLang="en-US" sz="2000" b="1" dirty="0">
                <a:solidFill>
                  <a:srgbClr val="FF0000"/>
                </a:solidFill>
                <a:latin typeface="宋体" pitchFamily="2" charset="-122"/>
                <a:ea typeface="宋体" pitchFamily="2" charset="-122"/>
              </a:rPr>
              <a:t>开环控制</a:t>
            </a:r>
            <a:r>
              <a:rPr lang="zh-CN" altLang="en-US" sz="2000" b="1" dirty="0">
                <a:solidFill>
                  <a:prstClr val="black"/>
                </a:solidFill>
                <a:latin typeface="宋体" pitchFamily="2" charset="-122"/>
                <a:ea typeface="宋体" pitchFamily="2" charset="-122"/>
              </a:rPr>
              <a:t>的特点。 </a:t>
            </a:r>
            <a:endParaRPr lang="zh-CN" altLang="en-US" sz="1600" dirty="0"/>
          </a:p>
        </p:txBody>
      </p:sp>
      <p:sp>
        <p:nvSpPr>
          <p:cNvPr id="2" name="Slide Number Placeholder 1">
            <a:extLst>
              <a:ext uri="{FF2B5EF4-FFF2-40B4-BE49-F238E27FC236}">
                <a16:creationId xmlns:a16="http://schemas.microsoft.com/office/drawing/2014/main" id="{06700B0B-BEE9-4ABE-99A3-06813F0E1A8C}"/>
              </a:ext>
            </a:extLst>
          </p:cNvPr>
          <p:cNvSpPr>
            <a:spLocks noGrp="1"/>
          </p:cNvSpPr>
          <p:nvPr>
            <p:ph type="sldNum" sz="quarter" idx="12"/>
          </p:nvPr>
        </p:nvSpPr>
        <p:spPr/>
        <p:txBody>
          <a:bodyPr/>
          <a:lstStyle/>
          <a:p>
            <a:fld id="{DC11BA4E-7967-4102-867C-9D230A2E6791}" type="slidenum">
              <a:rPr lang="zh-CN" altLang="en-US" smtClean="0"/>
              <a:t>8</a:t>
            </a:fld>
            <a:endParaRPr lang="zh-CN" altLang="en-US"/>
          </a:p>
        </p:txBody>
      </p:sp>
      <p:sp>
        <p:nvSpPr>
          <p:cNvPr id="20" name="Text Box 9">
            <a:extLst>
              <a:ext uri="{FF2B5EF4-FFF2-40B4-BE49-F238E27FC236}">
                <a16:creationId xmlns:a16="http://schemas.microsoft.com/office/drawing/2014/main" id="{A0201BBF-D22E-4179-A56C-37AE8DB4BA41}"/>
              </a:ext>
            </a:extLst>
          </p:cNvPr>
          <p:cNvSpPr txBox="1">
            <a:spLocks noChangeArrowheads="1"/>
          </p:cNvSpPr>
          <p:nvPr/>
        </p:nvSpPr>
        <p:spPr bwMode="auto">
          <a:xfrm>
            <a:off x="6121233" y="5137986"/>
            <a:ext cx="293320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a:solidFill>
                  <a:srgbClr val="000099"/>
                </a:solidFill>
                <a:latin typeface="宋体" pitchFamily="2" charset="-122"/>
                <a:ea typeface="宋体" pitchFamily="2" charset="-122"/>
              </a:rPr>
              <a:t>图</a:t>
            </a:r>
            <a:r>
              <a:rPr kumimoji="0" lang="en-US" altLang="zh-CN" b="1">
                <a:solidFill>
                  <a:srgbClr val="000099"/>
                </a:solidFill>
                <a:latin typeface="宋体" pitchFamily="2" charset="-122"/>
                <a:ea typeface="宋体" pitchFamily="2" charset="-122"/>
              </a:rPr>
              <a:t>l5-l  </a:t>
            </a:r>
            <a:r>
              <a:rPr kumimoji="0" lang="zh-CN" altLang="en-US" b="1">
                <a:solidFill>
                  <a:srgbClr val="000099"/>
                </a:solidFill>
                <a:latin typeface="宋体" pitchFamily="2" charset="-122"/>
                <a:ea typeface="宋体" pitchFamily="2" charset="-122"/>
              </a:rPr>
              <a:t>压力表</a:t>
            </a:r>
          </a:p>
        </p:txBody>
      </p:sp>
      <p:graphicFrame>
        <p:nvGraphicFramePr>
          <p:cNvPr id="21" name="Object 12">
            <a:extLst>
              <a:ext uri="{FF2B5EF4-FFF2-40B4-BE49-F238E27FC236}">
                <a16:creationId xmlns:a16="http://schemas.microsoft.com/office/drawing/2014/main" id="{BDDA3729-7886-4D8C-9353-E8A1CDACFC73}"/>
              </a:ext>
            </a:extLst>
          </p:cNvPr>
          <p:cNvGraphicFramePr>
            <a:graphicFrameLocks noChangeAspect="1"/>
          </p:cNvGraphicFramePr>
          <p:nvPr>
            <p:extLst>
              <p:ext uri="{D42A27DB-BD31-4B8C-83A1-F6EECF244321}">
                <p14:modId xmlns:p14="http://schemas.microsoft.com/office/powerpoint/2010/main" val="3882221400"/>
              </p:ext>
            </p:extLst>
          </p:nvPr>
        </p:nvGraphicFramePr>
        <p:xfrm>
          <a:off x="4796589" y="1488261"/>
          <a:ext cx="4347411" cy="3613490"/>
        </p:xfrm>
        <a:graphic>
          <a:graphicData uri="http://schemas.openxmlformats.org/presentationml/2006/ole">
            <mc:AlternateContent xmlns:mc="http://schemas.openxmlformats.org/markup-compatibility/2006">
              <mc:Choice xmlns:v="urn:schemas-microsoft-com:vml" Requires="v">
                <p:oleObj name="Flash Movie" r:id="rId3" imgW="6514920" imgH="4559400" progId="Flash.Movie">
                  <p:embed/>
                </p:oleObj>
              </mc:Choice>
              <mc:Fallback>
                <p:oleObj name="Flash Movie" r:id="rId3" imgW="6514920" imgH="4559400" progId="Flash.Movie">
                  <p:embed/>
                  <p:pic>
                    <p:nvPicPr>
                      <p:cNvPr id="206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6589" y="1488261"/>
                        <a:ext cx="4347411" cy="361349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8009167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零位式测量</a:t>
            </a:r>
          </a:p>
        </p:txBody>
      </p:sp>
      <p:sp>
        <p:nvSpPr>
          <p:cNvPr id="38" name="Rectangle 3"/>
          <p:cNvSpPr>
            <a:spLocks noRot="1" noChangeArrowheads="1"/>
          </p:cNvSpPr>
          <p:nvPr/>
        </p:nvSpPr>
        <p:spPr bwMode="auto">
          <a:xfrm>
            <a:off x="185083" y="1301583"/>
            <a:ext cx="4575625" cy="14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50000"/>
              </a:lnSpc>
              <a:buFont typeface="Arial" panose="020B0604020202020204" pitchFamily="34" charset="0"/>
              <a:buChar char="•"/>
            </a:pPr>
            <a:r>
              <a:rPr lang="zh-CN" altLang="en-US" sz="2000" b="1">
                <a:latin typeface="宋体" pitchFamily="2" charset="-122"/>
                <a:ea typeface="宋体" pitchFamily="2" charset="-122"/>
              </a:rPr>
              <a:t>在</a:t>
            </a:r>
            <a:r>
              <a:rPr lang="zh-CN" altLang="en-US" sz="2000" b="1" dirty="0">
                <a:latin typeface="宋体" pitchFamily="2" charset="-122"/>
                <a:ea typeface="宋体" pitchFamily="2" charset="-122"/>
              </a:rPr>
              <a:t>测量过程中，</a:t>
            </a:r>
            <a:r>
              <a:rPr lang="zh-CN" altLang="en-US" sz="2000" b="1" dirty="0">
                <a:solidFill>
                  <a:srgbClr val="0000FF"/>
                </a:solidFill>
                <a:latin typeface="宋体" pitchFamily="2" charset="-122"/>
                <a:ea typeface="宋体" pitchFamily="2" charset="-122"/>
              </a:rPr>
              <a:t>用指零仪表的零位指示，检测测量系统的</a:t>
            </a:r>
            <a:r>
              <a:rPr lang="zh-CN" altLang="en-US" sz="2000" b="1">
                <a:solidFill>
                  <a:srgbClr val="0000FF"/>
                </a:solidFill>
                <a:latin typeface="宋体" pitchFamily="2" charset="-122"/>
                <a:ea typeface="宋体" pitchFamily="2" charset="-122"/>
              </a:rPr>
              <a:t>平衡状态</a:t>
            </a:r>
            <a:r>
              <a:rPr lang="zh-CN" altLang="en-US" sz="2000" b="1">
                <a:latin typeface="宋体" pitchFamily="2" charset="-122"/>
                <a:ea typeface="宋体" pitchFamily="2" charset="-122"/>
              </a:rPr>
              <a:t>；</a:t>
            </a:r>
            <a:endParaRPr lang="en-US" altLang="zh-CN" sz="2000" b="1">
              <a:latin typeface="宋体" pitchFamily="2" charset="-122"/>
              <a:ea typeface="宋体" pitchFamily="2" charset="-122"/>
            </a:endParaRPr>
          </a:p>
          <a:p>
            <a:pPr marL="342900" indent="-342900">
              <a:lnSpc>
                <a:spcPct val="150000"/>
              </a:lnSpc>
              <a:buFont typeface="Arial" panose="020B0604020202020204" pitchFamily="34" charset="0"/>
              <a:buChar char="•"/>
            </a:pPr>
            <a:r>
              <a:rPr lang="zh-CN" altLang="en-US" sz="2000" b="1">
                <a:latin typeface="宋体" pitchFamily="2" charset="-122"/>
                <a:ea typeface="宋体" pitchFamily="2" charset="-122"/>
              </a:rPr>
              <a:t>在</a:t>
            </a:r>
            <a:r>
              <a:rPr lang="zh-CN" altLang="en-US" sz="2000" b="1" dirty="0">
                <a:latin typeface="宋体" pitchFamily="2" charset="-122"/>
                <a:ea typeface="宋体" pitchFamily="2" charset="-122"/>
              </a:rPr>
              <a:t>测量系统达到平衡时，用已知的基准量决定被测未知量的测量方法。</a:t>
            </a:r>
          </a:p>
        </p:txBody>
      </p:sp>
      <p:sp>
        <p:nvSpPr>
          <p:cNvPr id="9" name="矩形 8"/>
          <p:cNvSpPr/>
          <p:nvPr/>
        </p:nvSpPr>
        <p:spPr>
          <a:xfrm>
            <a:off x="185082" y="3375660"/>
            <a:ext cx="4908285" cy="2790187"/>
          </a:xfrm>
          <a:prstGeom prst="rect">
            <a:avLst/>
          </a:prstGeom>
        </p:spPr>
        <p:txBody>
          <a:bodyPr wrap="square">
            <a:spAutoFit/>
          </a:bodyPr>
          <a:lstStyle/>
          <a:p>
            <a:pPr marL="342900" lvl="0" indent="-342900">
              <a:lnSpc>
                <a:spcPct val="150000"/>
              </a:lnSpc>
              <a:buFont typeface="Wingdings" panose="05000000000000000000" pitchFamily="2" charset="2"/>
              <a:buChar char="q"/>
            </a:pPr>
            <a:r>
              <a:rPr lang="zh-CN" altLang="en-US" sz="2000" b="1" dirty="0">
                <a:solidFill>
                  <a:prstClr val="black"/>
                </a:solidFill>
                <a:latin typeface="宋体" pitchFamily="2" charset="-122"/>
                <a:ea typeface="宋体" pitchFamily="2" charset="-122"/>
              </a:rPr>
              <a:t>有比较</a:t>
            </a:r>
            <a:r>
              <a:rPr lang="zh-CN" altLang="en-US" sz="2000" b="1" dirty="0">
                <a:solidFill>
                  <a:srgbClr val="00B050"/>
                </a:solidFill>
                <a:latin typeface="宋体" pitchFamily="2" charset="-122"/>
                <a:ea typeface="宋体" pitchFamily="2" charset="-122"/>
              </a:rPr>
              <a:t>高</a:t>
            </a:r>
            <a:r>
              <a:rPr lang="zh-CN" altLang="en-US" sz="2000" b="1">
                <a:solidFill>
                  <a:srgbClr val="00B050"/>
                </a:solidFill>
                <a:latin typeface="宋体" pitchFamily="2" charset="-122"/>
                <a:ea typeface="宋体" pitchFamily="2" charset="-122"/>
              </a:rPr>
              <a:t>的测量精度</a:t>
            </a:r>
            <a:endParaRPr lang="en-US" altLang="zh-CN" sz="2000" b="1">
              <a:solidFill>
                <a:srgbClr val="00B050"/>
              </a:solidFill>
              <a:latin typeface="宋体" pitchFamily="2" charset="-122"/>
              <a:ea typeface="宋体" pitchFamily="2" charset="-122"/>
            </a:endParaRPr>
          </a:p>
          <a:p>
            <a:pPr marL="342900" lvl="0" indent="-342900">
              <a:lnSpc>
                <a:spcPct val="150000"/>
              </a:lnSpc>
              <a:buFont typeface="Wingdings" panose="05000000000000000000" pitchFamily="2" charset="2"/>
              <a:buChar char="q"/>
            </a:pPr>
            <a:r>
              <a:rPr lang="zh-CN" altLang="en-US" sz="2000" b="1">
                <a:solidFill>
                  <a:prstClr val="black"/>
                </a:solidFill>
                <a:latin typeface="宋体" pitchFamily="2" charset="-122"/>
                <a:ea typeface="宋体" pitchFamily="2" charset="-122"/>
              </a:rPr>
              <a:t>但是</a:t>
            </a:r>
            <a:r>
              <a:rPr lang="zh-CN" altLang="en-US" sz="2000" b="1" dirty="0">
                <a:solidFill>
                  <a:prstClr val="black"/>
                </a:solidFill>
                <a:latin typeface="宋体" pitchFamily="2" charset="-122"/>
                <a:ea typeface="宋体" pitchFamily="2" charset="-122"/>
              </a:rPr>
              <a:t>，测量过程比较复杂，在测量时，要进行平衡操作，</a:t>
            </a:r>
            <a:r>
              <a:rPr lang="zh-CN" altLang="en-US" sz="2000" b="1" dirty="0">
                <a:solidFill>
                  <a:srgbClr val="DA1653"/>
                </a:solidFill>
                <a:latin typeface="宋体" pitchFamily="2" charset="-122"/>
                <a:ea typeface="宋体" pitchFamily="2" charset="-122"/>
              </a:rPr>
              <a:t>花费</a:t>
            </a:r>
            <a:r>
              <a:rPr lang="zh-CN" altLang="en-US" sz="2000" b="1">
                <a:solidFill>
                  <a:srgbClr val="DA1653"/>
                </a:solidFill>
                <a:latin typeface="宋体" pitchFamily="2" charset="-122"/>
                <a:ea typeface="宋体" pitchFamily="2" charset="-122"/>
              </a:rPr>
              <a:t>时间长</a:t>
            </a:r>
            <a:endParaRPr lang="en-US" altLang="zh-CN" sz="2000" b="1">
              <a:solidFill>
                <a:srgbClr val="DA1653"/>
              </a:solidFill>
              <a:latin typeface="宋体" pitchFamily="2" charset="-122"/>
              <a:ea typeface="宋体" pitchFamily="2" charset="-122"/>
            </a:endParaRPr>
          </a:p>
          <a:p>
            <a:pPr marL="342900" lvl="0" indent="-342900">
              <a:lnSpc>
                <a:spcPct val="150000"/>
              </a:lnSpc>
              <a:buFont typeface="Wingdings" panose="05000000000000000000" pitchFamily="2" charset="2"/>
              <a:buChar char="q"/>
            </a:pPr>
            <a:r>
              <a:rPr lang="zh-CN" altLang="en-US" sz="2000" b="1">
                <a:solidFill>
                  <a:prstClr val="black"/>
                </a:solidFill>
                <a:latin typeface="宋体" pitchFamily="2" charset="-122"/>
                <a:ea typeface="宋体" pitchFamily="2" charset="-122"/>
              </a:rPr>
              <a:t>自动</a:t>
            </a:r>
            <a:r>
              <a:rPr lang="zh-CN" altLang="en-US" sz="2000" b="1" dirty="0">
                <a:solidFill>
                  <a:prstClr val="black"/>
                </a:solidFill>
                <a:latin typeface="宋体" pitchFamily="2" charset="-122"/>
                <a:ea typeface="宋体" pitchFamily="2" charset="-122"/>
              </a:rPr>
              <a:t>平衡的</a:t>
            </a:r>
            <a:r>
              <a:rPr lang="zh-CN" altLang="en-US" sz="2000" b="1" dirty="0">
                <a:solidFill>
                  <a:srgbClr val="DA1653"/>
                </a:solidFill>
                <a:latin typeface="宋体" pitchFamily="2" charset="-122"/>
                <a:ea typeface="宋体" pitchFamily="2" charset="-122"/>
              </a:rPr>
              <a:t>反应速度也不高</a:t>
            </a:r>
            <a:r>
              <a:rPr lang="zh-CN" altLang="en-US" sz="2000" b="1" dirty="0">
                <a:solidFill>
                  <a:prstClr val="black"/>
                </a:solidFill>
                <a:latin typeface="宋体" pitchFamily="2" charset="-122"/>
                <a:ea typeface="宋体" pitchFamily="2" charset="-122"/>
              </a:rPr>
              <a:t>，只适用于测量变化较慢</a:t>
            </a:r>
            <a:r>
              <a:rPr lang="zh-CN" altLang="en-US" sz="2000" b="1">
                <a:solidFill>
                  <a:prstClr val="black"/>
                </a:solidFill>
                <a:latin typeface="宋体" pitchFamily="2" charset="-122"/>
                <a:ea typeface="宋体" pitchFamily="2" charset="-122"/>
              </a:rPr>
              <a:t>的信号</a:t>
            </a:r>
            <a:endParaRPr lang="en-US" altLang="zh-CN" sz="2000" b="1">
              <a:solidFill>
                <a:prstClr val="black"/>
              </a:solidFill>
              <a:latin typeface="宋体" pitchFamily="2" charset="-122"/>
              <a:ea typeface="宋体" pitchFamily="2" charset="-122"/>
            </a:endParaRPr>
          </a:p>
          <a:p>
            <a:pPr marL="342900" lvl="0" indent="-342900">
              <a:lnSpc>
                <a:spcPct val="150000"/>
              </a:lnSpc>
              <a:buFont typeface="Wingdings" panose="05000000000000000000" pitchFamily="2" charset="2"/>
              <a:buChar char="q"/>
            </a:pPr>
            <a:r>
              <a:rPr lang="zh-CN" altLang="en-US" sz="2000" b="1">
                <a:solidFill>
                  <a:prstClr val="black"/>
                </a:solidFill>
                <a:latin typeface="宋体" pitchFamily="2" charset="-122"/>
                <a:ea typeface="宋体" pitchFamily="2" charset="-122"/>
              </a:rPr>
              <a:t>类似于</a:t>
            </a:r>
            <a:r>
              <a:rPr lang="zh-CN" altLang="en-US" sz="2000" b="1" dirty="0">
                <a:solidFill>
                  <a:srgbClr val="0000FF"/>
                </a:solidFill>
                <a:latin typeface="宋体" pitchFamily="2" charset="-122"/>
                <a:ea typeface="宋体" pitchFamily="2" charset="-122"/>
              </a:rPr>
              <a:t>闭环控制</a:t>
            </a:r>
            <a:r>
              <a:rPr lang="zh-CN" altLang="en-US" sz="2000" b="1" dirty="0">
                <a:solidFill>
                  <a:prstClr val="black"/>
                </a:solidFill>
                <a:latin typeface="宋体" pitchFamily="2" charset="-122"/>
                <a:ea typeface="宋体" pitchFamily="2" charset="-122"/>
              </a:rPr>
              <a:t>的特点。</a:t>
            </a:r>
          </a:p>
        </p:txBody>
      </p:sp>
      <p:sp>
        <p:nvSpPr>
          <p:cNvPr id="2" name="Slide Number Placeholder 1">
            <a:extLst>
              <a:ext uri="{FF2B5EF4-FFF2-40B4-BE49-F238E27FC236}">
                <a16:creationId xmlns:a16="http://schemas.microsoft.com/office/drawing/2014/main" id="{1AE8EC58-D59D-4D16-8820-1A1C8712AEDE}"/>
              </a:ext>
            </a:extLst>
          </p:cNvPr>
          <p:cNvSpPr>
            <a:spLocks noGrp="1"/>
          </p:cNvSpPr>
          <p:nvPr>
            <p:ph type="sldNum" sz="quarter" idx="12"/>
          </p:nvPr>
        </p:nvSpPr>
        <p:spPr/>
        <p:txBody>
          <a:bodyPr/>
          <a:lstStyle/>
          <a:p>
            <a:fld id="{DC11BA4E-7967-4102-867C-9D230A2E6791}" type="slidenum">
              <a:rPr lang="zh-CN" altLang="en-US" smtClean="0"/>
              <a:t>9</a:t>
            </a:fld>
            <a:endParaRPr lang="zh-CN" altLang="en-US"/>
          </a:p>
        </p:txBody>
      </p:sp>
      <p:sp>
        <p:nvSpPr>
          <p:cNvPr id="20" name="Text Box 9">
            <a:extLst>
              <a:ext uri="{FF2B5EF4-FFF2-40B4-BE49-F238E27FC236}">
                <a16:creationId xmlns:a16="http://schemas.microsoft.com/office/drawing/2014/main" id="{E5628226-EA2D-4138-AB53-6C3158A54276}"/>
              </a:ext>
            </a:extLst>
          </p:cNvPr>
          <p:cNvSpPr txBox="1">
            <a:spLocks noChangeArrowheads="1"/>
          </p:cNvSpPr>
          <p:nvPr/>
        </p:nvSpPr>
        <p:spPr bwMode="auto">
          <a:xfrm>
            <a:off x="5543286" y="4448042"/>
            <a:ext cx="314732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algn="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l5-2  </a:t>
            </a:r>
            <a:r>
              <a:rPr kumimoji="0" lang="zh-CN" altLang="en-US" b="1" dirty="0">
                <a:solidFill>
                  <a:srgbClr val="000099"/>
                </a:solidFill>
                <a:latin typeface="宋体" pitchFamily="2" charset="-122"/>
                <a:ea typeface="宋体" pitchFamily="2" charset="-122"/>
              </a:rPr>
              <a:t>电位差计的简化等效电路</a:t>
            </a:r>
          </a:p>
        </p:txBody>
      </p:sp>
      <p:graphicFrame>
        <p:nvGraphicFramePr>
          <p:cNvPr id="21" name="Object 13">
            <a:extLst>
              <a:ext uri="{FF2B5EF4-FFF2-40B4-BE49-F238E27FC236}">
                <a16:creationId xmlns:a16="http://schemas.microsoft.com/office/drawing/2014/main" id="{90D12ECD-2D0D-487C-88E8-3B1C7B19670D}"/>
              </a:ext>
            </a:extLst>
          </p:cNvPr>
          <p:cNvGraphicFramePr>
            <a:graphicFrameLocks noChangeAspect="1"/>
          </p:cNvGraphicFramePr>
          <p:nvPr>
            <p:extLst>
              <p:ext uri="{D42A27DB-BD31-4B8C-83A1-F6EECF244321}">
                <p14:modId xmlns:p14="http://schemas.microsoft.com/office/powerpoint/2010/main" val="4149848651"/>
              </p:ext>
            </p:extLst>
          </p:nvPr>
        </p:nvGraphicFramePr>
        <p:xfrm>
          <a:off x="4853507" y="1391675"/>
          <a:ext cx="4176359" cy="3000558"/>
        </p:xfrm>
        <a:graphic>
          <a:graphicData uri="http://schemas.openxmlformats.org/presentationml/2006/ole">
            <mc:AlternateContent xmlns:mc="http://schemas.openxmlformats.org/markup-compatibility/2006">
              <mc:Choice xmlns:v="urn:schemas-microsoft-com:vml" Requires="v">
                <p:oleObj name="Flash Movie" r:id="rId3" imgW="5554800" imgH="3989160" progId="Flash.Movie">
                  <p:embed/>
                </p:oleObj>
              </mc:Choice>
              <mc:Fallback>
                <p:oleObj name="Flash Movie" r:id="rId3" imgW="5554800" imgH="3989160" progId="Flash.Movie">
                  <p:embed/>
                  <p:pic>
                    <p:nvPicPr>
                      <p:cNvPr id="2061"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3507" y="1391675"/>
                        <a:ext cx="4176359" cy="300055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14214042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14">
            <a:extLst>
              <a:ext uri="{FF2B5EF4-FFF2-40B4-BE49-F238E27FC236}">
                <a16:creationId xmlns:a16="http://schemas.microsoft.com/office/drawing/2014/main" id="{A5DF2C1C-0029-418E-84E5-C897547414BD}"/>
              </a:ext>
            </a:extLst>
          </p:cNvPr>
          <p:cNvGraphicFramePr>
            <a:graphicFrameLocks noChangeAspect="1"/>
          </p:cNvGraphicFramePr>
          <p:nvPr>
            <p:extLst>
              <p:ext uri="{D42A27DB-BD31-4B8C-83A1-F6EECF244321}">
                <p14:modId xmlns:p14="http://schemas.microsoft.com/office/powerpoint/2010/main" val="3449362595"/>
              </p:ext>
            </p:extLst>
          </p:nvPr>
        </p:nvGraphicFramePr>
        <p:xfrm>
          <a:off x="2404343" y="3983948"/>
          <a:ext cx="4883237" cy="2233012"/>
        </p:xfrm>
        <a:graphic>
          <a:graphicData uri="http://schemas.openxmlformats.org/presentationml/2006/ole">
            <mc:AlternateContent xmlns:mc="http://schemas.openxmlformats.org/markup-compatibility/2006">
              <mc:Choice xmlns:v="urn:schemas-microsoft-com:vml" Requires="v">
                <p:oleObj name="Flash Movie" r:id="rId3" imgW="6200280" imgH="2835360" progId="Flash.Movie">
                  <p:embed/>
                </p:oleObj>
              </mc:Choice>
              <mc:Fallback>
                <p:oleObj name="Flash Movie" r:id="rId3" imgW="6200280" imgH="2835360" progId="Flash.Movie">
                  <p:embed/>
                  <p:pic>
                    <p:nvPicPr>
                      <p:cNvPr id="2062"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4343" y="3983948"/>
                        <a:ext cx="4883237" cy="2233012"/>
                      </a:xfrm>
                      <a:prstGeom prst="rect">
                        <a:avLst/>
                      </a:prstGeom>
                      <a:noFill/>
                      <a:ln>
                        <a:noFill/>
                      </a:ln>
                      <a:effectLst/>
                    </p:spPr>
                  </p:pic>
                </p:oleObj>
              </mc:Fallback>
            </mc:AlternateContent>
          </a:graphicData>
        </a:graphic>
      </p:graphicFrame>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三</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微差式测量</a:t>
            </a:r>
          </a:p>
        </p:txBody>
      </p:sp>
      <p:sp>
        <p:nvSpPr>
          <p:cNvPr id="38" name="Rectangle 3"/>
          <p:cNvSpPr>
            <a:spLocks noRot="1" noChangeArrowheads="1"/>
          </p:cNvSpPr>
          <p:nvPr/>
        </p:nvSpPr>
        <p:spPr bwMode="auto">
          <a:xfrm>
            <a:off x="326003" y="1177676"/>
            <a:ext cx="8587409"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623888">
              <a:lnSpc>
                <a:spcPct val="150000"/>
              </a:lnSpc>
            </a:pPr>
            <a:r>
              <a:rPr lang="zh-CN" altLang="en-US" sz="2000" b="1" dirty="0">
                <a:latin typeface="宋体" pitchFamily="2" charset="-122"/>
                <a:ea typeface="宋体" pitchFamily="2" charset="-122"/>
              </a:rPr>
              <a:t>微差式测量法综合了偏差式测量法与零位式测量法的优点，</a:t>
            </a:r>
            <a:r>
              <a:rPr lang="zh-CN" altLang="en-US" sz="2000" b="1" dirty="0">
                <a:solidFill>
                  <a:srgbClr val="0000FF"/>
                </a:solidFill>
                <a:latin typeface="宋体" pitchFamily="2" charset="-122"/>
                <a:ea typeface="宋体" pitchFamily="2" charset="-122"/>
              </a:rPr>
              <a:t>将被测的未知量与已知的标准量进行比较，并取得差值，然后用偏差法测得此差值。</a:t>
            </a:r>
          </a:p>
        </p:txBody>
      </p:sp>
      <p:graphicFrame>
        <p:nvGraphicFramePr>
          <p:cNvPr id="39" name="Object 27"/>
          <p:cNvGraphicFramePr>
            <a:graphicFrameLocks noChangeAspect="1"/>
          </p:cNvGraphicFramePr>
          <p:nvPr>
            <p:extLst>
              <p:ext uri="{D42A27DB-BD31-4B8C-83A1-F6EECF244321}">
                <p14:modId xmlns:p14="http://schemas.microsoft.com/office/powerpoint/2010/main" val="3102593813"/>
              </p:ext>
            </p:extLst>
          </p:nvPr>
        </p:nvGraphicFramePr>
        <p:xfrm>
          <a:off x="3562350" y="2140920"/>
          <a:ext cx="2019300" cy="534987"/>
        </p:xfrm>
        <a:graphic>
          <a:graphicData uri="http://schemas.openxmlformats.org/presentationml/2006/ole">
            <mc:AlternateContent xmlns:mc="http://schemas.openxmlformats.org/markup-compatibility/2006">
              <mc:Choice xmlns:v="urn:schemas-microsoft-com:vml" Requires="v">
                <p:oleObj name="公式" r:id="rId5" imgW="657350" imgH="152451" progId="Equation.3">
                  <p:embed/>
                </p:oleObj>
              </mc:Choice>
              <mc:Fallback>
                <p:oleObj name="公式" r:id="rId5" imgW="657350" imgH="15245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2350" y="2140920"/>
                        <a:ext cx="20193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Text Box 29"/>
          <p:cNvSpPr txBox="1">
            <a:spLocks noChangeArrowheads="1"/>
          </p:cNvSpPr>
          <p:nvPr/>
        </p:nvSpPr>
        <p:spPr bwMode="auto">
          <a:xfrm>
            <a:off x="326003" y="3068021"/>
            <a:ext cx="8587409" cy="94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b="1">
                <a:solidFill>
                  <a:schemeClr val="tx2"/>
                </a:solidFill>
                <a:latin typeface="Arial" charset="0"/>
                <a:ea typeface="宋体" charset="-122"/>
              </a:defRPr>
            </a:lvl1pPr>
            <a:lvl2pPr marL="742950" indent="-285750" eaLnBrk="0" hangingPunct="0">
              <a:defRPr b="1">
                <a:solidFill>
                  <a:schemeClr val="tx2"/>
                </a:solidFill>
                <a:latin typeface="Arial" charset="0"/>
                <a:ea typeface="宋体" charset="-122"/>
              </a:defRPr>
            </a:lvl2pPr>
            <a:lvl3pPr marL="1143000" indent="-228600" eaLnBrk="0" hangingPunct="0">
              <a:defRPr b="1">
                <a:solidFill>
                  <a:schemeClr val="tx2"/>
                </a:solidFill>
                <a:latin typeface="Arial" charset="0"/>
                <a:ea typeface="宋体" charset="-122"/>
              </a:defRPr>
            </a:lvl3pPr>
            <a:lvl4pPr marL="1600200" indent="-228600" eaLnBrk="0" hangingPunct="0">
              <a:defRPr b="1">
                <a:solidFill>
                  <a:schemeClr val="tx2"/>
                </a:solidFill>
                <a:latin typeface="Arial" charset="0"/>
                <a:ea typeface="宋体" charset="-122"/>
              </a:defRPr>
            </a:lvl4pPr>
            <a:lvl5pPr marL="2057400" indent="-228600" eaLnBrk="0" hangingPunct="0">
              <a:defRPr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9pPr>
          </a:lstStyle>
          <a:p>
            <a:pPr marL="0" indent="623888" eaLnBrk="1" hangingPunct="1">
              <a:lnSpc>
                <a:spcPct val="150000"/>
              </a:lnSpc>
              <a:spcBef>
                <a:spcPct val="50000"/>
              </a:spcBef>
            </a:pPr>
            <a:r>
              <a:rPr lang="zh-CN" altLang="en-US" sz="2000" dirty="0">
                <a:solidFill>
                  <a:schemeClr val="tx1"/>
                </a:solidFill>
                <a:latin typeface="宋体" pitchFamily="2" charset="-122"/>
                <a:ea typeface="宋体" pitchFamily="2" charset="-122"/>
              </a:rPr>
              <a:t>微差式测量法的优点是</a:t>
            </a:r>
            <a:r>
              <a:rPr lang="zh-CN" altLang="en-US" sz="2000" dirty="0">
                <a:solidFill>
                  <a:srgbClr val="00B050"/>
                </a:solidFill>
                <a:latin typeface="宋体" pitchFamily="2" charset="-122"/>
                <a:ea typeface="宋体" pitchFamily="2" charset="-122"/>
              </a:rPr>
              <a:t>反应快</a:t>
            </a:r>
            <a:r>
              <a:rPr lang="zh-CN" altLang="en-US" sz="2000" dirty="0">
                <a:solidFill>
                  <a:schemeClr val="tx1"/>
                </a:solidFill>
                <a:latin typeface="宋体" pitchFamily="2" charset="-122"/>
                <a:ea typeface="宋体" pitchFamily="2" charset="-122"/>
              </a:rPr>
              <a:t>，而且测量</a:t>
            </a:r>
            <a:r>
              <a:rPr lang="zh-CN" altLang="en-US" sz="2000" dirty="0">
                <a:solidFill>
                  <a:srgbClr val="00B050"/>
                </a:solidFill>
                <a:latin typeface="宋体" pitchFamily="2" charset="-122"/>
                <a:ea typeface="宋体" pitchFamily="2" charset="-122"/>
              </a:rPr>
              <a:t>精度高</a:t>
            </a:r>
            <a:r>
              <a:rPr lang="zh-CN" altLang="en-US" sz="2000" dirty="0">
                <a:solidFill>
                  <a:schemeClr val="tx1"/>
                </a:solidFill>
                <a:latin typeface="宋体" pitchFamily="2" charset="-122"/>
                <a:ea typeface="宋体" pitchFamily="2" charset="-122"/>
              </a:rPr>
              <a:t>，它特别适用于在线控制参数的检测。类似于</a:t>
            </a:r>
            <a:r>
              <a:rPr lang="zh-CN" altLang="en-US" sz="2000" dirty="0">
                <a:solidFill>
                  <a:srgbClr val="7030A0"/>
                </a:solidFill>
                <a:latin typeface="宋体" pitchFamily="2" charset="-122"/>
                <a:ea typeface="宋体" pitchFamily="2" charset="-122"/>
              </a:rPr>
              <a:t>复合控制</a:t>
            </a:r>
            <a:r>
              <a:rPr lang="zh-CN" altLang="en-US" sz="2000" dirty="0">
                <a:solidFill>
                  <a:schemeClr val="tx1"/>
                </a:solidFill>
                <a:latin typeface="宋体" pitchFamily="2" charset="-122"/>
                <a:ea typeface="宋体" pitchFamily="2" charset="-122"/>
              </a:rPr>
              <a:t>的特点。</a:t>
            </a:r>
          </a:p>
        </p:txBody>
      </p:sp>
      <p:sp>
        <p:nvSpPr>
          <p:cNvPr id="8" name="矩形 7"/>
          <p:cNvSpPr/>
          <p:nvPr/>
        </p:nvSpPr>
        <p:spPr>
          <a:xfrm>
            <a:off x="1406384" y="2685587"/>
            <a:ext cx="5733887" cy="400110"/>
          </a:xfrm>
          <a:prstGeom prst="rect">
            <a:avLst/>
          </a:prstGeom>
        </p:spPr>
        <p:txBody>
          <a:bodyPr wrap="square">
            <a:spAutoFit/>
          </a:bodyPr>
          <a:lstStyle/>
          <a:p>
            <a:pPr lvl="0">
              <a:spcBef>
                <a:spcPct val="50000"/>
              </a:spcBef>
            </a:pPr>
            <a:r>
              <a:rPr lang="en-US" altLang="zh-CN" sz="2000" i="1" dirty="0">
                <a:latin typeface="Times New Roman" pitchFamily="18" charset="0"/>
                <a:ea typeface="宋体" pitchFamily="2" charset="-122"/>
                <a:cs typeface="Times New Roman" pitchFamily="18" charset="0"/>
              </a:rPr>
              <a:t>X</a:t>
            </a:r>
            <a:r>
              <a:rPr lang="en-US" altLang="zh-CN" sz="2000" b="1" dirty="0">
                <a:latin typeface="宋体" pitchFamily="2" charset="-122"/>
                <a:ea typeface="宋体" pitchFamily="2" charset="-122"/>
              </a:rPr>
              <a:t>——</a:t>
            </a:r>
            <a:r>
              <a:rPr lang="zh-CN" altLang="en-US" sz="2000" b="1" dirty="0">
                <a:latin typeface="宋体" pitchFamily="2" charset="-122"/>
                <a:ea typeface="宋体" pitchFamily="2" charset="-122"/>
              </a:rPr>
              <a:t>被测量，  </a:t>
            </a:r>
            <a:r>
              <a:rPr lang="en-US" altLang="zh-CN" sz="2000" i="1" dirty="0">
                <a:latin typeface="Times New Roman" pitchFamily="18" charset="0"/>
                <a:ea typeface="宋体" pitchFamily="2" charset="-122"/>
                <a:cs typeface="Times New Roman" pitchFamily="18" charset="0"/>
              </a:rPr>
              <a:t>N</a:t>
            </a:r>
            <a:r>
              <a:rPr lang="en-US" altLang="zh-CN" sz="2000" b="1" dirty="0">
                <a:latin typeface="宋体" pitchFamily="2" charset="-122"/>
                <a:ea typeface="宋体" pitchFamily="2" charset="-122"/>
              </a:rPr>
              <a:t>——</a:t>
            </a:r>
            <a:r>
              <a:rPr lang="zh-CN" altLang="en-US" sz="2000" b="1" dirty="0">
                <a:latin typeface="宋体" pitchFamily="2" charset="-122"/>
                <a:ea typeface="宋体" pitchFamily="2" charset="-122"/>
              </a:rPr>
              <a:t>标准量， </a:t>
            </a:r>
            <a:r>
              <a:rPr lang="en-US" altLang="zh-CN" sz="2000" dirty="0">
                <a:latin typeface="Times New Roman" pitchFamily="18" charset="0"/>
                <a:ea typeface="宋体" pitchFamily="2" charset="-122"/>
                <a:cs typeface="Times New Roman" pitchFamily="18" charset="0"/>
              </a:rPr>
              <a:t>Δ</a:t>
            </a:r>
            <a:r>
              <a:rPr lang="en-US" altLang="zh-CN" sz="2000" b="1" dirty="0">
                <a:latin typeface="宋体" pitchFamily="2" charset="-122"/>
                <a:ea typeface="宋体" pitchFamily="2" charset="-122"/>
              </a:rPr>
              <a:t>——</a:t>
            </a:r>
            <a:r>
              <a:rPr lang="zh-CN" altLang="en-US" sz="2000" b="1" dirty="0">
                <a:latin typeface="宋体" pitchFamily="2" charset="-122"/>
                <a:ea typeface="宋体" pitchFamily="2" charset="-122"/>
              </a:rPr>
              <a:t>偏差值</a:t>
            </a:r>
          </a:p>
        </p:txBody>
      </p:sp>
      <p:sp>
        <p:nvSpPr>
          <p:cNvPr id="2" name="Slide Number Placeholder 1">
            <a:extLst>
              <a:ext uri="{FF2B5EF4-FFF2-40B4-BE49-F238E27FC236}">
                <a16:creationId xmlns:a16="http://schemas.microsoft.com/office/drawing/2014/main" id="{54AF1FB1-8208-45EA-8AFD-E994648E7FE8}"/>
              </a:ext>
            </a:extLst>
          </p:cNvPr>
          <p:cNvSpPr>
            <a:spLocks noGrp="1"/>
          </p:cNvSpPr>
          <p:nvPr>
            <p:ph type="sldNum" sz="quarter" idx="12"/>
          </p:nvPr>
        </p:nvSpPr>
        <p:spPr/>
        <p:txBody>
          <a:bodyPr/>
          <a:lstStyle/>
          <a:p>
            <a:fld id="{DC11BA4E-7967-4102-867C-9D230A2E6791}" type="slidenum">
              <a:rPr lang="zh-CN" altLang="en-US" smtClean="0"/>
              <a:t>10</a:t>
            </a:fld>
            <a:endParaRPr lang="zh-CN" altLang="en-US"/>
          </a:p>
        </p:txBody>
      </p:sp>
      <p:sp>
        <p:nvSpPr>
          <p:cNvPr id="22" name="Text Box 9">
            <a:extLst>
              <a:ext uri="{FF2B5EF4-FFF2-40B4-BE49-F238E27FC236}">
                <a16:creationId xmlns:a16="http://schemas.microsoft.com/office/drawing/2014/main" id="{7740ABC2-D36B-408E-BC8D-8F3220A73905}"/>
              </a:ext>
            </a:extLst>
          </p:cNvPr>
          <p:cNvSpPr txBox="1">
            <a:spLocks noChangeArrowheads="1"/>
          </p:cNvSpPr>
          <p:nvPr/>
        </p:nvSpPr>
        <p:spPr bwMode="auto">
          <a:xfrm>
            <a:off x="1145480" y="6161297"/>
            <a:ext cx="718698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15-3  </a:t>
            </a:r>
            <a:r>
              <a:rPr kumimoji="0" lang="zh-CN" altLang="en-US" b="1" dirty="0">
                <a:solidFill>
                  <a:srgbClr val="000099"/>
                </a:solidFill>
                <a:latin typeface="宋体" pitchFamily="2" charset="-122"/>
                <a:ea typeface="宋体" pitchFamily="2" charset="-122"/>
              </a:rPr>
              <a:t>微差法测量稳压电源输出电压的微小变化</a:t>
            </a:r>
          </a:p>
        </p:txBody>
      </p:sp>
    </p:spTree>
    <p:extLst>
      <p:ext uri="{BB962C8B-B14F-4D97-AF65-F5344CB8AC3E}">
        <p14:creationId xmlns:p14="http://schemas.microsoft.com/office/powerpoint/2010/main" val="22372880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内容占位符 2">
            <a:extLst>
              <a:ext uri="{FF2B5EF4-FFF2-40B4-BE49-F238E27FC236}">
                <a16:creationId xmlns:a16="http://schemas.microsoft.com/office/drawing/2014/main" id="{32769F52-7DBC-4834-A9B0-C5D188A42D44}"/>
              </a:ext>
            </a:extLst>
          </p:cNvPr>
          <p:cNvSpPr txBox="1">
            <a:spLocks/>
          </p:cNvSpPr>
          <p:nvPr/>
        </p:nvSpPr>
        <p:spPr>
          <a:xfrm>
            <a:off x="170036" y="1332970"/>
            <a:ext cx="8803927" cy="21257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672"/>
              </a:spcBef>
              <a:defRPr/>
            </a:pPr>
            <a:r>
              <a:rPr lang="zh-CN" altLang="en-US" sz="2200" b="1" dirty="0">
                <a:latin typeface="宋体" panose="02010600030101010101" pitchFamily="2" charset="-122"/>
                <a:ea typeface="宋体" panose="02010600030101010101" pitchFamily="2" charset="-122"/>
                <a:cs typeface="Arial" panose="020B0604020202020204" pitchFamily="34" charset="0"/>
              </a:rPr>
              <a:t>对于比较简单的测量工作，只需要一台仪表就可以</a:t>
            </a:r>
            <a:r>
              <a:rPr lang="zh-CN" altLang="en-US" sz="2200" b="1">
                <a:latin typeface="宋体" panose="02010600030101010101" pitchFamily="2" charset="-122"/>
                <a:ea typeface="宋体" panose="02010600030101010101" pitchFamily="2" charset="-122"/>
                <a:cs typeface="Arial" panose="020B0604020202020204" pitchFamily="34" charset="0"/>
              </a:rPr>
              <a:t>解决问题。</a:t>
            </a:r>
            <a:endParaRPr lang="en-US" altLang="zh-CN" sz="2200" b="1">
              <a:latin typeface="宋体" panose="02010600030101010101" pitchFamily="2" charset="-122"/>
              <a:ea typeface="宋体" panose="02010600030101010101" pitchFamily="2" charset="-122"/>
              <a:cs typeface="Arial" panose="020B0604020202020204" pitchFamily="34" charset="0"/>
            </a:endParaRPr>
          </a:p>
          <a:p>
            <a:pPr>
              <a:lnSpc>
                <a:spcPct val="150000"/>
              </a:lnSpc>
              <a:spcBef>
                <a:spcPts val="672"/>
              </a:spcBef>
              <a:defRPr/>
            </a:pPr>
            <a:r>
              <a:rPr lang="zh-CN" altLang="en-US" sz="2200" b="1">
                <a:latin typeface="宋体" panose="02010600030101010101" pitchFamily="2" charset="-122"/>
                <a:ea typeface="宋体" panose="02010600030101010101" pitchFamily="2" charset="-122"/>
                <a:cs typeface="Arial" panose="020B0604020202020204" pitchFamily="34" charset="0"/>
              </a:rPr>
              <a:t>对于</a:t>
            </a:r>
            <a:r>
              <a:rPr lang="zh-CN" altLang="en-US" sz="2200" b="1" dirty="0">
                <a:latin typeface="宋体" panose="02010600030101010101" pitchFamily="2" charset="-122"/>
                <a:ea typeface="宋体" panose="02010600030101010101" pitchFamily="2" charset="-122"/>
                <a:cs typeface="Arial" panose="020B0604020202020204" pitchFamily="34" charset="0"/>
              </a:rPr>
              <a:t>比较复杂、</a:t>
            </a:r>
            <a:r>
              <a:rPr lang="zh-CN" altLang="en-US" sz="2200" b="1">
                <a:latin typeface="宋体" panose="02010600030101010101" pitchFamily="2" charset="-122"/>
                <a:ea typeface="宋体" panose="02010600030101010101" pitchFamily="2" charset="-122"/>
                <a:cs typeface="Arial" panose="020B0604020202020204" pitchFamily="34" charset="0"/>
              </a:rPr>
              <a:t>要求较高</a:t>
            </a:r>
            <a:r>
              <a:rPr lang="zh-CN" altLang="en-US" sz="2200" b="1" dirty="0">
                <a:latin typeface="宋体" panose="02010600030101010101" pitchFamily="2" charset="-122"/>
                <a:ea typeface="宋体" panose="02010600030101010101" pitchFamily="2" charset="-122"/>
                <a:cs typeface="Arial" panose="020B0604020202020204" pitchFamily="34" charset="0"/>
              </a:rPr>
              <a:t>的测量工作，往往需要使用多台测量仪表，并且按照一定规划将它们组合起来，构成测量系统。</a:t>
            </a:r>
          </a:p>
          <a:p>
            <a:pPr marL="0" indent="0">
              <a:lnSpc>
                <a:spcPct val="150000"/>
              </a:lnSpc>
              <a:spcBef>
                <a:spcPts val="672"/>
              </a:spcBef>
              <a:buFont typeface="Arial" panose="020B0604020202020204" pitchFamily="34" charset="0"/>
              <a:buNone/>
              <a:defRPr/>
            </a:pPr>
            <a:endParaRPr lang="zh-CN" altLang="en-US" sz="2200" b="1" dirty="0">
              <a:latin typeface="宋体" panose="02010600030101010101" pitchFamily="2" charset="-122"/>
              <a:ea typeface="宋体" panose="02010600030101010101" pitchFamily="2" charset="-122"/>
              <a:cs typeface="Arial" panose="020B0604020202020204" pitchFamily="34" charset="0"/>
            </a:endParaRPr>
          </a:p>
        </p:txBody>
      </p:sp>
      <p:sp>
        <p:nvSpPr>
          <p:cNvPr id="10" name="文本框 9">
            <a:extLst>
              <a:ext uri="{FF2B5EF4-FFF2-40B4-BE49-F238E27FC236}">
                <a16:creationId xmlns:a16="http://schemas.microsoft.com/office/drawing/2014/main" id="{85BCAD95-D352-468D-9323-BA13ABDF50F6}"/>
              </a:ext>
            </a:extLst>
          </p:cNvPr>
          <p:cNvSpPr txBox="1"/>
          <p:nvPr/>
        </p:nvSpPr>
        <p:spPr>
          <a:xfrm>
            <a:off x="2617265" y="4183857"/>
            <a:ext cx="5594793" cy="523216"/>
          </a:xfrm>
          <a:prstGeom prst="rect">
            <a:avLst/>
          </a:prstGeom>
          <a:noFill/>
        </p:spPr>
        <p:txBody>
          <a:bodyPr wrap="non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hlinkClick r:id="rId2" action="ppaction://hlinksldjump"/>
              </a:rPr>
              <a:t>主动式测量系统与被动式测量系统</a:t>
            </a:r>
            <a:endParaRPr lang="zh-CN" altLang="en-US" sz="2800" b="1" dirty="0">
              <a:solidFill>
                <a:schemeClr val="tx2"/>
              </a:solidFill>
              <a:latin typeface="宋体" panose="02010600030101010101" pitchFamily="2" charset="-122"/>
              <a:ea typeface="宋体" panose="02010600030101010101" pitchFamily="2" charset="-122"/>
            </a:endParaRPr>
          </a:p>
        </p:txBody>
      </p:sp>
      <p:sp>
        <p:nvSpPr>
          <p:cNvPr id="11" name="文本框 10">
            <a:hlinkClick r:id="rId3" action="ppaction://hlinksldjump"/>
            <a:extLst>
              <a:ext uri="{FF2B5EF4-FFF2-40B4-BE49-F238E27FC236}">
                <a16:creationId xmlns:a16="http://schemas.microsoft.com/office/drawing/2014/main" id="{397A0068-2B17-47DF-B0E0-B0577263EECD}"/>
              </a:ext>
            </a:extLst>
          </p:cNvPr>
          <p:cNvSpPr txBox="1"/>
          <p:nvPr/>
        </p:nvSpPr>
        <p:spPr>
          <a:xfrm>
            <a:off x="2602535" y="3302410"/>
            <a:ext cx="2709388" cy="523216"/>
          </a:xfrm>
          <a:prstGeom prst="rect">
            <a:avLst/>
          </a:prstGeom>
          <a:noFill/>
        </p:spPr>
        <p:txBody>
          <a:bodyPr wrap="non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hlinkClick r:id="rId4" action="ppaction://hlinksldjump"/>
              </a:rPr>
              <a:t>测量系统的构成</a:t>
            </a:r>
            <a:endParaRPr lang="zh-CN" altLang="en-US" sz="2800" b="1" dirty="0">
              <a:solidFill>
                <a:schemeClr val="tx2"/>
              </a:solidFill>
              <a:latin typeface="宋体" panose="02010600030101010101" pitchFamily="2" charset="-122"/>
              <a:ea typeface="宋体" panose="02010600030101010101" pitchFamily="2" charset="-122"/>
            </a:endParaRPr>
          </a:p>
        </p:txBody>
      </p:sp>
      <p:sp>
        <p:nvSpPr>
          <p:cNvPr id="14" name="文本框 13">
            <a:hlinkClick r:id="rId3" action="ppaction://hlinksldjump"/>
            <a:extLst>
              <a:ext uri="{FF2B5EF4-FFF2-40B4-BE49-F238E27FC236}">
                <a16:creationId xmlns:a16="http://schemas.microsoft.com/office/drawing/2014/main" id="{ECFDD4F3-3AA5-4C78-B2CC-B713B4404677}"/>
              </a:ext>
            </a:extLst>
          </p:cNvPr>
          <p:cNvSpPr txBox="1"/>
          <p:nvPr/>
        </p:nvSpPr>
        <p:spPr>
          <a:xfrm>
            <a:off x="2602535" y="5123829"/>
            <a:ext cx="5234117" cy="523216"/>
          </a:xfrm>
          <a:prstGeom prst="rect">
            <a:avLst/>
          </a:prstGeom>
          <a:noFill/>
        </p:spPr>
        <p:txBody>
          <a:bodyPr wrap="non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hlinkClick r:id="rId5" action="ppaction://hlinksldjump"/>
              </a:rPr>
              <a:t>开环测量系统与闭环式测量系统</a:t>
            </a:r>
            <a:endParaRPr lang="zh-CN" altLang="en-US" sz="2800" b="1" dirty="0">
              <a:solidFill>
                <a:schemeClr val="tx2"/>
              </a:solidFill>
              <a:latin typeface="宋体" panose="02010600030101010101" pitchFamily="2" charset="-122"/>
              <a:ea typeface="宋体" panose="02010600030101010101" pitchFamily="2" charset="-122"/>
            </a:endParaRPr>
          </a:p>
        </p:txBody>
      </p:sp>
      <p:sp>
        <p:nvSpPr>
          <p:cNvPr id="32" name="矩形 3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3" name="圆角矩形 3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15.3</a:t>
            </a:r>
          </a:p>
        </p:txBody>
      </p:sp>
      <p:sp>
        <p:nvSpPr>
          <p:cNvPr id="34" name="矩形 33"/>
          <p:cNvSpPr/>
          <p:nvPr/>
        </p:nvSpPr>
        <p:spPr>
          <a:xfrm>
            <a:off x="1960201" y="329520"/>
            <a:ext cx="19351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测量系统</a:t>
            </a:r>
          </a:p>
        </p:txBody>
      </p:sp>
      <p:sp>
        <p:nvSpPr>
          <p:cNvPr id="45" name="圆角矩形 72">
            <a:extLst>
              <a:ext uri="{FF2B5EF4-FFF2-40B4-BE49-F238E27FC236}">
                <a16:creationId xmlns:a16="http://schemas.microsoft.com/office/drawing/2014/main" id="{343D7C8A-72E9-4E11-82F9-04D1F37F1B07}"/>
              </a:ext>
            </a:extLst>
          </p:cNvPr>
          <p:cNvSpPr/>
          <p:nvPr/>
        </p:nvSpPr>
        <p:spPr>
          <a:xfrm rot="10800000" flipV="1">
            <a:off x="1148720" y="3336046"/>
            <a:ext cx="1392152"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15.3.1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圆角矩形 73">
            <a:extLst>
              <a:ext uri="{FF2B5EF4-FFF2-40B4-BE49-F238E27FC236}">
                <a16:creationId xmlns:a16="http://schemas.microsoft.com/office/drawing/2014/main" id="{7997A031-0667-4F3B-9AA0-BAB02B443096}"/>
              </a:ext>
            </a:extLst>
          </p:cNvPr>
          <p:cNvSpPr/>
          <p:nvPr/>
        </p:nvSpPr>
        <p:spPr>
          <a:xfrm rot="10800000" flipV="1">
            <a:off x="1148717" y="4192800"/>
            <a:ext cx="139215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15.3.2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7" name="圆角矩形 73">
            <a:extLst>
              <a:ext uri="{FF2B5EF4-FFF2-40B4-BE49-F238E27FC236}">
                <a16:creationId xmlns:a16="http://schemas.microsoft.com/office/drawing/2014/main" id="{7997A031-0667-4F3B-9AA0-BAB02B443096}"/>
              </a:ext>
            </a:extLst>
          </p:cNvPr>
          <p:cNvSpPr/>
          <p:nvPr/>
        </p:nvSpPr>
        <p:spPr>
          <a:xfrm rot="10800000" flipV="1">
            <a:off x="1148720" y="5143362"/>
            <a:ext cx="139215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15.3.3</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76665E84-3C0D-4A2D-B69F-9EBA08B3B39E}"/>
              </a:ext>
            </a:extLst>
          </p:cNvPr>
          <p:cNvSpPr>
            <a:spLocks noGrp="1"/>
          </p:cNvSpPr>
          <p:nvPr>
            <p:ph type="sldNum" sz="quarter" idx="12"/>
          </p:nvPr>
        </p:nvSpPr>
        <p:spPr/>
        <p:txBody>
          <a:bodyPr/>
          <a:lstStyle/>
          <a:p>
            <a:fld id="{DC11BA4E-7967-4102-867C-9D230A2E6791}" type="slidenum">
              <a:rPr lang="zh-CN" altLang="en-US" smtClean="0"/>
              <a:t>11</a:t>
            </a:fld>
            <a:endParaRPr lang="zh-CN" altLang="en-US"/>
          </a:p>
        </p:txBody>
      </p:sp>
    </p:spTree>
    <p:extLst>
      <p:ext uri="{BB962C8B-B14F-4D97-AF65-F5344CB8AC3E}">
        <p14:creationId xmlns:p14="http://schemas.microsoft.com/office/powerpoint/2010/main" val="37807091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920825" y="1328161"/>
            <a:ext cx="3892238" cy="2436109"/>
          </a:xfrm>
        </p:spPr>
        <p:txBody>
          <a:bodyPr>
            <a:noAutofit/>
          </a:bodyPr>
          <a:lstStyle/>
          <a:p>
            <a:pPr marL="0" indent="0" eaLnBrk="1" hangingPunct="1">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功能环节组成</a:t>
            </a:r>
            <a:r>
              <a:rPr lang="en-US" altLang="zh-CN" sz="2400" b="1" dirty="0">
                <a:latin typeface="宋体" panose="02010600030101010101" pitchFamily="2" charset="-122"/>
                <a:ea typeface="宋体" panose="02010600030101010101" pitchFamily="2" charset="-122"/>
                <a:cs typeface="Arial" panose="020B0604020202020204" pitchFamily="34" charset="0"/>
              </a:rPr>
              <a:t>:</a:t>
            </a:r>
          </a:p>
          <a:p>
            <a:pPr marL="0" indent="0" eaLnBrk="1" hangingPunct="1">
              <a:lnSpc>
                <a:spcPts val="4000"/>
              </a:lnSpc>
              <a:spcBef>
                <a:spcPts val="0"/>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    ①</a:t>
            </a:r>
            <a:r>
              <a:rPr lang="zh-CN" altLang="en-US" sz="2400" b="1" dirty="0">
                <a:latin typeface="宋体" panose="02010600030101010101" pitchFamily="2" charset="-122"/>
                <a:ea typeface="宋体" panose="02010600030101010101" pitchFamily="2" charset="-122"/>
                <a:cs typeface="Arial" panose="020B0604020202020204" pitchFamily="34" charset="0"/>
              </a:rPr>
              <a:t>敏感元件    </a:t>
            </a:r>
          </a:p>
          <a:p>
            <a:pPr marL="0" indent="0" eaLnBrk="1" hangingPunct="1">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    ②变量转换环节</a:t>
            </a:r>
          </a:p>
          <a:p>
            <a:pPr marL="0" indent="0" eaLnBrk="1" hangingPunct="1">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    ③变量控制</a:t>
            </a:r>
            <a:r>
              <a:rPr lang="zh-CN" altLang="en-US" sz="2400" b="1">
                <a:latin typeface="宋体" panose="02010600030101010101" pitchFamily="2" charset="-122"/>
                <a:ea typeface="宋体" panose="02010600030101010101" pitchFamily="2" charset="-122"/>
                <a:cs typeface="Arial" panose="020B0604020202020204" pitchFamily="34" charset="0"/>
              </a:rPr>
              <a:t>环节</a:t>
            </a:r>
            <a:endParaRPr lang="zh-CN" altLang="en-US" sz="2400" b="1" dirty="0">
              <a:latin typeface="宋体" panose="02010600030101010101" pitchFamily="2" charset="-122"/>
              <a:ea typeface="宋体" panose="02010600030101010101" pitchFamily="2" charset="-122"/>
              <a:cs typeface="Arial" panose="020B0604020202020204" pitchFamily="34" charset="0"/>
            </a:endParaRP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15.3.1</a:t>
            </a:r>
          </a:p>
        </p:txBody>
      </p:sp>
      <p:sp>
        <p:nvSpPr>
          <p:cNvPr id="27" name="矩形 26"/>
          <p:cNvSpPr/>
          <p:nvPr/>
        </p:nvSpPr>
        <p:spPr>
          <a:xfrm>
            <a:off x="1960201"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测量系统的构成</a:t>
            </a:r>
          </a:p>
        </p:txBody>
      </p:sp>
      <p:sp>
        <p:nvSpPr>
          <p:cNvPr id="3" name="Slide Number Placeholder 2">
            <a:extLst>
              <a:ext uri="{FF2B5EF4-FFF2-40B4-BE49-F238E27FC236}">
                <a16:creationId xmlns:a16="http://schemas.microsoft.com/office/drawing/2014/main" id="{3A859C03-78E8-45C3-A86C-73D62ACCA108}"/>
              </a:ext>
            </a:extLst>
          </p:cNvPr>
          <p:cNvSpPr>
            <a:spLocks noGrp="1"/>
          </p:cNvSpPr>
          <p:nvPr>
            <p:ph type="sldNum" sz="quarter" idx="12"/>
          </p:nvPr>
        </p:nvSpPr>
        <p:spPr/>
        <p:txBody>
          <a:bodyPr/>
          <a:lstStyle/>
          <a:p>
            <a:fld id="{DC11BA4E-7967-4102-867C-9D230A2E6791}" type="slidenum">
              <a:rPr lang="zh-CN" altLang="en-US" smtClean="0"/>
              <a:t>12</a:t>
            </a:fld>
            <a:endParaRPr lang="zh-CN" altLang="en-US"/>
          </a:p>
        </p:txBody>
      </p:sp>
      <p:sp>
        <p:nvSpPr>
          <p:cNvPr id="19" name="Text Box 9">
            <a:extLst>
              <a:ext uri="{FF2B5EF4-FFF2-40B4-BE49-F238E27FC236}">
                <a16:creationId xmlns:a16="http://schemas.microsoft.com/office/drawing/2014/main" id="{50A75CFB-FF48-4F87-92DB-6875813D0A24}"/>
              </a:ext>
            </a:extLst>
          </p:cNvPr>
          <p:cNvSpPr txBox="1">
            <a:spLocks noChangeArrowheads="1"/>
          </p:cNvSpPr>
          <p:nvPr/>
        </p:nvSpPr>
        <p:spPr bwMode="auto">
          <a:xfrm>
            <a:off x="2112763" y="5474440"/>
            <a:ext cx="54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algn="ct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15-4  </a:t>
            </a:r>
            <a:r>
              <a:rPr kumimoji="0" lang="zh-CN" altLang="en-US" b="1" dirty="0">
                <a:solidFill>
                  <a:srgbClr val="000099"/>
                </a:solidFill>
                <a:latin typeface="宋体" pitchFamily="2" charset="-122"/>
                <a:ea typeface="宋体" pitchFamily="2" charset="-122"/>
              </a:rPr>
              <a:t>测量系统的原理结构框图</a:t>
            </a:r>
          </a:p>
        </p:txBody>
      </p:sp>
      <p:sp>
        <p:nvSpPr>
          <p:cNvPr id="21" name="内容占位符 2">
            <a:extLst>
              <a:ext uri="{FF2B5EF4-FFF2-40B4-BE49-F238E27FC236}">
                <a16:creationId xmlns:a16="http://schemas.microsoft.com/office/drawing/2014/main" id="{BCD6BE03-450F-4356-AEE7-DF7D3A167B41}"/>
              </a:ext>
            </a:extLst>
          </p:cNvPr>
          <p:cNvSpPr txBox="1">
            <a:spLocks/>
          </p:cNvSpPr>
          <p:nvPr/>
        </p:nvSpPr>
        <p:spPr>
          <a:xfrm>
            <a:off x="4200620" y="1820209"/>
            <a:ext cx="3892238" cy="18453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0"/>
              </a:lnSpc>
              <a:spcBef>
                <a:spcPts val="0"/>
              </a:spcBef>
              <a:buFont typeface="Arial" panose="020B0604020202020204" pitchFamily="34" charset="0"/>
              <a:buNone/>
              <a:defRPr/>
            </a:pPr>
            <a:r>
              <a:rPr lang="zh-CN" altLang="en-US" sz="2400" b="1">
                <a:latin typeface="宋体" panose="02010600030101010101" pitchFamily="2" charset="-122"/>
                <a:ea typeface="宋体" panose="02010600030101010101" pitchFamily="2" charset="-122"/>
                <a:cs typeface="Arial" panose="020B0604020202020204" pitchFamily="34" charset="0"/>
              </a:rPr>
              <a:t>    ④数据传输环节</a:t>
            </a:r>
          </a:p>
          <a:p>
            <a:pPr marL="0" indent="0">
              <a:lnSpc>
                <a:spcPts val="4000"/>
              </a:lnSpc>
              <a:spcBef>
                <a:spcPts val="0"/>
              </a:spcBef>
              <a:buFont typeface="Arial" panose="020B0604020202020204" pitchFamily="34" charset="0"/>
              <a:buNone/>
              <a:defRPr/>
            </a:pPr>
            <a:r>
              <a:rPr lang="zh-CN" altLang="en-US" sz="2400" b="1">
                <a:latin typeface="宋体" panose="02010600030101010101" pitchFamily="2" charset="-122"/>
                <a:ea typeface="宋体" panose="02010600030101010101" pitchFamily="2" charset="-122"/>
                <a:cs typeface="Arial" panose="020B0604020202020204" pitchFamily="34" charset="0"/>
              </a:rPr>
              <a:t>    ⑤数据显示环节</a:t>
            </a:r>
          </a:p>
          <a:p>
            <a:pPr marL="0" indent="0">
              <a:lnSpc>
                <a:spcPts val="4000"/>
              </a:lnSpc>
              <a:spcBef>
                <a:spcPts val="0"/>
              </a:spcBef>
              <a:buFont typeface="Arial" panose="020B0604020202020204" pitchFamily="34" charset="0"/>
              <a:buNone/>
              <a:defRPr/>
            </a:pPr>
            <a:r>
              <a:rPr lang="zh-CN" altLang="en-US" sz="2400" b="1">
                <a:latin typeface="宋体" panose="02010600030101010101" pitchFamily="2" charset="-122"/>
                <a:ea typeface="宋体" panose="02010600030101010101" pitchFamily="2" charset="-122"/>
                <a:cs typeface="Arial" panose="020B0604020202020204" pitchFamily="34" charset="0"/>
              </a:rPr>
              <a:t>    ⑥数据处理环节</a:t>
            </a:r>
            <a:endParaRPr lang="zh-CN" altLang="en-US" sz="2400" b="1" dirty="0">
              <a:latin typeface="宋体" panose="02010600030101010101" pitchFamily="2" charset="-122"/>
              <a:ea typeface="宋体" panose="02010600030101010101" pitchFamily="2" charset="-122"/>
              <a:cs typeface="Arial" panose="020B0604020202020204" pitchFamily="34" charset="0"/>
            </a:endParaRPr>
          </a:p>
        </p:txBody>
      </p:sp>
      <p:pic>
        <p:nvPicPr>
          <p:cNvPr id="2" name="Picture 1">
            <a:extLst>
              <a:ext uri="{FF2B5EF4-FFF2-40B4-BE49-F238E27FC236}">
                <a16:creationId xmlns:a16="http://schemas.microsoft.com/office/drawing/2014/main" id="{D49C0B18-69D6-4132-B753-57E2A40B7DBB}"/>
              </a:ext>
            </a:extLst>
          </p:cNvPr>
          <p:cNvPicPr>
            <a:picLocks noChangeAspect="1"/>
          </p:cNvPicPr>
          <p:nvPr/>
        </p:nvPicPr>
        <p:blipFill rotWithShape="1">
          <a:blip r:embed="rId3"/>
          <a:srcRect l="833" t="4341" r="1832" b="7635"/>
          <a:stretch/>
        </p:blipFill>
        <p:spPr>
          <a:xfrm>
            <a:off x="38517" y="3495531"/>
            <a:ext cx="9072000" cy="1880947"/>
          </a:xfrm>
          <a:prstGeom prst="rect">
            <a:avLst/>
          </a:prstGeom>
        </p:spPr>
      </p:pic>
    </p:spTree>
    <p:extLst>
      <p:ext uri="{BB962C8B-B14F-4D97-AF65-F5344CB8AC3E}">
        <p14:creationId xmlns:p14="http://schemas.microsoft.com/office/powerpoint/2010/main" val="35254367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185083" y="1628519"/>
            <a:ext cx="4084767" cy="1682574"/>
          </a:xfrm>
          <a:prstGeom prst="rect">
            <a:avLst/>
          </a:prstGeom>
        </p:spPr>
        <p:txBody>
          <a:bodyPr wrap="square" lIns="91438" tIns="45719" rIns="91438" bIns="45719">
            <a:spAutoFit/>
          </a:bodyPr>
          <a:lstStyle/>
          <a:p>
            <a:pPr indent="623888">
              <a:lnSpc>
                <a:spcPct val="1500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主动式测量系统的特点是在测量过程中</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需要</a:t>
            </a:r>
            <a:r>
              <a:rPr lang="zh-CN" altLang="en-US" sz="2400" b="1" dirty="0">
                <a:latin typeface="Arial" panose="020B0604020202020204" pitchFamily="34" charset="0"/>
                <a:ea typeface="宋体" panose="02010600030101010101" pitchFamily="2" charset="-122"/>
                <a:cs typeface="Arial" panose="020B0604020202020204" pitchFamily="34" charset="0"/>
              </a:rPr>
              <a:t>从外部向被测对象施加能量。</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15.3.2</a:t>
            </a:r>
          </a:p>
        </p:txBody>
      </p:sp>
      <p:sp>
        <p:nvSpPr>
          <p:cNvPr id="28" name="矩形 27"/>
          <p:cNvSpPr/>
          <p:nvPr/>
        </p:nvSpPr>
        <p:spPr>
          <a:xfrm>
            <a:off x="1960201" y="329520"/>
            <a:ext cx="674895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主动式测量系统和被动式测量系统</a:t>
            </a:r>
          </a:p>
        </p:txBody>
      </p:sp>
      <p:sp>
        <p:nvSpPr>
          <p:cNvPr id="42" name="矩形 41">
            <a:extLst>
              <a:ext uri="{FF2B5EF4-FFF2-40B4-BE49-F238E27FC236}">
                <a16:creationId xmlns:a16="http://schemas.microsoft.com/office/drawing/2014/main" id="{D34396BB-6050-4734-BFC1-1F29E2A6538B}"/>
              </a:ext>
            </a:extLst>
          </p:cNvPr>
          <p:cNvSpPr/>
          <p:nvPr/>
        </p:nvSpPr>
        <p:spPr>
          <a:xfrm>
            <a:off x="4597750" y="1556302"/>
            <a:ext cx="4248146" cy="1682574"/>
          </a:xfrm>
          <a:prstGeom prst="rect">
            <a:avLst/>
          </a:prstGeom>
        </p:spPr>
        <p:txBody>
          <a:bodyPr wrap="square" lIns="91438" tIns="45719" rIns="91438" bIns="45719">
            <a:spAutoFit/>
          </a:bodyPr>
          <a:lstStyle/>
          <a:p>
            <a:pPr indent="711200">
              <a:lnSpc>
                <a:spcPct val="1500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被动式测量系统的特点是在测量过程中</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不需要</a:t>
            </a:r>
            <a:r>
              <a:rPr lang="zh-CN" altLang="en-US" sz="2400" b="1" dirty="0">
                <a:latin typeface="Arial" panose="020B0604020202020204" pitchFamily="34" charset="0"/>
                <a:ea typeface="宋体" panose="02010600030101010101" pitchFamily="2" charset="-122"/>
                <a:cs typeface="Arial" panose="020B0604020202020204" pitchFamily="34" charset="0"/>
              </a:rPr>
              <a:t>从外部向被测对象施加能量。</a:t>
            </a:r>
          </a:p>
        </p:txBody>
      </p:sp>
      <p:sp>
        <p:nvSpPr>
          <p:cNvPr id="2" name="Slide Number Placeholder 1">
            <a:extLst>
              <a:ext uri="{FF2B5EF4-FFF2-40B4-BE49-F238E27FC236}">
                <a16:creationId xmlns:a16="http://schemas.microsoft.com/office/drawing/2014/main" id="{68966804-1F0B-4A6D-8152-A4D35E6A514D}"/>
              </a:ext>
            </a:extLst>
          </p:cNvPr>
          <p:cNvSpPr>
            <a:spLocks noGrp="1"/>
          </p:cNvSpPr>
          <p:nvPr>
            <p:ph type="sldNum" sz="quarter" idx="12"/>
          </p:nvPr>
        </p:nvSpPr>
        <p:spPr/>
        <p:txBody>
          <a:bodyPr/>
          <a:lstStyle/>
          <a:p>
            <a:fld id="{DC11BA4E-7967-4102-867C-9D230A2E6791}" type="slidenum">
              <a:rPr lang="zh-CN" altLang="en-US" smtClean="0"/>
              <a:t>13</a:t>
            </a:fld>
            <a:endParaRPr lang="zh-CN" altLang="en-US"/>
          </a:p>
        </p:txBody>
      </p:sp>
      <p:sp>
        <p:nvSpPr>
          <p:cNvPr id="21" name="Text Box 9">
            <a:extLst>
              <a:ext uri="{FF2B5EF4-FFF2-40B4-BE49-F238E27FC236}">
                <a16:creationId xmlns:a16="http://schemas.microsoft.com/office/drawing/2014/main" id="{2D20C9DA-7E20-452D-AF05-2C05B542B5E6}"/>
              </a:ext>
            </a:extLst>
          </p:cNvPr>
          <p:cNvSpPr txBox="1">
            <a:spLocks noChangeArrowheads="1"/>
          </p:cNvSpPr>
          <p:nvPr/>
        </p:nvSpPr>
        <p:spPr bwMode="auto">
          <a:xfrm>
            <a:off x="899388" y="5052691"/>
            <a:ext cx="363436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15-5  </a:t>
            </a:r>
            <a:r>
              <a:rPr kumimoji="0" lang="zh-CN" altLang="en-US" b="1" dirty="0">
                <a:solidFill>
                  <a:srgbClr val="000099"/>
                </a:solidFill>
                <a:latin typeface="宋体" pitchFamily="2" charset="-122"/>
                <a:ea typeface="宋体" pitchFamily="2" charset="-122"/>
              </a:rPr>
              <a:t>主动式测量系统</a:t>
            </a:r>
          </a:p>
        </p:txBody>
      </p:sp>
      <p:graphicFrame>
        <p:nvGraphicFramePr>
          <p:cNvPr id="22" name="Object 17">
            <a:extLst>
              <a:ext uri="{FF2B5EF4-FFF2-40B4-BE49-F238E27FC236}">
                <a16:creationId xmlns:a16="http://schemas.microsoft.com/office/drawing/2014/main" id="{35A05AD0-36DC-4E41-9D66-2EEFDBF1C88A}"/>
              </a:ext>
            </a:extLst>
          </p:cNvPr>
          <p:cNvGraphicFramePr>
            <a:graphicFrameLocks noChangeAspect="1"/>
          </p:cNvGraphicFramePr>
          <p:nvPr>
            <p:extLst>
              <p:ext uri="{D42A27DB-BD31-4B8C-83A1-F6EECF244321}">
                <p14:modId xmlns:p14="http://schemas.microsoft.com/office/powerpoint/2010/main" val="2170797226"/>
              </p:ext>
            </p:extLst>
          </p:nvPr>
        </p:nvGraphicFramePr>
        <p:xfrm>
          <a:off x="185083" y="3514551"/>
          <a:ext cx="4521444" cy="1367461"/>
        </p:xfrm>
        <a:graphic>
          <a:graphicData uri="http://schemas.openxmlformats.org/presentationml/2006/ole">
            <mc:AlternateContent xmlns:mc="http://schemas.openxmlformats.org/markup-compatibility/2006">
              <mc:Choice xmlns:v="urn:schemas-microsoft-com:vml" Requires="v">
                <p:oleObj name="Flash Movie" r:id="rId3" imgW="8787600" imgH="2656800" progId="Flash.Movie">
                  <p:embed/>
                </p:oleObj>
              </mc:Choice>
              <mc:Fallback>
                <p:oleObj name="Flash Movie" r:id="rId3" imgW="8787600" imgH="2656800" progId="Flash.Movie">
                  <p:embed/>
                  <p:pic>
                    <p:nvPicPr>
                      <p:cNvPr id="2065"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083" y="3514551"/>
                        <a:ext cx="4521444" cy="1367461"/>
                      </a:xfrm>
                      <a:prstGeom prst="rect">
                        <a:avLst/>
                      </a:prstGeom>
                      <a:noFill/>
                      <a:ln>
                        <a:noFill/>
                      </a:ln>
                      <a:effectLst/>
                    </p:spPr>
                  </p:pic>
                </p:oleObj>
              </mc:Fallback>
            </mc:AlternateContent>
          </a:graphicData>
        </a:graphic>
      </p:graphicFrame>
      <p:sp>
        <p:nvSpPr>
          <p:cNvPr id="23" name="Text Box 9">
            <a:extLst>
              <a:ext uri="{FF2B5EF4-FFF2-40B4-BE49-F238E27FC236}">
                <a16:creationId xmlns:a16="http://schemas.microsoft.com/office/drawing/2014/main" id="{D4A44290-26E9-46AC-AF73-50C6F8EE5C0E}"/>
              </a:ext>
            </a:extLst>
          </p:cNvPr>
          <p:cNvSpPr txBox="1">
            <a:spLocks noChangeArrowheads="1"/>
          </p:cNvSpPr>
          <p:nvPr/>
        </p:nvSpPr>
        <p:spPr bwMode="auto">
          <a:xfrm>
            <a:off x="5173488" y="5051521"/>
            <a:ext cx="367240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15-6  </a:t>
            </a:r>
            <a:r>
              <a:rPr kumimoji="0" lang="zh-CN" altLang="en-US" b="1" dirty="0">
                <a:solidFill>
                  <a:srgbClr val="000099"/>
                </a:solidFill>
                <a:latin typeface="宋体" pitchFamily="2" charset="-122"/>
                <a:ea typeface="宋体" pitchFamily="2" charset="-122"/>
              </a:rPr>
              <a:t>被动式测量系统</a:t>
            </a:r>
          </a:p>
        </p:txBody>
      </p:sp>
      <p:graphicFrame>
        <p:nvGraphicFramePr>
          <p:cNvPr id="24" name="Object 18">
            <a:extLst>
              <a:ext uri="{FF2B5EF4-FFF2-40B4-BE49-F238E27FC236}">
                <a16:creationId xmlns:a16="http://schemas.microsoft.com/office/drawing/2014/main" id="{1D126A85-A055-463F-937D-F78C62763E4F}"/>
              </a:ext>
            </a:extLst>
          </p:cNvPr>
          <p:cNvGraphicFramePr>
            <a:graphicFrameLocks noChangeAspect="1"/>
          </p:cNvGraphicFramePr>
          <p:nvPr>
            <p:extLst>
              <p:ext uri="{D42A27DB-BD31-4B8C-83A1-F6EECF244321}">
                <p14:modId xmlns:p14="http://schemas.microsoft.com/office/powerpoint/2010/main" val="2479806702"/>
              </p:ext>
            </p:extLst>
          </p:nvPr>
        </p:nvGraphicFramePr>
        <p:xfrm>
          <a:off x="5089737" y="3427830"/>
          <a:ext cx="3623897" cy="1546514"/>
        </p:xfrm>
        <a:graphic>
          <a:graphicData uri="http://schemas.openxmlformats.org/presentationml/2006/ole">
            <mc:AlternateContent xmlns:mc="http://schemas.openxmlformats.org/markup-compatibility/2006">
              <mc:Choice xmlns:v="urn:schemas-microsoft-com:vml" Requires="v">
                <p:oleObj name="Flash Movie" r:id="rId5" imgW="6579360" imgH="2807280" progId="Flash.Movie">
                  <p:embed/>
                </p:oleObj>
              </mc:Choice>
              <mc:Fallback>
                <p:oleObj name="Flash Movie" r:id="rId5" imgW="6579360" imgH="2807280" progId="Flash.Movie">
                  <p:embed/>
                  <p:pic>
                    <p:nvPicPr>
                      <p:cNvPr id="2066"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9737" y="3427830"/>
                        <a:ext cx="3623897" cy="154651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6225398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Object 19">
            <a:extLst>
              <a:ext uri="{FF2B5EF4-FFF2-40B4-BE49-F238E27FC236}">
                <a16:creationId xmlns:a16="http://schemas.microsoft.com/office/drawing/2014/main" id="{82C7C3A9-E835-4676-B0B5-100DC10D7C46}"/>
              </a:ext>
            </a:extLst>
          </p:cNvPr>
          <p:cNvGraphicFramePr>
            <a:graphicFrameLocks noChangeAspect="1"/>
          </p:cNvGraphicFramePr>
          <p:nvPr>
            <p:extLst>
              <p:ext uri="{D42A27DB-BD31-4B8C-83A1-F6EECF244321}">
                <p14:modId xmlns:p14="http://schemas.microsoft.com/office/powerpoint/2010/main" val="1733730819"/>
              </p:ext>
            </p:extLst>
          </p:nvPr>
        </p:nvGraphicFramePr>
        <p:xfrm>
          <a:off x="837938" y="2021057"/>
          <a:ext cx="2552040" cy="685800"/>
        </p:xfrm>
        <a:graphic>
          <a:graphicData uri="http://schemas.openxmlformats.org/presentationml/2006/ole">
            <mc:AlternateContent xmlns:mc="http://schemas.openxmlformats.org/markup-compatibility/2006">
              <mc:Choice xmlns:v="urn:schemas-microsoft-com:vml" Requires="v">
                <p:oleObj name="Equation" r:id="rId3" imgW="850680" imgH="228600" progId="Equation.3">
                  <p:embed/>
                </p:oleObj>
              </mc:Choice>
              <mc:Fallback>
                <p:oleObj name="Equation" r:id="rId3" imgW="850680" imgH="228600" progId="Equation.3">
                  <p:embed/>
                  <p:pic>
                    <p:nvPicPr>
                      <p:cNvPr id="229395" name="Object 19">
                        <a:extLst>
                          <a:ext uri="{FF2B5EF4-FFF2-40B4-BE49-F238E27FC236}">
                            <a16:creationId xmlns:a16="http://schemas.microsoft.com/office/drawing/2014/main" id="{1531C9D7-2A17-487C-934C-9F8CF26C81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938" y="2021057"/>
                        <a:ext cx="2552040" cy="685800"/>
                      </a:xfrm>
                      <a:prstGeom prst="rect">
                        <a:avLst/>
                      </a:prstGeom>
                      <a:noFill/>
                    </p:spPr>
                  </p:pic>
                </p:oleObj>
              </mc:Fallback>
            </mc:AlternateContent>
          </a:graphicData>
        </a:graphic>
      </p:graphicFrame>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15.3.3</a:t>
            </a:r>
          </a:p>
        </p:txBody>
      </p:sp>
      <p:sp>
        <p:nvSpPr>
          <p:cNvPr id="28" name="矩形 27"/>
          <p:cNvSpPr/>
          <p:nvPr/>
        </p:nvSpPr>
        <p:spPr>
          <a:xfrm>
            <a:off x="1960201" y="329520"/>
            <a:ext cx="674895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开环式测量系统和闭环式测量系统</a:t>
            </a:r>
          </a:p>
        </p:txBody>
      </p:sp>
      <p:sp>
        <p:nvSpPr>
          <p:cNvPr id="10" name="矩形 9"/>
          <p:cNvSpPr/>
          <p:nvPr/>
        </p:nvSpPr>
        <p:spPr>
          <a:xfrm>
            <a:off x="185083" y="1393487"/>
            <a:ext cx="3664178" cy="646331"/>
          </a:xfrm>
          <a:prstGeom prst="rect">
            <a:avLst/>
          </a:prstGeom>
        </p:spPr>
        <p:txBody>
          <a:bodyPr wrap="square">
            <a:spAutoFit/>
          </a:bodyPr>
          <a:lstStyle/>
          <a:p>
            <a:pPr marL="342900" lvl="0" indent="-342900">
              <a:lnSpc>
                <a:spcPct val="150000"/>
              </a:lnSpc>
            </a:pPr>
            <a:r>
              <a:rPr lang="zh-CN" altLang="en-US" sz="2400" b="1" dirty="0">
                <a:solidFill>
                  <a:prstClr val="black"/>
                </a:solidFill>
                <a:latin typeface="宋体" panose="02010600030101010101" pitchFamily="2" charset="-122"/>
                <a:ea typeface="宋体" panose="02010600030101010101" pitchFamily="2" charset="-122"/>
              </a:rPr>
              <a:t>一、开环式测量系统</a:t>
            </a:r>
          </a:p>
        </p:txBody>
      </p:sp>
      <p:sp>
        <p:nvSpPr>
          <p:cNvPr id="12" name="矩形 11"/>
          <p:cNvSpPr/>
          <p:nvPr/>
        </p:nvSpPr>
        <p:spPr>
          <a:xfrm>
            <a:off x="837938" y="2637966"/>
            <a:ext cx="3426930" cy="646331"/>
          </a:xfrm>
          <a:prstGeom prst="rect">
            <a:avLst/>
          </a:prstGeom>
        </p:spPr>
        <p:txBody>
          <a:bodyPr wrap="square">
            <a:spAutoFit/>
          </a:bodyPr>
          <a:lstStyle/>
          <a:p>
            <a:pPr marL="342900" lvl="0" indent="-342900">
              <a:lnSpc>
                <a:spcPct val="150000"/>
              </a:lnSpc>
            </a:pPr>
            <a:r>
              <a:rPr lang="zh-CN" altLang="en-US" sz="2400" b="1" dirty="0">
                <a:solidFill>
                  <a:srgbClr val="C00000"/>
                </a:solidFill>
                <a:latin typeface="宋体" panose="02010600030101010101" pitchFamily="2" charset="-122"/>
                <a:ea typeface="宋体" panose="02010600030101010101" pitchFamily="2" charset="-122"/>
              </a:rPr>
              <a:t>响应快、误差较大</a:t>
            </a:r>
          </a:p>
        </p:txBody>
      </p:sp>
      <p:sp>
        <p:nvSpPr>
          <p:cNvPr id="13" name="矩形 12"/>
          <p:cNvSpPr/>
          <p:nvPr/>
        </p:nvSpPr>
        <p:spPr>
          <a:xfrm>
            <a:off x="4543737" y="1479200"/>
            <a:ext cx="4035879" cy="461665"/>
          </a:xfrm>
          <a:prstGeom prst="rect">
            <a:avLst/>
          </a:prstGeom>
        </p:spPr>
        <p:txBody>
          <a:bodyPr wrap="square">
            <a:spAutoFit/>
          </a:bodyPr>
          <a:lstStyle/>
          <a:p>
            <a:r>
              <a:rPr lang="zh-CN" altLang="en-US" sz="2400" b="1" dirty="0">
                <a:solidFill>
                  <a:prstClr val="black"/>
                </a:solidFill>
                <a:latin typeface="宋体" panose="02010600030101010101" pitchFamily="2" charset="-122"/>
                <a:ea typeface="宋体" panose="02010600030101010101" pitchFamily="2" charset="-122"/>
              </a:rPr>
              <a:t>二、闭环式测量系统</a:t>
            </a:r>
            <a:endParaRPr lang="zh-CN" altLang="en-US" dirty="0">
              <a:latin typeface="宋体" panose="02010600030101010101" pitchFamily="2" charset="-122"/>
              <a:ea typeface="宋体" panose="02010600030101010101" pitchFamily="2" charset="-122"/>
            </a:endParaRPr>
          </a:p>
        </p:txBody>
      </p:sp>
      <p:sp>
        <p:nvSpPr>
          <p:cNvPr id="15" name="矩形 14"/>
          <p:cNvSpPr/>
          <p:nvPr/>
        </p:nvSpPr>
        <p:spPr>
          <a:xfrm>
            <a:off x="5141287" y="1965658"/>
            <a:ext cx="2840777" cy="646331"/>
          </a:xfrm>
          <a:prstGeom prst="rect">
            <a:avLst/>
          </a:prstGeom>
        </p:spPr>
        <p:txBody>
          <a:bodyPr wrap="square">
            <a:spAutoFit/>
          </a:bodyPr>
          <a:lstStyle/>
          <a:p>
            <a:pPr marL="342900" lvl="0" indent="-342900">
              <a:lnSpc>
                <a:spcPct val="150000"/>
              </a:lnSpc>
            </a:pPr>
            <a:r>
              <a:rPr lang="zh-CN" altLang="en-US" sz="2400" b="1" dirty="0">
                <a:solidFill>
                  <a:srgbClr val="008000"/>
                </a:solidFill>
                <a:latin typeface="宋体" panose="02010600030101010101" pitchFamily="2" charset="-122"/>
                <a:ea typeface="宋体" panose="02010600030101010101" pitchFamily="2" charset="-122"/>
              </a:rPr>
              <a:t>响应延迟、滞后</a:t>
            </a:r>
          </a:p>
        </p:txBody>
      </p:sp>
      <p:sp>
        <p:nvSpPr>
          <p:cNvPr id="2" name="Slide Number Placeholder 1">
            <a:extLst>
              <a:ext uri="{FF2B5EF4-FFF2-40B4-BE49-F238E27FC236}">
                <a16:creationId xmlns:a16="http://schemas.microsoft.com/office/drawing/2014/main" id="{0854FAA8-DC80-4DEB-9D49-362075187602}"/>
              </a:ext>
            </a:extLst>
          </p:cNvPr>
          <p:cNvSpPr>
            <a:spLocks noGrp="1"/>
          </p:cNvSpPr>
          <p:nvPr>
            <p:ph type="sldNum" sz="quarter" idx="12"/>
          </p:nvPr>
        </p:nvSpPr>
        <p:spPr/>
        <p:txBody>
          <a:bodyPr/>
          <a:lstStyle/>
          <a:p>
            <a:fld id="{DC11BA4E-7967-4102-867C-9D230A2E6791}" type="slidenum">
              <a:rPr lang="zh-CN" altLang="en-US" smtClean="0"/>
              <a:t>14</a:t>
            </a:fld>
            <a:endParaRPr lang="zh-CN" altLang="en-US"/>
          </a:p>
        </p:txBody>
      </p:sp>
      <p:sp>
        <p:nvSpPr>
          <p:cNvPr id="24" name="Text Box 9">
            <a:extLst>
              <a:ext uri="{FF2B5EF4-FFF2-40B4-BE49-F238E27FC236}">
                <a16:creationId xmlns:a16="http://schemas.microsoft.com/office/drawing/2014/main" id="{7697A3BE-8B05-4B77-A826-06B6142CA69E}"/>
              </a:ext>
            </a:extLst>
          </p:cNvPr>
          <p:cNvSpPr txBox="1">
            <a:spLocks noChangeArrowheads="1"/>
          </p:cNvSpPr>
          <p:nvPr/>
        </p:nvSpPr>
        <p:spPr bwMode="auto">
          <a:xfrm>
            <a:off x="510377" y="5041315"/>
            <a:ext cx="363105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15-7  </a:t>
            </a:r>
            <a:r>
              <a:rPr kumimoji="0" lang="zh-CN" altLang="en-US" b="1" dirty="0">
                <a:solidFill>
                  <a:srgbClr val="000099"/>
                </a:solidFill>
                <a:latin typeface="宋体" pitchFamily="2" charset="-122"/>
                <a:ea typeface="宋体" pitchFamily="2" charset="-122"/>
              </a:rPr>
              <a:t>开环式测量系统</a:t>
            </a:r>
          </a:p>
        </p:txBody>
      </p:sp>
      <p:graphicFrame>
        <p:nvGraphicFramePr>
          <p:cNvPr id="26" name="Object 19">
            <a:extLst>
              <a:ext uri="{FF2B5EF4-FFF2-40B4-BE49-F238E27FC236}">
                <a16:creationId xmlns:a16="http://schemas.microsoft.com/office/drawing/2014/main" id="{9F269B33-F738-4E34-9A31-B86C71A9FB29}"/>
              </a:ext>
            </a:extLst>
          </p:cNvPr>
          <p:cNvGraphicFramePr>
            <a:graphicFrameLocks noChangeAspect="1"/>
          </p:cNvGraphicFramePr>
          <p:nvPr>
            <p:extLst>
              <p:ext uri="{D42A27DB-BD31-4B8C-83A1-F6EECF244321}">
                <p14:modId xmlns:p14="http://schemas.microsoft.com/office/powerpoint/2010/main" val="3590414667"/>
              </p:ext>
            </p:extLst>
          </p:nvPr>
        </p:nvGraphicFramePr>
        <p:xfrm>
          <a:off x="290358" y="3429000"/>
          <a:ext cx="4281642" cy="1343539"/>
        </p:xfrm>
        <a:graphic>
          <a:graphicData uri="http://schemas.openxmlformats.org/presentationml/2006/ole">
            <mc:AlternateContent xmlns:mc="http://schemas.openxmlformats.org/markup-compatibility/2006">
              <mc:Choice xmlns:v="urn:schemas-microsoft-com:vml" Requires="v">
                <p:oleObj name="Flash Movie" r:id="rId5" imgW="8376120" imgH="2629440" progId="Flash.Movie">
                  <p:embed/>
                </p:oleObj>
              </mc:Choice>
              <mc:Fallback>
                <p:oleObj name="Flash Movie" r:id="rId5" imgW="8376120" imgH="2629440" progId="Flash.Movie">
                  <p:embed/>
                  <p:pic>
                    <p:nvPicPr>
                      <p:cNvPr id="2067"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358" y="3429000"/>
                        <a:ext cx="4281642" cy="1343539"/>
                      </a:xfrm>
                      <a:prstGeom prst="rect">
                        <a:avLst/>
                      </a:prstGeom>
                      <a:noFill/>
                      <a:ln>
                        <a:noFill/>
                      </a:ln>
                      <a:effectLst/>
                    </p:spPr>
                  </p:pic>
                </p:oleObj>
              </mc:Fallback>
            </mc:AlternateContent>
          </a:graphicData>
        </a:graphic>
      </p:graphicFrame>
      <p:sp>
        <p:nvSpPr>
          <p:cNvPr id="40" name="Text Box 9">
            <a:extLst>
              <a:ext uri="{FF2B5EF4-FFF2-40B4-BE49-F238E27FC236}">
                <a16:creationId xmlns:a16="http://schemas.microsoft.com/office/drawing/2014/main" id="{6CA96324-5E3B-44CB-8182-3FF0A6E324DD}"/>
              </a:ext>
            </a:extLst>
          </p:cNvPr>
          <p:cNvSpPr txBox="1">
            <a:spLocks noChangeArrowheads="1"/>
          </p:cNvSpPr>
          <p:nvPr/>
        </p:nvSpPr>
        <p:spPr bwMode="auto">
          <a:xfrm>
            <a:off x="5315939" y="5779969"/>
            <a:ext cx="367218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15-8  </a:t>
            </a:r>
            <a:r>
              <a:rPr kumimoji="0" lang="zh-CN" altLang="en-US" b="1" dirty="0">
                <a:solidFill>
                  <a:srgbClr val="000099"/>
                </a:solidFill>
                <a:latin typeface="宋体" pitchFamily="2" charset="-122"/>
                <a:ea typeface="宋体" pitchFamily="2" charset="-122"/>
              </a:rPr>
              <a:t>闭环式测量系统</a:t>
            </a:r>
          </a:p>
        </p:txBody>
      </p:sp>
      <p:graphicFrame>
        <p:nvGraphicFramePr>
          <p:cNvPr id="41" name="Object 20">
            <a:extLst>
              <a:ext uri="{FF2B5EF4-FFF2-40B4-BE49-F238E27FC236}">
                <a16:creationId xmlns:a16="http://schemas.microsoft.com/office/drawing/2014/main" id="{1902C74D-9B61-4B3C-80C5-5FCCA7439C12}"/>
              </a:ext>
            </a:extLst>
          </p:cNvPr>
          <p:cNvGraphicFramePr>
            <a:graphicFrameLocks noChangeAspect="1"/>
          </p:cNvGraphicFramePr>
          <p:nvPr>
            <p:extLst>
              <p:ext uri="{D42A27DB-BD31-4B8C-83A1-F6EECF244321}">
                <p14:modId xmlns:p14="http://schemas.microsoft.com/office/powerpoint/2010/main" val="2958096177"/>
              </p:ext>
            </p:extLst>
          </p:nvPr>
        </p:nvGraphicFramePr>
        <p:xfrm>
          <a:off x="4677873" y="3336815"/>
          <a:ext cx="4310251" cy="2468996"/>
        </p:xfrm>
        <a:graphic>
          <a:graphicData uri="http://schemas.openxmlformats.org/presentationml/2006/ole">
            <mc:AlternateContent xmlns:mc="http://schemas.openxmlformats.org/markup-compatibility/2006">
              <mc:Choice xmlns:v="urn:schemas-microsoft-com:vml" Requires="v">
                <p:oleObj name="Flash Movie" r:id="rId7" imgW="8196480" imgH="4695120" progId="Flash.Movie">
                  <p:embed/>
                </p:oleObj>
              </mc:Choice>
              <mc:Fallback>
                <p:oleObj name="Flash Movie" r:id="rId7" imgW="8196480" imgH="4695120" progId="Flash.Movie">
                  <p:embed/>
                  <p:pic>
                    <p:nvPicPr>
                      <p:cNvPr id="2068"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7873" y="3336815"/>
                        <a:ext cx="4310251" cy="246899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7999229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85BCAD95-D352-468D-9323-BA13ABDF50F6}"/>
              </a:ext>
            </a:extLst>
          </p:cNvPr>
          <p:cNvSpPr txBox="1"/>
          <p:nvPr/>
        </p:nvSpPr>
        <p:spPr>
          <a:xfrm>
            <a:off x="3164413" y="2944718"/>
            <a:ext cx="4304375"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hlinkClick r:id="rId2" action="ppaction://hlinksldjump"/>
              </a:rPr>
              <a:t>静态测量数据处理方法</a:t>
            </a:r>
            <a:endParaRPr lang="zh-CN" altLang="en-US" sz="3200" b="1" dirty="0">
              <a:solidFill>
                <a:schemeClr val="tx2"/>
              </a:solidFill>
              <a:latin typeface="宋体" panose="02010600030101010101" pitchFamily="2" charset="-122"/>
              <a:ea typeface="宋体" panose="02010600030101010101" pitchFamily="2" charset="-122"/>
            </a:endParaRPr>
          </a:p>
        </p:txBody>
      </p:sp>
      <p:sp>
        <p:nvSpPr>
          <p:cNvPr id="11" name="文本框 10">
            <a:hlinkClick r:id="rId3" action="ppaction://hlinksldjump"/>
            <a:extLst>
              <a:ext uri="{FF2B5EF4-FFF2-40B4-BE49-F238E27FC236}">
                <a16:creationId xmlns:a16="http://schemas.microsoft.com/office/drawing/2014/main" id="{397A0068-2B17-47DF-B0E0-B0577263EECD}"/>
              </a:ext>
            </a:extLst>
          </p:cNvPr>
          <p:cNvSpPr txBox="1"/>
          <p:nvPr/>
        </p:nvSpPr>
        <p:spPr>
          <a:xfrm>
            <a:off x="3164412" y="4100890"/>
            <a:ext cx="4304375" cy="584771"/>
          </a:xfrm>
          <a:prstGeom prst="rect">
            <a:avLst/>
          </a:prstGeom>
          <a:noFill/>
        </p:spPr>
        <p:txBody>
          <a:bodyPr wrap="none" lIns="91436" tIns="45718" rIns="91436" bIns="45718" rtlCol="0">
            <a:spAutoFit/>
          </a:bodyPr>
          <a:lstStyle/>
          <a:p>
            <a:r>
              <a:rPr lang="zh-CN" altLang="en-US" sz="3200" b="1" dirty="0">
                <a:solidFill>
                  <a:schemeClr val="bg1">
                    <a:lumMod val="65000"/>
                  </a:schemeClr>
                </a:solidFill>
                <a:latin typeface="宋体" panose="02010600030101010101" pitchFamily="2" charset="-122"/>
                <a:ea typeface="宋体" panose="02010600030101010101" pitchFamily="2" charset="-122"/>
                <a:hlinkClick r:id="rId4" action="ppaction://hlinksldjump">
                  <a:extLst>
                    <a:ext uri="{A12FA001-AC4F-418D-AE19-62706E023703}">
                      <ahyp:hlinkClr xmlns:ahyp="http://schemas.microsoft.com/office/drawing/2018/hyperlinkcolor" val="tx"/>
                    </a:ext>
                  </a:extLst>
                </a:hlinkClick>
              </a:rPr>
              <a:t>动态测量数据处理方法</a:t>
            </a:r>
            <a:endParaRPr lang="zh-CN" altLang="en-US" sz="3200" b="1" dirty="0">
              <a:solidFill>
                <a:schemeClr val="bg1">
                  <a:lumMod val="65000"/>
                </a:schemeClr>
              </a:solidFill>
              <a:latin typeface="宋体" panose="02010600030101010101" pitchFamily="2" charset="-122"/>
              <a:ea typeface="宋体" panose="02010600030101010101" pitchFamily="2" charset="-122"/>
            </a:endParaRPr>
          </a:p>
        </p:txBody>
      </p:sp>
      <p:sp>
        <p:nvSpPr>
          <p:cNvPr id="29" name="矩形 2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0" name="圆角矩形 2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15.4</a:t>
            </a:r>
          </a:p>
        </p:txBody>
      </p:sp>
      <p:sp>
        <p:nvSpPr>
          <p:cNvPr id="31" name="矩形 30"/>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测量数据处理方法</a:t>
            </a:r>
          </a:p>
        </p:txBody>
      </p:sp>
      <p:sp>
        <p:nvSpPr>
          <p:cNvPr id="42" name="圆角矩形 72">
            <a:extLst>
              <a:ext uri="{FF2B5EF4-FFF2-40B4-BE49-F238E27FC236}">
                <a16:creationId xmlns:a16="http://schemas.microsoft.com/office/drawing/2014/main" id="{343D7C8A-72E9-4E11-82F9-04D1F37F1B07}"/>
              </a:ext>
            </a:extLst>
          </p:cNvPr>
          <p:cNvSpPr/>
          <p:nvPr/>
        </p:nvSpPr>
        <p:spPr>
          <a:xfrm rot="10800000" flipV="1">
            <a:off x="1494025" y="3008488"/>
            <a:ext cx="1392152"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15.4.1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3" name="圆角矩形 73">
            <a:extLst>
              <a:ext uri="{FF2B5EF4-FFF2-40B4-BE49-F238E27FC236}">
                <a16:creationId xmlns:a16="http://schemas.microsoft.com/office/drawing/2014/main" id="{7997A031-0667-4F3B-9AA0-BAB02B443096}"/>
              </a:ext>
            </a:extLst>
          </p:cNvPr>
          <p:cNvSpPr/>
          <p:nvPr/>
        </p:nvSpPr>
        <p:spPr>
          <a:xfrm rot="10800000" flipV="1">
            <a:off x="1494024" y="4261670"/>
            <a:ext cx="139215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15.4.2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Text Box 5"/>
          <p:cNvSpPr txBox="1">
            <a:spLocks noChangeArrowheads="1"/>
          </p:cNvSpPr>
          <p:nvPr/>
        </p:nvSpPr>
        <p:spPr bwMode="auto">
          <a:xfrm>
            <a:off x="1960201" y="1759750"/>
            <a:ext cx="5208775"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0000" tIns="46800" rIns="90000" bIns="46800">
            <a:spAutoFit/>
          </a:bodyPr>
          <a:lstStyle>
            <a:lvl1pPr eaLnBrk="0" hangingPunct="0">
              <a:defRPr b="1">
                <a:solidFill>
                  <a:schemeClr val="tx2"/>
                </a:solidFill>
                <a:latin typeface="Arial" charset="0"/>
                <a:ea typeface="宋体" charset="-122"/>
              </a:defRPr>
            </a:lvl1pPr>
            <a:lvl2pPr marL="742950" indent="-285750" eaLnBrk="0" hangingPunct="0">
              <a:defRPr b="1">
                <a:solidFill>
                  <a:schemeClr val="tx2"/>
                </a:solidFill>
                <a:latin typeface="Arial" charset="0"/>
                <a:ea typeface="宋体" charset="-122"/>
              </a:defRPr>
            </a:lvl2pPr>
            <a:lvl3pPr marL="1143000" indent="-228600" eaLnBrk="0" hangingPunct="0">
              <a:defRPr b="1">
                <a:solidFill>
                  <a:schemeClr val="tx2"/>
                </a:solidFill>
                <a:latin typeface="Arial" charset="0"/>
                <a:ea typeface="宋体" charset="-122"/>
              </a:defRPr>
            </a:lvl3pPr>
            <a:lvl4pPr marL="1600200" indent="-228600" eaLnBrk="0" hangingPunct="0">
              <a:defRPr b="1">
                <a:solidFill>
                  <a:schemeClr val="tx2"/>
                </a:solidFill>
                <a:latin typeface="Arial" charset="0"/>
                <a:ea typeface="宋体" charset="-122"/>
              </a:defRPr>
            </a:lvl4pPr>
            <a:lvl5pPr marL="2057400" indent="-228600" eaLnBrk="0" hangingPunct="0">
              <a:defRPr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9pPr>
          </a:lstStyle>
          <a:p>
            <a:r>
              <a:rPr lang="zh-CN" altLang="en-US" sz="2800" dirty="0">
                <a:solidFill>
                  <a:srgbClr val="000000"/>
                </a:solidFill>
                <a:latin typeface="楷体_GB2312" pitchFamily="49" charset="-122"/>
                <a:ea typeface="楷体_GB2312" pitchFamily="49" charset="-122"/>
              </a:rPr>
              <a:t>通过计算得到更接近真值的数据</a:t>
            </a:r>
          </a:p>
        </p:txBody>
      </p:sp>
      <p:sp>
        <p:nvSpPr>
          <p:cNvPr id="2" name="Slide Number Placeholder 1">
            <a:extLst>
              <a:ext uri="{FF2B5EF4-FFF2-40B4-BE49-F238E27FC236}">
                <a16:creationId xmlns:a16="http://schemas.microsoft.com/office/drawing/2014/main" id="{9A19D34E-5055-4701-BBB7-8F2BE60BD761}"/>
              </a:ext>
            </a:extLst>
          </p:cNvPr>
          <p:cNvSpPr>
            <a:spLocks noGrp="1"/>
          </p:cNvSpPr>
          <p:nvPr>
            <p:ph type="sldNum" sz="quarter" idx="12"/>
          </p:nvPr>
        </p:nvSpPr>
        <p:spPr/>
        <p:txBody>
          <a:bodyPr/>
          <a:lstStyle/>
          <a:p>
            <a:fld id="{DC11BA4E-7967-4102-867C-9D230A2E6791}" type="slidenum">
              <a:rPr lang="zh-CN" altLang="en-US" smtClean="0"/>
              <a:t>15</a:t>
            </a:fld>
            <a:endParaRPr lang="zh-CN" altLang="en-US"/>
          </a:p>
        </p:txBody>
      </p:sp>
    </p:spTree>
    <p:extLst>
      <p:ext uri="{BB962C8B-B14F-4D97-AF65-F5344CB8AC3E}">
        <p14:creationId xmlns:p14="http://schemas.microsoft.com/office/powerpoint/2010/main" val="28537529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571711" y="1147031"/>
            <a:ext cx="6284686" cy="5134945"/>
          </a:xfrm>
        </p:spPr>
        <p:txBody>
          <a:bodyPr>
            <a:noAutofit/>
          </a:bodyPr>
          <a:lstStyle/>
          <a:p>
            <a:pPr marL="0" indent="0" eaLnBrk="1" hangingPunct="1">
              <a:lnSpc>
                <a:spcPct val="200000"/>
              </a:lnSpc>
              <a:spcBef>
                <a:spcPts val="0"/>
              </a:spcBef>
              <a:buNone/>
              <a:defRPr/>
            </a:pPr>
            <a:r>
              <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3" action="ppaction://hlinksldjump"/>
              </a:rPr>
              <a:t>一、误差与精确度</a:t>
            </a:r>
            <a:endPar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0"/>
              </a:spcBef>
              <a:buNone/>
              <a:defRPr/>
            </a:pPr>
            <a:r>
              <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4" action="ppaction://hlinksldjump"/>
              </a:rPr>
              <a:t>二、测量数据的统计处理</a:t>
            </a:r>
            <a:endPar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0"/>
              </a:spcBef>
              <a:buNone/>
              <a:defRPr/>
            </a:pPr>
            <a:r>
              <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5" action="ppaction://hlinksldjump"/>
              </a:rPr>
              <a:t>三、间接测量中误差的传递</a:t>
            </a:r>
            <a:endPar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0"/>
              </a:spcBef>
              <a:buNone/>
              <a:defRPr/>
            </a:pPr>
            <a:r>
              <a:rPr lang="zh-CN" altLang="en-US"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hlinkClick r:id="rId6" action="ppaction://hlinksldjump">
                  <a:extLst>
                    <a:ext uri="{A12FA001-AC4F-418D-AE19-62706E023703}">
                      <ahyp:hlinkClr xmlns:ahyp="http://schemas.microsoft.com/office/drawing/2018/hyperlinkcolor" val="tx"/>
                    </a:ext>
                  </a:extLst>
                </a:hlinkClick>
              </a:rPr>
              <a:t>四、有效数字及其计算法则</a:t>
            </a:r>
            <a:endParaRPr lang="zh-CN" altLang="en-US"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0"/>
              </a:spcBef>
              <a:buNone/>
              <a:defRPr/>
            </a:pPr>
            <a:r>
              <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7" action="ppaction://hlinksldjump"/>
              </a:rPr>
              <a:t>五、实验数据方程表示法</a:t>
            </a:r>
            <a:r>
              <a:rPr lang="en-US" altLang="zh-CN"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7" action="ppaction://hlinksldjump"/>
              </a:rPr>
              <a:t>--</a:t>
            </a:r>
            <a:r>
              <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7" action="ppaction://hlinksldjump"/>
              </a:rPr>
              <a:t>回归分析法</a:t>
            </a:r>
            <a:endPar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0"/>
              </a:spcBef>
              <a:buNone/>
              <a:defRPr/>
            </a:pPr>
            <a:r>
              <a:rPr lang="zh-CN" altLang="en-US"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hlinkClick r:id="rId8" action="ppaction://hlinksldjump">
                  <a:extLst>
                    <a:ext uri="{A12FA001-AC4F-418D-AE19-62706E023703}">
                      <ahyp:hlinkClr xmlns:ahyp="http://schemas.microsoft.com/office/drawing/2018/hyperlinkcolor" val="tx"/>
                    </a:ext>
                  </a:extLst>
                </a:hlinkClick>
              </a:rPr>
              <a:t>六、测量数据的图解分析</a:t>
            </a:r>
            <a:endParaRPr lang="zh-CN" altLang="en-US" sz="2000"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endParaRP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15.4.1</a:t>
            </a:r>
          </a:p>
        </p:txBody>
      </p:sp>
      <p:sp>
        <p:nvSpPr>
          <p:cNvPr id="27" name="矩形 26"/>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静态测量数据处理方法</a:t>
            </a:r>
          </a:p>
        </p:txBody>
      </p:sp>
      <p:sp>
        <p:nvSpPr>
          <p:cNvPr id="2" name="Slide Number Placeholder 1">
            <a:extLst>
              <a:ext uri="{FF2B5EF4-FFF2-40B4-BE49-F238E27FC236}">
                <a16:creationId xmlns:a16="http://schemas.microsoft.com/office/drawing/2014/main" id="{D0665E7F-8712-4636-9554-AC3639D1E065}"/>
              </a:ext>
            </a:extLst>
          </p:cNvPr>
          <p:cNvSpPr>
            <a:spLocks noGrp="1"/>
          </p:cNvSpPr>
          <p:nvPr>
            <p:ph type="sldNum" sz="quarter" idx="12"/>
          </p:nvPr>
        </p:nvSpPr>
        <p:spPr/>
        <p:txBody>
          <a:bodyPr/>
          <a:lstStyle/>
          <a:p>
            <a:fld id="{DC11BA4E-7967-4102-867C-9D230A2E6791}" type="slidenum">
              <a:rPr lang="zh-CN" altLang="en-US" smtClean="0"/>
              <a:t>16</a:t>
            </a:fld>
            <a:endParaRPr lang="zh-CN" altLang="en-US"/>
          </a:p>
        </p:txBody>
      </p:sp>
    </p:spTree>
    <p:extLst>
      <p:ext uri="{BB962C8B-B14F-4D97-AF65-F5344CB8AC3E}">
        <p14:creationId xmlns:p14="http://schemas.microsoft.com/office/powerpoint/2010/main" val="290082957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571711" y="1419396"/>
            <a:ext cx="6626676" cy="4734661"/>
          </a:xfrm>
        </p:spPr>
        <p:txBody>
          <a:bodyPr>
            <a:noAutofit/>
          </a:bodyPr>
          <a:lstStyle/>
          <a:p>
            <a:pPr marL="0" indent="0" eaLnBrk="1" hangingPunct="1">
              <a:lnSpc>
                <a:spcPct val="150000"/>
              </a:lnSpc>
              <a:spcBef>
                <a:spcPts val="0"/>
              </a:spcBef>
              <a:buNone/>
              <a:defRPr/>
            </a:pPr>
            <a:r>
              <a:rPr lang="en-US" altLang="zh-CN" b="1" dirty="0">
                <a:solidFill>
                  <a:schemeClr val="tx2"/>
                </a:solidFill>
                <a:latin typeface="Arial" panose="020B0604020202020204" pitchFamily="34" charset="0"/>
                <a:ea typeface="宋体" panose="02010600030101010101" pitchFamily="2" charset="-122"/>
                <a:cs typeface="Arial" panose="020B0604020202020204" pitchFamily="34" charset="0"/>
                <a:hlinkClick r:id="rId3" action="ppaction://hlinksldjump"/>
              </a:rPr>
              <a:t>1</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hlinkClick r:id="rId3" action="ppaction://hlinksldjump"/>
              </a:rPr>
              <a:t>．测量误差</a:t>
            </a:r>
            <a:endPar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endParaRPr>
          </a:p>
          <a:p>
            <a:pPr marL="0" indent="0" eaLnBrk="1" hangingPunct="1">
              <a:lnSpc>
                <a:spcPct val="150000"/>
              </a:lnSpc>
              <a:spcBef>
                <a:spcPts val="0"/>
              </a:spcBef>
              <a:buNone/>
              <a:defRPr/>
            </a:pPr>
            <a:r>
              <a:rPr lang="en-US" altLang="zh-CN" b="1" dirty="0">
                <a:solidFill>
                  <a:schemeClr val="tx2"/>
                </a:solidFill>
                <a:latin typeface="Arial" panose="020B0604020202020204" pitchFamily="34" charset="0"/>
                <a:ea typeface="宋体" panose="02010600030101010101" pitchFamily="2" charset="-122"/>
                <a:cs typeface="Arial" panose="020B0604020202020204" pitchFamily="34" charset="0"/>
                <a:hlinkClick r:id="rId4" action="ppaction://hlinksldjump"/>
              </a:rPr>
              <a:t>2</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hlinkClick r:id="rId4" action="ppaction://hlinksldjump"/>
              </a:rPr>
              <a:t>．系统误差、偶然误差和疏失误差</a:t>
            </a:r>
            <a:endPar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endParaRPr>
          </a:p>
          <a:p>
            <a:pPr marL="0" indent="0" eaLnBrk="1" hangingPunct="1">
              <a:lnSpc>
                <a:spcPct val="150000"/>
              </a:lnSpc>
              <a:spcBef>
                <a:spcPts val="0"/>
              </a:spcBef>
              <a:buNone/>
              <a:defRPr/>
            </a:pPr>
            <a:r>
              <a:rPr lang="en-US" altLang="zh-CN" b="1" dirty="0">
                <a:solidFill>
                  <a:schemeClr val="tx2"/>
                </a:solidFill>
                <a:latin typeface="Arial" panose="020B0604020202020204" pitchFamily="34" charset="0"/>
                <a:ea typeface="宋体" panose="02010600030101010101" pitchFamily="2" charset="-122"/>
                <a:cs typeface="Arial" panose="020B0604020202020204" pitchFamily="34" charset="0"/>
                <a:hlinkClick r:id="rId5" action="ppaction://hlinksldjump"/>
              </a:rPr>
              <a:t>3</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hlinkClick r:id="rId5" action="ppaction://hlinksldjump"/>
              </a:rPr>
              <a:t>．基本误差和附加误差</a:t>
            </a:r>
            <a:endPar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endParaRPr>
          </a:p>
          <a:p>
            <a:pPr marL="0" indent="0" eaLnBrk="1" hangingPunct="1">
              <a:lnSpc>
                <a:spcPct val="150000"/>
              </a:lnSpc>
              <a:spcBef>
                <a:spcPts val="0"/>
              </a:spcBef>
              <a:buNone/>
              <a:defRPr/>
            </a:pPr>
            <a:r>
              <a:rPr lang="en-US" altLang="zh-CN" b="1" dirty="0">
                <a:solidFill>
                  <a:schemeClr val="tx2"/>
                </a:solidFill>
                <a:latin typeface="Arial" panose="020B0604020202020204" pitchFamily="34" charset="0"/>
                <a:ea typeface="宋体" panose="02010600030101010101" pitchFamily="2" charset="-122"/>
                <a:cs typeface="Arial" panose="020B0604020202020204" pitchFamily="34" charset="0"/>
                <a:hlinkClick r:id="rId6" action="ppaction://hlinksldjump"/>
              </a:rPr>
              <a:t>4</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hlinkClick r:id="rId6" action="ppaction://hlinksldjump"/>
              </a:rPr>
              <a:t>．与仪表性能有关的常用术语</a:t>
            </a:r>
            <a:endPar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endParaRPr>
          </a:p>
          <a:p>
            <a:pPr marL="536575" indent="-536575" eaLnBrk="1" hangingPunct="1">
              <a:lnSpc>
                <a:spcPct val="150000"/>
              </a:lnSpc>
              <a:spcBef>
                <a:spcPts val="0"/>
              </a:spcBef>
              <a:buNone/>
              <a:defRPr/>
            </a:pPr>
            <a:r>
              <a:rPr lang="en-US" altLang="zh-CN" b="1" dirty="0">
                <a:solidFill>
                  <a:schemeClr val="tx2"/>
                </a:solidFill>
                <a:latin typeface="Arial" panose="020B0604020202020204" pitchFamily="34" charset="0"/>
                <a:ea typeface="宋体" panose="02010600030101010101" pitchFamily="2" charset="-122"/>
                <a:cs typeface="Arial" panose="020B0604020202020204" pitchFamily="34" charset="0"/>
                <a:hlinkClick r:id="rId7" action="ppaction://hlinksldjump"/>
              </a:rPr>
              <a:t>5</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hlinkClick r:id="rId7" action="ppaction://hlinksldjump"/>
              </a:rPr>
              <a:t>．常见的系统误差及降低其对测量结果影响的方法</a:t>
            </a:r>
            <a:endPar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endParaRPr>
          </a:p>
          <a:p>
            <a:pPr marL="0" indent="0" eaLnBrk="1" hangingPunct="1">
              <a:lnSpc>
                <a:spcPct val="150000"/>
              </a:lnSpc>
              <a:spcBef>
                <a:spcPts val="0"/>
              </a:spcBef>
              <a:buNone/>
              <a:defRPr/>
            </a:pPr>
            <a:r>
              <a:rPr lang="en-US" altLang="zh-CN" b="1" dirty="0">
                <a:solidFill>
                  <a:schemeClr val="tx2"/>
                </a:solidFill>
                <a:latin typeface="Arial" panose="020B0604020202020204" pitchFamily="34" charset="0"/>
                <a:ea typeface="宋体" panose="02010600030101010101" pitchFamily="2" charset="-122"/>
                <a:cs typeface="Arial" panose="020B0604020202020204" pitchFamily="34" charset="0"/>
                <a:hlinkClick r:id="rId8" action="ppaction://hlinksldjump"/>
              </a:rPr>
              <a:t>6</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hlinkClick r:id="rId8" action="ppaction://hlinksldjump"/>
              </a:rPr>
              <a:t>．系统误差的综合与分配</a:t>
            </a:r>
            <a:endPar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 name="Slide Number Placeholder 1">
            <a:extLst>
              <a:ext uri="{FF2B5EF4-FFF2-40B4-BE49-F238E27FC236}">
                <a16:creationId xmlns:a16="http://schemas.microsoft.com/office/drawing/2014/main" id="{9765BF61-1E36-4532-861F-9FF42A5FE024}"/>
              </a:ext>
            </a:extLst>
          </p:cNvPr>
          <p:cNvSpPr>
            <a:spLocks noGrp="1"/>
          </p:cNvSpPr>
          <p:nvPr>
            <p:ph type="sldNum" sz="quarter" idx="12"/>
          </p:nvPr>
        </p:nvSpPr>
        <p:spPr/>
        <p:txBody>
          <a:bodyPr/>
          <a:lstStyle/>
          <a:p>
            <a:fld id="{DC11BA4E-7967-4102-867C-9D230A2E6791}" type="slidenum">
              <a:rPr lang="zh-CN" altLang="en-US" smtClean="0"/>
              <a:t>17</a:t>
            </a:fld>
            <a:endParaRPr lang="zh-CN" altLang="en-US"/>
          </a:p>
        </p:txBody>
      </p:sp>
    </p:spTree>
    <p:extLst>
      <p:ext uri="{BB962C8B-B14F-4D97-AF65-F5344CB8AC3E}">
        <p14:creationId xmlns:p14="http://schemas.microsoft.com/office/powerpoint/2010/main" val="13053631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38" name="Rectangle 3"/>
          <p:cNvSpPr>
            <a:spLocks noRot="1" noChangeArrowheads="1"/>
          </p:cNvSpPr>
          <p:nvPr/>
        </p:nvSpPr>
        <p:spPr bwMode="auto">
          <a:xfrm>
            <a:off x="234050" y="1306067"/>
            <a:ext cx="86759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ts val="3500"/>
              </a:lnSpc>
            </a:pPr>
            <a:r>
              <a:rPr lang="en-US" altLang="zh-CN" sz="2400" b="1" dirty="0">
                <a:solidFill>
                  <a:srgbClr val="FF0000"/>
                </a:solidFill>
                <a:latin typeface="Times New Roman" pitchFamily="18" charset="0"/>
                <a:ea typeface="宋体" pitchFamily="2" charset="-122"/>
                <a:cs typeface="Times New Roman" pitchFamily="18" charset="0"/>
              </a:rPr>
              <a:t>1</a:t>
            </a:r>
            <a:r>
              <a:rPr lang="zh-CN" altLang="en-US" sz="2400" b="1" dirty="0">
                <a:solidFill>
                  <a:srgbClr val="FF0000"/>
                </a:solidFill>
                <a:latin typeface="Times New Roman" pitchFamily="18" charset="0"/>
                <a:ea typeface="宋体" pitchFamily="2" charset="-122"/>
                <a:cs typeface="Times New Roman" pitchFamily="18" charset="0"/>
              </a:rPr>
              <a:t>．测量误差</a:t>
            </a:r>
          </a:p>
          <a:p>
            <a:pPr indent="623888">
              <a:lnSpc>
                <a:spcPts val="3500"/>
              </a:lnSpc>
            </a:pPr>
            <a:r>
              <a:rPr lang="zh-CN" altLang="en-US" sz="2200" b="1" dirty="0">
                <a:latin typeface="Times New Roman" pitchFamily="18" charset="0"/>
                <a:ea typeface="宋体" pitchFamily="2" charset="-122"/>
                <a:cs typeface="Times New Roman" pitchFamily="18" charset="0"/>
              </a:rPr>
              <a:t>测量的目的是希望通过测量求取被测未知量的</a:t>
            </a:r>
            <a:r>
              <a:rPr lang="zh-CN" altLang="en-US" sz="2200" b="1" dirty="0">
                <a:solidFill>
                  <a:srgbClr val="FF0000"/>
                </a:solidFill>
                <a:latin typeface="Times New Roman" pitchFamily="18" charset="0"/>
                <a:ea typeface="宋体" pitchFamily="2" charset="-122"/>
                <a:cs typeface="Times New Roman" pitchFamily="18" charset="0"/>
              </a:rPr>
              <a:t>真实值</a:t>
            </a:r>
            <a:r>
              <a:rPr lang="zh-CN" altLang="en-US" sz="2200" b="1" dirty="0">
                <a:latin typeface="Times New Roman" pitchFamily="18" charset="0"/>
                <a:ea typeface="宋体" pitchFamily="2" charset="-122"/>
                <a:cs typeface="Times New Roman" pitchFamily="18" charset="0"/>
              </a:rPr>
              <a:t>，以</a:t>
            </a:r>
            <a:r>
              <a:rPr lang="en-US" altLang="zh-CN" sz="2200" i="1" dirty="0">
                <a:solidFill>
                  <a:srgbClr val="FF0000"/>
                </a:solidFill>
                <a:latin typeface="Times New Roman" pitchFamily="18" charset="0"/>
                <a:ea typeface="宋体" pitchFamily="2" charset="-122"/>
                <a:cs typeface="Times New Roman" pitchFamily="18" charset="0"/>
              </a:rPr>
              <a:t>L</a:t>
            </a:r>
            <a:r>
              <a:rPr lang="zh-CN" altLang="en-US" sz="2200" b="1" dirty="0">
                <a:latin typeface="Times New Roman" pitchFamily="18" charset="0"/>
                <a:ea typeface="宋体" pitchFamily="2" charset="-122"/>
                <a:cs typeface="Times New Roman" pitchFamily="18" charset="0"/>
              </a:rPr>
              <a:t>表</a:t>
            </a:r>
            <a:r>
              <a:rPr lang="zh-CN" altLang="en-US" sz="2200" b="1">
                <a:latin typeface="Times New Roman" pitchFamily="18" charset="0"/>
                <a:ea typeface="宋体" pitchFamily="2" charset="-122"/>
                <a:cs typeface="Times New Roman" pitchFamily="18" charset="0"/>
              </a:rPr>
              <a:t>示。</a:t>
            </a:r>
            <a:endParaRPr lang="en-US" altLang="zh-CN" sz="2200" b="1">
              <a:latin typeface="Times New Roman" pitchFamily="18" charset="0"/>
              <a:ea typeface="宋体" pitchFamily="2" charset="-122"/>
              <a:cs typeface="Times New Roman" pitchFamily="18" charset="0"/>
            </a:endParaRPr>
          </a:p>
          <a:p>
            <a:pPr indent="623888">
              <a:lnSpc>
                <a:spcPts val="3500"/>
              </a:lnSpc>
            </a:pPr>
            <a:r>
              <a:rPr lang="zh-CN" altLang="en-US" sz="2200" b="1">
                <a:latin typeface="Times New Roman" pitchFamily="18" charset="0"/>
                <a:ea typeface="宋体" pitchFamily="2" charset="-122"/>
                <a:cs typeface="Times New Roman" pitchFamily="18" charset="0"/>
              </a:rPr>
              <a:t>由</a:t>
            </a:r>
            <a:r>
              <a:rPr lang="zh-CN" altLang="en-US" sz="2200" b="1" dirty="0">
                <a:latin typeface="Times New Roman" pitchFamily="18" charset="0"/>
                <a:ea typeface="宋体" pitchFamily="2" charset="-122"/>
                <a:cs typeface="Times New Roman" pitchFamily="18" charset="0"/>
              </a:rPr>
              <a:t>于种种原因，造成被测参数的测量值与真实值并不一致，即存在测量误</a:t>
            </a:r>
            <a:r>
              <a:rPr lang="zh-CN" altLang="en-US" sz="2200" b="1">
                <a:latin typeface="Times New Roman" pitchFamily="18" charset="0"/>
                <a:ea typeface="宋体" pitchFamily="2" charset="-122"/>
                <a:cs typeface="Times New Roman" pitchFamily="18" charset="0"/>
              </a:rPr>
              <a:t>差。</a:t>
            </a:r>
            <a:endParaRPr lang="en-US" altLang="zh-CN" sz="2200" b="1">
              <a:latin typeface="Times New Roman" pitchFamily="18" charset="0"/>
              <a:ea typeface="宋体" pitchFamily="2" charset="-122"/>
              <a:cs typeface="Times New Roman" pitchFamily="18" charset="0"/>
            </a:endParaRPr>
          </a:p>
          <a:p>
            <a:pPr indent="623888">
              <a:lnSpc>
                <a:spcPts val="3500"/>
              </a:lnSpc>
            </a:pPr>
            <a:r>
              <a:rPr lang="zh-CN" altLang="en-US" sz="2200" b="1">
                <a:latin typeface="Times New Roman" pitchFamily="18" charset="0"/>
                <a:ea typeface="宋体" pitchFamily="2" charset="-122"/>
                <a:cs typeface="Times New Roman" pitchFamily="18" charset="0"/>
              </a:rPr>
              <a:t>测</a:t>
            </a:r>
            <a:r>
              <a:rPr lang="zh-CN" altLang="en-US" sz="2200" b="1" dirty="0">
                <a:latin typeface="Times New Roman" pitchFamily="18" charset="0"/>
                <a:ea typeface="宋体" pitchFamily="2" charset="-122"/>
                <a:cs typeface="Times New Roman" pitchFamily="18" charset="0"/>
              </a:rPr>
              <a:t>量误差的表示方法有以下几种</a:t>
            </a:r>
            <a:r>
              <a:rPr lang="en-US" altLang="zh-CN" sz="2200" b="1" dirty="0">
                <a:latin typeface="Times New Roman" pitchFamily="18" charset="0"/>
                <a:ea typeface="宋体" pitchFamily="2" charset="-122"/>
                <a:cs typeface="Times New Roman" pitchFamily="18" charset="0"/>
              </a:rPr>
              <a:t>:</a:t>
            </a:r>
          </a:p>
          <a:p>
            <a:pPr marL="342900" indent="-342900">
              <a:lnSpc>
                <a:spcPts val="3500"/>
              </a:lnSpc>
            </a:pPr>
            <a:r>
              <a:rPr lang="en-US" altLang="zh-CN" sz="2200" b="1" dirty="0">
                <a:solidFill>
                  <a:srgbClr val="0000FF"/>
                </a:solidFill>
                <a:latin typeface="Times New Roman" pitchFamily="18" charset="0"/>
                <a:ea typeface="宋体" pitchFamily="2" charset="-122"/>
                <a:cs typeface="Times New Roman" pitchFamily="18" charset="0"/>
              </a:rPr>
              <a:t>①</a:t>
            </a:r>
            <a:r>
              <a:rPr lang="zh-CN" altLang="en-US" sz="2200" b="1" dirty="0">
                <a:solidFill>
                  <a:srgbClr val="0000FF"/>
                </a:solidFill>
                <a:latin typeface="Times New Roman" pitchFamily="18" charset="0"/>
                <a:ea typeface="宋体" pitchFamily="2" charset="-122"/>
                <a:cs typeface="Times New Roman" pitchFamily="18" charset="0"/>
              </a:rPr>
              <a:t>绝对误差</a:t>
            </a:r>
          </a:p>
          <a:p>
            <a:pPr indent="623888">
              <a:lnSpc>
                <a:spcPts val="3500"/>
              </a:lnSpc>
            </a:pPr>
            <a:r>
              <a:rPr lang="zh-CN" altLang="en-US" sz="2200" b="1" dirty="0">
                <a:latin typeface="Times New Roman" pitchFamily="18" charset="0"/>
                <a:ea typeface="宋体" pitchFamily="2" charset="-122"/>
                <a:cs typeface="Times New Roman" pitchFamily="18" charset="0"/>
              </a:rPr>
              <a:t>绝对误差是指</a:t>
            </a:r>
            <a:r>
              <a:rPr lang="zh-CN" altLang="en-US" sz="2200" b="1" dirty="0">
                <a:solidFill>
                  <a:srgbClr val="00B050"/>
                </a:solidFill>
                <a:latin typeface="Times New Roman" pitchFamily="18" charset="0"/>
                <a:ea typeface="宋体" pitchFamily="2" charset="-122"/>
                <a:cs typeface="Times New Roman" pitchFamily="18" charset="0"/>
              </a:rPr>
              <a:t>测量结果的测量值</a:t>
            </a:r>
            <a:r>
              <a:rPr lang="zh-CN" altLang="en-US" sz="2200" b="1" dirty="0">
                <a:latin typeface="Times New Roman" pitchFamily="18" charset="0"/>
                <a:ea typeface="宋体" pitchFamily="2" charset="-122"/>
                <a:cs typeface="Times New Roman" pitchFamily="18" charset="0"/>
              </a:rPr>
              <a:t>与</a:t>
            </a:r>
            <a:r>
              <a:rPr lang="zh-CN" altLang="en-US" sz="2200" b="1" dirty="0">
                <a:solidFill>
                  <a:schemeClr val="accent2">
                    <a:lumMod val="75000"/>
                  </a:schemeClr>
                </a:solidFill>
                <a:latin typeface="Times New Roman" pitchFamily="18" charset="0"/>
                <a:ea typeface="宋体" pitchFamily="2" charset="-122"/>
                <a:cs typeface="Times New Roman" pitchFamily="18" charset="0"/>
              </a:rPr>
              <a:t>被测量的真实值</a:t>
            </a:r>
            <a:r>
              <a:rPr lang="zh-CN" altLang="en-US" sz="2200" b="1" dirty="0">
                <a:latin typeface="Times New Roman" pitchFamily="18" charset="0"/>
                <a:ea typeface="宋体" pitchFamily="2" charset="-122"/>
                <a:cs typeface="Times New Roman" pitchFamily="18" charset="0"/>
              </a:rPr>
              <a:t>之间的</a:t>
            </a:r>
            <a:r>
              <a:rPr lang="zh-CN" altLang="en-US" sz="2200" b="1" dirty="0">
                <a:solidFill>
                  <a:srgbClr val="00B0F0"/>
                </a:solidFill>
                <a:latin typeface="Times New Roman" pitchFamily="18" charset="0"/>
                <a:ea typeface="宋体" pitchFamily="2" charset="-122"/>
                <a:cs typeface="Times New Roman" pitchFamily="18" charset="0"/>
              </a:rPr>
              <a:t>差值</a:t>
            </a:r>
            <a:r>
              <a:rPr lang="zh-CN" altLang="en-US" sz="2200" b="1" dirty="0">
                <a:latin typeface="Times New Roman" pitchFamily="18" charset="0"/>
                <a:ea typeface="宋体" pitchFamily="2" charset="-122"/>
                <a:cs typeface="Times New Roman" pitchFamily="18" charset="0"/>
              </a:rPr>
              <a:t>。可表</a:t>
            </a:r>
            <a:r>
              <a:rPr lang="zh-CN" altLang="en-US" sz="2200" b="1">
                <a:latin typeface="Times New Roman" pitchFamily="18" charset="0"/>
                <a:ea typeface="宋体" pitchFamily="2" charset="-122"/>
                <a:cs typeface="Times New Roman" pitchFamily="18" charset="0"/>
              </a:rPr>
              <a:t>示为           </a:t>
            </a:r>
            <a:r>
              <a:rPr lang="en-US" altLang="zh-CN" sz="2200" i="1">
                <a:latin typeface="Times New Roman" pitchFamily="18" charset="0"/>
                <a:ea typeface="宋体" pitchFamily="2" charset="-122"/>
                <a:cs typeface="Times New Roman" pitchFamily="18" charset="0"/>
              </a:rPr>
              <a:t>Δ </a:t>
            </a:r>
            <a:r>
              <a:rPr lang="en-US" altLang="zh-CN" sz="2200">
                <a:latin typeface="Times New Roman" pitchFamily="18" charset="0"/>
                <a:ea typeface="宋体" pitchFamily="2" charset="-122"/>
                <a:cs typeface="Times New Roman" pitchFamily="18" charset="0"/>
              </a:rPr>
              <a:t>= </a:t>
            </a:r>
            <a:r>
              <a:rPr lang="en-US" altLang="zh-CN" sz="2200" i="1">
                <a:latin typeface="Times New Roman" pitchFamily="18" charset="0"/>
                <a:ea typeface="宋体" pitchFamily="2" charset="-122"/>
                <a:cs typeface="Times New Roman" pitchFamily="18" charset="0"/>
              </a:rPr>
              <a:t>X - L</a:t>
            </a:r>
            <a:endParaRPr lang="en-US" altLang="zh-CN" sz="2200" i="1" dirty="0">
              <a:latin typeface="Times New Roman" pitchFamily="18" charset="0"/>
              <a:ea typeface="宋体" pitchFamily="2" charset="-122"/>
              <a:cs typeface="Times New Roman" pitchFamily="18" charset="0"/>
            </a:endParaRPr>
          </a:p>
          <a:p>
            <a:pPr marL="342900" indent="-342900">
              <a:lnSpc>
                <a:spcPts val="3500"/>
              </a:lnSpc>
            </a:pPr>
            <a:r>
              <a:rPr lang="en-US" altLang="zh-CN" sz="2200" b="1">
                <a:latin typeface="Times New Roman" pitchFamily="18" charset="0"/>
                <a:ea typeface="宋体" pitchFamily="2" charset="-122"/>
                <a:cs typeface="Times New Roman" pitchFamily="18" charset="0"/>
              </a:rPr>
              <a:t>        </a:t>
            </a:r>
            <a:r>
              <a:rPr lang="zh-CN" altLang="en-US" sz="2200" b="1">
                <a:latin typeface="Times New Roman" pitchFamily="18" charset="0"/>
                <a:ea typeface="宋体" pitchFamily="2" charset="-122"/>
                <a:cs typeface="Times New Roman" pitchFamily="18" charset="0"/>
              </a:rPr>
              <a:t>式中     </a:t>
            </a:r>
            <a:r>
              <a:rPr lang="en-US" altLang="zh-CN" sz="2200" b="1">
                <a:latin typeface="Times New Roman" pitchFamily="18" charset="0"/>
                <a:ea typeface="宋体" pitchFamily="2" charset="-122"/>
                <a:cs typeface="Times New Roman" pitchFamily="18" charset="0"/>
              </a:rPr>
              <a:t>	</a:t>
            </a:r>
            <a:r>
              <a:rPr lang="en-US" altLang="zh-CN" sz="2200" i="1">
                <a:latin typeface="Times New Roman" pitchFamily="18" charset="0"/>
                <a:ea typeface="宋体" pitchFamily="2" charset="-122"/>
                <a:cs typeface="Times New Roman" pitchFamily="18" charset="0"/>
              </a:rPr>
              <a:t>L</a:t>
            </a:r>
            <a:r>
              <a:rPr lang="zh-CN" altLang="en-US" sz="2200" b="1">
                <a:latin typeface="Times New Roman" pitchFamily="18" charset="0"/>
                <a:ea typeface="宋体" pitchFamily="2" charset="-122"/>
                <a:cs typeface="Times New Roman" pitchFamily="18" charset="0"/>
              </a:rPr>
              <a:t>：真实</a:t>
            </a:r>
            <a:r>
              <a:rPr lang="zh-CN" altLang="en-US" sz="2200" b="1" dirty="0">
                <a:latin typeface="Times New Roman" pitchFamily="18" charset="0"/>
                <a:ea typeface="宋体" pitchFamily="2" charset="-122"/>
                <a:cs typeface="Times New Roman" pitchFamily="18" charset="0"/>
              </a:rPr>
              <a:t>值        </a:t>
            </a:r>
          </a:p>
          <a:p>
            <a:pPr marL="342900" indent="-342900">
              <a:lnSpc>
                <a:spcPts val="3500"/>
              </a:lnSpc>
            </a:pPr>
            <a:r>
              <a:rPr lang="zh-CN" altLang="en-US" sz="2200" b="1">
                <a:latin typeface="Times New Roman" pitchFamily="18" charset="0"/>
                <a:ea typeface="宋体" pitchFamily="2" charset="-122"/>
                <a:cs typeface="Times New Roman" pitchFamily="18" charset="0"/>
              </a:rPr>
              <a:t>                     </a:t>
            </a:r>
            <a:r>
              <a:rPr lang="en-US" altLang="zh-CN" sz="2200" b="1">
                <a:latin typeface="Times New Roman" pitchFamily="18" charset="0"/>
                <a:ea typeface="宋体" pitchFamily="2" charset="-122"/>
                <a:cs typeface="Times New Roman" pitchFamily="18" charset="0"/>
              </a:rPr>
              <a:t>	</a:t>
            </a:r>
            <a:r>
              <a:rPr lang="en-US" altLang="zh-CN" sz="2200" i="1">
                <a:latin typeface="Times New Roman" pitchFamily="18" charset="0"/>
                <a:ea typeface="宋体" pitchFamily="2" charset="-122"/>
                <a:cs typeface="Times New Roman" pitchFamily="18" charset="0"/>
              </a:rPr>
              <a:t>X</a:t>
            </a:r>
            <a:r>
              <a:rPr lang="zh-CN" altLang="en-US" sz="2200" b="1">
                <a:latin typeface="Times New Roman" pitchFamily="18" charset="0"/>
                <a:ea typeface="宋体" pitchFamily="2" charset="-122"/>
                <a:cs typeface="Times New Roman" pitchFamily="18" charset="0"/>
              </a:rPr>
              <a:t>：测量</a:t>
            </a:r>
            <a:r>
              <a:rPr lang="zh-CN" altLang="en-US" sz="2200" b="1" dirty="0">
                <a:latin typeface="Times New Roman" pitchFamily="18" charset="0"/>
                <a:ea typeface="宋体" pitchFamily="2" charset="-122"/>
                <a:cs typeface="Times New Roman" pitchFamily="18" charset="0"/>
              </a:rPr>
              <a:t>值</a:t>
            </a:r>
            <a:r>
              <a:rPr lang="en-US" altLang="zh-CN" sz="2200" b="1" dirty="0">
                <a:latin typeface="Times New Roman" pitchFamily="18" charset="0"/>
                <a:ea typeface="宋体" pitchFamily="2" charset="-122"/>
                <a:cs typeface="Times New Roman" pitchFamily="18" charset="0"/>
              </a:rPr>
              <a:t>(</a:t>
            </a:r>
            <a:r>
              <a:rPr lang="zh-CN" altLang="en-US" sz="2200" b="1" dirty="0">
                <a:latin typeface="Times New Roman" pitchFamily="18" charset="0"/>
                <a:ea typeface="宋体" pitchFamily="2" charset="-122"/>
                <a:cs typeface="Times New Roman" pitchFamily="18" charset="0"/>
              </a:rPr>
              <a:t>指示值</a:t>
            </a:r>
            <a:r>
              <a:rPr lang="en-US" altLang="zh-CN" sz="2200" b="1" dirty="0">
                <a:latin typeface="Times New Roman" pitchFamily="18" charset="0"/>
                <a:ea typeface="宋体" pitchFamily="2" charset="-122"/>
                <a:cs typeface="Times New Roman" pitchFamily="18" charset="0"/>
              </a:rPr>
              <a:t>)  </a:t>
            </a:r>
          </a:p>
        </p:txBody>
      </p:sp>
      <p:sp>
        <p:nvSpPr>
          <p:cNvPr id="2" name="Slide Number Placeholder 1">
            <a:extLst>
              <a:ext uri="{FF2B5EF4-FFF2-40B4-BE49-F238E27FC236}">
                <a16:creationId xmlns:a16="http://schemas.microsoft.com/office/drawing/2014/main" id="{697D5C0C-9524-4457-8A56-E2409554FD7C}"/>
              </a:ext>
            </a:extLst>
          </p:cNvPr>
          <p:cNvSpPr>
            <a:spLocks noGrp="1"/>
          </p:cNvSpPr>
          <p:nvPr>
            <p:ph type="sldNum" sz="quarter" idx="12"/>
          </p:nvPr>
        </p:nvSpPr>
        <p:spPr/>
        <p:txBody>
          <a:bodyPr/>
          <a:lstStyle/>
          <a:p>
            <a:fld id="{DC11BA4E-7967-4102-867C-9D230A2E6791}" type="slidenum">
              <a:rPr lang="zh-CN" altLang="en-US" smtClean="0"/>
              <a:t>18</a:t>
            </a:fld>
            <a:endParaRPr lang="zh-CN" altLang="en-US"/>
          </a:p>
        </p:txBody>
      </p:sp>
    </p:spTree>
    <p:extLst>
      <p:ext uri="{BB962C8B-B14F-4D97-AF65-F5344CB8AC3E}">
        <p14:creationId xmlns:p14="http://schemas.microsoft.com/office/powerpoint/2010/main" val="395521932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Object 28">
            <a:extLst>
              <a:ext uri="{FF2B5EF4-FFF2-40B4-BE49-F238E27FC236}">
                <a16:creationId xmlns:a16="http://schemas.microsoft.com/office/drawing/2014/main" id="{3D0792F7-762A-423E-8D8F-E3D9C0052D49}"/>
              </a:ext>
            </a:extLst>
          </p:cNvPr>
          <p:cNvGraphicFramePr>
            <a:graphicFrameLocks noChangeAspect="1"/>
          </p:cNvGraphicFramePr>
          <p:nvPr>
            <p:extLst>
              <p:ext uri="{D42A27DB-BD31-4B8C-83A1-F6EECF244321}">
                <p14:modId xmlns:p14="http://schemas.microsoft.com/office/powerpoint/2010/main" val="2751942307"/>
              </p:ext>
            </p:extLst>
          </p:nvPr>
        </p:nvGraphicFramePr>
        <p:xfrm>
          <a:off x="3294903" y="2593473"/>
          <a:ext cx="1839912" cy="727075"/>
        </p:xfrm>
        <a:graphic>
          <a:graphicData uri="http://schemas.openxmlformats.org/presentationml/2006/ole">
            <mc:AlternateContent xmlns:mc="http://schemas.openxmlformats.org/markup-compatibility/2006">
              <mc:Choice xmlns:v="urn:schemas-microsoft-com:vml" Requires="v">
                <p:oleObj name="公式" r:id="rId3" imgW="977760" imgH="406080" progId="Equation.3">
                  <p:embed/>
                </p:oleObj>
              </mc:Choice>
              <mc:Fallback>
                <p:oleObj name="公式" r:id="rId3" imgW="977760" imgH="406080" progId="Equation.3">
                  <p:embed/>
                  <p:pic>
                    <p:nvPicPr>
                      <p:cNvPr id="232476" name="Object 28">
                        <a:extLst>
                          <a:ext uri="{FF2B5EF4-FFF2-40B4-BE49-F238E27FC236}">
                            <a16:creationId xmlns:a16="http://schemas.microsoft.com/office/drawing/2014/main" id="{3F79A050-DAD6-45C8-B3D9-466A657EB705}"/>
                          </a:ext>
                        </a:extLst>
                      </p:cNvPr>
                      <p:cNvPicPr>
                        <a:picLocks noChangeAspect="1" noChangeArrowheads="1"/>
                      </p:cNvPicPr>
                      <p:nvPr/>
                    </p:nvPicPr>
                    <p:blipFill>
                      <a:blip r:embed="rId4"/>
                      <a:srcRect/>
                      <a:stretch>
                        <a:fillRect/>
                      </a:stretch>
                    </p:blipFill>
                    <p:spPr bwMode="auto">
                      <a:xfrm>
                        <a:off x="3294903" y="2593473"/>
                        <a:ext cx="1839912"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9">
            <a:extLst>
              <a:ext uri="{FF2B5EF4-FFF2-40B4-BE49-F238E27FC236}">
                <a16:creationId xmlns:a16="http://schemas.microsoft.com/office/drawing/2014/main" id="{84163181-E878-4A13-BC70-91AB51689A6F}"/>
              </a:ext>
            </a:extLst>
          </p:cNvPr>
          <p:cNvGraphicFramePr>
            <a:graphicFrameLocks noChangeAspect="1"/>
          </p:cNvGraphicFramePr>
          <p:nvPr>
            <p:extLst>
              <p:ext uri="{D42A27DB-BD31-4B8C-83A1-F6EECF244321}">
                <p14:modId xmlns:p14="http://schemas.microsoft.com/office/powerpoint/2010/main" val="3068954989"/>
              </p:ext>
            </p:extLst>
          </p:nvPr>
        </p:nvGraphicFramePr>
        <p:xfrm>
          <a:off x="3294903" y="4610766"/>
          <a:ext cx="1868488" cy="763588"/>
        </p:xfrm>
        <a:graphic>
          <a:graphicData uri="http://schemas.openxmlformats.org/presentationml/2006/ole">
            <mc:AlternateContent xmlns:mc="http://schemas.openxmlformats.org/markup-compatibility/2006">
              <mc:Choice xmlns:v="urn:schemas-microsoft-com:vml" Requires="v">
                <p:oleObj name="公式" r:id="rId5" imgW="1041120" imgH="406080" progId="Equation.3">
                  <p:embed/>
                </p:oleObj>
              </mc:Choice>
              <mc:Fallback>
                <p:oleObj name="公式" r:id="rId5" imgW="1041120" imgH="406080" progId="Equation.3">
                  <p:embed/>
                  <p:pic>
                    <p:nvPicPr>
                      <p:cNvPr id="232477" name="Object 29">
                        <a:extLst>
                          <a:ext uri="{FF2B5EF4-FFF2-40B4-BE49-F238E27FC236}">
                            <a16:creationId xmlns:a16="http://schemas.microsoft.com/office/drawing/2014/main" id="{462B3634-6320-4B1A-A7C7-72CAFF57214E}"/>
                          </a:ext>
                        </a:extLst>
                      </p:cNvPr>
                      <p:cNvPicPr>
                        <a:picLocks noChangeAspect="1" noChangeArrowheads="1"/>
                      </p:cNvPicPr>
                      <p:nvPr/>
                    </p:nvPicPr>
                    <p:blipFill>
                      <a:blip r:embed="rId6"/>
                      <a:srcRect/>
                      <a:stretch>
                        <a:fillRect/>
                      </a:stretch>
                    </p:blipFill>
                    <p:spPr bwMode="auto">
                      <a:xfrm>
                        <a:off x="3294903" y="4610766"/>
                        <a:ext cx="1868488" cy="763588"/>
                      </a:xfrm>
                      <a:prstGeom prst="rect">
                        <a:avLst/>
                      </a:prstGeom>
                      <a:noFill/>
                    </p:spPr>
                  </p:pic>
                </p:oleObj>
              </mc:Fallback>
            </mc:AlternateContent>
          </a:graphicData>
        </a:graphic>
      </p:graphicFrame>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40" name="Rectangle 3"/>
          <p:cNvSpPr>
            <a:spLocks noRot="1" noChangeArrowheads="1"/>
          </p:cNvSpPr>
          <p:nvPr/>
        </p:nvSpPr>
        <p:spPr bwMode="auto">
          <a:xfrm>
            <a:off x="99391" y="1417061"/>
            <a:ext cx="8945217" cy="4103688"/>
          </a:xfrm>
          <a:prstGeom prst="rect">
            <a:avLst/>
          </a:prstGeom>
          <a:noFill/>
          <a:ln w="9525">
            <a:noFill/>
            <a:miter lim="800000"/>
            <a:headEnd/>
            <a:tailEnd/>
          </a:ln>
        </p:spPr>
        <p:txBody>
          <a:bodyPr/>
          <a:lstStyle/>
          <a:p>
            <a:pPr marL="342900" indent="-342900">
              <a:lnSpc>
                <a:spcPts val="3500"/>
              </a:lnSpc>
              <a:defRPr/>
            </a:pPr>
            <a:r>
              <a:rPr lang="en-US" altLang="zh-CN" sz="2400" b="1" dirty="0">
                <a:solidFill>
                  <a:srgbClr val="FF0000"/>
                </a:solidFill>
                <a:latin typeface="Times New Roman" pitchFamily="18" charset="0"/>
                <a:ea typeface="宋体" pitchFamily="2" charset="-122"/>
                <a:cs typeface="Times New Roman" pitchFamily="18" charset="0"/>
              </a:rPr>
              <a:t>1</a:t>
            </a:r>
            <a:r>
              <a:rPr lang="zh-CN" altLang="en-US" sz="2400" b="1" dirty="0">
                <a:solidFill>
                  <a:srgbClr val="FF0000"/>
                </a:solidFill>
                <a:latin typeface="Times New Roman" pitchFamily="18" charset="0"/>
                <a:ea typeface="宋体" pitchFamily="2" charset="-122"/>
                <a:cs typeface="Times New Roman" pitchFamily="18" charset="0"/>
              </a:rPr>
              <a:t>．测量误差</a:t>
            </a:r>
          </a:p>
          <a:p>
            <a:pPr marL="342900" indent="-342900">
              <a:defRPr/>
            </a:pPr>
            <a:r>
              <a:rPr lang="zh-CN" altLang="en-US" sz="2400" b="1" dirty="0">
                <a:solidFill>
                  <a:srgbClr val="0000FF"/>
                </a:solidFill>
                <a:latin typeface="宋体" pitchFamily="2" charset="-122"/>
                <a:ea typeface="宋体" pitchFamily="2" charset="-122"/>
              </a:rPr>
              <a:t>②相对误差</a:t>
            </a:r>
            <a:r>
              <a:rPr lang="en-US" altLang="zh-CN" sz="2400" b="1" i="1" dirty="0">
                <a:solidFill>
                  <a:srgbClr val="0000FF"/>
                </a:solidFill>
                <a:latin typeface="宋体" pitchFamily="2" charset="-122"/>
                <a:ea typeface="宋体" pitchFamily="2" charset="-122"/>
              </a:rPr>
              <a:t>δ</a:t>
            </a:r>
            <a:endParaRPr lang="zh-CN" altLang="en-US" sz="2400" b="1" dirty="0">
              <a:solidFill>
                <a:srgbClr val="0000FF"/>
              </a:solidFill>
              <a:latin typeface="宋体" pitchFamily="2" charset="-122"/>
              <a:ea typeface="宋体" pitchFamily="2" charset="-122"/>
            </a:endParaRPr>
          </a:p>
          <a:p>
            <a:pPr indent="681038">
              <a:defRPr/>
            </a:pPr>
            <a:r>
              <a:rPr lang="zh-CN" altLang="en-US" sz="2400" b="1" dirty="0">
                <a:latin typeface="宋体" pitchFamily="2" charset="-122"/>
                <a:ea typeface="宋体" pitchFamily="2" charset="-122"/>
              </a:rPr>
              <a:t>绝对误差与被测量真实值的比值，它以无量纲的百分数表示</a:t>
            </a:r>
            <a:r>
              <a:rPr lang="en-US" altLang="zh-CN" sz="2400" b="1" dirty="0">
                <a:latin typeface="宋体" pitchFamily="2" charset="-122"/>
                <a:ea typeface="宋体" pitchFamily="2" charset="-122"/>
              </a:rPr>
              <a:t>:</a:t>
            </a:r>
          </a:p>
          <a:p>
            <a:pPr marL="342900" indent="-342900">
              <a:defRPr/>
            </a:pPr>
            <a:r>
              <a:rPr lang="en-US" altLang="zh-CN" sz="2400" b="1" dirty="0">
                <a:latin typeface="宋体" pitchFamily="2" charset="-122"/>
                <a:ea typeface="宋体" pitchFamily="2" charset="-122"/>
              </a:rPr>
              <a:t>    </a:t>
            </a:r>
          </a:p>
          <a:p>
            <a:pPr>
              <a:defRPr/>
            </a:pPr>
            <a:endParaRPr lang="en-US" altLang="zh-CN" sz="2400" b="1">
              <a:latin typeface="宋体" pitchFamily="2" charset="-122"/>
              <a:ea typeface="宋体" pitchFamily="2" charset="-122"/>
            </a:endParaRPr>
          </a:p>
          <a:p>
            <a:pPr>
              <a:spcAft>
                <a:spcPts val="1200"/>
              </a:spcAft>
              <a:defRPr/>
            </a:pPr>
            <a:r>
              <a:rPr lang="zh-CN" altLang="en-US" sz="2400" b="1">
                <a:latin typeface="宋体" pitchFamily="2" charset="-122"/>
                <a:ea typeface="宋体" pitchFamily="2" charset="-122"/>
              </a:rPr>
              <a:t>表</a:t>
            </a:r>
            <a:r>
              <a:rPr lang="zh-CN" altLang="en-US" sz="2400" b="1" dirty="0">
                <a:latin typeface="宋体" pitchFamily="2" charset="-122"/>
                <a:ea typeface="宋体" pitchFamily="2" charset="-122"/>
              </a:rPr>
              <a:t>示和比较测量结果的精确程度。</a:t>
            </a:r>
            <a:endParaRPr lang="en-US" altLang="zh-CN" sz="2400" b="1" dirty="0">
              <a:latin typeface="宋体" pitchFamily="2" charset="-122"/>
              <a:ea typeface="宋体" pitchFamily="2" charset="-122"/>
            </a:endParaRPr>
          </a:p>
          <a:p>
            <a:pPr indent="681038">
              <a:defRPr/>
            </a:pPr>
            <a:r>
              <a:rPr lang="zh-CN" altLang="en-US" sz="2400" b="1" dirty="0">
                <a:latin typeface="宋体" pitchFamily="2" charset="-122"/>
                <a:ea typeface="宋体" pitchFamily="2" charset="-122"/>
              </a:rPr>
              <a:t>在实际计算时，常用测量值代替真实值</a:t>
            </a:r>
            <a:r>
              <a:rPr lang="en-US" altLang="zh-CN" sz="2400" i="1" dirty="0">
                <a:latin typeface="Times New Roman" panose="02020603050405020304" pitchFamily="18" charset="0"/>
                <a:ea typeface="宋体" pitchFamily="2" charset="-122"/>
                <a:cs typeface="Times New Roman" panose="02020603050405020304" pitchFamily="18" charset="0"/>
              </a:rPr>
              <a:t>L</a:t>
            </a:r>
            <a:r>
              <a:rPr lang="zh-CN" altLang="en-US" sz="2400" b="1" dirty="0">
                <a:latin typeface="宋体" pitchFamily="2" charset="-122"/>
                <a:ea typeface="宋体" pitchFamily="2" charset="-122"/>
              </a:rPr>
              <a:t>。一般取绝对误差</a:t>
            </a:r>
            <a:r>
              <a:rPr lang="en-US" altLang="zh-CN" sz="2400" b="1" dirty="0">
                <a:solidFill>
                  <a:srgbClr val="0070C0"/>
                </a:solidFill>
                <a:latin typeface="宋体" pitchFamily="2" charset="-122"/>
                <a:ea typeface="宋体" pitchFamily="2" charset="-122"/>
              </a:rPr>
              <a:t>Δ</a:t>
            </a:r>
            <a:r>
              <a:rPr lang="zh-CN" altLang="en-US" sz="2400" b="1" dirty="0">
                <a:latin typeface="宋体" pitchFamily="2" charset="-122"/>
                <a:ea typeface="宋体" pitchFamily="2" charset="-122"/>
              </a:rPr>
              <a:t>与</a:t>
            </a:r>
            <a:r>
              <a:rPr lang="zh-CN" altLang="en-US" sz="2400" b="1" dirty="0">
                <a:solidFill>
                  <a:srgbClr val="FF0000"/>
                </a:solidFill>
                <a:latin typeface="宋体" pitchFamily="2" charset="-122"/>
                <a:ea typeface="宋体" pitchFamily="2" charset="-122"/>
              </a:rPr>
              <a:t>高一级标准仪器</a:t>
            </a:r>
            <a:r>
              <a:rPr lang="zh-CN" altLang="en-US" sz="2400" b="1" dirty="0">
                <a:latin typeface="宋体" pitchFamily="2" charset="-122"/>
                <a:ea typeface="宋体" pitchFamily="2" charset="-122"/>
              </a:rPr>
              <a:t>的</a:t>
            </a:r>
            <a:r>
              <a:rPr lang="zh-CN" altLang="en-US" sz="2400" b="1">
                <a:latin typeface="宋体" pitchFamily="2" charset="-122"/>
                <a:ea typeface="宋体" pitchFamily="2" charset="-122"/>
              </a:rPr>
              <a:t>测量值 </a:t>
            </a:r>
            <a:r>
              <a:rPr lang="en-US" altLang="zh-CN" sz="2400" i="1">
                <a:solidFill>
                  <a:srgbClr val="FF0000"/>
                </a:solidFill>
                <a:latin typeface="Times New Roman" panose="02020603050405020304" pitchFamily="18" charset="0"/>
                <a:ea typeface="宋体" pitchFamily="2" charset="-122"/>
                <a:cs typeface="Times New Roman" panose="02020603050405020304" pitchFamily="18" charset="0"/>
              </a:rPr>
              <a:t>X'  </a:t>
            </a:r>
            <a:r>
              <a:rPr lang="zh-CN" altLang="en-US" sz="2400" b="1">
                <a:latin typeface="宋体" pitchFamily="2" charset="-122"/>
                <a:ea typeface="宋体" pitchFamily="2" charset="-122"/>
              </a:rPr>
              <a:t>之</a:t>
            </a:r>
            <a:r>
              <a:rPr lang="zh-CN" altLang="en-US" sz="2400" b="1" dirty="0">
                <a:latin typeface="宋体" pitchFamily="2" charset="-122"/>
                <a:ea typeface="宋体" pitchFamily="2" charset="-122"/>
              </a:rPr>
              <a:t>比来计算相对误差。  </a:t>
            </a:r>
          </a:p>
        </p:txBody>
      </p:sp>
      <p:sp>
        <p:nvSpPr>
          <p:cNvPr id="44" name="Text Box 39"/>
          <p:cNvSpPr txBox="1">
            <a:spLocks noChangeArrowheads="1"/>
          </p:cNvSpPr>
          <p:nvPr/>
        </p:nvSpPr>
        <p:spPr bwMode="auto">
          <a:xfrm>
            <a:off x="84676" y="5374354"/>
            <a:ext cx="894521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681038" eaLnBrk="0" hangingPunct="0">
              <a:defRPr b="1">
                <a:solidFill>
                  <a:schemeClr val="tx2"/>
                </a:solidFill>
                <a:latin typeface="Arial" charset="0"/>
                <a:ea typeface="宋体" charset="-122"/>
              </a:defRPr>
            </a:lvl1pPr>
            <a:lvl2pPr marL="742950" indent="-285750" eaLnBrk="0" hangingPunct="0">
              <a:defRPr b="1">
                <a:solidFill>
                  <a:schemeClr val="tx2"/>
                </a:solidFill>
                <a:latin typeface="Arial" charset="0"/>
                <a:ea typeface="宋体" charset="-122"/>
              </a:defRPr>
            </a:lvl2pPr>
            <a:lvl3pPr marL="1143000" indent="-228600" eaLnBrk="0" hangingPunct="0">
              <a:defRPr b="1">
                <a:solidFill>
                  <a:schemeClr val="tx2"/>
                </a:solidFill>
                <a:latin typeface="Arial" charset="0"/>
                <a:ea typeface="宋体" charset="-122"/>
              </a:defRPr>
            </a:lvl3pPr>
            <a:lvl4pPr marL="1600200" indent="-228600" eaLnBrk="0" hangingPunct="0">
              <a:defRPr b="1">
                <a:solidFill>
                  <a:schemeClr val="tx2"/>
                </a:solidFill>
                <a:latin typeface="Arial" charset="0"/>
                <a:ea typeface="宋体" charset="-122"/>
              </a:defRPr>
            </a:lvl4pPr>
            <a:lvl5pPr marL="2057400" indent="-228600" eaLnBrk="0" hangingPunct="0">
              <a:defRPr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9pPr>
          </a:lstStyle>
          <a:p>
            <a:pPr eaLnBrk="1" hangingPunct="1">
              <a:spcBef>
                <a:spcPct val="50000"/>
              </a:spcBef>
            </a:pPr>
            <a:r>
              <a:rPr lang="zh-CN" altLang="en-US" sz="2400" dirty="0">
                <a:solidFill>
                  <a:schemeClr val="tx1"/>
                </a:solidFill>
                <a:latin typeface="宋体" pitchFamily="2" charset="-122"/>
                <a:ea typeface="宋体" pitchFamily="2" charset="-122"/>
              </a:rPr>
              <a:t>量程选择：被测量在（</a:t>
            </a:r>
            <a:r>
              <a:rPr lang="en-US" altLang="zh-CN" sz="2400" dirty="0">
                <a:solidFill>
                  <a:schemeClr val="tx1"/>
                </a:solidFill>
                <a:latin typeface="宋体" pitchFamily="2" charset="-122"/>
                <a:ea typeface="宋体" pitchFamily="2" charset="-122"/>
              </a:rPr>
              <a:t>2/3</a:t>
            </a:r>
            <a:r>
              <a:rPr lang="zh-CN" altLang="en-US" sz="2400" dirty="0">
                <a:solidFill>
                  <a:schemeClr val="tx1"/>
                </a:solidFill>
                <a:latin typeface="宋体" pitchFamily="2" charset="-122"/>
                <a:ea typeface="宋体" pitchFamily="2" charset="-122"/>
              </a:rPr>
              <a:t>～</a:t>
            </a:r>
            <a:r>
              <a:rPr lang="en-US" altLang="zh-CN" sz="2400" dirty="0">
                <a:solidFill>
                  <a:schemeClr val="tx1"/>
                </a:solidFill>
                <a:latin typeface="宋体" pitchFamily="2" charset="-122"/>
                <a:ea typeface="宋体" pitchFamily="2" charset="-122"/>
              </a:rPr>
              <a:t>1</a:t>
            </a:r>
            <a:r>
              <a:rPr lang="zh-CN" altLang="en-US" sz="2400" dirty="0">
                <a:solidFill>
                  <a:schemeClr val="tx1"/>
                </a:solidFill>
                <a:latin typeface="宋体" pitchFamily="2" charset="-122"/>
                <a:ea typeface="宋体" pitchFamily="2" charset="-122"/>
              </a:rPr>
              <a:t>）满量程之间，可以得到较小的相对误差。</a:t>
            </a:r>
          </a:p>
        </p:txBody>
      </p:sp>
      <p:sp>
        <p:nvSpPr>
          <p:cNvPr id="2" name="Slide Number Placeholder 1">
            <a:extLst>
              <a:ext uri="{FF2B5EF4-FFF2-40B4-BE49-F238E27FC236}">
                <a16:creationId xmlns:a16="http://schemas.microsoft.com/office/drawing/2014/main" id="{3D5813FE-1BF2-450F-ADFD-4EF3FFFAEFC6}"/>
              </a:ext>
            </a:extLst>
          </p:cNvPr>
          <p:cNvSpPr>
            <a:spLocks noGrp="1"/>
          </p:cNvSpPr>
          <p:nvPr>
            <p:ph type="sldNum" sz="quarter" idx="12"/>
          </p:nvPr>
        </p:nvSpPr>
        <p:spPr/>
        <p:txBody>
          <a:bodyPr/>
          <a:lstStyle/>
          <a:p>
            <a:fld id="{DC11BA4E-7967-4102-867C-9D230A2E6791}" type="slidenum">
              <a:rPr lang="zh-CN" altLang="en-US" smtClean="0"/>
              <a:t>19</a:t>
            </a:fld>
            <a:endParaRPr lang="zh-CN" altLang="en-US"/>
          </a:p>
        </p:txBody>
      </p:sp>
    </p:spTree>
    <p:extLst>
      <p:ext uri="{BB962C8B-B14F-4D97-AF65-F5344CB8AC3E}">
        <p14:creationId xmlns:p14="http://schemas.microsoft.com/office/powerpoint/2010/main" val="35304864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40" name="Rectangle 3"/>
          <p:cNvSpPr>
            <a:spLocks noRot="1" noChangeArrowheads="1"/>
          </p:cNvSpPr>
          <p:nvPr/>
        </p:nvSpPr>
        <p:spPr bwMode="auto">
          <a:xfrm>
            <a:off x="185083" y="1345167"/>
            <a:ext cx="8958917" cy="4103688"/>
          </a:xfrm>
          <a:prstGeom prst="rect">
            <a:avLst/>
          </a:prstGeom>
          <a:noFill/>
          <a:ln w="9525">
            <a:noFill/>
            <a:miter lim="800000"/>
            <a:headEnd/>
            <a:tailEnd/>
          </a:ln>
        </p:spPr>
        <p:txBody>
          <a:bodyPr/>
          <a:lstStyle/>
          <a:p>
            <a:pPr marL="342900" indent="-342900">
              <a:lnSpc>
                <a:spcPts val="3500"/>
              </a:lnSpc>
              <a:defRPr/>
            </a:pPr>
            <a:r>
              <a:rPr lang="en-US" altLang="zh-CN" sz="2400" b="1">
                <a:solidFill>
                  <a:srgbClr val="FF0000"/>
                </a:solidFill>
                <a:latin typeface="Times New Roman" pitchFamily="18" charset="0"/>
                <a:ea typeface="宋体" pitchFamily="2" charset="-122"/>
                <a:cs typeface="Times New Roman" pitchFamily="18" charset="0"/>
              </a:rPr>
              <a:t>1</a:t>
            </a:r>
            <a:r>
              <a:rPr lang="zh-CN" altLang="en-US" sz="2400" b="1">
                <a:solidFill>
                  <a:srgbClr val="FF0000"/>
                </a:solidFill>
                <a:latin typeface="Times New Roman" pitchFamily="18" charset="0"/>
                <a:ea typeface="宋体" pitchFamily="2" charset="-122"/>
                <a:cs typeface="Times New Roman" pitchFamily="18" charset="0"/>
              </a:rPr>
              <a:t>．测量误差</a:t>
            </a:r>
            <a:endParaRPr lang="en-US" altLang="zh-CN" sz="2400" b="1" dirty="0">
              <a:solidFill>
                <a:srgbClr val="FF0000"/>
              </a:solidFill>
              <a:latin typeface="Times New Roman" pitchFamily="18" charset="0"/>
              <a:ea typeface="宋体" pitchFamily="2" charset="-122"/>
              <a:cs typeface="Times New Roman" pitchFamily="18" charset="0"/>
            </a:endParaRPr>
          </a:p>
          <a:p>
            <a:pPr marL="342900" indent="-342900">
              <a:lnSpc>
                <a:spcPts val="3400"/>
              </a:lnSpc>
              <a:defRPr/>
            </a:pPr>
            <a:r>
              <a:rPr lang="en-US" altLang="zh-CN" sz="2400" b="1">
                <a:solidFill>
                  <a:srgbClr val="0000FF"/>
                </a:solidFill>
                <a:latin typeface="宋体" pitchFamily="2" charset="-122"/>
                <a:ea typeface="宋体" pitchFamily="2" charset="-122"/>
              </a:rPr>
              <a:t>③</a:t>
            </a:r>
            <a:r>
              <a:rPr lang="zh-CN" altLang="en-US" sz="2400" b="1" dirty="0">
                <a:solidFill>
                  <a:srgbClr val="0000FF"/>
                </a:solidFill>
                <a:latin typeface="宋体" panose="02010600030101010101" pitchFamily="2" charset="-122"/>
                <a:ea typeface="宋体" panose="02010600030101010101" pitchFamily="2" charset="-122"/>
              </a:rPr>
              <a:t>引用误差</a:t>
            </a:r>
            <a:endParaRPr lang="en-US" altLang="zh-CN" sz="2400" b="1" dirty="0">
              <a:solidFill>
                <a:srgbClr val="0000FF"/>
              </a:solidFill>
              <a:latin typeface="宋体" panose="02010600030101010101" pitchFamily="2" charset="-122"/>
              <a:ea typeface="宋体" panose="02010600030101010101" pitchFamily="2" charset="-122"/>
            </a:endParaRPr>
          </a:p>
          <a:p>
            <a:pPr indent="681038" fontAlgn="t">
              <a:lnSpc>
                <a:spcPts val="3400"/>
              </a:lnSpc>
              <a:defRPr/>
            </a:pPr>
            <a:r>
              <a:rPr lang="zh-CN" altLang="en-US" sz="2400" b="1" dirty="0">
                <a:latin typeface="宋体" pitchFamily="2" charset="-122"/>
                <a:ea typeface="宋体" pitchFamily="2" charset="-122"/>
              </a:rPr>
              <a:t>相对误差可用来比较两种测量结果的准确程度，但不能用来评价不同仪表的质量。</a:t>
            </a:r>
            <a:endParaRPr lang="en-US" altLang="zh-CN" sz="2400" b="1" dirty="0">
              <a:latin typeface="宋体" pitchFamily="2" charset="-122"/>
              <a:ea typeface="宋体" pitchFamily="2" charset="-122"/>
            </a:endParaRPr>
          </a:p>
          <a:p>
            <a:pPr indent="681038" fontAlgn="t">
              <a:lnSpc>
                <a:spcPts val="3400"/>
              </a:lnSpc>
              <a:defRPr/>
            </a:pPr>
            <a:r>
              <a:rPr lang="zh-CN" altLang="en-US" sz="2400" b="1" dirty="0">
                <a:latin typeface="宋体" pitchFamily="2" charset="-122"/>
                <a:ea typeface="宋体" pitchFamily="2" charset="-122"/>
              </a:rPr>
              <a:t>同一台仪表在整个测量范围内的相对测量误差不是定值。</a:t>
            </a:r>
          </a:p>
          <a:p>
            <a:pPr indent="711200" fontAlgn="t">
              <a:lnSpc>
                <a:spcPts val="3400"/>
              </a:lnSpc>
              <a:defRPr/>
            </a:pPr>
            <a:r>
              <a:rPr lang="zh-CN" altLang="en-US" sz="2400" b="1" dirty="0">
                <a:latin typeface="宋体" pitchFamily="2" charset="-122"/>
                <a:ea typeface="宋体" pitchFamily="2" charset="-122"/>
              </a:rPr>
              <a:t>引用误差：测量的绝对误差与测量仪表的上限值</a:t>
            </a:r>
            <a:r>
              <a:rPr lang="en-US" altLang="zh-CN" sz="2400" b="1" i="1" dirty="0">
                <a:latin typeface="Times New Roman" pitchFamily="18" charset="0"/>
                <a:ea typeface="宋体" pitchFamily="2" charset="-122"/>
                <a:cs typeface="Times New Roman" pitchFamily="18" charset="0"/>
              </a:rPr>
              <a:t>A</a:t>
            </a:r>
            <a:r>
              <a:rPr lang="zh-CN" altLang="en-US" sz="2400" b="1" dirty="0">
                <a:latin typeface="宋体" pitchFamily="2" charset="-122"/>
                <a:ea typeface="宋体" pitchFamily="2" charset="-122"/>
              </a:rPr>
              <a:t>的百分比。</a:t>
            </a:r>
          </a:p>
        </p:txBody>
      </p:sp>
      <p:graphicFrame>
        <p:nvGraphicFramePr>
          <p:cNvPr id="22" name="Object 7"/>
          <p:cNvGraphicFramePr>
            <a:graphicFrameLocks noChangeAspect="1"/>
          </p:cNvGraphicFramePr>
          <p:nvPr>
            <p:extLst>
              <p:ext uri="{D42A27DB-BD31-4B8C-83A1-F6EECF244321}">
                <p14:modId xmlns:p14="http://schemas.microsoft.com/office/powerpoint/2010/main" val="1734723762"/>
              </p:ext>
            </p:extLst>
          </p:nvPr>
        </p:nvGraphicFramePr>
        <p:xfrm>
          <a:off x="3672837" y="4111731"/>
          <a:ext cx="1798325" cy="801872"/>
        </p:xfrm>
        <a:graphic>
          <a:graphicData uri="http://schemas.openxmlformats.org/presentationml/2006/ole">
            <mc:AlternateContent xmlns:mc="http://schemas.openxmlformats.org/markup-compatibility/2006">
              <mc:Choice xmlns:v="urn:schemas-microsoft-com:vml" Requires="v">
                <p:oleObj name="Equation" r:id="rId3" imgW="847593" imgH="361937" progId="Equation.DSMT4">
                  <p:embed/>
                </p:oleObj>
              </mc:Choice>
              <mc:Fallback>
                <p:oleObj name="Equation" r:id="rId3" imgW="847593" imgH="36193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2837" y="4111731"/>
                        <a:ext cx="1798325" cy="801872"/>
                      </a:xfrm>
                      <a:prstGeom prst="rect">
                        <a:avLst/>
                      </a:prstGeom>
                      <a:noFill/>
                      <a:ln>
                        <a:noFill/>
                      </a:ln>
                    </p:spPr>
                  </p:pic>
                </p:oleObj>
              </mc:Fallback>
            </mc:AlternateContent>
          </a:graphicData>
        </a:graphic>
      </p:graphicFrame>
      <p:sp>
        <p:nvSpPr>
          <p:cNvPr id="25" name="Text Box 21"/>
          <p:cNvSpPr txBox="1">
            <a:spLocks noChangeArrowheads="1"/>
          </p:cNvSpPr>
          <p:nvPr/>
        </p:nvSpPr>
        <p:spPr bwMode="auto">
          <a:xfrm>
            <a:off x="1278931" y="5169178"/>
            <a:ext cx="65861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b="1">
                <a:solidFill>
                  <a:schemeClr val="tx2"/>
                </a:solidFill>
                <a:latin typeface="Arial" charset="0"/>
                <a:ea typeface="宋体" charset="-122"/>
              </a:defRPr>
            </a:lvl1pPr>
            <a:lvl2pPr marL="742950" indent="-285750" eaLnBrk="0" hangingPunct="0">
              <a:defRPr b="1">
                <a:solidFill>
                  <a:schemeClr val="tx2"/>
                </a:solidFill>
                <a:latin typeface="Arial" charset="0"/>
                <a:ea typeface="宋体" charset="-122"/>
              </a:defRPr>
            </a:lvl2pPr>
            <a:lvl3pPr marL="1143000" indent="-228600" eaLnBrk="0" hangingPunct="0">
              <a:defRPr b="1">
                <a:solidFill>
                  <a:schemeClr val="tx2"/>
                </a:solidFill>
                <a:latin typeface="Arial" charset="0"/>
                <a:ea typeface="宋体" charset="-122"/>
              </a:defRPr>
            </a:lvl3pPr>
            <a:lvl4pPr marL="1600200" indent="-228600" eaLnBrk="0" hangingPunct="0">
              <a:defRPr b="1">
                <a:solidFill>
                  <a:schemeClr val="tx2"/>
                </a:solidFill>
                <a:latin typeface="Arial" charset="0"/>
                <a:ea typeface="宋体" charset="-122"/>
              </a:defRPr>
            </a:lvl4pPr>
            <a:lvl5pPr marL="2057400" indent="-228600" eaLnBrk="0" hangingPunct="0">
              <a:defRPr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9pPr>
          </a:lstStyle>
          <a:p>
            <a:pPr eaLnBrk="1" hangingPunct="1">
              <a:spcBef>
                <a:spcPct val="50000"/>
              </a:spcBef>
            </a:pPr>
            <a:r>
              <a:rPr lang="zh-CN" altLang="en-US" sz="2600" dirty="0">
                <a:solidFill>
                  <a:srgbClr val="008000"/>
                </a:solidFill>
              </a:rPr>
              <a:t>仪表的精度等级</a:t>
            </a:r>
            <a:r>
              <a:rPr lang="zh-CN" altLang="en-US" sz="2600" dirty="0">
                <a:solidFill>
                  <a:schemeClr val="tx1"/>
                </a:solidFill>
              </a:rPr>
              <a:t>采用引用误差大小来定义。</a:t>
            </a:r>
          </a:p>
        </p:txBody>
      </p:sp>
      <p:sp>
        <p:nvSpPr>
          <p:cNvPr id="2" name="Slide Number Placeholder 1">
            <a:extLst>
              <a:ext uri="{FF2B5EF4-FFF2-40B4-BE49-F238E27FC236}">
                <a16:creationId xmlns:a16="http://schemas.microsoft.com/office/drawing/2014/main" id="{06099C68-D36D-46EE-AD18-F8E3B011363D}"/>
              </a:ext>
            </a:extLst>
          </p:cNvPr>
          <p:cNvSpPr>
            <a:spLocks noGrp="1"/>
          </p:cNvSpPr>
          <p:nvPr>
            <p:ph type="sldNum" sz="quarter" idx="12"/>
          </p:nvPr>
        </p:nvSpPr>
        <p:spPr/>
        <p:txBody>
          <a:bodyPr/>
          <a:lstStyle/>
          <a:p>
            <a:fld id="{DC11BA4E-7967-4102-867C-9D230A2E6791}" type="slidenum">
              <a:rPr lang="zh-CN" altLang="en-US" smtClean="0"/>
              <a:t>20</a:t>
            </a:fld>
            <a:endParaRPr lang="zh-CN" altLang="en-US"/>
          </a:p>
        </p:txBody>
      </p:sp>
    </p:spTree>
    <p:extLst>
      <p:ext uri="{BB962C8B-B14F-4D97-AF65-F5344CB8AC3E}">
        <p14:creationId xmlns:p14="http://schemas.microsoft.com/office/powerpoint/2010/main" val="26950971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39" name="Rectangle 3"/>
          <p:cNvSpPr>
            <a:spLocks noRot="1" noChangeArrowheads="1"/>
          </p:cNvSpPr>
          <p:nvPr/>
        </p:nvSpPr>
        <p:spPr bwMode="auto">
          <a:xfrm>
            <a:off x="185083" y="1169850"/>
            <a:ext cx="879144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ts val="3800"/>
              </a:lnSpc>
              <a:spcBef>
                <a:spcPts val="1200"/>
              </a:spcBef>
            </a:pPr>
            <a:r>
              <a:rPr lang="en-US" altLang="zh-CN" sz="2400" b="1" dirty="0">
                <a:solidFill>
                  <a:srgbClr val="C00000"/>
                </a:solidFill>
                <a:latin typeface="宋体" pitchFamily="2" charset="-122"/>
                <a:ea typeface="宋体" pitchFamily="2" charset="-122"/>
              </a:rPr>
              <a:t>2</a:t>
            </a:r>
            <a:r>
              <a:rPr lang="zh-CN" altLang="en-US" sz="2400" b="1" dirty="0">
                <a:solidFill>
                  <a:srgbClr val="C00000"/>
                </a:solidFill>
                <a:latin typeface="宋体" pitchFamily="2" charset="-122"/>
                <a:ea typeface="宋体" pitchFamily="2" charset="-122"/>
              </a:rPr>
              <a:t>．系统误差、偶然误差和疏失误差</a:t>
            </a:r>
            <a:r>
              <a:rPr lang="zh-CN" altLang="en-US" sz="2400" b="1" dirty="0">
                <a:latin typeface="宋体" pitchFamily="2" charset="-122"/>
                <a:ea typeface="宋体" pitchFamily="2" charset="-122"/>
              </a:rPr>
              <a:t>（</a:t>
            </a:r>
            <a:r>
              <a:rPr lang="zh-CN" altLang="en-US" sz="2400" b="1" dirty="0">
                <a:solidFill>
                  <a:srgbClr val="00B050"/>
                </a:solidFill>
                <a:latin typeface="宋体" pitchFamily="2" charset="-122"/>
                <a:ea typeface="宋体" pitchFamily="2" charset="-122"/>
              </a:rPr>
              <a:t>按规律性分</a:t>
            </a:r>
            <a:r>
              <a:rPr lang="zh-CN" altLang="en-US" sz="2400" b="1" dirty="0">
                <a:latin typeface="宋体" pitchFamily="2" charset="-122"/>
                <a:ea typeface="宋体" pitchFamily="2" charset="-122"/>
              </a:rPr>
              <a:t>）</a:t>
            </a:r>
          </a:p>
          <a:p>
            <a:pPr marL="342900" indent="-342900">
              <a:lnSpc>
                <a:spcPts val="3200"/>
              </a:lnSpc>
              <a:spcBef>
                <a:spcPts val="1200"/>
              </a:spcBef>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1</a:t>
            </a:r>
            <a:r>
              <a:rPr lang="zh-CN" altLang="en-US" sz="2400" b="1" dirty="0">
                <a:latin typeface="宋体" pitchFamily="2" charset="-122"/>
                <a:ea typeface="宋体" pitchFamily="2" charset="-122"/>
              </a:rPr>
              <a:t>）系统误差（</a:t>
            </a:r>
            <a:r>
              <a:rPr lang="zh-CN" altLang="en-US" sz="2400" b="1" dirty="0">
                <a:solidFill>
                  <a:srgbClr val="FF0000"/>
                </a:solidFill>
                <a:latin typeface="宋体" pitchFamily="2" charset="-122"/>
                <a:ea typeface="宋体" pitchFamily="2" charset="-122"/>
              </a:rPr>
              <a:t>准确度</a:t>
            </a:r>
            <a:r>
              <a:rPr lang="zh-CN" altLang="en-US" sz="2400" b="1" dirty="0">
                <a:latin typeface="宋体" pitchFamily="2" charset="-122"/>
                <a:ea typeface="宋体" pitchFamily="2" charset="-122"/>
              </a:rPr>
              <a:t>）</a:t>
            </a:r>
          </a:p>
          <a:p>
            <a:pPr indent="623888">
              <a:lnSpc>
                <a:spcPts val="3200"/>
              </a:lnSpc>
              <a:spcBef>
                <a:spcPts val="1200"/>
              </a:spcBef>
            </a:pPr>
            <a:r>
              <a:rPr lang="zh-CN" altLang="en-US" sz="2200" b="1" dirty="0">
                <a:latin typeface="宋体" pitchFamily="2" charset="-122"/>
                <a:ea typeface="宋体" pitchFamily="2" charset="-122"/>
              </a:rPr>
              <a:t>对同一物理量进行多次重复测量时，按照一定规律性出现的误差。</a:t>
            </a:r>
          </a:p>
          <a:p>
            <a:pPr indent="623888">
              <a:lnSpc>
                <a:spcPts val="3200"/>
              </a:lnSpc>
              <a:spcBef>
                <a:spcPts val="1200"/>
              </a:spcBef>
            </a:pPr>
            <a:r>
              <a:rPr lang="zh-CN" altLang="en-US" sz="2200" b="1" dirty="0">
                <a:latin typeface="宋体" pitchFamily="2" charset="-122"/>
                <a:ea typeface="宋体" pitchFamily="2" charset="-122"/>
              </a:rPr>
              <a:t>系统误差包括仪器误差、环境误差、读数误差及由于调整不良、违反操作规程所引起的误差等。</a:t>
            </a:r>
          </a:p>
          <a:p>
            <a:pPr>
              <a:lnSpc>
                <a:spcPts val="3200"/>
              </a:lnSpc>
              <a:spcBef>
                <a:spcPts val="1200"/>
              </a:spcBef>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2</a:t>
            </a:r>
            <a:r>
              <a:rPr lang="zh-CN" altLang="en-US" sz="2400" b="1" dirty="0">
                <a:latin typeface="宋体" pitchFamily="2" charset="-122"/>
                <a:ea typeface="宋体" pitchFamily="2" charset="-122"/>
              </a:rPr>
              <a:t>）偶然误差（</a:t>
            </a:r>
            <a:r>
              <a:rPr lang="zh-CN" altLang="en-US" sz="2400" b="1" dirty="0">
                <a:solidFill>
                  <a:srgbClr val="0070C0"/>
                </a:solidFill>
                <a:latin typeface="宋体" pitchFamily="2" charset="-122"/>
                <a:ea typeface="宋体" pitchFamily="2" charset="-122"/>
              </a:rPr>
              <a:t>精密度</a:t>
            </a:r>
            <a:r>
              <a:rPr lang="zh-CN" altLang="en-US" sz="2400" b="1" dirty="0">
                <a:latin typeface="宋体" pitchFamily="2" charset="-122"/>
                <a:ea typeface="宋体" pitchFamily="2" charset="-122"/>
              </a:rPr>
              <a:t>）</a:t>
            </a:r>
          </a:p>
          <a:p>
            <a:pPr indent="623888">
              <a:lnSpc>
                <a:spcPts val="3200"/>
              </a:lnSpc>
              <a:spcBef>
                <a:spcPts val="1200"/>
              </a:spcBef>
            </a:pPr>
            <a:r>
              <a:rPr lang="zh-CN" altLang="en-US" sz="2200" b="1" dirty="0">
                <a:latin typeface="宋体" pitchFamily="2" charset="-122"/>
                <a:ea typeface="宋体" pitchFamily="2" charset="-122"/>
              </a:rPr>
              <a:t>对某一物理量进行多次重复测量时，偶然误差出现带有偶然</a:t>
            </a:r>
            <a:r>
              <a:rPr lang="zh-CN" altLang="en-US" sz="2200" b="1">
                <a:latin typeface="宋体" pitchFamily="2" charset="-122"/>
                <a:ea typeface="宋体" pitchFamily="2" charset="-122"/>
              </a:rPr>
              <a:t>性，它</a:t>
            </a:r>
            <a:r>
              <a:rPr lang="zh-CN" altLang="en-US" sz="2200" b="1" dirty="0">
                <a:latin typeface="宋体" pitchFamily="2" charset="-122"/>
                <a:ea typeface="宋体" pitchFamily="2" charset="-122"/>
              </a:rPr>
              <a:t>的数值大小和符号都不固定，但是却服从统计规律性，呈</a:t>
            </a:r>
            <a:r>
              <a:rPr lang="zh-CN" altLang="en-US" sz="2200" b="1" dirty="0">
                <a:solidFill>
                  <a:srgbClr val="FF0000"/>
                </a:solidFill>
                <a:latin typeface="宋体" pitchFamily="2" charset="-122"/>
                <a:ea typeface="宋体" pitchFamily="2" charset="-122"/>
              </a:rPr>
              <a:t>正态分布</a:t>
            </a:r>
            <a:r>
              <a:rPr lang="zh-CN" altLang="en-US" sz="2200" b="1" dirty="0">
                <a:latin typeface="宋体" pitchFamily="2" charset="-122"/>
                <a:ea typeface="宋体" pitchFamily="2" charset="-122"/>
              </a:rPr>
              <a:t>。  </a:t>
            </a:r>
          </a:p>
        </p:txBody>
      </p:sp>
      <p:sp>
        <p:nvSpPr>
          <p:cNvPr id="2" name="Slide Number Placeholder 1">
            <a:extLst>
              <a:ext uri="{FF2B5EF4-FFF2-40B4-BE49-F238E27FC236}">
                <a16:creationId xmlns:a16="http://schemas.microsoft.com/office/drawing/2014/main" id="{9424D3EA-F84D-4737-80E2-34B9E7E89068}"/>
              </a:ext>
            </a:extLst>
          </p:cNvPr>
          <p:cNvSpPr>
            <a:spLocks noGrp="1"/>
          </p:cNvSpPr>
          <p:nvPr>
            <p:ph type="sldNum" sz="quarter" idx="12"/>
          </p:nvPr>
        </p:nvSpPr>
        <p:spPr/>
        <p:txBody>
          <a:bodyPr/>
          <a:lstStyle/>
          <a:p>
            <a:fld id="{DC11BA4E-7967-4102-867C-9D230A2E6791}" type="slidenum">
              <a:rPr lang="zh-CN" altLang="en-US" smtClean="0"/>
              <a:t>21</a:t>
            </a:fld>
            <a:endParaRPr lang="zh-CN" altLang="en-US"/>
          </a:p>
        </p:txBody>
      </p:sp>
    </p:spTree>
    <p:extLst>
      <p:ext uri="{BB962C8B-B14F-4D97-AF65-F5344CB8AC3E}">
        <p14:creationId xmlns:p14="http://schemas.microsoft.com/office/powerpoint/2010/main" val="23170109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518160" y="1525243"/>
            <a:ext cx="8244840" cy="3237258"/>
          </a:xfrm>
        </p:spPr>
        <p:txBody>
          <a:bodyPr>
            <a:noAutofit/>
          </a:bodyPr>
          <a:lstStyle/>
          <a:p>
            <a:pPr marL="0" indent="0" eaLnBrk="1" hangingPunct="1">
              <a:lnSpc>
                <a:spcPct val="150000"/>
              </a:lnSpc>
              <a:spcBef>
                <a:spcPts val="624"/>
              </a:spcBef>
              <a:buNone/>
              <a:defRPr/>
            </a:pPr>
            <a:r>
              <a:rPr lang="zh-CN" altLang="en-US" sz="2400" b="1" dirty="0">
                <a:solidFill>
                  <a:srgbClr val="0000FF"/>
                </a:solidFill>
                <a:latin typeface="Arial" panose="020B0604020202020204" pitchFamily="34" charset="0"/>
                <a:ea typeface="宋体" panose="02010600030101010101" pitchFamily="2" charset="-122"/>
                <a:cs typeface="Arial" panose="020B0604020202020204" pitchFamily="34" charset="0"/>
              </a:rPr>
              <a:t>偶然误差</a:t>
            </a:r>
            <a:r>
              <a:rPr lang="zh-CN" altLang="en-US" sz="2400" b="1" dirty="0">
                <a:latin typeface="Arial" panose="020B0604020202020204" pitchFamily="34" charset="0"/>
                <a:ea typeface="宋体" panose="02010600030101010101" pitchFamily="2" charset="-122"/>
                <a:cs typeface="Arial" panose="020B0604020202020204" pitchFamily="34" charset="0"/>
              </a:rPr>
              <a:t>特性：</a:t>
            </a:r>
          </a:p>
          <a:p>
            <a:pPr eaLnBrk="1" hangingPunct="1">
              <a:lnSpc>
                <a:spcPct val="150000"/>
              </a:lnSpc>
              <a:spcBef>
                <a:spcPts val="0"/>
              </a:spcBef>
              <a:buClr>
                <a:srgbClr val="7030A0"/>
              </a:buClr>
              <a:defRPr/>
            </a:pPr>
            <a:r>
              <a:rPr lang="zh-CN" altLang="en-US" sz="2200" b="1" dirty="0">
                <a:latin typeface="Arial" panose="020B0604020202020204" pitchFamily="34" charset="0"/>
                <a:ea typeface="宋体" panose="02010600030101010101" pitchFamily="2" charset="-122"/>
                <a:cs typeface="Arial" panose="020B0604020202020204" pitchFamily="34" charset="0"/>
              </a:rPr>
              <a:t>绝对值相等、符号相反的误差在多次重复测量中出现的可能性相等；</a:t>
            </a:r>
            <a:endParaRPr lang="en-US" altLang="zh-CN" sz="2200" b="1"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150000"/>
              </a:lnSpc>
              <a:spcBef>
                <a:spcPts val="0"/>
              </a:spcBef>
              <a:buClr>
                <a:srgbClr val="7030A0"/>
              </a:buClr>
              <a:defRPr/>
            </a:pPr>
            <a:r>
              <a:rPr lang="zh-CN" altLang="en-US" sz="2200" b="1" dirty="0">
                <a:latin typeface="Arial" panose="020B0604020202020204" pitchFamily="34" charset="0"/>
                <a:ea typeface="宋体" panose="02010600030101010101" pitchFamily="2" charset="-122"/>
                <a:cs typeface="Arial" panose="020B0604020202020204" pitchFamily="34" charset="0"/>
              </a:rPr>
              <a:t>在一定测量条件下，偶然误差的绝对值不会超出某一限度；</a:t>
            </a:r>
            <a:endParaRPr lang="en-US" altLang="zh-CN" sz="2200" b="1"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150000"/>
              </a:lnSpc>
              <a:spcBef>
                <a:spcPts val="0"/>
              </a:spcBef>
              <a:buClr>
                <a:srgbClr val="7030A0"/>
              </a:buClr>
              <a:defRPr/>
            </a:pPr>
            <a:r>
              <a:rPr lang="zh-CN" altLang="en-US" sz="2200" b="1" dirty="0">
                <a:latin typeface="Arial" panose="020B0604020202020204" pitchFamily="34" charset="0"/>
                <a:ea typeface="宋体" panose="02010600030101010101" pitchFamily="2" charset="-122"/>
                <a:cs typeface="Arial" panose="020B0604020202020204" pitchFamily="34" charset="0"/>
              </a:rPr>
              <a:t>绝对值小的偶然误差比绝对值大的偶然误差在多次重复测量中出现的机会要多，即误差值愈小，出现机会愈多。</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 name="Slide Number Placeholder 1">
            <a:extLst>
              <a:ext uri="{FF2B5EF4-FFF2-40B4-BE49-F238E27FC236}">
                <a16:creationId xmlns:a16="http://schemas.microsoft.com/office/drawing/2014/main" id="{12642CEF-FDCA-4679-B465-0D0C9B6DFFE1}"/>
              </a:ext>
            </a:extLst>
          </p:cNvPr>
          <p:cNvSpPr>
            <a:spLocks noGrp="1"/>
          </p:cNvSpPr>
          <p:nvPr>
            <p:ph type="sldNum" sz="quarter" idx="12"/>
          </p:nvPr>
        </p:nvSpPr>
        <p:spPr/>
        <p:txBody>
          <a:bodyPr/>
          <a:lstStyle/>
          <a:p>
            <a:fld id="{DC11BA4E-7967-4102-867C-9D230A2E6791}" type="slidenum">
              <a:rPr lang="zh-CN" altLang="en-US" smtClean="0"/>
              <a:t>22</a:t>
            </a:fld>
            <a:endParaRPr lang="zh-CN" altLang="en-US"/>
          </a:p>
        </p:txBody>
      </p:sp>
    </p:spTree>
    <p:extLst>
      <p:ext uri="{BB962C8B-B14F-4D97-AF65-F5344CB8AC3E}">
        <p14:creationId xmlns:p14="http://schemas.microsoft.com/office/powerpoint/2010/main" val="2466832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27470" y="1374711"/>
            <a:ext cx="8889060" cy="4315311"/>
          </a:xfrm>
        </p:spPr>
        <p:txBody>
          <a:bodyPr>
            <a:noAutofit/>
          </a:bodyPr>
          <a:lstStyle/>
          <a:p>
            <a:pPr marL="0" indent="0" eaLnBrk="1" hangingPunct="1">
              <a:lnSpc>
                <a:spcPct val="150000"/>
              </a:lnSpc>
              <a:spcBef>
                <a:spcPts val="624"/>
              </a:spcBef>
              <a:buNone/>
              <a:defRPr/>
            </a:pPr>
            <a:r>
              <a:rPr lang="en-US" altLang="zh-CN" sz="2400" b="1" dirty="0">
                <a:solidFill>
                  <a:srgbClr val="C00000"/>
                </a:solidFill>
                <a:latin typeface="Arial" panose="020B0604020202020204" pitchFamily="34" charset="0"/>
                <a:ea typeface="宋体" panose="02010600030101010101" pitchFamily="2" charset="-122"/>
                <a:cs typeface="Arial" panose="020B0604020202020204" pitchFamily="34" charset="0"/>
              </a:rPr>
              <a:t>2</a:t>
            </a: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．系统误差、偶然误差和疏失误差</a:t>
            </a:r>
          </a:p>
          <a:p>
            <a:pPr marL="0" indent="0" eaLnBrk="1" hangingPunct="1">
              <a:lnSpc>
                <a:spcPct val="150000"/>
              </a:lnSpc>
              <a:spcBef>
                <a:spcPts val="624"/>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a:t>
            </a:r>
            <a:r>
              <a:rPr lang="en-US" altLang="zh-CN" sz="2400" b="1" dirty="0">
                <a:latin typeface="Arial" panose="020B0604020202020204" pitchFamily="34" charset="0"/>
                <a:ea typeface="宋体" panose="02010600030101010101" pitchFamily="2" charset="-122"/>
                <a:cs typeface="Arial" panose="020B0604020202020204" pitchFamily="34" charset="0"/>
              </a:rPr>
              <a:t>3</a:t>
            </a:r>
            <a:r>
              <a:rPr lang="zh-CN" altLang="en-US" sz="2400" b="1" dirty="0">
                <a:latin typeface="Arial" panose="020B0604020202020204" pitchFamily="34" charset="0"/>
                <a:ea typeface="宋体" panose="02010600030101010101" pitchFamily="2" charset="-122"/>
                <a:cs typeface="Arial" panose="020B0604020202020204" pitchFamily="34" charset="0"/>
              </a:rPr>
              <a:t>）疏失误差（粗大误差，</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坏值</a:t>
            </a:r>
            <a:r>
              <a:rPr lang="zh-CN" altLang="en-US" sz="2400" b="1" dirty="0">
                <a:latin typeface="Arial" panose="020B0604020202020204" pitchFamily="34" charset="0"/>
                <a:ea typeface="宋体" panose="02010600030101010101" pitchFamily="2" charset="-122"/>
                <a:cs typeface="Arial" panose="020B0604020202020204" pitchFamily="34" charset="0"/>
              </a:rPr>
              <a:t>）</a:t>
            </a:r>
          </a:p>
          <a:p>
            <a:pPr>
              <a:lnSpc>
                <a:spcPct val="150000"/>
              </a:lnSpc>
              <a:spcBef>
                <a:spcPts val="624"/>
              </a:spcBef>
              <a:defRPr/>
            </a:pPr>
            <a:r>
              <a:rPr lang="zh-CN" altLang="en-US" sz="2400" b="1" dirty="0">
                <a:latin typeface="Arial" panose="020B0604020202020204" pitchFamily="34" charset="0"/>
                <a:ea typeface="宋体" panose="02010600030101010101" pitchFamily="2" charset="-122"/>
                <a:cs typeface="Arial" panose="020B0604020202020204" pitchFamily="34" charset="0"/>
              </a:rPr>
              <a:t>疏失误差的产生是由于测量者在测量时的疏忽大意而造成</a:t>
            </a:r>
            <a:r>
              <a:rPr lang="zh-CN" altLang="en-US" sz="2400" b="1">
                <a:latin typeface="Arial" panose="020B0604020202020204" pitchFamily="34" charset="0"/>
                <a:ea typeface="宋体" panose="02010600030101010101" pitchFamily="2" charset="-122"/>
                <a:cs typeface="Arial" panose="020B0604020202020204" pitchFamily="34" charset="0"/>
              </a:rPr>
              <a:t>的。</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a:lnSpc>
                <a:spcPct val="150000"/>
              </a:lnSpc>
              <a:spcBef>
                <a:spcPts val="624"/>
              </a:spcBef>
              <a:defRPr/>
            </a:pPr>
            <a:r>
              <a:rPr lang="zh-CN" altLang="en-US" sz="2400" b="1">
                <a:latin typeface="Arial" panose="020B0604020202020204" pitchFamily="34" charset="0"/>
                <a:ea typeface="宋体" panose="02010600030101010101" pitchFamily="2" charset="-122"/>
                <a:cs typeface="Arial" panose="020B0604020202020204" pitchFamily="34" charset="0"/>
              </a:rPr>
              <a:t>例</a:t>
            </a:r>
            <a:r>
              <a:rPr lang="zh-CN" altLang="en-US" sz="2400" b="1" dirty="0">
                <a:latin typeface="Arial" panose="020B0604020202020204" pitchFamily="34" charset="0"/>
                <a:ea typeface="宋体" panose="02010600030101010101" pitchFamily="2" charset="-122"/>
                <a:cs typeface="Arial" panose="020B0604020202020204" pitchFamily="34" charset="0"/>
              </a:rPr>
              <a:t>如，仪表指示值被读错、记错、仪表操作错误，计算错误</a:t>
            </a:r>
            <a:r>
              <a:rPr lang="zh-CN" altLang="en-US" sz="2400" b="1">
                <a:latin typeface="Arial" panose="020B0604020202020204" pitchFamily="34" charset="0"/>
                <a:ea typeface="宋体" panose="02010600030101010101" pitchFamily="2" charset="-122"/>
                <a:cs typeface="Arial" panose="020B0604020202020204" pitchFamily="34" charset="0"/>
              </a:rPr>
              <a:t>等。</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a:lnSpc>
                <a:spcPct val="150000"/>
              </a:lnSpc>
              <a:spcBef>
                <a:spcPts val="624"/>
              </a:spcBef>
              <a:defRPr/>
            </a:pPr>
            <a:r>
              <a:rPr lang="zh-CN" altLang="en-US" sz="2400" b="1">
                <a:latin typeface="Arial" panose="020B0604020202020204" pitchFamily="34" charset="0"/>
                <a:ea typeface="宋体" panose="02010600030101010101" pitchFamily="2" charset="-122"/>
                <a:cs typeface="Arial" panose="020B0604020202020204" pitchFamily="34" charset="0"/>
              </a:rPr>
              <a:t>疏</a:t>
            </a:r>
            <a:r>
              <a:rPr lang="zh-CN" altLang="en-US" sz="2400" b="1" dirty="0">
                <a:latin typeface="Arial" panose="020B0604020202020204" pitchFamily="34" charset="0"/>
                <a:ea typeface="宋体" panose="02010600030101010101" pitchFamily="2" charset="-122"/>
                <a:cs typeface="Arial" panose="020B0604020202020204" pitchFamily="34" charset="0"/>
              </a:rPr>
              <a:t>失误差的数值一般都比较大，没有规律性。</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a:lnSpc>
                <a:spcPct val="150000"/>
              </a:lnSpc>
              <a:spcBef>
                <a:spcPts val="624"/>
              </a:spcBef>
              <a:defRPr/>
            </a:pPr>
            <a:r>
              <a:rPr lang="zh-CN" altLang="en-US" sz="2400" b="1" dirty="0">
                <a:latin typeface="Arial" panose="020B0604020202020204" pitchFamily="34" charset="0"/>
                <a:ea typeface="宋体" panose="02010600030101010101" pitchFamily="2" charset="-122"/>
                <a:cs typeface="Arial" panose="020B0604020202020204" pitchFamily="34" charset="0"/>
              </a:rPr>
              <a:t>发现后剔除，或测量数据作废。</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 name="Slide Number Placeholder 1">
            <a:extLst>
              <a:ext uri="{FF2B5EF4-FFF2-40B4-BE49-F238E27FC236}">
                <a16:creationId xmlns:a16="http://schemas.microsoft.com/office/drawing/2014/main" id="{15B877E0-7309-46A3-842E-DB2DC248CFC6}"/>
              </a:ext>
            </a:extLst>
          </p:cNvPr>
          <p:cNvSpPr>
            <a:spLocks noGrp="1"/>
          </p:cNvSpPr>
          <p:nvPr>
            <p:ph type="sldNum" sz="quarter" idx="12"/>
          </p:nvPr>
        </p:nvSpPr>
        <p:spPr/>
        <p:txBody>
          <a:bodyPr/>
          <a:lstStyle/>
          <a:p>
            <a:fld id="{DC11BA4E-7967-4102-867C-9D230A2E6791}" type="slidenum">
              <a:rPr lang="zh-CN" altLang="en-US" smtClean="0"/>
              <a:t>23</a:t>
            </a:fld>
            <a:endParaRPr lang="zh-CN" altLang="en-US"/>
          </a:p>
        </p:txBody>
      </p:sp>
    </p:spTree>
    <p:extLst>
      <p:ext uri="{BB962C8B-B14F-4D97-AF65-F5344CB8AC3E}">
        <p14:creationId xmlns:p14="http://schemas.microsoft.com/office/powerpoint/2010/main" val="1195195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556592" y="1319042"/>
            <a:ext cx="8126232" cy="4791472"/>
          </a:xfrm>
        </p:spPr>
        <p:txBody>
          <a:bodyPr>
            <a:noAutofit/>
          </a:bodyPr>
          <a:lstStyle/>
          <a:p>
            <a:pPr marL="0" indent="0" eaLnBrk="1" hangingPunct="1">
              <a:lnSpc>
                <a:spcPts val="3800"/>
              </a:lnSpc>
              <a:spcBef>
                <a:spcPts val="672"/>
              </a:spcBef>
              <a:buNone/>
              <a:defRPr/>
            </a:pPr>
            <a:r>
              <a:rPr lang="en-US" altLang="zh-CN" sz="2400" b="1" dirty="0">
                <a:solidFill>
                  <a:srgbClr val="C00000"/>
                </a:solidFill>
                <a:latin typeface="宋体" pitchFamily="2" charset="-122"/>
                <a:ea typeface="宋体" pitchFamily="2" charset="-122"/>
                <a:cs typeface="Arial" panose="020B0604020202020204" pitchFamily="34" charset="0"/>
              </a:rPr>
              <a:t>3.</a:t>
            </a:r>
            <a:r>
              <a:rPr lang="zh-CN" altLang="en-US" sz="2400" b="1" dirty="0">
                <a:solidFill>
                  <a:srgbClr val="C00000"/>
                </a:solidFill>
                <a:latin typeface="宋体" pitchFamily="2" charset="-122"/>
                <a:ea typeface="宋体" pitchFamily="2" charset="-122"/>
                <a:cs typeface="Arial" panose="020B0604020202020204" pitchFamily="34" charset="0"/>
              </a:rPr>
              <a:t>   基本误差和附加误差</a:t>
            </a:r>
            <a:r>
              <a:rPr lang="zh-CN" altLang="en-US" sz="2400" b="1" dirty="0">
                <a:latin typeface="宋体" pitchFamily="2" charset="-122"/>
                <a:ea typeface="宋体" pitchFamily="2" charset="-122"/>
                <a:cs typeface="Arial" panose="020B0604020202020204" pitchFamily="34" charset="0"/>
              </a:rPr>
              <a:t>（</a:t>
            </a:r>
            <a:r>
              <a:rPr lang="zh-CN" altLang="en-US" sz="2400" b="1" dirty="0">
                <a:solidFill>
                  <a:srgbClr val="00B050"/>
                </a:solidFill>
                <a:latin typeface="宋体" pitchFamily="2" charset="-122"/>
                <a:ea typeface="宋体" pitchFamily="2" charset="-122"/>
                <a:cs typeface="Arial" panose="020B0604020202020204" pitchFamily="34" charset="0"/>
              </a:rPr>
              <a:t>按使用角度分</a:t>
            </a:r>
            <a:r>
              <a:rPr lang="zh-CN" altLang="en-US" sz="2400" b="1" dirty="0">
                <a:latin typeface="宋体" pitchFamily="2" charset="-122"/>
                <a:ea typeface="宋体" pitchFamily="2" charset="-122"/>
                <a:cs typeface="Arial" panose="020B0604020202020204" pitchFamily="34" charset="0"/>
              </a:rPr>
              <a:t>）</a:t>
            </a:r>
          </a:p>
          <a:p>
            <a:pPr marL="0" indent="0" eaLnBrk="1" hangingPunct="1">
              <a:lnSpc>
                <a:spcPts val="3800"/>
              </a:lnSpc>
              <a:spcBef>
                <a:spcPts val="672"/>
              </a:spcBef>
              <a:buNone/>
              <a:defRPr/>
            </a:pPr>
            <a:r>
              <a:rPr lang="zh-CN" altLang="en-US" sz="2400" b="1" dirty="0">
                <a:solidFill>
                  <a:srgbClr val="0000FF"/>
                </a:solidFill>
                <a:latin typeface="宋体" pitchFamily="2" charset="-122"/>
                <a:ea typeface="宋体" pitchFamily="2" charset="-122"/>
                <a:cs typeface="Arial" panose="020B0604020202020204" pitchFamily="34" charset="0"/>
              </a:rPr>
              <a:t>①基本误差</a:t>
            </a:r>
          </a:p>
          <a:p>
            <a:pPr marL="0" indent="623888" eaLnBrk="1" hangingPunct="1">
              <a:lnSpc>
                <a:spcPts val="3800"/>
              </a:lnSpc>
              <a:spcBef>
                <a:spcPts val="672"/>
              </a:spcBef>
              <a:buNone/>
              <a:defRPr/>
            </a:pPr>
            <a:r>
              <a:rPr lang="zh-CN" altLang="en-US" sz="2400" b="1" dirty="0">
                <a:latin typeface="宋体" pitchFamily="2" charset="-122"/>
                <a:ea typeface="宋体" pitchFamily="2" charset="-122"/>
                <a:cs typeface="Arial" panose="020B0604020202020204" pitchFamily="34" charset="0"/>
              </a:rPr>
              <a:t>仪表在规定的标准条件下所具有的误差。</a:t>
            </a:r>
          </a:p>
          <a:p>
            <a:pPr marL="0" indent="0" eaLnBrk="1" hangingPunct="1">
              <a:lnSpc>
                <a:spcPts val="3800"/>
              </a:lnSpc>
              <a:spcBef>
                <a:spcPts val="672"/>
              </a:spcBef>
              <a:buNone/>
              <a:defRPr/>
            </a:pPr>
            <a:r>
              <a:rPr lang="zh-CN" altLang="en-US" sz="2400" b="1" dirty="0">
                <a:solidFill>
                  <a:srgbClr val="0000FF"/>
                </a:solidFill>
                <a:latin typeface="宋体" pitchFamily="2" charset="-122"/>
                <a:ea typeface="宋体" pitchFamily="2" charset="-122"/>
                <a:cs typeface="Arial" panose="020B0604020202020204" pitchFamily="34" charset="0"/>
              </a:rPr>
              <a:t>②附加误差</a:t>
            </a:r>
          </a:p>
          <a:p>
            <a:pPr marL="0" indent="623888" eaLnBrk="1" hangingPunct="1">
              <a:lnSpc>
                <a:spcPts val="3800"/>
              </a:lnSpc>
              <a:spcBef>
                <a:spcPts val="672"/>
              </a:spcBef>
              <a:buNone/>
              <a:defRPr/>
            </a:pPr>
            <a:r>
              <a:rPr lang="zh-CN" altLang="en-US" sz="2400" b="1" dirty="0">
                <a:latin typeface="宋体" pitchFamily="2" charset="-122"/>
                <a:ea typeface="宋体" pitchFamily="2" charset="-122"/>
                <a:cs typeface="Arial" panose="020B0604020202020204" pitchFamily="34" charset="0"/>
              </a:rPr>
              <a:t>当仪表使用条件偏离额定条件时，就会出现附加误差，例如，温度附加误差、频率附加误差、电源电压波动附加误差、倾斜放置附加误差等。</a:t>
            </a:r>
          </a:p>
          <a:p>
            <a:pPr marL="0" indent="623888" eaLnBrk="1" hangingPunct="1">
              <a:lnSpc>
                <a:spcPts val="3800"/>
              </a:lnSpc>
              <a:spcBef>
                <a:spcPts val="672"/>
              </a:spcBef>
              <a:buNone/>
              <a:defRPr/>
            </a:pPr>
            <a:r>
              <a:rPr lang="zh-CN" altLang="en-US" sz="2400" b="1" dirty="0">
                <a:latin typeface="宋体" pitchFamily="2" charset="-122"/>
                <a:ea typeface="宋体" pitchFamily="2" charset="-122"/>
                <a:cs typeface="Arial" panose="020B0604020202020204" pitchFamily="34" charset="0"/>
              </a:rPr>
              <a:t>在使用仪表进行测量时，应根据使用条件，在基本误差上再分别加以各项附加误差。</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 name="Slide Number Placeholder 1">
            <a:extLst>
              <a:ext uri="{FF2B5EF4-FFF2-40B4-BE49-F238E27FC236}">
                <a16:creationId xmlns:a16="http://schemas.microsoft.com/office/drawing/2014/main" id="{0E85EE20-81D8-4EBD-9A71-CB6FE6A5E816}"/>
              </a:ext>
            </a:extLst>
          </p:cNvPr>
          <p:cNvSpPr>
            <a:spLocks noGrp="1"/>
          </p:cNvSpPr>
          <p:nvPr>
            <p:ph type="sldNum" sz="quarter" idx="12"/>
          </p:nvPr>
        </p:nvSpPr>
        <p:spPr/>
        <p:txBody>
          <a:bodyPr/>
          <a:lstStyle/>
          <a:p>
            <a:fld id="{DC11BA4E-7967-4102-867C-9D230A2E6791}" type="slidenum">
              <a:rPr lang="zh-CN" altLang="en-US" smtClean="0"/>
              <a:t>24</a:t>
            </a:fld>
            <a:endParaRPr lang="zh-CN" altLang="en-US"/>
          </a:p>
        </p:txBody>
      </p:sp>
    </p:spTree>
    <p:extLst>
      <p:ext uri="{BB962C8B-B14F-4D97-AF65-F5344CB8AC3E}">
        <p14:creationId xmlns:p14="http://schemas.microsoft.com/office/powerpoint/2010/main" val="31657316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21">
            <a:extLst>
              <a:ext uri="{FF2B5EF4-FFF2-40B4-BE49-F238E27FC236}">
                <a16:creationId xmlns:a16="http://schemas.microsoft.com/office/drawing/2014/main" id="{15944901-130B-4FE0-B5D7-66BD2419FDB1}"/>
              </a:ext>
            </a:extLst>
          </p:cNvPr>
          <p:cNvGraphicFramePr>
            <a:graphicFrameLocks noChangeAspect="1"/>
          </p:cNvGraphicFramePr>
          <p:nvPr>
            <p:extLst>
              <p:ext uri="{D42A27DB-BD31-4B8C-83A1-F6EECF244321}">
                <p14:modId xmlns:p14="http://schemas.microsoft.com/office/powerpoint/2010/main" val="3019450702"/>
              </p:ext>
            </p:extLst>
          </p:nvPr>
        </p:nvGraphicFramePr>
        <p:xfrm>
          <a:off x="1200324" y="3448893"/>
          <a:ext cx="6297729" cy="2501404"/>
        </p:xfrm>
        <a:graphic>
          <a:graphicData uri="http://schemas.openxmlformats.org/presentationml/2006/ole">
            <mc:AlternateContent xmlns:mc="http://schemas.openxmlformats.org/markup-compatibility/2006">
              <mc:Choice xmlns:v="urn:schemas-microsoft-com:vml" Requires="v">
                <p:oleObj name="Flash Movie" r:id="rId3" imgW="5180400" imgH="2225160" progId="Flash.Movie">
                  <p:embed/>
                </p:oleObj>
              </mc:Choice>
              <mc:Fallback>
                <p:oleObj name="Flash Movie" r:id="rId3" imgW="5180400" imgH="2225160" progId="Flash.Movie">
                  <p:embed/>
                  <p:pic>
                    <p:nvPicPr>
                      <p:cNvPr id="2069"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324" y="3448893"/>
                        <a:ext cx="6297729" cy="2501404"/>
                      </a:xfrm>
                      <a:prstGeom prst="rect">
                        <a:avLst/>
                      </a:prstGeom>
                      <a:noFill/>
                      <a:ln>
                        <a:noFill/>
                      </a:ln>
                      <a:effectLst/>
                    </p:spPr>
                  </p:pic>
                </p:oleObj>
              </mc:Fallback>
            </mc:AlternateContent>
          </a:graphicData>
        </a:graphic>
      </p:graphicFrame>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429371" y="1400393"/>
            <a:ext cx="7839636" cy="2315264"/>
          </a:xfrm>
        </p:spPr>
        <p:txBody>
          <a:bodyPr>
            <a:noAutofit/>
          </a:bodyPr>
          <a:lstStyle/>
          <a:p>
            <a:pPr marL="0" indent="0" eaLnBrk="1" hangingPunct="1">
              <a:lnSpc>
                <a:spcPct val="150000"/>
              </a:lnSpc>
              <a:spcBef>
                <a:spcPts val="672"/>
              </a:spcBef>
              <a:buNone/>
              <a:defRPr/>
            </a:pPr>
            <a:r>
              <a:rPr lang="en-US" altLang="zh-CN" sz="2400" b="1" dirty="0">
                <a:latin typeface="Times New Roman" pitchFamily="18" charset="0"/>
                <a:ea typeface="宋体" pitchFamily="2" charset="-122"/>
                <a:cs typeface="Times New Roman" pitchFamily="18" charset="0"/>
              </a:rPr>
              <a:t>4</a:t>
            </a:r>
            <a:r>
              <a:rPr lang="zh-CN" altLang="en-US" sz="2400" b="1" dirty="0">
                <a:latin typeface="Times New Roman" pitchFamily="18" charset="0"/>
                <a:ea typeface="宋体" pitchFamily="2" charset="-122"/>
                <a:cs typeface="Times New Roman" pitchFamily="18" charset="0"/>
              </a:rPr>
              <a:t>．与仪表性能有关的常用术语（</a:t>
            </a:r>
            <a:r>
              <a:rPr lang="zh-CN" altLang="en-US" sz="2400" b="1" dirty="0">
                <a:solidFill>
                  <a:srgbClr val="C00000"/>
                </a:solidFill>
                <a:latin typeface="Times New Roman" pitchFamily="18" charset="0"/>
                <a:ea typeface="宋体" pitchFamily="2" charset="-122"/>
                <a:cs typeface="Times New Roman" pitchFamily="18" charset="0"/>
              </a:rPr>
              <a:t>仪表校验用</a:t>
            </a:r>
            <a:r>
              <a:rPr lang="zh-CN" altLang="en-US" sz="2400" b="1" dirty="0">
                <a:latin typeface="Times New Roman" pitchFamily="18" charset="0"/>
                <a:ea typeface="宋体" pitchFamily="2" charset="-122"/>
                <a:cs typeface="Times New Roman" pitchFamily="18" charset="0"/>
              </a:rPr>
              <a:t>）</a:t>
            </a:r>
          </a:p>
          <a:p>
            <a:pPr marL="0" indent="0" eaLnBrk="1" hangingPunct="1">
              <a:lnSpc>
                <a:spcPct val="150000"/>
              </a:lnSpc>
              <a:spcBef>
                <a:spcPts val="672"/>
              </a:spcBef>
              <a:buNone/>
              <a:defRPr/>
            </a:pPr>
            <a:r>
              <a:rPr lang="zh-CN" altLang="en-US" sz="2400" b="1" dirty="0">
                <a:solidFill>
                  <a:srgbClr val="C00000"/>
                </a:solidFill>
                <a:latin typeface="Times New Roman" pitchFamily="18" charset="0"/>
                <a:ea typeface="宋体" pitchFamily="2" charset="-122"/>
                <a:cs typeface="Times New Roman" pitchFamily="18" charset="0"/>
              </a:rPr>
              <a:t>①零点误</a:t>
            </a:r>
            <a:r>
              <a:rPr lang="zh-CN" altLang="en-US" sz="2400" b="1">
                <a:solidFill>
                  <a:srgbClr val="C00000"/>
                </a:solidFill>
                <a:latin typeface="Times New Roman" pitchFamily="18" charset="0"/>
                <a:ea typeface="宋体" pitchFamily="2" charset="-122"/>
                <a:cs typeface="Times New Roman" pitchFamily="18" charset="0"/>
              </a:rPr>
              <a:t>差</a:t>
            </a:r>
            <a:r>
              <a:rPr lang="en-US" altLang="zh-CN" sz="2400" b="1">
                <a:latin typeface="Times New Roman" pitchFamily="18" charset="0"/>
                <a:ea typeface="宋体" pitchFamily="2" charset="-122"/>
                <a:cs typeface="Times New Roman" pitchFamily="18" charset="0"/>
              </a:rPr>
              <a:t>: </a:t>
            </a:r>
            <a:r>
              <a:rPr lang="zh-CN" altLang="en-US" sz="2400" b="1">
                <a:latin typeface="Times New Roman" pitchFamily="18" charset="0"/>
                <a:ea typeface="宋体" pitchFamily="2" charset="-122"/>
                <a:cs typeface="Times New Roman" pitchFamily="18" charset="0"/>
              </a:rPr>
              <a:t>当</a:t>
            </a:r>
            <a:r>
              <a:rPr lang="zh-CN" altLang="en-US" sz="2400" b="1" dirty="0">
                <a:latin typeface="Times New Roman" pitchFamily="18" charset="0"/>
                <a:ea typeface="宋体" pitchFamily="2" charset="-122"/>
                <a:cs typeface="Times New Roman" pitchFamily="18" charset="0"/>
              </a:rPr>
              <a:t>输入为</a:t>
            </a:r>
            <a:r>
              <a:rPr lang="en-US" altLang="zh-CN" sz="2400" dirty="0">
                <a:latin typeface="Times New Roman" pitchFamily="18" charset="0"/>
                <a:ea typeface="宋体" pitchFamily="2" charset="-122"/>
                <a:cs typeface="Times New Roman" pitchFamily="18" charset="0"/>
              </a:rPr>
              <a:t>0%</a:t>
            </a:r>
            <a:r>
              <a:rPr lang="zh-CN" altLang="en-US" sz="2400" b="1" dirty="0">
                <a:latin typeface="Times New Roman" pitchFamily="18" charset="0"/>
                <a:ea typeface="宋体" pitchFamily="2" charset="-122"/>
                <a:cs typeface="Times New Roman" pitchFamily="18" charset="0"/>
              </a:rPr>
              <a:t>时输出的</a:t>
            </a:r>
            <a:r>
              <a:rPr lang="zh-CN" altLang="en-US" sz="2400" b="1">
                <a:latin typeface="Times New Roman" pitchFamily="18" charset="0"/>
                <a:ea typeface="宋体" pitchFamily="2" charset="-122"/>
                <a:cs typeface="Times New Roman" pitchFamily="18" charset="0"/>
              </a:rPr>
              <a:t>误差。</a:t>
            </a:r>
            <a:endParaRPr lang="en-US" altLang="zh-CN" sz="2400" b="1">
              <a:latin typeface="Times New Roman" pitchFamily="18" charset="0"/>
              <a:ea typeface="宋体" pitchFamily="2" charset="-122"/>
              <a:cs typeface="Times New Roman" pitchFamily="18" charset="0"/>
            </a:endParaRPr>
          </a:p>
          <a:p>
            <a:pPr marL="0" indent="0" eaLnBrk="1" hangingPunct="1">
              <a:lnSpc>
                <a:spcPct val="150000"/>
              </a:lnSpc>
              <a:spcBef>
                <a:spcPts val="672"/>
              </a:spcBef>
              <a:buNone/>
              <a:defRPr/>
            </a:pPr>
            <a:r>
              <a:rPr lang="zh-CN" altLang="en-US" sz="2400" b="1">
                <a:latin typeface="Times New Roman" pitchFamily="18" charset="0"/>
                <a:ea typeface="宋体" pitchFamily="2" charset="-122"/>
                <a:cs typeface="Times New Roman" pitchFamily="18" charset="0"/>
              </a:rPr>
              <a:t>一般</a:t>
            </a:r>
            <a:r>
              <a:rPr lang="zh-CN" altLang="en-US" sz="2400" b="1" dirty="0">
                <a:latin typeface="Times New Roman" pitchFamily="18" charset="0"/>
                <a:ea typeface="宋体" pitchFamily="2" charset="-122"/>
                <a:cs typeface="Times New Roman" pitchFamily="18" charset="0"/>
              </a:rPr>
              <a:t>用</a:t>
            </a:r>
            <a:r>
              <a:rPr lang="zh-CN" altLang="en-US" sz="2400" b="1" dirty="0">
                <a:solidFill>
                  <a:srgbClr val="0000FF"/>
                </a:solidFill>
                <a:latin typeface="Times New Roman" pitchFamily="18" charset="0"/>
                <a:ea typeface="宋体" pitchFamily="2" charset="-122"/>
                <a:cs typeface="Times New Roman" pitchFamily="18" charset="0"/>
              </a:rPr>
              <a:t>满量程的百分数</a:t>
            </a:r>
            <a:r>
              <a:rPr lang="zh-CN" altLang="en-US" sz="2400" b="1">
                <a:latin typeface="Times New Roman" pitchFamily="18" charset="0"/>
                <a:ea typeface="宋体" pitchFamily="2" charset="-122"/>
                <a:cs typeface="Times New Roman" pitchFamily="18" charset="0"/>
              </a:rPr>
              <a:t>表示零点误差</a:t>
            </a:r>
            <a:endParaRPr lang="zh-CN" altLang="en-US" sz="2400" b="1" dirty="0">
              <a:latin typeface="Times New Roman" pitchFamily="18" charset="0"/>
              <a:ea typeface="宋体" pitchFamily="2" charset="-122"/>
              <a:cs typeface="Times New Roman" pitchFamily="18" charset="0"/>
            </a:endParaRPr>
          </a:p>
        </p:txBody>
      </p:sp>
      <p:graphicFrame>
        <p:nvGraphicFramePr>
          <p:cNvPr id="20" name="Object 19">
            <a:extLst>
              <a:ext uri="{FF2B5EF4-FFF2-40B4-BE49-F238E27FC236}">
                <a16:creationId xmlns:a16="http://schemas.microsoft.com/office/drawing/2014/main" id="{E088B9F0-E3C3-4D76-819A-23C49E7D72D5}"/>
              </a:ext>
            </a:extLst>
          </p:cNvPr>
          <p:cNvGraphicFramePr>
            <a:graphicFrameLocks noChangeAspect="1"/>
          </p:cNvGraphicFramePr>
          <p:nvPr>
            <p:extLst>
              <p:ext uri="{D42A27DB-BD31-4B8C-83A1-F6EECF244321}">
                <p14:modId xmlns:p14="http://schemas.microsoft.com/office/powerpoint/2010/main" val="1292174707"/>
              </p:ext>
            </p:extLst>
          </p:nvPr>
        </p:nvGraphicFramePr>
        <p:xfrm>
          <a:off x="6006383" y="2558025"/>
          <a:ext cx="2072202" cy="851083"/>
        </p:xfrm>
        <a:graphic>
          <a:graphicData uri="http://schemas.openxmlformats.org/presentationml/2006/ole">
            <mc:AlternateContent xmlns:mc="http://schemas.openxmlformats.org/markup-compatibility/2006">
              <mc:Choice xmlns:v="urn:schemas-microsoft-com:vml" Requires="v">
                <p:oleObj name="Equation" r:id="rId5" imgW="914400" imgH="393480" progId="Equation.3">
                  <p:embed/>
                </p:oleObj>
              </mc:Choice>
              <mc:Fallback>
                <p:oleObj name="Equation" r:id="rId5" imgW="914400" imgH="393480" progId="Equation.3">
                  <p:embed/>
                  <p:pic>
                    <p:nvPicPr>
                      <p:cNvPr id="240659" name="Object 19">
                        <a:extLst>
                          <a:ext uri="{FF2B5EF4-FFF2-40B4-BE49-F238E27FC236}">
                            <a16:creationId xmlns:a16="http://schemas.microsoft.com/office/drawing/2014/main" id="{CE38D86D-0949-4794-BEB0-A29A624286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6383" y="2558025"/>
                        <a:ext cx="2072202" cy="851083"/>
                      </a:xfrm>
                      <a:prstGeom prst="rect">
                        <a:avLst/>
                      </a:prstGeom>
                      <a:noFill/>
                    </p:spPr>
                  </p:pic>
                </p:oleObj>
              </mc:Fallback>
            </mc:AlternateContent>
          </a:graphicData>
        </a:graphic>
      </p:graphicFrame>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 name="Slide Number Placeholder 1">
            <a:extLst>
              <a:ext uri="{FF2B5EF4-FFF2-40B4-BE49-F238E27FC236}">
                <a16:creationId xmlns:a16="http://schemas.microsoft.com/office/drawing/2014/main" id="{B383CD49-D815-4E9D-BAD6-E1D647F09BE2}"/>
              </a:ext>
            </a:extLst>
          </p:cNvPr>
          <p:cNvSpPr>
            <a:spLocks noGrp="1"/>
          </p:cNvSpPr>
          <p:nvPr>
            <p:ph type="sldNum" sz="quarter" idx="12"/>
          </p:nvPr>
        </p:nvSpPr>
        <p:spPr/>
        <p:txBody>
          <a:bodyPr/>
          <a:lstStyle/>
          <a:p>
            <a:fld id="{DC11BA4E-7967-4102-867C-9D230A2E6791}" type="slidenum">
              <a:rPr lang="zh-CN" altLang="en-US" smtClean="0"/>
              <a:t>25</a:t>
            </a:fld>
            <a:endParaRPr lang="zh-CN" altLang="en-US"/>
          </a:p>
        </p:txBody>
      </p:sp>
      <p:sp>
        <p:nvSpPr>
          <p:cNvPr id="21" name="Text Box 9">
            <a:extLst>
              <a:ext uri="{FF2B5EF4-FFF2-40B4-BE49-F238E27FC236}">
                <a16:creationId xmlns:a16="http://schemas.microsoft.com/office/drawing/2014/main" id="{21572EB6-0B22-4C46-B512-657A58AC2E76}"/>
              </a:ext>
            </a:extLst>
          </p:cNvPr>
          <p:cNvSpPr txBox="1">
            <a:spLocks noChangeArrowheads="1"/>
          </p:cNvSpPr>
          <p:nvPr/>
        </p:nvSpPr>
        <p:spPr bwMode="auto">
          <a:xfrm>
            <a:off x="3023939" y="5899151"/>
            <a:ext cx="309612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15-9  </a:t>
            </a:r>
            <a:r>
              <a:rPr kumimoji="0" lang="zh-CN" altLang="en-US" b="1" dirty="0">
                <a:solidFill>
                  <a:srgbClr val="000099"/>
                </a:solidFill>
                <a:latin typeface="宋体" pitchFamily="2" charset="-122"/>
                <a:ea typeface="宋体" pitchFamily="2" charset="-122"/>
              </a:rPr>
              <a:t>零点误差</a:t>
            </a:r>
          </a:p>
        </p:txBody>
      </p:sp>
    </p:spTree>
    <p:extLst>
      <p:ext uri="{BB962C8B-B14F-4D97-AF65-F5344CB8AC3E}">
        <p14:creationId xmlns:p14="http://schemas.microsoft.com/office/powerpoint/2010/main" val="13410058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Object 22">
            <a:extLst>
              <a:ext uri="{FF2B5EF4-FFF2-40B4-BE49-F238E27FC236}">
                <a16:creationId xmlns:a16="http://schemas.microsoft.com/office/drawing/2014/main" id="{4A5B77FA-1E0A-4AC7-976D-8D8F60CA868F}"/>
              </a:ext>
            </a:extLst>
          </p:cNvPr>
          <p:cNvGraphicFramePr>
            <a:graphicFrameLocks noChangeAspect="1"/>
          </p:cNvGraphicFramePr>
          <p:nvPr>
            <p:extLst>
              <p:ext uri="{D42A27DB-BD31-4B8C-83A1-F6EECF244321}">
                <p14:modId xmlns:p14="http://schemas.microsoft.com/office/powerpoint/2010/main" val="3556660665"/>
              </p:ext>
            </p:extLst>
          </p:nvPr>
        </p:nvGraphicFramePr>
        <p:xfrm>
          <a:off x="484342" y="3321011"/>
          <a:ext cx="4538558" cy="1905000"/>
        </p:xfrm>
        <a:graphic>
          <a:graphicData uri="http://schemas.openxmlformats.org/presentationml/2006/ole">
            <mc:AlternateContent xmlns:mc="http://schemas.openxmlformats.org/markup-compatibility/2006">
              <mc:Choice xmlns:v="urn:schemas-microsoft-com:vml" Requires="v">
                <p:oleObj name="Flash Movie" r:id="rId3" imgW="5445720" imgH="2286720" progId="Flash.Movie">
                  <p:embed/>
                </p:oleObj>
              </mc:Choice>
              <mc:Fallback>
                <p:oleObj name="Flash Movie" r:id="rId3" imgW="5445720" imgH="2286720" progId="Flash.Movie">
                  <p:embed/>
                  <p:pic>
                    <p:nvPicPr>
                      <p:cNvPr id="207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342" y="3321011"/>
                        <a:ext cx="4538558" cy="1905000"/>
                      </a:xfrm>
                      <a:prstGeom prst="rect">
                        <a:avLst/>
                      </a:prstGeom>
                      <a:noFill/>
                      <a:ln>
                        <a:noFill/>
                      </a:ln>
                      <a:effectLst/>
                    </p:spPr>
                  </p:pic>
                </p:oleObj>
              </mc:Fallback>
            </mc:AlternateContent>
          </a:graphicData>
        </a:graphic>
      </p:graphicFrame>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428873" y="1279065"/>
            <a:ext cx="8317064" cy="1967221"/>
          </a:xfrm>
        </p:spPr>
        <p:txBody>
          <a:bodyPr>
            <a:noAutofit/>
          </a:bodyPr>
          <a:lstStyle/>
          <a:p>
            <a:pPr marL="0" indent="0" eaLnBrk="1" hangingPunct="1">
              <a:lnSpc>
                <a:spcPct val="150000"/>
              </a:lnSpc>
              <a:spcBef>
                <a:spcPts val="672"/>
              </a:spcBef>
              <a:buNone/>
              <a:defRPr/>
            </a:pPr>
            <a:r>
              <a:rPr lang="en-US" altLang="zh-CN" sz="2400" b="1" dirty="0">
                <a:latin typeface="Times New Roman" pitchFamily="18" charset="0"/>
                <a:ea typeface="宋体" pitchFamily="2" charset="-122"/>
                <a:cs typeface="Times New Roman" pitchFamily="18" charset="0"/>
              </a:rPr>
              <a:t>4</a:t>
            </a:r>
            <a:r>
              <a:rPr lang="zh-CN" altLang="en-US" sz="2400" b="1" dirty="0">
                <a:latin typeface="Times New Roman" pitchFamily="18" charset="0"/>
                <a:ea typeface="宋体" pitchFamily="2" charset="-122"/>
                <a:cs typeface="Times New Roman" pitchFamily="18" charset="0"/>
              </a:rPr>
              <a:t>．与仪表性能有关的常用术语（</a:t>
            </a:r>
            <a:r>
              <a:rPr lang="zh-CN" altLang="en-US" sz="2400" b="1" dirty="0">
                <a:solidFill>
                  <a:srgbClr val="C00000"/>
                </a:solidFill>
                <a:latin typeface="Times New Roman" pitchFamily="18" charset="0"/>
                <a:ea typeface="宋体" pitchFamily="2" charset="-122"/>
                <a:cs typeface="Times New Roman" pitchFamily="18" charset="0"/>
              </a:rPr>
              <a:t>仪表校验用</a:t>
            </a:r>
            <a:r>
              <a:rPr lang="zh-CN" altLang="en-US" sz="2400" b="1" dirty="0">
                <a:latin typeface="Times New Roman" pitchFamily="18" charset="0"/>
                <a:ea typeface="宋体" pitchFamily="2" charset="-122"/>
                <a:cs typeface="Times New Roman" pitchFamily="18" charset="0"/>
              </a:rPr>
              <a:t>）</a:t>
            </a:r>
          </a:p>
          <a:p>
            <a:pPr marL="0" indent="0" eaLnBrk="1" hangingPunct="1">
              <a:lnSpc>
                <a:spcPct val="150000"/>
              </a:lnSpc>
              <a:spcBef>
                <a:spcPts val="672"/>
              </a:spcBef>
              <a:buNone/>
              <a:defRPr/>
            </a:pPr>
            <a:r>
              <a:rPr lang="zh-CN" altLang="en-US" sz="2400" b="1" dirty="0">
                <a:solidFill>
                  <a:srgbClr val="C00000"/>
                </a:solidFill>
                <a:latin typeface="Times New Roman" pitchFamily="18" charset="0"/>
                <a:ea typeface="宋体" pitchFamily="2" charset="-122"/>
                <a:cs typeface="Times New Roman" pitchFamily="18" charset="0"/>
              </a:rPr>
              <a:t>②量程误差</a:t>
            </a:r>
            <a:r>
              <a:rPr lang="en-US" altLang="zh-CN" sz="2400" b="1" dirty="0">
                <a:solidFill>
                  <a:srgbClr val="C00000"/>
                </a:solidFill>
                <a:latin typeface="Times New Roman" pitchFamily="18" charset="0"/>
                <a:ea typeface="宋体" pitchFamily="2" charset="-122"/>
                <a:cs typeface="Times New Roman" pitchFamily="18" charset="0"/>
              </a:rPr>
              <a:t>:</a:t>
            </a:r>
            <a:r>
              <a:rPr lang="zh-CN" altLang="en-US" sz="2400" b="1" dirty="0">
                <a:latin typeface="Times New Roman" pitchFamily="18" charset="0"/>
                <a:ea typeface="宋体" pitchFamily="2" charset="-122"/>
                <a:cs typeface="Times New Roman" pitchFamily="18" charset="0"/>
              </a:rPr>
              <a:t>仪表输出的理想量程与实测量程之</a:t>
            </a:r>
            <a:r>
              <a:rPr lang="zh-CN" altLang="en-US" sz="2400" b="1">
                <a:latin typeface="Times New Roman" pitchFamily="18" charset="0"/>
                <a:ea typeface="宋体" pitchFamily="2" charset="-122"/>
                <a:cs typeface="Times New Roman" pitchFamily="18" charset="0"/>
              </a:rPr>
              <a:t>差。</a:t>
            </a:r>
            <a:endParaRPr lang="en-US" altLang="zh-CN" sz="2400" b="1">
              <a:latin typeface="Times New Roman" pitchFamily="18" charset="0"/>
              <a:ea typeface="宋体" pitchFamily="2" charset="-122"/>
              <a:cs typeface="Times New Roman" pitchFamily="18" charset="0"/>
            </a:endParaRPr>
          </a:p>
          <a:p>
            <a:pPr marL="0" indent="0" eaLnBrk="1" hangingPunct="1">
              <a:lnSpc>
                <a:spcPct val="150000"/>
              </a:lnSpc>
              <a:spcBef>
                <a:spcPts val="672"/>
              </a:spcBef>
              <a:buNone/>
              <a:defRPr/>
            </a:pPr>
            <a:r>
              <a:rPr lang="zh-CN" altLang="en-US" sz="2400" b="1">
                <a:latin typeface="Times New Roman" pitchFamily="18" charset="0"/>
                <a:ea typeface="宋体" pitchFamily="2" charset="-122"/>
                <a:cs typeface="Times New Roman" pitchFamily="18" charset="0"/>
              </a:rPr>
              <a:t>量程</a:t>
            </a:r>
            <a:r>
              <a:rPr lang="zh-CN" altLang="en-US" sz="2400" b="1" dirty="0">
                <a:latin typeface="Times New Roman" pitchFamily="18" charset="0"/>
                <a:ea typeface="宋体" pitchFamily="2" charset="-122"/>
                <a:cs typeface="Times New Roman" pitchFamily="18" charset="0"/>
              </a:rPr>
              <a:t>误差可用满量程的百分数表示为</a:t>
            </a:r>
          </a:p>
          <a:p>
            <a:pPr marL="0" indent="0" eaLnBrk="1" hangingPunct="1">
              <a:lnSpc>
                <a:spcPct val="150000"/>
              </a:lnSpc>
              <a:spcBef>
                <a:spcPts val="672"/>
              </a:spcBef>
              <a:buNone/>
              <a:defRPr/>
            </a:pPr>
            <a:r>
              <a:rPr lang="zh-CN" altLang="en-US" sz="2400" b="1" dirty="0">
                <a:latin typeface="Times New Roman" pitchFamily="18" charset="0"/>
                <a:ea typeface="宋体" pitchFamily="2" charset="-122"/>
                <a:cs typeface="Times New Roman" pitchFamily="18" charset="0"/>
              </a:rPr>
              <a:t> </a:t>
            </a:r>
          </a:p>
        </p:txBody>
      </p:sp>
      <p:graphicFrame>
        <p:nvGraphicFramePr>
          <p:cNvPr id="21" name="Object 20">
            <a:extLst>
              <a:ext uri="{FF2B5EF4-FFF2-40B4-BE49-F238E27FC236}">
                <a16:creationId xmlns:a16="http://schemas.microsoft.com/office/drawing/2014/main" id="{E3181A0B-013C-4B8B-BD41-A7A5BBC5E38C}"/>
              </a:ext>
            </a:extLst>
          </p:cNvPr>
          <p:cNvGraphicFramePr>
            <a:graphicFrameLocks noChangeAspect="1"/>
          </p:cNvGraphicFramePr>
          <p:nvPr>
            <p:extLst>
              <p:ext uri="{D42A27DB-BD31-4B8C-83A1-F6EECF244321}">
                <p14:modId xmlns:p14="http://schemas.microsoft.com/office/powerpoint/2010/main" val="46190241"/>
              </p:ext>
            </p:extLst>
          </p:nvPr>
        </p:nvGraphicFramePr>
        <p:xfrm>
          <a:off x="5665758" y="2455792"/>
          <a:ext cx="2082978" cy="855509"/>
        </p:xfrm>
        <a:graphic>
          <a:graphicData uri="http://schemas.openxmlformats.org/presentationml/2006/ole">
            <mc:AlternateContent xmlns:mc="http://schemas.openxmlformats.org/markup-compatibility/2006">
              <mc:Choice xmlns:v="urn:schemas-microsoft-com:vml" Requires="v">
                <p:oleObj name="Equation" r:id="rId5" imgW="914400" imgH="393480" progId="Equation.3">
                  <p:embed/>
                </p:oleObj>
              </mc:Choice>
              <mc:Fallback>
                <p:oleObj name="Equation" r:id="rId5" imgW="91440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65758" y="2455792"/>
                        <a:ext cx="2082978" cy="855509"/>
                      </a:xfrm>
                      <a:prstGeom prst="rect">
                        <a:avLst/>
                      </a:prstGeom>
                      <a:noFill/>
                    </p:spPr>
                  </p:pic>
                </p:oleObj>
              </mc:Fallback>
            </mc:AlternateContent>
          </a:graphicData>
        </a:graphic>
      </p:graphicFrame>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3" name="矩形 2"/>
          <p:cNvSpPr/>
          <p:nvPr/>
        </p:nvSpPr>
        <p:spPr>
          <a:xfrm>
            <a:off x="428873" y="5405010"/>
            <a:ext cx="6759490" cy="646331"/>
          </a:xfrm>
          <a:prstGeom prst="rect">
            <a:avLst/>
          </a:prstGeom>
        </p:spPr>
        <p:txBody>
          <a:bodyPr wrap="square">
            <a:spAutoFit/>
          </a:bodyPr>
          <a:lstStyle/>
          <a:p>
            <a:pPr lvl="0">
              <a:lnSpc>
                <a:spcPct val="150000"/>
              </a:lnSpc>
              <a:spcBef>
                <a:spcPts val="672"/>
              </a:spcBef>
              <a:defRPr/>
            </a:pPr>
            <a:r>
              <a:rPr lang="zh-CN" altLang="en-US" sz="2400" b="1" dirty="0">
                <a:solidFill>
                  <a:prstClr val="black"/>
                </a:solidFill>
                <a:latin typeface="Times New Roman" pitchFamily="18" charset="0"/>
                <a:ea typeface="宋体" pitchFamily="2" charset="-122"/>
                <a:cs typeface="Times New Roman" pitchFamily="18" charset="0"/>
              </a:rPr>
              <a:t>③线性度、迟滞、重复性、灵敏度、零漂、蠕变</a:t>
            </a:r>
          </a:p>
        </p:txBody>
      </p:sp>
      <p:sp>
        <p:nvSpPr>
          <p:cNvPr id="4" name="Slide Number Placeholder 3">
            <a:extLst>
              <a:ext uri="{FF2B5EF4-FFF2-40B4-BE49-F238E27FC236}">
                <a16:creationId xmlns:a16="http://schemas.microsoft.com/office/drawing/2014/main" id="{A2DC12C1-DB3C-4468-9855-7EB03CB516C2}"/>
              </a:ext>
            </a:extLst>
          </p:cNvPr>
          <p:cNvSpPr>
            <a:spLocks noGrp="1"/>
          </p:cNvSpPr>
          <p:nvPr>
            <p:ph type="sldNum" sz="quarter" idx="12"/>
          </p:nvPr>
        </p:nvSpPr>
        <p:spPr/>
        <p:txBody>
          <a:bodyPr/>
          <a:lstStyle/>
          <a:p>
            <a:fld id="{DC11BA4E-7967-4102-867C-9D230A2E6791}" type="slidenum">
              <a:rPr lang="zh-CN" altLang="en-US" smtClean="0"/>
              <a:t>26</a:t>
            </a:fld>
            <a:endParaRPr lang="zh-CN" altLang="en-US"/>
          </a:p>
        </p:txBody>
      </p:sp>
      <p:sp>
        <p:nvSpPr>
          <p:cNvPr id="24" name="Text Box 9">
            <a:extLst>
              <a:ext uri="{FF2B5EF4-FFF2-40B4-BE49-F238E27FC236}">
                <a16:creationId xmlns:a16="http://schemas.microsoft.com/office/drawing/2014/main" id="{E6DE8A0B-B317-4752-81E5-880A1AF7A98B}"/>
              </a:ext>
            </a:extLst>
          </p:cNvPr>
          <p:cNvSpPr txBox="1">
            <a:spLocks noChangeArrowheads="1"/>
          </p:cNvSpPr>
          <p:nvPr/>
        </p:nvSpPr>
        <p:spPr bwMode="auto">
          <a:xfrm>
            <a:off x="5427360" y="3965813"/>
            <a:ext cx="316812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15-10  </a:t>
            </a:r>
            <a:r>
              <a:rPr kumimoji="0" lang="zh-CN" altLang="en-US" b="1" dirty="0">
                <a:solidFill>
                  <a:srgbClr val="000099"/>
                </a:solidFill>
                <a:latin typeface="宋体" pitchFamily="2" charset="-122"/>
                <a:ea typeface="宋体" pitchFamily="2" charset="-122"/>
              </a:rPr>
              <a:t>量程误差</a:t>
            </a:r>
          </a:p>
        </p:txBody>
      </p:sp>
    </p:spTree>
    <p:extLst>
      <p:ext uri="{BB962C8B-B14F-4D97-AF65-F5344CB8AC3E}">
        <p14:creationId xmlns:p14="http://schemas.microsoft.com/office/powerpoint/2010/main" val="17768224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368663" y="1094260"/>
            <a:ext cx="6465093" cy="627546"/>
          </a:xfrm>
        </p:spPr>
        <p:txBody>
          <a:bodyPr>
            <a:noAutofit/>
          </a:bodyPr>
          <a:lstStyle/>
          <a:p>
            <a:pPr marL="0" indent="0" eaLnBrk="1" hangingPunct="1">
              <a:lnSpc>
                <a:spcPct val="150000"/>
              </a:lnSpc>
              <a:spcBef>
                <a:spcPts val="672"/>
              </a:spcBef>
              <a:buNone/>
              <a:defRPr/>
            </a:pPr>
            <a:r>
              <a:rPr lang="en-US" altLang="zh-CN" sz="2400" b="1" dirty="0">
                <a:latin typeface="Times New Roman" pitchFamily="18" charset="0"/>
                <a:ea typeface="宋体" pitchFamily="2" charset="-122"/>
                <a:cs typeface="Times New Roman" pitchFamily="18" charset="0"/>
              </a:rPr>
              <a:t>4</a:t>
            </a:r>
            <a:r>
              <a:rPr lang="zh-CN" altLang="en-US" sz="2400" b="1" dirty="0">
                <a:latin typeface="Times New Roman" pitchFamily="18" charset="0"/>
                <a:ea typeface="宋体" pitchFamily="2" charset="-122"/>
                <a:cs typeface="Times New Roman" pitchFamily="18" charset="0"/>
              </a:rPr>
              <a:t>．与仪表性能有关的常用术语</a:t>
            </a:r>
          </a:p>
        </p:txBody>
      </p:sp>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5" name="Text Box 6"/>
          <p:cNvSpPr txBox="1">
            <a:spLocks noChangeArrowheads="1"/>
          </p:cNvSpPr>
          <p:nvPr/>
        </p:nvSpPr>
        <p:spPr bwMode="auto">
          <a:xfrm>
            <a:off x="652008" y="1741938"/>
            <a:ext cx="7568266" cy="251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2"/>
                </a:solidFill>
                <a:latin typeface="Arial" charset="0"/>
                <a:ea typeface="宋体" charset="-122"/>
              </a:defRPr>
            </a:lvl1pPr>
            <a:lvl2pPr marL="742950" indent="-285750" eaLnBrk="0" hangingPunct="0">
              <a:defRPr b="1">
                <a:solidFill>
                  <a:schemeClr val="tx2"/>
                </a:solidFill>
                <a:latin typeface="Arial" charset="0"/>
                <a:ea typeface="宋体" charset="-122"/>
              </a:defRPr>
            </a:lvl2pPr>
            <a:lvl3pPr marL="1143000" indent="-228600" eaLnBrk="0" hangingPunct="0">
              <a:defRPr b="1">
                <a:solidFill>
                  <a:schemeClr val="tx2"/>
                </a:solidFill>
                <a:latin typeface="Arial" charset="0"/>
                <a:ea typeface="宋体" charset="-122"/>
              </a:defRPr>
            </a:lvl3pPr>
            <a:lvl4pPr marL="1600200" indent="-228600" eaLnBrk="0" hangingPunct="0">
              <a:defRPr b="1">
                <a:solidFill>
                  <a:schemeClr val="tx2"/>
                </a:solidFill>
                <a:latin typeface="Arial" charset="0"/>
                <a:ea typeface="宋体" charset="-122"/>
              </a:defRPr>
            </a:lvl4pPr>
            <a:lvl5pPr marL="2057400" indent="-228600" eaLnBrk="0" hangingPunct="0">
              <a:defRPr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defRPr b="1">
                <a:solidFill>
                  <a:schemeClr val="tx2"/>
                </a:solidFill>
                <a:latin typeface="Arial" charset="0"/>
                <a:ea typeface="宋体" charset="-122"/>
              </a:defRPr>
            </a:lvl9pPr>
          </a:lstStyle>
          <a:p>
            <a:pPr eaLnBrk="1" hangingPunct="1">
              <a:lnSpc>
                <a:spcPts val="3200"/>
              </a:lnSpc>
            </a:pPr>
            <a:r>
              <a:rPr lang="en-US" altLang="zh-CN" sz="2200" dirty="0">
                <a:solidFill>
                  <a:schemeClr val="tx1"/>
                </a:solidFill>
                <a:latin typeface="Times New Roman" pitchFamily="18" charset="0"/>
                <a:ea typeface="宋体" pitchFamily="2" charset="-122"/>
                <a:cs typeface="Times New Roman" pitchFamily="18" charset="0"/>
              </a:rPr>
              <a:t>④</a:t>
            </a:r>
            <a:r>
              <a:rPr lang="zh-CN" altLang="en-US" sz="2200" dirty="0">
                <a:solidFill>
                  <a:schemeClr val="tx1"/>
                </a:solidFill>
                <a:latin typeface="Times New Roman" pitchFamily="18" charset="0"/>
                <a:ea typeface="宋体" pitchFamily="2" charset="-122"/>
                <a:cs typeface="Times New Roman" pitchFamily="18" charset="0"/>
              </a:rPr>
              <a:t>准确度（正确度）</a:t>
            </a:r>
            <a:r>
              <a:rPr lang="el-GR" altLang="zh-CN" sz="2200" b="0" i="1" dirty="0">
                <a:solidFill>
                  <a:srgbClr val="FF0000"/>
                </a:solidFill>
                <a:latin typeface="Times New Roman" pitchFamily="18" charset="0"/>
                <a:ea typeface="宋体" pitchFamily="2" charset="-122"/>
                <a:cs typeface="Times New Roman" pitchFamily="18" charset="0"/>
              </a:rPr>
              <a:t>ε</a:t>
            </a:r>
          </a:p>
          <a:p>
            <a:pPr eaLnBrk="1" hangingPunct="1">
              <a:lnSpc>
                <a:spcPts val="3200"/>
              </a:lnSpc>
            </a:pPr>
            <a:r>
              <a:rPr lang="zh-CN" altLang="en-US" sz="2200" dirty="0">
                <a:solidFill>
                  <a:srgbClr val="FF0000"/>
                </a:solidFill>
                <a:latin typeface="Times New Roman" pitchFamily="18" charset="0"/>
                <a:ea typeface="宋体" pitchFamily="2" charset="-122"/>
                <a:cs typeface="Times New Roman" pitchFamily="18" charset="0"/>
              </a:rPr>
              <a:t>仪表指示值与真值的偏离程度</a:t>
            </a:r>
            <a:r>
              <a:rPr lang="zh-CN" altLang="en-US" sz="2200" dirty="0">
                <a:solidFill>
                  <a:schemeClr val="tx1"/>
                </a:solidFill>
                <a:latin typeface="Times New Roman" pitchFamily="18" charset="0"/>
                <a:ea typeface="宋体" pitchFamily="2" charset="-122"/>
                <a:cs typeface="Times New Roman" pitchFamily="18" charset="0"/>
              </a:rPr>
              <a:t>，表明系统误差的大小。</a:t>
            </a:r>
          </a:p>
          <a:p>
            <a:pPr eaLnBrk="1" hangingPunct="1">
              <a:lnSpc>
                <a:spcPts val="3200"/>
              </a:lnSpc>
            </a:pPr>
            <a:r>
              <a:rPr lang="zh-CN" altLang="en-US" sz="2200" dirty="0">
                <a:solidFill>
                  <a:schemeClr val="tx1"/>
                </a:solidFill>
                <a:latin typeface="Times New Roman" pitchFamily="18" charset="0"/>
                <a:ea typeface="宋体" pitchFamily="2" charset="-122"/>
                <a:cs typeface="Times New Roman" pitchFamily="18" charset="0"/>
              </a:rPr>
              <a:t>⑤精密度 </a:t>
            </a:r>
            <a:r>
              <a:rPr lang="el-GR" altLang="zh-CN" sz="2200" b="0" i="1" dirty="0">
                <a:solidFill>
                  <a:srgbClr val="0070C0"/>
                </a:solidFill>
                <a:latin typeface="Times New Roman" pitchFamily="18" charset="0"/>
                <a:ea typeface="宋体" pitchFamily="2" charset="-122"/>
                <a:cs typeface="Times New Roman" pitchFamily="18" charset="0"/>
              </a:rPr>
              <a:t>σ</a:t>
            </a:r>
            <a:endParaRPr lang="en-US" altLang="zh-CN" sz="2200" b="0" i="1" dirty="0">
              <a:solidFill>
                <a:srgbClr val="0070C0"/>
              </a:solidFill>
              <a:latin typeface="Times New Roman" pitchFamily="18" charset="0"/>
              <a:ea typeface="宋体" pitchFamily="2" charset="-122"/>
              <a:cs typeface="Times New Roman" pitchFamily="18" charset="0"/>
            </a:endParaRPr>
          </a:p>
          <a:p>
            <a:pPr eaLnBrk="1" hangingPunct="1">
              <a:lnSpc>
                <a:spcPts val="3200"/>
              </a:lnSpc>
            </a:pPr>
            <a:r>
              <a:rPr lang="zh-CN" altLang="el-GR" sz="2200" dirty="0">
                <a:solidFill>
                  <a:schemeClr val="tx1"/>
                </a:solidFill>
                <a:latin typeface="Times New Roman" pitchFamily="18" charset="0"/>
                <a:ea typeface="宋体" pitchFamily="2" charset="-122"/>
                <a:cs typeface="Times New Roman" pitchFamily="18" charset="0"/>
              </a:rPr>
              <a:t>同一人、同一仪表、很短时间、连续重复条件下，表明仪表</a:t>
            </a:r>
            <a:r>
              <a:rPr lang="zh-CN" altLang="el-GR" sz="2200" dirty="0">
                <a:solidFill>
                  <a:srgbClr val="FF0000"/>
                </a:solidFill>
                <a:latin typeface="Times New Roman" pitchFamily="18" charset="0"/>
                <a:ea typeface="宋体" pitchFamily="2" charset="-122"/>
                <a:cs typeface="Times New Roman" pitchFamily="18" charset="0"/>
              </a:rPr>
              <a:t>指示值的分散性</a:t>
            </a:r>
            <a:r>
              <a:rPr lang="zh-CN" altLang="el-GR" sz="2200" dirty="0">
                <a:solidFill>
                  <a:schemeClr val="tx1"/>
                </a:solidFill>
                <a:latin typeface="Times New Roman" pitchFamily="18" charset="0"/>
                <a:ea typeface="宋体" pitchFamily="2" charset="-122"/>
                <a:cs typeface="Times New Roman" pitchFamily="18" charset="0"/>
              </a:rPr>
              <a:t>，</a:t>
            </a:r>
            <a:r>
              <a:rPr lang="zh-CN" altLang="en-US" sz="2200" dirty="0">
                <a:solidFill>
                  <a:schemeClr val="tx1"/>
                </a:solidFill>
                <a:latin typeface="Times New Roman" pitchFamily="18" charset="0"/>
                <a:ea typeface="宋体" pitchFamily="2" charset="-122"/>
                <a:cs typeface="Times New Roman" pitchFamily="18" charset="0"/>
              </a:rPr>
              <a:t>与</a:t>
            </a:r>
            <a:r>
              <a:rPr lang="zh-CN" altLang="el-GR" sz="2200" dirty="0">
                <a:solidFill>
                  <a:schemeClr val="tx1"/>
                </a:solidFill>
                <a:latin typeface="Times New Roman" pitchFamily="18" charset="0"/>
                <a:ea typeface="宋体" pitchFamily="2" charset="-122"/>
                <a:cs typeface="Times New Roman" pitchFamily="18" charset="0"/>
              </a:rPr>
              <a:t>随机误差</a:t>
            </a:r>
            <a:r>
              <a:rPr lang="zh-CN" altLang="en-US" sz="2200" dirty="0">
                <a:solidFill>
                  <a:schemeClr val="tx1"/>
                </a:solidFill>
                <a:latin typeface="Times New Roman" pitchFamily="18" charset="0"/>
                <a:ea typeface="宋体" pitchFamily="2" charset="-122"/>
                <a:cs typeface="Times New Roman" pitchFamily="18" charset="0"/>
              </a:rPr>
              <a:t>相关</a:t>
            </a:r>
            <a:r>
              <a:rPr lang="zh-CN" altLang="el-GR" sz="2200" dirty="0">
                <a:solidFill>
                  <a:schemeClr val="tx1"/>
                </a:solidFill>
                <a:latin typeface="Times New Roman" pitchFamily="18" charset="0"/>
                <a:ea typeface="宋体" pitchFamily="2" charset="-122"/>
                <a:cs typeface="Times New Roman" pitchFamily="18" charset="0"/>
              </a:rPr>
              <a:t>。</a:t>
            </a:r>
            <a:endParaRPr lang="zh-CN" altLang="en-US" sz="2200" dirty="0">
              <a:solidFill>
                <a:schemeClr val="tx1"/>
              </a:solidFill>
              <a:latin typeface="Times New Roman" pitchFamily="18" charset="0"/>
              <a:ea typeface="宋体" pitchFamily="2" charset="-122"/>
              <a:cs typeface="Times New Roman" pitchFamily="18" charset="0"/>
            </a:endParaRPr>
          </a:p>
          <a:p>
            <a:pPr eaLnBrk="1" hangingPunct="1">
              <a:lnSpc>
                <a:spcPts val="3200"/>
              </a:lnSpc>
            </a:pPr>
            <a:r>
              <a:rPr lang="zh-CN" altLang="en-US" sz="2200" dirty="0">
                <a:solidFill>
                  <a:schemeClr val="tx1"/>
                </a:solidFill>
                <a:latin typeface="Times New Roman" pitchFamily="18" charset="0"/>
                <a:ea typeface="宋体" pitchFamily="2" charset="-122"/>
                <a:cs typeface="Times New Roman" pitchFamily="18" charset="0"/>
              </a:rPr>
              <a:t>⑥精确度</a:t>
            </a:r>
            <a:r>
              <a:rPr lang="el-GR" altLang="zh-CN" sz="2200" b="0" i="1" dirty="0">
                <a:solidFill>
                  <a:schemeClr val="tx1"/>
                </a:solidFill>
                <a:latin typeface="Times New Roman" pitchFamily="18" charset="0"/>
                <a:ea typeface="宋体" pitchFamily="2" charset="-122"/>
                <a:cs typeface="Times New Roman" pitchFamily="18" charset="0"/>
              </a:rPr>
              <a:t>τ</a:t>
            </a:r>
            <a:r>
              <a:rPr lang="zh-CN" altLang="el-GR" sz="2200" dirty="0">
                <a:solidFill>
                  <a:schemeClr val="tx1"/>
                </a:solidFill>
                <a:latin typeface="Times New Roman" pitchFamily="18" charset="0"/>
                <a:ea typeface="宋体" pitchFamily="2" charset="-122"/>
                <a:cs typeface="Times New Roman" pitchFamily="18" charset="0"/>
              </a:rPr>
              <a:t>，</a:t>
            </a:r>
            <a:r>
              <a:rPr lang="zh-CN" altLang="en-US" sz="2200" dirty="0">
                <a:solidFill>
                  <a:schemeClr val="tx1"/>
                </a:solidFill>
                <a:latin typeface="Times New Roman" pitchFamily="18" charset="0"/>
                <a:ea typeface="宋体" pitchFamily="2" charset="-122"/>
                <a:cs typeface="Times New Roman" pitchFamily="18" charset="0"/>
              </a:rPr>
              <a:t>一般地 </a:t>
            </a:r>
            <a:r>
              <a:rPr lang="zh-CN" altLang="en-US" sz="2200" b="0" dirty="0">
                <a:solidFill>
                  <a:schemeClr val="tx1"/>
                </a:solidFill>
                <a:latin typeface="Times New Roman" pitchFamily="18" charset="0"/>
                <a:ea typeface="宋体" pitchFamily="2" charset="-122"/>
                <a:cs typeface="Times New Roman" pitchFamily="18" charset="0"/>
              </a:rPr>
              <a:t> </a:t>
            </a:r>
            <a:r>
              <a:rPr lang="el-GR" altLang="zh-CN" sz="2200" b="0" i="1" dirty="0">
                <a:solidFill>
                  <a:schemeClr val="tx1"/>
                </a:solidFill>
                <a:latin typeface="Times New Roman" pitchFamily="18" charset="0"/>
                <a:ea typeface="宋体" pitchFamily="2" charset="-122"/>
                <a:cs typeface="Times New Roman" pitchFamily="18" charset="0"/>
              </a:rPr>
              <a:t>τ</a:t>
            </a:r>
            <a:r>
              <a:rPr lang="en-US" altLang="zh-CN" sz="2200" b="0" i="1" dirty="0">
                <a:solidFill>
                  <a:schemeClr val="tx1"/>
                </a:solidFill>
                <a:latin typeface="Times New Roman" pitchFamily="18" charset="0"/>
                <a:ea typeface="宋体" pitchFamily="2" charset="-122"/>
                <a:cs typeface="Times New Roman" pitchFamily="18" charset="0"/>
              </a:rPr>
              <a:t> </a:t>
            </a:r>
            <a:r>
              <a:rPr lang="en-US" altLang="zh-CN" sz="2200" dirty="0">
                <a:solidFill>
                  <a:schemeClr val="tx1"/>
                </a:solidFill>
                <a:latin typeface="Times New Roman" pitchFamily="18" charset="0"/>
                <a:ea typeface="宋体" pitchFamily="2" charset="-122"/>
                <a:cs typeface="Times New Roman" pitchFamily="18" charset="0"/>
              </a:rPr>
              <a:t>= </a:t>
            </a:r>
            <a:r>
              <a:rPr lang="el-GR" altLang="zh-CN" sz="2200" b="0" i="1" dirty="0">
                <a:solidFill>
                  <a:schemeClr val="tx1"/>
                </a:solidFill>
                <a:latin typeface="Times New Roman" pitchFamily="18" charset="0"/>
                <a:ea typeface="宋体" pitchFamily="2" charset="-122"/>
                <a:cs typeface="Times New Roman" pitchFamily="18" charset="0"/>
              </a:rPr>
              <a:t>ε</a:t>
            </a:r>
            <a:r>
              <a:rPr lang="en-US" altLang="zh-CN" sz="2200" b="0" i="1" dirty="0">
                <a:solidFill>
                  <a:schemeClr val="tx1"/>
                </a:solidFill>
                <a:latin typeface="Times New Roman" pitchFamily="18" charset="0"/>
                <a:ea typeface="宋体" pitchFamily="2" charset="-122"/>
                <a:cs typeface="Times New Roman" pitchFamily="18" charset="0"/>
              </a:rPr>
              <a:t> </a:t>
            </a:r>
            <a:r>
              <a:rPr lang="en-US" altLang="zh-CN" sz="2200" dirty="0">
                <a:solidFill>
                  <a:schemeClr val="tx1"/>
                </a:solidFill>
                <a:latin typeface="Times New Roman" pitchFamily="18" charset="0"/>
                <a:ea typeface="宋体" pitchFamily="2" charset="-122"/>
                <a:cs typeface="Times New Roman" pitchFamily="18" charset="0"/>
              </a:rPr>
              <a:t>+ </a:t>
            </a:r>
            <a:r>
              <a:rPr lang="el-GR" altLang="zh-CN" sz="2200" b="0" i="1" dirty="0">
                <a:solidFill>
                  <a:schemeClr val="tx1"/>
                </a:solidFill>
                <a:latin typeface="Times New Roman" pitchFamily="18" charset="0"/>
                <a:ea typeface="宋体" pitchFamily="2" charset="-122"/>
                <a:cs typeface="Times New Roman" pitchFamily="18" charset="0"/>
              </a:rPr>
              <a:t>σ</a:t>
            </a:r>
            <a:endParaRPr lang="en-US" altLang="zh-CN" sz="2200" b="0" i="1" dirty="0">
              <a:solidFill>
                <a:schemeClr val="tx1"/>
              </a:solidFill>
              <a:latin typeface="Times New Roman" pitchFamily="18" charset="0"/>
              <a:ea typeface="宋体" pitchFamily="2" charset="-122"/>
              <a:cs typeface="Times New Roman" pitchFamily="18" charset="0"/>
            </a:endParaRPr>
          </a:p>
        </p:txBody>
      </p:sp>
      <p:graphicFrame>
        <p:nvGraphicFramePr>
          <p:cNvPr id="41" name="Object 7"/>
          <p:cNvGraphicFramePr>
            <a:graphicFrameLocks noChangeAspect="1"/>
          </p:cNvGraphicFramePr>
          <p:nvPr>
            <p:extLst>
              <p:ext uri="{D42A27DB-BD31-4B8C-83A1-F6EECF244321}">
                <p14:modId xmlns:p14="http://schemas.microsoft.com/office/powerpoint/2010/main" val="2593695439"/>
              </p:ext>
            </p:extLst>
          </p:nvPr>
        </p:nvGraphicFramePr>
        <p:xfrm>
          <a:off x="4388100" y="3951946"/>
          <a:ext cx="4456326" cy="716621"/>
        </p:xfrm>
        <a:graphic>
          <a:graphicData uri="http://schemas.openxmlformats.org/presentationml/2006/ole">
            <mc:AlternateContent xmlns:mc="http://schemas.openxmlformats.org/markup-compatibility/2006">
              <mc:Choice xmlns:v="urn:schemas-microsoft-com:vml" Requires="v">
                <p:oleObj name="Equation" r:id="rId3" imgW="3517560" imgH="533160" progId="Equation.DSMT4">
                  <p:embed/>
                </p:oleObj>
              </mc:Choice>
              <mc:Fallback>
                <p:oleObj name="Equation" r:id="rId3" imgW="3517560" imgH="533160" progId="Equation.DSMT4">
                  <p:embed/>
                  <p:pic>
                    <p:nvPicPr>
                      <p:cNvPr id="0" name=""/>
                      <p:cNvPicPr>
                        <a:picLocks noChangeAspect="1" noChangeArrowheads="1"/>
                      </p:cNvPicPr>
                      <p:nvPr/>
                    </p:nvPicPr>
                    <p:blipFill>
                      <a:blip r:embed="rId4">
                        <a:grayscl/>
                        <a:biLevel thresh="50000"/>
                      </a:blip>
                      <a:srcRect/>
                      <a:stretch>
                        <a:fillRect/>
                      </a:stretch>
                    </p:blipFill>
                    <p:spPr bwMode="auto">
                      <a:xfrm>
                        <a:off x="4388100" y="3951946"/>
                        <a:ext cx="4456326" cy="716621"/>
                      </a:xfrm>
                      <a:prstGeom prst="rect">
                        <a:avLst/>
                      </a:prstGeom>
                      <a:noFill/>
                      <a:ln w="28575">
                        <a:solidFill>
                          <a:srgbClr val="0000FF"/>
                        </a:solidFill>
                        <a:prstDash val="sysDash"/>
                        <a:miter lim="800000"/>
                        <a:headEnd/>
                        <a:tailEnd/>
                      </a:ln>
                    </p:spPr>
                  </p:pic>
                </p:oleObj>
              </mc:Fallback>
            </mc:AlternateContent>
          </a:graphicData>
        </a:graphic>
      </p:graphicFrame>
      <p:sp>
        <p:nvSpPr>
          <p:cNvPr id="2" name="Slide Number Placeholder 1">
            <a:extLst>
              <a:ext uri="{FF2B5EF4-FFF2-40B4-BE49-F238E27FC236}">
                <a16:creationId xmlns:a16="http://schemas.microsoft.com/office/drawing/2014/main" id="{E059B430-CDF6-4DE3-A834-74EB4FFAD2CE}"/>
              </a:ext>
            </a:extLst>
          </p:cNvPr>
          <p:cNvSpPr>
            <a:spLocks noGrp="1"/>
          </p:cNvSpPr>
          <p:nvPr>
            <p:ph type="sldNum" sz="quarter" idx="12"/>
          </p:nvPr>
        </p:nvSpPr>
        <p:spPr/>
        <p:txBody>
          <a:bodyPr/>
          <a:lstStyle/>
          <a:p>
            <a:fld id="{DC11BA4E-7967-4102-867C-9D230A2E6791}" type="slidenum">
              <a:rPr lang="zh-CN" altLang="en-US" smtClean="0"/>
              <a:t>27</a:t>
            </a:fld>
            <a:endParaRPr lang="zh-CN" altLang="en-US"/>
          </a:p>
        </p:txBody>
      </p:sp>
      <p:pic>
        <p:nvPicPr>
          <p:cNvPr id="9" name="Picture 2">
            <a:extLst>
              <a:ext uri="{FF2B5EF4-FFF2-40B4-BE49-F238E27FC236}">
                <a16:creationId xmlns:a16="http://schemas.microsoft.com/office/drawing/2014/main" id="{80830DA2-4DEC-40D4-8E6E-AD5A084DF6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58" y="4586347"/>
            <a:ext cx="3649509" cy="18707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31E357DA-CBA7-4B76-9114-F31E278597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6236" y="4762500"/>
            <a:ext cx="1253658" cy="125365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a:extLst>
              <a:ext uri="{FF2B5EF4-FFF2-40B4-BE49-F238E27FC236}">
                <a16:creationId xmlns:a16="http://schemas.microsoft.com/office/drawing/2014/main" id="{E976FC4C-C7F5-46AC-9A26-BF16C478DF5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21105" y="4762498"/>
            <a:ext cx="1253659" cy="125365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E892C33-287E-4E46-9E08-CEE744208492}"/>
              </a:ext>
            </a:extLst>
          </p:cNvPr>
          <p:cNvSpPr txBox="1"/>
          <p:nvPr/>
        </p:nvSpPr>
        <p:spPr>
          <a:xfrm>
            <a:off x="3884313" y="6050152"/>
            <a:ext cx="2396290" cy="646331"/>
          </a:xfrm>
          <a:prstGeom prst="rect">
            <a:avLst/>
          </a:prstGeom>
          <a:noFill/>
        </p:spPr>
        <p:txBody>
          <a:bodyPr wrap="square">
            <a:spAutoFit/>
          </a:bodyPr>
          <a:lstStyle/>
          <a:p>
            <a:r>
              <a:rPr lang="en-001">
                <a:latin typeface="palatino"/>
              </a:rPr>
              <a:t>Low accuracy due to low precision</a:t>
            </a:r>
          </a:p>
        </p:txBody>
      </p:sp>
      <p:sp>
        <p:nvSpPr>
          <p:cNvPr id="13" name="TextBox 12">
            <a:extLst>
              <a:ext uri="{FF2B5EF4-FFF2-40B4-BE49-F238E27FC236}">
                <a16:creationId xmlns:a16="http://schemas.microsoft.com/office/drawing/2014/main" id="{CFF2C577-824C-460C-902B-6F6EFBA6A86A}"/>
              </a:ext>
            </a:extLst>
          </p:cNvPr>
          <p:cNvSpPr txBox="1"/>
          <p:nvPr/>
        </p:nvSpPr>
        <p:spPr>
          <a:xfrm>
            <a:off x="6376526" y="6050152"/>
            <a:ext cx="2709111" cy="646331"/>
          </a:xfrm>
          <a:prstGeom prst="rect">
            <a:avLst/>
          </a:prstGeom>
          <a:noFill/>
        </p:spPr>
        <p:txBody>
          <a:bodyPr wrap="square">
            <a:spAutoFit/>
          </a:bodyPr>
          <a:lstStyle>
            <a:defPPr>
              <a:defRPr lang="zh-CN"/>
            </a:defPPr>
            <a:lvl1pPr>
              <a:defRPr>
                <a:latin typeface="palatino"/>
              </a:defRPr>
            </a:lvl1pPr>
          </a:lstStyle>
          <a:p>
            <a:r>
              <a:rPr lang="en-001"/>
              <a:t>Low accuracy even with high precision</a:t>
            </a:r>
          </a:p>
        </p:txBody>
      </p:sp>
    </p:spTree>
    <p:extLst>
      <p:ext uri="{BB962C8B-B14F-4D97-AF65-F5344CB8AC3E}">
        <p14:creationId xmlns:p14="http://schemas.microsoft.com/office/powerpoint/2010/main" val="305718880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232791" y="1824912"/>
            <a:ext cx="3349081" cy="452487"/>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85083" y="1318273"/>
            <a:ext cx="8394374" cy="3731954"/>
          </a:xfrm>
        </p:spPr>
        <p:txBody>
          <a:bodyPr>
            <a:noAutofit/>
          </a:bodyPr>
          <a:lstStyle/>
          <a:p>
            <a:pPr marL="0" indent="0" eaLnBrk="1" hangingPunct="1">
              <a:lnSpc>
                <a:spcPts val="3100"/>
              </a:lnSpc>
              <a:spcBef>
                <a:spcPts val="672"/>
              </a:spcBef>
              <a:buNone/>
              <a:defRPr/>
            </a:pPr>
            <a:r>
              <a:rPr lang="en-US" altLang="zh-CN" sz="2400" b="1" dirty="0">
                <a:latin typeface="宋体" pitchFamily="2" charset="-122"/>
                <a:ea typeface="宋体" pitchFamily="2" charset="-122"/>
                <a:cs typeface="Arial" panose="020B0604020202020204" pitchFamily="34" charset="0"/>
              </a:rPr>
              <a:t>5</a:t>
            </a:r>
            <a:r>
              <a:rPr lang="zh-CN" altLang="en-US" sz="2400" b="1" dirty="0">
                <a:latin typeface="宋体" pitchFamily="2" charset="-122"/>
                <a:ea typeface="宋体" pitchFamily="2" charset="-122"/>
                <a:cs typeface="Arial" panose="020B0604020202020204" pitchFamily="34" charset="0"/>
              </a:rPr>
              <a:t>．常见的系统误差及降低其对测量结果影响的方法</a:t>
            </a:r>
          </a:p>
          <a:p>
            <a:pPr marL="0" indent="0" eaLnBrk="1" hangingPunct="1">
              <a:lnSpc>
                <a:spcPts val="3100"/>
              </a:lnSpc>
              <a:spcBef>
                <a:spcPts val="672"/>
              </a:spcBef>
              <a:buNone/>
              <a:defRPr/>
            </a:pPr>
            <a:r>
              <a:rPr lang="zh-CN" altLang="en-US" sz="2400" b="1" dirty="0">
                <a:latin typeface="宋体" pitchFamily="2" charset="-122"/>
                <a:ea typeface="宋体" pitchFamily="2" charset="-122"/>
                <a:cs typeface="Arial" panose="020B0604020202020204" pitchFamily="34" charset="0"/>
              </a:rPr>
              <a:t>① 系统误差出现的原因</a:t>
            </a:r>
          </a:p>
          <a:p>
            <a:pPr marL="0" indent="0" eaLnBrk="1" hangingPunct="1">
              <a:lnSpc>
                <a:spcPts val="3100"/>
              </a:lnSpc>
              <a:spcBef>
                <a:spcPts val="672"/>
              </a:spcBef>
              <a:buNone/>
              <a:defRPr/>
            </a:pPr>
            <a:r>
              <a:rPr lang="zh-CN" altLang="en-US" sz="2400" b="1" dirty="0">
                <a:solidFill>
                  <a:srgbClr val="0000FF"/>
                </a:solidFill>
                <a:latin typeface="宋体" pitchFamily="2" charset="-122"/>
                <a:ea typeface="宋体" pitchFamily="2" charset="-122"/>
                <a:cs typeface="Arial" panose="020B0604020202020204" pitchFamily="34" charset="0"/>
              </a:rPr>
              <a:t>工具误差</a:t>
            </a:r>
            <a:r>
              <a:rPr lang="en-US" altLang="zh-CN" sz="2400" b="1" dirty="0">
                <a:solidFill>
                  <a:srgbClr val="0000FF"/>
                </a:solidFill>
                <a:latin typeface="宋体" pitchFamily="2" charset="-122"/>
                <a:ea typeface="宋体" pitchFamily="2" charset="-122"/>
                <a:cs typeface="Arial" panose="020B0604020202020204" pitchFamily="34" charset="0"/>
              </a:rPr>
              <a:t>(</a:t>
            </a:r>
            <a:r>
              <a:rPr lang="zh-CN" altLang="en-US" sz="2400" b="1" dirty="0">
                <a:solidFill>
                  <a:srgbClr val="0000FF"/>
                </a:solidFill>
                <a:latin typeface="宋体" pitchFamily="2" charset="-122"/>
                <a:ea typeface="宋体" pitchFamily="2" charset="-122"/>
                <a:cs typeface="Arial" panose="020B0604020202020204" pitchFamily="34" charset="0"/>
              </a:rPr>
              <a:t>又称仪器误差或仪表误差</a:t>
            </a:r>
            <a:r>
              <a:rPr lang="en-US" altLang="zh-CN" sz="2400" b="1" dirty="0">
                <a:solidFill>
                  <a:srgbClr val="0000FF"/>
                </a:solidFill>
                <a:latin typeface="宋体" pitchFamily="2" charset="-122"/>
                <a:ea typeface="宋体" pitchFamily="2" charset="-122"/>
                <a:cs typeface="Arial" panose="020B0604020202020204" pitchFamily="34" charset="0"/>
              </a:rPr>
              <a:t>)</a:t>
            </a:r>
            <a:r>
              <a:rPr lang="zh-CN" altLang="en-US" sz="2400" b="1" dirty="0">
                <a:latin typeface="宋体" pitchFamily="2" charset="-122"/>
                <a:ea typeface="宋体" pitchFamily="2" charset="-122"/>
                <a:cs typeface="Arial" panose="020B0604020202020204" pitchFamily="34" charset="0"/>
              </a:rPr>
              <a:t>：由于测量仪表或仪表组成元件本身不完善引起的误差；</a:t>
            </a:r>
          </a:p>
          <a:p>
            <a:pPr marL="1527175" indent="-1527175" eaLnBrk="1" hangingPunct="1">
              <a:lnSpc>
                <a:spcPts val="3100"/>
              </a:lnSpc>
              <a:spcBef>
                <a:spcPts val="672"/>
              </a:spcBef>
              <a:buNone/>
              <a:defRPr/>
            </a:pPr>
            <a:r>
              <a:rPr lang="zh-CN" altLang="en-US" sz="2400" b="1" dirty="0">
                <a:solidFill>
                  <a:srgbClr val="0000FF"/>
                </a:solidFill>
                <a:latin typeface="宋体" pitchFamily="2" charset="-122"/>
                <a:ea typeface="宋体" pitchFamily="2" charset="-122"/>
                <a:cs typeface="Arial" panose="020B0604020202020204" pitchFamily="34" charset="0"/>
              </a:rPr>
              <a:t>方法误差</a:t>
            </a:r>
            <a:r>
              <a:rPr lang="zh-CN" altLang="en-US" sz="2400" b="1" dirty="0">
                <a:latin typeface="宋体" pitchFamily="2" charset="-122"/>
                <a:ea typeface="宋体" pitchFamily="2" charset="-122"/>
                <a:cs typeface="Arial" panose="020B0604020202020204" pitchFamily="34" charset="0"/>
              </a:rPr>
              <a:t>：由于对测量方法研究的不够所引起的误差；</a:t>
            </a:r>
          </a:p>
          <a:p>
            <a:pPr marL="1527175" indent="-1527175" eaLnBrk="1" hangingPunct="1">
              <a:lnSpc>
                <a:spcPts val="3100"/>
              </a:lnSpc>
              <a:spcBef>
                <a:spcPts val="672"/>
              </a:spcBef>
              <a:buNone/>
              <a:defRPr/>
            </a:pPr>
            <a:r>
              <a:rPr lang="zh-CN" altLang="en-US" sz="2400" b="1" dirty="0">
                <a:solidFill>
                  <a:srgbClr val="0000FF"/>
                </a:solidFill>
                <a:latin typeface="宋体" pitchFamily="2" charset="-122"/>
                <a:ea typeface="宋体" pitchFamily="2" charset="-122"/>
                <a:cs typeface="Arial" panose="020B0604020202020204" pitchFamily="34" charset="0"/>
              </a:rPr>
              <a:t>定义误差</a:t>
            </a:r>
            <a:r>
              <a:rPr lang="zh-CN" altLang="en-US" sz="2400" b="1" dirty="0">
                <a:latin typeface="宋体" pitchFamily="2" charset="-122"/>
                <a:ea typeface="宋体" pitchFamily="2" charset="-122"/>
                <a:cs typeface="Arial" panose="020B0604020202020204" pitchFamily="34" charset="0"/>
              </a:rPr>
              <a:t>：由于对被测量的定义不够明确而形成的误差；</a:t>
            </a:r>
          </a:p>
          <a:p>
            <a:pPr marL="1524000" indent="-1524000" eaLnBrk="1" hangingPunct="1">
              <a:lnSpc>
                <a:spcPts val="3100"/>
              </a:lnSpc>
              <a:spcBef>
                <a:spcPts val="672"/>
              </a:spcBef>
              <a:buNone/>
              <a:defRPr/>
            </a:pPr>
            <a:r>
              <a:rPr lang="zh-CN" altLang="en-US" sz="2400" b="1" dirty="0">
                <a:solidFill>
                  <a:srgbClr val="0000FF"/>
                </a:solidFill>
                <a:latin typeface="宋体" pitchFamily="2" charset="-122"/>
                <a:ea typeface="宋体" pitchFamily="2" charset="-122"/>
                <a:cs typeface="Arial" panose="020B0604020202020204" pitchFamily="34" charset="0"/>
              </a:rPr>
              <a:t>理论误差</a:t>
            </a:r>
            <a:r>
              <a:rPr lang="zh-CN" altLang="en-US" sz="2400" b="1" dirty="0">
                <a:latin typeface="宋体" pitchFamily="2" charset="-122"/>
                <a:ea typeface="宋体" pitchFamily="2" charset="-122"/>
                <a:cs typeface="Arial" panose="020B0604020202020204" pitchFamily="34" charset="0"/>
              </a:rPr>
              <a:t>：由于测量理论本身不够完善，而只能进行近似的测量所引起的误差。</a:t>
            </a:r>
          </a:p>
        </p:txBody>
      </p:sp>
      <p:pic>
        <p:nvPicPr>
          <p:cNvPr id="22" name="图片 2">
            <a:extLst>
              <a:ext uri="{FF2B5EF4-FFF2-40B4-BE49-F238E27FC236}">
                <a16:creationId xmlns:a16="http://schemas.microsoft.com/office/drawing/2014/main" id="{01A27AB5-6494-4683-B486-B8C558BE90F5}"/>
              </a:ext>
            </a:extLst>
          </p:cNvPr>
          <p:cNvPicPr>
            <a:picLocks noChangeAspect="1"/>
          </p:cNvPicPr>
          <p:nvPr/>
        </p:nvPicPr>
        <p:blipFill>
          <a:blip r:embed="rId3"/>
          <a:stretch>
            <a:fillRect/>
          </a:stretch>
        </p:blipFill>
        <p:spPr>
          <a:xfrm>
            <a:off x="319508" y="4867201"/>
            <a:ext cx="4451070" cy="1678680"/>
          </a:xfrm>
          <a:prstGeom prst="rect">
            <a:avLst/>
          </a:prstGeom>
        </p:spPr>
      </p:pic>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 name="Slide Number Placeholder 1">
            <a:extLst>
              <a:ext uri="{FF2B5EF4-FFF2-40B4-BE49-F238E27FC236}">
                <a16:creationId xmlns:a16="http://schemas.microsoft.com/office/drawing/2014/main" id="{98A060AB-869C-430E-8529-448DF61612ED}"/>
              </a:ext>
            </a:extLst>
          </p:cNvPr>
          <p:cNvSpPr>
            <a:spLocks noGrp="1"/>
          </p:cNvSpPr>
          <p:nvPr>
            <p:ph type="sldNum" sz="quarter" idx="12"/>
          </p:nvPr>
        </p:nvSpPr>
        <p:spPr/>
        <p:txBody>
          <a:bodyPr/>
          <a:lstStyle/>
          <a:p>
            <a:fld id="{DC11BA4E-7967-4102-867C-9D230A2E6791}" type="slidenum">
              <a:rPr lang="zh-CN" altLang="en-US" smtClean="0"/>
              <a:t>28</a:t>
            </a:fld>
            <a:endParaRPr lang="zh-CN" altLang="en-US"/>
          </a:p>
        </p:txBody>
      </p:sp>
      <p:sp>
        <p:nvSpPr>
          <p:cNvPr id="21" name="Text Box 9">
            <a:extLst>
              <a:ext uri="{FF2B5EF4-FFF2-40B4-BE49-F238E27FC236}">
                <a16:creationId xmlns:a16="http://schemas.microsoft.com/office/drawing/2014/main" id="{BB3B738F-6525-45BF-A817-D0902ED4DB31}"/>
              </a:ext>
            </a:extLst>
          </p:cNvPr>
          <p:cNvSpPr txBox="1">
            <a:spLocks noChangeArrowheads="1"/>
          </p:cNvSpPr>
          <p:nvPr/>
        </p:nvSpPr>
        <p:spPr bwMode="auto">
          <a:xfrm>
            <a:off x="4954917" y="5475709"/>
            <a:ext cx="38546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15-11  </a:t>
            </a:r>
            <a:r>
              <a:rPr kumimoji="0" lang="zh-CN" altLang="en-US" b="1" dirty="0">
                <a:solidFill>
                  <a:srgbClr val="000099"/>
                </a:solidFill>
                <a:latin typeface="宋体" pitchFamily="2" charset="-122"/>
                <a:ea typeface="宋体" pitchFamily="2" charset="-122"/>
              </a:rPr>
              <a:t>随机振动的波形</a:t>
            </a:r>
          </a:p>
        </p:txBody>
      </p:sp>
    </p:spTree>
    <p:extLst>
      <p:ext uri="{BB962C8B-B14F-4D97-AF65-F5344CB8AC3E}">
        <p14:creationId xmlns:p14="http://schemas.microsoft.com/office/powerpoint/2010/main" val="19017934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482711" y="1443352"/>
            <a:ext cx="7960250" cy="2715180"/>
          </a:xfrm>
        </p:spPr>
        <p:txBody>
          <a:bodyPr>
            <a:noAutofit/>
          </a:bodyPr>
          <a:lstStyle/>
          <a:p>
            <a:pPr marL="0" indent="0" eaLnBrk="1" hangingPunct="1">
              <a:lnSpc>
                <a:spcPts val="3800"/>
              </a:lnSpc>
              <a:spcBef>
                <a:spcPts val="672"/>
              </a:spcBef>
              <a:buNone/>
              <a:defRPr/>
            </a:pPr>
            <a:r>
              <a:rPr lang="en-US" altLang="zh-CN" sz="2400" b="1" dirty="0">
                <a:latin typeface="宋体" pitchFamily="2" charset="-122"/>
                <a:ea typeface="宋体" pitchFamily="2" charset="-122"/>
                <a:cs typeface="Arial" panose="020B0604020202020204" pitchFamily="34" charset="0"/>
              </a:rPr>
              <a:t>5</a:t>
            </a:r>
            <a:r>
              <a:rPr lang="zh-CN" altLang="en-US" sz="2400" b="1" dirty="0">
                <a:latin typeface="宋体" pitchFamily="2" charset="-122"/>
                <a:ea typeface="宋体" pitchFamily="2" charset="-122"/>
                <a:cs typeface="Arial" panose="020B0604020202020204" pitchFamily="34" charset="0"/>
              </a:rPr>
              <a:t>．常见的系统误差及降低其对测量结果影响的方法</a:t>
            </a:r>
          </a:p>
          <a:p>
            <a:pPr>
              <a:lnSpc>
                <a:spcPts val="3800"/>
              </a:lnSpc>
              <a:spcBef>
                <a:spcPts val="672"/>
              </a:spcBef>
              <a:defRPr/>
            </a:pPr>
            <a:r>
              <a:rPr lang="zh-CN" altLang="en-US" sz="2400" b="1" dirty="0">
                <a:solidFill>
                  <a:srgbClr val="0000FF"/>
                </a:solidFill>
                <a:latin typeface="宋体" pitchFamily="2" charset="-122"/>
                <a:ea typeface="宋体" pitchFamily="2" charset="-122"/>
                <a:cs typeface="Arial" panose="020B0604020202020204" pitchFamily="34" charset="0"/>
              </a:rPr>
              <a:t>环境误差</a:t>
            </a:r>
            <a:r>
              <a:rPr lang="zh-CN" altLang="en-US" sz="2400" b="1" dirty="0">
                <a:latin typeface="宋体" pitchFamily="2" charset="-122"/>
                <a:ea typeface="宋体" pitchFamily="2" charset="-122"/>
                <a:cs typeface="Arial" panose="020B0604020202020204" pitchFamily="34" charset="0"/>
              </a:rPr>
              <a:t>：由于测量仪表工作环境</a:t>
            </a:r>
            <a:r>
              <a:rPr lang="en-US" altLang="zh-CN" sz="2400" b="1" dirty="0">
                <a:latin typeface="宋体" pitchFamily="2" charset="-122"/>
                <a:ea typeface="宋体" pitchFamily="2" charset="-122"/>
                <a:cs typeface="Arial" panose="020B0604020202020204" pitchFamily="34" charset="0"/>
              </a:rPr>
              <a:t>(</a:t>
            </a:r>
            <a:r>
              <a:rPr lang="zh-CN" altLang="en-US" sz="2400" b="1" dirty="0">
                <a:latin typeface="宋体" pitchFamily="2" charset="-122"/>
                <a:ea typeface="宋体" pitchFamily="2" charset="-122"/>
                <a:cs typeface="Arial" panose="020B0604020202020204" pitchFamily="34" charset="0"/>
              </a:rPr>
              <a:t>温度、气压、湿度</a:t>
            </a:r>
            <a:r>
              <a:rPr lang="zh-CN" altLang="en-US" sz="2400" b="1">
                <a:latin typeface="宋体" pitchFamily="2" charset="-122"/>
                <a:ea typeface="宋体" pitchFamily="2" charset="-122"/>
                <a:cs typeface="Arial" panose="020B0604020202020204" pitchFamily="34" charset="0"/>
              </a:rPr>
              <a:t>等</a:t>
            </a:r>
            <a:r>
              <a:rPr lang="en-US" altLang="zh-CN" sz="2400" b="1">
                <a:latin typeface="宋体" pitchFamily="2" charset="-122"/>
                <a:ea typeface="宋体" pitchFamily="2" charset="-122"/>
                <a:cs typeface="Arial" panose="020B0604020202020204" pitchFamily="34" charset="0"/>
              </a:rPr>
              <a:t>) </a:t>
            </a:r>
            <a:r>
              <a:rPr lang="zh-CN" altLang="en-US" sz="2400" b="1">
                <a:solidFill>
                  <a:srgbClr val="FF0000"/>
                </a:solidFill>
                <a:latin typeface="宋体" pitchFamily="2" charset="-122"/>
                <a:ea typeface="宋体" pitchFamily="2" charset="-122"/>
                <a:cs typeface="Arial" panose="020B0604020202020204" pitchFamily="34" charset="0"/>
              </a:rPr>
              <a:t>不</a:t>
            </a:r>
            <a:r>
              <a:rPr lang="zh-CN" altLang="en-US" sz="2400" b="1" dirty="0">
                <a:solidFill>
                  <a:srgbClr val="FF0000"/>
                </a:solidFill>
                <a:latin typeface="宋体" pitchFamily="2" charset="-122"/>
                <a:ea typeface="宋体" pitchFamily="2" charset="-122"/>
                <a:cs typeface="Arial" panose="020B0604020202020204" pitchFamily="34" charset="0"/>
              </a:rPr>
              <a:t>是仪表校验时的标准状态</a:t>
            </a:r>
            <a:r>
              <a:rPr lang="zh-CN" altLang="en-US" sz="2400" b="1" dirty="0">
                <a:latin typeface="宋体" pitchFamily="2" charset="-122"/>
                <a:ea typeface="宋体" pitchFamily="2" charset="-122"/>
                <a:cs typeface="Arial" panose="020B0604020202020204" pitchFamily="34" charset="0"/>
              </a:rPr>
              <a:t>，而是随时间在变化，从而引起的误差。</a:t>
            </a:r>
          </a:p>
          <a:p>
            <a:pPr>
              <a:lnSpc>
                <a:spcPts val="3800"/>
              </a:lnSpc>
              <a:spcBef>
                <a:spcPts val="672"/>
              </a:spcBef>
              <a:defRPr/>
            </a:pPr>
            <a:r>
              <a:rPr lang="zh-CN" altLang="en-US" sz="2400" b="1" dirty="0">
                <a:solidFill>
                  <a:srgbClr val="0000FF"/>
                </a:solidFill>
                <a:latin typeface="宋体" pitchFamily="2" charset="-122"/>
                <a:ea typeface="宋体" pitchFamily="2" charset="-122"/>
                <a:cs typeface="Arial" panose="020B0604020202020204" pitchFamily="34" charset="0"/>
              </a:rPr>
              <a:t>安装误差</a:t>
            </a:r>
            <a:r>
              <a:rPr lang="zh-CN" altLang="en-US" sz="2400" b="1" dirty="0">
                <a:latin typeface="宋体" pitchFamily="2" charset="-122"/>
                <a:ea typeface="宋体" pitchFamily="2" charset="-122"/>
                <a:cs typeface="Arial" panose="020B0604020202020204" pitchFamily="34" charset="0"/>
              </a:rPr>
              <a:t>：由于测量仪表的安装或放置不正确所引起的误差。</a:t>
            </a:r>
          </a:p>
          <a:p>
            <a:pPr>
              <a:lnSpc>
                <a:spcPts val="3800"/>
              </a:lnSpc>
              <a:spcBef>
                <a:spcPts val="672"/>
              </a:spcBef>
              <a:defRPr/>
            </a:pPr>
            <a:r>
              <a:rPr lang="zh-CN" altLang="en-US" sz="2400" b="1" dirty="0">
                <a:solidFill>
                  <a:srgbClr val="0000FF"/>
                </a:solidFill>
                <a:latin typeface="宋体" pitchFamily="2" charset="-122"/>
                <a:ea typeface="宋体" pitchFamily="2" charset="-122"/>
                <a:cs typeface="Arial" panose="020B0604020202020204" pitchFamily="34" charset="0"/>
              </a:rPr>
              <a:t>个人误差</a:t>
            </a:r>
            <a:r>
              <a:rPr lang="zh-CN" altLang="en-US" sz="2400" b="1" dirty="0">
                <a:latin typeface="宋体" pitchFamily="2" charset="-122"/>
                <a:ea typeface="宋体" pitchFamily="2" charset="-122"/>
                <a:cs typeface="Arial" panose="020B0604020202020204" pitchFamily="34" charset="0"/>
              </a:rPr>
              <a:t>：由于测量者本人不良习惯或操作不熟练所引起的误差。</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 name="Slide Number Placeholder 1">
            <a:extLst>
              <a:ext uri="{FF2B5EF4-FFF2-40B4-BE49-F238E27FC236}">
                <a16:creationId xmlns:a16="http://schemas.microsoft.com/office/drawing/2014/main" id="{CA2A4C24-0C39-4B00-8D02-FADC5B2217CA}"/>
              </a:ext>
            </a:extLst>
          </p:cNvPr>
          <p:cNvSpPr>
            <a:spLocks noGrp="1"/>
          </p:cNvSpPr>
          <p:nvPr>
            <p:ph type="sldNum" sz="quarter" idx="12"/>
          </p:nvPr>
        </p:nvSpPr>
        <p:spPr/>
        <p:txBody>
          <a:bodyPr/>
          <a:lstStyle/>
          <a:p>
            <a:fld id="{DC11BA4E-7967-4102-867C-9D230A2E6791}" type="slidenum">
              <a:rPr lang="zh-CN" altLang="en-US" smtClean="0"/>
              <a:t>29</a:t>
            </a:fld>
            <a:endParaRPr lang="zh-CN" altLang="en-US"/>
          </a:p>
        </p:txBody>
      </p:sp>
    </p:spTree>
    <p:extLst>
      <p:ext uri="{BB962C8B-B14F-4D97-AF65-F5344CB8AC3E}">
        <p14:creationId xmlns:p14="http://schemas.microsoft.com/office/powerpoint/2010/main" val="4212240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111318" y="1712611"/>
            <a:ext cx="2636724" cy="405353"/>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11318" y="1226659"/>
            <a:ext cx="8800071" cy="3503950"/>
          </a:xfrm>
        </p:spPr>
        <p:txBody>
          <a:bodyPr>
            <a:noAutofit/>
          </a:bodyPr>
          <a:lstStyle/>
          <a:p>
            <a:pPr marL="0" indent="0" eaLnBrk="1" hangingPunct="1">
              <a:lnSpc>
                <a:spcPct val="120000"/>
              </a:lnSpc>
              <a:spcBef>
                <a:spcPts val="0"/>
              </a:spcBef>
              <a:buNone/>
              <a:defRPr/>
            </a:pPr>
            <a:r>
              <a:rPr lang="en-US" altLang="zh-CN" sz="2400" b="1" dirty="0">
                <a:latin typeface="宋体" pitchFamily="2" charset="-122"/>
                <a:ea typeface="宋体" pitchFamily="2" charset="-122"/>
                <a:cs typeface="Arial" panose="020B0604020202020204" pitchFamily="34" charset="0"/>
              </a:rPr>
              <a:t>5</a:t>
            </a:r>
            <a:r>
              <a:rPr lang="zh-CN" altLang="en-US" sz="2400" b="1" dirty="0">
                <a:latin typeface="宋体" pitchFamily="2" charset="-122"/>
                <a:ea typeface="宋体" pitchFamily="2" charset="-122"/>
                <a:cs typeface="Arial" panose="020B0604020202020204" pitchFamily="34" charset="0"/>
              </a:rPr>
              <a:t>．常见的系统误差及降低其对测量结果影响的方法</a:t>
            </a:r>
          </a:p>
          <a:p>
            <a:pPr marL="0" indent="0" eaLnBrk="1" hangingPunct="1">
              <a:lnSpc>
                <a:spcPct val="120000"/>
              </a:lnSpc>
              <a:spcBef>
                <a:spcPts val="0"/>
              </a:spcBef>
              <a:buNone/>
              <a:defRPr/>
            </a:pPr>
            <a:r>
              <a:rPr lang="zh-CN" altLang="en-US" sz="2400" b="1" dirty="0">
                <a:latin typeface="宋体" pitchFamily="2" charset="-122"/>
                <a:ea typeface="宋体" pitchFamily="2" charset="-122"/>
                <a:cs typeface="Arial" panose="020B0604020202020204" pitchFamily="34" charset="0"/>
              </a:rPr>
              <a:t>②系统误差的发现</a:t>
            </a:r>
          </a:p>
          <a:p>
            <a:pPr marL="0" indent="0" eaLnBrk="1" hangingPunct="1">
              <a:lnSpc>
                <a:spcPct val="120000"/>
              </a:lnSpc>
              <a:spcBef>
                <a:spcPts val="0"/>
              </a:spcBef>
              <a:buNone/>
              <a:defRPr/>
            </a:pPr>
            <a:r>
              <a:rPr lang="en-US" altLang="zh-CN" sz="2400" b="1">
                <a:solidFill>
                  <a:srgbClr val="0000FF"/>
                </a:solidFill>
                <a:latin typeface="宋体" pitchFamily="2" charset="-122"/>
                <a:ea typeface="宋体" pitchFamily="2" charset="-122"/>
                <a:cs typeface="Arial" panose="020B0604020202020204" pitchFamily="34" charset="0"/>
              </a:rPr>
              <a:t>I-</a:t>
            </a:r>
            <a:r>
              <a:rPr lang="zh-CN" altLang="en-US" sz="2400" b="1">
                <a:solidFill>
                  <a:srgbClr val="0000FF"/>
                </a:solidFill>
                <a:latin typeface="宋体" pitchFamily="2" charset="-122"/>
                <a:ea typeface="宋体" pitchFamily="2" charset="-122"/>
                <a:cs typeface="Arial" panose="020B0604020202020204" pitchFamily="34" charset="0"/>
              </a:rPr>
              <a:t>实验</a:t>
            </a:r>
            <a:r>
              <a:rPr lang="zh-CN" altLang="en-US" sz="2400" b="1" dirty="0">
                <a:solidFill>
                  <a:srgbClr val="0000FF"/>
                </a:solidFill>
                <a:latin typeface="宋体" pitchFamily="2" charset="-122"/>
                <a:ea typeface="宋体" pitchFamily="2" charset="-122"/>
                <a:cs typeface="Arial" panose="020B0604020202020204" pitchFamily="34" charset="0"/>
              </a:rPr>
              <a:t>对比法：</a:t>
            </a:r>
          </a:p>
          <a:p>
            <a:pPr eaLnBrk="1" hangingPunct="1">
              <a:lnSpc>
                <a:spcPct val="120000"/>
              </a:lnSpc>
              <a:spcBef>
                <a:spcPts val="0"/>
              </a:spcBef>
              <a:buFont typeface="Wingdings" panose="05000000000000000000" pitchFamily="2" charset="2"/>
              <a:buChar char="Ø"/>
              <a:defRPr/>
            </a:pPr>
            <a:r>
              <a:rPr lang="zh-CN" altLang="en-US" sz="2200" b="1">
                <a:solidFill>
                  <a:srgbClr val="FF0000"/>
                </a:solidFill>
                <a:latin typeface="宋体" pitchFamily="2" charset="-122"/>
                <a:ea typeface="宋体" pitchFamily="2" charset="-122"/>
                <a:cs typeface="Arial" panose="020B0604020202020204" pitchFamily="34" charset="0"/>
              </a:rPr>
              <a:t>改</a:t>
            </a:r>
            <a:r>
              <a:rPr lang="zh-CN" altLang="en-US" sz="2200" b="1" dirty="0">
                <a:solidFill>
                  <a:srgbClr val="FF0000"/>
                </a:solidFill>
                <a:latin typeface="宋体" pitchFamily="2" charset="-122"/>
                <a:ea typeface="宋体" pitchFamily="2" charset="-122"/>
                <a:cs typeface="Arial" panose="020B0604020202020204" pitchFamily="34" charset="0"/>
              </a:rPr>
              <a:t>变产生系统误差的条件</a:t>
            </a:r>
            <a:r>
              <a:rPr lang="zh-CN" altLang="en-US" sz="2200" b="1" dirty="0">
                <a:latin typeface="宋体" pitchFamily="2" charset="-122"/>
                <a:ea typeface="宋体" pitchFamily="2" charset="-122"/>
                <a:cs typeface="Arial" panose="020B0604020202020204" pitchFamily="34" charset="0"/>
              </a:rPr>
              <a:t>，进行不同条件的测量，以发现系统误差。</a:t>
            </a:r>
          </a:p>
          <a:p>
            <a:pPr marL="0" indent="0" eaLnBrk="1" hangingPunct="1">
              <a:lnSpc>
                <a:spcPct val="120000"/>
              </a:lnSpc>
              <a:spcBef>
                <a:spcPts val="0"/>
              </a:spcBef>
              <a:buNone/>
              <a:defRPr/>
            </a:pPr>
            <a:r>
              <a:rPr lang="en-US" altLang="zh-CN" sz="2400" b="1">
                <a:solidFill>
                  <a:srgbClr val="0000FF"/>
                </a:solidFill>
                <a:latin typeface="宋体" pitchFamily="2" charset="-122"/>
                <a:ea typeface="宋体" pitchFamily="2" charset="-122"/>
                <a:cs typeface="Arial" panose="020B0604020202020204" pitchFamily="34" charset="0"/>
              </a:rPr>
              <a:t>II-</a:t>
            </a:r>
            <a:r>
              <a:rPr lang="zh-CN" altLang="en-US" sz="2400" b="1">
                <a:solidFill>
                  <a:srgbClr val="0000FF"/>
                </a:solidFill>
                <a:latin typeface="宋体" pitchFamily="2" charset="-122"/>
                <a:ea typeface="宋体" pitchFamily="2" charset="-122"/>
                <a:cs typeface="Arial" panose="020B0604020202020204" pitchFamily="34" charset="0"/>
              </a:rPr>
              <a:t>剩余</a:t>
            </a:r>
            <a:r>
              <a:rPr lang="zh-CN" altLang="en-US" sz="2400" b="1" dirty="0">
                <a:solidFill>
                  <a:srgbClr val="0000FF"/>
                </a:solidFill>
                <a:latin typeface="宋体" pitchFamily="2" charset="-122"/>
                <a:ea typeface="宋体" pitchFamily="2" charset="-122"/>
                <a:cs typeface="Arial" panose="020B0604020202020204" pitchFamily="34" charset="0"/>
              </a:rPr>
              <a:t>误差观察法：</a:t>
            </a:r>
          </a:p>
          <a:p>
            <a:pPr>
              <a:lnSpc>
                <a:spcPct val="120000"/>
              </a:lnSpc>
              <a:spcBef>
                <a:spcPts val="0"/>
              </a:spcBef>
              <a:buFont typeface="Wingdings" panose="05000000000000000000" pitchFamily="2" charset="2"/>
              <a:buChar char="Ø"/>
              <a:defRPr/>
            </a:pPr>
            <a:r>
              <a:rPr lang="zh-CN" altLang="en-US" sz="2200" b="1">
                <a:latin typeface="宋体" pitchFamily="2" charset="-122"/>
                <a:ea typeface="宋体" pitchFamily="2" charset="-122"/>
                <a:cs typeface="Arial" panose="020B0604020202020204" pitchFamily="34" charset="0"/>
              </a:rPr>
              <a:t>根据</a:t>
            </a:r>
            <a:r>
              <a:rPr lang="zh-CN" altLang="en-US" sz="2200" b="1" dirty="0">
                <a:latin typeface="宋体" pitchFamily="2" charset="-122"/>
                <a:ea typeface="宋体" pitchFamily="2" charset="-122"/>
                <a:cs typeface="Arial" panose="020B0604020202020204" pitchFamily="34" charset="0"/>
              </a:rPr>
              <a:t>测量数据的各个剩余误差大小和符号的变化规律，直接由误差数据或误差曲线图形来判断有无系统误差。</a:t>
            </a:r>
          </a:p>
          <a:p>
            <a:pPr marL="0" indent="0" eaLnBrk="1" hangingPunct="1">
              <a:lnSpc>
                <a:spcPct val="120000"/>
              </a:lnSpc>
              <a:spcBef>
                <a:spcPts val="0"/>
              </a:spcBef>
              <a:buNone/>
              <a:defRPr/>
            </a:pPr>
            <a:r>
              <a:rPr lang="zh-CN" altLang="en-US" sz="2400" b="1" dirty="0">
                <a:latin typeface="宋体" pitchFamily="2" charset="-122"/>
                <a:ea typeface="宋体" pitchFamily="2" charset="-122"/>
                <a:cs typeface="Arial" panose="020B0604020202020204" pitchFamily="34" charset="0"/>
              </a:rPr>
              <a:t> </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4" name="Slide Number Placeholder 3">
            <a:extLst>
              <a:ext uri="{FF2B5EF4-FFF2-40B4-BE49-F238E27FC236}">
                <a16:creationId xmlns:a16="http://schemas.microsoft.com/office/drawing/2014/main" id="{CFFEC606-42E4-48C8-AE7D-55FDA59C7F80}"/>
              </a:ext>
            </a:extLst>
          </p:cNvPr>
          <p:cNvSpPr>
            <a:spLocks noGrp="1"/>
          </p:cNvSpPr>
          <p:nvPr>
            <p:ph type="sldNum" sz="quarter" idx="12"/>
          </p:nvPr>
        </p:nvSpPr>
        <p:spPr/>
        <p:txBody>
          <a:bodyPr/>
          <a:lstStyle/>
          <a:p>
            <a:fld id="{DC11BA4E-7967-4102-867C-9D230A2E6791}" type="slidenum">
              <a:rPr lang="zh-CN" altLang="en-US" smtClean="0"/>
              <a:t>30</a:t>
            </a:fld>
            <a:endParaRPr lang="zh-CN" altLang="en-US"/>
          </a:p>
        </p:txBody>
      </p:sp>
      <p:sp>
        <p:nvSpPr>
          <p:cNvPr id="22" name="Text Box 9">
            <a:extLst>
              <a:ext uri="{FF2B5EF4-FFF2-40B4-BE49-F238E27FC236}">
                <a16:creationId xmlns:a16="http://schemas.microsoft.com/office/drawing/2014/main" id="{078B85C1-640F-4643-96FE-DE0A82F45F36}"/>
              </a:ext>
            </a:extLst>
          </p:cNvPr>
          <p:cNvSpPr txBox="1">
            <a:spLocks noChangeArrowheads="1"/>
          </p:cNvSpPr>
          <p:nvPr/>
        </p:nvSpPr>
        <p:spPr bwMode="auto">
          <a:xfrm>
            <a:off x="744721" y="6136260"/>
            <a:ext cx="33843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15-12  </a:t>
            </a:r>
            <a:r>
              <a:rPr kumimoji="0" lang="en-US" altLang="zh-CN" b="1" i="1" dirty="0">
                <a:solidFill>
                  <a:srgbClr val="000099"/>
                </a:solidFill>
                <a:latin typeface="Times New Roman" pitchFamily="18" charset="0"/>
                <a:ea typeface="宋体" pitchFamily="2" charset="-122"/>
                <a:cs typeface="Times New Roman" pitchFamily="18" charset="0"/>
              </a:rPr>
              <a:t>p-n</a:t>
            </a:r>
            <a:r>
              <a:rPr kumimoji="0" lang="zh-CN" altLang="en-US" b="1" dirty="0">
                <a:solidFill>
                  <a:srgbClr val="000099"/>
                </a:solidFill>
                <a:latin typeface="宋体" pitchFamily="2" charset="-122"/>
                <a:ea typeface="宋体" pitchFamily="2" charset="-122"/>
              </a:rPr>
              <a:t>示意图</a:t>
            </a:r>
          </a:p>
        </p:txBody>
      </p:sp>
      <p:pic>
        <p:nvPicPr>
          <p:cNvPr id="23" name="图片 3">
            <a:extLst>
              <a:ext uri="{FF2B5EF4-FFF2-40B4-BE49-F238E27FC236}">
                <a16:creationId xmlns:a16="http://schemas.microsoft.com/office/drawing/2014/main" id="{343E4A26-A5BB-45BC-9F46-751192F1A6DE}"/>
              </a:ext>
            </a:extLst>
          </p:cNvPr>
          <p:cNvPicPr>
            <a:picLocks noChangeAspect="1"/>
          </p:cNvPicPr>
          <p:nvPr/>
        </p:nvPicPr>
        <p:blipFill>
          <a:blip r:embed="rId3"/>
          <a:stretch>
            <a:fillRect/>
          </a:stretch>
        </p:blipFill>
        <p:spPr>
          <a:xfrm>
            <a:off x="1091424" y="4269722"/>
            <a:ext cx="7043755" cy="1734838"/>
          </a:xfrm>
          <a:prstGeom prst="rect">
            <a:avLst/>
          </a:prstGeom>
        </p:spPr>
      </p:pic>
      <p:sp>
        <p:nvSpPr>
          <p:cNvPr id="39" name="矩形 4">
            <a:extLst>
              <a:ext uri="{FF2B5EF4-FFF2-40B4-BE49-F238E27FC236}">
                <a16:creationId xmlns:a16="http://schemas.microsoft.com/office/drawing/2014/main" id="{92CEDF71-B331-41A4-84B5-30DE780014F3}"/>
              </a:ext>
            </a:extLst>
          </p:cNvPr>
          <p:cNvSpPr/>
          <p:nvPr/>
        </p:nvSpPr>
        <p:spPr>
          <a:xfrm>
            <a:off x="4129097" y="6136260"/>
            <a:ext cx="2001394" cy="461665"/>
          </a:xfrm>
          <a:prstGeom prst="rect">
            <a:avLst/>
          </a:prstGeom>
        </p:spPr>
        <p:txBody>
          <a:bodyPr wrap="square">
            <a:spAutoFit/>
          </a:bodyPr>
          <a:lstStyle/>
          <a:p>
            <a:r>
              <a:rPr kumimoji="0" lang="en-US" altLang="zh-CN" sz="2400" b="1" i="1" dirty="0">
                <a:solidFill>
                  <a:srgbClr val="000099"/>
                </a:solidFill>
                <a:latin typeface="Times New Roman" pitchFamily="18" charset="0"/>
                <a:ea typeface="宋体" pitchFamily="2" charset="-122"/>
                <a:cs typeface="Times New Roman" pitchFamily="18" charset="0"/>
              </a:rPr>
              <a:t>p</a:t>
            </a:r>
            <a:r>
              <a:rPr kumimoji="0" lang="en-US" altLang="zh-CN" sz="2400" b="1" dirty="0">
                <a:solidFill>
                  <a:srgbClr val="000099"/>
                </a:solidFill>
                <a:latin typeface="Times New Roman" pitchFamily="18" charset="0"/>
                <a:ea typeface="宋体" pitchFamily="2" charset="-122"/>
                <a:cs typeface="Times New Roman" pitchFamily="18" charset="0"/>
              </a:rPr>
              <a:t>-</a:t>
            </a:r>
            <a:r>
              <a:rPr kumimoji="0" lang="zh-CN" altLang="en-US" sz="2400" b="1" dirty="0">
                <a:solidFill>
                  <a:srgbClr val="000099"/>
                </a:solidFill>
                <a:latin typeface="Times New Roman" pitchFamily="18" charset="0"/>
                <a:ea typeface="宋体" pitchFamily="2" charset="-122"/>
                <a:cs typeface="Times New Roman" pitchFamily="18" charset="0"/>
              </a:rPr>
              <a:t>剩余误差；</a:t>
            </a:r>
            <a:endParaRPr lang="zh-CN" altLang="en-US" sz="2400" dirty="0">
              <a:latin typeface="Times New Roman" pitchFamily="18" charset="0"/>
              <a:ea typeface="宋体" pitchFamily="2" charset="-122"/>
              <a:cs typeface="Times New Roman" pitchFamily="18" charset="0"/>
            </a:endParaRPr>
          </a:p>
        </p:txBody>
      </p:sp>
      <p:sp>
        <p:nvSpPr>
          <p:cNvPr id="40" name="矩形 5">
            <a:extLst>
              <a:ext uri="{FF2B5EF4-FFF2-40B4-BE49-F238E27FC236}">
                <a16:creationId xmlns:a16="http://schemas.microsoft.com/office/drawing/2014/main" id="{7570A05A-67E9-4E4A-8591-1E0E4EC3E04B}"/>
              </a:ext>
            </a:extLst>
          </p:cNvPr>
          <p:cNvSpPr/>
          <p:nvPr/>
        </p:nvSpPr>
        <p:spPr>
          <a:xfrm>
            <a:off x="6130491" y="6136260"/>
            <a:ext cx="2042547" cy="461665"/>
          </a:xfrm>
          <a:prstGeom prst="rect">
            <a:avLst/>
          </a:prstGeom>
        </p:spPr>
        <p:txBody>
          <a:bodyPr wrap="none">
            <a:spAutoFit/>
          </a:bodyPr>
          <a:lstStyle/>
          <a:p>
            <a:r>
              <a:rPr kumimoji="0" lang="en-US" altLang="zh-CN" sz="2400" b="1" i="1" dirty="0">
                <a:solidFill>
                  <a:srgbClr val="000099"/>
                </a:solidFill>
                <a:latin typeface="Times New Roman" pitchFamily="18" charset="0"/>
                <a:ea typeface="宋体" pitchFamily="2" charset="-122"/>
                <a:cs typeface="Times New Roman" pitchFamily="18" charset="0"/>
              </a:rPr>
              <a:t>n-</a:t>
            </a:r>
            <a:r>
              <a:rPr kumimoji="0" lang="zh-CN" altLang="en-US" sz="2400" b="1" dirty="0">
                <a:solidFill>
                  <a:srgbClr val="000099"/>
                </a:solidFill>
                <a:latin typeface="Times New Roman" pitchFamily="18" charset="0"/>
                <a:ea typeface="宋体" pitchFamily="2" charset="-122"/>
                <a:cs typeface="Times New Roman" pitchFamily="18" charset="0"/>
              </a:rPr>
              <a:t>测量次数。</a:t>
            </a:r>
            <a:endParaRPr lang="zh-CN" altLang="en-US" sz="2400" dirty="0">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40662174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270344" y="1341433"/>
            <a:ext cx="8595360" cy="3840167"/>
          </a:xfrm>
        </p:spPr>
        <p:txBody>
          <a:bodyPr>
            <a:noAutofit/>
          </a:bodyPr>
          <a:lstStyle/>
          <a:p>
            <a:pPr marL="0" indent="0">
              <a:lnSpc>
                <a:spcPct val="100000"/>
              </a:lnSpc>
              <a:spcBef>
                <a:spcPts val="672"/>
              </a:spcBef>
              <a:buNone/>
              <a:defRPr/>
            </a:pPr>
            <a:r>
              <a:rPr lang="zh-CN" altLang="en-US" sz="2400" b="1" u="sng" dirty="0">
                <a:latin typeface="Times New Roman" pitchFamily="18" charset="0"/>
                <a:ea typeface="宋体" pitchFamily="2" charset="-122"/>
                <a:cs typeface="Times New Roman" pitchFamily="18" charset="0"/>
              </a:rPr>
              <a:t>不同公式计算标准误差</a:t>
            </a:r>
            <a:r>
              <a:rPr lang="zh-CN" altLang="en-US" sz="2400" b="1" u="sng">
                <a:latin typeface="Times New Roman" pitchFamily="18" charset="0"/>
                <a:ea typeface="宋体" pitchFamily="2" charset="-122"/>
                <a:cs typeface="Times New Roman" pitchFamily="18" charset="0"/>
              </a:rPr>
              <a:t>比较法</a:t>
            </a:r>
            <a:r>
              <a:rPr lang="zh-CN" altLang="en-US" sz="2400" b="1">
                <a:latin typeface="Times New Roman" pitchFamily="18" charset="0"/>
                <a:ea typeface="宋体" pitchFamily="2" charset="-122"/>
                <a:cs typeface="Times New Roman" pitchFamily="18" charset="0"/>
              </a:rPr>
              <a:t>：对等</a:t>
            </a:r>
            <a:r>
              <a:rPr lang="zh-CN" altLang="en-US" sz="2400" b="1" dirty="0">
                <a:latin typeface="Times New Roman" pitchFamily="18" charset="0"/>
                <a:ea typeface="宋体" pitchFamily="2" charset="-122"/>
                <a:cs typeface="Times New Roman" pitchFamily="18" charset="0"/>
              </a:rPr>
              <a:t>精度测量，可用不同公式计算标准误差，通过比较以发现系统误</a:t>
            </a:r>
            <a:r>
              <a:rPr lang="zh-CN" altLang="en-US" sz="2400" b="1">
                <a:latin typeface="Times New Roman" pitchFamily="18" charset="0"/>
                <a:ea typeface="宋体" pitchFamily="2" charset="-122"/>
                <a:cs typeface="Times New Roman" pitchFamily="18" charset="0"/>
              </a:rPr>
              <a:t>差。</a:t>
            </a:r>
            <a:endParaRPr lang="en-US" altLang="zh-CN" sz="2400" b="1">
              <a:latin typeface="Times New Roman" pitchFamily="18" charset="0"/>
              <a:ea typeface="宋体" pitchFamily="2" charset="-122"/>
              <a:cs typeface="Times New Roman" pitchFamily="18" charset="0"/>
            </a:endParaRPr>
          </a:p>
          <a:p>
            <a:pPr marL="0" indent="0">
              <a:lnSpc>
                <a:spcPct val="100000"/>
              </a:lnSpc>
              <a:spcBef>
                <a:spcPts val="672"/>
              </a:spcBef>
              <a:buNone/>
              <a:defRPr/>
            </a:pPr>
            <a:r>
              <a:rPr lang="zh-CN" altLang="en-US" sz="2400" b="1">
                <a:latin typeface="Times New Roman" pitchFamily="18" charset="0"/>
                <a:ea typeface="宋体" pitchFamily="2" charset="-122"/>
                <a:cs typeface="Times New Roman" pitchFamily="18" charset="0"/>
              </a:rPr>
              <a:t>一</a:t>
            </a:r>
            <a:r>
              <a:rPr lang="zh-CN" altLang="en-US" sz="2400" b="1" dirty="0">
                <a:latin typeface="Times New Roman" pitchFamily="18" charset="0"/>
                <a:ea typeface="宋体" pitchFamily="2" charset="-122"/>
                <a:cs typeface="Times New Roman" pitchFamily="18" charset="0"/>
              </a:rPr>
              <a:t>般采用贝塞尔公式和佩捷斯公式</a:t>
            </a:r>
            <a:r>
              <a:rPr lang="zh-CN" altLang="en-US" sz="2400" b="1">
                <a:latin typeface="宋体" panose="02010600030101010101" pitchFamily="2" charset="-122"/>
                <a:ea typeface="宋体" panose="02010600030101010101" pitchFamily="2" charset="-122"/>
                <a:cs typeface="Times New Roman" pitchFamily="18" charset="0"/>
              </a:rPr>
              <a:t>（</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Peters’s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formula</a:t>
            </a:r>
            <a:r>
              <a:rPr lang="zh-CN" altLang="en-US" sz="2400" b="1" dirty="0">
                <a:latin typeface="宋体" panose="02010600030101010101" pitchFamily="2" charset="-122"/>
                <a:ea typeface="宋体" panose="02010600030101010101" pitchFamily="2" charset="-122"/>
                <a:cs typeface="Times New Roman" pitchFamily="18" charset="0"/>
              </a:rPr>
              <a:t>）</a:t>
            </a:r>
            <a:r>
              <a:rPr lang="zh-CN" altLang="en-US" sz="2400" b="1" dirty="0">
                <a:latin typeface="Times New Roman" pitchFamily="18" charset="0"/>
                <a:ea typeface="宋体" pitchFamily="2" charset="-122"/>
                <a:cs typeface="Times New Roman" pitchFamily="18" charset="0"/>
              </a:rPr>
              <a:t>计算比较，即</a:t>
            </a:r>
          </a:p>
          <a:p>
            <a:pPr marL="0" indent="0" eaLnBrk="1" hangingPunct="1">
              <a:lnSpc>
                <a:spcPct val="100000"/>
              </a:lnSpc>
              <a:spcBef>
                <a:spcPts val="672"/>
              </a:spcBef>
              <a:buNone/>
              <a:defRPr/>
            </a:pPr>
            <a:endParaRPr lang="zh-CN" altLang="en-US" sz="2400" b="1" dirty="0">
              <a:latin typeface="Times New Roman" pitchFamily="18" charset="0"/>
              <a:ea typeface="宋体" pitchFamily="2" charset="-122"/>
              <a:cs typeface="Times New Roman" pitchFamily="18" charset="0"/>
            </a:endParaRPr>
          </a:p>
          <a:p>
            <a:pPr marL="0" indent="0" eaLnBrk="1" hangingPunct="1">
              <a:lnSpc>
                <a:spcPct val="100000"/>
              </a:lnSpc>
              <a:spcBef>
                <a:spcPts val="672"/>
              </a:spcBef>
              <a:buNone/>
              <a:defRPr/>
            </a:pPr>
            <a:r>
              <a:rPr lang="zh-CN" altLang="en-US" sz="2400" b="1" dirty="0">
                <a:latin typeface="Times New Roman" pitchFamily="18" charset="0"/>
                <a:ea typeface="宋体" pitchFamily="2" charset="-122"/>
                <a:cs typeface="Times New Roman" pitchFamily="18" charset="0"/>
              </a:rPr>
              <a:t>   </a:t>
            </a:r>
          </a:p>
          <a:p>
            <a:pPr marL="0" indent="0" eaLnBrk="1" hangingPunct="1">
              <a:lnSpc>
                <a:spcPct val="100000"/>
              </a:lnSpc>
              <a:spcBef>
                <a:spcPts val="672"/>
              </a:spcBef>
              <a:buNone/>
              <a:defRPr/>
            </a:pPr>
            <a:r>
              <a:rPr lang="zh-CN" altLang="en-US" sz="2400" b="1" dirty="0">
                <a:latin typeface="Times New Roman" pitchFamily="18" charset="0"/>
                <a:ea typeface="宋体" pitchFamily="2" charset="-122"/>
                <a:cs typeface="Times New Roman" pitchFamily="18" charset="0"/>
              </a:rPr>
              <a:t>式中     </a:t>
            </a:r>
            <a:r>
              <a:rPr lang="en-US" altLang="zh-CN" sz="2400" i="1">
                <a:latin typeface="Times New Roman" pitchFamily="18" charset="0"/>
                <a:ea typeface="宋体" pitchFamily="2" charset="-122"/>
                <a:cs typeface="Times New Roman" pitchFamily="18" charset="0"/>
              </a:rPr>
              <a:t>p</a:t>
            </a:r>
            <a:r>
              <a:rPr lang="en-US" altLang="zh-CN" sz="2400" i="1" baseline="-25000">
                <a:latin typeface="Times New Roman" pitchFamily="18" charset="0"/>
                <a:ea typeface="宋体" pitchFamily="2" charset="-122"/>
                <a:cs typeface="Times New Roman" pitchFamily="18" charset="0"/>
              </a:rPr>
              <a:t>i</a:t>
            </a:r>
            <a:r>
              <a:rPr lang="en-US" altLang="zh-CN" sz="2400" b="1">
                <a:latin typeface="Times New Roman" pitchFamily="18" charset="0"/>
                <a:ea typeface="宋体" pitchFamily="2" charset="-122"/>
                <a:cs typeface="Times New Roman" pitchFamily="18" charset="0"/>
              </a:rPr>
              <a:t> </a:t>
            </a:r>
            <a:r>
              <a:rPr lang="zh-CN" altLang="en-US" sz="2400" b="1">
                <a:latin typeface="Times New Roman" pitchFamily="18" charset="0"/>
                <a:ea typeface="宋体" pitchFamily="2" charset="-122"/>
                <a:cs typeface="Times New Roman" pitchFamily="18" charset="0"/>
              </a:rPr>
              <a:t>：剩余</a:t>
            </a:r>
            <a:r>
              <a:rPr lang="zh-CN" altLang="en-US" sz="2400" b="1" dirty="0">
                <a:latin typeface="Times New Roman" pitchFamily="18" charset="0"/>
                <a:ea typeface="宋体" pitchFamily="2" charset="-122"/>
                <a:cs typeface="Times New Roman" pitchFamily="18" charset="0"/>
              </a:rPr>
              <a:t>误差；</a:t>
            </a:r>
          </a:p>
          <a:p>
            <a:pPr marL="0" indent="1074738" eaLnBrk="1" hangingPunct="1">
              <a:lnSpc>
                <a:spcPct val="100000"/>
              </a:lnSpc>
              <a:spcBef>
                <a:spcPts val="672"/>
              </a:spcBef>
              <a:buNone/>
              <a:defRPr/>
            </a:pPr>
            <a:r>
              <a:rPr lang="en-US" altLang="zh-CN" sz="2400" i="1">
                <a:latin typeface="Times New Roman" pitchFamily="18" charset="0"/>
                <a:ea typeface="宋体" pitchFamily="2" charset="-122"/>
                <a:cs typeface="Times New Roman" pitchFamily="18" charset="0"/>
              </a:rPr>
              <a:t>n</a:t>
            </a:r>
            <a:r>
              <a:rPr lang="en-US" altLang="zh-CN" sz="2400" b="1">
                <a:latin typeface="Times New Roman" pitchFamily="18" charset="0"/>
                <a:ea typeface="宋体" pitchFamily="2" charset="-122"/>
                <a:cs typeface="Times New Roman" pitchFamily="18" charset="0"/>
              </a:rPr>
              <a:t> </a:t>
            </a:r>
            <a:r>
              <a:rPr lang="zh-CN" altLang="en-US" sz="2400" b="1">
                <a:latin typeface="Times New Roman" pitchFamily="18" charset="0"/>
                <a:ea typeface="宋体" pitchFamily="2" charset="-122"/>
                <a:cs typeface="Times New Roman" pitchFamily="18" charset="0"/>
              </a:rPr>
              <a:t>：测量</a:t>
            </a:r>
            <a:r>
              <a:rPr lang="zh-CN" altLang="en-US" sz="2400" b="1" dirty="0">
                <a:latin typeface="Times New Roman" pitchFamily="18" charset="0"/>
                <a:ea typeface="宋体" pitchFamily="2" charset="-122"/>
                <a:cs typeface="Times New Roman" pitchFamily="18" charset="0"/>
              </a:rPr>
              <a:t>次数</a:t>
            </a:r>
          </a:p>
          <a:p>
            <a:pPr marL="0" indent="987425">
              <a:lnSpc>
                <a:spcPct val="100000"/>
              </a:lnSpc>
              <a:spcBef>
                <a:spcPts val="672"/>
              </a:spcBef>
              <a:buNone/>
              <a:defRPr/>
            </a:pPr>
            <a:r>
              <a:rPr lang="en-US" altLang="zh-CN" sz="2400" i="1">
                <a:latin typeface="Times New Roman" pitchFamily="18" charset="0"/>
                <a:ea typeface="宋体" pitchFamily="2" charset="-122"/>
                <a:cs typeface="Times New Roman" pitchFamily="18" charset="0"/>
              </a:rPr>
              <a:t> </a:t>
            </a:r>
            <a:r>
              <a:rPr lang="el-GR" altLang="zh-CN" sz="2400" i="1">
                <a:latin typeface="Times New Roman" pitchFamily="18" charset="0"/>
                <a:ea typeface="宋体" pitchFamily="2" charset="-122"/>
                <a:cs typeface="Times New Roman" pitchFamily="18" charset="0"/>
              </a:rPr>
              <a:t>σ</a:t>
            </a:r>
            <a:r>
              <a:rPr lang="en-US" altLang="zh-CN" sz="2400" b="1" i="1">
                <a:latin typeface="Times New Roman" pitchFamily="18" charset="0"/>
                <a:ea typeface="宋体" pitchFamily="2" charset="-122"/>
                <a:cs typeface="Times New Roman" pitchFamily="18" charset="0"/>
              </a:rPr>
              <a:t> </a:t>
            </a:r>
            <a:r>
              <a:rPr lang="zh-CN" altLang="en-US" sz="2400" b="1">
                <a:latin typeface="Times New Roman" pitchFamily="18" charset="0"/>
                <a:ea typeface="宋体" pitchFamily="2" charset="-122"/>
                <a:cs typeface="Times New Roman" pitchFamily="18" charset="0"/>
              </a:rPr>
              <a:t>：标准误差</a:t>
            </a:r>
            <a:r>
              <a:rPr lang="zh-CN" altLang="en-US" sz="2400" b="1" dirty="0">
                <a:latin typeface="Times New Roman" pitchFamily="18" charset="0"/>
                <a:ea typeface="宋体" pitchFamily="2" charset="-122"/>
                <a:cs typeface="Times New Roman" pitchFamily="18" charset="0"/>
              </a:rPr>
              <a:t>或称均方根误差</a:t>
            </a:r>
          </a:p>
        </p:txBody>
      </p:sp>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graphicFrame>
        <p:nvGraphicFramePr>
          <p:cNvPr id="6" name="对象 5"/>
          <p:cNvGraphicFramePr>
            <a:graphicFrameLocks noChangeAspect="1"/>
          </p:cNvGraphicFramePr>
          <p:nvPr>
            <p:extLst>
              <p:ext uri="{D42A27DB-BD31-4B8C-83A1-F6EECF244321}">
                <p14:modId xmlns:p14="http://schemas.microsoft.com/office/powerpoint/2010/main" val="3988442385"/>
              </p:ext>
            </p:extLst>
          </p:nvPr>
        </p:nvGraphicFramePr>
        <p:xfrm>
          <a:off x="1585699" y="2742827"/>
          <a:ext cx="2598802" cy="1043371"/>
        </p:xfrm>
        <a:graphic>
          <a:graphicData uri="http://schemas.openxmlformats.org/presentationml/2006/ole">
            <mc:AlternateContent xmlns:mc="http://schemas.openxmlformats.org/markup-compatibility/2006">
              <mc:Choice xmlns:v="urn:schemas-microsoft-com:vml" Requires="v">
                <p:oleObj name="公式" r:id="rId3" imgW="838080" imgH="660240" progId="Equation.3">
                  <p:embed/>
                </p:oleObj>
              </mc:Choice>
              <mc:Fallback>
                <p:oleObj name="公式" r:id="rId3" imgW="838080" imgH="660240" progId="Equation.3">
                  <p:embed/>
                  <p:pic>
                    <p:nvPicPr>
                      <p:cNvPr id="0" name="Object 23"/>
                      <p:cNvPicPr>
                        <a:picLocks noChangeAspect="1" noChangeArrowheads="1"/>
                      </p:cNvPicPr>
                      <p:nvPr/>
                    </p:nvPicPr>
                    <p:blipFill>
                      <a:blip r:embed="rId4"/>
                      <a:srcRect/>
                      <a:stretch>
                        <a:fillRect/>
                      </a:stretch>
                    </p:blipFill>
                    <p:spPr bwMode="auto">
                      <a:xfrm>
                        <a:off x="1585699" y="2742827"/>
                        <a:ext cx="2598802" cy="1043371"/>
                      </a:xfrm>
                      <a:prstGeom prst="rect">
                        <a:avLst/>
                      </a:prstGeom>
                      <a:noFill/>
                      <a:ln>
                        <a:noFill/>
                      </a:ln>
                      <a:effec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124487400"/>
              </p:ext>
            </p:extLst>
          </p:nvPr>
        </p:nvGraphicFramePr>
        <p:xfrm>
          <a:off x="4713564" y="2592674"/>
          <a:ext cx="3120487" cy="1193524"/>
        </p:xfrm>
        <a:graphic>
          <a:graphicData uri="http://schemas.openxmlformats.org/presentationml/2006/ole">
            <mc:AlternateContent xmlns:mc="http://schemas.openxmlformats.org/markup-compatibility/2006">
              <mc:Choice xmlns:v="urn:schemas-microsoft-com:vml" Requires="v">
                <p:oleObj name="公式" r:id="rId5" imgW="1257120" imgH="660240" progId="Equation.3">
                  <p:embed/>
                </p:oleObj>
              </mc:Choice>
              <mc:Fallback>
                <p:oleObj name="公式" r:id="rId5" imgW="1257120" imgH="660240" progId="Equation.3">
                  <p:embed/>
                  <p:pic>
                    <p:nvPicPr>
                      <p:cNvPr id="0" name="Object 22"/>
                      <p:cNvPicPr>
                        <a:picLocks noChangeAspect="1" noChangeArrowheads="1"/>
                      </p:cNvPicPr>
                      <p:nvPr/>
                    </p:nvPicPr>
                    <p:blipFill>
                      <a:blip r:embed="rId6"/>
                      <a:srcRect/>
                      <a:stretch>
                        <a:fillRect/>
                      </a:stretch>
                    </p:blipFill>
                    <p:spPr bwMode="auto">
                      <a:xfrm>
                        <a:off x="4713564" y="2592674"/>
                        <a:ext cx="3120487" cy="1193524"/>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12" name="矩形 11"/>
              <p:cNvSpPr/>
              <p:nvPr/>
            </p:nvSpPr>
            <p:spPr>
              <a:xfrm>
                <a:off x="965613" y="5267523"/>
                <a:ext cx="7495902" cy="843436"/>
              </a:xfrm>
              <a:prstGeom prst="rect">
                <a:avLst/>
              </a:prstGeom>
            </p:spPr>
            <p:txBody>
              <a:bodyPr wrap="square">
                <a:spAutoFit/>
              </a:bodyPr>
              <a:lstStyle/>
              <a:p>
                <a:pPr>
                  <a:lnSpc>
                    <a:spcPct val="150000"/>
                  </a:lnSpc>
                </a:pPr>
                <a:r>
                  <a:rPr lang="zh-CN" altLang="en-US" sz="2400" b="1" dirty="0">
                    <a:solidFill>
                      <a:prstClr val="black"/>
                    </a:solidFill>
                    <a:latin typeface="Times New Roman" pitchFamily="18" charset="0"/>
                    <a:ea typeface="宋体" pitchFamily="2" charset="-122"/>
                    <a:cs typeface="Times New Roman" pitchFamily="18" charset="0"/>
                  </a:rPr>
                  <a:t>令 </a:t>
                </a:r>
                <a14:m>
                  <m:oMath xmlns:m="http://schemas.openxmlformats.org/officeDocument/2006/math">
                    <m:f>
                      <m:fPr>
                        <m:ctrlPr>
                          <a:rPr lang="zh-CN" altLang="zh-CN" sz="2400" i="1">
                            <a:latin typeface="Cambria Math" panose="02040503050406030204" pitchFamily="18" charset="0"/>
                          </a:rPr>
                        </m:ctrlPr>
                      </m:fPr>
                      <m:num>
                        <m:sSub>
                          <m:sSubPr>
                            <m:ctrlPr>
                              <a:rPr lang="zh-CN" altLang="zh-CN" sz="2400" i="1">
                                <a:latin typeface="Cambria Math" panose="02040503050406030204" pitchFamily="18" charset="0"/>
                              </a:rPr>
                            </m:ctrlPr>
                          </m:sSubPr>
                          <m:e>
                            <m:r>
                              <a:rPr lang="en-US" altLang="zh-CN" sz="2400" i="1">
                                <a:latin typeface="Cambria Math"/>
                              </a:rPr>
                              <m:t>𝜎</m:t>
                            </m:r>
                          </m:e>
                          <m:sub>
                            <m:r>
                              <a:rPr lang="en-US" altLang="zh-CN" sz="2400" i="1">
                                <a:latin typeface="Cambria Math"/>
                              </a:rPr>
                              <m:t>2</m:t>
                            </m:r>
                          </m:sub>
                        </m:sSub>
                      </m:num>
                      <m:den>
                        <m:sSub>
                          <m:sSubPr>
                            <m:ctrlPr>
                              <a:rPr lang="zh-CN" altLang="zh-CN" sz="2400" i="1">
                                <a:latin typeface="Cambria Math" panose="02040503050406030204" pitchFamily="18" charset="0"/>
                              </a:rPr>
                            </m:ctrlPr>
                          </m:sSubPr>
                          <m:e>
                            <m:r>
                              <a:rPr lang="en-US" altLang="zh-CN" sz="2400" i="1">
                                <a:latin typeface="Cambria Math"/>
                              </a:rPr>
                              <m:t>𝜎</m:t>
                            </m:r>
                          </m:e>
                          <m:sub>
                            <m:r>
                              <a:rPr lang="en-US" altLang="zh-CN" sz="2400" i="1">
                                <a:latin typeface="Cambria Math"/>
                              </a:rPr>
                              <m:t>1</m:t>
                            </m:r>
                          </m:sub>
                        </m:sSub>
                      </m:den>
                    </m:f>
                    <m:r>
                      <a:rPr lang="en-US" altLang="zh-CN" sz="2400" i="1">
                        <a:latin typeface="Cambria Math"/>
                      </a:rPr>
                      <m:t>=1+</m:t>
                    </m:r>
                    <m:r>
                      <a:rPr lang="en-US" altLang="zh-CN" sz="2400" i="1">
                        <a:latin typeface="Cambria Math"/>
                      </a:rPr>
                      <m:t>𝑢</m:t>
                    </m:r>
                  </m:oMath>
                </a14:m>
                <a:r>
                  <a:rPr lang="zh-CN" altLang="en-US" sz="2400" b="1" dirty="0">
                    <a:solidFill>
                      <a:prstClr val="black"/>
                    </a:solidFill>
                    <a:latin typeface="Times New Roman" pitchFamily="18" charset="0"/>
                    <a:ea typeface="宋体" pitchFamily="2" charset="-122"/>
                    <a:cs typeface="Times New Roman" pitchFamily="18" charset="0"/>
                  </a:rPr>
                  <a:t>，若 </a:t>
                </a:r>
                <a14:m>
                  <m:oMath xmlns:m="http://schemas.openxmlformats.org/officeDocument/2006/math">
                    <m:d>
                      <m:dPr>
                        <m:begChr m:val="|"/>
                        <m:endChr m:val="|"/>
                        <m:ctrlPr>
                          <a:rPr lang="zh-CN" altLang="zh-CN" sz="2400" i="1" smtClean="0">
                            <a:solidFill>
                              <a:srgbClr val="FF0000"/>
                            </a:solidFill>
                            <a:latin typeface="Cambria Math" panose="02040503050406030204" pitchFamily="18" charset="0"/>
                          </a:rPr>
                        </m:ctrlPr>
                      </m:dPr>
                      <m:e>
                        <m:r>
                          <a:rPr lang="en-US" altLang="zh-CN" sz="2400" i="1">
                            <a:solidFill>
                              <a:srgbClr val="FF0000"/>
                            </a:solidFill>
                            <a:latin typeface="Cambria Math"/>
                          </a:rPr>
                          <m:t>𝑢</m:t>
                        </m:r>
                      </m:e>
                    </m:d>
                    <m:r>
                      <a:rPr lang="en-US" altLang="zh-CN" sz="2400" i="1">
                        <a:solidFill>
                          <a:srgbClr val="FF0000"/>
                        </a:solidFill>
                        <a:latin typeface="Cambria Math"/>
                      </a:rPr>
                      <m:t>≥</m:t>
                    </m:r>
                    <m:f>
                      <m:fPr>
                        <m:ctrlPr>
                          <a:rPr lang="zh-CN" altLang="zh-CN" sz="2400" i="1">
                            <a:solidFill>
                              <a:srgbClr val="FF0000"/>
                            </a:solidFill>
                            <a:latin typeface="Cambria Math" panose="02040503050406030204" pitchFamily="18" charset="0"/>
                          </a:rPr>
                        </m:ctrlPr>
                      </m:fPr>
                      <m:num>
                        <m:r>
                          <a:rPr lang="en-US" altLang="zh-CN" sz="2400" i="1">
                            <a:solidFill>
                              <a:srgbClr val="FF0000"/>
                            </a:solidFill>
                            <a:latin typeface="Cambria Math"/>
                          </a:rPr>
                          <m:t>2</m:t>
                        </m:r>
                      </m:num>
                      <m:den>
                        <m:rad>
                          <m:radPr>
                            <m:degHide m:val="on"/>
                            <m:ctrlPr>
                              <a:rPr lang="zh-CN" altLang="zh-CN" sz="2400" i="1">
                                <a:solidFill>
                                  <a:srgbClr val="FF0000"/>
                                </a:solidFill>
                                <a:latin typeface="Cambria Math" panose="02040503050406030204" pitchFamily="18" charset="0"/>
                              </a:rPr>
                            </m:ctrlPr>
                          </m:radPr>
                          <m:deg/>
                          <m:e>
                            <m:r>
                              <a:rPr lang="en-US" altLang="zh-CN" sz="2400" i="1">
                                <a:solidFill>
                                  <a:srgbClr val="FF0000"/>
                                </a:solidFill>
                                <a:latin typeface="Cambria Math"/>
                              </a:rPr>
                              <m:t>𝑛</m:t>
                            </m:r>
                            <m:r>
                              <a:rPr lang="en-US" altLang="zh-CN" sz="2400" i="1">
                                <a:solidFill>
                                  <a:srgbClr val="FF0000"/>
                                </a:solidFill>
                                <a:latin typeface="Cambria Math"/>
                              </a:rPr>
                              <m:t>−1</m:t>
                            </m:r>
                          </m:e>
                        </m:rad>
                      </m:den>
                    </m:f>
                  </m:oMath>
                </a14:m>
                <a:r>
                  <a:rPr lang="zh-CN" altLang="en-US" sz="2400" b="1" dirty="0">
                    <a:solidFill>
                      <a:prstClr val="black"/>
                    </a:solidFill>
                    <a:latin typeface="Times New Roman" pitchFamily="18" charset="0"/>
                    <a:ea typeface="宋体" pitchFamily="2" charset="-122"/>
                    <a:cs typeface="Times New Roman" pitchFamily="18" charset="0"/>
                  </a:rPr>
                  <a:t>，则怀疑存在系统误差。</a:t>
                </a:r>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965613" y="5267523"/>
                <a:ext cx="7495902" cy="843436"/>
              </a:xfrm>
              <a:prstGeom prst="rect">
                <a:avLst/>
              </a:prstGeom>
              <a:blipFill>
                <a:blip r:embed="rId8"/>
                <a:stretch>
                  <a:fillRect l="-1220"/>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AA89A204-24F7-48C1-8227-7338547E0825}"/>
              </a:ext>
            </a:extLst>
          </p:cNvPr>
          <p:cNvSpPr>
            <a:spLocks noGrp="1"/>
          </p:cNvSpPr>
          <p:nvPr>
            <p:ph type="sldNum" sz="quarter" idx="12"/>
          </p:nvPr>
        </p:nvSpPr>
        <p:spPr/>
        <p:txBody>
          <a:bodyPr/>
          <a:lstStyle/>
          <a:p>
            <a:fld id="{DC11BA4E-7967-4102-867C-9D230A2E6791}" type="slidenum">
              <a:rPr lang="zh-CN" altLang="en-US" smtClean="0"/>
              <a:t>31</a:t>
            </a:fld>
            <a:endParaRPr lang="zh-CN" altLang="en-US"/>
          </a:p>
        </p:txBody>
      </p:sp>
    </p:spTree>
    <p:extLst>
      <p:ext uri="{BB962C8B-B14F-4D97-AF65-F5344CB8AC3E}">
        <p14:creationId xmlns:p14="http://schemas.microsoft.com/office/powerpoint/2010/main" val="37516089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mc:AlternateContent xmlns:mc="http://schemas.openxmlformats.org/markup-compatibility/2006" xmlns:a14="http://schemas.microsoft.com/office/drawing/2010/main">
        <mc:Choice Requires="a14">
          <p:sp>
            <p:nvSpPr>
              <p:cNvPr id="41" name="Rectangle 5"/>
              <p:cNvSpPr>
                <a:spLocks noChangeArrowheads="1"/>
              </p:cNvSpPr>
              <p:nvPr/>
            </p:nvSpPr>
            <p:spPr bwMode="auto">
              <a:xfrm>
                <a:off x="167474" y="1262797"/>
                <a:ext cx="8809052" cy="448295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a:lnSpc>
                    <a:spcPct val="150000"/>
                  </a:lnSpc>
                </a:pPr>
                <a:r>
                  <a:rPr lang="en-US" altLang="zh-CN" sz="2400" b="1">
                    <a:solidFill>
                      <a:srgbClr val="0000FF"/>
                    </a:solidFill>
                    <a:latin typeface="宋体" pitchFamily="2" charset="-122"/>
                    <a:ea typeface="宋体" pitchFamily="2" charset="-122"/>
                  </a:rPr>
                  <a:t>III-</a:t>
                </a:r>
                <a:r>
                  <a:rPr lang="zh-CN" altLang="en-US" sz="2400" b="1">
                    <a:solidFill>
                      <a:srgbClr val="0000FF"/>
                    </a:solidFill>
                    <a:latin typeface="宋体" pitchFamily="2" charset="-122"/>
                    <a:ea typeface="宋体" pitchFamily="2" charset="-122"/>
                  </a:rPr>
                  <a:t>计算</a:t>
                </a:r>
                <a:r>
                  <a:rPr lang="zh-CN" altLang="en-US" sz="2400" b="1" dirty="0">
                    <a:solidFill>
                      <a:srgbClr val="0000FF"/>
                    </a:solidFill>
                    <a:latin typeface="宋体" pitchFamily="2" charset="-122"/>
                    <a:ea typeface="宋体" pitchFamily="2" charset="-122"/>
                  </a:rPr>
                  <a:t>数据比较法：</a:t>
                </a:r>
              </a:p>
              <a:p>
                <a:pPr>
                  <a:lnSpc>
                    <a:spcPct val="150000"/>
                  </a:lnSpc>
                </a:pPr>
                <a:r>
                  <a:rPr lang="zh-CN" altLang="en-US" sz="2400" b="1" dirty="0">
                    <a:latin typeface="宋体" pitchFamily="2" charset="-122"/>
                    <a:ea typeface="宋体" pitchFamily="2" charset="-122"/>
                  </a:rPr>
                  <a:t>    对同一量测量得到多组数据，通过计算数据比较，判断是否满足偶然误差条件，以发现系统误差。</a:t>
                </a:r>
              </a:p>
              <a:p>
                <a:pPr>
                  <a:lnSpc>
                    <a:spcPct val="150000"/>
                  </a:lnSpc>
                </a:pPr>
                <a:r>
                  <a:rPr lang="zh-CN" altLang="en-US" sz="2400" b="1" dirty="0">
                    <a:latin typeface="宋体" pitchFamily="2" charset="-122"/>
                    <a:ea typeface="宋体" pitchFamily="2" charset="-122"/>
                  </a:rPr>
                  <a:t>    例如，对同一量</a:t>
                </a:r>
                <a:r>
                  <a:rPr lang="zh-CN" altLang="en-US" sz="2400" b="1" dirty="0">
                    <a:solidFill>
                      <a:srgbClr val="DA1653"/>
                    </a:solidFill>
                    <a:latin typeface="宋体" pitchFamily="2" charset="-122"/>
                    <a:ea typeface="宋体" pitchFamily="2" charset="-122"/>
                  </a:rPr>
                  <a:t>独立测量</a:t>
                </a:r>
                <a:r>
                  <a:rPr lang="en-US" altLang="zh-CN" sz="2400" i="1" dirty="0">
                    <a:solidFill>
                      <a:srgbClr val="DA1653"/>
                    </a:solidFill>
                    <a:latin typeface="Times New Roman" pitchFamily="18" charset="0"/>
                    <a:ea typeface="宋体" pitchFamily="2" charset="-122"/>
                    <a:cs typeface="Times New Roman" pitchFamily="18" charset="0"/>
                  </a:rPr>
                  <a:t>m</a:t>
                </a:r>
                <a:r>
                  <a:rPr lang="zh-CN" altLang="en-US" sz="2400" b="1" dirty="0">
                    <a:solidFill>
                      <a:srgbClr val="DA1653"/>
                    </a:solidFill>
                    <a:latin typeface="宋体" pitchFamily="2" charset="-122"/>
                    <a:ea typeface="宋体" pitchFamily="2" charset="-122"/>
                  </a:rPr>
                  <a:t>组结果</a:t>
                </a:r>
                <a:r>
                  <a:rPr lang="zh-CN" altLang="en-US" sz="2400" b="1" dirty="0">
                    <a:latin typeface="宋体" pitchFamily="2" charset="-122"/>
                    <a:ea typeface="宋体" pitchFamily="2" charset="-122"/>
                  </a:rPr>
                  <a:t>，并计算求得算术平均值和均方根误差</a:t>
                </a:r>
                <a14:m>
                  <m:oMath xmlns:m="http://schemas.openxmlformats.org/officeDocument/2006/math">
                    <m:sSub>
                      <m:sSubPr>
                        <m:ctrlPr>
                          <a:rPr lang="zh-CN" altLang="zh-CN" sz="2400" i="1">
                            <a:latin typeface="Cambria Math" panose="02040503050406030204" pitchFamily="18" charset="0"/>
                          </a:rPr>
                        </m:ctrlPr>
                      </m:sSubPr>
                      <m:e>
                        <m:acc>
                          <m:accPr>
                            <m:chr m:val="̅"/>
                            <m:ctrlPr>
                              <a:rPr lang="zh-CN" altLang="zh-CN" sz="2400" i="1">
                                <a:latin typeface="Cambria Math" panose="02040503050406030204" pitchFamily="18" charset="0"/>
                              </a:rPr>
                            </m:ctrlPr>
                          </m:accPr>
                          <m:e>
                            <m:r>
                              <a:rPr lang="en-US" altLang="zh-CN" sz="2400" i="1">
                                <a:latin typeface="Cambria Math" panose="02040503050406030204" pitchFamily="18" charset="0"/>
                              </a:rPr>
                              <m:t>𝑥</m:t>
                            </m:r>
                          </m:e>
                        </m:acc>
                      </m:e>
                      <m:sub>
                        <m:r>
                          <a:rPr lang="en-US" altLang="zh-CN" sz="2400" i="1">
                            <a:latin typeface="Cambria Math" panose="02040503050406030204" pitchFamily="18" charset="0"/>
                          </a:rPr>
                          <m:t>1</m:t>
                        </m:r>
                      </m:sub>
                    </m:sSub>
                    <m:r>
                      <a:rPr lang="en-US" altLang="zh-CN" sz="240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acc>
                          <m:accPr>
                            <m:chr m:val="̅"/>
                            <m:ctrlPr>
                              <a:rPr lang="zh-CN" altLang="zh-CN" sz="2400" i="1">
                                <a:latin typeface="Cambria Math" panose="02040503050406030204" pitchFamily="18" charset="0"/>
                              </a:rPr>
                            </m:ctrlPr>
                          </m:accPr>
                          <m:e>
                            <m:r>
                              <a:rPr lang="en-US" altLang="zh-CN" sz="2400" i="1">
                                <a:latin typeface="Cambria Math" panose="02040503050406030204" pitchFamily="18" charset="0"/>
                              </a:rPr>
                              <m:t>𝑥</m:t>
                            </m:r>
                          </m:e>
                        </m:acc>
                      </m:e>
                      <m:sub>
                        <m:r>
                          <a:rPr lang="en-US" altLang="zh-CN" sz="2400" i="1">
                            <a:latin typeface="Cambria Math" panose="02040503050406030204" pitchFamily="18" charset="0"/>
                          </a:rPr>
                          <m:t>2</m:t>
                        </m:r>
                      </m:sub>
                    </m:sSub>
                    <m:r>
                      <a:rPr lang="en-US" altLang="zh-CN" sz="240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acc>
                          <m:accPr>
                            <m:chr m:val="̅"/>
                            <m:ctrlPr>
                              <a:rPr lang="zh-CN" altLang="zh-CN" sz="2400" i="1">
                                <a:latin typeface="Cambria Math" panose="02040503050406030204" pitchFamily="18" charset="0"/>
                              </a:rPr>
                            </m:ctrlPr>
                          </m:accPr>
                          <m:e>
                            <m:r>
                              <a:rPr lang="en-US" altLang="zh-CN" sz="2400" i="1">
                                <a:latin typeface="Cambria Math" panose="02040503050406030204" pitchFamily="18" charset="0"/>
                              </a:rPr>
                              <m:t>𝑥</m:t>
                            </m:r>
                          </m:e>
                        </m:acc>
                      </m:e>
                      <m:sub>
                        <m:r>
                          <a:rPr lang="en-US" altLang="zh-CN" sz="2400" i="1">
                            <a:latin typeface="Cambria Math" panose="02040503050406030204" pitchFamily="18" charset="0"/>
                          </a:rPr>
                          <m:t>𝑚</m:t>
                        </m:r>
                      </m:sub>
                    </m:sSub>
                    <m:r>
                      <a:rPr lang="en-US" altLang="zh-CN" sz="2400" i="1">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i="1">
                            <a:latin typeface="Cambria Math" panose="02040503050406030204" pitchFamily="18" charset="0"/>
                          </a:rPr>
                          <m:t>𝑚</m:t>
                        </m:r>
                      </m:sub>
                    </m:sSub>
                  </m:oMath>
                </a14:m>
                <a:r>
                  <a:rPr lang="zh-CN" altLang="en-US" sz="2400" b="1" dirty="0">
                    <a:latin typeface="宋体" pitchFamily="2" charset="-122"/>
                    <a:ea typeface="宋体" pitchFamily="2" charset="-122"/>
                  </a:rPr>
                  <a:t>。任意两数据</a:t>
                </a:r>
                <a14:m>
                  <m:oMath xmlns:m="http://schemas.openxmlformats.org/officeDocument/2006/math">
                    <m:d>
                      <m:dPr>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𝑥</m:t>
                                </m:r>
                              </m:e>
                            </m:acc>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𝑥</m:t>
                                </m:r>
                              </m:e>
                            </m:acc>
                          </m:e>
                          <m:sub>
                            <m:r>
                              <a:rPr lang="en-US" altLang="zh-CN" sz="2000" i="1">
                                <a:latin typeface="Cambria Math" panose="02040503050406030204" pitchFamily="18" charset="0"/>
                              </a:rPr>
                              <m:t>𝑗</m:t>
                            </m:r>
                          </m:sub>
                        </m:sSub>
                      </m:e>
                    </m:d>
                  </m:oMath>
                </a14:m>
                <a:r>
                  <a:rPr lang="zh-CN" altLang="en-US" sz="2400" b="1" dirty="0">
                    <a:latin typeface="宋体" pitchFamily="2" charset="-122"/>
                    <a:ea typeface="宋体" pitchFamily="2" charset="-122"/>
                  </a:rPr>
                  <a:t>的均方根误差为</a:t>
                </a:r>
                <a14:m>
                  <m:oMath xmlns:m="http://schemas.openxmlformats.org/officeDocument/2006/math">
                    <m:rad>
                      <m:radPr>
                        <m:degHide m:val="on"/>
                        <m:ctrlPr>
                          <a:rPr lang="zh-CN" altLang="zh-CN" i="1">
                            <a:latin typeface="Cambria Math" panose="02040503050406030204" pitchFamily="18" charset="0"/>
                          </a:rPr>
                        </m:ctrlPr>
                      </m:radPr>
                      <m:deg/>
                      <m:e>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𝜎</m:t>
                            </m:r>
                          </m:e>
                          <m:sub>
                            <m:r>
                              <a:rPr lang="en-US" altLang="zh-CN" i="1">
                                <a:latin typeface="Cambria Math" panose="02040503050406030204" pitchFamily="18" charset="0"/>
                              </a:rPr>
                              <m:t>𝑖</m:t>
                            </m:r>
                          </m:sub>
                          <m:sup>
                            <m:r>
                              <a:rPr lang="en-US" altLang="zh-CN" i="1">
                                <a:latin typeface="Cambria Math" panose="02040503050406030204" pitchFamily="18" charset="0"/>
                              </a:rPr>
                              <m:t>2</m:t>
                            </m:r>
                          </m:sup>
                        </m:sSubSup>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𝜎</m:t>
                            </m:r>
                          </m:e>
                          <m:sub>
                            <m:r>
                              <a:rPr lang="en-US" altLang="zh-CN" i="1">
                                <a:latin typeface="Cambria Math" panose="02040503050406030204" pitchFamily="18" charset="0"/>
                              </a:rPr>
                              <m:t>𝑗</m:t>
                            </m:r>
                          </m:sub>
                          <m:sup>
                            <m:r>
                              <a:rPr lang="en-US" altLang="zh-CN" i="1">
                                <a:latin typeface="Cambria Math" panose="02040503050406030204" pitchFamily="18" charset="0"/>
                              </a:rPr>
                              <m:t>2</m:t>
                            </m:r>
                          </m:sup>
                        </m:sSubSup>
                      </m:e>
                    </m:rad>
                  </m:oMath>
                </a14:m>
                <a:r>
                  <a:rPr lang="zh-CN" altLang="en-US" sz="2400" b="1" dirty="0">
                    <a:latin typeface="宋体" pitchFamily="2" charset="-122"/>
                    <a:ea typeface="宋体" pitchFamily="2" charset="-122"/>
                  </a:rPr>
                  <a:t>，</a:t>
                </a:r>
              </a:p>
              <a:p>
                <a:pPr>
                  <a:lnSpc>
                    <a:spcPct val="150000"/>
                  </a:lnSpc>
                </a:pPr>
                <a:r>
                  <a:rPr lang="zh-CN" altLang="en-US" sz="2400" b="1" dirty="0">
                    <a:latin typeface="宋体" pitchFamily="2" charset="-122"/>
                    <a:ea typeface="宋体" pitchFamily="2" charset="-122"/>
                  </a:rPr>
                  <a:t>若</a:t>
                </a:r>
                <a14:m>
                  <m:oMath xmlns:m="http://schemas.openxmlformats.org/officeDocument/2006/math">
                    <m:d>
                      <m:dPr>
                        <m:begChr m:val="|"/>
                        <m:endChr m:val="|"/>
                        <m:ctrlPr>
                          <a:rPr lang="zh-CN" altLang="zh-CN" i="1" smtClean="0">
                            <a:solidFill>
                              <a:srgbClr val="FF0000"/>
                            </a:solidFill>
                            <a:latin typeface="Cambria Math" panose="02040503050406030204" pitchFamily="18" charset="0"/>
                          </a:rPr>
                        </m:ctrlPr>
                      </m:dPr>
                      <m:e>
                        <m:sSub>
                          <m:sSubPr>
                            <m:ctrlPr>
                              <a:rPr lang="zh-CN" altLang="zh-CN" i="1">
                                <a:solidFill>
                                  <a:srgbClr val="FF0000"/>
                                </a:solidFill>
                                <a:latin typeface="Cambria Math" panose="02040503050406030204" pitchFamily="18" charset="0"/>
                              </a:rPr>
                            </m:ctrlPr>
                          </m:sSubPr>
                          <m:e>
                            <m:acc>
                              <m:accPr>
                                <m:chr m:val="̅"/>
                                <m:ctrlPr>
                                  <a:rPr lang="zh-CN" altLang="zh-CN" i="1">
                                    <a:solidFill>
                                      <a:srgbClr val="FF0000"/>
                                    </a:solidFill>
                                    <a:latin typeface="Cambria Math" panose="02040503050406030204" pitchFamily="18" charset="0"/>
                                  </a:rPr>
                                </m:ctrlPr>
                              </m:accPr>
                              <m:e>
                                <m:r>
                                  <a:rPr lang="en-US" altLang="zh-CN" i="1">
                                    <a:solidFill>
                                      <a:srgbClr val="FF0000"/>
                                    </a:solidFill>
                                    <a:latin typeface="Cambria Math" panose="02040503050406030204" pitchFamily="18" charset="0"/>
                                  </a:rPr>
                                  <m:t>𝑥</m:t>
                                </m:r>
                              </m:e>
                            </m:acc>
                          </m:e>
                          <m:sub>
                            <m:r>
                              <a:rPr lang="en-US" altLang="zh-CN" i="1">
                                <a:solidFill>
                                  <a:srgbClr val="FF0000"/>
                                </a:solidFill>
                                <a:latin typeface="Cambria Math" panose="02040503050406030204" pitchFamily="18" charset="0"/>
                              </a:rPr>
                              <m:t>𝑖</m:t>
                            </m:r>
                          </m:sub>
                        </m:sSub>
                        <m:r>
                          <a:rPr lang="en-US" altLang="zh-CN" i="1">
                            <a:solidFill>
                              <a:srgbClr val="FF0000"/>
                            </a:solidFill>
                            <a:latin typeface="Cambria Math" panose="02040503050406030204" pitchFamily="18" charset="0"/>
                          </a:rPr>
                          <m:t>−</m:t>
                        </m:r>
                        <m:sSub>
                          <m:sSubPr>
                            <m:ctrlPr>
                              <a:rPr lang="zh-CN" altLang="zh-CN" i="1">
                                <a:solidFill>
                                  <a:srgbClr val="FF0000"/>
                                </a:solidFill>
                                <a:latin typeface="Cambria Math" panose="02040503050406030204" pitchFamily="18" charset="0"/>
                              </a:rPr>
                            </m:ctrlPr>
                          </m:sSubPr>
                          <m:e>
                            <m:acc>
                              <m:accPr>
                                <m:chr m:val="̅"/>
                                <m:ctrlPr>
                                  <a:rPr lang="zh-CN" altLang="zh-CN" i="1">
                                    <a:solidFill>
                                      <a:srgbClr val="FF0000"/>
                                    </a:solidFill>
                                    <a:latin typeface="Cambria Math" panose="02040503050406030204" pitchFamily="18" charset="0"/>
                                  </a:rPr>
                                </m:ctrlPr>
                              </m:accPr>
                              <m:e>
                                <m:r>
                                  <a:rPr lang="en-US" altLang="zh-CN" i="1">
                                    <a:solidFill>
                                      <a:srgbClr val="FF0000"/>
                                    </a:solidFill>
                                    <a:latin typeface="Cambria Math" panose="02040503050406030204" pitchFamily="18" charset="0"/>
                                  </a:rPr>
                                  <m:t>𝑥</m:t>
                                </m:r>
                              </m:e>
                            </m:acc>
                          </m:e>
                          <m:sub>
                            <m:r>
                              <a:rPr lang="en-US" altLang="zh-CN" i="1">
                                <a:solidFill>
                                  <a:srgbClr val="FF0000"/>
                                </a:solidFill>
                                <a:latin typeface="Cambria Math" panose="02040503050406030204" pitchFamily="18" charset="0"/>
                              </a:rPr>
                              <m:t>𝑗</m:t>
                            </m:r>
                          </m:sub>
                        </m:sSub>
                      </m:e>
                    </m:d>
                    <m:r>
                      <a:rPr lang="en-US" altLang="zh-CN" i="1">
                        <a:solidFill>
                          <a:srgbClr val="FF0000"/>
                        </a:solidFill>
                        <a:latin typeface="Cambria Math" panose="02040503050406030204" pitchFamily="18" charset="0"/>
                      </a:rPr>
                      <m:t>&lt;2</m:t>
                    </m:r>
                    <m:rad>
                      <m:radPr>
                        <m:degHide m:val="on"/>
                        <m:ctrlPr>
                          <a:rPr lang="zh-CN" altLang="zh-CN" i="1">
                            <a:solidFill>
                              <a:srgbClr val="FF0000"/>
                            </a:solidFill>
                            <a:latin typeface="Cambria Math" panose="02040503050406030204" pitchFamily="18" charset="0"/>
                          </a:rPr>
                        </m:ctrlPr>
                      </m:radPr>
                      <m:deg/>
                      <m:e>
                        <m:sSubSup>
                          <m:sSubSupPr>
                            <m:ctrlPr>
                              <a:rPr lang="zh-CN" altLang="zh-CN" i="1">
                                <a:solidFill>
                                  <a:srgbClr val="FF0000"/>
                                </a:solidFill>
                                <a:latin typeface="Cambria Math" panose="02040503050406030204" pitchFamily="18" charset="0"/>
                              </a:rPr>
                            </m:ctrlPr>
                          </m:sSubSupPr>
                          <m:e>
                            <m:r>
                              <a:rPr lang="en-US" altLang="zh-CN" i="1">
                                <a:solidFill>
                                  <a:srgbClr val="FF0000"/>
                                </a:solidFill>
                                <a:latin typeface="Cambria Math" panose="02040503050406030204" pitchFamily="18" charset="0"/>
                              </a:rPr>
                              <m:t>𝜎</m:t>
                            </m:r>
                          </m:e>
                          <m:sub>
                            <m:r>
                              <a:rPr lang="en-US" altLang="zh-CN" i="1">
                                <a:solidFill>
                                  <a:srgbClr val="FF0000"/>
                                </a:solidFill>
                                <a:latin typeface="Cambria Math" panose="02040503050406030204" pitchFamily="18" charset="0"/>
                              </a:rPr>
                              <m:t>𝑖</m:t>
                            </m:r>
                          </m:sub>
                          <m:sup>
                            <m:r>
                              <a:rPr lang="en-US" altLang="zh-CN" i="1">
                                <a:solidFill>
                                  <a:srgbClr val="FF0000"/>
                                </a:solidFill>
                                <a:latin typeface="Cambria Math" panose="02040503050406030204" pitchFamily="18" charset="0"/>
                              </a:rPr>
                              <m:t>2</m:t>
                            </m:r>
                          </m:sup>
                        </m:sSubSup>
                        <m:r>
                          <a:rPr lang="en-US" altLang="zh-CN" i="1">
                            <a:solidFill>
                              <a:srgbClr val="FF0000"/>
                            </a:solidFill>
                            <a:latin typeface="Cambria Math" panose="02040503050406030204" pitchFamily="18" charset="0"/>
                          </a:rPr>
                          <m:t>+</m:t>
                        </m:r>
                        <m:sSubSup>
                          <m:sSubSupPr>
                            <m:ctrlPr>
                              <a:rPr lang="zh-CN" altLang="zh-CN" i="1">
                                <a:solidFill>
                                  <a:srgbClr val="FF0000"/>
                                </a:solidFill>
                                <a:latin typeface="Cambria Math" panose="02040503050406030204" pitchFamily="18" charset="0"/>
                              </a:rPr>
                            </m:ctrlPr>
                          </m:sSubSupPr>
                          <m:e>
                            <m:r>
                              <a:rPr lang="en-US" altLang="zh-CN" i="1">
                                <a:solidFill>
                                  <a:srgbClr val="FF0000"/>
                                </a:solidFill>
                                <a:latin typeface="Cambria Math" panose="02040503050406030204" pitchFamily="18" charset="0"/>
                              </a:rPr>
                              <m:t>𝜎</m:t>
                            </m:r>
                          </m:e>
                          <m:sub>
                            <m:r>
                              <a:rPr lang="en-US" altLang="zh-CN" i="1">
                                <a:solidFill>
                                  <a:srgbClr val="FF0000"/>
                                </a:solidFill>
                                <a:latin typeface="Cambria Math" panose="02040503050406030204" pitchFamily="18" charset="0"/>
                              </a:rPr>
                              <m:t>𝑗</m:t>
                            </m:r>
                          </m:sub>
                          <m:sup>
                            <m:r>
                              <a:rPr lang="en-US" altLang="zh-CN" i="1">
                                <a:solidFill>
                                  <a:srgbClr val="FF0000"/>
                                </a:solidFill>
                                <a:latin typeface="Cambria Math" panose="02040503050406030204" pitchFamily="18" charset="0"/>
                              </a:rPr>
                              <m:t>2</m:t>
                            </m:r>
                          </m:sup>
                        </m:sSubSup>
                      </m:e>
                    </m:rad>
                  </m:oMath>
                </a14:m>
                <a:r>
                  <a:rPr lang="zh-CN" altLang="en-US" sz="2400" b="1" dirty="0">
                    <a:latin typeface="宋体" pitchFamily="2" charset="-122"/>
                    <a:ea typeface="宋体" pitchFamily="2" charset="-122"/>
                  </a:rPr>
                  <a:t>，则任意两组数据</a:t>
                </a:r>
                <a14:m>
                  <m:oMath xmlns:m="http://schemas.openxmlformats.org/officeDocument/2006/math">
                    <m:sSub>
                      <m:sSubPr>
                        <m:ctrlPr>
                          <a:rPr lang="zh-CN" altLang="zh-CN" sz="2400" i="1">
                            <a:latin typeface="Cambria Math" panose="02040503050406030204" pitchFamily="18" charset="0"/>
                          </a:rPr>
                        </m:ctrlPr>
                      </m:sSubPr>
                      <m:e>
                        <m:acc>
                          <m:accPr>
                            <m:chr m:val="̅"/>
                            <m:ctrlPr>
                              <a:rPr lang="zh-CN" altLang="zh-CN" sz="2400" i="1">
                                <a:latin typeface="Cambria Math" panose="02040503050406030204" pitchFamily="18" charset="0"/>
                              </a:rPr>
                            </m:ctrlPr>
                          </m:accPr>
                          <m:e>
                            <m:r>
                              <a:rPr lang="en-US" altLang="zh-CN" sz="2400" i="1">
                                <a:latin typeface="Cambria Math" panose="02040503050406030204" pitchFamily="18" charset="0"/>
                              </a:rPr>
                              <m:t>𝑥</m:t>
                            </m:r>
                          </m:e>
                        </m:acc>
                      </m:e>
                      <m:sub>
                        <m:r>
                          <a:rPr lang="en-US" altLang="zh-CN" sz="2400" i="1">
                            <a:latin typeface="Cambria Math" panose="02040503050406030204" pitchFamily="18" charset="0"/>
                          </a:rPr>
                          <m:t>𝑖</m:t>
                        </m:r>
                      </m:sub>
                    </m:sSub>
                  </m:oMath>
                </a14:m>
                <a:r>
                  <a:rPr lang="zh-CN" altLang="en-US" sz="2400" b="1" dirty="0">
                    <a:latin typeface="宋体" pitchFamily="2" charset="-122"/>
                    <a:ea typeface="宋体" pitchFamily="2" charset="-122"/>
                  </a:rPr>
                  <a:t>和</a:t>
                </a:r>
                <a14:m>
                  <m:oMath xmlns:m="http://schemas.openxmlformats.org/officeDocument/2006/math">
                    <m:sSub>
                      <m:sSubPr>
                        <m:ctrlPr>
                          <a:rPr lang="zh-CN" altLang="zh-CN" sz="2400" i="1">
                            <a:latin typeface="Cambria Math" panose="02040503050406030204" pitchFamily="18" charset="0"/>
                          </a:rPr>
                        </m:ctrlPr>
                      </m:sSubPr>
                      <m:e>
                        <m:acc>
                          <m:accPr>
                            <m:chr m:val="̅"/>
                            <m:ctrlPr>
                              <a:rPr lang="zh-CN" altLang="zh-CN" sz="2400" i="1">
                                <a:latin typeface="Cambria Math" panose="02040503050406030204" pitchFamily="18" charset="0"/>
                              </a:rPr>
                            </m:ctrlPr>
                          </m:accPr>
                          <m:e>
                            <m:r>
                              <a:rPr lang="en-US" altLang="zh-CN" sz="2400" i="1">
                                <a:latin typeface="Cambria Math" panose="02040503050406030204" pitchFamily="18" charset="0"/>
                              </a:rPr>
                              <m:t>𝑥</m:t>
                            </m:r>
                          </m:e>
                        </m:acc>
                      </m:e>
                      <m:sub>
                        <m:r>
                          <a:rPr lang="en-US" altLang="zh-CN" sz="2400" i="1">
                            <a:latin typeface="Cambria Math" panose="02040503050406030204" pitchFamily="18" charset="0"/>
                          </a:rPr>
                          <m:t>𝑗</m:t>
                        </m:r>
                      </m:sub>
                    </m:sSub>
                  </m:oMath>
                </a14:m>
                <a:r>
                  <a:rPr lang="zh-CN" altLang="en-US" sz="2400" b="1" dirty="0">
                    <a:latin typeface="宋体" pitchFamily="2" charset="-122"/>
                    <a:ea typeface="宋体" pitchFamily="2" charset="-122"/>
                  </a:rPr>
                  <a:t>不存在系统误差。</a:t>
                </a:r>
              </a:p>
            </p:txBody>
          </p:sp>
        </mc:Choice>
        <mc:Fallback xmlns="">
          <p:sp>
            <p:nvSpPr>
              <p:cNvPr id="41" name="Rectangle 5"/>
              <p:cNvSpPr>
                <a:spLocks noRot="1" noChangeAspect="1" noMove="1" noResize="1" noEditPoints="1" noAdjustHandles="1" noChangeArrowheads="1" noChangeShapeType="1" noTextEdit="1"/>
              </p:cNvSpPr>
              <p:nvPr/>
            </p:nvSpPr>
            <p:spPr bwMode="auto">
              <a:xfrm>
                <a:off x="167474" y="1262797"/>
                <a:ext cx="8809052" cy="4482958"/>
              </a:xfrm>
              <a:prstGeom prst="rect">
                <a:avLst/>
              </a:prstGeom>
              <a:blipFill>
                <a:blip r:embed="rId3"/>
                <a:stretch>
                  <a:fillRect l="-1037" r="-7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48604BF1-9AB3-4493-AFE7-E1F829AE25C8}"/>
              </a:ext>
            </a:extLst>
          </p:cNvPr>
          <p:cNvSpPr>
            <a:spLocks noGrp="1"/>
          </p:cNvSpPr>
          <p:nvPr>
            <p:ph type="sldNum" sz="quarter" idx="12"/>
          </p:nvPr>
        </p:nvSpPr>
        <p:spPr/>
        <p:txBody>
          <a:bodyPr/>
          <a:lstStyle/>
          <a:p>
            <a:fld id="{DC11BA4E-7967-4102-867C-9D230A2E6791}" type="slidenum">
              <a:rPr lang="zh-CN" altLang="en-US" smtClean="0"/>
              <a:t>32</a:t>
            </a:fld>
            <a:endParaRPr lang="zh-CN" altLang="en-US"/>
          </a:p>
        </p:txBody>
      </p:sp>
    </p:spTree>
    <p:extLst>
      <p:ext uri="{BB962C8B-B14F-4D97-AF65-F5344CB8AC3E}">
        <p14:creationId xmlns:p14="http://schemas.microsoft.com/office/powerpoint/2010/main" val="33861486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59706" y="1890640"/>
            <a:ext cx="3139126" cy="424206"/>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445274" y="1184245"/>
            <a:ext cx="7571834" cy="3524113"/>
          </a:xfrm>
        </p:spPr>
        <p:txBody>
          <a:bodyPr>
            <a:noAutofit/>
          </a:bodyPr>
          <a:lstStyle/>
          <a:p>
            <a:pPr marL="0" indent="0" eaLnBrk="1" hangingPunct="1">
              <a:lnSpc>
                <a:spcPct val="150000"/>
              </a:lnSpc>
              <a:spcBef>
                <a:spcPts val="0"/>
              </a:spcBef>
              <a:buNone/>
              <a:defRPr/>
            </a:pPr>
            <a:r>
              <a:rPr lang="en-US" altLang="zh-CN" sz="2400" b="1" dirty="0">
                <a:latin typeface="Arial" panose="020B0604020202020204" pitchFamily="34" charset="0"/>
                <a:ea typeface="宋体" panose="02010600030101010101" pitchFamily="2" charset="-122"/>
                <a:cs typeface="Arial" panose="020B0604020202020204" pitchFamily="34" charset="0"/>
              </a:rPr>
              <a:t>5</a:t>
            </a:r>
            <a:r>
              <a:rPr lang="zh-CN" altLang="en-US" sz="2400" b="1" dirty="0">
                <a:latin typeface="Arial" panose="020B0604020202020204" pitchFamily="34" charset="0"/>
                <a:ea typeface="宋体" panose="02010600030101010101" pitchFamily="2" charset="-122"/>
                <a:cs typeface="Arial" panose="020B0604020202020204" pitchFamily="34" charset="0"/>
              </a:rPr>
              <a:t>．常见的系统误差及降低其对测量结果影响的方法</a:t>
            </a:r>
          </a:p>
          <a:p>
            <a:pPr marL="0" indent="0" eaLnBrk="1" hangingPunct="1">
              <a:lnSpc>
                <a:spcPct val="150000"/>
              </a:lnSpc>
              <a:spcBef>
                <a:spcPts val="0"/>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 ③减小系统误差的方法</a:t>
            </a:r>
          </a:p>
          <a:p>
            <a:pPr marL="0" indent="0" eaLnBrk="1" hangingPunct="1">
              <a:lnSpc>
                <a:spcPct val="150000"/>
              </a:lnSpc>
              <a:spcBef>
                <a:spcPts val="0"/>
              </a:spcBef>
              <a:buNone/>
              <a:defRPr/>
            </a:pPr>
            <a:r>
              <a:rPr lang="zh-CN" altLang="en-US" sz="2400" b="1">
                <a:solidFill>
                  <a:srgbClr val="0000FF"/>
                </a:solidFill>
                <a:latin typeface="Arial" panose="020B0604020202020204" pitchFamily="34" charset="0"/>
                <a:ea typeface="宋体" panose="02010600030101010101" pitchFamily="2" charset="-122"/>
                <a:cs typeface="Arial" panose="020B0604020202020204" pitchFamily="34" charset="0"/>
              </a:rPr>
              <a:t>      </a:t>
            </a:r>
            <a:r>
              <a:rPr lang="en-US" altLang="zh-CN" sz="2400" b="1">
                <a:solidFill>
                  <a:srgbClr val="0000FF"/>
                </a:solidFill>
                <a:latin typeface="palatino"/>
                <a:ea typeface="宋体" panose="02010600030101010101" pitchFamily="2" charset="-122"/>
                <a:cs typeface="Arial" panose="020B0604020202020204" pitchFamily="34" charset="0"/>
              </a:rPr>
              <a:t>I</a:t>
            </a:r>
            <a:r>
              <a:rPr lang="en-US" altLang="zh-CN" sz="2400" b="1">
                <a:solidFill>
                  <a:srgbClr val="0000FF"/>
                </a:solidFill>
                <a:latin typeface="Arial" panose="020B0604020202020204" pitchFamily="34" charset="0"/>
                <a:ea typeface="宋体" panose="02010600030101010101" pitchFamily="2" charset="-122"/>
                <a:cs typeface="Arial" panose="020B0604020202020204" pitchFamily="34" charset="0"/>
              </a:rPr>
              <a:t>-</a:t>
            </a:r>
            <a:r>
              <a:rPr lang="zh-CN" altLang="en-US" sz="2400" b="1">
                <a:solidFill>
                  <a:srgbClr val="0000FF"/>
                </a:solidFill>
                <a:latin typeface="Arial" panose="020B0604020202020204" pitchFamily="34" charset="0"/>
                <a:ea typeface="宋体" panose="02010600030101010101" pitchFamily="2" charset="-122"/>
                <a:cs typeface="Arial" panose="020B0604020202020204" pitchFamily="34" charset="0"/>
              </a:rPr>
              <a:t>引入</a:t>
            </a:r>
            <a:r>
              <a:rPr lang="zh-CN" altLang="en-US" sz="2400" b="1" dirty="0">
                <a:solidFill>
                  <a:srgbClr val="0000FF"/>
                </a:solidFill>
                <a:latin typeface="Arial" panose="020B0604020202020204" pitchFamily="34" charset="0"/>
                <a:ea typeface="宋体" panose="02010600030101010101" pitchFamily="2" charset="-122"/>
                <a:cs typeface="Arial" panose="020B0604020202020204" pitchFamily="34" charset="0"/>
              </a:rPr>
              <a:t>更正值法：</a:t>
            </a:r>
          </a:p>
          <a:p>
            <a:pPr marL="0" indent="0" eaLnBrk="1" hangingPunct="1">
              <a:lnSpc>
                <a:spcPct val="125000"/>
              </a:lnSpc>
              <a:spcBef>
                <a:spcPts val="0"/>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      若通过对测量仪表的</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校准</a:t>
            </a:r>
            <a:r>
              <a:rPr lang="zh-CN" altLang="en-US" sz="2400" b="1" dirty="0">
                <a:latin typeface="Arial" panose="020B0604020202020204" pitchFamily="34" charset="0"/>
                <a:ea typeface="宋体" panose="02010600030101010101" pitchFamily="2" charset="-122"/>
                <a:cs typeface="Arial" panose="020B0604020202020204" pitchFamily="34" charset="0"/>
              </a:rPr>
              <a:t>，知道了仪表的更正值，则将测量结果的指示值加上更正值，就可得到被测量的实际值。这时的系统误差不是被完全消除了，而是大大被削弱了，因为更正值本身也有误差。</a:t>
            </a:r>
          </a:p>
          <a:p>
            <a:pPr marL="0" indent="0" eaLnBrk="1" hangingPunct="1">
              <a:lnSpc>
                <a:spcPct val="150000"/>
              </a:lnSpc>
              <a:spcBef>
                <a:spcPts val="0"/>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 </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3" name="Slide Number Placeholder 2">
            <a:extLst>
              <a:ext uri="{FF2B5EF4-FFF2-40B4-BE49-F238E27FC236}">
                <a16:creationId xmlns:a16="http://schemas.microsoft.com/office/drawing/2014/main" id="{83F4BB5F-9944-4417-B35D-677F8E233EB1}"/>
              </a:ext>
            </a:extLst>
          </p:cNvPr>
          <p:cNvSpPr>
            <a:spLocks noGrp="1"/>
          </p:cNvSpPr>
          <p:nvPr>
            <p:ph type="sldNum" sz="quarter" idx="12"/>
          </p:nvPr>
        </p:nvSpPr>
        <p:spPr/>
        <p:txBody>
          <a:bodyPr/>
          <a:lstStyle/>
          <a:p>
            <a:fld id="{DC11BA4E-7967-4102-867C-9D230A2E6791}" type="slidenum">
              <a:rPr lang="zh-CN" altLang="en-US" smtClean="0"/>
              <a:t>33</a:t>
            </a:fld>
            <a:endParaRPr lang="zh-CN" altLang="en-US"/>
          </a:p>
        </p:txBody>
      </p:sp>
      <p:sp>
        <p:nvSpPr>
          <p:cNvPr id="9" name="TextBox 8">
            <a:extLst>
              <a:ext uri="{FF2B5EF4-FFF2-40B4-BE49-F238E27FC236}">
                <a16:creationId xmlns:a16="http://schemas.microsoft.com/office/drawing/2014/main" id="{07F799E9-9B7F-43F9-9080-756569F4778E}"/>
              </a:ext>
            </a:extLst>
          </p:cNvPr>
          <p:cNvSpPr txBox="1"/>
          <p:nvPr/>
        </p:nvSpPr>
        <p:spPr>
          <a:xfrm>
            <a:off x="378995" y="4708358"/>
            <a:ext cx="8319731" cy="1479444"/>
          </a:xfrm>
          <a:prstGeom prst="rect">
            <a:avLst/>
          </a:prstGeom>
          <a:noFill/>
        </p:spPr>
        <p:txBody>
          <a:bodyPr wrap="square">
            <a:spAutoFit/>
          </a:bodyPr>
          <a:lstStyle/>
          <a:p>
            <a:pPr marL="0" marR="0" lvl="0" indent="45085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2400" b="1" i="0" u="sng"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直接比较法</a:t>
            </a:r>
            <a:r>
              <a:rPr kumimoji="0" lang="en-US" altLang="zh-CN" sz="2400" b="1" i="0" u="sng"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a:t>
            </a:r>
            <a:r>
              <a:rPr kumimoji="0" lang="zh-CN" altLang="en-US" sz="2400" b="1" i="0" u="sng"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即零位式测量法</a:t>
            </a:r>
            <a:r>
              <a:rPr kumimoji="0" lang="en-US" altLang="zh-CN" sz="2400" b="1" i="0" u="sng"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a:t>
            </a:r>
            <a:r>
              <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a:t>
            </a:r>
          </a:p>
          <a:p>
            <a:pPr marL="0" marR="0" lvl="0" indent="442913"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优点是测量误差</a:t>
            </a:r>
            <a:r>
              <a:rPr kumimoji="0" lang="zh-CN" altLang="en-US" sz="2400" b="1"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Arial" panose="020B0604020202020204" pitchFamily="34" charset="0"/>
              </a:rPr>
              <a:t>主要取决于参加比较的标准量具的误差</a:t>
            </a:r>
            <a:r>
              <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，标准量具的误差可以保证是很小的。</a:t>
            </a:r>
            <a:endPar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67906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85083" y="1472093"/>
            <a:ext cx="4780779" cy="4884258"/>
          </a:xfrm>
        </p:spPr>
        <p:txBody>
          <a:bodyPr>
            <a:noAutofit/>
          </a:bodyPr>
          <a:lstStyle/>
          <a:p>
            <a:pPr marL="0" indent="450850" eaLnBrk="1" hangingPunct="1">
              <a:lnSpc>
                <a:spcPct val="130000"/>
              </a:lnSpc>
              <a:spcBef>
                <a:spcPts val="1200"/>
              </a:spcBef>
              <a:buNone/>
              <a:defRPr/>
            </a:pPr>
            <a:r>
              <a:rPr lang="en-US" altLang="zh-CN" sz="2400" b="1">
                <a:solidFill>
                  <a:srgbClr val="0000FF"/>
                </a:solidFill>
                <a:latin typeface="palatino"/>
                <a:ea typeface="宋体" panose="02010600030101010101" pitchFamily="2" charset="-122"/>
                <a:cs typeface="Arial" panose="020B0604020202020204" pitchFamily="34" charset="0"/>
              </a:rPr>
              <a:t>II-</a:t>
            </a:r>
            <a:r>
              <a:rPr lang="zh-CN" altLang="en-US" sz="2400" b="1" u="sng">
                <a:solidFill>
                  <a:srgbClr val="0000FF"/>
                </a:solidFill>
                <a:latin typeface="Arial" panose="020B0604020202020204" pitchFamily="34" charset="0"/>
                <a:ea typeface="宋体" panose="02010600030101010101" pitchFamily="2" charset="-122"/>
                <a:cs typeface="Arial" panose="020B0604020202020204" pitchFamily="34" charset="0"/>
              </a:rPr>
              <a:t>替换法</a:t>
            </a:r>
            <a:r>
              <a:rPr lang="zh-CN" altLang="en-US" sz="2400" b="1">
                <a:solidFill>
                  <a:srgbClr val="0000FF"/>
                </a:solidFill>
                <a:latin typeface="Arial" panose="020B0604020202020204" pitchFamily="34" charset="0"/>
                <a:ea typeface="宋体" panose="02010600030101010101" pitchFamily="2" charset="-122"/>
                <a:cs typeface="Arial" panose="020B0604020202020204" pitchFamily="34" charset="0"/>
              </a:rPr>
              <a:t>：</a:t>
            </a:r>
            <a:endParaRPr lang="en-US" altLang="zh-CN" sz="2400" b="1" dirty="0">
              <a:solidFill>
                <a:srgbClr val="0000FF"/>
              </a:solidFill>
              <a:latin typeface="Arial" panose="020B0604020202020204" pitchFamily="34" charset="0"/>
              <a:ea typeface="宋体" panose="02010600030101010101" pitchFamily="2" charset="-122"/>
              <a:cs typeface="Arial" panose="020B0604020202020204" pitchFamily="34" charset="0"/>
            </a:endParaRPr>
          </a:p>
          <a:p>
            <a:pPr marL="0" indent="442913" eaLnBrk="1" hangingPunct="1">
              <a:lnSpc>
                <a:spcPct val="130000"/>
              </a:lnSpc>
              <a:spcBef>
                <a:spcPts val="1200"/>
              </a:spcBef>
              <a:buNone/>
              <a:defRPr/>
            </a:pPr>
            <a:r>
              <a:rPr lang="zh-CN" altLang="en-US" sz="2400" b="1">
                <a:latin typeface="Arial" panose="020B0604020202020204" pitchFamily="34" charset="0"/>
                <a:ea typeface="宋体" panose="02010600030101010101" pitchFamily="2" charset="-122"/>
                <a:cs typeface="Arial" panose="020B0604020202020204" pitchFamily="34" charset="0"/>
              </a:rPr>
              <a:t>用</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可调的标准量具</a:t>
            </a:r>
            <a:r>
              <a:rPr lang="zh-CN" altLang="en-US" sz="2400" b="1" dirty="0">
                <a:latin typeface="Arial" panose="020B0604020202020204" pitchFamily="34" charset="0"/>
                <a:ea typeface="宋体" panose="02010600030101010101" pitchFamily="2" charset="-122"/>
                <a:cs typeface="Arial" panose="020B0604020202020204" pitchFamily="34" charset="0"/>
              </a:rPr>
              <a:t>代替被测量接入测量仪表，然后调整标准量具，</a:t>
            </a:r>
            <a:r>
              <a:rPr lang="zh-CN" altLang="en-US" sz="2400" b="1" dirty="0">
                <a:solidFill>
                  <a:srgbClr val="0000FF"/>
                </a:solidFill>
                <a:latin typeface="Arial" panose="020B0604020202020204" pitchFamily="34" charset="0"/>
                <a:ea typeface="宋体" panose="02010600030101010101" pitchFamily="2" charset="-122"/>
                <a:cs typeface="Arial" panose="020B0604020202020204" pitchFamily="34" charset="0"/>
              </a:rPr>
              <a:t>使测量仪表的指标与被测量接入时相同</a:t>
            </a:r>
            <a:r>
              <a:rPr lang="zh-CN" altLang="en-US" sz="2400" b="1" dirty="0">
                <a:latin typeface="Arial" panose="020B0604020202020204" pitchFamily="34" charset="0"/>
                <a:ea typeface="宋体" panose="02010600030101010101" pitchFamily="2" charset="-122"/>
                <a:cs typeface="Arial" panose="020B0604020202020204" pitchFamily="34" charset="0"/>
              </a:rPr>
              <a:t>，则此时的标准量具的数值即等于被测量。</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 name="Slide Number Placeholder 1">
            <a:extLst>
              <a:ext uri="{FF2B5EF4-FFF2-40B4-BE49-F238E27FC236}">
                <a16:creationId xmlns:a16="http://schemas.microsoft.com/office/drawing/2014/main" id="{394817FB-66FA-485B-8DD1-8705CFF8B872}"/>
              </a:ext>
            </a:extLst>
          </p:cNvPr>
          <p:cNvSpPr>
            <a:spLocks noGrp="1"/>
          </p:cNvSpPr>
          <p:nvPr>
            <p:ph type="sldNum" sz="quarter" idx="12"/>
          </p:nvPr>
        </p:nvSpPr>
        <p:spPr/>
        <p:txBody>
          <a:bodyPr/>
          <a:lstStyle/>
          <a:p>
            <a:fld id="{DC11BA4E-7967-4102-867C-9D230A2E6791}" type="slidenum">
              <a:rPr lang="zh-CN" altLang="en-US" smtClean="0"/>
              <a:t>34</a:t>
            </a:fld>
            <a:endParaRPr lang="zh-CN" altLang="en-US"/>
          </a:p>
        </p:txBody>
      </p:sp>
      <p:sp>
        <p:nvSpPr>
          <p:cNvPr id="39" name="Text Box 9">
            <a:extLst>
              <a:ext uri="{FF2B5EF4-FFF2-40B4-BE49-F238E27FC236}">
                <a16:creationId xmlns:a16="http://schemas.microsoft.com/office/drawing/2014/main" id="{791CC2E1-2DF2-4996-9AC0-A16786406175}"/>
              </a:ext>
            </a:extLst>
          </p:cNvPr>
          <p:cNvSpPr txBox="1">
            <a:spLocks noChangeArrowheads="1"/>
          </p:cNvSpPr>
          <p:nvPr/>
        </p:nvSpPr>
        <p:spPr bwMode="auto">
          <a:xfrm>
            <a:off x="5147199" y="4517259"/>
            <a:ext cx="390856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a:solidFill>
                  <a:srgbClr val="000099"/>
                </a:solidFill>
                <a:latin typeface="宋体" pitchFamily="2" charset="-122"/>
                <a:ea typeface="宋体" pitchFamily="2" charset="-122"/>
              </a:rPr>
              <a:t>图</a:t>
            </a:r>
            <a:r>
              <a:rPr kumimoji="0" lang="en-US" altLang="zh-CN" b="1">
                <a:solidFill>
                  <a:srgbClr val="000099"/>
                </a:solidFill>
                <a:latin typeface="宋体" pitchFamily="2" charset="-122"/>
                <a:ea typeface="宋体" pitchFamily="2" charset="-122"/>
              </a:rPr>
              <a:t>15-13 </a:t>
            </a:r>
            <a:r>
              <a:rPr kumimoji="0" lang="zh-CN" altLang="en-US" b="1" dirty="0">
                <a:solidFill>
                  <a:srgbClr val="000099"/>
                </a:solidFill>
                <a:latin typeface="宋体" pitchFamily="2" charset="-122"/>
                <a:ea typeface="宋体" pitchFamily="2" charset="-122"/>
              </a:rPr>
              <a:t>用替换法测量电阻的示意图</a:t>
            </a:r>
          </a:p>
        </p:txBody>
      </p:sp>
      <p:pic>
        <p:nvPicPr>
          <p:cNvPr id="40" name="图片 3">
            <a:extLst>
              <a:ext uri="{FF2B5EF4-FFF2-40B4-BE49-F238E27FC236}">
                <a16:creationId xmlns:a16="http://schemas.microsoft.com/office/drawing/2014/main" id="{9FE03865-9B23-4080-9A53-3809D550B47E}"/>
              </a:ext>
            </a:extLst>
          </p:cNvPr>
          <p:cNvPicPr>
            <a:picLocks noChangeAspect="1"/>
          </p:cNvPicPr>
          <p:nvPr/>
        </p:nvPicPr>
        <p:blipFill>
          <a:blip r:embed="rId3"/>
          <a:stretch>
            <a:fillRect/>
          </a:stretch>
        </p:blipFill>
        <p:spPr>
          <a:xfrm>
            <a:off x="5147199" y="1848266"/>
            <a:ext cx="3811718" cy="2491897"/>
          </a:xfrm>
          <a:prstGeom prst="rect">
            <a:avLst/>
          </a:prstGeom>
        </p:spPr>
      </p:pic>
    </p:spTree>
    <p:extLst>
      <p:ext uri="{BB962C8B-B14F-4D97-AF65-F5344CB8AC3E}">
        <p14:creationId xmlns:p14="http://schemas.microsoft.com/office/powerpoint/2010/main" val="6621474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744721" y="1399259"/>
            <a:ext cx="7498798" cy="4460521"/>
          </a:xfrm>
        </p:spPr>
        <p:txBody>
          <a:bodyPr>
            <a:noAutofit/>
          </a:bodyPr>
          <a:lstStyle/>
          <a:p>
            <a:pPr marL="0" indent="631825" eaLnBrk="1" hangingPunct="1">
              <a:lnSpc>
                <a:spcPct val="150000"/>
              </a:lnSpc>
              <a:spcBef>
                <a:spcPts val="0"/>
              </a:spcBef>
              <a:buNone/>
              <a:defRPr/>
            </a:pPr>
            <a:r>
              <a:rPr lang="en-US" altLang="zh-CN" sz="2400" b="1">
                <a:latin typeface="palatino"/>
                <a:ea typeface="宋体" panose="02010600030101010101" pitchFamily="2" charset="-122"/>
                <a:cs typeface="Arial" panose="020B0604020202020204" pitchFamily="34" charset="0"/>
              </a:rPr>
              <a:t>III-</a:t>
            </a:r>
            <a:r>
              <a:rPr lang="zh-CN" altLang="en-US" sz="2400" b="1" u="sng">
                <a:latin typeface="Arial" panose="020B0604020202020204" pitchFamily="34" charset="0"/>
                <a:ea typeface="宋体" panose="02010600030101010101" pitchFamily="2" charset="-122"/>
                <a:cs typeface="Arial" panose="020B0604020202020204" pitchFamily="34" charset="0"/>
              </a:rPr>
              <a:t>差值</a:t>
            </a:r>
            <a:r>
              <a:rPr lang="zh-CN" altLang="en-US" sz="2400" b="1" u="sng" dirty="0">
                <a:latin typeface="Arial" panose="020B0604020202020204" pitchFamily="34" charset="0"/>
                <a:ea typeface="宋体" panose="02010600030101010101" pitchFamily="2" charset="-122"/>
                <a:cs typeface="Arial" panose="020B0604020202020204" pitchFamily="34" charset="0"/>
              </a:rPr>
              <a:t>法</a:t>
            </a:r>
            <a:r>
              <a:rPr lang="zh-CN" altLang="en-US" sz="2400" b="1" dirty="0">
                <a:latin typeface="Arial" panose="020B0604020202020204" pitchFamily="34" charset="0"/>
                <a:ea typeface="宋体" panose="02010600030101010101" pitchFamily="2" charset="-122"/>
                <a:cs typeface="Arial" panose="020B0604020202020204" pitchFamily="34" charset="0"/>
              </a:rPr>
              <a:t>：</a:t>
            </a:r>
          </a:p>
          <a:p>
            <a:pPr marL="0" indent="631825">
              <a:lnSpc>
                <a:spcPct val="150000"/>
              </a:lnSpc>
              <a:spcBef>
                <a:spcPts val="0"/>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将标准量与被测量相减，然后测量二者的差值。</a:t>
            </a:r>
            <a:r>
              <a:rPr lang="zh-CN" altLang="en-US" sz="2400" b="1" dirty="0">
                <a:latin typeface="宋体" panose="02010600030101010101" pitchFamily="2" charset="-122"/>
                <a:ea typeface="宋体" panose="02010600030101010101" pitchFamily="2" charset="-122"/>
              </a:rPr>
              <a:t>必须有</a:t>
            </a:r>
            <a:r>
              <a:rPr lang="zh-CN" altLang="en-US" sz="2400" b="1" dirty="0">
                <a:solidFill>
                  <a:srgbClr val="CC3300"/>
                </a:solidFill>
                <a:latin typeface="宋体" panose="02010600030101010101" pitchFamily="2" charset="-122"/>
                <a:ea typeface="宋体" panose="02010600030101010101" pitchFamily="2" charset="-122"/>
              </a:rPr>
              <a:t>高灵敏度的仪表</a:t>
            </a:r>
            <a:r>
              <a:rPr lang="zh-CN" altLang="en-US" sz="2400" b="1" dirty="0">
                <a:latin typeface="宋体" panose="02010600030101010101" pitchFamily="2" charset="-122"/>
                <a:ea typeface="宋体" panose="02010600030101010101" pitchFamily="2" charset="-122"/>
              </a:rPr>
              <a:t>，类似于</a:t>
            </a:r>
            <a:r>
              <a:rPr lang="zh-CN" altLang="en-US" sz="2400" b="1" dirty="0">
                <a:solidFill>
                  <a:srgbClr val="008000"/>
                </a:solidFill>
                <a:latin typeface="宋体" panose="02010600030101010101" pitchFamily="2" charset="-122"/>
                <a:ea typeface="宋体" panose="02010600030101010101" pitchFamily="2" charset="-122"/>
              </a:rPr>
              <a:t>微差式</a:t>
            </a:r>
            <a:r>
              <a:rPr lang="zh-CN" altLang="en-US" sz="2400" b="1">
                <a:solidFill>
                  <a:srgbClr val="008000"/>
                </a:solidFill>
                <a:latin typeface="宋体" panose="02010600030101010101" pitchFamily="2" charset="-122"/>
                <a:ea typeface="宋体" panose="02010600030101010101" pitchFamily="2" charset="-122"/>
              </a:rPr>
              <a:t>测量</a:t>
            </a:r>
            <a:r>
              <a:rPr lang="zh-CN" altLang="en-US"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631825">
              <a:lnSpc>
                <a:spcPct val="150000"/>
              </a:lnSpc>
              <a:spcBef>
                <a:spcPts val="0"/>
              </a:spcBef>
              <a:buNone/>
              <a:defRPr/>
            </a:pPr>
            <a:endParaRPr lang="zh-CN" altLang="en-US" sz="2400" b="1" dirty="0">
              <a:latin typeface="宋体" panose="02010600030101010101" pitchFamily="2" charset="-122"/>
              <a:ea typeface="宋体" panose="02010600030101010101" pitchFamily="2" charset="-122"/>
              <a:cs typeface="Arial" panose="020B0604020202020204" pitchFamily="34" charset="0"/>
            </a:endParaRPr>
          </a:p>
          <a:p>
            <a:pPr marL="0" indent="631825" eaLnBrk="1" hangingPunct="1">
              <a:lnSpc>
                <a:spcPct val="150000"/>
              </a:lnSpc>
              <a:spcBef>
                <a:spcPts val="0"/>
              </a:spcBef>
              <a:buNone/>
              <a:defRPr/>
            </a:pPr>
            <a:r>
              <a:rPr lang="en-US" altLang="zh-CN" sz="2400" b="1">
                <a:latin typeface="palatino"/>
                <a:ea typeface="宋体" panose="02010600030101010101" pitchFamily="2" charset="-122"/>
                <a:cs typeface="Arial" panose="020B0604020202020204" pitchFamily="34" charset="0"/>
              </a:rPr>
              <a:t>IV-</a:t>
            </a:r>
            <a:r>
              <a:rPr lang="zh-CN" altLang="en-US" sz="2400" b="1" u="sng">
                <a:latin typeface="Arial" panose="020B0604020202020204" pitchFamily="34" charset="0"/>
                <a:ea typeface="宋体" panose="02010600030101010101" pitchFamily="2" charset="-122"/>
                <a:cs typeface="Arial" panose="020B0604020202020204" pitchFamily="34" charset="0"/>
              </a:rPr>
              <a:t>正负</a:t>
            </a:r>
            <a:r>
              <a:rPr lang="zh-CN" altLang="en-US" sz="2400" b="1" u="sng" dirty="0">
                <a:latin typeface="Arial" panose="020B0604020202020204" pitchFamily="34" charset="0"/>
                <a:ea typeface="宋体" panose="02010600030101010101" pitchFamily="2" charset="-122"/>
                <a:cs typeface="Arial" panose="020B0604020202020204" pitchFamily="34" charset="0"/>
              </a:rPr>
              <a:t>误差相消法</a:t>
            </a:r>
            <a:r>
              <a:rPr lang="zh-CN" altLang="en-US" sz="2400" b="1" dirty="0">
                <a:latin typeface="Arial" panose="020B0604020202020204" pitchFamily="34" charset="0"/>
                <a:ea typeface="宋体" panose="02010600030101010101" pitchFamily="2" charset="-122"/>
                <a:cs typeface="Arial" panose="020B0604020202020204" pitchFamily="34" charset="0"/>
              </a:rPr>
              <a:t>：</a:t>
            </a:r>
          </a:p>
          <a:p>
            <a:pPr marL="0" indent="631825" eaLnBrk="1" hangingPunct="1">
              <a:lnSpc>
                <a:spcPct val="150000"/>
              </a:lnSpc>
              <a:spcBef>
                <a:spcPts val="0"/>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当测量仪表内部存在着</a:t>
            </a:r>
            <a:r>
              <a:rPr lang="zh-CN" altLang="en-US" sz="2400" b="1" dirty="0">
                <a:solidFill>
                  <a:srgbClr val="0000FF"/>
                </a:solidFill>
                <a:latin typeface="Arial" panose="020B0604020202020204" pitchFamily="34" charset="0"/>
                <a:ea typeface="宋体" panose="02010600030101010101" pitchFamily="2" charset="-122"/>
                <a:cs typeface="Arial" panose="020B0604020202020204" pitchFamily="34" charset="0"/>
              </a:rPr>
              <a:t>固定方向的误差</a:t>
            </a:r>
            <a:r>
              <a:rPr lang="zh-CN" altLang="en-US" sz="2400" b="1" dirty="0">
                <a:latin typeface="Arial" panose="020B0604020202020204" pitchFamily="34" charset="0"/>
                <a:ea typeface="宋体" panose="02010600030101010101" pitchFamily="2" charset="-122"/>
                <a:cs typeface="Arial" panose="020B0604020202020204" pitchFamily="34" charset="0"/>
              </a:rPr>
              <a:t>因素时，可以改变被测量的极性，作两次测量，然后取二者的平均值，以消除固定方向的误差因素。</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 name="Slide Number Placeholder 1">
            <a:extLst>
              <a:ext uri="{FF2B5EF4-FFF2-40B4-BE49-F238E27FC236}">
                <a16:creationId xmlns:a16="http://schemas.microsoft.com/office/drawing/2014/main" id="{50C11D00-2072-4962-AAAA-C2E7EEAC3D8C}"/>
              </a:ext>
            </a:extLst>
          </p:cNvPr>
          <p:cNvSpPr>
            <a:spLocks noGrp="1"/>
          </p:cNvSpPr>
          <p:nvPr>
            <p:ph type="sldNum" sz="quarter" idx="12"/>
          </p:nvPr>
        </p:nvSpPr>
        <p:spPr/>
        <p:txBody>
          <a:bodyPr/>
          <a:lstStyle/>
          <a:p>
            <a:fld id="{DC11BA4E-7967-4102-867C-9D230A2E6791}" type="slidenum">
              <a:rPr lang="zh-CN" altLang="en-US" smtClean="0"/>
              <a:t>35</a:t>
            </a:fld>
            <a:endParaRPr lang="zh-CN" altLang="en-US"/>
          </a:p>
        </p:txBody>
      </p:sp>
    </p:spTree>
    <p:extLst>
      <p:ext uri="{BB962C8B-B14F-4D97-AF65-F5344CB8AC3E}">
        <p14:creationId xmlns:p14="http://schemas.microsoft.com/office/powerpoint/2010/main" val="366001018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505157" y="1820518"/>
            <a:ext cx="8133686" cy="2905207"/>
          </a:xfrm>
        </p:spPr>
        <p:txBody>
          <a:bodyPr>
            <a:noAutofit/>
          </a:bodyPr>
          <a:lstStyle/>
          <a:p>
            <a:pPr marL="0" indent="631825" eaLnBrk="1" hangingPunct="1">
              <a:lnSpc>
                <a:spcPct val="150000"/>
              </a:lnSpc>
              <a:spcBef>
                <a:spcPts val="624"/>
              </a:spcBef>
              <a:buNone/>
              <a:defRPr/>
            </a:pPr>
            <a:r>
              <a:rPr lang="en-US" altLang="zh-CN" sz="2400" b="1">
                <a:latin typeface="palatino"/>
                <a:ea typeface="宋体" panose="02010600030101010101" pitchFamily="2" charset="-122"/>
                <a:cs typeface="Arial" panose="020B0604020202020204" pitchFamily="34" charset="0"/>
              </a:rPr>
              <a:t>V-</a:t>
            </a:r>
            <a:r>
              <a:rPr lang="zh-CN" altLang="en-US" sz="2400" b="1" u="sng">
                <a:latin typeface="宋体" panose="02010600030101010101" pitchFamily="2" charset="-122"/>
                <a:ea typeface="宋体" panose="02010600030101010101" pitchFamily="2" charset="-122"/>
                <a:cs typeface="Arial" panose="020B0604020202020204" pitchFamily="34" charset="0"/>
              </a:rPr>
              <a:t>选择</a:t>
            </a:r>
            <a:r>
              <a:rPr lang="zh-CN" altLang="en-US" sz="2400" b="1" u="sng" dirty="0">
                <a:latin typeface="宋体" panose="02010600030101010101" pitchFamily="2" charset="-122"/>
                <a:ea typeface="宋体" panose="02010600030101010101" pitchFamily="2" charset="-122"/>
                <a:cs typeface="Arial" panose="020B0604020202020204" pitchFamily="34" charset="0"/>
              </a:rPr>
              <a:t>最佳测量方案</a:t>
            </a:r>
            <a:r>
              <a:rPr lang="zh-CN" altLang="en-US" sz="2400" b="1" dirty="0">
                <a:latin typeface="宋体" panose="02010600030101010101" pitchFamily="2" charset="-122"/>
                <a:ea typeface="宋体" panose="02010600030101010101" pitchFamily="2" charset="-122"/>
                <a:cs typeface="Arial" panose="020B0604020202020204" pitchFamily="34" charset="0"/>
              </a:rPr>
              <a:t>：</a:t>
            </a:r>
          </a:p>
          <a:p>
            <a:pPr marL="0" indent="631825" eaLnBrk="1" hangingPunct="1">
              <a:lnSpc>
                <a:spcPct val="150000"/>
              </a:lnSpc>
              <a:spcBef>
                <a:spcPts val="624"/>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所谓最佳测量方案，就是指</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总误差为最小</a:t>
            </a:r>
            <a:r>
              <a:rPr lang="zh-CN" altLang="en-US" sz="2400" b="1" dirty="0">
                <a:latin typeface="宋体" panose="02010600030101010101" pitchFamily="2" charset="-122"/>
                <a:ea typeface="宋体" panose="02010600030101010101" pitchFamily="2" charset="-122"/>
                <a:cs typeface="Arial" panose="020B0604020202020204" pitchFamily="34" charset="0"/>
              </a:rPr>
              <a:t>的测量方案，而多数情况下是指选择合适的函数形式及在函数形式确定之后，选择合适的测量点。</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 name="Slide Number Placeholder 1">
            <a:extLst>
              <a:ext uri="{FF2B5EF4-FFF2-40B4-BE49-F238E27FC236}">
                <a16:creationId xmlns:a16="http://schemas.microsoft.com/office/drawing/2014/main" id="{8975058D-6195-4D31-B55B-15EB7FE0CFCC}"/>
              </a:ext>
            </a:extLst>
          </p:cNvPr>
          <p:cNvSpPr>
            <a:spLocks noGrp="1"/>
          </p:cNvSpPr>
          <p:nvPr>
            <p:ph type="sldNum" sz="quarter" idx="12"/>
          </p:nvPr>
        </p:nvSpPr>
        <p:spPr/>
        <p:txBody>
          <a:bodyPr/>
          <a:lstStyle/>
          <a:p>
            <a:fld id="{DC11BA4E-7967-4102-867C-9D230A2E6791}" type="slidenum">
              <a:rPr lang="zh-CN" altLang="en-US" smtClean="0"/>
              <a:t>36</a:t>
            </a:fld>
            <a:endParaRPr lang="zh-CN" altLang="en-US"/>
          </a:p>
        </p:txBody>
      </p:sp>
    </p:spTree>
    <p:extLst>
      <p:ext uri="{BB962C8B-B14F-4D97-AF65-F5344CB8AC3E}">
        <p14:creationId xmlns:p14="http://schemas.microsoft.com/office/powerpoint/2010/main" val="1068218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435402" y="1658691"/>
            <a:ext cx="4393499" cy="563743"/>
          </a:xfrm>
        </p:spPr>
        <p:txBody>
          <a:bodyPr>
            <a:noAutofit/>
          </a:bodyPr>
          <a:lstStyle/>
          <a:p>
            <a:pPr marL="0" indent="0" eaLnBrk="1" hangingPunct="1">
              <a:lnSpc>
                <a:spcPct val="100000"/>
              </a:lnSpc>
              <a:spcBef>
                <a:spcPts val="672"/>
              </a:spcBef>
              <a:buNone/>
              <a:defRPr/>
            </a:pPr>
            <a:r>
              <a:rPr lang="en-US" altLang="zh-CN" sz="2400" b="1" dirty="0">
                <a:latin typeface="Arial" panose="020B0604020202020204" pitchFamily="34" charset="0"/>
                <a:ea typeface="宋体" panose="02010600030101010101" pitchFamily="2" charset="-122"/>
                <a:cs typeface="Arial" panose="020B0604020202020204" pitchFamily="34" charset="0"/>
              </a:rPr>
              <a:t>6</a:t>
            </a:r>
            <a:r>
              <a:rPr lang="zh-CN" altLang="en-US" sz="2400" b="1" dirty="0">
                <a:latin typeface="Arial" panose="020B0604020202020204" pitchFamily="34" charset="0"/>
                <a:ea typeface="宋体" panose="02010600030101010101" pitchFamily="2" charset="-122"/>
                <a:cs typeface="Arial" panose="020B0604020202020204" pitchFamily="34" charset="0"/>
              </a:rPr>
              <a:t>．系统误差的综合与分配</a:t>
            </a:r>
          </a:p>
        </p:txBody>
      </p:sp>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8" name="矩形 27"/>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4" name="Rectangle 5"/>
          <p:cNvSpPr>
            <a:spLocks noChangeArrowheads="1"/>
          </p:cNvSpPr>
          <p:nvPr/>
        </p:nvSpPr>
        <p:spPr bwMode="auto">
          <a:xfrm>
            <a:off x="317556" y="2517171"/>
            <a:ext cx="8126233" cy="64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fontAlgn="t" hangingPunct="1">
              <a:lnSpc>
                <a:spcPct val="150000"/>
              </a:lnSpc>
              <a:spcBef>
                <a:spcPct val="50000"/>
              </a:spcBef>
            </a:pPr>
            <a:r>
              <a:rPr lang="zh-CN" altLang="zh-CN" sz="2400" dirty="0">
                <a:solidFill>
                  <a:schemeClr val="tx1"/>
                </a:solidFill>
                <a:latin typeface="宋体" panose="02010600030101010101" pitchFamily="2" charset="-122"/>
              </a:rPr>
              <a:t>（1）如何根据各分项误差来确定总误差</a:t>
            </a:r>
            <a:r>
              <a:rPr lang="zh-CN" altLang="zh-CN" sz="2400">
                <a:solidFill>
                  <a:schemeClr val="tx1"/>
                </a:solidFill>
                <a:latin typeface="宋体" panose="02010600030101010101" pitchFamily="2" charset="-122"/>
              </a:rPr>
              <a:t>，即</a:t>
            </a:r>
            <a:r>
              <a:rPr lang="zh-CN" altLang="zh-CN" sz="2400">
                <a:solidFill>
                  <a:srgbClr val="FF0000"/>
                </a:solidFill>
                <a:latin typeface="宋体" panose="02010600030101010101" pitchFamily="2" charset="-122"/>
              </a:rPr>
              <a:t>误差</a:t>
            </a:r>
            <a:r>
              <a:rPr lang="zh-CN" altLang="zh-CN" sz="2400" dirty="0">
                <a:solidFill>
                  <a:srgbClr val="FF0000"/>
                </a:solidFill>
                <a:latin typeface="宋体" panose="02010600030101010101" pitchFamily="2" charset="-122"/>
              </a:rPr>
              <a:t>合</a:t>
            </a:r>
            <a:r>
              <a:rPr lang="zh-CN" altLang="zh-CN" sz="2400">
                <a:solidFill>
                  <a:srgbClr val="FF0000"/>
                </a:solidFill>
                <a:latin typeface="宋体" panose="02010600030101010101" pitchFamily="2" charset="-122"/>
              </a:rPr>
              <a:t>成</a:t>
            </a:r>
            <a:r>
              <a:rPr lang="zh-CN" altLang="zh-CN" sz="2400" dirty="0">
                <a:solidFill>
                  <a:schemeClr val="tx1"/>
                </a:solidFill>
                <a:latin typeface="宋体" panose="02010600030101010101" pitchFamily="2" charset="-122"/>
              </a:rPr>
              <a:t>问题； </a:t>
            </a:r>
          </a:p>
        </p:txBody>
      </p:sp>
      <p:sp>
        <p:nvSpPr>
          <p:cNvPr id="40" name="Rectangle 6"/>
          <p:cNvSpPr>
            <a:spLocks noChangeArrowheads="1"/>
          </p:cNvSpPr>
          <p:nvPr/>
        </p:nvSpPr>
        <p:spPr bwMode="auto">
          <a:xfrm>
            <a:off x="317556" y="3590483"/>
            <a:ext cx="8658970" cy="1115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747713" indent="-747713"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marL="84138" indent="-84138" eaLnBrk="1" hangingPunct="1">
              <a:lnSpc>
                <a:spcPct val="150000"/>
              </a:lnSpc>
              <a:spcBef>
                <a:spcPct val="50000"/>
              </a:spcBef>
            </a:pPr>
            <a:r>
              <a:rPr lang="zh-CN" altLang="zh-CN" sz="2400" dirty="0">
                <a:solidFill>
                  <a:schemeClr val="tx1"/>
                </a:solidFill>
                <a:latin typeface="宋体" panose="02010600030101010101" pitchFamily="2" charset="-122"/>
              </a:rPr>
              <a:t>（2）当技术上对某量的总误差限定一定范围以后，如何确定各分项误差的数值</a:t>
            </a:r>
            <a:r>
              <a:rPr lang="zh-CN" altLang="zh-CN" sz="2400">
                <a:solidFill>
                  <a:schemeClr val="tx1"/>
                </a:solidFill>
                <a:latin typeface="宋体" panose="02010600030101010101" pitchFamily="2" charset="-122"/>
              </a:rPr>
              <a:t>，即</a:t>
            </a:r>
            <a:r>
              <a:rPr lang="zh-CN" altLang="zh-CN" sz="2400">
                <a:solidFill>
                  <a:srgbClr val="FF0000"/>
                </a:solidFill>
                <a:latin typeface="宋体" panose="02010600030101010101" pitchFamily="2" charset="-122"/>
              </a:rPr>
              <a:t>误差分配</a:t>
            </a:r>
            <a:r>
              <a:rPr lang="zh-CN" altLang="zh-CN" sz="2400">
                <a:solidFill>
                  <a:schemeClr val="tx1"/>
                </a:solidFill>
                <a:latin typeface="宋体" panose="02010600030101010101" pitchFamily="2" charset="-122"/>
              </a:rPr>
              <a:t>问题</a:t>
            </a:r>
            <a:r>
              <a:rPr lang="zh-CN" altLang="en-US" sz="2400" dirty="0">
                <a:solidFill>
                  <a:schemeClr val="tx1"/>
                </a:solidFill>
                <a:latin typeface="宋体" panose="02010600030101010101" pitchFamily="2" charset="-122"/>
              </a:rPr>
              <a:t>，关系到检测仪表的设计</a:t>
            </a:r>
            <a:r>
              <a:rPr lang="zh-CN" altLang="zh-CN" sz="2400" dirty="0">
                <a:solidFill>
                  <a:schemeClr val="tx1"/>
                </a:solidFill>
                <a:latin typeface="宋体" panose="02010600030101010101" pitchFamily="2" charset="-122"/>
              </a:rPr>
              <a:t>。 </a:t>
            </a:r>
          </a:p>
        </p:txBody>
      </p:sp>
      <p:sp>
        <p:nvSpPr>
          <p:cNvPr id="2" name="Slide Number Placeholder 1">
            <a:extLst>
              <a:ext uri="{FF2B5EF4-FFF2-40B4-BE49-F238E27FC236}">
                <a16:creationId xmlns:a16="http://schemas.microsoft.com/office/drawing/2014/main" id="{609A91A1-64E6-407A-99C5-B615795E8B48}"/>
              </a:ext>
            </a:extLst>
          </p:cNvPr>
          <p:cNvSpPr>
            <a:spLocks noGrp="1"/>
          </p:cNvSpPr>
          <p:nvPr>
            <p:ph type="sldNum" sz="quarter" idx="12"/>
          </p:nvPr>
        </p:nvSpPr>
        <p:spPr/>
        <p:txBody>
          <a:bodyPr/>
          <a:lstStyle/>
          <a:p>
            <a:fld id="{DC11BA4E-7967-4102-867C-9D230A2E6791}" type="slidenum">
              <a:rPr lang="zh-CN" altLang="en-US" smtClean="0"/>
              <a:t>37</a:t>
            </a:fld>
            <a:endParaRPr lang="zh-CN" altLang="en-US"/>
          </a:p>
        </p:txBody>
      </p:sp>
    </p:spTree>
    <p:extLst>
      <p:ext uri="{BB962C8B-B14F-4D97-AF65-F5344CB8AC3E}">
        <p14:creationId xmlns:p14="http://schemas.microsoft.com/office/powerpoint/2010/main" val="23429425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8" name="矩形 27"/>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41" name="Rectangle 2"/>
          <p:cNvSpPr>
            <a:spLocks noChangeArrowheads="1"/>
          </p:cNvSpPr>
          <p:nvPr/>
        </p:nvSpPr>
        <p:spPr bwMode="auto">
          <a:xfrm>
            <a:off x="612250" y="1459884"/>
            <a:ext cx="8213698" cy="578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lang="zh-CN" altLang="en-US" sz="2400" dirty="0">
                <a:solidFill>
                  <a:schemeClr val="tx1"/>
                </a:solidFill>
                <a:latin typeface="Times New Roman" panose="02020603050405020304" pitchFamily="18" charset="0"/>
                <a:cs typeface="Times New Roman" panose="02020603050405020304" pitchFamily="18" charset="0"/>
              </a:rPr>
              <a:t>与误差传递相类似，</a:t>
            </a:r>
            <a:r>
              <a:rPr lang="zh-CN" altLang="zh-CN" sz="2400" dirty="0">
                <a:solidFill>
                  <a:schemeClr val="tx1"/>
                </a:solidFill>
                <a:latin typeface="Times New Roman" panose="02020603050405020304" pitchFamily="18" charset="0"/>
                <a:cs typeface="Times New Roman" panose="02020603050405020304" pitchFamily="18" charset="0"/>
              </a:rPr>
              <a:t>设</a:t>
            </a:r>
            <a:r>
              <a:rPr lang="zh-CN" altLang="en-US" sz="2400" dirty="0">
                <a:solidFill>
                  <a:schemeClr val="tx1"/>
                </a:solidFill>
                <a:latin typeface="Times New Roman" panose="02020603050405020304" pitchFamily="18" charset="0"/>
                <a:cs typeface="Times New Roman" panose="02020603050405020304" pitchFamily="18" charset="0"/>
              </a:rPr>
              <a:t>测量值</a:t>
            </a:r>
            <a:r>
              <a:rPr lang="en-US" altLang="zh-CN" sz="2400" b="0" i="1" dirty="0">
                <a:solidFill>
                  <a:schemeClr val="tx1"/>
                </a:solidFill>
                <a:latin typeface="Times New Roman" panose="02020603050405020304" pitchFamily="18" charset="0"/>
                <a:cs typeface="Times New Roman" panose="02020603050405020304" pitchFamily="18" charset="0"/>
              </a:rPr>
              <a:t>y</a:t>
            </a:r>
            <a:r>
              <a:rPr lang="en-US" altLang="zh-CN" sz="2400" b="0" baseline="-25000" dirty="0">
                <a:solidFill>
                  <a:schemeClr val="tx1"/>
                </a:solidFill>
                <a:latin typeface="Times New Roman" panose="02020603050405020304" pitchFamily="18" charset="0"/>
                <a:cs typeface="Times New Roman" panose="02020603050405020304" pitchFamily="18" charset="0"/>
              </a:rPr>
              <a:t>0</a:t>
            </a:r>
            <a:r>
              <a:rPr lang="zh-CN" altLang="en-US" sz="2400" dirty="0">
                <a:solidFill>
                  <a:schemeClr val="tx1"/>
                </a:solidFill>
                <a:latin typeface="Times New Roman" panose="02020603050405020304" pitchFamily="18" charset="0"/>
                <a:cs typeface="Times New Roman" panose="02020603050405020304" pitchFamily="18" charset="0"/>
              </a:rPr>
              <a:t>与变量</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zh-CN" altLang="en-US" sz="2400" dirty="0">
                <a:solidFill>
                  <a:schemeClr val="tx1"/>
                </a:solidFill>
                <a:latin typeface="Times New Roman" panose="02020603050405020304" pitchFamily="18" charset="0"/>
                <a:cs typeface="Times New Roman" panose="02020603050405020304" pitchFamily="18" charset="0"/>
              </a:rPr>
              <a:t>和</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zh-CN" altLang="en-US" sz="2400" dirty="0">
                <a:solidFill>
                  <a:schemeClr val="tx1"/>
                </a:solidFill>
                <a:latin typeface="Times New Roman" panose="02020603050405020304" pitchFamily="18" charset="0"/>
                <a:cs typeface="Times New Roman" panose="02020603050405020304" pitchFamily="18" charset="0"/>
              </a:rPr>
              <a:t>存在如下关系：</a:t>
            </a:r>
            <a:endParaRPr lang="zh-CN" altLang="zh-CN"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42" name="Object 2"/>
          <p:cNvGraphicFramePr>
            <a:graphicFrameLocks noChangeAspect="1"/>
          </p:cNvGraphicFramePr>
          <p:nvPr>
            <p:extLst>
              <p:ext uri="{D42A27DB-BD31-4B8C-83A1-F6EECF244321}">
                <p14:modId xmlns:p14="http://schemas.microsoft.com/office/powerpoint/2010/main" val="3928338940"/>
              </p:ext>
            </p:extLst>
          </p:nvPr>
        </p:nvGraphicFramePr>
        <p:xfrm>
          <a:off x="2422128" y="2152254"/>
          <a:ext cx="3824089" cy="710487"/>
        </p:xfrm>
        <a:graphic>
          <a:graphicData uri="http://schemas.openxmlformats.org/presentationml/2006/ole">
            <mc:AlternateContent xmlns:mc="http://schemas.openxmlformats.org/markup-compatibility/2006">
              <mc:Choice xmlns:v="urn:schemas-microsoft-com:vml" Requires="v">
                <p:oleObj r:id="rId3" imgW="1231900" imgH="228600" progId="Equation.3">
                  <p:embed/>
                </p:oleObj>
              </mc:Choice>
              <mc:Fallback>
                <p:oleObj r:id="rId3" imgW="1231900" imgH="228600" progId="Equation.3">
                  <p:embed/>
                  <p:pic>
                    <p:nvPicPr>
                      <p:cNvPr id="3993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2128" y="2152254"/>
                        <a:ext cx="3824089" cy="710487"/>
                      </a:xfrm>
                      <a:prstGeom prst="rect">
                        <a:avLst/>
                      </a:prstGeom>
                      <a:solidFill>
                        <a:srgbClr val="CCFF33"/>
                      </a:solidFill>
                      <a:ln>
                        <a:noFill/>
                      </a:ln>
                    </p:spPr>
                  </p:pic>
                </p:oleObj>
              </mc:Fallback>
            </mc:AlternateContent>
          </a:graphicData>
        </a:graphic>
      </p:graphicFrame>
      <p:graphicFrame>
        <p:nvGraphicFramePr>
          <p:cNvPr id="43" name="Object 20"/>
          <p:cNvGraphicFramePr>
            <a:graphicFrameLocks noChangeAspect="1"/>
          </p:cNvGraphicFramePr>
          <p:nvPr>
            <p:extLst>
              <p:ext uri="{D42A27DB-BD31-4B8C-83A1-F6EECF244321}">
                <p14:modId xmlns:p14="http://schemas.microsoft.com/office/powerpoint/2010/main" val="2441566008"/>
              </p:ext>
            </p:extLst>
          </p:nvPr>
        </p:nvGraphicFramePr>
        <p:xfrm>
          <a:off x="1166905" y="3728515"/>
          <a:ext cx="6574378" cy="849764"/>
        </p:xfrm>
        <a:graphic>
          <a:graphicData uri="http://schemas.openxmlformats.org/presentationml/2006/ole">
            <mc:AlternateContent xmlns:mc="http://schemas.openxmlformats.org/markup-compatibility/2006">
              <mc:Choice xmlns:v="urn:schemas-microsoft-com:vml" Requires="v">
                <p:oleObj name="Equation" r:id="rId5" imgW="3416300" imgH="431800" progId="Equation.DSMT4">
                  <p:embed/>
                </p:oleObj>
              </mc:Choice>
              <mc:Fallback>
                <p:oleObj name="Equation" r:id="rId5" imgW="3416300" imgH="431800" progId="Equation.DSMT4">
                  <p:embed/>
                  <p:pic>
                    <p:nvPicPr>
                      <p:cNvPr id="39944"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6905" y="3728515"/>
                        <a:ext cx="6574378" cy="849764"/>
                      </a:xfrm>
                      <a:prstGeom prst="rect">
                        <a:avLst/>
                      </a:prstGeom>
                      <a:solidFill>
                        <a:schemeClr val="bg1"/>
                      </a:solidFill>
                      <a:ln>
                        <a:noFill/>
                      </a:ln>
                    </p:spPr>
                  </p:pic>
                </p:oleObj>
              </mc:Fallback>
            </mc:AlternateContent>
          </a:graphicData>
        </a:graphic>
      </p:graphicFrame>
      <p:sp>
        <p:nvSpPr>
          <p:cNvPr id="45" name="Rectangle 2"/>
          <p:cNvSpPr>
            <a:spLocks noChangeArrowheads="1"/>
          </p:cNvSpPr>
          <p:nvPr/>
        </p:nvSpPr>
        <p:spPr bwMode="auto">
          <a:xfrm>
            <a:off x="865457" y="3162126"/>
            <a:ext cx="1728656" cy="463846"/>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lIns="90000" tIns="46800" rIns="90000" bIns="46800">
            <a:spAutoFit/>
          </a:bodyPr>
          <a:lstStyle/>
          <a:p>
            <a:pPr algn="ctr">
              <a:spcBef>
                <a:spcPct val="50000"/>
              </a:spcBef>
              <a:defRPr/>
            </a:pPr>
            <a:r>
              <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绝对误差：</a:t>
            </a:r>
            <a:endParaRPr 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Rectangle 4"/>
          <p:cNvSpPr>
            <a:spLocks noChangeArrowheads="1"/>
          </p:cNvSpPr>
          <p:nvPr/>
        </p:nvSpPr>
        <p:spPr bwMode="auto">
          <a:xfrm>
            <a:off x="950552" y="5892801"/>
            <a:ext cx="51054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chemeClr val="tx1"/>
                </a:solidFill>
                <a:latin typeface="Times New Roman" panose="02020603050405020304" pitchFamily="18" charset="0"/>
                <a:cs typeface="Times New Roman" panose="02020603050405020304" pitchFamily="18" charset="0"/>
              </a:rPr>
              <a:t>其中，</a:t>
            </a:r>
            <a:r>
              <a:rPr lang="el-GR" altLang="zh-CN" sz="2400" b="0" i="1" dirty="0">
                <a:solidFill>
                  <a:srgbClr val="FF0000"/>
                </a:solidFill>
                <a:latin typeface="Times New Roman" panose="02020603050405020304" pitchFamily="18" charset="0"/>
                <a:cs typeface="Times New Roman" panose="02020603050405020304" pitchFamily="18" charset="0"/>
              </a:rPr>
              <a:t>ε</a:t>
            </a:r>
            <a:r>
              <a:rPr lang="zh-CN" altLang="zh-CN" sz="2400" dirty="0">
                <a:solidFill>
                  <a:schemeClr val="tx1"/>
                </a:solidFill>
                <a:latin typeface="Times New Roman" panose="02020603050405020304" pitchFamily="18" charset="0"/>
                <a:cs typeface="Times New Roman" panose="02020603050405020304" pitchFamily="18" charset="0"/>
              </a:rPr>
              <a:t>为系统误差，</a:t>
            </a:r>
            <a:r>
              <a:rPr lang="el-GR" altLang="zh-CN" sz="2400" b="0" i="1" dirty="0">
                <a:solidFill>
                  <a:srgbClr val="FF0000"/>
                </a:solidFill>
                <a:latin typeface="Times New Roman" panose="02020603050405020304" pitchFamily="18" charset="0"/>
                <a:cs typeface="Times New Roman" panose="02020603050405020304" pitchFamily="18" charset="0"/>
              </a:rPr>
              <a:t>σ</a:t>
            </a:r>
            <a:r>
              <a:rPr lang="zh-CN" altLang="zh-CN" sz="2400" dirty="0">
                <a:solidFill>
                  <a:schemeClr val="tx1"/>
                </a:solidFill>
                <a:latin typeface="Times New Roman" panose="02020603050405020304" pitchFamily="18" charset="0"/>
                <a:cs typeface="Times New Roman" panose="02020603050405020304" pitchFamily="18" charset="0"/>
              </a:rPr>
              <a:t>为随机误差</a:t>
            </a:r>
            <a:r>
              <a:rPr lang="zh-CN" altLang="en-US" sz="2400" dirty="0">
                <a:solidFill>
                  <a:schemeClr val="tx1"/>
                </a:solidFill>
                <a:latin typeface="Times New Roman" panose="02020603050405020304" pitchFamily="18" charset="0"/>
                <a:cs typeface="Times New Roman" panose="02020603050405020304" pitchFamily="18" charset="0"/>
              </a:rPr>
              <a:t>。</a:t>
            </a:r>
            <a:endParaRPr lang="zh-CN" altLang="zh-CN"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865457" y="4647243"/>
                <a:ext cx="8046083" cy="85702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𝑓</m:t>
                          </m:r>
                        </m:num>
                        <m:den>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0">
                                  <a:latin typeface="Cambria Math" panose="02040503050406030204" pitchFamily="18" charset="0"/>
                                </a:rPr>
                                <m:t>1</m:t>
                              </m:r>
                            </m:sub>
                          </m:sSub>
                        </m:den>
                      </m:f>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𝜀</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𝜎</m:t>
                              </m:r>
                            </m:e>
                            <m:sub>
                              <m:r>
                                <a:rPr lang="zh-CN" altLang="en-US" sz="2400" i="0">
                                  <a:latin typeface="Cambria Math" panose="02040503050406030204" pitchFamily="18" charset="0"/>
                                </a:rPr>
                                <m:t>1</m:t>
                              </m:r>
                            </m:sub>
                          </m:sSub>
                        </m:e>
                      </m:d>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𝑓</m:t>
                          </m:r>
                        </m:num>
                        <m:den>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0">
                                  <a:latin typeface="Cambria Math" panose="02040503050406030204" pitchFamily="18" charset="0"/>
                                </a:rPr>
                                <m:t>2</m:t>
                              </m:r>
                            </m:sub>
                          </m:sSub>
                        </m:den>
                      </m:f>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𝜀</m:t>
                              </m:r>
                            </m:e>
                            <m:sub>
                              <m:r>
                                <a:rPr lang="zh-CN" altLang="en-US" sz="2400" i="0">
                                  <a:latin typeface="Cambria Math" panose="02040503050406030204" pitchFamily="18" charset="0"/>
                                </a:rPr>
                                <m:t>2</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𝜎</m:t>
                              </m:r>
                            </m:e>
                            <m:sub>
                              <m:r>
                                <a:rPr lang="zh-CN" altLang="en-US" sz="2400" i="0">
                                  <a:latin typeface="Cambria Math" panose="02040503050406030204" pitchFamily="18" charset="0"/>
                                </a:rPr>
                                <m:t>2</m:t>
                              </m:r>
                            </m:sub>
                          </m:sSub>
                        </m:e>
                      </m:d>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𝑓</m:t>
                          </m:r>
                        </m:num>
                        <m:den>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1">
                                  <a:latin typeface="Cambria Math" panose="02040503050406030204" pitchFamily="18" charset="0"/>
                                </a:rPr>
                                <m:t>𝑚</m:t>
                              </m:r>
                            </m:sub>
                          </m:sSub>
                        </m:den>
                      </m:f>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𝜀</m:t>
                              </m:r>
                            </m:e>
                            <m:sub>
                              <m:r>
                                <a:rPr lang="zh-CN" altLang="en-US" sz="2400" i="1">
                                  <a:latin typeface="Cambria Math" panose="02040503050406030204" pitchFamily="18" charset="0"/>
                                </a:rPr>
                                <m:t>𝑚</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𝜎</m:t>
                              </m:r>
                            </m:e>
                            <m:sub>
                              <m:r>
                                <a:rPr lang="zh-CN" altLang="en-US" sz="2400" i="1">
                                  <a:latin typeface="Cambria Math" panose="02040503050406030204" pitchFamily="18" charset="0"/>
                                </a:rPr>
                                <m:t>𝑚</m:t>
                              </m:r>
                            </m:sub>
                          </m:sSub>
                        </m:e>
                      </m:d>
                    </m:oMath>
                  </m:oMathPara>
                </a14:m>
                <a:endParaRPr lang="zh-CN" altLang="en-US" sz="2400" dirty="0"/>
              </a:p>
            </p:txBody>
          </p:sp>
        </mc:Choice>
        <mc:Fallback xmlns="">
          <p:sp>
            <p:nvSpPr>
              <p:cNvPr id="3" name="矩形 2"/>
              <p:cNvSpPr>
                <a:spLocks noRot="1" noChangeAspect="1" noMove="1" noResize="1" noEditPoints="1" noAdjustHandles="1" noChangeArrowheads="1" noChangeShapeType="1" noTextEdit="1"/>
              </p:cNvSpPr>
              <p:nvPr/>
            </p:nvSpPr>
            <p:spPr>
              <a:xfrm>
                <a:off x="865457" y="4647243"/>
                <a:ext cx="8046083" cy="857029"/>
              </a:xfrm>
              <a:prstGeom prst="rect">
                <a:avLst/>
              </a:prstGeom>
              <a:blipFill>
                <a:blip r:embed="rId8"/>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399F6CB6-DBC1-4DDA-9D63-C59FE4694787}"/>
              </a:ext>
            </a:extLst>
          </p:cNvPr>
          <p:cNvSpPr>
            <a:spLocks noGrp="1"/>
          </p:cNvSpPr>
          <p:nvPr>
            <p:ph type="sldNum" sz="quarter" idx="12"/>
          </p:nvPr>
        </p:nvSpPr>
        <p:spPr/>
        <p:txBody>
          <a:bodyPr/>
          <a:lstStyle/>
          <a:p>
            <a:fld id="{DC11BA4E-7967-4102-867C-9D230A2E6791}" type="slidenum">
              <a:rPr lang="zh-CN" altLang="en-US" smtClean="0"/>
              <a:t>38</a:t>
            </a:fld>
            <a:endParaRPr lang="zh-CN" altLang="en-US"/>
          </a:p>
        </p:txBody>
      </p:sp>
    </p:spTree>
    <p:extLst>
      <p:ext uri="{BB962C8B-B14F-4D97-AF65-F5344CB8AC3E}">
        <p14:creationId xmlns:p14="http://schemas.microsoft.com/office/powerpoint/2010/main" val="25712744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8" name="矩形 27"/>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graphicFrame>
        <p:nvGraphicFramePr>
          <p:cNvPr id="26" name="Object 3"/>
          <p:cNvGraphicFramePr>
            <a:graphicFrameLocks noChangeAspect="1"/>
          </p:cNvGraphicFramePr>
          <p:nvPr>
            <p:extLst>
              <p:ext uri="{D42A27DB-BD31-4B8C-83A1-F6EECF244321}">
                <p14:modId xmlns:p14="http://schemas.microsoft.com/office/powerpoint/2010/main" val="24708447"/>
              </p:ext>
            </p:extLst>
          </p:nvPr>
        </p:nvGraphicFramePr>
        <p:xfrm>
          <a:off x="2276464" y="1712729"/>
          <a:ext cx="4016147" cy="1155387"/>
        </p:xfrm>
        <a:graphic>
          <a:graphicData uri="http://schemas.openxmlformats.org/presentationml/2006/ole">
            <mc:AlternateContent xmlns:mc="http://schemas.openxmlformats.org/markup-compatibility/2006">
              <mc:Choice xmlns:v="urn:schemas-microsoft-com:vml" Requires="v">
                <p:oleObj name="Equation" r:id="rId3" imgW="1473200" imgH="457200" progId="Equation.DSMT4">
                  <p:embed/>
                </p:oleObj>
              </mc:Choice>
              <mc:Fallback>
                <p:oleObj name="Equation" r:id="rId3" imgW="1473200" imgH="457200" progId="Equation.DSMT4">
                  <p:embed/>
                  <p:pic>
                    <p:nvPicPr>
                      <p:cNvPr id="4096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6464" y="1712729"/>
                        <a:ext cx="4016147" cy="1155387"/>
                      </a:xfrm>
                      <a:prstGeom prst="rect">
                        <a:avLst/>
                      </a:prstGeom>
                      <a:noFill/>
                      <a:ln>
                        <a:noFill/>
                      </a:ln>
                    </p:spPr>
                  </p:pic>
                </p:oleObj>
              </mc:Fallback>
            </mc:AlternateContent>
          </a:graphicData>
        </a:graphic>
      </p:graphicFrame>
      <p:graphicFrame>
        <p:nvGraphicFramePr>
          <p:cNvPr id="40" name="Object 4"/>
          <p:cNvGraphicFramePr>
            <a:graphicFrameLocks noChangeAspect="1"/>
          </p:cNvGraphicFramePr>
          <p:nvPr>
            <p:extLst>
              <p:ext uri="{D42A27DB-BD31-4B8C-83A1-F6EECF244321}">
                <p14:modId xmlns:p14="http://schemas.microsoft.com/office/powerpoint/2010/main" val="1790440805"/>
              </p:ext>
            </p:extLst>
          </p:nvPr>
        </p:nvGraphicFramePr>
        <p:xfrm>
          <a:off x="2517489" y="3277204"/>
          <a:ext cx="3132463" cy="1075166"/>
        </p:xfrm>
        <a:graphic>
          <a:graphicData uri="http://schemas.openxmlformats.org/presentationml/2006/ole">
            <mc:AlternateContent xmlns:mc="http://schemas.openxmlformats.org/markup-compatibility/2006">
              <mc:Choice xmlns:v="urn:schemas-microsoft-com:vml" Requires="v">
                <p:oleObj r:id="rId5" imgW="1270000" imgH="469900" progId="Equation.3">
                  <p:embed/>
                </p:oleObj>
              </mc:Choice>
              <mc:Fallback>
                <p:oleObj r:id="rId5" imgW="1270000" imgH="469900" progId="Equation.3">
                  <p:embed/>
                  <p:pic>
                    <p:nvPicPr>
                      <p:cNvPr id="40963"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7489" y="3277204"/>
                        <a:ext cx="3132463" cy="1075166"/>
                      </a:xfrm>
                      <a:prstGeom prst="rect">
                        <a:avLst/>
                      </a:prstGeom>
                      <a:solidFill>
                        <a:schemeClr val="bg1"/>
                      </a:solidFill>
                      <a:ln>
                        <a:noFill/>
                      </a:ln>
                    </p:spPr>
                  </p:pic>
                </p:oleObj>
              </mc:Fallback>
            </mc:AlternateContent>
          </a:graphicData>
        </a:graphic>
      </p:graphicFrame>
      <p:graphicFrame>
        <p:nvGraphicFramePr>
          <p:cNvPr id="47" name="Object 5"/>
          <p:cNvGraphicFramePr>
            <a:graphicFrameLocks noChangeAspect="1"/>
          </p:cNvGraphicFramePr>
          <p:nvPr>
            <p:extLst>
              <p:ext uri="{D42A27DB-BD31-4B8C-83A1-F6EECF244321}">
                <p14:modId xmlns:p14="http://schemas.microsoft.com/office/powerpoint/2010/main" val="684779011"/>
              </p:ext>
            </p:extLst>
          </p:nvPr>
        </p:nvGraphicFramePr>
        <p:xfrm>
          <a:off x="2517489" y="4528848"/>
          <a:ext cx="3520396" cy="1107665"/>
        </p:xfrm>
        <a:graphic>
          <a:graphicData uri="http://schemas.openxmlformats.org/presentationml/2006/ole">
            <mc:AlternateContent xmlns:mc="http://schemas.openxmlformats.org/markup-compatibility/2006">
              <mc:Choice xmlns:v="urn:schemas-microsoft-com:vml" Requires="v">
                <p:oleObj name="Equation" r:id="rId7" imgW="1346200" imgH="457200" progId="Equation.DSMT4">
                  <p:embed/>
                </p:oleObj>
              </mc:Choice>
              <mc:Fallback>
                <p:oleObj name="Equation" r:id="rId7" imgW="1346200" imgH="457200" progId="Equation.DSMT4">
                  <p:embed/>
                  <p:pic>
                    <p:nvPicPr>
                      <p:cNvPr id="40964"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7489" y="4528848"/>
                        <a:ext cx="3520396" cy="1107665"/>
                      </a:xfrm>
                      <a:prstGeom prst="rect">
                        <a:avLst/>
                      </a:prstGeom>
                      <a:noFill/>
                      <a:ln w="57150">
                        <a:solidFill>
                          <a:srgbClr val="FF3300"/>
                        </a:solidFill>
                        <a:miter lim="800000"/>
                        <a:headEnd/>
                        <a:tailEnd/>
                      </a:ln>
                    </p:spPr>
                  </p:pic>
                </p:oleObj>
              </mc:Fallback>
            </mc:AlternateContent>
          </a:graphicData>
        </a:graphic>
      </p:graphicFrame>
      <p:sp>
        <p:nvSpPr>
          <p:cNvPr id="48" name="Rectangle 2"/>
          <p:cNvSpPr>
            <a:spLocks noChangeArrowheads="1"/>
          </p:cNvSpPr>
          <p:nvPr/>
        </p:nvSpPr>
        <p:spPr bwMode="auto">
          <a:xfrm>
            <a:off x="231545" y="1436484"/>
            <a:ext cx="1728656" cy="463846"/>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lIns="90000" tIns="46800" rIns="90000" bIns="46800">
            <a:spAutoFit/>
          </a:bodyPr>
          <a:lstStyle/>
          <a:p>
            <a:pPr algn="ctr">
              <a:spcBef>
                <a:spcPct val="50000"/>
              </a:spcBef>
              <a:defRPr/>
            </a:pPr>
            <a:r>
              <a:rPr lang="zh-CN" altLang="en-US" sz="2400" b="1" dirty="0">
                <a:latin typeface="宋体" panose="02010600030101010101" pitchFamily="2" charset="-122"/>
                <a:ea typeface="宋体" panose="02010600030101010101" pitchFamily="2" charset="-122"/>
              </a:rPr>
              <a:t>相对误差：</a:t>
            </a:r>
            <a:endParaRPr lang="zh-CN"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6C501273-0605-4A3C-8B2A-397BF99D781F}"/>
              </a:ext>
            </a:extLst>
          </p:cNvPr>
          <p:cNvSpPr>
            <a:spLocks noGrp="1"/>
          </p:cNvSpPr>
          <p:nvPr>
            <p:ph type="sldNum" sz="quarter" idx="12"/>
          </p:nvPr>
        </p:nvSpPr>
        <p:spPr/>
        <p:txBody>
          <a:bodyPr/>
          <a:lstStyle/>
          <a:p>
            <a:fld id="{DC11BA4E-7967-4102-867C-9D230A2E6791}" type="slidenum">
              <a:rPr lang="zh-CN" altLang="en-US" smtClean="0"/>
              <a:t>39</a:t>
            </a:fld>
            <a:endParaRPr lang="zh-CN" altLang="en-US"/>
          </a:p>
        </p:txBody>
      </p:sp>
    </p:spTree>
    <p:extLst>
      <p:ext uri="{BB962C8B-B14F-4D97-AF65-F5344CB8AC3E}">
        <p14:creationId xmlns:p14="http://schemas.microsoft.com/office/powerpoint/2010/main" val="37072667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9" name="圆角矩形 28"/>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0" name="矩形 29"/>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7" name="Rectangle 3"/>
          <p:cNvSpPr>
            <a:spLocks noRot="1" noChangeArrowheads="1"/>
          </p:cNvSpPr>
          <p:nvPr/>
        </p:nvSpPr>
        <p:spPr bwMode="auto">
          <a:xfrm>
            <a:off x="185083" y="1307608"/>
            <a:ext cx="8835862" cy="4876800"/>
          </a:xfrm>
          <a:prstGeom prst="rect">
            <a:avLst/>
          </a:prstGeom>
          <a:noFill/>
          <a:ln w="9525">
            <a:noFill/>
            <a:miter lim="800000"/>
            <a:headEnd/>
            <a:tailEnd/>
          </a:ln>
        </p:spPr>
        <p:txBody>
          <a:bodyPr/>
          <a:lstStyle/>
          <a:p>
            <a:pPr indent="631825">
              <a:lnSpc>
                <a:spcPct val="150000"/>
              </a:lnSpc>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各局部的系统误差</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d</a:t>
            </a:r>
            <a:r>
              <a:rPr lang="en-US" altLang="zh-CN" sz="2400" i="1" baseline="-25000">
                <a:latin typeface="Times New Roman" panose="02020603050405020304" pitchFamily="18" charset="0"/>
                <a:ea typeface="宋体" panose="02010600030101010101" pitchFamily="2" charset="-122"/>
                <a:cs typeface="Times New Roman" panose="02020603050405020304" pitchFamily="18" charset="0"/>
              </a:rPr>
              <a:t>xi </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与总体系统误差之间是</a:t>
            </a:r>
            <a:r>
              <a:rPr lang="zh-CN" altLang="en-US" sz="2400" b="1" dirty="0">
                <a:solidFill>
                  <a:srgbClr val="008000"/>
                </a:solidFill>
                <a:latin typeface="Times New Roman" panose="02020603050405020304" pitchFamily="18" charset="0"/>
                <a:ea typeface="宋体" panose="02010600030101010101" pitchFamily="2" charset="-122"/>
                <a:cs typeface="Times New Roman" panose="02020603050405020304" pitchFamily="18" charset="0"/>
              </a:rPr>
              <a:t>全微分关系</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a:p>
            <a:pPr marL="342900" indent="288925">
              <a:lnSpc>
                <a:spcPct val="150000"/>
              </a:lnSpc>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例，对于四臂电桥处于平衡时有：</a:t>
            </a:r>
          </a:p>
          <a:p>
            <a:pPr marL="342900" indent="-342900">
              <a:lnSpc>
                <a:spcPct val="150000"/>
              </a:lnSpc>
              <a:defRPr/>
            </a:pP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288925">
              <a:lnSpc>
                <a:spcPct val="150000"/>
              </a:lnSpc>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取全微分可得到 </a:t>
            </a:r>
          </a:p>
        </p:txBody>
      </p:sp>
      <p:graphicFrame>
        <p:nvGraphicFramePr>
          <p:cNvPr id="42" name="Object 16"/>
          <p:cNvGraphicFramePr>
            <a:graphicFrameLocks noChangeAspect="1"/>
          </p:cNvGraphicFramePr>
          <p:nvPr>
            <p:extLst>
              <p:ext uri="{D42A27DB-BD31-4B8C-83A1-F6EECF244321}">
                <p14:modId xmlns:p14="http://schemas.microsoft.com/office/powerpoint/2010/main" val="805004706"/>
              </p:ext>
            </p:extLst>
          </p:nvPr>
        </p:nvGraphicFramePr>
        <p:xfrm>
          <a:off x="4796401" y="3931345"/>
          <a:ext cx="114300" cy="215900"/>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43014"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6401" y="3931345"/>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19"/>
          <p:cNvGraphicFramePr>
            <a:graphicFrameLocks noChangeAspect="1"/>
          </p:cNvGraphicFramePr>
          <p:nvPr>
            <p:extLst>
              <p:ext uri="{D42A27DB-BD31-4B8C-83A1-F6EECF244321}">
                <p14:modId xmlns:p14="http://schemas.microsoft.com/office/powerpoint/2010/main" val="3437285432"/>
              </p:ext>
            </p:extLst>
          </p:nvPr>
        </p:nvGraphicFramePr>
        <p:xfrm>
          <a:off x="3609808" y="3055899"/>
          <a:ext cx="1587500" cy="784225"/>
        </p:xfrm>
        <a:graphic>
          <a:graphicData uri="http://schemas.openxmlformats.org/presentationml/2006/ole">
            <mc:AlternateContent xmlns:mc="http://schemas.openxmlformats.org/markup-compatibility/2006">
              <mc:Choice xmlns:v="urn:schemas-microsoft-com:vml" Requires="v">
                <p:oleObj name="公式" r:id="rId5" imgW="774360" imgH="431640" progId="Equation.3">
                  <p:embed/>
                </p:oleObj>
              </mc:Choice>
              <mc:Fallback>
                <p:oleObj name="公式" r:id="rId5" imgW="774360" imgH="431640" progId="Equation.3">
                  <p:embed/>
                  <p:pic>
                    <p:nvPicPr>
                      <p:cNvPr id="264211" name="Object 19"/>
                      <p:cNvPicPr>
                        <a:picLocks noChangeAspect="1" noChangeArrowheads="1"/>
                      </p:cNvPicPr>
                      <p:nvPr/>
                    </p:nvPicPr>
                    <p:blipFill>
                      <a:blip r:embed="rId6"/>
                      <a:srcRect/>
                      <a:stretch>
                        <a:fillRect/>
                      </a:stretch>
                    </p:blipFill>
                    <p:spPr bwMode="auto">
                      <a:xfrm>
                        <a:off x="3609808" y="3055899"/>
                        <a:ext cx="1587500"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21"/>
          <p:cNvGraphicFramePr>
            <a:graphicFrameLocks noChangeAspect="1"/>
          </p:cNvGraphicFramePr>
          <p:nvPr>
            <p:extLst>
              <p:ext uri="{D42A27DB-BD31-4B8C-83A1-F6EECF244321}">
                <p14:modId xmlns:p14="http://schemas.microsoft.com/office/powerpoint/2010/main" val="1587389458"/>
              </p:ext>
            </p:extLst>
          </p:nvPr>
        </p:nvGraphicFramePr>
        <p:xfrm>
          <a:off x="954292" y="4274078"/>
          <a:ext cx="7297443" cy="738188"/>
        </p:xfrm>
        <a:graphic>
          <a:graphicData uri="http://schemas.openxmlformats.org/presentationml/2006/ole">
            <mc:AlternateContent xmlns:mc="http://schemas.openxmlformats.org/markup-compatibility/2006">
              <mc:Choice xmlns:v="urn:schemas-microsoft-com:vml" Requires="v">
                <p:oleObj name="公式" r:id="rId7" imgW="4152600" imgH="431640" progId="Equation.3">
                  <p:embed/>
                </p:oleObj>
              </mc:Choice>
              <mc:Fallback>
                <p:oleObj name="公式" r:id="rId7" imgW="4152600" imgH="431640" progId="Equation.3">
                  <p:embed/>
                  <p:pic>
                    <p:nvPicPr>
                      <p:cNvPr id="264213" name="Object 21"/>
                      <p:cNvPicPr>
                        <a:picLocks noChangeAspect="1" noChangeArrowheads="1"/>
                      </p:cNvPicPr>
                      <p:nvPr/>
                    </p:nvPicPr>
                    <p:blipFill>
                      <a:blip r:embed="rId8"/>
                      <a:srcRect/>
                      <a:stretch>
                        <a:fillRect/>
                      </a:stretch>
                    </p:blipFill>
                    <p:spPr bwMode="auto">
                      <a:xfrm>
                        <a:off x="954292" y="4274078"/>
                        <a:ext cx="7297443" cy="738188"/>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F625CF25-458F-488F-A80C-10A73063CAF8}"/>
              </a:ext>
            </a:extLst>
          </p:cNvPr>
          <p:cNvSpPr>
            <a:spLocks noGrp="1"/>
          </p:cNvSpPr>
          <p:nvPr>
            <p:ph type="sldNum" sz="quarter" idx="12"/>
          </p:nvPr>
        </p:nvSpPr>
        <p:spPr/>
        <p:txBody>
          <a:bodyPr/>
          <a:lstStyle/>
          <a:p>
            <a:fld id="{DC11BA4E-7967-4102-867C-9D230A2E6791}" type="slidenum">
              <a:rPr lang="zh-CN" altLang="en-US" smtClean="0"/>
              <a:t>40</a:t>
            </a:fld>
            <a:endParaRPr lang="zh-CN" altLang="en-US"/>
          </a:p>
        </p:txBody>
      </p:sp>
    </p:spTree>
    <p:extLst>
      <p:ext uri="{BB962C8B-B14F-4D97-AF65-F5344CB8AC3E}">
        <p14:creationId xmlns:p14="http://schemas.microsoft.com/office/powerpoint/2010/main" val="71316185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9" name="圆角矩形 28"/>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0" name="矩形 29"/>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6" name="Rectangle 3"/>
          <p:cNvSpPr>
            <a:spLocks noRot="1" noChangeArrowheads="1"/>
          </p:cNvSpPr>
          <p:nvPr/>
        </p:nvSpPr>
        <p:spPr bwMode="auto">
          <a:xfrm>
            <a:off x="930124" y="1526094"/>
            <a:ext cx="6064234" cy="2949157"/>
          </a:xfrm>
          <a:prstGeom prst="rect">
            <a:avLst/>
          </a:prstGeom>
          <a:noFill/>
          <a:ln w="9525">
            <a:noFill/>
            <a:miter lim="800000"/>
            <a:headEnd/>
            <a:tailEnd/>
          </a:ln>
        </p:spPr>
        <p:txBody>
          <a:bodyPr/>
          <a:lstStyle/>
          <a:p>
            <a:pPr>
              <a:lnSpc>
                <a:spcPct val="150000"/>
              </a:lnSpc>
              <a:defRPr/>
            </a:pPr>
            <a:r>
              <a:rPr lang="zh-CN" altLang="en-US" sz="2400" b="1" dirty="0">
                <a:latin typeface="宋体" panose="02010600030101010101" pitchFamily="2" charset="-122"/>
                <a:ea typeface="宋体" panose="02010600030101010101" pitchFamily="2" charset="-122"/>
              </a:rPr>
              <a:t>    </a:t>
            </a:r>
            <a:r>
              <a:rPr lang="zh-CN" altLang="en-US" sz="2400" b="1" u="sng" dirty="0">
                <a:solidFill>
                  <a:srgbClr val="FF0000"/>
                </a:solidFill>
                <a:latin typeface="宋体" panose="02010600030101010101" pitchFamily="2" charset="-122"/>
                <a:ea typeface="宋体" panose="02010600030101010101" pitchFamily="2" charset="-122"/>
              </a:rPr>
              <a:t>相对误差</a:t>
            </a:r>
            <a:r>
              <a:rPr lang="zh-CN" altLang="en-US" sz="2400" b="1" u="sng" dirty="0">
                <a:latin typeface="宋体" panose="02010600030101010101" pitchFamily="2" charset="-122"/>
                <a:ea typeface="宋体" panose="02010600030101010101" pitchFamily="2" charset="-122"/>
              </a:rPr>
              <a:t>的综合</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   </a:t>
            </a:r>
          </a:p>
          <a:p>
            <a:pPr marL="342900" indent="-342900">
              <a:lnSpc>
                <a:spcPct val="150000"/>
              </a:lnSpc>
              <a:defRPr/>
            </a:pPr>
            <a:r>
              <a:rPr lang="en-US" altLang="zh-CN" sz="2400" b="1" dirty="0">
                <a:latin typeface="宋体" panose="02010600030101010101" pitchFamily="2" charset="-122"/>
                <a:ea typeface="宋体" panose="02010600030101010101" pitchFamily="2" charset="-122"/>
              </a:rPr>
              <a:t>   </a:t>
            </a:r>
            <a:r>
              <a:rPr lang="zh-CN" altLang="en-US" sz="2400" b="1" dirty="0">
                <a:solidFill>
                  <a:srgbClr val="008000"/>
                </a:solidFill>
                <a:latin typeface="宋体" panose="02010600030101010101" pitchFamily="2" charset="-122"/>
                <a:ea typeface="宋体" panose="02010600030101010101" pitchFamily="2" charset="-122"/>
              </a:rPr>
              <a:t>例</a:t>
            </a:r>
            <a:r>
              <a:rPr lang="zh-CN" altLang="en-US" sz="2400" b="1" dirty="0">
                <a:latin typeface="宋体" panose="02010600030101010101" pitchFamily="2" charset="-122"/>
                <a:ea typeface="宋体" panose="02010600030101010101" pitchFamily="2" charset="-122"/>
              </a:rPr>
              <a:t>：四臂电桥相对误差综合的计算方法：        </a:t>
            </a:r>
          </a:p>
          <a:p>
            <a:pPr marL="342900" indent="-342900">
              <a:lnSpc>
                <a:spcPct val="150000"/>
              </a:lnSpc>
              <a:defRPr/>
            </a:pPr>
            <a:r>
              <a:rPr lang="zh-CN" altLang="en-US" sz="2400" b="1" dirty="0">
                <a:latin typeface="宋体" panose="02010600030101010101" pitchFamily="2" charset="-122"/>
                <a:ea typeface="宋体" panose="02010600030101010101" pitchFamily="2" charset="-122"/>
              </a:rPr>
              <a:t>       绝对误差综合表达式两边除以           </a:t>
            </a:r>
            <a:endParaRPr lang="en-US" altLang="zh-CN" sz="2400" b="1" dirty="0">
              <a:latin typeface="宋体" panose="02010600030101010101" pitchFamily="2" charset="-122"/>
              <a:ea typeface="宋体" panose="02010600030101010101" pitchFamily="2" charset="-122"/>
            </a:endParaRPr>
          </a:p>
          <a:p>
            <a:pPr marL="342900" indent="-342900">
              <a:lnSpc>
                <a:spcPct val="150000"/>
              </a:lnSpc>
              <a:defRPr/>
            </a:pPr>
            <a:endParaRPr lang="en-US" altLang="zh-CN" sz="2400" b="1" dirty="0">
              <a:latin typeface="宋体" panose="02010600030101010101" pitchFamily="2" charset="-122"/>
              <a:ea typeface="宋体" panose="02010600030101010101" pitchFamily="2" charset="-122"/>
            </a:endParaRPr>
          </a:p>
          <a:p>
            <a:pPr marL="342900" indent="731838">
              <a:lnSpc>
                <a:spcPct val="150000"/>
              </a:lnSpc>
              <a:defRPr/>
            </a:pPr>
            <a:r>
              <a:rPr lang="zh-CN" altLang="en-US" sz="2400" b="1" dirty="0">
                <a:latin typeface="宋体" panose="02010600030101010101" pitchFamily="2" charset="-122"/>
                <a:ea typeface="宋体" panose="02010600030101010101" pitchFamily="2" charset="-122"/>
              </a:rPr>
              <a:t>可得到相对误差：</a:t>
            </a:r>
          </a:p>
        </p:txBody>
      </p:sp>
      <p:graphicFrame>
        <p:nvGraphicFramePr>
          <p:cNvPr id="45" name="Object 24"/>
          <p:cNvGraphicFramePr>
            <a:graphicFrameLocks noChangeAspect="1"/>
          </p:cNvGraphicFramePr>
          <p:nvPr>
            <p:extLst>
              <p:ext uri="{D42A27DB-BD31-4B8C-83A1-F6EECF244321}">
                <p14:modId xmlns:p14="http://schemas.microsoft.com/office/powerpoint/2010/main" val="2182091067"/>
              </p:ext>
            </p:extLst>
          </p:nvPr>
        </p:nvGraphicFramePr>
        <p:xfrm>
          <a:off x="3457575" y="4427538"/>
          <a:ext cx="2559050" cy="557212"/>
        </p:xfrm>
        <a:graphic>
          <a:graphicData uri="http://schemas.openxmlformats.org/presentationml/2006/ole">
            <mc:AlternateContent xmlns:mc="http://schemas.openxmlformats.org/markup-compatibility/2006">
              <mc:Choice xmlns:v="urn:schemas-microsoft-com:vml" Requires="v">
                <p:oleObj name="公式" r:id="rId3" imgW="1244520" imgH="241200" progId="Equation.3">
                  <p:embed/>
                </p:oleObj>
              </mc:Choice>
              <mc:Fallback>
                <p:oleObj name="公式" r:id="rId3" imgW="1244520" imgH="241200" progId="Equation.3">
                  <p:embed/>
                  <p:pic>
                    <p:nvPicPr>
                      <p:cNvPr id="265240" name="Object 24"/>
                      <p:cNvPicPr>
                        <a:picLocks noChangeAspect="1" noChangeArrowheads="1"/>
                      </p:cNvPicPr>
                      <p:nvPr/>
                    </p:nvPicPr>
                    <p:blipFill>
                      <a:blip r:embed="rId4"/>
                      <a:srcRect/>
                      <a:stretch>
                        <a:fillRect/>
                      </a:stretch>
                    </p:blipFill>
                    <p:spPr bwMode="auto">
                      <a:xfrm>
                        <a:off x="3457575" y="4427538"/>
                        <a:ext cx="2559050"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25"/>
          <p:cNvGraphicFramePr>
            <a:graphicFrameLocks noChangeAspect="1"/>
          </p:cNvGraphicFramePr>
          <p:nvPr>
            <p:extLst>
              <p:ext uri="{D42A27DB-BD31-4B8C-83A1-F6EECF244321}">
                <p14:modId xmlns:p14="http://schemas.microsoft.com/office/powerpoint/2010/main" val="3763941257"/>
              </p:ext>
            </p:extLst>
          </p:nvPr>
        </p:nvGraphicFramePr>
        <p:xfrm>
          <a:off x="3365389" y="5212050"/>
          <a:ext cx="3147704" cy="854701"/>
        </p:xfrm>
        <a:graphic>
          <a:graphicData uri="http://schemas.openxmlformats.org/presentationml/2006/ole">
            <mc:AlternateContent xmlns:mc="http://schemas.openxmlformats.org/markup-compatibility/2006">
              <mc:Choice xmlns:v="urn:schemas-microsoft-com:vml" Requires="v">
                <p:oleObj name="Equation" r:id="rId5" imgW="1542992" imgH="418971" progId="Equation.DSMT4">
                  <p:embed/>
                </p:oleObj>
              </mc:Choice>
              <mc:Fallback>
                <p:oleObj name="Equation" r:id="rId5" imgW="1542992" imgH="418971" progId="Equation.DSMT4">
                  <p:embed/>
                  <p:pic>
                    <p:nvPicPr>
                      <p:cNvPr id="265241"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5389" y="5212050"/>
                        <a:ext cx="3147704" cy="8547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20"/>
          <p:cNvGraphicFramePr>
            <a:graphicFrameLocks noChangeAspect="1"/>
          </p:cNvGraphicFramePr>
          <p:nvPr>
            <p:extLst>
              <p:ext uri="{D42A27DB-BD31-4B8C-83A1-F6EECF244321}">
                <p14:modId xmlns:p14="http://schemas.microsoft.com/office/powerpoint/2010/main" val="3221898000"/>
              </p:ext>
            </p:extLst>
          </p:nvPr>
        </p:nvGraphicFramePr>
        <p:xfrm>
          <a:off x="3583823" y="3132226"/>
          <a:ext cx="1509712" cy="785813"/>
        </p:xfrm>
        <a:graphic>
          <a:graphicData uri="http://schemas.openxmlformats.org/presentationml/2006/ole">
            <mc:AlternateContent xmlns:mc="http://schemas.openxmlformats.org/markup-compatibility/2006">
              <mc:Choice xmlns:v="urn:schemas-microsoft-com:vml" Requires="v">
                <p:oleObj name="公式" r:id="rId7" imgW="736560" imgH="431640" progId="Equation.3">
                  <p:embed/>
                </p:oleObj>
              </mc:Choice>
              <mc:Fallback>
                <p:oleObj name="公式" r:id="rId7" imgW="736560" imgH="431640" progId="Equation.3">
                  <p:embed/>
                  <p:pic>
                    <p:nvPicPr>
                      <p:cNvPr id="265236" name="Object 20"/>
                      <p:cNvPicPr>
                        <a:picLocks noChangeAspect="1" noChangeArrowheads="1"/>
                      </p:cNvPicPr>
                      <p:nvPr/>
                    </p:nvPicPr>
                    <p:blipFill>
                      <a:blip r:embed="rId8"/>
                      <a:srcRect/>
                      <a:stretch>
                        <a:fillRect/>
                      </a:stretch>
                    </p:blipFill>
                    <p:spPr bwMode="auto">
                      <a:xfrm>
                        <a:off x="3583823" y="3132226"/>
                        <a:ext cx="1509712"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2088033" y="5212050"/>
            <a:ext cx="494046" cy="559769"/>
          </a:xfrm>
          <a:prstGeom prst="rect">
            <a:avLst/>
          </a:prstGeom>
        </p:spPr>
        <p:txBody>
          <a:bodyPr wrap="none">
            <a:spAutoFit/>
          </a:bodyPr>
          <a:lstStyle/>
          <a:p>
            <a:pPr marL="342900" indent="-342900">
              <a:lnSpc>
                <a:spcPct val="150000"/>
              </a:lnSpc>
              <a:defRPr/>
            </a:pPr>
            <a:r>
              <a:rPr lang="zh-CN" altLang="en-US" sz="2400" b="1" dirty="0">
                <a:latin typeface="宋体" panose="02010600030101010101" pitchFamily="2" charset="-122"/>
                <a:ea typeface="宋体" panose="02010600030101010101" pitchFamily="2" charset="-122"/>
              </a:rPr>
              <a:t>即</a:t>
            </a:r>
          </a:p>
        </p:txBody>
      </p:sp>
      <p:sp>
        <p:nvSpPr>
          <p:cNvPr id="3" name="Slide Number Placeholder 2">
            <a:extLst>
              <a:ext uri="{FF2B5EF4-FFF2-40B4-BE49-F238E27FC236}">
                <a16:creationId xmlns:a16="http://schemas.microsoft.com/office/drawing/2014/main" id="{6C248D09-BDCB-4577-BCD4-3AED0D8DF357}"/>
              </a:ext>
            </a:extLst>
          </p:cNvPr>
          <p:cNvSpPr>
            <a:spLocks noGrp="1"/>
          </p:cNvSpPr>
          <p:nvPr>
            <p:ph type="sldNum" sz="quarter" idx="12"/>
          </p:nvPr>
        </p:nvSpPr>
        <p:spPr/>
        <p:txBody>
          <a:bodyPr/>
          <a:lstStyle/>
          <a:p>
            <a:fld id="{DC11BA4E-7967-4102-867C-9D230A2E6791}" type="slidenum">
              <a:rPr lang="zh-CN" altLang="en-US" smtClean="0"/>
              <a:t>41</a:t>
            </a:fld>
            <a:endParaRPr lang="zh-CN" altLang="en-US"/>
          </a:p>
        </p:txBody>
      </p:sp>
    </p:spTree>
    <p:extLst>
      <p:ext uri="{BB962C8B-B14F-4D97-AF65-F5344CB8AC3E}">
        <p14:creationId xmlns:p14="http://schemas.microsoft.com/office/powerpoint/2010/main" val="214773777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1" name="圆角矩形 30"/>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2" name="矩形 31"/>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mc:AlternateContent xmlns:mc="http://schemas.openxmlformats.org/markup-compatibility/2006" xmlns:a14="http://schemas.microsoft.com/office/drawing/2010/main">
        <mc:Choice Requires="a14">
          <p:sp>
            <p:nvSpPr>
              <p:cNvPr id="29" name="Rectangle 3"/>
              <p:cNvSpPr>
                <a:spLocks noRot="1" noChangeArrowheads="1"/>
              </p:cNvSpPr>
              <p:nvPr/>
            </p:nvSpPr>
            <p:spPr bwMode="auto">
              <a:xfrm>
                <a:off x="389614" y="1745172"/>
                <a:ext cx="7717438" cy="4514226"/>
              </a:xfrm>
              <a:prstGeom prst="rect">
                <a:avLst/>
              </a:prstGeom>
              <a:noFill/>
              <a:ln w="9525">
                <a:noFill/>
                <a:miter lim="800000"/>
                <a:headEnd/>
                <a:tailEnd/>
              </a:ln>
            </p:spPr>
            <p:txBody>
              <a:bodyPr/>
              <a:lstStyle/>
              <a:p>
                <a:pPr indent="631825">
                  <a:lnSpc>
                    <a:spcPct val="150000"/>
                  </a:lnSpc>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在</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设计</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一台测量仪表时，应当怎样合理分配各环节和各元件的系统误差。    </a:t>
                </a:r>
              </a:p>
              <a:p>
                <a:pPr marL="342900" indent="-342900">
                  <a:lnSpc>
                    <a:spcPct val="150000"/>
                  </a:lnSpc>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008000"/>
                    </a:solidFill>
                    <a:latin typeface="Times New Roman" panose="02020603050405020304" pitchFamily="18" charset="0"/>
                    <a:ea typeface="宋体" panose="02010600030101010101" pitchFamily="2" charset="-122"/>
                    <a:cs typeface="Times New Roman" panose="02020603050405020304" pitchFamily="18" charset="0"/>
                  </a:rPr>
                  <a:t>例</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：四臂电桥的系统误差分配</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已知四臂电桥的系统误差综合公式：</a:t>
                </a:r>
              </a:p>
              <a:p>
                <a:pPr marL="342900" indent="-342900">
                  <a:lnSpc>
                    <a:spcPct val="150000"/>
                  </a:lnSpc>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p>
              <a:p>
                <a:pPr marL="342900" indent="-342900">
                  <a:lnSpc>
                    <a:spcPct val="150000"/>
                  </a:lnSpc>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式中   </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𝛿</m:t>
                        </m:r>
                      </m:e>
                      <m: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𝑁</m:t>
                            </m:r>
                          </m:sub>
                        </m:sSub>
                      </m:sub>
                    </m:sSub>
                  </m:oMath>
                </a14:m>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标准电阻的相对误差；</a:t>
                </a:r>
              </a:p>
              <a:p>
                <a:pPr marL="342900" indent="100013">
                  <a:lnSpc>
                    <a:spcPct val="150000"/>
                  </a:lnSpc>
                  <a:defRPr/>
                </a:pP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𝛿</m:t>
                        </m:r>
                      </m:e>
                      <m: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2</m:t>
                            </m:r>
                          </m:sub>
                        </m:sSub>
                      </m:sub>
                    </m:sSub>
                  </m:oMath>
                </a14:m>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𝛿</m:t>
                        </m:r>
                      </m:e>
                      <m: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3</m:t>
                            </m:r>
                          </m:sub>
                        </m:sSub>
                      </m:sub>
                    </m:sSub>
                  </m:oMath>
                </a14:m>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非标准电阻相对误差。 </a:t>
                </a:r>
              </a:p>
              <a:p>
                <a:pPr marL="342900" indent="-342900">
                  <a:lnSpc>
                    <a:spcPct val="150000"/>
                  </a:lnSpc>
                  <a:defRP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用于</a:t>
                </a:r>
                <a:r>
                  <a:rPr lang="zh-CN" altLang="en-US" sz="2400" b="1" dirty="0">
                    <a:solidFill>
                      <a:srgbClr val="008000"/>
                    </a:solidFill>
                    <a:latin typeface="Times New Roman" panose="02020603050405020304" pitchFamily="18" charset="0"/>
                    <a:ea typeface="宋体" panose="02010600030101010101" pitchFamily="2" charset="-122"/>
                    <a:cs typeface="Times New Roman" panose="02020603050405020304" pitchFamily="18" charset="0"/>
                  </a:rPr>
                  <a:t>设计精密电桥。</a:t>
                </a:r>
              </a:p>
            </p:txBody>
          </p:sp>
        </mc:Choice>
        <mc:Fallback xmlns="">
          <p:sp>
            <p:nvSpPr>
              <p:cNvPr id="29" name="Rectangle 3"/>
              <p:cNvSpPr>
                <a:spLocks noRot="1" noChangeAspect="1" noMove="1" noResize="1" noEditPoints="1" noAdjustHandles="1" noChangeArrowheads="1" noChangeShapeType="1" noTextEdit="1"/>
              </p:cNvSpPr>
              <p:nvPr/>
            </p:nvSpPr>
            <p:spPr bwMode="auto">
              <a:xfrm>
                <a:off x="389614" y="1745172"/>
                <a:ext cx="7717438" cy="4514226"/>
              </a:xfrm>
              <a:prstGeom prst="rect">
                <a:avLst/>
              </a:prstGeom>
              <a:blipFill>
                <a:blip r:embed="rId4"/>
                <a:stretch>
                  <a:fillRect l="-1264" b="-2429"/>
                </a:stretch>
              </a:blipFill>
              <a:ln w="9525">
                <a:noFill/>
                <a:miter lim="800000"/>
                <a:headEnd/>
                <a:tailEnd/>
              </a:ln>
            </p:spPr>
            <p:txBody>
              <a:bodyPr/>
              <a:lstStyle/>
              <a:p>
                <a:r>
                  <a:rPr lang="en-001">
                    <a:noFill/>
                  </a:rPr>
                  <a:t> </a:t>
                </a:r>
              </a:p>
            </p:txBody>
          </p:sp>
        </mc:Fallback>
      </mc:AlternateContent>
      <p:sp>
        <p:nvSpPr>
          <p:cNvPr id="45" name="矩形 44"/>
          <p:cNvSpPr/>
          <p:nvPr/>
        </p:nvSpPr>
        <p:spPr>
          <a:xfrm>
            <a:off x="-329774" y="1160179"/>
            <a:ext cx="2988319" cy="576248"/>
          </a:xfrm>
          <a:prstGeom prst="rect">
            <a:avLst/>
          </a:prstGeom>
          <a:noFill/>
          <a:ln w="9525">
            <a:noFill/>
            <a:miter lim="800000"/>
            <a:headEnd/>
            <a:tailEnd/>
          </a:ln>
        </p:spPr>
        <p:txBody>
          <a:bodyPr/>
          <a:lstStyle/>
          <a:p>
            <a:pPr indent="631825">
              <a:lnSpc>
                <a:spcPct val="150000"/>
              </a:lnSpc>
            </a:pP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系统误差的</a:t>
            </a:r>
            <a:r>
              <a:rPr lang="zh-CN"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分配</a:t>
            </a:r>
            <a:endPar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6" name="Object 24"/>
          <p:cNvGraphicFramePr>
            <a:graphicFrameLocks noChangeAspect="1"/>
          </p:cNvGraphicFramePr>
          <p:nvPr>
            <p:extLst>
              <p:ext uri="{D42A27DB-BD31-4B8C-83A1-F6EECF244321}">
                <p14:modId xmlns:p14="http://schemas.microsoft.com/office/powerpoint/2010/main" val="1803238533"/>
              </p:ext>
            </p:extLst>
          </p:nvPr>
        </p:nvGraphicFramePr>
        <p:xfrm>
          <a:off x="3711123" y="4002285"/>
          <a:ext cx="2559050" cy="557212"/>
        </p:xfrm>
        <a:graphic>
          <a:graphicData uri="http://schemas.openxmlformats.org/presentationml/2006/ole">
            <mc:AlternateContent xmlns:mc="http://schemas.openxmlformats.org/markup-compatibility/2006">
              <mc:Choice xmlns:v="urn:schemas-microsoft-com:vml" Requires="v">
                <p:oleObj name="公式" r:id="rId5" imgW="1244520" imgH="241200" progId="Equation.3">
                  <p:embed/>
                </p:oleObj>
              </mc:Choice>
              <mc:Fallback>
                <p:oleObj name="公式" r:id="rId5" imgW="1244520" imgH="241200" progId="Equation.3">
                  <p:embed/>
                  <p:pic>
                    <p:nvPicPr>
                      <p:cNvPr id="45" name="Object 24"/>
                      <p:cNvPicPr>
                        <a:picLocks noChangeAspect="1" noChangeArrowheads="1"/>
                      </p:cNvPicPr>
                      <p:nvPr/>
                    </p:nvPicPr>
                    <p:blipFill>
                      <a:blip r:embed="rId6"/>
                      <a:srcRect/>
                      <a:stretch>
                        <a:fillRect/>
                      </a:stretch>
                    </p:blipFill>
                    <p:spPr bwMode="auto">
                      <a:xfrm>
                        <a:off x="3711123" y="4002285"/>
                        <a:ext cx="2559050"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804F4635-67FC-4C9F-AD8D-54F89F5C2C7E}"/>
              </a:ext>
            </a:extLst>
          </p:cNvPr>
          <p:cNvSpPr>
            <a:spLocks noGrp="1"/>
          </p:cNvSpPr>
          <p:nvPr>
            <p:ph type="sldNum" sz="quarter" idx="12"/>
          </p:nvPr>
        </p:nvSpPr>
        <p:spPr/>
        <p:txBody>
          <a:bodyPr/>
          <a:lstStyle/>
          <a:p>
            <a:fld id="{DC11BA4E-7967-4102-867C-9D230A2E6791}" type="slidenum">
              <a:rPr lang="zh-CN" altLang="en-US" smtClean="0"/>
              <a:t>42</a:t>
            </a:fld>
            <a:endParaRPr lang="zh-CN" altLang="en-US"/>
          </a:p>
        </p:txBody>
      </p:sp>
    </p:spTree>
    <p:extLst>
      <p:ext uri="{BB962C8B-B14F-4D97-AF65-F5344CB8AC3E}">
        <p14:creationId xmlns:p14="http://schemas.microsoft.com/office/powerpoint/2010/main" val="2304373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一</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误差与精确度</a:t>
            </a:r>
          </a:p>
        </p:txBody>
      </p:sp>
      <p:sp>
        <p:nvSpPr>
          <p:cNvPr id="25" name="Rectangle 3"/>
          <p:cNvSpPr>
            <a:spLocks noRot="1" noChangeArrowheads="1"/>
          </p:cNvSpPr>
          <p:nvPr/>
        </p:nvSpPr>
        <p:spPr bwMode="auto">
          <a:xfrm>
            <a:off x="185083" y="1277692"/>
            <a:ext cx="2142912" cy="595345"/>
          </a:xfrm>
          <a:prstGeom prst="rect">
            <a:avLst/>
          </a:prstGeom>
          <a:solidFill>
            <a:srgbClr val="FFC000"/>
          </a:solidFill>
          <a:ln>
            <a:noFill/>
          </a:ln>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lang="zh-CN" altLang="en-US" sz="2400" dirty="0">
                <a:solidFill>
                  <a:schemeClr val="tx1"/>
                </a:solidFill>
                <a:latin typeface="宋体" panose="02010600030101010101" pitchFamily="2" charset="-122"/>
              </a:rPr>
              <a:t>误差分配举例</a:t>
            </a:r>
          </a:p>
        </p:txBody>
      </p:sp>
      <p:sp>
        <p:nvSpPr>
          <p:cNvPr id="41" name="Text Box 29"/>
          <p:cNvSpPr txBox="1">
            <a:spLocks noChangeArrowheads="1"/>
          </p:cNvSpPr>
          <p:nvPr/>
        </p:nvSpPr>
        <p:spPr bwMode="auto">
          <a:xfrm>
            <a:off x="40925" y="2025637"/>
            <a:ext cx="9072000" cy="1590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a:spAutoFit/>
          </a:bodyPr>
          <a:lstStyle>
            <a:lvl1pPr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marL="180000" indent="-180000" eaLnBrk="1" hangingPunct="1">
              <a:lnSpc>
                <a:spcPct val="125000"/>
              </a:lnSpc>
              <a:buClr>
                <a:srgbClr val="7030A0"/>
              </a:buClr>
              <a:buFont typeface="Arial" panose="020B0604020202020204" pitchFamily="34" charset="0"/>
              <a:buChar char="•"/>
            </a:pPr>
            <a:r>
              <a:rPr lang="zh-CN" altLang="en-US" sz="2000" dirty="0">
                <a:solidFill>
                  <a:schemeClr val="tx1"/>
                </a:solidFill>
              </a:rPr>
              <a:t>合理分配误差，以</a:t>
            </a:r>
            <a:r>
              <a:rPr lang="zh-CN" altLang="en-US" sz="2000" dirty="0">
                <a:solidFill>
                  <a:srgbClr val="0000FF"/>
                </a:solidFill>
              </a:rPr>
              <a:t>避免不必要的过高要求</a:t>
            </a:r>
            <a:r>
              <a:rPr lang="zh-CN" altLang="en-US" sz="2000" dirty="0">
                <a:solidFill>
                  <a:schemeClr val="tx1"/>
                </a:solidFill>
              </a:rPr>
              <a:t>；</a:t>
            </a:r>
          </a:p>
          <a:p>
            <a:pPr marL="180000" indent="-180000" eaLnBrk="1" hangingPunct="1">
              <a:lnSpc>
                <a:spcPct val="125000"/>
              </a:lnSpc>
              <a:buClr>
                <a:srgbClr val="7030A0"/>
              </a:buClr>
              <a:buFont typeface="Arial" panose="020B0604020202020204" pitchFamily="34" charset="0"/>
              <a:buChar char="•"/>
            </a:pPr>
            <a:r>
              <a:rPr lang="zh-CN" altLang="en-US" sz="2000" dirty="0">
                <a:solidFill>
                  <a:schemeClr val="tx1"/>
                </a:solidFill>
              </a:rPr>
              <a:t>必须照顾到元件、环节、变换器等可能达到的误差水平，进行</a:t>
            </a:r>
            <a:r>
              <a:rPr lang="zh-CN" altLang="en-US" sz="2000" dirty="0">
                <a:solidFill>
                  <a:srgbClr val="0000FF"/>
                </a:solidFill>
              </a:rPr>
              <a:t>可行的误差分配</a:t>
            </a:r>
            <a:r>
              <a:rPr lang="zh-CN" altLang="en-US" sz="2000" dirty="0">
                <a:solidFill>
                  <a:schemeClr val="tx1"/>
                </a:solidFill>
              </a:rPr>
              <a:t>；</a:t>
            </a:r>
          </a:p>
          <a:p>
            <a:pPr marL="180000" indent="-180000" eaLnBrk="1" hangingPunct="1">
              <a:lnSpc>
                <a:spcPct val="125000"/>
              </a:lnSpc>
              <a:buClr>
                <a:srgbClr val="7030A0"/>
              </a:buClr>
              <a:buFont typeface="Arial" panose="020B0604020202020204" pitchFamily="34" charset="0"/>
              <a:buChar char="•"/>
            </a:pPr>
            <a:r>
              <a:rPr lang="zh-CN" altLang="en-US" sz="2000" dirty="0">
                <a:solidFill>
                  <a:schemeClr val="tx1"/>
                </a:solidFill>
              </a:rPr>
              <a:t>充分利用正、负符号的局部系统误差可以互相抵消这一特点，减小总体系统误差，通过采用质量较低的元件，</a:t>
            </a:r>
            <a:r>
              <a:rPr lang="zh-CN" altLang="en-US" sz="2000" dirty="0">
                <a:solidFill>
                  <a:srgbClr val="0000FF"/>
                </a:solidFill>
              </a:rPr>
              <a:t>降低成本</a:t>
            </a:r>
            <a:r>
              <a:rPr lang="zh-CN" altLang="en-US" sz="2000" dirty="0">
                <a:solidFill>
                  <a:schemeClr val="tx1"/>
                </a:solidFill>
              </a:rPr>
              <a:t>。</a:t>
            </a:r>
          </a:p>
        </p:txBody>
      </p:sp>
      <p:sp>
        <p:nvSpPr>
          <p:cNvPr id="2" name="Slide Number Placeholder 1">
            <a:extLst>
              <a:ext uri="{FF2B5EF4-FFF2-40B4-BE49-F238E27FC236}">
                <a16:creationId xmlns:a16="http://schemas.microsoft.com/office/drawing/2014/main" id="{F44872E7-68CE-4FDE-A438-973DBC296602}"/>
              </a:ext>
            </a:extLst>
          </p:cNvPr>
          <p:cNvSpPr>
            <a:spLocks noGrp="1"/>
          </p:cNvSpPr>
          <p:nvPr>
            <p:ph type="sldNum" sz="quarter" idx="12"/>
          </p:nvPr>
        </p:nvSpPr>
        <p:spPr/>
        <p:txBody>
          <a:bodyPr/>
          <a:lstStyle/>
          <a:p>
            <a:fld id="{DC11BA4E-7967-4102-867C-9D230A2E6791}" type="slidenum">
              <a:rPr lang="zh-CN" altLang="en-US" smtClean="0"/>
              <a:t>43</a:t>
            </a:fld>
            <a:endParaRPr lang="zh-CN" altLang="en-US"/>
          </a:p>
        </p:txBody>
      </p:sp>
      <p:sp>
        <p:nvSpPr>
          <p:cNvPr id="9" name="Rectangle 2">
            <a:extLst>
              <a:ext uri="{FF2B5EF4-FFF2-40B4-BE49-F238E27FC236}">
                <a16:creationId xmlns:a16="http://schemas.microsoft.com/office/drawing/2014/main" id="{97FE3665-5A54-4627-8025-EE0BD3876B6F}"/>
              </a:ext>
            </a:extLst>
          </p:cNvPr>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10" name="Text Box 9">
            <a:extLst>
              <a:ext uri="{FF2B5EF4-FFF2-40B4-BE49-F238E27FC236}">
                <a16:creationId xmlns:a16="http://schemas.microsoft.com/office/drawing/2014/main" id="{AF749E9B-EFE9-448E-AC30-4945E0BA1C5B}"/>
              </a:ext>
            </a:extLst>
          </p:cNvPr>
          <p:cNvSpPr txBox="1">
            <a:spLocks noChangeArrowheads="1"/>
          </p:cNvSpPr>
          <p:nvPr/>
        </p:nvSpPr>
        <p:spPr bwMode="auto">
          <a:xfrm>
            <a:off x="2822262" y="4783378"/>
            <a:ext cx="381620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15-14  </a:t>
            </a:r>
            <a:r>
              <a:rPr kumimoji="0" lang="zh-CN" altLang="en-US" b="1" dirty="0">
                <a:solidFill>
                  <a:srgbClr val="000099"/>
                </a:solidFill>
                <a:latin typeface="宋体" pitchFamily="2" charset="-122"/>
                <a:ea typeface="宋体" pitchFamily="2" charset="-122"/>
              </a:rPr>
              <a:t>测振仪结构框图</a:t>
            </a:r>
          </a:p>
        </p:txBody>
      </p:sp>
      <p:graphicFrame>
        <p:nvGraphicFramePr>
          <p:cNvPr id="11" name="Object 23">
            <a:extLst>
              <a:ext uri="{FF2B5EF4-FFF2-40B4-BE49-F238E27FC236}">
                <a16:creationId xmlns:a16="http://schemas.microsoft.com/office/drawing/2014/main" id="{223D3BEE-1EF1-4A69-868A-33E265E3E7E3}"/>
              </a:ext>
            </a:extLst>
          </p:cNvPr>
          <p:cNvGraphicFramePr>
            <a:graphicFrameLocks noChangeAspect="1"/>
          </p:cNvGraphicFramePr>
          <p:nvPr>
            <p:extLst>
              <p:ext uri="{D42A27DB-BD31-4B8C-83A1-F6EECF244321}">
                <p14:modId xmlns:p14="http://schemas.microsoft.com/office/powerpoint/2010/main" val="3276103338"/>
              </p:ext>
            </p:extLst>
          </p:nvPr>
        </p:nvGraphicFramePr>
        <p:xfrm>
          <a:off x="1571711" y="3691149"/>
          <a:ext cx="6518388" cy="1209699"/>
        </p:xfrm>
        <a:graphic>
          <a:graphicData uri="http://schemas.openxmlformats.org/presentationml/2006/ole">
            <mc:AlternateContent xmlns:mc="http://schemas.openxmlformats.org/markup-compatibility/2006">
              <mc:Choice xmlns:v="urn:schemas-microsoft-com:vml" Requires="v">
                <p:oleObj name="Flash Movie" r:id="rId3" imgW="7803000" imgH="1412280" progId="Flash.Movie">
                  <p:embed/>
                </p:oleObj>
              </mc:Choice>
              <mc:Fallback>
                <p:oleObj name="Flash Movie" r:id="rId3" imgW="7803000" imgH="1412280" progId="Flash.Movie">
                  <p:embed/>
                  <p:pic>
                    <p:nvPicPr>
                      <p:cNvPr id="2071"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711" y="3691149"/>
                        <a:ext cx="6518388" cy="1209699"/>
                      </a:xfrm>
                      <a:prstGeom prst="rect">
                        <a:avLst/>
                      </a:prstGeom>
                      <a:noFill/>
                      <a:ln>
                        <a:noFill/>
                      </a:ln>
                      <a:effectLst/>
                    </p:spPr>
                  </p:pic>
                </p:oleObj>
              </mc:Fallback>
            </mc:AlternateContent>
          </a:graphicData>
        </a:graphic>
      </p:graphicFrame>
      <p:sp>
        <p:nvSpPr>
          <p:cNvPr id="12" name="Text Box 27">
            <a:extLst>
              <a:ext uri="{FF2B5EF4-FFF2-40B4-BE49-F238E27FC236}">
                <a16:creationId xmlns:a16="http://schemas.microsoft.com/office/drawing/2014/main" id="{F4F07E8B-61ED-46A9-A2C4-CD8F9E1F17CF}"/>
              </a:ext>
            </a:extLst>
          </p:cNvPr>
          <p:cNvSpPr txBox="1">
            <a:spLocks noChangeArrowheads="1"/>
          </p:cNvSpPr>
          <p:nvPr/>
        </p:nvSpPr>
        <p:spPr bwMode="auto">
          <a:xfrm>
            <a:off x="392364" y="5289826"/>
            <a:ext cx="8172854" cy="495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628650">
              <a:lnSpc>
                <a:spcPct val="150000"/>
              </a:lnSpc>
              <a:spcBef>
                <a:spcPct val="50000"/>
              </a:spcBef>
            </a:pPr>
            <a:r>
              <a:rPr lang="zh-CN" altLang="en-US" sz="2000" b="1" dirty="0">
                <a:latin typeface="Times New Roman" pitchFamily="18" charset="0"/>
                <a:ea typeface="宋体" pitchFamily="2" charset="-122"/>
                <a:cs typeface="Times New Roman" pitchFamily="18" charset="0"/>
              </a:rPr>
              <a:t>整台仪表的特性为</a:t>
            </a:r>
            <a:r>
              <a:rPr lang="en-US" altLang="zh-CN" sz="2000" b="1" i="1" dirty="0">
                <a:latin typeface="Times New Roman" pitchFamily="18" charset="0"/>
                <a:ea typeface="宋体" pitchFamily="2" charset="-122"/>
                <a:cs typeface="Times New Roman" pitchFamily="18" charset="0"/>
              </a:rPr>
              <a:t>N=S•  K • M • Z</a:t>
            </a:r>
            <a:r>
              <a:rPr lang="zh-CN" altLang="en-US" sz="2000" b="1" dirty="0">
                <a:latin typeface="Times New Roman" pitchFamily="18" charset="0"/>
                <a:ea typeface="宋体" pitchFamily="2" charset="-122"/>
                <a:cs typeface="Times New Roman" pitchFamily="18" charset="0"/>
              </a:rPr>
              <a:t>，根据系统误差综合公式可得：</a:t>
            </a:r>
          </a:p>
        </p:txBody>
      </p:sp>
      <p:graphicFrame>
        <p:nvGraphicFramePr>
          <p:cNvPr id="13" name="Object 28">
            <a:extLst>
              <a:ext uri="{FF2B5EF4-FFF2-40B4-BE49-F238E27FC236}">
                <a16:creationId xmlns:a16="http://schemas.microsoft.com/office/drawing/2014/main" id="{7524ED61-CDD1-4E05-9991-D48BAC8F0D5D}"/>
              </a:ext>
            </a:extLst>
          </p:cNvPr>
          <p:cNvGraphicFramePr>
            <a:graphicFrameLocks noChangeAspect="1"/>
          </p:cNvGraphicFramePr>
          <p:nvPr>
            <p:extLst>
              <p:ext uri="{D42A27DB-BD31-4B8C-83A1-F6EECF244321}">
                <p14:modId xmlns:p14="http://schemas.microsoft.com/office/powerpoint/2010/main" val="3023746966"/>
              </p:ext>
            </p:extLst>
          </p:nvPr>
        </p:nvGraphicFramePr>
        <p:xfrm>
          <a:off x="2636978" y="5723648"/>
          <a:ext cx="4267200" cy="652463"/>
        </p:xfrm>
        <a:graphic>
          <a:graphicData uri="http://schemas.openxmlformats.org/presentationml/2006/ole">
            <mc:AlternateContent xmlns:mc="http://schemas.openxmlformats.org/markup-compatibility/2006">
              <mc:Choice xmlns:v="urn:schemas-microsoft-com:vml" Requires="v">
                <p:oleObj r:id="rId5" imgW="1498600" imgH="228600" progId="Equation.3">
                  <p:embed/>
                </p:oleObj>
              </mc:Choice>
              <mc:Fallback>
                <p:oleObj r:id="rId5" imgW="1498600" imgH="228600" progId="Equation.3">
                  <p:embed/>
                  <p:pic>
                    <p:nvPicPr>
                      <p:cNvPr id="7"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6978" y="5723648"/>
                        <a:ext cx="4267200" cy="652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514017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290208" y="1894788"/>
            <a:ext cx="3088531" cy="405352"/>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测量数据的统计处理</a:t>
            </a:r>
          </a:p>
        </p:txBody>
      </p:sp>
      <mc:AlternateContent xmlns:mc="http://schemas.openxmlformats.org/markup-compatibility/2006" xmlns:a14="http://schemas.microsoft.com/office/drawing/2010/main">
        <mc:Choice Requires="a14">
          <p:sp>
            <p:nvSpPr>
              <p:cNvPr id="40" name="Rectangle 3"/>
              <p:cNvSpPr>
                <a:spLocks noRot="1" noChangeArrowheads="1"/>
              </p:cNvSpPr>
              <p:nvPr/>
            </p:nvSpPr>
            <p:spPr bwMode="auto">
              <a:xfrm>
                <a:off x="228367" y="1218418"/>
                <a:ext cx="8915633" cy="4876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1</a:t>
                </a:r>
                <a:r>
                  <a:rPr lang="zh-CN" altLang="en-US" sz="2400" dirty="0">
                    <a:solidFill>
                      <a:schemeClr val="tx1"/>
                    </a:solidFill>
                    <a:latin typeface="Times New Roman" panose="02020603050405020304" pitchFamily="18" charset="0"/>
                    <a:cs typeface="Times New Roman" panose="02020603050405020304" pitchFamily="18" charset="0"/>
                  </a:rPr>
                  <a:t>．算术平均值与剩余误差</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①真实值与算术平均值</a:t>
                </a:r>
              </a:p>
              <a:p>
                <a:pPr marL="0" indent="631825" eaLnBrk="1" hangingPunct="1">
                  <a:lnSpc>
                    <a:spcPct val="150000"/>
                  </a:lnSpc>
                </a:pPr>
                <a:r>
                  <a:rPr lang="zh-CN" altLang="en-US" sz="2400" dirty="0">
                    <a:solidFill>
                      <a:srgbClr val="0000FF"/>
                    </a:solidFill>
                    <a:latin typeface="Times New Roman" panose="02020603050405020304" pitchFamily="18" charset="0"/>
                    <a:cs typeface="Times New Roman" panose="02020603050405020304" pitchFamily="18" charset="0"/>
                  </a:rPr>
                  <a:t>用多次测量值的算术平均值近似代替被测量的真实值</a:t>
                </a:r>
                <a:r>
                  <a:rPr lang="zh-CN" altLang="en-US" sz="2400" dirty="0">
                    <a:solidFill>
                      <a:schemeClr val="tx1"/>
                    </a:solidFill>
                    <a:latin typeface="Times New Roman" panose="02020603050405020304" pitchFamily="18" charset="0"/>
                    <a:cs typeface="Times New Roman" panose="02020603050405020304" pitchFamily="18" charset="0"/>
                  </a:rPr>
                  <a:t>，通常把算术平均值称为最可信赖值，算术平均值可用下式求得：</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        </a:t>
                </a:r>
              </a:p>
              <a:p>
                <a:pPr marL="0" indent="631825" eaLnBrk="1" hangingPunct="1">
                  <a:lnSpc>
                    <a:spcPct val="150000"/>
                  </a:lnSpc>
                </a:pPr>
                <a:endParaRPr lang="en-US" altLang="zh-CN" sz="2400">
                  <a:solidFill>
                    <a:schemeClr val="tx1"/>
                  </a:solidFill>
                  <a:latin typeface="Times New Roman" panose="02020603050405020304" pitchFamily="18" charset="0"/>
                  <a:cs typeface="Times New Roman" panose="02020603050405020304" pitchFamily="18" charset="0"/>
                </a:endParaRPr>
              </a:p>
              <a:p>
                <a:pPr marL="0" indent="631825" eaLnBrk="1" hangingPunct="1">
                  <a:spcAft>
                    <a:spcPts val="600"/>
                  </a:spcAft>
                </a:pPr>
                <a:endParaRPr lang="en-US" altLang="zh-CN" sz="2400">
                  <a:solidFill>
                    <a:schemeClr val="tx1"/>
                  </a:solidFill>
                  <a:latin typeface="Times New Roman" panose="02020603050405020304" pitchFamily="18" charset="0"/>
                  <a:cs typeface="Times New Roman" panose="02020603050405020304" pitchFamily="18" charset="0"/>
                </a:endParaRPr>
              </a:p>
              <a:p>
                <a:pPr marL="0" indent="631825" eaLnBrk="1" hangingPunct="1">
                  <a:spcAft>
                    <a:spcPts val="600"/>
                  </a:spcAft>
                </a:pPr>
                <a:r>
                  <a:rPr lang="zh-CN" altLang="en-US" sz="2400">
                    <a:solidFill>
                      <a:schemeClr val="tx1"/>
                    </a:solidFill>
                    <a:latin typeface="Times New Roman" panose="02020603050405020304" pitchFamily="18" charset="0"/>
                    <a:cs typeface="Times New Roman" panose="02020603050405020304" pitchFamily="18" charset="0"/>
                  </a:rPr>
                  <a:t>式</a:t>
                </a:r>
                <a:r>
                  <a:rPr lang="zh-CN" altLang="en-US" sz="2400" dirty="0">
                    <a:solidFill>
                      <a:schemeClr val="tx1"/>
                    </a:solidFill>
                    <a:latin typeface="Times New Roman" panose="02020603050405020304" pitchFamily="18" charset="0"/>
                    <a:cs typeface="Times New Roman" panose="02020603050405020304" pitchFamily="18" charset="0"/>
                  </a:rPr>
                  <a:t>中   </a:t>
                </a:r>
                <a14:m>
                  <m:oMath xmlns:m="http://schemas.openxmlformats.org/officeDocument/2006/math">
                    <m:r>
                      <a:rPr lang="zh-CN" altLang="en-US" sz="2400" i="1" dirty="0" smtClean="0">
                        <a:solidFill>
                          <a:schemeClr val="tx1"/>
                        </a:solidFill>
                        <a:latin typeface="Cambria Math"/>
                        <a:cs typeface="Times New Roman" panose="02020603050405020304" pitchFamily="18" charset="0"/>
                      </a:rPr>
                      <m:t> </m:t>
                    </m:r>
                    <m:acc>
                      <m:accPr>
                        <m:chr m:val="̅"/>
                        <m:ctrlPr>
                          <a:rPr lang="zh-CN" altLang="en-US" sz="2400" b="0" i="1" dirty="0" smtClean="0">
                            <a:solidFill>
                              <a:schemeClr val="tx1"/>
                            </a:solidFill>
                            <a:latin typeface="Cambria Math" panose="02040503050406030204" pitchFamily="18" charset="0"/>
                            <a:cs typeface="Times New Roman" panose="02020603050405020304" pitchFamily="18" charset="0"/>
                          </a:rPr>
                        </m:ctrlPr>
                      </m:accPr>
                      <m:e>
                        <m:r>
                          <a:rPr lang="en-US" altLang="zh-CN" sz="2400" b="0" i="1" dirty="0" smtClean="0">
                            <a:solidFill>
                              <a:schemeClr val="tx1"/>
                            </a:solidFill>
                            <a:latin typeface="Cambria Math"/>
                            <a:cs typeface="Times New Roman" panose="02020603050405020304" pitchFamily="18" charset="0"/>
                          </a:rPr>
                          <m:t>𝑥</m:t>
                        </m:r>
                      </m:e>
                    </m:acc>
                    <m:r>
                      <a:rPr lang="zh-CN" altLang="en-US" sz="2400" i="1" dirty="0" smtClean="0">
                        <a:solidFill>
                          <a:schemeClr val="tx1"/>
                        </a:solidFill>
                        <a:latin typeface="Cambria Math"/>
                        <a:cs typeface="Times New Roman" panose="02020603050405020304" pitchFamily="18" charset="0"/>
                      </a:rPr>
                      <m:t> </m:t>
                    </m:r>
                  </m:oMath>
                </a14:m>
                <a:r>
                  <a:rPr lang="zh-CN" altLang="en-US" sz="2400" dirty="0">
                    <a:solidFill>
                      <a:schemeClr val="tx1"/>
                    </a:solidFill>
                    <a:latin typeface="Times New Roman" panose="02020603050405020304" pitchFamily="18" charset="0"/>
                    <a:cs typeface="Times New Roman" panose="02020603050405020304" pitchFamily="18" charset="0"/>
                  </a:rPr>
                  <a:t> </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被测量的算术平均值；</a:t>
                </a:r>
              </a:p>
              <a:p>
                <a:pPr eaLnBrk="1" hangingPunct="1">
                  <a:spcAft>
                    <a:spcPts val="600"/>
                  </a:spcAft>
                </a:pPr>
                <a:r>
                  <a:rPr lang="zh-CN" altLang="en-US" sz="2400">
                    <a:solidFill>
                      <a:schemeClr val="tx1"/>
                    </a:solidFill>
                    <a:latin typeface="Times New Roman" panose="02020603050405020304" pitchFamily="18" charset="0"/>
                    <a:cs typeface="Times New Roman" panose="02020603050405020304" pitchFamily="18" charset="0"/>
                  </a:rPr>
                  <a:t>                    </a:t>
                </a:r>
                <a:r>
                  <a:rPr lang="en-US" altLang="zh-CN" sz="2400" b="0" i="1">
                    <a:solidFill>
                      <a:schemeClr val="tx1"/>
                    </a:solidFill>
                    <a:latin typeface="Times New Roman" panose="02020603050405020304" pitchFamily="18" charset="0"/>
                    <a:cs typeface="Times New Roman" panose="02020603050405020304" pitchFamily="18" charset="0"/>
                  </a:rPr>
                  <a:t>x</a:t>
                </a:r>
                <a:r>
                  <a:rPr lang="en-US" altLang="zh-CN" sz="2400" b="0" i="1" baseline="-25000">
                    <a:solidFill>
                      <a:schemeClr val="tx1"/>
                    </a:solidFill>
                    <a:latin typeface="Times New Roman" panose="02020603050405020304" pitchFamily="18" charset="0"/>
                    <a:cs typeface="Times New Roman" panose="02020603050405020304" pitchFamily="18" charset="0"/>
                  </a:rPr>
                  <a:t>i   </a:t>
                </a:r>
                <a:r>
                  <a:rPr lang="en-US" altLang="zh-CN" sz="240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第</a:t>
                </a:r>
                <a:r>
                  <a:rPr lang="en-US" altLang="zh-CN" sz="2400" b="0" i="1" dirty="0" err="1">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次测量所得测量值；</a:t>
                </a:r>
              </a:p>
              <a:p>
                <a:pPr eaLnBrk="1" hangingPunct="1">
                  <a:spcAft>
                    <a:spcPts val="600"/>
                  </a:spcAft>
                </a:pPr>
                <a:r>
                  <a:rPr lang="zh-CN" altLang="en-US" sz="2400">
                    <a:solidFill>
                      <a:schemeClr val="tx1"/>
                    </a:solidFill>
                    <a:latin typeface="Times New Roman" panose="02020603050405020304" pitchFamily="18" charset="0"/>
                    <a:cs typeface="Times New Roman" panose="02020603050405020304" pitchFamily="18" charset="0"/>
                  </a:rPr>
                  <a:t>                    </a:t>
                </a:r>
                <a:r>
                  <a:rPr lang="en-US" altLang="zh-CN" sz="2400" b="0" i="1">
                    <a:solidFill>
                      <a:schemeClr val="tx1"/>
                    </a:solidFill>
                    <a:latin typeface="Times New Roman" panose="02020603050405020304" pitchFamily="18" charset="0"/>
                    <a:cs typeface="Times New Roman" panose="02020603050405020304" pitchFamily="18" charset="0"/>
                  </a:rPr>
                  <a:t>n  </a:t>
                </a:r>
                <a:r>
                  <a:rPr lang="en-US" altLang="zh-CN" sz="240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多次重复测量的总次数。</a:t>
                </a:r>
                <a:endParaRPr lang="en-US" altLang="zh-CN"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0" name="Rectangle 3"/>
              <p:cNvSpPr>
                <a:spLocks noRot="1" noChangeAspect="1" noMove="1" noResize="1" noEditPoints="1" noAdjustHandles="1" noChangeArrowheads="1" noChangeShapeType="1" noTextEdit="1"/>
              </p:cNvSpPr>
              <p:nvPr/>
            </p:nvSpPr>
            <p:spPr bwMode="auto">
              <a:xfrm>
                <a:off x="228367" y="1218418"/>
                <a:ext cx="8915633" cy="4876800"/>
              </a:xfrm>
              <a:prstGeom prst="rect">
                <a:avLst/>
              </a:prstGeom>
              <a:blipFill>
                <a:blip r:embed="rId4"/>
                <a:stretch>
                  <a:fillRect l="-1025" b="-7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001">
                    <a:noFill/>
                  </a:rPr>
                  <a:t> </a:t>
                </a:r>
              </a:p>
            </p:txBody>
          </p:sp>
        </mc:Fallback>
      </mc:AlternateContent>
      <p:graphicFrame>
        <p:nvGraphicFramePr>
          <p:cNvPr id="41" name="Object 25"/>
          <p:cNvGraphicFramePr>
            <a:graphicFrameLocks noChangeAspect="1"/>
          </p:cNvGraphicFramePr>
          <p:nvPr>
            <p:extLst>
              <p:ext uri="{D42A27DB-BD31-4B8C-83A1-F6EECF244321}">
                <p14:modId xmlns:p14="http://schemas.microsoft.com/office/powerpoint/2010/main" val="4160291144"/>
              </p:ext>
            </p:extLst>
          </p:nvPr>
        </p:nvGraphicFramePr>
        <p:xfrm>
          <a:off x="2779112" y="3539165"/>
          <a:ext cx="2372734" cy="1317027"/>
        </p:xfrm>
        <a:graphic>
          <a:graphicData uri="http://schemas.openxmlformats.org/presentationml/2006/ole">
            <mc:AlternateContent xmlns:mc="http://schemas.openxmlformats.org/markup-compatibility/2006">
              <mc:Choice xmlns:v="urn:schemas-microsoft-com:vml" Requires="v">
                <p:oleObj name="Equation" r:id="rId5" imgW="711000" imgH="431640" progId="Equation.DSMT4">
                  <p:embed/>
                </p:oleObj>
              </mc:Choice>
              <mc:Fallback>
                <p:oleObj name="Equation" r:id="rId5" imgW="711000" imgH="431640" progId="Equation.DSMT4">
                  <p:embed/>
                  <p:pic>
                    <p:nvPicPr>
                      <p:cNvPr id="251929"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9112" y="3539165"/>
                        <a:ext cx="2372734" cy="1317027"/>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8F79967A-E79D-441A-B2C9-5D586B74D0F7}"/>
              </a:ext>
            </a:extLst>
          </p:cNvPr>
          <p:cNvSpPr>
            <a:spLocks noGrp="1"/>
          </p:cNvSpPr>
          <p:nvPr>
            <p:ph type="sldNum" sz="quarter" idx="12"/>
          </p:nvPr>
        </p:nvSpPr>
        <p:spPr/>
        <p:txBody>
          <a:bodyPr/>
          <a:lstStyle/>
          <a:p>
            <a:fld id="{DC11BA4E-7967-4102-867C-9D230A2E6791}" type="slidenum">
              <a:rPr lang="zh-CN" altLang="en-US" smtClean="0"/>
              <a:t>44</a:t>
            </a:fld>
            <a:endParaRPr lang="zh-CN" altLang="en-US"/>
          </a:p>
        </p:txBody>
      </p:sp>
    </p:spTree>
    <p:extLst>
      <p:ext uri="{BB962C8B-B14F-4D97-AF65-F5344CB8AC3E}">
        <p14:creationId xmlns:p14="http://schemas.microsoft.com/office/powerpoint/2010/main" val="30218172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34790" y="2196445"/>
            <a:ext cx="3222296" cy="386499"/>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9" name="圆角矩形 28"/>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0" name="矩形 29"/>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测量数据的统计处理</a:t>
            </a:r>
          </a:p>
        </p:txBody>
      </p:sp>
      <mc:AlternateContent xmlns:mc="http://schemas.openxmlformats.org/markup-compatibility/2006" xmlns:a14="http://schemas.microsoft.com/office/drawing/2010/main">
        <mc:Choice Requires="a14">
          <p:sp>
            <p:nvSpPr>
              <p:cNvPr id="41" name="Rectangle 3"/>
              <p:cNvSpPr>
                <a:spLocks noRot="1" noChangeArrowheads="1"/>
              </p:cNvSpPr>
              <p:nvPr/>
            </p:nvSpPr>
            <p:spPr bwMode="auto">
              <a:xfrm>
                <a:off x="402900" y="1504652"/>
                <a:ext cx="7839637" cy="4876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1</a:t>
                </a:r>
                <a:r>
                  <a:rPr lang="zh-CN" altLang="en-US" sz="2400" dirty="0">
                    <a:solidFill>
                      <a:schemeClr val="tx1"/>
                    </a:solidFill>
                    <a:latin typeface="Times New Roman" panose="02020603050405020304" pitchFamily="18" charset="0"/>
                    <a:cs typeface="Times New Roman" panose="02020603050405020304" pitchFamily="18" charset="0"/>
                  </a:rPr>
                  <a:t>．算术平均值与剩余误差</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②偶然误差与剩余误差</a:t>
                </a:r>
              </a:p>
              <a:p>
                <a:pPr marL="0" indent="631825" eaLnBrk="1" hangingPunct="1">
                  <a:lnSpc>
                    <a:spcPct val="150000"/>
                  </a:lnSpc>
                </a:pPr>
                <a:r>
                  <a:rPr lang="zh-CN" altLang="en-US" sz="2400" dirty="0">
                    <a:solidFill>
                      <a:srgbClr val="0000FF"/>
                    </a:solidFill>
                    <a:latin typeface="Times New Roman" panose="02020603050405020304" pitchFamily="18" charset="0"/>
                    <a:cs typeface="Times New Roman" panose="02020603050405020304" pitchFamily="18" charset="0"/>
                  </a:rPr>
                  <a:t>剩余误差是单次测量值与被测量的算术平均值之差</a:t>
                </a:r>
                <a:r>
                  <a:rPr lang="zh-CN" altLang="en-US" sz="2400" dirty="0">
                    <a:solidFill>
                      <a:schemeClr val="tx1"/>
                    </a:solidFill>
                    <a:latin typeface="Times New Roman" panose="02020603050405020304" pitchFamily="18" charset="0"/>
                    <a:cs typeface="Times New Roman" panose="02020603050405020304" pitchFamily="18" charset="0"/>
                  </a:rPr>
                  <a:t>，用数学式表示为</a:t>
                </a:r>
              </a:p>
              <a:p>
                <a:pPr eaLnBrk="1" hangingPunct="1">
                  <a:lnSpc>
                    <a:spcPct val="150000"/>
                  </a:lnSpc>
                </a:pPr>
                <a14:m>
                  <m:oMathPara xmlns:m="http://schemas.openxmlformats.org/officeDocument/2006/math">
                    <m:oMathParaPr>
                      <m:jc m:val="centerGroup"/>
                    </m:oMathParaPr>
                    <m:oMath xmlns:m="http://schemas.openxmlformats.org/officeDocument/2006/math">
                      <m:sSub>
                        <m:sSubPr>
                          <m:ctrlPr>
                            <a:rPr lang="zh-CN"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a:rPr>
                            <m:t>𝑝</m:t>
                          </m:r>
                        </m:e>
                        <m:sub>
                          <m:r>
                            <a:rPr lang="en-US" altLang="zh-CN" sz="2400" i="1">
                              <a:solidFill>
                                <a:schemeClr val="tx1"/>
                              </a:solidFill>
                              <a:latin typeface="Cambria Math"/>
                            </a:rPr>
                            <m:t>𝑖</m:t>
                          </m:r>
                        </m:sub>
                      </m:sSub>
                      <m:r>
                        <a:rPr lang="en-US" altLang="zh-CN" sz="2400" i="1">
                          <a:solidFill>
                            <a:schemeClr val="tx1"/>
                          </a:solidFill>
                          <a:latin typeface="Cambria Math"/>
                        </a:rPr>
                        <m:t>=</m:t>
                      </m:r>
                      <m:sSub>
                        <m:sSubPr>
                          <m:ctrlPr>
                            <a:rPr lang="zh-CN" altLang="zh-CN" sz="2400" i="1">
                              <a:solidFill>
                                <a:schemeClr val="tx1"/>
                              </a:solidFill>
                              <a:latin typeface="Cambria Math" panose="02040503050406030204" pitchFamily="18" charset="0"/>
                            </a:rPr>
                          </m:ctrlPr>
                        </m:sSubPr>
                        <m:e>
                          <m:r>
                            <a:rPr lang="en-US" altLang="zh-CN" sz="2400" i="1">
                              <a:solidFill>
                                <a:schemeClr val="tx1"/>
                              </a:solidFill>
                              <a:latin typeface="Cambria Math"/>
                            </a:rPr>
                            <m:t>𝑥</m:t>
                          </m:r>
                        </m:e>
                        <m:sub>
                          <m:r>
                            <a:rPr lang="en-US" altLang="zh-CN" sz="2400" i="1">
                              <a:solidFill>
                                <a:schemeClr val="tx1"/>
                              </a:solidFill>
                              <a:latin typeface="Cambria Math"/>
                            </a:rPr>
                            <m:t>𝑖</m:t>
                          </m:r>
                        </m:sub>
                      </m:sSub>
                      <m:r>
                        <a:rPr lang="en-US" altLang="zh-CN" sz="2400" i="1">
                          <a:solidFill>
                            <a:schemeClr val="tx1"/>
                          </a:solidFill>
                          <a:latin typeface="Cambria Math"/>
                        </a:rPr>
                        <m:t>−</m:t>
                      </m:r>
                      <m:acc>
                        <m:accPr>
                          <m:chr m:val="̅"/>
                          <m:ctrlPr>
                            <a:rPr lang="zh-CN" altLang="zh-CN" sz="2400" i="1">
                              <a:solidFill>
                                <a:schemeClr val="tx1"/>
                              </a:solidFill>
                              <a:latin typeface="Cambria Math" panose="02040503050406030204" pitchFamily="18" charset="0"/>
                            </a:rPr>
                          </m:ctrlPr>
                        </m:accPr>
                        <m:e>
                          <m:r>
                            <a:rPr lang="en-US" altLang="zh-CN" sz="2400" i="1">
                              <a:solidFill>
                                <a:schemeClr val="tx1"/>
                              </a:solidFill>
                              <a:latin typeface="Cambria Math"/>
                            </a:rPr>
                            <m:t>𝑥</m:t>
                          </m:r>
                        </m:e>
                      </m:acc>
                    </m:oMath>
                  </m:oMathPara>
                </a14:m>
                <a:endParaRPr lang="zh-CN" altLang="zh-CN" sz="2400" dirty="0"/>
              </a:p>
              <a:p>
                <a:pPr marL="0" indent="6318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式中  </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i="1" baseline="-25000" dirty="0">
                    <a:solidFill>
                      <a:schemeClr val="tx1"/>
                    </a:solidFill>
                    <a:latin typeface="Times New Roman" panose="02020603050405020304" pitchFamily="18" charset="0"/>
                    <a:cs typeface="Times New Roman" panose="02020603050405020304" pitchFamily="18" charset="0"/>
                  </a:rPr>
                  <a:t>i</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多次重复测量的第</a:t>
                </a:r>
                <a:r>
                  <a:rPr lang="en-US" altLang="zh-CN" sz="2400" b="0" i="1" dirty="0" err="1">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次测量值；</a:t>
                </a:r>
              </a:p>
              <a:p>
                <a:pPr indent="998538"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zh-CN" altLang="en-US" sz="2400" b="0" i="1" dirty="0">
                            <a:solidFill>
                              <a:schemeClr val="tx1"/>
                            </a:solidFill>
                            <a:latin typeface="Cambria Math" panose="02040503050406030204" pitchFamily="18" charset="0"/>
                            <a:cs typeface="Times New Roman" panose="02020603050405020304" pitchFamily="18" charset="0"/>
                          </a:rPr>
                        </m:ctrlPr>
                      </m:accPr>
                      <m:e>
                        <m:r>
                          <a:rPr lang="en-US" altLang="zh-CN" sz="2400" b="0" i="1" dirty="0">
                            <a:solidFill>
                              <a:schemeClr val="tx1"/>
                            </a:solidFill>
                            <a:latin typeface="Cambria Math"/>
                            <a:cs typeface="Times New Roman" panose="02020603050405020304" pitchFamily="18" charset="0"/>
                          </a:rPr>
                          <m:t>𝑥</m:t>
                        </m:r>
                      </m:e>
                    </m:acc>
                  </m:oMath>
                </a14:m>
                <a:r>
                  <a:rPr lang="zh-CN" altLang="en-US" sz="2400" dirty="0">
                    <a:solidFill>
                      <a:schemeClr val="tx1"/>
                    </a:solidFill>
                    <a:latin typeface="Times New Roman" panose="02020603050405020304" pitchFamily="18" charset="0"/>
                    <a:cs typeface="Times New Roman" panose="02020603050405020304" pitchFamily="18" charset="0"/>
                  </a:rPr>
                  <a:t> </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多次重复测量的算术平均值；</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                  </a:t>
                </a:r>
                <a:r>
                  <a:rPr lang="en-US" altLang="zh-CN" sz="2400" b="0" i="1" dirty="0">
                    <a:solidFill>
                      <a:schemeClr val="tx1"/>
                    </a:solidFill>
                    <a:latin typeface="Times New Roman" panose="02020603050405020304" pitchFamily="18" charset="0"/>
                    <a:cs typeface="Times New Roman" panose="02020603050405020304" pitchFamily="18" charset="0"/>
                  </a:rPr>
                  <a:t>p</a:t>
                </a:r>
                <a:r>
                  <a:rPr lang="en-US" altLang="zh-CN" sz="2400" b="0" i="1" baseline="-25000" dirty="0">
                    <a:solidFill>
                      <a:schemeClr val="tx1"/>
                    </a:solidFill>
                    <a:latin typeface="Times New Roman" panose="02020603050405020304" pitchFamily="18" charset="0"/>
                    <a:cs typeface="Times New Roman" panose="02020603050405020304" pitchFamily="18" charset="0"/>
                  </a:rPr>
                  <a:t>i</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剩余误差</a:t>
                </a:r>
              </a:p>
            </p:txBody>
          </p:sp>
        </mc:Choice>
        <mc:Fallback xmlns="">
          <p:sp>
            <p:nvSpPr>
              <p:cNvPr id="41" name="Rectangle 3"/>
              <p:cNvSpPr>
                <a:spLocks noRot="1" noChangeAspect="1" noMove="1" noResize="1" noEditPoints="1" noAdjustHandles="1" noChangeArrowheads="1" noChangeShapeType="1" noTextEdit="1"/>
              </p:cNvSpPr>
              <p:nvPr/>
            </p:nvSpPr>
            <p:spPr bwMode="auto">
              <a:xfrm>
                <a:off x="402900" y="1504652"/>
                <a:ext cx="7839637" cy="4876800"/>
              </a:xfrm>
              <a:prstGeom prst="rect">
                <a:avLst/>
              </a:prstGeom>
              <a:blipFill>
                <a:blip r:embed="rId3"/>
                <a:stretch>
                  <a:fillRect l="-1166" r="-155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B92CEB8A-5783-4058-BADA-F267CBCC7F00}"/>
              </a:ext>
            </a:extLst>
          </p:cNvPr>
          <p:cNvSpPr>
            <a:spLocks noGrp="1"/>
          </p:cNvSpPr>
          <p:nvPr>
            <p:ph type="sldNum" sz="quarter" idx="12"/>
          </p:nvPr>
        </p:nvSpPr>
        <p:spPr/>
        <p:txBody>
          <a:bodyPr/>
          <a:lstStyle/>
          <a:p>
            <a:fld id="{DC11BA4E-7967-4102-867C-9D230A2E6791}" type="slidenum">
              <a:rPr lang="zh-CN" altLang="en-US" smtClean="0"/>
              <a:t>45</a:t>
            </a:fld>
            <a:endParaRPr lang="zh-CN" altLang="en-US"/>
          </a:p>
        </p:txBody>
      </p:sp>
    </p:spTree>
    <p:extLst>
      <p:ext uri="{BB962C8B-B14F-4D97-AF65-F5344CB8AC3E}">
        <p14:creationId xmlns:p14="http://schemas.microsoft.com/office/powerpoint/2010/main" val="6835310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9" name="圆角矩形 28"/>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0" name="矩形 29"/>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测量数据的统计处理</a:t>
            </a:r>
          </a:p>
        </p:txBody>
      </p:sp>
      <p:sp>
        <p:nvSpPr>
          <p:cNvPr id="41" name="Rectangle 3"/>
          <p:cNvSpPr>
            <a:spLocks noRot="1" noChangeArrowheads="1"/>
          </p:cNvSpPr>
          <p:nvPr/>
        </p:nvSpPr>
        <p:spPr bwMode="auto">
          <a:xfrm>
            <a:off x="185083" y="1219200"/>
            <a:ext cx="8626408" cy="3720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2</a:t>
            </a:r>
            <a:r>
              <a:rPr lang="zh-CN" altLang="en-US" sz="2400" dirty="0">
                <a:solidFill>
                  <a:schemeClr val="tx1"/>
                </a:solidFill>
                <a:latin typeface="Times New Roman" panose="02020603050405020304" pitchFamily="18" charset="0"/>
                <a:cs typeface="Times New Roman" panose="02020603050405020304" pitchFamily="18" charset="0"/>
              </a:rPr>
              <a:t>．偶然误差的计算</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①问题的提出</a:t>
            </a:r>
            <a:endParaRPr lang="en-US" altLang="zh-CN" sz="2400" dirty="0">
              <a:solidFill>
                <a:schemeClr val="tx1"/>
              </a:solidFill>
              <a:latin typeface="Times New Roman" panose="02020603050405020304" pitchFamily="18" charset="0"/>
              <a:cs typeface="Times New Roman" panose="02020603050405020304" pitchFamily="18" charset="0"/>
            </a:endParaRPr>
          </a:p>
          <a:p>
            <a:pPr marL="0" indent="6318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对同一物理量，用两台仪表进行</a:t>
            </a:r>
            <a:r>
              <a:rPr lang="en-US" altLang="zh-CN" sz="2400" b="0" i="1" dirty="0">
                <a:solidFill>
                  <a:schemeClr val="tx1"/>
                </a:solidFill>
                <a:latin typeface="Times New Roman" panose="02020603050405020304" pitchFamily="18" charset="0"/>
                <a:cs typeface="Times New Roman" panose="02020603050405020304" pitchFamily="18" charset="0"/>
              </a:rPr>
              <a:t>n</a:t>
            </a:r>
            <a:r>
              <a:rPr lang="zh-CN" altLang="en-US" sz="2400" dirty="0">
                <a:solidFill>
                  <a:schemeClr val="tx1"/>
                </a:solidFill>
                <a:latin typeface="Times New Roman" panose="02020603050405020304" pitchFamily="18" charset="0"/>
                <a:cs typeface="Times New Roman" panose="02020603050405020304" pitchFamily="18" charset="0"/>
              </a:rPr>
              <a:t>次测量，得到两组数据（系统误差小到可忽略），如何判别哪台仪表测量精度更高呢？</a:t>
            </a:r>
          </a:p>
        </p:txBody>
      </p:sp>
      <mc:AlternateContent xmlns:mc="http://schemas.openxmlformats.org/markup-compatibility/2006" xmlns:a14="http://schemas.microsoft.com/office/drawing/2010/main">
        <mc:Choice Requires="a14">
          <p:sp>
            <p:nvSpPr>
              <p:cNvPr id="3" name="矩形 2"/>
              <p:cNvSpPr/>
              <p:nvPr/>
            </p:nvSpPr>
            <p:spPr>
              <a:xfrm>
                <a:off x="2204441" y="3641229"/>
                <a:ext cx="2011192" cy="10016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a:latin typeface="Cambria Math" panose="02040503050406030204" pitchFamily="18" charset="0"/>
                            </a:rPr>
                          </m:ctrlPr>
                        </m:sSubPr>
                        <m:e>
                          <m:r>
                            <m:rPr>
                              <m:sty m:val="p"/>
                            </m:rPr>
                            <a:rPr lang="el-GR" altLang="zh-CN" sz="2000" i="1" smtClean="0">
                              <a:latin typeface="Cambria Math" panose="02040503050406030204" pitchFamily="18" charset="0"/>
                              <a:ea typeface="Cambria Math" panose="02040503050406030204" pitchFamily="18" charset="0"/>
                            </a:rPr>
                            <m:t>σ</m:t>
                          </m:r>
                        </m:e>
                        <m:sub>
                          <m:r>
                            <a:rPr lang="zh-CN" altLang="en-US" sz="2000" i="1">
                              <a:latin typeface="Cambria Math" panose="02040503050406030204" pitchFamily="18" charset="0"/>
                            </a:rPr>
                            <m:t>𝑥</m:t>
                          </m:r>
                        </m:sub>
                      </m:sSub>
                      <m:r>
                        <a:rPr lang="zh-CN" altLang="en-US" sz="2000" i="0">
                          <a:latin typeface="Cambria Math" panose="02040503050406030204" pitchFamily="18" charset="0"/>
                        </a:rPr>
                        <m:t>=</m:t>
                      </m:r>
                      <m:rad>
                        <m:radPr>
                          <m:degHide m:val="on"/>
                          <m:ctrlPr>
                            <a:rPr lang="zh-CN" altLang="en-US" sz="2000" i="1">
                              <a:latin typeface="Cambria Math" panose="02040503050406030204" pitchFamily="18" charset="0"/>
                            </a:rPr>
                          </m:ctrlPr>
                        </m:radPr>
                        <m:deg/>
                        <m:e>
                          <m:f>
                            <m:fPr>
                              <m:ctrlPr>
                                <a:rPr lang="zh-CN" altLang="en-US" sz="2000" i="1">
                                  <a:latin typeface="Cambria Math" panose="02040503050406030204" pitchFamily="18" charset="0"/>
                                </a:rPr>
                              </m:ctrlPr>
                            </m:fPr>
                            <m:num>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=1</m:t>
                                  </m:r>
                                </m:sub>
                                <m:sup>
                                  <m:r>
                                    <a:rPr lang="zh-CN" altLang="en-US" sz="2000" i="1">
                                      <a:latin typeface="Cambria Math" panose="02040503050406030204" pitchFamily="18" charset="0"/>
                                    </a:rPr>
                                    <m:t>𝑛</m:t>
                                  </m:r>
                                </m:sup>
                                <m:e>
                                  <m:r>
                                    <a:rPr lang="zh-CN" altLang="en-US" sz="2000" i="0">
                                      <a:latin typeface="Cambria Math" panose="02040503050406030204" pitchFamily="18" charset="0"/>
                                    </a:rPr>
                                    <m:t>∆</m:t>
                                  </m:r>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𝑥</m:t>
                                      </m:r>
                                    </m:e>
                                    <m:sub>
                                      <m:r>
                                        <a:rPr lang="zh-CN" altLang="en-US" sz="2000" i="1">
                                          <a:latin typeface="Cambria Math" panose="02040503050406030204" pitchFamily="18" charset="0"/>
                                        </a:rPr>
                                        <m:t>𝑖</m:t>
                                      </m:r>
                                    </m:sub>
                                    <m:sup>
                                      <m:r>
                                        <a:rPr lang="zh-CN" altLang="en-US" sz="2000" i="0">
                                          <a:latin typeface="Cambria Math" panose="02040503050406030204" pitchFamily="18" charset="0"/>
                                        </a:rPr>
                                        <m:t>2</m:t>
                                      </m:r>
                                    </m:sup>
                                  </m:sSubSup>
                                </m:e>
                              </m:nary>
                            </m:num>
                            <m:den>
                              <m:r>
                                <a:rPr lang="zh-CN" altLang="en-US" sz="2000" i="1">
                                  <a:latin typeface="Cambria Math" panose="02040503050406030204" pitchFamily="18" charset="0"/>
                                </a:rPr>
                                <m:t>𝑛</m:t>
                              </m:r>
                            </m:den>
                          </m:f>
                        </m:e>
                      </m:rad>
                    </m:oMath>
                  </m:oMathPara>
                </a14:m>
                <a:endParaRPr lang="zh-CN" altLang="en-US" sz="2000" dirty="0"/>
              </a:p>
            </p:txBody>
          </p:sp>
        </mc:Choice>
        <mc:Fallback xmlns="">
          <p:sp>
            <p:nvSpPr>
              <p:cNvPr id="3" name="矩形 2"/>
              <p:cNvSpPr>
                <a:spLocks noRot="1" noChangeAspect="1" noMove="1" noResize="1" noEditPoints="1" noAdjustHandles="1" noChangeArrowheads="1" noChangeShapeType="1" noTextEdit="1"/>
              </p:cNvSpPr>
              <p:nvPr/>
            </p:nvSpPr>
            <p:spPr>
              <a:xfrm>
                <a:off x="2204441" y="3641229"/>
                <a:ext cx="2011192" cy="1001684"/>
              </a:xfrm>
              <a:prstGeom prst="rect">
                <a:avLst/>
              </a:prstGeom>
              <a:blipFill>
                <a:blip r:embed="rId3"/>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945440" y="3641229"/>
                <a:ext cx="2025234" cy="10016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000" i="1">
                              <a:latin typeface="Cambria Math" panose="02040503050406030204" pitchFamily="18" charset="0"/>
                            </a:rPr>
                          </m:ctrlPr>
                        </m:sSubPr>
                        <m:e>
                          <m:r>
                            <m:rPr>
                              <m:sty m:val="p"/>
                            </m:rPr>
                            <a:rPr lang="el-GR" altLang="zh-CN" sz="2000" i="1" smtClean="0">
                              <a:latin typeface="Cambria Math" panose="02040503050406030204" pitchFamily="18" charset="0"/>
                              <a:ea typeface="Cambria Math" panose="02040503050406030204" pitchFamily="18" charset="0"/>
                            </a:rPr>
                            <m:t>σ</m:t>
                          </m:r>
                        </m:e>
                        <m:sub>
                          <m:r>
                            <a:rPr lang="zh-CN" altLang="en-US" sz="2000" i="1">
                              <a:latin typeface="Cambria Math" panose="02040503050406030204" pitchFamily="18" charset="0"/>
                            </a:rPr>
                            <m:t>𝑦</m:t>
                          </m:r>
                        </m:sub>
                      </m:sSub>
                      <m:r>
                        <a:rPr lang="zh-CN" altLang="en-US" sz="2000" i="0">
                          <a:latin typeface="Cambria Math" panose="02040503050406030204" pitchFamily="18" charset="0"/>
                        </a:rPr>
                        <m:t>=</m:t>
                      </m:r>
                      <m:rad>
                        <m:radPr>
                          <m:degHide m:val="on"/>
                          <m:ctrlPr>
                            <a:rPr lang="zh-CN" altLang="en-US" sz="2000" i="1">
                              <a:latin typeface="Cambria Math" panose="02040503050406030204" pitchFamily="18" charset="0"/>
                            </a:rPr>
                          </m:ctrlPr>
                        </m:radPr>
                        <m:deg/>
                        <m:e>
                          <m:f>
                            <m:fPr>
                              <m:ctrlPr>
                                <a:rPr lang="zh-CN" altLang="en-US" sz="2000" i="1">
                                  <a:latin typeface="Cambria Math" panose="02040503050406030204" pitchFamily="18" charset="0"/>
                                </a:rPr>
                              </m:ctrlPr>
                            </m:fPr>
                            <m:num>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=1</m:t>
                                  </m:r>
                                </m:sub>
                                <m:sup>
                                  <m:r>
                                    <a:rPr lang="zh-CN" altLang="en-US" sz="2000" i="1">
                                      <a:latin typeface="Cambria Math" panose="02040503050406030204" pitchFamily="18" charset="0"/>
                                    </a:rPr>
                                    <m:t>𝑛</m:t>
                                  </m:r>
                                </m:sup>
                                <m:e>
                                  <m:r>
                                    <a:rPr lang="zh-CN" altLang="en-US" sz="2000" i="0">
                                      <a:latin typeface="Cambria Math" panose="02040503050406030204" pitchFamily="18" charset="0"/>
                                    </a:rPr>
                                    <m:t>∆</m:t>
                                  </m:r>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𝑦</m:t>
                                      </m:r>
                                    </m:e>
                                    <m:sub>
                                      <m:r>
                                        <a:rPr lang="zh-CN" altLang="en-US" sz="2000" i="1">
                                          <a:latin typeface="Cambria Math" panose="02040503050406030204" pitchFamily="18" charset="0"/>
                                        </a:rPr>
                                        <m:t>𝑖</m:t>
                                      </m:r>
                                    </m:sub>
                                    <m:sup>
                                      <m:r>
                                        <a:rPr lang="zh-CN" altLang="en-US" sz="2000" i="0">
                                          <a:latin typeface="Cambria Math" panose="02040503050406030204" pitchFamily="18" charset="0"/>
                                        </a:rPr>
                                        <m:t>2</m:t>
                                      </m:r>
                                    </m:sup>
                                  </m:sSubSup>
                                </m:e>
                              </m:nary>
                            </m:num>
                            <m:den>
                              <m:r>
                                <a:rPr lang="zh-CN" altLang="en-US" sz="2000" i="1">
                                  <a:latin typeface="Cambria Math" panose="02040503050406030204" pitchFamily="18" charset="0"/>
                                </a:rPr>
                                <m:t>𝑛</m:t>
                              </m:r>
                            </m:den>
                          </m:f>
                        </m:e>
                      </m:rad>
                    </m:oMath>
                  </m:oMathPara>
                </a14:m>
                <a:endParaRPr lang="zh-CN" altLang="en-US" sz="2000" dirty="0"/>
              </a:p>
            </p:txBody>
          </p:sp>
        </mc:Choice>
        <mc:Fallback xmlns="">
          <p:sp>
            <p:nvSpPr>
              <p:cNvPr id="4" name="矩形 3"/>
              <p:cNvSpPr>
                <a:spLocks noRot="1" noChangeAspect="1" noMove="1" noResize="1" noEditPoints="1" noAdjustHandles="1" noChangeArrowheads="1" noChangeShapeType="1" noTextEdit="1"/>
              </p:cNvSpPr>
              <p:nvPr/>
            </p:nvSpPr>
            <p:spPr>
              <a:xfrm>
                <a:off x="4945440" y="3641229"/>
                <a:ext cx="2025234" cy="1001684"/>
              </a:xfrm>
              <a:prstGeom prst="rect">
                <a:avLst/>
              </a:prstGeom>
              <a:blipFill>
                <a:blip r:embed="rId4"/>
                <a:stretch>
                  <a:fillRect/>
                </a:stretch>
              </a:blipFill>
            </p:spPr>
            <p:txBody>
              <a:bodyPr/>
              <a:lstStyle/>
              <a:p>
                <a:r>
                  <a:rPr lang="en-001">
                    <a:noFill/>
                  </a:rPr>
                  <a:t> </a:t>
                </a:r>
              </a:p>
            </p:txBody>
          </p:sp>
        </mc:Fallback>
      </mc:AlternateContent>
      <p:sp>
        <p:nvSpPr>
          <p:cNvPr id="5" name="矩形 4"/>
          <p:cNvSpPr/>
          <p:nvPr/>
        </p:nvSpPr>
        <p:spPr>
          <a:xfrm>
            <a:off x="836036" y="4962489"/>
            <a:ext cx="6759194" cy="461665"/>
          </a:xfrm>
          <a:prstGeom prst="rect">
            <a:avLst/>
          </a:prstGeom>
        </p:spPr>
        <p:txBody>
          <a:bodyPr wrap="square">
            <a:spAutoFit/>
          </a:bodyPr>
          <a:lstStyle/>
          <a:p>
            <a:r>
              <a:rPr lang="zh-CN" altLang="en-US" sz="2400" b="1" dirty="0">
                <a:latin typeface="宋体" panose="02010600030101010101" pitchFamily="2" charset="-122"/>
                <a:ea typeface="宋体" panose="02010600030101010101" pitchFamily="2" charset="-122"/>
                <a:cs typeface="Times New Roman" panose="02020603050405020304" pitchFamily="18" charset="0"/>
              </a:rPr>
              <a:t>如果</a:t>
            </a:r>
            <a:r>
              <a:rPr lang="el-GR" altLang="zh-CN" sz="2400" i="1" dirty="0">
                <a:latin typeface="Times New Roman" panose="02020603050405020304" pitchFamily="18" charset="0"/>
                <a:ea typeface="宋体" panose="02010600030101010101" pitchFamily="2" charset="-122"/>
                <a:cs typeface="Times New Roman" panose="02020603050405020304" pitchFamily="18" charset="0"/>
              </a:rPr>
              <a:t>σ</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&lt;</a:t>
            </a:r>
            <a:r>
              <a:rPr lang="el-GR" altLang="zh-CN" sz="2400" i="1" dirty="0">
                <a:latin typeface="Times New Roman" panose="02020603050405020304" pitchFamily="18" charset="0"/>
                <a:ea typeface="宋体" panose="02010600030101010101" pitchFamily="2" charset="-122"/>
                <a:cs typeface="Times New Roman" panose="02020603050405020304" pitchFamily="18" charset="0"/>
              </a:rPr>
              <a:t>σ</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，说明</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对应</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仪表比</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对应</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仪表测量</a:t>
            </a:r>
            <a:r>
              <a:rPr lang="zh-CN" altLang="en-US" sz="24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精密</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ACC104AC-EA8C-41DE-813A-00B2B124F329}"/>
              </a:ext>
            </a:extLst>
          </p:cNvPr>
          <p:cNvSpPr>
            <a:spLocks noGrp="1"/>
          </p:cNvSpPr>
          <p:nvPr>
            <p:ph type="sldNum" sz="quarter" idx="12"/>
          </p:nvPr>
        </p:nvSpPr>
        <p:spPr/>
        <p:txBody>
          <a:bodyPr/>
          <a:lstStyle/>
          <a:p>
            <a:fld id="{DC11BA4E-7967-4102-867C-9D230A2E6791}" type="slidenum">
              <a:rPr lang="zh-CN" altLang="en-US" smtClean="0"/>
              <a:t>46</a:t>
            </a:fld>
            <a:endParaRPr lang="zh-CN" altLang="en-US"/>
          </a:p>
        </p:txBody>
      </p:sp>
    </p:spTree>
    <p:extLst>
      <p:ext uri="{BB962C8B-B14F-4D97-AF65-F5344CB8AC3E}">
        <p14:creationId xmlns:p14="http://schemas.microsoft.com/office/powerpoint/2010/main" val="6844161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9" name="圆角矩形 28"/>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0" name="矩形 29"/>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测量数据的统计处理</a:t>
            </a:r>
          </a:p>
        </p:txBody>
      </p:sp>
      <mc:AlternateContent xmlns:mc="http://schemas.openxmlformats.org/markup-compatibility/2006" xmlns:a14="http://schemas.microsoft.com/office/drawing/2010/main">
        <mc:Choice Requires="a14">
          <p:sp>
            <p:nvSpPr>
              <p:cNvPr id="41" name="Rectangle 3"/>
              <p:cNvSpPr>
                <a:spLocks noRot="1" noChangeArrowheads="1"/>
              </p:cNvSpPr>
              <p:nvPr/>
            </p:nvSpPr>
            <p:spPr bwMode="auto">
              <a:xfrm>
                <a:off x="185083" y="1220168"/>
                <a:ext cx="8749746" cy="441766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 2</a:t>
                </a:r>
                <a:r>
                  <a:rPr lang="zh-CN" altLang="en-US" sz="2400" dirty="0">
                    <a:solidFill>
                      <a:schemeClr val="tx1"/>
                    </a:solidFill>
                    <a:latin typeface="Times New Roman" panose="02020603050405020304" pitchFamily="18" charset="0"/>
                    <a:cs typeface="Times New Roman" panose="02020603050405020304" pitchFamily="18" charset="0"/>
                  </a:rPr>
                  <a:t>．偶然误差的计算</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②有限次测量的均方差</a:t>
                </a:r>
              </a:p>
              <a:p>
                <a:pPr marL="0" indent="6318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可以证明，有限次测量的均方根误差的计算公式为：</a:t>
                </a:r>
              </a:p>
              <a:p>
                <a:pPr eaLnBrk="1" hangingPunct="1">
                  <a:lnSpc>
                    <a:spcPct val="150000"/>
                  </a:lnSpc>
                </a:pPr>
                <a:r>
                  <a:rPr lang="zh-CN" altLang="en-US" sz="2400">
                    <a:solidFill>
                      <a:schemeClr val="tx1"/>
                    </a:solidFill>
                    <a:latin typeface="Times New Roman" panose="02020603050405020304" pitchFamily="18" charset="0"/>
                    <a:cs typeface="Times New Roman" panose="02020603050405020304" pitchFamily="18" charset="0"/>
                  </a:rPr>
                  <a:t>           </a:t>
                </a:r>
                <a:endParaRPr lang="en-US" altLang="zh-CN" sz="2400">
                  <a:solidFill>
                    <a:schemeClr val="tx1"/>
                  </a:solidFill>
                  <a:latin typeface="Times New Roman" panose="02020603050405020304" pitchFamily="18" charset="0"/>
                  <a:cs typeface="Times New Roman" panose="02020603050405020304" pitchFamily="18" charset="0"/>
                </a:endParaRPr>
              </a:p>
              <a:p>
                <a:pPr eaLnBrk="1" hangingPunct="1">
                  <a:lnSpc>
                    <a:spcPct val="150000"/>
                  </a:lnSpc>
                </a:pPr>
                <a:endParaRPr lang="zh-CN" altLang="en-US" sz="2400" dirty="0">
                  <a:solidFill>
                    <a:schemeClr val="tx1"/>
                  </a:solidFill>
                  <a:latin typeface="Times New Roman" panose="02020603050405020304" pitchFamily="18" charset="0"/>
                  <a:cs typeface="Times New Roman" panose="02020603050405020304" pitchFamily="18" charset="0"/>
                </a:endParaRPr>
              </a:p>
              <a:p>
                <a:pPr indent="2889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式中  </a:t>
                </a:r>
                <a14:m>
                  <m:oMath xmlns:m="http://schemas.openxmlformats.org/officeDocument/2006/math">
                    <m:acc>
                      <m:accPr>
                        <m:chr m:val="̅"/>
                        <m:ctrlPr>
                          <a:rPr lang="zh-CN" altLang="en-US" sz="2400" b="0" i="1" dirty="0">
                            <a:solidFill>
                              <a:schemeClr val="tx1"/>
                            </a:solidFill>
                            <a:latin typeface="Cambria Math" panose="02040503050406030204" pitchFamily="18" charset="0"/>
                            <a:cs typeface="Times New Roman" panose="02020603050405020304" pitchFamily="18" charset="0"/>
                          </a:rPr>
                        </m:ctrlPr>
                      </m:accPr>
                      <m:e>
                        <m:r>
                          <a:rPr lang="en-US" altLang="zh-CN" sz="2400" b="0" i="1" dirty="0">
                            <a:solidFill>
                              <a:schemeClr val="tx1"/>
                            </a:solidFill>
                            <a:latin typeface="Cambria Math"/>
                            <a:cs typeface="Times New Roman" panose="02020603050405020304" pitchFamily="18" charset="0"/>
                          </a:rPr>
                          <m:t>𝑥</m:t>
                        </m:r>
                      </m:e>
                    </m:acc>
                  </m:oMath>
                </a14:m>
                <a:r>
                  <a:rPr lang="en-US" altLang="zh-CN" sz="240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n</a:t>
                </a:r>
                <a:r>
                  <a:rPr lang="zh-CN" altLang="en-US" sz="2400" dirty="0">
                    <a:solidFill>
                      <a:schemeClr val="tx1"/>
                    </a:solidFill>
                    <a:latin typeface="Times New Roman" panose="02020603050405020304" pitchFamily="18" charset="0"/>
                    <a:cs typeface="Times New Roman" panose="02020603050405020304" pitchFamily="18" charset="0"/>
                  </a:rPr>
                  <a:t>次测量值的算术平均值；</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                  </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i="1" baseline="-25000" dirty="0">
                    <a:solidFill>
                      <a:schemeClr val="tx1"/>
                    </a:solidFill>
                    <a:latin typeface="Times New Roman" panose="02020603050405020304" pitchFamily="18" charset="0"/>
                    <a:cs typeface="Times New Roman" panose="02020603050405020304" pitchFamily="18" charset="0"/>
                  </a:rPr>
                  <a:t>i</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第</a:t>
                </a:r>
                <a:r>
                  <a:rPr lang="en-US" altLang="zh-CN" sz="2400" b="0" i="1" dirty="0" err="1">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次测量值；</a:t>
                </a:r>
              </a:p>
              <a:p>
                <a:pPr eaLnBrk="1" hangingPunct="1">
                  <a:lnSpc>
                    <a:spcPct val="150000"/>
                  </a:lnSpc>
                </a:pPr>
                <a:r>
                  <a:rPr lang="zh-CN" altLang="en-US" sz="2400" i="1" dirty="0">
                    <a:solidFill>
                      <a:schemeClr val="tx1"/>
                    </a:solidFill>
                    <a:latin typeface="Times New Roman" panose="02020603050405020304" pitchFamily="18" charset="0"/>
                    <a:cs typeface="Times New Roman" panose="02020603050405020304" pitchFamily="18" charset="0"/>
                  </a:rPr>
                  <a:t>                  </a:t>
                </a:r>
                <a:r>
                  <a:rPr lang="en-US" altLang="zh-CN" sz="2400" b="0" i="1" dirty="0">
                    <a:solidFill>
                      <a:schemeClr val="tx1"/>
                    </a:solidFill>
                    <a:latin typeface="Times New Roman" panose="02020603050405020304" pitchFamily="18" charset="0"/>
                    <a:cs typeface="Times New Roman" panose="02020603050405020304" pitchFamily="18" charset="0"/>
                  </a:rPr>
                  <a:t>n</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测量次数。</a:t>
                </a:r>
              </a:p>
            </p:txBody>
          </p:sp>
        </mc:Choice>
        <mc:Fallback xmlns="">
          <p:sp>
            <p:nvSpPr>
              <p:cNvPr id="41" name="Rectangle 3"/>
              <p:cNvSpPr>
                <a:spLocks noRot="1" noChangeAspect="1" noMove="1" noResize="1" noEditPoints="1" noAdjustHandles="1" noChangeArrowheads="1" noChangeShapeType="1" noTextEdit="1"/>
              </p:cNvSpPr>
              <p:nvPr/>
            </p:nvSpPr>
            <p:spPr bwMode="auto">
              <a:xfrm>
                <a:off x="185083" y="1220168"/>
                <a:ext cx="8749746" cy="4417664"/>
              </a:xfrm>
              <a:prstGeom prst="rect">
                <a:avLst/>
              </a:prstGeom>
              <a:blipFill>
                <a:blip r:embed="rId3"/>
                <a:stretch>
                  <a:fillRect l="-1045" b="-31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3130132" y="2928158"/>
                <a:ext cx="2441694" cy="1001684"/>
              </a:xfrm>
              <a:prstGeom prst="rect">
                <a:avLst/>
              </a:prstGeom>
              <a:solidFill>
                <a:schemeClr val="accent2">
                  <a:lumMod val="40000"/>
                  <a:lumOff val="6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𝜎</m:t>
                      </m:r>
                      <m:r>
                        <a:rPr lang="zh-CN" altLang="en-US" sz="2000" i="0">
                          <a:latin typeface="Cambria Math" panose="02040503050406030204" pitchFamily="18" charset="0"/>
                        </a:rPr>
                        <m:t>=</m:t>
                      </m:r>
                      <m:rad>
                        <m:radPr>
                          <m:degHide m:val="on"/>
                          <m:ctrlPr>
                            <a:rPr lang="zh-CN" altLang="en-US" sz="2000" i="1">
                              <a:latin typeface="Cambria Math" panose="02040503050406030204" pitchFamily="18" charset="0"/>
                            </a:rPr>
                          </m:ctrlPr>
                        </m:radPr>
                        <m:deg/>
                        <m:e>
                          <m:f>
                            <m:fPr>
                              <m:ctrlPr>
                                <a:rPr lang="zh-CN" altLang="en-US" sz="2000" i="1">
                                  <a:latin typeface="Cambria Math" panose="02040503050406030204" pitchFamily="18" charset="0"/>
                                </a:rPr>
                              </m:ctrlPr>
                            </m:fPr>
                            <m:num>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=1</m:t>
                                  </m:r>
                                </m:sub>
                                <m:sup>
                                  <m:r>
                                    <a:rPr lang="zh-CN" altLang="en-US" sz="2000" i="1">
                                      <a:latin typeface="Cambria Math" panose="02040503050406030204" pitchFamily="18" charset="0"/>
                                    </a:rPr>
                                    <m:t>𝑛</m:t>
                                  </m:r>
                                </m:sup>
                                <m:e>
                                  <m:sSup>
                                    <m:sSupPr>
                                      <m:ctrlPr>
                                        <a:rPr lang="zh-CN" altLang="en-US" sz="2000" i="1">
                                          <a:latin typeface="Cambria Math" panose="02040503050406030204" pitchFamily="18" charset="0"/>
                                        </a:rPr>
                                      </m:ctrlPr>
                                    </m:sSupPr>
                                    <m:e>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𝑥</m:t>
                                              </m:r>
                                            </m:e>
                                            <m:sub>
                                              <m:r>
                                                <a:rPr lang="zh-CN" altLang="en-US" sz="2000" i="1">
                                                  <a:latin typeface="Cambria Math" panose="02040503050406030204" pitchFamily="18" charset="0"/>
                                                </a:rPr>
                                                <m:t>𝑖</m:t>
                                              </m:r>
                                            </m:sub>
                                          </m:sSub>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e>
                                      </m:d>
                                    </m:e>
                                    <m:sup>
                                      <m:r>
                                        <a:rPr lang="zh-CN" altLang="en-US" sz="2000" i="0">
                                          <a:latin typeface="Cambria Math" panose="02040503050406030204" pitchFamily="18" charset="0"/>
                                        </a:rPr>
                                        <m:t>2</m:t>
                                      </m:r>
                                    </m:sup>
                                  </m:sSup>
                                </m:e>
                              </m:nary>
                            </m:num>
                            <m:den>
                              <m:r>
                                <a:rPr lang="zh-CN" altLang="en-US" sz="2000" i="1">
                                  <a:latin typeface="Cambria Math" panose="02040503050406030204" pitchFamily="18" charset="0"/>
                                </a:rPr>
                                <m:t>𝑛</m:t>
                              </m:r>
                              <m:r>
                                <a:rPr lang="zh-CN" altLang="en-US" sz="2000" i="0">
                                  <a:latin typeface="Cambria Math" panose="02040503050406030204" pitchFamily="18" charset="0"/>
                                </a:rPr>
                                <m:t>−1</m:t>
                              </m:r>
                            </m:den>
                          </m:f>
                        </m:e>
                      </m:rad>
                    </m:oMath>
                  </m:oMathPara>
                </a14:m>
                <a:endParaRPr lang="zh-CN" altLang="en-US" sz="2000" dirty="0"/>
              </a:p>
            </p:txBody>
          </p:sp>
        </mc:Choice>
        <mc:Fallback xmlns="">
          <p:sp>
            <p:nvSpPr>
              <p:cNvPr id="2" name="矩形 1"/>
              <p:cNvSpPr>
                <a:spLocks noRot="1" noChangeAspect="1" noMove="1" noResize="1" noEditPoints="1" noAdjustHandles="1" noChangeArrowheads="1" noChangeShapeType="1" noTextEdit="1"/>
              </p:cNvSpPr>
              <p:nvPr/>
            </p:nvSpPr>
            <p:spPr>
              <a:xfrm>
                <a:off x="3130132" y="2928158"/>
                <a:ext cx="2441694" cy="1001684"/>
              </a:xfrm>
              <a:prstGeom prst="rect">
                <a:avLst/>
              </a:prstGeom>
              <a:blipFill>
                <a:blip r:embed="rId4"/>
                <a:stretch>
                  <a:fillRect/>
                </a:stretch>
              </a:blipFill>
            </p:spPr>
            <p:txBody>
              <a:bodyPr/>
              <a:lstStyle/>
              <a:p>
                <a:r>
                  <a:rPr lang="en-001">
                    <a:noFill/>
                  </a:rPr>
                  <a:t> </a:t>
                </a:r>
              </a:p>
            </p:txBody>
          </p:sp>
        </mc:Fallback>
      </mc:AlternateContent>
      <p:sp>
        <p:nvSpPr>
          <p:cNvPr id="3" name="Slide Number Placeholder 2">
            <a:extLst>
              <a:ext uri="{FF2B5EF4-FFF2-40B4-BE49-F238E27FC236}">
                <a16:creationId xmlns:a16="http://schemas.microsoft.com/office/drawing/2014/main" id="{07E6FBB2-C375-4247-82B9-9D4B529624C5}"/>
              </a:ext>
            </a:extLst>
          </p:cNvPr>
          <p:cNvSpPr>
            <a:spLocks noGrp="1"/>
          </p:cNvSpPr>
          <p:nvPr>
            <p:ph type="sldNum" sz="quarter" idx="12"/>
          </p:nvPr>
        </p:nvSpPr>
        <p:spPr/>
        <p:txBody>
          <a:bodyPr/>
          <a:lstStyle/>
          <a:p>
            <a:fld id="{DC11BA4E-7967-4102-867C-9D230A2E6791}" type="slidenum">
              <a:rPr lang="zh-CN" altLang="en-US" smtClean="0"/>
              <a:t>47</a:t>
            </a:fld>
            <a:endParaRPr lang="zh-CN" altLang="en-US"/>
          </a:p>
        </p:txBody>
      </p:sp>
    </p:spTree>
    <p:extLst>
      <p:ext uri="{BB962C8B-B14F-4D97-AF65-F5344CB8AC3E}">
        <p14:creationId xmlns:p14="http://schemas.microsoft.com/office/powerpoint/2010/main" val="4416031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9" name="圆角矩形 28"/>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0" name="矩形 29"/>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测量数据的统计处理</a:t>
            </a:r>
          </a:p>
        </p:txBody>
      </p:sp>
      <mc:AlternateContent xmlns:mc="http://schemas.openxmlformats.org/markup-compatibility/2006">
        <mc:Choice xmlns:a14="http://schemas.microsoft.com/office/drawing/2010/main" Requires="a14">
          <p:sp>
            <p:nvSpPr>
              <p:cNvPr id="41" name="Rectangle 3"/>
              <p:cNvSpPr>
                <a:spLocks noRot="1" noChangeArrowheads="1"/>
              </p:cNvSpPr>
              <p:nvPr/>
            </p:nvSpPr>
            <p:spPr bwMode="auto">
              <a:xfrm>
                <a:off x="339034" y="1250951"/>
                <a:ext cx="8576532" cy="4876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2</a:t>
                </a:r>
                <a:r>
                  <a:rPr lang="zh-CN" altLang="en-US" sz="2400" dirty="0">
                    <a:solidFill>
                      <a:schemeClr val="tx1"/>
                    </a:solidFill>
                    <a:latin typeface="Times New Roman" panose="02020603050405020304" pitchFamily="18" charset="0"/>
                    <a:cs typeface="Times New Roman" panose="02020603050405020304" pitchFamily="18" charset="0"/>
                  </a:rPr>
                  <a:t>．偶然误差的计算</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③算术平均值的均方差 </a:t>
                </a:r>
              </a:p>
              <a:p>
                <a:pPr marL="0" indent="6318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算术平均值的均方根误差与有限次测量的均方根误差之间有固定关系，即</a:t>
                </a:r>
                <a:endParaRPr lang="en-US" altLang="zh-CN" sz="2000" i="1" dirty="0"/>
              </a:p>
              <a:p>
                <a:pPr marL="0" indent="631825" eaLnBrk="1" hangingPunct="1">
                  <a:lnSpc>
                    <a:spcPct val="150000"/>
                  </a:lnSpc>
                </a:pPr>
                <a:endParaRPr lang="en-US" altLang="zh-CN" dirty="0"/>
              </a:p>
              <a:p>
                <a:pPr marL="0" indent="631825" eaLnBrk="1" hangingPunct="1">
                  <a:lnSpc>
                    <a:spcPct val="150000"/>
                  </a:lnSpc>
                </a:pPr>
                <a:endParaRPr lang="zh-CN" altLang="zh-CN" dirty="0"/>
              </a:p>
              <a:p>
                <a:pPr marL="0" indent="6318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从上式可以看出，</a:t>
                </a:r>
                <a:r>
                  <a:rPr lang="zh-CN" altLang="en-US" sz="2400" dirty="0">
                    <a:solidFill>
                      <a:srgbClr val="FF0000"/>
                    </a:solidFill>
                    <a:latin typeface="Times New Roman" panose="02020603050405020304" pitchFamily="18" charset="0"/>
                    <a:cs typeface="Times New Roman" panose="02020603050405020304" pitchFamily="18" charset="0"/>
                  </a:rPr>
                  <a:t>重复测量的次数</a:t>
                </a:r>
                <a:r>
                  <a:rPr lang="en-US" altLang="zh-CN" sz="2400" b="0" i="1" dirty="0">
                    <a:solidFill>
                      <a:srgbClr val="FF0000"/>
                    </a:solidFill>
                    <a:latin typeface="Times New Roman" panose="02020603050405020304" pitchFamily="18" charset="0"/>
                    <a:cs typeface="Times New Roman" panose="02020603050405020304" pitchFamily="18" charset="0"/>
                  </a:rPr>
                  <a:t>n</a:t>
                </a:r>
                <a:r>
                  <a:rPr lang="zh-CN" altLang="en-US" sz="2400" dirty="0">
                    <a:solidFill>
                      <a:srgbClr val="FF0000"/>
                    </a:solidFill>
                    <a:latin typeface="Times New Roman" panose="02020603050405020304" pitchFamily="18" charset="0"/>
                    <a:cs typeface="Times New Roman" panose="02020603050405020304" pitchFamily="18" charset="0"/>
                  </a:rPr>
                  <a:t>越多</a:t>
                </a:r>
                <a:r>
                  <a:rPr lang="zh-CN" altLang="en-US" sz="2400" dirty="0">
                    <a:solidFill>
                      <a:schemeClr val="tx1"/>
                    </a:solidFill>
                    <a:latin typeface="Times New Roman" panose="02020603050405020304" pitchFamily="18" charset="0"/>
                    <a:cs typeface="Times New Roman" panose="02020603050405020304" pitchFamily="18" charset="0"/>
                  </a:rPr>
                  <a:t>，算术平均值的均方差越小，</a:t>
                </a:r>
                <a:r>
                  <a:rPr lang="zh-CN" altLang="en-US" sz="2400" dirty="0">
                    <a:solidFill>
                      <a:srgbClr val="FF0000"/>
                    </a:solidFill>
                    <a:latin typeface="Times New Roman" panose="02020603050405020304" pitchFamily="18" charset="0"/>
                    <a:cs typeface="Times New Roman" panose="02020603050405020304" pitchFamily="18" charset="0"/>
                  </a:rPr>
                  <a:t>越接近真实值</a:t>
                </a:r>
                <a:r>
                  <a:rPr lang="en-US" altLang="zh-CN" sz="2400" b="0" i="1" dirty="0">
                    <a:solidFill>
                      <a:srgbClr val="FF0000"/>
                    </a:solidFill>
                    <a:latin typeface="Times New Roman" panose="02020603050405020304" pitchFamily="18" charset="0"/>
                    <a:cs typeface="Times New Roman" panose="02020603050405020304" pitchFamily="18" charset="0"/>
                  </a:rPr>
                  <a:t>L</a:t>
                </a:r>
                <a:r>
                  <a:rPr lang="zh-CN" altLang="en-US" sz="2400" dirty="0">
                    <a:solidFill>
                      <a:schemeClr val="tx1"/>
                    </a:solidFill>
                    <a:latin typeface="Times New Roman" panose="02020603050405020304" pitchFamily="18" charset="0"/>
                    <a:cs typeface="Times New Roman" panose="02020603050405020304" pitchFamily="18" charset="0"/>
                  </a:rPr>
                  <a:t>。当</a:t>
                </a:r>
                <a:r>
                  <a:rPr lang="en-US" altLang="zh-CN" sz="2400" b="0" i="1" dirty="0">
                    <a:solidFill>
                      <a:schemeClr val="tx1"/>
                    </a:solidFill>
                    <a:latin typeface="Times New Roman" panose="02020603050405020304" pitchFamily="18" charset="0"/>
                    <a:cs typeface="Times New Roman" panose="02020603050405020304" pitchFamily="18" charset="0"/>
                  </a:rPr>
                  <a:t>n</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时， </a:t>
                </a:r>
                <a14:m>
                  <m:oMath xmlns:m="http://schemas.openxmlformats.org/officeDocument/2006/math">
                    <m:acc>
                      <m:accPr>
                        <m:chr m:val="̅"/>
                        <m:ctrlPr>
                          <a:rPr lang="zh-CN" altLang="en-US" sz="2400" b="0" i="1" dirty="0">
                            <a:solidFill>
                              <a:schemeClr val="tx1"/>
                            </a:solidFill>
                            <a:latin typeface="Cambria Math" panose="02040503050406030204" pitchFamily="18" charset="0"/>
                            <a:cs typeface="Times New Roman" panose="02020603050405020304" pitchFamily="18" charset="0"/>
                          </a:rPr>
                        </m:ctrlPr>
                      </m:accPr>
                      <m:e>
                        <m:r>
                          <a:rPr lang="en-US" altLang="zh-CN" sz="2400" b="0" i="1" dirty="0">
                            <a:solidFill>
                              <a:schemeClr val="tx1"/>
                            </a:solidFill>
                            <a:latin typeface="Cambria Math"/>
                            <a:cs typeface="Times New Roman" panose="02020603050405020304" pitchFamily="18" charset="0"/>
                          </a:rPr>
                          <m:t>𝑥</m:t>
                        </m:r>
                      </m:e>
                    </m:acc>
                    <m:r>
                      <a:rPr lang="en-US" altLang="zh-CN" sz="2400" b="0" i="1" dirty="0">
                        <a:solidFill>
                          <a:schemeClr val="tx1"/>
                        </a:solidFill>
                        <a:latin typeface="Cambria Math"/>
                        <a:cs typeface="Times New Roman" panose="02020603050405020304" pitchFamily="18" charset="0"/>
                      </a:rPr>
                      <m:t> </m:t>
                    </m:r>
                  </m:oMath>
                </a14:m>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rgbClr val="FF0000"/>
                    </a:solidFill>
                    <a:latin typeface="Times New Roman" panose="02020603050405020304" pitchFamily="18" charset="0"/>
                    <a:cs typeface="Times New Roman" panose="02020603050405020304" pitchFamily="18" charset="0"/>
                  </a:rPr>
                  <a:t>L</a:t>
                </a:r>
                <a:r>
                  <a:rPr lang="zh-CN" altLang="en-US" sz="2400" dirty="0">
                    <a:solidFill>
                      <a:schemeClr val="tx1"/>
                    </a:solidFill>
                    <a:latin typeface="Times New Roman" panose="02020603050405020304" pitchFamily="18" charset="0"/>
                    <a:cs typeface="Times New Roman" panose="02020603050405020304" pitchFamily="18" charset="0"/>
                  </a:rPr>
                  <a:t>。</a:t>
                </a:r>
                <a:endParaRPr lang="en-US" altLang="zh-CN"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41" name="Rectangle 3"/>
              <p:cNvSpPr>
                <a:spLocks noRot="1" noChangeAspect="1" noMove="1" noResize="1" noEditPoints="1" noAdjustHandles="1" noChangeArrowheads="1" noChangeShapeType="1" noTextEdit="1"/>
              </p:cNvSpPr>
              <p:nvPr/>
            </p:nvSpPr>
            <p:spPr bwMode="auto">
              <a:xfrm>
                <a:off x="339034" y="1250951"/>
                <a:ext cx="8576532" cy="4876800"/>
              </a:xfrm>
              <a:prstGeom prst="rect">
                <a:avLst/>
              </a:prstGeom>
              <a:blipFill>
                <a:blip r:embed="rId3"/>
                <a:stretch>
                  <a:fillRect l="-1137" r="-1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2869685" y="3324406"/>
                <a:ext cx="3199273" cy="1001684"/>
              </a:xfrm>
              <a:prstGeom prst="rect">
                <a:avLst/>
              </a:prstGeom>
              <a:solidFill>
                <a:schemeClr val="accent4">
                  <a:lumMod val="40000"/>
                  <a:lumOff val="60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𝜎</m:t>
                          </m:r>
                        </m:e>
                        <m:sub>
                          <m:acc>
                            <m:accPr>
                              <m:chr m:val="̅"/>
                              <m:ctrlPr>
                                <a:rPr lang="en-US" altLang="zh-CN" sz="2000" i="1" smtClean="0">
                                  <a:latin typeface="Cambria Math" panose="02040503050406030204" pitchFamily="18" charset="0"/>
                                </a:rPr>
                              </m:ctrlPr>
                            </m:accPr>
                            <m:e>
                              <m:r>
                                <a:rPr lang="en-US" altLang="zh-CN" sz="2000" i="1">
                                  <a:latin typeface="Cambria Math" panose="02040503050406030204" pitchFamily="18" charset="0"/>
                                </a:rPr>
                                <m:t>𝑥</m:t>
                              </m:r>
                            </m:e>
                          </m:acc>
                        </m:sub>
                      </m:sSub>
                      <m:r>
                        <a:rPr lang="zh-CN" altLang="en-US" sz="2000" i="0" smtClean="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𝜎</m:t>
                          </m:r>
                        </m:num>
                        <m:den>
                          <m:rad>
                            <m:radPr>
                              <m:degHide m:val="on"/>
                              <m:ctrlPr>
                                <a:rPr lang="zh-CN" altLang="en-US" sz="2000" i="1">
                                  <a:latin typeface="Cambria Math" panose="02040503050406030204" pitchFamily="18" charset="0"/>
                                </a:rPr>
                              </m:ctrlPr>
                            </m:radPr>
                            <m:deg/>
                            <m:e>
                              <m:r>
                                <a:rPr lang="zh-CN" altLang="en-US" sz="2000" i="1">
                                  <a:latin typeface="Cambria Math" panose="02040503050406030204" pitchFamily="18" charset="0"/>
                                </a:rPr>
                                <m:t>𝑛</m:t>
                              </m:r>
                            </m:e>
                          </m:rad>
                        </m:den>
                      </m:f>
                      <m:r>
                        <a:rPr lang="zh-CN" altLang="en-US" sz="2000" i="0">
                          <a:latin typeface="Cambria Math" panose="02040503050406030204" pitchFamily="18" charset="0"/>
                        </a:rPr>
                        <m:t>=</m:t>
                      </m:r>
                      <m:rad>
                        <m:radPr>
                          <m:degHide m:val="on"/>
                          <m:ctrlPr>
                            <a:rPr lang="zh-CN" altLang="en-US" sz="2000" i="1">
                              <a:latin typeface="Cambria Math" panose="02040503050406030204" pitchFamily="18" charset="0"/>
                            </a:rPr>
                          </m:ctrlPr>
                        </m:radPr>
                        <m:deg/>
                        <m:e>
                          <m:f>
                            <m:fPr>
                              <m:ctrlPr>
                                <a:rPr lang="zh-CN" altLang="en-US" sz="2000" i="1">
                                  <a:latin typeface="Cambria Math" panose="02040503050406030204" pitchFamily="18" charset="0"/>
                                </a:rPr>
                              </m:ctrlPr>
                            </m:fPr>
                            <m:num>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=1</m:t>
                                  </m:r>
                                </m:sub>
                                <m:sup>
                                  <m:r>
                                    <a:rPr lang="zh-CN" altLang="en-US" sz="2000" i="1">
                                      <a:latin typeface="Cambria Math" panose="02040503050406030204" pitchFamily="18" charset="0"/>
                                    </a:rPr>
                                    <m:t>𝑛</m:t>
                                  </m:r>
                                </m:sup>
                                <m:e>
                                  <m:sSup>
                                    <m:sSupPr>
                                      <m:ctrlPr>
                                        <a:rPr lang="zh-CN" altLang="en-US" sz="2000" i="1">
                                          <a:latin typeface="Cambria Math" panose="02040503050406030204" pitchFamily="18" charset="0"/>
                                        </a:rPr>
                                      </m:ctrlPr>
                                    </m:sSupPr>
                                    <m:e>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𝑥</m:t>
                                              </m:r>
                                            </m:e>
                                            <m:sub>
                                              <m:r>
                                                <a:rPr lang="zh-CN" altLang="en-US" sz="2000" i="1">
                                                  <a:latin typeface="Cambria Math" panose="02040503050406030204" pitchFamily="18" charset="0"/>
                                                </a:rPr>
                                                <m:t>𝑖</m:t>
                                              </m:r>
                                            </m:sub>
                                          </m:sSub>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𝑥</m:t>
                                              </m:r>
                                            </m:e>
                                          </m:acc>
                                        </m:e>
                                      </m:d>
                                    </m:e>
                                    <m:sup>
                                      <m:r>
                                        <a:rPr lang="zh-CN" altLang="en-US" sz="2000" i="0">
                                          <a:latin typeface="Cambria Math" panose="02040503050406030204" pitchFamily="18" charset="0"/>
                                        </a:rPr>
                                        <m:t>2</m:t>
                                      </m:r>
                                    </m:sup>
                                  </m:sSup>
                                </m:e>
                              </m:nary>
                            </m:num>
                            <m:den>
                              <m:r>
                                <a:rPr lang="zh-CN" altLang="en-US" sz="2000" i="1">
                                  <a:latin typeface="Cambria Math" panose="02040503050406030204" pitchFamily="18" charset="0"/>
                                </a:rPr>
                                <m:t>𝑛</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𝑛</m:t>
                                  </m:r>
                                  <m:r>
                                    <a:rPr lang="zh-CN" altLang="en-US" sz="2000" i="0">
                                      <a:latin typeface="Cambria Math" panose="02040503050406030204" pitchFamily="18" charset="0"/>
                                    </a:rPr>
                                    <m:t>−1</m:t>
                                  </m:r>
                                </m:e>
                              </m:d>
                            </m:den>
                          </m:f>
                        </m:e>
                      </m:rad>
                    </m:oMath>
                  </m:oMathPara>
                </a14:m>
                <a:endParaRPr lang="zh-CN" altLang="en-US" sz="2000" dirty="0"/>
              </a:p>
            </p:txBody>
          </p:sp>
        </mc:Choice>
        <mc:Fallback xmlns="">
          <p:sp>
            <p:nvSpPr>
              <p:cNvPr id="3" name="矩形 2"/>
              <p:cNvSpPr>
                <a:spLocks noRot="1" noChangeAspect="1" noMove="1" noResize="1" noEditPoints="1" noAdjustHandles="1" noChangeArrowheads="1" noChangeShapeType="1" noTextEdit="1"/>
              </p:cNvSpPr>
              <p:nvPr/>
            </p:nvSpPr>
            <p:spPr>
              <a:xfrm>
                <a:off x="2869685" y="3324406"/>
                <a:ext cx="3199273" cy="1001684"/>
              </a:xfrm>
              <a:prstGeom prst="rect">
                <a:avLst/>
              </a:prstGeom>
              <a:blipFill>
                <a:blip r:embed="rId4"/>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2F05F8DE-7830-4DC7-9256-1112F3FB10BC}"/>
              </a:ext>
            </a:extLst>
          </p:cNvPr>
          <p:cNvSpPr>
            <a:spLocks noGrp="1"/>
          </p:cNvSpPr>
          <p:nvPr>
            <p:ph type="sldNum" sz="quarter" idx="12"/>
          </p:nvPr>
        </p:nvSpPr>
        <p:spPr/>
        <p:txBody>
          <a:bodyPr/>
          <a:lstStyle/>
          <a:p>
            <a:fld id="{DC11BA4E-7967-4102-867C-9D230A2E6791}" type="slidenum">
              <a:rPr lang="zh-CN" altLang="en-US" smtClean="0"/>
              <a:t>48</a:t>
            </a:fld>
            <a:endParaRPr lang="zh-CN" altLang="en-US"/>
          </a:p>
        </p:txBody>
      </p:sp>
    </p:spTree>
    <p:extLst>
      <p:ext uri="{BB962C8B-B14F-4D97-AF65-F5344CB8AC3E}">
        <p14:creationId xmlns:p14="http://schemas.microsoft.com/office/powerpoint/2010/main" val="58465147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测量数据的统计处理</a:t>
            </a:r>
          </a:p>
        </p:txBody>
      </p:sp>
      <p:sp>
        <p:nvSpPr>
          <p:cNvPr id="38" name="Rectangle 3"/>
          <p:cNvSpPr>
            <a:spLocks noRot="1" noChangeArrowheads="1"/>
          </p:cNvSpPr>
          <p:nvPr/>
        </p:nvSpPr>
        <p:spPr bwMode="auto">
          <a:xfrm>
            <a:off x="0" y="1155808"/>
            <a:ext cx="7351336" cy="1158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  2</a:t>
            </a:r>
            <a:r>
              <a:rPr lang="zh-CN" altLang="en-US" sz="2400" dirty="0">
                <a:solidFill>
                  <a:schemeClr val="tx1"/>
                </a:solidFill>
                <a:latin typeface="Times New Roman" panose="02020603050405020304" pitchFamily="18" charset="0"/>
                <a:cs typeface="Times New Roman" panose="02020603050405020304" pitchFamily="18" charset="0"/>
              </a:rPr>
              <a:t>．偶然误差的计算</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   ③算术平均值的均方差 </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    </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4" name="矩形 3"/>
          <p:cNvSpPr/>
          <p:nvPr/>
        </p:nvSpPr>
        <p:spPr>
          <a:xfrm>
            <a:off x="329519" y="2305197"/>
            <a:ext cx="8340008" cy="1130246"/>
          </a:xfrm>
          <a:prstGeom prst="rect">
            <a:avLst/>
          </a:prstGeom>
        </p:spPr>
        <p:txBody>
          <a:bodyPr wrap="square">
            <a:spAutoFit/>
          </a:bodyPr>
          <a:lstStyle/>
          <a:p>
            <a:pPr indent="631825">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可以看出，当</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以后，测量值的算术平均值的均方差 随</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增加而下降得很慢。因此，实际上取</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已足够。</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Slide Number Placeholder 1">
            <a:extLst>
              <a:ext uri="{FF2B5EF4-FFF2-40B4-BE49-F238E27FC236}">
                <a16:creationId xmlns:a16="http://schemas.microsoft.com/office/drawing/2014/main" id="{C31AE7A5-7C07-437E-937D-1E8171EDBA63}"/>
              </a:ext>
            </a:extLst>
          </p:cNvPr>
          <p:cNvSpPr>
            <a:spLocks noGrp="1"/>
          </p:cNvSpPr>
          <p:nvPr>
            <p:ph type="sldNum" sz="quarter" idx="12"/>
          </p:nvPr>
        </p:nvSpPr>
        <p:spPr/>
        <p:txBody>
          <a:bodyPr/>
          <a:lstStyle/>
          <a:p>
            <a:fld id="{DC11BA4E-7967-4102-867C-9D230A2E6791}" type="slidenum">
              <a:rPr lang="zh-CN" altLang="en-US" smtClean="0"/>
              <a:t>49</a:t>
            </a:fld>
            <a:endParaRPr lang="zh-CN" altLang="en-US"/>
          </a:p>
        </p:txBody>
      </p:sp>
      <p:sp>
        <p:nvSpPr>
          <p:cNvPr id="9" name="Rectangle 2">
            <a:extLst>
              <a:ext uri="{FF2B5EF4-FFF2-40B4-BE49-F238E27FC236}">
                <a16:creationId xmlns:a16="http://schemas.microsoft.com/office/drawing/2014/main" id="{F410F21D-E73D-46D8-80DA-EE30FEED9C3B}"/>
              </a:ext>
            </a:extLst>
          </p:cNvPr>
          <p:cNvSpPr>
            <a:spLocks noChangeArrowheads="1"/>
          </p:cNvSpPr>
          <p:nvPr/>
        </p:nvSpPr>
        <p:spPr bwMode="auto">
          <a:xfrm>
            <a:off x="4555754" y="4161495"/>
            <a:ext cx="184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endParaRPr lang="zh-CN" altLang="zh-CN" sz="4400">
              <a:solidFill>
                <a:schemeClr val="tx2"/>
              </a:solidFill>
            </a:endParaRPr>
          </a:p>
        </p:txBody>
      </p:sp>
      <mc:AlternateContent xmlns:mc="http://schemas.openxmlformats.org/markup-compatibility/2006" xmlns:a14="http://schemas.microsoft.com/office/drawing/2010/main">
        <mc:Choice Requires="a14">
          <p:sp>
            <p:nvSpPr>
              <p:cNvPr id="10" name="Text Box 9">
                <a:extLst>
                  <a:ext uri="{FF2B5EF4-FFF2-40B4-BE49-F238E27FC236}">
                    <a16:creationId xmlns:a16="http://schemas.microsoft.com/office/drawing/2014/main" id="{2F40B0F4-A851-4D87-8044-A50CE5F1FCCC}"/>
                  </a:ext>
                </a:extLst>
              </p:cNvPr>
              <p:cNvSpPr txBox="1">
                <a:spLocks noChangeArrowheads="1"/>
              </p:cNvSpPr>
              <p:nvPr/>
            </p:nvSpPr>
            <p:spPr bwMode="auto">
              <a:xfrm>
                <a:off x="1808549" y="6094506"/>
                <a:ext cx="586270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kumimoji="1" sz="3200">
                    <a:solidFill>
                      <a:schemeClr val="tx1"/>
                    </a:solidFill>
                    <a:latin typeface="Times New Roman" charset="0"/>
                    <a:ea typeface="宋体" charset="-122"/>
                  </a:defRPr>
                </a:lvl1pPr>
                <a:lvl2pPr>
                  <a:defRPr kumimoji="1" sz="2800">
                    <a:solidFill>
                      <a:schemeClr val="tx1"/>
                    </a:solidFill>
                    <a:latin typeface="Times New Roman" charset="0"/>
                    <a:ea typeface="宋体" charset="-122"/>
                  </a:defRPr>
                </a:lvl2pPr>
                <a:lvl3pPr>
                  <a:defRPr kumimoji="1" sz="2400">
                    <a:solidFill>
                      <a:schemeClr val="tx1"/>
                    </a:solidFill>
                    <a:latin typeface="Times New Roman" charset="0"/>
                    <a:ea typeface="宋体" charset="-122"/>
                  </a:defRPr>
                </a:lvl3pPr>
                <a:lvl4pPr>
                  <a:defRPr kumimoji="1" sz="2000">
                    <a:solidFill>
                      <a:schemeClr val="tx1"/>
                    </a:solidFill>
                    <a:latin typeface="Times New Roman" charset="0"/>
                    <a:ea typeface="宋体" charset="-122"/>
                  </a:defRPr>
                </a:lvl4pPr>
                <a:lvl5pPr>
                  <a:defRPr kumimoji="1" sz="2000">
                    <a:solidFill>
                      <a:schemeClr val="tx1"/>
                    </a:solidFill>
                    <a:latin typeface="Times New Roman" charset="0"/>
                    <a:ea typeface="宋体" charset="-122"/>
                  </a:defRPr>
                </a:lvl5pPr>
                <a:lvl6pPr eaLnBrk="0" hangingPunct="0">
                  <a:defRPr kumimoji="1" sz="2000">
                    <a:solidFill>
                      <a:schemeClr val="tx1"/>
                    </a:solidFill>
                    <a:latin typeface="Times New Roman" charset="0"/>
                    <a:ea typeface="宋体" charset="-122"/>
                  </a:defRPr>
                </a:lvl6pPr>
                <a:lvl7pPr eaLnBrk="0" hangingPunct="0">
                  <a:defRPr kumimoji="1" sz="2000">
                    <a:solidFill>
                      <a:schemeClr val="tx1"/>
                    </a:solidFill>
                    <a:latin typeface="Times New Roman" charset="0"/>
                    <a:ea typeface="宋体" charset="-122"/>
                  </a:defRPr>
                </a:lvl7pPr>
                <a:lvl8pPr eaLnBrk="0" hangingPunct="0">
                  <a:defRPr kumimoji="1" sz="2000">
                    <a:solidFill>
                      <a:schemeClr val="tx1"/>
                    </a:solidFill>
                    <a:latin typeface="Times New Roman" charset="0"/>
                    <a:ea typeface="宋体" charset="-122"/>
                  </a:defRPr>
                </a:lvl8pPr>
                <a:lvl9pPr eaLnBrk="0" hangingPunct="0">
                  <a:defRPr kumimoji="1" sz="2000">
                    <a:solidFill>
                      <a:schemeClr val="tx1"/>
                    </a:solidFill>
                    <a:latin typeface="Times New Roman" charset="0"/>
                    <a:ea typeface="宋体" charset="-122"/>
                  </a:defRPr>
                </a:lvl9pPr>
              </a:lstStyle>
              <a:p>
                <a:pPr eaLnBrk="1" hangingPunct="1">
                  <a:spcBef>
                    <a:spcPct val="50000"/>
                  </a:spcBef>
                </a:pPr>
                <a:r>
                  <a:rPr kumimoji="0" lang="zh-CN" altLang="en-US" sz="2400" b="1" dirty="0">
                    <a:solidFill>
                      <a:srgbClr val="000099"/>
                    </a:solidFill>
                    <a:latin typeface="宋体" pitchFamily="2" charset="-122"/>
                    <a:ea typeface="宋体" pitchFamily="2" charset="-122"/>
                  </a:rPr>
                  <a:t>图</a:t>
                </a:r>
                <a:r>
                  <a:rPr kumimoji="0" lang="en-US" altLang="zh-CN" sz="2400" b="1" dirty="0">
                    <a:solidFill>
                      <a:srgbClr val="000099"/>
                    </a:solidFill>
                    <a:latin typeface="宋体" pitchFamily="2" charset="-122"/>
                    <a:ea typeface="宋体" pitchFamily="2" charset="-122"/>
                  </a:rPr>
                  <a:t>15-15  </a:t>
                </a:r>
                <a:r>
                  <a:rPr kumimoji="0" lang="zh-CN" altLang="en-US" sz="2400" b="1" dirty="0">
                    <a:solidFill>
                      <a:srgbClr val="000099"/>
                    </a:solidFill>
                    <a:latin typeface="宋体" pitchFamily="2" charset="-122"/>
                    <a:ea typeface="宋体" pitchFamily="2" charset="-122"/>
                  </a:rPr>
                  <a:t>测量误差统计分布</a:t>
                </a:r>
                <a:r>
                  <a:rPr kumimoji="0" lang="zh-CN" altLang="en-US" sz="2400" b="1" dirty="0">
                    <a:solidFill>
                      <a:srgbClr val="000099"/>
                    </a:solidFill>
                    <a:latin typeface="Times New Roman" pitchFamily="18" charset="0"/>
                    <a:ea typeface="宋体" pitchFamily="2" charset="-122"/>
                    <a:cs typeface="Times New Roman" pitchFamily="18" charset="0"/>
                  </a:rPr>
                  <a:t>及 </a:t>
                </a:r>
                <a14:m>
                  <m:oMath xmlns:m="http://schemas.openxmlformats.org/officeDocument/2006/math">
                    <m:acc>
                      <m:accPr>
                        <m:chr m:val="̅"/>
                        <m:ctrlPr>
                          <a:rPr kumimoji="0" lang="zh-CN" altLang="en-US" sz="2400" b="1" i="1">
                            <a:solidFill>
                              <a:srgbClr val="000099"/>
                            </a:solidFill>
                            <a:latin typeface="Cambria Math" panose="02040503050406030204" pitchFamily="18" charset="0"/>
                          </a:rPr>
                        </m:ctrlPr>
                      </m:accPr>
                      <m:e>
                        <m:r>
                          <a:rPr kumimoji="0" lang="el-GR" altLang="zh-CN" sz="2400" b="1" i="0">
                            <a:solidFill>
                              <a:srgbClr val="000099"/>
                            </a:solidFill>
                            <a:latin typeface="Cambria Math"/>
                          </a:rPr>
                          <m:t>𝛔</m:t>
                        </m:r>
                      </m:e>
                    </m:acc>
                  </m:oMath>
                </a14:m>
                <a:r>
                  <a:rPr kumimoji="0" lang="en-US" altLang="zh-CN" sz="2400" b="1" dirty="0">
                    <a:solidFill>
                      <a:srgbClr val="000099"/>
                    </a:solidFill>
                    <a:latin typeface="Times New Roman" pitchFamily="18" charset="0"/>
                    <a:ea typeface="宋体" pitchFamily="2" charset="-122"/>
                    <a:cs typeface="Times New Roman" pitchFamily="18" charset="0"/>
                  </a:rPr>
                  <a:t>- </a:t>
                </a:r>
                <a:r>
                  <a:rPr kumimoji="0" lang="en-US" altLang="zh-CN" sz="2400" b="1" i="1" dirty="0">
                    <a:solidFill>
                      <a:srgbClr val="000099"/>
                    </a:solidFill>
                    <a:latin typeface="Times New Roman" pitchFamily="18" charset="0"/>
                    <a:ea typeface="宋体" pitchFamily="2" charset="-122"/>
                    <a:cs typeface="Times New Roman" pitchFamily="18" charset="0"/>
                  </a:rPr>
                  <a:t>n</a:t>
                </a:r>
                <a:r>
                  <a:rPr kumimoji="0" lang="zh-CN" altLang="en-US" sz="2400" b="1" dirty="0">
                    <a:solidFill>
                      <a:srgbClr val="000099"/>
                    </a:solidFill>
                    <a:latin typeface="宋体" pitchFamily="2" charset="-122"/>
                    <a:ea typeface="宋体" pitchFamily="2" charset="-122"/>
                  </a:rPr>
                  <a:t>关系</a:t>
                </a:r>
              </a:p>
            </p:txBody>
          </p:sp>
        </mc:Choice>
        <mc:Fallback xmlns="">
          <p:sp>
            <p:nvSpPr>
              <p:cNvPr id="10" name="Text Box 9">
                <a:extLst>
                  <a:ext uri="{FF2B5EF4-FFF2-40B4-BE49-F238E27FC236}">
                    <a16:creationId xmlns:a16="http://schemas.microsoft.com/office/drawing/2014/main" id="{2F40B0F4-A851-4D87-8044-A50CE5F1FCCC}"/>
                  </a:ext>
                </a:extLst>
              </p:cNvPr>
              <p:cNvSpPr txBox="1">
                <a:spLocks noRot="1" noChangeAspect="1" noMove="1" noResize="1" noEditPoints="1" noAdjustHandles="1" noChangeArrowheads="1" noChangeShapeType="1" noTextEdit="1"/>
              </p:cNvSpPr>
              <p:nvPr/>
            </p:nvSpPr>
            <p:spPr bwMode="auto">
              <a:xfrm>
                <a:off x="1808549" y="6094506"/>
                <a:ext cx="5862709" cy="461665"/>
              </a:xfrm>
              <a:prstGeom prst="rect">
                <a:avLst/>
              </a:prstGeom>
              <a:blipFill>
                <a:blip r:embed="rId4"/>
                <a:stretch>
                  <a:fillRect l="-1665" t="-14667"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001">
                    <a:noFill/>
                  </a:rPr>
                  <a:t> </a:t>
                </a:r>
              </a:p>
            </p:txBody>
          </p:sp>
        </mc:Fallback>
      </mc:AlternateContent>
      <p:graphicFrame>
        <p:nvGraphicFramePr>
          <p:cNvPr id="11" name="Object 24">
            <a:extLst>
              <a:ext uri="{FF2B5EF4-FFF2-40B4-BE49-F238E27FC236}">
                <a16:creationId xmlns:a16="http://schemas.microsoft.com/office/drawing/2014/main" id="{662F8055-1DDB-4FEA-858A-E243C737DB4F}"/>
              </a:ext>
            </a:extLst>
          </p:cNvPr>
          <p:cNvGraphicFramePr>
            <a:graphicFrameLocks noChangeAspect="1"/>
          </p:cNvGraphicFramePr>
          <p:nvPr>
            <p:extLst>
              <p:ext uri="{D42A27DB-BD31-4B8C-83A1-F6EECF244321}">
                <p14:modId xmlns:p14="http://schemas.microsoft.com/office/powerpoint/2010/main" val="3749266006"/>
              </p:ext>
            </p:extLst>
          </p:nvPr>
        </p:nvGraphicFramePr>
        <p:xfrm>
          <a:off x="82550" y="3493273"/>
          <a:ext cx="8978900" cy="2727030"/>
        </p:xfrm>
        <a:graphic>
          <a:graphicData uri="http://schemas.openxmlformats.org/presentationml/2006/ole">
            <mc:AlternateContent xmlns:mc="http://schemas.openxmlformats.org/markup-compatibility/2006">
              <mc:Choice xmlns:v="urn:schemas-microsoft-com:vml" Requires="v">
                <p:oleObj name="Flash Movie" r:id="rId5" imgW="8978760" imgH="3708360" progId="Flash.Movie">
                  <p:embed/>
                </p:oleObj>
              </mc:Choice>
              <mc:Fallback>
                <p:oleObj name="Flash Movie" r:id="rId5" imgW="8978760" imgH="3708360" progId="Flash.Movie">
                  <p:embed/>
                  <p:pic>
                    <p:nvPicPr>
                      <p:cNvPr id="2072"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50" y="3493273"/>
                        <a:ext cx="8978900" cy="2727030"/>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12" name="矩形 2">
                <a:extLst>
                  <a:ext uri="{FF2B5EF4-FFF2-40B4-BE49-F238E27FC236}">
                    <a16:creationId xmlns:a16="http://schemas.microsoft.com/office/drawing/2014/main" id="{552B9D1C-B637-4348-90E7-35D7417A08A5}"/>
                  </a:ext>
                </a:extLst>
              </p:cNvPr>
              <p:cNvSpPr/>
              <p:nvPr/>
            </p:nvSpPr>
            <p:spPr>
              <a:xfrm>
                <a:off x="8520057" y="2441942"/>
                <a:ext cx="360040" cy="461665"/>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b="1" i="1" smtClean="0">
                              <a:solidFill>
                                <a:schemeClr val="tx1"/>
                              </a:solidFill>
                              <a:latin typeface="Cambria Math" panose="02040503050406030204" pitchFamily="18" charset="0"/>
                              <a:ea typeface="宋体" panose="02010600030101010101" pitchFamily="2" charset="-122"/>
                              <a:cs typeface="Times New Roman" panose="02020603050405020304" pitchFamily="18" charset="0"/>
                            </a:rPr>
                          </m:ctrlPr>
                        </m:accPr>
                        <m:e>
                          <m:r>
                            <a:rPr lang="el-GR" altLang="zh-CN" b="1" i="1">
                              <a:solidFill>
                                <a:schemeClr val="tx1"/>
                              </a:solidFill>
                              <a:latin typeface="Cambria Math" panose="02040503050406030204" pitchFamily="18" charset="0"/>
                              <a:ea typeface="宋体" panose="02010600030101010101" pitchFamily="2" charset="-122"/>
                              <a:cs typeface="Times New Roman" panose="02020603050405020304" pitchFamily="18" charset="0"/>
                            </a:rPr>
                            <m:t>𝝈</m:t>
                          </m:r>
                        </m:e>
                      </m:acc>
                    </m:oMath>
                  </m:oMathPara>
                </a14:m>
                <a:endParaRPr lang="zh-CN" altLang="en-US" i="1" dirty="0">
                  <a:solidFill>
                    <a:schemeClr val="tx1"/>
                  </a:solidFill>
                </a:endParaRPr>
              </a:p>
            </p:txBody>
          </p:sp>
        </mc:Choice>
        <mc:Fallback xmlns="">
          <p:sp>
            <p:nvSpPr>
              <p:cNvPr id="12" name="矩形 2">
                <a:extLst>
                  <a:ext uri="{FF2B5EF4-FFF2-40B4-BE49-F238E27FC236}">
                    <a16:creationId xmlns:a16="http://schemas.microsoft.com/office/drawing/2014/main" id="{552B9D1C-B637-4348-90E7-35D7417A08A5}"/>
                  </a:ext>
                </a:extLst>
              </p:cNvPr>
              <p:cNvSpPr>
                <a:spLocks noRot="1" noChangeAspect="1" noMove="1" noResize="1" noEditPoints="1" noAdjustHandles="1" noChangeArrowheads="1" noChangeShapeType="1" noTextEdit="1"/>
              </p:cNvSpPr>
              <p:nvPr/>
            </p:nvSpPr>
            <p:spPr>
              <a:xfrm>
                <a:off x="8520057" y="2441942"/>
                <a:ext cx="360040" cy="461665"/>
              </a:xfrm>
              <a:prstGeom prst="rect">
                <a:avLst/>
              </a:prstGeom>
              <a:blipFill>
                <a:blip r:embed="rId7"/>
                <a:stretch>
                  <a:fillRect/>
                </a:stretch>
              </a:blipFill>
            </p:spPr>
            <p:txBody>
              <a:bodyPr/>
              <a:lstStyle/>
              <a:p>
                <a:r>
                  <a:rPr lang="en-001">
                    <a:noFill/>
                  </a:rPr>
                  <a:t> </a:t>
                </a:r>
              </a:p>
            </p:txBody>
          </p:sp>
        </mc:Fallback>
      </mc:AlternateContent>
    </p:spTree>
    <p:extLst>
      <p:ext uri="{BB962C8B-B14F-4D97-AF65-F5344CB8AC3E}">
        <p14:creationId xmlns:p14="http://schemas.microsoft.com/office/powerpoint/2010/main" val="6273645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8" name="矩形 27"/>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测量数据的统计处理</a:t>
            </a:r>
          </a:p>
        </p:txBody>
      </p:sp>
      <p:sp>
        <p:nvSpPr>
          <p:cNvPr id="39" name="Rectangle 3"/>
          <p:cNvSpPr>
            <a:spLocks noRot="1" noChangeArrowheads="1"/>
          </p:cNvSpPr>
          <p:nvPr/>
        </p:nvSpPr>
        <p:spPr bwMode="auto">
          <a:xfrm>
            <a:off x="1391070" y="1351901"/>
            <a:ext cx="6898877" cy="2861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  3.  </a:t>
            </a:r>
            <a:r>
              <a:rPr lang="zh-CN" altLang="en-US" sz="2400" dirty="0">
                <a:solidFill>
                  <a:schemeClr val="tx1"/>
                </a:solidFill>
                <a:latin typeface="Times New Roman" panose="02020603050405020304" pitchFamily="18" charset="0"/>
                <a:cs typeface="Times New Roman" panose="02020603050405020304" pitchFamily="18" charset="0"/>
              </a:rPr>
              <a:t>测量结果的数据整理规程 </a:t>
            </a:r>
          </a:p>
          <a:p>
            <a:pPr marL="0" indent="6318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对一项测量任务，完成多次测量之后，为了得到精密的测量结果，需按下列规程处理数据：</a:t>
            </a:r>
          </a:p>
          <a:p>
            <a:pPr marL="0" indent="0"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①将一系列等精度测量读数</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i="1" baseline="-25000" dirty="0">
                <a:solidFill>
                  <a:schemeClr val="tx1"/>
                </a:solidFill>
                <a:latin typeface="Times New Roman" panose="02020603050405020304" pitchFamily="18" charset="0"/>
                <a:cs typeface="Times New Roman" panose="02020603050405020304" pitchFamily="18" charset="0"/>
              </a:rPr>
              <a:t>i </a:t>
            </a:r>
            <a:r>
              <a:rPr lang="en-US" altLang="zh-CN" sz="240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b="0" dirty="0">
                <a:solidFill>
                  <a:schemeClr val="tx1"/>
                </a:solidFill>
                <a:latin typeface="Times New Roman" panose="02020603050405020304" pitchFamily="18" charset="0"/>
                <a:cs typeface="Times New Roman" panose="02020603050405020304" pitchFamily="18" charset="0"/>
              </a:rPr>
              <a:t>1</a:t>
            </a:r>
            <a:r>
              <a:rPr lang="en-US" altLang="zh-CN" sz="2400" dirty="0">
                <a:solidFill>
                  <a:schemeClr val="tx1"/>
                </a:solidFill>
                <a:latin typeface="Times New Roman" panose="02020603050405020304" pitchFamily="18" charset="0"/>
                <a:cs typeface="Times New Roman" panose="02020603050405020304" pitchFamily="18" charset="0"/>
              </a:rPr>
              <a:t>, </a:t>
            </a:r>
            <a:r>
              <a:rPr lang="en-US" altLang="zh-CN" sz="2400" b="0" dirty="0">
                <a:solidFill>
                  <a:schemeClr val="tx1"/>
                </a:solidFill>
                <a:latin typeface="Times New Roman" panose="02020603050405020304" pitchFamily="18" charset="0"/>
                <a:cs typeface="Times New Roman" panose="02020603050405020304" pitchFamily="18" charset="0"/>
              </a:rPr>
              <a:t>2</a:t>
            </a:r>
            <a:r>
              <a:rPr lang="en-US" altLang="zh-CN" sz="2400" dirty="0">
                <a:solidFill>
                  <a:schemeClr val="tx1"/>
                </a:solidFill>
                <a:latin typeface="Times New Roman" panose="02020603050405020304" pitchFamily="18" charset="0"/>
                <a:cs typeface="Times New Roman" panose="02020603050405020304" pitchFamily="18" charset="0"/>
              </a:rPr>
              <a:t>, …, </a:t>
            </a:r>
            <a:r>
              <a:rPr lang="en-US" altLang="zh-CN" sz="2400" b="0" i="1" dirty="0">
                <a:solidFill>
                  <a:schemeClr val="tx1"/>
                </a:solidFill>
                <a:latin typeface="Times New Roman" panose="02020603050405020304" pitchFamily="18" charset="0"/>
                <a:cs typeface="Times New Roman" panose="02020603050405020304" pitchFamily="18" charset="0"/>
              </a:rPr>
              <a:t>n</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按先后顺序列成表格</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在测量时应尽可能消除系统误差</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 ； </a:t>
            </a:r>
          </a:p>
          <a:p>
            <a:pPr eaLnBrk="1" hangingPunct="1">
              <a:lnSpc>
                <a:spcPct val="150000"/>
              </a:lnSpc>
            </a:pPr>
            <a:endParaRPr lang="en-US" altLang="zh-CN" sz="2400" dirty="0">
              <a:solidFill>
                <a:schemeClr val="tx1"/>
              </a:solidFill>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1540955" y="4326957"/>
            <a:ext cx="6390081" cy="1479954"/>
          </a:xfrm>
          <a:prstGeom prst="rect">
            <a:avLst/>
          </a:prstGeom>
        </p:spPr>
      </p:pic>
      <p:sp>
        <p:nvSpPr>
          <p:cNvPr id="2" name="Slide Number Placeholder 1">
            <a:extLst>
              <a:ext uri="{FF2B5EF4-FFF2-40B4-BE49-F238E27FC236}">
                <a16:creationId xmlns:a16="http://schemas.microsoft.com/office/drawing/2014/main" id="{344B741F-37B9-42E0-AC35-2B06CDEC9A47}"/>
              </a:ext>
            </a:extLst>
          </p:cNvPr>
          <p:cNvSpPr>
            <a:spLocks noGrp="1"/>
          </p:cNvSpPr>
          <p:nvPr>
            <p:ph type="sldNum" sz="quarter" idx="12"/>
          </p:nvPr>
        </p:nvSpPr>
        <p:spPr/>
        <p:txBody>
          <a:bodyPr/>
          <a:lstStyle/>
          <a:p>
            <a:fld id="{DC11BA4E-7967-4102-867C-9D230A2E6791}" type="slidenum">
              <a:rPr lang="zh-CN" altLang="en-US" smtClean="0"/>
              <a:t>50</a:t>
            </a:fld>
            <a:endParaRPr lang="zh-CN" altLang="en-US"/>
          </a:p>
        </p:txBody>
      </p:sp>
    </p:spTree>
    <p:extLst>
      <p:ext uri="{BB962C8B-B14F-4D97-AF65-F5344CB8AC3E}">
        <p14:creationId xmlns:p14="http://schemas.microsoft.com/office/powerpoint/2010/main" val="117575752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8" name="矩形 27"/>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测量数据的统计处理</a:t>
            </a:r>
          </a:p>
        </p:txBody>
      </p:sp>
      <mc:AlternateContent xmlns:mc="http://schemas.openxmlformats.org/markup-compatibility/2006">
        <mc:Choice xmlns:a14="http://schemas.microsoft.com/office/drawing/2010/main" Requires="a14">
          <p:sp>
            <p:nvSpPr>
              <p:cNvPr id="39" name="Rectangle 3"/>
              <p:cNvSpPr>
                <a:spLocks noRot="1" noChangeArrowheads="1"/>
              </p:cNvSpPr>
              <p:nvPr/>
            </p:nvSpPr>
            <p:spPr bwMode="auto">
              <a:xfrm>
                <a:off x="557891" y="1317769"/>
                <a:ext cx="7957458" cy="500887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  3.</a:t>
                </a:r>
                <a:r>
                  <a:rPr lang="zh-CN" altLang="en-US" sz="2400" dirty="0">
                    <a:solidFill>
                      <a:schemeClr val="tx1"/>
                    </a:solidFill>
                    <a:latin typeface="Times New Roman" panose="02020603050405020304" pitchFamily="18" charset="0"/>
                    <a:cs typeface="Times New Roman" panose="02020603050405020304" pitchFamily="18" charset="0"/>
                  </a:rPr>
                  <a:t>测量结果的数据整理规程 </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②计算测量读数</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i="1" baseline="-25000" dirty="0">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的</a:t>
                </a:r>
                <a:r>
                  <a:rPr lang="zh-CN" altLang="en-US" sz="2400" dirty="0">
                    <a:solidFill>
                      <a:srgbClr val="0000FF"/>
                    </a:solidFill>
                    <a:latin typeface="Times New Roman" panose="02020603050405020304" pitchFamily="18" charset="0"/>
                    <a:cs typeface="Times New Roman" panose="02020603050405020304" pitchFamily="18" charset="0"/>
                  </a:rPr>
                  <a:t>算术平均值</a:t>
                </a:r>
                <a:r>
                  <a:rPr lang="zh-CN" altLang="en-US" sz="2400" dirty="0">
                    <a:solidFill>
                      <a:schemeClr val="tx1"/>
                    </a:solidFill>
                    <a:latin typeface="Times New Roman" panose="02020603050405020304" pitchFamily="18" charset="0"/>
                    <a:cs typeface="Times New Roman" panose="02020603050405020304" pitchFamily="18" charset="0"/>
                  </a:rPr>
                  <a:t> ；</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③在每个测量读数</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i="1" baseline="-25000" dirty="0">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旁相应地列出</a:t>
                </a:r>
                <a:r>
                  <a:rPr lang="zh-CN" altLang="en-US" sz="2400" dirty="0">
                    <a:solidFill>
                      <a:srgbClr val="0000FF"/>
                    </a:solidFill>
                    <a:latin typeface="Times New Roman" panose="02020603050405020304" pitchFamily="18" charset="0"/>
                    <a:cs typeface="Times New Roman" panose="02020603050405020304" pitchFamily="18" charset="0"/>
                  </a:rPr>
                  <a:t>剩余误差</a:t>
                </a:r>
                <a:r>
                  <a:rPr lang="en-US" altLang="zh-CN" sz="2400" b="0" i="1" dirty="0">
                    <a:solidFill>
                      <a:schemeClr val="tx1"/>
                    </a:solidFill>
                    <a:latin typeface="Times New Roman" panose="02020603050405020304" pitchFamily="18" charset="0"/>
                    <a:cs typeface="Times New Roman" panose="02020603050405020304" pitchFamily="18" charset="0"/>
                  </a:rPr>
                  <a:t>p</a:t>
                </a:r>
                <a:r>
                  <a:rPr lang="en-US" altLang="zh-CN" sz="2400" b="0" i="1" baseline="-25000" dirty="0">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a:t>
                </a:r>
              </a:p>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④</a:t>
                </a:r>
                <a:r>
                  <a:rPr lang="zh-CN" altLang="en-US" sz="2400" dirty="0">
                    <a:solidFill>
                      <a:srgbClr val="0000FF"/>
                    </a:solidFill>
                    <a:latin typeface="Times New Roman" panose="02020603050405020304" pitchFamily="18" charset="0"/>
                    <a:cs typeface="Times New Roman" panose="02020603050405020304" pitchFamily="18" charset="0"/>
                  </a:rPr>
                  <a:t>检查</a:t>
                </a:r>
                <a14:m>
                  <m:oMath xmlns:m="http://schemas.openxmlformats.org/officeDocument/2006/math">
                    <m:nary>
                      <m:naryPr>
                        <m:chr m:val="∑"/>
                        <m:ctrlPr>
                          <a:rPr lang="zh-CN" altLang="en-US" sz="2400" i="1" smtClean="0">
                            <a:solidFill>
                              <a:srgbClr val="0000FF"/>
                            </a:solidFill>
                            <a:latin typeface="Cambria Math" panose="02040503050406030204" pitchFamily="18" charset="0"/>
                            <a:cs typeface="Times New Roman" panose="02020603050405020304" pitchFamily="18" charset="0"/>
                          </a:rPr>
                        </m:ctrlPr>
                      </m:naryPr>
                      <m:sub>
                        <m:r>
                          <m:rPr>
                            <m:brk m:alnAt="23"/>
                          </m:rPr>
                          <a:rPr lang="en-US" altLang="zh-CN" sz="2400" b="0" i="1" smtClean="0">
                            <a:solidFill>
                              <a:srgbClr val="0000FF"/>
                            </a:solidFill>
                            <a:latin typeface="Cambria Math" panose="02040503050406030204" pitchFamily="18" charset="0"/>
                            <a:cs typeface="Times New Roman" panose="02020603050405020304" pitchFamily="18" charset="0"/>
                          </a:rPr>
                          <m:t>𝑖</m:t>
                        </m:r>
                        <m:r>
                          <a:rPr lang="en-US" altLang="zh-CN" sz="2400" b="0" i="1" smtClean="0">
                            <a:solidFill>
                              <a:srgbClr val="0000FF"/>
                            </a:solidFill>
                            <a:latin typeface="Cambria Math" panose="02040503050406030204" pitchFamily="18" charset="0"/>
                            <a:cs typeface="Times New Roman" panose="02020603050405020304" pitchFamily="18" charset="0"/>
                          </a:rPr>
                          <m:t>=1</m:t>
                        </m:r>
                      </m:sub>
                      <m:sup>
                        <m:r>
                          <a:rPr lang="en-US" altLang="zh-CN" sz="2400" b="0" i="1" smtClean="0">
                            <a:solidFill>
                              <a:srgbClr val="0000FF"/>
                            </a:solidFill>
                            <a:latin typeface="Cambria Math" panose="02040503050406030204" pitchFamily="18" charset="0"/>
                            <a:cs typeface="Times New Roman" panose="02020603050405020304" pitchFamily="18" charset="0"/>
                          </a:rPr>
                          <m:t>𝑛</m:t>
                        </m:r>
                      </m:sup>
                      <m:e>
                        <m:sSub>
                          <m:sSubPr>
                            <m:ctrlPr>
                              <a:rPr lang="en-US" altLang="zh-CN" sz="2400" b="0" i="1" smtClean="0">
                                <a:solidFill>
                                  <a:srgbClr val="0000FF"/>
                                </a:solidFill>
                                <a:latin typeface="Cambria Math" panose="02040503050406030204" pitchFamily="18" charset="0"/>
                                <a:cs typeface="Times New Roman" panose="02020603050405020304" pitchFamily="18" charset="0"/>
                              </a:rPr>
                            </m:ctrlPr>
                          </m:sSubPr>
                          <m:e>
                            <m:r>
                              <a:rPr lang="en-US" altLang="zh-CN" sz="2400" b="0" i="1" smtClean="0">
                                <a:solidFill>
                                  <a:srgbClr val="0000FF"/>
                                </a:solidFill>
                                <a:latin typeface="Cambria Math" panose="02040503050406030204" pitchFamily="18" charset="0"/>
                                <a:cs typeface="Times New Roman" panose="02020603050405020304" pitchFamily="18" charset="0"/>
                              </a:rPr>
                              <m:t>𝑝</m:t>
                            </m:r>
                          </m:e>
                          <m:sub>
                            <m:r>
                              <a:rPr lang="en-US" altLang="zh-CN" sz="2400" b="0" i="1" smtClean="0">
                                <a:solidFill>
                                  <a:srgbClr val="0000FF"/>
                                </a:solidFill>
                                <a:latin typeface="Cambria Math" panose="02040503050406030204" pitchFamily="18" charset="0"/>
                                <a:cs typeface="Times New Roman" panose="02020603050405020304" pitchFamily="18" charset="0"/>
                              </a:rPr>
                              <m:t>𝑖</m:t>
                            </m:r>
                          </m:sub>
                        </m:sSub>
                        <m:r>
                          <a:rPr lang="en-US" altLang="zh-CN" sz="2400" b="1" i="1" smtClean="0">
                            <a:solidFill>
                              <a:srgbClr val="0000FF"/>
                            </a:solidFill>
                            <a:latin typeface="Cambria Math" panose="02040503050406030204" pitchFamily="18" charset="0"/>
                            <a:cs typeface="Times New Roman" panose="02020603050405020304" pitchFamily="18" charset="0"/>
                          </a:rPr>
                          <m:t>=</m:t>
                        </m:r>
                        <m:r>
                          <a:rPr lang="en-US" altLang="zh-CN" sz="2400" b="0" i="1" smtClean="0">
                            <a:solidFill>
                              <a:srgbClr val="0000FF"/>
                            </a:solidFill>
                            <a:latin typeface="Cambria Math" panose="02040503050406030204" pitchFamily="18" charset="0"/>
                            <a:cs typeface="Times New Roman" panose="02020603050405020304" pitchFamily="18" charset="0"/>
                          </a:rPr>
                          <m:t>0</m:t>
                        </m:r>
                      </m:e>
                    </m:nary>
                  </m:oMath>
                </a14:m>
                <a:r>
                  <a:rPr lang="zh-CN" altLang="en-US" sz="2400" dirty="0">
                    <a:solidFill>
                      <a:schemeClr val="tx1"/>
                    </a:solidFill>
                    <a:latin typeface="Times New Roman" panose="02020603050405020304" pitchFamily="18" charset="0"/>
                    <a:cs typeface="Times New Roman" panose="02020603050405020304" pitchFamily="18" charset="0"/>
                  </a:rPr>
                  <a:t>的条件是否满足，若不满足，说明计算有误，需重新计算；</a:t>
                </a:r>
              </a:p>
              <a:p>
                <a:pPr eaLnBrk="1" hangingPunct="1">
                  <a:lnSpc>
                    <a:spcPct val="150000"/>
                  </a:lnSpc>
                </a:pPr>
                <a:r>
                  <a:rPr lang="zh-CN" altLang="en-US" sz="2400" dirty="0">
                    <a:solidFill>
                      <a:schemeClr val="tx1"/>
                    </a:solidFill>
                    <a:latin typeface="宋体" panose="02010600030101010101" pitchFamily="2" charset="-122"/>
                  </a:rPr>
                  <a:t>⑤在每个剩余误差旁列出</a:t>
                </a:r>
                <a14:m>
                  <m:oMath xmlns:m="http://schemas.openxmlformats.org/officeDocument/2006/math">
                    <m:sSubSup>
                      <m:sSubSupPr>
                        <m:ctrlPr>
                          <a:rPr lang="zh-CN" altLang="en-US" sz="2400" b="0" i="1" smtClean="0">
                            <a:solidFill>
                              <a:schemeClr val="tx1"/>
                            </a:solidFill>
                            <a:latin typeface="Cambria Math" panose="02040503050406030204" pitchFamily="18" charset="0"/>
                            <a:cs typeface="Times New Roman" panose="02020603050405020304" pitchFamily="18" charset="0"/>
                          </a:rPr>
                        </m:ctrlPr>
                      </m:sSubSupPr>
                      <m:e>
                        <m:r>
                          <a:rPr lang="en-US" altLang="zh-CN" sz="2400" b="0" i="1" smtClean="0">
                            <a:solidFill>
                              <a:schemeClr val="tx1"/>
                            </a:solidFill>
                            <a:latin typeface="Cambria Math" panose="02040503050406030204" pitchFamily="18" charset="0"/>
                            <a:cs typeface="Times New Roman" panose="02020603050405020304" pitchFamily="18" charset="0"/>
                          </a:rPr>
                          <m:t>𝑝</m:t>
                        </m:r>
                      </m:e>
                      <m:sub>
                        <m:r>
                          <a:rPr lang="en-US" altLang="zh-CN" sz="2400" b="0" i="1" smtClean="0">
                            <a:solidFill>
                              <a:schemeClr val="tx1"/>
                            </a:solidFill>
                            <a:latin typeface="Cambria Math" panose="02040503050406030204" pitchFamily="18" charset="0"/>
                            <a:cs typeface="Times New Roman" panose="02020603050405020304" pitchFamily="18" charset="0"/>
                          </a:rPr>
                          <m:t>𝑖</m:t>
                        </m:r>
                      </m:sub>
                      <m:sup>
                        <m:r>
                          <a:rPr lang="en-US" altLang="zh-CN" sz="2400" b="0" i="1" smtClean="0">
                            <a:solidFill>
                              <a:schemeClr val="tx1"/>
                            </a:solidFill>
                            <a:latin typeface="Cambria Math" panose="02040503050406030204" pitchFamily="18" charset="0"/>
                            <a:cs typeface="Times New Roman" panose="02020603050405020304" pitchFamily="18" charset="0"/>
                          </a:rPr>
                          <m:t>2</m:t>
                        </m:r>
                      </m:sup>
                    </m:sSubSup>
                  </m:oMath>
                </a14:m>
                <a:r>
                  <a:rPr lang="zh-CN" altLang="en-US" sz="2400" dirty="0">
                    <a:solidFill>
                      <a:schemeClr val="tx1"/>
                    </a:solidFill>
                    <a:latin typeface="宋体" panose="02010600030101010101" pitchFamily="2" charset="-122"/>
                  </a:rPr>
                  <a:t>，然后求出</a:t>
                </a:r>
                <a:r>
                  <a:rPr lang="zh-CN" altLang="en-US" sz="2400" dirty="0">
                    <a:solidFill>
                      <a:srgbClr val="0000FF"/>
                    </a:solidFill>
                    <a:latin typeface="宋体" panose="02010600030101010101" pitchFamily="2" charset="-122"/>
                  </a:rPr>
                  <a:t>均方根误差</a:t>
                </a:r>
                <a:r>
                  <a:rPr lang="el-GR" altLang="zh-CN" sz="2400" b="0" i="1" dirty="0">
                    <a:solidFill>
                      <a:schemeClr val="tx1"/>
                    </a:solidFill>
                    <a:latin typeface="Times New Roman" panose="02020603050405020304" pitchFamily="18" charset="0"/>
                  </a:rPr>
                  <a:t>σ</a:t>
                </a:r>
                <a:r>
                  <a:rPr lang="zh-CN" altLang="en-US" sz="2400" dirty="0">
                    <a:solidFill>
                      <a:schemeClr val="tx1"/>
                    </a:solidFill>
                    <a:latin typeface="宋体" panose="02010600030101010101" pitchFamily="2" charset="-122"/>
                  </a:rPr>
                  <a:t>；</a:t>
                </a:r>
                <a:endParaRPr lang="en-US" altLang="zh-CN" sz="2400" dirty="0">
                  <a:solidFill>
                    <a:schemeClr val="tx1"/>
                  </a:solidFill>
                  <a:latin typeface="宋体" panose="02010600030101010101" pitchFamily="2" charset="-122"/>
                </a:endParaRPr>
              </a:p>
              <a:p>
                <a:pPr eaLnBrk="1" hangingPunct="1">
                  <a:lnSpc>
                    <a:spcPct val="150000"/>
                  </a:lnSpc>
                </a:pPr>
                <a:r>
                  <a:rPr lang="zh-CN" altLang="en-US" sz="2400" dirty="0">
                    <a:solidFill>
                      <a:schemeClr val="tx1"/>
                    </a:solidFill>
                    <a:latin typeface="宋体" panose="02010600030101010101" pitchFamily="2" charset="-122"/>
                  </a:rPr>
                  <a:t>⑥检查</a:t>
                </a:r>
                <a:r>
                  <a:rPr lang="zh-CN" altLang="en-US" sz="2400" dirty="0">
                    <a:solidFill>
                      <a:srgbClr val="0000FF"/>
                    </a:solidFill>
                    <a:latin typeface="宋体" panose="02010600030101010101" pitchFamily="2" charset="-122"/>
                  </a:rPr>
                  <a:t>是否有</a:t>
                </a:r>
                <a:r>
                  <a:rPr lang="en-US" altLang="zh-CN" sz="2400" b="0" i="1" dirty="0">
                    <a:solidFill>
                      <a:srgbClr val="0000FF"/>
                    </a:solidFill>
                    <a:latin typeface="Times New Roman" panose="02020603050405020304" pitchFamily="18" charset="0"/>
                    <a:cs typeface="Times New Roman" panose="02020603050405020304" pitchFamily="18" charset="0"/>
                  </a:rPr>
                  <a:t>p</a:t>
                </a:r>
                <a:r>
                  <a:rPr lang="en-US" altLang="zh-CN" sz="2400" b="0" i="1" baseline="-25000" dirty="0">
                    <a:solidFill>
                      <a:srgbClr val="0000FF"/>
                    </a:solidFill>
                    <a:latin typeface="Times New Roman" panose="02020603050405020304" pitchFamily="18" charset="0"/>
                    <a:cs typeface="Times New Roman" panose="02020603050405020304" pitchFamily="18" charset="0"/>
                  </a:rPr>
                  <a:t>i</a:t>
                </a:r>
                <a:r>
                  <a:rPr lang="zh-CN" altLang="en-US" sz="2400" b="0" dirty="0">
                    <a:solidFill>
                      <a:srgbClr val="0000FF"/>
                    </a:solidFill>
                    <a:latin typeface="宋体" panose="02010600030101010101" pitchFamily="2" charset="-122"/>
                  </a:rPr>
                  <a:t>＞</a:t>
                </a:r>
                <a:r>
                  <a:rPr lang="en-US" altLang="zh-CN" sz="2400" b="0" dirty="0">
                    <a:solidFill>
                      <a:srgbClr val="0000FF"/>
                    </a:solidFill>
                    <a:latin typeface="宋体" panose="02010600030101010101" pitchFamily="2" charset="-122"/>
                  </a:rPr>
                  <a:t>3</a:t>
                </a:r>
                <a:r>
                  <a:rPr lang="el-GR" altLang="zh-CN" sz="2400" b="0" i="1" dirty="0">
                    <a:solidFill>
                      <a:srgbClr val="0000FF"/>
                    </a:solidFill>
                    <a:latin typeface="Times New Roman" panose="02020603050405020304" pitchFamily="18" charset="0"/>
                    <a:cs typeface="Times New Roman" panose="02020603050405020304" pitchFamily="18" charset="0"/>
                  </a:rPr>
                  <a:t>σ</a:t>
                </a:r>
                <a:r>
                  <a:rPr lang="zh-CN" altLang="en-US" sz="2400" dirty="0">
                    <a:solidFill>
                      <a:srgbClr val="0000FF"/>
                    </a:solidFill>
                    <a:latin typeface="宋体" panose="02010600030101010101" pitchFamily="2" charset="-122"/>
                  </a:rPr>
                  <a:t>的读数</a:t>
                </a:r>
                <a:r>
                  <a:rPr lang="zh-CN" altLang="en-US" sz="2400" dirty="0">
                    <a:solidFill>
                      <a:schemeClr val="tx1"/>
                    </a:solidFill>
                    <a:latin typeface="宋体" panose="02010600030101010101" pitchFamily="2" charset="-122"/>
                  </a:rPr>
                  <a:t>，若有，应舍去此数据，然后从第②项重新计算；</a:t>
                </a:r>
              </a:p>
              <a:p>
                <a:pPr eaLnBrk="1" hangingPunct="1">
                  <a:lnSpc>
                    <a:spcPct val="150000"/>
                  </a:lnSpc>
                </a:pPr>
                <a:endParaRPr lang="en-US" altLang="zh-CN"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39" name="Rectangle 3"/>
              <p:cNvSpPr>
                <a:spLocks noRot="1" noChangeAspect="1" noMove="1" noResize="1" noEditPoints="1" noAdjustHandles="1" noChangeArrowheads="1" noChangeShapeType="1" noTextEdit="1"/>
              </p:cNvSpPr>
              <p:nvPr/>
            </p:nvSpPr>
            <p:spPr bwMode="auto">
              <a:xfrm>
                <a:off x="557891" y="1317769"/>
                <a:ext cx="7957458" cy="5008876"/>
              </a:xfrm>
              <a:prstGeom prst="rect">
                <a:avLst/>
              </a:prstGeom>
              <a:blipFill>
                <a:blip r:embed="rId3"/>
                <a:stretch>
                  <a:fillRect l="-12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Slide Number Placeholder 1">
            <a:extLst>
              <a:ext uri="{FF2B5EF4-FFF2-40B4-BE49-F238E27FC236}">
                <a16:creationId xmlns:a16="http://schemas.microsoft.com/office/drawing/2014/main" id="{8E1FC669-2957-40C6-9EE9-7D11638B0C0E}"/>
              </a:ext>
            </a:extLst>
          </p:cNvPr>
          <p:cNvSpPr>
            <a:spLocks noGrp="1"/>
          </p:cNvSpPr>
          <p:nvPr>
            <p:ph type="sldNum" sz="quarter" idx="12"/>
          </p:nvPr>
        </p:nvSpPr>
        <p:spPr/>
        <p:txBody>
          <a:bodyPr/>
          <a:lstStyle/>
          <a:p>
            <a:fld id="{DC11BA4E-7967-4102-867C-9D230A2E6791}" type="slidenum">
              <a:rPr lang="zh-CN" altLang="en-US" smtClean="0"/>
              <a:t>51</a:t>
            </a:fld>
            <a:endParaRPr lang="zh-CN" altLang="en-US"/>
          </a:p>
        </p:txBody>
      </p:sp>
    </p:spTree>
    <p:extLst>
      <p:ext uri="{BB962C8B-B14F-4D97-AF65-F5344CB8AC3E}">
        <p14:creationId xmlns:p14="http://schemas.microsoft.com/office/powerpoint/2010/main" val="33588303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8" name="矩形 27"/>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测量数据的统计处理</a:t>
            </a:r>
          </a:p>
        </p:txBody>
      </p:sp>
      <p:sp>
        <p:nvSpPr>
          <p:cNvPr id="39" name="Rectangle 3"/>
          <p:cNvSpPr>
            <a:spLocks noRot="1" noChangeArrowheads="1"/>
          </p:cNvSpPr>
          <p:nvPr/>
        </p:nvSpPr>
        <p:spPr bwMode="auto">
          <a:xfrm>
            <a:off x="171450" y="1475934"/>
            <a:ext cx="8801100" cy="4601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  3.</a:t>
            </a:r>
            <a:r>
              <a:rPr lang="zh-CN" altLang="en-US" sz="2400" dirty="0">
                <a:solidFill>
                  <a:schemeClr val="tx1"/>
                </a:solidFill>
                <a:latin typeface="Times New Roman" panose="02020603050405020304" pitchFamily="18" charset="0"/>
                <a:cs typeface="Times New Roman" panose="02020603050405020304" pitchFamily="18" charset="0"/>
              </a:rPr>
              <a:t>测量结果的数据整理规程 </a:t>
            </a:r>
          </a:p>
          <a:p>
            <a:pPr marL="0" indent="0" eaLnBrk="1" hangingPunct="1">
              <a:lnSpc>
                <a:spcPct val="150000"/>
              </a:lnSpc>
            </a:pPr>
            <a:r>
              <a:rPr lang="zh-CN" altLang="en-US" sz="2400" dirty="0">
                <a:solidFill>
                  <a:schemeClr val="tx1"/>
                </a:solidFill>
                <a:latin typeface="宋体" panose="02010600030101010101" pitchFamily="2" charset="-122"/>
              </a:rPr>
              <a:t>⑦为谨慎起见，可用佩捷斯</a:t>
            </a:r>
            <a:r>
              <a:rPr lang="en-US" altLang="zh-CN" sz="2400" dirty="0">
                <a:solidFill>
                  <a:schemeClr val="tx1"/>
                </a:solidFill>
                <a:latin typeface="宋体" panose="02010600030101010101" pitchFamily="2" charset="-122"/>
              </a:rPr>
              <a:t>(peters)</a:t>
            </a:r>
            <a:r>
              <a:rPr lang="zh-CN" altLang="en-US" sz="2400" dirty="0">
                <a:solidFill>
                  <a:schemeClr val="tx1"/>
                </a:solidFill>
                <a:latin typeface="宋体" panose="02010600030101010101" pitchFamily="2" charset="-122"/>
              </a:rPr>
              <a:t>公式，再计算均方根误差。</a:t>
            </a:r>
            <a:endParaRPr lang="en-US" altLang="zh-CN" sz="2400" dirty="0">
              <a:solidFill>
                <a:schemeClr val="tx1"/>
              </a:solidFill>
              <a:latin typeface="宋体" panose="02010600030101010101" pitchFamily="2" charset="-122"/>
            </a:endParaRPr>
          </a:p>
          <a:p>
            <a:pPr eaLnBrk="1" hangingPunct="1">
              <a:lnSpc>
                <a:spcPct val="150000"/>
              </a:lnSpc>
            </a:pPr>
            <a:endParaRPr lang="en-US" altLang="zh-CN" sz="2400" dirty="0">
              <a:solidFill>
                <a:schemeClr val="tx1"/>
              </a:solidFill>
              <a:latin typeface="宋体" panose="02010600030101010101" pitchFamily="2" charset="-122"/>
              <a:cs typeface="Times New Roman" panose="02020603050405020304" pitchFamily="18" charset="0"/>
            </a:endParaRPr>
          </a:p>
          <a:p>
            <a:pPr eaLnBrk="1" hangingPunct="1">
              <a:lnSpc>
                <a:spcPct val="150000"/>
              </a:lnSpc>
            </a:pPr>
            <a:endParaRPr lang="en-US" altLang="zh-CN" sz="2400" dirty="0">
              <a:solidFill>
                <a:schemeClr val="tx1"/>
              </a:solidFill>
              <a:latin typeface="宋体" panose="02010600030101010101" pitchFamily="2" charset="-122"/>
              <a:cs typeface="Times New Roman" panose="02020603050405020304" pitchFamily="18" charset="0"/>
            </a:endParaRPr>
          </a:p>
          <a:p>
            <a:pPr marL="0" indent="631825" eaLnBrk="1" hangingPunct="1">
              <a:lnSpc>
                <a:spcPct val="150000"/>
              </a:lnSpc>
            </a:pPr>
            <a:endParaRPr lang="en-US" altLang="zh-CN" sz="2400">
              <a:solidFill>
                <a:schemeClr val="tx1"/>
              </a:solidFill>
              <a:latin typeface="宋体" panose="02010600030101010101" pitchFamily="2" charset="-122"/>
            </a:endParaRPr>
          </a:p>
          <a:p>
            <a:pPr marL="0" indent="631825" eaLnBrk="1" hangingPunct="1">
              <a:lnSpc>
                <a:spcPct val="150000"/>
              </a:lnSpc>
            </a:pPr>
            <a:r>
              <a:rPr lang="zh-CN" altLang="en-US" sz="2400">
                <a:solidFill>
                  <a:schemeClr val="tx1"/>
                </a:solidFill>
                <a:latin typeface="宋体" panose="02010600030101010101" pitchFamily="2" charset="-122"/>
              </a:rPr>
              <a:t>将</a:t>
            </a:r>
            <a:r>
              <a:rPr lang="zh-CN" altLang="en-US" sz="2400" dirty="0">
                <a:solidFill>
                  <a:schemeClr val="tx1"/>
                </a:solidFill>
                <a:latin typeface="宋体" panose="02010600030101010101" pitchFamily="2" charset="-122"/>
              </a:rPr>
              <a:t>此结果</a:t>
            </a:r>
            <a:r>
              <a:rPr lang="zh-CN" altLang="en-US" sz="2400">
                <a:solidFill>
                  <a:schemeClr val="tx1"/>
                </a:solidFill>
                <a:latin typeface="宋体" panose="02010600030101010101" pitchFamily="2" charset="-122"/>
              </a:rPr>
              <a:t>与</a:t>
            </a:r>
            <a:r>
              <a:rPr lang="zh-CN" altLang="en-US" sz="2400">
                <a:solidFill>
                  <a:srgbClr val="0000FF"/>
                </a:solidFill>
                <a:latin typeface="宋体" panose="02010600030101010101" pitchFamily="2" charset="-122"/>
              </a:rPr>
              <a:t>⑤的均方根误差</a:t>
            </a:r>
            <a:r>
              <a:rPr lang="zh-CN" altLang="en-US" sz="2400">
                <a:solidFill>
                  <a:schemeClr val="tx1"/>
                </a:solidFill>
                <a:latin typeface="宋体" panose="02010600030101010101" pitchFamily="2" charset="-122"/>
              </a:rPr>
              <a:t>比较</a:t>
            </a:r>
            <a:r>
              <a:rPr lang="zh-CN" altLang="en-US" sz="2400" dirty="0">
                <a:solidFill>
                  <a:schemeClr val="tx1"/>
                </a:solidFill>
                <a:latin typeface="宋体" panose="02010600030101010101" pitchFamily="2" charset="-122"/>
              </a:rPr>
              <a:t>，若相差太大，应检查是否有系统误差存在。应设法消除，再重新进行多次重复测量；</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20" name="Object 19"/>
          <p:cNvGraphicFramePr>
            <a:graphicFrameLocks noChangeAspect="1"/>
          </p:cNvGraphicFramePr>
          <p:nvPr>
            <p:extLst>
              <p:ext uri="{D42A27DB-BD31-4B8C-83A1-F6EECF244321}">
                <p14:modId xmlns:p14="http://schemas.microsoft.com/office/powerpoint/2010/main" val="766918925"/>
              </p:ext>
            </p:extLst>
          </p:nvPr>
        </p:nvGraphicFramePr>
        <p:xfrm>
          <a:off x="2736489" y="2732890"/>
          <a:ext cx="3042149" cy="1392220"/>
        </p:xfrm>
        <a:graphic>
          <a:graphicData uri="http://schemas.openxmlformats.org/presentationml/2006/ole">
            <mc:AlternateContent xmlns:mc="http://schemas.openxmlformats.org/markup-compatibility/2006">
              <mc:Choice xmlns:v="urn:schemas-microsoft-com:vml" Requires="v">
                <p:oleObj name="公式" r:id="rId3" imgW="1904760" imgH="799920" progId="Equation.3">
                  <p:embed/>
                </p:oleObj>
              </mc:Choice>
              <mc:Fallback>
                <p:oleObj name="公式" r:id="rId3" imgW="1904760" imgH="799920" progId="Equation.3">
                  <p:embed/>
                  <p:pic>
                    <p:nvPicPr>
                      <p:cNvPr id="273427" name="Object 19"/>
                      <p:cNvPicPr>
                        <a:picLocks noChangeAspect="1" noChangeArrowheads="1"/>
                      </p:cNvPicPr>
                      <p:nvPr/>
                    </p:nvPicPr>
                    <p:blipFill>
                      <a:blip r:embed="rId4"/>
                      <a:srcRect/>
                      <a:stretch>
                        <a:fillRect/>
                      </a:stretch>
                    </p:blipFill>
                    <p:spPr bwMode="auto">
                      <a:xfrm>
                        <a:off x="2736489" y="2732890"/>
                        <a:ext cx="3042149" cy="1392220"/>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D1CE8973-15D1-4419-817B-9F0E77D761EF}"/>
              </a:ext>
            </a:extLst>
          </p:cNvPr>
          <p:cNvSpPr>
            <a:spLocks noGrp="1"/>
          </p:cNvSpPr>
          <p:nvPr>
            <p:ph type="sldNum" sz="quarter" idx="12"/>
          </p:nvPr>
        </p:nvSpPr>
        <p:spPr/>
        <p:txBody>
          <a:bodyPr/>
          <a:lstStyle/>
          <a:p>
            <a:fld id="{DC11BA4E-7967-4102-867C-9D230A2E6791}" type="slidenum">
              <a:rPr lang="zh-CN" altLang="en-US" smtClean="0"/>
              <a:t>52</a:t>
            </a:fld>
            <a:endParaRPr lang="zh-CN" altLang="en-US"/>
          </a:p>
        </p:txBody>
      </p:sp>
    </p:spTree>
    <p:extLst>
      <p:ext uri="{BB962C8B-B14F-4D97-AF65-F5344CB8AC3E}">
        <p14:creationId xmlns:p14="http://schemas.microsoft.com/office/powerpoint/2010/main" val="23500810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二</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测量数据的统计处理</a:t>
            </a:r>
          </a:p>
        </p:txBody>
      </p:sp>
      <p:sp>
        <p:nvSpPr>
          <p:cNvPr id="40" name="Rectangle 3"/>
          <p:cNvSpPr>
            <a:spLocks noRot="1" noChangeArrowheads="1"/>
          </p:cNvSpPr>
          <p:nvPr/>
        </p:nvSpPr>
        <p:spPr bwMode="auto">
          <a:xfrm>
            <a:off x="1304360" y="1447800"/>
            <a:ext cx="6274791" cy="1898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r>
              <a:rPr lang="en-US" altLang="zh-CN" sz="2400" dirty="0">
                <a:solidFill>
                  <a:schemeClr val="tx1"/>
                </a:solidFill>
                <a:latin typeface="宋体" panose="02010600030101010101" pitchFamily="2" charset="-122"/>
              </a:rPr>
              <a:t>3.</a:t>
            </a:r>
            <a:r>
              <a:rPr lang="zh-CN" altLang="en-US" sz="2400" dirty="0">
                <a:solidFill>
                  <a:schemeClr val="tx1"/>
                </a:solidFill>
                <a:latin typeface="宋体" panose="02010600030101010101" pitchFamily="2" charset="-122"/>
              </a:rPr>
              <a:t>测量结果的数据整理规程 </a:t>
            </a:r>
          </a:p>
          <a:p>
            <a:pPr eaLnBrk="1" hangingPunct="1"/>
            <a:r>
              <a:rPr lang="zh-CN" altLang="en-US" sz="2400" dirty="0">
                <a:solidFill>
                  <a:schemeClr val="tx1"/>
                </a:solidFill>
                <a:latin typeface="宋体" panose="02010600030101010101" pitchFamily="2" charset="-122"/>
              </a:rPr>
              <a:t>   </a:t>
            </a:r>
          </a:p>
          <a:p>
            <a:pPr eaLnBrk="1" hangingPunct="1">
              <a:lnSpc>
                <a:spcPct val="130000"/>
              </a:lnSpc>
            </a:pPr>
            <a:r>
              <a:rPr lang="zh-CN" altLang="en-US" sz="2400" dirty="0">
                <a:solidFill>
                  <a:schemeClr val="tx1"/>
                </a:solidFill>
                <a:latin typeface="宋体" panose="02010600030101010101" pitchFamily="2" charset="-122"/>
              </a:rPr>
              <a:t>⑧计算测量读数的算术平均值</a:t>
            </a:r>
            <a:r>
              <a:rPr lang="zh-CN" altLang="en-US" sz="2400">
                <a:solidFill>
                  <a:schemeClr val="tx1"/>
                </a:solidFill>
                <a:latin typeface="宋体" panose="02010600030101010101" pitchFamily="2" charset="-122"/>
              </a:rPr>
              <a:t>的均方根误差</a:t>
            </a:r>
            <a:endParaRPr lang="zh-CN" altLang="en-US" sz="2400" dirty="0">
              <a:solidFill>
                <a:schemeClr val="tx1"/>
              </a:solidFill>
              <a:latin typeface="宋体" panose="02010600030101010101" pitchFamily="2" charset="-122"/>
            </a:endParaRPr>
          </a:p>
        </p:txBody>
      </p:sp>
      <p:sp>
        <p:nvSpPr>
          <p:cNvPr id="3" name="矩形 2"/>
          <p:cNvSpPr/>
          <p:nvPr/>
        </p:nvSpPr>
        <p:spPr>
          <a:xfrm>
            <a:off x="1304360" y="4156997"/>
            <a:ext cx="3262432" cy="572464"/>
          </a:xfrm>
          <a:prstGeom prst="rect">
            <a:avLst/>
          </a:prstGeom>
        </p:spPr>
        <p:txBody>
          <a:bodyPr wrap="none">
            <a:spAutoFit/>
          </a:bodyPr>
          <a:lstStyle/>
          <a:p>
            <a:pPr>
              <a:lnSpc>
                <a:spcPct val="130000"/>
              </a:lnSpc>
            </a:pPr>
            <a:r>
              <a:rPr lang="zh-CN" altLang="en-US" sz="2400" b="1" dirty="0">
                <a:latin typeface="宋体" panose="02010600030101010101" pitchFamily="2" charset="-122"/>
                <a:ea typeface="宋体" panose="02010600030101010101" pitchFamily="2" charset="-122"/>
              </a:rPr>
              <a:t>⑨写出最后测量结果。</a:t>
            </a:r>
            <a:endParaRPr lang="en-US" altLang="zh-CN" sz="2400" b="1" dirty="0">
              <a:latin typeface="宋体" panose="02010600030101010101" pitchFamily="2" charset="-122"/>
              <a:ea typeface="宋体" panose="02010600030101010101" pitchFamily="2" charset="-122"/>
            </a:endParaRPr>
          </a:p>
        </p:txBody>
      </p:sp>
      <p:sp>
        <p:nvSpPr>
          <p:cNvPr id="42" name="Rectangle 2057"/>
          <p:cNvSpPr>
            <a:spLocks noChangeArrowheads="1"/>
          </p:cNvSpPr>
          <p:nvPr/>
        </p:nvSpPr>
        <p:spPr bwMode="auto">
          <a:xfrm>
            <a:off x="1807954" y="4792910"/>
            <a:ext cx="1512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宋体" panose="02010600030101010101" pitchFamily="2" charset="-122"/>
                <a:ea typeface="宋体" panose="02010600030101010101" pitchFamily="2" charset="-122"/>
              </a:defRPr>
            </a:lvl1pPr>
            <a:lvl2pPr marL="742950" indent="-285750" eaLnBrk="0" hangingPunct="0">
              <a:defRPr>
                <a:solidFill>
                  <a:schemeClr val="tx1"/>
                </a:solidFill>
                <a:latin typeface="宋体" panose="02010600030101010101" pitchFamily="2" charset="-122"/>
                <a:ea typeface="宋体" panose="02010600030101010101" pitchFamily="2" charset="-122"/>
              </a:defRPr>
            </a:lvl2pPr>
            <a:lvl3pPr marL="1143000" indent="-228600" eaLnBrk="0" hangingPunct="0">
              <a:defRPr>
                <a:solidFill>
                  <a:schemeClr val="tx1"/>
                </a:solidFill>
                <a:latin typeface="宋体" panose="02010600030101010101" pitchFamily="2" charset="-122"/>
                <a:ea typeface="宋体" panose="02010600030101010101" pitchFamily="2" charset="-122"/>
              </a:defRPr>
            </a:lvl3pPr>
            <a:lvl4pPr marL="1600200" indent="-228600" eaLnBrk="0" hangingPunct="0">
              <a:defRPr>
                <a:solidFill>
                  <a:schemeClr val="tx1"/>
                </a:solidFill>
                <a:latin typeface="宋体" panose="02010600030101010101" pitchFamily="2" charset="-122"/>
                <a:ea typeface="宋体" panose="02010600030101010101" pitchFamily="2" charset="-122"/>
              </a:defRPr>
            </a:lvl4pPr>
            <a:lvl5pPr marL="2057400" indent="-228600" eaLnBrk="0" hangingPunct="0">
              <a:defRPr>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90000"/>
              </a:lnSpc>
              <a:spcBef>
                <a:spcPct val="20000"/>
              </a:spcBef>
              <a:spcAft>
                <a:spcPct val="0"/>
              </a:spcAft>
              <a:buClr>
                <a:schemeClr val="hlink"/>
              </a:buClr>
              <a:buSzPct val="60000"/>
              <a:buFont typeface="Wingdings" panose="05000000000000000000" pitchFamily="2" charset="2"/>
              <a:defRPr>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90000"/>
              </a:lnSpc>
              <a:spcBef>
                <a:spcPct val="20000"/>
              </a:spcBef>
              <a:spcAft>
                <a:spcPct val="0"/>
              </a:spcAft>
              <a:buClr>
                <a:schemeClr val="hlink"/>
              </a:buClr>
              <a:buSzPct val="60000"/>
              <a:buFont typeface="Wingdings" panose="05000000000000000000" pitchFamily="2" charset="2"/>
              <a:defRPr>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90000"/>
              </a:lnSpc>
              <a:spcBef>
                <a:spcPct val="20000"/>
              </a:spcBef>
              <a:spcAft>
                <a:spcPct val="0"/>
              </a:spcAft>
              <a:buClr>
                <a:schemeClr val="hlink"/>
              </a:buClr>
              <a:buSzPct val="60000"/>
              <a:buFont typeface="Wingdings" panose="05000000000000000000" pitchFamily="2" charset="2"/>
              <a:defRPr>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90000"/>
              </a:lnSpc>
              <a:spcBef>
                <a:spcPct val="20000"/>
              </a:spcBef>
              <a:spcAft>
                <a:spcPct val="0"/>
              </a:spcAft>
              <a:buClr>
                <a:schemeClr val="hlink"/>
              </a:buClr>
              <a:buSzPct val="60000"/>
              <a:buFont typeface="Wingdings" panose="05000000000000000000" pitchFamily="2" charset="2"/>
              <a:defRPr>
                <a:solidFill>
                  <a:schemeClr val="tx1"/>
                </a:solidFill>
                <a:latin typeface="宋体" panose="02010600030101010101" pitchFamily="2" charset="-122"/>
                <a:ea typeface="宋体" panose="02010600030101010101" pitchFamily="2" charset="-122"/>
              </a:defRPr>
            </a:lvl9pPr>
          </a:lstStyle>
          <a:p>
            <a:pPr eaLnBrk="1" hangingPunct="1">
              <a:lnSpc>
                <a:spcPct val="100000"/>
              </a:lnSpc>
              <a:spcBef>
                <a:spcPct val="0"/>
              </a:spcBef>
              <a:buClrTx/>
              <a:buSzTx/>
              <a:buFontTx/>
              <a:buNone/>
            </a:pPr>
            <a:r>
              <a:rPr kumimoji="1" lang="zh-CN" altLang="en-US" sz="2800" b="1" dirty="0"/>
              <a:t>测量值</a:t>
            </a:r>
          </a:p>
        </p:txBody>
      </p:sp>
      <p:graphicFrame>
        <p:nvGraphicFramePr>
          <p:cNvPr id="43" name="Object 2054"/>
          <p:cNvGraphicFramePr>
            <a:graphicFrameLocks noGrp="1" noChangeAspect="1"/>
          </p:cNvGraphicFramePr>
          <p:nvPr>
            <p:ph/>
            <p:extLst>
              <p:ext uri="{D42A27DB-BD31-4B8C-83A1-F6EECF244321}">
                <p14:modId xmlns:p14="http://schemas.microsoft.com/office/powerpoint/2010/main" val="3174259179"/>
              </p:ext>
            </p:extLst>
          </p:nvPr>
        </p:nvGraphicFramePr>
        <p:xfrm>
          <a:off x="3035186" y="4810454"/>
          <a:ext cx="4895850" cy="530225"/>
        </p:xfrm>
        <a:graphic>
          <a:graphicData uri="http://schemas.openxmlformats.org/presentationml/2006/ole">
            <mc:AlternateContent xmlns:mc="http://schemas.openxmlformats.org/markup-compatibility/2006">
              <mc:Choice xmlns:v="urn:schemas-microsoft-com:vml" Requires="v">
                <p:oleObj name="Equation" r:id="rId3" imgW="2333647" imgH="238138" progId="Equation.DSMT4">
                  <p:embed/>
                </p:oleObj>
              </mc:Choice>
              <mc:Fallback>
                <p:oleObj name="Equation" r:id="rId3" imgW="2333647" imgH="238138" progId="Equation.DSMT4">
                  <p:embed/>
                  <p:pic>
                    <p:nvPicPr>
                      <p:cNvPr id="24584" name="Object 205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5186" y="4810454"/>
                        <a:ext cx="48958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4" name="矩形 3"/>
              <p:cNvSpPr/>
              <p:nvPr/>
            </p:nvSpPr>
            <p:spPr>
              <a:xfrm>
                <a:off x="3035186" y="2818199"/>
                <a:ext cx="3389207" cy="118352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𝜎</m:t>
                          </m:r>
                        </m:e>
                        <m:sub>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𝑥</m:t>
                              </m:r>
                            </m:e>
                          </m:acc>
                        </m:sub>
                      </m:sSub>
                      <m:r>
                        <a:rPr lang="zh-CN" altLang="en-US" sz="2400" i="0">
                          <a:latin typeface="Cambria Math" panose="02040503050406030204" pitchFamily="18" charset="0"/>
                        </a:rPr>
                        <m:t>=</m:t>
                      </m:r>
                      <m:rad>
                        <m:radPr>
                          <m:degHide m:val="on"/>
                          <m:ctrlPr>
                            <a:rPr lang="zh-CN" altLang="en-US" sz="2400" i="1">
                              <a:latin typeface="Cambria Math" panose="02040503050406030204" pitchFamily="18" charset="0"/>
                            </a:rPr>
                          </m:ctrlPr>
                        </m:radPr>
                        <m:deg/>
                        <m:e>
                          <m:f>
                            <m:fPr>
                              <m:ctrlPr>
                                <a:rPr lang="zh-CN" altLang="en-US" sz="2400" i="1">
                                  <a:latin typeface="Cambria Math" panose="02040503050406030204" pitchFamily="18" charset="0"/>
                                </a:rPr>
                              </m:ctrlPr>
                            </m:fPr>
                            <m:num>
                              <m:nary>
                                <m:naryPr>
                                  <m:chr m:val="∑"/>
                                  <m:limLoc m:val="undOvr"/>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𝑛</m:t>
                                  </m:r>
                                </m:sup>
                                <m:e>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𝑝</m:t>
                                      </m:r>
                                    </m:e>
                                    <m:sub>
                                      <m:r>
                                        <a:rPr lang="zh-CN" altLang="en-US" sz="2400" i="1">
                                          <a:latin typeface="Cambria Math" panose="02040503050406030204" pitchFamily="18" charset="0"/>
                                        </a:rPr>
                                        <m:t>𝑖</m:t>
                                      </m:r>
                                    </m:sub>
                                    <m:sup>
                                      <m:r>
                                        <a:rPr lang="zh-CN" altLang="en-US" sz="2400" i="0">
                                          <a:latin typeface="Cambria Math" panose="02040503050406030204" pitchFamily="18" charset="0"/>
                                        </a:rPr>
                                        <m:t>2</m:t>
                                      </m:r>
                                    </m:sup>
                                  </m:sSubSup>
                                </m:e>
                              </m:nary>
                            </m:num>
                            <m:den>
                              <m:r>
                                <a:rPr lang="zh-CN" altLang="en-US" sz="2400" i="1">
                                  <a:latin typeface="Cambria Math" panose="02040503050406030204" pitchFamily="18" charset="0"/>
                                </a:rPr>
                                <m:t>𝑛</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𝑛</m:t>
                                  </m:r>
                                  <m:r>
                                    <a:rPr lang="zh-CN" altLang="en-US" sz="2400" i="0">
                                      <a:latin typeface="Cambria Math" panose="02040503050406030204" pitchFamily="18" charset="0"/>
                                    </a:rPr>
                                    <m:t>−1</m:t>
                                  </m:r>
                                </m:e>
                              </m:d>
                            </m:den>
                          </m:f>
                        </m:e>
                      </m:rad>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𝜎</m:t>
                          </m:r>
                        </m:num>
                        <m:den>
                          <m:rad>
                            <m:radPr>
                              <m:degHide m:val="on"/>
                              <m:ctrlPr>
                                <a:rPr lang="zh-CN" altLang="en-US" sz="2400" i="1">
                                  <a:latin typeface="Cambria Math" panose="02040503050406030204" pitchFamily="18" charset="0"/>
                                </a:rPr>
                              </m:ctrlPr>
                            </m:radPr>
                            <m:deg/>
                            <m:e>
                              <m:r>
                                <a:rPr lang="zh-CN" altLang="en-US" sz="2400" i="1">
                                  <a:latin typeface="Cambria Math" panose="02040503050406030204" pitchFamily="18" charset="0"/>
                                </a:rPr>
                                <m:t>𝑛</m:t>
                              </m:r>
                            </m:e>
                          </m:rad>
                        </m:den>
                      </m:f>
                    </m:oMath>
                  </m:oMathPara>
                </a14:m>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3035186" y="2818199"/>
                <a:ext cx="3389207" cy="1183529"/>
              </a:xfrm>
              <a:prstGeom prst="rect">
                <a:avLst/>
              </a:prstGeom>
              <a:blipFill>
                <a:blip r:embed="rId6"/>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AFB77E4C-FEB1-4956-8DD5-F31469D4D73C}"/>
              </a:ext>
            </a:extLst>
          </p:cNvPr>
          <p:cNvSpPr>
            <a:spLocks noGrp="1"/>
          </p:cNvSpPr>
          <p:nvPr>
            <p:ph type="sldNum" sz="quarter" idx="12"/>
          </p:nvPr>
        </p:nvSpPr>
        <p:spPr/>
        <p:txBody>
          <a:bodyPr/>
          <a:lstStyle/>
          <a:p>
            <a:fld id="{DC11BA4E-7967-4102-867C-9D230A2E6791}" type="slidenum">
              <a:rPr lang="zh-CN" altLang="en-US" smtClean="0"/>
              <a:t>53</a:t>
            </a:fld>
            <a:endParaRPr lang="zh-CN" altLang="en-US"/>
          </a:p>
        </p:txBody>
      </p:sp>
    </p:spTree>
    <p:extLst>
      <p:ext uri="{BB962C8B-B14F-4D97-AF65-F5344CB8AC3E}">
        <p14:creationId xmlns:p14="http://schemas.microsoft.com/office/powerpoint/2010/main" val="17558004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571711" y="1545984"/>
            <a:ext cx="5181699" cy="3467842"/>
          </a:xfrm>
        </p:spPr>
        <p:txBody>
          <a:bodyPr>
            <a:noAutofit/>
          </a:bodyPr>
          <a:lstStyle/>
          <a:p>
            <a:pPr marL="0" indent="0" eaLnBrk="1" hangingPunct="1">
              <a:lnSpc>
                <a:spcPct val="150000"/>
              </a:lnSpc>
              <a:spcBef>
                <a:spcPts val="768"/>
              </a:spcBef>
              <a:buNone/>
              <a:defRPr/>
            </a:pPr>
            <a:r>
              <a:rPr lang="en-US" altLang="zh-CN"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3" action="ppaction://hlinksldjump"/>
              </a:rPr>
              <a:t>1. </a:t>
            </a:r>
            <a:r>
              <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3" action="ppaction://hlinksldjump"/>
              </a:rPr>
              <a:t>系统误差的传递</a:t>
            </a:r>
            <a:endPar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150000"/>
              </a:lnSpc>
              <a:spcBef>
                <a:spcPts val="768"/>
              </a:spcBef>
              <a:buNone/>
              <a:defRPr/>
            </a:pPr>
            <a:r>
              <a:rPr lang="en-US" altLang="zh-CN"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4" action="ppaction://hlinksldjump"/>
              </a:rPr>
              <a:t>2. </a:t>
            </a:r>
            <a:r>
              <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4" action="ppaction://hlinksldjump"/>
              </a:rPr>
              <a:t>偶然误差的传递</a:t>
            </a:r>
            <a:endPar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150000"/>
              </a:lnSpc>
              <a:spcBef>
                <a:spcPts val="768"/>
              </a:spcBef>
              <a:buNone/>
              <a:defRPr/>
            </a:pPr>
            <a:r>
              <a:rPr lang="en-US" altLang="zh-CN"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5" action="ppaction://hlinksldjump"/>
              </a:rPr>
              <a:t>3. </a:t>
            </a:r>
            <a:r>
              <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5" action="ppaction://hlinksldjump"/>
              </a:rPr>
              <a:t>偶然误差的等传递原则</a:t>
            </a:r>
            <a:endPar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150000"/>
              </a:lnSpc>
              <a:spcBef>
                <a:spcPts val="768"/>
              </a:spcBef>
              <a:buNone/>
              <a:defRPr/>
            </a:pPr>
            <a:r>
              <a:rPr lang="en-US" altLang="zh-CN"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6" action="ppaction://hlinksldjump"/>
              </a:rPr>
              <a:t>4. </a:t>
            </a:r>
            <a:r>
              <a:rPr lang="zh-CN" altLang="en-US" sz="3200"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6" action="ppaction://hlinksldjump"/>
              </a:rPr>
              <a:t>系统误差的统计处理</a:t>
            </a:r>
            <a:endParaRPr lang="zh-CN" altLang="en-US" sz="2400"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p:txBody>
      </p:sp>
      <p:sp>
        <p:nvSpPr>
          <p:cNvPr id="39" name="矩形 3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3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三</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41" name="矩形 40"/>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间接测量中误差的传递</a:t>
            </a:r>
          </a:p>
        </p:txBody>
      </p:sp>
      <p:sp>
        <p:nvSpPr>
          <p:cNvPr id="2" name="Slide Number Placeholder 1">
            <a:extLst>
              <a:ext uri="{FF2B5EF4-FFF2-40B4-BE49-F238E27FC236}">
                <a16:creationId xmlns:a16="http://schemas.microsoft.com/office/drawing/2014/main" id="{E32AB2A5-4194-4E7E-BECA-5FA0EBD4DC98}"/>
              </a:ext>
            </a:extLst>
          </p:cNvPr>
          <p:cNvSpPr>
            <a:spLocks noGrp="1"/>
          </p:cNvSpPr>
          <p:nvPr>
            <p:ph type="sldNum" sz="quarter" idx="12"/>
          </p:nvPr>
        </p:nvSpPr>
        <p:spPr/>
        <p:txBody>
          <a:bodyPr/>
          <a:lstStyle/>
          <a:p>
            <a:fld id="{DC11BA4E-7967-4102-867C-9D230A2E6791}" type="slidenum">
              <a:rPr lang="zh-CN" altLang="en-US" smtClean="0"/>
              <a:t>54</a:t>
            </a:fld>
            <a:endParaRPr lang="zh-CN" altLang="en-US"/>
          </a:p>
        </p:txBody>
      </p:sp>
    </p:spTree>
    <p:extLst>
      <p:ext uri="{BB962C8B-B14F-4D97-AF65-F5344CB8AC3E}">
        <p14:creationId xmlns:p14="http://schemas.microsoft.com/office/powerpoint/2010/main" val="29065654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0" name="圆角矩形 2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三</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1" name="矩形 30"/>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间接测量中误差的传递</a:t>
            </a:r>
          </a:p>
        </p:txBody>
      </p:sp>
      <p:sp>
        <p:nvSpPr>
          <p:cNvPr id="42" name="Rectangle 3"/>
          <p:cNvSpPr>
            <a:spLocks noRot="1" noChangeArrowheads="1"/>
          </p:cNvSpPr>
          <p:nvPr/>
        </p:nvSpPr>
        <p:spPr bwMode="auto">
          <a:xfrm>
            <a:off x="147847" y="1286930"/>
            <a:ext cx="8848305" cy="2247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ts val="3400"/>
              </a:lnSpc>
            </a:pPr>
            <a:r>
              <a:rPr lang="en-US" altLang="zh-CN" sz="2400" dirty="0">
                <a:solidFill>
                  <a:srgbClr val="0000FF"/>
                </a:solidFill>
                <a:latin typeface="Times New Roman" panose="02020603050405020304" pitchFamily="18" charset="0"/>
                <a:cs typeface="Times New Roman" panose="02020603050405020304" pitchFamily="18" charset="0"/>
              </a:rPr>
              <a:t>1. </a:t>
            </a:r>
            <a:r>
              <a:rPr lang="zh-CN" altLang="en-US" sz="2400" dirty="0">
                <a:solidFill>
                  <a:srgbClr val="0000FF"/>
                </a:solidFill>
                <a:latin typeface="Times New Roman" panose="02020603050405020304" pitchFamily="18" charset="0"/>
                <a:cs typeface="Times New Roman" panose="02020603050405020304" pitchFamily="18" charset="0"/>
              </a:rPr>
              <a:t>系统误差的传递</a:t>
            </a:r>
          </a:p>
          <a:p>
            <a:pPr marL="0" indent="631825" eaLnBrk="1" hangingPunct="1">
              <a:lnSpc>
                <a:spcPts val="3400"/>
              </a:lnSpc>
            </a:pPr>
            <a:r>
              <a:rPr lang="zh-CN" altLang="en-US" sz="2400" dirty="0">
                <a:solidFill>
                  <a:schemeClr val="tx1"/>
                </a:solidFill>
                <a:latin typeface="Times New Roman" panose="02020603050405020304" pitchFamily="18" charset="0"/>
                <a:cs typeface="Times New Roman" panose="02020603050405020304" pitchFamily="18" charset="0"/>
              </a:rPr>
              <a:t>设有函数</a:t>
            </a:r>
            <a:r>
              <a:rPr lang="en-US" altLang="zh-CN" sz="2400" b="0" i="1" dirty="0">
                <a:solidFill>
                  <a:schemeClr val="tx1"/>
                </a:solidFill>
                <a:latin typeface="Times New Roman" panose="02020603050405020304" pitchFamily="18" charset="0"/>
                <a:cs typeface="Times New Roman" panose="02020603050405020304" pitchFamily="18" charset="0"/>
              </a:rPr>
              <a:t>y</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f</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err="1">
                <a:solidFill>
                  <a:schemeClr val="tx1"/>
                </a:solidFill>
                <a:latin typeface="Times New Roman" panose="02020603050405020304" pitchFamily="18" charset="0"/>
                <a:cs typeface="Times New Roman" panose="02020603050405020304" pitchFamily="18" charset="0"/>
              </a:rPr>
              <a:t>x</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n</a:t>
            </a:r>
            <a:r>
              <a:rPr lang="en-US" altLang="zh-CN" sz="2400" b="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y</a:t>
            </a:r>
            <a:r>
              <a:rPr lang="zh-CN" altLang="en-US" sz="2400" dirty="0">
                <a:solidFill>
                  <a:schemeClr val="tx1"/>
                </a:solidFill>
                <a:latin typeface="Times New Roman" panose="02020603050405020304" pitchFamily="18" charset="0"/>
                <a:cs typeface="Times New Roman" panose="02020603050405020304" pitchFamily="18" charset="0"/>
              </a:rPr>
              <a:t>由</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dirty="0">
                <a:solidFill>
                  <a:schemeClr val="tx1"/>
                </a:solidFill>
                <a:latin typeface="Times New Roman" panose="02020603050405020304" pitchFamily="18" charset="0"/>
                <a:cs typeface="Times New Roman" panose="02020603050405020304" pitchFamily="18" charset="0"/>
              </a:rPr>
              <a:t>, </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dirty="0">
                <a:solidFill>
                  <a:schemeClr val="tx1"/>
                </a:solidFill>
                <a:latin typeface="Times New Roman" panose="02020603050405020304" pitchFamily="18" charset="0"/>
                <a:cs typeface="Times New Roman" panose="02020603050405020304" pitchFamily="18" charset="0"/>
              </a:rPr>
              <a:t>, …, </a:t>
            </a:r>
            <a:r>
              <a:rPr lang="en-US" altLang="zh-CN" sz="2400" b="0" i="1" dirty="0" err="1">
                <a:solidFill>
                  <a:schemeClr val="tx1"/>
                </a:solidFill>
                <a:latin typeface="Times New Roman" panose="02020603050405020304" pitchFamily="18" charset="0"/>
                <a:cs typeface="Times New Roman" panose="02020603050405020304" pitchFamily="18" charset="0"/>
              </a:rPr>
              <a:t>x</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n</a:t>
            </a:r>
            <a:r>
              <a:rPr lang="zh-CN" altLang="en-US" sz="2400" dirty="0">
                <a:solidFill>
                  <a:schemeClr val="tx1"/>
                </a:solidFill>
                <a:latin typeface="Times New Roman" panose="02020603050405020304" pitchFamily="18" charset="0"/>
                <a:cs typeface="Times New Roman" panose="02020603050405020304" pitchFamily="18" charset="0"/>
              </a:rPr>
              <a:t>各直接测量值决定。令</a:t>
            </a:r>
            <a:r>
              <a:rPr lang="en-US" altLang="zh-CN" sz="2400" b="0" dirty="0">
                <a:solidFill>
                  <a:schemeClr val="tx1"/>
                </a:solidFill>
                <a:latin typeface="Times New Roman" panose="02020603050405020304" pitchFamily="18" charset="0"/>
                <a:cs typeface="Times New Roman" panose="02020603050405020304" pitchFamily="18" charset="0"/>
              </a:rPr>
              <a:t>Δ</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dirty="0">
                <a:solidFill>
                  <a:schemeClr val="tx1"/>
                </a:solidFill>
                <a:latin typeface="Times New Roman" panose="02020603050405020304" pitchFamily="18" charset="0"/>
                <a:cs typeface="Times New Roman" panose="02020603050405020304" pitchFamily="18" charset="0"/>
              </a:rPr>
              <a:t> , </a:t>
            </a:r>
            <a:r>
              <a:rPr lang="en-US" altLang="zh-CN" sz="2400" b="0" dirty="0">
                <a:solidFill>
                  <a:schemeClr val="tx1"/>
                </a:solidFill>
                <a:latin typeface="Times New Roman" panose="02020603050405020304" pitchFamily="18" charset="0"/>
                <a:cs typeface="Times New Roman" panose="02020603050405020304" pitchFamily="18" charset="0"/>
              </a:rPr>
              <a:t>Δ</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dirty="0">
                <a:solidFill>
                  <a:schemeClr val="tx1"/>
                </a:solidFill>
                <a:latin typeface="Times New Roman" panose="02020603050405020304" pitchFamily="18" charset="0"/>
                <a:cs typeface="Times New Roman" panose="02020603050405020304" pitchFamily="18" charset="0"/>
              </a:rPr>
              <a:t> , …, </a:t>
            </a:r>
            <a:r>
              <a:rPr lang="en-US" altLang="zh-CN" sz="2400" b="0" dirty="0" err="1">
                <a:solidFill>
                  <a:schemeClr val="tx1"/>
                </a:solidFill>
                <a:latin typeface="Times New Roman" panose="02020603050405020304" pitchFamily="18" charset="0"/>
                <a:cs typeface="Times New Roman" panose="02020603050405020304" pitchFamily="18" charset="0"/>
              </a:rPr>
              <a:t>Δ</a:t>
            </a:r>
            <a:r>
              <a:rPr lang="en-US" altLang="zh-CN" sz="2400" b="0" i="1" dirty="0" err="1">
                <a:solidFill>
                  <a:schemeClr val="tx1"/>
                </a:solidFill>
                <a:latin typeface="Times New Roman" panose="02020603050405020304" pitchFamily="18" charset="0"/>
                <a:cs typeface="Times New Roman" panose="02020603050405020304" pitchFamily="18" charset="0"/>
              </a:rPr>
              <a:t>x</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n</a:t>
            </a:r>
            <a:r>
              <a:rPr lang="zh-CN" altLang="en-US" sz="2400" dirty="0">
                <a:solidFill>
                  <a:schemeClr val="tx1"/>
                </a:solidFill>
                <a:latin typeface="Times New Roman" panose="02020603050405020304" pitchFamily="18" charset="0"/>
                <a:cs typeface="Times New Roman" panose="02020603050405020304" pitchFamily="18" charset="0"/>
              </a:rPr>
              <a:t>分别表示直接测量值</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dirty="0">
                <a:solidFill>
                  <a:schemeClr val="tx1"/>
                </a:solidFill>
                <a:latin typeface="Times New Roman" panose="02020603050405020304" pitchFamily="18" charset="0"/>
                <a:cs typeface="Times New Roman" panose="02020603050405020304" pitchFamily="18" charset="0"/>
              </a:rPr>
              <a:t>, </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dirty="0">
                <a:solidFill>
                  <a:schemeClr val="tx1"/>
                </a:solidFill>
                <a:latin typeface="Times New Roman" panose="02020603050405020304" pitchFamily="18" charset="0"/>
                <a:cs typeface="Times New Roman" panose="02020603050405020304" pitchFamily="18" charset="0"/>
              </a:rPr>
              <a:t>, …, </a:t>
            </a:r>
            <a:r>
              <a:rPr lang="en-US" altLang="zh-CN" sz="2400" b="0" i="1" dirty="0" err="1">
                <a:solidFill>
                  <a:schemeClr val="tx1"/>
                </a:solidFill>
                <a:latin typeface="Times New Roman" panose="02020603050405020304" pitchFamily="18" charset="0"/>
                <a:cs typeface="Times New Roman" panose="02020603050405020304" pitchFamily="18" charset="0"/>
              </a:rPr>
              <a:t>x</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n</a:t>
            </a:r>
            <a:r>
              <a:rPr lang="zh-CN" altLang="en-US" sz="2400" dirty="0">
                <a:solidFill>
                  <a:schemeClr val="tx1"/>
                </a:solidFill>
                <a:latin typeface="Times New Roman" panose="02020603050405020304" pitchFamily="18" charset="0"/>
                <a:cs typeface="Times New Roman" panose="02020603050405020304" pitchFamily="18" charset="0"/>
              </a:rPr>
              <a:t>的系统误差，</a:t>
            </a:r>
            <a:r>
              <a:rPr lang="en-US" altLang="zh-CN" sz="2400" b="0" dirty="0" err="1">
                <a:solidFill>
                  <a:schemeClr val="tx1"/>
                </a:solidFill>
                <a:latin typeface="Times New Roman" panose="02020603050405020304" pitchFamily="18" charset="0"/>
                <a:cs typeface="Times New Roman" panose="02020603050405020304" pitchFamily="18" charset="0"/>
              </a:rPr>
              <a:t>Δ</a:t>
            </a:r>
            <a:r>
              <a:rPr lang="en-US" altLang="zh-CN" sz="2400" b="0" i="1" dirty="0" err="1">
                <a:solidFill>
                  <a:schemeClr val="tx1"/>
                </a:solidFill>
                <a:latin typeface="Times New Roman" panose="02020603050405020304" pitchFamily="18" charset="0"/>
                <a:cs typeface="Times New Roman" panose="02020603050405020304" pitchFamily="18" charset="0"/>
              </a:rPr>
              <a:t>y</a:t>
            </a:r>
            <a:r>
              <a:rPr lang="zh-CN" altLang="en-US" sz="2400" dirty="0">
                <a:solidFill>
                  <a:schemeClr val="tx1"/>
                </a:solidFill>
                <a:latin typeface="Times New Roman" panose="02020603050405020304" pitchFamily="18" charset="0"/>
                <a:cs typeface="Times New Roman" panose="02020603050405020304" pitchFamily="18" charset="0"/>
              </a:rPr>
              <a:t>表示由</a:t>
            </a:r>
            <a:r>
              <a:rPr lang="en-US" altLang="zh-CN" sz="2400" b="0" dirty="0">
                <a:solidFill>
                  <a:schemeClr val="tx1"/>
                </a:solidFill>
                <a:latin typeface="Times New Roman" panose="02020603050405020304" pitchFamily="18" charset="0"/>
                <a:cs typeface="Times New Roman" panose="02020603050405020304" pitchFamily="18" charset="0"/>
              </a:rPr>
              <a:t>Δ</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dirty="0">
                <a:solidFill>
                  <a:schemeClr val="tx1"/>
                </a:solidFill>
                <a:latin typeface="Times New Roman" panose="02020603050405020304" pitchFamily="18" charset="0"/>
                <a:cs typeface="Times New Roman" panose="02020603050405020304" pitchFamily="18" charset="0"/>
              </a:rPr>
              <a:t> , </a:t>
            </a:r>
            <a:r>
              <a:rPr lang="en-US" altLang="zh-CN" sz="2400" b="0" dirty="0">
                <a:solidFill>
                  <a:schemeClr val="tx1"/>
                </a:solidFill>
                <a:latin typeface="Times New Roman" panose="02020603050405020304" pitchFamily="18" charset="0"/>
                <a:cs typeface="Times New Roman" panose="02020603050405020304" pitchFamily="18" charset="0"/>
              </a:rPr>
              <a:t>Δ</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dirty="0">
                <a:solidFill>
                  <a:schemeClr val="tx1"/>
                </a:solidFill>
                <a:latin typeface="Times New Roman" panose="02020603050405020304" pitchFamily="18" charset="0"/>
                <a:cs typeface="Times New Roman" panose="02020603050405020304" pitchFamily="18" charset="0"/>
              </a:rPr>
              <a:t> , …, </a:t>
            </a:r>
            <a:r>
              <a:rPr lang="en-US" altLang="zh-CN" sz="2400" b="0" dirty="0" err="1">
                <a:solidFill>
                  <a:schemeClr val="tx1"/>
                </a:solidFill>
                <a:latin typeface="Times New Roman" panose="02020603050405020304" pitchFamily="18" charset="0"/>
                <a:cs typeface="Times New Roman" panose="02020603050405020304" pitchFamily="18" charset="0"/>
              </a:rPr>
              <a:t>Δ</a:t>
            </a:r>
            <a:r>
              <a:rPr lang="en-US" altLang="zh-CN" sz="2400" b="0" i="1" dirty="0" err="1">
                <a:solidFill>
                  <a:schemeClr val="tx1"/>
                </a:solidFill>
                <a:latin typeface="Times New Roman" panose="02020603050405020304" pitchFamily="18" charset="0"/>
                <a:cs typeface="Times New Roman" panose="02020603050405020304" pitchFamily="18" charset="0"/>
              </a:rPr>
              <a:t>x</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n</a:t>
            </a:r>
            <a:r>
              <a:rPr lang="zh-CN" altLang="en-US" sz="2400" dirty="0">
                <a:solidFill>
                  <a:schemeClr val="tx1"/>
                </a:solidFill>
                <a:latin typeface="Times New Roman" panose="02020603050405020304" pitchFamily="18" charset="0"/>
                <a:cs typeface="Times New Roman" panose="02020603050405020304" pitchFamily="18" charset="0"/>
              </a:rPr>
              <a:t>引起的</a:t>
            </a:r>
            <a:r>
              <a:rPr lang="en-US" altLang="zh-CN" sz="2400" b="0" i="1" dirty="0">
                <a:solidFill>
                  <a:schemeClr val="tx1"/>
                </a:solidFill>
                <a:latin typeface="Times New Roman" panose="02020603050405020304" pitchFamily="18" charset="0"/>
                <a:cs typeface="Times New Roman" panose="02020603050405020304" pitchFamily="18" charset="0"/>
              </a:rPr>
              <a:t>y</a:t>
            </a:r>
            <a:r>
              <a:rPr lang="zh-CN" altLang="en-US" sz="2400" dirty="0">
                <a:solidFill>
                  <a:schemeClr val="tx1"/>
                </a:solidFill>
                <a:latin typeface="Times New Roman" panose="02020603050405020304" pitchFamily="18" charset="0"/>
                <a:cs typeface="Times New Roman" panose="02020603050405020304" pitchFamily="18" charset="0"/>
              </a:rPr>
              <a:t>的系统误差，则有</a:t>
            </a:r>
          </a:p>
        </p:txBody>
      </p:sp>
      <p:graphicFrame>
        <p:nvGraphicFramePr>
          <p:cNvPr id="43" name="Object 24"/>
          <p:cNvGraphicFramePr>
            <a:graphicFrameLocks noChangeAspect="1"/>
          </p:cNvGraphicFramePr>
          <p:nvPr>
            <p:extLst>
              <p:ext uri="{D42A27DB-BD31-4B8C-83A1-F6EECF244321}">
                <p14:modId xmlns:p14="http://schemas.microsoft.com/office/powerpoint/2010/main" val="3931588838"/>
              </p:ext>
            </p:extLst>
          </p:nvPr>
        </p:nvGraphicFramePr>
        <p:xfrm>
          <a:off x="1866899" y="3278633"/>
          <a:ext cx="5410200" cy="511175"/>
        </p:xfrm>
        <a:graphic>
          <a:graphicData uri="http://schemas.openxmlformats.org/presentationml/2006/ole">
            <mc:AlternateContent xmlns:mc="http://schemas.openxmlformats.org/markup-compatibility/2006">
              <mc:Choice xmlns:v="urn:schemas-microsoft-com:vml" Requires="v">
                <p:oleObj name="Equation" r:id="rId3" imgW="2600258" imgH="200025" progId="Equation.3">
                  <p:embed/>
                </p:oleObj>
              </mc:Choice>
              <mc:Fallback>
                <p:oleObj name="Equation" r:id="rId3" imgW="2600258" imgH="200025" progId="Equation.3">
                  <p:embed/>
                  <p:pic>
                    <p:nvPicPr>
                      <p:cNvPr id="253976"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6899" y="3278633"/>
                        <a:ext cx="541020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27"/>
          <p:cNvGraphicFramePr>
            <a:graphicFrameLocks noChangeAspect="1"/>
          </p:cNvGraphicFramePr>
          <p:nvPr>
            <p:extLst>
              <p:ext uri="{D42A27DB-BD31-4B8C-83A1-F6EECF244321}">
                <p14:modId xmlns:p14="http://schemas.microsoft.com/office/powerpoint/2010/main" val="3876524463"/>
              </p:ext>
            </p:extLst>
          </p:nvPr>
        </p:nvGraphicFramePr>
        <p:xfrm>
          <a:off x="3227612" y="3984046"/>
          <a:ext cx="3977617" cy="720090"/>
        </p:xfrm>
        <a:graphic>
          <a:graphicData uri="http://schemas.openxmlformats.org/presentationml/2006/ole">
            <mc:AlternateContent xmlns:mc="http://schemas.openxmlformats.org/markup-compatibility/2006">
              <mc:Choice xmlns:v="urn:schemas-microsoft-com:vml" Requires="v">
                <p:oleObj name="Equation" r:id="rId5" imgW="2209787" imgH="400050" progId="Equation.DSMT4">
                  <p:embed/>
                </p:oleObj>
              </mc:Choice>
              <mc:Fallback>
                <p:oleObj name="Equation" r:id="rId5" imgW="2209787" imgH="400050" progId="Equation.DSMT4">
                  <p:embed/>
                  <p:pic>
                    <p:nvPicPr>
                      <p:cNvPr id="253979"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7612" y="3984046"/>
                        <a:ext cx="3977617" cy="7200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28"/>
          <p:cNvGraphicFramePr>
            <a:graphicFrameLocks noChangeAspect="1"/>
          </p:cNvGraphicFramePr>
          <p:nvPr>
            <p:extLst>
              <p:ext uri="{D42A27DB-BD31-4B8C-83A1-F6EECF244321}">
                <p14:modId xmlns:p14="http://schemas.microsoft.com/office/powerpoint/2010/main" val="1496221007"/>
              </p:ext>
            </p:extLst>
          </p:nvPr>
        </p:nvGraphicFramePr>
        <p:xfrm>
          <a:off x="3227612" y="4754399"/>
          <a:ext cx="5075237" cy="1543050"/>
        </p:xfrm>
        <a:graphic>
          <a:graphicData uri="http://schemas.openxmlformats.org/presentationml/2006/ole">
            <mc:AlternateContent xmlns:mc="http://schemas.openxmlformats.org/markup-compatibility/2006">
              <mc:Choice xmlns:v="urn:schemas-microsoft-com:vml" Requires="v">
                <p:oleObj name="Equation" r:id="rId7" imgW="2819374" imgH="857134" progId="Equation.DSMT4">
                  <p:embed/>
                </p:oleObj>
              </mc:Choice>
              <mc:Fallback>
                <p:oleObj name="Equation" r:id="rId7" imgW="2819374" imgH="857134" progId="Equation.DSMT4">
                  <p:embed/>
                  <p:pic>
                    <p:nvPicPr>
                      <p:cNvPr id="25398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7612" y="4754399"/>
                        <a:ext cx="5075237" cy="1543050"/>
                      </a:xfrm>
                      <a:prstGeom prst="rect">
                        <a:avLst/>
                      </a:prstGeom>
                      <a:noFill/>
                      <a:ln>
                        <a:noFill/>
                      </a:ln>
                      <a:effectLst/>
                    </p:spPr>
                  </p:pic>
                </p:oleObj>
              </mc:Fallback>
            </mc:AlternateContent>
          </a:graphicData>
        </a:graphic>
      </p:graphicFrame>
      <p:sp>
        <p:nvSpPr>
          <p:cNvPr id="3" name="矩形 2"/>
          <p:cNvSpPr/>
          <p:nvPr/>
        </p:nvSpPr>
        <p:spPr>
          <a:xfrm>
            <a:off x="272971" y="3825764"/>
            <a:ext cx="3374460" cy="1569660"/>
          </a:xfrm>
          <a:prstGeom prst="rect">
            <a:avLst/>
          </a:prstGeom>
        </p:spPr>
        <p:txBody>
          <a:bodyPr wrap="square">
            <a:spAutoFit/>
          </a:bodyPr>
          <a:lstStyle/>
          <a:p>
            <a:pPr>
              <a:lnSpc>
                <a:spcPct val="200000"/>
              </a:lnSpc>
            </a:pPr>
            <a:r>
              <a:rPr lang="zh-CN" altLang="en-US" sz="2400" b="1" dirty="0">
                <a:latin typeface="宋体" panose="02010600030101010101" pitchFamily="2" charset="-122"/>
                <a:ea typeface="宋体" panose="02010600030101010101" pitchFamily="2" charset="-122"/>
                <a:cs typeface="Times New Roman" panose="02020603050405020304" pitchFamily="18" charset="0"/>
              </a:rPr>
              <a:t>绝对误差传递公式：</a:t>
            </a:r>
          </a:p>
          <a:p>
            <a:pPr>
              <a:lnSpc>
                <a:spcPct val="200000"/>
              </a:lnSpc>
            </a:pPr>
            <a:r>
              <a:rPr lang="zh-CN" altLang="en-US" sz="2400" b="1" dirty="0">
                <a:latin typeface="宋体" panose="02010600030101010101" pitchFamily="2" charset="-122"/>
                <a:ea typeface="宋体" panose="02010600030101010101" pitchFamily="2" charset="-122"/>
                <a:cs typeface="Times New Roman" panose="02020603050405020304" pitchFamily="18" charset="0"/>
              </a:rPr>
              <a:t>相对误差传递公式：</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435179D4-37A0-4424-8E61-18204F0CF317}"/>
              </a:ext>
            </a:extLst>
          </p:cNvPr>
          <p:cNvSpPr>
            <a:spLocks noGrp="1"/>
          </p:cNvSpPr>
          <p:nvPr>
            <p:ph type="sldNum" sz="quarter" idx="12"/>
          </p:nvPr>
        </p:nvSpPr>
        <p:spPr/>
        <p:txBody>
          <a:bodyPr/>
          <a:lstStyle/>
          <a:p>
            <a:fld id="{DC11BA4E-7967-4102-867C-9D230A2E6791}" type="slidenum">
              <a:rPr lang="zh-CN" altLang="en-US" smtClean="0"/>
              <a:t>55</a:t>
            </a:fld>
            <a:endParaRPr lang="zh-CN" altLang="en-US"/>
          </a:p>
        </p:txBody>
      </p:sp>
    </p:spTree>
    <p:extLst>
      <p:ext uri="{BB962C8B-B14F-4D97-AF65-F5344CB8AC3E}">
        <p14:creationId xmlns:p14="http://schemas.microsoft.com/office/powerpoint/2010/main" val="167682074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三</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间接测量中误差的传递</a:t>
            </a:r>
          </a:p>
        </p:txBody>
      </p:sp>
      <p:sp>
        <p:nvSpPr>
          <p:cNvPr id="39" name="Rectangle 3"/>
          <p:cNvSpPr>
            <a:spLocks noRot="1" noChangeArrowheads="1"/>
          </p:cNvSpPr>
          <p:nvPr/>
        </p:nvSpPr>
        <p:spPr bwMode="auto">
          <a:xfrm>
            <a:off x="146957" y="1214348"/>
            <a:ext cx="8850086" cy="5142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rgbClr val="0000FF"/>
                </a:solidFill>
                <a:latin typeface="Times New Roman" panose="02020603050405020304" pitchFamily="18" charset="0"/>
                <a:cs typeface="Times New Roman" panose="02020603050405020304" pitchFamily="18" charset="0"/>
              </a:rPr>
              <a:t> 2. </a:t>
            </a:r>
            <a:r>
              <a:rPr lang="zh-CN" altLang="en-US" sz="2400" dirty="0">
                <a:solidFill>
                  <a:srgbClr val="0000FF"/>
                </a:solidFill>
                <a:latin typeface="Times New Roman" panose="02020603050405020304" pitchFamily="18" charset="0"/>
                <a:cs typeface="Times New Roman" panose="02020603050405020304" pitchFamily="18" charset="0"/>
              </a:rPr>
              <a:t>偶然误差的传递</a:t>
            </a:r>
          </a:p>
          <a:p>
            <a:pPr marL="263525" indent="-2635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   设间接测量的被测量</a:t>
            </a:r>
            <a:r>
              <a:rPr lang="en-US" altLang="zh-CN" sz="2400" b="0" i="1" dirty="0">
                <a:solidFill>
                  <a:schemeClr val="tx1"/>
                </a:solidFill>
                <a:latin typeface="Times New Roman" panose="02020603050405020304" pitchFamily="18" charset="0"/>
                <a:cs typeface="Times New Roman" panose="02020603050405020304" pitchFamily="18" charset="0"/>
              </a:rPr>
              <a:t>y</a:t>
            </a:r>
            <a:r>
              <a:rPr lang="zh-CN" altLang="en-US" sz="2400" dirty="0">
                <a:solidFill>
                  <a:schemeClr val="tx1"/>
                </a:solidFill>
                <a:latin typeface="Times New Roman" panose="02020603050405020304" pitchFamily="18" charset="0"/>
                <a:cs typeface="Times New Roman" panose="02020603050405020304" pitchFamily="18" charset="0"/>
              </a:rPr>
              <a:t>与能直接测量的各物理量</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dirty="0">
                <a:solidFill>
                  <a:schemeClr val="tx1"/>
                </a:solidFill>
                <a:latin typeface="Times New Roman" panose="02020603050405020304" pitchFamily="18" charset="0"/>
                <a:cs typeface="Times New Roman" panose="02020603050405020304" pitchFamily="18" charset="0"/>
              </a:rPr>
              <a:t>, </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dirty="0">
                <a:solidFill>
                  <a:schemeClr val="tx1"/>
                </a:solidFill>
                <a:latin typeface="Times New Roman" panose="02020603050405020304" pitchFamily="18" charset="0"/>
                <a:cs typeface="Times New Roman" panose="02020603050405020304" pitchFamily="18" charset="0"/>
              </a:rPr>
              <a:t>, …, </a:t>
            </a:r>
            <a:r>
              <a:rPr lang="en-US" altLang="zh-CN" sz="2400" b="0" i="1" dirty="0" err="1">
                <a:solidFill>
                  <a:schemeClr val="tx1"/>
                </a:solidFill>
                <a:latin typeface="Times New Roman" panose="02020603050405020304" pitchFamily="18" charset="0"/>
                <a:cs typeface="Times New Roman" panose="02020603050405020304" pitchFamily="18" charset="0"/>
              </a:rPr>
              <a:t>x</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n</a:t>
            </a:r>
            <a:r>
              <a:rPr lang="zh-CN" altLang="en-US" sz="2400" dirty="0">
                <a:solidFill>
                  <a:schemeClr val="tx1"/>
                </a:solidFill>
                <a:latin typeface="Times New Roman" panose="02020603050405020304" pitchFamily="18" charset="0"/>
                <a:cs typeface="Times New Roman" panose="02020603050405020304" pitchFamily="18" charset="0"/>
              </a:rPr>
              <a:t>之间有函数关系</a:t>
            </a:r>
          </a:p>
          <a:p>
            <a:pPr indent="2079625" eaLnBrk="1" hangingPunct="1">
              <a:lnSpc>
                <a:spcPct val="150000"/>
              </a:lnSpc>
            </a:pPr>
            <a:r>
              <a:rPr lang="en-US" altLang="zh-CN" sz="2400" b="0" i="1" dirty="0">
                <a:solidFill>
                  <a:schemeClr val="tx1"/>
                </a:solidFill>
                <a:latin typeface="Times New Roman" panose="02020603050405020304" pitchFamily="18" charset="0"/>
                <a:cs typeface="Times New Roman" panose="02020603050405020304" pitchFamily="18" charset="0"/>
              </a:rPr>
              <a:t>y</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f</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b="0" i="1" dirty="0">
                <a:solidFill>
                  <a:schemeClr val="tx1"/>
                </a:solidFill>
                <a:latin typeface="Times New Roman" panose="02020603050405020304" pitchFamily="18" charset="0"/>
                <a:cs typeface="Times New Roman" panose="02020603050405020304" pitchFamily="18" charset="0"/>
              </a:rPr>
              <a:t>……</a:t>
            </a:r>
            <a:r>
              <a:rPr lang="en-US" altLang="zh-CN" sz="2400" b="0" i="1" dirty="0" err="1">
                <a:solidFill>
                  <a:schemeClr val="tx1"/>
                </a:solidFill>
                <a:latin typeface="Times New Roman" panose="02020603050405020304" pitchFamily="18" charset="0"/>
                <a:cs typeface="Times New Roman" panose="02020603050405020304" pitchFamily="18" charset="0"/>
              </a:rPr>
              <a:t>x</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n</a:t>
            </a:r>
            <a:r>
              <a:rPr lang="en-US" altLang="zh-CN" sz="2400" b="0" dirty="0">
                <a:solidFill>
                  <a:schemeClr val="tx1"/>
                </a:solidFill>
                <a:latin typeface="Times New Roman" panose="02020603050405020304" pitchFamily="18" charset="0"/>
                <a:cs typeface="Times New Roman" panose="02020603050405020304" pitchFamily="18" charset="0"/>
              </a:rPr>
              <a:t>)</a:t>
            </a:r>
          </a:p>
          <a:p>
            <a:pPr marL="263525" indent="-263525"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   </a:t>
            </a:r>
            <a:r>
              <a:rPr lang="zh-CN" altLang="en-US" sz="2400" dirty="0">
                <a:solidFill>
                  <a:schemeClr val="tx1"/>
                </a:solidFill>
                <a:latin typeface="Times New Roman" panose="02020603050405020304" pitchFamily="18" charset="0"/>
                <a:cs typeface="Times New Roman" panose="02020603050405020304" pitchFamily="18" charset="0"/>
              </a:rPr>
              <a:t>在测量中，假设进行了</a:t>
            </a:r>
            <a:r>
              <a:rPr lang="en-US" altLang="zh-CN" sz="2400" b="0" i="1" dirty="0">
                <a:solidFill>
                  <a:schemeClr val="tx1"/>
                </a:solidFill>
                <a:latin typeface="Times New Roman" panose="02020603050405020304" pitchFamily="18" charset="0"/>
                <a:cs typeface="Times New Roman" panose="02020603050405020304" pitchFamily="18" charset="0"/>
              </a:rPr>
              <a:t>k</a:t>
            </a:r>
            <a:r>
              <a:rPr lang="zh-CN" altLang="en-US" sz="2400" dirty="0">
                <a:solidFill>
                  <a:schemeClr val="tx1"/>
                </a:solidFill>
                <a:latin typeface="Times New Roman" panose="02020603050405020304" pitchFamily="18" charset="0"/>
                <a:cs typeface="Times New Roman" panose="02020603050405020304" pitchFamily="18" charset="0"/>
              </a:rPr>
              <a:t>次重复测量，则可算出</a:t>
            </a:r>
            <a:r>
              <a:rPr lang="en-US" altLang="zh-CN" sz="2400" b="0" i="1" dirty="0">
                <a:solidFill>
                  <a:schemeClr val="tx1"/>
                </a:solidFill>
                <a:latin typeface="Times New Roman" panose="02020603050405020304" pitchFamily="18" charset="0"/>
                <a:cs typeface="Times New Roman" panose="02020603050405020304" pitchFamily="18" charset="0"/>
              </a:rPr>
              <a:t>k</a:t>
            </a:r>
            <a:r>
              <a:rPr lang="zh-CN" altLang="en-US" sz="2400" dirty="0">
                <a:solidFill>
                  <a:schemeClr val="tx1"/>
                </a:solidFill>
                <a:latin typeface="Times New Roman" panose="02020603050405020304" pitchFamily="18" charset="0"/>
                <a:cs typeface="Times New Roman" panose="02020603050405020304" pitchFamily="18" charset="0"/>
              </a:rPr>
              <a:t>个</a:t>
            </a:r>
            <a:r>
              <a:rPr lang="en-US" altLang="zh-CN" sz="2400" b="0" i="1" dirty="0">
                <a:solidFill>
                  <a:schemeClr val="tx1"/>
                </a:solidFill>
                <a:latin typeface="Times New Roman" panose="02020603050405020304" pitchFamily="18" charset="0"/>
                <a:cs typeface="Times New Roman" panose="02020603050405020304" pitchFamily="18" charset="0"/>
              </a:rPr>
              <a:t>y</a:t>
            </a:r>
            <a:r>
              <a:rPr lang="zh-CN" altLang="en-US" sz="2400" dirty="0">
                <a:solidFill>
                  <a:schemeClr val="tx1"/>
                </a:solidFill>
                <a:latin typeface="Times New Roman" panose="02020603050405020304" pitchFamily="18" charset="0"/>
                <a:cs typeface="Times New Roman" panose="02020603050405020304" pitchFamily="18" charset="0"/>
              </a:rPr>
              <a:t>值</a:t>
            </a:r>
          </a:p>
          <a:p>
            <a:pPr indent="1985963" eaLnBrk="1" hangingPunct="1"/>
            <a:r>
              <a:rPr lang="en-US" altLang="zh-CN" sz="2400" b="0" i="1" dirty="0">
                <a:solidFill>
                  <a:schemeClr val="tx1"/>
                </a:solidFill>
                <a:latin typeface="Times New Roman" panose="02020603050405020304" pitchFamily="18" charset="0"/>
                <a:cs typeface="Times New Roman" panose="02020603050405020304" pitchFamily="18" charset="0"/>
              </a:rPr>
              <a:t>y</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f</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11</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21</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i="1" baseline="-25000" dirty="0">
                <a:solidFill>
                  <a:schemeClr val="tx1"/>
                </a:solidFill>
                <a:latin typeface="Times New Roman" panose="02020603050405020304" pitchFamily="18" charset="0"/>
                <a:cs typeface="Times New Roman" panose="02020603050405020304" pitchFamily="18" charset="0"/>
              </a:rPr>
              <a:t>n</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b="0" dirty="0">
                <a:solidFill>
                  <a:schemeClr val="tx1"/>
                </a:solidFill>
                <a:latin typeface="Times New Roman" panose="02020603050405020304" pitchFamily="18" charset="0"/>
                <a:cs typeface="Times New Roman" panose="02020603050405020304" pitchFamily="18" charset="0"/>
              </a:rPr>
              <a:t>)</a:t>
            </a:r>
          </a:p>
          <a:p>
            <a:pPr indent="1985963" eaLnBrk="1" hangingPunct="1">
              <a:lnSpc>
                <a:spcPct val="150000"/>
              </a:lnSpc>
            </a:pPr>
            <a:r>
              <a:rPr lang="en-US" altLang="zh-CN" sz="2400" b="0" i="1" dirty="0">
                <a:solidFill>
                  <a:schemeClr val="tx1"/>
                </a:solidFill>
                <a:latin typeface="Times New Roman" panose="02020603050405020304" pitchFamily="18" charset="0"/>
                <a:cs typeface="Times New Roman" panose="02020603050405020304" pitchFamily="18" charset="0"/>
              </a:rPr>
              <a:t>y</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f</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12</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22</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i="1" baseline="-25000" dirty="0">
                <a:solidFill>
                  <a:schemeClr val="tx1"/>
                </a:solidFill>
                <a:latin typeface="Times New Roman" panose="02020603050405020304" pitchFamily="18" charset="0"/>
                <a:cs typeface="Times New Roman" panose="02020603050405020304" pitchFamily="18" charset="0"/>
              </a:rPr>
              <a:t>n</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b="0" dirty="0">
                <a:solidFill>
                  <a:schemeClr val="tx1"/>
                </a:solidFill>
                <a:latin typeface="Times New Roman" panose="02020603050405020304" pitchFamily="18" charset="0"/>
                <a:cs typeface="Times New Roman" panose="02020603050405020304" pitchFamily="18" charset="0"/>
              </a:rPr>
              <a:t>)</a:t>
            </a:r>
          </a:p>
          <a:p>
            <a:pPr indent="1985963" eaLnBrk="1" hangingPunct="1"/>
            <a:r>
              <a:rPr lang="en-US" altLang="zh-CN" sz="2400" b="0" dirty="0">
                <a:solidFill>
                  <a:schemeClr val="tx1"/>
                </a:solidFill>
                <a:latin typeface="Times New Roman" panose="02020603050405020304" pitchFamily="18" charset="0"/>
                <a:cs typeface="Times New Roman" panose="02020603050405020304" pitchFamily="18" charset="0"/>
              </a:rPr>
              <a:t>...</a:t>
            </a:r>
          </a:p>
          <a:p>
            <a:pPr indent="1985963" eaLnBrk="1" hangingPunct="1"/>
            <a:r>
              <a:rPr lang="en-US" altLang="zh-CN" sz="2400" b="0" i="1" dirty="0" err="1">
                <a:solidFill>
                  <a:schemeClr val="tx1"/>
                </a:solidFill>
                <a:latin typeface="Times New Roman" panose="02020603050405020304" pitchFamily="18" charset="0"/>
                <a:cs typeface="Times New Roman" panose="02020603050405020304" pitchFamily="18" charset="0"/>
              </a:rPr>
              <a:t>y</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k</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f</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b="0" i="1" baseline="-25000" dirty="0">
                <a:solidFill>
                  <a:schemeClr val="tx1"/>
                </a:solidFill>
                <a:latin typeface="Times New Roman" panose="02020603050405020304" pitchFamily="18" charset="0"/>
                <a:cs typeface="Times New Roman" panose="02020603050405020304" pitchFamily="18" charset="0"/>
              </a:rPr>
              <a:t>k</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b="0" i="1" baseline="-25000" dirty="0">
                <a:solidFill>
                  <a:schemeClr val="tx1"/>
                </a:solidFill>
                <a:latin typeface="Times New Roman" panose="02020603050405020304" pitchFamily="18" charset="0"/>
                <a:cs typeface="Times New Roman" panose="02020603050405020304" pitchFamily="18" charset="0"/>
              </a:rPr>
              <a:t>k</a:t>
            </a:r>
            <a:r>
              <a:rPr lang="en-US" altLang="zh-CN" sz="2400" b="0" i="1" dirty="0">
                <a:solidFill>
                  <a:schemeClr val="tx1"/>
                </a:solidFill>
                <a:latin typeface="Times New Roman" panose="02020603050405020304" pitchFamily="18" charset="0"/>
                <a:cs typeface="Times New Roman" panose="02020603050405020304" pitchFamily="18" charset="0"/>
              </a:rPr>
              <a:t>……</a:t>
            </a:r>
            <a:r>
              <a:rPr lang="en-US" altLang="zh-CN" sz="2400" b="0" i="1" dirty="0" err="1">
                <a:solidFill>
                  <a:schemeClr val="tx1"/>
                </a:solidFill>
                <a:latin typeface="Times New Roman" panose="02020603050405020304" pitchFamily="18" charset="0"/>
                <a:cs typeface="Times New Roman" panose="02020603050405020304" pitchFamily="18" charset="0"/>
              </a:rPr>
              <a:t>x</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nk</a:t>
            </a:r>
            <a:r>
              <a:rPr lang="en-US" altLang="zh-CN" sz="2400" b="0" dirty="0">
                <a:solidFill>
                  <a:schemeClr val="tx1"/>
                </a:solidFill>
                <a:latin typeface="Times New Roman" panose="02020603050405020304" pitchFamily="18" charset="0"/>
                <a:cs typeface="Times New Roman" panose="02020603050405020304" pitchFamily="18" charset="0"/>
              </a:rPr>
              <a:t>)</a:t>
            </a:r>
          </a:p>
          <a:p>
            <a:pPr eaLnBrk="1" hangingPunct="1">
              <a:lnSpc>
                <a:spcPct val="150000"/>
              </a:lnSpc>
            </a:pPr>
            <a:r>
              <a:rPr lang="en-US" altLang="zh-CN" sz="2400" dirty="0">
                <a:solidFill>
                  <a:schemeClr val="tx1"/>
                </a:solidFill>
                <a:latin typeface="Times New Roman" panose="02020603050405020304" pitchFamily="18" charset="0"/>
                <a:cs typeface="Times New Roman" panose="02020603050405020304" pitchFamily="18" charset="0"/>
              </a:rPr>
              <a:t>   </a:t>
            </a:r>
          </a:p>
        </p:txBody>
      </p:sp>
      <p:sp>
        <p:nvSpPr>
          <p:cNvPr id="2" name="Slide Number Placeholder 1">
            <a:extLst>
              <a:ext uri="{FF2B5EF4-FFF2-40B4-BE49-F238E27FC236}">
                <a16:creationId xmlns:a16="http://schemas.microsoft.com/office/drawing/2014/main" id="{2306FDED-DE3D-4B0B-B87F-E412080D6102}"/>
              </a:ext>
            </a:extLst>
          </p:cNvPr>
          <p:cNvSpPr>
            <a:spLocks noGrp="1"/>
          </p:cNvSpPr>
          <p:nvPr>
            <p:ph type="sldNum" sz="quarter" idx="12"/>
          </p:nvPr>
        </p:nvSpPr>
        <p:spPr/>
        <p:txBody>
          <a:bodyPr/>
          <a:lstStyle/>
          <a:p>
            <a:fld id="{DC11BA4E-7967-4102-867C-9D230A2E6791}" type="slidenum">
              <a:rPr lang="zh-CN" altLang="en-US" smtClean="0"/>
              <a:t>56</a:t>
            </a:fld>
            <a:endParaRPr lang="zh-CN" altLang="en-US"/>
          </a:p>
        </p:txBody>
      </p:sp>
    </p:spTree>
    <p:extLst>
      <p:ext uri="{BB962C8B-B14F-4D97-AF65-F5344CB8AC3E}">
        <p14:creationId xmlns:p14="http://schemas.microsoft.com/office/powerpoint/2010/main" val="19402901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0" name="圆角矩形 2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三</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1" name="矩形 30"/>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间接测量中误差的传递</a:t>
            </a:r>
          </a:p>
        </p:txBody>
      </p:sp>
      <p:sp>
        <p:nvSpPr>
          <p:cNvPr id="42" name="Rectangle 3"/>
          <p:cNvSpPr>
            <a:spLocks noRot="1" noChangeArrowheads="1"/>
          </p:cNvSpPr>
          <p:nvPr/>
        </p:nvSpPr>
        <p:spPr bwMode="auto">
          <a:xfrm>
            <a:off x="99767" y="1280478"/>
            <a:ext cx="5307291" cy="1170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rgbClr val="0000FF"/>
                </a:solidFill>
                <a:latin typeface="宋体" panose="02010600030101010101" pitchFamily="2" charset="-122"/>
              </a:rPr>
              <a:t> 2. </a:t>
            </a:r>
            <a:r>
              <a:rPr lang="zh-CN" altLang="en-US" sz="2400" dirty="0">
                <a:solidFill>
                  <a:srgbClr val="0000FF"/>
                </a:solidFill>
                <a:latin typeface="宋体" panose="02010600030101010101" pitchFamily="2" charset="-122"/>
              </a:rPr>
              <a:t>偶然误差的传递</a:t>
            </a:r>
          </a:p>
          <a:p>
            <a:pPr eaLnBrk="1" hangingPunct="1">
              <a:lnSpc>
                <a:spcPct val="150000"/>
              </a:lnSpc>
            </a:pPr>
            <a:r>
              <a:rPr lang="zh-CN" altLang="en-US" sz="2400" dirty="0">
                <a:solidFill>
                  <a:schemeClr val="tx1"/>
                </a:solidFill>
                <a:latin typeface="宋体" panose="02010600030101010101" pitchFamily="2" charset="-122"/>
              </a:rPr>
              <a:t>   每次测量的偶然误差为</a:t>
            </a:r>
            <a:r>
              <a:rPr lang="en-US" altLang="zh-CN" sz="2400" dirty="0">
                <a:solidFill>
                  <a:schemeClr val="tx1"/>
                </a:solidFill>
                <a:latin typeface="宋体" panose="02010600030101010101" pitchFamily="2" charset="-122"/>
              </a:rPr>
              <a:t>:</a:t>
            </a:r>
          </a:p>
        </p:txBody>
      </p:sp>
      <p:graphicFrame>
        <p:nvGraphicFramePr>
          <p:cNvPr id="43" name="Object 17"/>
          <p:cNvGraphicFramePr>
            <a:graphicFrameLocks noChangeAspect="1"/>
          </p:cNvGraphicFramePr>
          <p:nvPr>
            <p:extLst>
              <p:ext uri="{D42A27DB-BD31-4B8C-83A1-F6EECF244321}">
                <p14:modId xmlns:p14="http://schemas.microsoft.com/office/powerpoint/2010/main" val="1977637358"/>
              </p:ext>
            </p:extLst>
          </p:nvPr>
        </p:nvGraphicFramePr>
        <p:xfrm>
          <a:off x="1304360" y="2489905"/>
          <a:ext cx="4800600" cy="800100"/>
        </p:xfrm>
        <a:graphic>
          <a:graphicData uri="http://schemas.openxmlformats.org/presentationml/2006/ole">
            <mc:AlternateContent xmlns:mc="http://schemas.openxmlformats.org/markup-compatibility/2006">
              <mc:Choice xmlns:v="urn:schemas-microsoft-com:vml" Requires="v">
                <p:oleObj name="Equation" r:id="rId3" imgW="2400300" imgH="400050" progId="Equation.DSMT4">
                  <p:embed/>
                </p:oleObj>
              </mc:Choice>
              <mc:Fallback>
                <p:oleObj name="Equation" r:id="rId3" imgW="2400300" imgH="400050" progId="Equation.DSMT4">
                  <p:embed/>
                  <p:pic>
                    <p:nvPicPr>
                      <p:cNvPr id="277521"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4360" y="2489905"/>
                        <a:ext cx="48006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18"/>
          <p:cNvGraphicFramePr>
            <a:graphicFrameLocks noChangeAspect="1"/>
          </p:cNvGraphicFramePr>
          <p:nvPr>
            <p:extLst>
              <p:ext uri="{D42A27DB-BD31-4B8C-83A1-F6EECF244321}">
                <p14:modId xmlns:p14="http://schemas.microsoft.com/office/powerpoint/2010/main" val="3323730598"/>
              </p:ext>
            </p:extLst>
          </p:nvPr>
        </p:nvGraphicFramePr>
        <p:xfrm>
          <a:off x="6567311" y="2684373"/>
          <a:ext cx="1746250" cy="411163"/>
        </p:xfrm>
        <a:graphic>
          <a:graphicData uri="http://schemas.openxmlformats.org/presentationml/2006/ole">
            <mc:AlternateContent xmlns:mc="http://schemas.openxmlformats.org/markup-compatibility/2006">
              <mc:Choice xmlns:v="urn:schemas-microsoft-com:vml" Requires="v">
                <p:oleObj name="公式" r:id="rId5" imgW="990360" imgH="203040" progId="Equation.3">
                  <p:embed/>
                </p:oleObj>
              </mc:Choice>
              <mc:Fallback>
                <p:oleObj name="公式" r:id="rId5" imgW="990360" imgH="203040" progId="Equation.3">
                  <p:embed/>
                  <p:pic>
                    <p:nvPicPr>
                      <p:cNvPr id="277522" name="Object 18"/>
                      <p:cNvPicPr>
                        <a:picLocks noChangeAspect="1" noChangeArrowheads="1"/>
                      </p:cNvPicPr>
                      <p:nvPr/>
                    </p:nvPicPr>
                    <p:blipFill>
                      <a:blip r:embed="rId6"/>
                      <a:srcRect/>
                      <a:stretch>
                        <a:fillRect/>
                      </a:stretch>
                    </p:blipFill>
                    <p:spPr bwMode="auto">
                      <a:xfrm>
                        <a:off x="6567311" y="2684373"/>
                        <a:ext cx="1746250" cy="411163"/>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3" name="矩形 2"/>
              <p:cNvSpPr/>
              <p:nvPr/>
            </p:nvSpPr>
            <p:spPr>
              <a:xfrm>
                <a:off x="1265131" y="3328988"/>
                <a:ext cx="7009201" cy="2883610"/>
              </a:xfrm>
              <a:prstGeom prst="rect">
                <a:avLst/>
              </a:prstGeom>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𝑦</m:t>
                          </m:r>
                        </m:sub>
                      </m:sSub>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f>
                            <m:fPr>
                              <m:ctrlPr>
                                <a:rPr lang="zh-CN" altLang="en-US" i="1">
                                  <a:latin typeface="Cambria Math" panose="02040503050406030204" pitchFamily="18" charset="0"/>
                                </a:rPr>
                              </m:ctrlPr>
                            </m:fPr>
                            <m:num>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=1</m:t>
                                  </m:r>
                                </m:sub>
                                <m:sup>
                                  <m:r>
                                    <a:rPr lang="zh-CN" altLang="en-US" i="1">
                                      <a:latin typeface="Cambria Math" panose="02040503050406030204" pitchFamily="18" charset="0"/>
                                    </a:rPr>
                                    <m:t>𝑘</m:t>
                                  </m:r>
                                </m:sup>
                                <m:e>
                                  <m:r>
                                    <a:rPr lang="zh-CN" altLang="en-US" i="1">
                                      <a:latin typeface="Cambria Math" panose="02040503050406030204" pitchFamily="18" charset="0"/>
                                    </a:rPr>
                                    <m:t>𝑑</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𝑦</m:t>
                                      </m:r>
                                    </m:e>
                                    <m:sub>
                                      <m:r>
                                        <a:rPr lang="zh-CN" altLang="en-US" i="1">
                                          <a:latin typeface="Cambria Math" panose="02040503050406030204" pitchFamily="18" charset="0"/>
                                        </a:rPr>
                                        <m:t>𝑖</m:t>
                                      </m:r>
                                    </m:sub>
                                    <m:sup>
                                      <m:r>
                                        <a:rPr lang="zh-CN" altLang="en-US" i="0">
                                          <a:latin typeface="Cambria Math" panose="02040503050406030204" pitchFamily="18" charset="0"/>
                                        </a:rPr>
                                        <m:t>2</m:t>
                                      </m:r>
                                    </m:sup>
                                  </m:sSubSup>
                                </m:e>
                              </m:nary>
                            </m:num>
                            <m:den>
                              <m:r>
                                <a:rPr lang="zh-CN" altLang="en-US" i="1">
                                  <a:latin typeface="Cambria Math" panose="02040503050406030204" pitchFamily="18" charset="0"/>
                                </a:rPr>
                                <m:t>𝑘</m:t>
                              </m:r>
                            </m:den>
                          </m:f>
                        </m:e>
                      </m:rad>
                      <m:r>
                        <a:rPr lang="en-US" altLang="zh-CN" b="0" i="0" smtClean="0">
                          <a:latin typeface="Cambria Math" panose="02040503050406030204" pitchFamily="18" charset="0"/>
                        </a:rPr>
                        <m:t>  </m:t>
                      </m:r>
                    </m:oMath>
                  </m:oMathPara>
                </a14:m>
                <a:endParaRPr lang="en-US" altLang="zh-CN" b="0" i="0">
                  <a:latin typeface="Cambria Math" panose="02040503050406030204" pitchFamily="18" charset="0"/>
                </a:endParaRPr>
              </a:p>
              <a:p>
                <a:pPr>
                  <a:spcBef>
                    <a:spcPts val="600"/>
                  </a:spcBef>
                </a:pPr>
                <a14:m>
                  <m:oMathPara xmlns:m="http://schemas.openxmlformats.org/officeDocument/2006/math">
                    <m:oMathParaPr>
                      <m:jc m:val="left"/>
                    </m:oMathParaPr>
                    <m:oMath xmlns:m="http://schemas.openxmlformats.org/officeDocument/2006/math">
                      <m:r>
                        <a:rPr lang="en-US" altLang="zh-CN" b="0" i="0" smtClean="0">
                          <a:latin typeface="Cambria Math" panose="02040503050406030204" pitchFamily="18" charset="0"/>
                        </a:rPr>
                        <m:t>     </m:t>
                      </m:r>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0">
                                              <a:latin typeface="Cambria Math" panose="02040503050406030204" pitchFamily="18" charset="0"/>
                                            </a:rPr>
                                            <m:t>𝜕</m:t>
                                          </m:r>
                                          <m:r>
                                            <a:rPr lang="zh-CN" altLang="en-US" i="1">
                                              <a:latin typeface="Cambria Math" panose="02040503050406030204" pitchFamily="18" charset="0"/>
                                            </a:rPr>
                                            <m:t>𝑓</m:t>
                                          </m:r>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e>
                                  </m:d>
                                </m:e>
                                <m:sup>
                                  <m:r>
                                    <a:rPr lang="zh-CN" altLang="en-US" i="0">
                                      <a:latin typeface="Cambria Math" panose="02040503050406030204" pitchFamily="18" charset="0"/>
                                    </a:rPr>
                                    <m:t>2</m:t>
                                  </m:r>
                                </m:sup>
                              </m:sSup>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=1</m:t>
                                  </m:r>
                                </m:sub>
                                <m:sup>
                                  <m:r>
                                    <a:rPr lang="zh-CN" altLang="en-US" i="1">
                                      <a:latin typeface="Cambria Math" panose="02040503050406030204" pitchFamily="18" charset="0"/>
                                    </a:rPr>
                                    <m:t>𝑘</m:t>
                                  </m:r>
                                </m:sup>
                                <m:e>
                                  <m:r>
                                    <a:rPr lang="zh-CN" altLang="en-US" i="1">
                                      <a:latin typeface="Cambria Math" panose="02040503050406030204" pitchFamily="18" charset="0"/>
                                    </a:rPr>
                                    <m:t>𝑑</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𝑥</m:t>
                                      </m:r>
                                    </m:e>
                                    <m:sub>
                                      <m:r>
                                        <a:rPr lang="zh-CN" altLang="en-US" i="0">
                                          <a:latin typeface="Cambria Math" panose="02040503050406030204" pitchFamily="18" charset="0"/>
                                        </a:rPr>
                                        <m:t>1</m:t>
                                      </m:r>
                                      <m:r>
                                        <a:rPr lang="zh-CN" altLang="en-US" i="1">
                                          <a:latin typeface="Cambria Math" panose="02040503050406030204" pitchFamily="18" charset="0"/>
                                        </a:rPr>
                                        <m:t>𝑖</m:t>
                                      </m:r>
                                    </m:sub>
                                    <m:sup>
                                      <m:r>
                                        <a:rPr lang="zh-CN" altLang="en-US" i="0">
                                          <a:latin typeface="Cambria Math" panose="02040503050406030204" pitchFamily="18" charset="0"/>
                                        </a:rPr>
                                        <m:t>2</m:t>
                                      </m:r>
                                    </m:sup>
                                  </m:sSubSup>
                                </m:e>
                              </m:nary>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0">
                                              <a:latin typeface="Cambria Math" panose="02040503050406030204" pitchFamily="18" charset="0"/>
                                            </a:rPr>
                                            <m:t>𝜕</m:t>
                                          </m:r>
                                          <m:r>
                                            <a:rPr lang="zh-CN" altLang="en-US" i="1">
                                              <a:latin typeface="Cambria Math" panose="02040503050406030204" pitchFamily="18" charset="0"/>
                                            </a:rPr>
                                            <m:t>𝑓</m:t>
                                          </m:r>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den>
                                      </m:f>
                                    </m:e>
                                  </m:d>
                                </m:e>
                                <m:sup>
                                  <m:r>
                                    <a:rPr lang="zh-CN" altLang="en-US" i="0">
                                      <a:latin typeface="Cambria Math" panose="02040503050406030204" pitchFamily="18" charset="0"/>
                                    </a:rPr>
                                    <m:t>2</m:t>
                                  </m:r>
                                </m:sup>
                              </m:sSup>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=1</m:t>
                                  </m:r>
                                </m:sub>
                                <m:sup>
                                  <m:r>
                                    <a:rPr lang="zh-CN" altLang="en-US" i="1">
                                      <a:latin typeface="Cambria Math" panose="02040503050406030204" pitchFamily="18" charset="0"/>
                                    </a:rPr>
                                    <m:t>𝑘</m:t>
                                  </m:r>
                                </m:sup>
                                <m:e>
                                  <m:r>
                                    <a:rPr lang="zh-CN" altLang="en-US" i="1">
                                      <a:latin typeface="Cambria Math" panose="02040503050406030204" pitchFamily="18" charset="0"/>
                                    </a:rPr>
                                    <m:t>𝑑</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𝑥</m:t>
                                      </m:r>
                                    </m:e>
                                    <m:sub>
                                      <m:r>
                                        <a:rPr lang="zh-CN" altLang="en-US" i="0">
                                          <a:latin typeface="Cambria Math" panose="02040503050406030204" pitchFamily="18" charset="0"/>
                                        </a:rPr>
                                        <m:t>2</m:t>
                                      </m:r>
                                      <m:r>
                                        <a:rPr lang="zh-CN" altLang="en-US" i="1">
                                          <a:latin typeface="Cambria Math" panose="02040503050406030204" pitchFamily="18" charset="0"/>
                                        </a:rPr>
                                        <m:t>𝑖</m:t>
                                      </m:r>
                                    </m:sub>
                                    <m:sup>
                                      <m:r>
                                        <a:rPr lang="zh-CN" altLang="en-US" i="0">
                                          <a:latin typeface="Cambria Math" panose="02040503050406030204" pitchFamily="18" charset="0"/>
                                        </a:rPr>
                                        <m:t>2</m:t>
                                      </m:r>
                                    </m:sup>
                                  </m:sSubSup>
                                </m:e>
                              </m:nary>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0">
                                              <a:latin typeface="Cambria Math" panose="02040503050406030204" pitchFamily="18" charset="0"/>
                                            </a:rPr>
                                            <m:t>𝜕</m:t>
                                          </m:r>
                                          <m:r>
                                            <a:rPr lang="zh-CN" altLang="en-US" i="1">
                                              <a:latin typeface="Cambria Math" panose="02040503050406030204" pitchFamily="18" charset="0"/>
                                            </a:rPr>
                                            <m:t>𝑓</m:t>
                                          </m:r>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𝑛</m:t>
                                              </m:r>
                                            </m:sub>
                                          </m:sSub>
                                        </m:den>
                                      </m:f>
                                    </m:e>
                                  </m:d>
                                </m:e>
                                <m:sup>
                                  <m:r>
                                    <a:rPr lang="zh-CN" altLang="en-US" i="0">
                                      <a:latin typeface="Cambria Math" panose="02040503050406030204" pitchFamily="18" charset="0"/>
                                    </a:rPr>
                                    <m:t>2</m:t>
                                  </m:r>
                                </m:sup>
                              </m:sSup>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=1</m:t>
                                  </m:r>
                                </m:sub>
                                <m:sup>
                                  <m:r>
                                    <a:rPr lang="zh-CN" altLang="en-US" i="1">
                                      <a:latin typeface="Cambria Math" panose="02040503050406030204" pitchFamily="18" charset="0"/>
                                    </a:rPr>
                                    <m:t>𝑘</m:t>
                                  </m:r>
                                </m:sup>
                                <m:e>
                                  <m:r>
                                    <a:rPr lang="zh-CN" altLang="en-US" i="1">
                                      <a:latin typeface="Cambria Math" panose="02040503050406030204" pitchFamily="18" charset="0"/>
                                    </a:rPr>
                                    <m:t>𝑑</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𝑥</m:t>
                                      </m:r>
                                    </m:e>
                                    <m:sub>
                                      <m:r>
                                        <a:rPr lang="zh-CN" altLang="en-US" i="1">
                                          <a:latin typeface="Cambria Math" panose="02040503050406030204" pitchFamily="18" charset="0"/>
                                        </a:rPr>
                                        <m:t>𝑛𝑖</m:t>
                                      </m:r>
                                    </m:sub>
                                    <m:sup>
                                      <m:r>
                                        <a:rPr lang="zh-CN" altLang="en-US" i="0">
                                          <a:latin typeface="Cambria Math" panose="02040503050406030204" pitchFamily="18" charset="0"/>
                                        </a:rPr>
                                        <m:t>2</m:t>
                                      </m:r>
                                    </m:sup>
                                  </m:sSubSup>
                                </m:e>
                              </m:nary>
                            </m:num>
                            <m:den>
                              <m:r>
                                <a:rPr lang="zh-CN" altLang="en-US" i="1">
                                  <a:latin typeface="Cambria Math" panose="02040503050406030204" pitchFamily="18" charset="0"/>
                                </a:rPr>
                                <m:t>𝑘</m:t>
                              </m:r>
                            </m:den>
                          </m:f>
                        </m:e>
                      </m:rad>
                    </m:oMath>
                  </m:oMathPara>
                </a14:m>
                <a:endParaRPr lang="en-US" altLang="zh-CN" i="1">
                  <a:latin typeface="Cambria Math" panose="02040503050406030204" pitchFamily="18" charset="0"/>
                </a:endParaRPr>
              </a:p>
              <a:p>
                <a:pPr>
                  <a:spcBef>
                    <a:spcPts val="600"/>
                  </a:spcBef>
                </a:pPr>
                <a:r>
                  <a:rPr lang="zh-CN" altLang="en-US"/>
                  <a:t>    </a:t>
                </a:r>
                <a14:m>
                  <m:oMath xmlns:m="http://schemas.openxmlformats.org/officeDocument/2006/math">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0">
                                        <a:latin typeface="Cambria Math" panose="02040503050406030204" pitchFamily="18" charset="0"/>
                                      </a:rPr>
                                      <m:t>𝜕</m:t>
                                    </m:r>
                                    <m:r>
                                      <a:rPr lang="zh-CN" altLang="en-US" i="1">
                                        <a:latin typeface="Cambria Math" panose="02040503050406030204" pitchFamily="18" charset="0"/>
                                      </a:rPr>
                                      <m:t>𝑓</m:t>
                                    </m:r>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e>
                            </m:d>
                          </m:e>
                          <m:sup>
                            <m:r>
                              <a:rPr lang="zh-CN" altLang="en-US" i="0">
                                <a:latin typeface="Cambria Math" panose="02040503050406030204" pitchFamily="18" charset="0"/>
                              </a:rPr>
                              <m:t>2</m:t>
                            </m:r>
                          </m:sup>
                        </m:sSup>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sub>
                          <m:sup>
                            <m:r>
                              <a:rPr lang="zh-CN" altLang="en-US" i="0">
                                <a:latin typeface="Cambria Math" panose="02040503050406030204" pitchFamily="18" charset="0"/>
                              </a:rPr>
                              <m:t>2</m:t>
                            </m:r>
                          </m:sup>
                        </m:sSub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0">
                                        <a:latin typeface="Cambria Math" panose="02040503050406030204" pitchFamily="18" charset="0"/>
                                      </a:rPr>
                                      <m:t>𝜕</m:t>
                                    </m:r>
                                    <m:r>
                                      <a:rPr lang="zh-CN" altLang="en-US" i="1">
                                        <a:latin typeface="Cambria Math" panose="02040503050406030204" pitchFamily="18" charset="0"/>
                                      </a:rPr>
                                      <m:t>𝑓</m:t>
                                    </m:r>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den>
                                </m:f>
                              </m:e>
                            </m:d>
                          </m:e>
                          <m:sup>
                            <m:r>
                              <a:rPr lang="zh-CN" altLang="en-US" i="0">
                                <a:latin typeface="Cambria Math" panose="02040503050406030204" pitchFamily="18" charset="0"/>
                              </a:rPr>
                              <m:t>2</m:t>
                            </m:r>
                          </m:sup>
                        </m:sSup>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sub>
                          <m:sup>
                            <m:r>
                              <a:rPr lang="zh-CN" altLang="en-US" i="0">
                                <a:latin typeface="Cambria Math" panose="02040503050406030204" pitchFamily="18" charset="0"/>
                              </a:rPr>
                              <m:t>2</m:t>
                            </m:r>
                          </m:sup>
                        </m:sSub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0">
                                        <a:latin typeface="Cambria Math" panose="02040503050406030204" pitchFamily="18" charset="0"/>
                                      </a:rPr>
                                      <m:t>𝜕</m:t>
                                    </m:r>
                                    <m:r>
                                      <a:rPr lang="zh-CN" altLang="en-US" i="1">
                                        <a:latin typeface="Cambria Math" panose="02040503050406030204" pitchFamily="18" charset="0"/>
                                      </a:rPr>
                                      <m:t>𝑓</m:t>
                                    </m:r>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𝑛</m:t>
                                        </m:r>
                                      </m:sub>
                                    </m:sSub>
                                  </m:den>
                                </m:f>
                              </m:e>
                            </m:d>
                          </m:e>
                          <m:sup>
                            <m:r>
                              <a:rPr lang="zh-CN" altLang="en-US" i="0">
                                <a:latin typeface="Cambria Math" panose="02040503050406030204" pitchFamily="18" charset="0"/>
                              </a:rPr>
                              <m:t>2</m:t>
                            </m:r>
                          </m:sup>
                        </m:sSup>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𝑛</m:t>
                                </m:r>
                              </m:sub>
                            </m:sSub>
                          </m:sub>
                          <m:sup>
                            <m:r>
                              <a:rPr lang="zh-CN" altLang="en-US" i="0">
                                <a:latin typeface="Cambria Math" panose="02040503050406030204" pitchFamily="18" charset="0"/>
                              </a:rPr>
                              <m:t>2</m:t>
                            </m:r>
                          </m:sup>
                        </m:sSubSup>
                      </m:e>
                    </m:rad>
                  </m:oMath>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1265131" y="3328988"/>
                <a:ext cx="7009201" cy="2883610"/>
              </a:xfrm>
              <a:prstGeom prst="rect">
                <a:avLst/>
              </a:prstGeom>
              <a:blipFill>
                <a:blip r:embed="rId8"/>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1985107B-45F3-46EB-B6D8-35A930AEB565}"/>
              </a:ext>
            </a:extLst>
          </p:cNvPr>
          <p:cNvSpPr>
            <a:spLocks noGrp="1"/>
          </p:cNvSpPr>
          <p:nvPr>
            <p:ph type="sldNum" sz="quarter" idx="12"/>
          </p:nvPr>
        </p:nvSpPr>
        <p:spPr/>
        <p:txBody>
          <a:bodyPr/>
          <a:lstStyle/>
          <a:p>
            <a:fld id="{DC11BA4E-7967-4102-867C-9D230A2E6791}" type="slidenum">
              <a:rPr lang="zh-CN" altLang="en-US" smtClean="0"/>
              <a:t>57</a:t>
            </a:fld>
            <a:endParaRPr lang="zh-CN" altLang="en-US"/>
          </a:p>
        </p:txBody>
      </p:sp>
    </p:spTree>
    <p:extLst>
      <p:ext uri="{BB962C8B-B14F-4D97-AF65-F5344CB8AC3E}">
        <p14:creationId xmlns:p14="http://schemas.microsoft.com/office/powerpoint/2010/main" val="17833545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9" name="矩形 28"/>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间接测量中误差的传递</a:t>
            </a:r>
          </a:p>
        </p:txBody>
      </p:sp>
      <p:sp>
        <p:nvSpPr>
          <p:cNvPr id="40" name="圆角矩形 3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三</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8" name="Rectangle 3"/>
          <p:cNvSpPr>
            <a:spLocks noRot="1" noChangeArrowheads="1"/>
          </p:cNvSpPr>
          <p:nvPr/>
        </p:nvSpPr>
        <p:spPr bwMode="auto">
          <a:xfrm>
            <a:off x="339693" y="1280419"/>
            <a:ext cx="8338431" cy="5431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20000"/>
              </a:lnSpc>
            </a:pPr>
            <a:r>
              <a:rPr lang="en-US" altLang="zh-CN" sz="2400" dirty="0">
                <a:solidFill>
                  <a:srgbClr val="0000FF"/>
                </a:solidFill>
                <a:latin typeface="宋体" panose="02010600030101010101" pitchFamily="2" charset="-122"/>
              </a:rPr>
              <a:t>3.</a:t>
            </a:r>
            <a:r>
              <a:rPr lang="zh-CN" altLang="en-US" sz="2400" dirty="0">
                <a:solidFill>
                  <a:srgbClr val="0000FF"/>
                </a:solidFill>
                <a:latin typeface="宋体" panose="02010600030101010101" pitchFamily="2" charset="-122"/>
              </a:rPr>
              <a:t>偶然误差的等传递原则</a:t>
            </a:r>
          </a:p>
          <a:p>
            <a:pPr marL="0" indent="631825" eaLnBrk="1" hangingPunct="1">
              <a:lnSpc>
                <a:spcPct val="120000"/>
              </a:lnSpc>
            </a:pPr>
            <a:r>
              <a:rPr lang="zh-CN" altLang="en-US" sz="2400" dirty="0">
                <a:solidFill>
                  <a:schemeClr val="tx1"/>
                </a:solidFill>
                <a:latin typeface="宋体" panose="02010600030101010101" pitchFamily="2" charset="-122"/>
              </a:rPr>
              <a:t>在间接测量中，若预先给定间接测量的误差，各个直接测量量所能允许的最大误差应</a:t>
            </a:r>
            <a:r>
              <a:rPr lang="zh-CN" altLang="en-US" sz="2400">
                <a:solidFill>
                  <a:schemeClr val="tx1"/>
                </a:solidFill>
                <a:latin typeface="宋体" panose="02010600030101010101" pitchFamily="2" charset="-122"/>
              </a:rPr>
              <a:t>是多少</a:t>
            </a:r>
            <a:r>
              <a:rPr lang="en-US" altLang="zh-CN" sz="2400">
                <a:solidFill>
                  <a:schemeClr val="tx1"/>
                </a:solidFill>
                <a:latin typeface="宋体" panose="02010600030101010101" pitchFamily="2" charset="-122"/>
              </a:rPr>
              <a:t>,</a:t>
            </a:r>
            <a:r>
              <a:rPr lang="zh-CN" altLang="en-US" sz="2400">
                <a:solidFill>
                  <a:schemeClr val="tx1"/>
                </a:solidFill>
                <a:latin typeface="宋体" panose="02010600030101010101" pitchFamily="2" charset="-122"/>
              </a:rPr>
              <a:t>当</a:t>
            </a:r>
            <a:r>
              <a:rPr lang="zh-CN" altLang="en-US" sz="2400" dirty="0">
                <a:solidFill>
                  <a:schemeClr val="tx1"/>
                </a:solidFill>
                <a:latin typeface="宋体" panose="02010600030101010101" pitchFamily="2" charset="-122"/>
              </a:rPr>
              <a:t>有多个直接测量量时，数学上的解是不定的。</a:t>
            </a:r>
          </a:p>
          <a:p>
            <a:pPr marL="0" indent="631825" eaLnBrk="1" hangingPunct="1">
              <a:lnSpc>
                <a:spcPct val="120000"/>
              </a:lnSpc>
            </a:pPr>
            <a:r>
              <a:rPr lang="zh-CN" altLang="en-US" sz="2400" dirty="0">
                <a:solidFill>
                  <a:schemeClr val="tx1"/>
                </a:solidFill>
                <a:latin typeface="宋体" panose="02010600030101010101" pitchFamily="2" charset="-122"/>
              </a:rPr>
              <a:t>在实际测量中遇到此问题时，常用所谓</a:t>
            </a:r>
            <a:r>
              <a:rPr lang="zh-CN" altLang="en-US" sz="2400" dirty="0">
                <a:solidFill>
                  <a:srgbClr val="00B050"/>
                </a:solidFill>
                <a:latin typeface="宋体" panose="02010600030101010101" pitchFamily="2" charset="-122"/>
              </a:rPr>
              <a:t>等传递原则</a:t>
            </a:r>
            <a:r>
              <a:rPr lang="zh-CN" altLang="en-US" sz="2400" dirty="0">
                <a:solidFill>
                  <a:schemeClr val="tx1"/>
                </a:solidFill>
                <a:latin typeface="宋体" panose="02010600030101010101" pitchFamily="2" charset="-122"/>
              </a:rPr>
              <a:t>，即假定各直接测量对于间接测量所引起的误差均相等。故</a:t>
            </a:r>
          </a:p>
          <a:p>
            <a:pPr marL="0" indent="631825" eaLnBrk="1" hangingPunct="1">
              <a:lnSpc>
                <a:spcPct val="120000"/>
              </a:lnSpc>
            </a:pPr>
            <a:endParaRPr lang="zh-CN" altLang="en-US" sz="2400" dirty="0">
              <a:solidFill>
                <a:schemeClr val="tx1"/>
              </a:solidFill>
              <a:latin typeface="宋体" panose="02010600030101010101" pitchFamily="2" charset="-122"/>
            </a:endParaRPr>
          </a:p>
          <a:p>
            <a:pPr marL="0" indent="631825" eaLnBrk="1" hangingPunct="1">
              <a:lnSpc>
                <a:spcPct val="120000"/>
              </a:lnSpc>
            </a:pPr>
            <a:endParaRPr lang="zh-CN" altLang="en-US" sz="2400" dirty="0">
              <a:solidFill>
                <a:schemeClr val="tx1"/>
              </a:solidFill>
              <a:latin typeface="宋体" panose="02010600030101010101" pitchFamily="2" charset="-122"/>
            </a:endParaRPr>
          </a:p>
          <a:p>
            <a:pPr marL="0" indent="631825" eaLnBrk="1" hangingPunct="1">
              <a:lnSpc>
                <a:spcPct val="120000"/>
              </a:lnSpc>
            </a:pPr>
            <a:endParaRPr lang="en-US" altLang="zh-CN" sz="2400">
              <a:solidFill>
                <a:schemeClr val="tx1"/>
              </a:solidFill>
              <a:latin typeface="宋体" panose="02010600030101010101" pitchFamily="2" charset="-122"/>
            </a:endParaRPr>
          </a:p>
          <a:p>
            <a:pPr marL="0" indent="631825" eaLnBrk="1" hangingPunct="1">
              <a:lnSpc>
                <a:spcPct val="120000"/>
              </a:lnSpc>
            </a:pPr>
            <a:r>
              <a:rPr lang="zh-CN" altLang="en-US" sz="2400">
                <a:solidFill>
                  <a:schemeClr val="tx1"/>
                </a:solidFill>
                <a:latin typeface="宋体" panose="02010600030101010101" pitchFamily="2" charset="-122"/>
              </a:rPr>
              <a:t>在</a:t>
            </a:r>
            <a:r>
              <a:rPr lang="zh-CN" altLang="en-US" sz="2400" dirty="0">
                <a:solidFill>
                  <a:schemeClr val="tx1"/>
                </a:solidFill>
                <a:latin typeface="宋体" panose="02010600030101010101" pitchFamily="2" charset="-122"/>
              </a:rPr>
              <a:t>仪表设计中也可应用此原则，按整台仪表的预定精度，初步确定各环节应达到的精度，还要根据实际情况确定。</a:t>
            </a:r>
          </a:p>
        </p:txBody>
      </p:sp>
      <mc:AlternateContent xmlns:mc="http://schemas.openxmlformats.org/markup-compatibility/2006" xmlns:a14="http://schemas.microsoft.com/office/drawing/2010/main">
        <mc:Choice Requires="a14">
          <p:sp>
            <p:nvSpPr>
              <p:cNvPr id="3" name="矩形 2"/>
              <p:cNvSpPr/>
              <p:nvPr/>
            </p:nvSpPr>
            <p:spPr>
              <a:xfrm>
                <a:off x="1195503" y="4126569"/>
                <a:ext cx="6409099" cy="91069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𝑦</m:t>
                          </m:r>
                        </m:sub>
                      </m:sSub>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i="1">
                              <a:latin typeface="Cambria Math" panose="02040503050406030204" pitchFamily="18" charset="0"/>
                            </a:rPr>
                            <m:t>𝑛</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0">
                                          <a:latin typeface="Cambria Math" panose="02040503050406030204" pitchFamily="18" charset="0"/>
                                        </a:rPr>
                                        <m:t>𝜕</m:t>
                                      </m:r>
                                      <m:r>
                                        <a:rPr lang="zh-CN" altLang="en-US" i="1">
                                          <a:latin typeface="Cambria Math" panose="02040503050406030204" pitchFamily="18" charset="0"/>
                                        </a:rPr>
                                        <m:t>𝑓</m:t>
                                      </m:r>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den>
                                  </m:f>
                                </m:e>
                              </m:d>
                            </m:e>
                            <m:sup>
                              <m:r>
                                <a:rPr lang="zh-CN" altLang="en-US" i="0">
                                  <a:latin typeface="Cambria Math" panose="02040503050406030204" pitchFamily="18" charset="0"/>
                                </a:rPr>
                                <m:t>2</m:t>
                              </m:r>
                            </m:sup>
                          </m:sSup>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sub>
                            <m:sup>
                              <m:r>
                                <a:rPr lang="zh-CN" altLang="en-US" i="0">
                                  <a:latin typeface="Cambria Math" panose="02040503050406030204" pitchFamily="18" charset="0"/>
                                </a:rPr>
                                <m:t>2</m:t>
                              </m:r>
                            </m:sup>
                          </m:sSubSup>
                        </m:e>
                      </m:rad>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i="1">
                              <a:latin typeface="Cambria Math" panose="02040503050406030204" pitchFamily="18" charset="0"/>
                            </a:rPr>
                            <m:t>𝑛</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0">
                                          <a:latin typeface="Cambria Math" panose="02040503050406030204" pitchFamily="18" charset="0"/>
                                        </a:rPr>
                                        <m:t>𝜕</m:t>
                                      </m:r>
                                      <m:r>
                                        <a:rPr lang="zh-CN" altLang="en-US" i="1">
                                          <a:latin typeface="Cambria Math" panose="02040503050406030204" pitchFamily="18" charset="0"/>
                                        </a:rPr>
                                        <m:t>𝑓</m:t>
                                      </m:r>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den>
                                  </m:f>
                                </m:e>
                              </m:d>
                            </m:e>
                            <m:sup>
                              <m:r>
                                <a:rPr lang="zh-CN" altLang="en-US" i="0">
                                  <a:latin typeface="Cambria Math" panose="02040503050406030204" pitchFamily="18" charset="0"/>
                                </a:rPr>
                                <m:t>2</m:t>
                              </m:r>
                            </m:sup>
                          </m:sSup>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sub>
                            <m:sup>
                              <m:r>
                                <a:rPr lang="zh-CN" altLang="en-US" i="0">
                                  <a:latin typeface="Cambria Math" panose="02040503050406030204" pitchFamily="18" charset="0"/>
                                </a:rPr>
                                <m:t>2</m:t>
                              </m:r>
                            </m:sup>
                          </m:sSubSup>
                        </m:e>
                      </m:rad>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i="1">
                              <a:latin typeface="Cambria Math" panose="02040503050406030204" pitchFamily="18" charset="0"/>
                            </a:rPr>
                            <m:t>𝑛</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0">
                                          <a:latin typeface="Cambria Math" panose="02040503050406030204" pitchFamily="18" charset="0"/>
                                        </a:rPr>
                                        <m:t>𝜕</m:t>
                                      </m:r>
                                      <m:r>
                                        <a:rPr lang="zh-CN" altLang="en-US" i="1">
                                          <a:latin typeface="Cambria Math" panose="02040503050406030204" pitchFamily="18" charset="0"/>
                                        </a:rPr>
                                        <m:t>𝑓</m:t>
                                      </m:r>
                                    </m:num>
                                    <m:den>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𝑛</m:t>
                                          </m:r>
                                        </m:sub>
                                      </m:sSub>
                                    </m:den>
                                  </m:f>
                                </m:e>
                              </m:d>
                            </m:e>
                            <m:sup>
                              <m:r>
                                <a:rPr lang="zh-CN" altLang="en-US" i="0">
                                  <a:latin typeface="Cambria Math" panose="02040503050406030204" pitchFamily="18" charset="0"/>
                                </a:rPr>
                                <m:t>2</m:t>
                              </m:r>
                            </m:sup>
                          </m:sSup>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𝜎</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𝑛</m:t>
                                  </m:r>
                                </m:sub>
                              </m:sSub>
                            </m:sub>
                            <m:sup>
                              <m:r>
                                <a:rPr lang="zh-CN" altLang="en-US" i="0">
                                  <a:latin typeface="Cambria Math" panose="02040503050406030204" pitchFamily="18" charset="0"/>
                                </a:rPr>
                                <m:t>2</m:t>
                              </m:r>
                            </m:sup>
                          </m:sSubSup>
                        </m:e>
                      </m:rad>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1195503" y="4126569"/>
                <a:ext cx="6409099" cy="910699"/>
              </a:xfrm>
              <a:prstGeom prst="rect">
                <a:avLst/>
              </a:prstGeom>
              <a:blipFill>
                <a:blip r:embed="rId3"/>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05AFBB00-6B83-4CC4-9153-3C038E15B35A}"/>
              </a:ext>
            </a:extLst>
          </p:cNvPr>
          <p:cNvSpPr>
            <a:spLocks noGrp="1"/>
          </p:cNvSpPr>
          <p:nvPr>
            <p:ph type="sldNum" sz="quarter" idx="12"/>
          </p:nvPr>
        </p:nvSpPr>
        <p:spPr/>
        <p:txBody>
          <a:bodyPr/>
          <a:lstStyle/>
          <a:p>
            <a:fld id="{DC11BA4E-7967-4102-867C-9D230A2E6791}" type="slidenum">
              <a:rPr lang="zh-CN" altLang="en-US" smtClean="0"/>
              <a:t>58</a:t>
            </a:fld>
            <a:endParaRPr lang="zh-CN" altLang="en-US"/>
          </a:p>
        </p:txBody>
      </p:sp>
    </p:spTree>
    <p:extLst>
      <p:ext uri="{BB962C8B-B14F-4D97-AF65-F5344CB8AC3E}">
        <p14:creationId xmlns:p14="http://schemas.microsoft.com/office/powerpoint/2010/main" val="14635432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三</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间接测量中误差的传递</a:t>
            </a:r>
          </a:p>
        </p:txBody>
      </p:sp>
      <p:sp>
        <p:nvSpPr>
          <p:cNvPr id="39" name="Rectangle 3"/>
          <p:cNvSpPr>
            <a:spLocks noRot="1" noChangeArrowheads="1"/>
          </p:cNvSpPr>
          <p:nvPr/>
        </p:nvSpPr>
        <p:spPr bwMode="auto">
          <a:xfrm>
            <a:off x="337457" y="1360488"/>
            <a:ext cx="8545286" cy="4971009"/>
          </a:xfrm>
          <a:prstGeom prst="rect">
            <a:avLst/>
          </a:prstGeom>
          <a:noFill/>
          <a:ln w="9525">
            <a:noFill/>
            <a:miter lim="800000"/>
            <a:headEnd/>
            <a:tailEnd/>
          </a:ln>
        </p:spPr>
        <p:txBody>
          <a:bodyPr/>
          <a:lstStyle/>
          <a:p>
            <a:pPr marL="342900" indent="-342900">
              <a:lnSpc>
                <a:spcPct val="150000"/>
              </a:lnSpc>
              <a:defRPr/>
            </a:pPr>
            <a:r>
              <a:rPr lang="en-US" altLang="zh-CN" sz="2400" b="1" dirty="0">
                <a:solidFill>
                  <a:srgbClr val="0000FF"/>
                </a:solidFill>
                <a:latin typeface="宋体" panose="02010600030101010101" pitchFamily="2" charset="-122"/>
                <a:ea typeface="宋体" panose="02010600030101010101" pitchFamily="2" charset="-122"/>
              </a:rPr>
              <a:t>4.</a:t>
            </a:r>
            <a:r>
              <a:rPr lang="zh-CN" altLang="en-US" sz="2400" b="1" dirty="0">
                <a:solidFill>
                  <a:srgbClr val="0000FF"/>
                </a:solidFill>
                <a:latin typeface="宋体" panose="02010600030101010101" pitchFamily="2" charset="-122"/>
                <a:ea typeface="宋体" panose="02010600030101010101" pitchFamily="2" charset="-122"/>
              </a:rPr>
              <a:t>系统误差的统计处理</a:t>
            </a:r>
          </a:p>
          <a:p>
            <a:pPr indent="631825">
              <a:lnSpc>
                <a:spcPct val="150000"/>
              </a:lnSpc>
              <a:defRPr/>
            </a:pPr>
            <a:r>
              <a:rPr lang="zh-CN" altLang="en-US" sz="2400" b="1" dirty="0">
                <a:latin typeface="宋体" panose="02010600030101010101" pitchFamily="2" charset="-122"/>
                <a:ea typeface="宋体" panose="02010600030101010101" pitchFamily="2" charset="-122"/>
              </a:rPr>
              <a:t>在进行系统误差综合时，可有两种</a:t>
            </a:r>
            <a:r>
              <a:rPr lang="zh-CN" altLang="en-US" sz="2400" b="1">
                <a:latin typeface="宋体" panose="02010600030101010101" pitchFamily="2" charset="-122"/>
                <a:ea typeface="宋体" panose="02010600030101010101" pitchFamily="2" charset="-122"/>
              </a:rPr>
              <a:t>办法。</a:t>
            </a:r>
            <a:endParaRPr lang="en-US" altLang="zh-CN" sz="2400" b="1">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defRPr/>
            </a:pPr>
            <a:r>
              <a:rPr lang="zh-CN" altLang="en-US" sz="2400" b="1">
                <a:latin typeface="宋体" panose="02010600030101010101" pitchFamily="2" charset="-122"/>
                <a:ea typeface="宋体" panose="02010600030101010101" pitchFamily="2" charset="-122"/>
              </a:rPr>
              <a:t>当局</a:t>
            </a:r>
            <a:r>
              <a:rPr lang="zh-CN" altLang="en-US" sz="2400" b="1" dirty="0">
                <a:latin typeface="宋体" panose="02010600030101010101" pitchFamily="2" charset="-122"/>
                <a:ea typeface="宋体" panose="02010600030101010101" pitchFamily="2" charset="-122"/>
              </a:rPr>
              <a:t>部系统误差的数目较少，并且在它们同时充分起作用的机会较多的情况下，采用将</a:t>
            </a:r>
            <a:r>
              <a:rPr lang="zh-CN" altLang="en-US" sz="2400" b="1" dirty="0">
                <a:solidFill>
                  <a:srgbClr val="C00000"/>
                </a:solidFill>
                <a:latin typeface="宋体" panose="02010600030101010101" pitchFamily="2" charset="-122"/>
                <a:ea typeface="宋体" panose="02010600030101010101" pitchFamily="2" charset="-122"/>
              </a:rPr>
              <a:t>诸局部系统误差代数相加</a:t>
            </a:r>
            <a:r>
              <a:rPr lang="zh-CN" altLang="en-US" sz="2400" b="1" dirty="0">
                <a:latin typeface="宋体" panose="02010600030101010101" pitchFamily="2" charset="-122"/>
                <a:ea typeface="宋体" panose="02010600030101010101" pitchFamily="2" charset="-122"/>
              </a:rPr>
              <a:t>，或者当系统误差符号不明时取</a:t>
            </a:r>
            <a:r>
              <a:rPr lang="zh-CN" altLang="en-US" sz="2400" b="1" dirty="0">
                <a:solidFill>
                  <a:srgbClr val="C00000"/>
                </a:solidFill>
                <a:latin typeface="宋体" panose="02010600030101010101" pitchFamily="2" charset="-122"/>
                <a:ea typeface="宋体" panose="02010600030101010101" pitchFamily="2" charset="-122"/>
              </a:rPr>
              <a:t>绝对值</a:t>
            </a:r>
            <a:r>
              <a:rPr lang="zh-CN" altLang="en-US" sz="2400" b="1">
                <a:solidFill>
                  <a:srgbClr val="C00000"/>
                </a:solidFill>
                <a:latin typeface="宋体" panose="02010600030101010101" pitchFamily="2" charset="-122"/>
                <a:ea typeface="宋体" panose="02010600030101010101" pitchFamily="2" charset="-122"/>
              </a:rPr>
              <a:t>相加</a:t>
            </a:r>
            <a:r>
              <a:rPr lang="zh-CN" altLang="en-US"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defRPr/>
            </a:pPr>
            <a:r>
              <a:rPr lang="zh-CN" altLang="en-US" sz="2400" b="1">
                <a:latin typeface="宋体" panose="02010600030101010101" pitchFamily="2" charset="-122"/>
                <a:ea typeface="宋体" panose="02010600030101010101" pitchFamily="2" charset="-122"/>
              </a:rPr>
              <a:t>当</a:t>
            </a:r>
            <a:r>
              <a:rPr lang="zh-CN" altLang="en-US" sz="2400" b="1" dirty="0">
                <a:latin typeface="宋体" panose="02010600030101010101" pitchFamily="2" charset="-122"/>
                <a:ea typeface="宋体" panose="02010600030101010101" pitchFamily="2" charset="-122"/>
              </a:rPr>
              <a:t>系统误差的数目较大，并且各局部系统误差同时以最严重情况出现的机会较少时，这时可考虑用</a:t>
            </a:r>
            <a:r>
              <a:rPr lang="zh-CN" altLang="en-US" sz="2400" b="1" dirty="0">
                <a:solidFill>
                  <a:srgbClr val="C00000"/>
                </a:solidFill>
                <a:latin typeface="宋体" panose="02010600030101010101" pitchFamily="2" charset="-122"/>
                <a:ea typeface="宋体" panose="02010600030101010101" pitchFamily="2" charset="-122"/>
              </a:rPr>
              <a:t>偶然误差的传递公式</a:t>
            </a:r>
            <a:r>
              <a:rPr lang="zh-CN" altLang="en-US" sz="2400" b="1" dirty="0">
                <a:latin typeface="宋体" panose="02010600030101010101" pitchFamily="2" charset="-122"/>
                <a:ea typeface="宋体" panose="02010600030101010101" pitchFamily="2" charset="-122"/>
              </a:rPr>
              <a:t>，即用统计的方法处理系统误差。</a:t>
            </a:r>
          </a:p>
        </p:txBody>
      </p:sp>
      <p:sp>
        <p:nvSpPr>
          <p:cNvPr id="2" name="Slide Number Placeholder 1">
            <a:extLst>
              <a:ext uri="{FF2B5EF4-FFF2-40B4-BE49-F238E27FC236}">
                <a16:creationId xmlns:a16="http://schemas.microsoft.com/office/drawing/2014/main" id="{70C1C7AE-486C-488C-9D33-761912FE3F40}"/>
              </a:ext>
            </a:extLst>
          </p:cNvPr>
          <p:cNvSpPr>
            <a:spLocks noGrp="1"/>
          </p:cNvSpPr>
          <p:nvPr>
            <p:ph type="sldNum" sz="quarter" idx="12"/>
          </p:nvPr>
        </p:nvSpPr>
        <p:spPr/>
        <p:txBody>
          <a:bodyPr/>
          <a:lstStyle/>
          <a:p>
            <a:fld id="{DC11BA4E-7967-4102-867C-9D230A2E6791}" type="slidenum">
              <a:rPr lang="zh-CN" altLang="en-US" smtClean="0"/>
              <a:t>59</a:t>
            </a:fld>
            <a:endParaRPr lang="zh-CN" altLang="en-US"/>
          </a:p>
        </p:txBody>
      </p:sp>
    </p:spTree>
    <p:extLst>
      <p:ext uri="{BB962C8B-B14F-4D97-AF65-F5344CB8AC3E}">
        <p14:creationId xmlns:p14="http://schemas.microsoft.com/office/powerpoint/2010/main" val="17088895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571711" y="1835978"/>
            <a:ext cx="6340778" cy="3944126"/>
          </a:xfrm>
        </p:spPr>
        <p:txBody>
          <a:bodyPr>
            <a:noAutofit/>
          </a:bodyPr>
          <a:lstStyle/>
          <a:p>
            <a:pPr marL="0" indent="0" eaLnBrk="1" hangingPunct="1">
              <a:lnSpc>
                <a:spcPct val="200000"/>
              </a:lnSpc>
              <a:spcBef>
                <a:spcPts val="768"/>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 </a:t>
            </a:r>
            <a:r>
              <a:rPr lang="en-US" altLang="zh-CN" sz="2400" b="1" kern="1200" dirty="0">
                <a:latin typeface="宋体" panose="02010600030101010101" pitchFamily="2" charset="-122"/>
                <a:ea typeface="宋体" panose="02010600030101010101" pitchFamily="2" charset="-122"/>
                <a:cs typeface="Arial" panose="020B0604020202020204" pitchFamily="34" charset="0"/>
              </a:rPr>
              <a:t>(1)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有效数字及其表示方法</a:t>
            </a:r>
          </a:p>
          <a:p>
            <a:pPr marL="0" indent="0" eaLnBrk="1" hangingPunct="1">
              <a:lnSpc>
                <a:spcPct val="200000"/>
              </a:lnSpc>
              <a:spcBef>
                <a:spcPts val="768"/>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 </a:t>
            </a:r>
            <a:r>
              <a:rPr lang="en-US" altLang="zh-CN" sz="2400" b="1" kern="1200" dirty="0">
                <a:latin typeface="宋体" panose="02010600030101010101" pitchFamily="2" charset="-122"/>
                <a:ea typeface="宋体" panose="02010600030101010101" pitchFamily="2" charset="-122"/>
                <a:cs typeface="Arial" panose="020B0604020202020204" pitchFamily="34" charset="0"/>
              </a:rPr>
              <a:t>(2)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有效数字的化整规则</a:t>
            </a:r>
          </a:p>
          <a:p>
            <a:pPr marL="0" indent="0" eaLnBrk="1" hangingPunct="1">
              <a:lnSpc>
                <a:spcPct val="200000"/>
              </a:lnSpc>
              <a:spcBef>
                <a:spcPts val="768"/>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 </a:t>
            </a:r>
            <a:r>
              <a:rPr lang="en-US" altLang="zh-CN" sz="2400" b="1" kern="1200" dirty="0">
                <a:latin typeface="宋体" panose="02010600030101010101" pitchFamily="2" charset="-122"/>
                <a:ea typeface="宋体" panose="02010600030101010101" pitchFamily="2" charset="-122"/>
                <a:cs typeface="Arial" panose="020B0604020202020204" pitchFamily="34" charset="0"/>
              </a:rPr>
              <a:t>(3)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有效数字的运算规则 </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631825" eaLnBrk="1" hangingPunct="1">
              <a:lnSpc>
                <a:spcPct val="200000"/>
              </a:lnSpc>
              <a:spcBef>
                <a:spcPts val="768"/>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本小节内容过于基础，其他大学课程已介绍，此处不作详细讲解，具体</a:t>
            </a:r>
            <a:r>
              <a:rPr lang="zh-CN" altLang="en-US" sz="2400" b="1" kern="1200" dirty="0">
                <a:latin typeface="宋体" panose="02010600030101010101" pitchFamily="2" charset="-122"/>
                <a:ea typeface="宋体" panose="02010600030101010101" pitchFamily="2" charset="-122"/>
                <a:cs typeface="Arial" panose="020B0604020202020204" pitchFamily="34" charset="0"/>
              </a:rPr>
              <a:t>内容参见教材。</a:t>
            </a:r>
            <a:endParaRPr lang="zh-CN" altLang="en-US" sz="1800" b="1" kern="1200" dirty="0">
              <a:latin typeface="宋体" panose="02010600030101010101" pitchFamily="2" charset="-122"/>
              <a:ea typeface="宋体" panose="02010600030101010101" pitchFamily="2" charset="-122"/>
              <a:cs typeface="Arial" panose="020B0604020202020204" pitchFamily="34" charset="0"/>
            </a:endParaRP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rPr>
              <a:t>四</a:t>
            </a:r>
            <a:endParaRPr lang="en-US" altLang="zh-CN" sz="32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65000"/>
                  </a:schemeClr>
                </a:solidFill>
                <a:latin typeface="宋体" panose="02010600030101010101" pitchFamily="2" charset="-122"/>
                <a:ea typeface="宋体" panose="02010600030101010101" pitchFamily="2" charset="-122"/>
                <a:sym typeface="+mn-ea"/>
              </a:rPr>
              <a:t>有效数字及其计算法则</a:t>
            </a:r>
          </a:p>
        </p:txBody>
      </p:sp>
      <p:sp>
        <p:nvSpPr>
          <p:cNvPr id="2" name="Slide Number Placeholder 1">
            <a:extLst>
              <a:ext uri="{FF2B5EF4-FFF2-40B4-BE49-F238E27FC236}">
                <a16:creationId xmlns:a16="http://schemas.microsoft.com/office/drawing/2014/main" id="{91E3A0CA-7C44-450B-AC04-9D87A1F3937A}"/>
              </a:ext>
            </a:extLst>
          </p:cNvPr>
          <p:cNvSpPr>
            <a:spLocks noGrp="1"/>
          </p:cNvSpPr>
          <p:nvPr>
            <p:ph type="sldNum" sz="quarter" idx="12"/>
          </p:nvPr>
        </p:nvSpPr>
        <p:spPr/>
        <p:txBody>
          <a:bodyPr/>
          <a:lstStyle/>
          <a:p>
            <a:fld id="{DC11BA4E-7967-4102-867C-9D230A2E6791}" type="slidenum">
              <a:rPr lang="zh-CN" altLang="en-US" smtClean="0"/>
              <a:t>60</a:t>
            </a:fld>
            <a:endParaRPr lang="zh-CN" altLang="en-US"/>
          </a:p>
        </p:txBody>
      </p:sp>
    </p:spTree>
    <p:extLst>
      <p:ext uri="{BB962C8B-B14F-4D97-AF65-F5344CB8AC3E}">
        <p14:creationId xmlns:p14="http://schemas.microsoft.com/office/powerpoint/2010/main" val="12682485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2426447" y="1848746"/>
            <a:ext cx="5264647" cy="2189420"/>
          </a:xfrm>
        </p:spPr>
        <p:txBody>
          <a:bodyPr>
            <a:noAutofit/>
          </a:bodyPr>
          <a:lstStyle/>
          <a:p>
            <a:pPr marL="0" indent="0" eaLnBrk="1" hangingPunct="1">
              <a:lnSpc>
                <a:spcPct val="100000"/>
              </a:lnSpc>
              <a:spcBef>
                <a:spcPts val="768"/>
              </a:spcBef>
              <a:buNone/>
              <a:defRPr/>
            </a:pPr>
            <a:endPar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100000"/>
              </a:lnSpc>
              <a:spcBef>
                <a:spcPts val="768"/>
              </a:spcBef>
              <a:buNone/>
              <a:defRPr/>
            </a:pPr>
            <a:r>
              <a:rPr lang="en-US" altLang="zh-CN"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3" action="ppaction://hlinksldjump"/>
              </a:rPr>
              <a:t>1</a:t>
            </a:r>
            <a:r>
              <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3" action="ppaction://hlinksldjump"/>
              </a:rPr>
              <a:t>．单回归分析</a:t>
            </a:r>
            <a:endPar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100000"/>
              </a:lnSpc>
              <a:spcBef>
                <a:spcPts val="768"/>
              </a:spcBef>
              <a:buNone/>
              <a:defRPr/>
            </a:pPr>
            <a:endPar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100000"/>
              </a:lnSpc>
              <a:spcBef>
                <a:spcPts val="768"/>
              </a:spcBef>
              <a:buNone/>
              <a:defRPr/>
            </a:pPr>
            <a:r>
              <a:rPr lang="en-US" altLang="zh-CN"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4" action="ppaction://hlinksldjump"/>
              </a:rPr>
              <a:t>2</a:t>
            </a:r>
            <a:r>
              <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4" action="ppaction://hlinksldjump"/>
              </a:rPr>
              <a:t>．一般线性回归分析</a:t>
            </a:r>
            <a:endParaRPr lang="zh-CN" altLang="en-US" sz="2000"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矩形 26"/>
          <p:cNvSpPr/>
          <p:nvPr/>
        </p:nvSpPr>
        <p:spPr>
          <a:xfrm>
            <a:off x="1960201" y="329520"/>
            <a:ext cx="674895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实验数据方程表示法</a:t>
            </a:r>
            <a:r>
              <a:rPr lang="en-US" altLang="zh-CN" sz="3400" b="1" dirty="0">
                <a:solidFill>
                  <a:schemeClr val="bg1"/>
                </a:solidFill>
                <a:latin typeface="宋体" panose="02010600030101010101" pitchFamily="2" charset="-122"/>
                <a:ea typeface="宋体" panose="02010600030101010101" pitchFamily="2" charset="-122"/>
                <a:sym typeface="+mn-ea"/>
              </a:rPr>
              <a:t>——</a:t>
            </a:r>
            <a:r>
              <a:rPr lang="zh-CN" altLang="en-US" sz="3400" b="1" dirty="0">
                <a:solidFill>
                  <a:schemeClr val="bg1"/>
                </a:solidFill>
                <a:latin typeface="宋体" panose="02010600030101010101" pitchFamily="2" charset="-122"/>
                <a:ea typeface="宋体" panose="02010600030101010101" pitchFamily="2" charset="-122"/>
                <a:sym typeface="+mn-ea"/>
              </a:rPr>
              <a:t>回归分析</a:t>
            </a:r>
          </a:p>
        </p:txBody>
      </p:sp>
      <p:sp>
        <p:nvSpPr>
          <p:cNvPr id="38" name="圆角矩形 3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五</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 name="Slide Number Placeholder 2">
            <a:extLst>
              <a:ext uri="{FF2B5EF4-FFF2-40B4-BE49-F238E27FC236}">
                <a16:creationId xmlns:a16="http://schemas.microsoft.com/office/drawing/2014/main" id="{5F07DC96-B4DC-42C3-8CBD-6365E2644C07}"/>
              </a:ext>
            </a:extLst>
          </p:cNvPr>
          <p:cNvSpPr>
            <a:spLocks noGrp="1"/>
          </p:cNvSpPr>
          <p:nvPr>
            <p:ph type="sldNum" sz="quarter" idx="12"/>
          </p:nvPr>
        </p:nvSpPr>
        <p:spPr/>
        <p:txBody>
          <a:bodyPr/>
          <a:lstStyle/>
          <a:p>
            <a:fld id="{DC11BA4E-7967-4102-867C-9D230A2E6791}" type="slidenum">
              <a:rPr lang="zh-CN" altLang="en-US" smtClean="0"/>
              <a:t>61</a:t>
            </a:fld>
            <a:endParaRPr lang="zh-CN" altLang="en-US"/>
          </a:p>
        </p:txBody>
      </p:sp>
    </p:spTree>
    <p:extLst>
      <p:ext uri="{BB962C8B-B14F-4D97-AF65-F5344CB8AC3E}">
        <p14:creationId xmlns:p14="http://schemas.microsoft.com/office/powerpoint/2010/main" val="25832901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矩形 26"/>
          <p:cNvSpPr/>
          <p:nvPr/>
        </p:nvSpPr>
        <p:spPr>
          <a:xfrm>
            <a:off x="1960201" y="329520"/>
            <a:ext cx="674895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实验数据方程表示法</a:t>
            </a:r>
            <a:r>
              <a:rPr lang="en-US" altLang="zh-CN" sz="3400" b="1" dirty="0">
                <a:solidFill>
                  <a:schemeClr val="bg1"/>
                </a:solidFill>
                <a:latin typeface="宋体" panose="02010600030101010101" pitchFamily="2" charset="-122"/>
                <a:ea typeface="宋体" panose="02010600030101010101" pitchFamily="2" charset="-122"/>
                <a:sym typeface="+mn-ea"/>
              </a:rPr>
              <a:t>——</a:t>
            </a:r>
            <a:r>
              <a:rPr lang="zh-CN" altLang="en-US" sz="3400" b="1" dirty="0">
                <a:solidFill>
                  <a:schemeClr val="bg1"/>
                </a:solidFill>
                <a:latin typeface="宋体" panose="02010600030101010101" pitchFamily="2" charset="-122"/>
                <a:ea typeface="宋体" panose="02010600030101010101" pitchFamily="2" charset="-122"/>
                <a:sym typeface="+mn-ea"/>
              </a:rPr>
              <a:t>回归分析</a:t>
            </a:r>
          </a:p>
        </p:txBody>
      </p:sp>
      <p:sp>
        <p:nvSpPr>
          <p:cNvPr id="38" name="圆角矩形 3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五</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5" name="Rectangle 3"/>
          <p:cNvSpPr>
            <a:spLocks noRot="1" noChangeArrowheads="1"/>
          </p:cNvSpPr>
          <p:nvPr/>
        </p:nvSpPr>
        <p:spPr bwMode="auto">
          <a:xfrm>
            <a:off x="503489" y="1359455"/>
            <a:ext cx="801186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800">
                <a:solidFill>
                  <a:srgbClr val="FF0000"/>
                </a:solidFill>
                <a:latin typeface="宋体" panose="02010600030101010101" pitchFamily="2" charset="-122"/>
              </a:rPr>
              <a:t>1</a:t>
            </a:r>
            <a:r>
              <a:rPr lang="zh-CN" altLang="en-US" sz="2800" dirty="0">
                <a:solidFill>
                  <a:srgbClr val="FF0000"/>
                </a:solidFill>
                <a:latin typeface="宋体" panose="02010600030101010101" pitchFamily="2" charset="-122"/>
              </a:rPr>
              <a:t>．单回归分析</a:t>
            </a:r>
          </a:p>
          <a:p>
            <a:pPr marL="0" indent="631825" eaLnBrk="1" hangingPunct="1">
              <a:lnSpc>
                <a:spcPct val="150000"/>
              </a:lnSpc>
            </a:pPr>
            <a:r>
              <a:rPr lang="zh-CN" altLang="en-US" sz="2400">
                <a:solidFill>
                  <a:schemeClr val="tx1"/>
                </a:solidFill>
                <a:latin typeface="Times New Roman" panose="02020603050405020304" pitchFamily="18" charset="0"/>
                <a:cs typeface="Times New Roman" panose="02020603050405020304" pitchFamily="18" charset="0"/>
              </a:rPr>
              <a:t>在</a:t>
            </a:r>
            <a:r>
              <a:rPr lang="zh-CN" altLang="en-US" sz="2400" dirty="0">
                <a:solidFill>
                  <a:schemeClr val="tx1"/>
                </a:solidFill>
                <a:latin typeface="Times New Roman" panose="02020603050405020304" pitchFamily="18" charset="0"/>
                <a:cs typeface="Times New Roman" panose="02020603050405020304" pitchFamily="18" charset="0"/>
              </a:rPr>
              <a:t>线性回归分析中，当只有</a:t>
            </a:r>
            <a:r>
              <a:rPr lang="zh-CN" altLang="en-US" sz="2400" dirty="0">
                <a:solidFill>
                  <a:srgbClr val="0000FF"/>
                </a:solidFill>
                <a:latin typeface="Times New Roman" panose="02020603050405020304" pitchFamily="18" charset="0"/>
                <a:cs typeface="Times New Roman" panose="02020603050405020304" pitchFamily="18" charset="0"/>
              </a:rPr>
              <a:t>一个独立变量</a:t>
            </a:r>
            <a:r>
              <a:rPr lang="zh-CN" altLang="en-US" sz="2400" dirty="0">
                <a:solidFill>
                  <a:schemeClr val="tx1"/>
                </a:solidFill>
                <a:latin typeface="Times New Roman" panose="02020603050405020304" pitchFamily="18" charset="0"/>
                <a:cs typeface="Times New Roman" panose="02020603050405020304" pitchFamily="18" charset="0"/>
              </a:rPr>
              <a:t>时，即函数关系是 </a:t>
            </a:r>
            <a:r>
              <a:rPr lang="en-US" altLang="zh-CN" sz="2400" b="0" i="1" dirty="0">
                <a:solidFill>
                  <a:schemeClr val="tx1"/>
                </a:solidFill>
                <a:latin typeface="Times New Roman" panose="02020603050405020304" pitchFamily="18" charset="0"/>
                <a:cs typeface="Times New Roman" panose="02020603050405020304" pitchFamily="18" charset="0"/>
              </a:rPr>
              <a:t>y</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β</a:t>
            </a:r>
            <a:r>
              <a:rPr lang="en-US" altLang="zh-CN" sz="2400" b="0" baseline="-25000" dirty="0">
                <a:solidFill>
                  <a:schemeClr val="tx1"/>
                </a:solidFill>
                <a:latin typeface="Times New Roman" panose="02020603050405020304" pitchFamily="18" charset="0"/>
                <a:cs typeface="Times New Roman" panose="02020603050405020304" pitchFamily="18" charset="0"/>
              </a:rPr>
              <a:t>0</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β</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zh-CN" altLang="en-US" sz="2400" dirty="0">
                <a:solidFill>
                  <a:schemeClr val="tx1"/>
                </a:solidFill>
                <a:latin typeface="Times New Roman" panose="02020603050405020304" pitchFamily="18" charset="0"/>
                <a:cs typeface="Times New Roman" panose="02020603050405020304" pitchFamily="18" charset="0"/>
              </a:rPr>
              <a:t>。</a:t>
            </a:r>
            <a:endParaRPr lang="en-US" altLang="zh-CN" sz="2400" dirty="0">
              <a:solidFill>
                <a:schemeClr val="tx1"/>
              </a:solidFill>
              <a:latin typeface="Times New Roman" panose="02020603050405020304" pitchFamily="18" charset="0"/>
              <a:cs typeface="Times New Roman" panose="02020603050405020304" pitchFamily="18" charset="0"/>
            </a:endParaRPr>
          </a:p>
          <a:p>
            <a:pPr marL="0" indent="6318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设用符号</a:t>
            </a:r>
            <a:r>
              <a:rPr lang="en-US" altLang="zh-CN" sz="240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l</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y</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y</a:t>
            </a:r>
            <a:r>
              <a:rPr lang="en-US" altLang="zh-CN" sz="2400" b="0" baseline="-25000" dirty="0">
                <a:solidFill>
                  <a:schemeClr val="tx1"/>
                </a:solidFill>
                <a:latin typeface="Times New Roman" panose="02020603050405020304" pitchFamily="18" charset="0"/>
                <a:cs typeface="Times New Roman" panose="02020603050405020304" pitchFamily="18" charset="0"/>
              </a:rPr>
              <a:t>2</a:t>
            </a:r>
            <a:r>
              <a:rPr lang="en-US" altLang="zh-CN" sz="2400" dirty="0">
                <a:solidFill>
                  <a:schemeClr val="tx1"/>
                </a:solidFill>
                <a:latin typeface="Times New Roman" panose="02020603050405020304" pitchFamily="18" charset="0"/>
                <a:cs typeface="Times New Roman" panose="02020603050405020304" pitchFamily="18" charset="0"/>
              </a:rPr>
              <a:t>) , …, (</a:t>
            </a:r>
            <a:r>
              <a:rPr lang="en-US" altLang="zh-CN" sz="2400" b="0" i="1" dirty="0" err="1">
                <a:solidFill>
                  <a:schemeClr val="tx1"/>
                </a:solidFill>
                <a:latin typeface="Times New Roman" panose="02020603050405020304" pitchFamily="18" charset="0"/>
                <a:cs typeface="Times New Roman" panose="02020603050405020304" pitchFamily="18" charset="0"/>
              </a:rPr>
              <a:t>x</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n</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b="0" i="1" dirty="0" err="1">
                <a:solidFill>
                  <a:schemeClr val="tx1"/>
                </a:solidFill>
                <a:latin typeface="Times New Roman" panose="02020603050405020304" pitchFamily="18" charset="0"/>
                <a:cs typeface="Times New Roman" panose="02020603050405020304" pitchFamily="18" charset="0"/>
              </a:rPr>
              <a:t>y</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n</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表示</a:t>
            </a:r>
            <a:r>
              <a:rPr lang="en-US" altLang="zh-CN" sz="2400" b="0" i="1" dirty="0">
                <a:solidFill>
                  <a:schemeClr val="tx1"/>
                </a:solidFill>
                <a:latin typeface="Times New Roman" panose="02020603050405020304" pitchFamily="18" charset="0"/>
                <a:cs typeface="Times New Roman" panose="02020603050405020304" pitchFamily="18" charset="0"/>
              </a:rPr>
              <a:t>n</a:t>
            </a:r>
            <a:r>
              <a:rPr lang="zh-CN" altLang="en-US" sz="2400" dirty="0">
                <a:solidFill>
                  <a:schemeClr val="tx1"/>
                </a:solidFill>
                <a:latin typeface="Times New Roman" panose="02020603050405020304" pitchFamily="18" charset="0"/>
                <a:cs typeface="Times New Roman" panose="02020603050405020304" pitchFamily="18" charset="0"/>
              </a:rPr>
              <a:t>组测量值。由于测量仪表存在误差，使得测量值</a:t>
            </a:r>
            <a:r>
              <a:rPr lang="en-US" altLang="zh-CN" sz="240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i="1" baseline="-25000" dirty="0">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b="0" i="1" dirty="0" err="1">
                <a:solidFill>
                  <a:schemeClr val="tx1"/>
                </a:solidFill>
                <a:latin typeface="Times New Roman" panose="02020603050405020304" pitchFamily="18" charset="0"/>
                <a:cs typeface="Times New Roman" panose="02020603050405020304" pitchFamily="18" charset="0"/>
              </a:rPr>
              <a:t>y</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i</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必然含有误差。因此，测量值</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i="1" baseline="-25000" dirty="0">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与</a:t>
            </a:r>
            <a:r>
              <a:rPr lang="en-US" altLang="zh-CN" sz="2400" b="0" i="1" dirty="0" err="1">
                <a:solidFill>
                  <a:schemeClr val="tx1"/>
                </a:solidFill>
                <a:latin typeface="Times New Roman" panose="02020603050405020304" pitchFamily="18" charset="0"/>
                <a:cs typeface="Times New Roman" panose="02020603050405020304" pitchFamily="18" charset="0"/>
              </a:rPr>
              <a:t>y</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之间的函数关系可表示为</a:t>
            </a:r>
            <a:endParaRPr lang="en-US" altLang="zh-CN" sz="2400" dirty="0">
              <a:solidFill>
                <a:schemeClr val="tx1"/>
              </a:solidFill>
              <a:latin typeface="Times New Roman" panose="02020603050405020304" pitchFamily="18" charset="0"/>
              <a:cs typeface="Times New Roman" panose="02020603050405020304" pitchFamily="18" charset="0"/>
            </a:endParaRPr>
          </a:p>
          <a:p>
            <a:pPr marL="0" indent="1168400"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  </a:t>
            </a:r>
            <a:r>
              <a:rPr lang="en-US" altLang="zh-CN" sz="2400" b="0" i="1" dirty="0" err="1">
                <a:solidFill>
                  <a:schemeClr val="tx1"/>
                </a:solidFill>
                <a:latin typeface="Times New Roman" panose="02020603050405020304" pitchFamily="18" charset="0"/>
                <a:cs typeface="Times New Roman" panose="02020603050405020304" pitchFamily="18" charset="0"/>
              </a:rPr>
              <a:t>y</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i</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β</a:t>
            </a:r>
            <a:r>
              <a:rPr lang="en-US" altLang="zh-CN" sz="2400" b="0" baseline="-25000" dirty="0">
                <a:solidFill>
                  <a:schemeClr val="tx1"/>
                </a:solidFill>
                <a:latin typeface="Times New Roman" panose="02020603050405020304" pitchFamily="18" charset="0"/>
                <a:cs typeface="Times New Roman" panose="02020603050405020304" pitchFamily="18" charset="0"/>
              </a:rPr>
              <a:t>0</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β</a:t>
            </a:r>
            <a:r>
              <a:rPr lang="en-US" altLang="zh-CN" sz="2400" b="0" baseline="-25000" dirty="0">
                <a:solidFill>
                  <a:schemeClr val="tx1"/>
                </a:solidFill>
                <a:latin typeface="Times New Roman" panose="02020603050405020304" pitchFamily="18" charset="0"/>
                <a:cs typeface="Times New Roman" panose="02020603050405020304" pitchFamily="18" charset="0"/>
              </a:rPr>
              <a:t>1</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baseline="-25000" dirty="0">
                <a:solidFill>
                  <a:schemeClr val="tx1"/>
                </a:solidFill>
                <a:latin typeface="Times New Roman" panose="02020603050405020304" pitchFamily="18" charset="0"/>
                <a:cs typeface="Times New Roman" panose="02020603050405020304" pitchFamily="18" charset="0"/>
              </a:rPr>
              <a:t>1 </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v</a:t>
            </a:r>
            <a:r>
              <a:rPr lang="en-US" altLang="zh-CN" sz="2400" b="0" i="1" baseline="-25000" dirty="0">
                <a:solidFill>
                  <a:schemeClr val="tx1"/>
                </a:solidFill>
                <a:latin typeface="Times New Roman" panose="02020603050405020304" pitchFamily="18" charset="0"/>
                <a:cs typeface="Times New Roman" panose="02020603050405020304" pitchFamily="18" charset="0"/>
              </a:rPr>
              <a:t>i</a:t>
            </a:r>
            <a:r>
              <a:rPr lang="en-US" altLang="zh-CN" sz="2400" b="0" dirty="0">
                <a:solidFill>
                  <a:schemeClr val="tx1"/>
                </a:solidFill>
                <a:latin typeface="Times New Roman" panose="02020603050405020304" pitchFamily="18" charset="0"/>
                <a:cs typeface="Times New Roman" panose="02020603050405020304" pitchFamily="18" charset="0"/>
              </a:rPr>
              <a:t>       </a:t>
            </a:r>
            <a:r>
              <a:rPr lang="en-US" altLang="zh-CN" sz="2400" dirty="0">
                <a:solidFill>
                  <a:schemeClr val="tx1"/>
                </a:solidFill>
                <a:latin typeface="Times New Roman" panose="02020603050405020304" pitchFamily="18" charset="0"/>
                <a:cs typeface="Times New Roman" panose="02020603050405020304" pitchFamily="18" charset="0"/>
              </a:rPr>
              <a:t>(</a:t>
            </a:r>
            <a:r>
              <a:rPr lang="en-US" altLang="zh-CN" sz="2400" b="0" i="1" dirty="0" err="1">
                <a:solidFill>
                  <a:schemeClr val="tx1"/>
                </a:solidFill>
                <a:latin typeface="Times New Roman" panose="02020603050405020304" pitchFamily="18" charset="0"/>
                <a:cs typeface="Times New Roman" panose="02020603050405020304" pitchFamily="18" charset="0"/>
              </a:rPr>
              <a:t>i</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b="0" dirty="0">
                <a:solidFill>
                  <a:schemeClr val="tx1"/>
                </a:solidFill>
                <a:latin typeface="Times New Roman" panose="02020603050405020304" pitchFamily="18" charset="0"/>
                <a:cs typeface="Times New Roman" panose="02020603050405020304" pitchFamily="18" charset="0"/>
              </a:rPr>
              <a:t>1</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b="0" dirty="0">
                <a:solidFill>
                  <a:schemeClr val="tx1"/>
                </a:solidFill>
                <a:latin typeface="Times New Roman" panose="02020603050405020304" pitchFamily="18" charset="0"/>
                <a:cs typeface="Times New Roman" panose="02020603050405020304" pitchFamily="18" charset="0"/>
              </a:rPr>
              <a:t>2</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dirty="0">
                <a:solidFill>
                  <a:schemeClr val="tx1"/>
                </a:solidFill>
                <a:latin typeface="Times New Roman" panose="02020603050405020304" pitchFamily="18" charset="0"/>
                <a:cs typeface="Times New Roman" panose="02020603050405020304" pitchFamily="18" charset="0"/>
              </a:rPr>
              <a:t>…</a:t>
            </a:r>
            <a:r>
              <a:rPr lang="en-US" altLang="zh-CN" sz="2400" b="0" i="1" dirty="0">
                <a:solidFill>
                  <a:schemeClr val="tx1"/>
                </a:solidFill>
                <a:latin typeface="Times New Roman" panose="02020603050405020304" pitchFamily="18" charset="0"/>
                <a:cs typeface="Times New Roman" panose="02020603050405020304" pitchFamily="18" charset="0"/>
              </a:rPr>
              <a:t>n</a:t>
            </a:r>
            <a:r>
              <a:rPr lang="en-US" altLang="zh-CN" sz="2400" dirty="0">
                <a:solidFill>
                  <a:schemeClr val="tx1"/>
                </a:solidFill>
                <a:latin typeface="Times New Roman" panose="02020603050405020304" pitchFamily="18" charset="0"/>
                <a:cs typeface="Times New Roman" panose="02020603050405020304" pitchFamily="18" charset="0"/>
              </a:rPr>
              <a:t>)</a:t>
            </a:r>
          </a:p>
          <a:p>
            <a:pPr marL="0" indent="6318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式中，</a:t>
            </a:r>
            <a:r>
              <a:rPr lang="en-US" altLang="zh-CN" sz="2400" b="0" i="1" dirty="0">
                <a:solidFill>
                  <a:schemeClr val="tx1"/>
                </a:solidFill>
                <a:latin typeface="Times New Roman" panose="02020603050405020304" pitchFamily="18" charset="0"/>
                <a:cs typeface="Times New Roman" panose="02020603050405020304" pitchFamily="18" charset="0"/>
              </a:rPr>
              <a:t>v</a:t>
            </a:r>
            <a:r>
              <a:rPr lang="en-US" altLang="zh-CN" sz="2400" b="0" i="1" baseline="-25000" dirty="0">
                <a:solidFill>
                  <a:schemeClr val="tx1"/>
                </a:solidFill>
                <a:latin typeface="Times New Roman" panose="02020603050405020304" pitchFamily="18" charset="0"/>
                <a:cs typeface="Times New Roman" panose="02020603050405020304" pitchFamily="18" charset="0"/>
              </a:rPr>
              <a:t>i</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rgbClr val="0000FF"/>
                </a:solidFill>
                <a:latin typeface="Times New Roman" panose="02020603050405020304" pitchFamily="18" charset="0"/>
                <a:cs typeface="Times New Roman" panose="02020603050405020304" pitchFamily="18" charset="0"/>
              </a:rPr>
              <a:t>残差</a:t>
            </a:r>
            <a:r>
              <a:rPr lang="zh-CN" altLang="en-US" sz="2400" dirty="0">
                <a:solidFill>
                  <a:schemeClr val="tx1"/>
                </a:solidFill>
                <a:latin typeface="Times New Roman" panose="02020603050405020304" pitchFamily="18" charset="0"/>
                <a:cs typeface="Times New Roman" panose="02020603050405020304" pitchFamily="18" charset="0"/>
              </a:rPr>
              <a:t>（即剩余误差）。</a:t>
            </a:r>
          </a:p>
        </p:txBody>
      </p:sp>
      <p:sp>
        <p:nvSpPr>
          <p:cNvPr id="2" name="Slide Number Placeholder 1">
            <a:extLst>
              <a:ext uri="{FF2B5EF4-FFF2-40B4-BE49-F238E27FC236}">
                <a16:creationId xmlns:a16="http://schemas.microsoft.com/office/drawing/2014/main" id="{6DE57FAA-33D8-433D-8CAB-D5ECB74D7D9E}"/>
              </a:ext>
            </a:extLst>
          </p:cNvPr>
          <p:cNvSpPr>
            <a:spLocks noGrp="1"/>
          </p:cNvSpPr>
          <p:nvPr>
            <p:ph type="sldNum" sz="quarter" idx="12"/>
          </p:nvPr>
        </p:nvSpPr>
        <p:spPr/>
        <p:txBody>
          <a:bodyPr/>
          <a:lstStyle/>
          <a:p>
            <a:fld id="{DC11BA4E-7967-4102-867C-9D230A2E6791}" type="slidenum">
              <a:rPr lang="zh-CN" altLang="en-US" smtClean="0"/>
              <a:t>62</a:t>
            </a:fld>
            <a:endParaRPr lang="zh-CN" altLang="en-US"/>
          </a:p>
        </p:txBody>
      </p:sp>
    </p:spTree>
    <p:extLst>
      <p:ext uri="{BB962C8B-B14F-4D97-AF65-F5344CB8AC3E}">
        <p14:creationId xmlns:p14="http://schemas.microsoft.com/office/powerpoint/2010/main" val="296422838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1" name="矩形 30"/>
          <p:cNvSpPr/>
          <p:nvPr/>
        </p:nvSpPr>
        <p:spPr>
          <a:xfrm>
            <a:off x="1960201" y="329520"/>
            <a:ext cx="674895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实验数据方程表示法</a:t>
            </a:r>
            <a:r>
              <a:rPr lang="en-US" altLang="zh-CN" sz="3400" b="1" dirty="0">
                <a:solidFill>
                  <a:schemeClr val="bg1"/>
                </a:solidFill>
                <a:latin typeface="宋体" panose="02010600030101010101" pitchFamily="2" charset="-122"/>
                <a:ea typeface="宋体" panose="02010600030101010101" pitchFamily="2" charset="-122"/>
                <a:sym typeface="+mn-ea"/>
              </a:rPr>
              <a:t>——</a:t>
            </a:r>
            <a:r>
              <a:rPr lang="zh-CN" altLang="en-US" sz="3400" b="1" dirty="0">
                <a:solidFill>
                  <a:schemeClr val="bg1"/>
                </a:solidFill>
                <a:latin typeface="宋体" panose="02010600030101010101" pitchFamily="2" charset="-122"/>
                <a:ea typeface="宋体" panose="02010600030101010101" pitchFamily="2" charset="-122"/>
                <a:sym typeface="+mn-ea"/>
              </a:rPr>
              <a:t>回归分析</a:t>
            </a:r>
          </a:p>
        </p:txBody>
      </p:sp>
      <p:sp>
        <p:nvSpPr>
          <p:cNvPr id="42" name="圆角矩形 41"/>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五</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30" name="Rectangle 3"/>
          <p:cNvSpPr>
            <a:spLocks noRot="1" noChangeArrowheads="1"/>
          </p:cNvSpPr>
          <p:nvPr/>
        </p:nvSpPr>
        <p:spPr bwMode="auto">
          <a:xfrm>
            <a:off x="579571" y="1378240"/>
            <a:ext cx="4932776" cy="1020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r>
              <a:rPr lang="en-US" altLang="zh-CN" sz="2800" dirty="0">
                <a:solidFill>
                  <a:srgbClr val="FF0000"/>
                </a:solidFill>
                <a:latin typeface="宋体" panose="02010600030101010101" pitchFamily="2" charset="-122"/>
              </a:rPr>
              <a:t>1</a:t>
            </a:r>
            <a:r>
              <a:rPr lang="zh-CN" altLang="en-US" sz="2800" dirty="0">
                <a:solidFill>
                  <a:srgbClr val="FF0000"/>
                </a:solidFill>
                <a:latin typeface="宋体" panose="02010600030101010101" pitchFamily="2" charset="-122"/>
              </a:rPr>
              <a:t>．单回归分析</a:t>
            </a:r>
          </a:p>
          <a:p>
            <a:pPr eaLnBrk="1" hangingPunct="1"/>
            <a:r>
              <a:rPr lang="zh-CN" altLang="en-US" sz="2600" dirty="0">
                <a:solidFill>
                  <a:schemeClr val="tx1"/>
                </a:solidFill>
                <a:latin typeface="宋体" panose="02010600030101010101" pitchFamily="2" charset="-122"/>
              </a:rPr>
              <a:t>  移项后可得到残差</a:t>
            </a:r>
            <a:r>
              <a:rPr lang="en-US" altLang="zh-CN" sz="2600" b="0" i="1" dirty="0">
                <a:solidFill>
                  <a:schemeClr val="tx1"/>
                </a:solidFill>
                <a:latin typeface="Times New Roman" panose="02020603050405020304" pitchFamily="18" charset="0"/>
              </a:rPr>
              <a:t>v</a:t>
            </a:r>
            <a:r>
              <a:rPr lang="en-US" altLang="zh-CN" sz="2600" b="0" i="1" baseline="-25000" dirty="0">
                <a:solidFill>
                  <a:schemeClr val="tx1"/>
                </a:solidFill>
                <a:latin typeface="Times New Roman" panose="02020603050405020304" pitchFamily="18" charset="0"/>
              </a:rPr>
              <a:t>i</a:t>
            </a:r>
            <a:r>
              <a:rPr lang="zh-CN" altLang="en-US" sz="2600" dirty="0">
                <a:solidFill>
                  <a:schemeClr val="tx1"/>
                </a:solidFill>
                <a:latin typeface="宋体" panose="02010600030101010101" pitchFamily="2" charset="-122"/>
              </a:rPr>
              <a:t>的表达式</a:t>
            </a:r>
          </a:p>
        </p:txBody>
      </p:sp>
      <p:graphicFrame>
        <p:nvGraphicFramePr>
          <p:cNvPr id="43" name="Object 21"/>
          <p:cNvGraphicFramePr>
            <a:graphicFrameLocks noChangeAspect="1"/>
          </p:cNvGraphicFramePr>
          <p:nvPr>
            <p:extLst>
              <p:ext uri="{D42A27DB-BD31-4B8C-83A1-F6EECF244321}">
                <p14:modId xmlns:p14="http://schemas.microsoft.com/office/powerpoint/2010/main" val="3880919528"/>
              </p:ext>
            </p:extLst>
          </p:nvPr>
        </p:nvGraphicFramePr>
        <p:xfrm>
          <a:off x="3353531" y="2445687"/>
          <a:ext cx="4114646" cy="800100"/>
        </p:xfrm>
        <a:graphic>
          <a:graphicData uri="http://schemas.openxmlformats.org/presentationml/2006/ole">
            <mc:AlternateContent xmlns:mc="http://schemas.openxmlformats.org/markup-compatibility/2006">
              <mc:Choice xmlns:v="urn:schemas-microsoft-com:vml" Requires="v">
                <p:oleObj name="公式" r:id="rId3" imgW="2057323" imgH="400050" progId="Equation.3">
                  <p:embed/>
                </p:oleObj>
              </mc:Choice>
              <mc:Fallback>
                <p:oleObj name="公式" r:id="rId3" imgW="2057323" imgH="400050" progId="Equation.3">
                  <p:embed/>
                  <p:pic>
                    <p:nvPicPr>
                      <p:cNvPr id="281621"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3531" y="2445687"/>
                        <a:ext cx="4114646" cy="800100"/>
                      </a:xfrm>
                      <a:prstGeom prst="rect">
                        <a:avLst/>
                      </a:prstGeom>
                      <a:noFill/>
                      <a:ln>
                        <a:noFill/>
                      </a:ln>
                      <a:effectLst/>
                    </p:spPr>
                  </p:pic>
                </p:oleObj>
              </mc:Fallback>
            </mc:AlternateContent>
          </a:graphicData>
        </a:graphic>
      </p:graphicFrame>
      <p:graphicFrame>
        <p:nvGraphicFramePr>
          <p:cNvPr id="44" name="Object 22"/>
          <p:cNvGraphicFramePr>
            <a:graphicFrameLocks noChangeAspect="1"/>
          </p:cNvGraphicFramePr>
          <p:nvPr>
            <p:extLst>
              <p:ext uri="{D42A27DB-BD31-4B8C-83A1-F6EECF244321}">
                <p14:modId xmlns:p14="http://schemas.microsoft.com/office/powerpoint/2010/main" val="1321163037"/>
              </p:ext>
            </p:extLst>
          </p:nvPr>
        </p:nvGraphicFramePr>
        <p:xfrm>
          <a:off x="3316894" y="3317039"/>
          <a:ext cx="5031240" cy="1628555"/>
        </p:xfrm>
        <a:graphic>
          <a:graphicData uri="http://schemas.openxmlformats.org/presentationml/2006/ole">
            <mc:AlternateContent xmlns:mc="http://schemas.openxmlformats.org/markup-compatibility/2006">
              <mc:Choice xmlns:v="urn:schemas-microsoft-com:vml" Requires="v">
                <p:oleObj name="Equation" r:id="rId5" imgW="2648021" imgH="857134" progId="Equation.3">
                  <p:embed/>
                </p:oleObj>
              </mc:Choice>
              <mc:Fallback>
                <p:oleObj name="Equation" r:id="rId5" imgW="2648021" imgH="857134" progId="Equation.3">
                  <p:embed/>
                  <p:pic>
                    <p:nvPicPr>
                      <p:cNvPr id="281622"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6894" y="3317039"/>
                        <a:ext cx="5031240" cy="1628555"/>
                      </a:xfrm>
                      <a:prstGeom prst="rect">
                        <a:avLst/>
                      </a:prstGeom>
                      <a:noFill/>
                      <a:ln>
                        <a:noFill/>
                      </a:ln>
                      <a:effectLst/>
                    </p:spPr>
                  </p:pic>
                </p:oleObj>
              </mc:Fallback>
            </mc:AlternateContent>
          </a:graphicData>
        </a:graphic>
      </p:graphicFrame>
      <p:graphicFrame>
        <p:nvGraphicFramePr>
          <p:cNvPr id="45" name="Object 24"/>
          <p:cNvGraphicFramePr>
            <a:graphicFrameLocks noChangeAspect="1"/>
          </p:cNvGraphicFramePr>
          <p:nvPr>
            <p:extLst>
              <p:ext uri="{D42A27DB-BD31-4B8C-83A1-F6EECF244321}">
                <p14:modId xmlns:p14="http://schemas.microsoft.com/office/powerpoint/2010/main" val="3570624115"/>
              </p:ext>
            </p:extLst>
          </p:nvPr>
        </p:nvGraphicFramePr>
        <p:xfrm>
          <a:off x="1109374" y="5319649"/>
          <a:ext cx="2821305" cy="715772"/>
        </p:xfrm>
        <a:graphic>
          <a:graphicData uri="http://schemas.openxmlformats.org/presentationml/2006/ole">
            <mc:AlternateContent xmlns:mc="http://schemas.openxmlformats.org/markup-compatibility/2006">
              <mc:Choice xmlns:v="urn:schemas-microsoft-com:vml" Requires="v">
                <p:oleObj name="公式" r:id="rId7" imgW="1866600" imgH="444240" progId="Equation.3">
                  <p:embed/>
                </p:oleObj>
              </mc:Choice>
              <mc:Fallback>
                <p:oleObj name="公式" r:id="rId7" imgW="1866600" imgH="444240" progId="Equation.3">
                  <p:embed/>
                  <p:pic>
                    <p:nvPicPr>
                      <p:cNvPr id="281624" name="Object 24"/>
                      <p:cNvPicPr>
                        <a:picLocks noChangeAspect="1" noChangeArrowheads="1"/>
                      </p:cNvPicPr>
                      <p:nvPr/>
                    </p:nvPicPr>
                    <p:blipFill>
                      <a:blip r:embed="rId8"/>
                      <a:srcRect/>
                      <a:stretch>
                        <a:fillRect/>
                      </a:stretch>
                    </p:blipFill>
                    <p:spPr bwMode="auto">
                      <a:xfrm>
                        <a:off x="1109374" y="5319649"/>
                        <a:ext cx="2821305" cy="715772"/>
                      </a:xfrm>
                      <a:prstGeom prst="rect">
                        <a:avLst/>
                      </a:prstGeom>
                      <a:noFill/>
                      <a:ln>
                        <a:noFill/>
                      </a:ln>
                      <a:effectLst/>
                    </p:spPr>
                  </p:pic>
                </p:oleObj>
              </mc:Fallback>
            </mc:AlternateContent>
          </a:graphicData>
        </a:graphic>
      </p:graphicFrame>
      <p:graphicFrame>
        <p:nvGraphicFramePr>
          <p:cNvPr id="46" name="Object 25"/>
          <p:cNvGraphicFramePr>
            <a:graphicFrameLocks noChangeAspect="1"/>
          </p:cNvGraphicFramePr>
          <p:nvPr>
            <p:extLst>
              <p:ext uri="{D42A27DB-BD31-4B8C-83A1-F6EECF244321}">
                <p14:modId xmlns:p14="http://schemas.microsoft.com/office/powerpoint/2010/main" val="4203547728"/>
              </p:ext>
            </p:extLst>
          </p:nvPr>
        </p:nvGraphicFramePr>
        <p:xfrm>
          <a:off x="4398506" y="5125393"/>
          <a:ext cx="2991423" cy="1230958"/>
        </p:xfrm>
        <a:graphic>
          <a:graphicData uri="http://schemas.openxmlformats.org/presentationml/2006/ole">
            <mc:AlternateContent xmlns:mc="http://schemas.openxmlformats.org/markup-compatibility/2006">
              <mc:Choice xmlns:v="urn:schemas-microsoft-com:vml" Requires="v">
                <p:oleObj name="公式" r:id="rId9" imgW="2145960" imgH="863280" progId="Equation.3">
                  <p:embed/>
                </p:oleObj>
              </mc:Choice>
              <mc:Fallback>
                <p:oleObj name="公式" r:id="rId9" imgW="2145960" imgH="863280" progId="Equation.3">
                  <p:embed/>
                  <p:pic>
                    <p:nvPicPr>
                      <p:cNvPr id="281625" name="Object 25"/>
                      <p:cNvPicPr>
                        <a:picLocks noChangeAspect="1" noChangeArrowheads="1"/>
                      </p:cNvPicPr>
                      <p:nvPr/>
                    </p:nvPicPr>
                    <p:blipFill>
                      <a:blip r:embed="rId10"/>
                      <a:srcRect/>
                      <a:stretch>
                        <a:fillRect/>
                      </a:stretch>
                    </p:blipFill>
                    <p:spPr bwMode="auto">
                      <a:xfrm>
                        <a:off x="4398506" y="5125393"/>
                        <a:ext cx="2991423" cy="1230958"/>
                      </a:xfrm>
                      <a:prstGeom prst="rect">
                        <a:avLst/>
                      </a:prstGeom>
                      <a:noFill/>
                      <a:ln>
                        <a:noFill/>
                      </a:ln>
                      <a:effectLst/>
                    </p:spPr>
                  </p:pic>
                </p:oleObj>
              </mc:Fallback>
            </mc:AlternateContent>
          </a:graphicData>
        </a:graphic>
      </p:graphicFrame>
      <p:sp>
        <p:nvSpPr>
          <p:cNvPr id="3" name="矩形 2"/>
          <p:cNvSpPr/>
          <p:nvPr/>
        </p:nvSpPr>
        <p:spPr>
          <a:xfrm>
            <a:off x="1051502" y="2531061"/>
            <a:ext cx="1994457" cy="46166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none">
            <a:spAutoFit/>
          </a:bodyPr>
          <a:lstStyle/>
          <a:p>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的平方和为 </a:t>
            </a:r>
          </a:p>
        </p:txBody>
      </p:sp>
      <p:sp>
        <p:nvSpPr>
          <p:cNvPr id="4" name="矩形 3"/>
          <p:cNvSpPr/>
          <p:nvPr/>
        </p:nvSpPr>
        <p:spPr>
          <a:xfrm>
            <a:off x="1024030" y="4784832"/>
            <a:ext cx="1980616" cy="461665"/>
          </a:xfrm>
          <a:prstGeom prst="rect">
            <a:avLst/>
          </a:prstGeom>
        </p:spPr>
        <p:txBody>
          <a:bodyPr wrap="square">
            <a:spAutoFit/>
          </a:bodyPr>
          <a:lstStyle/>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求得</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5" name="矩形 4"/>
          <p:cNvSpPr/>
          <p:nvPr/>
        </p:nvSpPr>
        <p:spPr>
          <a:xfrm>
            <a:off x="5491529" y="1824560"/>
            <a:ext cx="2398413" cy="461665"/>
          </a:xfrm>
          <a:prstGeom prst="rect">
            <a:avLst/>
          </a:prstGeom>
        </p:spPr>
        <p:txBody>
          <a:bodyPr wrap="none">
            <a:spAutoFit/>
          </a:bodyPr>
          <a:lstStyle/>
          <a:p>
            <a:r>
              <a:rPr lang="en-US" altLang="zh-CN" sz="2400" i="1" dirty="0">
                <a:latin typeface="Times New Roman" panose="02020603050405020304" pitchFamily="18" charset="0"/>
              </a:rPr>
              <a:t>v</a:t>
            </a:r>
            <a:r>
              <a:rPr lang="en-US" altLang="zh-CN" sz="2400" i="1" baseline="-25000" dirty="0">
                <a:latin typeface="Times New Roman" panose="02020603050405020304" pitchFamily="18" charset="0"/>
              </a:rPr>
              <a:t>i</a:t>
            </a:r>
            <a:r>
              <a:rPr lang="en-US" altLang="zh-CN" sz="2400" dirty="0">
                <a:latin typeface="Times New Roman" panose="02020603050405020304" pitchFamily="18" charset="0"/>
              </a:rPr>
              <a:t> = </a:t>
            </a:r>
            <a:r>
              <a:rPr lang="en-US" altLang="zh-CN" sz="2400" i="1" dirty="0">
                <a:latin typeface="Times New Roman" panose="02020603050405020304" pitchFamily="18" charset="0"/>
              </a:rPr>
              <a:t>v</a:t>
            </a:r>
            <a:r>
              <a:rPr lang="en-US" altLang="zh-CN" sz="2400" i="1" baseline="-25000" dirty="0">
                <a:latin typeface="Times New Roman" panose="02020603050405020304" pitchFamily="18" charset="0"/>
              </a:rPr>
              <a:t>i</a:t>
            </a:r>
            <a:r>
              <a:rPr lang="en-US" altLang="zh-CN" sz="2400" dirty="0">
                <a:latin typeface="Times New Roman" panose="02020603050405020304" pitchFamily="18" charset="0"/>
              </a:rPr>
              <a:t> -(</a:t>
            </a:r>
            <a:r>
              <a:rPr lang="en-US" altLang="zh-CN" sz="2400" i="1" dirty="0">
                <a:latin typeface="Times New Roman" panose="02020603050405020304" pitchFamily="18" charset="0"/>
              </a:rPr>
              <a:t>β</a:t>
            </a:r>
            <a:r>
              <a:rPr lang="en-US" altLang="zh-CN" sz="2400" baseline="-25000" dirty="0">
                <a:latin typeface="Times New Roman" panose="02020603050405020304" pitchFamily="18" charset="0"/>
              </a:rPr>
              <a:t>0</a:t>
            </a:r>
            <a:r>
              <a:rPr lang="en-US" altLang="zh-CN" sz="2400" dirty="0">
                <a:latin typeface="Times New Roman" panose="02020603050405020304" pitchFamily="18" charset="0"/>
              </a:rPr>
              <a:t>+</a:t>
            </a:r>
            <a:r>
              <a:rPr lang="en-US" altLang="zh-CN" sz="2400" i="1" dirty="0">
                <a:latin typeface="Times New Roman" panose="02020603050405020304" pitchFamily="18" charset="0"/>
              </a:rPr>
              <a:t>β</a:t>
            </a:r>
            <a:r>
              <a:rPr lang="en-US" altLang="zh-CN" sz="2400" baseline="-250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i="1" baseline="-25000" dirty="0">
                <a:latin typeface="Times New Roman" panose="02020603050405020304" pitchFamily="18" charset="0"/>
              </a:rPr>
              <a:t>i</a:t>
            </a:r>
            <a:r>
              <a:rPr lang="en-US" altLang="zh-CN" sz="2400" baseline="-25000" dirty="0">
                <a:latin typeface="Times New Roman" panose="02020603050405020304" pitchFamily="18" charset="0"/>
              </a:rPr>
              <a:t> </a:t>
            </a:r>
            <a:r>
              <a:rPr lang="en-US" altLang="zh-CN" sz="2400" dirty="0">
                <a:latin typeface="Times New Roman" panose="02020603050405020304" pitchFamily="18" charset="0"/>
              </a:rPr>
              <a:t>)</a:t>
            </a:r>
            <a:r>
              <a:rPr lang="en-US" altLang="zh-CN" sz="2400" dirty="0">
                <a:latin typeface="宋体" panose="02010600030101010101" pitchFamily="2" charset="-122"/>
              </a:rPr>
              <a:t> </a:t>
            </a:r>
            <a:endParaRPr lang="zh-CN" altLang="en-US" sz="2400" dirty="0"/>
          </a:p>
        </p:txBody>
      </p:sp>
      <p:sp>
        <p:nvSpPr>
          <p:cNvPr id="47" name="矩形 46"/>
          <p:cNvSpPr/>
          <p:nvPr/>
        </p:nvSpPr>
        <p:spPr>
          <a:xfrm>
            <a:off x="891625" y="3377699"/>
            <a:ext cx="2461906" cy="461665"/>
          </a:xfrm>
          <a:prstGeom prst="rect">
            <a:avLst/>
          </a:prstGeom>
        </p:spPr>
        <p:txBody>
          <a:bodyPr wrap="square">
            <a:spAutoFit/>
          </a:bodyPr>
          <a:lstStyle/>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利用最小二乘法</a:t>
            </a:r>
          </a:p>
        </p:txBody>
      </p:sp>
      <p:sp>
        <p:nvSpPr>
          <p:cNvPr id="2" name="Slide Number Placeholder 1">
            <a:extLst>
              <a:ext uri="{FF2B5EF4-FFF2-40B4-BE49-F238E27FC236}">
                <a16:creationId xmlns:a16="http://schemas.microsoft.com/office/drawing/2014/main" id="{BB341745-0C2A-49F1-8F4A-F8F1EC1CB708}"/>
              </a:ext>
            </a:extLst>
          </p:cNvPr>
          <p:cNvSpPr>
            <a:spLocks noGrp="1"/>
          </p:cNvSpPr>
          <p:nvPr>
            <p:ph type="sldNum" sz="quarter" idx="12"/>
          </p:nvPr>
        </p:nvSpPr>
        <p:spPr/>
        <p:txBody>
          <a:bodyPr/>
          <a:lstStyle/>
          <a:p>
            <a:fld id="{DC11BA4E-7967-4102-867C-9D230A2E6791}" type="slidenum">
              <a:rPr lang="zh-CN" altLang="en-US" smtClean="0"/>
              <a:t>63</a:t>
            </a:fld>
            <a:endParaRPr lang="zh-CN" altLang="en-US"/>
          </a:p>
        </p:txBody>
      </p:sp>
    </p:spTree>
    <p:extLst>
      <p:ext uri="{BB962C8B-B14F-4D97-AF65-F5344CB8AC3E}">
        <p14:creationId xmlns:p14="http://schemas.microsoft.com/office/powerpoint/2010/main" val="9693013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矩形 27"/>
          <p:cNvSpPr/>
          <p:nvPr/>
        </p:nvSpPr>
        <p:spPr>
          <a:xfrm>
            <a:off x="1960201" y="329520"/>
            <a:ext cx="674895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实验数据方程表示法</a:t>
            </a:r>
            <a:r>
              <a:rPr lang="en-US" altLang="zh-CN" sz="3400" b="1" dirty="0">
                <a:solidFill>
                  <a:schemeClr val="bg1"/>
                </a:solidFill>
                <a:latin typeface="宋体" panose="02010600030101010101" pitchFamily="2" charset="-122"/>
                <a:ea typeface="宋体" panose="02010600030101010101" pitchFamily="2" charset="-122"/>
                <a:sym typeface="+mn-ea"/>
              </a:rPr>
              <a:t>——</a:t>
            </a:r>
            <a:r>
              <a:rPr lang="zh-CN" altLang="en-US" sz="3400" b="1" dirty="0">
                <a:solidFill>
                  <a:schemeClr val="bg1"/>
                </a:solidFill>
                <a:latin typeface="宋体" panose="02010600030101010101" pitchFamily="2" charset="-122"/>
                <a:ea typeface="宋体" panose="02010600030101010101" pitchFamily="2" charset="-122"/>
                <a:sym typeface="+mn-ea"/>
              </a:rPr>
              <a:t>回归分析</a:t>
            </a:r>
          </a:p>
        </p:txBody>
      </p:sp>
      <p:sp>
        <p:nvSpPr>
          <p:cNvPr id="39" name="圆角矩形 38"/>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五</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Rectangle 3"/>
          <p:cNvSpPr>
            <a:spLocks noRot="1" noChangeArrowheads="1"/>
          </p:cNvSpPr>
          <p:nvPr/>
        </p:nvSpPr>
        <p:spPr bwMode="auto">
          <a:xfrm>
            <a:off x="145703" y="1276612"/>
            <a:ext cx="8958917" cy="52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ts val="4000"/>
              </a:lnSpc>
              <a:spcAft>
                <a:spcPts val="600"/>
              </a:spcAft>
            </a:pPr>
            <a:r>
              <a:rPr lang="en-US" altLang="zh-CN" sz="2800">
                <a:solidFill>
                  <a:srgbClr val="FF0000"/>
                </a:solidFill>
                <a:latin typeface="宋体" panose="02010600030101010101" pitchFamily="2" charset="-122"/>
              </a:rPr>
              <a:t>2</a:t>
            </a:r>
            <a:r>
              <a:rPr lang="zh-CN" altLang="en-US" sz="2800" dirty="0">
                <a:solidFill>
                  <a:srgbClr val="FF0000"/>
                </a:solidFill>
                <a:latin typeface="宋体" panose="02010600030101010101" pitchFamily="2" charset="-122"/>
              </a:rPr>
              <a:t>．一般线性回归分析</a:t>
            </a:r>
          </a:p>
          <a:p>
            <a:pPr indent="193675" eaLnBrk="1" hangingPunct="1">
              <a:lnSpc>
                <a:spcPts val="4000"/>
              </a:lnSpc>
              <a:spcAft>
                <a:spcPts val="600"/>
              </a:spcAft>
            </a:pPr>
            <a:r>
              <a:rPr lang="zh-CN" altLang="en-US" sz="2500">
                <a:solidFill>
                  <a:schemeClr val="tx1"/>
                </a:solidFill>
                <a:latin typeface="宋体" panose="02010600030101010101" pitchFamily="2" charset="-122"/>
              </a:rPr>
              <a:t>对于     </a:t>
            </a:r>
            <a:r>
              <a:rPr lang="en-US" altLang="zh-CN" sz="2500" b="0" i="1" dirty="0">
                <a:solidFill>
                  <a:schemeClr val="tx1"/>
                </a:solidFill>
                <a:latin typeface="Times New Roman" panose="02020603050405020304" pitchFamily="18" charset="0"/>
              </a:rPr>
              <a:t>y</a:t>
            </a:r>
            <a:r>
              <a:rPr lang="en-US" altLang="zh-CN" sz="2500" b="0" dirty="0">
                <a:solidFill>
                  <a:schemeClr val="tx1"/>
                </a:solidFill>
                <a:latin typeface="Times New Roman" panose="02020603050405020304" pitchFamily="18" charset="0"/>
              </a:rPr>
              <a:t>=</a:t>
            </a:r>
            <a:r>
              <a:rPr lang="en-US" altLang="zh-CN" sz="2500" b="0" i="1" dirty="0">
                <a:solidFill>
                  <a:schemeClr val="tx1"/>
                </a:solidFill>
                <a:latin typeface="Times New Roman" panose="02020603050405020304" pitchFamily="18" charset="0"/>
              </a:rPr>
              <a:t>β</a:t>
            </a:r>
            <a:r>
              <a:rPr lang="en-US" altLang="zh-CN" sz="2500" b="0" baseline="-25000" dirty="0">
                <a:solidFill>
                  <a:schemeClr val="tx1"/>
                </a:solidFill>
                <a:latin typeface="Times New Roman" panose="02020603050405020304" pitchFamily="18" charset="0"/>
              </a:rPr>
              <a:t>1</a:t>
            </a:r>
            <a:r>
              <a:rPr lang="en-US" altLang="zh-CN" sz="3300" b="0" i="1" dirty="0">
                <a:solidFill>
                  <a:schemeClr val="tx1"/>
                </a:solidFill>
                <a:latin typeface="Times New Roman" panose="02020603050405020304" pitchFamily="18" charset="0"/>
              </a:rPr>
              <a:t>x</a:t>
            </a:r>
            <a:r>
              <a:rPr lang="en-US" altLang="zh-CN" sz="2500" b="0" baseline="-25000" dirty="0">
                <a:solidFill>
                  <a:schemeClr val="tx1"/>
                </a:solidFill>
                <a:latin typeface="Times New Roman" panose="02020603050405020304" pitchFamily="18" charset="0"/>
              </a:rPr>
              <a:t>1</a:t>
            </a:r>
            <a:r>
              <a:rPr lang="en-US" altLang="zh-CN" sz="2500" b="0" dirty="0">
                <a:solidFill>
                  <a:schemeClr val="tx1"/>
                </a:solidFill>
                <a:latin typeface="Times New Roman" panose="02020603050405020304" pitchFamily="18" charset="0"/>
              </a:rPr>
              <a:t>+</a:t>
            </a:r>
            <a:r>
              <a:rPr lang="en-US" altLang="zh-CN" sz="2500" b="0" i="1" dirty="0">
                <a:solidFill>
                  <a:schemeClr val="tx1"/>
                </a:solidFill>
                <a:latin typeface="Times New Roman" panose="02020603050405020304" pitchFamily="18" charset="0"/>
              </a:rPr>
              <a:t>β</a:t>
            </a:r>
            <a:r>
              <a:rPr lang="en-US" altLang="zh-CN" sz="2500" b="0" baseline="-25000" dirty="0">
                <a:solidFill>
                  <a:schemeClr val="tx1"/>
                </a:solidFill>
                <a:latin typeface="Times New Roman" panose="02020603050405020304" pitchFamily="18" charset="0"/>
              </a:rPr>
              <a:t>2</a:t>
            </a:r>
            <a:r>
              <a:rPr lang="en-US" altLang="zh-CN" sz="3300" b="0" i="1" dirty="0">
                <a:solidFill>
                  <a:schemeClr val="tx1"/>
                </a:solidFill>
                <a:latin typeface="Times New Roman" panose="02020603050405020304" pitchFamily="18" charset="0"/>
              </a:rPr>
              <a:t>x</a:t>
            </a:r>
            <a:r>
              <a:rPr lang="en-US" altLang="zh-CN" sz="2500" b="0" baseline="-25000" dirty="0">
                <a:solidFill>
                  <a:schemeClr val="tx1"/>
                </a:solidFill>
                <a:latin typeface="Times New Roman" panose="02020603050405020304" pitchFamily="18" charset="0"/>
              </a:rPr>
              <a:t>2</a:t>
            </a:r>
            <a:r>
              <a:rPr lang="en-US" altLang="zh-CN" sz="2500" b="0" dirty="0">
                <a:solidFill>
                  <a:schemeClr val="tx1"/>
                </a:solidFill>
                <a:latin typeface="Times New Roman" panose="02020603050405020304" pitchFamily="18" charset="0"/>
              </a:rPr>
              <a:t>+……+</a:t>
            </a:r>
            <a:r>
              <a:rPr lang="en-US" altLang="zh-CN" sz="2500" b="0" i="1" dirty="0">
                <a:solidFill>
                  <a:schemeClr val="tx1"/>
                </a:solidFill>
                <a:latin typeface="Times New Roman" panose="02020603050405020304" pitchFamily="18" charset="0"/>
              </a:rPr>
              <a:t>β</a:t>
            </a:r>
            <a:r>
              <a:rPr lang="en-US" altLang="zh-CN" sz="2500" b="0" i="1" baseline="-25000" dirty="0" err="1">
                <a:solidFill>
                  <a:schemeClr val="tx1"/>
                </a:solidFill>
                <a:latin typeface="Times New Roman" panose="02020603050405020304" pitchFamily="18" charset="0"/>
              </a:rPr>
              <a:t>p</a:t>
            </a:r>
            <a:r>
              <a:rPr lang="en-US" altLang="zh-CN" sz="3300" b="0" i="1" dirty="0" err="1">
                <a:solidFill>
                  <a:schemeClr val="tx1"/>
                </a:solidFill>
                <a:latin typeface="Times New Roman" panose="02020603050405020304" pitchFamily="18" charset="0"/>
              </a:rPr>
              <a:t>x</a:t>
            </a:r>
            <a:r>
              <a:rPr lang="en-US" altLang="zh-CN" sz="2500" b="0" i="1" baseline="-25000" dirty="0" err="1">
                <a:solidFill>
                  <a:schemeClr val="tx1"/>
                </a:solidFill>
                <a:latin typeface="Times New Roman" panose="02020603050405020304" pitchFamily="18" charset="0"/>
              </a:rPr>
              <a:t>p</a:t>
            </a:r>
            <a:endParaRPr lang="en-US" altLang="zh-CN" sz="2500" b="0" i="1" baseline="-25000" dirty="0">
              <a:solidFill>
                <a:schemeClr val="tx1"/>
              </a:solidFill>
              <a:latin typeface="Times New Roman" panose="02020603050405020304" pitchFamily="18" charset="0"/>
            </a:endParaRPr>
          </a:p>
          <a:p>
            <a:pPr marL="0" indent="536575" eaLnBrk="1" hangingPunct="1">
              <a:lnSpc>
                <a:spcPts val="4000"/>
              </a:lnSpc>
              <a:spcAft>
                <a:spcPts val="600"/>
              </a:spcAft>
            </a:pPr>
            <a:r>
              <a:rPr lang="zh-CN" altLang="en-US" sz="2500" dirty="0">
                <a:solidFill>
                  <a:schemeClr val="tx1"/>
                </a:solidFill>
                <a:latin typeface="宋体" panose="02010600030101010101" pitchFamily="2" charset="-122"/>
              </a:rPr>
              <a:t>设独立变量有</a:t>
            </a:r>
            <a:r>
              <a:rPr lang="en-US" altLang="zh-CN" sz="2500" b="0" i="1" dirty="0">
                <a:solidFill>
                  <a:schemeClr val="tx1"/>
                </a:solidFill>
                <a:latin typeface="Times New Roman" panose="02020603050405020304" pitchFamily="18" charset="0"/>
              </a:rPr>
              <a:t>n</a:t>
            </a:r>
            <a:r>
              <a:rPr lang="zh-CN" altLang="en-US" sz="2500" dirty="0">
                <a:solidFill>
                  <a:schemeClr val="tx1"/>
                </a:solidFill>
                <a:latin typeface="宋体" panose="02010600030101010101" pitchFamily="2" charset="-122"/>
              </a:rPr>
              <a:t>组测量值</a:t>
            </a:r>
            <a:r>
              <a:rPr lang="en-US" altLang="zh-CN" sz="3300" b="0" i="1" dirty="0">
                <a:solidFill>
                  <a:schemeClr val="tx1"/>
                </a:solidFill>
                <a:latin typeface="Times New Roman" panose="02020603050405020304" pitchFamily="18" charset="0"/>
              </a:rPr>
              <a:t>x</a:t>
            </a:r>
            <a:r>
              <a:rPr lang="en-US" altLang="zh-CN" sz="2500" b="0" i="1" baseline="-25000" dirty="0">
                <a:solidFill>
                  <a:schemeClr val="tx1"/>
                </a:solidFill>
                <a:latin typeface="Times New Roman" panose="02020603050405020304" pitchFamily="18" charset="0"/>
              </a:rPr>
              <a:t>l</a:t>
            </a:r>
            <a:r>
              <a:rPr lang="en-US" altLang="zh-CN" sz="2500" b="0" baseline="-25000" dirty="0">
                <a:solidFill>
                  <a:schemeClr val="tx1"/>
                </a:solidFill>
                <a:latin typeface="Times New Roman" panose="02020603050405020304" pitchFamily="18" charset="0"/>
              </a:rPr>
              <a:t>1</a:t>
            </a:r>
            <a:r>
              <a:rPr lang="zh-CN" altLang="en-US" sz="2500" dirty="0">
                <a:solidFill>
                  <a:schemeClr val="tx1"/>
                </a:solidFill>
                <a:latin typeface="Times New Roman" panose="02020603050405020304" pitchFamily="18" charset="0"/>
              </a:rPr>
              <a:t>，</a:t>
            </a:r>
            <a:r>
              <a:rPr lang="en-US" altLang="zh-CN" sz="3300" b="0" i="1" dirty="0">
                <a:solidFill>
                  <a:schemeClr val="tx1"/>
                </a:solidFill>
                <a:latin typeface="Times New Roman" panose="02020603050405020304" pitchFamily="18" charset="0"/>
              </a:rPr>
              <a:t>x</a:t>
            </a:r>
            <a:r>
              <a:rPr lang="en-US" altLang="zh-CN" sz="2500" b="0" i="1" baseline="-25000" dirty="0">
                <a:solidFill>
                  <a:schemeClr val="tx1"/>
                </a:solidFill>
                <a:latin typeface="Times New Roman" panose="02020603050405020304" pitchFamily="18" charset="0"/>
              </a:rPr>
              <a:t>l</a:t>
            </a:r>
            <a:r>
              <a:rPr lang="en-US" altLang="zh-CN" sz="2500" b="0" baseline="-25000" dirty="0">
                <a:solidFill>
                  <a:schemeClr val="tx1"/>
                </a:solidFill>
                <a:latin typeface="Times New Roman" panose="02020603050405020304" pitchFamily="18" charset="0"/>
              </a:rPr>
              <a:t>2</a:t>
            </a:r>
            <a:r>
              <a:rPr lang="en-US" altLang="zh-CN" sz="2800" dirty="0">
                <a:solidFill>
                  <a:schemeClr val="tx1"/>
                </a:solidFill>
                <a:latin typeface="Times New Roman" panose="02020603050405020304" pitchFamily="18" charset="0"/>
                <a:cs typeface="Times New Roman" panose="02020603050405020304" pitchFamily="18" charset="0"/>
              </a:rPr>
              <a:t> , …, </a:t>
            </a:r>
            <a:r>
              <a:rPr lang="en-US" altLang="zh-CN" sz="3300" b="0" i="1" dirty="0" err="1">
                <a:solidFill>
                  <a:schemeClr val="tx1"/>
                </a:solidFill>
                <a:latin typeface="Times New Roman" panose="02020603050405020304" pitchFamily="18" charset="0"/>
              </a:rPr>
              <a:t>x</a:t>
            </a:r>
            <a:r>
              <a:rPr lang="en-US" altLang="zh-CN" sz="2500" b="0" i="1" baseline="-25000" dirty="0" err="1">
                <a:solidFill>
                  <a:schemeClr val="tx1"/>
                </a:solidFill>
                <a:latin typeface="Times New Roman" panose="02020603050405020304" pitchFamily="18" charset="0"/>
              </a:rPr>
              <a:t>lp</a:t>
            </a:r>
            <a:r>
              <a:rPr lang="en-US" altLang="zh-CN" sz="2500" i="1" baseline="-25000" dirty="0">
                <a:solidFill>
                  <a:schemeClr val="tx1"/>
                </a:solidFill>
                <a:latin typeface="Times New Roman" panose="02020603050405020304" pitchFamily="18" charset="0"/>
              </a:rPr>
              <a:t> </a:t>
            </a:r>
            <a:r>
              <a:rPr lang="en-US" altLang="zh-CN" sz="2500" dirty="0">
                <a:solidFill>
                  <a:schemeClr val="tx1"/>
                </a:solidFill>
                <a:latin typeface="Times New Roman" panose="02020603050405020304" pitchFamily="18" charset="0"/>
              </a:rPr>
              <a:t>(</a:t>
            </a:r>
            <a:r>
              <a:rPr lang="en-US" altLang="zh-CN" sz="2500" b="0" i="1" dirty="0">
                <a:solidFill>
                  <a:schemeClr val="tx1"/>
                </a:solidFill>
                <a:latin typeface="Times New Roman" panose="02020603050405020304" pitchFamily="18" charset="0"/>
              </a:rPr>
              <a:t>l</a:t>
            </a:r>
            <a:r>
              <a:rPr lang="en-US" altLang="zh-CN" sz="2500" b="0" dirty="0">
                <a:solidFill>
                  <a:schemeClr val="tx1"/>
                </a:solidFill>
                <a:latin typeface="Times New Roman" panose="02020603050405020304" pitchFamily="18" charset="0"/>
              </a:rPr>
              <a:t>=1</a:t>
            </a:r>
            <a:r>
              <a:rPr lang="en-US" altLang="zh-CN" sz="2400" dirty="0">
                <a:solidFill>
                  <a:schemeClr val="tx1"/>
                </a:solidFill>
                <a:latin typeface="Times New Roman" panose="02020603050405020304" pitchFamily="18" charset="0"/>
                <a:cs typeface="Times New Roman" panose="02020603050405020304" pitchFamily="18" charset="0"/>
              </a:rPr>
              <a:t> , …, </a:t>
            </a:r>
            <a:r>
              <a:rPr lang="en-US" altLang="zh-CN" sz="2500" b="0" i="1" dirty="0">
                <a:solidFill>
                  <a:schemeClr val="tx1"/>
                </a:solidFill>
                <a:latin typeface="Times New Roman" panose="02020603050405020304" pitchFamily="18" charset="0"/>
              </a:rPr>
              <a:t>n</a:t>
            </a:r>
            <a:r>
              <a:rPr lang="en-US" altLang="zh-CN" sz="2500" dirty="0">
                <a:solidFill>
                  <a:schemeClr val="tx1"/>
                </a:solidFill>
                <a:latin typeface="Times New Roman" panose="02020603050405020304" pitchFamily="18" charset="0"/>
              </a:rPr>
              <a:t>)</a:t>
            </a:r>
            <a:r>
              <a:rPr lang="zh-CN" altLang="en-US" sz="2500" dirty="0">
                <a:solidFill>
                  <a:schemeClr val="tx1"/>
                </a:solidFill>
                <a:latin typeface="宋体" panose="02010600030101010101" pitchFamily="2" charset="-122"/>
              </a:rPr>
              <a:t>，函数</a:t>
            </a:r>
            <a:r>
              <a:rPr lang="en-US" altLang="zh-CN" sz="2500" b="0" i="1" dirty="0">
                <a:solidFill>
                  <a:schemeClr val="tx1"/>
                </a:solidFill>
                <a:latin typeface="Times New Roman" panose="02020603050405020304" pitchFamily="18" charset="0"/>
              </a:rPr>
              <a:t>y</a:t>
            </a:r>
            <a:r>
              <a:rPr lang="zh-CN" altLang="en-US" sz="2500" dirty="0">
                <a:solidFill>
                  <a:schemeClr val="tx1"/>
                </a:solidFill>
                <a:latin typeface="宋体" panose="02010600030101010101" pitchFamily="2" charset="-122"/>
              </a:rPr>
              <a:t>也有</a:t>
            </a:r>
            <a:r>
              <a:rPr lang="en-US" altLang="zh-CN" sz="2500" b="0" i="1" dirty="0">
                <a:solidFill>
                  <a:schemeClr val="tx1"/>
                </a:solidFill>
                <a:latin typeface="Times New Roman" panose="02020603050405020304" pitchFamily="18" charset="0"/>
              </a:rPr>
              <a:t>n</a:t>
            </a:r>
            <a:r>
              <a:rPr lang="zh-CN" altLang="en-US" sz="2500" dirty="0">
                <a:solidFill>
                  <a:schemeClr val="tx1"/>
                </a:solidFill>
                <a:latin typeface="宋体" panose="02010600030101010101" pitchFamily="2" charset="-122"/>
              </a:rPr>
              <a:t>个测定值。同理，测量值间关系可表示为</a:t>
            </a:r>
            <a:endParaRPr lang="en-US" altLang="zh-CN" sz="2500" dirty="0">
              <a:solidFill>
                <a:schemeClr val="tx1"/>
              </a:solidFill>
              <a:latin typeface="宋体" panose="02010600030101010101" pitchFamily="2" charset="-122"/>
            </a:endParaRPr>
          </a:p>
          <a:p>
            <a:pPr marL="0" indent="990600" eaLnBrk="1" hangingPunct="1">
              <a:lnSpc>
                <a:spcPts val="4000"/>
              </a:lnSpc>
              <a:spcAft>
                <a:spcPts val="600"/>
              </a:spcAft>
            </a:pPr>
            <a:r>
              <a:rPr lang="en-US" altLang="zh-CN" sz="2500" b="0" i="1" spc="100" dirty="0" err="1">
                <a:solidFill>
                  <a:schemeClr val="tx1"/>
                </a:solidFill>
                <a:latin typeface="Times New Roman" panose="02020603050405020304" pitchFamily="18" charset="0"/>
              </a:rPr>
              <a:t>y</a:t>
            </a:r>
            <a:r>
              <a:rPr lang="en-US" altLang="zh-CN" sz="2500" b="0" i="1" spc="100" baseline="-25000" dirty="0" err="1">
                <a:solidFill>
                  <a:schemeClr val="tx1"/>
                </a:solidFill>
                <a:latin typeface="Times New Roman" panose="02020603050405020304" pitchFamily="18" charset="0"/>
              </a:rPr>
              <a:t>l</a:t>
            </a:r>
            <a:r>
              <a:rPr lang="en-US" altLang="zh-CN" sz="2500" b="0" spc="100" dirty="0">
                <a:solidFill>
                  <a:schemeClr val="tx1"/>
                </a:solidFill>
                <a:latin typeface="Times New Roman" panose="02020603050405020304" pitchFamily="18" charset="0"/>
              </a:rPr>
              <a:t>=</a:t>
            </a:r>
            <a:r>
              <a:rPr lang="en-US" altLang="zh-CN" sz="2500" b="0" i="1" spc="100" dirty="0">
                <a:solidFill>
                  <a:schemeClr val="tx1"/>
                </a:solidFill>
                <a:latin typeface="Times New Roman" panose="02020603050405020304" pitchFamily="18" charset="0"/>
              </a:rPr>
              <a:t>β</a:t>
            </a:r>
            <a:r>
              <a:rPr lang="en-US" altLang="zh-CN" sz="2500" b="0" spc="100" baseline="-25000" dirty="0">
                <a:solidFill>
                  <a:schemeClr val="tx1"/>
                </a:solidFill>
                <a:latin typeface="Times New Roman" panose="02020603050405020304" pitchFamily="18" charset="0"/>
              </a:rPr>
              <a:t>1</a:t>
            </a:r>
            <a:r>
              <a:rPr lang="en-US" altLang="zh-CN" sz="3300" b="0" i="1" spc="100" dirty="0">
                <a:solidFill>
                  <a:schemeClr val="tx1"/>
                </a:solidFill>
                <a:latin typeface="Times New Roman" panose="02020603050405020304" pitchFamily="18" charset="0"/>
              </a:rPr>
              <a:t>x</a:t>
            </a:r>
            <a:r>
              <a:rPr lang="en-US" altLang="zh-CN" sz="2500" b="0" i="1" spc="100" baseline="-25000" dirty="0">
                <a:solidFill>
                  <a:schemeClr val="tx1"/>
                </a:solidFill>
                <a:latin typeface="Times New Roman" panose="02020603050405020304" pitchFamily="18" charset="0"/>
              </a:rPr>
              <a:t>l</a:t>
            </a:r>
            <a:r>
              <a:rPr lang="en-US" altLang="zh-CN" sz="2500" b="0" spc="100" baseline="-25000" dirty="0">
                <a:solidFill>
                  <a:schemeClr val="tx1"/>
                </a:solidFill>
                <a:latin typeface="Times New Roman" panose="02020603050405020304" pitchFamily="18" charset="0"/>
              </a:rPr>
              <a:t>1</a:t>
            </a:r>
            <a:r>
              <a:rPr lang="en-US" altLang="zh-CN" sz="2500" b="0" spc="100" dirty="0">
                <a:solidFill>
                  <a:schemeClr val="tx1"/>
                </a:solidFill>
                <a:latin typeface="Times New Roman" panose="02020603050405020304" pitchFamily="18" charset="0"/>
              </a:rPr>
              <a:t>+</a:t>
            </a:r>
            <a:r>
              <a:rPr lang="en-US" altLang="zh-CN" sz="2500" b="0" i="1" spc="100" dirty="0">
                <a:solidFill>
                  <a:schemeClr val="tx1"/>
                </a:solidFill>
                <a:latin typeface="Times New Roman" panose="02020603050405020304" pitchFamily="18" charset="0"/>
              </a:rPr>
              <a:t>β</a:t>
            </a:r>
            <a:r>
              <a:rPr lang="en-US" altLang="zh-CN" sz="2500" b="0" spc="100" baseline="-25000" dirty="0">
                <a:solidFill>
                  <a:schemeClr val="tx1"/>
                </a:solidFill>
                <a:latin typeface="Times New Roman" panose="02020603050405020304" pitchFamily="18" charset="0"/>
              </a:rPr>
              <a:t>2</a:t>
            </a:r>
            <a:r>
              <a:rPr lang="en-US" altLang="zh-CN" sz="3300" b="0" i="1" spc="100" dirty="0">
                <a:solidFill>
                  <a:schemeClr val="tx1"/>
                </a:solidFill>
                <a:latin typeface="Times New Roman" panose="02020603050405020304" pitchFamily="18" charset="0"/>
              </a:rPr>
              <a:t>x</a:t>
            </a:r>
            <a:r>
              <a:rPr lang="en-US" altLang="zh-CN" sz="2500" b="0" i="1" spc="100" baseline="-25000" dirty="0">
                <a:solidFill>
                  <a:schemeClr val="tx1"/>
                </a:solidFill>
                <a:latin typeface="Times New Roman" panose="02020603050405020304" pitchFamily="18" charset="0"/>
              </a:rPr>
              <a:t>l</a:t>
            </a:r>
            <a:r>
              <a:rPr lang="en-US" altLang="zh-CN" sz="2500" b="0" spc="100" baseline="-25000" dirty="0">
                <a:solidFill>
                  <a:schemeClr val="tx1"/>
                </a:solidFill>
                <a:latin typeface="Times New Roman" panose="02020603050405020304" pitchFamily="18" charset="0"/>
              </a:rPr>
              <a:t>2</a:t>
            </a:r>
            <a:r>
              <a:rPr lang="en-US" altLang="zh-CN" sz="2500" b="0" spc="100" dirty="0">
                <a:solidFill>
                  <a:schemeClr val="tx1"/>
                </a:solidFill>
                <a:latin typeface="Times New Roman" panose="02020603050405020304" pitchFamily="18" charset="0"/>
              </a:rPr>
              <a:t>+……+</a:t>
            </a:r>
            <a:r>
              <a:rPr lang="en-US" altLang="zh-CN" sz="2500" b="0" i="1" spc="100" dirty="0">
                <a:solidFill>
                  <a:schemeClr val="tx1"/>
                </a:solidFill>
                <a:latin typeface="Times New Roman" panose="02020603050405020304" pitchFamily="18" charset="0"/>
              </a:rPr>
              <a:t>β</a:t>
            </a:r>
            <a:r>
              <a:rPr lang="en-US" altLang="zh-CN" sz="2500" b="0" i="1" spc="100" baseline="-25000" dirty="0" err="1">
                <a:solidFill>
                  <a:schemeClr val="tx1"/>
                </a:solidFill>
                <a:latin typeface="Times New Roman" panose="02020603050405020304" pitchFamily="18" charset="0"/>
              </a:rPr>
              <a:t>p</a:t>
            </a:r>
            <a:r>
              <a:rPr lang="en-US" altLang="zh-CN" sz="3300" b="0" i="1" spc="100" dirty="0" err="1">
                <a:solidFill>
                  <a:schemeClr val="tx1"/>
                </a:solidFill>
                <a:latin typeface="Times New Roman" panose="02020603050405020304" pitchFamily="18" charset="0"/>
              </a:rPr>
              <a:t>x</a:t>
            </a:r>
            <a:r>
              <a:rPr lang="en-US" altLang="zh-CN" sz="2500" b="0" i="1" spc="100" baseline="-25000" dirty="0" err="1">
                <a:solidFill>
                  <a:schemeClr val="tx1"/>
                </a:solidFill>
                <a:latin typeface="Times New Roman" panose="02020603050405020304" pitchFamily="18" charset="0"/>
              </a:rPr>
              <a:t>lp</a:t>
            </a:r>
            <a:r>
              <a:rPr lang="en-US" altLang="zh-CN" sz="2500" b="0" spc="100" dirty="0" err="1">
                <a:solidFill>
                  <a:schemeClr val="tx1"/>
                </a:solidFill>
                <a:latin typeface="Times New Roman" panose="02020603050405020304" pitchFamily="18" charset="0"/>
              </a:rPr>
              <a:t>+</a:t>
            </a:r>
            <a:r>
              <a:rPr lang="en-US" altLang="zh-CN" sz="2500" b="0" i="1" spc="100" dirty="0" err="1">
                <a:solidFill>
                  <a:schemeClr val="tx1"/>
                </a:solidFill>
                <a:latin typeface="Times New Roman" panose="02020603050405020304" pitchFamily="18" charset="0"/>
              </a:rPr>
              <a:t>v</a:t>
            </a:r>
            <a:r>
              <a:rPr lang="en-US" altLang="zh-CN" sz="2500" b="0" i="1" spc="100" baseline="-25000" dirty="0" err="1">
                <a:solidFill>
                  <a:schemeClr val="tx1"/>
                </a:solidFill>
                <a:latin typeface="Times New Roman" panose="02020603050405020304" pitchFamily="18" charset="0"/>
              </a:rPr>
              <a:t>l</a:t>
            </a:r>
            <a:r>
              <a:rPr lang="en-US" altLang="zh-CN" sz="2500" b="0" spc="100" dirty="0">
                <a:solidFill>
                  <a:schemeClr val="tx1"/>
                </a:solidFill>
                <a:latin typeface="Times New Roman" panose="02020603050405020304" pitchFamily="18" charset="0"/>
              </a:rPr>
              <a:t>  </a:t>
            </a:r>
            <a:r>
              <a:rPr lang="zh-CN" altLang="en-US" sz="2500" dirty="0">
                <a:solidFill>
                  <a:schemeClr val="tx1"/>
                </a:solidFill>
                <a:latin typeface="宋体" panose="02010600030101010101" pitchFamily="2" charset="-122"/>
              </a:rPr>
              <a:t>，</a:t>
            </a:r>
            <a:endParaRPr lang="en-US" altLang="zh-CN" sz="2500" dirty="0">
              <a:solidFill>
                <a:schemeClr val="tx1"/>
              </a:solidFill>
              <a:latin typeface="宋体" panose="02010600030101010101" pitchFamily="2" charset="-122"/>
            </a:endParaRPr>
          </a:p>
          <a:p>
            <a:pPr marL="0" indent="0" eaLnBrk="1" hangingPunct="1">
              <a:lnSpc>
                <a:spcPts val="4000"/>
              </a:lnSpc>
              <a:spcAft>
                <a:spcPts val="600"/>
              </a:spcAft>
            </a:pPr>
            <a:r>
              <a:rPr lang="zh-CN" altLang="en-US" sz="2500" dirty="0">
                <a:solidFill>
                  <a:srgbClr val="0000FF"/>
                </a:solidFill>
                <a:latin typeface="Times New Roman" panose="02020603050405020304" pitchFamily="18" charset="0"/>
              </a:rPr>
              <a:t>误差</a:t>
            </a:r>
            <a:r>
              <a:rPr lang="en-US" altLang="zh-CN" sz="2500" b="0" i="1" dirty="0" err="1">
                <a:solidFill>
                  <a:srgbClr val="0000FF"/>
                </a:solidFill>
                <a:latin typeface="Times New Roman" panose="02020603050405020304" pitchFamily="18" charset="0"/>
              </a:rPr>
              <a:t>v</a:t>
            </a:r>
            <a:r>
              <a:rPr lang="en-US" altLang="zh-CN" sz="2500" b="0" i="1" baseline="-25000" dirty="0" err="1">
                <a:solidFill>
                  <a:srgbClr val="0000FF"/>
                </a:solidFill>
                <a:latin typeface="Times New Roman" panose="02020603050405020304" pitchFamily="18" charset="0"/>
              </a:rPr>
              <a:t>l</a:t>
            </a:r>
            <a:r>
              <a:rPr lang="en-US" altLang="zh-CN" sz="2500" b="0" i="1" baseline="-25000" dirty="0">
                <a:solidFill>
                  <a:srgbClr val="0000FF"/>
                </a:solidFill>
                <a:latin typeface="Times New Roman" panose="02020603050405020304" pitchFamily="18" charset="0"/>
              </a:rPr>
              <a:t> </a:t>
            </a:r>
            <a:r>
              <a:rPr lang="zh-CN" altLang="en-US" sz="2500" dirty="0">
                <a:solidFill>
                  <a:srgbClr val="0000FF"/>
                </a:solidFill>
                <a:latin typeface="宋体" panose="02010600030101010101" pitchFamily="2" charset="-122"/>
              </a:rPr>
              <a:t>相互独立且服从正态分布</a:t>
            </a:r>
            <a:r>
              <a:rPr lang="zh-CN" altLang="en-US" sz="2500" dirty="0">
                <a:solidFill>
                  <a:schemeClr val="tx1"/>
                </a:solidFill>
                <a:latin typeface="宋体" panose="02010600030101010101" pitchFamily="2" charset="-122"/>
              </a:rPr>
              <a:t>，使</a:t>
            </a:r>
            <a:endParaRPr lang="en-US" altLang="zh-CN" sz="2500" dirty="0">
              <a:solidFill>
                <a:schemeClr val="tx1"/>
              </a:solidFill>
              <a:latin typeface="宋体" panose="02010600030101010101" pitchFamily="2" charset="-122"/>
            </a:endParaRPr>
          </a:p>
          <a:p>
            <a:pPr marL="0" indent="0" eaLnBrk="1" hangingPunct="1">
              <a:lnSpc>
                <a:spcPts val="4000"/>
              </a:lnSpc>
              <a:spcAft>
                <a:spcPts val="600"/>
              </a:spcAft>
            </a:pPr>
            <a:endParaRPr lang="en-US" altLang="zh-CN" sz="2500" i="1" dirty="0">
              <a:solidFill>
                <a:schemeClr val="tx1"/>
              </a:solidFill>
              <a:latin typeface="宋体" panose="02010600030101010101" pitchFamily="2" charset="-122"/>
            </a:endParaRPr>
          </a:p>
          <a:p>
            <a:pPr marL="0" indent="0" eaLnBrk="1" hangingPunct="1">
              <a:lnSpc>
                <a:spcPts val="4000"/>
              </a:lnSpc>
              <a:spcAft>
                <a:spcPts val="600"/>
              </a:spcAft>
            </a:pPr>
            <a:r>
              <a:rPr lang="zh-CN" altLang="en-US" sz="2500" dirty="0">
                <a:solidFill>
                  <a:schemeClr val="tx1"/>
                </a:solidFill>
                <a:latin typeface="宋体" panose="02010600030101010101" pitchFamily="2" charset="-122"/>
              </a:rPr>
              <a:t>取</a:t>
            </a:r>
            <a:r>
              <a:rPr lang="zh-CN" altLang="en-US" sz="2500">
                <a:solidFill>
                  <a:schemeClr val="tx1"/>
                </a:solidFill>
                <a:latin typeface="宋体" panose="02010600030101010101" pitchFamily="2" charset="-122"/>
              </a:rPr>
              <a:t>极小值，求得</a:t>
            </a:r>
            <a:r>
              <a:rPr lang="en-US" altLang="zh-CN" sz="2500" b="0" i="1" dirty="0">
                <a:solidFill>
                  <a:schemeClr val="tx1"/>
                </a:solidFill>
                <a:latin typeface="Times New Roman" panose="02020603050405020304" pitchFamily="18" charset="0"/>
              </a:rPr>
              <a:t>β</a:t>
            </a:r>
            <a:r>
              <a:rPr lang="en-US" altLang="zh-CN" sz="2500" b="0" baseline="-25000" dirty="0">
                <a:solidFill>
                  <a:schemeClr val="tx1"/>
                </a:solidFill>
                <a:latin typeface="Times New Roman" panose="02020603050405020304" pitchFamily="18" charset="0"/>
              </a:rPr>
              <a:t>1</a:t>
            </a:r>
            <a:r>
              <a:rPr lang="zh-CN" altLang="en-US" sz="2500" dirty="0">
                <a:solidFill>
                  <a:schemeClr val="tx1"/>
                </a:solidFill>
                <a:latin typeface="Times New Roman" panose="02020603050405020304" pitchFamily="18" charset="0"/>
              </a:rPr>
              <a:t>，</a:t>
            </a:r>
            <a:r>
              <a:rPr lang="en-US" altLang="zh-CN" sz="2500" b="0" i="1" dirty="0">
                <a:solidFill>
                  <a:schemeClr val="tx1"/>
                </a:solidFill>
                <a:latin typeface="Times New Roman" panose="02020603050405020304" pitchFamily="18" charset="0"/>
              </a:rPr>
              <a:t>β</a:t>
            </a:r>
            <a:r>
              <a:rPr lang="en-US" altLang="zh-CN" sz="2500" b="0" baseline="-25000" dirty="0">
                <a:solidFill>
                  <a:schemeClr val="tx1"/>
                </a:solidFill>
                <a:latin typeface="Times New Roman" panose="02020603050405020304" pitchFamily="18" charset="0"/>
              </a:rPr>
              <a:t>2</a:t>
            </a:r>
            <a:r>
              <a:rPr lang="en-US" altLang="zh-CN" sz="2400" dirty="0">
                <a:solidFill>
                  <a:schemeClr val="tx1"/>
                </a:solidFill>
                <a:latin typeface="Times New Roman" panose="02020603050405020304" pitchFamily="18" charset="0"/>
                <a:cs typeface="Times New Roman" panose="02020603050405020304" pitchFamily="18" charset="0"/>
              </a:rPr>
              <a:t> , …, </a:t>
            </a:r>
            <a:r>
              <a:rPr lang="en-US" altLang="zh-CN" sz="2500" b="0" i="1" dirty="0">
                <a:solidFill>
                  <a:schemeClr val="tx1"/>
                </a:solidFill>
                <a:latin typeface="Times New Roman" panose="02020603050405020304" pitchFamily="18" charset="0"/>
              </a:rPr>
              <a:t>β</a:t>
            </a:r>
            <a:r>
              <a:rPr lang="en-US" altLang="zh-CN" sz="2500" b="0" i="1" baseline="-25000" dirty="0">
                <a:solidFill>
                  <a:schemeClr val="tx1"/>
                </a:solidFill>
                <a:latin typeface="Times New Roman" panose="02020603050405020304" pitchFamily="18" charset="0"/>
              </a:rPr>
              <a:t>p</a:t>
            </a:r>
            <a:r>
              <a:rPr lang="zh-CN" altLang="en-US" sz="2500" dirty="0">
                <a:solidFill>
                  <a:schemeClr val="tx1"/>
                </a:solidFill>
                <a:latin typeface="宋体" panose="02010600030101010101" pitchFamily="2" charset="-122"/>
              </a:rPr>
              <a:t>的最小二乘法估计值</a:t>
            </a:r>
            <a:r>
              <a:rPr lang="en-US" altLang="zh-CN" sz="2500" b="0" i="1" dirty="0">
                <a:solidFill>
                  <a:schemeClr val="tx1"/>
                </a:solidFill>
                <a:latin typeface="Times New Roman" panose="02020603050405020304" pitchFamily="18" charset="0"/>
              </a:rPr>
              <a:t>b</a:t>
            </a:r>
            <a:r>
              <a:rPr lang="en-US" altLang="zh-CN" sz="2500" b="0" baseline="-25000" dirty="0">
                <a:solidFill>
                  <a:schemeClr val="tx1"/>
                </a:solidFill>
                <a:latin typeface="Times New Roman" panose="02020603050405020304" pitchFamily="18" charset="0"/>
              </a:rPr>
              <a:t>1</a:t>
            </a:r>
            <a:r>
              <a:rPr lang="zh-CN" altLang="en-US" sz="2500" dirty="0">
                <a:solidFill>
                  <a:schemeClr val="tx1"/>
                </a:solidFill>
                <a:latin typeface="Times New Roman" panose="02020603050405020304" pitchFamily="18" charset="0"/>
              </a:rPr>
              <a:t>，</a:t>
            </a:r>
            <a:r>
              <a:rPr lang="en-US" altLang="zh-CN" sz="2500" b="0" i="1" dirty="0">
                <a:solidFill>
                  <a:schemeClr val="tx1"/>
                </a:solidFill>
                <a:latin typeface="Times New Roman" panose="02020603050405020304" pitchFamily="18" charset="0"/>
              </a:rPr>
              <a:t>b</a:t>
            </a:r>
            <a:r>
              <a:rPr lang="en-US" altLang="zh-CN" sz="2500" b="0" baseline="-25000" dirty="0">
                <a:solidFill>
                  <a:schemeClr val="tx1"/>
                </a:solidFill>
                <a:latin typeface="Times New Roman" panose="02020603050405020304" pitchFamily="18" charset="0"/>
              </a:rPr>
              <a:t>2</a:t>
            </a:r>
            <a:r>
              <a:rPr lang="en-US" altLang="zh-CN" sz="2400" dirty="0">
                <a:solidFill>
                  <a:schemeClr val="tx1"/>
                </a:solidFill>
                <a:latin typeface="Times New Roman" panose="02020603050405020304" pitchFamily="18" charset="0"/>
                <a:cs typeface="Times New Roman" panose="02020603050405020304" pitchFamily="18" charset="0"/>
              </a:rPr>
              <a:t> , …, </a:t>
            </a:r>
            <a:r>
              <a:rPr lang="en-US" altLang="zh-CN" sz="2500" b="0" i="1" dirty="0" err="1">
                <a:solidFill>
                  <a:schemeClr val="tx1"/>
                </a:solidFill>
                <a:latin typeface="Times New Roman" panose="02020603050405020304" pitchFamily="18" charset="0"/>
              </a:rPr>
              <a:t>b</a:t>
            </a:r>
            <a:r>
              <a:rPr lang="en-US" altLang="zh-CN" sz="2500" b="0" i="1" baseline="-25000" dirty="0" err="1">
                <a:solidFill>
                  <a:schemeClr val="tx1"/>
                </a:solidFill>
                <a:latin typeface="Times New Roman" panose="02020603050405020304" pitchFamily="18" charset="0"/>
              </a:rPr>
              <a:t>p</a:t>
            </a:r>
            <a:r>
              <a:rPr lang="zh-CN" altLang="en-US" sz="2500" dirty="0">
                <a:solidFill>
                  <a:schemeClr val="tx1"/>
                </a:solidFill>
                <a:latin typeface="宋体" panose="02010600030101010101" pitchFamily="2" charset="-122"/>
              </a:rPr>
              <a:t>。</a:t>
            </a:r>
            <a:endParaRPr lang="en-US" altLang="zh-CN" sz="2500" dirty="0">
              <a:solidFill>
                <a:schemeClr val="tx1"/>
              </a:solidFill>
              <a:latin typeface="宋体" panose="02010600030101010101" pitchFamily="2" charset="-122"/>
            </a:endParaRPr>
          </a:p>
        </p:txBody>
      </p:sp>
      <p:graphicFrame>
        <p:nvGraphicFramePr>
          <p:cNvPr id="40" name="Object 18"/>
          <p:cNvGraphicFramePr>
            <a:graphicFrameLocks noChangeAspect="1"/>
          </p:cNvGraphicFramePr>
          <p:nvPr>
            <p:extLst>
              <p:ext uri="{D42A27DB-BD31-4B8C-83A1-F6EECF244321}">
                <p14:modId xmlns:p14="http://schemas.microsoft.com/office/powerpoint/2010/main" val="1667147988"/>
              </p:ext>
            </p:extLst>
          </p:nvPr>
        </p:nvGraphicFramePr>
        <p:xfrm>
          <a:off x="1143772" y="4617584"/>
          <a:ext cx="4575175" cy="777875"/>
        </p:xfrm>
        <a:graphic>
          <a:graphicData uri="http://schemas.openxmlformats.org/presentationml/2006/ole">
            <mc:AlternateContent xmlns:mc="http://schemas.openxmlformats.org/markup-compatibility/2006">
              <mc:Choice xmlns:v="urn:schemas-microsoft-com:vml" Requires="v">
                <p:oleObj name="公式" r:id="rId3" imgW="2755800" imgH="444240" progId="Equation.3">
                  <p:embed/>
                </p:oleObj>
              </mc:Choice>
              <mc:Fallback>
                <p:oleObj name="公式" r:id="rId3" imgW="2755800" imgH="444240" progId="Equation.3">
                  <p:embed/>
                  <p:pic>
                    <p:nvPicPr>
                      <p:cNvPr id="283666" name="Object 18"/>
                      <p:cNvPicPr>
                        <a:picLocks noChangeAspect="1" noChangeArrowheads="1"/>
                      </p:cNvPicPr>
                      <p:nvPr/>
                    </p:nvPicPr>
                    <p:blipFill>
                      <a:blip r:embed="rId4"/>
                      <a:srcRect/>
                      <a:stretch>
                        <a:fillRect/>
                      </a:stretch>
                    </p:blipFill>
                    <p:spPr bwMode="auto">
                      <a:xfrm>
                        <a:off x="1143772" y="4617584"/>
                        <a:ext cx="4575175"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5565FDAC-01F9-47C7-BE5C-9231F05FC8CE}"/>
              </a:ext>
            </a:extLst>
          </p:cNvPr>
          <p:cNvSpPr>
            <a:spLocks noGrp="1"/>
          </p:cNvSpPr>
          <p:nvPr>
            <p:ph type="sldNum" sz="quarter" idx="12"/>
          </p:nvPr>
        </p:nvSpPr>
        <p:spPr/>
        <p:txBody>
          <a:bodyPr/>
          <a:lstStyle/>
          <a:p>
            <a:fld id="{DC11BA4E-7967-4102-867C-9D230A2E6791}" type="slidenum">
              <a:rPr lang="zh-CN" altLang="en-US" smtClean="0"/>
              <a:t>64</a:t>
            </a:fld>
            <a:endParaRPr lang="zh-CN" altLang="en-US"/>
          </a:p>
        </p:txBody>
      </p:sp>
    </p:spTree>
    <p:extLst>
      <p:ext uri="{BB962C8B-B14F-4D97-AF65-F5344CB8AC3E}">
        <p14:creationId xmlns:p14="http://schemas.microsoft.com/office/powerpoint/2010/main" val="5600050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latin typeface="Arial" panose="020B0604020202020204" pitchFamily="34" charset="0"/>
                <a:ea typeface="宋体" panose="02010600030101010101" pitchFamily="2" charset="-122"/>
                <a:cs typeface="Arial" panose="020B0604020202020204" pitchFamily="34" charset="0"/>
              </a:rPr>
              <a:t>五</a:t>
            </a:r>
            <a:endParaRPr lang="en-US" altLang="zh-CN" sz="3200" b="1" dirty="0">
              <a:latin typeface="Arial" panose="020B0604020202020204" pitchFamily="34" charset="0"/>
              <a:ea typeface="宋体" panose="02010600030101010101" pitchFamily="2" charset="-122"/>
              <a:cs typeface="Arial" panose="020B0604020202020204" pitchFamily="34" charset="0"/>
            </a:endParaRPr>
          </a:p>
        </p:txBody>
      </p:sp>
      <p:sp>
        <p:nvSpPr>
          <p:cNvPr id="29" name="矩形 28"/>
          <p:cNvSpPr/>
          <p:nvPr/>
        </p:nvSpPr>
        <p:spPr>
          <a:xfrm>
            <a:off x="1960201" y="329520"/>
            <a:ext cx="6748955"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实验数据方程表示法</a:t>
            </a:r>
            <a:r>
              <a:rPr lang="en-US" altLang="zh-CN" sz="3400" b="1" dirty="0">
                <a:solidFill>
                  <a:schemeClr val="bg1"/>
                </a:solidFill>
                <a:latin typeface="宋体" panose="02010600030101010101" pitchFamily="2" charset="-122"/>
                <a:ea typeface="宋体" panose="02010600030101010101" pitchFamily="2" charset="-122"/>
                <a:sym typeface="+mn-ea"/>
              </a:rPr>
              <a:t>——</a:t>
            </a:r>
            <a:r>
              <a:rPr lang="zh-CN" altLang="en-US" sz="3400" b="1" dirty="0">
                <a:solidFill>
                  <a:schemeClr val="bg1"/>
                </a:solidFill>
                <a:latin typeface="宋体" panose="02010600030101010101" pitchFamily="2" charset="-122"/>
                <a:ea typeface="宋体" panose="02010600030101010101" pitchFamily="2" charset="-122"/>
                <a:sym typeface="+mn-ea"/>
              </a:rPr>
              <a:t>回归分析</a:t>
            </a:r>
          </a:p>
        </p:txBody>
      </p:sp>
      <p:sp>
        <p:nvSpPr>
          <p:cNvPr id="40" name="Rectangle 3"/>
          <p:cNvSpPr>
            <a:spLocks noRot="1" noChangeArrowheads="1"/>
          </p:cNvSpPr>
          <p:nvPr/>
        </p:nvSpPr>
        <p:spPr bwMode="auto">
          <a:xfrm>
            <a:off x="1304360" y="1476372"/>
            <a:ext cx="3324201" cy="476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r>
              <a:rPr lang="en-US" altLang="zh-CN" sz="2400" dirty="0">
                <a:solidFill>
                  <a:schemeClr val="tx1"/>
                </a:solidFill>
                <a:latin typeface="宋体" panose="02010600030101010101" pitchFamily="2" charset="-122"/>
              </a:rPr>
              <a:t> 2</a:t>
            </a:r>
            <a:r>
              <a:rPr lang="zh-CN" altLang="en-US" sz="2400" dirty="0">
                <a:solidFill>
                  <a:schemeClr val="tx1"/>
                </a:solidFill>
                <a:latin typeface="宋体" panose="02010600030101010101" pitchFamily="2" charset="-122"/>
              </a:rPr>
              <a:t>．一般线性回归分析</a:t>
            </a:r>
          </a:p>
        </p:txBody>
      </p:sp>
      <p:graphicFrame>
        <p:nvGraphicFramePr>
          <p:cNvPr id="41" name="Object 21"/>
          <p:cNvGraphicFramePr>
            <a:graphicFrameLocks noChangeAspect="1"/>
          </p:cNvGraphicFramePr>
          <p:nvPr>
            <p:extLst>
              <p:ext uri="{D42A27DB-BD31-4B8C-83A1-F6EECF244321}">
                <p14:modId xmlns:p14="http://schemas.microsoft.com/office/powerpoint/2010/main" val="2656720487"/>
              </p:ext>
            </p:extLst>
          </p:nvPr>
        </p:nvGraphicFramePr>
        <p:xfrm>
          <a:off x="1454036" y="2246176"/>
          <a:ext cx="6477000" cy="2514600"/>
        </p:xfrm>
        <a:graphic>
          <a:graphicData uri="http://schemas.openxmlformats.org/presentationml/2006/ole">
            <mc:AlternateContent xmlns:mc="http://schemas.openxmlformats.org/markup-compatibility/2006">
              <mc:Choice xmlns:v="urn:schemas-microsoft-com:vml" Requires="v">
                <p:oleObj name="Equation" r:id="rId3" imgW="3371754" imgH="1295297" progId="Equation.3">
                  <p:embed/>
                </p:oleObj>
              </mc:Choice>
              <mc:Fallback>
                <p:oleObj name="Equation" r:id="rId3" imgW="3371754" imgH="1295297" progId="Equation.3">
                  <p:embed/>
                  <p:pic>
                    <p:nvPicPr>
                      <p:cNvPr id="282645"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4036" y="2246176"/>
                        <a:ext cx="6477000" cy="2514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p:nvPr/>
        </p:nvSpPr>
        <p:spPr>
          <a:xfrm>
            <a:off x="1454036" y="5054033"/>
            <a:ext cx="5668539" cy="461665"/>
          </a:xfrm>
          <a:prstGeom prst="rect">
            <a:avLst/>
          </a:prstGeom>
        </p:spPr>
        <p:txBody>
          <a:bodyPr wrap="none">
            <a:spAutoFit/>
          </a:bodyPr>
          <a:lstStyle/>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解此联立方程，即可求出</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p</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2" name="Slide Number Placeholder 1">
            <a:extLst>
              <a:ext uri="{FF2B5EF4-FFF2-40B4-BE49-F238E27FC236}">
                <a16:creationId xmlns:a16="http://schemas.microsoft.com/office/drawing/2014/main" id="{75C6E0D0-A0FE-44AE-845B-A5DE2FD6F6EE}"/>
              </a:ext>
            </a:extLst>
          </p:cNvPr>
          <p:cNvSpPr>
            <a:spLocks noGrp="1"/>
          </p:cNvSpPr>
          <p:nvPr>
            <p:ph type="sldNum" sz="quarter" idx="12"/>
          </p:nvPr>
        </p:nvSpPr>
        <p:spPr/>
        <p:txBody>
          <a:bodyPr/>
          <a:lstStyle/>
          <a:p>
            <a:fld id="{DC11BA4E-7967-4102-867C-9D230A2E6791}" type="slidenum">
              <a:rPr lang="zh-CN" altLang="en-US" smtClean="0"/>
              <a:t>65</a:t>
            </a:fld>
            <a:endParaRPr lang="zh-CN" altLang="en-US"/>
          </a:p>
        </p:txBody>
      </p:sp>
    </p:spTree>
    <p:extLst>
      <p:ext uri="{BB962C8B-B14F-4D97-AF65-F5344CB8AC3E}">
        <p14:creationId xmlns:p14="http://schemas.microsoft.com/office/powerpoint/2010/main" val="5871692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571711" y="2040159"/>
            <a:ext cx="6103724" cy="3196247"/>
          </a:xfrm>
        </p:spPr>
        <p:txBody>
          <a:bodyPr>
            <a:noAutofit/>
          </a:bodyPr>
          <a:lstStyle/>
          <a:p>
            <a:pPr marL="0" indent="0" eaLnBrk="1" hangingPunct="1">
              <a:lnSpc>
                <a:spcPct val="130000"/>
              </a:lnSpc>
              <a:spcBef>
                <a:spcPts val="768"/>
              </a:spcBef>
              <a:buNone/>
              <a:defRPr/>
            </a:pPr>
            <a:r>
              <a:rPr lang="zh-CN" altLang="en-US" sz="2400"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rPr>
              <a:t> </a:t>
            </a:r>
            <a:r>
              <a:rPr lang="en-US" altLang="zh-CN" sz="2400"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rPr>
              <a:t>1. </a:t>
            </a:r>
            <a:r>
              <a:rPr lang="zh-CN" altLang="en-US" sz="2400"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rPr>
              <a:t>图解分析的意义</a:t>
            </a:r>
          </a:p>
          <a:p>
            <a:pPr marL="0" indent="0" eaLnBrk="1" hangingPunct="1">
              <a:lnSpc>
                <a:spcPct val="130000"/>
              </a:lnSpc>
              <a:spcBef>
                <a:spcPts val="768"/>
              </a:spcBef>
              <a:buNone/>
              <a:defRPr/>
            </a:pPr>
            <a:r>
              <a:rPr lang="zh-CN" altLang="en-US" sz="2400"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rPr>
              <a:t> </a:t>
            </a:r>
            <a:r>
              <a:rPr lang="en-US" altLang="zh-CN" sz="2400"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rPr>
              <a:t>2</a:t>
            </a:r>
            <a:r>
              <a:rPr lang="zh-CN" altLang="en-US" sz="2400"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rPr>
              <a:t>．修匀曲线及直线的工程方法</a:t>
            </a:r>
          </a:p>
          <a:p>
            <a:pPr marL="0" indent="0" eaLnBrk="1" hangingPunct="1">
              <a:lnSpc>
                <a:spcPct val="130000"/>
              </a:lnSpc>
              <a:spcBef>
                <a:spcPts val="768"/>
              </a:spcBef>
              <a:buNone/>
              <a:defRPr/>
            </a:pPr>
            <a:r>
              <a:rPr lang="zh-CN" altLang="en-US" sz="2400"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rPr>
              <a:t>  ① 分组平均法修匀曲线</a:t>
            </a:r>
          </a:p>
          <a:p>
            <a:pPr marL="0" indent="0" eaLnBrk="1" hangingPunct="1">
              <a:lnSpc>
                <a:spcPct val="130000"/>
              </a:lnSpc>
              <a:spcBef>
                <a:spcPts val="768"/>
              </a:spcBef>
              <a:buNone/>
              <a:defRPr/>
            </a:pPr>
            <a:r>
              <a:rPr lang="zh-CN" altLang="en-US" sz="2400"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rPr>
              <a:t>  ② 残差图法修匀直线</a:t>
            </a:r>
          </a:p>
          <a:p>
            <a:pPr marL="0" indent="0" eaLnBrk="1" hangingPunct="1">
              <a:lnSpc>
                <a:spcPct val="100000"/>
              </a:lnSpc>
              <a:spcBef>
                <a:spcPts val="672"/>
              </a:spcBef>
              <a:buNone/>
              <a:defRPr/>
            </a:pPr>
            <a:endParaRPr lang="zh-CN" altLang="en-US" sz="1800" b="1" kern="1200" dirty="0">
              <a:solidFill>
                <a:schemeClr val="bg1">
                  <a:lumMod val="65000"/>
                </a:schemeClr>
              </a:solidFill>
              <a:latin typeface="宋体" panose="02010600030101010101" pitchFamily="2" charset="-122"/>
              <a:ea typeface="宋体" panose="02010600030101010101" pitchFamily="2" charset="-122"/>
              <a:cs typeface="Arial" panose="020B0604020202020204" pitchFamily="34" charset="0"/>
            </a:endParaRP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solidFill>
                <a:schemeClr val="bg1">
                  <a:lumMod val="50000"/>
                </a:schemeClr>
              </a:solidFill>
            </a:endParaRPr>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zh-CN" altLang="en-US" sz="32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六</a:t>
            </a:r>
            <a:endParaRPr lang="en-US" altLang="zh-CN" sz="32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测量数据的图解分析</a:t>
            </a:r>
          </a:p>
        </p:txBody>
      </p:sp>
      <p:sp>
        <p:nvSpPr>
          <p:cNvPr id="2" name="Slide Number Placeholder 1">
            <a:extLst>
              <a:ext uri="{FF2B5EF4-FFF2-40B4-BE49-F238E27FC236}">
                <a16:creationId xmlns:a16="http://schemas.microsoft.com/office/drawing/2014/main" id="{080D9402-749F-4900-A59F-C63CB9549F71}"/>
              </a:ext>
            </a:extLst>
          </p:cNvPr>
          <p:cNvSpPr>
            <a:spLocks noGrp="1"/>
          </p:cNvSpPr>
          <p:nvPr>
            <p:ph type="sldNum" sz="quarter" idx="12"/>
          </p:nvPr>
        </p:nvSpPr>
        <p:spPr/>
        <p:txBody>
          <a:bodyPr/>
          <a:lstStyle/>
          <a:p>
            <a:fld id="{DC11BA4E-7967-4102-867C-9D230A2E6791}" type="slidenum">
              <a:rPr lang="zh-CN" altLang="en-US" smtClean="0"/>
              <a:t>66</a:t>
            </a:fld>
            <a:endParaRPr lang="zh-CN" altLang="en-US"/>
          </a:p>
        </p:txBody>
      </p:sp>
    </p:spTree>
    <p:extLst>
      <p:ext uri="{BB962C8B-B14F-4D97-AF65-F5344CB8AC3E}">
        <p14:creationId xmlns:p14="http://schemas.microsoft.com/office/powerpoint/2010/main" val="22768288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732121" y="1326118"/>
            <a:ext cx="5696618" cy="4443086"/>
          </a:xfrm>
        </p:spPr>
        <p:txBody>
          <a:bodyPr>
            <a:noAutofit/>
          </a:bodyPr>
          <a:lstStyle/>
          <a:p>
            <a:pPr marL="0" indent="0" eaLnBrk="1" hangingPunct="1">
              <a:lnSpc>
                <a:spcPct val="200000"/>
              </a:lnSpc>
              <a:spcBef>
                <a:spcPts val="768"/>
              </a:spcBef>
              <a:buNone/>
              <a:defRPr/>
            </a:pPr>
            <a:r>
              <a:rPr lang="zh-CN" altLang="en-US" b="1" kern="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hlinkClick r:id="rId3" action="ppaction://hlinksldjump">
                  <a:extLst>
                    <a:ext uri="{A12FA001-AC4F-418D-AE19-62706E023703}">
                      <ahyp:hlinkClr xmlns:ahyp="http://schemas.microsoft.com/office/drawing/2018/hyperlinkcolor" val="tx"/>
                    </a:ext>
                  </a:extLst>
                </a:hlinkClick>
              </a:rPr>
              <a:t>一、自动检测仪表的动态误差</a:t>
            </a:r>
            <a:endParaRPr lang="zh-CN" altLang="en-US" b="1" kern="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endParaRPr>
          </a:p>
          <a:p>
            <a:pPr marL="715963" indent="-715963" eaLnBrk="1" hangingPunct="1">
              <a:lnSpc>
                <a:spcPct val="200000"/>
              </a:lnSpc>
              <a:spcBef>
                <a:spcPts val="768"/>
              </a:spcBef>
              <a:buNone/>
              <a:defRPr/>
            </a:pPr>
            <a:r>
              <a:rPr lang="zh-CN" altLang="en-US" b="1" kern="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hlinkClick r:id="rId4" action="ppaction://hlinksldjump">
                  <a:extLst>
                    <a:ext uri="{A12FA001-AC4F-418D-AE19-62706E023703}">
                      <ahyp:hlinkClr xmlns:ahyp="http://schemas.microsoft.com/office/drawing/2018/hyperlinkcolor" val="tx"/>
                    </a:ext>
                  </a:extLst>
                </a:hlinkClick>
              </a:rPr>
              <a:t>二、自动检测仪表的幅值频率误差和相位频率误差</a:t>
            </a:r>
            <a:endParaRPr lang="zh-CN" altLang="en-US" b="1" kern="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768"/>
              </a:spcBef>
              <a:buNone/>
              <a:defRPr/>
            </a:pPr>
            <a:r>
              <a:rPr lang="zh-CN" altLang="en-US" b="1" kern="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hlinkClick r:id="rId5" action="ppaction://hlinksldjump">
                  <a:extLst>
                    <a:ext uri="{A12FA001-AC4F-418D-AE19-62706E023703}">
                      <ahyp:hlinkClr xmlns:ahyp="http://schemas.microsoft.com/office/drawing/2018/hyperlinkcolor" val="tx"/>
                    </a:ext>
                  </a:extLst>
                </a:hlinkClick>
              </a:rPr>
              <a:t>三、仪表指针走行全量程时间</a:t>
            </a:r>
            <a:r>
              <a:rPr lang="en-US" altLang="zh-CN" b="1" i="1" kern="1200" dirty="0">
                <a:solidFill>
                  <a:schemeClr val="bg1">
                    <a:lumMod val="50000"/>
                  </a:schemeClr>
                </a:solidFill>
                <a:latin typeface="Times New Roman" panose="02020603050405020304" pitchFamily="18" charset="0"/>
                <a:ea typeface="宋体" panose="02010600030101010101" pitchFamily="2" charset="-122"/>
                <a:cs typeface="Times New Roman" panose="02020603050405020304" pitchFamily="18" charset="0"/>
                <a:hlinkClick r:id="rId5" action="ppaction://hlinksldjump">
                  <a:extLst>
                    <a:ext uri="{A12FA001-AC4F-418D-AE19-62706E023703}">
                      <ahyp:hlinkClr xmlns:ahyp="http://schemas.microsoft.com/office/drawing/2018/hyperlinkcolor" val="tx"/>
                    </a:ext>
                  </a:extLst>
                </a:hlinkClick>
              </a:rPr>
              <a:t>t</a:t>
            </a:r>
            <a:r>
              <a:rPr lang="en-US" altLang="zh-CN" b="1" i="1" kern="1200" baseline="-25000" dirty="0">
                <a:solidFill>
                  <a:schemeClr val="bg1">
                    <a:lumMod val="50000"/>
                  </a:schemeClr>
                </a:solidFill>
                <a:latin typeface="Times New Roman" panose="02020603050405020304" pitchFamily="18" charset="0"/>
                <a:ea typeface="宋体" panose="02010600030101010101" pitchFamily="2" charset="-122"/>
                <a:cs typeface="Times New Roman" panose="02020603050405020304" pitchFamily="18" charset="0"/>
                <a:hlinkClick r:id="rId5" action="ppaction://hlinksldjump">
                  <a:extLst>
                    <a:ext uri="{A12FA001-AC4F-418D-AE19-62706E023703}">
                      <ahyp:hlinkClr xmlns:ahyp="http://schemas.microsoft.com/office/drawing/2018/hyperlinkcolor" val="tx"/>
                    </a:ext>
                  </a:extLst>
                </a:hlinkClick>
              </a:rPr>
              <a:t>y</a:t>
            </a:r>
            <a:endParaRPr lang="en-US" altLang="zh-CN" b="1" i="1" kern="1200" dirty="0">
              <a:solidFill>
                <a:schemeClr val="bg1">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lnSpc>
                <a:spcPct val="200000"/>
              </a:lnSpc>
              <a:spcBef>
                <a:spcPts val="768"/>
              </a:spcBef>
              <a:buNone/>
              <a:defRPr/>
            </a:pPr>
            <a:r>
              <a:rPr lang="zh-CN" altLang="en-US" b="1" kern="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hlinkClick r:id="rId6" action="ppaction://hlinksldjump">
                  <a:extLst>
                    <a:ext uri="{A12FA001-AC4F-418D-AE19-62706E023703}">
                      <ahyp:hlinkClr xmlns:ahyp="http://schemas.microsoft.com/office/drawing/2018/hyperlinkcolor" val="tx"/>
                    </a:ext>
                  </a:extLst>
                </a:hlinkClick>
              </a:rPr>
              <a:t>四、反应</a:t>
            </a:r>
            <a:r>
              <a:rPr lang="en-US" altLang="zh-CN" b="1" kern="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hlinkClick r:id="rId6" action="ppaction://hlinksldjump">
                  <a:extLst>
                    <a:ext uri="{A12FA001-AC4F-418D-AE19-62706E023703}">
                      <ahyp:hlinkClr xmlns:ahyp="http://schemas.microsoft.com/office/drawing/2018/hyperlinkcolor" val="tx"/>
                    </a:ext>
                  </a:extLst>
                </a:hlinkClick>
              </a:rPr>
              <a:t>(</a:t>
            </a:r>
            <a:r>
              <a:rPr lang="zh-CN" altLang="en-US" b="1" kern="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hlinkClick r:id="rId6" action="ppaction://hlinksldjump">
                  <a:extLst>
                    <a:ext uri="{A12FA001-AC4F-418D-AE19-62706E023703}">
                      <ahyp:hlinkClr xmlns:ahyp="http://schemas.microsoft.com/office/drawing/2018/hyperlinkcolor" val="tx"/>
                    </a:ext>
                  </a:extLst>
                </a:hlinkClick>
              </a:rPr>
              <a:t>又称惰性时应</a:t>
            </a:r>
            <a:r>
              <a:rPr lang="en-US" altLang="zh-CN" b="1" kern="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hlinkClick r:id="rId6" action="ppaction://hlinksldjump">
                  <a:extLst>
                    <a:ext uri="{A12FA001-AC4F-418D-AE19-62706E023703}">
                      <ahyp:hlinkClr xmlns:ahyp="http://schemas.microsoft.com/office/drawing/2018/hyperlinkcolor" val="tx"/>
                    </a:ext>
                  </a:extLst>
                </a:hlinkClick>
              </a:rPr>
              <a:t>)</a:t>
            </a:r>
            <a:endParaRPr lang="zh-CN" altLang="en-US" sz="2000" b="1" kern="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endParaRP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15.4.2</a:t>
            </a:r>
          </a:p>
        </p:txBody>
      </p:sp>
      <p:sp>
        <p:nvSpPr>
          <p:cNvPr id="27" name="矩形 26"/>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动态测量数据处理方法</a:t>
            </a:r>
          </a:p>
        </p:txBody>
      </p:sp>
      <p:sp>
        <p:nvSpPr>
          <p:cNvPr id="2" name="Slide Number Placeholder 1">
            <a:extLst>
              <a:ext uri="{FF2B5EF4-FFF2-40B4-BE49-F238E27FC236}">
                <a16:creationId xmlns:a16="http://schemas.microsoft.com/office/drawing/2014/main" id="{05D1F426-0A2E-4DA7-B5A5-DE25E692E278}"/>
              </a:ext>
            </a:extLst>
          </p:cNvPr>
          <p:cNvSpPr>
            <a:spLocks noGrp="1"/>
          </p:cNvSpPr>
          <p:nvPr>
            <p:ph type="sldNum" sz="quarter" idx="12"/>
          </p:nvPr>
        </p:nvSpPr>
        <p:spPr/>
        <p:txBody>
          <a:bodyPr/>
          <a:lstStyle/>
          <a:p>
            <a:fld id="{DC11BA4E-7967-4102-867C-9D230A2E6791}" type="slidenum">
              <a:rPr lang="zh-CN" altLang="en-US" smtClean="0"/>
              <a:t>67</a:t>
            </a:fld>
            <a:endParaRPr lang="zh-CN" altLang="en-US"/>
          </a:p>
        </p:txBody>
      </p:sp>
    </p:spTree>
    <p:extLst>
      <p:ext uri="{BB962C8B-B14F-4D97-AF65-F5344CB8AC3E}">
        <p14:creationId xmlns:p14="http://schemas.microsoft.com/office/powerpoint/2010/main" val="37414889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26">
            <a:extLst>
              <a:ext uri="{FF2B5EF4-FFF2-40B4-BE49-F238E27FC236}">
                <a16:creationId xmlns:a16="http://schemas.microsoft.com/office/drawing/2014/main" id="{BA5F0902-1299-4303-BFD6-30C095193355}"/>
              </a:ext>
            </a:extLst>
          </p:cNvPr>
          <p:cNvGraphicFramePr>
            <a:graphicFrameLocks noChangeAspect="1"/>
          </p:cNvGraphicFramePr>
          <p:nvPr>
            <p:extLst>
              <p:ext uri="{D42A27DB-BD31-4B8C-83A1-F6EECF244321}">
                <p14:modId xmlns:p14="http://schemas.microsoft.com/office/powerpoint/2010/main" val="2956445977"/>
              </p:ext>
            </p:extLst>
          </p:nvPr>
        </p:nvGraphicFramePr>
        <p:xfrm>
          <a:off x="4800600" y="1053802"/>
          <a:ext cx="4045297" cy="1731349"/>
        </p:xfrm>
        <a:graphic>
          <a:graphicData uri="http://schemas.openxmlformats.org/presentationml/2006/ole">
            <mc:AlternateContent xmlns:mc="http://schemas.openxmlformats.org/markup-compatibility/2006">
              <mc:Choice xmlns:v="urn:schemas-microsoft-com:vml" Requires="v">
                <p:oleObj name="Flash Movie" r:id="rId3" imgW="5802120" imgH="2482920" progId="Flash.Movie">
                  <p:embed/>
                </p:oleObj>
              </mc:Choice>
              <mc:Fallback>
                <p:oleObj name="Flash Movie" r:id="rId3" imgW="5802120" imgH="2482920" progId="Flash.Movie">
                  <p:embed/>
                  <p:pic>
                    <p:nvPicPr>
                      <p:cNvPr id="2074"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053802"/>
                        <a:ext cx="4045297" cy="1731349"/>
                      </a:xfrm>
                      <a:prstGeom prst="rect">
                        <a:avLst/>
                      </a:prstGeom>
                      <a:noFill/>
                      <a:ln>
                        <a:noFill/>
                      </a:ln>
                      <a:effectLst/>
                    </p:spPr>
                  </p:pic>
                </p:oleObj>
              </mc:Fallback>
            </mc:AlternateContent>
          </a:graphicData>
        </a:graphic>
      </p:graphicFrame>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solidFill>
                <a:schemeClr val="bg1">
                  <a:lumMod val="50000"/>
                </a:schemeClr>
              </a:solidFill>
            </a:endParaRPr>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15.4.2</a:t>
            </a:r>
          </a:p>
        </p:txBody>
      </p:sp>
      <p:sp>
        <p:nvSpPr>
          <p:cNvPr id="29" name="矩形 28"/>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动态测量数据处理方法</a:t>
            </a:r>
          </a:p>
        </p:txBody>
      </p:sp>
      <p:sp>
        <p:nvSpPr>
          <p:cNvPr id="40" name="Rectangle 3"/>
          <p:cNvSpPr>
            <a:spLocks noRot="1" noChangeArrowheads="1"/>
          </p:cNvSpPr>
          <p:nvPr/>
        </p:nvSpPr>
        <p:spPr bwMode="auto">
          <a:xfrm>
            <a:off x="325839" y="3055773"/>
            <a:ext cx="8783114" cy="2249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ts val="3400"/>
              </a:lnSpc>
              <a:buFont typeface="Arial" panose="020B0604020202020204" pitchFamily="34" charset="0"/>
              <a:buChar char="•"/>
            </a:pPr>
            <a:r>
              <a:rPr lang="en-US" altLang="zh-CN" sz="2000" b="0" i="1">
                <a:solidFill>
                  <a:schemeClr val="tx1"/>
                </a:solidFill>
                <a:latin typeface="Times New Roman" panose="02020603050405020304" pitchFamily="18" charset="0"/>
              </a:rPr>
              <a:t>   X</a:t>
            </a:r>
            <a:r>
              <a:rPr lang="en-US" altLang="zh-CN" sz="2000" b="0" dirty="0">
                <a:solidFill>
                  <a:schemeClr val="tx1"/>
                </a:solidFill>
                <a:latin typeface="Times New Roman" panose="02020603050405020304" pitchFamily="18" charset="0"/>
              </a:rPr>
              <a:t>(</a:t>
            </a:r>
            <a:r>
              <a:rPr lang="en-US" altLang="zh-CN" sz="2000" b="0" i="1" dirty="0">
                <a:solidFill>
                  <a:schemeClr val="tx1"/>
                </a:solidFill>
                <a:latin typeface="Times New Roman" panose="02020603050405020304" pitchFamily="18" charset="0"/>
              </a:rPr>
              <a:t>s</a:t>
            </a:r>
            <a:r>
              <a:rPr lang="en-US" altLang="zh-CN" sz="2000" b="0" dirty="0">
                <a:solidFill>
                  <a:schemeClr val="tx1"/>
                </a:solidFill>
                <a:latin typeface="Times New Roman" panose="02020603050405020304" pitchFamily="18" charset="0"/>
              </a:rPr>
              <a:t>)</a:t>
            </a:r>
            <a:r>
              <a:rPr lang="en-US" altLang="zh-CN" sz="2000" dirty="0">
                <a:solidFill>
                  <a:schemeClr val="tx1"/>
                </a:solidFill>
                <a:latin typeface="Times New Roman" panose="02020603050405020304" pitchFamily="18" charset="0"/>
              </a:rPr>
              <a:t>--</a:t>
            </a:r>
            <a:r>
              <a:rPr lang="zh-CN" altLang="en-US" sz="2000" dirty="0">
                <a:solidFill>
                  <a:schemeClr val="tx1"/>
                </a:solidFill>
                <a:latin typeface="Times New Roman" panose="02020603050405020304" pitchFamily="18" charset="0"/>
              </a:rPr>
              <a:t>随时间变化的被测量</a:t>
            </a:r>
            <a:r>
              <a:rPr lang="en-US" altLang="zh-CN" sz="2000" b="0" i="1" dirty="0">
                <a:solidFill>
                  <a:schemeClr val="tx1"/>
                </a:solidFill>
                <a:latin typeface="Times New Roman" panose="02020603050405020304" pitchFamily="18" charset="0"/>
              </a:rPr>
              <a:t>x</a:t>
            </a:r>
            <a:r>
              <a:rPr lang="en-US" altLang="zh-CN" sz="2000" b="0" dirty="0">
                <a:solidFill>
                  <a:schemeClr val="tx1"/>
                </a:solidFill>
                <a:latin typeface="Times New Roman" panose="02020603050405020304" pitchFamily="18" charset="0"/>
              </a:rPr>
              <a:t>(</a:t>
            </a:r>
            <a:r>
              <a:rPr lang="en-US" altLang="zh-CN" sz="2000" b="0" i="1" dirty="0">
                <a:solidFill>
                  <a:schemeClr val="tx1"/>
                </a:solidFill>
                <a:latin typeface="Times New Roman" panose="02020603050405020304" pitchFamily="18" charset="0"/>
              </a:rPr>
              <a:t>t</a:t>
            </a:r>
            <a:r>
              <a:rPr lang="en-US" altLang="zh-CN" sz="2000" b="0" dirty="0">
                <a:solidFill>
                  <a:schemeClr val="tx1"/>
                </a:solidFill>
                <a:latin typeface="Times New Roman" panose="02020603050405020304" pitchFamily="18" charset="0"/>
              </a:rPr>
              <a:t>)</a:t>
            </a:r>
            <a:r>
              <a:rPr lang="zh-CN" altLang="en-US" sz="2000" dirty="0">
                <a:solidFill>
                  <a:schemeClr val="tx1"/>
                </a:solidFill>
                <a:latin typeface="Times New Roman" panose="02020603050405020304" pitchFamily="18" charset="0"/>
              </a:rPr>
              <a:t>的拉氏变换；</a:t>
            </a:r>
          </a:p>
          <a:p>
            <a:pPr eaLnBrk="1" hangingPunct="1">
              <a:lnSpc>
                <a:spcPts val="3400"/>
              </a:lnSpc>
              <a:buFont typeface="Arial" panose="020B0604020202020204" pitchFamily="34" charset="0"/>
              <a:buChar char="•"/>
            </a:pPr>
            <a:r>
              <a:rPr lang="en-US" altLang="zh-CN" sz="2000" b="0">
                <a:solidFill>
                  <a:schemeClr val="tx1"/>
                </a:solidFill>
                <a:latin typeface="Times New Roman" panose="02020603050405020304" pitchFamily="18" charset="0"/>
              </a:rPr>
              <a:t>Δ</a:t>
            </a:r>
            <a:r>
              <a:rPr lang="en-US" altLang="zh-CN" sz="2000" b="0" i="1">
                <a:solidFill>
                  <a:schemeClr val="tx1"/>
                </a:solidFill>
                <a:latin typeface="Times New Roman" panose="02020603050405020304" pitchFamily="18" charset="0"/>
              </a:rPr>
              <a:t>X</a:t>
            </a:r>
            <a:r>
              <a:rPr lang="en-US" altLang="zh-CN" sz="2000" b="0" dirty="0">
                <a:solidFill>
                  <a:schemeClr val="tx1"/>
                </a:solidFill>
                <a:latin typeface="Times New Roman" panose="02020603050405020304" pitchFamily="18" charset="0"/>
              </a:rPr>
              <a:t>(</a:t>
            </a:r>
            <a:r>
              <a:rPr lang="en-US" altLang="zh-CN" sz="2000" b="0" i="1" dirty="0">
                <a:solidFill>
                  <a:schemeClr val="tx1"/>
                </a:solidFill>
                <a:latin typeface="Times New Roman" panose="02020603050405020304" pitchFamily="18" charset="0"/>
              </a:rPr>
              <a:t>s</a:t>
            </a:r>
            <a:r>
              <a:rPr lang="en-US" altLang="zh-CN" sz="2000" b="0" dirty="0">
                <a:solidFill>
                  <a:schemeClr val="tx1"/>
                </a:solidFill>
                <a:latin typeface="Times New Roman" panose="02020603050405020304" pitchFamily="18" charset="0"/>
              </a:rPr>
              <a:t>)</a:t>
            </a:r>
            <a:r>
              <a:rPr lang="en-US" altLang="zh-CN" sz="2000" dirty="0">
                <a:solidFill>
                  <a:schemeClr val="tx1"/>
                </a:solidFill>
                <a:latin typeface="Times New Roman" panose="02020603050405020304" pitchFamily="18" charset="0"/>
              </a:rPr>
              <a:t>--</a:t>
            </a:r>
            <a:r>
              <a:rPr lang="zh-CN" altLang="en-US" sz="2000" dirty="0">
                <a:solidFill>
                  <a:schemeClr val="tx1"/>
                </a:solidFill>
                <a:latin typeface="Times New Roman" panose="02020603050405020304" pitchFamily="18" charset="0"/>
              </a:rPr>
              <a:t>闭环系统偏差信号</a:t>
            </a:r>
            <a:r>
              <a:rPr lang="en-US" altLang="zh-CN" sz="2000" b="0" dirty="0" err="1">
                <a:solidFill>
                  <a:schemeClr val="tx1"/>
                </a:solidFill>
                <a:latin typeface="Times New Roman" panose="02020603050405020304" pitchFamily="18" charset="0"/>
              </a:rPr>
              <a:t>Δ</a:t>
            </a:r>
            <a:r>
              <a:rPr lang="en-US" altLang="zh-CN" sz="2000" b="0" i="1" dirty="0" err="1">
                <a:solidFill>
                  <a:schemeClr val="tx1"/>
                </a:solidFill>
                <a:latin typeface="Times New Roman" panose="02020603050405020304" pitchFamily="18" charset="0"/>
              </a:rPr>
              <a:t>x</a:t>
            </a:r>
            <a:r>
              <a:rPr lang="en-US" altLang="zh-CN" sz="2000" b="0" dirty="0">
                <a:solidFill>
                  <a:schemeClr val="tx1"/>
                </a:solidFill>
                <a:latin typeface="Times New Roman" panose="02020603050405020304" pitchFamily="18" charset="0"/>
              </a:rPr>
              <a:t>(</a:t>
            </a:r>
            <a:r>
              <a:rPr lang="en-US" altLang="zh-CN" sz="2000" b="0" i="1" dirty="0">
                <a:solidFill>
                  <a:schemeClr val="tx1"/>
                </a:solidFill>
                <a:latin typeface="Times New Roman" panose="02020603050405020304" pitchFamily="18" charset="0"/>
              </a:rPr>
              <a:t>t</a:t>
            </a:r>
            <a:r>
              <a:rPr lang="en-US" altLang="zh-CN" sz="2000" b="0" dirty="0">
                <a:solidFill>
                  <a:schemeClr val="tx1"/>
                </a:solidFill>
                <a:latin typeface="Times New Roman" panose="02020603050405020304" pitchFamily="18" charset="0"/>
              </a:rPr>
              <a:t>)</a:t>
            </a:r>
            <a:r>
              <a:rPr lang="zh-CN" altLang="en-US" sz="2000" dirty="0">
                <a:solidFill>
                  <a:schemeClr val="tx1"/>
                </a:solidFill>
                <a:latin typeface="宋体" panose="02010600030101010101" pitchFamily="2" charset="-122"/>
              </a:rPr>
              <a:t>的拉氏变换。</a:t>
            </a:r>
          </a:p>
          <a:p>
            <a:pPr eaLnBrk="1" hangingPunct="1">
              <a:lnSpc>
                <a:spcPts val="3400"/>
              </a:lnSpc>
            </a:pPr>
            <a:r>
              <a:rPr lang="zh-CN" altLang="en-US" sz="2400" dirty="0">
                <a:solidFill>
                  <a:schemeClr val="tx1"/>
                </a:solidFill>
                <a:latin typeface="宋体" panose="02010600030101010101" pitchFamily="2" charset="-122"/>
              </a:rPr>
              <a:t>     自动检测仪表中，</a:t>
            </a:r>
            <a:r>
              <a:rPr lang="zh-CN" altLang="en-US" sz="2400" dirty="0">
                <a:solidFill>
                  <a:srgbClr val="C00000"/>
                </a:solidFill>
                <a:latin typeface="宋体" panose="02010600030101010101" pitchFamily="2" charset="-122"/>
              </a:rPr>
              <a:t>反馈环节一般是比例环节</a:t>
            </a:r>
            <a:r>
              <a:rPr lang="zh-CN" altLang="en-US" sz="2400">
                <a:solidFill>
                  <a:schemeClr val="tx1"/>
                </a:solidFill>
                <a:latin typeface="宋体" panose="02010600030101010101" pitchFamily="2" charset="-122"/>
              </a:rPr>
              <a:t>，即 </a:t>
            </a:r>
            <a:r>
              <a:rPr lang="en-US" altLang="zh-CN" sz="2400" b="0" i="1">
                <a:solidFill>
                  <a:schemeClr val="tx1"/>
                </a:solidFill>
                <a:latin typeface="Times New Roman" panose="02020603050405020304" pitchFamily="18" charset="0"/>
              </a:rPr>
              <a:t>β</a:t>
            </a:r>
            <a:r>
              <a:rPr lang="en-US" altLang="zh-CN" sz="2400" b="0" dirty="0">
                <a:solidFill>
                  <a:schemeClr val="tx1"/>
                </a:solidFill>
                <a:latin typeface="Times New Roman" panose="02020603050405020304" pitchFamily="18" charset="0"/>
              </a:rPr>
              <a:t>(</a:t>
            </a:r>
            <a:r>
              <a:rPr lang="en-US" altLang="zh-CN" sz="2400" b="0" i="1" dirty="0">
                <a:solidFill>
                  <a:schemeClr val="tx1"/>
                </a:solidFill>
                <a:latin typeface="Times New Roman" panose="02020603050405020304" pitchFamily="18" charset="0"/>
              </a:rPr>
              <a:t>s</a:t>
            </a:r>
            <a:r>
              <a:rPr lang="en-US" altLang="zh-CN" sz="2400" b="0" dirty="0">
                <a:solidFill>
                  <a:schemeClr val="tx1"/>
                </a:solidFill>
                <a:latin typeface="Times New Roman" panose="02020603050405020304" pitchFamily="18" charset="0"/>
              </a:rPr>
              <a:t>)=</a:t>
            </a:r>
            <a:r>
              <a:rPr lang="en-US" altLang="zh-CN" sz="2400" b="0" i="1" dirty="0">
                <a:solidFill>
                  <a:schemeClr val="tx1"/>
                </a:solidFill>
                <a:latin typeface="Times New Roman" panose="02020603050405020304" pitchFamily="18" charset="0"/>
              </a:rPr>
              <a:t>β</a:t>
            </a:r>
            <a:r>
              <a:rPr lang="zh-CN" altLang="en-US" sz="2400" dirty="0">
                <a:solidFill>
                  <a:schemeClr val="tx1"/>
                </a:solidFill>
                <a:latin typeface="宋体" panose="02010600030101010101" pitchFamily="2" charset="-122"/>
              </a:rPr>
              <a:t>，因此闭环系统的开环传递函数一般形式，可表示为</a:t>
            </a:r>
          </a:p>
        </p:txBody>
      </p:sp>
      <p:graphicFrame>
        <p:nvGraphicFramePr>
          <p:cNvPr id="41" name="Object 20"/>
          <p:cNvGraphicFramePr>
            <a:graphicFrameLocks noChangeAspect="1"/>
          </p:cNvGraphicFramePr>
          <p:nvPr>
            <p:extLst>
              <p:ext uri="{D42A27DB-BD31-4B8C-83A1-F6EECF244321}">
                <p14:modId xmlns:p14="http://schemas.microsoft.com/office/powerpoint/2010/main" val="3727600143"/>
              </p:ext>
            </p:extLst>
          </p:nvPr>
        </p:nvGraphicFramePr>
        <p:xfrm>
          <a:off x="807676" y="2236311"/>
          <a:ext cx="2305050" cy="735012"/>
        </p:xfrm>
        <a:graphic>
          <a:graphicData uri="http://schemas.openxmlformats.org/presentationml/2006/ole">
            <mc:AlternateContent xmlns:mc="http://schemas.openxmlformats.org/markup-compatibility/2006">
              <mc:Choice xmlns:v="urn:schemas-microsoft-com:vml" Requires="v">
                <p:oleObj name="公式" r:id="rId5" imgW="1384200" imgH="419040" progId="Equation.3">
                  <p:embed/>
                </p:oleObj>
              </mc:Choice>
              <mc:Fallback>
                <p:oleObj name="公式" r:id="rId5" imgW="1384200" imgH="419040" progId="Equation.3">
                  <p:embed/>
                  <p:pic>
                    <p:nvPicPr>
                      <p:cNvPr id="285716" name="Object 20"/>
                      <p:cNvPicPr>
                        <a:picLocks noChangeAspect="1" noChangeArrowheads="1"/>
                      </p:cNvPicPr>
                      <p:nvPr/>
                    </p:nvPicPr>
                    <p:blipFill>
                      <a:blip r:embed="rId6"/>
                      <a:srcRect/>
                      <a:stretch>
                        <a:fillRect/>
                      </a:stretch>
                    </p:blipFill>
                    <p:spPr bwMode="auto">
                      <a:xfrm>
                        <a:off x="807676" y="2236311"/>
                        <a:ext cx="2305050" cy="735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矩形 3"/>
          <p:cNvSpPr/>
          <p:nvPr/>
        </p:nvSpPr>
        <p:spPr>
          <a:xfrm>
            <a:off x="61896" y="1271944"/>
            <a:ext cx="4572000" cy="907300"/>
          </a:xfrm>
          <a:prstGeom prst="rect">
            <a:avLst/>
          </a:prstGeom>
        </p:spPr>
        <p:txBody>
          <a:bodyPr>
            <a:spAutoFit/>
          </a:bodyPr>
          <a:lstStyle/>
          <a:p>
            <a:pPr>
              <a:lnSpc>
                <a:spcPts val="3400"/>
              </a:lnSpc>
            </a:pPr>
            <a:r>
              <a:rPr lang="zh-CN" altLang="en-US" sz="2400" b="1" dirty="0">
                <a:latin typeface="宋体" panose="02010600030101010101" pitchFamily="2" charset="-122"/>
                <a:ea typeface="宋体" panose="02010600030101010101" pitchFamily="2" charset="-122"/>
              </a:rPr>
              <a:t>一、自动检测仪表的动态误差</a:t>
            </a:r>
          </a:p>
          <a:p>
            <a:pPr>
              <a:lnSpc>
                <a:spcPts val="3400"/>
              </a:lnSpc>
            </a:pPr>
            <a:r>
              <a:rPr lang="zh-CN" altLang="en-US" sz="2400" b="1" dirty="0">
                <a:solidFill>
                  <a:srgbClr val="C00000"/>
                </a:solidFill>
                <a:latin typeface="宋体" panose="02010600030101010101" pitchFamily="2" charset="-122"/>
                <a:ea typeface="宋体" panose="02010600030101010101" pitchFamily="2" charset="-122"/>
              </a:rPr>
              <a:t> </a:t>
            </a:r>
            <a:r>
              <a:rPr lang="en-US" altLang="zh-CN" sz="2400" b="1" dirty="0">
                <a:solidFill>
                  <a:srgbClr val="C00000"/>
                </a:solidFill>
                <a:latin typeface="宋体" panose="02010600030101010101" pitchFamily="2" charset="-122"/>
                <a:ea typeface="宋体" panose="02010600030101010101" pitchFamily="2" charset="-122"/>
              </a:rPr>
              <a:t>1</a:t>
            </a:r>
            <a:r>
              <a:rPr lang="zh-CN" altLang="en-US" sz="2400" b="1" dirty="0">
                <a:solidFill>
                  <a:srgbClr val="C00000"/>
                </a:solidFill>
                <a:latin typeface="宋体" panose="02010600030101010101" pitchFamily="2" charset="-122"/>
                <a:ea typeface="宋体" panose="02010600030101010101" pitchFamily="2" charset="-122"/>
              </a:rPr>
              <a:t>．动态误差的表示方法</a:t>
            </a:r>
          </a:p>
        </p:txBody>
      </p:sp>
      <mc:AlternateContent xmlns:mc="http://schemas.openxmlformats.org/markup-compatibility/2006" xmlns:a14="http://schemas.microsoft.com/office/drawing/2010/main">
        <mc:Choice Requires="a14">
          <p:sp>
            <p:nvSpPr>
              <p:cNvPr id="5" name="矩形 4"/>
              <p:cNvSpPr/>
              <p:nvPr/>
            </p:nvSpPr>
            <p:spPr>
              <a:xfrm>
                <a:off x="1230931" y="4826542"/>
                <a:ext cx="5963684" cy="8715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𝛽</m:t>
                      </m:r>
                      <m:r>
                        <a:rPr lang="zh-CN" altLang="en-US" sz="2400" i="1">
                          <a:latin typeface="Cambria Math" panose="02040503050406030204" pitchFamily="18" charset="0"/>
                        </a:rPr>
                        <m:t>𝐾</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𝑠</m:t>
                          </m:r>
                        </m:e>
                      </m:d>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𝛽</m:t>
                          </m:r>
                          <m:r>
                            <a:rPr lang="zh-CN" altLang="en-US" sz="2400" i="1">
                              <a:latin typeface="Cambria Math" panose="02040503050406030204" pitchFamily="18" charset="0"/>
                            </a:rPr>
                            <m:t>𝑘</m:t>
                          </m:r>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𝜏</m:t>
                                  </m:r>
                                </m:e>
                                <m:sub>
                                  <m:r>
                                    <a:rPr lang="zh-CN" altLang="en-US" sz="2400" i="0">
                                      <a:latin typeface="Cambria Math" panose="02040503050406030204" pitchFamily="18" charset="0"/>
                                    </a:rPr>
                                    <m:t>1</m:t>
                                  </m:r>
                                </m:sub>
                              </m:sSub>
                              <m:r>
                                <a:rPr lang="zh-CN" altLang="en-US" sz="2400" i="1">
                                  <a:latin typeface="Cambria Math" panose="02040503050406030204" pitchFamily="18" charset="0"/>
                                </a:rPr>
                                <m:t>𝑠</m:t>
                              </m:r>
                            </m:e>
                          </m:d>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𝜏</m:t>
                                  </m:r>
                                </m:e>
                                <m:sub>
                                  <m:r>
                                    <a:rPr lang="zh-CN" altLang="en-US" sz="2400" i="0">
                                      <a:latin typeface="Cambria Math" panose="02040503050406030204" pitchFamily="18" charset="0"/>
                                    </a:rPr>
                                    <m:t>2</m:t>
                                  </m:r>
                                </m:sub>
                              </m:sSub>
                              <m:r>
                                <a:rPr lang="zh-CN" altLang="en-US" sz="2400" i="1">
                                  <a:latin typeface="Cambria Math" panose="02040503050406030204" pitchFamily="18" charset="0"/>
                                </a:rPr>
                                <m:t>𝑠</m:t>
                              </m:r>
                            </m:e>
                          </m:d>
                          <m:r>
                            <a:rPr lang="zh-CN" altLang="en-US" sz="2400" i="0">
                              <a:latin typeface="Cambria Math" panose="02040503050406030204" pitchFamily="18" charset="0"/>
                            </a:rPr>
                            <m:t>⋯</m:t>
                          </m:r>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𝜏</m:t>
                                  </m:r>
                                </m:e>
                                <m:sub>
                                  <m:r>
                                    <a:rPr lang="zh-CN" altLang="en-US" sz="2400" i="1">
                                      <a:latin typeface="Cambria Math" panose="02040503050406030204" pitchFamily="18" charset="0"/>
                                    </a:rPr>
                                    <m:t>𝑚</m:t>
                                  </m:r>
                                </m:sub>
                              </m:sSub>
                              <m:r>
                                <a:rPr lang="zh-CN" altLang="en-US" sz="2400" i="1">
                                  <a:latin typeface="Cambria Math" panose="02040503050406030204" pitchFamily="18" charset="0"/>
                                </a:rPr>
                                <m:t>𝑠</m:t>
                              </m:r>
                            </m:e>
                          </m:d>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𝑠</m:t>
                              </m:r>
                            </m:e>
                            <m:sup>
                              <m:r>
                                <a:rPr lang="zh-CN" altLang="en-US" sz="2400" i="1">
                                  <a:latin typeface="Cambria Math" panose="02040503050406030204" pitchFamily="18" charset="0"/>
                                </a:rPr>
                                <m:t>𝑙</m:t>
                              </m:r>
                            </m:sup>
                          </m:sSup>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𝑇</m:t>
                                  </m:r>
                                </m:e>
                                <m:sub>
                                  <m:r>
                                    <a:rPr lang="zh-CN" altLang="en-US" sz="2400" i="0">
                                      <a:latin typeface="Cambria Math" panose="02040503050406030204" pitchFamily="18" charset="0"/>
                                    </a:rPr>
                                    <m:t>1</m:t>
                                  </m:r>
                                </m:sub>
                              </m:sSub>
                              <m:r>
                                <a:rPr lang="zh-CN" altLang="en-US" sz="2400" i="1">
                                  <a:latin typeface="Cambria Math" panose="02040503050406030204" pitchFamily="18" charset="0"/>
                                </a:rPr>
                                <m:t>𝑠</m:t>
                              </m:r>
                            </m:e>
                          </m:d>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𝑇</m:t>
                                  </m:r>
                                </m:e>
                                <m:sub>
                                  <m:r>
                                    <a:rPr lang="zh-CN" altLang="en-US" sz="2400" i="0">
                                      <a:latin typeface="Cambria Math" panose="02040503050406030204" pitchFamily="18" charset="0"/>
                                    </a:rPr>
                                    <m:t>2</m:t>
                                  </m:r>
                                </m:sub>
                              </m:sSub>
                              <m:r>
                                <a:rPr lang="zh-CN" altLang="en-US" sz="2400" i="1">
                                  <a:latin typeface="Cambria Math" panose="02040503050406030204" pitchFamily="18" charset="0"/>
                                </a:rPr>
                                <m:t>𝑠</m:t>
                              </m:r>
                            </m:e>
                          </m:d>
                          <m:r>
                            <a:rPr lang="zh-CN" altLang="en-US" sz="2400" i="0">
                              <a:latin typeface="Cambria Math" panose="02040503050406030204" pitchFamily="18" charset="0"/>
                            </a:rPr>
                            <m:t>⋯</m:t>
                          </m:r>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𝑇</m:t>
                                  </m:r>
                                </m:e>
                                <m:sub>
                                  <m:r>
                                    <a:rPr lang="zh-CN" altLang="en-US" sz="2400" i="1">
                                      <a:latin typeface="Cambria Math" panose="02040503050406030204" pitchFamily="18" charset="0"/>
                                    </a:rPr>
                                    <m:t>𝑛</m:t>
                                  </m:r>
                                </m:sub>
                              </m:sSub>
                              <m:r>
                                <a:rPr lang="zh-CN" altLang="en-US" sz="2400" i="1">
                                  <a:latin typeface="Cambria Math" panose="02040503050406030204" pitchFamily="18" charset="0"/>
                                </a:rPr>
                                <m:t>𝑠</m:t>
                              </m:r>
                            </m:e>
                          </m:d>
                        </m:den>
                      </m:f>
                    </m:oMath>
                  </m:oMathPara>
                </a14:m>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1230931" y="4826542"/>
                <a:ext cx="5963684" cy="871521"/>
              </a:xfrm>
              <a:prstGeom prst="rect">
                <a:avLst/>
              </a:prstGeom>
              <a:blipFill>
                <a:blip r:embed="rId8"/>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C81BD5F7-32AE-445C-AB48-6080BA576B81}"/>
              </a:ext>
            </a:extLst>
          </p:cNvPr>
          <p:cNvSpPr>
            <a:spLocks noGrp="1"/>
          </p:cNvSpPr>
          <p:nvPr>
            <p:ph type="sldNum" sz="quarter" idx="12"/>
          </p:nvPr>
        </p:nvSpPr>
        <p:spPr/>
        <p:txBody>
          <a:bodyPr/>
          <a:lstStyle/>
          <a:p>
            <a:fld id="{DC11BA4E-7967-4102-867C-9D230A2E6791}" type="slidenum">
              <a:rPr lang="zh-CN" altLang="en-US" smtClean="0"/>
              <a:t>68</a:t>
            </a:fld>
            <a:endParaRPr lang="zh-CN" altLang="en-US"/>
          </a:p>
        </p:txBody>
      </p:sp>
      <p:sp>
        <p:nvSpPr>
          <p:cNvPr id="12" name="Text Box 9">
            <a:extLst>
              <a:ext uri="{FF2B5EF4-FFF2-40B4-BE49-F238E27FC236}">
                <a16:creationId xmlns:a16="http://schemas.microsoft.com/office/drawing/2014/main" id="{AB494DAC-834E-40D9-9CB8-4FCCF0FC8185}"/>
              </a:ext>
            </a:extLst>
          </p:cNvPr>
          <p:cNvSpPr txBox="1">
            <a:spLocks noChangeArrowheads="1"/>
          </p:cNvSpPr>
          <p:nvPr/>
        </p:nvSpPr>
        <p:spPr bwMode="auto">
          <a:xfrm>
            <a:off x="4212773" y="2663142"/>
            <a:ext cx="48961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algn="r" eaLnBrk="1" hangingPunct="1">
              <a:spcBef>
                <a:spcPct val="50000"/>
              </a:spcBef>
            </a:pPr>
            <a:r>
              <a:rPr kumimoji="0" lang="zh-CN" altLang="en-US" sz="2000" b="1" dirty="0">
                <a:solidFill>
                  <a:srgbClr val="000099"/>
                </a:solidFill>
                <a:latin typeface="宋体" pitchFamily="2" charset="-122"/>
                <a:ea typeface="宋体" pitchFamily="2" charset="-122"/>
              </a:rPr>
              <a:t>图</a:t>
            </a:r>
            <a:r>
              <a:rPr kumimoji="0" lang="en-US" altLang="zh-CN" sz="2000" b="1" dirty="0">
                <a:solidFill>
                  <a:srgbClr val="000099"/>
                </a:solidFill>
                <a:latin typeface="宋体" pitchFamily="2" charset="-122"/>
                <a:ea typeface="宋体" pitchFamily="2" charset="-122"/>
              </a:rPr>
              <a:t>15-17 </a:t>
            </a:r>
            <a:r>
              <a:rPr kumimoji="0" lang="zh-CN" altLang="en-US" sz="2000" b="1" dirty="0">
                <a:solidFill>
                  <a:srgbClr val="000099"/>
                </a:solidFill>
                <a:latin typeface="宋体" pitchFamily="2" charset="-122"/>
                <a:ea typeface="宋体" pitchFamily="2" charset="-122"/>
              </a:rPr>
              <a:t>闭环动力学系统的简化动态框图</a:t>
            </a:r>
          </a:p>
        </p:txBody>
      </p:sp>
      <p:sp>
        <p:nvSpPr>
          <p:cNvPr id="14" name="Rectangle 3">
            <a:extLst>
              <a:ext uri="{FF2B5EF4-FFF2-40B4-BE49-F238E27FC236}">
                <a16:creationId xmlns:a16="http://schemas.microsoft.com/office/drawing/2014/main" id="{79EE1E6C-B7AE-443E-BCCD-DE8CAF261C21}"/>
              </a:ext>
            </a:extLst>
          </p:cNvPr>
          <p:cNvSpPr>
            <a:spLocks noRot="1" noChangeArrowheads="1"/>
          </p:cNvSpPr>
          <p:nvPr/>
        </p:nvSpPr>
        <p:spPr bwMode="auto">
          <a:xfrm>
            <a:off x="325839" y="5772938"/>
            <a:ext cx="7473885" cy="836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marL="0" indent="0" eaLnBrk="1" hangingPunct="1">
              <a:lnSpc>
                <a:spcPts val="3200"/>
              </a:lnSpc>
            </a:pPr>
            <a:r>
              <a:rPr lang="en-US" altLang="zh-CN" sz="2000" b="0" i="1">
                <a:solidFill>
                  <a:schemeClr val="tx1"/>
                </a:solidFill>
                <a:latin typeface="Times New Roman" panose="02020603050405020304" pitchFamily="18" charset="0"/>
              </a:rPr>
              <a:t>τ</a:t>
            </a:r>
            <a:r>
              <a:rPr lang="en-US" altLang="zh-CN" sz="2000" b="0" i="1" baseline="-25000">
                <a:solidFill>
                  <a:schemeClr val="tx1"/>
                </a:solidFill>
                <a:latin typeface="Times New Roman" panose="02020603050405020304" pitchFamily="18" charset="0"/>
              </a:rPr>
              <a:t>i</a:t>
            </a:r>
            <a:r>
              <a:rPr lang="en-US" altLang="zh-CN" sz="200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微分环节时间常数，</a:t>
            </a:r>
            <a:r>
              <a:rPr lang="en-US" altLang="zh-CN" sz="2000" dirty="0">
                <a:solidFill>
                  <a:schemeClr val="tx1"/>
                </a:solidFill>
                <a:latin typeface="宋体" panose="02010600030101010101" pitchFamily="2" charset="-122"/>
              </a:rPr>
              <a:t>(</a:t>
            </a:r>
            <a:r>
              <a:rPr lang="en-US" altLang="zh-CN" sz="2000" b="0" i="1" dirty="0" err="1">
                <a:solidFill>
                  <a:schemeClr val="tx1"/>
                </a:solidFill>
                <a:latin typeface="Times New Roman" panose="02020603050405020304" pitchFamily="18" charset="0"/>
              </a:rPr>
              <a:t>i</a:t>
            </a:r>
            <a:r>
              <a:rPr lang="en-US" altLang="zh-CN" sz="2000" b="0" dirty="0">
                <a:solidFill>
                  <a:schemeClr val="tx1"/>
                </a:solidFill>
                <a:latin typeface="Times New Roman" panose="02020603050405020304" pitchFamily="18" charset="0"/>
              </a:rPr>
              <a:t>=1</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2</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a:t>
            </a:r>
            <a:r>
              <a:rPr lang="en-US" altLang="zh-CN" sz="2000" b="0" i="1" dirty="0">
                <a:solidFill>
                  <a:schemeClr val="tx1"/>
                </a:solidFill>
                <a:latin typeface="Times New Roman" panose="02020603050405020304" pitchFamily="18" charset="0"/>
              </a:rPr>
              <a:t>m</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a:t>
            </a:r>
          </a:p>
          <a:p>
            <a:pPr marL="0" indent="0" eaLnBrk="1" hangingPunct="1">
              <a:lnSpc>
                <a:spcPts val="3200"/>
              </a:lnSpc>
            </a:pPr>
            <a:r>
              <a:rPr lang="en-US" altLang="zh-CN" sz="2000" b="0" i="1" dirty="0" err="1">
                <a:solidFill>
                  <a:schemeClr val="tx1"/>
                </a:solidFill>
                <a:latin typeface="Times New Roman" panose="02020603050405020304" pitchFamily="18" charset="0"/>
              </a:rPr>
              <a:t>T</a:t>
            </a:r>
            <a:r>
              <a:rPr lang="en-US" altLang="zh-CN" sz="2000" b="0" i="1" baseline="-25000" dirty="0" err="1">
                <a:solidFill>
                  <a:schemeClr val="tx1"/>
                </a:solidFill>
                <a:latin typeface="Times New Roman" panose="02020603050405020304" pitchFamily="18" charset="0"/>
              </a:rPr>
              <a:t>j</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非周期环节时间常数，</a:t>
            </a:r>
            <a:r>
              <a:rPr lang="en-US" altLang="zh-CN" sz="2000" dirty="0">
                <a:solidFill>
                  <a:schemeClr val="tx1"/>
                </a:solidFill>
                <a:latin typeface="宋体" panose="02010600030101010101" pitchFamily="2" charset="-122"/>
              </a:rPr>
              <a:t>(</a:t>
            </a:r>
            <a:r>
              <a:rPr lang="en-US" altLang="zh-CN" sz="2000" b="0" i="1" dirty="0">
                <a:solidFill>
                  <a:schemeClr val="tx1"/>
                </a:solidFill>
                <a:latin typeface="Times New Roman" panose="02020603050405020304" pitchFamily="18" charset="0"/>
              </a:rPr>
              <a:t>j</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1</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2</a:t>
            </a:r>
            <a:r>
              <a:rPr lang="zh-CN" altLang="en-US" sz="2000" b="0" dirty="0">
                <a:solidFill>
                  <a:schemeClr val="tx1"/>
                </a:solidFill>
                <a:latin typeface="Times New Roman" panose="02020603050405020304" pitchFamily="18" charset="0"/>
              </a:rPr>
              <a:t>，</a:t>
            </a:r>
            <a:r>
              <a:rPr lang="en-US" altLang="zh-CN" sz="2000" b="0" dirty="0">
                <a:solidFill>
                  <a:schemeClr val="tx1"/>
                </a:solidFill>
                <a:latin typeface="Times New Roman" panose="02020603050405020304" pitchFamily="18" charset="0"/>
              </a:rPr>
              <a:t>…</a:t>
            </a:r>
            <a:r>
              <a:rPr lang="zh-CN" altLang="en-US" sz="2000" b="0" dirty="0">
                <a:solidFill>
                  <a:schemeClr val="tx1"/>
                </a:solidFill>
                <a:latin typeface="Times New Roman" panose="02020603050405020304" pitchFamily="18" charset="0"/>
              </a:rPr>
              <a:t>，</a:t>
            </a:r>
            <a:r>
              <a:rPr lang="en-US" altLang="zh-CN" sz="2000" b="0" i="1" dirty="0">
                <a:solidFill>
                  <a:schemeClr val="tx1"/>
                </a:solidFill>
                <a:latin typeface="Times New Roman" panose="02020603050405020304" pitchFamily="18" charset="0"/>
              </a:rPr>
              <a:t>n</a:t>
            </a:r>
            <a:r>
              <a:rPr lang="en-US" altLang="zh-CN" sz="2000">
                <a:solidFill>
                  <a:schemeClr val="tx1"/>
                </a:solidFill>
                <a:latin typeface="宋体" panose="02010600030101010101" pitchFamily="2" charset="-122"/>
              </a:rPr>
              <a:t>)</a:t>
            </a:r>
            <a:r>
              <a:rPr lang="zh-CN" altLang="en-US" sz="2000">
                <a:solidFill>
                  <a:schemeClr val="tx1"/>
                </a:solidFill>
                <a:latin typeface="宋体" panose="02010600030101010101" pitchFamily="2" charset="-122"/>
              </a:rPr>
              <a:t>；</a:t>
            </a:r>
            <a:endParaRPr lang="zh-CN" altLang="en-US" sz="2000" dirty="0">
              <a:solidFill>
                <a:schemeClr val="tx1"/>
              </a:solidFill>
              <a:latin typeface="宋体" panose="02010600030101010101" pitchFamily="2" charset="-122"/>
            </a:endParaRPr>
          </a:p>
        </p:txBody>
      </p:sp>
      <p:sp>
        <p:nvSpPr>
          <p:cNvPr id="15" name="Rectangle 3">
            <a:extLst>
              <a:ext uri="{FF2B5EF4-FFF2-40B4-BE49-F238E27FC236}">
                <a16:creationId xmlns:a16="http://schemas.microsoft.com/office/drawing/2014/main" id="{8867CE59-2F63-4D59-B6E0-2D8264C55DBD}"/>
              </a:ext>
            </a:extLst>
          </p:cNvPr>
          <p:cNvSpPr>
            <a:spLocks noRot="1" noChangeArrowheads="1"/>
          </p:cNvSpPr>
          <p:nvPr/>
        </p:nvSpPr>
        <p:spPr bwMode="auto">
          <a:xfrm>
            <a:off x="6220092" y="5755466"/>
            <a:ext cx="2295257" cy="871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marL="0" indent="0" eaLnBrk="1" hangingPunct="1">
              <a:lnSpc>
                <a:spcPts val="3200"/>
              </a:lnSpc>
            </a:pPr>
            <a:r>
              <a:rPr lang="en-US" altLang="zh-CN" sz="2000" b="0" i="1">
                <a:solidFill>
                  <a:schemeClr val="tx1"/>
                </a:solidFill>
                <a:latin typeface="Times New Roman" panose="02020603050405020304" pitchFamily="18" charset="0"/>
              </a:rPr>
              <a:t>k</a:t>
            </a:r>
            <a:r>
              <a:rPr lang="en-US" altLang="zh-CN" sz="2000">
                <a:solidFill>
                  <a:schemeClr val="tx1"/>
                </a:solidFill>
                <a:latin typeface="宋体" panose="02010600030101010101" pitchFamily="2" charset="-122"/>
              </a:rPr>
              <a:t>-</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静态放大倍数；</a:t>
            </a:r>
          </a:p>
          <a:p>
            <a:pPr marL="0" indent="0" eaLnBrk="1" hangingPunct="1">
              <a:lnSpc>
                <a:spcPts val="3200"/>
              </a:lnSpc>
            </a:pPr>
            <a:r>
              <a:rPr lang="en-US" altLang="zh-CN" sz="2000" b="0" i="1" dirty="0">
                <a:solidFill>
                  <a:schemeClr val="tx1"/>
                </a:solidFill>
                <a:latin typeface="Times New Roman" panose="02020603050405020304" pitchFamily="18" charset="0"/>
              </a:rPr>
              <a:t>l</a:t>
            </a:r>
            <a:r>
              <a:rPr lang="en-US" altLang="zh-CN" sz="2000" dirty="0">
                <a:solidFill>
                  <a:schemeClr val="tx1"/>
                </a:solidFill>
                <a:latin typeface="宋体" panose="02010600030101010101" pitchFamily="2" charset="-122"/>
              </a:rPr>
              <a:t>--</a:t>
            </a:r>
            <a:r>
              <a:rPr lang="zh-CN" altLang="en-US" sz="2000" dirty="0">
                <a:solidFill>
                  <a:schemeClr val="tx1"/>
                </a:solidFill>
                <a:latin typeface="宋体" panose="02010600030101010101" pitchFamily="2" charset="-122"/>
              </a:rPr>
              <a:t>积分环节数目</a:t>
            </a:r>
            <a:endParaRPr lang="en-US" altLang="zh-CN" sz="2000" dirty="0">
              <a:solidFill>
                <a:schemeClr val="tx1"/>
              </a:solidFill>
              <a:latin typeface="宋体" panose="02010600030101010101" pitchFamily="2" charset="-122"/>
            </a:endParaRPr>
          </a:p>
        </p:txBody>
      </p:sp>
    </p:spTree>
    <p:extLst>
      <p:ext uri="{BB962C8B-B14F-4D97-AF65-F5344CB8AC3E}">
        <p14:creationId xmlns:p14="http://schemas.microsoft.com/office/powerpoint/2010/main" val="26832206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solidFill>
                <a:schemeClr val="bg1">
                  <a:lumMod val="50000"/>
                </a:schemeClr>
              </a:solidFill>
            </a:endParaRPr>
          </a:p>
        </p:txBody>
      </p:sp>
      <p:sp>
        <p:nvSpPr>
          <p:cNvPr id="30" name="圆角矩形 2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15.4.2</a:t>
            </a:r>
          </a:p>
        </p:txBody>
      </p:sp>
      <p:sp>
        <p:nvSpPr>
          <p:cNvPr id="31" name="矩形 30"/>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动态测量数据处理方法</a:t>
            </a:r>
          </a:p>
        </p:txBody>
      </p:sp>
      <p:graphicFrame>
        <p:nvGraphicFramePr>
          <p:cNvPr id="43" name="Object 16"/>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71687"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17"/>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5" imgW="391303" imgH="739129" progId="Equation.3">
                  <p:embed/>
                </p:oleObj>
              </mc:Choice>
              <mc:Fallback>
                <p:oleObj name="Equation" r:id="rId5" imgW="391303" imgH="739129" progId="Equation.3">
                  <p:embed/>
                  <p:pic>
                    <p:nvPicPr>
                      <p:cNvPr id="71688"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p:nvPr/>
        </p:nvSpPr>
        <p:spPr>
          <a:xfrm>
            <a:off x="745338" y="4151168"/>
            <a:ext cx="6990581" cy="461665"/>
          </a:xfrm>
          <a:prstGeom prst="rect">
            <a:avLst/>
          </a:prstGeom>
        </p:spPr>
        <p:txBody>
          <a:bodyPr wrap="square">
            <a:spAutoFit/>
          </a:bodyPr>
          <a:lstStyle/>
          <a:p>
            <a:r>
              <a:rPr lang="zh-CN" altLang="en-US" sz="2400" b="1" dirty="0">
                <a:latin typeface="宋体" panose="02010600030101010101" pitchFamily="2" charset="-122"/>
                <a:ea typeface="宋体" panose="02010600030101010101" pitchFamily="2" charset="-122"/>
              </a:rPr>
              <a:t>在零初始条件下，根据拉氏变换公式，可以得到</a:t>
            </a:r>
            <a:r>
              <a:rPr lang="en-US" altLang="zh-CN" sz="2400" b="1" dirty="0">
                <a:latin typeface="宋体" panose="02010600030101010101" pitchFamily="2" charset="-122"/>
                <a:ea typeface="宋体" panose="02010600030101010101" pitchFamily="2" charset="-122"/>
              </a:rPr>
              <a:t>: </a:t>
            </a:r>
          </a:p>
        </p:txBody>
      </p:sp>
      <mc:AlternateContent xmlns:mc="http://schemas.openxmlformats.org/markup-compatibility/2006" xmlns:a14="http://schemas.microsoft.com/office/drawing/2010/main">
        <mc:Choice Requires="a14">
          <p:sp>
            <p:nvSpPr>
              <p:cNvPr id="4" name="矩形 3"/>
              <p:cNvSpPr/>
              <p:nvPr/>
            </p:nvSpPr>
            <p:spPr>
              <a:xfrm>
                <a:off x="485224" y="1370381"/>
                <a:ext cx="8491302" cy="149893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CN" sz="2000" b="0" i="0" smtClean="0">
                          <a:latin typeface="Cambria Math"/>
                        </a:rPr>
                        <m:t>     </m:t>
                      </m:r>
                      <m:r>
                        <a:rPr lang="zh-CN" altLang="en-US" sz="2000">
                          <a:latin typeface="Cambria Math" panose="02040503050406030204" pitchFamily="18" charset="0"/>
                        </a:rPr>
                        <m:t>∆</m:t>
                      </m:r>
                      <m:r>
                        <a:rPr lang="zh-CN" altLang="en-US" sz="2000" i="1">
                          <a:latin typeface="Cambria Math" panose="02040503050406030204" pitchFamily="18" charset="0"/>
                        </a:rPr>
                        <m:t>𝑋</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𝑠</m:t>
                          </m:r>
                        </m:e>
                      </m:d>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𝑋</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𝑠</m:t>
                              </m:r>
                            </m:e>
                          </m:d>
                        </m:num>
                        <m:den>
                          <m:r>
                            <a:rPr lang="zh-CN" altLang="en-US" sz="2000" i="0">
                              <a:latin typeface="Cambria Math" panose="02040503050406030204" pitchFamily="18" charset="0"/>
                            </a:rPr>
                            <m:t>1+</m:t>
                          </m:r>
                          <m:r>
                            <a:rPr lang="zh-CN" altLang="en-US" sz="2000" i="1">
                              <a:latin typeface="Cambria Math" panose="02040503050406030204" pitchFamily="18" charset="0"/>
                            </a:rPr>
                            <m:t>𝛽</m:t>
                          </m:r>
                          <m:r>
                            <a:rPr lang="zh-CN" altLang="en-US" sz="2000" i="1">
                              <a:latin typeface="Cambria Math" panose="02040503050406030204" pitchFamily="18" charset="0"/>
                            </a:rPr>
                            <m:t>𝐾</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𝑠</m:t>
                              </m:r>
                            </m:e>
                          </m:d>
                        </m:den>
                      </m:f>
                      <m:r>
                        <a:rPr lang="en-US" altLang="zh-CN" sz="2000" b="0" i="0" smtClean="0">
                          <a:latin typeface="Cambria Math" panose="02040503050406030204" pitchFamily="18" charset="0"/>
                        </a:rPr>
                        <m:t>  </m:t>
                      </m:r>
                    </m:oMath>
                  </m:oMathPara>
                </a14:m>
                <a:endParaRPr lang="en-US" altLang="zh-CN" sz="2000" b="0" i="0">
                  <a:latin typeface="Cambria Math" panose="02040503050406030204" pitchFamily="18" charset="0"/>
                </a:endParaRPr>
              </a:p>
              <a:p>
                <a:r>
                  <a:rPr lang="zh-CN" altLang="en-US" sz="2000"/>
                  <a:t>              </a:t>
                </a:r>
                <a14:m>
                  <m:oMath xmlns:m="http://schemas.openxmlformats.org/officeDocument/2006/math">
                    <m:r>
                      <a:rPr lang="zh-CN" altLang="en-US" sz="2800" i="0">
                        <a:latin typeface="Cambria Math" panose="02040503050406030204" pitchFamily="18" charset="0"/>
                      </a:rPr>
                      <m:t>=</m:t>
                    </m:r>
                    <m:f>
                      <m:fPr>
                        <m:ctrlPr>
                          <a:rPr lang="zh-CN" altLang="en-US" sz="2800" i="1">
                            <a:latin typeface="Cambria Math" panose="02040503050406030204" pitchFamily="18" charset="0"/>
                          </a:rPr>
                        </m:ctrlPr>
                      </m:fPr>
                      <m:num>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𝑠</m:t>
                            </m:r>
                          </m:e>
                          <m:sup>
                            <m:r>
                              <a:rPr lang="zh-CN" altLang="en-US" sz="2800" i="1">
                                <a:latin typeface="Cambria Math" panose="02040503050406030204" pitchFamily="18" charset="0"/>
                              </a:rPr>
                              <m:t>𝑙</m:t>
                            </m:r>
                          </m:sup>
                        </m:sSup>
                        <m:d>
                          <m:dPr>
                            <m:ctrlPr>
                              <a:rPr lang="zh-CN" altLang="en-US" sz="2800" i="1">
                                <a:latin typeface="Cambria Math" panose="02040503050406030204" pitchFamily="18" charset="0"/>
                              </a:rPr>
                            </m:ctrlPr>
                          </m:dPr>
                          <m:e>
                            <m:r>
                              <a:rPr lang="zh-CN" altLang="en-US" sz="2800" i="0">
                                <a:latin typeface="Cambria Math" panose="02040503050406030204" pitchFamily="18" charset="0"/>
                              </a:rPr>
                              <m:t>1+</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0">
                                    <a:latin typeface="Cambria Math" panose="02040503050406030204" pitchFamily="18" charset="0"/>
                                  </a:rPr>
                                  <m:t>1</m:t>
                                </m:r>
                              </m:sub>
                            </m:sSub>
                            <m:r>
                              <a:rPr lang="zh-CN" altLang="en-US" sz="2800" i="1">
                                <a:latin typeface="Cambria Math" panose="02040503050406030204" pitchFamily="18" charset="0"/>
                              </a:rPr>
                              <m:t>𝑠</m:t>
                            </m:r>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0">
                                    <a:latin typeface="Cambria Math" panose="02040503050406030204" pitchFamily="18" charset="0"/>
                                  </a:rPr>
                                  <m:t>2</m:t>
                                </m:r>
                              </m:sub>
                            </m:sSub>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𝑠</m:t>
                                </m:r>
                              </m:e>
                              <m:sup>
                                <m:r>
                                  <a:rPr lang="zh-CN" altLang="en-US" sz="2800" i="0">
                                    <a:latin typeface="Cambria Math" panose="02040503050406030204" pitchFamily="18" charset="0"/>
                                  </a:rPr>
                                  <m:t>2</m:t>
                                </m:r>
                              </m:sup>
                            </m:sSup>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1">
                                    <a:latin typeface="Cambria Math" panose="02040503050406030204" pitchFamily="18" charset="0"/>
                                  </a:rPr>
                                  <m:t>𝑛</m:t>
                                </m:r>
                              </m:sub>
                            </m:sSub>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𝑠</m:t>
                                </m:r>
                              </m:e>
                              <m:sup>
                                <m:r>
                                  <a:rPr lang="zh-CN" altLang="en-US" sz="2800" i="1">
                                    <a:latin typeface="Cambria Math" panose="02040503050406030204" pitchFamily="18" charset="0"/>
                                  </a:rPr>
                                  <m:t>𝑛</m:t>
                                </m:r>
                              </m:sup>
                            </m:sSup>
                          </m:e>
                        </m:d>
                        <m:r>
                          <a:rPr lang="zh-CN" altLang="en-US" sz="2800" i="1">
                            <a:latin typeface="Cambria Math" panose="02040503050406030204" pitchFamily="18" charset="0"/>
                          </a:rPr>
                          <m:t>𝑋</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𝑠</m:t>
                            </m:r>
                          </m:e>
                        </m:d>
                      </m:num>
                      <m:den>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𝑠</m:t>
                            </m:r>
                          </m:e>
                          <m:sup>
                            <m:r>
                              <a:rPr lang="zh-CN" altLang="en-US" sz="2800" i="1">
                                <a:latin typeface="Cambria Math" panose="02040503050406030204" pitchFamily="18" charset="0"/>
                              </a:rPr>
                              <m:t>𝑙</m:t>
                            </m:r>
                          </m:sup>
                        </m:sSup>
                        <m:d>
                          <m:dPr>
                            <m:ctrlPr>
                              <a:rPr lang="zh-CN" altLang="en-US" sz="2800" i="1">
                                <a:latin typeface="Cambria Math" panose="02040503050406030204" pitchFamily="18" charset="0"/>
                              </a:rPr>
                            </m:ctrlPr>
                          </m:dPr>
                          <m:e>
                            <m:r>
                              <a:rPr lang="zh-CN" altLang="en-US" sz="2800" i="0">
                                <a:latin typeface="Cambria Math" panose="02040503050406030204" pitchFamily="18" charset="0"/>
                              </a:rPr>
                              <m:t>1+</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0">
                                    <a:latin typeface="Cambria Math" panose="02040503050406030204" pitchFamily="18" charset="0"/>
                                  </a:rPr>
                                  <m:t>1</m:t>
                                </m:r>
                              </m:sub>
                            </m:sSub>
                            <m:r>
                              <a:rPr lang="zh-CN" altLang="en-US" sz="2800" i="1">
                                <a:latin typeface="Cambria Math" panose="02040503050406030204" pitchFamily="18" charset="0"/>
                              </a:rPr>
                              <m:t>𝑠</m:t>
                            </m:r>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0">
                                    <a:latin typeface="Cambria Math" panose="02040503050406030204" pitchFamily="18" charset="0"/>
                                  </a:rPr>
                                  <m:t>2</m:t>
                                </m:r>
                              </m:sub>
                            </m:sSub>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𝑠</m:t>
                                </m:r>
                              </m:e>
                              <m:sup>
                                <m:r>
                                  <a:rPr lang="zh-CN" altLang="en-US" sz="2800" i="0">
                                    <a:latin typeface="Cambria Math" panose="02040503050406030204" pitchFamily="18" charset="0"/>
                                  </a:rPr>
                                  <m:t>2</m:t>
                                </m:r>
                              </m:sup>
                            </m:sSup>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1">
                                    <a:latin typeface="Cambria Math" panose="02040503050406030204" pitchFamily="18" charset="0"/>
                                  </a:rPr>
                                  <m:t>𝑛</m:t>
                                </m:r>
                              </m:sub>
                            </m:sSub>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𝑠</m:t>
                                </m:r>
                              </m:e>
                              <m:sup>
                                <m:r>
                                  <a:rPr lang="zh-CN" altLang="en-US" sz="2800" i="1">
                                    <a:latin typeface="Cambria Math" panose="02040503050406030204" pitchFamily="18" charset="0"/>
                                  </a:rPr>
                                  <m:t>𝑛</m:t>
                                </m:r>
                              </m:sup>
                            </m:sSup>
                          </m:e>
                        </m:d>
                        <m:r>
                          <a:rPr lang="zh-CN" altLang="en-US" sz="2800" i="0">
                            <a:latin typeface="Cambria Math" panose="02040503050406030204" pitchFamily="18" charset="0"/>
                          </a:rPr>
                          <m:t>+</m:t>
                        </m:r>
                        <m:r>
                          <a:rPr lang="zh-CN" altLang="en-US" sz="2800" i="1">
                            <a:latin typeface="Cambria Math" panose="02040503050406030204" pitchFamily="18" charset="0"/>
                          </a:rPr>
                          <m:t>𝛽</m:t>
                        </m:r>
                        <m:r>
                          <a:rPr lang="zh-CN" altLang="en-US" sz="2800" i="1">
                            <a:latin typeface="Cambria Math" panose="02040503050406030204" pitchFamily="18" charset="0"/>
                          </a:rPr>
                          <m:t>𝑘</m:t>
                        </m:r>
                        <m:d>
                          <m:dPr>
                            <m:ctrlPr>
                              <a:rPr lang="zh-CN" altLang="en-US" sz="2800" i="1">
                                <a:latin typeface="Cambria Math" panose="02040503050406030204" pitchFamily="18" charset="0"/>
                              </a:rPr>
                            </m:ctrlPr>
                          </m:dPr>
                          <m:e>
                            <m:r>
                              <a:rPr lang="zh-CN" altLang="en-US" sz="2800" i="0">
                                <a:latin typeface="Cambria Math" panose="02040503050406030204" pitchFamily="18" charset="0"/>
                              </a:rPr>
                              <m:t>1+</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𝑏</m:t>
                                </m:r>
                              </m:e>
                              <m:sub>
                                <m:r>
                                  <a:rPr lang="zh-CN" altLang="en-US" sz="2800" i="0">
                                    <a:latin typeface="Cambria Math" panose="02040503050406030204" pitchFamily="18" charset="0"/>
                                  </a:rPr>
                                  <m:t>1</m:t>
                                </m:r>
                              </m:sub>
                            </m:sSub>
                            <m:r>
                              <a:rPr lang="zh-CN" altLang="en-US" sz="2800" i="1">
                                <a:latin typeface="Cambria Math" panose="02040503050406030204" pitchFamily="18" charset="0"/>
                              </a:rPr>
                              <m:t>𝑠</m:t>
                            </m:r>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𝑏</m:t>
                                </m:r>
                              </m:e>
                              <m:sub>
                                <m:r>
                                  <a:rPr lang="zh-CN" altLang="en-US" sz="2800" i="0">
                                    <a:latin typeface="Cambria Math" panose="02040503050406030204" pitchFamily="18" charset="0"/>
                                  </a:rPr>
                                  <m:t>2</m:t>
                                </m:r>
                              </m:sub>
                            </m:sSub>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𝑠</m:t>
                                </m:r>
                              </m:e>
                              <m:sup>
                                <m:r>
                                  <a:rPr lang="zh-CN" altLang="en-US" sz="2800" i="0">
                                    <a:latin typeface="Cambria Math" panose="02040503050406030204" pitchFamily="18" charset="0"/>
                                  </a:rPr>
                                  <m:t>2</m:t>
                                </m:r>
                              </m:sup>
                            </m:sSup>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𝑏</m:t>
                                </m:r>
                              </m:e>
                              <m:sub>
                                <m:r>
                                  <a:rPr lang="zh-CN" altLang="en-US" sz="2800" i="1">
                                    <a:latin typeface="Cambria Math" panose="02040503050406030204" pitchFamily="18" charset="0"/>
                                  </a:rPr>
                                  <m:t>𝑚</m:t>
                                </m:r>
                              </m:sub>
                            </m:sSub>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𝑠</m:t>
                                </m:r>
                              </m:e>
                              <m:sup>
                                <m:r>
                                  <a:rPr lang="zh-CN" altLang="en-US" sz="2800" i="1">
                                    <a:latin typeface="Cambria Math" panose="02040503050406030204" pitchFamily="18" charset="0"/>
                                  </a:rPr>
                                  <m:t>𝑚</m:t>
                                </m:r>
                              </m:sup>
                            </m:sSup>
                          </m:e>
                        </m:d>
                      </m:den>
                    </m:f>
                  </m:oMath>
                </a14:m>
                <a:endParaRPr lang="zh-CN" altLang="en-US" sz="2000" dirty="0"/>
              </a:p>
            </p:txBody>
          </p:sp>
        </mc:Choice>
        <mc:Fallback xmlns="">
          <p:sp>
            <p:nvSpPr>
              <p:cNvPr id="4" name="矩形 3"/>
              <p:cNvSpPr>
                <a:spLocks noRot="1" noChangeAspect="1" noMove="1" noResize="1" noEditPoints="1" noAdjustHandles="1" noChangeArrowheads="1" noChangeShapeType="1" noTextEdit="1"/>
              </p:cNvSpPr>
              <p:nvPr/>
            </p:nvSpPr>
            <p:spPr>
              <a:xfrm>
                <a:off x="485224" y="1370381"/>
                <a:ext cx="8491302" cy="1498936"/>
              </a:xfrm>
              <a:prstGeom prst="rect">
                <a:avLst/>
              </a:prstGeom>
              <a:blipFill>
                <a:blip r:embed="rId8"/>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744721" y="3028977"/>
                <a:ext cx="5655394" cy="6910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a:latin typeface="Cambria Math" panose="02040503050406030204" pitchFamily="18" charset="0"/>
                        </a:rPr>
                        <m:t>∆</m:t>
                      </m:r>
                      <m:r>
                        <a:rPr lang="zh-CN" altLang="en-US" sz="2200" i="1">
                          <a:latin typeface="Cambria Math" panose="02040503050406030204" pitchFamily="18" charset="0"/>
                        </a:rPr>
                        <m:t>𝑋</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𝑠</m:t>
                          </m:r>
                        </m:e>
                      </m:d>
                      <m:r>
                        <a:rPr lang="zh-CN" altLang="en-US" sz="2200" i="0">
                          <a:latin typeface="Cambria Math" panose="02040503050406030204" pitchFamily="18" charset="0"/>
                        </a:rPr>
                        <m:t>=</m:t>
                      </m:r>
                      <m:d>
                        <m:dPr>
                          <m:ctrlPr>
                            <a:rPr lang="zh-CN" altLang="en-US" sz="2200" i="1">
                              <a:latin typeface="Cambria Math" panose="02040503050406030204" pitchFamily="18" charset="0"/>
                            </a:rPr>
                          </m:ctrlPr>
                        </m:dPr>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𝑐</m:t>
                              </m:r>
                            </m:e>
                            <m:sub>
                              <m:r>
                                <a:rPr lang="zh-CN" altLang="en-US" sz="2200" i="0">
                                  <a:latin typeface="Cambria Math" panose="02040503050406030204" pitchFamily="18" charset="0"/>
                                </a:rPr>
                                <m:t>0</m:t>
                              </m:r>
                            </m:sub>
                          </m:sSub>
                          <m:r>
                            <a:rPr lang="zh-CN" altLang="en-US" sz="2200" i="0">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𝑐</m:t>
                              </m:r>
                            </m:e>
                            <m:sub>
                              <m:r>
                                <a:rPr lang="zh-CN" altLang="en-US" sz="2200" i="0">
                                  <a:latin typeface="Cambria Math" panose="02040503050406030204" pitchFamily="18" charset="0"/>
                                </a:rPr>
                                <m:t>1</m:t>
                              </m:r>
                            </m:sub>
                          </m:sSub>
                          <m:r>
                            <a:rPr lang="zh-CN" altLang="en-US" sz="2200" i="1">
                              <a:latin typeface="Cambria Math" panose="02040503050406030204" pitchFamily="18" charset="0"/>
                            </a:rPr>
                            <m:t>𝑠</m:t>
                          </m:r>
                          <m:r>
                            <a:rPr lang="zh-CN" altLang="en-US" sz="2200" i="0">
                              <a:latin typeface="Cambria Math" panose="02040503050406030204" pitchFamily="18" charset="0"/>
                            </a:rPr>
                            <m:t>+</m:t>
                          </m:r>
                          <m:sSup>
                            <m:sSupPr>
                              <m:ctrlPr>
                                <a:rPr lang="zh-CN" altLang="en-US" sz="2200" i="1">
                                  <a:latin typeface="Cambria Math" panose="02040503050406030204" pitchFamily="18" charset="0"/>
                                </a:rPr>
                              </m:ctrlPr>
                            </m:sSupPr>
                            <m:e>
                              <m:f>
                                <m:fPr>
                                  <m:ctrlPr>
                                    <a:rPr lang="zh-CN" altLang="en-US" sz="2200" i="1">
                                      <a:latin typeface="Cambria Math" panose="02040503050406030204" pitchFamily="18" charset="0"/>
                                    </a:rPr>
                                  </m:ctrlPr>
                                </m:fPr>
                                <m:num>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𝑐</m:t>
                                      </m:r>
                                    </m:e>
                                    <m:sub>
                                      <m:r>
                                        <a:rPr lang="zh-CN" altLang="en-US" sz="2200" i="0">
                                          <a:latin typeface="Cambria Math" panose="02040503050406030204" pitchFamily="18" charset="0"/>
                                        </a:rPr>
                                        <m:t>2</m:t>
                                      </m:r>
                                    </m:sub>
                                  </m:sSub>
                                </m:num>
                                <m:den>
                                  <m:r>
                                    <a:rPr lang="zh-CN" altLang="en-US" sz="2200" i="0">
                                      <a:latin typeface="Cambria Math" panose="02040503050406030204" pitchFamily="18" charset="0"/>
                                    </a:rPr>
                                    <m:t>2!</m:t>
                                  </m:r>
                                </m:den>
                              </m:f>
                              <m:r>
                                <a:rPr lang="zh-CN" altLang="en-US" sz="2200" i="1">
                                  <a:latin typeface="Cambria Math" panose="02040503050406030204" pitchFamily="18" charset="0"/>
                                </a:rPr>
                                <m:t>𝑠</m:t>
                              </m:r>
                            </m:e>
                            <m:sup>
                              <m:r>
                                <a:rPr lang="zh-CN" altLang="en-US" sz="2200" i="0">
                                  <a:latin typeface="Cambria Math" panose="02040503050406030204" pitchFamily="18" charset="0"/>
                                </a:rPr>
                                <m:t>2</m:t>
                              </m:r>
                            </m:sup>
                          </m:sSup>
                          <m:r>
                            <a:rPr lang="zh-CN" altLang="en-US" sz="2200" i="0">
                              <a:latin typeface="Cambria Math" panose="02040503050406030204" pitchFamily="18" charset="0"/>
                            </a:rPr>
                            <m:t>+</m:t>
                          </m:r>
                          <m:sSup>
                            <m:sSupPr>
                              <m:ctrlPr>
                                <a:rPr lang="zh-CN" altLang="en-US" sz="2200" i="1">
                                  <a:latin typeface="Cambria Math" panose="02040503050406030204" pitchFamily="18" charset="0"/>
                                </a:rPr>
                              </m:ctrlPr>
                            </m:sSupPr>
                            <m:e>
                              <m:f>
                                <m:fPr>
                                  <m:ctrlPr>
                                    <a:rPr lang="zh-CN" altLang="en-US" sz="2200" i="1">
                                      <a:latin typeface="Cambria Math" panose="02040503050406030204" pitchFamily="18" charset="0"/>
                                    </a:rPr>
                                  </m:ctrlPr>
                                </m:fPr>
                                <m:num>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𝑐</m:t>
                                      </m:r>
                                    </m:e>
                                    <m:sub>
                                      <m:r>
                                        <a:rPr lang="zh-CN" altLang="en-US" sz="2200" i="0">
                                          <a:latin typeface="Cambria Math" panose="02040503050406030204" pitchFamily="18" charset="0"/>
                                        </a:rPr>
                                        <m:t>3</m:t>
                                      </m:r>
                                    </m:sub>
                                  </m:sSub>
                                </m:num>
                                <m:den>
                                  <m:r>
                                    <a:rPr lang="zh-CN" altLang="en-US" sz="2200" i="0">
                                      <a:latin typeface="Cambria Math" panose="02040503050406030204" pitchFamily="18" charset="0"/>
                                    </a:rPr>
                                    <m:t>3!</m:t>
                                  </m:r>
                                </m:den>
                              </m:f>
                              <m:r>
                                <a:rPr lang="zh-CN" altLang="en-US" sz="2200" i="1">
                                  <a:latin typeface="Cambria Math" panose="02040503050406030204" pitchFamily="18" charset="0"/>
                                </a:rPr>
                                <m:t>𝑠</m:t>
                              </m:r>
                            </m:e>
                            <m:sup>
                              <m:r>
                                <a:rPr lang="zh-CN" altLang="en-US" sz="2200" i="0">
                                  <a:latin typeface="Cambria Math" panose="02040503050406030204" pitchFamily="18" charset="0"/>
                                </a:rPr>
                                <m:t>3</m:t>
                              </m:r>
                            </m:sup>
                          </m:sSup>
                          <m:r>
                            <a:rPr lang="zh-CN" altLang="en-US" sz="2200" i="0">
                              <a:latin typeface="Cambria Math" panose="02040503050406030204" pitchFamily="18" charset="0"/>
                            </a:rPr>
                            <m:t>+⋯</m:t>
                          </m:r>
                        </m:e>
                      </m:d>
                      <m:r>
                        <a:rPr lang="zh-CN" altLang="en-US" sz="2200" i="1">
                          <a:latin typeface="Cambria Math" panose="02040503050406030204" pitchFamily="18" charset="0"/>
                        </a:rPr>
                        <m:t>𝑋</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𝑠</m:t>
                          </m:r>
                        </m:e>
                      </m:d>
                    </m:oMath>
                  </m:oMathPara>
                </a14:m>
                <a:endParaRPr lang="zh-CN" altLang="en-US" sz="2200" dirty="0"/>
              </a:p>
            </p:txBody>
          </p:sp>
        </mc:Choice>
        <mc:Fallback xmlns="">
          <p:sp>
            <p:nvSpPr>
              <p:cNvPr id="5" name="矩形 4"/>
              <p:cNvSpPr>
                <a:spLocks noRot="1" noChangeAspect="1" noMove="1" noResize="1" noEditPoints="1" noAdjustHandles="1" noChangeArrowheads="1" noChangeShapeType="1" noTextEdit="1"/>
              </p:cNvSpPr>
              <p:nvPr/>
            </p:nvSpPr>
            <p:spPr>
              <a:xfrm>
                <a:off x="744721" y="3028977"/>
                <a:ext cx="5655394" cy="691087"/>
              </a:xfrm>
              <a:prstGeom prst="rect">
                <a:avLst/>
              </a:prstGeom>
              <a:blipFill>
                <a:blip r:embed="rId9"/>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85224" y="4818801"/>
                <a:ext cx="7770628" cy="83349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a:latin typeface="Cambria Math" panose="02040503050406030204" pitchFamily="18" charset="0"/>
                        </a:rPr>
                        <m:t>∆</m:t>
                      </m:r>
                      <m:r>
                        <a:rPr lang="zh-CN" altLang="en-US" sz="2400" i="1">
                          <a:latin typeface="Cambria Math" panose="02040503050406030204" pitchFamily="18" charset="0"/>
                        </a:rPr>
                        <m:t>𝑥</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𝑡</m:t>
                          </m:r>
                        </m:e>
                      </m:d>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0">
                              <a:latin typeface="Cambria Math" panose="02040503050406030204" pitchFamily="18" charset="0"/>
                            </a:rPr>
                            <m:t>0</m:t>
                          </m:r>
                        </m:sub>
                      </m:sSub>
                      <m:r>
                        <a:rPr lang="zh-CN" altLang="en-US" sz="2400" i="1">
                          <a:latin typeface="Cambria Math" panose="02040503050406030204" pitchFamily="18" charset="0"/>
                        </a:rPr>
                        <m:t>𝑥</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𝑡</m:t>
                          </m:r>
                        </m:e>
                      </m:d>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0">
                              <a:latin typeface="Cambria Math" panose="02040503050406030204" pitchFamily="18" charset="0"/>
                            </a:rPr>
                            <m:t>1</m:t>
                          </m:r>
                        </m:sub>
                      </m:sSub>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𝑑𝑥</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𝑡</m:t>
                              </m:r>
                            </m:e>
                          </m:d>
                        </m:num>
                        <m:den>
                          <m:r>
                            <a:rPr lang="zh-CN" altLang="en-US" sz="2400" i="1">
                              <a:latin typeface="Cambria Math" panose="02040503050406030204" pitchFamily="18" charset="0"/>
                            </a:rPr>
                            <m:t>𝑑𝑡</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0">
                                  <a:latin typeface="Cambria Math" panose="02040503050406030204" pitchFamily="18" charset="0"/>
                                </a:rPr>
                                <m:t>2</m:t>
                              </m:r>
                            </m:sub>
                          </m:sSub>
                        </m:num>
                        <m:den>
                          <m:r>
                            <a:rPr lang="zh-CN" altLang="en-US" sz="2400" i="0">
                              <a:latin typeface="Cambria Math" panose="02040503050406030204" pitchFamily="18" charset="0"/>
                            </a:rPr>
                            <m:t>2!</m:t>
                          </m:r>
                        </m:den>
                      </m:f>
                      <m:f>
                        <m:fPr>
                          <m:ctrlPr>
                            <a:rPr lang="zh-CN" altLang="en-US" sz="2400" i="1">
                              <a:latin typeface="Cambria Math" panose="02040503050406030204" pitchFamily="18" charset="0"/>
                            </a:rPr>
                          </m:ctrlPr>
                        </m:fPr>
                        <m:num>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𝑑</m:t>
                              </m:r>
                            </m:e>
                            <m:sup>
                              <m:r>
                                <a:rPr lang="zh-CN" altLang="en-US" sz="2400" i="0">
                                  <a:latin typeface="Cambria Math" panose="02040503050406030204" pitchFamily="18" charset="0"/>
                                </a:rPr>
                                <m:t>2</m:t>
                              </m:r>
                            </m:sup>
                          </m:sSup>
                          <m:r>
                            <a:rPr lang="zh-CN" altLang="en-US" sz="2400" i="1">
                              <a:latin typeface="Cambria Math" panose="02040503050406030204" pitchFamily="18" charset="0"/>
                            </a:rPr>
                            <m:t>𝑥</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𝑡</m:t>
                              </m:r>
                            </m:e>
                          </m:d>
                        </m:num>
                        <m:den>
                          <m:r>
                            <a:rPr lang="zh-CN" altLang="en-US" sz="2400" i="1">
                              <a:latin typeface="Cambria Math" panose="02040503050406030204" pitchFamily="18" charset="0"/>
                            </a:rPr>
                            <m:t>𝑑</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𝑡</m:t>
                              </m:r>
                            </m:e>
                            <m:sup>
                              <m:r>
                                <a:rPr lang="zh-CN" altLang="en-US" sz="2400" i="0">
                                  <a:latin typeface="Cambria Math" panose="02040503050406030204" pitchFamily="18" charset="0"/>
                                </a:rPr>
                                <m:t>2</m:t>
                              </m:r>
                            </m:sup>
                          </m:sSup>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1">
                                  <a:latin typeface="Cambria Math" panose="02040503050406030204" pitchFamily="18" charset="0"/>
                                </a:rPr>
                                <m:t>𝑛</m:t>
                              </m:r>
                            </m:sub>
                          </m:sSub>
                        </m:num>
                        <m:den>
                          <m:r>
                            <a:rPr lang="zh-CN" altLang="en-US" sz="2400" i="1">
                              <a:latin typeface="Cambria Math" panose="02040503050406030204" pitchFamily="18" charset="0"/>
                            </a:rPr>
                            <m:t>𝑛</m:t>
                          </m:r>
                          <m:r>
                            <a:rPr lang="zh-CN" altLang="en-US" sz="2400" i="0">
                              <a:latin typeface="Cambria Math" panose="02040503050406030204" pitchFamily="18" charset="0"/>
                            </a:rPr>
                            <m:t>!</m:t>
                          </m:r>
                        </m:den>
                      </m:f>
                      <m:f>
                        <m:fPr>
                          <m:ctrlPr>
                            <a:rPr lang="zh-CN" altLang="en-US" sz="2400" i="1">
                              <a:latin typeface="Cambria Math" panose="02040503050406030204" pitchFamily="18" charset="0"/>
                            </a:rPr>
                          </m:ctrlPr>
                        </m:fPr>
                        <m:num>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𝑑</m:t>
                              </m:r>
                            </m:e>
                            <m:sup>
                              <m:r>
                                <a:rPr lang="zh-CN" altLang="en-US" sz="2400" i="1">
                                  <a:latin typeface="Cambria Math" panose="02040503050406030204" pitchFamily="18" charset="0"/>
                                </a:rPr>
                                <m:t>𝑛</m:t>
                              </m:r>
                            </m:sup>
                          </m:sSup>
                          <m:r>
                            <a:rPr lang="zh-CN" altLang="en-US" sz="2400" i="1">
                              <a:latin typeface="Cambria Math" panose="02040503050406030204" pitchFamily="18" charset="0"/>
                            </a:rPr>
                            <m:t>𝑥</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𝑡</m:t>
                              </m:r>
                            </m:e>
                          </m:d>
                        </m:num>
                        <m:den>
                          <m:r>
                            <a:rPr lang="zh-CN" altLang="en-US" sz="2400" i="1">
                              <a:latin typeface="Cambria Math" panose="02040503050406030204" pitchFamily="18" charset="0"/>
                            </a:rPr>
                            <m:t>𝑑</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𝑡</m:t>
                              </m:r>
                            </m:e>
                            <m:sup>
                              <m:r>
                                <a:rPr lang="zh-CN" altLang="en-US" sz="2400" i="1">
                                  <a:latin typeface="Cambria Math" panose="02040503050406030204" pitchFamily="18" charset="0"/>
                                </a:rPr>
                                <m:t>𝑛</m:t>
                              </m:r>
                            </m:sup>
                          </m:sSup>
                        </m:den>
                      </m:f>
                    </m:oMath>
                  </m:oMathPara>
                </a14:m>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485224" y="4818801"/>
                <a:ext cx="7770628" cy="833498"/>
              </a:xfrm>
              <a:prstGeom prst="rect">
                <a:avLst/>
              </a:prstGeom>
              <a:blipFill>
                <a:blip r:embed="rId10"/>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329F2A01-6101-4B5F-83DA-220EB5C0993E}"/>
              </a:ext>
            </a:extLst>
          </p:cNvPr>
          <p:cNvSpPr>
            <a:spLocks noGrp="1"/>
          </p:cNvSpPr>
          <p:nvPr>
            <p:ph type="sldNum" sz="quarter" idx="12"/>
          </p:nvPr>
        </p:nvSpPr>
        <p:spPr/>
        <p:txBody>
          <a:bodyPr/>
          <a:lstStyle/>
          <a:p>
            <a:fld id="{DC11BA4E-7967-4102-867C-9D230A2E6791}" type="slidenum">
              <a:rPr lang="zh-CN" altLang="en-US" smtClean="0"/>
              <a:t>69</a:t>
            </a:fld>
            <a:endParaRPr lang="zh-CN" altLang="en-US"/>
          </a:p>
        </p:txBody>
      </p:sp>
    </p:spTree>
    <p:extLst>
      <p:ext uri="{BB962C8B-B14F-4D97-AF65-F5344CB8AC3E}">
        <p14:creationId xmlns:p14="http://schemas.microsoft.com/office/powerpoint/2010/main" val="37928484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solidFill>
                <a:schemeClr val="bg1">
                  <a:lumMod val="50000"/>
                </a:schemeClr>
              </a:solidFill>
            </a:endParaRPr>
          </a:p>
        </p:txBody>
      </p:sp>
      <p:sp>
        <p:nvSpPr>
          <p:cNvPr id="32" name="圆角矩形 31"/>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15.4.2</a:t>
            </a:r>
          </a:p>
        </p:txBody>
      </p:sp>
      <p:sp>
        <p:nvSpPr>
          <p:cNvPr id="33" name="矩形 32"/>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动态测量数据处理方法</a:t>
            </a:r>
          </a:p>
        </p:txBody>
      </p:sp>
      <p:pic>
        <p:nvPicPr>
          <p:cNvPr id="2" name="图片 1"/>
          <p:cNvPicPr>
            <a:picLocks noChangeAspect="1"/>
          </p:cNvPicPr>
          <p:nvPr/>
        </p:nvPicPr>
        <p:blipFill>
          <a:blip r:embed="rId3"/>
          <a:stretch>
            <a:fillRect/>
          </a:stretch>
        </p:blipFill>
        <p:spPr>
          <a:xfrm>
            <a:off x="1068821" y="1332716"/>
            <a:ext cx="6989329" cy="4852488"/>
          </a:xfrm>
          <a:prstGeom prst="rect">
            <a:avLst/>
          </a:prstGeom>
        </p:spPr>
      </p:pic>
      <p:sp>
        <p:nvSpPr>
          <p:cNvPr id="3" name="Slide Number Placeholder 2">
            <a:extLst>
              <a:ext uri="{FF2B5EF4-FFF2-40B4-BE49-F238E27FC236}">
                <a16:creationId xmlns:a16="http://schemas.microsoft.com/office/drawing/2014/main" id="{BAB10297-B633-4337-A57B-9EF59548CC1A}"/>
              </a:ext>
            </a:extLst>
          </p:cNvPr>
          <p:cNvSpPr>
            <a:spLocks noGrp="1"/>
          </p:cNvSpPr>
          <p:nvPr>
            <p:ph type="sldNum" sz="quarter" idx="12"/>
          </p:nvPr>
        </p:nvSpPr>
        <p:spPr/>
        <p:txBody>
          <a:bodyPr/>
          <a:lstStyle/>
          <a:p>
            <a:fld id="{DC11BA4E-7967-4102-867C-9D230A2E6791}" type="slidenum">
              <a:rPr lang="zh-CN" altLang="en-US" smtClean="0"/>
              <a:t>70</a:t>
            </a:fld>
            <a:endParaRPr lang="zh-CN" altLang="en-US"/>
          </a:p>
        </p:txBody>
      </p:sp>
    </p:spTree>
    <p:extLst>
      <p:ext uri="{BB962C8B-B14F-4D97-AF65-F5344CB8AC3E}">
        <p14:creationId xmlns:p14="http://schemas.microsoft.com/office/powerpoint/2010/main" val="37748560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solidFill>
                <a:schemeClr val="bg1">
                  <a:lumMod val="50000"/>
                </a:schemeClr>
              </a:solidFill>
            </a:endParaRPr>
          </a:p>
        </p:txBody>
      </p:sp>
      <p:sp>
        <p:nvSpPr>
          <p:cNvPr id="32" name="圆角矩形 31"/>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15.4.2</a:t>
            </a:r>
          </a:p>
        </p:txBody>
      </p:sp>
      <p:sp>
        <p:nvSpPr>
          <p:cNvPr id="33" name="矩形 32"/>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动态测量数据处理方法</a:t>
            </a:r>
          </a:p>
        </p:txBody>
      </p:sp>
      <p:sp>
        <p:nvSpPr>
          <p:cNvPr id="43" name="Rectangle 3"/>
          <p:cNvSpPr>
            <a:spLocks noRot="1" noChangeArrowheads="1"/>
          </p:cNvSpPr>
          <p:nvPr/>
        </p:nvSpPr>
        <p:spPr bwMode="auto">
          <a:xfrm>
            <a:off x="1349352" y="1319912"/>
            <a:ext cx="732017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20000"/>
              </a:lnSpc>
            </a:pPr>
            <a:r>
              <a:rPr lang="en-US" altLang="zh-CN" sz="2400" dirty="0">
                <a:solidFill>
                  <a:srgbClr val="C00000"/>
                </a:solidFill>
                <a:latin typeface="Times New Roman" panose="02020603050405020304" pitchFamily="18" charset="0"/>
                <a:cs typeface="Times New Roman" panose="02020603050405020304" pitchFamily="18" charset="0"/>
              </a:rPr>
              <a:t>2</a:t>
            </a:r>
            <a:r>
              <a:rPr lang="zh-CN" altLang="en-US" sz="2400" dirty="0">
                <a:solidFill>
                  <a:srgbClr val="C00000"/>
                </a:solidFill>
                <a:latin typeface="Times New Roman" panose="02020603050405020304" pitchFamily="18" charset="0"/>
                <a:cs typeface="Times New Roman" panose="02020603050405020304" pitchFamily="18" charset="0"/>
              </a:rPr>
              <a:t>．动态误差分析</a:t>
            </a:r>
          </a:p>
          <a:p>
            <a:pPr indent="288925" eaLnBrk="1" hangingPunct="1">
              <a:lnSpc>
                <a:spcPct val="120000"/>
              </a:lnSpc>
            </a:pPr>
            <a:r>
              <a:rPr lang="zh-CN" altLang="en-US" sz="2400" dirty="0">
                <a:solidFill>
                  <a:schemeClr val="tx1"/>
                </a:solidFill>
                <a:latin typeface="Times New Roman" panose="02020603050405020304" pitchFamily="18" charset="0"/>
                <a:cs typeface="Times New Roman" panose="02020603050405020304" pitchFamily="18" charset="0"/>
              </a:rPr>
              <a:t>下面根据测量系统具有的积分环节数</a:t>
            </a:r>
            <a:r>
              <a:rPr lang="en-US" altLang="zh-CN" sz="2400" b="0" i="1" dirty="0">
                <a:solidFill>
                  <a:schemeClr val="tx1"/>
                </a:solidFill>
                <a:latin typeface="Times New Roman" panose="02020603050405020304" pitchFamily="18" charset="0"/>
                <a:cs typeface="Times New Roman" panose="02020603050405020304" pitchFamily="18" charset="0"/>
              </a:rPr>
              <a:t>l </a:t>
            </a:r>
            <a:r>
              <a:rPr lang="zh-CN" altLang="en-US" sz="2400" dirty="0">
                <a:solidFill>
                  <a:schemeClr val="tx1"/>
                </a:solidFill>
                <a:latin typeface="Times New Roman" panose="02020603050405020304" pitchFamily="18" charset="0"/>
                <a:cs typeface="Times New Roman" panose="02020603050405020304" pitchFamily="18" charset="0"/>
              </a:rPr>
              <a:t>进行分析。 </a:t>
            </a:r>
          </a:p>
          <a:p>
            <a:pPr marL="0" indent="631825" eaLnBrk="1" hangingPunct="1">
              <a:lnSpc>
                <a:spcPct val="120000"/>
              </a:lnSpc>
            </a:pPr>
            <a:r>
              <a:rPr lang="zh-CN" altLang="en-US" sz="2400" dirty="0">
                <a:solidFill>
                  <a:schemeClr val="tx1"/>
                </a:solidFill>
                <a:latin typeface="Times New Roman" panose="02020603050405020304" pitchFamily="18" charset="0"/>
                <a:cs typeface="Times New Roman" panose="02020603050405020304" pitchFamily="18" charset="0"/>
              </a:rPr>
              <a:t>当</a:t>
            </a:r>
            <a:r>
              <a:rPr lang="en-US" altLang="zh-CN" sz="2400" b="0" i="1" dirty="0">
                <a:solidFill>
                  <a:schemeClr val="tx1"/>
                </a:solidFill>
                <a:latin typeface="Times New Roman" panose="02020603050405020304" pitchFamily="18" charset="0"/>
                <a:cs typeface="Times New Roman" panose="02020603050405020304" pitchFamily="18" charset="0"/>
              </a:rPr>
              <a:t>l</a:t>
            </a:r>
            <a:r>
              <a:rPr lang="en-US" altLang="zh-CN" sz="2400" b="0" dirty="0">
                <a:solidFill>
                  <a:schemeClr val="tx1"/>
                </a:solidFill>
                <a:latin typeface="Times New Roman" panose="02020603050405020304" pitchFamily="18" charset="0"/>
                <a:cs typeface="Times New Roman" panose="02020603050405020304" pitchFamily="18" charset="0"/>
              </a:rPr>
              <a:t>=0</a:t>
            </a:r>
            <a:r>
              <a:rPr lang="zh-CN" altLang="en-US" sz="2400" dirty="0">
                <a:solidFill>
                  <a:schemeClr val="tx1"/>
                </a:solidFill>
                <a:latin typeface="Times New Roman" panose="02020603050405020304" pitchFamily="18" charset="0"/>
                <a:cs typeface="Times New Roman" panose="02020603050405020304" pitchFamily="18" charset="0"/>
              </a:rPr>
              <a:t>时，即闭环系统内不含有积分环节。</a:t>
            </a:r>
            <a:r>
              <a:rPr lang="zh-CN" altLang="en-US" sz="2400" dirty="0">
                <a:solidFill>
                  <a:srgbClr val="FF0000"/>
                </a:solidFill>
                <a:latin typeface="Times New Roman" panose="02020603050405020304" pitchFamily="18" charset="0"/>
                <a:cs typeface="Times New Roman" panose="02020603050405020304" pitchFamily="18" charset="0"/>
              </a:rPr>
              <a:t>大多数传感器</a:t>
            </a:r>
            <a:r>
              <a:rPr lang="en-US" altLang="zh-CN" sz="2400" dirty="0">
                <a:solidFill>
                  <a:srgbClr val="FF0000"/>
                </a:solidFill>
                <a:latin typeface="Times New Roman" panose="02020603050405020304" pitchFamily="18" charset="0"/>
                <a:cs typeface="Times New Roman" panose="02020603050405020304" pitchFamily="18" charset="0"/>
              </a:rPr>
              <a:t>/</a:t>
            </a:r>
            <a:r>
              <a:rPr lang="zh-CN" altLang="en-US" sz="2400" dirty="0">
                <a:solidFill>
                  <a:srgbClr val="FF0000"/>
                </a:solidFill>
                <a:latin typeface="Times New Roman" panose="02020603050405020304" pitchFamily="18" charset="0"/>
                <a:cs typeface="Times New Roman" panose="02020603050405020304" pitchFamily="18" charset="0"/>
              </a:rPr>
              <a:t>变送器</a:t>
            </a:r>
            <a:r>
              <a:rPr lang="zh-CN" altLang="en-US" sz="2400" dirty="0">
                <a:solidFill>
                  <a:schemeClr val="tx1"/>
                </a:solidFill>
                <a:latin typeface="Times New Roman" panose="02020603050405020304" pitchFamily="18" charset="0"/>
                <a:cs typeface="Times New Roman" panose="02020603050405020304" pitchFamily="18" charset="0"/>
              </a:rPr>
              <a:t>属于这种情况。从表</a:t>
            </a:r>
            <a:r>
              <a:rPr lang="en-US" altLang="zh-CN" sz="2400" dirty="0">
                <a:solidFill>
                  <a:schemeClr val="tx1"/>
                </a:solidFill>
                <a:latin typeface="Times New Roman" panose="02020603050405020304" pitchFamily="18" charset="0"/>
                <a:cs typeface="Times New Roman" panose="02020603050405020304" pitchFamily="18" charset="0"/>
              </a:rPr>
              <a:t>15-2</a:t>
            </a:r>
            <a:r>
              <a:rPr lang="zh-CN" altLang="en-US" sz="2400" dirty="0">
                <a:solidFill>
                  <a:schemeClr val="tx1"/>
                </a:solidFill>
                <a:latin typeface="Times New Roman" panose="02020603050405020304" pitchFamily="18" charset="0"/>
                <a:cs typeface="Times New Roman" panose="02020603050405020304" pitchFamily="18" charset="0"/>
              </a:rPr>
              <a:t>中可得</a:t>
            </a:r>
            <a:r>
              <a:rPr lang="en-US" altLang="zh-CN" sz="2400" dirty="0">
                <a:solidFill>
                  <a:schemeClr val="tx1"/>
                </a:solidFill>
                <a:latin typeface="Times New Roman" panose="02020603050405020304" pitchFamily="18" charset="0"/>
                <a:cs typeface="Times New Roman" panose="02020603050405020304" pitchFamily="18" charset="0"/>
              </a:rPr>
              <a:t>:</a:t>
            </a:r>
          </a:p>
          <a:p>
            <a:pPr eaLnBrk="1" hangingPunct="1">
              <a:lnSpc>
                <a:spcPct val="120000"/>
              </a:lnSpc>
            </a:pPr>
            <a:endParaRPr lang="en-US" altLang="zh-CN" sz="2400" dirty="0">
              <a:solidFill>
                <a:schemeClr val="tx1"/>
              </a:solidFill>
              <a:latin typeface="Times New Roman" panose="02020603050405020304" pitchFamily="18" charset="0"/>
              <a:cs typeface="Times New Roman" panose="02020603050405020304" pitchFamily="18" charset="0"/>
            </a:endParaRPr>
          </a:p>
          <a:p>
            <a:pPr eaLnBrk="1" hangingPunct="1">
              <a:lnSpc>
                <a:spcPct val="120000"/>
              </a:lnSpc>
            </a:pPr>
            <a:r>
              <a:rPr lang="en-US" altLang="zh-CN" sz="2400" dirty="0">
                <a:solidFill>
                  <a:schemeClr val="tx1"/>
                </a:solidFill>
                <a:latin typeface="Times New Roman" panose="02020603050405020304" pitchFamily="18" charset="0"/>
                <a:cs typeface="Times New Roman" panose="02020603050405020304" pitchFamily="18" charset="0"/>
              </a:rPr>
              <a:t>    </a:t>
            </a:r>
          </a:p>
          <a:p>
            <a:pPr eaLnBrk="1" hangingPunct="1">
              <a:lnSpc>
                <a:spcPct val="120000"/>
              </a:lnSpc>
            </a:pPr>
            <a:r>
              <a:rPr lang="en-US" altLang="zh-CN" sz="2400" dirty="0">
                <a:solidFill>
                  <a:schemeClr val="tx1"/>
                </a:solidFill>
                <a:latin typeface="Times New Roman" panose="02020603050405020304" pitchFamily="18" charset="0"/>
                <a:cs typeface="Times New Roman" panose="02020603050405020304" pitchFamily="18" charset="0"/>
              </a:rPr>
              <a:t>    </a:t>
            </a:r>
            <a:r>
              <a:rPr lang="zh-CN" altLang="en-US" sz="2400" dirty="0">
                <a:solidFill>
                  <a:schemeClr val="tx1"/>
                </a:solidFill>
                <a:latin typeface="Times New Roman" panose="02020603050405020304" pitchFamily="18" charset="0"/>
                <a:cs typeface="Times New Roman" panose="02020603050405020304" pitchFamily="18" charset="0"/>
              </a:rPr>
              <a:t>这种动态误差可表示为</a:t>
            </a:r>
            <a:r>
              <a:rPr lang="en-US" altLang="zh-CN" sz="2400" dirty="0">
                <a:solidFill>
                  <a:schemeClr val="tx1"/>
                </a:solidFill>
                <a:latin typeface="Times New Roman" panose="02020603050405020304" pitchFamily="18" charset="0"/>
                <a:cs typeface="Times New Roman" panose="02020603050405020304" pitchFamily="18" charset="0"/>
              </a:rPr>
              <a:t>:</a:t>
            </a:r>
          </a:p>
        </p:txBody>
      </p:sp>
      <p:graphicFrame>
        <p:nvGraphicFramePr>
          <p:cNvPr id="45" name="Object 24"/>
          <p:cNvGraphicFramePr>
            <a:graphicFrameLocks noChangeAspect="1"/>
          </p:cNvGraphicFramePr>
          <p:nvPr>
            <p:extLst>
              <p:ext uri="{D42A27DB-BD31-4B8C-83A1-F6EECF244321}">
                <p14:modId xmlns:p14="http://schemas.microsoft.com/office/powerpoint/2010/main" val="3698730364"/>
              </p:ext>
            </p:extLst>
          </p:nvPr>
        </p:nvGraphicFramePr>
        <p:xfrm>
          <a:off x="2533654" y="3071815"/>
          <a:ext cx="1726560" cy="863280"/>
        </p:xfrm>
        <a:graphic>
          <a:graphicData uri="http://schemas.openxmlformats.org/presentationml/2006/ole">
            <mc:AlternateContent xmlns:mc="http://schemas.openxmlformats.org/markup-compatibility/2006">
              <mc:Choice xmlns:v="urn:schemas-microsoft-com:vml" Requires="v">
                <p:oleObj name="公式" r:id="rId3" imgW="863280" imgH="431640" progId="Equation.3">
                  <p:embed/>
                </p:oleObj>
              </mc:Choice>
              <mc:Fallback>
                <p:oleObj name="公式" r:id="rId3" imgW="863280" imgH="431640" progId="Equation.3">
                  <p:embed/>
                  <p:pic>
                    <p:nvPicPr>
                      <p:cNvPr id="288792" name="Object 24"/>
                      <p:cNvPicPr>
                        <a:picLocks noChangeAspect="1" noChangeArrowheads="1"/>
                      </p:cNvPicPr>
                      <p:nvPr/>
                    </p:nvPicPr>
                    <p:blipFill>
                      <a:blip r:embed="rId4"/>
                      <a:srcRect/>
                      <a:stretch>
                        <a:fillRect/>
                      </a:stretch>
                    </p:blipFill>
                    <p:spPr bwMode="auto">
                      <a:xfrm>
                        <a:off x="2533654" y="3071815"/>
                        <a:ext cx="1726560" cy="863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25"/>
          <p:cNvGraphicFramePr>
            <a:graphicFrameLocks noChangeAspect="1"/>
          </p:cNvGraphicFramePr>
          <p:nvPr>
            <p:extLst>
              <p:ext uri="{D42A27DB-BD31-4B8C-83A1-F6EECF244321}">
                <p14:modId xmlns:p14="http://schemas.microsoft.com/office/powerpoint/2010/main" val="1272765066"/>
              </p:ext>
            </p:extLst>
          </p:nvPr>
        </p:nvGraphicFramePr>
        <p:xfrm>
          <a:off x="5081587" y="3156013"/>
          <a:ext cx="2260080" cy="888480"/>
        </p:xfrm>
        <a:graphic>
          <a:graphicData uri="http://schemas.openxmlformats.org/presentationml/2006/ole">
            <mc:AlternateContent xmlns:mc="http://schemas.openxmlformats.org/markup-compatibility/2006">
              <mc:Choice xmlns:v="urn:schemas-microsoft-com:vml" Requires="v">
                <p:oleObj name="公式" r:id="rId5" imgW="1130040" imgH="444240" progId="Equation.3">
                  <p:embed/>
                </p:oleObj>
              </mc:Choice>
              <mc:Fallback>
                <p:oleObj name="公式" r:id="rId5" imgW="1130040" imgH="444240" progId="Equation.3">
                  <p:embed/>
                  <p:pic>
                    <p:nvPicPr>
                      <p:cNvPr id="288793" name="Object 25"/>
                      <p:cNvPicPr>
                        <a:picLocks noChangeAspect="1" noChangeArrowheads="1"/>
                      </p:cNvPicPr>
                      <p:nvPr/>
                    </p:nvPicPr>
                    <p:blipFill>
                      <a:blip r:embed="rId6"/>
                      <a:srcRect/>
                      <a:stretch>
                        <a:fillRect/>
                      </a:stretch>
                    </p:blipFill>
                    <p:spPr bwMode="auto">
                      <a:xfrm>
                        <a:off x="5081587" y="3156013"/>
                        <a:ext cx="2260080" cy="888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26"/>
          <p:cNvGraphicFramePr>
            <a:graphicFrameLocks noChangeAspect="1"/>
          </p:cNvGraphicFramePr>
          <p:nvPr>
            <p:extLst>
              <p:ext uri="{D42A27DB-BD31-4B8C-83A1-F6EECF244321}">
                <p14:modId xmlns:p14="http://schemas.microsoft.com/office/powerpoint/2010/main" val="1414800175"/>
              </p:ext>
            </p:extLst>
          </p:nvPr>
        </p:nvGraphicFramePr>
        <p:xfrm>
          <a:off x="2321831" y="4698264"/>
          <a:ext cx="5040630" cy="879839"/>
        </p:xfrm>
        <a:graphic>
          <a:graphicData uri="http://schemas.openxmlformats.org/presentationml/2006/ole">
            <mc:AlternateContent xmlns:mc="http://schemas.openxmlformats.org/markup-compatibility/2006">
              <mc:Choice xmlns:v="urn:schemas-microsoft-com:vml" Requires="v">
                <p:oleObj name="Equation" r:id="rId7" imgW="2400300" imgH="418971" progId="Equation.3">
                  <p:embed/>
                </p:oleObj>
              </mc:Choice>
              <mc:Fallback>
                <p:oleObj name="Equation" r:id="rId7" imgW="2400300" imgH="418971" progId="Equation.3">
                  <p:embed/>
                  <p:pic>
                    <p:nvPicPr>
                      <p:cNvPr id="288794"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1831" y="4698264"/>
                        <a:ext cx="5040630" cy="879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7B45E8B5-88CA-458B-A934-3374AF0D874F}"/>
              </a:ext>
            </a:extLst>
          </p:cNvPr>
          <p:cNvSpPr>
            <a:spLocks noGrp="1"/>
          </p:cNvSpPr>
          <p:nvPr>
            <p:ph type="sldNum" sz="quarter" idx="12"/>
          </p:nvPr>
        </p:nvSpPr>
        <p:spPr/>
        <p:txBody>
          <a:bodyPr/>
          <a:lstStyle/>
          <a:p>
            <a:fld id="{DC11BA4E-7967-4102-867C-9D230A2E6791}" type="slidenum">
              <a:rPr lang="zh-CN" altLang="en-US" smtClean="0"/>
              <a:t>71</a:t>
            </a:fld>
            <a:endParaRPr lang="zh-CN" altLang="en-US"/>
          </a:p>
        </p:txBody>
      </p:sp>
    </p:spTree>
    <p:extLst>
      <p:ext uri="{BB962C8B-B14F-4D97-AF65-F5344CB8AC3E}">
        <p14:creationId xmlns:p14="http://schemas.microsoft.com/office/powerpoint/2010/main" val="9172415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solidFill>
                <a:schemeClr val="bg1">
                  <a:lumMod val="50000"/>
                </a:schemeClr>
              </a:solidFill>
            </a:endParaRPr>
          </a:p>
        </p:txBody>
      </p:sp>
      <p:sp>
        <p:nvSpPr>
          <p:cNvPr id="30" name="圆角矩形 2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15.4.2</a:t>
            </a:r>
          </a:p>
        </p:txBody>
      </p:sp>
      <p:sp>
        <p:nvSpPr>
          <p:cNvPr id="31" name="矩形 30"/>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动态测量数据处理方法</a:t>
            </a:r>
          </a:p>
        </p:txBody>
      </p:sp>
      <p:sp>
        <p:nvSpPr>
          <p:cNvPr id="42" name="Rectangle 3"/>
          <p:cNvSpPr>
            <a:spLocks noRot="1" noChangeArrowheads="1"/>
          </p:cNvSpPr>
          <p:nvPr/>
        </p:nvSpPr>
        <p:spPr bwMode="auto">
          <a:xfrm>
            <a:off x="380636" y="1189196"/>
            <a:ext cx="7839637" cy="516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dirty="0">
                <a:solidFill>
                  <a:srgbClr val="C00000"/>
                </a:solidFill>
                <a:latin typeface="宋体" panose="02010600030101010101" pitchFamily="2" charset="-122"/>
              </a:rPr>
              <a:t>2</a:t>
            </a:r>
            <a:r>
              <a:rPr lang="zh-CN" altLang="en-US" sz="2400" dirty="0">
                <a:solidFill>
                  <a:srgbClr val="C00000"/>
                </a:solidFill>
                <a:latin typeface="宋体" panose="02010600030101010101" pitchFamily="2" charset="-122"/>
              </a:rPr>
              <a:t>．动态误差分析</a:t>
            </a:r>
          </a:p>
          <a:p>
            <a:pPr eaLnBrk="1" hangingPunct="1">
              <a:lnSpc>
                <a:spcPct val="130000"/>
              </a:lnSpc>
              <a:buFont typeface="Arial" panose="020B0604020202020204" pitchFamily="34" charset="0"/>
              <a:buChar char="•"/>
            </a:pPr>
            <a:r>
              <a:rPr lang="zh-CN" altLang="en-US" sz="2400">
                <a:solidFill>
                  <a:schemeClr val="tx1"/>
                </a:solidFill>
                <a:latin typeface="宋体" panose="02010600030101010101" pitchFamily="2" charset="-122"/>
              </a:rPr>
              <a:t>当</a:t>
            </a:r>
            <a:r>
              <a:rPr lang="en-US" altLang="zh-CN" sz="2400" b="0" i="1" dirty="0">
                <a:solidFill>
                  <a:schemeClr val="tx1"/>
                </a:solidFill>
                <a:latin typeface="Times New Roman" panose="02020603050405020304" pitchFamily="18" charset="0"/>
              </a:rPr>
              <a:t>l</a:t>
            </a:r>
            <a:r>
              <a:rPr lang="en-US" altLang="zh-CN" sz="2400" b="0" dirty="0">
                <a:solidFill>
                  <a:schemeClr val="tx1"/>
                </a:solidFill>
                <a:latin typeface="宋体" panose="02010600030101010101" pitchFamily="2" charset="-122"/>
              </a:rPr>
              <a:t>=0</a:t>
            </a:r>
            <a:r>
              <a:rPr lang="zh-CN" altLang="en-US" sz="2400" dirty="0">
                <a:solidFill>
                  <a:schemeClr val="tx1"/>
                </a:solidFill>
                <a:latin typeface="宋体" panose="02010600030101010101" pitchFamily="2" charset="-122"/>
              </a:rPr>
              <a:t>，</a:t>
            </a:r>
            <a:r>
              <a:rPr lang="en-US" altLang="zh-CN" sz="2400" b="0" i="1" dirty="0">
                <a:solidFill>
                  <a:schemeClr val="tx1"/>
                </a:solidFill>
                <a:latin typeface="Times New Roman" panose="02020603050405020304" pitchFamily="18" charset="0"/>
              </a:rPr>
              <a:t>x</a:t>
            </a:r>
            <a:r>
              <a:rPr lang="en-US" altLang="zh-CN" sz="2400" b="0" dirty="0">
                <a:solidFill>
                  <a:schemeClr val="tx1"/>
                </a:solidFill>
                <a:latin typeface="Times New Roman" panose="02020603050405020304" pitchFamily="18" charset="0"/>
              </a:rPr>
              <a:t>(</a:t>
            </a:r>
            <a:r>
              <a:rPr lang="en-US" altLang="zh-CN" sz="2400" b="0" i="1" dirty="0">
                <a:solidFill>
                  <a:schemeClr val="tx1"/>
                </a:solidFill>
                <a:latin typeface="Times New Roman" panose="02020603050405020304" pitchFamily="18" charset="0"/>
              </a:rPr>
              <a:t>t</a:t>
            </a:r>
            <a:r>
              <a:rPr lang="en-US" altLang="zh-CN" sz="2400" b="0" dirty="0">
                <a:solidFill>
                  <a:schemeClr val="tx1"/>
                </a:solidFill>
                <a:latin typeface="Times New Roman" panose="02020603050405020304" pitchFamily="18" charset="0"/>
              </a:rPr>
              <a:t>)</a:t>
            </a:r>
            <a:r>
              <a:rPr lang="zh-CN" altLang="en-US" sz="2400" dirty="0">
                <a:solidFill>
                  <a:schemeClr val="tx1"/>
                </a:solidFill>
                <a:latin typeface="宋体" panose="02010600030101010101" pitchFamily="2" charset="-122"/>
              </a:rPr>
              <a:t>是常量的被测量时，误差是固定值；若用于测量随时间增长的被测量，误差也随之增长。</a:t>
            </a:r>
          </a:p>
          <a:p>
            <a:pPr eaLnBrk="1" hangingPunct="1">
              <a:lnSpc>
                <a:spcPct val="130000"/>
              </a:lnSpc>
              <a:buFont typeface="Arial" panose="020B0604020202020204" pitchFamily="34" charset="0"/>
              <a:buChar char="•"/>
            </a:pPr>
            <a:r>
              <a:rPr lang="zh-CN" altLang="en-US" sz="2400">
                <a:solidFill>
                  <a:schemeClr val="tx1"/>
                </a:solidFill>
                <a:latin typeface="宋体" panose="02010600030101010101" pitchFamily="2" charset="-122"/>
              </a:rPr>
              <a:t>当</a:t>
            </a:r>
            <a:r>
              <a:rPr lang="en-US" altLang="zh-CN" sz="2400" b="0" i="1" dirty="0">
                <a:solidFill>
                  <a:schemeClr val="tx1"/>
                </a:solidFill>
                <a:latin typeface="Times New Roman" panose="02020603050405020304" pitchFamily="18" charset="0"/>
              </a:rPr>
              <a:t>l</a:t>
            </a:r>
            <a:r>
              <a:rPr lang="en-US" altLang="zh-CN" sz="2400" b="0" dirty="0">
                <a:solidFill>
                  <a:schemeClr val="tx1"/>
                </a:solidFill>
                <a:latin typeface="宋体" panose="02010600030101010101" pitchFamily="2" charset="-122"/>
              </a:rPr>
              <a:t>=1</a:t>
            </a:r>
            <a:r>
              <a:rPr lang="zh-CN" altLang="en-US" sz="2400" dirty="0">
                <a:solidFill>
                  <a:schemeClr val="tx1"/>
                </a:solidFill>
                <a:latin typeface="宋体" panose="02010600030101010101" pitchFamily="2" charset="-122"/>
              </a:rPr>
              <a:t>时，即闭环系统内含有一个积分环节。</a:t>
            </a:r>
            <a:r>
              <a:rPr lang="zh-CN" altLang="en-US" sz="2400" dirty="0">
                <a:solidFill>
                  <a:srgbClr val="C00000"/>
                </a:solidFill>
                <a:latin typeface="宋体" panose="02010600030101010101" pitchFamily="2" charset="-122"/>
              </a:rPr>
              <a:t>多数自动平衡显示仪表</a:t>
            </a:r>
            <a:r>
              <a:rPr lang="zh-CN" altLang="en-US" sz="2400" dirty="0">
                <a:solidFill>
                  <a:schemeClr val="tx1"/>
                </a:solidFill>
                <a:latin typeface="宋体" panose="02010600030101010101" pitchFamily="2" charset="-122"/>
              </a:rPr>
              <a:t>属于这种情况。查表</a:t>
            </a:r>
            <a:r>
              <a:rPr lang="en-US" altLang="zh-CN" sz="2400" dirty="0">
                <a:solidFill>
                  <a:schemeClr val="tx1"/>
                </a:solidFill>
                <a:latin typeface="宋体" panose="02010600030101010101" pitchFamily="2" charset="-122"/>
              </a:rPr>
              <a:t>15-2</a:t>
            </a:r>
            <a:r>
              <a:rPr lang="zh-CN" altLang="en-US" sz="2400">
                <a:solidFill>
                  <a:schemeClr val="tx1"/>
                </a:solidFill>
                <a:latin typeface="宋体" panose="02010600030101010101" pitchFamily="2" charset="-122"/>
              </a:rPr>
              <a:t>可知：</a:t>
            </a:r>
            <a:endParaRPr lang="en-US" altLang="zh-CN" sz="2400">
              <a:solidFill>
                <a:schemeClr val="tx1"/>
              </a:solidFill>
              <a:latin typeface="宋体" panose="02010600030101010101" pitchFamily="2" charset="-122"/>
            </a:endParaRPr>
          </a:p>
          <a:p>
            <a:pPr marL="0" indent="0" algn="ctr" eaLnBrk="1" hangingPunct="1">
              <a:lnSpc>
                <a:spcPct val="130000"/>
              </a:lnSpc>
            </a:pPr>
            <a:r>
              <a:rPr lang="en-US" altLang="zh-CN" sz="2400" b="0" i="1">
                <a:solidFill>
                  <a:schemeClr val="tx1"/>
                </a:solidFill>
                <a:latin typeface="Times New Roman" panose="02020603050405020304" pitchFamily="18" charset="0"/>
              </a:rPr>
              <a:t>c</a:t>
            </a:r>
            <a:r>
              <a:rPr lang="en-US" altLang="zh-CN" sz="2400" b="0" baseline="-25000">
                <a:solidFill>
                  <a:schemeClr val="tx1"/>
                </a:solidFill>
                <a:latin typeface="Times New Roman" panose="02020603050405020304" pitchFamily="18" charset="0"/>
              </a:rPr>
              <a:t>0</a:t>
            </a:r>
            <a:r>
              <a:rPr lang="en-US" altLang="zh-CN" sz="2400" b="0">
                <a:solidFill>
                  <a:schemeClr val="tx1"/>
                </a:solidFill>
                <a:latin typeface="Times New Roman" panose="02020603050405020304" pitchFamily="18" charset="0"/>
              </a:rPr>
              <a:t>=0</a:t>
            </a:r>
            <a:r>
              <a:rPr lang="zh-CN" altLang="en-US" sz="2400" dirty="0">
                <a:solidFill>
                  <a:schemeClr val="tx1"/>
                </a:solidFill>
                <a:latin typeface="Times New Roman" panose="02020603050405020304" pitchFamily="18" charset="0"/>
              </a:rPr>
              <a:t>，</a:t>
            </a:r>
            <a:r>
              <a:rPr lang="en-US" altLang="zh-CN" sz="2400" b="0" i="1" dirty="0">
                <a:solidFill>
                  <a:schemeClr val="tx1"/>
                </a:solidFill>
                <a:latin typeface="Times New Roman" panose="02020603050405020304" pitchFamily="18" charset="0"/>
              </a:rPr>
              <a:t>c</a:t>
            </a:r>
            <a:r>
              <a:rPr lang="en-US" altLang="zh-CN" sz="2400" b="0" baseline="-25000" dirty="0">
                <a:solidFill>
                  <a:schemeClr val="tx1"/>
                </a:solidFill>
                <a:latin typeface="Times New Roman" panose="02020603050405020304" pitchFamily="18" charset="0"/>
              </a:rPr>
              <a:t>1</a:t>
            </a:r>
            <a:r>
              <a:rPr lang="en-US" altLang="zh-CN" sz="2400" b="0" dirty="0">
                <a:solidFill>
                  <a:schemeClr val="tx1"/>
                </a:solidFill>
                <a:latin typeface="Times New Roman" panose="02020603050405020304" pitchFamily="18" charset="0"/>
              </a:rPr>
              <a:t>=1/ </a:t>
            </a:r>
            <a:r>
              <a:rPr lang="en-US" altLang="zh-CN" sz="2400" b="0" i="1" dirty="0">
                <a:solidFill>
                  <a:schemeClr val="tx1"/>
                </a:solidFill>
                <a:latin typeface="Times New Roman" panose="02020603050405020304" pitchFamily="18" charset="0"/>
              </a:rPr>
              <a:t>kβ</a:t>
            </a:r>
            <a:r>
              <a:rPr lang="zh-CN" altLang="en-US" sz="2400" dirty="0">
                <a:solidFill>
                  <a:schemeClr val="tx1"/>
                </a:solidFill>
                <a:latin typeface="Times New Roman" panose="02020603050405020304" pitchFamily="18" charset="0"/>
              </a:rPr>
              <a:t>，</a:t>
            </a:r>
            <a:r>
              <a:rPr lang="zh-CN" altLang="en-US" sz="2400" dirty="0">
                <a:solidFill>
                  <a:schemeClr val="tx1"/>
                </a:solidFill>
                <a:latin typeface="宋体" panose="02010600030101010101" pitchFamily="2" charset="-122"/>
              </a:rPr>
              <a:t>    </a:t>
            </a:r>
          </a:p>
          <a:p>
            <a:pPr eaLnBrk="1" hangingPunct="1">
              <a:lnSpc>
                <a:spcPct val="130000"/>
              </a:lnSpc>
            </a:pPr>
            <a:endParaRPr lang="en-US" altLang="zh-CN" sz="2400">
              <a:solidFill>
                <a:schemeClr val="tx1"/>
              </a:solidFill>
              <a:latin typeface="宋体" panose="02010600030101010101" pitchFamily="2" charset="-122"/>
            </a:endParaRPr>
          </a:p>
          <a:p>
            <a:pPr eaLnBrk="1" hangingPunct="1">
              <a:lnSpc>
                <a:spcPct val="130000"/>
              </a:lnSpc>
            </a:pPr>
            <a:r>
              <a:rPr lang="en-US" altLang="zh-CN" sz="2400">
                <a:solidFill>
                  <a:schemeClr val="tx1"/>
                </a:solidFill>
                <a:latin typeface="宋体" panose="02010600030101010101" pitchFamily="2" charset="-122"/>
              </a:rPr>
              <a:t>		</a:t>
            </a:r>
            <a:r>
              <a:rPr lang="zh-CN" altLang="en-US" sz="2400">
                <a:solidFill>
                  <a:schemeClr val="tx1"/>
                </a:solidFill>
                <a:latin typeface="宋体" panose="02010600030101010101" pitchFamily="2" charset="-122"/>
              </a:rPr>
              <a:t>动态误差</a:t>
            </a:r>
            <a:r>
              <a:rPr lang="zh-CN" altLang="en-US" sz="2400" dirty="0">
                <a:solidFill>
                  <a:schemeClr val="tx1"/>
                </a:solidFill>
                <a:latin typeface="宋体" panose="02010600030101010101" pitchFamily="2" charset="-122"/>
              </a:rPr>
              <a:t>为：</a:t>
            </a:r>
          </a:p>
          <a:p>
            <a:pPr eaLnBrk="1" hangingPunct="1">
              <a:lnSpc>
                <a:spcPct val="130000"/>
              </a:lnSpc>
            </a:pPr>
            <a:endParaRPr lang="zh-CN" altLang="en-US" sz="2400" dirty="0">
              <a:solidFill>
                <a:schemeClr val="tx1"/>
              </a:solidFill>
              <a:latin typeface="宋体" panose="02010600030101010101" pitchFamily="2" charset="-122"/>
            </a:endParaRPr>
          </a:p>
          <a:p>
            <a:pPr eaLnBrk="1" hangingPunct="1">
              <a:lnSpc>
                <a:spcPct val="130000"/>
              </a:lnSpc>
              <a:spcBef>
                <a:spcPts val="1200"/>
              </a:spcBef>
            </a:pPr>
            <a:r>
              <a:rPr lang="zh-CN" altLang="en-US" sz="2400">
                <a:solidFill>
                  <a:schemeClr val="tx1"/>
                </a:solidFill>
                <a:latin typeface="宋体" panose="02010600030101010101" pitchFamily="2" charset="-122"/>
              </a:rPr>
              <a:t>    </a:t>
            </a:r>
            <a:r>
              <a:rPr lang="en-US" altLang="zh-CN" sz="2400">
                <a:solidFill>
                  <a:schemeClr val="tx1"/>
                </a:solidFill>
                <a:latin typeface="宋体" panose="02010600030101010101" pitchFamily="2" charset="-122"/>
              </a:rPr>
              <a:t>	</a:t>
            </a:r>
            <a:r>
              <a:rPr lang="zh-CN" altLang="en-US" sz="2400">
                <a:solidFill>
                  <a:schemeClr val="tx1"/>
                </a:solidFill>
                <a:latin typeface="宋体" panose="02010600030101010101" pitchFamily="2" charset="-122"/>
              </a:rPr>
              <a:t>当</a:t>
            </a:r>
            <a:r>
              <a:rPr lang="en-US" altLang="zh-CN" sz="2400" b="0" i="1" dirty="0">
                <a:solidFill>
                  <a:schemeClr val="tx1"/>
                </a:solidFill>
                <a:latin typeface="Times New Roman" panose="02020603050405020304" pitchFamily="18" charset="0"/>
              </a:rPr>
              <a:t>l</a:t>
            </a:r>
            <a:r>
              <a:rPr lang="zh-CN" altLang="en-US" sz="2400" dirty="0">
                <a:solidFill>
                  <a:schemeClr val="tx1"/>
                </a:solidFill>
                <a:latin typeface="宋体" panose="02010600030101010101" pitchFamily="2" charset="-122"/>
              </a:rPr>
              <a:t>为</a:t>
            </a:r>
            <a:r>
              <a:rPr lang="en-US" altLang="zh-CN" sz="2400" b="0" dirty="0">
                <a:solidFill>
                  <a:schemeClr val="tx1"/>
                </a:solidFill>
                <a:latin typeface="宋体" panose="02010600030101010101" pitchFamily="2" charset="-122"/>
              </a:rPr>
              <a:t>2</a:t>
            </a:r>
            <a:r>
              <a:rPr lang="zh-CN" altLang="en-US" sz="2400" dirty="0">
                <a:solidFill>
                  <a:schemeClr val="tx1"/>
                </a:solidFill>
                <a:latin typeface="宋体" panose="02010600030101010101" pitchFamily="2" charset="-122"/>
              </a:rPr>
              <a:t>时，分析方法与之类似。</a:t>
            </a:r>
          </a:p>
        </p:txBody>
      </p:sp>
      <p:graphicFrame>
        <p:nvGraphicFramePr>
          <p:cNvPr id="43" name="Object 16"/>
          <p:cNvGraphicFramePr>
            <a:graphicFrameLocks noChangeAspect="1"/>
          </p:cNvGraphicFramePr>
          <p:nvPr>
            <p:extLst>
              <p:ext uri="{D42A27DB-BD31-4B8C-83A1-F6EECF244321}">
                <p14:modId xmlns:p14="http://schemas.microsoft.com/office/powerpoint/2010/main" val="576546617"/>
              </p:ext>
            </p:extLst>
          </p:nvPr>
        </p:nvGraphicFramePr>
        <p:xfrm>
          <a:off x="4364176" y="3291046"/>
          <a:ext cx="91315" cy="215900"/>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73735"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4176" y="3291046"/>
                        <a:ext cx="91315" cy="215900"/>
                      </a:xfrm>
                      <a:prstGeom prst="rect">
                        <a:avLst/>
                      </a:prstGeom>
                      <a:noFill/>
                      <a:ln>
                        <a:noFill/>
                      </a:ln>
                      <a:effectLst/>
                    </p:spPr>
                  </p:pic>
                </p:oleObj>
              </mc:Fallback>
            </mc:AlternateContent>
          </a:graphicData>
        </a:graphic>
      </p:graphicFrame>
      <p:graphicFrame>
        <p:nvGraphicFramePr>
          <p:cNvPr id="44" name="Object 17"/>
          <p:cNvGraphicFramePr>
            <a:graphicFrameLocks noChangeAspect="1"/>
          </p:cNvGraphicFramePr>
          <p:nvPr>
            <p:extLst>
              <p:ext uri="{D42A27DB-BD31-4B8C-83A1-F6EECF244321}">
                <p14:modId xmlns:p14="http://schemas.microsoft.com/office/powerpoint/2010/main" val="347225494"/>
              </p:ext>
            </p:extLst>
          </p:nvPr>
        </p:nvGraphicFramePr>
        <p:xfrm>
          <a:off x="4097186" y="3291046"/>
          <a:ext cx="730526" cy="215900"/>
        </p:xfrm>
        <a:graphic>
          <a:graphicData uri="http://schemas.openxmlformats.org/presentationml/2006/ole">
            <mc:AlternateContent xmlns:mc="http://schemas.openxmlformats.org/markup-compatibility/2006">
              <mc:Choice xmlns:v="urn:schemas-microsoft-com:vml" Requires="v">
                <p:oleObj name="Equation" r:id="rId5" imgW="391303" imgH="739129" progId="Equation.3">
                  <p:embed/>
                </p:oleObj>
              </mc:Choice>
              <mc:Fallback>
                <p:oleObj name="Equation" r:id="rId5" imgW="391303" imgH="739129" progId="Equation.3">
                  <p:embed/>
                  <p:pic>
                    <p:nvPicPr>
                      <p:cNvPr id="73736"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7186" y="3291046"/>
                        <a:ext cx="730526" cy="215900"/>
                      </a:xfrm>
                      <a:prstGeom prst="rect">
                        <a:avLst/>
                      </a:prstGeom>
                      <a:noFill/>
                      <a:ln>
                        <a:noFill/>
                      </a:ln>
                      <a:effectLst/>
                    </p:spPr>
                  </p:pic>
                </p:oleObj>
              </mc:Fallback>
            </mc:AlternateContent>
          </a:graphicData>
        </a:graphic>
      </p:graphicFrame>
      <p:graphicFrame>
        <p:nvGraphicFramePr>
          <p:cNvPr id="45" name="Object 19"/>
          <p:cNvGraphicFramePr>
            <a:graphicFrameLocks noChangeAspect="1"/>
          </p:cNvGraphicFramePr>
          <p:nvPr>
            <p:extLst>
              <p:ext uri="{D42A27DB-BD31-4B8C-83A1-F6EECF244321}">
                <p14:modId xmlns:p14="http://schemas.microsoft.com/office/powerpoint/2010/main" val="3659779258"/>
              </p:ext>
            </p:extLst>
          </p:nvPr>
        </p:nvGraphicFramePr>
        <p:xfrm>
          <a:off x="3198431" y="4353994"/>
          <a:ext cx="2331490" cy="703060"/>
        </p:xfrm>
        <a:graphic>
          <a:graphicData uri="http://schemas.openxmlformats.org/presentationml/2006/ole">
            <mc:AlternateContent xmlns:mc="http://schemas.openxmlformats.org/markup-compatibility/2006">
              <mc:Choice xmlns:v="urn:schemas-microsoft-com:vml" Requires="v">
                <p:oleObj name="公式" r:id="rId7" imgW="1295272" imgH="390589" progId="Equation.3">
                  <p:embed/>
                </p:oleObj>
              </mc:Choice>
              <mc:Fallback>
                <p:oleObj name="公式" r:id="rId7" imgW="1295272" imgH="390589" progId="Equation.3">
                  <p:embed/>
                  <p:pic>
                    <p:nvPicPr>
                      <p:cNvPr id="291859"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98431" y="4353994"/>
                        <a:ext cx="2331490" cy="703060"/>
                      </a:xfrm>
                      <a:prstGeom prst="rect">
                        <a:avLst/>
                      </a:prstGeom>
                      <a:noFill/>
                      <a:ln>
                        <a:noFill/>
                      </a:ln>
                      <a:effectLst/>
                    </p:spPr>
                  </p:pic>
                </p:oleObj>
              </mc:Fallback>
            </mc:AlternateContent>
          </a:graphicData>
        </a:graphic>
      </p:graphicFrame>
      <p:graphicFrame>
        <p:nvGraphicFramePr>
          <p:cNvPr id="46" name="Object 20"/>
          <p:cNvGraphicFramePr>
            <a:graphicFrameLocks noChangeAspect="1"/>
          </p:cNvGraphicFramePr>
          <p:nvPr>
            <p:extLst>
              <p:ext uri="{D42A27DB-BD31-4B8C-83A1-F6EECF244321}">
                <p14:modId xmlns:p14="http://schemas.microsoft.com/office/powerpoint/2010/main" val="2904120122"/>
              </p:ext>
            </p:extLst>
          </p:nvPr>
        </p:nvGraphicFramePr>
        <p:xfrm>
          <a:off x="3198431" y="5057054"/>
          <a:ext cx="4495888" cy="716198"/>
        </p:xfrm>
        <a:graphic>
          <a:graphicData uri="http://schemas.openxmlformats.org/presentationml/2006/ole">
            <mc:AlternateContent xmlns:mc="http://schemas.openxmlformats.org/markup-compatibility/2006">
              <mc:Choice xmlns:v="urn:schemas-microsoft-com:vml" Requires="v">
                <p:oleObj name="Equation" r:id="rId9" imgW="2809930" imgH="447624" progId="Equation.DSMT4">
                  <p:embed/>
                </p:oleObj>
              </mc:Choice>
              <mc:Fallback>
                <p:oleObj name="Equation" r:id="rId9" imgW="2809930" imgH="447624" progId="Equation.DSMT4">
                  <p:embed/>
                  <p:pic>
                    <p:nvPicPr>
                      <p:cNvPr id="29186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98431" y="5057054"/>
                        <a:ext cx="4495888" cy="716198"/>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2B87CC42-F0CB-4DAE-BB36-6B729726B1AE}"/>
              </a:ext>
            </a:extLst>
          </p:cNvPr>
          <p:cNvSpPr>
            <a:spLocks noGrp="1"/>
          </p:cNvSpPr>
          <p:nvPr>
            <p:ph type="sldNum" sz="quarter" idx="12"/>
          </p:nvPr>
        </p:nvSpPr>
        <p:spPr/>
        <p:txBody>
          <a:bodyPr/>
          <a:lstStyle/>
          <a:p>
            <a:fld id="{DC11BA4E-7967-4102-867C-9D230A2E6791}" type="slidenum">
              <a:rPr lang="zh-CN" altLang="en-US" smtClean="0"/>
              <a:t>72</a:t>
            </a:fld>
            <a:endParaRPr lang="zh-CN" altLang="en-US"/>
          </a:p>
        </p:txBody>
      </p:sp>
    </p:spTree>
    <p:extLst>
      <p:ext uri="{BB962C8B-B14F-4D97-AF65-F5344CB8AC3E}">
        <p14:creationId xmlns:p14="http://schemas.microsoft.com/office/powerpoint/2010/main" val="11631395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solidFill>
                <a:schemeClr val="bg1">
                  <a:lumMod val="50000"/>
                </a:schemeClr>
              </a:solidFill>
            </a:endParaRPr>
          </a:p>
        </p:txBody>
      </p:sp>
      <p:sp>
        <p:nvSpPr>
          <p:cNvPr id="30" name="圆角矩形 2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15.4.2</a:t>
            </a:r>
          </a:p>
        </p:txBody>
      </p:sp>
      <p:sp>
        <p:nvSpPr>
          <p:cNvPr id="31" name="矩形 30"/>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动态测量数据处理方法</a:t>
            </a:r>
          </a:p>
        </p:txBody>
      </p:sp>
      <p:sp>
        <p:nvSpPr>
          <p:cNvPr id="42" name="Rectangle 3"/>
          <p:cNvSpPr>
            <a:spLocks noRot="1" noChangeArrowheads="1"/>
          </p:cNvSpPr>
          <p:nvPr/>
        </p:nvSpPr>
        <p:spPr bwMode="auto">
          <a:xfrm>
            <a:off x="185083" y="1313470"/>
            <a:ext cx="8138785" cy="516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400" dirty="0">
                <a:solidFill>
                  <a:schemeClr val="tx1"/>
                </a:solidFill>
                <a:latin typeface="Times New Roman" panose="02020603050405020304" pitchFamily="18" charset="0"/>
                <a:cs typeface="Times New Roman" panose="02020603050405020304" pitchFamily="18" charset="0"/>
              </a:rPr>
              <a:t>二、自动检测仪表的幅值频率误差和相位频率误差</a:t>
            </a:r>
          </a:p>
          <a:p>
            <a:pPr eaLnBrk="1" hangingPunct="1">
              <a:lnSpc>
                <a:spcPct val="130000"/>
              </a:lnSpc>
            </a:pPr>
            <a:r>
              <a:rPr lang="zh-CN" altLang="en-US" sz="2400" dirty="0">
                <a:solidFill>
                  <a:schemeClr val="tx1"/>
                </a:solidFill>
                <a:latin typeface="Times New Roman" panose="02020603050405020304" pitchFamily="18" charset="0"/>
                <a:cs typeface="Times New Roman" panose="02020603050405020304" pitchFamily="18" charset="0"/>
              </a:rPr>
              <a:t> </a:t>
            </a:r>
            <a:r>
              <a:rPr lang="en-US" altLang="zh-CN" sz="2400" dirty="0">
                <a:solidFill>
                  <a:schemeClr val="tx1"/>
                </a:solidFill>
                <a:latin typeface="Times New Roman" panose="02020603050405020304" pitchFamily="18" charset="0"/>
                <a:cs typeface="Times New Roman" panose="02020603050405020304" pitchFamily="18" charset="0"/>
              </a:rPr>
              <a:t>1</a:t>
            </a:r>
            <a:r>
              <a:rPr lang="zh-CN" altLang="en-US" sz="2400" dirty="0">
                <a:solidFill>
                  <a:schemeClr val="tx1"/>
                </a:solidFill>
                <a:latin typeface="Times New Roman" panose="02020603050405020304" pitchFamily="18" charset="0"/>
                <a:cs typeface="Times New Roman" panose="02020603050405020304" pitchFamily="18" charset="0"/>
              </a:rPr>
              <a:t>．自动检测仪表的极限频率</a:t>
            </a:r>
          </a:p>
          <a:p>
            <a:pPr eaLnBrk="1" hangingPunct="1">
              <a:lnSpc>
                <a:spcPct val="130000"/>
              </a:lnSpc>
            </a:pPr>
            <a:r>
              <a:rPr lang="zh-CN" altLang="en-US" sz="2400" dirty="0">
                <a:solidFill>
                  <a:schemeClr val="tx1"/>
                </a:solidFill>
                <a:latin typeface="Times New Roman" panose="02020603050405020304" pitchFamily="18" charset="0"/>
                <a:cs typeface="Times New Roman" panose="02020603050405020304" pitchFamily="18" charset="0"/>
              </a:rPr>
              <a:t>    若被测量</a:t>
            </a:r>
            <a:r>
              <a:rPr lang="en-US" altLang="zh-CN" sz="2400" b="0" i="1" dirty="0">
                <a:solidFill>
                  <a:schemeClr val="tx1"/>
                </a:solidFill>
                <a:latin typeface="Times New Roman" panose="02020603050405020304" pitchFamily="18" charset="0"/>
                <a:cs typeface="Times New Roman" panose="02020603050405020304" pitchFamily="18" charset="0"/>
              </a:rPr>
              <a:t>x</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err="1">
                <a:solidFill>
                  <a:schemeClr val="tx1"/>
                </a:solidFill>
                <a:latin typeface="Times New Roman" panose="02020603050405020304" pitchFamily="18" charset="0"/>
                <a:cs typeface="Times New Roman" panose="02020603050405020304" pitchFamily="18" charset="0"/>
              </a:rPr>
              <a:t>X</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m</a:t>
            </a:r>
            <a:r>
              <a:rPr lang="en-US" altLang="zh-CN" sz="2400" b="0" dirty="0" err="1">
                <a:solidFill>
                  <a:schemeClr val="tx1"/>
                </a:solidFill>
                <a:latin typeface="Times New Roman" panose="02020603050405020304" pitchFamily="18" charset="0"/>
                <a:cs typeface="Times New Roman" panose="02020603050405020304" pitchFamily="18" charset="0"/>
              </a:rPr>
              <a:t>sin</a:t>
            </a:r>
            <a:r>
              <a:rPr lang="en-US" altLang="zh-CN" sz="2400" b="0" i="1" dirty="0" err="1">
                <a:solidFill>
                  <a:schemeClr val="tx1"/>
                </a:solidFill>
                <a:latin typeface="Times New Roman" panose="02020603050405020304" pitchFamily="18" charset="0"/>
                <a:cs typeface="Times New Roman" panose="02020603050405020304" pitchFamily="18" charset="0"/>
              </a:rPr>
              <a:t>ωt</a:t>
            </a:r>
            <a:r>
              <a:rPr lang="zh-CN" altLang="en-US" sz="2400" dirty="0">
                <a:solidFill>
                  <a:schemeClr val="tx1"/>
                </a:solidFill>
                <a:latin typeface="Times New Roman" panose="02020603050405020304" pitchFamily="18" charset="0"/>
                <a:cs typeface="Times New Roman" panose="02020603050405020304" pitchFamily="18" charset="0"/>
              </a:rPr>
              <a:t>，仪表稳态输出是</a:t>
            </a:r>
            <a:r>
              <a:rPr lang="en-US" altLang="zh-CN" sz="2400" b="0" i="1" dirty="0">
                <a:solidFill>
                  <a:schemeClr val="tx1"/>
                </a:solidFill>
                <a:latin typeface="Times New Roman" panose="02020603050405020304" pitchFamily="18" charset="0"/>
                <a:cs typeface="Times New Roman" panose="02020603050405020304" pitchFamily="18" charset="0"/>
              </a:rPr>
              <a:t>y</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err="1">
                <a:solidFill>
                  <a:schemeClr val="tx1"/>
                </a:solidFill>
                <a:latin typeface="Times New Roman" panose="02020603050405020304" pitchFamily="18" charset="0"/>
                <a:cs typeface="Times New Roman" panose="02020603050405020304" pitchFamily="18" charset="0"/>
              </a:rPr>
              <a:t>Y</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m</a:t>
            </a:r>
            <a:r>
              <a:rPr lang="en-US" altLang="zh-CN" sz="2400" b="0" dirty="0" err="1">
                <a:solidFill>
                  <a:schemeClr val="tx1"/>
                </a:solidFill>
                <a:latin typeface="Times New Roman" panose="02020603050405020304" pitchFamily="18" charset="0"/>
                <a:cs typeface="Times New Roman" panose="02020603050405020304" pitchFamily="18" charset="0"/>
              </a:rPr>
              <a:t>sin</a:t>
            </a:r>
            <a:r>
              <a:rPr lang="en-US" altLang="zh-CN" sz="2400" b="0" dirty="0">
                <a:solidFill>
                  <a:schemeClr val="tx1"/>
                </a:solidFill>
                <a:latin typeface="Times New Roman" panose="02020603050405020304" pitchFamily="18" charset="0"/>
                <a:cs typeface="Times New Roman" panose="02020603050405020304" pitchFamily="18" charset="0"/>
              </a:rPr>
              <a:t>(</a:t>
            </a:r>
            <a:r>
              <a:rPr lang="en-US" altLang="zh-CN" sz="2400" b="0" i="1" dirty="0" err="1">
                <a:solidFill>
                  <a:schemeClr val="tx1"/>
                </a:solidFill>
                <a:latin typeface="Times New Roman" panose="02020603050405020304" pitchFamily="18" charset="0"/>
                <a:cs typeface="Times New Roman" panose="02020603050405020304" pitchFamily="18" charset="0"/>
              </a:rPr>
              <a:t>ωt</a:t>
            </a:r>
            <a:r>
              <a:rPr lang="en-US" altLang="zh-CN" sz="2400" b="0" dirty="0" err="1">
                <a:solidFill>
                  <a:schemeClr val="tx1"/>
                </a:solidFill>
                <a:latin typeface="Times New Roman" panose="02020603050405020304" pitchFamily="18" charset="0"/>
                <a:cs typeface="Times New Roman" panose="02020603050405020304" pitchFamily="18" charset="0"/>
              </a:rPr>
              <a:t>+</a:t>
            </a:r>
            <a:r>
              <a:rPr lang="en-US" altLang="zh-CN" sz="2400" b="0" i="1" dirty="0" err="1">
                <a:solidFill>
                  <a:schemeClr val="tx1"/>
                </a:solidFill>
                <a:latin typeface="Times New Roman" panose="02020603050405020304" pitchFamily="18" charset="0"/>
                <a:cs typeface="Times New Roman" panose="02020603050405020304" pitchFamily="18" charset="0"/>
              </a:rPr>
              <a:t>θ</a:t>
            </a:r>
            <a:r>
              <a:rPr lang="en-US" altLang="zh-CN" sz="2400" b="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                     称为幅</a:t>
            </a:r>
            <a:r>
              <a:rPr lang="en-US" altLang="zh-CN" sz="2400"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相频率特性，可分为实部和虚部，即：</a:t>
            </a:r>
          </a:p>
        </p:txBody>
      </p:sp>
      <p:graphicFrame>
        <p:nvGraphicFramePr>
          <p:cNvPr id="43"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7475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3"/>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5" imgW="391303" imgH="739129" progId="Equation.3">
                  <p:embed/>
                </p:oleObj>
              </mc:Choice>
              <mc:Fallback>
                <p:oleObj name="Equation" r:id="rId5" imgW="391303" imgH="739129" progId="Equation.3">
                  <p:embed/>
                  <p:pic>
                    <p:nvPicPr>
                      <p:cNvPr id="7476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p:nvPr/>
        </p:nvSpPr>
        <p:spPr>
          <a:xfrm>
            <a:off x="598714" y="4597659"/>
            <a:ext cx="7621559" cy="1532727"/>
          </a:xfrm>
          <a:prstGeom prst="rect">
            <a:avLst/>
          </a:prstGeom>
        </p:spPr>
        <p:txBody>
          <a:bodyPr wrap="square">
            <a:spAutoFit/>
          </a:bodyPr>
          <a:lstStyle/>
          <a:p>
            <a:pPr>
              <a:lnSpc>
                <a:spcPct val="130000"/>
              </a:lnSpc>
            </a:pPr>
            <a:r>
              <a:rPr lang="zh-CN" altLang="en-US" sz="2400" b="1"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实频特性；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Q</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虚频特性    </a:t>
            </a:r>
          </a:p>
          <a:p>
            <a:pPr>
              <a:lnSpc>
                <a:spcPct val="13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令</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，可求出对应角频率</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ω</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。称</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ω</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为极限频率或实频特性正值频率。</a:t>
            </a:r>
          </a:p>
        </p:txBody>
      </p:sp>
      <mc:AlternateContent xmlns:mc="http://schemas.openxmlformats.org/markup-compatibility/2006" xmlns:a14="http://schemas.microsoft.com/office/drawing/2010/main">
        <mc:Choice Requires="a14">
          <p:sp>
            <p:nvSpPr>
              <p:cNvPr id="4" name="矩形 3"/>
              <p:cNvSpPr/>
              <p:nvPr/>
            </p:nvSpPr>
            <p:spPr>
              <a:xfrm>
                <a:off x="2241672" y="3321050"/>
                <a:ext cx="1765612" cy="6783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i="1">
                              <a:latin typeface="Cambria Math" panose="02040503050406030204" pitchFamily="18" charset="0"/>
                            </a:rPr>
                          </m:ctrlPr>
                        </m:fPr>
                        <m:num>
                          <m:r>
                            <a:rPr lang="zh-CN" altLang="en-US" i="1">
                              <a:latin typeface="Cambria Math" panose="02040503050406030204" pitchFamily="18" charset="0"/>
                            </a:rPr>
                            <m:t>𝑌</m:t>
                          </m:r>
                          <m:d>
                            <m:dPr>
                              <m:ctrlPr>
                                <a:rPr lang="zh-CN" altLang="en-US" i="1">
                                  <a:latin typeface="Cambria Math" panose="02040503050406030204" pitchFamily="18" charset="0"/>
                                </a:rPr>
                              </m:ctrlPr>
                            </m:dPr>
                            <m:e>
                              <m:r>
                                <a:rPr lang="zh-CN" altLang="en-US" i="1">
                                  <a:latin typeface="Cambria Math" panose="02040503050406030204" pitchFamily="18" charset="0"/>
                                </a:rPr>
                                <m:t>𝑗</m:t>
                              </m:r>
                              <m:r>
                                <a:rPr lang="zh-CN" altLang="en-US" i="1">
                                  <a:latin typeface="Cambria Math" panose="02040503050406030204" pitchFamily="18" charset="0"/>
                                </a:rPr>
                                <m:t>𝜔</m:t>
                              </m:r>
                            </m:e>
                          </m:d>
                        </m:num>
                        <m:den>
                          <m:r>
                            <a:rPr lang="zh-CN" altLang="en-US" i="1">
                              <a:latin typeface="Cambria Math" panose="02040503050406030204" pitchFamily="18" charset="0"/>
                            </a:rPr>
                            <m:t>𝑋</m:t>
                          </m:r>
                          <m:d>
                            <m:dPr>
                              <m:ctrlPr>
                                <a:rPr lang="zh-CN" altLang="en-US" i="1">
                                  <a:latin typeface="Cambria Math" panose="02040503050406030204" pitchFamily="18" charset="0"/>
                                </a:rPr>
                              </m:ctrlPr>
                            </m:dPr>
                            <m:e>
                              <m:r>
                                <a:rPr lang="zh-CN" altLang="en-US" i="1">
                                  <a:latin typeface="Cambria Math" panose="02040503050406030204" pitchFamily="18" charset="0"/>
                                </a:rPr>
                                <m:t>𝑗</m:t>
                              </m:r>
                              <m:r>
                                <a:rPr lang="zh-CN" altLang="en-US" i="1">
                                  <a:latin typeface="Cambria Math" panose="02040503050406030204" pitchFamily="18" charset="0"/>
                                </a:rPr>
                                <m:t>𝜔</m:t>
                              </m:r>
                            </m:e>
                          </m:d>
                        </m:den>
                      </m:f>
                      <m:r>
                        <a:rPr lang="zh-CN" altLang="en-US" i="0">
                          <a:latin typeface="Cambria Math" panose="02040503050406030204" pitchFamily="18" charset="0"/>
                        </a:rPr>
                        <m:t>=</m:t>
                      </m:r>
                      <m:r>
                        <a:rPr lang="zh-CN" altLang="en-US" i="1">
                          <a:latin typeface="Cambria Math" panose="02040503050406030204" pitchFamily="18" charset="0"/>
                        </a:rPr>
                        <m:t>𝐾</m:t>
                      </m:r>
                      <m:d>
                        <m:dPr>
                          <m:ctrlPr>
                            <a:rPr lang="zh-CN" altLang="en-US" i="1">
                              <a:latin typeface="Cambria Math" panose="02040503050406030204" pitchFamily="18" charset="0"/>
                            </a:rPr>
                          </m:ctrlPr>
                        </m:dPr>
                        <m:e>
                          <m:r>
                            <a:rPr lang="zh-CN" altLang="en-US" i="1">
                              <a:latin typeface="Cambria Math" panose="02040503050406030204" pitchFamily="18" charset="0"/>
                            </a:rPr>
                            <m:t>𝑗</m:t>
                          </m:r>
                          <m:r>
                            <a:rPr lang="zh-CN" altLang="en-US" i="1">
                              <a:latin typeface="Cambria Math" panose="02040503050406030204" pitchFamily="18" charset="0"/>
                            </a:rPr>
                            <m:t>𝜔</m:t>
                          </m:r>
                        </m:e>
                      </m:d>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241672" y="3321050"/>
                <a:ext cx="1765612" cy="678391"/>
              </a:xfrm>
              <a:prstGeom prst="rect">
                <a:avLst/>
              </a:prstGeom>
              <a:blipFill>
                <a:blip r:embed="rId8"/>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241672" y="4097761"/>
                <a:ext cx="5243743" cy="4866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𝐾</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𝑗</m:t>
                          </m:r>
                          <m:r>
                            <a:rPr lang="zh-CN" altLang="en-US" sz="2400" i="1">
                              <a:latin typeface="Cambria Math" panose="02040503050406030204" pitchFamily="18" charset="0"/>
                            </a:rPr>
                            <m:t>𝜔</m:t>
                          </m:r>
                        </m:e>
                      </m:d>
                      <m:r>
                        <a:rPr lang="zh-CN" altLang="en-US" sz="2400" i="0">
                          <a:latin typeface="Cambria Math" panose="02040503050406030204" pitchFamily="18" charset="0"/>
                        </a:rPr>
                        <m:t>=</m:t>
                      </m:r>
                      <m:r>
                        <a:rPr lang="zh-CN" altLang="en-US" sz="2400" i="1">
                          <a:latin typeface="Cambria Math" panose="02040503050406030204" pitchFamily="18" charset="0"/>
                        </a:rPr>
                        <m:t>𝑃</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𝜔</m:t>
                          </m:r>
                        </m:e>
                      </m:d>
                      <m:r>
                        <a:rPr lang="zh-CN" altLang="en-US" sz="2400" i="0">
                          <a:latin typeface="Cambria Math" panose="02040503050406030204" pitchFamily="18" charset="0"/>
                        </a:rPr>
                        <m:t>+</m:t>
                      </m:r>
                      <m:r>
                        <a:rPr lang="zh-CN" altLang="en-US" sz="2400" i="1">
                          <a:latin typeface="Cambria Math" panose="02040503050406030204" pitchFamily="18" charset="0"/>
                        </a:rPr>
                        <m:t>𝑗𝑄</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𝜔</m:t>
                          </m:r>
                        </m:e>
                      </m:d>
                      <m:r>
                        <a:rPr lang="zh-CN" altLang="en-US" sz="2400" i="0">
                          <a:latin typeface="Cambria Math" panose="02040503050406030204" pitchFamily="18" charset="0"/>
                        </a:rPr>
                        <m:t>=</m:t>
                      </m:r>
                      <m:r>
                        <a:rPr lang="zh-CN" altLang="en-US" sz="2400" i="1">
                          <a:latin typeface="Cambria Math" panose="02040503050406030204" pitchFamily="18" charset="0"/>
                        </a:rPr>
                        <m:t>𝐴</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𝜔</m:t>
                          </m:r>
                        </m:e>
                      </m:d>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i="1">
                              <a:latin typeface="Cambria Math" panose="02040503050406030204" pitchFamily="18" charset="0"/>
                            </a:rPr>
                            <m:t>𝑗</m:t>
                          </m:r>
                          <m:r>
                            <a:rPr lang="zh-CN" altLang="en-US" sz="2400" i="1">
                              <a:latin typeface="Cambria Math" panose="02040503050406030204" pitchFamily="18" charset="0"/>
                            </a:rPr>
                            <m:t>𝜃</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𝜔</m:t>
                              </m:r>
                            </m:e>
                          </m:d>
                        </m:sup>
                      </m:sSup>
                    </m:oMath>
                  </m:oMathPara>
                </a14:m>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2241672" y="4097761"/>
                <a:ext cx="5243743" cy="486672"/>
              </a:xfrm>
              <a:prstGeom prst="rect">
                <a:avLst/>
              </a:prstGeom>
              <a:blipFill>
                <a:blip r:embed="rId9"/>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67C5BF98-2B8B-48C2-82C2-6A4E7BA397DE}"/>
              </a:ext>
            </a:extLst>
          </p:cNvPr>
          <p:cNvSpPr>
            <a:spLocks noGrp="1"/>
          </p:cNvSpPr>
          <p:nvPr>
            <p:ph type="sldNum" sz="quarter" idx="12"/>
          </p:nvPr>
        </p:nvSpPr>
        <p:spPr/>
        <p:txBody>
          <a:bodyPr/>
          <a:lstStyle/>
          <a:p>
            <a:fld id="{DC11BA4E-7967-4102-867C-9D230A2E6791}" type="slidenum">
              <a:rPr lang="zh-CN" altLang="en-US" smtClean="0"/>
              <a:t>73</a:t>
            </a:fld>
            <a:endParaRPr lang="zh-CN" altLang="en-US"/>
          </a:p>
        </p:txBody>
      </p:sp>
    </p:spTree>
    <p:extLst>
      <p:ext uri="{BB962C8B-B14F-4D97-AF65-F5344CB8AC3E}">
        <p14:creationId xmlns:p14="http://schemas.microsoft.com/office/powerpoint/2010/main" val="99598521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solidFill>
                <a:schemeClr val="bg1">
                  <a:lumMod val="50000"/>
                </a:schemeClr>
              </a:solidFill>
            </a:endParaRPr>
          </a:p>
        </p:txBody>
      </p:sp>
      <p:sp>
        <p:nvSpPr>
          <p:cNvPr id="37" name="圆角矩形 3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15.4.2</a:t>
            </a:r>
          </a:p>
        </p:txBody>
      </p:sp>
      <p:sp>
        <p:nvSpPr>
          <p:cNvPr id="38" name="矩形 3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动态测量数据处理方法</a:t>
            </a:r>
          </a:p>
        </p:txBody>
      </p:sp>
      <p:sp>
        <p:nvSpPr>
          <p:cNvPr id="29" name="Rectangle 3"/>
          <p:cNvSpPr>
            <a:spLocks noRot="1" noChangeArrowheads="1"/>
          </p:cNvSpPr>
          <p:nvPr/>
        </p:nvSpPr>
        <p:spPr bwMode="auto">
          <a:xfrm>
            <a:off x="272143" y="1219200"/>
            <a:ext cx="870438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dirty="0">
                <a:solidFill>
                  <a:schemeClr val="tx1"/>
                </a:solidFill>
                <a:latin typeface="宋体" panose="02010600030101010101" pitchFamily="2" charset="-122"/>
              </a:rPr>
              <a:t>2</a:t>
            </a:r>
            <a:r>
              <a:rPr lang="zh-CN" altLang="en-US" sz="2400" dirty="0">
                <a:solidFill>
                  <a:schemeClr val="tx1"/>
                </a:solidFill>
                <a:latin typeface="宋体" panose="02010600030101010101" pitchFamily="2" charset="-122"/>
              </a:rPr>
              <a:t>．自动检测仪表的幅值频率误差和相位频率误差</a:t>
            </a:r>
          </a:p>
          <a:p>
            <a:pPr eaLnBrk="1" hangingPunct="1">
              <a:lnSpc>
                <a:spcPct val="150000"/>
              </a:lnSpc>
            </a:pPr>
            <a:r>
              <a:rPr lang="en-US" altLang="zh-CN" sz="2400">
                <a:solidFill>
                  <a:schemeClr val="tx1"/>
                </a:solidFill>
                <a:latin typeface="宋体" panose="02010600030101010101" pitchFamily="2" charset="-122"/>
              </a:rPr>
              <a:t>                      </a:t>
            </a:r>
            <a:r>
              <a:rPr lang="en-US" altLang="zh-CN" sz="2400" dirty="0">
                <a:solidFill>
                  <a:schemeClr val="tx1"/>
                </a:solidFill>
                <a:latin typeface="宋体" panose="02010600030101010101" pitchFamily="2" charset="-122"/>
              </a:rPr>
              <a:t>-</a:t>
            </a:r>
            <a:r>
              <a:rPr lang="zh-CN" altLang="en-US" sz="2400">
                <a:solidFill>
                  <a:schemeClr val="tx1"/>
                </a:solidFill>
                <a:latin typeface="宋体" panose="02010600030101010101" pitchFamily="2" charset="-122"/>
              </a:rPr>
              <a:t>幅频特性，            </a:t>
            </a:r>
            <a:r>
              <a:rPr lang="en-US" altLang="zh-CN" sz="2400" dirty="0">
                <a:solidFill>
                  <a:schemeClr val="tx1"/>
                </a:solidFill>
                <a:latin typeface="宋体" panose="02010600030101010101" pitchFamily="2" charset="-122"/>
              </a:rPr>
              <a:t>-</a:t>
            </a:r>
            <a:r>
              <a:rPr lang="zh-CN" altLang="en-US" sz="2400" dirty="0">
                <a:solidFill>
                  <a:schemeClr val="tx1"/>
                </a:solidFill>
                <a:latin typeface="宋体" panose="02010600030101010101" pitchFamily="2" charset="-122"/>
              </a:rPr>
              <a:t>相频特性    </a:t>
            </a:r>
          </a:p>
          <a:p>
            <a:pPr indent="193675" eaLnBrk="1" hangingPunct="1">
              <a:lnSpc>
                <a:spcPct val="150000"/>
              </a:lnSpc>
            </a:pPr>
            <a:r>
              <a:rPr lang="zh-CN" altLang="en-US" sz="2400" dirty="0">
                <a:solidFill>
                  <a:schemeClr val="tx1"/>
                </a:solidFill>
                <a:latin typeface="宋体" panose="02010600030101010101" pitchFamily="2" charset="-122"/>
              </a:rPr>
              <a:t>定义幅值频率误差：</a:t>
            </a:r>
          </a:p>
          <a:p>
            <a:pPr eaLnBrk="1" hangingPunct="1">
              <a:lnSpc>
                <a:spcPct val="150000"/>
              </a:lnSpc>
            </a:pPr>
            <a:endParaRPr lang="zh-CN" altLang="en-US" sz="2400" dirty="0">
              <a:solidFill>
                <a:schemeClr val="tx1"/>
              </a:solidFill>
              <a:latin typeface="宋体" panose="02010600030101010101" pitchFamily="2" charset="-122"/>
            </a:endParaRPr>
          </a:p>
          <a:p>
            <a:pPr eaLnBrk="1" hangingPunct="1">
              <a:lnSpc>
                <a:spcPct val="150000"/>
              </a:lnSpc>
            </a:pPr>
            <a:r>
              <a:rPr lang="zh-CN" altLang="en-US" sz="2400" dirty="0">
                <a:solidFill>
                  <a:schemeClr val="tx1"/>
                </a:solidFill>
                <a:latin typeface="宋体" panose="02010600030101010101" pitchFamily="2" charset="-122"/>
              </a:rPr>
              <a:t>       相位频率误差：</a:t>
            </a:r>
          </a:p>
          <a:p>
            <a:pPr eaLnBrk="1" hangingPunct="1">
              <a:lnSpc>
                <a:spcPct val="150000"/>
              </a:lnSpc>
            </a:pPr>
            <a:r>
              <a:rPr lang="zh-CN" altLang="en-US" sz="2400" dirty="0">
                <a:solidFill>
                  <a:schemeClr val="tx1"/>
                </a:solidFill>
                <a:latin typeface="宋体" panose="02010600030101010101" pitchFamily="2" charset="-122"/>
              </a:rPr>
              <a:t>     </a:t>
            </a:r>
          </a:p>
          <a:p>
            <a:pPr eaLnBrk="1" hangingPunct="1">
              <a:lnSpc>
                <a:spcPct val="150000"/>
              </a:lnSpc>
            </a:pPr>
            <a:r>
              <a:rPr lang="zh-CN" altLang="en-US" sz="2400" dirty="0">
                <a:solidFill>
                  <a:schemeClr val="tx1"/>
                </a:solidFill>
                <a:latin typeface="宋体" panose="02010600030101010101" pitchFamily="2" charset="-122"/>
              </a:rPr>
              <a:t>      当给定</a:t>
            </a:r>
            <a:r>
              <a:rPr lang="en-US" altLang="zh-CN" sz="2400" b="0" i="1" dirty="0">
                <a:solidFill>
                  <a:schemeClr val="tx1"/>
                </a:solidFill>
                <a:latin typeface="宋体" panose="02010600030101010101" pitchFamily="2" charset="-122"/>
                <a:cs typeface="Times New Roman" panose="02020603050405020304" pitchFamily="18" charset="0"/>
              </a:rPr>
              <a:t>δ</a:t>
            </a:r>
            <a:r>
              <a:rPr lang="zh-CN" altLang="en-US" sz="2400" dirty="0">
                <a:solidFill>
                  <a:schemeClr val="tx1"/>
                </a:solidFill>
                <a:latin typeface="宋体" panose="02010600030101010101" pitchFamily="2" charset="-122"/>
              </a:rPr>
              <a:t>和</a:t>
            </a:r>
            <a:r>
              <a:rPr lang="el-GR" altLang="zh-CN" sz="2400" b="0" i="1" dirty="0">
                <a:solidFill>
                  <a:schemeClr val="tx1"/>
                </a:solidFill>
                <a:latin typeface="Times New Roman" panose="02020603050405020304" pitchFamily="18" charset="0"/>
                <a:cs typeface="Times New Roman" panose="02020603050405020304" pitchFamily="18" charset="0"/>
              </a:rPr>
              <a:t>φ</a:t>
            </a:r>
            <a:r>
              <a:rPr lang="zh-CN" altLang="en-US" sz="2400" dirty="0">
                <a:solidFill>
                  <a:schemeClr val="tx1"/>
                </a:solidFill>
                <a:latin typeface="宋体" panose="02010600030101010101" pitchFamily="2" charset="-122"/>
              </a:rPr>
              <a:t>值后，可根据上式求出对应的</a:t>
            </a:r>
            <a:r>
              <a:rPr lang="en-US" altLang="zh-CN" sz="2400" b="0" i="1" dirty="0" err="1">
                <a:solidFill>
                  <a:schemeClr val="tx1"/>
                </a:solidFill>
                <a:latin typeface="Times New Roman" panose="02020603050405020304" pitchFamily="18" charset="0"/>
                <a:cs typeface="Times New Roman" panose="02020603050405020304" pitchFamily="18" charset="0"/>
              </a:rPr>
              <a:t>ω</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p</a:t>
            </a:r>
            <a:r>
              <a:rPr lang="zh-CN" altLang="en-US" sz="2400" dirty="0">
                <a:solidFill>
                  <a:schemeClr val="tx1"/>
                </a:solidFill>
                <a:latin typeface="宋体" panose="02010600030101010101" pitchFamily="2" charset="-122"/>
              </a:rPr>
              <a:t>，即用仪表测量频率低于</a:t>
            </a:r>
            <a:r>
              <a:rPr lang="en-US" altLang="zh-CN" sz="2400" b="0" i="1" dirty="0" err="1">
                <a:solidFill>
                  <a:schemeClr val="tx1"/>
                </a:solidFill>
                <a:latin typeface="Times New Roman" panose="02020603050405020304" pitchFamily="18" charset="0"/>
                <a:cs typeface="Times New Roman" panose="02020603050405020304" pitchFamily="18" charset="0"/>
              </a:rPr>
              <a:t>ω</a:t>
            </a:r>
            <a:r>
              <a:rPr lang="en-US" altLang="zh-CN" sz="2400" b="0" i="1" baseline="-25000" dirty="0" err="1">
                <a:solidFill>
                  <a:schemeClr val="tx1"/>
                </a:solidFill>
                <a:latin typeface="Times New Roman" panose="02020603050405020304" pitchFamily="18" charset="0"/>
                <a:cs typeface="Times New Roman" panose="02020603050405020304" pitchFamily="18" charset="0"/>
              </a:rPr>
              <a:t>p</a:t>
            </a:r>
            <a:r>
              <a:rPr lang="zh-CN" altLang="en-US" sz="2400" dirty="0">
                <a:solidFill>
                  <a:schemeClr val="tx1"/>
                </a:solidFill>
                <a:latin typeface="宋体" panose="02010600030101010101" pitchFamily="2" charset="-122"/>
              </a:rPr>
              <a:t>的周期信号时，可保证幅值频率误差</a:t>
            </a:r>
            <a:r>
              <a:rPr lang="en-US" altLang="zh-CN" sz="2400" b="0" i="1" dirty="0">
                <a:solidFill>
                  <a:schemeClr val="tx1"/>
                </a:solidFill>
                <a:latin typeface="宋体" panose="02010600030101010101" pitchFamily="2" charset="-122"/>
                <a:cs typeface="Times New Roman" panose="02020603050405020304" pitchFamily="18" charset="0"/>
              </a:rPr>
              <a:t>δ</a:t>
            </a:r>
            <a:r>
              <a:rPr lang="zh-CN" altLang="en-US" sz="2400" dirty="0">
                <a:solidFill>
                  <a:schemeClr val="tx1"/>
                </a:solidFill>
                <a:latin typeface="宋体" panose="02010600030101010101" pitchFamily="2" charset="-122"/>
              </a:rPr>
              <a:t>和相位频率误差</a:t>
            </a:r>
            <a:r>
              <a:rPr lang="el-GR" altLang="zh-CN" sz="2400" b="0" i="1" dirty="0">
                <a:solidFill>
                  <a:schemeClr val="tx1"/>
                </a:solidFill>
                <a:latin typeface="Times New Roman" panose="02020603050405020304" pitchFamily="18" charset="0"/>
                <a:cs typeface="Times New Roman" panose="02020603050405020304" pitchFamily="18" charset="0"/>
              </a:rPr>
              <a:t>φ</a:t>
            </a:r>
            <a:r>
              <a:rPr lang="zh-CN" altLang="en-US" sz="2400" dirty="0">
                <a:solidFill>
                  <a:schemeClr val="tx1"/>
                </a:solidFill>
                <a:latin typeface="宋体" panose="02010600030101010101" pitchFamily="2" charset="-122"/>
              </a:rPr>
              <a:t>不超过给定值。</a:t>
            </a:r>
          </a:p>
        </p:txBody>
      </p:sp>
      <p:graphicFrame>
        <p:nvGraphicFramePr>
          <p:cNvPr id="30" name="Object 16"/>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75783"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17"/>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name="Equation" r:id="rId5" imgW="391303" imgH="739129" progId="Equation.3">
                  <p:embed/>
                </p:oleObj>
              </mc:Choice>
              <mc:Fallback>
                <p:oleObj name="Equation" r:id="rId5" imgW="391303" imgH="739129" progId="Equation.3">
                  <p:embed/>
                  <p:pic>
                    <p:nvPicPr>
                      <p:cNvPr id="75784"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24"/>
          <p:cNvGraphicFramePr>
            <a:graphicFrameLocks noChangeAspect="1"/>
          </p:cNvGraphicFramePr>
          <p:nvPr>
            <p:extLst>
              <p:ext uri="{D42A27DB-BD31-4B8C-83A1-F6EECF244321}">
                <p14:modId xmlns:p14="http://schemas.microsoft.com/office/powerpoint/2010/main" val="1434097269"/>
              </p:ext>
            </p:extLst>
          </p:nvPr>
        </p:nvGraphicFramePr>
        <p:xfrm>
          <a:off x="865268" y="1867877"/>
          <a:ext cx="2777386" cy="445678"/>
        </p:xfrm>
        <a:graphic>
          <a:graphicData uri="http://schemas.openxmlformats.org/presentationml/2006/ole">
            <mc:AlternateContent xmlns:mc="http://schemas.openxmlformats.org/markup-compatibility/2006">
              <mc:Choice xmlns:v="urn:schemas-microsoft-com:vml" Requires="v">
                <p:oleObj name="Equation" r:id="rId7" imgW="1542992" imgH="247599" progId="Equation.3">
                  <p:embed/>
                </p:oleObj>
              </mc:Choice>
              <mc:Fallback>
                <p:oleObj name="Equation" r:id="rId7" imgW="1542992" imgH="247599" progId="Equation.3">
                  <p:embed/>
                  <p:pic>
                    <p:nvPicPr>
                      <p:cNvPr id="292888"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5268" y="1867877"/>
                        <a:ext cx="2777386" cy="4456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25"/>
          <p:cNvGraphicFramePr>
            <a:graphicFrameLocks noChangeAspect="1"/>
          </p:cNvGraphicFramePr>
          <p:nvPr>
            <p:extLst>
              <p:ext uri="{D42A27DB-BD31-4B8C-83A1-F6EECF244321}">
                <p14:modId xmlns:p14="http://schemas.microsoft.com/office/powerpoint/2010/main" val="2200643417"/>
              </p:ext>
            </p:extLst>
          </p:nvPr>
        </p:nvGraphicFramePr>
        <p:xfrm>
          <a:off x="5357090" y="1747816"/>
          <a:ext cx="1828800" cy="685800"/>
        </p:xfrm>
        <a:graphic>
          <a:graphicData uri="http://schemas.openxmlformats.org/presentationml/2006/ole">
            <mc:AlternateContent xmlns:mc="http://schemas.openxmlformats.org/markup-compatibility/2006">
              <mc:Choice xmlns:v="urn:schemas-microsoft-com:vml" Requires="v">
                <p:oleObj name="Equation" r:id="rId9" imgW="1085869" imgH="390589" progId="Equation.3">
                  <p:embed/>
                </p:oleObj>
              </mc:Choice>
              <mc:Fallback>
                <p:oleObj name="Equation" r:id="rId9" imgW="1085869" imgH="390589" progId="Equation.3">
                  <p:embed/>
                  <p:pic>
                    <p:nvPicPr>
                      <p:cNvPr id="292889"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57090" y="1747816"/>
                        <a:ext cx="1828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26"/>
          <p:cNvGraphicFramePr>
            <a:graphicFrameLocks noChangeAspect="1"/>
          </p:cNvGraphicFramePr>
          <p:nvPr>
            <p:extLst>
              <p:ext uri="{D42A27DB-BD31-4B8C-83A1-F6EECF244321}">
                <p14:modId xmlns:p14="http://schemas.microsoft.com/office/powerpoint/2010/main" val="81619785"/>
              </p:ext>
            </p:extLst>
          </p:nvPr>
        </p:nvGraphicFramePr>
        <p:xfrm>
          <a:off x="3765850" y="2456002"/>
          <a:ext cx="1911579" cy="760849"/>
        </p:xfrm>
        <a:graphic>
          <a:graphicData uri="http://schemas.openxmlformats.org/presentationml/2006/ole">
            <mc:AlternateContent xmlns:mc="http://schemas.openxmlformats.org/markup-compatibility/2006">
              <mc:Choice xmlns:v="urn:schemas-microsoft-com:vml" Requires="v">
                <p:oleObj name="公式" r:id="rId11" imgW="1085869" imgH="418971" progId="Equation.3">
                  <p:embed/>
                </p:oleObj>
              </mc:Choice>
              <mc:Fallback>
                <p:oleObj name="公式" r:id="rId11" imgW="1085869" imgH="418971" progId="Equation.3">
                  <p:embed/>
                  <p:pic>
                    <p:nvPicPr>
                      <p:cNvPr id="29289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65850" y="2456002"/>
                        <a:ext cx="1911579" cy="760849"/>
                      </a:xfrm>
                      <a:prstGeom prst="rect">
                        <a:avLst/>
                      </a:prstGeom>
                      <a:noFill/>
                      <a:ln>
                        <a:noFill/>
                      </a:ln>
                      <a:effectLst/>
                    </p:spPr>
                  </p:pic>
                </p:oleObj>
              </mc:Fallback>
            </mc:AlternateContent>
          </a:graphicData>
        </a:graphic>
      </p:graphicFrame>
      <p:graphicFrame>
        <p:nvGraphicFramePr>
          <p:cNvPr id="52" name="Object 38"/>
          <p:cNvGraphicFramePr>
            <a:graphicFrameLocks noChangeAspect="1"/>
          </p:cNvGraphicFramePr>
          <p:nvPr>
            <p:extLst>
              <p:ext uri="{D42A27DB-BD31-4B8C-83A1-F6EECF244321}">
                <p14:modId xmlns:p14="http://schemas.microsoft.com/office/powerpoint/2010/main" val="269942246"/>
              </p:ext>
            </p:extLst>
          </p:nvPr>
        </p:nvGraphicFramePr>
        <p:xfrm>
          <a:off x="3765850" y="3429000"/>
          <a:ext cx="1882080" cy="775061"/>
        </p:xfrm>
        <a:graphic>
          <a:graphicData uri="http://schemas.openxmlformats.org/presentationml/2006/ole">
            <mc:AlternateContent xmlns:mc="http://schemas.openxmlformats.org/markup-compatibility/2006">
              <mc:Choice xmlns:v="urn:schemas-microsoft-com:vml" Requires="v">
                <p:oleObj name="公式" r:id="rId13" imgW="1047821" imgH="418971" progId="Equation.3">
                  <p:embed/>
                </p:oleObj>
              </mc:Choice>
              <mc:Fallback>
                <p:oleObj name="公式" r:id="rId13" imgW="1047821" imgH="418971" progId="Equation.3">
                  <p:embed/>
                  <p:pic>
                    <p:nvPicPr>
                      <p:cNvPr id="292902" name="Object 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65850" y="3429000"/>
                        <a:ext cx="1882080" cy="775061"/>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9EEFE8B6-ABF0-4C82-B316-793C552774AC}"/>
              </a:ext>
            </a:extLst>
          </p:cNvPr>
          <p:cNvSpPr>
            <a:spLocks noGrp="1"/>
          </p:cNvSpPr>
          <p:nvPr>
            <p:ph type="sldNum" sz="quarter" idx="12"/>
          </p:nvPr>
        </p:nvSpPr>
        <p:spPr/>
        <p:txBody>
          <a:bodyPr/>
          <a:lstStyle/>
          <a:p>
            <a:fld id="{DC11BA4E-7967-4102-867C-9D230A2E6791}" type="slidenum">
              <a:rPr lang="zh-CN" altLang="en-US" smtClean="0"/>
              <a:t>74</a:t>
            </a:fld>
            <a:endParaRPr lang="zh-CN" altLang="en-US"/>
          </a:p>
        </p:txBody>
      </p:sp>
    </p:spTree>
    <p:extLst>
      <p:ext uri="{BB962C8B-B14F-4D97-AF65-F5344CB8AC3E}">
        <p14:creationId xmlns:p14="http://schemas.microsoft.com/office/powerpoint/2010/main" val="36740855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solidFill>
                <a:schemeClr val="bg1">
                  <a:lumMod val="50000"/>
                </a:schemeClr>
              </a:solidFill>
            </a:endParaRPr>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15.4.2</a:t>
            </a:r>
          </a:p>
        </p:txBody>
      </p:sp>
      <p:sp>
        <p:nvSpPr>
          <p:cNvPr id="29" name="矩形 28"/>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动态测量数据处理方法</a:t>
            </a:r>
          </a:p>
        </p:txBody>
      </p:sp>
      <p:sp>
        <p:nvSpPr>
          <p:cNvPr id="40" name="Rectangle 3"/>
          <p:cNvSpPr>
            <a:spLocks noRot="1" noChangeArrowheads="1"/>
          </p:cNvSpPr>
          <p:nvPr/>
        </p:nvSpPr>
        <p:spPr bwMode="auto">
          <a:xfrm>
            <a:off x="185083" y="1146946"/>
            <a:ext cx="8523488" cy="226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2"/>
                </a:solidFill>
                <a:latin typeface="Arial" panose="020B0604020202020204" pitchFamily="34" charset="0"/>
                <a:ea typeface="宋体" panose="02010600030101010101" pitchFamily="2" charset="-122"/>
              </a:defRPr>
            </a:lvl1pPr>
            <a:lvl2pPr marL="742950" indent="-285750" eaLnBrk="0" hangingPunct="0">
              <a:defRPr b="1">
                <a:solidFill>
                  <a:schemeClr val="tx2"/>
                </a:solidFill>
                <a:latin typeface="Arial" panose="020B0604020202020204" pitchFamily="34" charset="0"/>
                <a:ea typeface="宋体" panose="02010600030101010101" pitchFamily="2" charset="-122"/>
              </a:defRPr>
            </a:lvl2pPr>
            <a:lvl3pPr marL="1143000" indent="-228600" eaLnBrk="0" hangingPunct="0">
              <a:defRPr b="1">
                <a:solidFill>
                  <a:schemeClr val="tx2"/>
                </a:solidFill>
                <a:latin typeface="Arial" panose="020B0604020202020204" pitchFamily="34" charset="0"/>
                <a:ea typeface="宋体" panose="02010600030101010101" pitchFamily="2" charset="-122"/>
              </a:defRPr>
            </a:lvl3pPr>
            <a:lvl4pPr marL="1600200" indent="-228600" eaLnBrk="0" hangingPunct="0">
              <a:defRPr b="1">
                <a:solidFill>
                  <a:schemeClr val="tx2"/>
                </a:solidFill>
                <a:latin typeface="Arial" panose="020B0604020202020204" pitchFamily="34" charset="0"/>
                <a:ea typeface="宋体" panose="02010600030101010101" pitchFamily="2" charset="-122"/>
              </a:defRPr>
            </a:lvl4pPr>
            <a:lvl5pPr marL="2057400" indent="-228600" eaLnBrk="0" hangingPunct="0">
              <a:defRPr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2"/>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三、仪表指针走行全量程时间</a:t>
            </a:r>
            <a:r>
              <a:rPr lang="en-US" altLang="zh-CN" sz="2400" b="0" i="1" dirty="0">
                <a:solidFill>
                  <a:schemeClr val="tx1"/>
                </a:solidFill>
                <a:latin typeface="Times New Roman" panose="02020603050405020304" pitchFamily="18" charset="0"/>
                <a:cs typeface="Times New Roman" panose="02020603050405020304" pitchFamily="18" charset="0"/>
              </a:rPr>
              <a:t>t</a:t>
            </a:r>
            <a:r>
              <a:rPr lang="en-US" altLang="zh-CN" sz="2400" b="0" i="1" baseline="-25000" dirty="0">
                <a:solidFill>
                  <a:schemeClr val="tx1"/>
                </a:solidFill>
                <a:latin typeface="Times New Roman" panose="02020603050405020304" pitchFamily="18" charset="0"/>
                <a:cs typeface="Times New Roman" panose="02020603050405020304" pitchFamily="18" charset="0"/>
              </a:rPr>
              <a:t>y</a:t>
            </a:r>
          </a:p>
          <a:p>
            <a:pPr marL="0" indent="631825" eaLnBrk="1" hangingPunct="1">
              <a:lnSpc>
                <a:spcPct val="150000"/>
              </a:lnSpc>
            </a:pPr>
            <a:r>
              <a:rPr lang="zh-CN" altLang="en-US" sz="2400" dirty="0">
                <a:solidFill>
                  <a:schemeClr val="tx1"/>
                </a:solidFill>
                <a:latin typeface="Times New Roman" panose="02020603050405020304" pitchFamily="18" charset="0"/>
                <a:cs typeface="Times New Roman" panose="02020603050405020304" pitchFamily="18" charset="0"/>
              </a:rPr>
              <a:t>仪表指针走行全量程时间</a:t>
            </a:r>
            <a:r>
              <a:rPr lang="en-US" altLang="zh-CN" sz="2400" b="0" i="1" dirty="0">
                <a:solidFill>
                  <a:schemeClr val="tx1"/>
                </a:solidFill>
                <a:latin typeface="Times New Roman" panose="02020603050405020304" pitchFamily="18" charset="0"/>
                <a:cs typeface="Times New Roman" panose="02020603050405020304" pitchFamily="18" charset="0"/>
              </a:rPr>
              <a:t>t</a:t>
            </a:r>
            <a:r>
              <a:rPr lang="en-US" altLang="zh-CN" sz="2400" b="0" i="1" baseline="-25000" dirty="0">
                <a:solidFill>
                  <a:schemeClr val="tx1"/>
                </a:solidFill>
                <a:latin typeface="Times New Roman" panose="02020603050405020304" pitchFamily="18" charset="0"/>
                <a:cs typeface="Times New Roman" panose="02020603050405020304" pitchFamily="18" charset="0"/>
              </a:rPr>
              <a:t>y</a:t>
            </a:r>
            <a:r>
              <a:rPr lang="zh-CN" altLang="en-US" sz="2400" dirty="0">
                <a:solidFill>
                  <a:schemeClr val="tx1"/>
                </a:solidFill>
                <a:latin typeface="Times New Roman" panose="02020603050405020304" pitchFamily="18" charset="0"/>
                <a:cs typeface="Times New Roman" panose="02020603050405020304" pitchFamily="18" charset="0"/>
              </a:rPr>
              <a:t>的定义为：给仪表输入满量程阶跃信号时，仪表指针由刻度下限走到上限所需的时间：</a:t>
            </a:r>
          </a:p>
        </p:txBody>
      </p:sp>
      <p:graphicFrame>
        <p:nvGraphicFramePr>
          <p:cNvPr id="41" name="Object 2"/>
          <p:cNvGraphicFramePr>
            <a:graphicFrameLocks noChangeAspect="1"/>
          </p:cNvGraphicFramePr>
          <p:nvPr>
            <p:extLst>
              <p:ext uri="{D42A27DB-BD31-4B8C-83A1-F6EECF244321}">
                <p14:modId xmlns:p14="http://schemas.microsoft.com/office/powerpoint/2010/main" val="3367671680"/>
              </p:ext>
            </p:extLst>
          </p:nvPr>
        </p:nvGraphicFramePr>
        <p:xfrm>
          <a:off x="435429" y="2926649"/>
          <a:ext cx="2808040" cy="1005585"/>
        </p:xfrm>
        <a:graphic>
          <a:graphicData uri="http://schemas.openxmlformats.org/presentationml/2006/ole">
            <mc:AlternateContent xmlns:mc="http://schemas.openxmlformats.org/markup-compatibility/2006">
              <mc:Choice xmlns:v="urn:schemas-microsoft-com:vml" Requires="v">
                <p:oleObj name="Equation" r:id="rId3" imgW="1276382" imgH="457084" progId="Equation.3">
                  <p:embed/>
                </p:oleObj>
              </mc:Choice>
              <mc:Fallback>
                <p:oleObj name="Equation" r:id="rId3" imgW="1276382" imgH="457084" progId="Equation.3">
                  <p:embed/>
                  <p:pic>
                    <p:nvPicPr>
                      <p:cNvPr id="3123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429" y="2926649"/>
                        <a:ext cx="2808040" cy="1005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1E5E3E71-0C55-4437-8670-520839448690}"/>
              </a:ext>
            </a:extLst>
          </p:cNvPr>
          <p:cNvSpPr>
            <a:spLocks noGrp="1"/>
          </p:cNvSpPr>
          <p:nvPr>
            <p:ph type="sldNum" sz="quarter" idx="12"/>
          </p:nvPr>
        </p:nvSpPr>
        <p:spPr/>
        <p:txBody>
          <a:bodyPr/>
          <a:lstStyle/>
          <a:p>
            <a:fld id="{DC11BA4E-7967-4102-867C-9D230A2E6791}" type="slidenum">
              <a:rPr lang="zh-CN" altLang="en-US" smtClean="0"/>
              <a:t>75</a:t>
            </a:fld>
            <a:endParaRPr lang="zh-CN" altLang="en-US"/>
          </a:p>
        </p:txBody>
      </p:sp>
      <p:sp>
        <p:nvSpPr>
          <p:cNvPr id="9" name="Text Box 9">
            <a:extLst>
              <a:ext uri="{FF2B5EF4-FFF2-40B4-BE49-F238E27FC236}">
                <a16:creationId xmlns:a16="http://schemas.microsoft.com/office/drawing/2014/main" id="{217B078C-E6DD-4AB8-8777-6D5995E00D4D}"/>
              </a:ext>
            </a:extLst>
          </p:cNvPr>
          <p:cNvSpPr txBox="1">
            <a:spLocks noChangeArrowheads="1"/>
          </p:cNvSpPr>
          <p:nvPr/>
        </p:nvSpPr>
        <p:spPr bwMode="auto">
          <a:xfrm>
            <a:off x="4572000" y="5940205"/>
            <a:ext cx="338497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spcBef>
                <a:spcPct val="50000"/>
              </a:spcBef>
            </a:pPr>
            <a:r>
              <a:rPr kumimoji="0" lang="zh-CN" altLang="en-US" b="1" dirty="0">
                <a:solidFill>
                  <a:srgbClr val="000099"/>
                </a:solidFill>
                <a:latin typeface="宋体" pitchFamily="2" charset="-122"/>
                <a:ea typeface="宋体" pitchFamily="2" charset="-122"/>
              </a:rPr>
              <a:t>图</a:t>
            </a:r>
            <a:r>
              <a:rPr kumimoji="0" lang="en-US" altLang="zh-CN" b="1" dirty="0">
                <a:solidFill>
                  <a:srgbClr val="000099"/>
                </a:solidFill>
                <a:latin typeface="宋体" pitchFamily="2" charset="-122"/>
                <a:ea typeface="宋体" pitchFamily="2" charset="-122"/>
              </a:rPr>
              <a:t>15-18  </a:t>
            </a:r>
            <a:r>
              <a:rPr kumimoji="0" lang="en-US" altLang="zh-CN" b="1" i="1" dirty="0">
                <a:solidFill>
                  <a:srgbClr val="000099"/>
                </a:solidFill>
                <a:latin typeface="Times New Roman" pitchFamily="18" charset="0"/>
                <a:ea typeface="宋体" pitchFamily="2" charset="-122"/>
                <a:cs typeface="Times New Roman" pitchFamily="18" charset="0"/>
              </a:rPr>
              <a:t>a</a:t>
            </a:r>
            <a:r>
              <a:rPr kumimoji="0" lang="en-US" altLang="zh-CN" b="1" dirty="0">
                <a:solidFill>
                  <a:srgbClr val="000099"/>
                </a:solidFill>
                <a:latin typeface="Times New Roman" pitchFamily="18" charset="0"/>
                <a:ea typeface="宋体" pitchFamily="2" charset="-122"/>
                <a:cs typeface="Times New Roman" pitchFamily="18" charset="0"/>
              </a:rPr>
              <a:t>(</a:t>
            </a:r>
            <a:r>
              <a:rPr kumimoji="0" lang="en-US" altLang="zh-CN" b="1" i="1" dirty="0">
                <a:solidFill>
                  <a:srgbClr val="000099"/>
                </a:solidFill>
                <a:latin typeface="Times New Roman" pitchFamily="18" charset="0"/>
                <a:ea typeface="宋体" pitchFamily="2" charset="-122"/>
                <a:cs typeface="Times New Roman" pitchFamily="18" charset="0"/>
              </a:rPr>
              <a:t>t</a:t>
            </a:r>
            <a:r>
              <a:rPr kumimoji="0" lang="en-US" altLang="zh-CN" b="1" dirty="0">
                <a:solidFill>
                  <a:srgbClr val="000099"/>
                </a:solidFill>
                <a:latin typeface="Times New Roman" pitchFamily="18" charset="0"/>
                <a:ea typeface="宋体" pitchFamily="2" charset="-122"/>
                <a:cs typeface="Times New Roman" pitchFamily="18" charset="0"/>
              </a:rPr>
              <a:t>)</a:t>
            </a:r>
            <a:r>
              <a:rPr kumimoji="0" lang="zh-CN" altLang="en-US" b="1" dirty="0">
                <a:solidFill>
                  <a:srgbClr val="000099"/>
                </a:solidFill>
                <a:latin typeface="宋体" pitchFamily="2" charset="-122"/>
                <a:ea typeface="宋体" pitchFamily="2" charset="-122"/>
              </a:rPr>
              <a:t>曲线</a:t>
            </a:r>
          </a:p>
        </p:txBody>
      </p:sp>
      <p:graphicFrame>
        <p:nvGraphicFramePr>
          <p:cNvPr id="10" name="Object 27">
            <a:extLst>
              <a:ext uri="{FF2B5EF4-FFF2-40B4-BE49-F238E27FC236}">
                <a16:creationId xmlns:a16="http://schemas.microsoft.com/office/drawing/2014/main" id="{0A7CC918-6928-433E-964E-2F14F2F07F93}"/>
              </a:ext>
            </a:extLst>
          </p:cNvPr>
          <p:cNvGraphicFramePr>
            <a:graphicFrameLocks noChangeAspect="1"/>
          </p:cNvGraphicFramePr>
          <p:nvPr>
            <p:extLst>
              <p:ext uri="{D42A27DB-BD31-4B8C-83A1-F6EECF244321}">
                <p14:modId xmlns:p14="http://schemas.microsoft.com/office/powerpoint/2010/main" val="4128295164"/>
              </p:ext>
            </p:extLst>
          </p:nvPr>
        </p:nvGraphicFramePr>
        <p:xfrm>
          <a:off x="3967643" y="2940865"/>
          <a:ext cx="4132060" cy="3100705"/>
        </p:xfrm>
        <a:graphic>
          <a:graphicData uri="http://schemas.openxmlformats.org/presentationml/2006/ole">
            <mc:AlternateContent xmlns:mc="http://schemas.openxmlformats.org/markup-compatibility/2006">
              <mc:Choice xmlns:v="urn:schemas-microsoft-com:vml" Requires="v">
                <p:oleObj name="Flash Movie" r:id="rId5" imgW="5605920" imgH="4206960" progId="Flash.Movie">
                  <p:embed/>
                </p:oleObj>
              </mc:Choice>
              <mc:Fallback>
                <p:oleObj name="Flash Movie" r:id="rId5" imgW="5605920" imgH="4206960" progId="Flash.Movie">
                  <p:embed/>
                  <p:pic>
                    <p:nvPicPr>
                      <p:cNvPr id="2075"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7643" y="2940865"/>
                        <a:ext cx="4132060" cy="310070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418138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751115" y="1579986"/>
            <a:ext cx="8044542" cy="3746158"/>
          </a:xfrm>
        </p:spPr>
        <p:txBody>
          <a:bodyPr>
            <a:noAutofit/>
          </a:bodyPr>
          <a:lstStyle/>
          <a:p>
            <a:pPr marL="0" indent="0" eaLnBrk="1" hangingPunct="1">
              <a:lnSpc>
                <a:spcPct val="150000"/>
              </a:lnSpc>
              <a:spcBef>
                <a:spcPts val="678"/>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四、反应</a:t>
            </a:r>
            <a:r>
              <a:rPr lang="en-US" altLang="zh-CN" sz="2400" b="1" kern="1200" dirty="0">
                <a:latin typeface="宋体" panose="02010600030101010101" pitchFamily="2" charset="-122"/>
                <a:ea typeface="宋体" panose="02010600030101010101" pitchFamily="2" charset="-122"/>
                <a:cs typeface="Arial" panose="020B0604020202020204" pitchFamily="34" charset="0"/>
              </a:rPr>
              <a:t>(</a:t>
            </a:r>
            <a:r>
              <a:rPr lang="zh-CN" altLang="en-US" sz="2400" b="1" kern="1200" dirty="0">
                <a:latin typeface="宋体" panose="02010600030101010101" pitchFamily="2" charset="-122"/>
                <a:ea typeface="宋体" panose="02010600030101010101" pitchFamily="2" charset="-122"/>
                <a:cs typeface="Arial" panose="020B0604020202020204" pitchFamily="34" charset="0"/>
              </a:rPr>
              <a:t>又称惰性时应</a:t>
            </a:r>
            <a:r>
              <a:rPr lang="en-US" altLang="zh-CN" sz="2400" b="1" kern="1200" dirty="0">
                <a:latin typeface="宋体" panose="02010600030101010101" pitchFamily="2" charset="-122"/>
                <a:ea typeface="宋体" panose="02010600030101010101" pitchFamily="2" charset="-122"/>
                <a:cs typeface="Arial" panose="020B0604020202020204" pitchFamily="34" charset="0"/>
              </a:rPr>
              <a:t>)</a:t>
            </a:r>
          </a:p>
          <a:p>
            <a:pPr marL="0" indent="631825" eaLnBrk="1" hangingPunct="1">
              <a:lnSpc>
                <a:spcPct val="150000"/>
              </a:lnSpc>
              <a:spcBef>
                <a:spcPts val="678"/>
              </a:spcBef>
              <a:buNone/>
              <a:defRPr/>
            </a:pPr>
            <a:r>
              <a:rPr lang="zh-CN" altLang="en-US" sz="2400" b="1" kern="1200">
                <a:latin typeface="宋体" panose="02010600030101010101" pitchFamily="2" charset="-122"/>
                <a:ea typeface="宋体" panose="02010600030101010101" pitchFamily="2" charset="-122"/>
                <a:cs typeface="Arial" panose="020B0604020202020204" pitchFamily="34" charset="0"/>
              </a:rPr>
              <a:t>在</a:t>
            </a:r>
            <a:r>
              <a:rPr lang="zh-CN" altLang="en-US" sz="2400" b="1" kern="1200" dirty="0">
                <a:latin typeface="宋体" panose="02010600030101010101" pitchFamily="2" charset="-122"/>
                <a:ea typeface="宋体" panose="02010600030101010101" pitchFamily="2" charset="-122"/>
                <a:cs typeface="Arial" panose="020B0604020202020204" pitchFamily="34" charset="0"/>
              </a:rPr>
              <a:t>一定条件下，当输入阶跃信号时，敏感元件或仪表的输出信号由某初始值上升或下降到全部测量范围的</a:t>
            </a:r>
            <a:r>
              <a:rPr lang="en-US" altLang="zh-CN" sz="2400" b="1" kern="1200" dirty="0">
                <a:latin typeface="宋体" panose="02010600030101010101" pitchFamily="2" charset="-122"/>
                <a:ea typeface="宋体" panose="02010600030101010101" pitchFamily="2" charset="-122"/>
                <a:cs typeface="Arial" panose="020B0604020202020204" pitchFamily="34" charset="0"/>
              </a:rPr>
              <a:t>90</a:t>
            </a:r>
            <a:r>
              <a:rPr lang="zh-CN" altLang="en-US" sz="2400" b="1" kern="1200" dirty="0">
                <a:latin typeface="宋体" panose="02010600030101010101" pitchFamily="2" charset="-122"/>
                <a:ea typeface="宋体" panose="02010600030101010101" pitchFamily="2" charset="-122"/>
                <a:cs typeface="Arial" panose="020B0604020202020204" pitchFamily="34" charset="0"/>
              </a:rPr>
              <a:t>％</a:t>
            </a:r>
            <a:r>
              <a:rPr lang="en-US" altLang="zh-CN" sz="2400" b="1" kern="1200" dirty="0">
                <a:latin typeface="宋体" panose="02010600030101010101" pitchFamily="2" charset="-122"/>
                <a:ea typeface="宋体" panose="02010600030101010101" pitchFamily="2" charset="-122"/>
                <a:cs typeface="Arial" panose="020B0604020202020204" pitchFamily="34" charset="0"/>
              </a:rPr>
              <a:t>(</a:t>
            </a:r>
            <a:r>
              <a:rPr lang="zh-CN" altLang="en-US" sz="2400" b="1" kern="1200" dirty="0">
                <a:latin typeface="宋体" panose="02010600030101010101" pitchFamily="2" charset="-122"/>
                <a:ea typeface="宋体" panose="02010600030101010101" pitchFamily="2" charset="-122"/>
                <a:cs typeface="Arial" panose="020B0604020202020204" pitchFamily="34" charset="0"/>
              </a:rPr>
              <a:t>有时也规定为</a:t>
            </a:r>
            <a:r>
              <a:rPr lang="en-US" altLang="zh-CN" sz="2400" b="1" kern="1200" dirty="0">
                <a:latin typeface="宋体" panose="02010600030101010101" pitchFamily="2" charset="-122"/>
                <a:ea typeface="宋体" panose="02010600030101010101" pitchFamily="2" charset="-122"/>
                <a:cs typeface="Arial" panose="020B0604020202020204" pitchFamily="34" charset="0"/>
              </a:rPr>
              <a:t>95</a:t>
            </a:r>
            <a:r>
              <a:rPr lang="zh-CN" altLang="en-US" sz="2400" b="1" kern="1200" dirty="0">
                <a:latin typeface="宋体" panose="02010600030101010101" pitchFamily="2" charset="-122"/>
                <a:ea typeface="宋体" panose="02010600030101010101" pitchFamily="2" charset="-122"/>
                <a:cs typeface="Arial" panose="020B0604020202020204" pitchFamily="34" charset="0"/>
              </a:rPr>
              <a:t>％</a:t>
            </a:r>
            <a:r>
              <a:rPr lang="en-US" altLang="zh-CN" sz="2400" b="1" kern="1200" dirty="0">
                <a:latin typeface="宋体" panose="02010600030101010101" pitchFamily="2" charset="-122"/>
                <a:ea typeface="宋体" panose="02010600030101010101" pitchFamily="2" charset="-122"/>
                <a:cs typeface="Arial" panose="020B0604020202020204" pitchFamily="34" charset="0"/>
              </a:rPr>
              <a:t>)</a:t>
            </a:r>
            <a:r>
              <a:rPr lang="zh-CN" altLang="en-US" sz="2400" b="1" kern="1200" dirty="0">
                <a:latin typeface="宋体" panose="02010600030101010101" pitchFamily="2" charset="-122"/>
                <a:ea typeface="宋体" panose="02010600030101010101" pitchFamily="2" charset="-122"/>
                <a:cs typeface="Arial" panose="020B0604020202020204" pitchFamily="34" charset="0"/>
              </a:rPr>
              <a:t>所需的时间。</a:t>
            </a:r>
          </a:p>
          <a:p>
            <a:pPr marL="0" indent="0" eaLnBrk="1" hangingPunct="1">
              <a:lnSpc>
                <a:spcPct val="100000"/>
              </a:lnSpc>
              <a:spcBef>
                <a:spcPts val="672"/>
              </a:spcBef>
              <a:buNone/>
              <a:defRPr/>
            </a:pPr>
            <a:endParaRPr lang="zh-CN" altLang="en-US" sz="2400" b="1" kern="1200" dirty="0">
              <a:latin typeface="宋体" panose="02010600030101010101" pitchFamily="2" charset="-122"/>
              <a:ea typeface="宋体" panose="02010600030101010101" pitchFamily="2" charset="-122"/>
              <a:cs typeface="Arial" panose="020B0604020202020204" pitchFamily="34" charset="0"/>
            </a:endParaRP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solidFill>
                <a:schemeClr val="bg1">
                  <a:lumMod val="50000"/>
                </a:schemeClr>
              </a:solidFill>
            </a:endParaRPr>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rPr>
              <a:t>15.4.2</a:t>
            </a:r>
          </a:p>
        </p:txBody>
      </p:sp>
      <p:sp>
        <p:nvSpPr>
          <p:cNvPr id="27" name="矩形 26"/>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lumMod val="50000"/>
                  </a:schemeClr>
                </a:solidFill>
                <a:latin typeface="宋体" panose="02010600030101010101" pitchFamily="2" charset="-122"/>
                <a:ea typeface="宋体" panose="02010600030101010101" pitchFamily="2" charset="-122"/>
                <a:sym typeface="+mn-ea"/>
              </a:rPr>
              <a:t>动态测量数据处理方法</a:t>
            </a:r>
          </a:p>
        </p:txBody>
      </p:sp>
      <p:sp>
        <p:nvSpPr>
          <p:cNvPr id="2" name="Slide Number Placeholder 1">
            <a:extLst>
              <a:ext uri="{FF2B5EF4-FFF2-40B4-BE49-F238E27FC236}">
                <a16:creationId xmlns:a16="http://schemas.microsoft.com/office/drawing/2014/main" id="{DE6F81D6-525E-471D-AA8F-B0251C5E7418}"/>
              </a:ext>
            </a:extLst>
          </p:cNvPr>
          <p:cNvSpPr>
            <a:spLocks noGrp="1"/>
          </p:cNvSpPr>
          <p:nvPr>
            <p:ph type="sldNum" sz="quarter" idx="12"/>
          </p:nvPr>
        </p:nvSpPr>
        <p:spPr/>
        <p:txBody>
          <a:bodyPr/>
          <a:lstStyle/>
          <a:p>
            <a:fld id="{DC11BA4E-7967-4102-867C-9D230A2E6791}" type="slidenum">
              <a:rPr lang="zh-CN" altLang="en-US" smtClean="0"/>
              <a:t>76</a:t>
            </a:fld>
            <a:endParaRPr lang="zh-CN" altLang="en-US"/>
          </a:p>
        </p:txBody>
      </p:sp>
    </p:spTree>
    <p:extLst>
      <p:ext uri="{BB962C8B-B14F-4D97-AF65-F5344CB8AC3E}">
        <p14:creationId xmlns:p14="http://schemas.microsoft.com/office/powerpoint/2010/main" val="23023529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A27B0E45-CC10-4805-AF7A-2E101778D64D}"/>
              </a:ext>
            </a:extLst>
          </p:cNvPr>
          <p:cNvSpPr txBox="1"/>
          <p:nvPr/>
        </p:nvSpPr>
        <p:spPr>
          <a:xfrm>
            <a:off x="1561275" y="1647816"/>
            <a:ext cx="6038484" cy="4060595"/>
          </a:xfrm>
          <a:prstGeom prst="rect">
            <a:avLst/>
          </a:prstGeom>
          <a:noFill/>
        </p:spPr>
        <p:txBody>
          <a:bodyPr wrap="square" lIns="91436" tIns="45718" rIns="91436" bIns="45718" rtlCol="0">
            <a:spAutoFit/>
          </a:bodyPr>
          <a:lstStyle/>
          <a:p>
            <a:pPr marL="342900" indent="-342900">
              <a:lnSpc>
                <a:spcPct val="120000"/>
              </a:lnSpc>
              <a:spcBef>
                <a:spcPts val="768"/>
              </a:spcBef>
              <a:buFont typeface="Arial" pitchFamily="34" charset="0"/>
              <a:buChar char="•"/>
            </a:pPr>
            <a:r>
              <a:rPr lang="zh-CN" altLang="en-US" sz="2400" b="1" dirty="0">
                <a:latin typeface="宋体" panose="02010600030101010101" pitchFamily="2" charset="-122"/>
                <a:ea typeface="宋体" panose="02010600030101010101" pitchFamily="2" charset="-122"/>
              </a:rPr>
              <a:t>测量技术概述</a:t>
            </a:r>
            <a:endParaRPr lang="en-US" altLang="zh-CN" sz="2400" b="1" dirty="0">
              <a:latin typeface="宋体" panose="02010600030101010101" pitchFamily="2" charset="-122"/>
              <a:ea typeface="宋体" panose="02010600030101010101" pitchFamily="2" charset="-122"/>
            </a:endParaRPr>
          </a:p>
          <a:p>
            <a:pPr marL="342900" indent="-342900">
              <a:lnSpc>
                <a:spcPct val="120000"/>
              </a:lnSpc>
              <a:spcBef>
                <a:spcPts val="768"/>
              </a:spcBef>
              <a:buFont typeface="Arial" pitchFamily="34" charset="0"/>
              <a:buChar char="•"/>
            </a:pPr>
            <a:r>
              <a:rPr lang="zh-CN" altLang="en-US" sz="2400" b="1" dirty="0">
                <a:latin typeface="宋体" panose="02010600030101010101" pitchFamily="2" charset="-122"/>
                <a:ea typeface="宋体" panose="02010600030101010101" pitchFamily="2" charset="-122"/>
              </a:rPr>
              <a:t>测量方法</a:t>
            </a:r>
          </a:p>
          <a:p>
            <a:pPr>
              <a:spcBef>
                <a:spcPts val="768"/>
              </a:spcBef>
            </a:pPr>
            <a:r>
              <a:rPr lang="zh-CN" altLang="en-US" sz="2400" b="1" dirty="0">
                <a:latin typeface="宋体" panose="02010600030101010101" pitchFamily="2" charset="-122"/>
                <a:ea typeface="宋体" panose="02010600030101010101" pitchFamily="2" charset="-122"/>
              </a:rPr>
              <a:t>   直接测量、间接测量和联立测量</a:t>
            </a:r>
          </a:p>
          <a:p>
            <a:pPr>
              <a:spcBef>
                <a:spcPts val="768"/>
              </a:spcBef>
            </a:pPr>
            <a:r>
              <a:rPr lang="zh-CN" altLang="en-US" sz="2400" b="1" dirty="0">
                <a:latin typeface="宋体" panose="02010600030101010101" pitchFamily="2" charset="-122"/>
                <a:ea typeface="宋体" panose="02010600030101010101" pitchFamily="2" charset="-122"/>
              </a:rPr>
              <a:t>   偏差式测量、零位式测量和微差式测量</a:t>
            </a:r>
          </a:p>
          <a:p>
            <a:pPr marL="342900" indent="-342900">
              <a:lnSpc>
                <a:spcPct val="120000"/>
              </a:lnSpc>
              <a:spcBef>
                <a:spcPts val="768"/>
              </a:spcBef>
              <a:buFont typeface="Arial" pitchFamily="34" charset="0"/>
              <a:buChar char="•"/>
            </a:pPr>
            <a:r>
              <a:rPr lang="zh-CN" altLang="en-US" sz="2400" b="1" dirty="0">
                <a:latin typeface="宋体" panose="02010600030101010101" pitchFamily="2" charset="-122"/>
                <a:ea typeface="宋体" panose="02010600030101010101" pitchFamily="2" charset="-122"/>
              </a:rPr>
              <a:t>测量系统</a:t>
            </a:r>
            <a:endParaRPr lang="en-US" altLang="zh-CN" sz="2400" b="1" dirty="0">
              <a:latin typeface="宋体" panose="02010600030101010101" pitchFamily="2" charset="-122"/>
              <a:ea typeface="宋体" panose="02010600030101010101" pitchFamily="2" charset="-122"/>
            </a:endParaRPr>
          </a:p>
          <a:p>
            <a:pPr marL="342900" indent="-342900">
              <a:lnSpc>
                <a:spcPct val="120000"/>
              </a:lnSpc>
              <a:spcBef>
                <a:spcPts val="768"/>
              </a:spcBef>
              <a:buFont typeface="Arial" pitchFamily="34" charset="0"/>
              <a:buChar char="•"/>
            </a:pPr>
            <a:r>
              <a:rPr lang="zh-CN" altLang="en-US" sz="2400" b="1" dirty="0">
                <a:latin typeface="宋体" panose="02010600030101010101" pitchFamily="2" charset="-122"/>
                <a:ea typeface="宋体" panose="02010600030101010101" pitchFamily="2" charset="-122"/>
              </a:rPr>
              <a:t>测量数据处理方法</a:t>
            </a:r>
          </a:p>
          <a:p>
            <a:pPr>
              <a:spcBef>
                <a:spcPts val="768"/>
              </a:spcBef>
            </a:pPr>
            <a:r>
              <a:rPr lang="zh-CN" altLang="en-US" sz="2400" b="1" dirty="0">
                <a:latin typeface="宋体" panose="02010600030101010101" pitchFamily="2" charset="-122"/>
                <a:ea typeface="宋体" panose="02010600030101010101" pitchFamily="2" charset="-122"/>
              </a:rPr>
              <a:t>   静态测量数据处理方法</a:t>
            </a:r>
          </a:p>
          <a:p>
            <a:pPr>
              <a:spcBef>
                <a:spcPts val="768"/>
              </a:spcBef>
            </a:pPr>
            <a:r>
              <a:rPr lang="zh-CN" altLang="en-US" sz="2400" b="1" dirty="0">
                <a:latin typeface="宋体" panose="02010600030101010101" pitchFamily="2" charset="-122"/>
                <a:ea typeface="宋体" panose="02010600030101010101" pitchFamily="2" charset="-122"/>
              </a:rPr>
              <a:t>   </a:t>
            </a:r>
            <a:r>
              <a:rPr lang="zh-CN" altLang="en-US" sz="2400" b="1" dirty="0">
                <a:solidFill>
                  <a:schemeClr val="bg1">
                    <a:lumMod val="65000"/>
                  </a:schemeClr>
                </a:solidFill>
                <a:latin typeface="宋体" panose="02010600030101010101" pitchFamily="2" charset="-122"/>
                <a:ea typeface="宋体" panose="02010600030101010101" pitchFamily="2" charset="-122"/>
              </a:rPr>
              <a:t>动态测量数据处理方法</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15</a:t>
            </a:r>
          </a:p>
        </p:txBody>
      </p:sp>
      <p:sp>
        <p:nvSpPr>
          <p:cNvPr id="28" name="矩形 27"/>
          <p:cNvSpPr/>
          <p:nvPr/>
        </p:nvSpPr>
        <p:spPr>
          <a:xfrm>
            <a:off x="1960201" y="329520"/>
            <a:ext cx="19351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2" name="Slide Number Placeholder 1">
            <a:extLst>
              <a:ext uri="{FF2B5EF4-FFF2-40B4-BE49-F238E27FC236}">
                <a16:creationId xmlns:a16="http://schemas.microsoft.com/office/drawing/2014/main" id="{595D727E-2EF7-4898-99A7-40A54A60F548}"/>
              </a:ext>
            </a:extLst>
          </p:cNvPr>
          <p:cNvSpPr>
            <a:spLocks noGrp="1"/>
          </p:cNvSpPr>
          <p:nvPr>
            <p:ph type="sldNum" sz="quarter" idx="12"/>
          </p:nvPr>
        </p:nvSpPr>
        <p:spPr/>
        <p:txBody>
          <a:bodyPr/>
          <a:lstStyle/>
          <a:p>
            <a:fld id="{DC11BA4E-7967-4102-867C-9D230A2E6791}" type="slidenum">
              <a:rPr lang="zh-CN" altLang="en-US" smtClean="0"/>
              <a:t>77</a:t>
            </a:fld>
            <a:endParaRPr lang="zh-CN" altLang="en-US"/>
          </a:p>
        </p:txBody>
      </p:sp>
    </p:spTree>
    <p:extLst>
      <p:ext uri="{BB962C8B-B14F-4D97-AF65-F5344CB8AC3E}">
        <p14:creationId xmlns:p14="http://schemas.microsoft.com/office/powerpoint/2010/main" val="8066370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1884</TotalTime>
  <Words>5257</Words>
  <Application>Microsoft Office PowerPoint</Application>
  <PresentationFormat>全屏显示(4:3)</PresentationFormat>
  <Paragraphs>724</Paragraphs>
  <Slides>77</Slides>
  <Notes>70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77</vt:i4>
      </vt:variant>
    </vt:vector>
  </HeadingPairs>
  <TitlesOfParts>
    <vt:vector size="93" baseType="lpstr">
      <vt:lpstr>palatino</vt:lpstr>
      <vt:lpstr>等线</vt:lpstr>
      <vt:lpstr>等线 Light</vt:lpstr>
      <vt:lpstr>楷体_GB2312</vt:lpstr>
      <vt:lpstr>宋体</vt:lpstr>
      <vt:lpstr>微软雅黑</vt:lpstr>
      <vt:lpstr>Arial</vt:lpstr>
      <vt:lpstr>Cambria Math</vt:lpstr>
      <vt:lpstr>Palatino Linotype</vt:lpstr>
      <vt:lpstr>Times New Roman</vt:lpstr>
      <vt:lpstr>Wingdings</vt:lpstr>
      <vt:lpstr>Office 主题​​</vt:lpstr>
      <vt:lpstr>Flash Movie</vt:lpstr>
      <vt:lpstr>公式</vt:lpstr>
      <vt:lpstr>Equation</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nyu</dc:creator>
  <cp:lastModifiedBy>GE FANG</cp:lastModifiedBy>
  <cp:revision>211</cp:revision>
  <dcterms:created xsi:type="dcterms:W3CDTF">2020-09-27T01:56:38Z</dcterms:created>
  <dcterms:modified xsi:type="dcterms:W3CDTF">2026-06-04T01:14:20Z</dcterms:modified>
</cp:coreProperties>
</file>