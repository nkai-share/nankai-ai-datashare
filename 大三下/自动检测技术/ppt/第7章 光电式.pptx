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sldIdLst>
    <p:sldId id="259" r:id="rId2"/>
    <p:sldId id="262" r:id="rId3"/>
    <p:sldId id="326" r:id="rId4"/>
    <p:sldId id="281" r:id="rId5"/>
    <p:sldId id="483" r:id="rId6"/>
    <p:sldId id="329" r:id="rId7"/>
    <p:sldId id="330" r:id="rId8"/>
    <p:sldId id="282" r:id="rId9"/>
    <p:sldId id="453" r:id="rId10"/>
    <p:sldId id="293" r:id="rId11"/>
    <p:sldId id="454" r:id="rId12"/>
    <p:sldId id="331" r:id="rId13"/>
    <p:sldId id="332" r:id="rId14"/>
    <p:sldId id="333" r:id="rId15"/>
    <p:sldId id="334" r:id="rId16"/>
    <p:sldId id="295" r:id="rId17"/>
    <p:sldId id="335" r:id="rId18"/>
    <p:sldId id="336" r:id="rId19"/>
    <p:sldId id="455" r:id="rId20"/>
    <p:sldId id="337" r:id="rId21"/>
    <p:sldId id="456" r:id="rId22"/>
    <p:sldId id="338" r:id="rId23"/>
    <p:sldId id="294" r:id="rId24"/>
    <p:sldId id="339" r:id="rId25"/>
    <p:sldId id="457" r:id="rId26"/>
    <p:sldId id="340" r:id="rId27"/>
    <p:sldId id="341" r:id="rId28"/>
    <p:sldId id="458" r:id="rId29"/>
    <p:sldId id="459" r:id="rId30"/>
    <p:sldId id="460" r:id="rId31"/>
    <p:sldId id="303" r:id="rId32"/>
    <p:sldId id="344" r:id="rId33"/>
    <p:sldId id="319" r:id="rId34"/>
    <p:sldId id="304" r:id="rId35"/>
    <p:sldId id="461" r:id="rId36"/>
    <p:sldId id="346" r:id="rId37"/>
    <p:sldId id="463" r:id="rId38"/>
    <p:sldId id="484" r:id="rId39"/>
    <p:sldId id="464" r:id="rId40"/>
    <p:sldId id="462" r:id="rId41"/>
    <p:sldId id="320" r:id="rId42"/>
    <p:sldId id="348" r:id="rId43"/>
    <p:sldId id="465" r:id="rId44"/>
    <p:sldId id="347" r:id="rId45"/>
    <p:sldId id="351" r:id="rId46"/>
    <p:sldId id="466" r:id="rId47"/>
    <p:sldId id="353" r:id="rId48"/>
    <p:sldId id="306" r:id="rId49"/>
    <p:sldId id="467" r:id="rId50"/>
    <p:sldId id="468" r:id="rId51"/>
    <p:sldId id="469" r:id="rId52"/>
    <p:sldId id="470" r:id="rId53"/>
    <p:sldId id="471" r:id="rId54"/>
    <p:sldId id="472" r:id="rId55"/>
    <p:sldId id="473" r:id="rId56"/>
    <p:sldId id="307" r:id="rId57"/>
    <p:sldId id="366" r:id="rId58"/>
    <p:sldId id="367" r:id="rId59"/>
    <p:sldId id="371" r:id="rId60"/>
    <p:sldId id="375" r:id="rId61"/>
    <p:sldId id="309" r:id="rId62"/>
    <p:sldId id="475" r:id="rId63"/>
    <p:sldId id="474" r:id="rId64"/>
    <p:sldId id="321" r:id="rId65"/>
    <p:sldId id="476" r:id="rId66"/>
    <p:sldId id="310" r:id="rId67"/>
    <p:sldId id="477" r:id="rId68"/>
    <p:sldId id="378" r:id="rId69"/>
    <p:sldId id="479" r:id="rId70"/>
    <p:sldId id="315" r:id="rId71"/>
    <p:sldId id="379" r:id="rId72"/>
    <p:sldId id="480" r:id="rId73"/>
    <p:sldId id="316" r:id="rId74"/>
    <p:sldId id="322" r:id="rId75"/>
    <p:sldId id="324" r:id="rId76"/>
    <p:sldId id="382" r:id="rId77"/>
    <p:sldId id="380" r:id="rId78"/>
    <p:sldId id="482" r:id="rId79"/>
    <p:sldId id="481" r:id="rId80"/>
    <p:sldId id="311" r:id="rId81"/>
    <p:sldId id="325" r:id="rId8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660"/>
  </p:normalViewPr>
  <p:slideViewPr>
    <p:cSldViewPr snapToGrid="0">
      <p:cViewPr varScale="1">
        <p:scale>
          <a:sx n="106" d="100"/>
          <a:sy n="106" d="100"/>
        </p:scale>
        <p:origin x="654" y="96"/>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2026/4/30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extLst>
      <p:ext uri="{BB962C8B-B14F-4D97-AF65-F5344CB8AC3E}">
        <p14:creationId xmlns:p14="http://schemas.microsoft.com/office/powerpoint/2010/main" val="1364535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a:t>
            </a:fld>
            <a:endParaRPr lang="zh-CN" altLang="en-US"/>
          </a:p>
        </p:txBody>
      </p:sp>
    </p:spTree>
    <p:extLst>
      <p:ext uri="{BB962C8B-B14F-4D97-AF65-F5344CB8AC3E}">
        <p14:creationId xmlns:p14="http://schemas.microsoft.com/office/powerpoint/2010/main" val="1213413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9</a:t>
            </a:fld>
            <a:endParaRPr lang="zh-CN" altLang="en-US"/>
          </a:p>
        </p:txBody>
      </p:sp>
    </p:spTree>
    <p:extLst>
      <p:ext uri="{BB962C8B-B14F-4D97-AF65-F5344CB8AC3E}">
        <p14:creationId xmlns:p14="http://schemas.microsoft.com/office/powerpoint/2010/main" val="384599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10</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11</a:t>
            </a:fld>
            <a:endParaRPr lang="zh-CN" altLang="en-US"/>
          </a:p>
        </p:txBody>
      </p:sp>
    </p:spTree>
    <p:extLst>
      <p:ext uri="{BB962C8B-B14F-4D97-AF65-F5344CB8AC3E}">
        <p14:creationId xmlns:p14="http://schemas.microsoft.com/office/powerpoint/2010/main" val="864346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12</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extLst>
      <p:ext uri="{BB962C8B-B14F-4D97-AF65-F5344CB8AC3E}">
        <p14:creationId xmlns:p14="http://schemas.microsoft.com/office/powerpoint/2010/main" val="2862008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extLst>
      <p:ext uri="{BB962C8B-B14F-4D97-AF65-F5344CB8AC3E}">
        <p14:creationId xmlns:p14="http://schemas.microsoft.com/office/powerpoint/2010/main" val="3094111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1864579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9405348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3258959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25329541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33</a:t>
            </a:fld>
            <a:endParaRPr lang="zh-CN" altLang="en-US"/>
          </a:p>
        </p:txBody>
      </p:sp>
    </p:spTree>
    <p:extLst>
      <p:ext uri="{BB962C8B-B14F-4D97-AF65-F5344CB8AC3E}">
        <p14:creationId xmlns:p14="http://schemas.microsoft.com/office/powerpoint/2010/main" val="11770786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34</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35</a:t>
            </a:fld>
            <a:endParaRPr lang="zh-CN" altLang="en-US"/>
          </a:p>
        </p:txBody>
      </p:sp>
    </p:spTree>
    <p:extLst>
      <p:ext uri="{BB962C8B-B14F-4D97-AF65-F5344CB8AC3E}">
        <p14:creationId xmlns:p14="http://schemas.microsoft.com/office/powerpoint/2010/main" val="41819985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37</a:t>
            </a:fld>
            <a:endParaRPr lang="zh-CN" altLang="en-US"/>
          </a:p>
        </p:txBody>
      </p:sp>
    </p:spTree>
    <p:extLst>
      <p:ext uri="{BB962C8B-B14F-4D97-AF65-F5344CB8AC3E}">
        <p14:creationId xmlns:p14="http://schemas.microsoft.com/office/powerpoint/2010/main" val="19487342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40720330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35924741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1672242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28476741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44</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46</a:t>
            </a:fld>
            <a:endParaRPr lang="zh-CN" altLang="en-US"/>
          </a:p>
        </p:txBody>
      </p:sp>
    </p:spTree>
    <p:extLst>
      <p:ext uri="{BB962C8B-B14F-4D97-AF65-F5344CB8AC3E}">
        <p14:creationId xmlns:p14="http://schemas.microsoft.com/office/powerpoint/2010/main" val="7549904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49</a:t>
            </a:fld>
            <a:endParaRPr lang="zh-CN" altLang="en-US"/>
          </a:p>
        </p:txBody>
      </p:sp>
    </p:spTree>
    <p:extLst>
      <p:ext uri="{BB962C8B-B14F-4D97-AF65-F5344CB8AC3E}">
        <p14:creationId xmlns:p14="http://schemas.microsoft.com/office/powerpoint/2010/main" val="1463254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50</a:t>
            </a:fld>
            <a:endParaRPr lang="zh-CN" altLang="en-US"/>
          </a:p>
        </p:txBody>
      </p:sp>
    </p:spTree>
    <p:extLst>
      <p:ext uri="{BB962C8B-B14F-4D97-AF65-F5344CB8AC3E}">
        <p14:creationId xmlns:p14="http://schemas.microsoft.com/office/powerpoint/2010/main" val="8325390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51</a:t>
            </a:fld>
            <a:endParaRPr lang="zh-CN" altLang="en-US"/>
          </a:p>
        </p:txBody>
      </p:sp>
    </p:spTree>
    <p:extLst>
      <p:ext uri="{BB962C8B-B14F-4D97-AF65-F5344CB8AC3E}">
        <p14:creationId xmlns:p14="http://schemas.microsoft.com/office/powerpoint/2010/main" val="1575372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52</a:t>
            </a:fld>
            <a:endParaRPr lang="zh-CN" altLang="en-US"/>
          </a:p>
        </p:txBody>
      </p:sp>
    </p:spTree>
    <p:extLst>
      <p:ext uri="{BB962C8B-B14F-4D97-AF65-F5344CB8AC3E}">
        <p14:creationId xmlns:p14="http://schemas.microsoft.com/office/powerpoint/2010/main" val="2204107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53</a:t>
            </a:fld>
            <a:endParaRPr lang="zh-CN" altLang="en-US"/>
          </a:p>
        </p:txBody>
      </p:sp>
    </p:spTree>
    <p:extLst>
      <p:ext uri="{BB962C8B-B14F-4D97-AF65-F5344CB8AC3E}">
        <p14:creationId xmlns:p14="http://schemas.microsoft.com/office/powerpoint/2010/main" val="28806816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54</a:t>
            </a:fld>
            <a:endParaRPr lang="zh-CN" altLang="en-US"/>
          </a:p>
        </p:txBody>
      </p:sp>
    </p:spTree>
    <p:extLst>
      <p:ext uri="{BB962C8B-B14F-4D97-AF65-F5344CB8AC3E}">
        <p14:creationId xmlns:p14="http://schemas.microsoft.com/office/powerpoint/2010/main" val="4527161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55</a:t>
            </a:fld>
            <a:endParaRPr lang="zh-CN" altLang="en-US"/>
          </a:p>
        </p:txBody>
      </p:sp>
    </p:spTree>
    <p:extLst>
      <p:ext uri="{BB962C8B-B14F-4D97-AF65-F5344CB8AC3E}">
        <p14:creationId xmlns:p14="http://schemas.microsoft.com/office/powerpoint/2010/main" val="369313543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56</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57</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58</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59</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60</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61</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62</a:t>
            </a:fld>
            <a:endParaRPr lang="zh-CN" altLang="en-US"/>
          </a:p>
        </p:txBody>
      </p:sp>
    </p:spTree>
    <p:extLst>
      <p:ext uri="{BB962C8B-B14F-4D97-AF65-F5344CB8AC3E}">
        <p14:creationId xmlns:p14="http://schemas.microsoft.com/office/powerpoint/2010/main" val="19134134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63</a:t>
            </a:fld>
            <a:endParaRPr lang="zh-CN" altLang="en-US"/>
          </a:p>
        </p:txBody>
      </p:sp>
    </p:spTree>
    <p:extLst>
      <p:ext uri="{BB962C8B-B14F-4D97-AF65-F5344CB8AC3E}">
        <p14:creationId xmlns:p14="http://schemas.microsoft.com/office/powerpoint/2010/main" val="33864713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64</a:t>
            </a:fld>
            <a:endParaRPr lang="zh-CN" altLang="en-US"/>
          </a:p>
        </p:txBody>
      </p:sp>
    </p:spTree>
    <p:extLst>
      <p:ext uri="{BB962C8B-B14F-4D97-AF65-F5344CB8AC3E}">
        <p14:creationId xmlns:p14="http://schemas.microsoft.com/office/powerpoint/2010/main" val="8575254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65</a:t>
            </a:fld>
            <a:endParaRPr lang="zh-CN" altLang="en-US"/>
          </a:p>
        </p:txBody>
      </p:sp>
    </p:spTree>
    <p:extLst>
      <p:ext uri="{BB962C8B-B14F-4D97-AF65-F5344CB8AC3E}">
        <p14:creationId xmlns:p14="http://schemas.microsoft.com/office/powerpoint/2010/main" val="31229103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66</a:t>
            </a:fld>
            <a:endParaRPr lang="zh-CN" altLang="en-US"/>
          </a:p>
        </p:txBody>
      </p:sp>
    </p:spTree>
    <p:extLst>
      <p:ext uri="{BB962C8B-B14F-4D97-AF65-F5344CB8AC3E}">
        <p14:creationId xmlns:p14="http://schemas.microsoft.com/office/powerpoint/2010/main" val="33989258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67</a:t>
            </a:fld>
            <a:endParaRPr lang="zh-CN" altLang="en-US"/>
          </a:p>
        </p:txBody>
      </p:sp>
    </p:spTree>
    <p:extLst>
      <p:ext uri="{BB962C8B-B14F-4D97-AF65-F5344CB8AC3E}">
        <p14:creationId xmlns:p14="http://schemas.microsoft.com/office/powerpoint/2010/main" val="401743044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68</a:t>
            </a:fld>
            <a:endParaRPr lang="zh-CN" altLang="en-US"/>
          </a:p>
        </p:txBody>
      </p:sp>
    </p:spTree>
    <p:extLst>
      <p:ext uri="{BB962C8B-B14F-4D97-AF65-F5344CB8AC3E}">
        <p14:creationId xmlns:p14="http://schemas.microsoft.com/office/powerpoint/2010/main" val="339892587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69</a:t>
            </a:fld>
            <a:endParaRPr lang="zh-CN" altLang="en-US"/>
          </a:p>
        </p:txBody>
      </p:sp>
    </p:spTree>
    <p:extLst>
      <p:ext uri="{BB962C8B-B14F-4D97-AF65-F5344CB8AC3E}">
        <p14:creationId xmlns:p14="http://schemas.microsoft.com/office/powerpoint/2010/main" val="34409800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70</a:t>
            </a:fld>
            <a:endParaRPr lang="zh-CN" altLang="en-US"/>
          </a:p>
        </p:txBody>
      </p:sp>
    </p:spTree>
    <p:extLst>
      <p:ext uri="{BB962C8B-B14F-4D97-AF65-F5344CB8AC3E}">
        <p14:creationId xmlns:p14="http://schemas.microsoft.com/office/powerpoint/2010/main" val="11368854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71</a:t>
            </a:fld>
            <a:endParaRPr lang="zh-CN" altLang="en-US"/>
          </a:p>
        </p:txBody>
      </p:sp>
    </p:spTree>
    <p:extLst>
      <p:ext uri="{BB962C8B-B14F-4D97-AF65-F5344CB8AC3E}">
        <p14:creationId xmlns:p14="http://schemas.microsoft.com/office/powerpoint/2010/main" val="11368854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72</a:t>
            </a:fld>
            <a:endParaRPr lang="zh-CN" altLang="en-US"/>
          </a:p>
        </p:txBody>
      </p:sp>
    </p:spTree>
    <p:extLst>
      <p:ext uri="{BB962C8B-B14F-4D97-AF65-F5344CB8AC3E}">
        <p14:creationId xmlns:p14="http://schemas.microsoft.com/office/powerpoint/2010/main" val="22630564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73</a:t>
            </a:fld>
            <a:endParaRPr lang="zh-CN" altLang="en-US"/>
          </a:p>
        </p:txBody>
      </p:sp>
    </p:spTree>
    <p:extLst>
      <p:ext uri="{BB962C8B-B14F-4D97-AF65-F5344CB8AC3E}">
        <p14:creationId xmlns:p14="http://schemas.microsoft.com/office/powerpoint/2010/main" val="41328628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74</a:t>
            </a:fld>
            <a:endParaRPr lang="zh-CN" altLang="en-US"/>
          </a:p>
        </p:txBody>
      </p:sp>
    </p:spTree>
    <p:extLst>
      <p:ext uri="{BB962C8B-B14F-4D97-AF65-F5344CB8AC3E}">
        <p14:creationId xmlns:p14="http://schemas.microsoft.com/office/powerpoint/2010/main" val="274603271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75</a:t>
            </a:fld>
            <a:endParaRPr lang="zh-CN" altLang="en-US"/>
          </a:p>
        </p:txBody>
      </p:sp>
    </p:spTree>
    <p:extLst>
      <p:ext uri="{BB962C8B-B14F-4D97-AF65-F5344CB8AC3E}">
        <p14:creationId xmlns:p14="http://schemas.microsoft.com/office/powerpoint/2010/main" val="25582275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76</a:t>
            </a:fld>
            <a:endParaRPr lang="zh-CN" altLang="en-US"/>
          </a:p>
        </p:txBody>
      </p:sp>
    </p:spTree>
    <p:extLst>
      <p:ext uri="{BB962C8B-B14F-4D97-AF65-F5344CB8AC3E}">
        <p14:creationId xmlns:p14="http://schemas.microsoft.com/office/powerpoint/2010/main" val="255822752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77</a:t>
            </a:fld>
            <a:endParaRPr lang="zh-CN" altLang="en-US"/>
          </a:p>
        </p:txBody>
      </p:sp>
    </p:spTree>
    <p:extLst>
      <p:ext uri="{BB962C8B-B14F-4D97-AF65-F5344CB8AC3E}">
        <p14:creationId xmlns:p14="http://schemas.microsoft.com/office/powerpoint/2010/main" val="25582275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78</a:t>
            </a:fld>
            <a:endParaRPr lang="zh-CN" altLang="en-US"/>
          </a:p>
        </p:txBody>
      </p:sp>
    </p:spTree>
    <p:extLst>
      <p:ext uri="{BB962C8B-B14F-4D97-AF65-F5344CB8AC3E}">
        <p14:creationId xmlns:p14="http://schemas.microsoft.com/office/powerpoint/2010/main" val="92381283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79</a:t>
            </a:fld>
            <a:endParaRPr lang="zh-CN" altLang="en-US"/>
          </a:p>
        </p:txBody>
      </p:sp>
    </p:spTree>
    <p:extLst>
      <p:ext uri="{BB962C8B-B14F-4D97-AF65-F5344CB8AC3E}">
        <p14:creationId xmlns:p14="http://schemas.microsoft.com/office/powerpoint/2010/main" val="110470993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80</a:t>
            </a:fld>
            <a:endParaRPr lang="zh-CN" altLang="en-US"/>
          </a:p>
        </p:txBody>
      </p:sp>
    </p:spTree>
    <p:extLst>
      <p:ext uri="{BB962C8B-B14F-4D97-AF65-F5344CB8AC3E}">
        <p14:creationId xmlns:p14="http://schemas.microsoft.com/office/powerpoint/2010/main" val="322165096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81</a:t>
            </a:fld>
            <a:endParaRPr lang="zh-CN" altLang="en-US"/>
          </a:p>
        </p:txBody>
      </p:sp>
    </p:spTree>
    <p:extLst>
      <p:ext uri="{BB962C8B-B14F-4D97-AF65-F5344CB8AC3E}">
        <p14:creationId xmlns:p14="http://schemas.microsoft.com/office/powerpoint/2010/main" val="2502985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D456702-1BF0-4B8B-A324-C168BC6B78C1}" type="datetime1">
              <a:rPr lang="zh-CN" altLang="en-US" smtClean="0"/>
              <a:t>2026/4/30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C209A59-24DF-4C7E-AFA2-DE70E9C49F8D}" type="datetime1">
              <a:rPr lang="zh-CN" altLang="en-US" smtClean="0"/>
              <a:t>2026/4/30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4AA3632-2DAC-486F-946D-0E628B8805DB}" type="datetime1">
              <a:rPr lang="zh-CN" altLang="en-US" smtClean="0"/>
              <a:t>2026/4/30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E452F87-2BA4-485C-AC32-0DA8ACFD93CB}" type="datetime1">
              <a:rPr lang="zh-CN" altLang="en-US" smtClean="0"/>
              <a:t>2026/4/30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1A8AF8E3-8DDA-48B4-8CEB-4880C43B4CD6}" type="datetime1">
              <a:rPr lang="zh-CN" altLang="en-US" smtClean="0"/>
              <a:t>2026/4/30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A699426-F6E0-4264-9DDD-2DE05B33A89D}" type="datetime1">
              <a:rPr lang="zh-CN" altLang="en-US" smtClean="0"/>
              <a:t>2026/4/30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EF378A3-4B81-417A-9385-CAFCAD79D934}" type="datetime1">
              <a:rPr lang="zh-CN" altLang="en-US" smtClean="0"/>
              <a:t>2026/4/30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2F5AB7A-2EBA-4B38-BB89-6710D2493A23}" type="datetime1">
              <a:rPr lang="zh-CN" altLang="en-US" smtClean="0"/>
              <a:t>2026/4/30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234970E-1973-46A7-888E-9B935A5CB615}" type="datetime1">
              <a:rPr lang="zh-CN" altLang="en-US" smtClean="0"/>
              <a:t>2026/4/30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CA7B1FB-97FF-44CB-ACA9-51A711A0A930}" type="datetime1">
              <a:rPr lang="zh-CN" altLang="en-US" smtClean="0"/>
              <a:t>2026/4/30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C1D0F19-ADC6-48A3-86F5-11795DA44FB1}" type="datetime1">
              <a:rPr lang="zh-CN" altLang="en-US" smtClean="0"/>
              <a:t>2026/4/30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3F6C2A-49BB-46BF-A3C5-C18A112DA7CB}" type="datetime1">
              <a:rPr lang="zh-CN" altLang="en-US" smtClean="0"/>
              <a:t>2026/4/30</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275867" y="6356351"/>
            <a:ext cx="7200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64.xml"/><Relationship Id="rId7" Type="http://schemas.openxmlformats.org/officeDocument/2006/relationships/slide" Target="slide33.xml"/><Relationship Id="rId2" Type="http://schemas.openxmlformats.org/officeDocument/2006/relationships/slide" Target="slide4.xml"/><Relationship Id="rId1" Type="http://schemas.openxmlformats.org/officeDocument/2006/relationships/slideLayout" Target="../slideLayouts/slideLayout2.xml"/><Relationship Id="rId6" Type="http://schemas.openxmlformats.org/officeDocument/2006/relationships/slide" Target="slide31.xml"/><Relationship Id="rId5" Type="http://schemas.openxmlformats.org/officeDocument/2006/relationships/slide" Target="slide80.xml"/><Relationship Id="rId10" Type="http://schemas.openxmlformats.org/officeDocument/2006/relationships/slide" Target="slide75.xml"/><Relationship Id="rId4" Type="http://schemas.openxmlformats.org/officeDocument/2006/relationships/slide" Target="slide8.xml"/><Relationship Id="rId9" Type="http://schemas.openxmlformats.org/officeDocument/2006/relationships/slide" Target="slide5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27.xml"/><Relationship Id="rId5" Type="http://schemas.openxmlformats.org/officeDocument/2006/relationships/slide" Target="slide23.xml"/><Relationship Id="rId4" Type="http://schemas.openxmlformats.org/officeDocument/2006/relationships/slide" Target="slide1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emf"/></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oleObject" Target="../embeddings/oleObject7.bin"/></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oleObject" Target="../embeddings/oleObject8.bin"/><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10" Type="http://schemas.openxmlformats.org/officeDocument/2006/relationships/slide" Target="slide36.xml"/><Relationship Id="rId4" Type="http://schemas.openxmlformats.org/officeDocument/2006/relationships/image" Target="../media/image31.png"/><Relationship Id="rId9" Type="http://schemas.openxmlformats.org/officeDocument/2006/relationships/slide" Target="slide34.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 Target="slide43.xml"/><Relationship Id="rId7"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slide" Target="slide61.xml"/><Relationship Id="rId4" Type="http://schemas.openxmlformats.org/officeDocument/2006/relationships/slide" Target="slide48.xml"/><Relationship Id="rId9" Type="http://schemas.openxmlformats.org/officeDocument/2006/relationships/image" Target="../media/image44.png"/></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48.wmf"/><Relationship Id="rId5" Type="http://schemas.openxmlformats.org/officeDocument/2006/relationships/oleObject" Target="../embeddings/oleObject12.bin"/><Relationship Id="rId4" Type="http://schemas.openxmlformats.org/officeDocument/2006/relationships/image" Target="../media/image47.emf"/></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48.wmf"/><Relationship Id="rId4" Type="http://schemas.openxmlformats.org/officeDocument/2006/relationships/oleObject" Target="../embeddings/oleObject13.bin"/></Relationships>
</file>

<file path=ppt/slides/_rels/slide47.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2.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slide" Target="slide59.xml"/><Relationship Id="rId4" Type="http://schemas.openxmlformats.org/officeDocument/2006/relationships/slide" Target="slide4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7.png"/><Relationship Id="rId4"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4.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image" Target="../media/image60.jpeg"/><Relationship Id="rId5" Type="http://schemas.openxmlformats.org/officeDocument/2006/relationships/slide" Target="slide73.xml"/><Relationship Id="rId4" Type="http://schemas.openxmlformats.org/officeDocument/2006/relationships/slide" Target="slide70.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oleObject" Target="../embeddings/oleObject20.bin"/><Relationship Id="rId4" Type="http://schemas.openxmlformats.org/officeDocument/2006/relationships/image" Target="../media/image630.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50">
            <a:extLst>
              <a:ext uri="{FF2B5EF4-FFF2-40B4-BE49-F238E27FC236}">
                <a16:creationId xmlns:a16="http://schemas.microsoft.com/office/drawing/2014/main" id="{5661FDE6-EAF7-45F3-B3FC-C985A4506B8D}"/>
              </a:ext>
            </a:extLst>
          </p:cNvPr>
          <p:cNvSpPr/>
          <p:nvPr/>
        </p:nvSpPr>
        <p:spPr>
          <a:xfrm flipH="1">
            <a:off x="1303497" y="2155520"/>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39">
            <a:extLst>
              <a:ext uri="{FF2B5EF4-FFF2-40B4-BE49-F238E27FC236}">
                <a16:creationId xmlns:a16="http://schemas.microsoft.com/office/drawing/2014/main" id="{6C6AE042-B4C4-422D-8A7A-ADC11B0BBA86}"/>
              </a:ext>
            </a:extLst>
          </p:cNvPr>
          <p:cNvSpPr/>
          <p:nvPr/>
        </p:nvSpPr>
        <p:spPr>
          <a:xfrm rot="10800000" flipV="1">
            <a:off x="348139" y="2130755"/>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宋体" panose="02010600030101010101" pitchFamily="2" charset="-122"/>
                <a:cs typeface="Arial" panose="020B0604020202020204" pitchFamily="34" charset="0"/>
                <a:sym typeface="+mn-ea"/>
              </a:rPr>
              <a:t>7</a:t>
            </a:r>
            <a:endParaRPr lang="zh-CN" altLang="en-US" sz="6000" b="1" dirty="0">
              <a:latin typeface="Arial" panose="020B0604020202020204" pitchFamily="34" charset="0"/>
              <a:cs typeface="Arial" panose="020B0604020202020204" pitchFamily="34" charset="0"/>
            </a:endParaRPr>
          </a:p>
        </p:txBody>
      </p:sp>
      <p:sp>
        <p:nvSpPr>
          <p:cNvPr id="23" name="文本框 41">
            <a:extLst>
              <a:ext uri="{FF2B5EF4-FFF2-40B4-BE49-F238E27FC236}">
                <a16:creationId xmlns:a16="http://schemas.microsoft.com/office/drawing/2014/main" id="{DD7AF868-3285-4227-BA65-787CC237DA0B}"/>
              </a:ext>
            </a:extLst>
          </p:cNvPr>
          <p:cNvSpPr txBox="1"/>
          <p:nvPr/>
        </p:nvSpPr>
        <p:spPr>
          <a:xfrm>
            <a:off x="2622698" y="2377134"/>
            <a:ext cx="4041487" cy="769439"/>
          </a:xfrm>
          <a:prstGeom prst="rect">
            <a:avLst/>
          </a:prstGeom>
          <a:noFill/>
        </p:spPr>
        <p:txBody>
          <a:bodyPr wrap="none" lIns="91438" tIns="45719" rIns="91438" bIns="45719" rtlCol="0">
            <a:spAutoFit/>
          </a:bodyPr>
          <a:lstStyle/>
          <a:p>
            <a:r>
              <a:rPr lang="zh-CN" altLang="en-US" sz="4400" b="1" spc="600">
                <a:solidFill>
                  <a:schemeClr val="bg1"/>
                </a:solidFill>
                <a:latin typeface="宋体" panose="02010600030101010101" pitchFamily="2" charset="-122"/>
                <a:ea typeface="宋体" panose="02010600030101010101" pitchFamily="2" charset="-122"/>
                <a:sym typeface="+mn-ea"/>
              </a:rPr>
              <a:t>光电式传感器</a:t>
            </a:r>
            <a:endParaRPr lang="zh-CN" altLang="en-US" sz="4400" b="1" spc="600" dirty="0">
              <a:solidFill>
                <a:schemeClr val="bg1"/>
              </a:solidFill>
              <a:latin typeface="宋体" panose="02010600030101010101" pitchFamily="2" charset="-122"/>
              <a:ea typeface="宋体" panose="02010600030101010101" pitchFamily="2" charset="-122"/>
              <a:sym typeface="+mn-ea"/>
            </a:endParaRPr>
          </a:p>
        </p:txBody>
      </p:sp>
      <p:grpSp>
        <p:nvGrpSpPr>
          <p:cNvPr id="24" name="组 2">
            <a:extLst>
              <a:ext uri="{FF2B5EF4-FFF2-40B4-BE49-F238E27FC236}">
                <a16:creationId xmlns:a16="http://schemas.microsoft.com/office/drawing/2014/main" id="{E51676AB-72DD-4BB2-9EDA-387708CDC758}"/>
              </a:ext>
            </a:extLst>
          </p:cNvPr>
          <p:cNvGrpSpPr/>
          <p:nvPr/>
        </p:nvGrpSpPr>
        <p:grpSpPr>
          <a:xfrm>
            <a:off x="-15717" y="2142184"/>
            <a:ext cx="181928" cy="1285240"/>
            <a:chOff x="-21102" y="2858492"/>
            <a:chExt cx="242777" cy="1285286"/>
          </a:xfrm>
        </p:grpSpPr>
        <p:sp>
          <p:nvSpPr>
            <p:cNvPr id="25" name="圆角矩形 45">
              <a:extLst>
                <a:ext uri="{FF2B5EF4-FFF2-40B4-BE49-F238E27FC236}">
                  <a16:creationId xmlns:a16="http://schemas.microsoft.com/office/drawing/2014/main" id="{5A05DAF7-80F9-4A3C-B2DF-9E83F037A3FB}"/>
                </a:ext>
              </a:extLst>
            </p:cNvPr>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46">
              <a:extLst>
                <a:ext uri="{FF2B5EF4-FFF2-40B4-BE49-F238E27FC236}">
                  <a16:creationId xmlns:a16="http://schemas.microsoft.com/office/drawing/2014/main" id="{933E523A-EE3A-4264-B4E0-2843DBE486D6}"/>
                </a:ext>
              </a:extLst>
            </p:cNvPr>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47">
              <a:extLst>
                <a:ext uri="{FF2B5EF4-FFF2-40B4-BE49-F238E27FC236}">
                  <a16:creationId xmlns:a16="http://schemas.microsoft.com/office/drawing/2014/main" id="{0AF5E0CF-CD95-49AF-B762-F6A06AAE21D4}"/>
                </a:ext>
              </a:extLst>
            </p:cNvPr>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48">
              <a:extLst>
                <a:ext uri="{FF2B5EF4-FFF2-40B4-BE49-F238E27FC236}">
                  <a16:creationId xmlns:a16="http://schemas.microsoft.com/office/drawing/2014/main" id="{271C2844-58BD-4E7A-BEBC-9E88470C0082}"/>
                </a:ext>
              </a:extLst>
            </p:cNvPr>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44">
              <a:extLst>
                <a:ext uri="{FF2B5EF4-FFF2-40B4-BE49-F238E27FC236}">
                  <a16:creationId xmlns:a16="http://schemas.microsoft.com/office/drawing/2014/main" id="{DF4537AC-2BA5-4490-AA37-739CB3D120F0}"/>
                </a:ext>
              </a:extLst>
            </p:cNvPr>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TextBox 40">
            <a:extLst>
              <a:ext uri="{FF2B5EF4-FFF2-40B4-BE49-F238E27FC236}">
                <a16:creationId xmlns:a16="http://schemas.microsoft.com/office/drawing/2014/main" id="{254F1596-B81B-433C-9E71-248D65211F70}"/>
              </a:ext>
            </a:extLst>
          </p:cNvPr>
          <p:cNvSpPr txBox="1"/>
          <p:nvPr/>
        </p:nvSpPr>
        <p:spPr>
          <a:xfrm>
            <a:off x="1454943" y="566039"/>
            <a:ext cx="6234113" cy="830997"/>
          </a:xfrm>
          <a:prstGeom prst="rect">
            <a:avLst/>
          </a:prstGeom>
          <a:noFill/>
        </p:spPr>
        <p:txBody>
          <a:bodyPr wrap="square">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自动检测技术与系统</a:t>
            </a:r>
            <a:endParaRPr kumimoji="0" lang="en-US" altLang="zh-CN" sz="4800" b="1" i="0" u="none" strike="noStrike" kern="1200" cap="none" spc="45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93685" y="2435347"/>
            <a:ext cx="7839637" cy="1590818"/>
          </a:xfrm>
          <a:prstGeom prst="rect">
            <a:avLst/>
          </a:prstGeom>
        </p:spPr>
        <p:txBody>
          <a:bodyPr wrap="square" lIns="91438" tIns="45719" rIns="91438" bIns="45719">
            <a:spAutoFit/>
          </a:bodyPr>
          <a:lstStyle/>
          <a:p>
            <a:pPr marL="342900" indent="-342900">
              <a:lnSpc>
                <a:spcPct val="200000"/>
              </a:lnSpc>
              <a:spcBef>
                <a:spcPts val="1200"/>
              </a:spcBef>
              <a:buFont typeface="Wingdings" panose="05000000000000000000" pitchFamily="2" charset="2"/>
              <a:buChar char="§"/>
            </a:pPr>
            <a:r>
              <a:rPr lang="zh-CN" altLang="en-US" sz="2400" b="1" dirty="0">
                <a:latin typeface="宋体" pitchFamily="2" charset="-122"/>
                <a:ea typeface="宋体" pitchFamily="2" charset="-122"/>
              </a:rPr>
              <a:t>光电式传感器是将</a:t>
            </a:r>
            <a:r>
              <a:rPr lang="zh-CN" altLang="en-US" sz="2400" b="1" dirty="0">
                <a:solidFill>
                  <a:srgbClr val="C00000"/>
                </a:solidFill>
                <a:latin typeface="宋体" pitchFamily="2" charset="-122"/>
                <a:ea typeface="宋体" pitchFamily="2" charset="-122"/>
              </a:rPr>
              <a:t>光通量转换为电量</a:t>
            </a:r>
            <a:r>
              <a:rPr lang="zh-CN" altLang="en-US" sz="2400" b="1" dirty="0">
                <a:latin typeface="宋体" pitchFamily="2" charset="-122"/>
                <a:ea typeface="宋体" pitchFamily="2" charset="-122"/>
              </a:rPr>
              <a:t>的一种传感器。</a:t>
            </a:r>
            <a:endParaRPr lang="en-US" altLang="zh-CN" sz="2400" b="1" dirty="0">
              <a:latin typeface="宋体" pitchFamily="2" charset="-122"/>
              <a:ea typeface="宋体" pitchFamily="2" charset="-122"/>
            </a:endParaRPr>
          </a:p>
          <a:p>
            <a:pPr marL="342900" indent="-342900">
              <a:lnSpc>
                <a:spcPct val="200000"/>
              </a:lnSpc>
              <a:spcBef>
                <a:spcPts val="1200"/>
              </a:spcBef>
              <a:buFont typeface="Wingdings" panose="05000000000000000000" pitchFamily="2" charset="2"/>
              <a:buChar char="§"/>
            </a:pPr>
            <a:r>
              <a:rPr lang="zh-CN" altLang="en-US" sz="2400" b="1" dirty="0">
                <a:latin typeface="宋体" pitchFamily="2" charset="-122"/>
                <a:ea typeface="宋体" pitchFamily="2" charset="-122"/>
              </a:rPr>
              <a:t>光电式传感器的基础是</a:t>
            </a:r>
            <a:r>
              <a:rPr lang="zh-CN" altLang="en-US" sz="2400" b="1" dirty="0">
                <a:solidFill>
                  <a:srgbClr val="3333CC"/>
                </a:solidFill>
                <a:latin typeface="宋体" pitchFamily="2" charset="-122"/>
                <a:ea typeface="宋体" pitchFamily="2" charset="-122"/>
              </a:rPr>
              <a:t>光电转换元件的光电效应</a:t>
            </a:r>
            <a:r>
              <a:rPr lang="zh-CN" altLang="en-US" sz="2400" b="1" dirty="0">
                <a:latin typeface="宋体" pitchFamily="2" charset="-122"/>
                <a:ea typeface="宋体" pitchFamily="2" charset="-122"/>
              </a:rPr>
              <a:t>。</a:t>
            </a:r>
            <a:endParaRPr lang="en-US" altLang="zh-CN" sz="2400" b="1" dirty="0">
              <a:latin typeface="宋体" pitchFamily="2" charset="-122"/>
              <a:ea typeface="宋体" pitchFamily="2" charset="-122"/>
            </a:endParaRPr>
          </a:p>
        </p:txBody>
      </p:sp>
      <p:sp>
        <p:nvSpPr>
          <p:cNvPr id="5" name="矩形 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6"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7</a:t>
            </a:r>
            <a:endParaRPr lang="zh-CN" alt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7" name="矩形 6"/>
          <p:cNvSpPr/>
          <p:nvPr/>
        </p:nvSpPr>
        <p:spPr>
          <a:xfrm>
            <a:off x="1960200" y="329520"/>
            <a:ext cx="2810377" cy="615549"/>
          </a:xfrm>
          <a:prstGeom prst="rect">
            <a:avLst/>
          </a:prstGeom>
        </p:spPr>
        <p:txBody>
          <a:bodyPr wrap="none" lIns="91436" tIns="45718" rIns="91436" bIns="45718">
            <a:spAutoFit/>
          </a:bodyPr>
          <a:lstStyle/>
          <a:p>
            <a:pPr marL="9525" indent="-9525"/>
            <a:r>
              <a:rPr lang="zh-CN" altLang="en-US" sz="3400" b="1" dirty="0">
                <a:solidFill>
                  <a:schemeClr val="bg1"/>
                </a:solidFill>
                <a:latin typeface="宋体" panose="02010600030101010101" pitchFamily="2" charset="-122"/>
                <a:ea typeface="宋体" panose="02010600030101010101" pitchFamily="2" charset="-122"/>
              </a:rPr>
              <a:t>光电式传感器</a:t>
            </a:r>
          </a:p>
        </p:txBody>
      </p:sp>
      <p:sp>
        <p:nvSpPr>
          <p:cNvPr id="22" name="文本框 3"/>
          <p:cNvSpPr txBox="1"/>
          <p:nvPr/>
        </p:nvSpPr>
        <p:spPr>
          <a:xfrm>
            <a:off x="1571711" y="1539831"/>
            <a:ext cx="6359325"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err="1">
                <a:solidFill>
                  <a:srgbClr val="C00000"/>
                </a:solidFill>
                <a:latin typeface="宋体" panose="02010600030101010101" pitchFamily="2" charset="-122"/>
                <a:ea typeface="宋体" panose="02010600030101010101" pitchFamily="2" charset="-122"/>
              </a:rPr>
              <a:t>Photoelectronic</a:t>
            </a:r>
            <a:r>
              <a:rPr lang="en-US" altLang="zh-CN" sz="2400" b="1" dirty="0">
                <a:solidFill>
                  <a:srgbClr val="C00000"/>
                </a:solidFill>
                <a:latin typeface="宋体" panose="02010600030101010101" pitchFamily="2" charset="-122"/>
                <a:ea typeface="宋体" panose="02010600030101010101" pitchFamily="2" charset="-122"/>
              </a:rPr>
              <a:t>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0C671174-74D4-4CA3-A460-C1D168E2AC49}"/>
              </a:ext>
            </a:extLst>
          </p:cNvPr>
          <p:cNvSpPr>
            <a:spLocks noGrp="1"/>
          </p:cNvSpPr>
          <p:nvPr>
            <p:ph type="sldNum" sz="quarter" idx="12"/>
          </p:nvPr>
        </p:nvSpPr>
        <p:spPr/>
        <p:txBody>
          <a:bodyPr/>
          <a:lstStyle/>
          <a:p>
            <a:fld id="{B53602B4-F12B-41CD-B648-531F86B2CC91}" type="slidenum">
              <a:rPr lang="zh-CN" altLang="en-US" smtClean="0"/>
              <a:t>2</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连接符 82"/>
          <p:cNvCxnSpPr/>
          <p:nvPr/>
        </p:nvCxnSpPr>
        <p:spPr>
          <a:xfrm flipH="1">
            <a:off x="1641945" y="28693"/>
            <a:ext cx="1" cy="54928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2333051" y="655585"/>
            <a:ext cx="790586" cy="30834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333051" y="1279537"/>
            <a:ext cx="790583" cy="308351"/>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411396" y="511115"/>
            <a:ext cx="1776389"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sym typeface="+mn-ea"/>
                <a:hlinkClick r:id="rId2" action="ppaction://hlinksldjump"/>
              </a:rPr>
              <a:t>光电效应</a:t>
            </a:r>
            <a:endParaRPr lang="zh-CN" altLang="en-US" sz="2800" b="1" dirty="0">
              <a:solidFill>
                <a:schemeClr val="tx2"/>
              </a:solidFill>
              <a:latin typeface="宋体" panose="02010600030101010101" pitchFamily="2" charset="-122"/>
              <a:ea typeface="宋体" panose="02010600030101010101" pitchFamily="2" charset="-122"/>
              <a:sym typeface="+mn-ea"/>
            </a:endParaRPr>
          </a:p>
        </p:txBody>
      </p:sp>
      <p:sp>
        <p:nvSpPr>
          <p:cNvPr id="88" name="文本框 87">
            <a:hlinkClick r:id="rId3" action="ppaction://hlinksldjump"/>
          </p:cNvPr>
          <p:cNvSpPr txBox="1"/>
          <p:nvPr/>
        </p:nvSpPr>
        <p:spPr>
          <a:xfrm>
            <a:off x="3411397" y="1131034"/>
            <a:ext cx="3391803"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sym typeface="+mn-ea"/>
                <a:hlinkClick r:id="rId4" action="ppaction://hlinksldjump"/>
              </a:rPr>
              <a:t>光电器件及其特性</a:t>
            </a:r>
            <a:endParaRPr lang="zh-CN" altLang="en-US" sz="2800" b="1" dirty="0">
              <a:solidFill>
                <a:schemeClr val="tx2"/>
              </a:solidFill>
              <a:latin typeface="宋体" panose="02010600030101010101" pitchFamily="2" charset="-122"/>
              <a:ea typeface="宋体" panose="02010600030101010101" pitchFamily="2" charset="-122"/>
              <a:sym typeface="+mn-ea"/>
            </a:endParaRPr>
          </a:p>
        </p:txBody>
      </p:sp>
      <p:sp>
        <p:nvSpPr>
          <p:cNvPr id="16" name="圆角矩形 72"/>
          <p:cNvSpPr/>
          <p:nvPr/>
        </p:nvSpPr>
        <p:spPr>
          <a:xfrm rot="10800000" flipV="1">
            <a:off x="2333051" y="5647205"/>
            <a:ext cx="790586" cy="30834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sz="2800" b="1" dirty="0">
              <a:latin typeface="宋体" panose="02010600030101010101" pitchFamily="2" charset="-122"/>
              <a:ea typeface="宋体" panose="02010600030101010101" pitchFamily="2" charset="-122"/>
            </a:endParaRPr>
          </a:p>
        </p:txBody>
      </p:sp>
      <p:sp>
        <p:nvSpPr>
          <p:cNvPr id="18" name="文本框 17"/>
          <p:cNvSpPr txBox="1"/>
          <p:nvPr/>
        </p:nvSpPr>
        <p:spPr>
          <a:xfrm>
            <a:off x="3411396" y="5470465"/>
            <a:ext cx="1770801"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hlinkClick r:id="rId5" action="ppaction://hlinksldjump"/>
              </a:rPr>
              <a:t>本章要点</a:t>
            </a:r>
            <a:endParaRPr lang="zh-CN" altLang="en-US" sz="2800" b="1" dirty="0">
              <a:solidFill>
                <a:schemeClr val="tx2"/>
              </a:solidFill>
              <a:latin typeface="宋体" panose="02010600030101010101" pitchFamily="2" charset="-122"/>
              <a:ea typeface="宋体" panose="02010600030101010101" pitchFamily="2" charset="-122"/>
            </a:endParaRPr>
          </a:p>
        </p:txBody>
      </p:sp>
      <p:sp>
        <p:nvSpPr>
          <p:cNvPr id="31" name="圆角矩形 30"/>
          <p:cNvSpPr/>
          <p:nvPr/>
        </p:nvSpPr>
        <p:spPr>
          <a:xfrm rot="10800000" flipV="1">
            <a:off x="2333052" y="1903491"/>
            <a:ext cx="790586" cy="308349"/>
          </a:xfrm>
          <a:prstGeom prst="roundRect">
            <a:avLst>
              <a:gd name="adj" fmla="val 5039"/>
            </a:avLst>
          </a:prstGeom>
          <a:solidFill>
            <a:schemeClr val="bg1">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2" name="圆角矩形 31"/>
          <p:cNvSpPr/>
          <p:nvPr/>
        </p:nvSpPr>
        <p:spPr>
          <a:xfrm rot="10800000" flipV="1">
            <a:off x="2333052" y="2527443"/>
            <a:ext cx="790583" cy="308351"/>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3" name="文本框 32"/>
          <p:cNvSpPr txBox="1"/>
          <p:nvPr/>
        </p:nvSpPr>
        <p:spPr>
          <a:xfrm>
            <a:off x="3411397" y="1750953"/>
            <a:ext cx="4603365" cy="523216"/>
          </a:xfrm>
          <a:prstGeom prst="rect">
            <a:avLst/>
          </a:prstGeom>
          <a:noFill/>
        </p:spPr>
        <p:txBody>
          <a:bodyPr wrap="square" lIns="91436" tIns="45718" rIns="91436" bIns="45718" rtlCol="0">
            <a:spAutoFit/>
          </a:bodyPr>
          <a:lstStyle/>
          <a:p>
            <a:r>
              <a:rPr lang="zh-CN" altLang="en-US" sz="2800" b="1" dirty="0">
                <a:solidFill>
                  <a:schemeClr val="bg1">
                    <a:lumMod val="75000"/>
                  </a:schemeClr>
                </a:solidFill>
                <a:latin typeface="宋体" panose="02010600030101010101" pitchFamily="2" charset="-122"/>
                <a:ea typeface="宋体" panose="02010600030101010101" pitchFamily="2" charset="-122"/>
                <a:sym typeface="+mn-ea"/>
                <a:hlinkClick r:id="rId6" action="ppaction://hlinksldjump">
                  <a:extLst>
                    <a:ext uri="{A12FA001-AC4F-418D-AE19-62706E023703}">
                      <ahyp:hlinkClr xmlns:ahyp="http://schemas.microsoft.com/office/drawing/2018/hyperlinkcolor" val="tx"/>
                    </a:ext>
                  </a:extLst>
                </a:hlinkClick>
              </a:rPr>
              <a:t>光电式传感器的测量电路</a:t>
            </a:r>
            <a:endParaRPr lang="zh-CN" altLang="en-US" sz="2800" b="1" dirty="0">
              <a:solidFill>
                <a:schemeClr val="bg1">
                  <a:lumMod val="75000"/>
                </a:schemeClr>
              </a:solidFill>
              <a:latin typeface="宋体" panose="02010600030101010101" pitchFamily="2" charset="-122"/>
              <a:ea typeface="宋体" panose="02010600030101010101" pitchFamily="2" charset="-122"/>
              <a:sym typeface="+mn-ea"/>
            </a:endParaRPr>
          </a:p>
        </p:txBody>
      </p:sp>
      <p:sp>
        <p:nvSpPr>
          <p:cNvPr id="34" name="文本框 33">
            <a:hlinkClick r:id="rId3" action="ppaction://hlinksldjump"/>
          </p:cNvPr>
          <p:cNvSpPr txBox="1"/>
          <p:nvPr/>
        </p:nvSpPr>
        <p:spPr>
          <a:xfrm>
            <a:off x="3411397" y="2370872"/>
            <a:ext cx="4199510"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sym typeface="+mn-ea"/>
                <a:hlinkClick r:id="rId7" action="ppaction://hlinksldjump"/>
              </a:rPr>
              <a:t>光电传感器及其应用</a:t>
            </a:r>
            <a:endParaRPr lang="zh-CN" altLang="en-US" sz="2800" b="1" dirty="0">
              <a:solidFill>
                <a:schemeClr val="tx2"/>
              </a:solidFill>
              <a:latin typeface="宋体" panose="02010600030101010101" pitchFamily="2" charset="-122"/>
              <a:ea typeface="宋体" panose="02010600030101010101" pitchFamily="2" charset="-122"/>
              <a:sym typeface="+mn-ea"/>
            </a:endParaRPr>
          </a:p>
        </p:txBody>
      </p:sp>
      <p:sp>
        <p:nvSpPr>
          <p:cNvPr id="35" name="圆角矩形 34"/>
          <p:cNvSpPr/>
          <p:nvPr/>
        </p:nvSpPr>
        <p:spPr>
          <a:xfrm rot="10800000" flipV="1">
            <a:off x="2333052" y="3151397"/>
            <a:ext cx="790586" cy="30834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7.5</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8" name="文本框 37"/>
          <p:cNvSpPr txBox="1"/>
          <p:nvPr/>
        </p:nvSpPr>
        <p:spPr>
          <a:xfrm>
            <a:off x="3411396" y="2990791"/>
            <a:ext cx="2180244"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sym typeface="+mn-ea"/>
                <a:hlinkClick r:id="rId8" action="ppaction://hlinksldjump"/>
              </a:rPr>
              <a:t>光纤传感器</a:t>
            </a:r>
            <a:endParaRPr lang="zh-CN" altLang="en-US" sz="2800" b="1" dirty="0">
              <a:solidFill>
                <a:schemeClr val="tx2"/>
              </a:solidFill>
              <a:latin typeface="宋体" panose="02010600030101010101" pitchFamily="2" charset="-122"/>
              <a:ea typeface="宋体" panose="02010600030101010101" pitchFamily="2" charset="-122"/>
              <a:sym typeface="+mn-ea"/>
            </a:endParaRPr>
          </a:p>
        </p:txBody>
      </p:sp>
      <p:sp>
        <p:nvSpPr>
          <p:cNvPr id="37" name="圆角矩形 36"/>
          <p:cNvSpPr/>
          <p:nvPr/>
        </p:nvSpPr>
        <p:spPr>
          <a:xfrm rot="10800000" flipV="1">
            <a:off x="2333052" y="3775348"/>
            <a:ext cx="790586" cy="30834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7.6</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9" name="文本框 38"/>
          <p:cNvSpPr txBox="1"/>
          <p:nvPr/>
        </p:nvSpPr>
        <p:spPr>
          <a:xfrm>
            <a:off x="3411397" y="3610710"/>
            <a:ext cx="3999680"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sym typeface="+mn-ea"/>
                <a:hlinkClick r:id="rId9" action="ppaction://hlinksldjump"/>
              </a:rPr>
              <a:t>电荷耦合器件（</a:t>
            </a:r>
            <a:r>
              <a:rPr lang="en-US" altLang="zh-CN" sz="2800" b="1" dirty="0">
                <a:solidFill>
                  <a:schemeClr val="tx2"/>
                </a:solidFill>
                <a:latin typeface="宋体" panose="02010600030101010101" pitchFamily="2" charset="-122"/>
                <a:ea typeface="宋体" panose="02010600030101010101" pitchFamily="2" charset="-122"/>
                <a:sym typeface="+mn-ea"/>
                <a:hlinkClick r:id="rId9" action="ppaction://hlinksldjump"/>
              </a:rPr>
              <a:t>CCD</a:t>
            </a:r>
            <a:r>
              <a:rPr lang="zh-CN" altLang="en-US" sz="2800" b="1" dirty="0">
                <a:solidFill>
                  <a:schemeClr val="tx2"/>
                </a:solidFill>
                <a:latin typeface="宋体" panose="02010600030101010101" pitchFamily="2" charset="-122"/>
                <a:ea typeface="宋体" panose="02010600030101010101" pitchFamily="2" charset="-122"/>
                <a:sym typeface="+mn-ea"/>
                <a:hlinkClick r:id="rId9" action="ppaction://hlinksldjump"/>
              </a:rPr>
              <a:t>）</a:t>
            </a:r>
            <a:endParaRPr lang="zh-CN" altLang="en-US" sz="2800" b="1" dirty="0">
              <a:solidFill>
                <a:schemeClr val="tx2"/>
              </a:solidFill>
              <a:latin typeface="宋体" panose="02010600030101010101" pitchFamily="2" charset="-122"/>
              <a:ea typeface="宋体" panose="02010600030101010101" pitchFamily="2" charset="-122"/>
              <a:sym typeface="+mn-ea"/>
            </a:endParaRPr>
          </a:p>
        </p:txBody>
      </p:sp>
      <p:sp>
        <p:nvSpPr>
          <p:cNvPr id="40" name="圆角矩形 39"/>
          <p:cNvSpPr/>
          <p:nvPr/>
        </p:nvSpPr>
        <p:spPr>
          <a:xfrm rot="10800000" flipV="1">
            <a:off x="2333052" y="4399301"/>
            <a:ext cx="790586" cy="30834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7.7</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41" name="文本框 40"/>
          <p:cNvSpPr txBox="1"/>
          <p:nvPr/>
        </p:nvSpPr>
        <p:spPr>
          <a:xfrm>
            <a:off x="3411397" y="4230629"/>
            <a:ext cx="2373146"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sym typeface="+mn-ea"/>
                <a:hlinkClick r:id="rId3" action="ppaction://hlinksldjump"/>
              </a:rPr>
              <a:t>光栅式传感器</a:t>
            </a:r>
            <a:endParaRPr lang="zh-CN" altLang="en-US" sz="2800" b="1" dirty="0">
              <a:solidFill>
                <a:schemeClr val="tx2"/>
              </a:solidFill>
              <a:latin typeface="宋体" panose="02010600030101010101" pitchFamily="2" charset="-122"/>
              <a:ea typeface="宋体" panose="02010600030101010101" pitchFamily="2" charset="-122"/>
              <a:sym typeface="+mn-ea"/>
            </a:endParaRPr>
          </a:p>
        </p:txBody>
      </p:sp>
      <p:sp>
        <p:nvSpPr>
          <p:cNvPr id="42" name="圆角矩形 41"/>
          <p:cNvSpPr/>
          <p:nvPr/>
        </p:nvSpPr>
        <p:spPr>
          <a:xfrm rot="10800000" flipV="1">
            <a:off x="2333052" y="5023253"/>
            <a:ext cx="790586" cy="30834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7.8</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43" name="文本框 42"/>
          <p:cNvSpPr txBox="1"/>
          <p:nvPr/>
        </p:nvSpPr>
        <p:spPr>
          <a:xfrm>
            <a:off x="3411397" y="4850548"/>
            <a:ext cx="3999680" cy="523216"/>
          </a:xfrm>
          <a:prstGeom prst="rect">
            <a:avLst/>
          </a:prstGeom>
          <a:noFill/>
        </p:spPr>
        <p:txBody>
          <a:bodyPr wrap="square" lIns="91436" tIns="45718" rIns="91436" bIns="45718" rtlCol="0">
            <a:spAutoFit/>
          </a:bodyPr>
          <a:lstStyle/>
          <a:p>
            <a:r>
              <a:rPr lang="zh-CN" altLang="en-US" sz="2800" b="1" dirty="0">
                <a:solidFill>
                  <a:schemeClr val="tx2"/>
                </a:solidFill>
                <a:latin typeface="宋体" panose="02010600030101010101" pitchFamily="2" charset="-122"/>
                <a:ea typeface="宋体" panose="02010600030101010101" pitchFamily="2" charset="-122"/>
                <a:sym typeface="+mn-ea"/>
                <a:hlinkClick r:id="rId10" action="ppaction://hlinksldjump"/>
              </a:rPr>
              <a:t>激光式传感器</a:t>
            </a:r>
            <a:endParaRPr lang="zh-CN" altLang="en-US" sz="2800" b="1" dirty="0">
              <a:solidFill>
                <a:schemeClr val="tx2"/>
              </a:solidFill>
              <a:latin typeface="宋体" panose="02010600030101010101" pitchFamily="2" charset="-122"/>
              <a:ea typeface="宋体" panose="02010600030101010101" pitchFamily="2" charset="-122"/>
              <a:sym typeface="+mn-ea"/>
            </a:endParaRPr>
          </a:p>
        </p:txBody>
      </p:sp>
      <p:sp>
        <p:nvSpPr>
          <p:cNvPr id="44" name="文本框 19">
            <a:extLst>
              <a:ext uri="{FF2B5EF4-FFF2-40B4-BE49-F238E27FC236}">
                <a16:creationId xmlns:a16="http://schemas.microsoft.com/office/drawing/2014/main" id="{4CEC0372-57F8-4564-84A2-7BBFBB86E6C5}"/>
              </a:ext>
            </a:extLst>
          </p:cNvPr>
          <p:cNvSpPr txBox="1"/>
          <p:nvPr/>
        </p:nvSpPr>
        <p:spPr>
          <a:xfrm>
            <a:off x="104043" y="901931"/>
            <a:ext cx="754047" cy="3863281"/>
          </a:xfrm>
          <a:prstGeom prst="rect">
            <a:avLst/>
          </a:prstGeom>
          <a:noFill/>
        </p:spPr>
        <p:txBody>
          <a:bodyPr vert="eaVert" wrap="square" lIns="68577" tIns="34289" rIns="68577" bIns="34289" rtlCol="0">
            <a:spAutoFit/>
          </a:bodyPr>
          <a:lstStyle/>
          <a:p>
            <a:r>
              <a:rPr lang="ja-JP" altLang="en-US" sz="4000" b="1" spc="1200">
                <a:solidFill>
                  <a:schemeClr val="bg1"/>
                </a:solidFill>
                <a:latin typeface="微软雅黑" panose="020B0503020204020204" pitchFamily="34" charset="-122"/>
                <a:ea typeface="微软雅黑" panose="020B0503020204020204" pitchFamily="34" charset="-122"/>
              </a:rPr>
              <a:t>内容提纲</a:t>
            </a:r>
            <a:endParaRPr lang="zh-CN" altLang="en-US" sz="4000" b="1" spc="1200" dirty="0">
              <a:solidFill>
                <a:schemeClr val="bg1"/>
              </a:solidFill>
              <a:latin typeface="微软雅黑" panose="020B0503020204020204" pitchFamily="34" charset="-122"/>
              <a:ea typeface="微软雅黑" panose="020B0503020204020204" pitchFamily="34" charset="-122"/>
            </a:endParaRPr>
          </a:p>
        </p:txBody>
      </p:sp>
      <p:sp>
        <p:nvSpPr>
          <p:cNvPr id="5" name="Slide Number Placeholder 4">
            <a:extLst>
              <a:ext uri="{FF2B5EF4-FFF2-40B4-BE49-F238E27FC236}">
                <a16:creationId xmlns:a16="http://schemas.microsoft.com/office/drawing/2014/main" id="{950F4BF9-3640-4304-9147-AA1AD3810DB5}"/>
              </a:ext>
            </a:extLst>
          </p:cNvPr>
          <p:cNvSpPr>
            <a:spLocks noGrp="1"/>
          </p:cNvSpPr>
          <p:nvPr>
            <p:ph type="sldNum" sz="quarter" idx="12"/>
          </p:nvPr>
        </p:nvSpPr>
        <p:spPr/>
        <p:txBody>
          <a:bodyPr/>
          <a:lstStyle/>
          <a:p>
            <a:fld id="{B53602B4-F12B-41CD-B648-531F86B2CC91}" type="slidenum">
              <a:rPr lang="zh-CN" altLang="en-US" smtClean="0"/>
              <a:t>3</a:t>
            </a:fld>
            <a:endParaRPr lang="zh-CN" altLang="en-US"/>
          </a:p>
        </p:txBody>
      </p:sp>
      <p:sp>
        <p:nvSpPr>
          <p:cNvPr id="45" name="TextBox 44">
            <a:extLst>
              <a:ext uri="{FF2B5EF4-FFF2-40B4-BE49-F238E27FC236}">
                <a16:creationId xmlns:a16="http://schemas.microsoft.com/office/drawing/2014/main" id="{9551E03B-439E-4152-B6C0-3F4F54433B0C}"/>
              </a:ext>
            </a:extLst>
          </p:cNvPr>
          <p:cNvSpPr txBox="1"/>
          <p:nvPr/>
        </p:nvSpPr>
        <p:spPr>
          <a:xfrm>
            <a:off x="5784543" y="4307540"/>
            <a:ext cx="3282788" cy="400110"/>
          </a:xfrm>
          <a:prstGeom prst="rect">
            <a:avLst/>
          </a:prstGeom>
          <a:noFill/>
        </p:spPr>
        <p:txBody>
          <a:bodyPr wrap="square">
            <a:spAutoFit/>
          </a:bodyPr>
          <a:lstStyle/>
          <a:p>
            <a:r>
              <a:rPr lang="en-US" altLang="zh-CN" sz="2000" b="1">
                <a:solidFill>
                  <a:schemeClr val="bg1">
                    <a:lumMod val="75000"/>
                  </a:schemeClr>
                </a:solidFill>
                <a:latin typeface="宋体" panose="02010600030101010101" pitchFamily="2" charset="-122"/>
                <a:ea typeface="宋体" panose="02010600030101010101" pitchFamily="2" charset="-122"/>
                <a:sym typeface="+mn-ea"/>
              </a:rPr>
              <a:t>7.7.3 </a:t>
            </a:r>
            <a:r>
              <a:rPr lang="zh-CN" altLang="en-US" sz="2000" b="1">
                <a:solidFill>
                  <a:schemeClr val="bg1">
                    <a:lumMod val="75000"/>
                  </a:schemeClr>
                </a:solidFill>
                <a:latin typeface="宋体" panose="02010600030101010101" pitchFamily="2" charset="-122"/>
                <a:ea typeface="宋体" panose="02010600030101010101" pitchFamily="2" charset="-122"/>
                <a:sym typeface="+mn-ea"/>
              </a:rPr>
              <a:t>辨向原理和细分电路</a:t>
            </a:r>
            <a:endParaRPr lang="en-001" sz="2000" b="1">
              <a:solidFill>
                <a:schemeClr val="bg1">
                  <a:lumMod val="75000"/>
                </a:schemeClr>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6830975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7.1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光电效应</a:t>
            </a:r>
          </a:p>
        </p:txBody>
      </p:sp>
      <p:sp>
        <p:nvSpPr>
          <p:cNvPr id="26" name="Rectangle 3"/>
          <p:cNvSpPr>
            <a:spLocks noRot="1" noChangeArrowheads="1"/>
          </p:cNvSpPr>
          <p:nvPr/>
        </p:nvSpPr>
        <p:spPr bwMode="auto">
          <a:xfrm>
            <a:off x="185083" y="1692275"/>
            <a:ext cx="8958917" cy="260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432000">
              <a:lnSpc>
                <a:spcPct val="150000"/>
              </a:lnSpc>
              <a:spcBef>
                <a:spcPts val="1200"/>
              </a:spcBef>
              <a:buFont typeface="Wingdings" pitchFamily="2" charset="2"/>
              <a:buNone/>
            </a:pPr>
            <a:r>
              <a:rPr lang="zh-CN" altLang="en-US" sz="2400" b="1" dirty="0">
                <a:solidFill>
                  <a:srgbClr val="6699FF"/>
                </a:solidFill>
                <a:latin typeface="宋体" panose="02010600030101010101" pitchFamily="2" charset="-122"/>
                <a:ea typeface="宋体" panose="02010600030101010101" pitchFamily="2" charset="-122"/>
              </a:rPr>
              <a:t>光的粒子学说</a:t>
            </a:r>
            <a:r>
              <a:rPr lang="zh-CN" altLang="en-US" sz="2400" b="1" dirty="0">
                <a:latin typeface="宋体" panose="02010600030101010101" pitchFamily="2" charset="-122"/>
                <a:ea typeface="宋体" panose="02010600030101010101" pitchFamily="2" charset="-122"/>
              </a:rPr>
              <a:t>：光可以认为是由具有一定能量的粒子所组成，每个光子所具有的能量</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b="1" dirty="0">
                <a:latin typeface="宋体" panose="02010600030101010101" pitchFamily="2" charset="-122"/>
                <a:ea typeface="宋体" panose="02010600030101010101" pitchFamily="2" charset="-122"/>
              </a:rPr>
              <a:t>与其频率大小成正比。</a:t>
            </a:r>
          </a:p>
          <a:p>
            <a:pPr indent="432000">
              <a:lnSpc>
                <a:spcPct val="150000"/>
              </a:lnSpc>
              <a:spcBef>
                <a:spcPts val="1200"/>
              </a:spcBef>
              <a:buFont typeface="Wingdings" pitchFamily="2" charset="2"/>
              <a:buNone/>
            </a:pPr>
            <a:r>
              <a:rPr lang="zh-CN" altLang="en-US" sz="2400" b="1" dirty="0">
                <a:solidFill>
                  <a:srgbClr val="6600CC"/>
                </a:solidFill>
                <a:latin typeface="宋体" panose="02010600030101010101" pitchFamily="2" charset="-122"/>
                <a:ea typeface="宋体" panose="02010600030101010101" pitchFamily="2" charset="-122"/>
              </a:rPr>
              <a:t>光电效应</a:t>
            </a:r>
            <a:r>
              <a:rPr lang="zh-CN" altLang="en-US" sz="2400" b="1" dirty="0">
                <a:latin typeface="宋体" panose="02010600030101010101" pitchFamily="2" charset="-122"/>
                <a:ea typeface="宋体" panose="02010600030101010101" pitchFamily="2" charset="-122"/>
              </a:rPr>
              <a:t>：由于物体吸收了能量为</a:t>
            </a: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E</a:t>
            </a:r>
            <a:r>
              <a:rPr lang="zh-CN" altLang="en-US" sz="2400" b="1" dirty="0">
                <a:latin typeface="宋体" panose="02010600030101010101" pitchFamily="2" charset="-122"/>
                <a:ea typeface="宋体" panose="02010600030101010101" pitchFamily="2" charset="-122"/>
              </a:rPr>
              <a:t>的光后产生的电效应。</a:t>
            </a:r>
          </a:p>
          <a:p>
            <a:pPr indent="432000">
              <a:lnSpc>
                <a:spcPct val="150000"/>
              </a:lnSpc>
              <a:spcBef>
                <a:spcPts val="1200"/>
              </a:spcBef>
              <a:buFont typeface="Wingdings" pitchFamily="2" charset="2"/>
              <a:buNone/>
            </a:pPr>
            <a:r>
              <a:rPr lang="zh-CN" altLang="en-US" sz="2400" b="1" dirty="0">
                <a:latin typeface="宋体" panose="02010600030101010101" pitchFamily="2" charset="-122"/>
                <a:ea typeface="宋体" panose="02010600030101010101" pitchFamily="2" charset="-122"/>
              </a:rPr>
              <a:t>从传感器的角度看光电效应可</a:t>
            </a:r>
            <a:r>
              <a:rPr lang="zh-CN" altLang="en-US" sz="2400" b="1">
                <a:latin typeface="宋体" panose="02010600030101010101" pitchFamily="2" charset="-122"/>
                <a:ea typeface="宋体" panose="02010600030101010101" pitchFamily="2" charset="-122"/>
              </a:rPr>
              <a:t>分为</a:t>
            </a:r>
            <a:r>
              <a:rPr lang="zh-CN" altLang="en-US" sz="2400" b="1">
                <a:solidFill>
                  <a:srgbClr val="CC3300"/>
                </a:solidFill>
                <a:latin typeface="宋体" panose="02010600030101010101" pitchFamily="2" charset="-122"/>
                <a:ea typeface="宋体" panose="02010600030101010101" pitchFamily="2" charset="-122"/>
              </a:rPr>
              <a:t>外</a:t>
            </a:r>
            <a:r>
              <a:rPr lang="zh-CN" altLang="en-US" sz="2400" b="1" dirty="0">
                <a:solidFill>
                  <a:srgbClr val="CC3300"/>
                </a:solidFill>
                <a:latin typeface="宋体" panose="02010600030101010101" pitchFamily="2" charset="-122"/>
                <a:ea typeface="宋体" panose="02010600030101010101" pitchFamily="2" charset="-122"/>
              </a:rPr>
              <a:t>光电效应</a:t>
            </a:r>
            <a:r>
              <a:rPr lang="zh-CN" altLang="en-US" sz="2400" b="1" dirty="0">
                <a:latin typeface="宋体" panose="02010600030101010101" pitchFamily="2" charset="-122"/>
                <a:ea typeface="宋体" panose="02010600030101010101" pitchFamily="2" charset="-122"/>
              </a:rPr>
              <a:t>、</a:t>
            </a:r>
            <a:r>
              <a:rPr lang="zh-CN" altLang="en-US" sz="2400" b="1" dirty="0">
                <a:solidFill>
                  <a:srgbClr val="008000"/>
                </a:solidFill>
                <a:latin typeface="宋体" panose="02010600030101010101" pitchFamily="2" charset="-122"/>
                <a:ea typeface="宋体" panose="02010600030101010101" pitchFamily="2" charset="-122"/>
              </a:rPr>
              <a:t>内光电效应</a:t>
            </a:r>
            <a:r>
              <a:rPr lang="zh-CN" altLang="en-US" sz="2400" b="1" dirty="0">
                <a:latin typeface="宋体" panose="02010600030101010101" pitchFamily="2" charset="-122"/>
                <a:ea typeface="宋体" panose="02010600030101010101" pitchFamily="2" charset="-122"/>
              </a:rPr>
              <a:t>。</a:t>
            </a:r>
            <a:endParaRPr lang="zh-CN" altLang="en-US" sz="36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DFB4764C-2937-43FA-9CD5-39049A2E9960}"/>
              </a:ext>
            </a:extLst>
          </p:cNvPr>
          <p:cNvSpPr>
            <a:spLocks noGrp="1"/>
          </p:cNvSpPr>
          <p:nvPr>
            <p:ph type="sldNum" sz="quarter" idx="12"/>
          </p:nvPr>
        </p:nvSpPr>
        <p:spPr/>
        <p:txBody>
          <a:bodyPr/>
          <a:lstStyle/>
          <a:p>
            <a:fld id="{B53602B4-F12B-41CD-B648-531F86B2CC91}" type="slidenum">
              <a:rPr lang="zh-CN" altLang="en-US" smtClean="0"/>
              <a:t>4</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7.1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光电效应</a:t>
            </a:r>
          </a:p>
        </p:txBody>
      </p:sp>
      <p:sp>
        <p:nvSpPr>
          <p:cNvPr id="2" name="Slide Number Placeholder 1">
            <a:extLst>
              <a:ext uri="{FF2B5EF4-FFF2-40B4-BE49-F238E27FC236}">
                <a16:creationId xmlns:a16="http://schemas.microsoft.com/office/drawing/2014/main" id="{DFB4764C-2937-43FA-9CD5-39049A2E9960}"/>
              </a:ext>
            </a:extLst>
          </p:cNvPr>
          <p:cNvSpPr>
            <a:spLocks noGrp="1"/>
          </p:cNvSpPr>
          <p:nvPr>
            <p:ph type="sldNum" sz="quarter" idx="12"/>
          </p:nvPr>
        </p:nvSpPr>
        <p:spPr/>
        <p:txBody>
          <a:bodyPr/>
          <a:lstStyle/>
          <a:p>
            <a:fld id="{B53602B4-F12B-41CD-B648-531F86B2CC91}" type="slidenum">
              <a:rPr lang="zh-CN" altLang="en-US" smtClean="0"/>
              <a:t>5</a:t>
            </a:fld>
            <a:endParaRPr lang="zh-CN" altLang="en-US"/>
          </a:p>
        </p:txBody>
      </p:sp>
      <p:sp>
        <p:nvSpPr>
          <p:cNvPr id="7" name="Text Box 4">
            <a:extLst>
              <a:ext uri="{FF2B5EF4-FFF2-40B4-BE49-F238E27FC236}">
                <a16:creationId xmlns:a16="http://schemas.microsoft.com/office/drawing/2014/main" id="{50B62EDE-5FFB-4BF1-8184-BC732D0A9B29}"/>
              </a:ext>
            </a:extLst>
          </p:cNvPr>
          <p:cNvSpPr txBox="1">
            <a:spLocks noChangeArrowheads="1"/>
          </p:cNvSpPr>
          <p:nvPr/>
        </p:nvSpPr>
        <p:spPr bwMode="auto">
          <a:xfrm>
            <a:off x="1588152" y="3170072"/>
            <a:ext cx="6963397" cy="1865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ct val="150000"/>
              </a:lnSpc>
              <a:buFont typeface="Wingdings" pitchFamily="2" charset="2"/>
              <a:buNone/>
            </a:pPr>
            <a:r>
              <a:rPr lang="en-US" altLang="zh-CN" sz="2400" dirty="0">
                <a:solidFill>
                  <a:schemeClr val="tx1"/>
                </a:solidFill>
                <a:latin typeface="Times New Roman" pitchFamily="18" charset="0"/>
                <a:ea typeface="宋体" pitchFamily="2" charset="-122"/>
                <a:cs typeface="Times New Roman" pitchFamily="18" charset="0"/>
              </a:rPr>
              <a:t>Einstein</a:t>
            </a:r>
            <a:r>
              <a:rPr lang="zh-CN" altLang="en-US" sz="2400" dirty="0">
                <a:solidFill>
                  <a:schemeClr val="tx1"/>
                </a:solidFill>
                <a:latin typeface="宋体" pitchFamily="2" charset="-122"/>
                <a:ea typeface="宋体" pitchFamily="2" charset="-122"/>
              </a:rPr>
              <a:t>假设：一个光子的能量只能给一个电子，电子逸出时需要克服逸出功</a:t>
            </a:r>
            <a:r>
              <a:rPr lang="en-US" altLang="zh-CN" sz="2400" i="1" dirty="0">
                <a:solidFill>
                  <a:schemeClr val="tx1"/>
                </a:solidFill>
                <a:latin typeface="Times New Roman" pitchFamily="18" charset="0"/>
                <a:ea typeface="宋体" pitchFamily="2" charset="-122"/>
                <a:cs typeface="Times New Roman" pitchFamily="18" charset="0"/>
              </a:rPr>
              <a:t>A</a:t>
            </a:r>
            <a:r>
              <a:rPr lang="en-US" altLang="zh-CN" sz="2400" baseline="-25000" dirty="0">
                <a:solidFill>
                  <a:schemeClr val="tx1"/>
                </a:solidFill>
                <a:latin typeface="Times New Roman" pitchFamily="18" charset="0"/>
                <a:ea typeface="宋体" pitchFamily="2" charset="-122"/>
                <a:cs typeface="Times New Roman" pitchFamily="18" charset="0"/>
              </a:rPr>
              <a:t>0</a:t>
            </a:r>
            <a:r>
              <a:rPr lang="en-US" altLang="zh-CN" sz="2400" dirty="0">
                <a:solidFill>
                  <a:schemeClr val="tx1"/>
                </a:solidFill>
                <a:latin typeface="宋体" pitchFamily="2" charset="-122"/>
                <a:ea typeface="宋体" pitchFamily="2" charset="-122"/>
              </a:rPr>
              <a:t>,</a:t>
            </a:r>
            <a:r>
              <a:rPr lang="zh-CN" altLang="en-US" sz="2400" dirty="0">
                <a:solidFill>
                  <a:schemeClr val="tx1"/>
                </a:solidFill>
                <a:latin typeface="宋体" pitchFamily="2" charset="-122"/>
                <a:ea typeface="宋体" pitchFamily="2" charset="-122"/>
              </a:rPr>
              <a:t>具有动能</a:t>
            </a:r>
            <a:r>
              <a:rPr lang="en-US" altLang="zh-CN" sz="2400" i="1" dirty="0">
                <a:solidFill>
                  <a:schemeClr val="tx1"/>
                </a:solidFill>
                <a:latin typeface="Times New Roman" pitchFamily="18" charset="0"/>
                <a:ea typeface="宋体" pitchFamily="2" charset="-122"/>
                <a:cs typeface="Times New Roman" pitchFamily="18" charset="0"/>
              </a:rPr>
              <a:t>E</a:t>
            </a:r>
            <a:r>
              <a:rPr lang="en-US" altLang="zh-CN" sz="2400" i="1" baseline="-25000" dirty="0">
                <a:solidFill>
                  <a:schemeClr val="tx1"/>
                </a:solidFill>
                <a:latin typeface="Times New Roman" pitchFamily="18" charset="0"/>
                <a:ea typeface="宋体" pitchFamily="2" charset="-122"/>
                <a:cs typeface="Times New Roman" pitchFamily="18" charset="0"/>
              </a:rPr>
              <a:t>K</a:t>
            </a:r>
            <a:r>
              <a:rPr lang="zh-CN" altLang="en-US" sz="2400" dirty="0">
                <a:solidFill>
                  <a:schemeClr val="tx1"/>
                </a:solidFill>
                <a:latin typeface="宋体" pitchFamily="2" charset="-122"/>
                <a:ea typeface="宋体" pitchFamily="2" charset="-122"/>
              </a:rPr>
              <a:t>。</a:t>
            </a:r>
          </a:p>
          <a:p>
            <a:pPr eaLnBrk="1" hangingPunct="1">
              <a:lnSpc>
                <a:spcPct val="150000"/>
              </a:lnSpc>
              <a:spcBef>
                <a:spcPct val="30000"/>
              </a:spcBef>
              <a:buFont typeface="Wingdings" pitchFamily="2" charset="2"/>
              <a:buNone/>
            </a:pPr>
            <a:r>
              <a:rPr lang="zh-CN" altLang="en-US" sz="2400" dirty="0">
                <a:solidFill>
                  <a:schemeClr val="tx1"/>
                </a:solidFill>
                <a:latin typeface="宋体" pitchFamily="2" charset="-122"/>
                <a:ea typeface="宋体" pitchFamily="2" charset="-122"/>
              </a:rPr>
              <a:t>一个光子的能量可表示为：</a:t>
            </a:r>
          </a:p>
        </p:txBody>
      </p:sp>
      <p:graphicFrame>
        <p:nvGraphicFramePr>
          <p:cNvPr id="8" name="Object 19">
            <a:extLst>
              <a:ext uri="{FF2B5EF4-FFF2-40B4-BE49-F238E27FC236}">
                <a16:creationId xmlns:a16="http://schemas.microsoft.com/office/drawing/2014/main" id="{E8AB50FA-AAAC-4D31-B553-F65FCAEF571F}"/>
              </a:ext>
            </a:extLst>
          </p:cNvPr>
          <p:cNvGraphicFramePr>
            <a:graphicFrameLocks noChangeAspect="1"/>
          </p:cNvGraphicFramePr>
          <p:nvPr>
            <p:extLst>
              <p:ext uri="{D42A27DB-BD31-4B8C-83A1-F6EECF244321}">
                <p14:modId xmlns:p14="http://schemas.microsoft.com/office/powerpoint/2010/main" val="3066411332"/>
              </p:ext>
            </p:extLst>
          </p:nvPr>
        </p:nvGraphicFramePr>
        <p:xfrm>
          <a:off x="2009985" y="5162944"/>
          <a:ext cx="2159000" cy="719137"/>
        </p:xfrm>
        <a:graphic>
          <a:graphicData uri="http://schemas.openxmlformats.org/presentationml/2006/ole">
            <mc:AlternateContent xmlns:mc="http://schemas.openxmlformats.org/markup-compatibility/2006">
              <mc:Choice xmlns:v="urn:schemas-microsoft-com:vml" Requires="v">
                <p:oleObj name="公式" r:id="rId3" imgW="590428" imgH="181104" progId="Equation.3">
                  <p:embed/>
                </p:oleObj>
              </mc:Choice>
              <mc:Fallback>
                <p:oleObj name="公式" r:id="rId3" imgW="590428" imgH="181104" progId="Equation.3">
                  <p:embed/>
                  <p:pic>
                    <p:nvPicPr>
                      <p:cNvPr id="21"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985" y="5162944"/>
                        <a:ext cx="2159000" cy="719137"/>
                      </a:xfrm>
                      <a:prstGeom prst="rect">
                        <a:avLst/>
                      </a:prstGeom>
                      <a:noFill/>
                      <a:ln>
                        <a:noFill/>
                      </a:ln>
                      <a:effectLst/>
                      <a:extLst>
                        <a:ext uri="{909E8E84-426E-40DD-AFC4-6F175D3DCCD1}">
                          <a14:hiddenFill xmlns:a14="http://schemas.microsoft.com/office/drawing/2010/main">
                            <a:solidFill>
                              <a:srgbClr val="CC3300"/>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21">
            <a:extLst>
              <a:ext uri="{FF2B5EF4-FFF2-40B4-BE49-F238E27FC236}">
                <a16:creationId xmlns:a16="http://schemas.microsoft.com/office/drawing/2014/main" id="{1DA64F75-142C-462A-A217-C73C22455046}"/>
              </a:ext>
            </a:extLst>
          </p:cNvPr>
          <p:cNvSpPr>
            <a:spLocks noChangeArrowheads="1"/>
          </p:cNvSpPr>
          <p:nvPr/>
        </p:nvSpPr>
        <p:spPr bwMode="auto">
          <a:xfrm>
            <a:off x="1549259" y="1461860"/>
            <a:ext cx="7203037"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2400" b="1" dirty="0">
                <a:latin typeface="Arial" panose="020B0604020202020204" pitchFamily="34" charset="0"/>
                <a:ea typeface="宋体" panose="02010600030101010101" pitchFamily="2" charset="-122"/>
                <a:cs typeface="Arial" panose="020B0604020202020204" pitchFamily="34" charset="0"/>
              </a:rPr>
              <a:t>7.1.1 </a:t>
            </a:r>
            <a:r>
              <a:rPr lang="en-US" altLang="zh-CN" sz="2400" b="1" dirty="0">
                <a:latin typeface="宋体" pitchFamily="2" charset="-122"/>
                <a:ea typeface="宋体" pitchFamily="2" charset="-122"/>
              </a:rPr>
              <a:t> </a:t>
            </a:r>
            <a:r>
              <a:rPr lang="zh-CN" altLang="en-US" sz="2400" b="1" dirty="0">
                <a:solidFill>
                  <a:srgbClr val="D60093"/>
                </a:solidFill>
                <a:latin typeface="宋体" pitchFamily="2" charset="-122"/>
                <a:ea typeface="宋体" pitchFamily="2" charset="-122"/>
              </a:rPr>
              <a:t>外光电效应</a:t>
            </a:r>
          </a:p>
          <a:p>
            <a:pPr indent="623888">
              <a:lnSpc>
                <a:spcPct val="150000"/>
              </a:lnSpc>
              <a:buFont typeface="Wingdings" pitchFamily="2" charset="2"/>
              <a:buNone/>
            </a:pPr>
            <a:r>
              <a:rPr lang="zh-CN" altLang="en-US" sz="2400" b="1" dirty="0">
                <a:solidFill>
                  <a:srgbClr val="3333CC"/>
                </a:solidFill>
                <a:latin typeface="宋体" pitchFamily="2" charset="-122"/>
                <a:ea typeface="宋体" pitchFamily="2" charset="-122"/>
              </a:rPr>
              <a:t>在光的照射下，</a:t>
            </a:r>
            <a:r>
              <a:rPr lang="zh-CN" altLang="en-US" sz="2400" b="1" dirty="0">
                <a:solidFill>
                  <a:srgbClr val="C00000"/>
                </a:solidFill>
                <a:latin typeface="宋体" pitchFamily="2" charset="-122"/>
                <a:ea typeface="宋体" pitchFamily="2" charset="-122"/>
              </a:rPr>
              <a:t>材料中的电子逸出表面</a:t>
            </a:r>
            <a:r>
              <a:rPr lang="zh-CN" altLang="en-US" sz="2400" b="1" dirty="0">
                <a:latin typeface="宋体" pitchFamily="2" charset="-122"/>
                <a:ea typeface="宋体" pitchFamily="2" charset="-122"/>
              </a:rPr>
              <a:t>的现象。</a:t>
            </a:r>
            <a:r>
              <a:rPr lang="zh-CN" altLang="en-US" sz="2400" b="1" dirty="0">
                <a:solidFill>
                  <a:srgbClr val="C00000"/>
                </a:solidFill>
                <a:latin typeface="宋体" pitchFamily="2" charset="-122"/>
                <a:ea typeface="宋体" pitchFamily="2" charset="-122"/>
              </a:rPr>
              <a:t>光电管及光电倍增管</a:t>
            </a:r>
            <a:r>
              <a:rPr lang="zh-CN" altLang="en-US" sz="2400" b="1" dirty="0">
                <a:latin typeface="宋体" pitchFamily="2" charset="-122"/>
                <a:ea typeface="宋体" pitchFamily="2" charset="-122"/>
              </a:rPr>
              <a:t>属此类。</a:t>
            </a:r>
          </a:p>
        </p:txBody>
      </p:sp>
    </p:spTree>
    <p:extLst>
      <p:ext uri="{BB962C8B-B14F-4D97-AF65-F5344CB8AC3E}">
        <p14:creationId xmlns:p14="http://schemas.microsoft.com/office/powerpoint/2010/main" val="125385232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7.1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光电效应</a:t>
            </a:r>
          </a:p>
        </p:txBody>
      </p:sp>
      <p:sp>
        <p:nvSpPr>
          <p:cNvPr id="19" name="Text Box 18"/>
          <p:cNvSpPr txBox="1">
            <a:spLocks noChangeArrowheads="1"/>
          </p:cNvSpPr>
          <p:nvPr/>
        </p:nvSpPr>
        <p:spPr bwMode="auto">
          <a:xfrm>
            <a:off x="1571711" y="2622032"/>
            <a:ext cx="20420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spcBef>
                <a:spcPct val="50000"/>
              </a:spcBef>
              <a:buFont typeface="Wingdings" pitchFamily="2" charset="2"/>
              <a:buNone/>
            </a:pPr>
            <a:r>
              <a:rPr lang="zh-CN" altLang="en-US" sz="2400" dirty="0">
                <a:solidFill>
                  <a:schemeClr val="tx1"/>
                </a:solidFill>
              </a:rPr>
              <a:t>红限频率：</a:t>
            </a:r>
          </a:p>
        </p:txBody>
      </p:sp>
      <p:graphicFrame>
        <p:nvGraphicFramePr>
          <p:cNvPr id="21" name="Object 19"/>
          <p:cNvGraphicFramePr>
            <a:graphicFrameLocks noChangeAspect="1"/>
          </p:cNvGraphicFramePr>
          <p:nvPr>
            <p:extLst>
              <p:ext uri="{D42A27DB-BD31-4B8C-83A1-F6EECF244321}">
                <p14:modId xmlns:p14="http://schemas.microsoft.com/office/powerpoint/2010/main" val="2689686216"/>
              </p:ext>
            </p:extLst>
          </p:nvPr>
        </p:nvGraphicFramePr>
        <p:xfrm>
          <a:off x="3589338" y="2425101"/>
          <a:ext cx="1214891" cy="820121"/>
        </p:xfrm>
        <a:graphic>
          <a:graphicData uri="http://schemas.openxmlformats.org/presentationml/2006/ole">
            <mc:AlternateContent xmlns:mc="http://schemas.openxmlformats.org/markup-compatibility/2006">
              <mc:Choice xmlns:v="urn:schemas-microsoft-com:vml" Requires="v">
                <p:oleObj name="公式" r:id="rId3" imgW="609480" imgH="406080" progId="Equation.3">
                  <p:embed/>
                </p:oleObj>
              </mc:Choice>
              <mc:Fallback>
                <p:oleObj name="公式" r:id="rId3" imgW="609480" imgH="406080" progId="Equation.3">
                  <p:embed/>
                  <p:pic>
                    <p:nvPicPr>
                      <p:cNvPr id="0" name=""/>
                      <p:cNvPicPr>
                        <a:picLocks noChangeAspect="1" noChangeArrowheads="1"/>
                      </p:cNvPicPr>
                      <p:nvPr/>
                    </p:nvPicPr>
                    <p:blipFill>
                      <a:blip r:embed="rId4"/>
                      <a:srcRect/>
                      <a:stretch>
                        <a:fillRect/>
                      </a:stretch>
                    </p:blipFill>
                    <p:spPr bwMode="auto">
                      <a:xfrm>
                        <a:off x="3589338" y="2425101"/>
                        <a:ext cx="1214891" cy="820121"/>
                      </a:xfrm>
                      <a:prstGeom prst="rect">
                        <a:avLst/>
                      </a:prstGeom>
                      <a:solidFill>
                        <a:srgbClr val="FFFF00"/>
                      </a:solidFill>
                      <a:ln>
                        <a:noFill/>
                      </a:ln>
                    </p:spPr>
                  </p:pic>
                </p:oleObj>
              </mc:Fallback>
            </mc:AlternateContent>
          </a:graphicData>
        </a:graphic>
      </p:graphicFrame>
      <p:sp>
        <p:nvSpPr>
          <p:cNvPr id="26" name="Text Box 21"/>
          <p:cNvSpPr txBox="1">
            <a:spLocks noChangeArrowheads="1"/>
          </p:cNvSpPr>
          <p:nvPr/>
        </p:nvSpPr>
        <p:spPr bwMode="auto">
          <a:xfrm>
            <a:off x="1571712" y="3521633"/>
            <a:ext cx="6028048"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spcBef>
                <a:spcPct val="50000"/>
              </a:spcBef>
              <a:buFont typeface="Wingdings" pitchFamily="2" charset="2"/>
              <a:buNone/>
            </a:pPr>
            <a:r>
              <a:rPr lang="en-US" altLang="zh-CN" sz="2400" dirty="0">
                <a:solidFill>
                  <a:schemeClr val="tx1"/>
                </a:solidFill>
              </a:rPr>
              <a:t>1</a:t>
            </a:r>
            <a:r>
              <a:rPr lang="zh-CN" altLang="en-US" sz="2400" dirty="0">
                <a:solidFill>
                  <a:schemeClr val="tx1"/>
                </a:solidFill>
              </a:rPr>
              <a:t>、</a:t>
            </a:r>
            <a:r>
              <a:rPr lang="en-US" altLang="zh-CN" sz="2400" b="0" i="1" dirty="0">
                <a:solidFill>
                  <a:schemeClr val="tx1"/>
                </a:solidFill>
                <a:latin typeface="Times New Roman" pitchFamily="18" charset="0"/>
              </a:rPr>
              <a:t>f</a:t>
            </a:r>
            <a:r>
              <a:rPr lang="en-US" altLang="zh-CN" sz="2400" b="0" dirty="0">
                <a:solidFill>
                  <a:schemeClr val="tx1"/>
                </a:solidFill>
                <a:latin typeface="Times New Roman" pitchFamily="18" charset="0"/>
              </a:rPr>
              <a:t>&lt;</a:t>
            </a:r>
            <a:r>
              <a:rPr lang="en-US" altLang="zh-CN" sz="2400" b="0" i="1" dirty="0">
                <a:solidFill>
                  <a:schemeClr val="tx1"/>
                </a:solidFill>
                <a:latin typeface="Times New Roman" pitchFamily="18" charset="0"/>
              </a:rPr>
              <a:t>f</a:t>
            </a:r>
            <a:r>
              <a:rPr lang="en-US" altLang="zh-CN" sz="2400" b="0" baseline="-25000" dirty="0">
                <a:solidFill>
                  <a:schemeClr val="tx1"/>
                </a:solidFill>
                <a:latin typeface="Times New Roman" pitchFamily="18" charset="0"/>
              </a:rPr>
              <a:t>0</a:t>
            </a:r>
            <a:r>
              <a:rPr lang="zh-CN" altLang="en-US" sz="2400" dirty="0">
                <a:solidFill>
                  <a:schemeClr val="tx1"/>
                </a:solidFill>
              </a:rPr>
              <a:t>，不会产生电子逸出；</a:t>
            </a:r>
          </a:p>
          <a:p>
            <a:pPr eaLnBrk="1" hangingPunct="1">
              <a:spcBef>
                <a:spcPct val="50000"/>
              </a:spcBef>
              <a:buFont typeface="Wingdings" pitchFamily="2" charset="2"/>
              <a:buNone/>
            </a:pPr>
            <a:r>
              <a:rPr lang="en-US" altLang="zh-CN" sz="2400" dirty="0">
                <a:solidFill>
                  <a:schemeClr val="tx1"/>
                </a:solidFill>
              </a:rPr>
              <a:t>2</a:t>
            </a:r>
            <a:r>
              <a:rPr lang="zh-CN" altLang="en-US" sz="2400" dirty="0">
                <a:solidFill>
                  <a:schemeClr val="tx1"/>
                </a:solidFill>
              </a:rPr>
              <a:t>、</a:t>
            </a:r>
            <a:r>
              <a:rPr lang="en-US" altLang="zh-CN" sz="2400" b="0" i="1" dirty="0">
                <a:solidFill>
                  <a:schemeClr val="tx1"/>
                </a:solidFill>
                <a:latin typeface="Times New Roman" pitchFamily="18" charset="0"/>
              </a:rPr>
              <a:t>f</a:t>
            </a:r>
            <a:r>
              <a:rPr lang="en-US" altLang="zh-CN" sz="2400" i="1" dirty="0">
                <a:solidFill>
                  <a:schemeClr val="tx1"/>
                </a:solidFill>
                <a:latin typeface="Times New Roman" pitchFamily="18" charset="0"/>
              </a:rPr>
              <a:t> </a:t>
            </a:r>
            <a:r>
              <a:rPr lang="en-US" altLang="zh-CN" sz="2400" dirty="0">
                <a:solidFill>
                  <a:srgbClr val="FF0000"/>
                </a:solidFill>
                <a:cs typeface="Arial" charset="0"/>
              </a:rPr>
              <a:t>↑</a:t>
            </a:r>
            <a:r>
              <a:rPr lang="zh-CN" altLang="en-US" sz="2400" dirty="0">
                <a:solidFill>
                  <a:schemeClr val="tx1"/>
                </a:solidFill>
              </a:rPr>
              <a:t> ，</a:t>
            </a:r>
            <a:r>
              <a:rPr lang="en-US" altLang="zh-CN" sz="2400" dirty="0">
                <a:solidFill>
                  <a:schemeClr val="tx1"/>
                </a:solidFill>
                <a:cs typeface="Arial" charset="0"/>
              </a:rPr>
              <a:t> </a:t>
            </a:r>
            <a:r>
              <a:rPr lang="en-US" altLang="zh-CN" sz="2400" b="0" i="1" dirty="0">
                <a:solidFill>
                  <a:schemeClr val="tx1"/>
                </a:solidFill>
                <a:latin typeface="Times New Roman" pitchFamily="18" charset="0"/>
                <a:cs typeface="Arial" charset="0"/>
              </a:rPr>
              <a:t>f </a:t>
            </a:r>
            <a:r>
              <a:rPr lang="en-US" altLang="zh-CN" sz="2400" b="0" dirty="0">
                <a:solidFill>
                  <a:schemeClr val="tx1"/>
                </a:solidFill>
                <a:latin typeface="Times New Roman" pitchFamily="18" charset="0"/>
                <a:cs typeface="Times New Roman" pitchFamily="18" charset="0"/>
              </a:rPr>
              <a:t>≥ </a:t>
            </a:r>
            <a:r>
              <a:rPr lang="en-US" altLang="zh-CN" sz="2400" b="0" i="1" dirty="0">
                <a:solidFill>
                  <a:schemeClr val="tx1"/>
                </a:solidFill>
                <a:latin typeface="Times New Roman" pitchFamily="18" charset="0"/>
              </a:rPr>
              <a:t>f</a:t>
            </a:r>
            <a:r>
              <a:rPr lang="en-US" altLang="zh-CN" sz="2400" b="0" baseline="-25000" dirty="0">
                <a:solidFill>
                  <a:schemeClr val="tx1"/>
                </a:solidFill>
                <a:latin typeface="Times New Roman" pitchFamily="18" charset="0"/>
              </a:rPr>
              <a:t>0</a:t>
            </a:r>
            <a:r>
              <a:rPr lang="zh-CN" altLang="en-US" sz="2400" dirty="0">
                <a:solidFill>
                  <a:schemeClr val="tx1"/>
                </a:solidFill>
              </a:rPr>
              <a:t>时，有光电子逸出；</a:t>
            </a:r>
          </a:p>
          <a:p>
            <a:pPr eaLnBrk="1" hangingPunct="1">
              <a:spcBef>
                <a:spcPct val="50000"/>
              </a:spcBef>
              <a:buFont typeface="Wingdings" pitchFamily="2" charset="2"/>
              <a:buNone/>
            </a:pPr>
            <a:r>
              <a:rPr lang="en-US" altLang="zh-CN" sz="2400" dirty="0">
                <a:solidFill>
                  <a:schemeClr val="tx1"/>
                </a:solidFill>
              </a:rPr>
              <a:t>3</a:t>
            </a:r>
            <a:r>
              <a:rPr lang="zh-CN" altLang="en-US" sz="2400" dirty="0">
                <a:solidFill>
                  <a:schemeClr val="tx1"/>
                </a:solidFill>
              </a:rPr>
              <a:t>、光电子逸出的多少与光强成正比；</a:t>
            </a:r>
          </a:p>
          <a:p>
            <a:pPr eaLnBrk="1" hangingPunct="1">
              <a:spcBef>
                <a:spcPct val="50000"/>
              </a:spcBef>
              <a:buFont typeface="Wingdings" pitchFamily="2" charset="2"/>
              <a:buNone/>
            </a:pPr>
            <a:r>
              <a:rPr lang="en-US" altLang="zh-CN" sz="2400" dirty="0">
                <a:solidFill>
                  <a:schemeClr val="tx1"/>
                </a:solidFill>
              </a:rPr>
              <a:t>4</a:t>
            </a:r>
            <a:r>
              <a:rPr lang="zh-CN" altLang="en-US" sz="2400" dirty="0">
                <a:solidFill>
                  <a:schemeClr val="tx1"/>
                </a:solidFill>
              </a:rPr>
              <a:t>、光电子逸出物体表面具有初始动能，要使光电流为零，须加</a:t>
            </a:r>
            <a:r>
              <a:rPr lang="zh-CN" altLang="en-US" sz="2400" dirty="0">
                <a:solidFill>
                  <a:srgbClr val="0070C0"/>
                </a:solidFill>
              </a:rPr>
              <a:t>负的截止电压</a:t>
            </a:r>
            <a:r>
              <a:rPr lang="zh-CN" altLang="en-US" sz="2400" dirty="0">
                <a:solidFill>
                  <a:schemeClr val="tx1"/>
                </a:solidFill>
              </a:rPr>
              <a:t>。</a:t>
            </a:r>
          </a:p>
        </p:txBody>
      </p:sp>
      <p:graphicFrame>
        <p:nvGraphicFramePr>
          <p:cNvPr id="27" name="Object 22"/>
          <p:cNvGraphicFramePr>
            <a:graphicFrameLocks noGrp="1" noChangeAspect="1"/>
          </p:cNvGraphicFramePr>
          <p:nvPr>
            <p:ph/>
            <p:extLst>
              <p:ext uri="{D42A27DB-BD31-4B8C-83A1-F6EECF244321}">
                <p14:modId xmlns:p14="http://schemas.microsoft.com/office/powerpoint/2010/main" val="3583324150"/>
              </p:ext>
            </p:extLst>
          </p:nvPr>
        </p:nvGraphicFramePr>
        <p:xfrm>
          <a:off x="1727250" y="1184008"/>
          <a:ext cx="3425321" cy="964682"/>
        </p:xfrm>
        <a:graphic>
          <a:graphicData uri="http://schemas.openxmlformats.org/presentationml/2006/ole">
            <mc:AlternateContent xmlns:mc="http://schemas.openxmlformats.org/markup-compatibility/2006">
              <mc:Choice xmlns:v="urn:schemas-microsoft-com:vml" Requires="v">
                <p:oleObj name="公式" r:id="rId5" imgW="1381083" imgH="371398" progId="Equation.3">
                  <p:embed/>
                </p:oleObj>
              </mc:Choice>
              <mc:Fallback>
                <p:oleObj name="公式" r:id="rId5" imgW="1381083" imgH="37139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7250" y="1184008"/>
                        <a:ext cx="3425321" cy="964682"/>
                      </a:xfrm>
                      <a:prstGeom prst="rect">
                        <a:avLst/>
                      </a:prstGeom>
                      <a:noFill/>
                      <a:ln>
                        <a:noFill/>
                      </a:ln>
                      <a:effectLst/>
                    </p:spPr>
                  </p:pic>
                </p:oleObj>
              </mc:Fallback>
            </mc:AlternateContent>
          </a:graphicData>
        </a:graphic>
      </p:graphicFrame>
      <p:sp>
        <p:nvSpPr>
          <p:cNvPr id="28" name="Rectangle 24"/>
          <p:cNvSpPr>
            <a:spLocks noChangeArrowheads="1"/>
          </p:cNvSpPr>
          <p:nvPr/>
        </p:nvSpPr>
        <p:spPr bwMode="auto">
          <a:xfrm>
            <a:off x="5564100" y="1184008"/>
            <a:ext cx="31779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Wingdings" pitchFamily="2" charset="2"/>
              <a:buNone/>
            </a:pP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m</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电子质量</a:t>
            </a:r>
          </a:p>
          <a:p>
            <a:pPr marL="342900" indent="-342900">
              <a:buFont typeface="Wingdings" pitchFamily="2" charset="2"/>
              <a:buNone/>
            </a:pP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v</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电子逸出初速度</a:t>
            </a:r>
          </a:p>
        </p:txBody>
      </p:sp>
      <p:sp>
        <p:nvSpPr>
          <p:cNvPr id="2" name="Slide Number Placeholder 1">
            <a:extLst>
              <a:ext uri="{FF2B5EF4-FFF2-40B4-BE49-F238E27FC236}">
                <a16:creationId xmlns:a16="http://schemas.microsoft.com/office/drawing/2014/main" id="{DBAB85C0-6F79-426C-BDB9-8D1340C38C22}"/>
              </a:ext>
            </a:extLst>
          </p:cNvPr>
          <p:cNvSpPr>
            <a:spLocks noGrp="1"/>
          </p:cNvSpPr>
          <p:nvPr>
            <p:ph type="sldNum" sz="quarter" idx="12"/>
          </p:nvPr>
        </p:nvSpPr>
        <p:spPr/>
        <p:txBody>
          <a:bodyPr/>
          <a:lstStyle/>
          <a:p>
            <a:fld id="{B53602B4-F12B-41CD-B648-531F86B2CC91}" type="slidenum">
              <a:rPr lang="zh-CN" altLang="en-US" smtClean="0"/>
              <a:t>6</a:t>
            </a:fld>
            <a:endParaRPr lang="zh-CN" altLang="en-US"/>
          </a:p>
        </p:txBody>
      </p:sp>
      <p:sp>
        <p:nvSpPr>
          <p:cNvPr id="12" name="TextBox 11">
            <a:extLst>
              <a:ext uri="{FF2B5EF4-FFF2-40B4-BE49-F238E27FC236}">
                <a16:creationId xmlns:a16="http://schemas.microsoft.com/office/drawing/2014/main" id="{7B34B01B-3C27-4989-A7CA-BEF01D584495}"/>
              </a:ext>
            </a:extLst>
          </p:cNvPr>
          <p:cNvSpPr txBox="1"/>
          <p:nvPr/>
        </p:nvSpPr>
        <p:spPr>
          <a:xfrm>
            <a:off x="4505974" y="1964024"/>
            <a:ext cx="935976" cy="369332"/>
          </a:xfrm>
          <a:prstGeom prst="rect">
            <a:avLst/>
          </a:prstGeom>
          <a:noFill/>
        </p:spPr>
        <p:txBody>
          <a:bodyPr wrap="square">
            <a:spAutoFit/>
          </a:bodyPr>
          <a:lstStyle/>
          <a:p>
            <a:r>
              <a:rPr lang="zh-CN" altLang="en-US" sz="1800" b="1">
                <a:solidFill>
                  <a:schemeClr val="tx1"/>
                </a:solidFill>
                <a:latin typeface="宋体" pitchFamily="2" charset="-122"/>
                <a:ea typeface="宋体" pitchFamily="2" charset="-122"/>
              </a:rPr>
              <a:t>逸出功</a:t>
            </a:r>
            <a:endParaRPr lang="en-001" b="1"/>
          </a:p>
        </p:txBody>
      </p:sp>
      <p:sp>
        <p:nvSpPr>
          <p:cNvPr id="14" name="TextBox 13">
            <a:extLst>
              <a:ext uri="{FF2B5EF4-FFF2-40B4-BE49-F238E27FC236}">
                <a16:creationId xmlns:a16="http://schemas.microsoft.com/office/drawing/2014/main" id="{A809A7D2-0D98-4075-A43C-7DA4A588D474}"/>
              </a:ext>
            </a:extLst>
          </p:cNvPr>
          <p:cNvSpPr txBox="1"/>
          <p:nvPr/>
        </p:nvSpPr>
        <p:spPr>
          <a:xfrm>
            <a:off x="1727250" y="1964024"/>
            <a:ext cx="665162" cy="369332"/>
          </a:xfrm>
          <a:prstGeom prst="rect">
            <a:avLst/>
          </a:prstGeom>
          <a:noFill/>
        </p:spPr>
        <p:txBody>
          <a:bodyPr wrap="square">
            <a:spAutoFit/>
          </a:bodyPr>
          <a:lstStyle/>
          <a:p>
            <a:r>
              <a:rPr lang="zh-CN" altLang="en-US" sz="1800" b="1">
                <a:solidFill>
                  <a:schemeClr val="tx1"/>
                </a:solidFill>
                <a:latin typeface="宋体" pitchFamily="2" charset="-122"/>
                <a:ea typeface="宋体" pitchFamily="2" charset="-122"/>
              </a:rPr>
              <a:t>动能</a:t>
            </a:r>
            <a:endParaRPr lang="en-001" b="1"/>
          </a:p>
        </p:txBody>
      </p:sp>
    </p:spTree>
    <p:extLst>
      <p:ext uri="{BB962C8B-B14F-4D97-AF65-F5344CB8AC3E}">
        <p14:creationId xmlns:p14="http://schemas.microsoft.com/office/powerpoint/2010/main" val="1369961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7.1</a:t>
            </a: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光电效应</a:t>
            </a:r>
          </a:p>
        </p:txBody>
      </p:sp>
      <p:sp>
        <p:nvSpPr>
          <p:cNvPr id="19" name="Text Box 4"/>
          <p:cNvSpPr txBox="1">
            <a:spLocks noChangeArrowheads="1"/>
          </p:cNvSpPr>
          <p:nvPr/>
        </p:nvSpPr>
        <p:spPr bwMode="auto">
          <a:xfrm>
            <a:off x="185083" y="1323940"/>
            <a:ext cx="8958917" cy="2208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ct val="140000"/>
              </a:lnSpc>
              <a:spcBef>
                <a:spcPct val="10000"/>
              </a:spcBef>
              <a:buClrTx/>
            </a:pPr>
            <a:r>
              <a:rPr lang="en-US" altLang="zh-CN" sz="2400" dirty="0">
                <a:solidFill>
                  <a:schemeClr val="tx1"/>
                </a:solidFill>
              </a:rPr>
              <a:t>7.1.2  </a:t>
            </a:r>
            <a:r>
              <a:rPr lang="zh-CN" altLang="en-US" sz="2400" dirty="0">
                <a:solidFill>
                  <a:srgbClr val="D60093"/>
                </a:solidFill>
                <a:latin typeface="宋体" pitchFamily="2" charset="-122"/>
                <a:ea typeface="宋体" pitchFamily="2" charset="-122"/>
              </a:rPr>
              <a:t>内光电效应</a:t>
            </a:r>
          </a:p>
          <a:p>
            <a:pPr eaLnBrk="1" hangingPunct="1">
              <a:lnSpc>
                <a:spcPct val="140000"/>
              </a:lnSpc>
              <a:spcBef>
                <a:spcPct val="10000"/>
              </a:spcBef>
              <a:buFont typeface="Wingdings" pitchFamily="2" charset="2"/>
              <a:buNone/>
            </a:pPr>
            <a:r>
              <a:rPr lang="zh-CN" altLang="en-US" sz="2400">
                <a:solidFill>
                  <a:srgbClr val="3333CC"/>
                </a:solidFill>
              </a:rPr>
              <a:t>在</a:t>
            </a:r>
            <a:r>
              <a:rPr lang="zh-CN" altLang="en-US" sz="2400" dirty="0">
                <a:solidFill>
                  <a:srgbClr val="3333CC"/>
                </a:solidFill>
              </a:rPr>
              <a:t>光的照射下，</a:t>
            </a:r>
            <a:r>
              <a:rPr lang="zh-CN" altLang="en-US" sz="2400" dirty="0">
                <a:solidFill>
                  <a:srgbClr val="C00000"/>
                </a:solidFill>
              </a:rPr>
              <a:t>材料的电阻率发生改变</a:t>
            </a:r>
            <a:r>
              <a:rPr lang="zh-CN" altLang="en-US" sz="2400" dirty="0">
                <a:solidFill>
                  <a:schemeClr val="tx1"/>
                </a:solidFill>
              </a:rPr>
              <a:t>的现象。</a:t>
            </a:r>
            <a:r>
              <a:rPr lang="zh-CN" altLang="en-US" sz="2400" dirty="0">
                <a:solidFill>
                  <a:srgbClr val="C00000"/>
                </a:solidFill>
              </a:rPr>
              <a:t>光敏</a:t>
            </a:r>
            <a:r>
              <a:rPr lang="zh-CN" altLang="en-US" sz="2400">
                <a:solidFill>
                  <a:srgbClr val="C00000"/>
                </a:solidFill>
              </a:rPr>
              <a:t>电阻</a:t>
            </a:r>
            <a:r>
              <a:rPr lang="zh-CN" altLang="en-US" sz="2400">
                <a:solidFill>
                  <a:schemeClr val="tx1"/>
                </a:solidFill>
              </a:rPr>
              <a:t>属</a:t>
            </a:r>
            <a:r>
              <a:rPr lang="zh-CN" altLang="en-US" sz="2400" dirty="0">
                <a:solidFill>
                  <a:schemeClr val="tx1"/>
                </a:solidFill>
              </a:rPr>
              <a:t>此类。</a:t>
            </a:r>
          </a:p>
          <a:p>
            <a:pPr eaLnBrk="1" hangingPunct="1">
              <a:lnSpc>
                <a:spcPct val="140000"/>
              </a:lnSpc>
              <a:spcBef>
                <a:spcPct val="10000"/>
              </a:spcBef>
            </a:pPr>
            <a:r>
              <a:rPr lang="en-US" altLang="zh-CN" sz="2400" dirty="0">
                <a:solidFill>
                  <a:schemeClr val="tx1"/>
                </a:solidFill>
              </a:rPr>
              <a:t>7.1.3  </a:t>
            </a:r>
            <a:r>
              <a:rPr lang="zh-CN" altLang="en-US" sz="2400" dirty="0">
                <a:solidFill>
                  <a:srgbClr val="D60093"/>
                </a:solidFill>
                <a:latin typeface="宋体" pitchFamily="2" charset="-122"/>
                <a:ea typeface="宋体" pitchFamily="2" charset="-122"/>
              </a:rPr>
              <a:t>光生伏特效应</a:t>
            </a:r>
          </a:p>
          <a:p>
            <a:pPr eaLnBrk="1" hangingPunct="1">
              <a:lnSpc>
                <a:spcPct val="140000"/>
              </a:lnSpc>
              <a:spcBef>
                <a:spcPct val="10000"/>
              </a:spcBef>
              <a:buFont typeface="Wingdings" pitchFamily="2" charset="2"/>
              <a:buNone/>
            </a:pPr>
            <a:r>
              <a:rPr lang="zh-CN" altLang="en-US" sz="2400">
                <a:solidFill>
                  <a:schemeClr val="tx1"/>
                </a:solidFill>
              </a:rPr>
              <a:t>利</a:t>
            </a:r>
            <a:r>
              <a:rPr lang="zh-CN" altLang="en-US" sz="2400" dirty="0">
                <a:solidFill>
                  <a:schemeClr val="tx1"/>
                </a:solidFill>
              </a:rPr>
              <a:t>用光势垒</a:t>
            </a:r>
            <a:r>
              <a:rPr lang="zh-CN" altLang="en-US" sz="2400">
                <a:solidFill>
                  <a:schemeClr val="tx1"/>
                </a:solidFill>
              </a:rPr>
              <a:t>效应：</a:t>
            </a:r>
            <a:r>
              <a:rPr lang="zh-CN" altLang="en-US" sz="2400">
                <a:solidFill>
                  <a:srgbClr val="3333CC"/>
                </a:solidFill>
              </a:rPr>
              <a:t>在</a:t>
            </a:r>
            <a:r>
              <a:rPr lang="zh-CN" altLang="en-US" sz="2400" dirty="0">
                <a:solidFill>
                  <a:srgbClr val="3333CC"/>
                </a:solidFill>
              </a:rPr>
              <a:t>光的照射下</a:t>
            </a:r>
            <a:r>
              <a:rPr lang="zh-CN" altLang="en-US" sz="2400" dirty="0">
                <a:solidFill>
                  <a:schemeClr val="tx1"/>
                </a:solidFill>
              </a:rPr>
              <a:t>，</a:t>
            </a:r>
            <a:r>
              <a:rPr lang="zh-CN" altLang="en-US" sz="2400" dirty="0">
                <a:solidFill>
                  <a:srgbClr val="C00000"/>
                </a:solidFill>
              </a:rPr>
              <a:t>物体内部产生一定方向的电势。</a:t>
            </a:r>
          </a:p>
        </p:txBody>
      </p:sp>
      <p:sp>
        <p:nvSpPr>
          <p:cNvPr id="21" name="Text Box 20"/>
          <p:cNvSpPr txBox="1">
            <a:spLocks noChangeArrowheads="1"/>
          </p:cNvSpPr>
          <p:nvPr/>
        </p:nvSpPr>
        <p:spPr bwMode="auto">
          <a:xfrm>
            <a:off x="2162405" y="5781065"/>
            <a:ext cx="49128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spcBef>
                <a:spcPct val="50000"/>
              </a:spcBef>
              <a:buFont typeface="Wingdings" pitchFamily="2" charset="2"/>
              <a:buNone/>
            </a:pPr>
            <a:r>
              <a:rPr lang="zh-CN" altLang="en-US" sz="2400" dirty="0">
                <a:solidFill>
                  <a:schemeClr val="tx1"/>
                </a:solidFill>
              </a:rPr>
              <a:t>光电效应是</a:t>
            </a:r>
            <a:r>
              <a:rPr lang="zh-CN" altLang="en-US" sz="2400" dirty="0">
                <a:solidFill>
                  <a:srgbClr val="FF0000"/>
                </a:solidFill>
              </a:rPr>
              <a:t>瞬时</a:t>
            </a:r>
            <a:r>
              <a:rPr lang="zh-CN" altLang="en-US" sz="2400" dirty="0">
                <a:solidFill>
                  <a:schemeClr val="tx1"/>
                </a:solidFill>
              </a:rPr>
              <a:t>的，约</a:t>
            </a:r>
            <a:r>
              <a:rPr lang="en-US" altLang="zh-CN" sz="2400" dirty="0">
                <a:solidFill>
                  <a:srgbClr val="FF0000"/>
                </a:solidFill>
                <a:latin typeface="Times New Roman" pitchFamily="18" charset="0"/>
              </a:rPr>
              <a:t>&lt;3×10</a:t>
            </a:r>
            <a:r>
              <a:rPr lang="en-US" altLang="zh-CN" sz="2400" baseline="30000" dirty="0">
                <a:solidFill>
                  <a:srgbClr val="FF0000"/>
                </a:solidFill>
                <a:latin typeface="Times New Roman" pitchFamily="18" charset="0"/>
              </a:rPr>
              <a:t>-9</a:t>
            </a:r>
            <a:r>
              <a:rPr lang="en-US" altLang="zh-CN" sz="2400" dirty="0">
                <a:solidFill>
                  <a:srgbClr val="FF0000"/>
                </a:solidFill>
                <a:latin typeface="Times New Roman" pitchFamily="18" charset="0"/>
              </a:rPr>
              <a:t>s</a:t>
            </a:r>
            <a:r>
              <a:rPr lang="zh-CN" altLang="en-US" sz="2400" dirty="0">
                <a:solidFill>
                  <a:schemeClr val="tx1"/>
                </a:solidFill>
              </a:rPr>
              <a:t> 。</a:t>
            </a:r>
            <a:endParaRPr lang="en-US" altLang="zh-CN" sz="2400" dirty="0">
              <a:solidFill>
                <a:srgbClr val="FF0000"/>
              </a:solidFill>
              <a:latin typeface="Times New Roman" pitchFamily="18" charset="0"/>
            </a:endParaRPr>
          </a:p>
        </p:txBody>
      </p:sp>
      <p:sp>
        <p:nvSpPr>
          <p:cNvPr id="2" name="Slide Number Placeholder 1">
            <a:extLst>
              <a:ext uri="{FF2B5EF4-FFF2-40B4-BE49-F238E27FC236}">
                <a16:creationId xmlns:a16="http://schemas.microsoft.com/office/drawing/2014/main" id="{50B232A8-944A-4EA8-81B9-9B1B95B9F12B}"/>
              </a:ext>
            </a:extLst>
          </p:cNvPr>
          <p:cNvSpPr>
            <a:spLocks noGrp="1"/>
          </p:cNvSpPr>
          <p:nvPr>
            <p:ph type="sldNum" sz="quarter" idx="12"/>
          </p:nvPr>
        </p:nvSpPr>
        <p:spPr/>
        <p:txBody>
          <a:bodyPr/>
          <a:lstStyle/>
          <a:p>
            <a:fld id="{B53602B4-F12B-41CD-B648-531F86B2CC91}" type="slidenum">
              <a:rPr lang="zh-CN" altLang="en-US" smtClean="0"/>
              <a:t>7</a:t>
            </a:fld>
            <a:endParaRPr lang="zh-CN" altLang="en-US"/>
          </a:p>
        </p:txBody>
      </p:sp>
      <p:sp>
        <p:nvSpPr>
          <p:cNvPr id="8" name="Text Box 130">
            <a:extLst>
              <a:ext uri="{FF2B5EF4-FFF2-40B4-BE49-F238E27FC236}">
                <a16:creationId xmlns:a16="http://schemas.microsoft.com/office/drawing/2014/main" id="{53089AD1-9EDE-4356-8451-1CF2E3D7A5EF}"/>
              </a:ext>
            </a:extLst>
          </p:cNvPr>
          <p:cNvSpPr txBox="1">
            <a:spLocks noChangeArrowheads="1"/>
          </p:cNvSpPr>
          <p:nvPr/>
        </p:nvSpPr>
        <p:spPr bwMode="auto">
          <a:xfrm>
            <a:off x="2823179" y="5004310"/>
            <a:ext cx="332839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7-1 PN</a:t>
            </a:r>
            <a:r>
              <a:rPr kumimoji="0" lang="zh-CN" altLang="en-US" b="1" dirty="0">
                <a:solidFill>
                  <a:srgbClr val="3333CC"/>
                </a:solidFill>
                <a:latin typeface="宋体" panose="02010600030101010101" pitchFamily="2" charset="-122"/>
                <a:ea typeface="宋体" panose="02010600030101010101" pitchFamily="2" charset="-122"/>
              </a:rPr>
              <a:t>结的光势垒</a:t>
            </a:r>
          </a:p>
        </p:txBody>
      </p:sp>
      <p:pic>
        <p:nvPicPr>
          <p:cNvPr id="9" name="Picture 9">
            <a:extLst>
              <a:ext uri="{FF2B5EF4-FFF2-40B4-BE49-F238E27FC236}">
                <a16:creationId xmlns:a16="http://schemas.microsoft.com/office/drawing/2014/main" id="{B0598AC3-FE20-4604-BF37-8EB55DEE62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899" y="3658588"/>
            <a:ext cx="4967043" cy="1285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668144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7.2</a:t>
            </a:r>
            <a:endParaRPr lang="en-US" sz="34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光电器件及其特性</a:t>
            </a:r>
          </a:p>
        </p:txBody>
      </p:sp>
      <p:sp>
        <p:nvSpPr>
          <p:cNvPr id="5" name="矩形 4"/>
          <p:cNvSpPr/>
          <p:nvPr/>
        </p:nvSpPr>
        <p:spPr>
          <a:xfrm>
            <a:off x="2979399" y="1920407"/>
            <a:ext cx="4401909" cy="3808733"/>
          </a:xfrm>
          <a:prstGeom prst="rect">
            <a:avLst/>
          </a:prstGeom>
        </p:spPr>
        <p:txBody>
          <a:bodyPr wrap="square" lIns="91438" tIns="45719" rIns="91438" bIns="45719">
            <a:spAutoFit/>
          </a:bodyPr>
          <a:lstStyle/>
          <a:p>
            <a:pPr>
              <a:lnSpc>
                <a:spcPct val="20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光电管与光电倍增管</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光敏电阻</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光电二极管和光电晶体管</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20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6" action="ppaction://hlinksldjump"/>
              </a:rPr>
              <a:t>光电池</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18" name="圆角矩形 72">
            <a:extLst>
              <a:ext uri="{FF2B5EF4-FFF2-40B4-BE49-F238E27FC236}">
                <a16:creationId xmlns:a16="http://schemas.microsoft.com/office/drawing/2014/main" id="{343D7C8A-72E9-4E11-82F9-04D1F37F1B07}"/>
              </a:ext>
            </a:extLst>
          </p:cNvPr>
          <p:cNvSpPr/>
          <p:nvPr/>
        </p:nvSpPr>
        <p:spPr>
          <a:xfrm rot="10800000" flipV="1">
            <a:off x="1760107" y="2183300"/>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7.2.1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19" name="圆角矩形 73">
            <a:extLst>
              <a:ext uri="{FF2B5EF4-FFF2-40B4-BE49-F238E27FC236}">
                <a16:creationId xmlns:a16="http://schemas.microsoft.com/office/drawing/2014/main" id="{7997A031-0667-4F3B-9AA0-BAB02B443096}"/>
              </a:ext>
            </a:extLst>
          </p:cNvPr>
          <p:cNvSpPr/>
          <p:nvPr/>
        </p:nvSpPr>
        <p:spPr>
          <a:xfrm rot="10800000" flipV="1">
            <a:off x="1760103" y="3135536"/>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7.2.2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0" name="圆角矩形 72">
            <a:extLst>
              <a:ext uri="{FF2B5EF4-FFF2-40B4-BE49-F238E27FC236}">
                <a16:creationId xmlns:a16="http://schemas.microsoft.com/office/drawing/2014/main" id="{343D7C8A-72E9-4E11-82F9-04D1F37F1B07}"/>
              </a:ext>
            </a:extLst>
          </p:cNvPr>
          <p:cNvSpPr/>
          <p:nvPr/>
        </p:nvSpPr>
        <p:spPr>
          <a:xfrm rot="10800000" flipV="1">
            <a:off x="1760102" y="4032451"/>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7.2.3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1" name="圆角矩形 73">
            <a:extLst>
              <a:ext uri="{FF2B5EF4-FFF2-40B4-BE49-F238E27FC236}">
                <a16:creationId xmlns:a16="http://schemas.microsoft.com/office/drawing/2014/main" id="{7997A031-0667-4F3B-9AA0-BAB02B443096}"/>
              </a:ext>
            </a:extLst>
          </p:cNvPr>
          <p:cNvSpPr/>
          <p:nvPr/>
        </p:nvSpPr>
        <p:spPr>
          <a:xfrm rot="10800000" flipV="1">
            <a:off x="1760098" y="5029714"/>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7.2.4</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514B33A7-56D0-43A3-9061-CF5BBF7C3A52}"/>
              </a:ext>
            </a:extLst>
          </p:cNvPr>
          <p:cNvSpPr>
            <a:spLocks noGrp="1"/>
          </p:cNvSpPr>
          <p:nvPr>
            <p:ph type="sldNum" sz="quarter" idx="12"/>
          </p:nvPr>
        </p:nvSpPr>
        <p:spPr/>
        <p:txBody>
          <a:bodyPr/>
          <a:lstStyle/>
          <a:p>
            <a:fld id="{B53602B4-F12B-41CD-B648-531F86B2CC91}" type="slidenum">
              <a:rPr lang="zh-CN" altLang="en-US" smtClean="0"/>
              <a:t>8</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光电管</a:t>
            </a:r>
            <a:r>
              <a:rPr lang="zh-CN" altLang="en-US" sz="3400" b="1" dirty="0">
                <a:solidFill>
                  <a:schemeClr val="bg2">
                    <a:lumMod val="75000"/>
                  </a:schemeClr>
                </a:solidFill>
                <a:latin typeface="宋体" panose="02010600030101010101" pitchFamily="2" charset="-122"/>
                <a:ea typeface="宋体" panose="02010600030101010101" pitchFamily="2" charset="-122"/>
                <a:sym typeface="+mn-ea"/>
              </a:rPr>
              <a:t>与光电倍增管</a:t>
            </a:r>
          </a:p>
        </p:txBody>
      </p:sp>
      <p:sp>
        <p:nvSpPr>
          <p:cNvPr id="33" name="Rectangle 16"/>
          <p:cNvSpPr>
            <a:spLocks noRot="1" noChangeArrowheads="1"/>
          </p:cNvSpPr>
          <p:nvPr/>
        </p:nvSpPr>
        <p:spPr bwMode="auto">
          <a:xfrm>
            <a:off x="461591" y="2095501"/>
            <a:ext cx="1795603" cy="576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55650" indent="-755650">
              <a:buFont typeface="Wingdings" pitchFamily="2" charset="2"/>
              <a:buNone/>
            </a:pPr>
            <a:r>
              <a:rPr lang="zh-CN" altLang="en-US" sz="2400" b="1" dirty="0">
                <a:latin typeface="宋体" panose="02010600030101010101" pitchFamily="2" charset="-122"/>
                <a:ea typeface="宋体" panose="02010600030101010101" pitchFamily="2" charset="-122"/>
              </a:rPr>
              <a:t>一、构造</a:t>
            </a:r>
          </a:p>
        </p:txBody>
      </p:sp>
      <p:sp>
        <p:nvSpPr>
          <p:cNvPr id="36" name="Rectangle 38"/>
          <p:cNvSpPr>
            <a:spLocks noChangeArrowheads="1"/>
          </p:cNvSpPr>
          <p:nvPr/>
        </p:nvSpPr>
        <p:spPr bwMode="auto">
          <a:xfrm>
            <a:off x="4358496" y="2442890"/>
            <a:ext cx="4560497" cy="3883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阴极受光线照射发射电子</a:t>
            </a:r>
            <a:endParaRPr lang="en-US" altLang="zh-CN" sz="2400" b="1">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具有一定电位的阳极吸引电子</a:t>
            </a:r>
            <a:endParaRPr lang="en-US" altLang="zh-CN" sz="2400" b="1">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形成空间电子流</a:t>
            </a:r>
            <a:endParaRPr lang="en-US" altLang="zh-CN" sz="2400" b="1">
              <a:latin typeface="宋体" panose="02010600030101010101" pitchFamily="2" charset="-122"/>
              <a:ea typeface="宋体" panose="02010600030101010101" pitchFamily="2" charset="-122"/>
            </a:endParaRPr>
          </a:p>
          <a:p>
            <a:pPr marL="342900" indent="-342900">
              <a:lnSpc>
                <a:spcPct val="150000"/>
              </a:lnSpc>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外接电阻，就形成正比于空间电流的电压降：</a:t>
            </a:r>
            <a:endParaRPr lang="en-US" altLang="zh-CN" sz="2400" b="1">
              <a:latin typeface="宋体" panose="02010600030101010101" pitchFamily="2" charset="-122"/>
              <a:ea typeface="宋体" panose="02010600030101010101" pitchFamily="2" charset="-122"/>
            </a:endParaRPr>
          </a:p>
          <a:p>
            <a:pPr>
              <a:lnSpc>
                <a:spcPct val="150000"/>
              </a:lnSpc>
            </a:pPr>
            <a:r>
              <a:rPr lang="en-US" altLang="zh-CN" sz="2400" b="1">
                <a:latin typeface="宋体" panose="02010600030101010101" pitchFamily="2" charset="-122"/>
                <a:ea typeface="宋体" panose="02010600030101010101" pitchFamily="2" charset="-122"/>
              </a:rPr>
              <a:t>    </a:t>
            </a:r>
            <a:r>
              <a:rPr lang="zh-CN" altLang="en-US" sz="2400" b="1">
                <a:latin typeface="宋体" panose="02010600030101010101" pitchFamily="2" charset="-122"/>
                <a:ea typeface="宋体" panose="02010600030101010101" pitchFamily="2" charset="-122"/>
              </a:rPr>
              <a:t> </a:t>
            </a:r>
            <a:r>
              <a:rPr lang="en-US" altLang="zh-CN" sz="2400" b="1">
                <a:solidFill>
                  <a:srgbClr val="3333CC"/>
                </a:solidFill>
                <a:latin typeface="宋体" panose="02010600030101010101" pitchFamily="2" charset="-122"/>
                <a:ea typeface="宋体" panose="02010600030101010101" pitchFamily="2" charset="-122"/>
              </a:rPr>
              <a:t>f</a:t>
            </a:r>
            <a:r>
              <a:rPr lang="en-US" altLang="zh-CN" sz="2400" b="1">
                <a:latin typeface="宋体" panose="02010600030101010101" pitchFamily="2" charset="-122"/>
                <a:ea typeface="宋体" panose="02010600030101010101" pitchFamily="2" charset="-122"/>
              </a:rPr>
              <a:t>(</a:t>
            </a:r>
            <a:r>
              <a:rPr lang="zh-CN" altLang="en-US" sz="2400" b="1" i="1">
                <a:solidFill>
                  <a:srgbClr val="3333CC"/>
                </a:solidFill>
                <a:latin typeface="宋体" panose="02010600030101010101" pitchFamily="2" charset="-122"/>
                <a:ea typeface="宋体" panose="02010600030101010101" pitchFamily="2" charset="-122"/>
              </a:rPr>
              <a:t>阴极上光亮度</a:t>
            </a:r>
            <a:r>
              <a:rPr lang="en-US" altLang="zh-CN" sz="2400" b="1">
                <a:latin typeface="宋体" panose="02010600030101010101" pitchFamily="2" charset="-122"/>
                <a:ea typeface="宋体" panose="02010600030101010101" pitchFamily="2" charset="-122"/>
              </a:rPr>
              <a:t>)</a:t>
            </a:r>
          </a:p>
          <a:p>
            <a:pPr marL="342900" indent="-342900">
              <a:lnSpc>
                <a:spcPct val="150000"/>
              </a:lnSpc>
              <a:buFont typeface="Arial" panose="020B0604020202020204" pitchFamily="34" charset="0"/>
              <a:buChar char="•"/>
            </a:pPr>
            <a:endParaRPr lang="zh-CN" altLang="en-US" sz="2400" b="1" dirty="0">
              <a:latin typeface="宋体" panose="02010600030101010101" pitchFamily="2" charset="-122"/>
              <a:ea typeface="宋体" panose="02010600030101010101" pitchFamily="2" charset="-122"/>
            </a:endParaRPr>
          </a:p>
        </p:txBody>
      </p:sp>
      <p:sp>
        <p:nvSpPr>
          <p:cNvPr id="37" name="文本框 3"/>
          <p:cNvSpPr txBox="1"/>
          <p:nvPr/>
        </p:nvSpPr>
        <p:spPr>
          <a:xfrm>
            <a:off x="1571711" y="1539831"/>
            <a:ext cx="6359325"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Photoelectric Tube (Phototube)</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4EF3A313-C8C8-475A-BB39-14D31BE8ED69}"/>
              </a:ext>
            </a:extLst>
          </p:cNvPr>
          <p:cNvSpPr>
            <a:spLocks noGrp="1"/>
          </p:cNvSpPr>
          <p:nvPr>
            <p:ph type="sldNum" sz="quarter" idx="12"/>
          </p:nvPr>
        </p:nvSpPr>
        <p:spPr/>
        <p:txBody>
          <a:bodyPr/>
          <a:lstStyle/>
          <a:p>
            <a:fld id="{B53602B4-F12B-41CD-B648-531F86B2CC91}" type="slidenum">
              <a:rPr lang="zh-CN" altLang="en-US" smtClean="0"/>
              <a:t>9</a:t>
            </a:fld>
            <a:endParaRPr lang="zh-CN" altLang="en-US"/>
          </a:p>
        </p:txBody>
      </p:sp>
      <p:sp>
        <p:nvSpPr>
          <p:cNvPr id="24" name="Text Box 131">
            <a:extLst>
              <a:ext uri="{FF2B5EF4-FFF2-40B4-BE49-F238E27FC236}">
                <a16:creationId xmlns:a16="http://schemas.microsoft.com/office/drawing/2014/main" id="{914AAAF9-DEE2-4DE3-AFDD-720C26D2DF90}"/>
              </a:ext>
            </a:extLst>
          </p:cNvPr>
          <p:cNvSpPr txBox="1">
            <a:spLocks noChangeArrowheads="1"/>
          </p:cNvSpPr>
          <p:nvPr/>
        </p:nvSpPr>
        <p:spPr bwMode="auto">
          <a:xfrm>
            <a:off x="185083" y="5518174"/>
            <a:ext cx="388843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 </a:t>
            </a:r>
            <a:r>
              <a:rPr kumimoji="0" lang="zh-CN" altLang="en-US" b="1" dirty="0">
                <a:solidFill>
                  <a:srgbClr val="3333CC"/>
                </a:solidFill>
                <a:latin typeface="宋体" panose="02010600030101010101" pitchFamily="2" charset="-122"/>
                <a:ea typeface="宋体" panose="02010600030101010101" pitchFamily="2" charset="-122"/>
              </a:rPr>
              <a:t>光电管的典型结构图</a:t>
            </a:r>
          </a:p>
        </p:txBody>
      </p:sp>
      <p:graphicFrame>
        <p:nvGraphicFramePr>
          <p:cNvPr id="25" name="Object 132">
            <a:extLst>
              <a:ext uri="{FF2B5EF4-FFF2-40B4-BE49-F238E27FC236}">
                <a16:creationId xmlns:a16="http://schemas.microsoft.com/office/drawing/2014/main" id="{91A56CF2-A072-4A5B-8547-D4DFC222B4DA}"/>
              </a:ext>
            </a:extLst>
          </p:cNvPr>
          <p:cNvGraphicFramePr>
            <a:graphicFrameLocks noChangeAspect="1"/>
          </p:cNvGraphicFramePr>
          <p:nvPr>
            <p:extLst>
              <p:ext uri="{D42A27DB-BD31-4B8C-83A1-F6EECF244321}">
                <p14:modId xmlns:p14="http://schemas.microsoft.com/office/powerpoint/2010/main" val="447677608"/>
              </p:ext>
            </p:extLst>
          </p:nvPr>
        </p:nvGraphicFramePr>
        <p:xfrm>
          <a:off x="386315" y="2870617"/>
          <a:ext cx="3635503" cy="2196450"/>
        </p:xfrm>
        <a:graphic>
          <a:graphicData uri="http://schemas.openxmlformats.org/presentationml/2006/ole">
            <mc:AlternateContent xmlns:mc="http://schemas.openxmlformats.org/markup-compatibility/2006">
              <mc:Choice xmlns:v="urn:schemas-microsoft-com:vml" Requires="v">
                <p:oleObj name="Image" r:id="rId3" imgW="14400000" imgH="8698776" progId="Photoshop.Image.7">
                  <p:embed/>
                </p:oleObj>
              </mc:Choice>
              <mc:Fallback>
                <p:oleObj name="Image" r:id="rId3" imgW="14400000" imgH="8698776" progId="Photoshop.Image.7">
                  <p:embed/>
                  <p:pic>
                    <p:nvPicPr>
                      <p:cNvPr id="25" name="Object 132">
                        <a:extLst>
                          <a:ext uri="{FF2B5EF4-FFF2-40B4-BE49-F238E27FC236}">
                            <a16:creationId xmlns:a16="http://schemas.microsoft.com/office/drawing/2014/main" id="{91A56CF2-A072-4A5B-8547-D4DFC222B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15" y="2870617"/>
                        <a:ext cx="3635503" cy="21964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7367727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光电管</a:t>
            </a:r>
            <a:r>
              <a:rPr lang="zh-CN" altLang="en-US" sz="3400" b="1" dirty="0">
                <a:solidFill>
                  <a:schemeClr val="bg2">
                    <a:lumMod val="75000"/>
                  </a:schemeClr>
                </a:solidFill>
                <a:latin typeface="宋体" panose="02010600030101010101" pitchFamily="2" charset="-122"/>
                <a:ea typeface="宋体" panose="02010600030101010101" pitchFamily="2" charset="-122"/>
                <a:sym typeface="+mn-ea"/>
              </a:rPr>
              <a:t>与光电倍增管</a:t>
            </a:r>
          </a:p>
        </p:txBody>
      </p:sp>
      <p:sp>
        <p:nvSpPr>
          <p:cNvPr id="36" name="Rectangle 38"/>
          <p:cNvSpPr>
            <a:spLocks noChangeArrowheads="1"/>
          </p:cNvSpPr>
          <p:nvPr/>
        </p:nvSpPr>
        <p:spPr bwMode="auto">
          <a:xfrm>
            <a:off x="4834666" y="2740818"/>
            <a:ext cx="3926810" cy="3329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lnSpc>
                <a:spcPct val="150000"/>
              </a:lnSpc>
              <a:buFont typeface="Wingdings" pitchFamily="2" charset="2"/>
              <a:buAutoNum type="arabicPeriod"/>
            </a:pPr>
            <a:r>
              <a:rPr lang="zh-CN" altLang="en-US" sz="2400" b="1">
                <a:latin typeface="宋体" panose="02010600030101010101" pitchFamily="2" charset="-122"/>
                <a:ea typeface="宋体" panose="02010600030101010101" pitchFamily="2" charset="-122"/>
              </a:rPr>
              <a:t>光</a:t>
            </a:r>
            <a:r>
              <a:rPr lang="zh-CN" altLang="en-US" sz="2400" b="1" dirty="0">
                <a:latin typeface="宋体" panose="02010600030101010101" pitchFamily="2" charset="-122"/>
                <a:ea typeface="宋体" panose="02010600030101010101" pitchFamily="2" charset="-122"/>
              </a:rPr>
              <a:t>电</a:t>
            </a:r>
            <a:r>
              <a:rPr lang="zh-CN" altLang="en-US" sz="2400" b="1">
                <a:latin typeface="宋体" panose="02010600030101010101" pitchFamily="2" charset="-122"/>
                <a:ea typeface="宋体" panose="02010600030101010101" pitchFamily="2" charset="-122"/>
              </a:rPr>
              <a:t>特性</a:t>
            </a:r>
            <a:endParaRPr lang="en-US" altLang="zh-CN" sz="2400" b="1">
              <a:latin typeface="宋体" panose="02010600030101010101" pitchFamily="2" charset="-122"/>
              <a:ea typeface="宋体" panose="02010600030101010101" pitchFamily="2" charset="-122"/>
            </a:endParaRPr>
          </a:p>
          <a:p>
            <a:pPr>
              <a:lnSpc>
                <a:spcPct val="150000"/>
              </a:lnSpc>
            </a:pPr>
            <a:r>
              <a:rPr lang="zh-CN" altLang="en-US" sz="2400" b="1">
                <a:latin typeface="宋体" panose="02010600030101010101" pitchFamily="2" charset="-122"/>
                <a:ea typeface="宋体" panose="02010600030101010101" pitchFamily="2" charset="-122"/>
              </a:rPr>
              <a:t>当</a:t>
            </a:r>
            <a:r>
              <a:rPr lang="zh-CN" altLang="en-US" sz="2400" b="1" dirty="0">
                <a:latin typeface="宋体" panose="02010600030101010101" pitchFamily="2" charset="-122"/>
                <a:ea typeface="宋体" panose="02010600030101010101" pitchFamily="2" charset="-122"/>
              </a:rPr>
              <a:t>光电管的阳级电压一定时，阳极电流</a:t>
            </a:r>
            <a:r>
              <a:rPr lang="en-US" altLang="zh-CN" sz="2400" b="1" i="1" dirty="0">
                <a:solidFill>
                  <a:srgbClr val="FF0000"/>
                </a:solidFill>
                <a:latin typeface="宋体" panose="02010600030101010101" pitchFamily="2" charset="-122"/>
                <a:ea typeface="宋体" panose="02010600030101010101" pitchFamily="2" charset="-122"/>
              </a:rPr>
              <a:t>I</a:t>
            </a:r>
            <a:r>
              <a:rPr lang="zh-CN" altLang="en-US" sz="2400" b="1" dirty="0">
                <a:latin typeface="宋体" panose="02010600030101010101" pitchFamily="2" charset="-122"/>
                <a:ea typeface="宋体" panose="02010600030101010101" pitchFamily="2" charset="-122"/>
              </a:rPr>
              <a:t>与入射在阴极上光通</a:t>
            </a:r>
            <a:r>
              <a:rPr lang="zh-CN" altLang="en-US" sz="2400" b="1">
                <a:latin typeface="宋体" panose="02010600030101010101" pitchFamily="2" charset="-122"/>
                <a:ea typeface="宋体" panose="02010600030101010101" pitchFamily="2" charset="-122"/>
              </a:rPr>
              <a:t>量</a:t>
            </a:r>
            <a:r>
              <a:rPr lang="en-US" altLang="zh-CN" sz="2400" b="1" i="1">
                <a:solidFill>
                  <a:srgbClr val="FF0000"/>
                </a:solidFill>
                <a:latin typeface="宋体" panose="02010600030101010101" pitchFamily="2" charset="-122"/>
                <a:ea typeface="宋体" panose="02010600030101010101" pitchFamily="2" charset="-122"/>
              </a:rPr>
              <a:t>φ</a:t>
            </a:r>
            <a:r>
              <a:rPr lang="zh-CN" altLang="en-US" sz="2400" b="1">
                <a:latin typeface="宋体" panose="02010600030101010101" pitchFamily="2" charset="-122"/>
                <a:ea typeface="宋体" panose="02010600030101010101" pitchFamily="2" charset="-122"/>
              </a:rPr>
              <a:t>之间为线性关系，转换灵敏度为常数、随极间电压的提高而增大。 </a:t>
            </a:r>
            <a:endParaRPr lang="zh-CN" altLang="en-US" sz="2400" b="1" dirty="0">
              <a:latin typeface="宋体" panose="02010600030101010101" pitchFamily="2" charset="-122"/>
              <a:ea typeface="宋体" panose="02010600030101010101" pitchFamily="2" charset="-122"/>
            </a:endParaRPr>
          </a:p>
        </p:txBody>
      </p:sp>
      <p:sp>
        <p:nvSpPr>
          <p:cNvPr id="3" name="矩形 2"/>
          <p:cNvSpPr/>
          <p:nvPr/>
        </p:nvSpPr>
        <p:spPr>
          <a:xfrm>
            <a:off x="382524" y="2335399"/>
            <a:ext cx="1577676" cy="461665"/>
          </a:xfrm>
          <a:prstGeom prst="rect">
            <a:avLst/>
          </a:prstGeom>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二、特性 </a:t>
            </a:r>
            <a:endParaRPr lang="zh-CN" altLang="en-US" dirty="0">
              <a:latin typeface="宋体" panose="02010600030101010101" pitchFamily="2" charset="-122"/>
              <a:ea typeface="宋体" panose="02010600030101010101" pitchFamily="2" charset="-122"/>
            </a:endParaRPr>
          </a:p>
        </p:txBody>
      </p:sp>
      <p:sp>
        <p:nvSpPr>
          <p:cNvPr id="37" name="文本框 3"/>
          <p:cNvSpPr txBox="1"/>
          <p:nvPr/>
        </p:nvSpPr>
        <p:spPr>
          <a:xfrm>
            <a:off x="1571711" y="1539831"/>
            <a:ext cx="6359325"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Photoelectric Tube (Phototube)</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4EF3A313-C8C8-475A-BB39-14D31BE8ED69}"/>
              </a:ext>
            </a:extLst>
          </p:cNvPr>
          <p:cNvSpPr>
            <a:spLocks noGrp="1"/>
          </p:cNvSpPr>
          <p:nvPr>
            <p:ph type="sldNum" sz="quarter" idx="12"/>
          </p:nvPr>
        </p:nvSpPr>
        <p:spPr/>
        <p:txBody>
          <a:bodyPr/>
          <a:lstStyle/>
          <a:p>
            <a:fld id="{B53602B4-F12B-41CD-B648-531F86B2CC91}" type="slidenum">
              <a:rPr lang="zh-CN" altLang="en-US" smtClean="0"/>
              <a:t>10</a:t>
            </a:fld>
            <a:endParaRPr lang="zh-CN" altLang="en-US"/>
          </a:p>
        </p:txBody>
      </p:sp>
      <p:sp>
        <p:nvSpPr>
          <p:cNvPr id="11" name="Text Box 6">
            <a:extLst>
              <a:ext uri="{FF2B5EF4-FFF2-40B4-BE49-F238E27FC236}">
                <a16:creationId xmlns:a16="http://schemas.microsoft.com/office/drawing/2014/main" id="{948E0A0A-A8D5-4255-B73D-B080F2A0DA0B}"/>
              </a:ext>
            </a:extLst>
          </p:cNvPr>
          <p:cNvSpPr txBox="1">
            <a:spLocks noChangeArrowheads="1"/>
          </p:cNvSpPr>
          <p:nvPr/>
        </p:nvSpPr>
        <p:spPr bwMode="auto">
          <a:xfrm>
            <a:off x="404421" y="6110649"/>
            <a:ext cx="475252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7-4a </a:t>
            </a:r>
            <a:r>
              <a:rPr lang="zh-CN" altLang="en-US" sz="2400" b="1" dirty="0">
                <a:solidFill>
                  <a:srgbClr val="3333CC"/>
                </a:solidFill>
                <a:latin typeface="宋体" panose="02010600030101010101" pitchFamily="2" charset="-122"/>
                <a:ea typeface="宋体" panose="02010600030101010101" pitchFamily="2" charset="-122"/>
              </a:rPr>
              <a:t>真空光电管的光电特性</a:t>
            </a:r>
          </a:p>
        </p:txBody>
      </p:sp>
      <p:pic>
        <p:nvPicPr>
          <p:cNvPr id="12" name="Picture 2">
            <a:extLst>
              <a:ext uri="{FF2B5EF4-FFF2-40B4-BE49-F238E27FC236}">
                <a16:creationId xmlns:a16="http://schemas.microsoft.com/office/drawing/2014/main" id="{AF4FF532-33E0-4B95-BBE5-CFF6464277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56" y="3130967"/>
            <a:ext cx="3482975" cy="254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光电管</a:t>
            </a:r>
            <a:r>
              <a:rPr lang="zh-CN" altLang="en-US" sz="3400" b="1" dirty="0">
                <a:solidFill>
                  <a:schemeClr val="bg2">
                    <a:lumMod val="75000"/>
                  </a:schemeClr>
                </a:solidFill>
                <a:latin typeface="宋体" panose="02010600030101010101" pitchFamily="2" charset="-122"/>
                <a:ea typeface="宋体" panose="02010600030101010101" pitchFamily="2" charset="-122"/>
                <a:sym typeface="+mn-ea"/>
              </a:rPr>
              <a:t>与光电倍增管</a:t>
            </a:r>
          </a:p>
        </p:txBody>
      </p:sp>
      <p:sp>
        <p:nvSpPr>
          <p:cNvPr id="3" name="矩形 2"/>
          <p:cNvSpPr/>
          <p:nvPr/>
        </p:nvSpPr>
        <p:spPr>
          <a:xfrm>
            <a:off x="382524" y="2335399"/>
            <a:ext cx="1577676" cy="461665"/>
          </a:xfrm>
          <a:prstGeom prst="rect">
            <a:avLst/>
          </a:prstGeom>
        </p:spPr>
        <p:txBody>
          <a:bodyPr wrap="none">
            <a:spAutoFit/>
          </a:bodyPr>
          <a:lstStyle/>
          <a:p>
            <a:r>
              <a:rPr lang="zh-CN" altLang="en-US" sz="2400" b="1" dirty="0">
                <a:solidFill>
                  <a:prstClr val="black"/>
                </a:solidFill>
                <a:latin typeface="宋体" panose="02010600030101010101" pitchFamily="2" charset="-122"/>
                <a:ea typeface="宋体" panose="02010600030101010101" pitchFamily="2" charset="-122"/>
              </a:rPr>
              <a:t>二、特性 </a:t>
            </a:r>
            <a:endParaRPr lang="zh-CN" altLang="en-US" dirty="0">
              <a:latin typeface="宋体" panose="02010600030101010101" pitchFamily="2" charset="-122"/>
              <a:ea typeface="宋体" panose="02010600030101010101" pitchFamily="2" charset="-122"/>
            </a:endParaRPr>
          </a:p>
        </p:txBody>
      </p:sp>
      <p:sp>
        <p:nvSpPr>
          <p:cNvPr id="37" name="文本框 3"/>
          <p:cNvSpPr txBox="1"/>
          <p:nvPr/>
        </p:nvSpPr>
        <p:spPr>
          <a:xfrm>
            <a:off x="1571711" y="1539831"/>
            <a:ext cx="6359325"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Photoelectric Tube (Phototube)</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4EF3A313-C8C8-475A-BB39-14D31BE8ED69}"/>
              </a:ext>
            </a:extLst>
          </p:cNvPr>
          <p:cNvSpPr>
            <a:spLocks noGrp="1"/>
          </p:cNvSpPr>
          <p:nvPr>
            <p:ph type="sldNum" sz="quarter" idx="12"/>
          </p:nvPr>
        </p:nvSpPr>
        <p:spPr/>
        <p:txBody>
          <a:bodyPr/>
          <a:lstStyle/>
          <a:p>
            <a:fld id="{B53602B4-F12B-41CD-B648-531F86B2CC91}" type="slidenum">
              <a:rPr lang="zh-CN" altLang="en-US" smtClean="0"/>
              <a:t>11</a:t>
            </a:fld>
            <a:endParaRPr lang="zh-CN" altLang="en-US"/>
          </a:p>
        </p:txBody>
      </p:sp>
      <p:sp>
        <p:nvSpPr>
          <p:cNvPr id="11" name="Text Box 6">
            <a:extLst>
              <a:ext uri="{FF2B5EF4-FFF2-40B4-BE49-F238E27FC236}">
                <a16:creationId xmlns:a16="http://schemas.microsoft.com/office/drawing/2014/main" id="{948E0A0A-A8D5-4255-B73D-B080F2A0DA0B}"/>
              </a:ext>
            </a:extLst>
          </p:cNvPr>
          <p:cNvSpPr txBox="1">
            <a:spLocks noChangeArrowheads="1"/>
          </p:cNvSpPr>
          <p:nvPr/>
        </p:nvSpPr>
        <p:spPr bwMode="auto">
          <a:xfrm>
            <a:off x="143272" y="5958863"/>
            <a:ext cx="475252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7-4a </a:t>
            </a:r>
            <a:r>
              <a:rPr lang="zh-CN" altLang="en-US" sz="2400" b="1" dirty="0">
                <a:solidFill>
                  <a:srgbClr val="3333CC"/>
                </a:solidFill>
                <a:latin typeface="宋体" panose="02010600030101010101" pitchFamily="2" charset="-122"/>
                <a:ea typeface="宋体" panose="02010600030101010101" pitchFamily="2" charset="-122"/>
              </a:rPr>
              <a:t>真空光电管的光电特性</a:t>
            </a:r>
          </a:p>
        </p:txBody>
      </p:sp>
      <p:pic>
        <p:nvPicPr>
          <p:cNvPr id="12" name="Picture 2">
            <a:extLst>
              <a:ext uri="{FF2B5EF4-FFF2-40B4-BE49-F238E27FC236}">
                <a16:creationId xmlns:a16="http://schemas.microsoft.com/office/drawing/2014/main" id="{AF4FF532-33E0-4B95-BBE5-CFF6464277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56" y="3130967"/>
            <a:ext cx="3482975" cy="254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12">
            <a:extLst>
              <a:ext uri="{FF2B5EF4-FFF2-40B4-BE49-F238E27FC236}">
                <a16:creationId xmlns:a16="http://schemas.microsoft.com/office/drawing/2014/main" id="{5ACCDEA3-257F-4968-BD92-70045CA2B32A}"/>
              </a:ext>
            </a:extLst>
          </p:cNvPr>
          <p:cNvSpPr txBox="1">
            <a:spLocks noChangeArrowheads="1"/>
          </p:cNvSpPr>
          <p:nvPr/>
        </p:nvSpPr>
        <p:spPr bwMode="auto">
          <a:xfrm>
            <a:off x="4572000" y="5937902"/>
            <a:ext cx="471676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7-4b </a:t>
            </a:r>
            <a:r>
              <a:rPr lang="zh-CN" altLang="en-US" sz="2400" b="1" dirty="0">
                <a:solidFill>
                  <a:srgbClr val="3333CC"/>
                </a:solidFill>
                <a:latin typeface="宋体" panose="02010600030101010101" pitchFamily="2" charset="-122"/>
                <a:ea typeface="宋体" panose="02010600030101010101" pitchFamily="2" charset="-122"/>
              </a:rPr>
              <a:t>充气光电管的光电特性</a:t>
            </a:r>
          </a:p>
        </p:txBody>
      </p:sp>
      <p:pic>
        <p:nvPicPr>
          <p:cNvPr id="14" name="Picture 2">
            <a:extLst>
              <a:ext uri="{FF2B5EF4-FFF2-40B4-BE49-F238E27FC236}">
                <a16:creationId xmlns:a16="http://schemas.microsoft.com/office/drawing/2014/main" id="{B00AFC30-43C6-4E7A-9E8B-1A8B2DBFEB8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151"/>
          <a:stretch/>
        </p:blipFill>
        <p:spPr bwMode="auto">
          <a:xfrm>
            <a:off x="4330700" y="3024002"/>
            <a:ext cx="3703867" cy="2761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13">
            <a:extLst>
              <a:ext uri="{FF2B5EF4-FFF2-40B4-BE49-F238E27FC236}">
                <a16:creationId xmlns:a16="http://schemas.microsoft.com/office/drawing/2014/main" id="{2F956F19-7559-4CAB-842F-049A02B141AB}"/>
              </a:ext>
            </a:extLst>
          </p:cNvPr>
          <p:cNvSpPr txBox="1">
            <a:spLocks noChangeArrowheads="1"/>
          </p:cNvSpPr>
          <p:nvPr/>
        </p:nvSpPr>
        <p:spPr bwMode="auto">
          <a:xfrm>
            <a:off x="5491529" y="2439590"/>
            <a:ext cx="2961558" cy="1212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20000"/>
              </a:lnSpc>
              <a:spcBef>
                <a:spcPct val="10000"/>
              </a:spcBef>
              <a:buFont typeface="Arial" panose="020B0604020202020204" pitchFamily="34" charset="0"/>
              <a:buChar char="•"/>
            </a:pPr>
            <a:r>
              <a:rPr lang="zh-CN" altLang="en-US" sz="2000" b="1" dirty="0">
                <a:solidFill>
                  <a:srgbClr val="0070C0"/>
                </a:solidFill>
                <a:latin typeface="宋体" panose="02010600030101010101" pitchFamily="2" charset="-122"/>
                <a:ea typeface="宋体" panose="02010600030101010101" pitchFamily="2" charset="-122"/>
              </a:rPr>
              <a:t>灵敏度高、</a:t>
            </a:r>
          </a:p>
          <a:p>
            <a:pPr marL="342900" indent="-342900">
              <a:lnSpc>
                <a:spcPct val="120000"/>
              </a:lnSpc>
              <a:spcBef>
                <a:spcPct val="10000"/>
              </a:spcBef>
              <a:buFont typeface="Arial" panose="020B0604020202020204" pitchFamily="34" charset="0"/>
              <a:buChar char="•"/>
            </a:pPr>
            <a:r>
              <a:rPr lang="zh-CN" altLang="en-US" sz="2000" b="1" dirty="0">
                <a:solidFill>
                  <a:srgbClr val="0070C0"/>
                </a:solidFill>
                <a:latin typeface="宋体" panose="02010600030101010101" pitchFamily="2" charset="-122"/>
                <a:ea typeface="宋体" panose="02010600030101010101" pitchFamily="2" charset="-122"/>
              </a:rPr>
              <a:t>惰</a:t>
            </a:r>
            <a:r>
              <a:rPr lang="zh-CN" altLang="en-US" sz="2000" b="1">
                <a:solidFill>
                  <a:srgbClr val="0070C0"/>
                </a:solidFill>
                <a:latin typeface="宋体" panose="02010600030101010101" pitchFamily="2" charset="-122"/>
                <a:ea typeface="宋体" panose="02010600030101010101" pitchFamily="2" charset="-122"/>
              </a:rPr>
              <a:t>性大、</a:t>
            </a:r>
            <a:endParaRPr lang="en-US" altLang="zh-CN" sz="2000" b="1">
              <a:solidFill>
                <a:srgbClr val="0070C0"/>
              </a:solidFill>
              <a:latin typeface="宋体" panose="02010600030101010101" pitchFamily="2" charset="-122"/>
              <a:ea typeface="宋体" panose="02010600030101010101" pitchFamily="2" charset="-122"/>
            </a:endParaRPr>
          </a:p>
          <a:p>
            <a:pPr marL="342900" indent="-342900">
              <a:lnSpc>
                <a:spcPct val="120000"/>
              </a:lnSpc>
              <a:spcBef>
                <a:spcPct val="10000"/>
              </a:spcBef>
              <a:buFont typeface="Arial" panose="020B0604020202020204" pitchFamily="34" charset="0"/>
              <a:buChar char="•"/>
            </a:pPr>
            <a:r>
              <a:rPr lang="zh-CN" altLang="en-US" sz="2000" b="1">
                <a:solidFill>
                  <a:srgbClr val="0070C0"/>
                </a:solidFill>
                <a:latin typeface="宋体" panose="02010600030101010101" pitchFamily="2" charset="-122"/>
                <a:ea typeface="宋体" panose="02010600030101010101" pitchFamily="2" charset="-122"/>
              </a:rPr>
              <a:t>参数随极间电压变化</a:t>
            </a:r>
            <a:endParaRPr lang="zh-CN" altLang="en-US" sz="2000" b="1" dirty="0">
              <a:solidFill>
                <a:srgbClr val="0070C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5426191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光电管</a:t>
            </a:r>
            <a:r>
              <a:rPr lang="zh-CN" altLang="en-US" sz="3400" b="1" dirty="0">
                <a:solidFill>
                  <a:schemeClr val="bg2">
                    <a:lumMod val="75000"/>
                  </a:schemeClr>
                </a:solidFill>
                <a:latin typeface="宋体" panose="02010600030101010101" pitchFamily="2" charset="-122"/>
                <a:ea typeface="宋体" panose="02010600030101010101" pitchFamily="2" charset="-122"/>
                <a:sym typeface="+mn-ea"/>
              </a:rPr>
              <a:t>与光电倍增管</a:t>
            </a:r>
          </a:p>
        </p:txBody>
      </p:sp>
      <p:sp>
        <p:nvSpPr>
          <p:cNvPr id="26" name="Rectangle 4"/>
          <p:cNvSpPr>
            <a:spLocks noChangeArrowheads="1"/>
          </p:cNvSpPr>
          <p:nvPr/>
        </p:nvSpPr>
        <p:spPr bwMode="auto">
          <a:xfrm>
            <a:off x="345847" y="1154670"/>
            <a:ext cx="8575903"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buFont typeface="Wingdings" pitchFamily="2" charset="2"/>
              <a:buNone/>
            </a:pPr>
            <a:r>
              <a:rPr lang="en-US" altLang="zh-CN" sz="2400" b="1">
                <a:latin typeface="宋体" panose="02010600030101010101" pitchFamily="2" charset="-122"/>
                <a:ea typeface="宋体" panose="02010600030101010101" pitchFamily="2" charset="-122"/>
              </a:rPr>
              <a:t>2.  </a:t>
            </a:r>
            <a:r>
              <a:rPr lang="zh-CN" altLang="en-US" sz="2400" b="1">
                <a:latin typeface="宋体" panose="02010600030101010101" pitchFamily="2" charset="-122"/>
                <a:ea typeface="宋体" panose="02010600030101010101" pitchFamily="2" charset="-122"/>
              </a:rPr>
              <a:t>伏</a:t>
            </a:r>
            <a:r>
              <a:rPr lang="zh-CN" altLang="en-US" sz="2400" b="1" dirty="0">
                <a:latin typeface="宋体" panose="02010600030101010101" pitchFamily="2" charset="-122"/>
                <a:ea typeface="宋体" panose="02010600030101010101" pitchFamily="2" charset="-122"/>
              </a:rPr>
              <a:t>安</a:t>
            </a:r>
            <a:r>
              <a:rPr lang="zh-CN" altLang="en-US" sz="2400" b="1">
                <a:latin typeface="宋体" panose="02010600030101010101" pitchFamily="2" charset="-122"/>
                <a:ea typeface="宋体" panose="02010600030101010101" pitchFamily="2" charset="-122"/>
              </a:rPr>
              <a:t>特性</a:t>
            </a:r>
          </a:p>
          <a:p>
            <a:pPr indent="630238">
              <a:lnSpc>
                <a:spcPct val="150000"/>
              </a:lnSpc>
              <a:buFont typeface="Wingdings" pitchFamily="2" charset="2"/>
              <a:buNone/>
            </a:pPr>
            <a:r>
              <a:rPr lang="zh-CN" altLang="en-US" sz="2400" b="1">
                <a:latin typeface="宋体" panose="02010600030101010101" pitchFamily="2" charset="-122"/>
                <a:ea typeface="宋体" panose="02010600030101010101" pitchFamily="2" charset="-122"/>
              </a:rPr>
              <a:t>入射光的频谱及光通量一定时，阳极与阴极之间的电压同光电流的关系。</a:t>
            </a:r>
            <a:endParaRPr lang="zh-CN" altLang="en-US" sz="2400" b="1" dirty="0">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C9AB6061-AD24-42EE-8658-59FD0E04CEC2}"/>
              </a:ext>
            </a:extLst>
          </p:cNvPr>
          <p:cNvSpPr>
            <a:spLocks noGrp="1"/>
          </p:cNvSpPr>
          <p:nvPr>
            <p:ph type="sldNum" sz="quarter" idx="12"/>
          </p:nvPr>
        </p:nvSpPr>
        <p:spPr/>
        <p:txBody>
          <a:bodyPr/>
          <a:lstStyle/>
          <a:p>
            <a:fld id="{B53602B4-F12B-41CD-B648-531F86B2CC91}" type="slidenum">
              <a:rPr lang="zh-CN" altLang="en-US" smtClean="0"/>
              <a:t>12</a:t>
            </a:fld>
            <a:endParaRPr lang="zh-CN" altLang="en-US"/>
          </a:p>
        </p:txBody>
      </p:sp>
      <p:sp>
        <p:nvSpPr>
          <p:cNvPr id="8" name="Text Box 8">
            <a:extLst>
              <a:ext uri="{FF2B5EF4-FFF2-40B4-BE49-F238E27FC236}">
                <a16:creationId xmlns:a16="http://schemas.microsoft.com/office/drawing/2014/main" id="{52522723-7690-4F85-A19C-5019779C0892}"/>
              </a:ext>
            </a:extLst>
          </p:cNvPr>
          <p:cNvSpPr txBox="1">
            <a:spLocks noChangeArrowheads="1"/>
          </p:cNvSpPr>
          <p:nvPr/>
        </p:nvSpPr>
        <p:spPr bwMode="auto">
          <a:xfrm>
            <a:off x="271012" y="6155626"/>
            <a:ext cx="5057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sz="2400" b="1" dirty="0">
                <a:solidFill>
                  <a:srgbClr val="3333CC"/>
                </a:solidFill>
                <a:latin typeface="宋体" panose="02010600030101010101" pitchFamily="2" charset="-122"/>
              </a:rPr>
              <a:t>图</a:t>
            </a:r>
            <a:r>
              <a:rPr lang="en-US" altLang="zh-CN" sz="2400" b="1" dirty="0">
                <a:solidFill>
                  <a:srgbClr val="3333CC"/>
                </a:solidFill>
                <a:latin typeface="宋体" panose="02010600030101010101" pitchFamily="2" charset="-122"/>
              </a:rPr>
              <a:t>7-4c </a:t>
            </a:r>
            <a:r>
              <a:rPr lang="zh-CN" altLang="en-US" sz="2400" b="1" dirty="0">
                <a:solidFill>
                  <a:srgbClr val="3333CC"/>
                </a:solidFill>
                <a:latin typeface="宋体" panose="02010600030101010101" pitchFamily="2" charset="-122"/>
              </a:rPr>
              <a:t>真空光电管的伏安特性曲线</a:t>
            </a:r>
          </a:p>
        </p:txBody>
      </p:sp>
      <p:pic>
        <p:nvPicPr>
          <p:cNvPr id="9" name="Picture 2">
            <a:extLst>
              <a:ext uri="{FF2B5EF4-FFF2-40B4-BE49-F238E27FC236}">
                <a16:creationId xmlns:a16="http://schemas.microsoft.com/office/drawing/2014/main" id="{F423DA16-B7BF-4B79-89AE-89DFA923EF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171" y="3002329"/>
            <a:ext cx="3644900" cy="2866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7646AC0F-1EFE-4F74-BC2F-8EEF2C5076EC}"/>
              </a:ext>
            </a:extLst>
          </p:cNvPr>
          <p:cNvSpPr txBox="1"/>
          <p:nvPr/>
        </p:nvSpPr>
        <p:spPr>
          <a:xfrm>
            <a:off x="4021818" y="2540446"/>
            <a:ext cx="4883150" cy="2990242"/>
          </a:xfrm>
          <a:prstGeom prst="rect">
            <a:avLst/>
          </a:prstGeom>
          <a:noFill/>
        </p:spPr>
        <p:txBody>
          <a:bodyPr wrap="square">
            <a:spAutoFit/>
          </a:bodyPr>
          <a:lstStyle/>
          <a:p>
            <a:pPr marL="342900" indent="-342900">
              <a:lnSpc>
                <a:spcPct val="13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当阳极电压较低时，阴极所发射的电子只有一部分到达阳极，其余部分受光电子在真空中运动时所形成的负电场作用，回到光阴极。</a:t>
            </a:r>
            <a:endParaRPr lang="en-US" altLang="zh-CN" sz="2000" b="1">
              <a:latin typeface="宋体" panose="02010600030101010101" pitchFamily="2" charset="-122"/>
              <a:ea typeface="宋体" panose="02010600030101010101" pitchFamily="2" charset="-122"/>
            </a:endParaRPr>
          </a:p>
          <a:p>
            <a:pPr marL="342900" indent="-342900">
              <a:lnSpc>
                <a:spcPct val="13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随着阳极电压的增高，光电流随之增大。</a:t>
            </a:r>
            <a:endParaRPr lang="en-US" altLang="zh-CN" sz="2000" b="1">
              <a:latin typeface="宋体" panose="02010600030101010101" pitchFamily="2" charset="-122"/>
              <a:ea typeface="宋体" panose="02010600030101010101" pitchFamily="2" charset="-122"/>
            </a:endParaRPr>
          </a:p>
          <a:p>
            <a:pPr marL="342900" indent="-342900">
              <a:lnSpc>
                <a:spcPct val="130000"/>
              </a:lnSpc>
              <a:spcBef>
                <a:spcPts val="600"/>
              </a:spcBef>
              <a:buFont typeface="Arial" panose="020B0604020202020204" pitchFamily="34" charset="0"/>
              <a:buChar char="•"/>
            </a:pPr>
            <a:r>
              <a:rPr lang="zh-CN" altLang="en-US" sz="2000" b="1">
                <a:latin typeface="宋体" panose="02010600030101010101" pitchFamily="2" charset="-122"/>
                <a:ea typeface="宋体" panose="02010600030101010101" pitchFamily="2" charset="-122"/>
              </a:rPr>
              <a:t>当阴极发射的电子全部到达阳极时，阳极电流便很稳定，称为饱和状态。</a:t>
            </a:r>
            <a:endParaRPr lang="en-001" sz="2000" b="1">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068015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光电管</a:t>
            </a:r>
            <a:r>
              <a:rPr lang="zh-CN" altLang="en-US" sz="3400" b="1" dirty="0">
                <a:solidFill>
                  <a:schemeClr val="bg2">
                    <a:lumMod val="75000"/>
                  </a:schemeClr>
                </a:solidFill>
                <a:latin typeface="宋体" panose="02010600030101010101" pitchFamily="2" charset="-122"/>
                <a:ea typeface="宋体" panose="02010600030101010101" pitchFamily="2" charset="-122"/>
                <a:sym typeface="+mn-ea"/>
              </a:rPr>
              <a:t>与光电倍增管</a:t>
            </a:r>
          </a:p>
        </p:txBody>
      </p:sp>
      <p:sp>
        <p:nvSpPr>
          <p:cNvPr id="21" name="Rectangle 4"/>
          <p:cNvSpPr>
            <a:spLocks noChangeArrowheads="1"/>
          </p:cNvSpPr>
          <p:nvPr/>
        </p:nvSpPr>
        <p:spPr bwMode="auto">
          <a:xfrm>
            <a:off x="238492" y="1726737"/>
            <a:ext cx="4044366" cy="2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40000"/>
              </a:lnSpc>
              <a:buFont typeface="Wingdings" pitchFamily="2" charset="2"/>
              <a:buNone/>
            </a:pPr>
            <a:r>
              <a:rPr lang="en-US" altLang="zh-CN" sz="2400" b="1" dirty="0">
                <a:latin typeface="宋体" panose="02010600030101010101" pitchFamily="2" charset="-122"/>
                <a:ea typeface="宋体" panose="02010600030101010101" pitchFamily="2" charset="-122"/>
              </a:rPr>
              <a:t>3.  </a:t>
            </a:r>
            <a:r>
              <a:rPr lang="zh-CN" altLang="en-US" sz="2400" b="1" dirty="0">
                <a:latin typeface="宋体" panose="02010600030101010101" pitchFamily="2" charset="-122"/>
                <a:ea typeface="宋体" panose="02010600030101010101" pitchFamily="2" charset="-122"/>
              </a:rPr>
              <a:t>光谱特性</a:t>
            </a:r>
          </a:p>
          <a:p>
            <a:pPr indent="623888">
              <a:lnSpc>
                <a:spcPct val="140000"/>
              </a:lnSpc>
              <a:buFont typeface="Wingdings" pitchFamily="2" charset="2"/>
              <a:buNone/>
            </a:pPr>
            <a:r>
              <a:rPr lang="zh-CN" altLang="en-US" sz="2200" b="1" dirty="0">
                <a:solidFill>
                  <a:srgbClr val="008000"/>
                </a:solidFill>
                <a:latin typeface="宋体" panose="02010600030101010101" pitchFamily="2" charset="-122"/>
                <a:ea typeface="宋体" panose="02010600030101010101" pitchFamily="2" charset="-122"/>
              </a:rPr>
              <a:t>光阴极对光谱有选择性</a:t>
            </a:r>
            <a:r>
              <a:rPr lang="zh-CN" altLang="en-US" sz="2200" b="1" dirty="0">
                <a:latin typeface="宋体" panose="02010600030101010101" pitchFamily="2" charset="-122"/>
                <a:ea typeface="宋体" panose="02010600030101010101" pitchFamily="2" charset="-122"/>
              </a:rPr>
              <a:t>，因此光电管对光谱也有选择性。保持</a:t>
            </a:r>
            <a:r>
              <a:rPr lang="zh-CN" altLang="en-US" sz="2200" b="1" u="sng" dirty="0">
                <a:latin typeface="宋体" panose="02010600030101010101" pitchFamily="2" charset="-122"/>
                <a:ea typeface="宋体" panose="02010600030101010101" pitchFamily="2" charset="-122"/>
              </a:rPr>
              <a:t>光通量和阳极电压不变</a:t>
            </a:r>
            <a:r>
              <a:rPr lang="zh-CN" altLang="en-US" sz="2200" b="1" dirty="0">
                <a:latin typeface="宋体" panose="02010600030101010101" pitchFamily="2" charset="-122"/>
                <a:ea typeface="宋体" panose="02010600030101010101" pitchFamily="2" charset="-122"/>
              </a:rPr>
              <a:t>，</a:t>
            </a:r>
            <a:r>
              <a:rPr lang="zh-CN" altLang="en-US" sz="2200" b="1" dirty="0">
                <a:solidFill>
                  <a:srgbClr val="FF0000"/>
                </a:solidFill>
                <a:latin typeface="宋体" panose="02010600030101010101" pitchFamily="2" charset="-122"/>
                <a:ea typeface="宋体" panose="02010600030101010101" pitchFamily="2" charset="-122"/>
              </a:rPr>
              <a:t>阳极电流与光波长</a:t>
            </a:r>
            <a:r>
              <a:rPr lang="zh-CN" altLang="en-US" sz="2200" b="1" dirty="0">
                <a:latin typeface="宋体" panose="02010600030101010101" pitchFamily="2" charset="-122"/>
                <a:ea typeface="宋体" panose="02010600030101010101" pitchFamily="2" charset="-122"/>
              </a:rPr>
              <a:t>之间的关系叫光电管的光谱特性。</a:t>
            </a:r>
          </a:p>
        </p:txBody>
      </p:sp>
      <p:sp>
        <p:nvSpPr>
          <p:cNvPr id="2" name="Slide Number Placeholder 1">
            <a:extLst>
              <a:ext uri="{FF2B5EF4-FFF2-40B4-BE49-F238E27FC236}">
                <a16:creationId xmlns:a16="http://schemas.microsoft.com/office/drawing/2014/main" id="{E9DB6C54-19EF-48E5-B6C1-DB0C686504C0}"/>
              </a:ext>
            </a:extLst>
          </p:cNvPr>
          <p:cNvSpPr>
            <a:spLocks noGrp="1"/>
          </p:cNvSpPr>
          <p:nvPr>
            <p:ph type="sldNum" sz="quarter" idx="12"/>
          </p:nvPr>
        </p:nvSpPr>
        <p:spPr/>
        <p:txBody>
          <a:bodyPr/>
          <a:lstStyle/>
          <a:p>
            <a:fld id="{B53602B4-F12B-41CD-B648-531F86B2CC91}" type="slidenum">
              <a:rPr lang="zh-CN" altLang="en-US" smtClean="0"/>
              <a:t>13</a:t>
            </a:fld>
            <a:endParaRPr lang="zh-CN" altLang="en-US"/>
          </a:p>
        </p:txBody>
      </p:sp>
      <p:sp>
        <p:nvSpPr>
          <p:cNvPr id="8" name="Text Box 4">
            <a:extLst>
              <a:ext uri="{FF2B5EF4-FFF2-40B4-BE49-F238E27FC236}">
                <a16:creationId xmlns:a16="http://schemas.microsoft.com/office/drawing/2014/main" id="{3EDE3A29-B33E-470D-872F-B817C915EEF6}"/>
              </a:ext>
            </a:extLst>
          </p:cNvPr>
          <p:cNvSpPr txBox="1">
            <a:spLocks noChangeArrowheads="1"/>
          </p:cNvSpPr>
          <p:nvPr/>
        </p:nvSpPr>
        <p:spPr bwMode="auto">
          <a:xfrm>
            <a:off x="4812185" y="5417876"/>
            <a:ext cx="418368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folHlink"/>
              </a:buClr>
              <a:buFont typeface="Wingdings" pitchFamily="2" charset="2"/>
              <a:buNone/>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7-4d </a:t>
            </a:r>
            <a:r>
              <a:rPr lang="zh-CN" altLang="en-US" sz="2400" b="1" dirty="0">
                <a:solidFill>
                  <a:srgbClr val="3333CC"/>
                </a:solidFill>
                <a:latin typeface="宋体" panose="02010600030101010101" pitchFamily="2" charset="-122"/>
                <a:ea typeface="宋体" panose="02010600030101010101" pitchFamily="2" charset="-122"/>
              </a:rPr>
              <a:t>各光电管的光谱特性</a:t>
            </a:r>
          </a:p>
        </p:txBody>
      </p:sp>
      <p:pic>
        <p:nvPicPr>
          <p:cNvPr id="9" name="Picture 2">
            <a:extLst>
              <a:ext uri="{FF2B5EF4-FFF2-40B4-BE49-F238E27FC236}">
                <a16:creationId xmlns:a16="http://schemas.microsoft.com/office/drawing/2014/main" id="{EAB28B9E-36BF-4EC0-9A3A-05EC5DCCA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2858" y="1932273"/>
            <a:ext cx="4403942" cy="333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Oval 2">
            <a:extLst>
              <a:ext uri="{FF2B5EF4-FFF2-40B4-BE49-F238E27FC236}">
                <a16:creationId xmlns:a16="http://schemas.microsoft.com/office/drawing/2014/main" id="{5CA44A74-6EDE-4B58-A309-E7C23525A9AC}"/>
              </a:ext>
            </a:extLst>
          </p:cNvPr>
          <p:cNvSpPr/>
          <p:nvPr/>
        </p:nvSpPr>
        <p:spPr>
          <a:xfrm>
            <a:off x="5403850" y="1726736"/>
            <a:ext cx="2990850" cy="52116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11" name="Oval 10">
            <a:extLst>
              <a:ext uri="{FF2B5EF4-FFF2-40B4-BE49-F238E27FC236}">
                <a16:creationId xmlns:a16="http://schemas.microsoft.com/office/drawing/2014/main" id="{7EBAA612-9370-445C-9338-45C2E41CCE8D}"/>
              </a:ext>
            </a:extLst>
          </p:cNvPr>
          <p:cNvSpPr/>
          <p:nvPr/>
        </p:nvSpPr>
        <p:spPr>
          <a:xfrm>
            <a:off x="4191000" y="2497548"/>
            <a:ext cx="470689" cy="23431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001"/>
          </a:p>
        </p:txBody>
      </p:sp>
    </p:spTree>
    <p:extLst>
      <p:ext uri="{BB962C8B-B14F-4D97-AF65-F5344CB8AC3E}">
        <p14:creationId xmlns:p14="http://schemas.microsoft.com/office/powerpoint/2010/main" val="42555005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光电管</a:t>
            </a:r>
            <a:r>
              <a:rPr lang="zh-CN" altLang="en-US" sz="3400" b="1" dirty="0">
                <a:solidFill>
                  <a:schemeClr val="bg2">
                    <a:lumMod val="75000"/>
                  </a:schemeClr>
                </a:solidFill>
                <a:latin typeface="宋体" panose="02010600030101010101" pitchFamily="2" charset="-122"/>
                <a:ea typeface="宋体" panose="02010600030101010101" pitchFamily="2" charset="-122"/>
                <a:sym typeface="+mn-ea"/>
              </a:rPr>
              <a:t>与光电倍增管</a:t>
            </a:r>
          </a:p>
        </p:txBody>
      </p:sp>
      <p:sp>
        <p:nvSpPr>
          <p:cNvPr id="23" name="Rectangle 4"/>
          <p:cNvSpPr>
            <a:spLocks noChangeArrowheads="1"/>
          </p:cNvSpPr>
          <p:nvPr/>
        </p:nvSpPr>
        <p:spPr bwMode="auto">
          <a:xfrm>
            <a:off x="1304360" y="2121807"/>
            <a:ext cx="6904268" cy="2175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623888">
              <a:lnSpc>
                <a:spcPct val="200000"/>
              </a:lnSpc>
              <a:buFont typeface="Wingdings" pitchFamily="2" charset="2"/>
              <a:buNone/>
            </a:pPr>
            <a:r>
              <a:rPr lang="zh-CN" altLang="en-US" sz="2400" b="1" dirty="0">
                <a:latin typeface="宋体" panose="02010600030101010101" pitchFamily="2" charset="-122"/>
                <a:ea typeface="宋体" panose="02010600030101010101" pitchFamily="2" charset="-122"/>
              </a:rPr>
              <a:t>光电管尚有温度特性、疲劳特性、惯性特性、暗电流和衰老特性等，使用时应根据产品说明书和有关手册合理选用。</a:t>
            </a:r>
          </a:p>
        </p:txBody>
      </p:sp>
      <p:sp>
        <p:nvSpPr>
          <p:cNvPr id="2" name="Slide Number Placeholder 1">
            <a:extLst>
              <a:ext uri="{FF2B5EF4-FFF2-40B4-BE49-F238E27FC236}">
                <a16:creationId xmlns:a16="http://schemas.microsoft.com/office/drawing/2014/main" id="{C4BBA470-5B5C-4925-A966-C88BF25915F3}"/>
              </a:ext>
            </a:extLst>
          </p:cNvPr>
          <p:cNvSpPr>
            <a:spLocks noGrp="1"/>
          </p:cNvSpPr>
          <p:nvPr>
            <p:ph type="sldNum" sz="quarter" idx="12"/>
          </p:nvPr>
        </p:nvSpPr>
        <p:spPr/>
        <p:txBody>
          <a:bodyPr/>
          <a:lstStyle/>
          <a:p>
            <a:fld id="{B53602B4-F12B-41CD-B648-531F86B2CC91}" type="slidenum">
              <a:rPr lang="zh-CN" altLang="en-US" smtClean="0"/>
              <a:t>14</a:t>
            </a:fld>
            <a:endParaRPr lang="zh-CN" altLang="en-US"/>
          </a:p>
        </p:txBody>
      </p:sp>
    </p:spTree>
    <p:extLst>
      <p:ext uri="{BB962C8B-B14F-4D97-AF65-F5344CB8AC3E}">
        <p14:creationId xmlns:p14="http://schemas.microsoft.com/office/powerpoint/2010/main" val="55572752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123237" cy="615549"/>
          </a:xfrm>
          <a:prstGeom prst="rect">
            <a:avLst/>
          </a:prstGeom>
        </p:spPr>
        <p:txBody>
          <a:bodyPr wrap="none" lIns="91436" tIns="45718" rIns="91436" bIns="45718">
            <a:spAutoFit/>
          </a:bodyPr>
          <a:lstStyle/>
          <a:p>
            <a:r>
              <a:rPr lang="zh-CN" altLang="en-US" sz="3400" b="1" dirty="0">
                <a:solidFill>
                  <a:schemeClr val="bg2">
                    <a:lumMod val="75000"/>
                  </a:schemeClr>
                </a:solidFill>
                <a:latin typeface="宋体" panose="02010600030101010101" pitchFamily="2" charset="-122"/>
                <a:ea typeface="宋体" panose="02010600030101010101" pitchFamily="2" charset="-122"/>
                <a:sym typeface="+mn-ea"/>
              </a:rPr>
              <a:t>光电管与</a:t>
            </a:r>
            <a:r>
              <a:rPr lang="zh-CN" altLang="en-US" sz="3400" b="1" dirty="0">
                <a:solidFill>
                  <a:schemeClr val="bg1"/>
                </a:solidFill>
                <a:latin typeface="宋体" panose="02010600030101010101" pitchFamily="2" charset="-122"/>
                <a:ea typeface="宋体" panose="02010600030101010101" pitchFamily="2" charset="-122"/>
                <a:sym typeface="+mn-ea"/>
              </a:rPr>
              <a:t>光电倍增管</a:t>
            </a:r>
          </a:p>
        </p:txBody>
      </p:sp>
      <p:sp>
        <p:nvSpPr>
          <p:cNvPr id="22" name="Text Box 7"/>
          <p:cNvSpPr txBox="1">
            <a:spLocks noChangeArrowheads="1"/>
          </p:cNvSpPr>
          <p:nvPr/>
        </p:nvSpPr>
        <p:spPr bwMode="auto">
          <a:xfrm>
            <a:off x="248017" y="2307840"/>
            <a:ext cx="5243512" cy="39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ts val="3200"/>
              </a:lnSpc>
              <a:spcBef>
                <a:spcPct val="1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1</a:t>
            </a:r>
            <a:r>
              <a:rPr lang="zh-CN" altLang="en-US" sz="2400" dirty="0">
                <a:solidFill>
                  <a:schemeClr val="tx1"/>
                </a:solidFill>
                <a:latin typeface="宋体" panose="02010600030101010101" pitchFamily="2" charset="-122"/>
                <a:ea typeface="宋体" panose="02010600030101010101" pitchFamily="2" charset="-122"/>
              </a:rPr>
              <a:t>、</a:t>
            </a:r>
            <a:r>
              <a:rPr lang="zh-CN" altLang="en-US" sz="2400" dirty="0">
                <a:solidFill>
                  <a:srgbClr val="3333CC"/>
                </a:solidFill>
              </a:rPr>
              <a:t>倍增系数 </a:t>
            </a:r>
            <a:r>
              <a:rPr lang="en-US" altLang="zh-CN" sz="2400" b="0" i="1" dirty="0">
                <a:solidFill>
                  <a:srgbClr val="FF0000"/>
                </a:solidFill>
                <a:latin typeface="Times New Roman" pitchFamily="18" charset="0"/>
                <a:cs typeface="Times New Roman" pitchFamily="18" charset="0"/>
              </a:rPr>
              <a:t>M</a:t>
            </a:r>
            <a:r>
              <a:rPr lang="en-US" altLang="zh-CN" sz="2400" b="0" dirty="0">
                <a:solidFill>
                  <a:srgbClr val="FF0000"/>
                </a:solidFill>
                <a:latin typeface="Times New Roman" pitchFamily="18" charset="0"/>
                <a:cs typeface="Times New Roman" pitchFamily="18" charset="0"/>
              </a:rPr>
              <a:t>=</a:t>
            </a:r>
            <a:r>
              <a:rPr lang="el-GR" altLang="zh-CN" sz="2400" b="0" i="1" dirty="0">
                <a:solidFill>
                  <a:srgbClr val="FF0000"/>
                </a:solidFill>
                <a:latin typeface="Times New Roman" pitchFamily="18" charset="0"/>
                <a:cs typeface="Times New Roman" pitchFamily="18" charset="0"/>
              </a:rPr>
              <a:t>δ</a:t>
            </a:r>
            <a:r>
              <a:rPr lang="en-US" altLang="zh-CN" sz="2400" b="0" i="1" baseline="30000" dirty="0">
                <a:solidFill>
                  <a:srgbClr val="FF0000"/>
                </a:solidFill>
                <a:latin typeface="Times New Roman" pitchFamily="18" charset="0"/>
                <a:cs typeface="Times New Roman" pitchFamily="18" charset="0"/>
              </a:rPr>
              <a:t>n</a:t>
            </a:r>
            <a:r>
              <a:rPr lang="zh-CN" altLang="en-US" sz="2400" dirty="0">
                <a:solidFill>
                  <a:schemeClr val="tx1"/>
                </a:solidFill>
              </a:rPr>
              <a:t>  ：（</a:t>
            </a:r>
            <a:r>
              <a:rPr lang="en-US" altLang="zh-CN" sz="2400" dirty="0">
                <a:solidFill>
                  <a:schemeClr val="tx1"/>
                </a:solidFill>
                <a:latin typeface="Times New Roman" pitchFamily="18" charset="0"/>
              </a:rPr>
              <a:t>10</a:t>
            </a:r>
            <a:r>
              <a:rPr lang="en-US" altLang="zh-CN" sz="2400" baseline="30000" dirty="0">
                <a:solidFill>
                  <a:schemeClr val="tx1"/>
                </a:solidFill>
                <a:latin typeface="Times New Roman" pitchFamily="18" charset="0"/>
              </a:rPr>
              <a:t>5</a:t>
            </a:r>
            <a:r>
              <a:rPr lang="zh-CN" altLang="en-US" sz="2400" dirty="0">
                <a:solidFill>
                  <a:schemeClr val="tx1"/>
                </a:solidFill>
                <a:latin typeface="Times New Roman" pitchFamily="18" charset="0"/>
              </a:rPr>
              <a:t>～</a:t>
            </a:r>
            <a:r>
              <a:rPr lang="en-US" altLang="zh-CN" sz="2400" dirty="0">
                <a:solidFill>
                  <a:schemeClr val="tx1"/>
                </a:solidFill>
                <a:latin typeface="Times New Roman" pitchFamily="18" charset="0"/>
              </a:rPr>
              <a:t>10</a:t>
            </a:r>
            <a:r>
              <a:rPr lang="en-US" altLang="zh-CN" sz="2400" baseline="30000" dirty="0">
                <a:solidFill>
                  <a:schemeClr val="tx1"/>
                </a:solidFill>
                <a:latin typeface="Times New Roman" pitchFamily="18" charset="0"/>
              </a:rPr>
              <a:t>7</a:t>
            </a:r>
            <a:r>
              <a:rPr lang="zh-CN" altLang="en-US" sz="2400" dirty="0">
                <a:solidFill>
                  <a:schemeClr val="tx1"/>
                </a:solidFill>
              </a:rPr>
              <a:t>）</a:t>
            </a:r>
          </a:p>
          <a:p>
            <a:pPr eaLnBrk="1" hangingPunct="1">
              <a:lnSpc>
                <a:spcPts val="3200"/>
              </a:lnSpc>
              <a:spcBef>
                <a:spcPct val="10000"/>
              </a:spcBef>
              <a:buFont typeface="Wingdings" pitchFamily="2" charset="2"/>
              <a:buNone/>
            </a:pPr>
            <a:r>
              <a:rPr lang="en-US" altLang="zh-CN" sz="2400">
                <a:solidFill>
                  <a:schemeClr val="tx1"/>
                </a:solidFill>
                <a:latin typeface="宋体" panose="02010600030101010101" pitchFamily="2" charset="-122"/>
                <a:ea typeface="宋体" panose="02010600030101010101" pitchFamily="2" charset="-122"/>
              </a:rPr>
              <a:t>2</a:t>
            </a:r>
            <a:r>
              <a:rPr lang="zh-CN" altLang="en-US" sz="2400">
                <a:solidFill>
                  <a:schemeClr val="tx1"/>
                </a:solidFill>
                <a:latin typeface="宋体" panose="02010600030101010101" pitchFamily="2" charset="-122"/>
                <a:ea typeface="宋体" panose="02010600030101010101" pitchFamily="2" charset="-122"/>
              </a:rPr>
              <a:t>、</a:t>
            </a:r>
            <a:r>
              <a:rPr lang="zh-CN" altLang="en-US" sz="2400">
                <a:solidFill>
                  <a:schemeClr val="tx1"/>
                </a:solidFill>
              </a:rPr>
              <a:t>光电阴极和光电倍增管的</a:t>
            </a:r>
            <a:r>
              <a:rPr lang="zh-CN" altLang="en-US" sz="2400">
                <a:solidFill>
                  <a:srgbClr val="3333CC"/>
                </a:solidFill>
              </a:rPr>
              <a:t>灵敏度</a:t>
            </a:r>
            <a:endParaRPr lang="zh-CN" altLang="en-US" sz="2400" dirty="0">
              <a:solidFill>
                <a:srgbClr val="3333CC"/>
              </a:solidFill>
            </a:endParaRPr>
          </a:p>
          <a:p>
            <a:pPr eaLnBrk="1" hangingPunct="1">
              <a:lnSpc>
                <a:spcPts val="3200"/>
              </a:lnSpc>
              <a:spcBef>
                <a:spcPct val="10000"/>
              </a:spcBef>
              <a:buFont typeface="Wingdings" pitchFamily="2" charset="2"/>
              <a:buNone/>
            </a:pPr>
            <a:r>
              <a:rPr lang="zh-CN" altLang="en-US" sz="2400" dirty="0">
                <a:solidFill>
                  <a:schemeClr val="tx1"/>
                </a:solidFill>
              </a:rPr>
              <a:t>      </a:t>
            </a:r>
            <a:r>
              <a:rPr lang="en-US" altLang="zh-CN" sz="2400" dirty="0" err="1">
                <a:solidFill>
                  <a:schemeClr val="tx1"/>
                </a:solidFill>
                <a:latin typeface="Times New Roman" pitchFamily="18" charset="0"/>
              </a:rPr>
              <a:t>Num</a:t>
            </a:r>
            <a:r>
              <a:rPr lang="en-US" altLang="zh-CN" sz="2400" dirty="0">
                <a:solidFill>
                  <a:schemeClr val="tx1"/>
                </a:solidFill>
                <a:latin typeface="Times New Roman" pitchFamily="18" charset="0"/>
              </a:rPr>
              <a:t>(e): </a:t>
            </a:r>
            <a:r>
              <a:rPr lang="en-US" altLang="zh-CN" sz="2400" dirty="0" err="1">
                <a:solidFill>
                  <a:schemeClr val="tx1"/>
                </a:solidFill>
                <a:latin typeface="Times New Roman" pitchFamily="18" charset="0"/>
              </a:rPr>
              <a:t>Num</a:t>
            </a:r>
            <a:r>
              <a:rPr lang="en-US" altLang="zh-CN" sz="2400" dirty="0">
                <a:solidFill>
                  <a:schemeClr val="tx1"/>
                </a:solidFill>
                <a:latin typeface="Times New Roman" pitchFamily="18" charset="0"/>
              </a:rPr>
              <a:t>(p),</a:t>
            </a:r>
            <a:r>
              <a:rPr lang="zh-CN" altLang="en-US" sz="2400" dirty="0">
                <a:solidFill>
                  <a:schemeClr val="tx1"/>
                </a:solidFill>
              </a:rPr>
              <a:t>与加速电压有关。</a:t>
            </a:r>
          </a:p>
          <a:p>
            <a:pPr eaLnBrk="1" hangingPunct="1">
              <a:lnSpc>
                <a:spcPts val="3200"/>
              </a:lnSpc>
              <a:spcBef>
                <a:spcPct val="1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3</a:t>
            </a:r>
            <a:r>
              <a:rPr lang="zh-CN" altLang="en-US"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rPr>
              <a:t>暗电流：无光照时的阳极电流；</a:t>
            </a:r>
          </a:p>
          <a:p>
            <a:pPr eaLnBrk="1" hangingPunct="1">
              <a:lnSpc>
                <a:spcPts val="3200"/>
              </a:lnSpc>
              <a:spcBef>
                <a:spcPct val="10000"/>
              </a:spcBef>
              <a:buFont typeface="Wingdings" pitchFamily="2" charset="2"/>
              <a:buNone/>
            </a:pPr>
            <a:r>
              <a:rPr lang="zh-CN" altLang="en-US" sz="2400" dirty="0">
                <a:solidFill>
                  <a:schemeClr val="tx1"/>
                </a:solidFill>
              </a:rPr>
              <a:t>     本底电流：完全蔽光，受激发的闪烁体照射形成的电流。</a:t>
            </a:r>
          </a:p>
          <a:p>
            <a:pPr eaLnBrk="1" hangingPunct="1">
              <a:lnSpc>
                <a:spcPts val="3200"/>
              </a:lnSpc>
              <a:spcBef>
                <a:spcPct val="1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4</a:t>
            </a:r>
            <a:r>
              <a:rPr lang="zh-CN" altLang="en-US"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rPr>
              <a:t>飞行时间及其涨落。</a:t>
            </a:r>
          </a:p>
          <a:p>
            <a:pPr eaLnBrk="1" hangingPunct="1">
              <a:lnSpc>
                <a:spcPts val="3200"/>
              </a:lnSpc>
              <a:spcBef>
                <a:spcPct val="10000"/>
              </a:spcBef>
              <a:buFont typeface="Wingdings" pitchFamily="2" charset="2"/>
              <a:buNone/>
            </a:pPr>
            <a:r>
              <a:rPr lang="zh-CN" altLang="en-US" sz="2400" dirty="0">
                <a:solidFill>
                  <a:schemeClr val="tx1"/>
                </a:solidFill>
              </a:rPr>
              <a:t>      </a:t>
            </a:r>
            <a:r>
              <a:rPr lang="en-US" altLang="zh-CN" sz="2400" dirty="0">
                <a:solidFill>
                  <a:schemeClr val="tx1"/>
                </a:solidFill>
                <a:latin typeface="Times New Roman" pitchFamily="18" charset="0"/>
              </a:rPr>
              <a:t>10</a:t>
            </a:r>
            <a:r>
              <a:rPr lang="en-US" altLang="zh-CN" sz="2400" baseline="30000" dirty="0">
                <a:solidFill>
                  <a:schemeClr val="tx1"/>
                </a:solidFill>
                <a:latin typeface="Times New Roman" pitchFamily="18" charset="0"/>
              </a:rPr>
              <a:t>-8</a:t>
            </a:r>
            <a:r>
              <a:rPr lang="en-US" altLang="zh-CN" sz="2400" dirty="0">
                <a:solidFill>
                  <a:schemeClr val="tx1"/>
                </a:solidFill>
                <a:latin typeface="Times New Roman" pitchFamily="18" charset="0"/>
              </a:rPr>
              <a:t>s</a:t>
            </a:r>
            <a:r>
              <a:rPr lang="zh-CN" altLang="en-US" sz="2400" dirty="0">
                <a:solidFill>
                  <a:schemeClr val="tx1"/>
                </a:solidFill>
              </a:rPr>
              <a:t>左右，波动（时间涨落）： </a:t>
            </a:r>
            <a:r>
              <a:rPr lang="en-US" altLang="zh-CN" sz="2400" dirty="0">
                <a:solidFill>
                  <a:schemeClr val="tx1"/>
                </a:solidFill>
                <a:latin typeface="Times New Roman" pitchFamily="18" charset="0"/>
              </a:rPr>
              <a:t>10</a:t>
            </a:r>
            <a:r>
              <a:rPr lang="en-US" altLang="zh-CN" sz="2400" baseline="30000" dirty="0">
                <a:solidFill>
                  <a:schemeClr val="tx1"/>
                </a:solidFill>
                <a:latin typeface="Times New Roman" pitchFamily="18" charset="0"/>
              </a:rPr>
              <a:t>-8</a:t>
            </a:r>
            <a:r>
              <a:rPr lang="en-US" altLang="zh-CN" sz="2400" dirty="0">
                <a:solidFill>
                  <a:schemeClr val="tx1"/>
                </a:solidFill>
                <a:latin typeface="Times New Roman" pitchFamily="18" charset="0"/>
              </a:rPr>
              <a:t>s </a:t>
            </a:r>
            <a:r>
              <a:rPr lang="zh-CN" altLang="en-US" sz="2400" dirty="0">
                <a:solidFill>
                  <a:schemeClr val="tx1"/>
                </a:solidFill>
                <a:latin typeface="Times New Roman" pitchFamily="18" charset="0"/>
              </a:rPr>
              <a:t>～ </a:t>
            </a:r>
            <a:r>
              <a:rPr lang="en-US" altLang="zh-CN" sz="2400" dirty="0">
                <a:solidFill>
                  <a:schemeClr val="tx1"/>
                </a:solidFill>
                <a:latin typeface="Times New Roman" pitchFamily="18" charset="0"/>
              </a:rPr>
              <a:t>10</a:t>
            </a:r>
            <a:r>
              <a:rPr lang="en-US" altLang="zh-CN" sz="2400" baseline="30000" dirty="0">
                <a:solidFill>
                  <a:schemeClr val="tx1"/>
                </a:solidFill>
                <a:latin typeface="Times New Roman" pitchFamily="18" charset="0"/>
              </a:rPr>
              <a:t>-10</a:t>
            </a:r>
            <a:r>
              <a:rPr lang="en-US" altLang="zh-CN" sz="2400" dirty="0">
                <a:solidFill>
                  <a:schemeClr val="tx1"/>
                </a:solidFill>
                <a:latin typeface="Times New Roman" pitchFamily="18" charset="0"/>
              </a:rPr>
              <a:t>s</a:t>
            </a:r>
          </a:p>
        </p:txBody>
      </p:sp>
      <p:sp>
        <p:nvSpPr>
          <p:cNvPr id="26" name="文本框 3"/>
          <p:cNvSpPr txBox="1"/>
          <p:nvPr/>
        </p:nvSpPr>
        <p:spPr>
          <a:xfrm>
            <a:off x="248018" y="1513565"/>
            <a:ext cx="4672326" cy="461665"/>
          </a:xfrm>
          <a:prstGeom prst="rect">
            <a:avLst/>
          </a:prstGeom>
          <a:noFill/>
        </p:spPr>
        <p:txBody>
          <a:bodyPr wrap="square" rtlCol="0">
            <a:spAutoFit/>
          </a:bodyPr>
          <a:lstStyle/>
          <a:p>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Photomultiplier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8374BACE-5B62-4C9C-93C7-4044B801F86D}"/>
              </a:ext>
            </a:extLst>
          </p:cNvPr>
          <p:cNvSpPr>
            <a:spLocks noGrp="1"/>
          </p:cNvSpPr>
          <p:nvPr>
            <p:ph type="sldNum" sz="quarter" idx="12"/>
          </p:nvPr>
        </p:nvSpPr>
        <p:spPr/>
        <p:txBody>
          <a:bodyPr/>
          <a:lstStyle/>
          <a:p>
            <a:fld id="{B53602B4-F12B-41CD-B648-531F86B2CC91}" type="slidenum">
              <a:rPr lang="zh-CN" altLang="en-US" smtClean="0"/>
              <a:t>15</a:t>
            </a:fld>
            <a:endParaRPr lang="zh-CN" altLang="en-US"/>
          </a:p>
        </p:txBody>
      </p:sp>
      <p:sp>
        <p:nvSpPr>
          <p:cNvPr id="9" name="Text Box 133">
            <a:extLst>
              <a:ext uri="{FF2B5EF4-FFF2-40B4-BE49-F238E27FC236}">
                <a16:creationId xmlns:a16="http://schemas.microsoft.com/office/drawing/2014/main" id="{E2EEE27B-A0AF-4AE1-A34F-E2151828A786}"/>
              </a:ext>
            </a:extLst>
          </p:cNvPr>
          <p:cNvSpPr txBox="1">
            <a:spLocks noChangeArrowheads="1"/>
          </p:cNvSpPr>
          <p:nvPr/>
        </p:nvSpPr>
        <p:spPr bwMode="auto">
          <a:xfrm>
            <a:off x="5412764" y="5853335"/>
            <a:ext cx="3886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7-3 </a:t>
            </a:r>
            <a:r>
              <a:rPr kumimoji="0" lang="zh-CN" altLang="en-US" b="1" dirty="0">
                <a:solidFill>
                  <a:srgbClr val="3333CC"/>
                </a:solidFill>
                <a:latin typeface="宋体" panose="02010600030101010101" pitchFamily="2" charset="-122"/>
                <a:ea typeface="宋体" panose="02010600030101010101" pitchFamily="2" charset="-122"/>
              </a:rPr>
              <a:t>光电倍增管的结构</a:t>
            </a:r>
          </a:p>
        </p:txBody>
      </p:sp>
      <p:pic>
        <p:nvPicPr>
          <p:cNvPr id="10" name="Picture 9">
            <a:extLst>
              <a:ext uri="{FF2B5EF4-FFF2-40B4-BE49-F238E27FC236}">
                <a16:creationId xmlns:a16="http://schemas.microsoft.com/office/drawing/2014/main" id="{964C6240-BA1B-4B62-8735-DABA26EB1E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3437" y="2286713"/>
            <a:ext cx="2474642" cy="350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 Box 138">
            <a:extLst>
              <a:ext uri="{FF2B5EF4-FFF2-40B4-BE49-F238E27FC236}">
                <a16:creationId xmlns:a16="http://schemas.microsoft.com/office/drawing/2014/main" id="{3972D6E9-AA1F-4B80-97B7-CF2A160F4BC2}"/>
              </a:ext>
            </a:extLst>
          </p:cNvPr>
          <p:cNvSpPr txBox="1">
            <a:spLocks noChangeArrowheads="1"/>
          </p:cNvSpPr>
          <p:nvPr/>
        </p:nvSpPr>
        <p:spPr bwMode="auto">
          <a:xfrm>
            <a:off x="5886551" y="1265772"/>
            <a:ext cx="2749316" cy="9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每级的倍</a:t>
            </a:r>
            <a:r>
              <a:rPr lang="zh-CN" altLang="en-US" sz="2000" b="1">
                <a:latin typeface="Times New Roman" panose="02020603050405020304" pitchFamily="18" charset="0"/>
                <a:ea typeface="宋体" panose="02010600030101010101" pitchFamily="2" charset="-122"/>
                <a:cs typeface="Times New Roman" panose="02020603050405020304" pitchFamily="18" charset="0"/>
              </a:rPr>
              <a:t>增率</a:t>
            </a:r>
            <a:r>
              <a:rPr lang="el-GR" altLang="zh-CN" sz="2000" i="1">
                <a:latin typeface="Times New Roman" panose="02020603050405020304" pitchFamily="18" charset="0"/>
                <a:ea typeface="宋体" panose="02010600030101010101" pitchFamily="2" charset="-122"/>
                <a:cs typeface="Times New Roman" panose="02020603050405020304" pitchFamily="18" charset="0"/>
              </a:rPr>
              <a:t>δ</a:t>
            </a:r>
            <a:r>
              <a:rPr lang="zh-CN" altLang="en-US" sz="200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6</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倍增级数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14     </a:t>
            </a:r>
          </a:p>
        </p:txBody>
      </p:sp>
    </p:spTree>
    <p:extLst>
      <p:ext uri="{BB962C8B-B14F-4D97-AF65-F5344CB8AC3E}">
        <p14:creationId xmlns:p14="http://schemas.microsoft.com/office/powerpoint/2010/main" val="8363362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光敏电阻</a:t>
            </a:r>
          </a:p>
        </p:txBody>
      </p:sp>
      <p:sp>
        <p:nvSpPr>
          <p:cNvPr id="30" name="Rectangle 15"/>
          <p:cNvSpPr>
            <a:spLocks noRot="1" noChangeArrowheads="1"/>
          </p:cNvSpPr>
          <p:nvPr/>
        </p:nvSpPr>
        <p:spPr bwMode="auto">
          <a:xfrm>
            <a:off x="338178" y="1305379"/>
            <a:ext cx="8130908" cy="1277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indent="630238">
              <a:lnSpc>
                <a:spcPct val="140000"/>
              </a:lnSpc>
              <a:spcBef>
                <a:spcPct val="40000"/>
              </a:spcBef>
              <a:buClr>
                <a:schemeClr val="bg1"/>
              </a:buClr>
            </a:pPr>
            <a:r>
              <a:rPr lang="zh-CN" altLang="en-US" sz="2000" b="1" dirty="0">
                <a:latin typeface="宋体" panose="02010600030101010101" pitchFamily="2" charset="-122"/>
                <a:ea typeface="宋体" panose="02010600030101010101" pitchFamily="2" charset="-122"/>
              </a:rPr>
              <a:t>光敏电阻是用具有</a:t>
            </a:r>
            <a:r>
              <a:rPr lang="zh-CN" altLang="en-US" sz="2000" b="1" dirty="0">
                <a:solidFill>
                  <a:srgbClr val="FF0000"/>
                </a:solidFill>
                <a:latin typeface="宋体" panose="02010600030101010101" pitchFamily="2" charset="-122"/>
                <a:ea typeface="宋体" panose="02010600030101010101" pitchFamily="2" charset="-122"/>
              </a:rPr>
              <a:t>内光电效应</a:t>
            </a:r>
            <a:r>
              <a:rPr lang="zh-CN" altLang="en-US" sz="2000" b="1" dirty="0">
                <a:latin typeface="宋体" panose="02010600030101010101" pitchFamily="2" charset="-122"/>
                <a:ea typeface="宋体" panose="02010600030101010101" pitchFamily="2" charset="-122"/>
              </a:rPr>
              <a:t>的光导材料制成的，为</a:t>
            </a:r>
            <a:r>
              <a:rPr lang="zh-CN" altLang="en-US" sz="2000" b="1" dirty="0">
                <a:solidFill>
                  <a:srgbClr val="3333CC"/>
                </a:solidFill>
                <a:latin typeface="宋体" panose="02010600030101010101" pitchFamily="2" charset="-122"/>
                <a:ea typeface="宋体" panose="02010600030101010101" pitchFamily="2" charset="-122"/>
              </a:rPr>
              <a:t>纯电阻元件</a:t>
            </a:r>
            <a:r>
              <a:rPr lang="zh-CN" altLang="en-US" sz="2000" b="1" dirty="0">
                <a:latin typeface="宋体" panose="02010600030101010101" pitchFamily="2" charset="-122"/>
                <a:ea typeface="宋体" panose="02010600030101010101" pitchFamily="2" charset="-122"/>
              </a:rPr>
              <a:t>，其阻值随光照增强而减小。  </a:t>
            </a:r>
          </a:p>
        </p:txBody>
      </p:sp>
      <p:sp>
        <p:nvSpPr>
          <p:cNvPr id="3" name="矩形 2"/>
          <p:cNvSpPr/>
          <p:nvPr/>
        </p:nvSpPr>
        <p:spPr>
          <a:xfrm>
            <a:off x="478093" y="2272394"/>
            <a:ext cx="8037260" cy="1520609"/>
          </a:xfrm>
          <a:prstGeom prst="rect">
            <a:avLst/>
          </a:prstGeom>
        </p:spPr>
        <p:txBody>
          <a:bodyPr wrap="square">
            <a:spAutoFit/>
          </a:bodyPr>
          <a:lstStyle/>
          <a:p>
            <a:pPr marL="896938" lvl="0" indent="-896938">
              <a:lnSpc>
                <a:spcPct val="120000"/>
              </a:lnSpc>
              <a:buClr>
                <a:prstClr val="white"/>
              </a:buClr>
            </a:pPr>
            <a:r>
              <a:rPr lang="zh-CN" altLang="en-US" sz="2000" b="1" dirty="0">
                <a:solidFill>
                  <a:srgbClr val="FF0000"/>
                </a:solidFill>
                <a:latin typeface="宋体" panose="02010600030101010101" pitchFamily="2" charset="-122"/>
                <a:ea typeface="宋体" panose="02010600030101010101" pitchFamily="2" charset="-122"/>
              </a:rPr>
              <a:t>优点</a:t>
            </a:r>
            <a:r>
              <a:rPr lang="zh-CN" altLang="en-US" sz="2000" b="1" dirty="0">
                <a:solidFill>
                  <a:prstClr val="black"/>
                </a:solidFill>
                <a:latin typeface="宋体" panose="02010600030101010101" pitchFamily="2" charset="-122"/>
                <a:ea typeface="宋体" panose="02010600030101010101" pitchFamily="2" charset="-122"/>
              </a:rPr>
              <a:t>：灵敏度高，体积小、重量轻，光谱响应范围宽，机械强度高、耐冲击和振动，寿命长。</a:t>
            </a:r>
          </a:p>
          <a:p>
            <a:pPr marL="896938" lvl="0" indent="-896938">
              <a:lnSpc>
                <a:spcPct val="120000"/>
              </a:lnSpc>
              <a:buClr>
                <a:prstClr val="white"/>
              </a:buClr>
            </a:pPr>
            <a:r>
              <a:rPr lang="zh-CN" altLang="en-US" sz="2000" b="1" dirty="0">
                <a:solidFill>
                  <a:srgbClr val="0070C0"/>
                </a:solidFill>
                <a:latin typeface="宋体" panose="02010600030101010101" pitchFamily="2" charset="-122"/>
                <a:ea typeface="宋体" panose="02010600030101010101" pitchFamily="2" charset="-122"/>
              </a:rPr>
              <a:t>缺点</a:t>
            </a:r>
            <a:r>
              <a:rPr lang="zh-CN" altLang="en-US" sz="2000" b="1" dirty="0">
                <a:solidFill>
                  <a:prstClr val="black"/>
                </a:solidFill>
                <a:latin typeface="宋体" panose="02010600030101010101" pitchFamily="2" charset="-122"/>
                <a:ea typeface="宋体" panose="02010600030101010101" pitchFamily="2" charset="-122"/>
              </a:rPr>
              <a:t>：使用时需要有外部电源，同时当有电流通过它时，会产生热，导致误差。 </a:t>
            </a:r>
          </a:p>
        </p:txBody>
      </p:sp>
      <p:sp>
        <p:nvSpPr>
          <p:cNvPr id="2" name="Slide Number Placeholder 1">
            <a:extLst>
              <a:ext uri="{FF2B5EF4-FFF2-40B4-BE49-F238E27FC236}">
                <a16:creationId xmlns:a16="http://schemas.microsoft.com/office/drawing/2014/main" id="{8FE132E0-2F89-4203-AF4C-FDFB5F5C22BF}"/>
              </a:ext>
            </a:extLst>
          </p:cNvPr>
          <p:cNvSpPr>
            <a:spLocks noGrp="1"/>
          </p:cNvSpPr>
          <p:nvPr>
            <p:ph type="sldNum" sz="quarter" idx="12"/>
          </p:nvPr>
        </p:nvSpPr>
        <p:spPr/>
        <p:txBody>
          <a:bodyPr/>
          <a:lstStyle/>
          <a:p>
            <a:fld id="{B53602B4-F12B-41CD-B648-531F86B2CC91}" type="slidenum">
              <a:rPr lang="zh-CN" altLang="en-US" smtClean="0"/>
              <a:t>16</a:t>
            </a:fld>
            <a:endParaRPr lang="zh-CN" altLang="en-US"/>
          </a:p>
        </p:txBody>
      </p:sp>
      <p:sp>
        <p:nvSpPr>
          <p:cNvPr id="9" name="Text Box 137">
            <a:extLst>
              <a:ext uri="{FF2B5EF4-FFF2-40B4-BE49-F238E27FC236}">
                <a16:creationId xmlns:a16="http://schemas.microsoft.com/office/drawing/2014/main" id="{858C7D0E-1251-4DCD-AB16-B308FAD71418}"/>
              </a:ext>
            </a:extLst>
          </p:cNvPr>
          <p:cNvSpPr txBox="1">
            <a:spLocks noChangeArrowheads="1"/>
          </p:cNvSpPr>
          <p:nvPr/>
        </p:nvSpPr>
        <p:spPr bwMode="auto">
          <a:xfrm>
            <a:off x="1409689" y="6185945"/>
            <a:ext cx="640871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7-5 </a:t>
            </a:r>
            <a:r>
              <a:rPr kumimoji="0" lang="zh-CN" altLang="en-US" b="1" dirty="0">
                <a:solidFill>
                  <a:srgbClr val="3333CC"/>
                </a:solidFill>
                <a:latin typeface="宋体" panose="02010600030101010101" pitchFamily="2" charset="-122"/>
                <a:ea typeface="宋体" panose="02010600030101010101" pitchFamily="2" charset="-122"/>
              </a:rPr>
              <a:t>光敏电阻的典型结构、栅形及表示符号</a:t>
            </a:r>
            <a:endParaRPr lang="zh-CN" altLang="en-US" b="1" dirty="0">
              <a:solidFill>
                <a:srgbClr val="3333CC"/>
              </a:solidFill>
              <a:latin typeface="宋体" panose="02010600030101010101" pitchFamily="2" charset="-122"/>
              <a:ea typeface="宋体" panose="02010600030101010101" pitchFamily="2" charset="-122"/>
            </a:endParaRPr>
          </a:p>
        </p:txBody>
      </p:sp>
      <p:pic>
        <p:nvPicPr>
          <p:cNvPr id="10" name="Picture 9">
            <a:extLst>
              <a:ext uri="{FF2B5EF4-FFF2-40B4-BE49-F238E27FC236}">
                <a16:creationId xmlns:a16="http://schemas.microsoft.com/office/drawing/2014/main" id="{516CC3E7-83DF-48D0-8722-2AF9CAD0C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7" y="3980672"/>
            <a:ext cx="6111730" cy="199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43" descr="https://www.electronics-notes.com/images/resistor-light-dependent-ldr-1368.jpg">
            <a:extLst>
              <a:ext uri="{FF2B5EF4-FFF2-40B4-BE49-F238E27FC236}">
                <a16:creationId xmlns:a16="http://schemas.microsoft.com/office/drawing/2014/main" id="{6AD0594C-A496-4E62-9D78-55D7350DD4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1095" t="11722" r="20975"/>
          <a:stretch>
            <a:fillRect/>
          </a:stretch>
        </p:blipFill>
        <p:spPr bwMode="auto">
          <a:xfrm>
            <a:off x="360000" y="4019793"/>
            <a:ext cx="1600200" cy="196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光敏电阻</a:t>
            </a:r>
          </a:p>
        </p:txBody>
      </p:sp>
      <p:sp>
        <p:nvSpPr>
          <p:cNvPr id="22" name="文本框 3"/>
          <p:cNvSpPr txBox="1"/>
          <p:nvPr/>
        </p:nvSpPr>
        <p:spPr>
          <a:xfrm>
            <a:off x="1571711" y="1409205"/>
            <a:ext cx="6483718" cy="1113766"/>
          </a:xfrm>
          <a:prstGeom prst="rect">
            <a:avLst/>
          </a:prstGeom>
          <a:noFill/>
        </p:spPr>
        <p:txBody>
          <a:bodyPr wrap="square" rtlCol="0">
            <a:spAutoFit/>
          </a:bodyPr>
          <a:lstStyle/>
          <a:p>
            <a:pPr marL="987425" indent="-987425">
              <a:lnSpc>
                <a:spcPct val="150000"/>
              </a:lnSpc>
            </a:pPr>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Light Dependent Resistor(LDR),</a:t>
            </a:r>
            <a:r>
              <a:rPr lang="zh-CN" altLang="en-US" sz="2400" b="1" dirty="0">
                <a:solidFill>
                  <a:srgbClr val="C00000"/>
                </a:solidFill>
                <a:latin typeface="宋体" panose="02010600030101010101" pitchFamily="2" charset="-122"/>
                <a:ea typeface="宋体" panose="02010600030101010101" pitchFamily="2" charset="-122"/>
              </a:rPr>
              <a:t>或</a:t>
            </a:r>
            <a:r>
              <a:rPr lang="en-US" altLang="zh-CN" sz="2400" b="1" dirty="0">
                <a:solidFill>
                  <a:srgbClr val="C00000"/>
                </a:solidFill>
                <a:latin typeface="宋体" panose="02010600030101010101" pitchFamily="2" charset="-122"/>
                <a:ea typeface="宋体" panose="02010600030101010101" pitchFamily="2" charset="-122"/>
              </a:rPr>
              <a:t> </a:t>
            </a:r>
            <a:r>
              <a:rPr lang="en-US" altLang="zh-CN" sz="2400" b="1" dirty="0" err="1">
                <a:solidFill>
                  <a:srgbClr val="C00000"/>
                </a:solidFill>
                <a:latin typeface="宋体" panose="02010600030101010101" pitchFamily="2" charset="-122"/>
                <a:ea typeface="宋体" panose="02010600030101010101" pitchFamily="2" charset="-122"/>
              </a:rPr>
              <a:t>Photoresistor</a:t>
            </a:r>
            <a:r>
              <a:rPr lang="zh-CN" altLang="en-US" sz="2400" b="1" dirty="0">
                <a:solidFill>
                  <a:srgbClr val="C00000"/>
                </a:solidFill>
                <a:latin typeface="宋体" panose="02010600030101010101" pitchFamily="2" charset="-122"/>
                <a:ea typeface="宋体" panose="02010600030101010101" pitchFamily="2" charset="-122"/>
              </a:rPr>
              <a:t>，或</a:t>
            </a:r>
            <a:r>
              <a:rPr lang="en-US" altLang="zh-CN" sz="2400" b="1" dirty="0">
                <a:solidFill>
                  <a:srgbClr val="C00000"/>
                </a:solidFill>
                <a:latin typeface="宋体" panose="02010600030101010101" pitchFamily="2" charset="-122"/>
                <a:ea typeface="宋体" panose="02010600030101010101" pitchFamily="2" charset="-122"/>
              </a:rPr>
              <a:t>Photoconductor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3" name="Text Box 4"/>
          <p:cNvSpPr txBox="1">
            <a:spLocks noChangeArrowheads="1"/>
          </p:cNvSpPr>
          <p:nvPr/>
        </p:nvSpPr>
        <p:spPr bwMode="auto">
          <a:xfrm>
            <a:off x="1937203" y="2737984"/>
            <a:ext cx="6118225"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spcBef>
                <a:spcPct val="5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1</a:t>
            </a:r>
            <a:r>
              <a:rPr lang="zh-CN" altLang="en-US" sz="2400" dirty="0">
                <a:solidFill>
                  <a:schemeClr val="tx1"/>
                </a:solidFill>
                <a:latin typeface="宋体" panose="02010600030101010101" pitchFamily="2" charset="-122"/>
                <a:ea typeface="宋体" panose="02010600030101010101" pitchFamily="2" charset="-122"/>
              </a:rPr>
              <a:t>、暗电阻和暗电流</a:t>
            </a:r>
          </a:p>
          <a:p>
            <a:pPr eaLnBrk="1" hangingPunct="1">
              <a:spcBef>
                <a:spcPct val="50000"/>
              </a:spcBef>
              <a:buFont typeface="Wingdings" pitchFamily="2" charset="2"/>
              <a:buNone/>
            </a:pPr>
            <a:r>
              <a:rPr lang="zh-CN" altLang="en-US" sz="2400" dirty="0">
                <a:solidFill>
                  <a:schemeClr val="tx1"/>
                </a:solidFill>
                <a:latin typeface="宋体" panose="02010600030101010101" pitchFamily="2" charset="-122"/>
                <a:ea typeface="宋体" panose="02010600030101010101" pitchFamily="2" charset="-122"/>
              </a:rPr>
              <a:t>     室温、全暗、稳定电流</a:t>
            </a:r>
          </a:p>
          <a:p>
            <a:pPr eaLnBrk="1" hangingPunct="1">
              <a:spcBef>
                <a:spcPct val="5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2</a:t>
            </a:r>
            <a:r>
              <a:rPr lang="zh-CN" altLang="en-US" sz="2400" dirty="0">
                <a:solidFill>
                  <a:schemeClr val="tx1"/>
                </a:solidFill>
                <a:latin typeface="宋体" panose="02010600030101010101" pitchFamily="2" charset="-122"/>
                <a:ea typeface="宋体" panose="02010600030101010101" pitchFamily="2" charset="-122"/>
              </a:rPr>
              <a:t>、</a:t>
            </a:r>
            <a:r>
              <a:rPr lang="zh-CN" altLang="en-US" sz="2400" dirty="0">
                <a:solidFill>
                  <a:srgbClr val="0070C0"/>
                </a:solidFill>
                <a:latin typeface="宋体" panose="02010600030101010101" pitchFamily="2" charset="-122"/>
                <a:ea typeface="宋体" panose="02010600030101010101" pitchFamily="2" charset="-122"/>
              </a:rPr>
              <a:t>亮电阻和亮电流</a:t>
            </a:r>
          </a:p>
          <a:p>
            <a:pPr eaLnBrk="1" hangingPunct="1">
              <a:spcBef>
                <a:spcPct val="50000"/>
              </a:spcBef>
              <a:buFont typeface="Wingdings" pitchFamily="2" charset="2"/>
              <a:buNone/>
            </a:pPr>
            <a:r>
              <a:rPr lang="zh-CN" altLang="en-US" sz="2400" dirty="0">
                <a:latin typeface="宋体" panose="02010600030101010101" pitchFamily="2" charset="-122"/>
                <a:ea typeface="宋体" panose="02010600030101010101" pitchFamily="2" charset="-122"/>
              </a:rPr>
              <a:t>     </a:t>
            </a:r>
            <a:r>
              <a:rPr lang="zh-CN" altLang="en-US" sz="2400" dirty="0">
                <a:solidFill>
                  <a:schemeClr val="tx1"/>
                </a:solidFill>
                <a:latin typeface="宋体" panose="02010600030101010101" pitchFamily="2" charset="-122"/>
                <a:ea typeface="宋体" panose="02010600030101010101" pitchFamily="2" charset="-122"/>
              </a:rPr>
              <a:t>光照条件下</a:t>
            </a:r>
          </a:p>
          <a:p>
            <a:pPr eaLnBrk="1" hangingPunct="1">
              <a:spcBef>
                <a:spcPct val="5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3</a:t>
            </a:r>
            <a:r>
              <a:rPr lang="zh-CN" altLang="en-US" sz="2400" dirty="0">
                <a:solidFill>
                  <a:schemeClr val="tx1"/>
                </a:solidFill>
                <a:latin typeface="宋体" panose="02010600030101010101" pitchFamily="2" charset="-122"/>
                <a:ea typeface="宋体" panose="02010600030101010101" pitchFamily="2" charset="-122"/>
              </a:rPr>
              <a:t>、光电流</a:t>
            </a:r>
            <a:r>
              <a:rPr lang="en-US" altLang="zh-CN" sz="2400" dirty="0">
                <a:solidFill>
                  <a:schemeClr val="tx1"/>
                </a:solidFill>
                <a:latin typeface="宋体" panose="02010600030101010101" pitchFamily="2" charset="-122"/>
                <a:ea typeface="宋体" panose="02010600030101010101" pitchFamily="2" charset="-122"/>
              </a:rPr>
              <a:t>=</a:t>
            </a:r>
            <a:r>
              <a:rPr lang="zh-CN" altLang="en-US" sz="2400" dirty="0">
                <a:solidFill>
                  <a:srgbClr val="0070C0"/>
                </a:solidFill>
                <a:latin typeface="宋体" panose="02010600030101010101" pitchFamily="2" charset="-122"/>
                <a:ea typeface="宋体" panose="02010600030101010101" pitchFamily="2" charset="-122"/>
              </a:rPr>
              <a:t>亮电流</a:t>
            </a:r>
            <a:r>
              <a:rPr lang="en-US" altLang="zh-CN"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暗电流</a:t>
            </a:r>
          </a:p>
          <a:p>
            <a:pPr eaLnBrk="1" hangingPunct="1">
              <a:spcBef>
                <a:spcPct val="50000"/>
              </a:spcBef>
              <a:buFont typeface="Wingdings" pitchFamily="2" charset="2"/>
              <a:buNone/>
            </a:pPr>
            <a:r>
              <a:rPr lang="zh-CN" altLang="en-US" sz="2400" dirty="0">
                <a:solidFill>
                  <a:schemeClr val="tx1"/>
                </a:solidFill>
                <a:latin typeface="宋体" panose="02010600030101010101" pitchFamily="2" charset="-122"/>
                <a:ea typeface="宋体" panose="02010600030101010101" pitchFamily="2" charset="-122"/>
              </a:rPr>
              <a:t>      暗电流</a:t>
            </a:r>
            <a:r>
              <a:rPr lang="zh-CN" altLang="en-US" sz="2400" dirty="0">
                <a:solidFill>
                  <a:srgbClr val="FF0000"/>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，亮电流</a:t>
            </a:r>
            <a:r>
              <a:rPr lang="zh-CN" altLang="en-US" sz="2400" dirty="0">
                <a:solidFill>
                  <a:srgbClr val="FF0000"/>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，越理想。</a:t>
            </a:r>
          </a:p>
        </p:txBody>
      </p:sp>
      <p:sp>
        <p:nvSpPr>
          <p:cNvPr id="2" name="Slide Number Placeholder 1">
            <a:extLst>
              <a:ext uri="{FF2B5EF4-FFF2-40B4-BE49-F238E27FC236}">
                <a16:creationId xmlns:a16="http://schemas.microsoft.com/office/drawing/2014/main" id="{1794998E-79DF-4B09-8E60-B0BDF85D5188}"/>
              </a:ext>
            </a:extLst>
          </p:cNvPr>
          <p:cNvSpPr>
            <a:spLocks noGrp="1"/>
          </p:cNvSpPr>
          <p:nvPr>
            <p:ph type="sldNum" sz="quarter" idx="12"/>
          </p:nvPr>
        </p:nvSpPr>
        <p:spPr/>
        <p:txBody>
          <a:bodyPr/>
          <a:lstStyle/>
          <a:p>
            <a:fld id="{B53602B4-F12B-41CD-B648-531F86B2CC91}" type="slidenum">
              <a:rPr lang="zh-CN" altLang="en-US" smtClean="0"/>
              <a:t>17</a:t>
            </a:fld>
            <a:endParaRPr lang="zh-CN" altLang="en-US"/>
          </a:p>
        </p:txBody>
      </p:sp>
    </p:spTree>
    <p:extLst>
      <p:ext uri="{BB962C8B-B14F-4D97-AF65-F5344CB8AC3E}">
        <p14:creationId xmlns:p14="http://schemas.microsoft.com/office/powerpoint/2010/main" val="393554035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光敏电阻</a:t>
            </a:r>
          </a:p>
        </p:txBody>
      </p:sp>
      <p:sp>
        <p:nvSpPr>
          <p:cNvPr id="21" name="Text Box 4"/>
          <p:cNvSpPr txBox="1">
            <a:spLocks noChangeArrowheads="1"/>
          </p:cNvSpPr>
          <p:nvPr/>
        </p:nvSpPr>
        <p:spPr bwMode="auto">
          <a:xfrm>
            <a:off x="338673" y="1585160"/>
            <a:ext cx="515285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spcBef>
                <a:spcPct val="5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4</a:t>
            </a:r>
            <a:r>
              <a:rPr lang="zh-CN" altLang="en-US" sz="2400" dirty="0">
                <a:solidFill>
                  <a:schemeClr val="tx1"/>
                </a:solidFill>
                <a:latin typeface="宋体" panose="02010600030101010101" pitchFamily="2" charset="-122"/>
                <a:ea typeface="宋体" panose="02010600030101010101" pitchFamily="2" charset="-122"/>
              </a:rPr>
              <a:t>、</a:t>
            </a:r>
            <a:r>
              <a:rPr lang="zh-CN" altLang="en-US" sz="2400" dirty="0">
                <a:solidFill>
                  <a:schemeClr val="tx1"/>
                </a:solidFill>
              </a:rPr>
              <a:t>光电特性</a:t>
            </a:r>
          </a:p>
          <a:p>
            <a:pPr eaLnBrk="1" hangingPunct="1">
              <a:spcBef>
                <a:spcPct val="50000"/>
              </a:spcBef>
              <a:buFont typeface="Wingdings" pitchFamily="2" charset="2"/>
              <a:buNone/>
            </a:pPr>
            <a:r>
              <a:rPr lang="zh-CN" altLang="en-US" sz="2400" dirty="0">
                <a:solidFill>
                  <a:schemeClr val="tx1"/>
                </a:solidFill>
              </a:rPr>
              <a:t>      光电流</a:t>
            </a:r>
            <a:r>
              <a:rPr lang="en-US" altLang="zh-CN" sz="2400" i="1" dirty="0">
                <a:solidFill>
                  <a:srgbClr val="FF0000"/>
                </a:solidFill>
                <a:latin typeface="Times New Roman" pitchFamily="18" charset="0"/>
              </a:rPr>
              <a:t>I</a:t>
            </a:r>
            <a:r>
              <a:rPr lang="zh-CN" altLang="en-US" sz="2400" dirty="0">
                <a:solidFill>
                  <a:schemeClr val="tx1"/>
                </a:solidFill>
              </a:rPr>
              <a:t>与入射光通量</a:t>
            </a:r>
            <a:r>
              <a:rPr lang="el-GR" altLang="zh-CN" sz="2400" i="1" dirty="0">
                <a:solidFill>
                  <a:srgbClr val="FF0000"/>
                </a:solidFill>
                <a:latin typeface="宋体" charset="-122"/>
              </a:rPr>
              <a:t>Φ</a:t>
            </a:r>
            <a:r>
              <a:rPr lang="zh-CN" altLang="el-GR" sz="2400" dirty="0">
                <a:solidFill>
                  <a:schemeClr val="tx1"/>
                </a:solidFill>
                <a:latin typeface="宋体" charset="-122"/>
              </a:rPr>
              <a:t>的关系</a:t>
            </a:r>
            <a:endParaRPr lang="zh-CN" altLang="en-US" sz="2400" dirty="0">
              <a:solidFill>
                <a:schemeClr val="tx1"/>
              </a:solidFill>
              <a:latin typeface="宋体" charset="-122"/>
            </a:endParaRPr>
          </a:p>
        </p:txBody>
      </p:sp>
      <p:sp>
        <p:nvSpPr>
          <p:cNvPr id="3" name="Slide Number Placeholder 2">
            <a:extLst>
              <a:ext uri="{FF2B5EF4-FFF2-40B4-BE49-F238E27FC236}">
                <a16:creationId xmlns:a16="http://schemas.microsoft.com/office/drawing/2014/main" id="{0F28314F-CE3C-494E-9758-A131B8603039}"/>
              </a:ext>
            </a:extLst>
          </p:cNvPr>
          <p:cNvSpPr>
            <a:spLocks noGrp="1"/>
          </p:cNvSpPr>
          <p:nvPr>
            <p:ph type="sldNum" sz="quarter" idx="12"/>
          </p:nvPr>
        </p:nvSpPr>
        <p:spPr/>
        <p:txBody>
          <a:bodyPr/>
          <a:lstStyle/>
          <a:p>
            <a:fld id="{B53602B4-F12B-41CD-B648-531F86B2CC91}" type="slidenum">
              <a:rPr lang="zh-CN" altLang="en-US" smtClean="0"/>
              <a:t>18</a:t>
            </a:fld>
            <a:endParaRPr lang="zh-CN" altLang="en-US"/>
          </a:p>
        </p:txBody>
      </p:sp>
      <p:sp>
        <p:nvSpPr>
          <p:cNvPr id="11" name="Text Box 5">
            <a:extLst>
              <a:ext uri="{FF2B5EF4-FFF2-40B4-BE49-F238E27FC236}">
                <a16:creationId xmlns:a16="http://schemas.microsoft.com/office/drawing/2014/main" id="{04596D51-AC92-48B3-A6B6-1FE78F123B9C}"/>
              </a:ext>
            </a:extLst>
          </p:cNvPr>
          <p:cNvSpPr txBox="1">
            <a:spLocks noChangeArrowheads="1"/>
          </p:cNvSpPr>
          <p:nvPr/>
        </p:nvSpPr>
        <p:spPr bwMode="auto">
          <a:xfrm>
            <a:off x="589790" y="6054599"/>
            <a:ext cx="4968502"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7-9a </a:t>
            </a:r>
            <a:r>
              <a:rPr lang="zh-CN" altLang="en-US" sz="2400" b="1" dirty="0">
                <a:solidFill>
                  <a:srgbClr val="3333CC"/>
                </a:solidFill>
                <a:latin typeface="宋体" panose="02010600030101010101" pitchFamily="2" charset="-122"/>
                <a:ea typeface="宋体" panose="02010600030101010101" pitchFamily="2" charset="-122"/>
              </a:rPr>
              <a:t>硒光敏电阻的光电特性曲线</a:t>
            </a:r>
          </a:p>
        </p:txBody>
      </p:sp>
      <p:graphicFrame>
        <p:nvGraphicFramePr>
          <p:cNvPr id="12" name="Object 6">
            <a:extLst>
              <a:ext uri="{FF2B5EF4-FFF2-40B4-BE49-F238E27FC236}">
                <a16:creationId xmlns:a16="http://schemas.microsoft.com/office/drawing/2014/main" id="{F91F2842-D1BF-4717-A165-E744BE9DC6AA}"/>
              </a:ext>
            </a:extLst>
          </p:cNvPr>
          <p:cNvGraphicFramePr>
            <a:graphicFrameLocks noChangeAspect="1"/>
          </p:cNvGraphicFramePr>
          <p:nvPr>
            <p:extLst>
              <p:ext uri="{D42A27DB-BD31-4B8C-83A1-F6EECF244321}">
                <p14:modId xmlns:p14="http://schemas.microsoft.com/office/powerpoint/2010/main" val="1379484751"/>
              </p:ext>
            </p:extLst>
          </p:nvPr>
        </p:nvGraphicFramePr>
        <p:xfrm>
          <a:off x="4492172" y="2946425"/>
          <a:ext cx="2736850" cy="719137"/>
        </p:xfrm>
        <a:graphic>
          <a:graphicData uri="http://schemas.openxmlformats.org/presentationml/2006/ole">
            <mc:AlternateContent xmlns:mc="http://schemas.openxmlformats.org/markup-compatibility/2006">
              <mc:Choice xmlns:v="urn:schemas-microsoft-com:vml" Requires="v">
                <p:oleObj name="公式" r:id="rId3" imgW="761669" imgH="203112" progId="Equation.3">
                  <p:embed/>
                </p:oleObj>
              </mc:Choice>
              <mc:Fallback>
                <p:oleObj name="公式" r:id="rId3" imgW="761669" imgH="203112" progId="Equation.3">
                  <p:embed/>
                  <p:pic>
                    <p:nvPicPr>
                      <p:cNvPr id="205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172" y="2946425"/>
                        <a:ext cx="2736850"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8">
            <a:extLst>
              <a:ext uri="{FF2B5EF4-FFF2-40B4-BE49-F238E27FC236}">
                <a16:creationId xmlns:a16="http://schemas.microsoft.com/office/drawing/2014/main" id="{3EA05792-009A-4409-9BA4-68B0C8F01CD5}"/>
              </a:ext>
            </a:extLst>
          </p:cNvPr>
          <p:cNvSpPr txBox="1">
            <a:spLocks noChangeArrowheads="1"/>
          </p:cNvSpPr>
          <p:nvPr/>
        </p:nvSpPr>
        <p:spPr bwMode="auto">
          <a:xfrm>
            <a:off x="4492172" y="3876738"/>
            <a:ext cx="429282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i="1" dirty="0">
                <a:latin typeface="Times New Roman" panose="02020603050405020304" pitchFamily="18" charset="0"/>
                <a:ea typeface="宋体" panose="02010600030101010101" pitchFamily="2" charset="-122"/>
                <a:cs typeface="Times New Roman" panose="02020603050405020304" pitchFamily="18" charset="0"/>
              </a:rPr>
              <a:t>k</a:t>
            </a:r>
            <a:r>
              <a:rPr lang="zh-CN" altLang="en-US" sz="2400" b="1" dirty="0">
                <a:latin typeface="宋体" panose="02010600030101010101" pitchFamily="2" charset="-122"/>
                <a:ea typeface="宋体" panose="02010600030101010101" pitchFamily="2" charset="-122"/>
              </a:rPr>
              <a:t>只与材料有关，</a:t>
            </a:r>
          </a:p>
          <a:p>
            <a:pPr>
              <a:spcBef>
                <a:spcPct val="50000"/>
              </a:spcBef>
            </a:pPr>
            <a:r>
              <a:rPr lang="zh-CN" altLang="en-US" sz="2400" b="1" dirty="0">
                <a:latin typeface="宋体" panose="02010600030101010101" pitchFamily="2" charset="-122"/>
                <a:ea typeface="宋体" panose="02010600030101010101" pitchFamily="2" charset="-122"/>
              </a:rPr>
              <a:t>非线性，不宜作连续测量元件，</a:t>
            </a:r>
          </a:p>
          <a:p>
            <a:pPr>
              <a:spcBef>
                <a:spcPct val="50000"/>
              </a:spcBef>
            </a:pPr>
            <a:r>
              <a:rPr lang="zh-CN" altLang="en-US" sz="2400" b="1" dirty="0">
                <a:latin typeface="宋体" panose="02010600030101010101" pitchFamily="2" charset="-122"/>
                <a:ea typeface="宋体" panose="02010600030101010101" pitchFamily="2" charset="-122"/>
              </a:rPr>
              <a:t>用作开关式光电信号传感元件。</a:t>
            </a:r>
          </a:p>
        </p:txBody>
      </p:sp>
      <p:pic>
        <p:nvPicPr>
          <p:cNvPr id="14" name="Picture 14">
            <a:extLst>
              <a:ext uri="{FF2B5EF4-FFF2-40B4-BE49-F238E27FC236}">
                <a16:creationId xmlns:a16="http://schemas.microsoft.com/office/drawing/2014/main" id="{0AC87290-272F-4710-BCC7-2BAEA67E367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b="16284"/>
          <a:stretch/>
        </p:blipFill>
        <p:spPr bwMode="auto">
          <a:xfrm>
            <a:off x="903204" y="2800173"/>
            <a:ext cx="3363996" cy="3214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824874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光敏电阻</a:t>
            </a:r>
          </a:p>
        </p:txBody>
      </p:sp>
      <p:sp>
        <p:nvSpPr>
          <p:cNvPr id="27" name="Text Box 7"/>
          <p:cNvSpPr txBox="1">
            <a:spLocks noChangeArrowheads="1"/>
          </p:cNvSpPr>
          <p:nvPr/>
        </p:nvSpPr>
        <p:spPr bwMode="auto">
          <a:xfrm>
            <a:off x="1043341" y="1884350"/>
            <a:ext cx="7466828" cy="574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ct val="150000"/>
              </a:lnSpc>
              <a:spcBef>
                <a:spcPct val="50000"/>
              </a:spcBef>
              <a:buFont typeface="Wingdings" pitchFamily="2" charset="2"/>
              <a:buNone/>
            </a:pPr>
            <a:r>
              <a:rPr lang="zh-CN" altLang="en-US" sz="2400" dirty="0">
                <a:solidFill>
                  <a:schemeClr val="tx1"/>
                </a:solidFill>
              </a:rPr>
              <a:t>光照一定时，光电流与光敏电阻两端电压之间的关系</a:t>
            </a:r>
          </a:p>
        </p:txBody>
      </p:sp>
      <p:sp>
        <p:nvSpPr>
          <p:cNvPr id="2" name="矩形 1"/>
          <p:cNvSpPr/>
          <p:nvPr/>
        </p:nvSpPr>
        <p:spPr>
          <a:xfrm>
            <a:off x="620168" y="1384154"/>
            <a:ext cx="1903085" cy="461665"/>
          </a:xfrm>
          <a:prstGeom prst="rect">
            <a:avLst/>
          </a:prstGeom>
        </p:spPr>
        <p:txBody>
          <a:bodyPr wrap="none">
            <a:spAutoFit/>
          </a:bodyPr>
          <a:lstStyle/>
          <a:p>
            <a:pPr lvl="0">
              <a:spcBef>
                <a:spcPct val="50000"/>
              </a:spcBef>
            </a:pPr>
            <a:r>
              <a:rPr lang="en-US" altLang="zh-CN" sz="2400" b="1" dirty="0">
                <a:latin typeface="宋体" panose="02010600030101010101" pitchFamily="2" charset="-122"/>
                <a:ea typeface="宋体" panose="02010600030101010101" pitchFamily="2" charset="-122"/>
              </a:rPr>
              <a:t>5</a:t>
            </a:r>
            <a:r>
              <a:rPr lang="zh-CN" altLang="en-US" sz="2400" b="1" dirty="0">
                <a:solidFill>
                  <a:prstClr val="black"/>
                </a:solidFill>
                <a:latin typeface="宋体" panose="02010600030101010101" pitchFamily="2" charset="-122"/>
                <a:ea typeface="宋体" panose="02010600030101010101" pitchFamily="2" charset="-122"/>
              </a:rPr>
              <a:t>、伏安特性</a:t>
            </a:r>
            <a:endParaRPr lang="zh-CN" altLang="el-GR" sz="2400" b="1" dirty="0">
              <a:solidFill>
                <a:prstClr val="black"/>
              </a:solidFill>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0F28314F-CE3C-494E-9758-A131B8603039}"/>
              </a:ext>
            </a:extLst>
          </p:cNvPr>
          <p:cNvSpPr>
            <a:spLocks noGrp="1"/>
          </p:cNvSpPr>
          <p:nvPr>
            <p:ph type="sldNum" sz="quarter" idx="12"/>
          </p:nvPr>
        </p:nvSpPr>
        <p:spPr/>
        <p:txBody>
          <a:bodyPr/>
          <a:lstStyle/>
          <a:p>
            <a:fld id="{B53602B4-F12B-41CD-B648-531F86B2CC91}" type="slidenum">
              <a:rPr lang="zh-CN" altLang="en-US" smtClean="0"/>
              <a:t>19</a:t>
            </a:fld>
            <a:endParaRPr lang="zh-CN" altLang="en-US"/>
          </a:p>
        </p:txBody>
      </p:sp>
      <p:sp>
        <p:nvSpPr>
          <p:cNvPr id="11" name="Text Box 8">
            <a:extLst>
              <a:ext uri="{FF2B5EF4-FFF2-40B4-BE49-F238E27FC236}">
                <a16:creationId xmlns:a16="http://schemas.microsoft.com/office/drawing/2014/main" id="{E77BB709-DB20-482D-959E-54BB7468674A}"/>
              </a:ext>
            </a:extLst>
          </p:cNvPr>
          <p:cNvSpPr txBox="1">
            <a:spLocks noChangeArrowheads="1"/>
          </p:cNvSpPr>
          <p:nvPr/>
        </p:nvSpPr>
        <p:spPr bwMode="auto">
          <a:xfrm>
            <a:off x="443200" y="6125518"/>
            <a:ext cx="51216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folHlink"/>
              </a:buClr>
              <a:buFont typeface="Wingdings" pitchFamily="2" charset="2"/>
              <a:buNone/>
            </a:pPr>
            <a:r>
              <a:rPr lang="en-US" altLang="zh-CN" sz="2400" b="1" dirty="0">
                <a:solidFill>
                  <a:srgbClr val="3333CC"/>
                </a:solidFill>
                <a:latin typeface="宋体" panose="02010600030101010101" pitchFamily="2" charset="-122"/>
                <a:ea typeface="宋体" panose="02010600030101010101" pitchFamily="2" charset="-122"/>
              </a:rPr>
              <a:t> </a:t>
            </a: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7-10a </a:t>
            </a:r>
            <a:r>
              <a:rPr lang="zh-CN" altLang="en-US" sz="2400" b="1" dirty="0">
                <a:solidFill>
                  <a:srgbClr val="3333CC"/>
                </a:solidFill>
                <a:latin typeface="宋体" panose="02010600030101010101" pitchFamily="2" charset="-122"/>
                <a:ea typeface="宋体" panose="02010600030101010101" pitchFamily="2" charset="-122"/>
              </a:rPr>
              <a:t>光敏电阻的伏安特性曲线</a:t>
            </a:r>
          </a:p>
        </p:txBody>
      </p:sp>
      <p:sp>
        <p:nvSpPr>
          <p:cNvPr id="12" name="Text Box 9">
            <a:extLst>
              <a:ext uri="{FF2B5EF4-FFF2-40B4-BE49-F238E27FC236}">
                <a16:creationId xmlns:a16="http://schemas.microsoft.com/office/drawing/2014/main" id="{26F059BA-F1C9-4296-8121-04BD6C61E107}"/>
              </a:ext>
            </a:extLst>
          </p:cNvPr>
          <p:cNvSpPr txBox="1">
            <a:spLocks noChangeArrowheads="1"/>
          </p:cNvSpPr>
          <p:nvPr/>
        </p:nvSpPr>
        <p:spPr bwMode="auto">
          <a:xfrm>
            <a:off x="5178654" y="3196018"/>
            <a:ext cx="3097213"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、良好的线性；</a:t>
            </a:r>
          </a:p>
          <a:p>
            <a:pPr>
              <a:spcBef>
                <a:spcPct val="50000"/>
              </a:spcBef>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、无饱和现象；</a:t>
            </a:r>
          </a:p>
          <a:p>
            <a:pPr>
              <a:spcBef>
                <a:spcPct val="50000"/>
              </a:spcBef>
            </a:pP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、最高工作电压由</a:t>
            </a:r>
          </a:p>
          <a:p>
            <a:pPr>
              <a:spcBef>
                <a:spcPct val="50000"/>
              </a:spcBef>
            </a:pPr>
            <a:r>
              <a:rPr lang="zh-CN" altLang="en-US" sz="2400" b="1">
                <a:latin typeface="宋体" panose="02010600030101010101" pitchFamily="2" charset="-122"/>
                <a:ea typeface="宋体" panose="02010600030101010101" pitchFamily="2" charset="-122"/>
              </a:rPr>
              <a:t>   耗</a:t>
            </a:r>
            <a:r>
              <a:rPr lang="zh-CN" altLang="en-US" sz="2400" b="1" dirty="0">
                <a:latin typeface="宋体" panose="02010600030101010101" pitchFamily="2" charset="-122"/>
                <a:ea typeface="宋体" panose="02010600030101010101" pitchFamily="2" charset="-122"/>
              </a:rPr>
              <a:t>散功率决定。</a:t>
            </a:r>
          </a:p>
        </p:txBody>
      </p:sp>
      <p:pic>
        <p:nvPicPr>
          <p:cNvPr id="13" name="Picture 2">
            <a:extLst>
              <a:ext uri="{FF2B5EF4-FFF2-40B4-BE49-F238E27FC236}">
                <a16:creationId xmlns:a16="http://schemas.microsoft.com/office/drawing/2014/main" id="{6B55C09A-D679-4ACF-B031-0C6C13B45D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8133" y="2497462"/>
            <a:ext cx="3908622" cy="3520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5777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光敏电阻</a:t>
            </a:r>
          </a:p>
        </p:txBody>
      </p:sp>
      <p:sp>
        <p:nvSpPr>
          <p:cNvPr id="2" name="矩形 1"/>
          <p:cNvSpPr/>
          <p:nvPr/>
        </p:nvSpPr>
        <p:spPr>
          <a:xfrm>
            <a:off x="620168" y="1418915"/>
            <a:ext cx="1903085" cy="646331"/>
          </a:xfrm>
          <a:prstGeom prst="rect">
            <a:avLst/>
          </a:prstGeom>
        </p:spPr>
        <p:txBody>
          <a:bodyPr wrap="none">
            <a:spAutoFit/>
          </a:bodyPr>
          <a:lstStyle/>
          <a:p>
            <a:pPr lvl="0">
              <a:lnSpc>
                <a:spcPct val="150000"/>
              </a:lnSpc>
              <a:spcBef>
                <a:spcPct val="10000"/>
              </a:spcBef>
            </a:pPr>
            <a:r>
              <a:rPr lang="en-US" altLang="zh-CN" sz="2400" b="1" dirty="0">
                <a:latin typeface="宋体" panose="02010600030101010101" pitchFamily="2" charset="-122"/>
                <a:ea typeface="宋体" panose="02010600030101010101" pitchFamily="2" charset="-122"/>
              </a:rPr>
              <a:t>6</a:t>
            </a:r>
            <a:r>
              <a:rPr lang="zh-CN" altLang="en-US" sz="2400" b="1" dirty="0">
                <a:solidFill>
                  <a:prstClr val="black"/>
                </a:solidFill>
                <a:latin typeface="宋体" panose="02010600030101010101" pitchFamily="2" charset="-122"/>
                <a:ea typeface="宋体" panose="02010600030101010101" pitchFamily="2" charset="-122"/>
              </a:rPr>
              <a:t>、光谱特性</a:t>
            </a:r>
          </a:p>
        </p:txBody>
      </p:sp>
      <p:sp>
        <p:nvSpPr>
          <p:cNvPr id="3" name="Slide Number Placeholder 2">
            <a:extLst>
              <a:ext uri="{FF2B5EF4-FFF2-40B4-BE49-F238E27FC236}">
                <a16:creationId xmlns:a16="http://schemas.microsoft.com/office/drawing/2014/main" id="{6B73BCD5-39DB-41D6-86BA-241AC59CA903}"/>
              </a:ext>
            </a:extLst>
          </p:cNvPr>
          <p:cNvSpPr>
            <a:spLocks noGrp="1"/>
          </p:cNvSpPr>
          <p:nvPr>
            <p:ph type="sldNum" sz="quarter" idx="12"/>
          </p:nvPr>
        </p:nvSpPr>
        <p:spPr/>
        <p:txBody>
          <a:bodyPr/>
          <a:lstStyle/>
          <a:p>
            <a:fld id="{B53602B4-F12B-41CD-B648-531F86B2CC91}" type="slidenum">
              <a:rPr lang="zh-CN" altLang="en-US" smtClean="0"/>
              <a:t>20</a:t>
            </a:fld>
            <a:endParaRPr lang="zh-CN" altLang="en-US"/>
          </a:p>
        </p:txBody>
      </p:sp>
      <p:sp>
        <p:nvSpPr>
          <p:cNvPr id="9" name="Text Box 5">
            <a:extLst>
              <a:ext uri="{FF2B5EF4-FFF2-40B4-BE49-F238E27FC236}">
                <a16:creationId xmlns:a16="http://schemas.microsoft.com/office/drawing/2014/main" id="{9916BC25-D433-45B4-9989-567F52C8EFF3}"/>
              </a:ext>
            </a:extLst>
          </p:cNvPr>
          <p:cNvSpPr txBox="1">
            <a:spLocks noChangeArrowheads="1"/>
          </p:cNvSpPr>
          <p:nvPr/>
        </p:nvSpPr>
        <p:spPr bwMode="auto">
          <a:xfrm>
            <a:off x="706933" y="5737667"/>
            <a:ext cx="52221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252538" indent="-1252538">
              <a:spcBef>
                <a:spcPct val="20000"/>
              </a:spcBef>
              <a:buClr>
                <a:schemeClr val="folHlink"/>
              </a:buClr>
              <a:buFont typeface="Wingdings" pitchFamily="2" charset="2"/>
              <a:buNone/>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7-11a </a:t>
            </a:r>
            <a:r>
              <a:rPr lang="zh-CN" altLang="en-US" sz="2400" b="1" dirty="0">
                <a:solidFill>
                  <a:srgbClr val="3333CC"/>
                </a:solidFill>
                <a:latin typeface="宋体" panose="02010600030101010101" pitchFamily="2" charset="-122"/>
                <a:ea typeface="宋体" panose="02010600030101010101" pitchFamily="2" charset="-122"/>
              </a:rPr>
              <a:t>不同材料制成的光敏电阻的相对光谱特性曲线</a:t>
            </a:r>
          </a:p>
        </p:txBody>
      </p:sp>
      <p:pic>
        <p:nvPicPr>
          <p:cNvPr id="10" name="Picture 12">
            <a:extLst>
              <a:ext uri="{FF2B5EF4-FFF2-40B4-BE49-F238E27FC236}">
                <a16:creationId xmlns:a16="http://schemas.microsoft.com/office/drawing/2014/main" id="{24D788F5-286D-487F-A74A-3BC8EDB4E9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276" y="2262017"/>
            <a:ext cx="4772120" cy="347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 Box 4"/>
          <p:cNvSpPr txBox="1">
            <a:spLocks noChangeArrowheads="1"/>
          </p:cNvSpPr>
          <p:nvPr/>
        </p:nvSpPr>
        <p:spPr bwMode="auto">
          <a:xfrm>
            <a:off x="5573396" y="2536215"/>
            <a:ext cx="3168380" cy="2258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marL="685800" eaLnBrk="1" hangingPunct="1">
              <a:lnSpc>
                <a:spcPct val="150000"/>
              </a:lnSpc>
              <a:spcBef>
                <a:spcPct val="10000"/>
              </a:spcBef>
              <a:buFont typeface="Arial" panose="020B0604020202020204" pitchFamily="34" charset="0"/>
              <a:buChar char="•"/>
            </a:pPr>
            <a:r>
              <a:rPr lang="zh-CN" altLang="en-US" sz="2400">
                <a:solidFill>
                  <a:schemeClr val="tx1"/>
                </a:solidFill>
                <a:latin typeface="宋体" panose="02010600030101010101" pitchFamily="2" charset="-122"/>
                <a:ea typeface="宋体" panose="02010600030101010101" pitchFamily="2" charset="-122"/>
              </a:rPr>
              <a:t>不</a:t>
            </a:r>
            <a:r>
              <a:rPr lang="zh-CN" altLang="en-US" sz="2400" dirty="0">
                <a:solidFill>
                  <a:schemeClr val="tx1"/>
                </a:solidFill>
                <a:latin typeface="宋体" panose="02010600030101010101" pitchFamily="2" charset="-122"/>
                <a:ea typeface="宋体" panose="02010600030101010101" pitchFamily="2" charset="-122"/>
              </a:rPr>
              <a:t>同波长的</a:t>
            </a:r>
            <a:r>
              <a:rPr lang="zh-CN" altLang="en-US" sz="2400">
                <a:solidFill>
                  <a:schemeClr val="tx1"/>
                </a:solidFill>
                <a:latin typeface="宋体" panose="02010600030101010101" pitchFamily="2" charset="-122"/>
                <a:ea typeface="宋体" panose="02010600030101010101" pitchFamily="2" charset="-122"/>
              </a:rPr>
              <a:t>光，灵</a:t>
            </a:r>
            <a:r>
              <a:rPr lang="zh-CN" altLang="en-US" sz="2400" dirty="0">
                <a:solidFill>
                  <a:schemeClr val="tx1"/>
                </a:solidFill>
                <a:latin typeface="宋体" panose="02010600030101010101" pitchFamily="2" charset="-122"/>
                <a:ea typeface="宋体" panose="02010600030101010101" pitchFamily="2" charset="-122"/>
              </a:rPr>
              <a:t>敏度</a:t>
            </a:r>
            <a:r>
              <a:rPr lang="zh-CN" altLang="en-US" sz="2400">
                <a:solidFill>
                  <a:schemeClr val="tx1"/>
                </a:solidFill>
                <a:latin typeface="宋体" panose="02010600030101010101" pitchFamily="2" charset="-122"/>
                <a:ea typeface="宋体" panose="02010600030101010101" pitchFamily="2" charset="-122"/>
              </a:rPr>
              <a:t>不同</a:t>
            </a:r>
            <a:endParaRPr lang="en-US" altLang="zh-CN" sz="2400">
              <a:solidFill>
                <a:schemeClr val="tx1"/>
              </a:solidFill>
              <a:latin typeface="宋体" panose="02010600030101010101" pitchFamily="2" charset="-122"/>
              <a:ea typeface="宋体" panose="02010600030101010101" pitchFamily="2" charset="-122"/>
            </a:endParaRPr>
          </a:p>
          <a:p>
            <a:pPr marL="685800" eaLnBrk="1" hangingPunct="1">
              <a:lnSpc>
                <a:spcPct val="150000"/>
              </a:lnSpc>
              <a:spcBef>
                <a:spcPct val="10000"/>
              </a:spcBef>
              <a:buFont typeface="Arial" panose="020B0604020202020204" pitchFamily="34" charset="0"/>
              <a:buChar char="•"/>
            </a:pPr>
            <a:r>
              <a:rPr lang="zh-CN" altLang="en-US" sz="2400">
                <a:solidFill>
                  <a:schemeClr val="tx1"/>
                </a:solidFill>
                <a:latin typeface="宋体" panose="02010600030101010101" pitchFamily="2" charset="-122"/>
                <a:ea typeface="宋体" panose="02010600030101010101" pitchFamily="2" charset="-122"/>
              </a:rPr>
              <a:t>选</a:t>
            </a:r>
            <a:r>
              <a:rPr lang="zh-CN" altLang="en-US" sz="2400" dirty="0">
                <a:solidFill>
                  <a:schemeClr val="tx1"/>
                </a:solidFill>
                <a:latin typeface="宋体" panose="02010600030101010101" pitchFamily="2" charset="-122"/>
                <a:ea typeface="宋体" panose="02010600030101010101" pitchFamily="2" charset="-122"/>
              </a:rPr>
              <a:t>用光敏电阻要</a:t>
            </a:r>
            <a:r>
              <a:rPr lang="zh-CN" altLang="en-US" sz="2400" dirty="0">
                <a:solidFill>
                  <a:srgbClr val="D60093"/>
                </a:solidFill>
                <a:latin typeface="宋体" panose="02010600030101010101" pitchFamily="2" charset="-122"/>
                <a:ea typeface="宋体" panose="02010600030101010101" pitchFamily="2" charset="-122"/>
              </a:rPr>
              <a:t>根据光源</a:t>
            </a:r>
            <a:r>
              <a:rPr lang="zh-CN" altLang="en-US" sz="2400" dirty="0">
                <a:solidFill>
                  <a:schemeClr val="tx1"/>
                </a:solidFill>
                <a:latin typeface="宋体" panose="02010600030101010101" pitchFamily="2" charset="-122"/>
                <a:ea typeface="宋体" panose="02010600030101010101" pitchFamily="2" charset="-122"/>
              </a:rPr>
              <a:t>来考</a:t>
            </a:r>
            <a:r>
              <a:rPr lang="zh-CN" altLang="en-US" sz="2400">
                <a:solidFill>
                  <a:schemeClr val="tx1"/>
                </a:solidFill>
                <a:latin typeface="宋体" panose="02010600030101010101" pitchFamily="2" charset="-122"/>
                <a:ea typeface="宋体" panose="02010600030101010101" pitchFamily="2" charset="-122"/>
              </a:rPr>
              <a:t>虑。</a:t>
            </a:r>
            <a:endParaRPr lang="zh-CN" altLang="en-US" sz="2400"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3073596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光敏电阻</a:t>
            </a:r>
          </a:p>
        </p:txBody>
      </p:sp>
      <p:sp>
        <p:nvSpPr>
          <p:cNvPr id="19" name="Text Box 4"/>
          <p:cNvSpPr txBox="1">
            <a:spLocks noChangeArrowheads="1"/>
          </p:cNvSpPr>
          <p:nvPr/>
        </p:nvSpPr>
        <p:spPr bwMode="auto">
          <a:xfrm>
            <a:off x="148133" y="1235128"/>
            <a:ext cx="6648562" cy="2349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ct val="150000"/>
              </a:lnSpc>
              <a:spcBef>
                <a:spcPct val="10000"/>
              </a:spcBef>
              <a:buFont typeface="Wingdings" pitchFamily="2" charset="2"/>
              <a:buNone/>
            </a:pPr>
            <a:r>
              <a:rPr lang="en-US" altLang="zh-CN" sz="2400">
                <a:solidFill>
                  <a:schemeClr val="tx1"/>
                </a:solidFill>
                <a:latin typeface="宋体" panose="02010600030101010101" pitchFamily="2" charset="-122"/>
                <a:ea typeface="宋体" panose="02010600030101010101" pitchFamily="2" charset="-122"/>
              </a:rPr>
              <a:t>7</a:t>
            </a:r>
            <a:r>
              <a:rPr lang="zh-CN" altLang="en-US" sz="2400" dirty="0">
                <a:solidFill>
                  <a:schemeClr val="tx1"/>
                </a:solidFill>
                <a:latin typeface="宋体" panose="02010600030101010101" pitchFamily="2" charset="-122"/>
                <a:ea typeface="宋体" panose="02010600030101010101" pitchFamily="2" charset="-122"/>
              </a:rPr>
              <a:t>、响应时间（频率特性）</a:t>
            </a:r>
          </a:p>
          <a:p>
            <a:pPr eaLnBrk="1" hangingPunct="1">
              <a:lnSpc>
                <a:spcPct val="150000"/>
              </a:lnSpc>
              <a:spcBef>
                <a:spcPct val="10000"/>
              </a:spcBef>
              <a:buFont typeface="Wingdings" pitchFamily="2" charset="2"/>
              <a:buNone/>
            </a:pPr>
            <a:r>
              <a:rPr lang="zh-CN" altLang="en-US" sz="2400" dirty="0">
                <a:solidFill>
                  <a:schemeClr val="tx1"/>
                </a:solidFill>
                <a:latin typeface="宋体" panose="02010600030101010101" pitchFamily="2" charset="-122"/>
                <a:ea typeface="宋体" panose="02010600030101010101" pitchFamily="2" charset="-122"/>
              </a:rPr>
              <a:t>    具有</a:t>
            </a:r>
            <a:r>
              <a:rPr lang="zh-CN" altLang="en-US" sz="2400" dirty="0">
                <a:solidFill>
                  <a:srgbClr val="FF0000"/>
                </a:solidFill>
                <a:latin typeface="宋体" panose="02010600030101010101" pitchFamily="2" charset="-122"/>
                <a:ea typeface="宋体" panose="02010600030101010101" pitchFamily="2" charset="-122"/>
              </a:rPr>
              <a:t>时延特性</a:t>
            </a:r>
            <a:r>
              <a:rPr lang="zh-CN" altLang="en-US" sz="2400" dirty="0">
                <a:solidFill>
                  <a:schemeClr val="tx1"/>
                </a:solidFill>
                <a:latin typeface="宋体" panose="02010600030101010101" pitchFamily="2" charset="-122"/>
                <a:ea typeface="宋体" panose="02010600030101010101" pitchFamily="2" charset="-122"/>
              </a:rPr>
              <a:t>。</a:t>
            </a:r>
          </a:p>
          <a:p>
            <a:pPr indent="20638" eaLnBrk="1" hangingPunct="1">
              <a:lnSpc>
                <a:spcPct val="150000"/>
              </a:lnSpc>
              <a:spcBef>
                <a:spcPct val="10000"/>
              </a:spcBef>
              <a:buFont typeface="Wingdings" pitchFamily="2" charset="2"/>
              <a:buNone/>
            </a:pPr>
            <a:r>
              <a:rPr lang="zh-CN" altLang="en-US" sz="2400" dirty="0">
                <a:solidFill>
                  <a:srgbClr val="008000"/>
                </a:solidFill>
                <a:latin typeface="宋体" panose="02010600030101010101" pitchFamily="2" charset="-122"/>
                <a:ea typeface="宋体" panose="02010600030101010101" pitchFamily="2" charset="-122"/>
              </a:rPr>
              <a:t>（上升时间</a:t>
            </a:r>
            <a:r>
              <a:rPr lang="en-US" altLang="zh-CN" sz="2400" dirty="0">
                <a:solidFill>
                  <a:srgbClr val="008000"/>
                </a:solidFill>
                <a:latin typeface="宋体" panose="02010600030101010101" pitchFamily="2" charset="-122"/>
                <a:ea typeface="宋体" panose="02010600030101010101" pitchFamily="2" charset="-122"/>
              </a:rPr>
              <a:t>+</a:t>
            </a:r>
            <a:r>
              <a:rPr lang="zh-CN" altLang="en-US" sz="2400" dirty="0">
                <a:solidFill>
                  <a:srgbClr val="008000"/>
                </a:solidFill>
                <a:latin typeface="宋体" panose="02010600030101010101" pitchFamily="2" charset="-122"/>
                <a:ea typeface="宋体" panose="02010600030101010101" pitchFamily="2" charset="-122"/>
              </a:rPr>
              <a:t>下降时间）→几十～几百</a:t>
            </a:r>
            <a:r>
              <a:rPr lang="en-US" altLang="zh-CN" sz="2400" dirty="0">
                <a:solidFill>
                  <a:srgbClr val="008000"/>
                </a:solidFill>
                <a:latin typeface="宋体" panose="02010600030101010101" pitchFamily="2" charset="-122"/>
                <a:ea typeface="宋体" panose="02010600030101010101" pitchFamily="2" charset="-122"/>
              </a:rPr>
              <a:t>(</a:t>
            </a:r>
            <a:r>
              <a:rPr lang="en-US" altLang="zh-CN" sz="2400" dirty="0" err="1">
                <a:solidFill>
                  <a:srgbClr val="008000"/>
                </a:solidFill>
                <a:latin typeface="宋体" panose="02010600030101010101" pitchFamily="2" charset="-122"/>
                <a:ea typeface="宋体" panose="02010600030101010101" pitchFamily="2" charset="-122"/>
              </a:rPr>
              <a:t>ms</a:t>
            </a:r>
            <a:r>
              <a:rPr lang="en-US" altLang="zh-CN" sz="2400" dirty="0">
                <a:solidFill>
                  <a:srgbClr val="008000"/>
                </a:solidFill>
                <a:latin typeface="宋体" panose="02010600030101010101" pitchFamily="2" charset="-122"/>
                <a:ea typeface="宋体" panose="02010600030101010101" pitchFamily="2" charset="-122"/>
              </a:rPr>
              <a:t>)</a:t>
            </a:r>
          </a:p>
          <a:p>
            <a:pPr indent="20638" eaLnBrk="1" hangingPunct="1">
              <a:lnSpc>
                <a:spcPct val="150000"/>
              </a:lnSpc>
              <a:spcBef>
                <a:spcPct val="10000"/>
              </a:spcBef>
              <a:buFont typeface="Wingdings" pitchFamily="2" charset="2"/>
              <a:buNone/>
            </a:pPr>
            <a:r>
              <a:rPr lang="zh-CN" altLang="en-US" sz="2400" dirty="0">
                <a:solidFill>
                  <a:schemeClr val="tx1"/>
                </a:solidFill>
                <a:latin typeface="宋体" panose="02010600030101010101" pitchFamily="2" charset="-122"/>
                <a:ea typeface="宋体" panose="02010600030101010101" pitchFamily="2" charset="-122"/>
              </a:rPr>
              <a:t>跟材料、光源的照度有关，光照</a:t>
            </a:r>
            <a:r>
              <a:rPr lang="zh-CN" altLang="en-US" sz="2400" dirty="0">
                <a:solidFill>
                  <a:srgbClr val="FF0000"/>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，响应</a:t>
            </a:r>
            <a:r>
              <a:rPr lang="en-US" altLang="zh-CN" sz="24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dirty="0">
                <a:solidFill>
                  <a:srgbClr val="FF0000"/>
                </a:solidFill>
                <a:latin typeface="宋体" panose="02010600030101010101" pitchFamily="2" charset="-122"/>
                <a:ea typeface="宋体" panose="02010600030101010101" pitchFamily="2" charset="-122"/>
              </a:rPr>
              <a:t>↓</a:t>
            </a:r>
            <a:r>
              <a:rPr lang="zh-CN" altLang="en-US" sz="2400" dirty="0">
                <a:solidFill>
                  <a:schemeClr val="tx1"/>
                </a:solidFill>
                <a:latin typeface="宋体" panose="02010600030101010101" pitchFamily="2" charset="-122"/>
                <a:ea typeface="宋体" panose="02010600030101010101" pitchFamily="2" charset="-122"/>
              </a:rPr>
              <a:t>。</a:t>
            </a:r>
          </a:p>
        </p:txBody>
      </p:sp>
      <p:sp>
        <p:nvSpPr>
          <p:cNvPr id="3" name="Slide Number Placeholder 2">
            <a:extLst>
              <a:ext uri="{FF2B5EF4-FFF2-40B4-BE49-F238E27FC236}">
                <a16:creationId xmlns:a16="http://schemas.microsoft.com/office/drawing/2014/main" id="{6B73BCD5-39DB-41D6-86BA-241AC59CA903}"/>
              </a:ext>
            </a:extLst>
          </p:cNvPr>
          <p:cNvSpPr>
            <a:spLocks noGrp="1"/>
          </p:cNvSpPr>
          <p:nvPr>
            <p:ph type="sldNum" sz="quarter" idx="12"/>
          </p:nvPr>
        </p:nvSpPr>
        <p:spPr/>
        <p:txBody>
          <a:bodyPr/>
          <a:lstStyle/>
          <a:p>
            <a:fld id="{B53602B4-F12B-41CD-B648-531F86B2CC91}" type="slidenum">
              <a:rPr lang="zh-CN" altLang="en-US" smtClean="0"/>
              <a:t>21</a:t>
            </a:fld>
            <a:endParaRPr lang="zh-CN" altLang="en-US"/>
          </a:p>
        </p:txBody>
      </p:sp>
      <p:sp>
        <p:nvSpPr>
          <p:cNvPr id="7" name="Text Box 158">
            <a:extLst>
              <a:ext uri="{FF2B5EF4-FFF2-40B4-BE49-F238E27FC236}">
                <a16:creationId xmlns:a16="http://schemas.microsoft.com/office/drawing/2014/main" id="{E0880CE8-1809-44D3-9DFA-8B3EDC117CC4}"/>
              </a:ext>
            </a:extLst>
          </p:cNvPr>
          <p:cNvSpPr txBox="1">
            <a:spLocks noChangeArrowheads="1"/>
          </p:cNvSpPr>
          <p:nvPr/>
        </p:nvSpPr>
        <p:spPr bwMode="auto">
          <a:xfrm>
            <a:off x="4483913" y="4535647"/>
            <a:ext cx="3921494"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7-12a </a:t>
            </a:r>
            <a:r>
              <a:rPr kumimoji="0" lang="zh-CN" altLang="en-US" b="1" dirty="0">
                <a:solidFill>
                  <a:srgbClr val="3333CC"/>
                </a:solidFill>
                <a:latin typeface="宋体" panose="02010600030101010101" pitchFamily="2" charset="-122"/>
                <a:ea typeface="宋体" panose="02010600030101010101" pitchFamily="2" charset="-122"/>
              </a:rPr>
              <a:t>光敏电阻和光电池的频率特性曲线</a:t>
            </a:r>
          </a:p>
        </p:txBody>
      </p:sp>
      <p:pic>
        <p:nvPicPr>
          <p:cNvPr id="8" name="图片 2">
            <a:extLst>
              <a:ext uri="{FF2B5EF4-FFF2-40B4-BE49-F238E27FC236}">
                <a16:creationId xmlns:a16="http://schemas.microsoft.com/office/drawing/2014/main" id="{9404405F-E6C2-4CE6-AE4F-A5F5B39B60A7}"/>
              </a:ext>
            </a:extLst>
          </p:cNvPr>
          <p:cNvPicPr>
            <a:picLocks noChangeAspect="1"/>
          </p:cNvPicPr>
          <p:nvPr/>
        </p:nvPicPr>
        <p:blipFill>
          <a:blip r:embed="rId3"/>
          <a:stretch>
            <a:fillRect/>
          </a:stretch>
        </p:blipFill>
        <p:spPr>
          <a:xfrm>
            <a:off x="801440" y="3646345"/>
            <a:ext cx="3401524" cy="2892568"/>
          </a:xfrm>
          <a:prstGeom prst="rect">
            <a:avLst/>
          </a:prstGeom>
        </p:spPr>
      </p:pic>
    </p:spTree>
    <p:extLst>
      <p:ext uri="{BB962C8B-B14F-4D97-AF65-F5344CB8AC3E}">
        <p14:creationId xmlns:p14="http://schemas.microsoft.com/office/powerpoint/2010/main" val="7433560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光敏电阻</a:t>
            </a:r>
          </a:p>
        </p:txBody>
      </p:sp>
      <p:sp>
        <p:nvSpPr>
          <p:cNvPr id="19" name="Text Box 4"/>
          <p:cNvSpPr txBox="1">
            <a:spLocks noChangeArrowheads="1"/>
          </p:cNvSpPr>
          <p:nvPr/>
        </p:nvSpPr>
        <p:spPr bwMode="auto">
          <a:xfrm>
            <a:off x="969368" y="1586835"/>
            <a:ext cx="6832210" cy="1021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ct val="130000"/>
              </a:lnSpc>
              <a:spcBef>
                <a:spcPct val="10000"/>
              </a:spcBef>
              <a:buFont typeface="Wingdings" pitchFamily="2" charset="2"/>
              <a:buNone/>
            </a:pPr>
            <a:r>
              <a:rPr lang="en-US" altLang="zh-CN" sz="2400" dirty="0">
                <a:solidFill>
                  <a:schemeClr val="tx1"/>
                </a:solidFill>
                <a:latin typeface="宋体" panose="02010600030101010101" pitchFamily="2" charset="-122"/>
                <a:ea typeface="宋体" panose="02010600030101010101" pitchFamily="2" charset="-122"/>
              </a:rPr>
              <a:t>8</a:t>
            </a:r>
            <a:r>
              <a:rPr lang="zh-CN" altLang="en-US" sz="2400" dirty="0">
                <a:solidFill>
                  <a:schemeClr val="tx1"/>
                </a:solidFill>
                <a:latin typeface="宋体" panose="02010600030101010101" pitchFamily="2" charset="-122"/>
                <a:ea typeface="宋体" panose="02010600030101010101" pitchFamily="2" charset="-122"/>
              </a:rPr>
              <a:t>、温度特性</a:t>
            </a:r>
          </a:p>
          <a:p>
            <a:pPr eaLnBrk="1" hangingPunct="1">
              <a:lnSpc>
                <a:spcPct val="130000"/>
              </a:lnSpc>
              <a:spcBef>
                <a:spcPct val="10000"/>
              </a:spcBef>
              <a:buFont typeface="Wingdings" pitchFamily="2" charset="2"/>
              <a:buNone/>
            </a:pPr>
            <a:r>
              <a:rPr lang="zh-CN" altLang="en-US" sz="2400" dirty="0">
                <a:solidFill>
                  <a:schemeClr val="tx1"/>
                </a:solidFill>
                <a:latin typeface="宋体" panose="02010600030101010101" pitchFamily="2" charset="-122"/>
                <a:ea typeface="宋体" panose="02010600030101010101" pitchFamily="2" charset="-122"/>
              </a:rPr>
              <a:t>     光敏电阻的温度特性用电阻温度系数表示：</a:t>
            </a:r>
          </a:p>
        </p:txBody>
      </p:sp>
      <p:graphicFrame>
        <p:nvGraphicFramePr>
          <p:cNvPr id="20" name="Object 5"/>
          <p:cNvGraphicFramePr>
            <a:graphicFrameLocks noChangeAspect="1"/>
          </p:cNvGraphicFramePr>
          <p:nvPr>
            <p:extLst>
              <p:ext uri="{D42A27DB-BD31-4B8C-83A1-F6EECF244321}">
                <p14:modId xmlns:p14="http://schemas.microsoft.com/office/powerpoint/2010/main" val="2307107972"/>
              </p:ext>
            </p:extLst>
          </p:nvPr>
        </p:nvGraphicFramePr>
        <p:xfrm>
          <a:off x="1455923" y="3028283"/>
          <a:ext cx="5626708" cy="952727"/>
        </p:xfrm>
        <a:graphic>
          <a:graphicData uri="http://schemas.openxmlformats.org/presentationml/2006/ole">
            <mc:AlternateContent xmlns:mc="http://schemas.openxmlformats.org/markup-compatibility/2006">
              <mc:Choice xmlns:v="urn:schemas-microsoft-com:vml" Requires="v">
                <p:oleObj name="公式" r:id="rId3" imgW="2755800" imgH="444240" progId="Equation.3">
                  <p:embed/>
                </p:oleObj>
              </mc:Choice>
              <mc:Fallback>
                <p:oleObj name="公式" r:id="rId3" imgW="2755800" imgH="444240" progId="Equation.3">
                  <p:embed/>
                  <p:pic>
                    <p:nvPicPr>
                      <p:cNvPr id="0" name=""/>
                      <p:cNvPicPr>
                        <a:picLocks noChangeAspect="1" noChangeArrowheads="1"/>
                      </p:cNvPicPr>
                      <p:nvPr/>
                    </p:nvPicPr>
                    <p:blipFill>
                      <a:blip r:embed="rId4"/>
                      <a:srcRect/>
                      <a:stretch>
                        <a:fillRect/>
                      </a:stretch>
                    </p:blipFill>
                    <p:spPr bwMode="auto">
                      <a:xfrm>
                        <a:off x="1455923" y="3028283"/>
                        <a:ext cx="5626708" cy="952727"/>
                      </a:xfrm>
                      <a:prstGeom prst="rect">
                        <a:avLst/>
                      </a:prstGeom>
                      <a:solidFill>
                        <a:srgbClr val="FFC000"/>
                      </a:solidFill>
                      <a:ln>
                        <a:noFill/>
                      </a:ln>
                    </p:spPr>
                  </p:pic>
                </p:oleObj>
              </mc:Fallback>
            </mc:AlternateContent>
          </a:graphicData>
        </a:graphic>
      </p:graphicFrame>
      <p:sp>
        <p:nvSpPr>
          <p:cNvPr id="21" name="Rectangle 19"/>
          <p:cNvSpPr>
            <a:spLocks noChangeArrowheads="1"/>
          </p:cNvSpPr>
          <p:nvPr/>
        </p:nvSpPr>
        <p:spPr bwMode="auto">
          <a:xfrm>
            <a:off x="1419637" y="5112415"/>
            <a:ext cx="4168129"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nSpc>
                <a:spcPct val="130000"/>
              </a:lnSpc>
              <a:spcBef>
                <a:spcPct val="10000"/>
              </a:spcBef>
              <a:buFont typeface="Wingdings" pitchFamily="2" charset="2"/>
              <a:buNone/>
            </a:pP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温度</a:t>
            </a:r>
            <a:r>
              <a:rPr lang="en-US" altLang="zh-CN" sz="2400"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，暗电阻</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&amp;</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灵敏度</a:t>
            </a:r>
            <a:r>
              <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chemeClr val="hlink"/>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 name="矩形 1"/>
          <p:cNvSpPr/>
          <p:nvPr/>
        </p:nvSpPr>
        <p:spPr>
          <a:xfrm>
            <a:off x="1419637" y="4329492"/>
            <a:ext cx="6669996" cy="520848"/>
          </a:xfrm>
          <a:prstGeom prst="rect">
            <a:avLst/>
          </a:prstGeom>
        </p:spPr>
        <p:txBody>
          <a:bodyPr wrap="square">
            <a:spAutoFit/>
          </a:bodyPr>
          <a:lstStyle/>
          <a:p>
            <a:pPr marL="1611313" lvl="0" indent="-1611313">
              <a:lnSpc>
                <a:spcPct val="130000"/>
              </a:lnSpc>
              <a:spcBef>
                <a:spcPct val="10000"/>
              </a:spcBef>
            </a:pP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R</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相对于温度</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i="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400" baseline="-25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时光敏电阻的阻值</a:t>
            </a:r>
            <a:endParaRPr lang="zh-CN" altLang="en-US" sz="2400" b="1" dirty="0">
              <a:solidFill>
                <a:srgbClr val="0563C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Slide Number Placeholder 2">
            <a:extLst>
              <a:ext uri="{FF2B5EF4-FFF2-40B4-BE49-F238E27FC236}">
                <a16:creationId xmlns:a16="http://schemas.microsoft.com/office/drawing/2014/main" id="{A41C84C9-37E7-4786-AB1D-2DE62A0F72AB}"/>
              </a:ext>
            </a:extLst>
          </p:cNvPr>
          <p:cNvSpPr>
            <a:spLocks noGrp="1"/>
          </p:cNvSpPr>
          <p:nvPr>
            <p:ph type="sldNum" sz="quarter" idx="12"/>
          </p:nvPr>
        </p:nvSpPr>
        <p:spPr/>
        <p:txBody>
          <a:bodyPr/>
          <a:lstStyle/>
          <a:p>
            <a:fld id="{B53602B4-F12B-41CD-B648-531F86B2CC91}" type="slidenum">
              <a:rPr lang="zh-CN" altLang="en-US" smtClean="0"/>
              <a:t>22</a:t>
            </a:fld>
            <a:endParaRPr lang="zh-CN" altLang="en-US"/>
          </a:p>
        </p:txBody>
      </p:sp>
      <p:sp>
        <p:nvSpPr>
          <p:cNvPr id="10" name="Rectangle 19">
            <a:extLst>
              <a:ext uri="{FF2B5EF4-FFF2-40B4-BE49-F238E27FC236}">
                <a16:creationId xmlns:a16="http://schemas.microsoft.com/office/drawing/2014/main" id="{A3DAA53F-C5B8-4283-B66D-364B1CA886F5}"/>
              </a:ext>
            </a:extLst>
          </p:cNvPr>
          <p:cNvSpPr>
            <a:spLocks noChangeArrowheads="1"/>
          </p:cNvSpPr>
          <p:nvPr/>
        </p:nvSpPr>
        <p:spPr bwMode="auto">
          <a:xfrm>
            <a:off x="1419637" y="5846147"/>
            <a:ext cx="2736647" cy="520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nSpc>
                <a:spcPct val="130000"/>
              </a:lnSpc>
              <a:spcBef>
                <a:spcPct val="10000"/>
              </a:spcBef>
              <a:buFont typeface="Wingdings" pitchFamily="2" charset="2"/>
              <a:buNone/>
            </a:pPr>
            <a:r>
              <a:rPr lang="zh-CN" altLang="en-US" sz="2400" b="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温度系数越小越好 </a:t>
            </a:r>
            <a:endPar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48178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光电二极管和光电晶体管</a:t>
            </a:r>
          </a:p>
        </p:txBody>
      </p:sp>
      <p:sp>
        <p:nvSpPr>
          <p:cNvPr id="30" name="Rectangle 12"/>
          <p:cNvSpPr>
            <a:spLocks noRot="1" noChangeArrowheads="1"/>
          </p:cNvSpPr>
          <p:nvPr/>
        </p:nvSpPr>
        <p:spPr bwMode="auto">
          <a:xfrm>
            <a:off x="118971" y="2474964"/>
            <a:ext cx="9025029" cy="1280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50000"/>
              </a:lnSpc>
              <a:buClr>
                <a:schemeClr val="accent2">
                  <a:lumMod val="75000"/>
                </a:schemeClr>
              </a:buClr>
              <a:buFont typeface="Wingdings" panose="05000000000000000000" pitchFamily="2" charset="2"/>
              <a:buChar char="§"/>
            </a:pPr>
            <a:r>
              <a:rPr lang="zh-CN" altLang="en-US" sz="2400" b="1">
                <a:latin typeface="宋体" panose="02010600030101010101" pitchFamily="2" charset="-122"/>
                <a:ea typeface="宋体" panose="02010600030101010101" pitchFamily="2" charset="-122"/>
              </a:rPr>
              <a:t>二</a:t>
            </a:r>
            <a:r>
              <a:rPr lang="zh-CN" altLang="en-US" sz="2400" b="1" dirty="0">
                <a:latin typeface="宋体" panose="02010600030101010101" pitchFamily="2" charset="-122"/>
                <a:ea typeface="宋体" panose="02010600030101010101" pitchFamily="2" charset="-122"/>
              </a:rPr>
              <a:t>极管和晶体管的</a:t>
            </a:r>
            <a:r>
              <a:rPr lang="en-US" altLang="zh-CN" sz="2400" b="1" dirty="0">
                <a:latin typeface="宋体" panose="02010600030101010101" pitchFamily="2" charset="-122"/>
                <a:ea typeface="宋体" panose="02010600030101010101" pitchFamily="2" charset="-122"/>
              </a:rPr>
              <a:t>PN</a:t>
            </a:r>
            <a:r>
              <a:rPr lang="zh-CN" altLang="en-US" sz="2400" b="1" dirty="0">
                <a:latin typeface="宋体" panose="02010600030101010101" pitchFamily="2" charset="-122"/>
                <a:ea typeface="宋体" panose="02010600030101010101" pitchFamily="2" charset="-122"/>
              </a:rPr>
              <a:t>结受到光照射时，通过</a:t>
            </a:r>
            <a:r>
              <a:rPr lang="en-US" altLang="zh-CN" sz="2400" b="1" dirty="0">
                <a:latin typeface="宋体" panose="02010600030101010101" pitchFamily="2" charset="-122"/>
                <a:ea typeface="宋体" panose="02010600030101010101" pitchFamily="2" charset="-122"/>
              </a:rPr>
              <a:t>PN</a:t>
            </a:r>
            <a:r>
              <a:rPr lang="zh-CN" altLang="en-US" sz="2400" b="1" dirty="0">
                <a:latin typeface="宋体" panose="02010600030101010101" pitchFamily="2" charset="-122"/>
                <a:ea typeface="宋体" panose="02010600030101010101" pitchFamily="2" charset="-122"/>
              </a:rPr>
              <a:t>结的电流将增大。</a:t>
            </a:r>
          </a:p>
          <a:p>
            <a:pPr marL="342900" indent="-342900">
              <a:lnSpc>
                <a:spcPct val="150000"/>
              </a:lnSpc>
              <a:buClr>
                <a:schemeClr val="accent2">
                  <a:lumMod val="75000"/>
                </a:schemeClr>
              </a:buClr>
              <a:buFont typeface="Wingdings" panose="05000000000000000000" pitchFamily="2" charset="2"/>
              <a:buChar char="§"/>
            </a:pPr>
            <a:r>
              <a:rPr lang="zh-CN" altLang="en-US" sz="2400" b="1" dirty="0">
                <a:latin typeface="宋体" panose="02010600030101010101" pitchFamily="2" charset="-122"/>
                <a:ea typeface="宋体" panose="02010600030101010101" pitchFamily="2" charset="-122"/>
              </a:rPr>
              <a:t>光电二极管和光电晶体管必须使</a:t>
            </a:r>
            <a:r>
              <a:rPr lang="en-US" altLang="zh-CN" sz="2400" b="1" dirty="0">
                <a:latin typeface="宋体" panose="02010600030101010101" pitchFamily="2" charset="-122"/>
                <a:ea typeface="宋体" panose="02010600030101010101" pitchFamily="2" charset="-122"/>
              </a:rPr>
              <a:t>PN</a:t>
            </a:r>
            <a:r>
              <a:rPr lang="zh-CN" altLang="en-US" sz="2400" b="1" dirty="0">
                <a:latin typeface="宋体" panose="02010600030101010101" pitchFamily="2" charset="-122"/>
                <a:ea typeface="宋体" panose="02010600030101010101" pitchFamily="2" charset="-122"/>
              </a:rPr>
              <a:t>结能受到最大光照射。</a:t>
            </a:r>
          </a:p>
        </p:txBody>
      </p:sp>
      <p:sp>
        <p:nvSpPr>
          <p:cNvPr id="31" name="Text Box 13"/>
          <p:cNvSpPr txBox="1">
            <a:spLocks noChangeArrowheads="1"/>
          </p:cNvSpPr>
          <p:nvPr/>
        </p:nvSpPr>
        <p:spPr bwMode="auto">
          <a:xfrm>
            <a:off x="5262708" y="6125518"/>
            <a:ext cx="30439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buFont typeface="Wingdings" pitchFamily="2" charset="2"/>
              <a:buNone/>
            </a:pPr>
            <a:r>
              <a:rPr lang="zh-CN" altLang="en-US" sz="2400">
                <a:solidFill>
                  <a:schemeClr val="tx1"/>
                </a:solidFill>
                <a:latin typeface="宋体" panose="02010600030101010101" pitchFamily="2" charset="-122"/>
                <a:ea typeface="宋体" panose="02010600030101010101" pitchFamily="2" charset="-122"/>
              </a:rPr>
              <a:t>（</a:t>
            </a:r>
            <a:r>
              <a:rPr lang="zh-CN" altLang="en-US" sz="2400">
                <a:solidFill>
                  <a:srgbClr val="00B050"/>
                </a:solidFill>
                <a:latin typeface="宋体" panose="02010600030101010101" pitchFamily="2" charset="-122"/>
                <a:ea typeface="宋体" panose="02010600030101010101" pitchFamily="2" charset="-122"/>
              </a:rPr>
              <a:t>带</a:t>
            </a:r>
            <a:r>
              <a:rPr lang="zh-CN" altLang="en-US" sz="2400" dirty="0">
                <a:solidFill>
                  <a:srgbClr val="00B050"/>
                </a:solidFill>
                <a:latin typeface="宋体" panose="02010600030101010101" pitchFamily="2" charset="-122"/>
                <a:ea typeface="宋体" panose="02010600030101010101" pitchFamily="2" charset="-122"/>
              </a:rPr>
              <a:t>宽较窄</a:t>
            </a:r>
            <a:r>
              <a:rPr lang="zh-CN" altLang="en-US" sz="2400" dirty="0">
                <a:solidFill>
                  <a:schemeClr val="tx1"/>
                </a:solidFill>
                <a:latin typeface="宋体" panose="02010600030101010101" pitchFamily="2" charset="-122"/>
                <a:ea typeface="宋体" panose="02010600030101010101" pitchFamily="2" charset="-122"/>
              </a:rPr>
              <a:t>、高电流）</a:t>
            </a:r>
          </a:p>
        </p:txBody>
      </p:sp>
      <p:sp>
        <p:nvSpPr>
          <p:cNvPr id="33" name="Text Box 18"/>
          <p:cNvSpPr txBox="1">
            <a:spLocks noChangeArrowheads="1"/>
          </p:cNvSpPr>
          <p:nvPr/>
        </p:nvSpPr>
        <p:spPr bwMode="auto">
          <a:xfrm>
            <a:off x="1018747" y="6129983"/>
            <a:ext cx="286254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buFont typeface="Wingdings" pitchFamily="2" charset="2"/>
              <a:buNone/>
            </a:pPr>
            <a:r>
              <a:rPr lang="zh-CN" altLang="en-US" sz="2400">
                <a:solidFill>
                  <a:schemeClr val="tx1"/>
                </a:solidFill>
                <a:latin typeface="宋体" panose="02010600030101010101" pitchFamily="2" charset="-122"/>
                <a:ea typeface="宋体" panose="02010600030101010101" pitchFamily="2" charset="-122"/>
              </a:rPr>
              <a:t>（</a:t>
            </a:r>
            <a:r>
              <a:rPr lang="zh-CN" altLang="en-US" sz="2400" dirty="0">
                <a:solidFill>
                  <a:srgbClr val="FF0000"/>
                </a:solidFill>
                <a:latin typeface="宋体" panose="02010600030101010101" pitchFamily="2" charset="-122"/>
                <a:ea typeface="宋体" panose="02010600030101010101" pitchFamily="2" charset="-122"/>
              </a:rPr>
              <a:t>带宽很高</a:t>
            </a:r>
            <a:r>
              <a:rPr lang="zh-CN" altLang="en-US" sz="2400" dirty="0">
                <a:solidFill>
                  <a:schemeClr val="tx1"/>
                </a:solidFill>
                <a:latin typeface="宋体" panose="02010600030101010101" pitchFamily="2" charset="-122"/>
                <a:ea typeface="宋体" panose="02010600030101010101" pitchFamily="2" charset="-122"/>
              </a:rPr>
              <a:t>、光耦）</a:t>
            </a:r>
          </a:p>
        </p:txBody>
      </p:sp>
      <p:sp>
        <p:nvSpPr>
          <p:cNvPr id="35" name="文本框 3"/>
          <p:cNvSpPr txBox="1"/>
          <p:nvPr/>
        </p:nvSpPr>
        <p:spPr>
          <a:xfrm>
            <a:off x="118971" y="1367698"/>
            <a:ext cx="8073033" cy="1113766"/>
          </a:xfrm>
          <a:prstGeom prst="rect">
            <a:avLst/>
          </a:prstGeom>
          <a:noFill/>
        </p:spPr>
        <p:txBody>
          <a:bodyPr wrap="square" rtlCol="0">
            <a:spAutoFit/>
          </a:bodyPr>
          <a:lstStyle/>
          <a:p>
            <a:pPr>
              <a:lnSpc>
                <a:spcPct val="150000"/>
              </a:lnSpc>
            </a:pPr>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Photodiode (</a:t>
            </a:r>
            <a:r>
              <a:rPr lang="zh-CN" altLang="en-US" sz="2400" b="1" dirty="0">
                <a:solidFill>
                  <a:srgbClr val="C00000"/>
                </a:solidFill>
                <a:latin typeface="宋体" panose="02010600030101010101" pitchFamily="2" charset="-122"/>
                <a:ea typeface="宋体" panose="02010600030101010101" pitchFamily="2" charset="-122"/>
              </a:rPr>
              <a:t>光电二极管</a:t>
            </a:r>
            <a:r>
              <a:rPr lang="en-US" altLang="zh-CN" sz="2400" b="1">
                <a:solidFill>
                  <a:srgbClr val="C00000"/>
                </a:solidFill>
                <a:latin typeface="宋体" panose="02010600030101010101" pitchFamily="2" charset="-122"/>
                <a:ea typeface="宋体" panose="02010600030101010101" pitchFamily="2" charset="-122"/>
              </a:rPr>
              <a:t>),                   </a:t>
            </a:r>
          </a:p>
          <a:p>
            <a:pPr>
              <a:lnSpc>
                <a:spcPct val="150000"/>
              </a:lnSpc>
            </a:pPr>
            <a:r>
              <a:rPr lang="en-US" altLang="zh-CN" sz="2400" b="1">
                <a:solidFill>
                  <a:srgbClr val="C00000"/>
                </a:solidFill>
                <a:latin typeface="宋体" panose="02010600030101010101" pitchFamily="2" charset="-122"/>
                <a:ea typeface="宋体" panose="02010600030101010101" pitchFamily="2" charset="-122"/>
              </a:rPr>
              <a:t>          Phototransistor</a:t>
            </a:r>
            <a:r>
              <a:rPr lang="en-US" altLang="zh-CN" sz="2400" b="1" dirty="0">
                <a:solidFill>
                  <a:srgbClr val="C00000"/>
                </a:solidFill>
                <a:latin typeface="宋体" panose="02010600030101010101" pitchFamily="2" charset="-122"/>
                <a:ea typeface="宋体" panose="02010600030101010101" pitchFamily="2" charset="-122"/>
              </a:rPr>
              <a:t>(</a:t>
            </a:r>
            <a:r>
              <a:rPr lang="zh-CN" altLang="en-US" sz="2400" b="1" dirty="0">
                <a:solidFill>
                  <a:srgbClr val="C00000"/>
                </a:solidFill>
                <a:latin typeface="宋体" panose="02010600030101010101" pitchFamily="2" charset="-122"/>
                <a:ea typeface="宋体" panose="02010600030101010101" pitchFamily="2" charset="-122"/>
              </a:rPr>
              <a:t>光电三极管、光电晶体管</a:t>
            </a:r>
            <a:r>
              <a:rPr lang="en-US" altLang="zh-CN" sz="2400" b="1" dirty="0">
                <a:solidFill>
                  <a:srgbClr val="C00000"/>
                </a:solidFill>
                <a:latin typeface="宋体" panose="02010600030101010101" pitchFamily="2" charset="-122"/>
                <a:ea typeface="宋体" panose="02010600030101010101" pitchFamily="2" charset="-122"/>
              </a:rPr>
              <a:t>)</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 name="Slide Number Placeholder 1">
            <a:extLst>
              <a:ext uri="{FF2B5EF4-FFF2-40B4-BE49-F238E27FC236}">
                <a16:creationId xmlns:a16="http://schemas.microsoft.com/office/drawing/2014/main" id="{0EC0E74C-3B8C-4D9B-91B2-8371BB23ED57}"/>
              </a:ext>
            </a:extLst>
          </p:cNvPr>
          <p:cNvSpPr>
            <a:spLocks noGrp="1"/>
          </p:cNvSpPr>
          <p:nvPr>
            <p:ph type="sldNum" sz="quarter" idx="12"/>
          </p:nvPr>
        </p:nvSpPr>
        <p:spPr/>
        <p:txBody>
          <a:bodyPr/>
          <a:lstStyle/>
          <a:p>
            <a:fld id="{B53602B4-F12B-41CD-B648-531F86B2CC91}" type="slidenum">
              <a:rPr lang="zh-CN" altLang="en-US" smtClean="0"/>
              <a:t>23</a:t>
            </a:fld>
            <a:endParaRPr lang="zh-CN" altLang="en-US"/>
          </a:p>
        </p:txBody>
      </p:sp>
      <p:sp>
        <p:nvSpPr>
          <p:cNvPr id="10" name="Text Box 139">
            <a:extLst>
              <a:ext uri="{FF2B5EF4-FFF2-40B4-BE49-F238E27FC236}">
                <a16:creationId xmlns:a16="http://schemas.microsoft.com/office/drawing/2014/main" id="{850E63A0-2493-40FE-8058-8B2C24FE5D7A}"/>
              </a:ext>
            </a:extLst>
          </p:cNvPr>
          <p:cNvSpPr txBox="1">
            <a:spLocks noChangeArrowheads="1"/>
          </p:cNvSpPr>
          <p:nvPr/>
        </p:nvSpPr>
        <p:spPr bwMode="auto">
          <a:xfrm>
            <a:off x="1148691" y="5631020"/>
            <a:ext cx="3127866"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7-6 </a:t>
            </a:r>
            <a:r>
              <a:rPr lang="zh-CN" altLang="en-US" b="1" dirty="0">
                <a:solidFill>
                  <a:srgbClr val="3333CC"/>
                </a:solidFill>
                <a:latin typeface="宋体" panose="02010600030101010101" pitchFamily="2" charset="-122"/>
                <a:ea typeface="宋体" panose="02010600030101010101" pitchFamily="2" charset="-122"/>
              </a:rPr>
              <a:t>光电二极管</a:t>
            </a:r>
          </a:p>
        </p:txBody>
      </p:sp>
      <p:pic>
        <p:nvPicPr>
          <p:cNvPr id="12" name="Picture 9">
            <a:extLst>
              <a:ext uri="{FF2B5EF4-FFF2-40B4-BE49-F238E27FC236}">
                <a16:creationId xmlns:a16="http://schemas.microsoft.com/office/drawing/2014/main" id="{173885E2-93A3-40FB-9A02-A9F2F735B9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083" y="4178049"/>
            <a:ext cx="4118403" cy="136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141">
            <a:extLst>
              <a:ext uri="{FF2B5EF4-FFF2-40B4-BE49-F238E27FC236}">
                <a16:creationId xmlns:a16="http://schemas.microsoft.com/office/drawing/2014/main" id="{308DB241-3794-4B72-A410-F2F9F5C93BB7}"/>
              </a:ext>
            </a:extLst>
          </p:cNvPr>
          <p:cNvSpPr txBox="1">
            <a:spLocks noChangeArrowheads="1"/>
          </p:cNvSpPr>
          <p:nvPr/>
        </p:nvSpPr>
        <p:spPr bwMode="auto">
          <a:xfrm>
            <a:off x="5554602" y="5626555"/>
            <a:ext cx="2752082"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7-7 </a:t>
            </a:r>
            <a:r>
              <a:rPr kumimoji="0" lang="zh-CN" altLang="en-US" b="1" dirty="0">
                <a:solidFill>
                  <a:srgbClr val="3333CC"/>
                </a:solidFill>
                <a:latin typeface="宋体" panose="02010600030101010101" pitchFamily="2" charset="-122"/>
                <a:ea typeface="宋体" panose="02010600030101010101" pitchFamily="2" charset="-122"/>
              </a:rPr>
              <a:t>光电晶体管</a:t>
            </a:r>
          </a:p>
        </p:txBody>
      </p:sp>
      <p:graphicFrame>
        <p:nvGraphicFramePr>
          <p:cNvPr id="14" name="Object 142">
            <a:extLst>
              <a:ext uri="{FF2B5EF4-FFF2-40B4-BE49-F238E27FC236}">
                <a16:creationId xmlns:a16="http://schemas.microsoft.com/office/drawing/2014/main" id="{84017F54-DE74-45D6-84AE-2FDBB1233CC3}"/>
              </a:ext>
            </a:extLst>
          </p:cNvPr>
          <p:cNvGraphicFramePr>
            <a:graphicFrameLocks noChangeAspect="1"/>
          </p:cNvGraphicFramePr>
          <p:nvPr>
            <p:extLst>
              <p:ext uri="{D42A27DB-BD31-4B8C-83A1-F6EECF244321}">
                <p14:modId xmlns:p14="http://schemas.microsoft.com/office/powerpoint/2010/main" val="222418989"/>
              </p:ext>
            </p:extLst>
          </p:nvPr>
        </p:nvGraphicFramePr>
        <p:xfrm>
          <a:off x="4840516" y="4231229"/>
          <a:ext cx="4117132" cy="1470742"/>
        </p:xfrm>
        <a:graphic>
          <a:graphicData uri="http://schemas.openxmlformats.org/presentationml/2006/ole">
            <mc:AlternateContent xmlns:mc="http://schemas.openxmlformats.org/markup-compatibility/2006">
              <mc:Choice xmlns:v="urn:schemas-microsoft-com:vml" Requires="v">
                <p:oleObj name="Image" r:id="rId4" imgW="20835918" imgH="7444898" progId="Photoshop.Image.7">
                  <p:embed/>
                </p:oleObj>
              </mc:Choice>
              <mc:Fallback>
                <p:oleObj name="Image" r:id="rId4" imgW="20835918" imgH="7444898" progId="Photoshop.Image.7">
                  <p:embed/>
                  <p:pic>
                    <p:nvPicPr>
                      <p:cNvPr id="2190" name="Object 1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0516" y="4231229"/>
                        <a:ext cx="4117132" cy="1470742"/>
                      </a:xfrm>
                      <a:prstGeom prst="rect">
                        <a:avLst/>
                      </a:prstGeom>
                      <a:noFill/>
                      <a:ln>
                        <a:noFill/>
                      </a:ln>
                      <a:effectLst/>
                    </p:spPr>
                  </p:pic>
                </p:oleObj>
              </mc:Fallback>
            </mc:AlternateContent>
          </a:graphicData>
        </a:graphic>
      </p:graphicFrame>
      <p:sp>
        <p:nvSpPr>
          <p:cNvPr id="11" name="Text Box 150">
            <a:extLst>
              <a:ext uri="{FF2B5EF4-FFF2-40B4-BE49-F238E27FC236}">
                <a16:creationId xmlns:a16="http://schemas.microsoft.com/office/drawing/2014/main" id="{3A3C7A84-2494-4C21-B254-35C2DA870B29}"/>
              </a:ext>
            </a:extLst>
          </p:cNvPr>
          <p:cNvSpPr txBox="1">
            <a:spLocks noChangeArrowheads="1"/>
          </p:cNvSpPr>
          <p:nvPr/>
        </p:nvSpPr>
        <p:spPr bwMode="auto">
          <a:xfrm>
            <a:off x="1891471" y="3735821"/>
            <a:ext cx="15092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FF0000"/>
                </a:solidFill>
                <a:latin typeface="宋体" panose="02010600030101010101" pitchFamily="2" charset="-122"/>
                <a:ea typeface="宋体" panose="02010600030101010101" pitchFamily="2" charset="-122"/>
              </a:rPr>
              <a:t>反向偏置</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光电二极管和光电晶体管</a:t>
            </a:r>
          </a:p>
        </p:txBody>
      </p:sp>
      <p:sp>
        <p:nvSpPr>
          <p:cNvPr id="2" name="矩形 1"/>
          <p:cNvSpPr/>
          <p:nvPr/>
        </p:nvSpPr>
        <p:spPr>
          <a:xfrm>
            <a:off x="1571711" y="1429874"/>
            <a:ext cx="1887055" cy="609398"/>
          </a:xfrm>
          <a:prstGeom prst="rect">
            <a:avLst/>
          </a:prstGeom>
        </p:spPr>
        <p:txBody>
          <a:bodyPr wrap="none">
            <a:spAutoFit/>
          </a:bodyPr>
          <a:lstStyle/>
          <a:p>
            <a:pPr lvl="0">
              <a:lnSpc>
                <a:spcPct val="140000"/>
              </a:lnSpc>
              <a:spcBef>
                <a:spcPct val="10000"/>
              </a:spcBef>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、光电特性</a:t>
            </a:r>
          </a:p>
        </p:txBody>
      </p:sp>
      <p:sp>
        <p:nvSpPr>
          <p:cNvPr id="4" name="Slide Number Placeholder 3">
            <a:extLst>
              <a:ext uri="{FF2B5EF4-FFF2-40B4-BE49-F238E27FC236}">
                <a16:creationId xmlns:a16="http://schemas.microsoft.com/office/drawing/2014/main" id="{3C1A41A5-105F-43CC-B573-63D777C7B877}"/>
              </a:ext>
            </a:extLst>
          </p:cNvPr>
          <p:cNvSpPr>
            <a:spLocks noGrp="1"/>
          </p:cNvSpPr>
          <p:nvPr>
            <p:ph type="sldNum" sz="quarter" idx="12"/>
          </p:nvPr>
        </p:nvSpPr>
        <p:spPr/>
        <p:txBody>
          <a:bodyPr/>
          <a:lstStyle/>
          <a:p>
            <a:fld id="{B53602B4-F12B-41CD-B648-531F86B2CC91}" type="slidenum">
              <a:rPr lang="zh-CN" altLang="en-US" smtClean="0"/>
              <a:t>24</a:t>
            </a:fld>
            <a:endParaRPr lang="zh-CN" altLang="en-US"/>
          </a:p>
        </p:txBody>
      </p:sp>
      <p:sp>
        <p:nvSpPr>
          <p:cNvPr id="11" name="Text Box 5">
            <a:extLst>
              <a:ext uri="{FF2B5EF4-FFF2-40B4-BE49-F238E27FC236}">
                <a16:creationId xmlns:a16="http://schemas.microsoft.com/office/drawing/2014/main" id="{2289CCBA-423A-4B66-80F9-E3082D3CA0F7}"/>
              </a:ext>
            </a:extLst>
          </p:cNvPr>
          <p:cNvSpPr txBox="1">
            <a:spLocks noChangeArrowheads="1"/>
          </p:cNvSpPr>
          <p:nvPr/>
        </p:nvSpPr>
        <p:spPr bwMode="auto">
          <a:xfrm>
            <a:off x="630547" y="5879682"/>
            <a:ext cx="5111920"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7-9b </a:t>
            </a:r>
            <a:r>
              <a:rPr lang="zh-CN" altLang="en-US" sz="2400" b="1" dirty="0">
                <a:solidFill>
                  <a:srgbClr val="3333CC"/>
                </a:solidFill>
                <a:latin typeface="宋体" panose="02010600030101010101" pitchFamily="2" charset="-122"/>
                <a:ea typeface="宋体" panose="02010600030101010101" pitchFamily="2" charset="-122"/>
              </a:rPr>
              <a:t>光电晶体管的光电特性曲线</a:t>
            </a:r>
          </a:p>
        </p:txBody>
      </p:sp>
      <p:sp>
        <p:nvSpPr>
          <p:cNvPr id="12" name="Text Box 6">
            <a:extLst>
              <a:ext uri="{FF2B5EF4-FFF2-40B4-BE49-F238E27FC236}">
                <a16:creationId xmlns:a16="http://schemas.microsoft.com/office/drawing/2014/main" id="{2CFE4AD5-99A7-4D40-98AB-F333F0E6CFC0}"/>
              </a:ext>
            </a:extLst>
          </p:cNvPr>
          <p:cNvSpPr txBox="1">
            <a:spLocks noChangeArrowheads="1"/>
          </p:cNvSpPr>
          <p:nvPr/>
        </p:nvSpPr>
        <p:spPr bwMode="auto">
          <a:xfrm>
            <a:off x="5018865" y="2801975"/>
            <a:ext cx="3879622" cy="1667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rgbClr val="FF0000"/>
                </a:solidFill>
                <a:latin typeface="宋体" panose="02010600030101010101" pitchFamily="2" charset="-122"/>
                <a:ea typeface="宋体" panose="02010600030101010101" pitchFamily="2" charset="-122"/>
              </a:rPr>
              <a:t>基本线性</a:t>
            </a:r>
            <a:r>
              <a:rPr lang="zh-CN" altLang="en-US" sz="2400" b="1" dirty="0">
                <a:latin typeface="宋体" panose="02010600030101010101" pitchFamily="2" charset="-122"/>
                <a:ea typeface="宋体" panose="02010600030101010101" pitchFamily="2" charset="-122"/>
              </a:rPr>
              <a:t>；</a:t>
            </a:r>
          </a:p>
          <a:p>
            <a:pPr>
              <a:lnSpc>
                <a:spcPct val="150000"/>
              </a:lnSpc>
            </a:pPr>
            <a:r>
              <a:rPr lang="zh-CN" altLang="en-US" sz="2400" b="1" dirty="0">
                <a:latin typeface="宋体" panose="02010600030101010101" pitchFamily="2" charset="-122"/>
                <a:ea typeface="宋体" panose="02010600030101010101" pitchFamily="2" charset="-122"/>
              </a:rPr>
              <a:t>光照足够大时，出现</a:t>
            </a:r>
            <a:r>
              <a:rPr lang="zh-CN" altLang="en-US" sz="2400" b="1" dirty="0">
                <a:solidFill>
                  <a:srgbClr val="FF0000"/>
                </a:solidFill>
                <a:latin typeface="宋体" panose="02010600030101010101" pitchFamily="2" charset="-122"/>
                <a:ea typeface="宋体" panose="02010600030101010101" pitchFamily="2" charset="-122"/>
              </a:rPr>
              <a:t>饱和</a:t>
            </a:r>
            <a:r>
              <a:rPr lang="zh-CN" altLang="en-US" sz="2400" b="1" dirty="0">
                <a:latin typeface="宋体" panose="02010600030101010101" pitchFamily="2" charset="-122"/>
                <a:ea typeface="宋体" panose="02010600030101010101" pitchFamily="2" charset="-122"/>
              </a:rPr>
              <a:t>；</a:t>
            </a:r>
          </a:p>
          <a:p>
            <a:pPr>
              <a:lnSpc>
                <a:spcPct val="150000"/>
              </a:lnSpc>
            </a:pPr>
            <a:r>
              <a:rPr lang="zh-CN" altLang="en-US" sz="2400" b="1" dirty="0">
                <a:latin typeface="宋体" panose="02010600030101010101" pitchFamily="2" charset="-122"/>
                <a:ea typeface="宋体" panose="02010600030101010101" pitchFamily="2" charset="-122"/>
              </a:rPr>
              <a:t>与材料、外加电压有关。</a:t>
            </a:r>
          </a:p>
        </p:txBody>
      </p:sp>
      <p:pic>
        <p:nvPicPr>
          <p:cNvPr id="13" name="Picture 2">
            <a:extLst>
              <a:ext uri="{FF2B5EF4-FFF2-40B4-BE49-F238E27FC236}">
                <a16:creationId xmlns:a16="http://schemas.microsoft.com/office/drawing/2014/main" id="{6DC993E7-3564-48FE-99FB-9268E5B2F8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547" y="2280152"/>
            <a:ext cx="4362366" cy="3447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24264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光电二极管和光电晶体管</a:t>
            </a:r>
          </a:p>
        </p:txBody>
      </p:sp>
      <p:sp>
        <p:nvSpPr>
          <p:cNvPr id="23" name="Text Box 4"/>
          <p:cNvSpPr txBox="1">
            <a:spLocks noChangeArrowheads="1"/>
          </p:cNvSpPr>
          <p:nvPr/>
        </p:nvSpPr>
        <p:spPr bwMode="auto">
          <a:xfrm>
            <a:off x="4979121" y="3333737"/>
            <a:ext cx="3959110" cy="2236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marL="0" indent="623888" eaLnBrk="1" hangingPunct="1">
              <a:lnSpc>
                <a:spcPct val="150000"/>
              </a:lnSpc>
              <a:spcBef>
                <a:spcPct val="10000"/>
              </a:spcBef>
              <a:buFont typeface="Wingdings" pitchFamily="2" charset="2"/>
              <a:buNone/>
            </a:pPr>
            <a:r>
              <a:rPr lang="zh-CN" altLang="en-US" sz="2400" dirty="0">
                <a:solidFill>
                  <a:schemeClr val="tx1"/>
                </a:solidFill>
              </a:rPr>
              <a:t>光电晶体管的光电流比光电二极管的大上百倍，光电二极管零偏压时有光电流输出，晶体管无光电流输出。</a:t>
            </a:r>
          </a:p>
        </p:txBody>
      </p:sp>
      <p:sp>
        <p:nvSpPr>
          <p:cNvPr id="3" name="矩形 2"/>
          <p:cNvSpPr/>
          <p:nvPr/>
        </p:nvSpPr>
        <p:spPr>
          <a:xfrm>
            <a:off x="282352" y="1498246"/>
            <a:ext cx="1887055" cy="609398"/>
          </a:xfrm>
          <a:prstGeom prst="rect">
            <a:avLst/>
          </a:prstGeom>
        </p:spPr>
        <p:txBody>
          <a:bodyPr wrap="none">
            <a:spAutoFit/>
          </a:bodyPr>
          <a:lstStyle/>
          <a:p>
            <a:pPr lvl="0">
              <a:lnSpc>
                <a:spcPct val="140000"/>
              </a:lnSpc>
              <a:spcBef>
                <a:spcPct val="10000"/>
              </a:spcBef>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、伏安特性</a:t>
            </a:r>
          </a:p>
        </p:txBody>
      </p:sp>
      <p:sp>
        <p:nvSpPr>
          <p:cNvPr id="4" name="Slide Number Placeholder 3">
            <a:extLst>
              <a:ext uri="{FF2B5EF4-FFF2-40B4-BE49-F238E27FC236}">
                <a16:creationId xmlns:a16="http://schemas.microsoft.com/office/drawing/2014/main" id="{3C1A41A5-105F-43CC-B573-63D777C7B877}"/>
              </a:ext>
            </a:extLst>
          </p:cNvPr>
          <p:cNvSpPr>
            <a:spLocks noGrp="1"/>
          </p:cNvSpPr>
          <p:nvPr>
            <p:ph type="sldNum" sz="quarter" idx="12"/>
          </p:nvPr>
        </p:nvSpPr>
        <p:spPr/>
        <p:txBody>
          <a:bodyPr/>
          <a:lstStyle/>
          <a:p>
            <a:fld id="{B53602B4-F12B-41CD-B648-531F86B2CC91}" type="slidenum">
              <a:rPr lang="zh-CN" altLang="en-US" smtClean="0"/>
              <a:t>25</a:t>
            </a:fld>
            <a:endParaRPr lang="zh-CN" altLang="en-US"/>
          </a:p>
        </p:txBody>
      </p:sp>
      <p:sp>
        <p:nvSpPr>
          <p:cNvPr id="11" name="Text Box 8">
            <a:extLst>
              <a:ext uri="{FF2B5EF4-FFF2-40B4-BE49-F238E27FC236}">
                <a16:creationId xmlns:a16="http://schemas.microsoft.com/office/drawing/2014/main" id="{14CB0AD4-FE46-4C38-AFEA-11F0E55D5F30}"/>
              </a:ext>
            </a:extLst>
          </p:cNvPr>
          <p:cNvSpPr txBox="1">
            <a:spLocks noChangeArrowheads="1"/>
          </p:cNvSpPr>
          <p:nvPr/>
        </p:nvSpPr>
        <p:spPr bwMode="auto">
          <a:xfrm>
            <a:off x="148133" y="6088585"/>
            <a:ext cx="551177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7-10b </a:t>
            </a:r>
            <a:r>
              <a:rPr lang="zh-CN" altLang="en-US" sz="2400" b="1" dirty="0">
                <a:solidFill>
                  <a:srgbClr val="3333CC"/>
                </a:solidFill>
                <a:latin typeface="宋体" panose="02010600030101010101" pitchFamily="2" charset="-122"/>
                <a:ea typeface="宋体" panose="02010600030101010101" pitchFamily="2" charset="-122"/>
              </a:rPr>
              <a:t>锗光电晶体管的伏安特性曲线</a:t>
            </a:r>
          </a:p>
        </p:txBody>
      </p:sp>
      <p:pic>
        <p:nvPicPr>
          <p:cNvPr id="12" name="Picture 10">
            <a:extLst>
              <a:ext uri="{FF2B5EF4-FFF2-40B4-BE49-F238E27FC236}">
                <a16:creationId xmlns:a16="http://schemas.microsoft.com/office/drawing/2014/main" id="{4D9729F5-CE14-462E-BCF0-4DC9CE7D0D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667" y="2581630"/>
            <a:ext cx="4179883" cy="351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4">
            <a:extLst>
              <a:ext uri="{FF2B5EF4-FFF2-40B4-BE49-F238E27FC236}">
                <a16:creationId xmlns:a16="http://schemas.microsoft.com/office/drawing/2014/main" id="{F126E265-6E80-416A-ABB6-F3C5A2DD7DEF}"/>
              </a:ext>
            </a:extLst>
          </p:cNvPr>
          <p:cNvSpPr txBox="1">
            <a:spLocks noChangeArrowheads="1"/>
          </p:cNvSpPr>
          <p:nvPr/>
        </p:nvSpPr>
        <p:spPr bwMode="auto">
          <a:xfrm>
            <a:off x="4979121" y="2058966"/>
            <a:ext cx="4082895" cy="1128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marL="0" indent="623888" eaLnBrk="1" hangingPunct="1">
              <a:lnSpc>
                <a:spcPct val="150000"/>
              </a:lnSpc>
              <a:spcBef>
                <a:spcPct val="10000"/>
              </a:spcBef>
              <a:buFont typeface="Wingdings" pitchFamily="2" charset="2"/>
              <a:buNone/>
            </a:pPr>
            <a:r>
              <a:rPr lang="zh-CN" altLang="en-US" sz="2400">
                <a:solidFill>
                  <a:schemeClr val="tx1"/>
                </a:solidFill>
              </a:rPr>
              <a:t>光电流相当于反向饱和电流，其值取决于光照强度</a:t>
            </a:r>
            <a:endParaRPr lang="zh-CN" altLang="en-US" sz="2400" dirty="0">
              <a:solidFill>
                <a:schemeClr val="tx1"/>
              </a:solidFill>
            </a:endParaRPr>
          </a:p>
        </p:txBody>
      </p:sp>
    </p:spTree>
    <p:extLst>
      <p:ext uri="{BB962C8B-B14F-4D97-AF65-F5344CB8AC3E}">
        <p14:creationId xmlns:p14="http://schemas.microsoft.com/office/powerpoint/2010/main" val="37942056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光电二极管和光电晶体管</a:t>
            </a:r>
          </a:p>
        </p:txBody>
      </p:sp>
      <p:sp>
        <p:nvSpPr>
          <p:cNvPr id="19" name="Rectangle 16"/>
          <p:cNvSpPr>
            <a:spLocks noChangeArrowheads="1"/>
          </p:cNvSpPr>
          <p:nvPr/>
        </p:nvSpPr>
        <p:spPr bwMode="auto">
          <a:xfrm>
            <a:off x="84765" y="1177774"/>
            <a:ext cx="2973891" cy="35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342900" indent="-342900">
              <a:lnSpc>
                <a:spcPct val="150000"/>
              </a:lnSpc>
              <a:spcBef>
                <a:spcPct val="10000"/>
              </a:spcBef>
              <a:buFont typeface="Wingdings" pitchFamily="2" charset="2"/>
              <a:buNone/>
            </a:pP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、光谱</a:t>
            </a:r>
            <a:r>
              <a:rPr lang="zh-CN" altLang="en-US" sz="2400" b="1">
                <a:latin typeface="宋体" panose="02010600030101010101" pitchFamily="2" charset="-122"/>
                <a:ea typeface="宋体" panose="02010600030101010101" pitchFamily="2" charset="-122"/>
              </a:rPr>
              <a:t>特性：</a:t>
            </a:r>
            <a:endParaRPr lang="zh-CN" altLang="en-US" sz="2400" b="1" dirty="0">
              <a:latin typeface="宋体" panose="02010600030101010101" pitchFamily="2" charset="-122"/>
              <a:ea typeface="宋体" panose="02010600030101010101" pitchFamily="2" charset="-122"/>
            </a:endParaRPr>
          </a:p>
          <a:p>
            <a:pPr marL="342900" indent="-342900">
              <a:lnSpc>
                <a:spcPct val="150000"/>
              </a:lnSpc>
              <a:spcBef>
                <a:spcPct val="10000"/>
              </a:spcBef>
              <a:buFont typeface="Wingdings" pitchFamily="2" charset="2"/>
              <a:buNone/>
            </a:pPr>
            <a:r>
              <a:rPr lang="zh-CN" altLang="en-US" sz="2400" b="1" dirty="0">
                <a:latin typeface="宋体" panose="02010600030101010101" pitchFamily="2" charset="-122"/>
                <a:ea typeface="宋体" panose="02010600030101010101" pitchFamily="2" charset="-122"/>
              </a:rPr>
              <a:t>      红外区</a:t>
            </a:r>
          </a:p>
          <a:p>
            <a:pPr marL="342900" indent="-342900">
              <a:lnSpc>
                <a:spcPct val="150000"/>
              </a:lnSpc>
              <a:spcBef>
                <a:spcPct val="10000"/>
              </a:spcBef>
              <a:buFont typeface="Wingdings" pitchFamily="2" charset="2"/>
              <a:buNone/>
            </a:pPr>
            <a:r>
              <a:rPr lang="zh-CN" altLang="en-US" sz="2400" b="1" dirty="0">
                <a:latin typeface="宋体" panose="02010600030101010101" pitchFamily="2" charset="-122"/>
                <a:ea typeface="宋体" panose="02010600030101010101" pitchFamily="2" charset="-122"/>
              </a:rPr>
              <a:t>      可见光区</a:t>
            </a:r>
          </a:p>
          <a:p>
            <a:pPr marL="342900" indent="-342900">
              <a:lnSpc>
                <a:spcPct val="150000"/>
              </a:lnSpc>
              <a:spcBef>
                <a:spcPct val="10000"/>
              </a:spcBef>
              <a:buFont typeface="Wingdings" pitchFamily="2" charset="2"/>
              <a:buNone/>
            </a:pPr>
            <a:r>
              <a:rPr lang="zh-CN" altLang="en-US" sz="2400" b="1" dirty="0">
                <a:latin typeface="宋体" panose="02010600030101010101" pitchFamily="2" charset="-122"/>
                <a:ea typeface="宋体" panose="02010600030101010101" pitchFamily="2" charset="-122"/>
              </a:rPr>
              <a:t>      可见光</a:t>
            </a:r>
          </a:p>
          <a:p>
            <a:pPr marL="342900" indent="-342900">
              <a:lnSpc>
                <a:spcPct val="150000"/>
              </a:lnSpc>
              <a:spcBef>
                <a:spcPct val="10000"/>
              </a:spcBef>
              <a:buFont typeface="Wingdings" pitchFamily="2" charset="2"/>
              <a:buNone/>
            </a:pPr>
            <a:r>
              <a:rPr lang="zh-CN" altLang="en-US" sz="2400" b="1" dirty="0">
                <a:latin typeface="宋体" panose="02010600030101010101" pitchFamily="2" charset="-122"/>
                <a:ea typeface="宋体" panose="02010600030101010101" pitchFamily="2" charset="-122"/>
              </a:rPr>
              <a:t>      赤热状态物体</a:t>
            </a:r>
          </a:p>
          <a:p>
            <a:pPr marL="342900" indent="-342900">
              <a:lnSpc>
                <a:spcPct val="150000"/>
              </a:lnSpc>
              <a:spcBef>
                <a:spcPct val="10000"/>
              </a:spcBef>
              <a:buFont typeface="Wingdings" pitchFamily="2" charset="2"/>
              <a:buNone/>
            </a:pPr>
            <a:r>
              <a:rPr lang="zh-CN" altLang="en-US" sz="2400" b="1" dirty="0">
                <a:latin typeface="宋体" panose="02010600030101010101" pitchFamily="2" charset="-122"/>
                <a:ea typeface="宋体" panose="02010600030101010101" pitchFamily="2" charset="-122"/>
              </a:rPr>
              <a:t>      红外</a:t>
            </a:r>
          </a:p>
        </p:txBody>
      </p:sp>
      <p:sp>
        <p:nvSpPr>
          <p:cNvPr id="20" name="AutoShape 17"/>
          <p:cNvSpPr>
            <a:spLocks/>
          </p:cNvSpPr>
          <p:nvPr/>
        </p:nvSpPr>
        <p:spPr bwMode="auto">
          <a:xfrm>
            <a:off x="617120" y="2069302"/>
            <a:ext cx="360363" cy="792162"/>
          </a:xfrm>
          <a:prstGeom prst="leftBrace">
            <a:avLst>
              <a:gd name="adj1" fmla="val 18319"/>
              <a:gd name="adj2" fmla="val 50000"/>
            </a:avLst>
          </a:prstGeom>
          <a:noFill/>
          <a:ln w="28575">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p>
        </p:txBody>
      </p:sp>
      <p:sp>
        <p:nvSpPr>
          <p:cNvPr id="21" name="AutoShape 18"/>
          <p:cNvSpPr>
            <a:spLocks/>
          </p:cNvSpPr>
          <p:nvPr/>
        </p:nvSpPr>
        <p:spPr bwMode="auto">
          <a:xfrm>
            <a:off x="3008591" y="3209099"/>
            <a:ext cx="503238" cy="777231"/>
          </a:xfrm>
          <a:prstGeom prst="rightBrace">
            <a:avLst>
              <a:gd name="adj1" fmla="val 16693"/>
              <a:gd name="adj2" fmla="val 51226"/>
            </a:avLst>
          </a:prstGeom>
          <a:noFill/>
          <a:ln w="28575">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b="1"/>
          </a:p>
        </p:txBody>
      </p:sp>
      <p:sp>
        <p:nvSpPr>
          <p:cNvPr id="22" name="Text Box 19"/>
          <p:cNvSpPr txBox="1">
            <a:spLocks noChangeArrowheads="1"/>
          </p:cNvSpPr>
          <p:nvPr/>
        </p:nvSpPr>
        <p:spPr bwMode="auto">
          <a:xfrm>
            <a:off x="3757799" y="3366881"/>
            <a:ext cx="879220" cy="461665"/>
          </a:xfrm>
          <a:prstGeom prst="rect">
            <a:avLst/>
          </a:prstGeom>
          <a:ln/>
        </p:spPr>
        <p:style>
          <a:lnRef idx="1">
            <a:schemeClr val="accent1"/>
          </a:lnRef>
          <a:fillRef idx="3">
            <a:schemeClr val="accent1"/>
          </a:fillRef>
          <a:effectRef idx="2">
            <a:schemeClr val="accent1"/>
          </a:effectRef>
          <a:fontRef idx="minor">
            <a:schemeClr val="lt1"/>
          </a:fontRef>
        </p:style>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spcBef>
                <a:spcPct val="50000"/>
              </a:spcBef>
              <a:buFont typeface="Wingdings" pitchFamily="2" charset="2"/>
              <a:buNone/>
            </a:pPr>
            <a:r>
              <a:rPr lang="zh-CN" altLang="en-US" sz="2400" dirty="0">
                <a:solidFill>
                  <a:schemeClr val="bg1"/>
                </a:solidFill>
              </a:rPr>
              <a:t>硅管</a:t>
            </a:r>
          </a:p>
        </p:txBody>
      </p:sp>
      <p:sp>
        <p:nvSpPr>
          <p:cNvPr id="23" name="Text Box 20"/>
          <p:cNvSpPr txBox="1">
            <a:spLocks noChangeArrowheads="1"/>
          </p:cNvSpPr>
          <p:nvPr/>
        </p:nvSpPr>
        <p:spPr bwMode="auto">
          <a:xfrm>
            <a:off x="3742142" y="4229096"/>
            <a:ext cx="894877" cy="461665"/>
          </a:xfrm>
          <a:prstGeom prst="rect">
            <a:avLst/>
          </a:prstGeom>
          <a:ln/>
        </p:spPr>
        <p:style>
          <a:lnRef idx="1">
            <a:schemeClr val="accent2"/>
          </a:lnRef>
          <a:fillRef idx="3">
            <a:schemeClr val="accent2"/>
          </a:fillRef>
          <a:effectRef idx="2">
            <a:schemeClr val="accent2"/>
          </a:effectRef>
          <a:fontRef idx="minor">
            <a:schemeClr val="lt1"/>
          </a:fontRef>
        </p:style>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spcBef>
                <a:spcPct val="50000"/>
              </a:spcBef>
              <a:buFont typeface="Wingdings" pitchFamily="2" charset="2"/>
              <a:buNone/>
            </a:pPr>
            <a:r>
              <a:rPr lang="zh-CN" altLang="en-US" sz="2400" dirty="0">
                <a:solidFill>
                  <a:schemeClr val="tx1"/>
                </a:solidFill>
              </a:rPr>
              <a:t>锗管</a:t>
            </a:r>
          </a:p>
        </p:txBody>
      </p:sp>
      <p:sp>
        <p:nvSpPr>
          <p:cNvPr id="24" name="Line 21"/>
          <p:cNvSpPr>
            <a:spLocks noChangeShapeType="1"/>
          </p:cNvSpPr>
          <p:nvPr/>
        </p:nvSpPr>
        <p:spPr bwMode="auto">
          <a:xfrm>
            <a:off x="1884990" y="4459929"/>
            <a:ext cx="1699315" cy="0"/>
          </a:xfrm>
          <a:prstGeom prst="line">
            <a:avLst/>
          </a:prstGeom>
          <a:noFill/>
          <a:ln w="57150">
            <a:solidFill>
              <a:schemeClr val="folHlink"/>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b="1"/>
          </a:p>
        </p:txBody>
      </p:sp>
      <p:sp>
        <p:nvSpPr>
          <p:cNvPr id="2" name="Slide Number Placeholder 1">
            <a:extLst>
              <a:ext uri="{FF2B5EF4-FFF2-40B4-BE49-F238E27FC236}">
                <a16:creationId xmlns:a16="http://schemas.microsoft.com/office/drawing/2014/main" id="{18DDA240-6DF9-4472-B409-E4C3AC5F5055}"/>
              </a:ext>
            </a:extLst>
          </p:cNvPr>
          <p:cNvSpPr>
            <a:spLocks noGrp="1"/>
          </p:cNvSpPr>
          <p:nvPr>
            <p:ph type="sldNum" sz="quarter" idx="12"/>
          </p:nvPr>
        </p:nvSpPr>
        <p:spPr/>
        <p:txBody>
          <a:bodyPr/>
          <a:lstStyle/>
          <a:p>
            <a:fld id="{B53602B4-F12B-41CD-B648-531F86B2CC91}" type="slidenum">
              <a:rPr lang="zh-CN" altLang="en-US" smtClean="0"/>
              <a:t>26</a:t>
            </a:fld>
            <a:endParaRPr lang="zh-CN" altLang="en-US"/>
          </a:p>
        </p:txBody>
      </p:sp>
      <p:sp>
        <p:nvSpPr>
          <p:cNvPr id="13" name="Text Box 5">
            <a:extLst>
              <a:ext uri="{FF2B5EF4-FFF2-40B4-BE49-F238E27FC236}">
                <a16:creationId xmlns:a16="http://schemas.microsoft.com/office/drawing/2014/main" id="{DC39AF47-F427-4EF7-B4C4-A46588829D59}"/>
              </a:ext>
            </a:extLst>
          </p:cNvPr>
          <p:cNvSpPr txBox="1">
            <a:spLocks noChangeArrowheads="1"/>
          </p:cNvSpPr>
          <p:nvPr/>
        </p:nvSpPr>
        <p:spPr bwMode="auto">
          <a:xfrm>
            <a:off x="4757448" y="4547349"/>
            <a:ext cx="423816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20000"/>
              </a:spcBef>
              <a:buClr>
                <a:schemeClr val="folHlink"/>
              </a:buClr>
              <a:buFont typeface="Wingdings" pitchFamily="2" charset="2"/>
              <a:buNone/>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7-11b </a:t>
            </a:r>
            <a:r>
              <a:rPr lang="zh-CN" altLang="en-US" sz="2400" b="1" dirty="0">
                <a:solidFill>
                  <a:srgbClr val="3333CC"/>
                </a:solidFill>
                <a:latin typeface="宋体" panose="02010600030101010101" pitchFamily="2" charset="-122"/>
                <a:ea typeface="宋体" panose="02010600030101010101" pitchFamily="2" charset="-122"/>
              </a:rPr>
              <a:t>硅和锗光敏晶体管的光谱特性曲线</a:t>
            </a:r>
          </a:p>
        </p:txBody>
      </p:sp>
      <p:pic>
        <p:nvPicPr>
          <p:cNvPr id="14" name="Picture 10">
            <a:extLst>
              <a:ext uri="{FF2B5EF4-FFF2-40B4-BE49-F238E27FC236}">
                <a16:creationId xmlns:a16="http://schemas.microsoft.com/office/drawing/2014/main" id="{DA138DFB-8287-415D-ADA6-5AD9487BF6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3879" y="2235273"/>
            <a:ext cx="3547317" cy="2387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4">
            <a:extLst>
              <a:ext uri="{FF2B5EF4-FFF2-40B4-BE49-F238E27FC236}">
                <a16:creationId xmlns:a16="http://schemas.microsoft.com/office/drawing/2014/main" id="{EF61ED83-75B4-41A6-939C-A56293F70BDC}"/>
              </a:ext>
            </a:extLst>
          </p:cNvPr>
          <p:cNvSpPr txBox="1">
            <a:spLocks noChangeArrowheads="1"/>
          </p:cNvSpPr>
          <p:nvPr/>
        </p:nvSpPr>
        <p:spPr bwMode="auto">
          <a:xfrm>
            <a:off x="81095" y="5359256"/>
            <a:ext cx="8899282"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marL="285750" indent="-285750" eaLnBrk="1" hangingPunct="1">
              <a:spcBef>
                <a:spcPts val="600"/>
              </a:spcBef>
              <a:buFont typeface="Arial" panose="020B0604020202020204" pitchFamily="34" charset="0"/>
              <a:buChar char="•"/>
            </a:pPr>
            <a:r>
              <a:rPr lang="zh-CN" altLang="en-US" sz="1800">
                <a:solidFill>
                  <a:schemeClr val="tx1"/>
                </a:solidFill>
              </a:rPr>
              <a:t>锗光敏晶体管：响应频段在</a:t>
            </a:r>
            <a:r>
              <a:rPr lang="en-US" altLang="zh-CN" sz="1800">
                <a:solidFill>
                  <a:schemeClr val="tx1"/>
                </a:solidFill>
              </a:rPr>
              <a:t>0.5 ~1.7 μm </a:t>
            </a:r>
            <a:r>
              <a:rPr lang="zh-CN" altLang="en-US" sz="1800">
                <a:solidFill>
                  <a:schemeClr val="tx1"/>
                </a:solidFill>
              </a:rPr>
              <a:t>波长范围内，最灵敏峰在</a:t>
            </a:r>
            <a:r>
              <a:rPr lang="en-US" altLang="zh-CN" sz="1800">
                <a:solidFill>
                  <a:schemeClr val="tx1"/>
                </a:solidFill>
              </a:rPr>
              <a:t>1. 4 μm </a:t>
            </a:r>
            <a:r>
              <a:rPr lang="zh-CN" altLang="en-US" sz="1800">
                <a:solidFill>
                  <a:schemeClr val="tx1"/>
                </a:solidFill>
              </a:rPr>
              <a:t>附近。</a:t>
            </a:r>
            <a:endParaRPr lang="en-US" altLang="zh-CN" sz="1800">
              <a:solidFill>
                <a:schemeClr val="tx1"/>
              </a:solidFill>
            </a:endParaRPr>
          </a:p>
          <a:p>
            <a:pPr marL="285750" indent="-285750" eaLnBrk="1" hangingPunct="1">
              <a:spcBef>
                <a:spcPts val="600"/>
              </a:spcBef>
              <a:buFont typeface="Arial" panose="020B0604020202020204" pitchFamily="34" charset="0"/>
              <a:buChar char="•"/>
            </a:pPr>
            <a:r>
              <a:rPr lang="zh-CN" altLang="en-US" sz="1800">
                <a:solidFill>
                  <a:schemeClr val="tx1"/>
                </a:solidFill>
              </a:rPr>
              <a:t>硅光敏晶体管：响应频段在</a:t>
            </a:r>
            <a:r>
              <a:rPr lang="en-US" altLang="zh-CN" sz="1800">
                <a:solidFill>
                  <a:schemeClr val="tx1"/>
                </a:solidFill>
              </a:rPr>
              <a:t>0. 4 -1.0 μm </a:t>
            </a:r>
            <a:r>
              <a:rPr lang="zh-CN" altLang="en-US" sz="1800">
                <a:solidFill>
                  <a:schemeClr val="tx1"/>
                </a:solidFill>
              </a:rPr>
              <a:t>波长范围内，最灵敏峰在</a:t>
            </a:r>
            <a:r>
              <a:rPr lang="en-US" altLang="zh-CN" sz="1800">
                <a:solidFill>
                  <a:schemeClr val="tx1"/>
                </a:solidFill>
              </a:rPr>
              <a:t>0. 8 μm </a:t>
            </a:r>
            <a:r>
              <a:rPr lang="zh-CN" altLang="en-US" sz="1800">
                <a:solidFill>
                  <a:schemeClr val="tx1"/>
                </a:solidFill>
              </a:rPr>
              <a:t>附近。</a:t>
            </a:r>
            <a:endParaRPr lang="en-US" altLang="zh-CN" sz="1800">
              <a:solidFill>
                <a:schemeClr val="tx1"/>
              </a:solidFill>
            </a:endParaRPr>
          </a:p>
          <a:p>
            <a:pPr marL="285750" indent="-285750" eaLnBrk="1" hangingPunct="1">
              <a:spcBef>
                <a:spcPts val="600"/>
              </a:spcBef>
              <a:buFont typeface="Arial" panose="020B0604020202020204" pitchFamily="34" charset="0"/>
              <a:buChar char="•"/>
            </a:pPr>
            <a:r>
              <a:rPr lang="zh-CN" altLang="en-US" sz="1800">
                <a:solidFill>
                  <a:srgbClr val="FF0000"/>
                </a:solidFill>
              </a:rPr>
              <a:t>波长很大时，光子能量太小，但波长太短，光子在半导体表面激发的电子－空穴对不能达到</a:t>
            </a:r>
            <a:r>
              <a:rPr lang="en-US" altLang="zh-CN" sz="1800">
                <a:solidFill>
                  <a:srgbClr val="FF0000"/>
                </a:solidFill>
              </a:rPr>
              <a:t>PN </a:t>
            </a:r>
            <a:r>
              <a:rPr lang="zh-CN" altLang="en-US" sz="1800">
                <a:solidFill>
                  <a:srgbClr val="FF0000"/>
                </a:solidFill>
              </a:rPr>
              <a:t>结，使相对灵敏度下降。</a:t>
            </a:r>
            <a:endParaRPr lang="zh-CN" altLang="en-US" sz="1800" dirty="0">
              <a:solidFill>
                <a:srgbClr val="FF0000"/>
              </a:solidFill>
            </a:endParaRPr>
          </a:p>
        </p:txBody>
      </p:sp>
      <p:sp>
        <p:nvSpPr>
          <p:cNvPr id="16" name="Text Box 4">
            <a:extLst>
              <a:ext uri="{FF2B5EF4-FFF2-40B4-BE49-F238E27FC236}">
                <a16:creationId xmlns:a16="http://schemas.microsoft.com/office/drawing/2014/main" id="{BE5A9368-A2A0-4CD8-B29E-21594B579140}"/>
              </a:ext>
            </a:extLst>
          </p:cNvPr>
          <p:cNvSpPr txBox="1">
            <a:spLocks noChangeArrowheads="1"/>
          </p:cNvSpPr>
          <p:nvPr/>
        </p:nvSpPr>
        <p:spPr bwMode="auto">
          <a:xfrm>
            <a:off x="2828382" y="1140848"/>
            <a:ext cx="6230853" cy="1000274"/>
          </a:xfrm>
          <a:prstGeom prst="rect">
            <a:avLst/>
          </a:prstGeom>
          <a:solidFill>
            <a:schemeClr val="accent4">
              <a:lumMod val="40000"/>
              <a:lumOff val="60000"/>
            </a:schemeClr>
          </a:solidFill>
          <a:ln>
            <a:noFill/>
          </a:ln>
        </p:spPr>
        <p:txBody>
          <a:bodyPr wrap="square">
            <a:spAutoFit/>
          </a:bodyPr>
          <a:lstStyle>
            <a:lvl1pPr marL="342900" indent="-342900"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marL="0" indent="0" eaLnBrk="1" hangingPunct="1">
              <a:spcBef>
                <a:spcPts val="600"/>
              </a:spcBef>
            </a:pPr>
            <a:r>
              <a:rPr lang="zh-CN" altLang="en-US" sz="1800">
                <a:solidFill>
                  <a:schemeClr val="tx1"/>
                </a:solidFill>
              </a:rPr>
              <a:t>半导体光电元件对不同波长的光，灵敏度不同</a:t>
            </a:r>
            <a:endParaRPr lang="en-US" altLang="zh-CN" sz="1800">
              <a:solidFill>
                <a:schemeClr val="tx1"/>
              </a:solidFill>
            </a:endParaRPr>
          </a:p>
          <a:p>
            <a:pPr marL="0" indent="0" eaLnBrk="1" hangingPunct="1">
              <a:spcBef>
                <a:spcPts val="600"/>
              </a:spcBef>
            </a:pPr>
            <a:r>
              <a:rPr lang="zh-CN" altLang="en-US" sz="1800">
                <a:solidFill>
                  <a:schemeClr val="tx1"/>
                </a:solidFill>
              </a:rPr>
              <a:t>只有能量大于半导体材料禁带宽度的那些光子，才能激发出光生电子－空穴对。而光子能量的大小与光的波长有关。</a:t>
            </a:r>
            <a:endParaRPr lang="zh-CN" altLang="en-US" sz="1800" dirty="0">
              <a:solidFill>
                <a:schemeClr val="tx1"/>
              </a:solidFill>
            </a:endParaRPr>
          </a:p>
        </p:txBody>
      </p:sp>
    </p:spTree>
    <p:extLst>
      <p:ext uri="{BB962C8B-B14F-4D97-AF65-F5344CB8AC3E}">
        <p14:creationId xmlns:p14="http://schemas.microsoft.com/office/powerpoint/2010/main" val="24091971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光电二极管和光电晶体管</a:t>
            </a:r>
          </a:p>
        </p:txBody>
      </p:sp>
      <p:sp>
        <p:nvSpPr>
          <p:cNvPr id="19" name="Rectangle 4"/>
          <p:cNvSpPr>
            <a:spLocks noChangeArrowheads="1"/>
          </p:cNvSpPr>
          <p:nvPr/>
        </p:nvSpPr>
        <p:spPr bwMode="auto">
          <a:xfrm>
            <a:off x="185083" y="1198726"/>
            <a:ext cx="6027460"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50000"/>
              </a:lnSpc>
              <a:spcBef>
                <a:spcPct val="10000"/>
              </a:spcBef>
              <a:buFont typeface="Wingdings" pitchFamily="2" charset="2"/>
              <a:buNone/>
            </a:pP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、频率响应</a:t>
            </a:r>
          </a:p>
        </p:txBody>
      </p:sp>
      <p:sp>
        <p:nvSpPr>
          <p:cNvPr id="2" name="矩形 1"/>
          <p:cNvSpPr/>
          <p:nvPr/>
        </p:nvSpPr>
        <p:spPr>
          <a:xfrm>
            <a:off x="99358" y="2601629"/>
            <a:ext cx="4539317" cy="1704697"/>
          </a:xfrm>
          <a:prstGeom prst="rect">
            <a:avLst/>
          </a:prstGeom>
        </p:spPr>
        <p:txBody>
          <a:bodyPr wrap="square">
            <a:spAutoFit/>
          </a:bodyPr>
          <a:lstStyle/>
          <a:p>
            <a:pPr marL="342900" indent="-342900">
              <a:lnSpc>
                <a:spcPct val="150000"/>
              </a:lnSpc>
              <a:spcBef>
                <a:spcPct val="10000"/>
              </a:spcBef>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取决于物理结构、工作状态、负载、入射光波长</a:t>
            </a:r>
            <a:r>
              <a:rPr lang="zh-CN" altLang="en-US" sz="2400" b="1">
                <a:latin typeface="宋体" panose="02010600030101010101" pitchFamily="2" charset="-122"/>
                <a:ea typeface="宋体" panose="02010600030101010101" pitchFamily="2" charset="-122"/>
              </a:rPr>
              <a:t>。 </a:t>
            </a:r>
            <a:endParaRPr lang="en-US" altLang="zh-CN" sz="2400" b="1">
              <a:latin typeface="宋体" panose="02010600030101010101" pitchFamily="2" charset="-122"/>
              <a:ea typeface="宋体" panose="02010600030101010101" pitchFamily="2" charset="-122"/>
            </a:endParaRPr>
          </a:p>
          <a:p>
            <a:pPr marL="342900" indent="-342900">
              <a:lnSpc>
                <a:spcPct val="150000"/>
              </a:lnSpc>
              <a:spcBef>
                <a:spcPct val="10000"/>
              </a:spcBef>
              <a:buFont typeface="Arial" panose="020B0604020202020204" pitchFamily="34" charset="0"/>
              <a:buChar char="•"/>
            </a:pPr>
            <a:r>
              <a:rPr lang="en-US" altLang="zh-CN" sz="2400" b="1">
                <a:latin typeface="宋体" panose="02010600030101010101" pitchFamily="2" charset="-122"/>
                <a:ea typeface="宋体" panose="02010600030101010101" pitchFamily="2" charset="-122"/>
              </a:rPr>
              <a:t>5000</a:t>
            </a:r>
            <a:r>
              <a:rPr lang="zh-CN" altLang="en-US" sz="2400" b="1">
                <a:latin typeface="宋体" panose="02010600030101010101" pitchFamily="2" charset="-122"/>
                <a:ea typeface="宋体" panose="02010600030101010101" pitchFamily="2" charset="-122"/>
              </a:rPr>
              <a:t>～</a:t>
            </a:r>
            <a:r>
              <a:rPr lang="en-US" altLang="zh-CN" sz="2400" b="1">
                <a:latin typeface="宋体" panose="02010600030101010101" pitchFamily="2" charset="-122"/>
                <a:ea typeface="宋体" panose="02010600030101010101" pitchFamily="2" charset="-122"/>
              </a:rPr>
              <a:t>10000Hz</a:t>
            </a:r>
            <a:endParaRPr lang="en-US" altLang="zh-CN" sz="2400" b="1" dirty="0">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9E75B9A0-EAC0-4018-A123-9010B99F0DBD}"/>
              </a:ext>
            </a:extLst>
          </p:cNvPr>
          <p:cNvSpPr>
            <a:spLocks noGrp="1"/>
          </p:cNvSpPr>
          <p:nvPr>
            <p:ph type="sldNum" sz="quarter" idx="12"/>
          </p:nvPr>
        </p:nvSpPr>
        <p:spPr/>
        <p:txBody>
          <a:bodyPr/>
          <a:lstStyle/>
          <a:p>
            <a:fld id="{B53602B4-F12B-41CD-B648-531F86B2CC91}" type="slidenum">
              <a:rPr lang="zh-CN" altLang="en-US" smtClean="0"/>
              <a:t>27</a:t>
            </a:fld>
            <a:endParaRPr lang="zh-CN" altLang="en-US"/>
          </a:p>
        </p:txBody>
      </p:sp>
      <p:sp>
        <p:nvSpPr>
          <p:cNvPr id="10" name="Text Box 158">
            <a:extLst>
              <a:ext uri="{FF2B5EF4-FFF2-40B4-BE49-F238E27FC236}">
                <a16:creationId xmlns:a16="http://schemas.microsoft.com/office/drawing/2014/main" id="{5B2EE1CE-D220-4324-8530-0DC420574EB0}"/>
              </a:ext>
            </a:extLst>
          </p:cNvPr>
          <p:cNvSpPr txBox="1">
            <a:spLocks noChangeArrowheads="1"/>
          </p:cNvSpPr>
          <p:nvPr/>
        </p:nvSpPr>
        <p:spPr bwMode="auto">
          <a:xfrm>
            <a:off x="4789161" y="5511536"/>
            <a:ext cx="3486706"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7-12b </a:t>
            </a:r>
            <a:r>
              <a:rPr kumimoji="0" lang="zh-CN" altLang="en-US" b="1" dirty="0">
                <a:solidFill>
                  <a:srgbClr val="3333CC"/>
                </a:solidFill>
                <a:latin typeface="宋体" panose="02010600030101010101" pitchFamily="2" charset="-122"/>
                <a:ea typeface="宋体" panose="02010600030101010101" pitchFamily="2" charset="-122"/>
              </a:rPr>
              <a:t>光电晶体管的频率特性曲线</a:t>
            </a:r>
          </a:p>
        </p:txBody>
      </p:sp>
      <p:pic>
        <p:nvPicPr>
          <p:cNvPr id="11" name="图片 3">
            <a:extLst>
              <a:ext uri="{FF2B5EF4-FFF2-40B4-BE49-F238E27FC236}">
                <a16:creationId xmlns:a16="http://schemas.microsoft.com/office/drawing/2014/main" id="{AAC66D7A-D6BE-468B-9D64-177F263DA77A}"/>
              </a:ext>
            </a:extLst>
          </p:cNvPr>
          <p:cNvPicPr>
            <a:picLocks noChangeAspect="1"/>
          </p:cNvPicPr>
          <p:nvPr/>
        </p:nvPicPr>
        <p:blipFill>
          <a:blip r:embed="rId3"/>
          <a:stretch>
            <a:fillRect/>
          </a:stretch>
        </p:blipFill>
        <p:spPr>
          <a:xfrm>
            <a:off x="4387732" y="1938081"/>
            <a:ext cx="4248135" cy="3691946"/>
          </a:xfrm>
          <a:prstGeom prst="rect">
            <a:avLst/>
          </a:prstGeom>
        </p:spPr>
      </p:pic>
      <p:sp>
        <p:nvSpPr>
          <p:cNvPr id="12" name="矩形 1">
            <a:extLst>
              <a:ext uri="{FF2B5EF4-FFF2-40B4-BE49-F238E27FC236}">
                <a16:creationId xmlns:a16="http://schemas.microsoft.com/office/drawing/2014/main" id="{C46ABE02-522F-4EC3-8D58-726A50ABAD19}"/>
              </a:ext>
            </a:extLst>
          </p:cNvPr>
          <p:cNvSpPr/>
          <p:nvPr/>
        </p:nvSpPr>
        <p:spPr>
          <a:xfrm>
            <a:off x="2369016" y="1180892"/>
            <a:ext cx="6096938" cy="559769"/>
          </a:xfrm>
          <a:prstGeom prst="rect">
            <a:avLst/>
          </a:prstGeom>
          <a:solidFill>
            <a:schemeClr val="accent4">
              <a:lumMod val="40000"/>
              <a:lumOff val="60000"/>
            </a:schemeClr>
          </a:solidFill>
        </p:spPr>
        <p:txBody>
          <a:bodyPr wrap="square">
            <a:spAutoFit/>
          </a:bodyPr>
          <a:lstStyle/>
          <a:p>
            <a:pPr marL="342900" indent="-342900">
              <a:lnSpc>
                <a:spcPct val="150000"/>
              </a:lnSpc>
              <a:spcBef>
                <a:spcPct val="10000"/>
              </a:spcBef>
              <a:buFont typeface="Arial" panose="020B0604020202020204" pitchFamily="34" charset="0"/>
              <a:buChar char="•"/>
            </a:pPr>
            <a:r>
              <a:rPr lang="zh-CN" altLang="en-US" sz="2400" b="1">
                <a:latin typeface="宋体" panose="02010600030101010101" pitchFamily="2" charset="-122"/>
                <a:ea typeface="宋体" panose="02010600030101010101" pitchFamily="2" charset="-122"/>
              </a:rPr>
              <a:t>输出电信号与调制光频率变化的关系。</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0783276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7.2.3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光电二极管和光电晶体管</a:t>
            </a:r>
          </a:p>
        </p:txBody>
      </p:sp>
      <p:sp>
        <p:nvSpPr>
          <p:cNvPr id="2" name="矩形 1"/>
          <p:cNvSpPr/>
          <p:nvPr/>
        </p:nvSpPr>
        <p:spPr>
          <a:xfrm>
            <a:off x="316374" y="1216944"/>
            <a:ext cx="6738878" cy="1150700"/>
          </a:xfrm>
          <a:prstGeom prst="rect">
            <a:avLst/>
          </a:prstGeom>
        </p:spPr>
        <p:txBody>
          <a:bodyPr wrap="square">
            <a:spAutoFit/>
          </a:bodyPr>
          <a:lstStyle/>
          <a:p>
            <a:pPr marL="342900" indent="-342900">
              <a:lnSpc>
                <a:spcPct val="150000"/>
              </a:lnSpc>
              <a:spcBef>
                <a:spcPct val="10000"/>
              </a:spcBef>
              <a:buFont typeface="Wingdings" pitchFamily="2" charset="2"/>
              <a:buNone/>
            </a:pPr>
            <a:r>
              <a:rPr lang="en-US" altLang="zh-CN" sz="2400" b="1">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 温度特性</a:t>
            </a:r>
          </a:p>
          <a:p>
            <a:pPr marL="342900" indent="-342900">
              <a:lnSpc>
                <a:spcPct val="150000"/>
              </a:lnSpc>
              <a:spcBef>
                <a:spcPct val="10000"/>
              </a:spcBef>
              <a:buFont typeface="Wingdings" pitchFamily="2" charset="2"/>
              <a:buNone/>
            </a:pPr>
            <a:r>
              <a:rPr lang="zh-CN" altLang="en-US" sz="2400" b="1" dirty="0">
                <a:latin typeface="宋体" panose="02010600030101010101" pitchFamily="2" charset="-122"/>
                <a:ea typeface="宋体" panose="02010600030101010101" pitchFamily="2" charset="-122"/>
              </a:rPr>
              <a:t>   对光电流影响很小，对暗电流影响很大</a:t>
            </a:r>
          </a:p>
        </p:txBody>
      </p:sp>
      <p:sp>
        <p:nvSpPr>
          <p:cNvPr id="3" name="Slide Number Placeholder 2">
            <a:extLst>
              <a:ext uri="{FF2B5EF4-FFF2-40B4-BE49-F238E27FC236}">
                <a16:creationId xmlns:a16="http://schemas.microsoft.com/office/drawing/2014/main" id="{9E75B9A0-EAC0-4018-A123-9010B99F0DBD}"/>
              </a:ext>
            </a:extLst>
          </p:cNvPr>
          <p:cNvSpPr>
            <a:spLocks noGrp="1"/>
          </p:cNvSpPr>
          <p:nvPr>
            <p:ph type="sldNum" sz="quarter" idx="12"/>
          </p:nvPr>
        </p:nvSpPr>
        <p:spPr/>
        <p:txBody>
          <a:bodyPr/>
          <a:lstStyle/>
          <a:p>
            <a:fld id="{B53602B4-F12B-41CD-B648-531F86B2CC91}" type="slidenum">
              <a:rPr lang="zh-CN" altLang="en-US" smtClean="0"/>
              <a:t>28</a:t>
            </a:fld>
            <a:endParaRPr lang="zh-CN" altLang="en-US"/>
          </a:p>
        </p:txBody>
      </p:sp>
      <p:sp>
        <p:nvSpPr>
          <p:cNvPr id="10" name="Text Box 5">
            <a:extLst>
              <a:ext uri="{FF2B5EF4-FFF2-40B4-BE49-F238E27FC236}">
                <a16:creationId xmlns:a16="http://schemas.microsoft.com/office/drawing/2014/main" id="{206DEBB6-744E-4EA4-8954-8D0C15A49FF5}"/>
              </a:ext>
            </a:extLst>
          </p:cNvPr>
          <p:cNvSpPr txBox="1">
            <a:spLocks noChangeArrowheads="1"/>
          </p:cNvSpPr>
          <p:nvPr/>
        </p:nvSpPr>
        <p:spPr bwMode="auto">
          <a:xfrm>
            <a:off x="1681658" y="6250583"/>
            <a:ext cx="56860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buClr>
                <a:schemeClr val="folHlink"/>
              </a:buClr>
              <a:buFont typeface="Wingdings" pitchFamily="2" charset="2"/>
              <a:buNone/>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7-13a </a:t>
            </a:r>
            <a:r>
              <a:rPr lang="zh-CN" altLang="en-US" sz="2400" b="1" dirty="0">
                <a:solidFill>
                  <a:srgbClr val="3333CC"/>
                </a:solidFill>
                <a:latin typeface="宋体" panose="02010600030101010101" pitchFamily="2" charset="-122"/>
                <a:ea typeface="宋体" panose="02010600030101010101" pitchFamily="2" charset="-122"/>
              </a:rPr>
              <a:t>锗光敏晶体管的温度特性曲线</a:t>
            </a:r>
          </a:p>
        </p:txBody>
      </p:sp>
      <p:pic>
        <p:nvPicPr>
          <p:cNvPr id="11" name="Picture 11">
            <a:extLst>
              <a:ext uri="{FF2B5EF4-FFF2-40B4-BE49-F238E27FC236}">
                <a16:creationId xmlns:a16="http://schemas.microsoft.com/office/drawing/2014/main" id="{DC95C6C2-225E-421E-AC39-DC712C9B03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5286" y="2367644"/>
            <a:ext cx="3700239" cy="35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73539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a:latin typeface="Arial" panose="020B0604020202020204" pitchFamily="34" charset="0"/>
                <a:ea typeface="宋体" panose="02010600030101010101" pitchFamily="2" charset="-122"/>
                <a:cs typeface="Arial" panose="020B0604020202020204" pitchFamily="34" charset="0"/>
              </a:rPr>
              <a:t>7.2.4</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497518"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光电池</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3" name="Slide Number Placeholder 2">
            <a:extLst>
              <a:ext uri="{FF2B5EF4-FFF2-40B4-BE49-F238E27FC236}">
                <a16:creationId xmlns:a16="http://schemas.microsoft.com/office/drawing/2014/main" id="{9E75B9A0-EAC0-4018-A123-9010B99F0DBD}"/>
              </a:ext>
            </a:extLst>
          </p:cNvPr>
          <p:cNvSpPr>
            <a:spLocks noGrp="1"/>
          </p:cNvSpPr>
          <p:nvPr>
            <p:ph type="sldNum" sz="quarter" idx="12"/>
          </p:nvPr>
        </p:nvSpPr>
        <p:spPr/>
        <p:txBody>
          <a:bodyPr/>
          <a:lstStyle/>
          <a:p>
            <a:fld id="{B53602B4-F12B-41CD-B648-531F86B2CC91}" type="slidenum">
              <a:rPr lang="zh-CN" altLang="en-US" smtClean="0"/>
              <a:t>29</a:t>
            </a:fld>
            <a:endParaRPr lang="zh-CN" altLang="en-US"/>
          </a:p>
        </p:txBody>
      </p:sp>
      <p:sp>
        <p:nvSpPr>
          <p:cNvPr id="17" name="Text Box 5">
            <a:extLst>
              <a:ext uri="{FF2B5EF4-FFF2-40B4-BE49-F238E27FC236}">
                <a16:creationId xmlns:a16="http://schemas.microsoft.com/office/drawing/2014/main" id="{9139AACB-277B-4EE9-ACA3-108797C94A74}"/>
              </a:ext>
            </a:extLst>
          </p:cNvPr>
          <p:cNvSpPr txBox="1">
            <a:spLocks noChangeArrowheads="1"/>
          </p:cNvSpPr>
          <p:nvPr/>
        </p:nvSpPr>
        <p:spPr bwMode="auto">
          <a:xfrm>
            <a:off x="5204966" y="5439526"/>
            <a:ext cx="3070901"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lnSpc>
                <a:spcPct val="120000"/>
              </a:lnSpc>
              <a:spcBef>
                <a:spcPct val="2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7-10c </a:t>
            </a:r>
            <a:r>
              <a:rPr lang="zh-CN" altLang="en-US" sz="2400" b="1" dirty="0">
                <a:solidFill>
                  <a:srgbClr val="3333CC"/>
                </a:solidFill>
                <a:latin typeface="宋体" panose="02010600030101010101" pitchFamily="2" charset="-122"/>
                <a:ea typeface="宋体" panose="02010600030101010101" pitchFamily="2" charset="-122"/>
              </a:rPr>
              <a:t>硅光电池的伏安特性曲线</a:t>
            </a:r>
          </a:p>
        </p:txBody>
      </p:sp>
      <p:pic>
        <p:nvPicPr>
          <p:cNvPr id="18" name="Picture 11">
            <a:extLst>
              <a:ext uri="{FF2B5EF4-FFF2-40B4-BE49-F238E27FC236}">
                <a16:creationId xmlns:a16="http://schemas.microsoft.com/office/drawing/2014/main" id="{3486ECE7-52ED-45F3-A846-8F71175AB7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4966" y="1436274"/>
            <a:ext cx="3522721" cy="390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 Box 5">
            <a:extLst>
              <a:ext uri="{FF2B5EF4-FFF2-40B4-BE49-F238E27FC236}">
                <a16:creationId xmlns:a16="http://schemas.microsoft.com/office/drawing/2014/main" id="{95E9E179-12C2-4A0F-A473-DFBF8114ABF1}"/>
              </a:ext>
            </a:extLst>
          </p:cNvPr>
          <p:cNvSpPr txBox="1">
            <a:spLocks noChangeArrowheads="1"/>
          </p:cNvSpPr>
          <p:nvPr/>
        </p:nvSpPr>
        <p:spPr bwMode="auto">
          <a:xfrm>
            <a:off x="596551" y="5439526"/>
            <a:ext cx="3070901"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r" eaLnBrk="1" hangingPunct="1">
              <a:lnSpc>
                <a:spcPct val="120000"/>
              </a:lnSpc>
              <a:spcBef>
                <a:spcPct val="20000"/>
              </a:spcBef>
            </a:pPr>
            <a:r>
              <a:rPr lang="zh-CN" altLang="en-US" sz="2400" b="1" dirty="0">
                <a:solidFill>
                  <a:srgbClr val="3333CC"/>
                </a:solidFill>
                <a:latin typeface="宋体" panose="02010600030101010101" pitchFamily="2" charset="-122"/>
                <a:ea typeface="宋体" panose="02010600030101010101" pitchFamily="2" charset="-122"/>
              </a:rPr>
              <a:t>图</a:t>
            </a:r>
            <a:r>
              <a:rPr lang="en-US" altLang="zh-CN" sz="2400" b="1" dirty="0">
                <a:solidFill>
                  <a:srgbClr val="3333CC"/>
                </a:solidFill>
                <a:latin typeface="宋体" panose="02010600030101010101" pitchFamily="2" charset="-122"/>
                <a:ea typeface="宋体" panose="02010600030101010101" pitchFamily="2" charset="-122"/>
              </a:rPr>
              <a:t>7-9c </a:t>
            </a:r>
            <a:r>
              <a:rPr lang="zh-CN" altLang="en-US" sz="2400" b="1" dirty="0">
                <a:solidFill>
                  <a:srgbClr val="3333CC"/>
                </a:solidFill>
                <a:latin typeface="宋体" panose="02010600030101010101" pitchFamily="2" charset="-122"/>
                <a:ea typeface="宋体" panose="02010600030101010101" pitchFamily="2" charset="-122"/>
              </a:rPr>
              <a:t>硅光电池的光电特性曲线</a:t>
            </a:r>
          </a:p>
        </p:txBody>
      </p:sp>
      <p:pic>
        <p:nvPicPr>
          <p:cNvPr id="20" name="Picture 8">
            <a:extLst>
              <a:ext uri="{FF2B5EF4-FFF2-40B4-BE49-F238E27FC236}">
                <a16:creationId xmlns:a16="http://schemas.microsoft.com/office/drawing/2014/main" id="{0BBFC65B-8B39-476A-B5B8-15569FCF76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5083" y="1728388"/>
            <a:ext cx="4534016" cy="3417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12114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a:latin typeface="Arial" panose="020B0604020202020204" pitchFamily="34" charset="0"/>
                <a:ea typeface="宋体" panose="02010600030101010101" pitchFamily="2" charset="-122"/>
                <a:cs typeface="Arial" panose="020B0604020202020204" pitchFamily="34" charset="0"/>
              </a:rPr>
              <a:t>7.2.4</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0" y="329520"/>
            <a:ext cx="1497518" cy="615549"/>
          </a:xfrm>
          <a:prstGeom prst="rect">
            <a:avLst/>
          </a:prstGeom>
        </p:spPr>
        <p:txBody>
          <a:bodyPr wrap="none" lIns="91436" tIns="45718" rIns="91436" bIns="45718">
            <a:spAutoFit/>
          </a:bodyPr>
          <a:lstStyle/>
          <a:p>
            <a:r>
              <a:rPr lang="zh-CN" altLang="en-US" sz="3400" b="1">
                <a:solidFill>
                  <a:schemeClr val="bg1"/>
                </a:solidFill>
                <a:latin typeface="宋体" panose="02010600030101010101" pitchFamily="2" charset="-122"/>
                <a:ea typeface="宋体" panose="02010600030101010101" pitchFamily="2" charset="-122"/>
                <a:sym typeface="+mn-ea"/>
              </a:rPr>
              <a:t>光电池</a:t>
            </a:r>
            <a:endParaRPr lang="zh-CN" altLang="en-US" sz="3400" b="1" dirty="0">
              <a:solidFill>
                <a:schemeClr val="bg1"/>
              </a:solidFill>
              <a:latin typeface="宋体" panose="02010600030101010101" pitchFamily="2" charset="-122"/>
              <a:ea typeface="宋体" panose="02010600030101010101" pitchFamily="2" charset="-122"/>
              <a:sym typeface="+mn-ea"/>
            </a:endParaRPr>
          </a:p>
        </p:txBody>
      </p:sp>
      <p:sp>
        <p:nvSpPr>
          <p:cNvPr id="3" name="Slide Number Placeholder 2">
            <a:extLst>
              <a:ext uri="{FF2B5EF4-FFF2-40B4-BE49-F238E27FC236}">
                <a16:creationId xmlns:a16="http://schemas.microsoft.com/office/drawing/2014/main" id="{9E75B9A0-EAC0-4018-A123-9010B99F0DBD}"/>
              </a:ext>
            </a:extLst>
          </p:cNvPr>
          <p:cNvSpPr>
            <a:spLocks noGrp="1"/>
          </p:cNvSpPr>
          <p:nvPr>
            <p:ph type="sldNum" sz="quarter" idx="12"/>
          </p:nvPr>
        </p:nvSpPr>
        <p:spPr/>
        <p:txBody>
          <a:bodyPr/>
          <a:lstStyle/>
          <a:p>
            <a:fld id="{B53602B4-F12B-41CD-B648-531F86B2CC91}" type="slidenum">
              <a:rPr lang="zh-CN" altLang="en-US" smtClean="0"/>
              <a:t>30</a:t>
            </a:fld>
            <a:endParaRPr lang="zh-CN" altLang="en-US"/>
          </a:p>
        </p:txBody>
      </p:sp>
      <p:sp>
        <p:nvSpPr>
          <p:cNvPr id="9" name="Text Box 5">
            <a:extLst>
              <a:ext uri="{FF2B5EF4-FFF2-40B4-BE49-F238E27FC236}">
                <a16:creationId xmlns:a16="http://schemas.microsoft.com/office/drawing/2014/main" id="{6C460CB2-35CE-428C-AE7E-375DFE11E96D}"/>
              </a:ext>
            </a:extLst>
          </p:cNvPr>
          <p:cNvSpPr txBox="1">
            <a:spLocks noChangeArrowheads="1"/>
          </p:cNvSpPr>
          <p:nvPr/>
        </p:nvSpPr>
        <p:spPr bwMode="auto">
          <a:xfrm>
            <a:off x="6297201" y="4314093"/>
            <a:ext cx="26265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20000"/>
              </a:spcBef>
              <a:buClr>
                <a:schemeClr val="folHlink"/>
              </a:buClr>
              <a:buFont typeface="Wingdings" pitchFamily="2" charset="2"/>
              <a:buNone/>
            </a:pPr>
            <a:r>
              <a:rPr lang="zh-CN" altLang="en-US" sz="2000" b="1" dirty="0">
                <a:solidFill>
                  <a:srgbClr val="3333CC"/>
                </a:solidFill>
                <a:latin typeface="宋体" panose="02010600030101010101" pitchFamily="2" charset="-122"/>
                <a:ea typeface="宋体" panose="02010600030101010101" pitchFamily="2" charset="-122"/>
              </a:rPr>
              <a:t>图</a:t>
            </a:r>
            <a:r>
              <a:rPr lang="en-US" altLang="zh-CN" sz="2000" b="1" dirty="0">
                <a:solidFill>
                  <a:srgbClr val="3333CC"/>
                </a:solidFill>
                <a:latin typeface="宋体" panose="02010600030101010101" pitchFamily="2" charset="-122"/>
                <a:ea typeface="宋体" panose="02010600030101010101" pitchFamily="2" charset="-122"/>
              </a:rPr>
              <a:t>7-13b </a:t>
            </a:r>
            <a:r>
              <a:rPr lang="zh-CN" altLang="en-US" sz="2000" b="1" dirty="0">
                <a:solidFill>
                  <a:srgbClr val="3333CC"/>
                </a:solidFill>
                <a:latin typeface="宋体" panose="02010600030101010101" pitchFamily="2" charset="-122"/>
                <a:ea typeface="宋体" panose="02010600030101010101" pitchFamily="2" charset="-122"/>
              </a:rPr>
              <a:t>硅光电池的温度特性曲线</a:t>
            </a:r>
          </a:p>
        </p:txBody>
      </p:sp>
      <p:pic>
        <p:nvPicPr>
          <p:cNvPr id="12" name="Picture 11">
            <a:extLst>
              <a:ext uri="{FF2B5EF4-FFF2-40B4-BE49-F238E27FC236}">
                <a16:creationId xmlns:a16="http://schemas.microsoft.com/office/drawing/2014/main" id="{2A91F72F-86C6-44CE-A886-5ED1689FF4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5772" y="1811524"/>
            <a:ext cx="2688592" cy="2336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 Box 158">
            <a:extLst>
              <a:ext uri="{FF2B5EF4-FFF2-40B4-BE49-F238E27FC236}">
                <a16:creationId xmlns:a16="http://schemas.microsoft.com/office/drawing/2014/main" id="{C07D8F32-D21F-4ACB-A2A3-69AC668D323C}"/>
              </a:ext>
            </a:extLst>
          </p:cNvPr>
          <p:cNvSpPr txBox="1">
            <a:spLocks noChangeArrowheads="1"/>
          </p:cNvSpPr>
          <p:nvPr/>
        </p:nvSpPr>
        <p:spPr bwMode="auto">
          <a:xfrm>
            <a:off x="3198256" y="4314093"/>
            <a:ext cx="2811786" cy="78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sz="2000" b="1" dirty="0">
                <a:solidFill>
                  <a:srgbClr val="3333CC"/>
                </a:solidFill>
                <a:latin typeface="宋体" panose="02010600030101010101" pitchFamily="2" charset="-122"/>
                <a:ea typeface="宋体" panose="02010600030101010101" pitchFamily="2" charset="-122"/>
              </a:rPr>
              <a:t>图</a:t>
            </a:r>
            <a:r>
              <a:rPr kumimoji="0" lang="en-US" altLang="zh-CN" sz="2000" b="1" dirty="0">
                <a:solidFill>
                  <a:srgbClr val="3333CC"/>
                </a:solidFill>
                <a:latin typeface="宋体" panose="02010600030101010101" pitchFamily="2" charset="-122"/>
                <a:ea typeface="宋体" panose="02010600030101010101" pitchFamily="2" charset="-122"/>
              </a:rPr>
              <a:t>7-12a </a:t>
            </a:r>
            <a:r>
              <a:rPr kumimoji="0" lang="zh-CN" altLang="en-US" sz="2000" b="1" dirty="0">
                <a:solidFill>
                  <a:srgbClr val="3333CC"/>
                </a:solidFill>
                <a:latin typeface="宋体" panose="02010600030101010101" pitchFamily="2" charset="-122"/>
                <a:ea typeface="宋体" panose="02010600030101010101" pitchFamily="2" charset="-122"/>
              </a:rPr>
              <a:t>光敏电阻和光电池的频率特性曲线</a:t>
            </a:r>
          </a:p>
        </p:txBody>
      </p:sp>
      <p:pic>
        <p:nvPicPr>
          <p:cNvPr id="14" name="图片 2">
            <a:extLst>
              <a:ext uri="{FF2B5EF4-FFF2-40B4-BE49-F238E27FC236}">
                <a16:creationId xmlns:a16="http://schemas.microsoft.com/office/drawing/2014/main" id="{DEFADD65-F338-4488-849F-8001CA6A4C77}"/>
              </a:ext>
            </a:extLst>
          </p:cNvPr>
          <p:cNvPicPr>
            <a:picLocks noChangeAspect="1"/>
          </p:cNvPicPr>
          <p:nvPr/>
        </p:nvPicPr>
        <p:blipFill>
          <a:blip r:embed="rId4"/>
          <a:stretch>
            <a:fillRect/>
          </a:stretch>
        </p:blipFill>
        <p:spPr>
          <a:xfrm>
            <a:off x="3198256" y="1922440"/>
            <a:ext cx="2747488" cy="2336393"/>
          </a:xfrm>
          <a:prstGeom prst="rect">
            <a:avLst/>
          </a:prstGeom>
        </p:spPr>
      </p:pic>
      <p:graphicFrame>
        <p:nvGraphicFramePr>
          <p:cNvPr id="15" name="Object 160">
            <a:extLst>
              <a:ext uri="{FF2B5EF4-FFF2-40B4-BE49-F238E27FC236}">
                <a16:creationId xmlns:a16="http://schemas.microsoft.com/office/drawing/2014/main" id="{EE91E606-D1ED-454B-B153-A2C78C14B5A1}"/>
              </a:ext>
            </a:extLst>
          </p:cNvPr>
          <p:cNvGraphicFramePr>
            <a:graphicFrameLocks noChangeAspect="1"/>
          </p:cNvGraphicFramePr>
          <p:nvPr>
            <p:extLst>
              <p:ext uri="{D42A27DB-BD31-4B8C-83A1-F6EECF244321}">
                <p14:modId xmlns:p14="http://schemas.microsoft.com/office/powerpoint/2010/main" val="2084466530"/>
              </p:ext>
            </p:extLst>
          </p:nvPr>
        </p:nvGraphicFramePr>
        <p:xfrm>
          <a:off x="249636" y="1594834"/>
          <a:ext cx="2755013" cy="2412078"/>
        </p:xfrm>
        <a:graphic>
          <a:graphicData uri="http://schemas.openxmlformats.org/presentationml/2006/ole">
            <mc:AlternateContent xmlns:mc="http://schemas.openxmlformats.org/markup-compatibility/2006">
              <mc:Choice xmlns:v="urn:schemas-microsoft-com:vml" Requires="v">
                <p:oleObj name="位图图像" r:id="rId5" imgW="3742857" imgH="3277057" progId="Paint.Picture">
                  <p:embed/>
                </p:oleObj>
              </mc:Choice>
              <mc:Fallback>
                <p:oleObj name="位图图像" r:id="rId5" imgW="3742857" imgH="3277057" progId="Paint.Picture">
                  <p:embed/>
                  <p:pic>
                    <p:nvPicPr>
                      <p:cNvPr id="15" name="Object 160">
                        <a:extLst>
                          <a:ext uri="{FF2B5EF4-FFF2-40B4-BE49-F238E27FC236}">
                            <a16:creationId xmlns:a16="http://schemas.microsoft.com/office/drawing/2014/main" id="{EE91E606-D1ED-454B-B153-A2C78C14B5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636" y="1594834"/>
                        <a:ext cx="2755013" cy="2412078"/>
                      </a:xfrm>
                      <a:prstGeom prst="rect">
                        <a:avLst/>
                      </a:prstGeom>
                      <a:noFill/>
                      <a:ln>
                        <a:noFill/>
                      </a:ln>
                      <a:effectLst/>
                    </p:spPr>
                  </p:pic>
                </p:oleObj>
              </mc:Fallback>
            </mc:AlternateContent>
          </a:graphicData>
        </a:graphic>
      </p:graphicFrame>
      <p:sp>
        <p:nvSpPr>
          <p:cNvPr id="16" name="Text Box 161">
            <a:extLst>
              <a:ext uri="{FF2B5EF4-FFF2-40B4-BE49-F238E27FC236}">
                <a16:creationId xmlns:a16="http://schemas.microsoft.com/office/drawing/2014/main" id="{1EE833A8-36AE-4CAE-BE3F-8E779A1C0DC5}"/>
              </a:ext>
            </a:extLst>
          </p:cNvPr>
          <p:cNvSpPr txBox="1">
            <a:spLocks noChangeArrowheads="1"/>
          </p:cNvSpPr>
          <p:nvPr/>
        </p:nvSpPr>
        <p:spPr bwMode="auto">
          <a:xfrm>
            <a:off x="214586" y="4314093"/>
            <a:ext cx="246812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a:spcBef>
                <a:spcPct val="20000"/>
              </a:spcBef>
              <a:buClr>
                <a:schemeClr val="folHlink"/>
              </a:buClr>
              <a:buFont typeface="Wingdings" pitchFamily="2" charset="2"/>
              <a:buNone/>
            </a:pPr>
            <a:r>
              <a:rPr kumimoji="0" lang="en-US" altLang="zh-CN" sz="2000" b="1" dirty="0">
                <a:solidFill>
                  <a:srgbClr val="3333CC"/>
                </a:solidFill>
                <a:latin typeface="宋体" panose="02010600030101010101" pitchFamily="2" charset="-122"/>
                <a:ea typeface="宋体" panose="02010600030101010101" pitchFamily="2" charset="-122"/>
              </a:rPr>
              <a:t> </a:t>
            </a:r>
            <a:r>
              <a:rPr kumimoji="0" lang="zh-CN" altLang="en-US" sz="2000" b="1" dirty="0">
                <a:solidFill>
                  <a:srgbClr val="3333CC"/>
                </a:solidFill>
                <a:latin typeface="宋体" panose="02010600030101010101" pitchFamily="2" charset="-122"/>
                <a:ea typeface="宋体" panose="02010600030101010101" pitchFamily="2" charset="-122"/>
              </a:rPr>
              <a:t>图</a:t>
            </a:r>
            <a:r>
              <a:rPr kumimoji="0" lang="en-US" altLang="zh-CN" sz="2000" b="1" dirty="0">
                <a:solidFill>
                  <a:srgbClr val="3333CC"/>
                </a:solidFill>
                <a:latin typeface="宋体" panose="02010600030101010101" pitchFamily="2" charset="-122"/>
                <a:ea typeface="宋体" panose="02010600030101010101" pitchFamily="2" charset="-122"/>
              </a:rPr>
              <a:t>7-11c </a:t>
            </a:r>
            <a:r>
              <a:rPr kumimoji="0" lang="zh-CN" altLang="en-US" sz="2000" b="1" dirty="0">
                <a:solidFill>
                  <a:srgbClr val="3333CC"/>
                </a:solidFill>
                <a:latin typeface="宋体" panose="02010600030101010101" pitchFamily="2" charset="-122"/>
                <a:ea typeface="宋体" panose="02010600030101010101" pitchFamily="2" charset="-122"/>
              </a:rPr>
              <a:t>光电池的光谱特性曲线</a:t>
            </a:r>
          </a:p>
        </p:txBody>
      </p:sp>
    </p:spTree>
    <p:extLst>
      <p:ext uri="{BB962C8B-B14F-4D97-AF65-F5344CB8AC3E}">
        <p14:creationId xmlns:p14="http://schemas.microsoft.com/office/powerpoint/2010/main" val="20366022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7.3</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光电式传感器的测量电路</a:t>
            </a:r>
          </a:p>
        </p:txBody>
      </p:sp>
      <p:sp>
        <p:nvSpPr>
          <p:cNvPr id="29" name="Text Box 16"/>
          <p:cNvSpPr txBox="1">
            <a:spLocks noChangeArrowheads="1"/>
          </p:cNvSpPr>
          <p:nvPr/>
        </p:nvSpPr>
        <p:spPr bwMode="auto">
          <a:xfrm>
            <a:off x="1571711" y="1143000"/>
            <a:ext cx="6648562" cy="5226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ct val="150000"/>
              </a:lnSpc>
              <a:spcBef>
                <a:spcPct val="5000"/>
              </a:spcBef>
              <a:buClrTx/>
              <a:buFontTx/>
              <a:buNone/>
            </a:pPr>
            <a:r>
              <a:rPr lang="en-US" altLang="zh-CN" sz="2400" dirty="0">
                <a:solidFill>
                  <a:schemeClr val="tx1"/>
                </a:solidFill>
              </a:rPr>
              <a:t>7.3.1 </a:t>
            </a:r>
            <a:r>
              <a:rPr lang="zh-CN" altLang="en-US" sz="2400" dirty="0">
                <a:solidFill>
                  <a:schemeClr val="tx1"/>
                </a:solidFill>
              </a:rPr>
              <a:t>光源</a:t>
            </a:r>
          </a:p>
          <a:p>
            <a:pPr marL="342900" indent="-342900" eaLnBrk="1" hangingPunct="1">
              <a:lnSpc>
                <a:spcPct val="150000"/>
              </a:lnSpc>
              <a:spcBef>
                <a:spcPct val="5000"/>
              </a:spcBef>
              <a:buClr>
                <a:srgbClr val="7030A0"/>
              </a:buClr>
              <a:buFont typeface="Arial" pitchFamily="34" charset="0"/>
              <a:buChar char="•"/>
            </a:pPr>
            <a:r>
              <a:rPr lang="zh-CN" altLang="en-US" sz="2400" dirty="0">
                <a:solidFill>
                  <a:srgbClr val="FF0000"/>
                </a:solidFill>
              </a:rPr>
              <a:t>发光二极管</a:t>
            </a:r>
          </a:p>
          <a:p>
            <a:pPr eaLnBrk="1" hangingPunct="1">
              <a:lnSpc>
                <a:spcPct val="150000"/>
              </a:lnSpc>
              <a:spcBef>
                <a:spcPct val="5000"/>
              </a:spcBef>
              <a:buClr>
                <a:schemeClr val="bg1"/>
              </a:buClr>
              <a:buFont typeface="Wingdings" pitchFamily="2" charset="2"/>
              <a:buNone/>
            </a:pPr>
            <a:r>
              <a:rPr lang="zh-CN" altLang="en-US" sz="2400" dirty="0">
                <a:solidFill>
                  <a:schemeClr val="tx1"/>
                </a:solidFill>
              </a:rPr>
              <a:t>      单色性、响应快、体积小、功耗低、寿命长</a:t>
            </a:r>
          </a:p>
          <a:p>
            <a:pPr marL="342900" indent="-342900" eaLnBrk="1" hangingPunct="1">
              <a:lnSpc>
                <a:spcPct val="150000"/>
              </a:lnSpc>
              <a:spcBef>
                <a:spcPct val="5000"/>
              </a:spcBef>
              <a:buClr>
                <a:srgbClr val="7030A0"/>
              </a:buClr>
              <a:buFont typeface="Arial" pitchFamily="34" charset="0"/>
              <a:buChar char="•"/>
            </a:pPr>
            <a:r>
              <a:rPr lang="zh-CN" altLang="en-US" sz="2400" dirty="0">
                <a:solidFill>
                  <a:schemeClr val="tx1"/>
                </a:solidFill>
              </a:rPr>
              <a:t>钨丝灯泡</a:t>
            </a:r>
          </a:p>
          <a:p>
            <a:pPr eaLnBrk="1" hangingPunct="1">
              <a:lnSpc>
                <a:spcPct val="150000"/>
              </a:lnSpc>
              <a:spcBef>
                <a:spcPct val="5000"/>
              </a:spcBef>
              <a:buClr>
                <a:schemeClr val="bg1"/>
              </a:buClr>
              <a:buFont typeface="Wingdings" pitchFamily="2" charset="2"/>
              <a:buNone/>
            </a:pPr>
            <a:r>
              <a:rPr lang="zh-CN" altLang="en-US" sz="2400" dirty="0">
                <a:solidFill>
                  <a:schemeClr val="tx1"/>
                </a:solidFill>
              </a:rPr>
              <a:t>     常用、具有丰富的红外线</a:t>
            </a:r>
          </a:p>
          <a:p>
            <a:pPr marL="342900" indent="-342900" eaLnBrk="1" hangingPunct="1">
              <a:lnSpc>
                <a:spcPct val="150000"/>
              </a:lnSpc>
              <a:spcBef>
                <a:spcPct val="5000"/>
              </a:spcBef>
              <a:buClr>
                <a:srgbClr val="7030A0"/>
              </a:buClr>
              <a:buFont typeface="Arial" pitchFamily="34" charset="0"/>
              <a:buChar char="•"/>
            </a:pPr>
            <a:r>
              <a:rPr lang="zh-CN" altLang="en-US" sz="2400" dirty="0">
                <a:solidFill>
                  <a:schemeClr val="tx1"/>
                </a:solidFill>
              </a:rPr>
              <a:t>电弧灯或石英灯</a:t>
            </a:r>
          </a:p>
          <a:p>
            <a:pPr eaLnBrk="1" hangingPunct="1">
              <a:lnSpc>
                <a:spcPct val="150000"/>
              </a:lnSpc>
              <a:spcBef>
                <a:spcPct val="5000"/>
              </a:spcBef>
              <a:buClr>
                <a:schemeClr val="bg1"/>
              </a:buClr>
              <a:buFont typeface="Wingdings" pitchFamily="2" charset="2"/>
              <a:buNone/>
            </a:pPr>
            <a:r>
              <a:rPr lang="zh-CN" altLang="en-US" sz="2400" dirty="0">
                <a:solidFill>
                  <a:schemeClr val="tx1"/>
                </a:solidFill>
              </a:rPr>
              <a:t>     产生紫外线</a:t>
            </a:r>
          </a:p>
          <a:p>
            <a:pPr marL="342900" indent="-342900" eaLnBrk="1" hangingPunct="1">
              <a:lnSpc>
                <a:spcPct val="150000"/>
              </a:lnSpc>
              <a:spcBef>
                <a:spcPct val="5000"/>
              </a:spcBef>
              <a:buClr>
                <a:srgbClr val="7030A0"/>
              </a:buClr>
              <a:buFont typeface="Arial" pitchFamily="34" charset="0"/>
              <a:buChar char="•"/>
            </a:pPr>
            <a:r>
              <a:rPr lang="zh-CN" altLang="en-US" sz="2400" dirty="0">
                <a:solidFill>
                  <a:srgbClr val="FF0000"/>
                </a:solidFill>
              </a:rPr>
              <a:t>激光</a:t>
            </a:r>
          </a:p>
          <a:p>
            <a:pPr eaLnBrk="1" hangingPunct="1">
              <a:lnSpc>
                <a:spcPct val="150000"/>
              </a:lnSpc>
              <a:spcBef>
                <a:spcPct val="5000"/>
              </a:spcBef>
              <a:buClr>
                <a:schemeClr val="bg1"/>
              </a:buClr>
              <a:buFont typeface="Wingdings" pitchFamily="2" charset="2"/>
              <a:buNone/>
            </a:pPr>
            <a:r>
              <a:rPr lang="zh-CN" altLang="en-US" sz="2400" dirty="0">
                <a:solidFill>
                  <a:schemeClr val="tx1"/>
                </a:solidFill>
              </a:rPr>
              <a:t>     能量集中、方向性好、频率单纯、相干性好</a:t>
            </a:r>
          </a:p>
        </p:txBody>
      </p:sp>
      <p:sp>
        <p:nvSpPr>
          <p:cNvPr id="2" name="Slide Number Placeholder 1">
            <a:extLst>
              <a:ext uri="{FF2B5EF4-FFF2-40B4-BE49-F238E27FC236}">
                <a16:creationId xmlns:a16="http://schemas.microsoft.com/office/drawing/2014/main" id="{52334F40-A74E-4581-948D-3246803F7EBF}"/>
              </a:ext>
            </a:extLst>
          </p:cNvPr>
          <p:cNvSpPr>
            <a:spLocks noGrp="1"/>
          </p:cNvSpPr>
          <p:nvPr>
            <p:ph type="sldNum" sz="quarter" idx="12"/>
          </p:nvPr>
        </p:nvSpPr>
        <p:spPr/>
        <p:txBody>
          <a:bodyPr/>
          <a:lstStyle/>
          <a:p>
            <a:fld id="{B53602B4-F12B-41CD-B648-531F86B2CC91}" type="slidenum">
              <a:rPr lang="zh-CN" altLang="en-US" smtClean="0"/>
              <a:t>31</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7.3</a:t>
            </a:r>
          </a:p>
        </p:txBody>
      </p:sp>
      <p:sp>
        <p:nvSpPr>
          <p:cNvPr id="46"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光电式传感器的测量电路</a:t>
            </a:r>
          </a:p>
        </p:txBody>
      </p:sp>
      <p:sp>
        <p:nvSpPr>
          <p:cNvPr id="19" name="Rectangle 10"/>
          <p:cNvSpPr>
            <a:spLocks noChangeArrowheads="1"/>
          </p:cNvSpPr>
          <p:nvPr/>
        </p:nvSpPr>
        <p:spPr bwMode="auto">
          <a:xfrm>
            <a:off x="1953613" y="1710770"/>
            <a:ext cx="54721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buFont typeface="Wingdings" pitchFamily="2" charset="2"/>
              <a:buNone/>
            </a:pP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、光电管的测量电路</a:t>
            </a:r>
          </a:p>
        </p:txBody>
      </p:sp>
      <p:sp>
        <p:nvSpPr>
          <p:cNvPr id="2" name="矩形 1"/>
          <p:cNvSpPr/>
          <p:nvPr/>
        </p:nvSpPr>
        <p:spPr>
          <a:xfrm>
            <a:off x="1953613" y="2462924"/>
            <a:ext cx="4744045" cy="461665"/>
          </a:xfrm>
          <a:prstGeom prst="rect">
            <a:avLst/>
          </a:prstGeom>
        </p:spPr>
        <p:txBody>
          <a:bodyPr wrap="square">
            <a:spAutoFit/>
          </a:bodyPr>
          <a:lstStyle/>
          <a:p>
            <a:pPr marL="342900" lvl="0" indent="-342900"/>
            <a:r>
              <a:rPr lang="en-US" altLang="zh-CN" sz="2400" b="1" dirty="0">
                <a:solidFill>
                  <a:prstClr val="black"/>
                </a:solidFill>
                <a:latin typeface="宋体" panose="02010600030101010101" pitchFamily="2" charset="-122"/>
                <a:ea typeface="宋体" panose="02010600030101010101" pitchFamily="2" charset="-122"/>
              </a:rPr>
              <a:t>2</a:t>
            </a:r>
            <a:r>
              <a:rPr lang="zh-CN" altLang="en-US" sz="2400" b="1" dirty="0">
                <a:solidFill>
                  <a:prstClr val="black"/>
                </a:solidFill>
                <a:latin typeface="宋体" panose="02010600030101010101" pitchFamily="2" charset="-122"/>
                <a:ea typeface="宋体" panose="02010600030101010101" pitchFamily="2" charset="-122"/>
              </a:rPr>
              <a:t>、光电倍增管的测量电路</a:t>
            </a:r>
          </a:p>
        </p:txBody>
      </p:sp>
      <p:sp>
        <p:nvSpPr>
          <p:cNvPr id="3" name="Slide Number Placeholder 2">
            <a:extLst>
              <a:ext uri="{FF2B5EF4-FFF2-40B4-BE49-F238E27FC236}">
                <a16:creationId xmlns:a16="http://schemas.microsoft.com/office/drawing/2014/main" id="{7D13A270-1109-4FC2-98CA-B4BD16242B74}"/>
              </a:ext>
            </a:extLst>
          </p:cNvPr>
          <p:cNvSpPr>
            <a:spLocks noGrp="1"/>
          </p:cNvSpPr>
          <p:nvPr>
            <p:ph type="sldNum" sz="quarter" idx="12"/>
          </p:nvPr>
        </p:nvSpPr>
        <p:spPr/>
        <p:txBody>
          <a:bodyPr/>
          <a:lstStyle/>
          <a:p>
            <a:fld id="{B53602B4-F12B-41CD-B648-531F86B2CC91}" type="slidenum">
              <a:rPr lang="zh-CN" altLang="en-US" smtClean="0"/>
              <a:t>32</a:t>
            </a:fld>
            <a:endParaRPr lang="zh-CN" altLang="en-US"/>
          </a:p>
        </p:txBody>
      </p:sp>
      <p:sp>
        <p:nvSpPr>
          <p:cNvPr id="10" name="Rectangle 1028">
            <a:extLst>
              <a:ext uri="{FF2B5EF4-FFF2-40B4-BE49-F238E27FC236}">
                <a16:creationId xmlns:a16="http://schemas.microsoft.com/office/drawing/2014/main" id="{6A0B0F05-FE3D-4506-9BD1-D35D89E4A95A}"/>
              </a:ext>
            </a:extLst>
          </p:cNvPr>
          <p:cNvSpPr>
            <a:spLocks noChangeArrowheads="1"/>
          </p:cNvSpPr>
          <p:nvPr/>
        </p:nvSpPr>
        <p:spPr bwMode="auto">
          <a:xfrm>
            <a:off x="1953613" y="4940983"/>
            <a:ext cx="3793191" cy="57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nSpc>
                <a:spcPct val="130000"/>
              </a:lnSpc>
              <a:buFont typeface="Wingdings" pitchFamily="2" charset="2"/>
              <a:buNone/>
            </a:pPr>
            <a:r>
              <a:rPr lang="en-US" altLang="zh-CN" sz="2400" b="1" dirty="0">
                <a:latin typeface="宋体" panose="02010600030101010101" pitchFamily="2" charset="-122"/>
                <a:ea typeface="宋体" panose="02010600030101010101" pitchFamily="2" charset="-122"/>
              </a:rPr>
              <a:t>5</a:t>
            </a:r>
            <a:r>
              <a:rPr lang="zh-CN" altLang="en-US" sz="2400" b="1" dirty="0">
                <a:latin typeface="宋体" panose="02010600030101010101" pitchFamily="2" charset="-122"/>
                <a:ea typeface="宋体" panose="02010600030101010101" pitchFamily="2" charset="-122"/>
              </a:rPr>
              <a:t>、光电池的测量电路</a:t>
            </a:r>
          </a:p>
        </p:txBody>
      </p:sp>
      <p:sp>
        <p:nvSpPr>
          <p:cNvPr id="11" name="矩形 1">
            <a:extLst>
              <a:ext uri="{FF2B5EF4-FFF2-40B4-BE49-F238E27FC236}">
                <a16:creationId xmlns:a16="http://schemas.microsoft.com/office/drawing/2014/main" id="{BDB664E1-D2FA-4B05-8488-3C37C3A5EAFB}"/>
              </a:ext>
            </a:extLst>
          </p:cNvPr>
          <p:cNvSpPr/>
          <p:nvPr/>
        </p:nvSpPr>
        <p:spPr>
          <a:xfrm>
            <a:off x="1953613" y="3215078"/>
            <a:ext cx="3717883" cy="572464"/>
          </a:xfrm>
          <a:prstGeom prst="rect">
            <a:avLst/>
          </a:prstGeom>
        </p:spPr>
        <p:txBody>
          <a:bodyPr wrap="square">
            <a:spAutoFit/>
          </a:bodyPr>
          <a:lstStyle/>
          <a:p>
            <a:pPr marL="342900" lvl="0" indent="-342900">
              <a:lnSpc>
                <a:spcPct val="130000"/>
              </a:lnSpc>
            </a:pP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、光敏电阻的测量电路 </a:t>
            </a:r>
          </a:p>
        </p:txBody>
      </p:sp>
      <p:sp>
        <p:nvSpPr>
          <p:cNvPr id="12" name="矩形 2">
            <a:extLst>
              <a:ext uri="{FF2B5EF4-FFF2-40B4-BE49-F238E27FC236}">
                <a16:creationId xmlns:a16="http://schemas.microsoft.com/office/drawing/2014/main" id="{2D2B1C89-DE68-4148-8EBC-D6D94E54463C}"/>
              </a:ext>
            </a:extLst>
          </p:cNvPr>
          <p:cNvSpPr/>
          <p:nvPr/>
        </p:nvSpPr>
        <p:spPr>
          <a:xfrm>
            <a:off x="1953613" y="4078031"/>
            <a:ext cx="4124467" cy="572464"/>
          </a:xfrm>
          <a:prstGeom prst="rect">
            <a:avLst/>
          </a:prstGeom>
        </p:spPr>
        <p:txBody>
          <a:bodyPr wrap="square">
            <a:spAutoFit/>
          </a:bodyPr>
          <a:lstStyle/>
          <a:p>
            <a:pPr marL="342900" lvl="0" indent="-342900">
              <a:lnSpc>
                <a:spcPct val="130000"/>
              </a:lnSpc>
            </a:pPr>
            <a:r>
              <a:rPr lang="en-US" altLang="zh-CN" sz="2400" b="1" dirty="0">
                <a:latin typeface="宋体" panose="02010600030101010101" pitchFamily="2" charset="-122"/>
                <a:ea typeface="宋体" panose="02010600030101010101" pitchFamily="2" charset="-122"/>
              </a:rPr>
              <a:t>4</a:t>
            </a:r>
            <a:r>
              <a:rPr lang="zh-CN" altLang="en-US" sz="2400" b="1" dirty="0">
                <a:latin typeface="宋体" panose="02010600030101010101" pitchFamily="2" charset="-122"/>
                <a:ea typeface="宋体" panose="02010600030101010101" pitchFamily="2" charset="-122"/>
              </a:rPr>
              <a:t>、光电晶体管的测量电路</a:t>
            </a:r>
          </a:p>
        </p:txBody>
      </p:sp>
    </p:spTree>
    <p:extLst>
      <p:ext uri="{BB962C8B-B14F-4D97-AF65-F5344CB8AC3E}">
        <p14:creationId xmlns:p14="http://schemas.microsoft.com/office/powerpoint/2010/main" val="17284583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 7.4 </a:t>
            </a:r>
          </a:p>
        </p:txBody>
      </p:sp>
      <p:sp>
        <p:nvSpPr>
          <p:cNvPr id="46" name="矩形 45"/>
          <p:cNvSpPr/>
          <p:nvPr/>
        </p:nvSpPr>
        <p:spPr>
          <a:xfrm>
            <a:off x="1960200"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光电式传感器及其应用</a:t>
            </a:r>
          </a:p>
        </p:txBody>
      </p:sp>
      <p:sp>
        <p:nvSpPr>
          <p:cNvPr id="3" name="矩形 2"/>
          <p:cNvSpPr/>
          <p:nvPr/>
        </p:nvSpPr>
        <p:spPr>
          <a:xfrm>
            <a:off x="1442783" y="1559215"/>
            <a:ext cx="6435556" cy="646329"/>
          </a:xfrm>
          <a:prstGeom prst="rect">
            <a:avLst/>
          </a:prstGeom>
        </p:spPr>
        <p:txBody>
          <a:bodyPr wrap="square" lIns="91438" tIns="45719" rIns="91438" bIns="45719">
            <a:spAutoFit/>
          </a:bodyPr>
          <a:lstStyle/>
          <a:p>
            <a:pPr indent="623888">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光电式传感器按其接收状态可分为两大类：</a:t>
            </a:r>
          </a:p>
        </p:txBody>
      </p:sp>
      <p:grpSp>
        <p:nvGrpSpPr>
          <p:cNvPr id="24" name="Group 1057"/>
          <p:cNvGrpSpPr>
            <a:grpSpLocks/>
          </p:cNvGrpSpPr>
          <p:nvPr/>
        </p:nvGrpSpPr>
        <p:grpSpPr bwMode="auto">
          <a:xfrm>
            <a:off x="1760102" y="3880148"/>
            <a:ext cx="5962720" cy="2130529"/>
            <a:chOff x="480" y="2208"/>
            <a:chExt cx="4809" cy="1104"/>
          </a:xfrm>
        </p:grpSpPr>
        <p:pic>
          <p:nvPicPr>
            <p:cNvPr id="25" name="Picture 1051" descr="y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 y="2208"/>
              <a:ext cx="826"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052" descr="y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 y="2208"/>
              <a:ext cx="826"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053" descr="y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 y="2208"/>
              <a:ext cx="826"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054" descr="y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2" y="2208"/>
              <a:ext cx="825"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1055" descr="yk"/>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64" y="2208"/>
              <a:ext cx="825"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1056" descr="y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8" y="2208"/>
              <a:ext cx="825"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1" name="圆角矩形 72">
            <a:extLst>
              <a:ext uri="{FF2B5EF4-FFF2-40B4-BE49-F238E27FC236}">
                <a16:creationId xmlns:a16="http://schemas.microsoft.com/office/drawing/2014/main" id="{343D7C8A-72E9-4E11-82F9-04D1F37F1B07}"/>
              </a:ext>
            </a:extLst>
          </p:cNvPr>
          <p:cNvSpPr/>
          <p:nvPr/>
        </p:nvSpPr>
        <p:spPr>
          <a:xfrm rot="10800000" flipV="1">
            <a:off x="2169546" y="2306132"/>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7.4.1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2" name="圆角矩形 73">
            <a:extLst>
              <a:ext uri="{FF2B5EF4-FFF2-40B4-BE49-F238E27FC236}">
                <a16:creationId xmlns:a16="http://schemas.microsoft.com/office/drawing/2014/main" id="{7997A031-0667-4F3B-9AA0-BAB02B443096}"/>
              </a:ext>
            </a:extLst>
          </p:cNvPr>
          <p:cNvSpPr/>
          <p:nvPr/>
        </p:nvSpPr>
        <p:spPr>
          <a:xfrm rot="10800000" flipV="1">
            <a:off x="2169542" y="3040001"/>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7.4.2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36" name="矩形 35"/>
          <p:cNvSpPr/>
          <p:nvPr/>
        </p:nvSpPr>
        <p:spPr>
          <a:xfrm>
            <a:off x="3288233" y="2213918"/>
            <a:ext cx="4276750" cy="1384993"/>
          </a:xfrm>
          <a:prstGeom prst="rect">
            <a:avLst/>
          </a:prstGeom>
        </p:spPr>
        <p:txBody>
          <a:bodyPr wrap="square" lIns="91438" tIns="45719" rIns="91438" bIns="45719">
            <a:spAutoFit/>
          </a:bodyPr>
          <a:lstStyle/>
          <a:p>
            <a:pPr>
              <a:lnSpc>
                <a:spcPct val="15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9" action="ppaction://hlinksldjump"/>
              </a:rPr>
              <a:t>模拟式光电传感器</a:t>
            </a:r>
            <a:endParaRPr lang="en-US" altLang="zh-CN"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pPr>
            <a:r>
              <a:rPr lang="zh-CN" altLang="en-US" sz="2800" b="1" dirty="0">
                <a:latin typeface="Arial" panose="020B0604020202020204" pitchFamily="34" charset="0"/>
                <a:ea typeface="宋体" panose="02010600030101010101" pitchFamily="2" charset="-122"/>
                <a:cs typeface="Arial" panose="020B0604020202020204" pitchFamily="34" charset="0"/>
                <a:sym typeface="+mn-ea"/>
                <a:hlinkClick r:id="rId10" action="ppaction://hlinksldjump"/>
              </a:rPr>
              <a:t>脉冲式光电传感器</a:t>
            </a:r>
            <a:endParaRPr lang="zh-CN" altLang="en-US" sz="2800" b="1" dirty="0">
              <a:latin typeface="Arial" panose="020B0604020202020204" pitchFamily="34" charset="0"/>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F6450BF6-4C9A-4D19-B6EE-22F3E1C2FE13}"/>
              </a:ext>
            </a:extLst>
          </p:cNvPr>
          <p:cNvSpPr>
            <a:spLocks noGrp="1"/>
          </p:cNvSpPr>
          <p:nvPr>
            <p:ph type="sldNum" sz="quarter" idx="12"/>
          </p:nvPr>
        </p:nvSpPr>
        <p:spPr/>
        <p:txBody>
          <a:bodyPr/>
          <a:lstStyle/>
          <a:p>
            <a:fld id="{B53602B4-F12B-41CD-B648-531F86B2CC91}" type="slidenum">
              <a:rPr lang="zh-CN" altLang="en-US" smtClean="0"/>
              <a:t>33</a:t>
            </a:fld>
            <a:endParaRPr lang="zh-CN" altLang="en-US"/>
          </a:p>
        </p:txBody>
      </p:sp>
    </p:spTree>
    <p:extLst>
      <p:ext uri="{BB962C8B-B14F-4D97-AF65-F5344CB8AC3E}">
        <p14:creationId xmlns:p14="http://schemas.microsoft.com/office/powerpoint/2010/main" val="2579371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12"/>
          <p:cNvSpPr txBox="1">
            <a:spLocks noChangeArrowheads="1"/>
          </p:cNvSpPr>
          <p:nvPr/>
        </p:nvSpPr>
        <p:spPr bwMode="auto">
          <a:xfrm>
            <a:off x="436230" y="1207526"/>
            <a:ext cx="7839637" cy="141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indent="541338" eaLnBrk="1" hangingPunct="1">
              <a:lnSpc>
                <a:spcPct val="150000"/>
              </a:lnSpc>
              <a:spcBef>
                <a:spcPct val="0"/>
              </a:spcBef>
              <a:buClrTx/>
              <a:buFontTx/>
              <a:buNone/>
            </a:pPr>
            <a:r>
              <a:rPr lang="zh-CN" altLang="en-US" sz="2000" dirty="0">
                <a:solidFill>
                  <a:schemeClr val="tx1"/>
                </a:solidFill>
              </a:rPr>
              <a:t>模拟式光电传感器的工作原理是基于光电元件的光电特性，其</a:t>
            </a:r>
            <a:r>
              <a:rPr lang="zh-CN" altLang="en-US" sz="2000" dirty="0">
                <a:solidFill>
                  <a:srgbClr val="FF0000"/>
                </a:solidFill>
              </a:rPr>
              <a:t>光通量随被测量而变</a:t>
            </a:r>
            <a:r>
              <a:rPr lang="zh-CN" altLang="en-US" sz="2000" dirty="0">
                <a:solidFill>
                  <a:schemeClr val="tx1"/>
                </a:solidFill>
              </a:rPr>
              <a:t>，光电流为被测量的函数，故称为光电传感器的函数运用状</a:t>
            </a:r>
            <a:r>
              <a:rPr lang="zh-CN" altLang="en-US" sz="2000">
                <a:solidFill>
                  <a:schemeClr val="tx1"/>
                </a:solidFill>
              </a:rPr>
              <a:t>态。形</a:t>
            </a:r>
            <a:r>
              <a:rPr lang="zh-CN" altLang="en-US" sz="2000" dirty="0">
                <a:solidFill>
                  <a:schemeClr val="tx1"/>
                </a:solidFill>
              </a:rPr>
              <a:t>式：吸收式、反射式、遮光式和辐射式。</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7.4.1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4" name="矩形 23"/>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模拟式光电传感器</a:t>
            </a:r>
          </a:p>
        </p:txBody>
      </p:sp>
      <p:sp>
        <p:nvSpPr>
          <p:cNvPr id="2" name="Slide Number Placeholder 1">
            <a:extLst>
              <a:ext uri="{FF2B5EF4-FFF2-40B4-BE49-F238E27FC236}">
                <a16:creationId xmlns:a16="http://schemas.microsoft.com/office/drawing/2014/main" id="{95105DCA-C045-449A-AFDB-CFBDD6347187}"/>
              </a:ext>
            </a:extLst>
          </p:cNvPr>
          <p:cNvSpPr>
            <a:spLocks noGrp="1"/>
          </p:cNvSpPr>
          <p:nvPr>
            <p:ph type="sldNum" sz="quarter" idx="12"/>
          </p:nvPr>
        </p:nvSpPr>
        <p:spPr/>
        <p:txBody>
          <a:bodyPr/>
          <a:lstStyle/>
          <a:p>
            <a:fld id="{B53602B4-F12B-41CD-B648-531F86B2CC91}" type="slidenum">
              <a:rPr lang="zh-CN" altLang="en-US" smtClean="0"/>
              <a:t>34</a:t>
            </a:fld>
            <a:endParaRPr lang="zh-CN" altLang="en-US"/>
          </a:p>
        </p:txBody>
      </p:sp>
      <p:graphicFrame>
        <p:nvGraphicFramePr>
          <p:cNvPr id="8" name="Object 176">
            <a:extLst>
              <a:ext uri="{FF2B5EF4-FFF2-40B4-BE49-F238E27FC236}">
                <a16:creationId xmlns:a16="http://schemas.microsoft.com/office/drawing/2014/main" id="{320F721B-6983-465A-A566-358CC8F1DF4F}"/>
              </a:ext>
            </a:extLst>
          </p:cNvPr>
          <p:cNvGraphicFramePr>
            <a:graphicFrameLocks noChangeAspect="1"/>
          </p:cNvGraphicFramePr>
          <p:nvPr>
            <p:extLst>
              <p:ext uri="{D42A27DB-BD31-4B8C-83A1-F6EECF244321}">
                <p14:modId xmlns:p14="http://schemas.microsoft.com/office/powerpoint/2010/main" val="2704029345"/>
              </p:ext>
            </p:extLst>
          </p:nvPr>
        </p:nvGraphicFramePr>
        <p:xfrm>
          <a:off x="1532451" y="3171655"/>
          <a:ext cx="6509657" cy="3014290"/>
        </p:xfrm>
        <a:graphic>
          <a:graphicData uri="http://schemas.openxmlformats.org/presentationml/2006/ole">
            <mc:AlternateContent xmlns:mc="http://schemas.openxmlformats.org/markup-compatibility/2006">
              <mc:Choice xmlns:v="urn:schemas-microsoft-com:vml" Requires="v">
                <p:oleObj name="Image" r:id="rId3" imgW="31248980" imgH="14468571" progId="Photoshop.Image.7">
                  <p:embed/>
                </p:oleObj>
              </mc:Choice>
              <mc:Fallback>
                <p:oleObj name="Image" r:id="rId3" imgW="31248980" imgH="14468571" progId="Photoshop.Image.7">
                  <p:embed/>
                  <p:pic>
                    <p:nvPicPr>
                      <p:cNvPr id="5" name="Object 1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2451" y="3171655"/>
                        <a:ext cx="6509657" cy="3014290"/>
                      </a:xfrm>
                      <a:prstGeom prst="rect">
                        <a:avLst/>
                      </a:prstGeom>
                      <a:noFill/>
                      <a:ln>
                        <a:noFill/>
                      </a:ln>
                      <a:effectLst/>
                    </p:spPr>
                  </p:pic>
                </p:oleObj>
              </mc:Fallback>
            </mc:AlternateContent>
          </a:graphicData>
        </a:graphic>
      </p:graphicFrame>
      <p:sp>
        <p:nvSpPr>
          <p:cNvPr id="9" name="Text Box 175">
            <a:extLst>
              <a:ext uri="{FF2B5EF4-FFF2-40B4-BE49-F238E27FC236}">
                <a16:creationId xmlns:a16="http://schemas.microsoft.com/office/drawing/2014/main" id="{21570EB5-65BF-4750-9E36-F85B4A15B4C5}"/>
              </a:ext>
            </a:extLst>
          </p:cNvPr>
          <p:cNvSpPr txBox="1">
            <a:spLocks noChangeArrowheads="1"/>
          </p:cNvSpPr>
          <p:nvPr/>
        </p:nvSpPr>
        <p:spPr bwMode="auto">
          <a:xfrm>
            <a:off x="2555776" y="6185945"/>
            <a:ext cx="4463008"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pPr>
            <a:r>
              <a:rPr kumimoji="0" lang="zh-CN" altLang="en-US" sz="2400" b="1" dirty="0">
                <a:solidFill>
                  <a:srgbClr val="3333CC"/>
                </a:solidFill>
                <a:latin typeface="宋体" panose="02010600030101010101" pitchFamily="2" charset="-122"/>
                <a:ea typeface="宋体" panose="02010600030101010101" pitchFamily="2" charset="-122"/>
              </a:rPr>
              <a:t>图</a:t>
            </a:r>
            <a:r>
              <a:rPr kumimoji="0" lang="en-US" altLang="zh-CN" sz="2400" b="1" dirty="0">
                <a:solidFill>
                  <a:srgbClr val="3333CC"/>
                </a:solidFill>
                <a:latin typeface="宋体" panose="02010600030101010101" pitchFamily="2" charset="-122"/>
                <a:ea typeface="宋体" panose="02010600030101010101" pitchFamily="2" charset="-122"/>
              </a:rPr>
              <a:t>7-20 </a:t>
            </a:r>
            <a:r>
              <a:rPr kumimoji="0" lang="zh-CN" altLang="en-US" sz="2400" b="1" dirty="0">
                <a:solidFill>
                  <a:srgbClr val="3333CC"/>
                </a:solidFill>
                <a:latin typeface="宋体" panose="02010600030101010101" pitchFamily="2" charset="-122"/>
                <a:ea typeface="宋体" panose="02010600030101010101" pitchFamily="2" charset="-122"/>
              </a:rPr>
              <a:t>光电元件的测量方式</a:t>
            </a:r>
          </a:p>
        </p:txBody>
      </p:sp>
      <p:sp>
        <p:nvSpPr>
          <p:cNvPr id="10" name="Text Box 180">
            <a:extLst>
              <a:ext uri="{FF2B5EF4-FFF2-40B4-BE49-F238E27FC236}">
                <a16:creationId xmlns:a16="http://schemas.microsoft.com/office/drawing/2014/main" id="{A5C371B6-C69C-4D19-B8FF-F6ACD4D8FDBB}"/>
              </a:ext>
            </a:extLst>
          </p:cNvPr>
          <p:cNvSpPr txBox="1">
            <a:spLocks noChangeArrowheads="1"/>
          </p:cNvSpPr>
          <p:nvPr/>
        </p:nvSpPr>
        <p:spPr bwMode="auto">
          <a:xfrm>
            <a:off x="1532451" y="2860820"/>
            <a:ext cx="301892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b="1" dirty="0">
                <a:solidFill>
                  <a:srgbClr val="C00000"/>
                </a:solidFill>
                <a:latin typeface="宋体" panose="02010600030101010101" pitchFamily="2" charset="-122"/>
                <a:ea typeface="宋体" panose="02010600030101010101" pitchFamily="2" charset="-122"/>
              </a:rPr>
              <a:t>透明度、厚度、混浊度</a:t>
            </a:r>
          </a:p>
        </p:txBody>
      </p:sp>
      <p:sp>
        <p:nvSpPr>
          <p:cNvPr id="11" name="Text Box 181">
            <a:extLst>
              <a:ext uri="{FF2B5EF4-FFF2-40B4-BE49-F238E27FC236}">
                <a16:creationId xmlns:a16="http://schemas.microsoft.com/office/drawing/2014/main" id="{CFF89579-C27D-4909-A7E6-CEC76C494A53}"/>
              </a:ext>
            </a:extLst>
          </p:cNvPr>
          <p:cNvSpPr txBox="1">
            <a:spLocks noChangeArrowheads="1"/>
          </p:cNvSpPr>
          <p:nvPr/>
        </p:nvSpPr>
        <p:spPr bwMode="auto">
          <a:xfrm>
            <a:off x="6691180" y="3058628"/>
            <a:ext cx="1073963"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b="1" dirty="0">
                <a:solidFill>
                  <a:srgbClr val="C00000"/>
                </a:solidFill>
                <a:latin typeface="宋体" panose="02010600030101010101" pitchFamily="2" charset="-122"/>
                <a:ea typeface="宋体" panose="02010600030101010101" pitchFamily="2" charset="-122"/>
              </a:rPr>
              <a:t>粗糙度</a:t>
            </a:r>
          </a:p>
        </p:txBody>
      </p:sp>
      <p:sp>
        <p:nvSpPr>
          <p:cNvPr id="12" name="Text Box 182">
            <a:extLst>
              <a:ext uri="{FF2B5EF4-FFF2-40B4-BE49-F238E27FC236}">
                <a16:creationId xmlns:a16="http://schemas.microsoft.com/office/drawing/2014/main" id="{35F31CAF-4D8C-4338-BFC2-09886B99E573}"/>
              </a:ext>
            </a:extLst>
          </p:cNvPr>
          <p:cNvSpPr txBox="1">
            <a:spLocks noChangeArrowheads="1"/>
          </p:cNvSpPr>
          <p:nvPr/>
        </p:nvSpPr>
        <p:spPr bwMode="auto">
          <a:xfrm>
            <a:off x="1895687" y="4722416"/>
            <a:ext cx="93459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b="1">
                <a:solidFill>
                  <a:srgbClr val="C00000"/>
                </a:solidFill>
                <a:latin typeface="宋体" panose="02010600030101010101" pitchFamily="2" charset="-122"/>
                <a:ea typeface="宋体" panose="02010600030101010101" pitchFamily="2" charset="-122"/>
              </a:rPr>
              <a:t>位移</a:t>
            </a:r>
          </a:p>
        </p:txBody>
      </p:sp>
      <p:sp>
        <p:nvSpPr>
          <p:cNvPr id="13" name="Text Box 183">
            <a:extLst>
              <a:ext uri="{FF2B5EF4-FFF2-40B4-BE49-F238E27FC236}">
                <a16:creationId xmlns:a16="http://schemas.microsoft.com/office/drawing/2014/main" id="{608DF839-49C6-423B-A5A1-4875E88E6FF8}"/>
              </a:ext>
            </a:extLst>
          </p:cNvPr>
          <p:cNvSpPr txBox="1">
            <a:spLocks noChangeArrowheads="1"/>
          </p:cNvSpPr>
          <p:nvPr/>
        </p:nvSpPr>
        <p:spPr bwMode="auto">
          <a:xfrm>
            <a:off x="5363144" y="4937860"/>
            <a:ext cx="194468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200" b="1" dirty="0">
                <a:solidFill>
                  <a:srgbClr val="C00000"/>
                </a:solidFill>
                <a:latin typeface="宋体" panose="02010600030101010101" pitchFamily="2" charset="-122"/>
                <a:ea typeface="宋体" panose="02010600030101010101" pitchFamily="2" charset="-122"/>
              </a:rPr>
              <a:t>温度</a:t>
            </a:r>
          </a:p>
        </p:txBody>
      </p:sp>
      <p:sp>
        <p:nvSpPr>
          <p:cNvPr id="14" name="Line 184">
            <a:extLst>
              <a:ext uri="{FF2B5EF4-FFF2-40B4-BE49-F238E27FC236}">
                <a16:creationId xmlns:a16="http://schemas.microsoft.com/office/drawing/2014/main" id="{31A01CFD-2BB2-4728-AA90-B6E175256136}"/>
              </a:ext>
            </a:extLst>
          </p:cNvPr>
          <p:cNvSpPr>
            <a:spLocks noChangeShapeType="1"/>
          </p:cNvSpPr>
          <p:nvPr/>
        </p:nvSpPr>
        <p:spPr bwMode="auto">
          <a:xfrm>
            <a:off x="0" y="4726583"/>
            <a:ext cx="9144000" cy="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Box 12"/>
          <p:cNvSpPr txBox="1">
            <a:spLocks noChangeArrowheads="1"/>
          </p:cNvSpPr>
          <p:nvPr/>
        </p:nvSpPr>
        <p:spPr bwMode="auto">
          <a:xfrm>
            <a:off x="148133" y="1889692"/>
            <a:ext cx="5919001" cy="4649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marL="216000" indent="-216000" eaLnBrk="1" hangingPunct="1">
              <a:lnSpc>
                <a:spcPct val="150000"/>
              </a:lnSpc>
              <a:spcBef>
                <a:spcPct val="0"/>
              </a:spcBef>
              <a:buClrTx/>
              <a:buFont typeface="Arial" panose="020B0604020202020204" pitchFamily="34" charset="0"/>
              <a:buChar char="•"/>
            </a:pPr>
            <a:r>
              <a:rPr lang="zh-CN" altLang="en-US" sz="2000">
                <a:solidFill>
                  <a:schemeClr val="tx1"/>
                </a:solidFill>
              </a:rPr>
              <a:t>光源发出的光束经过一个间隙到达光电元件。</a:t>
            </a:r>
            <a:endParaRPr lang="en-US" altLang="zh-CN" sz="2000">
              <a:solidFill>
                <a:schemeClr val="tx1"/>
              </a:solidFill>
            </a:endParaRPr>
          </a:p>
          <a:p>
            <a:pPr marL="216000" indent="-216000" eaLnBrk="1" hangingPunct="1">
              <a:lnSpc>
                <a:spcPct val="150000"/>
              </a:lnSpc>
              <a:spcBef>
                <a:spcPct val="0"/>
              </a:spcBef>
              <a:buClrTx/>
              <a:buFont typeface="Arial" panose="020B0604020202020204" pitchFamily="34" charset="0"/>
              <a:buChar char="•"/>
            </a:pPr>
            <a:r>
              <a:rPr lang="zh-CN" altLang="en-US" sz="2000">
                <a:solidFill>
                  <a:schemeClr val="tx1"/>
                </a:solidFill>
              </a:rPr>
              <a:t>间隙的大小是由被检测尺寸大小所决定。</a:t>
            </a:r>
            <a:endParaRPr lang="en-US" altLang="zh-CN" sz="2000">
              <a:solidFill>
                <a:schemeClr val="tx1"/>
              </a:solidFill>
            </a:endParaRPr>
          </a:p>
          <a:p>
            <a:pPr marL="504000" lvl="1" indent="-342900" eaLnBrk="1" hangingPunct="1">
              <a:lnSpc>
                <a:spcPct val="150000"/>
              </a:lnSpc>
              <a:spcBef>
                <a:spcPct val="0"/>
              </a:spcBef>
              <a:buFont typeface="Courier New" panose="02070309020205020404" pitchFamily="49" charset="0"/>
              <a:buChar char="o"/>
            </a:pPr>
            <a:r>
              <a:rPr lang="zh-CN" altLang="en-US" sz="2000">
                <a:solidFill>
                  <a:schemeClr val="tx1"/>
                </a:solidFill>
              </a:rPr>
              <a:t>被检测尺寸改变，</a:t>
            </a:r>
            <a:endParaRPr lang="en-US" altLang="zh-CN" sz="2000">
              <a:solidFill>
                <a:schemeClr val="tx1"/>
              </a:solidFill>
            </a:endParaRPr>
          </a:p>
          <a:p>
            <a:pPr marL="504000" lvl="1" indent="-342900" eaLnBrk="1" hangingPunct="1">
              <a:lnSpc>
                <a:spcPct val="150000"/>
              </a:lnSpc>
              <a:spcBef>
                <a:spcPct val="0"/>
              </a:spcBef>
              <a:buFont typeface="Courier New" panose="02070309020205020404" pitchFamily="49" charset="0"/>
              <a:buChar char="o"/>
            </a:pPr>
            <a:r>
              <a:rPr lang="zh-CN" altLang="en-US" sz="2000">
                <a:solidFill>
                  <a:schemeClr val="tx1"/>
                </a:solidFill>
              </a:rPr>
              <a:t>间隙发生变化</a:t>
            </a:r>
            <a:endParaRPr lang="en-US" altLang="zh-CN" sz="2000">
              <a:solidFill>
                <a:schemeClr val="tx1"/>
              </a:solidFill>
            </a:endParaRPr>
          </a:p>
          <a:p>
            <a:pPr marL="504000" lvl="1" indent="-342900" eaLnBrk="1" hangingPunct="1">
              <a:lnSpc>
                <a:spcPct val="150000"/>
              </a:lnSpc>
              <a:spcBef>
                <a:spcPct val="0"/>
              </a:spcBef>
              <a:buFont typeface="Courier New" panose="02070309020205020404" pitchFamily="49" charset="0"/>
              <a:buChar char="o"/>
            </a:pPr>
            <a:r>
              <a:rPr lang="zh-CN" altLang="en-US" sz="2000">
                <a:solidFill>
                  <a:schemeClr val="tx1"/>
                </a:solidFill>
              </a:rPr>
              <a:t>到达光电元件的光通量随着改变</a:t>
            </a:r>
            <a:endParaRPr lang="en-US" altLang="zh-CN" sz="2000">
              <a:solidFill>
                <a:schemeClr val="tx1"/>
              </a:solidFill>
            </a:endParaRPr>
          </a:p>
          <a:p>
            <a:pPr marL="504000" lvl="1" indent="-342900" eaLnBrk="1" hangingPunct="1">
              <a:lnSpc>
                <a:spcPct val="150000"/>
              </a:lnSpc>
              <a:spcBef>
                <a:spcPct val="0"/>
              </a:spcBef>
              <a:buFont typeface="Courier New" panose="02070309020205020404" pitchFamily="49" charset="0"/>
              <a:buChar char="o"/>
            </a:pPr>
            <a:r>
              <a:rPr lang="zh-CN" altLang="en-US" sz="2000">
                <a:solidFill>
                  <a:schemeClr val="tx1"/>
                </a:solidFill>
              </a:rPr>
              <a:t>输出的光电信号的大小反映被检测尺寸的变化。</a:t>
            </a:r>
            <a:endParaRPr lang="en-US" altLang="zh-CN" sz="2000">
              <a:solidFill>
                <a:schemeClr val="tx1"/>
              </a:solidFill>
            </a:endParaRPr>
          </a:p>
          <a:p>
            <a:pPr marL="342900" indent="-342900" eaLnBrk="1" hangingPunct="1">
              <a:lnSpc>
                <a:spcPct val="150000"/>
              </a:lnSpc>
              <a:spcBef>
                <a:spcPct val="0"/>
              </a:spcBef>
              <a:buClrTx/>
              <a:buFont typeface="Arial" panose="020B0604020202020204" pitchFamily="34" charset="0"/>
              <a:buChar char="•"/>
            </a:pPr>
            <a:r>
              <a:rPr lang="zh-CN" altLang="en-US" sz="2000">
                <a:solidFill>
                  <a:schemeClr val="tx1"/>
                </a:solidFill>
              </a:rPr>
              <a:t>为使零件尺寸与光电输出之间有良好的线性关系，光电元件的光电特性应有良好的线性。</a:t>
            </a:r>
            <a:endParaRPr lang="en-US" altLang="zh-CN" sz="2000">
              <a:solidFill>
                <a:schemeClr val="tx1"/>
              </a:solidFill>
            </a:endParaRPr>
          </a:p>
          <a:p>
            <a:pPr marL="342900" indent="-342900" eaLnBrk="1" hangingPunct="1">
              <a:lnSpc>
                <a:spcPct val="150000"/>
              </a:lnSpc>
              <a:spcBef>
                <a:spcPct val="0"/>
              </a:spcBef>
              <a:buClrTx/>
              <a:buFont typeface="Arial" panose="020B0604020202020204" pitchFamily="34" charset="0"/>
              <a:buChar char="•"/>
            </a:pPr>
            <a:r>
              <a:rPr lang="zh-CN" altLang="en-US" sz="2000">
                <a:solidFill>
                  <a:schemeClr val="tx1"/>
                </a:solidFill>
              </a:rPr>
              <a:t>齿形盘以恒定转速转动，齿形盘的旋转可对入射光速进行调制，以简化光电管输出的放大电路。</a:t>
            </a:r>
            <a:endParaRPr lang="zh-CN" altLang="en-US" sz="2000" dirty="0">
              <a:solidFill>
                <a:schemeClr val="tx1"/>
              </a:solidFill>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7.4.1</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4" name="矩形 23"/>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模拟式光电传感器</a:t>
            </a:r>
          </a:p>
        </p:txBody>
      </p:sp>
      <p:sp>
        <p:nvSpPr>
          <p:cNvPr id="2" name="Slide Number Placeholder 1">
            <a:extLst>
              <a:ext uri="{FF2B5EF4-FFF2-40B4-BE49-F238E27FC236}">
                <a16:creationId xmlns:a16="http://schemas.microsoft.com/office/drawing/2014/main" id="{95105DCA-C045-449A-AFDB-CFBDD6347187}"/>
              </a:ext>
            </a:extLst>
          </p:cNvPr>
          <p:cNvSpPr>
            <a:spLocks noGrp="1"/>
          </p:cNvSpPr>
          <p:nvPr>
            <p:ph type="sldNum" sz="quarter" idx="12"/>
          </p:nvPr>
        </p:nvSpPr>
        <p:spPr/>
        <p:txBody>
          <a:bodyPr/>
          <a:lstStyle/>
          <a:p>
            <a:fld id="{B53602B4-F12B-41CD-B648-531F86B2CC91}" type="slidenum">
              <a:rPr lang="zh-CN" altLang="en-US" smtClean="0"/>
              <a:t>35</a:t>
            </a:fld>
            <a:endParaRPr lang="zh-CN" altLang="en-US"/>
          </a:p>
        </p:txBody>
      </p:sp>
      <p:sp>
        <p:nvSpPr>
          <p:cNvPr id="15" name="Text Box 177">
            <a:extLst>
              <a:ext uri="{FF2B5EF4-FFF2-40B4-BE49-F238E27FC236}">
                <a16:creationId xmlns:a16="http://schemas.microsoft.com/office/drawing/2014/main" id="{4AAB172C-F353-4A23-8EAB-7A27A4499EEF}"/>
              </a:ext>
            </a:extLst>
          </p:cNvPr>
          <p:cNvSpPr txBox="1">
            <a:spLocks noChangeArrowheads="1"/>
          </p:cNvSpPr>
          <p:nvPr/>
        </p:nvSpPr>
        <p:spPr bwMode="auto">
          <a:xfrm>
            <a:off x="6086709" y="4368095"/>
            <a:ext cx="2909158"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7-21 </a:t>
            </a:r>
            <a:r>
              <a:rPr kumimoji="0" lang="zh-CN" altLang="en-US" b="1" dirty="0">
                <a:solidFill>
                  <a:srgbClr val="3333CC"/>
                </a:solidFill>
                <a:latin typeface="宋体" panose="02010600030101010101" pitchFamily="2" charset="-122"/>
                <a:ea typeface="宋体" panose="02010600030101010101" pitchFamily="2" charset="-122"/>
              </a:rPr>
              <a:t>光电测微计装置的示意图</a:t>
            </a:r>
          </a:p>
        </p:txBody>
      </p:sp>
      <p:pic>
        <p:nvPicPr>
          <p:cNvPr id="16" name="Picture 10">
            <a:extLst>
              <a:ext uri="{FF2B5EF4-FFF2-40B4-BE49-F238E27FC236}">
                <a16:creationId xmlns:a16="http://schemas.microsoft.com/office/drawing/2014/main" id="{424F7C06-1654-43E8-A503-3E2D39BB171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1268" y="1889691"/>
            <a:ext cx="3264599" cy="2329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 Box 12">
            <a:extLst>
              <a:ext uri="{FF2B5EF4-FFF2-40B4-BE49-F238E27FC236}">
                <a16:creationId xmlns:a16="http://schemas.microsoft.com/office/drawing/2014/main" id="{A60E4C3E-0BA1-4A0A-9A1F-5B0ECE618141}"/>
              </a:ext>
            </a:extLst>
          </p:cNvPr>
          <p:cNvSpPr txBox="1">
            <a:spLocks noChangeArrowheads="1"/>
          </p:cNvSpPr>
          <p:nvPr/>
        </p:nvSpPr>
        <p:spPr bwMode="auto">
          <a:xfrm>
            <a:off x="148133" y="1285405"/>
            <a:ext cx="2458357" cy="574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chemeClr val="tx2"/>
                </a:solidFill>
                <a:latin typeface="Arial" charset="0"/>
                <a:ea typeface="宋体" charset="-122"/>
              </a:defRPr>
            </a:lvl1pPr>
            <a:lvl2pPr marL="742950" indent="-285750" eaLnBrk="0" hangingPunct="0">
              <a:defRPr sz="3200" b="1">
                <a:solidFill>
                  <a:schemeClr val="tx2"/>
                </a:solidFill>
                <a:latin typeface="Arial" charset="0"/>
                <a:ea typeface="宋体" charset="-122"/>
              </a:defRPr>
            </a:lvl2pPr>
            <a:lvl3pPr marL="1143000" indent="-228600" eaLnBrk="0" hangingPunct="0">
              <a:defRPr sz="3200" b="1">
                <a:solidFill>
                  <a:schemeClr val="tx2"/>
                </a:solidFill>
                <a:latin typeface="Arial" charset="0"/>
                <a:ea typeface="宋体" charset="-122"/>
              </a:defRPr>
            </a:lvl3pPr>
            <a:lvl4pPr marL="1600200" indent="-228600" eaLnBrk="0" hangingPunct="0">
              <a:defRPr sz="3200" b="1">
                <a:solidFill>
                  <a:schemeClr val="tx2"/>
                </a:solidFill>
                <a:latin typeface="Arial" charset="0"/>
                <a:ea typeface="宋体" charset="-122"/>
              </a:defRPr>
            </a:lvl4pPr>
            <a:lvl5pPr marL="2057400" indent="-228600" eaLnBrk="0" hangingPunct="0">
              <a:defRPr sz="3200" b="1">
                <a:solidFill>
                  <a:schemeClr val="tx2"/>
                </a:solidFill>
                <a:latin typeface="Arial" charset="0"/>
                <a:ea typeface="宋体" charset="-122"/>
              </a:defRPr>
            </a:lvl5pPr>
            <a:lvl6pPr marL="25146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6pPr>
            <a:lvl7pPr marL="29718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7pPr>
            <a:lvl8pPr marL="34290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8pPr>
            <a:lvl9pPr marL="3886200" indent="-228600" eaLnBrk="0" fontAlgn="base" hangingPunct="0">
              <a:spcBef>
                <a:spcPct val="20000"/>
              </a:spcBef>
              <a:spcAft>
                <a:spcPct val="0"/>
              </a:spcAft>
              <a:buClr>
                <a:schemeClr val="folHlink"/>
              </a:buClr>
              <a:buFont typeface="Wingdings" pitchFamily="2" charset="2"/>
              <a:buChar char="§"/>
              <a:defRPr sz="3200" b="1">
                <a:solidFill>
                  <a:schemeClr val="tx2"/>
                </a:solidFill>
                <a:latin typeface="Arial" charset="0"/>
                <a:ea typeface="宋体" charset="-122"/>
              </a:defRPr>
            </a:lvl9pPr>
          </a:lstStyle>
          <a:p>
            <a:pPr eaLnBrk="1" hangingPunct="1">
              <a:lnSpc>
                <a:spcPct val="150000"/>
              </a:lnSpc>
              <a:spcBef>
                <a:spcPct val="0"/>
              </a:spcBef>
              <a:buClrTx/>
              <a:buFontTx/>
              <a:buNone/>
            </a:pPr>
            <a:r>
              <a:rPr lang="zh-CN" altLang="en-US" sz="2400">
                <a:solidFill>
                  <a:srgbClr val="FF0000"/>
                </a:solidFill>
              </a:rPr>
              <a:t>零件尺寸检测：</a:t>
            </a:r>
            <a:endParaRPr lang="zh-CN" altLang="en-US" sz="2400" dirty="0">
              <a:solidFill>
                <a:srgbClr val="FF0000"/>
              </a:solidFill>
            </a:endParaRPr>
          </a:p>
        </p:txBody>
      </p:sp>
    </p:spTree>
    <p:extLst>
      <p:ext uri="{BB962C8B-B14F-4D97-AF65-F5344CB8AC3E}">
        <p14:creationId xmlns:p14="http://schemas.microsoft.com/office/powerpoint/2010/main" val="289370967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77504" y="2293088"/>
            <a:ext cx="7458363" cy="2175596"/>
          </a:xfrm>
          <a:prstGeom prst="rect">
            <a:avLst/>
          </a:prstGeom>
        </p:spPr>
        <p:txBody>
          <a:bodyPr wrap="square">
            <a:spAutoFit/>
          </a:bodyPr>
          <a:lstStyle/>
          <a:p>
            <a:pPr indent="623888">
              <a:lnSpc>
                <a:spcPct val="200000"/>
              </a:lnSpc>
              <a:buFont typeface="Wingdings" pitchFamily="2" charset="2"/>
              <a:buNone/>
            </a:pPr>
            <a:r>
              <a:rPr lang="zh-CN" altLang="en-US" sz="2400" b="1" dirty="0">
                <a:latin typeface="宋体" panose="02010600030101010101" pitchFamily="2" charset="-122"/>
                <a:ea typeface="宋体" panose="02010600030101010101" pitchFamily="2" charset="-122"/>
              </a:rPr>
              <a:t>脉冲式光电传感器的作用方式是光电元件的输出仅有两种稳定状态，即</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通</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与</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断</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的开关状态，所以也称为光电器件的开关运用状</a:t>
            </a:r>
            <a:r>
              <a:rPr lang="zh-CN" altLang="en-US" sz="2400" b="1">
                <a:latin typeface="宋体" panose="02010600030101010101" pitchFamily="2" charset="-122"/>
                <a:ea typeface="宋体" panose="02010600030101010101" pitchFamily="2" charset="-122"/>
              </a:rPr>
              <a:t>态。</a:t>
            </a:r>
            <a:endParaRPr lang="zh-CN" altLang="en-US" sz="2400" b="1" dirty="0">
              <a:solidFill>
                <a:srgbClr val="CC3300"/>
              </a:solidFill>
              <a:latin typeface="宋体" panose="02010600030101010101" pitchFamily="2" charset="-122"/>
              <a:ea typeface="宋体" panose="02010600030101010101" pitchFamily="2" charset="-122"/>
            </a:endParaRP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脉冲式光电传感器</a:t>
            </a:r>
          </a:p>
        </p:txBody>
      </p:sp>
      <p:sp>
        <p:nvSpPr>
          <p:cNvPr id="4" name="Slide Number Placeholder 3">
            <a:extLst>
              <a:ext uri="{FF2B5EF4-FFF2-40B4-BE49-F238E27FC236}">
                <a16:creationId xmlns:a16="http://schemas.microsoft.com/office/drawing/2014/main" id="{4176FB55-3F10-4AA7-98B6-69AE4C9596B1}"/>
              </a:ext>
            </a:extLst>
          </p:cNvPr>
          <p:cNvSpPr>
            <a:spLocks noGrp="1"/>
          </p:cNvSpPr>
          <p:nvPr>
            <p:ph type="sldNum" sz="quarter" idx="12"/>
          </p:nvPr>
        </p:nvSpPr>
        <p:spPr/>
        <p:txBody>
          <a:bodyPr/>
          <a:lstStyle/>
          <a:p>
            <a:fld id="{B53602B4-F12B-41CD-B648-531F86B2CC91}" type="slidenum">
              <a:rPr lang="zh-CN" altLang="en-US" smtClean="0"/>
              <a:t>36</a:t>
            </a:fld>
            <a:endParaRPr lang="zh-CN" altLang="en-US"/>
          </a:p>
        </p:txBody>
      </p:sp>
    </p:spTree>
    <p:extLst>
      <p:ext uri="{BB962C8B-B14F-4D97-AF65-F5344CB8AC3E}">
        <p14:creationId xmlns:p14="http://schemas.microsoft.com/office/powerpoint/2010/main" val="1760474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9">
            <a:extLst>
              <a:ext uri="{FF2B5EF4-FFF2-40B4-BE49-F238E27FC236}">
                <a16:creationId xmlns:a16="http://schemas.microsoft.com/office/drawing/2014/main" id="{CBC691F4-D330-4C0E-8A50-D29659B21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506" y="1311515"/>
            <a:ext cx="6261218" cy="2868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85083" y="1207238"/>
            <a:ext cx="3028351" cy="1113766"/>
          </a:xfrm>
          <a:prstGeom prst="rect">
            <a:avLst/>
          </a:prstGeom>
        </p:spPr>
        <p:txBody>
          <a:bodyPr wrap="square">
            <a:spAutoFit/>
          </a:bodyPr>
          <a:lstStyle/>
          <a:p>
            <a:pPr>
              <a:lnSpc>
                <a:spcPct val="150000"/>
              </a:lnSpc>
              <a:buFont typeface="Wingdings" pitchFamily="2" charset="2"/>
              <a:buNone/>
            </a:pPr>
            <a:r>
              <a:rPr lang="en-US" altLang="zh-CN" sz="2400" b="1">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、光电式转速计</a:t>
            </a:r>
            <a:r>
              <a:rPr lang="zh-CN" altLang="en-US" sz="2400" b="1" dirty="0">
                <a:solidFill>
                  <a:srgbClr val="CC3300"/>
                </a:solidFill>
                <a:latin typeface="宋体" panose="02010600030101010101" pitchFamily="2" charset="-122"/>
                <a:ea typeface="宋体" panose="02010600030101010101" pitchFamily="2" charset="-122"/>
              </a:rPr>
              <a:t>（光电编码器）</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脉冲式光电传感器</a:t>
            </a:r>
          </a:p>
        </p:txBody>
      </p:sp>
      <p:sp>
        <p:nvSpPr>
          <p:cNvPr id="4" name="Slide Number Placeholder 3">
            <a:extLst>
              <a:ext uri="{FF2B5EF4-FFF2-40B4-BE49-F238E27FC236}">
                <a16:creationId xmlns:a16="http://schemas.microsoft.com/office/drawing/2014/main" id="{4176FB55-3F10-4AA7-98B6-69AE4C9596B1}"/>
              </a:ext>
            </a:extLst>
          </p:cNvPr>
          <p:cNvSpPr>
            <a:spLocks noGrp="1"/>
          </p:cNvSpPr>
          <p:nvPr>
            <p:ph type="sldNum" sz="quarter" idx="12"/>
          </p:nvPr>
        </p:nvSpPr>
        <p:spPr/>
        <p:txBody>
          <a:bodyPr/>
          <a:lstStyle/>
          <a:p>
            <a:fld id="{B53602B4-F12B-41CD-B648-531F86B2CC91}" type="slidenum">
              <a:rPr lang="zh-CN" altLang="en-US" smtClean="0"/>
              <a:t>37</a:t>
            </a:fld>
            <a:endParaRPr lang="zh-CN" altLang="en-US"/>
          </a:p>
        </p:txBody>
      </p:sp>
      <p:sp>
        <p:nvSpPr>
          <p:cNvPr id="10" name="Text Box 179">
            <a:extLst>
              <a:ext uri="{FF2B5EF4-FFF2-40B4-BE49-F238E27FC236}">
                <a16:creationId xmlns:a16="http://schemas.microsoft.com/office/drawing/2014/main" id="{96ED3E82-6173-45D5-86B8-58B06313A71C}"/>
              </a:ext>
            </a:extLst>
          </p:cNvPr>
          <p:cNvSpPr txBox="1">
            <a:spLocks noChangeArrowheads="1"/>
          </p:cNvSpPr>
          <p:nvPr/>
        </p:nvSpPr>
        <p:spPr bwMode="auto">
          <a:xfrm>
            <a:off x="-70012" y="2745695"/>
            <a:ext cx="3283446"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7-23 </a:t>
            </a:r>
            <a:r>
              <a:rPr kumimoji="0" lang="zh-CN" altLang="en-US" b="1" dirty="0">
                <a:solidFill>
                  <a:srgbClr val="3333CC"/>
                </a:solidFill>
                <a:latin typeface="宋体" panose="02010600030101010101" pitchFamily="2" charset="-122"/>
                <a:ea typeface="宋体" panose="02010600030101010101" pitchFamily="2" charset="-122"/>
              </a:rPr>
              <a:t>光电式转速计的结构示意图</a:t>
            </a:r>
          </a:p>
        </p:txBody>
      </p:sp>
      <p:sp>
        <p:nvSpPr>
          <p:cNvPr id="9" name="矩形 1">
            <a:extLst>
              <a:ext uri="{FF2B5EF4-FFF2-40B4-BE49-F238E27FC236}">
                <a16:creationId xmlns:a16="http://schemas.microsoft.com/office/drawing/2014/main" id="{09C88A10-F4EE-4DAD-A942-EABB98BDD157}"/>
              </a:ext>
            </a:extLst>
          </p:cNvPr>
          <p:cNvSpPr/>
          <p:nvPr/>
        </p:nvSpPr>
        <p:spPr>
          <a:xfrm>
            <a:off x="36045" y="4404776"/>
            <a:ext cx="8869679" cy="2259273"/>
          </a:xfrm>
          <a:prstGeom prst="rect">
            <a:avLst/>
          </a:prstGeom>
        </p:spPr>
        <p:txBody>
          <a:bodyPr wrap="square">
            <a:spAutoFit/>
          </a:bodyPr>
          <a:lstStyle/>
          <a:p>
            <a:pPr marL="342900" indent="-342900">
              <a:lnSpc>
                <a:spcPct val="120000"/>
              </a:lnSpc>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被测转轴上涂有黑白相间的标志，光源</a:t>
            </a:r>
            <a:r>
              <a:rPr lang="en-US" altLang="zh-CN" sz="2000" b="1">
                <a:latin typeface="宋体" panose="02010600030101010101" pitchFamily="2" charset="-122"/>
                <a:ea typeface="宋体" panose="02010600030101010101" pitchFamily="2" charset="-122"/>
              </a:rPr>
              <a:t>1 </a:t>
            </a:r>
            <a:r>
              <a:rPr lang="zh-CN" altLang="en-US" sz="2000" b="1">
                <a:latin typeface="宋体" panose="02010600030101010101" pitchFamily="2" charset="-122"/>
                <a:ea typeface="宋体" panose="02010600030101010101" pitchFamily="2" charset="-122"/>
              </a:rPr>
              <a:t>发射的光经过透镜</a:t>
            </a:r>
            <a:r>
              <a:rPr lang="en-US" altLang="zh-CN" sz="2000" b="1">
                <a:latin typeface="宋体" panose="02010600030101010101" pitchFamily="2" charset="-122"/>
                <a:ea typeface="宋体" panose="02010600030101010101" pitchFamily="2" charset="-122"/>
              </a:rPr>
              <a:t>2 </a:t>
            </a:r>
            <a:r>
              <a:rPr lang="zh-CN" altLang="en-US" sz="2000" b="1">
                <a:latin typeface="宋体" panose="02010600030101010101" pitchFamily="2" charset="-122"/>
                <a:ea typeface="宋体" panose="02010600030101010101" pitchFamily="2" charset="-122"/>
              </a:rPr>
              <a:t>、半透明膜</a:t>
            </a:r>
            <a:r>
              <a:rPr lang="en-US" altLang="zh-CN" sz="2000" b="1">
                <a:latin typeface="宋体" panose="02010600030101010101" pitchFamily="2" charset="-122"/>
                <a:ea typeface="宋体" panose="02010600030101010101" pitchFamily="2" charset="-122"/>
              </a:rPr>
              <a:t>3 </a:t>
            </a:r>
            <a:r>
              <a:rPr lang="zh-CN" altLang="en-US" sz="2000" b="1">
                <a:latin typeface="宋体" panose="02010600030101010101" pitchFamily="2" charset="-122"/>
                <a:ea typeface="宋体" panose="02010600030101010101" pitchFamily="2" charset="-122"/>
              </a:rPr>
              <a:t>和透镜</a:t>
            </a:r>
            <a:r>
              <a:rPr lang="en-US" altLang="zh-CN" sz="2000" b="1">
                <a:latin typeface="宋体" panose="02010600030101010101" pitchFamily="2" charset="-122"/>
                <a:ea typeface="宋体" panose="02010600030101010101" pitchFamily="2" charset="-122"/>
              </a:rPr>
              <a:t>4 </a:t>
            </a:r>
            <a:r>
              <a:rPr lang="zh-CN" altLang="en-US" sz="2000" b="1">
                <a:latin typeface="宋体" panose="02010600030101010101" pitchFamily="2" charset="-122"/>
                <a:ea typeface="宋体" panose="02010600030101010101" pitchFamily="2" charset="-122"/>
              </a:rPr>
              <a:t>照射到被测的旋转物体</a:t>
            </a:r>
            <a:r>
              <a:rPr lang="en-US" altLang="zh-CN" sz="2000" b="1">
                <a:latin typeface="宋体" panose="02010600030101010101" pitchFamily="2" charset="-122"/>
                <a:ea typeface="宋体" panose="02010600030101010101" pitchFamily="2" charset="-122"/>
              </a:rPr>
              <a:t>5 </a:t>
            </a:r>
            <a:r>
              <a:rPr lang="zh-CN" altLang="en-US" sz="2000" b="1">
                <a:latin typeface="宋体" panose="02010600030101010101" pitchFamily="2" charset="-122"/>
                <a:ea typeface="宋体" panose="02010600030101010101" pitchFamily="2" charset="-122"/>
              </a:rPr>
              <a:t>上。</a:t>
            </a:r>
          </a:p>
          <a:p>
            <a:pPr marL="342900" indent="-342900">
              <a:lnSpc>
                <a:spcPct val="120000"/>
              </a:lnSpc>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被测转轴旋转时，明（白条）暗（黑条）变化一次，反射的光信息通过透镜</a:t>
            </a:r>
            <a:r>
              <a:rPr lang="en-US" altLang="zh-CN" sz="2000" b="1">
                <a:latin typeface="宋体" panose="02010600030101010101" pitchFamily="2" charset="-122"/>
                <a:ea typeface="宋体" panose="02010600030101010101" pitchFamily="2" charset="-122"/>
              </a:rPr>
              <a:t>6 </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3 </a:t>
            </a:r>
            <a:r>
              <a:rPr lang="zh-CN" altLang="en-US" sz="2000" b="1">
                <a:latin typeface="宋体" panose="02010600030101010101" pitchFamily="2" charset="-122"/>
                <a:ea typeface="宋体" panose="02010600030101010101" pitchFamily="2" charset="-122"/>
              </a:rPr>
              <a:t>和</a:t>
            </a:r>
            <a:r>
              <a:rPr lang="en-US" altLang="zh-CN" sz="2000" b="1">
                <a:latin typeface="宋体" panose="02010600030101010101" pitchFamily="2" charset="-122"/>
                <a:ea typeface="宋体" panose="02010600030101010101" pitchFamily="2" charset="-122"/>
              </a:rPr>
              <a:t>4 </a:t>
            </a:r>
            <a:r>
              <a:rPr lang="zh-CN" altLang="en-US" sz="2000" b="1">
                <a:latin typeface="宋体" panose="02010600030101010101" pitchFamily="2" charset="-122"/>
                <a:ea typeface="宋体" panose="02010600030101010101" pitchFamily="2" charset="-122"/>
              </a:rPr>
              <a:t>入射到光电元件</a:t>
            </a:r>
            <a:r>
              <a:rPr lang="en-US" altLang="zh-CN" sz="2000" b="1">
                <a:latin typeface="宋体" panose="02010600030101010101" pitchFamily="2" charset="-122"/>
                <a:ea typeface="宋体" panose="02010600030101010101" pitchFamily="2" charset="-122"/>
              </a:rPr>
              <a:t>7 </a:t>
            </a:r>
            <a:r>
              <a:rPr lang="zh-CN" altLang="en-US" sz="2000" b="1">
                <a:latin typeface="宋体" panose="02010600030101010101" pitchFamily="2" charset="-122"/>
                <a:ea typeface="宋体" panose="02010600030101010101" pitchFamily="2" charset="-122"/>
              </a:rPr>
              <a:t>上。</a:t>
            </a:r>
          </a:p>
          <a:p>
            <a:pPr marL="342900" indent="-342900">
              <a:lnSpc>
                <a:spcPct val="120000"/>
              </a:lnSpc>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光电元件</a:t>
            </a:r>
            <a:r>
              <a:rPr lang="en-US" altLang="zh-CN" sz="2000" b="1">
                <a:latin typeface="宋体" panose="02010600030101010101" pitchFamily="2" charset="-122"/>
                <a:ea typeface="宋体" panose="02010600030101010101" pitchFamily="2" charset="-122"/>
              </a:rPr>
              <a:t>7 </a:t>
            </a:r>
            <a:r>
              <a:rPr lang="zh-CN" altLang="en-US" sz="2000" b="1">
                <a:latin typeface="宋体" panose="02010600030101010101" pitchFamily="2" charset="-122"/>
                <a:ea typeface="宋体" panose="02010600030101010101" pitchFamily="2" charset="-122"/>
              </a:rPr>
              <a:t>由导通变为不导通，因而对应输出一个光电脉冲。</a:t>
            </a:r>
          </a:p>
          <a:p>
            <a:pPr marL="342900" indent="-342900">
              <a:lnSpc>
                <a:spcPct val="120000"/>
              </a:lnSpc>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通过光电脉冲输人频率计计数，即可得到其转速。</a:t>
            </a:r>
            <a:endParaRPr lang="zh-CN" altLang="en-US" sz="2000" b="1" dirty="0">
              <a:solidFill>
                <a:srgbClr val="CC33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4906004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22432D6-AC01-2480-2661-3CC678034597}"/>
              </a:ext>
            </a:extLst>
          </p:cNvPr>
          <p:cNvSpPr>
            <a:spLocks noGrp="1"/>
          </p:cNvSpPr>
          <p:nvPr>
            <p:ph type="sldNum" sz="quarter" idx="12"/>
          </p:nvPr>
        </p:nvSpPr>
        <p:spPr/>
        <p:txBody>
          <a:bodyPr/>
          <a:lstStyle/>
          <a:p>
            <a:fld id="{B53602B4-F12B-41CD-B648-531F86B2CC91}" type="slidenum">
              <a:rPr lang="zh-CN" altLang="en-US" smtClean="0"/>
              <a:t>38</a:t>
            </a:fld>
            <a:endParaRPr lang="zh-CN" altLang="en-US"/>
          </a:p>
        </p:txBody>
      </p:sp>
      <p:pic>
        <p:nvPicPr>
          <p:cNvPr id="6" name="图片 5">
            <a:extLst>
              <a:ext uri="{FF2B5EF4-FFF2-40B4-BE49-F238E27FC236}">
                <a16:creationId xmlns:a16="http://schemas.microsoft.com/office/drawing/2014/main" id="{082893CF-EB0A-2D35-9905-A9F476F81A8C}"/>
              </a:ext>
            </a:extLst>
          </p:cNvPr>
          <p:cNvPicPr>
            <a:picLocks noChangeAspect="1"/>
          </p:cNvPicPr>
          <p:nvPr/>
        </p:nvPicPr>
        <p:blipFill>
          <a:blip r:embed="rId2"/>
          <a:stretch>
            <a:fillRect/>
          </a:stretch>
        </p:blipFill>
        <p:spPr>
          <a:xfrm>
            <a:off x="414337" y="1657350"/>
            <a:ext cx="8315325" cy="3543300"/>
          </a:xfrm>
          <a:prstGeom prst="rect">
            <a:avLst/>
          </a:prstGeom>
        </p:spPr>
      </p:pic>
      <p:sp>
        <p:nvSpPr>
          <p:cNvPr id="7" name="矩形 6">
            <a:extLst>
              <a:ext uri="{FF2B5EF4-FFF2-40B4-BE49-F238E27FC236}">
                <a16:creationId xmlns:a16="http://schemas.microsoft.com/office/drawing/2014/main" id="{BE751F12-2E14-F408-9806-BFE5A0425A4A}"/>
              </a:ext>
            </a:extLst>
          </p:cNvPr>
          <p:cNvSpPr/>
          <p:nvPr/>
        </p:nvSpPr>
        <p:spPr>
          <a:xfrm>
            <a:off x="6147303" y="4662535"/>
            <a:ext cx="2562131" cy="4979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32796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82">
            <a:extLst>
              <a:ext uri="{FF2B5EF4-FFF2-40B4-BE49-F238E27FC236}">
                <a16:creationId xmlns:a16="http://schemas.microsoft.com/office/drawing/2014/main" id="{F70F076D-0877-4C90-9A91-2C139F4477D2}"/>
              </a:ext>
            </a:extLst>
          </p:cNvPr>
          <p:cNvGraphicFramePr>
            <a:graphicFrameLocks noChangeAspect="1"/>
          </p:cNvGraphicFramePr>
          <p:nvPr>
            <p:extLst>
              <p:ext uri="{D42A27DB-BD31-4B8C-83A1-F6EECF244321}">
                <p14:modId xmlns:p14="http://schemas.microsoft.com/office/powerpoint/2010/main" val="4063093463"/>
              </p:ext>
            </p:extLst>
          </p:nvPr>
        </p:nvGraphicFramePr>
        <p:xfrm>
          <a:off x="2986020" y="3792581"/>
          <a:ext cx="6095392" cy="2950014"/>
        </p:xfrm>
        <a:graphic>
          <a:graphicData uri="http://schemas.openxmlformats.org/presentationml/2006/ole">
            <mc:AlternateContent xmlns:mc="http://schemas.openxmlformats.org/markup-compatibility/2006">
              <mc:Choice xmlns:v="urn:schemas-microsoft-com:vml" Requires="v">
                <p:oleObj name="Image" r:id="rId3" imgW="31092245" imgH="15046531" progId="Photoshop.Image.7">
                  <p:embed/>
                </p:oleObj>
              </mc:Choice>
              <mc:Fallback>
                <p:oleObj name="Image" r:id="rId3" imgW="31092245" imgH="15046531" progId="Photoshop.Image.7">
                  <p:embed/>
                  <p:pic>
                    <p:nvPicPr>
                      <p:cNvPr id="14" name="Object 182">
                        <a:extLst>
                          <a:ext uri="{FF2B5EF4-FFF2-40B4-BE49-F238E27FC236}">
                            <a16:creationId xmlns:a16="http://schemas.microsoft.com/office/drawing/2014/main" id="{60A1B440-E39F-4C40-B166-502768FED5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6020" y="3792581"/>
                        <a:ext cx="6095392" cy="2950014"/>
                      </a:xfrm>
                      <a:prstGeom prst="rect">
                        <a:avLst/>
                      </a:prstGeom>
                      <a:noFill/>
                      <a:ln>
                        <a:noFill/>
                      </a:ln>
                      <a:effectLst/>
                    </p:spPr>
                  </p:pic>
                </p:oleObj>
              </mc:Fallback>
            </mc:AlternateContent>
          </a:graphicData>
        </a:graphic>
      </p:graphicFrame>
      <p:sp>
        <p:nvSpPr>
          <p:cNvPr id="14" name="Text Box 181">
            <a:extLst>
              <a:ext uri="{FF2B5EF4-FFF2-40B4-BE49-F238E27FC236}">
                <a16:creationId xmlns:a16="http://schemas.microsoft.com/office/drawing/2014/main" id="{537050E3-DB64-4466-9523-3A14F1485D14}"/>
              </a:ext>
            </a:extLst>
          </p:cNvPr>
          <p:cNvSpPr txBox="1">
            <a:spLocks noChangeArrowheads="1"/>
          </p:cNvSpPr>
          <p:nvPr/>
        </p:nvSpPr>
        <p:spPr bwMode="auto">
          <a:xfrm>
            <a:off x="62588" y="4874790"/>
            <a:ext cx="3299527"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7-24 </a:t>
            </a:r>
            <a:r>
              <a:rPr kumimoji="0" lang="zh-CN" altLang="en-US" b="1" dirty="0">
                <a:solidFill>
                  <a:srgbClr val="3333CC"/>
                </a:solidFill>
                <a:latin typeface="宋体" panose="02010600030101010101" pitchFamily="2" charset="-122"/>
                <a:ea typeface="宋体" panose="02010600030101010101" pitchFamily="2" charset="-122"/>
              </a:rPr>
              <a:t>天幕靶的结构示意图和工作原理图</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脉冲式光电传感器</a:t>
            </a:r>
          </a:p>
        </p:txBody>
      </p:sp>
      <p:sp>
        <p:nvSpPr>
          <p:cNvPr id="3" name="矩形 2"/>
          <p:cNvSpPr/>
          <p:nvPr/>
        </p:nvSpPr>
        <p:spPr>
          <a:xfrm>
            <a:off x="275870" y="1077046"/>
            <a:ext cx="4052713" cy="559769"/>
          </a:xfrm>
          <a:prstGeom prst="rect">
            <a:avLst/>
          </a:prstGeom>
        </p:spPr>
        <p:txBody>
          <a:bodyPr wrap="none">
            <a:spAutoFit/>
          </a:bodyPr>
          <a:lstStyle/>
          <a:p>
            <a:pPr>
              <a:lnSpc>
                <a:spcPct val="150000"/>
              </a:lnSpc>
              <a:buFont typeface="Wingdings" pitchFamily="2" charset="2"/>
              <a:buNone/>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、天</a:t>
            </a:r>
            <a:r>
              <a:rPr lang="zh-CN" altLang="en-US" sz="2400" b="1">
                <a:latin typeface="宋体" panose="02010600030101010101" pitchFamily="2" charset="-122"/>
                <a:ea typeface="宋体" panose="02010600030101010101" pitchFamily="2" charset="-122"/>
              </a:rPr>
              <a:t>幕靶：飞行速度的测定</a:t>
            </a:r>
            <a:endParaRPr lang="zh-CN" altLang="en-US" sz="2400" b="1" dirty="0">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4176FB55-3F10-4AA7-98B6-69AE4C9596B1}"/>
              </a:ext>
            </a:extLst>
          </p:cNvPr>
          <p:cNvSpPr>
            <a:spLocks noGrp="1"/>
          </p:cNvSpPr>
          <p:nvPr>
            <p:ph type="sldNum" sz="quarter" idx="12"/>
          </p:nvPr>
        </p:nvSpPr>
        <p:spPr/>
        <p:txBody>
          <a:bodyPr/>
          <a:lstStyle/>
          <a:p>
            <a:fld id="{B53602B4-F12B-41CD-B648-531F86B2CC91}" type="slidenum">
              <a:rPr lang="zh-CN" altLang="en-US" smtClean="0"/>
              <a:t>39</a:t>
            </a:fld>
            <a:endParaRPr lang="zh-CN" altLang="en-US"/>
          </a:p>
        </p:txBody>
      </p:sp>
      <p:sp>
        <p:nvSpPr>
          <p:cNvPr id="13" name="TextBox 12">
            <a:extLst>
              <a:ext uri="{FF2B5EF4-FFF2-40B4-BE49-F238E27FC236}">
                <a16:creationId xmlns:a16="http://schemas.microsoft.com/office/drawing/2014/main" id="{56C3B8FF-88D1-4B15-9655-6B0EEE07C62E}"/>
              </a:ext>
            </a:extLst>
          </p:cNvPr>
          <p:cNvSpPr txBox="1"/>
          <p:nvPr/>
        </p:nvSpPr>
        <p:spPr>
          <a:xfrm>
            <a:off x="260249" y="1739086"/>
            <a:ext cx="8412037" cy="2259273"/>
          </a:xfrm>
          <a:prstGeom prst="rect">
            <a:avLst/>
          </a:prstGeom>
        </p:spPr>
        <p:txBody>
          <a:bodyPr wrap="square">
            <a:spAutoFit/>
          </a:bodyPr>
          <a:lstStyle>
            <a:defPPr>
              <a:defRPr lang="zh-CN"/>
            </a:defPPr>
            <a:lvl1pPr marL="342900" indent="-342900">
              <a:lnSpc>
                <a:spcPct val="120000"/>
              </a:lnSpc>
              <a:buFont typeface="Wingdings" panose="05000000000000000000" pitchFamily="2" charset="2"/>
              <a:buChar char="§"/>
              <a:defRPr sz="2000" b="1">
                <a:latin typeface="宋体" panose="02010600030101010101" pitchFamily="2" charset="-122"/>
                <a:ea typeface="宋体" panose="02010600030101010101" pitchFamily="2" charset="-122"/>
              </a:defRPr>
            </a:lvl1pPr>
          </a:lstStyle>
          <a:p>
            <a:r>
              <a:rPr lang="zh-CN" altLang="en-US"/>
              <a:t>利用天空自然光，通过光学镜头和光学狭缝来给出一个限定的光幕，天幕以外的天空自然光是无法入射到光电元件上。</a:t>
            </a:r>
          </a:p>
          <a:p>
            <a:r>
              <a:rPr lang="zh-CN" altLang="en-US"/>
              <a:t>天幕靶由两个靶组成，在弹道上两点</a:t>
            </a:r>
            <a:r>
              <a:rPr lang="en-US" altLang="zh-CN"/>
              <a:t>P1 </a:t>
            </a:r>
            <a:r>
              <a:rPr lang="zh-CN" altLang="en-US"/>
              <a:t>、</a:t>
            </a:r>
            <a:r>
              <a:rPr lang="en-US" altLang="zh-CN"/>
              <a:t>P2 </a:t>
            </a:r>
            <a:r>
              <a:rPr lang="zh-CN" altLang="en-US"/>
              <a:t>处形成两个楔形天幕。</a:t>
            </a:r>
          </a:p>
          <a:p>
            <a:r>
              <a:rPr lang="zh-CN" altLang="en-US"/>
              <a:t>光学镜头把天幕入射光聚集后，投射到光电元件上。</a:t>
            </a:r>
          </a:p>
          <a:p>
            <a:r>
              <a:rPr lang="zh-CN" altLang="en-US"/>
              <a:t>平时天空背景亮度变化不大，光电管上接收的光通量变化也不大，光电管无突变信号输出。</a:t>
            </a:r>
            <a:endParaRPr lang="en-001"/>
          </a:p>
        </p:txBody>
      </p:sp>
    </p:spTree>
    <p:extLst>
      <p:ext uri="{BB962C8B-B14F-4D97-AF65-F5344CB8AC3E}">
        <p14:creationId xmlns:p14="http://schemas.microsoft.com/office/powerpoint/2010/main" val="17600776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Object 182">
            <a:extLst>
              <a:ext uri="{FF2B5EF4-FFF2-40B4-BE49-F238E27FC236}">
                <a16:creationId xmlns:a16="http://schemas.microsoft.com/office/drawing/2014/main" id="{60A1B440-E39F-4C40-B166-502768FED5A2}"/>
              </a:ext>
            </a:extLst>
          </p:cNvPr>
          <p:cNvGraphicFramePr>
            <a:graphicFrameLocks noChangeAspect="1"/>
          </p:cNvGraphicFramePr>
          <p:nvPr>
            <p:extLst>
              <p:ext uri="{D42A27DB-BD31-4B8C-83A1-F6EECF244321}">
                <p14:modId xmlns:p14="http://schemas.microsoft.com/office/powerpoint/2010/main" val="3687932130"/>
              </p:ext>
            </p:extLst>
          </p:nvPr>
        </p:nvGraphicFramePr>
        <p:xfrm>
          <a:off x="2986020" y="3792581"/>
          <a:ext cx="6095392" cy="2950014"/>
        </p:xfrm>
        <a:graphic>
          <a:graphicData uri="http://schemas.openxmlformats.org/presentationml/2006/ole">
            <mc:AlternateContent xmlns:mc="http://schemas.openxmlformats.org/markup-compatibility/2006">
              <mc:Choice xmlns:v="urn:schemas-microsoft-com:vml" Requires="v">
                <p:oleObj name="Image" r:id="rId3" imgW="31092245" imgH="15046531" progId="Photoshop.Image.7">
                  <p:embed/>
                </p:oleObj>
              </mc:Choice>
              <mc:Fallback>
                <p:oleObj name="Image" r:id="rId3" imgW="31092245" imgH="15046531" progId="Photoshop.Image.7">
                  <p:embed/>
                  <p:pic>
                    <p:nvPicPr>
                      <p:cNvPr id="11" name="Object 182">
                        <a:extLst>
                          <a:ext uri="{FF2B5EF4-FFF2-40B4-BE49-F238E27FC236}">
                            <a16:creationId xmlns:a16="http://schemas.microsoft.com/office/drawing/2014/main" id="{B278A23D-2922-4F78-AC53-E73BFF5596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6020" y="3792581"/>
                        <a:ext cx="6095392" cy="2950014"/>
                      </a:xfrm>
                      <a:prstGeom prst="rect">
                        <a:avLst/>
                      </a:prstGeom>
                      <a:noFill/>
                      <a:ln>
                        <a:noFill/>
                      </a:ln>
                      <a:effectLst/>
                    </p:spPr>
                  </p:pic>
                </p:oleObj>
              </mc:Fallback>
            </mc:AlternateContent>
          </a:graphicData>
        </a:graphic>
      </p:graphicFrame>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7.4.2</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27" name="矩形 26"/>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脉冲式光电传感器</a:t>
            </a:r>
          </a:p>
        </p:txBody>
      </p:sp>
      <p:sp>
        <p:nvSpPr>
          <p:cNvPr id="3" name="矩形 2"/>
          <p:cNvSpPr/>
          <p:nvPr/>
        </p:nvSpPr>
        <p:spPr>
          <a:xfrm>
            <a:off x="275870" y="1077046"/>
            <a:ext cx="4052713" cy="559769"/>
          </a:xfrm>
          <a:prstGeom prst="rect">
            <a:avLst/>
          </a:prstGeom>
        </p:spPr>
        <p:txBody>
          <a:bodyPr wrap="none">
            <a:spAutoFit/>
          </a:bodyPr>
          <a:lstStyle/>
          <a:p>
            <a:pPr>
              <a:lnSpc>
                <a:spcPct val="150000"/>
              </a:lnSpc>
              <a:buFont typeface="Wingdings" pitchFamily="2" charset="2"/>
              <a:buNone/>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、天</a:t>
            </a:r>
            <a:r>
              <a:rPr lang="zh-CN" altLang="en-US" sz="2400" b="1">
                <a:latin typeface="宋体" panose="02010600030101010101" pitchFamily="2" charset="-122"/>
                <a:ea typeface="宋体" panose="02010600030101010101" pitchFamily="2" charset="-122"/>
              </a:rPr>
              <a:t>幕靶：飞行速度的测定</a:t>
            </a:r>
            <a:endParaRPr lang="zh-CN" altLang="en-US" sz="2400" b="1" dirty="0">
              <a:latin typeface="宋体" panose="02010600030101010101" pitchFamily="2" charset="-122"/>
              <a:ea typeface="宋体" panose="02010600030101010101" pitchFamily="2" charset="-122"/>
            </a:endParaRPr>
          </a:p>
        </p:txBody>
      </p:sp>
      <p:sp>
        <p:nvSpPr>
          <p:cNvPr id="4" name="Slide Number Placeholder 3">
            <a:extLst>
              <a:ext uri="{FF2B5EF4-FFF2-40B4-BE49-F238E27FC236}">
                <a16:creationId xmlns:a16="http://schemas.microsoft.com/office/drawing/2014/main" id="{4176FB55-3F10-4AA7-98B6-69AE4C9596B1}"/>
              </a:ext>
            </a:extLst>
          </p:cNvPr>
          <p:cNvSpPr>
            <a:spLocks noGrp="1"/>
          </p:cNvSpPr>
          <p:nvPr>
            <p:ph type="sldNum" sz="quarter" idx="12"/>
          </p:nvPr>
        </p:nvSpPr>
        <p:spPr/>
        <p:txBody>
          <a:bodyPr/>
          <a:lstStyle/>
          <a:p>
            <a:fld id="{B53602B4-F12B-41CD-B648-531F86B2CC91}" type="slidenum">
              <a:rPr lang="zh-CN" altLang="en-US" smtClean="0"/>
              <a:t>40</a:t>
            </a:fld>
            <a:endParaRPr lang="zh-CN" altLang="en-US"/>
          </a:p>
        </p:txBody>
      </p:sp>
      <p:sp>
        <p:nvSpPr>
          <p:cNvPr id="13" name="TextBox 12">
            <a:extLst>
              <a:ext uri="{FF2B5EF4-FFF2-40B4-BE49-F238E27FC236}">
                <a16:creationId xmlns:a16="http://schemas.microsoft.com/office/drawing/2014/main" id="{56C3B8FF-88D1-4B15-9655-6B0EEE07C62E}"/>
              </a:ext>
            </a:extLst>
          </p:cNvPr>
          <p:cNvSpPr txBox="1"/>
          <p:nvPr/>
        </p:nvSpPr>
        <p:spPr>
          <a:xfrm>
            <a:off x="275870" y="1636815"/>
            <a:ext cx="8425444" cy="2628605"/>
          </a:xfrm>
          <a:prstGeom prst="rect">
            <a:avLst/>
          </a:prstGeom>
        </p:spPr>
        <p:txBody>
          <a:bodyPr wrap="square">
            <a:spAutoFit/>
          </a:bodyPr>
          <a:lstStyle>
            <a:defPPr>
              <a:defRPr lang="zh-CN"/>
            </a:defPPr>
            <a:lvl1pPr marL="342900" indent="-342900">
              <a:lnSpc>
                <a:spcPct val="120000"/>
              </a:lnSpc>
              <a:buFont typeface="Wingdings" panose="05000000000000000000" pitchFamily="2" charset="2"/>
              <a:buChar char="§"/>
              <a:defRPr sz="2000" b="1">
                <a:latin typeface="宋体" panose="02010600030101010101" pitchFamily="2" charset="-122"/>
                <a:ea typeface="宋体" panose="02010600030101010101" pitchFamily="2" charset="-122"/>
              </a:defRPr>
            </a:lvl1pPr>
          </a:lstStyle>
          <a:p>
            <a:r>
              <a:rPr lang="zh-CN" altLang="en-US"/>
              <a:t>当弹丸通过天幕时，天幕入射光通量产生突变，经过光学镜头聚焦在光电管上的光照也发生突变，使光电管有一脉冲信号输出</a:t>
            </a:r>
            <a:endParaRPr lang="en-US" altLang="zh-CN"/>
          </a:p>
          <a:p>
            <a:r>
              <a:rPr lang="zh-CN" altLang="en-US"/>
              <a:t>经过放大整形通过引出线给计时器一个启停信号，即可测出弹丸通过</a:t>
            </a:r>
            <a:r>
              <a:rPr lang="en-US" altLang="zh-CN"/>
              <a:t>P1</a:t>
            </a:r>
            <a:r>
              <a:rPr lang="zh-CN" altLang="en-US"/>
              <a:t>、</a:t>
            </a:r>
            <a:r>
              <a:rPr lang="en-US" altLang="zh-CN"/>
              <a:t>P2</a:t>
            </a:r>
            <a:r>
              <a:rPr lang="zh-CN" altLang="en-US"/>
              <a:t>间所需的时间 。</a:t>
            </a:r>
          </a:p>
          <a:p>
            <a:r>
              <a:rPr lang="zh-CN" altLang="en-US"/>
              <a:t>由于</a:t>
            </a:r>
            <a:r>
              <a:rPr lang="en-US" altLang="zh-CN"/>
              <a:t>P1 </a:t>
            </a:r>
            <a:r>
              <a:rPr lang="zh-CN" altLang="en-US"/>
              <a:t>、</a:t>
            </a:r>
            <a:r>
              <a:rPr lang="en-US" altLang="zh-CN"/>
              <a:t>P2</a:t>
            </a:r>
            <a:r>
              <a:rPr lang="zh-CN" altLang="en-US"/>
              <a:t>间距离是给定的，因而可算出这段距离内弹丸的平均速度。</a:t>
            </a:r>
          </a:p>
          <a:p>
            <a:r>
              <a:rPr lang="zh-CN" altLang="en-US"/>
              <a:t>天幕靶特别适用于高角测速，但不能在夜间使用，若加防护可在雨天和雪天使用。</a:t>
            </a:r>
            <a:endParaRPr lang="en-001"/>
          </a:p>
        </p:txBody>
      </p:sp>
      <p:sp>
        <p:nvSpPr>
          <p:cNvPr id="15" name="Text Box 181">
            <a:extLst>
              <a:ext uri="{FF2B5EF4-FFF2-40B4-BE49-F238E27FC236}">
                <a16:creationId xmlns:a16="http://schemas.microsoft.com/office/drawing/2014/main" id="{6DFBC346-3777-4A65-AB67-D63E0CEA8F5F}"/>
              </a:ext>
            </a:extLst>
          </p:cNvPr>
          <p:cNvSpPr txBox="1">
            <a:spLocks noChangeArrowheads="1"/>
          </p:cNvSpPr>
          <p:nvPr/>
        </p:nvSpPr>
        <p:spPr bwMode="auto">
          <a:xfrm>
            <a:off x="62588" y="4874790"/>
            <a:ext cx="3299527"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7-24 </a:t>
            </a:r>
            <a:r>
              <a:rPr kumimoji="0" lang="zh-CN" altLang="en-US" b="1" dirty="0">
                <a:solidFill>
                  <a:srgbClr val="3333CC"/>
                </a:solidFill>
                <a:latin typeface="宋体" panose="02010600030101010101" pitchFamily="2" charset="-122"/>
                <a:ea typeface="宋体" panose="02010600030101010101" pitchFamily="2" charset="-122"/>
              </a:rPr>
              <a:t>天幕靶的结构示意图和工作原理图</a:t>
            </a:r>
          </a:p>
        </p:txBody>
      </p:sp>
    </p:spTree>
    <p:extLst>
      <p:ext uri="{BB962C8B-B14F-4D97-AF65-F5344CB8AC3E}">
        <p14:creationId xmlns:p14="http://schemas.microsoft.com/office/powerpoint/2010/main" val="235542955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7.5</a:t>
            </a:r>
          </a:p>
        </p:txBody>
      </p:sp>
      <p:sp>
        <p:nvSpPr>
          <p:cNvPr id="46" name="矩形 45"/>
          <p:cNvSpPr/>
          <p:nvPr/>
        </p:nvSpPr>
        <p:spPr>
          <a:xfrm>
            <a:off x="1960200" y="360001"/>
            <a:ext cx="237275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a:t>
            </a:r>
          </a:p>
        </p:txBody>
      </p:sp>
      <p:sp>
        <p:nvSpPr>
          <p:cNvPr id="2" name="Slide Number Placeholder 1">
            <a:extLst>
              <a:ext uri="{FF2B5EF4-FFF2-40B4-BE49-F238E27FC236}">
                <a16:creationId xmlns:a16="http://schemas.microsoft.com/office/drawing/2014/main" id="{DE2D988A-290A-46E4-9C91-8A4962BA141E}"/>
              </a:ext>
            </a:extLst>
          </p:cNvPr>
          <p:cNvSpPr>
            <a:spLocks noGrp="1"/>
          </p:cNvSpPr>
          <p:nvPr>
            <p:ph type="sldNum" sz="quarter" idx="12"/>
          </p:nvPr>
        </p:nvSpPr>
        <p:spPr/>
        <p:txBody>
          <a:bodyPr/>
          <a:lstStyle/>
          <a:p>
            <a:fld id="{B53602B4-F12B-41CD-B648-531F86B2CC91}" type="slidenum">
              <a:rPr lang="zh-CN" altLang="en-US" smtClean="0"/>
              <a:t>41</a:t>
            </a:fld>
            <a:endParaRPr lang="zh-CN" altLang="en-US"/>
          </a:p>
        </p:txBody>
      </p:sp>
      <p:sp>
        <p:nvSpPr>
          <p:cNvPr id="17" name="TextBox 16">
            <a:extLst>
              <a:ext uri="{FF2B5EF4-FFF2-40B4-BE49-F238E27FC236}">
                <a16:creationId xmlns:a16="http://schemas.microsoft.com/office/drawing/2014/main" id="{E5668C22-2BE5-455B-8FD1-DF684464A926}"/>
              </a:ext>
            </a:extLst>
          </p:cNvPr>
          <p:cNvSpPr txBox="1"/>
          <p:nvPr/>
        </p:nvSpPr>
        <p:spPr>
          <a:xfrm>
            <a:off x="507999" y="1472870"/>
            <a:ext cx="8335467" cy="4436792"/>
          </a:xfrm>
          <a:prstGeom prst="rect">
            <a:avLst/>
          </a:prstGeom>
        </p:spPr>
        <p:txBody>
          <a:bodyPr wrap="square">
            <a:spAutoFit/>
          </a:bodyPr>
          <a:lstStyle>
            <a:defPPr>
              <a:defRPr lang="zh-CN"/>
            </a:defPPr>
            <a:lvl1pPr marL="342900" indent="-342900">
              <a:lnSpc>
                <a:spcPct val="120000"/>
              </a:lnSpc>
              <a:buFont typeface="Wingdings" panose="05000000000000000000" pitchFamily="2" charset="2"/>
              <a:buChar char="§"/>
              <a:defRPr sz="2000" b="1">
                <a:latin typeface="宋体" panose="02010600030101010101" pitchFamily="2" charset="-122"/>
                <a:ea typeface="宋体" panose="02010600030101010101" pitchFamily="2" charset="-122"/>
              </a:defRPr>
            </a:lvl1pPr>
          </a:lstStyle>
          <a:p>
            <a:pPr marL="0" indent="0">
              <a:lnSpc>
                <a:spcPct val="130000"/>
              </a:lnSpc>
              <a:buNone/>
            </a:pPr>
            <a:r>
              <a:rPr lang="zh-CN" altLang="en-US"/>
              <a:t>光纤传感器与常规传感器相比具有许多优点：</a:t>
            </a:r>
          </a:p>
          <a:p>
            <a:pPr>
              <a:lnSpc>
                <a:spcPct val="130000"/>
              </a:lnSpc>
            </a:pPr>
            <a:r>
              <a:rPr lang="zh-CN" altLang="en-US">
                <a:solidFill>
                  <a:srgbClr val="FF0000"/>
                </a:solidFill>
              </a:rPr>
              <a:t>抗电磁干扰能力强；</a:t>
            </a:r>
          </a:p>
          <a:p>
            <a:pPr>
              <a:lnSpc>
                <a:spcPct val="130000"/>
              </a:lnSpc>
            </a:pPr>
            <a:r>
              <a:rPr lang="zh-CN" altLang="en-US">
                <a:solidFill>
                  <a:srgbClr val="3333CC"/>
                </a:solidFill>
              </a:rPr>
              <a:t>灵敏度较高；</a:t>
            </a:r>
          </a:p>
          <a:p>
            <a:pPr>
              <a:lnSpc>
                <a:spcPct val="130000"/>
              </a:lnSpc>
            </a:pPr>
            <a:r>
              <a:rPr lang="zh-CN" altLang="en-US">
                <a:solidFill>
                  <a:srgbClr val="3333CC"/>
                </a:solidFill>
              </a:rPr>
              <a:t>几何形状具有多方面的适应性</a:t>
            </a:r>
            <a:r>
              <a:rPr lang="zh-CN" altLang="en-US"/>
              <a:t>，可以制成任意形状的光纤传感器；</a:t>
            </a:r>
          </a:p>
          <a:p>
            <a:pPr>
              <a:lnSpc>
                <a:spcPct val="130000"/>
              </a:lnSpc>
            </a:pPr>
            <a:r>
              <a:rPr lang="zh-CN" altLang="en-US"/>
              <a:t>可以制造传感</a:t>
            </a:r>
            <a:r>
              <a:rPr lang="zh-CN" altLang="en-US">
                <a:solidFill>
                  <a:srgbClr val="3333CC"/>
                </a:solidFill>
              </a:rPr>
              <a:t>各种不同物理信息</a:t>
            </a:r>
            <a:r>
              <a:rPr lang="zh-CN" altLang="en-US"/>
              <a:t>（声、磁、温度、旋转等）的器件；</a:t>
            </a:r>
          </a:p>
          <a:p>
            <a:pPr>
              <a:lnSpc>
                <a:spcPct val="130000"/>
              </a:lnSpc>
            </a:pPr>
            <a:r>
              <a:rPr lang="zh-CN" altLang="en-US"/>
              <a:t>光纤传感器可以用于高压、电气噪声、高温、腐蚀或其他的恶劣环境；</a:t>
            </a:r>
          </a:p>
          <a:p>
            <a:pPr>
              <a:lnSpc>
                <a:spcPct val="130000"/>
              </a:lnSpc>
            </a:pPr>
            <a:r>
              <a:rPr lang="zh-CN" altLang="en-US"/>
              <a:t>而且具有与光纤遥测技术的内在相容性。</a:t>
            </a:r>
          </a:p>
          <a:p>
            <a:pPr marL="0" indent="0">
              <a:lnSpc>
                <a:spcPct val="130000"/>
              </a:lnSpc>
              <a:buNone/>
            </a:pPr>
            <a:endParaRPr lang="en-US" altLang="zh-CN"/>
          </a:p>
          <a:p>
            <a:pPr marL="0" indent="0">
              <a:lnSpc>
                <a:spcPct val="130000"/>
              </a:lnSpc>
              <a:buNone/>
            </a:pPr>
            <a:r>
              <a:rPr lang="zh-CN" altLang="en-US"/>
              <a:t>光纤传感器的迅猛发展始于</a:t>
            </a:r>
            <a:r>
              <a:rPr lang="en-US" altLang="zh-CN"/>
              <a:t>1977</a:t>
            </a:r>
            <a:r>
              <a:rPr lang="zh-CN" altLang="en-US"/>
              <a:t>年，至今已研制多种光纤传感器，被测量遍及位移、速度、加速度、液位、压力、流量、振动、水声、温度、电流、电压、磁场和核辐射等。</a:t>
            </a:r>
            <a:endParaRPr lang="en-001"/>
          </a:p>
        </p:txBody>
      </p:sp>
    </p:spTree>
    <p:extLst>
      <p:ext uri="{BB962C8B-B14F-4D97-AF65-F5344CB8AC3E}">
        <p14:creationId xmlns:p14="http://schemas.microsoft.com/office/powerpoint/2010/main" val="174795525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光导纤维</a:t>
            </a:r>
          </a:p>
        </p:txBody>
      </p:sp>
      <p:sp>
        <p:nvSpPr>
          <p:cNvPr id="19" name="Text Box 2"/>
          <p:cNvSpPr txBox="1">
            <a:spLocks noChangeArrowheads="1"/>
          </p:cNvSpPr>
          <p:nvPr/>
        </p:nvSpPr>
        <p:spPr bwMode="auto">
          <a:xfrm>
            <a:off x="294553" y="1693388"/>
            <a:ext cx="8609961" cy="394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marL="342900" indent="-342900">
              <a:lnSpc>
                <a:spcPct val="150000"/>
              </a:lnSpc>
              <a:spcBef>
                <a:spcPts val="600"/>
              </a:spcBef>
              <a:buFont typeface="Arial" panose="020B0604020202020204" pitchFamily="34" charset="0"/>
              <a:buChar char="•"/>
              <a:defRPr/>
            </a:pPr>
            <a:r>
              <a:rPr lang="zh-CN" altLang="en-US" sz="2000" b="1">
                <a:solidFill>
                  <a:srgbClr val="FF0000"/>
                </a:solidFill>
                <a:latin typeface="宋体" panose="02010600030101010101" pitchFamily="2" charset="-122"/>
                <a:ea typeface="宋体" panose="02010600030101010101" pitchFamily="2" charset="-122"/>
              </a:rPr>
              <a:t>光纤的传输损耗小</a:t>
            </a:r>
            <a:r>
              <a:rPr lang="zh-CN" altLang="en-US" sz="2000" b="1">
                <a:latin typeface="宋体" panose="02010600030101010101" pitchFamily="2" charset="-122"/>
                <a:ea typeface="宋体" panose="02010600030101010101" pitchFamily="2" charset="-122"/>
              </a:rPr>
              <a:t>。用石英、玻璃、塑料等光透射率高的电介质制作的极细纤维（</a:t>
            </a:r>
            <a:r>
              <a:rPr lang="en-US" altLang="zh-CN" sz="2000" b="1">
                <a:latin typeface="Times New Roman" panose="02020603050405020304" pitchFamily="18" charset="0"/>
                <a:ea typeface="宋体" panose="02010600030101010101" pitchFamily="2" charset="-122"/>
                <a:cs typeface="Times New Roman" panose="02020603050405020304" pitchFamily="18" charset="0"/>
              </a:rPr>
              <a:t>&lt;</a:t>
            </a:r>
            <a:r>
              <a:rPr lang="en-US" altLang="zh-CN" sz="2000" b="1">
                <a:latin typeface="宋体" panose="02010600030101010101" pitchFamily="2" charset="-122"/>
                <a:ea typeface="宋体" panose="02010600030101010101" pitchFamily="2" charset="-122"/>
              </a:rPr>
              <a:t>100</a:t>
            </a:r>
            <a:r>
              <a:rPr lang="el-GR" altLang="zh-CN" sz="2000">
                <a:latin typeface="Times New Roman" pitchFamily="18" charset="0"/>
                <a:ea typeface="宋体" panose="02010600030101010101" pitchFamily="2" charset="-122"/>
              </a:rPr>
              <a:t>μ</a:t>
            </a:r>
            <a:r>
              <a:rPr lang="en-US" altLang="zh-CN" sz="2000" b="1">
                <a:latin typeface="宋体" panose="02010600030101010101" pitchFamily="2" charset="-122"/>
                <a:ea typeface="宋体" panose="02010600030101010101" pitchFamily="2" charset="-122"/>
              </a:rPr>
              <a:t>m</a:t>
            </a:r>
            <a:r>
              <a:rPr lang="zh-CN" altLang="en-US" sz="2000" b="1">
                <a:latin typeface="宋体" panose="02010600030101010101" pitchFamily="2" charset="-122"/>
                <a:ea typeface="宋体" panose="02010600030101010101" pitchFamily="2" charset="-122"/>
              </a:rPr>
              <a:t>）</a:t>
            </a:r>
            <a:r>
              <a:rPr lang="en-US" altLang="zh-CN" sz="2000" b="1">
                <a:latin typeface="宋体" panose="02010600030101010101" pitchFamily="2" charset="-122"/>
                <a:ea typeface="宋体" panose="02010600030101010101" pitchFamily="2" charset="-122"/>
              </a:rPr>
              <a:t>,</a:t>
            </a:r>
            <a:r>
              <a:rPr lang="zh-CN" altLang="en-US" sz="2000" b="1">
                <a:latin typeface="宋体" panose="02010600030101010101" pitchFamily="2" charset="-122"/>
                <a:ea typeface="宋体" panose="02010600030101010101" pitchFamily="2" charset="-122"/>
              </a:rPr>
              <a:t>在近红外线至可见光领域里传输损耗非常小，是极为理想的线路。</a:t>
            </a:r>
          </a:p>
          <a:p>
            <a:pPr marL="342900" indent="-342900" eaLnBrk="1" hangingPunct="1">
              <a:lnSpc>
                <a:spcPct val="150000"/>
              </a:lnSpc>
              <a:spcBef>
                <a:spcPts val="600"/>
              </a:spcBef>
              <a:buFont typeface="Arial" panose="020B0604020202020204" pitchFamily="34" charset="0"/>
              <a:buChar char="•"/>
            </a:pPr>
            <a:r>
              <a:rPr lang="en-US" altLang="zh-CN" sz="2000">
                <a:latin typeface="Times New Roman" pitchFamily="18" charset="0"/>
              </a:rPr>
              <a:t>1960</a:t>
            </a:r>
            <a:r>
              <a:rPr lang="zh-CN" altLang="en-US" sz="2000" dirty="0"/>
              <a:t>年，激光器发明后，正式对</a:t>
            </a:r>
            <a:r>
              <a:rPr lang="zh-CN" altLang="en-US" sz="2000" dirty="0">
                <a:solidFill>
                  <a:srgbClr val="FF0000"/>
                </a:solidFill>
              </a:rPr>
              <a:t>光波导</a:t>
            </a:r>
            <a:r>
              <a:rPr lang="zh-CN" altLang="en-US" sz="2000" dirty="0"/>
              <a:t>进行了研究。当时的玻璃产生的介质损耗</a:t>
            </a:r>
            <a:r>
              <a:rPr lang="en-US" altLang="zh-CN" sz="2000" dirty="0">
                <a:latin typeface="Times New Roman" pitchFamily="18" charset="0"/>
              </a:rPr>
              <a:t>500</a:t>
            </a:r>
            <a:r>
              <a:rPr lang="en-US" altLang="zh-CN" sz="2000" dirty="0">
                <a:solidFill>
                  <a:srgbClr val="00CC00"/>
                </a:solidFill>
                <a:latin typeface="Times New Roman" pitchFamily="18" charset="0"/>
              </a:rPr>
              <a:t>dB/km</a:t>
            </a:r>
            <a:r>
              <a:rPr lang="zh-CN" altLang="en-US" sz="2000" dirty="0"/>
              <a:t>，通过去除杂质得到</a:t>
            </a:r>
            <a:r>
              <a:rPr lang="en-US" altLang="zh-CN" sz="2000" dirty="0">
                <a:latin typeface="Times New Roman" pitchFamily="18" charset="0"/>
              </a:rPr>
              <a:t>20</a:t>
            </a:r>
            <a:r>
              <a:rPr lang="en-US" altLang="zh-CN" sz="2000" dirty="0">
                <a:solidFill>
                  <a:srgbClr val="00CC00"/>
                </a:solidFill>
                <a:latin typeface="Times New Roman" pitchFamily="18" charset="0"/>
              </a:rPr>
              <a:t>dB/km</a:t>
            </a:r>
            <a:r>
              <a:rPr lang="zh-CN" altLang="en-US" sz="2000" dirty="0"/>
              <a:t>的光纤，</a:t>
            </a:r>
            <a:r>
              <a:rPr lang="en-US" altLang="zh-CN" sz="2000" dirty="0">
                <a:latin typeface="Times New Roman" pitchFamily="18" charset="0"/>
              </a:rPr>
              <a:t>1970</a:t>
            </a:r>
            <a:r>
              <a:rPr lang="zh-CN" altLang="en-US" sz="2000" dirty="0"/>
              <a:t>年后制成</a:t>
            </a:r>
            <a:r>
              <a:rPr lang="en-US" altLang="zh-CN" sz="2000" dirty="0">
                <a:latin typeface="Times New Roman" pitchFamily="18" charset="0"/>
              </a:rPr>
              <a:t>0.2dB/km</a:t>
            </a:r>
            <a:r>
              <a:rPr lang="zh-CN" altLang="en-US" sz="2000" dirty="0"/>
              <a:t>的光纤（即：</a:t>
            </a:r>
            <a:r>
              <a:rPr lang="en-US" altLang="zh-CN" sz="2000" dirty="0">
                <a:latin typeface="Times New Roman" pitchFamily="18" charset="0"/>
              </a:rPr>
              <a:t>15km</a:t>
            </a:r>
            <a:r>
              <a:rPr lang="zh-CN" altLang="en-US" sz="2000" dirty="0"/>
              <a:t>后光能损耗一半</a:t>
            </a:r>
            <a:r>
              <a:rPr lang="zh-CN" altLang="en-US" sz="2000"/>
              <a:t>）。需平</a:t>
            </a:r>
            <a:r>
              <a:rPr lang="zh-CN" altLang="en-US" sz="2000" dirty="0"/>
              <a:t>均</a:t>
            </a:r>
            <a:r>
              <a:rPr lang="en-US" altLang="zh-CN" sz="2000" dirty="0">
                <a:latin typeface="Times New Roman" pitchFamily="18" charset="0"/>
              </a:rPr>
              <a:t>10</a:t>
            </a:r>
            <a:r>
              <a:rPr lang="zh-CN" altLang="en-US" sz="2000" dirty="0">
                <a:latin typeface="Times New Roman" pitchFamily="18" charset="0"/>
              </a:rPr>
              <a:t>～</a:t>
            </a:r>
            <a:r>
              <a:rPr lang="en-US" altLang="zh-CN" sz="2000" dirty="0">
                <a:latin typeface="Times New Roman" pitchFamily="18" charset="0"/>
              </a:rPr>
              <a:t>40km</a:t>
            </a:r>
            <a:r>
              <a:rPr lang="zh-CN" altLang="en-US" sz="2000" dirty="0"/>
              <a:t>架设一个中继站。</a:t>
            </a:r>
          </a:p>
          <a:p>
            <a:pPr marL="342900" indent="-342900" eaLnBrk="1" hangingPunct="1">
              <a:lnSpc>
                <a:spcPct val="150000"/>
              </a:lnSpc>
              <a:spcBef>
                <a:spcPts val="600"/>
              </a:spcBef>
              <a:buFont typeface="Arial" panose="020B0604020202020204" pitchFamily="34" charset="0"/>
              <a:buChar char="•"/>
            </a:pPr>
            <a:r>
              <a:rPr lang="zh-CN" altLang="en-US" sz="2000"/>
              <a:t>首</a:t>
            </a:r>
            <a:r>
              <a:rPr lang="zh-CN" altLang="en-US" sz="2000" dirty="0"/>
              <a:t>个可实用化的光纤由华裔科学家</a:t>
            </a:r>
            <a:r>
              <a:rPr lang="zh-CN" altLang="en-US" sz="2000" dirty="0">
                <a:solidFill>
                  <a:srgbClr val="FF3300"/>
                </a:solidFill>
              </a:rPr>
              <a:t>高锟</a:t>
            </a:r>
            <a:r>
              <a:rPr lang="zh-CN" altLang="en-US" sz="2000" dirty="0"/>
              <a:t>发明。</a:t>
            </a:r>
            <a:r>
              <a:rPr lang="en-US" altLang="zh-CN" sz="2000" dirty="0"/>
              <a:t>  </a:t>
            </a:r>
          </a:p>
        </p:txBody>
      </p:sp>
      <p:sp>
        <p:nvSpPr>
          <p:cNvPr id="2" name="Slide Number Placeholder 1">
            <a:extLst>
              <a:ext uri="{FF2B5EF4-FFF2-40B4-BE49-F238E27FC236}">
                <a16:creationId xmlns:a16="http://schemas.microsoft.com/office/drawing/2014/main" id="{71C6057F-5468-4AB4-81E9-78986ED3CFF6}"/>
              </a:ext>
            </a:extLst>
          </p:cNvPr>
          <p:cNvSpPr>
            <a:spLocks noGrp="1"/>
          </p:cNvSpPr>
          <p:nvPr>
            <p:ph type="sldNum" sz="quarter" idx="12"/>
          </p:nvPr>
        </p:nvSpPr>
        <p:spPr/>
        <p:txBody>
          <a:bodyPr/>
          <a:lstStyle/>
          <a:p>
            <a:fld id="{B53602B4-F12B-41CD-B648-531F86B2CC91}" type="slidenum">
              <a:rPr lang="zh-CN" altLang="en-US" smtClean="0"/>
              <a:t>42</a:t>
            </a:fld>
            <a:endParaRPr lang="zh-CN" altLang="en-US"/>
          </a:p>
        </p:txBody>
      </p:sp>
    </p:spTree>
    <p:extLst>
      <p:ext uri="{BB962C8B-B14F-4D97-AF65-F5344CB8AC3E}">
        <p14:creationId xmlns:p14="http://schemas.microsoft.com/office/powerpoint/2010/main" val="18623670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7.5</a:t>
            </a:r>
          </a:p>
        </p:txBody>
      </p:sp>
      <p:sp>
        <p:nvSpPr>
          <p:cNvPr id="46" name="矩形 45"/>
          <p:cNvSpPr/>
          <p:nvPr/>
        </p:nvSpPr>
        <p:spPr>
          <a:xfrm>
            <a:off x="1960200" y="360001"/>
            <a:ext cx="237275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a:t>
            </a:r>
          </a:p>
        </p:txBody>
      </p:sp>
      <p:sp>
        <p:nvSpPr>
          <p:cNvPr id="3" name="矩形 2"/>
          <p:cNvSpPr/>
          <p:nvPr/>
        </p:nvSpPr>
        <p:spPr>
          <a:xfrm>
            <a:off x="2878794" y="2091086"/>
            <a:ext cx="4276750" cy="2031323"/>
          </a:xfrm>
          <a:prstGeom prst="rect">
            <a:avLst/>
          </a:prstGeom>
        </p:spPr>
        <p:txBody>
          <a:bodyPr wrap="square" lIns="91438" tIns="45719" rIns="91438" bIns="45719">
            <a:spAutoFit/>
          </a:bodyPr>
          <a:lstStyle/>
          <a:p>
            <a:pPr>
              <a:lnSpc>
                <a:spcPct val="15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光导纤维</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光纤传感器的工作原理</a:t>
            </a:r>
            <a:endParaRPr lang="en-US" altLang="zh-CN"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pPr>
            <a:r>
              <a:rPr lang="zh-CN" altLang="en-US" sz="2800" b="1" dirty="0">
                <a:latin typeface="Arial" panose="020B0604020202020204" pitchFamily="34" charset="0"/>
                <a:ea typeface="宋体" panose="02010600030101010101" pitchFamily="2" charset="-122"/>
                <a:cs typeface="Arial" panose="020B0604020202020204" pitchFamily="34" charset="0"/>
                <a:sym typeface="+mn-ea"/>
                <a:hlinkClick r:id="rId5" action="ppaction://hlinksldjump"/>
              </a:rPr>
              <a:t>光纤传感器的应用</a:t>
            </a:r>
            <a:endParaRPr lang="zh-CN" altLang="en-US" sz="2800" b="1" dirty="0">
              <a:latin typeface="Arial" panose="020B0604020202020204" pitchFamily="34" charset="0"/>
              <a:ea typeface="宋体" panose="02010600030101010101" pitchFamily="2" charset="-122"/>
              <a:cs typeface="Arial" panose="020B0604020202020204" pitchFamily="34" charset="0"/>
              <a:sym typeface="+mn-ea"/>
            </a:endParaRPr>
          </a:p>
        </p:txBody>
      </p:sp>
      <p:grpSp>
        <p:nvGrpSpPr>
          <p:cNvPr id="31" name="Group 27"/>
          <p:cNvGrpSpPr>
            <a:grpSpLocks/>
          </p:cNvGrpSpPr>
          <p:nvPr/>
        </p:nvGrpSpPr>
        <p:grpSpPr bwMode="auto">
          <a:xfrm>
            <a:off x="2717938" y="4168511"/>
            <a:ext cx="4329237" cy="2009741"/>
            <a:chOff x="1349" y="3072"/>
            <a:chExt cx="2438" cy="828"/>
          </a:xfrm>
        </p:grpSpPr>
        <p:pic>
          <p:nvPicPr>
            <p:cNvPr id="32" name="Picture 23" descr="d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9" y="3072"/>
              <a:ext cx="619"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4" descr="m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5" y="3072"/>
              <a:ext cx="619"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5" descr="y2x"/>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4" y="3072"/>
              <a:ext cx="626"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6" descr="yx"/>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68" y="3072"/>
              <a:ext cx="619" cy="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 name="文本框 3"/>
          <p:cNvSpPr txBox="1"/>
          <p:nvPr/>
        </p:nvSpPr>
        <p:spPr>
          <a:xfrm>
            <a:off x="1571710" y="1409205"/>
            <a:ext cx="5583833" cy="646331"/>
          </a:xfrm>
          <a:prstGeom prst="rect">
            <a:avLst/>
          </a:prstGeom>
          <a:noFill/>
        </p:spPr>
        <p:txBody>
          <a:bodyPr wrap="square" rtlCol="0">
            <a:spAutoFit/>
          </a:bodyPr>
          <a:lstStyle/>
          <a:p>
            <a:pPr marL="987425" indent="-987425">
              <a:lnSpc>
                <a:spcPct val="150000"/>
              </a:lnSpc>
            </a:pPr>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Optical Fiber Sensor</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4" name="圆角矩形 72">
            <a:extLst>
              <a:ext uri="{FF2B5EF4-FFF2-40B4-BE49-F238E27FC236}">
                <a16:creationId xmlns:a16="http://schemas.microsoft.com/office/drawing/2014/main" id="{343D7C8A-72E9-4E11-82F9-04D1F37F1B07}"/>
              </a:ext>
            </a:extLst>
          </p:cNvPr>
          <p:cNvSpPr/>
          <p:nvPr/>
        </p:nvSpPr>
        <p:spPr>
          <a:xfrm rot="10800000" flipV="1">
            <a:off x="1841198" y="2254765"/>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7.5.1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5" name="圆角矩形 73">
            <a:extLst>
              <a:ext uri="{FF2B5EF4-FFF2-40B4-BE49-F238E27FC236}">
                <a16:creationId xmlns:a16="http://schemas.microsoft.com/office/drawing/2014/main" id="{7997A031-0667-4F3B-9AA0-BAB02B443096}"/>
              </a:ext>
            </a:extLst>
          </p:cNvPr>
          <p:cNvSpPr/>
          <p:nvPr/>
        </p:nvSpPr>
        <p:spPr>
          <a:xfrm rot="10800000" flipV="1">
            <a:off x="1841194" y="3520899"/>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7.5.3</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6" name="圆角矩形 73">
            <a:extLst>
              <a:ext uri="{FF2B5EF4-FFF2-40B4-BE49-F238E27FC236}">
                <a16:creationId xmlns:a16="http://schemas.microsoft.com/office/drawing/2014/main" id="{7997A031-0667-4F3B-9AA0-BAB02B443096}"/>
              </a:ext>
            </a:extLst>
          </p:cNvPr>
          <p:cNvSpPr/>
          <p:nvPr/>
        </p:nvSpPr>
        <p:spPr>
          <a:xfrm rot="10800000" flipV="1">
            <a:off x="1841194" y="2873125"/>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7.5.2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DE2D988A-290A-46E4-9C91-8A4962BA141E}"/>
              </a:ext>
            </a:extLst>
          </p:cNvPr>
          <p:cNvSpPr>
            <a:spLocks noGrp="1"/>
          </p:cNvSpPr>
          <p:nvPr>
            <p:ph type="sldNum" sz="quarter" idx="12"/>
          </p:nvPr>
        </p:nvSpPr>
        <p:spPr/>
        <p:txBody>
          <a:bodyPr/>
          <a:lstStyle/>
          <a:p>
            <a:fld id="{B53602B4-F12B-41CD-B648-531F86B2CC91}" type="slidenum">
              <a:rPr lang="zh-CN" altLang="en-US" smtClean="0"/>
              <a:t>43</a:t>
            </a:fld>
            <a:endParaRPr lang="zh-CN" altLang="en-US"/>
          </a:p>
        </p:txBody>
      </p:sp>
    </p:spTree>
    <p:extLst>
      <p:ext uri="{BB962C8B-B14F-4D97-AF65-F5344CB8AC3E}">
        <p14:creationId xmlns:p14="http://schemas.microsoft.com/office/powerpoint/2010/main" val="23755716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光导纤维</a:t>
            </a:r>
          </a:p>
        </p:txBody>
      </p:sp>
      <p:sp>
        <p:nvSpPr>
          <p:cNvPr id="19" name="Text Box 2"/>
          <p:cNvSpPr txBox="1">
            <a:spLocks noChangeArrowheads="1"/>
          </p:cNvSpPr>
          <p:nvPr/>
        </p:nvSpPr>
        <p:spPr bwMode="auto">
          <a:xfrm>
            <a:off x="185084" y="1370368"/>
            <a:ext cx="4989260" cy="53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lnSpc>
                <a:spcPct val="140000"/>
              </a:lnSpc>
              <a:spcBef>
                <a:spcPct val="20000"/>
              </a:spcBef>
            </a:pPr>
            <a:r>
              <a:rPr lang="zh-CN" altLang="en-US"/>
              <a:t>一、光导纤维的结构和传输原理</a:t>
            </a:r>
            <a:endParaRPr lang="zh-CN" altLang="en-US" dirty="0"/>
          </a:p>
        </p:txBody>
      </p:sp>
      <p:sp>
        <p:nvSpPr>
          <p:cNvPr id="3" name="Slide Number Placeholder 2">
            <a:extLst>
              <a:ext uri="{FF2B5EF4-FFF2-40B4-BE49-F238E27FC236}">
                <a16:creationId xmlns:a16="http://schemas.microsoft.com/office/drawing/2014/main" id="{B3C72B79-B6C2-4182-A2C1-183372CB35B9}"/>
              </a:ext>
            </a:extLst>
          </p:cNvPr>
          <p:cNvSpPr>
            <a:spLocks noGrp="1"/>
          </p:cNvSpPr>
          <p:nvPr>
            <p:ph type="sldNum" sz="quarter" idx="12"/>
          </p:nvPr>
        </p:nvSpPr>
        <p:spPr/>
        <p:txBody>
          <a:bodyPr/>
          <a:lstStyle/>
          <a:p>
            <a:fld id="{B53602B4-F12B-41CD-B648-531F86B2CC91}" type="slidenum">
              <a:rPr lang="zh-CN" altLang="en-US" smtClean="0"/>
              <a:t>44</a:t>
            </a:fld>
            <a:endParaRPr lang="zh-CN" altLang="en-US"/>
          </a:p>
        </p:txBody>
      </p:sp>
      <p:sp>
        <p:nvSpPr>
          <p:cNvPr id="9" name="Text Box 181">
            <a:extLst>
              <a:ext uri="{FF2B5EF4-FFF2-40B4-BE49-F238E27FC236}">
                <a16:creationId xmlns:a16="http://schemas.microsoft.com/office/drawing/2014/main" id="{94736AE9-9BD1-4330-A4DE-1344C780A786}"/>
              </a:ext>
            </a:extLst>
          </p:cNvPr>
          <p:cNvSpPr txBox="1">
            <a:spLocks noChangeArrowheads="1"/>
          </p:cNvSpPr>
          <p:nvPr/>
        </p:nvSpPr>
        <p:spPr bwMode="auto">
          <a:xfrm>
            <a:off x="5611914" y="4860354"/>
            <a:ext cx="2980221"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7-25 </a:t>
            </a:r>
            <a:r>
              <a:rPr kumimoji="0" lang="zh-CN" altLang="en-US" b="1" dirty="0">
                <a:solidFill>
                  <a:srgbClr val="3333CC"/>
                </a:solidFill>
                <a:latin typeface="宋体" panose="02010600030101010101" pitchFamily="2" charset="-122"/>
                <a:ea typeface="宋体" panose="02010600030101010101" pitchFamily="2" charset="-122"/>
              </a:rPr>
              <a:t>光纤的结构及传输原理</a:t>
            </a:r>
          </a:p>
        </p:txBody>
      </p:sp>
      <p:pic>
        <p:nvPicPr>
          <p:cNvPr id="10" name="Picture 9">
            <a:extLst>
              <a:ext uri="{FF2B5EF4-FFF2-40B4-BE49-F238E27FC236}">
                <a16:creationId xmlns:a16="http://schemas.microsoft.com/office/drawing/2014/main" id="{76B1769E-BA54-44CE-B7B6-B62F51AFF5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627"/>
          <a:stretch/>
        </p:blipFill>
        <p:spPr bwMode="auto">
          <a:xfrm>
            <a:off x="5174344" y="2621814"/>
            <a:ext cx="3935817" cy="1926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E84F603C-3E1B-4CEA-8FC1-CCEB7AE8261D}"/>
              </a:ext>
            </a:extLst>
          </p:cNvPr>
          <p:cNvSpPr txBox="1"/>
          <p:nvPr/>
        </p:nvSpPr>
        <p:spPr>
          <a:xfrm>
            <a:off x="76223" y="2070167"/>
            <a:ext cx="5315833" cy="4382931"/>
          </a:xfrm>
          <a:prstGeom prst="rect">
            <a:avLst/>
          </a:prstGeom>
        </p:spPr>
        <p:txBody>
          <a:bodyPr wrap="square">
            <a:spAutoFit/>
          </a:bodyPr>
          <a:lstStyle>
            <a:defPPr>
              <a:defRPr lang="zh-CN"/>
            </a:defPPr>
            <a:lvl1pPr marL="342900" indent="-342900">
              <a:lnSpc>
                <a:spcPct val="120000"/>
              </a:lnSpc>
              <a:buFont typeface="Wingdings" panose="05000000000000000000" pitchFamily="2" charset="2"/>
              <a:buChar char="§"/>
              <a:defRPr sz="2000" b="1">
                <a:latin typeface="宋体" panose="02010600030101010101" pitchFamily="2" charset="-122"/>
                <a:ea typeface="宋体" panose="02010600030101010101" pitchFamily="2" charset="-122"/>
              </a:defRPr>
            </a:lvl1pPr>
          </a:lstStyle>
          <a:p>
            <a:pPr marL="216000" indent="-216000">
              <a:lnSpc>
                <a:spcPct val="150000"/>
              </a:lnSpc>
            </a:pPr>
            <a:r>
              <a:rPr lang="en-001"/>
              <a:t>光纤工作的</a:t>
            </a:r>
            <a:r>
              <a:rPr lang="zh-CN" altLang="en-US"/>
              <a:t>基</a:t>
            </a:r>
            <a:r>
              <a:rPr lang="en-001"/>
              <a:t>础是光的全内反射。</a:t>
            </a:r>
          </a:p>
          <a:p>
            <a:pPr marL="216000" indent="-216000">
              <a:lnSpc>
                <a:spcPct val="150000"/>
              </a:lnSpc>
            </a:pPr>
            <a:r>
              <a:rPr lang="zh-CN" altLang="en-US"/>
              <a:t>图示</a:t>
            </a:r>
            <a:r>
              <a:rPr lang="en-001"/>
              <a:t>圆柱形光纤，两个端面均为光滑平面。光线射入一个端面并与圆柱轴线成角</a:t>
            </a:r>
            <a:r>
              <a:rPr lang="el-GR" i="1"/>
              <a:t>θ</a:t>
            </a:r>
            <a:r>
              <a:rPr lang="en-US" i="1"/>
              <a:t>.</a:t>
            </a:r>
          </a:p>
          <a:p>
            <a:pPr marL="216000" indent="-216000">
              <a:lnSpc>
                <a:spcPct val="150000"/>
              </a:lnSpc>
            </a:pPr>
            <a:r>
              <a:rPr lang="en-001"/>
              <a:t>根据斯奈尔定律，在光纤内折射成角</a:t>
            </a:r>
            <a:r>
              <a:rPr lang="el-GR" i="1"/>
              <a:t>θ</a:t>
            </a:r>
            <a:r>
              <a:rPr lang="en-US"/>
              <a:t>’</a:t>
            </a:r>
            <a:r>
              <a:rPr lang="en-001"/>
              <a:t>。然后以</a:t>
            </a:r>
            <a:r>
              <a:rPr lang="el-GR"/>
              <a:t>ψ</a:t>
            </a:r>
            <a:r>
              <a:rPr lang="en-001"/>
              <a:t>角入射至纤芯与包层的界面。</a:t>
            </a:r>
            <a:endParaRPr lang="en-US"/>
          </a:p>
          <a:p>
            <a:pPr marL="216000" indent="-216000">
              <a:lnSpc>
                <a:spcPct val="150000"/>
              </a:lnSpc>
            </a:pPr>
            <a:r>
              <a:rPr lang="en-001"/>
              <a:t>当</a:t>
            </a:r>
            <a:r>
              <a:rPr lang="el-GR"/>
              <a:t> ψ </a:t>
            </a:r>
            <a:r>
              <a:rPr lang="en-001"/>
              <a:t>大于纤芯与包层间的临界角</a:t>
            </a:r>
            <a:r>
              <a:rPr lang="el-GR"/>
              <a:t> ψ</a:t>
            </a:r>
            <a:r>
              <a:rPr lang="en-US" baseline="-25000"/>
              <a:t>c </a:t>
            </a:r>
            <a:r>
              <a:rPr lang="en-001"/>
              <a:t>时：</a:t>
            </a:r>
            <a:endParaRPr lang="en-US"/>
          </a:p>
          <a:p>
            <a:pPr marL="216000" indent="-216000">
              <a:lnSpc>
                <a:spcPct val="150000"/>
              </a:lnSpc>
            </a:pPr>
            <a:endParaRPr lang="en-US"/>
          </a:p>
          <a:p>
            <a:r>
              <a:rPr lang="zh-CN" altLang="en-US"/>
              <a:t>射入的光线在光纤的界面上产生</a:t>
            </a:r>
            <a:r>
              <a:rPr lang="zh-CN" altLang="en-US">
                <a:solidFill>
                  <a:srgbClr val="C00000"/>
                </a:solidFill>
              </a:rPr>
              <a:t>全内反射</a:t>
            </a:r>
            <a:r>
              <a:rPr lang="zh-CN" altLang="en-US"/>
              <a:t>，并在光纤内部以同样的角度反复逐次反射，直至传播到另一端面。</a:t>
            </a:r>
            <a:endParaRPr lang="en-001"/>
          </a:p>
        </p:txBody>
      </p:sp>
      <p:sp>
        <p:nvSpPr>
          <p:cNvPr id="14" name="TextBox 13">
            <a:extLst>
              <a:ext uri="{FF2B5EF4-FFF2-40B4-BE49-F238E27FC236}">
                <a16:creationId xmlns:a16="http://schemas.microsoft.com/office/drawing/2014/main" id="{9B82D284-0010-40B3-93D5-BBF64707E0B9}"/>
              </a:ext>
            </a:extLst>
          </p:cNvPr>
          <p:cNvSpPr txBox="1"/>
          <p:nvPr/>
        </p:nvSpPr>
        <p:spPr>
          <a:xfrm>
            <a:off x="5666652" y="1571179"/>
            <a:ext cx="3329215" cy="781945"/>
          </a:xfrm>
          <a:prstGeom prst="rect">
            <a:avLst/>
          </a:prstGeom>
        </p:spPr>
        <p:txBody>
          <a:bodyPr wrap="square">
            <a:spAutoFit/>
          </a:bodyPr>
          <a:lstStyle>
            <a:defPPr>
              <a:defRPr lang="zh-CN"/>
            </a:defPPr>
            <a:lvl1pPr marL="342900" indent="-342900">
              <a:lnSpc>
                <a:spcPct val="120000"/>
              </a:lnSpc>
              <a:buFont typeface="Wingdings" panose="05000000000000000000" pitchFamily="2" charset="2"/>
              <a:buChar char="§"/>
              <a:defRPr sz="2000" b="1">
                <a:latin typeface="宋体" panose="02010600030101010101" pitchFamily="2" charset="-122"/>
                <a:ea typeface="宋体" panose="02010600030101010101" pitchFamily="2" charset="-122"/>
              </a:defRPr>
            </a:lvl1pPr>
          </a:lstStyle>
          <a:p>
            <a:r>
              <a:rPr lang="zh-CN" altLang="en-US"/>
              <a:t>纤芯的折射率</a:t>
            </a:r>
            <a:r>
              <a:rPr lang="en-US" altLang="zh-CN"/>
              <a:t>n1 </a:t>
            </a:r>
            <a:r>
              <a:rPr lang="zh-CN" altLang="en-US"/>
              <a:t>略大于包层的折射率</a:t>
            </a:r>
            <a:r>
              <a:rPr lang="en-US" altLang="zh-CN"/>
              <a:t>n2</a:t>
            </a:r>
            <a:endParaRPr lang="en-001"/>
          </a:p>
        </p:txBody>
      </p:sp>
      <p:pic>
        <p:nvPicPr>
          <p:cNvPr id="6" name="Picture 5">
            <a:extLst>
              <a:ext uri="{FF2B5EF4-FFF2-40B4-BE49-F238E27FC236}">
                <a16:creationId xmlns:a16="http://schemas.microsoft.com/office/drawing/2014/main" id="{8C195248-6066-4815-A953-1B7D3E316965}"/>
              </a:ext>
            </a:extLst>
          </p:cNvPr>
          <p:cNvPicPr>
            <a:picLocks noChangeAspect="1"/>
          </p:cNvPicPr>
          <p:nvPr/>
        </p:nvPicPr>
        <p:blipFill>
          <a:blip r:embed="rId4"/>
          <a:stretch>
            <a:fillRect/>
          </a:stretch>
        </p:blipFill>
        <p:spPr>
          <a:xfrm>
            <a:off x="1483844" y="4962630"/>
            <a:ext cx="2500590" cy="357657"/>
          </a:xfrm>
          <a:prstGeom prst="rect">
            <a:avLst/>
          </a:prstGeom>
        </p:spPr>
      </p:pic>
    </p:spTree>
    <p:extLst>
      <p:ext uri="{BB962C8B-B14F-4D97-AF65-F5344CB8AC3E}">
        <p14:creationId xmlns:p14="http://schemas.microsoft.com/office/powerpoint/2010/main" val="7169606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光导纤维</a:t>
            </a:r>
          </a:p>
        </p:txBody>
      </p:sp>
      <p:graphicFrame>
        <p:nvGraphicFramePr>
          <p:cNvPr id="19" name="Object 3"/>
          <p:cNvGraphicFramePr>
            <a:graphicFrameLocks noChangeAspect="1"/>
          </p:cNvGraphicFramePr>
          <p:nvPr>
            <p:extLst>
              <p:ext uri="{D42A27DB-BD31-4B8C-83A1-F6EECF244321}">
                <p14:modId xmlns:p14="http://schemas.microsoft.com/office/powerpoint/2010/main" val="1649242254"/>
              </p:ext>
            </p:extLst>
          </p:nvPr>
        </p:nvGraphicFramePr>
        <p:xfrm>
          <a:off x="1083553" y="1291570"/>
          <a:ext cx="2334561" cy="2162128"/>
        </p:xfrm>
        <a:graphic>
          <a:graphicData uri="http://schemas.openxmlformats.org/presentationml/2006/ole">
            <mc:AlternateContent xmlns:mc="http://schemas.openxmlformats.org/markup-compatibility/2006">
              <mc:Choice xmlns:v="urn:schemas-microsoft-com:vml" Requires="v">
                <p:oleObj name="Equation" r:id="rId3" imgW="1047821" imgH="971473" progId="Equation.DSMT4">
                  <p:embed/>
                </p:oleObj>
              </mc:Choice>
              <mc:Fallback>
                <p:oleObj name="Equation" r:id="rId3" imgW="1047821" imgH="97147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3553" y="1291570"/>
                        <a:ext cx="2334561" cy="2162128"/>
                      </a:xfrm>
                      <a:prstGeom prst="rect">
                        <a:avLst/>
                      </a:prstGeom>
                      <a:noFill/>
                      <a:ln>
                        <a:noFill/>
                      </a:ln>
                    </p:spPr>
                  </p:pic>
                </p:oleObj>
              </mc:Fallback>
            </mc:AlternateContent>
          </a:graphicData>
        </a:graphic>
      </p:graphicFrame>
      <p:graphicFrame>
        <p:nvGraphicFramePr>
          <p:cNvPr id="21" name="Object 6"/>
          <p:cNvGraphicFramePr>
            <a:graphicFrameLocks noChangeAspect="1"/>
          </p:cNvGraphicFramePr>
          <p:nvPr>
            <p:extLst>
              <p:ext uri="{D42A27DB-BD31-4B8C-83A1-F6EECF244321}">
                <p14:modId xmlns:p14="http://schemas.microsoft.com/office/powerpoint/2010/main" val="3895601383"/>
              </p:ext>
            </p:extLst>
          </p:nvPr>
        </p:nvGraphicFramePr>
        <p:xfrm>
          <a:off x="942049" y="3572941"/>
          <a:ext cx="2891180" cy="1834788"/>
        </p:xfrm>
        <a:graphic>
          <a:graphicData uri="http://schemas.openxmlformats.org/presentationml/2006/ole">
            <mc:AlternateContent xmlns:mc="http://schemas.openxmlformats.org/markup-compatibility/2006">
              <mc:Choice xmlns:v="urn:schemas-microsoft-com:vml" Requires="v">
                <p:oleObj name="Equation" r:id="rId5" imgW="1739880" imgH="952200" progId="Equation.DSMT4">
                  <p:embed/>
                </p:oleObj>
              </mc:Choice>
              <mc:Fallback>
                <p:oleObj name="Equation" r:id="rId5" imgW="1739880" imgH="952200" progId="Equation.DSMT4">
                  <p:embed/>
                  <p:pic>
                    <p:nvPicPr>
                      <p:cNvPr id="0" name=""/>
                      <p:cNvPicPr>
                        <a:picLocks noChangeAspect="1" noChangeArrowheads="1"/>
                      </p:cNvPicPr>
                      <p:nvPr/>
                    </p:nvPicPr>
                    <p:blipFill>
                      <a:blip r:embed="rId6"/>
                      <a:srcRect/>
                      <a:stretch>
                        <a:fillRect/>
                      </a:stretch>
                    </p:blipFill>
                    <p:spPr bwMode="auto">
                      <a:xfrm>
                        <a:off x="942049" y="3572941"/>
                        <a:ext cx="2891180" cy="1834788"/>
                      </a:xfrm>
                      <a:prstGeom prst="rect">
                        <a:avLst/>
                      </a:prstGeom>
                      <a:noFill/>
                      <a:ln>
                        <a:noFill/>
                      </a:ln>
                    </p:spPr>
                  </p:pic>
                </p:oleObj>
              </mc:Fallback>
            </mc:AlternateContent>
          </a:graphicData>
        </a:graphic>
      </p:graphicFrame>
      <p:sp>
        <p:nvSpPr>
          <p:cNvPr id="22" name="Text Box 7"/>
          <p:cNvSpPr txBox="1">
            <a:spLocks noChangeArrowheads="1"/>
          </p:cNvSpPr>
          <p:nvPr/>
        </p:nvSpPr>
        <p:spPr bwMode="auto">
          <a:xfrm>
            <a:off x="649703" y="5468122"/>
            <a:ext cx="567094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lnSpc>
                <a:spcPct val="150000"/>
              </a:lnSpc>
            </a:pPr>
            <a:r>
              <a:rPr lang="el-GR" altLang="zh-CN" i="1" dirty="0">
                <a:latin typeface="Times New Roman" pitchFamily="18" charset="0"/>
              </a:rPr>
              <a:t>θ</a:t>
            </a:r>
            <a:r>
              <a:rPr lang="en-US" altLang="zh-CN" i="1" baseline="-25000" dirty="0">
                <a:latin typeface="Times New Roman" pitchFamily="18" charset="0"/>
              </a:rPr>
              <a:t>c</a:t>
            </a:r>
            <a:r>
              <a:rPr lang="en-US" altLang="zh-CN" baseline="-25000" dirty="0"/>
              <a:t> </a:t>
            </a:r>
            <a:r>
              <a:rPr lang="en-US" altLang="zh-CN" dirty="0"/>
              <a:t>: </a:t>
            </a:r>
            <a:r>
              <a:rPr lang="zh-CN" altLang="en-US" dirty="0"/>
              <a:t>临界角</a:t>
            </a:r>
          </a:p>
          <a:p>
            <a:pPr eaLnBrk="1" hangingPunct="1">
              <a:lnSpc>
                <a:spcPct val="150000"/>
              </a:lnSpc>
            </a:pPr>
            <a:r>
              <a:rPr lang="en-US" altLang="zh-CN" dirty="0">
                <a:latin typeface="Times New Roman" pitchFamily="18" charset="0"/>
              </a:rPr>
              <a:t>NA</a:t>
            </a:r>
            <a:r>
              <a:rPr lang="en-US" altLang="zh-CN" dirty="0"/>
              <a:t>: </a:t>
            </a:r>
            <a:r>
              <a:rPr lang="zh-CN" altLang="en-US" dirty="0"/>
              <a:t>数值孔径 </a:t>
            </a:r>
            <a:r>
              <a:rPr lang="en-US" altLang="zh-CN" dirty="0"/>
              <a:t>(</a:t>
            </a:r>
            <a:r>
              <a:rPr lang="en-US" altLang="zh-CN" dirty="0">
                <a:latin typeface="Times New Roman" pitchFamily="18" charset="0"/>
              </a:rPr>
              <a:t>Numerical  Aperture</a:t>
            </a:r>
            <a:r>
              <a:rPr lang="en-US" altLang="zh-CN" dirty="0"/>
              <a:t>)</a:t>
            </a:r>
            <a:endParaRPr lang="el-GR" altLang="zh-CN" dirty="0"/>
          </a:p>
        </p:txBody>
      </p:sp>
      <p:sp>
        <p:nvSpPr>
          <p:cNvPr id="2" name="左大括号 1"/>
          <p:cNvSpPr/>
          <p:nvPr/>
        </p:nvSpPr>
        <p:spPr>
          <a:xfrm>
            <a:off x="477591" y="1646973"/>
            <a:ext cx="344225" cy="150948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Slide Number Placeholder 2">
            <a:extLst>
              <a:ext uri="{FF2B5EF4-FFF2-40B4-BE49-F238E27FC236}">
                <a16:creationId xmlns:a16="http://schemas.microsoft.com/office/drawing/2014/main" id="{FABFFF26-623C-4D62-A175-C3CB21647DAA}"/>
              </a:ext>
            </a:extLst>
          </p:cNvPr>
          <p:cNvSpPr>
            <a:spLocks noGrp="1"/>
          </p:cNvSpPr>
          <p:nvPr>
            <p:ph type="sldNum" sz="quarter" idx="12"/>
          </p:nvPr>
        </p:nvSpPr>
        <p:spPr/>
        <p:txBody>
          <a:bodyPr/>
          <a:lstStyle/>
          <a:p>
            <a:fld id="{B53602B4-F12B-41CD-B648-531F86B2CC91}" type="slidenum">
              <a:rPr lang="zh-CN" altLang="en-US" smtClean="0"/>
              <a:t>45</a:t>
            </a:fld>
            <a:endParaRPr lang="zh-CN" altLang="en-US"/>
          </a:p>
        </p:txBody>
      </p:sp>
      <p:sp>
        <p:nvSpPr>
          <p:cNvPr id="10" name="Text Box 181">
            <a:extLst>
              <a:ext uri="{FF2B5EF4-FFF2-40B4-BE49-F238E27FC236}">
                <a16:creationId xmlns:a16="http://schemas.microsoft.com/office/drawing/2014/main" id="{640417E1-4AA8-42A0-AEDE-23865B5B0378}"/>
              </a:ext>
            </a:extLst>
          </p:cNvPr>
          <p:cNvSpPr txBox="1">
            <a:spLocks noChangeArrowheads="1"/>
          </p:cNvSpPr>
          <p:nvPr/>
        </p:nvSpPr>
        <p:spPr bwMode="auto">
          <a:xfrm>
            <a:off x="5611914" y="4860354"/>
            <a:ext cx="2980221"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7-25 </a:t>
            </a:r>
            <a:r>
              <a:rPr kumimoji="0" lang="zh-CN" altLang="en-US" b="1" dirty="0">
                <a:solidFill>
                  <a:srgbClr val="3333CC"/>
                </a:solidFill>
                <a:latin typeface="宋体" panose="02010600030101010101" pitchFamily="2" charset="-122"/>
                <a:ea typeface="宋体" panose="02010600030101010101" pitchFamily="2" charset="-122"/>
              </a:rPr>
              <a:t>光纤的结构及传输原理</a:t>
            </a:r>
          </a:p>
        </p:txBody>
      </p:sp>
      <p:pic>
        <p:nvPicPr>
          <p:cNvPr id="11" name="Picture 10">
            <a:extLst>
              <a:ext uri="{FF2B5EF4-FFF2-40B4-BE49-F238E27FC236}">
                <a16:creationId xmlns:a16="http://schemas.microsoft.com/office/drawing/2014/main" id="{2616CDEF-A14A-45ED-8459-260CBF152F6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3627"/>
          <a:stretch/>
        </p:blipFill>
        <p:spPr bwMode="auto">
          <a:xfrm>
            <a:off x="5174344" y="2621814"/>
            <a:ext cx="3935817" cy="1926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08917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光导纤维</a:t>
            </a:r>
          </a:p>
        </p:txBody>
      </p:sp>
      <p:sp>
        <p:nvSpPr>
          <p:cNvPr id="22" name="Text Box 7"/>
          <p:cNvSpPr txBox="1">
            <a:spLocks noChangeArrowheads="1"/>
          </p:cNvSpPr>
          <p:nvPr/>
        </p:nvSpPr>
        <p:spPr bwMode="auto">
          <a:xfrm>
            <a:off x="341087" y="1396866"/>
            <a:ext cx="4811486" cy="5397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lnSpc>
                <a:spcPct val="130000"/>
              </a:lnSpc>
            </a:pPr>
            <a:r>
              <a:rPr lang="en-US" altLang="zh-CN">
                <a:latin typeface="Times New Roman" pitchFamily="18" charset="0"/>
              </a:rPr>
              <a:t>NA</a:t>
            </a:r>
            <a:r>
              <a:rPr lang="en-US" altLang="zh-CN" dirty="0"/>
              <a:t>: </a:t>
            </a:r>
            <a:r>
              <a:rPr lang="zh-CN" altLang="en-US" dirty="0"/>
              <a:t>数值孔</a:t>
            </a:r>
            <a:r>
              <a:rPr lang="zh-CN" altLang="en-US"/>
              <a:t>径 </a:t>
            </a:r>
            <a:endParaRPr lang="en-US" altLang="zh-CN"/>
          </a:p>
          <a:p>
            <a:pPr eaLnBrk="1" hangingPunct="1">
              <a:lnSpc>
                <a:spcPct val="130000"/>
              </a:lnSpc>
            </a:pPr>
            <a:r>
              <a:rPr lang="en-US" altLang="zh-CN"/>
              <a:t>(</a:t>
            </a:r>
            <a:r>
              <a:rPr lang="en-US" altLang="zh-CN" dirty="0">
                <a:latin typeface="Times New Roman" pitchFamily="18" charset="0"/>
              </a:rPr>
              <a:t>Numerical  </a:t>
            </a:r>
            <a:r>
              <a:rPr lang="en-US" altLang="zh-CN">
                <a:latin typeface="Times New Roman" pitchFamily="18" charset="0"/>
              </a:rPr>
              <a:t>Aperture</a:t>
            </a:r>
            <a:r>
              <a:rPr lang="en-US" altLang="zh-CN"/>
              <a:t>)</a:t>
            </a:r>
          </a:p>
          <a:p>
            <a:pPr eaLnBrk="1" hangingPunct="1">
              <a:lnSpc>
                <a:spcPct val="130000"/>
              </a:lnSpc>
              <a:buFont typeface="Arial" panose="020B0604020202020204" pitchFamily="34" charset="0"/>
              <a:buChar char="•"/>
            </a:pPr>
            <a:r>
              <a:rPr lang="zh-CN" altLang="en-US" sz="2000"/>
              <a:t>数值孔径反映纤芯接收光量的多少，是标志光纤接收性能的一个重要参数。</a:t>
            </a:r>
            <a:endParaRPr lang="en-US" altLang="zh-CN" sz="2000"/>
          </a:p>
          <a:p>
            <a:pPr eaLnBrk="1" hangingPunct="1">
              <a:lnSpc>
                <a:spcPct val="130000"/>
              </a:lnSpc>
              <a:buFont typeface="Arial" panose="020B0604020202020204" pitchFamily="34" charset="0"/>
              <a:buChar char="•"/>
            </a:pPr>
            <a:r>
              <a:rPr lang="zh-CN" altLang="en-US" sz="2000"/>
              <a:t>其意义是无论光源发射功率有多大，只有</a:t>
            </a:r>
            <a:r>
              <a:rPr lang="en-US" altLang="zh-CN" sz="2000"/>
              <a:t>2</a:t>
            </a:r>
            <a:r>
              <a:rPr lang="el-GR" altLang="zh-CN" sz="2000" i="1">
                <a:latin typeface="Times New Roman" pitchFamily="18" charset="0"/>
              </a:rPr>
              <a:t> θ</a:t>
            </a:r>
            <a:r>
              <a:rPr lang="en-US" altLang="zh-CN" sz="2000" i="1" baseline="-25000">
                <a:latin typeface="Times New Roman" pitchFamily="18" charset="0"/>
              </a:rPr>
              <a:t>c</a:t>
            </a:r>
            <a:r>
              <a:rPr lang="en-US" altLang="zh-CN" sz="2000"/>
              <a:t> </a:t>
            </a:r>
            <a:r>
              <a:rPr lang="zh-CN" altLang="en-US" sz="2000"/>
              <a:t>之内的光功率能被光纤接受传播。</a:t>
            </a:r>
            <a:endParaRPr lang="en-US" altLang="zh-CN" sz="2000"/>
          </a:p>
          <a:p>
            <a:pPr eaLnBrk="1" hangingPunct="1">
              <a:lnSpc>
                <a:spcPct val="130000"/>
              </a:lnSpc>
              <a:buFont typeface="Arial" panose="020B0604020202020204" pitchFamily="34" charset="0"/>
              <a:buChar char="•"/>
            </a:pPr>
            <a:r>
              <a:rPr lang="zh-CN" altLang="en-US" sz="2000"/>
              <a:t>一般希望有较大的数值孔径，有利于耦合效率的提高。</a:t>
            </a:r>
            <a:endParaRPr lang="en-US" altLang="zh-CN" sz="2000"/>
          </a:p>
          <a:p>
            <a:pPr eaLnBrk="1" hangingPunct="1">
              <a:lnSpc>
                <a:spcPct val="130000"/>
              </a:lnSpc>
              <a:buFont typeface="Arial" panose="020B0604020202020204" pitchFamily="34" charset="0"/>
              <a:buChar char="•"/>
            </a:pPr>
            <a:r>
              <a:rPr lang="zh-CN" altLang="en-US" sz="2000"/>
              <a:t>满足全反射条件时，界面的损耗很少，反射率可达</a:t>
            </a:r>
            <a:r>
              <a:rPr lang="en-US" altLang="zh-CN" sz="2000"/>
              <a:t>0.9995</a:t>
            </a:r>
            <a:r>
              <a:rPr lang="zh-CN" altLang="en-US" sz="2000"/>
              <a:t>。</a:t>
            </a:r>
          </a:p>
          <a:p>
            <a:pPr eaLnBrk="1" hangingPunct="1">
              <a:lnSpc>
                <a:spcPct val="130000"/>
              </a:lnSpc>
              <a:buFont typeface="Arial" panose="020B0604020202020204" pitchFamily="34" charset="0"/>
              <a:buChar char="•"/>
            </a:pPr>
            <a:r>
              <a:rPr lang="zh-CN" altLang="en-US" sz="2000"/>
              <a:t>但若数值孔径太大，光信号畸变也越严重，所以要适当选择。</a:t>
            </a:r>
            <a:endParaRPr lang="el-GR" altLang="zh-CN" sz="2000" dirty="0"/>
          </a:p>
        </p:txBody>
      </p:sp>
      <p:sp>
        <p:nvSpPr>
          <p:cNvPr id="3" name="Slide Number Placeholder 2">
            <a:extLst>
              <a:ext uri="{FF2B5EF4-FFF2-40B4-BE49-F238E27FC236}">
                <a16:creationId xmlns:a16="http://schemas.microsoft.com/office/drawing/2014/main" id="{FABFFF26-623C-4D62-A175-C3CB21647DAA}"/>
              </a:ext>
            </a:extLst>
          </p:cNvPr>
          <p:cNvSpPr>
            <a:spLocks noGrp="1"/>
          </p:cNvSpPr>
          <p:nvPr>
            <p:ph type="sldNum" sz="quarter" idx="12"/>
          </p:nvPr>
        </p:nvSpPr>
        <p:spPr/>
        <p:txBody>
          <a:bodyPr/>
          <a:lstStyle/>
          <a:p>
            <a:fld id="{B53602B4-F12B-41CD-B648-531F86B2CC91}" type="slidenum">
              <a:rPr lang="zh-CN" altLang="en-US" smtClean="0"/>
              <a:t>46</a:t>
            </a:fld>
            <a:endParaRPr lang="zh-CN" altLang="en-US"/>
          </a:p>
        </p:txBody>
      </p:sp>
      <p:sp>
        <p:nvSpPr>
          <p:cNvPr id="10" name="Text Box 181">
            <a:extLst>
              <a:ext uri="{FF2B5EF4-FFF2-40B4-BE49-F238E27FC236}">
                <a16:creationId xmlns:a16="http://schemas.microsoft.com/office/drawing/2014/main" id="{640417E1-4AA8-42A0-AEDE-23865B5B0378}"/>
              </a:ext>
            </a:extLst>
          </p:cNvPr>
          <p:cNvSpPr txBox="1">
            <a:spLocks noChangeArrowheads="1"/>
          </p:cNvSpPr>
          <p:nvPr/>
        </p:nvSpPr>
        <p:spPr bwMode="auto">
          <a:xfrm>
            <a:off x="5611914" y="4860354"/>
            <a:ext cx="2980221"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7-25 </a:t>
            </a:r>
            <a:r>
              <a:rPr kumimoji="0" lang="zh-CN" altLang="en-US" b="1" dirty="0">
                <a:solidFill>
                  <a:srgbClr val="3333CC"/>
                </a:solidFill>
                <a:latin typeface="宋体" panose="02010600030101010101" pitchFamily="2" charset="-122"/>
                <a:ea typeface="宋体" panose="02010600030101010101" pitchFamily="2" charset="-122"/>
              </a:rPr>
              <a:t>光纤的结构及传输原理</a:t>
            </a:r>
          </a:p>
        </p:txBody>
      </p:sp>
      <p:pic>
        <p:nvPicPr>
          <p:cNvPr id="11" name="Picture 10">
            <a:extLst>
              <a:ext uri="{FF2B5EF4-FFF2-40B4-BE49-F238E27FC236}">
                <a16:creationId xmlns:a16="http://schemas.microsoft.com/office/drawing/2014/main" id="{2616CDEF-A14A-45ED-8459-260CBF152F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627"/>
          <a:stretch/>
        </p:blipFill>
        <p:spPr bwMode="auto">
          <a:xfrm>
            <a:off x="5174344" y="2621814"/>
            <a:ext cx="3935817" cy="1926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1" name="Object 6"/>
          <p:cNvGraphicFramePr>
            <a:graphicFrameLocks noChangeAspect="1"/>
          </p:cNvGraphicFramePr>
          <p:nvPr>
            <p:extLst>
              <p:ext uri="{D42A27DB-BD31-4B8C-83A1-F6EECF244321}">
                <p14:modId xmlns:p14="http://schemas.microsoft.com/office/powerpoint/2010/main" val="3632404624"/>
              </p:ext>
            </p:extLst>
          </p:nvPr>
        </p:nvGraphicFramePr>
        <p:xfrm>
          <a:off x="6647222" y="1201738"/>
          <a:ext cx="2133921" cy="1354219"/>
        </p:xfrm>
        <a:graphic>
          <a:graphicData uri="http://schemas.openxmlformats.org/presentationml/2006/ole">
            <mc:AlternateContent xmlns:mc="http://schemas.openxmlformats.org/markup-compatibility/2006">
              <mc:Choice xmlns:v="urn:schemas-microsoft-com:vml" Requires="v">
                <p:oleObj name="Equation" r:id="rId4" imgW="1739880" imgH="952200" progId="Equation.DSMT4">
                  <p:embed/>
                </p:oleObj>
              </mc:Choice>
              <mc:Fallback>
                <p:oleObj name="Equation" r:id="rId4" imgW="1739880" imgH="952200" progId="Equation.DSMT4">
                  <p:embed/>
                  <p:pic>
                    <p:nvPicPr>
                      <p:cNvPr id="21" name="Object 6"/>
                      <p:cNvPicPr>
                        <a:picLocks noChangeAspect="1" noChangeArrowheads="1"/>
                      </p:cNvPicPr>
                      <p:nvPr/>
                    </p:nvPicPr>
                    <p:blipFill>
                      <a:blip r:embed="rId5"/>
                      <a:srcRect/>
                      <a:stretch>
                        <a:fillRect/>
                      </a:stretch>
                    </p:blipFill>
                    <p:spPr bwMode="auto">
                      <a:xfrm>
                        <a:off x="6647222" y="1201738"/>
                        <a:ext cx="2133921" cy="135421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7845716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A1F2EFE-9D4C-45F6-A4AF-FA8D2B0AE64C}"/>
              </a:ext>
            </a:extLst>
          </p:cNvPr>
          <p:cNvPicPr>
            <a:picLocks noChangeAspect="1"/>
          </p:cNvPicPr>
          <p:nvPr/>
        </p:nvPicPr>
        <p:blipFill rotWithShape="1">
          <a:blip r:embed="rId3"/>
          <a:srcRect t="6112" r="9777"/>
          <a:stretch/>
        </p:blipFill>
        <p:spPr>
          <a:xfrm>
            <a:off x="832644" y="2914720"/>
            <a:ext cx="6700407" cy="3488913"/>
          </a:xfrm>
          <a:prstGeom prst="rect">
            <a:avLst/>
          </a:prstGeom>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7.5.1</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光导纤维</a:t>
            </a:r>
          </a:p>
        </p:txBody>
      </p:sp>
      <p:sp>
        <p:nvSpPr>
          <p:cNvPr id="20" name="Text Box 4"/>
          <p:cNvSpPr txBox="1">
            <a:spLocks noChangeArrowheads="1"/>
          </p:cNvSpPr>
          <p:nvPr/>
        </p:nvSpPr>
        <p:spPr bwMode="auto">
          <a:xfrm>
            <a:off x="3401431" y="2391500"/>
            <a:ext cx="19431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r>
              <a:rPr lang="zh-CN" altLang="en-US" sz="2800" dirty="0">
                <a:solidFill>
                  <a:srgbClr val="0070C0"/>
                </a:solidFill>
              </a:rPr>
              <a:t>多模阶跃</a:t>
            </a:r>
          </a:p>
        </p:txBody>
      </p:sp>
      <p:sp>
        <p:nvSpPr>
          <p:cNvPr id="21" name="Text Box 5"/>
          <p:cNvSpPr txBox="1">
            <a:spLocks noChangeArrowheads="1"/>
          </p:cNvSpPr>
          <p:nvPr/>
        </p:nvSpPr>
        <p:spPr bwMode="auto">
          <a:xfrm>
            <a:off x="5750283" y="2390614"/>
            <a:ext cx="19431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r>
              <a:rPr lang="zh-CN" altLang="en-US" sz="2800" dirty="0"/>
              <a:t>多模渐变</a:t>
            </a:r>
          </a:p>
        </p:txBody>
      </p:sp>
      <p:sp>
        <p:nvSpPr>
          <p:cNvPr id="22" name="Text Box 6"/>
          <p:cNvSpPr txBox="1">
            <a:spLocks noChangeArrowheads="1"/>
          </p:cNvSpPr>
          <p:nvPr/>
        </p:nvSpPr>
        <p:spPr bwMode="auto">
          <a:xfrm>
            <a:off x="1137667" y="2380378"/>
            <a:ext cx="19431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r>
              <a:rPr lang="zh-CN" altLang="en-US" sz="2800" dirty="0">
                <a:solidFill>
                  <a:srgbClr val="FF0000"/>
                </a:solidFill>
              </a:rPr>
              <a:t>单模阶跃</a:t>
            </a:r>
          </a:p>
        </p:txBody>
      </p:sp>
      <p:sp>
        <p:nvSpPr>
          <p:cNvPr id="2" name="Slide Number Placeholder 1">
            <a:extLst>
              <a:ext uri="{FF2B5EF4-FFF2-40B4-BE49-F238E27FC236}">
                <a16:creationId xmlns:a16="http://schemas.microsoft.com/office/drawing/2014/main" id="{504694DA-C38F-487D-8300-CC5F0B2A5DD0}"/>
              </a:ext>
            </a:extLst>
          </p:cNvPr>
          <p:cNvSpPr>
            <a:spLocks noGrp="1"/>
          </p:cNvSpPr>
          <p:nvPr>
            <p:ph type="sldNum" sz="quarter" idx="12"/>
          </p:nvPr>
        </p:nvSpPr>
        <p:spPr/>
        <p:txBody>
          <a:bodyPr/>
          <a:lstStyle/>
          <a:p>
            <a:fld id="{B53602B4-F12B-41CD-B648-531F86B2CC91}" type="slidenum">
              <a:rPr lang="zh-CN" altLang="en-US" smtClean="0"/>
              <a:t>47</a:t>
            </a:fld>
            <a:endParaRPr lang="zh-CN" altLang="en-US"/>
          </a:p>
        </p:txBody>
      </p:sp>
      <p:sp>
        <p:nvSpPr>
          <p:cNvPr id="11" name="TextBox 10">
            <a:extLst>
              <a:ext uri="{FF2B5EF4-FFF2-40B4-BE49-F238E27FC236}">
                <a16:creationId xmlns:a16="http://schemas.microsoft.com/office/drawing/2014/main" id="{774BB3F3-347C-4E6C-9065-0488027AFEEB}"/>
              </a:ext>
            </a:extLst>
          </p:cNvPr>
          <p:cNvSpPr txBox="1"/>
          <p:nvPr/>
        </p:nvSpPr>
        <p:spPr>
          <a:xfrm>
            <a:off x="185083" y="1192900"/>
            <a:ext cx="4884056" cy="53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40000"/>
              </a:lnSpc>
              <a:spcBef>
                <a:spcPct val="20000"/>
              </a:spcBef>
              <a:defRPr sz="2400" b="1">
                <a:latin typeface="宋体" charset="-122"/>
                <a:ea typeface="宋体" charset="-122"/>
              </a:defRPr>
            </a:lvl1pPr>
            <a:lvl2pPr marL="742950" indent="-285750" eaLnBrk="0" hangingPunct="0">
              <a:defRPr sz="2400" b="1">
                <a:latin typeface="宋体" charset="-122"/>
                <a:ea typeface="宋体" charset="-122"/>
              </a:defRPr>
            </a:lvl2pPr>
            <a:lvl3pPr marL="1143000" indent="-228600" eaLnBrk="0" hangingPunct="0">
              <a:defRPr sz="2400" b="1">
                <a:latin typeface="宋体" charset="-122"/>
                <a:ea typeface="宋体" charset="-122"/>
              </a:defRPr>
            </a:lvl3pPr>
            <a:lvl4pPr marL="1600200" indent="-228600" eaLnBrk="0" hangingPunct="0">
              <a:defRPr sz="2400" b="1">
                <a:latin typeface="宋体" charset="-122"/>
                <a:ea typeface="宋体" charset="-122"/>
              </a:defRPr>
            </a:lvl4pPr>
            <a:lvl5pPr marL="2057400" indent="-228600" eaLnBrk="0" hangingPunct="0">
              <a:defRPr sz="2400" b="1">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9pPr>
          </a:lstStyle>
          <a:p>
            <a:r>
              <a:rPr lang="zh-CN" altLang="en-US"/>
              <a:t>二、光导纤维的种类</a:t>
            </a:r>
            <a:endParaRPr lang="en-001"/>
          </a:p>
        </p:txBody>
      </p:sp>
      <p:sp>
        <p:nvSpPr>
          <p:cNvPr id="13" name="TextBox 12">
            <a:extLst>
              <a:ext uri="{FF2B5EF4-FFF2-40B4-BE49-F238E27FC236}">
                <a16:creationId xmlns:a16="http://schemas.microsoft.com/office/drawing/2014/main" id="{537935B8-5728-4542-9617-BF76C9FADFF6}"/>
              </a:ext>
            </a:extLst>
          </p:cNvPr>
          <p:cNvSpPr txBox="1"/>
          <p:nvPr/>
        </p:nvSpPr>
        <p:spPr>
          <a:xfrm>
            <a:off x="1395933" y="1989601"/>
            <a:ext cx="3487057" cy="42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40000"/>
              </a:lnSpc>
              <a:spcBef>
                <a:spcPct val="20000"/>
              </a:spcBef>
              <a:defRPr sz="2400" b="1">
                <a:latin typeface="宋体" charset="-122"/>
                <a:ea typeface="宋体" charset="-122"/>
              </a:defRPr>
            </a:lvl1pPr>
            <a:lvl2pPr marL="742950" indent="-285750" eaLnBrk="0" hangingPunct="0">
              <a:defRPr sz="2400" b="1">
                <a:latin typeface="宋体" charset="-122"/>
                <a:ea typeface="宋体" charset="-122"/>
              </a:defRPr>
            </a:lvl2pPr>
            <a:lvl3pPr marL="1143000" indent="-228600" eaLnBrk="0" hangingPunct="0">
              <a:defRPr sz="2400" b="1">
                <a:latin typeface="宋体" charset="-122"/>
                <a:ea typeface="宋体" charset="-122"/>
              </a:defRPr>
            </a:lvl3pPr>
            <a:lvl4pPr marL="1600200" indent="-228600" eaLnBrk="0" hangingPunct="0">
              <a:defRPr sz="2400" b="1">
                <a:latin typeface="宋体" charset="-122"/>
                <a:ea typeface="宋体" charset="-122"/>
              </a:defRPr>
            </a:lvl4pPr>
            <a:lvl5pPr marL="2057400" indent="-228600" eaLnBrk="0" hangingPunct="0">
              <a:defRPr sz="2400" b="1">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9pPr>
          </a:lstStyle>
          <a:p>
            <a:r>
              <a:rPr lang="zh-CN" altLang="en-US" sz="1800"/>
              <a:t>纤芯与包层间的折射率是突变的</a:t>
            </a:r>
            <a:endParaRPr lang="en-001" sz="1800"/>
          </a:p>
        </p:txBody>
      </p:sp>
      <p:sp>
        <p:nvSpPr>
          <p:cNvPr id="15" name="TextBox 14">
            <a:extLst>
              <a:ext uri="{FF2B5EF4-FFF2-40B4-BE49-F238E27FC236}">
                <a16:creationId xmlns:a16="http://schemas.microsoft.com/office/drawing/2014/main" id="{8D9885B0-3B84-4DD5-9965-B4B9761674C4}"/>
              </a:ext>
            </a:extLst>
          </p:cNvPr>
          <p:cNvSpPr txBox="1"/>
          <p:nvPr/>
        </p:nvSpPr>
        <p:spPr>
          <a:xfrm>
            <a:off x="5327405" y="1080890"/>
            <a:ext cx="3754197" cy="130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40000"/>
              </a:lnSpc>
              <a:spcBef>
                <a:spcPct val="20000"/>
              </a:spcBef>
              <a:defRPr b="1">
                <a:latin typeface="宋体" charset="-122"/>
                <a:ea typeface="宋体" charset="-122"/>
              </a:defRPr>
            </a:lvl1pPr>
            <a:lvl2pPr marL="742950" indent="-285750" eaLnBrk="0" hangingPunct="0">
              <a:defRPr sz="2400" b="1">
                <a:latin typeface="宋体" charset="-122"/>
                <a:ea typeface="宋体" charset="-122"/>
              </a:defRPr>
            </a:lvl2pPr>
            <a:lvl3pPr marL="1143000" indent="-228600" eaLnBrk="0" hangingPunct="0">
              <a:defRPr sz="2400" b="1">
                <a:latin typeface="宋体" charset="-122"/>
                <a:ea typeface="宋体" charset="-122"/>
              </a:defRPr>
            </a:lvl3pPr>
            <a:lvl4pPr marL="1600200" indent="-228600" eaLnBrk="0" hangingPunct="0">
              <a:defRPr sz="2400" b="1">
                <a:latin typeface="宋体" charset="-122"/>
                <a:ea typeface="宋体" charset="-122"/>
              </a:defRPr>
            </a:lvl4pPr>
            <a:lvl5pPr marL="2057400" indent="-228600" eaLnBrk="0" hangingPunct="0">
              <a:defRPr sz="2400" b="1">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9pPr>
          </a:lstStyle>
          <a:p>
            <a:pPr marL="285750" indent="-285750">
              <a:buFont typeface="Wingdings" panose="05000000000000000000" pitchFamily="2" charset="2"/>
              <a:buChar char="§"/>
            </a:pPr>
            <a:r>
              <a:rPr lang="zh-CN" altLang="en-US"/>
              <a:t>中心处折射率最大</a:t>
            </a:r>
            <a:endParaRPr lang="en-US" altLang="zh-CN"/>
          </a:p>
          <a:p>
            <a:pPr marL="285750" indent="-285750">
              <a:buFont typeface="Wingdings" panose="05000000000000000000" pitchFamily="2" charset="2"/>
              <a:buChar char="§"/>
            </a:pPr>
            <a:r>
              <a:rPr lang="zh-CN" altLang="en-US"/>
              <a:t>其值</a:t>
            </a:r>
            <a:r>
              <a:rPr lang="en-US" altLang="zh-CN"/>
              <a:t>n1</a:t>
            </a:r>
            <a:r>
              <a:rPr lang="zh-CN" altLang="en-US"/>
              <a:t>由中心向外逐渐变小</a:t>
            </a:r>
            <a:endParaRPr lang="en-US" altLang="zh-CN"/>
          </a:p>
          <a:p>
            <a:pPr marL="285750" indent="-285750">
              <a:buFont typeface="Wingdings" panose="05000000000000000000" pitchFamily="2" charset="2"/>
              <a:buChar char="§"/>
            </a:pPr>
            <a:r>
              <a:rPr lang="zh-CN" altLang="en-US"/>
              <a:t>到纤芯边界时变为色层折射率</a:t>
            </a:r>
            <a:r>
              <a:rPr lang="en-US" altLang="zh-CN"/>
              <a:t>n2</a:t>
            </a:r>
            <a:endParaRPr lang="en-001"/>
          </a:p>
        </p:txBody>
      </p:sp>
      <p:sp>
        <p:nvSpPr>
          <p:cNvPr id="24" name="Text Box 183">
            <a:extLst>
              <a:ext uri="{FF2B5EF4-FFF2-40B4-BE49-F238E27FC236}">
                <a16:creationId xmlns:a16="http://schemas.microsoft.com/office/drawing/2014/main" id="{FA18036A-A8CE-4952-A6ED-850D5F325869}"/>
              </a:ext>
            </a:extLst>
          </p:cNvPr>
          <p:cNvSpPr txBox="1">
            <a:spLocks noChangeArrowheads="1"/>
          </p:cNvSpPr>
          <p:nvPr/>
        </p:nvSpPr>
        <p:spPr bwMode="auto">
          <a:xfrm>
            <a:off x="2704871" y="6262990"/>
            <a:ext cx="3565376"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7-26 </a:t>
            </a:r>
            <a:r>
              <a:rPr kumimoji="0" lang="zh-CN" altLang="en-US" b="1" dirty="0">
                <a:solidFill>
                  <a:srgbClr val="3333CC"/>
                </a:solidFill>
                <a:latin typeface="宋体" panose="02010600030101010101" pitchFamily="2" charset="-122"/>
                <a:ea typeface="宋体" panose="02010600030101010101" pitchFamily="2" charset="-122"/>
              </a:rPr>
              <a:t>光导纤维的种类</a:t>
            </a:r>
          </a:p>
        </p:txBody>
      </p:sp>
    </p:spTree>
    <p:extLst>
      <p:ext uri="{BB962C8B-B14F-4D97-AF65-F5344CB8AC3E}">
        <p14:creationId xmlns:p14="http://schemas.microsoft.com/office/powerpoint/2010/main" val="17297689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31" name="Text Box 3"/>
          <p:cNvSpPr txBox="1">
            <a:spLocks noChangeArrowheads="1"/>
          </p:cNvSpPr>
          <p:nvPr/>
        </p:nvSpPr>
        <p:spPr bwMode="auto">
          <a:xfrm>
            <a:off x="602486" y="1440401"/>
            <a:ext cx="7745953" cy="479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marL="342900" indent="-342900" eaLnBrk="1" hangingPunct="1">
              <a:lnSpc>
                <a:spcPct val="150000"/>
              </a:lnSpc>
              <a:spcBef>
                <a:spcPts val="1800"/>
              </a:spcBef>
              <a:buFont typeface="Arial" panose="020B0604020202020204" pitchFamily="34" charset="0"/>
              <a:buChar char="•"/>
            </a:pPr>
            <a:r>
              <a:rPr lang="zh-CN" altLang="en-US" sz="2000"/>
              <a:t>光纤传感器按其工作原理来分有</a:t>
            </a:r>
            <a:r>
              <a:rPr lang="zh-CN" altLang="en-US" sz="2000">
                <a:solidFill>
                  <a:srgbClr val="C00000"/>
                </a:solidFill>
              </a:rPr>
              <a:t>功能型</a:t>
            </a:r>
            <a:r>
              <a:rPr lang="zh-CN" altLang="en-US" sz="2000"/>
              <a:t>（或称物性型、传感型）与</a:t>
            </a:r>
            <a:r>
              <a:rPr lang="zh-CN" altLang="en-US" sz="2000">
                <a:solidFill>
                  <a:srgbClr val="C00000"/>
                </a:solidFill>
              </a:rPr>
              <a:t>非功能型</a:t>
            </a:r>
            <a:r>
              <a:rPr lang="zh-CN" altLang="en-US" sz="2000"/>
              <a:t>（或称结构型、传光型）两大类。</a:t>
            </a:r>
            <a:endParaRPr lang="en-US" altLang="zh-CN" sz="2000"/>
          </a:p>
          <a:p>
            <a:pPr marL="342900" indent="-342900" eaLnBrk="1" hangingPunct="1">
              <a:lnSpc>
                <a:spcPct val="150000"/>
              </a:lnSpc>
              <a:spcBef>
                <a:spcPts val="1800"/>
              </a:spcBef>
              <a:buFont typeface="Arial" panose="020B0604020202020204" pitchFamily="34" charset="0"/>
              <a:buChar char="•"/>
            </a:pPr>
            <a:r>
              <a:rPr lang="zh-CN" altLang="en-US" sz="2000">
                <a:solidFill>
                  <a:srgbClr val="C00000"/>
                </a:solidFill>
              </a:rPr>
              <a:t>功能型光纤传感器</a:t>
            </a:r>
            <a:r>
              <a:rPr lang="zh-CN" altLang="en-US" sz="2000"/>
              <a:t>：</a:t>
            </a:r>
            <a:endParaRPr lang="en-US" altLang="zh-CN" sz="2000"/>
          </a:p>
          <a:p>
            <a:pPr marL="360000" eaLnBrk="1" hangingPunct="1">
              <a:lnSpc>
                <a:spcPct val="150000"/>
              </a:lnSpc>
              <a:spcBef>
                <a:spcPts val="600"/>
              </a:spcBef>
            </a:pPr>
            <a:r>
              <a:rPr lang="zh-CN" altLang="en-US" sz="2000"/>
              <a:t>其光纤不仅作为光传播的波导而且具有测量的功能。它可以利用外界物理因素改变光纤中光的强度、相位、偏振态或波长，从而对外界因素进行测量和数据传输。</a:t>
            </a:r>
            <a:endParaRPr lang="en-US" altLang="zh-CN" sz="2000"/>
          </a:p>
          <a:p>
            <a:pPr marL="342900" indent="-342900" eaLnBrk="1" hangingPunct="1">
              <a:lnSpc>
                <a:spcPct val="150000"/>
              </a:lnSpc>
              <a:spcBef>
                <a:spcPts val="1800"/>
              </a:spcBef>
              <a:buFont typeface="Arial" panose="020B0604020202020204" pitchFamily="34" charset="0"/>
              <a:buChar char="•"/>
            </a:pPr>
            <a:r>
              <a:rPr lang="zh-CN" altLang="en-US" sz="2000">
                <a:solidFill>
                  <a:srgbClr val="C00000"/>
                </a:solidFill>
              </a:rPr>
              <a:t>非功能型光纤传感器</a:t>
            </a:r>
            <a:r>
              <a:rPr lang="zh-CN" altLang="en-US" sz="2000"/>
              <a:t>：</a:t>
            </a:r>
            <a:endParaRPr lang="en-US" altLang="zh-CN" sz="2000"/>
          </a:p>
          <a:p>
            <a:pPr marL="360000" eaLnBrk="1" hangingPunct="1">
              <a:lnSpc>
                <a:spcPct val="150000"/>
              </a:lnSpc>
              <a:spcBef>
                <a:spcPts val="600"/>
              </a:spcBef>
            </a:pPr>
            <a:r>
              <a:rPr lang="zh-CN" altLang="en-US" sz="2000"/>
              <a:t>其光纤只是作为传光的媒介，还需加上其他敏感元件才能组成传感器。</a:t>
            </a:r>
            <a:endParaRPr lang="zh-CN" altLang="en-US" sz="2000" dirty="0"/>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48</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31" name="Text Box 3"/>
          <p:cNvSpPr txBox="1">
            <a:spLocks noChangeArrowheads="1"/>
          </p:cNvSpPr>
          <p:nvPr/>
        </p:nvSpPr>
        <p:spPr bwMode="auto">
          <a:xfrm>
            <a:off x="624185" y="2083789"/>
            <a:ext cx="7895629" cy="449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marL="342900" indent="-342900" eaLnBrk="1" hangingPunct="1">
              <a:lnSpc>
                <a:spcPct val="130000"/>
              </a:lnSpc>
              <a:spcBef>
                <a:spcPts val="600"/>
              </a:spcBef>
              <a:buFont typeface="Arial" panose="020B0604020202020204" pitchFamily="34" charset="0"/>
              <a:buChar char="•"/>
            </a:pPr>
            <a:r>
              <a:rPr lang="zh-CN" altLang="en-US" sz="2000"/>
              <a:t>可分为振幅调制型、相位调制型及偏振态调制型。</a:t>
            </a:r>
            <a:endParaRPr lang="en-US" altLang="zh-CN" sz="2000"/>
          </a:p>
          <a:p>
            <a:pPr marL="342900" indent="-342900" eaLnBrk="1" hangingPunct="1">
              <a:lnSpc>
                <a:spcPct val="130000"/>
              </a:lnSpc>
              <a:spcBef>
                <a:spcPts val="600"/>
              </a:spcBef>
              <a:buFont typeface="Arial" panose="020B0604020202020204" pitchFamily="34" charset="0"/>
              <a:buChar char="•"/>
            </a:pPr>
            <a:r>
              <a:rPr lang="zh-CN" altLang="en-US" sz="2000">
                <a:solidFill>
                  <a:srgbClr val="C00000"/>
                </a:solidFill>
              </a:rPr>
              <a:t>振幅调制型传感器：</a:t>
            </a:r>
            <a:r>
              <a:rPr lang="zh-CN" altLang="en-US" sz="2000"/>
              <a:t>利用光纤在外部物理量作用下</a:t>
            </a:r>
            <a:r>
              <a:rPr lang="zh-CN" altLang="en-US" sz="2000">
                <a:solidFill>
                  <a:srgbClr val="C00000"/>
                </a:solidFill>
              </a:rPr>
              <a:t>光强</a:t>
            </a:r>
            <a:r>
              <a:rPr lang="zh-CN" altLang="en-US" sz="2000"/>
              <a:t>的变化来进行探测的传感器。</a:t>
            </a:r>
            <a:endParaRPr lang="en-US" altLang="zh-CN" sz="2000"/>
          </a:p>
          <a:p>
            <a:pPr marL="1085850" lvl="1" indent="-342900" eaLnBrk="1" hangingPunct="1">
              <a:lnSpc>
                <a:spcPct val="130000"/>
              </a:lnSpc>
              <a:spcBef>
                <a:spcPts val="600"/>
              </a:spcBef>
              <a:buFont typeface="Courier New" panose="02070309020205020404" pitchFamily="49" charset="0"/>
              <a:buChar char="o"/>
            </a:pPr>
            <a:r>
              <a:rPr lang="zh-CN" altLang="en-US" sz="2000"/>
              <a:t>改变光纤对光波的吸收特性；</a:t>
            </a:r>
            <a:endParaRPr lang="en-US" altLang="zh-CN" sz="2000"/>
          </a:p>
          <a:p>
            <a:pPr marL="1085850" lvl="1" indent="-342900" eaLnBrk="1" hangingPunct="1">
              <a:lnSpc>
                <a:spcPct val="130000"/>
              </a:lnSpc>
              <a:spcBef>
                <a:spcPts val="600"/>
              </a:spcBef>
              <a:buFont typeface="Courier New" panose="02070309020205020404" pitchFamily="49" charset="0"/>
              <a:buChar char="o"/>
            </a:pPr>
            <a:r>
              <a:rPr lang="zh-CN" altLang="en-US" sz="2000"/>
              <a:t>改变光纤中的折射率分布，从而改变传输功率；</a:t>
            </a:r>
            <a:endParaRPr lang="en-US" altLang="zh-CN" sz="2000"/>
          </a:p>
          <a:p>
            <a:pPr marL="1085850" lvl="1" indent="-342900" eaLnBrk="1" hangingPunct="1">
              <a:lnSpc>
                <a:spcPct val="130000"/>
              </a:lnSpc>
              <a:spcBef>
                <a:spcPts val="600"/>
              </a:spcBef>
              <a:buFont typeface="Courier New" panose="02070309020205020404" pitchFamily="49" charset="0"/>
              <a:buChar char="o"/>
            </a:pPr>
            <a:r>
              <a:rPr lang="zh-CN" altLang="en-US" sz="2000"/>
              <a:t>改变光纤中的微弯曲状态等。</a:t>
            </a:r>
            <a:endParaRPr lang="en-US" altLang="zh-CN" sz="2000"/>
          </a:p>
          <a:p>
            <a:pPr marL="342900" indent="-342900" eaLnBrk="1" hangingPunct="1">
              <a:lnSpc>
                <a:spcPct val="130000"/>
              </a:lnSpc>
              <a:spcBef>
                <a:spcPts val="600"/>
              </a:spcBef>
              <a:buFont typeface="Arial" panose="020B0604020202020204" pitchFamily="34" charset="0"/>
              <a:buChar char="•"/>
            </a:pPr>
            <a:r>
              <a:rPr lang="zh-CN" altLang="en-US" sz="2000">
                <a:solidFill>
                  <a:srgbClr val="C00000"/>
                </a:solidFill>
              </a:rPr>
              <a:t>相位调制型传感器：</a:t>
            </a:r>
            <a:r>
              <a:rPr lang="zh-CN" altLang="en-US" sz="2000"/>
              <a:t>利用外界因素对于光纤中</a:t>
            </a:r>
            <a:r>
              <a:rPr lang="zh-CN" altLang="en-US" sz="2000">
                <a:solidFill>
                  <a:srgbClr val="C00000"/>
                </a:solidFill>
              </a:rPr>
              <a:t>光波相位</a:t>
            </a:r>
            <a:r>
              <a:rPr lang="zh-CN" altLang="en-US" sz="2000"/>
              <a:t>的影响来探测各种物理量的传感器。</a:t>
            </a:r>
            <a:endParaRPr lang="en-US" altLang="zh-CN" sz="2000"/>
          </a:p>
          <a:p>
            <a:pPr marL="342900" indent="-342900" eaLnBrk="1" hangingPunct="1">
              <a:lnSpc>
                <a:spcPct val="130000"/>
              </a:lnSpc>
              <a:spcBef>
                <a:spcPts val="600"/>
              </a:spcBef>
              <a:buFont typeface="Arial" panose="020B0604020202020204" pitchFamily="34" charset="0"/>
              <a:buChar char="•"/>
            </a:pPr>
            <a:r>
              <a:rPr lang="zh-CN" altLang="en-US" sz="2000">
                <a:solidFill>
                  <a:srgbClr val="C00000"/>
                </a:solidFill>
              </a:rPr>
              <a:t>偏振态调制型传感器：</a:t>
            </a:r>
            <a:r>
              <a:rPr lang="zh-CN" altLang="en-US" sz="2000"/>
              <a:t>外界因素使光纤中</a:t>
            </a:r>
            <a:r>
              <a:rPr lang="zh-CN" altLang="en-US" sz="2000">
                <a:solidFill>
                  <a:srgbClr val="C00000"/>
                </a:solidFill>
              </a:rPr>
              <a:t>横向偏振态</a:t>
            </a:r>
            <a:r>
              <a:rPr lang="zh-CN" altLang="en-US" sz="2000"/>
              <a:t>发生变化、对其检测的传感器。</a:t>
            </a:r>
            <a:endParaRPr lang="zh-CN" altLang="en-US" sz="2000" dirty="0"/>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49</a:t>
            </a:fld>
            <a:endParaRPr lang="zh-CN" altLang="en-US"/>
          </a:p>
        </p:txBody>
      </p:sp>
      <p:sp>
        <p:nvSpPr>
          <p:cNvPr id="8" name="TextBox 7">
            <a:extLst>
              <a:ext uri="{FF2B5EF4-FFF2-40B4-BE49-F238E27FC236}">
                <a16:creationId xmlns:a16="http://schemas.microsoft.com/office/drawing/2014/main" id="{36EBBCB8-7329-4999-BA35-8B0399D840D8}"/>
              </a:ext>
            </a:extLst>
          </p:cNvPr>
          <p:cNvSpPr txBox="1"/>
          <p:nvPr/>
        </p:nvSpPr>
        <p:spPr>
          <a:xfrm>
            <a:off x="185083" y="1361180"/>
            <a:ext cx="3585029" cy="559769"/>
          </a:xfrm>
          <a:prstGeom prst="rect">
            <a:avLst/>
          </a:prstGeom>
          <a:noFill/>
        </p:spPr>
        <p:txBody>
          <a:bodyPr wrap="square">
            <a:spAutoFit/>
          </a:bodyPr>
          <a:lstStyle/>
          <a:p>
            <a:pPr eaLnBrk="1" hangingPunct="1">
              <a:lnSpc>
                <a:spcPct val="150000"/>
              </a:lnSpc>
              <a:spcBef>
                <a:spcPct val="20000"/>
              </a:spcBef>
            </a:pPr>
            <a:r>
              <a:rPr lang="zh-CN" altLang="en-US" sz="2400" b="1">
                <a:solidFill>
                  <a:srgbClr val="C00000"/>
                </a:solidFill>
                <a:latin typeface="宋体" charset="-122"/>
                <a:ea typeface="宋体" charset="-122"/>
              </a:rPr>
              <a:t>一、功能型光纤传感器</a:t>
            </a:r>
          </a:p>
        </p:txBody>
      </p:sp>
    </p:spTree>
    <p:extLst>
      <p:ext uri="{BB962C8B-B14F-4D97-AF65-F5344CB8AC3E}">
        <p14:creationId xmlns:p14="http://schemas.microsoft.com/office/powerpoint/2010/main" val="16466470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186">
            <a:extLst>
              <a:ext uri="{FF2B5EF4-FFF2-40B4-BE49-F238E27FC236}">
                <a16:creationId xmlns:a16="http://schemas.microsoft.com/office/drawing/2014/main" id="{2B421140-5909-4321-85DA-4A05631489E9}"/>
              </a:ext>
            </a:extLst>
          </p:cNvPr>
          <p:cNvGraphicFramePr>
            <a:graphicFrameLocks noChangeAspect="1"/>
          </p:cNvGraphicFramePr>
          <p:nvPr>
            <p:extLst>
              <p:ext uri="{D42A27DB-BD31-4B8C-83A1-F6EECF244321}">
                <p14:modId xmlns:p14="http://schemas.microsoft.com/office/powerpoint/2010/main" val="6753538"/>
              </p:ext>
            </p:extLst>
          </p:nvPr>
        </p:nvGraphicFramePr>
        <p:xfrm>
          <a:off x="538522" y="4130721"/>
          <a:ext cx="8066953" cy="2260427"/>
        </p:xfrm>
        <a:graphic>
          <a:graphicData uri="http://schemas.openxmlformats.org/presentationml/2006/ole">
            <mc:AlternateContent xmlns:mc="http://schemas.openxmlformats.org/markup-compatibility/2006">
              <mc:Choice xmlns:v="urn:schemas-microsoft-com:vml" Requires="v">
                <p:oleObj name="Image" r:id="rId3" imgW="28937143" imgH="8111020" progId="Photoshop.Image.7">
                  <p:embed/>
                </p:oleObj>
              </mc:Choice>
              <mc:Fallback>
                <p:oleObj name="Image" r:id="rId3" imgW="28937143" imgH="8111020" progId="Photoshop.Image.7">
                  <p:embed/>
                  <p:pic>
                    <p:nvPicPr>
                      <p:cNvPr id="2234" name="Object 18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522" y="4130721"/>
                        <a:ext cx="8066953" cy="2260427"/>
                      </a:xfrm>
                      <a:prstGeom prst="rect">
                        <a:avLst/>
                      </a:prstGeom>
                      <a:noFill/>
                      <a:ln>
                        <a:noFill/>
                      </a:ln>
                      <a:effectLst/>
                    </p:spPr>
                  </p:pic>
                </p:oleObj>
              </mc:Fallback>
            </mc:AlternateContent>
          </a:graphicData>
        </a:graphic>
      </p:graphicFrame>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50</a:t>
            </a:fld>
            <a:endParaRPr lang="zh-CN" altLang="en-US"/>
          </a:p>
        </p:txBody>
      </p:sp>
      <p:sp>
        <p:nvSpPr>
          <p:cNvPr id="8" name="TextBox 7">
            <a:extLst>
              <a:ext uri="{FF2B5EF4-FFF2-40B4-BE49-F238E27FC236}">
                <a16:creationId xmlns:a16="http://schemas.microsoft.com/office/drawing/2014/main" id="{36EBBCB8-7329-4999-BA35-8B0399D840D8}"/>
              </a:ext>
            </a:extLst>
          </p:cNvPr>
          <p:cNvSpPr txBox="1"/>
          <p:nvPr/>
        </p:nvSpPr>
        <p:spPr>
          <a:xfrm>
            <a:off x="185082" y="1099928"/>
            <a:ext cx="6738231" cy="559769"/>
          </a:xfrm>
          <a:prstGeom prst="rect">
            <a:avLst/>
          </a:prstGeom>
          <a:noFill/>
        </p:spPr>
        <p:txBody>
          <a:bodyPr wrap="square">
            <a:spAutoFit/>
          </a:bodyPr>
          <a:lstStyle/>
          <a:p>
            <a:pPr eaLnBrk="1" hangingPunct="1">
              <a:lnSpc>
                <a:spcPct val="150000"/>
              </a:lnSpc>
              <a:spcBef>
                <a:spcPct val="20000"/>
              </a:spcBef>
            </a:pPr>
            <a:r>
              <a:rPr lang="zh-CN" altLang="en-US" sz="2400" b="1">
                <a:solidFill>
                  <a:srgbClr val="C00000"/>
                </a:solidFill>
                <a:latin typeface="宋体" charset="-122"/>
                <a:ea typeface="宋体" charset="-122"/>
              </a:rPr>
              <a:t>一、功能型光纤传感器  </a:t>
            </a:r>
            <a:r>
              <a:rPr lang="en-US" altLang="zh-CN" sz="2400" b="1">
                <a:latin typeface="宋体" charset="-122"/>
                <a:ea typeface="宋体" charset="-122"/>
              </a:rPr>
              <a:t>1. </a:t>
            </a:r>
            <a:r>
              <a:rPr lang="zh-CN" altLang="en-US" sz="2400" b="1">
                <a:latin typeface="宋体" charset="-122"/>
                <a:ea typeface="宋体" charset="-122"/>
              </a:rPr>
              <a:t>振幅调制型传感器</a:t>
            </a:r>
            <a:endParaRPr lang="zh-CN" altLang="en-US" sz="2000" b="1">
              <a:latin typeface="宋体" charset="-122"/>
              <a:ea typeface="宋体" charset="-122"/>
            </a:endParaRPr>
          </a:p>
        </p:txBody>
      </p:sp>
      <p:sp>
        <p:nvSpPr>
          <p:cNvPr id="9" name="Text Box 185">
            <a:extLst>
              <a:ext uri="{FF2B5EF4-FFF2-40B4-BE49-F238E27FC236}">
                <a16:creationId xmlns:a16="http://schemas.microsoft.com/office/drawing/2014/main" id="{1C4D8972-6E95-472A-9BB3-FA577E2DF260}"/>
              </a:ext>
            </a:extLst>
          </p:cNvPr>
          <p:cNvSpPr txBox="1">
            <a:spLocks noChangeArrowheads="1"/>
          </p:cNvSpPr>
          <p:nvPr/>
        </p:nvSpPr>
        <p:spPr bwMode="auto">
          <a:xfrm>
            <a:off x="3166675" y="6229995"/>
            <a:ext cx="3878560"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7-27 </a:t>
            </a:r>
            <a:r>
              <a:rPr kumimoji="0" lang="zh-CN" altLang="en-US" b="1" dirty="0">
                <a:solidFill>
                  <a:srgbClr val="3333CC"/>
                </a:solidFill>
                <a:latin typeface="宋体" panose="02010600030101010101" pitchFamily="2" charset="-122"/>
                <a:ea typeface="宋体" panose="02010600030101010101" pitchFamily="2" charset="-122"/>
              </a:rPr>
              <a:t>微弯光纤传感器</a:t>
            </a:r>
          </a:p>
        </p:txBody>
      </p:sp>
      <p:sp>
        <p:nvSpPr>
          <p:cNvPr id="31" name="Text Box 3"/>
          <p:cNvSpPr txBox="1">
            <a:spLocks noChangeArrowheads="1"/>
          </p:cNvSpPr>
          <p:nvPr/>
        </p:nvSpPr>
        <p:spPr bwMode="auto">
          <a:xfrm>
            <a:off x="640056" y="1725904"/>
            <a:ext cx="8117819" cy="2646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marL="342900" indent="-342900" eaLnBrk="1" hangingPunct="1">
              <a:lnSpc>
                <a:spcPct val="110000"/>
              </a:lnSpc>
              <a:spcBef>
                <a:spcPts val="600"/>
              </a:spcBef>
              <a:buFont typeface="Arial" panose="020B0604020202020204" pitchFamily="34" charset="0"/>
              <a:buChar char="•"/>
            </a:pPr>
            <a:r>
              <a:rPr lang="zh-CN" altLang="en-US" sz="1800"/>
              <a:t>传感元件由可使光纤发生微弯曲变形器件组成，比如是一对锯齿板，相邻齿之间的距离决定着变形器的空间频率。</a:t>
            </a:r>
          </a:p>
          <a:p>
            <a:pPr marL="342900" indent="-342900" eaLnBrk="1" hangingPunct="1">
              <a:lnSpc>
                <a:spcPct val="110000"/>
              </a:lnSpc>
              <a:spcBef>
                <a:spcPts val="600"/>
              </a:spcBef>
              <a:buFont typeface="Arial" panose="020B0604020202020204" pitchFamily="34" charset="0"/>
              <a:buChar char="•"/>
            </a:pPr>
            <a:r>
              <a:rPr lang="zh-CN" altLang="en-US" sz="1800"/>
              <a:t>当锯齿板受到压力作用时，产生位移，使得夹在其中的光纤微弯曲，从而引起光强调制。</a:t>
            </a:r>
          </a:p>
          <a:p>
            <a:pPr marL="342900" indent="-342900" eaLnBrk="1" hangingPunct="1">
              <a:lnSpc>
                <a:spcPct val="110000"/>
              </a:lnSpc>
              <a:buFont typeface="Arial" panose="020B0604020202020204" pitchFamily="34" charset="0"/>
              <a:buChar char="•"/>
            </a:pPr>
            <a:r>
              <a:rPr lang="zh-CN" altLang="en-US" sz="1800"/>
              <a:t>因为这时在纤芯中传输的光有部分耦合到包层中，原来光束以大于临界角的角度在纤芯中传输为全内反射；但在微弯处，光束以小于临界角的角度入射到界面，便不满足式全反射条件，部分光逸出散射入包层。因此通过检测纤芯或包层模的光功率，就能测得力、位移或声压等物理量。</a:t>
            </a:r>
            <a:endParaRPr lang="zh-CN" altLang="en-US" sz="1800" dirty="0"/>
          </a:p>
        </p:txBody>
      </p:sp>
    </p:spTree>
    <p:extLst>
      <p:ext uri="{BB962C8B-B14F-4D97-AF65-F5344CB8AC3E}">
        <p14:creationId xmlns:p14="http://schemas.microsoft.com/office/powerpoint/2010/main" val="31823407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186">
            <a:extLst>
              <a:ext uri="{FF2B5EF4-FFF2-40B4-BE49-F238E27FC236}">
                <a16:creationId xmlns:a16="http://schemas.microsoft.com/office/drawing/2014/main" id="{2B421140-5909-4321-85DA-4A05631489E9}"/>
              </a:ext>
            </a:extLst>
          </p:cNvPr>
          <p:cNvGraphicFramePr>
            <a:graphicFrameLocks noChangeAspect="1"/>
          </p:cNvGraphicFramePr>
          <p:nvPr/>
        </p:nvGraphicFramePr>
        <p:xfrm>
          <a:off x="538522" y="4130721"/>
          <a:ext cx="8066953" cy="2260427"/>
        </p:xfrm>
        <a:graphic>
          <a:graphicData uri="http://schemas.openxmlformats.org/presentationml/2006/ole">
            <mc:AlternateContent xmlns:mc="http://schemas.openxmlformats.org/markup-compatibility/2006">
              <mc:Choice xmlns:v="urn:schemas-microsoft-com:vml" Requires="v">
                <p:oleObj name="Image" r:id="rId3" imgW="28937143" imgH="8111020" progId="Photoshop.Image.7">
                  <p:embed/>
                </p:oleObj>
              </mc:Choice>
              <mc:Fallback>
                <p:oleObj name="Image" r:id="rId3" imgW="28937143" imgH="8111020" progId="Photoshop.Image.7">
                  <p:embed/>
                  <p:pic>
                    <p:nvPicPr>
                      <p:cNvPr id="10" name="Object 186">
                        <a:extLst>
                          <a:ext uri="{FF2B5EF4-FFF2-40B4-BE49-F238E27FC236}">
                            <a16:creationId xmlns:a16="http://schemas.microsoft.com/office/drawing/2014/main" id="{2B421140-5909-4321-85DA-4A05631489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522" y="4130721"/>
                        <a:ext cx="8066953" cy="2260427"/>
                      </a:xfrm>
                      <a:prstGeom prst="rect">
                        <a:avLst/>
                      </a:prstGeom>
                      <a:noFill/>
                      <a:ln>
                        <a:noFill/>
                      </a:ln>
                      <a:effectLst/>
                    </p:spPr>
                  </p:pic>
                </p:oleObj>
              </mc:Fallback>
            </mc:AlternateContent>
          </a:graphicData>
        </a:graphic>
      </p:graphicFrame>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51</a:t>
            </a:fld>
            <a:endParaRPr lang="zh-CN" altLang="en-US"/>
          </a:p>
        </p:txBody>
      </p:sp>
      <p:sp>
        <p:nvSpPr>
          <p:cNvPr id="8" name="TextBox 7">
            <a:extLst>
              <a:ext uri="{FF2B5EF4-FFF2-40B4-BE49-F238E27FC236}">
                <a16:creationId xmlns:a16="http://schemas.microsoft.com/office/drawing/2014/main" id="{36EBBCB8-7329-4999-BA35-8B0399D840D8}"/>
              </a:ext>
            </a:extLst>
          </p:cNvPr>
          <p:cNvSpPr txBox="1"/>
          <p:nvPr/>
        </p:nvSpPr>
        <p:spPr>
          <a:xfrm>
            <a:off x="185082" y="1099928"/>
            <a:ext cx="6738231" cy="559769"/>
          </a:xfrm>
          <a:prstGeom prst="rect">
            <a:avLst/>
          </a:prstGeom>
          <a:noFill/>
        </p:spPr>
        <p:txBody>
          <a:bodyPr wrap="square">
            <a:spAutoFit/>
          </a:bodyPr>
          <a:lstStyle/>
          <a:p>
            <a:pPr eaLnBrk="1" hangingPunct="1">
              <a:lnSpc>
                <a:spcPct val="150000"/>
              </a:lnSpc>
              <a:spcBef>
                <a:spcPct val="20000"/>
              </a:spcBef>
            </a:pPr>
            <a:r>
              <a:rPr lang="zh-CN" altLang="en-US" sz="2400" b="1">
                <a:solidFill>
                  <a:srgbClr val="C00000"/>
                </a:solidFill>
                <a:latin typeface="宋体" charset="-122"/>
                <a:ea typeface="宋体" charset="-122"/>
              </a:rPr>
              <a:t>一、功能型光纤传感器  </a:t>
            </a:r>
            <a:r>
              <a:rPr lang="en-US" altLang="zh-CN" sz="2400" b="1">
                <a:latin typeface="宋体" charset="-122"/>
                <a:ea typeface="宋体" charset="-122"/>
              </a:rPr>
              <a:t>1. </a:t>
            </a:r>
            <a:r>
              <a:rPr lang="zh-CN" altLang="en-US" sz="2400" b="1">
                <a:latin typeface="宋体" charset="-122"/>
                <a:ea typeface="宋体" charset="-122"/>
              </a:rPr>
              <a:t>振幅调制型传感器</a:t>
            </a:r>
            <a:endParaRPr lang="zh-CN" altLang="en-US" sz="2000" b="1">
              <a:latin typeface="宋体" charset="-122"/>
              <a:ea typeface="宋体" charset="-122"/>
            </a:endParaRPr>
          </a:p>
        </p:txBody>
      </p:sp>
      <p:sp>
        <p:nvSpPr>
          <p:cNvPr id="9" name="Text Box 185">
            <a:extLst>
              <a:ext uri="{FF2B5EF4-FFF2-40B4-BE49-F238E27FC236}">
                <a16:creationId xmlns:a16="http://schemas.microsoft.com/office/drawing/2014/main" id="{1C4D8972-6E95-472A-9BB3-FA577E2DF260}"/>
              </a:ext>
            </a:extLst>
          </p:cNvPr>
          <p:cNvSpPr txBox="1">
            <a:spLocks noChangeArrowheads="1"/>
          </p:cNvSpPr>
          <p:nvPr/>
        </p:nvSpPr>
        <p:spPr bwMode="auto">
          <a:xfrm>
            <a:off x="3166675" y="6229995"/>
            <a:ext cx="3878560"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7-27 </a:t>
            </a:r>
            <a:r>
              <a:rPr kumimoji="0" lang="zh-CN" altLang="en-US" b="1" dirty="0">
                <a:solidFill>
                  <a:srgbClr val="3333CC"/>
                </a:solidFill>
                <a:latin typeface="宋体" panose="02010600030101010101" pitchFamily="2" charset="-122"/>
                <a:ea typeface="宋体" panose="02010600030101010101" pitchFamily="2" charset="-122"/>
              </a:rPr>
              <a:t>微弯光纤传感器</a:t>
            </a:r>
          </a:p>
        </p:txBody>
      </p:sp>
      <p:sp>
        <p:nvSpPr>
          <p:cNvPr id="31" name="Text Box 3"/>
          <p:cNvSpPr txBox="1">
            <a:spLocks noChangeArrowheads="1"/>
          </p:cNvSpPr>
          <p:nvPr/>
        </p:nvSpPr>
        <p:spPr bwMode="auto">
          <a:xfrm>
            <a:off x="838931" y="1985233"/>
            <a:ext cx="7898536" cy="1943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marL="342900" indent="-342900" eaLnBrk="1" hangingPunct="1">
              <a:lnSpc>
                <a:spcPct val="150000"/>
              </a:lnSpc>
              <a:spcBef>
                <a:spcPts val="600"/>
              </a:spcBef>
              <a:buFont typeface="Arial" panose="020B0604020202020204" pitchFamily="34" charset="0"/>
              <a:buChar char="•"/>
            </a:pPr>
            <a:r>
              <a:rPr lang="zh-CN" altLang="en-US" sz="2000"/>
              <a:t>锯齿板位移小时，光强与位移的关系是线性的，否则是非线性的。</a:t>
            </a:r>
            <a:endParaRPr lang="en-US" altLang="zh-CN" sz="2000"/>
          </a:p>
          <a:p>
            <a:pPr marL="342900" indent="-342900" eaLnBrk="1" hangingPunct="1">
              <a:lnSpc>
                <a:spcPct val="150000"/>
              </a:lnSpc>
              <a:spcBef>
                <a:spcPts val="600"/>
              </a:spcBef>
              <a:buFont typeface="Arial" panose="020B0604020202020204" pitchFamily="34" charset="0"/>
              <a:buChar char="•"/>
            </a:pPr>
            <a:r>
              <a:rPr lang="zh-CN" altLang="en-US" sz="2000"/>
              <a:t>光路完全密封，因此不受环境因素的影响，且成本低，精度高，可望达到每微米位移的光功率变化 </a:t>
            </a:r>
            <a:r>
              <a:rPr lang="en-US" altLang="zh-CN" sz="2000"/>
              <a:t>5% </a:t>
            </a:r>
            <a:r>
              <a:rPr lang="zh-CN" altLang="en-US" sz="2000"/>
              <a:t>，检测位移分辨力为 </a:t>
            </a:r>
            <a:r>
              <a:rPr lang="en-US" altLang="zh-CN" sz="2000"/>
              <a:t>0.01μm </a:t>
            </a:r>
            <a:r>
              <a:rPr lang="zh-CN" altLang="en-US" sz="2000"/>
              <a:t>。</a:t>
            </a:r>
            <a:endParaRPr lang="zh-CN" altLang="en-US" sz="2000" dirty="0"/>
          </a:p>
        </p:txBody>
      </p:sp>
    </p:spTree>
    <p:extLst>
      <p:ext uri="{BB962C8B-B14F-4D97-AF65-F5344CB8AC3E}">
        <p14:creationId xmlns:p14="http://schemas.microsoft.com/office/powerpoint/2010/main" val="15698963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52</a:t>
            </a:fld>
            <a:endParaRPr lang="zh-CN" altLang="en-US"/>
          </a:p>
        </p:txBody>
      </p:sp>
      <p:sp>
        <p:nvSpPr>
          <p:cNvPr id="8" name="TextBox 7">
            <a:extLst>
              <a:ext uri="{FF2B5EF4-FFF2-40B4-BE49-F238E27FC236}">
                <a16:creationId xmlns:a16="http://schemas.microsoft.com/office/drawing/2014/main" id="{36EBBCB8-7329-4999-BA35-8B0399D840D8}"/>
              </a:ext>
            </a:extLst>
          </p:cNvPr>
          <p:cNvSpPr txBox="1"/>
          <p:nvPr/>
        </p:nvSpPr>
        <p:spPr>
          <a:xfrm>
            <a:off x="185082" y="1099928"/>
            <a:ext cx="6738231" cy="559769"/>
          </a:xfrm>
          <a:prstGeom prst="rect">
            <a:avLst/>
          </a:prstGeom>
          <a:noFill/>
        </p:spPr>
        <p:txBody>
          <a:bodyPr wrap="square">
            <a:spAutoFit/>
          </a:bodyPr>
          <a:lstStyle/>
          <a:p>
            <a:pPr eaLnBrk="1" hangingPunct="1">
              <a:lnSpc>
                <a:spcPct val="150000"/>
              </a:lnSpc>
              <a:spcBef>
                <a:spcPct val="20000"/>
              </a:spcBef>
            </a:pPr>
            <a:r>
              <a:rPr lang="zh-CN" altLang="en-US" sz="2400" b="1">
                <a:solidFill>
                  <a:srgbClr val="C00000"/>
                </a:solidFill>
                <a:latin typeface="宋体" charset="-122"/>
                <a:ea typeface="宋体" charset="-122"/>
              </a:rPr>
              <a:t>一、功能型光纤传感器  </a:t>
            </a:r>
            <a:r>
              <a:rPr lang="en-US" altLang="zh-CN" sz="2400" b="1">
                <a:latin typeface="宋体" charset="-122"/>
                <a:ea typeface="宋体" charset="-122"/>
              </a:rPr>
              <a:t>2. </a:t>
            </a:r>
            <a:r>
              <a:rPr lang="zh-CN" altLang="en-US" sz="2400" b="1">
                <a:latin typeface="宋体" charset="-122"/>
                <a:ea typeface="宋体" charset="-122"/>
              </a:rPr>
              <a:t>光相位调制型</a:t>
            </a:r>
            <a:endParaRPr lang="zh-CN" altLang="en-US" sz="2000" b="1">
              <a:latin typeface="宋体" charset="-122"/>
              <a:ea typeface="宋体" charset="-122"/>
            </a:endParaRPr>
          </a:p>
        </p:txBody>
      </p:sp>
      <p:sp>
        <p:nvSpPr>
          <p:cNvPr id="31" name="Text Box 3"/>
          <p:cNvSpPr txBox="1">
            <a:spLocks noChangeArrowheads="1"/>
          </p:cNvSpPr>
          <p:nvPr/>
        </p:nvSpPr>
        <p:spPr bwMode="auto">
          <a:xfrm>
            <a:off x="185082" y="1793595"/>
            <a:ext cx="8798165" cy="1252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marL="216000" indent="-216000" eaLnBrk="1" hangingPunct="1">
              <a:lnSpc>
                <a:spcPct val="120000"/>
              </a:lnSpc>
              <a:spcBef>
                <a:spcPts val="600"/>
              </a:spcBef>
              <a:buFont typeface="Arial" panose="020B0604020202020204" pitchFamily="34" charset="0"/>
              <a:buChar char="•"/>
            </a:pPr>
            <a:r>
              <a:rPr lang="zh-CN" altLang="en-US" sz="1900"/>
              <a:t>光纤测温传感器：光纤内传输的相位随温度参数的改变而改变。</a:t>
            </a:r>
          </a:p>
          <a:p>
            <a:pPr marL="216000" indent="-216000" eaLnBrk="1" hangingPunct="1">
              <a:lnSpc>
                <a:spcPct val="120000"/>
              </a:lnSpc>
              <a:spcBef>
                <a:spcPts val="600"/>
              </a:spcBef>
              <a:buFont typeface="Arial" panose="020B0604020202020204" pitchFamily="34" charset="0"/>
              <a:buChar char="•"/>
            </a:pPr>
            <a:r>
              <a:rPr lang="zh-CN" altLang="en-US" sz="1900"/>
              <a:t>光信号相位随温度的变化是由于光纤材料的尺寸和折射率随温度改变而引起的。</a:t>
            </a:r>
          </a:p>
          <a:p>
            <a:pPr marL="216000" indent="-216000" eaLnBrk="1" hangingPunct="1">
              <a:lnSpc>
                <a:spcPct val="120000"/>
              </a:lnSpc>
              <a:spcBef>
                <a:spcPts val="600"/>
              </a:spcBef>
              <a:buFont typeface="Arial" panose="020B0604020202020204" pitchFamily="34" charset="0"/>
              <a:buChar char="•"/>
            </a:pPr>
            <a:r>
              <a:rPr lang="zh-CN" altLang="en-US" sz="1900"/>
              <a:t>相位的变化与温度变化的关系为</a:t>
            </a:r>
            <a:endParaRPr lang="zh-CN" altLang="en-US" sz="1900" dirty="0"/>
          </a:p>
        </p:txBody>
      </p:sp>
      <p:pic>
        <p:nvPicPr>
          <p:cNvPr id="4" name="Picture 3">
            <a:extLst>
              <a:ext uri="{FF2B5EF4-FFF2-40B4-BE49-F238E27FC236}">
                <a16:creationId xmlns:a16="http://schemas.microsoft.com/office/drawing/2014/main" id="{042CC460-5131-4937-A4FC-2180F33060CC}"/>
              </a:ext>
            </a:extLst>
          </p:cNvPr>
          <p:cNvPicPr>
            <a:picLocks noChangeAspect="1"/>
          </p:cNvPicPr>
          <p:nvPr/>
        </p:nvPicPr>
        <p:blipFill>
          <a:blip r:embed="rId3"/>
          <a:stretch>
            <a:fillRect/>
          </a:stretch>
        </p:blipFill>
        <p:spPr>
          <a:xfrm>
            <a:off x="378951" y="3088967"/>
            <a:ext cx="5912958" cy="770707"/>
          </a:xfrm>
          <a:prstGeom prst="rect">
            <a:avLst/>
          </a:prstGeom>
        </p:spPr>
      </p:pic>
      <p:grpSp>
        <p:nvGrpSpPr>
          <p:cNvPr id="7" name="Group 6">
            <a:extLst>
              <a:ext uri="{FF2B5EF4-FFF2-40B4-BE49-F238E27FC236}">
                <a16:creationId xmlns:a16="http://schemas.microsoft.com/office/drawing/2014/main" id="{6AF5D238-1D58-495F-BE30-FEDDD728B0E5}"/>
              </a:ext>
            </a:extLst>
          </p:cNvPr>
          <p:cNvGrpSpPr/>
          <p:nvPr/>
        </p:nvGrpSpPr>
        <p:grpSpPr>
          <a:xfrm>
            <a:off x="277401" y="3913359"/>
            <a:ext cx="3365685" cy="2786147"/>
            <a:chOff x="183060" y="3964158"/>
            <a:chExt cx="3365685" cy="2786147"/>
          </a:xfrm>
        </p:grpSpPr>
        <p:sp>
          <p:nvSpPr>
            <p:cNvPr id="14" name="TextBox 13">
              <a:extLst>
                <a:ext uri="{FF2B5EF4-FFF2-40B4-BE49-F238E27FC236}">
                  <a16:creationId xmlns:a16="http://schemas.microsoft.com/office/drawing/2014/main" id="{412F5CFD-86B5-4504-9D9B-D8FAECD7C86C}"/>
                </a:ext>
              </a:extLst>
            </p:cNvPr>
            <p:cNvSpPr txBox="1"/>
            <p:nvPr/>
          </p:nvSpPr>
          <p:spPr>
            <a:xfrm>
              <a:off x="1052766" y="3964158"/>
              <a:ext cx="2495979" cy="2786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16000" indent="-216000">
                <a:lnSpc>
                  <a:spcPct val="120000"/>
                </a:lnSpc>
                <a:spcBef>
                  <a:spcPts val="600"/>
                </a:spcBef>
                <a:buFont typeface="Arial" panose="020B0604020202020204" pitchFamily="34" charset="0"/>
                <a:buChar char="•"/>
                <a:defRPr sz="1900" b="1">
                  <a:latin typeface="宋体" charset="-122"/>
                  <a:ea typeface="宋体" charset="-122"/>
                </a:defRPr>
              </a:lvl1pPr>
              <a:lvl2pPr marL="742950" indent="-285750" eaLnBrk="0" hangingPunct="0">
                <a:defRPr sz="2400" b="1">
                  <a:latin typeface="宋体" charset="-122"/>
                  <a:ea typeface="宋体" charset="-122"/>
                </a:defRPr>
              </a:lvl2pPr>
              <a:lvl3pPr marL="1143000" indent="-228600" eaLnBrk="0" hangingPunct="0">
                <a:defRPr sz="2400" b="1">
                  <a:latin typeface="宋体" charset="-122"/>
                  <a:ea typeface="宋体" charset="-122"/>
                </a:defRPr>
              </a:lvl3pPr>
              <a:lvl4pPr marL="1600200" indent="-228600" eaLnBrk="0" hangingPunct="0">
                <a:defRPr sz="2400" b="1">
                  <a:latin typeface="宋体" charset="-122"/>
                  <a:ea typeface="宋体" charset="-122"/>
                </a:defRPr>
              </a:lvl4pPr>
              <a:lvl5pPr marL="2057400" indent="-228600" eaLnBrk="0" hangingPunct="0">
                <a:defRPr sz="2400" b="1">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9pPr>
            </a:lstStyle>
            <a:p>
              <a:pPr marL="0" indent="0">
                <a:lnSpc>
                  <a:spcPct val="160000"/>
                </a:lnSpc>
                <a:spcBef>
                  <a:spcPts val="0"/>
                </a:spcBef>
                <a:buNone/>
              </a:pPr>
              <a:r>
                <a:rPr lang="zh-CN" altLang="en-US" sz="1600"/>
                <a:t> </a:t>
              </a:r>
              <a:r>
                <a:rPr lang="en-US" altLang="zh-CN" sz="1600"/>
                <a:t>- </a:t>
              </a:r>
              <a:r>
                <a:rPr lang="zh-CN" altLang="en-US" sz="1600"/>
                <a:t>膨胀系数；</a:t>
              </a:r>
            </a:p>
            <a:p>
              <a:pPr marL="0" indent="0">
                <a:lnSpc>
                  <a:spcPct val="160000"/>
                </a:lnSpc>
                <a:spcBef>
                  <a:spcPts val="0"/>
                </a:spcBef>
                <a:buNone/>
              </a:pPr>
              <a:r>
                <a:rPr lang="zh-CN" altLang="en-US" sz="1600"/>
                <a:t> </a:t>
              </a:r>
              <a:r>
                <a:rPr lang="en-US" altLang="zh-CN" sz="1600"/>
                <a:t>- </a:t>
              </a:r>
              <a:r>
                <a:rPr lang="zh-CN" altLang="en-US" sz="1600"/>
                <a:t>光纤的长度；</a:t>
              </a:r>
            </a:p>
            <a:p>
              <a:pPr marL="0" indent="0">
                <a:lnSpc>
                  <a:spcPct val="160000"/>
                </a:lnSpc>
                <a:spcBef>
                  <a:spcPts val="0"/>
                </a:spcBef>
                <a:buNone/>
              </a:pPr>
              <a:r>
                <a:rPr lang="zh-CN" altLang="en-US" sz="1600"/>
                <a:t> </a:t>
              </a:r>
              <a:r>
                <a:rPr lang="en-US" altLang="zh-CN" sz="1600"/>
                <a:t>- </a:t>
              </a:r>
              <a:r>
                <a:rPr lang="zh-CN" altLang="en-US" sz="1600"/>
                <a:t>折射率温度系数；</a:t>
              </a:r>
            </a:p>
            <a:p>
              <a:pPr marL="0" indent="0">
                <a:lnSpc>
                  <a:spcPct val="160000"/>
                </a:lnSpc>
                <a:spcBef>
                  <a:spcPts val="0"/>
                </a:spcBef>
                <a:buNone/>
              </a:pPr>
              <a:r>
                <a:rPr lang="zh-CN" altLang="en-US" sz="1600"/>
                <a:t> </a:t>
              </a:r>
              <a:r>
                <a:rPr lang="en-US" altLang="zh-CN" sz="1600"/>
                <a:t>- </a:t>
              </a:r>
              <a:r>
                <a:rPr lang="zh-CN" altLang="en-US" sz="1600"/>
                <a:t>纤芯平均折射率；</a:t>
              </a:r>
            </a:p>
            <a:p>
              <a:pPr marL="0" indent="0">
                <a:lnSpc>
                  <a:spcPct val="160000"/>
                </a:lnSpc>
                <a:spcBef>
                  <a:spcPts val="0"/>
                </a:spcBef>
                <a:buNone/>
              </a:pPr>
              <a:r>
                <a:rPr lang="en-US" altLang="zh-CN" sz="1600"/>
                <a:t> -</a:t>
              </a:r>
              <a:r>
                <a:rPr lang="zh-CN" altLang="en-US" sz="1600"/>
                <a:t> 自由空间光波长；</a:t>
              </a:r>
            </a:p>
            <a:p>
              <a:pPr marL="0" indent="0">
                <a:lnSpc>
                  <a:spcPct val="160000"/>
                </a:lnSpc>
                <a:spcBef>
                  <a:spcPts val="0"/>
                </a:spcBef>
                <a:buNone/>
              </a:pPr>
              <a:r>
                <a:rPr lang="zh-CN" altLang="en-US" sz="1600"/>
                <a:t> </a:t>
              </a:r>
              <a:r>
                <a:rPr lang="en-US" altLang="zh-CN" sz="1600"/>
                <a:t>- </a:t>
              </a:r>
              <a:r>
                <a:rPr lang="zh-CN" altLang="en-US" sz="1600"/>
                <a:t>传播常数与纤芯半径</a:t>
              </a:r>
              <a:endParaRPr lang="en-US" altLang="zh-CN" sz="1600"/>
            </a:p>
            <a:p>
              <a:pPr marL="0" indent="0">
                <a:lnSpc>
                  <a:spcPct val="160000"/>
                </a:lnSpc>
                <a:spcBef>
                  <a:spcPts val="0"/>
                </a:spcBef>
                <a:buNone/>
              </a:pPr>
              <a:r>
                <a:rPr lang="en-US" altLang="zh-CN" sz="1600"/>
                <a:t>   </a:t>
              </a:r>
              <a:r>
                <a:rPr lang="zh-CN" altLang="en-US" sz="1600"/>
                <a:t>的变化率。</a:t>
              </a:r>
              <a:endParaRPr lang="en-001" sz="1600"/>
            </a:p>
          </p:txBody>
        </p:sp>
        <p:pic>
          <p:nvPicPr>
            <p:cNvPr id="6" name="Picture 5">
              <a:extLst>
                <a:ext uri="{FF2B5EF4-FFF2-40B4-BE49-F238E27FC236}">
                  <a16:creationId xmlns:a16="http://schemas.microsoft.com/office/drawing/2014/main" id="{262E8CDA-870F-4F47-ACA8-355FEF5A5326}"/>
                </a:ext>
              </a:extLst>
            </p:cNvPr>
            <p:cNvPicPr>
              <a:picLocks noChangeAspect="1"/>
            </p:cNvPicPr>
            <p:nvPr/>
          </p:nvPicPr>
          <p:blipFill>
            <a:blip r:embed="rId4"/>
            <a:stretch>
              <a:fillRect/>
            </a:stretch>
          </p:blipFill>
          <p:spPr>
            <a:xfrm>
              <a:off x="183060" y="4071528"/>
              <a:ext cx="1080000" cy="2284823"/>
            </a:xfrm>
            <a:prstGeom prst="rect">
              <a:avLst/>
            </a:prstGeom>
          </p:spPr>
        </p:pic>
      </p:grpSp>
      <p:sp>
        <p:nvSpPr>
          <p:cNvPr id="18" name="TextBox 17">
            <a:extLst>
              <a:ext uri="{FF2B5EF4-FFF2-40B4-BE49-F238E27FC236}">
                <a16:creationId xmlns:a16="http://schemas.microsoft.com/office/drawing/2014/main" id="{8F9CCB76-C7E9-4F4B-8B7D-606098709E1A}"/>
              </a:ext>
            </a:extLst>
          </p:cNvPr>
          <p:cNvSpPr txBox="1"/>
          <p:nvPr/>
        </p:nvSpPr>
        <p:spPr>
          <a:xfrm>
            <a:off x="3852961" y="4186173"/>
            <a:ext cx="4687600" cy="1953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216000" indent="-216000">
              <a:lnSpc>
                <a:spcPct val="120000"/>
              </a:lnSpc>
              <a:spcBef>
                <a:spcPts val="600"/>
              </a:spcBef>
              <a:buFont typeface="Arial" panose="020B0604020202020204" pitchFamily="34" charset="0"/>
              <a:buChar char="•"/>
              <a:defRPr sz="1900" b="1">
                <a:latin typeface="宋体" charset="-122"/>
                <a:ea typeface="宋体" charset="-122"/>
              </a:defRPr>
            </a:lvl1pPr>
            <a:lvl2pPr marL="742950" indent="-285750" eaLnBrk="0" hangingPunct="0">
              <a:defRPr sz="2400" b="1">
                <a:latin typeface="宋体" charset="-122"/>
                <a:ea typeface="宋体" charset="-122"/>
              </a:defRPr>
            </a:lvl2pPr>
            <a:lvl3pPr marL="1143000" indent="-228600" eaLnBrk="0" hangingPunct="0">
              <a:defRPr sz="2400" b="1">
                <a:latin typeface="宋体" charset="-122"/>
                <a:ea typeface="宋体" charset="-122"/>
              </a:defRPr>
            </a:lvl3pPr>
            <a:lvl4pPr marL="1600200" indent="-228600" eaLnBrk="0" hangingPunct="0">
              <a:defRPr sz="2400" b="1">
                <a:latin typeface="宋体" charset="-122"/>
                <a:ea typeface="宋体" charset="-122"/>
              </a:defRPr>
            </a:lvl4pPr>
            <a:lvl5pPr marL="2057400" indent="-228600" eaLnBrk="0" hangingPunct="0">
              <a:defRPr sz="2400" b="1">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latin typeface="宋体" charset="-122"/>
                <a:ea typeface="宋体" charset="-122"/>
              </a:defRPr>
            </a:lvl9pPr>
          </a:lstStyle>
          <a:p>
            <a:pPr>
              <a:spcBef>
                <a:spcPts val="1200"/>
              </a:spcBef>
            </a:pPr>
            <a:r>
              <a:rPr lang="zh-CN" altLang="en-US"/>
              <a:t>只要利用适当的仪器检出光纤中光信号相位的变化就可以测定温度。</a:t>
            </a:r>
            <a:endParaRPr lang="en-US" altLang="zh-CN"/>
          </a:p>
          <a:p>
            <a:pPr>
              <a:spcBef>
                <a:spcPts val="1200"/>
              </a:spcBef>
            </a:pPr>
            <a:r>
              <a:rPr lang="zh-CN" altLang="en-US"/>
              <a:t>由于应变或压力会改变光纤的传输特性，使光信号相位变化，因此同理也可检测应变和压力。</a:t>
            </a:r>
            <a:endParaRPr lang="en-001"/>
          </a:p>
        </p:txBody>
      </p:sp>
    </p:spTree>
    <p:extLst>
      <p:ext uri="{BB962C8B-B14F-4D97-AF65-F5344CB8AC3E}">
        <p14:creationId xmlns:p14="http://schemas.microsoft.com/office/powerpoint/2010/main" val="34656668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53</a:t>
            </a:fld>
            <a:endParaRPr lang="zh-CN" altLang="en-US"/>
          </a:p>
        </p:txBody>
      </p:sp>
      <p:sp>
        <p:nvSpPr>
          <p:cNvPr id="8" name="TextBox 7">
            <a:extLst>
              <a:ext uri="{FF2B5EF4-FFF2-40B4-BE49-F238E27FC236}">
                <a16:creationId xmlns:a16="http://schemas.microsoft.com/office/drawing/2014/main" id="{36EBBCB8-7329-4999-BA35-8B0399D840D8}"/>
              </a:ext>
            </a:extLst>
          </p:cNvPr>
          <p:cNvSpPr txBox="1"/>
          <p:nvPr/>
        </p:nvSpPr>
        <p:spPr>
          <a:xfrm>
            <a:off x="185082" y="1099928"/>
            <a:ext cx="6738231" cy="559769"/>
          </a:xfrm>
          <a:prstGeom prst="rect">
            <a:avLst/>
          </a:prstGeom>
          <a:noFill/>
        </p:spPr>
        <p:txBody>
          <a:bodyPr wrap="square">
            <a:spAutoFit/>
          </a:bodyPr>
          <a:lstStyle/>
          <a:p>
            <a:pPr eaLnBrk="1" hangingPunct="1">
              <a:lnSpc>
                <a:spcPct val="150000"/>
              </a:lnSpc>
              <a:spcBef>
                <a:spcPct val="20000"/>
              </a:spcBef>
            </a:pPr>
            <a:r>
              <a:rPr lang="zh-CN" altLang="en-US" sz="2400" b="1">
                <a:solidFill>
                  <a:srgbClr val="C00000"/>
                </a:solidFill>
                <a:latin typeface="宋体" charset="-122"/>
                <a:ea typeface="宋体" charset="-122"/>
              </a:rPr>
              <a:t>一、功能型光纤传感器  </a:t>
            </a:r>
            <a:r>
              <a:rPr lang="en-US" altLang="zh-CN" sz="2400" b="1">
                <a:latin typeface="宋体" charset="-122"/>
                <a:ea typeface="宋体" charset="-122"/>
              </a:rPr>
              <a:t>2. </a:t>
            </a:r>
            <a:r>
              <a:rPr lang="zh-CN" altLang="en-US" sz="2400" b="1">
                <a:latin typeface="宋体" charset="-122"/>
                <a:ea typeface="宋体" charset="-122"/>
              </a:rPr>
              <a:t>光相位调制型</a:t>
            </a:r>
            <a:endParaRPr lang="zh-CN" altLang="en-US" sz="2000" b="1">
              <a:latin typeface="宋体" charset="-122"/>
              <a:ea typeface="宋体" charset="-122"/>
            </a:endParaRPr>
          </a:p>
        </p:txBody>
      </p:sp>
      <p:pic>
        <p:nvPicPr>
          <p:cNvPr id="3" name="Picture 2">
            <a:extLst>
              <a:ext uri="{FF2B5EF4-FFF2-40B4-BE49-F238E27FC236}">
                <a16:creationId xmlns:a16="http://schemas.microsoft.com/office/drawing/2014/main" id="{85D6EDF4-6EC8-4F45-B92C-96E93066B90F}"/>
              </a:ext>
            </a:extLst>
          </p:cNvPr>
          <p:cNvPicPr>
            <a:picLocks noChangeAspect="1"/>
          </p:cNvPicPr>
          <p:nvPr/>
        </p:nvPicPr>
        <p:blipFill>
          <a:blip r:embed="rId3"/>
          <a:stretch>
            <a:fillRect/>
          </a:stretch>
        </p:blipFill>
        <p:spPr>
          <a:xfrm>
            <a:off x="4342863" y="2162604"/>
            <a:ext cx="4428574" cy="2532791"/>
          </a:xfrm>
          <a:prstGeom prst="rect">
            <a:avLst/>
          </a:prstGeom>
        </p:spPr>
      </p:pic>
      <p:sp>
        <p:nvSpPr>
          <p:cNvPr id="11" name="Text Box 187">
            <a:extLst>
              <a:ext uri="{FF2B5EF4-FFF2-40B4-BE49-F238E27FC236}">
                <a16:creationId xmlns:a16="http://schemas.microsoft.com/office/drawing/2014/main" id="{ED091CE4-B081-4539-9D15-2D8BB8889F86}"/>
              </a:ext>
            </a:extLst>
          </p:cNvPr>
          <p:cNvSpPr txBox="1">
            <a:spLocks noChangeArrowheads="1"/>
          </p:cNvSpPr>
          <p:nvPr/>
        </p:nvSpPr>
        <p:spPr bwMode="auto">
          <a:xfrm>
            <a:off x="4279480" y="4906953"/>
            <a:ext cx="4356387" cy="41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sz="2000" b="1" dirty="0">
                <a:solidFill>
                  <a:srgbClr val="3333CC"/>
                </a:solidFill>
                <a:latin typeface="宋体" panose="02010600030101010101" pitchFamily="2" charset="-122"/>
                <a:ea typeface="宋体" panose="02010600030101010101" pitchFamily="2" charset="-122"/>
              </a:rPr>
              <a:t>图</a:t>
            </a:r>
            <a:r>
              <a:rPr kumimoji="0" lang="en-US" altLang="zh-CN" sz="2000" b="1" dirty="0">
                <a:solidFill>
                  <a:srgbClr val="3333CC"/>
                </a:solidFill>
                <a:latin typeface="宋体" panose="02010600030101010101" pitchFamily="2" charset="-122"/>
                <a:ea typeface="宋体" panose="02010600030101010101" pitchFamily="2" charset="-122"/>
              </a:rPr>
              <a:t>7-28 </a:t>
            </a:r>
            <a:r>
              <a:rPr kumimoji="0" lang="zh-CN" altLang="en-US" sz="2000" b="1" dirty="0">
                <a:solidFill>
                  <a:srgbClr val="3333CC"/>
                </a:solidFill>
                <a:latin typeface="宋体" panose="02010600030101010101" pitchFamily="2" charset="-122"/>
                <a:ea typeface="宋体" panose="02010600030101010101" pitchFamily="2" charset="-122"/>
              </a:rPr>
              <a:t>马赫</a:t>
            </a:r>
            <a:r>
              <a:rPr kumimoji="0" lang="en-US" altLang="zh-CN" sz="2000" b="1" dirty="0">
                <a:solidFill>
                  <a:srgbClr val="3333CC"/>
                </a:solidFill>
                <a:latin typeface="宋体" panose="02010600030101010101" pitchFamily="2" charset="-122"/>
                <a:ea typeface="宋体" panose="02010600030101010101" pitchFamily="2" charset="-122"/>
              </a:rPr>
              <a:t>·</a:t>
            </a:r>
            <a:r>
              <a:rPr kumimoji="0" lang="zh-CN" altLang="en-US" sz="2000" b="1" dirty="0">
                <a:solidFill>
                  <a:srgbClr val="3333CC"/>
                </a:solidFill>
                <a:latin typeface="宋体" panose="02010600030101010101" pitchFamily="2" charset="-122"/>
                <a:ea typeface="宋体" panose="02010600030101010101" pitchFamily="2" charset="-122"/>
              </a:rPr>
              <a:t>琴特干涉仪的原理图</a:t>
            </a:r>
          </a:p>
        </p:txBody>
      </p:sp>
      <p:sp>
        <p:nvSpPr>
          <p:cNvPr id="15" name="TextBox 14">
            <a:extLst>
              <a:ext uri="{FF2B5EF4-FFF2-40B4-BE49-F238E27FC236}">
                <a16:creationId xmlns:a16="http://schemas.microsoft.com/office/drawing/2014/main" id="{E823C98A-4B6E-4E27-9F1C-30076C4E2F1E}"/>
              </a:ext>
            </a:extLst>
          </p:cNvPr>
          <p:cNvSpPr txBox="1"/>
          <p:nvPr/>
        </p:nvSpPr>
        <p:spPr>
          <a:xfrm>
            <a:off x="268556" y="2026195"/>
            <a:ext cx="3972073" cy="3967433"/>
          </a:xfrm>
          <a:prstGeom prst="rect">
            <a:avLst/>
          </a:prstGeom>
          <a:noFill/>
        </p:spPr>
        <p:txBody>
          <a:bodyPr wrap="square">
            <a:spAutoFit/>
          </a:bodyPr>
          <a:lstStyle/>
          <a:p>
            <a:pPr marL="285750" indent="-285750">
              <a:lnSpc>
                <a:spcPct val="120000"/>
              </a:lnSpc>
              <a:spcBef>
                <a:spcPts val="600"/>
              </a:spcBef>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来自信号光纤的光与一稳定的参考光束混合；</a:t>
            </a:r>
          </a:p>
          <a:p>
            <a:pPr marL="285750" indent="-285750">
              <a:lnSpc>
                <a:spcPct val="120000"/>
              </a:lnSpc>
              <a:spcBef>
                <a:spcPts val="600"/>
              </a:spcBef>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由于信号光纤受被测参数影响，其传输的光信号相位发生变化，因而两光束产生干涉；</a:t>
            </a:r>
          </a:p>
          <a:p>
            <a:pPr marL="285750" indent="-285750">
              <a:lnSpc>
                <a:spcPct val="120000"/>
              </a:lnSpc>
              <a:spcBef>
                <a:spcPts val="600"/>
              </a:spcBef>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用一相位检测器检测小的变化，用条纹计数器可检测大的变化；</a:t>
            </a:r>
          </a:p>
          <a:p>
            <a:pPr marL="285750" indent="-285750">
              <a:lnSpc>
                <a:spcPct val="120000"/>
              </a:lnSpc>
              <a:spcBef>
                <a:spcPts val="600"/>
              </a:spcBef>
              <a:buFont typeface="Wingdings" panose="05000000000000000000" pitchFamily="2" charset="2"/>
              <a:buChar char="§"/>
            </a:pPr>
            <a:r>
              <a:rPr lang="zh-CN" altLang="en-US" sz="2000" b="1">
                <a:latin typeface="宋体" panose="02010600030101010101" pitchFamily="2" charset="-122"/>
                <a:ea typeface="宋体" panose="02010600030101010101" pitchFamily="2" charset="-122"/>
              </a:rPr>
              <a:t>光纤测温计是极灵敏的仪器，当参考光路平稳时，则可测出百分之一摄氏温度的变化。</a:t>
            </a:r>
            <a:endParaRPr lang="en-001" sz="2000" b="1">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5156901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54</a:t>
            </a:fld>
            <a:endParaRPr lang="zh-CN" altLang="en-US"/>
          </a:p>
        </p:txBody>
      </p:sp>
      <p:sp>
        <p:nvSpPr>
          <p:cNvPr id="8" name="TextBox 7">
            <a:extLst>
              <a:ext uri="{FF2B5EF4-FFF2-40B4-BE49-F238E27FC236}">
                <a16:creationId xmlns:a16="http://schemas.microsoft.com/office/drawing/2014/main" id="{36EBBCB8-7329-4999-BA35-8B0399D840D8}"/>
              </a:ext>
            </a:extLst>
          </p:cNvPr>
          <p:cNvSpPr txBox="1"/>
          <p:nvPr/>
        </p:nvSpPr>
        <p:spPr>
          <a:xfrm>
            <a:off x="185082" y="1099928"/>
            <a:ext cx="6738231" cy="1015663"/>
          </a:xfrm>
          <a:prstGeom prst="rect">
            <a:avLst/>
          </a:prstGeom>
          <a:noFill/>
        </p:spPr>
        <p:txBody>
          <a:bodyPr wrap="square">
            <a:spAutoFit/>
          </a:bodyPr>
          <a:lstStyle/>
          <a:p>
            <a:pPr eaLnBrk="1" hangingPunct="1">
              <a:lnSpc>
                <a:spcPct val="150000"/>
              </a:lnSpc>
              <a:spcBef>
                <a:spcPct val="20000"/>
              </a:spcBef>
            </a:pPr>
            <a:r>
              <a:rPr lang="zh-CN" altLang="en-US" sz="2400" b="1">
                <a:solidFill>
                  <a:srgbClr val="C00000"/>
                </a:solidFill>
                <a:latin typeface="宋体" charset="-122"/>
                <a:ea typeface="宋体" charset="-122"/>
              </a:rPr>
              <a:t>二、非功能型光纤传感器  </a:t>
            </a:r>
            <a:endParaRPr lang="en-US" altLang="zh-CN" sz="2400" b="1">
              <a:solidFill>
                <a:srgbClr val="C00000"/>
              </a:solidFill>
              <a:latin typeface="宋体" charset="-122"/>
              <a:ea typeface="宋体" charset="-122"/>
            </a:endParaRPr>
          </a:p>
          <a:p>
            <a:pPr eaLnBrk="1" hangingPunct="1"/>
            <a:r>
              <a:rPr lang="en-US" altLang="zh-CN" sz="2400" b="1">
                <a:latin typeface="宋体" charset="-122"/>
                <a:ea typeface="宋体" charset="-122"/>
              </a:rPr>
              <a:t>1. </a:t>
            </a:r>
            <a:r>
              <a:rPr lang="zh-CN" altLang="en-US" sz="2400" b="1">
                <a:latin typeface="宋体" charset="-122"/>
                <a:ea typeface="宋体" charset="-122"/>
              </a:rPr>
              <a:t>光纤位移传感器</a:t>
            </a:r>
            <a:endParaRPr lang="zh-CN" altLang="en-US" sz="2000" b="1">
              <a:latin typeface="宋体" charset="-122"/>
              <a:ea typeface="宋体" charset="-122"/>
            </a:endParaRPr>
          </a:p>
        </p:txBody>
      </p:sp>
      <p:sp>
        <p:nvSpPr>
          <p:cNvPr id="15" name="TextBox 14">
            <a:extLst>
              <a:ext uri="{FF2B5EF4-FFF2-40B4-BE49-F238E27FC236}">
                <a16:creationId xmlns:a16="http://schemas.microsoft.com/office/drawing/2014/main" id="{E823C98A-4B6E-4E27-9F1C-30076C4E2F1E}"/>
              </a:ext>
            </a:extLst>
          </p:cNvPr>
          <p:cNvSpPr txBox="1"/>
          <p:nvPr/>
        </p:nvSpPr>
        <p:spPr>
          <a:xfrm>
            <a:off x="133725" y="2115591"/>
            <a:ext cx="5314673" cy="4555093"/>
          </a:xfrm>
          <a:prstGeom prst="rect">
            <a:avLst/>
          </a:prstGeom>
          <a:noFill/>
        </p:spPr>
        <p:txBody>
          <a:bodyPr wrap="square">
            <a:spAutoFit/>
          </a:bodyPr>
          <a:lstStyle/>
          <a:p>
            <a:pPr marL="285750" indent="-285750">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根据探测到的反射光的强度来测量被测量与反射表面的距离；</a:t>
            </a:r>
            <a:endParaRPr lang="en-US" altLang="zh-CN" b="1">
              <a:latin typeface="宋体" panose="02010600030101010101" pitchFamily="2" charset="-122"/>
              <a:ea typeface="宋体" panose="02010600030101010101" pitchFamily="2" charset="-122"/>
            </a:endParaRPr>
          </a:p>
          <a:p>
            <a:pPr marL="285750" indent="-285750">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当光纤探头端部紧贴被测件时，发射光纤中的光不能反射到接收光纤中去，因而不能产生电信号；</a:t>
            </a:r>
          </a:p>
          <a:p>
            <a:pPr marL="285750" indent="-285750">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当被测表面逐渐远离光纤探头时，发射光纤照亮被测表面的面积</a:t>
            </a:r>
            <a:r>
              <a:rPr lang="en-US" altLang="zh-CN" b="1">
                <a:latin typeface="宋体" panose="02010600030101010101" pitchFamily="2" charset="-122"/>
                <a:ea typeface="宋体" panose="02010600030101010101" pitchFamily="2" charset="-122"/>
              </a:rPr>
              <a:t>A</a:t>
            </a:r>
            <a:r>
              <a:rPr lang="zh-CN" altLang="en-US" b="1">
                <a:latin typeface="宋体" panose="02010600030101010101" pitchFamily="2" charset="-122"/>
                <a:ea typeface="宋体" panose="02010600030101010101" pitchFamily="2" charset="-122"/>
              </a:rPr>
              <a:t>越来越大，相应的发射光锥和接收光锥重合面积</a:t>
            </a:r>
            <a:r>
              <a:rPr lang="en-US" altLang="zh-CN" b="1">
                <a:latin typeface="宋体" panose="02010600030101010101" pitchFamily="2" charset="-122"/>
                <a:ea typeface="宋体" panose="02010600030101010101" pitchFamily="2" charset="-122"/>
              </a:rPr>
              <a:t>B1</a:t>
            </a:r>
            <a:r>
              <a:rPr lang="zh-CN" altLang="en-US" b="1">
                <a:latin typeface="宋体" panose="02010600030101010101" pitchFamily="2" charset="-122"/>
                <a:ea typeface="宋体" panose="02010600030101010101" pitchFamily="2" charset="-122"/>
              </a:rPr>
              <a:t>越来越大，因而接收光纤端面上被照亮的</a:t>
            </a:r>
            <a:r>
              <a:rPr lang="en-US" altLang="zh-CN" b="1">
                <a:latin typeface="宋体" panose="02010600030101010101" pitchFamily="2" charset="-122"/>
                <a:ea typeface="宋体" panose="02010600030101010101" pitchFamily="2" charset="-122"/>
              </a:rPr>
              <a:t>B2</a:t>
            </a:r>
            <a:r>
              <a:rPr lang="zh-CN" altLang="en-US" b="1">
                <a:latin typeface="宋体" panose="02010600030101010101" pitchFamily="2" charset="-122"/>
                <a:ea typeface="宋体" panose="02010600030101010101" pitchFamily="2" charset="-122"/>
              </a:rPr>
              <a:t>区也越来越大，有一个线性增长的输出信号；</a:t>
            </a:r>
          </a:p>
          <a:p>
            <a:pPr marL="285750" indent="-285750">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当整个接收光纤端面被全部照亮时，输出信号就达到位移－输出信号曲线上的“光峰点”；</a:t>
            </a:r>
          </a:p>
          <a:p>
            <a:pPr marL="285750" indent="-285750">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当被测表面继续远离时，由于被反射光照亮的</a:t>
            </a:r>
            <a:r>
              <a:rPr lang="en-US" altLang="zh-CN" b="1">
                <a:latin typeface="宋体" panose="02010600030101010101" pitchFamily="2" charset="-122"/>
                <a:ea typeface="宋体" panose="02010600030101010101" pitchFamily="2" charset="-122"/>
              </a:rPr>
              <a:t>B2</a:t>
            </a:r>
            <a:r>
              <a:rPr lang="zh-CN" altLang="en-US" b="1">
                <a:latin typeface="宋体" panose="02010600030101010101" pitchFamily="2" charset="-122"/>
                <a:ea typeface="宋体" panose="02010600030101010101" pitchFamily="2" charset="-122"/>
              </a:rPr>
              <a:t>面积大于</a:t>
            </a:r>
            <a:r>
              <a:rPr lang="en-US" altLang="zh-CN" b="1">
                <a:latin typeface="宋体" panose="02010600030101010101" pitchFamily="2" charset="-122"/>
                <a:ea typeface="宋体" panose="02010600030101010101" pitchFamily="2" charset="-122"/>
              </a:rPr>
              <a:t>C,</a:t>
            </a:r>
            <a:r>
              <a:rPr lang="zh-CN" altLang="en-US" b="1">
                <a:latin typeface="宋体" panose="02010600030101010101" pitchFamily="2" charset="-122"/>
                <a:ea typeface="宋体" panose="02010600030101010101" pitchFamily="2" charset="-122"/>
              </a:rPr>
              <a:t>即有部分反射光没有反射进接收光纤，但由于接收光纤更加远离被测表面，接收到的光强逐渐减小，光电元件的输出信号逐渐减弱。</a:t>
            </a:r>
            <a:endParaRPr lang="en-001" b="1">
              <a:latin typeface="宋体" panose="02010600030101010101" pitchFamily="2" charset="-122"/>
              <a:ea typeface="宋体" panose="02010600030101010101" pitchFamily="2" charset="-122"/>
            </a:endParaRPr>
          </a:p>
        </p:txBody>
      </p:sp>
      <p:pic>
        <p:nvPicPr>
          <p:cNvPr id="12" name="Picture 11">
            <a:extLst>
              <a:ext uri="{FF2B5EF4-FFF2-40B4-BE49-F238E27FC236}">
                <a16:creationId xmlns:a16="http://schemas.microsoft.com/office/drawing/2014/main" id="{320BD5A6-1018-4C9E-8A94-0948ECB43B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3368" y="1072503"/>
            <a:ext cx="2912499" cy="1319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a:extLst>
              <a:ext uri="{FF2B5EF4-FFF2-40B4-BE49-F238E27FC236}">
                <a16:creationId xmlns:a16="http://schemas.microsoft.com/office/drawing/2014/main" id="{794611D7-D5B5-43D1-96B2-D55A62166AD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1985" y="2482218"/>
            <a:ext cx="3478290" cy="1891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15589BCB-63D4-41F2-A710-E5C2F9D98BEC}"/>
              </a:ext>
            </a:extLst>
          </p:cNvPr>
          <p:cNvPicPr>
            <a:picLocks noChangeAspect="1"/>
          </p:cNvPicPr>
          <p:nvPr/>
        </p:nvPicPr>
        <p:blipFill>
          <a:blip r:embed="rId5"/>
          <a:stretch>
            <a:fillRect/>
          </a:stretch>
        </p:blipFill>
        <p:spPr>
          <a:xfrm>
            <a:off x="6336075" y="4435143"/>
            <a:ext cx="2235431" cy="1953972"/>
          </a:xfrm>
          <a:prstGeom prst="rect">
            <a:avLst/>
          </a:prstGeom>
        </p:spPr>
      </p:pic>
    </p:spTree>
    <p:extLst>
      <p:ext uri="{BB962C8B-B14F-4D97-AF65-F5344CB8AC3E}">
        <p14:creationId xmlns:p14="http://schemas.microsoft.com/office/powerpoint/2010/main" val="35056510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7.5.2</a:t>
            </a:r>
          </a:p>
        </p:txBody>
      </p:sp>
      <p:sp>
        <p:nvSpPr>
          <p:cNvPr id="46" name="矩形 45"/>
          <p:cNvSpPr/>
          <p:nvPr/>
        </p:nvSpPr>
        <p:spPr>
          <a:xfrm>
            <a:off x="1960201" y="360001"/>
            <a:ext cx="4560856"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光纤传感器的工作原理</a:t>
            </a:r>
          </a:p>
        </p:txBody>
      </p:sp>
      <p:sp>
        <p:nvSpPr>
          <p:cNvPr id="2" name="Slide Number Placeholder 1">
            <a:extLst>
              <a:ext uri="{FF2B5EF4-FFF2-40B4-BE49-F238E27FC236}">
                <a16:creationId xmlns:a16="http://schemas.microsoft.com/office/drawing/2014/main" id="{CEAE77F1-C3B0-4AE4-BC1E-A034EB572689}"/>
              </a:ext>
            </a:extLst>
          </p:cNvPr>
          <p:cNvSpPr>
            <a:spLocks noGrp="1"/>
          </p:cNvSpPr>
          <p:nvPr>
            <p:ph type="sldNum" sz="quarter" idx="12"/>
          </p:nvPr>
        </p:nvSpPr>
        <p:spPr/>
        <p:txBody>
          <a:bodyPr/>
          <a:lstStyle/>
          <a:p>
            <a:fld id="{B53602B4-F12B-41CD-B648-531F86B2CC91}" type="slidenum">
              <a:rPr lang="zh-CN" altLang="en-US" smtClean="0"/>
              <a:t>55</a:t>
            </a:fld>
            <a:endParaRPr lang="zh-CN" altLang="en-US"/>
          </a:p>
        </p:txBody>
      </p:sp>
      <p:sp>
        <p:nvSpPr>
          <p:cNvPr id="8" name="TextBox 7">
            <a:extLst>
              <a:ext uri="{FF2B5EF4-FFF2-40B4-BE49-F238E27FC236}">
                <a16:creationId xmlns:a16="http://schemas.microsoft.com/office/drawing/2014/main" id="{36EBBCB8-7329-4999-BA35-8B0399D840D8}"/>
              </a:ext>
            </a:extLst>
          </p:cNvPr>
          <p:cNvSpPr txBox="1"/>
          <p:nvPr/>
        </p:nvSpPr>
        <p:spPr>
          <a:xfrm>
            <a:off x="185082" y="1099928"/>
            <a:ext cx="8903259" cy="1169551"/>
          </a:xfrm>
          <a:prstGeom prst="rect">
            <a:avLst/>
          </a:prstGeom>
          <a:noFill/>
        </p:spPr>
        <p:txBody>
          <a:bodyPr wrap="square">
            <a:spAutoFit/>
          </a:bodyPr>
          <a:lstStyle/>
          <a:p>
            <a:pPr eaLnBrk="1" hangingPunct="1">
              <a:lnSpc>
                <a:spcPct val="150000"/>
              </a:lnSpc>
              <a:spcAft>
                <a:spcPts val="1200"/>
              </a:spcAft>
            </a:pPr>
            <a:r>
              <a:rPr lang="zh-CN" altLang="en-US" sz="2400" b="1">
                <a:solidFill>
                  <a:srgbClr val="C00000"/>
                </a:solidFill>
                <a:latin typeface="宋体" charset="-122"/>
                <a:ea typeface="宋体" charset="-122"/>
              </a:rPr>
              <a:t>二、非功能型光纤传感器  </a:t>
            </a:r>
            <a:endParaRPr lang="en-US" altLang="zh-CN" sz="2400" b="1">
              <a:solidFill>
                <a:srgbClr val="C00000"/>
              </a:solidFill>
              <a:latin typeface="宋体" charset="-122"/>
              <a:ea typeface="宋体" charset="-122"/>
            </a:endParaRPr>
          </a:p>
          <a:p>
            <a:pPr eaLnBrk="1" hangingPunct="1"/>
            <a:r>
              <a:rPr lang="en-US" altLang="zh-CN" sz="2400" b="1">
                <a:latin typeface="宋体" charset="-122"/>
                <a:ea typeface="宋体" charset="-122"/>
              </a:rPr>
              <a:t>2. </a:t>
            </a:r>
            <a:r>
              <a:rPr lang="zh-CN" altLang="en-US" sz="2400" b="1">
                <a:latin typeface="宋体" charset="-122"/>
                <a:ea typeface="宋体" charset="-122"/>
              </a:rPr>
              <a:t>光纤测温传感器              </a:t>
            </a:r>
            <a:r>
              <a:rPr lang="en-US" altLang="zh-CN" sz="2400" b="1">
                <a:latin typeface="宋体" charset="-122"/>
                <a:ea typeface="宋体" charset="-122"/>
              </a:rPr>
              <a:t>3. </a:t>
            </a:r>
            <a:r>
              <a:rPr lang="zh-CN" altLang="en-US" sz="2400" b="1">
                <a:latin typeface="宋体" charset="-122"/>
                <a:ea typeface="宋体" charset="-122"/>
              </a:rPr>
              <a:t>光频率调制型光纤传感器 </a:t>
            </a:r>
            <a:endParaRPr lang="zh-CN" altLang="en-US" sz="2000" b="1">
              <a:latin typeface="宋体" charset="-122"/>
              <a:ea typeface="宋体" charset="-122"/>
            </a:endParaRPr>
          </a:p>
        </p:txBody>
      </p:sp>
      <p:sp>
        <p:nvSpPr>
          <p:cNvPr id="15" name="TextBox 14">
            <a:extLst>
              <a:ext uri="{FF2B5EF4-FFF2-40B4-BE49-F238E27FC236}">
                <a16:creationId xmlns:a16="http://schemas.microsoft.com/office/drawing/2014/main" id="{E823C98A-4B6E-4E27-9F1C-30076C4E2F1E}"/>
              </a:ext>
            </a:extLst>
          </p:cNvPr>
          <p:cNvSpPr txBox="1"/>
          <p:nvPr/>
        </p:nvSpPr>
        <p:spPr>
          <a:xfrm>
            <a:off x="185082" y="2591634"/>
            <a:ext cx="4721146" cy="2674258"/>
          </a:xfrm>
          <a:prstGeom prst="rect">
            <a:avLst/>
          </a:prstGeom>
          <a:noFill/>
        </p:spPr>
        <p:txBody>
          <a:bodyPr wrap="square">
            <a:spAutoFit/>
          </a:bodyPr>
          <a:lstStyle/>
          <a:p>
            <a:pPr marL="285750" indent="-285750">
              <a:lnSpc>
                <a:spcPct val="150000"/>
              </a:lnSpc>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被测表面辐射能量随温度变化而变化</a:t>
            </a:r>
            <a:endParaRPr lang="en-US" altLang="zh-CN" b="1">
              <a:latin typeface="宋体" panose="02010600030101010101" pitchFamily="2" charset="-122"/>
              <a:ea typeface="宋体" panose="02010600030101010101" pitchFamily="2" charset="-122"/>
            </a:endParaRPr>
          </a:p>
          <a:p>
            <a:pPr marL="285750" indent="-285750">
              <a:lnSpc>
                <a:spcPct val="150000"/>
              </a:lnSpc>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利用光纤将辐射能量传输到热敏元件上，经转换再变成可供记录和显示的电信号。</a:t>
            </a:r>
          </a:p>
          <a:p>
            <a:pPr marL="285750" indent="-285750">
              <a:lnSpc>
                <a:spcPct val="150000"/>
              </a:lnSpc>
              <a:spcBef>
                <a:spcPts val="600"/>
              </a:spcBef>
              <a:buFont typeface="Wingdings" panose="05000000000000000000" pitchFamily="2" charset="2"/>
              <a:buChar char="§"/>
            </a:pPr>
            <a:r>
              <a:rPr lang="zh-CN" altLang="en-US" b="1">
                <a:latin typeface="宋体" panose="02010600030101010101" pitchFamily="2" charset="-122"/>
                <a:ea typeface="宋体" panose="02010600030101010101" pitchFamily="2" charset="-122"/>
              </a:rPr>
              <a:t>液体炸药爆炸温度的测量：采用比色测温法，就是用光导纤维来传输爆炸辐射能的。用该方法的独特之处是可以远距离测量。</a:t>
            </a:r>
            <a:endParaRPr lang="en-001" b="1">
              <a:latin typeface="宋体" panose="02010600030101010101" pitchFamily="2" charset="-122"/>
              <a:ea typeface="宋体" panose="02010600030101010101" pitchFamily="2" charset="-122"/>
            </a:endParaRPr>
          </a:p>
        </p:txBody>
      </p:sp>
      <p:sp>
        <p:nvSpPr>
          <p:cNvPr id="14" name="TextBox 13">
            <a:extLst>
              <a:ext uri="{FF2B5EF4-FFF2-40B4-BE49-F238E27FC236}">
                <a16:creationId xmlns:a16="http://schemas.microsoft.com/office/drawing/2014/main" id="{5BB4FFBF-5B55-4B2A-A25B-A25C42F98868}"/>
              </a:ext>
            </a:extLst>
          </p:cNvPr>
          <p:cNvSpPr txBox="1"/>
          <p:nvPr/>
        </p:nvSpPr>
        <p:spPr>
          <a:xfrm>
            <a:off x="5035651" y="2393857"/>
            <a:ext cx="4052690" cy="4336252"/>
          </a:xfrm>
          <a:prstGeom prst="rect">
            <a:avLst/>
          </a:prstGeom>
          <a:noFill/>
        </p:spPr>
        <p:txBody>
          <a:bodyPr wrap="square">
            <a:spAutoFit/>
          </a:bodyPr>
          <a:lstStyle>
            <a:defPPr>
              <a:defRPr lang="zh-CN"/>
            </a:defPPr>
            <a:lvl1pPr marL="285750" indent="-285750">
              <a:spcBef>
                <a:spcPts val="600"/>
              </a:spcBef>
              <a:buFont typeface="Wingdings" panose="05000000000000000000" pitchFamily="2" charset="2"/>
              <a:buChar char="§"/>
              <a:defRPr b="1">
                <a:latin typeface="宋体" panose="02010600030101010101" pitchFamily="2" charset="-122"/>
                <a:ea typeface="宋体" panose="02010600030101010101" pitchFamily="2" charset="-122"/>
              </a:defRPr>
            </a:lvl1pPr>
          </a:lstStyle>
          <a:p>
            <a:pPr>
              <a:lnSpc>
                <a:spcPct val="150000"/>
              </a:lnSpc>
            </a:pPr>
            <a:r>
              <a:rPr lang="zh-CN" altLang="en-US"/>
              <a:t>光频率调制是基于被测物体的入射光频率与其反射光的多普勒效应，所以主要用来测量运动物体的速度。</a:t>
            </a:r>
            <a:endParaRPr lang="en-US" altLang="zh-CN"/>
          </a:p>
          <a:p>
            <a:pPr>
              <a:lnSpc>
                <a:spcPct val="150000"/>
              </a:lnSpc>
            </a:pPr>
            <a:r>
              <a:rPr lang="zh-CN" altLang="en-US"/>
              <a:t>如果频率为</a:t>
            </a:r>
            <a:r>
              <a:rPr lang="en-US" altLang="zh-CN"/>
              <a:t>f1 </a:t>
            </a:r>
            <a:r>
              <a:rPr lang="zh-CN" altLang="en-US"/>
              <a:t>的光照射在相对速度</a:t>
            </a:r>
            <a:r>
              <a:rPr lang="en-US" altLang="zh-CN"/>
              <a:t>v </a:t>
            </a:r>
            <a:r>
              <a:rPr lang="zh-CN" altLang="en-US"/>
              <a:t>的运动物体上，则从该运动体反射的光频率发生变化</a:t>
            </a:r>
            <a:endParaRPr lang="en-US" altLang="zh-CN"/>
          </a:p>
          <a:p>
            <a:pPr>
              <a:lnSpc>
                <a:spcPct val="150000"/>
              </a:lnSpc>
            </a:pPr>
            <a:r>
              <a:rPr lang="zh-CN" altLang="en-US"/>
              <a:t>根据这一原理，可以制成光纤激光－多普勒测振仪，测量的灵敏度非常高。同时，还应用千测血液流量，制成光纤多普勒血液流量计。</a:t>
            </a:r>
          </a:p>
        </p:txBody>
      </p:sp>
    </p:spTree>
    <p:extLst>
      <p:ext uri="{BB962C8B-B14F-4D97-AF65-F5344CB8AC3E}">
        <p14:creationId xmlns:p14="http://schemas.microsoft.com/office/powerpoint/2010/main" val="32522730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 7.6 </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电荷耦合器件</a:t>
            </a:r>
          </a:p>
        </p:txBody>
      </p:sp>
      <p:sp>
        <p:nvSpPr>
          <p:cNvPr id="5" name="矩形 4"/>
          <p:cNvSpPr/>
          <p:nvPr/>
        </p:nvSpPr>
        <p:spPr>
          <a:xfrm>
            <a:off x="1511606" y="2119022"/>
            <a:ext cx="6708668" cy="2308322"/>
          </a:xfrm>
          <a:prstGeom prst="rect">
            <a:avLst/>
          </a:prstGeom>
        </p:spPr>
        <p:txBody>
          <a:bodyPr wrap="square" lIns="91438" tIns="45719" rIns="91438" bIns="45719">
            <a:spAutoFit/>
          </a:bodyPr>
          <a:lstStyle/>
          <a:p>
            <a:pPr indent="630238">
              <a:lnSpc>
                <a:spcPct val="150000"/>
              </a:lnSpc>
              <a:spcBef>
                <a:spcPts val="670"/>
              </a:spcBef>
            </a:pPr>
            <a:r>
              <a:rPr lang="zh-CN" altLang="en-US" sz="2400" b="1" dirty="0">
                <a:latin typeface="宋体" pitchFamily="2" charset="-122"/>
                <a:ea typeface="宋体" pitchFamily="2" charset="-122"/>
                <a:cs typeface="Arial" panose="020B0604020202020204" pitchFamily="34" charset="0"/>
                <a:sym typeface="+mn-ea"/>
              </a:rPr>
              <a:t>电荷耦合器件是典型的固体图像传感器，它是</a:t>
            </a:r>
            <a:r>
              <a:rPr lang="en-US" altLang="zh-CN" sz="2400" b="1" dirty="0">
                <a:latin typeface="宋体" pitchFamily="2" charset="-122"/>
                <a:ea typeface="宋体" pitchFamily="2" charset="-122"/>
                <a:cs typeface="Arial" panose="020B0604020202020204" pitchFamily="34" charset="0"/>
                <a:sym typeface="+mn-ea"/>
              </a:rPr>
              <a:t>1970</a:t>
            </a:r>
            <a:r>
              <a:rPr lang="zh-CN" altLang="en-US" sz="2400" b="1" dirty="0">
                <a:latin typeface="宋体" pitchFamily="2" charset="-122"/>
                <a:ea typeface="宋体" pitchFamily="2" charset="-122"/>
                <a:cs typeface="Arial" panose="020B0604020202020204" pitchFamily="34" charset="0"/>
                <a:sym typeface="+mn-ea"/>
              </a:rPr>
              <a:t>年贝尔实验室的</a:t>
            </a:r>
            <a:r>
              <a:rPr lang="en-US" altLang="zh-CN" sz="2400" b="1" dirty="0" err="1">
                <a:latin typeface="宋体" pitchFamily="2" charset="-122"/>
                <a:ea typeface="宋体" pitchFamily="2" charset="-122"/>
                <a:cs typeface="Arial" panose="020B0604020202020204" pitchFamily="34" charset="0"/>
                <a:sym typeface="+mn-ea"/>
              </a:rPr>
              <a:t>W.S.Boyle</a:t>
            </a:r>
            <a:r>
              <a:rPr lang="zh-CN" altLang="en-US" sz="2400" b="1" dirty="0">
                <a:latin typeface="宋体" pitchFamily="2" charset="-122"/>
                <a:ea typeface="宋体" pitchFamily="2" charset="-122"/>
                <a:cs typeface="Arial" panose="020B0604020202020204" pitchFamily="34" charset="0"/>
                <a:sym typeface="+mn-ea"/>
              </a:rPr>
              <a:t>和</a:t>
            </a:r>
            <a:r>
              <a:rPr lang="en-US" altLang="zh-CN" sz="2400" b="1" dirty="0" err="1">
                <a:latin typeface="宋体" pitchFamily="2" charset="-122"/>
                <a:ea typeface="宋体" pitchFamily="2" charset="-122"/>
                <a:cs typeface="Arial" panose="020B0604020202020204" pitchFamily="34" charset="0"/>
                <a:sym typeface="+mn-ea"/>
              </a:rPr>
              <a:t>G.E.Smith</a:t>
            </a:r>
            <a:r>
              <a:rPr lang="zh-CN" altLang="en-US" sz="2400" b="1" dirty="0">
                <a:latin typeface="宋体" pitchFamily="2" charset="-122"/>
                <a:ea typeface="宋体" pitchFamily="2" charset="-122"/>
                <a:cs typeface="Arial" panose="020B0604020202020204" pitchFamily="34" charset="0"/>
                <a:sym typeface="+mn-ea"/>
              </a:rPr>
              <a:t>发明的，它与光电二极管阵列集成为一体，构成具有自扫描功能的</a:t>
            </a:r>
            <a:r>
              <a:rPr lang="en-US" altLang="zh-CN" sz="2400" b="1" dirty="0">
                <a:latin typeface="宋体" pitchFamily="2" charset="-122"/>
                <a:ea typeface="宋体" pitchFamily="2" charset="-122"/>
                <a:cs typeface="Arial" panose="020B0604020202020204" pitchFamily="34" charset="0"/>
                <a:sym typeface="+mn-ea"/>
              </a:rPr>
              <a:t>CCD</a:t>
            </a:r>
            <a:r>
              <a:rPr lang="zh-CN" altLang="en-US" sz="2400" b="1" dirty="0">
                <a:latin typeface="宋体" pitchFamily="2" charset="-122"/>
                <a:ea typeface="宋体" pitchFamily="2" charset="-122"/>
                <a:cs typeface="Arial" panose="020B0604020202020204" pitchFamily="34" charset="0"/>
                <a:sym typeface="+mn-ea"/>
              </a:rPr>
              <a:t>图像传感器。</a:t>
            </a:r>
          </a:p>
        </p:txBody>
      </p:sp>
      <p:sp>
        <p:nvSpPr>
          <p:cNvPr id="22" name="Rectangle 12"/>
          <p:cNvSpPr>
            <a:spLocks noRot="1" noChangeArrowheads="1"/>
          </p:cNvSpPr>
          <p:nvPr/>
        </p:nvSpPr>
        <p:spPr bwMode="auto">
          <a:xfrm>
            <a:off x="3513940" y="4056901"/>
            <a:ext cx="3519725" cy="2193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b="1">
                <a:solidFill>
                  <a:schemeClr val="tx2"/>
                </a:solidFill>
                <a:latin typeface="Arial" panose="020B0604020202020204" pitchFamily="34" charset="0"/>
                <a:ea typeface="宋体" panose="02010600030101010101" pitchFamily="2" charset="-122"/>
              </a:defRPr>
            </a:lvl1pPr>
            <a:lvl2pPr marL="742950" indent="-285750" eaLnBrk="0" hangingPunct="0">
              <a:defRPr sz="3200" b="1">
                <a:solidFill>
                  <a:schemeClr val="tx2"/>
                </a:solidFill>
                <a:latin typeface="Arial" panose="020B0604020202020204" pitchFamily="34" charset="0"/>
                <a:ea typeface="宋体" panose="02010600030101010101" pitchFamily="2" charset="-122"/>
              </a:defRPr>
            </a:lvl2pPr>
            <a:lvl3pPr marL="1143000" indent="-228600" eaLnBrk="0" hangingPunct="0">
              <a:defRPr sz="3200" b="1">
                <a:solidFill>
                  <a:schemeClr val="tx2"/>
                </a:solidFill>
                <a:latin typeface="Arial" panose="020B0604020202020204" pitchFamily="34" charset="0"/>
                <a:ea typeface="宋体" panose="02010600030101010101" pitchFamily="2" charset="-122"/>
              </a:defRPr>
            </a:lvl3pPr>
            <a:lvl4pPr marL="1600200" indent="-228600" eaLnBrk="0" hangingPunct="0">
              <a:defRPr sz="3200" b="1">
                <a:solidFill>
                  <a:schemeClr val="tx2"/>
                </a:solidFill>
                <a:latin typeface="Arial" panose="020B0604020202020204" pitchFamily="34" charset="0"/>
                <a:ea typeface="宋体" panose="02010600030101010101" pitchFamily="2" charset="-122"/>
              </a:defRPr>
            </a:lvl4pPr>
            <a:lvl5pPr marL="2057400" indent="-228600" eaLnBrk="0" hangingPunct="0">
              <a:defRPr sz="3200" b="1">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3200" b="1">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3200" b="1">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3200" b="1">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3200" b="1">
                <a:solidFill>
                  <a:schemeClr val="tx2"/>
                </a:solidFill>
                <a:latin typeface="Arial" panose="020B0604020202020204" pitchFamily="34" charset="0"/>
                <a:ea typeface="宋体" panose="02010600030101010101" pitchFamily="2" charset="-122"/>
              </a:defRPr>
            </a:lvl9pPr>
          </a:lstStyle>
          <a:p>
            <a:pPr marL="0" indent="0" eaLnBrk="1" hangingPunct="1">
              <a:lnSpc>
                <a:spcPct val="300000"/>
              </a:lnSpc>
            </a:pPr>
            <a:r>
              <a:rPr lang="en-US" altLang="zh-CN" sz="2400" dirty="0">
                <a:latin typeface="宋体" panose="02010600030101010101" pitchFamily="2" charset="-122"/>
                <a:hlinkClick r:id="rId3" action="ppaction://hlinksldjump"/>
              </a:rPr>
              <a:t>CCD</a:t>
            </a:r>
            <a:r>
              <a:rPr lang="zh-CN" altLang="en-US" sz="2400" dirty="0">
                <a:latin typeface="宋体" panose="02010600030101010101" pitchFamily="2" charset="-122"/>
                <a:hlinkClick r:id="rId3" action="ppaction://hlinksldjump"/>
              </a:rPr>
              <a:t>的工作原理</a:t>
            </a:r>
            <a:endParaRPr lang="zh-CN" altLang="en-US" sz="2400" dirty="0">
              <a:latin typeface="宋体" panose="02010600030101010101" pitchFamily="2" charset="-122"/>
              <a:hlinkClick r:id="rId4" action="ppaction://hlinksldjump"/>
            </a:endParaRPr>
          </a:p>
          <a:p>
            <a:pPr marL="0" indent="0" eaLnBrk="1" hangingPunct="1">
              <a:lnSpc>
                <a:spcPct val="300000"/>
              </a:lnSpc>
            </a:pPr>
            <a:r>
              <a:rPr lang="en-US" altLang="zh-CN" sz="2400" dirty="0">
                <a:latin typeface="宋体" panose="02010600030101010101" pitchFamily="2" charset="-122"/>
                <a:hlinkClick r:id="rId5" action="ppaction://hlinksldjump"/>
              </a:rPr>
              <a:t>CCD</a:t>
            </a:r>
            <a:r>
              <a:rPr lang="zh-CN" altLang="en-US" sz="2400" dirty="0">
                <a:latin typeface="宋体" panose="02010600030101010101" pitchFamily="2" charset="-122"/>
                <a:hlinkClick r:id="rId5" action="ppaction://hlinksldjump"/>
              </a:rPr>
              <a:t>应用举例</a:t>
            </a:r>
            <a:endParaRPr lang="zh-CN" altLang="en-US" sz="2400" dirty="0">
              <a:latin typeface="宋体" panose="02010600030101010101" pitchFamily="2" charset="-122"/>
            </a:endParaRPr>
          </a:p>
        </p:txBody>
      </p:sp>
      <p:sp>
        <p:nvSpPr>
          <p:cNvPr id="30" name="文本框 3"/>
          <p:cNvSpPr txBox="1"/>
          <p:nvPr/>
        </p:nvSpPr>
        <p:spPr>
          <a:xfrm>
            <a:off x="1571710" y="1409205"/>
            <a:ext cx="5830576" cy="646331"/>
          </a:xfrm>
          <a:prstGeom prst="rect">
            <a:avLst/>
          </a:prstGeom>
          <a:noFill/>
        </p:spPr>
        <p:txBody>
          <a:bodyPr wrap="square" rtlCol="0">
            <a:spAutoFit/>
          </a:bodyPr>
          <a:lstStyle/>
          <a:p>
            <a:pPr marL="987425" indent="-987425">
              <a:lnSpc>
                <a:spcPct val="150000"/>
              </a:lnSpc>
            </a:pPr>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Charge Coupled Device(CCD)</a:t>
            </a:r>
            <a:endParaRPr lang="zh-CN" altLang="en-US" sz="2400" b="1" dirty="0">
              <a:solidFill>
                <a:srgbClr val="C00000"/>
              </a:solidFill>
              <a:latin typeface="宋体" panose="02010600030101010101" pitchFamily="2" charset="-122"/>
              <a:ea typeface="宋体" panose="02010600030101010101" pitchFamily="2" charset="-122"/>
            </a:endParaRPr>
          </a:p>
        </p:txBody>
      </p:sp>
      <p:sp>
        <p:nvSpPr>
          <p:cNvPr id="20" name="圆角矩形 72">
            <a:extLst>
              <a:ext uri="{FF2B5EF4-FFF2-40B4-BE49-F238E27FC236}">
                <a16:creationId xmlns:a16="http://schemas.microsoft.com/office/drawing/2014/main" id="{343D7C8A-72E9-4E11-82F9-04D1F37F1B07}"/>
              </a:ext>
            </a:extLst>
          </p:cNvPr>
          <p:cNvSpPr/>
          <p:nvPr/>
        </p:nvSpPr>
        <p:spPr>
          <a:xfrm rot="10800000" flipV="1">
            <a:off x="2306021" y="4612610"/>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7.6.1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1" name="圆角矩形 73">
            <a:extLst>
              <a:ext uri="{FF2B5EF4-FFF2-40B4-BE49-F238E27FC236}">
                <a16:creationId xmlns:a16="http://schemas.microsoft.com/office/drawing/2014/main" id="{7997A031-0667-4F3B-9AA0-BAB02B443096}"/>
              </a:ext>
            </a:extLst>
          </p:cNvPr>
          <p:cNvSpPr/>
          <p:nvPr/>
        </p:nvSpPr>
        <p:spPr>
          <a:xfrm rot="10800000" flipV="1">
            <a:off x="2306017" y="5646734"/>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7.6.2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D6FB4F0F-45C6-4B0E-87C6-16A7DEE34717}"/>
              </a:ext>
            </a:extLst>
          </p:cNvPr>
          <p:cNvSpPr>
            <a:spLocks noGrp="1"/>
          </p:cNvSpPr>
          <p:nvPr>
            <p:ph type="sldNum" sz="quarter" idx="12"/>
          </p:nvPr>
        </p:nvSpPr>
        <p:spPr/>
        <p:txBody>
          <a:bodyPr/>
          <a:lstStyle/>
          <a:p>
            <a:fld id="{B53602B4-F12B-41CD-B648-531F86B2CC91}" type="slidenum">
              <a:rPr lang="zh-CN" altLang="en-US" smtClean="0"/>
              <a:t>56</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Text Box 4"/>
          <p:cNvSpPr txBox="1">
            <a:spLocks noChangeArrowheads="1"/>
          </p:cNvSpPr>
          <p:nvPr/>
        </p:nvSpPr>
        <p:spPr bwMode="auto">
          <a:xfrm>
            <a:off x="1006737" y="1416290"/>
            <a:ext cx="7501157" cy="3297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lnSpc>
                <a:spcPct val="145000"/>
              </a:lnSpc>
              <a:spcBef>
                <a:spcPct val="10000"/>
              </a:spcBef>
            </a:pPr>
            <a:r>
              <a:rPr lang="zh-CN" altLang="en-US" dirty="0"/>
              <a:t>工作原理：</a:t>
            </a:r>
            <a:endParaRPr lang="en-US" altLang="zh-CN" dirty="0"/>
          </a:p>
          <a:p>
            <a:pPr eaLnBrk="1" hangingPunct="1">
              <a:lnSpc>
                <a:spcPct val="145000"/>
              </a:lnSpc>
              <a:spcBef>
                <a:spcPct val="10000"/>
              </a:spcBef>
            </a:pPr>
            <a:r>
              <a:rPr lang="zh-CN" altLang="en-US" dirty="0"/>
              <a:t>    利用光电器件的光/电转换功能，将其感光面上的光像转换为与光像成相应比例关系的电信号</a:t>
            </a:r>
            <a:r>
              <a:rPr lang="zh-CN" altLang="en-US" dirty="0">
                <a:latin typeface="Arial" charset="0"/>
              </a:rPr>
              <a:t>“</a:t>
            </a:r>
            <a:r>
              <a:rPr lang="zh-CN" altLang="en-US" dirty="0"/>
              <a:t>图像</a:t>
            </a:r>
            <a:r>
              <a:rPr lang="zh-CN" altLang="en-US" dirty="0">
                <a:latin typeface="Arial" charset="0"/>
              </a:rPr>
              <a:t>”</a:t>
            </a:r>
            <a:r>
              <a:rPr lang="zh-CN" altLang="en-US" dirty="0"/>
              <a:t>的一种功能器</a:t>
            </a:r>
            <a:r>
              <a:rPr lang="zh-CN" altLang="en-US"/>
              <a:t>件。</a:t>
            </a:r>
            <a:endParaRPr lang="en-US" altLang="zh-CN"/>
          </a:p>
          <a:p>
            <a:pPr eaLnBrk="1" hangingPunct="1">
              <a:lnSpc>
                <a:spcPct val="145000"/>
              </a:lnSpc>
              <a:spcBef>
                <a:spcPct val="10000"/>
              </a:spcBef>
            </a:pPr>
            <a:r>
              <a:rPr lang="en-US" altLang="zh-CN"/>
              <a:t>    </a:t>
            </a:r>
            <a:r>
              <a:rPr lang="zh-CN" altLang="en-US"/>
              <a:t>在</a:t>
            </a:r>
            <a:r>
              <a:rPr lang="zh-CN" altLang="en-US" dirty="0"/>
              <a:t>同一半导体衬底上布设的若干光敏单元与移位寄存器构成。</a:t>
            </a:r>
          </a:p>
        </p:txBody>
      </p:sp>
      <p:sp>
        <p:nvSpPr>
          <p:cNvPr id="2" name="矩形 1"/>
          <p:cNvSpPr/>
          <p:nvPr/>
        </p:nvSpPr>
        <p:spPr>
          <a:xfrm>
            <a:off x="1304360" y="5181919"/>
            <a:ext cx="6703499" cy="1200329"/>
          </a:xfrm>
          <a:prstGeom prst="rect">
            <a:avLst/>
          </a:prstGeom>
        </p:spPr>
        <p:txBody>
          <a:bodyPr wrap="square">
            <a:spAutoFit/>
          </a:bodyPr>
          <a:lstStyle/>
          <a:p>
            <a:pPr indent="623888">
              <a:lnSpc>
                <a:spcPct val="150000"/>
              </a:lnSpc>
              <a:spcBef>
                <a:spcPct val="20000"/>
              </a:spcBef>
            </a:pPr>
            <a:r>
              <a:rPr lang="zh-CN" altLang="en-US" sz="2400" b="1" dirty="0">
                <a:latin typeface="宋体" panose="02010600030101010101" pitchFamily="2" charset="-122"/>
                <a:ea typeface="宋体" panose="02010600030101010101" pitchFamily="2" charset="-122"/>
              </a:rPr>
              <a:t>光敏单元简称“</a:t>
            </a:r>
            <a:r>
              <a:rPr lang="zh-CN" altLang="en-US" sz="2400" b="1" dirty="0">
                <a:solidFill>
                  <a:srgbClr val="0070C0"/>
                </a:solidFill>
                <a:latin typeface="宋体" panose="02010600030101010101" pitchFamily="2" charset="-122"/>
                <a:ea typeface="宋体" panose="02010600030101010101" pitchFamily="2" charset="-122"/>
              </a:rPr>
              <a:t>像素</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pixel)</a:t>
            </a:r>
            <a:r>
              <a:rPr lang="zh-CN" altLang="en-US" sz="2400" b="1" dirty="0">
                <a:latin typeface="宋体" panose="02010600030101010101" pitchFamily="2" charset="-122"/>
                <a:ea typeface="宋体" panose="02010600030101010101" pitchFamily="2" charset="-122"/>
              </a:rPr>
              <a:t>或“像点”，本身在空间上、电气上彼此独立。   </a:t>
            </a:r>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7.6.1</a:t>
            </a:r>
          </a:p>
        </p:txBody>
      </p:sp>
      <p:sp>
        <p:nvSpPr>
          <p:cNvPr id="25" name="矩形 24"/>
          <p:cNvSpPr/>
          <p:nvPr/>
        </p:nvSpPr>
        <p:spPr>
          <a:xfrm>
            <a:off x="1960201" y="360001"/>
            <a:ext cx="3031591" cy="615549"/>
          </a:xfrm>
          <a:prstGeom prst="rect">
            <a:avLst/>
          </a:prstGeom>
        </p:spPr>
        <p:txBody>
          <a:bodyPr wrap="none" lIns="91436" tIns="45718" rIns="91436" bIns="45718">
            <a:spAutoFit/>
          </a:bodyPr>
          <a:lstStyle/>
          <a:p>
            <a:r>
              <a:rPr lang="en-US" altLang="zh-CN" sz="3400" b="1" dirty="0">
                <a:solidFill>
                  <a:schemeClr val="bg1"/>
                </a:solidFill>
                <a:latin typeface="宋体" panose="02010600030101010101" pitchFamily="2" charset="-122"/>
                <a:ea typeface="宋体" panose="02010600030101010101" pitchFamily="2" charset="-122"/>
                <a:sym typeface="+mn-ea"/>
              </a:rPr>
              <a:t>CCD</a:t>
            </a:r>
            <a:r>
              <a:rPr lang="zh-CN" altLang="en-US" sz="3400" b="1" dirty="0">
                <a:solidFill>
                  <a:schemeClr val="bg1"/>
                </a:solidFill>
                <a:latin typeface="宋体" panose="02010600030101010101" pitchFamily="2" charset="-122"/>
                <a:ea typeface="宋体" panose="02010600030101010101" pitchFamily="2" charset="-122"/>
                <a:sym typeface="+mn-ea"/>
              </a:rPr>
              <a:t>的工作原理</a:t>
            </a:r>
          </a:p>
        </p:txBody>
      </p:sp>
      <p:sp>
        <p:nvSpPr>
          <p:cNvPr id="3" name="Slide Number Placeholder 2">
            <a:extLst>
              <a:ext uri="{FF2B5EF4-FFF2-40B4-BE49-F238E27FC236}">
                <a16:creationId xmlns:a16="http://schemas.microsoft.com/office/drawing/2014/main" id="{57458AE0-3612-43A6-A356-CD99EB7357CA}"/>
              </a:ext>
            </a:extLst>
          </p:cNvPr>
          <p:cNvSpPr>
            <a:spLocks noGrp="1"/>
          </p:cNvSpPr>
          <p:nvPr>
            <p:ph type="sldNum" sz="quarter" idx="12"/>
          </p:nvPr>
        </p:nvSpPr>
        <p:spPr/>
        <p:txBody>
          <a:bodyPr/>
          <a:lstStyle/>
          <a:p>
            <a:fld id="{B53602B4-F12B-41CD-B648-531F86B2CC91}" type="slidenum">
              <a:rPr lang="zh-CN" altLang="en-US" smtClean="0"/>
              <a:t>57</a:t>
            </a:fld>
            <a:endParaRPr lang="zh-CN" altLang="en-US"/>
          </a:p>
        </p:txBody>
      </p:sp>
    </p:spTree>
    <p:extLst>
      <p:ext uri="{BB962C8B-B14F-4D97-AF65-F5344CB8AC3E}">
        <p14:creationId xmlns:p14="http://schemas.microsoft.com/office/powerpoint/2010/main" val="497959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1" name="Text Box 2"/>
          <p:cNvSpPr txBox="1">
            <a:spLocks noChangeArrowheads="1"/>
          </p:cNvSpPr>
          <p:nvPr/>
        </p:nvSpPr>
        <p:spPr bwMode="auto">
          <a:xfrm>
            <a:off x="1001864" y="1757360"/>
            <a:ext cx="7143714" cy="2221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indent="623888" eaLnBrk="1" hangingPunct="1">
              <a:lnSpc>
                <a:spcPct val="150000"/>
              </a:lnSpc>
              <a:spcBef>
                <a:spcPct val="10000"/>
              </a:spcBef>
            </a:pPr>
            <a:r>
              <a:rPr lang="en-US" altLang="zh-CN" dirty="0"/>
              <a:t>CCD</a:t>
            </a:r>
            <a:r>
              <a:rPr lang="zh-CN" altLang="en-US" dirty="0"/>
              <a:t>将光强的空间分布转换为与光强成比例的，大小不等的电荷包（由高于禁带宽度的光子建立）空间分布，然后利用移位寄存器的功能将电荷包在时钟脉冲控制下实现读取与输出。 </a:t>
            </a:r>
            <a:endParaRPr lang="en-US" altLang="zh-CN" dirty="0"/>
          </a:p>
        </p:txBody>
      </p:sp>
      <p:sp>
        <p:nvSpPr>
          <p:cNvPr id="22" name="圆角矩形 21"/>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7.6.1</a:t>
            </a:r>
          </a:p>
        </p:txBody>
      </p:sp>
      <p:sp>
        <p:nvSpPr>
          <p:cNvPr id="24" name="矩形 23"/>
          <p:cNvSpPr/>
          <p:nvPr/>
        </p:nvSpPr>
        <p:spPr>
          <a:xfrm>
            <a:off x="1960201" y="360001"/>
            <a:ext cx="3031591" cy="615549"/>
          </a:xfrm>
          <a:prstGeom prst="rect">
            <a:avLst/>
          </a:prstGeom>
        </p:spPr>
        <p:txBody>
          <a:bodyPr wrap="none" lIns="91436" tIns="45718" rIns="91436" bIns="45718">
            <a:spAutoFit/>
          </a:bodyPr>
          <a:lstStyle/>
          <a:p>
            <a:r>
              <a:rPr lang="en-US" altLang="zh-CN" sz="3400" b="1" dirty="0">
                <a:solidFill>
                  <a:schemeClr val="bg1"/>
                </a:solidFill>
                <a:latin typeface="宋体" panose="02010600030101010101" pitchFamily="2" charset="-122"/>
                <a:ea typeface="宋体" panose="02010600030101010101" pitchFamily="2" charset="-122"/>
                <a:sym typeface="+mn-ea"/>
              </a:rPr>
              <a:t>CCD</a:t>
            </a:r>
            <a:r>
              <a:rPr lang="zh-CN" altLang="en-US" sz="3400" b="1" dirty="0">
                <a:solidFill>
                  <a:schemeClr val="bg1"/>
                </a:solidFill>
                <a:latin typeface="宋体" panose="02010600030101010101" pitchFamily="2" charset="-122"/>
                <a:ea typeface="宋体" panose="02010600030101010101" pitchFamily="2" charset="-122"/>
                <a:sym typeface="+mn-ea"/>
              </a:rPr>
              <a:t>的工作原理</a:t>
            </a:r>
          </a:p>
        </p:txBody>
      </p:sp>
      <p:sp>
        <p:nvSpPr>
          <p:cNvPr id="2" name="Slide Number Placeholder 1">
            <a:extLst>
              <a:ext uri="{FF2B5EF4-FFF2-40B4-BE49-F238E27FC236}">
                <a16:creationId xmlns:a16="http://schemas.microsoft.com/office/drawing/2014/main" id="{5B0B3F4C-B6DA-4013-B02E-769FCA867992}"/>
              </a:ext>
            </a:extLst>
          </p:cNvPr>
          <p:cNvSpPr>
            <a:spLocks noGrp="1"/>
          </p:cNvSpPr>
          <p:nvPr>
            <p:ph type="sldNum" sz="quarter" idx="12"/>
          </p:nvPr>
        </p:nvSpPr>
        <p:spPr/>
        <p:txBody>
          <a:bodyPr/>
          <a:lstStyle/>
          <a:p>
            <a:fld id="{B53602B4-F12B-41CD-B648-531F86B2CC91}" type="slidenum">
              <a:rPr lang="zh-CN" altLang="en-US" smtClean="0"/>
              <a:t>58</a:t>
            </a:fld>
            <a:endParaRPr lang="zh-CN" altLang="en-US"/>
          </a:p>
        </p:txBody>
      </p:sp>
      <p:pic>
        <p:nvPicPr>
          <p:cNvPr id="3" name="CCD working principle">
            <a:hlinkClick r:id="" action="ppaction://media"/>
            <a:extLst>
              <a:ext uri="{FF2B5EF4-FFF2-40B4-BE49-F238E27FC236}">
                <a16:creationId xmlns:a16="http://schemas.microsoft.com/office/drawing/2014/main" id="{01A589C9-CC31-D2FF-0F68-1BBDDB592A7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94176" y="4202348"/>
            <a:ext cx="3755648" cy="2046347"/>
          </a:xfrm>
          <a:prstGeom prst="rect">
            <a:avLst/>
          </a:prstGeom>
        </p:spPr>
      </p:pic>
    </p:spTree>
    <p:extLst>
      <p:ext uri="{BB962C8B-B14F-4D97-AF65-F5344CB8AC3E}">
        <p14:creationId xmlns:p14="http://schemas.microsoft.com/office/powerpoint/2010/main" val="85540799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6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1" name="Text Box 2"/>
          <p:cNvSpPr txBox="1">
            <a:spLocks noChangeArrowheads="1"/>
          </p:cNvSpPr>
          <p:nvPr/>
        </p:nvSpPr>
        <p:spPr bwMode="auto">
          <a:xfrm>
            <a:off x="1304360" y="3447495"/>
            <a:ext cx="7123210"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indent="623888" eaLnBrk="1" hangingPunct="1">
              <a:lnSpc>
                <a:spcPct val="150000"/>
              </a:lnSpc>
              <a:spcBef>
                <a:spcPct val="10000"/>
              </a:spcBef>
            </a:pPr>
            <a:r>
              <a:rPr lang="zh-CN" altLang="en-US" dirty="0"/>
              <a:t>光学图像</a:t>
            </a:r>
            <a:r>
              <a:rPr lang="zh-CN" altLang="en-US" dirty="0">
                <a:solidFill>
                  <a:srgbClr val="FF0000"/>
                </a:solidFill>
              </a:rPr>
              <a:t>→</a:t>
            </a:r>
            <a:r>
              <a:rPr lang="zh-CN" altLang="en-US" dirty="0"/>
              <a:t>电信号</a:t>
            </a:r>
            <a:r>
              <a:rPr lang="zh-CN" altLang="en-US" dirty="0">
                <a:latin typeface="Arial" charset="0"/>
              </a:rPr>
              <a:t>“</a:t>
            </a:r>
            <a:r>
              <a:rPr lang="zh-CN" altLang="en-US" dirty="0"/>
              <a:t>图像</a:t>
            </a:r>
            <a:r>
              <a:rPr lang="zh-CN" altLang="en-US" dirty="0">
                <a:latin typeface="Arial" charset="0"/>
              </a:rPr>
              <a:t>”</a:t>
            </a:r>
            <a:r>
              <a:rPr lang="zh-CN" altLang="en-US" dirty="0">
                <a:solidFill>
                  <a:srgbClr val="FF0000"/>
                </a:solidFill>
              </a:rPr>
              <a:t>→</a:t>
            </a:r>
            <a:r>
              <a:rPr lang="zh-CN" altLang="en-US" dirty="0"/>
              <a:t>图像数值化处理（</a:t>
            </a:r>
            <a:r>
              <a:rPr lang="en-US" altLang="zh-CN" dirty="0">
                <a:latin typeface="Times New Roman" pitchFamily="18" charset="0"/>
              </a:rPr>
              <a:t>image digitizing</a:t>
            </a:r>
            <a:r>
              <a:rPr lang="en-US" altLang="zh-CN" dirty="0"/>
              <a:t>）</a:t>
            </a:r>
            <a:r>
              <a:rPr lang="zh-CN" altLang="en-US" dirty="0">
                <a:solidFill>
                  <a:srgbClr val="FF0000"/>
                </a:solidFill>
              </a:rPr>
              <a:t>→</a:t>
            </a:r>
            <a:r>
              <a:rPr lang="zh-CN" altLang="en-US" dirty="0"/>
              <a:t>图像处理</a:t>
            </a:r>
            <a:r>
              <a:rPr lang="en-US" altLang="zh-CN" dirty="0"/>
              <a:t> 。</a:t>
            </a:r>
            <a:endParaRPr lang="zh-CN" altLang="en-US" dirty="0"/>
          </a:p>
        </p:txBody>
      </p:sp>
      <p:sp>
        <p:nvSpPr>
          <p:cNvPr id="2" name="矩形 1"/>
          <p:cNvSpPr/>
          <p:nvPr/>
        </p:nvSpPr>
        <p:spPr>
          <a:xfrm>
            <a:off x="1495103" y="1575982"/>
            <a:ext cx="6118138" cy="1113766"/>
          </a:xfrm>
          <a:prstGeom prst="rect">
            <a:avLst/>
          </a:prstGeom>
        </p:spPr>
        <p:txBody>
          <a:bodyPr wrap="square">
            <a:spAutoFit/>
          </a:bodyPr>
          <a:lstStyle/>
          <a:p>
            <a:pPr indent="623888">
              <a:lnSpc>
                <a:spcPct val="150000"/>
              </a:lnSpc>
              <a:spcBef>
                <a:spcPct val="20000"/>
              </a:spcBef>
            </a:pPr>
            <a:r>
              <a:rPr lang="zh-CN" altLang="en-US" sz="2400" b="1" dirty="0">
                <a:latin typeface="宋体" panose="02010600030101010101" pitchFamily="2" charset="-122"/>
                <a:ea typeface="宋体" panose="02010600030101010101" pitchFamily="2" charset="-122"/>
              </a:rPr>
              <a:t>完整的图像传感器由物镜、敏感器件、驱动电路和信息处理电路组成。</a:t>
            </a:r>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7.6.2</a:t>
            </a:r>
          </a:p>
        </p:txBody>
      </p:sp>
      <p:sp>
        <p:nvSpPr>
          <p:cNvPr id="25" name="矩形 24"/>
          <p:cNvSpPr/>
          <p:nvPr/>
        </p:nvSpPr>
        <p:spPr>
          <a:xfrm>
            <a:off x="1960200" y="360001"/>
            <a:ext cx="2593972" cy="615549"/>
          </a:xfrm>
          <a:prstGeom prst="rect">
            <a:avLst/>
          </a:prstGeom>
        </p:spPr>
        <p:txBody>
          <a:bodyPr wrap="none" lIns="91436" tIns="45718" rIns="91436" bIns="45718">
            <a:spAutoFit/>
          </a:bodyPr>
          <a:lstStyle/>
          <a:p>
            <a:r>
              <a:rPr lang="en-US" altLang="zh-CN" sz="3400" b="1" dirty="0">
                <a:solidFill>
                  <a:schemeClr val="bg1"/>
                </a:solidFill>
                <a:latin typeface="宋体" panose="02010600030101010101" pitchFamily="2" charset="-122"/>
                <a:ea typeface="宋体" panose="02010600030101010101" pitchFamily="2" charset="-122"/>
                <a:sym typeface="+mn-ea"/>
              </a:rPr>
              <a:t>CCD</a:t>
            </a:r>
            <a:r>
              <a:rPr lang="zh-CN" altLang="en-US" sz="3400" b="1" dirty="0">
                <a:solidFill>
                  <a:schemeClr val="bg1"/>
                </a:solidFill>
                <a:latin typeface="宋体" panose="02010600030101010101" pitchFamily="2" charset="-122"/>
                <a:ea typeface="宋体" panose="02010600030101010101" pitchFamily="2" charset="-122"/>
                <a:sym typeface="+mn-ea"/>
              </a:rPr>
              <a:t>应用举例</a:t>
            </a:r>
          </a:p>
        </p:txBody>
      </p:sp>
      <p:sp>
        <p:nvSpPr>
          <p:cNvPr id="3" name="Slide Number Placeholder 2">
            <a:extLst>
              <a:ext uri="{FF2B5EF4-FFF2-40B4-BE49-F238E27FC236}">
                <a16:creationId xmlns:a16="http://schemas.microsoft.com/office/drawing/2014/main" id="{592A2E37-6E9D-436C-BB52-0525336051AC}"/>
              </a:ext>
            </a:extLst>
          </p:cNvPr>
          <p:cNvSpPr>
            <a:spLocks noGrp="1"/>
          </p:cNvSpPr>
          <p:nvPr>
            <p:ph type="sldNum" sz="quarter" idx="12"/>
          </p:nvPr>
        </p:nvSpPr>
        <p:spPr/>
        <p:txBody>
          <a:bodyPr/>
          <a:lstStyle/>
          <a:p>
            <a:fld id="{B53602B4-F12B-41CD-B648-531F86B2CC91}" type="slidenum">
              <a:rPr lang="zh-CN" altLang="en-US" smtClean="0"/>
              <a:t>59</a:t>
            </a:fld>
            <a:endParaRPr lang="zh-CN" altLang="en-US"/>
          </a:p>
        </p:txBody>
      </p:sp>
    </p:spTree>
    <p:extLst>
      <p:ext uri="{BB962C8B-B14F-4D97-AF65-F5344CB8AC3E}">
        <p14:creationId xmlns:p14="http://schemas.microsoft.com/office/powerpoint/2010/main" val="33923563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7.6.2</a:t>
            </a:r>
          </a:p>
        </p:txBody>
      </p:sp>
      <p:sp>
        <p:nvSpPr>
          <p:cNvPr id="25" name="矩形 24"/>
          <p:cNvSpPr/>
          <p:nvPr/>
        </p:nvSpPr>
        <p:spPr>
          <a:xfrm>
            <a:off x="1960200" y="360001"/>
            <a:ext cx="2593972" cy="615549"/>
          </a:xfrm>
          <a:prstGeom prst="rect">
            <a:avLst/>
          </a:prstGeom>
        </p:spPr>
        <p:txBody>
          <a:bodyPr wrap="none" lIns="91436" tIns="45718" rIns="91436" bIns="45718">
            <a:spAutoFit/>
          </a:bodyPr>
          <a:lstStyle/>
          <a:p>
            <a:r>
              <a:rPr lang="en-US" altLang="zh-CN" sz="3400" b="1" dirty="0">
                <a:solidFill>
                  <a:schemeClr val="bg1"/>
                </a:solidFill>
                <a:latin typeface="宋体" panose="02010600030101010101" pitchFamily="2" charset="-122"/>
                <a:ea typeface="宋体" panose="02010600030101010101" pitchFamily="2" charset="-122"/>
                <a:sym typeface="+mn-ea"/>
              </a:rPr>
              <a:t>CCD</a:t>
            </a:r>
            <a:r>
              <a:rPr lang="zh-CN" altLang="en-US" sz="3400" b="1" dirty="0">
                <a:solidFill>
                  <a:schemeClr val="bg1"/>
                </a:solidFill>
                <a:latin typeface="宋体" panose="02010600030101010101" pitchFamily="2" charset="-122"/>
                <a:ea typeface="宋体" panose="02010600030101010101" pitchFamily="2" charset="-122"/>
                <a:sym typeface="+mn-ea"/>
              </a:rPr>
              <a:t>应用举例</a:t>
            </a:r>
          </a:p>
        </p:txBody>
      </p:sp>
      <p:sp>
        <p:nvSpPr>
          <p:cNvPr id="22" name="Text Box 4"/>
          <p:cNvSpPr txBox="1">
            <a:spLocks noChangeArrowheads="1"/>
          </p:cNvSpPr>
          <p:nvPr/>
        </p:nvSpPr>
        <p:spPr bwMode="auto">
          <a:xfrm>
            <a:off x="1571711" y="1736835"/>
            <a:ext cx="664856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宋体" charset="-122"/>
                <a:ea typeface="宋体" charset="-122"/>
              </a:defRPr>
            </a:lvl1pPr>
            <a:lvl2pPr marL="742950" indent="-285750" eaLnBrk="0" hangingPunct="0">
              <a:defRPr sz="2400" b="1">
                <a:solidFill>
                  <a:schemeClr val="tx1"/>
                </a:solidFill>
                <a:latin typeface="宋体" charset="-122"/>
                <a:ea typeface="宋体" charset="-122"/>
              </a:defRPr>
            </a:lvl2pPr>
            <a:lvl3pPr marL="1143000" indent="-228600" eaLnBrk="0" hangingPunct="0">
              <a:defRPr sz="2400" b="1">
                <a:solidFill>
                  <a:schemeClr val="tx1"/>
                </a:solidFill>
                <a:latin typeface="宋体" charset="-122"/>
                <a:ea typeface="宋体" charset="-122"/>
              </a:defRPr>
            </a:lvl3pPr>
            <a:lvl4pPr marL="1600200" indent="-228600" eaLnBrk="0" hangingPunct="0">
              <a:defRPr sz="2400" b="1">
                <a:solidFill>
                  <a:schemeClr val="tx1"/>
                </a:solidFill>
                <a:latin typeface="宋体" charset="-122"/>
                <a:ea typeface="宋体" charset="-122"/>
              </a:defRPr>
            </a:lvl4pPr>
            <a:lvl5pPr marL="2057400" indent="-228600" eaLnBrk="0" hangingPunct="0">
              <a:defRPr sz="2400" b="1">
                <a:solidFill>
                  <a:schemeClr val="tx1"/>
                </a:solidFill>
                <a:latin typeface="宋体" charset="-122"/>
                <a:ea typeface="宋体" charset="-122"/>
              </a:defRPr>
            </a:lvl5pPr>
            <a:lvl6pPr marL="25146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6pPr>
            <a:lvl7pPr marL="29718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7pPr>
            <a:lvl8pPr marL="34290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8pPr>
            <a:lvl9pPr marL="3886200" indent="-228600" algn="just" eaLnBrk="0" fontAlgn="base" hangingPunct="0">
              <a:lnSpc>
                <a:spcPct val="90000"/>
              </a:lnSpc>
              <a:spcBef>
                <a:spcPct val="50000"/>
              </a:spcBef>
              <a:spcAft>
                <a:spcPct val="0"/>
              </a:spcAft>
              <a:buClr>
                <a:schemeClr val="hlink"/>
              </a:buClr>
              <a:buSzPct val="60000"/>
              <a:buFont typeface="Wingdings" pitchFamily="2" charset="2"/>
              <a:defRPr sz="2400" b="1">
                <a:solidFill>
                  <a:schemeClr val="tx1"/>
                </a:solidFill>
                <a:latin typeface="宋体" charset="-122"/>
                <a:ea typeface="宋体" charset="-122"/>
              </a:defRPr>
            </a:lvl9pPr>
          </a:lstStyle>
          <a:p>
            <a:pPr eaLnBrk="1" hangingPunct="1">
              <a:lnSpc>
                <a:spcPct val="150000"/>
              </a:lnSpc>
            </a:pPr>
            <a:r>
              <a:rPr lang="zh-CN" altLang="en-US" dirty="0"/>
              <a:t>传感器输出信号：</a:t>
            </a:r>
          </a:p>
          <a:p>
            <a:pPr eaLnBrk="1" hangingPunct="1">
              <a:lnSpc>
                <a:spcPct val="150000"/>
              </a:lnSpc>
            </a:pPr>
            <a:r>
              <a:rPr lang="en-US" altLang="zh-CN" dirty="0">
                <a:solidFill>
                  <a:srgbClr val="00CC00"/>
                </a:solidFill>
              </a:rPr>
              <a:t>A）</a:t>
            </a:r>
            <a:r>
              <a:rPr lang="zh-CN" altLang="en-US" dirty="0">
                <a:solidFill>
                  <a:srgbClr val="00CC00"/>
                </a:solidFill>
              </a:rPr>
              <a:t>与光像位置对应的时序信号；</a:t>
            </a:r>
          </a:p>
          <a:p>
            <a:pPr eaLnBrk="1" hangingPunct="1">
              <a:lnSpc>
                <a:spcPct val="150000"/>
              </a:lnSpc>
            </a:pPr>
            <a:r>
              <a:rPr lang="en-US" altLang="zh-CN" dirty="0"/>
              <a:t>B）</a:t>
            </a:r>
            <a:r>
              <a:rPr lang="zh-CN" altLang="en-US" dirty="0"/>
              <a:t>各个脉冲彼此独立相间的信号（模拟</a:t>
            </a:r>
            <a:r>
              <a:rPr lang="en-US" altLang="zh-CN" dirty="0"/>
              <a:t>/</a:t>
            </a:r>
            <a:r>
              <a:rPr lang="zh-CN" altLang="en-US" dirty="0"/>
              <a:t>数字）；</a:t>
            </a:r>
          </a:p>
          <a:p>
            <a:pPr eaLnBrk="1" hangingPunct="1">
              <a:lnSpc>
                <a:spcPct val="150000"/>
              </a:lnSpc>
            </a:pPr>
            <a:r>
              <a:rPr lang="en-US" altLang="zh-CN" dirty="0">
                <a:solidFill>
                  <a:srgbClr val="0070C0"/>
                </a:solidFill>
              </a:rPr>
              <a:t>C）</a:t>
            </a:r>
            <a:r>
              <a:rPr lang="zh-CN" altLang="en-US" dirty="0">
                <a:solidFill>
                  <a:srgbClr val="0070C0"/>
                </a:solidFill>
              </a:rPr>
              <a:t>反映焦点面上的信号。</a:t>
            </a:r>
          </a:p>
          <a:p>
            <a:pPr indent="630238" eaLnBrk="1" hangingPunct="1">
              <a:lnSpc>
                <a:spcPct val="150000"/>
              </a:lnSpc>
            </a:pPr>
            <a:r>
              <a:rPr lang="zh-CN" altLang="en-US" dirty="0"/>
              <a:t>把不同光源或光学透镜、光导纤维、滤光片及反射镜等光学元件与上述特点相配合，可以用于测量：</a:t>
            </a:r>
            <a:r>
              <a:rPr lang="zh-CN" altLang="en-US" dirty="0">
                <a:solidFill>
                  <a:srgbClr val="FF0000"/>
                </a:solidFill>
              </a:rPr>
              <a:t>位置</a:t>
            </a:r>
            <a:r>
              <a:rPr lang="zh-CN" altLang="en-US" dirty="0"/>
              <a:t>、</a:t>
            </a:r>
            <a:r>
              <a:rPr lang="zh-CN" altLang="en-US" dirty="0">
                <a:solidFill>
                  <a:srgbClr val="00B0F0"/>
                </a:solidFill>
              </a:rPr>
              <a:t>距离</a:t>
            </a:r>
            <a:r>
              <a:rPr lang="zh-CN" altLang="en-US" dirty="0"/>
              <a:t>、</a:t>
            </a:r>
            <a:r>
              <a:rPr lang="zh-CN" altLang="en-US" dirty="0">
                <a:solidFill>
                  <a:srgbClr val="FF00FF"/>
                </a:solidFill>
              </a:rPr>
              <a:t>形状</a:t>
            </a:r>
            <a:r>
              <a:rPr lang="zh-CN" altLang="en-US" dirty="0"/>
              <a:t>、</a:t>
            </a:r>
            <a:r>
              <a:rPr lang="zh-CN" altLang="en-US" dirty="0">
                <a:solidFill>
                  <a:srgbClr val="993366"/>
                </a:solidFill>
              </a:rPr>
              <a:t>颜色</a:t>
            </a:r>
            <a:r>
              <a:rPr lang="zh-CN" altLang="en-US" dirty="0"/>
              <a:t>、</a:t>
            </a:r>
            <a:r>
              <a:rPr lang="zh-CN" altLang="en-US" dirty="0">
                <a:solidFill>
                  <a:srgbClr val="180A6C"/>
                </a:solidFill>
              </a:rPr>
              <a:t>浓淡</a:t>
            </a:r>
            <a:r>
              <a:rPr lang="zh-CN" altLang="en-US" dirty="0"/>
              <a:t>等等。</a:t>
            </a:r>
          </a:p>
        </p:txBody>
      </p:sp>
      <p:sp>
        <p:nvSpPr>
          <p:cNvPr id="2" name="Slide Number Placeholder 1">
            <a:extLst>
              <a:ext uri="{FF2B5EF4-FFF2-40B4-BE49-F238E27FC236}">
                <a16:creationId xmlns:a16="http://schemas.microsoft.com/office/drawing/2014/main" id="{A37CFA14-3374-4274-9035-4AE2FD0BD0EF}"/>
              </a:ext>
            </a:extLst>
          </p:cNvPr>
          <p:cNvSpPr>
            <a:spLocks noGrp="1"/>
          </p:cNvSpPr>
          <p:nvPr>
            <p:ph type="sldNum" sz="quarter" idx="12"/>
          </p:nvPr>
        </p:nvSpPr>
        <p:spPr/>
        <p:txBody>
          <a:bodyPr/>
          <a:lstStyle/>
          <a:p>
            <a:fld id="{B53602B4-F12B-41CD-B648-531F86B2CC91}" type="slidenum">
              <a:rPr lang="zh-CN" altLang="en-US" smtClean="0"/>
              <a:t>60</a:t>
            </a:fld>
            <a:endParaRPr lang="zh-CN" altLang="en-US"/>
          </a:p>
        </p:txBody>
      </p:sp>
    </p:spTree>
    <p:extLst>
      <p:ext uri="{BB962C8B-B14F-4D97-AF65-F5344CB8AC3E}">
        <p14:creationId xmlns:p14="http://schemas.microsoft.com/office/powerpoint/2010/main" val="27810301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97">
            <a:extLst>
              <a:ext uri="{FF2B5EF4-FFF2-40B4-BE49-F238E27FC236}">
                <a16:creationId xmlns:a16="http://schemas.microsoft.com/office/drawing/2014/main" id="{F2A5A58D-AB06-4AED-95A9-2D6668DAD5ED}"/>
              </a:ext>
            </a:extLst>
          </p:cNvPr>
          <p:cNvGraphicFramePr>
            <a:graphicFrameLocks noChangeAspect="1"/>
          </p:cNvGraphicFramePr>
          <p:nvPr>
            <p:extLst>
              <p:ext uri="{D42A27DB-BD31-4B8C-83A1-F6EECF244321}">
                <p14:modId xmlns:p14="http://schemas.microsoft.com/office/powerpoint/2010/main" val="4196741074"/>
              </p:ext>
            </p:extLst>
          </p:nvPr>
        </p:nvGraphicFramePr>
        <p:xfrm>
          <a:off x="667972" y="3639552"/>
          <a:ext cx="7772400" cy="2843213"/>
        </p:xfrm>
        <a:graphic>
          <a:graphicData uri="http://schemas.openxmlformats.org/presentationml/2006/ole">
            <mc:AlternateContent xmlns:mc="http://schemas.openxmlformats.org/markup-compatibility/2006">
              <mc:Choice xmlns:v="urn:schemas-microsoft-com:vml" Requires="v">
                <p:oleObj name="Image" r:id="rId3" imgW="19004082" imgH="6955102" progId="Photoshop.Image.7">
                  <p:embed/>
                </p:oleObj>
              </mc:Choice>
              <mc:Fallback>
                <p:oleObj name="Image" r:id="rId3" imgW="19004082" imgH="6955102" progId="Photoshop.Image.7">
                  <p:embed/>
                  <p:pic>
                    <p:nvPicPr>
                      <p:cNvPr id="2245" name="Object 1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972" y="3639552"/>
                        <a:ext cx="7772400" cy="284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7.6.2</a:t>
            </a:r>
          </a:p>
        </p:txBody>
      </p:sp>
      <p:sp>
        <p:nvSpPr>
          <p:cNvPr id="46" name="矩形 45"/>
          <p:cNvSpPr/>
          <p:nvPr/>
        </p:nvSpPr>
        <p:spPr>
          <a:xfrm>
            <a:off x="1960200" y="360001"/>
            <a:ext cx="2593972" cy="615549"/>
          </a:xfrm>
          <a:prstGeom prst="rect">
            <a:avLst/>
          </a:prstGeom>
        </p:spPr>
        <p:txBody>
          <a:bodyPr wrap="none" lIns="91436" tIns="45718" rIns="91436" bIns="45718">
            <a:spAutoFit/>
          </a:bodyPr>
          <a:lstStyle/>
          <a:p>
            <a:r>
              <a:rPr lang="en-US" altLang="zh-CN" sz="3400" b="1" dirty="0">
                <a:solidFill>
                  <a:schemeClr val="bg1"/>
                </a:solidFill>
                <a:latin typeface="宋体" panose="02010600030101010101" pitchFamily="2" charset="-122"/>
                <a:ea typeface="宋体" panose="02010600030101010101" pitchFamily="2" charset="-122"/>
                <a:sym typeface="+mn-ea"/>
              </a:rPr>
              <a:t>CCD</a:t>
            </a:r>
            <a:r>
              <a:rPr lang="zh-CN" altLang="en-US" sz="3400" b="1" dirty="0">
                <a:solidFill>
                  <a:schemeClr val="bg1"/>
                </a:solidFill>
                <a:latin typeface="宋体" panose="02010600030101010101" pitchFamily="2" charset="-122"/>
                <a:ea typeface="宋体" panose="02010600030101010101" pitchFamily="2" charset="-122"/>
                <a:sym typeface="+mn-ea"/>
              </a:rPr>
              <a:t>应用举例</a:t>
            </a:r>
          </a:p>
        </p:txBody>
      </p:sp>
      <p:sp>
        <p:nvSpPr>
          <p:cNvPr id="21" name="矩形 20"/>
          <p:cNvSpPr/>
          <p:nvPr/>
        </p:nvSpPr>
        <p:spPr>
          <a:xfrm>
            <a:off x="437322" y="1313212"/>
            <a:ext cx="7772399" cy="2326340"/>
          </a:xfrm>
          <a:prstGeom prst="rect">
            <a:avLst/>
          </a:prstGeom>
        </p:spPr>
        <p:txBody>
          <a:bodyPr wrap="square" lIns="91438" tIns="45719" rIns="91438" bIns="45719">
            <a:spAutoFit/>
          </a:bodyPr>
          <a:lstStyle/>
          <a:p>
            <a:pPr marL="457200" indent="-457200">
              <a:lnSpc>
                <a:spcPct val="150000"/>
              </a:lnSpc>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尺寸自动检测</a:t>
            </a:r>
          </a:p>
          <a:p>
            <a:pPr>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         通常，快速自动检测工件尺寸的系统有一个测量台，在其上装有光学系统、图像传感器和微处理机等，根据工件成像覆盖的光敏元数目来计算工件尺寸。</a:t>
            </a:r>
          </a:p>
        </p:txBody>
      </p:sp>
      <p:sp>
        <p:nvSpPr>
          <p:cNvPr id="2" name="Slide Number Placeholder 1">
            <a:extLst>
              <a:ext uri="{FF2B5EF4-FFF2-40B4-BE49-F238E27FC236}">
                <a16:creationId xmlns:a16="http://schemas.microsoft.com/office/drawing/2014/main" id="{E5D97F74-895E-4512-A4F4-6998FF855158}"/>
              </a:ext>
            </a:extLst>
          </p:cNvPr>
          <p:cNvSpPr>
            <a:spLocks noGrp="1"/>
          </p:cNvSpPr>
          <p:nvPr>
            <p:ph type="sldNum" sz="quarter" idx="12"/>
          </p:nvPr>
        </p:nvSpPr>
        <p:spPr/>
        <p:txBody>
          <a:bodyPr/>
          <a:lstStyle/>
          <a:p>
            <a:fld id="{B53602B4-F12B-41CD-B648-531F86B2CC91}" type="slidenum">
              <a:rPr lang="zh-CN" altLang="en-US" smtClean="0"/>
              <a:t>61</a:t>
            </a:fld>
            <a:endParaRPr lang="zh-CN" altLang="en-US"/>
          </a:p>
        </p:txBody>
      </p:sp>
      <p:sp>
        <p:nvSpPr>
          <p:cNvPr id="10" name="Text Box 196">
            <a:extLst>
              <a:ext uri="{FF2B5EF4-FFF2-40B4-BE49-F238E27FC236}">
                <a16:creationId xmlns:a16="http://schemas.microsoft.com/office/drawing/2014/main" id="{82AA8C93-0766-4675-BBF2-1BA6B8F801E5}"/>
              </a:ext>
            </a:extLst>
          </p:cNvPr>
          <p:cNvSpPr txBox="1">
            <a:spLocks noChangeArrowheads="1"/>
          </p:cNvSpPr>
          <p:nvPr/>
        </p:nvSpPr>
        <p:spPr bwMode="auto">
          <a:xfrm>
            <a:off x="2835424" y="6121359"/>
            <a:ext cx="4043536"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7-33 </a:t>
            </a:r>
            <a:r>
              <a:rPr kumimoji="0" lang="zh-CN" altLang="en-US" b="1" dirty="0">
                <a:solidFill>
                  <a:srgbClr val="3333CC"/>
                </a:solidFill>
                <a:latin typeface="宋体" panose="02010600030101010101" pitchFamily="2" charset="-122"/>
                <a:ea typeface="宋体" panose="02010600030101010101" pitchFamily="2" charset="-122"/>
              </a:rPr>
              <a:t>工件尺寸测量系统</a:t>
            </a: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97">
            <a:extLst>
              <a:ext uri="{FF2B5EF4-FFF2-40B4-BE49-F238E27FC236}">
                <a16:creationId xmlns:a16="http://schemas.microsoft.com/office/drawing/2014/main" id="{F2A5A58D-AB06-4AED-95A9-2D6668DAD5ED}"/>
              </a:ext>
            </a:extLst>
          </p:cNvPr>
          <p:cNvGraphicFramePr>
            <a:graphicFrameLocks noChangeAspect="1"/>
          </p:cNvGraphicFramePr>
          <p:nvPr/>
        </p:nvGraphicFramePr>
        <p:xfrm>
          <a:off x="667972" y="3639552"/>
          <a:ext cx="7772400" cy="2843213"/>
        </p:xfrm>
        <a:graphic>
          <a:graphicData uri="http://schemas.openxmlformats.org/presentationml/2006/ole">
            <mc:AlternateContent xmlns:mc="http://schemas.openxmlformats.org/markup-compatibility/2006">
              <mc:Choice xmlns:v="urn:schemas-microsoft-com:vml" Requires="v">
                <p:oleObj name="Image" r:id="rId3" imgW="19004082" imgH="6955102" progId="Photoshop.Image.7">
                  <p:embed/>
                </p:oleObj>
              </mc:Choice>
              <mc:Fallback>
                <p:oleObj name="Image" r:id="rId3" imgW="19004082" imgH="6955102" progId="Photoshop.Image.7">
                  <p:embed/>
                  <p:pic>
                    <p:nvPicPr>
                      <p:cNvPr id="11" name="Object 197">
                        <a:extLst>
                          <a:ext uri="{FF2B5EF4-FFF2-40B4-BE49-F238E27FC236}">
                            <a16:creationId xmlns:a16="http://schemas.microsoft.com/office/drawing/2014/main" id="{F2A5A58D-AB06-4AED-95A9-2D6668DAD5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972" y="3639552"/>
                        <a:ext cx="7772400" cy="284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7.6.2</a:t>
            </a:r>
          </a:p>
        </p:txBody>
      </p:sp>
      <p:sp>
        <p:nvSpPr>
          <p:cNvPr id="46" name="矩形 45"/>
          <p:cNvSpPr/>
          <p:nvPr/>
        </p:nvSpPr>
        <p:spPr>
          <a:xfrm>
            <a:off x="1960200" y="360001"/>
            <a:ext cx="2593972" cy="615549"/>
          </a:xfrm>
          <a:prstGeom prst="rect">
            <a:avLst/>
          </a:prstGeom>
        </p:spPr>
        <p:txBody>
          <a:bodyPr wrap="none" lIns="91436" tIns="45718" rIns="91436" bIns="45718">
            <a:spAutoFit/>
          </a:bodyPr>
          <a:lstStyle/>
          <a:p>
            <a:r>
              <a:rPr lang="en-US" altLang="zh-CN" sz="3400" b="1" dirty="0">
                <a:solidFill>
                  <a:schemeClr val="bg1"/>
                </a:solidFill>
                <a:latin typeface="宋体" panose="02010600030101010101" pitchFamily="2" charset="-122"/>
                <a:ea typeface="宋体" panose="02010600030101010101" pitchFamily="2" charset="-122"/>
                <a:sym typeface="+mn-ea"/>
              </a:rPr>
              <a:t>CCD</a:t>
            </a:r>
            <a:r>
              <a:rPr lang="zh-CN" altLang="en-US" sz="3400" b="1" dirty="0">
                <a:solidFill>
                  <a:schemeClr val="bg1"/>
                </a:solidFill>
                <a:latin typeface="宋体" panose="02010600030101010101" pitchFamily="2" charset="-122"/>
                <a:ea typeface="宋体" panose="02010600030101010101" pitchFamily="2" charset="-122"/>
                <a:sym typeface="+mn-ea"/>
              </a:rPr>
              <a:t>应用举例</a:t>
            </a:r>
          </a:p>
        </p:txBody>
      </p:sp>
      <p:sp>
        <p:nvSpPr>
          <p:cNvPr id="21" name="矩形 20"/>
          <p:cNvSpPr/>
          <p:nvPr/>
        </p:nvSpPr>
        <p:spPr>
          <a:xfrm>
            <a:off x="373711" y="1144975"/>
            <a:ext cx="8558545" cy="2583077"/>
          </a:xfrm>
          <a:prstGeom prst="rect">
            <a:avLst/>
          </a:prstGeom>
        </p:spPr>
        <p:txBody>
          <a:bodyPr wrap="square" lIns="91438" tIns="45719" rIns="91438" bIns="45719">
            <a:spAutoFit/>
          </a:bodyPr>
          <a:lstStyle/>
          <a:p>
            <a:pPr>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尺寸自动检测</a:t>
            </a:r>
          </a:p>
          <a:p>
            <a:pPr marL="285750" indent="-285750">
              <a:lnSpc>
                <a:spcPct val="120000"/>
              </a:lnSpc>
              <a:spcBef>
                <a:spcPts val="600"/>
              </a:spcBef>
              <a:buFont typeface="Arial" panose="020B0604020202020204" pitchFamily="34" charset="0"/>
              <a:buChar char="•"/>
            </a:pPr>
            <a:r>
              <a:rPr lang="zh-CN" altLang="en-US" b="1">
                <a:latin typeface="Arial" panose="020B0604020202020204" pitchFamily="34" charset="0"/>
                <a:ea typeface="宋体" panose="02010600030101010101" pitchFamily="2" charset="-122"/>
                <a:cs typeface="Arial" panose="020B0604020202020204" pitchFamily="34" charset="0"/>
              </a:rPr>
              <a:t>被测工件成像在</a:t>
            </a:r>
            <a:r>
              <a:rPr lang="en-US" altLang="zh-CN" b="1">
                <a:latin typeface="Arial" panose="020B0604020202020204" pitchFamily="34" charset="0"/>
                <a:ea typeface="宋体" panose="02010600030101010101" pitchFamily="2" charset="-122"/>
                <a:cs typeface="Arial" panose="020B0604020202020204" pitchFamily="34" charset="0"/>
              </a:rPr>
              <a:t>CCD </a:t>
            </a:r>
            <a:r>
              <a:rPr lang="zh-CN" altLang="en-US" b="1">
                <a:latin typeface="Arial" panose="020B0604020202020204" pitchFamily="34" charset="0"/>
                <a:ea typeface="宋体" panose="02010600030101010101" pitchFamily="2" charset="-122"/>
                <a:cs typeface="Arial" panose="020B0604020202020204" pitchFamily="34" charset="0"/>
              </a:rPr>
              <a:t>图像传感器的光敏阵列上，产生工件轮廓的光学边缘。</a:t>
            </a:r>
          </a:p>
          <a:p>
            <a:pPr marL="285750" indent="-285750">
              <a:lnSpc>
                <a:spcPct val="120000"/>
              </a:lnSpc>
              <a:spcBef>
                <a:spcPts val="600"/>
              </a:spcBef>
              <a:buFont typeface="Arial" panose="020B0604020202020204" pitchFamily="34" charset="0"/>
              <a:buChar char="•"/>
            </a:pPr>
            <a:r>
              <a:rPr lang="zh-CN" altLang="en-US" b="1">
                <a:latin typeface="Arial" panose="020B0604020202020204" pitchFamily="34" charset="0"/>
                <a:ea typeface="宋体" panose="02010600030101010101" pitchFamily="2" charset="-122"/>
                <a:cs typeface="Arial" panose="020B0604020202020204" pitchFamily="34" charset="0"/>
              </a:rPr>
              <a:t>时钟和扫描脉冲电路对每个光敏元顺次询问，视频输出馈送到脉冲计数器，并把时钟选送入脉冲计数器，启动阵列扫描的扫描脉冲也用来把计数器复位到零。</a:t>
            </a:r>
          </a:p>
          <a:p>
            <a:pPr marL="285750" indent="-285750">
              <a:lnSpc>
                <a:spcPct val="120000"/>
              </a:lnSpc>
              <a:spcBef>
                <a:spcPts val="600"/>
              </a:spcBef>
              <a:buFont typeface="Arial" panose="020B0604020202020204" pitchFamily="34" charset="0"/>
              <a:buChar char="•"/>
            </a:pPr>
            <a:r>
              <a:rPr lang="zh-CN" altLang="en-US" b="1">
                <a:latin typeface="Arial" panose="020B0604020202020204" pitchFamily="34" charset="0"/>
                <a:ea typeface="宋体" panose="02010600030101010101" pitchFamily="2" charset="-122"/>
                <a:cs typeface="Arial" panose="020B0604020202020204" pitchFamily="34" charset="0"/>
              </a:rPr>
              <a:t>复位之后，计数器计算和显示由视频脉冲选通的总时钟脉冲数。</a:t>
            </a:r>
          </a:p>
          <a:p>
            <a:pPr marL="285750" indent="-285750">
              <a:lnSpc>
                <a:spcPct val="120000"/>
              </a:lnSpc>
              <a:spcBef>
                <a:spcPts val="600"/>
              </a:spcBef>
              <a:buFont typeface="Arial" panose="020B0604020202020204" pitchFamily="34" charset="0"/>
              <a:buChar char="•"/>
            </a:pPr>
            <a:r>
              <a:rPr lang="zh-CN" altLang="en-US" b="1">
                <a:latin typeface="Arial" panose="020B0604020202020204" pitchFamily="34" charset="0"/>
                <a:ea typeface="宋体" panose="02010600030101010101" pitchFamily="2" charset="-122"/>
                <a:cs typeface="Arial" panose="020B0604020202020204" pitchFamily="34" charset="0"/>
              </a:rPr>
              <a:t>显示数</a:t>
            </a:r>
            <a:r>
              <a:rPr lang="en-US" altLang="zh-CN" b="1">
                <a:latin typeface="Arial" panose="020B0604020202020204" pitchFamily="34" charset="0"/>
                <a:ea typeface="宋体" panose="02010600030101010101" pitchFamily="2" charset="-122"/>
                <a:cs typeface="Arial" panose="020B0604020202020204" pitchFamily="34" charset="0"/>
              </a:rPr>
              <a:t>N </a:t>
            </a:r>
            <a:r>
              <a:rPr lang="zh-CN" altLang="en-US" b="1">
                <a:latin typeface="Arial" panose="020B0604020202020204" pitchFamily="34" charset="0"/>
                <a:ea typeface="宋体" panose="02010600030101010101" pitchFamily="2" charset="-122"/>
                <a:cs typeface="Arial" panose="020B0604020202020204" pitchFamily="34" charset="0"/>
              </a:rPr>
              <a:t>就是工件成像覆盖的光敏元数目，根据该数目来计算工件尺寸。</a:t>
            </a:r>
            <a:endParaRPr lang="zh-CN" altLang="en-US"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E5D97F74-895E-4512-A4F4-6998FF855158}"/>
              </a:ext>
            </a:extLst>
          </p:cNvPr>
          <p:cNvSpPr>
            <a:spLocks noGrp="1"/>
          </p:cNvSpPr>
          <p:nvPr>
            <p:ph type="sldNum" sz="quarter" idx="12"/>
          </p:nvPr>
        </p:nvSpPr>
        <p:spPr/>
        <p:txBody>
          <a:bodyPr/>
          <a:lstStyle/>
          <a:p>
            <a:fld id="{B53602B4-F12B-41CD-B648-531F86B2CC91}" type="slidenum">
              <a:rPr lang="zh-CN" altLang="en-US" smtClean="0"/>
              <a:t>62</a:t>
            </a:fld>
            <a:endParaRPr lang="zh-CN" altLang="en-US"/>
          </a:p>
        </p:txBody>
      </p:sp>
      <p:sp>
        <p:nvSpPr>
          <p:cNvPr id="10" name="Text Box 196">
            <a:extLst>
              <a:ext uri="{FF2B5EF4-FFF2-40B4-BE49-F238E27FC236}">
                <a16:creationId xmlns:a16="http://schemas.microsoft.com/office/drawing/2014/main" id="{82AA8C93-0766-4675-BBF2-1BA6B8F801E5}"/>
              </a:ext>
            </a:extLst>
          </p:cNvPr>
          <p:cNvSpPr txBox="1">
            <a:spLocks noChangeArrowheads="1"/>
          </p:cNvSpPr>
          <p:nvPr/>
        </p:nvSpPr>
        <p:spPr bwMode="auto">
          <a:xfrm>
            <a:off x="2835424" y="6121359"/>
            <a:ext cx="4043536"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7-33 </a:t>
            </a:r>
            <a:r>
              <a:rPr kumimoji="0" lang="zh-CN" altLang="en-US" b="1" dirty="0">
                <a:solidFill>
                  <a:srgbClr val="3333CC"/>
                </a:solidFill>
                <a:latin typeface="宋体" panose="02010600030101010101" pitchFamily="2" charset="-122"/>
                <a:ea typeface="宋体" panose="02010600030101010101" pitchFamily="2" charset="-122"/>
              </a:rPr>
              <a:t>工件尺寸测量系统</a:t>
            </a:r>
          </a:p>
        </p:txBody>
      </p:sp>
    </p:spTree>
    <p:extLst>
      <p:ext uri="{BB962C8B-B14F-4D97-AF65-F5344CB8AC3E}">
        <p14:creationId xmlns:p14="http://schemas.microsoft.com/office/powerpoint/2010/main" val="24132910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7.6.2</a:t>
            </a:r>
          </a:p>
        </p:txBody>
      </p:sp>
      <p:sp>
        <p:nvSpPr>
          <p:cNvPr id="46" name="矩形 45"/>
          <p:cNvSpPr/>
          <p:nvPr/>
        </p:nvSpPr>
        <p:spPr>
          <a:xfrm>
            <a:off x="1960200" y="360001"/>
            <a:ext cx="2593972" cy="615549"/>
          </a:xfrm>
          <a:prstGeom prst="rect">
            <a:avLst/>
          </a:prstGeom>
        </p:spPr>
        <p:txBody>
          <a:bodyPr wrap="none" lIns="91436" tIns="45718" rIns="91436" bIns="45718">
            <a:spAutoFit/>
          </a:bodyPr>
          <a:lstStyle/>
          <a:p>
            <a:r>
              <a:rPr lang="en-US" altLang="zh-CN" sz="3400" b="1" dirty="0">
                <a:solidFill>
                  <a:schemeClr val="bg1"/>
                </a:solidFill>
                <a:latin typeface="宋体" panose="02010600030101010101" pitchFamily="2" charset="-122"/>
                <a:ea typeface="宋体" panose="02010600030101010101" pitchFamily="2" charset="-122"/>
                <a:sym typeface="+mn-ea"/>
              </a:rPr>
              <a:t>CCD</a:t>
            </a:r>
            <a:r>
              <a:rPr lang="zh-CN" altLang="en-US" sz="3400" b="1" dirty="0">
                <a:solidFill>
                  <a:schemeClr val="bg1"/>
                </a:solidFill>
                <a:latin typeface="宋体" panose="02010600030101010101" pitchFamily="2" charset="-122"/>
                <a:ea typeface="宋体" panose="02010600030101010101" pitchFamily="2" charset="-122"/>
                <a:sym typeface="+mn-ea"/>
              </a:rPr>
              <a:t>应用举例</a:t>
            </a:r>
          </a:p>
        </p:txBody>
      </p:sp>
      <p:sp>
        <p:nvSpPr>
          <p:cNvPr id="5" name="矩形 4"/>
          <p:cNvSpPr/>
          <p:nvPr/>
        </p:nvSpPr>
        <p:spPr>
          <a:xfrm>
            <a:off x="436087" y="1382121"/>
            <a:ext cx="3048226" cy="461665"/>
          </a:xfrm>
          <a:prstGeom prst="rect">
            <a:avLst/>
          </a:prstGeom>
        </p:spPr>
        <p:txBody>
          <a:bodyPr wrap="square">
            <a:spAutoFit/>
          </a:bodyPr>
          <a:lstStyle/>
          <a:p>
            <a:pPr lvl="0">
              <a:spcBef>
                <a:spcPts val="670"/>
              </a:spcBef>
            </a:pPr>
            <a:r>
              <a:rPr lang="zh-CN" altLang="en-US" sz="2400" b="1" dirty="0">
                <a:solidFill>
                  <a:prstClr val="black"/>
                </a:solidFill>
                <a:latin typeface="Arial" panose="020B0604020202020204" pitchFamily="34" charset="0"/>
                <a:ea typeface="宋体" panose="02010600030101010101" pitchFamily="2" charset="-122"/>
                <a:cs typeface="Arial" panose="020B0604020202020204" pitchFamily="34" charset="0"/>
              </a:rPr>
              <a:t>缺陷自动检测</a:t>
            </a:r>
          </a:p>
        </p:txBody>
      </p:sp>
      <p:sp>
        <p:nvSpPr>
          <p:cNvPr id="2" name="Slide Number Placeholder 1">
            <a:extLst>
              <a:ext uri="{FF2B5EF4-FFF2-40B4-BE49-F238E27FC236}">
                <a16:creationId xmlns:a16="http://schemas.microsoft.com/office/drawing/2014/main" id="{E5D97F74-895E-4512-A4F4-6998FF855158}"/>
              </a:ext>
            </a:extLst>
          </p:cNvPr>
          <p:cNvSpPr>
            <a:spLocks noGrp="1"/>
          </p:cNvSpPr>
          <p:nvPr>
            <p:ph type="sldNum" sz="quarter" idx="12"/>
          </p:nvPr>
        </p:nvSpPr>
        <p:spPr/>
        <p:txBody>
          <a:bodyPr/>
          <a:lstStyle/>
          <a:p>
            <a:fld id="{B53602B4-F12B-41CD-B648-531F86B2CC91}" type="slidenum">
              <a:rPr lang="zh-CN" altLang="en-US" smtClean="0"/>
              <a:t>63</a:t>
            </a:fld>
            <a:endParaRPr lang="zh-CN" altLang="en-US"/>
          </a:p>
        </p:txBody>
      </p:sp>
      <p:sp>
        <p:nvSpPr>
          <p:cNvPr id="11" name="TextBox 10">
            <a:extLst>
              <a:ext uri="{FF2B5EF4-FFF2-40B4-BE49-F238E27FC236}">
                <a16:creationId xmlns:a16="http://schemas.microsoft.com/office/drawing/2014/main" id="{37EDE0E1-8B91-4DDE-AAC2-2CD6ABA3D695}"/>
              </a:ext>
            </a:extLst>
          </p:cNvPr>
          <p:cNvSpPr txBox="1"/>
          <p:nvPr/>
        </p:nvSpPr>
        <p:spPr>
          <a:xfrm>
            <a:off x="185083" y="2037950"/>
            <a:ext cx="4943508" cy="4077335"/>
          </a:xfrm>
          <a:prstGeom prst="rect">
            <a:avLst/>
          </a:prstGeom>
          <a:noFill/>
        </p:spPr>
        <p:txBody>
          <a:bodyPr wrap="square">
            <a:spAutoFit/>
          </a:bodyPr>
          <a:lstStyle/>
          <a:p>
            <a:pPr marL="285750" indent="-285750">
              <a:lnSpc>
                <a:spcPct val="140000"/>
              </a:lnSpc>
              <a:spcBef>
                <a:spcPts val="600"/>
              </a:spcBef>
              <a:buFont typeface="Arial" panose="020B0604020202020204" pitchFamily="34" charset="0"/>
              <a:buChar char="•"/>
            </a:pPr>
            <a:r>
              <a:rPr lang="zh-CN" altLang="en-US" b="1">
                <a:latin typeface="Arial" panose="020B0604020202020204" pitchFamily="34" charset="0"/>
                <a:ea typeface="宋体" panose="02010600030101010101" pitchFamily="2" charset="-122"/>
                <a:cs typeface="Arial" panose="020B0604020202020204" pitchFamily="34" charset="0"/>
              </a:rPr>
              <a:t>当光照物体时，使不透明物体的表面缺陷或透明物体的体内缺陷（杂质）与其材料背景相比有足够的反差，只要缺陷面积大于两个光敏元时， </a:t>
            </a:r>
            <a:r>
              <a:rPr lang="en-US" altLang="zh-CN" b="1">
                <a:latin typeface="Arial" panose="020B0604020202020204" pitchFamily="34" charset="0"/>
                <a:ea typeface="宋体" panose="02010600030101010101" pitchFamily="2" charset="-122"/>
                <a:cs typeface="Arial" panose="020B0604020202020204" pitchFamily="34" charset="0"/>
              </a:rPr>
              <a:t>CCD </a:t>
            </a:r>
            <a:r>
              <a:rPr lang="zh-CN" altLang="en-US" b="1">
                <a:latin typeface="Arial" panose="020B0604020202020204" pitchFamily="34" charset="0"/>
                <a:ea typeface="宋体" panose="02010600030101010101" pitchFamily="2" charset="-122"/>
                <a:cs typeface="Arial" panose="020B0604020202020204" pitchFamily="34" charset="0"/>
              </a:rPr>
              <a:t>图像传感器就能够发现。</a:t>
            </a:r>
            <a:endParaRPr lang="en-US" altLang="zh-CN" b="1">
              <a:latin typeface="Arial" panose="020B0604020202020204" pitchFamily="34" charset="0"/>
              <a:ea typeface="宋体" panose="02010600030101010101" pitchFamily="2" charset="-122"/>
              <a:cs typeface="Arial" panose="020B0604020202020204" pitchFamily="34" charset="0"/>
            </a:endParaRPr>
          </a:p>
          <a:p>
            <a:pPr marL="285750" indent="-285750">
              <a:lnSpc>
                <a:spcPct val="140000"/>
              </a:lnSpc>
              <a:spcBef>
                <a:spcPts val="600"/>
              </a:spcBef>
              <a:buFont typeface="Wingdings" panose="05000000000000000000" pitchFamily="2" charset="2"/>
              <a:buChar char="Ø"/>
            </a:pPr>
            <a:r>
              <a:rPr lang="zh-CN" altLang="en-US" b="1">
                <a:latin typeface="Arial" panose="020B0604020202020204" pitchFamily="34" charset="0"/>
                <a:ea typeface="宋体" panose="02010600030101010101" pitchFamily="2" charset="-122"/>
                <a:cs typeface="Arial" panose="020B0604020202020204" pitchFamily="34" charset="0"/>
              </a:rPr>
              <a:t>使两列被检钞票分别通过两个图像传感器的视场，并使其成像，从而输出两列视频信号，把这两列视频信号送到比较器进行处理。</a:t>
            </a:r>
            <a:endParaRPr lang="en-US" altLang="zh-CN" b="1">
              <a:latin typeface="Arial" panose="020B0604020202020204" pitchFamily="34" charset="0"/>
              <a:ea typeface="宋体" panose="02010600030101010101" pitchFamily="2" charset="-122"/>
              <a:cs typeface="Arial" panose="020B0604020202020204" pitchFamily="34" charset="0"/>
            </a:endParaRPr>
          </a:p>
          <a:p>
            <a:pPr marL="285750" indent="-285750">
              <a:lnSpc>
                <a:spcPct val="140000"/>
              </a:lnSpc>
              <a:spcBef>
                <a:spcPts val="600"/>
              </a:spcBef>
              <a:buFont typeface="Wingdings" panose="05000000000000000000" pitchFamily="2" charset="2"/>
              <a:buChar char="Ø"/>
            </a:pPr>
            <a:r>
              <a:rPr lang="zh-CN" altLang="en-US" b="1">
                <a:latin typeface="Arial" panose="020B0604020202020204" pitchFamily="34" charset="0"/>
                <a:ea typeface="宋体" panose="02010600030101010101" pitchFamily="2" charset="-122"/>
                <a:cs typeface="Arial" panose="020B0604020202020204" pitchFamily="34" charset="0"/>
              </a:rPr>
              <a:t>如果其中一张有缺陷，则两列视频信号将有显著不同的特征，经过比较器就会发现这一特征而证实缺陷的存在。</a:t>
            </a:r>
            <a:endParaRPr lang="en-001" b="1">
              <a:latin typeface="Arial" panose="020B0604020202020204" pitchFamily="34" charset="0"/>
              <a:ea typeface="宋体" panose="02010600030101010101" pitchFamily="2" charset="-122"/>
              <a:cs typeface="Arial" panose="020B0604020202020204" pitchFamily="34" charset="0"/>
            </a:endParaRPr>
          </a:p>
        </p:txBody>
      </p:sp>
      <p:graphicFrame>
        <p:nvGraphicFramePr>
          <p:cNvPr id="12" name="Object 198">
            <a:extLst>
              <a:ext uri="{FF2B5EF4-FFF2-40B4-BE49-F238E27FC236}">
                <a16:creationId xmlns:a16="http://schemas.microsoft.com/office/drawing/2014/main" id="{15B0213E-908C-4F2B-957A-7AAD9A06157A}"/>
              </a:ext>
            </a:extLst>
          </p:cNvPr>
          <p:cNvGraphicFramePr>
            <a:graphicFrameLocks noChangeAspect="1"/>
          </p:cNvGraphicFramePr>
          <p:nvPr>
            <p:extLst>
              <p:ext uri="{D42A27DB-BD31-4B8C-83A1-F6EECF244321}">
                <p14:modId xmlns:p14="http://schemas.microsoft.com/office/powerpoint/2010/main" val="4390562"/>
              </p:ext>
            </p:extLst>
          </p:nvPr>
        </p:nvGraphicFramePr>
        <p:xfrm>
          <a:off x="5180274" y="1382121"/>
          <a:ext cx="3778643" cy="4148264"/>
        </p:xfrm>
        <a:graphic>
          <a:graphicData uri="http://schemas.openxmlformats.org/presentationml/2006/ole">
            <mc:AlternateContent xmlns:mc="http://schemas.openxmlformats.org/markup-compatibility/2006">
              <mc:Choice xmlns:v="urn:schemas-microsoft-com:vml" Requires="v">
                <p:oleObj name="Image" r:id="rId3" imgW="17926531" imgH="19680000" progId="Photoshop.Image.7">
                  <p:embed/>
                </p:oleObj>
              </mc:Choice>
              <mc:Fallback>
                <p:oleObj name="Image" r:id="rId3" imgW="17926531" imgH="19680000" progId="Photoshop.Image.7">
                  <p:embed/>
                  <p:pic>
                    <p:nvPicPr>
                      <p:cNvPr id="2246" name="Object 1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0274" y="1382121"/>
                        <a:ext cx="3778643" cy="4148264"/>
                      </a:xfrm>
                      <a:prstGeom prst="rect">
                        <a:avLst/>
                      </a:prstGeom>
                      <a:noFill/>
                      <a:ln>
                        <a:noFill/>
                      </a:ln>
                      <a:effectLst/>
                    </p:spPr>
                  </p:pic>
                </p:oleObj>
              </mc:Fallback>
            </mc:AlternateContent>
          </a:graphicData>
        </a:graphic>
      </p:graphicFrame>
      <p:sp>
        <p:nvSpPr>
          <p:cNvPr id="13" name="Text Box 199">
            <a:extLst>
              <a:ext uri="{FF2B5EF4-FFF2-40B4-BE49-F238E27FC236}">
                <a16:creationId xmlns:a16="http://schemas.microsoft.com/office/drawing/2014/main" id="{560915B8-0231-4612-A218-C0DC069FCA50}"/>
              </a:ext>
            </a:extLst>
          </p:cNvPr>
          <p:cNvSpPr txBox="1">
            <a:spLocks noChangeArrowheads="1"/>
          </p:cNvSpPr>
          <p:nvPr/>
        </p:nvSpPr>
        <p:spPr bwMode="auto">
          <a:xfrm>
            <a:off x="5333635" y="5609832"/>
            <a:ext cx="3302232"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7-34 </a:t>
            </a:r>
            <a:r>
              <a:rPr kumimoji="0" lang="zh-CN" altLang="en-US" b="1" dirty="0">
                <a:solidFill>
                  <a:srgbClr val="3333CC"/>
                </a:solidFill>
                <a:latin typeface="宋体" panose="02010600030101010101" pitchFamily="2" charset="-122"/>
                <a:ea typeface="宋体" panose="02010600030101010101" pitchFamily="2" charset="-122"/>
              </a:rPr>
              <a:t>钞票检查系统的原理图</a:t>
            </a:r>
          </a:p>
        </p:txBody>
      </p:sp>
    </p:spTree>
    <p:extLst>
      <p:ext uri="{BB962C8B-B14F-4D97-AF65-F5344CB8AC3E}">
        <p14:creationId xmlns:p14="http://schemas.microsoft.com/office/powerpoint/2010/main" val="29896286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7.7</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光栅式传感器</a:t>
            </a:r>
          </a:p>
        </p:txBody>
      </p:sp>
      <p:sp>
        <p:nvSpPr>
          <p:cNvPr id="5" name="矩形 4"/>
          <p:cNvSpPr/>
          <p:nvPr/>
        </p:nvSpPr>
        <p:spPr>
          <a:xfrm>
            <a:off x="2957317" y="1600166"/>
            <a:ext cx="6462070" cy="2210860"/>
          </a:xfrm>
          <a:prstGeom prst="rect">
            <a:avLst/>
          </a:prstGeom>
        </p:spPr>
        <p:txBody>
          <a:bodyPr wrap="square" lIns="91438" tIns="45719" rIns="91438" bIns="45719">
            <a:spAutoFit/>
          </a:bodyPr>
          <a:lstStyle/>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3" action="ppaction://hlinksldjump"/>
              </a:rPr>
              <a:t>基本工作原理和计量光栅的种类</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hlinkClick r:id="rId4" action="ppaction://hlinksldjump"/>
              </a:rPr>
              <a:t>莫尔条纹</a:t>
            </a:r>
            <a:endParaRPr lang="zh-CN" altLang="en-US" sz="2800" b="1" dirty="0">
              <a:solidFill>
                <a:schemeClr val="tx2"/>
              </a:solidFill>
              <a:latin typeface="Arial" panose="020B0604020202020204" pitchFamily="34" charset="0"/>
              <a:ea typeface="宋体" panose="02010600030101010101" pitchFamily="2" charset="-122"/>
              <a:cs typeface="Arial" panose="020B0604020202020204" pitchFamily="34" charset="0"/>
              <a:sym typeface="+mn-ea"/>
            </a:endParaRPr>
          </a:p>
          <a:p>
            <a:pPr>
              <a:lnSpc>
                <a:spcPct val="150000"/>
              </a:lnSpc>
              <a:spcBef>
                <a:spcPts val="670"/>
              </a:spcBef>
            </a:pPr>
            <a:r>
              <a:rPr lang="zh-CN" altLang="en-US" sz="2800" b="1" dirty="0">
                <a:solidFill>
                  <a:schemeClr val="bg1">
                    <a:lumMod val="75000"/>
                  </a:schemeClr>
                </a:solidFill>
                <a:latin typeface="Arial" panose="020B0604020202020204" pitchFamily="34" charset="0"/>
                <a:ea typeface="宋体" panose="02010600030101010101" pitchFamily="2" charset="-122"/>
                <a:cs typeface="Arial" panose="020B0604020202020204" pitchFamily="34" charset="0"/>
                <a:sym typeface="+mn-ea"/>
                <a:hlinkClick r:id="rId5" action="ppaction://hlinksldjump">
                  <a:extLst>
                    <a:ext uri="{A12FA001-AC4F-418D-AE19-62706E023703}">
                      <ahyp:hlinkClr xmlns:ahyp="http://schemas.microsoft.com/office/drawing/2018/hyperlinkcolor" val="tx"/>
                    </a:ext>
                  </a:extLst>
                </a:hlinkClick>
              </a:rPr>
              <a:t>辨向原理及细分电路</a:t>
            </a:r>
            <a:endParaRPr lang="zh-CN" altLang="en-US" sz="2800" b="1" dirty="0">
              <a:solidFill>
                <a:schemeClr val="bg1">
                  <a:lumMod val="75000"/>
                </a:schemeClr>
              </a:solidFill>
              <a:latin typeface="Arial" panose="020B0604020202020204" pitchFamily="34" charset="0"/>
              <a:ea typeface="宋体" panose="02010600030101010101" pitchFamily="2" charset="-122"/>
              <a:cs typeface="Arial" panose="020B0604020202020204" pitchFamily="34" charset="0"/>
              <a:sym typeface="+mn-ea"/>
            </a:endParaRPr>
          </a:p>
        </p:txBody>
      </p:sp>
      <p:pic>
        <p:nvPicPr>
          <p:cNvPr id="22530" name="Picture 2" descr="E:\教材修改\插图集合-未重命名\Heidenhain公司LC415系列密封式光栅传感器（左）和LT4100系列敞开式光栅传感器（右）.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4360" y="4170226"/>
            <a:ext cx="6378349" cy="1926347"/>
          </a:xfrm>
          <a:prstGeom prst="rect">
            <a:avLst/>
          </a:prstGeom>
          <a:noFill/>
          <a:extLst>
            <a:ext uri="{909E8E84-426E-40DD-AFC4-6F175D3DCCD1}">
              <a14:hiddenFill xmlns:a14="http://schemas.microsoft.com/office/drawing/2010/main">
                <a:solidFill>
                  <a:srgbClr val="FFFFFF"/>
                </a:solidFill>
              </a14:hiddenFill>
            </a:ext>
          </a:extLst>
        </p:spPr>
      </p:pic>
      <p:sp>
        <p:nvSpPr>
          <p:cNvPr id="19" name="圆角矩形 72">
            <a:extLst>
              <a:ext uri="{FF2B5EF4-FFF2-40B4-BE49-F238E27FC236}">
                <a16:creationId xmlns:a16="http://schemas.microsoft.com/office/drawing/2014/main" id="{343D7C8A-72E9-4E11-82F9-04D1F37F1B07}"/>
              </a:ext>
            </a:extLst>
          </p:cNvPr>
          <p:cNvSpPr/>
          <p:nvPr/>
        </p:nvSpPr>
        <p:spPr>
          <a:xfrm rot="10800000" flipV="1">
            <a:off x="1760107" y="1732922"/>
            <a:ext cx="1002281" cy="46885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7.7.1</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0" name="圆角矩形 73">
            <a:extLst>
              <a:ext uri="{FF2B5EF4-FFF2-40B4-BE49-F238E27FC236}">
                <a16:creationId xmlns:a16="http://schemas.microsoft.com/office/drawing/2014/main" id="{7997A031-0667-4F3B-9AA0-BAB02B443096}"/>
              </a:ext>
            </a:extLst>
          </p:cNvPr>
          <p:cNvSpPr/>
          <p:nvPr/>
        </p:nvSpPr>
        <p:spPr>
          <a:xfrm rot="10800000" flipV="1">
            <a:off x="1760103" y="2494086"/>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7.7.2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1" name="圆角矩形 73">
            <a:extLst>
              <a:ext uri="{FF2B5EF4-FFF2-40B4-BE49-F238E27FC236}">
                <a16:creationId xmlns:a16="http://schemas.microsoft.com/office/drawing/2014/main" id="{7997A031-0667-4F3B-9AA0-BAB02B443096}"/>
              </a:ext>
            </a:extLst>
          </p:cNvPr>
          <p:cNvSpPr/>
          <p:nvPr/>
        </p:nvSpPr>
        <p:spPr>
          <a:xfrm rot="10800000" flipV="1">
            <a:off x="1760103" y="3211092"/>
            <a:ext cx="1002285" cy="467244"/>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800" b="1" dirty="0">
                <a:latin typeface="Arial" panose="020B0604020202020204" pitchFamily="34" charset="0"/>
                <a:ea typeface="宋体" panose="02010600030101010101" pitchFamily="2" charset="-122"/>
                <a:cs typeface="Arial" panose="020B0604020202020204" pitchFamily="34" charset="0"/>
              </a:rPr>
              <a:t>7.7.2</a:t>
            </a:r>
            <a:endParaRPr lang="zh-CN" altLang="en-US" sz="2800" b="1" dirty="0">
              <a:latin typeface="Arial" panose="020B0604020202020204" pitchFamily="34" charset="0"/>
              <a:ea typeface="宋体" panose="02010600030101010101" pitchFamily="2" charset="-122"/>
              <a:cs typeface="Arial" panose="020B0604020202020204" pitchFamily="34" charset="0"/>
            </a:endParaRPr>
          </a:p>
        </p:txBody>
      </p:sp>
      <p:sp>
        <p:nvSpPr>
          <p:cNvPr id="2" name="Slide Number Placeholder 1">
            <a:extLst>
              <a:ext uri="{FF2B5EF4-FFF2-40B4-BE49-F238E27FC236}">
                <a16:creationId xmlns:a16="http://schemas.microsoft.com/office/drawing/2014/main" id="{F5CCA63A-C002-4123-AF90-98616F865D56}"/>
              </a:ext>
            </a:extLst>
          </p:cNvPr>
          <p:cNvSpPr>
            <a:spLocks noGrp="1"/>
          </p:cNvSpPr>
          <p:nvPr>
            <p:ph type="sldNum" sz="quarter" idx="12"/>
          </p:nvPr>
        </p:nvSpPr>
        <p:spPr/>
        <p:txBody>
          <a:bodyPr/>
          <a:lstStyle/>
          <a:p>
            <a:fld id="{B53602B4-F12B-41CD-B648-531F86B2CC91}" type="slidenum">
              <a:rPr lang="zh-CN" altLang="en-US" smtClean="0"/>
              <a:t>64</a:t>
            </a:fld>
            <a:endParaRPr lang="zh-CN" altLang="en-US"/>
          </a:p>
        </p:txBody>
      </p:sp>
    </p:spTree>
    <p:extLst>
      <p:ext uri="{BB962C8B-B14F-4D97-AF65-F5344CB8AC3E}">
        <p14:creationId xmlns:p14="http://schemas.microsoft.com/office/powerpoint/2010/main" val="5427748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201">
            <a:extLst>
              <a:ext uri="{FF2B5EF4-FFF2-40B4-BE49-F238E27FC236}">
                <a16:creationId xmlns:a16="http://schemas.microsoft.com/office/drawing/2014/main" id="{B1B838DF-66D1-4F23-AB5E-AD2C4D6D88BC}"/>
              </a:ext>
            </a:extLst>
          </p:cNvPr>
          <p:cNvGraphicFramePr>
            <a:graphicFrameLocks noChangeAspect="1"/>
          </p:cNvGraphicFramePr>
          <p:nvPr>
            <p:extLst>
              <p:ext uri="{D42A27DB-BD31-4B8C-83A1-F6EECF244321}">
                <p14:modId xmlns:p14="http://schemas.microsoft.com/office/powerpoint/2010/main" val="190402449"/>
              </p:ext>
            </p:extLst>
          </p:nvPr>
        </p:nvGraphicFramePr>
        <p:xfrm>
          <a:off x="744721" y="2939395"/>
          <a:ext cx="8001000" cy="3217863"/>
        </p:xfrm>
        <a:graphic>
          <a:graphicData uri="http://schemas.openxmlformats.org/presentationml/2006/ole">
            <mc:AlternateContent xmlns:mc="http://schemas.openxmlformats.org/markup-compatibility/2006">
              <mc:Choice xmlns:v="urn:schemas-microsoft-com:vml" Requires="v">
                <p:oleObj name="Image" r:id="rId3" imgW="27291429" imgH="10971429" progId="Photoshop.Image.7">
                  <p:embed/>
                </p:oleObj>
              </mc:Choice>
              <mc:Fallback>
                <p:oleObj name="Image" r:id="rId3" imgW="27291429" imgH="10971429" progId="Photoshop.Image.7">
                  <p:embed/>
                  <p:pic>
                    <p:nvPicPr>
                      <p:cNvPr id="2249" name="Object 2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721" y="2939395"/>
                        <a:ext cx="8001000" cy="321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7.7.1</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基本工作原理和计量光栅的种类</a:t>
            </a:r>
          </a:p>
        </p:txBody>
      </p:sp>
      <p:sp>
        <p:nvSpPr>
          <p:cNvPr id="2" name="Slide Number Placeholder 1">
            <a:extLst>
              <a:ext uri="{FF2B5EF4-FFF2-40B4-BE49-F238E27FC236}">
                <a16:creationId xmlns:a16="http://schemas.microsoft.com/office/drawing/2014/main" id="{734899D3-2282-4E07-BD95-8D3EA99118C8}"/>
              </a:ext>
            </a:extLst>
          </p:cNvPr>
          <p:cNvSpPr>
            <a:spLocks noGrp="1"/>
          </p:cNvSpPr>
          <p:nvPr>
            <p:ph type="sldNum" sz="quarter" idx="12"/>
          </p:nvPr>
        </p:nvSpPr>
        <p:spPr/>
        <p:txBody>
          <a:bodyPr/>
          <a:lstStyle/>
          <a:p>
            <a:fld id="{B53602B4-F12B-41CD-B648-531F86B2CC91}" type="slidenum">
              <a:rPr lang="zh-CN" altLang="en-US" smtClean="0"/>
              <a:t>65</a:t>
            </a:fld>
            <a:endParaRPr lang="zh-CN" altLang="en-US"/>
          </a:p>
        </p:txBody>
      </p:sp>
      <p:sp>
        <p:nvSpPr>
          <p:cNvPr id="7" name="Text Box 200">
            <a:extLst>
              <a:ext uri="{FF2B5EF4-FFF2-40B4-BE49-F238E27FC236}">
                <a16:creationId xmlns:a16="http://schemas.microsoft.com/office/drawing/2014/main" id="{2FEA5E0C-FCB8-4AB2-AC5B-660A57A33C6F}"/>
              </a:ext>
            </a:extLst>
          </p:cNvPr>
          <p:cNvSpPr txBox="1">
            <a:spLocks noChangeArrowheads="1"/>
          </p:cNvSpPr>
          <p:nvPr/>
        </p:nvSpPr>
        <p:spPr bwMode="auto">
          <a:xfrm>
            <a:off x="2920285" y="6006518"/>
            <a:ext cx="3637384"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7-35 </a:t>
            </a:r>
            <a:r>
              <a:rPr kumimoji="0" lang="zh-CN" altLang="en-US" b="1" dirty="0">
                <a:solidFill>
                  <a:srgbClr val="3333CC"/>
                </a:solidFill>
                <a:latin typeface="宋体" panose="02010600030101010101" pitchFamily="2" charset="-122"/>
                <a:ea typeface="宋体" panose="02010600030101010101" pitchFamily="2" charset="-122"/>
              </a:rPr>
              <a:t>光栅栅线放大图</a:t>
            </a:r>
          </a:p>
        </p:txBody>
      </p:sp>
      <p:sp>
        <p:nvSpPr>
          <p:cNvPr id="10" name="TextBox 9">
            <a:extLst>
              <a:ext uri="{FF2B5EF4-FFF2-40B4-BE49-F238E27FC236}">
                <a16:creationId xmlns:a16="http://schemas.microsoft.com/office/drawing/2014/main" id="{9E1E237B-A854-44ED-98B1-9AD8712C21C1}"/>
              </a:ext>
            </a:extLst>
          </p:cNvPr>
          <p:cNvSpPr txBox="1"/>
          <p:nvPr/>
        </p:nvSpPr>
        <p:spPr>
          <a:xfrm>
            <a:off x="185083" y="1378392"/>
            <a:ext cx="3724801" cy="1169551"/>
          </a:xfrm>
          <a:prstGeom prst="rect">
            <a:avLst/>
          </a:prstGeom>
          <a:noFill/>
        </p:spPr>
        <p:txBody>
          <a:bodyPr wrap="square" rtlCol="0">
            <a:spAutoFit/>
          </a:bodyPr>
          <a:lstStyle>
            <a:defPPr>
              <a:defRPr lang="zh-CN"/>
            </a:defPPr>
            <a:lvl1pPr indent="630238">
              <a:lnSpc>
                <a:spcPct val="150000"/>
              </a:lnSpc>
              <a:defRPr sz="2400" b="1">
                <a:latin typeface="宋体" panose="02010600030101010101" pitchFamily="2" charset="-122"/>
                <a:ea typeface="宋体" panose="02010600030101010101" pitchFamily="2" charset="-122"/>
              </a:defRPr>
            </a:lvl1pPr>
          </a:lstStyle>
          <a:p>
            <a:pPr marL="342900" indent="-342900">
              <a:lnSpc>
                <a:spcPct val="100000"/>
              </a:lnSpc>
              <a:spcBef>
                <a:spcPts val="600"/>
              </a:spcBef>
              <a:buFont typeface="Wingdings" panose="05000000000000000000" pitchFamily="2" charset="2"/>
              <a:buChar char="§"/>
            </a:pPr>
            <a:r>
              <a:rPr lang="zh-CN" altLang="en-US" sz="2000"/>
              <a:t>黑白相同、间隔细小的条纹</a:t>
            </a:r>
            <a:endParaRPr lang="en-US" altLang="zh-CN" sz="2000"/>
          </a:p>
          <a:p>
            <a:pPr marL="342900" indent="-342900">
              <a:lnSpc>
                <a:spcPct val="100000"/>
              </a:lnSpc>
              <a:spcBef>
                <a:spcPts val="600"/>
              </a:spcBef>
              <a:buFont typeface="Wingdings" panose="05000000000000000000" pitchFamily="2" charset="2"/>
              <a:buChar char="§"/>
            </a:pPr>
            <a:r>
              <a:rPr lang="zh-CN" altLang="en-US" sz="2000"/>
              <a:t>没有刻划的白处透光</a:t>
            </a:r>
            <a:endParaRPr lang="en-US" altLang="zh-CN" sz="2000"/>
          </a:p>
          <a:p>
            <a:pPr marL="342900" indent="-342900">
              <a:lnSpc>
                <a:spcPct val="100000"/>
              </a:lnSpc>
              <a:spcBef>
                <a:spcPts val="600"/>
              </a:spcBef>
              <a:buFont typeface="Wingdings" panose="05000000000000000000" pitchFamily="2" charset="2"/>
              <a:buChar char="§"/>
            </a:pPr>
            <a:r>
              <a:rPr lang="zh-CN" altLang="en-US" sz="2000"/>
              <a:t>刻划的黑处不透光</a:t>
            </a:r>
            <a:endParaRPr lang="en-001" sz="2000"/>
          </a:p>
        </p:txBody>
      </p:sp>
      <p:sp>
        <p:nvSpPr>
          <p:cNvPr id="12" name="TextBox 11">
            <a:extLst>
              <a:ext uri="{FF2B5EF4-FFF2-40B4-BE49-F238E27FC236}">
                <a16:creationId xmlns:a16="http://schemas.microsoft.com/office/drawing/2014/main" id="{3F082837-B451-4234-BF9E-FECC2638B9DB}"/>
              </a:ext>
            </a:extLst>
          </p:cNvPr>
          <p:cNvSpPr txBox="1"/>
          <p:nvPr/>
        </p:nvSpPr>
        <p:spPr>
          <a:xfrm>
            <a:off x="4111503" y="1186031"/>
            <a:ext cx="5052725" cy="1554272"/>
          </a:xfrm>
          <a:prstGeom prst="rect">
            <a:avLst/>
          </a:prstGeom>
          <a:noFill/>
        </p:spPr>
        <p:txBody>
          <a:bodyPr wrap="square" rtlCol="0">
            <a:spAutoFit/>
          </a:bodyPr>
          <a:lstStyle>
            <a:defPPr>
              <a:defRPr lang="zh-CN"/>
            </a:defPPr>
            <a:lvl1pPr marL="342900" indent="-342900">
              <a:lnSpc>
                <a:spcPct val="100000"/>
              </a:lnSpc>
              <a:spcBef>
                <a:spcPts val="600"/>
              </a:spcBef>
              <a:buFont typeface="Wingdings" panose="05000000000000000000" pitchFamily="2" charset="2"/>
              <a:buChar char="§"/>
              <a:defRPr sz="2400" b="1">
                <a:latin typeface="宋体" panose="02010600030101010101" pitchFamily="2" charset="-122"/>
                <a:ea typeface="宋体" panose="02010600030101010101" pitchFamily="2" charset="-122"/>
              </a:defRPr>
            </a:lvl1pPr>
          </a:lstStyle>
          <a:p>
            <a:r>
              <a:rPr lang="en-001" sz="2000"/>
              <a:t>栅线的宽度为</a:t>
            </a:r>
            <a:r>
              <a:rPr lang="en-US" sz="2000"/>
              <a:t> </a:t>
            </a:r>
            <a:r>
              <a:rPr lang="en-001" sz="2000"/>
              <a:t>a</a:t>
            </a:r>
          </a:p>
          <a:p>
            <a:r>
              <a:rPr lang="en-001" sz="2000"/>
              <a:t>缝隙宽度为</a:t>
            </a:r>
            <a:r>
              <a:rPr lang="en-US" sz="2000"/>
              <a:t> </a:t>
            </a:r>
            <a:r>
              <a:rPr lang="en-001" sz="2000"/>
              <a:t>b</a:t>
            </a:r>
          </a:p>
          <a:p>
            <a:r>
              <a:rPr lang="en-001" sz="2000"/>
              <a:t>一般都取</a:t>
            </a:r>
            <a:r>
              <a:rPr lang="en-US" sz="2000"/>
              <a:t> </a:t>
            </a:r>
            <a:r>
              <a:rPr lang="en-001" sz="2000"/>
              <a:t>a= b</a:t>
            </a:r>
          </a:p>
          <a:p>
            <a:r>
              <a:rPr lang="en-001" sz="2000"/>
              <a:t>W=a+b, 为光栅的栅距（也称光栅常数）</a:t>
            </a:r>
          </a:p>
        </p:txBody>
      </p:sp>
    </p:spTree>
    <p:extLst>
      <p:ext uri="{BB962C8B-B14F-4D97-AF65-F5344CB8AC3E}">
        <p14:creationId xmlns:p14="http://schemas.microsoft.com/office/powerpoint/2010/main" val="28979106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7.7.1</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基本工作原理和计量光栅的种类</a:t>
            </a:r>
          </a:p>
        </p:txBody>
      </p:sp>
      <p:sp>
        <p:nvSpPr>
          <p:cNvPr id="6" name="TextBox 5"/>
          <p:cNvSpPr txBox="1"/>
          <p:nvPr/>
        </p:nvSpPr>
        <p:spPr>
          <a:xfrm>
            <a:off x="962108" y="1957015"/>
            <a:ext cx="7309428" cy="3416320"/>
          </a:xfrm>
          <a:prstGeom prst="rect">
            <a:avLst/>
          </a:prstGeom>
          <a:noFill/>
        </p:spPr>
        <p:txBody>
          <a:bodyPr wrap="square" rtlCol="0">
            <a:spAutoFit/>
          </a:bodyPr>
          <a:lstStyle/>
          <a:p>
            <a:pPr indent="630238">
              <a:lnSpc>
                <a:spcPct val="150000"/>
              </a:lnSpc>
            </a:pPr>
            <a:r>
              <a:rPr lang="zh-CN" altLang="en-US" sz="2400" b="1" dirty="0">
                <a:latin typeface="宋体" panose="02010600030101010101" pitchFamily="2" charset="-122"/>
                <a:ea typeface="宋体" panose="02010600030101010101" pitchFamily="2" charset="-122"/>
              </a:rPr>
              <a:t>利用光栅的莫尔条纹进行精密测量。在圆分度和角位移测量方面，是</a:t>
            </a:r>
            <a:r>
              <a:rPr lang="zh-CN" altLang="en-US" sz="2400" b="1" dirty="0">
                <a:solidFill>
                  <a:srgbClr val="FF0000"/>
                </a:solidFill>
                <a:latin typeface="宋体" panose="02010600030101010101" pitchFamily="2" charset="-122"/>
                <a:ea typeface="宋体" panose="02010600030101010101" pitchFamily="2" charset="-122"/>
              </a:rPr>
              <a:t>精度很高</a:t>
            </a:r>
            <a:r>
              <a:rPr lang="zh-CN" altLang="en-US" sz="2400" b="1" dirty="0">
                <a:latin typeface="宋体" panose="02010600030101010101" pitchFamily="2" charset="-122"/>
                <a:ea typeface="宋体" panose="02010600030101010101" pitchFamily="2" charset="-122"/>
              </a:rPr>
              <a:t>的传感</a:t>
            </a:r>
            <a:r>
              <a:rPr lang="zh-CN" altLang="en-US" sz="2400" b="1">
                <a:latin typeface="宋体" panose="02010600030101010101" pitchFamily="2" charset="-122"/>
                <a:ea typeface="宋体" panose="02010600030101010101" pitchFamily="2" charset="-122"/>
              </a:rPr>
              <a:t>器。</a:t>
            </a:r>
            <a:endParaRPr lang="en-US" altLang="zh-CN" sz="2400" b="1">
              <a:latin typeface="宋体" panose="02010600030101010101" pitchFamily="2" charset="-122"/>
              <a:ea typeface="宋体" panose="02010600030101010101" pitchFamily="2" charset="-122"/>
            </a:endParaRPr>
          </a:p>
          <a:p>
            <a:pPr indent="630238">
              <a:lnSpc>
                <a:spcPct val="150000"/>
              </a:lnSpc>
            </a:pPr>
            <a:r>
              <a:rPr lang="zh-CN" altLang="en-US" sz="2400" b="1">
                <a:latin typeface="宋体" panose="02010600030101010101" pitchFamily="2" charset="-122"/>
                <a:ea typeface="宋体" panose="02010600030101010101" pitchFamily="2" charset="-122"/>
              </a:rPr>
              <a:t>可</a:t>
            </a:r>
            <a:r>
              <a:rPr lang="zh-CN" altLang="en-US" sz="2400" b="1" dirty="0">
                <a:latin typeface="宋体" panose="02010600030101010101" pitchFamily="2" charset="-122"/>
                <a:ea typeface="宋体" panose="02010600030101010101" pitchFamily="2" charset="-122"/>
              </a:rPr>
              <a:t>同时实现大量程和高分辨率</a:t>
            </a:r>
            <a:r>
              <a:rPr lang="zh-CN" altLang="en-US" sz="2400" b="1">
                <a:latin typeface="宋体" panose="02010600030101010101" pitchFamily="2" charset="-122"/>
                <a:ea typeface="宋体" panose="02010600030101010101" pitchFamily="2" charset="-122"/>
              </a:rPr>
              <a:t>测量、及</a:t>
            </a:r>
            <a:r>
              <a:rPr lang="zh-CN" altLang="en-US" sz="2400" b="1">
                <a:solidFill>
                  <a:srgbClr val="FF0000"/>
                </a:solidFill>
                <a:latin typeface="宋体" panose="02010600030101010101" pitchFamily="2" charset="-122"/>
                <a:ea typeface="宋体" panose="02010600030101010101" pitchFamily="2" charset="-122"/>
              </a:rPr>
              <a:t>动</a:t>
            </a:r>
            <a:r>
              <a:rPr lang="zh-CN" altLang="en-US" sz="2400" b="1" dirty="0">
                <a:solidFill>
                  <a:srgbClr val="FF0000"/>
                </a:solidFill>
                <a:latin typeface="宋体" panose="02010600030101010101" pitchFamily="2" charset="-122"/>
                <a:ea typeface="宋体" panose="02010600030101010101" pitchFamily="2" charset="-122"/>
              </a:rPr>
              <a:t>态测量</a:t>
            </a:r>
            <a:r>
              <a:rPr lang="zh-CN" altLang="en-US" sz="2400" b="1" dirty="0">
                <a:latin typeface="宋体" panose="02010600030101010101" pitchFamily="2" charset="-122"/>
                <a:ea typeface="宋体" panose="02010600030101010101" pitchFamily="2" charset="-122"/>
              </a:rPr>
              <a:t>。其精度取决于光栅刻线精度。</a:t>
            </a:r>
            <a:endParaRPr lang="en-US" altLang="zh-CN" sz="2400" b="1" dirty="0">
              <a:latin typeface="宋体" panose="02010600030101010101" pitchFamily="2" charset="-122"/>
              <a:ea typeface="宋体" panose="02010600030101010101" pitchFamily="2" charset="-122"/>
            </a:endParaRPr>
          </a:p>
          <a:p>
            <a:pPr indent="630238">
              <a:lnSpc>
                <a:spcPct val="150000"/>
              </a:lnSpc>
            </a:pPr>
            <a:r>
              <a:rPr lang="zh-CN" altLang="en-US" sz="2400" b="1" dirty="0">
                <a:latin typeface="宋体" panose="02010600030101010101" pitchFamily="2" charset="-122"/>
                <a:ea typeface="宋体" panose="02010600030101010101" pitchFamily="2" charset="-122"/>
              </a:rPr>
              <a:t>光栅式传</a:t>
            </a:r>
            <a:r>
              <a:rPr lang="zh-CN" altLang="en-US" sz="2400" b="1">
                <a:latin typeface="宋体" panose="02010600030101010101" pitchFamily="2" charset="-122"/>
                <a:ea typeface="宋体" panose="02010600030101010101" pitchFamily="2" charset="-122"/>
              </a:rPr>
              <a:t>感器由</a:t>
            </a:r>
            <a:r>
              <a:rPr lang="zh-CN" altLang="en-US" sz="2400" b="1" dirty="0">
                <a:latin typeface="宋体" panose="02010600030101010101" pitchFamily="2" charset="-122"/>
                <a:ea typeface="宋体" panose="02010600030101010101" pitchFamily="2" charset="-122"/>
              </a:rPr>
              <a:t>光源、透镜、主光栅、指示光栅和光电元件构成。</a:t>
            </a:r>
          </a:p>
        </p:txBody>
      </p:sp>
      <p:sp>
        <p:nvSpPr>
          <p:cNvPr id="2" name="Slide Number Placeholder 1">
            <a:extLst>
              <a:ext uri="{FF2B5EF4-FFF2-40B4-BE49-F238E27FC236}">
                <a16:creationId xmlns:a16="http://schemas.microsoft.com/office/drawing/2014/main" id="{734899D3-2282-4E07-BD95-8D3EA99118C8}"/>
              </a:ext>
            </a:extLst>
          </p:cNvPr>
          <p:cNvSpPr>
            <a:spLocks noGrp="1"/>
          </p:cNvSpPr>
          <p:nvPr>
            <p:ph type="sldNum" sz="quarter" idx="12"/>
          </p:nvPr>
        </p:nvSpPr>
        <p:spPr/>
        <p:txBody>
          <a:bodyPr/>
          <a:lstStyle/>
          <a:p>
            <a:fld id="{B53602B4-F12B-41CD-B648-531F86B2CC91}" type="slidenum">
              <a:rPr lang="zh-CN" altLang="en-US" smtClean="0"/>
              <a:t>66</a:t>
            </a:fld>
            <a:endParaRPr lang="zh-CN" altLang="en-US"/>
          </a:p>
        </p:txBody>
      </p:sp>
    </p:spTree>
    <p:extLst>
      <p:ext uri="{BB962C8B-B14F-4D97-AF65-F5344CB8AC3E}">
        <p14:creationId xmlns:p14="http://schemas.microsoft.com/office/powerpoint/2010/main" val="98951049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9">
            <a:extLst>
              <a:ext uri="{FF2B5EF4-FFF2-40B4-BE49-F238E27FC236}">
                <a16:creationId xmlns:a16="http://schemas.microsoft.com/office/drawing/2014/main" id="{82149BD9-AA01-407A-9FBB-2FCE44A203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9441" y="4056634"/>
            <a:ext cx="6765117" cy="2395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7.7.1</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基本工作原理和计量光栅的种类</a:t>
            </a:r>
          </a:p>
        </p:txBody>
      </p:sp>
      <p:sp>
        <p:nvSpPr>
          <p:cNvPr id="6" name="TextBox 5"/>
          <p:cNvSpPr txBox="1"/>
          <p:nvPr/>
        </p:nvSpPr>
        <p:spPr>
          <a:xfrm>
            <a:off x="111124" y="1145813"/>
            <a:ext cx="8921751" cy="3002553"/>
          </a:xfrm>
          <a:prstGeom prst="rect">
            <a:avLst/>
          </a:prstGeom>
          <a:noFill/>
        </p:spPr>
        <p:txBody>
          <a:bodyPr wrap="square" rtlCol="0">
            <a:spAutoFit/>
          </a:bodyPr>
          <a:lstStyle>
            <a:defPPr>
              <a:defRPr lang="zh-CN"/>
            </a:defPPr>
            <a:lvl1pPr marL="342900" indent="-342900">
              <a:lnSpc>
                <a:spcPct val="100000"/>
              </a:lnSpc>
              <a:spcBef>
                <a:spcPts val="600"/>
              </a:spcBef>
              <a:buFont typeface="Wingdings" panose="05000000000000000000" pitchFamily="2" charset="2"/>
              <a:buChar char="§"/>
              <a:defRPr sz="2000" b="1">
                <a:latin typeface="宋体" panose="02010600030101010101" pitchFamily="2" charset="-122"/>
                <a:ea typeface="宋体" panose="02010600030101010101" pitchFamily="2" charset="-122"/>
              </a:defRPr>
            </a:lvl1pPr>
          </a:lstStyle>
          <a:p>
            <a:pPr>
              <a:lnSpc>
                <a:spcPct val="110000"/>
              </a:lnSpc>
              <a:spcBef>
                <a:spcPts val="400"/>
              </a:spcBef>
            </a:pPr>
            <a:r>
              <a:rPr lang="zh-CN" altLang="en-US" sz="1800" dirty="0"/>
              <a:t>两块光栅栅距相同，其中光栅</a:t>
            </a:r>
            <a:r>
              <a:rPr lang="en-US" altLang="zh-CN" sz="1800" dirty="0"/>
              <a:t>3 </a:t>
            </a:r>
            <a:r>
              <a:rPr lang="zh-CN" altLang="en-US" sz="1800" dirty="0"/>
              <a:t>为主光栅、光栅</a:t>
            </a:r>
            <a:r>
              <a:rPr lang="en-US" altLang="zh-CN" sz="1800" dirty="0"/>
              <a:t>4 </a:t>
            </a:r>
            <a:r>
              <a:rPr lang="zh-CN" altLang="en-US" sz="1800" dirty="0"/>
              <a:t>为指示光栅，指示光栅比主光栅要短，这两者刻面相对，中间留有很小的间隙</a:t>
            </a:r>
            <a:r>
              <a:rPr lang="en-US" altLang="zh-CN" sz="1800" dirty="0"/>
              <a:t>d, </a:t>
            </a:r>
            <a:r>
              <a:rPr lang="zh-CN" altLang="en-US" sz="1800" dirty="0"/>
              <a:t>便组成了光栅副。</a:t>
            </a:r>
            <a:endParaRPr lang="en-US" altLang="zh-CN" sz="1800" dirty="0"/>
          </a:p>
          <a:p>
            <a:pPr>
              <a:lnSpc>
                <a:spcPct val="110000"/>
              </a:lnSpc>
              <a:spcBef>
                <a:spcPts val="400"/>
              </a:spcBef>
            </a:pPr>
            <a:r>
              <a:rPr lang="zh-CN" altLang="en-US" sz="1800" dirty="0"/>
              <a:t>将其置于由光源</a:t>
            </a:r>
            <a:r>
              <a:rPr lang="en-US" altLang="zh-CN" sz="1800" dirty="0"/>
              <a:t>1 </a:t>
            </a:r>
            <a:r>
              <a:rPr lang="zh-CN" altLang="en-US" sz="1800" dirty="0"/>
              <a:t>和透镜</a:t>
            </a:r>
            <a:r>
              <a:rPr lang="en-US" altLang="zh-CN" sz="1800" dirty="0"/>
              <a:t>2 </a:t>
            </a:r>
            <a:r>
              <a:rPr lang="zh-CN" altLang="en-US" sz="1800" dirty="0"/>
              <a:t>形成的平行光束的光路中，若两光栅栅线之间有很小的夹角</a:t>
            </a:r>
            <a:r>
              <a:rPr lang="en-US" altLang="zh-CN" sz="1800" dirty="0"/>
              <a:t>, </a:t>
            </a:r>
            <a:r>
              <a:rPr lang="zh-CN" altLang="en-US" sz="1800" dirty="0"/>
              <a:t>则在近似垂直于栅线方向上就显现出比栅距</a:t>
            </a:r>
            <a:r>
              <a:rPr lang="en-US" altLang="zh-CN" sz="1800" dirty="0"/>
              <a:t>W </a:t>
            </a:r>
            <a:r>
              <a:rPr lang="zh-CN" altLang="en-US" sz="1800" dirty="0"/>
              <a:t>宽得多的、明暗相间的条纹</a:t>
            </a:r>
            <a:r>
              <a:rPr lang="en-US" altLang="zh-CN" sz="1800" dirty="0"/>
              <a:t>6, </a:t>
            </a:r>
            <a:r>
              <a:rPr lang="zh-CN" altLang="en-US" sz="1800" dirty="0"/>
              <a:t>这就是莫尔条纹。</a:t>
            </a:r>
            <a:endParaRPr lang="en-US" altLang="zh-CN" sz="1800" dirty="0"/>
          </a:p>
          <a:p>
            <a:pPr>
              <a:lnSpc>
                <a:spcPct val="110000"/>
              </a:lnSpc>
              <a:spcBef>
                <a:spcPts val="400"/>
              </a:spcBef>
            </a:pPr>
            <a:r>
              <a:rPr lang="zh-CN" altLang="en-US" sz="1800" dirty="0"/>
              <a:t>莫尔条纹的信号光强分布如曲线</a:t>
            </a:r>
            <a:r>
              <a:rPr lang="en-US" altLang="zh-CN" sz="1800" dirty="0"/>
              <a:t>7 </a:t>
            </a:r>
            <a:r>
              <a:rPr lang="zh-CN" altLang="en-US" sz="1800" dirty="0"/>
              <a:t>所示。中间为亮带，上下为两条暗带。</a:t>
            </a:r>
            <a:endParaRPr lang="en-US" altLang="zh-CN" sz="1800" dirty="0"/>
          </a:p>
          <a:p>
            <a:pPr>
              <a:lnSpc>
                <a:spcPct val="110000"/>
              </a:lnSpc>
              <a:spcBef>
                <a:spcPts val="400"/>
              </a:spcBef>
            </a:pPr>
            <a:r>
              <a:rPr lang="zh-CN" altLang="en-US" sz="1800" dirty="0"/>
              <a:t>当主光栅沿垂直于栅线的</a:t>
            </a:r>
            <a:r>
              <a:rPr lang="en-US" altLang="zh-CN" sz="1800" dirty="0"/>
              <a:t>x </a:t>
            </a:r>
            <a:r>
              <a:rPr lang="zh-CN" altLang="en-US" sz="1800" dirty="0"/>
              <a:t>方向每移动过一个栅距</a:t>
            </a:r>
            <a:r>
              <a:rPr lang="en-US" altLang="zh-CN" sz="1800" dirty="0"/>
              <a:t>W </a:t>
            </a:r>
            <a:r>
              <a:rPr lang="zh-CN" altLang="en-US" sz="1800" dirty="0"/>
              <a:t>时，莫尔条纹近似沿栅线方向移过一个条纹间距。</a:t>
            </a:r>
            <a:endParaRPr lang="en-US" altLang="zh-CN" sz="1800" dirty="0"/>
          </a:p>
          <a:p>
            <a:pPr>
              <a:lnSpc>
                <a:spcPct val="110000"/>
              </a:lnSpc>
              <a:spcBef>
                <a:spcPts val="400"/>
              </a:spcBef>
            </a:pPr>
            <a:r>
              <a:rPr lang="zh-CN" altLang="en-US" sz="1800" dirty="0"/>
              <a:t>光电元件</a:t>
            </a:r>
            <a:r>
              <a:rPr lang="en-US" altLang="zh-CN" sz="1800" dirty="0"/>
              <a:t>5 </a:t>
            </a:r>
            <a:r>
              <a:rPr lang="zh-CN" altLang="en-US" sz="1800" dirty="0"/>
              <a:t>接收莫尔条纹信号，经电路处理后计数可得主光栅移动的距离。</a:t>
            </a:r>
          </a:p>
        </p:txBody>
      </p:sp>
      <p:sp>
        <p:nvSpPr>
          <p:cNvPr id="2" name="Slide Number Placeholder 1">
            <a:extLst>
              <a:ext uri="{FF2B5EF4-FFF2-40B4-BE49-F238E27FC236}">
                <a16:creationId xmlns:a16="http://schemas.microsoft.com/office/drawing/2014/main" id="{734899D3-2282-4E07-BD95-8D3EA99118C8}"/>
              </a:ext>
            </a:extLst>
          </p:cNvPr>
          <p:cNvSpPr>
            <a:spLocks noGrp="1"/>
          </p:cNvSpPr>
          <p:nvPr>
            <p:ph type="sldNum" sz="quarter" idx="12"/>
          </p:nvPr>
        </p:nvSpPr>
        <p:spPr/>
        <p:txBody>
          <a:bodyPr/>
          <a:lstStyle/>
          <a:p>
            <a:fld id="{B53602B4-F12B-41CD-B648-531F86B2CC91}" type="slidenum">
              <a:rPr lang="zh-CN" altLang="en-US" smtClean="0"/>
              <a:t>67</a:t>
            </a:fld>
            <a:endParaRPr lang="zh-CN" altLang="en-US"/>
          </a:p>
        </p:txBody>
      </p:sp>
      <p:sp>
        <p:nvSpPr>
          <p:cNvPr id="7" name="Text Box 203">
            <a:extLst>
              <a:ext uri="{FF2B5EF4-FFF2-40B4-BE49-F238E27FC236}">
                <a16:creationId xmlns:a16="http://schemas.microsoft.com/office/drawing/2014/main" id="{AE6209F5-2838-4E27-A03E-F99883122E6C}"/>
              </a:ext>
            </a:extLst>
          </p:cNvPr>
          <p:cNvSpPr txBox="1">
            <a:spLocks noChangeArrowheads="1"/>
          </p:cNvSpPr>
          <p:nvPr/>
        </p:nvSpPr>
        <p:spPr bwMode="auto">
          <a:xfrm>
            <a:off x="2365014" y="6381331"/>
            <a:ext cx="4869544"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7-36 </a:t>
            </a:r>
            <a:r>
              <a:rPr kumimoji="0" lang="zh-CN" altLang="en-US" b="1" dirty="0">
                <a:solidFill>
                  <a:srgbClr val="3333CC"/>
                </a:solidFill>
                <a:latin typeface="宋体" panose="02010600030101010101" pitchFamily="2" charset="-122"/>
                <a:ea typeface="宋体" panose="02010600030101010101" pitchFamily="2" charset="-122"/>
              </a:rPr>
              <a:t>光栅传感器的构成原理图</a:t>
            </a:r>
          </a:p>
        </p:txBody>
      </p:sp>
    </p:spTree>
    <p:extLst>
      <p:ext uri="{BB962C8B-B14F-4D97-AF65-F5344CB8AC3E}">
        <p14:creationId xmlns:p14="http://schemas.microsoft.com/office/powerpoint/2010/main" val="227924112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7.7.1</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基本工作原理和计量光栅的种类</a:t>
            </a:r>
          </a:p>
        </p:txBody>
      </p:sp>
      <p:sp>
        <p:nvSpPr>
          <p:cNvPr id="5" name="矩形 4"/>
          <p:cNvSpPr/>
          <p:nvPr/>
        </p:nvSpPr>
        <p:spPr>
          <a:xfrm>
            <a:off x="1108506" y="1540965"/>
            <a:ext cx="7266237" cy="3898566"/>
          </a:xfrm>
          <a:prstGeom prst="rect">
            <a:avLst/>
          </a:prstGeom>
        </p:spPr>
        <p:txBody>
          <a:bodyPr wrap="square" lIns="91438" tIns="45719" rIns="91438" bIns="45719">
            <a:spAutoFit/>
          </a:bodyPr>
          <a:lstStyle/>
          <a:p>
            <a:pPr indent="623888">
              <a:lnSpc>
                <a:spcPct val="200000"/>
              </a:lnSpc>
              <a:spcBef>
                <a:spcPts val="60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光栅的种类</a:t>
            </a:r>
            <a:r>
              <a:rPr lang="zh-CN" altLang="en-US" sz="2400" b="1">
                <a:latin typeface="Arial" panose="020B0604020202020204" pitchFamily="34" charset="0"/>
                <a:ea typeface="宋体" panose="02010600030101010101" pitchFamily="2" charset="-122"/>
                <a:cs typeface="Arial" panose="020B0604020202020204" pitchFamily="34" charset="0"/>
                <a:sym typeface="+mn-ea"/>
              </a:rPr>
              <a:t>很多，按</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工作原理分，有物理光栅和计量光栅两</a:t>
            </a:r>
            <a:r>
              <a:rPr lang="zh-CN" altLang="en-US" sz="2400" b="1">
                <a:latin typeface="Arial" panose="020B0604020202020204" pitchFamily="34" charset="0"/>
                <a:ea typeface="宋体" panose="02010600030101010101" pitchFamily="2" charset="-122"/>
                <a:cs typeface="Arial" panose="020B0604020202020204" pitchFamily="34" charset="0"/>
                <a:sym typeface="+mn-ea"/>
              </a:rPr>
              <a:t>种，</a:t>
            </a:r>
            <a:endParaRPr lang="en-US" altLang="zh-CN" sz="2400" b="1">
              <a:latin typeface="Arial" panose="020B0604020202020204" pitchFamily="34" charset="0"/>
              <a:ea typeface="宋体" panose="02010600030101010101" pitchFamily="2" charset="-122"/>
              <a:cs typeface="Arial" panose="020B0604020202020204" pitchFamily="34" charset="0"/>
              <a:sym typeface="+mn-ea"/>
            </a:endParaRPr>
          </a:p>
          <a:p>
            <a:pPr marL="342900" indent="-342900">
              <a:lnSpc>
                <a:spcPct val="200000"/>
              </a:lnSpc>
              <a:spcBef>
                <a:spcPts val="600"/>
              </a:spcBef>
              <a:buFont typeface="Wingdings" panose="05000000000000000000" pitchFamily="2" charset="2"/>
              <a:buChar char="§"/>
            </a:pPr>
            <a:r>
              <a:rPr lang="zh-CN" altLang="en-US" sz="2400" b="1">
                <a:latin typeface="Arial" panose="020B0604020202020204" pitchFamily="34" charset="0"/>
                <a:ea typeface="宋体" panose="02010600030101010101" pitchFamily="2" charset="-122"/>
                <a:cs typeface="Arial" panose="020B0604020202020204" pitchFamily="34" charset="0"/>
                <a:sym typeface="+mn-ea"/>
              </a:rPr>
              <a:t>前</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者用于光谱仪器，作色散元</a:t>
            </a:r>
            <a:r>
              <a:rPr lang="zh-CN" altLang="en-US" sz="2400" b="1">
                <a:latin typeface="Arial" panose="020B0604020202020204" pitchFamily="34" charset="0"/>
                <a:ea typeface="宋体" panose="02010600030101010101" pitchFamily="2" charset="-122"/>
                <a:cs typeface="Arial" panose="020B0604020202020204" pitchFamily="34" charset="0"/>
                <a:sym typeface="+mn-ea"/>
              </a:rPr>
              <a:t>件，</a:t>
            </a:r>
            <a:endParaRPr lang="en-US" altLang="zh-CN" sz="2400" b="1">
              <a:latin typeface="Arial" panose="020B0604020202020204" pitchFamily="34" charset="0"/>
              <a:ea typeface="宋体" panose="02010600030101010101" pitchFamily="2" charset="-122"/>
              <a:cs typeface="Arial" panose="020B0604020202020204" pitchFamily="34" charset="0"/>
              <a:sym typeface="+mn-ea"/>
            </a:endParaRPr>
          </a:p>
          <a:p>
            <a:pPr marL="342900" indent="-342900">
              <a:lnSpc>
                <a:spcPct val="200000"/>
              </a:lnSpc>
              <a:spcBef>
                <a:spcPts val="600"/>
              </a:spcBef>
              <a:buFont typeface="Wingdings" panose="05000000000000000000" pitchFamily="2" charset="2"/>
              <a:buChar char="§"/>
            </a:pPr>
            <a:r>
              <a:rPr lang="zh-CN" altLang="en-US" sz="2400" b="1">
                <a:latin typeface="Arial" panose="020B0604020202020204" pitchFamily="34" charset="0"/>
                <a:ea typeface="宋体" panose="02010600030101010101" pitchFamily="2" charset="-122"/>
                <a:cs typeface="Arial" panose="020B0604020202020204" pitchFamily="34" charset="0"/>
                <a:sym typeface="+mn-ea"/>
              </a:rPr>
              <a:t>后</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者主要用于精密测量和精密机械的自动控制</a:t>
            </a:r>
            <a:r>
              <a:rPr lang="zh-CN" altLang="en-US" sz="2400" b="1">
                <a:latin typeface="Arial" panose="020B0604020202020204" pitchFamily="34" charset="0"/>
                <a:ea typeface="宋体" panose="02010600030101010101" pitchFamily="2" charset="-122"/>
                <a:cs typeface="Arial" panose="020B0604020202020204" pitchFamily="34" charset="0"/>
                <a:sym typeface="+mn-ea"/>
              </a:rPr>
              <a:t>中。</a:t>
            </a:r>
            <a:endParaRPr lang="en-US" altLang="zh-CN" sz="2400" b="1">
              <a:latin typeface="Arial" panose="020B0604020202020204" pitchFamily="34" charset="0"/>
              <a:ea typeface="宋体" panose="02010600030101010101" pitchFamily="2" charset="-122"/>
              <a:cs typeface="Arial" panose="020B0604020202020204" pitchFamily="34" charset="0"/>
              <a:sym typeface="+mn-ea"/>
            </a:endParaRPr>
          </a:p>
          <a:p>
            <a:pPr marL="342900" indent="-342900">
              <a:lnSpc>
                <a:spcPct val="200000"/>
              </a:lnSpc>
              <a:spcBef>
                <a:spcPts val="600"/>
              </a:spcBef>
              <a:buFont typeface="Wingdings" panose="05000000000000000000" pitchFamily="2" charset="2"/>
              <a:buChar char="§"/>
            </a:pPr>
            <a:r>
              <a:rPr lang="zh-CN" altLang="en-US" sz="2400" b="1">
                <a:latin typeface="Arial" panose="020B0604020202020204" pitchFamily="34" charset="0"/>
                <a:ea typeface="宋体" panose="02010600030101010101" pitchFamily="2" charset="-122"/>
                <a:cs typeface="Arial" panose="020B0604020202020204" pitchFamily="34" charset="0"/>
                <a:sym typeface="+mn-ea"/>
              </a:rPr>
              <a:t>而</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计量光栅按其用途可分为长光栅和圆光栅两类。</a:t>
            </a:r>
          </a:p>
        </p:txBody>
      </p:sp>
      <p:sp>
        <p:nvSpPr>
          <p:cNvPr id="2" name="Slide Number Placeholder 1">
            <a:extLst>
              <a:ext uri="{FF2B5EF4-FFF2-40B4-BE49-F238E27FC236}">
                <a16:creationId xmlns:a16="http://schemas.microsoft.com/office/drawing/2014/main" id="{93517C2A-A7A0-4B72-8048-B25576747C8A}"/>
              </a:ext>
            </a:extLst>
          </p:cNvPr>
          <p:cNvSpPr>
            <a:spLocks noGrp="1"/>
          </p:cNvSpPr>
          <p:nvPr>
            <p:ph type="sldNum" sz="quarter" idx="12"/>
          </p:nvPr>
        </p:nvSpPr>
        <p:spPr/>
        <p:txBody>
          <a:bodyPr/>
          <a:lstStyle/>
          <a:p>
            <a:fld id="{B53602B4-F12B-41CD-B648-531F86B2CC91}" type="slidenum">
              <a:rPr lang="zh-CN" altLang="en-US" smtClean="0"/>
              <a:t>68</a:t>
            </a:fld>
            <a:endParaRPr lang="zh-CN" altLang="en-US"/>
          </a:p>
        </p:txBody>
      </p:sp>
    </p:spTree>
    <p:extLst>
      <p:ext uri="{BB962C8B-B14F-4D97-AF65-F5344CB8AC3E}">
        <p14:creationId xmlns:p14="http://schemas.microsoft.com/office/powerpoint/2010/main" val="149193135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7.7.1</a:t>
            </a:r>
          </a:p>
        </p:txBody>
      </p:sp>
      <p:sp>
        <p:nvSpPr>
          <p:cNvPr id="46"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基本工作原理和计量光栅的种类</a:t>
            </a:r>
          </a:p>
        </p:txBody>
      </p:sp>
      <p:sp>
        <p:nvSpPr>
          <p:cNvPr id="2" name="Slide Number Placeholder 1">
            <a:extLst>
              <a:ext uri="{FF2B5EF4-FFF2-40B4-BE49-F238E27FC236}">
                <a16:creationId xmlns:a16="http://schemas.microsoft.com/office/drawing/2014/main" id="{93517C2A-A7A0-4B72-8048-B25576747C8A}"/>
              </a:ext>
            </a:extLst>
          </p:cNvPr>
          <p:cNvSpPr>
            <a:spLocks noGrp="1"/>
          </p:cNvSpPr>
          <p:nvPr>
            <p:ph type="sldNum" sz="quarter" idx="12"/>
          </p:nvPr>
        </p:nvSpPr>
        <p:spPr/>
        <p:txBody>
          <a:bodyPr/>
          <a:lstStyle/>
          <a:p>
            <a:fld id="{B53602B4-F12B-41CD-B648-531F86B2CC91}" type="slidenum">
              <a:rPr lang="zh-CN" altLang="en-US" smtClean="0"/>
              <a:t>69</a:t>
            </a:fld>
            <a:endParaRPr lang="zh-CN" altLang="en-US"/>
          </a:p>
        </p:txBody>
      </p:sp>
      <p:sp>
        <p:nvSpPr>
          <p:cNvPr id="7" name="Text Box 205">
            <a:extLst>
              <a:ext uri="{FF2B5EF4-FFF2-40B4-BE49-F238E27FC236}">
                <a16:creationId xmlns:a16="http://schemas.microsoft.com/office/drawing/2014/main" id="{AF78408B-738B-47E3-B373-81AB1E71963A}"/>
              </a:ext>
            </a:extLst>
          </p:cNvPr>
          <p:cNvSpPr txBox="1">
            <a:spLocks noChangeArrowheads="1"/>
          </p:cNvSpPr>
          <p:nvPr/>
        </p:nvSpPr>
        <p:spPr bwMode="auto">
          <a:xfrm>
            <a:off x="2830871" y="5563592"/>
            <a:ext cx="3493368"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7-37 </a:t>
            </a:r>
            <a:r>
              <a:rPr kumimoji="0" lang="zh-CN" altLang="en-US" b="1" dirty="0">
                <a:solidFill>
                  <a:srgbClr val="3333CC"/>
                </a:solidFill>
                <a:latin typeface="宋体" panose="02010600030101010101" pitchFamily="2" charset="-122"/>
                <a:ea typeface="宋体" panose="02010600030101010101" pitchFamily="2" charset="-122"/>
              </a:rPr>
              <a:t>计量光栅的分类</a:t>
            </a:r>
          </a:p>
        </p:txBody>
      </p:sp>
      <p:pic>
        <p:nvPicPr>
          <p:cNvPr id="8" name="Picture 9">
            <a:extLst>
              <a:ext uri="{FF2B5EF4-FFF2-40B4-BE49-F238E27FC236}">
                <a16:creationId xmlns:a16="http://schemas.microsoft.com/office/drawing/2014/main" id="{F9C5005F-E32C-4C5A-95FA-5BF6178D52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711" y="1746532"/>
            <a:ext cx="6531300" cy="3655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92373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7.7.2</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莫尔条纹</a:t>
            </a:r>
          </a:p>
        </p:txBody>
      </p:sp>
      <p:sp>
        <p:nvSpPr>
          <p:cNvPr id="5" name="矩形 4"/>
          <p:cNvSpPr/>
          <p:nvPr/>
        </p:nvSpPr>
        <p:spPr>
          <a:xfrm>
            <a:off x="282230" y="1902494"/>
            <a:ext cx="4652627" cy="1970346"/>
          </a:xfrm>
          <a:prstGeom prst="rect">
            <a:avLst/>
          </a:prstGeom>
        </p:spPr>
        <p:txBody>
          <a:bodyPr wrap="square" lIns="91438" tIns="45719" rIns="91438" bIns="45719">
            <a:spAutoFit/>
          </a:bodyPr>
          <a:lstStyle/>
          <a:p>
            <a:pPr marL="342900" indent="-342900">
              <a:lnSpc>
                <a:spcPct val="150000"/>
              </a:lnSpc>
              <a:spcBef>
                <a:spcPts val="670"/>
              </a:spcBef>
              <a:buFont typeface="Arial" panose="020B0604020202020204" pitchFamily="34" charset="0"/>
              <a:buChar char="•"/>
            </a:pPr>
            <a:r>
              <a:rPr lang="zh-CN" altLang="en-US" sz="2000" b="1">
                <a:latin typeface="Arial" panose="020B0604020202020204" pitchFamily="34" charset="0"/>
                <a:ea typeface="宋体" panose="02010600030101010101" pitchFamily="2" charset="-122"/>
                <a:cs typeface="Arial" panose="020B0604020202020204" pitchFamily="34" charset="0"/>
                <a:sym typeface="+mn-ea"/>
              </a:rPr>
              <a:t>相</a:t>
            </a:r>
            <a:r>
              <a:rPr lang="zh-CN" altLang="en-US" sz="2000" b="1" dirty="0">
                <a:latin typeface="Arial" panose="020B0604020202020204" pitchFamily="34" charset="0"/>
                <a:ea typeface="宋体" panose="02010600030101010101" pitchFamily="2" charset="-122"/>
                <a:cs typeface="Arial" panose="020B0604020202020204" pitchFamily="34" charset="0"/>
                <a:sym typeface="+mn-ea"/>
              </a:rPr>
              <a:t>邻的两明暗条纹之间的距离</a:t>
            </a:r>
            <a:r>
              <a:rPr lang="en-US" altLang="zh-CN" sz="2000" b="1" i="1" dirty="0">
                <a:latin typeface="Times New Roman" pitchFamily="18" charset="0"/>
                <a:ea typeface="宋体" panose="02010600030101010101" pitchFamily="2" charset="-122"/>
                <a:cs typeface="Times New Roman" pitchFamily="18" charset="0"/>
                <a:sym typeface="+mn-ea"/>
              </a:rPr>
              <a:t>B</a:t>
            </a:r>
            <a:r>
              <a:rPr lang="zh-CN" altLang="en-US" sz="2000" b="1" dirty="0">
                <a:latin typeface="Arial" panose="020B0604020202020204" pitchFamily="34" charset="0"/>
                <a:ea typeface="宋体" panose="02010600030101010101" pitchFamily="2" charset="-122"/>
                <a:cs typeface="Arial" panose="020B0604020202020204" pitchFamily="34" charset="0"/>
                <a:sym typeface="+mn-ea"/>
              </a:rPr>
              <a:t>称为莫尔条纹间距</a:t>
            </a:r>
            <a:r>
              <a:rPr lang="zh-CN" altLang="en-US" sz="2000" b="1">
                <a:latin typeface="Arial" panose="020B0604020202020204" pitchFamily="34" charset="0"/>
                <a:ea typeface="宋体" panose="02010600030101010101" pitchFamily="2" charset="-122"/>
                <a:cs typeface="Arial" panose="020B0604020202020204" pitchFamily="34" charset="0"/>
                <a:sym typeface="+mn-ea"/>
              </a:rPr>
              <a:t>。 </a:t>
            </a:r>
            <a:endParaRPr lang="en-US" altLang="zh-CN" sz="2000" b="1">
              <a:latin typeface="Arial" panose="020B0604020202020204" pitchFamily="34" charset="0"/>
              <a:ea typeface="宋体" panose="02010600030101010101" pitchFamily="2" charset="-122"/>
              <a:cs typeface="Arial" panose="020B0604020202020204" pitchFamily="34" charset="0"/>
              <a:sym typeface="+mn-ea"/>
            </a:endParaRPr>
          </a:p>
          <a:p>
            <a:pPr marL="342900" indent="-342900">
              <a:lnSpc>
                <a:spcPct val="150000"/>
              </a:lnSpc>
              <a:spcBef>
                <a:spcPts val="670"/>
              </a:spcBef>
              <a:buFont typeface="Arial" panose="020B0604020202020204" pitchFamily="34" charset="0"/>
              <a:buChar char="•"/>
            </a:pPr>
            <a:r>
              <a:rPr lang="zh-CN" altLang="en-US" sz="2000" b="1">
                <a:latin typeface="Arial" panose="020B0604020202020204" pitchFamily="34" charset="0"/>
                <a:ea typeface="宋体" panose="02010600030101010101" pitchFamily="2" charset="-122"/>
                <a:cs typeface="Arial" panose="020B0604020202020204" pitchFamily="34" charset="0"/>
                <a:sym typeface="+mn-ea"/>
              </a:rPr>
              <a:t>当</a:t>
            </a:r>
            <a:r>
              <a:rPr lang="zh-CN" altLang="en-US" sz="2000" b="1" dirty="0">
                <a:latin typeface="Arial" panose="020B0604020202020204" pitchFamily="34" charset="0"/>
                <a:ea typeface="宋体" panose="02010600030101010101" pitchFamily="2" charset="-122"/>
                <a:cs typeface="Arial" panose="020B0604020202020204" pitchFamily="34" charset="0"/>
                <a:sym typeface="+mn-ea"/>
              </a:rPr>
              <a:t>光栅副间的夹角</a:t>
            </a:r>
            <a:r>
              <a:rPr lang="en-US" altLang="zh-CN" sz="2000" b="1" i="1" dirty="0">
                <a:latin typeface="Times New Roman" pitchFamily="18" charset="0"/>
                <a:ea typeface="宋体" panose="02010600030101010101" pitchFamily="2" charset="-122"/>
                <a:cs typeface="Times New Roman" pitchFamily="18" charset="0"/>
                <a:sym typeface="+mn-ea"/>
              </a:rPr>
              <a:t>θ</a:t>
            </a:r>
            <a:r>
              <a:rPr lang="zh-CN" altLang="en-US" sz="2000" b="1" dirty="0">
                <a:latin typeface="Arial" panose="020B0604020202020204" pitchFamily="34" charset="0"/>
                <a:ea typeface="宋体" panose="02010600030101010101" pitchFamily="2" charset="-122"/>
                <a:cs typeface="Arial" panose="020B0604020202020204" pitchFamily="34" charset="0"/>
                <a:sym typeface="+mn-ea"/>
              </a:rPr>
              <a:t>很小，且两光栅的栅距都为</a:t>
            </a:r>
            <a:r>
              <a:rPr lang="en-US" altLang="zh-CN" sz="2000" b="1" i="1" dirty="0">
                <a:latin typeface="Times New Roman" pitchFamily="18" charset="0"/>
                <a:ea typeface="宋体" panose="02010600030101010101" pitchFamily="2" charset="-122"/>
                <a:cs typeface="Times New Roman" pitchFamily="18" charset="0"/>
                <a:sym typeface="+mn-ea"/>
              </a:rPr>
              <a:t>W</a:t>
            </a:r>
            <a:r>
              <a:rPr lang="zh-CN" altLang="en-US" sz="2000" b="1" dirty="0">
                <a:latin typeface="Arial" panose="020B0604020202020204" pitchFamily="34" charset="0"/>
                <a:ea typeface="宋体" panose="02010600030101010101" pitchFamily="2" charset="-122"/>
                <a:cs typeface="Arial" panose="020B0604020202020204" pitchFamily="34" charset="0"/>
                <a:sym typeface="+mn-ea"/>
              </a:rPr>
              <a:t>时，莫尔条纹间距</a:t>
            </a:r>
            <a:r>
              <a:rPr lang="en-US" altLang="zh-CN" sz="2000" b="1" i="1" dirty="0">
                <a:latin typeface="Times New Roman" pitchFamily="18" charset="0"/>
                <a:ea typeface="宋体" panose="02010600030101010101" pitchFamily="2" charset="-122"/>
                <a:cs typeface="Times New Roman" pitchFamily="18" charset="0"/>
                <a:sym typeface="+mn-ea"/>
              </a:rPr>
              <a:t>B</a:t>
            </a:r>
            <a:r>
              <a:rPr lang="zh-CN" altLang="en-US" sz="2000" b="1" dirty="0">
                <a:latin typeface="Arial" panose="020B0604020202020204" pitchFamily="34" charset="0"/>
                <a:ea typeface="宋体" panose="02010600030101010101" pitchFamily="2" charset="-122"/>
                <a:cs typeface="Arial" panose="020B0604020202020204" pitchFamily="34" charset="0"/>
                <a:sym typeface="+mn-ea"/>
              </a:rPr>
              <a:t>为  </a:t>
            </a:r>
          </a:p>
        </p:txBody>
      </p:sp>
      <p:sp>
        <p:nvSpPr>
          <p:cNvPr id="6" name="矩形 5"/>
          <p:cNvSpPr/>
          <p:nvPr/>
        </p:nvSpPr>
        <p:spPr>
          <a:xfrm>
            <a:off x="185083" y="1361097"/>
            <a:ext cx="2040943" cy="461665"/>
          </a:xfrm>
          <a:prstGeom prst="rect">
            <a:avLst/>
          </a:prstGeom>
        </p:spPr>
        <p:txBody>
          <a:bodyPr wrap="none">
            <a:spAutoFit/>
          </a:bodyPr>
          <a:lstStyle/>
          <a:p>
            <a:pPr lvl="0">
              <a:spcBef>
                <a:spcPts val="670"/>
              </a:spcBef>
            </a:pP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sym typeface="+mn-ea"/>
              </a:rPr>
              <a:t>横向莫尔条纹</a:t>
            </a:r>
          </a:p>
        </p:txBody>
      </p:sp>
      <mc:AlternateContent xmlns:mc="http://schemas.openxmlformats.org/markup-compatibility/2006" xmlns:a14="http://schemas.microsoft.com/office/drawing/2010/main">
        <mc:Choice Requires="a14">
          <p:sp>
            <p:nvSpPr>
              <p:cNvPr id="9" name="TextBox 8"/>
              <p:cNvSpPr txBox="1"/>
              <p:nvPr/>
            </p:nvSpPr>
            <p:spPr>
              <a:xfrm>
                <a:off x="1631454" y="3952572"/>
                <a:ext cx="2475165" cy="1082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𝐵</m:t>
                      </m:r>
                      <m:r>
                        <a:rPr lang="en-US" altLang="zh-CN" sz="2400" i="1" smtClean="0">
                          <a:latin typeface="Cambria Math"/>
                        </a:rPr>
                        <m:t>=</m:t>
                      </m:r>
                      <m:f>
                        <m:fPr>
                          <m:ctrlPr>
                            <a:rPr lang="en-US" altLang="zh-CN" sz="2400" i="1" smtClean="0">
                              <a:latin typeface="Cambria Math" panose="02040503050406030204" pitchFamily="18" charset="0"/>
                            </a:rPr>
                          </m:ctrlPr>
                        </m:fPr>
                        <m:num>
                          <m:r>
                            <a:rPr lang="en-US" altLang="zh-CN" sz="2400" b="0" i="1" smtClean="0">
                              <a:latin typeface="Cambria Math"/>
                            </a:rPr>
                            <m:t>𝑊</m:t>
                          </m:r>
                        </m:num>
                        <m:den>
                          <m:r>
                            <a:rPr lang="en-US" altLang="zh-CN" sz="2400" b="0" i="1" smtClean="0">
                              <a:latin typeface="Cambria Math"/>
                            </a:rPr>
                            <m:t>2</m:t>
                          </m:r>
                          <m:r>
                            <a:rPr lang="en-US" altLang="zh-CN" sz="2400" b="0" i="1" smtClean="0">
                              <a:latin typeface="Cambria Math"/>
                            </a:rPr>
                            <m:t>𝑠𝑖𝑛</m:t>
                          </m:r>
                          <m:f>
                            <m:fPr>
                              <m:ctrlPr>
                                <a:rPr lang="en-US" altLang="zh-CN" sz="2400" b="0" i="1" smtClean="0">
                                  <a:latin typeface="Cambria Math" panose="02040503050406030204" pitchFamily="18" charset="0"/>
                                </a:rPr>
                              </m:ctrlPr>
                            </m:fPr>
                            <m:num>
                              <m:r>
                                <a:rPr lang="zh-CN" altLang="en-US" sz="2400" b="0" i="1" smtClean="0">
                                  <a:latin typeface="Cambria Math"/>
                                </a:rPr>
                                <m:t>𝜃</m:t>
                              </m:r>
                            </m:num>
                            <m:den>
                              <m:r>
                                <a:rPr lang="en-US" altLang="zh-CN" sz="2400" b="0" i="1" smtClean="0">
                                  <a:latin typeface="Cambria Math"/>
                                </a:rPr>
                                <m:t>2</m:t>
                              </m:r>
                            </m:den>
                          </m:f>
                        </m:den>
                      </m:f>
                      <m:r>
                        <a:rPr lang="en-US" altLang="zh-CN" sz="2400" i="1" smtClean="0">
                          <a:latin typeface="Cambria Math"/>
                          <a:ea typeface="Cambria Math"/>
                        </a:rPr>
                        <m:t>≈</m:t>
                      </m:r>
                      <m:f>
                        <m:fPr>
                          <m:ctrlPr>
                            <a:rPr lang="en-US" altLang="zh-CN" sz="2400" i="1" smtClean="0">
                              <a:latin typeface="Cambria Math" panose="02040503050406030204" pitchFamily="18" charset="0"/>
                              <a:ea typeface="Cambria Math"/>
                            </a:rPr>
                          </m:ctrlPr>
                        </m:fPr>
                        <m:num>
                          <m:r>
                            <a:rPr lang="en-US" altLang="zh-CN" sz="2400" b="0" i="1" smtClean="0">
                              <a:latin typeface="Cambria Math"/>
                              <a:ea typeface="Cambria Math"/>
                            </a:rPr>
                            <m:t>𝑊</m:t>
                          </m:r>
                        </m:num>
                        <m:den>
                          <m:r>
                            <a:rPr lang="zh-CN" altLang="en-US" sz="2400" i="1" smtClean="0">
                              <a:latin typeface="Cambria Math"/>
                              <a:ea typeface="Cambria Math"/>
                            </a:rPr>
                            <m:t>𝜃</m:t>
                          </m:r>
                        </m:den>
                      </m:f>
                    </m:oMath>
                  </m:oMathPara>
                </a14:m>
                <a:endParaRPr lang="zh-CN" altLang="en-US" sz="2400" dirty="0"/>
              </a:p>
            </p:txBody>
          </p:sp>
        </mc:Choice>
        <mc:Fallback xmlns="">
          <p:sp>
            <p:nvSpPr>
              <p:cNvPr id="9" name="TextBox 8"/>
              <p:cNvSpPr txBox="1">
                <a:spLocks noRot="1" noChangeAspect="1" noMove="1" noResize="1" noEditPoints="1" noAdjustHandles="1" noChangeArrowheads="1" noChangeShapeType="1" noTextEdit="1"/>
              </p:cNvSpPr>
              <p:nvPr/>
            </p:nvSpPr>
            <p:spPr>
              <a:xfrm>
                <a:off x="1631454" y="3952572"/>
                <a:ext cx="2475165" cy="1082476"/>
              </a:xfrm>
              <a:prstGeom prst="rect">
                <a:avLst/>
              </a:prstGeom>
              <a:blipFill>
                <a:blip r:embed="rId4"/>
                <a:stretch>
                  <a:fillRect/>
                </a:stretch>
              </a:blipFill>
            </p:spPr>
            <p:txBody>
              <a:bodyPr/>
              <a:lstStyle/>
              <a:p>
                <a:r>
                  <a:rPr lang="en-001">
                    <a:noFill/>
                  </a:rPr>
                  <a:t> </a:t>
                </a:r>
              </a:p>
            </p:txBody>
          </p:sp>
        </mc:Fallback>
      </mc:AlternateContent>
      <p:sp>
        <p:nvSpPr>
          <p:cNvPr id="10" name="矩形 9"/>
          <p:cNvSpPr/>
          <p:nvPr/>
        </p:nvSpPr>
        <p:spPr>
          <a:xfrm>
            <a:off x="613508" y="5301921"/>
            <a:ext cx="4511055" cy="963597"/>
          </a:xfrm>
          <a:prstGeom prst="rect">
            <a:avLst/>
          </a:prstGeom>
        </p:spPr>
        <p:txBody>
          <a:bodyPr wrap="square">
            <a:spAutoFit/>
          </a:bodyPr>
          <a:lstStyle/>
          <a:p>
            <a:pPr>
              <a:lnSpc>
                <a:spcPct val="150000"/>
              </a:lnSpc>
            </a:pPr>
            <a:r>
              <a:rPr lang="zh-CN" altLang="en-US" sz="2000" b="1" dirty="0">
                <a:solidFill>
                  <a:prstClr val="black"/>
                </a:solidFill>
                <a:latin typeface="Arial" panose="020B0604020202020204" pitchFamily="34" charset="0"/>
                <a:ea typeface="宋体" panose="02010600030101010101" pitchFamily="2" charset="-122"/>
                <a:cs typeface="Arial" panose="020B0604020202020204" pitchFamily="34" charset="0"/>
                <a:sym typeface="+mn-ea"/>
              </a:rPr>
              <a:t>当</a:t>
            </a:r>
            <a:r>
              <a:rPr lang="en-US" altLang="zh-CN" sz="2000" b="1" i="1" dirty="0">
                <a:solidFill>
                  <a:prstClr val="black"/>
                </a:solidFill>
                <a:latin typeface="Times New Roman" pitchFamily="18" charset="0"/>
                <a:ea typeface="宋体" panose="02010600030101010101" pitchFamily="2" charset="-122"/>
                <a:cs typeface="Times New Roman" pitchFamily="18" charset="0"/>
                <a:sym typeface="+mn-ea"/>
              </a:rPr>
              <a:t>θ</a:t>
            </a:r>
            <a:r>
              <a:rPr lang="zh-CN" altLang="en-US" sz="2000" b="1" dirty="0">
                <a:solidFill>
                  <a:prstClr val="black"/>
                </a:solidFill>
                <a:latin typeface="Times New Roman" pitchFamily="18" charset="0"/>
                <a:ea typeface="宋体" panose="02010600030101010101" pitchFamily="2" charset="-122"/>
                <a:cs typeface="Times New Roman" pitchFamily="18" charset="0"/>
                <a:sym typeface="+mn-ea"/>
              </a:rPr>
              <a:t>→</a:t>
            </a:r>
            <a:r>
              <a:rPr lang="en-US" altLang="zh-CN" sz="2000" b="1" dirty="0">
                <a:solidFill>
                  <a:prstClr val="black"/>
                </a:solidFill>
                <a:latin typeface="Times New Roman" pitchFamily="18" charset="0"/>
                <a:ea typeface="宋体" panose="02010600030101010101" pitchFamily="2" charset="-122"/>
                <a:cs typeface="Times New Roman" pitchFamily="18" charset="0"/>
                <a:sym typeface="+mn-ea"/>
              </a:rPr>
              <a:t>0</a:t>
            </a:r>
            <a:r>
              <a:rPr lang="zh-CN" altLang="en-US" sz="2000" b="1" dirty="0">
                <a:solidFill>
                  <a:prstClr val="black"/>
                </a:solidFill>
                <a:latin typeface="Times New Roman" pitchFamily="18" charset="0"/>
                <a:ea typeface="宋体" panose="02010600030101010101" pitchFamily="2" charset="-122"/>
                <a:cs typeface="Times New Roman" pitchFamily="18" charset="0"/>
                <a:sym typeface="+mn-ea"/>
              </a:rPr>
              <a:t>，</a:t>
            </a:r>
            <a:r>
              <a:rPr lang="en-US" altLang="zh-CN" sz="2000" b="1" i="1" dirty="0">
                <a:solidFill>
                  <a:prstClr val="black"/>
                </a:solidFill>
                <a:latin typeface="Times New Roman" pitchFamily="18" charset="0"/>
                <a:ea typeface="宋体" panose="02010600030101010101" pitchFamily="2" charset="-122"/>
                <a:cs typeface="Times New Roman" pitchFamily="18" charset="0"/>
                <a:sym typeface="+mn-ea"/>
              </a:rPr>
              <a:t>B</a:t>
            </a:r>
            <a:r>
              <a:rPr lang="zh-CN" altLang="en-US" sz="2000" b="1" dirty="0">
                <a:solidFill>
                  <a:prstClr val="black"/>
                </a:solidFill>
                <a:latin typeface="Times New Roman" pitchFamily="18" charset="0"/>
                <a:ea typeface="宋体" panose="02010600030101010101" pitchFamily="2" charset="-122"/>
                <a:cs typeface="Times New Roman" pitchFamily="18" charset="0"/>
                <a:sym typeface="+mn-ea"/>
              </a:rPr>
              <a:t>→∞</a:t>
            </a:r>
            <a:r>
              <a:rPr lang="zh-CN" altLang="en-US" sz="2000" b="1" dirty="0">
                <a:solidFill>
                  <a:prstClr val="black"/>
                </a:solidFill>
                <a:latin typeface="Arial" panose="020B0604020202020204" pitchFamily="34" charset="0"/>
                <a:ea typeface="宋体" panose="02010600030101010101" pitchFamily="2" charset="-122"/>
                <a:cs typeface="Arial" panose="020B0604020202020204" pitchFamily="34" charset="0"/>
                <a:sym typeface="+mn-ea"/>
              </a:rPr>
              <a:t>，莫尔条纹随着主光栅明暗交替变化。</a:t>
            </a:r>
            <a:endParaRPr lang="zh-CN" altLang="en-US" sz="1600" dirty="0"/>
          </a:p>
        </p:txBody>
      </p:sp>
      <p:sp>
        <p:nvSpPr>
          <p:cNvPr id="2" name="Slide Number Placeholder 1">
            <a:extLst>
              <a:ext uri="{FF2B5EF4-FFF2-40B4-BE49-F238E27FC236}">
                <a16:creationId xmlns:a16="http://schemas.microsoft.com/office/drawing/2014/main" id="{15C4D6DA-FE71-40E6-8AB8-B19477C95FF0}"/>
              </a:ext>
            </a:extLst>
          </p:cNvPr>
          <p:cNvSpPr>
            <a:spLocks noGrp="1"/>
          </p:cNvSpPr>
          <p:nvPr>
            <p:ph type="sldNum" sz="quarter" idx="12"/>
          </p:nvPr>
        </p:nvSpPr>
        <p:spPr/>
        <p:txBody>
          <a:bodyPr/>
          <a:lstStyle/>
          <a:p>
            <a:fld id="{B53602B4-F12B-41CD-B648-531F86B2CC91}" type="slidenum">
              <a:rPr lang="zh-CN" altLang="en-US" smtClean="0"/>
              <a:t>70</a:t>
            </a:fld>
            <a:endParaRPr lang="zh-CN" altLang="en-US"/>
          </a:p>
        </p:txBody>
      </p:sp>
      <p:sp>
        <p:nvSpPr>
          <p:cNvPr id="11" name="Text Box 210">
            <a:extLst>
              <a:ext uri="{FF2B5EF4-FFF2-40B4-BE49-F238E27FC236}">
                <a16:creationId xmlns:a16="http://schemas.microsoft.com/office/drawing/2014/main" id="{BF05FFF1-A339-465C-86B9-209BD5941AB4}"/>
              </a:ext>
            </a:extLst>
          </p:cNvPr>
          <p:cNvSpPr txBox="1">
            <a:spLocks noChangeArrowheads="1"/>
          </p:cNvSpPr>
          <p:nvPr/>
        </p:nvSpPr>
        <p:spPr bwMode="auto">
          <a:xfrm>
            <a:off x="5566293" y="5022126"/>
            <a:ext cx="296419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7-41 </a:t>
            </a:r>
            <a:r>
              <a:rPr kumimoji="0" lang="zh-CN" altLang="en-US" b="1" dirty="0">
                <a:solidFill>
                  <a:srgbClr val="3333CC"/>
                </a:solidFill>
                <a:latin typeface="宋体" panose="02010600030101010101" pitchFamily="2" charset="-122"/>
                <a:ea typeface="宋体" panose="02010600030101010101" pitchFamily="2" charset="-122"/>
              </a:rPr>
              <a:t>长光栅横向莫尔条纹</a:t>
            </a:r>
          </a:p>
        </p:txBody>
      </p:sp>
      <p:graphicFrame>
        <p:nvGraphicFramePr>
          <p:cNvPr id="12" name="Object 211">
            <a:extLst>
              <a:ext uri="{FF2B5EF4-FFF2-40B4-BE49-F238E27FC236}">
                <a16:creationId xmlns:a16="http://schemas.microsoft.com/office/drawing/2014/main" id="{517A66BA-DAEC-4F91-A84B-E656E23F7C44}"/>
              </a:ext>
            </a:extLst>
          </p:cNvPr>
          <p:cNvGraphicFramePr>
            <a:graphicFrameLocks noChangeAspect="1"/>
          </p:cNvGraphicFramePr>
          <p:nvPr>
            <p:extLst>
              <p:ext uri="{D42A27DB-BD31-4B8C-83A1-F6EECF244321}">
                <p14:modId xmlns:p14="http://schemas.microsoft.com/office/powerpoint/2010/main" val="2059428949"/>
              </p:ext>
            </p:extLst>
          </p:nvPr>
        </p:nvGraphicFramePr>
        <p:xfrm>
          <a:off x="5126029" y="1541522"/>
          <a:ext cx="3735741" cy="2913857"/>
        </p:xfrm>
        <a:graphic>
          <a:graphicData uri="http://schemas.openxmlformats.org/presentationml/2006/ole">
            <mc:AlternateContent xmlns:mc="http://schemas.openxmlformats.org/markup-compatibility/2006">
              <mc:Choice xmlns:v="urn:schemas-microsoft-com:vml" Requires="v">
                <p:oleObj name="Image" r:id="rId5" imgW="21423673" imgH="16711837" progId="Photoshop.Image.7">
                  <p:embed/>
                </p:oleObj>
              </mc:Choice>
              <mc:Fallback>
                <p:oleObj name="Image" r:id="rId5" imgW="21423673" imgH="16711837" progId="Photoshop.Image.7">
                  <p:embed/>
                  <p:pic>
                    <p:nvPicPr>
                      <p:cNvPr id="2259" name="Object 2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6029" y="1541522"/>
                        <a:ext cx="3735741" cy="291385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24319309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7.7.2</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莫尔条纹</a:t>
            </a:r>
          </a:p>
        </p:txBody>
      </p:sp>
      <p:sp>
        <p:nvSpPr>
          <p:cNvPr id="7" name="矩形 6"/>
          <p:cNvSpPr/>
          <p:nvPr/>
        </p:nvSpPr>
        <p:spPr>
          <a:xfrm>
            <a:off x="333829" y="1455192"/>
            <a:ext cx="8519885" cy="4632102"/>
          </a:xfrm>
          <a:prstGeom prst="rect">
            <a:avLst/>
          </a:prstGeom>
        </p:spPr>
        <p:txBody>
          <a:bodyPr wrap="square">
            <a:spAutoFit/>
          </a:bodyPr>
          <a:lstStyle/>
          <a:p>
            <a:pPr lvl="0">
              <a:lnSpc>
                <a:spcPct val="150000"/>
              </a:lnSpc>
              <a:spcBef>
                <a:spcPts val="670"/>
              </a:spcBef>
            </a:pPr>
            <a:r>
              <a:rPr lang="zh-CN" altLang="en-US" sz="2400" b="1" dirty="0">
                <a:solidFill>
                  <a:prstClr val="black"/>
                </a:solidFill>
                <a:latin typeface="Arial" panose="020B0604020202020204" pitchFamily="34" charset="0"/>
                <a:ea typeface="宋体" panose="02010600030101010101" pitchFamily="2" charset="-122"/>
                <a:cs typeface="Arial" panose="020B0604020202020204" pitchFamily="34" charset="0"/>
                <a:sym typeface="+mn-ea"/>
              </a:rPr>
              <a:t>横向莫尔条纹重要特性：</a:t>
            </a:r>
            <a:endPar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sym typeface="+mn-ea"/>
            </a:endParaRPr>
          </a:p>
          <a:p>
            <a:pPr lvl="0">
              <a:lnSpc>
                <a:spcPct val="150000"/>
              </a:lnSpc>
              <a:spcBef>
                <a:spcPts val="670"/>
              </a:spcBef>
            </a:pPr>
            <a:r>
              <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sym typeface="+mn-ea"/>
              </a:rPr>
              <a:t>①</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sym typeface="+mn-ea"/>
              </a:rPr>
              <a:t>莫尔条纹运动与光栅运动具有对应</a:t>
            </a: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关系。</a:t>
            </a:r>
            <a:r>
              <a:rPr lang="zh-CN" altLang="en-US" sz="2400" b="1">
                <a:latin typeface="Arial" panose="020B0604020202020204" pitchFamily="34" charset="0"/>
                <a:ea typeface="宋体" panose="02010600030101010101" pitchFamily="2" charset="-122"/>
                <a:cs typeface="Arial" panose="020B0604020202020204" pitchFamily="34" charset="0"/>
                <a:sym typeface="+mn-ea"/>
              </a:rPr>
              <a:t>在光栅副中，任一光栅沿着垂直于刻线方向移动时，莫尔条纹就沿着近似垂直于光栅移动方向运动。当光栅移动一个栅距时，莫尔条纹就移动一个条纹间距；当光栅改变移动方向时，莫尔条纹也随之改变运动方向。两者运动方向是对应的。因此可以通过测量莫尔条纹的移动量和移动方向判定光栅（或指示光栅）的位移量</a:t>
            </a:r>
          </a:p>
          <a:p>
            <a:pPr lvl="0">
              <a:lnSpc>
                <a:spcPct val="150000"/>
              </a:lnSpc>
              <a:spcBef>
                <a:spcPts val="670"/>
              </a:spcBef>
            </a:pPr>
            <a:r>
              <a:rPr lang="zh-CN" altLang="en-US" sz="2400" b="1">
                <a:latin typeface="Arial" panose="020B0604020202020204" pitchFamily="34" charset="0"/>
                <a:ea typeface="宋体" panose="02010600030101010101" pitchFamily="2" charset="-122"/>
                <a:cs typeface="Arial" panose="020B0604020202020204" pitchFamily="34" charset="0"/>
                <a:sym typeface="+mn-ea"/>
              </a:rPr>
              <a:t>和位移方向。</a:t>
            </a:r>
            <a:endParaRPr lang="zh-CN" altLang="en-US" sz="2400" b="1" dirty="0">
              <a:solidFill>
                <a:prstClr val="black"/>
              </a:solidFill>
              <a:latin typeface="Arial" panose="020B0604020202020204" pitchFamily="34" charset="0"/>
              <a:ea typeface="宋体" panose="02010600030101010101" pitchFamily="2" charset="-122"/>
              <a:cs typeface="Arial" panose="020B0604020202020204" pitchFamily="34" charset="0"/>
              <a:sym typeface="+mn-ea"/>
            </a:endParaRPr>
          </a:p>
        </p:txBody>
      </p:sp>
      <p:sp>
        <p:nvSpPr>
          <p:cNvPr id="2" name="Slide Number Placeholder 1">
            <a:extLst>
              <a:ext uri="{FF2B5EF4-FFF2-40B4-BE49-F238E27FC236}">
                <a16:creationId xmlns:a16="http://schemas.microsoft.com/office/drawing/2014/main" id="{A2F0174A-06DD-4B78-B951-7AD2AE177815}"/>
              </a:ext>
            </a:extLst>
          </p:cNvPr>
          <p:cNvSpPr>
            <a:spLocks noGrp="1"/>
          </p:cNvSpPr>
          <p:nvPr>
            <p:ph type="sldNum" sz="quarter" idx="12"/>
          </p:nvPr>
        </p:nvSpPr>
        <p:spPr/>
        <p:txBody>
          <a:bodyPr/>
          <a:lstStyle/>
          <a:p>
            <a:fld id="{B53602B4-F12B-41CD-B648-531F86B2CC91}" type="slidenum">
              <a:rPr lang="zh-CN" altLang="en-US" smtClean="0"/>
              <a:t>71</a:t>
            </a:fld>
            <a:endParaRPr lang="zh-CN" altLang="en-US"/>
          </a:p>
        </p:txBody>
      </p:sp>
    </p:spTree>
    <p:extLst>
      <p:ext uri="{BB962C8B-B14F-4D97-AF65-F5344CB8AC3E}">
        <p14:creationId xmlns:p14="http://schemas.microsoft.com/office/powerpoint/2010/main" val="19790583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20204" pitchFamily="34" charset="0"/>
                <a:ea typeface="宋体" panose="02010600030101010101" pitchFamily="2" charset="-122"/>
                <a:cs typeface="Arial" panose="020B0604020202020204" pitchFamily="34" charset="0"/>
              </a:rPr>
              <a:t>7.7.2</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莫尔条纹</a:t>
            </a:r>
          </a:p>
        </p:txBody>
      </p:sp>
      <mc:AlternateContent xmlns:mc="http://schemas.openxmlformats.org/markup-compatibility/2006" xmlns:a14="http://schemas.microsoft.com/office/drawing/2010/main">
        <mc:Choice Requires="a14">
          <p:sp>
            <p:nvSpPr>
              <p:cNvPr id="7" name="矩形 6"/>
              <p:cNvSpPr/>
              <p:nvPr/>
            </p:nvSpPr>
            <p:spPr>
              <a:xfrm>
                <a:off x="556036" y="1220838"/>
                <a:ext cx="8138022" cy="4173002"/>
              </a:xfrm>
              <a:prstGeom prst="rect">
                <a:avLst/>
              </a:prstGeom>
            </p:spPr>
            <p:txBody>
              <a:bodyPr wrap="square">
                <a:spAutoFit/>
              </a:bodyPr>
              <a:lstStyle/>
              <a:p>
                <a:pPr lvl="0">
                  <a:lnSpc>
                    <a:spcPct val="150000"/>
                  </a:lnSpc>
                  <a:spcBef>
                    <a:spcPts val="670"/>
                  </a:spcBef>
                </a:pP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②</a:t>
                </a: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sym typeface="+mn-ea"/>
                  </a:rPr>
                  <a:t>莫尔条纹具有位移放大作</a:t>
                </a: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用 </a:t>
                </a:r>
                <a:endParaRPr lang="en-US" altLang="zh-CN" sz="2400" b="1">
                  <a:solidFill>
                    <a:prstClr val="black"/>
                  </a:solidFill>
                  <a:latin typeface="Arial" panose="020B0604020202020204" pitchFamily="34" charset="0"/>
                  <a:ea typeface="宋体" panose="02010600030101010101" pitchFamily="2" charset="-122"/>
                  <a:cs typeface="Arial" panose="020B0604020202020204" pitchFamily="34" charset="0"/>
                  <a:sym typeface="+mn-ea"/>
                </a:endParaRPr>
              </a:p>
              <a:p>
                <a:pPr lvl="0"/>
                <a:endParaRPr lang="en-US" altLang="zh-CN" sz="2400" b="1">
                  <a:solidFill>
                    <a:prstClr val="black"/>
                  </a:solidFill>
                  <a:latin typeface="Arial" panose="020B0604020202020204" pitchFamily="34" charset="0"/>
                  <a:ea typeface="宋体" panose="02010600030101010101" pitchFamily="2" charset="-122"/>
                  <a:cs typeface="Arial" panose="020B0604020202020204" pitchFamily="34" charset="0"/>
                  <a:sym typeface="+mn-ea"/>
                </a:endParaRPr>
              </a:p>
              <a:p>
                <a:pPr lvl="0"/>
                <a:endParaRPr lang="en-US" altLang="zh-CN" sz="2400" b="1">
                  <a:solidFill>
                    <a:prstClr val="black"/>
                  </a:solidFill>
                  <a:latin typeface="Arial" panose="020B0604020202020204" pitchFamily="34" charset="0"/>
                  <a:ea typeface="宋体" panose="02010600030101010101" pitchFamily="2" charset="-122"/>
                  <a:cs typeface="Arial" panose="020B0604020202020204" pitchFamily="34" charset="0"/>
                  <a:sym typeface="+mn-ea"/>
                </a:endParaRPr>
              </a:p>
              <a:p>
                <a:pPr lvl="0" algn="ctr">
                  <a:lnSpc>
                    <a:spcPct val="150000"/>
                  </a:lnSpc>
                </a:pPr>
                <a14:m>
                  <m:oMath xmlns:m="http://schemas.openxmlformats.org/officeDocument/2006/math">
                    <m:r>
                      <a:rPr lang="zh-CN" altLang="en-US" sz="2400" i="1" smtClean="0">
                        <a:solidFill>
                          <a:srgbClr val="3333CC"/>
                        </a:solidFill>
                        <a:latin typeface="Cambria Math"/>
                        <a:ea typeface="Cambria Math"/>
                      </a:rPr>
                      <m:t>𝜃</m:t>
                    </m:r>
                  </m:oMath>
                </a14:m>
                <a:r>
                  <a:rPr lang="zh-CN" altLang="en-US" sz="2400" b="1" dirty="0">
                    <a:solidFill>
                      <a:srgbClr val="3333CC"/>
                    </a:solidFill>
                    <a:latin typeface="Arial" panose="020B0604020202020204" pitchFamily="34" charset="0"/>
                    <a:ea typeface="宋体" panose="02010600030101010101" pitchFamily="2" charset="-122"/>
                    <a:cs typeface="Arial" panose="020B0604020202020204" pitchFamily="34" charset="0"/>
                    <a:sym typeface="+mn-ea"/>
                  </a:rPr>
                  <a:t> </a:t>
                </a:r>
                <a:r>
                  <a:rPr lang="zh-CN" altLang="en-US" sz="2400" b="1">
                    <a:solidFill>
                      <a:srgbClr val="3333CC"/>
                    </a:solidFill>
                    <a:latin typeface="Arial" panose="020B0604020202020204" pitchFamily="34" charset="0"/>
                    <a:ea typeface="宋体" panose="02010600030101010101" pitchFamily="2" charset="-122"/>
                    <a:cs typeface="Arial" panose="020B0604020202020204" pitchFamily="34" charset="0"/>
                    <a:sym typeface="+mn-ea"/>
                  </a:rPr>
                  <a:t>很小，</a:t>
                </a:r>
                <a:r>
                  <a:rPr lang="en-US" altLang="zh-CN" sz="2400" b="1">
                    <a:solidFill>
                      <a:srgbClr val="3333CC"/>
                    </a:solidFill>
                    <a:latin typeface="Arial" panose="020B0604020202020204" pitchFamily="34" charset="0"/>
                    <a:ea typeface="宋体" panose="02010600030101010101" pitchFamily="2" charset="-122"/>
                    <a:cs typeface="Arial" panose="020B0604020202020204" pitchFamily="34" charset="0"/>
                    <a:sym typeface="+mn-ea"/>
                  </a:rPr>
                  <a:t>K</a:t>
                </a:r>
                <a:r>
                  <a:rPr lang="zh-CN" altLang="en-US" sz="2400" b="1">
                    <a:solidFill>
                      <a:srgbClr val="3333CC"/>
                    </a:solidFill>
                    <a:latin typeface="Arial" panose="020B0604020202020204" pitchFamily="34" charset="0"/>
                    <a:ea typeface="宋体" panose="02010600030101010101" pitchFamily="2" charset="-122"/>
                    <a:cs typeface="Arial" panose="020B0604020202020204" pitchFamily="34" charset="0"/>
                    <a:sym typeface="+mn-ea"/>
                  </a:rPr>
                  <a:t>很大</a:t>
                </a:r>
                <a:endParaRPr lang="zh-CN" altLang="en-US" sz="2400" b="1" dirty="0">
                  <a:solidFill>
                    <a:srgbClr val="3333CC"/>
                  </a:solidFill>
                  <a:latin typeface="Arial" panose="020B0604020202020204" pitchFamily="34" charset="0"/>
                  <a:ea typeface="宋体" panose="02010600030101010101" pitchFamily="2" charset="-122"/>
                  <a:cs typeface="Arial" panose="020B0604020202020204" pitchFamily="34" charset="0"/>
                  <a:sym typeface="+mn-ea"/>
                </a:endParaRPr>
              </a:p>
              <a:p>
                <a:pPr lvl="0">
                  <a:lnSpc>
                    <a:spcPct val="150000"/>
                  </a:lnSpc>
                  <a:spcBef>
                    <a:spcPts val="670"/>
                  </a:spcBef>
                </a:pPr>
                <a:r>
                  <a:rPr lang="zh-CN" altLang="en-US" sz="2400" b="1" dirty="0">
                    <a:solidFill>
                      <a:srgbClr val="C00000"/>
                    </a:solidFill>
                    <a:latin typeface="Arial" panose="020B0604020202020204" pitchFamily="34" charset="0"/>
                    <a:ea typeface="宋体" panose="02010600030101010101" pitchFamily="2" charset="-122"/>
                    <a:cs typeface="Arial" panose="020B0604020202020204" pitchFamily="34" charset="0"/>
                    <a:sym typeface="+mn-ea"/>
                  </a:rPr>
                  <a:t>③莫尔条纹具有平均光栅误差作</a:t>
                </a:r>
                <a:r>
                  <a:rPr lang="zh-CN" altLang="en-US" sz="2400" b="1">
                    <a:solidFill>
                      <a:srgbClr val="C00000"/>
                    </a:solidFill>
                    <a:latin typeface="Arial" panose="020B0604020202020204" pitchFamily="34" charset="0"/>
                    <a:ea typeface="宋体" panose="02010600030101010101" pitchFamily="2" charset="-122"/>
                    <a:cs typeface="Arial" panose="020B0604020202020204" pitchFamily="34" charset="0"/>
                    <a:sym typeface="+mn-ea"/>
                  </a:rPr>
                  <a:t>用。</a:t>
                </a:r>
                <a:r>
                  <a:rPr lang="zh-CN" altLang="en-US" sz="2400" b="1">
                    <a:solidFill>
                      <a:prstClr val="black"/>
                    </a:solidFill>
                    <a:latin typeface="Arial" panose="020B0604020202020204" pitchFamily="34" charset="0"/>
                    <a:ea typeface="宋体" panose="02010600030101010101" pitchFamily="2" charset="-122"/>
                    <a:cs typeface="Arial" panose="020B0604020202020204" pitchFamily="34" charset="0"/>
                    <a:sym typeface="+mn-ea"/>
                  </a:rPr>
                  <a:t>光电元件接收到的是这个区域中所包含的所有刻线的综合结果，对各栅距起了平均作用，莫尔条纹位置的可靠性大为提高，从而提高了光栅传感器的测量精度。</a:t>
                </a:r>
                <a:endParaRPr lang="zh-CN" altLang="en-US" sz="2400" b="1" dirty="0">
                  <a:solidFill>
                    <a:prstClr val="black"/>
                  </a:solidFill>
                  <a:latin typeface="Arial" panose="020B0604020202020204" pitchFamily="34" charset="0"/>
                  <a:ea typeface="宋体" panose="02010600030101010101" pitchFamily="2" charset="-122"/>
                  <a:cs typeface="Arial" panose="020B0604020202020204" pitchFamily="34" charset="0"/>
                  <a:sym typeface="+mn-ea"/>
                </a:endParaRPr>
              </a:p>
            </p:txBody>
          </p:sp>
        </mc:Choice>
        <mc:Fallback xmlns="">
          <p:sp>
            <p:nvSpPr>
              <p:cNvPr id="7" name="矩形 6"/>
              <p:cNvSpPr>
                <a:spLocks noRot="1" noChangeAspect="1" noMove="1" noResize="1" noEditPoints="1" noAdjustHandles="1" noChangeArrowheads="1" noChangeShapeType="1" noTextEdit="1"/>
              </p:cNvSpPr>
              <p:nvPr/>
            </p:nvSpPr>
            <p:spPr>
              <a:xfrm>
                <a:off x="556036" y="1220838"/>
                <a:ext cx="8138022" cy="4173002"/>
              </a:xfrm>
              <a:prstGeom prst="rect">
                <a:avLst/>
              </a:prstGeom>
              <a:blipFill>
                <a:blip r:embed="rId3"/>
                <a:stretch>
                  <a:fillRect l="-1124" b="-1898"/>
                </a:stretch>
              </a:blipFill>
            </p:spPr>
            <p:txBody>
              <a:bodyPr/>
              <a:lstStyle/>
              <a:p>
                <a:r>
                  <a:rPr lang="en-001">
                    <a:noFill/>
                  </a:rPr>
                  <a:t> </a:t>
                </a:r>
              </a:p>
            </p:txBody>
          </p:sp>
        </mc:Fallback>
      </mc:AlternateContent>
      <p:sp>
        <p:nvSpPr>
          <p:cNvPr id="2" name="Slide Number Placeholder 1">
            <a:extLst>
              <a:ext uri="{FF2B5EF4-FFF2-40B4-BE49-F238E27FC236}">
                <a16:creationId xmlns:a16="http://schemas.microsoft.com/office/drawing/2014/main" id="{A2F0174A-06DD-4B78-B951-7AD2AE177815}"/>
              </a:ext>
            </a:extLst>
          </p:cNvPr>
          <p:cNvSpPr>
            <a:spLocks noGrp="1"/>
          </p:cNvSpPr>
          <p:nvPr>
            <p:ph type="sldNum" sz="quarter" idx="12"/>
          </p:nvPr>
        </p:nvSpPr>
        <p:spPr/>
        <p:txBody>
          <a:bodyPr/>
          <a:lstStyle/>
          <a:p>
            <a:fld id="{B53602B4-F12B-41CD-B648-531F86B2CC91}" type="slidenum">
              <a:rPr lang="zh-CN" altLang="en-US" smtClean="0"/>
              <a:t>72</a:t>
            </a:fld>
            <a:endParaRPr lang="zh-CN" alt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E53015F-83AD-44D1-B234-5CC7EE73859A}"/>
                  </a:ext>
                </a:extLst>
              </p:cNvPr>
              <p:cNvSpPr txBox="1"/>
              <p:nvPr/>
            </p:nvSpPr>
            <p:spPr>
              <a:xfrm>
                <a:off x="1231592" y="1775429"/>
                <a:ext cx="2475165" cy="1082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a:rPr>
                        <m:t>𝐵</m:t>
                      </m:r>
                      <m:r>
                        <a:rPr lang="en-US" altLang="zh-CN" sz="2400" i="1" smtClean="0">
                          <a:latin typeface="Cambria Math"/>
                        </a:rPr>
                        <m:t>=</m:t>
                      </m:r>
                      <m:f>
                        <m:fPr>
                          <m:ctrlPr>
                            <a:rPr lang="en-US" altLang="zh-CN" sz="2400" i="1" smtClean="0">
                              <a:latin typeface="Cambria Math" panose="02040503050406030204" pitchFamily="18" charset="0"/>
                            </a:rPr>
                          </m:ctrlPr>
                        </m:fPr>
                        <m:num>
                          <m:r>
                            <a:rPr lang="en-US" altLang="zh-CN" sz="2400" b="0" i="1" smtClean="0">
                              <a:latin typeface="Cambria Math"/>
                            </a:rPr>
                            <m:t>𝑊</m:t>
                          </m:r>
                        </m:num>
                        <m:den>
                          <m:r>
                            <a:rPr lang="en-US" altLang="zh-CN" sz="2400" b="0" i="1" smtClean="0">
                              <a:latin typeface="Cambria Math"/>
                            </a:rPr>
                            <m:t>2</m:t>
                          </m:r>
                          <m:r>
                            <a:rPr lang="en-US" altLang="zh-CN" sz="2400" b="0" i="1" smtClean="0">
                              <a:latin typeface="Cambria Math"/>
                            </a:rPr>
                            <m:t>𝑠𝑖𝑛</m:t>
                          </m:r>
                          <m:f>
                            <m:fPr>
                              <m:ctrlPr>
                                <a:rPr lang="en-US" altLang="zh-CN" sz="2400" b="0" i="1" smtClean="0">
                                  <a:latin typeface="Cambria Math" panose="02040503050406030204" pitchFamily="18" charset="0"/>
                                </a:rPr>
                              </m:ctrlPr>
                            </m:fPr>
                            <m:num>
                              <m:r>
                                <a:rPr lang="zh-CN" altLang="en-US" sz="2400" b="0" i="1" smtClean="0">
                                  <a:latin typeface="Cambria Math"/>
                                </a:rPr>
                                <m:t>𝜃</m:t>
                              </m:r>
                            </m:num>
                            <m:den>
                              <m:r>
                                <a:rPr lang="en-US" altLang="zh-CN" sz="2400" b="0" i="1" smtClean="0">
                                  <a:latin typeface="Cambria Math"/>
                                </a:rPr>
                                <m:t>2</m:t>
                              </m:r>
                            </m:den>
                          </m:f>
                        </m:den>
                      </m:f>
                      <m:r>
                        <a:rPr lang="en-US" altLang="zh-CN" sz="2400" i="1" smtClean="0">
                          <a:latin typeface="Cambria Math"/>
                          <a:ea typeface="Cambria Math"/>
                        </a:rPr>
                        <m:t>≈</m:t>
                      </m:r>
                      <m:f>
                        <m:fPr>
                          <m:ctrlPr>
                            <a:rPr lang="en-US" altLang="zh-CN" sz="2400" i="1" smtClean="0">
                              <a:latin typeface="Cambria Math" panose="02040503050406030204" pitchFamily="18" charset="0"/>
                              <a:ea typeface="Cambria Math"/>
                            </a:rPr>
                          </m:ctrlPr>
                        </m:fPr>
                        <m:num>
                          <m:r>
                            <a:rPr lang="en-US" altLang="zh-CN" sz="2400" b="0" i="1" smtClean="0">
                              <a:latin typeface="Cambria Math"/>
                              <a:ea typeface="Cambria Math"/>
                            </a:rPr>
                            <m:t>𝑊</m:t>
                          </m:r>
                        </m:num>
                        <m:den>
                          <m:r>
                            <a:rPr lang="zh-CN" altLang="en-US" sz="2400" i="1" smtClean="0">
                              <a:latin typeface="Cambria Math"/>
                              <a:ea typeface="Cambria Math"/>
                            </a:rPr>
                            <m:t>𝜃</m:t>
                          </m:r>
                        </m:den>
                      </m:f>
                    </m:oMath>
                  </m:oMathPara>
                </a14:m>
                <a:endParaRPr lang="zh-CN" altLang="en-US" sz="2400" dirty="0"/>
              </a:p>
            </p:txBody>
          </p:sp>
        </mc:Choice>
        <mc:Fallback xmlns="">
          <p:sp>
            <p:nvSpPr>
              <p:cNvPr id="8" name="TextBox 7">
                <a:extLst>
                  <a:ext uri="{FF2B5EF4-FFF2-40B4-BE49-F238E27FC236}">
                    <a16:creationId xmlns:a16="http://schemas.microsoft.com/office/drawing/2014/main" id="{8E53015F-83AD-44D1-B234-5CC7EE73859A}"/>
                  </a:ext>
                </a:extLst>
              </p:cNvPr>
              <p:cNvSpPr txBox="1">
                <a:spLocks noRot="1" noChangeAspect="1" noMove="1" noResize="1" noEditPoints="1" noAdjustHandles="1" noChangeArrowheads="1" noChangeShapeType="1" noTextEdit="1"/>
              </p:cNvSpPr>
              <p:nvPr/>
            </p:nvSpPr>
            <p:spPr>
              <a:xfrm>
                <a:off x="1231592" y="1775429"/>
                <a:ext cx="2475165" cy="1082476"/>
              </a:xfrm>
              <a:prstGeom prst="rect">
                <a:avLst/>
              </a:prstGeom>
              <a:blipFill>
                <a:blip r:embed="rId4"/>
                <a:stretch>
                  <a:fillRect/>
                </a:stretch>
              </a:blipFill>
            </p:spPr>
            <p:txBody>
              <a:bodyPr/>
              <a:lstStyle/>
              <a:p>
                <a:r>
                  <a:rPr lang="en-001">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A0413C6-94A6-41B2-ADAA-A8804F8E76D3}"/>
                  </a:ext>
                </a:extLst>
              </p:cNvPr>
              <p:cNvSpPr txBox="1"/>
              <p:nvPr/>
            </p:nvSpPr>
            <p:spPr>
              <a:xfrm>
                <a:off x="4990792" y="1688343"/>
                <a:ext cx="2137765" cy="7861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𝐾</m:t>
                      </m:r>
                      <m:r>
                        <a:rPr lang="en-US" altLang="zh-CN" sz="2400" b="0" i="1" smtClean="0">
                          <a:latin typeface="Cambria Math" panose="02040503050406030204" pitchFamily="18" charset="0"/>
                        </a:rPr>
                        <m:t>=</m:t>
                      </m:r>
                      <m:r>
                        <a:rPr lang="en-US" altLang="zh-CN" sz="2400" b="0" i="1" smtClean="0">
                          <a:latin typeface="Cambria Math"/>
                        </a:rPr>
                        <m:t>𝐵</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𝑊</m:t>
                      </m:r>
                      <m:r>
                        <a:rPr lang="en-US" altLang="zh-CN" sz="2400" i="1" smtClean="0">
                          <a:latin typeface="Cambria Math"/>
                          <a:ea typeface="Cambria Math"/>
                        </a:rPr>
                        <m:t>≈</m:t>
                      </m:r>
                      <m:f>
                        <m:fPr>
                          <m:ctrlPr>
                            <a:rPr lang="en-US" altLang="zh-CN" sz="2400" i="1" smtClean="0">
                              <a:latin typeface="Cambria Math" panose="02040503050406030204" pitchFamily="18" charset="0"/>
                              <a:ea typeface="Cambria Math"/>
                            </a:rPr>
                          </m:ctrlPr>
                        </m:fPr>
                        <m:num>
                          <m:r>
                            <a:rPr lang="en-US" altLang="zh-CN" sz="2400" b="0" i="1" smtClean="0">
                              <a:latin typeface="Cambria Math" panose="02040503050406030204" pitchFamily="18" charset="0"/>
                              <a:ea typeface="Cambria Math"/>
                            </a:rPr>
                            <m:t>1</m:t>
                          </m:r>
                        </m:num>
                        <m:den>
                          <m:r>
                            <a:rPr lang="zh-CN" altLang="en-US" sz="2400" i="1" smtClean="0">
                              <a:latin typeface="Cambria Math"/>
                              <a:ea typeface="Cambria Math"/>
                            </a:rPr>
                            <m:t>𝜃</m:t>
                          </m:r>
                        </m:den>
                      </m:f>
                    </m:oMath>
                  </m:oMathPara>
                </a14:m>
                <a:endParaRPr lang="zh-CN" altLang="en-US" sz="2400" dirty="0"/>
              </a:p>
            </p:txBody>
          </p:sp>
        </mc:Choice>
        <mc:Fallback xmlns="">
          <p:sp>
            <p:nvSpPr>
              <p:cNvPr id="9" name="TextBox 8">
                <a:extLst>
                  <a:ext uri="{FF2B5EF4-FFF2-40B4-BE49-F238E27FC236}">
                    <a16:creationId xmlns:a16="http://schemas.microsoft.com/office/drawing/2014/main" id="{1A0413C6-94A6-41B2-ADAA-A8804F8E76D3}"/>
                  </a:ext>
                </a:extLst>
              </p:cNvPr>
              <p:cNvSpPr txBox="1">
                <a:spLocks noRot="1" noChangeAspect="1" noMove="1" noResize="1" noEditPoints="1" noAdjustHandles="1" noChangeArrowheads="1" noChangeShapeType="1" noTextEdit="1"/>
              </p:cNvSpPr>
              <p:nvPr/>
            </p:nvSpPr>
            <p:spPr>
              <a:xfrm>
                <a:off x="4990792" y="1688343"/>
                <a:ext cx="2137765" cy="786177"/>
              </a:xfrm>
              <a:prstGeom prst="rect">
                <a:avLst/>
              </a:prstGeom>
              <a:blipFill>
                <a:blip r:embed="rId5"/>
                <a:stretch>
                  <a:fillRect/>
                </a:stretch>
              </a:blipFill>
            </p:spPr>
            <p:txBody>
              <a:bodyPr/>
              <a:lstStyle/>
              <a:p>
                <a:r>
                  <a:rPr lang="en-001">
                    <a:noFill/>
                  </a:rPr>
                  <a:t> </a:t>
                </a:r>
              </a:p>
            </p:txBody>
          </p:sp>
        </mc:Fallback>
      </mc:AlternateContent>
    </p:spTree>
    <p:extLst>
      <p:ext uri="{BB962C8B-B14F-4D97-AF65-F5344CB8AC3E}">
        <p14:creationId xmlns:p14="http://schemas.microsoft.com/office/powerpoint/2010/main" val="342964546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7.7.3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60001"/>
            <a:ext cx="434284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辨向原理和细分电路 </a:t>
            </a:r>
          </a:p>
        </p:txBody>
      </p:sp>
      <p:sp>
        <p:nvSpPr>
          <p:cNvPr id="5" name="矩形 4"/>
          <p:cNvSpPr/>
          <p:nvPr/>
        </p:nvSpPr>
        <p:spPr>
          <a:xfrm>
            <a:off x="943558" y="1691723"/>
            <a:ext cx="6915824" cy="2952088"/>
          </a:xfrm>
          <a:prstGeom prst="rect">
            <a:avLst/>
          </a:prstGeom>
        </p:spPr>
        <p:txBody>
          <a:bodyPr wrap="square" lIns="91438" tIns="45719" rIns="91438" bIns="45719">
            <a:spAutoFit/>
          </a:bodyPr>
          <a:lstStyle/>
          <a:p>
            <a:pPr>
              <a:lnSpc>
                <a:spcPct val="150000"/>
              </a:lnSpc>
              <a:spcBef>
                <a:spcPts val="670"/>
              </a:spcBef>
            </a:pPr>
            <a:r>
              <a:rPr lang="zh-CN" altLang="en-US"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sym typeface="+mn-ea"/>
              </a:rPr>
              <a:t>一、辨向原理 </a:t>
            </a:r>
          </a:p>
          <a:p>
            <a:pPr>
              <a:lnSpc>
                <a:spcPct val="150000"/>
              </a:lnSpc>
              <a:spcBef>
                <a:spcPts val="670"/>
              </a:spcBef>
            </a:pPr>
            <a:r>
              <a:rPr lang="zh-CN" altLang="en-US"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sym typeface="+mn-ea"/>
              </a:rPr>
              <a:t>        在实际应用中，大部分被测物体的移动既有正向运动，也有反向运动。单个光电元件只能判别明暗的变化而不能辨别莫尔条纹的移动方向。能够完成辨向任务的电路就是辨向电路。</a:t>
            </a:r>
          </a:p>
        </p:txBody>
      </p:sp>
      <p:sp>
        <p:nvSpPr>
          <p:cNvPr id="2" name="Slide Number Placeholder 1">
            <a:extLst>
              <a:ext uri="{FF2B5EF4-FFF2-40B4-BE49-F238E27FC236}">
                <a16:creationId xmlns:a16="http://schemas.microsoft.com/office/drawing/2014/main" id="{6BE40E09-B151-45B6-9561-A1F96ADA8980}"/>
              </a:ext>
            </a:extLst>
          </p:cNvPr>
          <p:cNvSpPr>
            <a:spLocks noGrp="1"/>
          </p:cNvSpPr>
          <p:nvPr>
            <p:ph type="sldNum" sz="quarter" idx="12"/>
          </p:nvPr>
        </p:nvSpPr>
        <p:spPr/>
        <p:txBody>
          <a:bodyPr/>
          <a:lstStyle/>
          <a:p>
            <a:fld id="{B53602B4-F12B-41CD-B648-531F86B2CC91}" type="slidenum">
              <a:rPr lang="zh-CN" altLang="en-US" smtClean="0"/>
              <a:t>73</a:t>
            </a:fld>
            <a:endParaRPr lang="zh-CN" altLang="en-US"/>
          </a:p>
        </p:txBody>
      </p:sp>
    </p:spTree>
    <p:extLst>
      <p:ext uri="{BB962C8B-B14F-4D97-AF65-F5344CB8AC3E}">
        <p14:creationId xmlns:p14="http://schemas.microsoft.com/office/powerpoint/2010/main" val="29644234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20204" pitchFamily="34" charset="0"/>
                <a:ea typeface="宋体" panose="02010600030101010101" pitchFamily="2" charset="-122"/>
                <a:cs typeface="Arial" panose="020B0604020202020204" pitchFamily="34" charset="0"/>
              </a:rPr>
              <a:t>7.7.3</a:t>
            </a:r>
            <a:endParaRPr lang="en-US" sz="3200" b="1" dirty="0">
              <a:latin typeface="Arial" panose="020B0604020202020204" pitchFamily="34" charset="0"/>
              <a:ea typeface="宋体" panose="02010600030101010101" pitchFamily="2" charset="-122"/>
              <a:cs typeface="Arial" panose="020B0604020202020204" pitchFamily="34" charset="0"/>
            </a:endParaRPr>
          </a:p>
        </p:txBody>
      </p:sp>
      <p:sp>
        <p:nvSpPr>
          <p:cNvPr id="46" name="矩形 45"/>
          <p:cNvSpPr/>
          <p:nvPr/>
        </p:nvSpPr>
        <p:spPr>
          <a:xfrm>
            <a:off x="1960201" y="360001"/>
            <a:ext cx="434284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辨向原理和细分电路 </a:t>
            </a:r>
          </a:p>
        </p:txBody>
      </p:sp>
      <p:sp>
        <p:nvSpPr>
          <p:cNvPr id="5" name="矩形 4"/>
          <p:cNvSpPr/>
          <p:nvPr/>
        </p:nvSpPr>
        <p:spPr>
          <a:xfrm>
            <a:off x="1221854" y="2325808"/>
            <a:ext cx="6498232" cy="2398090"/>
          </a:xfrm>
          <a:prstGeom prst="rect">
            <a:avLst/>
          </a:prstGeom>
        </p:spPr>
        <p:txBody>
          <a:bodyPr wrap="square" lIns="91438" tIns="45719" rIns="91438" bIns="45719">
            <a:spAutoFit/>
          </a:bodyPr>
          <a:lstStyle/>
          <a:p>
            <a:pPr>
              <a:lnSpc>
                <a:spcPct val="150000"/>
              </a:lnSpc>
              <a:spcBef>
                <a:spcPts val="670"/>
              </a:spcBef>
            </a:pPr>
            <a:r>
              <a:rPr lang="zh-CN" altLang="en-US"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sym typeface="+mn-ea"/>
              </a:rPr>
              <a:t>二、细分电路 </a:t>
            </a:r>
          </a:p>
          <a:p>
            <a:pPr indent="630238">
              <a:lnSpc>
                <a:spcPct val="150000"/>
              </a:lnSpc>
              <a:spcBef>
                <a:spcPts val="670"/>
              </a:spcBef>
            </a:pPr>
            <a:r>
              <a:rPr lang="zh-CN" altLang="en-US"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sym typeface="+mn-ea"/>
              </a:rPr>
              <a:t>采用细分技术可以提高分辨率，使光栅每移动一个栅距时输出均匀分布的几个脉冲，从而使分辨率提高到</a:t>
            </a:r>
            <a:r>
              <a:rPr lang="en-US" altLang="zh-CN" sz="2400" b="1" i="1" dirty="0">
                <a:solidFill>
                  <a:schemeClr val="bg1">
                    <a:lumMod val="50000"/>
                  </a:schemeClr>
                </a:solidFill>
                <a:latin typeface="Times New Roman" pitchFamily="18" charset="0"/>
                <a:ea typeface="宋体" panose="02010600030101010101" pitchFamily="2" charset="-122"/>
                <a:cs typeface="Times New Roman" pitchFamily="18" charset="0"/>
                <a:sym typeface="+mn-ea"/>
              </a:rPr>
              <a:t>W</a:t>
            </a:r>
            <a:r>
              <a:rPr lang="en-US" altLang="zh-CN" sz="2400" b="1" dirty="0">
                <a:solidFill>
                  <a:schemeClr val="bg1">
                    <a:lumMod val="50000"/>
                  </a:schemeClr>
                </a:solidFill>
                <a:latin typeface="Times New Roman" pitchFamily="18" charset="0"/>
                <a:ea typeface="宋体" panose="02010600030101010101" pitchFamily="2" charset="-122"/>
                <a:cs typeface="Times New Roman" pitchFamily="18" charset="0"/>
                <a:sym typeface="+mn-ea"/>
              </a:rPr>
              <a:t>/</a:t>
            </a:r>
            <a:r>
              <a:rPr lang="en-US" altLang="zh-CN" sz="2400" b="1" i="1" dirty="0">
                <a:solidFill>
                  <a:schemeClr val="bg1">
                    <a:lumMod val="50000"/>
                  </a:schemeClr>
                </a:solidFill>
                <a:latin typeface="Times New Roman" pitchFamily="18" charset="0"/>
                <a:ea typeface="宋体" panose="02010600030101010101" pitchFamily="2" charset="-122"/>
                <a:cs typeface="Times New Roman" pitchFamily="18" charset="0"/>
                <a:sym typeface="+mn-ea"/>
              </a:rPr>
              <a:t>n</a:t>
            </a:r>
            <a:r>
              <a:rPr lang="zh-CN" altLang="en-US" sz="2400" b="1" dirty="0">
                <a:solidFill>
                  <a:schemeClr val="bg1">
                    <a:lumMod val="50000"/>
                  </a:schemeClr>
                </a:solidFill>
                <a:latin typeface="Arial" panose="020B0604020202020204" pitchFamily="34" charset="0"/>
                <a:ea typeface="宋体" panose="02010600030101010101" pitchFamily="2" charset="-122"/>
                <a:cs typeface="Arial" panose="020B0604020202020204" pitchFamily="34" charset="0"/>
                <a:sym typeface="+mn-ea"/>
              </a:rPr>
              <a:t>。</a:t>
            </a:r>
          </a:p>
        </p:txBody>
      </p:sp>
      <p:sp>
        <p:nvSpPr>
          <p:cNvPr id="2" name="Slide Number Placeholder 1">
            <a:extLst>
              <a:ext uri="{FF2B5EF4-FFF2-40B4-BE49-F238E27FC236}">
                <a16:creationId xmlns:a16="http://schemas.microsoft.com/office/drawing/2014/main" id="{0F03DFC7-BC92-42BB-AAA4-6C9ED6A58C4F}"/>
              </a:ext>
            </a:extLst>
          </p:cNvPr>
          <p:cNvSpPr>
            <a:spLocks noGrp="1"/>
          </p:cNvSpPr>
          <p:nvPr>
            <p:ph type="sldNum" sz="quarter" idx="12"/>
          </p:nvPr>
        </p:nvSpPr>
        <p:spPr/>
        <p:txBody>
          <a:bodyPr/>
          <a:lstStyle/>
          <a:p>
            <a:fld id="{B53602B4-F12B-41CD-B648-531F86B2CC91}" type="slidenum">
              <a:rPr lang="zh-CN" altLang="en-US" smtClean="0"/>
              <a:t>74</a:t>
            </a:fld>
            <a:endParaRPr lang="zh-CN" altLang="en-US"/>
          </a:p>
        </p:txBody>
      </p:sp>
    </p:spTree>
    <p:extLst>
      <p:ext uri="{BB962C8B-B14F-4D97-AF65-F5344CB8AC3E}">
        <p14:creationId xmlns:p14="http://schemas.microsoft.com/office/powerpoint/2010/main" val="37530540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7.8</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激光式传感器</a:t>
            </a:r>
          </a:p>
        </p:txBody>
      </p:sp>
      <p:sp>
        <p:nvSpPr>
          <p:cNvPr id="6" name="TextBox 5"/>
          <p:cNvSpPr txBox="1"/>
          <p:nvPr/>
        </p:nvSpPr>
        <p:spPr>
          <a:xfrm>
            <a:off x="755921" y="1577487"/>
            <a:ext cx="7920632" cy="1113766"/>
          </a:xfrm>
          <a:prstGeom prst="rect">
            <a:avLst/>
          </a:prstGeom>
          <a:noFill/>
        </p:spPr>
        <p:txBody>
          <a:bodyPr wrap="square" rtlCol="0">
            <a:spAutoFit/>
          </a:bodyPr>
          <a:lstStyle/>
          <a:p>
            <a:pPr indent="623888">
              <a:lnSpc>
                <a:spcPct val="150000"/>
              </a:lnSpc>
            </a:pPr>
            <a:r>
              <a:rPr lang="zh-CN" altLang="en-US" sz="2400" b="1" dirty="0">
                <a:latin typeface="宋体" panose="02010600030101010101" pitchFamily="2" charset="-122"/>
                <a:ea typeface="宋体" panose="02010600030101010101" pitchFamily="2" charset="-122"/>
              </a:rPr>
              <a:t>激光具有能量集中、良好的方向性、良好的单色性、干涉能力强等特点。</a:t>
            </a:r>
          </a:p>
        </p:txBody>
      </p:sp>
      <p:sp>
        <p:nvSpPr>
          <p:cNvPr id="32" name="TextBox 31"/>
          <p:cNvSpPr txBox="1"/>
          <p:nvPr/>
        </p:nvSpPr>
        <p:spPr>
          <a:xfrm>
            <a:off x="812800" y="3171369"/>
            <a:ext cx="7920632" cy="2221762"/>
          </a:xfrm>
          <a:prstGeom prst="rect">
            <a:avLst/>
          </a:prstGeom>
          <a:noFill/>
        </p:spPr>
        <p:txBody>
          <a:bodyPr wrap="square" rtlCol="0">
            <a:spAutoFit/>
          </a:bodyPr>
          <a:lstStyle/>
          <a:p>
            <a:pPr indent="623888">
              <a:lnSpc>
                <a:spcPct val="150000"/>
              </a:lnSpc>
            </a:pPr>
            <a:r>
              <a:rPr lang="zh-CN" altLang="en-US" sz="2400" b="1" dirty="0">
                <a:latin typeface="宋体" panose="02010600030101010101" pitchFamily="2" charset="-122"/>
                <a:ea typeface="宋体" panose="02010600030101010101" pitchFamily="2" charset="-122"/>
              </a:rPr>
              <a:t>激光式传感器通常具有</a:t>
            </a:r>
            <a:r>
              <a:rPr lang="zh-CN" altLang="en-US" sz="2400" b="1" dirty="0">
                <a:solidFill>
                  <a:srgbClr val="FF0000"/>
                </a:solidFill>
                <a:latin typeface="宋体" panose="02010600030101010101" pitchFamily="2" charset="-122"/>
                <a:ea typeface="宋体" panose="02010600030101010101" pitchFamily="2" charset="-122"/>
              </a:rPr>
              <a:t>极高的测量精度</a:t>
            </a:r>
            <a:r>
              <a:rPr lang="zh-CN" altLang="en-US" sz="2400" b="1" dirty="0">
                <a:latin typeface="宋体" panose="02010600030101010101" pitchFamily="2" charset="-122"/>
                <a:ea typeface="宋体" panose="02010600030101010101" pitchFamily="2" charset="-122"/>
              </a:rPr>
              <a:t>，可用于精密长度计量传感器，如磁尺、感应同步器、光栅等的检定。常被用于精密机床的控制、校正和芯片制造中的精确定位等方面。</a:t>
            </a:r>
          </a:p>
        </p:txBody>
      </p:sp>
      <p:sp>
        <p:nvSpPr>
          <p:cNvPr id="2" name="Slide Number Placeholder 1">
            <a:extLst>
              <a:ext uri="{FF2B5EF4-FFF2-40B4-BE49-F238E27FC236}">
                <a16:creationId xmlns:a16="http://schemas.microsoft.com/office/drawing/2014/main" id="{CF8011A5-4B48-4B5F-A190-4A9AB8830645}"/>
              </a:ext>
            </a:extLst>
          </p:cNvPr>
          <p:cNvSpPr>
            <a:spLocks noGrp="1"/>
          </p:cNvSpPr>
          <p:nvPr>
            <p:ph type="sldNum" sz="quarter" idx="12"/>
          </p:nvPr>
        </p:nvSpPr>
        <p:spPr/>
        <p:txBody>
          <a:bodyPr/>
          <a:lstStyle/>
          <a:p>
            <a:fld id="{B53602B4-F12B-41CD-B648-531F86B2CC91}" type="slidenum">
              <a:rPr lang="zh-CN" altLang="en-US" smtClean="0"/>
              <a:t>75</a:t>
            </a:fld>
            <a:endParaRPr lang="zh-CN" altLang="en-US"/>
          </a:p>
        </p:txBody>
      </p:sp>
    </p:spTree>
    <p:extLst>
      <p:ext uri="{BB962C8B-B14F-4D97-AF65-F5344CB8AC3E}">
        <p14:creationId xmlns:p14="http://schemas.microsoft.com/office/powerpoint/2010/main" val="135483305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7.8</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激光式传感器</a:t>
            </a:r>
          </a:p>
        </p:txBody>
      </p:sp>
      <p:sp>
        <p:nvSpPr>
          <p:cNvPr id="2" name="TextBox 1"/>
          <p:cNvSpPr txBox="1"/>
          <p:nvPr/>
        </p:nvSpPr>
        <p:spPr>
          <a:xfrm>
            <a:off x="884071" y="1332421"/>
            <a:ext cx="1436915" cy="461665"/>
          </a:xfrm>
          <a:prstGeom prst="rect">
            <a:avLst/>
          </a:prstGeom>
          <a:noFill/>
        </p:spPr>
        <p:txBody>
          <a:bodyPr wrap="square" rtlCol="0">
            <a:spAutoFit/>
          </a:bodyPr>
          <a:lstStyle/>
          <a:p>
            <a:r>
              <a:rPr lang="zh-CN" altLang="en-US" sz="2400" b="1" dirty="0">
                <a:latin typeface="宋体" panose="02010600030101010101" pitchFamily="2" charset="-122"/>
                <a:ea typeface="宋体" panose="02010600030101010101" pitchFamily="2" charset="-122"/>
              </a:rPr>
              <a:t>分类：</a:t>
            </a:r>
          </a:p>
        </p:txBody>
      </p:sp>
      <p:sp>
        <p:nvSpPr>
          <p:cNvPr id="22" name="TextBox 21"/>
          <p:cNvSpPr txBox="1"/>
          <p:nvPr/>
        </p:nvSpPr>
        <p:spPr>
          <a:xfrm>
            <a:off x="1010698" y="1965804"/>
            <a:ext cx="3666731" cy="646331"/>
          </a:xfrm>
          <a:prstGeom prst="rect">
            <a:avLst/>
          </a:prstGeom>
          <a:noFill/>
        </p:spPr>
        <p:txBody>
          <a:bodyPr wrap="square" rtlCol="0">
            <a:spAutoFit/>
          </a:bodyPr>
          <a:lstStyle/>
          <a:p>
            <a:pPr marL="342900" indent="-342900">
              <a:lnSpc>
                <a:spcPct val="150000"/>
              </a:lnSpc>
              <a:buClr>
                <a:srgbClr val="7030A0"/>
              </a:buClr>
              <a:buFont typeface="Arial" pitchFamily="34" charset="0"/>
              <a:buChar char="•"/>
            </a:pPr>
            <a:r>
              <a:rPr lang="zh-CN" altLang="en-US" sz="2400" b="1" dirty="0">
                <a:latin typeface="宋体" panose="02010600030101010101" pitchFamily="2" charset="-122"/>
                <a:ea typeface="宋体" panose="02010600030101010101" pitchFamily="2" charset="-122"/>
              </a:rPr>
              <a:t>激光干涉传感器</a:t>
            </a:r>
            <a:endParaRPr lang="en-US" altLang="zh-CN" sz="2400" b="1" dirty="0">
              <a:latin typeface="宋体" panose="02010600030101010101" pitchFamily="2" charset="-122"/>
              <a:ea typeface="宋体" panose="02010600030101010101" pitchFamily="2" charset="-122"/>
            </a:endParaRPr>
          </a:p>
        </p:txBody>
      </p:sp>
      <p:sp>
        <p:nvSpPr>
          <p:cNvPr id="23" name="TextBox 22"/>
          <p:cNvSpPr txBox="1"/>
          <p:nvPr/>
        </p:nvSpPr>
        <p:spPr>
          <a:xfrm>
            <a:off x="1010698" y="4914877"/>
            <a:ext cx="3666731" cy="1200329"/>
          </a:xfrm>
          <a:prstGeom prst="rect">
            <a:avLst/>
          </a:prstGeom>
          <a:noFill/>
        </p:spPr>
        <p:txBody>
          <a:bodyPr wrap="square" rtlCol="0">
            <a:spAutoFit/>
          </a:bodyPr>
          <a:lstStyle/>
          <a:p>
            <a:pPr marL="342900" indent="-342900">
              <a:lnSpc>
                <a:spcPct val="150000"/>
              </a:lnSpc>
              <a:buClr>
                <a:srgbClr val="7030A0"/>
              </a:buClr>
              <a:buFont typeface="Arial" pitchFamily="34" charset="0"/>
              <a:buChar char="•"/>
            </a:pPr>
            <a:r>
              <a:rPr lang="zh-CN" altLang="en-US" sz="2400" b="1" dirty="0">
                <a:latin typeface="宋体" panose="02010600030101010101" pitchFamily="2" charset="-122"/>
                <a:ea typeface="宋体" panose="02010600030101010101" pitchFamily="2" charset="-122"/>
              </a:rPr>
              <a:t>激光衍射传感器</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itchFamily="34" charset="0"/>
              <a:buChar char="•"/>
            </a:pPr>
            <a:r>
              <a:rPr lang="zh-CN" altLang="en-US" sz="2400" b="1" dirty="0">
                <a:latin typeface="宋体" panose="02010600030101010101" pitchFamily="2" charset="-122"/>
                <a:ea typeface="宋体" panose="02010600030101010101" pitchFamily="2" charset="-122"/>
              </a:rPr>
              <a:t>激光扫描传感器</a:t>
            </a:r>
          </a:p>
        </p:txBody>
      </p:sp>
      <p:sp>
        <p:nvSpPr>
          <p:cNvPr id="24" name="TextBox 23"/>
          <p:cNvSpPr txBox="1"/>
          <p:nvPr/>
        </p:nvSpPr>
        <p:spPr>
          <a:xfrm>
            <a:off x="1384818" y="2592039"/>
            <a:ext cx="6891049" cy="2308324"/>
          </a:xfrm>
          <a:prstGeom prst="rect">
            <a:avLst/>
          </a:prstGeom>
          <a:noFill/>
        </p:spPr>
        <p:txBody>
          <a:bodyPr wrap="square" rtlCol="0">
            <a:spAutoFit/>
          </a:bodyPr>
          <a:lstStyle/>
          <a:p>
            <a:pPr>
              <a:lnSpc>
                <a:spcPct val="150000"/>
              </a:lnSpc>
            </a:pPr>
            <a:r>
              <a:rPr lang="zh-CN" altLang="en-US" sz="2400" b="1" dirty="0">
                <a:latin typeface="宋体" panose="02010600030101010101" pitchFamily="2" charset="-122"/>
                <a:ea typeface="宋体" panose="02010600030101010101" pitchFamily="2" charset="-122"/>
              </a:rPr>
              <a:t>当</a:t>
            </a:r>
            <a:r>
              <a:rPr lang="zh-CN" altLang="en-US" sz="2400" b="1" dirty="0">
                <a:solidFill>
                  <a:srgbClr val="3333CC"/>
                </a:solidFill>
                <a:latin typeface="宋体" panose="02010600030101010101" pitchFamily="2" charset="-122"/>
                <a:ea typeface="宋体" panose="02010600030101010101" pitchFamily="2" charset="-122"/>
              </a:rPr>
              <a:t>波长（频率）相同、相位相关</a:t>
            </a:r>
            <a:r>
              <a:rPr lang="zh-CN" altLang="en-US" sz="2400" b="1" dirty="0">
                <a:latin typeface="宋体" panose="02010600030101010101" pitchFamily="2" charset="-122"/>
                <a:ea typeface="宋体" panose="02010600030101010101" pitchFamily="2" charset="-122"/>
              </a:rPr>
              <a:t>的两束光相遇时，会出现光强增强或减弱的现象，产生</a:t>
            </a:r>
            <a:r>
              <a:rPr lang="zh-CN" altLang="en-US" sz="2400" b="1" dirty="0">
                <a:solidFill>
                  <a:srgbClr val="C00000"/>
                </a:solidFill>
                <a:latin typeface="宋体" panose="02010600030101010101" pitchFamily="2" charset="-122"/>
                <a:ea typeface="宋体" panose="02010600030101010101" pitchFamily="2" charset="-122"/>
              </a:rPr>
              <a:t>干涉条纹</a:t>
            </a:r>
            <a:r>
              <a:rPr lang="zh-CN" altLang="en-US" sz="2400" b="1" dirty="0">
                <a:latin typeface="宋体" panose="02010600030101010101" pitchFamily="2" charset="-122"/>
                <a:ea typeface="宋体" panose="02010600030101010101" pitchFamily="2" charset="-122"/>
              </a:rPr>
              <a:t>。利用干涉条纹随被测长度变化而变化</a:t>
            </a:r>
            <a:r>
              <a:rPr lang="zh-CN" altLang="en-US" sz="2400" b="1">
                <a:latin typeface="宋体" panose="02010600030101010101" pitchFamily="2" charset="-122"/>
                <a:ea typeface="宋体" panose="02010600030101010101" pitchFamily="2" charset="-122"/>
              </a:rPr>
              <a:t>，可以实</a:t>
            </a:r>
            <a:r>
              <a:rPr lang="zh-CN" altLang="en-US" sz="2400" b="1" dirty="0">
                <a:latin typeface="宋体" panose="02010600030101010101" pitchFamily="2" charset="-122"/>
                <a:ea typeface="宋体" panose="02010600030101010101" pitchFamily="2" charset="-122"/>
              </a:rPr>
              <a:t>现长度计量。</a:t>
            </a:r>
          </a:p>
        </p:txBody>
      </p:sp>
      <p:sp>
        <p:nvSpPr>
          <p:cNvPr id="3" name="Slide Number Placeholder 2">
            <a:extLst>
              <a:ext uri="{FF2B5EF4-FFF2-40B4-BE49-F238E27FC236}">
                <a16:creationId xmlns:a16="http://schemas.microsoft.com/office/drawing/2014/main" id="{1B55AE2B-0F42-4846-8226-AAECE0C6C34C}"/>
              </a:ext>
            </a:extLst>
          </p:cNvPr>
          <p:cNvSpPr>
            <a:spLocks noGrp="1"/>
          </p:cNvSpPr>
          <p:nvPr>
            <p:ph type="sldNum" sz="quarter" idx="12"/>
          </p:nvPr>
        </p:nvSpPr>
        <p:spPr/>
        <p:txBody>
          <a:bodyPr/>
          <a:lstStyle/>
          <a:p>
            <a:fld id="{B53602B4-F12B-41CD-B648-531F86B2CC91}" type="slidenum">
              <a:rPr lang="zh-CN" altLang="en-US" smtClean="0"/>
              <a:t>76</a:t>
            </a:fld>
            <a:endParaRPr lang="zh-CN" altLang="en-US"/>
          </a:p>
        </p:txBody>
      </p:sp>
    </p:spTree>
    <p:extLst>
      <p:ext uri="{BB962C8B-B14F-4D97-AF65-F5344CB8AC3E}">
        <p14:creationId xmlns:p14="http://schemas.microsoft.com/office/powerpoint/2010/main" val="60148968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7.8</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激光式传感器</a:t>
            </a:r>
          </a:p>
        </p:txBody>
      </p:sp>
      <p:sp>
        <p:nvSpPr>
          <p:cNvPr id="23" name="TextBox 22"/>
          <p:cNvSpPr txBox="1"/>
          <p:nvPr/>
        </p:nvSpPr>
        <p:spPr>
          <a:xfrm>
            <a:off x="239485" y="1830448"/>
            <a:ext cx="8756381" cy="943528"/>
          </a:xfrm>
          <a:prstGeom prst="rect">
            <a:avLst/>
          </a:prstGeom>
          <a:noFill/>
        </p:spPr>
        <p:txBody>
          <a:bodyPr wrap="square" rtlCol="0">
            <a:spAutoFit/>
          </a:bodyPr>
          <a:lstStyle/>
          <a:p>
            <a:pPr>
              <a:lnSpc>
                <a:spcPct val="150000"/>
              </a:lnSpc>
            </a:pPr>
            <a:r>
              <a:rPr lang="zh-CN" altLang="en-US" sz="2000" b="1" dirty="0">
                <a:latin typeface="宋体" panose="02010600030101010101" pitchFamily="2" charset="-122"/>
                <a:ea typeface="宋体" panose="02010600030101010101" pitchFamily="2" charset="-122"/>
              </a:rPr>
              <a:t>不仅可测位移，还可测速度；通过改变光学系统，在远距离上可以高精度地测量长度、平度和垂直度。</a:t>
            </a:r>
          </a:p>
        </p:txBody>
      </p:sp>
      <p:sp>
        <p:nvSpPr>
          <p:cNvPr id="3" name="Slide Number Placeholder 2">
            <a:extLst>
              <a:ext uri="{FF2B5EF4-FFF2-40B4-BE49-F238E27FC236}">
                <a16:creationId xmlns:a16="http://schemas.microsoft.com/office/drawing/2014/main" id="{3401DA24-2384-4EEA-9153-01D0B7B07FA0}"/>
              </a:ext>
            </a:extLst>
          </p:cNvPr>
          <p:cNvSpPr>
            <a:spLocks noGrp="1"/>
          </p:cNvSpPr>
          <p:nvPr>
            <p:ph type="sldNum" sz="quarter" idx="12"/>
          </p:nvPr>
        </p:nvSpPr>
        <p:spPr/>
        <p:txBody>
          <a:bodyPr/>
          <a:lstStyle/>
          <a:p>
            <a:fld id="{B53602B4-F12B-41CD-B648-531F86B2CC91}" type="slidenum">
              <a:rPr lang="zh-CN" altLang="en-US" smtClean="0"/>
              <a:t>77</a:t>
            </a:fld>
            <a:endParaRPr lang="zh-CN" altLang="en-US"/>
          </a:p>
        </p:txBody>
      </p:sp>
      <p:sp>
        <p:nvSpPr>
          <p:cNvPr id="10" name="Text Box 226">
            <a:extLst>
              <a:ext uri="{FF2B5EF4-FFF2-40B4-BE49-F238E27FC236}">
                <a16:creationId xmlns:a16="http://schemas.microsoft.com/office/drawing/2014/main" id="{0619249F-6CC4-4D00-AAAE-C032A00A5F13}"/>
              </a:ext>
            </a:extLst>
          </p:cNvPr>
          <p:cNvSpPr txBox="1">
            <a:spLocks noChangeArrowheads="1"/>
          </p:cNvSpPr>
          <p:nvPr/>
        </p:nvSpPr>
        <p:spPr bwMode="auto">
          <a:xfrm>
            <a:off x="2423887" y="6244807"/>
            <a:ext cx="5781618"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7-49 </a:t>
            </a:r>
            <a:r>
              <a:rPr kumimoji="0" lang="zh-CN" altLang="en-US" b="1" dirty="0">
                <a:solidFill>
                  <a:srgbClr val="3333CC"/>
                </a:solidFill>
                <a:latin typeface="宋体" panose="02010600030101010101" pitchFamily="2" charset="-122"/>
                <a:ea typeface="宋体" panose="02010600030101010101" pitchFamily="2" charset="-122"/>
              </a:rPr>
              <a:t>测位移激光干涉仪的原理结构</a:t>
            </a:r>
          </a:p>
        </p:txBody>
      </p:sp>
      <p:graphicFrame>
        <p:nvGraphicFramePr>
          <p:cNvPr id="11" name="Object 227">
            <a:extLst>
              <a:ext uri="{FF2B5EF4-FFF2-40B4-BE49-F238E27FC236}">
                <a16:creationId xmlns:a16="http://schemas.microsoft.com/office/drawing/2014/main" id="{DCC3B56E-F058-4787-A977-D6E31C35F877}"/>
              </a:ext>
            </a:extLst>
          </p:cNvPr>
          <p:cNvGraphicFramePr>
            <a:graphicFrameLocks noChangeAspect="1"/>
          </p:cNvGraphicFramePr>
          <p:nvPr>
            <p:extLst>
              <p:ext uri="{D42A27DB-BD31-4B8C-83A1-F6EECF244321}">
                <p14:modId xmlns:p14="http://schemas.microsoft.com/office/powerpoint/2010/main" val="147408402"/>
              </p:ext>
            </p:extLst>
          </p:nvPr>
        </p:nvGraphicFramePr>
        <p:xfrm>
          <a:off x="1960200" y="2732999"/>
          <a:ext cx="5674091" cy="3372764"/>
        </p:xfrm>
        <a:graphic>
          <a:graphicData uri="http://schemas.openxmlformats.org/presentationml/2006/ole">
            <mc:AlternateContent xmlns:mc="http://schemas.openxmlformats.org/markup-compatibility/2006">
              <mc:Choice xmlns:v="urn:schemas-microsoft-com:vml" Requires="v">
                <p:oleObj name="Image" r:id="rId3" imgW="27252245" imgH="16202449" progId="Photoshop.Image.7">
                  <p:embed/>
                </p:oleObj>
              </mc:Choice>
              <mc:Fallback>
                <p:oleObj name="Image" r:id="rId3" imgW="27252245" imgH="16202449" progId="Photoshop.Image.7">
                  <p:embed/>
                  <p:pic>
                    <p:nvPicPr>
                      <p:cNvPr id="2275" name="Object 2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0200" y="2732999"/>
                        <a:ext cx="5674091" cy="3372764"/>
                      </a:xfrm>
                      <a:prstGeom prst="rect">
                        <a:avLst/>
                      </a:prstGeom>
                      <a:noFill/>
                      <a:ln>
                        <a:noFill/>
                      </a:ln>
                      <a:effectLst/>
                    </p:spPr>
                  </p:pic>
                </p:oleObj>
              </mc:Fallback>
            </mc:AlternateContent>
          </a:graphicData>
        </a:graphic>
      </p:graphicFrame>
      <p:sp>
        <p:nvSpPr>
          <p:cNvPr id="12" name="矩形 1">
            <a:extLst>
              <a:ext uri="{FF2B5EF4-FFF2-40B4-BE49-F238E27FC236}">
                <a16:creationId xmlns:a16="http://schemas.microsoft.com/office/drawing/2014/main" id="{C6F2867D-2461-4B8B-8138-A432AED9A09B}"/>
              </a:ext>
            </a:extLst>
          </p:cNvPr>
          <p:cNvSpPr/>
          <p:nvPr/>
        </p:nvSpPr>
        <p:spPr>
          <a:xfrm>
            <a:off x="274914" y="1360206"/>
            <a:ext cx="4173714" cy="461665"/>
          </a:xfrm>
          <a:prstGeom prst="rect">
            <a:avLst/>
          </a:prstGeom>
        </p:spPr>
        <p:txBody>
          <a:bodyPr wrap="square">
            <a:spAutoFit/>
          </a:bodyPr>
          <a:lstStyle/>
          <a:p>
            <a:pPr lvl="0">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sym typeface="+mn-ea"/>
              </a:rPr>
              <a:t>7.8.1  </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激光干涉仪测位移</a:t>
            </a:r>
          </a:p>
        </p:txBody>
      </p:sp>
    </p:spTree>
    <p:extLst>
      <p:ext uri="{BB962C8B-B14F-4D97-AF65-F5344CB8AC3E}">
        <p14:creationId xmlns:p14="http://schemas.microsoft.com/office/powerpoint/2010/main" val="17242302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7.8</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激光式传感器</a:t>
            </a:r>
          </a:p>
        </p:txBody>
      </p:sp>
      <p:sp>
        <p:nvSpPr>
          <p:cNvPr id="2" name="矩形 1"/>
          <p:cNvSpPr/>
          <p:nvPr/>
        </p:nvSpPr>
        <p:spPr>
          <a:xfrm>
            <a:off x="274914" y="1360206"/>
            <a:ext cx="4173714" cy="461665"/>
          </a:xfrm>
          <a:prstGeom prst="rect">
            <a:avLst/>
          </a:prstGeom>
        </p:spPr>
        <p:txBody>
          <a:bodyPr wrap="square">
            <a:spAutoFit/>
          </a:bodyPr>
          <a:lstStyle/>
          <a:p>
            <a:pPr lvl="0">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sym typeface="+mn-ea"/>
              </a:rPr>
              <a:t>7.8.1  </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激光干涉仪测位移</a:t>
            </a:r>
          </a:p>
        </p:txBody>
      </p:sp>
      <p:sp>
        <p:nvSpPr>
          <p:cNvPr id="23" name="TextBox 22"/>
          <p:cNvSpPr txBox="1"/>
          <p:nvPr/>
        </p:nvSpPr>
        <p:spPr>
          <a:xfrm>
            <a:off x="193086" y="2063298"/>
            <a:ext cx="3534228" cy="3526030"/>
          </a:xfrm>
          <a:prstGeom prst="rect">
            <a:avLst/>
          </a:prstGeom>
          <a:noFill/>
        </p:spPr>
        <p:txBody>
          <a:bodyPr wrap="square" rtlCol="0">
            <a:spAutoFit/>
          </a:bodyPr>
          <a:lstStyle/>
          <a:p>
            <a:pPr marL="342900" indent="-342900">
              <a:lnSpc>
                <a:spcPct val="120000"/>
              </a:lnSpc>
              <a:spcBef>
                <a:spcPts val="1200"/>
              </a:spcBef>
              <a:buFont typeface="Arial" panose="020B0604020202020204" pitchFamily="34" charset="0"/>
              <a:buChar char="•"/>
            </a:pPr>
            <a:r>
              <a:rPr lang="zh-CN" altLang="en-US" b="1">
                <a:latin typeface="宋体" panose="02010600030101010101" pitchFamily="2" charset="-122"/>
                <a:ea typeface="宋体" panose="02010600030101010101" pitchFamily="2" charset="-122"/>
              </a:rPr>
              <a:t>氨氖激光器产生频率为</a:t>
            </a:r>
            <a:r>
              <a:rPr lang="en-US" altLang="zh-CN" b="1">
                <a:latin typeface="宋体" panose="02010600030101010101" pitchFamily="2" charset="-122"/>
                <a:ea typeface="宋体" panose="02010600030101010101" pitchFamily="2" charset="-122"/>
              </a:rPr>
              <a:t>f1 </a:t>
            </a:r>
            <a:r>
              <a:rPr lang="zh-CN" altLang="en-US" b="1">
                <a:latin typeface="宋体" panose="02010600030101010101" pitchFamily="2" charset="-122"/>
                <a:ea typeface="宋体" panose="02010600030101010101" pitchFamily="2" charset="-122"/>
              </a:rPr>
              <a:t>和</a:t>
            </a:r>
            <a:r>
              <a:rPr lang="en-US" altLang="zh-CN" b="1">
                <a:latin typeface="宋体" panose="02010600030101010101" pitchFamily="2" charset="-122"/>
                <a:ea typeface="宋体" panose="02010600030101010101" pitchFamily="2" charset="-122"/>
              </a:rPr>
              <a:t>f2 </a:t>
            </a:r>
            <a:r>
              <a:rPr lang="zh-CN" altLang="en-US" b="1">
                <a:latin typeface="宋体" panose="02010600030101010101" pitchFamily="2" charset="-122"/>
                <a:ea typeface="宋体" panose="02010600030101010101" pitchFamily="2" charset="-122"/>
              </a:rPr>
              <a:t>的两种单色光， </a:t>
            </a:r>
            <a:r>
              <a:rPr lang="en-US" altLang="zh-CN" b="1">
                <a:latin typeface="宋体" panose="02010600030101010101" pitchFamily="2" charset="-122"/>
                <a:ea typeface="宋体" panose="02010600030101010101" pitchFamily="2" charset="-122"/>
              </a:rPr>
              <a:t>f1 </a:t>
            </a:r>
            <a:r>
              <a:rPr lang="zh-CN" altLang="en-US" b="1">
                <a:latin typeface="宋体" panose="02010600030101010101" pitchFamily="2" charset="-122"/>
                <a:ea typeface="宋体" panose="02010600030101010101" pitchFamily="2" charset="-122"/>
              </a:rPr>
              <a:t>和</a:t>
            </a:r>
            <a:r>
              <a:rPr lang="en-US" altLang="zh-CN" b="1">
                <a:latin typeface="宋体" panose="02010600030101010101" pitchFamily="2" charset="-122"/>
                <a:ea typeface="宋体" panose="02010600030101010101" pitchFamily="2" charset="-122"/>
              </a:rPr>
              <a:t>f2</a:t>
            </a:r>
            <a:r>
              <a:rPr lang="zh-CN" altLang="en-US" b="1">
                <a:latin typeface="宋体" panose="02010600030101010101" pitchFamily="2" charset="-122"/>
                <a:ea typeface="宋体" panose="02010600030101010101" pitchFamily="2" charset="-122"/>
              </a:rPr>
              <a:t>均在</a:t>
            </a:r>
            <a:r>
              <a:rPr lang="en-US" altLang="zh-CN" b="1">
                <a:latin typeface="宋体" panose="02010600030101010101" pitchFamily="2" charset="-122"/>
                <a:ea typeface="宋体" panose="02010600030101010101" pitchFamily="2" charset="-122"/>
              </a:rPr>
              <a:t>5 X 10^14Hz </a:t>
            </a:r>
            <a:r>
              <a:rPr lang="zh-CN" altLang="en-US" b="1">
                <a:latin typeface="宋体" panose="02010600030101010101" pitchFamily="2" charset="-122"/>
                <a:ea typeface="宋体" panose="02010600030101010101" pitchFamily="2" charset="-122"/>
              </a:rPr>
              <a:t>附近，但相差</a:t>
            </a:r>
            <a:r>
              <a:rPr lang="en-US" altLang="zh-CN" b="1">
                <a:latin typeface="宋体" panose="02010600030101010101" pitchFamily="2" charset="-122"/>
                <a:ea typeface="宋体" panose="02010600030101010101" pitchFamily="2" charset="-122"/>
              </a:rPr>
              <a:t>2 MHz, </a:t>
            </a:r>
            <a:r>
              <a:rPr lang="zh-CN" altLang="en-US" b="1">
                <a:latin typeface="宋体" panose="02010600030101010101" pitchFamily="2" charset="-122"/>
                <a:ea typeface="宋体" panose="02010600030101010101" pitchFamily="2" charset="-122"/>
              </a:rPr>
              <a:t>且偏振方向相反。</a:t>
            </a:r>
          </a:p>
          <a:p>
            <a:pPr marL="342900" indent="-342900">
              <a:lnSpc>
                <a:spcPct val="120000"/>
              </a:lnSpc>
              <a:spcBef>
                <a:spcPts val="1200"/>
              </a:spcBef>
              <a:buFont typeface="Arial" panose="020B0604020202020204" pitchFamily="34" charset="0"/>
              <a:buChar char="•"/>
            </a:pPr>
            <a:r>
              <a:rPr lang="zh-CN" altLang="en-US" b="1">
                <a:latin typeface="宋体" panose="02010600030101010101" pitchFamily="2" charset="-122"/>
                <a:ea typeface="宋体" panose="02010600030101010101" pitchFamily="2" charset="-122"/>
              </a:rPr>
              <a:t>光束投射到分光器上时，被分成两束光；一束被反射的光直接投射到基准光束偏振器和光检测器上，以建立</a:t>
            </a:r>
            <a:r>
              <a:rPr lang="zh-CN" altLang="en-US" b="1">
                <a:solidFill>
                  <a:srgbClr val="C00000"/>
                </a:solidFill>
                <a:latin typeface="宋体" panose="02010600030101010101" pitchFamily="2" charset="-122"/>
                <a:ea typeface="宋体" panose="02010600030101010101" pitchFamily="2" charset="-122"/>
              </a:rPr>
              <a:t>基准电信号</a:t>
            </a:r>
            <a:r>
              <a:rPr lang="zh-CN" altLang="en-US" b="1">
                <a:latin typeface="宋体" panose="02010600030101010101" pitchFamily="2" charset="-122"/>
                <a:ea typeface="宋体" panose="02010600030101010101" pitchFamily="2" charset="-122"/>
              </a:rPr>
              <a:t>；另一束光透过分光器投射到外部光学器件，以</a:t>
            </a:r>
            <a:r>
              <a:rPr lang="zh-CN" altLang="en-US" b="1">
                <a:solidFill>
                  <a:srgbClr val="C00000"/>
                </a:solidFill>
                <a:latin typeface="宋体" panose="02010600030101010101" pitchFamily="2" charset="-122"/>
                <a:ea typeface="宋体" panose="02010600030101010101" pitchFamily="2" charset="-122"/>
              </a:rPr>
              <a:t>测量位移</a:t>
            </a:r>
            <a:r>
              <a:rPr lang="zh-CN" altLang="en-US" b="1">
                <a:latin typeface="宋体" panose="02010600030101010101" pitchFamily="2" charset="-122"/>
                <a:ea typeface="宋体" panose="02010600030101010101" pitchFamily="2" charset="-122"/>
              </a:rPr>
              <a:t>。</a:t>
            </a:r>
            <a:endParaRPr lang="zh-CN" altLang="en-US" b="1" dirty="0">
              <a:latin typeface="宋体" panose="02010600030101010101" pitchFamily="2" charset="-122"/>
              <a:ea typeface="宋体" panose="02010600030101010101" pitchFamily="2" charset="-122"/>
            </a:endParaRPr>
          </a:p>
        </p:txBody>
      </p:sp>
      <p:sp>
        <p:nvSpPr>
          <p:cNvPr id="3" name="Slide Number Placeholder 2">
            <a:extLst>
              <a:ext uri="{FF2B5EF4-FFF2-40B4-BE49-F238E27FC236}">
                <a16:creationId xmlns:a16="http://schemas.microsoft.com/office/drawing/2014/main" id="{3401DA24-2384-4EEA-9153-01D0B7B07FA0}"/>
              </a:ext>
            </a:extLst>
          </p:cNvPr>
          <p:cNvSpPr>
            <a:spLocks noGrp="1"/>
          </p:cNvSpPr>
          <p:nvPr>
            <p:ph type="sldNum" sz="quarter" idx="12"/>
          </p:nvPr>
        </p:nvSpPr>
        <p:spPr/>
        <p:txBody>
          <a:bodyPr/>
          <a:lstStyle/>
          <a:p>
            <a:fld id="{B53602B4-F12B-41CD-B648-531F86B2CC91}" type="slidenum">
              <a:rPr lang="zh-CN" altLang="en-US" smtClean="0"/>
              <a:t>78</a:t>
            </a:fld>
            <a:endParaRPr lang="zh-CN" altLang="en-US"/>
          </a:p>
        </p:txBody>
      </p:sp>
      <p:sp>
        <p:nvSpPr>
          <p:cNvPr id="10" name="Text Box 226">
            <a:extLst>
              <a:ext uri="{FF2B5EF4-FFF2-40B4-BE49-F238E27FC236}">
                <a16:creationId xmlns:a16="http://schemas.microsoft.com/office/drawing/2014/main" id="{0619249F-6CC4-4D00-AAAE-C032A00A5F13}"/>
              </a:ext>
            </a:extLst>
          </p:cNvPr>
          <p:cNvSpPr txBox="1">
            <a:spLocks noChangeArrowheads="1"/>
          </p:cNvSpPr>
          <p:nvPr/>
        </p:nvSpPr>
        <p:spPr bwMode="auto">
          <a:xfrm>
            <a:off x="3924227" y="4956016"/>
            <a:ext cx="5404302"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itchFamily="18" charset="0"/>
                <a:ea typeface="宋体" charset="-122"/>
              </a:defRPr>
            </a:lvl1pPr>
            <a:lvl2pPr marL="742950" indent="-285750">
              <a:defRPr kumimoji="1" sz="2400">
                <a:solidFill>
                  <a:schemeClr val="tx1"/>
                </a:solidFill>
                <a:latin typeface="Times New Roman" pitchFamily="18" charset="0"/>
                <a:ea typeface="宋体" charset="-122"/>
              </a:defRPr>
            </a:lvl2pPr>
            <a:lvl3pPr marL="1143000" indent="-228600">
              <a:defRPr kumimoji="1" sz="2400">
                <a:solidFill>
                  <a:schemeClr val="tx1"/>
                </a:solidFill>
                <a:latin typeface="Times New Roman" pitchFamily="18" charset="0"/>
                <a:ea typeface="宋体" charset="-122"/>
              </a:defRPr>
            </a:lvl3pPr>
            <a:lvl4pPr marL="1600200" indent="-228600">
              <a:defRPr kumimoji="1" sz="2400">
                <a:solidFill>
                  <a:schemeClr val="tx1"/>
                </a:solidFill>
                <a:latin typeface="Times New Roman" pitchFamily="18" charset="0"/>
                <a:ea typeface="宋体" charset="-122"/>
              </a:defRPr>
            </a:lvl4pPr>
            <a:lvl5pPr marL="2057400" indent="-22860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hangingPunct="1">
              <a:lnSpc>
                <a:spcPct val="120000"/>
              </a:lnSpc>
              <a:spcBef>
                <a:spcPct val="20000"/>
              </a:spcBef>
            </a:pPr>
            <a:r>
              <a:rPr kumimoji="0" lang="zh-CN" altLang="en-US" b="1" dirty="0">
                <a:solidFill>
                  <a:srgbClr val="3333CC"/>
                </a:solidFill>
                <a:latin typeface="宋体" panose="02010600030101010101" pitchFamily="2" charset="-122"/>
                <a:ea typeface="宋体" panose="02010600030101010101" pitchFamily="2" charset="-122"/>
              </a:rPr>
              <a:t>图</a:t>
            </a:r>
            <a:r>
              <a:rPr kumimoji="0" lang="en-US" altLang="zh-CN" b="1" dirty="0">
                <a:solidFill>
                  <a:srgbClr val="3333CC"/>
                </a:solidFill>
                <a:latin typeface="宋体" panose="02010600030101010101" pitchFamily="2" charset="-122"/>
                <a:ea typeface="宋体" panose="02010600030101010101" pitchFamily="2" charset="-122"/>
              </a:rPr>
              <a:t>7-49 </a:t>
            </a:r>
            <a:r>
              <a:rPr kumimoji="0" lang="zh-CN" altLang="en-US" b="1" dirty="0">
                <a:solidFill>
                  <a:srgbClr val="3333CC"/>
                </a:solidFill>
                <a:latin typeface="宋体" panose="02010600030101010101" pitchFamily="2" charset="-122"/>
                <a:ea typeface="宋体" panose="02010600030101010101" pitchFamily="2" charset="-122"/>
              </a:rPr>
              <a:t>测位移激光干涉仪的原理结构</a:t>
            </a:r>
          </a:p>
        </p:txBody>
      </p:sp>
      <p:graphicFrame>
        <p:nvGraphicFramePr>
          <p:cNvPr id="11" name="Object 227">
            <a:extLst>
              <a:ext uri="{FF2B5EF4-FFF2-40B4-BE49-F238E27FC236}">
                <a16:creationId xmlns:a16="http://schemas.microsoft.com/office/drawing/2014/main" id="{DCC3B56E-F058-4787-A977-D6E31C35F877}"/>
              </a:ext>
            </a:extLst>
          </p:cNvPr>
          <p:cNvGraphicFramePr>
            <a:graphicFrameLocks noChangeAspect="1"/>
          </p:cNvGraphicFramePr>
          <p:nvPr>
            <p:extLst>
              <p:ext uri="{D42A27DB-BD31-4B8C-83A1-F6EECF244321}">
                <p14:modId xmlns:p14="http://schemas.microsoft.com/office/powerpoint/2010/main" val="2964347705"/>
              </p:ext>
            </p:extLst>
          </p:nvPr>
        </p:nvGraphicFramePr>
        <p:xfrm>
          <a:off x="3924227" y="1787511"/>
          <a:ext cx="5071640" cy="3014658"/>
        </p:xfrm>
        <a:graphic>
          <a:graphicData uri="http://schemas.openxmlformats.org/presentationml/2006/ole">
            <mc:AlternateContent xmlns:mc="http://schemas.openxmlformats.org/markup-compatibility/2006">
              <mc:Choice xmlns:v="urn:schemas-microsoft-com:vml" Requires="v">
                <p:oleObj name="Image" r:id="rId3" imgW="27252245" imgH="16202449" progId="Photoshop.Image.7">
                  <p:embed/>
                </p:oleObj>
              </mc:Choice>
              <mc:Fallback>
                <p:oleObj name="Image" r:id="rId3" imgW="27252245" imgH="16202449" progId="Photoshop.Image.7">
                  <p:embed/>
                  <p:pic>
                    <p:nvPicPr>
                      <p:cNvPr id="11" name="Object 227">
                        <a:extLst>
                          <a:ext uri="{FF2B5EF4-FFF2-40B4-BE49-F238E27FC236}">
                            <a16:creationId xmlns:a16="http://schemas.microsoft.com/office/drawing/2014/main" id="{DCC3B56E-F058-4787-A977-D6E31C35F8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4227" y="1787511"/>
                        <a:ext cx="5071640" cy="3014658"/>
                      </a:xfrm>
                      <a:prstGeom prst="rect">
                        <a:avLst/>
                      </a:prstGeom>
                      <a:noFill/>
                      <a:ln>
                        <a:noFill/>
                      </a:ln>
                      <a:effectLst/>
                    </p:spPr>
                  </p:pic>
                </p:oleObj>
              </mc:Fallback>
            </mc:AlternateContent>
          </a:graphicData>
        </a:graphic>
      </p:graphicFrame>
      <p:sp>
        <p:nvSpPr>
          <p:cNvPr id="12" name="TextBox 11">
            <a:extLst>
              <a:ext uri="{FF2B5EF4-FFF2-40B4-BE49-F238E27FC236}">
                <a16:creationId xmlns:a16="http://schemas.microsoft.com/office/drawing/2014/main" id="{25DF7AF0-8A72-4155-A28C-C018B8678E2B}"/>
              </a:ext>
            </a:extLst>
          </p:cNvPr>
          <p:cNvSpPr txBox="1"/>
          <p:nvPr/>
        </p:nvSpPr>
        <p:spPr>
          <a:xfrm>
            <a:off x="193086" y="5839465"/>
            <a:ext cx="8399371" cy="712952"/>
          </a:xfrm>
          <a:prstGeom prst="rect">
            <a:avLst/>
          </a:prstGeom>
          <a:noFill/>
        </p:spPr>
        <p:txBody>
          <a:bodyPr wrap="square" rtlCol="0">
            <a:spAutoFit/>
          </a:bodyPr>
          <a:lstStyle>
            <a:defPPr>
              <a:defRPr lang="zh-CN"/>
            </a:defPPr>
            <a:lvl1pPr marL="342900" indent="-342900">
              <a:lnSpc>
                <a:spcPct val="120000"/>
              </a:lnSpc>
              <a:spcBef>
                <a:spcPts val="1200"/>
              </a:spcBef>
              <a:buFont typeface="Arial" panose="020B0604020202020204" pitchFamily="34" charset="0"/>
              <a:buChar char="•"/>
              <a:defRPr b="1">
                <a:latin typeface="宋体" panose="02010600030101010101" pitchFamily="2" charset="-122"/>
                <a:ea typeface="宋体" panose="02010600030101010101" pitchFamily="2" charset="-122"/>
              </a:defRPr>
            </a:lvl1pPr>
          </a:lstStyle>
          <a:p>
            <a:r>
              <a:rPr lang="zh-CN" altLang="en-US"/>
              <a:t>基准光束偏振器产生与入射光频率相同的两种偏振，以便它们能够实现通常的相长干涉和</a:t>
            </a:r>
            <a:r>
              <a:rPr lang="ja-JP" altLang="en-US"/>
              <a:t>相消干涉。</a:t>
            </a:r>
            <a:endParaRPr lang="en-001"/>
          </a:p>
        </p:txBody>
      </p:sp>
    </p:spTree>
    <p:extLst>
      <p:ext uri="{BB962C8B-B14F-4D97-AF65-F5344CB8AC3E}">
        <p14:creationId xmlns:p14="http://schemas.microsoft.com/office/powerpoint/2010/main" val="152809704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7.8</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激光式传感器</a:t>
            </a:r>
          </a:p>
        </p:txBody>
      </p:sp>
      <p:sp>
        <p:nvSpPr>
          <p:cNvPr id="5" name="矩形 4"/>
          <p:cNvSpPr/>
          <p:nvPr/>
        </p:nvSpPr>
        <p:spPr>
          <a:xfrm>
            <a:off x="860512" y="1463558"/>
            <a:ext cx="6998974" cy="1772343"/>
          </a:xfrm>
          <a:prstGeom prst="rect">
            <a:avLst/>
          </a:prstGeom>
        </p:spPr>
        <p:txBody>
          <a:bodyPr wrap="square" lIns="91438" tIns="45719" rIns="91438" bIns="45719">
            <a:spAutoFit/>
          </a:bodyPr>
          <a:lstStyle/>
          <a:p>
            <a:pPr>
              <a:lnSpc>
                <a:spcPct val="150000"/>
              </a:lnSpc>
              <a:spcBef>
                <a:spcPts val="670"/>
              </a:spcBef>
            </a:pPr>
            <a:r>
              <a:rPr lang="en-US" altLang="zh-CN" sz="2400" b="1" dirty="0">
                <a:latin typeface="Arial" panose="020B0604020202020204" pitchFamily="34" charset="0"/>
                <a:ea typeface="宋体" panose="02010600030101010101" pitchFamily="2" charset="-122"/>
                <a:cs typeface="Arial" panose="020B0604020202020204" pitchFamily="34" charset="0"/>
                <a:sym typeface="+mn-ea"/>
              </a:rPr>
              <a:t>7.8.2  </a:t>
            </a: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激光测长度原理 </a:t>
            </a:r>
          </a:p>
          <a:p>
            <a:pPr indent="623888">
              <a:lnSpc>
                <a:spcPct val="150000"/>
              </a:lnSpc>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sym typeface="+mn-ea"/>
              </a:rPr>
              <a:t>利用光波的干涉现象，其精度主要取决于光的单色性的好坏，最大测程与光波长和谱线宽度相关。</a:t>
            </a:r>
          </a:p>
        </p:txBody>
      </p:sp>
      <p:sp>
        <p:nvSpPr>
          <p:cNvPr id="3" name="Slide Number Placeholder 2">
            <a:extLst>
              <a:ext uri="{FF2B5EF4-FFF2-40B4-BE49-F238E27FC236}">
                <a16:creationId xmlns:a16="http://schemas.microsoft.com/office/drawing/2014/main" id="{3401DA24-2384-4EEA-9153-01D0B7B07FA0}"/>
              </a:ext>
            </a:extLst>
          </p:cNvPr>
          <p:cNvSpPr>
            <a:spLocks noGrp="1"/>
          </p:cNvSpPr>
          <p:nvPr>
            <p:ph type="sldNum" sz="quarter" idx="12"/>
          </p:nvPr>
        </p:nvSpPr>
        <p:spPr/>
        <p:txBody>
          <a:bodyPr/>
          <a:lstStyle/>
          <a:p>
            <a:fld id="{B53602B4-F12B-41CD-B648-531F86B2CC91}" type="slidenum">
              <a:rPr lang="zh-CN" altLang="en-US" smtClean="0"/>
              <a:t>79</a:t>
            </a:fld>
            <a:endParaRPr lang="zh-CN" altLang="en-US"/>
          </a:p>
        </p:txBody>
      </p:sp>
      <p:sp>
        <p:nvSpPr>
          <p:cNvPr id="11" name="TextBox 10">
            <a:extLst>
              <a:ext uri="{FF2B5EF4-FFF2-40B4-BE49-F238E27FC236}">
                <a16:creationId xmlns:a16="http://schemas.microsoft.com/office/drawing/2014/main" id="{E43C060A-AB9A-44A0-936A-2263AFEBB366}"/>
              </a:ext>
            </a:extLst>
          </p:cNvPr>
          <p:cNvSpPr txBox="1"/>
          <p:nvPr/>
        </p:nvSpPr>
        <p:spPr>
          <a:xfrm>
            <a:off x="860512" y="3367091"/>
            <a:ext cx="7229929" cy="1128577"/>
          </a:xfrm>
          <a:prstGeom prst="rect">
            <a:avLst/>
          </a:prstGeom>
        </p:spPr>
        <p:txBody>
          <a:bodyPr wrap="square" lIns="91438" tIns="45719" rIns="91438" bIns="45719">
            <a:spAutoFit/>
          </a:bodyPr>
          <a:lstStyle>
            <a:defPPr>
              <a:defRPr lang="zh-CN"/>
            </a:defPPr>
            <a:lvl1pPr>
              <a:lnSpc>
                <a:spcPct val="150000"/>
              </a:lnSpc>
              <a:spcBef>
                <a:spcPts val="670"/>
              </a:spcBef>
              <a:defRPr sz="2400" b="1">
                <a:latin typeface="Arial" panose="020B0604020202020204" pitchFamily="34" charset="0"/>
                <a:ea typeface="宋体" panose="02010600030101010101" pitchFamily="2" charset="-122"/>
                <a:cs typeface="Arial" panose="020B0604020202020204" pitchFamily="34" charset="0"/>
              </a:defRPr>
            </a:lvl1pPr>
          </a:lstStyle>
          <a:p>
            <a:pPr indent="623888"/>
            <a:r>
              <a:rPr lang="zh-CN" altLang="en-US"/>
              <a:t>一种单色光的最大可测长度与该单色光的波长及其谱线宽度之间的关系为</a:t>
            </a:r>
            <a:endParaRPr lang="en-001"/>
          </a:p>
        </p:txBody>
      </p:sp>
      <p:pic>
        <p:nvPicPr>
          <p:cNvPr id="6" name="Picture 5">
            <a:extLst>
              <a:ext uri="{FF2B5EF4-FFF2-40B4-BE49-F238E27FC236}">
                <a16:creationId xmlns:a16="http://schemas.microsoft.com/office/drawing/2014/main" id="{2DC00C70-543A-4DB1-93EC-D7EF48D1C0F9}"/>
              </a:ext>
            </a:extLst>
          </p:cNvPr>
          <p:cNvPicPr>
            <a:picLocks noChangeAspect="1"/>
          </p:cNvPicPr>
          <p:nvPr/>
        </p:nvPicPr>
        <p:blipFill>
          <a:blip r:embed="rId3"/>
          <a:stretch>
            <a:fillRect/>
          </a:stretch>
        </p:blipFill>
        <p:spPr>
          <a:xfrm>
            <a:off x="3940964" y="4626858"/>
            <a:ext cx="1262072" cy="838206"/>
          </a:xfrm>
          <a:prstGeom prst="rect">
            <a:avLst/>
          </a:prstGeom>
        </p:spPr>
      </p:pic>
    </p:spTree>
    <p:extLst>
      <p:ext uri="{BB962C8B-B14F-4D97-AF65-F5344CB8AC3E}">
        <p14:creationId xmlns:p14="http://schemas.microsoft.com/office/powerpoint/2010/main" val="169034821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3" name="矩形 22"/>
          <p:cNvSpPr/>
          <p:nvPr/>
        </p:nvSpPr>
        <p:spPr>
          <a:xfrm>
            <a:off x="1623920" y="1639962"/>
            <a:ext cx="2271417" cy="461663"/>
          </a:xfrm>
          <a:prstGeom prst="rect">
            <a:avLst/>
          </a:prstGeom>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光电效应</a:t>
            </a:r>
          </a:p>
        </p:txBody>
      </p:sp>
      <p:sp>
        <p:nvSpPr>
          <p:cNvPr id="24" name="矩形 23"/>
          <p:cNvSpPr/>
          <p:nvPr/>
        </p:nvSpPr>
        <p:spPr>
          <a:xfrm>
            <a:off x="1798552" y="2161072"/>
            <a:ext cx="4278826" cy="18389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光电管和光电倍增管</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光敏电阻</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光电二极管和光电晶体管</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光电池</a:t>
            </a:r>
          </a:p>
        </p:txBody>
      </p:sp>
      <p:sp>
        <p:nvSpPr>
          <p:cNvPr id="25" name="矩形 24"/>
          <p:cNvSpPr/>
          <p:nvPr/>
        </p:nvSpPr>
        <p:spPr>
          <a:xfrm>
            <a:off x="1686266" y="4099464"/>
            <a:ext cx="3979432" cy="461663"/>
          </a:xfrm>
          <a:prstGeom prst="rect">
            <a:avLst/>
          </a:prstGeom>
        </p:spPr>
        <p:txBody>
          <a:bodyPr wrap="square" lIns="91438" tIns="45719" rIns="91438" bIns="45719">
            <a:spAutoFit/>
          </a:bodyPr>
          <a:lstStyle/>
          <a:p>
            <a:pPr>
              <a:spcBef>
                <a:spcPts val="670"/>
              </a:spcBef>
            </a:pPr>
            <a:r>
              <a:rPr lang="zh-CN" altLang="en-US" sz="2400" b="1" dirty="0">
                <a:solidFill>
                  <a:schemeClr val="bg1">
                    <a:lumMod val="75000"/>
                  </a:schemeClr>
                </a:solidFill>
                <a:latin typeface="Arial" panose="020B0604020202020204" pitchFamily="34" charset="0"/>
                <a:ea typeface="宋体" panose="02010600030101010101" pitchFamily="2" charset="-122"/>
                <a:cs typeface="Arial" panose="020B0604020202020204" pitchFamily="34" charset="0"/>
              </a:rPr>
              <a:t>光电式传感器测量电路</a:t>
            </a:r>
          </a:p>
        </p:txBody>
      </p:sp>
      <p:sp>
        <p:nvSpPr>
          <p:cNvPr id="26" name="矩形 25"/>
          <p:cNvSpPr/>
          <p:nvPr/>
        </p:nvSpPr>
        <p:spPr>
          <a:xfrm>
            <a:off x="1813491" y="5594350"/>
            <a:ext cx="4184080" cy="461663"/>
          </a:xfrm>
          <a:prstGeom prst="rect">
            <a:avLst/>
          </a:prstGeom>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光电式传感器及其应用</a:t>
            </a:r>
          </a:p>
        </p:txBody>
      </p:sp>
      <p:sp>
        <p:nvSpPr>
          <p:cNvPr id="33" name="矩形 32"/>
          <p:cNvSpPr/>
          <p:nvPr/>
        </p:nvSpPr>
        <p:spPr>
          <a:xfrm>
            <a:off x="1813491" y="4576169"/>
            <a:ext cx="2855371" cy="9207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solidFill>
                  <a:schemeClr val="bg1">
                    <a:lumMod val="75000"/>
                  </a:schemeClr>
                </a:solidFill>
                <a:latin typeface="Arial" panose="020B0604020202020204" pitchFamily="34" charset="0"/>
                <a:ea typeface="宋体" panose="02010600030101010101" pitchFamily="2" charset="-122"/>
                <a:cs typeface="Arial" panose="020B0604020202020204" pitchFamily="34" charset="0"/>
              </a:rPr>
              <a:t>光源</a:t>
            </a:r>
            <a:endParaRPr lang="en-US" altLang="zh-CN" sz="2400" b="1" dirty="0">
              <a:solidFill>
                <a:schemeClr val="bg1">
                  <a:lumMod val="75000"/>
                </a:schemeClr>
              </a:solidFill>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dirty="0">
                <a:solidFill>
                  <a:schemeClr val="bg1">
                    <a:lumMod val="75000"/>
                  </a:schemeClr>
                </a:solidFill>
                <a:latin typeface="Arial" panose="020B0604020202020204" pitchFamily="34" charset="0"/>
                <a:ea typeface="宋体" panose="02010600030101010101" pitchFamily="2" charset="-122"/>
                <a:cs typeface="Arial" panose="020B0604020202020204" pitchFamily="34" charset="0"/>
              </a:rPr>
              <a:t>测量电路</a:t>
            </a:r>
          </a:p>
        </p:txBody>
      </p:sp>
      <p:sp>
        <p:nvSpPr>
          <p:cNvPr id="2" name="Slide Number Placeholder 1">
            <a:extLst>
              <a:ext uri="{FF2B5EF4-FFF2-40B4-BE49-F238E27FC236}">
                <a16:creationId xmlns:a16="http://schemas.microsoft.com/office/drawing/2014/main" id="{315A8CC5-C4FD-4211-966D-3D8D9C3530F2}"/>
              </a:ext>
            </a:extLst>
          </p:cNvPr>
          <p:cNvSpPr>
            <a:spLocks noGrp="1"/>
          </p:cNvSpPr>
          <p:nvPr>
            <p:ph type="sldNum" sz="quarter" idx="12"/>
          </p:nvPr>
        </p:nvSpPr>
        <p:spPr/>
        <p:txBody>
          <a:bodyPr/>
          <a:lstStyle/>
          <a:p>
            <a:fld id="{B53602B4-F12B-41CD-B648-531F86B2CC91}" type="slidenum">
              <a:rPr lang="zh-CN" altLang="en-US" smtClean="0"/>
              <a:t>80</a:t>
            </a:fld>
            <a:endParaRPr lang="zh-CN" altLang="en-US"/>
          </a:p>
        </p:txBody>
      </p:sp>
    </p:spTree>
    <p:extLst>
      <p:ext uri="{BB962C8B-B14F-4D97-AF65-F5344CB8AC3E}">
        <p14:creationId xmlns:p14="http://schemas.microsoft.com/office/powerpoint/2010/main" val="27465260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20204" pitchFamily="34" charset="0"/>
                <a:ea typeface="宋体" panose="02010600030101010101" pitchFamily="2" charset="-122"/>
                <a:cs typeface="Arial" panose="020B0604020202020204" pitchFamily="34" charset="0"/>
              </a:rPr>
              <a:t>7</a:t>
            </a:r>
          </a:p>
        </p:txBody>
      </p:sp>
      <p:sp>
        <p:nvSpPr>
          <p:cNvPr id="46" name="矩形 45"/>
          <p:cNvSpPr/>
          <p:nvPr/>
        </p:nvSpPr>
        <p:spPr>
          <a:xfrm>
            <a:off x="1960200" y="360001"/>
            <a:ext cx="1935137" cy="615549"/>
          </a:xfrm>
          <a:prstGeom prst="rect">
            <a:avLst/>
          </a:prstGeom>
        </p:spPr>
        <p:txBody>
          <a:bodyPr wrap="none" lIns="91436" tIns="45718" rIns="91436" bIns="45718">
            <a:spAutoFit/>
          </a:bodyPr>
          <a:lstStyle/>
          <a:p>
            <a:r>
              <a:rPr lang="zh-CN" altLang="en-US" sz="3400" b="1" dirty="0">
                <a:solidFill>
                  <a:schemeClr val="bg1"/>
                </a:solidFill>
                <a:latin typeface="宋体" panose="02010600030101010101" pitchFamily="2" charset="-122"/>
                <a:ea typeface="宋体" panose="02010600030101010101" pitchFamily="2" charset="-122"/>
                <a:sym typeface="+mn-ea"/>
              </a:rPr>
              <a:t>本章要点</a:t>
            </a:r>
          </a:p>
        </p:txBody>
      </p:sp>
      <p:sp>
        <p:nvSpPr>
          <p:cNvPr id="23" name="矩形 22"/>
          <p:cNvSpPr/>
          <p:nvPr/>
        </p:nvSpPr>
        <p:spPr>
          <a:xfrm>
            <a:off x="1604112" y="1291321"/>
            <a:ext cx="2126060" cy="461663"/>
          </a:xfrm>
          <a:prstGeom prst="rect">
            <a:avLst/>
          </a:prstGeom>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光纤传感器</a:t>
            </a:r>
          </a:p>
        </p:txBody>
      </p:sp>
      <p:sp>
        <p:nvSpPr>
          <p:cNvPr id="24" name="矩形 23"/>
          <p:cNvSpPr/>
          <p:nvPr/>
        </p:nvSpPr>
        <p:spPr>
          <a:xfrm>
            <a:off x="1571712" y="1812431"/>
            <a:ext cx="3919818" cy="9207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光导纤维</a:t>
            </a: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光纤传感器的工作原理</a:t>
            </a:r>
          </a:p>
        </p:txBody>
      </p:sp>
      <p:sp>
        <p:nvSpPr>
          <p:cNvPr id="25" name="矩形 24"/>
          <p:cNvSpPr/>
          <p:nvPr/>
        </p:nvSpPr>
        <p:spPr>
          <a:xfrm>
            <a:off x="1645675" y="2875357"/>
            <a:ext cx="2358893" cy="461663"/>
          </a:xfrm>
          <a:prstGeom prst="rect">
            <a:avLst/>
          </a:prstGeom>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电荷耦合器件</a:t>
            </a:r>
          </a:p>
        </p:txBody>
      </p:sp>
      <p:sp>
        <p:nvSpPr>
          <p:cNvPr id="35" name="矩形 34"/>
          <p:cNvSpPr/>
          <p:nvPr/>
        </p:nvSpPr>
        <p:spPr>
          <a:xfrm>
            <a:off x="1645676" y="3481574"/>
            <a:ext cx="2249662" cy="9207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工作原理</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应用举例</a:t>
            </a:r>
          </a:p>
        </p:txBody>
      </p:sp>
      <p:sp>
        <p:nvSpPr>
          <p:cNvPr id="36" name="矩形 35"/>
          <p:cNvSpPr/>
          <p:nvPr/>
        </p:nvSpPr>
        <p:spPr>
          <a:xfrm>
            <a:off x="1645675" y="4442317"/>
            <a:ext cx="2126060" cy="461663"/>
          </a:xfrm>
          <a:prstGeom prst="rect">
            <a:avLst/>
          </a:prstGeom>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光栅式传感器</a:t>
            </a:r>
          </a:p>
        </p:txBody>
      </p:sp>
      <p:sp>
        <p:nvSpPr>
          <p:cNvPr id="37" name="矩形 36"/>
          <p:cNvSpPr/>
          <p:nvPr/>
        </p:nvSpPr>
        <p:spPr>
          <a:xfrm>
            <a:off x="1645676" y="5731295"/>
            <a:ext cx="2126060" cy="461663"/>
          </a:xfrm>
          <a:prstGeom prst="rect">
            <a:avLst/>
          </a:prstGeom>
        </p:spPr>
        <p:txBody>
          <a:bodyPr wrap="square" lIns="91438" tIns="45719" rIns="91438" bIns="45719">
            <a:spAutoFit/>
          </a:bodyPr>
          <a:lstStyle/>
          <a:p>
            <a:pPr>
              <a:spcBef>
                <a:spcPts val="670"/>
              </a:spcBef>
            </a:pPr>
            <a:r>
              <a:rPr lang="zh-CN" altLang="en-US" sz="2400" b="1" dirty="0">
                <a:latin typeface="Arial" panose="020B0604020202020204" pitchFamily="34" charset="0"/>
                <a:ea typeface="宋体" panose="02010600030101010101" pitchFamily="2" charset="-122"/>
                <a:cs typeface="Arial" panose="020B0604020202020204" pitchFamily="34" charset="0"/>
              </a:rPr>
              <a:t>激光式传感器</a:t>
            </a:r>
          </a:p>
        </p:txBody>
      </p:sp>
      <p:sp>
        <p:nvSpPr>
          <p:cNvPr id="38" name="矩形 37"/>
          <p:cNvSpPr/>
          <p:nvPr/>
        </p:nvSpPr>
        <p:spPr>
          <a:xfrm>
            <a:off x="1837278" y="4810532"/>
            <a:ext cx="3527624" cy="920763"/>
          </a:xfrm>
          <a:prstGeom prst="rect">
            <a:avLst/>
          </a:prstGeom>
        </p:spPr>
        <p:txBody>
          <a:bodyPr wrap="square" lIns="91438" tIns="45719" rIns="91438" bIns="45719">
            <a:spAutoFit/>
          </a:bodyPr>
          <a:lstStyle/>
          <a:p>
            <a:pPr marL="342900" indent="-342900">
              <a:spcBef>
                <a:spcPts val="670"/>
              </a:spcBef>
              <a:buFont typeface="Arial" panose="020B0604020202020204" pitchFamily="34" charset="0"/>
              <a:buChar char="•"/>
            </a:pPr>
            <a:r>
              <a:rPr lang="zh-CN" altLang="en-US" sz="2400" b="1" dirty="0">
                <a:latin typeface="Arial" panose="020B0604020202020204" pitchFamily="34" charset="0"/>
                <a:ea typeface="宋体" panose="02010600030101010101" pitchFamily="2" charset="-122"/>
                <a:cs typeface="Arial" panose="020B0604020202020204" pitchFamily="34" charset="0"/>
              </a:rPr>
              <a:t>工作原理</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42900" indent="-342900">
              <a:spcBef>
                <a:spcPts val="670"/>
              </a:spcBef>
              <a:buFont typeface="Arial" panose="020B0604020202020204" pitchFamily="34" charset="0"/>
              <a:buChar char="•"/>
            </a:pPr>
            <a:r>
              <a:rPr lang="zh-CN" altLang="en-US" sz="2400" b="1" dirty="0">
                <a:solidFill>
                  <a:schemeClr val="bg1">
                    <a:lumMod val="65000"/>
                  </a:schemeClr>
                </a:solidFill>
                <a:latin typeface="Arial" panose="020B0604020202020204" pitchFamily="34" charset="0"/>
                <a:ea typeface="宋体" panose="02010600030101010101" pitchFamily="2" charset="-122"/>
                <a:cs typeface="Arial" panose="020B0604020202020204" pitchFamily="34" charset="0"/>
              </a:rPr>
              <a:t>辨向原理和细分电路</a:t>
            </a:r>
          </a:p>
        </p:txBody>
      </p:sp>
      <p:sp>
        <p:nvSpPr>
          <p:cNvPr id="2" name="Slide Number Placeholder 1">
            <a:extLst>
              <a:ext uri="{FF2B5EF4-FFF2-40B4-BE49-F238E27FC236}">
                <a16:creationId xmlns:a16="http://schemas.microsoft.com/office/drawing/2014/main" id="{03625558-B7B8-4491-80B8-C3E53B56B1D9}"/>
              </a:ext>
            </a:extLst>
          </p:cNvPr>
          <p:cNvSpPr>
            <a:spLocks noGrp="1"/>
          </p:cNvSpPr>
          <p:nvPr>
            <p:ph type="sldNum" sz="quarter" idx="12"/>
          </p:nvPr>
        </p:nvSpPr>
        <p:spPr/>
        <p:txBody>
          <a:bodyPr/>
          <a:lstStyle/>
          <a:p>
            <a:fld id="{B53602B4-F12B-41CD-B648-531F86B2CC91}" type="slidenum">
              <a:rPr lang="zh-CN" altLang="en-US" smtClean="0"/>
              <a:t>81</a:t>
            </a:fld>
            <a:endParaRPr lang="zh-CN" altLang="en-US"/>
          </a:p>
        </p:txBody>
      </p:sp>
    </p:spTree>
    <p:extLst>
      <p:ext uri="{BB962C8B-B14F-4D97-AF65-F5344CB8AC3E}">
        <p14:creationId xmlns:p14="http://schemas.microsoft.com/office/powerpoint/2010/main" val="299051544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4040</TotalTime>
  <Words>5870</Words>
  <Application>Microsoft Office PowerPoint</Application>
  <PresentationFormat>全屏显示(4:3)</PresentationFormat>
  <Paragraphs>768</Paragraphs>
  <Slides>81</Slides>
  <Notes>78</Notes>
  <HiddenSlides>0</HiddenSlides>
  <MMClips>1</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4</vt:i4>
      </vt:variant>
      <vt:variant>
        <vt:lpstr>幻灯片标题</vt:lpstr>
      </vt:variant>
      <vt:variant>
        <vt:i4>81</vt:i4>
      </vt:variant>
    </vt:vector>
  </HeadingPairs>
  <TitlesOfParts>
    <vt:vector size="95" baseType="lpstr">
      <vt:lpstr>等线</vt:lpstr>
      <vt:lpstr>等线 Light</vt:lpstr>
      <vt:lpstr>宋体</vt:lpstr>
      <vt:lpstr>微软雅黑</vt:lpstr>
      <vt:lpstr>Arial</vt:lpstr>
      <vt:lpstr>Cambria Math</vt:lpstr>
      <vt:lpstr>Courier New</vt:lpstr>
      <vt:lpstr>Times New Roman</vt:lpstr>
      <vt:lpstr>Wingdings</vt:lpstr>
      <vt:lpstr>Office 主题​​</vt:lpstr>
      <vt:lpstr>公式</vt:lpstr>
      <vt:lpstr>Image</vt:lpstr>
      <vt:lpstr>位图图像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GE FANG</cp:lastModifiedBy>
  <cp:revision>255</cp:revision>
  <dcterms:created xsi:type="dcterms:W3CDTF">2020-09-26T11:04:00Z</dcterms:created>
  <dcterms:modified xsi:type="dcterms:W3CDTF">2026-04-30T01:17:25Z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