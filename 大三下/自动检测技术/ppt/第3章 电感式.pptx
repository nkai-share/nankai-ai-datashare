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52"/>
  </p:notesMasterIdLst>
  <p:handoutMasterIdLst>
    <p:handoutMasterId r:id="rId53"/>
  </p:handoutMasterIdLst>
  <p:sldIdLst>
    <p:sldId id="259" r:id="rId3"/>
    <p:sldId id="262" r:id="rId4"/>
    <p:sldId id="343" r:id="rId5"/>
    <p:sldId id="281" r:id="rId6"/>
    <p:sldId id="282" r:id="rId7"/>
    <p:sldId id="406" r:id="rId8"/>
    <p:sldId id="407" r:id="rId9"/>
    <p:sldId id="317" r:id="rId10"/>
    <p:sldId id="295" r:id="rId11"/>
    <p:sldId id="411" r:id="rId12"/>
    <p:sldId id="294" r:id="rId13"/>
    <p:sldId id="296" r:id="rId14"/>
    <p:sldId id="322" r:id="rId15"/>
    <p:sldId id="323" r:id="rId16"/>
    <p:sldId id="408" r:id="rId17"/>
    <p:sldId id="410" r:id="rId18"/>
    <p:sldId id="303" r:id="rId19"/>
    <p:sldId id="304" r:id="rId20"/>
    <p:sldId id="412" r:id="rId21"/>
    <p:sldId id="305" r:id="rId22"/>
    <p:sldId id="309" r:id="rId23"/>
    <p:sldId id="413" r:id="rId24"/>
    <p:sldId id="414" r:id="rId25"/>
    <p:sldId id="431" r:id="rId26"/>
    <p:sldId id="415" r:id="rId27"/>
    <p:sldId id="429" r:id="rId28"/>
    <p:sldId id="416" r:id="rId29"/>
    <p:sldId id="428" r:id="rId30"/>
    <p:sldId id="430" r:id="rId31"/>
    <p:sldId id="324" r:id="rId32"/>
    <p:sldId id="325" r:id="rId33"/>
    <p:sldId id="417" r:id="rId34"/>
    <p:sldId id="418" r:id="rId35"/>
    <p:sldId id="419" r:id="rId36"/>
    <p:sldId id="345" r:id="rId37"/>
    <p:sldId id="331" r:id="rId38"/>
    <p:sldId id="420" r:id="rId39"/>
    <p:sldId id="421" r:id="rId40"/>
    <p:sldId id="422" r:id="rId41"/>
    <p:sldId id="332" r:id="rId42"/>
    <p:sldId id="333" r:id="rId43"/>
    <p:sldId id="347" r:id="rId44"/>
    <p:sldId id="334" r:id="rId45"/>
    <p:sldId id="423" r:id="rId46"/>
    <p:sldId id="425" r:id="rId47"/>
    <p:sldId id="427" r:id="rId48"/>
    <p:sldId id="426" r:id="rId49"/>
    <p:sldId id="311" r:id="rId50"/>
    <p:sldId id="336" r:id="rId5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CC"/>
    <a:srgbClr val="954F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9" autoAdjust="0"/>
    <p:restoredTop sz="94660"/>
  </p:normalViewPr>
  <p:slideViewPr>
    <p:cSldViewPr snapToGrid="0">
      <p:cViewPr varScale="1">
        <p:scale>
          <a:sx n="55" d="100"/>
          <a:sy n="55" d="100"/>
        </p:scale>
        <p:origin x="40" y="848"/>
      </p:cViewPr>
      <p:guideLst>
        <p:guide orient="horz" pos="2160"/>
        <p:guide pos="2880"/>
      </p:guideLst>
    </p:cSldViewPr>
  </p:slideViewPr>
  <p:notesTextViewPr>
    <p:cViewPr>
      <p:scale>
        <a:sx n="1" d="1"/>
        <a:sy n="1" d="1"/>
      </p:scale>
      <p:origin x="0" y="0"/>
    </p:cViewPr>
  </p:notesTextViewPr>
  <p:notesViewPr>
    <p:cSldViewPr snapToGrid="0" showGuides="1">
      <p:cViewPr varScale="1">
        <p:scale>
          <a:sx n="87" d="100"/>
          <a:sy n="87" d="100"/>
        </p:scale>
        <p:origin x="3831" y="30"/>
      </p:cViewPr>
      <p:guideLst/>
    </p:cSldViewPr>
  </p:notes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handoutMaster" Target="handoutMasters/handoutMaster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0042365-FC86-4A4B-8E2B-67C859C0A00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001"/>
          </a:p>
        </p:txBody>
      </p:sp>
      <p:sp>
        <p:nvSpPr>
          <p:cNvPr id="3" name="Date Placeholder 2">
            <a:extLst>
              <a:ext uri="{FF2B5EF4-FFF2-40B4-BE49-F238E27FC236}">
                <a16:creationId xmlns:a16="http://schemas.microsoft.com/office/drawing/2014/main" id="{15514EC8-5DFE-420B-B18D-48FE0F7AF06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73532E-64FC-4235-8FD7-1B9D45B2AAF0}" type="datetimeFigureOut">
              <a:rPr lang="en-001" smtClean="0"/>
              <a:t>03/26/2026</a:t>
            </a:fld>
            <a:endParaRPr lang="en-001"/>
          </a:p>
        </p:txBody>
      </p:sp>
      <p:sp>
        <p:nvSpPr>
          <p:cNvPr id="4" name="Footer Placeholder 3">
            <a:extLst>
              <a:ext uri="{FF2B5EF4-FFF2-40B4-BE49-F238E27FC236}">
                <a16:creationId xmlns:a16="http://schemas.microsoft.com/office/drawing/2014/main" id="{01437520-02A7-4F8F-AF96-C7A16B035BE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001"/>
          </a:p>
        </p:txBody>
      </p:sp>
      <p:sp>
        <p:nvSpPr>
          <p:cNvPr id="5" name="Slide Number Placeholder 4">
            <a:extLst>
              <a:ext uri="{FF2B5EF4-FFF2-40B4-BE49-F238E27FC236}">
                <a16:creationId xmlns:a16="http://schemas.microsoft.com/office/drawing/2014/main" id="{93C2F79C-098E-4192-B541-78A3C492A47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959BBCC-D15A-49CE-938B-1C840CD68081}" type="slidenum">
              <a:rPr lang="en-001" smtClean="0"/>
              <a:t>‹#›</a:t>
            </a:fld>
            <a:endParaRPr lang="en-001"/>
          </a:p>
        </p:txBody>
      </p:sp>
    </p:spTree>
    <p:extLst>
      <p:ext uri="{BB962C8B-B14F-4D97-AF65-F5344CB8AC3E}">
        <p14:creationId xmlns:p14="http://schemas.microsoft.com/office/powerpoint/2010/main" val="20335350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4BFE69-A663-48FE-847E-961ADB1B89B2}" type="datetimeFigureOut">
              <a:rPr lang="zh-CN" altLang="en-US" smtClean="0"/>
              <a:t>2026/3/26</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8BAB27-5BFC-45E6-A928-A1804196FCF3}" type="slidenum">
              <a:rPr lang="zh-CN" altLang="en-US" smtClean="0"/>
              <a:t>‹#›</a:t>
            </a:fld>
            <a:endParaRPr lang="zh-CN" altLang="en-US"/>
          </a:p>
        </p:txBody>
      </p:sp>
    </p:spTree>
    <p:extLst>
      <p:ext uri="{BB962C8B-B14F-4D97-AF65-F5344CB8AC3E}">
        <p14:creationId xmlns:p14="http://schemas.microsoft.com/office/powerpoint/2010/main" val="947710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a:t>
            </a:fld>
            <a:endParaRPr lang="zh-CN" altLang="en-US"/>
          </a:p>
        </p:txBody>
      </p:sp>
    </p:spTree>
    <p:extLst>
      <p:ext uri="{BB962C8B-B14F-4D97-AF65-F5344CB8AC3E}">
        <p14:creationId xmlns:p14="http://schemas.microsoft.com/office/powerpoint/2010/main" val="29987210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a:t>
            </a:fld>
            <a:endParaRPr lang="zh-CN" altLang="en-US"/>
          </a:p>
        </p:txBody>
      </p:sp>
    </p:spTree>
    <p:extLst>
      <p:ext uri="{BB962C8B-B14F-4D97-AF65-F5344CB8AC3E}">
        <p14:creationId xmlns:p14="http://schemas.microsoft.com/office/powerpoint/2010/main" val="5054162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8</a:t>
            </a:fld>
            <a:endParaRPr lang="zh-CN" altLang="en-US"/>
          </a:p>
        </p:txBody>
      </p:sp>
    </p:spTree>
    <p:extLst>
      <p:ext uri="{BB962C8B-B14F-4D97-AF65-F5344CB8AC3E}">
        <p14:creationId xmlns:p14="http://schemas.microsoft.com/office/powerpoint/2010/main" val="36655800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9</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10</a:t>
            </a:fld>
            <a:endParaRPr lang="zh-CN" altLang="en-US"/>
          </a:p>
        </p:txBody>
      </p:sp>
    </p:spTree>
    <p:extLst>
      <p:ext uri="{BB962C8B-B14F-4D97-AF65-F5344CB8AC3E}">
        <p14:creationId xmlns:p14="http://schemas.microsoft.com/office/powerpoint/2010/main" val="5694136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11</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12</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8BAB27-5BFC-45E6-A928-A1804196FCF3}"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7846548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14</a:t>
            </a:fld>
            <a:endParaRPr lang="zh-CN" altLang="en-US"/>
          </a:p>
        </p:txBody>
      </p:sp>
    </p:spTree>
    <p:extLst>
      <p:ext uri="{BB962C8B-B14F-4D97-AF65-F5344CB8AC3E}">
        <p14:creationId xmlns:p14="http://schemas.microsoft.com/office/powerpoint/2010/main" val="27830966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15</a:t>
            </a:fld>
            <a:endParaRPr lang="zh-CN" altLang="en-US"/>
          </a:p>
        </p:txBody>
      </p:sp>
    </p:spTree>
    <p:extLst>
      <p:ext uri="{BB962C8B-B14F-4D97-AF65-F5344CB8AC3E}">
        <p14:creationId xmlns:p14="http://schemas.microsoft.com/office/powerpoint/2010/main" val="7437358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16</a:t>
            </a:fld>
            <a:endParaRPr lang="zh-CN" altLang="en-US"/>
          </a:p>
        </p:txBody>
      </p:sp>
    </p:spTree>
    <p:extLst>
      <p:ext uri="{BB962C8B-B14F-4D97-AF65-F5344CB8AC3E}">
        <p14:creationId xmlns:p14="http://schemas.microsoft.com/office/powerpoint/2010/main" val="19663389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17</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18</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19</a:t>
            </a:fld>
            <a:endParaRPr lang="zh-CN" altLang="en-US"/>
          </a:p>
        </p:txBody>
      </p:sp>
    </p:spTree>
    <p:extLst>
      <p:ext uri="{BB962C8B-B14F-4D97-AF65-F5344CB8AC3E}">
        <p14:creationId xmlns:p14="http://schemas.microsoft.com/office/powerpoint/2010/main" val="8398134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20</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21</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22</a:t>
            </a:fld>
            <a:endParaRPr lang="zh-CN" altLang="en-US"/>
          </a:p>
        </p:txBody>
      </p:sp>
    </p:spTree>
    <p:extLst>
      <p:ext uri="{BB962C8B-B14F-4D97-AF65-F5344CB8AC3E}">
        <p14:creationId xmlns:p14="http://schemas.microsoft.com/office/powerpoint/2010/main" val="10432679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23</a:t>
            </a:fld>
            <a:endParaRPr lang="zh-CN" altLang="en-US"/>
          </a:p>
        </p:txBody>
      </p:sp>
    </p:spTree>
    <p:extLst>
      <p:ext uri="{BB962C8B-B14F-4D97-AF65-F5344CB8AC3E}">
        <p14:creationId xmlns:p14="http://schemas.microsoft.com/office/powerpoint/2010/main" val="32333457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24</a:t>
            </a:fld>
            <a:endParaRPr lang="zh-CN" altLang="en-US"/>
          </a:p>
        </p:txBody>
      </p:sp>
    </p:spTree>
    <p:extLst>
      <p:ext uri="{BB962C8B-B14F-4D97-AF65-F5344CB8AC3E}">
        <p14:creationId xmlns:p14="http://schemas.microsoft.com/office/powerpoint/2010/main" val="41261880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25</a:t>
            </a:fld>
            <a:endParaRPr lang="zh-CN" altLang="en-US"/>
          </a:p>
        </p:txBody>
      </p:sp>
    </p:spTree>
    <p:extLst>
      <p:ext uri="{BB962C8B-B14F-4D97-AF65-F5344CB8AC3E}">
        <p14:creationId xmlns:p14="http://schemas.microsoft.com/office/powerpoint/2010/main" val="27910810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26</a:t>
            </a:fld>
            <a:endParaRPr lang="zh-CN" altLang="en-US"/>
          </a:p>
        </p:txBody>
      </p:sp>
    </p:spTree>
    <p:extLst>
      <p:ext uri="{BB962C8B-B14F-4D97-AF65-F5344CB8AC3E}">
        <p14:creationId xmlns:p14="http://schemas.microsoft.com/office/powerpoint/2010/main" val="7638778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27</a:t>
            </a:fld>
            <a:endParaRPr lang="zh-CN" altLang="en-US"/>
          </a:p>
        </p:txBody>
      </p:sp>
    </p:spTree>
    <p:extLst>
      <p:ext uri="{BB962C8B-B14F-4D97-AF65-F5344CB8AC3E}">
        <p14:creationId xmlns:p14="http://schemas.microsoft.com/office/powerpoint/2010/main" val="10220257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28</a:t>
            </a:fld>
            <a:endParaRPr lang="zh-CN" altLang="en-US"/>
          </a:p>
        </p:txBody>
      </p:sp>
    </p:spTree>
    <p:extLst>
      <p:ext uri="{BB962C8B-B14F-4D97-AF65-F5344CB8AC3E}">
        <p14:creationId xmlns:p14="http://schemas.microsoft.com/office/powerpoint/2010/main" val="4414050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29</a:t>
            </a:fld>
            <a:endParaRPr lang="zh-CN" altLang="en-US"/>
          </a:p>
        </p:txBody>
      </p:sp>
    </p:spTree>
    <p:extLst>
      <p:ext uri="{BB962C8B-B14F-4D97-AF65-F5344CB8AC3E}">
        <p14:creationId xmlns:p14="http://schemas.microsoft.com/office/powerpoint/2010/main" val="3962599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30</a:t>
            </a:fld>
            <a:endParaRPr lang="zh-CN" altLang="en-US"/>
          </a:p>
        </p:txBody>
      </p:sp>
    </p:spTree>
    <p:extLst>
      <p:ext uri="{BB962C8B-B14F-4D97-AF65-F5344CB8AC3E}">
        <p14:creationId xmlns:p14="http://schemas.microsoft.com/office/powerpoint/2010/main" val="36933743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31</a:t>
            </a:fld>
            <a:endParaRPr lang="zh-CN" altLang="en-US"/>
          </a:p>
        </p:txBody>
      </p:sp>
    </p:spTree>
    <p:extLst>
      <p:ext uri="{BB962C8B-B14F-4D97-AF65-F5344CB8AC3E}">
        <p14:creationId xmlns:p14="http://schemas.microsoft.com/office/powerpoint/2010/main" val="40212627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32</a:t>
            </a:fld>
            <a:endParaRPr lang="zh-CN" altLang="en-US"/>
          </a:p>
        </p:txBody>
      </p:sp>
    </p:spTree>
    <p:extLst>
      <p:ext uri="{BB962C8B-B14F-4D97-AF65-F5344CB8AC3E}">
        <p14:creationId xmlns:p14="http://schemas.microsoft.com/office/powerpoint/2010/main" val="38107200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33</a:t>
            </a:fld>
            <a:endParaRPr lang="zh-CN" altLang="en-US"/>
          </a:p>
        </p:txBody>
      </p:sp>
    </p:spTree>
    <p:extLst>
      <p:ext uri="{BB962C8B-B14F-4D97-AF65-F5344CB8AC3E}">
        <p14:creationId xmlns:p14="http://schemas.microsoft.com/office/powerpoint/2010/main" val="36171321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34</a:t>
            </a:fld>
            <a:endParaRPr lang="zh-CN" altLang="en-US"/>
          </a:p>
        </p:txBody>
      </p:sp>
    </p:spTree>
    <p:extLst>
      <p:ext uri="{BB962C8B-B14F-4D97-AF65-F5344CB8AC3E}">
        <p14:creationId xmlns:p14="http://schemas.microsoft.com/office/powerpoint/2010/main" val="28047166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35</a:t>
            </a:fld>
            <a:endParaRPr lang="zh-CN" altLang="en-US"/>
          </a:p>
        </p:txBody>
      </p:sp>
    </p:spTree>
    <p:extLst>
      <p:ext uri="{BB962C8B-B14F-4D97-AF65-F5344CB8AC3E}">
        <p14:creationId xmlns:p14="http://schemas.microsoft.com/office/powerpoint/2010/main" val="25417814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36</a:t>
            </a:fld>
            <a:endParaRPr lang="zh-CN" altLang="en-US"/>
          </a:p>
        </p:txBody>
      </p:sp>
    </p:spTree>
    <p:extLst>
      <p:ext uri="{BB962C8B-B14F-4D97-AF65-F5344CB8AC3E}">
        <p14:creationId xmlns:p14="http://schemas.microsoft.com/office/powerpoint/2010/main" val="42065907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37</a:t>
            </a:fld>
            <a:endParaRPr lang="zh-CN" altLang="en-US"/>
          </a:p>
        </p:txBody>
      </p:sp>
    </p:spTree>
    <p:extLst>
      <p:ext uri="{BB962C8B-B14F-4D97-AF65-F5344CB8AC3E}">
        <p14:creationId xmlns:p14="http://schemas.microsoft.com/office/powerpoint/2010/main" val="6918998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38</a:t>
            </a:fld>
            <a:endParaRPr lang="zh-CN" altLang="en-US"/>
          </a:p>
        </p:txBody>
      </p:sp>
    </p:spTree>
    <p:extLst>
      <p:ext uri="{BB962C8B-B14F-4D97-AF65-F5344CB8AC3E}">
        <p14:creationId xmlns:p14="http://schemas.microsoft.com/office/powerpoint/2010/main" val="10365056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39</a:t>
            </a:fld>
            <a:endParaRPr lang="zh-CN" altLang="en-US"/>
          </a:p>
        </p:txBody>
      </p:sp>
    </p:spTree>
    <p:extLst>
      <p:ext uri="{BB962C8B-B14F-4D97-AF65-F5344CB8AC3E}">
        <p14:creationId xmlns:p14="http://schemas.microsoft.com/office/powerpoint/2010/main" val="28338915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40</a:t>
            </a:fld>
            <a:endParaRPr lang="zh-CN" altLang="en-US"/>
          </a:p>
        </p:txBody>
      </p:sp>
    </p:spTree>
    <p:extLst>
      <p:ext uri="{BB962C8B-B14F-4D97-AF65-F5344CB8AC3E}">
        <p14:creationId xmlns:p14="http://schemas.microsoft.com/office/powerpoint/2010/main" val="7706876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41</a:t>
            </a:fld>
            <a:endParaRPr lang="zh-CN" altLang="en-US"/>
          </a:p>
        </p:txBody>
      </p:sp>
    </p:spTree>
    <p:extLst>
      <p:ext uri="{BB962C8B-B14F-4D97-AF65-F5344CB8AC3E}">
        <p14:creationId xmlns:p14="http://schemas.microsoft.com/office/powerpoint/2010/main" val="37487598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42</a:t>
            </a:fld>
            <a:endParaRPr lang="zh-CN" altLang="en-US"/>
          </a:p>
        </p:txBody>
      </p:sp>
    </p:spTree>
    <p:extLst>
      <p:ext uri="{BB962C8B-B14F-4D97-AF65-F5344CB8AC3E}">
        <p14:creationId xmlns:p14="http://schemas.microsoft.com/office/powerpoint/2010/main" val="201739269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43</a:t>
            </a:fld>
            <a:endParaRPr lang="zh-CN" altLang="en-US"/>
          </a:p>
        </p:txBody>
      </p:sp>
    </p:spTree>
    <p:extLst>
      <p:ext uri="{BB962C8B-B14F-4D97-AF65-F5344CB8AC3E}">
        <p14:creationId xmlns:p14="http://schemas.microsoft.com/office/powerpoint/2010/main" val="284887962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48</a:t>
            </a:fld>
            <a:endParaRPr lang="zh-CN" altLang="en-US"/>
          </a:p>
        </p:txBody>
      </p:sp>
    </p:spTree>
    <p:extLst>
      <p:ext uri="{BB962C8B-B14F-4D97-AF65-F5344CB8AC3E}">
        <p14:creationId xmlns:p14="http://schemas.microsoft.com/office/powerpoint/2010/main" val="322165096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49</a:t>
            </a:fld>
            <a:endParaRPr lang="zh-CN" altLang="en-US"/>
          </a:p>
        </p:txBody>
      </p:sp>
    </p:spTree>
    <p:extLst>
      <p:ext uri="{BB962C8B-B14F-4D97-AF65-F5344CB8AC3E}">
        <p14:creationId xmlns:p14="http://schemas.microsoft.com/office/powerpoint/2010/main" val="13668811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74DFA83B-6FC9-4675-A319-2CE631FF1151}" type="datetime1">
              <a:rPr lang="zh-CN" altLang="en-US" smtClean="0"/>
              <a:t>2026/3/26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11B3159C-C511-44A3-B597-643C5BEAA246}" type="datetime1">
              <a:rPr lang="zh-CN" altLang="en-US" smtClean="0"/>
              <a:t>2026/3/26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A41FCB0-8759-451C-B064-71B2A78D7F6E}" type="datetime1">
              <a:rPr lang="zh-CN" altLang="en-US" smtClean="0"/>
              <a:t>2026/3/26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A1A2B477-23CF-4F7B-8E4C-25378582E61B}" type="datetime1">
              <a:rPr lang="zh-CN" altLang="en-US" smtClean="0"/>
              <a:t>2026/3/26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A7B06ECC-D755-41BA-BA31-18C8CA77FD01}" type="datetime1">
              <a:rPr lang="zh-CN" altLang="en-US" smtClean="0"/>
              <a:t>2026/3/26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AD7B635-AAE4-4A16-A7B5-DD649828C323}" type="datetime1">
              <a:rPr lang="zh-CN" altLang="en-US" smtClean="0"/>
              <a:t>2026/3/26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5BC3751-22F5-4AF3-AC16-DFBE08F14DB9}" type="datetime1">
              <a:rPr lang="zh-CN" altLang="en-US" smtClean="0"/>
              <a:t>2026/3/26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B0D56AE-6657-427A-8C8D-B64209E5203D}" type="datetime1">
              <a:rPr lang="zh-CN" altLang="en-US" smtClean="0"/>
              <a:t>2026/3/26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DF8A5D9-08AF-4737-81AB-BC70DC971C2C}" type="datetime1">
              <a:rPr lang="zh-CN" altLang="en-US" smtClean="0"/>
              <a:t>2026/3/26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6267CA8-05AA-41C7-980E-A389BB44B6FA}" type="datetime1">
              <a:rPr lang="zh-CN" altLang="en-US" smtClean="0"/>
              <a:t>2026/3/26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15910FC6-748B-4B25-80FF-D2D821101BAE}" type="datetime1">
              <a:rPr lang="zh-CN" altLang="en-US" smtClean="0"/>
              <a:t>2026/3/26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CB35D9E6-2FBF-44EB-AB15-857DC1FC91EC}" type="datetime1">
              <a:rPr lang="zh-CN" altLang="en-US" smtClean="0"/>
              <a:t>2026/3/26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extLst>
      <p:ext uri="{BB962C8B-B14F-4D97-AF65-F5344CB8AC3E}">
        <p14:creationId xmlns:p14="http://schemas.microsoft.com/office/powerpoint/2010/main" val="41741788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505766CB-CD8E-49ED-892A-3152F7779E30}" type="datetime1">
              <a:rPr lang="zh-CN" altLang="en-US" smtClean="0"/>
              <a:t>2026/3/26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extLst>
      <p:ext uri="{BB962C8B-B14F-4D97-AF65-F5344CB8AC3E}">
        <p14:creationId xmlns:p14="http://schemas.microsoft.com/office/powerpoint/2010/main" val="29528890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5A46F4E-8212-4F01-8611-E5DC5B0EC23B}" type="datetime1">
              <a:rPr lang="zh-CN" altLang="en-US" smtClean="0"/>
              <a:t>2026/3/26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extLst>
      <p:ext uri="{BB962C8B-B14F-4D97-AF65-F5344CB8AC3E}">
        <p14:creationId xmlns:p14="http://schemas.microsoft.com/office/powerpoint/2010/main" val="7859926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832C8333-69F7-48E6-9175-0C77DD5DE6F1}" type="datetime1">
              <a:rPr lang="zh-CN" altLang="en-US" smtClean="0"/>
              <a:t>2026/3/26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extLst>
      <p:ext uri="{BB962C8B-B14F-4D97-AF65-F5344CB8AC3E}">
        <p14:creationId xmlns:p14="http://schemas.microsoft.com/office/powerpoint/2010/main" val="22389302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B6F5DACB-401A-4BF0-842D-C7B6904EB60A}" type="datetime1">
              <a:rPr lang="zh-CN" altLang="en-US" smtClean="0"/>
              <a:t>2026/3/26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53602B4-F12B-41CD-B648-531F86B2CC91}" type="slidenum">
              <a:rPr lang="zh-CN" altLang="en-US" smtClean="0"/>
              <a:t>‹#›</a:t>
            </a:fld>
            <a:endParaRPr lang="zh-CN" altLang="en-US"/>
          </a:p>
        </p:txBody>
      </p:sp>
    </p:spTree>
    <p:extLst>
      <p:ext uri="{BB962C8B-B14F-4D97-AF65-F5344CB8AC3E}">
        <p14:creationId xmlns:p14="http://schemas.microsoft.com/office/powerpoint/2010/main" val="1589950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D5762CD-EB0D-4176-8BF5-282466457F82}" type="datetime1">
              <a:rPr lang="zh-CN" altLang="en-US" smtClean="0"/>
              <a:t>2026/3/26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53602B4-F12B-41CD-B648-531F86B2CC91}" type="slidenum">
              <a:rPr lang="zh-CN" altLang="en-US" smtClean="0"/>
              <a:t>‹#›</a:t>
            </a:fld>
            <a:endParaRPr lang="zh-CN" altLang="en-US"/>
          </a:p>
        </p:txBody>
      </p:sp>
    </p:spTree>
    <p:extLst>
      <p:ext uri="{BB962C8B-B14F-4D97-AF65-F5344CB8AC3E}">
        <p14:creationId xmlns:p14="http://schemas.microsoft.com/office/powerpoint/2010/main" val="33327076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CEDDE30-9389-4389-BE58-48D42476A9EE}" type="datetime1">
              <a:rPr lang="zh-CN" altLang="en-US" smtClean="0"/>
              <a:t>2026/3/26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53602B4-F12B-41CD-B648-531F86B2CC91}" type="slidenum">
              <a:rPr lang="zh-CN" altLang="en-US" smtClean="0"/>
              <a:t>‹#›</a:t>
            </a:fld>
            <a:endParaRPr lang="zh-CN" altLang="en-US"/>
          </a:p>
        </p:txBody>
      </p:sp>
    </p:spTree>
    <p:extLst>
      <p:ext uri="{BB962C8B-B14F-4D97-AF65-F5344CB8AC3E}">
        <p14:creationId xmlns:p14="http://schemas.microsoft.com/office/powerpoint/2010/main" val="13832590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6A70109-36FC-454C-89EC-3663C4F73A53}" type="datetime1">
              <a:rPr lang="zh-CN" altLang="en-US" smtClean="0"/>
              <a:t>2026/3/26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extLst>
      <p:ext uri="{BB962C8B-B14F-4D97-AF65-F5344CB8AC3E}">
        <p14:creationId xmlns:p14="http://schemas.microsoft.com/office/powerpoint/2010/main" val="12887653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BDAC107-512C-45E5-AB29-E07B2E257B9C}" type="datetime1">
              <a:rPr lang="zh-CN" altLang="en-US" smtClean="0"/>
              <a:t>2026/3/26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extLst>
      <p:ext uri="{BB962C8B-B14F-4D97-AF65-F5344CB8AC3E}">
        <p14:creationId xmlns:p14="http://schemas.microsoft.com/office/powerpoint/2010/main" val="3600003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6EE7AE80-C800-4E40-9649-D3E5BCB02F89}" type="datetime1">
              <a:rPr lang="zh-CN" altLang="en-US" smtClean="0"/>
              <a:t>2026/3/26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extLst>
      <p:ext uri="{BB962C8B-B14F-4D97-AF65-F5344CB8AC3E}">
        <p14:creationId xmlns:p14="http://schemas.microsoft.com/office/powerpoint/2010/main" val="30352256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8F659B0E-064B-4925-BD4D-B03AB2FB3BD5}" type="datetime1">
              <a:rPr lang="zh-CN" altLang="en-US" smtClean="0"/>
              <a:t>2026/3/26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extLst>
      <p:ext uri="{BB962C8B-B14F-4D97-AF65-F5344CB8AC3E}">
        <p14:creationId xmlns:p14="http://schemas.microsoft.com/office/powerpoint/2010/main" val="1334290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509004-D936-4CCF-A303-65385FFA8FB0}" type="datetime1">
              <a:rPr lang="zh-CN" altLang="en-US" smtClean="0"/>
              <a:t>2026/3/26</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878864"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3602B4-F12B-41CD-B648-531F86B2CC91}"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51C689-1DCF-4A09-9257-3C8952FF39E7}" type="datetime1">
              <a:rPr lang="zh-CN" altLang="en-US" smtClean="0"/>
              <a:t>2026/3/26</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3602B4-F12B-41CD-B648-531F86B2CC91}" type="slidenum">
              <a:rPr lang="zh-CN" altLang="en-US" smtClean="0"/>
              <a:t>‹#›</a:t>
            </a:fld>
            <a:endParaRPr lang="zh-CN" altLang="en-US"/>
          </a:p>
        </p:txBody>
      </p:sp>
    </p:spTree>
    <p:extLst>
      <p:ext uri="{BB962C8B-B14F-4D97-AF65-F5344CB8AC3E}">
        <p14:creationId xmlns:p14="http://schemas.microsoft.com/office/powerpoint/2010/main" val="13456069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40.xml"/><Relationship Id="rId2" Type="http://schemas.openxmlformats.org/officeDocument/2006/relationships/slide" Target="slide4.xml"/><Relationship Id="rId1" Type="http://schemas.openxmlformats.org/officeDocument/2006/relationships/slideLayout" Target="../slideLayouts/slideLayout2.xml"/><Relationship Id="rId6" Type="http://schemas.openxmlformats.org/officeDocument/2006/relationships/slide" Target="slide30.xml"/><Relationship Id="rId5" Type="http://schemas.openxmlformats.org/officeDocument/2006/relationships/slide" Target="slide48.xml"/><Relationship Id="rId4" Type="http://schemas.openxmlformats.org/officeDocument/2006/relationships/slide" Target="slide17.xml"/></Relationships>
</file>

<file path=ppt/slides/_rels/slide4.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slide" Target="slide5.xml"/><Relationship Id="rId7" Type="http://schemas.openxmlformats.org/officeDocument/2006/relationships/slide" Target="slide20.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2.xml"/><Relationship Id="rId5" Type="http://schemas.openxmlformats.org/officeDocument/2006/relationships/slide" Target="slide11.xml"/><Relationship Id="rId4" Type="http://schemas.openxmlformats.org/officeDocument/2006/relationships/slide" Target="slide9.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emf"/><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oleObject" Target="../embeddings/oleObject4.bin"/><Relationship Id="rId3" Type="http://schemas.openxmlformats.org/officeDocument/2006/relationships/image" Target="../media/image8.png"/><Relationship Id="rId7" Type="http://schemas.openxmlformats.org/officeDocument/2006/relationships/image" Target="../media/image10.emf"/><Relationship Id="rId12"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oleObject" Target="../embeddings/oleObject2.bin"/><Relationship Id="rId11" Type="http://schemas.openxmlformats.org/officeDocument/2006/relationships/image" Target="../media/image13.png"/><Relationship Id="rId5" Type="http://schemas.openxmlformats.org/officeDocument/2006/relationships/image" Target="../media/image9.wmf"/><Relationship Id="rId4" Type="http://schemas.openxmlformats.org/officeDocument/2006/relationships/oleObject" Target="../embeddings/oleObject1.bin"/><Relationship Id="rId9" Type="http://schemas.openxmlformats.org/officeDocument/2006/relationships/image" Target="../media/image11.wmf"/><Relationship Id="rId14" Type="http://schemas.openxmlformats.org/officeDocument/2006/relationships/image" Target="../media/image13.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image" Target="../media/image15.emf"/><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12.png"/><Relationship Id="rId4" Type="http://schemas.openxmlformats.org/officeDocument/2006/relationships/image" Target="../media/image14.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7.emf"/><Relationship Id="rId5" Type="http://schemas.openxmlformats.org/officeDocument/2006/relationships/oleObject" Target="../embeddings/oleObject8.bin"/><Relationship Id="rId4" Type="http://schemas.openxmlformats.org/officeDocument/2006/relationships/image" Target="../media/image16.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wmf"/></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slide" Target="slide21.xml"/><Relationship Id="rId4" Type="http://schemas.openxmlformats.org/officeDocument/2006/relationships/slide" Target="slide20.xml"/></Relationships>
</file>

<file path=ppt/slides/_rels/slide18.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slide" Target="slide36.xml"/><Relationship Id="rId4" Type="http://schemas.openxmlformats.org/officeDocument/2006/relationships/slide" Target="slide27.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10.png"/></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35.emf"/><Relationship Id="rId4" Type="http://schemas.openxmlformats.org/officeDocument/2006/relationships/oleObject" Target="../embeddings/oleObject15.bin"/></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5.emf"/></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slide" Target="slide41.xml"/><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slide" Target="slide3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120.png"/><Relationship Id="rId2" Type="http://schemas.openxmlformats.org/officeDocument/2006/relationships/notesSlide" Target="../notesSlides/notesSlide41.xml"/><Relationship Id="rId1" Type="http://schemas.openxmlformats.org/officeDocument/2006/relationships/slideLayout" Target="../slideLayouts/slideLayout2.xml"/><Relationship Id="rId9" Type="http://schemas.openxmlformats.org/officeDocument/2006/relationships/image" Target="../media/image130.png"/></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oleObject" Target="../embeddings/oleObject17.bin"/><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oleObject" Target="../embeddings/oleObject17.bin"/><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oleObject" Target="../embeddings/oleObject17.bin"/><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oleObject" Target="../embeddings/oleObject17.bin"/><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p:nvPr/>
        </p:nvSpPr>
        <p:spPr>
          <a:xfrm flipH="1">
            <a:off x="1303497" y="2140586"/>
            <a:ext cx="7840504" cy="1271905"/>
          </a:xfrm>
          <a:prstGeom prst="rect">
            <a:avLst/>
          </a:prstGeom>
          <a:solidFill>
            <a:schemeClr val="accent5"/>
          </a:soli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rot="10800000" flipV="1">
            <a:off x="348139" y="2115821"/>
            <a:ext cx="955358" cy="129095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b="1" dirty="0">
                <a:latin typeface="宋体" panose="02010600030101010101" pitchFamily="2" charset="-122"/>
                <a:sym typeface="+mn-ea"/>
              </a:rPr>
              <a:t>3</a:t>
            </a:r>
            <a:endParaRPr lang="zh-CN" altLang="en-US" sz="6000" b="1" dirty="0">
              <a:latin typeface="Arial" panose="020B0604020202020204" pitchFamily="34" charset="0"/>
              <a:cs typeface="Arial" panose="020B0604020202020204" pitchFamily="34" charset="0"/>
            </a:endParaRPr>
          </a:p>
        </p:txBody>
      </p:sp>
      <p:sp>
        <p:nvSpPr>
          <p:cNvPr id="42" name="文本框 41"/>
          <p:cNvSpPr txBox="1"/>
          <p:nvPr/>
        </p:nvSpPr>
        <p:spPr>
          <a:xfrm>
            <a:off x="3337084" y="2362200"/>
            <a:ext cx="4041487" cy="769439"/>
          </a:xfrm>
          <a:prstGeom prst="rect">
            <a:avLst/>
          </a:prstGeom>
          <a:noFill/>
        </p:spPr>
        <p:txBody>
          <a:bodyPr wrap="none" lIns="91438" tIns="45719" rIns="91438" bIns="45719" rtlCol="0">
            <a:spAutoFit/>
          </a:bodyPr>
          <a:lstStyle/>
          <a:p>
            <a:r>
              <a:rPr lang="zh-CN" altLang="en-US" sz="4400" b="1" spc="600" dirty="0">
                <a:solidFill>
                  <a:schemeClr val="bg1"/>
                </a:solidFill>
                <a:latin typeface="宋体" panose="02010600030101010101" pitchFamily="2" charset="-122"/>
                <a:ea typeface="宋体" panose="02010600030101010101" pitchFamily="2" charset="-122"/>
                <a:sym typeface="+mn-ea"/>
              </a:rPr>
              <a:t>电感式传感器</a:t>
            </a:r>
            <a:endParaRPr lang="zh-CN" altLang="en-US" sz="4400" b="1" spc="600" dirty="0">
              <a:solidFill>
                <a:schemeClr val="bg1"/>
              </a:solidFill>
              <a:latin typeface="宋体" panose="02010600030101010101" pitchFamily="2" charset="-122"/>
              <a:ea typeface="宋体" panose="02010600030101010101" pitchFamily="2" charset="-122"/>
            </a:endParaRPr>
          </a:p>
        </p:txBody>
      </p:sp>
      <p:grpSp>
        <p:nvGrpSpPr>
          <p:cNvPr id="3" name="组 2"/>
          <p:cNvGrpSpPr/>
          <p:nvPr/>
        </p:nvGrpSpPr>
        <p:grpSpPr>
          <a:xfrm>
            <a:off x="-15717" y="2127250"/>
            <a:ext cx="181928" cy="1285240"/>
            <a:chOff x="-21102" y="2858492"/>
            <a:chExt cx="242777" cy="1285286"/>
          </a:xfrm>
        </p:grpSpPr>
        <p:sp>
          <p:nvSpPr>
            <p:cNvPr id="46" name="圆角矩形 45"/>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TextBox 20">
            <a:extLst>
              <a:ext uri="{FF2B5EF4-FFF2-40B4-BE49-F238E27FC236}">
                <a16:creationId xmlns:a16="http://schemas.microsoft.com/office/drawing/2014/main" id="{CF1A5F7B-DE85-4714-86FF-4974A310A33A}"/>
              </a:ext>
            </a:extLst>
          </p:cNvPr>
          <p:cNvSpPr txBox="1"/>
          <p:nvPr/>
        </p:nvSpPr>
        <p:spPr>
          <a:xfrm>
            <a:off x="1454943" y="566039"/>
            <a:ext cx="6234113" cy="830997"/>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4800" b="1" i="0" u="none" strike="noStrike" kern="1200" cap="none" spc="4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自动检测技术与系统</a:t>
            </a:r>
            <a:endParaRPr kumimoji="0" lang="en-US" altLang="zh-CN" sz="4800" b="1" i="0" u="none" strike="noStrike" kern="1200" cap="none" spc="4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44721" y="2178474"/>
            <a:ext cx="7651868" cy="3973522"/>
          </a:xfrm>
          <a:prstGeom prst="rect">
            <a:avLst/>
          </a:prstGeom>
        </p:spPr>
        <p:txBody>
          <a:bodyPr wrap="square" lIns="91438" tIns="45719" rIns="91438" bIns="45719">
            <a:spAutoFit/>
          </a:bodyPr>
          <a:lstStyle/>
          <a:p>
            <a:pPr indent="628650">
              <a:lnSpc>
                <a:spcPct val="150000"/>
              </a:lnSpc>
              <a:spcBef>
                <a:spcPts val="670"/>
              </a:spcBef>
            </a:pPr>
            <a:r>
              <a:rPr lang="zh-CN" altLang="en-US" sz="2400" b="1" dirty="0">
                <a:latin typeface="宋体" panose="02010600030101010101" pitchFamily="2" charset="-122"/>
                <a:ea typeface="宋体" panose="02010600030101010101" pitchFamily="2" charset="-122"/>
              </a:rPr>
              <a:t>电感式传感器是利用线圈</a:t>
            </a:r>
            <a:r>
              <a:rPr lang="zh-CN" altLang="en-US" sz="2400" b="1" dirty="0">
                <a:solidFill>
                  <a:srgbClr val="0070C0"/>
                </a:solidFill>
                <a:latin typeface="宋体" panose="02010600030101010101" pitchFamily="2" charset="-122"/>
                <a:ea typeface="宋体" panose="02010600030101010101" pitchFamily="2" charset="-122"/>
              </a:rPr>
              <a:t>自感</a:t>
            </a:r>
            <a:r>
              <a:rPr lang="zh-CN" altLang="en-US" sz="2400" b="1" dirty="0">
                <a:latin typeface="宋体" panose="02010600030101010101" pitchFamily="2" charset="-122"/>
                <a:ea typeface="宋体" panose="02010600030101010101" pitchFamily="2" charset="-122"/>
              </a:rPr>
              <a:t>或</a:t>
            </a:r>
            <a:r>
              <a:rPr lang="zh-CN" altLang="en-US" sz="2400" b="1" dirty="0">
                <a:solidFill>
                  <a:srgbClr val="0070C0"/>
                </a:solidFill>
                <a:latin typeface="宋体" panose="02010600030101010101" pitchFamily="2" charset="-122"/>
                <a:ea typeface="宋体" panose="02010600030101010101" pitchFamily="2" charset="-122"/>
              </a:rPr>
              <a:t>互感</a:t>
            </a:r>
            <a:r>
              <a:rPr lang="zh-CN" altLang="en-US" sz="2400" b="1" dirty="0">
                <a:latin typeface="宋体" panose="02010600030101010101" pitchFamily="2" charset="-122"/>
                <a:ea typeface="宋体" panose="02010600030101010101" pitchFamily="2" charset="-122"/>
              </a:rPr>
              <a:t>的变化来实现测量的一种装置，可用来测量</a:t>
            </a:r>
            <a:r>
              <a:rPr lang="zh-CN" altLang="en-US" sz="2400" b="1" dirty="0">
                <a:solidFill>
                  <a:srgbClr val="FF0000"/>
                </a:solidFill>
                <a:latin typeface="宋体" panose="02010600030101010101" pitchFamily="2" charset="-122"/>
                <a:ea typeface="宋体" panose="02010600030101010101" pitchFamily="2" charset="-122"/>
              </a:rPr>
              <a:t>位移</a:t>
            </a:r>
            <a:r>
              <a:rPr lang="zh-CN" altLang="en-US" sz="2400" b="1" dirty="0">
                <a:latin typeface="宋体" panose="02010600030101010101" pitchFamily="2" charset="-122"/>
                <a:ea typeface="宋体" panose="02010600030101010101" pitchFamily="2" charset="-122"/>
              </a:rPr>
              <a:t>、</a:t>
            </a:r>
            <a:r>
              <a:rPr lang="zh-CN" altLang="en-US" sz="2400" b="1" dirty="0">
                <a:solidFill>
                  <a:srgbClr val="FF0000"/>
                </a:solidFill>
                <a:latin typeface="宋体" panose="02010600030101010101" pitchFamily="2" charset="-122"/>
                <a:ea typeface="宋体" panose="02010600030101010101" pitchFamily="2" charset="-122"/>
              </a:rPr>
              <a:t>振动</a:t>
            </a:r>
            <a:r>
              <a:rPr lang="zh-CN" altLang="en-US" sz="2400" b="1" dirty="0">
                <a:latin typeface="宋体" panose="02010600030101010101" pitchFamily="2" charset="-122"/>
                <a:ea typeface="宋体" panose="02010600030101010101" pitchFamily="2" charset="-122"/>
              </a:rPr>
              <a:t>、</a:t>
            </a:r>
            <a:r>
              <a:rPr lang="zh-CN" altLang="en-US" sz="2400" b="1" dirty="0">
                <a:solidFill>
                  <a:srgbClr val="FF0000"/>
                </a:solidFill>
                <a:latin typeface="宋体" panose="02010600030101010101" pitchFamily="2" charset="-122"/>
                <a:ea typeface="宋体" panose="02010600030101010101" pitchFamily="2" charset="-122"/>
              </a:rPr>
              <a:t>压力</a:t>
            </a:r>
            <a:r>
              <a:rPr lang="zh-CN" altLang="en-US" sz="2400" b="1" dirty="0">
                <a:latin typeface="宋体" panose="02010600030101010101" pitchFamily="2" charset="-122"/>
                <a:ea typeface="宋体" panose="02010600030101010101" pitchFamily="2" charset="-122"/>
              </a:rPr>
              <a:t>、</a:t>
            </a:r>
            <a:r>
              <a:rPr lang="zh-CN" altLang="en-US" sz="2400" b="1" dirty="0">
                <a:solidFill>
                  <a:srgbClr val="FF0000"/>
                </a:solidFill>
                <a:latin typeface="宋体" panose="02010600030101010101" pitchFamily="2" charset="-122"/>
                <a:ea typeface="宋体" panose="02010600030101010101" pitchFamily="2" charset="-122"/>
              </a:rPr>
              <a:t>流量</a:t>
            </a:r>
            <a:r>
              <a:rPr lang="zh-CN" altLang="en-US" sz="2400" b="1" dirty="0">
                <a:latin typeface="宋体" panose="02010600030101010101" pitchFamily="2" charset="-122"/>
                <a:ea typeface="宋体" panose="02010600030101010101" pitchFamily="2" charset="-122"/>
              </a:rPr>
              <a:t>、</a:t>
            </a:r>
            <a:r>
              <a:rPr lang="zh-CN" altLang="en-US" sz="2400" b="1" dirty="0">
                <a:solidFill>
                  <a:srgbClr val="FF0000"/>
                </a:solidFill>
                <a:latin typeface="宋体" panose="02010600030101010101" pitchFamily="2" charset="-122"/>
                <a:ea typeface="宋体" panose="02010600030101010101" pitchFamily="2" charset="-122"/>
              </a:rPr>
              <a:t>重量</a:t>
            </a:r>
            <a:r>
              <a:rPr lang="zh-CN" altLang="en-US" sz="2400" b="1" dirty="0">
                <a:latin typeface="宋体" panose="02010600030101010101" pitchFamily="2" charset="-122"/>
                <a:ea typeface="宋体" panose="02010600030101010101" pitchFamily="2" charset="-122"/>
              </a:rPr>
              <a:t>、</a:t>
            </a:r>
            <a:r>
              <a:rPr lang="zh-CN" altLang="en-US" sz="2400" b="1" dirty="0">
                <a:solidFill>
                  <a:srgbClr val="FF0000"/>
                </a:solidFill>
                <a:latin typeface="宋体" panose="02010600030101010101" pitchFamily="2" charset="-122"/>
                <a:ea typeface="宋体" panose="02010600030101010101" pitchFamily="2" charset="-122"/>
              </a:rPr>
              <a:t>力矩</a:t>
            </a:r>
            <a:r>
              <a:rPr lang="zh-CN" altLang="en-US" sz="2400" b="1" dirty="0">
                <a:latin typeface="宋体" panose="02010600030101010101" pitchFamily="2" charset="-122"/>
                <a:ea typeface="宋体" panose="02010600030101010101" pitchFamily="2" charset="-122"/>
              </a:rPr>
              <a:t>、</a:t>
            </a:r>
            <a:r>
              <a:rPr lang="zh-CN" altLang="en-US" sz="2400" b="1" dirty="0">
                <a:solidFill>
                  <a:srgbClr val="FF0000"/>
                </a:solidFill>
                <a:latin typeface="宋体" panose="02010600030101010101" pitchFamily="2" charset="-122"/>
                <a:ea typeface="宋体" panose="02010600030101010101" pitchFamily="2" charset="-122"/>
              </a:rPr>
              <a:t>应变</a:t>
            </a:r>
            <a:r>
              <a:rPr lang="zh-CN" altLang="en-US" sz="2400" b="1" dirty="0">
                <a:latin typeface="宋体" panose="02010600030101010101" pitchFamily="2" charset="-122"/>
                <a:ea typeface="宋体" panose="02010600030101010101" pitchFamily="2" charset="-122"/>
              </a:rPr>
              <a:t>等多种物理量。</a:t>
            </a:r>
          </a:p>
          <a:p>
            <a:pPr indent="628650">
              <a:lnSpc>
                <a:spcPct val="150000"/>
              </a:lnSpc>
              <a:spcBef>
                <a:spcPts val="670"/>
              </a:spcBef>
            </a:pPr>
            <a:r>
              <a:rPr lang="zh-CN" altLang="en-US" sz="2400" b="1" dirty="0">
                <a:latin typeface="宋体" panose="02010600030101010101" pitchFamily="2" charset="-122"/>
                <a:ea typeface="宋体" panose="02010600030101010101" pitchFamily="2" charset="-122"/>
              </a:rPr>
              <a:t>电感式传感器的核心部分是</a:t>
            </a:r>
            <a:r>
              <a:rPr lang="zh-CN" altLang="en-US" sz="2400" b="1" dirty="0">
                <a:solidFill>
                  <a:srgbClr val="FF0000"/>
                </a:solidFill>
                <a:latin typeface="宋体" panose="02010600030101010101" pitchFamily="2" charset="-122"/>
                <a:ea typeface="宋体" panose="02010600030101010101" pitchFamily="2" charset="-122"/>
              </a:rPr>
              <a:t>可变自感或可变互感</a:t>
            </a:r>
            <a:r>
              <a:rPr lang="zh-CN" altLang="en-US" sz="2400" b="1" dirty="0">
                <a:latin typeface="宋体" panose="02010600030101010101" pitchFamily="2" charset="-122"/>
                <a:ea typeface="宋体" panose="02010600030101010101" pitchFamily="2" charset="-122"/>
              </a:rPr>
              <a:t>。在被测量转换成线圈自感或互感的变化时，一般要利用磁场作为媒介或利用铁磁体的某些现象。这类传感器的主要特征是</a:t>
            </a:r>
            <a:r>
              <a:rPr lang="zh-CN" altLang="en-US" sz="2400" b="1" dirty="0">
                <a:solidFill>
                  <a:srgbClr val="0070C0"/>
                </a:solidFill>
                <a:latin typeface="宋体" panose="02010600030101010101" pitchFamily="2" charset="-122"/>
                <a:ea typeface="宋体" panose="02010600030101010101" pitchFamily="2" charset="-122"/>
              </a:rPr>
              <a:t>具有线圈绕组</a:t>
            </a:r>
            <a:r>
              <a:rPr lang="zh-CN" altLang="en-US" sz="2400" b="1" dirty="0">
                <a:latin typeface="宋体" panose="02010600030101010101" pitchFamily="2" charset="-122"/>
                <a:ea typeface="宋体" panose="02010600030101010101" pitchFamily="2" charset="-122"/>
              </a:rPr>
              <a:t>。</a:t>
            </a:r>
          </a:p>
        </p:txBody>
      </p:sp>
      <p:sp>
        <p:nvSpPr>
          <p:cNvPr id="5" name="矩形 4"/>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6"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3</a:t>
            </a:r>
            <a:endParaRPr lang="zh-CN" alt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7" name="矩形 6"/>
          <p:cNvSpPr/>
          <p:nvPr/>
        </p:nvSpPr>
        <p:spPr>
          <a:xfrm>
            <a:off x="1960200" y="329520"/>
            <a:ext cx="2810377" cy="615549"/>
          </a:xfrm>
          <a:prstGeom prst="rect">
            <a:avLst/>
          </a:prstGeom>
        </p:spPr>
        <p:txBody>
          <a:bodyPr wrap="none" lIns="91436" tIns="45718" rIns="91436" bIns="45718">
            <a:spAutoFit/>
          </a:bodyPr>
          <a:lstStyle/>
          <a:p>
            <a:pPr marL="9525" indent="-9525"/>
            <a:r>
              <a:rPr lang="zh-CN" altLang="en-US" sz="3400" b="1" dirty="0">
                <a:solidFill>
                  <a:schemeClr val="bg1"/>
                </a:solidFill>
                <a:latin typeface="宋体" panose="02010600030101010101" pitchFamily="2" charset="-122"/>
                <a:ea typeface="宋体" panose="02010600030101010101" pitchFamily="2" charset="-122"/>
              </a:rPr>
              <a:t>电感式传感器</a:t>
            </a:r>
          </a:p>
        </p:txBody>
      </p:sp>
      <p:sp>
        <p:nvSpPr>
          <p:cNvPr id="4" name="文本框 3"/>
          <p:cNvSpPr txBox="1"/>
          <p:nvPr/>
        </p:nvSpPr>
        <p:spPr>
          <a:xfrm>
            <a:off x="1359863" y="1583804"/>
            <a:ext cx="4321089" cy="461665"/>
          </a:xfrm>
          <a:prstGeom prst="rect">
            <a:avLst/>
          </a:prstGeom>
          <a:noFill/>
        </p:spPr>
        <p:txBody>
          <a:bodyPr wrap="square" rtlCol="0">
            <a:spAutoFit/>
          </a:bodyPr>
          <a:lstStyle/>
          <a:p>
            <a:r>
              <a:rPr lang="zh-CN" altLang="en-US" sz="2400" b="1" dirty="0">
                <a:solidFill>
                  <a:srgbClr val="C00000"/>
                </a:solidFill>
                <a:latin typeface="宋体" panose="02010600030101010101" pitchFamily="2" charset="-122"/>
                <a:ea typeface="宋体" panose="02010600030101010101" pitchFamily="2" charset="-122"/>
              </a:rPr>
              <a:t>英文名称：</a:t>
            </a:r>
            <a:r>
              <a:rPr lang="en-US" altLang="zh-CN" sz="2400" b="1" dirty="0">
                <a:solidFill>
                  <a:srgbClr val="C00000"/>
                </a:solidFill>
                <a:latin typeface="宋体" panose="02010600030101010101" pitchFamily="2" charset="-122"/>
                <a:ea typeface="宋体" panose="02010600030101010101" pitchFamily="2" charset="-122"/>
              </a:rPr>
              <a:t>Inductive Sensor</a:t>
            </a:r>
            <a:endParaRPr lang="zh-CN" altLang="en-US" sz="2400" b="1" dirty="0">
              <a:solidFill>
                <a:srgbClr val="C00000"/>
              </a:solidFill>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A61FFD6F-CFAD-4A11-89AD-272A3C2A1018}"/>
              </a:ext>
            </a:extLst>
          </p:cNvPr>
          <p:cNvSpPr>
            <a:spLocks noGrp="1"/>
          </p:cNvSpPr>
          <p:nvPr>
            <p:ph type="sldNum" sz="quarter" idx="12"/>
          </p:nvPr>
        </p:nvSpPr>
        <p:spPr/>
        <p:txBody>
          <a:bodyPr/>
          <a:lstStyle/>
          <a:p>
            <a:fld id="{B53602B4-F12B-41CD-B648-531F86B2CC91}" type="slidenum">
              <a:rPr lang="zh-CN" altLang="en-US" smtClean="0"/>
              <a:t>2</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0" name="直接连接符 79"/>
          <p:cNvCxnSpPr/>
          <p:nvPr/>
        </p:nvCxnSpPr>
        <p:spPr>
          <a:xfrm>
            <a:off x="1767882" y="26635"/>
            <a:ext cx="0" cy="5643645"/>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rot="5400000">
            <a:off x="-2908717" y="2904934"/>
            <a:ext cx="6818603" cy="100874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grpSp>
        <p:nvGrpSpPr>
          <p:cNvPr id="15" name="组 14"/>
          <p:cNvGrpSpPr/>
          <p:nvPr/>
        </p:nvGrpSpPr>
        <p:grpSpPr>
          <a:xfrm>
            <a:off x="-16725" y="6654792"/>
            <a:ext cx="953603" cy="203211"/>
            <a:chOff x="-22302" y="6654791"/>
            <a:chExt cx="1271471" cy="203210"/>
          </a:xfrm>
        </p:grpSpPr>
        <p:sp>
          <p:nvSpPr>
            <p:cNvPr id="9" name="圆角矩形 8"/>
            <p:cNvSpPr/>
            <p:nvPr/>
          </p:nvSpPr>
          <p:spPr>
            <a:xfrm flipV="1">
              <a:off x="240276"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flipV="1">
              <a:off x="-2230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flipV="1">
              <a:off x="755838"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flipV="1">
              <a:off x="493260"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flipV="1">
              <a:off x="102436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3" name="圆角矩形 72"/>
          <p:cNvSpPr/>
          <p:nvPr/>
        </p:nvSpPr>
        <p:spPr>
          <a:xfrm rot="10800000" flipV="1">
            <a:off x="2703115" y="1456407"/>
            <a:ext cx="861785"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3.1</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74" name="圆角矩形 73"/>
          <p:cNvSpPr/>
          <p:nvPr/>
        </p:nvSpPr>
        <p:spPr>
          <a:xfrm rot="10800000" flipV="1">
            <a:off x="2703115" y="2338548"/>
            <a:ext cx="861781" cy="424269"/>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3.2</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87" name="文本框 86"/>
          <p:cNvSpPr txBox="1"/>
          <p:nvPr/>
        </p:nvSpPr>
        <p:spPr>
          <a:xfrm>
            <a:off x="3820456" y="1358843"/>
            <a:ext cx="2964265"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sym typeface="+mn-ea"/>
                <a:hlinkClick r:id="rId2" action="ppaction://hlinksldjump"/>
              </a:rPr>
              <a:t>自感式传感器</a:t>
            </a:r>
            <a:endParaRPr lang="zh-CN" altLang="en-US" sz="3600" b="1" dirty="0">
              <a:solidFill>
                <a:schemeClr val="tx2"/>
              </a:solidFill>
            </a:endParaRPr>
          </a:p>
        </p:txBody>
      </p:sp>
      <p:sp>
        <p:nvSpPr>
          <p:cNvPr id="88" name="文本框 87">
            <a:hlinkClick r:id="rId3" action="ppaction://hlinksldjump"/>
          </p:cNvPr>
          <p:cNvSpPr txBox="1"/>
          <p:nvPr/>
        </p:nvSpPr>
        <p:spPr>
          <a:xfrm>
            <a:off x="3820456" y="2228076"/>
            <a:ext cx="3427533"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sym typeface="+mn-ea"/>
                <a:hlinkClick r:id="rId4" action="ppaction://hlinksldjump"/>
              </a:rPr>
              <a:t>变压器式传感器</a:t>
            </a:r>
            <a:endParaRPr lang="zh-CN" altLang="en-US" sz="3600" b="1" dirty="0">
              <a:solidFill>
                <a:schemeClr val="tx2"/>
              </a:solidFill>
              <a:latin typeface="宋体" panose="02010600030101010101" pitchFamily="2" charset="-122"/>
              <a:ea typeface="宋体" panose="02010600030101010101" pitchFamily="2" charset="-122"/>
              <a:sym typeface="+mn-ea"/>
            </a:endParaRPr>
          </a:p>
        </p:txBody>
      </p:sp>
      <p:sp>
        <p:nvSpPr>
          <p:cNvPr id="16" name="圆角矩形 72"/>
          <p:cNvSpPr/>
          <p:nvPr/>
        </p:nvSpPr>
        <p:spPr>
          <a:xfrm rot="10800000" flipV="1">
            <a:off x="2703115" y="5023735"/>
            <a:ext cx="861785"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b="1" dirty="0">
              <a:latin typeface="宋体" panose="02010600030101010101" pitchFamily="2" charset="-122"/>
              <a:ea typeface="宋体" panose="02010600030101010101" pitchFamily="2" charset="-122"/>
            </a:endParaRPr>
          </a:p>
        </p:txBody>
      </p:sp>
      <p:sp>
        <p:nvSpPr>
          <p:cNvPr id="18" name="文本框 17"/>
          <p:cNvSpPr txBox="1"/>
          <p:nvPr/>
        </p:nvSpPr>
        <p:spPr>
          <a:xfrm>
            <a:off x="3820456" y="4861627"/>
            <a:ext cx="2037729"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5" action="ppaction://hlinksldjump"/>
              </a:rPr>
              <a:t>本章要点</a:t>
            </a:r>
            <a:endParaRPr lang="zh-CN" altLang="en-US" sz="3600" b="1" dirty="0">
              <a:solidFill>
                <a:schemeClr val="tx2"/>
              </a:solidFill>
              <a:latin typeface="宋体" panose="02010600030101010101" pitchFamily="2" charset="-122"/>
              <a:ea typeface="宋体" panose="02010600030101010101" pitchFamily="2" charset="-122"/>
            </a:endParaRPr>
          </a:p>
        </p:txBody>
      </p:sp>
      <p:sp>
        <p:nvSpPr>
          <p:cNvPr id="31" name="圆角矩形 30"/>
          <p:cNvSpPr/>
          <p:nvPr/>
        </p:nvSpPr>
        <p:spPr>
          <a:xfrm rot="10800000" flipV="1">
            <a:off x="2703115" y="3220691"/>
            <a:ext cx="861785"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3.3</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32" name="圆角矩形 31"/>
          <p:cNvSpPr/>
          <p:nvPr/>
        </p:nvSpPr>
        <p:spPr>
          <a:xfrm rot="10800000" flipV="1">
            <a:off x="2703115" y="4102832"/>
            <a:ext cx="861781" cy="424269"/>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3.4</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33" name="文本框 32"/>
          <p:cNvSpPr txBox="1"/>
          <p:nvPr/>
        </p:nvSpPr>
        <p:spPr>
          <a:xfrm>
            <a:off x="3820456" y="3097309"/>
            <a:ext cx="2964265"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sym typeface="+mn-ea"/>
                <a:hlinkClick r:id="rId6" action="ppaction://hlinksldjump"/>
              </a:rPr>
              <a:t>涡流式传感器</a:t>
            </a:r>
            <a:endParaRPr lang="zh-CN" altLang="en-US" sz="3600" b="1" dirty="0">
              <a:solidFill>
                <a:schemeClr val="tx2"/>
              </a:solidFill>
            </a:endParaRPr>
          </a:p>
        </p:txBody>
      </p:sp>
      <p:sp>
        <p:nvSpPr>
          <p:cNvPr id="34" name="文本框 33">
            <a:hlinkClick r:id="rId3" action="ppaction://hlinksldjump"/>
          </p:cNvPr>
          <p:cNvSpPr txBox="1"/>
          <p:nvPr/>
        </p:nvSpPr>
        <p:spPr>
          <a:xfrm>
            <a:off x="3820456" y="3966542"/>
            <a:ext cx="2964265"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sym typeface="+mn-ea"/>
                <a:hlinkClick r:id="rId7" action="ppaction://hlinksldjump"/>
              </a:rPr>
              <a:t>压磁式传感器</a:t>
            </a:r>
            <a:endParaRPr lang="zh-CN" altLang="en-US" sz="3600" b="1" dirty="0">
              <a:solidFill>
                <a:schemeClr val="tx2"/>
              </a:solidFill>
              <a:latin typeface="宋体" panose="02010600030101010101" pitchFamily="2" charset="-122"/>
              <a:ea typeface="宋体" panose="02010600030101010101" pitchFamily="2" charset="-122"/>
              <a:sym typeface="+mn-ea"/>
            </a:endParaRPr>
          </a:p>
        </p:txBody>
      </p:sp>
      <p:sp>
        <p:nvSpPr>
          <p:cNvPr id="35" name="文本框 19">
            <a:extLst>
              <a:ext uri="{FF2B5EF4-FFF2-40B4-BE49-F238E27FC236}">
                <a16:creationId xmlns:a16="http://schemas.microsoft.com/office/drawing/2014/main" id="{171BDAE6-C574-4C5E-8961-05CA711F2497}"/>
              </a:ext>
            </a:extLst>
          </p:cNvPr>
          <p:cNvSpPr txBox="1"/>
          <p:nvPr/>
        </p:nvSpPr>
        <p:spPr>
          <a:xfrm>
            <a:off x="104043" y="1495425"/>
            <a:ext cx="754047" cy="3269788"/>
          </a:xfrm>
          <a:prstGeom prst="rect">
            <a:avLst/>
          </a:prstGeom>
          <a:noFill/>
        </p:spPr>
        <p:txBody>
          <a:bodyPr vert="eaVert" wrap="square" lIns="68577" tIns="34289" rIns="68577" bIns="34289" rtlCol="0">
            <a:spAutoFit/>
          </a:bodyPr>
          <a:lstStyle/>
          <a:p>
            <a:r>
              <a:rPr lang="ja-JP" altLang="en-US" sz="4000" b="1" spc="1200">
                <a:solidFill>
                  <a:schemeClr val="bg1"/>
                </a:solidFill>
                <a:latin typeface="微软雅黑" panose="020B0503020204020204" pitchFamily="34" charset="-122"/>
                <a:ea typeface="微软雅黑" panose="020B0503020204020204" pitchFamily="34" charset="-122"/>
              </a:rPr>
              <a:t>内容提纲</a:t>
            </a:r>
            <a:endParaRPr lang="zh-CN" altLang="en-US" sz="4000" b="1" spc="1200" dirty="0">
              <a:solidFill>
                <a:schemeClr val="bg1"/>
              </a:solidFill>
              <a:latin typeface="微软雅黑" panose="020B0503020204020204" pitchFamily="34" charset="-122"/>
              <a:ea typeface="微软雅黑" panose="020B0503020204020204" pitchFamily="34" charset="-122"/>
            </a:endParaRPr>
          </a:p>
        </p:txBody>
      </p:sp>
      <p:sp>
        <p:nvSpPr>
          <p:cNvPr id="2" name="Slide Number Placeholder 1">
            <a:extLst>
              <a:ext uri="{FF2B5EF4-FFF2-40B4-BE49-F238E27FC236}">
                <a16:creationId xmlns:a16="http://schemas.microsoft.com/office/drawing/2014/main" id="{CC07874C-FAD2-43E1-9043-4BFA8FB8A405}"/>
              </a:ext>
            </a:extLst>
          </p:cNvPr>
          <p:cNvSpPr>
            <a:spLocks noGrp="1"/>
          </p:cNvSpPr>
          <p:nvPr>
            <p:ph type="sldNum" sz="quarter" idx="12"/>
          </p:nvPr>
        </p:nvSpPr>
        <p:spPr/>
        <p:txBody>
          <a:bodyPr/>
          <a:lstStyle/>
          <a:p>
            <a:fld id="{B53602B4-F12B-41CD-B648-531F86B2CC91}" type="slidenum">
              <a:rPr lang="zh-CN" altLang="en-US" smtClean="0"/>
              <a:t>3</a:t>
            </a:fld>
            <a:endParaRPr lang="zh-CN" altLang="en-US"/>
          </a:p>
        </p:txBody>
      </p:sp>
    </p:spTree>
    <p:extLst>
      <p:ext uri="{BB962C8B-B14F-4D97-AF65-F5344CB8AC3E}">
        <p14:creationId xmlns:p14="http://schemas.microsoft.com/office/powerpoint/2010/main" val="400448774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3.1</a:t>
            </a:r>
          </a:p>
        </p:txBody>
      </p:sp>
      <p:sp>
        <p:nvSpPr>
          <p:cNvPr id="46" name="矩形 45"/>
          <p:cNvSpPr/>
          <p:nvPr/>
        </p:nvSpPr>
        <p:spPr>
          <a:xfrm>
            <a:off x="1960200"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自感式传感器</a:t>
            </a:r>
          </a:p>
        </p:txBody>
      </p:sp>
      <p:sp>
        <p:nvSpPr>
          <p:cNvPr id="222223" name="Rectangle 15"/>
          <p:cNvSpPr>
            <a:spLocks noRot="1" noChangeArrowheads="1"/>
          </p:cNvSpPr>
          <p:nvPr/>
        </p:nvSpPr>
        <p:spPr bwMode="auto">
          <a:xfrm>
            <a:off x="2791282" y="2411674"/>
            <a:ext cx="4729070" cy="3766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a:lnSpc>
                <a:spcPct val="150000"/>
              </a:lnSpc>
              <a:spcBef>
                <a:spcPct val="20000"/>
              </a:spcBef>
              <a:buClr>
                <a:schemeClr val="folHlink"/>
              </a:buClr>
            </a:pPr>
            <a:r>
              <a:rPr lang="zh-CN" altLang="en-US" sz="2400" b="1" dirty="0">
                <a:solidFill>
                  <a:schemeClr val="tx2"/>
                </a:solidFill>
                <a:ea typeface="宋体" panose="02010600030101010101" pitchFamily="2" charset="-122"/>
                <a:sym typeface="+mn-ea"/>
                <a:hlinkClick r:id="rId3" action="ppaction://hlinksldjump"/>
              </a:rPr>
              <a:t>自感式传感器的工作原理</a:t>
            </a:r>
            <a:endParaRPr lang="zh-CN" altLang="en-US" sz="2400" b="1" dirty="0">
              <a:solidFill>
                <a:schemeClr val="tx2"/>
              </a:solidFill>
              <a:ea typeface="宋体" panose="02010600030101010101" pitchFamily="2" charset="-122"/>
              <a:sym typeface="+mn-ea"/>
            </a:endParaRPr>
          </a:p>
          <a:p>
            <a:pPr>
              <a:lnSpc>
                <a:spcPct val="150000"/>
              </a:lnSpc>
              <a:spcBef>
                <a:spcPct val="20000"/>
              </a:spcBef>
              <a:buClr>
                <a:schemeClr val="folHlink"/>
              </a:buClr>
            </a:pPr>
            <a:r>
              <a:rPr lang="zh-CN" altLang="en-US" sz="2400" b="1" dirty="0">
                <a:solidFill>
                  <a:schemeClr val="tx2"/>
                </a:solidFill>
                <a:ea typeface="宋体" panose="02010600030101010101" pitchFamily="2" charset="-122"/>
                <a:sym typeface="+mn-ea"/>
                <a:hlinkClick r:id="rId4" action="ppaction://hlinksldjump"/>
              </a:rPr>
              <a:t>灵敏度与非线性</a:t>
            </a:r>
            <a:endParaRPr lang="zh-CN" altLang="en-US" sz="2400" b="1" dirty="0">
              <a:solidFill>
                <a:schemeClr val="tx2"/>
              </a:solidFill>
              <a:ea typeface="宋体" panose="02010600030101010101" pitchFamily="2" charset="-122"/>
              <a:sym typeface="+mn-ea"/>
            </a:endParaRPr>
          </a:p>
          <a:p>
            <a:pPr>
              <a:lnSpc>
                <a:spcPct val="150000"/>
              </a:lnSpc>
              <a:spcBef>
                <a:spcPct val="20000"/>
              </a:spcBef>
              <a:buClr>
                <a:schemeClr val="folHlink"/>
              </a:buClr>
            </a:pPr>
            <a:r>
              <a:rPr lang="zh-CN" altLang="en-US" sz="2400" b="1" dirty="0">
                <a:solidFill>
                  <a:schemeClr val="tx2"/>
                </a:solidFill>
                <a:ea typeface="宋体" panose="02010600030101010101" pitchFamily="2" charset="-122"/>
                <a:sym typeface="+mn-ea"/>
                <a:hlinkClick r:id="rId5" action="ppaction://hlinksldjump"/>
              </a:rPr>
              <a:t>等效电路</a:t>
            </a:r>
            <a:endParaRPr lang="zh-CN" altLang="en-US" sz="2400" b="1" dirty="0">
              <a:solidFill>
                <a:schemeClr val="tx2"/>
              </a:solidFill>
              <a:ea typeface="宋体" panose="02010600030101010101" pitchFamily="2" charset="-122"/>
              <a:sym typeface="+mn-ea"/>
            </a:endParaRPr>
          </a:p>
          <a:p>
            <a:pPr>
              <a:lnSpc>
                <a:spcPct val="150000"/>
              </a:lnSpc>
              <a:spcBef>
                <a:spcPct val="20000"/>
              </a:spcBef>
              <a:buClr>
                <a:schemeClr val="folHlink"/>
              </a:buClr>
            </a:pPr>
            <a:r>
              <a:rPr lang="zh-CN" altLang="en-US" sz="2400" b="1" dirty="0">
                <a:solidFill>
                  <a:schemeClr val="tx2"/>
                </a:solidFill>
                <a:ea typeface="宋体" panose="02010600030101010101" pitchFamily="2" charset="-122"/>
                <a:sym typeface="+mn-ea"/>
                <a:hlinkClick r:id="rId6" action="ppaction://hlinksldjump">
                  <a:extLst>
                    <a:ext uri="{A12FA001-AC4F-418D-AE19-62706E023703}">
                      <ahyp:hlinkClr xmlns:ahyp="http://schemas.microsoft.com/office/drawing/2018/hyperlinkcolor" val="tx"/>
                    </a:ext>
                  </a:extLst>
                </a:hlinkClick>
              </a:rPr>
              <a:t>转换电路</a:t>
            </a:r>
            <a:endParaRPr lang="zh-CN" altLang="en-US" sz="2400" b="1" dirty="0">
              <a:solidFill>
                <a:schemeClr val="tx2"/>
              </a:solidFill>
              <a:ea typeface="宋体" panose="02010600030101010101" pitchFamily="2" charset="-122"/>
              <a:sym typeface="+mn-ea"/>
            </a:endParaRPr>
          </a:p>
          <a:p>
            <a:pPr>
              <a:lnSpc>
                <a:spcPct val="150000"/>
              </a:lnSpc>
              <a:spcBef>
                <a:spcPct val="20000"/>
              </a:spcBef>
              <a:buClr>
                <a:schemeClr val="folHlink"/>
              </a:buClr>
            </a:pPr>
            <a:r>
              <a:rPr lang="zh-CN" altLang="en-US" sz="2400" b="1" dirty="0">
                <a:solidFill>
                  <a:schemeClr val="tx2"/>
                </a:solidFill>
                <a:ea typeface="宋体" panose="02010600030101010101" pitchFamily="2" charset="-122"/>
                <a:sym typeface="+mn-ea"/>
                <a:hlinkClick r:id="rId7" action="ppaction://hlinksldjump"/>
              </a:rPr>
              <a:t>零点残余电压</a:t>
            </a:r>
            <a:endParaRPr lang="zh-CN" altLang="en-US" sz="2400" b="1" dirty="0">
              <a:solidFill>
                <a:schemeClr val="tx2"/>
              </a:solidFill>
              <a:ea typeface="宋体" panose="02010600030101010101" pitchFamily="2" charset="-122"/>
              <a:sym typeface="+mn-ea"/>
            </a:endParaRPr>
          </a:p>
          <a:p>
            <a:pPr>
              <a:lnSpc>
                <a:spcPct val="150000"/>
              </a:lnSpc>
              <a:spcBef>
                <a:spcPct val="20000"/>
              </a:spcBef>
              <a:buClr>
                <a:schemeClr val="folHlink"/>
              </a:buClr>
            </a:pPr>
            <a:r>
              <a:rPr lang="zh-CN" altLang="en-US" sz="2400" b="1" dirty="0">
                <a:solidFill>
                  <a:schemeClr val="tx2"/>
                </a:solidFill>
                <a:ea typeface="宋体" panose="02010600030101010101" pitchFamily="2" charset="-122"/>
                <a:sym typeface="+mn-ea"/>
                <a:hlinkClick r:id="rId8" action="ppaction://hlinksldjump"/>
              </a:rPr>
              <a:t>自感式传感器的特点及应用</a:t>
            </a:r>
            <a:endParaRPr lang="zh-CN" altLang="en-US" sz="2400" b="1" dirty="0">
              <a:solidFill>
                <a:schemeClr val="tx2"/>
              </a:solidFill>
              <a:ea typeface="宋体" panose="02010600030101010101" pitchFamily="2" charset="-122"/>
              <a:sym typeface="+mn-ea"/>
            </a:endParaRPr>
          </a:p>
        </p:txBody>
      </p:sp>
      <p:sp>
        <p:nvSpPr>
          <p:cNvPr id="25" name="文本框 24"/>
          <p:cNvSpPr txBox="1"/>
          <p:nvPr/>
        </p:nvSpPr>
        <p:spPr>
          <a:xfrm>
            <a:off x="1571711" y="1394691"/>
            <a:ext cx="5832266" cy="830997"/>
          </a:xfrm>
          <a:prstGeom prst="rect">
            <a:avLst/>
          </a:prstGeom>
          <a:noFill/>
        </p:spPr>
        <p:txBody>
          <a:bodyPr wrap="square" rtlCol="0">
            <a:spAutoFit/>
          </a:bodyPr>
          <a:lstStyle/>
          <a:p>
            <a:pPr marL="1527175" indent="-1527175"/>
            <a:r>
              <a:rPr lang="zh-CN" altLang="en-US" sz="2400" b="1" dirty="0">
                <a:solidFill>
                  <a:srgbClr val="C00000"/>
                </a:solidFill>
                <a:latin typeface="宋体" panose="02010600030101010101" pitchFamily="2" charset="-122"/>
                <a:ea typeface="宋体" panose="02010600030101010101" pitchFamily="2" charset="-122"/>
              </a:rPr>
              <a:t>英文名称：</a:t>
            </a:r>
            <a:r>
              <a:rPr lang="en-US" altLang="zh-CN" sz="2400" b="1" dirty="0">
                <a:solidFill>
                  <a:srgbClr val="C00000"/>
                </a:solidFill>
                <a:latin typeface="宋体" panose="02010600030101010101" pitchFamily="2" charset="-122"/>
                <a:ea typeface="宋体" panose="02010600030101010101" pitchFamily="2" charset="-122"/>
              </a:rPr>
              <a:t>Variable Reluctance Sensor</a:t>
            </a:r>
            <a:r>
              <a:rPr lang="zh-CN" altLang="en-US" sz="2400" b="1" dirty="0">
                <a:solidFill>
                  <a:srgbClr val="C00000"/>
                </a:solidFill>
                <a:latin typeface="宋体" panose="02010600030101010101" pitchFamily="2" charset="-122"/>
                <a:ea typeface="宋体" panose="02010600030101010101" pitchFamily="2" charset="-122"/>
              </a:rPr>
              <a:t>（变磁阻式传感器）</a:t>
            </a:r>
          </a:p>
        </p:txBody>
      </p:sp>
      <p:sp>
        <p:nvSpPr>
          <p:cNvPr id="20" name="圆角矩形 72">
            <a:extLst>
              <a:ext uri="{FF2B5EF4-FFF2-40B4-BE49-F238E27FC236}">
                <a16:creationId xmlns:a16="http://schemas.microsoft.com/office/drawing/2014/main" id="{343D7C8A-72E9-4E11-82F9-04D1F37F1B07}"/>
              </a:ext>
            </a:extLst>
          </p:cNvPr>
          <p:cNvSpPr/>
          <p:nvPr/>
        </p:nvSpPr>
        <p:spPr>
          <a:xfrm rot="10800000" flipV="1">
            <a:off x="1719380" y="2525078"/>
            <a:ext cx="100228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3.1.1</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1" name="圆角矩形 73">
            <a:extLst>
              <a:ext uri="{FF2B5EF4-FFF2-40B4-BE49-F238E27FC236}">
                <a16:creationId xmlns:a16="http://schemas.microsoft.com/office/drawing/2014/main" id="{7997A031-0667-4F3B-9AA0-BAB02B443096}"/>
              </a:ext>
            </a:extLst>
          </p:cNvPr>
          <p:cNvSpPr/>
          <p:nvPr/>
        </p:nvSpPr>
        <p:spPr>
          <a:xfrm rot="10800000" flipV="1">
            <a:off x="1719376" y="3157821"/>
            <a:ext cx="1002285"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3.1.2</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2" name="圆角矩形 72">
            <a:extLst>
              <a:ext uri="{FF2B5EF4-FFF2-40B4-BE49-F238E27FC236}">
                <a16:creationId xmlns:a16="http://schemas.microsoft.com/office/drawing/2014/main" id="{343D7C8A-72E9-4E11-82F9-04D1F37F1B07}"/>
              </a:ext>
            </a:extLst>
          </p:cNvPr>
          <p:cNvSpPr/>
          <p:nvPr/>
        </p:nvSpPr>
        <p:spPr>
          <a:xfrm rot="10800000" flipV="1">
            <a:off x="1719375" y="3768294"/>
            <a:ext cx="100228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3.1.3</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3" name="圆角矩形 73">
            <a:extLst>
              <a:ext uri="{FF2B5EF4-FFF2-40B4-BE49-F238E27FC236}">
                <a16:creationId xmlns:a16="http://schemas.microsoft.com/office/drawing/2014/main" id="{7997A031-0667-4F3B-9AA0-BAB02B443096}"/>
              </a:ext>
            </a:extLst>
          </p:cNvPr>
          <p:cNvSpPr/>
          <p:nvPr/>
        </p:nvSpPr>
        <p:spPr>
          <a:xfrm rot="10800000" flipV="1">
            <a:off x="1719371" y="4390979"/>
            <a:ext cx="1002285"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a:latin typeface="Arial" panose="020B0604020202020204" pitchFamily="34" charset="0"/>
                <a:ea typeface="宋体" panose="02010600030101010101" pitchFamily="2" charset="-122"/>
                <a:cs typeface="Arial" panose="020B0604020202020204" pitchFamily="34" charset="0"/>
              </a:rPr>
              <a:t>3.1.4</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8" name="圆角矩形 72">
            <a:extLst>
              <a:ext uri="{FF2B5EF4-FFF2-40B4-BE49-F238E27FC236}">
                <a16:creationId xmlns:a16="http://schemas.microsoft.com/office/drawing/2014/main" id="{343D7C8A-72E9-4E11-82F9-04D1F37F1B07}"/>
              </a:ext>
            </a:extLst>
          </p:cNvPr>
          <p:cNvSpPr/>
          <p:nvPr/>
        </p:nvSpPr>
        <p:spPr>
          <a:xfrm rot="10800000" flipV="1">
            <a:off x="1713670" y="5016622"/>
            <a:ext cx="100228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3.1.5</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9" name="圆角矩形 73">
            <a:extLst>
              <a:ext uri="{FF2B5EF4-FFF2-40B4-BE49-F238E27FC236}">
                <a16:creationId xmlns:a16="http://schemas.microsoft.com/office/drawing/2014/main" id="{7997A031-0667-4F3B-9AA0-BAB02B443096}"/>
              </a:ext>
            </a:extLst>
          </p:cNvPr>
          <p:cNvSpPr/>
          <p:nvPr/>
        </p:nvSpPr>
        <p:spPr>
          <a:xfrm rot="10800000" flipV="1">
            <a:off x="1713669" y="5647757"/>
            <a:ext cx="1002285"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3.1.6</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 name="Slide Number Placeholder 1">
            <a:extLst>
              <a:ext uri="{FF2B5EF4-FFF2-40B4-BE49-F238E27FC236}">
                <a16:creationId xmlns:a16="http://schemas.microsoft.com/office/drawing/2014/main" id="{0DEEA1F9-9C94-44F4-A24A-A67D2C3929E8}"/>
              </a:ext>
            </a:extLst>
          </p:cNvPr>
          <p:cNvSpPr>
            <a:spLocks noGrp="1"/>
          </p:cNvSpPr>
          <p:nvPr>
            <p:ph type="sldNum" sz="quarter" idx="12"/>
          </p:nvPr>
        </p:nvSpPr>
        <p:spPr/>
        <p:txBody>
          <a:bodyPr/>
          <a:lstStyle/>
          <a:p>
            <a:fld id="{B53602B4-F12B-41CD-B648-531F86B2CC91}" type="slidenum">
              <a:rPr lang="zh-CN" altLang="en-US" smtClean="0"/>
              <a:t>4</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3.1.1</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自感式传感器的工作原理</a:t>
            </a:r>
          </a:p>
        </p:txBody>
      </p:sp>
      <mc:AlternateContent xmlns:mc="http://schemas.openxmlformats.org/markup-compatibility/2006" xmlns:a14="http://schemas.microsoft.com/office/drawing/2010/main">
        <mc:Choice Requires="a14">
          <p:sp>
            <p:nvSpPr>
              <p:cNvPr id="3" name="文本框 2"/>
              <p:cNvSpPr txBox="1"/>
              <p:nvPr/>
            </p:nvSpPr>
            <p:spPr>
              <a:xfrm>
                <a:off x="5881642" y="5097494"/>
                <a:ext cx="2282933" cy="107176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rPr>
                        <m:t>𝐿</m:t>
                      </m:r>
                      <m:r>
                        <a:rPr lang="en-US" altLang="zh-CN" sz="3200" i="1" smtClean="0">
                          <a:latin typeface="Cambria Math" panose="02040503050406030204" pitchFamily="18" charset="0"/>
                        </a:rPr>
                        <m:t>=</m:t>
                      </m:r>
                      <m:f>
                        <m:fPr>
                          <m:ctrlPr>
                            <a:rPr lang="en-US" altLang="zh-CN" sz="3200" i="1" smtClean="0">
                              <a:latin typeface="Cambria Math" panose="02040503050406030204" pitchFamily="18" charset="0"/>
                            </a:rPr>
                          </m:ctrlPr>
                        </m:fPr>
                        <m:num>
                          <m:sSup>
                            <m:sSupPr>
                              <m:ctrlPr>
                                <a:rPr lang="en-US" altLang="zh-CN" sz="3200" i="1" smtClean="0">
                                  <a:latin typeface="Cambria Math" panose="02040503050406030204" pitchFamily="18" charset="0"/>
                                </a:rPr>
                              </m:ctrlPr>
                            </m:sSupPr>
                            <m:e>
                              <m:r>
                                <a:rPr lang="en-US" altLang="zh-CN" sz="3200" b="0" i="1" smtClean="0">
                                  <a:latin typeface="Cambria Math" panose="02040503050406030204" pitchFamily="18" charset="0"/>
                                </a:rPr>
                                <m:t>𝑊</m:t>
                              </m:r>
                            </m:e>
                            <m:sup>
                              <m:r>
                                <a:rPr lang="en-US" altLang="zh-CN" sz="3200" b="0" i="1" smtClean="0">
                                  <a:latin typeface="Cambria Math" panose="02040503050406030204" pitchFamily="18" charset="0"/>
                                </a:rPr>
                                <m:t>2</m:t>
                              </m:r>
                            </m:sup>
                          </m:sSup>
                          <m:sSub>
                            <m:sSubPr>
                              <m:ctrlPr>
                                <a:rPr lang="en-US" altLang="zh-CN" sz="3200" i="1" smtClean="0">
                                  <a:latin typeface="Cambria Math" panose="02040503050406030204" pitchFamily="18" charset="0"/>
                                </a:rPr>
                              </m:ctrlPr>
                            </m:sSubPr>
                            <m:e>
                              <m:r>
                                <a:rPr lang="zh-CN" altLang="en-US" sz="3200" i="1" smtClean="0">
                                  <a:latin typeface="Cambria Math" panose="02040503050406030204" pitchFamily="18" charset="0"/>
                                </a:rPr>
                                <m:t>𝜇</m:t>
                              </m:r>
                            </m:e>
                            <m:sub>
                              <m:r>
                                <a:rPr lang="en-US" altLang="zh-CN" sz="3200" b="0" i="1" smtClean="0">
                                  <a:latin typeface="Cambria Math" panose="02040503050406030204" pitchFamily="18" charset="0"/>
                                </a:rPr>
                                <m:t>0</m:t>
                              </m:r>
                            </m:sub>
                          </m:sSub>
                          <m:sSub>
                            <m:sSubPr>
                              <m:ctrlPr>
                                <a:rPr lang="en-US" altLang="zh-CN" sz="3200" i="1" smtClean="0">
                                  <a:latin typeface="Cambria Math" panose="02040503050406030204" pitchFamily="18" charset="0"/>
                                </a:rPr>
                              </m:ctrlPr>
                            </m:sSubPr>
                            <m:e>
                              <m:r>
                                <a:rPr lang="en-US" altLang="zh-CN" sz="3200" b="0" i="1" smtClean="0">
                                  <a:latin typeface="Cambria Math" panose="02040503050406030204" pitchFamily="18" charset="0"/>
                                </a:rPr>
                                <m:t>𝑆</m:t>
                              </m:r>
                            </m:e>
                            <m:sub>
                              <m:r>
                                <a:rPr lang="en-US" altLang="zh-CN" sz="3200" b="0" i="1" smtClean="0">
                                  <a:latin typeface="Cambria Math" panose="02040503050406030204" pitchFamily="18" charset="0"/>
                                </a:rPr>
                                <m:t>0</m:t>
                              </m:r>
                            </m:sub>
                          </m:sSub>
                        </m:num>
                        <m:den>
                          <m:r>
                            <a:rPr lang="en-US" altLang="zh-CN" sz="3200" i="1" smtClean="0">
                              <a:latin typeface="Cambria Math" panose="02040503050406030204" pitchFamily="18" charset="0"/>
                            </a:rPr>
                            <m:t>2</m:t>
                          </m:r>
                          <m:sSub>
                            <m:sSubPr>
                              <m:ctrlPr>
                                <a:rPr lang="en-US" altLang="zh-CN" sz="3200" i="1" smtClean="0">
                                  <a:latin typeface="Cambria Math" panose="02040503050406030204" pitchFamily="18" charset="0"/>
                                </a:rPr>
                              </m:ctrlPr>
                            </m:sSubPr>
                            <m:e>
                              <m:r>
                                <a:rPr lang="en-US" altLang="zh-CN" sz="3200" b="0" i="1" smtClean="0">
                                  <a:latin typeface="Cambria Math" panose="02040503050406030204" pitchFamily="18" charset="0"/>
                                </a:rPr>
                                <m:t>𝑙</m:t>
                              </m:r>
                            </m:e>
                            <m:sub>
                              <m:r>
                                <a:rPr lang="en-US" altLang="zh-CN" sz="3200" b="0" i="1" smtClean="0">
                                  <a:latin typeface="Cambria Math" panose="02040503050406030204" pitchFamily="18" charset="0"/>
                                </a:rPr>
                                <m:t>0</m:t>
                              </m:r>
                            </m:sub>
                          </m:sSub>
                        </m:den>
                      </m:f>
                    </m:oMath>
                  </m:oMathPara>
                </a14:m>
                <a:endParaRPr lang="zh-CN" altLang="en-US" sz="3200" dirty="0"/>
              </a:p>
            </p:txBody>
          </p:sp>
        </mc:Choice>
        <mc:Fallback xmlns="">
          <p:sp>
            <p:nvSpPr>
              <p:cNvPr id="3" name="文本框 2"/>
              <p:cNvSpPr txBox="1">
                <a:spLocks noRot="1" noChangeAspect="1" noMove="1" noResize="1" noEditPoints="1" noAdjustHandles="1" noChangeArrowheads="1" noChangeShapeType="1" noTextEdit="1"/>
              </p:cNvSpPr>
              <p:nvPr/>
            </p:nvSpPr>
            <p:spPr>
              <a:xfrm>
                <a:off x="5881642" y="5097494"/>
                <a:ext cx="2282933" cy="1071768"/>
              </a:xfrm>
              <a:prstGeom prst="rect">
                <a:avLst/>
              </a:prstGeom>
              <a:blipFill>
                <a:blip r:embed="rId3"/>
                <a:stretch>
                  <a:fillRect/>
                </a:stretch>
              </a:blipFill>
            </p:spPr>
            <p:txBody>
              <a:bodyPr/>
              <a:lstStyle/>
              <a:p>
                <a:r>
                  <a:rPr lang="en-001">
                    <a:noFill/>
                  </a:rPr>
                  <a:t> </a:t>
                </a:r>
              </a:p>
            </p:txBody>
          </p:sp>
        </mc:Fallback>
      </mc:AlternateContent>
      <p:sp>
        <p:nvSpPr>
          <p:cNvPr id="4" name="矩形 3"/>
          <p:cNvSpPr/>
          <p:nvPr/>
        </p:nvSpPr>
        <p:spPr>
          <a:xfrm>
            <a:off x="671142" y="4779502"/>
            <a:ext cx="4617496" cy="1800493"/>
          </a:xfrm>
          <a:prstGeom prst="rect">
            <a:avLst/>
          </a:prstGeom>
          <a:solidFill>
            <a:schemeClr val="accent2"/>
          </a:solidFill>
        </p:spPr>
        <p:txBody>
          <a:bodyPr wrap="square">
            <a:spAutoFit/>
          </a:bodyPr>
          <a:lstStyle/>
          <a:p>
            <a:pPr>
              <a:spcAft>
                <a:spcPts val="600"/>
              </a:spcAft>
            </a:pPr>
            <a:r>
              <a:rPr lang="zh-CN" altLang="en-US" sz="2400" b="1">
                <a:solidFill>
                  <a:schemeClr val="bg1"/>
                </a:solidFill>
                <a:latin typeface="Arial" panose="020B0604020202020204" pitchFamily="34" charset="0"/>
                <a:ea typeface="宋体" panose="02010600030101010101" pitchFamily="2" charset="-122"/>
                <a:cs typeface="Arial" panose="020B0604020202020204" pitchFamily="34" charset="0"/>
                <a:sym typeface="+mn-ea"/>
              </a:rPr>
              <a:t>电感值与以下几个参数有关：</a:t>
            </a:r>
            <a:endParaRPr lang="en-US" altLang="zh-CN" sz="2400" b="1">
              <a:solidFill>
                <a:schemeClr val="bg1"/>
              </a:solidFill>
              <a:latin typeface="Arial" panose="020B0604020202020204" pitchFamily="34" charset="0"/>
              <a:ea typeface="宋体" panose="02010600030101010101" pitchFamily="2" charset="-122"/>
              <a:cs typeface="Arial" panose="020B0604020202020204" pitchFamily="34" charset="0"/>
              <a:sym typeface="+mn-ea"/>
            </a:endParaRPr>
          </a:p>
          <a:p>
            <a:pPr marL="342900" indent="-342900">
              <a:spcAft>
                <a:spcPts val="600"/>
              </a:spcAft>
              <a:buFont typeface="Wingdings" panose="05000000000000000000" pitchFamily="2" charset="2"/>
              <a:buChar char="§"/>
            </a:pPr>
            <a:r>
              <a:rPr lang="zh-CN" altLang="en-US" sz="2400" b="1">
                <a:solidFill>
                  <a:schemeClr val="bg1"/>
                </a:solidFill>
                <a:latin typeface="Arial" panose="020B0604020202020204" pitchFamily="34" charset="0"/>
                <a:ea typeface="宋体" panose="02010600030101010101" pitchFamily="2" charset="-122"/>
                <a:cs typeface="Arial" panose="020B0604020202020204" pitchFamily="34" charset="0"/>
                <a:sym typeface="+mn-ea"/>
              </a:rPr>
              <a:t>与线圈匝数</a:t>
            </a:r>
            <a:r>
              <a:rPr lang="en-US" altLang="zh-CN" sz="2400" i="1">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ea"/>
              </a:rPr>
              <a:t>W</a:t>
            </a:r>
            <a:r>
              <a:rPr lang="zh-CN" altLang="en-US" sz="2400" b="1">
                <a:solidFill>
                  <a:schemeClr val="bg1"/>
                </a:solidFill>
                <a:latin typeface="Arial" panose="020B0604020202020204" pitchFamily="34" charset="0"/>
                <a:ea typeface="宋体" panose="02010600030101010101" pitchFamily="2" charset="-122"/>
                <a:cs typeface="Arial" panose="020B0604020202020204" pitchFamily="34" charset="0"/>
                <a:sym typeface="+mn-ea"/>
              </a:rPr>
              <a:t>平方呈正比；</a:t>
            </a:r>
            <a:endParaRPr lang="en-US" altLang="zh-CN" sz="2400" b="1">
              <a:solidFill>
                <a:schemeClr val="bg1"/>
              </a:solidFill>
              <a:latin typeface="Arial" panose="020B0604020202020204" pitchFamily="34" charset="0"/>
              <a:ea typeface="宋体" panose="02010600030101010101" pitchFamily="2" charset="-122"/>
              <a:cs typeface="Arial" panose="020B0604020202020204" pitchFamily="34" charset="0"/>
              <a:sym typeface="+mn-ea"/>
            </a:endParaRPr>
          </a:p>
          <a:p>
            <a:pPr marL="342900" indent="-342900">
              <a:spcAft>
                <a:spcPts val="600"/>
              </a:spcAft>
              <a:buFont typeface="Wingdings" panose="05000000000000000000" pitchFamily="2" charset="2"/>
              <a:buChar char="§"/>
            </a:pPr>
            <a:r>
              <a:rPr lang="zh-CN" altLang="en-US" sz="2400" b="1">
                <a:solidFill>
                  <a:schemeClr val="bg1"/>
                </a:solidFill>
                <a:latin typeface="Arial" panose="020B0604020202020204" pitchFamily="34" charset="0"/>
                <a:ea typeface="宋体" panose="02010600030101010101" pitchFamily="2" charset="-122"/>
                <a:cs typeface="Arial" panose="020B0604020202020204" pitchFamily="34" charset="0"/>
                <a:sym typeface="+mn-ea"/>
              </a:rPr>
              <a:t>与空气隙有效截面积</a:t>
            </a:r>
            <a:r>
              <a:rPr lang="en-US" altLang="zh-CN" sz="2400" i="1">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ea"/>
              </a:rPr>
              <a:t>S</a:t>
            </a:r>
            <a:r>
              <a:rPr lang="en-US" altLang="zh-CN" sz="2400" baseline="-2500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ea"/>
              </a:rPr>
              <a:t>0</a:t>
            </a:r>
            <a:r>
              <a:rPr lang="zh-CN" altLang="en-US" sz="2400" b="1">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ea"/>
              </a:rPr>
              <a:t>呈</a:t>
            </a:r>
            <a:r>
              <a:rPr lang="zh-CN" altLang="en-US" sz="2400" b="1">
                <a:solidFill>
                  <a:schemeClr val="bg1"/>
                </a:solidFill>
                <a:latin typeface="Arial" panose="020B0604020202020204" pitchFamily="34" charset="0"/>
                <a:ea typeface="宋体" panose="02010600030101010101" pitchFamily="2" charset="-122"/>
                <a:cs typeface="Arial" panose="020B0604020202020204" pitchFamily="34" charset="0"/>
                <a:sym typeface="+mn-ea"/>
              </a:rPr>
              <a:t>正比；</a:t>
            </a:r>
            <a:endParaRPr lang="en-US" altLang="zh-CN" sz="2400" b="1">
              <a:solidFill>
                <a:schemeClr val="bg1"/>
              </a:solidFill>
              <a:latin typeface="Arial" panose="020B0604020202020204" pitchFamily="34" charset="0"/>
              <a:ea typeface="宋体" panose="02010600030101010101" pitchFamily="2" charset="-122"/>
              <a:cs typeface="Arial" panose="020B0604020202020204" pitchFamily="34" charset="0"/>
              <a:sym typeface="+mn-ea"/>
            </a:endParaRPr>
          </a:p>
          <a:p>
            <a:pPr marL="342900" indent="-342900">
              <a:spcAft>
                <a:spcPts val="600"/>
              </a:spcAft>
              <a:buFont typeface="Wingdings" panose="05000000000000000000" pitchFamily="2" charset="2"/>
              <a:buChar char="§"/>
            </a:pPr>
            <a:r>
              <a:rPr lang="zh-CN" altLang="en-US" sz="2400" b="1">
                <a:solidFill>
                  <a:schemeClr val="bg1"/>
                </a:solidFill>
                <a:latin typeface="Arial" panose="020B0604020202020204" pitchFamily="34" charset="0"/>
                <a:ea typeface="宋体" panose="02010600030101010101" pitchFamily="2" charset="-122"/>
                <a:cs typeface="Arial" panose="020B0604020202020204" pitchFamily="34" charset="0"/>
                <a:sym typeface="+mn-ea"/>
              </a:rPr>
              <a:t>与空气隙长度</a:t>
            </a:r>
            <a:r>
              <a:rPr lang="en-US" altLang="zh-CN" sz="2400" i="1">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ea"/>
              </a:rPr>
              <a:t>l</a:t>
            </a:r>
            <a:r>
              <a:rPr lang="en-US" altLang="zh-CN" sz="2400" baseline="-2500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ea"/>
              </a:rPr>
              <a:t>0</a:t>
            </a:r>
            <a:r>
              <a:rPr lang="zh-CN" altLang="en-US" sz="2400" b="1">
                <a:solidFill>
                  <a:schemeClr val="bg1"/>
                </a:solidFill>
                <a:latin typeface="Arial" panose="020B0604020202020204" pitchFamily="34" charset="0"/>
                <a:ea typeface="宋体" panose="02010600030101010101" pitchFamily="2" charset="-122"/>
                <a:cs typeface="Arial" panose="020B0604020202020204" pitchFamily="34" charset="0"/>
                <a:sym typeface="+mn-ea"/>
              </a:rPr>
              <a:t>呈反比。</a:t>
            </a:r>
            <a:endParaRPr lang="zh-CN" altLang="en-US" sz="2400" b="1" dirty="0">
              <a:solidFill>
                <a:schemeClr val="bg1"/>
              </a:solidFill>
              <a:latin typeface="Arial" panose="020B0604020202020204" pitchFamily="34" charset="0"/>
              <a:ea typeface="宋体" panose="02010600030101010101" pitchFamily="2" charset="-122"/>
              <a:cs typeface="Arial" panose="020B0604020202020204" pitchFamily="34" charset="0"/>
              <a:sym typeface="+mn-ea"/>
            </a:endParaRPr>
          </a:p>
        </p:txBody>
      </p:sp>
      <p:pic>
        <p:nvPicPr>
          <p:cNvPr id="7" name="Picture 6">
            <a:extLst>
              <a:ext uri="{FF2B5EF4-FFF2-40B4-BE49-F238E27FC236}">
                <a16:creationId xmlns:a16="http://schemas.microsoft.com/office/drawing/2014/main" id="{7E5CFDD3-35C6-48EF-A92B-4AEF69CD070C}"/>
              </a:ext>
            </a:extLst>
          </p:cNvPr>
          <p:cNvPicPr>
            <a:picLocks noChangeAspect="1"/>
          </p:cNvPicPr>
          <p:nvPr/>
        </p:nvPicPr>
        <p:blipFill>
          <a:blip r:embed="rId4"/>
          <a:stretch>
            <a:fillRect/>
          </a:stretch>
        </p:blipFill>
        <p:spPr>
          <a:xfrm>
            <a:off x="5487877" y="1778700"/>
            <a:ext cx="2941598" cy="1052382"/>
          </a:xfrm>
          <a:prstGeom prst="rect">
            <a:avLst/>
          </a:prstGeom>
        </p:spPr>
      </p:pic>
      <p:sp>
        <p:nvSpPr>
          <p:cNvPr id="19" name="TextBox 18">
            <a:extLst>
              <a:ext uri="{FF2B5EF4-FFF2-40B4-BE49-F238E27FC236}">
                <a16:creationId xmlns:a16="http://schemas.microsoft.com/office/drawing/2014/main" id="{C56922F0-6114-4B06-B64D-E4119D4CE8A0}"/>
              </a:ext>
            </a:extLst>
          </p:cNvPr>
          <p:cNvSpPr txBox="1"/>
          <p:nvPr/>
        </p:nvSpPr>
        <p:spPr>
          <a:xfrm>
            <a:off x="5487877" y="1317034"/>
            <a:ext cx="2676698" cy="461665"/>
          </a:xfrm>
          <a:prstGeom prst="rect">
            <a:avLst/>
          </a:prstGeom>
          <a:noFill/>
        </p:spPr>
        <p:txBody>
          <a:bodyPr wrap="square">
            <a:spAutoFit/>
          </a:bodyPr>
          <a:lstStyle/>
          <a:p>
            <a:r>
              <a:rPr lang="en-001" sz="2400" b="1"/>
              <a:t>电感值表达式为</a:t>
            </a:r>
          </a:p>
        </p:txBody>
      </p:sp>
      <p:grpSp>
        <p:nvGrpSpPr>
          <p:cNvPr id="15" name="Group 14">
            <a:extLst>
              <a:ext uri="{FF2B5EF4-FFF2-40B4-BE49-F238E27FC236}">
                <a16:creationId xmlns:a16="http://schemas.microsoft.com/office/drawing/2014/main" id="{25E72F7D-1C08-4A41-9CB5-BE68BAB5366C}"/>
              </a:ext>
            </a:extLst>
          </p:cNvPr>
          <p:cNvGrpSpPr/>
          <p:nvPr/>
        </p:nvGrpSpPr>
        <p:grpSpPr>
          <a:xfrm>
            <a:off x="148773" y="1317035"/>
            <a:ext cx="5153289" cy="3283781"/>
            <a:chOff x="0" y="1206741"/>
            <a:chExt cx="5153289" cy="3283781"/>
          </a:xfrm>
        </p:grpSpPr>
        <p:sp>
          <p:nvSpPr>
            <p:cNvPr id="8" name="Text Box 9">
              <a:extLst>
                <a:ext uri="{FF2B5EF4-FFF2-40B4-BE49-F238E27FC236}">
                  <a16:creationId xmlns:a16="http://schemas.microsoft.com/office/drawing/2014/main" id="{1E4234F1-922C-42AB-83D8-13BB706C2798}"/>
                </a:ext>
              </a:extLst>
            </p:cNvPr>
            <p:cNvSpPr txBox="1">
              <a:spLocks noChangeArrowheads="1"/>
            </p:cNvSpPr>
            <p:nvPr/>
          </p:nvSpPr>
          <p:spPr bwMode="auto">
            <a:xfrm>
              <a:off x="788108" y="4148890"/>
              <a:ext cx="4365181" cy="34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ct val="90000"/>
                </a:lnSpc>
                <a:spcBef>
                  <a:spcPct val="20000"/>
                </a:spcBef>
              </a:pPr>
              <a:r>
                <a:rPr lang="zh-CN" altLang="en-US" sz="1800" b="1" dirty="0">
                  <a:solidFill>
                    <a:srgbClr val="3333CC"/>
                  </a:solidFill>
                  <a:latin typeface="宋体" charset="-122"/>
                </a:rPr>
                <a:t>图</a:t>
              </a:r>
              <a:r>
                <a:rPr lang="en-US" altLang="zh-CN" sz="1800" b="1" dirty="0">
                  <a:solidFill>
                    <a:srgbClr val="3333CC"/>
                  </a:solidFill>
                  <a:latin typeface="宋体" charset="-122"/>
                </a:rPr>
                <a:t>3-l  </a:t>
              </a:r>
              <a:r>
                <a:rPr lang="zh-CN" altLang="en-US" sz="1800" b="1" dirty="0">
                  <a:solidFill>
                    <a:srgbClr val="3333CC"/>
                  </a:solidFill>
                  <a:latin typeface="宋体" charset="-122"/>
                </a:rPr>
                <a:t>气隙型自感式传感器的原理结构</a:t>
              </a:r>
              <a:endParaRPr kumimoji="0" lang="en-US" altLang="zh-CN" sz="1800" b="1" dirty="0">
                <a:solidFill>
                  <a:srgbClr val="3333CC"/>
                </a:solidFill>
              </a:endParaRPr>
            </a:p>
          </p:txBody>
        </p:sp>
        <p:pic>
          <p:nvPicPr>
            <p:cNvPr id="2" name="Picture 1">
              <a:extLst>
                <a:ext uri="{FF2B5EF4-FFF2-40B4-BE49-F238E27FC236}">
                  <a16:creationId xmlns:a16="http://schemas.microsoft.com/office/drawing/2014/main" id="{11380C6D-209E-44A0-8C3E-DCC4D8A3417D}"/>
                </a:ext>
              </a:extLst>
            </p:cNvPr>
            <p:cNvPicPr>
              <a:picLocks noChangeAspect="1"/>
            </p:cNvPicPr>
            <p:nvPr/>
          </p:nvPicPr>
          <p:blipFill rotWithShape="1">
            <a:blip r:embed="rId5"/>
            <a:srcRect l="3910" t="13029" r="8937"/>
            <a:stretch/>
          </p:blipFill>
          <p:spPr>
            <a:xfrm>
              <a:off x="966304" y="1628663"/>
              <a:ext cx="3886284" cy="1915233"/>
            </a:xfrm>
            <a:prstGeom prst="rect">
              <a:avLst/>
            </a:prstGeom>
          </p:spPr>
        </p:pic>
        <p:sp>
          <p:nvSpPr>
            <p:cNvPr id="14" name="TextBox 13">
              <a:extLst>
                <a:ext uri="{FF2B5EF4-FFF2-40B4-BE49-F238E27FC236}">
                  <a16:creationId xmlns:a16="http://schemas.microsoft.com/office/drawing/2014/main" id="{BA0E9604-F128-4D98-A0C8-CA7DD78BA7AF}"/>
                </a:ext>
              </a:extLst>
            </p:cNvPr>
            <p:cNvSpPr txBox="1"/>
            <p:nvPr/>
          </p:nvSpPr>
          <p:spPr>
            <a:xfrm>
              <a:off x="1159567" y="1206741"/>
              <a:ext cx="3499758" cy="461665"/>
            </a:xfrm>
            <a:prstGeom prst="rect">
              <a:avLst/>
            </a:prstGeom>
            <a:noFill/>
          </p:spPr>
          <p:txBody>
            <a:bodyPr wrap="square">
              <a:spAutoFit/>
            </a:bodyPr>
            <a:lstStyle/>
            <a:p>
              <a:pPr algn="ctr"/>
              <a:r>
                <a:rPr lang="en-001" sz="2400" b="1">
                  <a:latin typeface="Arial" panose="020B0604020202020204" pitchFamily="34" charset="0"/>
                  <a:ea typeface="宋体" panose="02010600030101010101" pitchFamily="2" charset="-122"/>
                  <a:cs typeface="Arial" panose="020B0604020202020204" pitchFamily="34" charset="0"/>
                </a:rPr>
                <a:t>B为动铁心（通称衔铁）</a:t>
              </a:r>
            </a:p>
          </p:txBody>
        </p:sp>
        <p:sp>
          <p:nvSpPr>
            <p:cNvPr id="16" name="TextBox 15">
              <a:extLst>
                <a:ext uri="{FF2B5EF4-FFF2-40B4-BE49-F238E27FC236}">
                  <a16:creationId xmlns:a16="http://schemas.microsoft.com/office/drawing/2014/main" id="{770CA01D-7939-4F97-9E8B-28509A87FAD9}"/>
                </a:ext>
              </a:extLst>
            </p:cNvPr>
            <p:cNvSpPr txBox="1"/>
            <p:nvPr/>
          </p:nvSpPr>
          <p:spPr>
            <a:xfrm>
              <a:off x="1027557" y="3582098"/>
              <a:ext cx="3999202" cy="461665"/>
            </a:xfrm>
            <a:prstGeom prst="rect">
              <a:avLst/>
            </a:prstGeom>
            <a:noFill/>
          </p:spPr>
          <p:txBody>
            <a:bodyPr wrap="square">
              <a:spAutoFit/>
            </a:bodyPr>
            <a:lstStyle>
              <a:defPPr>
                <a:defRPr lang="zh-CN"/>
              </a:defPPr>
              <a:lvl1pPr algn="ctr">
                <a:defRPr sz="2400" b="1">
                  <a:latin typeface="Arial" panose="020B0604020202020204" pitchFamily="34" charset="0"/>
                  <a:ea typeface="宋体" panose="02010600030101010101" pitchFamily="2" charset="-122"/>
                  <a:cs typeface="Arial" panose="020B0604020202020204" pitchFamily="34" charset="0"/>
                </a:defRPr>
              </a:lvl1pPr>
            </a:lstStyle>
            <a:p>
              <a:r>
                <a:rPr lang="en-001" dirty="0"/>
                <a:t>A为固定铁心</a:t>
              </a:r>
              <a:r>
                <a:rPr lang="en-US" dirty="0"/>
                <a:t>,</a:t>
              </a:r>
              <a:r>
                <a:rPr lang="ja-JP" altLang="en-US" dirty="0"/>
                <a:t>绕有</a:t>
              </a:r>
              <a:r>
                <a:rPr lang="en-US" i="1" dirty="0"/>
                <a:t>W </a:t>
              </a:r>
              <a:r>
                <a:rPr lang="zh-CN" altLang="en-US" dirty="0"/>
                <a:t>匝</a:t>
              </a:r>
              <a:r>
                <a:rPr lang="ja-JP" altLang="en-US" dirty="0"/>
                <a:t>线圈</a:t>
              </a:r>
              <a:endParaRPr lang="en-001" dirty="0"/>
            </a:p>
          </p:txBody>
        </p:sp>
        <p:sp>
          <p:nvSpPr>
            <p:cNvPr id="20" name="TextBox 19">
              <a:extLst>
                <a:ext uri="{FF2B5EF4-FFF2-40B4-BE49-F238E27FC236}">
                  <a16:creationId xmlns:a16="http://schemas.microsoft.com/office/drawing/2014/main" id="{BA71A948-69B0-4F73-9802-6097FDB89D1D}"/>
                </a:ext>
              </a:extLst>
            </p:cNvPr>
            <p:cNvSpPr txBox="1"/>
            <p:nvPr/>
          </p:nvSpPr>
          <p:spPr>
            <a:xfrm>
              <a:off x="0" y="2569109"/>
              <a:ext cx="1839794" cy="461665"/>
            </a:xfrm>
            <a:prstGeom prst="rect">
              <a:avLst/>
            </a:prstGeom>
            <a:noFill/>
          </p:spPr>
          <p:txBody>
            <a:bodyPr wrap="square">
              <a:spAutoFit/>
            </a:bodyPr>
            <a:lstStyle/>
            <a:p>
              <a:r>
                <a:rPr lang="zh-CN" altLang="en-US" sz="2400" b="1"/>
                <a:t>初始距离 </a:t>
              </a:r>
              <a:r>
                <a:rPr lang="en-US" altLang="zh-CN" sz="2400" b="1" i="1">
                  <a:latin typeface="Times New Roman" panose="02020603050405020304" pitchFamily="18" charset="0"/>
                  <a:cs typeface="Times New Roman" panose="02020603050405020304" pitchFamily="18" charset="0"/>
                </a:rPr>
                <a:t>l</a:t>
              </a:r>
              <a:r>
                <a:rPr lang="en-US" altLang="zh-CN" sz="2400" b="1" baseline="-25000"/>
                <a:t>0</a:t>
              </a:r>
              <a:endParaRPr lang="en-001" sz="2400" b="1" baseline="-25000"/>
            </a:p>
          </p:txBody>
        </p:sp>
      </p:grpSp>
      <p:pic>
        <p:nvPicPr>
          <p:cNvPr id="17" name="Picture 16">
            <a:extLst>
              <a:ext uri="{FF2B5EF4-FFF2-40B4-BE49-F238E27FC236}">
                <a16:creationId xmlns:a16="http://schemas.microsoft.com/office/drawing/2014/main" id="{1D81B936-93CE-4298-9D5E-43BEAA8A3C14}"/>
              </a:ext>
            </a:extLst>
          </p:cNvPr>
          <p:cNvPicPr>
            <a:picLocks noChangeAspect="1"/>
          </p:cNvPicPr>
          <p:nvPr/>
        </p:nvPicPr>
        <p:blipFill>
          <a:blip r:embed="rId6"/>
          <a:stretch>
            <a:fillRect/>
          </a:stretch>
        </p:blipFill>
        <p:spPr>
          <a:xfrm>
            <a:off x="5487877" y="2911455"/>
            <a:ext cx="3464161" cy="1173345"/>
          </a:xfrm>
          <a:prstGeom prst="rect">
            <a:avLst/>
          </a:prstGeom>
        </p:spPr>
      </p:pic>
      <p:sp>
        <p:nvSpPr>
          <p:cNvPr id="5" name="Slide Number Placeholder 4">
            <a:extLst>
              <a:ext uri="{FF2B5EF4-FFF2-40B4-BE49-F238E27FC236}">
                <a16:creationId xmlns:a16="http://schemas.microsoft.com/office/drawing/2014/main" id="{3B6B3174-18C0-4F13-B53F-41EDC7C89182}"/>
              </a:ext>
            </a:extLst>
          </p:cNvPr>
          <p:cNvSpPr>
            <a:spLocks noGrp="1"/>
          </p:cNvSpPr>
          <p:nvPr>
            <p:ph type="sldNum" sz="quarter" idx="12"/>
          </p:nvPr>
        </p:nvSpPr>
        <p:spPr/>
        <p:txBody>
          <a:bodyPr/>
          <a:lstStyle/>
          <a:p>
            <a:fld id="{B53602B4-F12B-41CD-B648-531F86B2CC91}" type="slidenum">
              <a:rPr lang="zh-CN" altLang="en-US" smtClean="0"/>
              <a:t>5</a:t>
            </a:fld>
            <a:endParaRPr lang="zh-CN" altLang="en-US"/>
          </a:p>
        </p:txBody>
      </p:sp>
      <p:sp>
        <p:nvSpPr>
          <p:cNvPr id="18" name="TextBox 17">
            <a:extLst>
              <a:ext uri="{FF2B5EF4-FFF2-40B4-BE49-F238E27FC236}">
                <a16:creationId xmlns:a16="http://schemas.microsoft.com/office/drawing/2014/main" id="{3921554C-0B60-4F57-9692-6019BF3E51F9}"/>
              </a:ext>
            </a:extLst>
          </p:cNvPr>
          <p:cNvSpPr txBox="1"/>
          <p:nvPr/>
        </p:nvSpPr>
        <p:spPr>
          <a:xfrm>
            <a:off x="5592438" y="4165173"/>
            <a:ext cx="3006227" cy="400110"/>
          </a:xfrm>
          <a:prstGeom prst="rect">
            <a:avLst/>
          </a:prstGeom>
          <a:noFill/>
        </p:spPr>
        <p:txBody>
          <a:bodyPr wrap="square">
            <a:spAutoFit/>
          </a:bodyPr>
          <a:lstStyle/>
          <a:p>
            <a:r>
              <a:rPr lang="en-US" sz="2000" i="1" dirty="0">
                <a:latin typeface="Arial" panose="020B0604020202020204" pitchFamily="34" charset="0"/>
                <a:ea typeface="微软雅黑" panose="020B0503020204020204" pitchFamily="34" charset="-122"/>
              </a:rPr>
              <a:t>W------ </a:t>
            </a:r>
            <a:r>
              <a:rPr lang="ja-JP" altLang="en-US" sz="2000" b="1" dirty="0">
                <a:latin typeface="Arial" panose="020B0604020202020204" pitchFamily="34" charset="0"/>
                <a:ea typeface="微软雅黑" panose="020B0503020204020204" pitchFamily="34" charset="-122"/>
              </a:rPr>
              <a:t>线圈</a:t>
            </a:r>
            <a:r>
              <a:rPr lang="zh-CN" altLang="en-US" sz="2000" b="1" dirty="0">
                <a:latin typeface="Arial" panose="020B0604020202020204" pitchFamily="34" charset="0"/>
                <a:ea typeface="微软雅黑" panose="020B0503020204020204" pitchFamily="34" charset="-122"/>
              </a:rPr>
              <a:t>匝数</a:t>
            </a:r>
            <a:endParaRPr lang="en-US" sz="2000" b="1" dirty="0">
              <a:latin typeface="Arial" panose="020B0604020202020204" pitchFamily="34" charset="0"/>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3.1.1</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自感式传感器的工作原理</a:t>
            </a:r>
          </a:p>
        </p:txBody>
      </p:sp>
      <p:pic>
        <p:nvPicPr>
          <p:cNvPr id="2" name="Picture 1">
            <a:extLst>
              <a:ext uri="{FF2B5EF4-FFF2-40B4-BE49-F238E27FC236}">
                <a16:creationId xmlns:a16="http://schemas.microsoft.com/office/drawing/2014/main" id="{E5B96CD7-ADEB-49F0-A745-FDDA0146B7B3}"/>
              </a:ext>
            </a:extLst>
          </p:cNvPr>
          <p:cNvPicPr>
            <a:picLocks noChangeAspect="1"/>
          </p:cNvPicPr>
          <p:nvPr/>
        </p:nvPicPr>
        <p:blipFill>
          <a:blip r:embed="rId3"/>
          <a:stretch>
            <a:fillRect/>
          </a:stretch>
        </p:blipFill>
        <p:spPr>
          <a:xfrm>
            <a:off x="744721" y="1578916"/>
            <a:ext cx="7162800" cy="4676775"/>
          </a:xfrm>
          <a:prstGeom prst="rect">
            <a:avLst/>
          </a:prstGeom>
        </p:spPr>
      </p:pic>
      <mc:AlternateContent xmlns:mc="http://schemas.openxmlformats.org/markup-compatibility/2006" xmlns:a14="http://schemas.microsoft.com/office/drawing/2010/main">
        <mc:Choice Requires="a14">
          <p:sp>
            <p:nvSpPr>
              <p:cNvPr id="7" name="文本框 2">
                <a:extLst>
                  <a:ext uri="{FF2B5EF4-FFF2-40B4-BE49-F238E27FC236}">
                    <a16:creationId xmlns:a16="http://schemas.microsoft.com/office/drawing/2014/main" id="{46C7A0A4-100C-4400-8DBD-01F3F576A3B0}"/>
                  </a:ext>
                </a:extLst>
              </p:cNvPr>
              <p:cNvSpPr txBox="1"/>
              <p:nvPr/>
            </p:nvSpPr>
            <p:spPr>
              <a:xfrm>
                <a:off x="198132" y="1210683"/>
                <a:ext cx="2282933" cy="107176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rPr>
                        <m:t>𝐿</m:t>
                      </m:r>
                      <m:r>
                        <a:rPr lang="en-US" altLang="zh-CN" sz="3200" i="1" smtClean="0">
                          <a:latin typeface="Cambria Math" panose="02040503050406030204" pitchFamily="18" charset="0"/>
                        </a:rPr>
                        <m:t>=</m:t>
                      </m:r>
                      <m:f>
                        <m:fPr>
                          <m:ctrlPr>
                            <a:rPr lang="en-US" altLang="zh-CN" sz="3200" i="1" smtClean="0">
                              <a:latin typeface="Cambria Math" panose="02040503050406030204" pitchFamily="18" charset="0"/>
                            </a:rPr>
                          </m:ctrlPr>
                        </m:fPr>
                        <m:num>
                          <m:sSup>
                            <m:sSupPr>
                              <m:ctrlPr>
                                <a:rPr lang="en-US" altLang="zh-CN" sz="3200" i="1" smtClean="0">
                                  <a:latin typeface="Cambria Math" panose="02040503050406030204" pitchFamily="18" charset="0"/>
                                </a:rPr>
                              </m:ctrlPr>
                            </m:sSupPr>
                            <m:e>
                              <m:r>
                                <a:rPr lang="en-US" altLang="zh-CN" sz="3200" b="0" i="1" smtClean="0">
                                  <a:latin typeface="Cambria Math" panose="02040503050406030204" pitchFamily="18" charset="0"/>
                                </a:rPr>
                                <m:t>𝑊</m:t>
                              </m:r>
                            </m:e>
                            <m:sup>
                              <m:r>
                                <a:rPr lang="en-US" altLang="zh-CN" sz="3200" b="0" i="1" smtClean="0">
                                  <a:latin typeface="Cambria Math" panose="02040503050406030204" pitchFamily="18" charset="0"/>
                                </a:rPr>
                                <m:t>2</m:t>
                              </m:r>
                            </m:sup>
                          </m:sSup>
                          <m:sSub>
                            <m:sSubPr>
                              <m:ctrlPr>
                                <a:rPr lang="en-US" altLang="zh-CN" sz="3200" i="1" smtClean="0">
                                  <a:latin typeface="Cambria Math" panose="02040503050406030204" pitchFamily="18" charset="0"/>
                                </a:rPr>
                              </m:ctrlPr>
                            </m:sSubPr>
                            <m:e>
                              <m:r>
                                <a:rPr lang="zh-CN" altLang="en-US" sz="3200" i="1" smtClean="0">
                                  <a:latin typeface="Cambria Math" panose="02040503050406030204" pitchFamily="18" charset="0"/>
                                </a:rPr>
                                <m:t>𝜇</m:t>
                              </m:r>
                            </m:e>
                            <m:sub>
                              <m:r>
                                <a:rPr lang="en-US" altLang="zh-CN" sz="3200" b="0" i="1" smtClean="0">
                                  <a:latin typeface="Cambria Math" panose="02040503050406030204" pitchFamily="18" charset="0"/>
                                </a:rPr>
                                <m:t>0</m:t>
                              </m:r>
                            </m:sub>
                          </m:sSub>
                          <m:sSub>
                            <m:sSubPr>
                              <m:ctrlPr>
                                <a:rPr lang="en-US" altLang="zh-CN" sz="3200" i="1" smtClean="0">
                                  <a:latin typeface="Cambria Math" panose="02040503050406030204" pitchFamily="18" charset="0"/>
                                </a:rPr>
                              </m:ctrlPr>
                            </m:sSubPr>
                            <m:e>
                              <m:r>
                                <a:rPr lang="en-US" altLang="zh-CN" sz="3200" b="0" i="1" smtClean="0">
                                  <a:latin typeface="Cambria Math" panose="02040503050406030204" pitchFamily="18" charset="0"/>
                                </a:rPr>
                                <m:t>𝑆</m:t>
                              </m:r>
                            </m:e>
                            <m:sub>
                              <m:r>
                                <a:rPr lang="en-US" altLang="zh-CN" sz="3200" b="0" i="1" smtClean="0">
                                  <a:latin typeface="Cambria Math" panose="02040503050406030204" pitchFamily="18" charset="0"/>
                                </a:rPr>
                                <m:t>0</m:t>
                              </m:r>
                            </m:sub>
                          </m:sSub>
                        </m:num>
                        <m:den>
                          <m:r>
                            <a:rPr lang="en-US" altLang="zh-CN" sz="3200" i="1" smtClean="0">
                              <a:latin typeface="Cambria Math" panose="02040503050406030204" pitchFamily="18" charset="0"/>
                            </a:rPr>
                            <m:t>2</m:t>
                          </m:r>
                          <m:sSub>
                            <m:sSubPr>
                              <m:ctrlPr>
                                <a:rPr lang="en-US" altLang="zh-CN" sz="3200" i="1" smtClean="0">
                                  <a:latin typeface="Cambria Math" panose="02040503050406030204" pitchFamily="18" charset="0"/>
                                </a:rPr>
                              </m:ctrlPr>
                            </m:sSubPr>
                            <m:e>
                              <m:r>
                                <a:rPr lang="en-US" altLang="zh-CN" sz="3200" b="0" i="1" smtClean="0">
                                  <a:latin typeface="Cambria Math" panose="02040503050406030204" pitchFamily="18" charset="0"/>
                                </a:rPr>
                                <m:t>𝑙</m:t>
                              </m:r>
                            </m:e>
                            <m:sub>
                              <m:r>
                                <a:rPr lang="en-US" altLang="zh-CN" sz="3200" b="0" i="1" smtClean="0">
                                  <a:latin typeface="Cambria Math" panose="02040503050406030204" pitchFamily="18" charset="0"/>
                                </a:rPr>
                                <m:t>0</m:t>
                              </m:r>
                            </m:sub>
                          </m:sSub>
                        </m:den>
                      </m:f>
                    </m:oMath>
                  </m:oMathPara>
                </a14:m>
                <a:endParaRPr lang="zh-CN" altLang="en-US" sz="3200" dirty="0"/>
              </a:p>
            </p:txBody>
          </p:sp>
        </mc:Choice>
        <mc:Fallback xmlns="">
          <p:sp>
            <p:nvSpPr>
              <p:cNvPr id="7" name="文本框 2">
                <a:extLst>
                  <a:ext uri="{FF2B5EF4-FFF2-40B4-BE49-F238E27FC236}">
                    <a16:creationId xmlns:a16="http://schemas.microsoft.com/office/drawing/2014/main" id="{46C7A0A4-100C-4400-8DBD-01F3F576A3B0}"/>
                  </a:ext>
                </a:extLst>
              </p:cNvPr>
              <p:cNvSpPr txBox="1">
                <a:spLocks noRot="1" noChangeAspect="1" noMove="1" noResize="1" noEditPoints="1" noAdjustHandles="1" noChangeArrowheads="1" noChangeShapeType="1" noTextEdit="1"/>
              </p:cNvSpPr>
              <p:nvPr/>
            </p:nvSpPr>
            <p:spPr>
              <a:xfrm>
                <a:off x="198132" y="1210683"/>
                <a:ext cx="2282933" cy="1071768"/>
              </a:xfrm>
              <a:prstGeom prst="rect">
                <a:avLst/>
              </a:prstGeom>
              <a:blipFill>
                <a:blip r:embed="rId4"/>
                <a:stretch>
                  <a:fillRect/>
                </a:stretch>
              </a:blipFill>
            </p:spPr>
            <p:txBody>
              <a:bodyPr/>
              <a:lstStyle/>
              <a:p>
                <a:r>
                  <a:rPr lang="en-001">
                    <a:noFill/>
                  </a:rPr>
                  <a:t> </a:t>
                </a:r>
              </a:p>
            </p:txBody>
          </p:sp>
        </mc:Fallback>
      </mc:AlternateContent>
      <p:sp>
        <p:nvSpPr>
          <p:cNvPr id="3" name="Slide Number Placeholder 2">
            <a:extLst>
              <a:ext uri="{FF2B5EF4-FFF2-40B4-BE49-F238E27FC236}">
                <a16:creationId xmlns:a16="http://schemas.microsoft.com/office/drawing/2014/main" id="{F275DE90-8FE8-4EF7-A967-71CB49A8D1E1}"/>
              </a:ext>
            </a:extLst>
          </p:cNvPr>
          <p:cNvSpPr>
            <a:spLocks noGrp="1"/>
          </p:cNvSpPr>
          <p:nvPr>
            <p:ph type="sldNum" sz="quarter" idx="12"/>
          </p:nvPr>
        </p:nvSpPr>
        <p:spPr/>
        <p:txBody>
          <a:bodyPr/>
          <a:lstStyle/>
          <a:p>
            <a:fld id="{B53602B4-F12B-41CD-B648-531F86B2CC91}" type="slidenum">
              <a:rPr lang="zh-CN" altLang="en-US" smtClean="0"/>
              <a:t>6</a:t>
            </a:fld>
            <a:endParaRPr lang="zh-CN" altLang="en-US"/>
          </a:p>
        </p:txBody>
      </p:sp>
    </p:spTree>
    <p:extLst>
      <p:ext uri="{BB962C8B-B14F-4D97-AF65-F5344CB8AC3E}">
        <p14:creationId xmlns:p14="http://schemas.microsoft.com/office/powerpoint/2010/main" val="159650943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3.1.1</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自感式传感器的工作原理</a:t>
            </a:r>
          </a:p>
        </p:txBody>
      </p:sp>
      <p:pic>
        <p:nvPicPr>
          <p:cNvPr id="2" name="Picture 1">
            <a:extLst>
              <a:ext uri="{FF2B5EF4-FFF2-40B4-BE49-F238E27FC236}">
                <a16:creationId xmlns:a16="http://schemas.microsoft.com/office/drawing/2014/main" id="{E8612340-92C7-4B82-9E65-D38D09EFC86D}"/>
              </a:ext>
            </a:extLst>
          </p:cNvPr>
          <p:cNvPicPr>
            <a:picLocks noChangeAspect="1"/>
          </p:cNvPicPr>
          <p:nvPr/>
        </p:nvPicPr>
        <p:blipFill>
          <a:blip r:embed="rId3"/>
          <a:stretch>
            <a:fillRect/>
          </a:stretch>
        </p:blipFill>
        <p:spPr>
          <a:xfrm>
            <a:off x="1447267" y="2282451"/>
            <a:ext cx="6249465" cy="4221236"/>
          </a:xfrm>
          <a:prstGeom prst="rect">
            <a:avLst/>
          </a:prstGeom>
        </p:spPr>
      </p:pic>
      <mc:AlternateContent xmlns:mc="http://schemas.openxmlformats.org/markup-compatibility/2006" xmlns:a14="http://schemas.microsoft.com/office/drawing/2010/main">
        <mc:Choice Requires="a14">
          <p:sp>
            <p:nvSpPr>
              <p:cNvPr id="6" name="文本框 2">
                <a:extLst>
                  <a:ext uri="{FF2B5EF4-FFF2-40B4-BE49-F238E27FC236}">
                    <a16:creationId xmlns:a16="http://schemas.microsoft.com/office/drawing/2014/main" id="{4F3FCF36-0705-432C-8FBD-F6DA4994B7F0}"/>
                  </a:ext>
                </a:extLst>
              </p:cNvPr>
              <p:cNvSpPr txBox="1"/>
              <p:nvPr/>
            </p:nvSpPr>
            <p:spPr>
              <a:xfrm>
                <a:off x="198132" y="1210683"/>
                <a:ext cx="2282933" cy="107176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rPr>
                        <m:t>𝐿</m:t>
                      </m:r>
                      <m:r>
                        <a:rPr lang="en-US" altLang="zh-CN" sz="3200" i="1" smtClean="0">
                          <a:latin typeface="Cambria Math" panose="02040503050406030204" pitchFamily="18" charset="0"/>
                        </a:rPr>
                        <m:t>=</m:t>
                      </m:r>
                      <m:f>
                        <m:fPr>
                          <m:ctrlPr>
                            <a:rPr lang="en-US" altLang="zh-CN" sz="3200" i="1" smtClean="0">
                              <a:latin typeface="Cambria Math" panose="02040503050406030204" pitchFamily="18" charset="0"/>
                            </a:rPr>
                          </m:ctrlPr>
                        </m:fPr>
                        <m:num>
                          <m:sSup>
                            <m:sSupPr>
                              <m:ctrlPr>
                                <a:rPr lang="en-US" altLang="zh-CN" sz="3200" i="1" smtClean="0">
                                  <a:latin typeface="Cambria Math" panose="02040503050406030204" pitchFamily="18" charset="0"/>
                                </a:rPr>
                              </m:ctrlPr>
                            </m:sSupPr>
                            <m:e>
                              <m:r>
                                <a:rPr lang="en-US" altLang="zh-CN" sz="3200" b="0" i="1" smtClean="0">
                                  <a:latin typeface="Cambria Math" panose="02040503050406030204" pitchFamily="18" charset="0"/>
                                </a:rPr>
                                <m:t>𝑊</m:t>
                              </m:r>
                            </m:e>
                            <m:sup>
                              <m:r>
                                <a:rPr lang="en-US" altLang="zh-CN" sz="3200" b="0" i="1" smtClean="0">
                                  <a:latin typeface="Cambria Math" panose="02040503050406030204" pitchFamily="18" charset="0"/>
                                </a:rPr>
                                <m:t>2</m:t>
                              </m:r>
                            </m:sup>
                          </m:sSup>
                          <m:sSub>
                            <m:sSubPr>
                              <m:ctrlPr>
                                <a:rPr lang="en-US" altLang="zh-CN" sz="3200" i="1" smtClean="0">
                                  <a:latin typeface="Cambria Math" panose="02040503050406030204" pitchFamily="18" charset="0"/>
                                </a:rPr>
                              </m:ctrlPr>
                            </m:sSubPr>
                            <m:e>
                              <m:r>
                                <a:rPr lang="zh-CN" altLang="en-US" sz="3200" i="1" smtClean="0">
                                  <a:latin typeface="Cambria Math" panose="02040503050406030204" pitchFamily="18" charset="0"/>
                                </a:rPr>
                                <m:t>𝜇</m:t>
                              </m:r>
                            </m:e>
                            <m:sub>
                              <m:r>
                                <a:rPr lang="en-US" altLang="zh-CN" sz="3200" b="0" i="1" smtClean="0">
                                  <a:latin typeface="Cambria Math" panose="02040503050406030204" pitchFamily="18" charset="0"/>
                                </a:rPr>
                                <m:t>0</m:t>
                              </m:r>
                            </m:sub>
                          </m:sSub>
                          <m:sSub>
                            <m:sSubPr>
                              <m:ctrlPr>
                                <a:rPr lang="en-US" altLang="zh-CN" sz="3200" i="1" smtClean="0">
                                  <a:latin typeface="Cambria Math" panose="02040503050406030204" pitchFamily="18" charset="0"/>
                                </a:rPr>
                              </m:ctrlPr>
                            </m:sSubPr>
                            <m:e>
                              <m:r>
                                <a:rPr lang="en-US" altLang="zh-CN" sz="3200" b="0" i="1" smtClean="0">
                                  <a:latin typeface="Cambria Math" panose="02040503050406030204" pitchFamily="18" charset="0"/>
                                </a:rPr>
                                <m:t>𝑆</m:t>
                              </m:r>
                            </m:e>
                            <m:sub>
                              <m:r>
                                <a:rPr lang="en-US" altLang="zh-CN" sz="3200" b="0" i="1" smtClean="0">
                                  <a:latin typeface="Cambria Math" panose="02040503050406030204" pitchFamily="18" charset="0"/>
                                </a:rPr>
                                <m:t>0</m:t>
                              </m:r>
                            </m:sub>
                          </m:sSub>
                        </m:num>
                        <m:den>
                          <m:r>
                            <a:rPr lang="en-US" altLang="zh-CN" sz="3200" i="1" smtClean="0">
                              <a:latin typeface="Cambria Math" panose="02040503050406030204" pitchFamily="18" charset="0"/>
                            </a:rPr>
                            <m:t>2</m:t>
                          </m:r>
                          <m:sSub>
                            <m:sSubPr>
                              <m:ctrlPr>
                                <a:rPr lang="en-US" altLang="zh-CN" sz="3200" i="1" smtClean="0">
                                  <a:latin typeface="Cambria Math" panose="02040503050406030204" pitchFamily="18" charset="0"/>
                                </a:rPr>
                              </m:ctrlPr>
                            </m:sSubPr>
                            <m:e>
                              <m:r>
                                <a:rPr lang="en-US" altLang="zh-CN" sz="3200" b="0" i="1" smtClean="0">
                                  <a:latin typeface="Cambria Math" panose="02040503050406030204" pitchFamily="18" charset="0"/>
                                </a:rPr>
                                <m:t>𝑙</m:t>
                              </m:r>
                            </m:e>
                            <m:sub>
                              <m:r>
                                <a:rPr lang="en-US" altLang="zh-CN" sz="3200" b="0" i="1" smtClean="0">
                                  <a:latin typeface="Cambria Math" panose="02040503050406030204" pitchFamily="18" charset="0"/>
                                </a:rPr>
                                <m:t>0</m:t>
                              </m:r>
                            </m:sub>
                          </m:sSub>
                        </m:den>
                      </m:f>
                    </m:oMath>
                  </m:oMathPara>
                </a14:m>
                <a:endParaRPr lang="zh-CN" altLang="en-US" sz="3200" dirty="0"/>
              </a:p>
            </p:txBody>
          </p:sp>
        </mc:Choice>
        <mc:Fallback xmlns="">
          <p:sp>
            <p:nvSpPr>
              <p:cNvPr id="6" name="文本框 2">
                <a:extLst>
                  <a:ext uri="{FF2B5EF4-FFF2-40B4-BE49-F238E27FC236}">
                    <a16:creationId xmlns:a16="http://schemas.microsoft.com/office/drawing/2014/main" id="{4F3FCF36-0705-432C-8FBD-F6DA4994B7F0}"/>
                  </a:ext>
                </a:extLst>
              </p:cNvPr>
              <p:cNvSpPr txBox="1">
                <a:spLocks noRot="1" noChangeAspect="1" noMove="1" noResize="1" noEditPoints="1" noAdjustHandles="1" noChangeArrowheads="1" noChangeShapeType="1" noTextEdit="1"/>
              </p:cNvSpPr>
              <p:nvPr/>
            </p:nvSpPr>
            <p:spPr>
              <a:xfrm>
                <a:off x="198132" y="1210683"/>
                <a:ext cx="2282933" cy="1071768"/>
              </a:xfrm>
              <a:prstGeom prst="rect">
                <a:avLst/>
              </a:prstGeom>
              <a:blipFill>
                <a:blip r:embed="rId4"/>
                <a:stretch>
                  <a:fillRect/>
                </a:stretch>
              </a:blipFill>
            </p:spPr>
            <p:txBody>
              <a:bodyPr/>
              <a:lstStyle/>
              <a:p>
                <a:r>
                  <a:rPr lang="en-001">
                    <a:noFill/>
                  </a:rPr>
                  <a:t> </a:t>
                </a:r>
              </a:p>
            </p:txBody>
          </p:sp>
        </mc:Fallback>
      </mc:AlternateContent>
      <p:sp>
        <p:nvSpPr>
          <p:cNvPr id="3" name="Slide Number Placeholder 2">
            <a:extLst>
              <a:ext uri="{FF2B5EF4-FFF2-40B4-BE49-F238E27FC236}">
                <a16:creationId xmlns:a16="http://schemas.microsoft.com/office/drawing/2014/main" id="{08E4392A-82E0-46D6-A386-F701270AB366}"/>
              </a:ext>
            </a:extLst>
          </p:cNvPr>
          <p:cNvSpPr>
            <a:spLocks noGrp="1"/>
          </p:cNvSpPr>
          <p:nvPr>
            <p:ph type="sldNum" sz="quarter" idx="12"/>
          </p:nvPr>
        </p:nvSpPr>
        <p:spPr/>
        <p:txBody>
          <a:bodyPr/>
          <a:lstStyle/>
          <a:p>
            <a:fld id="{B53602B4-F12B-41CD-B648-531F86B2CC91}" type="slidenum">
              <a:rPr lang="zh-CN" altLang="en-US" smtClean="0"/>
              <a:t>7</a:t>
            </a:fld>
            <a:endParaRPr lang="zh-CN" altLang="en-US"/>
          </a:p>
        </p:txBody>
      </p:sp>
    </p:spTree>
    <p:extLst>
      <p:ext uri="{BB962C8B-B14F-4D97-AF65-F5344CB8AC3E}">
        <p14:creationId xmlns:p14="http://schemas.microsoft.com/office/powerpoint/2010/main" val="151059779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80BBB5C-F020-4F9D-8F63-D4E41B8AF2CD}"/>
              </a:ext>
            </a:extLst>
          </p:cNvPr>
          <p:cNvPicPr>
            <a:picLocks noChangeAspect="1"/>
          </p:cNvPicPr>
          <p:nvPr/>
        </p:nvPicPr>
        <p:blipFill>
          <a:blip r:embed="rId3"/>
          <a:stretch>
            <a:fillRect/>
          </a:stretch>
        </p:blipFill>
        <p:spPr>
          <a:xfrm>
            <a:off x="6334181" y="1089771"/>
            <a:ext cx="2809819" cy="1423592"/>
          </a:xfrm>
          <a:prstGeom prst="rect">
            <a:avLst/>
          </a:prstGeom>
        </p:spPr>
      </p:pic>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3.1.1</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自感式传感器的工作原理</a:t>
            </a:r>
          </a:p>
        </p:txBody>
      </p:sp>
      <p:graphicFrame>
        <p:nvGraphicFramePr>
          <p:cNvPr id="32" name="Object 2"/>
          <p:cNvGraphicFramePr>
            <a:graphicFrameLocks noChangeAspect="1"/>
          </p:cNvGraphicFramePr>
          <p:nvPr>
            <p:extLst>
              <p:ext uri="{D42A27DB-BD31-4B8C-83A1-F6EECF244321}">
                <p14:modId xmlns:p14="http://schemas.microsoft.com/office/powerpoint/2010/main" val="1872152314"/>
              </p:ext>
            </p:extLst>
          </p:nvPr>
        </p:nvGraphicFramePr>
        <p:xfrm>
          <a:off x="1376069" y="2880818"/>
          <a:ext cx="996950" cy="822325"/>
        </p:xfrm>
        <a:graphic>
          <a:graphicData uri="http://schemas.openxmlformats.org/presentationml/2006/ole">
            <mc:AlternateContent xmlns:mc="http://schemas.openxmlformats.org/markup-compatibility/2006">
              <mc:Choice xmlns:v="urn:schemas-microsoft-com:vml" Requires="v">
                <p:oleObj name="Equation" r:id="rId4" imgW="634680" imgH="507960" progId="Equation.DSMT4">
                  <p:embed/>
                </p:oleObj>
              </mc:Choice>
              <mc:Fallback>
                <p:oleObj name="Equation" r:id="rId4" imgW="634680" imgH="507960" progId="Equation.DSMT4">
                  <p:embed/>
                  <p:pic>
                    <p:nvPicPr>
                      <p:cNvPr id="299010" name="Object 2"/>
                      <p:cNvPicPr>
                        <a:picLocks noChangeAspect="1" noChangeArrowheads="1"/>
                      </p:cNvPicPr>
                      <p:nvPr/>
                    </p:nvPicPr>
                    <p:blipFill>
                      <a:blip r:embed="rId5"/>
                      <a:srcRect/>
                      <a:stretch>
                        <a:fillRect/>
                      </a:stretch>
                    </p:blipFill>
                    <p:spPr bwMode="auto">
                      <a:xfrm>
                        <a:off x="1376069" y="2880818"/>
                        <a:ext cx="996950" cy="822325"/>
                      </a:xfrm>
                      <a:prstGeom prst="rect">
                        <a:avLst/>
                      </a:prstGeom>
                      <a:noFill/>
                      <a:ln>
                        <a:noFill/>
                      </a:ln>
                      <a:effectLst/>
                    </p:spPr>
                  </p:pic>
                </p:oleObj>
              </mc:Fallback>
            </mc:AlternateContent>
          </a:graphicData>
        </a:graphic>
      </p:graphicFrame>
      <p:sp>
        <p:nvSpPr>
          <p:cNvPr id="34" name="Text Box 39"/>
          <p:cNvSpPr txBox="1">
            <a:spLocks noChangeArrowheads="1"/>
          </p:cNvSpPr>
          <p:nvPr/>
        </p:nvSpPr>
        <p:spPr bwMode="auto">
          <a:xfrm>
            <a:off x="185083" y="1415230"/>
            <a:ext cx="1295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spcBef>
                <a:spcPct val="50000"/>
              </a:spcBef>
            </a:pPr>
            <a:r>
              <a:rPr lang="zh-CN" altLang="en-US" sz="2400" b="1" dirty="0">
                <a:solidFill>
                  <a:srgbClr val="C00000"/>
                </a:solidFill>
                <a:latin typeface="宋体" panose="02010600030101010101" pitchFamily="2" charset="-122"/>
                <a:ea typeface="宋体" panose="02010600030101010101" pitchFamily="2" charset="-122"/>
              </a:rPr>
              <a:t>气隙型：</a:t>
            </a:r>
          </a:p>
        </p:txBody>
      </p:sp>
      <p:graphicFrame>
        <p:nvGraphicFramePr>
          <p:cNvPr id="35" name="Object 4"/>
          <p:cNvGraphicFramePr>
            <a:graphicFrameLocks noChangeAspect="1"/>
          </p:cNvGraphicFramePr>
          <p:nvPr>
            <p:extLst>
              <p:ext uri="{D42A27DB-BD31-4B8C-83A1-F6EECF244321}">
                <p14:modId xmlns:p14="http://schemas.microsoft.com/office/powerpoint/2010/main" val="2939136287"/>
              </p:ext>
            </p:extLst>
          </p:nvPr>
        </p:nvGraphicFramePr>
        <p:xfrm>
          <a:off x="1611313" y="1246188"/>
          <a:ext cx="1611312" cy="862012"/>
        </p:xfrm>
        <a:graphic>
          <a:graphicData uri="http://schemas.openxmlformats.org/presentationml/2006/ole">
            <mc:AlternateContent xmlns:mc="http://schemas.openxmlformats.org/markup-compatibility/2006">
              <mc:Choice xmlns:v="urn:schemas-microsoft-com:vml" Requires="v">
                <p:oleObj name="Equation" r:id="rId6" imgW="819259" imgH="428702" progId="Equation.3">
                  <p:embed/>
                </p:oleObj>
              </mc:Choice>
              <mc:Fallback>
                <p:oleObj name="Equation" r:id="rId6" imgW="819259" imgH="428702" progId="Equation.3">
                  <p:embed/>
                  <p:pic>
                    <p:nvPicPr>
                      <p:cNvPr id="299012"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11313" y="1246188"/>
                        <a:ext cx="1611312" cy="862012"/>
                      </a:xfrm>
                      <a:prstGeom prst="rect">
                        <a:avLst/>
                      </a:prstGeom>
                      <a:noFill/>
                      <a:ln>
                        <a:noFill/>
                      </a:ln>
                      <a:effectLst/>
                    </p:spPr>
                  </p:pic>
                </p:oleObj>
              </mc:Fallback>
            </mc:AlternateContent>
          </a:graphicData>
        </a:graphic>
      </p:graphicFrame>
      <p:graphicFrame>
        <p:nvGraphicFramePr>
          <p:cNvPr id="36" name="Object 5"/>
          <p:cNvGraphicFramePr>
            <a:graphicFrameLocks noChangeAspect="1"/>
          </p:cNvGraphicFramePr>
          <p:nvPr>
            <p:extLst>
              <p:ext uri="{D42A27DB-BD31-4B8C-83A1-F6EECF244321}">
                <p14:modId xmlns:p14="http://schemas.microsoft.com/office/powerpoint/2010/main" val="1599283661"/>
              </p:ext>
            </p:extLst>
          </p:nvPr>
        </p:nvGraphicFramePr>
        <p:xfrm>
          <a:off x="277813" y="2122488"/>
          <a:ext cx="5213350" cy="712787"/>
        </p:xfrm>
        <a:graphic>
          <a:graphicData uri="http://schemas.openxmlformats.org/presentationml/2006/ole">
            <mc:AlternateContent xmlns:mc="http://schemas.openxmlformats.org/markup-compatibility/2006">
              <mc:Choice xmlns:v="urn:schemas-microsoft-com:vml" Requires="v">
                <p:oleObj name="Equation" r:id="rId8" imgW="4686120" imgH="609480" progId="Equation.DSMT4">
                  <p:embed/>
                </p:oleObj>
              </mc:Choice>
              <mc:Fallback>
                <p:oleObj name="Equation" r:id="rId8" imgW="4686120" imgH="609480" progId="Equation.DSMT4">
                  <p:embed/>
                  <p:pic>
                    <p:nvPicPr>
                      <p:cNvPr id="6159" name="Object 5"/>
                      <p:cNvPicPr>
                        <a:picLocks noChangeAspect="1" noChangeArrowheads="1"/>
                      </p:cNvPicPr>
                      <p:nvPr/>
                    </p:nvPicPr>
                    <p:blipFill>
                      <a:blip r:embed="rId9"/>
                      <a:srcRect/>
                      <a:stretch>
                        <a:fillRect/>
                      </a:stretch>
                    </p:blipFill>
                    <p:spPr bwMode="auto">
                      <a:xfrm>
                        <a:off x="277813" y="2122488"/>
                        <a:ext cx="5213350" cy="712787"/>
                      </a:xfrm>
                      <a:prstGeom prst="rect">
                        <a:avLst/>
                      </a:prstGeom>
                      <a:noFill/>
                      <a:ln>
                        <a:noFill/>
                      </a:ln>
                    </p:spPr>
                  </p:pic>
                </p:oleObj>
              </mc:Fallback>
            </mc:AlternateContent>
          </a:graphicData>
        </a:graphic>
      </p:graphicFrame>
      <p:sp>
        <p:nvSpPr>
          <p:cNvPr id="37" name="Text Box 43"/>
          <p:cNvSpPr txBox="1">
            <a:spLocks noChangeArrowheads="1"/>
          </p:cNvSpPr>
          <p:nvPr/>
        </p:nvSpPr>
        <p:spPr bwMode="auto">
          <a:xfrm>
            <a:off x="185083" y="3061149"/>
            <a:ext cx="1295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spcBef>
                <a:spcPct val="50000"/>
              </a:spcBef>
            </a:pPr>
            <a:r>
              <a:rPr lang="zh-CN" altLang="en-US" sz="2400" b="1" dirty="0">
                <a:latin typeface="宋体" panose="02010600030101010101" pitchFamily="2" charset="-122"/>
                <a:ea typeface="宋体" panose="02010600030101010101" pitchFamily="2" charset="-122"/>
              </a:rPr>
              <a:t>灵敏度</a:t>
            </a:r>
          </a:p>
        </p:txBody>
      </p:sp>
      <p:grpSp>
        <p:nvGrpSpPr>
          <p:cNvPr id="9" name="Group 8">
            <a:extLst>
              <a:ext uri="{FF2B5EF4-FFF2-40B4-BE49-F238E27FC236}">
                <a16:creationId xmlns:a16="http://schemas.microsoft.com/office/drawing/2014/main" id="{7C781571-E30C-44D3-BCE9-96BC6509EF8C}"/>
              </a:ext>
            </a:extLst>
          </p:cNvPr>
          <p:cNvGrpSpPr/>
          <p:nvPr/>
        </p:nvGrpSpPr>
        <p:grpSpPr>
          <a:xfrm>
            <a:off x="278397" y="5075863"/>
            <a:ext cx="4665955" cy="1380375"/>
            <a:chOff x="4194472" y="5099698"/>
            <a:chExt cx="4665955" cy="1380375"/>
          </a:xfrm>
        </p:grpSpPr>
        <p:sp>
          <p:nvSpPr>
            <p:cNvPr id="31" name="Rectangle 3"/>
            <p:cNvSpPr>
              <a:spLocks noRot="1" noChangeArrowheads="1"/>
            </p:cNvSpPr>
            <p:nvPr/>
          </p:nvSpPr>
          <p:spPr bwMode="auto">
            <a:xfrm>
              <a:off x="4194472" y="5870473"/>
              <a:ext cx="466595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spcBef>
                  <a:spcPct val="20000"/>
                </a:spcBef>
                <a:buClr>
                  <a:schemeClr val="folHlink"/>
                </a:buClr>
                <a:buFont typeface="Wingdings" panose="05000000000000000000" pitchFamily="2" charset="2"/>
                <a:buNone/>
              </a:pPr>
              <a:r>
                <a:rPr lang="zh-CN" altLang="en-US" sz="2400" b="1" dirty="0">
                  <a:latin typeface="宋体" panose="02010600030101010101" pitchFamily="2" charset="-122"/>
                  <a:ea typeface="宋体" panose="02010600030101010101" pitchFamily="2" charset="-122"/>
                </a:rPr>
                <a:t>以上两灵敏度在初始气隙处等价。</a:t>
              </a:r>
              <a:endParaRPr lang="zh-CN" altLang="en-US" sz="2000" b="1" dirty="0">
                <a:latin typeface="宋体" panose="02010600030101010101" pitchFamily="2" charset="-122"/>
                <a:ea typeface="宋体" panose="02010600030101010101" pitchFamily="2" charset="-122"/>
              </a:endParaRPr>
            </a:p>
          </p:txBody>
        </p:sp>
        <p:sp>
          <p:nvSpPr>
            <p:cNvPr id="39" name="Text Box 43"/>
            <p:cNvSpPr txBox="1">
              <a:spLocks noChangeArrowheads="1"/>
            </p:cNvSpPr>
            <p:nvPr/>
          </p:nvSpPr>
          <p:spPr bwMode="auto">
            <a:xfrm>
              <a:off x="4204597" y="5208358"/>
              <a:ext cx="1295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spcBef>
                  <a:spcPct val="50000"/>
                </a:spcBef>
              </a:pPr>
              <a:r>
                <a:rPr lang="zh-CN" altLang="en-US" sz="2400" b="1" dirty="0">
                  <a:latin typeface="宋体" panose="02010600030101010101" pitchFamily="2" charset="-122"/>
                  <a:ea typeface="宋体" panose="02010600030101010101" pitchFamily="2" charset="-122"/>
                </a:rPr>
                <a:t>或</a:t>
              </a:r>
            </a:p>
          </p:txBody>
        </p:sp>
        <mc:AlternateContent xmlns:mc="http://schemas.openxmlformats.org/markup-compatibility/2006" xmlns:a14="http://schemas.microsoft.com/office/drawing/2010/main">
          <mc:Choice Requires="a14">
            <p:sp>
              <p:nvSpPr>
                <p:cNvPr id="40" name="文本框 39"/>
                <p:cNvSpPr txBox="1"/>
                <p:nvPr/>
              </p:nvSpPr>
              <p:spPr>
                <a:xfrm>
                  <a:off x="4858033" y="5099698"/>
                  <a:ext cx="2291846" cy="617541"/>
                </a:xfrm>
                <a:prstGeom prst="rect">
                  <a:avLst/>
                </a:prstGeom>
                <a:noFill/>
                <a:ln>
                  <a:noFill/>
                </a:ln>
              </p:spPr>
              <p:style>
                <a:lnRef idx="2">
                  <a:schemeClr val="accent2">
                    <a:shade val="50000"/>
                  </a:schemeClr>
                </a:lnRef>
                <a:fillRef idx="1">
                  <a:schemeClr val="accent2"/>
                </a:fillRef>
                <a:effectRef idx="0">
                  <a:schemeClr val="accent2"/>
                </a:effectRef>
                <a:fontRef idx="minor">
                  <a:schemeClr val="lt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solidFill>
                              <a:schemeClr val="tx1"/>
                            </a:solidFill>
                            <a:latin typeface="Cambria Math" panose="02040503050406030204" pitchFamily="18" charset="0"/>
                          </a:rPr>
                          <m:t>𝑆</m:t>
                        </m:r>
                        <m:r>
                          <a:rPr lang="en-US" altLang="zh-CN" sz="2000" i="1" smtClean="0">
                            <a:solidFill>
                              <a:schemeClr val="tx1"/>
                            </a:solidFill>
                            <a:latin typeface="Cambria Math" panose="02040503050406030204" pitchFamily="18" charset="0"/>
                          </a:rPr>
                          <m:t>=</m:t>
                        </m:r>
                        <m:f>
                          <m:fPr>
                            <m:ctrlPr>
                              <a:rPr lang="en-US" altLang="zh-CN" sz="2000" i="1" smtClean="0">
                                <a:solidFill>
                                  <a:schemeClr val="tx1"/>
                                </a:solidFill>
                                <a:latin typeface="Cambria Math" panose="02040503050406030204" pitchFamily="18" charset="0"/>
                              </a:rPr>
                            </m:ctrlPr>
                          </m:fPr>
                          <m:num>
                            <m:r>
                              <a:rPr lang="en-US" altLang="zh-CN" sz="2000" i="1" smtClean="0">
                                <a:solidFill>
                                  <a:schemeClr val="tx1"/>
                                </a:solidFill>
                                <a:latin typeface="Cambria Math" panose="02040503050406030204" pitchFamily="18" charset="0"/>
                              </a:rPr>
                              <m:t>𝑑</m:t>
                            </m:r>
                            <m:r>
                              <a:rPr lang="en-US" altLang="zh-CN" sz="2000" b="0" i="1" smtClean="0">
                                <a:solidFill>
                                  <a:schemeClr val="tx1"/>
                                </a:solidFill>
                                <a:latin typeface="Cambria Math" panose="02040503050406030204" pitchFamily="18" charset="0"/>
                              </a:rPr>
                              <m:t>𝐿</m:t>
                            </m:r>
                          </m:num>
                          <m:den>
                            <m:r>
                              <a:rPr lang="en-US" altLang="zh-CN" sz="2000" i="1" smtClean="0">
                                <a:solidFill>
                                  <a:schemeClr val="tx1"/>
                                </a:solidFill>
                                <a:latin typeface="Cambria Math" panose="02040503050406030204" pitchFamily="18" charset="0"/>
                              </a:rPr>
                              <m:t>𝑑</m:t>
                            </m:r>
                            <m:r>
                              <a:rPr lang="en-US" altLang="zh-CN" sz="2000" b="0" i="1" smtClean="0">
                                <a:solidFill>
                                  <a:schemeClr val="tx1"/>
                                </a:solidFill>
                                <a:latin typeface="Cambria Math" panose="02040503050406030204" pitchFamily="18" charset="0"/>
                              </a:rPr>
                              <m:t>𝑙</m:t>
                            </m:r>
                          </m:den>
                        </m:f>
                        <m:r>
                          <a:rPr lang="en-US" altLang="zh-CN" sz="2000" b="0" i="1" smtClean="0">
                            <a:solidFill>
                              <a:schemeClr val="tx1"/>
                            </a:solidFill>
                            <a:latin typeface="Cambria Math" panose="02040503050406030204" pitchFamily="18" charset="0"/>
                          </a:rPr>
                          <m:t>=−</m:t>
                        </m:r>
                        <m:f>
                          <m:fPr>
                            <m:ctrlPr>
                              <a:rPr lang="en-US" altLang="zh-CN" sz="2000" b="0" i="1" smtClean="0">
                                <a:solidFill>
                                  <a:schemeClr val="tx1"/>
                                </a:solidFill>
                                <a:latin typeface="Cambria Math" panose="02040503050406030204" pitchFamily="18" charset="0"/>
                              </a:rPr>
                            </m:ctrlPr>
                          </m:fPr>
                          <m:num>
                            <m:sSup>
                              <m:sSupPr>
                                <m:ctrlPr>
                                  <a:rPr lang="en-US" altLang="zh-CN" sz="2000" b="0" i="1" smtClean="0">
                                    <a:solidFill>
                                      <a:schemeClr val="tx1"/>
                                    </a:solidFill>
                                    <a:latin typeface="Cambria Math" panose="02040503050406030204" pitchFamily="18" charset="0"/>
                                  </a:rPr>
                                </m:ctrlPr>
                              </m:sSupPr>
                              <m:e>
                                <m:r>
                                  <a:rPr lang="en-US" altLang="zh-CN" sz="2000" b="0" i="1" smtClean="0">
                                    <a:solidFill>
                                      <a:schemeClr val="tx1"/>
                                    </a:solidFill>
                                    <a:latin typeface="Cambria Math" panose="02040503050406030204" pitchFamily="18" charset="0"/>
                                  </a:rPr>
                                  <m:t>𝑊</m:t>
                                </m:r>
                              </m:e>
                              <m:sup>
                                <m:r>
                                  <a:rPr lang="en-US" altLang="zh-CN" sz="2000" b="0" i="1" smtClean="0">
                                    <a:solidFill>
                                      <a:schemeClr val="tx1"/>
                                    </a:solidFill>
                                    <a:latin typeface="Cambria Math" panose="02040503050406030204" pitchFamily="18" charset="0"/>
                                  </a:rPr>
                                  <m:t>2</m:t>
                                </m:r>
                              </m:sup>
                            </m:sSup>
                            <m:sSub>
                              <m:sSubPr>
                                <m:ctrlPr>
                                  <a:rPr lang="en-US" altLang="zh-CN" sz="2000" b="0" i="1" smtClean="0">
                                    <a:solidFill>
                                      <a:schemeClr val="tx1"/>
                                    </a:solidFill>
                                    <a:latin typeface="Cambria Math" panose="02040503050406030204" pitchFamily="18" charset="0"/>
                                  </a:rPr>
                                </m:ctrlPr>
                              </m:sSubPr>
                              <m:e>
                                <m:r>
                                  <a:rPr lang="zh-CN" altLang="en-US" sz="2000" b="0" i="1" smtClean="0">
                                    <a:solidFill>
                                      <a:schemeClr val="tx1"/>
                                    </a:solidFill>
                                    <a:latin typeface="Cambria Math" panose="02040503050406030204" pitchFamily="18" charset="0"/>
                                  </a:rPr>
                                  <m:t>𝜇</m:t>
                                </m:r>
                              </m:e>
                              <m:sub>
                                <m:r>
                                  <a:rPr lang="en-US" altLang="zh-CN" sz="2000" b="0" i="1" smtClean="0">
                                    <a:solidFill>
                                      <a:schemeClr val="tx1"/>
                                    </a:solidFill>
                                    <a:latin typeface="Cambria Math" panose="02040503050406030204" pitchFamily="18" charset="0"/>
                                  </a:rPr>
                                  <m:t>0</m:t>
                                </m:r>
                              </m:sub>
                            </m:sSub>
                            <m:sSub>
                              <m:sSubPr>
                                <m:ctrlPr>
                                  <a:rPr lang="en-US" altLang="zh-CN" sz="2000" b="0" i="1" smtClean="0">
                                    <a:solidFill>
                                      <a:schemeClr val="tx1"/>
                                    </a:solidFill>
                                    <a:latin typeface="Cambria Math" panose="02040503050406030204" pitchFamily="18" charset="0"/>
                                  </a:rPr>
                                </m:ctrlPr>
                              </m:sSubPr>
                              <m:e>
                                <m:r>
                                  <a:rPr lang="en-US" altLang="zh-CN" sz="2000" b="0" i="1" smtClean="0">
                                    <a:solidFill>
                                      <a:schemeClr val="tx1"/>
                                    </a:solidFill>
                                    <a:latin typeface="Cambria Math" panose="02040503050406030204" pitchFamily="18" charset="0"/>
                                  </a:rPr>
                                  <m:t>𝑆</m:t>
                                </m:r>
                              </m:e>
                              <m:sub>
                                <m:r>
                                  <a:rPr lang="en-US" altLang="zh-CN" sz="2000" b="0" i="1" smtClean="0">
                                    <a:solidFill>
                                      <a:schemeClr val="tx1"/>
                                    </a:solidFill>
                                    <a:latin typeface="Cambria Math" panose="02040503050406030204" pitchFamily="18" charset="0"/>
                                  </a:rPr>
                                  <m:t>0</m:t>
                                </m:r>
                              </m:sub>
                            </m:sSub>
                          </m:num>
                          <m:den>
                            <m:r>
                              <a:rPr lang="en-US" altLang="zh-CN" sz="2000" b="0" i="1" smtClean="0">
                                <a:solidFill>
                                  <a:schemeClr val="tx1"/>
                                </a:solidFill>
                                <a:latin typeface="Cambria Math" panose="02040503050406030204" pitchFamily="18" charset="0"/>
                              </a:rPr>
                              <m:t>2</m:t>
                            </m:r>
                            <m:sSup>
                              <m:sSupPr>
                                <m:ctrlPr>
                                  <a:rPr lang="en-US" altLang="zh-CN" sz="2000" b="0" i="1" smtClean="0">
                                    <a:solidFill>
                                      <a:schemeClr val="tx1"/>
                                    </a:solidFill>
                                    <a:latin typeface="Cambria Math" panose="02040503050406030204" pitchFamily="18" charset="0"/>
                                  </a:rPr>
                                </m:ctrlPr>
                              </m:sSupPr>
                              <m:e>
                                <m:r>
                                  <a:rPr lang="en-US" altLang="zh-CN" sz="2000" b="0" i="1" smtClean="0">
                                    <a:solidFill>
                                      <a:schemeClr val="tx1"/>
                                    </a:solidFill>
                                    <a:latin typeface="Cambria Math" panose="02040503050406030204" pitchFamily="18" charset="0"/>
                                  </a:rPr>
                                  <m:t>𝑙</m:t>
                                </m:r>
                              </m:e>
                              <m:sup>
                                <m:r>
                                  <a:rPr lang="en-US" altLang="zh-CN" sz="2000" b="0" i="1" smtClean="0">
                                    <a:solidFill>
                                      <a:schemeClr val="tx1"/>
                                    </a:solidFill>
                                    <a:latin typeface="Cambria Math" panose="02040503050406030204" pitchFamily="18" charset="0"/>
                                  </a:rPr>
                                  <m:t>2</m:t>
                                </m:r>
                              </m:sup>
                            </m:sSup>
                          </m:den>
                        </m:f>
                      </m:oMath>
                    </m:oMathPara>
                  </a14:m>
                  <a:endParaRPr lang="zh-CN" altLang="en-US" sz="2000" dirty="0">
                    <a:solidFill>
                      <a:schemeClr val="tx1"/>
                    </a:solidFill>
                  </a:endParaRPr>
                </a:p>
              </p:txBody>
            </p:sp>
          </mc:Choice>
          <mc:Fallback xmlns="">
            <p:sp>
              <p:nvSpPr>
                <p:cNvPr id="40" name="文本框 39"/>
                <p:cNvSpPr txBox="1">
                  <a:spLocks noRot="1" noChangeAspect="1" noMove="1" noResize="1" noEditPoints="1" noAdjustHandles="1" noChangeArrowheads="1" noChangeShapeType="1" noTextEdit="1"/>
                </p:cNvSpPr>
                <p:nvPr/>
              </p:nvSpPr>
              <p:spPr>
                <a:xfrm>
                  <a:off x="4858033" y="5099698"/>
                  <a:ext cx="2291846" cy="617541"/>
                </a:xfrm>
                <a:prstGeom prst="rect">
                  <a:avLst/>
                </a:prstGeom>
                <a:blipFill>
                  <a:blip r:embed="rId11"/>
                  <a:stretch>
                    <a:fillRect/>
                  </a:stretch>
                </a:blipFill>
                <a:ln>
                  <a:noFill/>
                </a:ln>
              </p:spPr>
              <p:txBody>
                <a:bodyPr/>
                <a:lstStyle/>
                <a:p>
                  <a:r>
                    <a:rPr lang="en-001">
                      <a:noFill/>
                    </a:rPr>
                    <a:t> </a:t>
                  </a:r>
                </a:p>
              </p:txBody>
            </p:sp>
          </mc:Fallback>
        </mc:AlternateContent>
      </p:grpSp>
      <p:grpSp>
        <p:nvGrpSpPr>
          <p:cNvPr id="8" name="Group 7">
            <a:extLst>
              <a:ext uri="{FF2B5EF4-FFF2-40B4-BE49-F238E27FC236}">
                <a16:creationId xmlns:a16="http://schemas.microsoft.com/office/drawing/2014/main" id="{083F446F-CB1C-4516-ADFB-DB853A45971B}"/>
              </a:ext>
            </a:extLst>
          </p:cNvPr>
          <p:cNvGrpSpPr/>
          <p:nvPr/>
        </p:nvGrpSpPr>
        <p:grpSpPr>
          <a:xfrm>
            <a:off x="5597788" y="4824930"/>
            <a:ext cx="3297858" cy="1361559"/>
            <a:chOff x="228977" y="5148975"/>
            <a:chExt cx="3297858" cy="1361559"/>
          </a:xfrm>
        </p:grpSpPr>
        <p:sp>
          <p:nvSpPr>
            <p:cNvPr id="6" name="Rectangle 5">
              <a:extLst>
                <a:ext uri="{FF2B5EF4-FFF2-40B4-BE49-F238E27FC236}">
                  <a16:creationId xmlns:a16="http://schemas.microsoft.com/office/drawing/2014/main" id="{532C14C9-33C8-49F4-A1EA-5BEEECAA909B}"/>
                </a:ext>
              </a:extLst>
            </p:cNvPr>
            <p:cNvSpPr/>
            <p:nvPr/>
          </p:nvSpPr>
          <p:spPr>
            <a:xfrm>
              <a:off x="283573" y="5210372"/>
              <a:ext cx="3243262" cy="1300162"/>
            </a:xfrm>
            <a:prstGeom prst="rect">
              <a:avLst/>
            </a:pr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38" name="Text Box 44"/>
            <p:cNvSpPr txBox="1">
              <a:spLocks noChangeArrowheads="1"/>
            </p:cNvSpPr>
            <p:nvPr/>
          </p:nvSpPr>
          <p:spPr bwMode="auto">
            <a:xfrm>
              <a:off x="228977" y="5148975"/>
              <a:ext cx="231452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spcBef>
                  <a:spcPct val="50000"/>
                </a:spcBef>
              </a:pPr>
              <a:r>
                <a:rPr lang="zh-CN" altLang="en-US" sz="2800" b="1">
                  <a:solidFill>
                    <a:srgbClr val="CC3300"/>
                  </a:solidFill>
                  <a:latin typeface="宋体" panose="02010600030101010101" pitchFamily="2" charset="-122"/>
                  <a:ea typeface="宋体" panose="02010600030101010101" pitchFamily="2" charset="-122"/>
                </a:rPr>
                <a:t>（</a:t>
              </a:r>
              <a:r>
                <a:rPr lang="en-US" altLang="zh-CN" sz="2400" b="1">
                  <a:solidFill>
                    <a:srgbClr val="CC3300"/>
                  </a:solidFill>
                  <a:latin typeface="Times New Roman" panose="02020603050405020304" pitchFamily="18" charset="0"/>
                  <a:ea typeface="宋体" panose="02010600030101010101" pitchFamily="2" charset="-122"/>
                </a:rPr>
                <a:t>Δ</a:t>
              </a:r>
              <a:r>
                <a:rPr lang="en-US" altLang="zh-CN" sz="2400" b="1" i="1">
                  <a:solidFill>
                    <a:srgbClr val="CC3300"/>
                  </a:solidFill>
                  <a:latin typeface="Times New Roman" panose="02020603050405020304" pitchFamily="18" charset="0"/>
                  <a:ea typeface="宋体" panose="02010600030101010101" pitchFamily="2" charset="-122"/>
                </a:rPr>
                <a:t>l</a:t>
              </a:r>
              <a:r>
                <a:rPr lang="en-US" altLang="zh-CN" sz="2400" b="1">
                  <a:solidFill>
                    <a:srgbClr val="CC3300"/>
                  </a:solidFill>
                  <a:latin typeface="Times New Roman" panose="02020603050405020304" pitchFamily="18" charset="0"/>
                  <a:ea typeface="宋体" panose="02010600030101010101" pitchFamily="2" charset="-122"/>
                </a:rPr>
                <a:t>/</a:t>
              </a:r>
              <a:r>
                <a:rPr lang="en-US" altLang="zh-CN" sz="2400" b="1" i="1">
                  <a:solidFill>
                    <a:srgbClr val="CC3300"/>
                  </a:solidFill>
                  <a:latin typeface="Times New Roman" panose="02020603050405020304" pitchFamily="18" charset="0"/>
                  <a:ea typeface="宋体" panose="02010600030101010101" pitchFamily="2" charset="-122"/>
                </a:rPr>
                <a:t>l</a:t>
              </a:r>
              <a:r>
                <a:rPr lang="en-US" altLang="zh-CN" sz="2400" b="1" baseline="-25000">
                  <a:solidFill>
                    <a:srgbClr val="CC3300"/>
                  </a:solidFill>
                  <a:latin typeface="Times New Roman" panose="02020603050405020304" pitchFamily="18" charset="0"/>
                  <a:ea typeface="宋体" panose="02010600030101010101" pitchFamily="2" charset="-122"/>
                </a:rPr>
                <a:t>0</a:t>
              </a:r>
              <a:r>
                <a:rPr lang="zh-CN" altLang="en-US" sz="2400" b="1">
                  <a:solidFill>
                    <a:srgbClr val="CC3300"/>
                  </a:solidFill>
                  <a:latin typeface="Times New Roman" panose="02020603050405020304" pitchFamily="18" charset="0"/>
                  <a:ea typeface="宋体" panose="02010600030101010101" pitchFamily="2" charset="-122"/>
                </a:rPr>
                <a:t>＜＜</a:t>
              </a:r>
              <a:r>
                <a:rPr lang="en-US" altLang="zh-CN" sz="2400" b="1">
                  <a:solidFill>
                    <a:srgbClr val="CC3300"/>
                  </a:solidFill>
                  <a:latin typeface="Times New Roman" panose="02020603050405020304" pitchFamily="18" charset="0"/>
                  <a:ea typeface="宋体" panose="02010600030101010101" pitchFamily="2" charset="-122"/>
                </a:rPr>
                <a:t>1</a:t>
              </a:r>
              <a:r>
                <a:rPr lang="zh-CN" altLang="en-US" sz="2800" b="1">
                  <a:solidFill>
                    <a:srgbClr val="CC3300"/>
                  </a:solidFill>
                  <a:latin typeface="宋体" panose="02010600030101010101" pitchFamily="2" charset="-122"/>
                  <a:ea typeface="宋体" panose="02010600030101010101" pitchFamily="2" charset="-122"/>
                </a:rPr>
                <a:t>）</a:t>
              </a:r>
            </a:p>
          </p:txBody>
        </p:sp>
        <p:pic>
          <p:nvPicPr>
            <p:cNvPr id="3" name="Picture 2">
              <a:extLst>
                <a:ext uri="{FF2B5EF4-FFF2-40B4-BE49-F238E27FC236}">
                  <a16:creationId xmlns:a16="http://schemas.microsoft.com/office/drawing/2014/main" id="{D6F17EC5-306C-4B2F-81CD-351526A0D19E}"/>
                </a:ext>
              </a:extLst>
            </p:cNvPr>
            <p:cNvPicPr>
              <a:picLocks noChangeAspect="1"/>
            </p:cNvPicPr>
            <p:nvPr/>
          </p:nvPicPr>
          <p:blipFill>
            <a:blip r:embed="rId12"/>
            <a:stretch>
              <a:fillRect/>
            </a:stretch>
          </p:blipFill>
          <p:spPr>
            <a:xfrm>
              <a:off x="500488" y="5800924"/>
              <a:ext cx="2917007" cy="617542"/>
            </a:xfrm>
            <a:prstGeom prst="rect">
              <a:avLst/>
            </a:prstGeom>
          </p:spPr>
        </p:pic>
      </p:grpSp>
      <p:graphicFrame>
        <p:nvGraphicFramePr>
          <p:cNvPr id="5" name="Object 4">
            <a:extLst>
              <a:ext uri="{FF2B5EF4-FFF2-40B4-BE49-F238E27FC236}">
                <a16:creationId xmlns:a16="http://schemas.microsoft.com/office/drawing/2014/main" id="{4233CF75-622A-43E2-8AEF-07D9B656DB31}"/>
              </a:ext>
            </a:extLst>
          </p:cNvPr>
          <p:cNvGraphicFramePr>
            <a:graphicFrameLocks noChangeAspect="1"/>
          </p:cNvGraphicFramePr>
          <p:nvPr>
            <p:extLst>
              <p:ext uri="{D42A27DB-BD31-4B8C-83A1-F6EECF244321}">
                <p14:modId xmlns:p14="http://schemas.microsoft.com/office/powerpoint/2010/main" val="2310628767"/>
              </p:ext>
            </p:extLst>
          </p:nvPr>
        </p:nvGraphicFramePr>
        <p:xfrm>
          <a:off x="2486145" y="2890283"/>
          <a:ext cx="5925044" cy="2100819"/>
        </p:xfrm>
        <a:graphic>
          <a:graphicData uri="http://schemas.openxmlformats.org/presentationml/2006/ole">
            <mc:AlternateContent xmlns:mc="http://schemas.openxmlformats.org/markup-compatibility/2006">
              <mc:Choice xmlns:v="urn:schemas-microsoft-com:vml" Requires="v">
                <p:oleObj name="Equation" r:id="rId13" imgW="4406760" imgH="1562040" progId="Equation.DSMT4">
                  <p:embed/>
                </p:oleObj>
              </mc:Choice>
              <mc:Fallback>
                <p:oleObj name="Equation" r:id="rId13" imgW="4406760" imgH="1562040" progId="Equation.DSMT4">
                  <p:embed/>
                  <p:pic>
                    <p:nvPicPr>
                      <p:cNvPr id="0" name=""/>
                      <p:cNvPicPr/>
                      <p:nvPr/>
                    </p:nvPicPr>
                    <p:blipFill>
                      <a:blip r:embed="rId14"/>
                      <a:stretch>
                        <a:fillRect/>
                      </a:stretch>
                    </p:blipFill>
                    <p:spPr>
                      <a:xfrm>
                        <a:off x="2486145" y="2890283"/>
                        <a:ext cx="5925044" cy="2100819"/>
                      </a:xfrm>
                      <a:prstGeom prst="rect">
                        <a:avLst/>
                      </a:prstGeom>
                    </p:spPr>
                  </p:pic>
                </p:oleObj>
              </mc:Fallback>
            </mc:AlternateContent>
          </a:graphicData>
        </a:graphic>
      </p:graphicFrame>
      <p:sp>
        <p:nvSpPr>
          <p:cNvPr id="10" name="Slide Number Placeholder 9">
            <a:extLst>
              <a:ext uri="{FF2B5EF4-FFF2-40B4-BE49-F238E27FC236}">
                <a16:creationId xmlns:a16="http://schemas.microsoft.com/office/drawing/2014/main" id="{4A61E438-B866-438B-8411-87AB115E4C3B}"/>
              </a:ext>
            </a:extLst>
          </p:cNvPr>
          <p:cNvSpPr>
            <a:spLocks noGrp="1"/>
          </p:cNvSpPr>
          <p:nvPr>
            <p:ph type="sldNum" sz="quarter" idx="12"/>
          </p:nvPr>
        </p:nvSpPr>
        <p:spPr/>
        <p:txBody>
          <a:bodyPr/>
          <a:lstStyle/>
          <a:p>
            <a:fld id="{B53602B4-F12B-41CD-B648-531F86B2CC91}" type="slidenum">
              <a:rPr lang="zh-CN" altLang="en-US" smtClean="0"/>
              <a:t>8</a:t>
            </a:fld>
            <a:endParaRPr lang="zh-CN" altLang="en-US"/>
          </a:p>
        </p:txBody>
      </p:sp>
      <p:sp>
        <p:nvSpPr>
          <p:cNvPr id="4" name="Arrow: Right 3">
            <a:extLst>
              <a:ext uri="{FF2B5EF4-FFF2-40B4-BE49-F238E27FC236}">
                <a16:creationId xmlns:a16="http://schemas.microsoft.com/office/drawing/2014/main" id="{314553A8-5CD6-41DE-9680-8358E31701BF}"/>
              </a:ext>
            </a:extLst>
          </p:cNvPr>
          <p:cNvSpPr/>
          <p:nvPr/>
        </p:nvSpPr>
        <p:spPr>
          <a:xfrm rot="12805779">
            <a:off x="4252098" y="4930241"/>
            <a:ext cx="1112703" cy="4577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454095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3.1.2</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324799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灵敏度与非线性</a:t>
            </a:r>
          </a:p>
        </p:txBody>
      </p:sp>
      <p:sp>
        <p:nvSpPr>
          <p:cNvPr id="31" name="Text Box 4"/>
          <p:cNvSpPr txBox="1">
            <a:spLocks noChangeArrowheads="1"/>
          </p:cNvSpPr>
          <p:nvPr/>
        </p:nvSpPr>
        <p:spPr bwMode="auto">
          <a:xfrm>
            <a:off x="721518" y="2825786"/>
            <a:ext cx="8222457" cy="3435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marL="342900" indent="-342900" eaLnBrk="1" hangingPunct="1">
              <a:lnSpc>
                <a:spcPct val="155000"/>
              </a:lnSpc>
              <a:buFont typeface="Wingdings" panose="05000000000000000000" pitchFamily="2" charset="2"/>
              <a:buChar char="Ø"/>
            </a:pPr>
            <a:r>
              <a:rPr lang="en-US" altLang="zh-CN" sz="2400" b="1" dirty="0">
                <a:solidFill>
                  <a:srgbClr val="008000"/>
                </a:solidFill>
                <a:latin typeface="宋体" panose="02010600030101010101" pitchFamily="2" charset="-122"/>
                <a:ea typeface="宋体" panose="02010600030101010101" pitchFamily="2" charset="-122"/>
              </a:rPr>
              <a:t>FOR </a:t>
            </a:r>
            <a:r>
              <a:rPr lang="zh-CN" altLang="en-US" sz="2400" b="1" dirty="0">
                <a:latin typeface="宋体" panose="02010600030101010101" pitchFamily="2" charset="-122"/>
                <a:ea typeface="宋体" panose="02010600030101010101" pitchFamily="2" charset="-122"/>
              </a:rPr>
              <a:t>灵敏度</a:t>
            </a:r>
            <a:r>
              <a:rPr lang="zh-CN" altLang="en-US" sz="2400" b="1" dirty="0">
                <a:solidFill>
                  <a:srgbClr val="FF0000"/>
                </a:solidFill>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，初始空气隙</a:t>
            </a:r>
            <a:r>
              <a:rPr lang="en-US" altLang="zh-CN" sz="2400" b="1" i="1" dirty="0">
                <a:latin typeface="Times New Roman" panose="02020603050405020304" pitchFamily="18" charset="0"/>
                <a:ea typeface="宋体" panose="02010600030101010101" pitchFamily="2" charset="-122"/>
              </a:rPr>
              <a:t>l</a:t>
            </a:r>
            <a:r>
              <a:rPr lang="en-US" altLang="zh-CN" sz="2400" b="1" baseline="-25000" dirty="0">
                <a:latin typeface="Times New Roman" panose="02020603050405020304" pitchFamily="18" charset="0"/>
                <a:ea typeface="宋体" panose="02010600030101010101" pitchFamily="2" charset="-122"/>
              </a:rPr>
              <a:t>0</a:t>
            </a:r>
            <a:r>
              <a:rPr lang="en-US" altLang="zh-CN" sz="2400" b="1" dirty="0">
                <a:solidFill>
                  <a:srgbClr val="FF0000"/>
                </a:solidFill>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a:t>
            </a:r>
            <a:endParaRPr lang="en-US" altLang="zh-CN" sz="2400" b="1" dirty="0">
              <a:latin typeface="宋体" panose="02010600030101010101" pitchFamily="2" charset="-122"/>
              <a:ea typeface="宋体" panose="02010600030101010101" pitchFamily="2" charset="-122"/>
            </a:endParaRPr>
          </a:p>
          <a:p>
            <a:pPr eaLnBrk="1" hangingPunct="1">
              <a:lnSpc>
                <a:spcPct val="155000"/>
              </a:lnSpc>
            </a:pPr>
            <a:r>
              <a:rPr lang="en-US" altLang="zh-CN" sz="2400" b="1" dirty="0">
                <a:solidFill>
                  <a:srgbClr val="FF33CC"/>
                </a:solidFill>
                <a:latin typeface="宋体" panose="02010600030101010101" pitchFamily="2" charset="-122"/>
                <a:ea typeface="宋体" panose="02010600030101010101" pitchFamily="2" charset="-122"/>
              </a:rPr>
              <a:t>  THEN </a:t>
            </a:r>
            <a:r>
              <a:rPr lang="zh-CN" altLang="en-US" sz="2400" b="1" dirty="0">
                <a:latin typeface="宋体" panose="02010600030101010101" pitchFamily="2" charset="-122"/>
                <a:ea typeface="宋体" panose="02010600030101010101" pitchFamily="2" charset="-122"/>
              </a:rPr>
              <a:t>被测量的范围</a:t>
            </a:r>
            <a:r>
              <a:rPr lang="zh-CN" altLang="en-US" sz="2400" b="1" dirty="0">
                <a:solidFill>
                  <a:srgbClr val="FF0000"/>
                </a:solidFill>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，灵敏度的非线性</a:t>
            </a:r>
            <a:r>
              <a:rPr lang="zh-CN" altLang="en-US" sz="2400" b="1" dirty="0">
                <a:solidFill>
                  <a:srgbClr val="FF0000"/>
                </a:solidFill>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a:t>
            </a:r>
          </a:p>
          <a:p>
            <a:pPr marL="342900" indent="-342900" eaLnBrk="1" hangingPunct="1">
              <a:lnSpc>
                <a:spcPct val="155000"/>
              </a:lnSpc>
              <a:buFont typeface="Wingdings" panose="05000000000000000000" pitchFamily="2" charset="2"/>
              <a:buChar char="Ø"/>
            </a:pPr>
            <a:r>
              <a:rPr lang="en-US" altLang="zh-CN" sz="2400" b="1" dirty="0">
                <a:solidFill>
                  <a:srgbClr val="008000"/>
                </a:solidFill>
                <a:latin typeface="宋体" panose="02010600030101010101" pitchFamily="2" charset="-122"/>
                <a:ea typeface="宋体" panose="02010600030101010101" pitchFamily="2" charset="-122"/>
              </a:rPr>
              <a:t>FOR </a:t>
            </a:r>
            <a:r>
              <a:rPr lang="zh-CN" altLang="en-US" sz="2400" b="1" dirty="0">
                <a:latin typeface="宋体" panose="02010600030101010101" pitchFamily="2" charset="-122"/>
                <a:ea typeface="宋体" panose="02010600030101010101" pitchFamily="2" charset="-122"/>
              </a:rPr>
              <a:t>灵敏度</a:t>
            </a:r>
            <a:r>
              <a:rPr lang="zh-CN" altLang="en-US" sz="2400" b="1" dirty="0">
                <a:solidFill>
                  <a:srgbClr val="FF0000"/>
                </a:solidFill>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，空气隙等效截面积</a:t>
            </a:r>
            <a:r>
              <a:rPr lang="zh-CN" altLang="en-US" sz="2400" b="1" dirty="0">
                <a:solidFill>
                  <a:srgbClr val="FF0000"/>
                </a:solidFill>
                <a:latin typeface="宋体" panose="02010600030101010101" pitchFamily="2" charset="-122"/>
                <a:ea typeface="宋体" panose="02010600030101010101" pitchFamily="2" charset="-122"/>
              </a:rPr>
              <a:t>↑</a:t>
            </a:r>
            <a:r>
              <a:rPr lang="en-US" altLang="zh-CN" sz="2400" b="1" dirty="0">
                <a:solidFill>
                  <a:schemeClr val="folHlink"/>
                </a:solidFill>
                <a:latin typeface="宋体" panose="02010600030101010101" pitchFamily="2" charset="-122"/>
                <a:ea typeface="宋体" panose="02010600030101010101" pitchFamily="2" charset="-122"/>
              </a:rPr>
              <a:t>AND</a:t>
            </a:r>
            <a:r>
              <a:rPr lang="en-US" altLang="zh-CN" sz="2400" b="1" dirty="0">
                <a:solidFill>
                  <a:schemeClr val="tx2"/>
                </a:solidFill>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线圈匝数</a:t>
            </a:r>
            <a:r>
              <a:rPr lang="zh-CN" altLang="en-US" sz="2400" b="1" dirty="0">
                <a:solidFill>
                  <a:srgbClr val="FF0000"/>
                </a:solidFill>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a:t>
            </a:r>
            <a:r>
              <a:rPr lang="zh-CN" altLang="en-US" sz="2400" b="1" dirty="0">
                <a:solidFill>
                  <a:schemeClr val="tx2"/>
                </a:solidFill>
                <a:latin typeface="宋体" panose="02010600030101010101" pitchFamily="2" charset="-122"/>
                <a:ea typeface="宋体" panose="02010600030101010101" pitchFamily="2" charset="-122"/>
              </a:rPr>
              <a:t> </a:t>
            </a:r>
            <a:r>
              <a:rPr lang="en-US" altLang="zh-CN" sz="2400" b="1" dirty="0">
                <a:solidFill>
                  <a:srgbClr val="FF33CC"/>
                </a:solidFill>
                <a:latin typeface="宋体" panose="02010600030101010101" pitchFamily="2" charset="-122"/>
                <a:ea typeface="宋体" panose="02010600030101010101" pitchFamily="2" charset="-122"/>
              </a:rPr>
              <a:t>THEN </a:t>
            </a:r>
            <a:r>
              <a:rPr lang="zh-CN" altLang="en-US" sz="2400" b="1" dirty="0">
                <a:latin typeface="宋体" panose="02010600030101010101" pitchFamily="2" charset="-122"/>
                <a:ea typeface="宋体" panose="02010600030101010101" pitchFamily="2" charset="-122"/>
              </a:rPr>
              <a:t>传感器几何尺寸</a:t>
            </a:r>
            <a:r>
              <a:rPr lang="zh-CN" altLang="en-US" sz="2400" b="1" dirty="0">
                <a:solidFill>
                  <a:srgbClr val="FF0000"/>
                </a:solidFill>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、重量</a:t>
            </a:r>
            <a:r>
              <a:rPr lang="zh-CN" altLang="en-US" sz="2400" b="1" dirty="0">
                <a:solidFill>
                  <a:srgbClr val="FF0000"/>
                </a:solidFill>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 。</a:t>
            </a:r>
          </a:p>
          <a:p>
            <a:pPr eaLnBrk="1" hangingPunct="1">
              <a:lnSpc>
                <a:spcPct val="155000"/>
              </a:lnSpc>
            </a:pPr>
            <a:r>
              <a:rPr lang="zh-CN" altLang="en-US" sz="2400" b="1" dirty="0">
                <a:solidFill>
                  <a:schemeClr val="tx2"/>
                </a:solidFill>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与变截面型自感传感器相比，</a:t>
            </a:r>
            <a:r>
              <a:rPr lang="zh-CN" altLang="en-US" sz="2400" b="1" dirty="0">
                <a:solidFill>
                  <a:srgbClr val="3333CC"/>
                </a:solidFill>
                <a:latin typeface="宋体" panose="02010600030101010101" pitchFamily="2" charset="-122"/>
                <a:ea typeface="宋体" panose="02010600030101010101" pitchFamily="2" charset="-122"/>
              </a:rPr>
              <a:t>变气隙型</a:t>
            </a:r>
            <a:r>
              <a:rPr lang="zh-CN" altLang="en-US" sz="2400" b="1" dirty="0">
                <a:latin typeface="宋体" panose="02010600030101010101" pitchFamily="2" charset="-122"/>
                <a:ea typeface="宋体" panose="02010600030101010101" pitchFamily="2" charset="-122"/>
              </a:rPr>
              <a:t>的</a:t>
            </a:r>
            <a:r>
              <a:rPr lang="zh-CN" altLang="en-US" sz="2400" b="1" dirty="0">
                <a:solidFill>
                  <a:srgbClr val="3333CC"/>
                </a:solidFill>
                <a:latin typeface="宋体" panose="02010600030101010101" pitchFamily="2" charset="-122"/>
                <a:ea typeface="宋体" panose="02010600030101010101" pitchFamily="2" charset="-122"/>
              </a:rPr>
              <a:t>灵敏度较高</a:t>
            </a:r>
            <a:r>
              <a:rPr lang="zh-CN" altLang="en-US" sz="2400" b="1" dirty="0">
                <a:latin typeface="宋体" panose="02010600030101010101" pitchFamily="2" charset="-122"/>
                <a:ea typeface="宋体" panose="02010600030101010101" pitchFamily="2" charset="-122"/>
              </a:rPr>
              <a:t>，但</a:t>
            </a:r>
            <a:r>
              <a:rPr lang="zh-CN" altLang="en-US" sz="2400" b="1" dirty="0">
                <a:solidFill>
                  <a:srgbClr val="C00000"/>
                </a:solidFill>
                <a:latin typeface="宋体" panose="02010600030101010101" pitchFamily="2" charset="-122"/>
                <a:ea typeface="宋体" panose="02010600030101010101" pitchFamily="2" charset="-122"/>
              </a:rPr>
              <a:t>非线性严重，自由行程小，制造装配困难，使用逐渐减少</a:t>
            </a:r>
            <a:r>
              <a:rPr lang="zh-CN" altLang="en-US" sz="2400" b="1" dirty="0">
                <a:latin typeface="宋体" panose="02010600030101010101" pitchFamily="2" charset="-122"/>
                <a:ea typeface="宋体" panose="02010600030101010101" pitchFamily="2" charset="-122"/>
              </a:rPr>
              <a:t>。</a:t>
            </a:r>
          </a:p>
        </p:txBody>
      </p:sp>
      <p:graphicFrame>
        <p:nvGraphicFramePr>
          <p:cNvPr id="9" name="Object 8">
            <a:extLst>
              <a:ext uri="{FF2B5EF4-FFF2-40B4-BE49-F238E27FC236}">
                <a16:creationId xmlns:a16="http://schemas.microsoft.com/office/drawing/2014/main" id="{6B7B609D-1192-4A91-8E02-51E1C6477054}"/>
              </a:ext>
            </a:extLst>
          </p:cNvPr>
          <p:cNvGraphicFramePr>
            <a:graphicFrameLocks noChangeAspect="1"/>
          </p:cNvGraphicFramePr>
          <p:nvPr>
            <p:extLst>
              <p:ext uri="{D42A27DB-BD31-4B8C-83A1-F6EECF244321}">
                <p14:modId xmlns:p14="http://schemas.microsoft.com/office/powerpoint/2010/main" val="1185544079"/>
              </p:ext>
            </p:extLst>
          </p:nvPr>
        </p:nvGraphicFramePr>
        <p:xfrm>
          <a:off x="374273" y="1446267"/>
          <a:ext cx="3209925" cy="973138"/>
        </p:xfrm>
        <a:graphic>
          <a:graphicData uri="http://schemas.openxmlformats.org/presentationml/2006/ole">
            <mc:AlternateContent xmlns:mc="http://schemas.openxmlformats.org/markup-compatibility/2006">
              <mc:Choice xmlns:v="urn:schemas-microsoft-com:vml" Requires="v">
                <p:oleObj name="Equation" r:id="rId3" imgW="2387520" imgH="723600" progId="Equation.DSMT4">
                  <p:embed/>
                </p:oleObj>
              </mc:Choice>
              <mc:Fallback>
                <p:oleObj name="Equation" r:id="rId3" imgW="2387520" imgH="723600" progId="Equation.DSMT4">
                  <p:embed/>
                  <p:pic>
                    <p:nvPicPr>
                      <p:cNvPr id="5" name="Object 4">
                        <a:extLst>
                          <a:ext uri="{FF2B5EF4-FFF2-40B4-BE49-F238E27FC236}">
                            <a16:creationId xmlns:a16="http://schemas.microsoft.com/office/drawing/2014/main" id="{4233CF75-622A-43E2-8AEF-07D9B656DB31}"/>
                          </a:ext>
                        </a:extLst>
                      </p:cNvPr>
                      <p:cNvPicPr/>
                      <p:nvPr/>
                    </p:nvPicPr>
                    <p:blipFill>
                      <a:blip r:embed="rId4"/>
                      <a:stretch>
                        <a:fillRect/>
                      </a:stretch>
                    </p:blipFill>
                    <p:spPr>
                      <a:xfrm>
                        <a:off x="374273" y="1446267"/>
                        <a:ext cx="3209925" cy="973138"/>
                      </a:xfrm>
                      <a:prstGeom prst="rect">
                        <a:avLst/>
                      </a:prstGeom>
                    </p:spPr>
                  </p:pic>
                </p:oleObj>
              </mc:Fallback>
            </mc:AlternateContent>
          </a:graphicData>
        </a:graphic>
      </p:graphicFrame>
      <p:grpSp>
        <p:nvGrpSpPr>
          <p:cNvPr id="10" name="Group 9">
            <a:extLst>
              <a:ext uri="{FF2B5EF4-FFF2-40B4-BE49-F238E27FC236}">
                <a16:creationId xmlns:a16="http://schemas.microsoft.com/office/drawing/2014/main" id="{49F05D43-824E-434F-99BD-9978FD8E0551}"/>
              </a:ext>
            </a:extLst>
          </p:cNvPr>
          <p:cNvGrpSpPr/>
          <p:nvPr/>
        </p:nvGrpSpPr>
        <p:grpSpPr>
          <a:xfrm>
            <a:off x="3842600" y="1280013"/>
            <a:ext cx="3297858" cy="1361559"/>
            <a:chOff x="228977" y="5148975"/>
            <a:chExt cx="3297858" cy="1361559"/>
          </a:xfrm>
        </p:grpSpPr>
        <p:sp>
          <p:nvSpPr>
            <p:cNvPr id="11" name="Rectangle 10">
              <a:extLst>
                <a:ext uri="{FF2B5EF4-FFF2-40B4-BE49-F238E27FC236}">
                  <a16:creationId xmlns:a16="http://schemas.microsoft.com/office/drawing/2014/main" id="{21439C02-02BF-46C7-A38A-FE6045176946}"/>
                </a:ext>
              </a:extLst>
            </p:cNvPr>
            <p:cNvSpPr/>
            <p:nvPr/>
          </p:nvSpPr>
          <p:spPr>
            <a:xfrm>
              <a:off x="283573" y="5210372"/>
              <a:ext cx="3243262" cy="1300162"/>
            </a:xfrm>
            <a:prstGeom prst="rect">
              <a:avLst/>
            </a:pr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12" name="Text Box 44">
              <a:extLst>
                <a:ext uri="{FF2B5EF4-FFF2-40B4-BE49-F238E27FC236}">
                  <a16:creationId xmlns:a16="http://schemas.microsoft.com/office/drawing/2014/main" id="{02F93FF9-8901-4202-BE91-BDBD6B2EAF29}"/>
                </a:ext>
              </a:extLst>
            </p:cNvPr>
            <p:cNvSpPr txBox="1">
              <a:spLocks noChangeArrowheads="1"/>
            </p:cNvSpPr>
            <p:nvPr/>
          </p:nvSpPr>
          <p:spPr bwMode="auto">
            <a:xfrm>
              <a:off x="228977" y="5148975"/>
              <a:ext cx="231452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spcBef>
                  <a:spcPct val="50000"/>
                </a:spcBef>
              </a:pPr>
              <a:r>
                <a:rPr lang="zh-CN" altLang="en-US" sz="2800" b="1">
                  <a:solidFill>
                    <a:srgbClr val="CC3300"/>
                  </a:solidFill>
                  <a:latin typeface="宋体" panose="02010600030101010101" pitchFamily="2" charset="-122"/>
                  <a:ea typeface="宋体" panose="02010600030101010101" pitchFamily="2" charset="-122"/>
                </a:rPr>
                <a:t>（</a:t>
              </a:r>
              <a:r>
                <a:rPr lang="en-US" altLang="zh-CN" sz="2400" b="1">
                  <a:solidFill>
                    <a:srgbClr val="CC3300"/>
                  </a:solidFill>
                  <a:latin typeface="Times New Roman" panose="02020603050405020304" pitchFamily="18" charset="0"/>
                  <a:ea typeface="宋体" panose="02010600030101010101" pitchFamily="2" charset="-122"/>
                </a:rPr>
                <a:t>Δ</a:t>
              </a:r>
              <a:r>
                <a:rPr lang="en-US" altLang="zh-CN" sz="2400" b="1" i="1">
                  <a:solidFill>
                    <a:srgbClr val="CC3300"/>
                  </a:solidFill>
                  <a:latin typeface="Times New Roman" panose="02020603050405020304" pitchFamily="18" charset="0"/>
                  <a:ea typeface="宋体" panose="02010600030101010101" pitchFamily="2" charset="-122"/>
                </a:rPr>
                <a:t>l</a:t>
              </a:r>
              <a:r>
                <a:rPr lang="en-US" altLang="zh-CN" sz="2400" b="1">
                  <a:solidFill>
                    <a:srgbClr val="CC3300"/>
                  </a:solidFill>
                  <a:latin typeface="Times New Roman" panose="02020603050405020304" pitchFamily="18" charset="0"/>
                  <a:ea typeface="宋体" panose="02010600030101010101" pitchFamily="2" charset="-122"/>
                </a:rPr>
                <a:t>/</a:t>
              </a:r>
              <a:r>
                <a:rPr lang="en-US" altLang="zh-CN" sz="2400" b="1" i="1">
                  <a:solidFill>
                    <a:srgbClr val="CC3300"/>
                  </a:solidFill>
                  <a:latin typeface="Times New Roman" panose="02020603050405020304" pitchFamily="18" charset="0"/>
                  <a:ea typeface="宋体" panose="02010600030101010101" pitchFamily="2" charset="-122"/>
                </a:rPr>
                <a:t>l</a:t>
              </a:r>
              <a:r>
                <a:rPr lang="en-US" altLang="zh-CN" sz="2400" b="1" baseline="-25000">
                  <a:solidFill>
                    <a:srgbClr val="CC3300"/>
                  </a:solidFill>
                  <a:latin typeface="Times New Roman" panose="02020603050405020304" pitchFamily="18" charset="0"/>
                  <a:ea typeface="宋体" panose="02010600030101010101" pitchFamily="2" charset="-122"/>
                </a:rPr>
                <a:t>0</a:t>
              </a:r>
              <a:r>
                <a:rPr lang="zh-CN" altLang="en-US" sz="2400" b="1">
                  <a:solidFill>
                    <a:srgbClr val="CC3300"/>
                  </a:solidFill>
                  <a:latin typeface="Times New Roman" panose="02020603050405020304" pitchFamily="18" charset="0"/>
                  <a:ea typeface="宋体" panose="02010600030101010101" pitchFamily="2" charset="-122"/>
                </a:rPr>
                <a:t>＜＜</a:t>
              </a:r>
              <a:r>
                <a:rPr lang="en-US" altLang="zh-CN" sz="2400" b="1">
                  <a:solidFill>
                    <a:srgbClr val="CC3300"/>
                  </a:solidFill>
                  <a:latin typeface="Times New Roman" panose="02020603050405020304" pitchFamily="18" charset="0"/>
                  <a:ea typeface="宋体" panose="02010600030101010101" pitchFamily="2" charset="-122"/>
                </a:rPr>
                <a:t>1</a:t>
              </a:r>
              <a:r>
                <a:rPr lang="zh-CN" altLang="en-US" sz="2800" b="1">
                  <a:solidFill>
                    <a:srgbClr val="CC3300"/>
                  </a:solidFill>
                  <a:latin typeface="宋体" panose="02010600030101010101" pitchFamily="2" charset="-122"/>
                  <a:ea typeface="宋体" panose="02010600030101010101" pitchFamily="2" charset="-122"/>
                </a:rPr>
                <a:t>）</a:t>
              </a:r>
            </a:p>
          </p:txBody>
        </p:sp>
        <p:pic>
          <p:nvPicPr>
            <p:cNvPr id="13" name="Picture 12">
              <a:extLst>
                <a:ext uri="{FF2B5EF4-FFF2-40B4-BE49-F238E27FC236}">
                  <a16:creationId xmlns:a16="http://schemas.microsoft.com/office/drawing/2014/main" id="{C5EDC56F-04CD-4E00-A050-EE844D467C89}"/>
                </a:ext>
              </a:extLst>
            </p:cNvPr>
            <p:cNvPicPr>
              <a:picLocks noChangeAspect="1"/>
            </p:cNvPicPr>
            <p:nvPr/>
          </p:nvPicPr>
          <p:blipFill>
            <a:blip r:embed="rId5"/>
            <a:stretch>
              <a:fillRect/>
            </a:stretch>
          </p:blipFill>
          <p:spPr>
            <a:xfrm>
              <a:off x="500488" y="5800924"/>
              <a:ext cx="2917007" cy="617542"/>
            </a:xfrm>
            <a:prstGeom prst="rect">
              <a:avLst/>
            </a:prstGeom>
          </p:spPr>
        </p:pic>
      </p:grpSp>
      <p:graphicFrame>
        <p:nvGraphicFramePr>
          <p:cNvPr id="4" name="Object 3">
            <a:extLst>
              <a:ext uri="{FF2B5EF4-FFF2-40B4-BE49-F238E27FC236}">
                <a16:creationId xmlns:a16="http://schemas.microsoft.com/office/drawing/2014/main" id="{30E44D94-EF4A-4818-BD21-FC410DA6D3CD}"/>
              </a:ext>
            </a:extLst>
          </p:cNvPr>
          <p:cNvGraphicFramePr>
            <a:graphicFrameLocks noChangeAspect="1"/>
          </p:cNvGraphicFramePr>
          <p:nvPr>
            <p:extLst>
              <p:ext uri="{D42A27DB-BD31-4B8C-83A1-F6EECF244321}">
                <p14:modId xmlns:p14="http://schemas.microsoft.com/office/powerpoint/2010/main" val="1191237966"/>
              </p:ext>
            </p:extLst>
          </p:nvPr>
        </p:nvGraphicFramePr>
        <p:xfrm>
          <a:off x="7447246" y="1608289"/>
          <a:ext cx="1322481" cy="709497"/>
        </p:xfrm>
        <a:graphic>
          <a:graphicData uri="http://schemas.openxmlformats.org/presentationml/2006/ole">
            <mc:AlternateContent xmlns:mc="http://schemas.openxmlformats.org/markup-compatibility/2006">
              <mc:Choice xmlns:v="urn:schemas-microsoft-com:vml" Requires="v">
                <p:oleObj name="Equation" r:id="rId6" imgW="1609320" imgH="864391" progId="Equation.DSMT4">
                  <p:embed/>
                </p:oleObj>
              </mc:Choice>
              <mc:Fallback>
                <p:oleObj name="Equation" r:id="rId6" imgW="1609320" imgH="864391" progId="Equation.DSMT4">
                  <p:embed/>
                  <p:pic>
                    <p:nvPicPr>
                      <p:cNvPr id="0" name=""/>
                      <p:cNvPicPr/>
                      <p:nvPr/>
                    </p:nvPicPr>
                    <p:blipFill>
                      <a:blip r:embed="rId7"/>
                      <a:stretch>
                        <a:fillRect/>
                      </a:stretch>
                    </p:blipFill>
                    <p:spPr>
                      <a:xfrm>
                        <a:off x="7447246" y="1608289"/>
                        <a:ext cx="1322481" cy="709497"/>
                      </a:xfrm>
                      <a:prstGeom prst="rect">
                        <a:avLst/>
                      </a:prstGeom>
                    </p:spPr>
                  </p:pic>
                </p:oleObj>
              </mc:Fallback>
            </mc:AlternateContent>
          </a:graphicData>
        </a:graphic>
      </p:graphicFrame>
      <p:sp>
        <p:nvSpPr>
          <p:cNvPr id="15" name="Rectangle 14">
            <a:extLst>
              <a:ext uri="{FF2B5EF4-FFF2-40B4-BE49-F238E27FC236}">
                <a16:creationId xmlns:a16="http://schemas.microsoft.com/office/drawing/2014/main" id="{F88A50C0-E09D-4407-9ECB-B098F9CCEB75}"/>
              </a:ext>
            </a:extLst>
          </p:cNvPr>
          <p:cNvSpPr/>
          <p:nvPr/>
        </p:nvSpPr>
        <p:spPr>
          <a:xfrm>
            <a:off x="7248033" y="1341410"/>
            <a:ext cx="1695942" cy="1300162"/>
          </a:xfrm>
          <a:prstGeom prst="rect">
            <a:avLst/>
          </a:pr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5" name="Slide Number Placeholder 4">
            <a:extLst>
              <a:ext uri="{FF2B5EF4-FFF2-40B4-BE49-F238E27FC236}">
                <a16:creationId xmlns:a16="http://schemas.microsoft.com/office/drawing/2014/main" id="{FA3C142E-F2DE-4411-8646-65CA04880E44}"/>
              </a:ext>
            </a:extLst>
          </p:cNvPr>
          <p:cNvSpPr>
            <a:spLocks noGrp="1"/>
          </p:cNvSpPr>
          <p:nvPr>
            <p:ph type="sldNum" sz="quarter" idx="12"/>
          </p:nvPr>
        </p:nvSpPr>
        <p:spPr/>
        <p:txBody>
          <a:bodyPr/>
          <a:lstStyle/>
          <a:p>
            <a:fld id="{B53602B4-F12B-41CD-B648-531F86B2CC91}" type="slidenum">
              <a:rPr lang="zh-CN" altLang="en-US" smtClean="0"/>
              <a:t>9</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3.1.2</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324799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灵敏度与非线性</a:t>
            </a:r>
          </a:p>
        </p:txBody>
      </p:sp>
      <p:sp>
        <p:nvSpPr>
          <p:cNvPr id="32" name="Text Box 17"/>
          <p:cNvSpPr txBox="1">
            <a:spLocks noChangeArrowheads="1"/>
          </p:cNvSpPr>
          <p:nvPr/>
        </p:nvSpPr>
        <p:spPr bwMode="auto">
          <a:xfrm>
            <a:off x="540543" y="1710937"/>
            <a:ext cx="7543800" cy="934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lnSpc>
                <a:spcPct val="120000"/>
              </a:lnSpc>
              <a:spcBef>
                <a:spcPct val="50000"/>
              </a:spcBef>
            </a:pP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差动式传感器与单极式比较，其</a:t>
            </a:r>
            <a:r>
              <a:rPr lang="zh-CN" altLang="en-US" sz="2400" b="1" dirty="0">
                <a:solidFill>
                  <a:srgbClr val="3333CC"/>
                </a:solidFill>
                <a:latin typeface="宋体" panose="02010600030101010101" pitchFamily="2" charset="-122"/>
                <a:ea typeface="宋体" panose="02010600030101010101" pitchFamily="2" charset="-122"/>
              </a:rPr>
              <a:t>灵敏度提高一倍，非线性大大减小</a:t>
            </a:r>
            <a:r>
              <a:rPr lang="zh-CN" altLang="en-US" sz="2400" b="1" dirty="0">
                <a:latin typeface="宋体" panose="02010600030101010101" pitchFamily="2" charset="-122"/>
                <a:ea typeface="宋体" panose="02010600030101010101" pitchFamily="2" charset="-122"/>
              </a:rPr>
              <a:t>。</a:t>
            </a:r>
            <a:endParaRPr lang="zh-CN" altLang="en-US" dirty="0"/>
          </a:p>
        </p:txBody>
      </p:sp>
      <p:graphicFrame>
        <p:nvGraphicFramePr>
          <p:cNvPr id="2" name="Object 1">
            <a:extLst>
              <a:ext uri="{FF2B5EF4-FFF2-40B4-BE49-F238E27FC236}">
                <a16:creationId xmlns:a16="http://schemas.microsoft.com/office/drawing/2014/main" id="{64DAC59D-AC83-4512-9EA9-2C323439E75E}"/>
              </a:ext>
            </a:extLst>
          </p:cNvPr>
          <p:cNvGraphicFramePr>
            <a:graphicFrameLocks noChangeAspect="1"/>
          </p:cNvGraphicFramePr>
          <p:nvPr>
            <p:extLst>
              <p:ext uri="{D42A27DB-BD31-4B8C-83A1-F6EECF244321}">
                <p14:modId xmlns:p14="http://schemas.microsoft.com/office/powerpoint/2010/main" val="90233468"/>
              </p:ext>
            </p:extLst>
          </p:nvPr>
        </p:nvGraphicFramePr>
        <p:xfrm>
          <a:off x="860489" y="2924917"/>
          <a:ext cx="3840161" cy="864000"/>
        </p:xfrm>
        <a:graphic>
          <a:graphicData uri="http://schemas.openxmlformats.org/presentationml/2006/ole">
            <mc:AlternateContent xmlns:mc="http://schemas.openxmlformats.org/markup-compatibility/2006">
              <mc:Choice xmlns:v="urn:schemas-microsoft-com:vml" Requires="v">
                <p:oleObj name="Equation" r:id="rId3" imgW="4204754" imgH="946474" progId="Equation.DSMT4">
                  <p:embed/>
                </p:oleObj>
              </mc:Choice>
              <mc:Fallback>
                <p:oleObj name="Equation" r:id="rId3" imgW="4204754" imgH="946474" progId="Equation.DSMT4">
                  <p:embed/>
                  <p:pic>
                    <p:nvPicPr>
                      <p:cNvPr id="2" name="Object 1">
                        <a:extLst>
                          <a:ext uri="{FF2B5EF4-FFF2-40B4-BE49-F238E27FC236}">
                            <a16:creationId xmlns:a16="http://schemas.microsoft.com/office/drawing/2014/main" id="{64DAC59D-AC83-4512-9EA9-2C323439E75E}"/>
                          </a:ext>
                        </a:extLst>
                      </p:cNvPr>
                      <p:cNvPicPr/>
                      <p:nvPr/>
                    </p:nvPicPr>
                    <p:blipFill>
                      <a:blip r:embed="rId4"/>
                      <a:stretch>
                        <a:fillRect/>
                      </a:stretch>
                    </p:blipFill>
                    <p:spPr>
                      <a:xfrm>
                        <a:off x="860489" y="2924917"/>
                        <a:ext cx="3840161" cy="864000"/>
                      </a:xfrm>
                      <a:prstGeom prst="rect">
                        <a:avLst/>
                      </a:prstGeom>
                      <a:solidFill>
                        <a:schemeClr val="accent4"/>
                      </a:solidFill>
                    </p:spPr>
                  </p:pic>
                </p:oleObj>
              </mc:Fallback>
            </mc:AlternateContent>
          </a:graphicData>
        </a:graphic>
      </p:graphicFrame>
      <p:graphicFrame>
        <p:nvGraphicFramePr>
          <p:cNvPr id="3" name="Object 2">
            <a:extLst>
              <a:ext uri="{FF2B5EF4-FFF2-40B4-BE49-F238E27FC236}">
                <a16:creationId xmlns:a16="http://schemas.microsoft.com/office/drawing/2014/main" id="{14C2BD68-9021-4BC4-8561-0246A74C2BA3}"/>
              </a:ext>
            </a:extLst>
          </p:cNvPr>
          <p:cNvGraphicFramePr>
            <a:graphicFrameLocks noChangeAspect="1"/>
          </p:cNvGraphicFramePr>
          <p:nvPr>
            <p:extLst>
              <p:ext uri="{D42A27DB-BD31-4B8C-83A1-F6EECF244321}">
                <p14:modId xmlns:p14="http://schemas.microsoft.com/office/powerpoint/2010/main" val="3466992769"/>
              </p:ext>
            </p:extLst>
          </p:nvPr>
        </p:nvGraphicFramePr>
        <p:xfrm>
          <a:off x="5463181" y="2924917"/>
          <a:ext cx="2304001" cy="864000"/>
        </p:xfrm>
        <a:graphic>
          <a:graphicData uri="http://schemas.openxmlformats.org/presentationml/2006/ole">
            <mc:AlternateContent xmlns:mc="http://schemas.openxmlformats.org/markup-compatibility/2006">
              <mc:Choice xmlns:v="urn:schemas-microsoft-com:vml" Requires="v">
                <p:oleObj name="Equation" r:id="rId5" imgW="2374377" imgH="890312" progId="Equation.DSMT4">
                  <p:embed/>
                </p:oleObj>
              </mc:Choice>
              <mc:Fallback>
                <p:oleObj name="Equation" r:id="rId5" imgW="2374377" imgH="890312" progId="Equation.DSMT4">
                  <p:embed/>
                  <p:pic>
                    <p:nvPicPr>
                      <p:cNvPr id="3" name="Object 2">
                        <a:extLst>
                          <a:ext uri="{FF2B5EF4-FFF2-40B4-BE49-F238E27FC236}">
                            <a16:creationId xmlns:a16="http://schemas.microsoft.com/office/drawing/2014/main" id="{14C2BD68-9021-4BC4-8561-0246A74C2BA3}"/>
                          </a:ext>
                        </a:extLst>
                      </p:cNvPr>
                      <p:cNvPicPr/>
                      <p:nvPr/>
                    </p:nvPicPr>
                    <p:blipFill>
                      <a:blip r:embed="rId6"/>
                      <a:stretch>
                        <a:fillRect/>
                      </a:stretch>
                    </p:blipFill>
                    <p:spPr>
                      <a:xfrm>
                        <a:off x="5463181" y="2924917"/>
                        <a:ext cx="2304001" cy="864000"/>
                      </a:xfrm>
                      <a:prstGeom prst="rect">
                        <a:avLst/>
                      </a:prstGeom>
                      <a:solidFill>
                        <a:schemeClr val="accent4"/>
                      </a:solidFill>
                    </p:spPr>
                  </p:pic>
                </p:oleObj>
              </mc:Fallback>
            </mc:AlternateContent>
          </a:graphicData>
        </a:graphic>
      </p:graphicFrame>
      <p:sp>
        <p:nvSpPr>
          <p:cNvPr id="9" name="Text Box 39">
            <a:extLst>
              <a:ext uri="{FF2B5EF4-FFF2-40B4-BE49-F238E27FC236}">
                <a16:creationId xmlns:a16="http://schemas.microsoft.com/office/drawing/2014/main" id="{13E5BE38-D1F3-4459-9FBB-FD27573625FA}"/>
              </a:ext>
            </a:extLst>
          </p:cNvPr>
          <p:cNvSpPr txBox="1">
            <a:spLocks noChangeArrowheads="1"/>
          </p:cNvSpPr>
          <p:nvPr/>
        </p:nvSpPr>
        <p:spPr bwMode="auto">
          <a:xfrm>
            <a:off x="5505852" y="4052619"/>
            <a:ext cx="23732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spcBef>
                <a:spcPct val="50000"/>
              </a:spcBef>
            </a:pPr>
            <a:r>
              <a:rPr lang="zh-CN" altLang="en-US" sz="2400" b="1">
                <a:solidFill>
                  <a:srgbClr val="C00000"/>
                </a:solidFill>
                <a:latin typeface="宋体" panose="02010600030101010101" pitchFamily="2" charset="-122"/>
                <a:ea typeface="宋体" panose="02010600030101010101" pitchFamily="2" charset="-122"/>
              </a:rPr>
              <a:t>不是简单</a:t>
            </a:r>
            <a:r>
              <a:rPr lang="en-US" altLang="zh-CN" sz="240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a:solidFill>
                  <a:srgbClr val="C00000"/>
                </a:solidFill>
                <a:latin typeface="宋体" panose="02010600030101010101" pitchFamily="2" charset="-122"/>
                <a:ea typeface="宋体" panose="02010600030101010101" pitchFamily="2" charset="-122"/>
              </a:rPr>
              <a:t>2 </a:t>
            </a:r>
            <a:r>
              <a:rPr lang="zh-CN" altLang="en-US" sz="2400" b="1">
                <a:solidFill>
                  <a:srgbClr val="C00000"/>
                </a:solidFill>
                <a:latin typeface="宋体" panose="02010600030101010101" pitchFamily="2" charset="-122"/>
                <a:ea typeface="宋体" panose="02010600030101010101" pitchFamily="2" charset="-122"/>
              </a:rPr>
              <a:t>！</a:t>
            </a:r>
            <a:endParaRPr lang="zh-CN" altLang="en-US" sz="2400" b="1" dirty="0">
              <a:solidFill>
                <a:srgbClr val="C00000"/>
              </a:solidFill>
              <a:latin typeface="宋体" panose="02010600030101010101" pitchFamily="2" charset="-122"/>
              <a:ea typeface="宋体" panose="02010600030101010101" pitchFamily="2" charset="-122"/>
            </a:endParaRPr>
          </a:p>
        </p:txBody>
      </p:sp>
      <p:sp>
        <p:nvSpPr>
          <p:cNvPr id="10" name="Text Box 44">
            <a:extLst>
              <a:ext uri="{FF2B5EF4-FFF2-40B4-BE49-F238E27FC236}">
                <a16:creationId xmlns:a16="http://schemas.microsoft.com/office/drawing/2014/main" id="{E86F60B4-E8DF-4000-8D53-CA9D3FF79B3F}"/>
              </a:ext>
            </a:extLst>
          </p:cNvPr>
          <p:cNvSpPr txBox="1">
            <a:spLocks noChangeArrowheads="1"/>
          </p:cNvSpPr>
          <p:nvPr/>
        </p:nvSpPr>
        <p:spPr bwMode="auto">
          <a:xfrm>
            <a:off x="3414736" y="4887506"/>
            <a:ext cx="231452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spcBef>
                <a:spcPct val="50000"/>
              </a:spcBef>
            </a:pPr>
            <a:r>
              <a:rPr lang="zh-CN" altLang="en-US" sz="2800" b="1">
                <a:solidFill>
                  <a:srgbClr val="CC3300"/>
                </a:solidFill>
                <a:latin typeface="宋体" panose="02010600030101010101" pitchFamily="2" charset="-122"/>
                <a:ea typeface="宋体" panose="02010600030101010101" pitchFamily="2" charset="-122"/>
              </a:rPr>
              <a:t>（</a:t>
            </a:r>
            <a:r>
              <a:rPr lang="en-US" altLang="zh-CN" sz="2400" b="1">
                <a:solidFill>
                  <a:srgbClr val="CC3300"/>
                </a:solidFill>
                <a:latin typeface="Times New Roman" panose="02020603050405020304" pitchFamily="18" charset="0"/>
                <a:ea typeface="宋体" panose="02010600030101010101" pitchFamily="2" charset="-122"/>
              </a:rPr>
              <a:t>Δ</a:t>
            </a:r>
            <a:r>
              <a:rPr lang="en-US" altLang="zh-CN" sz="2400" b="1" i="1">
                <a:solidFill>
                  <a:srgbClr val="CC3300"/>
                </a:solidFill>
                <a:latin typeface="Times New Roman" panose="02020603050405020304" pitchFamily="18" charset="0"/>
                <a:ea typeface="宋体" panose="02010600030101010101" pitchFamily="2" charset="-122"/>
              </a:rPr>
              <a:t>l</a:t>
            </a:r>
            <a:r>
              <a:rPr lang="en-US" altLang="zh-CN" sz="2400" b="1">
                <a:solidFill>
                  <a:srgbClr val="CC3300"/>
                </a:solidFill>
                <a:latin typeface="Times New Roman" panose="02020603050405020304" pitchFamily="18" charset="0"/>
                <a:ea typeface="宋体" panose="02010600030101010101" pitchFamily="2" charset="-122"/>
              </a:rPr>
              <a:t>/</a:t>
            </a:r>
            <a:r>
              <a:rPr lang="en-US" altLang="zh-CN" sz="2400" b="1" i="1">
                <a:solidFill>
                  <a:srgbClr val="CC3300"/>
                </a:solidFill>
                <a:latin typeface="Times New Roman" panose="02020603050405020304" pitchFamily="18" charset="0"/>
                <a:ea typeface="宋体" panose="02010600030101010101" pitchFamily="2" charset="-122"/>
              </a:rPr>
              <a:t>l</a:t>
            </a:r>
            <a:r>
              <a:rPr lang="en-US" altLang="zh-CN" sz="2400" b="1" baseline="-25000">
                <a:solidFill>
                  <a:srgbClr val="CC3300"/>
                </a:solidFill>
                <a:latin typeface="Times New Roman" panose="02020603050405020304" pitchFamily="18" charset="0"/>
                <a:ea typeface="宋体" panose="02010600030101010101" pitchFamily="2" charset="-122"/>
              </a:rPr>
              <a:t>0</a:t>
            </a:r>
            <a:r>
              <a:rPr lang="zh-CN" altLang="en-US" sz="2400" b="1">
                <a:solidFill>
                  <a:srgbClr val="CC3300"/>
                </a:solidFill>
                <a:latin typeface="Times New Roman" panose="02020603050405020304" pitchFamily="18" charset="0"/>
                <a:ea typeface="宋体" panose="02010600030101010101" pitchFamily="2" charset="-122"/>
              </a:rPr>
              <a:t>＜＜</a:t>
            </a:r>
            <a:r>
              <a:rPr lang="en-US" altLang="zh-CN" sz="2400" b="1">
                <a:solidFill>
                  <a:srgbClr val="CC3300"/>
                </a:solidFill>
                <a:latin typeface="Times New Roman" panose="02020603050405020304" pitchFamily="18" charset="0"/>
                <a:ea typeface="宋体" panose="02010600030101010101" pitchFamily="2" charset="-122"/>
              </a:rPr>
              <a:t>1</a:t>
            </a:r>
            <a:r>
              <a:rPr lang="zh-CN" altLang="en-US" sz="2800" b="1">
                <a:solidFill>
                  <a:srgbClr val="CC3300"/>
                </a:solidFill>
                <a:latin typeface="宋体" panose="02010600030101010101" pitchFamily="2" charset="-122"/>
                <a:ea typeface="宋体" panose="02010600030101010101" pitchFamily="2" charset="-122"/>
              </a:rPr>
              <a:t>）</a:t>
            </a:r>
          </a:p>
        </p:txBody>
      </p:sp>
      <p:sp>
        <p:nvSpPr>
          <p:cNvPr id="4" name="Slide Number Placeholder 3">
            <a:extLst>
              <a:ext uri="{FF2B5EF4-FFF2-40B4-BE49-F238E27FC236}">
                <a16:creationId xmlns:a16="http://schemas.microsoft.com/office/drawing/2014/main" id="{E793F3BE-7B2C-474C-AEC5-11D19B6FEC21}"/>
              </a:ext>
            </a:extLst>
          </p:cNvPr>
          <p:cNvSpPr>
            <a:spLocks noGrp="1"/>
          </p:cNvSpPr>
          <p:nvPr>
            <p:ph type="sldNum" sz="quarter" idx="12"/>
          </p:nvPr>
        </p:nvSpPr>
        <p:spPr/>
        <p:txBody>
          <a:bodyPr/>
          <a:lstStyle/>
          <a:p>
            <a:fld id="{B53602B4-F12B-41CD-B648-531F86B2CC91}" type="slidenum">
              <a:rPr lang="zh-CN" altLang="en-US" smtClean="0"/>
              <a:t>10</a:t>
            </a:fld>
            <a:endParaRPr lang="zh-CN" altLang="en-US"/>
          </a:p>
        </p:txBody>
      </p:sp>
    </p:spTree>
    <p:extLst>
      <p:ext uri="{BB962C8B-B14F-4D97-AF65-F5344CB8AC3E}">
        <p14:creationId xmlns:p14="http://schemas.microsoft.com/office/powerpoint/2010/main" val="427045862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3.1.3</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等效电路</a:t>
            </a:r>
          </a:p>
        </p:txBody>
      </p:sp>
      <p:sp>
        <p:nvSpPr>
          <p:cNvPr id="28" name="Rectangle 1027"/>
          <p:cNvSpPr>
            <a:spLocks noRot="1" noChangeArrowheads="1"/>
          </p:cNvSpPr>
          <p:nvPr/>
        </p:nvSpPr>
        <p:spPr bwMode="auto">
          <a:xfrm>
            <a:off x="728563" y="1387875"/>
            <a:ext cx="7686873" cy="4862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lnSpc>
                <a:spcPct val="120000"/>
              </a:lnSpc>
              <a:spcBef>
                <a:spcPct val="20000"/>
              </a:spcBef>
              <a:buClr>
                <a:schemeClr val="folHlink"/>
              </a:buClr>
              <a:buFont typeface="Wingdings" panose="05000000000000000000" pitchFamily="2" charset="2"/>
              <a:buNone/>
            </a:pP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自感式传感器从电路角度来看并非纯电感，它既有</a:t>
            </a:r>
            <a:r>
              <a:rPr lang="zh-CN" altLang="en-US" sz="2400" b="1" dirty="0">
                <a:solidFill>
                  <a:srgbClr val="C00000"/>
                </a:solidFill>
                <a:latin typeface="宋体" panose="02010600030101010101" pitchFamily="2" charset="-122"/>
                <a:ea typeface="宋体" panose="02010600030101010101" pitchFamily="2" charset="-122"/>
              </a:rPr>
              <a:t>线圈的铜耗</a:t>
            </a:r>
            <a:r>
              <a:rPr lang="zh-CN" altLang="en-US" sz="2400" b="1" dirty="0">
                <a:latin typeface="宋体" panose="02010600030101010101" pitchFamily="2" charset="-122"/>
                <a:ea typeface="宋体" panose="02010600030101010101" pitchFamily="2" charset="-122"/>
              </a:rPr>
              <a:t>，又有铁芯的</a:t>
            </a:r>
            <a:r>
              <a:rPr lang="zh-CN" altLang="en-US" sz="2400" b="1" dirty="0">
                <a:solidFill>
                  <a:srgbClr val="00B050"/>
                </a:solidFill>
                <a:latin typeface="宋体" panose="02010600030101010101" pitchFamily="2" charset="-122"/>
                <a:ea typeface="宋体" panose="02010600030101010101" pitchFamily="2" charset="-122"/>
              </a:rPr>
              <a:t>涡流</a:t>
            </a:r>
            <a:r>
              <a:rPr lang="zh-CN" altLang="en-US" sz="2400" b="1" dirty="0">
                <a:latin typeface="宋体" panose="02010600030101010101" pitchFamily="2" charset="-122"/>
                <a:ea typeface="宋体" panose="02010600030101010101" pitchFamily="2" charset="-122"/>
              </a:rPr>
              <a:t>及</a:t>
            </a:r>
            <a:r>
              <a:rPr lang="zh-CN" altLang="en-US" sz="2400" b="1" dirty="0">
                <a:solidFill>
                  <a:srgbClr val="00B050"/>
                </a:solidFill>
                <a:latin typeface="宋体" panose="02010600030101010101" pitchFamily="2" charset="-122"/>
                <a:ea typeface="宋体" panose="02010600030101010101" pitchFamily="2" charset="-122"/>
              </a:rPr>
              <a:t>磁滞损耗</a:t>
            </a:r>
            <a:r>
              <a:rPr lang="zh-CN" altLang="en-US" sz="2400" b="1" dirty="0">
                <a:latin typeface="宋体" panose="02010600030101010101" pitchFamily="2" charset="-122"/>
                <a:ea typeface="宋体" panose="02010600030101010101" pitchFamily="2" charset="-122"/>
              </a:rPr>
              <a:t>，这可用折合的有功电阻抗</a:t>
            </a:r>
            <a:r>
              <a:rPr lang="en-US" altLang="zh-CN" sz="2400" i="1" dirty="0" err="1">
                <a:solidFill>
                  <a:srgbClr val="00B050"/>
                </a:solidFill>
                <a:latin typeface="Times New Roman" panose="02020603050405020304" pitchFamily="18" charset="0"/>
                <a:ea typeface="宋体" panose="02010600030101010101" pitchFamily="2" charset="-122"/>
              </a:rPr>
              <a:t>R</a:t>
            </a:r>
            <a:r>
              <a:rPr lang="en-US" altLang="zh-CN" sz="2400" i="1" baseline="-25000" dirty="0" err="1">
                <a:solidFill>
                  <a:srgbClr val="00B050"/>
                </a:solidFill>
                <a:latin typeface="Times New Roman" panose="02020603050405020304" pitchFamily="18" charset="0"/>
                <a:ea typeface="宋体" panose="02010600030101010101" pitchFamily="2" charset="-122"/>
              </a:rPr>
              <a:t>q</a:t>
            </a:r>
            <a:r>
              <a:rPr lang="zh-CN" altLang="en-US" sz="2400" b="1" dirty="0">
                <a:latin typeface="宋体" panose="02010600030101010101" pitchFamily="2" charset="-122"/>
                <a:ea typeface="宋体" panose="02010600030101010101" pitchFamily="2" charset="-122"/>
              </a:rPr>
              <a:t>表</a:t>
            </a:r>
            <a:r>
              <a:rPr lang="zh-CN" altLang="en-US" sz="2400" b="1">
                <a:latin typeface="宋体" panose="02010600030101010101" pitchFamily="2" charset="-122"/>
                <a:ea typeface="宋体" panose="02010600030101010101" pitchFamily="2" charset="-122"/>
              </a:rPr>
              <a:t>示。</a:t>
            </a:r>
            <a:endParaRPr lang="en-US" altLang="zh-CN" sz="2400" b="1">
              <a:latin typeface="宋体" panose="02010600030101010101" pitchFamily="2" charset="-122"/>
              <a:ea typeface="宋体" panose="02010600030101010101" pitchFamily="2" charset="-122"/>
            </a:endParaRPr>
          </a:p>
          <a:p>
            <a:pPr eaLnBrk="1" hangingPunct="1">
              <a:lnSpc>
                <a:spcPct val="120000"/>
              </a:lnSpc>
              <a:spcBef>
                <a:spcPct val="20000"/>
              </a:spcBef>
              <a:buClr>
                <a:schemeClr val="folHlink"/>
              </a:buClr>
              <a:buFont typeface="Wingdings" panose="05000000000000000000" pitchFamily="2" charset="2"/>
              <a:buNone/>
            </a:pPr>
            <a:r>
              <a:rPr lang="zh-CN" altLang="en-US" sz="2400" b="1">
                <a:latin typeface="宋体" panose="02010600030101010101" pitchFamily="2" charset="-122"/>
                <a:ea typeface="宋体" panose="02010600030101010101" pitchFamily="2" charset="-122"/>
              </a:rPr>
              <a:t>    此</a:t>
            </a:r>
            <a:r>
              <a:rPr lang="zh-CN" altLang="en-US" sz="2400" b="1" dirty="0">
                <a:latin typeface="宋体" panose="02010600030101010101" pitchFamily="2" charset="-122"/>
                <a:ea typeface="宋体" panose="02010600030101010101" pitchFamily="2" charset="-122"/>
              </a:rPr>
              <a:t>外，无功阻抗除电感之外还包括绕组间分布电容，用集总参数</a:t>
            </a:r>
            <a:r>
              <a:rPr lang="en-US" altLang="zh-CN" sz="2400" i="1" dirty="0">
                <a:latin typeface="Times New Roman" panose="02020603050405020304" pitchFamily="18" charset="0"/>
                <a:ea typeface="宋体" panose="02010600030101010101" pitchFamily="2" charset="-122"/>
              </a:rPr>
              <a:t>C</a:t>
            </a:r>
            <a:r>
              <a:rPr lang="zh-CN" altLang="en-US" sz="2400" b="1" dirty="0">
                <a:latin typeface="宋体" panose="02010600030101010101" pitchFamily="2" charset="-122"/>
                <a:ea typeface="宋体" panose="02010600030101010101" pitchFamily="2" charset="-122"/>
              </a:rPr>
              <a:t>表示。</a:t>
            </a:r>
          </a:p>
          <a:p>
            <a:pPr eaLnBrk="1" hangingPunct="1">
              <a:spcBef>
                <a:spcPct val="20000"/>
              </a:spcBef>
              <a:buClr>
                <a:schemeClr val="folHlink"/>
              </a:buClr>
              <a:buFont typeface="Wingdings" panose="05000000000000000000" pitchFamily="2" charset="2"/>
              <a:buNone/>
            </a:pPr>
            <a:r>
              <a:rPr lang="zh-CN" altLang="en-US" sz="2400" b="1">
                <a:latin typeface="宋体" panose="02010600030101010101" pitchFamily="2" charset="-122"/>
                <a:ea typeface="宋体" panose="02010600030101010101" pitchFamily="2" charset="-122"/>
              </a:rPr>
              <a:t>                              </a:t>
            </a:r>
            <a:endParaRPr lang="zh-CN" altLang="en-US" sz="2400" b="1" dirty="0">
              <a:latin typeface="宋体" panose="02010600030101010101" pitchFamily="2" charset="-122"/>
              <a:ea typeface="宋体" panose="02010600030101010101" pitchFamily="2" charset="-122"/>
            </a:endParaRPr>
          </a:p>
          <a:p>
            <a:pPr eaLnBrk="1" hangingPunct="1">
              <a:spcBef>
                <a:spcPct val="20000"/>
              </a:spcBef>
              <a:buClr>
                <a:schemeClr val="folHlink"/>
              </a:buClr>
              <a:buFont typeface="Wingdings" panose="05000000000000000000" pitchFamily="2" charset="2"/>
              <a:buNone/>
            </a:pPr>
            <a:r>
              <a:rPr lang="zh-CN" altLang="en-US" sz="2400" b="1" dirty="0">
                <a:latin typeface="宋体" panose="02010600030101010101" pitchFamily="2" charset="-122"/>
                <a:ea typeface="宋体" panose="02010600030101010101" pitchFamily="2" charset="-122"/>
              </a:rPr>
              <a:t>    </a:t>
            </a:r>
          </a:p>
          <a:p>
            <a:pPr eaLnBrk="1" hangingPunct="1">
              <a:spcBef>
                <a:spcPct val="20000"/>
              </a:spcBef>
              <a:buClr>
                <a:schemeClr val="folHlink"/>
              </a:buClr>
              <a:buFont typeface="Wingdings" panose="05000000000000000000" pitchFamily="2" charset="2"/>
              <a:buNone/>
            </a:pPr>
            <a:r>
              <a:rPr lang="zh-CN" altLang="en-US" sz="2400" b="1">
                <a:latin typeface="宋体" panose="02010600030101010101" pitchFamily="2" charset="-122"/>
                <a:ea typeface="宋体" panose="02010600030101010101" pitchFamily="2" charset="-122"/>
              </a:rPr>
              <a:t>    </a:t>
            </a:r>
            <a:endParaRPr lang="en-US" altLang="zh-CN" sz="2400" b="1">
              <a:latin typeface="宋体" panose="02010600030101010101" pitchFamily="2" charset="-122"/>
              <a:ea typeface="宋体" panose="02010600030101010101" pitchFamily="2" charset="-122"/>
            </a:endParaRPr>
          </a:p>
          <a:p>
            <a:pPr eaLnBrk="1" hangingPunct="1">
              <a:spcBef>
                <a:spcPct val="20000"/>
              </a:spcBef>
              <a:buClr>
                <a:schemeClr val="folHlink"/>
              </a:buClr>
              <a:buFont typeface="Wingdings" panose="05000000000000000000" pitchFamily="2" charset="2"/>
              <a:buNone/>
            </a:pPr>
            <a:r>
              <a:rPr lang="zh-CN" altLang="en-US" sz="2400" b="1">
                <a:latin typeface="宋体" panose="02010600030101010101" pitchFamily="2" charset="-122"/>
                <a:ea typeface="宋体" panose="02010600030101010101" pitchFamily="2" charset="-122"/>
              </a:rPr>
              <a:t>式</a:t>
            </a:r>
            <a:r>
              <a:rPr lang="zh-CN" altLang="en-US" sz="2400" b="1" dirty="0">
                <a:latin typeface="宋体" panose="02010600030101010101" pitchFamily="2" charset="-122"/>
                <a:ea typeface="宋体" panose="02010600030101010101" pitchFamily="2" charset="-122"/>
              </a:rPr>
              <a:t>中    </a:t>
            </a:r>
            <a:r>
              <a:rPr lang="en-US" altLang="zh-CN" sz="2400" i="1" dirty="0">
                <a:latin typeface="Times New Roman" panose="02020603050405020304" pitchFamily="18" charset="0"/>
                <a:ea typeface="宋体" panose="02010600030101010101" pitchFamily="2" charset="-122"/>
              </a:rPr>
              <a:t>R</a:t>
            </a:r>
            <a:r>
              <a:rPr lang="en-US" altLang="zh-CN" sz="2400" i="1" baseline="-25000" dirty="0">
                <a:latin typeface="Times New Roman" panose="02020603050405020304" pitchFamily="18" charset="0"/>
                <a:ea typeface="宋体" panose="02010600030101010101" pitchFamily="2" charset="-122"/>
              </a:rPr>
              <a:t>m</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磁路总磁阻；</a:t>
            </a:r>
          </a:p>
          <a:p>
            <a:pPr eaLnBrk="1" hangingPunct="1">
              <a:spcBef>
                <a:spcPct val="20000"/>
              </a:spcBef>
              <a:buClr>
                <a:schemeClr val="folHlink"/>
              </a:buClr>
              <a:buFont typeface="Wingdings" panose="05000000000000000000" pitchFamily="2" charset="2"/>
              <a:buNone/>
            </a:pPr>
            <a:r>
              <a:rPr lang="zh-CN" altLang="en-US" sz="2400" b="1">
                <a:latin typeface="宋体" panose="02010600030101010101" pitchFamily="2" charset="-122"/>
                <a:ea typeface="宋体" panose="02010600030101010101" pitchFamily="2" charset="-122"/>
              </a:rPr>
              <a:t>        </a:t>
            </a:r>
            <a:r>
              <a:rPr lang="en-US" altLang="zh-CN" sz="2400" i="1">
                <a:latin typeface="Times New Roman" panose="02020603050405020304" pitchFamily="18" charset="0"/>
                <a:ea typeface="宋体" panose="02010600030101010101" pitchFamily="2" charset="-122"/>
              </a:rPr>
              <a:t>Z</a:t>
            </a:r>
            <a:r>
              <a:rPr lang="en-US" altLang="zh-CN" sz="2400" i="1" baseline="-25000">
                <a:latin typeface="Times New Roman" panose="02020603050405020304" pitchFamily="18" charset="0"/>
                <a:ea typeface="宋体" panose="02010600030101010101" pitchFamily="2" charset="-122"/>
              </a:rPr>
              <a:t>m</a:t>
            </a:r>
            <a:r>
              <a:rPr lang="en-US" altLang="zh-CN" sz="2400" b="1">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铁心部分的磁阻抗；</a:t>
            </a:r>
          </a:p>
          <a:p>
            <a:pPr eaLnBrk="1" hangingPunct="1">
              <a:spcBef>
                <a:spcPct val="20000"/>
              </a:spcBef>
              <a:buClr>
                <a:schemeClr val="folHlink"/>
              </a:buClr>
              <a:buFont typeface="Wingdings" panose="05000000000000000000" pitchFamily="2" charset="2"/>
              <a:buNone/>
            </a:pPr>
            <a:r>
              <a:rPr lang="zh-CN" altLang="en-US" sz="2400" b="1">
                <a:latin typeface="宋体" panose="02010600030101010101" pitchFamily="2" charset="-122"/>
                <a:ea typeface="宋体" panose="02010600030101010101" pitchFamily="2" charset="-122"/>
              </a:rPr>
              <a:t>        </a:t>
            </a:r>
            <a:r>
              <a:rPr lang="en-US" altLang="zh-CN" sz="2400" i="1">
                <a:latin typeface="Times New Roman" panose="02020603050405020304" pitchFamily="18" charset="0"/>
                <a:ea typeface="宋体" panose="02010600030101010101" pitchFamily="2" charset="-122"/>
              </a:rPr>
              <a:t>Z</a:t>
            </a:r>
            <a:r>
              <a:rPr lang="en-US" altLang="zh-CN" sz="2400" baseline="-25000">
                <a:latin typeface="Times New Roman" panose="02020603050405020304" pitchFamily="18" charset="0"/>
                <a:ea typeface="宋体" panose="02010600030101010101" pitchFamily="2" charset="-122"/>
              </a:rPr>
              <a:t>0</a:t>
            </a:r>
            <a:r>
              <a:rPr lang="en-US" altLang="zh-CN" sz="2400" b="1">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空气隙的磁阻抗。</a:t>
            </a:r>
          </a:p>
        </p:txBody>
      </p:sp>
      <p:graphicFrame>
        <p:nvGraphicFramePr>
          <p:cNvPr id="29" name="Object 1055"/>
          <p:cNvGraphicFramePr>
            <a:graphicFrameLocks noChangeAspect="1"/>
          </p:cNvGraphicFramePr>
          <p:nvPr>
            <p:extLst>
              <p:ext uri="{D42A27DB-BD31-4B8C-83A1-F6EECF244321}">
                <p14:modId xmlns:p14="http://schemas.microsoft.com/office/powerpoint/2010/main" val="1767050812"/>
              </p:ext>
            </p:extLst>
          </p:nvPr>
        </p:nvGraphicFramePr>
        <p:xfrm>
          <a:off x="899750" y="3793626"/>
          <a:ext cx="2120900" cy="862012"/>
        </p:xfrm>
        <a:graphic>
          <a:graphicData uri="http://schemas.openxmlformats.org/presentationml/2006/ole">
            <mc:AlternateContent xmlns:mc="http://schemas.openxmlformats.org/markup-compatibility/2006">
              <mc:Choice xmlns:v="urn:schemas-microsoft-com:vml" Requires="v">
                <p:oleObj name="公式" r:id="rId3" imgW="1168200" imgH="457200" progId="Equation.3">
                  <p:embed/>
                </p:oleObj>
              </mc:Choice>
              <mc:Fallback>
                <p:oleObj name="公式" r:id="rId3" imgW="1168200" imgH="457200" progId="Equation.3">
                  <p:embed/>
                  <p:pic>
                    <p:nvPicPr>
                      <p:cNvPr id="220191" name="Object 1055"/>
                      <p:cNvPicPr>
                        <a:picLocks noChangeAspect="1" noChangeArrowheads="1"/>
                      </p:cNvPicPr>
                      <p:nvPr/>
                    </p:nvPicPr>
                    <p:blipFill>
                      <a:blip r:embed="rId4"/>
                      <a:srcRect/>
                      <a:stretch>
                        <a:fillRect/>
                      </a:stretch>
                    </p:blipFill>
                    <p:spPr bwMode="auto">
                      <a:xfrm>
                        <a:off x="899750" y="3793626"/>
                        <a:ext cx="2120900" cy="862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Rectangle 2">
            <a:extLst>
              <a:ext uri="{FF2B5EF4-FFF2-40B4-BE49-F238E27FC236}">
                <a16:creationId xmlns:a16="http://schemas.microsoft.com/office/drawing/2014/main" id="{DAB8BE18-B0CB-4D63-8D57-D743208E7EE5}"/>
              </a:ext>
            </a:extLst>
          </p:cNvPr>
          <p:cNvSpPr>
            <a:spLocks noChangeArrowheads="1"/>
          </p:cNvSpPr>
          <p:nvPr/>
        </p:nvSpPr>
        <p:spPr bwMode="auto">
          <a:xfrm>
            <a:off x="7418443" y="4321066"/>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4400">
              <a:solidFill>
                <a:schemeClr val="tx2"/>
              </a:solidFill>
            </a:endParaRPr>
          </a:p>
        </p:txBody>
      </p:sp>
      <p:sp>
        <p:nvSpPr>
          <p:cNvPr id="9" name="Text Box 9">
            <a:extLst>
              <a:ext uri="{FF2B5EF4-FFF2-40B4-BE49-F238E27FC236}">
                <a16:creationId xmlns:a16="http://schemas.microsoft.com/office/drawing/2014/main" id="{DA6106D9-D4B0-4064-99AA-426A280BADD9}"/>
              </a:ext>
            </a:extLst>
          </p:cNvPr>
          <p:cNvSpPr txBox="1">
            <a:spLocks noChangeArrowheads="1"/>
          </p:cNvSpPr>
          <p:nvPr/>
        </p:nvSpPr>
        <p:spPr bwMode="auto">
          <a:xfrm>
            <a:off x="5659595" y="5428098"/>
            <a:ext cx="275584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spcBef>
                <a:spcPct val="50000"/>
              </a:spcBef>
            </a:pPr>
            <a:r>
              <a:rPr lang="zh-CN" altLang="en-US" b="1" dirty="0">
                <a:solidFill>
                  <a:srgbClr val="000099"/>
                </a:solidFill>
              </a:rPr>
              <a:t>图</a:t>
            </a:r>
            <a:r>
              <a:rPr lang="en-US" altLang="zh-CN" b="1" dirty="0">
                <a:solidFill>
                  <a:srgbClr val="000099"/>
                </a:solidFill>
              </a:rPr>
              <a:t>3-4  </a:t>
            </a:r>
            <a:r>
              <a:rPr lang="zh-CN" altLang="en-US" b="1" dirty="0">
                <a:solidFill>
                  <a:srgbClr val="000099"/>
                </a:solidFill>
              </a:rPr>
              <a:t>电感线</a:t>
            </a:r>
            <a:r>
              <a:rPr lang="zh-CN" altLang="en-US" b="1">
                <a:solidFill>
                  <a:srgbClr val="000099"/>
                </a:solidFill>
              </a:rPr>
              <a:t>圈的 完</a:t>
            </a:r>
            <a:r>
              <a:rPr lang="zh-CN" altLang="en-US" b="1" dirty="0">
                <a:solidFill>
                  <a:srgbClr val="000099"/>
                </a:solidFill>
              </a:rPr>
              <a:t>整等效电路</a:t>
            </a:r>
          </a:p>
        </p:txBody>
      </p:sp>
      <p:pic>
        <p:nvPicPr>
          <p:cNvPr id="10" name="图片 1">
            <a:extLst>
              <a:ext uri="{FF2B5EF4-FFF2-40B4-BE49-F238E27FC236}">
                <a16:creationId xmlns:a16="http://schemas.microsoft.com/office/drawing/2014/main" id="{7E368D81-74DA-4AF8-928D-F7DB9E474B89}"/>
              </a:ext>
            </a:extLst>
          </p:cNvPr>
          <p:cNvPicPr>
            <a:picLocks noChangeAspect="1"/>
          </p:cNvPicPr>
          <p:nvPr/>
        </p:nvPicPr>
        <p:blipFill>
          <a:blip r:embed="rId5"/>
          <a:stretch>
            <a:fillRect/>
          </a:stretch>
        </p:blipFill>
        <p:spPr>
          <a:xfrm>
            <a:off x="6071872" y="3343367"/>
            <a:ext cx="1588385" cy="1955398"/>
          </a:xfrm>
          <a:prstGeom prst="rect">
            <a:avLst/>
          </a:prstGeom>
        </p:spPr>
      </p:pic>
      <p:sp>
        <p:nvSpPr>
          <p:cNvPr id="2" name="Slide Number Placeholder 1">
            <a:extLst>
              <a:ext uri="{FF2B5EF4-FFF2-40B4-BE49-F238E27FC236}">
                <a16:creationId xmlns:a16="http://schemas.microsoft.com/office/drawing/2014/main" id="{3694A3E6-6A50-4A51-BE5E-0C720ADDB7C2}"/>
              </a:ext>
            </a:extLst>
          </p:cNvPr>
          <p:cNvSpPr>
            <a:spLocks noGrp="1"/>
          </p:cNvSpPr>
          <p:nvPr>
            <p:ph type="sldNum" sz="quarter" idx="12"/>
          </p:nvPr>
        </p:nvSpPr>
        <p:spPr/>
        <p:txBody>
          <a:bodyPr/>
          <a:lstStyle/>
          <a:p>
            <a:fld id="{B53602B4-F12B-41CD-B648-531F86B2CC91}" type="slidenum">
              <a:rPr lang="zh-CN" altLang="en-US" smtClean="0"/>
              <a:t>11</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3.1.4</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转换电路</a:t>
            </a:r>
          </a:p>
        </p:txBody>
      </p:sp>
      <p:sp>
        <p:nvSpPr>
          <p:cNvPr id="27" name="Rectangle 3"/>
          <p:cNvSpPr>
            <a:spLocks noRot="1" noChangeArrowheads="1"/>
          </p:cNvSpPr>
          <p:nvPr/>
        </p:nvSpPr>
        <p:spPr bwMode="auto">
          <a:xfrm>
            <a:off x="118020" y="1706072"/>
            <a:ext cx="8922428" cy="3445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lnSpc>
                <a:spcPct val="140000"/>
              </a:lnSpc>
              <a:spcBef>
                <a:spcPct val="20000"/>
              </a:spcBef>
              <a:buClr>
                <a:schemeClr val="folHlink"/>
              </a:buClr>
              <a:buFont typeface="Wingdings" panose="05000000000000000000" pitchFamily="2" charset="2"/>
              <a:buNone/>
            </a:pPr>
            <a:r>
              <a:rPr lang="en-US" altLang="zh-CN" sz="2400" b="1" dirty="0">
                <a:solidFill>
                  <a:schemeClr val="tx2"/>
                </a:solidFill>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自感式传感器实现了把被测量的变化转变为</a:t>
            </a:r>
            <a:r>
              <a:rPr lang="zh-CN" altLang="en-US" sz="2400" b="1" dirty="0">
                <a:solidFill>
                  <a:srgbClr val="00B050"/>
                </a:solidFill>
                <a:latin typeface="宋体" panose="02010600030101010101" pitchFamily="2" charset="-122"/>
                <a:ea typeface="宋体" panose="02010600030101010101" pitchFamily="2" charset="-122"/>
              </a:rPr>
              <a:t>电感量</a:t>
            </a:r>
            <a:r>
              <a:rPr lang="zh-CN" altLang="en-US" sz="2400" b="1" dirty="0">
                <a:latin typeface="宋体" panose="02010600030101010101" pitchFamily="2" charset="-122"/>
                <a:ea typeface="宋体" panose="02010600030101010101" pitchFamily="2" charset="-122"/>
              </a:rPr>
              <a:t>的变化。</a:t>
            </a:r>
          </a:p>
          <a:p>
            <a:pPr eaLnBrk="1" hangingPunct="1">
              <a:lnSpc>
                <a:spcPct val="140000"/>
              </a:lnSpc>
              <a:spcBef>
                <a:spcPct val="20000"/>
              </a:spcBef>
              <a:buClr>
                <a:schemeClr val="folHlink"/>
              </a:buClr>
              <a:buFont typeface="Wingdings" panose="05000000000000000000" pitchFamily="2" charset="2"/>
              <a:buNone/>
            </a:pPr>
            <a:r>
              <a:rPr lang="zh-CN" altLang="en-US" sz="2400" b="1" dirty="0">
                <a:latin typeface="宋体" panose="02010600030101010101" pitchFamily="2" charset="-122"/>
                <a:ea typeface="宋体" panose="02010600030101010101" pitchFamily="2" charset="-122"/>
              </a:rPr>
              <a:t>    为了测出电感量的变化，同时也为了送入下级电路进行放大和处理，就要用转换电路</a:t>
            </a:r>
            <a:r>
              <a:rPr lang="zh-CN" altLang="en-US" sz="2400" b="1" dirty="0">
                <a:solidFill>
                  <a:srgbClr val="C00000"/>
                </a:solidFill>
                <a:latin typeface="宋体" panose="02010600030101010101" pitchFamily="2" charset="-122"/>
                <a:ea typeface="宋体" panose="02010600030101010101" pitchFamily="2" charset="-122"/>
              </a:rPr>
              <a:t>把电感变化转换成电压</a:t>
            </a:r>
            <a:r>
              <a:rPr lang="en-US" altLang="zh-CN" sz="2400" b="1" dirty="0">
                <a:solidFill>
                  <a:srgbClr val="C00000"/>
                </a:solidFill>
                <a:latin typeface="宋体" panose="02010600030101010101" pitchFamily="2" charset="-122"/>
                <a:ea typeface="宋体" panose="02010600030101010101" pitchFamily="2" charset="-122"/>
              </a:rPr>
              <a:t>(</a:t>
            </a:r>
            <a:r>
              <a:rPr lang="zh-CN" altLang="en-US" sz="2400" b="1" dirty="0">
                <a:solidFill>
                  <a:srgbClr val="C00000"/>
                </a:solidFill>
                <a:latin typeface="宋体" panose="02010600030101010101" pitchFamily="2" charset="-122"/>
                <a:ea typeface="宋体" panose="02010600030101010101" pitchFamily="2" charset="-122"/>
              </a:rPr>
              <a:t>或电流</a:t>
            </a:r>
            <a:r>
              <a:rPr lang="en-US" altLang="zh-CN" sz="2400" b="1" dirty="0">
                <a:solidFill>
                  <a:srgbClr val="C00000"/>
                </a:solidFill>
                <a:latin typeface="宋体" panose="02010600030101010101" pitchFamily="2" charset="-122"/>
                <a:ea typeface="宋体" panose="02010600030101010101" pitchFamily="2" charset="-122"/>
              </a:rPr>
              <a:t>)</a:t>
            </a:r>
            <a:r>
              <a:rPr lang="zh-CN" altLang="en-US" sz="2400" b="1" dirty="0">
                <a:solidFill>
                  <a:srgbClr val="C00000"/>
                </a:solidFill>
                <a:latin typeface="宋体" panose="02010600030101010101" pitchFamily="2" charset="-122"/>
                <a:ea typeface="宋体" panose="02010600030101010101" pitchFamily="2" charset="-122"/>
              </a:rPr>
              <a:t>变</a:t>
            </a:r>
            <a:r>
              <a:rPr lang="zh-CN" altLang="en-US" sz="2400" b="1">
                <a:solidFill>
                  <a:srgbClr val="C00000"/>
                </a:solidFill>
                <a:latin typeface="宋体" panose="02010600030101010101" pitchFamily="2" charset="-122"/>
                <a:ea typeface="宋体" panose="02010600030101010101" pitchFamily="2" charset="-122"/>
              </a:rPr>
              <a:t>化</a:t>
            </a:r>
            <a:r>
              <a:rPr lang="zh-CN" altLang="en-US" sz="2400" b="1">
                <a:latin typeface="宋体" panose="02010600030101010101" pitchFamily="2" charset="-122"/>
                <a:ea typeface="宋体" panose="02010600030101010101" pitchFamily="2" charset="-122"/>
              </a:rPr>
              <a:t>。</a:t>
            </a:r>
            <a:endParaRPr lang="en-US" altLang="zh-CN" sz="2400" b="1">
              <a:latin typeface="宋体" panose="02010600030101010101" pitchFamily="2" charset="-122"/>
              <a:ea typeface="宋体" panose="02010600030101010101" pitchFamily="2" charset="-122"/>
            </a:endParaRPr>
          </a:p>
          <a:p>
            <a:pPr eaLnBrk="1" hangingPunct="1">
              <a:lnSpc>
                <a:spcPct val="140000"/>
              </a:lnSpc>
              <a:spcBef>
                <a:spcPct val="20000"/>
              </a:spcBef>
              <a:buClr>
                <a:schemeClr val="folHlink"/>
              </a:buClr>
              <a:buFont typeface="Wingdings" panose="05000000000000000000" pitchFamily="2" charset="2"/>
              <a:buNone/>
            </a:pPr>
            <a:r>
              <a:rPr lang="en-US" altLang="zh-CN" sz="2400" b="1">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把</a:t>
            </a:r>
            <a:r>
              <a:rPr lang="zh-CN" altLang="en-US" sz="2400" b="1" dirty="0">
                <a:latin typeface="宋体" panose="02010600030101010101" pitchFamily="2" charset="-122"/>
                <a:ea typeface="宋体" panose="02010600030101010101" pitchFamily="2" charset="-122"/>
              </a:rPr>
              <a:t>传感器电感接入不同的转换电路后，原则上可将电感变化转换成电压</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或电流</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的幅值、频率、相位的变化，它们分别称为</a:t>
            </a:r>
            <a:r>
              <a:rPr lang="zh-CN" altLang="en-US" sz="2400" b="1" dirty="0">
                <a:solidFill>
                  <a:srgbClr val="CC3300"/>
                </a:solidFill>
                <a:latin typeface="宋体" panose="02010600030101010101" pitchFamily="2" charset="-122"/>
                <a:ea typeface="宋体" panose="02010600030101010101" pitchFamily="2" charset="-122"/>
              </a:rPr>
              <a:t>调幅</a:t>
            </a:r>
            <a:r>
              <a:rPr lang="zh-CN" altLang="en-US" sz="2400" b="1" dirty="0">
                <a:latin typeface="宋体" panose="02010600030101010101" pitchFamily="2" charset="-122"/>
                <a:ea typeface="宋体" panose="02010600030101010101" pitchFamily="2" charset="-122"/>
              </a:rPr>
              <a:t>、</a:t>
            </a:r>
            <a:r>
              <a:rPr lang="zh-CN" altLang="en-US" sz="2400" b="1" dirty="0">
                <a:solidFill>
                  <a:srgbClr val="CC3300"/>
                </a:solidFill>
                <a:latin typeface="宋体" panose="02010600030101010101" pitchFamily="2" charset="-122"/>
                <a:ea typeface="宋体" panose="02010600030101010101" pitchFamily="2" charset="-122"/>
              </a:rPr>
              <a:t>调频</a:t>
            </a:r>
            <a:r>
              <a:rPr lang="zh-CN" altLang="en-US" sz="2400" b="1" dirty="0">
                <a:latin typeface="宋体" panose="02010600030101010101" pitchFamily="2" charset="-122"/>
                <a:ea typeface="宋体" panose="02010600030101010101" pitchFamily="2" charset="-122"/>
              </a:rPr>
              <a:t>、</a:t>
            </a:r>
            <a:r>
              <a:rPr lang="zh-CN" altLang="en-US" sz="2400" b="1" dirty="0">
                <a:solidFill>
                  <a:srgbClr val="CC3300"/>
                </a:solidFill>
                <a:latin typeface="宋体" panose="02010600030101010101" pitchFamily="2" charset="-122"/>
                <a:ea typeface="宋体" panose="02010600030101010101" pitchFamily="2" charset="-122"/>
              </a:rPr>
              <a:t>调相</a:t>
            </a:r>
            <a:r>
              <a:rPr lang="zh-CN" altLang="en-US" sz="2400" b="1" dirty="0">
                <a:latin typeface="宋体" panose="02010600030101010101" pitchFamily="2" charset="-122"/>
                <a:ea typeface="宋体" panose="02010600030101010101" pitchFamily="2" charset="-122"/>
              </a:rPr>
              <a:t>电路。</a:t>
            </a:r>
            <a:r>
              <a:rPr lang="zh-CN" altLang="en-US" sz="2400" b="1" dirty="0">
                <a:solidFill>
                  <a:schemeClr val="tx2"/>
                </a:solidFill>
                <a:latin typeface="宋体" panose="02010600030101010101" pitchFamily="2" charset="-122"/>
                <a:ea typeface="宋体" panose="02010600030101010101" pitchFamily="2" charset="-122"/>
              </a:rPr>
              <a:t>    </a:t>
            </a:r>
          </a:p>
        </p:txBody>
      </p:sp>
      <mc:AlternateContent xmlns:mc="http://schemas.openxmlformats.org/markup-compatibility/2006" xmlns:a14="http://schemas.microsoft.com/office/drawing/2010/main">
        <mc:Choice Requires="a14">
          <p:sp>
            <p:nvSpPr>
              <p:cNvPr id="8" name="文本框 2">
                <a:extLst>
                  <a:ext uri="{FF2B5EF4-FFF2-40B4-BE49-F238E27FC236}">
                    <a16:creationId xmlns:a16="http://schemas.microsoft.com/office/drawing/2014/main" id="{3765374C-6E64-4046-A90E-588DDB61903D}"/>
                  </a:ext>
                </a:extLst>
              </p:cNvPr>
              <p:cNvSpPr txBox="1"/>
              <p:nvPr/>
            </p:nvSpPr>
            <p:spPr>
              <a:xfrm>
                <a:off x="1304360" y="5361741"/>
                <a:ext cx="6591548"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lIns="0" tIns="0" rIns="0" bIns="0" rtlCol="0">
                <a:spAutoFit/>
              </a:bodyPr>
              <a:lstStyle/>
              <a:p>
                <a:pPr algn="ctr"/>
                <a14:m>
                  <m:oMath xmlns:m="http://schemas.openxmlformats.org/officeDocument/2006/math">
                    <m:r>
                      <a:rPr lang="zh-CN" altLang="en-US" sz="2400">
                        <a:latin typeface="Cambria Math" panose="02040503050406030204" pitchFamily="18" charset="0"/>
                        <a:ea typeface="宋体" panose="02010600030101010101" pitchFamily="2" charset="-122"/>
                      </a:rPr>
                      <m:t>调幅、调频、调相电路，</m:t>
                    </m:r>
                  </m:oMath>
                </a14:m>
                <a:r>
                  <a:rPr lang="zh-CN" altLang="en-US" sz="2400" dirty="0">
                    <a:latin typeface="宋体" panose="02010600030101010101" pitchFamily="2" charset="-122"/>
                    <a:ea typeface="宋体" panose="02010600030101010101" pitchFamily="2" charset="-122"/>
                  </a:rPr>
                  <a:t>感</a:t>
                </a:r>
                <a:r>
                  <a:rPr lang="zh-CN" altLang="en-US" sz="2400">
                    <a:latin typeface="宋体" panose="02010600030101010101" pitchFamily="2" charset="-122"/>
                    <a:ea typeface="宋体" panose="02010600030101010101" pitchFamily="2" charset="-122"/>
                  </a:rPr>
                  <a:t>兴趣的同学可以自学</a:t>
                </a:r>
                <a:endParaRPr lang="zh-CN" altLang="en-US" sz="2400" dirty="0">
                  <a:latin typeface="宋体" panose="02010600030101010101" pitchFamily="2" charset="-122"/>
                  <a:ea typeface="宋体" panose="02010600030101010101" pitchFamily="2" charset="-122"/>
                </a:endParaRPr>
              </a:p>
            </p:txBody>
          </p:sp>
        </mc:Choice>
        <mc:Fallback xmlns="">
          <p:sp>
            <p:nvSpPr>
              <p:cNvPr id="8" name="文本框 2">
                <a:extLst>
                  <a:ext uri="{FF2B5EF4-FFF2-40B4-BE49-F238E27FC236}">
                    <a16:creationId xmlns:a16="http://schemas.microsoft.com/office/drawing/2014/main" id="{3765374C-6E64-4046-A90E-588DDB61903D}"/>
                  </a:ext>
                </a:extLst>
              </p:cNvPr>
              <p:cNvSpPr txBox="1">
                <a:spLocks noRot="1" noChangeAspect="1" noMove="1" noResize="1" noEditPoints="1" noAdjustHandles="1" noChangeArrowheads="1" noChangeShapeType="1" noTextEdit="1"/>
              </p:cNvSpPr>
              <p:nvPr/>
            </p:nvSpPr>
            <p:spPr>
              <a:xfrm>
                <a:off x="1304360" y="5361741"/>
                <a:ext cx="6591548" cy="369332"/>
              </a:xfrm>
              <a:prstGeom prst="rect">
                <a:avLst/>
              </a:prstGeom>
              <a:blipFill>
                <a:blip r:embed="rId3"/>
                <a:stretch>
                  <a:fillRect l="-739" t="-29032" r="-1200" b="-41935"/>
                </a:stretch>
              </a:blipFill>
            </p:spPr>
            <p:txBody>
              <a:bodyPr/>
              <a:lstStyle/>
              <a:p>
                <a:r>
                  <a:rPr lang="en-001">
                    <a:noFill/>
                  </a:rPr>
                  <a:t> </a:t>
                </a:r>
              </a:p>
            </p:txBody>
          </p:sp>
        </mc:Fallback>
      </mc:AlternateContent>
      <p:sp>
        <p:nvSpPr>
          <p:cNvPr id="2" name="Slide Number Placeholder 1">
            <a:extLst>
              <a:ext uri="{FF2B5EF4-FFF2-40B4-BE49-F238E27FC236}">
                <a16:creationId xmlns:a16="http://schemas.microsoft.com/office/drawing/2014/main" id="{987120B6-23FA-4167-8935-BA5EEDC6CB32}"/>
              </a:ext>
            </a:extLst>
          </p:cNvPr>
          <p:cNvSpPr>
            <a:spLocks noGrp="1"/>
          </p:cNvSpPr>
          <p:nvPr>
            <p:ph type="sldNum" sz="quarter" idx="12"/>
          </p:nvPr>
        </p:nvSpPr>
        <p:spPr/>
        <p:txBody>
          <a:bodyPr/>
          <a:lstStyle/>
          <a:p>
            <a:fld id="{B53602B4-F12B-41CD-B648-531F86B2CC91}" type="slidenum">
              <a:rPr lang="zh-CN" altLang="en-US" smtClean="0"/>
              <a:t>12</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C57DD92-1201-498B-80A9-35B7035485F5}"/>
              </a:ext>
            </a:extLst>
          </p:cNvPr>
          <p:cNvPicPr>
            <a:picLocks noChangeAspect="1"/>
          </p:cNvPicPr>
          <p:nvPr/>
        </p:nvPicPr>
        <p:blipFill>
          <a:blip r:embed="rId3"/>
          <a:stretch>
            <a:fillRect/>
          </a:stretch>
        </p:blipFill>
        <p:spPr>
          <a:xfrm>
            <a:off x="1403801" y="2496500"/>
            <a:ext cx="6586451" cy="3846202"/>
          </a:xfrm>
          <a:prstGeom prst="rect">
            <a:avLst/>
          </a:prstGeom>
        </p:spPr>
      </p:pic>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3.1.5</a:t>
            </a:r>
          </a:p>
        </p:txBody>
      </p:sp>
      <p:sp>
        <p:nvSpPr>
          <p:cNvPr id="46" name="矩形 45"/>
          <p:cNvSpPr/>
          <p:nvPr/>
        </p:nvSpPr>
        <p:spPr>
          <a:xfrm>
            <a:off x="1960200" y="329520"/>
            <a:ext cx="2810377" cy="615549"/>
          </a:xfrm>
          <a:prstGeom prst="rect">
            <a:avLst/>
          </a:prstGeom>
        </p:spPr>
        <p:txBody>
          <a:bodyPr wrap="none" lIns="91436" tIns="45718" rIns="91436" bIns="45718">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sym typeface="+mn-ea"/>
              </a:rPr>
              <a:t>零点残余电压</a:t>
            </a:r>
          </a:p>
        </p:txBody>
      </p:sp>
      <p:sp>
        <p:nvSpPr>
          <p:cNvPr id="27" name="Rectangle 3"/>
          <p:cNvSpPr>
            <a:spLocks noRot="1" noChangeArrowheads="1"/>
          </p:cNvSpPr>
          <p:nvPr/>
        </p:nvSpPr>
        <p:spPr bwMode="auto">
          <a:xfrm>
            <a:off x="845367" y="1106173"/>
            <a:ext cx="7293746" cy="1332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auto" latinLnBrk="0" hangingPunct="1">
              <a:lnSpc>
                <a:spcPct val="155000"/>
              </a:lnSpc>
              <a:spcBef>
                <a:spcPct val="20000"/>
              </a:spcBef>
              <a:spcAft>
                <a:spcPts val="0"/>
              </a:spcAft>
              <a:buClr>
                <a:srgbClr val="954F72"/>
              </a:buClr>
              <a:buSzTx/>
              <a:buFont typeface="Wingdings" panose="05000000000000000000" pitchFamily="2" charset="2"/>
              <a:buNone/>
              <a:tabLst/>
              <a:defRPr/>
            </a:pPr>
            <a:r>
              <a:rPr kumimoji="0" lang="en-US" altLang="zh-CN" sz="26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zh-CN" altLang="en-US" sz="26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表现在电桥预平衡时，无法实现平衡，最后总要存在着某个输出值</a:t>
            </a:r>
            <a:r>
              <a:rPr kumimoji="0" lang="en-US" altLang="zh-CN" sz="2600" b="1" i="1"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mn-cs"/>
              </a:rPr>
              <a:t>Δ</a:t>
            </a:r>
            <a:r>
              <a:rPr kumimoji="0" lang="en-US" altLang="zh-CN" sz="2600" b="0" i="1"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U</a:t>
            </a:r>
            <a:r>
              <a:rPr kumimoji="0" lang="en-US" altLang="zh-CN" sz="2600" b="0" i="1" u="none" strike="noStrike" kern="1200" cap="none" spc="0" normalizeH="0" baseline="-2500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o</a:t>
            </a:r>
            <a:r>
              <a:rPr kumimoji="0" lang="zh-CN" altLang="en-US" sz="26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，称为零点残余</a:t>
            </a:r>
            <a:r>
              <a:rPr kumimoji="0" lang="zh-CN" altLang="en-US" sz="26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电压。</a:t>
            </a:r>
            <a:endParaRPr kumimoji="0" lang="zh-CN" altLang="en-US" sz="25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20" name="Slide Number Placeholder 2">
            <a:extLst>
              <a:ext uri="{FF2B5EF4-FFF2-40B4-BE49-F238E27FC236}">
                <a16:creationId xmlns:a16="http://schemas.microsoft.com/office/drawing/2014/main" id="{DE1ED186-3D03-4735-920A-317BB7F51217}"/>
              </a:ext>
            </a:extLst>
          </p:cNvPr>
          <p:cNvSpPr>
            <a:spLocks noGrp="1"/>
          </p:cNvSpPr>
          <p:nvPr>
            <p:ph type="sldNum" sz="quarter" idx="12"/>
          </p:nvPr>
        </p:nvSpPr>
        <p:spPr>
          <a:xfrm>
            <a:off x="6878864" y="6356351"/>
            <a:ext cx="2057400" cy="365125"/>
          </a:xfrm>
        </p:spPr>
        <p:txBody>
          <a:bodyPr/>
          <a:lstStyle/>
          <a:p>
            <a:fld id="{B53602B4-F12B-41CD-B648-531F86B2CC91}" type="slidenum">
              <a:rPr lang="zh-CN" altLang="en-US" smtClean="0"/>
              <a:t>13</a:t>
            </a:fld>
            <a:endParaRPr lang="zh-CN" altLang="en-US"/>
          </a:p>
        </p:txBody>
      </p:sp>
    </p:spTree>
    <p:extLst>
      <p:ext uri="{BB962C8B-B14F-4D97-AF65-F5344CB8AC3E}">
        <p14:creationId xmlns:p14="http://schemas.microsoft.com/office/powerpoint/2010/main" val="144574054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3.1.6</a:t>
            </a:r>
          </a:p>
        </p:txBody>
      </p:sp>
      <p:sp>
        <p:nvSpPr>
          <p:cNvPr id="46" name="矩形 45"/>
          <p:cNvSpPr/>
          <p:nvPr/>
        </p:nvSpPr>
        <p:spPr>
          <a:xfrm>
            <a:off x="1960201" y="329520"/>
            <a:ext cx="543609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自感式传感器的特点及应用</a:t>
            </a:r>
          </a:p>
        </p:txBody>
      </p:sp>
      <p:sp>
        <p:nvSpPr>
          <p:cNvPr id="27" name="Rectangle 3"/>
          <p:cNvSpPr>
            <a:spLocks noRot="1" noChangeArrowheads="1"/>
          </p:cNvSpPr>
          <p:nvPr/>
        </p:nvSpPr>
        <p:spPr bwMode="auto">
          <a:xfrm>
            <a:off x="185083" y="1268813"/>
            <a:ext cx="8711267" cy="35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82600" indent="-482600"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lnSpc>
                <a:spcPct val="115000"/>
              </a:lnSpc>
              <a:spcBef>
                <a:spcPct val="20000"/>
              </a:spcBef>
              <a:buClr>
                <a:schemeClr val="folHlink"/>
              </a:buClr>
              <a:buFont typeface="Wingdings" panose="05000000000000000000" pitchFamily="2" charset="2"/>
              <a:buNone/>
            </a:pPr>
            <a:r>
              <a:rPr lang="en-US" altLang="zh-CN" sz="2200" b="1" dirty="0">
                <a:latin typeface="宋体" panose="02010600030101010101" pitchFamily="2" charset="-122"/>
                <a:ea typeface="宋体" panose="02010600030101010101" pitchFamily="2" charset="-122"/>
              </a:rPr>
              <a:t>   </a:t>
            </a:r>
            <a:r>
              <a:rPr lang="zh-CN" altLang="en-US" sz="2200" b="1" dirty="0">
                <a:latin typeface="宋体" panose="02010600030101010101" pitchFamily="2" charset="-122"/>
                <a:ea typeface="宋体" panose="02010600030101010101" pitchFamily="2" charset="-122"/>
              </a:rPr>
              <a:t>自感式传感器有如下几个特点：   </a:t>
            </a:r>
          </a:p>
          <a:p>
            <a:pPr marL="0" indent="0" eaLnBrk="1" hangingPunct="1">
              <a:lnSpc>
                <a:spcPct val="115000"/>
              </a:lnSpc>
              <a:spcBef>
                <a:spcPct val="20000"/>
              </a:spcBef>
              <a:buClr>
                <a:schemeClr val="folHlink"/>
              </a:buClr>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   ①</a:t>
            </a:r>
            <a:r>
              <a:rPr lang="zh-CN" altLang="en-US" sz="2200" b="1" dirty="0">
                <a:solidFill>
                  <a:srgbClr val="3333CC"/>
                </a:solidFill>
                <a:latin typeface="宋体" panose="02010600030101010101" pitchFamily="2" charset="-122"/>
                <a:ea typeface="宋体" panose="02010600030101010101" pitchFamily="2" charset="-122"/>
              </a:rPr>
              <a:t>灵敏度比较好</a:t>
            </a:r>
            <a:r>
              <a:rPr lang="zh-CN" altLang="en-US" sz="2200" b="1" dirty="0">
                <a:latin typeface="宋体" panose="02010600030101010101" pitchFamily="2" charset="-122"/>
                <a:ea typeface="宋体" panose="02010600030101010101" pitchFamily="2" charset="-122"/>
              </a:rPr>
              <a:t>，目前可测</a:t>
            </a:r>
            <a:r>
              <a:rPr lang="en-US" altLang="zh-CN"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0.1μm</a:t>
            </a:r>
            <a:r>
              <a:rPr lang="zh-CN" altLang="en-US" sz="2200" b="1" dirty="0">
                <a:latin typeface="宋体" panose="02010600030101010101" pitchFamily="2" charset="-122"/>
                <a:ea typeface="宋体" panose="02010600030101010101" pitchFamily="2" charset="-122"/>
              </a:rPr>
              <a:t>的直线位移，输出信号比较大、信噪比较</a:t>
            </a:r>
            <a:r>
              <a:rPr lang="zh-CN" altLang="en-US" sz="2200" b="1">
                <a:latin typeface="宋体" panose="02010600030101010101" pitchFamily="2" charset="-122"/>
                <a:ea typeface="宋体" panose="02010600030101010101" pitchFamily="2" charset="-122"/>
              </a:rPr>
              <a:t>好；</a:t>
            </a:r>
            <a:endParaRPr lang="zh-CN" altLang="en-US" sz="2200" b="1" dirty="0">
              <a:latin typeface="宋体" panose="02010600030101010101" pitchFamily="2" charset="-122"/>
              <a:ea typeface="宋体" panose="02010600030101010101" pitchFamily="2" charset="-122"/>
            </a:endParaRPr>
          </a:p>
          <a:p>
            <a:pPr eaLnBrk="1" hangingPunct="1">
              <a:lnSpc>
                <a:spcPct val="115000"/>
              </a:lnSpc>
              <a:spcBef>
                <a:spcPct val="20000"/>
              </a:spcBef>
              <a:buClr>
                <a:schemeClr val="folHlink"/>
              </a:buClr>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   ②</a:t>
            </a:r>
            <a:r>
              <a:rPr lang="zh-CN" altLang="en-US" sz="2200" b="1" dirty="0">
                <a:solidFill>
                  <a:schemeClr val="accent2">
                    <a:lumMod val="75000"/>
                  </a:schemeClr>
                </a:solidFill>
                <a:latin typeface="宋体" panose="02010600030101010101" pitchFamily="2" charset="-122"/>
                <a:ea typeface="宋体" panose="02010600030101010101" pitchFamily="2" charset="-122"/>
              </a:rPr>
              <a:t>测量范围比较小</a:t>
            </a:r>
            <a:r>
              <a:rPr lang="zh-CN" altLang="en-US" sz="2200" b="1" dirty="0">
                <a:latin typeface="宋体" panose="02010600030101010101" pitchFamily="2" charset="-122"/>
                <a:ea typeface="宋体" panose="02010600030101010101" pitchFamily="2" charset="-122"/>
              </a:rPr>
              <a:t>，适用于测量较小位</a:t>
            </a:r>
            <a:r>
              <a:rPr lang="zh-CN" altLang="en-US" sz="2200" b="1">
                <a:latin typeface="宋体" panose="02010600030101010101" pitchFamily="2" charset="-122"/>
                <a:ea typeface="宋体" panose="02010600030101010101" pitchFamily="2" charset="-122"/>
              </a:rPr>
              <a:t>移；</a:t>
            </a:r>
            <a:endParaRPr lang="zh-CN" altLang="en-US" sz="2200" b="1" dirty="0">
              <a:latin typeface="宋体" panose="02010600030101010101" pitchFamily="2" charset="-122"/>
              <a:ea typeface="宋体" panose="02010600030101010101" pitchFamily="2" charset="-122"/>
            </a:endParaRPr>
          </a:p>
          <a:p>
            <a:pPr eaLnBrk="1" hangingPunct="1">
              <a:lnSpc>
                <a:spcPct val="115000"/>
              </a:lnSpc>
              <a:spcBef>
                <a:spcPct val="20000"/>
              </a:spcBef>
              <a:buClr>
                <a:schemeClr val="folHlink"/>
              </a:buClr>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   ③存在</a:t>
            </a:r>
            <a:r>
              <a:rPr lang="zh-CN" altLang="en-US" sz="2200" b="1" dirty="0">
                <a:solidFill>
                  <a:schemeClr val="accent2">
                    <a:lumMod val="75000"/>
                  </a:schemeClr>
                </a:solidFill>
                <a:latin typeface="宋体" panose="02010600030101010101" pitchFamily="2" charset="-122"/>
                <a:ea typeface="宋体" panose="02010600030101010101" pitchFamily="2" charset="-122"/>
              </a:rPr>
              <a:t>非线性</a:t>
            </a:r>
            <a:r>
              <a:rPr lang="zh-CN" altLang="en-US" sz="2200" b="1" dirty="0">
                <a:latin typeface="宋体" panose="02010600030101010101" pitchFamily="2" charset="-122"/>
                <a:ea typeface="宋体" panose="02010600030101010101" pitchFamily="2" charset="-122"/>
              </a:rPr>
              <a:t>；  </a:t>
            </a:r>
          </a:p>
          <a:p>
            <a:pPr marL="0" indent="0" eaLnBrk="1" hangingPunct="1">
              <a:lnSpc>
                <a:spcPct val="115000"/>
              </a:lnSpc>
              <a:spcBef>
                <a:spcPct val="20000"/>
              </a:spcBef>
              <a:buClr>
                <a:schemeClr val="folHlink"/>
              </a:buClr>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   ④</a:t>
            </a:r>
            <a:r>
              <a:rPr lang="zh-CN" altLang="en-US" sz="2200" b="1" dirty="0">
                <a:solidFill>
                  <a:schemeClr val="accent2">
                    <a:lumMod val="75000"/>
                  </a:schemeClr>
                </a:solidFill>
                <a:latin typeface="宋体" panose="02010600030101010101" pitchFamily="2" charset="-122"/>
                <a:ea typeface="宋体" panose="02010600030101010101" pitchFamily="2" charset="-122"/>
              </a:rPr>
              <a:t>消耗功率较大</a:t>
            </a:r>
            <a:r>
              <a:rPr lang="zh-CN" altLang="en-US" sz="2200" b="1" dirty="0">
                <a:latin typeface="宋体" panose="02010600030101010101" pitchFamily="2" charset="-122"/>
                <a:ea typeface="宋体" panose="02010600030101010101" pitchFamily="2" charset="-122"/>
              </a:rPr>
              <a:t>，尤其是单极式电感传感器，这是由于它有较大的电磁吸力的缘故；</a:t>
            </a:r>
          </a:p>
          <a:p>
            <a:pPr eaLnBrk="1" hangingPunct="1">
              <a:lnSpc>
                <a:spcPct val="115000"/>
              </a:lnSpc>
              <a:spcBef>
                <a:spcPct val="20000"/>
              </a:spcBef>
              <a:buClr>
                <a:schemeClr val="folHlink"/>
              </a:buClr>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   ⑤工艺要求不高，</a:t>
            </a:r>
            <a:r>
              <a:rPr lang="zh-CN" altLang="en-US" sz="2200" b="1" dirty="0">
                <a:solidFill>
                  <a:srgbClr val="3333CC"/>
                </a:solidFill>
                <a:latin typeface="宋体" panose="02010600030101010101" pitchFamily="2" charset="-122"/>
                <a:ea typeface="宋体" panose="02010600030101010101" pitchFamily="2" charset="-122"/>
              </a:rPr>
              <a:t>加工容易</a:t>
            </a:r>
            <a:r>
              <a:rPr lang="zh-CN" altLang="en-US" sz="2200" b="1" dirty="0">
                <a:latin typeface="宋体" panose="02010600030101010101" pitchFamily="2" charset="-122"/>
                <a:ea typeface="宋体" panose="02010600030101010101" pitchFamily="2" charset="-122"/>
              </a:rPr>
              <a:t>。</a:t>
            </a:r>
          </a:p>
        </p:txBody>
      </p:sp>
      <p:sp>
        <p:nvSpPr>
          <p:cNvPr id="7" name="TextBox 6">
            <a:extLst>
              <a:ext uri="{FF2B5EF4-FFF2-40B4-BE49-F238E27FC236}">
                <a16:creationId xmlns:a16="http://schemas.microsoft.com/office/drawing/2014/main" id="{B0E9BAC5-4912-4295-9364-59C596B34A7E}"/>
              </a:ext>
            </a:extLst>
          </p:cNvPr>
          <p:cNvSpPr txBox="1"/>
          <p:nvPr/>
        </p:nvSpPr>
        <p:spPr>
          <a:xfrm>
            <a:off x="185083" y="4975428"/>
            <a:ext cx="8953501" cy="1320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482600" indent="-482600">
              <a:lnSpc>
                <a:spcPct val="115000"/>
              </a:lnSpc>
              <a:spcBef>
                <a:spcPct val="20000"/>
              </a:spcBef>
              <a:buClr>
                <a:schemeClr val="folHlink"/>
              </a:buClr>
              <a:buFont typeface="Wingdings" panose="05000000000000000000" pitchFamily="2" charset="2"/>
              <a:buNone/>
              <a:defRPr sz="2400" b="1">
                <a:latin typeface="宋体" panose="02010600030101010101" pitchFamily="2" charset="-122"/>
                <a:ea typeface="宋体" panose="02010600030101010101" pitchFamily="2" charset="-122"/>
              </a:defRPr>
            </a:lvl1pPr>
            <a:lvl2pPr marL="742950" indent="-285750" eaLnBrk="0" hangingPunct="0">
              <a:defRPr>
                <a:latin typeface="Arial" panose="020B0604020202020204" pitchFamily="34" charset="0"/>
                <a:ea typeface="华文细黑" panose="02010600040101010101" pitchFamily="2" charset="-122"/>
              </a:defRPr>
            </a:lvl2pPr>
            <a:lvl3pPr marL="1143000" indent="-228600" eaLnBrk="0" hangingPunct="0">
              <a:defRPr>
                <a:latin typeface="Arial" panose="020B0604020202020204" pitchFamily="34" charset="0"/>
                <a:ea typeface="华文细黑" panose="02010600040101010101" pitchFamily="2" charset="-122"/>
              </a:defRPr>
            </a:lvl3pPr>
            <a:lvl4pPr marL="1600200" indent="-228600" eaLnBrk="0" hangingPunct="0">
              <a:defRPr>
                <a:latin typeface="Arial" panose="020B0604020202020204" pitchFamily="34" charset="0"/>
                <a:ea typeface="华文细黑" panose="02010600040101010101" pitchFamily="2" charset="-122"/>
              </a:defRPr>
            </a:lvl4pPr>
            <a:lvl5pPr marL="2057400" indent="-228600" eaLnBrk="0" hangingPunct="0">
              <a:defRPr>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latin typeface="Arial" panose="020B0604020202020204" pitchFamily="34" charset="0"/>
                <a:ea typeface="华文细黑" panose="02010600040101010101" pitchFamily="2" charset="-122"/>
              </a:defRPr>
            </a:lvl9pPr>
          </a:lstStyle>
          <a:p>
            <a:pPr marL="0" indent="0"/>
            <a:r>
              <a:rPr lang="en-001" sz="2200"/>
              <a:t>电感传感器是被广泛采用的一种电磁机械式传感器，它可直接用于测量直线位移、角位移的静态和动态量，还可以它为基础，做成多种用途的传感器，用以测量力、 压力 、 转矩等</a:t>
            </a:r>
          </a:p>
        </p:txBody>
      </p:sp>
      <p:sp>
        <p:nvSpPr>
          <p:cNvPr id="3" name="Slide Number Placeholder 2">
            <a:extLst>
              <a:ext uri="{FF2B5EF4-FFF2-40B4-BE49-F238E27FC236}">
                <a16:creationId xmlns:a16="http://schemas.microsoft.com/office/drawing/2014/main" id="{8E27F581-D259-48E4-BBA9-9E1050D43614}"/>
              </a:ext>
            </a:extLst>
          </p:cNvPr>
          <p:cNvSpPr>
            <a:spLocks noGrp="1"/>
          </p:cNvSpPr>
          <p:nvPr>
            <p:ph type="sldNum" sz="quarter" idx="12"/>
          </p:nvPr>
        </p:nvSpPr>
        <p:spPr/>
        <p:txBody>
          <a:bodyPr/>
          <a:lstStyle/>
          <a:p>
            <a:fld id="{B53602B4-F12B-41CD-B648-531F86B2CC91}" type="slidenum">
              <a:rPr lang="zh-CN" altLang="en-US" smtClean="0"/>
              <a:t>14</a:t>
            </a:fld>
            <a:endParaRPr lang="zh-CN" altLang="en-US"/>
          </a:p>
        </p:txBody>
      </p:sp>
    </p:spTree>
    <p:extLst>
      <p:ext uri="{BB962C8B-B14F-4D97-AF65-F5344CB8AC3E}">
        <p14:creationId xmlns:p14="http://schemas.microsoft.com/office/powerpoint/2010/main" val="18554723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3.1.6</a:t>
            </a:r>
          </a:p>
        </p:txBody>
      </p:sp>
      <p:sp>
        <p:nvSpPr>
          <p:cNvPr id="46" name="矩形 45"/>
          <p:cNvSpPr/>
          <p:nvPr/>
        </p:nvSpPr>
        <p:spPr>
          <a:xfrm>
            <a:off x="1960201" y="329520"/>
            <a:ext cx="543609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自感式传感器的特点及应用</a:t>
            </a:r>
          </a:p>
        </p:txBody>
      </p:sp>
      <p:sp>
        <p:nvSpPr>
          <p:cNvPr id="6" name="Rectangle 2">
            <a:extLst>
              <a:ext uri="{FF2B5EF4-FFF2-40B4-BE49-F238E27FC236}">
                <a16:creationId xmlns:a16="http://schemas.microsoft.com/office/drawing/2014/main" id="{B4AF6F83-AFE9-4B74-B52F-C17D364E6FE1}"/>
              </a:ext>
            </a:extLst>
          </p:cNvPr>
          <p:cNvSpPr>
            <a:spLocks noChangeArrowheads="1"/>
          </p:cNvSpPr>
          <p:nvPr/>
        </p:nvSpPr>
        <p:spPr bwMode="auto">
          <a:xfrm>
            <a:off x="2812485" y="3684287"/>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4400">
              <a:solidFill>
                <a:schemeClr val="tx2"/>
              </a:solidFill>
            </a:endParaRPr>
          </a:p>
        </p:txBody>
      </p:sp>
      <p:sp>
        <p:nvSpPr>
          <p:cNvPr id="7" name="Text Box 9">
            <a:extLst>
              <a:ext uri="{FF2B5EF4-FFF2-40B4-BE49-F238E27FC236}">
                <a16:creationId xmlns:a16="http://schemas.microsoft.com/office/drawing/2014/main" id="{5FD0CCAB-5326-46B2-AE66-6CF849845FA4}"/>
              </a:ext>
            </a:extLst>
          </p:cNvPr>
          <p:cNvSpPr txBox="1">
            <a:spLocks noChangeArrowheads="1"/>
          </p:cNvSpPr>
          <p:nvPr/>
        </p:nvSpPr>
        <p:spPr bwMode="auto">
          <a:xfrm>
            <a:off x="51167" y="5462565"/>
            <a:ext cx="472020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spcBef>
                <a:spcPct val="50000"/>
              </a:spcBef>
            </a:pPr>
            <a:r>
              <a:rPr lang="zh-CN" altLang="en-US" b="1">
                <a:solidFill>
                  <a:srgbClr val="000099"/>
                </a:solidFill>
              </a:rPr>
              <a:t>图</a:t>
            </a:r>
            <a:r>
              <a:rPr lang="en-US" altLang="zh-CN" b="1">
                <a:solidFill>
                  <a:srgbClr val="000099"/>
                </a:solidFill>
              </a:rPr>
              <a:t>3-11    </a:t>
            </a:r>
            <a:r>
              <a:rPr lang="zh-CN" altLang="en-US" b="1">
                <a:solidFill>
                  <a:srgbClr val="000099"/>
                </a:solidFill>
              </a:rPr>
              <a:t>测气体压力的电感传感器</a:t>
            </a:r>
          </a:p>
        </p:txBody>
      </p:sp>
      <p:graphicFrame>
        <p:nvGraphicFramePr>
          <p:cNvPr id="8" name="Object 21">
            <a:extLst>
              <a:ext uri="{FF2B5EF4-FFF2-40B4-BE49-F238E27FC236}">
                <a16:creationId xmlns:a16="http://schemas.microsoft.com/office/drawing/2014/main" id="{7326DF50-B839-44AD-A494-A12D28AA34B2}"/>
              </a:ext>
            </a:extLst>
          </p:cNvPr>
          <p:cNvGraphicFramePr>
            <a:graphicFrameLocks noChangeAspect="1"/>
          </p:cNvGraphicFramePr>
          <p:nvPr>
            <p:extLst>
              <p:ext uri="{D42A27DB-BD31-4B8C-83A1-F6EECF244321}">
                <p14:modId xmlns:p14="http://schemas.microsoft.com/office/powerpoint/2010/main" val="3205815237"/>
              </p:ext>
            </p:extLst>
          </p:nvPr>
        </p:nvGraphicFramePr>
        <p:xfrm>
          <a:off x="1029637" y="1610518"/>
          <a:ext cx="3354246" cy="3636963"/>
        </p:xfrm>
        <a:graphic>
          <a:graphicData uri="http://schemas.openxmlformats.org/presentationml/2006/ole">
            <mc:AlternateContent xmlns:mc="http://schemas.openxmlformats.org/markup-compatibility/2006">
              <mc:Choice xmlns:v="urn:schemas-microsoft-com:vml" Requires="v">
                <p:oleObj name="Image" r:id="rId3" imgW="9051429" imgH="9815510" progId="Photoshop.Image.7">
                  <p:embed/>
                </p:oleObj>
              </mc:Choice>
              <mc:Fallback>
                <p:oleObj name="Image" r:id="rId3" imgW="9051429" imgH="9815510" progId="Photoshop.Image.7">
                  <p:embed/>
                  <p:pic>
                    <p:nvPicPr>
                      <p:cNvPr id="2069"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9637" y="1610518"/>
                        <a:ext cx="3354246" cy="3636963"/>
                      </a:xfrm>
                      <a:prstGeom prst="rect">
                        <a:avLst/>
                      </a:prstGeom>
                      <a:noFill/>
                      <a:ln>
                        <a:noFill/>
                      </a:ln>
                      <a:effectLst/>
                    </p:spPr>
                  </p:pic>
                </p:oleObj>
              </mc:Fallback>
            </mc:AlternateContent>
          </a:graphicData>
        </a:graphic>
      </p:graphicFrame>
      <p:sp>
        <p:nvSpPr>
          <p:cNvPr id="9" name="TextBox 8">
            <a:extLst>
              <a:ext uri="{FF2B5EF4-FFF2-40B4-BE49-F238E27FC236}">
                <a16:creationId xmlns:a16="http://schemas.microsoft.com/office/drawing/2014/main" id="{47D5EC1E-DB32-491F-963F-B5AD8CEF5E7D}"/>
              </a:ext>
            </a:extLst>
          </p:cNvPr>
          <p:cNvSpPr txBox="1"/>
          <p:nvPr/>
        </p:nvSpPr>
        <p:spPr>
          <a:xfrm>
            <a:off x="4455321" y="2541630"/>
            <a:ext cx="4560093" cy="1939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482600" indent="-482600">
              <a:lnSpc>
                <a:spcPct val="115000"/>
              </a:lnSpc>
              <a:spcBef>
                <a:spcPct val="20000"/>
              </a:spcBef>
              <a:buClr>
                <a:schemeClr val="folHlink"/>
              </a:buClr>
              <a:buFont typeface="Wingdings" panose="05000000000000000000" pitchFamily="2" charset="2"/>
              <a:buNone/>
              <a:defRPr sz="2400" b="1">
                <a:latin typeface="宋体" panose="02010600030101010101" pitchFamily="2" charset="-122"/>
                <a:ea typeface="宋体" panose="02010600030101010101" pitchFamily="2" charset="-122"/>
              </a:defRPr>
            </a:lvl1pPr>
            <a:lvl2pPr marL="742950" indent="-285750" eaLnBrk="0" hangingPunct="0">
              <a:defRPr>
                <a:latin typeface="Arial" panose="020B0604020202020204" pitchFamily="34" charset="0"/>
                <a:ea typeface="华文细黑" panose="02010600040101010101" pitchFamily="2" charset="-122"/>
              </a:defRPr>
            </a:lvl2pPr>
            <a:lvl3pPr marL="1143000" indent="-228600" eaLnBrk="0" hangingPunct="0">
              <a:defRPr>
                <a:latin typeface="Arial" panose="020B0604020202020204" pitchFamily="34" charset="0"/>
                <a:ea typeface="华文细黑" panose="02010600040101010101" pitchFamily="2" charset="-122"/>
              </a:defRPr>
            </a:lvl3pPr>
            <a:lvl4pPr marL="1600200" indent="-228600" eaLnBrk="0" hangingPunct="0">
              <a:defRPr>
                <a:latin typeface="Arial" panose="020B0604020202020204" pitchFamily="34" charset="0"/>
                <a:ea typeface="华文细黑" panose="02010600040101010101" pitchFamily="2" charset="-122"/>
              </a:defRPr>
            </a:lvl4pPr>
            <a:lvl5pPr marL="2057400" indent="-228600" eaLnBrk="0" hangingPunct="0">
              <a:defRPr>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latin typeface="Arial" panose="020B0604020202020204" pitchFamily="34" charset="0"/>
                <a:ea typeface="华文细黑" panose="02010600040101010101" pitchFamily="2" charset="-122"/>
              </a:defRPr>
            </a:lvl9pPr>
          </a:lstStyle>
          <a:p>
            <a:pPr>
              <a:buFont typeface="Arial" panose="020B0604020202020204" pitchFamily="34" charset="0"/>
              <a:buChar char="•"/>
            </a:pPr>
            <a:r>
              <a:rPr lang="en-001" sz="2000"/>
              <a:t>用改变空气隙长度的电感传感器为基础组成的传感器</a:t>
            </a:r>
          </a:p>
          <a:p>
            <a:pPr>
              <a:buFont typeface="Arial" panose="020B0604020202020204" pitchFamily="34" charset="0"/>
              <a:buChar char="•"/>
            </a:pPr>
            <a:r>
              <a:rPr lang="en-001" sz="2000"/>
              <a:t>感受气体压力的元件为膜盒</a:t>
            </a:r>
          </a:p>
          <a:p>
            <a:pPr>
              <a:buFont typeface="Arial" panose="020B0604020202020204" pitchFamily="34" charset="0"/>
              <a:buChar char="•"/>
            </a:pPr>
            <a:r>
              <a:rPr lang="en-001" sz="2000"/>
              <a:t>传感器测量压力的范围将由膜盒的刚度来决定</a:t>
            </a:r>
          </a:p>
        </p:txBody>
      </p:sp>
      <p:sp>
        <p:nvSpPr>
          <p:cNvPr id="3" name="Slide Number Placeholder 2">
            <a:extLst>
              <a:ext uri="{FF2B5EF4-FFF2-40B4-BE49-F238E27FC236}">
                <a16:creationId xmlns:a16="http://schemas.microsoft.com/office/drawing/2014/main" id="{3782754C-84B0-42A9-85A3-13F9946DD6EF}"/>
              </a:ext>
            </a:extLst>
          </p:cNvPr>
          <p:cNvSpPr>
            <a:spLocks noGrp="1"/>
          </p:cNvSpPr>
          <p:nvPr>
            <p:ph type="sldNum" sz="quarter" idx="12"/>
          </p:nvPr>
        </p:nvSpPr>
        <p:spPr/>
        <p:txBody>
          <a:bodyPr/>
          <a:lstStyle/>
          <a:p>
            <a:fld id="{B53602B4-F12B-41CD-B648-531F86B2CC91}" type="slidenum">
              <a:rPr lang="zh-CN" altLang="en-US" smtClean="0"/>
              <a:t>15</a:t>
            </a:fld>
            <a:endParaRPr lang="zh-CN" altLang="en-US"/>
          </a:p>
        </p:txBody>
      </p:sp>
    </p:spTree>
    <p:extLst>
      <p:ext uri="{BB962C8B-B14F-4D97-AF65-F5344CB8AC3E}">
        <p14:creationId xmlns:p14="http://schemas.microsoft.com/office/powerpoint/2010/main" val="99071728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3.1.6</a:t>
            </a:r>
          </a:p>
        </p:txBody>
      </p:sp>
      <p:sp>
        <p:nvSpPr>
          <p:cNvPr id="46" name="矩形 45"/>
          <p:cNvSpPr/>
          <p:nvPr/>
        </p:nvSpPr>
        <p:spPr>
          <a:xfrm>
            <a:off x="1960201" y="329520"/>
            <a:ext cx="543609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自感式传感器的特点及应用</a:t>
            </a:r>
          </a:p>
        </p:txBody>
      </p:sp>
      <p:sp>
        <p:nvSpPr>
          <p:cNvPr id="6" name="Rectangle 2">
            <a:extLst>
              <a:ext uri="{FF2B5EF4-FFF2-40B4-BE49-F238E27FC236}">
                <a16:creationId xmlns:a16="http://schemas.microsoft.com/office/drawing/2014/main" id="{B4AF6F83-AFE9-4B74-B52F-C17D364E6FE1}"/>
              </a:ext>
            </a:extLst>
          </p:cNvPr>
          <p:cNvSpPr>
            <a:spLocks noChangeArrowheads="1"/>
          </p:cNvSpPr>
          <p:nvPr/>
        </p:nvSpPr>
        <p:spPr bwMode="auto">
          <a:xfrm>
            <a:off x="2812485" y="3684287"/>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4400">
              <a:solidFill>
                <a:schemeClr val="tx2"/>
              </a:solidFill>
            </a:endParaRPr>
          </a:p>
        </p:txBody>
      </p:sp>
      <p:sp>
        <p:nvSpPr>
          <p:cNvPr id="7" name="Rectangle 2">
            <a:extLst>
              <a:ext uri="{FF2B5EF4-FFF2-40B4-BE49-F238E27FC236}">
                <a16:creationId xmlns:a16="http://schemas.microsoft.com/office/drawing/2014/main" id="{5E185B8E-F361-4E53-9FAB-68B6FA38C921}"/>
              </a:ext>
            </a:extLst>
          </p:cNvPr>
          <p:cNvSpPr>
            <a:spLocks noChangeArrowheads="1"/>
          </p:cNvSpPr>
          <p:nvPr/>
        </p:nvSpPr>
        <p:spPr bwMode="auto">
          <a:xfrm>
            <a:off x="3085602" y="3561701"/>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4400">
              <a:solidFill>
                <a:schemeClr val="tx2"/>
              </a:solidFill>
            </a:endParaRPr>
          </a:p>
        </p:txBody>
      </p:sp>
      <p:sp>
        <p:nvSpPr>
          <p:cNvPr id="8" name="Text Box 9">
            <a:extLst>
              <a:ext uri="{FF2B5EF4-FFF2-40B4-BE49-F238E27FC236}">
                <a16:creationId xmlns:a16="http://schemas.microsoft.com/office/drawing/2014/main" id="{83680917-FBBC-4003-AEAC-29C4B8E3DDC0}"/>
              </a:ext>
            </a:extLst>
          </p:cNvPr>
          <p:cNvSpPr txBox="1">
            <a:spLocks noChangeArrowheads="1"/>
          </p:cNvSpPr>
          <p:nvPr/>
        </p:nvSpPr>
        <p:spPr bwMode="auto">
          <a:xfrm>
            <a:off x="213093" y="5277360"/>
            <a:ext cx="46085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b="1" dirty="0">
                <a:solidFill>
                  <a:srgbClr val="000099"/>
                </a:solidFill>
              </a:rPr>
              <a:t>图</a:t>
            </a:r>
            <a:r>
              <a:rPr lang="en-US" altLang="zh-CN" b="1" dirty="0">
                <a:solidFill>
                  <a:srgbClr val="000099"/>
                </a:solidFill>
              </a:rPr>
              <a:t>3-12    </a:t>
            </a:r>
            <a:r>
              <a:rPr lang="zh-CN" altLang="en-US" b="1" dirty="0">
                <a:solidFill>
                  <a:srgbClr val="000099"/>
                </a:solidFill>
              </a:rPr>
              <a:t>压差传感器的原理结构</a:t>
            </a:r>
            <a:endParaRPr lang="en-US" altLang="zh-CN" b="1" dirty="0">
              <a:solidFill>
                <a:srgbClr val="000099"/>
              </a:solidFill>
            </a:endParaRPr>
          </a:p>
        </p:txBody>
      </p:sp>
      <p:graphicFrame>
        <p:nvGraphicFramePr>
          <p:cNvPr id="9" name="Object 21">
            <a:extLst>
              <a:ext uri="{FF2B5EF4-FFF2-40B4-BE49-F238E27FC236}">
                <a16:creationId xmlns:a16="http://schemas.microsoft.com/office/drawing/2014/main" id="{1750717F-3A7E-412F-945B-212FED96CD5C}"/>
              </a:ext>
            </a:extLst>
          </p:cNvPr>
          <p:cNvGraphicFramePr>
            <a:graphicFrameLocks noChangeAspect="1"/>
          </p:cNvGraphicFramePr>
          <p:nvPr>
            <p:extLst>
              <p:ext uri="{D42A27DB-BD31-4B8C-83A1-F6EECF244321}">
                <p14:modId xmlns:p14="http://schemas.microsoft.com/office/powerpoint/2010/main" val="621202427"/>
              </p:ext>
            </p:extLst>
          </p:nvPr>
        </p:nvGraphicFramePr>
        <p:xfrm>
          <a:off x="102689" y="1546887"/>
          <a:ext cx="3167063" cy="3470275"/>
        </p:xfrm>
        <a:graphic>
          <a:graphicData uri="http://schemas.openxmlformats.org/presentationml/2006/ole">
            <mc:AlternateContent xmlns:mc="http://schemas.openxmlformats.org/markup-compatibility/2006">
              <mc:Choice xmlns:v="urn:schemas-microsoft-com:vml" Requires="v">
                <p:oleObj name="Image" r:id="rId3" imgW="11049796" imgH="12107755" progId="Photoshop.Image.7">
                  <p:embed/>
                </p:oleObj>
              </mc:Choice>
              <mc:Fallback>
                <p:oleObj name="Image" r:id="rId3" imgW="11049796" imgH="12107755" progId="Photoshop.Image.7">
                  <p:embed/>
                  <p:pic>
                    <p:nvPicPr>
                      <p:cNvPr id="2069"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689" y="1546887"/>
                        <a:ext cx="3167063" cy="3470275"/>
                      </a:xfrm>
                      <a:prstGeom prst="rect">
                        <a:avLst/>
                      </a:prstGeom>
                      <a:noFill/>
                      <a:ln>
                        <a:noFill/>
                      </a:ln>
                      <a:effectLst/>
                    </p:spPr>
                  </p:pic>
                </p:oleObj>
              </mc:Fallback>
            </mc:AlternateContent>
          </a:graphicData>
        </a:graphic>
      </p:graphicFrame>
      <p:sp>
        <p:nvSpPr>
          <p:cNvPr id="10" name="文本框 1">
            <a:extLst>
              <a:ext uri="{FF2B5EF4-FFF2-40B4-BE49-F238E27FC236}">
                <a16:creationId xmlns:a16="http://schemas.microsoft.com/office/drawing/2014/main" id="{67A14765-54FD-4FE4-A6C1-644DED7364B9}"/>
              </a:ext>
            </a:extLst>
          </p:cNvPr>
          <p:cNvSpPr txBox="1"/>
          <p:nvPr/>
        </p:nvSpPr>
        <p:spPr>
          <a:xfrm>
            <a:off x="3085602" y="2117764"/>
            <a:ext cx="2065196" cy="2328523"/>
          </a:xfrm>
          <a:prstGeom prst="rect">
            <a:avLst/>
          </a:prstGeom>
          <a:noFill/>
        </p:spPr>
        <p:txBody>
          <a:bodyPr wrap="square" rtlCol="0">
            <a:spAutoFit/>
          </a:bodyPr>
          <a:lstStyle/>
          <a:p>
            <a:pPr>
              <a:lnSpc>
                <a:spcPct val="150000"/>
              </a:lnSpc>
            </a:pPr>
            <a:r>
              <a:rPr lang="en-US" altLang="zh-CN" sz="2000" b="1" dirty="0">
                <a:latin typeface="宋体" panose="02010600030101010101" pitchFamily="2" charset="-122"/>
                <a:ea typeface="宋体" panose="02010600030101010101" pitchFamily="2" charset="-122"/>
              </a:rPr>
              <a:t>1</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6—</a:t>
            </a:r>
            <a:r>
              <a:rPr lang="zh-CN" altLang="en-US" sz="2000" b="1" dirty="0">
                <a:latin typeface="宋体" panose="02010600030101010101" pitchFamily="2" charset="-122"/>
                <a:ea typeface="宋体" panose="02010600030101010101" pitchFamily="2" charset="-122"/>
              </a:rPr>
              <a:t>外壳；</a:t>
            </a:r>
            <a:endParaRPr lang="en-US" altLang="zh-CN" sz="2000" b="1" dirty="0">
              <a:latin typeface="宋体" panose="02010600030101010101" pitchFamily="2" charset="-122"/>
              <a:ea typeface="宋体" panose="02010600030101010101" pitchFamily="2" charset="-122"/>
            </a:endParaRPr>
          </a:p>
          <a:p>
            <a:pPr>
              <a:lnSpc>
                <a:spcPct val="150000"/>
              </a:lnSpc>
            </a:pPr>
            <a:r>
              <a:rPr lang="en-US" altLang="zh-CN" sz="2000" b="1" dirty="0">
                <a:latin typeface="宋体" panose="02010600030101010101" pitchFamily="2" charset="-122"/>
                <a:ea typeface="宋体" panose="02010600030101010101" pitchFamily="2" charset="-122"/>
              </a:rPr>
              <a:t>2</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7—</a:t>
            </a:r>
            <a:r>
              <a:rPr lang="zh-CN" altLang="en-US" sz="2000" b="1" dirty="0">
                <a:latin typeface="宋体" panose="02010600030101010101" pitchFamily="2" charset="-122"/>
                <a:ea typeface="宋体" panose="02010600030101010101" pitchFamily="2" charset="-122"/>
              </a:rPr>
              <a:t>铁芯；</a:t>
            </a:r>
            <a:endParaRPr lang="en-US" altLang="zh-CN" sz="2000" b="1" dirty="0">
              <a:latin typeface="宋体" panose="02010600030101010101" pitchFamily="2" charset="-122"/>
              <a:ea typeface="宋体" panose="02010600030101010101" pitchFamily="2" charset="-122"/>
            </a:endParaRPr>
          </a:p>
          <a:p>
            <a:pPr>
              <a:lnSpc>
                <a:spcPct val="150000"/>
              </a:lnSpc>
            </a:pPr>
            <a:r>
              <a:rPr lang="en-US" altLang="zh-CN" sz="2000" b="1" dirty="0">
                <a:latin typeface="宋体" panose="02010600030101010101" pitchFamily="2" charset="-122"/>
                <a:ea typeface="宋体" panose="02010600030101010101" pitchFamily="2" charset="-122"/>
              </a:rPr>
              <a:t>3</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8—</a:t>
            </a:r>
            <a:r>
              <a:rPr lang="zh-CN" altLang="en-US" sz="2000" b="1" dirty="0">
                <a:latin typeface="宋体" panose="02010600030101010101" pitchFamily="2" charset="-122"/>
                <a:ea typeface="宋体" panose="02010600030101010101" pitchFamily="2" charset="-122"/>
              </a:rPr>
              <a:t>线圈；</a:t>
            </a:r>
            <a:endParaRPr lang="en-US" altLang="zh-CN" sz="2000" b="1" dirty="0">
              <a:latin typeface="宋体" panose="02010600030101010101" pitchFamily="2" charset="-122"/>
              <a:ea typeface="宋体" panose="02010600030101010101" pitchFamily="2" charset="-122"/>
            </a:endParaRPr>
          </a:p>
          <a:p>
            <a:pPr>
              <a:lnSpc>
                <a:spcPct val="150000"/>
              </a:lnSpc>
            </a:pPr>
            <a:r>
              <a:rPr lang="en-US" altLang="zh-CN" sz="2000" b="1" dirty="0">
                <a:latin typeface="宋体" panose="02010600030101010101" pitchFamily="2" charset="-122"/>
                <a:ea typeface="宋体" panose="02010600030101010101" pitchFamily="2" charset="-122"/>
              </a:rPr>
              <a:t>4</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9—</a:t>
            </a:r>
            <a:r>
              <a:rPr lang="zh-CN" altLang="en-US" sz="2000" b="1" dirty="0">
                <a:latin typeface="宋体" panose="02010600030101010101" pitchFamily="2" charset="-122"/>
                <a:ea typeface="宋体" panose="02010600030101010101" pitchFamily="2" charset="-122"/>
              </a:rPr>
              <a:t>导气孔道；</a:t>
            </a:r>
            <a:endParaRPr lang="en-US" altLang="zh-CN" sz="2000" b="1" dirty="0">
              <a:latin typeface="宋体" panose="02010600030101010101" pitchFamily="2" charset="-122"/>
              <a:ea typeface="宋体" panose="02010600030101010101" pitchFamily="2" charset="-122"/>
            </a:endParaRPr>
          </a:p>
          <a:p>
            <a:pPr>
              <a:lnSpc>
                <a:spcPct val="150000"/>
              </a:lnSpc>
            </a:pPr>
            <a:r>
              <a:rPr lang="en-US" altLang="zh-CN" sz="2000" b="1" dirty="0">
                <a:latin typeface="宋体" panose="02010600030101010101" pitchFamily="2" charset="-122"/>
                <a:ea typeface="宋体" panose="02010600030101010101" pitchFamily="2" charset="-122"/>
              </a:rPr>
              <a:t>5—</a:t>
            </a:r>
            <a:r>
              <a:rPr lang="zh-CN" altLang="en-US" sz="2000" b="1" dirty="0">
                <a:latin typeface="宋体" panose="02010600030101010101" pitchFamily="2" charset="-122"/>
                <a:ea typeface="宋体" panose="02010600030101010101" pitchFamily="2" charset="-122"/>
              </a:rPr>
              <a:t>可动衔铁。</a:t>
            </a:r>
          </a:p>
        </p:txBody>
      </p:sp>
      <p:sp>
        <p:nvSpPr>
          <p:cNvPr id="11" name="TextBox 10">
            <a:extLst>
              <a:ext uri="{FF2B5EF4-FFF2-40B4-BE49-F238E27FC236}">
                <a16:creationId xmlns:a16="http://schemas.microsoft.com/office/drawing/2014/main" id="{9B127C30-2002-4F3B-B80F-7CC4BBB5389B}"/>
              </a:ext>
            </a:extLst>
          </p:cNvPr>
          <p:cNvSpPr txBox="1"/>
          <p:nvPr/>
        </p:nvSpPr>
        <p:spPr>
          <a:xfrm>
            <a:off x="4981575" y="1310538"/>
            <a:ext cx="4024313" cy="5098512"/>
          </a:xfrm>
          <a:prstGeom prst="rect">
            <a:avLst/>
          </a:prstGeom>
          <a:noFill/>
        </p:spPr>
        <p:txBody>
          <a:bodyPr wrap="square" rtlCol="0">
            <a:spAutoFit/>
          </a:bodyPr>
          <a:lstStyle>
            <a:defPPr>
              <a:defRPr lang="zh-CN"/>
            </a:defPPr>
            <a:lvl1pPr>
              <a:lnSpc>
                <a:spcPct val="150000"/>
              </a:lnSpc>
              <a:defRPr sz="2400" b="1">
                <a:latin typeface="宋体" panose="02010600030101010101" pitchFamily="2" charset="-122"/>
                <a:ea typeface="宋体" panose="02010600030101010101" pitchFamily="2" charset="-122"/>
              </a:defRPr>
            </a:lvl1pPr>
          </a:lstStyle>
          <a:p>
            <a:pPr marL="342900" indent="-342900">
              <a:buFont typeface="Arial" panose="020B0604020202020204" pitchFamily="34" charset="0"/>
              <a:buChar char="•"/>
            </a:pPr>
            <a:r>
              <a:rPr lang="en-001" sz="2000"/>
              <a:t>若P1=P2,则衔铁处于对称位置</a:t>
            </a:r>
            <a:r>
              <a:rPr lang="en-US" sz="2000"/>
              <a:t>,</a:t>
            </a:r>
            <a:r>
              <a:rPr lang="en-001" sz="2000"/>
              <a:t>即处于零位，此时有L1o=L2o；</a:t>
            </a:r>
            <a:endParaRPr lang="en-US" sz="2000"/>
          </a:p>
          <a:p>
            <a:pPr marL="342900" indent="-342900">
              <a:buFont typeface="Arial" panose="020B0604020202020204" pitchFamily="34" charset="0"/>
              <a:buChar char="•"/>
            </a:pPr>
            <a:r>
              <a:rPr lang="en-001" sz="2000"/>
              <a:t>若P2≠P</a:t>
            </a:r>
            <a:r>
              <a:rPr lang="en-US" sz="2000"/>
              <a:t>1</a:t>
            </a:r>
            <a:r>
              <a:rPr lang="en-001" sz="2000"/>
              <a:t>时，</a:t>
            </a:r>
            <a:r>
              <a:rPr lang="zh-CN" altLang="en-US" sz="2000"/>
              <a:t>则可由电感差值来测量压差。</a:t>
            </a:r>
            <a:endParaRPr lang="en-US" sz="2000"/>
          </a:p>
          <a:p>
            <a:pPr marL="342900" indent="-342900">
              <a:buFont typeface="Arial" panose="020B0604020202020204" pitchFamily="34" charset="0"/>
              <a:buChar char="•"/>
            </a:pPr>
            <a:r>
              <a:rPr lang="en-001" sz="2000"/>
              <a:t>传感器灵敏度与衔铁固定刚度有关</a:t>
            </a:r>
            <a:endParaRPr lang="en-US" sz="2000"/>
          </a:p>
          <a:p>
            <a:pPr marL="342900" indent="-342900">
              <a:buFont typeface="Arial" panose="020B0604020202020204" pitchFamily="34" charset="0"/>
              <a:buChar char="•"/>
            </a:pPr>
            <a:r>
              <a:rPr lang="en-001" sz="2000"/>
              <a:t>其全程测量范围除与上述刚度有关以外，还和衔铁与铁心间的空气隙长短有关。</a:t>
            </a:r>
            <a:endParaRPr lang="en-US" sz="2000"/>
          </a:p>
          <a:p>
            <a:pPr marL="342900" indent="-342900">
              <a:buFont typeface="Arial" panose="020B0604020202020204" pitchFamily="34" charset="0"/>
              <a:buChar char="•"/>
            </a:pPr>
            <a:r>
              <a:rPr lang="en-001" sz="2000"/>
              <a:t>这种结构常采用电桥电路，其机械零位调整不易实现。</a:t>
            </a:r>
          </a:p>
        </p:txBody>
      </p:sp>
      <p:sp>
        <p:nvSpPr>
          <p:cNvPr id="3" name="TextBox 2">
            <a:extLst>
              <a:ext uri="{FF2B5EF4-FFF2-40B4-BE49-F238E27FC236}">
                <a16:creationId xmlns:a16="http://schemas.microsoft.com/office/drawing/2014/main" id="{7E8D68E0-D976-421C-A11E-0DDA1BD091A3}"/>
              </a:ext>
            </a:extLst>
          </p:cNvPr>
          <p:cNvSpPr txBox="1"/>
          <p:nvPr/>
        </p:nvSpPr>
        <p:spPr>
          <a:xfrm>
            <a:off x="1720763" y="1468772"/>
            <a:ext cx="402674" cy="369332"/>
          </a:xfrm>
          <a:prstGeom prst="rect">
            <a:avLst/>
          </a:prstGeom>
          <a:solidFill>
            <a:schemeClr val="bg1"/>
          </a:solidFill>
        </p:spPr>
        <p:txBody>
          <a:bodyPr wrap="none" rtlCol="0">
            <a:spAutoFit/>
          </a:bodyPr>
          <a:lstStyle/>
          <a:p>
            <a:pPr algn="ctr"/>
            <a:r>
              <a:rPr lang="en-US" i="1">
                <a:latin typeface="Times New Roman" panose="02020603050405020304" pitchFamily="18" charset="0"/>
                <a:ea typeface="宋体" panose="02010600030101010101" pitchFamily="2" charset="-122"/>
                <a:cs typeface="Times New Roman" panose="02020603050405020304" pitchFamily="18" charset="0"/>
              </a:rPr>
              <a:t>P</a:t>
            </a:r>
            <a:r>
              <a:rPr lang="en-US" baseline="-25000">
                <a:latin typeface="Times New Roman" panose="02020603050405020304" pitchFamily="18" charset="0"/>
                <a:ea typeface="宋体" panose="02010600030101010101" pitchFamily="2" charset="-122"/>
                <a:cs typeface="Times New Roman" panose="02020603050405020304" pitchFamily="18" charset="0"/>
              </a:rPr>
              <a:t>2</a:t>
            </a:r>
            <a:endParaRPr lang="en-001" baseline="-250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AB86CED6-1BCA-4EFC-B00D-BE2344E41C5B}"/>
              </a:ext>
            </a:extLst>
          </p:cNvPr>
          <p:cNvSpPr>
            <a:spLocks noGrp="1"/>
          </p:cNvSpPr>
          <p:nvPr>
            <p:ph type="sldNum" sz="quarter" idx="12"/>
          </p:nvPr>
        </p:nvSpPr>
        <p:spPr/>
        <p:txBody>
          <a:bodyPr/>
          <a:lstStyle/>
          <a:p>
            <a:fld id="{B53602B4-F12B-41CD-B648-531F86B2CC91}" type="slidenum">
              <a:rPr lang="zh-CN" altLang="en-US" smtClean="0"/>
              <a:t>16</a:t>
            </a:fld>
            <a:endParaRPr lang="zh-CN" altLang="en-US"/>
          </a:p>
        </p:txBody>
      </p:sp>
    </p:spTree>
    <p:extLst>
      <p:ext uri="{BB962C8B-B14F-4D97-AF65-F5344CB8AC3E}">
        <p14:creationId xmlns:p14="http://schemas.microsoft.com/office/powerpoint/2010/main" val="52652559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90761" y="355088"/>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3.2</a:t>
            </a:r>
          </a:p>
        </p:txBody>
      </p:sp>
      <p:sp>
        <p:nvSpPr>
          <p:cNvPr id="46" name="矩形 45"/>
          <p:cNvSpPr/>
          <p:nvPr/>
        </p:nvSpPr>
        <p:spPr>
          <a:xfrm>
            <a:off x="1960200" y="360001"/>
            <a:ext cx="324799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变压器式传感器</a:t>
            </a:r>
          </a:p>
        </p:txBody>
      </p:sp>
      <p:sp>
        <p:nvSpPr>
          <p:cNvPr id="3" name="矩形 2"/>
          <p:cNvSpPr/>
          <p:nvPr/>
        </p:nvSpPr>
        <p:spPr>
          <a:xfrm>
            <a:off x="3156113" y="2346199"/>
            <a:ext cx="4632132" cy="3785650"/>
          </a:xfrm>
          <a:prstGeom prst="rect">
            <a:avLst/>
          </a:prstGeom>
        </p:spPr>
        <p:txBody>
          <a:bodyPr wrap="square" lIns="91438" tIns="45719" rIns="91438" bIns="45719">
            <a:spAutoFit/>
          </a:bodyPr>
          <a:lstStyle/>
          <a:p>
            <a:pPr>
              <a:lnSpc>
                <a:spcPct val="200000"/>
              </a:lnSpc>
            </a:pPr>
            <a:r>
              <a:rPr lang="zh-CN" altLang="en-US" sz="24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hlinkClick r:id="rId3" action="ppaction://hlinksldjump"/>
              </a:rPr>
              <a:t>工作原理</a:t>
            </a:r>
            <a:endParaRPr lang="zh-CN" altLang="en-US" sz="24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endParaRPr>
          </a:p>
          <a:p>
            <a:pPr>
              <a:lnSpc>
                <a:spcPct val="200000"/>
              </a:lnSpc>
            </a:pPr>
            <a:r>
              <a:rPr lang="zh-CN" altLang="en-US" sz="2400" b="1" dirty="0">
                <a:solidFill>
                  <a:schemeClr val="bg1">
                    <a:lumMod val="65000"/>
                  </a:schemeClr>
                </a:solidFill>
                <a:latin typeface="Arial" panose="020B0604020202020204" pitchFamily="34" charset="0"/>
                <a:ea typeface="宋体" panose="02010600030101010101" pitchFamily="2" charset="-122"/>
                <a:cs typeface="Arial" panose="020B0604020202020204" pitchFamily="34" charset="0"/>
                <a:sym typeface="+mn-ea"/>
                <a:hlinkClick r:id="rId4" action="ppaction://hlinksldjump">
                  <a:extLst>
                    <a:ext uri="{A12FA001-AC4F-418D-AE19-62706E023703}">
                      <ahyp:hlinkClr xmlns:ahyp="http://schemas.microsoft.com/office/drawing/2018/hyperlinkcolor" val="tx"/>
                    </a:ext>
                  </a:extLst>
                </a:hlinkClick>
              </a:rPr>
              <a:t>等效电路及其特性</a:t>
            </a:r>
            <a:endParaRPr lang="zh-CN" altLang="en-US" sz="2400" b="1" dirty="0">
              <a:solidFill>
                <a:schemeClr val="bg1">
                  <a:lumMod val="65000"/>
                </a:schemeClr>
              </a:solidFill>
              <a:latin typeface="Arial" panose="020B0604020202020204" pitchFamily="34" charset="0"/>
              <a:ea typeface="宋体" panose="02010600030101010101" pitchFamily="2" charset="-122"/>
              <a:cs typeface="Arial" panose="020B0604020202020204" pitchFamily="34" charset="0"/>
              <a:sym typeface="+mn-ea"/>
            </a:endParaRPr>
          </a:p>
          <a:p>
            <a:pPr>
              <a:lnSpc>
                <a:spcPct val="200000"/>
              </a:lnSpc>
            </a:pPr>
            <a:r>
              <a:rPr lang="zh-CN" altLang="en-US" sz="2400" b="1" dirty="0">
                <a:solidFill>
                  <a:schemeClr val="bg1">
                    <a:lumMod val="65000"/>
                  </a:schemeClr>
                </a:solidFill>
                <a:latin typeface="Arial" panose="020B0604020202020204" pitchFamily="34" charset="0"/>
                <a:ea typeface="宋体" panose="02010600030101010101" pitchFamily="2" charset="-122"/>
                <a:cs typeface="Arial" panose="020B0604020202020204" pitchFamily="34" charset="0"/>
                <a:sym typeface="+mn-ea"/>
                <a:hlinkClick r:id="rId3" action="ppaction://hlinksldjump">
                  <a:extLst>
                    <a:ext uri="{A12FA001-AC4F-418D-AE19-62706E023703}">
                      <ahyp:hlinkClr xmlns:ahyp="http://schemas.microsoft.com/office/drawing/2018/hyperlinkcolor" val="tx"/>
                    </a:ext>
                  </a:extLst>
                </a:hlinkClick>
              </a:rPr>
              <a:t>差分变压器式传感器的测量电路</a:t>
            </a:r>
            <a:endParaRPr lang="zh-CN" altLang="en-US" sz="2400" b="1" dirty="0">
              <a:solidFill>
                <a:schemeClr val="bg1">
                  <a:lumMod val="65000"/>
                </a:schemeClr>
              </a:solidFill>
              <a:latin typeface="Arial" panose="020B0604020202020204" pitchFamily="34" charset="0"/>
              <a:ea typeface="宋体" panose="02010600030101010101" pitchFamily="2" charset="-122"/>
              <a:cs typeface="Arial" panose="020B0604020202020204" pitchFamily="34" charset="0"/>
              <a:sym typeface="+mn-ea"/>
            </a:endParaRPr>
          </a:p>
          <a:p>
            <a:pPr>
              <a:lnSpc>
                <a:spcPct val="200000"/>
              </a:lnSpc>
            </a:pPr>
            <a:r>
              <a:rPr lang="zh-CN" altLang="en-US" sz="2400" b="1" dirty="0">
                <a:solidFill>
                  <a:schemeClr val="bg1">
                    <a:lumMod val="65000"/>
                  </a:schemeClr>
                </a:solidFill>
                <a:latin typeface="Arial" panose="020B0604020202020204" pitchFamily="34" charset="0"/>
                <a:ea typeface="宋体" panose="02010600030101010101" pitchFamily="2" charset="-122"/>
                <a:cs typeface="Arial" panose="020B0604020202020204" pitchFamily="34" charset="0"/>
                <a:sym typeface="+mn-ea"/>
                <a:hlinkClick r:id="rId5" action="ppaction://hlinksldjump">
                  <a:extLst>
                    <a:ext uri="{A12FA001-AC4F-418D-AE19-62706E023703}">
                      <ahyp:hlinkClr xmlns:ahyp="http://schemas.microsoft.com/office/drawing/2018/hyperlinkcolor" val="tx"/>
                    </a:ext>
                  </a:extLst>
                </a:hlinkClick>
              </a:rPr>
              <a:t>零点残余电压的补偿</a:t>
            </a:r>
            <a:endParaRPr lang="zh-CN" altLang="en-US" sz="2400" b="1" dirty="0">
              <a:solidFill>
                <a:schemeClr val="bg1">
                  <a:lumMod val="65000"/>
                </a:schemeClr>
              </a:solidFill>
              <a:latin typeface="Arial" panose="020B0604020202020204" pitchFamily="34" charset="0"/>
              <a:ea typeface="宋体" panose="02010600030101010101" pitchFamily="2" charset="-122"/>
              <a:cs typeface="Arial" panose="020B0604020202020204" pitchFamily="34" charset="0"/>
              <a:sym typeface="+mn-ea"/>
            </a:endParaRPr>
          </a:p>
          <a:p>
            <a:pPr>
              <a:lnSpc>
                <a:spcPct val="200000"/>
              </a:lnSpc>
            </a:pPr>
            <a:r>
              <a:rPr lang="zh-CN" altLang="en-US" sz="24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hlinkClick r:id="rId5" action="ppaction://hlinksldjump"/>
              </a:rPr>
              <a:t>变压器式传感器的应用举例</a:t>
            </a:r>
            <a:endParaRPr lang="zh-CN" altLang="en-US" sz="24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endParaRPr>
          </a:p>
        </p:txBody>
      </p:sp>
      <p:sp>
        <p:nvSpPr>
          <p:cNvPr id="27" name="文本框 26"/>
          <p:cNvSpPr txBox="1"/>
          <p:nvPr/>
        </p:nvSpPr>
        <p:spPr>
          <a:xfrm>
            <a:off x="608806" y="1292292"/>
            <a:ext cx="8255794" cy="957250"/>
          </a:xfrm>
          <a:prstGeom prst="rect">
            <a:avLst/>
          </a:prstGeom>
          <a:noFill/>
        </p:spPr>
        <p:txBody>
          <a:bodyPr wrap="square" rtlCol="0">
            <a:spAutoFit/>
          </a:bodyPr>
          <a:lstStyle/>
          <a:p>
            <a:pPr marL="1527175" indent="-1527175">
              <a:lnSpc>
                <a:spcPct val="150000"/>
              </a:lnSpc>
            </a:pPr>
            <a:r>
              <a:rPr lang="en-US" altLang="zh-CN" sz="20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LVDT</a:t>
            </a:r>
            <a:r>
              <a:rPr lang="zh-CN" altLang="en-US" sz="20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Linear Variable Differential Transformer   </a:t>
            </a:r>
            <a:r>
              <a:rPr lang="zh-CN" altLang="en-US" sz="2000" b="0" i="0">
                <a:solidFill>
                  <a:srgbClr val="111111"/>
                </a:solidFill>
                <a:effectLst/>
                <a:latin typeface="Times New Roman" panose="02020603050405020304" pitchFamily="18" charset="0"/>
                <a:ea typeface="宋体" panose="02010600030101010101" pitchFamily="2" charset="-122"/>
                <a:cs typeface="Times New Roman" panose="02020603050405020304" pitchFamily="18" charset="0"/>
              </a:rPr>
              <a:t>线性可变差动变压器 </a:t>
            </a:r>
            <a:r>
              <a:rPr lang="en-US" altLang="zh-CN" sz="20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p>
          <a:p>
            <a:pPr marL="1527175" indent="-1527175">
              <a:lnSpc>
                <a:spcPct val="150000"/>
              </a:lnSpc>
            </a:pPr>
            <a:r>
              <a:rPr lang="en-US" altLang="zh-CN" sz="20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RVDT</a:t>
            </a:r>
            <a:r>
              <a:rPr lang="zh-CN" altLang="en-US" sz="20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Rotary Variable Differential Transformer  </a:t>
            </a:r>
            <a:r>
              <a:rPr lang="zh-CN" altLang="en-US" sz="2000">
                <a:solidFill>
                  <a:srgbClr val="111111"/>
                </a:solidFill>
                <a:latin typeface="Times New Roman" panose="02020603050405020304" pitchFamily="18" charset="0"/>
                <a:ea typeface="宋体" panose="02010600030101010101" pitchFamily="2" charset="-122"/>
                <a:cs typeface="Times New Roman" panose="02020603050405020304" pitchFamily="18" charset="0"/>
              </a:rPr>
              <a:t>旋转可变差动变压器</a:t>
            </a:r>
            <a:endParaRPr lang="zh-CN" altLang="en-US" sz="2000" dirty="0">
              <a:solidFill>
                <a:srgbClr val="11111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5" name="圆角矩形 72">
            <a:extLst>
              <a:ext uri="{FF2B5EF4-FFF2-40B4-BE49-F238E27FC236}">
                <a16:creationId xmlns:a16="http://schemas.microsoft.com/office/drawing/2014/main" id="{343D7C8A-72E9-4E11-82F9-04D1F37F1B07}"/>
              </a:ext>
            </a:extLst>
          </p:cNvPr>
          <p:cNvSpPr/>
          <p:nvPr/>
        </p:nvSpPr>
        <p:spPr>
          <a:xfrm rot="10800000" flipV="1">
            <a:off x="2049420" y="2566284"/>
            <a:ext cx="100228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3.2.1</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8" name="圆角矩形 73">
            <a:extLst>
              <a:ext uri="{FF2B5EF4-FFF2-40B4-BE49-F238E27FC236}">
                <a16:creationId xmlns:a16="http://schemas.microsoft.com/office/drawing/2014/main" id="{7997A031-0667-4F3B-9AA0-BAB02B443096}"/>
              </a:ext>
            </a:extLst>
          </p:cNvPr>
          <p:cNvSpPr/>
          <p:nvPr/>
        </p:nvSpPr>
        <p:spPr>
          <a:xfrm rot="10800000" flipV="1">
            <a:off x="2049416" y="3314439"/>
            <a:ext cx="1002285" cy="467244"/>
          </a:xfrm>
          <a:prstGeom prst="roundRect">
            <a:avLst>
              <a:gd name="adj" fmla="val 5039"/>
            </a:avLst>
          </a:prstGeom>
          <a:solidFill>
            <a:schemeClr val="bg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3.2.2</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9" name="圆角矩形 72">
            <a:extLst>
              <a:ext uri="{FF2B5EF4-FFF2-40B4-BE49-F238E27FC236}">
                <a16:creationId xmlns:a16="http://schemas.microsoft.com/office/drawing/2014/main" id="{343D7C8A-72E9-4E11-82F9-04D1F37F1B07}"/>
              </a:ext>
            </a:extLst>
          </p:cNvPr>
          <p:cNvSpPr/>
          <p:nvPr/>
        </p:nvSpPr>
        <p:spPr>
          <a:xfrm rot="10800000" flipV="1">
            <a:off x="2049415" y="4031444"/>
            <a:ext cx="1002281" cy="468852"/>
          </a:xfrm>
          <a:prstGeom prst="roundRect">
            <a:avLst>
              <a:gd name="adj" fmla="val 5039"/>
            </a:avLst>
          </a:prstGeom>
          <a:solidFill>
            <a:schemeClr val="bg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3.2.3</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30" name="圆角矩形 73">
            <a:extLst>
              <a:ext uri="{FF2B5EF4-FFF2-40B4-BE49-F238E27FC236}">
                <a16:creationId xmlns:a16="http://schemas.microsoft.com/office/drawing/2014/main" id="{7997A031-0667-4F3B-9AA0-BAB02B443096}"/>
              </a:ext>
            </a:extLst>
          </p:cNvPr>
          <p:cNvSpPr/>
          <p:nvPr/>
        </p:nvSpPr>
        <p:spPr>
          <a:xfrm rot="10800000" flipV="1">
            <a:off x="2049411" y="4751787"/>
            <a:ext cx="1002285" cy="467244"/>
          </a:xfrm>
          <a:prstGeom prst="roundRect">
            <a:avLst>
              <a:gd name="adj" fmla="val 5039"/>
            </a:avLst>
          </a:prstGeom>
          <a:solidFill>
            <a:schemeClr val="bg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3.2.4</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31" name="圆角矩形 72">
            <a:extLst>
              <a:ext uri="{FF2B5EF4-FFF2-40B4-BE49-F238E27FC236}">
                <a16:creationId xmlns:a16="http://schemas.microsoft.com/office/drawing/2014/main" id="{343D7C8A-72E9-4E11-82F9-04D1F37F1B07}"/>
              </a:ext>
            </a:extLst>
          </p:cNvPr>
          <p:cNvSpPr/>
          <p:nvPr/>
        </p:nvSpPr>
        <p:spPr>
          <a:xfrm rot="10800000" flipV="1">
            <a:off x="2043710" y="5457332"/>
            <a:ext cx="100228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3.2.5</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 name="Slide Number Placeholder 1">
            <a:extLst>
              <a:ext uri="{FF2B5EF4-FFF2-40B4-BE49-F238E27FC236}">
                <a16:creationId xmlns:a16="http://schemas.microsoft.com/office/drawing/2014/main" id="{9C3C0624-08BC-424D-959D-618F0A4ACC13}"/>
              </a:ext>
            </a:extLst>
          </p:cNvPr>
          <p:cNvSpPr>
            <a:spLocks noGrp="1"/>
          </p:cNvSpPr>
          <p:nvPr>
            <p:ph type="sldNum" sz="quarter" idx="12"/>
          </p:nvPr>
        </p:nvSpPr>
        <p:spPr/>
        <p:txBody>
          <a:bodyPr/>
          <a:lstStyle/>
          <a:p>
            <a:fld id="{B53602B4-F12B-41CD-B648-531F86B2CC91}" type="slidenum">
              <a:rPr lang="zh-CN" altLang="en-US" smtClean="0"/>
              <a:t>17</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3.2.1</a:t>
            </a:r>
          </a:p>
        </p:txBody>
      </p:sp>
      <p:sp>
        <p:nvSpPr>
          <p:cNvPr id="46" name="矩形 45"/>
          <p:cNvSpPr/>
          <p:nvPr/>
        </p:nvSpPr>
        <p:spPr>
          <a:xfrm>
            <a:off x="1960200" y="360001"/>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工作原理</a:t>
            </a:r>
          </a:p>
        </p:txBody>
      </p:sp>
      <p:sp>
        <p:nvSpPr>
          <p:cNvPr id="25" name="Rectangle 3"/>
          <p:cNvSpPr>
            <a:spLocks noRot="1" noChangeArrowheads="1"/>
          </p:cNvSpPr>
          <p:nvPr/>
        </p:nvSpPr>
        <p:spPr bwMode="auto">
          <a:xfrm>
            <a:off x="246690" y="1510406"/>
            <a:ext cx="4540196" cy="4680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lnSpc>
                <a:spcPct val="120000"/>
              </a:lnSpc>
              <a:spcBef>
                <a:spcPct val="20000"/>
              </a:spcBef>
              <a:buClr>
                <a:schemeClr val="folHlink"/>
              </a:buClr>
              <a:buFont typeface="Wingdings" panose="05000000000000000000" pitchFamily="2" charset="2"/>
              <a:buNone/>
            </a:pP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变压器式传感器是将非电量转换为线圈间</a:t>
            </a:r>
            <a:r>
              <a:rPr lang="zh-CN" altLang="en-US" sz="2400" b="1" dirty="0">
                <a:solidFill>
                  <a:srgbClr val="C00000"/>
                </a:solidFill>
                <a:latin typeface="宋体" panose="02010600030101010101" pitchFamily="2" charset="-122"/>
                <a:ea typeface="宋体" panose="02010600030101010101" pitchFamily="2" charset="-122"/>
              </a:rPr>
              <a:t>互感</a:t>
            </a:r>
            <a:r>
              <a:rPr lang="en-US" altLang="zh-CN" sz="2400" i="1" dirty="0">
                <a:solidFill>
                  <a:srgbClr val="C00000"/>
                </a:solidFill>
                <a:latin typeface="Times New Roman" panose="02020603050405020304" pitchFamily="18" charset="0"/>
                <a:ea typeface="宋体" panose="02010600030101010101" pitchFamily="2" charset="-122"/>
              </a:rPr>
              <a:t>M</a:t>
            </a:r>
            <a:r>
              <a:rPr lang="zh-CN" altLang="en-US" sz="2400" b="1" dirty="0">
                <a:latin typeface="宋体" panose="02010600030101010101" pitchFamily="2" charset="-122"/>
                <a:ea typeface="宋体" panose="02010600030101010101" pitchFamily="2" charset="-122"/>
              </a:rPr>
              <a:t>的一种磁电机构，类似变压器的工作原理。</a:t>
            </a:r>
          </a:p>
          <a:p>
            <a:pPr eaLnBrk="1" hangingPunct="1">
              <a:lnSpc>
                <a:spcPct val="120000"/>
              </a:lnSpc>
              <a:spcBef>
                <a:spcPct val="20000"/>
              </a:spcBef>
              <a:buClr>
                <a:schemeClr val="folHlink"/>
              </a:buClr>
              <a:buFont typeface="Wingdings" panose="05000000000000000000" pitchFamily="2" charset="2"/>
              <a:buNone/>
            </a:pPr>
            <a:r>
              <a:rPr lang="zh-CN" altLang="en-US" sz="2400" b="1" dirty="0">
                <a:latin typeface="宋体" panose="02010600030101010101" pitchFamily="2" charset="-122"/>
                <a:ea typeface="宋体" panose="02010600030101010101" pitchFamily="2" charset="-122"/>
              </a:rPr>
              <a:t>    多采用差动形式，其</a:t>
            </a:r>
            <a:r>
              <a:rPr lang="zh-CN" altLang="en-US" sz="2400" b="1">
                <a:latin typeface="宋体" panose="02010600030101010101" pitchFamily="2" charset="-122"/>
                <a:ea typeface="宋体" panose="02010600030101010101" pitchFamily="2" charset="-122"/>
              </a:rPr>
              <a:t>中：</a:t>
            </a:r>
            <a:endParaRPr lang="en-US" altLang="zh-CN" sz="2400" b="1">
              <a:latin typeface="宋体" panose="02010600030101010101" pitchFamily="2" charset="-122"/>
              <a:ea typeface="宋体" panose="02010600030101010101" pitchFamily="2" charset="-122"/>
            </a:endParaRPr>
          </a:p>
          <a:p>
            <a:pPr marL="342900" indent="-342900" eaLnBrk="1" hangingPunct="1">
              <a:lnSpc>
                <a:spcPct val="120000"/>
              </a:lnSpc>
              <a:spcBef>
                <a:spcPct val="20000"/>
              </a:spcBef>
              <a:buClr>
                <a:schemeClr val="folHlink"/>
              </a:buClr>
              <a:buFont typeface="Wingdings" panose="05000000000000000000" pitchFamily="2" charset="2"/>
              <a:buChar char="Ø"/>
            </a:pPr>
            <a:r>
              <a:rPr lang="en-US" altLang="zh-CN" sz="2400" b="1">
                <a:latin typeface="Times New Roman" panose="02020603050405020304" pitchFamily="18" charset="0"/>
                <a:ea typeface="宋体" panose="02010600030101010101" pitchFamily="2" charset="-122"/>
              </a:rPr>
              <a:t>A</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B</a:t>
            </a:r>
            <a:r>
              <a:rPr lang="zh-CN" altLang="en-US" sz="2400" b="1" dirty="0">
                <a:latin typeface="宋体" panose="02010600030101010101" pitchFamily="2" charset="-122"/>
                <a:ea typeface="宋体" panose="02010600030101010101" pitchFamily="2" charset="-122"/>
              </a:rPr>
              <a:t>为两个山字形固定铁</a:t>
            </a:r>
            <a:r>
              <a:rPr lang="zh-CN" altLang="en-US" sz="2400" b="1">
                <a:latin typeface="宋体" panose="02010600030101010101" pitchFamily="2" charset="-122"/>
                <a:ea typeface="宋体" panose="02010600030101010101" pitchFamily="2" charset="-122"/>
              </a:rPr>
              <a:t>芯，</a:t>
            </a:r>
            <a:endParaRPr lang="en-US" altLang="zh-CN" sz="2400" b="1">
              <a:latin typeface="宋体" panose="02010600030101010101" pitchFamily="2" charset="-122"/>
              <a:ea typeface="宋体" panose="02010600030101010101" pitchFamily="2" charset="-122"/>
            </a:endParaRPr>
          </a:p>
          <a:p>
            <a:pPr marL="342900" indent="-342900" eaLnBrk="1" hangingPunct="1">
              <a:lnSpc>
                <a:spcPct val="120000"/>
              </a:lnSpc>
              <a:spcBef>
                <a:spcPct val="20000"/>
              </a:spcBef>
              <a:buClr>
                <a:schemeClr val="folHlink"/>
              </a:buClr>
              <a:buFont typeface="Wingdings" panose="05000000000000000000" pitchFamily="2" charset="2"/>
              <a:buChar char="Ø"/>
            </a:pPr>
            <a:r>
              <a:rPr lang="zh-CN" altLang="en-US" sz="2400" b="1">
                <a:latin typeface="宋体" panose="02010600030101010101" pitchFamily="2" charset="-122"/>
                <a:ea typeface="宋体" panose="02010600030101010101" pitchFamily="2" charset="-122"/>
              </a:rPr>
              <a:t>在</a:t>
            </a:r>
            <a:r>
              <a:rPr lang="zh-CN" altLang="en-US" sz="2400" b="1" dirty="0">
                <a:latin typeface="宋体" panose="02010600030101010101" pitchFamily="2" charset="-122"/>
                <a:ea typeface="宋体" panose="02010600030101010101" pitchFamily="2" charset="-122"/>
              </a:rPr>
              <a:t>其窗中各绕有两个线</a:t>
            </a:r>
            <a:r>
              <a:rPr lang="zh-CN" altLang="en-US" sz="2400" b="1">
                <a:latin typeface="宋体" panose="02010600030101010101" pitchFamily="2" charset="-122"/>
                <a:ea typeface="宋体" panose="02010600030101010101" pitchFamily="2" charset="-122"/>
              </a:rPr>
              <a:t>圈，</a:t>
            </a:r>
            <a:endParaRPr lang="en-US" altLang="zh-CN" sz="2400" b="1">
              <a:latin typeface="宋体" panose="02010600030101010101" pitchFamily="2" charset="-122"/>
              <a:ea typeface="宋体" panose="02010600030101010101" pitchFamily="2" charset="-122"/>
            </a:endParaRPr>
          </a:p>
          <a:p>
            <a:pPr marL="342900" indent="-342900" eaLnBrk="1" hangingPunct="1">
              <a:lnSpc>
                <a:spcPct val="120000"/>
              </a:lnSpc>
              <a:spcBef>
                <a:spcPct val="20000"/>
              </a:spcBef>
              <a:buClr>
                <a:schemeClr val="folHlink"/>
              </a:buClr>
              <a:buFont typeface="Wingdings" panose="05000000000000000000" pitchFamily="2" charset="2"/>
              <a:buChar char="Ø"/>
            </a:pPr>
            <a:r>
              <a:rPr lang="en-US" altLang="zh-CN" sz="2400" i="1">
                <a:latin typeface="Times New Roman" panose="02020603050405020304" pitchFamily="18" charset="0"/>
                <a:ea typeface="宋体" panose="02010600030101010101" pitchFamily="2" charset="-122"/>
              </a:rPr>
              <a:t>W</a:t>
            </a:r>
            <a:r>
              <a:rPr lang="en-US" altLang="zh-CN" sz="2400" baseline="-25000">
                <a:latin typeface="Times New Roman" panose="02020603050405020304" pitchFamily="18" charset="0"/>
                <a:ea typeface="宋体" panose="02010600030101010101" pitchFamily="2" charset="-122"/>
              </a:rPr>
              <a:t>1</a:t>
            </a:r>
            <a:r>
              <a:rPr lang="en-US" altLang="zh-CN" sz="2400" i="1" baseline="-25000">
                <a:latin typeface="Times New Roman" panose="02020603050405020304" pitchFamily="18" charset="0"/>
                <a:ea typeface="宋体" panose="02010600030101010101" pitchFamily="2" charset="-122"/>
              </a:rPr>
              <a:t>a</a:t>
            </a:r>
            <a:r>
              <a:rPr lang="zh-CN" altLang="en-US" sz="2400" b="1" dirty="0">
                <a:latin typeface="Times New Roman" panose="02020603050405020304" pitchFamily="18" charset="0"/>
                <a:ea typeface="宋体" panose="02010600030101010101" pitchFamily="2" charset="-122"/>
              </a:rPr>
              <a:t>及</a:t>
            </a:r>
            <a:r>
              <a:rPr lang="en-US" altLang="zh-CN" sz="2400" i="1" dirty="0">
                <a:latin typeface="Times New Roman" panose="02020603050405020304" pitchFamily="18" charset="0"/>
                <a:ea typeface="宋体" panose="02010600030101010101" pitchFamily="2" charset="-122"/>
              </a:rPr>
              <a:t>W</a:t>
            </a:r>
            <a:r>
              <a:rPr lang="en-US" altLang="zh-CN" sz="2400" baseline="-25000" dirty="0">
                <a:latin typeface="Times New Roman" panose="02020603050405020304" pitchFamily="18" charset="0"/>
                <a:ea typeface="宋体" panose="02010600030101010101" pitchFamily="2" charset="-122"/>
              </a:rPr>
              <a:t>1</a:t>
            </a:r>
            <a:r>
              <a:rPr lang="en-US" altLang="zh-CN" sz="2400" i="1" baseline="-25000" dirty="0">
                <a:latin typeface="Times New Roman" panose="02020603050405020304" pitchFamily="18" charset="0"/>
                <a:ea typeface="宋体" panose="02010600030101010101" pitchFamily="2" charset="-122"/>
              </a:rPr>
              <a:t>b</a:t>
            </a:r>
            <a:r>
              <a:rPr lang="zh-CN" altLang="en-US" sz="2400" b="1" dirty="0">
                <a:latin typeface="宋体" panose="02010600030101010101" pitchFamily="2" charset="-122"/>
                <a:ea typeface="宋体" panose="02010600030101010101" pitchFamily="2" charset="-122"/>
              </a:rPr>
              <a:t>为一次绕组，</a:t>
            </a:r>
            <a:r>
              <a:rPr lang="en-US" altLang="zh-CN" sz="2400" i="1" dirty="0">
                <a:latin typeface="Times New Roman" panose="02020603050405020304" pitchFamily="18" charset="0"/>
                <a:ea typeface="宋体" panose="02010600030101010101" pitchFamily="2" charset="-122"/>
              </a:rPr>
              <a:t>W</a:t>
            </a:r>
            <a:r>
              <a:rPr lang="en-US" altLang="zh-CN" sz="2400" baseline="-25000" dirty="0">
                <a:latin typeface="Times New Roman" panose="02020603050405020304" pitchFamily="18" charset="0"/>
                <a:ea typeface="宋体" panose="02010600030101010101" pitchFamily="2" charset="-122"/>
              </a:rPr>
              <a:t>2</a:t>
            </a:r>
            <a:r>
              <a:rPr lang="en-US" altLang="zh-CN" sz="2400" i="1" baseline="-25000" dirty="0">
                <a:latin typeface="Times New Roman" panose="02020603050405020304" pitchFamily="18" charset="0"/>
                <a:ea typeface="宋体" panose="02010600030101010101" pitchFamily="2" charset="-122"/>
              </a:rPr>
              <a:t>a</a:t>
            </a:r>
            <a:r>
              <a:rPr lang="zh-CN" altLang="en-US" sz="2400" b="1" dirty="0">
                <a:latin typeface="Times New Roman" panose="02020603050405020304" pitchFamily="18" charset="0"/>
                <a:ea typeface="宋体" panose="02010600030101010101" pitchFamily="2" charset="-122"/>
              </a:rPr>
              <a:t>及</a:t>
            </a:r>
            <a:r>
              <a:rPr lang="en-US" altLang="zh-CN" sz="2400" i="1" dirty="0">
                <a:latin typeface="Times New Roman" panose="02020603050405020304" pitchFamily="18" charset="0"/>
                <a:ea typeface="宋体" panose="02010600030101010101" pitchFamily="2" charset="-122"/>
              </a:rPr>
              <a:t>W</a:t>
            </a:r>
            <a:r>
              <a:rPr lang="en-US" altLang="zh-CN" sz="2400" baseline="-25000" dirty="0">
                <a:latin typeface="Times New Roman" panose="02020603050405020304" pitchFamily="18" charset="0"/>
                <a:ea typeface="宋体" panose="02010600030101010101" pitchFamily="2" charset="-122"/>
              </a:rPr>
              <a:t>2</a:t>
            </a:r>
            <a:r>
              <a:rPr lang="en-US" altLang="zh-CN" sz="2400" i="1" baseline="-25000" dirty="0">
                <a:latin typeface="Times New Roman" panose="02020603050405020304" pitchFamily="18" charset="0"/>
                <a:ea typeface="宋体" panose="02010600030101010101" pitchFamily="2" charset="-122"/>
              </a:rPr>
              <a:t>b</a:t>
            </a:r>
            <a:r>
              <a:rPr lang="zh-CN" altLang="en-US" sz="2400" b="1" dirty="0">
                <a:latin typeface="宋体" panose="02010600030101010101" pitchFamily="2" charset="-122"/>
                <a:ea typeface="宋体" panose="02010600030101010101" pitchFamily="2" charset="-122"/>
              </a:rPr>
              <a:t>为二次绕</a:t>
            </a:r>
            <a:r>
              <a:rPr lang="zh-CN" altLang="en-US" sz="2400" b="1">
                <a:latin typeface="宋体" panose="02010600030101010101" pitchFamily="2" charset="-122"/>
                <a:ea typeface="宋体" panose="02010600030101010101" pitchFamily="2" charset="-122"/>
              </a:rPr>
              <a:t>组；</a:t>
            </a:r>
            <a:endParaRPr lang="en-US" altLang="zh-CN" sz="2400" b="1">
              <a:latin typeface="宋体" panose="02010600030101010101" pitchFamily="2" charset="-122"/>
              <a:ea typeface="宋体" panose="02010600030101010101" pitchFamily="2" charset="-122"/>
            </a:endParaRPr>
          </a:p>
          <a:p>
            <a:pPr marL="342900" indent="-342900" eaLnBrk="1" hangingPunct="1">
              <a:lnSpc>
                <a:spcPct val="120000"/>
              </a:lnSpc>
              <a:spcBef>
                <a:spcPct val="20000"/>
              </a:spcBef>
              <a:buClr>
                <a:schemeClr val="folHlink"/>
              </a:buClr>
              <a:buFont typeface="Wingdings" panose="05000000000000000000" pitchFamily="2" charset="2"/>
              <a:buChar char="Ø"/>
            </a:pPr>
            <a:r>
              <a:rPr lang="en-US" altLang="zh-CN" sz="2400" b="1">
                <a:latin typeface="Times New Roman" panose="02020603050405020304" pitchFamily="18" charset="0"/>
                <a:ea typeface="宋体" panose="02010600030101010101" pitchFamily="2" charset="-122"/>
              </a:rPr>
              <a:t>C</a:t>
            </a:r>
            <a:r>
              <a:rPr lang="zh-CN" altLang="en-US" sz="2400" b="1" dirty="0">
                <a:latin typeface="宋体" panose="02010600030101010101" pitchFamily="2" charset="-122"/>
                <a:ea typeface="宋体" panose="02010600030101010101" pitchFamily="2" charset="-122"/>
              </a:rPr>
              <a:t>为衔铁。</a:t>
            </a:r>
          </a:p>
        </p:txBody>
      </p:sp>
      <p:sp>
        <p:nvSpPr>
          <p:cNvPr id="8" name="Text Box 9">
            <a:extLst>
              <a:ext uri="{FF2B5EF4-FFF2-40B4-BE49-F238E27FC236}">
                <a16:creationId xmlns:a16="http://schemas.microsoft.com/office/drawing/2014/main" id="{C9C3A6B5-A932-46EF-AB3A-8D47B117EE40}"/>
              </a:ext>
            </a:extLst>
          </p:cNvPr>
          <p:cNvSpPr txBox="1">
            <a:spLocks noChangeArrowheads="1"/>
          </p:cNvSpPr>
          <p:nvPr/>
        </p:nvSpPr>
        <p:spPr bwMode="auto">
          <a:xfrm>
            <a:off x="4941558" y="4723998"/>
            <a:ext cx="401290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spcBef>
                <a:spcPct val="20000"/>
              </a:spcBef>
              <a:buClr>
                <a:schemeClr val="folHlink"/>
              </a:buClr>
              <a:buFont typeface="Wingdings" pitchFamily="2" charset="2"/>
              <a:buNone/>
            </a:pPr>
            <a:r>
              <a:rPr kumimoji="0" lang="zh-CN" altLang="en-US" b="1" dirty="0">
                <a:solidFill>
                  <a:srgbClr val="000099"/>
                </a:solidFill>
              </a:rPr>
              <a:t>图</a:t>
            </a:r>
            <a:r>
              <a:rPr kumimoji="0" lang="en-US" altLang="zh-CN" b="1" dirty="0">
                <a:solidFill>
                  <a:srgbClr val="000099"/>
                </a:solidFill>
              </a:rPr>
              <a:t>3-13  </a:t>
            </a:r>
            <a:r>
              <a:rPr kumimoji="0" lang="zh-CN" altLang="en-US" b="1" dirty="0">
                <a:solidFill>
                  <a:srgbClr val="000099"/>
                </a:solidFill>
              </a:rPr>
              <a:t>气隙型差分变压器式传感器的结构原理图</a:t>
            </a:r>
            <a:endParaRPr lang="en-US" altLang="zh-CN" b="1" dirty="0">
              <a:solidFill>
                <a:srgbClr val="000099"/>
              </a:solidFill>
            </a:endParaRPr>
          </a:p>
        </p:txBody>
      </p:sp>
      <p:pic>
        <p:nvPicPr>
          <p:cNvPr id="2" name="Picture 1">
            <a:extLst>
              <a:ext uri="{FF2B5EF4-FFF2-40B4-BE49-F238E27FC236}">
                <a16:creationId xmlns:a16="http://schemas.microsoft.com/office/drawing/2014/main" id="{CAAE5FAE-3293-4037-BD61-00D4A6E01702}"/>
              </a:ext>
            </a:extLst>
          </p:cNvPr>
          <p:cNvPicPr>
            <a:picLocks noChangeAspect="1"/>
          </p:cNvPicPr>
          <p:nvPr/>
        </p:nvPicPr>
        <p:blipFill rotWithShape="1">
          <a:blip r:embed="rId3"/>
          <a:srcRect l="15960" t="15161" r="7777"/>
          <a:stretch/>
        </p:blipFill>
        <p:spPr>
          <a:xfrm>
            <a:off x="5160859" y="1447022"/>
            <a:ext cx="3793601" cy="2947178"/>
          </a:xfrm>
          <a:prstGeom prst="rect">
            <a:avLst/>
          </a:prstGeom>
        </p:spPr>
      </p:pic>
      <p:sp>
        <p:nvSpPr>
          <p:cNvPr id="3" name="Slide Number Placeholder 2">
            <a:extLst>
              <a:ext uri="{FF2B5EF4-FFF2-40B4-BE49-F238E27FC236}">
                <a16:creationId xmlns:a16="http://schemas.microsoft.com/office/drawing/2014/main" id="{C680302C-1380-4CDD-B557-F394B50DBB12}"/>
              </a:ext>
            </a:extLst>
          </p:cNvPr>
          <p:cNvSpPr>
            <a:spLocks noGrp="1"/>
          </p:cNvSpPr>
          <p:nvPr>
            <p:ph type="sldNum" sz="quarter" idx="12"/>
          </p:nvPr>
        </p:nvSpPr>
        <p:spPr/>
        <p:txBody>
          <a:bodyPr/>
          <a:lstStyle/>
          <a:p>
            <a:fld id="{B53602B4-F12B-41CD-B648-531F86B2CC91}" type="slidenum">
              <a:rPr lang="zh-CN" altLang="en-US" smtClean="0"/>
              <a:t>18</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3.2.1</a:t>
            </a:r>
          </a:p>
        </p:txBody>
      </p:sp>
      <p:sp>
        <p:nvSpPr>
          <p:cNvPr id="46" name="矩形 45"/>
          <p:cNvSpPr/>
          <p:nvPr/>
        </p:nvSpPr>
        <p:spPr>
          <a:xfrm>
            <a:off x="1960200" y="360001"/>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工作原理</a:t>
            </a:r>
          </a:p>
        </p:txBody>
      </p:sp>
      <p:sp>
        <p:nvSpPr>
          <p:cNvPr id="25" name="Rectangle 3"/>
          <p:cNvSpPr>
            <a:spLocks noRot="1" noChangeArrowheads="1"/>
          </p:cNvSpPr>
          <p:nvPr/>
        </p:nvSpPr>
        <p:spPr bwMode="auto">
          <a:xfrm>
            <a:off x="75240" y="1256406"/>
            <a:ext cx="4934910" cy="4680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marL="342900" indent="-342900" algn="just" eaLnBrk="1" hangingPunct="1">
              <a:lnSpc>
                <a:spcPct val="120000"/>
              </a:lnSpc>
              <a:spcBef>
                <a:spcPct val="20000"/>
              </a:spcBef>
              <a:buClr>
                <a:schemeClr val="folHlink"/>
              </a:buClr>
              <a:buFont typeface="Arial" panose="020B0604020202020204" pitchFamily="34" charset="0"/>
              <a:buChar char="•"/>
            </a:pPr>
            <a:r>
              <a:rPr lang="zh-CN" altLang="en-US" b="1">
                <a:latin typeface="宋体" panose="02010600030101010101" pitchFamily="2" charset="-122"/>
                <a:ea typeface="宋体" panose="02010600030101010101" pitchFamily="2" charset="-122"/>
              </a:rPr>
              <a:t>在没有非电量输入时，衔铁</a:t>
            </a:r>
            <a:r>
              <a:rPr lang="en-US" altLang="zh-CN" b="1">
                <a:latin typeface="宋体" panose="02010600030101010101" pitchFamily="2" charset="-122"/>
                <a:ea typeface="宋体" panose="02010600030101010101" pitchFamily="2" charset="-122"/>
              </a:rPr>
              <a:t>C</a:t>
            </a:r>
            <a:r>
              <a:rPr lang="zh-CN" altLang="en-US" b="1">
                <a:latin typeface="宋体" panose="02010600030101010101" pitchFamily="2" charset="-122"/>
                <a:ea typeface="宋体" panose="02010600030101010101" pitchFamily="2" charset="-122"/>
              </a:rPr>
              <a:t>与铁心</a:t>
            </a:r>
            <a:r>
              <a:rPr lang="en-US" altLang="zh-CN" b="1">
                <a:latin typeface="宋体" panose="02010600030101010101" pitchFamily="2" charset="-122"/>
                <a:ea typeface="宋体" panose="02010600030101010101" pitchFamily="2" charset="-122"/>
              </a:rPr>
              <a:t>A</a:t>
            </a:r>
            <a:r>
              <a:rPr lang="zh-CN" altLang="en-US" b="1">
                <a:latin typeface="宋体" panose="02010600030101010101" pitchFamily="2" charset="-122"/>
                <a:ea typeface="宋体" panose="02010600030101010101" pitchFamily="2" charset="-122"/>
              </a:rPr>
              <a:t>、</a:t>
            </a:r>
            <a:r>
              <a:rPr lang="en-US" altLang="zh-CN" b="1">
                <a:latin typeface="宋体" panose="02010600030101010101" pitchFamily="2" charset="-122"/>
                <a:ea typeface="宋体" panose="02010600030101010101" pitchFamily="2" charset="-122"/>
              </a:rPr>
              <a:t>B</a:t>
            </a:r>
            <a:r>
              <a:rPr lang="zh-CN" altLang="en-US" b="1">
                <a:latin typeface="宋体" panose="02010600030101010101" pitchFamily="2" charset="-122"/>
                <a:ea typeface="宋体" panose="02010600030101010101" pitchFamily="2" charset="-122"/>
              </a:rPr>
              <a:t>的间隔相同，绕组</a:t>
            </a:r>
            <a:r>
              <a:rPr lang="en-US" altLang="zh-CN" b="1">
                <a:latin typeface="宋体" panose="02010600030101010101" pitchFamily="2" charset="-122"/>
                <a:ea typeface="宋体" panose="02010600030101010101" pitchFamily="2" charset="-122"/>
              </a:rPr>
              <a:t>W1a</a:t>
            </a:r>
            <a:r>
              <a:rPr lang="zh-CN" altLang="en-US" b="1">
                <a:latin typeface="宋体" panose="02010600030101010101" pitchFamily="2" charset="-122"/>
                <a:ea typeface="宋体" panose="02010600030101010101" pitchFamily="2" charset="-122"/>
              </a:rPr>
              <a:t>和</a:t>
            </a:r>
            <a:r>
              <a:rPr lang="en-US" altLang="zh-CN" b="1">
                <a:latin typeface="宋体" panose="02010600030101010101" pitchFamily="2" charset="-122"/>
                <a:ea typeface="宋体" panose="02010600030101010101" pitchFamily="2" charset="-122"/>
              </a:rPr>
              <a:t>W2a</a:t>
            </a:r>
            <a:r>
              <a:rPr lang="zh-CN" altLang="en-US" b="1">
                <a:latin typeface="宋体" panose="02010600030101010101" pitchFamily="2" charset="-122"/>
                <a:ea typeface="宋体" panose="02010600030101010101" pitchFamily="2" charset="-122"/>
              </a:rPr>
              <a:t>间的互感</a:t>
            </a:r>
            <a:r>
              <a:rPr lang="en-US" altLang="zh-CN" b="1">
                <a:latin typeface="宋体" panose="02010600030101010101" pitchFamily="2" charset="-122"/>
                <a:ea typeface="宋体" panose="02010600030101010101" pitchFamily="2" charset="-122"/>
              </a:rPr>
              <a:t>Ma</a:t>
            </a:r>
            <a:r>
              <a:rPr lang="zh-CN" altLang="en-US" b="1">
                <a:latin typeface="宋体" panose="02010600030101010101" pitchFamily="2" charset="-122"/>
                <a:ea typeface="宋体" panose="02010600030101010101" pitchFamily="2" charset="-122"/>
              </a:rPr>
              <a:t>与绕组</a:t>
            </a:r>
            <a:r>
              <a:rPr lang="en-US" altLang="zh-CN" b="1">
                <a:latin typeface="宋体" panose="02010600030101010101" pitchFamily="2" charset="-122"/>
                <a:ea typeface="宋体" panose="02010600030101010101" pitchFamily="2" charset="-122"/>
              </a:rPr>
              <a:t>W1b</a:t>
            </a:r>
            <a:r>
              <a:rPr lang="zh-CN" altLang="en-US" b="1">
                <a:latin typeface="宋体" panose="02010600030101010101" pitchFamily="2" charset="-122"/>
                <a:ea typeface="宋体" panose="02010600030101010101" pitchFamily="2" charset="-122"/>
              </a:rPr>
              <a:t>和</a:t>
            </a:r>
            <a:r>
              <a:rPr lang="en-US" altLang="zh-CN" b="1">
                <a:latin typeface="宋体" panose="02010600030101010101" pitchFamily="2" charset="-122"/>
                <a:ea typeface="宋体" panose="02010600030101010101" pitchFamily="2" charset="-122"/>
              </a:rPr>
              <a:t>W2b</a:t>
            </a:r>
            <a:r>
              <a:rPr lang="zh-CN" altLang="en-US" b="1">
                <a:latin typeface="宋体" panose="02010600030101010101" pitchFamily="2" charset="-122"/>
                <a:ea typeface="宋体" panose="02010600030101010101" pitchFamily="2" charset="-122"/>
              </a:rPr>
              <a:t>间的互感</a:t>
            </a:r>
            <a:r>
              <a:rPr lang="en-US" altLang="zh-CN" b="1">
                <a:latin typeface="宋体" panose="02010600030101010101" pitchFamily="2" charset="-122"/>
                <a:ea typeface="宋体" panose="02010600030101010101" pitchFamily="2" charset="-122"/>
              </a:rPr>
              <a:t>Mb</a:t>
            </a:r>
            <a:r>
              <a:rPr lang="zh-CN" altLang="en-US" b="1">
                <a:latin typeface="宋体" panose="02010600030101010101" pitchFamily="2" charset="-122"/>
                <a:ea typeface="宋体" panose="02010600030101010101" pitchFamily="2" charset="-122"/>
              </a:rPr>
              <a:t>相等。</a:t>
            </a:r>
            <a:endParaRPr lang="en-US" altLang="zh-CN" b="1">
              <a:latin typeface="宋体" panose="02010600030101010101" pitchFamily="2" charset="-122"/>
              <a:ea typeface="宋体" panose="02010600030101010101" pitchFamily="2" charset="-122"/>
            </a:endParaRPr>
          </a:p>
          <a:p>
            <a:pPr marL="342900" indent="-342900" algn="just" eaLnBrk="1" hangingPunct="1">
              <a:lnSpc>
                <a:spcPct val="120000"/>
              </a:lnSpc>
              <a:spcBef>
                <a:spcPct val="20000"/>
              </a:spcBef>
              <a:buClr>
                <a:schemeClr val="folHlink"/>
              </a:buClr>
              <a:buFont typeface="Arial" panose="020B0604020202020204" pitchFamily="34" charset="0"/>
              <a:buChar char="•"/>
            </a:pPr>
            <a:r>
              <a:rPr lang="zh-CN" altLang="en-US" b="1">
                <a:latin typeface="宋体" panose="02010600030101010101" pitchFamily="2" charset="-122"/>
                <a:ea typeface="宋体" panose="02010600030101010101" pitchFamily="2" charset="-122"/>
              </a:rPr>
              <a:t>当衔铁的位置改变时，则</a:t>
            </a:r>
            <a:r>
              <a:rPr lang="en-US" altLang="zh-CN" b="1">
                <a:latin typeface="宋体" panose="02010600030101010101" pitchFamily="2" charset="-122"/>
                <a:ea typeface="宋体" panose="02010600030101010101" pitchFamily="2" charset="-122"/>
              </a:rPr>
              <a:t>Ma≠Mb</a:t>
            </a:r>
            <a:r>
              <a:rPr lang="zh-CN" altLang="en-US" b="1">
                <a:latin typeface="宋体" panose="02010600030101010101" pitchFamily="2" charset="-122"/>
                <a:ea typeface="宋体" panose="02010600030101010101" pitchFamily="2" charset="-122"/>
              </a:rPr>
              <a:t>，该互感的差值即可反映被测量的大小。</a:t>
            </a:r>
          </a:p>
          <a:p>
            <a:pPr marL="342900" indent="-342900" algn="just" eaLnBrk="1" hangingPunct="1">
              <a:lnSpc>
                <a:spcPct val="120000"/>
              </a:lnSpc>
              <a:spcBef>
                <a:spcPct val="20000"/>
              </a:spcBef>
              <a:buClr>
                <a:schemeClr val="folHlink"/>
              </a:buClr>
              <a:buFont typeface="Arial" panose="020B0604020202020204" pitchFamily="34" charset="0"/>
              <a:buChar char="•"/>
            </a:pPr>
            <a:r>
              <a:rPr lang="zh-CN" altLang="en-US" b="1">
                <a:latin typeface="宋体" panose="02010600030101010101" pitchFamily="2" charset="-122"/>
                <a:ea typeface="宋体" panose="02010600030101010101" pitchFamily="2" charset="-122"/>
              </a:rPr>
              <a:t>为反映差值互感，将两个一次绕组的同名端顺向串联，并施加交流电压</a:t>
            </a:r>
            <a:r>
              <a:rPr lang="en-US" altLang="zh-CN" b="1">
                <a:latin typeface="宋体" panose="02010600030101010101" pitchFamily="2" charset="-122"/>
                <a:ea typeface="宋体" panose="02010600030101010101" pitchFamily="2" charset="-122"/>
              </a:rPr>
              <a:t>U</a:t>
            </a:r>
            <a:r>
              <a:rPr lang="zh-CN" altLang="en-US" b="1">
                <a:latin typeface="宋体" panose="02010600030101010101" pitchFamily="2" charset="-122"/>
                <a:ea typeface="宋体" panose="02010600030101010101" pitchFamily="2" charset="-122"/>
              </a:rPr>
              <a:t>，而两个二次绕组的同名端反向串联，同时测量串联后的合成电动势</a:t>
            </a:r>
            <a:r>
              <a:rPr lang="en-US" altLang="zh-CN" b="1">
                <a:latin typeface="宋体" panose="02010600030101010101" pitchFamily="2" charset="-122"/>
                <a:ea typeface="宋体" panose="02010600030101010101" pitchFamily="2" charset="-122"/>
              </a:rPr>
              <a:t>E,</a:t>
            </a:r>
            <a:r>
              <a:rPr lang="zh-CN" altLang="en-US" b="1">
                <a:latin typeface="宋体" panose="02010600030101010101" pitchFamily="2" charset="-122"/>
                <a:ea typeface="宋体" panose="02010600030101010101" pitchFamily="2" charset="-122"/>
              </a:rPr>
              <a:t>，则</a:t>
            </a:r>
          </a:p>
          <a:p>
            <a:pPr algn="ctr" eaLnBrk="1" hangingPunct="1">
              <a:lnSpc>
                <a:spcPct val="120000"/>
              </a:lnSpc>
              <a:spcBef>
                <a:spcPct val="20000"/>
              </a:spcBef>
              <a:buClr>
                <a:schemeClr val="folHlink"/>
              </a:buClr>
            </a:pPr>
            <a:r>
              <a:rPr lang="en-US" altLang="zh-CN" b="1">
                <a:latin typeface="宋体" panose="02010600030101010101" pitchFamily="2" charset="-122"/>
                <a:ea typeface="宋体" panose="02010600030101010101" pitchFamily="2" charset="-122"/>
              </a:rPr>
              <a:t>E2=E2a-E2b</a:t>
            </a:r>
          </a:p>
          <a:p>
            <a:pPr marL="432000" algn="just" eaLnBrk="1" hangingPunct="1">
              <a:lnSpc>
                <a:spcPct val="120000"/>
              </a:lnSpc>
              <a:spcBef>
                <a:spcPts val="600"/>
              </a:spcBef>
              <a:buClr>
                <a:schemeClr val="folHlink"/>
              </a:buClr>
            </a:pPr>
            <a:r>
              <a:rPr lang="en-US" altLang="zh-CN" b="1">
                <a:latin typeface="宋体" panose="02010600030101010101" pitchFamily="2" charset="-122"/>
                <a:ea typeface="宋体" panose="02010600030101010101" pitchFamily="2" charset="-122"/>
              </a:rPr>
              <a:t>E2a</a:t>
            </a:r>
            <a:r>
              <a:rPr lang="zh-CN" altLang="en-US" b="1">
                <a:latin typeface="宋体" panose="02010600030101010101" pitchFamily="2" charset="-122"/>
                <a:ea typeface="宋体" panose="02010600030101010101" pitchFamily="2" charset="-122"/>
              </a:rPr>
              <a:t>：二次绕组</a:t>
            </a:r>
            <a:r>
              <a:rPr lang="en-US" altLang="zh-CN" b="1">
                <a:latin typeface="宋体" panose="02010600030101010101" pitchFamily="2" charset="-122"/>
                <a:ea typeface="宋体" panose="02010600030101010101" pitchFamily="2" charset="-122"/>
              </a:rPr>
              <a:t>W2a</a:t>
            </a:r>
            <a:r>
              <a:rPr lang="zh-CN" altLang="en-US" b="1">
                <a:latin typeface="宋体" panose="02010600030101010101" pitchFamily="2" charset="-122"/>
                <a:ea typeface="宋体" panose="02010600030101010101" pitchFamily="2" charset="-122"/>
              </a:rPr>
              <a:t>的互感电动势；</a:t>
            </a:r>
          </a:p>
          <a:p>
            <a:pPr marL="432000" algn="just" eaLnBrk="1" hangingPunct="1">
              <a:lnSpc>
                <a:spcPct val="120000"/>
              </a:lnSpc>
              <a:spcBef>
                <a:spcPts val="600"/>
              </a:spcBef>
              <a:buClr>
                <a:schemeClr val="folHlink"/>
              </a:buClr>
            </a:pPr>
            <a:r>
              <a:rPr lang="en-US" altLang="zh-CN" b="1">
                <a:latin typeface="宋体" panose="02010600030101010101" pitchFamily="2" charset="-122"/>
                <a:ea typeface="宋体" panose="02010600030101010101" pitchFamily="2" charset="-122"/>
              </a:rPr>
              <a:t>E2b</a:t>
            </a:r>
            <a:r>
              <a:rPr lang="zh-CN" altLang="en-US" b="1">
                <a:latin typeface="宋体" panose="02010600030101010101" pitchFamily="2" charset="-122"/>
                <a:ea typeface="宋体" panose="02010600030101010101" pitchFamily="2" charset="-122"/>
              </a:rPr>
              <a:t>：二次绕组</a:t>
            </a:r>
            <a:r>
              <a:rPr lang="en-US" altLang="zh-CN" b="1">
                <a:latin typeface="宋体" panose="02010600030101010101" pitchFamily="2" charset="-122"/>
                <a:ea typeface="宋体" panose="02010600030101010101" pitchFamily="2" charset="-122"/>
              </a:rPr>
              <a:t>W2b</a:t>
            </a:r>
            <a:r>
              <a:rPr lang="zh-CN" altLang="en-US" b="1">
                <a:latin typeface="宋体" panose="02010600030101010101" pitchFamily="2" charset="-122"/>
                <a:ea typeface="宋体" panose="02010600030101010101" pitchFamily="2" charset="-122"/>
              </a:rPr>
              <a:t>的互感电动势。</a:t>
            </a:r>
          </a:p>
          <a:p>
            <a:pPr marL="432000" algn="just" eaLnBrk="1" hangingPunct="1">
              <a:lnSpc>
                <a:spcPct val="120000"/>
              </a:lnSpc>
              <a:spcBef>
                <a:spcPts val="600"/>
              </a:spcBef>
              <a:buClr>
                <a:schemeClr val="folHlink"/>
              </a:buClr>
            </a:pPr>
            <a:r>
              <a:rPr lang="en-US" altLang="zh-CN" b="1">
                <a:latin typeface="宋体" panose="02010600030101010101" pitchFamily="2" charset="-122"/>
                <a:ea typeface="宋体" panose="02010600030101010101" pitchFamily="2" charset="-122"/>
              </a:rPr>
              <a:t>E2</a:t>
            </a:r>
            <a:r>
              <a:rPr lang="zh-CN" altLang="en-US" b="1">
                <a:latin typeface="宋体" panose="02010600030101010101" pitchFamily="2" charset="-122"/>
                <a:ea typeface="宋体" panose="02010600030101010101" pitchFamily="2" charset="-122"/>
              </a:rPr>
              <a:t>值的大小决定于被测位移的大小，</a:t>
            </a:r>
            <a:r>
              <a:rPr lang="en-US" altLang="zh-CN" b="1">
                <a:latin typeface="宋体" panose="02010600030101010101" pitchFamily="2" charset="-122"/>
                <a:ea typeface="宋体" panose="02010600030101010101" pitchFamily="2" charset="-122"/>
              </a:rPr>
              <a:t>E2</a:t>
            </a:r>
            <a:r>
              <a:rPr lang="zh-CN" altLang="en-US" b="1">
                <a:latin typeface="宋体" panose="02010600030101010101" pitchFamily="2" charset="-122"/>
                <a:ea typeface="宋体" panose="02010600030101010101" pitchFamily="2" charset="-122"/>
              </a:rPr>
              <a:t>的方向决定于位移的方向。</a:t>
            </a:r>
            <a:endParaRPr lang="en-US" altLang="zh-CN" b="1">
              <a:latin typeface="宋体" panose="02010600030101010101" pitchFamily="2" charset="-122"/>
              <a:ea typeface="宋体" panose="02010600030101010101" pitchFamily="2" charset="-122"/>
            </a:endParaRPr>
          </a:p>
          <a:p>
            <a:pPr marL="342900" indent="-342900" algn="just" eaLnBrk="1" hangingPunct="1">
              <a:lnSpc>
                <a:spcPct val="120000"/>
              </a:lnSpc>
              <a:spcBef>
                <a:spcPct val="20000"/>
              </a:spcBef>
              <a:buClr>
                <a:schemeClr val="folHlink"/>
              </a:buClr>
              <a:buFont typeface="Arial" panose="020B0604020202020204" pitchFamily="34" charset="0"/>
              <a:buChar char="•"/>
            </a:pPr>
            <a:endParaRPr lang="zh-CN" altLang="en-US" b="1" dirty="0">
              <a:latin typeface="宋体" panose="02010600030101010101" pitchFamily="2" charset="-122"/>
              <a:ea typeface="宋体" panose="02010600030101010101" pitchFamily="2" charset="-122"/>
            </a:endParaRPr>
          </a:p>
        </p:txBody>
      </p:sp>
      <p:sp>
        <p:nvSpPr>
          <p:cNvPr id="8" name="Text Box 9">
            <a:extLst>
              <a:ext uri="{FF2B5EF4-FFF2-40B4-BE49-F238E27FC236}">
                <a16:creationId xmlns:a16="http://schemas.microsoft.com/office/drawing/2014/main" id="{C9C3A6B5-A932-46EF-AB3A-8D47B117EE40}"/>
              </a:ext>
            </a:extLst>
          </p:cNvPr>
          <p:cNvSpPr txBox="1">
            <a:spLocks noChangeArrowheads="1"/>
          </p:cNvSpPr>
          <p:nvPr/>
        </p:nvSpPr>
        <p:spPr bwMode="auto">
          <a:xfrm>
            <a:off x="4941558" y="4723998"/>
            <a:ext cx="401290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spcBef>
                <a:spcPct val="20000"/>
              </a:spcBef>
              <a:buClr>
                <a:schemeClr val="folHlink"/>
              </a:buClr>
              <a:buFont typeface="Wingdings" pitchFamily="2" charset="2"/>
              <a:buNone/>
            </a:pPr>
            <a:r>
              <a:rPr kumimoji="0" lang="zh-CN" altLang="en-US" b="1" dirty="0">
                <a:solidFill>
                  <a:srgbClr val="000099"/>
                </a:solidFill>
              </a:rPr>
              <a:t>图</a:t>
            </a:r>
            <a:r>
              <a:rPr kumimoji="0" lang="en-US" altLang="zh-CN" b="1" dirty="0">
                <a:solidFill>
                  <a:srgbClr val="000099"/>
                </a:solidFill>
              </a:rPr>
              <a:t>3-13  </a:t>
            </a:r>
            <a:r>
              <a:rPr kumimoji="0" lang="zh-CN" altLang="en-US" b="1" dirty="0">
                <a:solidFill>
                  <a:srgbClr val="000099"/>
                </a:solidFill>
              </a:rPr>
              <a:t>气隙型差分变压器式传感器的结构原理图</a:t>
            </a:r>
            <a:endParaRPr lang="en-US" altLang="zh-CN" b="1" dirty="0">
              <a:solidFill>
                <a:srgbClr val="000099"/>
              </a:solidFill>
            </a:endParaRPr>
          </a:p>
        </p:txBody>
      </p:sp>
      <p:pic>
        <p:nvPicPr>
          <p:cNvPr id="2" name="Picture 1">
            <a:extLst>
              <a:ext uri="{FF2B5EF4-FFF2-40B4-BE49-F238E27FC236}">
                <a16:creationId xmlns:a16="http://schemas.microsoft.com/office/drawing/2014/main" id="{CAAE5FAE-3293-4037-BD61-00D4A6E01702}"/>
              </a:ext>
            </a:extLst>
          </p:cNvPr>
          <p:cNvPicPr>
            <a:picLocks noChangeAspect="1"/>
          </p:cNvPicPr>
          <p:nvPr/>
        </p:nvPicPr>
        <p:blipFill rotWithShape="1">
          <a:blip r:embed="rId3"/>
          <a:srcRect l="15960" t="15161" r="7777"/>
          <a:stretch/>
        </p:blipFill>
        <p:spPr>
          <a:xfrm>
            <a:off x="5275159" y="1447022"/>
            <a:ext cx="3793601" cy="2947178"/>
          </a:xfrm>
          <a:prstGeom prst="rect">
            <a:avLst/>
          </a:prstGeom>
        </p:spPr>
      </p:pic>
      <p:sp>
        <p:nvSpPr>
          <p:cNvPr id="4" name="Slide Number Placeholder 3">
            <a:extLst>
              <a:ext uri="{FF2B5EF4-FFF2-40B4-BE49-F238E27FC236}">
                <a16:creationId xmlns:a16="http://schemas.microsoft.com/office/drawing/2014/main" id="{6B2A1AF2-2DA0-4703-9DC5-6FF1E80F3334}"/>
              </a:ext>
            </a:extLst>
          </p:cNvPr>
          <p:cNvSpPr>
            <a:spLocks noGrp="1"/>
          </p:cNvSpPr>
          <p:nvPr>
            <p:ph type="sldNum" sz="quarter" idx="12"/>
          </p:nvPr>
        </p:nvSpPr>
        <p:spPr/>
        <p:txBody>
          <a:bodyPr/>
          <a:lstStyle/>
          <a:p>
            <a:fld id="{B53602B4-F12B-41CD-B648-531F86B2CC91}" type="slidenum">
              <a:rPr lang="zh-CN" altLang="en-US" smtClean="0"/>
              <a:t>19</a:t>
            </a:fld>
            <a:endParaRPr lang="zh-CN" altLang="en-US"/>
          </a:p>
        </p:txBody>
      </p:sp>
    </p:spTree>
    <p:extLst>
      <p:ext uri="{BB962C8B-B14F-4D97-AF65-F5344CB8AC3E}">
        <p14:creationId xmlns:p14="http://schemas.microsoft.com/office/powerpoint/2010/main" val="274066588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4920081-F0F6-4D4C-9EA8-BBDC26C32AE6}"/>
              </a:ext>
            </a:extLst>
          </p:cNvPr>
          <p:cNvPicPr>
            <a:picLocks noChangeAspect="1"/>
          </p:cNvPicPr>
          <p:nvPr/>
        </p:nvPicPr>
        <p:blipFill rotWithShape="1">
          <a:blip r:embed="rId3"/>
          <a:srcRect l="16625" t="8955" r="20667" b="2588"/>
          <a:stretch/>
        </p:blipFill>
        <p:spPr>
          <a:xfrm>
            <a:off x="5384800" y="1473199"/>
            <a:ext cx="3174999" cy="3654465"/>
          </a:xfrm>
          <a:prstGeom prst="rect">
            <a:avLst/>
          </a:prstGeom>
        </p:spPr>
      </p:pic>
      <p:sp>
        <p:nvSpPr>
          <p:cNvPr id="10" name="Text Box 9">
            <a:extLst>
              <a:ext uri="{FF2B5EF4-FFF2-40B4-BE49-F238E27FC236}">
                <a16:creationId xmlns:a16="http://schemas.microsoft.com/office/drawing/2014/main" id="{BC42D48E-E126-4F25-9042-30265736A440}"/>
              </a:ext>
            </a:extLst>
          </p:cNvPr>
          <p:cNvSpPr txBox="1">
            <a:spLocks noChangeArrowheads="1"/>
          </p:cNvSpPr>
          <p:nvPr/>
        </p:nvSpPr>
        <p:spPr bwMode="auto">
          <a:xfrm>
            <a:off x="4706547" y="5309592"/>
            <a:ext cx="426607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spcBef>
                <a:spcPct val="50000"/>
              </a:spcBef>
            </a:pPr>
            <a:r>
              <a:rPr kumimoji="0" lang="zh-CN" altLang="en-US" b="1" dirty="0">
                <a:solidFill>
                  <a:srgbClr val="000099"/>
                </a:solidFill>
              </a:rPr>
              <a:t>图</a:t>
            </a:r>
            <a:r>
              <a:rPr kumimoji="0" lang="en-US" altLang="zh-CN" b="1" dirty="0">
                <a:solidFill>
                  <a:srgbClr val="000099"/>
                </a:solidFill>
              </a:rPr>
              <a:t>3-14  </a:t>
            </a:r>
            <a:r>
              <a:rPr kumimoji="0" lang="zh-CN" altLang="en-US" b="1" dirty="0">
                <a:solidFill>
                  <a:srgbClr val="000099"/>
                </a:solidFill>
              </a:rPr>
              <a:t>改</a:t>
            </a:r>
            <a:r>
              <a:rPr kumimoji="0" lang="zh-CN" altLang="en-US" b="1">
                <a:solidFill>
                  <a:srgbClr val="000099"/>
                </a:solidFill>
              </a:rPr>
              <a:t>变气隙有</a:t>
            </a:r>
            <a:r>
              <a:rPr kumimoji="0" lang="zh-CN" altLang="en-US" b="1" dirty="0">
                <a:solidFill>
                  <a:srgbClr val="000099"/>
                </a:solidFill>
              </a:rPr>
              <a:t>效截面</a:t>
            </a:r>
            <a:r>
              <a:rPr kumimoji="0" lang="zh-CN" altLang="en-US" b="1">
                <a:solidFill>
                  <a:srgbClr val="000099"/>
                </a:solidFill>
              </a:rPr>
              <a:t>积型 差</a:t>
            </a:r>
            <a:r>
              <a:rPr kumimoji="0" lang="zh-CN" altLang="en-US" b="1" dirty="0">
                <a:solidFill>
                  <a:srgbClr val="000099"/>
                </a:solidFill>
              </a:rPr>
              <a:t>分变压器式传</a:t>
            </a:r>
            <a:r>
              <a:rPr kumimoji="0" lang="zh-CN" altLang="en-US" b="1">
                <a:solidFill>
                  <a:srgbClr val="000099"/>
                </a:solidFill>
              </a:rPr>
              <a:t>感器 </a:t>
            </a:r>
            <a:endParaRPr kumimoji="0" lang="zh-CN" altLang="en-US" b="1" dirty="0">
              <a:solidFill>
                <a:srgbClr val="000099"/>
              </a:solidFill>
            </a:endParaRPr>
          </a:p>
        </p:txBody>
      </p:sp>
      <p:sp>
        <p:nvSpPr>
          <p:cNvPr id="12" name="TextBox 11">
            <a:extLst>
              <a:ext uri="{FF2B5EF4-FFF2-40B4-BE49-F238E27FC236}">
                <a16:creationId xmlns:a16="http://schemas.microsoft.com/office/drawing/2014/main" id="{63B5D84D-9EA9-4FB4-881C-421D645E97A3}"/>
              </a:ext>
            </a:extLst>
          </p:cNvPr>
          <p:cNvSpPr txBox="1"/>
          <p:nvPr/>
        </p:nvSpPr>
        <p:spPr>
          <a:xfrm>
            <a:off x="344097" y="1473199"/>
            <a:ext cx="4316803" cy="5127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342900" indent="-342900" algn="just">
              <a:lnSpc>
                <a:spcPct val="120000"/>
              </a:lnSpc>
              <a:spcBef>
                <a:spcPct val="20000"/>
              </a:spcBef>
              <a:buClr>
                <a:schemeClr val="folHlink"/>
              </a:buClr>
              <a:buFont typeface="Arial" panose="020B0604020202020204" pitchFamily="34" charset="0"/>
              <a:buChar char="•"/>
              <a:defRPr b="1">
                <a:latin typeface="宋体" panose="02010600030101010101" pitchFamily="2" charset="-122"/>
                <a:ea typeface="宋体" panose="02010600030101010101" pitchFamily="2" charset="-122"/>
              </a:defRPr>
            </a:lvl1pPr>
            <a:lvl2pPr marL="742950" indent="-285750" eaLnBrk="0" hangingPunct="0">
              <a:defRPr>
                <a:latin typeface="Arial" panose="020B0604020202020204" pitchFamily="34" charset="0"/>
                <a:ea typeface="华文细黑" panose="02010600040101010101" pitchFamily="2" charset="-122"/>
              </a:defRPr>
            </a:lvl2pPr>
            <a:lvl3pPr marL="1143000" indent="-228600" eaLnBrk="0" hangingPunct="0">
              <a:defRPr>
                <a:latin typeface="Arial" panose="020B0604020202020204" pitchFamily="34" charset="0"/>
                <a:ea typeface="华文细黑" panose="02010600040101010101" pitchFamily="2" charset="-122"/>
              </a:defRPr>
            </a:lvl3pPr>
            <a:lvl4pPr marL="1600200" indent="-228600" eaLnBrk="0" hangingPunct="0">
              <a:defRPr>
                <a:latin typeface="Arial" panose="020B0604020202020204" pitchFamily="34" charset="0"/>
                <a:ea typeface="华文细黑" panose="02010600040101010101" pitchFamily="2" charset="-122"/>
              </a:defRPr>
            </a:lvl4pPr>
            <a:lvl5pPr marL="2057400" indent="-228600" eaLnBrk="0" hangingPunct="0">
              <a:defRPr>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latin typeface="Arial" panose="020B0604020202020204" pitchFamily="34" charset="0"/>
                <a:ea typeface="华文细黑" panose="02010600040101010101" pitchFamily="2" charset="-122"/>
              </a:defRPr>
            </a:lvl9pPr>
          </a:lstStyle>
          <a:p>
            <a:r>
              <a:rPr lang="zh-CN" altLang="en-US" sz="2000"/>
              <a:t>输入非电量为角位移△</a:t>
            </a:r>
            <a:r>
              <a:rPr lang="en-US" altLang="zh-CN" sz="2000"/>
              <a:t>α</a:t>
            </a:r>
          </a:p>
          <a:p>
            <a:r>
              <a:rPr lang="zh-CN" altLang="en-US" sz="2000"/>
              <a:t>传感器在一个山字形铁心上绕有三个绕组，</a:t>
            </a:r>
            <a:r>
              <a:rPr lang="en-US" altLang="zh-CN" sz="2000"/>
              <a:t>W1</a:t>
            </a:r>
            <a:r>
              <a:rPr lang="zh-CN" altLang="en-US" sz="2000"/>
              <a:t>为一次绕组，</a:t>
            </a:r>
            <a:r>
              <a:rPr lang="en-US" altLang="zh-CN" sz="2000"/>
              <a:t>W2a</a:t>
            </a:r>
            <a:r>
              <a:rPr lang="zh-CN" altLang="en-US" sz="2000"/>
              <a:t>及</a:t>
            </a:r>
            <a:r>
              <a:rPr lang="en-US" altLang="zh-CN" sz="2000"/>
              <a:t>W2b</a:t>
            </a:r>
            <a:r>
              <a:rPr lang="zh-CN" altLang="en-US" sz="2000"/>
              <a:t>为两个二次绕组；</a:t>
            </a:r>
          </a:p>
          <a:p>
            <a:r>
              <a:rPr lang="zh-CN" altLang="en-US" sz="2000"/>
              <a:t>衔铁</a:t>
            </a:r>
            <a:r>
              <a:rPr lang="en-US" altLang="zh-CN" sz="2000"/>
              <a:t>B</a:t>
            </a:r>
            <a:r>
              <a:rPr lang="zh-CN" altLang="en-US" sz="2000"/>
              <a:t>以</a:t>
            </a:r>
            <a:r>
              <a:rPr lang="en-US" altLang="zh-CN" sz="2000"/>
              <a:t>O</a:t>
            </a:r>
            <a:r>
              <a:rPr lang="zh-CN" altLang="en-US" sz="2000"/>
              <a:t>为轴转动，衔铁转动时由于改变了铁心与衔铁间磁路上的垂直有效截面积</a:t>
            </a:r>
            <a:r>
              <a:rPr lang="en-US" altLang="zh-CN" sz="2000"/>
              <a:t>S</a:t>
            </a:r>
            <a:r>
              <a:rPr lang="zh-CN" altLang="en-US" sz="2000"/>
              <a:t>，也就改变了绕组间的互感，使其中一个增大，另一个减小，因此两个二次绕组中的感应电动势也随之改变。</a:t>
            </a:r>
          </a:p>
          <a:p>
            <a:r>
              <a:rPr lang="zh-CN" altLang="en-US" sz="2000"/>
              <a:t>将绕组</a:t>
            </a:r>
            <a:r>
              <a:rPr lang="en-US" altLang="zh-CN" sz="2000"/>
              <a:t>W2a</a:t>
            </a:r>
            <a:r>
              <a:rPr lang="zh-CN" altLang="en-US" sz="2000"/>
              <a:t>和</a:t>
            </a:r>
            <a:r>
              <a:rPr lang="en-US" altLang="zh-CN" sz="2000"/>
              <a:t>W2b</a:t>
            </a:r>
            <a:r>
              <a:rPr lang="zh-CN" altLang="en-US" sz="2000"/>
              <a:t>反相串联并测量合成电动势</a:t>
            </a:r>
            <a:r>
              <a:rPr lang="en-US" altLang="zh-CN" sz="2000"/>
              <a:t>E2</a:t>
            </a:r>
            <a:r>
              <a:rPr lang="zh-CN" altLang="en-US" sz="2000"/>
              <a:t>，就可以判断出非电量的大小及方向。</a:t>
            </a:r>
            <a:endParaRPr lang="en-001" sz="2000"/>
          </a:p>
        </p:txBody>
      </p:sp>
      <p:sp>
        <p:nvSpPr>
          <p:cNvPr id="13" name="矩形 40">
            <a:extLst>
              <a:ext uri="{FF2B5EF4-FFF2-40B4-BE49-F238E27FC236}">
                <a16:creationId xmlns:a16="http://schemas.microsoft.com/office/drawing/2014/main" id="{64653DDC-CD10-4255-9E81-6CBDDA92A3FA}"/>
              </a:ext>
            </a:extLst>
          </p:cNvPr>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14" name="圆角矩形 43">
            <a:extLst>
              <a:ext uri="{FF2B5EF4-FFF2-40B4-BE49-F238E27FC236}">
                <a16:creationId xmlns:a16="http://schemas.microsoft.com/office/drawing/2014/main" id="{3B775A03-75A2-4B8A-B91B-06031A583A00}"/>
              </a:ext>
            </a:extLst>
          </p:cNvPr>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3.2.1</a:t>
            </a:r>
          </a:p>
        </p:txBody>
      </p:sp>
      <p:sp>
        <p:nvSpPr>
          <p:cNvPr id="15" name="矩形 45">
            <a:extLst>
              <a:ext uri="{FF2B5EF4-FFF2-40B4-BE49-F238E27FC236}">
                <a16:creationId xmlns:a16="http://schemas.microsoft.com/office/drawing/2014/main" id="{4787A32F-8214-49F3-BB68-6AEB9D533CAE}"/>
              </a:ext>
            </a:extLst>
          </p:cNvPr>
          <p:cNvSpPr/>
          <p:nvPr/>
        </p:nvSpPr>
        <p:spPr>
          <a:xfrm>
            <a:off x="1960200" y="360001"/>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工作原理</a:t>
            </a:r>
          </a:p>
        </p:txBody>
      </p:sp>
      <p:sp>
        <p:nvSpPr>
          <p:cNvPr id="6" name="Slide Number Placeholder 5">
            <a:extLst>
              <a:ext uri="{FF2B5EF4-FFF2-40B4-BE49-F238E27FC236}">
                <a16:creationId xmlns:a16="http://schemas.microsoft.com/office/drawing/2014/main" id="{49DD5C1F-CF68-495F-BC07-B212113C7E32}"/>
              </a:ext>
            </a:extLst>
          </p:cNvPr>
          <p:cNvSpPr>
            <a:spLocks noGrp="1"/>
          </p:cNvSpPr>
          <p:nvPr>
            <p:ph type="sldNum" sz="quarter" idx="12"/>
          </p:nvPr>
        </p:nvSpPr>
        <p:spPr/>
        <p:txBody>
          <a:bodyPr/>
          <a:lstStyle/>
          <a:p>
            <a:fld id="{B53602B4-F12B-41CD-B648-531F86B2CC91}" type="slidenum">
              <a:rPr lang="zh-CN" altLang="en-US" smtClean="0"/>
              <a:t>20</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3.2.5</a:t>
            </a:r>
          </a:p>
        </p:txBody>
      </p:sp>
      <p:sp>
        <p:nvSpPr>
          <p:cNvPr id="46" name="矩形 45"/>
          <p:cNvSpPr/>
          <p:nvPr/>
        </p:nvSpPr>
        <p:spPr>
          <a:xfrm>
            <a:off x="1960201" y="360001"/>
            <a:ext cx="543609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变压器式传感器的应用举例</a:t>
            </a:r>
          </a:p>
        </p:txBody>
      </p:sp>
      <p:sp>
        <p:nvSpPr>
          <p:cNvPr id="21" name="矩形 20"/>
          <p:cNvSpPr/>
          <p:nvPr/>
        </p:nvSpPr>
        <p:spPr>
          <a:xfrm>
            <a:off x="516289" y="2262540"/>
            <a:ext cx="8501717" cy="1729574"/>
          </a:xfrm>
          <a:prstGeom prst="rect">
            <a:avLst/>
          </a:prstGeom>
        </p:spPr>
        <p:txBody>
          <a:bodyPr wrap="square" lIns="91438" tIns="45719" rIns="91438" bIns="45719">
            <a:spAutoFit/>
          </a:bodyPr>
          <a:lstStyle/>
          <a:p>
            <a:pPr marL="342900" indent="-342900">
              <a:lnSpc>
                <a:spcPct val="150000"/>
              </a:lnSpc>
              <a:spcBef>
                <a:spcPts val="670"/>
              </a:spcBef>
              <a:buFont typeface="Arial" panose="020B0604020202020204" pitchFamily="34" charset="0"/>
              <a:buChar char="•"/>
            </a:pPr>
            <a:r>
              <a:rPr lang="zh-CN" altLang="en-US" sz="2200" b="1" dirty="0">
                <a:latin typeface="Arial" panose="020B0604020202020204" pitchFamily="34" charset="0"/>
                <a:ea typeface="宋体" panose="02010600030101010101" pitchFamily="2" charset="-122"/>
                <a:cs typeface="Arial" panose="020B0604020202020204" pitchFamily="34" charset="0"/>
              </a:rPr>
              <a:t>与电感传感器相似，有共同的特</a:t>
            </a:r>
            <a:r>
              <a:rPr lang="zh-CN" altLang="en-US" sz="2200" b="1">
                <a:latin typeface="Arial" panose="020B0604020202020204" pitchFamily="34" charset="0"/>
                <a:ea typeface="宋体" panose="02010600030101010101" pitchFamily="2" charset="-122"/>
                <a:cs typeface="Arial" panose="020B0604020202020204" pitchFamily="34" charset="0"/>
              </a:rPr>
              <a:t>点。</a:t>
            </a:r>
            <a:endParaRPr lang="en-US" altLang="zh-CN" sz="2200" b="1">
              <a:latin typeface="Arial" panose="020B0604020202020204" pitchFamily="34" charset="0"/>
              <a:ea typeface="宋体" panose="02010600030101010101" pitchFamily="2" charset="-122"/>
              <a:cs typeface="Arial" panose="020B0604020202020204" pitchFamily="34" charset="0"/>
            </a:endParaRPr>
          </a:p>
          <a:p>
            <a:pPr marL="342900" indent="-342900">
              <a:lnSpc>
                <a:spcPct val="150000"/>
              </a:lnSpc>
              <a:spcBef>
                <a:spcPts val="670"/>
              </a:spcBef>
              <a:buFont typeface="Arial" panose="020B0604020202020204" pitchFamily="34" charset="0"/>
              <a:buChar char="•"/>
            </a:pPr>
            <a:r>
              <a:rPr lang="zh-CN" altLang="en-US" sz="2200" b="1">
                <a:latin typeface="Arial" panose="020B0604020202020204" pitchFamily="34" charset="0"/>
                <a:ea typeface="宋体" panose="02010600030101010101" pitchFamily="2" charset="-122"/>
                <a:cs typeface="Arial" panose="020B0604020202020204" pitchFamily="34" charset="0"/>
              </a:rPr>
              <a:t>差</a:t>
            </a:r>
            <a:r>
              <a:rPr lang="zh-CN" altLang="en-US" sz="2200" b="1" dirty="0">
                <a:latin typeface="Arial" panose="020B0604020202020204" pitchFamily="34" charset="0"/>
                <a:ea typeface="宋体" panose="02010600030101010101" pitchFamily="2" charset="-122"/>
                <a:cs typeface="Arial" panose="020B0604020202020204" pitchFamily="34" charset="0"/>
              </a:rPr>
              <a:t>分变压器测量的基本量是</a:t>
            </a:r>
            <a:r>
              <a:rPr lang="zh-CN" altLang="en-US" sz="2200" b="1" dirty="0">
                <a:solidFill>
                  <a:srgbClr val="FF0000"/>
                </a:solidFill>
                <a:latin typeface="Arial" panose="020B0604020202020204" pitchFamily="34" charset="0"/>
                <a:ea typeface="宋体" panose="02010600030101010101" pitchFamily="2" charset="-122"/>
                <a:cs typeface="Arial" panose="020B0604020202020204" pitchFamily="34" charset="0"/>
              </a:rPr>
              <a:t>位</a:t>
            </a:r>
            <a:r>
              <a:rPr lang="zh-CN" altLang="en-US" sz="2200" b="1">
                <a:solidFill>
                  <a:srgbClr val="FF0000"/>
                </a:solidFill>
                <a:latin typeface="Arial" panose="020B0604020202020204" pitchFamily="34" charset="0"/>
                <a:ea typeface="宋体" panose="02010600030101010101" pitchFamily="2" charset="-122"/>
                <a:cs typeface="Arial" panose="020B0604020202020204" pitchFamily="34" charset="0"/>
              </a:rPr>
              <a:t>移</a:t>
            </a:r>
            <a:r>
              <a:rPr lang="zh-CN" altLang="en-US" sz="2200" b="1">
                <a:latin typeface="Arial" panose="020B0604020202020204" pitchFamily="34" charset="0"/>
                <a:ea typeface="宋体" panose="02010600030101010101" pitchFamily="2" charset="-122"/>
                <a:cs typeface="Arial" panose="020B0604020202020204" pitchFamily="34" charset="0"/>
              </a:rPr>
              <a:t>。</a:t>
            </a:r>
            <a:endParaRPr lang="en-US" altLang="zh-CN" sz="2200" b="1">
              <a:latin typeface="Arial" panose="020B0604020202020204" pitchFamily="34" charset="0"/>
              <a:ea typeface="宋体" panose="02010600030101010101" pitchFamily="2" charset="-122"/>
              <a:cs typeface="Arial" panose="020B0604020202020204" pitchFamily="34" charset="0"/>
            </a:endParaRPr>
          </a:p>
          <a:p>
            <a:pPr marL="342900" indent="-342900">
              <a:lnSpc>
                <a:spcPct val="150000"/>
              </a:lnSpc>
              <a:spcBef>
                <a:spcPts val="670"/>
              </a:spcBef>
              <a:buFont typeface="Arial" panose="020B0604020202020204" pitchFamily="34" charset="0"/>
              <a:buChar char="•"/>
            </a:pPr>
            <a:r>
              <a:rPr lang="zh-CN" altLang="en-US" sz="2200" b="1">
                <a:latin typeface="Arial" panose="020B0604020202020204" pitchFamily="34" charset="0"/>
                <a:ea typeface="宋体" panose="02010600030101010101" pitchFamily="2" charset="-122"/>
                <a:cs typeface="Arial" panose="020B0604020202020204" pitchFamily="34" charset="0"/>
              </a:rPr>
              <a:t>变</a:t>
            </a:r>
            <a:r>
              <a:rPr lang="zh-CN" altLang="en-US" sz="2200" b="1" dirty="0">
                <a:latin typeface="Arial" panose="020B0604020202020204" pitchFamily="34" charset="0"/>
                <a:ea typeface="宋体" panose="02010600030101010101" pitchFamily="2" charset="-122"/>
                <a:cs typeface="Arial" panose="020B0604020202020204" pitchFamily="34" charset="0"/>
              </a:rPr>
              <a:t>压器式传感器还可以进行力、压力、压力差等力学参数的测量。</a:t>
            </a:r>
          </a:p>
        </p:txBody>
      </p:sp>
      <p:sp>
        <p:nvSpPr>
          <p:cNvPr id="2" name="Slide Number Placeholder 1">
            <a:extLst>
              <a:ext uri="{FF2B5EF4-FFF2-40B4-BE49-F238E27FC236}">
                <a16:creationId xmlns:a16="http://schemas.microsoft.com/office/drawing/2014/main" id="{17786E83-940B-462E-9051-D8AA4859D4AA}"/>
              </a:ext>
            </a:extLst>
          </p:cNvPr>
          <p:cNvSpPr>
            <a:spLocks noGrp="1"/>
          </p:cNvSpPr>
          <p:nvPr>
            <p:ph type="sldNum" sz="quarter" idx="12"/>
          </p:nvPr>
        </p:nvSpPr>
        <p:spPr/>
        <p:txBody>
          <a:bodyPr/>
          <a:lstStyle/>
          <a:p>
            <a:fld id="{B53602B4-F12B-41CD-B648-531F86B2CC91}" type="slidenum">
              <a:rPr lang="zh-CN" altLang="en-US" smtClean="0"/>
              <a:t>21</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3.2.5</a:t>
            </a:r>
          </a:p>
        </p:txBody>
      </p:sp>
      <p:sp>
        <p:nvSpPr>
          <p:cNvPr id="46" name="矩形 45"/>
          <p:cNvSpPr/>
          <p:nvPr/>
        </p:nvSpPr>
        <p:spPr>
          <a:xfrm>
            <a:off x="1960201" y="360001"/>
            <a:ext cx="543609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变压器式传感器的应用举例</a:t>
            </a:r>
          </a:p>
        </p:txBody>
      </p:sp>
      <p:sp>
        <p:nvSpPr>
          <p:cNvPr id="6" name="Rectangle 2">
            <a:extLst>
              <a:ext uri="{FF2B5EF4-FFF2-40B4-BE49-F238E27FC236}">
                <a16:creationId xmlns:a16="http://schemas.microsoft.com/office/drawing/2014/main" id="{4E628CF7-E47C-4949-B81F-57103959D610}"/>
              </a:ext>
            </a:extLst>
          </p:cNvPr>
          <p:cNvSpPr>
            <a:spLocks noChangeArrowheads="1"/>
          </p:cNvSpPr>
          <p:nvPr/>
        </p:nvSpPr>
        <p:spPr bwMode="auto">
          <a:xfrm>
            <a:off x="4479925" y="30480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4400">
              <a:solidFill>
                <a:schemeClr val="tx2"/>
              </a:solidFill>
            </a:endParaRPr>
          </a:p>
        </p:txBody>
      </p:sp>
      <p:sp>
        <p:nvSpPr>
          <p:cNvPr id="7" name="Text Box 9">
            <a:extLst>
              <a:ext uri="{FF2B5EF4-FFF2-40B4-BE49-F238E27FC236}">
                <a16:creationId xmlns:a16="http://schemas.microsoft.com/office/drawing/2014/main" id="{B170C05A-3AF3-4621-93F2-CAC56E66EFD7}"/>
              </a:ext>
            </a:extLst>
          </p:cNvPr>
          <p:cNvSpPr txBox="1">
            <a:spLocks noChangeArrowheads="1"/>
          </p:cNvSpPr>
          <p:nvPr/>
        </p:nvSpPr>
        <p:spPr bwMode="auto">
          <a:xfrm>
            <a:off x="5370879" y="5748338"/>
            <a:ext cx="320162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spcBef>
                <a:spcPct val="50000"/>
              </a:spcBef>
            </a:pPr>
            <a:r>
              <a:rPr lang="zh-CN" altLang="en-US" b="1">
                <a:solidFill>
                  <a:srgbClr val="000099"/>
                </a:solidFill>
              </a:rPr>
              <a:t>图</a:t>
            </a:r>
            <a:r>
              <a:rPr lang="en-US" altLang="zh-CN" b="1">
                <a:solidFill>
                  <a:srgbClr val="000099"/>
                </a:solidFill>
              </a:rPr>
              <a:t>3-23  </a:t>
            </a:r>
            <a:r>
              <a:rPr lang="zh-CN" altLang="en-US" b="1">
                <a:solidFill>
                  <a:srgbClr val="000099"/>
                </a:solidFill>
              </a:rPr>
              <a:t>差分变压器式位移传感器</a:t>
            </a:r>
          </a:p>
        </p:txBody>
      </p:sp>
      <p:graphicFrame>
        <p:nvGraphicFramePr>
          <p:cNvPr id="8" name="Object 28">
            <a:extLst>
              <a:ext uri="{FF2B5EF4-FFF2-40B4-BE49-F238E27FC236}">
                <a16:creationId xmlns:a16="http://schemas.microsoft.com/office/drawing/2014/main" id="{32A0B3CE-B821-45F2-987C-AA7E39762EC4}"/>
              </a:ext>
            </a:extLst>
          </p:cNvPr>
          <p:cNvGraphicFramePr>
            <a:graphicFrameLocks noChangeAspect="1"/>
          </p:cNvGraphicFramePr>
          <p:nvPr>
            <p:extLst>
              <p:ext uri="{D42A27DB-BD31-4B8C-83A1-F6EECF244321}">
                <p14:modId xmlns:p14="http://schemas.microsoft.com/office/powerpoint/2010/main" val="3196374160"/>
              </p:ext>
            </p:extLst>
          </p:nvPr>
        </p:nvGraphicFramePr>
        <p:xfrm>
          <a:off x="5967262" y="1443924"/>
          <a:ext cx="2605238" cy="4194875"/>
        </p:xfrm>
        <a:graphic>
          <a:graphicData uri="http://schemas.openxmlformats.org/presentationml/2006/ole">
            <mc:AlternateContent xmlns:mc="http://schemas.openxmlformats.org/markup-compatibility/2006">
              <mc:Choice xmlns:v="urn:schemas-microsoft-com:vml" Requires="v">
                <p:oleObj name="Image" r:id="rId3" imgW="14928980" imgH="24039184" progId="Photoshop.Image.7">
                  <p:embed/>
                </p:oleObj>
              </mc:Choice>
              <mc:Fallback>
                <p:oleObj name="Image" r:id="rId3" imgW="14928980" imgH="24039184" progId="Photoshop.Image.7">
                  <p:embed/>
                  <p:pic>
                    <p:nvPicPr>
                      <p:cNvPr id="2076"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7262" y="1443924"/>
                        <a:ext cx="2605238" cy="4194875"/>
                      </a:xfrm>
                      <a:prstGeom prst="rect">
                        <a:avLst/>
                      </a:prstGeom>
                      <a:noFill/>
                      <a:ln>
                        <a:noFill/>
                      </a:ln>
                      <a:effectLst/>
                    </p:spPr>
                  </p:pic>
                </p:oleObj>
              </mc:Fallback>
            </mc:AlternateContent>
          </a:graphicData>
        </a:graphic>
      </p:graphicFrame>
      <p:sp>
        <p:nvSpPr>
          <p:cNvPr id="10" name="TextBox 9">
            <a:extLst>
              <a:ext uri="{FF2B5EF4-FFF2-40B4-BE49-F238E27FC236}">
                <a16:creationId xmlns:a16="http://schemas.microsoft.com/office/drawing/2014/main" id="{3B1F0046-BDDD-47B2-A98C-C84BCA89FB17}"/>
              </a:ext>
            </a:extLst>
          </p:cNvPr>
          <p:cNvSpPr txBox="1"/>
          <p:nvPr/>
        </p:nvSpPr>
        <p:spPr>
          <a:xfrm>
            <a:off x="185083" y="1367724"/>
            <a:ext cx="5510867" cy="5008292"/>
          </a:xfrm>
          <a:prstGeom prst="rect">
            <a:avLst/>
          </a:prstGeom>
        </p:spPr>
        <p:txBody>
          <a:bodyPr wrap="square" lIns="91438" tIns="45719" rIns="91438" bIns="45719">
            <a:spAutoFit/>
          </a:bodyPr>
          <a:lstStyle>
            <a:defPPr>
              <a:defRPr lang="zh-CN"/>
            </a:defPPr>
            <a:lvl1pPr marL="342900" indent="-342900">
              <a:lnSpc>
                <a:spcPct val="150000"/>
              </a:lnSpc>
              <a:spcBef>
                <a:spcPts val="670"/>
              </a:spcBef>
              <a:buFont typeface="Arial" panose="020B0604020202020204" pitchFamily="34" charset="0"/>
              <a:buChar char="•"/>
              <a:defRPr sz="2200" b="1">
                <a:latin typeface="Arial" panose="020B0604020202020204" pitchFamily="34" charset="0"/>
                <a:ea typeface="宋体" panose="02010600030101010101" pitchFamily="2" charset="-122"/>
                <a:cs typeface="Arial" panose="020B0604020202020204" pitchFamily="34" charset="0"/>
              </a:defRPr>
            </a:lvl1pPr>
          </a:lstStyle>
          <a:p>
            <a:pPr algn="just"/>
            <a:r>
              <a:rPr lang="en-001" sz="2000"/>
              <a:t>差分变压器测量的基本量是</a:t>
            </a:r>
            <a:r>
              <a:rPr lang="en-001" sz="2000">
                <a:solidFill>
                  <a:srgbClr val="FF0000"/>
                </a:solidFill>
              </a:rPr>
              <a:t>位移</a:t>
            </a:r>
            <a:r>
              <a:rPr lang="zh-CN" altLang="en-US" sz="2000"/>
              <a:t>。</a:t>
            </a:r>
            <a:endParaRPr lang="en-US" sz="2000"/>
          </a:p>
          <a:p>
            <a:pPr algn="just"/>
            <a:r>
              <a:rPr lang="en-001" sz="2000"/>
              <a:t>测头1通过轴套2和测杆3连接，衔铁4固定在测杆上，线圈架5上绕有三组线圈，中间是一次绕组，两端是二次绕组，它们通过导线7与测量电路相接。</a:t>
            </a:r>
            <a:endParaRPr lang="en-US" sz="2000"/>
          </a:p>
          <a:p>
            <a:pPr algn="just"/>
            <a:r>
              <a:rPr lang="en-001" sz="2000"/>
              <a:t>线圈的外面有屏蔽筒8，用以</a:t>
            </a:r>
            <a:r>
              <a:rPr lang="en-001" sz="2000">
                <a:solidFill>
                  <a:srgbClr val="3333CC"/>
                </a:solidFill>
              </a:rPr>
              <a:t>增加灵敏度和防止外磁场的干扰</a:t>
            </a:r>
            <a:r>
              <a:rPr lang="en-001" sz="2000"/>
              <a:t>。</a:t>
            </a:r>
            <a:endParaRPr lang="en-US" sz="2000"/>
          </a:p>
          <a:p>
            <a:pPr algn="just"/>
            <a:r>
              <a:rPr lang="en-001" sz="2000"/>
              <a:t>测杆用圆片弹簧9作为导轨，从</a:t>
            </a:r>
            <a:r>
              <a:rPr lang="en-001" sz="2000">
                <a:solidFill>
                  <a:srgbClr val="3333CC"/>
                </a:solidFill>
              </a:rPr>
              <a:t>弹簧</a:t>
            </a:r>
            <a:r>
              <a:rPr lang="en-001" sz="2000"/>
              <a:t>6获得恢复力。</a:t>
            </a:r>
            <a:endParaRPr lang="en-US" sz="2000"/>
          </a:p>
          <a:p>
            <a:pPr algn="just"/>
            <a:r>
              <a:rPr lang="en-001" sz="2000"/>
              <a:t>为了防止灰尘侵入测杆，装有防尘罩10。</a:t>
            </a:r>
          </a:p>
        </p:txBody>
      </p:sp>
      <p:sp>
        <p:nvSpPr>
          <p:cNvPr id="3" name="Slide Number Placeholder 2">
            <a:extLst>
              <a:ext uri="{FF2B5EF4-FFF2-40B4-BE49-F238E27FC236}">
                <a16:creationId xmlns:a16="http://schemas.microsoft.com/office/drawing/2014/main" id="{71145C5F-3E7A-4DBA-81E9-A0C62F7A2139}"/>
              </a:ext>
            </a:extLst>
          </p:cNvPr>
          <p:cNvSpPr>
            <a:spLocks noGrp="1"/>
          </p:cNvSpPr>
          <p:nvPr>
            <p:ph type="sldNum" sz="quarter" idx="12"/>
          </p:nvPr>
        </p:nvSpPr>
        <p:spPr/>
        <p:txBody>
          <a:bodyPr/>
          <a:lstStyle/>
          <a:p>
            <a:fld id="{B53602B4-F12B-41CD-B648-531F86B2CC91}" type="slidenum">
              <a:rPr lang="zh-CN" altLang="en-US" smtClean="0"/>
              <a:t>22</a:t>
            </a:fld>
            <a:endParaRPr lang="zh-CN" altLang="en-US"/>
          </a:p>
        </p:txBody>
      </p:sp>
    </p:spTree>
    <p:extLst>
      <p:ext uri="{BB962C8B-B14F-4D97-AF65-F5344CB8AC3E}">
        <p14:creationId xmlns:p14="http://schemas.microsoft.com/office/powerpoint/2010/main" val="111010086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3.2.5</a:t>
            </a:r>
          </a:p>
        </p:txBody>
      </p:sp>
      <p:sp>
        <p:nvSpPr>
          <p:cNvPr id="46" name="矩形 45"/>
          <p:cNvSpPr/>
          <p:nvPr/>
        </p:nvSpPr>
        <p:spPr>
          <a:xfrm>
            <a:off x="1960201" y="360001"/>
            <a:ext cx="543609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变压器式传感器的应用举例</a:t>
            </a:r>
          </a:p>
        </p:txBody>
      </p:sp>
      <p:sp>
        <p:nvSpPr>
          <p:cNvPr id="5" name="Text Box 9">
            <a:extLst>
              <a:ext uri="{FF2B5EF4-FFF2-40B4-BE49-F238E27FC236}">
                <a16:creationId xmlns:a16="http://schemas.microsoft.com/office/drawing/2014/main" id="{2E09171D-5149-4849-B0C7-0DFF632AFE40}"/>
              </a:ext>
            </a:extLst>
          </p:cNvPr>
          <p:cNvSpPr txBox="1">
            <a:spLocks noChangeArrowheads="1"/>
          </p:cNvSpPr>
          <p:nvPr/>
        </p:nvSpPr>
        <p:spPr bwMode="auto">
          <a:xfrm>
            <a:off x="5060950" y="5194300"/>
            <a:ext cx="32385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hangingPunct="0">
              <a:defRPr kumimoji="1" sz="2000">
                <a:solidFill>
                  <a:schemeClr val="tx1"/>
                </a:solidFill>
                <a:latin typeface="Times New Roman" pitchFamily="18" charset="0"/>
                <a:ea typeface="宋体" charset="-122"/>
              </a:defRPr>
            </a:lvl6pPr>
            <a:lvl7pPr eaLnBrk="0" hangingPunct="0">
              <a:defRPr kumimoji="1" sz="2000">
                <a:solidFill>
                  <a:schemeClr val="tx1"/>
                </a:solidFill>
                <a:latin typeface="Times New Roman" pitchFamily="18" charset="0"/>
                <a:ea typeface="宋体" charset="-122"/>
              </a:defRPr>
            </a:lvl7pPr>
            <a:lvl8pPr eaLnBrk="0" hangingPunct="0">
              <a:defRPr kumimoji="1" sz="2000">
                <a:solidFill>
                  <a:schemeClr val="tx1"/>
                </a:solidFill>
                <a:latin typeface="Times New Roman" pitchFamily="18" charset="0"/>
                <a:ea typeface="宋体" charset="-122"/>
              </a:defRPr>
            </a:lvl8pPr>
            <a:lvl9pPr eaLnBrk="0" hangingPunct="0">
              <a:defRPr kumimoji="1" sz="2000">
                <a:solidFill>
                  <a:schemeClr val="tx1"/>
                </a:solidFill>
                <a:latin typeface="Times New Roman" pitchFamily="18" charset="0"/>
                <a:ea typeface="宋体" charset="-122"/>
              </a:defRPr>
            </a:lvl9pPr>
          </a:lstStyle>
          <a:p>
            <a:pPr algn="r" eaLnBrk="1" hangingPunct="1">
              <a:spcBef>
                <a:spcPct val="50000"/>
              </a:spcBef>
            </a:pPr>
            <a:r>
              <a:rPr lang="zh-CN" altLang="en-US" sz="2400" b="1" dirty="0">
                <a:solidFill>
                  <a:srgbClr val="000099"/>
                </a:solidFill>
              </a:rPr>
              <a:t>图</a:t>
            </a:r>
            <a:r>
              <a:rPr lang="en-US" altLang="zh-CN" sz="2400" b="1" dirty="0">
                <a:solidFill>
                  <a:srgbClr val="000099"/>
                </a:solidFill>
              </a:rPr>
              <a:t>3-24  </a:t>
            </a:r>
            <a:r>
              <a:rPr lang="zh-CN" altLang="en-US" sz="2400" b="1" dirty="0">
                <a:solidFill>
                  <a:srgbClr val="000099"/>
                </a:solidFill>
              </a:rPr>
              <a:t>差分变压器式</a:t>
            </a:r>
            <a:endParaRPr lang="en-US" altLang="zh-CN" sz="2400" b="1" dirty="0">
              <a:solidFill>
                <a:srgbClr val="000099"/>
              </a:solidFill>
            </a:endParaRPr>
          </a:p>
          <a:p>
            <a:pPr algn="r" eaLnBrk="1" hangingPunct="1">
              <a:spcBef>
                <a:spcPct val="50000"/>
              </a:spcBef>
            </a:pPr>
            <a:r>
              <a:rPr lang="zh-CN" altLang="en-US" sz="2400" b="1" dirty="0">
                <a:solidFill>
                  <a:srgbClr val="000099"/>
                </a:solidFill>
              </a:rPr>
              <a:t>压力传感器</a:t>
            </a:r>
          </a:p>
        </p:txBody>
      </p:sp>
      <p:pic>
        <p:nvPicPr>
          <p:cNvPr id="6" name="Picture 11">
            <a:extLst>
              <a:ext uri="{FF2B5EF4-FFF2-40B4-BE49-F238E27FC236}">
                <a16:creationId xmlns:a16="http://schemas.microsoft.com/office/drawing/2014/main" id="{9C242D02-48D0-491D-A820-6386FCB069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8100" y="1555750"/>
            <a:ext cx="3377796" cy="33777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a:extLst>
              <a:ext uri="{FF2B5EF4-FFF2-40B4-BE49-F238E27FC236}">
                <a16:creationId xmlns:a16="http://schemas.microsoft.com/office/drawing/2014/main" id="{A1F346CF-57CB-434F-BE76-F5DBE3F55C7B}"/>
              </a:ext>
            </a:extLst>
          </p:cNvPr>
          <p:cNvSpPr txBox="1"/>
          <p:nvPr/>
        </p:nvSpPr>
        <p:spPr>
          <a:xfrm>
            <a:off x="177800" y="1419524"/>
            <a:ext cx="4883150" cy="4367091"/>
          </a:xfrm>
          <a:prstGeom prst="rect">
            <a:avLst/>
          </a:prstGeom>
        </p:spPr>
        <p:txBody>
          <a:bodyPr wrap="square" lIns="91438" tIns="45719" rIns="91438" bIns="45719">
            <a:spAutoFit/>
          </a:bodyPr>
          <a:lstStyle>
            <a:defPPr>
              <a:defRPr lang="zh-CN"/>
            </a:defPPr>
            <a:lvl1pPr marL="342900" indent="-342900" algn="just">
              <a:lnSpc>
                <a:spcPct val="150000"/>
              </a:lnSpc>
              <a:spcBef>
                <a:spcPts val="670"/>
              </a:spcBef>
              <a:buFont typeface="Arial" panose="020B0604020202020204" pitchFamily="34" charset="0"/>
              <a:buChar char="•"/>
              <a:defRPr sz="2000" b="1">
                <a:latin typeface="Arial" panose="020B0604020202020204" pitchFamily="34" charset="0"/>
                <a:ea typeface="宋体" panose="02010600030101010101" pitchFamily="2" charset="-122"/>
                <a:cs typeface="Arial" panose="020B0604020202020204" pitchFamily="34" charset="0"/>
              </a:defRPr>
            </a:lvl1pPr>
          </a:lstStyle>
          <a:p>
            <a:r>
              <a:rPr lang="en-001"/>
              <a:t>变压器式传感器还可以进行力、压力、压力差等</a:t>
            </a:r>
            <a:r>
              <a:rPr lang="en-001">
                <a:solidFill>
                  <a:srgbClr val="FF0000"/>
                </a:solidFill>
              </a:rPr>
              <a:t>力学参数</a:t>
            </a:r>
            <a:r>
              <a:rPr lang="en-001"/>
              <a:t>的测量。</a:t>
            </a:r>
            <a:endParaRPr lang="en-US"/>
          </a:p>
          <a:p>
            <a:r>
              <a:rPr lang="en-001"/>
              <a:t>当力作用于传感器时，具有缸体状空心截面</a:t>
            </a:r>
            <a:r>
              <a:rPr lang="en-001">
                <a:solidFill>
                  <a:srgbClr val="3333CC"/>
                </a:solidFill>
              </a:rPr>
              <a:t>弹性元件发生变形</a:t>
            </a:r>
            <a:r>
              <a:rPr lang="en-001"/>
              <a:t>，因而</a:t>
            </a:r>
            <a:r>
              <a:rPr lang="en-001">
                <a:solidFill>
                  <a:srgbClr val="3333CC"/>
                </a:solidFill>
              </a:rPr>
              <a:t>衔铁相对线圈移动</a:t>
            </a:r>
            <a:r>
              <a:rPr lang="en-001"/>
              <a:t>，便产生</a:t>
            </a:r>
            <a:r>
              <a:rPr lang="en-001">
                <a:solidFill>
                  <a:srgbClr val="3333CC"/>
                </a:solidFill>
              </a:rPr>
              <a:t>输出电压</a:t>
            </a:r>
            <a:r>
              <a:rPr lang="en-001"/>
              <a:t>，其大小反映了受力的大小。</a:t>
            </a:r>
            <a:endParaRPr lang="en-US"/>
          </a:p>
          <a:p>
            <a:r>
              <a:rPr lang="en-001"/>
              <a:t>这种传感器的优点是当承受轴向力时</a:t>
            </a:r>
            <a:r>
              <a:rPr lang="en-001">
                <a:solidFill>
                  <a:srgbClr val="3333CC"/>
                </a:solidFill>
              </a:rPr>
              <a:t>应力分布均匀</a:t>
            </a:r>
            <a:r>
              <a:rPr lang="en-001"/>
              <a:t>，且在传感器的径向长度比较小时，</a:t>
            </a:r>
            <a:r>
              <a:rPr lang="en-001">
                <a:solidFill>
                  <a:srgbClr val="00B050"/>
                </a:solidFill>
              </a:rPr>
              <a:t>受横向偏心分力的影响较小</a:t>
            </a:r>
            <a:r>
              <a:rPr lang="en-001"/>
              <a:t>。</a:t>
            </a:r>
          </a:p>
        </p:txBody>
      </p:sp>
      <p:sp>
        <p:nvSpPr>
          <p:cNvPr id="3" name="Slide Number Placeholder 2">
            <a:extLst>
              <a:ext uri="{FF2B5EF4-FFF2-40B4-BE49-F238E27FC236}">
                <a16:creationId xmlns:a16="http://schemas.microsoft.com/office/drawing/2014/main" id="{50427E0D-984A-40D9-8004-08851AFCC384}"/>
              </a:ext>
            </a:extLst>
          </p:cNvPr>
          <p:cNvSpPr>
            <a:spLocks noGrp="1"/>
          </p:cNvSpPr>
          <p:nvPr>
            <p:ph type="sldNum" sz="quarter" idx="12"/>
          </p:nvPr>
        </p:nvSpPr>
        <p:spPr/>
        <p:txBody>
          <a:bodyPr/>
          <a:lstStyle/>
          <a:p>
            <a:fld id="{B53602B4-F12B-41CD-B648-531F86B2CC91}" type="slidenum">
              <a:rPr lang="zh-CN" altLang="en-US" smtClean="0"/>
              <a:t>23</a:t>
            </a:fld>
            <a:endParaRPr lang="zh-CN" altLang="en-US"/>
          </a:p>
        </p:txBody>
      </p:sp>
    </p:spTree>
    <p:extLst>
      <p:ext uri="{BB962C8B-B14F-4D97-AF65-F5344CB8AC3E}">
        <p14:creationId xmlns:p14="http://schemas.microsoft.com/office/powerpoint/2010/main" val="358971954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3.2.5</a:t>
            </a:r>
          </a:p>
        </p:txBody>
      </p:sp>
      <p:sp>
        <p:nvSpPr>
          <p:cNvPr id="46" name="矩形 45"/>
          <p:cNvSpPr/>
          <p:nvPr/>
        </p:nvSpPr>
        <p:spPr>
          <a:xfrm>
            <a:off x="1960201" y="360001"/>
            <a:ext cx="543609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变压器式传感器的应用举例</a:t>
            </a:r>
          </a:p>
        </p:txBody>
      </p:sp>
      <p:sp>
        <p:nvSpPr>
          <p:cNvPr id="8" name="TextBox 7">
            <a:extLst>
              <a:ext uri="{FF2B5EF4-FFF2-40B4-BE49-F238E27FC236}">
                <a16:creationId xmlns:a16="http://schemas.microsoft.com/office/drawing/2014/main" id="{A1F346CF-57CB-434F-BE76-F5DBE3F55C7B}"/>
              </a:ext>
            </a:extLst>
          </p:cNvPr>
          <p:cNvSpPr txBox="1"/>
          <p:nvPr/>
        </p:nvSpPr>
        <p:spPr>
          <a:xfrm>
            <a:off x="249883" y="1326258"/>
            <a:ext cx="5268415" cy="5030093"/>
          </a:xfrm>
          <a:prstGeom prst="rect">
            <a:avLst/>
          </a:prstGeom>
        </p:spPr>
        <p:txBody>
          <a:bodyPr wrap="square" lIns="91438" tIns="45719" rIns="91438" bIns="45719">
            <a:spAutoFit/>
          </a:bodyPr>
          <a:lstStyle>
            <a:defPPr>
              <a:defRPr lang="zh-CN"/>
            </a:defPPr>
            <a:lvl1pPr marL="342900" indent="-342900" algn="just">
              <a:lnSpc>
                <a:spcPct val="150000"/>
              </a:lnSpc>
              <a:spcBef>
                <a:spcPts val="670"/>
              </a:spcBef>
              <a:buFont typeface="Arial" panose="020B0604020202020204" pitchFamily="34" charset="0"/>
              <a:buChar char="•"/>
              <a:defRPr sz="2000" b="1">
                <a:latin typeface="Arial" panose="020B0604020202020204" pitchFamily="34" charset="0"/>
                <a:ea typeface="宋体" panose="02010600030101010101" pitchFamily="2" charset="-122"/>
                <a:cs typeface="Arial" panose="020B0604020202020204" pitchFamily="34" charset="0"/>
              </a:defRPr>
            </a:lvl1pPr>
          </a:lstStyle>
          <a:p>
            <a:pPr marL="0" indent="0">
              <a:lnSpc>
                <a:spcPct val="135000"/>
              </a:lnSpc>
              <a:spcBef>
                <a:spcPts val="0"/>
              </a:spcBef>
              <a:buNone/>
            </a:pPr>
            <a:r>
              <a:rPr lang="zh-CN" altLang="en-US" dirty="0"/>
              <a:t>换一种解释：</a:t>
            </a:r>
            <a:endParaRPr lang="en-US" altLang="zh-CN" dirty="0"/>
          </a:p>
          <a:p>
            <a:pPr>
              <a:lnSpc>
                <a:spcPct val="135000"/>
              </a:lnSpc>
              <a:spcBef>
                <a:spcPts val="0"/>
              </a:spcBef>
            </a:pPr>
            <a:r>
              <a:rPr lang="zh-CN" altLang="en-US" dirty="0"/>
              <a:t>差动变压器的铁芯与弹性敏感元件相连，</a:t>
            </a:r>
            <a:endParaRPr lang="en-US" altLang="zh-CN" dirty="0"/>
          </a:p>
          <a:p>
            <a:pPr>
              <a:lnSpc>
                <a:spcPct val="135000"/>
              </a:lnSpc>
              <a:spcBef>
                <a:spcPts val="0"/>
              </a:spcBef>
            </a:pPr>
            <a:r>
              <a:rPr lang="zh-CN" altLang="en-US" dirty="0"/>
              <a:t>弹性元件感受被测压力而产生应变，带动铁芯移动，</a:t>
            </a:r>
            <a:endParaRPr lang="en-US" altLang="zh-CN" dirty="0"/>
          </a:p>
          <a:p>
            <a:pPr>
              <a:lnSpc>
                <a:spcPct val="135000"/>
              </a:lnSpc>
              <a:spcBef>
                <a:spcPts val="0"/>
              </a:spcBef>
            </a:pPr>
            <a:r>
              <a:rPr lang="zh-CN" altLang="en-US" dirty="0"/>
              <a:t>差动变压器的输出电压发生变化，再通过差动整流、相敏检波等测量电路处理，</a:t>
            </a:r>
            <a:endParaRPr lang="en-US" altLang="zh-CN" dirty="0"/>
          </a:p>
          <a:p>
            <a:pPr>
              <a:lnSpc>
                <a:spcPct val="135000"/>
              </a:lnSpc>
              <a:spcBef>
                <a:spcPts val="0"/>
              </a:spcBef>
            </a:pPr>
            <a:r>
              <a:rPr lang="zh-CN" altLang="en-US" dirty="0"/>
              <a:t>输出信号的大小反映了铁芯位移的大小，而相位反映了铁芯位移的方向，</a:t>
            </a:r>
            <a:endParaRPr lang="en-US" altLang="zh-CN" dirty="0"/>
          </a:p>
          <a:p>
            <a:pPr>
              <a:lnSpc>
                <a:spcPct val="135000"/>
              </a:lnSpc>
              <a:spcBef>
                <a:spcPts val="0"/>
              </a:spcBef>
            </a:pPr>
            <a:r>
              <a:rPr lang="zh-CN" altLang="en-US" dirty="0"/>
              <a:t>再通过换算即可得出压力的大小和方向。</a:t>
            </a:r>
            <a:endParaRPr lang="en-US" altLang="zh-CN" dirty="0"/>
          </a:p>
          <a:p>
            <a:pPr>
              <a:lnSpc>
                <a:spcPct val="135000"/>
              </a:lnSpc>
              <a:spcBef>
                <a:spcPts val="0"/>
              </a:spcBef>
            </a:pPr>
            <a:endParaRPr lang="zh-CN" altLang="en-US" dirty="0"/>
          </a:p>
          <a:p>
            <a:pPr>
              <a:lnSpc>
                <a:spcPct val="135000"/>
              </a:lnSpc>
              <a:spcBef>
                <a:spcPts val="0"/>
              </a:spcBef>
            </a:pPr>
            <a:r>
              <a:rPr lang="zh-CN" altLang="en-US" dirty="0"/>
              <a:t>图中弹性敏感元件为空心圆柱，通常用于较大的压力测量；</a:t>
            </a:r>
            <a:endParaRPr lang="en-001" dirty="0"/>
          </a:p>
        </p:txBody>
      </p:sp>
      <p:sp>
        <p:nvSpPr>
          <p:cNvPr id="3" name="Slide Number Placeholder 2">
            <a:extLst>
              <a:ext uri="{FF2B5EF4-FFF2-40B4-BE49-F238E27FC236}">
                <a16:creationId xmlns:a16="http://schemas.microsoft.com/office/drawing/2014/main" id="{50427E0D-984A-40D9-8004-08851AFCC384}"/>
              </a:ext>
            </a:extLst>
          </p:cNvPr>
          <p:cNvSpPr>
            <a:spLocks noGrp="1"/>
          </p:cNvSpPr>
          <p:nvPr>
            <p:ph type="sldNum" sz="quarter" idx="12"/>
          </p:nvPr>
        </p:nvSpPr>
        <p:spPr/>
        <p:txBody>
          <a:bodyPr/>
          <a:lstStyle/>
          <a:p>
            <a:fld id="{B53602B4-F12B-41CD-B648-531F86B2CC91}" type="slidenum">
              <a:rPr lang="zh-CN" altLang="en-US" smtClean="0"/>
              <a:t>24</a:t>
            </a:fld>
            <a:endParaRPr lang="zh-CN" altLang="en-US"/>
          </a:p>
        </p:txBody>
      </p:sp>
      <p:pic>
        <p:nvPicPr>
          <p:cNvPr id="4" name="Picture 3">
            <a:extLst>
              <a:ext uri="{FF2B5EF4-FFF2-40B4-BE49-F238E27FC236}">
                <a16:creationId xmlns:a16="http://schemas.microsoft.com/office/drawing/2014/main" id="{957EC7EE-F35E-42F4-9061-0D77254D2B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09679" y="1519470"/>
            <a:ext cx="3432820" cy="3447681"/>
          </a:xfrm>
          <a:prstGeom prst="rect">
            <a:avLst/>
          </a:prstGeom>
        </p:spPr>
      </p:pic>
      <p:sp>
        <p:nvSpPr>
          <p:cNvPr id="14" name="TextBox 13">
            <a:extLst>
              <a:ext uri="{FF2B5EF4-FFF2-40B4-BE49-F238E27FC236}">
                <a16:creationId xmlns:a16="http://schemas.microsoft.com/office/drawing/2014/main" id="{10F622ED-0FA1-4B90-A445-8F0BAFAC172F}"/>
              </a:ext>
            </a:extLst>
          </p:cNvPr>
          <p:cNvSpPr txBox="1"/>
          <p:nvPr/>
        </p:nvSpPr>
        <p:spPr>
          <a:xfrm>
            <a:off x="5685978" y="5079282"/>
            <a:ext cx="3280222" cy="955903"/>
          </a:xfrm>
          <a:prstGeom prst="rect">
            <a:avLst/>
          </a:prstGeom>
          <a:noFill/>
        </p:spPr>
        <p:txBody>
          <a:bodyPr wrap="square">
            <a:spAutoFit/>
          </a:bodyPr>
          <a:lstStyle/>
          <a:p>
            <a:pPr>
              <a:lnSpc>
                <a:spcPct val="150000"/>
              </a:lnSpc>
            </a:pPr>
            <a:r>
              <a:rPr lang="en-US" sz="2000" b="1" dirty="0">
                <a:latin typeface="Arial" panose="020B0604020202020204" pitchFamily="34" charset="0"/>
                <a:ea typeface="宋体" panose="02010600030101010101" pitchFamily="2" charset="-122"/>
                <a:cs typeface="Arial" panose="020B0604020202020204" pitchFamily="34" charset="0"/>
              </a:rPr>
              <a:t>1-线圈；2-铁芯；3-上部；4-弹性元件；5-基座</a:t>
            </a:r>
          </a:p>
        </p:txBody>
      </p:sp>
    </p:spTree>
    <p:extLst>
      <p:ext uri="{BB962C8B-B14F-4D97-AF65-F5344CB8AC3E}">
        <p14:creationId xmlns:p14="http://schemas.microsoft.com/office/powerpoint/2010/main" val="150165044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3.2.5</a:t>
            </a:r>
          </a:p>
        </p:txBody>
      </p:sp>
      <p:sp>
        <p:nvSpPr>
          <p:cNvPr id="46" name="矩形 45"/>
          <p:cNvSpPr/>
          <p:nvPr/>
        </p:nvSpPr>
        <p:spPr>
          <a:xfrm>
            <a:off x="1960201" y="360001"/>
            <a:ext cx="543609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变压器式传感器的应用举例</a:t>
            </a:r>
          </a:p>
        </p:txBody>
      </p:sp>
      <p:sp>
        <p:nvSpPr>
          <p:cNvPr id="7" name="Text Box 9">
            <a:extLst>
              <a:ext uri="{FF2B5EF4-FFF2-40B4-BE49-F238E27FC236}">
                <a16:creationId xmlns:a16="http://schemas.microsoft.com/office/drawing/2014/main" id="{C9449594-9FD8-4603-9F9B-5D782FA26A98}"/>
              </a:ext>
            </a:extLst>
          </p:cNvPr>
          <p:cNvSpPr txBox="1">
            <a:spLocks noChangeArrowheads="1"/>
          </p:cNvSpPr>
          <p:nvPr/>
        </p:nvSpPr>
        <p:spPr bwMode="auto">
          <a:xfrm>
            <a:off x="5389929" y="5513388"/>
            <a:ext cx="2762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spcBef>
                <a:spcPct val="50000"/>
              </a:spcBef>
            </a:pPr>
            <a:r>
              <a:rPr lang="zh-CN" altLang="en-US" b="1">
                <a:solidFill>
                  <a:srgbClr val="000099"/>
                </a:solidFill>
              </a:rPr>
              <a:t>图</a:t>
            </a:r>
            <a:r>
              <a:rPr lang="en-US" altLang="zh-CN" b="1">
                <a:solidFill>
                  <a:srgbClr val="000099"/>
                </a:solidFill>
              </a:rPr>
              <a:t>3-25  </a:t>
            </a:r>
            <a:r>
              <a:rPr lang="zh-CN" altLang="en-US" b="1">
                <a:solidFill>
                  <a:srgbClr val="000099"/>
                </a:solidFill>
              </a:rPr>
              <a:t>微压传感器</a:t>
            </a:r>
          </a:p>
        </p:txBody>
      </p:sp>
      <p:graphicFrame>
        <p:nvGraphicFramePr>
          <p:cNvPr id="8" name="Object 28">
            <a:extLst>
              <a:ext uri="{FF2B5EF4-FFF2-40B4-BE49-F238E27FC236}">
                <a16:creationId xmlns:a16="http://schemas.microsoft.com/office/drawing/2014/main" id="{80C66AD1-2A09-447A-90D1-6F51E0A4C7BD}"/>
              </a:ext>
            </a:extLst>
          </p:cNvPr>
          <p:cNvGraphicFramePr>
            <a:graphicFrameLocks noChangeAspect="1"/>
          </p:cNvGraphicFramePr>
          <p:nvPr>
            <p:extLst>
              <p:ext uri="{D42A27DB-BD31-4B8C-83A1-F6EECF244321}">
                <p14:modId xmlns:p14="http://schemas.microsoft.com/office/powerpoint/2010/main" val="2820816875"/>
              </p:ext>
            </p:extLst>
          </p:nvPr>
        </p:nvGraphicFramePr>
        <p:xfrm>
          <a:off x="4439006" y="1784350"/>
          <a:ext cx="4285893" cy="3219450"/>
        </p:xfrm>
        <a:graphic>
          <a:graphicData uri="http://schemas.openxmlformats.org/presentationml/2006/ole">
            <mc:AlternateContent xmlns:mc="http://schemas.openxmlformats.org/markup-compatibility/2006">
              <mc:Choice xmlns:v="urn:schemas-microsoft-com:vml" Requires="v">
                <p:oleObj name="Image" r:id="rId3" imgW="15585306" imgH="11706122" progId="Photoshop.Image.7">
                  <p:embed/>
                </p:oleObj>
              </mc:Choice>
              <mc:Fallback>
                <p:oleObj name="Image" r:id="rId3" imgW="15585306" imgH="11706122" progId="Photoshop.Image.7">
                  <p:embed/>
                  <p:pic>
                    <p:nvPicPr>
                      <p:cNvPr id="2076"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39006" y="1784350"/>
                        <a:ext cx="4285893" cy="3219450"/>
                      </a:xfrm>
                      <a:prstGeom prst="rect">
                        <a:avLst/>
                      </a:prstGeom>
                      <a:noFill/>
                      <a:ln>
                        <a:noFill/>
                      </a:ln>
                      <a:effectLst/>
                    </p:spPr>
                  </p:pic>
                </p:oleObj>
              </mc:Fallback>
            </mc:AlternateContent>
          </a:graphicData>
        </a:graphic>
      </p:graphicFrame>
      <p:sp>
        <p:nvSpPr>
          <p:cNvPr id="10" name="TextBox 9">
            <a:extLst>
              <a:ext uri="{FF2B5EF4-FFF2-40B4-BE49-F238E27FC236}">
                <a16:creationId xmlns:a16="http://schemas.microsoft.com/office/drawing/2014/main" id="{16C525AC-4358-4ED6-B792-167E0F074DEB}"/>
              </a:ext>
            </a:extLst>
          </p:cNvPr>
          <p:cNvSpPr txBox="1"/>
          <p:nvPr/>
        </p:nvSpPr>
        <p:spPr>
          <a:xfrm>
            <a:off x="185083" y="1784350"/>
            <a:ext cx="4171017" cy="3815658"/>
          </a:xfrm>
          <a:prstGeom prst="rect">
            <a:avLst/>
          </a:prstGeom>
        </p:spPr>
        <p:txBody>
          <a:bodyPr wrap="square" lIns="91438" tIns="45719" rIns="91438" bIns="45719">
            <a:spAutoFit/>
          </a:bodyPr>
          <a:lstStyle>
            <a:defPPr>
              <a:defRPr lang="zh-CN"/>
            </a:defPPr>
            <a:lvl1pPr marL="342900" indent="-342900" algn="just">
              <a:lnSpc>
                <a:spcPct val="150000"/>
              </a:lnSpc>
              <a:spcBef>
                <a:spcPts val="670"/>
              </a:spcBef>
              <a:buFont typeface="Arial" panose="020B0604020202020204" pitchFamily="34" charset="0"/>
              <a:buChar char="•"/>
              <a:defRPr sz="2000" b="1">
                <a:latin typeface="Arial" panose="020B0604020202020204" pitchFamily="34" charset="0"/>
                <a:ea typeface="宋体" panose="02010600030101010101" pitchFamily="2" charset="-122"/>
                <a:cs typeface="Arial" panose="020B0604020202020204" pitchFamily="34" charset="0"/>
              </a:defRPr>
            </a:lvl1pPr>
          </a:lstStyle>
          <a:p>
            <a:r>
              <a:rPr lang="en-001" dirty="0"/>
              <a:t>在无压力时，固接在膜盒中心的衔铁位于差分变压器中部，因而输出为零</a:t>
            </a:r>
            <a:r>
              <a:rPr lang="zh-CN" altLang="en-US" dirty="0"/>
              <a:t>；</a:t>
            </a:r>
            <a:endParaRPr lang="en-US" altLang="zh-CN" dirty="0"/>
          </a:p>
          <a:p>
            <a:r>
              <a:rPr lang="en-001" dirty="0"/>
              <a:t>当被测压力由接头1输出到膜盒中时，</a:t>
            </a:r>
            <a:r>
              <a:rPr lang="en-001" dirty="0">
                <a:solidFill>
                  <a:srgbClr val="3333CC"/>
                </a:solidFill>
              </a:rPr>
              <a:t>膜盒2的自由端产生正比于被测压力的位移</a:t>
            </a:r>
            <a:r>
              <a:rPr lang="en-001" dirty="0"/>
              <a:t>，</a:t>
            </a:r>
            <a:r>
              <a:rPr lang="en-001" dirty="0">
                <a:solidFill>
                  <a:srgbClr val="3333CC"/>
                </a:solidFill>
              </a:rPr>
              <a:t>带动衔铁6在差分变压器中移动</a:t>
            </a:r>
            <a:r>
              <a:rPr lang="en-001" dirty="0"/>
              <a:t>，其产生的输出电压能反映被测压力的大小</a:t>
            </a:r>
          </a:p>
        </p:txBody>
      </p:sp>
      <p:sp>
        <p:nvSpPr>
          <p:cNvPr id="3" name="Slide Number Placeholder 2">
            <a:extLst>
              <a:ext uri="{FF2B5EF4-FFF2-40B4-BE49-F238E27FC236}">
                <a16:creationId xmlns:a16="http://schemas.microsoft.com/office/drawing/2014/main" id="{6CD3E37D-0EAA-4F5B-990B-684778DD6D08}"/>
              </a:ext>
            </a:extLst>
          </p:cNvPr>
          <p:cNvSpPr>
            <a:spLocks noGrp="1"/>
          </p:cNvSpPr>
          <p:nvPr>
            <p:ph type="sldNum" sz="quarter" idx="12"/>
          </p:nvPr>
        </p:nvSpPr>
        <p:spPr/>
        <p:txBody>
          <a:bodyPr/>
          <a:lstStyle/>
          <a:p>
            <a:fld id="{B53602B4-F12B-41CD-B648-531F86B2CC91}" type="slidenum">
              <a:rPr lang="zh-CN" altLang="en-US" smtClean="0"/>
              <a:t>25</a:t>
            </a:fld>
            <a:endParaRPr lang="zh-CN" altLang="en-US"/>
          </a:p>
        </p:txBody>
      </p:sp>
    </p:spTree>
    <p:extLst>
      <p:ext uri="{BB962C8B-B14F-4D97-AF65-F5344CB8AC3E}">
        <p14:creationId xmlns:p14="http://schemas.microsoft.com/office/powerpoint/2010/main" val="378565186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3.2.5</a:t>
            </a:r>
          </a:p>
        </p:txBody>
      </p:sp>
      <p:sp>
        <p:nvSpPr>
          <p:cNvPr id="46" name="矩形 45"/>
          <p:cNvSpPr/>
          <p:nvPr/>
        </p:nvSpPr>
        <p:spPr>
          <a:xfrm>
            <a:off x="1960201" y="360001"/>
            <a:ext cx="543609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变压器式传感器的应用举例</a:t>
            </a:r>
          </a:p>
        </p:txBody>
      </p:sp>
      <p:sp>
        <p:nvSpPr>
          <p:cNvPr id="3" name="Slide Number Placeholder 2">
            <a:extLst>
              <a:ext uri="{FF2B5EF4-FFF2-40B4-BE49-F238E27FC236}">
                <a16:creationId xmlns:a16="http://schemas.microsoft.com/office/drawing/2014/main" id="{6CD3E37D-0EAA-4F5B-990B-684778DD6D08}"/>
              </a:ext>
            </a:extLst>
          </p:cNvPr>
          <p:cNvSpPr>
            <a:spLocks noGrp="1"/>
          </p:cNvSpPr>
          <p:nvPr>
            <p:ph type="sldNum" sz="quarter" idx="12"/>
          </p:nvPr>
        </p:nvSpPr>
        <p:spPr/>
        <p:txBody>
          <a:bodyPr/>
          <a:lstStyle/>
          <a:p>
            <a:fld id="{B53602B4-F12B-41CD-B648-531F86B2CC91}" type="slidenum">
              <a:rPr lang="zh-CN" altLang="en-US" smtClean="0"/>
              <a:t>26</a:t>
            </a:fld>
            <a:endParaRPr lang="zh-CN" altLang="en-US"/>
          </a:p>
        </p:txBody>
      </p:sp>
      <p:pic>
        <p:nvPicPr>
          <p:cNvPr id="4" name="Picture 3">
            <a:extLst>
              <a:ext uri="{FF2B5EF4-FFF2-40B4-BE49-F238E27FC236}">
                <a16:creationId xmlns:a16="http://schemas.microsoft.com/office/drawing/2014/main" id="{B2AC7CAB-E8B1-40C1-A38A-4FAF3690880D}"/>
              </a:ext>
            </a:extLst>
          </p:cNvPr>
          <p:cNvPicPr>
            <a:picLocks noChangeAspect="1"/>
          </p:cNvPicPr>
          <p:nvPr/>
        </p:nvPicPr>
        <p:blipFill>
          <a:blip r:embed="rId3"/>
          <a:stretch>
            <a:fillRect/>
          </a:stretch>
        </p:blipFill>
        <p:spPr>
          <a:xfrm>
            <a:off x="1024655" y="1560867"/>
            <a:ext cx="7094689" cy="4239193"/>
          </a:xfrm>
          <a:prstGeom prst="rect">
            <a:avLst/>
          </a:prstGeom>
        </p:spPr>
      </p:pic>
    </p:spTree>
    <p:extLst>
      <p:ext uri="{BB962C8B-B14F-4D97-AF65-F5344CB8AC3E}">
        <p14:creationId xmlns:p14="http://schemas.microsoft.com/office/powerpoint/2010/main" val="226264950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3.2.5</a:t>
            </a:r>
          </a:p>
        </p:txBody>
      </p:sp>
      <p:sp>
        <p:nvSpPr>
          <p:cNvPr id="46" name="矩形 45"/>
          <p:cNvSpPr/>
          <p:nvPr/>
        </p:nvSpPr>
        <p:spPr>
          <a:xfrm>
            <a:off x="1960201" y="360001"/>
            <a:ext cx="543609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变压器式传感器的应用举例</a:t>
            </a:r>
          </a:p>
        </p:txBody>
      </p:sp>
      <p:sp>
        <p:nvSpPr>
          <p:cNvPr id="10" name="TextBox 9">
            <a:extLst>
              <a:ext uri="{FF2B5EF4-FFF2-40B4-BE49-F238E27FC236}">
                <a16:creationId xmlns:a16="http://schemas.microsoft.com/office/drawing/2014/main" id="{16C525AC-4358-4ED6-B792-167E0F074DEB}"/>
              </a:ext>
            </a:extLst>
          </p:cNvPr>
          <p:cNvSpPr txBox="1"/>
          <p:nvPr/>
        </p:nvSpPr>
        <p:spPr>
          <a:xfrm>
            <a:off x="185083" y="1784350"/>
            <a:ext cx="4171017" cy="3353993"/>
          </a:xfrm>
          <a:prstGeom prst="rect">
            <a:avLst/>
          </a:prstGeom>
        </p:spPr>
        <p:txBody>
          <a:bodyPr wrap="square" lIns="91438" tIns="45719" rIns="91438" bIns="45719">
            <a:spAutoFit/>
          </a:bodyPr>
          <a:lstStyle>
            <a:defPPr>
              <a:defRPr lang="zh-CN"/>
            </a:defPPr>
            <a:lvl1pPr marL="342900" indent="-342900" algn="just">
              <a:lnSpc>
                <a:spcPct val="150000"/>
              </a:lnSpc>
              <a:spcBef>
                <a:spcPts val="670"/>
              </a:spcBef>
              <a:buFont typeface="Arial" panose="020B0604020202020204" pitchFamily="34" charset="0"/>
              <a:buChar char="•"/>
              <a:defRPr sz="2000" b="1">
                <a:latin typeface="Arial" panose="020B0604020202020204" pitchFamily="34" charset="0"/>
                <a:ea typeface="宋体" panose="02010600030101010101" pitchFamily="2" charset="-122"/>
                <a:cs typeface="Arial" panose="020B0604020202020204" pitchFamily="34" charset="0"/>
              </a:defRPr>
            </a:lvl1pPr>
          </a:lstStyle>
          <a:p>
            <a:r>
              <a:rPr lang="zh-CN" altLang="en-US"/>
              <a:t>质量块</a:t>
            </a:r>
            <a:r>
              <a:rPr lang="en-US" altLang="zh-CN"/>
              <a:t>2</a:t>
            </a:r>
            <a:r>
              <a:rPr lang="zh-CN" altLang="en-US"/>
              <a:t>由两片簧片</a:t>
            </a:r>
            <a:r>
              <a:rPr lang="en-US" altLang="zh-CN"/>
              <a:t>3</a:t>
            </a:r>
            <a:r>
              <a:rPr lang="zh-CN" altLang="en-US"/>
              <a:t>支撑，测量时，质量块的位移与被测加速度成正比，因此，</a:t>
            </a:r>
            <a:r>
              <a:rPr lang="zh-CN" altLang="en-US">
                <a:solidFill>
                  <a:srgbClr val="3333CC"/>
                </a:solidFill>
              </a:rPr>
              <a:t>将加速度的测量转变为位移的测量</a:t>
            </a:r>
            <a:r>
              <a:rPr lang="zh-CN" altLang="en-US"/>
              <a:t>。</a:t>
            </a:r>
          </a:p>
          <a:p>
            <a:r>
              <a:rPr lang="zh-CN" altLang="en-US"/>
              <a:t>质量块的材料是导磁的，所以它既是加速度计中的惯性元件，又是磁路中的磁性元件。</a:t>
            </a:r>
            <a:endParaRPr lang="en-001"/>
          </a:p>
        </p:txBody>
      </p:sp>
      <p:sp>
        <p:nvSpPr>
          <p:cNvPr id="9" name="Rectangle 2">
            <a:extLst>
              <a:ext uri="{FF2B5EF4-FFF2-40B4-BE49-F238E27FC236}">
                <a16:creationId xmlns:a16="http://schemas.microsoft.com/office/drawing/2014/main" id="{F9D90A50-DC36-4C65-B9B4-435DA494740A}"/>
              </a:ext>
            </a:extLst>
          </p:cNvPr>
          <p:cNvSpPr>
            <a:spLocks noChangeArrowheads="1"/>
          </p:cNvSpPr>
          <p:nvPr/>
        </p:nvSpPr>
        <p:spPr bwMode="auto">
          <a:xfrm>
            <a:off x="4479925" y="30480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4400">
              <a:solidFill>
                <a:schemeClr val="tx2"/>
              </a:solidFill>
            </a:endParaRPr>
          </a:p>
        </p:txBody>
      </p:sp>
      <p:sp>
        <p:nvSpPr>
          <p:cNvPr id="11" name="Text Box 9">
            <a:extLst>
              <a:ext uri="{FF2B5EF4-FFF2-40B4-BE49-F238E27FC236}">
                <a16:creationId xmlns:a16="http://schemas.microsoft.com/office/drawing/2014/main" id="{A28BA885-838E-4C46-9ED3-AA1087665A09}"/>
              </a:ext>
            </a:extLst>
          </p:cNvPr>
          <p:cNvSpPr txBox="1">
            <a:spLocks noChangeArrowheads="1"/>
          </p:cNvSpPr>
          <p:nvPr/>
        </p:nvSpPr>
        <p:spPr bwMode="auto">
          <a:xfrm>
            <a:off x="5266531" y="5142808"/>
            <a:ext cx="309641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spcBef>
                <a:spcPct val="50000"/>
              </a:spcBef>
            </a:pPr>
            <a:r>
              <a:rPr lang="zh-CN" altLang="en-US" b="1">
                <a:solidFill>
                  <a:srgbClr val="000099"/>
                </a:solidFill>
              </a:rPr>
              <a:t>图</a:t>
            </a:r>
            <a:r>
              <a:rPr lang="en-US" altLang="zh-CN" b="1">
                <a:solidFill>
                  <a:srgbClr val="000099"/>
                </a:solidFill>
              </a:rPr>
              <a:t>3-26  </a:t>
            </a:r>
            <a:r>
              <a:rPr lang="zh-CN" altLang="en-US" b="1">
                <a:solidFill>
                  <a:srgbClr val="000099"/>
                </a:solidFill>
              </a:rPr>
              <a:t>加速度传感器</a:t>
            </a:r>
          </a:p>
        </p:txBody>
      </p:sp>
      <p:graphicFrame>
        <p:nvGraphicFramePr>
          <p:cNvPr id="12" name="Object 28">
            <a:extLst>
              <a:ext uri="{FF2B5EF4-FFF2-40B4-BE49-F238E27FC236}">
                <a16:creationId xmlns:a16="http://schemas.microsoft.com/office/drawing/2014/main" id="{CDA3EF7D-4E1E-4046-A3C7-B61BF056D3C3}"/>
              </a:ext>
            </a:extLst>
          </p:cNvPr>
          <p:cNvGraphicFramePr>
            <a:graphicFrameLocks noChangeAspect="1"/>
          </p:cNvGraphicFramePr>
          <p:nvPr>
            <p:extLst>
              <p:ext uri="{D42A27DB-BD31-4B8C-83A1-F6EECF244321}">
                <p14:modId xmlns:p14="http://schemas.microsoft.com/office/powerpoint/2010/main" val="622245315"/>
              </p:ext>
            </p:extLst>
          </p:nvPr>
        </p:nvGraphicFramePr>
        <p:xfrm>
          <a:off x="4664075" y="1753292"/>
          <a:ext cx="4196439" cy="3021908"/>
        </p:xfrm>
        <a:graphic>
          <a:graphicData uri="http://schemas.openxmlformats.org/presentationml/2006/ole">
            <mc:AlternateContent xmlns:mc="http://schemas.openxmlformats.org/markup-compatibility/2006">
              <mc:Choice xmlns:v="urn:schemas-microsoft-com:vml" Requires="v">
                <p:oleObj name="Image" r:id="rId3" imgW="16173061" imgH="11647347" progId="Photoshop.Image.7">
                  <p:embed/>
                </p:oleObj>
              </mc:Choice>
              <mc:Fallback>
                <p:oleObj name="Image" r:id="rId3" imgW="16173061" imgH="11647347" progId="Photoshop.Image.7">
                  <p:embed/>
                  <p:pic>
                    <p:nvPicPr>
                      <p:cNvPr id="2076"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4075" y="1753292"/>
                        <a:ext cx="4196439" cy="3021908"/>
                      </a:xfrm>
                      <a:prstGeom prst="rect">
                        <a:avLst/>
                      </a:prstGeom>
                      <a:noFill/>
                      <a:ln>
                        <a:noFill/>
                      </a:ln>
                      <a:effectLst/>
                    </p:spPr>
                  </p:pic>
                </p:oleObj>
              </mc:Fallback>
            </mc:AlternateContent>
          </a:graphicData>
        </a:graphic>
      </p:graphicFrame>
      <p:sp>
        <p:nvSpPr>
          <p:cNvPr id="2" name="Slide Number Placeholder 1">
            <a:extLst>
              <a:ext uri="{FF2B5EF4-FFF2-40B4-BE49-F238E27FC236}">
                <a16:creationId xmlns:a16="http://schemas.microsoft.com/office/drawing/2014/main" id="{9C1802DE-DB78-465E-862F-BA1DD599FBC9}"/>
              </a:ext>
            </a:extLst>
          </p:cNvPr>
          <p:cNvSpPr>
            <a:spLocks noGrp="1"/>
          </p:cNvSpPr>
          <p:nvPr>
            <p:ph type="sldNum" sz="quarter" idx="12"/>
          </p:nvPr>
        </p:nvSpPr>
        <p:spPr/>
        <p:txBody>
          <a:bodyPr/>
          <a:lstStyle/>
          <a:p>
            <a:fld id="{B53602B4-F12B-41CD-B648-531F86B2CC91}" type="slidenum">
              <a:rPr lang="zh-CN" altLang="en-US" smtClean="0"/>
              <a:t>27</a:t>
            </a:fld>
            <a:endParaRPr lang="zh-CN" altLang="en-US"/>
          </a:p>
        </p:txBody>
      </p:sp>
    </p:spTree>
    <p:extLst>
      <p:ext uri="{BB962C8B-B14F-4D97-AF65-F5344CB8AC3E}">
        <p14:creationId xmlns:p14="http://schemas.microsoft.com/office/powerpoint/2010/main" val="296564224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3.2.5</a:t>
            </a:r>
          </a:p>
        </p:txBody>
      </p:sp>
      <p:sp>
        <p:nvSpPr>
          <p:cNvPr id="46" name="矩形 45"/>
          <p:cNvSpPr/>
          <p:nvPr/>
        </p:nvSpPr>
        <p:spPr>
          <a:xfrm>
            <a:off x="1960201" y="360001"/>
            <a:ext cx="543609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变压器式传感器的应用举例</a:t>
            </a:r>
          </a:p>
        </p:txBody>
      </p:sp>
      <p:sp>
        <p:nvSpPr>
          <p:cNvPr id="2" name="Slide Number Placeholder 1">
            <a:extLst>
              <a:ext uri="{FF2B5EF4-FFF2-40B4-BE49-F238E27FC236}">
                <a16:creationId xmlns:a16="http://schemas.microsoft.com/office/drawing/2014/main" id="{9C1802DE-DB78-465E-862F-BA1DD599FBC9}"/>
              </a:ext>
            </a:extLst>
          </p:cNvPr>
          <p:cNvSpPr>
            <a:spLocks noGrp="1"/>
          </p:cNvSpPr>
          <p:nvPr>
            <p:ph type="sldNum" sz="quarter" idx="12"/>
          </p:nvPr>
        </p:nvSpPr>
        <p:spPr/>
        <p:txBody>
          <a:bodyPr/>
          <a:lstStyle/>
          <a:p>
            <a:fld id="{B53602B4-F12B-41CD-B648-531F86B2CC91}" type="slidenum">
              <a:rPr lang="zh-CN" altLang="en-US" smtClean="0"/>
              <a:t>28</a:t>
            </a:fld>
            <a:endParaRPr lang="zh-CN" altLang="en-US"/>
          </a:p>
        </p:txBody>
      </p:sp>
      <p:pic>
        <p:nvPicPr>
          <p:cNvPr id="6" name="Picture 5">
            <a:extLst>
              <a:ext uri="{FF2B5EF4-FFF2-40B4-BE49-F238E27FC236}">
                <a16:creationId xmlns:a16="http://schemas.microsoft.com/office/drawing/2014/main" id="{A538EF6E-BB8B-439F-81CD-8DB31668F049}"/>
              </a:ext>
            </a:extLst>
          </p:cNvPr>
          <p:cNvPicPr>
            <a:picLocks noChangeAspect="1"/>
          </p:cNvPicPr>
          <p:nvPr/>
        </p:nvPicPr>
        <p:blipFill>
          <a:blip r:embed="rId3"/>
          <a:stretch>
            <a:fillRect/>
          </a:stretch>
        </p:blipFill>
        <p:spPr>
          <a:xfrm>
            <a:off x="619318" y="1726725"/>
            <a:ext cx="7543855" cy="3776690"/>
          </a:xfrm>
          <a:prstGeom prst="rect">
            <a:avLst/>
          </a:prstGeom>
        </p:spPr>
      </p:pic>
    </p:spTree>
    <p:extLst>
      <p:ext uri="{BB962C8B-B14F-4D97-AF65-F5344CB8AC3E}">
        <p14:creationId xmlns:p14="http://schemas.microsoft.com/office/powerpoint/2010/main" val="102359428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3.2.5</a:t>
            </a:r>
          </a:p>
        </p:txBody>
      </p:sp>
      <p:sp>
        <p:nvSpPr>
          <p:cNvPr id="46" name="矩形 45"/>
          <p:cNvSpPr/>
          <p:nvPr/>
        </p:nvSpPr>
        <p:spPr>
          <a:xfrm>
            <a:off x="1960201" y="360001"/>
            <a:ext cx="543609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变压器式传感器的应用举例</a:t>
            </a:r>
          </a:p>
        </p:txBody>
      </p:sp>
      <p:sp>
        <p:nvSpPr>
          <p:cNvPr id="2" name="Slide Number Placeholder 1">
            <a:extLst>
              <a:ext uri="{FF2B5EF4-FFF2-40B4-BE49-F238E27FC236}">
                <a16:creationId xmlns:a16="http://schemas.microsoft.com/office/drawing/2014/main" id="{9C1802DE-DB78-465E-862F-BA1DD599FBC9}"/>
              </a:ext>
            </a:extLst>
          </p:cNvPr>
          <p:cNvSpPr>
            <a:spLocks noGrp="1"/>
          </p:cNvSpPr>
          <p:nvPr>
            <p:ph type="sldNum" sz="quarter" idx="12"/>
          </p:nvPr>
        </p:nvSpPr>
        <p:spPr/>
        <p:txBody>
          <a:bodyPr/>
          <a:lstStyle/>
          <a:p>
            <a:fld id="{B53602B4-F12B-41CD-B648-531F86B2CC91}" type="slidenum">
              <a:rPr lang="zh-CN" altLang="en-US" smtClean="0"/>
              <a:t>29</a:t>
            </a:fld>
            <a:endParaRPr lang="zh-CN" altLang="en-US"/>
          </a:p>
        </p:txBody>
      </p:sp>
      <p:pic>
        <p:nvPicPr>
          <p:cNvPr id="4" name="Picture 3">
            <a:extLst>
              <a:ext uri="{FF2B5EF4-FFF2-40B4-BE49-F238E27FC236}">
                <a16:creationId xmlns:a16="http://schemas.microsoft.com/office/drawing/2014/main" id="{6321C13C-485A-44A4-8276-D1078D1A950E}"/>
              </a:ext>
            </a:extLst>
          </p:cNvPr>
          <p:cNvPicPr>
            <a:picLocks noChangeAspect="1"/>
          </p:cNvPicPr>
          <p:nvPr/>
        </p:nvPicPr>
        <p:blipFill>
          <a:blip r:embed="rId3"/>
          <a:stretch>
            <a:fillRect/>
          </a:stretch>
        </p:blipFill>
        <p:spPr>
          <a:xfrm>
            <a:off x="1759688" y="1437098"/>
            <a:ext cx="5488300" cy="4718527"/>
          </a:xfrm>
          <a:prstGeom prst="rect">
            <a:avLst/>
          </a:prstGeom>
        </p:spPr>
      </p:pic>
    </p:spTree>
    <p:extLst>
      <p:ext uri="{BB962C8B-B14F-4D97-AF65-F5344CB8AC3E}">
        <p14:creationId xmlns:p14="http://schemas.microsoft.com/office/powerpoint/2010/main" val="167635258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3.3</a:t>
            </a:r>
          </a:p>
        </p:txBody>
      </p:sp>
      <p:sp>
        <p:nvSpPr>
          <p:cNvPr id="46" name="矩形 45"/>
          <p:cNvSpPr/>
          <p:nvPr/>
        </p:nvSpPr>
        <p:spPr>
          <a:xfrm>
            <a:off x="1960200" y="360001"/>
            <a:ext cx="281037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涡流式传感器</a:t>
            </a:r>
          </a:p>
        </p:txBody>
      </p:sp>
      <p:sp>
        <p:nvSpPr>
          <p:cNvPr id="3" name="矩形 2"/>
          <p:cNvSpPr/>
          <p:nvPr/>
        </p:nvSpPr>
        <p:spPr>
          <a:xfrm>
            <a:off x="3365388" y="2493344"/>
            <a:ext cx="4216530" cy="2698237"/>
          </a:xfrm>
          <a:prstGeom prst="rect">
            <a:avLst/>
          </a:prstGeom>
        </p:spPr>
        <p:txBody>
          <a:bodyPr wrap="square" lIns="91438" tIns="45719" rIns="91438" bIns="45719">
            <a:spAutoFit/>
          </a:bodyPr>
          <a:lstStyle/>
          <a:p>
            <a:pPr>
              <a:lnSpc>
                <a:spcPct val="250000"/>
              </a:lnSpc>
            </a:pPr>
            <a:r>
              <a:rPr lang="zh-CN" altLang="en-US" sz="24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hlinkClick r:id="rId3" action="ppaction://hlinksldjump"/>
              </a:rPr>
              <a:t>工作原理</a:t>
            </a:r>
            <a:endParaRPr lang="zh-CN" altLang="en-US" sz="24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endParaRPr>
          </a:p>
          <a:p>
            <a:pPr>
              <a:lnSpc>
                <a:spcPct val="250000"/>
              </a:lnSpc>
            </a:pPr>
            <a:r>
              <a:rPr lang="zh-CN" altLang="en-US" sz="2400" b="1" dirty="0">
                <a:solidFill>
                  <a:schemeClr val="bg1">
                    <a:lumMod val="65000"/>
                  </a:schemeClr>
                </a:solidFill>
                <a:latin typeface="Arial" panose="020B0604020202020204" pitchFamily="34" charset="0"/>
                <a:ea typeface="宋体" panose="02010600030101010101" pitchFamily="2" charset="-122"/>
                <a:cs typeface="Arial" panose="020B0604020202020204" pitchFamily="34" charset="0"/>
                <a:sym typeface="+mn-ea"/>
                <a:hlinkClick r:id="rId4" action="ppaction://hlinksldjump">
                  <a:extLst>
                    <a:ext uri="{A12FA001-AC4F-418D-AE19-62706E023703}">
                      <ahyp:hlinkClr xmlns:ahyp="http://schemas.microsoft.com/office/drawing/2018/hyperlinkcolor" val="tx"/>
                    </a:ext>
                  </a:extLst>
                </a:hlinkClick>
              </a:rPr>
              <a:t>转换电路</a:t>
            </a:r>
            <a:endParaRPr lang="zh-CN" altLang="en-US" sz="2400" b="1" dirty="0">
              <a:solidFill>
                <a:schemeClr val="bg1">
                  <a:lumMod val="65000"/>
                </a:schemeClr>
              </a:solidFill>
              <a:latin typeface="Arial" panose="020B0604020202020204" pitchFamily="34" charset="0"/>
              <a:ea typeface="宋体" panose="02010600030101010101" pitchFamily="2" charset="-122"/>
              <a:cs typeface="Arial" panose="020B0604020202020204" pitchFamily="34" charset="0"/>
              <a:sym typeface="+mn-ea"/>
            </a:endParaRPr>
          </a:p>
          <a:p>
            <a:pPr>
              <a:lnSpc>
                <a:spcPct val="250000"/>
              </a:lnSpc>
            </a:pPr>
            <a:r>
              <a:rPr lang="zh-CN" altLang="en-US" sz="24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hlinkClick r:id="rId5" action="ppaction://hlinksldjump"/>
              </a:rPr>
              <a:t>涡流式传感器的特点及应用</a:t>
            </a:r>
            <a:endParaRPr lang="zh-CN" altLang="en-US" sz="24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endParaRPr>
          </a:p>
        </p:txBody>
      </p:sp>
      <p:sp>
        <p:nvSpPr>
          <p:cNvPr id="28" name="文本框 27"/>
          <p:cNvSpPr txBox="1"/>
          <p:nvPr/>
        </p:nvSpPr>
        <p:spPr>
          <a:xfrm>
            <a:off x="1506740" y="1406759"/>
            <a:ext cx="5832266" cy="461665"/>
          </a:xfrm>
          <a:prstGeom prst="rect">
            <a:avLst/>
          </a:prstGeom>
          <a:noFill/>
        </p:spPr>
        <p:txBody>
          <a:bodyPr wrap="square" rtlCol="0">
            <a:spAutoFit/>
          </a:bodyPr>
          <a:lstStyle/>
          <a:p>
            <a:pPr marL="1527175" indent="-1527175"/>
            <a:r>
              <a:rPr lang="zh-CN" altLang="en-US" sz="2400" b="1" dirty="0">
                <a:solidFill>
                  <a:srgbClr val="C00000"/>
                </a:solidFill>
                <a:latin typeface="宋体" panose="02010600030101010101" pitchFamily="2" charset="-122"/>
                <a:ea typeface="宋体" panose="02010600030101010101" pitchFamily="2" charset="-122"/>
              </a:rPr>
              <a:t>英文名称：</a:t>
            </a:r>
            <a:r>
              <a:rPr lang="en-US" altLang="zh-CN" sz="2400" b="1" dirty="0">
                <a:solidFill>
                  <a:srgbClr val="C00000"/>
                </a:solidFill>
                <a:latin typeface="宋体" panose="02010600030101010101" pitchFamily="2" charset="-122"/>
                <a:ea typeface="宋体" panose="02010600030101010101" pitchFamily="2" charset="-122"/>
              </a:rPr>
              <a:t>Eddy Current Sensor</a:t>
            </a:r>
            <a:endParaRPr lang="zh-CN" altLang="en-US" sz="2400" b="1" dirty="0">
              <a:solidFill>
                <a:srgbClr val="C00000"/>
              </a:solidFill>
              <a:latin typeface="宋体" panose="02010600030101010101" pitchFamily="2" charset="-122"/>
              <a:ea typeface="宋体" panose="02010600030101010101" pitchFamily="2" charset="-122"/>
            </a:endParaRPr>
          </a:p>
        </p:txBody>
      </p:sp>
      <p:sp>
        <p:nvSpPr>
          <p:cNvPr id="25" name="圆角矩形 72">
            <a:extLst>
              <a:ext uri="{FF2B5EF4-FFF2-40B4-BE49-F238E27FC236}">
                <a16:creationId xmlns:a16="http://schemas.microsoft.com/office/drawing/2014/main" id="{343D7C8A-72E9-4E11-82F9-04D1F37F1B07}"/>
              </a:ext>
            </a:extLst>
          </p:cNvPr>
          <p:cNvSpPr/>
          <p:nvPr/>
        </p:nvSpPr>
        <p:spPr>
          <a:xfrm rot="10800000" flipV="1">
            <a:off x="2224445" y="2837715"/>
            <a:ext cx="100228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3.3.1</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9" name="圆角矩形 73">
            <a:extLst>
              <a:ext uri="{FF2B5EF4-FFF2-40B4-BE49-F238E27FC236}">
                <a16:creationId xmlns:a16="http://schemas.microsoft.com/office/drawing/2014/main" id="{7997A031-0667-4F3B-9AA0-BAB02B443096}"/>
              </a:ext>
            </a:extLst>
          </p:cNvPr>
          <p:cNvSpPr/>
          <p:nvPr/>
        </p:nvSpPr>
        <p:spPr>
          <a:xfrm rot="10800000" flipV="1">
            <a:off x="2224441" y="3741432"/>
            <a:ext cx="1002285" cy="467244"/>
          </a:xfrm>
          <a:prstGeom prst="roundRect">
            <a:avLst>
              <a:gd name="adj" fmla="val 5039"/>
            </a:avLst>
          </a:prstGeom>
          <a:solidFill>
            <a:schemeClr val="bg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3.3.2</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30" name="圆角矩形 72">
            <a:extLst>
              <a:ext uri="{FF2B5EF4-FFF2-40B4-BE49-F238E27FC236}">
                <a16:creationId xmlns:a16="http://schemas.microsoft.com/office/drawing/2014/main" id="{343D7C8A-72E9-4E11-82F9-04D1F37F1B07}"/>
              </a:ext>
            </a:extLst>
          </p:cNvPr>
          <p:cNvSpPr/>
          <p:nvPr/>
        </p:nvSpPr>
        <p:spPr>
          <a:xfrm rot="10800000" flipV="1">
            <a:off x="2224445" y="4656543"/>
            <a:ext cx="100228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3.3.3</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 name="Slide Number Placeholder 1">
            <a:extLst>
              <a:ext uri="{FF2B5EF4-FFF2-40B4-BE49-F238E27FC236}">
                <a16:creationId xmlns:a16="http://schemas.microsoft.com/office/drawing/2014/main" id="{E861CF88-6C5B-4C2C-AF21-EF6757304B8F}"/>
              </a:ext>
            </a:extLst>
          </p:cNvPr>
          <p:cNvSpPr>
            <a:spLocks noGrp="1"/>
          </p:cNvSpPr>
          <p:nvPr>
            <p:ph type="sldNum" sz="quarter" idx="12"/>
          </p:nvPr>
        </p:nvSpPr>
        <p:spPr/>
        <p:txBody>
          <a:bodyPr/>
          <a:lstStyle/>
          <a:p>
            <a:fld id="{B53602B4-F12B-41CD-B648-531F86B2CC91}" type="slidenum">
              <a:rPr lang="zh-CN" altLang="en-US" smtClean="0"/>
              <a:t>30</a:t>
            </a:fld>
            <a:endParaRPr lang="zh-CN" altLang="en-US"/>
          </a:p>
        </p:txBody>
      </p:sp>
    </p:spTree>
    <p:extLst>
      <p:ext uri="{BB962C8B-B14F-4D97-AF65-F5344CB8AC3E}">
        <p14:creationId xmlns:p14="http://schemas.microsoft.com/office/powerpoint/2010/main" val="22510482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3.3.1</a:t>
            </a:r>
          </a:p>
        </p:txBody>
      </p:sp>
      <p:sp>
        <p:nvSpPr>
          <p:cNvPr id="46" name="矩形 45"/>
          <p:cNvSpPr/>
          <p:nvPr/>
        </p:nvSpPr>
        <p:spPr>
          <a:xfrm>
            <a:off x="1960200" y="360001"/>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工作原理</a:t>
            </a:r>
          </a:p>
        </p:txBody>
      </p:sp>
      <p:sp>
        <p:nvSpPr>
          <p:cNvPr id="25" name="Rectangle 3"/>
          <p:cNvSpPr>
            <a:spLocks noRot="1" noChangeArrowheads="1"/>
          </p:cNvSpPr>
          <p:nvPr/>
        </p:nvSpPr>
        <p:spPr bwMode="auto">
          <a:xfrm>
            <a:off x="185083" y="1520825"/>
            <a:ext cx="4571944"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lnSpc>
                <a:spcPct val="170000"/>
              </a:lnSpc>
              <a:spcBef>
                <a:spcPct val="20000"/>
              </a:spcBef>
              <a:buClr>
                <a:schemeClr val="folHlink"/>
              </a:buClr>
              <a:buFont typeface="Wingdings" panose="05000000000000000000" pitchFamily="2" charset="2"/>
              <a:buNone/>
            </a:pP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金属导体置于变化着的磁场中，导体内就会产生感应电流，称之为电涡流或涡流。这种现象称为</a:t>
            </a:r>
            <a:r>
              <a:rPr lang="zh-CN" altLang="en-US" sz="2400" b="1" dirty="0">
                <a:solidFill>
                  <a:srgbClr val="C00000"/>
                </a:solidFill>
                <a:latin typeface="宋体" panose="02010600030101010101" pitchFamily="2" charset="-122"/>
                <a:ea typeface="宋体" panose="02010600030101010101" pitchFamily="2" charset="-122"/>
              </a:rPr>
              <a:t>涡流效</a:t>
            </a:r>
            <a:r>
              <a:rPr lang="zh-CN" altLang="en-US" sz="2400" b="1">
                <a:solidFill>
                  <a:srgbClr val="C00000"/>
                </a:solidFill>
                <a:latin typeface="宋体" panose="02010600030101010101" pitchFamily="2" charset="-122"/>
                <a:ea typeface="宋体" panose="02010600030101010101" pitchFamily="2" charset="-122"/>
              </a:rPr>
              <a:t>应</a:t>
            </a:r>
            <a:r>
              <a:rPr lang="zh-CN" altLang="en-US" sz="2400" b="1">
                <a:latin typeface="宋体" panose="02010600030101010101" pitchFamily="2" charset="-122"/>
                <a:ea typeface="宋体" panose="02010600030101010101" pitchFamily="2" charset="-122"/>
              </a:rPr>
              <a:t>。涡</a:t>
            </a:r>
            <a:r>
              <a:rPr lang="zh-CN" altLang="en-US" sz="2400" b="1" dirty="0">
                <a:latin typeface="宋体" panose="02010600030101010101" pitchFamily="2" charset="-122"/>
                <a:ea typeface="宋体" panose="02010600030101010101" pitchFamily="2" charset="-122"/>
              </a:rPr>
              <a:t>流式传</a:t>
            </a:r>
            <a:r>
              <a:rPr lang="zh-CN" altLang="en-US" sz="2400" b="1">
                <a:latin typeface="宋体" panose="02010600030101010101" pitchFamily="2" charset="-122"/>
                <a:ea typeface="宋体" panose="02010600030101010101" pitchFamily="2" charset="-122"/>
              </a:rPr>
              <a:t>感器是基于涡</a:t>
            </a:r>
            <a:r>
              <a:rPr lang="zh-CN" altLang="en-US" sz="2400" b="1" dirty="0">
                <a:latin typeface="宋体" panose="02010600030101010101" pitchFamily="2" charset="-122"/>
                <a:ea typeface="宋体" panose="02010600030101010101" pitchFamily="2" charset="-122"/>
              </a:rPr>
              <a:t>流</a:t>
            </a:r>
            <a:r>
              <a:rPr lang="zh-CN" altLang="en-US" sz="2400" b="1">
                <a:latin typeface="宋体" panose="02010600030101010101" pitchFamily="2" charset="-122"/>
                <a:ea typeface="宋体" panose="02010600030101010101" pitchFamily="2" charset="-122"/>
              </a:rPr>
              <a:t>效应。</a:t>
            </a:r>
            <a:endParaRPr lang="zh-CN" altLang="en-US" sz="2400" b="1" dirty="0">
              <a:latin typeface="宋体" panose="02010600030101010101" pitchFamily="2" charset="-122"/>
              <a:ea typeface="宋体" panose="02010600030101010101" pitchFamily="2" charset="-122"/>
            </a:endParaRPr>
          </a:p>
        </p:txBody>
      </p:sp>
      <p:sp>
        <p:nvSpPr>
          <p:cNvPr id="10" name="Text Box 9">
            <a:extLst>
              <a:ext uri="{FF2B5EF4-FFF2-40B4-BE49-F238E27FC236}">
                <a16:creationId xmlns:a16="http://schemas.microsoft.com/office/drawing/2014/main" id="{67297594-3D1C-42C8-AB41-5CB386513AB8}"/>
              </a:ext>
            </a:extLst>
          </p:cNvPr>
          <p:cNvSpPr txBox="1">
            <a:spLocks noChangeArrowheads="1"/>
          </p:cNvSpPr>
          <p:nvPr/>
        </p:nvSpPr>
        <p:spPr bwMode="auto">
          <a:xfrm>
            <a:off x="5295900" y="3949790"/>
            <a:ext cx="321468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spcBef>
                <a:spcPct val="50000"/>
              </a:spcBef>
            </a:pPr>
            <a:r>
              <a:rPr lang="zh-CN" altLang="en-US" b="1">
                <a:solidFill>
                  <a:srgbClr val="000099"/>
                </a:solidFill>
              </a:rPr>
              <a:t>图</a:t>
            </a:r>
            <a:r>
              <a:rPr lang="en-US" altLang="zh-CN" b="1">
                <a:solidFill>
                  <a:srgbClr val="000099"/>
                </a:solidFill>
              </a:rPr>
              <a:t>3-27  </a:t>
            </a:r>
            <a:r>
              <a:rPr lang="zh-CN" altLang="en-US" b="1">
                <a:solidFill>
                  <a:srgbClr val="000099"/>
                </a:solidFill>
              </a:rPr>
              <a:t>涡流式传感器的基本原理图</a:t>
            </a:r>
          </a:p>
        </p:txBody>
      </p:sp>
      <p:pic>
        <p:nvPicPr>
          <p:cNvPr id="11" name="Picture 10">
            <a:extLst>
              <a:ext uri="{FF2B5EF4-FFF2-40B4-BE49-F238E27FC236}">
                <a16:creationId xmlns:a16="http://schemas.microsoft.com/office/drawing/2014/main" id="{4119485B-194F-41A2-86D2-12CFAA8EE7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8601" y="1303284"/>
            <a:ext cx="3953936" cy="2579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a:extLst>
              <a:ext uri="{FF2B5EF4-FFF2-40B4-BE49-F238E27FC236}">
                <a16:creationId xmlns:a16="http://schemas.microsoft.com/office/drawing/2014/main" id="{C1FE8A4B-AC2D-4725-810F-4E31C247BD08}"/>
              </a:ext>
            </a:extLst>
          </p:cNvPr>
          <p:cNvSpPr>
            <a:spLocks noGrp="1"/>
          </p:cNvSpPr>
          <p:nvPr>
            <p:ph type="sldNum" sz="quarter" idx="12"/>
          </p:nvPr>
        </p:nvSpPr>
        <p:spPr/>
        <p:txBody>
          <a:bodyPr/>
          <a:lstStyle/>
          <a:p>
            <a:fld id="{B53602B4-F12B-41CD-B648-531F86B2CC91}" type="slidenum">
              <a:rPr lang="zh-CN" altLang="en-US" smtClean="0"/>
              <a:t>31</a:t>
            </a:fld>
            <a:endParaRPr lang="zh-CN" altLang="en-US"/>
          </a:p>
        </p:txBody>
      </p:sp>
    </p:spTree>
    <p:extLst>
      <p:ext uri="{BB962C8B-B14F-4D97-AF65-F5344CB8AC3E}">
        <p14:creationId xmlns:p14="http://schemas.microsoft.com/office/powerpoint/2010/main" val="262227176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3.3.1</a:t>
            </a:r>
          </a:p>
        </p:txBody>
      </p:sp>
      <p:sp>
        <p:nvSpPr>
          <p:cNvPr id="46" name="矩形 45"/>
          <p:cNvSpPr/>
          <p:nvPr/>
        </p:nvSpPr>
        <p:spPr>
          <a:xfrm>
            <a:off x="1960200" y="360001"/>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工作原理</a:t>
            </a:r>
          </a:p>
        </p:txBody>
      </p:sp>
      <p:sp>
        <p:nvSpPr>
          <p:cNvPr id="8" name="Text Box 9">
            <a:extLst>
              <a:ext uri="{FF2B5EF4-FFF2-40B4-BE49-F238E27FC236}">
                <a16:creationId xmlns:a16="http://schemas.microsoft.com/office/drawing/2014/main" id="{7C8701A4-847D-41CA-9D1F-5BD950FC79EA}"/>
              </a:ext>
            </a:extLst>
          </p:cNvPr>
          <p:cNvSpPr txBox="1">
            <a:spLocks noChangeArrowheads="1"/>
          </p:cNvSpPr>
          <p:nvPr/>
        </p:nvSpPr>
        <p:spPr bwMode="auto">
          <a:xfrm>
            <a:off x="5295900" y="3949790"/>
            <a:ext cx="321468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spcBef>
                <a:spcPct val="50000"/>
              </a:spcBef>
            </a:pPr>
            <a:r>
              <a:rPr lang="zh-CN" altLang="en-US" b="1">
                <a:solidFill>
                  <a:srgbClr val="000099"/>
                </a:solidFill>
              </a:rPr>
              <a:t>图</a:t>
            </a:r>
            <a:r>
              <a:rPr lang="en-US" altLang="zh-CN" b="1">
                <a:solidFill>
                  <a:srgbClr val="000099"/>
                </a:solidFill>
              </a:rPr>
              <a:t>3-27  </a:t>
            </a:r>
            <a:r>
              <a:rPr lang="zh-CN" altLang="en-US" b="1">
                <a:solidFill>
                  <a:srgbClr val="000099"/>
                </a:solidFill>
              </a:rPr>
              <a:t>涡流式传感器的基本原理图</a:t>
            </a:r>
          </a:p>
        </p:txBody>
      </p:sp>
      <p:pic>
        <p:nvPicPr>
          <p:cNvPr id="9" name="Picture 10">
            <a:extLst>
              <a:ext uri="{FF2B5EF4-FFF2-40B4-BE49-F238E27FC236}">
                <a16:creationId xmlns:a16="http://schemas.microsoft.com/office/drawing/2014/main" id="{FC0718E7-8001-496A-8551-8325C8E5CD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8601" y="1303284"/>
            <a:ext cx="3953936" cy="2579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69B2FF8-E38B-4C37-A5F9-7EC7A5AB5A93}"/>
                  </a:ext>
                </a:extLst>
              </p:cNvPr>
              <p:cNvSpPr txBox="1"/>
              <p:nvPr/>
            </p:nvSpPr>
            <p:spPr>
              <a:xfrm>
                <a:off x="271463" y="1211905"/>
                <a:ext cx="4662487" cy="3830277"/>
              </a:xfrm>
              <a:prstGeom prst="rect">
                <a:avLst/>
              </a:prstGeom>
            </p:spPr>
            <p:txBody>
              <a:bodyPr wrap="square" lIns="91438" tIns="45719" rIns="91438" bIns="45719">
                <a:spAutoFit/>
              </a:bodyPr>
              <a:lstStyle>
                <a:defPPr>
                  <a:defRPr lang="zh-CN"/>
                </a:defPPr>
                <a:lvl1pPr marL="342900" indent="-342900" algn="just">
                  <a:lnSpc>
                    <a:spcPct val="150000"/>
                  </a:lnSpc>
                  <a:spcBef>
                    <a:spcPts val="670"/>
                  </a:spcBef>
                  <a:buFont typeface="Arial" panose="020B0604020202020204" pitchFamily="34" charset="0"/>
                  <a:buChar char="•"/>
                  <a:defRPr sz="2000" b="1">
                    <a:latin typeface="Arial" panose="020B0604020202020204" pitchFamily="34" charset="0"/>
                    <a:ea typeface="宋体" panose="02010600030101010101" pitchFamily="2" charset="-122"/>
                    <a:cs typeface="Arial" panose="020B0604020202020204" pitchFamily="34" charset="0"/>
                  </a:defRPr>
                </a:lvl1pPr>
              </a:lstStyle>
              <a:p>
                <a:r>
                  <a:rPr lang="en-001"/>
                  <a:t>一个通有</a:t>
                </a:r>
                <a:r>
                  <a:rPr lang="en-001">
                    <a:solidFill>
                      <a:srgbClr val="3333CC"/>
                    </a:solidFill>
                  </a:rPr>
                  <a:t>交变电流</a:t>
                </a:r>
                <a14:m>
                  <m:oMath xmlns:m="http://schemas.openxmlformats.org/officeDocument/2006/math">
                    <m:sSub>
                      <m:sSubPr>
                        <m:ctrlPr>
                          <a:rPr lang="en-001" i="1" smtClean="0">
                            <a:solidFill>
                              <a:srgbClr val="3333CC"/>
                            </a:solidFill>
                            <a:latin typeface="Cambria Math" panose="02040503050406030204" pitchFamily="18" charset="0"/>
                          </a:rPr>
                        </m:ctrlPr>
                      </m:sSubPr>
                      <m:e>
                        <m:acc>
                          <m:accPr>
                            <m:chr m:val="̇"/>
                            <m:ctrlPr>
                              <a:rPr lang="en-001" i="1" smtClean="0">
                                <a:solidFill>
                                  <a:srgbClr val="3333CC"/>
                                </a:solidFill>
                                <a:latin typeface="Cambria Math" panose="02040503050406030204" pitchFamily="18" charset="0"/>
                              </a:rPr>
                            </m:ctrlPr>
                          </m:accPr>
                          <m:e>
                            <m:r>
                              <a:rPr lang="en-001" i="1" smtClean="0">
                                <a:solidFill>
                                  <a:srgbClr val="3333CC"/>
                                </a:solidFill>
                                <a:latin typeface="Cambria Math" panose="02040503050406030204" pitchFamily="18" charset="0"/>
                              </a:rPr>
                              <m:t>𝐼</m:t>
                            </m:r>
                          </m:e>
                        </m:acc>
                      </m:e>
                      <m:sub>
                        <m:r>
                          <a:rPr lang="en-001" i="0" smtClean="0">
                            <a:solidFill>
                              <a:srgbClr val="3333CC"/>
                            </a:solidFill>
                            <a:latin typeface="Cambria Math" panose="02040503050406030204" pitchFamily="18" charset="0"/>
                          </a:rPr>
                          <m:t>1</m:t>
                        </m:r>
                      </m:sub>
                    </m:sSub>
                  </m:oMath>
                </a14:m>
                <a:r>
                  <a:rPr lang="en-001"/>
                  <a:t>的传感器线圈，由于电流的变化，在线圈周围就产生一个</a:t>
                </a:r>
                <a:r>
                  <a:rPr lang="en-001">
                    <a:solidFill>
                      <a:srgbClr val="3333CC"/>
                    </a:solidFill>
                  </a:rPr>
                  <a:t>交变磁场H1</a:t>
                </a:r>
                <a:endParaRPr lang="en-US"/>
              </a:p>
              <a:p>
                <a:r>
                  <a:rPr lang="en-001"/>
                  <a:t>当被测金属置于该磁场范围内，金属导体内便产生涡流，</a:t>
                </a:r>
                <a:r>
                  <a:rPr lang="en-001">
                    <a:solidFill>
                      <a:srgbClr val="3333CC"/>
                    </a:solidFill>
                  </a:rPr>
                  <a:t>涡流也将产生一个新磁场H2</a:t>
                </a:r>
                <a:r>
                  <a:rPr lang="en-001"/>
                  <a:t>，H2</a:t>
                </a:r>
                <a:r>
                  <a:rPr lang="en-001">
                    <a:solidFill>
                      <a:srgbClr val="3333CC"/>
                    </a:solidFill>
                  </a:rPr>
                  <a:t>与H1方向相反</a:t>
                </a:r>
                <a:r>
                  <a:rPr lang="en-001"/>
                  <a:t>，因而抵消部分原磁场，从而导致线圈的电感量、阻抗和品质因数发生变化。</a:t>
                </a:r>
              </a:p>
            </p:txBody>
          </p:sp>
        </mc:Choice>
        <mc:Fallback xmlns="">
          <p:sp>
            <p:nvSpPr>
              <p:cNvPr id="10" name="TextBox 9">
                <a:extLst>
                  <a:ext uri="{FF2B5EF4-FFF2-40B4-BE49-F238E27FC236}">
                    <a16:creationId xmlns:a16="http://schemas.microsoft.com/office/drawing/2014/main" id="{E69B2FF8-E38B-4C37-A5F9-7EC7A5AB5A93}"/>
                  </a:ext>
                </a:extLst>
              </p:cNvPr>
              <p:cNvSpPr txBox="1">
                <a:spLocks noRot="1" noChangeAspect="1" noMove="1" noResize="1" noEditPoints="1" noAdjustHandles="1" noChangeArrowheads="1" noChangeShapeType="1" noTextEdit="1"/>
              </p:cNvSpPr>
              <p:nvPr/>
            </p:nvSpPr>
            <p:spPr>
              <a:xfrm>
                <a:off x="271463" y="1211905"/>
                <a:ext cx="4662487" cy="3830277"/>
              </a:xfrm>
              <a:prstGeom prst="rect">
                <a:avLst/>
              </a:prstGeom>
              <a:blipFill>
                <a:blip r:embed="rId4"/>
                <a:stretch>
                  <a:fillRect l="-1178" r="-1440" b="-1592"/>
                </a:stretch>
              </a:blipFill>
            </p:spPr>
            <p:txBody>
              <a:bodyPr/>
              <a:lstStyle/>
              <a:p>
                <a:r>
                  <a:rPr lang="en-001">
                    <a:noFill/>
                  </a:rPr>
                  <a:t> </a:t>
                </a:r>
              </a:p>
            </p:txBody>
          </p:sp>
        </mc:Fallback>
      </mc:AlternateContent>
      <p:sp>
        <p:nvSpPr>
          <p:cNvPr id="11" name="TextBox 10">
            <a:extLst>
              <a:ext uri="{FF2B5EF4-FFF2-40B4-BE49-F238E27FC236}">
                <a16:creationId xmlns:a16="http://schemas.microsoft.com/office/drawing/2014/main" id="{E63B6FC3-E4BF-409C-B58C-9E486FDC6D60}"/>
              </a:ext>
            </a:extLst>
          </p:cNvPr>
          <p:cNvSpPr txBox="1"/>
          <p:nvPr/>
        </p:nvSpPr>
        <p:spPr>
          <a:xfrm>
            <a:off x="288925" y="5071108"/>
            <a:ext cx="4645025" cy="1417566"/>
          </a:xfrm>
          <a:prstGeom prst="rect">
            <a:avLst/>
          </a:prstGeom>
        </p:spPr>
        <p:txBody>
          <a:bodyPr wrap="square" lIns="91438" tIns="45719" rIns="91438" bIns="45719">
            <a:spAutoFit/>
          </a:bodyPr>
          <a:lstStyle>
            <a:defPPr>
              <a:defRPr lang="zh-CN"/>
            </a:defPPr>
            <a:lvl1pPr marL="342900" indent="-342900" algn="just">
              <a:lnSpc>
                <a:spcPct val="150000"/>
              </a:lnSpc>
              <a:spcBef>
                <a:spcPts val="670"/>
              </a:spcBef>
              <a:buFont typeface="Arial" panose="020B0604020202020204" pitchFamily="34" charset="0"/>
              <a:buChar char="•"/>
              <a:defRPr sz="2000" b="1">
                <a:latin typeface="Arial" panose="020B0604020202020204" pitchFamily="34" charset="0"/>
                <a:ea typeface="宋体" panose="02010600030101010101" pitchFamily="2" charset="-122"/>
                <a:cs typeface="Arial" panose="020B0604020202020204" pitchFamily="34" charset="0"/>
              </a:defRPr>
            </a:lvl1pPr>
          </a:lstStyle>
          <a:p>
            <a:r>
              <a:rPr lang="en-001"/>
              <a:t>线圈与金属导体之间存在磁性联系。若把导体形象地看作一个短路线圈</a:t>
            </a:r>
            <a:r>
              <a:rPr lang="zh-CN" altLang="en-US"/>
              <a:t>，</a:t>
            </a:r>
            <a:r>
              <a:rPr lang="en-001"/>
              <a:t>根据基尔霍夫定律，列出电路方程组</a:t>
            </a:r>
          </a:p>
        </p:txBody>
      </p:sp>
      <p:pic>
        <p:nvPicPr>
          <p:cNvPr id="4" name="Picture 3">
            <a:extLst>
              <a:ext uri="{FF2B5EF4-FFF2-40B4-BE49-F238E27FC236}">
                <a16:creationId xmlns:a16="http://schemas.microsoft.com/office/drawing/2014/main" id="{C7FA3DE8-F0B9-41E1-AB92-CE50941AED29}"/>
              </a:ext>
            </a:extLst>
          </p:cNvPr>
          <p:cNvPicPr>
            <a:picLocks noChangeAspect="1"/>
          </p:cNvPicPr>
          <p:nvPr/>
        </p:nvPicPr>
        <p:blipFill>
          <a:blip r:embed="rId5"/>
          <a:stretch>
            <a:fillRect/>
          </a:stretch>
        </p:blipFill>
        <p:spPr>
          <a:xfrm>
            <a:off x="4933950" y="5288057"/>
            <a:ext cx="3966332" cy="896962"/>
          </a:xfrm>
          <a:prstGeom prst="rect">
            <a:avLst/>
          </a:prstGeom>
        </p:spPr>
      </p:pic>
      <p:sp>
        <p:nvSpPr>
          <p:cNvPr id="5" name="Slide Number Placeholder 4">
            <a:extLst>
              <a:ext uri="{FF2B5EF4-FFF2-40B4-BE49-F238E27FC236}">
                <a16:creationId xmlns:a16="http://schemas.microsoft.com/office/drawing/2014/main" id="{9DA88471-6369-4698-9792-C66098179C43}"/>
              </a:ext>
            </a:extLst>
          </p:cNvPr>
          <p:cNvSpPr>
            <a:spLocks noGrp="1"/>
          </p:cNvSpPr>
          <p:nvPr>
            <p:ph type="sldNum" sz="quarter" idx="12"/>
          </p:nvPr>
        </p:nvSpPr>
        <p:spPr/>
        <p:txBody>
          <a:bodyPr/>
          <a:lstStyle/>
          <a:p>
            <a:fld id="{B53602B4-F12B-41CD-B648-531F86B2CC91}" type="slidenum">
              <a:rPr lang="zh-CN" altLang="en-US" smtClean="0"/>
              <a:t>32</a:t>
            </a:fld>
            <a:endParaRPr lang="zh-CN" altLang="en-US"/>
          </a:p>
        </p:txBody>
      </p:sp>
    </p:spTree>
    <p:extLst>
      <p:ext uri="{BB962C8B-B14F-4D97-AF65-F5344CB8AC3E}">
        <p14:creationId xmlns:p14="http://schemas.microsoft.com/office/powerpoint/2010/main" val="59692092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3.3.1</a:t>
            </a:r>
          </a:p>
        </p:txBody>
      </p:sp>
      <p:sp>
        <p:nvSpPr>
          <p:cNvPr id="46" name="矩形 45"/>
          <p:cNvSpPr/>
          <p:nvPr/>
        </p:nvSpPr>
        <p:spPr>
          <a:xfrm>
            <a:off x="1960200" y="360001"/>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工作原理</a:t>
            </a:r>
          </a:p>
        </p:txBody>
      </p:sp>
      <p:sp>
        <p:nvSpPr>
          <p:cNvPr id="8" name="Text Box 9">
            <a:extLst>
              <a:ext uri="{FF2B5EF4-FFF2-40B4-BE49-F238E27FC236}">
                <a16:creationId xmlns:a16="http://schemas.microsoft.com/office/drawing/2014/main" id="{7C8701A4-847D-41CA-9D1F-5BD950FC79EA}"/>
              </a:ext>
            </a:extLst>
          </p:cNvPr>
          <p:cNvSpPr txBox="1">
            <a:spLocks noChangeArrowheads="1"/>
          </p:cNvSpPr>
          <p:nvPr/>
        </p:nvSpPr>
        <p:spPr bwMode="auto">
          <a:xfrm>
            <a:off x="5295900" y="3949790"/>
            <a:ext cx="321468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spcBef>
                <a:spcPct val="50000"/>
              </a:spcBef>
            </a:pPr>
            <a:r>
              <a:rPr lang="zh-CN" altLang="en-US" b="1">
                <a:solidFill>
                  <a:srgbClr val="000099"/>
                </a:solidFill>
              </a:rPr>
              <a:t>图</a:t>
            </a:r>
            <a:r>
              <a:rPr lang="en-US" altLang="zh-CN" b="1">
                <a:solidFill>
                  <a:srgbClr val="000099"/>
                </a:solidFill>
              </a:rPr>
              <a:t>3-27  </a:t>
            </a:r>
            <a:r>
              <a:rPr lang="zh-CN" altLang="en-US" b="1">
                <a:solidFill>
                  <a:srgbClr val="000099"/>
                </a:solidFill>
              </a:rPr>
              <a:t>涡流式传感器的基本原理图</a:t>
            </a:r>
          </a:p>
        </p:txBody>
      </p:sp>
      <p:pic>
        <p:nvPicPr>
          <p:cNvPr id="9" name="Picture 10">
            <a:extLst>
              <a:ext uri="{FF2B5EF4-FFF2-40B4-BE49-F238E27FC236}">
                <a16:creationId xmlns:a16="http://schemas.microsoft.com/office/drawing/2014/main" id="{FC0718E7-8001-496A-8551-8325C8E5CD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8601" y="1303284"/>
            <a:ext cx="3953936" cy="2579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a:extLst>
              <a:ext uri="{FF2B5EF4-FFF2-40B4-BE49-F238E27FC236}">
                <a16:creationId xmlns:a16="http://schemas.microsoft.com/office/drawing/2014/main" id="{69AEA947-72F6-49AB-BCAC-15A3183406FD}"/>
              </a:ext>
            </a:extLst>
          </p:cNvPr>
          <p:cNvSpPr txBox="1"/>
          <p:nvPr/>
        </p:nvSpPr>
        <p:spPr>
          <a:xfrm>
            <a:off x="271463" y="1782240"/>
            <a:ext cx="4647138" cy="3905426"/>
          </a:xfrm>
          <a:prstGeom prst="rect">
            <a:avLst/>
          </a:prstGeom>
        </p:spPr>
        <p:txBody>
          <a:bodyPr wrap="square" lIns="91438" tIns="45719" rIns="91438" bIns="45719">
            <a:spAutoFit/>
          </a:bodyPr>
          <a:lstStyle>
            <a:defPPr>
              <a:defRPr lang="zh-CN"/>
            </a:defPPr>
            <a:lvl1pPr marL="342900" indent="-342900" algn="just">
              <a:lnSpc>
                <a:spcPct val="150000"/>
              </a:lnSpc>
              <a:spcBef>
                <a:spcPts val="670"/>
              </a:spcBef>
              <a:buFont typeface="Arial" panose="020B0604020202020204" pitchFamily="34" charset="0"/>
              <a:buChar char="•"/>
              <a:defRPr sz="2000" b="1">
                <a:latin typeface="Arial" panose="020B0604020202020204" pitchFamily="34" charset="0"/>
                <a:ea typeface="宋体" panose="02010600030101010101" pitchFamily="2" charset="-122"/>
                <a:cs typeface="Arial" panose="020B0604020202020204" pitchFamily="34" charset="0"/>
              </a:defRPr>
            </a:lvl1pPr>
          </a:lstStyle>
          <a:p>
            <a:r>
              <a:rPr lang="zh-CN" altLang="en-US"/>
              <a:t>解方程组，可得等效阻抗（等效电阻、等效电感）、线圈的品质系数</a:t>
            </a:r>
            <a:endParaRPr lang="en-US"/>
          </a:p>
          <a:p>
            <a:r>
              <a:rPr lang="en-001"/>
              <a:t>被测参数变化，既能引起线圈阻抗Z变化，也能引起线圈电感L和线圈品质因数Q值变化</a:t>
            </a:r>
            <a:endParaRPr lang="en-US"/>
          </a:p>
          <a:p>
            <a:r>
              <a:rPr lang="en-001"/>
              <a:t>涡流式传感器所用的转换电路可以选用Z、L、Q中的任一个参数，并将其转换成电量，即可达到测量的目的。</a:t>
            </a:r>
          </a:p>
        </p:txBody>
      </p:sp>
      <p:pic>
        <p:nvPicPr>
          <p:cNvPr id="13" name="Picture 12">
            <a:extLst>
              <a:ext uri="{FF2B5EF4-FFF2-40B4-BE49-F238E27FC236}">
                <a16:creationId xmlns:a16="http://schemas.microsoft.com/office/drawing/2014/main" id="{8831E292-832D-40D4-BF22-E1E4F84E4698}"/>
              </a:ext>
            </a:extLst>
          </p:cNvPr>
          <p:cNvPicPr>
            <a:picLocks noChangeAspect="1"/>
          </p:cNvPicPr>
          <p:nvPr/>
        </p:nvPicPr>
        <p:blipFill>
          <a:blip r:embed="rId4"/>
          <a:stretch>
            <a:fillRect/>
          </a:stretch>
        </p:blipFill>
        <p:spPr>
          <a:xfrm>
            <a:off x="4933950" y="5288057"/>
            <a:ext cx="3966332" cy="896962"/>
          </a:xfrm>
          <a:prstGeom prst="rect">
            <a:avLst/>
          </a:prstGeom>
        </p:spPr>
      </p:pic>
      <p:sp>
        <p:nvSpPr>
          <p:cNvPr id="3" name="Slide Number Placeholder 2">
            <a:extLst>
              <a:ext uri="{FF2B5EF4-FFF2-40B4-BE49-F238E27FC236}">
                <a16:creationId xmlns:a16="http://schemas.microsoft.com/office/drawing/2014/main" id="{0B377608-946F-4954-AB9F-C01676A9459B}"/>
              </a:ext>
            </a:extLst>
          </p:cNvPr>
          <p:cNvSpPr>
            <a:spLocks noGrp="1"/>
          </p:cNvSpPr>
          <p:nvPr>
            <p:ph type="sldNum" sz="quarter" idx="12"/>
          </p:nvPr>
        </p:nvSpPr>
        <p:spPr/>
        <p:txBody>
          <a:bodyPr/>
          <a:lstStyle/>
          <a:p>
            <a:fld id="{B53602B4-F12B-41CD-B648-531F86B2CC91}" type="slidenum">
              <a:rPr lang="zh-CN" altLang="en-US" smtClean="0"/>
              <a:t>33</a:t>
            </a:fld>
            <a:endParaRPr lang="zh-CN" altLang="en-US"/>
          </a:p>
        </p:txBody>
      </p:sp>
    </p:spTree>
    <p:extLst>
      <p:ext uri="{BB962C8B-B14F-4D97-AF65-F5344CB8AC3E}">
        <p14:creationId xmlns:p14="http://schemas.microsoft.com/office/powerpoint/2010/main" val="193112852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3.3.1</a:t>
            </a:r>
          </a:p>
        </p:txBody>
      </p:sp>
      <p:sp>
        <p:nvSpPr>
          <p:cNvPr id="46" name="矩形 45"/>
          <p:cNvSpPr/>
          <p:nvPr/>
        </p:nvSpPr>
        <p:spPr>
          <a:xfrm>
            <a:off x="1960200" y="360001"/>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工作原理</a:t>
            </a:r>
          </a:p>
        </p:txBody>
      </p:sp>
      <p:sp>
        <p:nvSpPr>
          <p:cNvPr id="8" name="Text Box 9">
            <a:extLst>
              <a:ext uri="{FF2B5EF4-FFF2-40B4-BE49-F238E27FC236}">
                <a16:creationId xmlns:a16="http://schemas.microsoft.com/office/drawing/2014/main" id="{7C8701A4-847D-41CA-9D1F-5BD950FC79EA}"/>
              </a:ext>
            </a:extLst>
          </p:cNvPr>
          <p:cNvSpPr txBox="1">
            <a:spLocks noChangeArrowheads="1"/>
          </p:cNvSpPr>
          <p:nvPr/>
        </p:nvSpPr>
        <p:spPr bwMode="auto">
          <a:xfrm>
            <a:off x="5295900" y="3949790"/>
            <a:ext cx="321468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spcBef>
                <a:spcPct val="50000"/>
              </a:spcBef>
            </a:pPr>
            <a:r>
              <a:rPr lang="zh-CN" altLang="en-US" b="1">
                <a:solidFill>
                  <a:srgbClr val="000099"/>
                </a:solidFill>
              </a:rPr>
              <a:t>图</a:t>
            </a:r>
            <a:r>
              <a:rPr lang="en-US" altLang="zh-CN" b="1">
                <a:solidFill>
                  <a:srgbClr val="000099"/>
                </a:solidFill>
              </a:rPr>
              <a:t>3-27  </a:t>
            </a:r>
            <a:r>
              <a:rPr lang="zh-CN" altLang="en-US" b="1">
                <a:solidFill>
                  <a:srgbClr val="000099"/>
                </a:solidFill>
              </a:rPr>
              <a:t>涡流式传感器的基本原理图</a:t>
            </a:r>
          </a:p>
        </p:txBody>
      </p:sp>
      <p:pic>
        <p:nvPicPr>
          <p:cNvPr id="9" name="Picture 10">
            <a:extLst>
              <a:ext uri="{FF2B5EF4-FFF2-40B4-BE49-F238E27FC236}">
                <a16:creationId xmlns:a16="http://schemas.microsoft.com/office/drawing/2014/main" id="{FC0718E7-8001-496A-8551-8325C8E5CD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8601" y="1303284"/>
            <a:ext cx="3953936" cy="2579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a:extLst>
              <a:ext uri="{FF2B5EF4-FFF2-40B4-BE49-F238E27FC236}">
                <a16:creationId xmlns:a16="http://schemas.microsoft.com/office/drawing/2014/main" id="{00F94956-C0F1-44FA-B05D-4AAED7B495C5}"/>
              </a:ext>
            </a:extLst>
          </p:cNvPr>
          <p:cNvSpPr txBox="1"/>
          <p:nvPr/>
        </p:nvSpPr>
        <p:spPr>
          <a:xfrm>
            <a:off x="465930" y="1303284"/>
            <a:ext cx="3617120" cy="1417566"/>
          </a:xfrm>
          <a:prstGeom prst="rect">
            <a:avLst/>
          </a:prstGeom>
        </p:spPr>
        <p:txBody>
          <a:bodyPr wrap="square" lIns="91438" tIns="45719" rIns="91438" bIns="45719">
            <a:spAutoFit/>
          </a:bodyPr>
          <a:lstStyle>
            <a:defPPr>
              <a:defRPr lang="zh-CN"/>
            </a:defPPr>
            <a:lvl1pPr marL="342900" indent="-342900" algn="just">
              <a:lnSpc>
                <a:spcPct val="150000"/>
              </a:lnSpc>
              <a:spcBef>
                <a:spcPts val="670"/>
              </a:spcBef>
              <a:buFont typeface="Arial" panose="020B0604020202020204" pitchFamily="34" charset="0"/>
              <a:buChar char="•"/>
              <a:defRPr sz="2000" b="1">
                <a:latin typeface="Arial" panose="020B0604020202020204" pitchFamily="34" charset="0"/>
                <a:ea typeface="宋体" panose="02010600030101010101" pitchFamily="2" charset="-122"/>
                <a:cs typeface="Arial" panose="020B0604020202020204" pitchFamily="34" charset="0"/>
              </a:defRPr>
            </a:lvl1pPr>
          </a:lstStyle>
          <a:p>
            <a:r>
              <a:rPr lang="zh-CN" altLang="en-US"/>
              <a:t>线圈阻抗是电阻率、磁导率、线圈与金属导体的距离、及激励电流角频率的函数：</a:t>
            </a:r>
            <a:endParaRPr lang="en-001"/>
          </a:p>
        </p:txBody>
      </p:sp>
      <p:sp>
        <p:nvSpPr>
          <p:cNvPr id="14" name="TextBox 13">
            <a:extLst>
              <a:ext uri="{FF2B5EF4-FFF2-40B4-BE49-F238E27FC236}">
                <a16:creationId xmlns:a16="http://schemas.microsoft.com/office/drawing/2014/main" id="{30BB7F8D-7C50-49EE-8925-6B5E2600A789}"/>
              </a:ext>
            </a:extLst>
          </p:cNvPr>
          <p:cNvSpPr txBox="1"/>
          <p:nvPr/>
        </p:nvSpPr>
        <p:spPr>
          <a:xfrm>
            <a:off x="465930" y="3508984"/>
            <a:ext cx="4632850" cy="2892328"/>
          </a:xfrm>
          <a:prstGeom prst="rect">
            <a:avLst/>
          </a:prstGeom>
        </p:spPr>
        <p:txBody>
          <a:bodyPr wrap="square" lIns="91438" tIns="45719" rIns="91438" bIns="45719">
            <a:spAutoFit/>
          </a:bodyPr>
          <a:lstStyle>
            <a:defPPr>
              <a:defRPr lang="zh-CN"/>
            </a:defPPr>
            <a:lvl1pPr marL="342900" indent="-342900" algn="just">
              <a:lnSpc>
                <a:spcPct val="150000"/>
              </a:lnSpc>
              <a:spcBef>
                <a:spcPts val="670"/>
              </a:spcBef>
              <a:buFont typeface="Arial" panose="020B0604020202020204" pitchFamily="34" charset="0"/>
              <a:buChar char="•"/>
              <a:defRPr sz="2000" b="1">
                <a:latin typeface="Arial" panose="020B0604020202020204" pitchFamily="34" charset="0"/>
                <a:ea typeface="宋体" panose="02010600030101010101" pitchFamily="2" charset="-122"/>
                <a:cs typeface="Arial" panose="020B0604020202020204" pitchFamily="34" charset="0"/>
              </a:defRPr>
            </a:lvl1pPr>
          </a:lstStyle>
          <a:p>
            <a:r>
              <a:rPr lang="en-001"/>
              <a:t>若能控制其中大部分参数恒定不变，只改变其中一个参数，这样阻抗就能成为这个参数的</a:t>
            </a:r>
            <a:r>
              <a:rPr lang="zh-CN" altLang="en-US"/>
              <a:t>单值</a:t>
            </a:r>
            <a:r>
              <a:rPr lang="en-001"/>
              <a:t>函数。</a:t>
            </a:r>
            <a:endParaRPr lang="en-US"/>
          </a:p>
          <a:p>
            <a:r>
              <a:rPr lang="zh-CN" altLang="en-US"/>
              <a:t>如</a:t>
            </a:r>
            <a:r>
              <a:rPr lang="en-001"/>
              <a:t>被测材料不变，激励电流的角频率不变，则阻抗Z就成为距离x的单值函数，便可制成涡流位移传感器。</a:t>
            </a:r>
          </a:p>
        </p:txBody>
      </p:sp>
      <p:graphicFrame>
        <p:nvGraphicFramePr>
          <p:cNvPr id="4" name="Object 3">
            <a:extLst>
              <a:ext uri="{FF2B5EF4-FFF2-40B4-BE49-F238E27FC236}">
                <a16:creationId xmlns:a16="http://schemas.microsoft.com/office/drawing/2014/main" id="{842A49DC-7847-420B-A8B8-2903AC9E660D}"/>
              </a:ext>
            </a:extLst>
          </p:cNvPr>
          <p:cNvGraphicFramePr>
            <a:graphicFrameLocks noChangeAspect="1"/>
          </p:cNvGraphicFramePr>
          <p:nvPr>
            <p:extLst>
              <p:ext uri="{D42A27DB-BD31-4B8C-83A1-F6EECF244321}">
                <p14:modId xmlns:p14="http://schemas.microsoft.com/office/powerpoint/2010/main" val="3761734837"/>
              </p:ext>
            </p:extLst>
          </p:nvPr>
        </p:nvGraphicFramePr>
        <p:xfrm>
          <a:off x="909822" y="2771416"/>
          <a:ext cx="3042666" cy="634499"/>
        </p:xfrm>
        <a:graphic>
          <a:graphicData uri="http://schemas.openxmlformats.org/presentationml/2006/ole">
            <mc:AlternateContent xmlns:mc="http://schemas.openxmlformats.org/markup-compatibility/2006">
              <mc:Choice xmlns:v="urn:schemas-microsoft-com:vml" Requires="v">
                <p:oleObj name="Equation" r:id="rId4" imgW="4613384" imgH="961955" progId="Equation.DSMT4">
                  <p:embed/>
                </p:oleObj>
              </mc:Choice>
              <mc:Fallback>
                <p:oleObj name="Equation" r:id="rId4" imgW="4613384" imgH="961955" progId="Equation.DSMT4">
                  <p:embed/>
                  <p:pic>
                    <p:nvPicPr>
                      <p:cNvPr id="0" name=""/>
                      <p:cNvPicPr/>
                      <p:nvPr/>
                    </p:nvPicPr>
                    <p:blipFill>
                      <a:blip r:embed="rId5"/>
                      <a:stretch>
                        <a:fillRect/>
                      </a:stretch>
                    </p:blipFill>
                    <p:spPr>
                      <a:xfrm>
                        <a:off x="909822" y="2771416"/>
                        <a:ext cx="3042666" cy="634499"/>
                      </a:xfrm>
                      <a:prstGeom prst="rect">
                        <a:avLst/>
                      </a:prstGeom>
                    </p:spPr>
                  </p:pic>
                </p:oleObj>
              </mc:Fallback>
            </mc:AlternateContent>
          </a:graphicData>
        </a:graphic>
      </p:graphicFrame>
      <p:sp>
        <p:nvSpPr>
          <p:cNvPr id="5" name="Slide Number Placeholder 4">
            <a:extLst>
              <a:ext uri="{FF2B5EF4-FFF2-40B4-BE49-F238E27FC236}">
                <a16:creationId xmlns:a16="http://schemas.microsoft.com/office/drawing/2014/main" id="{C50B53D6-16B1-4130-A8E9-5B592BA468A2}"/>
              </a:ext>
            </a:extLst>
          </p:cNvPr>
          <p:cNvSpPr>
            <a:spLocks noGrp="1"/>
          </p:cNvSpPr>
          <p:nvPr>
            <p:ph type="sldNum" sz="quarter" idx="12"/>
          </p:nvPr>
        </p:nvSpPr>
        <p:spPr/>
        <p:txBody>
          <a:bodyPr/>
          <a:lstStyle/>
          <a:p>
            <a:fld id="{B53602B4-F12B-41CD-B648-531F86B2CC91}" type="slidenum">
              <a:rPr lang="zh-CN" altLang="en-US" smtClean="0"/>
              <a:t>34</a:t>
            </a:fld>
            <a:endParaRPr lang="zh-CN" altLang="en-US"/>
          </a:p>
        </p:txBody>
      </p:sp>
    </p:spTree>
    <p:extLst>
      <p:ext uri="{BB962C8B-B14F-4D97-AF65-F5344CB8AC3E}">
        <p14:creationId xmlns:p14="http://schemas.microsoft.com/office/powerpoint/2010/main" val="169309426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3.3.3</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1" y="360001"/>
            <a:ext cx="543609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涡流式传感器的特性及应用</a:t>
            </a:r>
          </a:p>
        </p:txBody>
      </p:sp>
      <p:sp>
        <p:nvSpPr>
          <p:cNvPr id="20" name="Rectangle 3"/>
          <p:cNvSpPr>
            <a:spLocks noRot="1" noChangeArrowheads="1"/>
          </p:cNvSpPr>
          <p:nvPr/>
        </p:nvSpPr>
        <p:spPr bwMode="auto">
          <a:xfrm>
            <a:off x="1233712" y="1289224"/>
            <a:ext cx="6889072" cy="1852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lnSpc>
                <a:spcPct val="150000"/>
              </a:lnSpc>
              <a:spcBef>
                <a:spcPct val="20000"/>
              </a:spcBef>
              <a:buClr>
                <a:schemeClr val="folHlink"/>
              </a:buClr>
              <a:buFont typeface="Wingdings" panose="05000000000000000000" pitchFamily="2" charset="2"/>
              <a:buNone/>
            </a:pP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涡流式传感器的特点是结构简单、易于进行</a:t>
            </a:r>
            <a:r>
              <a:rPr lang="zh-CN" altLang="en-US" sz="2400" b="1" dirty="0">
                <a:solidFill>
                  <a:srgbClr val="FF0000"/>
                </a:solidFill>
                <a:latin typeface="宋体" panose="02010600030101010101" pitchFamily="2" charset="-122"/>
                <a:ea typeface="宋体" panose="02010600030101010101" pitchFamily="2" charset="-122"/>
              </a:rPr>
              <a:t>非接触</a:t>
            </a:r>
            <a:r>
              <a:rPr lang="zh-CN" altLang="en-US" sz="2400" b="1" dirty="0">
                <a:latin typeface="宋体" panose="02010600030101010101" pitchFamily="2" charset="-122"/>
                <a:ea typeface="宋体" panose="02010600030101010101" pitchFamily="2" charset="-122"/>
              </a:rPr>
              <a:t>的连续测量，灵敏度较高，适用性强，因此得到了广泛的应用。 </a:t>
            </a:r>
          </a:p>
        </p:txBody>
      </p:sp>
      <p:graphicFrame>
        <p:nvGraphicFramePr>
          <p:cNvPr id="2" name="表格 1"/>
          <p:cNvGraphicFramePr>
            <a:graphicFrameLocks noGrp="1"/>
          </p:cNvGraphicFramePr>
          <p:nvPr>
            <p:extLst>
              <p:ext uri="{D42A27DB-BD31-4B8C-83A1-F6EECF244321}">
                <p14:modId xmlns:p14="http://schemas.microsoft.com/office/powerpoint/2010/main" val="520887900"/>
              </p:ext>
            </p:extLst>
          </p:nvPr>
        </p:nvGraphicFramePr>
        <p:xfrm>
          <a:off x="1304360" y="3716304"/>
          <a:ext cx="6941684" cy="2286000"/>
        </p:xfrm>
        <a:graphic>
          <a:graphicData uri="http://schemas.openxmlformats.org/drawingml/2006/table">
            <a:tbl>
              <a:tblPr firstRow="1" bandRow="1">
                <a:tableStyleId>{5C22544A-7EE6-4342-B048-85BDC9FD1C3A}</a:tableStyleId>
              </a:tblPr>
              <a:tblGrid>
                <a:gridCol w="2905609">
                  <a:extLst>
                    <a:ext uri="{9D8B030D-6E8A-4147-A177-3AD203B41FA5}">
                      <a16:colId xmlns:a16="http://schemas.microsoft.com/office/drawing/2014/main" val="20000"/>
                    </a:ext>
                  </a:extLst>
                </a:gridCol>
                <a:gridCol w="4036075">
                  <a:extLst>
                    <a:ext uri="{9D8B030D-6E8A-4147-A177-3AD203B41FA5}">
                      <a16:colId xmlns:a16="http://schemas.microsoft.com/office/drawing/2014/main" val="20001"/>
                    </a:ext>
                  </a:extLst>
                </a:gridCol>
              </a:tblGrid>
              <a:tr h="452078">
                <a:tc>
                  <a:txBody>
                    <a:bodyPr/>
                    <a:lstStyle/>
                    <a:p>
                      <a:pPr algn="ctr"/>
                      <a:r>
                        <a:rPr lang="zh-CN" altLang="en-US" sz="2400" dirty="0"/>
                        <a:t>敏感的物理量</a:t>
                      </a:r>
                    </a:p>
                  </a:txBody>
                  <a:tcPr/>
                </a:tc>
                <a:tc>
                  <a:txBody>
                    <a:bodyPr/>
                    <a:lstStyle/>
                    <a:p>
                      <a:pPr algn="ctr"/>
                      <a:r>
                        <a:rPr lang="zh-CN" altLang="en-US" sz="2400" dirty="0"/>
                        <a:t>说明</a:t>
                      </a:r>
                    </a:p>
                  </a:txBody>
                  <a:tcPr/>
                </a:tc>
                <a:extLst>
                  <a:ext uri="{0D108BD9-81ED-4DB2-BD59-A6C34878D82A}">
                    <a16:rowId xmlns:a16="http://schemas.microsoft.com/office/drawing/2014/main" val="10000"/>
                  </a:ext>
                </a:extLst>
              </a:tr>
              <a:tr h="370840">
                <a:tc>
                  <a:txBody>
                    <a:bodyPr/>
                    <a:lstStyle/>
                    <a:p>
                      <a:r>
                        <a:rPr lang="zh-CN" altLang="en-US" sz="2400" b="1" kern="12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rPr>
                        <a:t>距离</a:t>
                      </a:r>
                      <a:r>
                        <a:rPr lang="en-US" altLang="zh-CN" sz="2400"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x</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，材料厚度</a:t>
                      </a:r>
                      <a:r>
                        <a:rPr lang="en-US" altLang="zh-CN" sz="2400"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h</a:t>
                      </a:r>
                      <a:endParaRPr lang="zh-CN" altLang="en-US" sz="2400" dirty="0"/>
                    </a:p>
                  </a:txBody>
                  <a:tcPr/>
                </a:tc>
                <a:tc>
                  <a:txBody>
                    <a:bodyPr/>
                    <a:lstStyle/>
                    <a:p>
                      <a:r>
                        <a:rPr lang="zh-CN" altLang="en-US" sz="2400" b="1" dirty="0">
                          <a:latin typeface="宋体" panose="02010600030101010101" pitchFamily="2" charset="-122"/>
                          <a:ea typeface="宋体" panose="02010600030101010101" pitchFamily="2" charset="-122"/>
                        </a:rPr>
                        <a:t>测位移、厚度、摇摆、转速</a:t>
                      </a:r>
                      <a:endParaRPr lang="zh-CN" altLang="en-US" sz="2400" dirty="0"/>
                    </a:p>
                  </a:txBody>
                  <a:tcPr/>
                </a:tc>
                <a:extLst>
                  <a:ext uri="{0D108BD9-81ED-4DB2-BD59-A6C34878D82A}">
                    <a16:rowId xmlns:a16="http://schemas.microsoft.com/office/drawing/2014/main" val="10001"/>
                  </a:ext>
                </a:extLst>
              </a:tr>
              <a:tr h="370840">
                <a:tc>
                  <a:txBody>
                    <a:bodyPr/>
                    <a:lstStyle/>
                    <a:p>
                      <a:r>
                        <a:rPr lang="zh-CN" altLang="en-US" sz="2400" b="1" kern="12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rPr>
                        <a:t>材料密度</a:t>
                      </a:r>
                      <a:r>
                        <a:rPr lang="en-US" altLang="zh-CN" sz="2400"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ρ</a:t>
                      </a:r>
                      <a:endParaRPr lang="zh-CN"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400" b="1" dirty="0">
                          <a:latin typeface="宋体" panose="02010600030101010101" pitchFamily="2" charset="-122"/>
                          <a:ea typeface="宋体" panose="02010600030101010101" pitchFamily="2" charset="-122"/>
                        </a:rPr>
                        <a:t>测温度、辨别材料</a:t>
                      </a:r>
                      <a:endParaRPr lang="zh-CN" altLang="en-US" sz="2400" dirty="0"/>
                    </a:p>
                  </a:txBody>
                  <a:tcPr/>
                </a:tc>
                <a:extLst>
                  <a:ext uri="{0D108BD9-81ED-4DB2-BD59-A6C34878D82A}">
                    <a16:rowId xmlns:a16="http://schemas.microsoft.com/office/drawing/2014/main" val="10002"/>
                  </a:ext>
                </a:extLst>
              </a:tr>
              <a:tr h="370840">
                <a:tc>
                  <a:txBody>
                    <a:bodyPr/>
                    <a:lstStyle/>
                    <a:p>
                      <a:r>
                        <a:rPr lang="zh-CN" altLang="en-US" sz="2400" b="1" kern="12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rPr>
                        <a:t>材料磁导率</a:t>
                      </a:r>
                      <a:r>
                        <a:rPr lang="en-US" altLang="zh-CN" sz="2400"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μ</a:t>
                      </a:r>
                      <a:endParaRPr lang="zh-CN"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400" b="1" dirty="0">
                          <a:latin typeface="宋体" panose="02010600030101010101" pitchFamily="2" charset="-122"/>
                          <a:ea typeface="宋体" panose="02010600030101010101" pitchFamily="2" charset="-122"/>
                        </a:rPr>
                        <a:t>测应力、硬度</a:t>
                      </a:r>
                      <a:endParaRPr lang="zh-CN" altLang="en-US" sz="2400" dirty="0"/>
                    </a:p>
                  </a:txBody>
                  <a:tcPr/>
                </a:tc>
                <a:extLst>
                  <a:ext uri="{0D108BD9-81ED-4DB2-BD59-A6C34878D82A}">
                    <a16:rowId xmlns:a16="http://schemas.microsoft.com/office/drawing/2014/main" val="10003"/>
                  </a:ext>
                </a:extLst>
              </a:tr>
              <a:tr h="370840">
                <a:tc>
                  <a:txBody>
                    <a:bodyPr/>
                    <a:lstStyle/>
                    <a:p>
                      <a:r>
                        <a:rPr lang="zh-CN" altLang="en-US" sz="2400" b="1" kern="12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rPr>
                        <a:t>组合变量</a:t>
                      </a: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x</a:t>
                      </a:r>
                      <a:r>
                        <a:rPr lang="zh-CN" altLang="en-US" sz="2400" b="1"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ρ</a:t>
                      </a:r>
                      <a:r>
                        <a:rPr lang="zh-CN" altLang="en-US" sz="2400" b="1"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i="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μ</a:t>
                      </a: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400" b="1" dirty="0">
                          <a:latin typeface="宋体" panose="02010600030101010101" pitchFamily="2" charset="-122"/>
                          <a:ea typeface="宋体" panose="02010600030101010101" pitchFamily="2" charset="-122"/>
                        </a:rPr>
                        <a:t>探伤</a:t>
                      </a:r>
                    </a:p>
                  </a:txBody>
                  <a:tcPr/>
                </a:tc>
                <a:extLst>
                  <a:ext uri="{0D108BD9-81ED-4DB2-BD59-A6C34878D82A}">
                    <a16:rowId xmlns:a16="http://schemas.microsoft.com/office/drawing/2014/main" val="10004"/>
                  </a:ext>
                </a:extLst>
              </a:tr>
            </a:tbl>
          </a:graphicData>
        </a:graphic>
      </p:graphicFrame>
      <p:graphicFrame>
        <p:nvGraphicFramePr>
          <p:cNvPr id="3" name="Object 2">
            <a:extLst>
              <a:ext uri="{FF2B5EF4-FFF2-40B4-BE49-F238E27FC236}">
                <a16:creationId xmlns:a16="http://schemas.microsoft.com/office/drawing/2014/main" id="{78D7C1DC-30E3-4AE9-95B7-8C38AB5B0F6F}"/>
              </a:ext>
            </a:extLst>
          </p:cNvPr>
          <p:cNvGraphicFramePr>
            <a:graphicFrameLocks noChangeAspect="1"/>
          </p:cNvGraphicFramePr>
          <p:nvPr>
            <p:extLst>
              <p:ext uri="{D42A27DB-BD31-4B8C-83A1-F6EECF244321}">
                <p14:modId xmlns:p14="http://schemas.microsoft.com/office/powerpoint/2010/main" val="864640971"/>
              </p:ext>
            </p:extLst>
          </p:nvPr>
        </p:nvGraphicFramePr>
        <p:xfrm>
          <a:off x="1568748" y="2883285"/>
          <a:ext cx="3751318" cy="782277"/>
        </p:xfrm>
        <a:graphic>
          <a:graphicData uri="http://schemas.openxmlformats.org/presentationml/2006/ole">
            <mc:AlternateContent xmlns:mc="http://schemas.openxmlformats.org/markup-compatibility/2006">
              <mc:Choice xmlns:v="urn:schemas-microsoft-com:vml" Requires="v">
                <p:oleObj name="Equation" r:id="rId3" imgW="4613384" imgH="961955" progId="Equation.DSMT4">
                  <p:embed/>
                </p:oleObj>
              </mc:Choice>
              <mc:Fallback>
                <p:oleObj name="Equation" r:id="rId3" imgW="4613384" imgH="961955" progId="Equation.DSMT4">
                  <p:embed/>
                  <p:pic>
                    <p:nvPicPr>
                      <p:cNvPr id="0" name=""/>
                      <p:cNvPicPr/>
                      <p:nvPr/>
                    </p:nvPicPr>
                    <p:blipFill>
                      <a:blip r:embed="rId4"/>
                      <a:stretch>
                        <a:fillRect/>
                      </a:stretch>
                    </p:blipFill>
                    <p:spPr>
                      <a:xfrm>
                        <a:off x="1568748" y="2883285"/>
                        <a:ext cx="3751318" cy="782277"/>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F323BCA-4A6D-4051-970F-EB35AAC758F7}"/>
              </a:ext>
            </a:extLst>
          </p:cNvPr>
          <p:cNvSpPr>
            <a:spLocks noGrp="1"/>
          </p:cNvSpPr>
          <p:nvPr>
            <p:ph type="sldNum" sz="quarter" idx="12"/>
          </p:nvPr>
        </p:nvSpPr>
        <p:spPr/>
        <p:txBody>
          <a:bodyPr/>
          <a:lstStyle/>
          <a:p>
            <a:fld id="{B53602B4-F12B-41CD-B648-531F86B2CC91}" type="slidenum">
              <a:rPr lang="zh-CN" altLang="en-US" smtClean="0"/>
              <a:t>35</a:t>
            </a:fld>
            <a:endParaRPr lang="zh-CN" altLang="en-US"/>
          </a:p>
        </p:txBody>
      </p:sp>
      <p:sp>
        <p:nvSpPr>
          <p:cNvPr id="10" name="TextBox 9">
            <a:extLst>
              <a:ext uri="{FF2B5EF4-FFF2-40B4-BE49-F238E27FC236}">
                <a16:creationId xmlns:a16="http://schemas.microsoft.com/office/drawing/2014/main" id="{C0A89F9B-9DC1-41C2-96A8-9392784FC946}"/>
              </a:ext>
            </a:extLst>
          </p:cNvPr>
          <p:cNvSpPr txBox="1"/>
          <p:nvPr/>
        </p:nvSpPr>
        <p:spPr>
          <a:xfrm>
            <a:off x="5792455" y="2930829"/>
            <a:ext cx="2609681" cy="523220"/>
          </a:xfrm>
          <a:prstGeom prst="rect">
            <a:avLst/>
          </a:prstGeom>
          <a:noFill/>
        </p:spPr>
        <p:txBody>
          <a:bodyPr wrap="square">
            <a:spAutoFit/>
          </a:bodyPr>
          <a:lstStyle/>
          <a:p>
            <a:pPr algn="ctr"/>
            <a:r>
              <a:rPr lang="zh-CN" altLang="en-US" sz="2800" dirty="0">
                <a:solidFill>
                  <a:srgbClr val="FF0000"/>
                </a:solidFill>
              </a:rPr>
              <a:t>敏感的物理量</a:t>
            </a:r>
            <a:r>
              <a:rPr lang="en-US" altLang="zh-CN" sz="2800" dirty="0">
                <a:solidFill>
                  <a:srgbClr val="FF0000"/>
                </a:solidFill>
              </a:rPr>
              <a:t>?</a:t>
            </a:r>
            <a:endParaRPr lang="zh-CN" altLang="en-US" sz="2800" dirty="0">
              <a:solidFill>
                <a:srgbClr val="FF0000"/>
              </a:solidFill>
            </a:endParaRPr>
          </a:p>
        </p:txBody>
      </p:sp>
    </p:spTree>
    <p:extLst>
      <p:ext uri="{BB962C8B-B14F-4D97-AF65-F5344CB8AC3E}">
        <p14:creationId xmlns:p14="http://schemas.microsoft.com/office/powerpoint/2010/main" val="159308887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3.3.3</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1" y="360001"/>
            <a:ext cx="543609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涡流式传感器的特性及应用</a:t>
            </a:r>
          </a:p>
        </p:txBody>
      </p:sp>
      <p:sp>
        <p:nvSpPr>
          <p:cNvPr id="11" name="TextBox 10">
            <a:extLst>
              <a:ext uri="{FF2B5EF4-FFF2-40B4-BE49-F238E27FC236}">
                <a16:creationId xmlns:a16="http://schemas.microsoft.com/office/drawing/2014/main" id="{CC6B8B8C-480B-4947-9B81-10A947D767A8}"/>
              </a:ext>
            </a:extLst>
          </p:cNvPr>
          <p:cNvSpPr txBox="1"/>
          <p:nvPr/>
        </p:nvSpPr>
        <p:spPr>
          <a:xfrm>
            <a:off x="185083" y="1263263"/>
            <a:ext cx="4786060" cy="5290421"/>
          </a:xfrm>
          <a:prstGeom prst="rect">
            <a:avLst/>
          </a:prstGeom>
        </p:spPr>
        <p:txBody>
          <a:bodyPr wrap="square" lIns="91438" tIns="45719" rIns="91438" bIns="45719">
            <a:spAutoFit/>
          </a:bodyPr>
          <a:lstStyle>
            <a:defPPr>
              <a:defRPr lang="zh-CN"/>
            </a:defPPr>
            <a:lvl1pPr marL="342900" indent="-342900" algn="just">
              <a:lnSpc>
                <a:spcPct val="150000"/>
              </a:lnSpc>
              <a:spcBef>
                <a:spcPts val="670"/>
              </a:spcBef>
              <a:buFont typeface="Arial" panose="020B0604020202020204" pitchFamily="34" charset="0"/>
              <a:buChar char="•"/>
              <a:defRPr sz="2000" b="1">
                <a:latin typeface="Arial" panose="020B0604020202020204" pitchFamily="34" charset="0"/>
                <a:ea typeface="宋体" panose="02010600030101010101" pitchFamily="2" charset="-122"/>
                <a:cs typeface="Arial" panose="020B0604020202020204" pitchFamily="34" charset="0"/>
              </a:defRPr>
            </a:lvl1pPr>
          </a:lstStyle>
          <a:p>
            <a:r>
              <a:rPr lang="zh-CN" altLang="en-US"/>
              <a:t>涡流传感器，金属导体内产生的涡流所建立起来的反磁场以及涡流要消耗一部分能量，这些作用都将“反射”回去，可以改变原激励线圈的阻抗，从而可以测量金属材料的厚度。</a:t>
            </a:r>
          </a:p>
          <a:p>
            <a:r>
              <a:rPr lang="zh-CN" altLang="en-US"/>
              <a:t>为了使反射效果好，激励频率越高，贯穿深度越小，这一类的涡流传感器使用较多。</a:t>
            </a:r>
          </a:p>
          <a:p>
            <a:r>
              <a:rPr lang="zh-CN" altLang="en-US"/>
              <a:t>此外，若将激励频率减低，涡流的贯穿深度将加厚，可做成低频透射涡流传感器。</a:t>
            </a:r>
            <a:endParaRPr lang="en-001"/>
          </a:p>
        </p:txBody>
      </p:sp>
      <p:sp>
        <p:nvSpPr>
          <p:cNvPr id="12" name="Text Box 9">
            <a:extLst>
              <a:ext uri="{FF2B5EF4-FFF2-40B4-BE49-F238E27FC236}">
                <a16:creationId xmlns:a16="http://schemas.microsoft.com/office/drawing/2014/main" id="{148AD810-E27B-4EF6-B997-318DE3916CEB}"/>
              </a:ext>
            </a:extLst>
          </p:cNvPr>
          <p:cNvSpPr txBox="1">
            <a:spLocks noChangeArrowheads="1"/>
          </p:cNvSpPr>
          <p:nvPr/>
        </p:nvSpPr>
        <p:spPr bwMode="auto">
          <a:xfrm>
            <a:off x="5301230" y="4040758"/>
            <a:ext cx="350207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spcBef>
                <a:spcPct val="50000"/>
              </a:spcBef>
            </a:pPr>
            <a:r>
              <a:rPr lang="zh-CN" altLang="en-US" b="1" dirty="0">
                <a:solidFill>
                  <a:srgbClr val="000099"/>
                </a:solidFill>
              </a:rPr>
              <a:t>图</a:t>
            </a:r>
            <a:r>
              <a:rPr lang="en-US" altLang="zh-CN" b="1" dirty="0">
                <a:solidFill>
                  <a:srgbClr val="000099"/>
                </a:solidFill>
              </a:rPr>
              <a:t>3-32  </a:t>
            </a:r>
            <a:r>
              <a:rPr lang="zh-CN" altLang="en-US" b="1" dirty="0">
                <a:solidFill>
                  <a:srgbClr val="000099"/>
                </a:solidFill>
              </a:rPr>
              <a:t>低频涡流测厚仪的工作原理</a:t>
            </a:r>
          </a:p>
        </p:txBody>
      </p:sp>
      <p:pic>
        <p:nvPicPr>
          <p:cNvPr id="13" name="Picture 9">
            <a:extLst>
              <a:ext uri="{FF2B5EF4-FFF2-40B4-BE49-F238E27FC236}">
                <a16:creationId xmlns:a16="http://schemas.microsoft.com/office/drawing/2014/main" id="{E94D600D-74CF-4F32-AE32-F7D646EAD1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56022" y="1893616"/>
            <a:ext cx="3502076" cy="1761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a:extLst>
              <a:ext uri="{FF2B5EF4-FFF2-40B4-BE49-F238E27FC236}">
                <a16:creationId xmlns:a16="http://schemas.microsoft.com/office/drawing/2014/main" id="{DC2CF685-9927-4E30-B6B7-6FC609B2C506}"/>
              </a:ext>
            </a:extLst>
          </p:cNvPr>
          <p:cNvSpPr>
            <a:spLocks noGrp="1"/>
          </p:cNvSpPr>
          <p:nvPr>
            <p:ph type="sldNum" sz="quarter" idx="12"/>
          </p:nvPr>
        </p:nvSpPr>
        <p:spPr/>
        <p:txBody>
          <a:bodyPr/>
          <a:lstStyle/>
          <a:p>
            <a:fld id="{B53602B4-F12B-41CD-B648-531F86B2CC91}" type="slidenum">
              <a:rPr lang="zh-CN" altLang="en-US" smtClean="0"/>
              <a:t>36</a:t>
            </a:fld>
            <a:endParaRPr lang="zh-CN" altLang="en-US"/>
          </a:p>
        </p:txBody>
      </p:sp>
    </p:spTree>
    <p:extLst>
      <p:ext uri="{BB962C8B-B14F-4D97-AF65-F5344CB8AC3E}">
        <p14:creationId xmlns:p14="http://schemas.microsoft.com/office/powerpoint/2010/main" val="198639705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3.3.3</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1" y="360001"/>
            <a:ext cx="543609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涡流式传感器的特性及应用</a:t>
            </a:r>
          </a:p>
        </p:txBody>
      </p:sp>
      <p:sp>
        <p:nvSpPr>
          <p:cNvPr id="8" name="Text Box 9">
            <a:extLst>
              <a:ext uri="{FF2B5EF4-FFF2-40B4-BE49-F238E27FC236}">
                <a16:creationId xmlns:a16="http://schemas.microsoft.com/office/drawing/2014/main" id="{1509BEEA-35EF-4A9A-BF4F-91F7286DFD27}"/>
              </a:ext>
            </a:extLst>
          </p:cNvPr>
          <p:cNvSpPr txBox="1">
            <a:spLocks noChangeArrowheads="1"/>
          </p:cNvSpPr>
          <p:nvPr/>
        </p:nvSpPr>
        <p:spPr bwMode="auto">
          <a:xfrm>
            <a:off x="5301230" y="4040758"/>
            <a:ext cx="350207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spcBef>
                <a:spcPct val="50000"/>
              </a:spcBef>
            </a:pPr>
            <a:r>
              <a:rPr lang="zh-CN" altLang="en-US" b="1" dirty="0">
                <a:solidFill>
                  <a:srgbClr val="000099"/>
                </a:solidFill>
              </a:rPr>
              <a:t>图</a:t>
            </a:r>
            <a:r>
              <a:rPr lang="en-US" altLang="zh-CN" b="1" dirty="0">
                <a:solidFill>
                  <a:srgbClr val="000099"/>
                </a:solidFill>
              </a:rPr>
              <a:t>3-32  </a:t>
            </a:r>
            <a:r>
              <a:rPr lang="zh-CN" altLang="en-US" b="1" dirty="0">
                <a:solidFill>
                  <a:srgbClr val="000099"/>
                </a:solidFill>
              </a:rPr>
              <a:t>低频涡流测厚仪的工作原理</a:t>
            </a:r>
          </a:p>
        </p:txBody>
      </p:sp>
      <p:pic>
        <p:nvPicPr>
          <p:cNvPr id="9" name="Picture 9">
            <a:extLst>
              <a:ext uri="{FF2B5EF4-FFF2-40B4-BE49-F238E27FC236}">
                <a16:creationId xmlns:a16="http://schemas.microsoft.com/office/drawing/2014/main" id="{4B10300C-923E-4875-ACD4-BA1090F690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56022" y="1893616"/>
            <a:ext cx="3502076" cy="1761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a:extLst>
              <a:ext uri="{FF2B5EF4-FFF2-40B4-BE49-F238E27FC236}">
                <a16:creationId xmlns:a16="http://schemas.microsoft.com/office/drawing/2014/main" id="{CC6B8B8C-480B-4947-9B81-10A947D767A8}"/>
              </a:ext>
            </a:extLst>
          </p:cNvPr>
          <p:cNvSpPr txBox="1"/>
          <p:nvPr/>
        </p:nvSpPr>
        <p:spPr>
          <a:xfrm>
            <a:off x="119768" y="1364863"/>
            <a:ext cx="5031453" cy="4828756"/>
          </a:xfrm>
          <a:prstGeom prst="rect">
            <a:avLst/>
          </a:prstGeom>
        </p:spPr>
        <p:txBody>
          <a:bodyPr wrap="square" lIns="91438" tIns="45719" rIns="91438" bIns="45719">
            <a:spAutoFit/>
          </a:bodyPr>
          <a:lstStyle>
            <a:defPPr>
              <a:defRPr lang="zh-CN"/>
            </a:defPPr>
            <a:lvl1pPr marL="342900" indent="-342900" algn="just">
              <a:lnSpc>
                <a:spcPct val="150000"/>
              </a:lnSpc>
              <a:spcBef>
                <a:spcPts val="670"/>
              </a:spcBef>
              <a:buFont typeface="Arial" panose="020B0604020202020204" pitchFamily="34" charset="0"/>
              <a:buChar char="•"/>
              <a:defRPr sz="2000" b="1">
                <a:latin typeface="Arial" panose="020B0604020202020204" pitchFamily="34" charset="0"/>
                <a:ea typeface="宋体" panose="02010600030101010101" pitchFamily="2" charset="-122"/>
                <a:cs typeface="Arial" panose="020B0604020202020204" pitchFamily="34" charset="0"/>
              </a:defRPr>
            </a:lvl1pPr>
          </a:lstStyle>
          <a:p>
            <a:r>
              <a:rPr lang="zh-CN" altLang="en-US"/>
              <a:t>发射线圈</a:t>
            </a:r>
            <a:r>
              <a:rPr lang="en-US" altLang="zh-CN"/>
              <a:t>L1</a:t>
            </a:r>
            <a:r>
              <a:rPr lang="zh-CN" altLang="en-US"/>
              <a:t>和接收线圈</a:t>
            </a:r>
            <a:r>
              <a:rPr lang="en-US" altLang="zh-CN"/>
              <a:t>L2</a:t>
            </a:r>
            <a:r>
              <a:rPr lang="zh-CN" altLang="en-US"/>
              <a:t>绕在绝缘框架上，分别安放在被测材料</a:t>
            </a:r>
            <a:r>
              <a:rPr lang="en-US" altLang="zh-CN"/>
              <a:t>M</a:t>
            </a:r>
            <a:r>
              <a:rPr lang="zh-CN" altLang="en-US"/>
              <a:t>的上、下方。</a:t>
            </a:r>
          </a:p>
          <a:p>
            <a:r>
              <a:rPr lang="zh-CN" altLang="en-US"/>
              <a:t>电压</a:t>
            </a:r>
            <a:r>
              <a:rPr lang="en-US" altLang="zh-CN"/>
              <a:t>U</a:t>
            </a:r>
            <a:r>
              <a:rPr lang="zh-CN" altLang="en-US"/>
              <a:t>加到</a:t>
            </a:r>
            <a:r>
              <a:rPr lang="en-US" altLang="zh-CN"/>
              <a:t>L1</a:t>
            </a:r>
            <a:r>
              <a:rPr lang="zh-CN" altLang="en-US"/>
              <a:t>上，线圈中的电流</a:t>
            </a:r>
            <a:r>
              <a:rPr lang="en-US" altLang="zh-CN"/>
              <a:t>i</a:t>
            </a:r>
            <a:r>
              <a:rPr lang="zh-CN" altLang="en-US"/>
              <a:t>将产生一个交变磁场。</a:t>
            </a:r>
          </a:p>
          <a:p>
            <a:r>
              <a:rPr lang="zh-CN" altLang="en-US"/>
              <a:t>若线圈之间不存在被测材料</a:t>
            </a:r>
            <a:r>
              <a:rPr lang="en-US" altLang="zh-CN"/>
              <a:t>M</a:t>
            </a:r>
            <a:r>
              <a:rPr lang="zh-CN" altLang="en-US"/>
              <a:t>，则</a:t>
            </a:r>
            <a:r>
              <a:rPr lang="en-US" altLang="zh-CN"/>
              <a:t>L1</a:t>
            </a:r>
            <a:r>
              <a:rPr lang="zh-CN" altLang="en-US"/>
              <a:t>的磁场将直接贯穿</a:t>
            </a:r>
            <a:r>
              <a:rPr lang="en-US" altLang="zh-CN"/>
              <a:t>L2</a:t>
            </a:r>
            <a:r>
              <a:rPr lang="zh-CN" altLang="en-US"/>
              <a:t>，感应出交变电动势</a:t>
            </a:r>
            <a:r>
              <a:rPr lang="en-US" altLang="zh-CN"/>
              <a:t>e</a:t>
            </a:r>
            <a:r>
              <a:rPr lang="zh-CN" altLang="en-US"/>
              <a:t>，其大小与</a:t>
            </a:r>
            <a:r>
              <a:rPr lang="en-US" altLang="zh-CN"/>
              <a:t>u</a:t>
            </a:r>
            <a:r>
              <a:rPr lang="zh-CN" altLang="en-US"/>
              <a:t>的幅值，频率</a:t>
            </a:r>
            <a:r>
              <a:rPr lang="en-US" altLang="zh-CN"/>
              <a:t>f</a:t>
            </a:r>
            <a:r>
              <a:rPr lang="zh-CN" altLang="en-US"/>
              <a:t>，以及</a:t>
            </a:r>
            <a:r>
              <a:rPr lang="en-US" altLang="zh-CN"/>
              <a:t>L1</a:t>
            </a:r>
            <a:r>
              <a:rPr lang="zh-CN" altLang="en-US"/>
              <a:t>和</a:t>
            </a:r>
            <a:r>
              <a:rPr lang="en-US" altLang="zh-CN"/>
              <a:t>L2</a:t>
            </a:r>
            <a:r>
              <a:rPr lang="zh-CN" altLang="en-US"/>
              <a:t>的匝数、结构以及两者的相对位置有关。如果这些参数是确定的，那么就是一个确定值。</a:t>
            </a:r>
          </a:p>
        </p:txBody>
      </p:sp>
      <p:sp>
        <p:nvSpPr>
          <p:cNvPr id="2" name="Slide Number Placeholder 1">
            <a:extLst>
              <a:ext uri="{FF2B5EF4-FFF2-40B4-BE49-F238E27FC236}">
                <a16:creationId xmlns:a16="http://schemas.microsoft.com/office/drawing/2014/main" id="{1CF374B3-3E12-43CE-9847-823FB6BD4FF7}"/>
              </a:ext>
            </a:extLst>
          </p:cNvPr>
          <p:cNvSpPr>
            <a:spLocks noGrp="1"/>
          </p:cNvSpPr>
          <p:nvPr>
            <p:ph type="sldNum" sz="quarter" idx="12"/>
          </p:nvPr>
        </p:nvSpPr>
        <p:spPr/>
        <p:txBody>
          <a:bodyPr/>
          <a:lstStyle/>
          <a:p>
            <a:fld id="{B53602B4-F12B-41CD-B648-531F86B2CC91}" type="slidenum">
              <a:rPr lang="zh-CN" altLang="en-US" smtClean="0"/>
              <a:t>37</a:t>
            </a:fld>
            <a:endParaRPr lang="zh-CN" altLang="en-US"/>
          </a:p>
        </p:txBody>
      </p:sp>
    </p:spTree>
    <p:extLst>
      <p:ext uri="{BB962C8B-B14F-4D97-AF65-F5344CB8AC3E}">
        <p14:creationId xmlns:p14="http://schemas.microsoft.com/office/powerpoint/2010/main" val="132717814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3.3.3</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1" y="360001"/>
            <a:ext cx="543609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涡流式传感器的特性及应用</a:t>
            </a:r>
          </a:p>
        </p:txBody>
      </p:sp>
      <p:sp>
        <p:nvSpPr>
          <p:cNvPr id="8" name="Text Box 9">
            <a:extLst>
              <a:ext uri="{FF2B5EF4-FFF2-40B4-BE49-F238E27FC236}">
                <a16:creationId xmlns:a16="http://schemas.microsoft.com/office/drawing/2014/main" id="{1509BEEA-35EF-4A9A-BF4F-91F7286DFD27}"/>
              </a:ext>
            </a:extLst>
          </p:cNvPr>
          <p:cNvSpPr txBox="1">
            <a:spLocks noChangeArrowheads="1"/>
          </p:cNvSpPr>
          <p:nvPr/>
        </p:nvSpPr>
        <p:spPr bwMode="auto">
          <a:xfrm>
            <a:off x="5301230" y="4040758"/>
            <a:ext cx="350207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spcBef>
                <a:spcPct val="50000"/>
              </a:spcBef>
            </a:pPr>
            <a:r>
              <a:rPr lang="zh-CN" altLang="en-US" b="1" dirty="0">
                <a:solidFill>
                  <a:srgbClr val="000099"/>
                </a:solidFill>
              </a:rPr>
              <a:t>图</a:t>
            </a:r>
            <a:r>
              <a:rPr lang="en-US" altLang="zh-CN" b="1" dirty="0">
                <a:solidFill>
                  <a:srgbClr val="000099"/>
                </a:solidFill>
              </a:rPr>
              <a:t>3-32  </a:t>
            </a:r>
            <a:r>
              <a:rPr lang="zh-CN" altLang="en-US" b="1" dirty="0">
                <a:solidFill>
                  <a:srgbClr val="000099"/>
                </a:solidFill>
              </a:rPr>
              <a:t>低频涡流测厚仪的工作原理</a:t>
            </a:r>
          </a:p>
        </p:txBody>
      </p:sp>
      <p:pic>
        <p:nvPicPr>
          <p:cNvPr id="9" name="Picture 9">
            <a:extLst>
              <a:ext uri="{FF2B5EF4-FFF2-40B4-BE49-F238E27FC236}">
                <a16:creationId xmlns:a16="http://schemas.microsoft.com/office/drawing/2014/main" id="{4B10300C-923E-4875-ACD4-BA1090F690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56022" y="1893616"/>
            <a:ext cx="3502076" cy="1761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a:extLst>
              <a:ext uri="{FF2B5EF4-FFF2-40B4-BE49-F238E27FC236}">
                <a16:creationId xmlns:a16="http://schemas.microsoft.com/office/drawing/2014/main" id="{CC6B8B8C-480B-4947-9B81-10A947D767A8}"/>
              </a:ext>
            </a:extLst>
          </p:cNvPr>
          <p:cNvSpPr txBox="1"/>
          <p:nvPr/>
        </p:nvSpPr>
        <p:spPr>
          <a:xfrm>
            <a:off x="21684" y="1408632"/>
            <a:ext cx="5279546" cy="5110884"/>
          </a:xfrm>
          <a:prstGeom prst="rect">
            <a:avLst/>
          </a:prstGeom>
        </p:spPr>
        <p:txBody>
          <a:bodyPr wrap="square" lIns="91438" tIns="45719" rIns="91438" bIns="45719">
            <a:spAutoFit/>
          </a:bodyPr>
          <a:lstStyle>
            <a:defPPr>
              <a:defRPr lang="zh-CN"/>
            </a:defPPr>
            <a:lvl1pPr marL="342900" indent="-342900" algn="just">
              <a:lnSpc>
                <a:spcPct val="150000"/>
              </a:lnSpc>
              <a:spcBef>
                <a:spcPts val="670"/>
              </a:spcBef>
              <a:buFont typeface="Arial" panose="020B0604020202020204" pitchFamily="34" charset="0"/>
              <a:buChar char="•"/>
              <a:defRPr sz="2000" b="1">
                <a:latin typeface="Arial" panose="020B0604020202020204" pitchFamily="34" charset="0"/>
                <a:ea typeface="宋体" panose="02010600030101010101" pitchFamily="2" charset="-122"/>
                <a:cs typeface="Arial" panose="020B0604020202020204" pitchFamily="34" charset="0"/>
              </a:defRPr>
            </a:lvl1pPr>
          </a:lstStyle>
          <a:p>
            <a:pPr>
              <a:spcBef>
                <a:spcPts val="0"/>
              </a:spcBef>
            </a:pPr>
            <a:r>
              <a:rPr lang="zh-CN" altLang="en-US"/>
              <a:t>在</a:t>
            </a:r>
            <a:r>
              <a:rPr lang="en-US" altLang="zh-CN"/>
              <a:t>L1</a:t>
            </a:r>
            <a:r>
              <a:rPr lang="zh-CN" altLang="en-US"/>
              <a:t>、</a:t>
            </a:r>
            <a:r>
              <a:rPr lang="en-US" altLang="zh-CN"/>
              <a:t>L2</a:t>
            </a:r>
            <a:r>
              <a:rPr lang="zh-CN" altLang="en-US"/>
              <a:t>间放置金属材料</a:t>
            </a:r>
            <a:r>
              <a:rPr lang="en-US" altLang="zh-CN"/>
              <a:t>M</a:t>
            </a:r>
            <a:r>
              <a:rPr lang="zh-CN" altLang="en-US"/>
              <a:t>后，</a:t>
            </a:r>
            <a:r>
              <a:rPr lang="en-US" altLang="zh-CN"/>
              <a:t>L1</a:t>
            </a:r>
            <a:r>
              <a:rPr lang="zh-CN" altLang="en-US"/>
              <a:t>产生的磁力线必然透过</a:t>
            </a:r>
            <a:r>
              <a:rPr lang="en-US" altLang="zh-CN"/>
              <a:t>M</a:t>
            </a:r>
            <a:r>
              <a:rPr lang="zh-CN" altLang="en-US"/>
              <a:t>，并在其中产生涡流。</a:t>
            </a:r>
          </a:p>
          <a:p>
            <a:pPr>
              <a:spcBef>
                <a:spcPts val="0"/>
              </a:spcBef>
            </a:pPr>
            <a:r>
              <a:rPr lang="zh-CN" altLang="en-US"/>
              <a:t>涡流损耗了部分磁场能量，使得到达</a:t>
            </a:r>
            <a:r>
              <a:rPr lang="en-US" altLang="zh-CN"/>
              <a:t>L2</a:t>
            </a:r>
            <a:r>
              <a:rPr lang="zh-CN" altLang="en-US"/>
              <a:t>的磁力线减少，从而引起</a:t>
            </a:r>
            <a:r>
              <a:rPr lang="en-US" altLang="zh-CN"/>
              <a:t>e</a:t>
            </a:r>
            <a:r>
              <a:rPr lang="zh-CN" altLang="en-US"/>
              <a:t>的下降。</a:t>
            </a:r>
          </a:p>
          <a:p>
            <a:pPr>
              <a:spcBef>
                <a:spcPts val="0"/>
              </a:spcBef>
            </a:pPr>
            <a:r>
              <a:rPr lang="en-US" altLang="zh-CN"/>
              <a:t>M</a:t>
            </a:r>
            <a:r>
              <a:rPr lang="zh-CN" altLang="en-US"/>
              <a:t>的厚度越大，涡流越大，引起的损耗也越大，</a:t>
            </a:r>
            <a:r>
              <a:rPr lang="en-US" altLang="zh-CN"/>
              <a:t>e</a:t>
            </a:r>
            <a:r>
              <a:rPr lang="zh-CN" altLang="en-US"/>
              <a:t>就越小。</a:t>
            </a:r>
          </a:p>
          <a:p>
            <a:pPr>
              <a:spcBef>
                <a:spcPts val="0"/>
              </a:spcBef>
            </a:pPr>
            <a:r>
              <a:rPr lang="zh-CN" altLang="en-US"/>
              <a:t>可见，</a:t>
            </a:r>
            <a:r>
              <a:rPr lang="en-US" altLang="zh-CN"/>
              <a:t>e</a:t>
            </a:r>
            <a:r>
              <a:rPr lang="zh-CN" altLang="en-US"/>
              <a:t>的大小反映了材料厚度</a:t>
            </a:r>
            <a:r>
              <a:rPr lang="en-US" altLang="zh-CN"/>
              <a:t>h</a:t>
            </a:r>
            <a:r>
              <a:rPr lang="zh-CN" altLang="en-US"/>
              <a:t>的变化。</a:t>
            </a:r>
          </a:p>
          <a:p>
            <a:pPr>
              <a:spcBef>
                <a:spcPts val="0"/>
              </a:spcBef>
            </a:pPr>
            <a:r>
              <a:rPr lang="zh-CN" altLang="en-US"/>
              <a:t>实际上，材料中涡流的大小还与材料的电阻率及其化学成分、物理状态有关。这些将成为误差因素，并限制了测厚应用范围，实际应用中应考虑补偿。</a:t>
            </a:r>
          </a:p>
        </p:txBody>
      </p:sp>
      <p:sp>
        <p:nvSpPr>
          <p:cNvPr id="2" name="Slide Number Placeholder 1">
            <a:extLst>
              <a:ext uri="{FF2B5EF4-FFF2-40B4-BE49-F238E27FC236}">
                <a16:creationId xmlns:a16="http://schemas.microsoft.com/office/drawing/2014/main" id="{CCE3542D-6BBF-4AD4-A1BA-6AE81DACBD66}"/>
              </a:ext>
            </a:extLst>
          </p:cNvPr>
          <p:cNvSpPr>
            <a:spLocks noGrp="1"/>
          </p:cNvSpPr>
          <p:nvPr>
            <p:ph type="sldNum" sz="quarter" idx="12"/>
          </p:nvPr>
        </p:nvSpPr>
        <p:spPr/>
        <p:txBody>
          <a:bodyPr/>
          <a:lstStyle/>
          <a:p>
            <a:fld id="{B53602B4-F12B-41CD-B648-531F86B2CC91}" type="slidenum">
              <a:rPr lang="zh-CN" altLang="en-US" smtClean="0"/>
              <a:t>38</a:t>
            </a:fld>
            <a:endParaRPr lang="zh-CN" altLang="en-US"/>
          </a:p>
        </p:txBody>
      </p:sp>
    </p:spTree>
    <p:extLst>
      <p:ext uri="{BB962C8B-B14F-4D97-AF65-F5344CB8AC3E}">
        <p14:creationId xmlns:p14="http://schemas.microsoft.com/office/powerpoint/2010/main" val="175824322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0">
            <a:extLst>
              <a:ext uri="{FF2B5EF4-FFF2-40B4-BE49-F238E27FC236}">
                <a16:creationId xmlns:a16="http://schemas.microsoft.com/office/drawing/2014/main" id="{99CD768D-248A-4992-8836-900DFA8A01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8896" y="1790195"/>
            <a:ext cx="3074800" cy="2635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3.3.3</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1" y="360001"/>
            <a:ext cx="543609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涡流式传感器的特性及应用</a:t>
            </a:r>
          </a:p>
        </p:txBody>
      </p:sp>
      <p:sp>
        <p:nvSpPr>
          <p:cNvPr id="11" name="TextBox 10">
            <a:extLst>
              <a:ext uri="{FF2B5EF4-FFF2-40B4-BE49-F238E27FC236}">
                <a16:creationId xmlns:a16="http://schemas.microsoft.com/office/drawing/2014/main" id="{CC6B8B8C-480B-4947-9B81-10A947D767A8}"/>
              </a:ext>
            </a:extLst>
          </p:cNvPr>
          <p:cNvSpPr txBox="1"/>
          <p:nvPr/>
        </p:nvSpPr>
        <p:spPr>
          <a:xfrm>
            <a:off x="94255" y="1473946"/>
            <a:ext cx="5279546" cy="4849274"/>
          </a:xfrm>
          <a:prstGeom prst="rect">
            <a:avLst/>
          </a:prstGeom>
        </p:spPr>
        <p:txBody>
          <a:bodyPr wrap="square" lIns="91438" tIns="45719" rIns="91438" bIns="45719">
            <a:spAutoFit/>
          </a:bodyPr>
          <a:lstStyle>
            <a:defPPr>
              <a:defRPr lang="zh-CN"/>
            </a:defPPr>
            <a:lvl1pPr marL="342900" indent="-342900" algn="just">
              <a:lnSpc>
                <a:spcPct val="150000"/>
              </a:lnSpc>
              <a:spcBef>
                <a:spcPts val="670"/>
              </a:spcBef>
              <a:buFont typeface="Arial" panose="020B0604020202020204" pitchFamily="34" charset="0"/>
              <a:buChar char="•"/>
              <a:defRPr sz="2000" b="1">
                <a:latin typeface="Arial" panose="020B0604020202020204" pitchFamily="34" charset="0"/>
                <a:ea typeface="宋体" panose="02010600030101010101" pitchFamily="2" charset="-122"/>
                <a:cs typeface="Arial" panose="020B0604020202020204" pitchFamily="34" charset="0"/>
              </a:defRPr>
            </a:lvl1pPr>
          </a:lstStyle>
          <a:p>
            <a:pPr>
              <a:lnSpc>
                <a:spcPct val="130000"/>
              </a:lnSpc>
              <a:spcBef>
                <a:spcPts val="0"/>
              </a:spcBef>
            </a:pPr>
            <a:r>
              <a:rPr lang="zh-CN" altLang="en-US"/>
              <a:t>激励频率较高时，曲线各段斜率相差大，线性不好，但当</a:t>
            </a:r>
            <a:r>
              <a:rPr lang="en-US" altLang="zh-CN"/>
              <a:t>h</a:t>
            </a:r>
            <a:r>
              <a:rPr lang="zh-CN" altLang="en-US"/>
              <a:t>较小时，灵敏度高。</a:t>
            </a:r>
          </a:p>
          <a:p>
            <a:pPr>
              <a:lnSpc>
                <a:spcPct val="130000"/>
              </a:lnSpc>
              <a:spcBef>
                <a:spcPts val="0"/>
              </a:spcBef>
            </a:pPr>
            <a:r>
              <a:rPr lang="zh-CN" altLang="en-US"/>
              <a:t>激励频率较低时，线性好，测量范围大，但灵敏度低。</a:t>
            </a:r>
          </a:p>
          <a:p>
            <a:pPr>
              <a:lnSpc>
                <a:spcPct val="130000"/>
              </a:lnSpc>
              <a:spcBef>
                <a:spcPts val="0"/>
              </a:spcBef>
            </a:pPr>
            <a:r>
              <a:rPr lang="zh-CN" altLang="en-US"/>
              <a:t>为具有较宽的测量范围与较好的线性，应选用较低的激励频率。</a:t>
            </a:r>
          </a:p>
          <a:p>
            <a:pPr>
              <a:lnSpc>
                <a:spcPct val="130000"/>
              </a:lnSpc>
              <a:spcBef>
                <a:spcPts val="0"/>
              </a:spcBef>
            </a:pPr>
            <a:r>
              <a:rPr lang="zh-CN" altLang="en-US"/>
              <a:t>还可以看出，在</a:t>
            </a:r>
            <a:r>
              <a:rPr lang="en-US" altLang="zh-CN"/>
              <a:t>h</a:t>
            </a:r>
            <a:r>
              <a:rPr lang="zh-CN" altLang="en-US"/>
              <a:t>较小时，</a:t>
            </a:r>
            <a:r>
              <a:rPr lang="en-US" altLang="zh-CN"/>
              <a:t>f3</a:t>
            </a:r>
            <a:r>
              <a:rPr lang="zh-CN" altLang="en-US"/>
              <a:t>的斜率大于</a:t>
            </a:r>
            <a:r>
              <a:rPr lang="en-US" altLang="zh-CN"/>
              <a:t>f1</a:t>
            </a:r>
            <a:r>
              <a:rPr lang="zh-CN" altLang="en-US"/>
              <a:t>的斜率，而在</a:t>
            </a:r>
            <a:r>
              <a:rPr lang="en-US" altLang="zh-CN"/>
              <a:t>h</a:t>
            </a:r>
            <a:r>
              <a:rPr lang="zh-CN" altLang="en-US"/>
              <a:t>较大时，</a:t>
            </a:r>
            <a:r>
              <a:rPr lang="en-US" altLang="zh-CN"/>
              <a:t>f1</a:t>
            </a:r>
            <a:r>
              <a:rPr lang="zh-CN" altLang="en-US"/>
              <a:t>的斜率大于</a:t>
            </a:r>
            <a:r>
              <a:rPr lang="en-US" altLang="zh-CN"/>
              <a:t>f3</a:t>
            </a:r>
            <a:r>
              <a:rPr lang="zh-CN" altLang="en-US"/>
              <a:t>的斜率。</a:t>
            </a:r>
          </a:p>
          <a:p>
            <a:pPr>
              <a:lnSpc>
                <a:spcPct val="130000"/>
              </a:lnSpc>
              <a:spcBef>
                <a:spcPts val="0"/>
              </a:spcBef>
            </a:pPr>
            <a:r>
              <a:rPr lang="zh-CN" altLang="en-US"/>
              <a:t>因此，测薄板时应选较高频率，测厚板时应选较低频率。</a:t>
            </a:r>
          </a:p>
          <a:p>
            <a:pPr>
              <a:lnSpc>
                <a:spcPct val="130000"/>
              </a:lnSpc>
              <a:spcBef>
                <a:spcPts val="0"/>
              </a:spcBef>
            </a:pPr>
            <a:r>
              <a:rPr lang="zh-CN" altLang="en-US"/>
              <a:t>对不同的金属材料，也应选不同的频率。</a:t>
            </a:r>
          </a:p>
        </p:txBody>
      </p:sp>
      <p:sp>
        <p:nvSpPr>
          <p:cNvPr id="10" name="Text Box 9">
            <a:extLst>
              <a:ext uri="{FF2B5EF4-FFF2-40B4-BE49-F238E27FC236}">
                <a16:creationId xmlns:a16="http://schemas.microsoft.com/office/drawing/2014/main" id="{DC34A98A-0E18-4FB8-905C-AEC2B8DE4D92}"/>
              </a:ext>
            </a:extLst>
          </p:cNvPr>
          <p:cNvSpPr txBox="1">
            <a:spLocks noChangeArrowheads="1"/>
          </p:cNvSpPr>
          <p:nvPr/>
        </p:nvSpPr>
        <p:spPr bwMode="auto">
          <a:xfrm>
            <a:off x="5301230" y="4710499"/>
            <a:ext cx="384712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spcBef>
                <a:spcPct val="50000"/>
              </a:spcBef>
            </a:pPr>
            <a:r>
              <a:rPr lang="zh-CN" altLang="en-US" b="1" dirty="0">
                <a:solidFill>
                  <a:srgbClr val="000099"/>
                </a:solidFill>
              </a:rPr>
              <a:t>图</a:t>
            </a:r>
            <a:r>
              <a:rPr lang="en-US" altLang="zh-CN" b="1" dirty="0">
                <a:solidFill>
                  <a:srgbClr val="000099"/>
                </a:solidFill>
              </a:rPr>
              <a:t>3-33  </a:t>
            </a:r>
            <a:r>
              <a:rPr lang="zh-CN" altLang="en-US" b="1" dirty="0">
                <a:solidFill>
                  <a:srgbClr val="000099"/>
                </a:solidFill>
              </a:rPr>
              <a:t>同一材料不同频率下的</a:t>
            </a:r>
            <a:r>
              <a:rPr lang="en-US" altLang="zh-CN" b="1" i="1" dirty="0">
                <a:solidFill>
                  <a:srgbClr val="000099"/>
                </a:solidFill>
              </a:rPr>
              <a:t>e</a:t>
            </a:r>
            <a:r>
              <a:rPr lang="en-US" altLang="zh-CN" b="1" dirty="0">
                <a:solidFill>
                  <a:srgbClr val="000099"/>
                </a:solidFill>
              </a:rPr>
              <a:t>=</a:t>
            </a:r>
            <a:r>
              <a:rPr lang="en-US" altLang="zh-CN" b="1" i="1" dirty="0">
                <a:solidFill>
                  <a:srgbClr val="000099"/>
                </a:solidFill>
              </a:rPr>
              <a:t>f</a:t>
            </a:r>
            <a:r>
              <a:rPr lang="en-US" altLang="zh-CN" b="1" dirty="0">
                <a:solidFill>
                  <a:srgbClr val="000099"/>
                </a:solidFill>
              </a:rPr>
              <a:t>(</a:t>
            </a:r>
            <a:r>
              <a:rPr lang="en-US" altLang="zh-CN" b="1" i="1" dirty="0">
                <a:solidFill>
                  <a:srgbClr val="000099"/>
                </a:solidFill>
              </a:rPr>
              <a:t>h</a:t>
            </a:r>
            <a:r>
              <a:rPr lang="en-US" altLang="zh-CN" b="1" dirty="0">
                <a:solidFill>
                  <a:srgbClr val="000099"/>
                </a:solidFill>
              </a:rPr>
              <a:t>)</a:t>
            </a:r>
            <a:r>
              <a:rPr lang="zh-CN" altLang="en-US" b="1" dirty="0">
                <a:solidFill>
                  <a:srgbClr val="000099"/>
                </a:solidFill>
              </a:rPr>
              <a:t>关系曲线</a:t>
            </a:r>
          </a:p>
        </p:txBody>
      </p:sp>
      <p:sp>
        <p:nvSpPr>
          <p:cNvPr id="2" name="Slide Number Placeholder 1">
            <a:extLst>
              <a:ext uri="{FF2B5EF4-FFF2-40B4-BE49-F238E27FC236}">
                <a16:creationId xmlns:a16="http://schemas.microsoft.com/office/drawing/2014/main" id="{F5451D08-F8ED-49FB-959B-BCF7297FA912}"/>
              </a:ext>
            </a:extLst>
          </p:cNvPr>
          <p:cNvSpPr>
            <a:spLocks noGrp="1"/>
          </p:cNvSpPr>
          <p:nvPr>
            <p:ph type="sldNum" sz="quarter" idx="12"/>
          </p:nvPr>
        </p:nvSpPr>
        <p:spPr/>
        <p:txBody>
          <a:bodyPr/>
          <a:lstStyle/>
          <a:p>
            <a:fld id="{B53602B4-F12B-41CD-B648-531F86B2CC91}" type="slidenum">
              <a:rPr lang="zh-CN" altLang="en-US" smtClean="0"/>
              <a:t>39</a:t>
            </a:fld>
            <a:endParaRPr lang="zh-CN" altLang="en-US"/>
          </a:p>
        </p:txBody>
      </p:sp>
    </p:spTree>
    <p:extLst>
      <p:ext uri="{BB962C8B-B14F-4D97-AF65-F5344CB8AC3E}">
        <p14:creationId xmlns:p14="http://schemas.microsoft.com/office/powerpoint/2010/main" val="292262558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3.4</a:t>
            </a:r>
          </a:p>
        </p:txBody>
      </p:sp>
      <p:sp>
        <p:nvSpPr>
          <p:cNvPr id="46" name="矩形 45"/>
          <p:cNvSpPr/>
          <p:nvPr/>
        </p:nvSpPr>
        <p:spPr>
          <a:xfrm>
            <a:off x="1960200" y="360001"/>
            <a:ext cx="281037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压磁式传感器</a:t>
            </a:r>
          </a:p>
        </p:txBody>
      </p:sp>
      <p:sp>
        <p:nvSpPr>
          <p:cNvPr id="28" name="文本框 27"/>
          <p:cNvSpPr txBox="1"/>
          <p:nvPr/>
        </p:nvSpPr>
        <p:spPr>
          <a:xfrm>
            <a:off x="1506740" y="1406759"/>
            <a:ext cx="5832266" cy="461665"/>
          </a:xfrm>
          <a:prstGeom prst="rect">
            <a:avLst/>
          </a:prstGeom>
          <a:noFill/>
        </p:spPr>
        <p:txBody>
          <a:bodyPr wrap="square" rtlCol="0">
            <a:spAutoFit/>
          </a:bodyPr>
          <a:lstStyle/>
          <a:p>
            <a:pPr marL="1527175" indent="-1527175"/>
            <a:r>
              <a:rPr lang="zh-CN" altLang="en-US" sz="2400" b="1" dirty="0">
                <a:solidFill>
                  <a:srgbClr val="C00000"/>
                </a:solidFill>
                <a:latin typeface="宋体" panose="02010600030101010101" pitchFamily="2" charset="-122"/>
                <a:ea typeface="宋体" panose="02010600030101010101" pitchFamily="2" charset="-122"/>
              </a:rPr>
              <a:t>英文名称：</a:t>
            </a:r>
            <a:r>
              <a:rPr lang="en-US" altLang="zh-CN" sz="2400" b="1" dirty="0" err="1">
                <a:solidFill>
                  <a:srgbClr val="C00000"/>
                </a:solidFill>
                <a:latin typeface="宋体" panose="02010600030101010101" pitchFamily="2" charset="-122"/>
                <a:ea typeface="宋体" panose="02010600030101010101" pitchFamily="2" charset="-122"/>
              </a:rPr>
              <a:t>Piezomagnetic</a:t>
            </a:r>
            <a:r>
              <a:rPr lang="en-US" altLang="zh-CN" sz="2400" b="1" dirty="0">
                <a:solidFill>
                  <a:srgbClr val="C00000"/>
                </a:solidFill>
                <a:latin typeface="宋体" panose="02010600030101010101" pitchFamily="2" charset="-122"/>
                <a:ea typeface="宋体" panose="02010600030101010101" pitchFamily="2" charset="-122"/>
              </a:rPr>
              <a:t> Sensor</a:t>
            </a:r>
            <a:endParaRPr lang="zh-CN" altLang="en-US" sz="2400" b="1" dirty="0">
              <a:solidFill>
                <a:srgbClr val="C00000"/>
              </a:solidFill>
              <a:latin typeface="宋体" panose="02010600030101010101" pitchFamily="2" charset="-122"/>
              <a:ea typeface="宋体" panose="02010600030101010101" pitchFamily="2" charset="-122"/>
            </a:endParaRPr>
          </a:p>
        </p:txBody>
      </p:sp>
      <p:sp>
        <p:nvSpPr>
          <p:cNvPr id="21" name="圆角矩形 72">
            <a:extLst>
              <a:ext uri="{FF2B5EF4-FFF2-40B4-BE49-F238E27FC236}">
                <a16:creationId xmlns:a16="http://schemas.microsoft.com/office/drawing/2014/main" id="{343D7C8A-72E9-4E11-82F9-04D1F37F1B07}"/>
              </a:ext>
            </a:extLst>
          </p:cNvPr>
          <p:cNvSpPr/>
          <p:nvPr/>
        </p:nvSpPr>
        <p:spPr>
          <a:xfrm rot="10800000" flipV="1">
            <a:off x="2023893" y="3022465"/>
            <a:ext cx="109993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3.4.1</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23" name="圆角矩形 73">
            <a:extLst>
              <a:ext uri="{FF2B5EF4-FFF2-40B4-BE49-F238E27FC236}">
                <a16:creationId xmlns:a16="http://schemas.microsoft.com/office/drawing/2014/main" id="{7997A031-0667-4F3B-9AA0-BAB02B443096}"/>
              </a:ext>
            </a:extLst>
          </p:cNvPr>
          <p:cNvSpPr/>
          <p:nvPr/>
        </p:nvSpPr>
        <p:spPr>
          <a:xfrm rot="10800000" flipV="1">
            <a:off x="2023891" y="4086965"/>
            <a:ext cx="1099935" cy="467244"/>
          </a:xfrm>
          <a:prstGeom prst="roundRect">
            <a:avLst>
              <a:gd name="adj" fmla="val 5039"/>
            </a:avLst>
          </a:prstGeom>
          <a:solidFill>
            <a:schemeClr val="bg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3.4.2</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2" name="矩形 1"/>
          <p:cNvSpPr/>
          <p:nvPr/>
        </p:nvSpPr>
        <p:spPr>
          <a:xfrm>
            <a:off x="3331671" y="3022465"/>
            <a:ext cx="1627369" cy="523220"/>
          </a:xfrm>
          <a:prstGeom prst="rect">
            <a:avLst/>
          </a:prstGeom>
        </p:spPr>
        <p:txBody>
          <a:bodyPr wrap="none">
            <a:spAutoFit/>
          </a:bodyPr>
          <a:lstStyle/>
          <a:p>
            <a:r>
              <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hlinkClick r:id="rId3" action="ppaction://hlinksldjump"/>
              </a:rPr>
              <a:t>工作原理</a:t>
            </a:r>
            <a:endPar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endParaRPr>
          </a:p>
        </p:txBody>
      </p:sp>
      <p:sp>
        <p:nvSpPr>
          <p:cNvPr id="4" name="矩形 3"/>
          <p:cNvSpPr/>
          <p:nvPr/>
        </p:nvSpPr>
        <p:spPr>
          <a:xfrm>
            <a:off x="3331671" y="4078573"/>
            <a:ext cx="1627369" cy="523220"/>
          </a:xfrm>
          <a:prstGeom prst="rect">
            <a:avLst/>
          </a:prstGeom>
        </p:spPr>
        <p:txBody>
          <a:bodyPr wrap="none">
            <a:spAutoFit/>
          </a:bodyPr>
          <a:lstStyle/>
          <a:p>
            <a:r>
              <a:rPr lang="zh-CN" altLang="en-US" sz="2800" b="1" dirty="0">
                <a:solidFill>
                  <a:schemeClr val="bg1">
                    <a:lumMod val="65000"/>
                  </a:schemeClr>
                </a:solidFill>
                <a:latin typeface="Arial" panose="020B0604020202020204" pitchFamily="34" charset="0"/>
                <a:ea typeface="宋体" panose="02010600030101010101" pitchFamily="2" charset="-122"/>
                <a:cs typeface="Arial" panose="020B0604020202020204" pitchFamily="34" charset="0"/>
                <a:sym typeface="+mn-ea"/>
                <a:hlinkClick r:id="rId4" action="ppaction://hlinksldjump">
                  <a:extLst>
                    <a:ext uri="{A12FA001-AC4F-418D-AE19-62706E023703}">
                      <ahyp:hlinkClr xmlns:ahyp="http://schemas.microsoft.com/office/drawing/2018/hyperlinkcolor" val="tx"/>
                    </a:ext>
                  </a:extLst>
                </a:hlinkClick>
              </a:rPr>
              <a:t>结构形式</a:t>
            </a:r>
            <a:endParaRPr lang="zh-CN" altLang="en-US" sz="2800" b="1" dirty="0">
              <a:solidFill>
                <a:schemeClr val="bg1">
                  <a:lumMod val="65000"/>
                </a:schemeClr>
              </a:solidFill>
              <a:latin typeface="Arial" panose="020B0604020202020204" pitchFamily="34" charset="0"/>
              <a:ea typeface="宋体" panose="02010600030101010101" pitchFamily="2" charset="-122"/>
              <a:cs typeface="Arial" panose="020B0604020202020204" pitchFamily="34" charset="0"/>
              <a:sym typeface="+mn-ea"/>
            </a:endParaRPr>
          </a:p>
        </p:txBody>
      </p:sp>
      <p:sp>
        <p:nvSpPr>
          <p:cNvPr id="3" name="Slide Number Placeholder 2">
            <a:extLst>
              <a:ext uri="{FF2B5EF4-FFF2-40B4-BE49-F238E27FC236}">
                <a16:creationId xmlns:a16="http://schemas.microsoft.com/office/drawing/2014/main" id="{2C71768D-1906-43FA-A208-C8063B12EBEC}"/>
              </a:ext>
            </a:extLst>
          </p:cNvPr>
          <p:cNvSpPr>
            <a:spLocks noGrp="1"/>
          </p:cNvSpPr>
          <p:nvPr>
            <p:ph type="sldNum" sz="quarter" idx="12"/>
          </p:nvPr>
        </p:nvSpPr>
        <p:spPr/>
        <p:txBody>
          <a:bodyPr/>
          <a:lstStyle/>
          <a:p>
            <a:fld id="{B53602B4-F12B-41CD-B648-531F86B2CC91}" type="slidenum">
              <a:rPr lang="zh-CN" altLang="en-US" smtClean="0"/>
              <a:t>40</a:t>
            </a:fld>
            <a:endParaRPr lang="zh-CN" altLang="en-US"/>
          </a:p>
        </p:txBody>
      </p:sp>
    </p:spTree>
    <p:extLst>
      <p:ext uri="{BB962C8B-B14F-4D97-AF65-F5344CB8AC3E}">
        <p14:creationId xmlns:p14="http://schemas.microsoft.com/office/powerpoint/2010/main" val="313923940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3.4.1</a:t>
            </a:r>
          </a:p>
        </p:txBody>
      </p:sp>
      <p:sp>
        <p:nvSpPr>
          <p:cNvPr id="46" name="矩形 45"/>
          <p:cNvSpPr/>
          <p:nvPr/>
        </p:nvSpPr>
        <p:spPr>
          <a:xfrm>
            <a:off x="1960200" y="360001"/>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工作原理</a:t>
            </a:r>
          </a:p>
        </p:txBody>
      </p:sp>
      <p:sp>
        <p:nvSpPr>
          <p:cNvPr id="25" name="Rectangle 3"/>
          <p:cNvSpPr>
            <a:spLocks noRot="1" noChangeArrowheads="1"/>
          </p:cNvSpPr>
          <p:nvPr/>
        </p:nvSpPr>
        <p:spPr bwMode="auto">
          <a:xfrm>
            <a:off x="895298" y="1140015"/>
            <a:ext cx="7035738" cy="4985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lnSpc>
                <a:spcPct val="150000"/>
              </a:lnSpc>
              <a:buClr>
                <a:schemeClr val="folHlink"/>
              </a:buClr>
              <a:buFont typeface="Wingdings" panose="05000000000000000000" pitchFamily="2" charset="2"/>
              <a:buNone/>
            </a:pP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某些铁磁物质在外界机械力的作用下，内部产生机械应力，从而引起磁导率的改变，这种现象称为</a:t>
            </a:r>
            <a:r>
              <a:rPr lang="zh-CN" altLang="en-US" sz="2400" b="1" dirty="0">
                <a:ea typeface="宋体" panose="02010600030101010101" pitchFamily="2" charset="-122"/>
              </a:rPr>
              <a:t>“</a:t>
            </a:r>
            <a:r>
              <a:rPr lang="zh-CN" altLang="en-US" sz="2400" b="1" dirty="0">
                <a:solidFill>
                  <a:srgbClr val="FF0000"/>
                </a:solidFill>
                <a:latin typeface="宋体" panose="02010600030101010101" pitchFamily="2" charset="-122"/>
                <a:ea typeface="宋体" panose="02010600030101010101" pitchFamily="2" charset="-122"/>
              </a:rPr>
              <a:t>压磁效应</a:t>
            </a:r>
            <a:r>
              <a:rPr lang="zh-CN" altLang="en-US" sz="2400" b="1" dirty="0">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a:t>
            </a:r>
          </a:p>
          <a:p>
            <a:pPr eaLnBrk="1" hangingPunct="1">
              <a:lnSpc>
                <a:spcPct val="150000"/>
              </a:lnSpc>
              <a:buClr>
                <a:schemeClr val="folHlink"/>
              </a:buClr>
              <a:buFont typeface="Wingdings" panose="05000000000000000000" pitchFamily="2" charset="2"/>
              <a:buNone/>
            </a:pPr>
            <a:r>
              <a:rPr lang="zh-CN" altLang="en-US" sz="2400" b="1" dirty="0">
                <a:latin typeface="宋体" panose="02010600030101010101" pitchFamily="2" charset="-122"/>
                <a:ea typeface="宋体" panose="02010600030101010101" pitchFamily="2" charset="-122"/>
              </a:rPr>
              <a:t>    相反，某些铁磁物质在外界磁场的作用下会产生变形，有些伸长，有些则压缩，这种现象称为</a:t>
            </a:r>
            <a:r>
              <a:rPr lang="zh-CN" altLang="en-US" sz="2400" b="1" dirty="0">
                <a:ea typeface="宋体" panose="02010600030101010101" pitchFamily="2" charset="-122"/>
              </a:rPr>
              <a:t>“</a:t>
            </a:r>
            <a:r>
              <a:rPr lang="zh-CN" altLang="en-US" sz="2400" b="1" dirty="0">
                <a:solidFill>
                  <a:srgbClr val="0070C0"/>
                </a:solidFill>
                <a:latin typeface="宋体" panose="02010600030101010101" pitchFamily="2" charset="-122"/>
                <a:ea typeface="宋体" panose="02010600030101010101" pitchFamily="2" charset="-122"/>
              </a:rPr>
              <a:t>磁致伸缩</a:t>
            </a:r>
            <a:r>
              <a:rPr lang="zh-CN" altLang="en-US" sz="2400" b="1" dirty="0">
                <a:ea typeface="宋体" panose="02010600030101010101" pitchFamily="2" charset="-122"/>
              </a:rPr>
              <a:t>” </a:t>
            </a:r>
            <a:r>
              <a:rPr lang="en-US" altLang="zh-CN" sz="2400" b="1" dirty="0">
                <a:latin typeface="宋体" panose="02010600030101010101" pitchFamily="2" charset="-122"/>
                <a:ea typeface="宋体" panose="02010600030101010101" pitchFamily="2" charset="-122"/>
              </a:rPr>
              <a:t>(</a:t>
            </a:r>
            <a:r>
              <a:rPr lang="en-US" altLang="zh-CN" sz="2400" b="1" dirty="0" err="1">
                <a:latin typeface="宋体" panose="02010600030101010101" pitchFamily="2" charset="-122"/>
                <a:ea typeface="宋体" panose="02010600030101010101" pitchFamily="2" charset="-122"/>
              </a:rPr>
              <a:t>Magnetostriction</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 </a:t>
            </a:r>
          </a:p>
          <a:p>
            <a:pPr eaLnBrk="1" hangingPunct="1">
              <a:lnSpc>
                <a:spcPct val="150000"/>
              </a:lnSpc>
              <a:buClr>
                <a:schemeClr val="folHlink"/>
              </a:buClr>
              <a:buFont typeface="Wingdings" panose="05000000000000000000" pitchFamily="2" charset="2"/>
              <a:buNone/>
            </a:pPr>
            <a:r>
              <a:rPr lang="zh-CN" altLang="en-US" sz="2400" b="1" dirty="0">
                <a:latin typeface="宋体" panose="02010600030101010101" pitchFamily="2" charset="-122"/>
                <a:ea typeface="宋体" panose="02010600030101010101" pitchFamily="2" charset="-122"/>
              </a:rPr>
              <a:t>    某些材料受拉时，在受力方向上磁导率增高，而在与作用力相垂直的方向上磁导率降低，这种现象称为</a:t>
            </a:r>
            <a:r>
              <a:rPr lang="zh-CN" altLang="en-US" sz="2400" b="1" dirty="0">
                <a:solidFill>
                  <a:srgbClr val="3333CC"/>
                </a:solidFill>
                <a:latin typeface="宋体" panose="02010600030101010101" pitchFamily="2" charset="-122"/>
                <a:ea typeface="宋体" panose="02010600030101010101" pitchFamily="2" charset="-122"/>
              </a:rPr>
              <a:t>正压磁效应</a:t>
            </a:r>
            <a:r>
              <a:rPr lang="zh-CN" altLang="en-US" sz="2400" b="1" dirty="0">
                <a:latin typeface="宋体" panose="02010600030101010101" pitchFamily="2" charset="-122"/>
                <a:ea typeface="宋体" panose="02010600030101010101" pitchFamily="2" charset="-122"/>
              </a:rPr>
              <a:t>；与此相反的称为</a:t>
            </a:r>
            <a:r>
              <a:rPr lang="zh-CN" altLang="en-US" sz="2400" b="1" dirty="0">
                <a:solidFill>
                  <a:srgbClr val="3333CC"/>
                </a:solidFill>
                <a:latin typeface="宋体" panose="02010600030101010101" pitchFamily="2" charset="-122"/>
                <a:ea typeface="宋体" panose="02010600030101010101" pitchFamily="2" charset="-122"/>
              </a:rPr>
              <a:t>负压磁效应</a:t>
            </a:r>
            <a:r>
              <a:rPr lang="zh-CN" altLang="en-US" sz="2400" b="1" dirty="0">
                <a:latin typeface="宋体" panose="02010600030101010101" pitchFamily="2" charset="-122"/>
                <a:ea typeface="宋体" panose="02010600030101010101" pitchFamily="2" charset="-122"/>
              </a:rPr>
              <a:t>。</a:t>
            </a:r>
          </a:p>
        </p:txBody>
      </p:sp>
      <p:sp>
        <p:nvSpPr>
          <p:cNvPr id="2" name="Slide Number Placeholder 1">
            <a:extLst>
              <a:ext uri="{FF2B5EF4-FFF2-40B4-BE49-F238E27FC236}">
                <a16:creationId xmlns:a16="http://schemas.microsoft.com/office/drawing/2014/main" id="{796422B4-6C02-4A8B-A186-4B8B9DCF00D3}"/>
              </a:ext>
            </a:extLst>
          </p:cNvPr>
          <p:cNvSpPr>
            <a:spLocks noGrp="1"/>
          </p:cNvSpPr>
          <p:nvPr>
            <p:ph type="sldNum" sz="quarter" idx="12"/>
          </p:nvPr>
        </p:nvSpPr>
        <p:spPr/>
        <p:txBody>
          <a:bodyPr/>
          <a:lstStyle/>
          <a:p>
            <a:fld id="{B53602B4-F12B-41CD-B648-531F86B2CC91}" type="slidenum">
              <a:rPr lang="zh-CN" altLang="en-US" smtClean="0"/>
              <a:t>41</a:t>
            </a:fld>
            <a:endParaRPr lang="zh-CN" altLang="en-US"/>
          </a:p>
        </p:txBody>
      </p:sp>
    </p:spTree>
    <p:extLst>
      <p:ext uri="{BB962C8B-B14F-4D97-AF65-F5344CB8AC3E}">
        <p14:creationId xmlns:p14="http://schemas.microsoft.com/office/powerpoint/2010/main" val="183565356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3.4.1</a:t>
            </a:r>
          </a:p>
        </p:txBody>
      </p:sp>
      <p:sp>
        <p:nvSpPr>
          <p:cNvPr id="46" name="矩形 45"/>
          <p:cNvSpPr/>
          <p:nvPr/>
        </p:nvSpPr>
        <p:spPr>
          <a:xfrm>
            <a:off x="1960200" y="360001"/>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工作原理</a:t>
            </a:r>
          </a:p>
        </p:txBody>
      </p:sp>
      <p:sp>
        <p:nvSpPr>
          <p:cNvPr id="20" name="Rectangle 17"/>
          <p:cNvSpPr>
            <a:spLocks noRot="1" noChangeArrowheads="1"/>
          </p:cNvSpPr>
          <p:nvPr/>
        </p:nvSpPr>
        <p:spPr bwMode="auto">
          <a:xfrm>
            <a:off x="830203" y="1507232"/>
            <a:ext cx="7839637" cy="3983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spcBef>
                <a:spcPct val="20000"/>
              </a:spcBef>
              <a:buClr>
                <a:schemeClr val="folHlink"/>
              </a:buClr>
              <a:buFont typeface="Wingdings" panose="05000000000000000000" pitchFamily="2" charset="2"/>
              <a:buNone/>
            </a:pPr>
            <a:r>
              <a:rPr lang="en-US" altLang="zh-CN" sz="2400" b="1" dirty="0">
                <a:latin typeface="宋体" panose="02010600030101010101" pitchFamily="2" charset="-122"/>
                <a:ea typeface="宋体" panose="02010600030101010101" pitchFamily="2" charset="-122"/>
              </a:rPr>
              <a:t>    </a:t>
            </a:r>
          </a:p>
          <a:p>
            <a:pPr eaLnBrk="1" hangingPunct="1">
              <a:lnSpc>
                <a:spcPct val="150000"/>
              </a:lnSpc>
              <a:spcBef>
                <a:spcPct val="20000"/>
              </a:spcBef>
              <a:buClr>
                <a:schemeClr val="folHlink"/>
              </a:buClr>
              <a:buFont typeface="Wingdings" panose="05000000000000000000" pitchFamily="2" charset="2"/>
              <a:buNone/>
            </a:pPr>
            <a:r>
              <a:rPr lang="en-US" altLang="zh-CN" sz="2400" b="1" dirty="0">
                <a:latin typeface="宋体" panose="02010600030101010101" pitchFamily="2" charset="-122"/>
                <a:ea typeface="宋体" panose="02010600030101010101" pitchFamily="2" charset="-122"/>
              </a:rPr>
              <a:t>    </a:t>
            </a:r>
            <a:r>
              <a:rPr lang="zh-CN" altLang="en-US" sz="2400" b="1" dirty="0">
                <a:solidFill>
                  <a:srgbClr val="0070C0"/>
                </a:solidFill>
                <a:latin typeface="宋体" panose="02010600030101010101" pitchFamily="2" charset="-122"/>
                <a:ea typeface="宋体" panose="02010600030101010101" pitchFamily="2" charset="-122"/>
              </a:rPr>
              <a:t>实验</a:t>
            </a:r>
            <a:r>
              <a:rPr lang="zh-CN" altLang="en-US" sz="2400" b="1" dirty="0">
                <a:latin typeface="宋体" panose="02010600030101010101" pitchFamily="2" charset="-122"/>
                <a:ea typeface="宋体" panose="02010600030101010101" pitchFamily="2" charset="-122"/>
              </a:rPr>
              <a:t>证明：只有在一定条件下（如磁场强度恒定）压磁效应才有</a:t>
            </a:r>
            <a:r>
              <a:rPr lang="zh-CN" altLang="en-US" sz="2400" b="1" dirty="0">
                <a:solidFill>
                  <a:srgbClr val="3333CC"/>
                </a:solidFill>
                <a:latin typeface="宋体" panose="02010600030101010101" pitchFamily="2" charset="-122"/>
                <a:ea typeface="宋体" panose="02010600030101010101" pitchFamily="2" charset="-122"/>
              </a:rPr>
              <a:t>单值特性</a:t>
            </a:r>
            <a:r>
              <a:rPr lang="zh-CN" altLang="en-US" sz="2400" b="1" dirty="0">
                <a:latin typeface="宋体" panose="02010600030101010101" pitchFamily="2" charset="-122"/>
                <a:ea typeface="宋体" panose="02010600030101010101" pitchFamily="2" charset="-122"/>
              </a:rPr>
              <a:t>，但</a:t>
            </a:r>
            <a:r>
              <a:rPr lang="zh-CN" altLang="en-US" sz="2400" b="1" dirty="0">
                <a:solidFill>
                  <a:srgbClr val="FF0000"/>
                </a:solidFill>
                <a:latin typeface="宋体" panose="02010600030101010101" pitchFamily="2" charset="-122"/>
                <a:ea typeface="宋体" panose="02010600030101010101" pitchFamily="2" charset="-122"/>
              </a:rPr>
              <a:t>不是线性关系</a:t>
            </a:r>
            <a:r>
              <a:rPr lang="zh-CN" altLang="en-US" sz="2400" b="1" dirty="0">
                <a:latin typeface="宋体" panose="02010600030101010101" pitchFamily="2" charset="-122"/>
                <a:ea typeface="宋体" panose="02010600030101010101" pitchFamily="2" charset="-122"/>
              </a:rPr>
              <a:t>。</a:t>
            </a:r>
          </a:p>
          <a:p>
            <a:pPr eaLnBrk="1" hangingPunct="1">
              <a:lnSpc>
                <a:spcPct val="150000"/>
              </a:lnSpc>
              <a:spcBef>
                <a:spcPct val="20000"/>
              </a:spcBef>
              <a:buClr>
                <a:schemeClr val="folHlink"/>
              </a:buClr>
              <a:buFont typeface="Wingdings" panose="05000000000000000000" pitchFamily="2" charset="2"/>
              <a:buNone/>
            </a:pPr>
            <a:r>
              <a:rPr lang="zh-CN" altLang="en-US" sz="2400" b="1" dirty="0">
                <a:latin typeface="宋体" panose="02010600030101010101" pitchFamily="2" charset="-122"/>
                <a:ea typeface="宋体" panose="02010600030101010101" pitchFamily="2" charset="-122"/>
              </a:rPr>
              <a:t>    就同一种铁磁材料而言，在外界机械力的作用下，磁导率的改变与磁场强度有着</a:t>
            </a:r>
            <a:r>
              <a:rPr lang="zh-CN" altLang="en-US" sz="2400" b="1">
                <a:latin typeface="宋体" panose="02010600030101010101" pitchFamily="2" charset="-122"/>
                <a:ea typeface="宋体" panose="02010600030101010101" pitchFamily="2" charset="-122"/>
              </a:rPr>
              <a:t>密切关</a:t>
            </a:r>
            <a:r>
              <a:rPr lang="zh-CN" altLang="en-US" sz="2400" b="1" dirty="0">
                <a:latin typeface="宋体" panose="02010600030101010101" pitchFamily="2" charset="-122"/>
                <a:ea typeface="宋体" panose="02010600030101010101" pitchFamily="2" charset="-122"/>
              </a:rPr>
              <a:t>系，如磁场较强时，磁导率</a:t>
            </a:r>
            <a:r>
              <a:rPr lang="zh-CN" altLang="en-US" sz="2400" b="1">
                <a:latin typeface="宋体" panose="02010600030101010101" pitchFamily="2" charset="-122"/>
                <a:ea typeface="宋体" panose="02010600030101010101" pitchFamily="2" charset="-122"/>
              </a:rPr>
              <a:t>随外力</a:t>
            </a:r>
            <a:r>
              <a:rPr lang="zh-CN" altLang="en-US" sz="2400" b="1" dirty="0">
                <a:latin typeface="宋体" panose="02010600030101010101" pitchFamily="2" charset="-122"/>
                <a:ea typeface="宋体" panose="02010600030101010101" pitchFamily="2" charset="-122"/>
              </a:rPr>
              <a:t>的增加而减小，而当磁场较弱时则有相反的结果。</a:t>
            </a:r>
          </a:p>
        </p:txBody>
      </p:sp>
      <p:sp>
        <p:nvSpPr>
          <p:cNvPr id="2" name="Slide Number Placeholder 1">
            <a:extLst>
              <a:ext uri="{FF2B5EF4-FFF2-40B4-BE49-F238E27FC236}">
                <a16:creationId xmlns:a16="http://schemas.microsoft.com/office/drawing/2014/main" id="{72473173-0AFE-445E-9C8E-1B09C4983397}"/>
              </a:ext>
            </a:extLst>
          </p:cNvPr>
          <p:cNvSpPr>
            <a:spLocks noGrp="1"/>
          </p:cNvSpPr>
          <p:nvPr>
            <p:ph type="sldNum" sz="quarter" idx="12"/>
          </p:nvPr>
        </p:nvSpPr>
        <p:spPr/>
        <p:txBody>
          <a:bodyPr/>
          <a:lstStyle/>
          <a:p>
            <a:fld id="{B53602B4-F12B-41CD-B648-531F86B2CC91}" type="slidenum">
              <a:rPr lang="zh-CN" altLang="en-US" smtClean="0"/>
              <a:t>42</a:t>
            </a:fld>
            <a:endParaRPr lang="zh-CN" altLang="en-US"/>
          </a:p>
        </p:txBody>
      </p:sp>
    </p:spTree>
    <p:extLst>
      <p:ext uri="{BB962C8B-B14F-4D97-AF65-F5344CB8AC3E}">
        <p14:creationId xmlns:p14="http://schemas.microsoft.com/office/powerpoint/2010/main" val="85062098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3.4.1</a:t>
            </a:r>
          </a:p>
        </p:txBody>
      </p:sp>
      <p:sp>
        <p:nvSpPr>
          <p:cNvPr id="46" name="矩形 45"/>
          <p:cNvSpPr/>
          <p:nvPr/>
        </p:nvSpPr>
        <p:spPr>
          <a:xfrm>
            <a:off x="1960200" y="360001"/>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工作原理</a:t>
            </a:r>
          </a:p>
        </p:txBody>
      </p:sp>
      <p:sp>
        <p:nvSpPr>
          <p:cNvPr id="28" name="Rectangle 3"/>
          <p:cNvSpPr>
            <a:spLocks noRot="1" noChangeArrowheads="1"/>
          </p:cNvSpPr>
          <p:nvPr/>
        </p:nvSpPr>
        <p:spPr bwMode="auto">
          <a:xfrm>
            <a:off x="954667" y="1239713"/>
            <a:ext cx="7115135" cy="491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marL="0" indent="0" eaLnBrk="1" hangingPunct="1">
              <a:lnSpc>
                <a:spcPct val="150000"/>
              </a:lnSpc>
              <a:spcBef>
                <a:spcPct val="20000"/>
              </a:spcBef>
              <a:buClr>
                <a:schemeClr val="folHlink"/>
              </a:buClr>
              <a:buFont typeface="Wingdings" panose="05000000000000000000" pitchFamily="2" charset="2"/>
              <a:buNone/>
            </a:pP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铁磁材料的压磁应变灵敏度</a:t>
            </a:r>
            <a:r>
              <a:rPr lang="en-US" altLang="zh-CN" sz="2400" b="1" dirty="0">
                <a:latin typeface="宋体" panose="02010600030101010101" pitchFamily="2" charset="-122"/>
                <a:ea typeface="宋体" panose="02010600030101010101" pitchFamily="2" charset="-122"/>
              </a:rPr>
              <a:t>:</a:t>
            </a:r>
            <a:endParaRPr lang="zh-CN" altLang="en-US" sz="2400" b="1" dirty="0">
              <a:latin typeface="宋体" panose="02010600030101010101" pitchFamily="2" charset="-122"/>
              <a:ea typeface="宋体" panose="02010600030101010101" pitchFamily="2" charset="-122"/>
            </a:endParaRPr>
          </a:p>
          <a:p>
            <a:pPr marL="0" indent="0" eaLnBrk="1" hangingPunct="1">
              <a:lnSpc>
                <a:spcPct val="150000"/>
              </a:lnSpc>
              <a:spcBef>
                <a:spcPct val="20000"/>
              </a:spcBef>
              <a:buClr>
                <a:schemeClr val="folHlink"/>
              </a:buClr>
              <a:buFont typeface="Wingdings" panose="05000000000000000000" pitchFamily="2" charset="2"/>
              <a:buNone/>
            </a:pPr>
            <a:r>
              <a:rPr lang="zh-CN" altLang="en-US" sz="2400" b="1" dirty="0">
                <a:latin typeface="宋体" panose="02010600030101010101" pitchFamily="2" charset="-122"/>
                <a:ea typeface="宋体" panose="02010600030101010101" pitchFamily="2" charset="-122"/>
              </a:rPr>
              <a:t>    </a:t>
            </a:r>
            <a:endParaRPr lang="en-US" altLang="zh-CN" sz="2400" b="1" dirty="0">
              <a:latin typeface="宋体" panose="02010600030101010101" pitchFamily="2" charset="-122"/>
              <a:ea typeface="宋体" panose="02010600030101010101" pitchFamily="2" charset="-122"/>
            </a:endParaRPr>
          </a:p>
          <a:p>
            <a:pPr marL="0" indent="0" eaLnBrk="1" hangingPunct="1">
              <a:lnSpc>
                <a:spcPct val="150000"/>
              </a:lnSpc>
              <a:spcBef>
                <a:spcPct val="20000"/>
              </a:spcBef>
              <a:buClr>
                <a:schemeClr val="folHlink"/>
              </a:buClr>
              <a:buFont typeface="Wingdings" panose="05000000000000000000" pitchFamily="2" charset="2"/>
              <a:buNone/>
            </a:pPr>
            <a:r>
              <a:rPr lang="zh-CN" altLang="en-US" sz="2000" b="1" dirty="0">
                <a:latin typeface="宋体" panose="02010600030101010101" pitchFamily="2" charset="-122"/>
                <a:ea typeface="宋体" panose="02010600030101010101" pitchFamily="2" charset="-122"/>
              </a:rPr>
              <a:t>    式中   </a:t>
            </a:r>
            <a:r>
              <a:rPr lang="en-US" altLang="zh-CN" sz="2000" i="1" dirty="0" err="1">
                <a:latin typeface="Times New Roman" panose="02020603050405020304" pitchFamily="18" charset="0"/>
                <a:ea typeface="宋体" panose="02010600030101010101" pitchFamily="2" charset="-122"/>
              </a:rPr>
              <a:t>ε</a:t>
            </a:r>
            <a:r>
              <a:rPr lang="en-US" altLang="zh-CN" sz="2000" i="1" baseline="-25000" dirty="0" err="1">
                <a:latin typeface="Times New Roman" panose="02020603050405020304" pitchFamily="18" charset="0"/>
                <a:ea typeface="宋体" panose="02010600030101010101" pitchFamily="2" charset="-122"/>
              </a:rPr>
              <a:t>μ</a:t>
            </a:r>
            <a:r>
              <a:rPr lang="en-US" altLang="zh-CN" sz="2000" i="1" dirty="0">
                <a:latin typeface="Times New Roman" panose="02020603050405020304" pitchFamily="18" charset="0"/>
                <a:ea typeface="宋体" panose="02010600030101010101" pitchFamily="2" charset="-122"/>
              </a:rPr>
              <a:t>=</a:t>
            </a:r>
            <a:r>
              <a:rPr lang="en-US" altLang="zh-CN" sz="2000" i="1" dirty="0" err="1">
                <a:latin typeface="Times New Roman" panose="02020603050405020304" pitchFamily="18" charset="0"/>
                <a:ea typeface="宋体" panose="02010600030101010101" pitchFamily="2" charset="-122"/>
              </a:rPr>
              <a:t>Δμ</a:t>
            </a:r>
            <a:r>
              <a:rPr lang="en-US" altLang="zh-CN" sz="2000" dirty="0">
                <a:latin typeface="Times New Roman" panose="02020603050405020304" pitchFamily="18" charset="0"/>
                <a:ea typeface="宋体" panose="02010600030101010101" pitchFamily="2" charset="-122"/>
              </a:rPr>
              <a:t>/</a:t>
            </a:r>
            <a:r>
              <a:rPr lang="en-US" altLang="zh-CN" sz="2000" i="1" dirty="0">
                <a:latin typeface="Times New Roman" panose="02020603050405020304" pitchFamily="18" charset="0"/>
                <a:ea typeface="宋体" panose="02010600030101010101" pitchFamily="2" charset="-122"/>
              </a:rPr>
              <a:t>μ</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磁导率的相对变化； </a:t>
            </a:r>
          </a:p>
          <a:p>
            <a:pPr marL="2513013" indent="-2513013" eaLnBrk="1" hangingPunct="1">
              <a:lnSpc>
                <a:spcPct val="150000"/>
              </a:lnSpc>
              <a:spcBef>
                <a:spcPct val="20000"/>
              </a:spcBef>
              <a:buClr>
                <a:schemeClr val="folHlink"/>
              </a:buClr>
              <a:buFont typeface="Wingdings" panose="05000000000000000000" pitchFamily="2" charset="2"/>
              <a:buNone/>
            </a:pPr>
            <a:r>
              <a:rPr lang="zh-CN" altLang="en-US" sz="2000" b="1" dirty="0">
                <a:latin typeface="宋体" panose="02010600030101010101" pitchFamily="2" charset="-122"/>
                <a:ea typeface="宋体" panose="02010600030101010101" pitchFamily="2" charset="-122"/>
              </a:rPr>
              <a:t>           </a:t>
            </a:r>
            <a:r>
              <a:rPr lang="en-US" altLang="zh-CN" sz="2000" i="1" dirty="0" err="1">
                <a:latin typeface="Times New Roman" panose="02020603050405020304" pitchFamily="18" charset="0"/>
                <a:ea typeface="宋体" panose="02010600030101010101" pitchFamily="2" charset="-122"/>
              </a:rPr>
              <a:t>ε</a:t>
            </a:r>
            <a:r>
              <a:rPr lang="en-US" altLang="zh-CN" sz="2000" i="1" baseline="-25000" dirty="0" err="1">
                <a:latin typeface="Times New Roman" panose="02020603050405020304" pitchFamily="18" charset="0"/>
                <a:ea typeface="宋体" panose="02010600030101010101" pitchFamily="2" charset="-122"/>
              </a:rPr>
              <a:t>l</a:t>
            </a:r>
            <a:r>
              <a:rPr lang="en-US" altLang="zh-CN" sz="2000" i="1" dirty="0">
                <a:latin typeface="Times New Roman" panose="02020603050405020304" pitchFamily="18" charset="0"/>
                <a:ea typeface="宋体" panose="02010600030101010101" pitchFamily="2" charset="-122"/>
              </a:rPr>
              <a:t>=</a:t>
            </a:r>
            <a:r>
              <a:rPr lang="en-US" altLang="zh-CN" sz="2000" i="1" dirty="0" err="1">
                <a:latin typeface="Times New Roman" panose="02020603050405020304" pitchFamily="18" charset="0"/>
                <a:ea typeface="宋体" panose="02010600030101010101" pitchFamily="2" charset="-122"/>
              </a:rPr>
              <a:t>Δl</a:t>
            </a:r>
            <a:r>
              <a:rPr lang="en-US" altLang="zh-CN" sz="2000" dirty="0">
                <a:latin typeface="Times New Roman" panose="02020603050405020304" pitchFamily="18" charset="0"/>
                <a:ea typeface="宋体" panose="02010600030101010101" pitchFamily="2" charset="-122"/>
              </a:rPr>
              <a:t>/</a:t>
            </a:r>
            <a:r>
              <a:rPr lang="en-US" altLang="zh-CN" sz="2000" i="1" dirty="0">
                <a:latin typeface="Times New Roman" panose="02020603050405020304" pitchFamily="18" charset="0"/>
                <a:ea typeface="宋体" panose="02010600030101010101" pitchFamily="2" charset="-122"/>
              </a:rPr>
              <a:t>l  </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在机械力的作用下铁磁物质的相对变形。</a:t>
            </a:r>
          </a:p>
          <a:p>
            <a:pPr marL="0" indent="0" eaLnBrk="1" hangingPunct="1">
              <a:lnSpc>
                <a:spcPct val="150000"/>
              </a:lnSpc>
              <a:spcBef>
                <a:spcPct val="20000"/>
              </a:spcBef>
              <a:buClr>
                <a:schemeClr val="folHlink"/>
              </a:buClr>
              <a:buFont typeface="Wingdings" panose="05000000000000000000" pitchFamily="2" charset="2"/>
              <a:buNone/>
            </a:pPr>
            <a:r>
              <a:rPr lang="zh-CN" altLang="en-US" sz="2400" b="1" dirty="0">
                <a:latin typeface="宋体" panose="02010600030101010101" pitchFamily="2" charset="-122"/>
                <a:ea typeface="宋体" panose="02010600030101010101" pitchFamily="2" charset="-122"/>
              </a:rPr>
              <a:t>    压磁应力灵敏度：单位机械应力</a:t>
            </a:r>
            <a:r>
              <a:rPr lang="el-GR" altLang="zh-CN" sz="2400" i="1" dirty="0">
                <a:latin typeface="Times New Roman" panose="02020603050405020304" pitchFamily="18" charset="0"/>
                <a:ea typeface="宋体" panose="02010600030101010101" pitchFamily="2" charset="-122"/>
              </a:rPr>
              <a:t>σ</a:t>
            </a:r>
            <a:r>
              <a:rPr lang="zh-CN" altLang="en-US" sz="2400" b="1" dirty="0">
                <a:latin typeface="宋体" panose="02010600030101010101" pitchFamily="2" charset="-122"/>
                <a:ea typeface="宋体" panose="02010600030101010101" pitchFamily="2" charset="-122"/>
              </a:rPr>
              <a:t>所引起的磁导率相对变化</a:t>
            </a:r>
            <a:r>
              <a:rPr lang="en-US" altLang="zh-CN" sz="2400" i="1" dirty="0" err="1">
                <a:latin typeface="Times New Roman" panose="02020603050405020304" pitchFamily="18" charset="0"/>
                <a:ea typeface="宋体" panose="02010600030101010101" pitchFamily="2" charset="-122"/>
              </a:rPr>
              <a:t>ε</a:t>
            </a:r>
            <a:r>
              <a:rPr lang="en-US" altLang="zh-CN" sz="2400" i="1" baseline="-25000" dirty="0" err="1">
                <a:latin typeface="Times New Roman" panose="02020603050405020304" pitchFamily="18" charset="0"/>
                <a:ea typeface="宋体" panose="02010600030101010101" pitchFamily="2" charset="-122"/>
              </a:rPr>
              <a:t>μ</a:t>
            </a:r>
            <a:r>
              <a:rPr lang="en-US" altLang="zh-CN" sz="2400" i="1" dirty="0">
                <a:latin typeface="Times New Roman" panose="02020603050405020304" pitchFamily="18" charset="0"/>
                <a:ea typeface="宋体" panose="02010600030101010101" pitchFamily="2" charset="-122"/>
              </a:rPr>
              <a:t>=</a:t>
            </a:r>
            <a:r>
              <a:rPr lang="en-US" altLang="zh-CN" sz="2400" i="1" dirty="0" err="1">
                <a:latin typeface="Times New Roman" panose="02020603050405020304" pitchFamily="18" charset="0"/>
                <a:ea typeface="宋体" panose="02010600030101010101" pitchFamily="2" charset="-122"/>
              </a:rPr>
              <a:t>Δμ</a:t>
            </a:r>
            <a:r>
              <a:rPr lang="en-US" altLang="zh-CN" sz="2400" i="1" dirty="0">
                <a:latin typeface="Times New Roman" panose="02020603050405020304" pitchFamily="18" charset="0"/>
                <a:ea typeface="宋体" panose="02010600030101010101" pitchFamily="2" charset="-122"/>
              </a:rPr>
              <a:t>/μ</a:t>
            </a:r>
            <a:r>
              <a:rPr lang="zh-CN" altLang="en-US" sz="2400" b="1" dirty="0">
                <a:latin typeface="宋体" panose="02010600030101010101" pitchFamily="2" charset="-122"/>
                <a:ea typeface="宋体" panose="02010600030101010101" pitchFamily="2" charset="-122"/>
              </a:rPr>
              <a:t>，</a:t>
            </a:r>
          </a:p>
          <a:p>
            <a:pPr marL="0" indent="0" eaLnBrk="1" hangingPunct="1">
              <a:lnSpc>
                <a:spcPct val="150000"/>
              </a:lnSpc>
              <a:spcBef>
                <a:spcPct val="20000"/>
              </a:spcBef>
              <a:buClr>
                <a:schemeClr val="folHlink"/>
              </a:buClr>
              <a:buFont typeface="Wingdings" panose="05000000000000000000" pitchFamily="2" charset="2"/>
              <a:buNone/>
            </a:pPr>
            <a:r>
              <a:rPr lang="zh-CN" altLang="en-US" sz="2400" b="1" dirty="0">
                <a:latin typeface="宋体" panose="02010600030101010101" pitchFamily="2" charset="-122"/>
                <a:ea typeface="宋体" panose="02010600030101010101" pitchFamily="2" charset="-122"/>
              </a:rPr>
              <a:t>    压磁式传感器测量原理：</a:t>
            </a:r>
            <a:endParaRPr lang="en-US" altLang="zh-CN" sz="2400" b="1" dirty="0">
              <a:latin typeface="宋体" panose="02010600030101010101" pitchFamily="2" charset="-122"/>
              <a:ea typeface="宋体" panose="02010600030101010101" pitchFamily="2" charset="-122"/>
            </a:endParaRPr>
          </a:p>
          <a:p>
            <a:pPr marL="0" indent="0" algn="ctr" eaLnBrk="1" hangingPunct="1">
              <a:lnSpc>
                <a:spcPct val="150000"/>
              </a:lnSpc>
              <a:spcBef>
                <a:spcPct val="20000"/>
              </a:spcBef>
              <a:buClr>
                <a:schemeClr val="folHlink"/>
              </a:buClr>
              <a:buFont typeface="Wingdings" panose="05000000000000000000" pitchFamily="2" charset="2"/>
              <a:buNone/>
            </a:pPr>
            <a:r>
              <a:rPr lang="en-US" altLang="zh-CN" sz="2400" b="1" dirty="0">
                <a:latin typeface="宋体" panose="02010600030101010101" pitchFamily="2" charset="-122"/>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P</a:t>
            </a:r>
            <a:r>
              <a:rPr lang="en-US" altLang="zh-CN" sz="2400" b="1" i="1"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a:t>
            </a:r>
            <a:r>
              <a:rPr lang="el-GR" altLang="zh-CN" sz="2400" i="1" dirty="0">
                <a:latin typeface="Times New Roman" panose="02020603050405020304" pitchFamily="18" charset="0"/>
                <a:ea typeface="宋体" panose="02010600030101010101" pitchFamily="2" charset="-122"/>
                <a:cs typeface="Times New Roman" panose="02020603050405020304" pitchFamily="18" charset="0"/>
              </a:rPr>
              <a:t>σ</a:t>
            </a:r>
            <a:r>
              <a:rPr lang="el-GR" altLang="zh-CN" sz="2400" b="1" i="1"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a:t>
            </a:r>
            <a:r>
              <a:rPr lang="el-GR" altLang="zh-CN" sz="2400" i="1" dirty="0">
                <a:latin typeface="Times New Roman" panose="02020603050405020304" pitchFamily="18" charset="0"/>
                <a:ea typeface="宋体" panose="02010600030101010101" pitchFamily="2" charset="-122"/>
                <a:cs typeface="Times New Roman" panose="02020603050405020304" pitchFamily="18" charset="0"/>
              </a:rPr>
              <a:t>μ</a:t>
            </a:r>
            <a:r>
              <a:rPr lang="el-GR" altLang="zh-CN" sz="2400" b="1" i="1"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R</a:t>
            </a:r>
            <a:r>
              <a:rPr lang="en-US" altLang="zh-CN" sz="2400" i="1" baseline="-25000" dirty="0" err="1">
                <a:latin typeface="Times New Roman" panose="02020603050405020304" pitchFamily="18" charset="0"/>
                <a:ea typeface="宋体" panose="02010600030101010101" pitchFamily="2" charset="-122"/>
                <a:cs typeface="Times New Roman" panose="02020603050405020304" pitchFamily="18" charset="0"/>
              </a:rPr>
              <a:t>m</a:t>
            </a:r>
            <a:r>
              <a:rPr lang="en-US" altLang="zh-CN" sz="2400" b="1" i="1" dirty="0" err="1">
                <a:solidFill>
                  <a:srgbClr val="00B05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Z</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或</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e</a:t>
            </a:r>
          </a:p>
        </p:txBody>
      </p:sp>
      <mc:AlternateContent xmlns:mc="http://schemas.openxmlformats.org/markup-compatibility/2006" xmlns:a14="http://schemas.microsoft.com/office/drawing/2010/main">
        <mc:Choice Requires="a14">
          <p:sp>
            <p:nvSpPr>
              <p:cNvPr id="33" name="文本框 32"/>
              <p:cNvSpPr txBox="1"/>
              <p:nvPr/>
            </p:nvSpPr>
            <p:spPr>
              <a:xfrm>
                <a:off x="3796963" y="1860949"/>
                <a:ext cx="1694566" cy="636456"/>
              </a:xfrm>
              <a:prstGeom prst="rect">
                <a:avLst/>
              </a:prstGeom>
              <a:ln/>
            </p:spPr>
            <p:style>
              <a:lnRef idx="1">
                <a:schemeClr val="accent6"/>
              </a:lnRef>
              <a:fillRef idx="3">
                <a:schemeClr val="accent6"/>
              </a:fillRef>
              <a:effectRef idx="2">
                <a:schemeClr val="accent6"/>
              </a:effectRef>
              <a:fontRef idx="minor">
                <a:schemeClr val="lt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solidFill>
                            <a:schemeClr val="bg1"/>
                          </a:solidFill>
                          <a:latin typeface="Cambria Math" panose="02040503050406030204" pitchFamily="18" charset="0"/>
                        </a:rPr>
                        <m:t>𝑆</m:t>
                      </m:r>
                      <m:r>
                        <a:rPr lang="en-US" altLang="zh-CN" sz="2000" i="1" smtClean="0">
                          <a:solidFill>
                            <a:schemeClr val="bg1"/>
                          </a:solidFill>
                          <a:latin typeface="Cambria Math" panose="02040503050406030204" pitchFamily="18" charset="0"/>
                        </a:rPr>
                        <m:t>=</m:t>
                      </m:r>
                      <m:f>
                        <m:fPr>
                          <m:ctrlPr>
                            <a:rPr lang="en-US" altLang="zh-CN" sz="2000" i="1" smtClean="0">
                              <a:solidFill>
                                <a:schemeClr val="bg1"/>
                              </a:solidFill>
                              <a:latin typeface="Cambria Math" panose="02040503050406030204" pitchFamily="18" charset="0"/>
                            </a:rPr>
                          </m:ctrlPr>
                        </m:fPr>
                        <m:num>
                          <m:sSub>
                            <m:sSubPr>
                              <m:ctrlPr>
                                <a:rPr lang="en-US" altLang="zh-CN" sz="2000" i="1" smtClean="0">
                                  <a:solidFill>
                                    <a:schemeClr val="bg1"/>
                                  </a:solidFill>
                                  <a:latin typeface="Cambria Math" panose="02040503050406030204" pitchFamily="18" charset="0"/>
                                </a:rPr>
                              </m:ctrlPr>
                            </m:sSubPr>
                            <m:e>
                              <m:r>
                                <a:rPr lang="zh-CN" altLang="en-US" sz="2000" i="1" smtClean="0">
                                  <a:solidFill>
                                    <a:schemeClr val="bg1"/>
                                  </a:solidFill>
                                  <a:latin typeface="Cambria Math" panose="02040503050406030204" pitchFamily="18" charset="0"/>
                                </a:rPr>
                                <m:t>𝜀</m:t>
                              </m:r>
                            </m:e>
                            <m:sub>
                              <m:r>
                                <a:rPr lang="zh-CN" altLang="en-US" sz="2000" i="1" smtClean="0">
                                  <a:solidFill>
                                    <a:schemeClr val="bg1"/>
                                  </a:solidFill>
                                  <a:latin typeface="Cambria Math" panose="02040503050406030204" pitchFamily="18" charset="0"/>
                                </a:rPr>
                                <m:t>𝜇</m:t>
                              </m:r>
                            </m:sub>
                          </m:sSub>
                        </m:num>
                        <m:den>
                          <m:sSub>
                            <m:sSubPr>
                              <m:ctrlPr>
                                <a:rPr lang="en-US" altLang="zh-CN" sz="2000" i="1" smtClean="0">
                                  <a:solidFill>
                                    <a:schemeClr val="bg1"/>
                                  </a:solidFill>
                                  <a:latin typeface="Cambria Math" panose="02040503050406030204" pitchFamily="18" charset="0"/>
                                </a:rPr>
                              </m:ctrlPr>
                            </m:sSubPr>
                            <m:e>
                              <m:r>
                                <a:rPr lang="zh-CN" altLang="en-US" sz="2000" i="1" smtClean="0">
                                  <a:solidFill>
                                    <a:schemeClr val="bg1"/>
                                  </a:solidFill>
                                  <a:latin typeface="Cambria Math" panose="02040503050406030204" pitchFamily="18" charset="0"/>
                                </a:rPr>
                                <m:t>𝜀</m:t>
                              </m:r>
                            </m:e>
                            <m:sub>
                              <m:r>
                                <a:rPr lang="en-US" altLang="zh-CN" sz="2000" b="0" i="1" smtClean="0">
                                  <a:solidFill>
                                    <a:schemeClr val="bg1"/>
                                  </a:solidFill>
                                  <a:latin typeface="Cambria Math" panose="02040503050406030204" pitchFamily="18" charset="0"/>
                                </a:rPr>
                                <m:t>𝑙</m:t>
                              </m:r>
                            </m:sub>
                          </m:sSub>
                        </m:den>
                      </m:f>
                      <m:r>
                        <a:rPr lang="en-US" altLang="zh-CN" sz="2000" b="0" i="1" smtClean="0">
                          <a:solidFill>
                            <a:schemeClr val="bg1"/>
                          </a:solidFill>
                          <a:latin typeface="Cambria Math" panose="02040503050406030204" pitchFamily="18" charset="0"/>
                        </a:rPr>
                        <m:t>=</m:t>
                      </m:r>
                      <m:f>
                        <m:fPr>
                          <m:ctrlPr>
                            <a:rPr lang="en-US" altLang="zh-CN" sz="2000" b="0" i="1" smtClean="0">
                              <a:solidFill>
                                <a:schemeClr val="bg1"/>
                              </a:solidFill>
                              <a:latin typeface="Cambria Math" panose="02040503050406030204" pitchFamily="18" charset="0"/>
                            </a:rPr>
                          </m:ctrlPr>
                        </m:fPr>
                        <m:num>
                          <m:r>
                            <a:rPr lang="en-US" altLang="zh-CN" sz="2000" b="0" i="1" smtClean="0">
                              <a:solidFill>
                                <a:schemeClr val="bg1"/>
                              </a:solidFill>
                              <a:latin typeface="Cambria Math" panose="02040503050406030204" pitchFamily="18" charset="0"/>
                              <a:ea typeface="Cambria Math" panose="02040503050406030204" pitchFamily="18" charset="0"/>
                            </a:rPr>
                            <m:t>∆</m:t>
                          </m:r>
                          <m:r>
                            <a:rPr lang="zh-CN" altLang="en-US" sz="2000" b="0" i="1" smtClean="0">
                              <a:solidFill>
                                <a:schemeClr val="bg1"/>
                              </a:solidFill>
                              <a:latin typeface="Cambria Math" panose="02040503050406030204" pitchFamily="18" charset="0"/>
                              <a:ea typeface="Cambria Math" panose="02040503050406030204" pitchFamily="18" charset="0"/>
                            </a:rPr>
                            <m:t>𝜇</m:t>
                          </m:r>
                          <m:r>
                            <a:rPr lang="en-US" altLang="zh-CN" sz="2000" b="0" i="1" smtClean="0">
                              <a:solidFill>
                                <a:schemeClr val="bg1"/>
                              </a:solidFill>
                              <a:latin typeface="Cambria Math" panose="02040503050406030204" pitchFamily="18" charset="0"/>
                              <a:ea typeface="Cambria Math" panose="02040503050406030204" pitchFamily="18" charset="0"/>
                            </a:rPr>
                            <m:t>/</m:t>
                          </m:r>
                          <m:r>
                            <a:rPr lang="zh-CN" altLang="en-US" sz="2000" b="0" i="1" smtClean="0">
                              <a:solidFill>
                                <a:schemeClr val="bg1"/>
                              </a:solidFill>
                              <a:latin typeface="Cambria Math" panose="02040503050406030204" pitchFamily="18" charset="0"/>
                              <a:ea typeface="Cambria Math" panose="02040503050406030204" pitchFamily="18" charset="0"/>
                            </a:rPr>
                            <m:t>𝜇</m:t>
                          </m:r>
                        </m:num>
                        <m:den>
                          <m:r>
                            <a:rPr lang="en-US" altLang="zh-CN" sz="2000" b="0" i="1" smtClean="0">
                              <a:solidFill>
                                <a:schemeClr val="bg1"/>
                              </a:solidFill>
                              <a:latin typeface="Cambria Math" panose="02040503050406030204" pitchFamily="18" charset="0"/>
                              <a:ea typeface="Cambria Math" panose="02040503050406030204" pitchFamily="18" charset="0"/>
                            </a:rPr>
                            <m:t>∆</m:t>
                          </m:r>
                          <m:r>
                            <a:rPr lang="en-US" altLang="zh-CN" sz="2000" b="0" i="1" smtClean="0">
                              <a:solidFill>
                                <a:schemeClr val="bg1"/>
                              </a:solidFill>
                              <a:latin typeface="Cambria Math" panose="02040503050406030204" pitchFamily="18" charset="0"/>
                              <a:ea typeface="Cambria Math" panose="02040503050406030204" pitchFamily="18" charset="0"/>
                            </a:rPr>
                            <m:t>𝑙</m:t>
                          </m:r>
                          <m:r>
                            <a:rPr lang="en-US" altLang="zh-CN" sz="2000" b="0" i="1" smtClean="0">
                              <a:solidFill>
                                <a:schemeClr val="bg1"/>
                              </a:solidFill>
                              <a:latin typeface="Cambria Math" panose="02040503050406030204" pitchFamily="18" charset="0"/>
                              <a:ea typeface="Cambria Math" panose="02040503050406030204" pitchFamily="18" charset="0"/>
                            </a:rPr>
                            <m:t>/</m:t>
                          </m:r>
                          <m:r>
                            <a:rPr lang="en-US" altLang="zh-CN" sz="2000" b="0" i="1" smtClean="0">
                              <a:solidFill>
                                <a:schemeClr val="bg1"/>
                              </a:solidFill>
                              <a:latin typeface="Cambria Math" panose="02040503050406030204" pitchFamily="18" charset="0"/>
                              <a:ea typeface="Cambria Math" panose="02040503050406030204" pitchFamily="18" charset="0"/>
                            </a:rPr>
                            <m:t>𝑙</m:t>
                          </m:r>
                        </m:den>
                      </m:f>
                    </m:oMath>
                  </m:oMathPara>
                </a14:m>
                <a:endParaRPr lang="zh-CN" altLang="en-US" sz="2000" dirty="0">
                  <a:solidFill>
                    <a:schemeClr val="tx1"/>
                  </a:solidFill>
                </a:endParaRPr>
              </a:p>
            </p:txBody>
          </p:sp>
        </mc:Choice>
        <mc:Fallback xmlns="">
          <p:sp>
            <p:nvSpPr>
              <p:cNvPr id="33" name="文本框 32"/>
              <p:cNvSpPr txBox="1">
                <a:spLocks noRot="1" noChangeAspect="1" noMove="1" noResize="1" noEditPoints="1" noAdjustHandles="1" noChangeArrowheads="1" noChangeShapeType="1" noTextEdit="1"/>
              </p:cNvSpPr>
              <p:nvPr/>
            </p:nvSpPr>
            <p:spPr>
              <a:xfrm>
                <a:off x="3796963" y="1860949"/>
                <a:ext cx="1694566" cy="636456"/>
              </a:xfrm>
              <a:prstGeom prst="rect">
                <a:avLst/>
              </a:prstGeom>
              <a:blipFill>
                <a:blip r:embed="rId8"/>
                <a:stretch>
                  <a:fillRect/>
                </a:stretch>
              </a:blip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p:cNvSpPr txBox="1"/>
              <p:nvPr/>
            </p:nvSpPr>
            <p:spPr>
              <a:xfrm>
                <a:off x="3796963" y="4140040"/>
                <a:ext cx="1694566" cy="584455"/>
              </a:xfrm>
              <a:prstGeom prst="rect">
                <a:avLst/>
              </a:prstGeom>
              <a:ln/>
            </p:spPr>
            <p:style>
              <a:lnRef idx="1">
                <a:schemeClr val="accent1"/>
              </a:lnRef>
              <a:fillRef idx="3">
                <a:schemeClr val="accent1"/>
              </a:fillRef>
              <a:effectRef idx="2">
                <a:schemeClr val="accent1"/>
              </a:effectRef>
              <a:fontRef idx="minor">
                <a:schemeClr val="lt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solidFill>
                            <a:schemeClr val="bg1"/>
                          </a:solidFill>
                          <a:latin typeface="Cambria Math" panose="02040503050406030204" pitchFamily="18" charset="0"/>
                        </a:rPr>
                        <m:t>𝑆</m:t>
                      </m:r>
                      <m:r>
                        <a:rPr lang="en-US" altLang="zh-CN" sz="2000" i="1" smtClean="0">
                          <a:solidFill>
                            <a:schemeClr val="bg1"/>
                          </a:solidFill>
                          <a:latin typeface="Cambria Math" panose="02040503050406030204" pitchFamily="18" charset="0"/>
                        </a:rPr>
                        <m:t>=</m:t>
                      </m:r>
                      <m:f>
                        <m:fPr>
                          <m:ctrlPr>
                            <a:rPr lang="en-US" altLang="zh-CN" sz="2000" i="1" smtClean="0">
                              <a:solidFill>
                                <a:schemeClr val="bg1"/>
                              </a:solidFill>
                              <a:latin typeface="Cambria Math" panose="02040503050406030204" pitchFamily="18" charset="0"/>
                            </a:rPr>
                          </m:ctrlPr>
                        </m:fPr>
                        <m:num>
                          <m:sSub>
                            <m:sSubPr>
                              <m:ctrlPr>
                                <a:rPr lang="en-US" altLang="zh-CN" sz="2000" i="1" smtClean="0">
                                  <a:solidFill>
                                    <a:schemeClr val="bg1"/>
                                  </a:solidFill>
                                  <a:latin typeface="Cambria Math" panose="02040503050406030204" pitchFamily="18" charset="0"/>
                                </a:rPr>
                              </m:ctrlPr>
                            </m:sSubPr>
                            <m:e>
                              <m:r>
                                <a:rPr lang="zh-CN" altLang="en-US" sz="2000" i="1" smtClean="0">
                                  <a:solidFill>
                                    <a:schemeClr val="bg1"/>
                                  </a:solidFill>
                                  <a:latin typeface="Cambria Math" panose="02040503050406030204" pitchFamily="18" charset="0"/>
                                </a:rPr>
                                <m:t>𝜀</m:t>
                              </m:r>
                            </m:e>
                            <m:sub>
                              <m:r>
                                <a:rPr lang="zh-CN" altLang="en-US" sz="2000" i="1" smtClean="0">
                                  <a:solidFill>
                                    <a:schemeClr val="bg1"/>
                                  </a:solidFill>
                                  <a:latin typeface="Cambria Math" panose="02040503050406030204" pitchFamily="18" charset="0"/>
                                </a:rPr>
                                <m:t>𝜇</m:t>
                              </m:r>
                            </m:sub>
                          </m:sSub>
                        </m:num>
                        <m:den>
                          <m:r>
                            <a:rPr lang="zh-CN" altLang="en-US" sz="2000" i="1" smtClean="0">
                              <a:solidFill>
                                <a:schemeClr val="bg1"/>
                              </a:solidFill>
                              <a:latin typeface="Cambria Math" panose="02040503050406030204" pitchFamily="18" charset="0"/>
                            </a:rPr>
                            <m:t>𝜎</m:t>
                          </m:r>
                        </m:den>
                      </m:f>
                      <m:r>
                        <a:rPr lang="en-US" altLang="zh-CN" sz="2000" b="0" i="1" smtClean="0">
                          <a:solidFill>
                            <a:schemeClr val="bg1"/>
                          </a:solidFill>
                          <a:latin typeface="Cambria Math" panose="02040503050406030204" pitchFamily="18" charset="0"/>
                        </a:rPr>
                        <m:t>=</m:t>
                      </m:r>
                      <m:f>
                        <m:fPr>
                          <m:ctrlPr>
                            <a:rPr lang="en-US" altLang="zh-CN" sz="2000" b="0" i="1" smtClean="0">
                              <a:solidFill>
                                <a:schemeClr val="bg1"/>
                              </a:solidFill>
                              <a:latin typeface="Cambria Math" panose="02040503050406030204" pitchFamily="18" charset="0"/>
                            </a:rPr>
                          </m:ctrlPr>
                        </m:fPr>
                        <m:num>
                          <m:r>
                            <a:rPr lang="en-US" altLang="zh-CN" sz="2000" b="0" i="1" smtClean="0">
                              <a:solidFill>
                                <a:schemeClr val="bg1"/>
                              </a:solidFill>
                              <a:latin typeface="Cambria Math" panose="02040503050406030204" pitchFamily="18" charset="0"/>
                              <a:ea typeface="Cambria Math" panose="02040503050406030204" pitchFamily="18" charset="0"/>
                            </a:rPr>
                            <m:t>∆</m:t>
                          </m:r>
                          <m:r>
                            <a:rPr lang="zh-CN" altLang="en-US" sz="2000" b="0" i="1" smtClean="0">
                              <a:solidFill>
                                <a:schemeClr val="bg1"/>
                              </a:solidFill>
                              <a:latin typeface="Cambria Math" panose="02040503050406030204" pitchFamily="18" charset="0"/>
                              <a:ea typeface="Cambria Math" panose="02040503050406030204" pitchFamily="18" charset="0"/>
                            </a:rPr>
                            <m:t>𝜇</m:t>
                          </m:r>
                          <m:r>
                            <a:rPr lang="en-US" altLang="zh-CN" sz="2000" b="0" i="1" smtClean="0">
                              <a:solidFill>
                                <a:schemeClr val="bg1"/>
                              </a:solidFill>
                              <a:latin typeface="Cambria Math" panose="02040503050406030204" pitchFamily="18" charset="0"/>
                              <a:ea typeface="Cambria Math" panose="02040503050406030204" pitchFamily="18" charset="0"/>
                            </a:rPr>
                            <m:t>/</m:t>
                          </m:r>
                          <m:r>
                            <a:rPr lang="zh-CN" altLang="en-US" sz="2000" b="0" i="1" smtClean="0">
                              <a:solidFill>
                                <a:schemeClr val="bg1"/>
                              </a:solidFill>
                              <a:latin typeface="Cambria Math" panose="02040503050406030204" pitchFamily="18" charset="0"/>
                              <a:ea typeface="Cambria Math" panose="02040503050406030204" pitchFamily="18" charset="0"/>
                            </a:rPr>
                            <m:t>𝜇</m:t>
                          </m:r>
                        </m:num>
                        <m:den>
                          <m:r>
                            <a:rPr lang="zh-CN" altLang="en-US" sz="2000" b="0" i="1" smtClean="0">
                              <a:solidFill>
                                <a:schemeClr val="bg1"/>
                              </a:solidFill>
                              <a:latin typeface="Cambria Math" panose="02040503050406030204" pitchFamily="18" charset="0"/>
                            </a:rPr>
                            <m:t>𝜎</m:t>
                          </m:r>
                        </m:den>
                      </m:f>
                    </m:oMath>
                  </m:oMathPara>
                </a14:m>
                <a:endParaRPr lang="zh-CN" altLang="en-US" sz="2000" dirty="0">
                  <a:solidFill>
                    <a:schemeClr val="bg1"/>
                  </a:solidFill>
                </a:endParaRPr>
              </a:p>
            </p:txBody>
          </p:sp>
        </mc:Choice>
        <mc:Fallback xmlns="">
          <p:sp>
            <p:nvSpPr>
              <p:cNvPr id="34" name="文本框 33"/>
              <p:cNvSpPr txBox="1">
                <a:spLocks noRot="1" noChangeAspect="1" noMove="1" noResize="1" noEditPoints="1" noAdjustHandles="1" noChangeArrowheads="1" noChangeShapeType="1" noTextEdit="1"/>
              </p:cNvSpPr>
              <p:nvPr/>
            </p:nvSpPr>
            <p:spPr>
              <a:xfrm>
                <a:off x="3796963" y="4140040"/>
                <a:ext cx="1694566" cy="584455"/>
              </a:xfrm>
              <a:prstGeom prst="rect">
                <a:avLst/>
              </a:prstGeom>
              <a:blipFill>
                <a:blip r:embed="rId9"/>
                <a:stretch>
                  <a:fillRect/>
                </a:stretch>
              </a:blipFill>
              <a:ln/>
            </p:spPr>
            <p:txBody>
              <a:bodyPr/>
              <a:lstStyle/>
              <a:p>
                <a:r>
                  <a:rPr lang="zh-CN" altLang="en-US">
                    <a:noFill/>
                  </a:rPr>
                  <a:t> </a:t>
                </a:r>
              </a:p>
            </p:txBody>
          </p:sp>
        </mc:Fallback>
      </mc:AlternateContent>
      <p:sp>
        <p:nvSpPr>
          <p:cNvPr id="2" name="Slide Number Placeholder 1">
            <a:extLst>
              <a:ext uri="{FF2B5EF4-FFF2-40B4-BE49-F238E27FC236}">
                <a16:creationId xmlns:a16="http://schemas.microsoft.com/office/drawing/2014/main" id="{41D3CB8F-437A-44DC-8757-739D56D6ED2B}"/>
              </a:ext>
            </a:extLst>
          </p:cNvPr>
          <p:cNvSpPr>
            <a:spLocks noGrp="1"/>
          </p:cNvSpPr>
          <p:nvPr>
            <p:ph type="sldNum" sz="quarter" idx="12"/>
          </p:nvPr>
        </p:nvSpPr>
        <p:spPr/>
        <p:txBody>
          <a:bodyPr/>
          <a:lstStyle/>
          <a:p>
            <a:fld id="{B53602B4-F12B-41CD-B648-531F86B2CC91}" type="slidenum">
              <a:rPr lang="zh-CN" altLang="en-US" smtClean="0"/>
              <a:t>43</a:t>
            </a:fld>
            <a:endParaRPr lang="zh-CN" altLang="en-US"/>
          </a:p>
        </p:txBody>
      </p:sp>
    </p:spTree>
    <p:extLst>
      <p:ext uri="{BB962C8B-B14F-4D97-AF65-F5344CB8AC3E}">
        <p14:creationId xmlns:p14="http://schemas.microsoft.com/office/powerpoint/2010/main" val="157023133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a:extLst>
              <a:ext uri="{FF2B5EF4-FFF2-40B4-BE49-F238E27FC236}">
                <a16:creationId xmlns:a16="http://schemas.microsoft.com/office/drawing/2014/main" id="{231C2426-72B4-4C40-8200-F64218CE0D05}"/>
              </a:ext>
            </a:extLst>
          </p:cNvPr>
          <p:cNvSpPr txBox="1">
            <a:spLocks noChangeArrowheads="1"/>
          </p:cNvSpPr>
          <p:nvPr/>
        </p:nvSpPr>
        <p:spPr bwMode="auto">
          <a:xfrm>
            <a:off x="185083" y="1209831"/>
            <a:ext cx="8821031" cy="26500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ct val="150000"/>
              </a:lnSpc>
              <a:spcBef>
                <a:spcPts val="1200"/>
              </a:spcBef>
            </a:pPr>
            <a:r>
              <a:rPr lang="zh-CN" altLang="en-US" sz="2000" b="1"/>
              <a:t>在</a:t>
            </a:r>
            <a:r>
              <a:rPr lang="zh-CN" altLang="en-US" sz="2000" b="1" dirty="0"/>
              <a:t>卷捻棒状铁磁物质时，在</a:t>
            </a:r>
            <a:r>
              <a:rPr lang="zh-CN" altLang="en-US" sz="2000" b="1"/>
              <a:t>其上出</a:t>
            </a:r>
            <a:r>
              <a:rPr lang="zh-CN" altLang="en-US" sz="2000" b="1" dirty="0"/>
              <a:t>现</a:t>
            </a:r>
            <a:r>
              <a:rPr lang="zh-CN" altLang="en-US" sz="2000" b="1"/>
              <a:t>一个螺</a:t>
            </a:r>
            <a:r>
              <a:rPr lang="zh-CN" altLang="en-US" sz="2000" b="1" dirty="0"/>
              <a:t>旋形分布的区域。在这个区域</a:t>
            </a:r>
            <a:r>
              <a:rPr lang="zh-CN" altLang="en-US" sz="2000" b="1"/>
              <a:t>中磁导率</a:t>
            </a:r>
            <a:r>
              <a:rPr lang="zh-CN" altLang="en-US" sz="2000" b="1" dirty="0"/>
              <a:t>沿螺旋方向增加。棒中</a:t>
            </a:r>
            <a:r>
              <a:rPr lang="zh-CN" altLang="en-US" sz="2000" b="1" dirty="0">
                <a:solidFill>
                  <a:srgbClr val="0070C0"/>
                </a:solidFill>
              </a:rPr>
              <a:t>螺旋形磁通</a:t>
            </a:r>
            <a:r>
              <a:rPr lang="en-US" altLang="zh-CN" sz="2000" b="1" dirty="0">
                <a:solidFill>
                  <a:srgbClr val="0070C0"/>
                </a:solidFill>
              </a:rPr>
              <a:t>=</a:t>
            </a:r>
            <a:r>
              <a:rPr lang="zh-CN" altLang="en-US" sz="2000" b="1" dirty="0">
                <a:solidFill>
                  <a:srgbClr val="0070C0"/>
                </a:solidFill>
              </a:rPr>
              <a:t>轴向磁通</a:t>
            </a:r>
            <a:r>
              <a:rPr lang="en-US" altLang="zh-CN" sz="2000" b="1" dirty="0">
                <a:solidFill>
                  <a:srgbClr val="0070C0"/>
                </a:solidFill>
              </a:rPr>
              <a:t>+</a:t>
            </a:r>
            <a:r>
              <a:rPr lang="zh-CN" altLang="en-US" sz="2000" b="1" dirty="0">
                <a:solidFill>
                  <a:srgbClr val="0070C0"/>
                </a:solidFill>
              </a:rPr>
              <a:t>旋转向磁通</a:t>
            </a:r>
            <a:r>
              <a:rPr lang="zh-CN" altLang="en-US" sz="2000" b="1" dirty="0"/>
              <a:t>（矢量和）。</a:t>
            </a:r>
          </a:p>
          <a:p>
            <a:pPr eaLnBrk="1" hangingPunct="1">
              <a:lnSpc>
                <a:spcPct val="150000"/>
              </a:lnSpc>
              <a:spcBef>
                <a:spcPts val="1200"/>
              </a:spcBef>
            </a:pPr>
            <a:r>
              <a:rPr lang="zh-CN" altLang="en-US" sz="2000" b="1" dirty="0">
                <a:solidFill>
                  <a:srgbClr val="C00000"/>
                </a:solidFill>
              </a:rPr>
              <a:t>逆</a:t>
            </a:r>
            <a:r>
              <a:rPr lang="zh-CN" altLang="en-US" sz="2000" b="1" dirty="0"/>
              <a:t>维捷曼效应：一根旋转的铁磁轴处于磁场中，则在铁磁棒内与轴线相垂直的平面内会产生环状磁场。</a:t>
            </a:r>
          </a:p>
          <a:p>
            <a:pPr eaLnBrk="1" hangingPunct="1">
              <a:lnSpc>
                <a:spcPct val="150000"/>
              </a:lnSpc>
              <a:spcBef>
                <a:spcPts val="1200"/>
              </a:spcBef>
            </a:pPr>
            <a:r>
              <a:rPr lang="zh-CN" altLang="en-US" sz="2000" b="1" dirty="0">
                <a:solidFill>
                  <a:srgbClr val="009900"/>
                </a:solidFill>
              </a:rPr>
              <a:t>顺</a:t>
            </a:r>
            <a:r>
              <a:rPr lang="zh-CN" altLang="en-US" sz="2000" b="1" dirty="0"/>
              <a:t>维捷曼效应：带有电流的铁磁轴处于磁场中，则此轴将出现扭曲变形。</a:t>
            </a:r>
          </a:p>
        </p:txBody>
      </p:sp>
      <p:sp>
        <p:nvSpPr>
          <p:cNvPr id="5" name="矩形 40">
            <a:extLst>
              <a:ext uri="{FF2B5EF4-FFF2-40B4-BE49-F238E27FC236}">
                <a16:creationId xmlns:a16="http://schemas.microsoft.com/office/drawing/2014/main" id="{F132BC35-C48F-4598-9A4E-8ADB5E4FBBFC}"/>
              </a:ext>
            </a:extLst>
          </p:cNvPr>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6" name="圆角矩形 43">
            <a:extLst>
              <a:ext uri="{FF2B5EF4-FFF2-40B4-BE49-F238E27FC236}">
                <a16:creationId xmlns:a16="http://schemas.microsoft.com/office/drawing/2014/main" id="{2769050F-7F0F-4AF1-B40A-172CFCCB8B27}"/>
              </a:ext>
            </a:extLst>
          </p:cNvPr>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a:latin typeface="Arial" panose="020B0604020202020204" pitchFamily="34" charset="0"/>
                <a:ea typeface="宋体" panose="02010600030101010101" pitchFamily="2" charset="-122"/>
                <a:cs typeface="Arial" panose="020B0604020202020204" pitchFamily="34" charset="0"/>
              </a:rPr>
              <a:t>3.4.2</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7" name="矩形 45">
            <a:extLst>
              <a:ext uri="{FF2B5EF4-FFF2-40B4-BE49-F238E27FC236}">
                <a16:creationId xmlns:a16="http://schemas.microsoft.com/office/drawing/2014/main" id="{A306E546-72C0-4F14-90A4-BD60E068E627}"/>
              </a:ext>
            </a:extLst>
          </p:cNvPr>
          <p:cNvSpPr/>
          <p:nvPr/>
        </p:nvSpPr>
        <p:spPr>
          <a:xfrm>
            <a:off x="1960200" y="360001"/>
            <a:ext cx="6545373" cy="615549"/>
          </a:xfrm>
          <a:prstGeom prst="rect">
            <a:avLst/>
          </a:prstGeom>
        </p:spPr>
        <p:txBody>
          <a:bodyPr wrap="none" lIns="91436" tIns="45718" rIns="91436" bIns="45718">
            <a:spAutoFit/>
          </a:bodyPr>
          <a:lstStyle/>
          <a:p>
            <a:r>
              <a:rPr lang="zh-CN" altLang="en-US" sz="3400" b="1">
                <a:solidFill>
                  <a:schemeClr val="bg1"/>
                </a:solidFill>
                <a:latin typeface="宋体" panose="02010600030101010101" pitchFamily="2" charset="-122"/>
                <a:ea typeface="宋体" panose="02010600030101010101" pitchFamily="2" charset="-122"/>
                <a:sym typeface="+mn-ea"/>
              </a:rPr>
              <a:t>维捷曼效应 </a:t>
            </a:r>
            <a:r>
              <a:rPr lang="en-US" altLang="zh-CN" sz="3400" b="1">
                <a:latin typeface="宋体" panose="02010600030101010101" pitchFamily="2" charset="-122"/>
                <a:ea typeface="宋体" panose="02010600030101010101" pitchFamily="2" charset="-122"/>
                <a:sym typeface="+mn-ea"/>
              </a:rPr>
              <a:t>(Wiedemann effect)</a:t>
            </a:r>
            <a:endParaRPr lang="zh-CN" altLang="en-US" sz="3400" b="1" dirty="0">
              <a:latin typeface="宋体" panose="02010600030101010101" pitchFamily="2" charset="-122"/>
              <a:ea typeface="宋体" panose="02010600030101010101" pitchFamily="2" charset="-122"/>
              <a:sym typeface="+mn-ea"/>
            </a:endParaRPr>
          </a:p>
        </p:txBody>
      </p:sp>
      <p:sp>
        <p:nvSpPr>
          <p:cNvPr id="8" name="Text Box 9">
            <a:extLst>
              <a:ext uri="{FF2B5EF4-FFF2-40B4-BE49-F238E27FC236}">
                <a16:creationId xmlns:a16="http://schemas.microsoft.com/office/drawing/2014/main" id="{8B7ECB41-C582-4306-8173-68857E83BDCD}"/>
              </a:ext>
            </a:extLst>
          </p:cNvPr>
          <p:cNvSpPr txBox="1">
            <a:spLocks noChangeArrowheads="1"/>
          </p:cNvSpPr>
          <p:nvPr/>
        </p:nvSpPr>
        <p:spPr bwMode="auto">
          <a:xfrm>
            <a:off x="1571711" y="5966678"/>
            <a:ext cx="66052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spcBef>
                <a:spcPct val="50000"/>
              </a:spcBef>
            </a:pPr>
            <a:r>
              <a:rPr lang="zh-CN" altLang="en-US" b="1" dirty="0">
                <a:solidFill>
                  <a:srgbClr val="000099"/>
                </a:solidFill>
              </a:rPr>
              <a:t>图</a:t>
            </a:r>
            <a:r>
              <a:rPr lang="en-US" altLang="zh-CN" b="1" dirty="0">
                <a:solidFill>
                  <a:srgbClr val="000099"/>
                </a:solidFill>
              </a:rPr>
              <a:t>3-37  </a:t>
            </a:r>
            <a:r>
              <a:rPr lang="zh-CN" altLang="en-US" b="1" dirty="0">
                <a:solidFill>
                  <a:srgbClr val="000099"/>
                </a:solidFill>
              </a:rPr>
              <a:t>利用“维捷曼”效应进行测量的原理图</a:t>
            </a:r>
          </a:p>
        </p:txBody>
      </p:sp>
      <p:graphicFrame>
        <p:nvGraphicFramePr>
          <p:cNvPr id="9" name="Object 37">
            <a:extLst>
              <a:ext uri="{FF2B5EF4-FFF2-40B4-BE49-F238E27FC236}">
                <a16:creationId xmlns:a16="http://schemas.microsoft.com/office/drawing/2014/main" id="{04A1E5EA-DE18-4834-9013-D5E3D1FBEC28}"/>
              </a:ext>
            </a:extLst>
          </p:cNvPr>
          <p:cNvGraphicFramePr>
            <a:graphicFrameLocks noChangeAspect="1"/>
          </p:cNvGraphicFramePr>
          <p:nvPr>
            <p:extLst>
              <p:ext uri="{D42A27DB-BD31-4B8C-83A1-F6EECF244321}">
                <p14:modId xmlns:p14="http://schemas.microsoft.com/office/powerpoint/2010/main" val="2785704670"/>
              </p:ext>
            </p:extLst>
          </p:nvPr>
        </p:nvGraphicFramePr>
        <p:xfrm>
          <a:off x="849086" y="3909278"/>
          <a:ext cx="7772400" cy="2057400"/>
        </p:xfrm>
        <a:graphic>
          <a:graphicData uri="http://schemas.openxmlformats.org/presentationml/2006/ole">
            <mc:AlternateContent xmlns:mc="http://schemas.openxmlformats.org/markup-compatibility/2006">
              <mc:Choice xmlns:v="urn:schemas-microsoft-com:vml" Requires="v">
                <p:oleObj name="Image" r:id="rId2" imgW="31719184" imgH="7288163" progId="Photoshop.Image.7">
                  <p:embed/>
                </p:oleObj>
              </mc:Choice>
              <mc:Fallback>
                <p:oleObj name="Image" r:id="rId2" imgW="31719184" imgH="7288163" progId="Photoshop.Image.7">
                  <p:embed/>
                  <p:pic>
                    <p:nvPicPr>
                      <p:cNvPr id="5" name="Object 37">
                        <a:extLst>
                          <a:ext uri="{FF2B5EF4-FFF2-40B4-BE49-F238E27FC236}">
                            <a16:creationId xmlns:a16="http://schemas.microsoft.com/office/drawing/2014/main" id="{438CE725-4B5E-41AD-9737-C4D003A466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086" y="3909278"/>
                        <a:ext cx="77724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Slide Number Placeholder 9">
            <a:extLst>
              <a:ext uri="{FF2B5EF4-FFF2-40B4-BE49-F238E27FC236}">
                <a16:creationId xmlns:a16="http://schemas.microsoft.com/office/drawing/2014/main" id="{0A157414-972A-41C1-9884-55DF1EB1AD16}"/>
              </a:ext>
            </a:extLst>
          </p:cNvPr>
          <p:cNvSpPr>
            <a:spLocks noGrp="1"/>
          </p:cNvSpPr>
          <p:nvPr>
            <p:ph type="sldNum" sz="quarter" idx="12"/>
          </p:nvPr>
        </p:nvSpPr>
        <p:spPr/>
        <p:txBody>
          <a:bodyPr/>
          <a:lstStyle/>
          <a:p>
            <a:fld id="{B53602B4-F12B-41CD-B648-531F86B2CC91}" type="slidenum">
              <a:rPr lang="zh-CN" altLang="en-US" smtClean="0"/>
              <a:t>44</a:t>
            </a:fld>
            <a:endParaRPr lang="zh-CN" altLang="en-US"/>
          </a:p>
        </p:txBody>
      </p:sp>
    </p:spTree>
    <p:extLst>
      <p:ext uri="{BB962C8B-B14F-4D97-AF65-F5344CB8AC3E}">
        <p14:creationId xmlns:p14="http://schemas.microsoft.com/office/powerpoint/2010/main" val="20272059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a:extLst>
              <a:ext uri="{FF2B5EF4-FFF2-40B4-BE49-F238E27FC236}">
                <a16:creationId xmlns:a16="http://schemas.microsoft.com/office/drawing/2014/main" id="{231C2426-72B4-4C40-8200-F64218CE0D05}"/>
              </a:ext>
            </a:extLst>
          </p:cNvPr>
          <p:cNvSpPr txBox="1">
            <a:spLocks noChangeArrowheads="1"/>
          </p:cNvSpPr>
          <p:nvPr/>
        </p:nvSpPr>
        <p:spPr bwMode="auto">
          <a:xfrm>
            <a:off x="185084" y="1209831"/>
            <a:ext cx="8675888" cy="2785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spcBef>
                <a:spcPts val="600"/>
              </a:spcBef>
            </a:pPr>
            <a:r>
              <a:rPr lang="zh-CN" altLang="en-US" sz="2000" b="1"/>
              <a:t>（</a:t>
            </a:r>
            <a:r>
              <a:rPr lang="en-US" altLang="zh-CN" sz="2000" b="1"/>
              <a:t>a</a:t>
            </a:r>
            <a:r>
              <a:rPr lang="zh-CN" altLang="en-US" sz="2000" b="1"/>
              <a:t>）测量力矩</a:t>
            </a:r>
            <a:r>
              <a:rPr lang="en-US" altLang="zh-CN" sz="2000" b="1"/>
              <a:t>M</a:t>
            </a:r>
            <a:r>
              <a:rPr lang="zh-CN" altLang="en-US" sz="2000" b="1"/>
              <a:t>。</a:t>
            </a:r>
          </a:p>
          <a:p>
            <a:pPr marL="342900" indent="-342900" eaLnBrk="1" hangingPunct="1">
              <a:spcBef>
                <a:spcPts val="600"/>
              </a:spcBef>
              <a:buFont typeface="Arial" panose="020B0604020202020204" pitchFamily="34" charset="0"/>
              <a:buChar char="•"/>
            </a:pPr>
            <a:r>
              <a:rPr lang="zh-CN" altLang="en-US" sz="2000" b="1"/>
              <a:t>在一个用铁磁物质制造的轴上绕有建立磁场的绕组，此绕组用交流供电，在轴的两个端头接上指示仪表。</a:t>
            </a:r>
          </a:p>
          <a:p>
            <a:pPr marL="342900" indent="-342900" eaLnBrk="1" hangingPunct="1">
              <a:spcBef>
                <a:spcPts val="600"/>
              </a:spcBef>
              <a:buFont typeface="Arial" panose="020B0604020202020204" pitchFamily="34" charset="0"/>
              <a:buChar char="•"/>
            </a:pPr>
            <a:r>
              <a:rPr lang="zh-CN" altLang="en-US" sz="2000" b="1"/>
              <a:t>当</a:t>
            </a:r>
            <a:r>
              <a:rPr lang="en-US" altLang="zh-CN" sz="2000" b="1"/>
              <a:t>M=0</a:t>
            </a:r>
            <a:r>
              <a:rPr lang="zh-CN" altLang="en-US" sz="2000" b="1"/>
              <a:t>时，</a:t>
            </a:r>
            <a:r>
              <a:rPr lang="en-US" altLang="zh-CN" sz="2000" b="1"/>
              <a:t>u</a:t>
            </a:r>
            <a:r>
              <a:rPr lang="zh-CN" altLang="en-US" sz="2000" b="1"/>
              <a:t>值不论多大，它所建立的磁场均沿着轴向，该磁场决不能在轴的两端产生感应电动势，因此仅表示值为零；</a:t>
            </a:r>
          </a:p>
          <a:p>
            <a:pPr marL="342900" indent="-342900" eaLnBrk="1" hangingPunct="1">
              <a:spcBef>
                <a:spcPts val="600"/>
              </a:spcBef>
              <a:buFont typeface="Arial" panose="020B0604020202020204" pitchFamily="34" charset="0"/>
              <a:buChar char="•"/>
            </a:pPr>
            <a:r>
              <a:rPr lang="zh-CN" altLang="en-US" sz="2000" b="1"/>
              <a:t>当</a:t>
            </a:r>
            <a:r>
              <a:rPr lang="en-US" altLang="zh-CN" sz="2000" b="1"/>
              <a:t>M≠0</a:t>
            </a:r>
            <a:r>
              <a:rPr lang="zh-CN" altLang="en-US" sz="2000" b="1"/>
              <a:t>时，此磁场即有轴向分量，又有径向分量，后者的磁通必将链过轴与指示仪表组成的闭合回路。因此在此回路中必将产生感应电动势，使指示仪表偏转，用其指示值反映被测力矩的大小。</a:t>
            </a:r>
            <a:endParaRPr lang="zh-CN" altLang="en-US" sz="2000" b="1" dirty="0"/>
          </a:p>
        </p:txBody>
      </p:sp>
      <p:sp>
        <p:nvSpPr>
          <p:cNvPr id="5" name="矩形 40">
            <a:extLst>
              <a:ext uri="{FF2B5EF4-FFF2-40B4-BE49-F238E27FC236}">
                <a16:creationId xmlns:a16="http://schemas.microsoft.com/office/drawing/2014/main" id="{F132BC35-C48F-4598-9A4E-8ADB5E4FBBFC}"/>
              </a:ext>
            </a:extLst>
          </p:cNvPr>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6" name="圆角矩形 43">
            <a:extLst>
              <a:ext uri="{FF2B5EF4-FFF2-40B4-BE49-F238E27FC236}">
                <a16:creationId xmlns:a16="http://schemas.microsoft.com/office/drawing/2014/main" id="{2769050F-7F0F-4AF1-B40A-172CFCCB8B27}"/>
              </a:ext>
            </a:extLst>
          </p:cNvPr>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a:latin typeface="Arial" panose="020B0604020202020204" pitchFamily="34" charset="0"/>
                <a:ea typeface="宋体" panose="02010600030101010101" pitchFamily="2" charset="-122"/>
                <a:cs typeface="Arial" panose="020B0604020202020204" pitchFamily="34" charset="0"/>
              </a:rPr>
              <a:t>3.4.2</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7" name="矩形 45">
            <a:extLst>
              <a:ext uri="{FF2B5EF4-FFF2-40B4-BE49-F238E27FC236}">
                <a16:creationId xmlns:a16="http://schemas.microsoft.com/office/drawing/2014/main" id="{A306E546-72C0-4F14-90A4-BD60E068E627}"/>
              </a:ext>
            </a:extLst>
          </p:cNvPr>
          <p:cNvSpPr/>
          <p:nvPr/>
        </p:nvSpPr>
        <p:spPr>
          <a:xfrm>
            <a:off x="1960200" y="360001"/>
            <a:ext cx="6545373" cy="615549"/>
          </a:xfrm>
          <a:prstGeom prst="rect">
            <a:avLst/>
          </a:prstGeom>
        </p:spPr>
        <p:txBody>
          <a:bodyPr wrap="none" lIns="91436" tIns="45718" rIns="91436" bIns="45718">
            <a:spAutoFit/>
          </a:bodyPr>
          <a:lstStyle/>
          <a:p>
            <a:r>
              <a:rPr lang="zh-CN" altLang="en-US" sz="3400" b="1">
                <a:solidFill>
                  <a:schemeClr val="bg1"/>
                </a:solidFill>
                <a:latin typeface="宋体" panose="02010600030101010101" pitchFamily="2" charset="-122"/>
                <a:ea typeface="宋体" panose="02010600030101010101" pitchFamily="2" charset="-122"/>
                <a:sym typeface="+mn-ea"/>
              </a:rPr>
              <a:t>维捷曼效应 </a:t>
            </a:r>
            <a:r>
              <a:rPr lang="en-US" altLang="zh-CN" sz="3400" b="1">
                <a:latin typeface="宋体" panose="02010600030101010101" pitchFamily="2" charset="-122"/>
                <a:ea typeface="宋体" panose="02010600030101010101" pitchFamily="2" charset="-122"/>
                <a:sym typeface="+mn-ea"/>
              </a:rPr>
              <a:t>(Wiedemann effect)</a:t>
            </a:r>
            <a:endParaRPr lang="zh-CN" altLang="en-US" sz="3400" b="1" dirty="0">
              <a:latin typeface="宋体" panose="02010600030101010101" pitchFamily="2" charset="-122"/>
              <a:ea typeface="宋体" panose="02010600030101010101" pitchFamily="2" charset="-122"/>
              <a:sym typeface="+mn-ea"/>
            </a:endParaRPr>
          </a:p>
        </p:txBody>
      </p:sp>
      <p:sp>
        <p:nvSpPr>
          <p:cNvPr id="8" name="Text Box 9">
            <a:extLst>
              <a:ext uri="{FF2B5EF4-FFF2-40B4-BE49-F238E27FC236}">
                <a16:creationId xmlns:a16="http://schemas.microsoft.com/office/drawing/2014/main" id="{8B7ECB41-C582-4306-8173-68857E83BDCD}"/>
              </a:ext>
            </a:extLst>
          </p:cNvPr>
          <p:cNvSpPr txBox="1">
            <a:spLocks noChangeArrowheads="1"/>
          </p:cNvSpPr>
          <p:nvPr/>
        </p:nvSpPr>
        <p:spPr bwMode="auto">
          <a:xfrm>
            <a:off x="1571711" y="5966678"/>
            <a:ext cx="66052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spcBef>
                <a:spcPct val="50000"/>
              </a:spcBef>
            </a:pPr>
            <a:r>
              <a:rPr lang="zh-CN" altLang="en-US" b="1" dirty="0">
                <a:solidFill>
                  <a:srgbClr val="000099"/>
                </a:solidFill>
              </a:rPr>
              <a:t>图</a:t>
            </a:r>
            <a:r>
              <a:rPr lang="en-US" altLang="zh-CN" b="1" dirty="0">
                <a:solidFill>
                  <a:srgbClr val="000099"/>
                </a:solidFill>
              </a:rPr>
              <a:t>3-37  </a:t>
            </a:r>
            <a:r>
              <a:rPr lang="zh-CN" altLang="en-US" b="1" dirty="0">
                <a:solidFill>
                  <a:srgbClr val="000099"/>
                </a:solidFill>
              </a:rPr>
              <a:t>利用“维捷曼”效应进行测量的原理图</a:t>
            </a:r>
          </a:p>
        </p:txBody>
      </p:sp>
      <p:graphicFrame>
        <p:nvGraphicFramePr>
          <p:cNvPr id="9" name="Object 37">
            <a:extLst>
              <a:ext uri="{FF2B5EF4-FFF2-40B4-BE49-F238E27FC236}">
                <a16:creationId xmlns:a16="http://schemas.microsoft.com/office/drawing/2014/main" id="{04A1E5EA-DE18-4834-9013-D5E3D1FBEC28}"/>
              </a:ext>
            </a:extLst>
          </p:cNvPr>
          <p:cNvGraphicFramePr>
            <a:graphicFrameLocks noChangeAspect="1"/>
          </p:cNvGraphicFramePr>
          <p:nvPr/>
        </p:nvGraphicFramePr>
        <p:xfrm>
          <a:off x="849086" y="3909278"/>
          <a:ext cx="7772400" cy="2057400"/>
        </p:xfrm>
        <a:graphic>
          <a:graphicData uri="http://schemas.openxmlformats.org/presentationml/2006/ole">
            <mc:AlternateContent xmlns:mc="http://schemas.openxmlformats.org/markup-compatibility/2006">
              <mc:Choice xmlns:v="urn:schemas-microsoft-com:vml" Requires="v">
                <p:oleObj name="Image" r:id="rId2" imgW="31719184" imgH="7288163" progId="Photoshop.Image.7">
                  <p:embed/>
                </p:oleObj>
              </mc:Choice>
              <mc:Fallback>
                <p:oleObj name="Image" r:id="rId2" imgW="31719184" imgH="7288163" progId="Photoshop.Image.7">
                  <p:embed/>
                  <p:pic>
                    <p:nvPicPr>
                      <p:cNvPr id="9" name="Object 37">
                        <a:extLst>
                          <a:ext uri="{FF2B5EF4-FFF2-40B4-BE49-F238E27FC236}">
                            <a16:creationId xmlns:a16="http://schemas.microsoft.com/office/drawing/2014/main" id="{04A1E5EA-DE18-4834-9013-D5E3D1FBEC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086" y="3909278"/>
                        <a:ext cx="77724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BFA03186-8654-49D6-AD68-3BEC1C36F3EC}"/>
              </a:ext>
            </a:extLst>
          </p:cNvPr>
          <p:cNvSpPr>
            <a:spLocks noGrp="1"/>
          </p:cNvSpPr>
          <p:nvPr>
            <p:ph type="sldNum" sz="quarter" idx="12"/>
          </p:nvPr>
        </p:nvSpPr>
        <p:spPr/>
        <p:txBody>
          <a:bodyPr/>
          <a:lstStyle/>
          <a:p>
            <a:fld id="{B53602B4-F12B-41CD-B648-531F86B2CC91}" type="slidenum">
              <a:rPr lang="zh-CN" altLang="en-US" smtClean="0"/>
              <a:t>45</a:t>
            </a:fld>
            <a:endParaRPr lang="zh-CN" altLang="en-US"/>
          </a:p>
        </p:txBody>
      </p:sp>
    </p:spTree>
    <p:extLst>
      <p:ext uri="{BB962C8B-B14F-4D97-AF65-F5344CB8AC3E}">
        <p14:creationId xmlns:p14="http://schemas.microsoft.com/office/powerpoint/2010/main" val="33325218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a:extLst>
              <a:ext uri="{FF2B5EF4-FFF2-40B4-BE49-F238E27FC236}">
                <a16:creationId xmlns:a16="http://schemas.microsoft.com/office/drawing/2014/main" id="{231C2426-72B4-4C40-8200-F64218CE0D05}"/>
              </a:ext>
            </a:extLst>
          </p:cNvPr>
          <p:cNvSpPr txBox="1">
            <a:spLocks noChangeArrowheads="1"/>
          </p:cNvSpPr>
          <p:nvPr/>
        </p:nvSpPr>
        <p:spPr bwMode="auto">
          <a:xfrm>
            <a:off x="185084" y="1354971"/>
            <a:ext cx="8675888"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spcBef>
                <a:spcPts val="1200"/>
              </a:spcBef>
            </a:pPr>
            <a:r>
              <a:rPr lang="zh-CN" altLang="en-US" sz="2000" b="1"/>
              <a:t>（</a:t>
            </a:r>
            <a:r>
              <a:rPr lang="en-US" altLang="zh-CN" sz="2000" b="1"/>
              <a:t>b</a:t>
            </a:r>
            <a:r>
              <a:rPr lang="zh-CN" altLang="en-US" sz="2000" b="1"/>
              <a:t>）测量力矩</a:t>
            </a:r>
            <a:r>
              <a:rPr lang="en-US" altLang="zh-CN" sz="2000" b="1"/>
              <a:t>M</a:t>
            </a:r>
            <a:r>
              <a:rPr lang="zh-CN" altLang="en-US" sz="2000" b="1"/>
              <a:t>。</a:t>
            </a:r>
          </a:p>
          <a:p>
            <a:pPr marL="342900" indent="-342900" eaLnBrk="1" hangingPunct="1">
              <a:spcBef>
                <a:spcPts val="1200"/>
              </a:spcBef>
              <a:buFont typeface="Arial" panose="020B0604020202020204" pitchFamily="34" charset="0"/>
              <a:buChar char="•"/>
            </a:pPr>
            <a:r>
              <a:rPr lang="zh-CN" altLang="en-US" sz="2000" b="1"/>
              <a:t>将激励电压</a:t>
            </a:r>
            <a:r>
              <a:rPr lang="en-US" altLang="zh-CN" sz="2000" b="1"/>
              <a:t>u</a:t>
            </a:r>
            <a:r>
              <a:rPr lang="zh-CN" altLang="en-US" sz="2000" b="1"/>
              <a:t>加在轴上，在轴上又绕有绕组，在此绕的端头接有指示仪表。</a:t>
            </a:r>
          </a:p>
          <a:p>
            <a:pPr marL="342900" indent="-342900" eaLnBrk="1" hangingPunct="1">
              <a:spcBef>
                <a:spcPts val="1200"/>
              </a:spcBef>
              <a:buFont typeface="Arial" panose="020B0604020202020204" pitchFamily="34" charset="0"/>
              <a:buChar char="•"/>
            </a:pPr>
            <a:r>
              <a:rPr lang="zh-CN" altLang="en-US" sz="2000" b="1"/>
              <a:t>当力矩</a:t>
            </a:r>
            <a:r>
              <a:rPr lang="en-US" altLang="zh-CN" sz="2000" b="1"/>
              <a:t>M=0</a:t>
            </a:r>
            <a:r>
              <a:rPr lang="zh-CN" altLang="en-US" sz="2000" b="1"/>
              <a:t>时，流过轴棒上的电流所建立的磁场显然与轴线垂直，因此不会有磁通穿过绕在棒上的绕组，在绕组的两端也不会有感应电动势；</a:t>
            </a:r>
          </a:p>
          <a:p>
            <a:pPr marL="342900" indent="-342900" eaLnBrk="1" hangingPunct="1">
              <a:spcBef>
                <a:spcPts val="1200"/>
              </a:spcBef>
              <a:buFont typeface="Arial" panose="020B0604020202020204" pitchFamily="34" charset="0"/>
              <a:buChar char="•"/>
            </a:pPr>
            <a:r>
              <a:rPr lang="zh-CN" altLang="en-US" sz="2000" b="1"/>
              <a:t>当</a:t>
            </a:r>
            <a:r>
              <a:rPr lang="en-US" altLang="zh-CN" sz="2000" b="1"/>
              <a:t>M≠0</a:t>
            </a:r>
            <a:r>
              <a:rPr lang="zh-CN" altLang="en-US" sz="2000" b="1"/>
              <a:t>时，所建的磁场就必然有轴向分量，必然有磁通穿过绕组，因此绕组的端头上将有电动势产生，从而推动指示仪表偏转。</a:t>
            </a:r>
            <a:endParaRPr lang="zh-CN" altLang="en-US" sz="2000" b="1" dirty="0"/>
          </a:p>
        </p:txBody>
      </p:sp>
      <p:sp>
        <p:nvSpPr>
          <p:cNvPr id="5" name="矩形 40">
            <a:extLst>
              <a:ext uri="{FF2B5EF4-FFF2-40B4-BE49-F238E27FC236}">
                <a16:creationId xmlns:a16="http://schemas.microsoft.com/office/drawing/2014/main" id="{F132BC35-C48F-4598-9A4E-8ADB5E4FBBFC}"/>
              </a:ext>
            </a:extLst>
          </p:cNvPr>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6" name="圆角矩形 43">
            <a:extLst>
              <a:ext uri="{FF2B5EF4-FFF2-40B4-BE49-F238E27FC236}">
                <a16:creationId xmlns:a16="http://schemas.microsoft.com/office/drawing/2014/main" id="{2769050F-7F0F-4AF1-B40A-172CFCCB8B27}"/>
              </a:ext>
            </a:extLst>
          </p:cNvPr>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a:latin typeface="Arial" panose="020B0604020202020204" pitchFamily="34" charset="0"/>
                <a:ea typeface="宋体" panose="02010600030101010101" pitchFamily="2" charset="-122"/>
                <a:cs typeface="Arial" panose="020B0604020202020204" pitchFamily="34" charset="0"/>
              </a:rPr>
              <a:t>3.4.2</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7" name="矩形 45">
            <a:extLst>
              <a:ext uri="{FF2B5EF4-FFF2-40B4-BE49-F238E27FC236}">
                <a16:creationId xmlns:a16="http://schemas.microsoft.com/office/drawing/2014/main" id="{A306E546-72C0-4F14-90A4-BD60E068E627}"/>
              </a:ext>
            </a:extLst>
          </p:cNvPr>
          <p:cNvSpPr/>
          <p:nvPr/>
        </p:nvSpPr>
        <p:spPr>
          <a:xfrm>
            <a:off x="1960200" y="360001"/>
            <a:ext cx="6545373" cy="615549"/>
          </a:xfrm>
          <a:prstGeom prst="rect">
            <a:avLst/>
          </a:prstGeom>
        </p:spPr>
        <p:txBody>
          <a:bodyPr wrap="none" lIns="91436" tIns="45718" rIns="91436" bIns="45718">
            <a:spAutoFit/>
          </a:bodyPr>
          <a:lstStyle/>
          <a:p>
            <a:r>
              <a:rPr lang="zh-CN" altLang="en-US" sz="3400" b="1">
                <a:solidFill>
                  <a:schemeClr val="bg1"/>
                </a:solidFill>
                <a:latin typeface="宋体" panose="02010600030101010101" pitchFamily="2" charset="-122"/>
                <a:ea typeface="宋体" panose="02010600030101010101" pitchFamily="2" charset="-122"/>
                <a:sym typeface="+mn-ea"/>
              </a:rPr>
              <a:t>维捷曼效应 </a:t>
            </a:r>
            <a:r>
              <a:rPr lang="en-US" altLang="zh-CN" sz="3400" b="1">
                <a:latin typeface="宋体" panose="02010600030101010101" pitchFamily="2" charset="-122"/>
                <a:ea typeface="宋体" panose="02010600030101010101" pitchFamily="2" charset="-122"/>
                <a:sym typeface="+mn-ea"/>
              </a:rPr>
              <a:t>(Wiedemann effect)</a:t>
            </a:r>
            <a:endParaRPr lang="zh-CN" altLang="en-US" sz="3400" b="1" dirty="0">
              <a:latin typeface="宋体" panose="02010600030101010101" pitchFamily="2" charset="-122"/>
              <a:ea typeface="宋体" panose="02010600030101010101" pitchFamily="2" charset="-122"/>
              <a:sym typeface="+mn-ea"/>
            </a:endParaRPr>
          </a:p>
        </p:txBody>
      </p:sp>
      <p:sp>
        <p:nvSpPr>
          <p:cNvPr id="8" name="Text Box 9">
            <a:extLst>
              <a:ext uri="{FF2B5EF4-FFF2-40B4-BE49-F238E27FC236}">
                <a16:creationId xmlns:a16="http://schemas.microsoft.com/office/drawing/2014/main" id="{8B7ECB41-C582-4306-8173-68857E83BDCD}"/>
              </a:ext>
            </a:extLst>
          </p:cNvPr>
          <p:cNvSpPr txBox="1">
            <a:spLocks noChangeArrowheads="1"/>
          </p:cNvSpPr>
          <p:nvPr/>
        </p:nvSpPr>
        <p:spPr bwMode="auto">
          <a:xfrm>
            <a:off x="1571711" y="5966678"/>
            <a:ext cx="66052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spcBef>
                <a:spcPct val="50000"/>
              </a:spcBef>
            </a:pPr>
            <a:r>
              <a:rPr lang="zh-CN" altLang="en-US" b="1" dirty="0">
                <a:solidFill>
                  <a:srgbClr val="000099"/>
                </a:solidFill>
              </a:rPr>
              <a:t>图</a:t>
            </a:r>
            <a:r>
              <a:rPr lang="en-US" altLang="zh-CN" b="1" dirty="0">
                <a:solidFill>
                  <a:srgbClr val="000099"/>
                </a:solidFill>
              </a:rPr>
              <a:t>3-37  </a:t>
            </a:r>
            <a:r>
              <a:rPr lang="zh-CN" altLang="en-US" b="1" dirty="0">
                <a:solidFill>
                  <a:srgbClr val="000099"/>
                </a:solidFill>
              </a:rPr>
              <a:t>利用“维捷曼”效应进行测量的原理图</a:t>
            </a:r>
          </a:p>
        </p:txBody>
      </p:sp>
      <p:graphicFrame>
        <p:nvGraphicFramePr>
          <p:cNvPr id="9" name="Object 37">
            <a:extLst>
              <a:ext uri="{FF2B5EF4-FFF2-40B4-BE49-F238E27FC236}">
                <a16:creationId xmlns:a16="http://schemas.microsoft.com/office/drawing/2014/main" id="{04A1E5EA-DE18-4834-9013-D5E3D1FBEC28}"/>
              </a:ext>
            </a:extLst>
          </p:cNvPr>
          <p:cNvGraphicFramePr>
            <a:graphicFrameLocks noChangeAspect="1"/>
          </p:cNvGraphicFramePr>
          <p:nvPr/>
        </p:nvGraphicFramePr>
        <p:xfrm>
          <a:off x="849086" y="3909278"/>
          <a:ext cx="7772400" cy="2057400"/>
        </p:xfrm>
        <a:graphic>
          <a:graphicData uri="http://schemas.openxmlformats.org/presentationml/2006/ole">
            <mc:AlternateContent xmlns:mc="http://schemas.openxmlformats.org/markup-compatibility/2006">
              <mc:Choice xmlns:v="urn:schemas-microsoft-com:vml" Requires="v">
                <p:oleObj name="Image" r:id="rId2" imgW="31719184" imgH="7288163" progId="Photoshop.Image.7">
                  <p:embed/>
                </p:oleObj>
              </mc:Choice>
              <mc:Fallback>
                <p:oleObj name="Image" r:id="rId2" imgW="31719184" imgH="7288163" progId="Photoshop.Image.7">
                  <p:embed/>
                  <p:pic>
                    <p:nvPicPr>
                      <p:cNvPr id="9" name="Object 37">
                        <a:extLst>
                          <a:ext uri="{FF2B5EF4-FFF2-40B4-BE49-F238E27FC236}">
                            <a16:creationId xmlns:a16="http://schemas.microsoft.com/office/drawing/2014/main" id="{04A1E5EA-DE18-4834-9013-D5E3D1FBEC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086" y="3909278"/>
                        <a:ext cx="77724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FF4B51BD-0488-4722-95A1-DF8856349AB7}"/>
              </a:ext>
            </a:extLst>
          </p:cNvPr>
          <p:cNvSpPr>
            <a:spLocks noGrp="1"/>
          </p:cNvSpPr>
          <p:nvPr>
            <p:ph type="sldNum" sz="quarter" idx="12"/>
          </p:nvPr>
        </p:nvSpPr>
        <p:spPr/>
        <p:txBody>
          <a:bodyPr/>
          <a:lstStyle/>
          <a:p>
            <a:fld id="{B53602B4-F12B-41CD-B648-531F86B2CC91}" type="slidenum">
              <a:rPr lang="zh-CN" altLang="en-US" smtClean="0"/>
              <a:t>46</a:t>
            </a:fld>
            <a:endParaRPr lang="zh-CN" altLang="en-US"/>
          </a:p>
        </p:txBody>
      </p:sp>
    </p:spTree>
    <p:extLst>
      <p:ext uri="{BB962C8B-B14F-4D97-AF65-F5344CB8AC3E}">
        <p14:creationId xmlns:p14="http://schemas.microsoft.com/office/powerpoint/2010/main" val="15939705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a:extLst>
              <a:ext uri="{FF2B5EF4-FFF2-40B4-BE49-F238E27FC236}">
                <a16:creationId xmlns:a16="http://schemas.microsoft.com/office/drawing/2014/main" id="{231C2426-72B4-4C40-8200-F64218CE0D05}"/>
              </a:ext>
            </a:extLst>
          </p:cNvPr>
          <p:cNvSpPr txBox="1">
            <a:spLocks noChangeArrowheads="1"/>
          </p:cNvSpPr>
          <p:nvPr/>
        </p:nvSpPr>
        <p:spPr bwMode="auto">
          <a:xfrm>
            <a:off x="185084" y="1826691"/>
            <a:ext cx="8675888" cy="1400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spcBef>
                <a:spcPts val="600"/>
              </a:spcBef>
            </a:pPr>
            <a:r>
              <a:rPr lang="en-US" altLang="zh-CN" sz="2000" b="1"/>
              <a:t>(c) </a:t>
            </a:r>
            <a:r>
              <a:rPr lang="zh-CN" altLang="en-US" sz="2000" b="1"/>
              <a:t>测量气体压力</a:t>
            </a:r>
          </a:p>
          <a:p>
            <a:pPr marL="342900" indent="-342900" eaLnBrk="1" hangingPunct="1">
              <a:spcBef>
                <a:spcPts val="600"/>
              </a:spcBef>
              <a:buFont typeface="Arial" panose="020B0604020202020204" pitchFamily="34" charset="0"/>
              <a:buChar char="•"/>
            </a:pPr>
            <a:r>
              <a:rPr lang="zh-CN" altLang="en-US" sz="2000" b="1"/>
              <a:t>在一个导磁材料杆中间开一个螺旋形孔道（非通孔），当气体导入其中后，在此气体压力作用下磁导体棒产生扭曲变形，即相当于有一个转矩作用在此棒的两端，与</a:t>
            </a:r>
            <a:r>
              <a:rPr lang="en-US" altLang="zh-CN" sz="2000" b="1"/>
              <a:t>(a)</a:t>
            </a:r>
            <a:r>
              <a:rPr lang="zh-CN" altLang="en-US" sz="2000" b="1"/>
              <a:t>相似。</a:t>
            </a:r>
            <a:endParaRPr lang="zh-CN" altLang="en-US" sz="2000" b="1" dirty="0"/>
          </a:p>
        </p:txBody>
      </p:sp>
      <p:sp>
        <p:nvSpPr>
          <p:cNvPr id="5" name="矩形 40">
            <a:extLst>
              <a:ext uri="{FF2B5EF4-FFF2-40B4-BE49-F238E27FC236}">
                <a16:creationId xmlns:a16="http://schemas.microsoft.com/office/drawing/2014/main" id="{F132BC35-C48F-4598-9A4E-8ADB5E4FBBFC}"/>
              </a:ext>
            </a:extLst>
          </p:cNvPr>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6" name="圆角矩形 43">
            <a:extLst>
              <a:ext uri="{FF2B5EF4-FFF2-40B4-BE49-F238E27FC236}">
                <a16:creationId xmlns:a16="http://schemas.microsoft.com/office/drawing/2014/main" id="{2769050F-7F0F-4AF1-B40A-172CFCCB8B27}"/>
              </a:ext>
            </a:extLst>
          </p:cNvPr>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a:latin typeface="Arial" panose="020B0604020202020204" pitchFamily="34" charset="0"/>
                <a:ea typeface="宋体" panose="02010600030101010101" pitchFamily="2" charset="-122"/>
                <a:cs typeface="Arial" panose="020B0604020202020204" pitchFamily="34" charset="0"/>
              </a:rPr>
              <a:t>3.4.2</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7" name="矩形 45">
            <a:extLst>
              <a:ext uri="{FF2B5EF4-FFF2-40B4-BE49-F238E27FC236}">
                <a16:creationId xmlns:a16="http://schemas.microsoft.com/office/drawing/2014/main" id="{A306E546-72C0-4F14-90A4-BD60E068E627}"/>
              </a:ext>
            </a:extLst>
          </p:cNvPr>
          <p:cNvSpPr/>
          <p:nvPr/>
        </p:nvSpPr>
        <p:spPr>
          <a:xfrm>
            <a:off x="1960200" y="360001"/>
            <a:ext cx="6545373" cy="615549"/>
          </a:xfrm>
          <a:prstGeom prst="rect">
            <a:avLst/>
          </a:prstGeom>
        </p:spPr>
        <p:txBody>
          <a:bodyPr wrap="none" lIns="91436" tIns="45718" rIns="91436" bIns="45718">
            <a:spAutoFit/>
          </a:bodyPr>
          <a:lstStyle/>
          <a:p>
            <a:r>
              <a:rPr lang="zh-CN" altLang="en-US" sz="3400" b="1">
                <a:solidFill>
                  <a:schemeClr val="bg1"/>
                </a:solidFill>
                <a:latin typeface="宋体" panose="02010600030101010101" pitchFamily="2" charset="-122"/>
                <a:ea typeface="宋体" panose="02010600030101010101" pitchFamily="2" charset="-122"/>
                <a:sym typeface="+mn-ea"/>
              </a:rPr>
              <a:t>维捷曼效应 </a:t>
            </a:r>
            <a:r>
              <a:rPr lang="en-US" altLang="zh-CN" sz="3400" b="1">
                <a:latin typeface="宋体" panose="02010600030101010101" pitchFamily="2" charset="-122"/>
                <a:ea typeface="宋体" panose="02010600030101010101" pitchFamily="2" charset="-122"/>
                <a:sym typeface="+mn-ea"/>
              </a:rPr>
              <a:t>(Wiedemann effect)</a:t>
            </a:r>
            <a:endParaRPr lang="zh-CN" altLang="en-US" sz="3400" b="1" dirty="0">
              <a:latin typeface="宋体" panose="02010600030101010101" pitchFamily="2" charset="-122"/>
              <a:ea typeface="宋体" panose="02010600030101010101" pitchFamily="2" charset="-122"/>
              <a:sym typeface="+mn-ea"/>
            </a:endParaRPr>
          </a:p>
        </p:txBody>
      </p:sp>
      <p:sp>
        <p:nvSpPr>
          <p:cNvPr id="8" name="Text Box 9">
            <a:extLst>
              <a:ext uri="{FF2B5EF4-FFF2-40B4-BE49-F238E27FC236}">
                <a16:creationId xmlns:a16="http://schemas.microsoft.com/office/drawing/2014/main" id="{8B7ECB41-C582-4306-8173-68857E83BDCD}"/>
              </a:ext>
            </a:extLst>
          </p:cNvPr>
          <p:cNvSpPr txBox="1">
            <a:spLocks noChangeArrowheads="1"/>
          </p:cNvSpPr>
          <p:nvPr/>
        </p:nvSpPr>
        <p:spPr bwMode="auto">
          <a:xfrm>
            <a:off x="1571711" y="5966678"/>
            <a:ext cx="66052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spcBef>
                <a:spcPct val="50000"/>
              </a:spcBef>
            </a:pPr>
            <a:r>
              <a:rPr lang="zh-CN" altLang="en-US" b="1" dirty="0">
                <a:solidFill>
                  <a:srgbClr val="000099"/>
                </a:solidFill>
              </a:rPr>
              <a:t>图</a:t>
            </a:r>
            <a:r>
              <a:rPr lang="en-US" altLang="zh-CN" b="1" dirty="0">
                <a:solidFill>
                  <a:srgbClr val="000099"/>
                </a:solidFill>
              </a:rPr>
              <a:t>3-37  </a:t>
            </a:r>
            <a:r>
              <a:rPr lang="zh-CN" altLang="en-US" b="1" dirty="0">
                <a:solidFill>
                  <a:srgbClr val="000099"/>
                </a:solidFill>
              </a:rPr>
              <a:t>利用“维捷曼”效应进行测量的原理图</a:t>
            </a:r>
          </a:p>
        </p:txBody>
      </p:sp>
      <p:graphicFrame>
        <p:nvGraphicFramePr>
          <p:cNvPr id="9" name="Object 37">
            <a:extLst>
              <a:ext uri="{FF2B5EF4-FFF2-40B4-BE49-F238E27FC236}">
                <a16:creationId xmlns:a16="http://schemas.microsoft.com/office/drawing/2014/main" id="{04A1E5EA-DE18-4834-9013-D5E3D1FBEC28}"/>
              </a:ext>
            </a:extLst>
          </p:cNvPr>
          <p:cNvGraphicFramePr>
            <a:graphicFrameLocks noChangeAspect="1"/>
          </p:cNvGraphicFramePr>
          <p:nvPr/>
        </p:nvGraphicFramePr>
        <p:xfrm>
          <a:off x="849086" y="3909278"/>
          <a:ext cx="7772400" cy="2057400"/>
        </p:xfrm>
        <a:graphic>
          <a:graphicData uri="http://schemas.openxmlformats.org/presentationml/2006/ole">
            <mc:AlternateContent xmlns:mc="http://schemas.openxmlformats.org/markup-compatibility/2006">
              <mc:Choice xmlns:v="urn:schemas-microsoft-com:vml" Requires="v">
                <p:oleObj name="Image" r:id="rId2" imgW="31719184" imgH="7288163" progId="Photoshop.Image.7">
                  <p:embed/>
                </p:oleObj>
              </mc:Choice>
              <mc:Fallback>
                <p:oleObj name="Image" r:id="rId2" imgW="31719184" imgH="7288163" progId="Photoshop.Image.7">
                  <p:embed/>
                  <p:pic>
                    <p:nvPicPr>
                      <p:cNvPr id="9" name="Object 37">
                        <a:extLst>
                          <a:ext uri="{FF2B5EF4-FFF2-40B4-BE49-F238E27FC236}">
                            <a16:creationId xmlns:a16="http://schemas.microsoft.com/office/drawing/2014/main" id="{04A1E5EA-DE18-4834-9013-D5E3D1FBEC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086" y="3909278"/>
                        <a:ext cx="77724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8CFFCEC4-0EF9-46D7-9EB6-5DA332531BCE}"/>
              </a:ext>
            </a:extLst>
          </p:cNvPr>
          <p:cNvSpPr>
            <a:spLocks noGrp="1"/>
          </p:cNvSpPr>
          <p:nvPr>
            <p:ph type="sldNum" sz="quarter" idx="12"/>
          </p:nvPr>
        </p:nvSpPr>
        <p:spPr/>
        <p:txBody>
          <a:bodyPr/>
          <a:lstStyle/>
          <a:p>
            <a:fld id="{B53602B4-F12B-41CD-B648-531F86B2CC91}" type="slidenum">
              <a:rPr lang="zh-CN" altLang="en-US" smtClean="0"/>
              <a:t>47</a:t>
            </a:fld>
            <a:endParaRPr lang="zh-CN" altLang="en-US"/>
          </a:p>
        </p:txBody>
      </p:sp>
    </p:spTree>
    <p:extLst>
      <p:ext uri="{BB962C8B-B14F-4D97-AF65-F5344CB8AC3E}">
        <p14:creationId xmlns:p14="http://schemas.microsoft.com/office/powerpoint/2010/main" val="11091036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3</a:t>
            </a:r>
          </a:p>
        </p:txBody>
      </p:sp>
      <p:sp>
        <p:nvSpPr>
          <p:cNvPr id="46" name="矩形 45"/>
          <p:cNvSpPr/>
          <p:nvPr/>
        </p:nvSpPr>
        <p:spPr>
          <a:xfrm>
            <a:off x="1960200" y="360001"/>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本章要点</a:t>
            </a:r>
          </a:p>
        </p:txBody>
      </p:sp>
      <p:sp>
        <p:nvSpPr>
          <p:cNvPr id="24" name="矩形 23"/>
          <p:cNvSpPr/>
          <p:nvPr/>
        </p:nvSpPr>
        <p:spPr>
          <a:xfrm>
            <a:off x="410568" y="2115121"/>
            <a:ext cx="5539574" cy="2351989"/>
          </a:xfrm>
          <a:prstGeom prst="rect">
            <a:avLst/>
          </a:prstGeom>
        </p:spPr>
        <p:txBody>
          <a:bodyPr wrap="square" lIns="91438" tIns="45719" rIns="91438" bIns="45719">
            <a:spAutoFit/>
          </a:bodyPr>
          <a:lstStyle/>
          <a:p>
            <a:pPr marL="342900" indent="-342900">
              <a:lnSpc>
                <a:spcPts val="4000"/>
              </a:lnSpc>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自感式传感器的工作原理</a:t>
            </a:r>
          </a:p>
          <a:p>
            <a:pPr marL="342900" indent="-342900">
              <a:lnSpc>
                <a:spcPts val="4000"/>
              </a:lnSpc>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灵敏度与非线性</a:t>
            </a:r>
          </a:p>
          <a:p>
            <a:pPr>
              <a:lnSpc>
                <a:spcPts val="4000"/>
              </a:lnSpc>
              <a:spcBef>
                <a:spcPts val="670"/>
              </a:spcBef>
            </a:pPr>
            <a:r>
              <a:rPr lang="en-US" altLang="zh-CN" sz="2400" b="1" dirty="0">
                <a:latin typeface="Arial" panose="020B0604020202020204" pitchFamily="34" charset="0"/>
                <a:ea typeface="宋体" panose="02010600030101010101" pitchFamily="2" charset="-122"/>
                <a:cs typeface="Arial" panose="020B0604020202020204" pitchFamily="34" charset="0"/>
              </a:rPr>
              <a:t>    </a:t>
            </a:r>
            <a:r>
              <a:rPr lang="zh-CN" altLang="en-US" sz="2400" b="1" dirty="0">
                <a:latin typeface="Arial" panose="020B0604020202020204" pitchFamily="34" charset="0"/>
                <a:ea typeface="宋体" panose="02010600030101010101" pitchFamily="2" charset="-122"/>
                <a:cs typeface="Arial" panose="020B0604020202020204" pitchFamily="34" charset="0"/>
              </a:rPr>
              <a:t>单传感器和差分式传感器的区别</a:t>
            </a:r>
          </a:p>
          <a:p>
            <a:pPr marL="342900" indent="-342900">
              <a:lnSpc>
                <a:spcPts val="4000"/>
              </a:lnSpc>
              <a:spcBef>
                <a:spcPts val="670"/>
              </a:spcBef>
              <a:buFont typeface="Arial" panose="020B0604020202020204" pitchFamily="34" charset="0"/>
              <a:buChar char="•"/>
            </a:pPr>
            <a:r>
              <a:rPr lang="zh-CN" altLang="en-US" sz="2400" b="1">
                <a:latin typeface="Arial" panose="020B0604020202020204" pitchFamily="34" charset="0"/>
                <a:ea typeface="宋体" panose="02010600030101010101" pitchFamily="2" charset="-122"/>
                <a:cs typeface="Arial" panose="020B0604020202020204" pitchFamily="34" charset="0"/>
              </a:rPr>
              <a:t>应</a:t>
            </a:r>
            <a:r>
              <a:rPr lang="zh-CN" altLang="en-US" sz="2400" b="1" dirty="0">
                <a:latin typeface="Arial" panose="020B0604020202020204" pitchFamily="34" charset="0"/>
                <a:ea typeface="宋体" panose="02010600030101010101" pitchFamily="2" charset="-122"/>
                <a:cs typeface="Arial" panose="020B0604020202020204" pitchFamily="34" charset="0"/>
              </a:rPr>
              <a:t>用</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p:txBody>
      </p:sp>
      <p:sp>
        <p:nvSpPr>
          <p:cNvPr id="32" name="矩形 31"/>
          <p:cNvSpPr/>
          <p:nvPr/>
        </p:nvSpPr>
        <p:spPr>
          <a:xfrm>
            <a:off x="410568" y="1636134"/>
            <a:ext cx="2091531" cy="461663"/>
          </a:xfrm>
          <a:prstGeom prst="rect">
            <a:avLst/>
          </a:prstGeom>
        </p:spPr>
        <p:style>
          <a:lnRef idx="1">
            <a:schemeClr val="accent2"/>
          </a:lnRef>
          <a:fillRef idx="3">
            <a:schemeClr val="accent2"/>
          </a:fillRef>
          <a:effectRef idx="2">
            <a:schemeClr val="accent2"/>
          </a:effectRef>
          <a:fontRef idx="minor">
            <a:schemeClr val="lt1"/>
          </a:fontRef>
        </p:style>
        <p:txBody>
          <a:bodyPr wrap="square" lIns="91438" tIns="45719" rIns="91438" bIns="45719">
            <a:spAutoFit/>
          </a:bodyPr>
          <a:lstStyle/>
          <a:p>
            <a:pPr>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rPr>
              <a:t>自感式传感器</a:t>
            </a:r>
          </a:p>
        </p:txBody>
      </p:sp>
      <p:sp>
        <p:nvSpPr>
          <p:cNvPr id="9" name="矩形 23">
            <a:extLst>
              <a:ext uri="{FF2B5EF4-FFF2-40B4-BE49-F238E27FC236}">
                <a16:creationId xmlns:a16="http://schemas.microsoft.com/office/drawing/2014/main" id="{5FDC74F5-02A0-468E-80CE-318DD9605A22}"/>
              </a:ext>
            </a:extLst>
          </p:cNvPr>
          <p:cNvSpPr/>
          <p:nvPr/>
        </p:nvSpPr>
        <p:spPr>
          <a:xfrm>
            <a:off x="472394" y="5121365"/>
            <a:ext cx="5876926" cy="1146530"/>
          </a:xfrm>
          <a:prstGeom prst="rect">
            <a:avLst/>
          </a:prstGeom>
        </p:spPr>
        <p:txBody>
          <a:bodyPr wrap="square" lIns="91438" tIns="45719" rIns="91438" bIns="45719">
            <a:spAutoFit/>
          </a:bodyPr>
          <a:lstStyle/>
          <a:p>
            <a:pPr marL="342900" indent="-342900">
              <a:lnSpc>
                <a:spcPts val="4000"/>
              </a:lnSpc>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工作原理</a:t>
            </a:r>
          </a:p>
          <a:p>
            <a:pPr marL="342900" indent="-342900">
              <a:lnSpc>
                <a:spcPts val="4000"/>
              </a:lnSpc>
              <a:spcBef>
                <a:spcPts val="670"/>
              </a:spcBef>
              <a:buFont typeface="Arial" panose="020B0604020202020204" pitchFamily="34" charset="0"/>
              <a:buChar char="•"/>
            </a:pPr>
            <a:r>
              <a:rPr lang="zh-CN" altLang="en-US" sz="2400" b="1">
                <a:latin typeface="Arial" panose="020B0604020202020204" pitchFamily="34" charset="0"/>
                <a:ea typeface="宋体" panose="02010600030101010101" pitchFamily="2" charset="-122"/>
                <a:cs typeface="Arial" panose="020B0604020202020204" pitchFamily="34" charset="0"/>
              </a:rPr>
              <a:t>应</a:t>
            </a:r>
            <a:r>
              <a:rPr lang="zh-CN" altLang="en-US" sz="2400" b="1" dirty="0">
                <a:latin typeface="Arial" panose="020B0604020202020204" pitchFamily="34" charset="0"/>
                <a:ea typeface="宋体" panose="02010600030101010101" pitchFamily="2" charset="-122"/>
                <a:cs typeface="Arial" panose="020B0604020202020204" pitchFamily="34" charset="0"/>
              </a:rPr>
              <a:t>用</a:t>
            </a:r>
          </a:p>
        </p:txBody>
      </p:sp>
      <p:sp>
        <p:nvSpPr>
          <p:cNvPr id="10" name="矩形 33">
            <a:extLst>
              <a:ext uri="{FF2B5EF4-FFF2-40B4-BE49-F238E27FC236}">
                <a16:creationId xmlns:a16="http://schemas.microsoft.com/office/drawing/2014/main" id="{B241B260-6767-47EF-AB51-E3D1BC0A2D67}"/>
              </a:ext>
            </a:extLst>
          </p:cNvPr>
          <p:cNvSpPr/>
          <p:nvPr/>
        </p:nvSpPr>
        <p:spPr>
          <a:xfrm>
            <a:off x="472394" y="4628715"/>
            <a:ext cx="2435282" cy="461665"/>
          </a:xfrm>
          <a:prstGeom prst="rect">
            <a:avLst/>
          </a:prstGeom>
        </p:spPr>
        <p:style>
          <a:lnRef idx="3">
            <a:schemeClr val="lt1"/>
          </a:lnRef>
          <a:fillRef idx="1">
            <a:schemeClr val="accent6"/>
          </a:fillRef>
          <a:effectRef idx="1">
            <a:schemeClr val="accent6"/>
          </a:effectRef>
          <a:fontRef idx="minor">
            <a:schemeClr val="lt1"/>
          </a:fontRef>
        </p:style>
        <p:txBody>
          <a:bodyPr wrap="none">
            <a:spAutoFit/>
          </a:bodyPr>
          <a:lstStyle/>
          <a:p>
            <a:pPr>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rPr>
              <a:t> 变压器式传感器</a:t>
            </a:r>
          </a:p>
        </p:txBody>
      </p:sp>
      <p:sp>
        <p:nvSpPr>
          <p:cNvPr id="11" name="矩形 23">
            <a:extLst>
              <a:ext uri="{FF2B5EF4-FFF2-40B4-BE49-F238E27FC236}">
                <a16:creationId xmlns:a16="http://schemas.microsoft.com/office/drawing/2014/main" id="{267A8193-6E4E-4BDA-9299-090410969B5B}"/>
              </a:ext>
            </a:extLst>
          </p:cNvPr>
          <p:cNvSpPr/>
          <p:nvPr/>
        </p:nvSpPr>
        <p:spPr>
          <a:xfrm>
            <a:off x="5863772" y="2102967"/>
            <a:ext cx="2869660" cy="1862111"/>
          </a:xfrm>
          <a:prstGeom prst="rect">
            <a:avLst/>
          </a:prstGeom>
        </p:spPr>
        <p:txBody>
          <a:bodyPr wrap="square" lIns="91438" tIns="45719" rIns="91438" bIns="45719">
            <a:spAutoFit/>
          </a:bodyPr>
          <a:lstStyle/>
          <a:p>
            <a:pPr marL="342900" indent="-342900">
              <a:lnSpc>
                <a:spcPct val="150000"/>
              </a:lnSpc>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工作原理</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indent="355600">
              <a:lnSpc>
                <a:spcPct val="150000"/>
              </a:lnSpc>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rPr>
              <a:t>涡流效应</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marL="342900" indent="-342900">
              <a:lnSpc>
                <a:spcPct val="150000"/>
              </a:lnSpc>
              <a:spcBef>
                <a:spcPts val="670"/>
              </a:spcBef>
              <a:buFont typeface="Arial" panose="020B0604020202020204" pitchFamily="34" charset="0"/>
              <a:buChar char="•"/>
            </a:pPr>
            <a:r>
              <a:rPr lang="zh-CN" altLang="en-US" sz="2400" b="1">
                <a:latin typeface="Arial" panose="020B0604020202020204" pitchFamily="34" charset="0"/>
                <a:ea typeface="宋体" panose="02010600030101010101" pitchFamily="2" charset="-122"/>
                <a:cs typeface="Arial" panose="020B0604020202020204" pitchFamily="34" charset="0"/>
              </a:rPr>
              <a:t>应</a:t>
            </a:r>
            <a:r>
              <a:rPr lang="zh-CN" altLang="en-US" sz="2400" b="1" dirty="0">
                <a:latin typeface="Arial" panose="020B0604020202020204" pitchFamily="34" charset="0"/>
                <a:ea typeface="宋体" panose="02010600030101010101" pitchFamily="2" charset="-122"/>
                <a:cs typeface="Arial" panose="020B0604020202020204" pitchFamily="34" charset="0"/>
              </a:rPr>
              <a:t>用</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p:txBody>
      </p:sp>
      <p:sp>
        <p:nvSpPr>
          <p:cNvPr id="12" name="矩形 32">
            <a:extLst>
              <a:ext uri="{FF2B5EF4-FFF2-40B4-BE49-F238E27FC236}">
                <a16:creationId xmlns:a16="http://schemas.microsoft.com/office/drawing/2014/main" id="{9F1DEE03-43D9-4ED5-AB59-685311D0800A}"/>
              </a:ext>
            </a:extLst>
          </p:cNvPr>
          <p:cNvSpPr/>
          <p:nvPr/>
        </p:nvSpPr>
        <p:spPr>
          <a:xfrm>
            <a:off x="5923384" y="1636134"/>
            <a:ext cx="2125903" cy="461665"/>
          </a:xfrm>
          <a:prstGeom prst="rect">
            <a:avLst/>
          </a:prstGeom>
          <a:solidFill>
            <a:srgbClr val="7030A0"/>
          </a:solidFill>
        </p:spPr>
        <p:style>
          <a:lnRef idx="3">
            <a:schemeClr val="lt1"/>
          </a:lnRef>
          <a:fillRef idx="1">
            <a:schemeClr val="accent6"/>
          </a:fillRef>
          <a:effectRef idx="1">
            <a:schemeClr val="accent6"/>
          </a:effectRef>
          <a:fontRef idx="minor">
            <a:schemeClr val="lt1"/>
          </a:fontRef>
        </p:style>
        <p:txBody>
          <a:bodyPr wrap="none">
            <a:spAutoFit/>
          </a:bodyPr>
          <a:lstStyle/>
          <a:p>
            <a:pPr>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rPr>
              <a:t> 涡流式传感器</a:t>
            </a:r>
          </a:p>
        </p:txBody>
      </p:sp>
      <p:sp>
        <p:nvSpPr>
          <p:cNvPr id="13" name="矩形 25">
            <a:extLst>
              <a:ext uri="{FF2B5EF4-FFF2-40B4-BE49-F238E27FC236}">
                <a16:creationId xmlns:a16="http://schemas.microsoft.com/office/drawing/2014/main" id="{852AD205-FCF6-4870-AFD4-E22364AEBE1E}"/>
              </a:ext>
            </a:extLst>
          </p:cNvPr>
          <p:cNvSpPr/>
          <p:nvPr/>
        </p:nvSpPr>
        <p:spPr>
          <a:xfrm>
            <a:off x="5759847" y="4632334"/>
            <a:ext cx="3169527" cy="1862111"/>
          </a:xfrm>
          <a:prstGeom prst="rect">
            <a:avLst/>
          </a:prstGeom>
        </p:spPr>
        <p:txBody>
          <a:bodyPr wrap="square" lIns="91438" tIns="45719" rIns="91438" bIns="45719">
            <a:spAutoFit/>
          </a:bodyPr>
          <a:lstStyle/>
          <a:p>
            <a:pPr marL="342900" indent="-342900">
              <a:lnSpc>
                <a:spcPct val="150000"/>
              </a:lnSpc>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工作原理</a:t>
            </a:r>
          </a:p>
          <a:p>
            <a:pPr indent="355600">
              <a:lnSpc>
                <a:spcPct val="150000"/>
              </a:lnSpc>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rPr>
              <a:t>压磁效应</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indent="355600">
              <a:lnSpc>
                <a:spcPct val="150000"/>
              </a:lnSpc>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rPr>
              <a:t>磁致</a:t>
            </a:r>
            <a:r>
              <a:rPr lang="zh-CN" altLang="en-US" sz="2400" b="1">
                <a:latin typeface="Arial" panose="020B0604020202020204" pitchFamily="34" charset="0"/>
                <a:ea typeface="宋体" panose="02010600030101010101" pitchFamily="2" charset="-122"/>
                <a:cs typeface="Arial" panose="020B0604020202020204" pitchFamily="34" charset="0"/>
              </a:rPr>
              <a:t>伸缩</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p:txBody>
      </p:sp>
      <p:sp>
        <p:nvSpPr>
          <p:cNvPr id="14" name="矩形 32">
            <a:extLst>
              <a:ext uri="{FF2B5EF4-FFF2-40B4-BE49-F238E27FC236}">
                <a16:creationId xmlns:a16="http://schemas.microsoft.com/office/drawing/2014/main" id="{2EA9656D-165A-480B-AE68-132D1DF472D3}"/>
              </a:ext>
            </a:extLst>
          </p:cNvPr>
          <p:cNvSpPr/>
          <p:nvPr/>
        </p:nvSpPr>
        <p:spPr>
          <a:xfrm>
            <a:off x="5863771" y="4119584"/>
            <a:ext cx="2125903" cy="461665"/>
          </a:xfrm>
          <a:prstGeom prst="rect">
            <a:avLst/>
          </a:prstGeom>
          <a:solidFill>
            <a:srgbClr val="C00000"/>
          </a:solidFill>
        </p:spPr>
        <p:style>
          <a:lnRef idx="3">
            <a:schemeClr val="lt1"/>
          </a:lnRef>
          <a:fillRef idx="1">
            <a:schemeClr val="accent6"/>
          </a:fillRef>
          <a:effectRef idx="1">
            <a:schemeClr val="accent6"/>
          </a:effectRef>
          <a:fontRef idx="minor">
            <a:schemeClr val="lt1"/>
          </a:fontRef>
        </p:style>
        <p:txBody>
          <a:bodyPr wrap="none">
            <a:spAutoFit/>
          </a:bodyPr>
          <a:lstStyle/>
          <a:p>
            <a:pPr>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rPr>
              <a:t> 压磁式传感器</a:t>
            </a:r>
          </a:p>
        </p:txBody>
      </p:sp>
      <p:sp>
        <p:nvSpPr>
          <p:cNvPr id="2" name="Slide Number Placeholder 1">
            <a:extLst>
              <a:ext uri="{FF2B5EF4-FFF2-40B4-BE49-F238E27FC236}">
                <a16:creationId xmlns:a16="http://schemas.microsoft.com/office/drawing/2014/main" id="{193A5319-F2D2-4BD0-BC77-56FB2F2D0839}"/>
              </a:ext>
            </a:extLst>
          </p:cNvPr>
          <p:cNvSpPr>
            <a:spLocks noGrp="1"/>
          </p:cNvSpPr>
          <p:nvPr>
            <p:ph type="sldNum" sz="quarter" idx="12"/>
          </p:nvPr>
        </p:nvSpPr>
        <p:spPr/>
        <p:txBody>
          <a:bodyPr/>
          <a:lstStyle/>
          <a:p>
            <a:fld id="{B53602B4-F12B-41CD-B648-531F86B2CC91}" type="slidenum">
              <a:rPr lang="zh-CN" altLang="en-US" smtClean="0"/>
              <a:t>48</a:t>
            </a:fld>
            <a:endParaRPr lang="zh-CN" altLang="en-US"/>
          </a:p>
        </p:txBody>
      </p:sp>
    </p:spTree>
    <p:extLst>
      <p:ext uri="{BB962C8B-B14F-4D97-AF65-F5344CB8AC3E}">
        <p14:creationId xmlns:p14="http://schemas.microsoft.com/office/powerpoint/2010/main" val="274652603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4">
            <a:extLst>
              <a:ext uri="{FF2B5EF4-FFF2-40B4-BE49-F238E27FC236}">
                <a16:creationId xmlns:a16="http://schemas.microsoft.com/office/drawing/2014/main" id="{55FC1499-C51A-4619-9F78-D9502515709B}"/>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a:latin typeface="Arial" panose="020B0604020202020204" pitchFamily="34" charset="0"/>
                <a:ea typeface="宋体" panose="02010600030101010101" pitchFamily="2" charset="-122"/>
                <a:cs typeface="Arial" panose="020B0604020202020204" pitchFamily="34" charset="0"/>
              </a:rPr>
              <a:t>3</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5" name="矩形 45">
            <a:extLst>
              <a:ext uri="{FF2B5EF4-FFF2-40B4-BE49-F238E27FC236}">
                <a16:creationId xmlns:a16="http://schemas.microsoft.com/office/drawing/2014/main" id="{A903B40B-9FF9-4EE2-80E5-B6E8A15E6E43}"/>
              </a:ext>
            </a:extLst>
          </p:cNvPr>
          <p:cNvSpPr/>
          <p:nvPr/>
        </p:nvSpPr>
        <p:spPr>
          <a:xfrm>
            <a:off x="1960200" y="360001"/>
            <a:ext cx="1059897" cy="615549"/>
          </a:xfrm>
          <a:prstGeom prst="rect">
            <a:avLst/>
          </a:prstGeom>
        </p:spPr>
        <p:txBody>
          <a:bodyPr wrap="none" lIns="91436" tIns="45718" rIns="91436" bIns="45718">
            <a:spAutoFit/>
          </a:bodyPr>
          <a:lstStyle/>
          <a:p>
            <a:r>
              <a:rPr lang="zh-CN" altLang="en-US" sz="3400" b="1">
                <a:solidFill>
                  <a:schemeClr val="bg1"/>
                </a:solidFill>
                <a:latin typeface="宋体" panose="02010600030101010101" pitchFamily="2" charset="-122"/>
                <a:ea typeface="宋体" panose="02010600030101010101" pitchFamily="2" charset="-122"/>
                <a:sym typeface="+mn-ea"/>
              </a:rPr>
              <a:t>作业</a:t>
            </a:r>
            <a:endParaRPr lang="zh-CN" altLang="en-US" sz="3400" b="1" dirty="0">
              <a:solidFill>
                <a:schemeClr val="bg1"/>
              </a:solidFill>
              <a:latin typeface="宋体" panose="02010600030101010101" pitchFamily="2" charset="-122"/>
              <a:ea typeface="宋体" panose="02010600030101010101" pitchFamily="2" charset="-122"/>
              <a:sym typeface="+mn-ea"/>
            </a:endParaRPr>
          </a:p>
        </p:txBody>
      </p:sp>
      <p:sp>
        <p:nvSpPr>
          <p:cNvPr id="7" name="矩形 23">
            <a:extLst>
              <a:ext uri="{FF2B5EF4-FFF2-40B4-BE49-F238E27FC236}">
                <a16:creationId xmlns:a16="http://schemas.microsoft.com/office/drawing/2014/main" id="{B36C54B3-CE2C-4684-BFEB-10B959868D5A}"/>
              </a:ext>
            </a:extLst>
          </p:cNvPr>
          <p:cNvSpPr/>
          <p:nvPr/>
        </p:nvSpPr>
        <p:spPr>
          <a:xfrm>
            <a:off x="1551129" y="1823299"/>
            <a:ext cx="7039451" cy="2409119"/>
          </a:xfrm>
          <a:prstGeom prst="rect">
            <a:avLst/>
          </a:prstGeom>
        </p:spPr>
        <p:txBody>
          <a:bodyPr wrap="square" lIns="68579" tIns="34289" rIns="68579" bIns="34289">
            <a:spAutoFit/>
          </a:bodyPr>
          <a:lstStyle/>
          <a:p>
            <a:pPr>
              <a:lnSpc>
                <a:spcPct val="150000"/>
              </a:lnSpc>
              <a:spcBef>
                <a:spcPts val="503"/>
              </a:spcBef>
            </a:pPr>
            <a:r>
              <a:rPr lang="zh-CN" altLang="en-US" sz="2400" b="1" dirty="0">
                <a:latin typeface="Arial" panose="020B0604020202020204" pitchFamily="34" charset="0"/>
                <a:ea typeface="宋体" panose="02010600030101010101" pitchFamily="2" charset="-122"/>
                <a:cs typeface="Arial" panose="020B0604020202020204" pitchFamily="34" charset="0"/>
              </a:rPr>
              <a:t>习题</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marL="457200" indent="-457200">
              <a:lnSpc>
                <a:spcPct val="150000"/>
              </a:lnSpc>
              <a:spcBef>
                <a:spcPts val="503"/>
              </a:spcBef>
              <a:buFont typeface="+mj-lt"/>
              <a:buAutoNum type="arabicParenR"/>
            </a:pPr>
            <a:r>
              <a:rPr lang="en-US" altLang="zh-CN" sz="2400" b="1" dirty="0">
                <a:latin typeface="Arial" panose="020B0604020202020204" pitchFamily="34" charset="0"/>
                <a:ea typeface="宋体" panose="02010600030101010101" pitchFamily="2" charset="-122"/>
                <a:cs typeface="Arial" panose="020B0604020202020204" pitchFamily="34" charset="0"/>
              </a:rPr>
              <a:t>3.2  </a:t>
            </a:r>
          </a:p>
          <a:p>
            <a:pPr marL="457200" indent="-457200">
              <a:lnSpc>
                <a:spcPct val="150000"/>
              </a:lnSpc>
              <a:spcBef>
                <a:spcPts val="503"/>
              </a:spcBef>
              <a:buFont typeface="+mj-lt"/>
              <a:buAutoNum type="arabicParenR"/>
            </a:pPr>
            <a:r>
              <a:rPr lang="en-US" altLang="zh-CN" sz="2400" b="1" dirty="0">
                <a:latin typeface="Arial" panose="020B0604020202020204" pitchFamily="34" charset="0"/>
                <a:ea typeface="宋体" panose="02010600030101010101" pitchFamily="2" charset="-122"/>
                <a:cs typeface="Arial" panose="020B0604020202020204" pitchFamily="34" charset="0"/>
              </a:rPr>
              <a:t>3.5  </a:t>
            </a:r>
          </a:p>
          <a:p>
            <a:pPr marL="457200" indent="-457200">
              <a:lnSpc>
                <a:spcPct val="150000"/>
              </a:lnSpc>
              <a:spcBef>
                <a:spcPts val="503"/>
              </a:spcBef>
              <a:buFont typeface="+mj-lt"/>
              <a:buAutoNum type="arabicParenR"/>
            </a:pPr>
            <a:r>
              <a:rPr lang="en-US" altLang="zh-CN" sz="2400" b="1" dirty="0">
                <a:latin typeface="Arial" panose="020B0604020202020204" pitchFamily="34" charset="0"/>
                <a:ea typeface="宋体" panose="02010600030101010101" pitchFamily="2" charset="-122"/>
                <a:cs typeface="Arial" panose="020B0604020202020204" pitchFamily="34" charset="0"/>
              </a:rPr>
              <a:t>3.6</a:t>
            </a:r>
          </a:p>
        </p:txBody>
      </p:sp>
      <p:sp>
        <p:nvSpPr>
          <p:cNvPr id="3" name="Slide Number Placeholder 2">
            <a:extLst>
              <a:ext uri="{FF2B5EF4-FFF2-40B4-BE49-F238E27FC236}">
                <a16:creationId xmlns:a16="http://schemas.microsoft.com/office/drawing/2014/main" id="{743B9DF0-1A3F-44DD-A3C6-9A037D629E75}"/>
              </a:ext>
            </a:extLst>
          </p:cNvPr>
          <p:cNvSpPr>
            <a:spLocks noGrp="1"/>
          </p:cNvSpPr>
          <p:nvPr>
            <p:ph type="sldNum" sz="quarter" idx="12"/>
          </p:nvPr>
        </p:nvSpPr>
        <p:spPr/>
        <p:txBody>
          <a:bodyPr/>
          <a:lstStyle/>
          <a:p>
            <a:fld id="{B53602B4-F12B-41CD-B648-531F86B2CC91}" type="slidenum">
              <a:rPr lang="zh-CN" altLang="en-US" smtClean="0"/>
              <a:t>49</a:t>
            </a:fld>
            <a:endParaRPr lang="zh-CN" altLang="en-US"/>
          </a:p>
        </p:txBody>
      </p:sp>
    </p:spTree>
    <p:extLst>
      <p:ext uri="{BB962C8B-B14F-4D97-AF65-F5344CB8AC3E}">
        <p14:creationId xmlns:p14="http://schemas.microsoft.com/office/powerpoint/2010/main" val="413358739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a:spAutoFit/>
      </a:bodyPr>
      <a:lstStyle>
        <a:defPPr algn="ctr">
          <a:defRPr sz="2400" b="1">
            <a:latin typeface="Arial" panose="020B0604020202020204" pitchFamily="34" charset="0"/>
            <a:ea typeface="宋体" panose="02010600030101010101" pitchFamily="2" charset="-122"/>
            <a:cs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3231</TotalTime>
  <Words>3417</Words>
  <Application>Microsoft Office PowerPoint</Application>
  <PresentationFormat>全屏显示(4:3)</PresentationFormat>
  <Paragraphs>450</Paragraphs>
  <Slides>49</Slides>
  <Notes>43</Notes>
  <HiddenSlides>0</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3</vt:i4>
      </vt:variant>
      <vt:variant>
        <vt:lpstr>幻灯片标题</vt:lpstr>
      </vt:variant>
      <vt:variant>
        <vt:i4>49</vt:i4>
      </vt:variant>
    </vt:vector>
  </HeadingPairs>
  <TitlesOfParts>
    <vt:vector size="63" baseType="lpstr">
      <vt:lpstr>等线</vt:lpstr>
      <vt:lpstr>等线 Light</vt:lpstr>
      <vt:lpstr>宋体</vt:lpstr>
      <vt:lpstr>微软雅黑</vt:lpstr>
      <vt:lpstr>Arial</vt:lpstr>
      <vt:lpstr>Calibri</vt:lpstr>
      <vt:lpstr>Cambria Math</vt:lpstr>
      <vt:lpstr>Times New Roman</vt:lpstr>
      <vt:lpstr>Wingdings</vt:lpstr>
      <vt:lpstr>Office 主题​​</vt:lpstr>
      <vt:lpstr>1_Office 主题​​</vt:lpstr>
      <vt:lpstr>Equation</vt:lpstr>
      <vt:lpstr>公式</vt:lpstr>
      <vt:lpstr>Image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GE FANG</cp:lastModifiedBy>
  <cp:revision>196</cp:revision>
  <dcterms:created xsi:type="dcterms:W3CDTF">2020-09-26T11:04:00Z</dcterms:created>
  <dcterms:modified xsi:type="dcterms:W3CDTF">2026-03-26T00:28:40Z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