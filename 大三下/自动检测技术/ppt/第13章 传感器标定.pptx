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6"/>
  </p:notesMasterIdLst>
  <p:sldIdLst>
    <p:sldId id="259" r:id="rId3"/>
    <p:sldId id="314" r:id="rId4"/>
    <p:sldId id="258" r:id="rId5"/>
    <p:sldId id="323" r:id="rId6"/>
    <p:sldId id="289" r:id="rId7"/>
    <p:sldId id="315" r:id="rId8"/>
    <p:sldId id="324" r:id="rId9"/>
    <p:sldId id="316" r:id="rId10"/>
    <p:sldId id="346" r:id="rId11"/>
    <p:sldId id="325" r:id="rId12"/>
    <p:sldId id="347" r:id="rId13"/>
    <p:sldId id="348" r:id="rId14"/>
    <p:sldId id="349" r:id="rId15"/>
    <p:sldId id="317" r:id="rId16"/>
    <p:sldId id="326" r:id="rId17"/>
    <p:sldId id="327" r:id="rId18"/>
    <p:sldId id="318" r:id="rId19"/>
    <p:sldId id="322" r:id="rId20"/>
    <p:sldId id="330" r:id="rId21"/>
    <p:sldId id="331" r:id="rId22"/>
    <p:sldId id="332" r:id="rId23"/>
    <p:sldId id="333" r:id="rId24"/>
    <p:sldId id="33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2" autoAdjust="0"/>
    <p:restoredTop sz="94660"/>
  </p:normalViewPr>
  <p:slideViewPr>
    <p:cSldViewPr snapToGrid="0" showGuides="1">
      <p:cViewPr varScale="1">
        <p:scale>
          <a:sx n="115" d="100"/>
          <a:sy n="115" d="100"/>
        </p:scale>
        <p:origin x="1251" y="6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FF9D4-5F2C-46DF-B79D-A33C42CD433D}" type="datetimeFigureOut">
              <a:rPr lang="en-001" smtClean="0"/>
              <a:t>2022-12-01</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820E4-2FE8-4ED8-9324-F2A3A678DEF6}" type="slidenum">
              <a:rPr lang="en-001" smtClean="0"/>
              <a:t>‹#›</a:t>
            </a:fld>
            <a:endParaRPr lang="en-001"/>
          </a:p>
        </p:txBody>
      </p:sp>
    </p:spTree>
    <p:extLst>
      <p:ext uri="{BB962C8B-B14F-4D97-AF65-F5344CB8AC3E}">
        <p14:creationId xmlns:p14="http://schemas.microsoft.com/office/powerpoint/2010/main" val="752426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8BAB27-5BFC-45E6-A928-A1804196FCF3}"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14885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D7D336-87A1-4425-813F-AA778DBD99D9}" type="datetimeFigureOut">
              <a:rPr lang="en-001" smtClean="0"/>
              <a:t>2022-12-01</a:t>
            </a:fld>
            <a:endParaRPr lang="en-001"/>
          </a:p>
        </p:txBody>
      </p:sp>
      <p:sp>
        <p:nvSpPr>
          <p:cNvPr id="5" name="Footer Placeholder 4"/>
          <p:cNvSpPr>
            <a:spLocks noGrp="1"/>
          </p:cNvSpPr>
          <p:nvPr>
            <p:ph type="ftr" sz="quarter" idx="11"/>
          </p:nvPr>
        </p:nvSpPr>
        <p:spPr/>
        <p:txBody>
          <a:bodyPr/>
          <a:lstStyle/>
          <a:p>
            <a:endParaRPr lang="en-001"/>
          </a:p>
        </p:txBody>
      </p:sp>
      <p:sp>
        <p:nvSpPr>
          <p:cNvPr id="6" name="Slide Number Placeholder 5"/>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900052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D7D336-87A1-4425-813F-AA778DBD99D9}" type="datetimeFigureOut">
              <a:rPr lang="en-001" smtClean="0"/>
              <a:t>2022-12-01</a:t>
            </a:fld>
            <a:endParaRPr lang="en-001"/>
          </a:p>
        </p:txBody>
      </p:sp>
      <p:sp>
        <p:nvSpPr>
          <p:cNvPr id="5" name="Footer Placeholder 4"/>
          <p:cNvSpPr>
            <a:spLocks noGrp="1"/>
          </p:cNvSpPr>
          <p:nvPr>
            <p:ph type="ftr" sz="quarter" idx="11"/>
          </p:nvPr>
        </p:nvSpPr>
        <p:spPr/>
        <p:txBody>
          <a:bodyPr/>
          <a:lstStyle/>
          <a:p>
            <a:endParaRPr lang="en-001"/>
          </a:p>
        </p:txBody>
      </p:sp>
      <p:sp>
        <p:nvSpPr>
          <p:cNvPr id="6" name="Slide Number Placeholder 5"/>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79258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D7D336-87A1-4425-813F-AA778DBD99D9}" type="datetimeFigureOut">
              <a:rPr lang="en-001" smtClean="0"/>
              <a:t>2022-12-01</a:t>
            </a:fld>
            <a:endParaRPr lang="en-001"/>
          </a:p>
        </p:txBody>
      </p:sp>
      <p:sp>
        <p:nvSpPr>
          <p:cNvPr id="5" name="Footer Placeholder 4"/>
          <p:cNvSpPr>
            <a:spLocks noGrp="1"/>
          </p:cNvSpPr>
          <p:nvPr>
            <p:ph type="ftr" sz="quarter" idx="11"/>
          </p:nvPr>
        </p:nvSpPr>
        <p:spPr/>
        <p:txBody>
          <a:bodyPr/>
          <a:lstStyle/>
          <a:p>
            <a:endParaRPr lang="en-001"/>
          </a:p>
        </p:txBody>
      </p:sp>
      <p:sp>
        <p:nvSpPr>
          <p:cNvPr id="6" name="Slide Number Placeholder 5"/>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93698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D7D336-87A1-4425-813F-AA778DBD99D9}" type="datetimeFigureOut">
              <a:rPr lang="en-001" smtClean="0"/>
              <a:t>2022-12-01</a:t>
            </a:fld>
            <a:endParaRPr lang="en-001"/>
          </a:p>
        </p:txBody>
      </p:sp>
      <p:sp>
        <p:nvSpPr>
          <p:cNvPr id="6" name="Footer Placeholder 5"/>
          <p:cNvSpPr>
            <a:spLocks noGrp="1"/>
          </p:cNvSpPr>
          <p:nvPr>
            <p:ph type="ftr" sz="quarter" idx="11"/>
          </p:nvPr>
        </p:nvSpPr>
        <p:spPr/>
        <p:txBody>
          <a:bodyPr/>
          <a:lstStyle/>
          <a:p>
            <a:endParaRPr lang="en-001"/>
          </a:p>
        </p:txBody>
      </p:sp>
      <p:sp>
        <p:nvSpPr>
          <p:cNvPr id="7" name="Slide Number Placeholder 6"/>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897024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D7D336-87A1-4425-813F-AA778DBD99D9}" type="datetimeFigureOut">
              <a:rPr lang="en-001" smtClean="0"/>
              <a:t>2022-12-01</a:t>
            </a:fld>
            <a:endParaRPr lang="en-001"/>
          </a:p>
        </p:txBody>
      </p:sp>
      <p:sp>
        <p:nvSpPr>
          <p:cNvPr id="8" name="Footer Placeholder 7"/>
          <p:cNvSpPr>
            <a:spLocks noGrp="1"/>
          </p:cNvSpPr>
          <p:nvPr>
            <p:ph type="ftr" sz="quarter" idx="11"/>
          </p:nvPr>
        </p:nvSpPr>
        <p:spPr/>
        <p:txBody>
          <a:bodyPr/>
          <a:lstStyle/>
          <a:p>
            <a:endParaRPr lang="en-001"/>
          </a:p>
        </p:txBody>
      </p:sp>
      <p:sp>
        <p:nvSpPr>
          <p:cNvPr id="9" name="Slide Number Placeholder 8"/>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38442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D7D336-87A1-4425-813F-AA778DBD99D9}" type="datetimeFigureOut">
              <a:rPr lang="en-001" smtClean="0"/>
              <a:t>2022-12-01</a:t>
            </a:fld>
            <a:endParaRPr lang="en-001"/>
          </a:p>
        </p:txBody>
      </p:sp>
      <p:sp>
        <p:nvSpPr>
          <p:cNvPr id="4" name="Footer Placeholder 3"/>
          <p:cNvSpPr>
            <a:spLocks noGrp="1"/>
          </p:cNvSpPr>
          <p:nvPr>
            <p:ph type="ftr" sz="quarter" idx="11"/>
          </p:nvPr>
        </p:nvSpPr>
        <p:spPr/>
        <p:txBody>
          <a:bodyPr/>
          <a:lstStyle/>
          <a:p>
            <a:endParaRPr lang="en-001"/>
          </a:p>
        </p:txBody>
      </p:sp>
      <p:sp>
        <p:nvSpPr>
          <p:cNvPr id="5" name="Slide Number Placeholder 4"/>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1306082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D7D336-87A1-4425-813F-AA778DBD99D9}" type="datetimeFigureOut">
              <a:rPr lang="en-001" smtClean="0"/>
              <a:t>2022-12-01</a:t>
            </a:fld>
            <a:endParaRPr lang="en-001"/>
          </a:p>
        </p:txBody>
      </p:sp>
      <p:sp>
        <p:nvSpPr>
          <p:cNvPr id="3" name="Footer Placeholder 2"/>
          <p:cNvSpPr>
            <a:spLocks noGrp="1"/>
          </p:cNvSpPr>
          <p:nvPr>
            <p:ph type="ftr" sz="quarter" idx="11"/>
          </p:nvPr>
        </p:nvSpPr>
        <p:spPr/>
        <p:txBody>
          <a:bodyPr/>
          <a:lstStyle/>
          <a:p>
            <a:endParaRPr lang="en-001"/>
          </a:p>
        </p:txBody>
      </p:sp>
      <p:sp>
        <p:nvSpPr>
          <p:cNvPr id="4" name="Slide Number Placeholder 3"/>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401514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D7D336-87A1-4425-813F-AA778DBD99D9}" type="datetimeFigureOut">
              <a:rPr lang="en-001" smtClean="0"/>
              <a:t>2022-12-01</a:t>
            </a:fld>
            <a:endParaRPr lang="en-001"/>
          </a:p>
        </p:txBody>
      </p:sp>
      <p:sp>
        <p:nvSpPr>
          <p:cNvPr id="6" name="Footer Placeholder 5"/>
          <p:cNvSpPr>
            <a:spLocks noGrp="1"/>
          </p:cNvSpPr>
          <p:nvPr>
            <p:ph type="ftr" sz="quarter" idx="11"/>
          </p:nvPr>
        </p:nvSpPr>
        <p:spPr/>
        <p:txBody>
          <a:bodyPr/>
          <a:lstStyle/>
          <a:p>
            <a:endParaRPr lang="en-001"/>
          </a:p>
        </p:txBody>
      </p:sp>
      <p:sp>
        <p:nvSpPr>
          <p:cNvPr id="7" name="Slide Number Placeholder 6"/>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1289275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D7D336-87A1-4425-813F-AA778DBD99D9}" type="datetimeFigureOut">
              <a:rPr lang="en-001" smtClean="0"/>
              <a:t>2022-12-01</a:t>
            </a:fld>
            <a:endParaRPr lang="en-001"/>
          </a:p>
        </p:txBody>
      </p:sp>
      <p:sp>
        <p:nvSpPr>
          <p:cNvPr id="6" name="Footer Placeholder 5"/>
          <p:cNvSpPr>
            <a:spLocks noGrp="1"/>
          </p:cNvSpPr>
          <p:nvPr>
            <p:ph type="ftr" sz="quarter" idx="11"/>
          </p:nvPr>
        </p:nvSpPr>
        <p:spPr/>
        <p:txBody>
          <a:bodyPr/>
          <a:lstStyle/>
          <a:p>
            <a:endParaRPr lang="en-001"/>
          </a:p>
        </p:txBody>
      </p:sp>
      <p:sp>
        <p:nvSpPr>
          <p:cNvPr id="7" name="Slide Number Placeholder 6"/>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297276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D7D336-87A1-4425-813F-AA778DBD99D9}" type="datetimeFigureOut">
              <a:rPr lang="en-001" smtClean="0"/>
              <a:t>2022-12-01</a:t>
            </a:fld>
            <a:endParaRPr lang="en-001"/>
          </a:p>
        </p:txBody>
      </p:sp>
      <p:sp>
        <p:nvSpPr>
          <p:cNvPr id="5" name="Footer Placeholder 4"/>
          <p:cNvSpPr>
            <a:spLocks noGrp="1"/>
          </p:cNvSpPr>
          <p:nvPr>
            <p:ph type="ftr" sz="quarter" idx="11"/>
          </p:nvPr>
        </p:nvSpPr>
        <p:spPr/>
        <p:txBody>
          <a:bodyPr/>
          <a:lstStyle/>
          <a:p>
            <a:endParaRPr lang="en-001"/>
          </a:p>
        </p:txBody>
      </p:sp>
      <p:sp>
        <p:nvSpPr>
          <p:cNvPr id="6" name="Slide Number Placeholder 5"/>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1672301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D7D336-87A1-4425-813F-AA778DBD99D9}" type="datetimeFigureOut">
              <a:rPr lang="en-001" smtClean="0"/>
              <a:t>2022-12-01</a:t>
            </a:fld>
            <a:endParaRPr lang="en-001"/>
          </a:p>
        </p:txBody>
      </p:sp>
      <p:sp>
        <p:nvSpPr>
          <p:cNvPr id="5" name="Footer Placeholder 4"/>
          <p:cNvSpPr>
            <a:spLocks noGrp="1"/>
          </p:cNvSpPr>
          <p:nvPr>
            <p:ph type="ftr" sz="quarter" idx="11"/>
          </p:nvPr>
        </p:nvSpPr>
        <p:spPr/>
        <p:txBody>
          <a:bodyPr/>
          <a:lstStyle/>
          <a:p>
            <a:endParaRPr lang="en-001"/>
          </a:p>
        </p:txBody>
      </p:sp>
      <p:sp>
        <p:nvSpPr>
          <p:cNvPr id="6" name="Slide Number Placeholder 5"/>
          <p:cNvSpPr>
            <a:spLocks noGrp="1"/>
          </p:cNvSpPr>
          <p:nvPr>
            <p:ph type="sldNum" sz="quarter" idx="12"/>
          </p:nvPr>
        </p:nvSpPr>
        <p:spPr/>
        <p:txBody>
          <a:bodyPr/>
          <a:lstStyle/>
          <a:p>
            <a:fld id="{43D1A97A-798F-4D7F-8C2E-BC0ACC18A55E}" type="slidenum">
              <a:rPr lang="en-001" smtClean="0"/>
              <a:t>‹#›</a:t>
            </a:fld>
            <a:endParaRPr lang="en-001"/>
          </a:p>
        </p:txBody>
      </p:sp>
    </p:spTree>
    <p:extLst>
      <p:ext uri="{BB962C8B-B14F-4D97-AF65-F5344CB8AC3E}">
        <p14:creationId xmlns:p14="http://schemas.microsoft.com/office/powerpoint/2010/main" val="4101387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49D74-6738-4F1C-8932-8E1193EF7FE3}"/>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817CF1-F71F-4C32-A590-59DE7378AA7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F3B45C-8E0C-44FA-8043-60671A0FF37C}"/>
              </a:ext>
            </a:extLst>
          </p:cNvPr>
          <p:cNvSpPr>
            <a:spLocks noGrp="1"/>
          </p:cNvSpPr>
          <p:nvPr>
            <p:ph type="dt" sz="half" idx="10"/>
          </p:nvPr>
        </p:nvSpPr>
        <p:spPr/>
        <p:txBody>
          <a:bodyPr/>
          <a:lstStyle/>
          <a:p>
            <a:fld id="{FD4F6807-1A07-41CA-953D-87DC8D0AA9A7}" type="datetime1">
              <a:rPr lang="zh-CN" altLang="en-US" smtClean="0"/>
              <a:t>2022/12/1</a:t>
            </a:fld>
            <a:endParaRPr lang="zh-CN" altLang="en-US"/>
          </a:p>
        </p:txBody>
      </p:sp>
      <p:sp>
        <p:nvSpPr>
          <p:cNvPr id="5" name="页脚占位符 4">
            <a:extLst>
              <a:ext uri="{FF2B5EF4-FFF2-40B4-BE49-F238E27FC236}">
                <a16:creationId xmlns:a16="http://schemas.microsoft.com/office/drawing/2014/main" id="{6B7D1055-873B-4D79-9C9F-AE403D7120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6FCD8F-3F6F-4323-9C9E-B8CC10965632}"/>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966374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7D531-DE5D-4AF9-A953-4125DE9F6CB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FBE332-96E4-4439-A9E3-8D5EBF0BC1C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3EB24B-BB1F-4CE6-BFD5-28F5C4C27CDE}"/>
              </a:ext>
            </a:extLst>
          </p:cNvPr>
          <p:cNvSpPr>
            <a:spLocks noGrp="1"/>
          </p:cNvSpPr>
          <p:nvPr>
            <p:ph type="dt" sz="half" idx="10"/>
          </p:nvPr>
        </p:nvSpPr>
        <p:spPr/>
        <p:txBody>
          <a:bodyPr/>
          <a:lstStyle/>
          <a:p>
            <a:fld id="{C7A24C97-EDC9-413E-9060-56BA1137DF47}" type="datetime1">
              <a:rPr lang="zh-CN" altLang="en-US" smtClean="0"/>
              <a:t>2022/12/1</a:t>
            </a:fld>
            <a:endParaRPr lang="zh-CN" altLang="en-US"/>
          </a:p>
        </p:txBody>
      </p:sp>
      <p:sp>
        <p:nvSpPr>
          <p:cNvPr id="5" name="页脚占位符 4">
            <a:extLst>
              <a:ext uri="{FF2B5EF4-FFF2-40B4-BE49-F238E27FC236}">
                <a16:creationId xmlns:a16="http://schemas.microsoft.com/office/drawing/2014/main" id="{178B3EAB-8981-4C9A-BFCC-385A67829D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149561-BF87-4D6B-BAAC-5FBE3115BFF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531323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879E8-A428-4F5A-9FF9-8E41C9ECEE95}"/>
              </a:ext>
            </a:extLst>
          </p:cNvPr>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5335ABB-BD9D-4525-AEA8-FA2A0A54746E}"/>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C482501-1D15-4408-92B4-53C1D21B14E8}"/>
              </a:ext>
            </a:extLst>
          </p:cNvPr>
          <p:cNvSpPr>
            <a:spLocks noGrp="1"/>
          </p:cNvSpPr>
          <p:nvPr>
            <p:ph type="dt" sz="half" idx="10"/>
          </p:nvPr>
        </p:nvSpPr>
        <p:spPr/>
        <p:txBody>
          <a:bodyPr/>
          <a:lstStyle/>
          <a:p>
            <a:fld id="{94723279-FF9D-4F39-B3ED-52CCCD26A36B}" type="datetime1">
              <a:rPr lang="zh-CN" altLang="en-US" smtClean="0"/>
              <a:t>2022/12/1</a:t>
            </a:fld>
            <a:endParaRPr lang="zh-CN" altLang="en-US"/>
          </a:p>
        </p:txBody>
      </p:sp>
      <p:sp>
        <p:nvSpPr>
          <p:cNvPr id="5" name="页脚占位符 4">
            <a:extLst>
              <a:ext uri="{FF2B5EF4-FFF2-40B4-BE49-F238E27FC236}">
                <a16:creationId xmlns:a16="http://schemas.microsoft.com/office/drawing/2014/main" id="{DE16F92F-3403-4652-8FE5-0B19FDCDA5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379A6E-AE8A-4767-A883-9B2CC58ADB29}"/>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1098548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78D81-6BA1-4278-A649-76C2A5AFAF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BF9A0F6-9B0D-4BC8-B0C6-027DF92027C3}"/>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3BE0C00-B8CF-4BDB-9AD3-201C0CB82AEF}"/>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D883D1-8D7C-40AE-9853-3734C070A948}"/>
              </a:ext>
            </a:extLst>
          </p:cNvPr>
          <p:cNvSpPr>
            <a:spLocks noGrp="1"/>
          </p:cNvSpPr>
          <p:nvPr>
            <p:ph type="dt" sz="half" idx="10"/>
          </p:nvPr>
        </p:nvSpPr>
        <p:spPr/>
        <p:txBody>
          <a:bodyPr/>
          <a:lstStyle/>
          <a:p>
            <a:fld id="{D6F5B047-E6B3-4BA5-9C64-85669E97FEE7}" type="datetime1">
              <a:rPr lang="zh-CN" altLang="en-US" smtClean="0"/>
              <a:t>2022/12/1</a:t>
            </a:fld>
            <a:endParaRPr lang="zh-CN" altLang="en-US"/>
          </a:p>
        </p:txBody>
      </p:sp>
      <p:sp>
        <p:nvSpPr>
          <p:cNvPr id="6" name="页脚占位符 5">
            <a:extLst>
              <a:ext uri="{FF2B5EF4-FFF2-40B4-BE49-F238E27FC236}">
                <a16:creationId xmlns:a16="http://schemas.microsoft.com/office/drawing/2014/main" id="{B4F48F3B-6D64-4FD8-8CED-0FD50449F5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3175CC-DD18-4876-8285-3399AD38539D}"/>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3910454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431285-6C78-4B5D-BDFE-6F3A81621784}"/>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DB22852-5D9B-4575-B132-E6E8B733A9F0}"/>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0D59C1B-3039-47DE-A09D-62005511B3FC}"/>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9287839-D576-4BAC-A660-6F785B8A79A4}"/>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5B3417B-E4B8-4984-8F6B-9165B1C26E28}"/>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7673D2A-6FC7-4E94-AA24-CC6A94F36F79}"/>
              </a:ext>
            </a:extLst>
          </p:cNvPr>
          <p:cNvSpPr>
            <a:spLocks noGrp="1"/>
          </p:cNvSpPr>
          <p:nvPr>
            <p:ph type="dt" sz="half" idx="10"/>
          </p:nvPr>
        </p:nvSpPr>
        <p:spPr/>
        <p:txBody>
          <a:bodyPr/>
          <a:lstStyle/>
          <a:p>
            <a:fld id="{F0779026-C085-48DC-99DC-06373FCF3DC4}" type="datetime1">
              <a:rPr lang="zh-CN" altLang="en-US" smtClean="0"/>
              <a:t>2022/12/1</a:t>
            </a:fld>
            <a:endParaRPr lang="zh-CN" altLang="en-US"/>
          </a:p>
        </p:txBody>
      </p:sp>
      <p:sp>
        <p:nvSpPr>
          <p:cNvPr id="8" name="页脚占位符 7">
            <a:extLst>
              <a:ext uri="{FF2B5EF4-FFF2-40B4-BE49-F238E27FC236}">
                <a16:creationId xmlns:a16="http://schemas.microsoft.com/office/drawing/2014/main" id="{514DB515-9BD4-4E41-9557-B16E6B9422E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85A1CC-A603-4864-8447-11A337F089EB}"/>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597048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131C4E-EFCA-44A0-AD56-7E8CBAC76F9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DF08FA-47FE-42CB-85BC-15BC6334956C}"/>
              </a:ext>
            </a:extLst>
          </p:cNvPr>
          <p:cNvSpPr>
            <a:spLocks noGrp="1"/>
          </p:cNvSpPr>
          <p:nvPr>
            <p:ph type="dt" sz="half" idx="10"/>
          </p:nvPr>
        </p:nvSpPr>
        <p:spPr/>
        <p:txBody>
          <a:bodyPr/>
          <a:lstStyle/>
          <a:p>
            <a:fld id="{A64D2093-2135-4F93-8265-2CF59DB99867}" type="datetime1">
              <a:rPr lang="zh-CN" altLang="en-US" smtClean="0"/>
              <a:t>2022/12/1</a:t>
            </a:fld>
            <a:endParaRPr lang="zh-CN" altLang="en-US"/>
          </a:p>
        </p:txBody>
      </p:sp>
      <p:sp>
        <p:nvSpPr>
          <p:cNvPr id="4" name="页脚占位符 3">
            <a:extLst>
              <a:ext uri="{FF2B5EF4-FFF2-40B4-BE49-F238E27FC236}">
                <a16:creationId xmlns:a16="http://schemas.microsoft.com/office/drawing/2014/main" id="{0C7771AC-4B72-4E5D-BB2D-D22A4AEA1A2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F32A0A5-418B-4C30-A9AE-E89C7C1F274E}"/>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4115282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0CF27B-A98D-414E-ABF8-1DE4BE261A67}"/>
              </a:ext>
            </a:extLst>
          </p:cNvPr>
          <p:cNvSpPr>
            <a:spLocks noGrp="1"/>
          </p:cNvSpPr>
          <p:nvPr>
            <p:ph type="dt" sz="half" idx="10"/>
          </p:nvPr>
        </p:nvSpPr>
        <p:spPr/>
        <p:txBody>
          <a:bodyPr/>
          <a:lstStyle/>
          <a:p>
            <a:fld id="{9D2EE9CA-7C37-4128-917B-D13FA716E73F}" type="datetime1">
              <a:rPr lang="zh-CN" altLang="en-US" smtClean="0"/>
              <a:t>2022/12/1</a:t>
            </a:fld>
            <a:endParaRPr lang="zh-CN" altLang="en-US"/>
          </a:p>
        </p:txBody>
      </p:sp>
      <p:sp>
        <p:nvSpPr>
          <p:cNvPr id="3" name="页脚占位符 2">
            <a:extLst>
              <a:ext uri="{FF2B5EF4-FFF2-40B4-BE49-F238E27FC236}">
                <a16:creationId xmlns:a16="http://schemas.microsoft.com/office/drawing/2014/main" id="{FCE41876-EB16-4C89-8E20-DE70BFFDE99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413FBAC-9E82-4337-9988-7D456A693C0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922488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F4155-1B88-44F5-B25A-42C84BB00F96}"/>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E71474D-6C64-426E-BA42-4951CB9F9AEF}"/>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3C4070B-62ED-48FF-99A2-CB4B87654B4A}"/>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329708C-6A72-4F73-91EB-155430165801}"/>
              </a:ext>
            </a:extLst>
          </p:cNvPr>
          <p:cNvSpPr>
            <a:spLocks noGrp="1"/>
          </p:cNvSpPr>
          <p:nvPr>
            <p:ph type="dt" sz="half" idx="10"/>
          </p:nvPr>
        </p:nvSpPr>
        <p:spPr/>
        <p:txBody>
          <a:bodyPr/>
          <a:lstStyle/>
          <a:p>
            <a:fld id="{42E571FA-4D58-4F43-8514-3FB05B28102B}" type="datetime1">
              <a:rPr lang="zh-CN" altLang="en-US" smtClean="0"/>
              <a:t>2022/12/1</a:t>
            </a:fld>
            <a:endParaRPr lang="zh-CN" altLang="en-US"/>
          </a:p>
        </p:txBody>
      </p:sp>
      <p:sp>
        <p:nvSpPr>
          <p:cNvPr id="6" name="页脚占位符 5">
            <a:extLst>
              <a:ext uri="{FF2B5EF4-FFF2-40B4-BE49-F238E27FC236}">
                <a16:creationId xmlns:a16="http://schemas.microsoft.com/office/drawing/2014/main" id="{A2D77275-C165-43CF-B1B6-3F79D8B567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FBC0A2-D101-4E0A-A569-5DC0823DE096}"/>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0998475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C8C9B6-737A-4278-9473-C4755AB46648}"/>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7B840A6-0DD1-46E4-B1A5-0190261C951B}"/>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591FC63-25D5-44F5-B0E4-E58BE4BBAC4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21C4DD-7D32-4305-BCF5-0A465CCFCCDA}"/>
              </a:ext>
            </a:extLst>
          </p:cNvPr>
          <p:cNvSpPr>
            <a:spLocks noGrp="1"/>
          </p:cNvSpPr>
          <p:nvPr>
            <p:ph type="dt" sz="half" idx="10"/>
          </p:nvPr>
        </p:nvSpPr>
        <p:spPr/>
        <p:txBody>
          <a:bodyPr/>
          <a:lstStyle/>
          <a:p>
            <a:fld id="{732E2D95-4788-4FEE-B314-A035C27E219F}" type="datetime1">
              <a:rPr lang="zh-CN" altLang="en-US" smtClean="0"/>
              <a:t>2022/12/1</a:t>
            </a:fld>
            <a:endParaRPr lang="zh-CN" altLang="en-US"/>
          </a:p>
        </p:txBody>
      </p:sp>
      <p:sp>
        <p:nvSpPr>
          <p:cNvPr id="6" name="页脚占位符 5">
            <a:extLst>
              <a:ext uri="{FF2B5EF4-FFF2-40B4-BE49-F238E27FC236}">
                <a16:creationId xmlns:a16="http://schemas.microsoft.com/office/drawing/2014/main" id="{92FCBD4A-16B4-423A-9556-93B1863173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6C44EC-4FDC-47DA-BE33-B22BC318BD20}"/>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2265995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E3710-3032-4814-BCA5-32A79C7BD3E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8D3E49-4D45-4062-90B3-148139ED473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B5BE1F0-B448-47C2-BD98-314799D8C53B}"/>
              </a:ext>
            </a:extLst>
          </p:cNvPr>
          <p:cNvSpPr>
            <a:spLocks noGrp="1"/>
          </p:cNvSpPr>
          <p:nvPr>
            <p:ph type="dt" sz="half" idx="10"/>
          </p:nvPr>
        </p:nvSpPr>
        <p:spPr/>
        <p:txBody>
          <a:bodyPr/>
          <a:lstStyle/>
          <a:p>
            <a:fld id="{3F8CC2C9-D742-4954-A4E0-B325D0BA22DB}" type="datetime1">
              <a:rPr lang="zh-CN" altLang="en-US" smtClean="0"/>
              <a:t>2022/12/1</a:t>
            </a:fld>
            <a:endParaRPr lang="zh-CN" altLang="en-US"/>
          </a:p>
        </p:txBody>
      </p:sp>
      <p:sp>
        <p:nvSpPr>
          <p:cNvPr id="5" name="页脚占位符 4">
            <a:extLst>
              <a:ext uri="{FF2B5EF4-FFF2-40B4-BE49-F238E27FC236}">
                <a16:creationId xmlns:a16="http://schemas.microsoft.com/office/drawing/2014/main" id="{DD0EBEF9-7BDF-44CD-B83A-66B0787FA2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046CEB-32AD-45EC-A108-4E96A236B3FE}"/>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1187928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4CC3A0-EB6D-4D7F-A0B3-7432E6BDD395}"/>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9B430BC-E65B-4BBA-8BFD-6BFEA6F4982E}"/>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C9798B-247A-41D4-A7E1-0B5A288FF144}"/>
              </a:ext>
            </a:extLst>
          </p:cNvPr>
          <p:cNvSpPr>
            <a:spLocks noGrp="1"/>
          </p:cNvSpPr>
          <p:nvPr>
            <p:ph type="dt" sz="half" idx="10"/>
          </p:nvPr>
        </p:nvSpPr>
        <p:spPr/>
        <p:txBody>
          <a:bodyPr/>
          <a:lstStyle/>
          <a:p>
            <a:fld id="{76AD802B-9938-4F0B-975E-42C541B26C9A}" type="datetime1">
              <a:rPr lang="zh-CN" altLang="en-US" smtClean="0"/>
              <a:t>2022/12/1</a:t>
            </a:fld>
            <a:endParaRPr lang="zh-CN" altLang="en-US"/>
          </a:p>
        </p:txBody>
      </p:sp>
      <p:sp>
        <p:nvSpPr>
          <p:cNvPr id="5" name="页脚占位符 4">
            <a:extLst>
              <a:ext uri="{FF2B5EF4-FFF2-40B4-BE49-F238E27FC236}">
                <a16:creationId xmlns:a16="http://schemas.microsoft.com/office/drawing/2014/main" id="{7E366AF3-4F10-4F5C-9CBF-C8529B848D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3E87D1-AF47-4972-85F6-206BB4C8DAA7}"/>
              </a:ext>
            </a:extLst>
          </p:cNvPr>
          <p:cNvSpPr>
            <a:spLocks noGrp="1"/>
          </p:cNvSpPr>
          <p:nvPr>
            <p:ph type="sldNum" sz="quarter" idx="12"/>
          </p:nvPr>
        </p:nvSpPr>
        <p:spPr/>
        <p:txBody>
          <a:bodyPr/>
          <a:lstStyle/>
          <a:p>
            <a:fld id="{DC11BA4E-7967-4102-867C-9D230A2E6791}" type="slidenum">
              <a:rPr lang="zh-CN" altLang="en-US" smtClean="0"/>
              <a:t>‹#›</a:t>
            </a:fld>
            <a:endParaRPr lang="zh-CN" altLang="en-US"/>
          </a:p>
        </p:txBody>
      </p:sp>
    </p:spTree>
    <p:extLst>
      <p:ext uri="{BB962C8B-B14F-4D97-AF65-F5344CB8AC3E}">
        <p14:creationId xmlns:p14="http://schemas.microsoft.com/office/powerpoint/2010/main" val="391806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D7D336-87A1-4425-813F-AA778DBD99D9}" type="datetimeFigureOut">
              <a:rPr lang="en-001" smtClean="0"/>
              <a:t>2022-12-01</a:t>
            </a:fld>
            <a:endParaRPr lang="en-001"/>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001"/>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D1A97A-798F-4D7F-8C2E-BC0ACC18A55E}" type="slidenum">
              <a:rPr lang="en-001" smtClean="0"/>
              <a:t>‹#›</a:t>
            </a:fld>
            <a:endParaRPr lang="en-001"/>
          </a:p>
        </p:txBody>
      </p:sp>
    </p:spTree>
    <p:extLst>
      <p:ext uri="{BB962C8B-B14F-4D97-AF65-F5344CB8AC3E}">
        <p14:creationId xmlns:p14="http://schemas.microsoft.com/office/powerpoint/2010/main" val="489344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F112B46-8BF9-4DD0-BD35-CBEF4AFDBE9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8471E3B-351A-45CB-B1B2-013EF6843A7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BDC43E-B6D1-49BC-A940-B6BD0E604DE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CCA61-7EFC-42B1-8C39-EF46E4B946EB}" type="datetime1">
              <a:rPr lang="zh-CN" altLang="en-US" smtClean="0"/>
              <a:t>2022/12/1</a:t>
            </a:fld>
            <a:endParaRPr lang="zh-CN" altLang="en-US"/>
          </a:p>
        </p:txBody>
      </p:sp>
      <p:sp>
        <p:nvSpPr>
          <p:cNvPr id="5" name="页脚占位符 4">
            <a:extLst>
              <a:ext uri="{FF2B5EF4-FFF2-40B4-BE49-F238E27FC236}">
                <a16:creationId xmlns:a16="http://schemas.microsoft.com/office/drawing/2014/main" id="{866C3AF0-A1CA-4FA5-8E45-090D1FB29D0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C1FA5B-C06B-4669-BBBE-83F2CF0799D2}"/>
              </a:ext>
            </a:extLst>
          </p:cNvPr>
          <p:cNvSpPr>
            <a:spLocks noGrp="1"/>
          </p:cNvSpPr>
          <p:nvPr>
            <p:ph type="sldNum" sz="quarter" idx="4"/>
          </p:nvPr>
        </p:nvSpPr>
        <p:spPr>
          <a:xfrm>
            <a:off x="8515350" y="6356351"/>
            <a:ext cx="4953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DC11BA4E-7967-4102-867C-9D230A2E6791}" type="slidenum">
              <a:rPr lang="zh-CN" altLang="en-US" smtClean="0"/>
              <a:pPr/>
              <a:t>‹#›</a:t>
            </a:fld>
            <a:endParaRPr lang="zh-CN" altLang="en-US"/>
          </a:p>
        </p:txBody>
      </p:sp>
    </p:spTree>
    <p:extLst>
      <p:ext uri="{BB962C8B-B14F-4D97-AF65-F5344CB8AC3E}">
        <p14:creationId xmlns:p14="http://schemas.microsoft.com/office/powerpoint/2010/main" val="27361379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4.xml"/><Relationship Id="rId1" Type="http://schemas.openxmlformats.org/officeDocument/2006/relationships/slideLayout" Target="../slideLayouts/slideLayout13.xml"/><Relationship Id="rId6" Type="http://schemas.openxmlformats.org/officeDocument/2006/relationships/slide" Target="slide17.xml"/><Relationship Id="rId5" Type="http://schemas.openxmlformats.org/officeDocument/2006/relationships/slide" Target="slide14.xml"/><Relationship Id="rId4" Type="http://schemas.openxmlformats.org/officeDocument/2006/relationships/slide" Target="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1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4.wmf"/></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8.emf"/><Relationship Id="rId2" Type="http://schemas.openxmlformats.org/officeDocument/2006/relationships/slideLayout" Target="../slideLayouts/slideLayout18.xml"/><Relationship Id="rId1" Type="http://schemas.openxmlformats.org/officeDocument/2006/relationships/vmlDrawing" Target="../drawings/vmlDrawing6.vml"/><Relationship Id="rId6" Type="http://schemas.openxmlformats.org/officeDocument/2006/relationships/oleObject" Target="NULL"/><Relationship Id="rId5" Type="http://schemas.openxmlformats.org/officeDocument/2006/relationships/image" Target="../media/image7.e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7.vml"/><Relationship Id="rId4" Type="http://schemas.openxmlformats.org/officeDocument/2006/relationships/image" Target="../media/image1.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8.xml"/><Relationship Id="rId1" Type="http://schemas.openxmlformats.org/officeDocument/2006/relationships/vmlDrawing" Target="../drawings/vmlDrawing8.v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3" Type="http://schemas.openxmlformats.org/officeDocument/2006/relationships/oleObject" Target="NULL"/><Relationship Id="rId7" Type="http://schemas.openxmlformats.org/officeDocument/2006/relationships/image" Target="../media/image12.emf"/><Relationship Id="rId2" Type="http://schemas.openxmlformats.org/officeDocument/2006/relationships/slideLayout" Target="../slideLayouts/slideLayout18.xml"/><Relationship Id="rId1" Type="http://schemas.openxmlformats.org/officeDocument/2006/relationships/vmlDrawing" Target="../drawings/vmlDrawing9.vml"/><Relationship Id="rId6" Type="http://schemas.openxmlformats.org/officeDocument/2006/relationships/image" Target="../media/image11.emf"/><Relationship Id="rId5" Type="http://schemas.openxmlformats.org/officeDocument/2006/relationships/oleObject" Target="../embeddings/oleObject7.bin"/><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3" Type="http://schemas.openxmlformats.org/officeDocument/2006/relationships/oleObject" Target="NULL"/><Relationship Id="rId7" Type="http://schemas.openxmlformats.org/officeDocument/2006/relationships/image" Target="../media/image15.emf"/><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image" Target="../media/image14.emf"/><Relationship Id="rId5" Type="http://schemas.openxmlformats.org/officeDocument/2006/relationships/oleObject" Target="../embeddings/oleObject8.bin"/><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16798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0" name="圆角矩形 39"/>
            <p:cNvSpPr/>
            <p:nvPr/>
          </p:nvSpPr>
          <p:spPr>
            <a:xfrm rot="10800000" flipV="1">
              <a:off x="464451" y="2847433"/>
              <a:ext cx="1496323"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13</a:t>
              </a:r>
              <a:endParaRPr kumimoji="0" lang="zh-CN" altLang="en-US" sz="6000" b="1"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42" name="文本框 41"/>
            <p:cNvSpPr txBox="1"/>
            <p:nvPr/>
          </p:nvSpPr>
          <p:spPr>
            <a:xfrm>
              <a:off x="4449732" y="3093490"/>
              <a:ext cx="5388649" cy="769439"/>
            </a:xfrm>
            <a:prstGeom prst="rect">
              <a:avLst/>
            </a:prstGeom>
            <a:noFill/>
          </p:spPr>
          <p:txBody>
            <a:bodyPr wrap="none" lIns="91438" tIns="45719" rIns="91438" bIns="45719"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60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传感器的标定</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grpSp>
      <p:sp>
        <p:nvSpPr>
          <p:cNvPr id="22" name="TextBox 21">
            <a:extLst>
              <a:ext uri="{FF2B5EF4-FFF2-40B4-BE49-F238E27FC236}">
                <a16:creationId xmlns:a16="http://schemas.microsoft.com/office/drawing/2014/main" id="{38C04473-E81B-4A15-AC22-65FF66455B2D}"/>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8368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marL="0" marR="0" lvl="0" indent="0" algn="l" defTabSz="914400" rtl="0" eaLnBrk="1" fontAlgn="auto" latinLnBrk="0" hangingPunct="1">
              <a:lnSpc>
                <a:spcPct val="100000"/>
              </a:lnSpc>
              <a:spcBef>
                <a:spcPts val="768"/>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a:t>
            </a: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a:t>
            </a: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marL="0" marR="0" lvl="0" indent="0" algn="l" defTabSz="914400" rtl="0" eaLnBrk="1" fontAlgn="auto" latinLnBrk="0" hangingPunct="1">
              <a:lnSpc>
                <a:spcPct val="100000"/>
              </a:lnSpc>
              <a:spcBef>
                <a:spcPts val="768"/>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a:t>
            </a: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2</a:t>
            </a: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marL="0" marR="0" lvl="0" indent="0" algn="l" defTabSz="914400" rtl="0" eaLnBrk="1" fontAlgn="auto" latinLnBrk="0" hangingPunct="1">
              <a:lnSpc>
                <a:spcPct val="100000"/>
              </a:lnSpc>
              <a:spcBef>
                <a:spcPts val="768"/>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            团作为识别物</a:t>
            </a:r>
          </a:p>
          <a:p>
            <a:pPr marL="0" marR="0" lvl="0" indent="0" algn="l" defTabSz="914400" rtl="0" eaLnBrk="1" fontAlgn="auto" latinLnBrk="0" hangingPunct="1">
              <a:lnSpc>
                <a:spcPct val="100000"/>
              </a:lnSpc>
              <a:spcBef>
                <a:spcPts val="768"/>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a:t>
            </a: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3</a:t>
            </a:r>
            <a:r>
              <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）利用酶的化学放大功能</a:t>
            </a:r>
          </a:p>
          <a:p>
            <a:pPr marL="0" marR="0" lvl="0" indent="0" algn="l" defTabSz="914400" rtl="0" eaLnBrk="1" fontAlgn="auto" latinLnBrk="0" hangingPunct="1">
              <a:lnSpc>
                <a:spcPct val="100000"/>
              </a:lnSpc>
              <a:spcBef>
                <a:spcPts val="672"/>
              </a:spcBef>
              <a:spcAft>
                <a:spcPts val="0"/>
              </a:spcAft>
              <a:buClrTx/>
              <a:buSzTx/>
              <a:buFontTx/>
              <a:buNone/>
              <a:tabLst/>
              <a:defRPr/>
            </a:pP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64509930-9DFB-420E-8F32-960E50399825}"/>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 name="圆角矩形 43">
            <a:extLst>
              <a:ext uri="{FF2B5EF4-FFF2-40B4-BE49-F238E27FC236}">
                <a16:creationId xmlns:a16="http://schemas.microsoft.com/office/drawing/2014/main" id="{934CC0EC-2A2C-4194-A246-2456365A633C}"/>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9" name="矩形 18"/>
          <p:cNvSpPr/>
          <p:nvPr/>
        </p:nvSpPr>
        <p:spPr>
          <a:xfrm>
            <a:off x="1960201" y="329520"/>
            <a:ext cx="2810377"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传感器的标定</a:t>
            </a:r>
          </a:p>
        </p:txBody>
      </p:sp>
      <p:sp>
        <p:nvSpPr>
          <p:cNvPr id="21" name="Rectangle 61"/>
          <p:cNvSpPr>
            <a:spLocks noChangeArrowheads="1"/>
          </p:cNvSpPr>
          <p:nvPr/>
        </p:nvSpPr>
        <p:spPr bwMode="auto">
          <a:xfrm>
            <a:off x="466725" y="1861977"/>
            <a:ext cx="8210549" cy="4382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just" defTabSz="914400"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传感器的标定分为</a:t>
            </a:r>
            <a:r>
              <a:rPr kumimoji="0" lang="zh-CN" altLang="en-US" sz="2400" b="1"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静态标定</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和</a:t>
            </a:r>
            <a:r>
              <a:rPr kumimoji="0" lang="zh-CN" altLang="en-US" sz="2400" b="1" i="0" u="none" strike="noStrike" kern="1200" cap="none" spc="0" normalizeH="0" baseline="0" noProof="0" dirty="0">
                <a:ln>
                  <a:noFill/>
                </a:ln>
                <a:solidFill>
                  <a:srgbClr val="0070C0"/>
                </a:solidFill>
                <a:effectLst/>
                <a:uLnTx/>
                <a:uFillTx/>
                <a:latin typeface="宋体" pitchFamily="2" charset="-122"/>
                <a:ea typeface="宋体" pitchFamily="2" charset="-122"/>
                <a:cs typeface="+mn-cs"/>
              </a:rPr>
              <a:t>动态标定</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两种。</a:t>
            </a:r>
          </a:p>
          <a:p>
            <a:pPr marL="342900" marR="0" lvl="0" indent="-342900" algn="just" defTabSz="914400"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静态标定</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确定传感器静态特性指标，如线性度、灵敏度、迟滞和重复性等。</a:t>
            </a:r>
          </a:p>
          <a:p>
            <a:pPr marL="342900" marR="0" lvl="0" indent="-342900" algn="just" defTabSz="914400"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动态标定</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确定传感器的动态特性参数，如频率响应、时间常数、固有频率和阻尼比</a:t>
            </a:r>
            <a:r>
              <a:rPr kumimoji="0"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mn-cs"/>
              </a:rPr>
              <a:t>等。</a:t>
            </a:r>
            <a:endPar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342900" marR="0" lvl="0" indent="-342900" algn="just" defTabSz="914400" rtl="0" eaLnBrk="1" fontAlgn="auto" latinLnBrk="0" hangingPunct="1">
              <a:lnSpc>
                <a:spcPct val="17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mn-cs"/>
              </a:rPr>
              <a:t>有</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时，根据需要也要对横向灵敏度、温度响应、环境影响等进行标定。</a:t>
            </a:r>
          </a:p>
        </p:txBody>
      </p:sp>
      <p:sp>
        <p:nvSpPr>
          <p:cNvPr id="23" name="文本框 3"/>
          <p:cNvSpPr txBox="1"/>
          <p:nvPr/>
        </p:nvSpPr>
        <p:spPr>
          <a:xfrm>
            <a:off x="1232847" y="1288452"/>
            <a:ext cx="4194089" cy="461665"/>
          </a:xfrm>
          <a:prstGeom prst="rect">
            <a:avLst/>
          </a:prstGeom>
          <a:noFill/>
        </p:spPr>
        <p:txBody>
          <a:bodyPr wrap="square" rtlCol="0">
            <a:spAutoFit/>
          </a:bodyPr>
          <a:lstStyle/>
          <a:p>
            <a:pPr marL="1524000" marR="0" lvl="0" indent="-152400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英文名称：</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Calibration</a:t>
            </a:r>
          </a:p>
        </p:txBody>
      </p:sp>
      <p:sp>
        <p:nvSpPr>
          <p:cNvPr id="4" name="Slide Number Placeholder 3">
            <a:extLst>
              <a:ext uri="{FF2B5EF4-FFF2-40B4-BE49-F238E27FC236}">
                <a16:creationId xmlns:a16="http://schemas.microsoft.com/office/drawing/2014/main" id="{1474C08B-08C9-483D-BCD5-86852FCB5F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258723006"/>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578251" y="36668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73" name="圆角矩形 72"/>
          <p:cNvSpPr/>
          <p:nvPr/>
        </p:nvSpPr>
        <p:spPr>
          <a:xfrm rot="10800000" flipV="1">
            <a:off x="2073898" y="1189001"/>
            <a:ext cx="1138726"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13.1</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073898" y="2174219"/>
            <a:ext cx="1126242"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500453" y="1077971"/>
            <a:ext cx="4817336" cy="646327"/>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rId2" action="ppaction://hlinksldjump"/>
              </a:rPr>
              <a:t>传感器的静态特性标定</a:t>
            </a:r>
            <a:endPar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88" name="文本框 87">
            <a:hlinkClick r:id="rId3" action="ppaction://hlinksldjump"/>
          </p:cNvPr>
          <p:cNvSpPr txBox="1"/>
          <p:nvPr/>
        </p:nvSpPr>
        <p:spPr>
          <a:xfrm>
            <a:off x="3473242" y="2080347"/>
            <a:ext cx="4817336" cy="646327"/>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rId4" action="ppaction://hlinksldjump"/>
              </a:rPr>
              <a:t>传感器的动态特性标定</a:t>
            </a:r>
            <a:endPar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5" name="圆角矩形 72">
            <a:extLst>
              <a:ext uri="{FF2B5EF4-FFF2-40B4-BE49-F238E27FC236}">
                <a16:creationId xmlns:a16="http://schemas.microsoft.com/office/drawing/2014/main" id="{7FC6BBF0-77C3-40AF-86D3-A85CAF66AA58}"/>
              </a:ext>
            </a:extLst>
          </p:cNvPr>
          <p:cNvSpPr/>
          <p:nvPr/>
        </p:nvSpPr>
        <p:spPr>
          <a:xfrm rot="10800000" flipV="1">
            <a:off x="2073897" y="3159440"/>
            <a:ext cx="1119072"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473242" y="3045091"/>
            <a:ext cx="3890801" cy="646327"/>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rId5" action="ppaction://hlinksldjump"/>
              </a:rPr>
              <a:t>测振传感器的标定</a:t>
            </a:r>
            <a:endPar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16" name="圆角矩形 72">
            <a:extLst>
              <a:ext uri="{FF2B5EF4-FFF2-40B4-BE49-F238E27FC236}">
                <a16:creationId xmlns:a16="http://schemas.microsoft.com/office/drawing/2014/main" id="{4F185087-379A-4ECF-AC00-2D0B608230D2}"/>
              </a:ext>
            </a:extLst>
          </p:cNvPr>
          <p:cNvSpPr/>
          <p:nvPr/>
        </p:nvSpPr>
        <p:spPr>
          <a:xfrm rot="10800000" flipV="1">
            <a:off x="2073895" y="4144659"/>
            <a:ext cx="1119073" cy="424267"/>
          </a:xfrm>
          <a:prstGeom prst="roundRect">
            <a:avLst>
              <a:gd name="adj" fmla="val 5039"/>
            </a:avLst>
          </a:prstGeom>
          <a:solidFill>
            <a:schemeClr val="bg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13.4</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8" name="文本框 17">
            <a:extLst>
              <a:ext uri="{FF2B5EF4-FFF2-40B4-BE49-F238E27FC236}">
                <a16:creationId xmlns:a16="http://schemas.microsoft.com/office/drawing/2014/main" id="{E39DC9A3-7A53-4D1A-8D27-109D8684D9D3}"/>
              </a:ext>
            </a:extLst>
          </p:cNvPr>
          <p:cNvSpPr txBox="1"/>
          <p:nvPr/>
        </p:nvSpPr>
        <p:spPr>
          <a:xfrm>
            <a:off x="3500454" y="4009835"/>
            <a:ext cx="3890801" cy="646327"/>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chemeClr val="bg1">
                    <a:lumMod val="75000"/>
                  </a:schemeClr>
                </a:solidFill>
                <a:effectLst/>
                <a:uLnTx/>
                <a:uFillTx/>
                <a:latin typeface="宋体" panose="02010600030101010101" pitchFamily="2" charset="-122"/>
                <a:ea typeface="宋体" panose="02010600030101010101" pitchFamily="2" charset="-122"/>
                <a:cs typeface="+mn-cs"/>
                <a:hlinkClick r:id="rId6" action="ppaction://hlinksldjump">
                  <a:extLst>
                    <a:ext uri="{A12FA001-AC4F-418D-AE19-62706E023703}">
                      <ahyp:hlinkClr xmlns:ahyp="http://schemas.microsoft.com/office/drawing/2018/hyperlinkcolor" val="tx"/>
                    </a:ext>
                  </a:extLst>
                </a:hlinkClick>
              </a:rPr>
              <a:t>压力传感器的标定</a:t>
            </a:r>
            <a:endParaRPr kumimoji="0" lang="zh-CN" altLang="en-US" sz="3600" b="1" i="0" u="none" strike="noStrike" kern="1200" cap="none" spc="0" normalizeH="0" baseline="0" noProof="0" dirty="0">
              <a:ln>
                <a:noFill/>
              </a:ln>
              <a:solidFill>
                <a:schemeClr val="bg1">
                  <a:lumMod val="75000"/>
                </a:schemeClr>
              </a:solidFill>
              <a:effectLst/>
              <a:uLnTx/>
              <a:uFillTx/>
              <a:latin typeface="宋体" panose="02010600030101010101" pitchFamily="2" charset="-122"/>
              <a:ea typeface="宋体" panose="02010600030101010101" pitchFamily="2" charset="-122"/>
              <a:cs typeface="+mn-cs"/>
            </a:endParaRPr>
          </a:p>
        </p:txBody>
      </p:sp>
      <p:sp>
        <p:nvSpPr>
          <p:cNvPr id="6" name="圆角矩形 72">
            <a:extLst>
              <a:ext uri="{FF2B5EF4-FFF2-40B4-BE49-F238E27FC236}">
                <a16:creationId xmlns:a16="http://schemas.microsoft.com/office/drawing/2014/main" id="{DED03F23-8B17-4E58-AA5C-DA8BDCFED308}"/>
              </a:ext>
            </a:extLst>
          </p:cNvPr>
          <p:cNvSpPr/>
          <p:nvPr/>
        </p:nvSpPr>
        <p:spPr>
          <a:xfrm rot="10800000" flipV="1">
            <a:off x="2073893" y="5129878"/>
            <a:ext cx="112624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3" name="文本框 12">
            <a:extLst>
              <a:ext uri="{FF2B5EF4-FFF2-40B4-BE49-F238E27FC236}">
                <a16:creationId xmlns:a16="http://schemas.microsoft.com/office/drawing/2014/main" id="{0CBAE7B1-300D-40DB-BF44-26C920E963E9}"/>
              </a:ext>
            </a:extLst>
          </p:cNvPr>
          <p:cNvSpPr txBox="1"/>
          <p:nvPr/>
        </p:nvSpPr>
        <p:spPr>
          <a:xfrm>
            <a:off x="3500454" y="4974579"/>
            <a:ext cx="2037729" cy="646327"/>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 action="ppaction://noaction"/>
              </a:rPr>
              <a:t>本章要点</a:t>
            </a:r>
            <a:endParaRPr kumimoji="0" lang="zh-CN" altLang="en-US" sz="36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32" name="文本框 19">
            <a:extLst>
              <a:ext uri="{FF2B5EF4-FFF2-40B4-BE49-F238E27FC236}">
                <a16:creationId xmlns:a16="http://schemas.microsoft.com/office/drawing/2014/main" id="{04606504-7CBD-4C03-8CF5-BA2DC3BE0E33}"/>
              </a:ext>
            </a:extLst>
          </p:cNvPr>
          <p:cNvSpPr txBox="1"/>
          <p:nvPr/>
        </p:nvSpPr>
        <p:spPr>
          <a:xfrm>
            <a:off x="96423" y="1560285"/>
            <a:ext cx="754047" cy="2881086"/>
          </a:xfrm>
          <a:prstGeom prst="rect">
            <a:avLst/>
          </a:prstGeom>
          <a:noFill/>
        </p:spPr>
        <p:txBody>
          <a:bodyPr vert="eaVert" wrap="square" lIns="68577" tIns="34289" rIns="68577" bIns="34289"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4000" b="1" i="0" u="none" strike="noStrike" kern="1200" cap="none" spc="120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内容提纲</a:t>
            </a:r>
            <a:endParaRPr kumimoji="0" lang="zh-CN" altLang="en-US" sz="4000" b="1" i="0" u="none" strike="noStrike" kern="1200" cap="none" spc="12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Slide Number Placeholder 13">
            <a:extLst>
              <a:ext uri="{FF2B5EF4-FFF2-40B4-BE49-F238E27FC236}">
                <a16:creationId xmlns:a16="http://schemas.microsoft.com/office/drawing/2014/main" id="{437BC424-E8C2-47EC-8400-CB7EC0CD8D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67503386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13.1</a:t>
            </a:r>
          </a:p>
        </p:txBody>
      </p:sp>
      <p:sp>
        <p:nvSpPr>
          <p:cNvPr id="24" name="矩形 23"/>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传感器的静态特性标定</a:t>
            </a:r>
          </a:p>
        </p:txBody>
      </p:sp>
      <p:sp>
        <p:nvSpPr>
          <p:cNvPr id="39" name="Rectangle 12"/>
          <p:cNvSpPr>
            <a:spLocks noRot="1" noChangeArrowheads="1"/>
          </p:cNvSpPr>
          <p:nvPr/>
        </p:nvSpPr>
        <p:spPr bwMode="auto">
          <a:xfrm>
            <a:off x="1035815" y="2333615"/>
            <a:ext cx="7072369"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所谓静态标准</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是指</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800100" marR="0" lvl="1"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没</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有加速度、振动、</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冲击</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除非这些参数本身就是被测物理</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量）</a:t>
            </a:r>
            <a:r>
              <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p>
          <a:p>
            <a:pPr marL="800100" marR="0" lvl="1"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环</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境温度一般为室温（</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20±5℃</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800100" marR="0" lvl="1"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相</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对湿度不大于</a:t>
            </a:r>
            <a:r>
              <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85%</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，大气压力</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为</a:t>
            </a:r>
            <a:r>
              <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101kPa</a:t>
            </a:r>
          </a:p>
          <a:p>
            <a:pPr marL="0" marR="0" lvl="0" indent="0" algn="just"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的</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情况。</a:t>
            </a:r>
          </a:p>
        </p:txBody>
      </p:sp>
      <p:sp>
        <p:nvSpPr>
          <p:cNvPr id="2" name="矩形 1"/>
          <p:cNvSpPr/>
          <p:nvPr/>
        </p:nvSpPr>
        <p:spPr>
          <a:xfrm>
            <a:off x="939729" y="1501090"/>
            <a:ext cx="2040943" cy="646331"/>
          </a:xfrm>
          <a:prstGeom prst="rect">
            <a:avLst/>
          </a:prstGeom>
          <a:solidFill>
            <a:schemeClr val="accent2">
              <a:lumMod val="60000"/>
              <a:lumOff val="40000"/>
            </a:schemeClr>
          </a:solidFill>
        </p:spPr>
        <p:txBody>
          <a:bodyPr wrap="non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静态标准条件</a:t>
            </a:r>
          </a:p>
        </p:txBody>
      </p:sp>
      <p:sp>
        <p:nvSpPr>
          <p:cNvPr id="3" name="Slide Number Placeholder 2">
            <a:extLst>
              <a:ext uri="{FF2B5EF4-FFF2-40B4-BE49-F238E27FC236}">
                <a16:creationId xmlns:a16="http://schemas.microsoft.com/office/drawing/2014/main" id="{302421A5-7F89-4719-AAF1-953961C38D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387317030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13.1</a:t>
            </a:r>
          </a:p>
        </p:txBody>
      </p:sp>
      <p:sp>
        <p:nvSpPr>
          <p:cNvPr id="24" name="矩形 23"/>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传感器的静态特性标定</a:t>
            </a:r>
          </a:p>
        </p:txBody>
      </p:sp>
      <p:sp>
        <p:nvSpPr>
          <p:cNvPr id="39" name="Rectangle 12"/>
          <p:cNvSpPr>
            <a:spLocks noRot="1" noChangeArrowheads="1"/>
          </p:cNvSpPr>
          <p:nvPr/>
        </p:nvSpPr>
        <p:spPr bwMode="auto">
          <a:xfrm>
            <a:off x="546100" y="2530486"/>
            <a:ext cx="7644295"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622300" algn="just"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对传感器进行标定，就是根据试验数据确定传感器的各项性能指标，实际上也是确定传感器的测量精</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度。</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622300" algn="just"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所</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以，在标定传感器时，所用测量仪器的精度至少要比被标定传感器的精度</a:t>
            </a:r>
            <a:r>
              <a:rPr kumimoji="0"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高一个等级（即一个数量级）</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p:txBody>
      </p:sp>
      <p:sp>
        <p:nvSpPr>
          <p:cNvPr id="2" name="矩形 1"/>
          <p:cNvSpPr/>
          <p:nvPr/>
        </p:nvSpPr>
        <p:spPr>
          <a:xfrm>
            <a:off x="635000" y="1661240"/>
            <a:ext cx="4292600" cy="646331"/>
          </a:xfrm>
          <a:prstGeom prst="rect">
            <a:avLst/>
          </a:prstGeom>
          <a:solidFill>
            <a:schemeClr val="accent6">
              <a:lumMod val="20000"/>
              <a:lumOff val="80000"/>
            </a:schemeClr>
          </a:solid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标定仪器设备</a:t>
            </a:r>
            <a:r>
              <a:rPr kumimoji="0" lang="zh-CN" altLang="en-US" sz="24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精度等级</a:t>
            </a: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的确定</a:t>
            </a:r>
          </a:p>
        </p:txBody>
      </p:sp>
      <p:sp>
        <p:nvSpPr>
          <p:cNvPr id="3" name="Slide Number Placeholder 2">
            <a:extLst>
              <a:ext uri="{FF2B5EF4-FFF2-40B4-BE49-F238E27FC236}">
                <a16:creationId xmlns:a16="http://schemas.microsoft.com/office/drawing/2014/main" id="{460BFBA0-BC70-4351-AA45-8F6EBD210F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226840466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内容占位符 2">
            <a:extLst>
              <a:ext uri="{FF2B5EF4-FFF2-40B4-BE49-F238E27FC236}">
                <a16:creationId xmlns:a16="http://schemas.microsoft.com/office/drawing/2014/main" id="{5A47161E-71C4-44FC-BF4B-256E8E8E85F7}"/>
              </a:ext>
            </a:extLst>
          </p:cNvPr>
          <p:cNvSpPr>
            <a:spLocks noGrp="1"/>
          </p:cNvSpPr>
          <p:nvPr>
            <p:ph idx="1"/>
          </p:nvPr>
        </p:nvSpPr>
        <p:spPr>
          <a:xfrm>
            <a:off x="587462" y="2398247"/>
            <a:ext cx="8219988" cy="3608853"/>
          </a:xfrm>
        </p:spPr>
        <p:txBody>
          <a:bodyPr>
            <a:noAutofit/>
          </a:bodyPr>
          <a:lstStyle/>
          <a:p>
            <a:pPr eaLnBrk="1" hangingPunct="1">
              <a:lnSpc>
                <a:spcPct val="150000"/>
              </a:lnSpc>
              <a:spcBef>
                <a:spcPts val="672"/>
              </a:spcBef>
              <a:buClr>
                <a:srgbClr val="7030A0"/>
              </a:buClr>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将传感器</a:t>
            </a:r>
            <a:r>
              <a:rPr lang="zh-CN" altLang="en-US"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rPr>
              <a:t>全量程</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分成若干</a:t>
            </a:r>
            <a:r>
              <a:rPr lang="zh-CN" altLang="en-US"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rPr>
              <a:t>等间距点</a:t>
            </a:r>
            <a:r>
              <a:rPr lang="zh-CN" altLang="en-US" sz="2400" b="1" kern="1200" dirty="0">
                <a:latin typeface="宋体" panose="02010600030101010101" pitchFamily="2" charset="-122"/>
                <a:ea typeface="宋体" panose="02010600030101010101" pitchFamily="2" charset="-122"/>
                <a:cs typeface="Arial" panose="020B0604020202020204" pitchFamily="34" charset="0"/>
              </a:rPr>
              <a:t>；</a:t>
            </a:r>
          </a:p>
          <a:p>
            <a:pPr eaLnBrk="1" hangingPunct="1">
              <a:lnSpc>
                <a:spcPct val="150000"/>
              </a:lnSpc>
              <a:spcBef>
                <a:spcPts val="672"/>
              </a:spcBef>
              <a:buClr>
                <a:srgbClr val="7030A0"/>
              </a:buClr>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根据传感器量程划分点的情况，由小到大逐渐一点一点地输入标准量值，并记录下与各输入值相对应的输出值；</a:t>
            </a:r>
          </a:p>
          <a:p>
            <a:pPr eaLnBrk="1" hangingPunct="1">
              <a:lnSpc>
                <a:spcPct val="150000"/>
              </a:lnSpc>
              <a:spcBef>
                <a:spcPts val="672"/>
              </a:spcBef>
              <a:buClr>
                <a:srgbClr val="7030A0"/>
              </a:buClr>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将输入值由大到小一点一点地减少下来，同时记录下与各输入值相对应的输出值；</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13.1</a:t>
            </a:r>
          </a:p>
        </p:txBody>
      </p:sp>
      <p:sp>
        <p:nvSpPr>
          <p:cNvPr id="25" name="矩形 24"/>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传感器的静态特性标定</a:t>
            </a:r>
          </a:p>
        </p:txBody>
      </p:sp>
      <p:sp>
        <p:nvSpPr>
          <p:cNvPr id="2" name="矩形 1"/>
          <p:cNvSpPr/>
          <p:nvPr/>
        </p:nvSpPr>
        <p:spPr>
          <a:xfrm>
            <a:off x="587461" y="1542048"/>
            <a:ext cx="3416300" cy="523220"/>
          </a:xfrm>
          <a:prstGeom prst="rect">
            <a:avLst/>
          </a:prstGeom>
          <a:solidFill>
            <a:srgbClr val="FFFF00"/>
          </a:solidFill>
        </p:spPr>
        <p:txBody>
          <a:bodyPr wrap="square">
            <a:spAutoFit/>
          </a:bodyPr>
          <a:lstStyle/>
          <a:p>
            <a:pPr marL="0" marR="0" lvl="0" indent="0" algn="l" defTabSz="914400" rtl="0" eaLnBrk="1" fontAlgn="auto" latinLnBrk="0" hangingPunct="1">
              <a:lnSpc>
                <a:spcPct val="100000"/>
              </a:lnSpc>
              <a:spcBef>
                <a:spcPts val="672"/>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rPr>
              <a:t>静态特性标定的方法</a:t>
            </a:r>
          </a:p>
        </p:txBody>
      </p:sp>
      <p:sp>
        <p:nvSpPr>
          <p:cNvPr id="3" name="Slide Number Placeholder 2">
            <a:extLst>
              <a:ext uri="{FF2B5EF4-FFF2-40B4-BE49-F238E27FC236}">
                <a16:creationId xmlns:a16="http://schemas.microsoft.com/office/drawing/2014/main" id="{AEACA341-37C4-4CF2-9A97-4563E2F33C4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2280892193"/>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内容占位符 2">
            <a:extLst>
              <a:ext uri="{FF2B5EF4-FFF2-40B4-BE49-F238E27FC236}">
                <a16:creationId xmlns:a16="http://schemas.microsoft.com/office/drawing/2014/main" id="{5A47161E-71C4-44FC-BF4B-256E8E8E85F7}"/>
              </a:ext>
            </a:extLst>
          </p:cNvPr>
          <p:cNvSpPr>
            <a:spLocks noGrp="1"/>
          </p:cNvSpPr>
          <p:nvPr>
            <p:ph idx="1"/>
          </p:nvPr>
        </p:nvSpPr>
        <p:spPr>
          <a:xfrm>
            <a:off x="695325" y="1751574"/>
            <a:ext cx="7896225" cy="3494552"/>
          </a:xfrm>
        </p:spPr>
        <p:txBody>
          <a:bodyPr>
            <a:noAutofit/>
          </a:bodyPr>
          <a:lstStyle/>
          <a:p>
            <a:pPr eaLnBrk="1" hangingPunct="1">
              <a:lnSpc>
                <a:spcPct val="150000"/>
              </a:lnSpc>
              <a:spcBef>
                <a:spcPts val="672"/>
              </a:spcBef>
              <a:buClr>
                <a:srgbClr val="7030A0"/>
              </a:buClr>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按前两步所述过程，对传感器进行正、反行程往复循环多次测试，将得到的输出</a:t>
            </a:r>
            <a:r>
              <a:rPr lang="en-US" altLang="zh-CN" sz="2400" b="1" kern="1200" dirty="0">
                <a:latin typeface="宋体" panose="02010600030101010101" pitchFamily="2" charset="-122"/>
                <a:ea typeface="宋体" panose="02010600030101010101" pitchFamily="2" charset="-122"/>
                <a:cs typeface="Arial" panose="020B0604020202020204" pitchFamily="34" charset="0"/>
              </a:rPr>
              <a:t>-</a:t>
            </a:r>
            <a:r>
              <a:rPr lang="zh-CN" altLang="en-US" sz="2400" b="1" kern="1200" dirty="0">
                <a:latin typeface="宋体" panose="02010600030101010101" pitchFamily="2" charset="-122"/>
                <a:ea typeface="宋体" panose="02010600030101010101" pitchFamily="2" charset="-122"/>
                <a:cs typeface="Arial" panose="020B0604020202020204" pitchFamily="34" charset="0"/>
              </a:rPr>
              <a:t>输入测试数据用表格列出或画成曲线；</a:t>
            </a:r>
          </a:p>
          <a:p>
            <a:pPr eaLnBrk="1" hangingPunct="1">
              <a:lnSpc>
                <a:spcPct val="150000"/>
              </a:lnSpc>
              <a:spcBef>
                <a:spcPts val="672"/>
              </a:spcBef>
              <a:buClr>
                <a:srgbClr val="7030A0"/>
              </a:buClr>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对测试数据进行必要的</a:t>
            </a: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处理</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，根据处理结果确定传感器的线性度、灵敏度、滞后和重复性等静态特性指标。</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13.1</a:t>
            </a:r>
          </a:p>
        </p:txBody>
      </p:sp>
      <p:sp>
        <p:nvSpPr>
          <p:cNvPr id="25" name="矩形 24"/>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传感器的静态特性标定</a:t>
            </a:r>
          </a:p>
        </p:txBody>
      </p:sp>
      <p:sp>
        <p:nvSpPr>
          <p:cNvPr id="2" name="Slide Number Placeholder 1">
            <a:extLst>
              <a:ext uri="{FF2B5EF4-FFF2-40B4-BE49-F238E27FC236}">
                <a16:creationId xmlns:a16="http://schemas.microsoft.com/office/drawing/2014/main" id="{22F006A4-5D89-41D7-B01B-0A3A4F2F7A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695353251"/>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41" name="Rectangle 12"/>
          <p:cNvSpPr>
            <a:spLocks noRot="1" noChangeArrowheads="1"/>
          </p:cNvSpPr>
          <p:nvPr/>
        </p:nvSpPr>
        <p:spPr bwMode="auto">
          <a:xfrm>
            <a:off x="981731" y="1362074"/>
            <a:ext cx="7180538"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传感器的动态标定主要研究传感器的动态响</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应，</a:t>
            </a:r>
            <a:endPar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一</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阶传感器只有</a:t>
            </a: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时间常数</a:t>
            </a:r>
            <a:r>
              <a:rPr kumimoji="0" lang="en-US" altLang="zh-CN" sz="2400" b="1" i="1" u="none" strike="noStrike" kern="1200" cap="none" spc="0" normalizeH="0" baseline="0" noProof="0" dirty="0">
                <a:ln>
                  <a:noFill/>
                </a:ln>
                <a:solidFill>
                  <a:srgbClr val="FF0000"/>
                </a:solidFill>
                <a:effectLst/>
                <a:uLnTx/>
                <a:uFillTx/>
                <a:latin typeface="Times New Roman" pitchFamily="18" charset="0"/>
                <a:ea typeface="宋体" pitchFamily="2" charset="-122"/>
                <a:cs typeface="Times New Roman" pitchFamily="18" charset="0"/>
              </a:rPr>
              <a:t>τ</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一个参</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数，</a:t>
            </a:r>
            <a:endPar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二</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阶传感器则有</a:t>
            </a:r>
            <a:r>
              <a:rPr kumimoji="0" lang="zh-CN" altLang="en-US" sz="24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Times New Roman" pitchFamily="18" charset="0"/>
              </a:rPr>
              <a:t>固有频率</a:t>
            </a:r>
            <a:r>
              <a:rPr kumimoji="1" lang="zh-CN" altLang="en-US" sz="2400" b="1" i="1" u="none" strike="noStrike" kern="1200" cap="none" spc="0" normalizeH="0" baseline="0" noProof="0" dirty="0">
                <a:ln>
                  <a:noFill/>
                </a:ln>
                <a:solidFill>
                  <a:srgbClr val="0070C0"/>
                </a:solidFill>
                <a:effectLst/>
                <a:uLnTx/>
                <a:uFillTx/>
                <a:latin typeface="Times New Roman" pitchFamily="18" charset="0"/>
                <a:ea typeface="宋体" pitchFamily="2" charset="-122"/>
                <a:cs typeface="Times New Roman" pitchFamily="18" charset="0"/>
                <a:sym typeface="Symbol" pitchFamily="18" charset="2"/>
              </a:rPr>
              <a:t></a:t>
            </a:r>
            <a:r>
              <a:rPr kumimoji="1" lang="en-US" altLang="zh-CN" sz="2400" b="1" i="1" u="none" strike="noStrike" kern="1200" cap="none" spc="0" normalizeH="0" baseline="-25000" noProof="0" dirty="0">
                <a:ln>
                  <a:noFill/>
                </a:ln>
                <a:solidFill>
                  <a:srgbClr val="0070C0"/>
                </a:solidFill>
                <a:effectLst/>
                <a:uLnTx/>
                <a:uFillTx/>
                <a:latin typeface="Times New Roman" pitchFamily="18" charset="0"/>
                <a:ea typeface="宋体" pitchFamily="2" charset="-122"/>
                <a:cs typeface="Times New Roman" pitchFamily="18" charset="0"/>
                <a:sym typeface="Symbol" pitchFamily="18" charset="2"/>
              </a:rPr>
              <a:t>n</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和</a:t>
            </a:r>
            <a:r>
              <a:rPr kumimoji="0" lang="zh-CN" altLang="en-US" sz="24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Times New Roman" pitchFamily="18" charset="0"/>
              </a:rPr>
              <a:t>阻尼比</a:t>
            </a:r>
            <a:r>
              <a:rPr kumimoji="0" lang="en-US" altLang="zh-CN" sz="2400" b="1" i="1" u="none" strike="noStrike" kern="1200" cap="none" spc="0" normalizeH="0" baseline="0" noProof="0" dirty="0">
                <a:ln>
                  <a:noFill/>
                </a:ln>
                <a:solidFill>
                  <a:srgbClr val="0070C0"/>
                </a:solidFill>
                <a:effectLst/>
                <a:uLnTx/>
                <a:uFillTx/>
                <a:latin typeface="Times New Roman" pitchFamily="18" charset="0"/>
                <a:ea typeface="宋体" pitchFamily="2" charset="-122"/>
                <a:cs typeface="Times New Roman" pitchFamily="18" charset="0"/>
              </a:rPr>
              <a:t>ξ</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两个参数。</a:t>
            </a:r>
          </a:p>
        </p:txBody>
      </p:sp>
      <p:sp>
        <p:nvSpPr>
          <p:cNvPr id="42" name="Text Box 29"/>
          <p:cNvSpPr txBox="1">
            <a:spLocks noChangeArrowheads="1"/>
          </p:cNvSpPr>
          <p:nvPr/>
        </p:nvSpPr>
        <p:spPr bwMode="auto">
          <a:xfrm>
            <a:off x="981731" y="3497311"/>
            <a:ext cx="754108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2"/>
                </a:solidFill>
                <a:latin typeface="Arial" charset="0"/>
                <a:ea typeface="宋体" charset="-122"/>
              </a:defRPr>
            </a:lvl1pPr>
            <a:lvl2pPr marL="742950" indent="-285750" eaLnBrk="0" hangingPunct="0">
              <a:defRPr sz="2400" b="1">
                <a:solidFill>
                  <a:schemeClr val="tx2"/>
                </a:solidFill>
                <a:latin typeface="Arial" charset="0"/>
                <a:ea typeface="宋体" charset="-122"/>
              </a:defRPr>
            </a:lvl2pPr>
            <a:lvl3pPr marL="1143000" indent="-228600" eaLnBrk="0" hangingPunct="0">
              <a:defRPr sz="2400" b="1">
                <a:solidFill>
                  <a:schemeClr val="tx2"/>
                </a:solidFill>
                <a:latin typeface="Arial" charset="0"/>
                <a:ea typeface="宋体" charset="-122"/>
              </a:defRPr>
            </a:lvl3pPr>
            <a:lvl4pPr marL="1600200" indent="-228600" eaLnBrk="0" hangingPunct="0">
              <a:defRPr sz="2400" b="1">
                <a:solidFill>
                  <a:schemeClr val="tx2"/>
                </a:solidFill>
                <a:latin typeface="Arial" charset="0"/>
                <a:ea typeface="宋体" charset="-122"/>
              </a:defRPr>
            </a:lvl4pPr>
            <a:lvl5pPr marL="2057400" indent="-228600" eaLnBrk="0" hangingPunct="0">
              <a:defRPr sz="24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9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1"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mn-cs"/>
              </a:rPr>
              <a:t>利</a:t>
            </a:r>
            <a:r>
              <a:rPr kumimoji="1"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用若干不同频率的</a:t>
            </a:r>
            <a:r>
              <a:rPr kumimoji="1" lang="zh-CN" altLang="en-US" sz="2400" b="1" i="0" u="none" strike="noStrike" kern="1200" cap="none" spc="0" normalizeH="0" baseline="0" noProof="0" dirty="0">
                <a:ln>
                  <a:noFill/>
                </a:ln>
                <a:solidFill>
                  <a:srgbClr val="00B050"/>
                </a:solidFill>
                <a:effectLst/>
                <a:uLnTx/>
                <a:uFillTx/>
                <a:latin typeface="宋体" pitchFamily="2" charset="-122"/>
                <a:ea typeface="宋体" pitchFamily="2" charset="-122"/>
                <a:cs typeface="+mn-cs"/>
              </a:rPr>
              <a:t>正弦信号</a:t>
            </a:r>
            <a:r>
              <a:rPr kumimoji="1"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输入到系统（传感器），即有不同的输出，得到该频率下输出（响应）与输入（激励）的幅值比与相位差，从而得到系统的</a:t>
            </a:r>
            <a:r>
              <a:rPr kumimoji="1" lang="zh-CN" altLang="en-US" sz="2400" b="1" i="0" u="none" strike="noStrike" kern="1200" cap="none" spc="0" normalizeH="0" baseline="0" noProof="0" dirty="0">
                <a:ln>
                  <a:noFill/>
                </a:ln>
                <a:solidFill>
                  <a:srgbClr val="7030A0"/>
                </a:solidFill>
                <a:effectLst/>
                <a:uLnTx/>
                <a:uFillTx/>
                <a:latin typeface="宋体" pitchFamily="2" charset="-122"/>
                <a:ea typeface="宋体" pitchFamily="2" charset="-122"/>
                <a:cs typeface="+mn-cs"/>
              </a:rPr>
              <a:t>幅频特性和相频特性</a:t>
            </a:r>
            <a:r>
              <a:rPr kumimoji="1"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p>
        </p:txBody>
      </p:sp>
      <p:sp>
        <p:nvSpPr>
          <p:cNvPr id="2" name="Slide Number Placeholder 1">
            <a:extLst>
              <a:ext uri="{FF2B5EF4-FFF2-40B4-BE49-F238E27FC236}">
                <a16:creationId xmlns:a16="http://schemas.microsoft.com/office/drawing/2014/main" id="{6C75190B-DFF1-483A-AA16-46D0D05BCE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72863143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41" name="Text Box 1030"/>
          <p:cNvSpPr txBox="1">
            <a:spLocks noChangeArrowheads="1"/>
          </p:cNvSpPr>
          <p:nvPr/>
        </p:nvSpPr>
        <p:spPr bwMode="auto">
          <a:xfrm>
            <a:off x="1204458" y="1429278"/>
            <a:ext cx="6735083"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2"/>
                </a:solidFill>
                <a:latin typeface="Arial" charset="0"/>
                <a:ea typeface="宋体" charset="-122"/>
              </a:defRPr>
            </a:lvl1pPr>
            <a:lvl2pPr marL="742950" indent="-285750" eaLnBrk="0" hangingPunct="0">
              <a:defRPr sz="2400" b="1">
                <a:solidFill>
                  <a:schemeClr val="tx2"/>
                </a:solidFill>
                <a:latin typeface="Arial" charset="0"/>
                <a:ea typeface="宋体" charset="-122"/>
              </a:defRPr>
            </a:lvl2pPr>
            <a:lvl3pPr marL="1143000" indent="-228600" eaLnBrk="0" hangingPunct="0">
              <a:defRPr sz="2400" b="1">
                <a:solidFill>
                  <a:schemeClr val="tx2"/>
                </a:solidFill>
                <a:latin typeface="Arial" charset="0"/>
                <a:ea typeface="宋体" charset="-122"/>
              </a:defRPr>
            </a:lvl3pPr>
            <a:lvl4pPr marL="1600200" indent="-228600" eaLnBrk="0" hangingPunct="0">
              <a:defRPr sz="2400" b="1">
                <a:solidFill>
                  <a:schemeClr val="tx2"/>
                </a:solidFill>
                <a:latin typeface="Arial" charset="0"/>
                <a:ea typeface="宋体" charset="-122"/>
              </a:defRPr>
            </a:lvl4pPr>
            <a:lvl5pPr marL="2057400" indent="-228600" eaLnBrk="0" hangingPunct="0">
              <a:defRPr sz="24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9pPr>
          </a:lstStyle>
          <a:p>
            <a:pPr marL="342900" marR="0" lvl="0" indent="-342900" algn="l" defTabSz="914400" rtl="0" eaLnBrk="1" fontAlgn="auto" latinLnBrk="0" hangingPunct="1">
              <a:lnSpc>
                <a:spcPct val="150000"/>
              </a:lnSpc>
              <a:spcBef>
                <a:spcPct val="0"/>
              </a:spcBef>
              <a:spcAft>
                <a:spcPts val="0"/>
              </a:spcAft>
              <a:buClrTx/>
              <a:buSzTx/>
              <a:buFont typeface="Arial" panose="020B0604020202020204" pitchFamily="34" charset="0"/>
              <a:buChar char="•"/>
              <a:tabLst/>
              <a:defRPr/>
            </a:pPr>
            <a:r>
              <a:rPr kumimoji="1"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将</a:t>
            </a:r>
            <a:r>
              <a:rPr kumimoji="1" lang="zh-CN" altLang="en-US" sz="2400" b="1" i="0" u="none" strike="noStrike" kern="1200" cap="none" spc="0" normalizeH="0" baseline="0" noProof="0" dirty="0">
                <a:ln>
                  <a:noFill/>
                </a:ln>
                <a:solidFill>
                  <a:srgbClr val="00B050"/>
                </a:solidFill>
                <a:effectLst/>
                <a:uLnTx/>
                <a:uFillTx/>
                <a:latin typeface="Times New Roman" pitchFamily="18" charset="0"/>
                <a:ea typeface="宋体" pitchFamily="2" charset="-122"/>
                <a:cs typeface="Times New Roman" pitchFamily="18" charset="0"/>
              </a:rPr>
              <a:t>阶跃信号</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输入到系统，根据输出信号的波形，可以得到一阶系统的时间常数</a:t>
            </a:r>
            <a:r>
              <a:rPr kumimoji="1" lang="zh-CN" altLang="en-US" sz="2400" b="1" i="1"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，二阶系统的阻尼比</a:t>
            </a:r>
            <a:r>
              <a:rPr kumimoji="1" lang="zh-CN" altLang="en-US" sz="2400" b="1" i="1"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和固有频率</a:t>
            </a:r>
            <a:r>
              <a:rPr kumimoji="1" lang="zh-CN" altLang="en-US" sz="2400" b="1" i="1"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a:t>
            </a:r>
            <a:r>
              <a:rPr kumimoji="1" lang="en-US" altLang="zh-CN" sz="2400" b="1" i="1" u="none" strike="noStrike" kern="1200" cap="none" spc="0" normalizeH="0" baseline="-2500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n</a:t>
            </a:r>
            <a:r>
              <a:rPr kumimoji="1"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1"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p:txBody>
      </p:sp>
      <p:sp>
        <p:nvSpPr>
          <p:cNvPr id="42" name="Text Box 1043"/>
          <p:cNvSpPr txBox="1">
            <a:spLocks noChangeArrowheads="1"/>
          </p:cNvSpPr>
          <p:nvPr/>
        </p:nvSpPr>
        <p:spPr bwMode="auto">
          <a:xfrm>
            <a:off x="1752221" y="3429000"/>
            <a:ext cx="563955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2"/>
                </a:solidFill>
                <a:latin typeface="Arial" charset="0"/>
                <a:ea typeface="宋体" charset="-122"/>
              </a:defRPr>
            </a:lvl1pPr>
            <a:lvl2pPr marL="742950" indent="-285750" eaLnBrk="0" hangingPunct="0">
              <a:defRPr sz="2400" b="1">
                <a:solidFill>
                  <a:schemeClr val="tx2"/>
                </a:solidFill>
                <a:latin typeface="Arial" charset="0"/>
                <a:ea typeface="宋体" charset="-122"/>
              </a:defRPr>
            </a:lvl2pPr>
            <a:lvl3pPr marL="1143000" indent="-228600" eaLnBrk="0" hangingPunct="0">
              <a:defRPr sz="2400" b="1">
                <a:solidFill>
                  <a:schemeClr val="tx2"/>
                </a:solidFill>
                <a:latin typeface="Arial" charset="0"/>
                <a:ea typeface="宋体" charset="-122"/>
              </a:defRPr>
            </a:lvl3pPr>
            <a:lvl4pPr marL="1600200" indent="-228600" eaLnBrk="0" hangingPunct="0">
              <a:defRPr sz="2400" b="1">
                <a:solidFill>
                  <a:schemeClr val="tx2"/>
                </a:solidFill>
                <a:latin typeface="Arial" charset="0"/>
                <a:ea typeface="宋体" charset="-122"/>
              </a:defRPr>
            </a:lvl4pPr>
            <a:lvl5pPr marL="2057400" indent="-228600" eaLnBrk="0" hangingPunct="0">
              <a:defRPr sz="24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9pPr>
          </a:lstStyle>
          <a:p>
            <a:pPr marL="0" marR="0" lvl="0" indent="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2" action="ppaction://hlinksldjump"/>
              </a:rPr>
              <a:t>图</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2" action="ppaction://hlinksldjump"/>
              </a:rPr>
              <a:t>13-1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2" action="ppaction://hlinksldjump"/>
              </a:rPr>
              <a:t>求一阶装置时间常数的方法</a:t>
            </a:r>
            <a:endPar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图</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13-2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二阶装置（</a:t>
            </a:r>
            <a:r>
              <a:rPr kumimoji="0" lang="en-US" altLang="zh-CN" sz="2400" b="1" i="1"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ξ</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&lt;1</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rId3" action="ppaction://hlinksldjump"/>
              </a:rPr>
              <a:t>）的阶跃响应</a:t>
            </a:r>
            <a:endPar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图</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13-4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由幅频特性求时间常数</a:t>
            </a:r>
            <a:r>
              <a:rPr kumimoji="0" lang="en-US" altLang="zh-CN" sz="2400" b="1" i="1"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τ</a:t>
            </a:r>
            <a:endParaRPr kumimoji="0" lang="en-US" altLang="zh-CN" sz="2400" b="1" i="1"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图</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13-5  </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欠阻尼二阶装置的</a:t>
            </a:r>
            <a:r>
              <a:rPr kumimoji="0" lang="en-US" altLang="zh-CN" sz="2400" b="1" i="1"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ξ</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hlinkClick r:id="" action="ppaction://noaction"/>
              </a:rPr>
              <a:t>和</a:t>
            </a:r>
            <a:r>
              <a:rPr kumimoji="0" lang="en-US" altLang="zh-CN" sz="2400" b="1" i="1" u="none" strike="noStrike" kern="1200" cap="none" spc="0" normalizeH="0" baseline="0" noProof="0" dirty="0" err="1">
                <a:ln>
                  <a:noFill/>
                </a:ln>
                <a:solidFill>
                  <a:prstClr val="black"/>
                </a:solidFill>
                <a:effectLst/>
                <a:uLnTx/>
                <a:uFillTx/>
                <a:latin typeface="宋体" pitchFamily="2" charset="-122"/>
                <a:ea typeface="宋体" pitchFamily="2" charset="-122"/>
                <a:cs typeface="+mn-cs"/>
                <a:hlinkClick r:id="" action="ppaction://noaction"/>
              </a:rPr>
              <a:t>ω</a:t>
            </a:r>
            <a:r>
              <a:rPr kumimoji="0" lang="en-US" altLang="zh-CN" sz="2400" b="1" i="1" u="none" strike="noStrike" kern="1200" cap="none" spc="0" normalizeH="0" baseline="-25000" noProof="0" dirty="0" err="1">
                <a:ln>
                  <a:noFill/>
                </a:ln>
                <a:solidFill>
                  <a:prstClr val="black"/>
                </a:solidFill>
                <a:effectLst/>
                <a:uLnTx/>
                <a:uFillTx/>
                <a:latin typeface="宋体" pitchFamily="2" charset="-122"/>
                <a:ea typeface="宋体" pitchFamily="2" charset="-122"/>
                <a:cs typeface="+mn-cs"/>
                <a:hlinkClick r:id="" action="ppaction://noaction"/>
              </a:rPr>
              <a:t>n</a:t>
            </a:r>
            <a:endParaRPr kumimoji="0" lang="en-US" altLang="zh-CN" sz="2400" b="1" i="1" u="none" strike="noStrike" kern="1200" cap="none" spc="0" normalizeH="0" baseline="-25000" noProof="0" dirty="0">
              <a:ln>
                <a:noFill/>
              </a:ln>
              <a:solidFill>
                <a:prstClr val="black"/>
              </a:solidFill>
              <a:effectLst/>
              <a:uLnTx/>
              <a:uFillTx/>
              <a:latin typeface="宋体" pitchFamily="2" charset="-122"/>
              <a:ea typeface="宋体" pitchFamily="2" charset="-122"/>
              <a:cs typeface="+mn-cs"/>
            </a:endParaRPr>
          </a:p>
        </p:txBody>
      </p:sp>
      <p:sp>
        <p:nvSpPr>
          <p:cNvPr id="2" name="Slide Number Placeholder 1">
            <a:extLst>
              <a:ext uri="{FF2B5EF4-FFF2-40B4-BE49-F238E27FC236}">
                <a16:creationId xmlns:a16="http://schemas.microsoft.com/office/drawing/2014/main" id="{728AEDEC-64F4-40C5-BEC5-71A46A79C1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9080015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2" name="Slide Number Placeholder 1">
            <a:extLst>
              <a:ext uri="{FF2B5EF4-FFF2-40B4-BE49-F238E27FC236}">
                <a16:creationId xmlns:a16="http://schemas.microsoft.com/office/drawing/2014/main" id="{728AEDEC-64F4-40C5-BEC5-71A46A79C1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
        <p:nvSpPr>
          <p:cNvPr id="20" name="Text Box 37">
            <a:extLst>
              <a:ext uri="{FF2B5EF4-FFF2-40B4-BE49-F238E27FC236}">
                <a16:creationId xmlns:a16="http://schemas.microsoft.com/office/drawing/2014/main" id="{935903E6-182C-422D-9D31-8B74FF28FC4C}"/>
              </a:ext>
            </a:extLst>
          </p:cNvPr>
          <p:cNvSpPr txBox="1">
            <a:spLocks noChangeArrowheads="1"/>
          </p:cNvSpPr>
          <p:nvPr/>
        </p:nvSpPr>
        <p:spPr bwMode="auto">
          <a:xfrm>
            <a:off x="1893943" y="5755533"/>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13-1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求一阶装置时间常数的方法</a:t>
            </a:r>
          </a:p>
        </p:txBody>
      </p:sp>
      <p:graphicFrame>
        <p:nvGraphicFramePr>
          <p:cNvPr id="21" name="Object 38">
            <a:extLst>
              <a:ext uri="{FF2B5EF4-FFF2-40B4-BE49-F238E27FC236}">
                <a16:creationId xmlns:a16="http://schemas.microsoft.com/office/drawing/2014/main" id="{1B262DE6-6348-496E-8707-3A7386EB0A32}"/>
              </a:ext>
            </a:extLst>
          </p:cNvPr>
          <p:cNvGraphicFramePr>
            <a:graphicFrameLocks noChangeAspect="1"/>
          </p:cNvGraphicFramePr>
          <p:nvPr/>
        </p:nvGraphicFramePr>
        <p:xfrm>
          <a:off x="1738313" y="1492250"/>
          <a:ext cx="5184775" cy="3873500"/>
        </p:xfrm>
        <a:graphic>
          <a:graphicData uri="http://schemas.openxmlformats.org/presentationml/2006/ole">
            <mc:AlternateContent xmlns:mc="http://schemas.openxmlformats.org/markup-compatibility/2006">
              <mc:Choice xmlns:v="urn:schemas-microsoft-com:vml" Requires="v">
                <p:oleObj spid="_x0000_s1028" name="Flash 影片" r:id="rId3" imgW="4764960" imgH="3561120" progId="Flash.Movie">
                  <p:embed/>
                </p:oleObj>
              </mc:Choice>
              <mc:Fallback>
                <p:oleObj name="Flash 影片" r:id="rId3" imgW="4764960" imgH="3561120" progId="Flash.Movie">
                  <p:embed/>
                  <p:pic>
                    <p:nvPicPr>
                      <p:cNvPr id="21" name="Object 38">
                        <a:extLst>
                          <a:ext uri="{FF2B5EF4-FFF2-40B4-BE49-F238E27FC236}">
                            <a16:creationId xmlns:a16="http://schemas.microsoft.com/office/drawing/2014/main" id="{1B262DE6-6348-496E-8707-3A7386EB0A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313" y="1492250"/>
                        <a:ext cx="5184775" cy="387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17882333"/>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2" name="Slide Number Placeholder 1">
            <a:extLst>
              <a:ext uri="{FF2B5EF4-FFF2-40B4-BE49-F238E27FC236}">
                <a16:creationId xmlns:a16="http://schemas.microsoft.com/office/drawing/2014/main" id="{728AEDEC-64F4-40C5-BEC5-71A46A79C1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
        <p:nvSpPr>
          <p:cNvPr id="6" name="Text Box 39">
            <a:extLst>
              <a:ext uri="{FF2B5EF4-FFF2-40B4-BE49-F238E27FC236}">
                <a16:creationId xmlns:a16="http://schemas.microsoft.com/office/drawing/2014/main" id="{342322AE-F25D-47C3-9521-3D24E0E90713}"/>
              </a:ext>
            </a:extLst>
          </p:cNvPr>
          <p:cNvSpPr txBox="1">
            <a:spLocks noChangeArrowheads="1"/>
          </p:cNvSpPr>
          <p:nvPr/>
        </p:nvSpPr>
        <p:spPr bwMode="auto">
          <a:xfrm>
            <a:off x="1997075" y="6046487"/>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13-2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二阶装置（</a:t>
            </a:r>
            <a:r>
              <a:rPr kumimoji="0" lang="en-US" altLang="zh-CN" sz="2400" b="1" i="0" u="none" strike="noStrike" kern="1200" cap="none" spc="0" normalizeH="0" baseline="0" noProof="0" dirty="0">
                <a:ln>
                  <a:noFill/>
                </a:ln>
                <a:solidFill>
                  <a:srgbClr val="3333CC"/>
                </a:solidFill>
                <a:effectLst/>
                <a:uLnTx/>
                <a:uFillTx/>
                <a:latin typeface="Times New Roman" pitchFamily="18" charset="0"/>
                <a:ea typeface="宋体" pitchFamily="2" charset="-122"/>
                <a:cs typeface="Times New Roman" pitchFamily="18" charset="0"/>
              </a:rPr>
              <a:t>ξ&lt;1</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）的阶跃响应</a:t>
            </a:r>
          </a:p>
        </p:txBody>
      </p:sp>
      <p:sp>
        <p:nvSpPr>
          <p:cNvPr id="7" name="Line 45">
            <a:extLst>
              <a:ext uri="{FF2B5EF4-FFF2-40B4-BE49-F238E27FC236}">
                <a16:creationId xmlns:a16="http://schemas.microsoft.com/office/drawing/2014/main" id="{5258FB17-62E4-4CAB-B5C1-2B904EB765FE}"/>
              </a:ext>
            </a:extLst>
          </p:cNvPr>
          <p:cNvSpPr>
            <a:spLocks noChangeShapeType="1"/>
          </p:cNvSpPr>
          <p:nvPr/>
        </p:nvSpPr>
        <p:spPr bwMode="auto">
          <a:xfrm>
            <a:off x="1558925" y="4963019"/>
            <a:ext cx="5791200" cy="0"/>
          </a:xfrm>
          <a:prstGeom prst="line">
            <a:avLst/>
          </a:prstGeom>
          <a:noFill/>
          <a:ln w="28575">
            <a:solidFill>
              <a:schemeClr val="folHlink"/>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8" name="Line 46">
            <a:extLst>
              <a:ext uri="{FF2B5EF4-FFF2-40B4-BE49-F238E27FC236}">
                <a16:creationId xmlns:a16="http://schemas.microsoft.com/office/drawing/2014/main" id="{8DE08ED4-C834-4BD9-97E8-93E3A0C81F74}"/>
              </a:ext>
            </a:extLst>
          </p:cNvPr>
          <p:cNvSpPr>
            <a:spLocks noChangeShapeType="1"/>
          </p:cNvSpPr>
          <p:nvPr/>
        </p:nvSpPr>
        <p:spPr bwMode="auto">
          <a:xfrm flipV="1">
            <a:off x="1920875" y="2591294"/>
            <a:ext cx="0" cy="3467100"/>
          </a:xfrm>
          <a:prstGeom prst="line">
            <a:avLst/>
          </a:prstGeom>
          <a:noFill/>
          <a:ln w="28575">
            <a:solidFill>
              <a:schemeClr val="folHlink"/>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9" name="Text Box 47">
            <a:extLst>
              <a:ext uri="{FF2B5EF4-FFF2-40B4-BE49-F238E27FC236}">
                <a16:creationId xmlns:a16="http://schemas.microsoft.com/office/drawing/2014/main" id="{411D5804-F07F-46F8-92BE-953DCAAD8D93}"/>
              </a:ext>
            </a:extLst>
          </p:cNvPr>
          <p:cNvSpPr txBox="1">
            <a:spLocks noChangeArrowheads="1"/>
          </p:cNvSpPr>
          <p:nvPr/>
        </p:nvSpPr>
        <p:spPr bwMode="auto">
          <a:xfrm>
            <a:off x="1539875" y="2200769"/>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rPr>
              <a:t>y</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rPr>
              <a:t>(</a:t>
            </a: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t</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endPar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endParaRPr>
          </a:p>
        </p:txBody>
      </p:sp>
      <p:sp>
        <p:nvSpPr>
          <p:cNvPr id="10" name="Text Box 48">
            <a:extLst>
              <a:ext uri="{FF2B5EF4-FFF2-40B4-BE49-F238E27FC236}">
                <a16:creationId xmlns:a16="http://schemas.microsoft.com/office/drawing/2014/main" id="{57822F1C-F307-4018-AD26-B662A4990CB7}"/>
              </a:ext>
            </a:extLst>
          </p:cNvPr>
          <p:cNvSpPr txBox="1">
            <a:spLocks noChangeArrowheads="1"/>
          </p:cNvSpPr>
          <p:nvPr/>
        </p:nvSpPr>
        <p:spPr bwMode="auto">
          <a:xfrm>
            <a:off x="7121525" y="4934444"/>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t</a:t>
            </a:r>
            <a:endPar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endParaRPr>
          </a:p>
        </p:txBody>
      </p:sp>
      <p:sp>
        <p:nvSpPr>
          <p:cNvPr id="11" name="Freeform 49">
            <a:extLst>
              <a:ext uri="{FF2B5EF4-FFF2-40B4-BE49-F238E27FC236}">
                <a16:creationId xmlns:a16="http://schemas.microsoft.com/office/drawing/2014/main" id="{11FF9225-F8B2-4B9A-9339-71326F0EBF51}"/>
              </a:ext>
            </a:extLst>
          </p:cNvPr>
          <p:cNvSpPr>
            <a:spLocks/>
          </p:cNvSpPr>
          <p:nvPr/>
        </p:nvSpPr>
        <p:spPr bwMode="auto">
          <a:xfrm>
            <a:off x="1906588" y="3153269"/>
            <a:ext cx="5029200" cy="1828800"/>
          </a:xfrm>
          <a:custGeom>
            <a:avLst/>
            <a:gdLst>
              <a:gd name="T0" fmla="*/ 0 w 3168"/>
              <a:gd name="T1" fmla="*/ 1828800 h 1152"/>
              <a:gd name="T2" fmla="*/ 304800 w 3168"/>
              <a:gd name="T3" fmla="*/ 1524000 h 1152"/>
              <a:gd name="T4" fmla="*/ 762000 w 3168"/>
              <a:gd name="T5" fmla="*/ 609600 h 1152"/>
              <a:gd name="T6" fmla="*/ 1295400 w 3168"/>
              <a:gd name="T7" fmla="*/ 0 h 1152"/>
              <a:gd name="T8" fmla="*/ 1828800 w 3168"/>
              <a:gd name="T9" fmla="*/ 609600 h 1152"/>
              <a:gd name="T10" fmla="*/ 2286000 w 3168"/>
              <a:gd name="T11" fmla="*/ 914400 h 1152"/>
              <a:gd name="T12" fmla="*/ 2819400 w 3168"/>
              <a:gd name="T13" fmla="*/ 609600 h 1152"/>
              <a:gd name="T14" fmla="*/ 3276600 w 3168"/>
              <a:gd name="T15" fmla="*/ 381000 h 1152"/>
              <a:gd name="T16" fmla="*/ 3733800 w 3168"/>
              <a:gd name="T17" fmla="*/ 609600 h 1152"/>
              <a:gd name="T18" fmla="*/ 4038600 w 3168"/>
              <a:gd name="T19" fmla="*/ 762000 h 1152"/>
              <a:gd name="T20" fmla="*/ 4419600 w 3168"/>
              <a:gd name="T21" fmla="*/ 609600 h 1152"/>
              <a:gd name="T22" fmla="*/ 4724400 w 3168"/>
              <a:gd name="T23" fmla="*/ 533400 h 1152"/>
              <a:gd name="T24" fmla="*/ 5029200 w 3168"/>
              <a:gd name="T25" fmla="*/ 609600 h 1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8" h="1152">
                <a:moveTo>
                  <a:pt x="0" y="1152"/>
                </a:moveTo>
                <a:cubicBezTo>
                  <a:pt x="56" y="1120"/>
                  <a:pt x="112" y="1088"/>
                  <a:pt x="192" y="960"/>
                </a:cubicBezTo>
                <a:cubicBezTo>
                  <a:pt x="272" y="832"/>
                  <a:pt x="376" y="544"/>
                  <a:pt x="480" y="384"/>
                </a:cubicBezTo>
                <a:cubicBezTo>
                  <a:pt x="584" y="224"/>
                  <a:pt x="704" y="0"/>
                  <a:pt x="816" y="0"/>
                </a:cubicBezTo>
                <a:cubicBezTo>
                  <a:pt x="928" y="0"/>
                  <a:pt x="1048" y="288"/>
                  <a:pt x="1152" y="384"/>
                </a:cubicBezTo>
                <a:cubicBezTo>
                  <a:pt x="1256" y="480"/>
                  <a:pt x="1336" y="576"/>
                  <a:pt x="1440" y="576"/>
                </a:cubicBezTo>
                <a:cubicBezTo>
                  <a:pt x="1544" y="576"/>
                  <a:pt x="1672" y="440"/>
                  <a:pt x="1776" y="384"/>
                </a:cubicBezTo>
                <a:cubicBezTo>
                  <a:pt x="1880" y="328"/>
                  <a:pt x="1968" y="240"/>
                  <a:pt x="2064" y="240"/>
                </a:cubicBezTo>
                <a:cubicBezTo>
                  <a:pt x="2160" y="240"/>
                  <a:pt x="2272" y="344"/>
                  <a:pt x="2352" y="384"/>
                </a:cubicBezTo>
                <a:cubicBezTo>
                  <a:pt x="2432" y="424"/>
                  <a:pt x="2472" y="480"/>
                  <a:pt x="2544" y="480"/>
                </a:cubicBezTo>
                <a:cubicBezTo>
                  <a:pt x="2616" y="480"/>
                  <a:pt x="2712" y="408"/>
                  <a:pt x="2784" y="384"/>
                </a:cubicBezTo>
                <a:cubicBezTo>
                  <a:pt x="2856" y="360"/>
                  <a:pt x="2912" y="336"/>
                  <a:pt x="2976" y="336"/>
                </a:cubicBezTo>
                <a:cubicBezTo>
                  <a:pt x="3040" y="336"/>
                  <a:pt x="3104" y="360"/>
                  <a:pt x="3168" y="384"/>
                </a:cubicBezTo>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2" name="Line 50">
            <a:extLst>
              <a:ext uri="{FF2B5EF4-FFF2-40B4-BE49-F238E27FC236}">
                <a16:creationId xmlns:a16="http://schemas.microsoft.com/office/drawing/2014/main" id="{F8604BDC-8339-4EE6-913F-18259990727E}"/>
              </a:ext>
            </a:extLst>
          </p:cNvPr>
          <p:cNvSpPr>
            <a:spLocks noChangeShapeType="1"/>
          </p:cNvSpPr>
          <p:nvPr/>
        </p:nvSpPr>
        <p:spPr bwMode="auto">
          <a:xfrm>
            <a:off x="1897063" y="3762869"/>
            <a:ext cx="533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3" name="Text Box 51">
            <a:extLst>
              <a:ext uri="{FF2B5EF4-FFF2-40B4-BE49-F238E27FC236}">
                <a16:creationId xmlns:a16="http://schemas.microsoft.com/office/drawing/2014/main" id="{ABCCE093-B667-44F4-BF5C-36E0E86D21A8}"/>
              </a:ext>
            </a:extLst>
          </p:cNvPr>
          <p:cNvSpPr txBox="1">
            <a:spLocks noChangeArrowheads="1"/>
          </p:cNvSpPr>
          <p:nvPr/>
        </p:nvSpPr>
        <p:spPr bwMode="auto">
          <a:xfrm>
            <a:off x="3644900" y="3238994"/>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M</a:t>
            </a:r>
            <a:r>
              <a:rPr kumimoji="1" lang="en-US" altLang="zh-CN" sz="1800" b="1" i="0" u="none" strike="noStrike" kern="1200" cap="none" spc="0" normalizeH="0" baseline="-25000" noProof="0">
                <a:ln>
                  <a:noFill/>
                </a:ln>
                <a:solidFill>
                  <a:prstClr val="black"/>
                </a:solidFill>
                <a:effectLst/>
                <a:uLnTx/>
                <a:uFillTx/>
                <a:latin typeface="Times New Roman" pitchFamily="18" charset="0"/>
                <a:ea typeface="宋体" charset="-122"/>
                <a:cs typeface="+mn-cs"/>
              </a:rPr>
              <a:t>1</a:t>
            </a:r>
          </a:p>
        </p:txBody>
      </p:sp>
      <p:sp>
        <p:nvSpPr>
          <p:cNvPr id="14" name="Text Box 52">
            <a:extLst>
              <a:ext uri="{FF2B5EF4-FFF2-40B4-BE49-F238E27FC236}">
                <a16:creationId xmlns:a16="http://schemas.microsoft.com/office/drawing/2014/main" id="{C4F3FD5A-87C8-4070-9F02-403DCA634033}"/>
              </a:ext>
            </a:extLst>
          </p:cNvPr>
          <p:cNvSpPr txBox="1">
            <a:spLocks noChangeArrowheads="1"/>
          </p:cNvSpPr>
          <p:nvPr/>
        </p:nvSpPr>
        <p:spPr bwMode="auto">
          <a:xfrm>
            <a:off x="1673225" y="4915394"/>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0" u="none" strike="noStrike" kern="1200" cap="none" spc="0" normalizeH="0" baseline="0" noProof="0">
                <a:ln>
                  <a:noFill/>
                </a:ln>
                <a:solidFill>
                  <a:prstClr val="black"/>
                </a:solidFill>
                <a:effectLst/>
                <a:uLnTx/>
                <a:uFillTx/>
                <a:latin typeface="Times New Roman" pitchFamily="18" charset="0"/>
                <a:ea typeface="宋体" charset="-122"/>
                <a:cs typeface="+mn-cs"/>
              </a:rPr>
              <a:t>0</a:t>
            </a:r>
          </a:p>
        </p:txBody>
      </p:sp>
      <p:sp>
        <p:nvSpPr>
          <p:cNvPr id="15" name="Text Box 53">
            <a:extLst>
              <a:ext uri="{FF2B5EF4-FFF2-40B4-BE49-F238E27FC236}">
                <a16:creationId xmlns:a16="http://schemas.microsoft.com/office/drawing/2014/main" id="{F22C2DBC-CD8A-4515-BDE9-2745C88684DA}"/>
              </a:ext>
            </a:extLst>
          </p:cNvPr>
          <p:cNvSpPr txBox="1">
            <a:spLocks noChangeArrowheads="1"/>
          </p:cNvSpPr>
          <p:nvPr/>
        </p:nvSpPr>
        <p:spPr bwMode="auto">
          <a:xfrm>
            <a:off x="1477963" y="3591419"/>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0" u="none" strike="noStrike" kern="1200" cap="none" spc="0" normalizeH="0" baseline="0" noProof="0">
                <a:ln>
                  <a:noFill/>
                </a:ln>
                <a:solidFill>
                  <a:prstClr val="black"/>
                </a:solidFill>
                <a:effectLst/>
                <a:uLnTx/>
                <a:uFillTx/>
                <a:latin typeface="Times New Roman" pitchFamily="18" charset="0"/>
                <a:ea typeface="宋体" charset="-122"/>
                <a:cs typeface="+mn-cs"/>
              </a:rPr>
              <a:t>1.0</a:t>
            </a:r>
          </a:p>
        </p:txBody>
      </p:sp>
      <p:sp>
        <p:nvSpPr>
          <p:cNvPr id="16" name="Line 54">
            <a:extLst>
              <a:ext uri="{FF2B5EF4-FFF2-40B4-BE49-F238E27FC236}">
                <a16:creationId xmlns:a16="http://schemas.microsoft.com/office/drawing/2014/main" id="{B8137527-532C-4C3A-AE65-C47427325C60}"/>
              </a:ext>
            </a:extLst>
          </p:cNvPr>
          <p:cNvSpPr>
            <a:spLocks noChangeShapeType="1"/>
          </p:cNvSpPr>
          <p:nvPr/>
        </p:nvSpPr>
        <p:spPr bwMode="auto">
          <a:xfrm>
            <a:off x="3206750" y="3162794"/>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7" name="Line 55">
            <a:extLst>
              <a:ext uri="{FF2B5EF4-FFF2-40B4-BE49-F238E27FC236}">
                <a16:creationId xmlns:a16="http://schemas.microsoft.com/office/drawing/2014/main" id="{576C789E-407B-46C8-8952-DA5C9635B268}"/>
              </a:ext>
            </a:extLst>
          </p:cNvPr>
          <p:cNvSpPr>
            <a:spLocks noChangeShapeType="1"/>
          </p:cNvSpPr>
          <p:nvPr/>
        </p:nvSpPr>
        <p:spPr bwMode="auto">
          <a:xfrm>
            <a:off x="1911350" y="5405931"/>
            <a:ext cx="1295400" cy="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8" name="Line 56">
            <a:extLst>
              <a:ext uri="{FF2B5EF4-FFF2-40B4-BE49-F238E27FC236}">
                <a16:creationId xmlns:a16="http://schemas.microsoft.com/office/drawing/2014/main" id="{14701036-AFA2-4328-9C47-9797A2B69B22}"/>
              </a:ext>
            </a:extLst>
          </p:cNvPr>
          <p:cNvSpPr>
            <a:spLocks noChangeShapeType="1"/>
          </p:cNvSpPr>
          <p:nvPr/>
        </p:nvSpPr>
        <p:spPr bwMode="auto">
          <a:xfrm>
            <a:off x="2901950" y="3134219"/>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9" name="Line 57">
            <a:extLst>
              <a:ext uri="{FF2B5EF4-FFF2-40B4-BE49-F238E27FC236}">
                <a16:creationId xmlns:a16="http://schemas.microsoft.com/office/drawing/2014/main" id="{D5A68C91-94C6-4A1C-AF97-93597B6A8270}"/>
              </a:ext>
            </a:extLst>
          </p:cNvPr>
          <p:cNvSpPr>
            <a:spLocks noChangeShapeType="1"/>
          </p:cNvSpPr>
          <p:nvPr/>
        </p:nvSpPr>
        <p:spPr bwMode="auto">
          <a:xfrm flipV="1">
            <a:off x="3663950" y="3134219"/>
            <a:ext cx="0" cy="614362"/>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0" name="Text Box 58">
            <a:extLst>
              <a:ext uri="{FF2B5EF4-FFF2-40B4-BE49-F238E27FC236}">
                <a16:creationId xmlns:a16="http://schemas.microsoft.com/office/drawing/2014/main" id="{9DF8603D-FF03-426C-99BE-8D179E2527A3}"/>
              </a:ext>
            </a:extLst>
          </p:cNvPr>
          <p:cNvSpPr txBox="1">
            <a:spLocks noChangeArrowheads="1"/>
          </p:cNvSpPr>
          <p:nvPr/>
        </p:nvSpPr>
        <p:spPr bwMode="auto">
          <a:xfrm>
            <a:off x="2444750" y="4991594"/>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t</a:t>
            </a:r>
            <a:r>
              <a:rPr kumimoji="1" lang="en-US" altLang="zh-CN" sz="1800" b="1" i="1" u="none" strike="noStrike" kern="1200" cap="none" spc="0" normalizeH="0" baseline="-25000" noProof="0">
                <a:ln>
                  <a:noFill/>
                </a:ln>
                <a:solidFill>
                  <a:prstClr val="black"/>
                </a:solidFill>
                <a:effectLst/>
                <a:uLnTx/>
                <a:uFillTx/>
                <a:latin typeface="Times New Roman" pitchFamily="18" charset="0"/>
                <a:ea typeface="宋体" charset="-122"/>
                <a:cs typeface="+mn-cs"/>
              </a:rPr>
              <a:t>p</a:t>
            </a:r>
          </a:p>
        </p:txBody>
      </p:sp>
      <p:sp>
        <p:nvSpPr>
          <p:cNvPr id="21" name="Text Box 59">
            <a:extLst>
              <a:ext uri="{FF2B5EF4-FFF2-40B4-BE49-F238E27FC236}">
                <a16:creationId xmlns:a16="http://schemas.microsoft.com/office/drawing/2014/main" id="{C9672BE1-50FB-4DC3-85BB-73F3DBF33331}"/>
              </a:ext>
            </a:extLst>
          </p:cNvPr>
          <p:cNvSpPr txBox="1">
            <a:spLocks noChangeArrowheads="1"/>
          </p:cNvSpPr>
          <p:nvPr/>
        </p:nvSpPr>
        <p:spPr bwMode="auto">
          <a:xfrm>
            <a:off x="5492750" y="3158031"/>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M</a:t>
            </a:r>
            <a:r>
              <a:rPr kumimoji="1" lang="en-US" altLang="zh-CN" sz="1800" b="1" i="0" u="none" strike="noStrike" kern="1200" cap="none" spc="0" normalizeH="0" baseline="-25000" noProof="0">
                <a:ln>
                  <a:noFill/>
                </a:ln>
                <a:solidFill>
                  <a:prstClr val="black"/>
                </a:solidFill>
                <a:effectLst/>
                <a:uLnTx/>
                <a:uFillTx/>
                <a:latin typeface="Times New Roman" pitchFamily="18" charset="0"/>
                <a:ea typeface="宋体" charset="-122"/>
                <a:cs typeface="+mn-cs"/>
              </a:rPr>
              <a:t>2</a:t>
            </a:r>
          </a:p>
        </p:txBody>
      </p:sp>
      <p:sp>
        <p:nvSpPr>
          <p:cNvPr id="22" name="Line 60">
            <a:extLst>
              <a:ext uri="{FF2B5EF4-FFF2-40B4-BE49-F238E27FC236}">
                <a16:creationId xmlns:a16="http://schemas.microsoft.com/office/drawing/2014/main" id="{AAE2F78D-28DC-4984-905A-DEABABB1EE81}"/>
              </a:ext>
            </a:extLst>
          </p:cNvPr>
          <p:cNvSpPr>
            <a:spLocks noChangeShapeType="1"/>
          </p:cNvSpPr>
          <p:nvPr/>
        </p:nvSpPr>
        <p:spPr bwMode="auto">
          <a:xfrm>
            <a:off x="4868863" y="3519981"/>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3" name="Line 61">
            <a:extLst>
              <a:ext uri="{FF2B5EF4-FFF2-40B4-BE49-F238E27FC236}">
                <a16:creationId xmlns:a16="http://schemas.microsoft.com/office/drawing/2014/main" id="{75ECF177-4F2A-4D6E-929D-74AEAA654D61}"/>
              </a:ext>
            </a:extLst>
          </p:cNvPr>
          <p:cNvSpPr>
            <a:spLocks noChangeShapeType="1"/>
          </p:cNvSpPr>
          <p:nvPr/>
        </p:nvSpPr>
        <p:spPr bwMode="auto">
          <a:xfrm flipV="1">
            <a:off x="5721350" y="3519981"/>
            <a:ext cx="0" cy="22860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7" name="Line 62">
            <a:extLst>
              <a:ext uri="{FF2B5EF4-FFF2-40B4-BE49-F238E27FC236}">
                <a16:creationId xmlns:a16="http://schemas.microsoft.com/office/drawing/2014/main" id="{785B07AF-C5B8-4418-80DF-8F3B5FEC49EA}"/>
              </a:ext>
            </a:extLst>
          </p:cNvPr>
          <p:cNvSpPr>
            <a:spLocks noChangeShapeType="1"/>
          </p:cNvSpPr>
          <p:nvPr/>
        </p:nvSpPr>
        <p:spPr bwMode="auto">
          <a:xfrm>
            <a:off x="5187950" y="3553319"/>
            <a:ext cx="0" cy="1924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8" name="Line 63">
            <a:extLst>
              <a:ext uri="{FF2B5EF4-FFF2-40B4-BE49-F238E27FC236}">
                <a16:creationId xmlns:a16="http://schemas.microsoft.com/office/drawing/2014/main" id="{6C23145B-91DA-4ED1-9C95-AD3538C0E931}"/>
              </a:ext>
            </a:extLst>
          </p:cNvPr>
          <p:cNvSpPr>
            <a:spLocks noChangeShapeType="1"/>
          </p:cNvSpPr>
          <p:nvPr/>
        </p:nvSpPr>
        <p:spPr bwMode="auto">
          <a:xfrm>
            <a:off x="3206750" y="5424981"/>
            <a:ext cx="1981200" cy="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9" name="Text Box 64">
            <a:extLst>
              <a:ext uri="{FF2B5EF4-FFF2-40B4-BE49-F238E27FC236}">
                <a16:creationId xmlns:a16="http://schemas.microsoft.com/office/drawing/2014/main" id="{16307AF2-EB28-418D-A337-9C34E11FB086}"/>
              </a:ext>
            </a:extLst>
          </p:cNvPr>
          <p:cNvSpPr txBox="1">
            <a:spLocks noChangeArrowheads="1"/>
          </p:cNvSpPr>
          <p:nvPr/>
        </p:nvSpPr>
        <p:spPr bwMode="auto">
          <a:xfrm>
            <a:off x="3763963" y="5048744"/>
            <a:ext cx="1033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000" b="1" i="1" u="none" strike="noStrike" kern="1200" cap="none" spc="0" normalizeH="0" baseline="0" noProof="0">
                <a:ln>
                  <a:noFill/>
                </a:ln>
                <a:solidFill>
                  <a:prstClr val="black"/>
                </a:solidFill>
                <a:effectLst/>
                <a:uLnTx/>
                <a:uFillTx/>
                <a:latin typeface="Times New Roman" pitchFamily="18" charset="0"/>
                <a:ea typeface="宋体" charset="-122"/>
                <a:cs typeface="+mn-cs"/>
              </a:rPr>
              <a:t>t</a:t>
            </a:r>
            <a:r>
              <a:rPr kumimoji="1" lang="en-US" altLang="zh-CN" sz="2000" b="1" i="0" u="none" strike="noStrike" kern="1200" cap="none" spc="0" normalizeH="0" baseline="0" noProof="0">
                <a:ln>
                  <a:noFill/>
                </a:ln>
                <a:solidFill>
                  <a:prstClr val="black"/>
                </a:solidFill>
                <a:effectLst/>
                <a:uLnTx/>
                <a:uFillTx/>
                <a:latin typeface="Times New Roman" pitchFamily="18" charset="0"/>
                <a:ea typeface="宋体" charset="-122"/>
                <a:cs typeface="+mn-cs"/>
              </a:rPr>
              <a:t>=2</a:t>
            </a:r>
            <a:r>
              <a:rPr kumimoji="1" lang="en-US" altLang="zh-CN" sz="2000" b="1" i="0"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r>
              <a:rPr kumimoji="1" lang="en-US" altLang="zh-CN" sz="2000" b="1"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r>
              <a:rPr kumimoji="1" lang="en-US" altLang="zh-CN" sz="2000" b="1" i="1" u="none" strike="noStrike" kern="1200" cap="none" spc="0" normalizeH="0" baseline="-25000" noProof="0">
                <a:ln>
                  <a:noFill/>
                </a:ln>
                <a:solidFill>
                  <a:prstClr val="black"/>
                </a:solidFill>
                <a:effectLst/>
                <a:uLnTx/>
                <a:uFillTx/>
                <a:latin typeface="Times New Roman" pitchFamily="18" charset="0"/>
                <a:ea typeface="宋体" charset="-122"/>
                <a:cs typeface="+mn-cs"/>
                <a:sym typeface="Symbol" pitchFamily="18" charset="2"/>
              </a:rPr>
              <a:t>d</a:t>
            </a:r>
            <a:endParaRPr kumimoji="1" lang="en-US" altLang="zh-CN" sz="2000" b="1" i="1" u="none" strike="noStrike" kern="1200" cap="none" spc="0" normalizeH="0" baseline="-25000" noProof="0">
              <a:ln>
                <a:noFill/>
              </a:ln>
              <a:solidFill>
                <a:prstClr val="black"/>
              </a:solidFill>
              <a:effectLst/>
              <a:uLnTx/>
              <a:uFillTx/>
              <a:latin typeface="Times New Roman" pitchFamily="18" charset="0"/>
              <a:ea typeface="宋体" charset="-122"/>
              <a:cs typeface="+mn-cs"/>
            </a:endParaRPr>
          </a:p>
        </p:txBody>
      </p:sp>
      <p:graphicFrame>
        <p:nvGraphicFramePr>
          <p:cNvPr id="30" name="对象 27">
            <a:extLst>
              <a:ext uri="{FF2B5EF4-FFF2-40B4-BE49-F238E27FC236}">
                <a16:creationId xmlns:a16="http://schemas.microsoft.com/office/drawing/2014/main" id="{C7BF2690-5EFD-4B0B-A8F6-6F5C61103E56}"/>
              </a:ext>
            </a:extLst>
          </p:cNvPr>
          <p:cNvGraphicFramePr>
            <a:graphicFrameLocks noChangeAspect="1"/>
          </p:cNvGraphicFramePr>
          <p:nvPr/>
        </p:nvGraphicFramePr>
        <p:xfrm>
          <a:off x="1196976" y="1327992"/>
          <a:ext cx="4638675" cy="990600"/>
        </p:xfrm>
        <a:graphic>
          <a:graphicData uri="http://schemas.openxmlformats.org/presentationml/2006/ole">
            <mc:AlternateContent xmlns:mc="http://schemas.openxmlformats.org/markup-compatibility/2006">
              <mc:Choice xmlns:v="urn:schemas-microsoft-com:vml" Requires="v">
                <p:oleObj spid="_x0000_s2052" name="Equation" r:id="rId3" imgW="2616120" imgH="558720" progId="Equation.DSMT4">
                  <p:embed/>
                </p:oleObj>
              </mc:Choice>
              <mc:Fallback>
                <p:oleObj name="Equation" r:id="rId3" imgW="2616120" imgH="558720" progId="Equation.DSMT4">
                  <p:embed/>
                  <p:pic>
                    <p:nvPicPr>
                      <p:cNvPr id="30" name="对象 27">
                        <a:extLst>
                          <a:ext uri="{FF2B5EF4-FFF2-40B4-BE49-F238E27FC236}">
                            <a16:creationId xmlns:a16="http://schemas.microsoft.com/office/drawing/2014/main" id="{C7BF2690-5EFD-4B0B-A8F6-6F5C61103E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976" y="1327992"/>
                        <a:ext cx="46386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矩形 28">
            <a:extLst>
              <a:ext uri="{FF2B5EF4-FFF2-40B4-BE49-F238E27FC236}">
                <a16:creationId xmlns:a16="http://schemas.microsoft.com/office/drawing/2014/main" id="{0615FEAA-F6F2-476F-8C61-0889A6E12448}"/>
              </a:ext>
            </a:extLst>
          </p:cNvPr>
          <p:cNvSpPr>
            <a:spLocks noChangeArrowheads="1"/>
          </p:cNvSpPr>
          <p:nvPr/>
        </p:nvSpPr>
        <p:spPr bwMode="auto">
          <a:xfrm>
            <a:off x="6088063" y="1615330"/>
            <a:ext cx="2286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88900" marR="0" lvl="2"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zh-CN" altLang="en-US"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当</a:t>
            </a: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en-US" altLang="zh-CN" sz="1800" b="1" i="1" u="none" strike="noStrike" kern="1200" cap="none" spc="0" normalizeH="0" baseline="0" noProof="0" dirty="0">
                <a:ln>
                  <a:noFill/>
                </a:ln>
                <a:solidFill>
                  <a:prstClr val="black"/>
                </a:solidFill>
                <a:effectLst/>
                <a:uLnTx/>
                <a:uFillTx/>
                <a:latin typeface="宋体" pitchFamily="2" charset="-122"/>
                <a:ea typeface="宋体" pitchFamily="2" charset="-122"/>
                <a:cs typeface="Times New Roman" pitchFamily="18" charset="0"/>
              </a:rPr>
              <a:t>t </a:t>
            </a: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Times New Roman" pitchFamily="18" charset="0"/>
              </a:rPr>
              <a:t>≥0</a:t>
            </a:r>
          </a:p>
        </p:txBody>
      </p:sp>
    </p:spTree>
    <p:extLst>
      <p:ext uri="{BB962C8B-B14F-4D97-AF65-F5344CB8AC3E}">
        <p14:creationId xmlns:p14="http://schemas.microsoft.com/office/powerpoint/2010/main" val="2019868800"/>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2" name="Slide Number Placeholder 1">
            <a:extLst>
              <a:ext uri="{FF2B5EF4-FFF2-40B4-BE49-F238E27FC236}">
                <a16:creationId xmlns:a16="http://schemas.microsoft.com/office/drawing/2014/main" id="{728AEDEC-64F4-40C5-BEC5-71A46A79C1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
        <p:nvSpPr>
          <p:cNvPr id="6" name="Text Box 41">
            <a:extLst>
              <a:ext uri="{FF2B5EF4-FFF2-40B4-BE49-F238E27FC236}">
                <a16:creationId xmlns:a16="http://schemas.microsoft.com/office/drawing/2014/main" id="{5079D157-6BA6-4C75-A49C-4B9498EB0816}"/>
              </a:ext>
            </a:extLst>
          </p:cNvPr>
          <p:cNvSpPr txBox="1">
            <a:spLocks noChangeArrowheads="1"/>
          </p:cNvSpPr>
          <p:nvPr/>
        </p:nvSpPr>
        <p:spPr bwMode="auto">
          <a:xfrm>
            <a:off x="1938358" y="5100741"/>
            <a:ext cx="541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13-4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由幅频特性求时间常数</a:t>
            </a:r>
            <a:r>
              <a:rPr kumimoji="0" lang="el-GR" altLang="zh-CN" sz="2400" b="1" i="1" u="none" strike="noStrike" kern="1200" cap="none" spc="0" normalizeH="0" baseline="0" noProof="0" dirty="0">
                <a:ln>
                  <a:noFill/>
                </a:ln>
                <a:solidFill>
                  <a:srgbClr val="3333CC"/>
                </a:solidFill>
                <a:effectLst/>
                <a:uLnTx/>
                <a:uFillTx/>
                <a:latin typeface="等线"/>
                <a:ea typeface="宋体" pitchFamily="2" charset="-122"/>
                <a:cs typeface="+mn-cs"/>
              </a:rPr>
              <a:t>τ</a:t>
            </a:r>
            <a:endParaRPr kumimoji="0" lang="en-US" altLang="zh-CN" sz="2400" b="1" i="1" u="none" strike="noStrike" kern="1200" cap="none" spc="0" normalizeH="0" baseline="0" noProof="0" dirty="0">
              <a:ln>
                <a:noFill/>
              </a:ln>
              <a:solidFill>
                <a:srgbClr val="3333CC"/>
              </a:solidFill>
              <a:effectLst/>
              <a:uLnTx/>
              <a:uFillTx/>
              <a:latin typeface="宋体" pitchFamily="2" charset="-122"/>
              <a:ea typeface="宋体" pitchFamily="2" charset="-122"/>
              <a:cs typeface="+mn-cs"/>
            </a:endParaRPr>
          </a:p>
        </p:txBody>
      </p:sp>
      <p:graphicFrame>
        <p:nvGraphicFramePr>
          <p:cNvPr id="7" name="Object 42">
            <a:extLst>
              <a:ext uri="{FF2B5EF4-FFF2-40B4-BE49-F238E27FC236}">
                <a16:creationId xmlns:a16="http://schemas.microsoft.com/office/drawing/2014/main" id="{3660E8A5-CDA1-4BF7-8D62-C526BBA7D1BB}"/>
              </a:ext>
            </a:extLst>
          </p:cNvPr>
          <p:cNvGraphicFramePr>
            <a:graphicFrameLocks noChangeAspect="1"/>
          </p:cNvGraphicFramePr>
          <p:nvPr/>
        </p:nvGraphicFramePr>
        <p:xfrm>
          <a:off x="744721" y="1487488"/>
          <a:ext cx="7513638" cy="3525837"/>
        </p:xfrm>
        <a:graphic>
          <a:graphicData uri="http://schemas.openxmlformats.org/presentationml/2006/ole">
            <mc:AlternateContent xmlns:mc="http://schemas.openxmlformats.org/markup-compatibility/2006">
              <mc:Choice xmlns:v="urn:schemas-microsoft-com:vml" Requires="v">
                <p:oleObj spid="_x0000_s3076" name="Flash 影片" r:id="rId3" imgW="6606360" imgH="2876040" progId="Flash.Movie">
                  <p:embed/>
                </p:oleObj>
              </mc:Choice>
              <mc:Fallback>
                <p:oleObj name="Flash 影片" r:id="rId3" imgW="6606360" imgH="2876040" progId="Flash.Movie">
                  <p:embed/>
                  <p:pic>
                    <p:nvPicPr>
                      <p:cNvPr id="7" name="Object 42">
                        <a:extLst>
                          <a:ext uri="{FF2B5EF4-FFF2-40B4-BE49-F238E27FC236}">
                            <a16:creationId xmlns:a16="http://schemas.microsoft.com/office/drawing/2014/main" id="{3660E8A5-CDA1-4BF7-8D62-C526BBA7D1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721" y="1487488"/>
                        <a:ext cx="7513638" cy="35258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99761840"/>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13.2</a:t>
            </a:r>
          </a:p>
        </p:txBody>
      </p:sp>
      <p:sp>
        <p:nvSpPr>
          <p:cNvPr id="26" name="矩形 25"/>
          <p:cNvSpPr/>
          <p:nvPr/>
        </p:nvSpPr>
        <p:spPr>
          <a:xfrm>
            <a:off x="1960201" y="329520"/>
            <a:ext cx="456085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传感器的动态特性标定</a:t>
            </a:r>
          </a:p>
        </p:txBody>
      </p:sp>
      <p:sp>
        <p:nvSpPr>
          <p:cNvPr id="2" name="Slide Number Placeholder 1">
            <a:extLst>
              <a:ext uri="{FF2B5EF4-FFF2-40B4-BE49-F238E27FC236}">
                <a16:creationId xmlns:a16="http://schemas.microsoft.com/office/drawing/2014/main" id="{728AEDEC-64F4-40C5-BEC5-71A46A79C1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
        <p:nvSpPr>
          <p:cNvPr id="6" name="Text Box 43">
            <a:extLst>
              <a:ext uri="{FF2B5EF4-FFF2-40B4-BE49-F238E27FC236}">
                <a16:creationId xmlns:a16="http://schemas.microsoft.com/office/drawing/2014/main" id="{515D26D6-3836-49DB-B434-F98ECC898D0A}"/>
              </a:ext>
            </a:extLst>
          </p:cNvPr>
          <p:cNvSpPr txBox="1">
            <a:spLocks noChangeArrowheads="1"/>
          </p:cNvSpPr>
          <p:nvPr/>
        </p:nvSpPr>
        <p:spPr bwMode="auto">
          <a:xfrm>
            <a:off x="2100486" y="5746438"/>
            <a:ext cx="601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13-5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欠阻尼二阶装置的</a:t>
            </a:r>
            <a:r>
              <a:rPr kumimoji="0" lang="en-US" altLang="zh-CN" sz="2400" b="1" i="1" u="none" strike="noStrike" kern="1200" cap="none" spc="0" normalizeH="0" baseline="0" noProof="0" dirty="0">
                <a:ln>
                  <a:noFill/>
                </a:ln>
                <a:solidFill>
                  <a:srgbClr val="3333CC"/>
                </a:solidFill>
                <a:effectLst/>
                <a:uLnTx/>
                <a:uFillTx/>
                <a:latin typeface="宋体" pitchFamily="2" charset="-122"/>
                <a:ea typeface="宋体" pitchFamily="2" charset="-122"/>
                <a:cs typeface="+mn-cs"/>
              </a:rPr>
              <a:t>ξ</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和</a:t>
            </a:r>
            <a:r>
              <a:rPr kumimoji="0" lang="en-US" altLang="zh-CN" sz="2400" b="1" i="1" u="none" strike="noStrike" kern="1200" cap="none" spc="0" normalizeH="0" baseline="0" noProof="0" dirty="0" err="1">
                <a:ln>
                  <a:noFill/>
                </a:ln>
                <a:solidFill>
                  <a:srgbClr val="3333CC"/>
                </a:solidFill>
                <a:effectLst/>
                <a:uLnTx/>
                <a:uFillTx/>
                <a:latin typeface="宋体" pitchFamily="2" charset="-122"/>
                <a:ea typeface="宋体" pitchFamily="2" charset="-122"/>
                <a:cs typeface="+mn-cs"/>
              </a:rPr>
              <a:t>ω</a:t>
            </a:r>
            <a:r>
              <a:rPr kumimoji="0" lang="en-US" altLang="zh-CN" sz="2400" b="1" i="1" u="none" strike="noStrike" kern="1200" cap="none" spc="0" normalizeH="0" baseline="-25000" noProof="0" dirty="0" err="1">
                <a:ln>
                  <a:noFill/>
                </a:ln>
                <a:solidFill>
                  <a:srgbClr val="3333CC"/>
                </a:solidFill>
                <a:effectLst/>
                <a:uLnTx/>
                <a:uFillTx/>
                <a:latin typeface="宋体" pitchFamily="2" charset="-122"/>
                <a:ea typeface="宋体" pitchFamily="2" charset="-122"/>
                <a:cs typeface="+mn-cs"/>
              </a:rPr>
              <a:t>n</a:t>
            </a:r>
            <a:endParaRPr kumimoji="0" lang="en-US" altLang="zh-CN" sz="2400" b="1" i="1" u="none" strike="noStrike" kern="1200" cap="none" spc="0" normalizeH="0" baseline="-25000" noProof="0" dirty="0">
              <a:ln>
                <a:noFill/>
              </a:ln>
              <a:solidFill>
                <a:srgbClr val="3333CC"/>
              </a:solidFill>
              <a:effectLst/>
              <a:uLnTx/>
              <a:uFillTx/>
              <a:latin typeface="宋体" pitchFamily="2" charset="-122"/>
              <a:ea typeface="宋体" pitchFamily="2" charset="-122"/>
              <a:cs typeface="+mn-cs"/>
            </a:endParaRPr>
          </a:p>
        </p:txBody>
      </p:sp>
      <p:graphicFrame>
        <p:nvGraphicFramePr>
          <p:cNvPr id="7" name="Object 44">
            <a:extLst>
              <a:ext uri="{FF2B5EF4-FFF2-40B4-BE49-F238E27FC236}">
                <a16:creationId xmlns:a16="http://schemas.microsoft.com/office/drawing/2014/main" id="{CDDD2E47-821D-49C8-A6DB-12333DB9ECDD}"/>
              </a:ext>
            </a:extLst>
          </p:cNvPr>
          <p:cNvGraphicFramePr>
            <a:graphicFrameLocks noChangeAspect="1"/>
          </p:cNvGraphicFramePr>
          <p:nvPr/>
        </p:nvGraphicFramePr>
        <p:xfrm>
          <a:off x="641350" y="1525276"/>
          <a:ext cx="7740650" cy="4221162"/>
        </p:xfrm>
        <a:graphic>
          <a:graphicData uri="http://schemas.openxmlformats.org/presentationml/2006/ole">
            <mc:AlternateContent xmlns:mc="http://schemas.openxmlformats.org/markup-compatibility/2006">
              <mc:Choice xmlns:v="urn:schemas-microsoft-com:vml" Requires="v">
                <p:oleObj spid="_x0000_s4100" name="Flash 影片" r:id="rId3" imgW="6222960" imgH="3137040" progId="Flash.Movie">
                  <p:embed/>
                </p:oleObj>
              </mc:Choice>
              <mc:Fallback>
                <p:oleObj name="Flash 影片" r:id="rId3" imgW="6222960" imgH="3137040" progId="Flash.Movie">
                  <p:embed/>
                  <p:pic>
                    <p:nvPicPr>
                      <p:cNvPr id="7" name="Object 44">
                        <a:extLst>
                          <a:ext uri="{FF2B5EF4-FFF2-40B4-BE49-F238E27FC236}">
                            <a16:creationId xmlns:a16="http://schemas.microsoft.com/office/drawing/2014/main" id="{CDDD2E47-821D-49C8-A6DB-12333DB9EC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350" y="1525276"/>
                        <a:ext cx="7740650" cy="42211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7253804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a:t>
            </a:r>
          </a:p>
        </p:txBody>
      </p:sp>
      <p:sp>
        <p:nvSpPr>
          <p:cNvPr id="33" name="矩形 32"/>
          <p:cNvSpPr/>
          <p:nvPr/>
        </p:nvSpPr>
        <p:spPr>
          <a:xfrm>
            <a:off x="1960201" y="329520"/>
            <a:ext cx="368561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测振传感器的标定</a:t>
            </a:r>
          </a:p>
        </p:txBody>
      </p:sp>
      <p:sp>
        <p:nvSpPr>
          <p:cNvPr id="48" name="Rectangle 15"/>
          <p:cNvSpPr>
            <a:spLocks noRot="1" noChangeArrowheads="1"/>
          </p:cNvSpPr>
          <p:nvPr/>
        </p:nvSpPr>
        <p:spPr bwMode="auto">
          <a:xfrm>
            <a:off x="81274" y="1441678"/>
            <a:ext cx="8825567"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62230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测振仪性能的全面标定只是由制造单位或研究部门进</a:t>
            </a:r>
            <a:r>
              <a:rPr kumimoji="0"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mn-cs"/>
              </a:rPr>
              <a:t>行。</a:t>
            </a:r>
            <a:endPar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62230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mn-cs"/>
              </a:rPr>
              <a:t>在</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一般使用单位和使用场合，主要标定其灵敏度、频率特性和动态线性范围。</a:t>
            </a:r>
          </a:p>
        </p:txBody>
      </p:sp>
      <p:sp>
        <p:nvSpPr>
          <p:cNvPr id="53" name="圆角矩形 72">
            <a:extLst>
              <a:ext uri="{FF2B5EF4-FFF2-40B4-BE49-F238E27FC236}">
                <a16:creationId xmlns:a16="http://schemas.microsoft.com/office/drawing/2014/main" id="{343D7C8A-72E9-4E11-82F9-04D1F37F1B07}"/>
              </a:ext>
            </a:extLst>
          </p:cNvPr>
          <p:cNvSpPr/>
          <p:nvPr/>
        </p:nvSpPr>
        <p:spPr>
          <a:xfrm rot="10800000" flipV="1">
            <a:off x="2638055" y="3454246"/>
            <a:ext cx="1392152"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13.3.1</a:t>
            </a:r>
            <a:endPar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54" name="圆角矩形 73">
            <a:extLst>
              <a:ext uri="{FF2B5EF4-FFF2-40B4-BE49-F238E27FC236}">
                <a16:creationId xmlns:a16="http://schemas.microsoft.com/office/drawing/2014/main" id="{7997A031-0667-4F3B-9AA0-BAB02B443096}"/>
              </a:ext>
            </a:extLst>
          </p:cNvPr>
          <p:cNvSpPr/>
          <p:nvPr/>
        </p:nvSpPr>
        <p:spPr>
          <a:xfrm rot="10800000" flipV="1">
            <a:off x="2638054" y="4518746"/>
            <a:ext cx="139215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13.3.2</a:t>
            </a:r>
            <a:endPar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55" name="文本框 5">
            <a:extLst>
              <a:ext uri="{FF2B5EF4-FFF2-40B4-BE49-F238E27FC236}">
                <a16:creationId xmlns:a16="http://schemas.microsoft.com/office/drawing/2014/main" id="{A27B0E45-CC10-4805-AF7A-2E101778D64D}"/>
              </a:ext>
            </a:extLst>
          </p:cNvPr>
          <p:cNvSpPr txBox="1"/>
          <p:nvPr/>
        </p:nvSpPr>
        <p:spPr>
          <a:xfrm>
            <a:off x="4481358" y="3365509"/>
            <a:ext cx="1988037" cy="523216"/>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rId2" action="ppaction://hlinksldjump"/>
              </a:rPr>
              <a:t>绝对标定法</a:t>
            </a:r>
            <a:endParaRPr kumimoji="0" lang="zh-CN" altLang="en-US" sz="28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56" name="文本框 6">
            <a:extLst>
              <a:ext uri="{FF2B5EF4-FFF2-40B4-BE49-F238E27FC236}">
                <a16:creationId xmlns:a16="http://schemas.microsoft.com/office/drawing/2014/main" id="{C5E02233-70AC-4B95-A962-4BEC802A95C6}"/>
              </a:ext>
            </a:extLst>
          </p:cNvPr>
          <p:cNvSpPr txBox="1"/>
          <p:nvPr/>
        </p:nvSpPr>
        <p:spPr>
          <a:xfrm>
            <a:off x="4481358" y="4429205"/>
            <a:ext cx="1988037" cy="523216"/>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hlinkClick r:id="rId3" action="ppaction://hlinksldjump"/>
              </a:rPr>
              <a:t>比较标定法</a:t>
            </a:r>
            <a:endParaRPr kumimoji="0" lang="zh-CN" altLang="en-US" sz="2800" b="1" i="0" u="none" strike="noStrike" kern="1200" cap="none" spc="0" normalizeH="0" baseline="0" noProof="0" dirty="0">
              <a:ln>
                <a:noFill/>
              </a:ln>
              <a:solidFill>
                <a:srgbClr val="44546A"/>
              </a:solidFill>
              <a:effectLst/>
              <a:uLnTx/>
              <a:uFillTx/>
              <a:latin typeface="宋体" panose="02010600030101010101" pitchFamily="2" charset="-122"/>
              <a:ea typeface="宋体" panose="02010600030101010101" pitchFamily="2" charset="-122"/>
              <a:cs typeface="+mn-cs"/>
            </a:endParaRPr>
          </a:p>
        </p:txBody>
      </p:sp>
      <p:sp>
        <p:nvSpPr>
          <p:cNvPr id="2" name="Slide Number Placeholder 1">
            <a:extLst>
              <a:ext uri="{FF2B5EF4-FFF2-40B4-BE49-F238E27FC236}">
                <a16:creationId xmlns:a16="http://schemas.microsoft.com/office/drawing/2014/main" id="{2A87F70F-E6C6-4B01-B705-FD8D1C9454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640789860"/>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0" name="圆角矩形 2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13.3.1</a:t>
            </a:r>
          </a:p>
        </p:txBody>
      </p:sp>
      <p:sp>
        <p:nvSpPr>
          <p:cNvPr id="33" name="矩形 32"/>
          <p:cNvSpPr/>
          <p:nvPr/>
        </p:nvSpPr>
        <p:spPr>
          <a:xfrm>
            <a:off x="1960201" y="329520"/>
            <a:ext cx="2372757"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绝对标定法</a:t>
            </a:r>
          </a:p>
        </p:txBody>
      </p:sp>
      <p:sp>
        <p:nvSpPr>
          <p:cNvPr id="28" name="Text Box 30"/>
          <p:cNvSpPr txBox="1">
            <a:spLocks noChangeArrowheads="1"/>
          </p:cNvSpPr>
          <p:nvPr/>
        </p:nvSpPr>
        <p:spPr bwMode="auto">
          <a:xfrm>
            <a:off x="412750" y="2127250"/>
            <a:ext cx="8540750"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2"/>
                </a:solidFill>
                <a:latin typeface="Arial" charset="0"/>
                <a:ea typeface="宋体" charset="-122"/>
              </a:defRPr>
            </a:lvl1pPr>
            <a:lvl2pPr marL="742950" indent="-285750" eaLnBrk="0" hangingPunct="0">
              <a:defRPr sz="2400" b="1">
                <a:solidFill>
                  <a:schemeClr val="tx2"/>
                </a:solidFill>
                <a:latin typeface="Arial" charset="0"/>
                <a:ea typeface="宋体" charset="-122"/>
              </a:defRPr>
            </a:lvl2pPr>
            <a:lvl3pPr marL="1143000" indent="-228600" eaLnBrk="0" hangingPunct="0">
              <a:defRPr sz="2400" b="1">
                <a:solidFill>
                  <a:schemeClr val="tx2"/>
                </a:solidFill>
                <a:latin typeface="Arial" charset="0"/>
                <a:ea typeface="宋体" charset="-122"/>
              </a:defRPr>
            </a:lvl3pPr>
            <a:lvl4pPr marL="1600200" indent="-228600" eaLnBrk="0" hangingPunct="0">
              <a:defRPr sz="2400" b="1">
                <a:solidFill>
                  <a:schemeClr val="tx2"/>
                </a:solidFill>
                <a:latin typeface="Arial" charset="0"/>
                <a:ea typeface="宋体" charset="-122"/>
              </a:defRPr>
            </a:lvl4pPr>
            <a:lvl5pPr marL="2057400" indent="-228600" eaLnBrk="0" hangingPunct="0">
              <a:defRPr sz="24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2400" b="1">
                <a:solidFill>
                  <a:schemeClr val="tx2"/>
                </a:solidFill>
                <a:latin typeface="Arial" charset="0"/>
                <a:ea typeface="宋体" charset="-122"/>
              </a:defRPr>
            </a:lvl9pPr>
          </a:lstStyle>
          <a:p>
            <a:pPr marL="0" marR="0" lvl="0" indent="622300" algn="l" defTabSz="914400" rtl="0" eaLnBrk="1" fontAlgn="auto" latinLnBrk="0" hangingPunct="1">
              <a:lnSpc>
                <a:spcPct val="150000"/>
              </a:lnSpc>
              <a:spcBef>
                <a:spcPts val="0"/>
              </a:spcBef>
              <a:spcAft>
                <a:spcPts val="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我国目前的振动计量基准采用激光光波长度作为振幅量值的绝对基准。激光干涉基准系统复杂且昂贵，一经安装调试后不能移动，需要二等标准的测振仪作为传递基</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准。</a:t>
            </a:r>
            <a:endPar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p:txBody>
      </p:sp>
      <p:sp>
        <p:nvSpPr>
          <p:cNvPr id="2" name="Slide Number Placeholder 1">
            <a:extLst>
              <a:ext uri="{FF2B5EF4-FFF2-40B4-BE49-F238E27FC236}">
                <a16:creationId xmlns:a16="http://schemas.microsoft.com/office/drawing/2014/main" id="{EBE8E6BB-3CA6-4CD3-9F6E-34D2587927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2872665769"/>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3" descr="9.8">
            <a:extLst>
              <a:ext uri="{FF2B5EF4-FFF2-40B4-BE49-F238E27FC236}">
                <a16:creationId xmlns:a16="http://schemas.microsoft.com/office/drawing/2014/main" id="{667863CC-EE8D-4763-B120-B4F0528EB8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19118"/>
          <a:stretch>
            <a:fillRect/>
          </a:stretch>
        </p:blipFill>
        <p:spPr bwMode="auto">
          <a:xfrm>
            <a:off x="4516394" y="1166774"/>
            <a:ext cx="4578350" cy="2289175"/>
          </a:xfrm>
          <a:prstGeom prst="rect">
            <a:avLst/>
          </a:prstGeom>
          <a:noFill/>
          <a:extLst>
            <a:ext uri="{909E8E84-426E-40DD-AFC4-6F175D3DCCD1}">
              <a14:hiddenFill xmlns:a14="http://schemas.microsoft.com/office/drawing/2010/main">
                <a:solidFill>
                  <a:srgbClr val="FFFFFF"/>
                </a:solidFill>
              </a14:hiddenFill>
            </a:ext>
          </a:extLst>
        </p:spPr>
      </p:pic>
      <p:sp>
        <p:nvSpPr>
          <p:cNvPr id="27" name="矩形 26"/>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13.3.2</a:t>
            </a:r>
          </a:p>
        </p:txBody>
      </p:sp>
      <p:sp>
        <p:nvSpPr>
          <p:cNvPr id="48" name="矩形 47"/>
          <p:cNvSpPr/>
          <p:nvPr/>
        </p:nvSpPr>
        <p:spPr>
          <a:xfrm>
            <a:off x="1960201" y="329520"/>
            <a:ext cx="2372757"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比较标定法</a:t>
            </a:r>
          </a:p>
        </p:txBody>
      </p:sp>
      <p:sp>
        <p:nvSpPr>
          <p:cNvPr id="2" name="Slide Number Placeholder 1">
            <a:extLst>
              <a:ext uri="{FF2B5EF4-FFF2-40B4-BE49-F238E27FC236}">
                <a16:creationId xmlns:a16="http://schemas.microsoft.com/office/drawing/2014/main" id="{D2FADBB8-6259-416D-B2BD-4CED7F8521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
        <p:nvSpPr>
          <p:cNvPr id="22" name="Text Box 5">
            <a:extLst>
              <a:ext uri="{FF2B5EF4-FFF2-40B4-BE49-F238E27FC236}">
                <a16:creationId xmlns:a16="http://schemas.microsoft.com/office/drawing/2014/main" id="{656ACC5F-9370-47F2-900F-EAACB003F7C1}"/>
              </a:ext>
            </a:extLst>
          </p:cNvPr>
          <p:cNvSpPr txBox="1">
            <a:spLocks noChangeArrowheads="1"/>
          </p:cNvSpPr>
          <p:nvPr/>
        </p:nvSpPr>
        <p:spPr bwMode="auto">
          <a:xfrm>
            <a:off x="4662444" y="3331517"/>
            <a:ext cx="44323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13-6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“背靠背”比较标定法标定系统</a:t>
            </a:r>
          </a:p>
        </p:txBody>
      </p:sp>
      <p:sp>
        <p:nvSpPr>
          <p:cNvPr id="23" name="Rectangle 6">
            <a:extLst>
              <a:ext uri="{FF2B5EF4-FFF2-40B4-BE49-F238E27FC236}">
                <a16:creationId xmlns:a16="http://schemas.microsoft.com/office/drawing/2014/main" id="{F891F9B3-F753-48C3-8EED-D1850589A086}"/>
              </a:ext>
            </a:extLst>
          </p:cNvPr>
          <p:cNvSpPr>
            <a:spLocks noChangeArrowheads="1"/>
          </p:cNvSpPr>
          <p:nvPr/>
        </p:nvSpPr>
        <p:spPr bwMode="auto">
          <a:xfrm>
            <a:off x="185083" y="1371422"/>
            <a:ext cx="4386917" cy="5008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将被标的测振传感器和标准测振传感器相比</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较。</a:t>
            </a:r>
            <a:endPar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在标</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定时，二者同时安装在标准振动台</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上。</a:t>
            </a:r>
            <a:endPar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设</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标准测振传感器和被标测振传感器在受到同一振动量时，输出分别为</a:t>
            </a:r>
            <a:r>
              <a:rPr kumimoji="0" lang="en-US" altLang="zh-CN" sz="2400" b="1" i="1"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E</a:t>
            </a:r>
            <a:r>
              <a:rPr kumimoji="0" lang="en-US" altLang="zh-CN" sz="2400" b="1" i="0" u="none" strike="noStrike" kern="1200" cap="none" spc="0" normalizeH="0" baseline="-25000" noProof="0" dirty="0">
                <a:ln>
                  <a:noFill/>
                </a:ln>
                <a:solidFill>
                  <a:prstClr val="black"/>
                </a:solidFill>
                <a:effectLst/>
                <a:uLnTx/>
                <a:uFillTx/>
                <a:latin typeface="Times New Roman" pitchFamily="18" charset="0"/>
                <a:ea typeface="宋体" pitchFamily="2" charset="-122"/>
                <a:cs typeface="Times New Roman" pitchFamily="18" charset="0"/>
              </a:rPr>
              <a:t>0</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和</a:t>
            </a:r>
            <a:r>
              <a:rPr kumimoji="0" lang="en-US" altLang="zh-CN" sz="2400" b="1" i="1"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E</a:t>
            </a:r>
            <a:r>
              <a:rPr kumimoji="0" lang="zh-CN" altLang="en-US" sz="2400" b="1" i="1"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a:t>
            </a:r>
            <a:endParaRPr kumimoji="0" lang="en-US" altLang="zh-CN" sz="2400" b="1" i="1"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已知标准测振传感器的加速度灵敏度为</a:t>
            </a:r>
            <a:r>
              <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Sa0</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a:t>
            </a:r>
            <a:endPar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p:txBody>
      </p:sp>
      <p:graphicFrame>
        <p:nvGraphicFramePr>
          <p:cNvPr id="24" name="Object 22">
            <a:extLst>
              <a:ext uri="{FF2B5EF4-FFF2-40B4-BE49-F238E27FC236}">
                <a16:creationId xmlns:a16="http://schemas.microsoft.com/office/drawing/2014/main" id="{8149E6A2-4601-4BA3-9E15-881443DF0AB1}"/>
              </a:ext>
            </a:extLst>
          </p:cNvPr>
          <p:cNvGraphicFramePr>
            <a:graphicFrameLocks noChangeAspect="1"/>
          </p:cNvGraphicFramePr>
          <p:nvPr/>
        </p:nvGraphicFramePr>
        <p:xfrm>
          <a:off x="6178550" y="5432679"/>
          <a:ext cx="1460269" cy="886126"/>
        </p:xfrm>
        <a:graphic>
          <a:graphicData uri="http://schemas.openxmlformats.org/presentationml/2006/ole">
            <mc:AlternateContent xmlns:mc="http://schemas.openxmlformats.org/markup-compatibility/2006">
              <mc:Choice xmlns:v="urn:schemas-microsoft-com:vml" Requires="v">
                <p:oleObj spid="_x0000_s5124" name="Equation" r:id="rId4" imgW="927000" imgH="558720" progId="Equation.DSMT4">
                  <p:embed/>
                </p:oleObj>
              </mc:Choice>
              <mc:Fallback>
                <p:oleObj name="Equation" r:id="rId4" imgW="927000" imgH="558720" progId="Equation.DSMT4">
                  <p:embed/>
                  <p:pic>
                    <p:nvPicPr>
                      <p:cNvPr id="24" name="Object 22">
                        <a:extLst>
                          <a:ext uri="{FF2B5EF4-FFF2-40B4-BE49-F238E27FC236}">
                            <a16:creationId xmlns:a16="http://schemas.microsoft.com/office/drawing/2014/main" id="{8149E6A2-4601-4BA3-9E15-881443DF0AB1}"/>
                          </a:ext>
                        </a:extLst>
                      </p:cNvPr>
                      <p:cNvPicPr>
                        <a:picLocks noChangeAspect="1" noChangeArrowheads="1"/>
                      </p:cNvPicPr>
                      <p:nvPr/>
                    </p:nvPicPr>
                    <p:blipFill>
                      <a:blip r:embed="rId5"/>
                      <a:srcRect/>
                      <a:stretch>
                        <a:fillRect/>
                      </a:stretch>
                    </p:blipFill>
                    <p:spPr bwMode="auto">
                      <a:xfrm>
                        <a:off x="6178550" y="5432679"/>
                        <a:ext cx="1460269" cy="886126"/>
                      </a:xfrm>
                      <a:prstGeom prst="rect">
                        <a:avLst/>
                      </a:prstGeom>
                      <a:solidFill>
                        <a:srgbClr val="FFC000"/>
                      </a:solidFill>
                      <a:ln>
                        <a:noFill/>
                      </a:ln>
                    </p:spPr>
                  </p:pic>
                </p:oleObj>
              </mc:Fallback>
            </mc:AlternateContent>
          </a:graphicData>
        </a:graphic>
      </p:graphicFrame>
      <p:sp>
        <p:nvSpPr>
          <p:cNvPr id="25" name="矩形 2">
            <a:extLst>
              <a:ext uri="{FF2B5EF4-FFF2-40B4-BE49-F238E27FC236}">
                <a16:creationId xmlns:a16="http://schemas.microsoft.com/office/drawing/2014/main" id="{36D85926-8F69-4986-9C69-B546F95E323C}"/>
              </a:ext>
            </a:extLst>
          </p:cNvPr>
          <p:cNvSpPr/>
          <p:nvPr/>
        </p:nvSpPr>
        <p:spPr>
          <a:xfrm>
            <a:off x="4688582" y="4258452"/>
            <a:ext cx="3710186" cy="1000980"/>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可以计算被标测振传感器的加速度灵敏</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度</a:t>
            </a:r>
            <a:r>
              <a:rPr kumimoji="0" lang="en-US" altLang="zh-CN" sz="2400" b="1" i="1"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S</a:t>
            </a:r>
            <a:r>
              <a:rPr kumimoji="0" lang="en-US" altLang="zh-CN" sz="2400" b="1" i="1" u="none" strike="noStrike" kern="1200" cap="none" spc="0" normalizeH="0" baseline="-25000" noProof="0">
                <a:ln>
                  <a:noFill/>
                </a:ln>
                <a:solidFill>
                  <a:prstClr val="black"/>
                </a:solidFill>
                <a:effectLst/>
                <a:uLnTx/>
                <a:uFillTx/>
                <a:latin typeface="Times New Roman" pitchFamily="18" charset="0"/>
                <a:ea typeface="宋体" pitchFamily="2" charset="-122"/>
                <a:cs typeface="Times New Roman" pitchFamily="18" charset="0"/>
              </a:rPr>
              <a:t>a</a:t>
            </a:r>
            <a:r>
              <a:rPr kumimoji="0" lang="zh-CN" altLang="en-US"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为：</a:t>
            </a:r>
            <a:endPar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267754902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4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13.4</a:t>
            </a:r>
          </a:p>
        </p:txBody>
      </p:sp>
      <p:sp>
        <p:nvSpPr>
          <p:cNvPr id="25" name="矩形 24"/>
          <p:cNvSpPr/>
          <p:nvPr/>
        </p:nvSpPr>
        <p:spPr>
          <a:xfrm>
            <a:off x="1960201" y="329520"/>
            <a:ext cx="3685616"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压力传感器的标定</a:t>
            </a:r>
          </a:p>
        </p:txBody>
      </p:sp>
      <p:sp>
        <p:nvSpPr>
          <p:cNvPr id="40" name="圆角矩形 72">
            <a:extLst>
              <a:ext uri="{FF2B5EF4-FFF2-40B4-BE49-F238E27FC236}">
                <a16:creationId xmlns:a16="http://schemas.microsoft.com/office/drawing/2014/main" id="{343D7C8A-72E9-4E11-82F9-04D1F37F1B07}"/>
              </a:ext>
            </a:extLst>
          </p:cNvPr>
          <p:cNvSpPr/>
          <p:nvPr/>
        </p:nvSpPr>
        <p:spPr>
          <a:xfrm rot="10800000" flipV="1">
            <a:off x="2339115" y="4359373"/>
            <a:ext cx="1392152" cy="468852"/>
          </a:xfrm>
          <a:prstGeom prst="roundRect">
            <a:avLst>
              <a:gd name="adj" fmla="val 5039"/>
            </a:avLst>
          </a:prstGeom>
          <a:solidFill>
            <a:schemeClr val="bg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13.4.1</a:t>
            </a:r>
            <a:endPar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41" name="圆角矩形 73">
            <a:extLst>
              <a:ext uri="{FF2B5EF4-FFF2-40B4-BE49-F238E27FC236}">
                <a16:creationId xmlns:a16="http://schemas.microsoft.com/office/drawing/2014/main" id="{7997A031-0667-4F3B-9AA0-BAB02B443096}"/>
              </a:ext>
            </a:extLst>
          </p:cNvPr>
          <p:cNvSpPr/>
          <p:nvPr/>
        </p:nvSpPr>
        <p:spPr>
          <a:xfrm rot="10800000" flipV="1">
            <a:off x="2339112" y="5258773"/>
            <a:ext cx="1392155" cy="467244"/>
          </a:xfrm>
          <a:prstGeom prst="roundRect">
            <a:avLst>
              <a:gd name="adj" fmla="val 5039"/>
            </a:avLst>
          </a:prstGeom>
          <a:solidFill>
            <a:schemeClr val="bg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13.4.2</a:t>
            </a:r>
            <a:endParaRPr kumimoji="0" lang="zh-CN" altLang="en-US" sz="32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42" name="文本框 5">
            <a:extLst>
              <a:ext uri="{FF2B5EF4-FFF2-40B4-BE49-F238E27FC236}">
                <a16:creationId xmlns:a16="http://schemas.microsoft.com/office/drawing/2014/main" id="{A27B0E45-CC10-4805-AF7A-2E101778D64D}"/>
              </a:ext>
            </a:extLst>
          </p:cNvPr>
          <p:cNvSpPr txBox="1"/>
          <p:nvPr/>
        </p:nvSpPr>
        <p:spPr>
          <a:xfrm>
            <a:off x="4182418" y="4359373"/>
            <a:ext cx="2709388" cy="523216"/>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lumMod val="65000"/>
                  </a:prstClr>
                </a:solidFill>
                <a:effectLst/>
                <a:uLnTx/>
                <a:uFillTx/>
                <a:latin typeface="宋体" panose="02010600030101010101" pitchFamily="2" charset="-122"/>
                <a:ea typeface="宋体" panose="02010600030101010101" pitchFamily="2" charset="-122"/>
                <a:cs typeface="+mn-cs"/>
                <a:hlinkClick r:id="rId2" action="ppaction://hlinksldjump">
                  <a:extLst>
                    <a:ext uri="{A12FA001-AC4F-418D-AE19-62706E023703}">
                      <ahyp:hlinkClr xmlns:ahyp="http://schemas.microsoft.com/office/drawing/2018/hyperlinkcolor" val="tx"/>
                    </a:ext>
                  </a:extLst>
                </a:hlinkClick>
              </a:rPr>
              <a:t>动态标定压力源</a:t>
            </a:r>
            <a:endParaRPr kumimoji="0" lang="zh-CN" altLang="en-US" sz="2800" b="1" i="0" u="none" strike="noStrike" kern="1200" cap="none" spc="0" normalizeH="0" baseline="0" noProof="0" dirty="0">
              <a:ln>
                <a:noFill/>
              </a:ln>
              <a:solidFill>
                <a:prstClr val="white">
                  <a:lumMod val="65000"/>
                </a:prstClr>
              </a:solidFill>
              <a:effectLst/>
              <a:uLnTx/>
              <a:uFillTx/>
              <a:latin typeface="宋体" panose="02010600030101010101" pitchFamily="2" charset="-122"/>
              <a:ea typeface="宋体" panose="02010600030101010101" pitchFamily="2" charset="-122"/>
              <a:cs typeface="+mn-cs"/>
            </a:endParaRPr>
          </a:p>
        </p:txBody>
      </p:sp>
      <p:sp>
        <p:nvSpPr>
          <p:cNvPr id="43" name="文本框 6">
            <a:extLst>
              <a:ext uri="{FF2B5EF4-FFF2-40B4-BE49-F238E27FC236}">
                <a16:creationId xmlns:a16="http://schemas.microsoft.com/office/drawing/2014/main" id="{C5E02233-70AC-4B95-A962-4BEC802A95C6}"/>
              </a:ext>
            </a:extLst>
          </p:cNvPr>
          <p:cNvSpPr txBox="1"/>
          <p:nvPr/>
        </p:nvSpPr>
        <p:spPr>
          <a:xfrm>
            <a:off x="4182416" y="5230787"/>
            <a:ext cx="2348712" cy="523216"/>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lumMod val="65000"/>
                  </a:prstClr>
                </a:solidFill>
                <a:effectLst/>
                <a:uLnTx/>
                <a:uFillTx/>
                <a:latin typeface="宋体" panose="02010600030101010101" pitchFamily="2" charset="-122"/>
                <a:ea typeface="宋体" panose="02010600030101010101" pitchFamily="2" charset="-122"/>
                <a:cs typeface="+mn-cs"/>
                <a:hlinkClick r:id="rId3" action="ppaction://hlinksldjump">
                  <a:extLst>
                    <a:ext uri="{A12FA001-AC4F-418D-AE19-62706E023703}">
                      <ahyp:hlinkClr xmlns:ahyp="http://schemas.microsoft.com/office/drawing/2018/hyperlinkcolor" val="tx"/>
                    </a:ext>
                  </a:extLst>
                </a:hlinkClick>
              </a:rPr>
              <a:t>激波管标定法</a:t>
            </a:r>
            <a:endParaRPr kumimoji="0" lang="zh-CN" altLang="en-US" sz="2800" b="1" i="0" u="none" strike="noStrike" kern="1200" cap="none" spc="0" normalizeH="0" baseline="0" noProof="0" dirty="0">
              <a:ln>
                <a:noFill/>
              </a:ln>
              <a:solidFill>
                <a:prstClr val="white">
                  <a:lumMod val="65000"/>
                </a:prstClr>
              </a:solidFill>
              <a:effectLst/>
              <a:uLnTx/>
              <a:uFillTx/>
              <a:latin typeface="宋体" panose="02010600030101010101" pitchFamily="2" charset="-122"/>
              <a:ea typeface="宋体" panose="02010600030101010101" pitchFamily="2" charset="-122"/>
              <a:cs typeface="+mn-cs"/>
            </a:endParaRPr>
          </a:p>
        </p:txBody>
      </p:sp>
      <p:sp>
        <p:nvSpPr>
          <p:cNvPr id="44" name="矩形 43"/>
          <p:cNvSpPr/>
          <p:nvPr/>
        </p:nvSpPr>
        <p:spPr>
          <a:xfrm>
            <a:off x="610533" y="1458367"/>
            <a:ext cx="8031817" cy="1130246"/>
          </a:xfrm>
          <a:prstGeom prst="rect">
            <a:avLst/>
          </a:prstGeom>
        </p:spPr>
        <p:txBody>
          <a:bodyPr wrap="square">
            <a:spAutoFit/>
          </a:bodyPr>
          <a:lstStyle/>
          <a:p>
            <a:pPr marL="0" marR="0" lvl="0" indent="62230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用来作为动态测量的压力传感器除了按前述方法进行静态标定外，还要进行动态标定。</a:t>
            </a:r>
          </a:p>
        </p:txBody>
      </p:sp>
      <p:sp>
        <p:nvSpPr>
          <p:cNvPr id="45" name="矩形 44"/>
          <p:cNvSpPr/>
          <p:nvPr/>
        </p:nvSpPr>
        <p:spPr>
          <a:xfrm>
            <a:off x="470366" y="2782801"/>
            <a:ext cx="8312149" cy="1130246"/>
          </a:xfrm>
          <a:prstGeom prst="rect">
            <a:avLst/>
          </a:prstGeom>
        </p:spPr>
        <p:txBody>
          <a:bodyPr wrap="square">
            <a:spAutoFit/>
          </a:bodyPr>
          <a:lstStyle/>
          <a:p>
            <a:pPr marL="0" marR="0" lvl="0" indent="62230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动态标定需要满足要求的周期</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阶跃压力源，并可靠确定压力源产生的压力</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时间关系。</a:t>
            </a:r>
          </a:p>
        </p:txBody>
      </p:sp>
      <p:sp>
        <p:nvSpPr>
          <p:cNvPr id="2" name="Slide Number Placeholder 1">
            <a:extLst>
              <a:ext uri="{FF2B5EF4-FFF2-40B4-BE49-F238E27FC236}">
                <a16:creationId xmlns:a16="http://schemas.microsoft.com/office/drawing/2014/main" id="{15C8A843-FB1C-4D29-BDC6-F2FBAB89234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84614369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27B0E45-CC10-4805-AF7A-2E101778D64D}"/>
              </a:ext>
            </a:extLst>
          </p:cNvPr>
          <p:cNvSpPr txBox="1"/>
          <p:nvPr/>
        </p:nvSpPr>
        <p:spPr>
          <a:xfrm>
            <a:off x="1960201" y="1677908"/>
            <a:ext cx="5291055" cy="4206276"/>
          </a:xfrm>
          <a:prstGeom prst="rect">
            <a:avLst/>
          </a:prstGeom>
          <a:noFill/>
        </p:spPr>
        <p:txBody>
          <a:bodyPr wrap="square" lIns="91436" tIns="45718" rIns="91436" bIns="45718" rtlCol="0">
            <a:spAutoFit/>
          </a:bodyPr>
          <a:lstStyle/>
          <a:p>
            <a:pPr marL="457200" marR="0" lvl="0" indent="-457200" algn="l" defTabSz="914400" rtl="0" eaLnBrk="1" fontAlgn="auto" latinLnBrk="0" hangingPunct="1">
              <a:lnSpc>
                <a:spcPct val="150000"/>
              </a:lnSpc>
              <a:spcBef>
                <a:spcPts val="768"/>
              </a:spcBef>
              <a:spcAft>
                <a:spcPts val="0"/>
              </a:spcAft>
              <a:buClrTx/>
              <a:buSzTx/>
              <a:buFont typeface="Arial" pitchFamily="34" charset="0"/>
              <a:buChar char="•"/>
              <a:tabLst/>
              <a:defRPr/>
            </a:pP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传感器的静态特性标定</a:t>
            </a:r>
            <a:endParaRPr kumimoji="0" lang="en-US" altLang="zh-CN"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457200" marR="0" lvl="0" indent="-457200" algn="l" defTabSz="914400" rtl="0" eaLnBrk="1" fontAlgn="auto" latinLnBrk="0" hangingPunct="1">
              <a:lnSpc>
                <a:spcPct val="150000"/>
              </a:lnSpc>
              <a:spcBef>
                <a:spcPts val="768"/>
              </a:spcBef>
              <a:spcAft>
                <a:spcPts val="0"/>
              </a:spcAft>
              <a:buClrTx/>
              <a:buSzTx/>
              <a:buFont typeface="Arial" pitchFamily="34" charset="0"/>
              <a:buChar char="•"/>
              <a:tabLst/>
              <a:defRPr/>
            </a:pP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传感器的动态特性标定</a:t>
            </a:r>
          </a:p>
          <a:p>
            <a:pPr marL="457200" marR="0" lvl="0" indent="-457200" algn="l" defTabSz="914400" rtl="0" eaLnBrk="1" fontAlgn="auto" latinLnBrk="0" hangingPunct="1">
              <a:lnSpc>
                <a:spcPct val="150000"/>
              </a:lnSpc>
              <a:spcBef>
                <a:spcPts val="768"/>
              </a:spcBef>
              <a:spcAft>
                <a:spcPts val="0"/>
              </a:spcAft>
              <a:buClrTx/>
              <a:buSzTx/>
              <a:buFont typeface="Arial" pitchFamily="34" charset="0"/>
              <a:buChar char="•"/>
              <a:tabLst/>
              <a:defRPr/>
            </a:pP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测振传感器的标定</a:t>
            </a:r>
          </a:p>
          <a:p>
            <a:pPr marL="0" marR="0" lvl="0" indent="444500" algn="l" defTabSz="914400" rtl="0" eaLnBrk="1" fontAlgn="auto" latinLnBrk="0" hangingPunct="1">
              <a:lnSpc>
                <a:spcPct val="150000"/>
              </a:lnSpc>
              <a:spcBef>
                <a:spcPts val="768"/>
              </a:spcBef>
              <a:spcAft>
                <a:spcPts val="0"/>
              </a:spcAft>
              <a:buClrTx/>
              <a:buSzTx/>
              <a:buFontTx/>
              <a:buNone/>
              <a:tabLst/>
              <a:defRPr/>
            </a:pP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绝对标定法</a:t>
            </a:r>
          </a:p>
          <a:p>
            <a:pPr marL="0" marR="0" lvl="0" indent="444500" algn="l" defTabSz="914400" rtl="0" eaLnBrk="1" fontAlgn="auto" latinLnBrk="0" hangingPunct="1">
              <a:lnSpc>
                <a:spcPct val="150000"/>
              </a:lnSpc>
              <a:spcBef>
                <a:spcPts val="768"/>
              </a:spcBef>
              <a:spcAft>
                <a:spcPts val="0"/>
              </a:spcAft>
              <a:buClrTx/>
              <a:buSzTx/>
              <a:buFontTx/>
              <a:buNone/>
              <a:tabLst/>
              <a:defRPr/>
            </a:pPr>
            <a:r>
              <a:rPr kumimoji="0" lang="zh-CN" altLang="en-US"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比较标定法</a:t>
            </a:r>
            <a:endParaRPr kumimoji="0" lang="en-US" altLang="zh-CN" sz="26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457200" marR="0" lvl="0" indent="-457200" algn="l" defTabSz="914400" rtl="0" eaLnBrk="1" fontAlgn="auto" latinLnBrk="0" hangingPunct="1">
              <a:lnSpc>
                <a:spcPct val="150000"/>
              </a:lnSpc>
              <a:spcBef>
                <a:spcPts val="768"/>
              </a:spcBef>
              <a:spcAft>
                <a:spcPts val="0"/>
              </a:spcAft>
              <a:buClrTx/>
              <a:buSzTx/>
              <a:buFont typeface="Arial" pitchFamily="34" charset="0"/>
              <a:buChar char="•"/>
              <a:tabLst/>
              <a:defRPr/>
            </a:pPr>
            <a:r>
              <a:rPr kumimoji="0" lang="zh-CN" altLang="en-US" sz="2600" b="1" i="0" u="none" strike="noStrike" kern="1200" cap="none" spc="0" normalizeH="0" baseline="0" noProof="0" dirty="0">
                <a:ln>
                  <a:noFill/>
                </a:ln>
                <a:solidFill>
                  <a:prstClr val="white">
                    <a:lumMod val="65000"/>
                  </a:prstClr>
                </a:solidFill>
                <a:effectLst/>
                <a:uLnTx/>
                <a:uFillTx/>
                <a:latin typeface="宋体" panose="02010600030101010101" pitchFamily="2" charset="-122"/>
                <a:ea typeface="宋体" panose="02010600030101010101" pitchFamily="2" charset="-122"/>
                <a:cs typeface="+mn-cs"/>
              </a:rPr>
              <a:t>压力传感器的标定</a:t>
            </a:r>
          </a:p>
        </p:txBody>
      </p:sp>
      <p:sp>
        <p:nvSpPr>
          <p:cNvPr id="32" name="矩形 31">
            <a:extLst>
              <a:ext uri="{FF2B5EF4-FFF2-40B4-BE49-F238E27FC236}">
                <a16:creationId xmlns:a16="http://schemas.microsoft.com/office/drawing/2014/main" id="{64509930-9DFB-420E-8F32-960E50399825}"/>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3" name="圆角矩形 43">
            <a:extLst>
              <a:ext uri="{FF2B5EF4-FFF2-40B4-BE49-F238E27FC236}">
                <a16:creationId xmlns:a16="http://schemas.microsoft.com/office/drawing/2014/main" id="{934CC0EC-2A2C-4194-A246-2456365A633C}"/>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13</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34" name="矩形 33"/>
          <p:cNvSpPr/>
          <p:nvPr/>
        </p:nvSpPr>
        <p:spPr>
          <a:xfrm>
            <a:off x="1960201" y="329520"/>
            <a:ext cx="1935137" cy="615549"/>
          </a:xfrm>
          <a:prstGeom prst="rect">
            <a:avLst/>
          </a:prstGeom>
        </p:spPr>
        <p:txBody>
          <a:bodyPr wrap="none" lIns="91436" tIns="45718" rIns="91436" bIns="45718">
            <a:spAutoFit/>
          </a:bodyPr>
          <a:lstStyle/>
          <a:p>
            <a:pPr marL="838200" marR="0" lvl="0" indent="-838200" algn="l" defTabSz="914400" rtl="0" eaLnBrk="1" fontAlgn="auto" latinLnBrk="0" hangingPunct="1">
              <a:lnSpc>
                <a:spcPct val="100000"/>
              </a:lnSpc>
              <a:spcBef>
                <a:spcPts val="0"/>
              </a:spcBef>
              <a:spcAft>
                <a:spcPts val="0"/>
              </a:spcAft>
              <a:buClrTx/>
              <a:buSzTx/>
              <a:buFontTx/>
              <a:buNone/>
              <a:tabLst/>
              <a:defRPr/>
            </a:pPr>
            <a:r>
              <a:rPr kumimoji="0" lang="zh-CN" altLang="en-US" sz="3400" b="1" i="0" u="none" strike="noStrike" kern="120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sym typeface="+mn-ea"/>
              </a:rPr>
              <a:t>本章要点</a:t>
            </a:r>
          </a:p>
        </p:txBody>
      </p:sp>
      <p:sp>
        <p:nvSpPr>
          <p:cNvPr id="2" name="Slide Number Placeholder 1">
            <a:extLst>
              <a:ext uri="{FF2B5EF4-FFF2-40B4-BE49-F238E27FC236}">
                <a16:creationId xmlns:a16="http://schemas.microsoft.com/office/drawing/2014/main" id="{3CF5E0E7-C99B-4389-A14C-DB04FD43FB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3600785987"/>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755576" y="1785005"/>
            <a:ext cx="793122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根据定义：在响应曲线上测取达到最终稳态值的</a:t>
            </a: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63</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％所经过的时间。</a:t>
            </a:r>
          </a:p>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r>
              <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2</a:t>
            </a: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p>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令：</a:t>
            </a:r>
          </a:p>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endPar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则：       </a:t>
            </a:r>
            <a:endPar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pic>
        <p:nvPicPr>
          <p:cNvPr id="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024" y="2749944"/>
            <a:ext cx="6473825" cy="8651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7"/>
          <p:cNvGraphicFramePr>
            <a:graphicFrameLocks noChangeAspect="1"/>
          </p:cNvGraphicFramePr>
          <p:nvPr/>
        </p:nvGraphicFramePr>
        <p:xfrm>
          <a:off x="2437386" y="3645024"/>
          <a:ext cx="1820863" cy="431800"/>
        </p:xfrm>
        <a:graphic>
          <a:graphicData uri="http://schemas.openxmlformats.org/presentationml/2006/ole">
            <mc:AlternateContent xmlns:mc="http://schemas.openxmlformats.org/markup-compatibility/2006">
              <mc:Choice xmlns:v="urn:schemas-microsoft-com:vml" Requires="v">
                <p:oleObj spid="_x0000_s6150" r:id="rId4" imgW="926698" imgH="215806" progId="Equation.3">
                  <p:embed/>
                </p:oleObj>
              </mc:Choice>
              <mc:Fallback>
                <p:oleObj r:id="rId4" imgW="926698" imgH="215806" progId="Equation.3">
                  <p:embed/>
                  <p:pic>
                    <p:nvPicPr>
                      <p:cNvPr id="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7386" y="3645024"/>
                        <a:ext cx="182086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9"/>
          <p:cNvGraphicFramePr>
            <a:graphicFrameLocks noChangeAspect="1"/>
          </p:cNvGraphicFramePr>
          <p:nvPr/>
        </p:nvGraphicFramePr>
        <p:xfrm>
          <a:off x="2469374" y="4437112"/>
          <a:ext cx="1073150" cy="862012"/>
        </p:xfrm>
        <a:graphic>
          <a:graphicData uri="http://schemas.openxmlformats.org/presentationml/2006/ole">
            <mc:AlternateContent xmlns:mc="http://schemas.openxmlformats.org/markup-compatibility/2006">
              <mc:Choice xmlns:v="urn:schemas-microsoft-com:vml" Requires="v">
                <p:oleObj spid="_x0000_s6151" r:id="rId6" imgW="533169" imgH="431613" progId="Equation.3">
                  <p:embed/>
                </p:oleObj>
              </mc:Choice>
              <mc:Fallback>
                <p:oleObj r:id="rId6" imgW="533169" imgH="431613" progId="Equation.3">
                  <p:embed/>
                  <p:pic>
                    <p:nvPicPr>
                      <p:cNvPr id="5"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9374" y="4437112"/>
                        <a:ext cx="1073150" cy="862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910250" y="1052736"/>
            <a:ext cx="1422184" cy="559769"/>
          </a:xfrm>
          <a:prstGeom prst="rect">
            <a:avLst/>
          </a:prstGeom>
          <a:solidFill>
            <a:schemeClr val="accent2">
              <a:lumMod val="40000"/>
              <a:lumOff val="60000"/>
            </a:schemeClr>
          </a:solidFill>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r>
              <a:rPr kumimoji="0" lang="en-US" altLang="zh-CN" sz="2400" b="1" i="1" u="none" strike="noStrike" kern="1200" cap="none" spc="0" normalizeH="0" baseline="0" noProof="0" dirty="0">
                <a:ln>
                  <a:noFill/>
                </a:ln>
                <a:solidFill>
                  <a:srgbClr val="000000"/>
                </a:solidFill>
                <a:effectLst/>
                <a:uLnTx/>
                <a:uFillTx/>
                <a:latin typeface="宋体" pitchFamily="2" charset="-122"/>
                <a:ea typeface="宋体" pitchFamily="2" charset="-122"/>
                <a:cs typeface="+mn-cs"/>
              </a:rPr>
              <a:t>τ</a:t>
            </a:r>
            <a:r>
              <a:rPr kumimoji="0" lang="zh-CN" altLang="en-US" sz="2400" b="1" i="0" u="none" strike="noStrike" kern="1200" cap="none" spc="0" normalizeH="0" baseline="0" noProof="0" dirty="0">
                <a:ln>
                  <a:noFill/>
                </a:ln>
                <a:solidFill>
                  <a:srgbClr val="000000"/>
                </a:solidFill>
                <a:effectLst/>
                <a:uLnTx/>
                <a:uFillTx/>
                <a:latin typeface="宋体" pitchFamily="2" charset="-122"/>
                <a:ea typeface="宋体" pitchFamily="2" charset="-122"/>
                <a:cs typeface="+mn-cs"/>
              </a:rPr>
              <a:t>的测定</a:t>
            </a:r>
          </a:p>
        </p:txBody>
      </p:sp>
      <p:sp>
        <p:nvSpPr>
          <p:cNvPr id="8" name="矩形 7"/>
          <p:cNvSpPr/>
          <p:nvPr/>
        </p:nvSpPr>
        <p:spPr>
          <a:xfrm>
            <a:off x="1533458" y="5439053"/>
            <a:ext cx="6062878"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itchFamily="2" charset="-122"/>
                <a:ea typeface="宋体" pitchFamily="2" charset="-122"/>
                <a:cs typeface="+mn-cs"/>
              </a:rPr>
              <a:t>用该方法可以判定传感器是否为一阶系统。</a:t>
            </a:r>
            <a:endParaRPr kumimoji="0"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9" name="Slide Number Placeholder 8">
            <a:extLst>
              <a:ext uri="{FF2B5EF4-FFF2-40B4-BE49-F238E27FC236}">
                <a16:creationId xmlns:a16="http://schemas.microsoft.com/office/drawing/2014/main" id="{DF87D99B-D59D-4540-AE71-2DF23FC4D4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3339468897"/>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85" name="Text Box 37"/>
          <p:cNvSpPr txBox="1">
            <a:spLocks noChangeArrowheads="1"/>
          </p:cNvSpPr>
          <p:nvPr/>
        </p:nvSpPr>
        <p:spPr bwMode="auto">
          <a:xfrm>
            <a:off x="2135243" y="5003058"/>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charset="0"/>
                <a:ea typeface="宋体" charset="-122"/>
              </a:defRPr>
            </a:lvl1pPr>
            <a:lvl2pPr marL="742950" indent="-285750">
              <a:defRPr kumimoji="1" sz="2400">
                <a:solidFill>
                  <a:schemeClr val="tx1"/>
                </a:solidFill>
                <a:latin typeface="Times New Roman" charset="0"/>
                <a:ea typeface="宋体" charset="-122"/>
              </a:defRPr>
            </a:lvl2pPr>
            <a:lvl3pPr marL="1143000" indent="-228600">
              <a:defRPr kumimoji="1" sz="2400">
                <a:solidFill>
                  <a:schemeClr val="tx1"/>
                </a:solidFill>
                <a:latin typeface="Times New Roman" charset="0"/>
                <a:ea typeface="宋体" charset="-122"/>
              </a:defRPr>
            </a:lvl3pPr>
            <a:lvl4pPr marL="1600200" indent="-228600">
              <a:defRPr kumimoji="1" sz="2400">
                <a:solidFill>
                  <a:schemeClr val="tx1"/>
                </a:solidFill>
                <a:latin typeface="Times New Roman" charset="0"/>
                <a:ea typeface="宋体" charset="-122"/>
              </a:defRPr>
            </a:lvl4pPr>
            <a:lvl5pPr marL="2057400" indent="-22860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13-1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求一阶装置时间常数的方法</a:t>
            </a:r>
          </a:p>
        </p:txBody>
      </p:sp>
      <p:graphicFrame>
        <p:nvGraphicFramePr>
          <p:cNvPr id="2086" name="Object 38"/>
          <p:cNvGraphicFramePr>
            <a:graphicFrameLocks noChangeAspect="1"/>
          </p:cNvGraphicFramePr>
          <p:nvPr/>
        </p:nvGraphicFramePr>
        <p:xfrm>
          <a:off x="1979613" y="739775"/>
          <a:ext cx="5184775" cy="3873500"/>
        </p:xfrm>
        <a:graphic>
          <a:graphicData uri="http://schemas.openxmlformats.org/presentationml/2006/ole">
            <mc:AlternateContent xmlns:mc="http://schemas.openxmlformats.org/markup-compatibility/2006">
              <mc:Choice xmlns:v="urn:schemas-microsoft-com:vml" Requires="v">
                <p:oleObj spid="_x0000_s7172" name="Flash 影片" r:id="rId3" imgW="4764960" imgH="3561120" progId="Flash.Movie">
                  <p:embed/>
                </p:oleObj>
              </mc:Choice>
              <mc:Fallback>
                <p:oleObj name="Flash 影片" r:id="rId3" imgW="4764960" imgH="3561120" progId="Flash.Movie">
                  <p:embed/>
                  <p:pic>
                    <p:nvPicPr>
                      <p:cNvPr id="2086"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739775"/>
                        <a:ext cx="5184775" cy="387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9EA2BB8B-9AEA-4B1C-A2C2-D132736C94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884810877"/>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Box 39"/>
          <p:cNvSpPr txBox="1">
            <a:spLocks noChangeArrowheads="1"/>
          </p:cNvSpPr>
          <p:nvPr/>
        </p:nvSpPr>
        <p:spPr bwMode="auto">
          <a:xfrm>
            <a:off x="2124075" y="4502150"/>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20000"/>
              </a:spcBef>
              <a:spcAft>
                <a:spcPts val="0"/>
              </a:spcAft>
              <a:buClr>
                <a:srgbClr val="954F72"/>
              </a:buClr>
              <a:buSzTx/>
              <a:buFont typeface="Wingdings" pitchFamily="2" charset="2"/>
              <a:buNone/>
              <a:tabLst/>
              <a:defRPr/>
            </a:pP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图</a:t>
            </a:r>
            <a:r>
              <a:rPr kumimoji="0" lang="en-US" altLang="zh-CN"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13-2  </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二阶装置（</a:t>
            </a:r>
            <a:r>
              <a:rPr kumimoji="0" lang="en-US" altLang="zh-CN" sz="2400" b="1" i="0" u="none" strike="noStrike" kern="1200" cap="none" spc="0" normalizeH="0" baseline="0" noProof="0" dirty="0">
                <a:ln>
                  <a:noFill/>
                </a:ln>
                <a:solidFill>
                  <a:srgbClr val="3333CC"/>
                </a:solidFill>
                <a:effectLst/>
                <a:uLnTx/>
                <a:uFillTx/>
                <a:latin typeface="Times New Roman" pitchFamily="18" charset="0"/>
                <a:ea typeface="宋体" pitchFamily="2" charset="-122"/>
                <a:cs typeface="Times New Roman" pitchFamily="18" charset="0"/>
              </a:rPr>
              <a:t>ξ&lt;1</a:t>
            </a:r>
            <a:r>
              <a:rPr kumimoji="0" lang="zh-CN" altLang="en-US" sz="2400" b="1" i="0" u="none" strike="noStrike" kern="1200" cap="none" spc="0" normalizeH="0" baseline="0" noProof="0" dirty="0">
                <a:ln>
                  <a:noFill/>
                </a:ln>
                <a:solidFill>
                  <a:srgbClr val="3333CC"/>
                </a:solidFill>
                <a:effectLst/>
                <a:uLnTx/>
                <a:uFillTx/>
                <a:latin typeface="宋体" pitchFamily="2" charset="-122"/>
                <a:ea typeface="宋体" pitchFamily="2" charset="-122"/>
                <a:cs typeface="+mn-cs"/>
              </a:rPr>
              <a:t>）的阶跃响应</a:t>
            </a:r>
          </a:p>
        </p:txBody>
      </p:sp>
      <p:sp>
        <p:nvSpPr>
          <p:cNvPr id="3" name="Line 45"/>
          <p:cNvSpPr>
            <a:spLocks noChangeShapeType="1"/>
          </p:cNvSpPr>
          <p:nvPr/>
        </p:nvSpPr>
        <p:spPr bwMode="auto">
          <a:xfrm>
            <a:off x="1628775" y="3167063"/>
            <a:ext cx="5791200" cy="0"/>
          </a:xfrm>
          <a:prstGeom prst="line">
            <a:avLst/>
          </a:prstGeom>
          <a:noFill/>
          <a:ln w="28575">
            <a:solidFill>
              <a:schemeClr val="folHlink"/>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4" name="Line 46"/>
          <p:cNvSpPr>
            <a:spLocks noChangeShapeType="1"/>
          </p:cNvSpPr>
          <p:nvPr/>
        </p:nvSpPr>
        <p:spPr bwMode="auto">
          <a:xfrm flipV="1">
            <a:off x="1990725" y="795338"/>
            <a:ext cx="0" cy="3467100"/>
          </a:xfrm>
          <a:prstGeom prst="line">
            <a:avLst/>
          </a:prstGeom>
          <a:noFill/>
          <a:ln w="28575">
            <a:solidFill>
              <a:schemeClr val="folHlink"/>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5" name="Text Box 47"/>
          <p:cNvSpPr txBox="1">
            <a:spLocks noChangeArrowheads="1"/>
          </p:cNvSpPr>
          <p:nvPr/>
        </p:nvSpPr>
        <p:spPr bwMode="auto">
          <a:xfrm>
            <a:off x="1609725" y="4048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rPr>
              <a:t>y</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rPr>
              <a:t>(</a:t>
            </a: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t</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endPar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endParaRPr>
          </a:p>
        </p:txBody>
      </p:sp>
      <p:sp>
        <p:nvSpPr>
          <p:cNvPr id="6" name="Text Box 48"/>
          <p:cNvSpPr txBox="1">
            <a:spLocks noChangeArrowheads="1"/>
          </p:cNvSpPr>
          <p:nvPr/>
        </p:nvSpPr>
        <p:spPr bwMode="auto">
          <a:xfrm>
            <a:off x="7191375" y="31384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t</a:t>
            </a:r>
            <a:endParaRPr kumimoji="1" lang="en-US" altLang="zh-CN" sz="2400" b="0" i="0" u="none" strike="noStrike" kern="1200" cap="none" spc="0" normalizeH="0" baseline="0" noProof="0">
              <a:ln>
                <a:noFill/>
              </a:ln>
              <a:solidFill>
                <a:prstClr val="black"/>
              </a:solidFill>
              <a:effectLst/>
              <a:uLnTx/>
              <a:uFillTx/>
              <a:latin typeface="Times New Roman" pitchFamily="18" charset="0"/>
              <a:ea typeface="宋体" charset="-122"/>
              <a:cs typeface="+mn-cs"/>
            </a:endParaRPr>
          </a:p>
        </p:txBody>
      </p:sp>
      <p:sp>
        <p:nvSpPr>
          <p:cNvPr id="7" name="Freeform 49"/>
          <p:cNvSpPr>
            <a:spLocks/>
          </p:cNvSpPr>
          <p:nvPr/>
        </p:nvSpPr>
        <p:spPr bwMode="auto">
          <a:xfrm>
            <a:off x="1976438" y="1357313"/>
            <a:ext cx="5029200" cy="1828800"/>
          </a:xfrm>
          <a:custGeom>
            <a:avLst/>
            <a:gdLst>
              <a:gd name="T0" fmla="*/ 0 w 3168"/>
              <a:gd name="T1" fmla="*/ 1828800 h 1152"/>
              <a:gd name="T2" fmla="*/ 304800 w 3168"/>
              <a:gd name="T3" fmla="*/ 1524000 h 1152"/>
              <a:gd name="T4" fmla="*/ 762000 w 3168"/>
              <a:gd name="T5" fmla="*/ 609600 h 1152"/>
              <a:gd name="T6" fmla="*/ 1295400 w 3168"/>
              <a:gd name="T7" fmla="*/ 0 h 1152"/>
              <a:gd name="T8" fmla="*/ 1828800 w 3168"/>
              <a:gd name="T9" fmla="*/ 609600 h 1152"/>
              <a:gd name="T10" fmla="*/ 2286000 w 3168"/>
              <a:gd name="T11" fmla="*/ 914400 h 1152"/>
              <a:gd name="T12" fmla="*/ 2819400 w 3168"/>
              <a:gd name="T13" fmla="*/ 609600 h 1152"/>
              <a:gd name="T14" fmla="*/ 3276600 w 3168"/>
              <a:gd name="T15" fmla="*/ 381000 h 1152"/>
              <a:gd name="T16" fmla="*/ 3733800 w 3168"/>
              <a:gd name="T17" fmla="*/ 609600 h 1152"/>
              <a:gd name="T18" fmla="*/ 4038600 w 3168"/>
              <a:gd name="T19" fmla="*/ 762000 h 1152"/>
              <a:gd name="T20" fmla="*/ 4419600 w 3168"/>
              <a:gd name="T21" fmla="*/ 609600 h 1152"/>
              <a:gd name="T22" fmla="*/ 4724400 w 3168"/>
              <a:gd name="T23" fmla="*/ 533400 h 1152"/>
              <a:gd name="T24" fmla="*/ 5029200 w 3168"/>
              <a:gd name="T25" fmla="*/ 609600 h 1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8" h="1152">
                <a:moveTo>
                  <a:pt x="0" y="1152"/>
                </a:moveTo>
                <a:cubicBezTo>
                  <a:pt x="56" y="1120"/>
                  <a:pt x="112" y="1088"/>
                  <a:pt x="192" y="960"/>
                </a:cubicBezTo>
                <a:cubicBezTo>
                  <a:pt x="272" y="832"/>
                  <a:pt x="376" y="544"/>
                  <a:pt x="480" y="384"/>
                </a:cubicBezTo>
                <a:cubicBezTo>
                  <a:pt x="584" y="224"/>
                  <a:pt x="704" y="0"/>
                  <a:pt x="816" y="0"/>
                </a:cubicBezTo>
                <a:cubicBezTo>
                  <a:pt x="928" y="0"/>
                  <a:pt x="1048" y="288"/>
                  <a:pt x="1152" y="384"/>
                </a:cubicBezTo>
                <a:cubicBezTo>
                  <a:pt x="1256" y="480"/>
                  <a:pt x="1336" y="576"/>
                  <a:pt x="1440" y="576"/>
                </a:cubicBezTo>
                <a:cubicBezTo>
                  <a:pt x="1544" y="576"/>
                  <a:pt x="1672" y="440"/>
                  <a:pt x="1776" y="384"/>
                </a:cubicBezTo>
                <a:cubicBezTo>
                  <a:pt x="1880" y="328"/>
                  <a:pt x="1968" y="240"/>
                  <a:pt x="2064" y="240"/>
                </a:cubicBezTo>
                <a:cubicBezTo>
                  <a:pt x="2160" y="240"/>
                  <a:pt x="2272" y="344"/>
                  <a:pt x="2352" y="384"/>
                </a:cubicBezTo>
                <a:cubicBezTo>
                  <a:pt x="2432" y="424"/>
                  <a:pt x="2472" y="480"/>
                  <a:pt x="2544" y="480"/>
                </a:cubicBezTo>
                <a:cubicBezTo>
                  <a:pt x="2616" y="480"/>
                  <a:pt x="2712" y="408"/>
                  <a:pt x="2784" y="384"/>
                </a:cubicBezTo>
                <a:cubicBezTo>
                  <a:pt x="2856" y="360"/>
                  <a:pt x="2912" y="336"/>
                  <a:pt x="2976" y="336"/>
                </a:cubicBezTo>
                <a:cubicBezTo>
                  <a:pt x="3040" y="336"/>
                  <a:pt x="3104" y="360"/>
                  <a:pt x="3168" y="384"/>
                </a:cubicBezTo>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8" name="Line 50"/>
          <p:cNvSpPr>
            <a:spLocks noChangeShapeType="1"/>
          </p:cNvSpPr>
          <p:nvPr/>
        </p:nvSpPr>
        <p:spPr bwMode="auto">
          <a:xfrm>
            <a:off x="1966913" y="1966913"/>
            <a:ext cx="533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9" name="Text Box 51"/>
          <p:cNvSpPr txBox="1">
            <a:spLocks noChangeArrowheads="1"/>
          </p:cNvSpPr>
          <p:nvPr/>
        </p:nvSpPr>
        <p:spPr bwMode="auto">
          <a:xfrm>
            <a:off x="3714750" y="144303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M</a:t>
            </a:r>
            <a:r>
              <a:rPr kumimoji="1" lang="en-US" altLang="zh-CN" sz="1800" b="1" i="0" u="none" strike="noStrike" kern="1200" cap="none" spc="0" normalizeH="0" baseline="-25000" noProof="0">
                <a:ln>
                  <a:noFill/>
                </a:ln>
                <a:solidFill>
                  <a:prstClr val="black"/>
                </a:solidFill>
                <a:effectLst/>
                <a:uLnTx/>
                <a:uFillTx/>
                <a:latin typeface="Times New Roman" pitchFamily="18" charset="0"/>
                <a:ea typeface="宋体" charset="-122"/>
                <a:cs typeface="+mn-cs"/>
              </a:rPr>
              <a:t>1</a:t>
            </a:r>
          </a:p>
        </p:txBody>
      </p:sp>
      <p:sp>
        <p:nvSpPr>
          <p:cNvPr id="10" name="Text Box 52"/>
          <p:cNvSpPr txBox="1">
            <a:spLocks noChangeArrowheads="1"/>
          </p:cNvSpPr>
          <p:nvPr/>
        </p:nvSpPr>
        <p:spPr bwMode="auto">
          <a:xfrm>
            <a:off x="1743075" y="311943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0" u="none" strike="noStrike" kern="1200" cap="none" spc="0" normalizeH="0" baseline="0" noProof="0">
                <a:ln>
                  <a:noFill/>
                </a:ln>
                <a:solidFill>
                  <a:prstClr val="black"/>
                </a:solidFill>
                <a:effectLst/>
                <a:uLnTx/>
                <a:uFillTx/>
                <a:latin typeface="Times New Roman" pitchFamily="18" charset="0"/>
                <a:ea typeface="宋体" charset="-122"/>
                <a:cs typeface="+mn-cs"/>
              </a:rPr>
              <a:t>0</a:t>
            </a:r>
          </a:p>
        </p:txBody>
      </p:sp>
      <p:sp>
        <p:nvSpPr>
          <p:cNvPr id="11" name="Text Box 53"/>
          <p:cNvSpPr txBox="1">
            <a:spLocks noChangeArrowheads="1"/>
          </p:cNvSpPr>
          <p:nvPr/>
        </p:nvSpPr>
        <p:spPr bwMode="auto">
          <a:xfrm>
            <a:off x="1547813" y="1795463"/>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0" u="none" strike="noStrike" kern="1200" cap="none" spc="0" normalizeH="0" baseline="0" noProof="0">
                <a:ln>
                  <a:noFill/>
                </a:ln>
                <a:solidFill>
                  <a:prstClr val="black"/>
                </a:solidFill>
                <a:effectLst/>
                <a:uLnTx/>
                <a:uFillTx/>
                <a:latin typeface="Times New Roman" pitchFamily="18" charset="0"/>
                <a:ea typeface="宋体" charset="-122"/>
                <a:cs typeface="+mn-cs"/>
              </a:rPr>
              <a:t>1.0</a:t>
            </a:r>
          </a:p>
        </p:txBody>
      </p:sp>
      <p:sp>
        <p:nvSpPr>
          <p:cNvPr id="12" name="Line 54"/>
          <p:cNvSpPr>
            <a:spLocks noChangeShapeType="1"/>
          </p:cNvSpPr>
          <p:nvPr/>
        </p:nvSpPr>
        <p:spPr bwMode="auto">
          <a:xfrm>
            <a:off x="3276600" y="1366838"/>
            <a:ext cx="0" cy="2362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3" name="Line 55"/>
          <p:cNvSpPr>
            <a:spLocks noChangeShapeType="1"/>
          </p:cNvSpPr>
          <p:nvPr/>
        </p:nvSpPr>
        <p:spPr bwMode="auto">
          <a:xfrm>
            <a:off x="1981200" y="3609975"/>
            <a:ext cx="1295400" cy="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4" name="Line 56"/>
          <p:cNvSpPr>
            <a:spLocks noChangeShapeType="1"/>
          </p:cNvSpPr>
          <p:nvPr/>
        </p:nvSpPr>
        <p:spPr bwMode="auto">
          <a:xfrm>
            <a:off x="2971800" y="1338263"/>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5" name="Line 57"/>
          <p:cNvSpPr>
            <a:spLocks noChangeShapeType="1"/>
          </p:cNvSpPr>
          <p:nvPr/>
        </p:nvSpPr>
        <p:spPr bwMode="auto">
          <a:xfrm flipV="1">
            <a:off x="3733800" y="1338263"/>
            <a:ext cx="0" cy="614362"/>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6" name="Text Box 58"/>
          <p:cNvSpPr txBox="1">
            <a:spLocks noChangeArrowheads="1"/>
          </p:cNvSpPr>
          <p:nvPr/>
        </p:nvSpPr>
        <p:spPr bwMode="auto">
          <a:xfrm>
            <a:off x="2514600" y="319563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t</a:t>
            </a:r>
            <a:r>
              <a:rPr kumimoji="1" lang="en-US" altLang="zh-CN" sz="1800" b="1" i="1" u="none" strike="noStrike" kern="1200" cap="none" spc="0" normalizeH="0" baseline="-25000" noProof="0">
                <a:ln>
                  <a:noFill/>
                </a:ln>
                <a:solidFill>
                  <a:prstClr val="black"/>
                </a:solidFill>
                <a:effectLst/>
                <a:uLnTx/>
                <a:uFillTx/>
                <a:latin typeface="Times New Roman" pitchFamily="18" charset="0"/>
                <a:ea typeface="宋体" charset="-122"/>
                <a:cs typeface="+mn-cs"/>
              </a:rPr>
              <a:t>p</a:t>
            </a:r>
          </a:p>
        </p:txBody>
      </p:sp>
      <p:sp>
        <p:nvSpPr>
          <p:cNvPr id="17" name="Text Box 59"/>
          <p:cNvSpPr txBox="1">
            <a:spLocks noChangeArrowheads="1"/>
          </p:cNvSpPr>
          <p:nvPr/>
        </p:nvSpPr>
        <p:spPr bwMode="auto">
          <a:xfrm>
            <a:off x="5562600" y="13620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1800" b="1" i="1" u="none" strike="noStrike" kern="1200" cap="none" spc="0" normalizeH="0" baseline="0" noProof="0">
                <a:ln>
                  <a:noFill/>
                </a:ln>
                <a:solidFill>
                  <a:prstClr val="black"/>
                </a:solidFill>
                <a:effectLst/>
                <a:uLnTx/>
                <a:uFillTx/>
                <a:latin typeface="Times New Roman" pitchFamily="18" charset="0"/>
                <a:ea typeface="宋体" charset="-122"/>
                <a:cs typeface="+mn-cs"/>
              </a:rPr>
              <a:t>M</a:t>
            </a:r>
            <a:r>
              <a:rPr kumimoji="1" lang="en-US" altLang="zh-CN" sz="1800" b="1" i="0" u="none" strike="noStrike" kern="1200" cap="none" spc="0" normalizeH="0" baseline="-25000" noProof="0">
                <a:ln>
                  <a:noFill/>
                </a:ln>
                <a:solidFill>
                  <a:prstClr val="black"/>
                </a:solidFill>
                <a:effectLst/>
                <a:uLnTx/>
                <a:uFillTx/>
                <a:latin typeface="Times New Roman" pitchFamily="18" charset="0"/>
                <a:ea typeface="宋体" charset="-122"/>
                <a:cs typeface="+mn-cs"/>
              </a:rPr>
              <a:t>2</a:t>
            </a:r>
          </a:p>
        </p:txBody>
      </p:sp>
      <p:sp>
        <p:nvSpPr>
          <p:cNvPr id="18" name="Line 60"/>
          <p:cNvSpPr>
            <a:spLocks noChangeShapeType="1"/>
          </p:cNvSpPr>
          <p:nvPr/>
        </p:nvSpPr>
        <p:spPr bwMode="auto">
          <a:xfrm>
            <a:off x="4938713" y="1724025"/>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9" name="Line 61"/>
          <p:cNvSpPr>
            <a:spLocks noChangeShapeType="1"/>
          </p:cNvSpPr>
          <p:nvPr/>
        </p:nvSpPr>
        <p:spPr bwMode="auto">
          <a:xfrm flipV="1">
            <a:off x="5791200" y="1724025"/>
            <a:ext cx="0" cy="22860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0" name="Line 62"/>
          <p:cNvSpPr>
            <a:spLocks noChangeShapeType="1"/>
          </p:cNvSpPr>
          <p:nvPr/>
        </p:nvSpPr>
        <p:spPr bwMode="auto">
          <a:xfrm>
            <a:off x="5257800" y="1757363"/>
            <a:ext cx="0" cy="1924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1" name="Line 63"/>
          <p:cNvSpPr>
            <a:spLocks noChangeShapeType="1"/>
          </p:cNvSpPr>
          <p:nvPr/>
        </p:nvSpPr>
        <p:spPr bwMode="auto">
          <a:xfrm>
            <a:off x="3276600" y="3629025"/>
            <a:ext cx="1981200" cy="0"/>
          </a:xfrm>
          <a:prstGeom prst="line">
            <a:avLst/>
          </a:prstGeom>
          <a:noFill/>
          <a:ln w="9525">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2" name="Text Box 64"/>
          <p:cNvSpPr txBox="1">
            <a:spLocks noChangeArrowheads="1"/>
          </p:cNvSpPr>
          <p:nvPr/>
        </p:nvSpPr>
        <p:spPr bwMode="auto">
          <a:xfrm>
            <a:off x="3833813" y="3252788"/>
            <a:ext cx="1033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1" lang="en-US" altLang="zh-CN" sz="2000" b="1" i="1" u="none" strike="noStrike" kern="1200" cap="none" spc="0" normalizeH="0" baseline="0" noProof="0">
                <a:ln>
                  <a:noFill/>
                </a:ln>
                <a:solidFill>
                  <a:prstClr val="black"/>
                </a:solidFill>
                <a:effectLst/>
                <a:uLnTx/>
                <a:uFillTx/>
                <a:latin typeface="Times New Roman" pitchFamily="18" charset="0"/>
                <a:ea typeface="宋体" charset="-122"/>
                <a:cs typeface="+mn-cs"/>
              </a:rPr>
              <a:t>t</a:t>
            </a:r>
            <a:r>
              <a:rPr kumimoji="1" lang="en-US" altLang="zh-CN" sz="2000" b="1" i="0" u="none" strike="noStrike" kern="1200" cap="none" spc="0" normalizeH="0" baseline="0" noProof="0">
                <a:ln>
                  <a:noFill/>
                </a:ln>
                <a:solidFill>
                  <a:prstClr val="black"/>
                </a:solidFill>
                <a:effectLst/>
                <a:uLnTx/>
                <a:uFillTx/>
                <a:latin typeface="Times New Roman" pitchFamily="18" charset="0"/>
                <a:ea typeface="宋体" charset="-122"/>
                <a:cs typeface="+mn-cs"/>
              </a:rPr>
              <a:t>=2</a:t>
            </a:r>
            <a:r>
              <a:rPr kumimoji="1" lang="en-US" altLang="zh-CN" sz="2000" b="1" i="0"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r>
              <a:rPr kumimoji="1" lang="en-US" altLang="zh-CN" sz="2000" b="1" i="1" u="none" strike="noStrike" kern="1200" cap="none" spc="0" normalizeH="0" baseline="0" noProof="0">
                <a:ln>
                  <a:noFill/>
                </a:ln>
                <a:solidFill>
                  <a:prstClr val="black"/>
                </a:solidFill>
                <a:effectLst/>
                <a:uLnTx/>
                <a:uFillTx/>
                <a:latin typeface="Times New Roman" pitchFamily="18" charset="0"/>
                <a:ea typeface="宋体" charset="-122"/>
                <a:cs typeface="+mn-cs"/>
                <a:sym typeface="Symbol" pitchFamily="18" charset="2"/>
              </a:rPr>
              <a:t></a:t>
            </a:r>
            <a:r>
              <a:rPr kumimoji="1" lang="en-US" altLang="zh-CN" sz="2000" b="1" i="1" u="none" strike="noStrike" kern="1200" cap="none" spc="0" normalizeH="0" baseline="-25000" noProof="0">
                <a:ln>
                  <a:noFill/>
                </a:ln>
                <a:solidFill>
                  <a:prstClr val="black"/>
                </a:solidFill>
                <a:effectLst/>
                <a:uLnTx/>
                <a:uFillTx/>
                <a:latin typeface="Times New Roman" pitchFamily="18" charset="0"/>
                <a:ea typeface="宋体" charset="-122"/>
                <a:cs typeface="+mn-cs"/>
                <a:sym typeface="Symbol" pitchFamily="18" charset="2"/>
              </a:rPr>
              <a:t>d</a:t>
            </a:r>
            <a:endParaRPr kumimoji="1" lang="en-US" altLang="zh-CN" sz="2000" b="1" i="1" u="none" strike="noStrike" kern="1200" cap="none" spc="0" normalizeH="0" baseline="-25000" noProof="0">
              <a:ln>
                <a:noFill/>
              </a:ln>
              <a:solidFill>
                <a:prstClr val="black"/>
              </a:solidFill>
              <a:effectLst/>
              <a:uLnTx/>
              <a:uFillTx/>
              <a:latin typeface="Times New Roman" pitchFamily="18" charset="0"/>
              <a:ea typeface="宋体" charset="-122"/>
              <a:cs typeface="+mn-cs"/>
            </a:endParaRPr>
          </a:p>
        </p:txBody>
      </p:sp>
      <p:graphicFrame>
        <p:nvGraphicFramePr>
          <p:cNvPr id="23" name="对象 27"/>
          <p:cNvGraphicFramePr>
            <a:graphicFrameLocks noChangeAspect="1"/>
          </p:cNvGraphicFramePr>
          <p:nvPr/>
        </p:nvGraphicFramePr>
        <p:xfrm>
          <a:off x="1290638" y="5276850"/>
          <a:ext cx="4638675" cy="990600"/>
        </p:xfrm>
        <a:graphic>
          <a:graphicData uri="http://schemas.openxmlformats.org/presentationml/2006/ole">
            <mc:AlternateContent xmlns:mc="http://schemas.openxmlformats.org/markup-compatibility/2006">
              <mc:Choice xmlns:v="urn:schemas-microsoft-com:vml" Requires="v">
                <p:oleObj spid="_x0000_s8196" name="Equation" r:id="rId3" imgW="2616120" imgH="558720" progId="Equation.DSMT4">
                  <p:embed/>
                </p:oleObj>
              </mc:Choice>
              <mc:Fallback>
                <p:oleObj name="Equation" r:id="rId3" imgW="2616120" imgH="558720" progId="Equation.DSMT4">
                  <p:embed/>
                  <p:pic>
                    <p:nvPicPr>
                      <p:cNvPr id="23" name="对象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638" y="5276850"/>
                        <a:ext cx="46386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8"/>
          <p:cNvSpPr>
            <a:spLocks noChangeArrowheads="1"/>
          </p:cNvSpPr>
          <p:nvPr/>
        </p:nvSpPr>
        <p:spPr bwMode="auto">
          <a:xfrm>
            <a:off x="6181725" y="5564188"/>
            <a:ext cx="2286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88900" marR="0" lvl="2"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zh-CN" altLang="en-US"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当</a:t>
            </a: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0" lang="en-US" altLang="zh-CN" sz="1800" b="1" i="1" u="none" strike="noStrike" kern="1200" cap="none" spc="0" normalizeH="0" baseline="0" noProof="0" dirty="0">
                <a:ln>
                  <a:noFill/>
                </a:ln>
                <a:solidFill>
                  <a:prstClr val="black"/>
                </a:solidFill>
                <a:effectLst/>
                <a:uLnTx/>
                <a:uFillTx/>
                <a:latin typeface="宋体" pitchFamily="2" charset="-122"/>
                <a:ea typeface="宋体" pitchFamily="2" charset="-122"/>
                <a:cs typeface="Times New Roman" pitchFamily="18" charset="0"/>
              </a:rPr>
              <a:t>t </a:t>
            </a:r>
            <a:r>
              <a:rPr kumimoji="0" lang="en-US" altLang="zh-CN" sz="1800" b="1" i="0" u="none" strike="noStrike" kern="1200" cap="none" spc="0" normalizeH="0" baseline="0" noProof="0" dirty="0">
                <a:ln>
                  <a:noFill/>
                </a:ln>
                <a:solidFill>
                  <a:prstClr val="black"/>
                </a:solidFill>
                <a:effectLst/>
                <a:uLnTx/>
                <a:uFillTx/>
                <a:latin typeface="宋体" pitchFamily="2" charset="-122"/>
                <a:ea typeface="宋体" pitchFamily="2" charset="-122"/>
                <a:cs typeface="Times New Roman" pitchFamily="18" charset="0"/>
              </a:rPr>
              <a:t>≥0</a:t>
            </a:r>
          </a:p>
        </p:txBody>
      </p:sp>
      <p:sp>
        <p:nvSpPr>
          <p:cNvPr id="26" name="Slide Number Placeholder 25">
            <a:extLst>
              <a:ext uri="{FF2B5EF4-FFF2-40B4-BE49-F238E27FC236}">
                <a16:creationId xmlns:a16="http://schemas.microsoft.com/office/drawing/2014/main" id="{AE0D0D04-F1A5-462E-986C-2F934CBCBE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2999765282"/>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711623" y="908720"/>
            <a:ext cx="6527304"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128588" algn="just" defTabSz="914400" rtl="0" eaLnBrk="1" fontAlgn="auto" latinLnBrk="0" hangingPunct="1">
              <a:lnSpc>
                <a:spcPct val="120000"/>
              </a:lnSpc>
              <a:spcBef>
                <a:spcPts val="0"/>
              </a:spcBef>
              <a:spcAft>
                <a:spcPts val="0"/>
              </a:spcAft>
              <a:buClrTx/>
              <a:buSzTx/>
              <a:buFontTx/>
              <a:buNone/>
              <a:tabLst>
                <a:tab pos="409575" algn="l"/>
                <a:tab pos="546100" algn="l"/>
                <a:tab pos="819150" algn="l"/>
              </a:tabLst>
              <a:defRPr/>
            </a:pP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1</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）定义有阻尼角频率  </a:t>
            </a:r>
          </a:p>
          <a:p>
            <a:pPr marL="0" marR="0" lvl="0" indent="128588" algn="just" defTabSz="914400" rtl="0" eaLnBrk="0" fontAlgn="auto" latinLnBrk="0" hangingPunct="0">
              <a:lnSpc>
                <a:spcPct val="12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令</a:t>
            </a:r>
            <a:r>
              <a:rPr kumimoji="0" lang="en-US" altLang="zh-CN" sz="24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dy</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a:t>
            </a:r>
            <a:r>
              <a:rPr kumimoji="0" lang="en-US" altLang="zh-CN" sz="24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dt</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=0</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rPr>
              <a:t>，可求得最大超调量</a:t>
            </a:r>
            <a:endPar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sym typeface="Symbol" pitchFamily="18" charset="2"/>
            </a:endParaRPr>
          </a:p>
        </p:txBody>
      </p:sp>
      <p:graphicFrame>
        <p:nvGraphicFramePr>
          <p:cNvPr id="3" name="Object 5"/>
          <p:cNvGraphicFramePr>
            <a:graphicFrameLocks noChangeAspect="1"/>
          </p:cNvGraphicFramePr>
          <p:nvPr/>
        </p:nvGraphicFramePr>
        <p:xfrm>
          <a:off x="1907704" y="1984964"/>
          <a:ext cx="4829175" cy="1760537"/>
        </p:xfrm>
        <a:graphic>
          <a:graphicData uri="http://schemas.openxmlformats.org/presentationml/2006/ole">
            <mc:AlternateContent xmlns:mc="http://schemas.openxmlformats.org/markup-compatibility/2006">
              <mc:Choice xmlns:v="urn:schemas-microsoft-com:vml" Requires="v">
                <p:oleObj spid="_x0000_s9224" r:id="rId3" imgW="2209787" imgH="800100" progId="Equation.3">
                  <p:embed/>
                </p:oleObj>
              </mc:Choice>
              <mc:Fallback>
                <p:oleObj r:id="rId3" imgW="2209787" imgH="800100" progId="Equation.3">
                  <p:embed/>
                  <p:pic>
                    <p:nvPicPr>
                      <p:cNvPr id="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984964"/>
                        <a:ext cx="4829175"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7"/>
          <p:cNvGraphicFramePr>
            <a:graphicFrameLocks noChangeAspect="1"/>
          </p:cNvGraphicFramePr>
          <p:nvPr/>
        </p:nvGraphicFramePr>
        <p:xfrm>
          <a:off x="4155850" y="764704"/>
          <a:ext cx="2667000" cy="696913"/>
        </p:xfrm>
        <a:graphic>
          <a:graphicData uri="http://schemas.openxmlformats.org/presentationml/2006/ole">
            <mc:AlternateContent xmlns:mc="http://schemas.openxmlformats.org/markup-compatibility/2006">
              <mc:Choice xmlns:v="urn:schemas-microsoft-com:vml" Requires="v">
                <p:oleObj spid="_x0000_s9225" name="公式" r:id="rId5" imgW="1047821" imgH="266790" progId="Equation.3">
                  <p:embed/>
                </p:oleObj>
              </mc:Choice>
              <mc:Fallback>
                <p:oleObj name="公式" r:id="rId5" imgW="1047821" imgH="266790" progId="Equation.3">
                  <p:embed/>
                  <p:pic>
                    <p:nvPicPr>
                      <p:cNvPr id="4"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5850" y="764704"/>
                        <a:ext cx="26670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9"/>
          <p:cNvGraphicFramePr>
            <a:graphicFrameLocks noChangeAspect="1"/>
          </p:cNvGraphicFramePr>
          <p:nvPr/>
        </p:nvGraphicFramePr>
        <p:xfrm>
          <a:off x="1777454" y="4905276"/>
          <a:ext cx="5530850" cy="1116012"/>
        </p:xfrm>
        <a:graphic>
          <a:graphicData uri="http://schemas.openxmlformats.org/presentationml/2006/ole">
            <mc:AlternateContent xmlns:mc="http://schemas.openxmlformats.org/markup-compatibility/2006">
              <mc:Choice xmlns:v="urn:schemas-microsoft-com:vml" Requires="v">
                <p:oleObj spid="_x0000_s9226" r:id="rId3" imgW="2400300" imgH="476276" progId="Equation.3">
                  <p:embed/>
                </p:oleObj>
              </mc:Choice>
              <mc:Fallback>
                <p:oleObj r:id="rId3" imgW="2400300" imgH="476276" progId="Equation.3">
                  <p:embed/>
                  <p:pic>
                    <p:nvPicPr>
                      <p:cNvPr id="5"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7454" y="4905276"/>
                        <a:ext cx="553085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771525" y="3789040"/>
            <a:ext cx="6762750" cy="1200329"/>
          </a:xfrm>
          <a:prstGeom prst="rect">
            <a:avLst/>
          </a:prstGeom>
        </p:spPr>
        <p:txBody>
          <a:bodyPr wrap="square">
            <a:spAutoFit/>
          </a:bodyPr>
          <a:lstStyle/>
          <a:p>
            <a:pPr marL="0" marR="0" lvl="0" indent="128588" algn="just" defTabSz="914400" rtl="0" eaLnBrk="1" fontAlgn="auto" latinLnBrk="0" hangingPunct="1">
              <a:lnSpc>
                <a:spcPct val="10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因此在响应曲线上测出</a:t>
            </a: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M</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1</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，可求出</a:t>
            </a: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ξ</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a:t>
            </a:r>
          </a:p>
          <a:p>
            <a:pPr marL="0" marR="0" lvl="0" indent="128588" algn="just" defTabSz="914400" rtl="0" eaLnBrk="1" fontAlgn="auto" latinLnBrk="0" hangingPunct="1">
              <a:lnSpc>
                <a:spcPct val="10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       </a:t>
            </a:r>
          </a:p>
          <a:p>
            <a:pPr marL="0" marR="0" lvl="0" indent="128588" algn="l" defTabSz="914400" rtl="0" eaLnBrk="1" fontAlgn="auto" latinLnBrk="0" hangingPunct="1">
              <a:lnSpc>
                <a:spcPct val="10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在响应曲线上测出</a:t>
            </a:r>
            <a:r>
              <a:rPr kumimoji="0" lang="en-US" altLang="zh-CN" sz="2400" b="1" i="1"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t</a:t>
            </a:r>
            <a:r>
              <a:rPr kumimoji="0" lang="en-US" altLang="zh-CN" sz="2400" b="1" i="1" u="none" strike="noStrike" kern="1200" cap="none" spc="0" normalizeH="0" baseline="-30000" noProof="0" dirty="0" err="1">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p</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或周期</a:t>
            </a: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t</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，则可求出</a:t>
            </a:r>
            <a:r>
              <a:rPr kumimoji="0" lang="zh-CN" altLang="en-US"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a:t>
            </a:r>
            <a:r>
              <a:rPr kumimoji="0" lang="en-US" altLang="zh-CN" sz="2400" b="1" i="1" u="none" strike="noStrike" kern="1200" cap="none" spc="0" normalizeH="0" baseline="-30000" noProof="0" dirty="0">
                <a:ln>
                  <a:noFill/>
                </a:ln>
                <a:solidFill>
                  <a:srgbClr val="000000"/>
                </a:solidFill>
                <a:effectLst/>
                <a:uLnTx/>
                <a:uFillTx/>
                <a:latin typeface="Times New Roman" pitchFamily="18" charset="0"/>
                <a:ea typeface="宋体" pitchFamily="2" charset="-122"/>
                <a:cs typeface="Times New Roman" pitchFamily="18" charset="0"/>
              </a:rPr>
              <a:t>n</a:t>
            </a: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 </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 </a:t>
            </a:r>
          </a:p>
        </p:txBody>
      </p:sp>
      <p:sp>
        <p:nvSpPr>
          <p:cNvPr id="9" name="矩形 8"/>
          <p:cNvSpPr/>
          <p:nvPr/>
        </p:nvSpPr>
        <p:spPr>
          <a:xfrm>
            <a:off x="1043608" y="358775"/>
            <a:ext cx="2015616" cy="493148"/>
          </a:xfrm>
          <a:prstGeom prst="rect">
            <a:avLst/>
          </a:prstGeom>
          <a:solidFill>
            <a:schemeClr val="accent1">
              <a:lumMod val="20000"/>
              <a:lumOff val="80000"/>
            </a:schemeClr>
          </a:solidFill>
        </p:spPr>
        <p:txBody>
          <a:bodyPr wrap="none">
            <a:spAutoFit/>
          </a:bodyPr>
          <a:lstStyle/>
          <a:p>
            <a:pPr marL="0" marR="0" lvl="0" indent="128588" algn="just" defTabSz="914400" rtl="0" eaLnBrk="1" fontAlgn="auto" latinLnBrk="0" hangingPunct="1">
              <a:lnSpc>
                <a:spcPct val="120000"/>
              </a:lnSpc>
              <a:spcBef>
                <a:spcPts val="0"/>
              </a:spcBef>
              <a:spcAft>
                <a:spcPts val="0"/>
              </a:spcAft>
              <a:buClrTx/>
              <a:buSzTx/>
              <a:buFontTx/>
              <a:buNone/>
              <a:tabLst>
                <a:tab pos="409575" algn="l"/>
                <a:tab pos="546100" algn="l"/>
                <a:tab pos="819150" algn="l"/>
              </a:tabLst>
              <a:defRPr/>
            </a:pP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ξ</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与</a:t>
            </a:r>
            <a:r>
              <a:rPr kumimoji="0" lang="zh-CN" altLang="en-US"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a:t>
            </a:r>
            <a:r>
              <a:rPr kumimoji="0" lang="en-US" altLang="zh-CN" sz="2400" b="1" i="1" u="none" strike="noStrike" kern="1200" cap="none" spc="0" normalizeH="0" baseline="-30000" noProof="0" dirty="0">
                <a:ln>
                  <a:noFill/>
                </a:ln>
                <a:solidFill>
                  <a:srgbClr val="000000"/>
                </a:solidFill>
                <a:effectLst/>
                <a:uLnTx/>
                <a:uFillTx/>
                <a:latin typeface="Times New Roman" pitchFamily="18" charset="0"/>
                <a:ea typeface="宋体" pitchFamily="2" charset="-122"/>
                <a:cs typeface="Times New Roman" pitchFamily="18" charset="0"/>
              </a:rPr>
              <a:t>n</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sym typeface="Symbol" pitchFamily="18" charset="2"/>
              </a:rPr>
              <a:t>的测定</a:t>
            </a:r>
          </a:p>
        </p:txBody>
      </p:sp>
      <p:sp>
        <p:nvSpPr>
          <p:cNvPr id="10" name="Slide Number Placeholder 9">
            <a:extLst>
              <a:ext uri="{FF2B5EF4-FFF2-40B4-BE49-F238E27FC236}">
                <a16:creationId xmlns:a16="http://schemas.microsoft.com/office/drawing/2014/main" id="{39F3A6A4-0111-49C9-9789-2D11A8091E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3604596873"/>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889343" y="3645024"/>
            <a:ext cx="5796632" cy="2308324"/>
          </a:xfrm>
          <a:prstGeom prst="rect">
            <a:avLst/>
          </a:prstGeom>
        </p:spPr>
        <p:txBody>
          <a:bodyPr wrap="square">
            <a:spAutoFit/>
          </a:bodyPr>
          <a:lstStyle/>
          <a:p>
            <a:pPr marL="0" marR="0" lvl="0" indent="128588" algn="just"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令                       ，则有</a:t>
            </a:r>
          </a:p>
          <a:p>
            <a:pPr marL="0" marR="0" lvl="0" indent="128588" algn="l"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endPar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128588" algn="l"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求出</a:t>
            </a:r>
            <a:r>
              <a:rPr kumimoji="0" lang="en-US" altLang="zh-CN" sz="2400" b="1" i="1" u="none" strike="noStrike" kern="120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δ</a:t>
            </a:r>
            <a:r>
              <a:rPr kumimoji="0" lang="en-US" altLang="zh-CN" sz="2400" b="1" i="1" u="none" strike="noStrike" kern="1200" cap="none" spc="0" normalizeH="0" baseline="-30000" noProof="0" dirty="0" err="1">
                <a:ln>
                  <a:noFill/>
                </a:ln>
                <a:solidFill>
                  <a:srgbClr val="000000"/>
                </a:solidFill>
                <a:effectLst/>
                <a:uLnTx/>
                <a:uFillTx/>
                <a:latin typeface="Times New Roman" pitchFamily="18" charset="0"/>
                <a:ea typeface="宋体" pitchFamily="2" charset="-122"/>
                <a:cs typeface="Times New Roman" pitchFamily="18" charset="0"/>
              </a:rPr>
              <a:t>n</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，则</a:t>
            </a:r>
            <a:r>
              <a:rPr kumimoji="0" lang="en-US" altLang="zh-CN" sz="2400" b="1" i="1"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ξ</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可求。</a:t>
            </a:r>
          </a:p>
          <a:p>
            <a:pPr marL="0" marR="0" lvl="0" indent="128588" algn="l"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srgbClr val="0070C0"/>
                </a:solidFill>
                <a:effectLst/>
                <a:uLnTx/>
                <a:uFillTx/>
                <a:latin typeface="Times New Roman" pitchFamily="18" charset="0"/>
                <a:ea typeface="宋体" pitchFamily="2" charset="-122"/>
                <a:cs typeface="Times New Roman" pitchFamily="18" charset="0"/>
              </a:rPr>
              <a:t>此法可用于判断是否为二阶系统。 </a:t>
            </a:r>
          </a:p>
        </p:txBody>
      </p:sp>
      <p:sp>
        <p:nvSpPr>
          <p:cNvPr id="2" name="Rectangle 4"/>
          <p:cNvSpPr>
            <a:spLocks noChangeArrowheads="1"/>
          </p:cNvSpPr>
          <p:nvPr/>
        </p:nvSpPr>
        <p:spPr bwMode="auto">
          <a:xfrm>
            <a:off x="457200" y="457200"/>
            <a:ext cx="8305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128588" algn="just"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2</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任意两个超调量</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和</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i+n</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，对应时间为</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t</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t</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i+n</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en-US" altLang="zh-CN" sz="2400" b="1" i="1"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n</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为两个峰值周期数</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a:p>
            <a:pPr marL="0" marR="0" lvl="0" indent="128588" algn="just" defTabSz="914400" rtl="0" eaLnBrk="1" fontAlgn="auto" latinLnBrk="0" hangingPunct="1">
              <a:lnSpc>
                <a:spcPct val="150000"/>
              </a:lnSpc>
              <a:spcBef>
                <a:spcPts val="0"/>
              </a:spcBef>
              <a:spcAft>
                <a:spcPts val="0"/>
              </a:spcAft>
              <a:buClrTx/>
              <a:buSzTx/>
              <a:buFontTx/>
              <a:buNone/>
              <a:tabLst>
                <a:tab pos="409575" algn="l"/>
                <a:tab pos="546100" algn="l"/>
                <a:tab pos="819150" algn="l"/>
              </a:tabLst>
              <a:defRPr/>
            </a:pPr>
            <a:endPar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endParaRPr>
          </a:p>
          <a:p>
            <a:pPr marL="0" marR="0" lvl="0" indent="128588" algn="just" defTabSz="914400" rtl="0" eaLnBrk="0" fontAlgn="auto" latinLnBrk="0" hangingPunct="0">
              <a:lnSpc>
                <a:spcPct val="150000"/>
              </a:lnSpc>
              <a:spcBef>
                <a:spcPts val="0"/>
              </a:spcBef>
              <a:spcAft>
                <a:spcPts val="0"/>
              </a:spcAft>
              <a:buClrTx/>
              <a:buSzTx/>
              <a:buFontTx/>
              <a:buNone/>
              <a:tabLst>
                <a:tab pos="409575" algn="l"/>
                <a:tab pos="546100" algn="l"/>
                <a:tab pos="819150" algn="l"/>
              </a:tabLst>
              <a:defRPr/>
            </a:pP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   将</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t</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a:t>
            </a:r>
            <a:r>
              <a:rPr kumimoji="0" lang="en-US" altLang="zh-CN" sz="2400" b="1" i="0"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t</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i+n</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代入响应曲线</a:t>
            </a:r>
            <a:r>
              <a:rPr kumimoji="0" lang="en-US" altLang="zh-CN"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可求出</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和</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i+n</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，或在响应曲线上直接量出</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和</a:t>
            </a:r>
            <a:r>
              <a:rPr kumimoji="0" lang="en-US" altLang="zh-CN" sz="2400" b="1" i="1" u="none" strike="noStrike" kern="1200" cap="none" spc="0" normalizeH="0" baseline="0" noProof="0" dirty="0" err="1">
                <a:ln>
                  <a:noFill/>
                </a:ln>
                <a:solidFill>
                  <a:prstClr val="black"/>
                </a:solidFill>
                <a:effectLst/>
                <a:uLnTx/>
                <a:uFillTx/>
                <a:latin typeface="Times New Roman" pitchFamily="18" charset="0"/>
                <a:ea typeface="宋体" pitchFamily="2" charset="-122"/>
                <a:cs typeface="Times New Roman" pitchFamily="18" charset="0"/>
              </a:rPr>
              <a:t>M</a:t>
            </a:r>
            <a:r>
              <a:rPr kumimoji="0" lang="en-US" altLang="zh-CN" sz="2400" b="1" i="1" u="none" strike="noStrike" kern="1200" cap="none" spc="0" normalizeH="0" baseline="-30000" noProof="0" dirty="0" err="1">
                <a:ln>
                  <a:noFill/>
                </a:ln>
                <a:solidFill>
                  <a:prstClr val="black"/>
                </a:solidFill>
                <a:effectLst/>
                <a:uLnTx/>
                <a:uFillTx/>
                <a:latin typeface="Times New Roman" pitchFamily="18" charset="0"/>
                <a:ea typeface="宋体" pitchFamily="2" charset="-122"/>
                <a:cs typeface="Times New Roman" pitchFamily="18" charset="0"/>
              </a:rPr>
              <a:t>i+n</a:t>
            </a:r>
            <a:r>
              <a:rPr kumimoji="0" lang="en-US" altLang="zh-CN" sz="2400" b="1" i="1" u="none" strike="noStrike" kern="1200" cap="none" spc="0" normalizeH="0" baseline="-30000" noProof="0" dirty="0">
                <a:ln>
                  <a:noFill/>
                </a:ln>
                <a:solidFill>
                  <a:prstClr val="black"/>
                </a:solidFill>
                <a:effectLst/>
                <a:uLnTx/>
                <a:uFillTx/>
                <a:latin typeface="Times New Roman" pitchFamily="18" charset="0"/>
                <a:ea typeface="宋体" pitchFamily="2" charset="-122"/>
                <a:cs typeface="Times New Roman" pitchFamily="18" charset="0"/>
              </a:rPr>
              <a:t> </a:t>
            </a:r>
            <a:r>
              <a:rPr kumimoji="0" lang="zh-CN" altLang="en-US" sz="2400" b="1" i="0" u="none" strike="noStrike" kern="1200" cap="none" spc="0" normalizeH="0" baseline="0" noProof="0" dirty="0">
                <a:ln>
                  <a:noFill/>
                </a:ln>
                <a:solidFill>
                  <a:prstClr val="black"/>
                </a:solidFill>
                <a:effectLst/>
                <a:uLnTx/>
                <a:uFillTx/>
                <a:latin typeface="Times New Roman" pitchFamily="18" charset="0"/>
                <a:ea typeface="宋体" pitchFamily="2" charset="-122"/>
                <a:cs typeface="Times New Roman" pitchFamily="18" charset="0"/>
              </a:rPr>
              <a:t>。</a:t>
            </a:r>
          </a:p>
        </p:txBody>
      </p:sp>
      <p:graphicFrame>
        <p:nvGraphicFramePr>
          <p:cNvPr id="3" name="Object 5"/>
          <p:cNvGraphicFramePr>
            <a:graphicFrameLocks noChangeAspect="1"/>
          </p:cNvGraphicFramePr>
          <p:nvPr/>
        </p:nvGraphicFramePr>
        <p:xfrm>
          <a:off x="1475656" y="3501008"/>
          <a:ext cx="1766887" cy="942975"/>
        </p:xfrm>
        <a:graphic>
          <a:graphicData uri="http://schemas.openxmlformats.org/presentationml/2006/ole">
            <mc:AlternateContent xmlns:mc="http://schemas.openxmlformats.org/markup-compatibility/2006">
              <mc:Choice xmlns:v="urn:schemas-microsoft-com:vml" Requires="v">
                <p:oleObj spid="_x0000_s10248" r:id="rId3" imgW="828704" imgH="438163" progId="Equation.3">
                  <p:embed/>
                </p:oleObj>
              </mc:Choice>
              <mc:Fallback>
                <p:oleObj r:id="rId3" imgW="828704" imgH="438163" progId="Equation.3">
                  <p:embed/>
                  <p:pic>
                    <p:nvPicPr>
                      <p:cNvPr id="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3501008"/>
                        <a:ext cx="1766887"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6"/>
          <p:cNvGraphicFramePr>
            <a:graphicFrameLocks noChangeAspect="1"/>
          </p:cNvGraphicFramePr>
          <p:nvPr/>
        </p:nvGraphicFramePr>
        <p:xfrm>
          <a:off x="4211960" y="3501008"/>
          <a:ext cx="4362450" cy="990600"/>
        </p:xfrm>
        <a:graphic>
          <a:graphicData uri="http://schemas.openxmlformats.org/presentationml/2006/ole">
            <mc:AlternateContent xmlns:mc="http://schemas.openxmlformats.org/markup-compatibility/2006">
              <mc:Choice xmlns:v="urn:schemas-microsoft-com:vml" Requires="v">
                <p:oleObj spid="_x0000_s10249" r:id="rId5" imgW="2171739" imgH="485736" progId="Equation.3">
                  <p:embed/>
                </p:oleObj>
              </mc:Choice>
              <mc:Fallback>
                <p:oleObj r:id="rId5" imgW="2171739" imgH="485736" progId="Equation.3">
                  <p:embed/>
                  <p:pic>
                    <p:nvPicPr>
                      <p:cNvPr id="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960" y="3501008"/>
                        <a:ext cx="43624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8"/>
          <p:cNvGraphicFramePr>
            <a:graphicFrameLocks noChangeAspect="1"/>
          </p:cNvGraphicFramePr>
          <p:nvPr/>
        </p:nvGraphicFramePr>
        <p:xfrm>
          <a:off x="3275856" y="1083876"/>
          <a:ext cx="2971800" cy="1095375"/>
        </p:xfrm>
        <a:graphic>
          <a:graphicData uri="http://schemas.openxmlformats.org/presentationml/2006/ole">
            <mc:AlternateContent xmlns:mc="http://schemas.openxmlformats.org/markup-compatibility/2006">
              <mc:Choice xmlns:v="urn:schemas-microsoft-com:vml" Requires="v">
                <p:oleObj spid="_x0000_s10250" r:id="rId3" imgW="1257223" imgH="457084" progId="Equation.3">
                  <p:embed/>
                </p:oleObj>
              </mc:Choice>
              <mc:Fallback>
                <p:oleObj r:id="rId3" imgW="1257223" imgH="457084" progId="Equation.3">
                  <p:embed/>
                  <p:pic>
                    <p:nvPicPr>
                      <p:cNvPr id="5"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56" y="1083876"/>
                        <a:ext cx="297180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Slide Number Placeholder 6">
            <a:extLst>
              <a:ext uri="{FF2B5EF4-FFF2-40B4-BE49-F238E27FC236}">
                <a16:creationId xmlns:a16="http://schemas.microsoft.com/office/drawing/2014/main" id="{0F16C9AD-AB88-4284-B16B-D691626D11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11BA4E-7967-4102-867C-9D230A2E6791}" type="slidenum">
              <a:rPr kumimoji="0" lang="zh-CN" altLang="en-US" sz="1200" b="0" i="0" u="none" strike="noStrike" kern="1200" cap="none" spc="0" normalizeH="0" baseline="0" noProof="0" smtClean="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tint val="75000"/>
                </a:prstClr>
              </a:solidFill>
              <a:effectLst/>
              <a:uLnTx/>
              <a:uFillTx/>
              <a:latin typeface="Palatino Linotype" panose="02040502050505030304" pitchFamily="18" charset="0"/>
              <a:ea typeface="等线" panose="02010600030101010101" pitchFamily="2" charset="-122"/>
              <a:cs typeface="+mn-cs"/>
            </a:endParaRPr>
          </a:p>
        </p:txBody>
      </p:sp>
    </p:spTree>
    <p:extLst>
      <p:ext uri="{BB962C8B-B14F-4D97-AF65-F5344CB8AC3E}">
        <p14:creationId xmlns:p14="http://schemas.microsoft.com/office/powerpoint/2010/main" val="1698665594"/>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1853</Words>
  <Application>Microsoft Office PowerPoint</Application>
  <PresentationFormat>On-screen Show (4:3)</PresentationFormat>
  <Paragraphs>171</Paragraphs>
  <Slides>23</Slides>
  <Notes>1</Notes>
  <HiddenSlides>5</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4</vt:i4>
      </vt:variant>
      <vt:variant>
        <vt:lpstr>Slide Titles</vt:lpstr>
      </vt:variant>
      <vt:variant>
        <vt:i4>23</vt:i4>
      </vt:variant>
    </vt:vector>
  </HeadingPairs>
  <TitlesOfParts>
    <vt:vector size="39" baseType="lpstr">
      <vt:lpstr>宋体</vt:lpstr>
      <vt:lpstr>微软雅黑</vt:lpstr>
      <vt:lpstr>等线</vt:lpstr>
      <vt:lpstr>等线 Light</vt:lpstr>
      <vt:lpstr>Arial</vt:lpstr>
      <vt:lpstr>Calibri</vt:lpstr>
      <vt:lpstr>Calibri Light</vt:lpstr>
      <vt:lpstr>Palatino Linotype</vt:lpstr>
      <vt:lpstr>Times New Roman</vt:lpstr>
      <vt:lpstr>Wingdings</vt:lpstr>
      <vt:lpstr>Office Theme</vt:lpstr>
      <vt:lpstr>Office 主题​​</vt:lpstr>
      <vt:lpstr>Equation.3</vt:lpstr>
      <vt:lpstr>Flash 影片</vt:lpstr>
      <vt:lpstr>Equation</vt:lpstr>
      <vt:lpstr>公式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nyu</dc:creator>
  <cp:lastModifiedBy>nyu</cp:lastModifiedBy>
  <cp:revision>3</cp:revision>
  <dcterms:created xsi:type="dcterms:W3CDTF">2022-11-30T22:09:18Z</dcterms:created>
  <dcterms:modified xsi:type="dcterms:W3CDTF">2022-11-30T22:32:46Z</dcterms:modified>
</cp:coreProperties>
</file>