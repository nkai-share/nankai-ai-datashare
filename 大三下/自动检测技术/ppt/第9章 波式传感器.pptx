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4"/>
  </p:notesMasterIdLst>
  <p:sldIdLst>
    <p:sldId id="259" r:id="rId2"/>
    <p:sldId id="314" r:id="rId3"/>
    <p:sldId id="352" r:id="rId4"/>
    <p:sldId id="258" r:id="rId5"/>
    <p:sldId id="260" r:id="rId6"/>
    <p:sldId id="262" r:id="rId7"/>
    <p:sldId id="275" r:id="rId8"/>
    <p:sldId id="264" r:id="rId9"/>
    <p:sldId id="276" r:id="rId10"/>
    <p:sldId id="277" r:id="rId11"/>
    <p:sldId id="278" r:id="rId12"/>
    <p:sldId id="279" r:id="rId13"/>
    <p:sldId id="353" r:id="rId14"/>
    <p:sldId id="280" r:id="rId15"/>
    <p:sldId id="315" r:id="rId16"/>
    <p:sldId id="289" r:id="rId17"/>
    <p:sldId id="354" r:id="rId18"/>
    <p:sldId id="316" r:id="rId19"/>
    <p:sldId id="317" r:id="rId20"/>
    <p:sldId id="355" r:id="rId21"/>
    <p:sldId id="318" r:id="rId22"/>
    <p:sldId id="319" r:id="rId23"/>
    <p:sldId id="320" r:id="rId24"/>
    <p:sldId id="321" r:id="rId25"/>
    <p:sldId id="322" r:id="rId26"/>
    <p:sldId id="356" r:id="rId27"/>
    <p:sldId id="323" r:id="rId28"/>
    <p:sldId id="324" r:id="rId29"/>
    <p:sldId id="325" r:id="rId30"/>
    <p:sldId id="326" r:id="rId31"/>
    <p:sldId id="327" r:id="rId32"/>
    <p:sldId id="328" r:id="rId33"/>
    <p:sldId id="329" r:id="rId34"/>
    <p:sldId id="357" r:id="rId35"/>
    <p:sldId id="330" r:id="rId36"/>
    <p:sldId id="331" r:id="rId37"/>
    <p:sldId id="332" r:id="rId38"/>
    <p:sldId id="373" r:id="rId39"/>
    <p:sldId id="338" r:id="rId40"/>
    <p:sldId id="333" r:id="rId41"/>
    <p:sldId id="339" r:id="rId42"/>
    <p:sldId id="340" r:id="rId43"/>
    <p:sldId id="341" r:id="rId44"/>
    <p:sldId id="342" r:id="rId45"/>
    <p:sldId id="344" r:id="rId46"/>
    <p:sldId id="374" r:id="rId47"/>
    <p:sldId id="346" r:id="rId48"/>
    <p:sldId id="347" r:id="rId49"/>
    <p:sldId id="348" r:id="rId50"/>
    <p:sldId id="350" r:id="rId51"/>
    <p:sldId id="351" r:id="rId52"/>
    <p:sldId id="274" r:id="rId53"/>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63" userDrawn="1">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33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90" d="100"/>
          <a:sy n="90" d="100"/>
        </p:scale>
        <p:origin x="993" y="66"/>
      </p:cViewPr>
      <p:guideLst>
        <p:guide orient="horz" pos="2863"/>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3.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3.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26.wmf"/><Relationship Id="rId2" Type="http://schemas.openxmlformats.org/officeDocument/2006/relationships/image" Target="../media/image25.wmf"/><Relationship Id="rId1" Type="http://schemas.openxmlformats.org/officeDocument/2006/relationships/image" Target="../media/image24.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31.wmf"/><Relationship Id="rId2" Type="http://schemas.openxmlformats.org/officeDocument/2006/relationships/image" Target="../media/image30.wmf"/><Relationship Id="rId1" Type="http://schemas.openxmlformats.org/officeDocument/2006/relationships/image" Target="../media/image29.wmf"/><Relationship Id="rId4" Type="http://schemas.openxmlformats.org/officeDocument/2006/relationships/image" Target="../media/image32.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32.wmf"/><Relationship Id="rId1" Type="http://schemas.openxmlformats.org/officeDocument/2006/relationships/image" Target="../media/image33.w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37.wmf"/><Relationship Id="rId1" Type="http://schemas.openxmlformats.org/officeDocument/2006/relationships/image" Target="../media/image36.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04BFE69-A663-48FE-847E-961ADB1B89B2}" type="datetimeFigureOut">
              <a:rPr lang="zh-CN" altLang="en-US" smtClean="0"/>
              <a:t>2023/11/29</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48BAB27-5BFC-45E6-A928-A1804196FCF3}" type="slidenum">
              <a:rPr lang="zh-CN" altLang="en-US" smtClean="0"/>
              <a:t>‹#›</a:t>
            </a:fld>
            <a:endParaRPr lang="zh-CN" altLang="en-US"/>
          </a:p>
        </p:txBody>
      </p:sp>
    </p:spTree>
    <p:extLst>
      <p:ext uri="{BB962C8B-B14F-4D97-AF65-F5344CB8AC3E}">
        <p14:creationId xmlns:p14="http://schemas.microsoft.com/office/powerpoint/2010/main" val="41505015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2</a:t>
            </a:fld>
            <a:endParaRPr lang="zh-CN" altLang="en-US"/>
          </a:p>
        </p:txBody>
      </p:sp>
    </p:spTree>
    <p:extLst>
      <p:ext uri="{BB962C8B-B14F-4D97-AF65-F5344CB8AC3E}">
        <p14:creationId xmlns:p14="http://schemas.microsoft.com/office/powerpoint/2010/main" val="5148855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3</a:t>
            </a:fld>
            <a:endParaRPr lang="zh-CN" altLang="en-US"/>
          </a:p>
        </p:txBody>
      </p:sp>
    </p:spTree>
    <p:extLst>
      <p:ext uri="{BB962C8B-B14F-4D97-AF65-F5344CB8AC3E}">
        <p14:creationId xmlns:p14="http://schemas.microsoft.com/office/powerpoint/2010/main" val="31755986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6</a:t>
            </a:fld>
            <a:endParaRPr lang="zh-CN" altLang="en-US"/>
          </a:p>
        </p:txBody>
      </p:sp>
    </p:spTree>
    <p:extLst>
      <p:ext uri="{BB962C8B-B14F-4D97-AF65-F5344CB8AC3E}">
        <p14:creationId xmlns:p14="http://schemas.microsoft.com/office/powerpoint/2010/main" val="29389908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7</a:t>
            </a:fld>
            <a:endParaRPr lang="zh-CN" altLang="en-US"/>
          </a:p>
        </p:txBody>
      </p:sp>
    </p:spTree>
    <p:extLst>
      <p:ext uri="{BB962C8B-B14F-4D97-AF65-F5344CB8AC3E}">
        <p14:creationId xmlns:p14="http://schemas.microsoft.com/office/powerpoint/2010/main" val="25301920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8</a:t>
            </a:fld>
            <a:endParaRPr lang="zh-CN" altLang="en-US"/>
          </a:p>
        </p:txBody>
      </p:sp>
    </p:spTree>
    <p:extLst>
      <p:ext uri="{BB962C8B-B14F-4D97-AF65-F5344CB8AC3E}">
        <p14:creationId xmlns:p14="http://schemas.microsoft.com/office/powerpoint/2010/main" val="5970684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9</a:t>
            </a:fld>
            <a:endParaRPr lang="zh-CN" altLang="en-US"/>
          </a:p>
        </p:txBody>
      </p:sp>
    </p:spTree>
    <p:extLst>
      <p:ext uri="{BB962C8B-B14F-4D97-AF65-F5344CB8AC3E}">
        <p14:creationId xmlns:p14="http://schemas.microsoft.com/office/powerpoint/2010/main" val="21280367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10</a:t>
            </a:fld>
            <a:endParaRPr lang="zh-CN" altLang="en-US"/>
          </a:p>
        </p:txBody>
      </p:sp>
    </p:spTree>
    <p:extLst>
      <p:ext uri="{BB962C8B-B14F-4D97-AF65-F5344CB8AC3E}">
        <p14:creationId xmlns:p14="http://schemas.microsoft.com/office/powerpoint/2010/main" val="40975722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11</a:t>
            </a:fld>
            <a:endParaRPr lang="zh-CN" altLang="en-US"/>
          </a:p>
        </p:txBody>
      </p:sp>
    </p:spTree>
    <p:extLst>
      <p:ext uri="{BB962C8B-B14F-4D97-AF65-F5344CB8AC3E}">
        <p14:creationId xmlns:p14="http://schemas.microsoft.com/office/powerpoint/2010/main" val="11510257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12</a:t>
            </a:fld>
            <a:endParaRPr lang="zh-CN" altLang="en-US"/>
          </a:p>
        </p:txBody>
      </p:sp>
    </p:spTree>
    <p:extLst>
      <p:ext uri="{BB962C8B-B14F-4D97-AF65-F5344CB8AC3E}">
        <p14:creationId xmlns:p14="http://schemas.microsoft.com/office/powerpoint/2010/main" val="8984242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13</a:t>
            </a:fld>
            <a:endParaRPr lang="zh-CN" altLang="en-US"/>
          </a:p>
        </p:txBody>
      </p:sp>
    </p:spTree>
    <p:extLst>
      <p:ext uri="{BB962C8B-B14F-4D97-AF65-F5344CB8AC3E}">
        <p14:creationId xmlns:p14="http://schemas.microsoft.com/office/powerpoint/2010/main" val="6302193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14</a:t>
            </a:fld>
            <a:endParaRPr lang="zh-CN" altLang="en-US"/>
          </a:p>
        </p:txBody>
      </p:sp>
    </p:spTree>
    <p:extLst>
      <p:ext uri="{BB962C8B-B14F-4D97-AF65-F5344CB8AC3E}">
        <p14:creationId xmlns:p14="http://schemas.microsoft.com/office/powerpoint/2010/main" val="30582239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15</a:t>
            </a:fld>
            <a:endParaRPr lang="zh-CN" altLang="en-US"/>
          </a:p>
        </p:txBody>
      </p:sp>
    </p:spTree>
    <p:extLst>
      <p:ext uri="{BB962C8B-B14F-4D97-AF65-F5344CB8AC3E}">
        <p14:creationId xmlns:p14="http://schemas.microsoft.com/office/powerpoint/2010/main" val="59515102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19</a:t>
            </a:fld>
            <a:endParaRPr lang="zh-CN" altLang="en-US"/>
          </a:p>
        </p:txBody>
      </p:sp>
    </p:spTree>
    <p:extLst>
      <p:ext uri="{BB962C8B-B14F-4D97-AF65-F5344CB8AC3E}">
        <p14:creationId xmlns:p14="http://schemas.microsoft.com/office/powerpoint/2010/main" val="13134977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20</a:t>
            </a:fld>
            <a:endParaRPr lang="zh-CN" altLang="en-US"/>
          </a:p>
        </p:txBody>
      </p:sp>
    </p:spTree>
    <p:extLst>
      <p:ext uri="{BB962C8B-B14F-4D97-AF65-F5344CB8AC3E}">
        <p14:creationId xmlns:p14="http://schemas.microsoft.com/office/powerpoint/2010/main" val="231475462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21</a:t>
            </a:fld>
            <a:endParaRPr lang="zh-CN" altLang="en-US"/>
          </a:p>
        </p:txBody>
      </p:sp>
    </p:spTree>
    <p:extLst>
      <p:ext uri="{BB962C8B-B14F-4D97-AF65-F5344CB8AC3E}">
        <p14:creationId xmlns:p14="http://schemas.microsoft.com/office/powerpoint/2010/main" val="326103537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22</a:t>
            </a:fld>
            <a:endParaRPr lang="zh-CN" altLang="en-US"/>
          </a:p>
        </p:txBody>
      </p:sp>
    </p:spTree>
    <p:extLst>
      <p:ext uri="{BB962C8B-B14F-4D97-AF65-F5344CB8AC3E}">
        <p14:creationId xmlns:p14="http://schemas.microsoft.com/office/powerpoint/2010/main" val="260955030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23</a:t>
            </a:fld>
            <a:endParaRPr lang="zh-CN" altLang="en-US"/>
          </a:p>
        </p:txBody>
      </p:sp>
    </p:spTree>
    <p:extLst>
      <p:ext uri="{BB962C8B-B14F-4D97-AF65-F5344CB8AC3E}">
        <p14:creationId xmlns:p14="http://schemas.microsoft.com/office/powerpoint/2010/main" val="66855370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24</a:t>
            </a:fld>
            <a:endParaRPr lang="zh-CN" altLang="en-US"/>
          </a:p>
        </p:txBody>
      </p:sp>
    </p:spTree>
    <p:extLst>
      <p:ext uri="{BB962C8B-B14F-4D97-AF65-F5344CB8AC3E}">
        <p14:creationId xmlns:p14="http://schemas.microsoft.com/office/powerpoint/2010/main" val="343978253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25</a:t>
            </a:fld>
            <a:endParaRPr lang="zh-CN" altLang="en-US"/>
          </a:p>
        </p:txBody>
      </p:sp>
    </p:spTree>
    <p:extLst>
      <p:ext uri="{BB962C8B-B14F-4D97-AF65-F5344CB8AC3E}">
        <p14:creationId xmlns:p14="http://schemas.microsoft.com/office/powerpoint/2010/main" val="276254499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26</a:t>
            </a:fld>
            <a:endParaRPr lang="zh-CN" altLang="en-US"/>
          </a:p>
        </p:txBody>
      </p:sp>
    </p:spTree>
    <p:extLst>
      <p:ext uri="{BB962C8B-B14F-4D97-AF65-F5344CB8AC3E}">
        <p14:creationId xmlns:p14="http://schemas.microsoft.com/office/powerpoint/2010/main" val="286132908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28</a:t>
            </a:fld>
            <a:endParaRPr lang="zh-CN" altLang="en-US"/>
          </a:p>
        </p:txBody>
      </p:sp>
    </p:spTree>
    <p:extLst>
      <p:ext uri="{BB962C8B-B14F-4D97-AF65-F5344CB8AC3E}">
        <p14:creationId xmlns:p14="http://schemas.microsoft.com/office/powerpoint/2010/main" val="302058653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29</a:t>
            </a:fld>
            <a:endParaRPr lang="zh-CN" altLang="en-US"/>
          </a:p>
        </p:txBody>
      </p:sp>
    </p:spTree>
    <p:extLst>
      <p:ext uri="{BB962C8B-B14F-4D97-AF65-F5344CB8AC3E}">
        <p14:creationId xmlns:p14="http://schemas.microsoft.com/office/powerpoint/2010/main" val="131761109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30</a:t>
            </a:fld>
            <a:endParaRPr lang="zh-CN" altLang="en-US"/>
          </a:p>
        </p:txBody>
      </p:sp>
    </p:spTree>
    <p:extLst>
      <p:ext uri="{BB962C8B-B14F-4D97-AF65-F5344CB8AC3E}">
        <p14:creationId xmlns:p14="http://schemas.microsoft.com/office/powerpoint/2010/main" val="40788915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31</a:t>
            </a:fld>
            <a:endParaRPr lang="zh-CN" altLang="en-US"/>
          </a:p>
        </p:txBody>
      </p:sp>
    </p:spTree>
    <p:extLst>
      <p:ext uri="{BB962C8B-B14F-4D97-AF65-F5344CB8AC3E}">
        <p14:creationId xmlns:p14="http://schemas.microsoft.com/office/powerpoint/2010/main" val="188029938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32</a:t>
            </a:fld>
            <a:endParaRPr lang="zh-CN" altLang="en-US"/>
          </a:p>
        </p:txBody>
      </p:sp>
    </p:spTree>
    <p:extLst>
      <p:ext uri="{BB962C8B-B14F-4D97-AF65-F5344CB8AC3E}">
        <p14:creationId xmlns:p14="http://schemas.microsoft.com/office/powerpoint/2010/main" val="182733364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33</a:t>
            </a:fld>
            <a:endParaRPr lang="zh-CN" altLang="en-US"/>
          </a:p>
        </p:txBody>
      </p:sp>
    </p:spTree>
    <p:extLst>
      <p:ext uri="{BB962C8B-B14F-4D97-AF65-F5344CB8AC3E}">
        <p14:creationId xmlns:p14="http://schemas.microsoft.com/office/powerpoint/2010/main" val="414915358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34</a:t>
            </a:fld>
            <a:endParaRPr lang="zh-CN" altLang="en-US"/>
          </a:p>
        </p:txBody>
      </p:sp>
    </p:spTree>
    <p:extLst>
      <p:ext uri="{BB962C8B-B14F-4D97-AF65-F5344CB8AC3E}">
        <p14:creationId xmlns:p14="http://schemas.microsoft.com/office/powerpoint/2010/main" val="8189852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35</a:t>
            </a:fld>
            <a:endParaRPr lang="zh-CN" altLang="en-US"/>
          </a:p>
        </p:txBody>
      </p:sp>
    </p:spTree>
    <p:extLst>
      <p:ext uri="{BB962C8B-B14F-4D97-AF65-F5344CB8AC3E}">
        <p14:creationId xmlns:p14="http://schemas.microsoft.com/office/powerpoint/2010/main" val="142941277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36</a:t>
            </a:fld>
            <a:endParaRPr lang="zh-CN" altLang="en-US"/>
          </a:p>
        </p:txBody>
      </p:sp>
    </p:spTree>
    <p:extLst>
      <p:ext uri="{BB962C8B-B14F-4D97-AF65-F5344CB8AC3E}">
        <p14:creationId xmlns:p14="http://schemas.microsoft.com/office/powerpoint/2010/main" val="74281171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37</a:t>
            </a:fld>
            <a:endParaRPr lang="zh-CN" altLang="en-US"/>
          </a:p>
        </p:txBody>
      </p:sp>
    </p:spTree>
    <p:extLst>
      <p:ext uri="{BB962C8B-B14F-4D97-AF65-F5344CB8AC3E}">
        <p14:creationId xmlns:p14="http://schemas.microsoft.com/office/powerpoint/2010/main" val="125586892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38</a:t>
            </a:fld>
            <a:endParaRPr lang="zh-CN" altLang="en-US"/>
          </a:p>
        </p:txBody>
      </p:sp>
    </p:spTree>
    <p:extLst>
      <p:ext uri="{BB962C8B-B14F-4D97-AF65-F5344CB8AC3E}">
        <p14:creationId xmlns:p14="http://schemas.microsoft.com/office/powerpoint/2010/main" val="357172259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40</a:t>
            </a:fld>
            <a:endParaRPr lang="zh-CN" altLang="en-US"/>
          </a:p>
        </p:txBody>
      </p:sp>
    </p:spTree>
    <p:extLst>
      <p:ext uri="{BB962C8B-B14F-4D97-AF65-F5344CB8AC3E}">
        <p14:creationId xmlns:p14="http://schemas.microsoft.com/office/powerpoint/2010/main" val="184962897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41</a:t>
            </a:fld>
            <a:endParaRPr lang="zh-CN" altLang="en-US"/>
          </a:p>
        </p:txBody>
      </p:sp>
    </p:spTree>
    <p:extLst>
      <p:ext uri="{BB962C8B-B14F-4D97-AF65-F5344CB8AC3E}">
        <p14:creationId xmlns:p14="http://schemas.microsoft.com/office/powerpoint/2010/main" val="415823662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42</a:t>
            </a:fld>
            <a:endParaRPr lang="zh-CN" altLang="en-US"/>
          </a:p>
        </p:txBody>
      </p:sp>
    </p:spTree>
    <p:extLst>
      <p:ext uri="{BB962C8B-B14F-4D97-AF65-F5344CB8AC3E}">
        <p14:creationId xmlns:p14="http://schemas.microsoft.com/office/powerpoint/2010/main" val="350307206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43</a:t>
            </a:fld>
            <a:endParaRPr lang="zh-CN" altLang="en-US"/>
          </a:p>
        </p:txBody>
      </p:sp>
    </p:spTree>
    <p:extLst>
      <p:ext uri="{BB962C8B-B14F-4D97-AF65-F5344CB8AC3E}">
        <p14:creationId xmlns:p14="http://schemas.microsoft.com/office/powerpoint/2010/main" val="225173683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44</a:t>
            </a:fld>
            <a:endParaRPr lang="zh-CN" altLang="en-US"/>
          </a:p>
        </p:txBody>
      </p:sp>
    </p:spTree>
    <p:extLst>
      <p:ext uri="{BB962C8B-B14F-4D97-AF65-F5344CB8AC3E}">
        <p14:creationId xmlns:p14="http://schemas.microsoft.com/office/powerpoint/2010/main" val="378657072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45</a:t>
            </a:fld>
            <a:endParaRPr lang="zh-CN" altLang="en-US"/>
          </a:p>
        </p:txBody>
      </p:sp>
    </p:spTree>
    <p:extLst>
      <p:ext uri="{BB962C8B-B14F-4D97-AF65-F5344CB8AC3E}">
        <p14:creationId xmlns:p14="http://schemas.microsoft.com/office/powerpoint/2010/main" val="18476327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46</a:t>
            </a:fld>
            <a:endParaRPr lang="zh-CN" altLang="en-US"/>
          </a:p>
        </p:txBody>
      </p:sp>
    </p:spTree>
    <p:extLst>
      <p:ext uri="{BB962C8B-B14F-4D97-AF65-F5344CB8AC3E}">
        <p14:creationId xmlns:p14="http://schemas.microsoft.com/office/powerpoint/2010/main" val="67599497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47</a:t>
            </a:fld>
            <a:endParaRPr lang="zh-CN" altLang="en-US"/>
          </a:p>
        </p:txBody>
      </p:sp>
    </p:spTree>
    <p:extLst>
      <p:ext uri="{BB962C8B-B14F-4D97-AF65-F5344CB8AC3E}">
        <p14:creationId xmlns:p14="http://schemas.microsoft.com/office/powerpoint/2010/main" val="133000101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48</a:t>
            </a:fld>
            <a:endParaRPr lang="zh-CN" altLang="en-US"/>
          </a:p>
        </p:txBody>
      </p:sp>
    </p:spTree>
    <p:extLst>
      <p:ext uri="{BB962C8B-B14F-4D97-AF65-F5344CB8AC3E}">
        <p14:creationId xmlns:p14="http://schemas.microsoft.com/office/powerpoint/2010/main" val="181504231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49</a:t>
            </a:fld>
            <a:endParaRPr lang="zh-CN" altLang="en-US"/>
          </a:p>
        </p:txBody>
      </p:sp>
    </p:spTree>
    <p:extLst>
      <p:ext uri="{BB962C8B-B14F-4D97-AF65-F5344CB8AC3E}">
        <p14:creationId xmlns:p14="http://schemas.microsoft.com/office/powerpoint/2010/main" val="51105054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50</a:t>
            </a:fld>
            <a:endParaRPr lang="zh-CN" altLang="en-US"/>
          </a:p>
        </p:txBody>
      </p:sp>
    </p:spTree>
    <p:extLst>
      <p:ext uri="{BB962C8B-B14F-4D97-AF65-F5344CB8AC3E}">
        <p14:creationId xmlns:p14="http://schemas.microsoft.com/office/powerpoint/2010/main" val="318378630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51</a:t>
            </a:fld>
            <a:endParaRPr lang="zh-CN" altLang="en-US"/>
          </a:p>
        </p:txBody>
      </p:sp>
    </p:spTree>
    <p:extLst>
      <p:ext uri="{BB962C8B-B14F-4D97-AF65-F5344CB8AC3E}">
        <p14:creationId xmlns:p14="http://schemas.microsoft.com/office/powerpoint/2010/main" val="39592016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E8A77B2-F275-401E-BE64-269E25C46102}"/>
              </a:ext>
            </a:extLst>
          </p:cNvPr>
          <p:cNvSpPr>
            <a:spLocks noGrp="1"/>
          </p:cNvSpPr>
          <p:nvPr>
            <p:ph type="ctrTitle"/>
          </p:nvPr>
        </p:nvSpPr>
        <p:spPr>
          <a:xfrm>
            <a:off x="1143000" y="1122363"/>
            <a:ext cx="6858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251C4ABB-7329-4A6A-BDA0-EACE1859D34A}"/>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F3438BB9-8196-494C-9AD8-3B6604C5CDAC}"/>
              </a:ext>
            </a:extLst>
          </p:cNvPr>
          <p:cNvSpPr>
            <a:spLocks noGrp="1"/>
          </p:cNvSpPr>
          <p:nvPr>
            <p:ph type="dt" sz="half" idx="10"/>
          </p:nvPr>
        </p:nvSpPr>
        <p:spPr/>
        <p:txBody>
          <a:bodyPr/>
          <a:lstStyle/>
          <a:p>
            <a:fld id="{12ADBD05-6CFF-4720-9185-9B3EA46EF4B6}" type="datetime1">
              <a:rPr lang="zh-CN" altLang="en-US" smtClean="0"/>
              <a:t>2023/11/29</a:t>
            </a:fld>
            <a:endParaRPr lang="zh-CN" altLang="en-US"/>
          </a:p>
        </p:txBody>
      </p:sp>
      <p:sp>
        <p:nvSpPr>
          <p:cNvPr id="5" name="页脚占位符 4">
            <a:extLst>
              <a:ext uri="{FF2B5EF4-FFF2-40B4-BE49-F238E27FC236}">
                <a16:creationId xmlns:a16="http://schemas.microsoft.com/office/drawing/2014/main" id="{6CDAF673-F8AF-40E6-B4B5-2158D0FA654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F60D9B2-0370-4DA5-B376-17816134159F}"/>
              </a:ext>
            </a:extLst>
          </p:cNvPr>
          <p:cNvSpPr>
            <a:spLocks noGrp="1"/>
          </p:cNvSpPr>
          <p:nvPr>
            <p:ph type="sldNum" sz="quarter" idx="12"/>
          </p:nvPr>
        </p:nvSpPr>
        <p:spPr/>
        <p:txBody>
          <a:bodyPr/>
          <a:lstStyle/>
          <a:p>
            <a:fld id="{B53602B4-F12B-41CD-B648-531F86B2CC91}" type="slidenum">
              <a:rPr lang="zh-CN" altLang="en-US" smtClean="0"/>
              <a:t>‹#›</a:t>
            </a:fld>
            <a:endParaRPr lang="zh-CN" altLang="en-US"/>
          </a:p>
        </p:txBody>
      </p:sp>
    </p:spTree>
    <p:extLst>
      <p:ext uri="{BB962C8B-B14F-4D97-AF65-F5344CB8AC3E}">
        <p14:creationId xmlns:p14="http://schemas.microsoft.com/office/powerpoint/2010/main" val="41693137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E2204AC-87E5-4DB2-89CD-CF03E21968BA}"/>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C973FC29-5520-4781-967E-181FBC542255}"/>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FD90D8DC-A39A-451C-AA54-7EB1BA64F8E0}"/>
              </a:ext>
            </a:extLst>
          </p:cNvPr>
          <p:cNvSpPr>
            <a:spLocks noGrp="1"/>
          </p:cNvSpPr>
          <p:nvPr>
            <p:ph type="dt" sz="half" idx="10"/>
          </p:nvPr>
        </p:nvSpPr>
        <p:spPr/>
        <p:txBody>
          <a:bodyPr/>
          <a:lstStyle/>
          <a:p>
            <a:fld id="{4A8EF40E-542F-489B-9C2A-2A26CEF2F30B}" type="datetime1">
              <a:rPr lang="zh-CN" altLang="en-US" smtClean="0"/>
              <a:t>2023/11/29</a:t>
            </a:fld>
            <a:endParaRPr lang="zh-CN" altLang="en-US"/>
          </a:p>
        </p:txBody>
      </p:sp>
      <p:sp>
        <p:nvSpPr>
          <p:cNvPr id="5" name="页脚占位符 4">
            <a:extLst>
              <a:ext uri="{FF2B5EF4-FFF2-40B4-BE49-F238E27FC236}">
                <a16:creationId xmlns:a16="http://schemas.microsoft.com/office/drawing/2014/main" id="{D0E0C974-C4A4-4C1E-8270-ACDB2481818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A7E8C8C-992A-45D4-8D88-2F0CADE95904}"/>
              </a:ext>
            </a:extLst>
          </p:cNvPr>
          <p:cNvSpPr>
            <a:spLocks noGrp="1"/>
          </p:cNvSpPr>
          <p:nvPr>
            <p:ph type="sldNum" sz="quarter" idx="12"/>
          </p:nvPr>
        </p:nvSpPr>
        <p:spPr/>
        <p:txBody>
          <a:bodyPr/>
          <a:lstStyle/>
          <a:p>
            <a:fld id="{B53602B4-F12B-41CD-B648-531F86B2CC91}" type="slidenum">
              <a:rPr lang="zh-CN" altLang="en-US" smtClean="0"/>
              <a:t>‹#›</a:t>
            </a:fld>
            <a:endParaRPr lang="zh-CN" altLang="en-US"/>
          </a:p>
        </p:txBody>
      </p:sp>
    </p:spTree>
    <p:extLst>
      <p:ext uri="{BB962C8B-B14F-4D97-AF65-F5344CB8AC3E}">
        <p14:creationId xmlns:p14="http://schemas.microsoft.com/office/powerpoint/2010/main" val="13521704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B10B953-AC55-40E9-9FA2-3A7D6EAC813D}"/>
              </a:ext>
            </a:extLst>
          </p:cNvPr>
          <p:cNvSpPr>
            <a:spLocks noGrp="1"/>
          </p:cNvSpPr>
          <p:nvPr>
            <p:ph type="title"/>
          </p:nvPr>
        </p:nvSpPr>
        <p:spPr>
          <a:xfrm>
            <a:off x="623888" y="1709739"/>
            <a:ext cx="78867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3315B4A4-F7A2-4766-AC6F-A9017FD0F395}"/>
              </a:ext>
            </a:extLst>
          </p:cNvPr>
          <p:cNvSpPr>
            <a:spLocks noGrp="1"/>
          </p:cNvSpPr>
          <p:nvPr>
            <p:ph type="body" idx="1"/>
          </p:nvPr>
        </p:nvSpPr>
        <p:spPr>
          <a:xfrm>
            <a:off x="623888" y="4589464"/>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410A93CC-0BC2-47B9-90A9-D0649A7D4B9E}"/>
              </a:ext>
            </a:extLst>
          </p:cNvPr>
          <p:cNvSpPr>
            <a:spLocks noGrp="1"/>
          </p:cNvSpPr>
          <p:nvPr>
            <p:ph type="dt" sz="half" idx="10"/>
          </p:nvPr>
        </p:nvSpPr>
        <p:spPr/>
        <p:txBody>
          <a:bodyPr/>
          <a:lstStyle/>
          <a:p>
            <a:fld id="{BCCC83F4-16DB-4985-94BC-39CA9027F5E1}" type="datetime1">
              <a:rPr lang="zh-CN" altLang="en-US" smtClean="0"/>
              <a:t>2023/11/29</a:t>
            </a:fld>
            <a:endParaRPr lang="zh-CN" altLang="en-US"/>
          </a:p>
        </p:txBody>
      </p:sp>
      <p:sp>
        <p:nvSpPr>
          <p:cNvPr id="5" name="页脚占位符 4">
            <a:extLst>
              <a:ext uri="{FF2B5EF4-FFF2-40B4-BE49-F238E27FC236}">
                <a16:creationId xmlns:a16="http://schemas.microsoft.com/office/drawing/2014/main" id="{46D80B3E-7825-4CFB-8C23-3C0109060DE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FC5791B-0FE6-4433-8B48-7234C4CDBD72}"/>
              </a:ext>
            </a:extLst>
          </p:cNvPr>
          <p:cNvSpPr>
            <a:spLocks noGrp="1"/>
          </p:cNvSpPr>
          <p:nvPr>
            <p:ph type="sldNum" sz="quarter" idx="12"/>
          </p:nvPr>
        </p:nvSpPr>
        <p:spPr/>
        <p:txBody>
          <a:bodyPr/>
          <a:lstStyle/>
          <a:p>
            <a:fld id="{B53602B4-F12B-41CD-B648-531F86B2CC91}" type="slidenum">
              <a:rPr lang="zh-CN" altLang="en-US" smtClean="0"/>
              <a:t>‹#›</a:t>
            </a:fld>
            <a:endParaRPr lang="zh-CN" altLang="en-US"/>
          </a:p>
        </p:txBody>
      </p:sp>
    </p:spTree>
    <p:extLst>
      <p:ext uri="{BB962C8B-B14F-4D97-AF65-F5344CB8AC3E}">
        <p14:creationId xmlns:p14="http://schemas.microsoft.com/office/powerpoint/2010/main" val="39462271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6419C2D-7022-4885-A554-3BE09BB0646D}"/>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51DBE128-C0DA-4027-86C9-FFF5D2029243}"/>
              </a:ext>
            </a:extLst>
          </p:cNvPr>
          <p:cNvSpPr>
            <a:spLocks noGrp="1"/>
          </p:cNvSpPr>
          <p:nvPr>
            <p:ph sz="half" idx="1"/>
          </p:nvPr>
        </p:nvSpPr>
        <p:spPr>
          <a:xfrm>
            <a:off x="628650" y="1825625"/>
            <a:ext cx="38862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66242707-2762-4A32-AFF3-96E835AEAFCC}"/>
              </a:ext>
            </a:extLst>
          </p:cNvPr>
          <p:cNvSpPr>
            <a:spLocks noGrp="1"/>
          </p:cNvSpPr>
          <p:nvPr>
            <p:ph sz="half" idx="2"/>
          </p:nvPr>
        </p:nvSpPr>
        <p:spPr>
          <a:xfrm>
            <a:off x="4629150" y="1825625"/>
            <a:ext cx="38862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56ECCCC4-3C62-4F48-95AA-57B7B9089277}"/>
              </a:ext>
            </a:extLst>
          </p:cNvPr>
          <p:cNvSpPr>
            <a:spLocks noGrp="1"/>
          </p:cNvSpPr>
          <p:nvPr>
            <p:ph type="dt" sz="half" idx="10"/>
          </p:nvPr>
        </p:nvSpPr>
        <p:spPr/>
        <p:txBody>
          <a:bodyPr/>
          <a:lstStyle/>
          <a:p>
            <a:fld id="{42E20EAA-D4E7-4EB5-BA26-212A19ED60F9}" type="datetime1">
              <a:rPr lang="zh-CN" altLang="en-US" smtClean="0"/>
              <a:t>2023/11/29</a:t>
            </a:fld>
            <a:endParaRPr lang="zh-CN" altLang="en-US"/>
          </a:p>
        </p:txBody>
      </p:sp>
      <p:sp>
        <p:nvSpPr>
          <p:cNvPr id="6" name="页脚占位符 5">
            <a:extLst>
              <a:ext uri="{FF2B5EF4-FFF2-40B4-BE49-F238E27FC236}">
                <a16:creationId xmlns:a16="http://schemas.microsoft.com/office/drawing/2014/main" id="{4450AA4D-DB58-4F2D-A13E-3A9BF078B78C}"/>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91D8A18A-3D67-45FD-BFE9-86F00582FA74}"/>
              </a:ext>
            </a:extLst>
          </p:cNvPr>
          <p:cNvSpPr>
            <a:spLocks noGrp="1"/>
          </p:cNvSpPr>
          <p:nvPr>
            <p:ph type="sldNum" sz="quarter" idx="12"/>
          </p:nvPr>
        </p:nvSpPr>
        <p:spPr/>
        <p:txBody>
          <a:bodyPr/>
          <a:lstStyle/>
          <a:p>
            <a:fld id="{B53602B4-F12B-41CD-B648-531F86B2CC91}" type="slidenum">
              <a:rPr lang="zh-CN" altLang="en-US" smtClean="0"/>
              <a:t>‹#›</a:t>
            </a:fld>
            <a:endParaRPr lang="zh-CN" altLang="en-US"/>
          </a:p>
        </p:txBody>
      </p:sp>
    </p:spTree>
    <p:extLst>
      <p:ext uri="{BB962C8B-B14F-4D97-AF65-F5344CB8AC3E}">
        <p14:creationId xmlns:p14="http://schemas.microsoft.com/office/powerpoint/2010/main" val="35302213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D63BF7E-A1FF-44E0-AACB-9D016E2B8811}"/>
              </a:ext>
            </a:extLst>
          </p:cNvPr>
          <p:cNvSpPr>
            <a:spLocks noGrp="1"/>
          </p:cNvSpPr>
          <p:nvPr>
            <p:ph type="title"/>
          </p:nvPr>
        </p:nvSpPr>
        <p:spPr>
          <a:xfrm>
            <a:off x="629841" y="365126"/>
            <a:ext cx="78867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3DF0C992-632F-47A0-9404-B9A062F2D02A}"/>
              </a:ext>
            </a:extLst>
          </p:cNvPr>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D347DFF4-CA99-4F42-A134-2C7F53EF5668}"/>
              </a:ext>
            </a:extLst>
          </p:cNvPr>
          <p:cNvSpPr>
            <a:spLocks noGrp="1"/>
          </p:cNvSpPr>
          <p:nvPr>
            <p:ph sz="half" idx="2"/>
          </p:nvPr>
        </p:nvSpPr>
        <p:spPr>
          <a:xfrm>
            <a:off x="629842" y="2505075"/>
            <a:ext cx="3868340"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8F570E22-A2CF-47E2-AAEA-DBD1DD6BCDFA}"/>
              </a:ext>
            </a:extLst>
          </p:cNvPr>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E16BA21E-3BAC-43D9-B72C-4661EA1DAE90}"/>
              </a:ext>
            </a:extLst>
          </p:cNvPr>
          <p:cNvSpPr>
            <a:spLocks noGrp="1"/>
          </p:cNvSpPr>
          <p:nvPr>
            <p:ph sz="quarter" idx="4"/>
          </p:nvPr>
        </p:nvSpPr>
        <p:spPr>
          <a:xfrm>
            <a:off x="4629150" y="2505075"/>
            <a:ext cx="3887391"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5DC0ACD5-396D-4CFA-B5B4-1AE34233F273}"/>
              </a:ext>
            </a:extLst>
          </p:cNvPr>
          <p:cNvSpPr>
            <a:spLocks noGrp="1"/>
          </p:cNvSpPr>
          <p:nvPr>
            <p:ph type="dt" sz="half" idx="10"/>
          </p:nvPr>
        </p:nvSpPr>
        <p:spPr/>
        <p:txBody>
          <a:bodyPr/>
          <a:lstStyle/>
          <a:p>
            <a:fld id="{4A27A52B-A297-4852-8951-EE5161C0BAD8}" type="datetime1">
              <a:rPr lang="zh-CN" altLang="en-US" smtClean="0"/>
              <a:t>2023/11/29</a:t>
            </a:fld>
            <a:endParaRPr lang="zh-CN" altLang="en-US"/>
          </a:p>
        </p:txBody>
      </p:sp>
      <p:sp>
        <p:nvSpPr>
          <p:cNvPr id="8" name="页脚占位符 7">
            <a:extLst>
              <a:ext uri="{FF2B5EF4-FFF2-40B4-BE49-F238E27FC236}">
                <a16:creationId xmlns:a16="http://schemas.microsoft.com/office/drawing/2014/main" id="{EACC64C2-9443-44FE-B48B-A78D5151932C}"/>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11EF5856-007B-458E-9E95-6F446DFC150D}"/>
              </a:ext>
            </a:extLst>
          </p:cNvPr>
          <p:cNvSpPr>
            <a:spLocks noGrp="1"/>
          </p:cNvSpPr>
          <p:nvPr>
            <p:ph type="sldNum" sz="quarter" idx="12"/>
          </p:nvPr>
        </p:nvSpPr>
        <p:spPr/>
        <p:txBody>
          <a:bodyPr/>
          <a:lstStyle/>
          <a:p>
            <a:fld id="{B53602B4-F12B-41CD-B648-531F86B2CC91}" type="slidenum">
              <a:rPr lang="zh-CN" altLang="en-US" smtClean="0"/>
              <a:t>‹#›</a:t>
            </a:fld>
            <a:endParaRPr lang="zh-CN" altLang="en-US"/>
          </a:p>
        </p:txBody>
      </p:sp>
    </p:spTree>
    <p:extLst>
      <p:ext uri="{BB962C8B-B14F-4D97-AF65-F5344CB8AC3E}">
        <p14:creationId xmlns:p14="http://schemas.microsoft.com/office/powerpoint/2010/main" val="27414093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5A3450B-6179-4394-9854-1DEF2BF1C8CD}"/>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C5CCBF5A-8CE1-4D3D-A008-5D1B2033E71F}"/>
              </a:ext>
            </a:extLst>
          </p:cNvPr>
          <p:cNvSpPr>
            <a:spLocks noGrp="1"/>
          </p:cNvSpPr>
          <p:nvPr>
            <p:ph type="dt" sz="half" idx="10"/>
          </p:nvPr>
        </p:nvSpPr>
        <p:spPr/>
        <p:txBody>
          <a:bodyPr/>
          <a:lstStyle/>
          <a:p>
            <a:fld id="{F7683B46-97AD-4E6A-A2A3-D2D7D3810CDB}" type="datetime1">
              <a:rPr lang="zh-CN" altLang="en-US" smtClean="0"/>
              <a:t>2023/11/29</a:t>
            </a:fld>
            <a:endParaRPr lang="zh-CN" altLang="en-US"/>
          </a:p>
        </p:txBody>
      </p:sp>
      <p:sp>
        <p:nvSpPr>
          <p:cNvPr id="4" name="页脚占位符 3">
            <a:extLst>
              <a:ext uri="{FF2B5EF4-FFF2-40B4-BE49-F238E27FC236}">
                <a16:creationId xmlns:a16="http://schemas.microsoft.com/office/drawing/2014/main" id="{A93B54C5-141D-49F2-BEF6-17AB4C673BC3}"/>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3D0F43F9-BCAC-4BEB-9CF2-9DC7BFFBA75E}"/>
              </a:ext>
            </a:extLst>
          </p:cNvPr>
          <p:cNvSpPr>
            <a:spLocks noGrp="1"/>
          </p:cNvSpPr>
          <p:nvPr>
            <p:ph type="sldNum" sz="quarter" idx="12"/>
          </p:nvPr>
        </p:nvSpPr>
        <p:spPr/>
        <p:txBody>
          <a:bodyPr/>
          <a:lstStyle/>
          <a:p>
            <a:fld id="{B53602B4-F12B-41CD-B648-531F86B2CC91}" type="slidenum">
              <a:rPr lang="zh-CN" altLang="en-US" smtClean="0"/>
              <a:t>‹#›</a:t>
            </a:fld>
            <a:endParaRPr lang="zh-CN" altLang="en-US"/>
          </a:p>
        </p:txBody>
      </p:sp>
    </p:spTree>
    <p:extLst>
      <p:ext uri="{BB962C8B-B14F-4D97-AF65-F5344CB8AC3E}">
        <p14:creationId xmlns:p14="http://schemas.microsoft.com/office/powerpoint/2010/main" val="23382299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253429FB-40C6-4E3D-911C-F801DC6C5097}"/>
              </a:ext>
            </a:extLst>
          </p:cNvPr>
          <p:cNvSpPr>
            <a:spLocks noGrp="1"/>
          </p:cNvSpPr>
          <p:nvPr>
            <p:ph type="dt" sz="half" idx="10"/>
          </p:nvPr>
        </p:nvSpPr>
        <p:spPr/>
        <p:txBody>
          <a:bodyPr/>
          <a:lstStyle/>
          <a:p>
            <a:fld id="{DF7800D2-45DE-4F40-BF73-0FCA578EF7A3}" type="datetime1">
              <a:rPr lang="zh-CN" altLang="en-US" smtClean="0"/>
              <a:t>2023/11/29</a:t>
            </a:fld>
            <a:endParaRPr lang="zh-CN" altLang="en-US"/>
          </a:p>
        </p:txBody>
      </p:sp>
      <p:sp>
        <p:nvSpPr>
          <p:cNvPr id="3" name="页脚占位符 2">
            <a:extLst>
              <a:ext uri="{FF2B5EF4-FFF2-40B4-BE49-F238E27FC236}">
                <a16:creationId xmlns:a16="http://schemas.microsoft.com/office/drawing/2014/main" id="{6185C74C-0394-425E-B4BF-C7D9B9826E42}"/>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8D774993-11BB-411B-8AD0-A798096FA101}"/>
              </a:ext>
            </a:extLst>
          </p:cNvPr>
          <p:cNvSpPr>
            <a:spLocks noGrp="1"/>
          </p:cNvSpPr>
          <p:nvPr>
            <p:ph type="sldNum" sz="quarter" idx="12"/>
          </p:nvPr>
        </p:nvSpPr>
        <p:spPr/>
        <p:txBody>
          <a:bodyPr/>
          <a:lstStyle/>
          <a:p>
            <a:fld id="{B53602B4-F12B-41CD-B648-531F86B2CC91}" type="slidenum">
              <a:rPr lang="zh-CN" altLang="en-US" smtClean="0"/>
              <a:t>‹#›</a:t>
            </a:fld>
            <a:endParaRPr lang="zh-CN" altLang="en-US"/>
          </a:p>
        </p:txBody>
      </p:sp>
    </p:spTree>
    <p:extLst>
      <p:ext uri="{BB962C8B-B14F-4D97-AF65-F5344CB8AC3E}">
        <p14:creationId xmlns:p14="http://schemas.microsoft.com/office/powerpoint/2010/main" val="41059334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04F4BBD-2A89-457F-BE56-40386CCE9D84}"/>
              </a:ext>
            </a:extLst>
          </p:cNvPr>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91FFA88D-4B21-43CC-8A20-218F697A753D}"/>
              </a:ext>
            </a:extLst>
          </p:cNvPr>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097CD907-742B-4930-AB39-9BBA1FE81690}"/>
              </a:ext>
            </a:extLst>
          </p:cNvPr>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F0F757C9-B846-447B-B9DD-5366AC1FFF37}"/>
              </a:ext>
            </a:extLst>
          </p:cNvPr>
          <p:cNvSpPr>
            <a:spLocks noGrp="1"/>
          </p:cNvSpPr>
          <p:nvPr>
            <p:ph type="dt" sz="half" idx="10"/>
          </p:nvPr>
        </p:nvSpPr>
        <p:spPr/>
        <p:txBody>
          <a:bodyPr/>
          <a:lstStyle/>
          <a:p>
            <a:fld id="{15293096-E871-40B1-96E1-33810C65ED93}" type="datetime1">
              <a:rPr lang="zh-CN" altLang="en-US" smtClean="0"/>
              <a:t>2023/11/29</a:t>
            </a:fld>
            <a:endParaRPr lang="zh-CN" altLang="en-US"/>
          </a:p>
        </p:txBody>
      </p:sp>
      <p:sp>
        <p:nvSpPr>
          <p:cNvPr id="6" name="页脚占位符 5">
            <a:extLst>
              <a:ext uri="{FF2B5EF4-FFF2-40B4-BE49-F238E27FC236}">
                <a16:creationId xmlns:a16="http://schemas.microsoft.com/office/drawing/2014/main" id="{84D10801-BBFE-4C78-9F89-D5C7373E624B}"/>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E27BEDD0-32E5-4CDC-99B7-9590FEE33604}"/>
              </a:ext>
            </a:extLst>
          </p:cNvPr>
          <p:cNvSpPr>
            <a:spLocks noGrp="1"/>
          </p:cNvSpPr>
          <p:nvPr>
            <p:ph type="sldNum" sz="quarter" idx="12"/>
          </p:nvPr>
        </p:nvSpPr>
        <p:spPr/>
        <p:txBody>
          <a:bodyPr/>
          <a:lstStyle/>
          <a:p>
            <a:fld id="{B53602B4-F12B-41CD-B648-531F86B2CC91}" type="slidenum">
              <a:rPr lang="zh-CN" altLang="en-US" smtClean="0"/>
              <a:t>‹#›</a:t>
            </a:fld>
            <a:endParaRPr lang="zh-CN" altLang="en-US"/>
          </a:p>
        </p:txBody>
      </p:sp>
    </p:spTree>
    <p:extLst>
      <p:ext uri="{BB962C8B-B14F-4D97-AF65-F5344CB8AC3E}">
        <p14:creationId xmlns:p14="http://schemas.microsoft.com/office/powerpoint/2010/main" val="34238620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EAB140F-143B-4E12-8F16-8819928B92C1}"/>
              </a:ext>
            </a:extLst>
          </p:cNvPr>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44CE37EB-6618-4354-91A7-7B30D346FD01}"/>
              </a:ext>
            </a:extLst>
          </p:cNvPr>
          <p:cNvSpPr>
            <a:spLocks noGrp="1"/>
          </p:cNvSpPr>
          <p:nvPr>
            <p:ph type="pic" idx="1"/>
          </p:nvPr>
        </p:nvSpPr>
        <p:spPr>
          <a:xfrm>
            <a:off x="3887391" y="987426"/>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301364F3-4DDE-4CF2-8575-934CC90C7455}"/>
              </a:ext>
            </a:extLst>
          </p:cNvPr>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A432E458-5905-4FAB-9128-B046A8AAA8A2}"/>
              </a:ext>
            </a:extLst>
          </p:cNvPr>
          <p:cNvSpPr>
            <a:spLocks noGrp="1"/>
          </p:cNvSpPr>
          <p:nvPr>
            <p:ph type="dt" sz="half" idx="10"/>
          </p:nvPr>
        </p:nvSpPr>
        <p:spPr/>
        <p:txBody>
          <a:bodyPr/>
          <a:lstStyle/>
          <a:p>
            <a:fld id="{5E77A98F-BF0A-4E04-B7B2-C578B7A86143}" type="datetime1">
              <a:rPr lang="zh-CN" altLang="en-US" smtClean="0"/>
              <a:t>2023/11/29</a:t>
            </a:fld>
            <a:endParaRPr lang="zh-CN" altLang="en-US"/>
          </a:p>
        </p:txBody>
      </p:sp>
      <p:sp>
        <p:nvSpPr>
          <p:cNvPr id="6" name="页脚占位符 5">
            <a:extLst>
              <a:ext uri="{FF2B5EF4-FFF2-40B4-BE49-F238E27FC236}">
                <a16:creationId xmlns:a16="http://schemas.microsoft.com/office/drawing/2014/main" id="{90337981-ECF2-4A93-A5E4-65F13DC7B739}"/>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BD727DF3-A20F-4288-9227-25157366E6CA}"/>
              </a:ext>
            </a:extLst>
          </p:cNvPr>
          <p:cNvSpPr>
            <a:spLocks noGrp="1"/>
          </p:cNvSpPr>
          <p:nvPr>
            <p:ph type="sldNum" sz="quarter" idx="12"/>
          </p:nvPr>
        </p:nvSpPr>
        <p:spPr/>
        <p:txBody>
          <a:bodyPr/>
          <a:lstStyle/>
          <a:p>
            <a:fld id="{B53602B4-F12B-41CD-B648-531F86B2CC91}" type="slidenum">
              <a:rPr lang="zh-CN" altLang="en-US" smtClean="0"/>
              <a:t>‹#›</a:t>
            </a:fld>
            <a:endParaRPr lang="zh-CN" altLang="en-US"/>
          </a:p>
        </p:txBody>
      </p:sp>
    </p:spTree>
    <p:extLst>
      <p:ext uri="{BB962C8B-B14F-4D97-AF65-F5344CB8AC3E}">
        <p14:creationId xmlns:p14="http://schemas.microsoft.com/office/powerpoint/2010/main" val="19756843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EFB6F74-D2FE-483E-8DC2-5954AC5613C0}"/>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AAC27E62-2A27-4E7F-B568-9F3DBEE70AB9}"/>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08642CE-C5B5-4488-95BD-9A2C6BAAB385}"/>
              </a:ext>
            </a:extLst>
          </p:cNvPr>
          <p:cNvSpPr>
            <a:spLocks noGrp="1"/>
          </p:cNvSpPr>
          <p:nvPr>
            <p:ph type="dt" sz="half" idx="10"/>
          </p:nvPr>
        </p:nvSpPr>
        <p:spPr/>
        <p:txBody>
          <a:bodyPr/>
          <a:lstStyle/>
          <a:p>
            <a:fld id="{80931610-D0A3-4EDB-B33E-639C37DD5E48}" type="datetime1">
              <a:rPr lang="zh-CN" altLang="en-US" smtClean="0"/>
              <a:t>2023/11/29</a:t>
            </a:fld>
            <a:endParaRPr lang="zh-CN" altLang="en-US"/>
          </a:p>
        </p:txBody>
      </p:sp>
      <p:sp>
        <p:nvSpPr>
          <p:cNvPr id="5" name="页脚占位符 4">
            <a:extLst>
              <a:ext uri="{FF2B5EF4-FFF2-40B4-BE49-F238E27FC236}">
                <a16:creationId xmlns:a16="http://schemas.microsoft.com/office/drawing/2014/main" id="{5A79AF44-B747-4314-AD27-79116B7FB29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4BF4F35-4144-4DA9-BFE5-EF6BEFF42405}"/>
              </a:ext>
            </a:extLst>
          </p:cNvPr>
          <p:cNvSpPr>
            <a:spLocks noGrp="1"/>
          </p:cNvSpPr>
          <p:nvPr>
            <p:ph type="sldNum" sz="quarter" idx="12"/>
          </p:nvPr>
        </p:nvSpPr>
        <p:spPr/>
        <p:txBody>
          <a:bodyPr/>
          <a:lstStyle/>
          <a:p>
            <a:fld id="{B53602B4-F12B-41CD-B648-531F86B2CC91}" type="slidenum">
              <a:rPr lang="zh-CN" altLang="en-US" smtClean="0"/>
              <a:t>‹#›</a:t>
            </a:fld>
            <a:endParaRPr lang="zh-CN" altLang="en-US"/>
          </a:p>
        </p:txBody>
      </p:sp>
    </p:spTree>
    <p:extLst>
      <p:ext uri="{BB962C8B-B14F-4D97-AF65-F5344CB8AC3E}">
        <p14:creationId xmlns:p14="http://schemas.microsoft.com/office/powerpoint/2010/main" val="33284092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4B8F7D96-67B2-446C-AD46-39387D5BC969}"/>
              </a:ext>
            </a:extLst>
          </p:cNvPr>
          <p:cNvSpPr>
            <a:spLocks noGrp="1"/>
          </p:cNvSpPr>
          <p:nvPr>
            <p:ph type="title" orient="vert"/>
          </p:nvPr>
        </p:nvSpPr>
        <p:spPr>
          <a:xfrm>
            <a:off x="6543675" y="365125"/>
            <a:ext cx="1971675"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D25ADE99-E894-4659-9B37-65273B3676A9}"/>
              </a:ext>
            </a:extLst>
          </p:cNvPr>
          <p:cNvSpPr>
            <a:spLocks noGrp="1"/>
          </p:cNvSpPr>
          <p:nvPr>
            <p:ph type="body" orient="vert" idx="1"/>
          </p:nvPr>
        </p:nvSpPr>
        <p:spPr>
          <a:xfrm>
            <a:off x="628650" y="365125"/>
            <a:ext cx="5800725"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A219F3E-6ECA-4598-9A1E-48EC37E2AF7B}"/>
              </a:ext>
            </a:extLst>
          </p:cNvPr>
          <p:cNvSpPr>
            <a:spLocks noGrp="1"/>
          </p:cNvSpPr>
          <p:nvPr>
            <p:ph type="dt" sz="half" idx="10"/>
          </p:nvPr>
        </p:nvSpPr>
        <p:spPr/>
        <p:txBody>
          <a:bodyPr/>
          <a:lstStyle/>
          <a:p>
            <a:fld id="{0C6B420F-8EC0-4BF6-AC09-7BE39469B845}" type="datetime1">
              <a:rPr lang="zh-CN" altLang="en-US" smtClean="0"/>
              <a:t>2023/11/29</a:t>
            </a:fld>
            <a:endParaRPr lang="zh-CN" altLang="en-US"/>
          </a:p>
        </p:txBody>
      </p:sp>
      <p:sp>
        <p:nvSpPr>
          <p:cNvPr id="5" name="页脚占位符 4">
            <a:extLst>
              <a:ext uri="{FF2B5EF4-FFF2-40B4-BE49-F238E27FC236}">
                <a16:creationId xmlns:a16="http://schemas.microsoft.com/office/drawing/2014/main" id="{BA110109-89F0-44DC-A000-0F875ADCD2F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376D4FF-1DFF-4C52-840D-0F7BDF2E796D}"/>
              </a:ext>
            </a:extLst>
          </p:cNvPr>
          <p:cNvSpPr>
            <a:spLocks noGrp="1"/>
          </p:cNvSpPr>
          <p:nvPr>
            <p:ph type="sldNum" sz="quarter" idx="12"/>
          </p:nvPr>
        </p:nvSpPr>
        <p:spPr/>
        <p:txBody>
          <a:bodyPr/>
          <a:lstStyle/>
          <a:p>
            <a:fld id="{B53602B4-F12B-41CD-B648-531F86B2CC91}" type="slidenum">
              <a:rPr lang="zh-CN" altLang="en-US" smtClean="0"/>
              <a:t>‹#›</a:t>
            </a:fld>
            <a:endParaRPr lang="zh-CN" altLang="en-US"/>
          </a:p>
        </p:txBody>
      </p:sp>
    </p:spTree>
    <p:extLst>
      <p:ext uri="{BB962C8B-B14F-4D97-AF65-F5344CB8AC3E}">
        <p14:creationId xmlns:p14="http://schemas.microsoft.com/office/powerpoint/2010/main" val="36669684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280D40B2-29DE-4EEE-94B9-82706769ECDB}"/>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CB68A1F0-F383-43D6-B6BF-36A864007069}"/>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E2CCBDD1-6C68-415C-8700-ABCD69D2D3E8}"/>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6246A91-1D15-4C73-A9E4-E87BA67342BB}" type="datetime1">
              <a:rPr lang="zh-CN" altLang="en-US" smtClean="0"/>
              <a:t>2023/11/29</a:t>
            </a:fld>
            <a:endParaRPr lang="zh-CN" altLang="en-US"/>
          </a:p>
        </p:txBody>
      </p:sp>
      <p:sp>
        <p:nvSpPr>
          <p:cNvPr id="5" name="页脚占位符 4">
            <a:extLst>
              <a:ext uri="{FF2B5EF4-FFF2-40B4-BE49-F238E27FC236}">
                <a16:creationId xmlns:a16="http://schemas.microsoft.com/office/drawing/2014/main" id="{A8F8D93B-2F81-48F6-A197-F05337296417}"/>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B0CDE5C7-F61A-4532-8386-C78DC370FF21}"/>
              </a:ext>
            </a:extLst>
          </p:cNvPr>
          <p:cNvSpPr>
            <a:spLocks noGrp="1"/>
          </p:cNvSpPr>
          <p:nvPr>
            <p:ph type="sldNum" sz="quarter" idx="4"/>
          </p:nvPr>
        </p:nvSpPr>
        <p:spPr>
          <a:xfrm>
            <a:off x="8515350" y="6356351"/>
            <a:ext cx="558800" cy="365125"/>
          </a:xfrm>
          <a:prstGeom prst="rect">
            <a:avLst/>
          </a:prstGeom>
        </p:spPr>
        <p:txBody>
          <a:bodyPr vert="horz" lIns="91440" tIns="45720" rIns="91440" bIns="45720" rtlCol="0" anchor="ctr"/>
          <a:lstStyle>
            <a:lvl1pPr algn="ctr">
              <a:defRPr sz="1200">
                <a:solidFill>
                  <a:schemeClr val="tx1">
                    <a:tint val="75000"/>
                  </a:schemeClr>
                </a:solidFill>
                <a:latin typeface="Palatino Linotype" panose="02040502050505030304" pitchFamily="18" charset="0"/>
              </a:defRPr>
            </a:lvl1pPr>
          </a:lstStyle>
          <a:p>
            <a:fld id="{B53602B4-F12B-41CD-B648-531F86B2CC91}" type="slidenum">
              <a:rPr lang="zh-CN" altLang="en-US" smtClean="0"/>
              <a:pPr/>
              <a:t>‹#›</a:t>
            </a:fld>
            <a:endParaRPr lang="zh-CN" altLang="en-US"/>
          </a:p>
        </p:txBody>
      </p:sp>
    </p:spTree>
    <p:extLst>
      <p:ext uri="{BB962C8B-B14F-4D97-AF65-F5344CB8AC3E}">
        <p14:creationId xmlns:p14="http://schemas.microsoft.com/office/powerpoint/2010/main" val="10521635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slide" Target="slide4.xml"/><Relationship Id="rId7" Type="http://schemas.openxmlformats.org/officeDocument/2006/relationships/slide" Target="slide52.xml"/><Relationship Id="rId2" Type="http://schemas.openxmlformats.org/officeDocument/2006/relationships/slide" Target="slide5.xml"/><Relationship Id="rId1" Type="http://schemas.openxmlformats.org/officeDocument/2006/relationships/slideLayout" Target="../slideLayouts/slideLayout2.xml"/><Relationship Id="rId6" Type="http://schemas.openxmlformats.org/officeDocument/2006/relationships/slide" Target="slide39.xml"/><Relationship Id="rId5" Type="http://schemas.openxmlformats.org/officeDocument/2006/relationships/slide" Target="slide27.xml"/><Relationship Id="rId4" Type="http://schemas.openxmlformats.org/officeDocument/2006/relationships/slide" Target="slide16.xml"/></Relationships>
</file>

<file path=ppt/slides/_rels/slide5.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slide" Target="slide6.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2.wmf"/><Relationship Id="rId4" Type="http://schemas.openxmlformats.org/officeDocument/2006/relationships/oleObject" Target="../embeddings/oleObject1.bin"/></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8" Type="http://schemas.openxmlformats.org/officeDocument/2006/relationships/image" Target="../media/image110.png"/><Relationship Id="rId7" Type="http://schemas.openxmlformats.org/officeDocument/2006/relationships/image" Target="../media/image10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slide" Target="slide21.xml"/><Relationship Id="rId2" Type="http://schemas.openxmlformats.org/officeDocument/2006/relationships/slide" Target="slide19.xml"/><Relationship Id="rId1" Type="http://schemas.openxmlformats.org/officeDocument/2006/relationships/slideLayout" Target="../slideLayouts/slideLayout2.xml"/><Relationship Id="rId4" Type="http://schemas.openxmlformats.org/officeDocument/2006/relationships/slide" Target="slide2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slide" Target="slide22.xml"/><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slide" Target="slide24.xml"/><Relationship Id="rId4" Type="http://schemas.openxmlformats.org/officeDocument/2006/relationships/slide" Target="slide2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slide" Target="slide31.xml"/><Relationship Id="rId2" Type="http://schemas.openxmlformats.org/officeDocument/2006/relationships/slide" Target="slide28.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slide" Target="slide32.xml"/><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slide" Target="slide37.xml"/><Relationship Id="rId4" Type="http://schemas.openxmlformats.org/officeDocument/2006/relationships/slide" Target="slide3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slide" Target="slide43.xml"/><Relationship Id="rId2" Type="http://schemas.openxmlformats.org/officeDocument/2006/relationships/slide" Target="slide40.xml"/><Relationship Id="rId1" Type="http://schemas.openxmlformats.org/officeDocument/2006/relationships/slideLayout" Target="../slideLayouts/slideLayout2.xml"/><Relationship Id="rId4" Type="http://schemas.openxmlformats.org/officeDocument/2006/relationships/slide" Target="slide50.xml"/></Relationships>
</file>

<file path=ppt/slides/_rels/slide40.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23.wmf"/><Relationship Id="rId4" Type="http://schemas.openxmlformats.org/officeDocument/2006/relationships/oleObject" Target="../embeddings/oleObject2.bin"/></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2.xml"/><Relationship Id="rId1" Type="http://schemas.openxmlformats.org/officeDocument/2006/relationships/vmlDrawing" Target="../drawings/vmlDrawing3.vml"/><Relationship Id="rId5" Type="http://schemas.openxmlformats.org/officeDocument/2006/relationships/image" Target="../media/image23.wmf"/><Relationship Id="rId4" Type="http://schemas.openxmlformats.org/officeDocument/2006/relationships/oleObject" Target="../embeddings/oleObject2.bin"/></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8" Type="http://schemas.openxmlformats.org/officeDocument/2006/relationships/image" Target="../media/image25.wmf"/><Relationship Id="rId3" Type="http://schemas.openxmlformats.org/officeDocument/2006/relationships/notesSlide" Target="../notesSlides/notesSlide36.xml"/><Relationship Id="rId7"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image" Target="../media/image24.wmf"/><Relationship Id="rId5" Type="http://schemas.openxmlformats.org/officeDocument/2006/relationships/oleObject" Target="../embeddings/oleObject3.bin"/><Relationship Id="rId10" Type="http://schemas.openxmlformats.org/officeDocument/2006/relationships/image" Target="../media/image26.wmf"/><Relationship Id="rId4" Type="http://schemas.openxmlformats.org/officeDocument/2006/relationships/image" Target="../media/image27.emf"/><Relationship Id="rId9" Type="http://schemas.openxmlformats.org/officeDocument/2006/relationships/oleObject" Target="../embeddings/oleObject5.bin"/></Relationships>
</file>

<file path=ppt/slides/_rels/slide45.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8" Type="http://schemas.openxmlformats.org/officeDocument/2006/relationships/image" Target="../media/image30.wmf"/><Relationship Id="rId3" Type="http://schemas.openxmlformats.org/officeDocument/2006/relationships/notesSlide" Target="../notesSlides/notesSlide38.xml"/><Relationship Id="rId7" Type="http://schemas.openxmlformats.org/officeDocument/2006/relationships/oleObject" Target="../embeddings/oleObject7.bin"/><Relationship Id="rId12" Type="http://schemas.openxmlformats.org/officeDocument/2006/relationships/image" Target="../media/image32.wmf"/><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image" Target="../media/image29.wmf"/><Relationship Id="rId11" Type="http://schemas.openxmlformats.org/officeDocument/2006/relationships/oleObject" Target="../embeddings/oleObject9.bin"/><Relationship Id="rId5" Type="http://schemas.openxmlformats.org/officeDocument/2006/relationships/oleObject" Target="../embeddings/oleObject6.bin"/><Relationship Id="rId10" Type="http://schemas.openxmlformats.org/officeDocument/2006/relationships/image" Target="../media/image31.wmf"/><Relationship Id="rId4" Type="http://schemas.openxmlformats.org/officeDocument/2006/relationships/image" Target="../media/image28.emf"/><Relationship Id="rId9" Type="http://schemas.openxmlformats.org/officeDocument/2006/relationships/oleObject" Target="../embeddings/oleObject8.bin"/></Relationships>
</file>

<file path=ppt/slides/_rels/slide47.xml.rels><?xml version="1.0" encoding="UTF-8" standalone="yes"?>
<Relationships xmlns="http://schemas.openxmlformats.org/package/2006/relationships"><Relationship Id="rId8" Type="http://schemas.openxmlformats.org/officeDocument/2006/relationships/oleObject" Target="../embeddings/oleObject9.bin"/><Relationship Id="rId3" Type="http://schemas.openxmlformats.org/officeDocument/2006/relationships/notesSlide" Target="../notesSlides/notesSlide39.xml"/><Relationship Id="rId7" Type="http://schemas.openxmlformats.org/officeDocument/2006/relationships/image" Target="../media/image35.png"/><Relationship Id="rId2" Type="http://schemas.openxmlformats.org/officeDocument/2006/relationships/slideLayout" Target="../slideLayouts/slideLayout2.xml"/><Relationship Id="rId1" Type="http://schemas.openxmlformats.org/officeDocument/2006/relationships/vmlDrawing" Target="../drawings/vmlDrawing6.vml"/><Relationship Id="rId6" Type="http://schemas.openxmlformats.org/officeDocument/2006/relationships/image" Target="../media/image33.wmf"/><Relationship Id="rId5" Type="http://schemas.openxmlformats.org/officeDocument/2006/relationships/oleObject" Target="../embeddings/oleObject10.bin"/><Relationship Id="rId4" Type="http://schemas.openxmlformats.org/officeDocument/2006/relationships/image" Target="../media/image28.emf"/><Relationship Id="rId9" Type="http://schemas.openxmlformats.org/officeDocument/2006/relationships/image" Target="../media/image32.wmf"/></Relationships>
</file>

<file path=ppt/slides/_rels/slide48.xml.rels><?xml version="1.0" encoding="UTF-8" standalone="yes"?>
<Relationships xmlns="http://schemas.openxmlformats.org/package/2006/relationships"><Relationship Id="rId3" Type="http://schemas.openxmlformats.org/officeDocument/2006/relationships/image" Target="../media/image34.emf"/><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8" Type="http://schemas.openxmlformats.org/officeDocument/2006/relationships/image" Target="../media/image38.emf"/><Relationship Id="rId3" Type="http://schemas.openxmlformats.org/officeDocument/2006/relationships/notesSlide" Target="../notesSlides/notesSlide42.xml"/><Relationship Id="rId7" Type="http://schemas.openxmlformats.org/officeDocument/2006/relationships/image" Target="../media/image37.wmf"/><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oleObject" Target="../embeddings/oleObject12.bin"/><Relationship Id="rId5" Type="http://schemas.openxmlformats.org/officeDocument/2006/relationships/image" Target="../media/image36.wmf"/><Relationship Id="rId4" Type="http://schemas.openxmlformats.org/officeDocument/2006/relationships/oleObject" Target="../embeddings/oleObject11.bin"/></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50">
            <a:extLst>
              <a:ext uri="{FF2B5EF4-FFF2-40B4-BE49-F238E27FC236}">
                <a16:creationId xmlns:a16="http://schemas.microsoft.com/office/drawing/2014/main" id="{41C6AA65-A702-4B1F-93F3-3280FD3D44F5}"/>
              </a:ext>
            </a:extLst>
          </p:cNvPr>
          <p:cNvSpPr/>
          <p:nvPr/>
        </p:nvSpPr>
        <p:spPr>
          <a:xfrm flipH="1">
            <a:off x="1303497" y="2155520"/>
            <a:ext cx="7840504" cy="1271905"/>
          </a:xfrm>
          <a:prstGeom prst="rect">
            <a:avLst/>
          </a:prstGeom>
          <a:solidFill>
            <a:schemeClr val="accent5"/>
          </a:soli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圆角矩形 39">
            <a:extLst>
              <a:ext uri="{FF2B5EF4-FFF2-40B4-BE49-F238E27FC236}">
                <a16:creationId xmlns:a16="http://schemas.microsoft.com/office/drawing/2014/main" id="{2BA7ACD6-BBEF-4AEB-8772-992D8376F982}"/>
              </a:ext>
            </a:extLst>
          </p:cNvPr>
          <p:cNvSpPr/>
          <p:nvPr/>
        </p:nvSpPr>
        <p:spPr>
          <a:xfrm rot="10800000" flipV="1">
            <a:off x="348139" y="2130755"/>
            <a:ext cx="955358" cy="1290955"/>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r>
              <a:rPr lang="en-US" altLang="zh-CN" sz="6000" b="1">
                <a:latin typeface="Arial" panose="020B0604020202020204" pitchFamily="34" charset="0"/>
                <a:cs typeface="Arial" panose="020B0604020202020204" pitchFamily="34" charset="0"/>
              </a:rPr>
              <a:t>9</a:t>
            </a:r>
            <a:endParaRPr lang="zh-CN" altLang="en-US" sz="6000" b="1" dirty="0">
              <a:latin typeface="Arial" panose="020B0604020202020204" pitchFamily="34" charset="0"/>
              <a:cs typeface="Arial" panose="020B0604020202020204" pitchFamily="34" charset="0"/>
            </a:endParaRPr>
          </a:p>
        </p:txBody>
      </p:sp>
      <p:sp>
        <p:nvSpPr>
          <p:cNvPr id="24" name="文本框 41">
            <a:extLst>
              <a:ext uri="{FF2B5EF4-FFF2-40B4-BE49-F238E27FC236}">
                <a16:creationId xmlns:a16="http://schemas.microsoft.com/office/drawing/2014/main" id="{A3A4AA5A-540B-4ECF-B564-BA23394D80B0}"/>
              </a:ext>
            </a:extLst>
          </p:cNvPr>
          <p:cNvSpPr txBox="1"/>
          <p:nvPr/>
        </p:nvSpPr>
        <p:spPr>
          <a:xfrm>
            <a:off x="2968171" y="2377134"/>
            <a:ext cx="3657599" cy="769439"/>
          </a:xfrm>
          <a:prstGeom prst="rect">
            <a:avLst/>
          </a:prstGeom>
          <a:noFill/>
        </p:spPr>
        <p:txBody>
          <a:bodyPr wrap="square" lIns="91438" tIns="45719" rIns="91438" bIns="45719" rtlCol="0">
            <a:spAutoFit/>
          </a:bodyPr>
          <a:lstStyle/>
          <a:p>
            <a:r>
              <a:rPr lang="zh-CN" altLang="en-US" sz="4400" b="1" spc="600">
                <a:solidFill>
                  <a:schemeClr val="bg1"/>
                </a:solidFill>
                <a:latin typeface="宋体" panose="02010600030101010101" pitchFamily="2" charset="-122"/>
                <a:ea typeface="宋体" panose="02010600030101010101" pitchFamily="2" charset="-122"/>
                <a:sym typeface="+mn-ea"/>
              </a:rPr>
              <a:t>波式传感器</a:t>
            </a:r>
            <a:endParaRPr lang="zh-CN" altLang="en-US" sz="4400" b="1" spc="600" dirty="0">
              <a:solidFill>
                <a:schemeClr val="bg1"/>
              </a:solidFill>
              <a:latin typeface="宋体" panose="02010600030101010101" pitchFamily="2" charset="-122"/>
              <a:ea typeface="宋体" panose="02010600030101010101" pitchFamily="2" charset="-122"/>
              <a:sym typeface="+mn-ea"/>
            </a:endParaRPr>
          </a:p>
        </p:txBody>
      </p:sp>
      <p:grpSp>
        <p:nvGrpSpPr>
          <p:cNvPr id="25" name="组 2">
            <a:extLst>
              <a:ext uri="{FF2B5EF4-FFF2-40B4-BE49-F238E27FC236}">
                <a16:creationId xmlns:a16="http://schemas.microsoft.com/office/drawing/2014/main" id="{7AC57EA8-80F8-4C47-A114-A9CC5999E13D}"/>
              </a:ext>
            </a:extLst>
          </p:cNvPr>
          <p:cNvGrpSpPr/>
          <p:nvPr/>
        </p:nvGrpSpPr>
        <p:grpSpPr>
          <a:xfrm>
            <a:off x="-15717" y="2142184"/>
            <a:ext cx="181928" cy="1285240"/>
            <a:chOff x="-21102" y="2858492"/>
            <a:chExt cx="242777" cy="1285286"/>
          </a:xfrm>
        </p:grpSpPr>
        <p:sp>
          <p:nvSpPr>
            <p:cNvPr id="26" name="圆角矩形 45">
              <a:extLst>
                <a:ext uri="{FF2B5EF4-FFF2-40B4-BE49-F238E27FC236}">
                  <a16:creationId xmlns:a16="http://schemas.microsoft.com/office/drawing/2014/main" id="{0545A5CC-6DBF-4C31-95AB-CC5FC668D9E4}"/>
                </a:ext>
              </a:extLst>
            </p:cNvPr>
            <p:cNvSpPr/>
            <p:nvPr/>
          </p:nvSpPr>
          <p:spPr>
            <a:xfrm rot="16200000" flipV="1">
              <a:off x="-13338" y="3643334"/>
              <a:ext cx="227250" cy="242777"/>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圆角矩形 46">
              <a:extLst>
                <a:ext uri="{FF2B5EF4-FFF2-40B4-BE49-F238E27FC236}">
                  <a16:creationId xmlns:a16="http://schemas.microsoft.com/office/drawing/2014/main" id="{23D842F3-50C2-4E80-BB28-C92EA1B96987}"/>
                </a:ext>
              </a:extLst>
            </p:cNvPr>
            <p:cNvSpPr/>
            <p:nvPr/>
          </p:nvSpPr>
          <p:spPr>
            <a:xfrm rot="16200000" flipV="1">
              <a:off x="-13338" y="3908764"/>
              <a:ext cx="227250" cy="242777"/>
            </a:xfrm>
            <a:prstGeom prst="roundRect">
              <a:avLst>
                <a:gd name="adj" fmla="val 5039"/>
              </a:avLst>
            </a:prstGeom>
            <a:solidFill>
              <a:schemeClr val="accent5">
                <a:lumMod val="5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圆角矩形 47">
              <a:extLst>
                <a:ext uri="{FF2B5EF4-FFF2-40B4-BE49-F238E27FC236}">
                  <a16:creationId xmlns:a16="http://schemas.microsoft.com/office/drawing/2014/main" id="{D5FD5454-3FB2-465C-918E-51F10AD033FE}"/>
                </a:ext>
              </a:extLst>
            </p:cNvPr>
            <p:cNvSpPr/>
            <p:nvPr/>
          </p:nvSpPr>
          <p:spPr>
            <a:xfrm rot="16200000" flipV="1">
              <a:off x="-13338" y="3122170"/>
              <a:ext cx="227250" cy="242777"/>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圆角矩形 48">
              <a:extLst>
                <a:ext uri="{FF2B5EF4-FFF2-40B4-BE49-F238E27FC236}">
                  <a16:creationId xmlns:a16="http://schemas.microsoft.com/office/drawing/2014/main" id="{686DD092-CD2B-4BBA-9BDF-2171F2414470}"/>
                </a:ext>
              </a:extLst>
            </p:cNvPr>
            <p:cNvSpPr/>
            <p:nvPr/>
          </p:nvSpPr>
          <p:spPr>
            <a:xfrm rot="16200000" flipV="1">
              <a:off x="-13338" y="3387600"/>
              <a:ext cx="227250" cy="242777"/>
            </a:xfrm>
            <a:prstGeom prst="roundRect">
              <a:avLst>
                <a:gd name="adj" fmla="val 5039"/>
              </a:avLst>
            </a:prstGeom>
            <a:solidFill>
              <a:schemeClr val="accent5">
                <a:lumMod val="5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圆角矩形 44">
              <a:extLst>
                <a:ext uri="{FF2B5EF4-FFF2-40B4-BE49-F238E27FC236}">
                  <a16:creationId xmlns:a16="http://schemas.microsoft.com/office/drawing/2014/main" id="{B44B30AF-95E5-46C7-A8DA-8FC0C94093C6}"/>
                </a:ext>
              </a:extLst>
            </p:cNvPr>
            <p:cNvSpPr/>
            <p:nvPr/>
          </p:nvSpPr>
          <p:spPr>
            <a:xfrm rot="16200000" flipV="1">
              <a:off x="-13338" y="2850728"/>
              <a:ext cx="227250" cy="242777"/>
            </a:xfrm>
            <a:prstGeom prst="roundRect">
              <a:avLst>
                <a:gd name="adj" fmla="val 5039"/>
              </a:avLst>
            </a:prstGeom>
            <a:solidFill>
              <a:schemeClr val="accent5">
                <a:lumMod val="5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3" name="TextBox 42">
            <a:extLst>
              <a:ext uri="{FF2B5EF4-FFF2-40B4-BE49-F238E27FC236}">
                <a16:creationId xmlns:a16="http://schemas.microsoft.com/office/drawing/2014/main" id="{49D96EB9-E63E-47CA-BA9C-73F7EA703911}"/>
              </a:ext>
            </a:extLst>
          </p:cNvPr>
          <p:cNvSpPr txBox="1"/>
          <p:nvPr/>
        </p:nvSpPr>
        <p:spPr>
          <a:xfrm>
            <a:off x="1454943" y="566039"/>
            <a:ext cx="6234113" cy="830997"/>
          </a:xfrm>
          <a:prstGeom prst="rect">
            <a:avLst/>
          </a:prstGeom>
          <a:noFill/>
        </p:spPr>
        <p:txBody>
          <a:bodyPr wrap="square">
            <a:sp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zh-CN" altLang="en-US" sz="4800" b="1" i="0" u="none" strike="noStrike" kern="1200" cap="none" spc="45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自动检测技术与系统</a:t>
            </a:r>
            <a:endParaRPr kumimoji="0" lang="en-US" altLang="zh-CN" sz="4800" b="1" i="0" u="none" strike="noStrike" kern="1200" cap="none" spc="45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22836836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64509930-9DFB-420E-8F32-960E50399825}"/>
              </a:ext>
            </a:extLst>
          </p:cNvPr>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5" name="圆角矩形 43">
            <a:extLst>
              <a:ext uri="{FF2B5EF4-FFF2-40B4-BE49-F238E27FC236}">
                <a16:creationId xmlns:a16="http://schemas.microsoft.com/office/drawing/2014/main" id="{934CC0EC-2A2C-4194-A246-2456365A633C}"/>
              </a:ext>
            </a:extLst>
          </p:cNvPr>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b="1" dirty="0">
                <a:latin typeface="Arial" panose="020B0604020202020204" pitchFamily="34" charset="0"/>
                <a:ea typeface="宋体" panose="02010600030101010101" pitchFamily="2" charset="-122"/>
                <a:cs typeface="Arial" panose="020B0604020202020204" pitchFamily="34" charset="0"/>
              </a:rPr>
              <a:t>9</a:t>
            </a:r>
            <a:endParaRPr lang="zh-CN" altLang="en-US" sz="3600" b="1" dirty="0">
              <a:latin typeface="Arial" panose="020B0604020202020204" pitchFamily="34" charset="0"/>
              <a:ea typeface="宋体" panose="02010600030101010101" pitchFamily="2" charset="-122"/>
              <a:cs typeface="Arial" panose="020B0604020202020204" pitchFamily="34" charset="0"/>
            </a:endParaRPr>
          </a:p>
        </p:txBody>
      </p:sp>
      <p:sp>
        <p:nvSpPr>
          <p:cNvPr id="26" name="内容占位符 2">
            <a:extLst>
              <a:ext uri="{FF2B5EF4-FFF2-40B4-BE49-F238E27FC236}">
                <a16:creationId xmlns:a16="http://schemas.microsoft.com/office/drawing/2014/main" id="{B2C56CED-4DA6-4886-B2ED-BAC37A98CCF0}"/>
              </a:ext>
            </a:extLst>
          </p:cNvPr>
          <p:cNvSpPr>
            <a:spLocks noGrp="1"/>
          </p:cNvSpPr>
          <p:nvPr>
            <p:ph idx="1"/>
          </p:nvPr>
        </p:nvSpPr>
        <p:spPr>
          <a:xfrm>
            <a:off x="876615" y="1502152"/>
            <a:ext cx="7390769" cy="4181168"/>
          </a:xfrm>
        </p:spPr>
        <p:txBody>
          <a:bodyPr>
            <a:noAutofit/>
          </a:bodyPr>
          <a:lstStyle/>
          <a:p>
            <a:pPr marL="0" indent="627063">
              <a:lnSpc>
                <a:spcPct val="150000"/>
              </a:lnSpc>
              <a:spcBef>
                <a:spcPts val="1800"/>
              </a:spcBef>
              <a:buNone/>
              <a:defRPr/>
            </a:pPr>
            <a:r>
              <a:rPr lang="zh-CN" altLang="en-US" sz="2400" b="1" dirty="0">
                <a:latin typeface="Arial" panose="020B0604020202020204" pitchFamily="34" charset="0"/>
                <a:ea typeface="宋体" panose="02010600030101010101" pitchFamily="2" charset="-122"/>
                <a:cs typeface="Arial" panose="020B0604020202020204" pitchFamily="34" charset="0"/>
              </a:rPr>
              <a:t>能产生振动的物体称为</a:t>
            </a:r>
            <a:r>
              <a:rPr lang="zh-CN" altLang="en-US" sz="2400" b="1" dirty="0">
                <a:solidFill>
                  <a:srgbClr val="FF0000"/>
                </a:solidFill>
                <a:latin typeface="Arial" panose="020B0604020202020204" pitchFamily="34" charset="0"/>
                <a:ea typeface="宋体" panose="02010600030101010101" pitchFamily="2" charset="-122"/>
                <a:cs typeface="Arial" panose="020B0604020202020204" pitchFamily="34" charset="0"/>
              </a:rPr>
              <a:t>声源</a:t>
            </a:r>
            <a:r>
              <a:rPr lang="zh-CN" altLang="en-US" sz="2400" b="1" dirty="0">
                <a:latin typeface="Arial" panose="020B0604020202020204" pitchFamily="34" charset="0"/>
                <a:ea typeface="宋体" panose="02010600030101010101" pitchFamily="2" charset="-122"/>
                <a:cs typeface="Arial" panose="020B0604020202020204" pitchFamily="34" charset="0"/>
              </a:rPr>
              <a:t>。</a:t>
            </a:r>
            <a:endParaRPr lang="en-US" altLang="zh-CN" sz="2400" b="1" dirty="0">
              <a:latin typeface="Arial" panose="020B0604020202020204" pitchFamily="34" charset="0"/>
              <a:ea typeface="宋体" panose="02010600030101010101" pitchFamily="2" charset="-122"/>
              <a:cs typeface="Arial" panose="020B0604020202020204" pitchFamily="34" charset="0"/>
            </a:endParaRPr>
          </a:p>
          <a:p>
            <a:pPr marL="0" indent="627063">
              <a:lnSpc>
                <a:spcPct val="150000"/>
              </a:lnSpc>
              <a:spcBef>
                <a:spcPts val="1800"/>
              </a:spcBef>
              <a:buNone/>
              <a:defRPr/>
            </a:pPr>
            <a:r>
              <a:rPr lang="zh-CN" altLang="en-US" sz="2400" b="1" dirty="0">
                <a:latin typeface="Arial" panose="020B0604020202020204" pitchFamily="34" charset="0"/>
                <a:ea typeface="宋体" panose="02010600030101010101" pitchFamily="2" charset="-122"/>
                <a:cs typeface="Arial" panose="020B0604020202020204" pitchFamily="34" charset="0"/>
              </a:rPr>
              <a:t>声波指机械振动引起周围弹性介质中质点的振动而向四面八方的传播。</a:t>
            </a:r>
            <a:endParaRPr lang="en-US" altLang="zh-CN" sz="2400" b="1" dirty="0">
              <a:latin typeface="Arial" panose="020B0604020202020204" pitchFamily="34" charset="0"/>
              <a:ea typeface="宋体" panose="02010600030101010101" pitchFamily="2" charset="-122"/>
              <a:cs typeface="Arial" panose="020B0604020202020204" pitchFamily="34" charset="0"/>
            </a:endParaRPr>
          </a:p>
          <a:p>
            <a:pPr marL="0" indent="627063">
              <a:lnSpc>
                <a:spcPct val="150000"/>
              </a:lnSpc>
              <a:spcBef>
                <a:spcPts val="1800"/>
              </a:spcBef>
              <a:buNone/>
              <a:defRPr/>
            </a:pPr>
            <a:r>
              <a:rPr lang="zh-CN" altLang="en-US" sz="2400" b="1" dirty="0">
                <a:latin typeface="Arial" panose="020B0604020202020204" pitchFamily="34" charset="0"/>
                <a:ea typeface="宋体" panose="02010600030101010101" pitchFamily="2" charset="-122"/>
                <a:cs typeface="Arial" panose="020B0604020202020204" pitchFamily="34" charset="0"/>
              </a:rPr>
              <a:t>传播声波的良好</a:t>
            </a:r>
            <a:r>
              <a:rPr lang="zh-CN" altLang="en-US" sz="2400" b="1" dirty="0">
                <a:solidFill>
                  <a:srgbClr val="0070C0"/>
                </a:solidFill>
                <a:latin typeface="Arial" panose="020B0604020202020204" pitchFamily="34" charset="0"/>
                <a:ea typeface="宋体" panose="02010600030101010101" pitchFamily="2" charset="-122"/>
                <a:cs typeface="Arial" panose="020B0604020202020204" pitchFamily="34" charset="0"/>
              </a:rPr>
              <a:t>弹性介</a:t>
            </a:r>
            <a:r>
              <a:rPr lang="zh-CN" altLang="en-US" sz="2400" b="1">
                <a:solidFill>
                  <a:srgbClr val="0070C0"/>
                </a:solidFill>
                <a:latin typeface="Arial" panose="020B0604020202020204" pitchFamily="34" charset="0"/>
                <a:ea typeface="宋体" panose="02010600030101010101" pitchFamily="2" charset="-122"/>
                <a:cs typeface="Arial" panose="020B0604020202020204" pitchFamily="34" charset="0"/>
              </a:rPr>
              <a:t>质</a:t>
            </a:r>
            <a:r>
              <a:rPr lang="zh-CN" altLang="en-US" sz="2400" b="1">
                <a:latin typeface="Arial" panose="020B0604020202020204" pitchFamily="34" charset="0"/>
                <a:ea typeface="宋体" panose="02010600030101010101" pitchFamily="2" charset="-122"/>
                <a:cs typeface="Arial" panose="020B0604020202020204" pitchFamily="34" charset="0"/>
              </a:rPr>
              <a:t>有：空</a:t>
            </a:r>
            <a:r>
              <a:rPr lang="zh-CN" altLang="en-US" sz="2400" b="1" dirty="0">
                <a:latin typeface="Arial" panose="020B0604020202020204" pitchFamily="34" charset="0"/>
                <a:ea typeface="宋体" panose="02010600030101010101" pitchFamily="2" charset="-122"/>
                <a:cs typeface="Arial" panose="020B0604020202020204" pitchFamily="34" charset="0"/>
              </a:rPr>
              <a:t>气、水、金属、混凝土等，</a:t>
            </a:r>
            <a:r>
              <a:rPr lang="zh-CN" altLang="en-US" sz="2400" b="1" dirty="0">
                <a:solidFill>
                  <a:srgbClr val="FF0000"/>
                </a:solidFill>
                <a:latin typeface="Arial" panose="020B0604020202020204" pitchFamily="34" charset="0"/>
                <a:ea typeface="宋体" panose="02010600030101010101" pitchFamily="2" charset="-122"/>
                <a:cs typeface="Arial" panose="020B0604020202020204" pitchFamily="34" charset="0"/>
              </a:rPr>
              <a:t>声波不能在真空中传播</a:t>
            </a:r>
            <a:r>
              <a:rPr lang="zh-CN" altLang="en-US" sz="2400" b="1" dirty="0">
                <a:latin typeface="Arial" panose="020B0604020202020204" pitchFamily="34" charset="0"/>
                <a:ea typeface="宋体" panose="02010600030101010101" pitchFamily="2" charset="-122"/>
                <a:cs typeface="Arial" panose="020B0604020202020204" pitchFamily="34" charset="0"/>
              </a:rPr>
              <a:t>。</a:t>
            </a:r>
            <a:endParaRPr lang="en-US" altLang="zh-CN" sz="2400" b="1" dirty="0">
              <a:latin typeface="Arial" panose="020B0604020202020204" pitchFamily="34" charset="0"/>
              <a:ea typeface="宋体" panose="02010600030101010101" pitchFamily="2" charset="-122"/>
              <a:cs typeface="Arial" panose="020B0604020202020204" pitchFamily="34" charset="0"/>
            </a:endParaRPr>
          </a:p>
          <a:p>
            <a:pPr marL="0" indent="627063">
              <a:lnSpc>
                <a:spcPct val="150000"/>
              </a:lnSpc>
              <a:spcBef>
                <a:spcPts val="1800"/>
              </a:spcBef>
              <a:buNone/>
              <a:defRPr/>
            </a:pPr>
            <a:r>
              <a:rPr lang="zh-CN" altLang="en-US" sz="2400" b="1" dirty="0">
                <a:latin typeface="Arial" panose="020B0604020202020204" pitchFamily="34" charset="0"/>
                <a:ea typeface="宋体" panose="02010600030101010101" pitchFamily="2" charset="-122"/>
                <a:cs typeface="Arial" panose="020B0604020202020204" pitchFamily="34" charset="0"/>
              </a:rPr>
              <a:t>将声波信号转换成电信号的装置称为</a:t>
            </a:r>
            <a:r>
              <a:rPr lang="zh-CN" altLang="en-US" sz="2400" b="1" dirty="0">
                <a:solidFill>
                  <a:srgbClr val="0070C0"/>
                </a:solidFill>
                <a:latin typeface="Arial" panose="020B0604020202020204" pitchFamily="34" charset="0"/>
                <a:ea typeface="宋体" panose="02010600030101010101" pitchFamily="2" charset="-122"/>
                <a:cs typeface="Arial" panose="020B0604020202020204" pitchFamily="34" charset="0"/>
              </a:rPr>
              <a:t>声波传感器</a:t>
            </a:r>
            <a:r>
              <a:rPr lang="zh-CN" altLang="en-US" sz="2400" b="1" dirty="0">
                <a:latin typeface="Arial" panose="020B0604020202020204" pitchFamily="34" charset="0"/>
                <a:ea typeface="宋体" panose="02010600030101010101" pitchFamily="2" charset="-122"/>
                <a:cs typeface="Arial" panose="020B0604020202020204" pitchFamily="34" charset="0"/>
              </a:rPr>
              <a:t>。</a:t>
            </a:r>
          </a:p>
        </p:txBody>
      </p:sp>
      <p:sp>
        <p:nvSpPr>
          <p:cNvPr id="19" name="矩形 18">
            <a:extLst>
              <a:ext uri="{FF2B5EF4-FFF2-40B4-BE49-F238E27FC236}">
                <a16:creationId xmlns:a16="http://schemas.microsoft.com/office/drawing/2014/main" id="{E82D8CF2-3F94-4B4D-A5D2-DE94BF962B45}"/>
              </a:ext>
            </a:extLst>
          </p:cNvPr>
          <p:cNvSpPr/>
          <p:nvPr/>
        </p:nvSpPr>
        <p:spPr>
          <a:xfrm>
            <a:off x="1792918" y="319703"/>
            <a:ext cx="2500997" cy="646327"/>
          </a:xfrm>
          <a:prstGeom prst="rect">
            <a:avLst/>
          </a:prstGeom>
        </p:spPr>
        <p:txBody>
          <a:bodyPr wrap="none" lIns="91436" tIns="45718" rIns="91436" bIns="45718">
            <a:spAutoFit/>
          </a:bodyPr>
          <a:lstStyle/>
          <a:p>
            <a:pPr algn="ctr"/>
            <a:r>
              <a:rPr lang="zh-CN" altLang="en-US" sz="3600" b="1" dirty="0">
                <a:solidFill>
                  <a:schemeClr val="bg1"/>
                </a:solidFill>
                <a:latin typeface="宋体" panose="02010600030101010101" pitchFamily="2" charset="-122"/>
                <a:ea typeface="宋体" panose="02010600030101010101" pitchFamily="2" charset="-122"/>
              </a:rPr>
              <a:t>波式传感器</a:t>
            </a:r>
            <a:endParaRPr lang="en-US" altLang="zh-CN" sz="3600" b="1" dirty="0">
              <a:solidFill>
                <a:schemeClr val="bg1"/>
              </a:solidFill>
              <a:latin typeface="宋体" panose="02010600030101010101" pitchFamily="2" charset="-122"/>
              <a:ea typeface="宋体" panose="02010600030101010101" pitchFamily="2" charset="-122"/>
            </a:endParaRPr>
          </a:p>
        </p:txBody>
      </p:sp>
      <p:sp>
        <p:nvSpPr>
          <p:cNvPr id="2" name="Slide Number Placeholder 1">
            <a:extLst>
              <a:ext uri="{FF2B5EF4-FFF2-40B4-BE49-F238E27FC236}">
                <a16:creationId xmlns:a16="http://schemas.microsoft.com/office/drawing/2014/main" id="{1D4C3CA7-B078-4329-BC6D-227B746A9064}"/>
              </a:ext>
            </a:extLst>
          </p:cNvPr>
          <p:cNvSpPr>
            <a:spLocks noGrp="1"/>
          </p:cNvSpPr>
          <p:nvPr>
            <p:ph type="sldNum" sz="quarter" idx="12"/>
          </p:nvPr>
        </p:nvSpPr>
        <p:spPr/>
        <p:txBody>
          <a:bodyPr/>
          <a:lstStyle/>
          <a:p>
            <a:fld id="{B53602B4-F12B-41CD-B648-531F86B2CC91}" type="slidenum">
              <a:rPr lang="zh-CN" altLang="en-US" smtClean="0"/>
              <a:t>2</a:t>
            </a:fld>
            <a:endParaRPr lang="zh-CN" altLang="en-US"/>
          </a:p>
        </p:txBody>
      </p:sp>
    </p:spTree>
    <p:extLst>
      <p:ext uri="{BB962C8B-B14F-4D97-AF65-F5344CB8AC3E}">
        <p14:creationId xmlns:p14="http://schemas.microsoft.com/office/powerpoint/2010/main" val="1258723006"/>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64509930-9DFB-420E-8F32-960E50399825}"/>
              </a:ext>
            </a:extLst>
          </p:cNvPr>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5" name="圆角矩形 43">
            <a:extLst>
              <a:ext uri="{FF2B5EF4-FFF2-40B4-BE49-F238E27FC236}">
                <a16:creationId xmlns:a16="http://schemas.microsoft.com/office/drawing/2014/main" id="{934CC0EC-2A2C-4194-A246-2456365A633C}"/>
              </a:ext>
            </a:extLst>
          </p:cNvPr>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b="1" dirty="0">
                <a:latin typeface="Arial" panose="020B0604020202020204" pitchFamily="34" charset="0"/>
                <a:ea typeface="宋体" panose="02010600030101010101" pitchFamily="2" charset="-122"/>
                <a:cs typeface="Arial" panose="020B0604020202020204" pitchFamily="34" charset="0"/>
              </a:rPr>
              <a:t>9</a:t>
            </a:r>
            <a:endParaRPr lang="zh-CN" altLang="en-US" sz="3600" b="1" dirty="0">
              <a:latin typeface="Arial" panose="020B0604020202020204" pitchFamily="34" charset="0"/>
              <a:ea typeface="宋体" panose="02010600030101010101" pitchFamily="2" charset="-122"/>
              <a:cs typeface="Arial" panose="020B0604020202020204" pitchFamily="34" charset="0"/>
            </a:endParaRPr>
          </a:p>
        </p:txBody>
      </p:sp>
      <p:sp>
        <p:nvSpPr>
          <p:cNvPr id="26" name="内容占位符 2">
            <a:extLst>
              <a:ext uri="{FF2B5EF4-FFF2-40B4-BE49-F238E27FC236}">
                <a16:creationId xmlns:a16="http://schemas.microsoft.com/office/drawing/2014/main" id="{B2C56CED-4DA6-4886-B2ED-BAC37A98CCF0}"/>
              </a:ext>
            </a:extLst>
          </p:cNvPr>
          <p:cNvSpPr>
            <a:spLocks noGrp="1"/>
          </p:cNvSpPr>
          <p:nvPr>
            <p:ph idx="1"/>
          </p:nvPr>
        </p:nvSpPr>
        <p:spPr>
          <a:xfrm>
            <a:off x="185083" y="1646023"/>
            <a:ext cx="8274050" cy="716177"/>
          </a:xfrm>
        </p:spPr>
        <p:txBody>
          <a:bodyPr>
            <a:noAutofit/>
          </a:bodyPr>
          <a:lstStyle/>
          <a:p>
            <a:pPr marL="0" indent="627063" eaLnBrk="1" hangingPunct="1">
              <a:lnSpc>
                <a:spcPct val="150000"/>
              </a:lnSpc>
              <a:spcBef>
                <a:spcPts val="0"/>
              </a:spcBef>
              <a:buNone/>
              <a:defRPr/>
            </a:pPr>
            <a:r>
              <a:rPr lang="zh-CN" altLang="en-US" sz="2400" b="1" dirty="0">
                <a:latin typeface="Arial" panose="020B0604020202020204" pitchFamily="34" charset="0"/>
                <a:ea typeface="宋体" panose="02010600030101010101" pitchFamily="2" charset="-122"/>
                <a:cs typeface="Arial" panose="020B0604020202020204" pitchFamily="34" charset="0"/>
              </a:rPr>
              <a:t>声波传感器既能测量声波的</a:t>
            </a:r>
            <a:r>
              <a:rPr lang="zh-CN" altLang="en-US" sz="2400" b="1" dirty="0">
                <a:solidFill>
                  <a:srgbClr val="C00000"/>
                </a:solidFill>
                <a:latin typeface="Arial" panose="020B0604020202020204" pitchFamily="34" charset="0"/>
                <a:ea typeface="宋体" panose="02010600030101010101" pitchFamily="2" charset="-122"/>
                <a:cs typeface="Arial" panose="020B0604020202020204" pitchFamily="34" charset="0"/>
              </a:rPr>
              <a:t>强度</a:t>
            </a:r>
            <a:r>
              <a:rPr lang="zh-CN" altLang="en-US" sz="2400" b="1" dirty="0">
                <a:latin typeface="Arial" panose="020B0604020202020204" pitchFamily="34" charset="0"/>
                <a:ea typeface="宋体" panose="02010600030101010101" pitchFamily="2" charset="-122"/>
                <a:cs typeface="Arial" panose="020B0604020202020204" pitchFamily="34" charset="0"/>
              </a:rPr>
              <a:t>，也能显示声波的</a:t>
            </a:r>
            <a:r>
              <a:rPr lang="zh-CN" altLang="en-US" sz="2400" b="1" dirty="0">
                <a:solidFill>
                  <a:srgbClr val="C00000"/>
                </a:solidFill>
                <a:latin typeface="Arial" panose="020B0604020202020204" pitchFamily="34" charset="0"/>
                <a:ea typeface="宋体" panose="02010600030101010101" pitchFamily="2" charset="-122"/>
                <a:cs typeface="Arial" panose="020B0604020202020204" pitchFamily="34" charset="0"/>
              </a:rPr>
              <a:t>波</a:t>
            </a:r>
            <a:r>
              <a:rPr lang="zh-CN" altLang="en-US" sz="2400" b="1">
                <a:solidFill>
                  <a:srgbClr val="C00000"/>
                </a:solidFill>
                <a:latin typeface="Arial" panose="020B0604020202020204" pitchFamily="34" charset="0"/>
                <a:ea typeface="宋体" panose="02010600030101010101" pitchFamily="2" charset="-122"/>
                <a:cs typeface="Arial" panose="020B0604020202020204" pitchFamily="34" charset="0"/>
              </a:rPr>
              <a:t>形</a:t>
            </a:r>
            <a:r>
              <a:rPr lang="zh-CN" altLang="en-US" sz="2400" b="1">
                <a:latin typeface="Arial" panose="020B0604020202020204" pitchFamily="34" charset="0"/>
                <a:ea typeface="宋体" panose="02010600030101010101" pitchFamily="2" charset="-122"/>
                <a:cs typeface="Arial" panose="020B0604020202020204" pitchFamily="34" charset="0"/>
              </a:rPr>
              <a:t>。</a:t>
            </a:r>
            <a:endParaRPr lang="zh-CN" altLang="en-US" sz="2400" b="1" kern="1200" dirty="0">
              <a:latin typeface="宋体" panose="02010600030101010101" pitchFamily="2" charset="-122"/>
              <a:ea typeface="宋体" panose="02010600030101010101" pitchFamily="2" charset="-122"/>
              <a:cs typeface="Arial" panose="020B0604020202020204" pitchFamily="34" charset="0"/>
            </a:endParaRPr>
          </a:p>
        </p:txBody>
      </p:sp>
      <p:sp>
        <p:nvSpPr>
          <p:cNvPr id="19" name="矩形 18">
            <a:extLst>
              <a:ext uri="{FF2B5EF4-FFF2-40B4-BE49-F238E27FC236}">
                <a16:creationId xmlns:a16="http://schemas.microsoft.com/office/drawing/2014/main" id="{E82D8CF2-3F94-4B4D-A5D2-DE94BF962B45}"/>
              </a:ext>
            </a:extLst>
          </p:cNvPr>
          <p:cNvSpPr/>
          <p:nvPr/>
        </p:nvSpPr>
        <p:spPr>
          <a:xfrm>
            <a:off x="1792918" y="319703"/>
            <a:ext cx="2500997" cy="646327"/>
          </a:xfrm>
          <a:prstGeom prst="rect">
            <a:avLst/>
          </a:prstGeom>
        </p:spPr>
        <p:txBody>
          <a:bodyPr wrap="none" lIns="91436" tIns="45718" rIns="91436" bIns="45718">
            <a:spAutoFit/>
          </a:bodyPr>
          <a:lstStyle/>
          <a:p>
            <a:pPr algn="ctr"/>
            <a:r>
              <a:rPr lang="zh-CN" altLang="en-US" sz="3600" b="1" dirty="0">
                <a:solidFill>
                  <a:schemeClr val="bg1"/>
                </a:solidFill>
                <a:latin typeface="宋体" panose="02010600030101010101" pitchFamily="2" charset="-122"/>
                <a:ea typeface="宋体" panose="02010600030101010101" pitchFamily="2" charset="-122"/>
              </a:rPr>
              <a:t>波式传感器</a:t>
            </a:r>
            <a:endParaRPr lang="en-US" altLang="zh-CN" sz="3600" b="1" dirty="0">
              <a:solidFill>
                <a:schemeClr val="bg1"/>
              </a:solidFill>
              <a:latin typeface="宋体" panose="02010600030101010101" pitchFamily="2" charset="-122"/>
              <a:ea typeface="宋体" panose="02010600030101010101" pitchFamily="2" charset="-122"/>
            </a:endParaRPr>
          </a:p>
        </p:txBody>
      </p:sp>
      <p:sp>
        <p:nvSpPr>
          <p:cNvPr id="2" name="Slide Number Placeholder 1">
            <a:extLst>
              <a:ext uri="{FF2B5EF4-FFF2-40B4-BE49-F238E27FC236}">
                <a16:creationId xmlns:a16="http://schemas.microsoft.com/office/drawing/2014/main" id="{FE2DF23B-A21E-49C1-90A2-544A1B4CB8E5}"/>
              </a:ext>
            </a:extLst>
          </p:cNvPr>
          <p:cNvSpPr>
            <a:spLocks noGrp="1"/>
          </p:cNvSpPr>
          <p:nvPr>
            <p:ph type="sldNum" sz="quarter" idx="12"/>
          </p:nvPr>
        </p:nvSpPr>
        <p:spPr/>
        <p:txBody>
          <a:bodyPr/>
          <a:lstStyle/>
          <a:p>
            <a:fld id="{B53602B4-F12B-41CD-B648-531F86B2CC91}" type="slidenum">
              <a:rPr lang="zh-CN" altLang="en-US" smtClean="0"/>
              <a:t>3</a:t>
            </a:fld>
            <a:endParaRPr lang="zh-CN" altLang="en-US"/>
          </a:p>
        </p:txBody>
      </p:sp>
      <p:sp>
        <p:nvSpPr>
          <p:cNvPr id="21" name="内容占位符 2">
            <a:extLst>
              <a:ext uri="{FF2B5EF4-FFF2-40B4-BE49-F238E27FC236}">
                <a16:creationId xmlns:a16="http://schemas.microsoft.com/office/drawing/2014/main" id="{F7A63F3B-ED7D-444A-A4DB-E4BE1D72CD57}"/>
              </a:ext>
            </a:extLst>
          </p:cNvPr>
          <p:cNvSpPr txBox="1">
            <a:spLocks/>
          </p:cNvSpPr>
          <p:nvPr/>
        </p:nvSpPr>
        <p:spPr>
          <a:xfrm>
            <a:off x="400050" y="2759314"/>
            <a:ext cx="4673272" cy="348513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spcBef>
                <a:spcPts val="0"/>
              </a:spcBef>
              <a:buFont typeface="Arial" panose="020B0604020202020204" pitchFamily="34" charset="0"/>
              <a:buNone/>
              <a:defRPr/>
            </a:pPr>
            <a:r>
              <a:rPr lang="zh-CN" altLang="en-US" sz="2400" b="1">
                <a:latin typeface="Arial" panose="020B0604020202020204" pitchFamily="34" charset="0"/>
                <a:ea typeface="宋体" panose="02010600030101010101" pitchFamily="2" charset="-122"/>
                <a:cs typeface="Arial" panose="020B0604020202020204" pitchFamily="34" charset="0"/>
              </a:rPr>
              <a:t>按照</a:t>
            </a:r>
            <a:r>
              <a:rPr lang="zh-CN" altLang="en-US" sz="2400" b="1">
                <a:solidFill>
                  <a:srgbClr val="3333CC"/>
                </a:solidFill>
                <a:latin typeface="Arial" panose="020B0604020202020204" pitchFamily="34" charset="0"/>
                <a:ea typeface="宋体" panose="02010600030101010101" pitchFamily="2" charset="-122"/>
                <a:cs typeface="Arial" panose="020B0604020202020204" pitchFamily="34" charset="0"/>
              </a:rPr>
              <a:t>检测波的频率</a:t>
            </a:r>
            <a:r>
              <a:rPr lang="zh-CN" altLang="en-US" sz="2400" b="1">
                <a:latin typeface="Arial" panose="020B0604020202020204" pitchFamily="34" charset="0"/>
                <a:ea typeface="宋体" panose="02010600030101010101" pitchFamily="2" charset="-122"/>
                <a:cs typeface="Arial" panose="020B0604020202020204" pitchFamily="34" charset="0"/>
              </a:rPr>
              <a:t>可分为：</a:t>
            </a:r>
            <a:endParaRPr lang="en-US" altLang="zh-CN" sz="2400" b="1">
              <a:latin typeface="Arial" panose="020B0604020202020204" pitchFamily="34" charset="0"/>
              <a:ea typeface="宋体" panose="02010600030101010101" pitchFamily="2" charset="-122"/>
              <a:cs typeface="Arial" panose="020B0604020202020204" pitchFamily="34" charset="0"/>
            </a:endParaRPr>
          </a:p>
          <a:p>
            <a:pPr marL="685800" indent="-457200">
              <a:lnSpc>
                <a:spcPct val="150000"/>
              </a:lnSpc>
              <a:spcBef>
                <a:spcPts val="0"/>
              </a:spcBef>
              <a:defRPr/>
            </a:pPr>
            <a:r>
              <a:rPr lang="zh-CN" altLang="en-US" sz="2400" b="1">
                <a:latin typeface="Arial" panose="020B0604020202020204" pitchFamily="34" charset="0"/>
                <a:ea typeface="宋体" panose="02010600030101010101" pitchFamily="2" charset="-122"/>
                <a:cs typeface="Arial" panose="020B0604020202020204" pitchFamily="34" charset="0"/>
              </a:rPr>
              <a:t>超声波传感器</a:t>
            </a:r>
            <a:endParaRPr lang="en-US" altLang="zh-CN" sz="2400" b="1">
              <a:latin typeface="Arial" panose="020B0604020202020204" pitchFamily="34" charset="0"/>
              <a:ea typeface="宋体" panose="02010600030101010101" pitchFamily="2" charset="-122"/>
              <a:cs typeface="Arial" panose="020B0604020202020204" pitchFamily="34" charset="0"/>
            </a:endParaRPr>
          </a:p>
          <a:p>
            <a:pPr marL="685800" indent="-457200">
              <a:lnSpc>
                <a:spcPct val="150000"/>
              </a:lnSpc>
              <a:spcBef>
                <a:spcPts val="0"/>
              </a:spcBef>
              <a:defRPr/>
            </a:pPr>
            <a:r>
              <a:rPr lang="zh-CN" altLang="en-US" sz="2400" b="1">
                <a:latin typeface="Arial" panose="020B0604020202020204" pitchFamily="34" charset="0"/>
                <a:ea typeface="宋体" panose="02010600030101010101" pitchFamily="2" charset="-122"/>
                <a:cs typeface="Arial" panose="020B0604020202020204" pitchFamily="34" charset="0"/>
              </a:rPr>
              <a:t>声波传感器</a:t>
            </a:r>
            <a:endParaRPr lang="en-US" altLang="zh-CN" sz="2400" b="1">
              <a:latin typeface="Arial" panose="020B0604020202020204" pitchFamily="34" charset="0"/>
              <a:ea typeface="宋体" panose="02010600030101010101" pitchFamily="2" charset="-122"/>
              <a:cs typeface="Arial" panose="020B0604020202020204" pitchFamily="34" charset="0"/>
            </a:endParaRPr>
          </a:p>
          <a:p>
            <a:pPr marL="685800" indent="-457200">
              <a:lnSpc>
                <a:spcPct val="150000"/>
              </a:lnSpc>
              <a:spcBef>
                <a:spcPts val="0"/>
              </a:spcBef>
              <a:defRPr/>
            </a:pPr>
            <a:r>
              <a:rPr lang="zh-CN" altLang="en-US" sz="2400" b="1">
                <a:latin typeface="Arial" panose="020B0604020202020204" pitchFamily="34" charset="0"/>
                <a:ea typeface="宋体" panose="02010600030101010101" pitchFamily="2" charset="-122"/>
                <a:cs typeface="Arial" panose="020B0604020202020204" pitchFamily="34" charset="0"/>
              </a:rPr>
              <a:t>微波传感器</a:t>
            </a:r>
            <a:endParaRPr lang="en-US" altLang="zh-CN" sz="2400" b="1">
              <a:latin typeface="Arial" panose="020B0604020202020204" pitchFamily="34" charset="0"/>
              <a:ea typeface="宋体" panose="02010600030101010101" pitchFamily="2" charset="-122"/>
              <a:cs typeface="Arial" panose="020B0604020202020204" pitchFamily="34" charset="0"/>
            </a:endParaRPr>
          </a:p>
          <a:p>
            <a:pPr marL="685800" indent="-457200">
              <a:lnSpc>
                <a:spcPct val="150000"/>
              </a:lnSpc>
              <a:spcBef>
                <a:spcPts val="0"/>
              </a:spcBef>
              <a:defRPr/>
            </a:pPr>
            <a:r>
              <a:rPr lang="zh-CN" altLang="en-US" sz="2400" b="1">
                <a:latin typeface="Arial" panose="020B0604020202020204" pitchFamily="34" charset="0"/>
                <a:ea typeface="宋体" panose="02010600030101010101" pitchFamily="2" charset="-122"/>
                <a:cs typeface="Arial" panose="020B0604020202020204" pitchFamily="34" charset="0"/>
              </a:rPr>
              <a:t>次声波传感器</a:t>
            </a:r>
            <a:endParaRPr lang="zh-CN" altLang="en-US" sz="2400" b="1" dirty="0">
              <a:latin typeface="宋体" panose="02010600030101010101" pitchFamily="2" charset="-122"/>
              <a:ea typeface="宋体" panose="02010600030101010101" pitchFamily="2" charset="-122"/>
              <a:cs typeface="Arial" panose="020B0604020202020204" pitchFamily="34" charset="0"/>
            </a:endParaRPr>
          </a:p>
        </p:txBody>
      </p:sp>
      <p:sp>
        <p:nvSpPr>
          <p:cNvPr id="23" name="内容占位符 2">
            <a:extLst>
              <a:ext uri="{FF2B5EF4-FFF2-40B4-BE49-F238E27FC236}">
                <a16:creationId xmlns:a16="http://schemas.microsoft.com/office/drawing/2014/main" id="{BC25E3F7-A252-4A66-9E40-D5B67FD75AAB}"/>
              </a:ext>
            </a:extLst>
          </p:cNvPr>
          <p:cNvSpPr txBox="1">
            <a:spLocks/>
          </p:cNvSpPr>
          <p:nvPr/>
        </p:nvSpPr>
        <p:spPr>
          <a:xfrm>
            <a:off x="4560276" y="2759314"/>
            <a:ext cx="4513874" cy="3485132"/>
          </a:xfrm>
          <a:prstGeom prst="rect">
            <a:avLst/>
          </a:prstGeom>
        </p:spPr>
        <p:txBody>
          <a:bodyPr vert="horz" lIns="91440" tIns="45720" rIns="91440" bIns="45720" rtlCol="0">
            <a:noAutofit/>
          </a:bodyPr>
          <a:lstStyle>
            <a:defPPr>
              <a:defRPr lang="zh-CN"/>
            </a:defPPr>
            <a:lvl1pPr indent="0">
              <a:lnSpc>
                <a:spcPct val="150000"/>
              </a:lnSpc>
              <a:spcBef>
                <a:spcPts val="0"/>
              </a:spcBef>
              <a:buFont typeface="Arial" panose="020B0604020202020204" pitchFamily="34" charset="0"/>
              <a:buNone/>
              <a:defRPr sz="2400" b="1">
                <a:latin typeface="Arial" panose="020B0604020202020204" pitchFamily="34" charset="0"/>
                <a:ea typeface="宋体" panose="02010600030101010101" pitchFamily="2" charset="-122"/>
                <a:cs typeface="Arial" panose="020B0604020202020204" pitchFamily="34" charset="0"/>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zh-CN" altLang="en-US"/>
              <a:t>按照传感器的</a:t>
            </a:r>
            <a:r>
              <a:rPr lang="zh-CN" altLang="en-US">
                <a:solidFill>
                  <a:srgbClr val="3333CC"/>
                </a:solidFill>
              </a:rPr>
              <a:t>工作原理</a:t>
            </a:r>
            <a:r>
              <a:rPr lang="zh-CN" altLang="en-US"/>
              <a:t>可分为：</a:t>
            </a:r>
            <a:endParaRPr lang="en-US" altLang="zh-CN"/>
          </a:p>
          <a:p>
            <a:pPr marL="685800" lvl="2" indent="-457200">
              <a:lnSpc>
                <a:spcPct val="150000"/>
              </a:lnSpc>
              <a:spcBef>
                <a:spcPts val="0"/>
              </a:spcBef>
              <a:defRPr/>
            </a:pPr>
            <a:r>
              <a:rPr lang="zh-CN" altLang="en-US" sz="2400" b="1">
                <a:latin typeface="Arial" panose="020B0604020202020204" pitchFamily="34" charset="0"/>
                <a:ea typeface="宋体" panose="02010600030101010101" pitchFamily="2" charset="-122"/>
                <a:cs typeface="Arial" panose="020B0604020202020204" pitchFamily="34" charset="0"/>
              </a:rPr>
              <a:t>电容式传感器</a:t>
            </a:r>
            <a:endParaRPr lang="en-US" altLang="zh-CN" sz="2400" b="1">
              <a:latin typeface="Arial" panose="020B0604020202020204" pitchFamily="34" charset="0"/>
              <a:ea typeface="宋体" panose="02010600030101010101" pitchFamily="2" charset="-122"/>
              <a:cs typeface="Arial" panose="020B0604020202020204" pitchFamily="34" charset="0"/>
            </a:endParaRPr>
          </a:p>
          <a:p>
            <a:pPr marL="685800" lvl="2" indent="-457200">
              <a:lnSpc>
                <a:spcPct val="150000"/>
              </a:lnSpc>
              <a:spcBef>
                <a:spcPts val="0"/>
              </a:spcBef>
              <a:defRPr/>
            </a:pPr>
            <a:r>
              <a:rPr lang="zh-CN" altLang="en-US" sz="2400" b="1">
                <a:latin typeface="Arial" panose="020B0604020202020204" pitchFamily="34" charset="0"/>
                <a:ea typeface="宋体" panose="02010600030101010101" pitchFamily="2" charset="-122"/>
                <a:cs typeface="Arial" panose="020B0604020202020204" pitchFamily="34" charset="0"/>
              </a:rPr>
              <a:t>表面波式传感器</a:t>
            </a:r>
            <a:endParaRPr lang="zh-CN" altLang="en-US" sz="2400" b="1" dirty="0">
              <a:latin typeface="Arial" panose="020B0604020202020204" pitchFamily="34" charset="0"/>
              <a:ea typeface="宋体" panose="02010600030101010101" pitchFamily="2" charset="-122"/>
              <a:cs typeface="Arial" panose="020B0604020202020204" pitchFamily="34" charset="0"/>
            </a:endParaRPr>
          </a:p>
        </p:txBody>
      </p:sp>
    </p:spTree>
    <p:extLst>
      <p:ext uri="{BB962C8B-B14F-4D97-AF65-F5344CB8AC3E}">
        <p14:creationId xmlns:p14="http://schemas.microsoft.com/office/powerpoint/2010/main" val="2250814915"/>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0" name="直接连接符 79"/>
          <p:cNvCxnSpPr/>
          <p:nvPr/>
        </p:nvCxnSpPr>
        <p:spPr>
          <a:xfrm>
            <a:off x="1826585" y="519461"/>
            <a:ext cx="0" cy="5643645"/>
          </a:xfrm>
          <a:prstGeom prst="line">
            <a:avLst/>
          </a:prstGeom>
          <a:ln w="3175">
            <a:solidFill>
              <a:schemeClr val="tx1">
                <a:lumMod val="50000"/>
                <a:lumOff val="50000"/>
                <a:alpha val="33000"/>
              </a:schemeClr>
            </a:solidFill>
            <a:headEnd type="diamond"/>
            <a:tailEnd type="diamond"/>
          </a:ln>
        </p:spPr>
        <p:style>
          <a:lnRef idx="1">
            <a:schemeClr val="accent1"/>
          </a:lnRef>
          <a:fillRef idx="0">
            <a:schemeClr val="accent1"/>
          </a:fillRef>
          <a:effectRef idx="0">
            <a:schemeClr val="accent1"/>
          </a:effectRef>
          <a:fontRef idx="minor">
            <a:schemeClr val="tx1"/>
          </a:fontRef>
        </p:style>
      </p:cxnSp>
      <p:sp>
        <p:nvSpPr>
          <p:cNvPr id="4" name="矩形 3"/>
          <p:cNvSpPr/>
          <p:nvPr/>
        </p:nvSpPr>
        <p:spPr>
          <a:xfrm rot="5400000">
            <a:off x="-2908717" y="2904934"/>
            <a:ext cx="6818603" cy="1008743"/>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a:p>
        </p:txBody>
      </p:sp>
      <p:grpSp>
        <p:nvGrpSpPr>
          <p:cNvPr id="15" name="组 14"/>
          <p:cNvGrpSpPr/>
          <p:nvPr/>
        </p:nvGrpSpPr>
        <p:grpSpPr>
          <a:xfrm>
            <a:off x="-16725" y="6654792"/>
            <a:ext cx="953603" cy="203211"/>
            <a:chOff x="-22302" y="6654791"/>
            <a:chExt cx="1271471" cy="203210"/>
          </a:xfrm>
        </p:grpSpPr>
        <p:sp>
          <p:nvSpPr>
            <p:cNvPr id="9" name="圆角矩形 8"/>
            <p:cNvSpPr/>
            <p:nvPr/>
          </p:nvSpPr>
          <p:spPr>
            <a:xfrm flipV="1">
              <a:off x="240276" y="6654791"/>
              <a:ext cx="224807" cy="203210"/>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圆角矩形 9"/>
            <p:cNvSpPr/>
            <p:nvPr/>
          </p:nvSpPr>
          <p:spPr>
            <a:xfrm flipV="1">
              <a:off x="-22302" y="6654791"/>
              <a:ext cx="224807" cy="203210"/>
            </a:xfrm>
            <a:prstGeom prst="roundRect">
              <a:avLst>
                <a:gd name="adj" fmla="val 5039"/>
              </a:avLst>
            </a:prstGeom>
            <a:solidFill>
              <a:schemeClr val="accent5">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圆角矩形 10"/>
            <p:cNvSpPr/>
            <p:nvPr/>
          </p:nvSpPr>
          <p:spPr>
            <a:xfrm flipV="1">
              <a:off x="755838" y="6654791"/>
              <a:ext cx="224807" cy="203210"/>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圆角矩形 11"/>
            <p:cNvSpPr/>
            <p:nvPr/>
          </p:nvSpPr>
          <p:spPr>
            <a:xfrm flipV="1">
              <a:off x="493260" y="6654791"/>
              <a:ext cx="224807" cy="203210"/>
            </a:xfrm>
            <a:prstGeom prst="roundRect">
              <a:avLst>
                <a:gd name="adj" fmla="val 5039"/>
              </a:avLst>
            </a:prstGeom>
            <a:solidFill>
              <a:schemeClr val="accent5">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圆角矩形 7"/>
            <p:cNvSpPr/>
            <p:nvPr/>
          </p:nvSpPr>
          <p:spPr>
            <a:xfrm flipV="1">
              <a:off x="1024362" y="6654791"/>
              <a:ext cx="224807" cy="203210"/>
            </a:xfrm>
            <a:prstGeom prst="roundRect">
              <a:avLst>
                <a:gd name="adj" fmla="val 5039"/>
              </a:avLst>
            </a:prstGeom>
            <a:solidFill>
              <a:schemeClr val="accent5">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3" name="圆角矩形 72"/>
          <p:cNvSpPr/>
          <p:nvPr/>
        </p:nvSpPr>
        <p:spPr>
          <a:xfrm rot="10800000" flipV="1">
            <a:off x="2727320" y="1290760"/>
            <a:ext cx="861785" cy="424267"/>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b="1" dirty="0">
                <a:latin typeface="Arial" panose="020B0604020202020204" pitchFamily="34" charset="0"/>
                <a:ea typeface="宋体" panose="02010600030101010101" pitchFamily="2" charset="-122"/>
                <a:cs typeface="Arial" panose="020B0604020202020204" pitchFamily="34" charset="0"/>
              </a:rPr>
              <a:t>9.1</a:t>
            </a:r>
            <a:endParaRPr lang="zh-CN" altLang="en-US" sz="3600" b="1" dirty="0">
              <a:latin typeface="Arial" panose="020B0604020202020204" pitchFamily="34" charset="0"/>
              <a:ea typeface="宋体" panose="02010600030101010101" pitchFamily="2" charset="-122"/>
              <a:cs typeface="Arial" panose="020B0604020202020204" pitchFamily="34" charset="0"/>
            </a:endParaRPr>
          </a:p>
        </p:txBody>
      </p:sp>
      <p:sp>
        <p:nvSpPr>
          <p:cNvPr id="74" name="圆角矩形 73"/>
          <p:cNvSpPr/>
          <p:nvPr/>
        </p:nvSpPr>
        <p:spPr>
          <a:xfrm rot="10800000" flipV="1">
            <a:off x="2714840" y="2275978"/>
            <a:ext cx="861781" cy="424269"/>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b="1" dirty="0">
                <a:latin typeface="Arial" panose="020B0604020202020204" pitchFamily="34" charset="0"/>
                <a:ea typeface="宋体" panose="02010600030101010101" pitchFamily="2" charset="-122"/>
                <a:cs typeface="Arial" panose="020B0604020202020204" pitchFamily="34" charset="0"/>
              </a:rPr>
              <a:t>9.2</a:t>
            </a:r>
            <a:endParaRPr lang="zh-CN" altLang="en-US" sz="3600" b="1" dirty="0">
              <a:latin typeface="Arial" panose="020B0604020202020204" pitchFamily="34" charset="0"/>
              <a:ea typeface="宋体" panose="02010600030101010101" pitchFamily="2" charset="-122"/>
              <a:cs typeface="Arial" panose="020B0604020202020204" pitchFamily="34" charset="0"/>
            </a:endParaRPr>
          </a:p>
        </p:txBody>
      </p:sp>
      <p:sp>
        <p:nvSpPr>
          <p:cNvPr id="87" name="文本框 86"/>
          <p:cNvSpPr txBox="1"/>
          <p:nvPr/>
        </p:nvSpPr>
        <p:spPr>
          <a:xfrm>
            <a:off x="3876935" y="1179730"/>
            <a:ext cx="2037729" cy="646327"/>
          </a:xfrm>
          <a:prstGeom prst="rect">
            <a:avLst/>
          </a:prstGeom>
          <a:noFill/>
        </p:spPr>
        <p:txBody>
          <a:bodyPr wrap="none" lIns="91436" tIns="45718" rIns="91436" bIns="45718" rtlCol="0">
            <a:spAutoFit/>
          </a:bodyPr>
          <a:lstStyle/>
          <a:p>
            <a:r>
              <a:rPr lang="zh-CN" altLang="en-US" sz="3600" b="1" dirty="0">
                <a:solidFill>
                  <a:schemeClr val="tx2"/>
                </a:solidFill>
                <a:latin typeface="宋体" panose="02010600030101010101" pitchFamily="2" charset="-122"/>
                <a:ea typeface="宋体" panose="02010600030101010101" pitchFamily="2" charset="-122"/>
                <a:hlinkClick r:id="rId2" action="ppaction://hlinksldjump"/>
              </a:rPr>
              <a:t>声波概述</a:t>
            </a:r>
            <a:endParaRPr lang="zh-CN" altLang="en-US" sz="3600" b="1" dirty="0">
              <a:solidFill>
                <a:schemeClr val="tx2"/>
              </a:solidFill>
              <a:latin typeface="宋体" panose="02010600030101010101" pitchFamily="2" charset="-122"/>
              <a:ea typeface="宋体" panose="02010600030101010101" pitchFamily="2" charset="-122"/>
            </a:endParaRPr>
          </a:p>
        </p:txBody>
      </p:sp>
      <p:sp>
        <p:nvSpPr>
          <p:cNvPr id="88" name="文本框 87">
            <a:hlinkClick r:id="rId3" action="ppaction://hlinksldjump"/>
          </p:cNvPr>
          <p:cNvSpPr txBox="1"/>
          <p:nvPr/>
        </p:nvSpPr>
        <p:spPr>
          <a:xfrm>
            <a:off x="3876934" y="2182106"/>
            <a:ext cx="2500998" cy="646327"/>
          </a:xfrm>
          <a:prstGeom prst="rect">
            <a:avLst/>
          </a:prstGeom>
          <a:noFill/>
        </p:spPr>
        <p:txBody>
          <a:bodyPr wrap="none" lIns="91436" tIns="45718" rIns="91436" bIns="45718" rtlCol="0">
            <a:spAutoFit/>
          </a:bodyPr>
          <a:lstStyle/>
          <a:p>
            <a:r>
              <a:rPr lang="zh-CN" altLang="en-US" sz="3600" b="1" dirty="0">
                <a:solidFill>
                  <a:schemeClr val="tx2"/>
                </a:solidFill>
                <a:latin typeface="宋体" panose="02010600030101010101" pitchFamily="2" charset="-122"/>
                <a:ea typeface="宋体" panose="02010600030101010101" pitchFamily="2" charset="-122"/>
                <a:hlinkClick r:id="rId4" action="ppaction://hlinksldjump"/>
              </a:rPr>
              <a:t>微波传感器</a:t>
            </a:r>
            <a:endParaRPr lang="zh-CN" altLang="en-US" sz="3600" b="1" dirty="0">
              <a:solidFill>
                <a:schemeClr val="tx2"/>
              </a:solidFill>
              <a:latin typeface="宋体" panose="02010600030101010101" pitchFamily="2" charset="-122"/>
              <a:ea typeface="宋体" panose="02010600030101010101" pitchFamily="2" charset="-122"/>
            </a:endParaRPr>
          </a:p>
        </p:txBody>
      </p:sp>
      <p:sp>
        <p:nvSpPr>
          <p:cNvPr id="5" name="圆角矩形 72">
            <a:extLst>
              <a:ext uri="{FF2B5EF4-FFF2-40B4-BE49-F238E27FC236}">
                <a16:creationId xmlns:a16="http://schemas.microsoft.com/office/drawing/2014/main" id="{7FC6BBF0-77C3-40AF-86D3-A85CAF66AA58}"/>
              </a:ext>
            </a:extLst>
          </p:cNvPr>
          <p:cNvSpPr/>
          <p:nvPr/>
        </p:nvSpPr>
        <p:spPr>
          <a:xfrm rot="10800000" flipV="1">
            <a:off x="2707666" y="3261199"/>
            <a:ext cx="861785" cy="424267"/>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b="1" dirty="0">
                <a:latin typeface="Arial" panose="020B0604020202020204" pitchFamily="34" charset="0"/>
                <a:ea typeface="宋体" panose="02010600030101010101" pitchFamily="2" charset="-122"/>
                <a:cs typeface="Arial" panose="020B0604020202020204" pitchFamily="34" charset="0"/>
              </a:rPr>
              <a:t>9.3</a:t>
            </a:r>
            <a:endParaRPr lang="zh-CN" altLang="en-US" sz="3600" b="1" dirty="0">
              <a:latin typeface="Arial" panose="020B0604020202020204" pitchFamily="34" charset="0"/>
              <a:ea typeface="宋体" panose="02010600030101010101" pitchFamily="2" charset="-122"/>
              <a:cs typeface="Arial" panose="020B0604020202020204" pitchFamily="34" charset="0"/>
            </a:endParaRPr>
          </a:p>
        </p:txBody>
      </p:sp>
      <p:sp>
        <p:nvSpPr>
          <p:cNvPr id="6" name="圆角矩形 73">
            <a:extLst>
              <a:ext uri="{FF2B5EF4-FFF2-40B4-BE49-F238E27FC236}">
                <a16:creationId xmlns:a16="http://schemas.microsoft.com/office/drawing/2014/main" id="{A6A7388D-AAB1-408E-B0BD-1DF172475E27}"/>
              </a:ext>
            </a:extLst>
          </p:cNvPr>
          <p:cNvSpPr/>
          <p:nvPr/>
        </p:nvSpPr>
        <p:spPr>
          <a:xfrm rot="10800000" flipV="1">
            <a:off x="2714841" y="4246018"/>
            <a:ext cx="861781" cy="424269"/>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b="1" dirty="0">
                <a:latin typeface="Arial" panose="020B0604020202020204" pitchFamily="34" charset="0"/>
                <a:ea typeface="宋体" panose="02010600030101010101" pitchFamily="2" charset="-122"/>
                <a:cs typeface="Arial" panose="020B0604020202020204" pitchFamily="34" charset="0"/>
              </a:rPr>
              <a:t>9.4</a:t>
            </a:r>
            <a:endParaRPr lang="zh-CN" altLang="en-US" sz="3600" b="1" dirty="0">
              <a:latin typeface="Arial" panose="020B0604020202020204" pitchFamily="34" charset="0"/>
              <a:ea typeface="宋体" panose="02010600030101010101" pitchFamily="2" charset="-122"/>
              <a:cs typeface="Arial" panose="020B0604020202020204" pitchFamily="34" charset="0"/>
            </a:endParaRPr>
          </a:p>
        </p:txBody>
      </p:sp>
      <p:sp>
        <p:nvSpPr>
          <p:cNvPr id="7" name="文本框 6">
            <a:extLst>
              <a:ext uri="{FF2B5EF4-FFF2-40B4-BE49-F238E27FC236}">
                <a16:creationId xmlns:a16="http://schemas.microsoft.com/office/drawing/2014/main" id="{2A710E0A-D4CD-4A00-B02F-5CC498406030}"/>
              </a:ext>
            </a:extLst>
          </p:cNvPr>
          <p:cNvSpPr txBox="1"/>
          <p:nvPr/>
        </p:nvSpPr>
        <p:spPr>
          <a:xfrm>
            <a:off x="3876935" y="3081256"/>
            <a:ext cx="4354069" cy="646327"/>
          </a:xfrm>
          <a:prstGeom prst="rect">
            <a:avLst/>
          </a:prstGeom>
          <a:noFill/>
        </p:spPr>
        <p:txBody>
          <a:bodyPr wrap="none" lIns="91436" tIns="45718" rIns="91436" bIns="45718" rtlCol="0">
            <a:spAutoFit/>
          </a:bodyPr>
          <a:lstStyle/>
          <a:p>
            <a:r>
              <a:rPr lang="zh-CN" altLang="en-US" sz="3600" b="1" dirty="0">
                <a:solidFill>
                  <a:schemeClr val="tx2"/>
                </a:solidFill>
                <a:latin typeface="宋体" panose="02010600030101010101" pitchFamily="2" charset="-122"/>
                <a:ea typeface="宋体" panose="02010600030101010101" pitchFamily="2" charset="-122"/>
                <a:hlinkClick r:id="rId5" action="ppaction://hlinksldjump"/>
              </a:rPr>
              <a:t>超声与次声波传感器</a:t>
            </a:r>
            <a:endParaRPr lang="zh-CN" altLang="en-US" sz="3600" b="1" dirty="0">
              <a:solidFill>
                <a:schemeClr val="tx2"/>
              </a:solidFill>
              <a:latin typeface="宋体" panose="02010600030101010101" pitchFamily="2" charset="-122"/>
              <a:ea typeface="宋体" panose="02010600030101010101" pitchFamily="2" charset="-122"/>
            </a:endParaRPr>
          </a:p>
        </p:txBody>
      </p:sp>
      <p:sp>
        <p:nvSpPr>
          <p:cNvPr id="13" name="文本框 12">
            <a:extLst>
              <a:ext uri="{FF2B5EF4-FFF2-40B4-BE49-F238E27FC236}">
                <a16:creationId xmlns:a16="http://schemas.microsoft.com/office/drawing/2014/main" id="{E1AF24DF-6C4E-44DB-902F-37F655CF0FEC}"/>
              </a:ext>
            </a:extLst>
          </p:cNvPr>
          <p:cNvSpPr txBox="1"/>
          <p:nvPr/>
        </p:nvSpPr>
        <p:spPr>
          <a:xfrm>
            <a:off x="3876935" y="4141079"/>
            <a:ext cx="3890801" cy="646327"/>
          </a:xfrm>
          <a:prstGeom prst="rect">
            <a:avLst/>
          </a:prstGeom>
          <a:noFill/>
        </p:spPr>
        <p:txBody>
          <a:bodyPr wrap="none" lIns="91436" tIns="45718" rIns="91436" bIns="45718" rtlCol="0">
            <a:spAutoFit/>
          </a:bodyPr>
          <a:lstStyle/>
          <a:p>
            <a:r>
              <a:rPr lang="zh-CN" altLang="en-US" sz="3600" b="1" dirty="0">
                <a:solidFill>
                  <a:schemeClr val="tx2"/>
                </a:solidFill>
                <a:latin typeface="宋体" panose="02010600030101010101" pitchFamily="2" charset="-122"/>
                <a:ea typeface="宋体" panose="02010600030101010101" pitchFamily="2" charset="-122"/>
                <a:hlinkClick r:id="rId6" action="ppaction://hlinksldjump"/>
              </a:rPr>
              <a:t>声波传感器的应用</a:t>
            </a:r>
            <a:endParaRPr lang="zh-CN" altLang="en-US" sz="3600" b="1" dirty="0">
              <a:solidFill>
                <a:schemeClr val="tx2"/>
              </a:solidFill>
              <a:latin typeface="宋体" panose="02010600030101010101" pitchFamily="2" charset="-122"/>
              <a:ea typeface="宋体" panose="02010600030101010101" pitchFamily="2" charset="-122"/>
            </a:endParaRPr>
          </a:p>
        </p:txBody>
      </p:sp>
      <p:sp>
        <p:nvSpPr>
          <p:cNvPr id="16" name="圆角矩形 72">
            <a:extLst>
              <a:ext uri="{FF2B5EF4-FFF2-40B4-BE49-F238E27FC236}">
                <a16:creationId xmlns:a16="http://schemas.microsoft.com/office/drawing/2014/main" id="{4F185087-379A-4ECF-AC00-2D0B608230D2}"/>
              </a:ext>
            </a:extLst>
          </p:cNvPr>
          <p:cNvSpPr/>
          <p:nvPr/>
        </p:nvSpPr>
        <p:spPr>
          <a:xfrm rot="10800000" flipV="1">
            <a:off x="2727321" y="5230840"/>
            <a:ext cx="861785" cy="424267"/>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3600" b="1" dirty="0">
              <a:latin typeface="宋体" panose="02010600030101010101" pitchFamily="2" charset="-122"/>
              <a:ea typeface="宋体" panose="02010600030101010101" pitchFamily="2" charset="-122"/>
            </a:endParaRPr>
          </a:p>
        </p:txBody>
      </p:sp>
      <p:sp>
        <p:nvSpPr>
          <p:cNvPr id="18" name="文本框 17">
            <a:extLst>
              <a:ext uri="{FF2B5EF4-FFF2-40B4-BE49-F238E27FC236}">
                <a16:creationId xmlns:a16="http://schemas.microsoft.com/office/drawing/2014/main" id="{E39DC9A3-7A53-4D1A-8D27-109D8684D9D3}"/>
              </a:ext>
            </a:extLst>
          </p:cNvPr>
          <p:cNvSpPr txBox="1"/>
          <p:nvPr/>
        </p:nvSpPr>
        <p:spPr>
          <a:xfrm>
            <a:off x="3876935" y="5119810"/>
            <a:ext cx="2037729" cy="646327"/>
          </a:xfrm>
          <a:prstGeom prst="rect">
            <a:avLst/>
          </a:prstGeom>
          <a:noFill/>
        </p:spPr>
        <p:txBody>
          <a:bodyPr wrap="none" lIns="91436" tIns="45718" rIns="91436" bIns="45718" rtlCol="0">
            <a:spAutoFit/>
          </a:bodyPr>
          <a:lstStyle/>
          <a:p>
            <a:r>
              <a:rPr lang="zh-CN" altLang="en-US" sz="3600" b="1" dirty="0">
                <a:solidFill>
                  <a:schemeClr val="tx2"/>
                </a:solidFill>
                <a:latin typeface="宋体" panose="02010600030101010101" pitchFamily="2" charset="-122"/>
                <a:ea typeface="宋体" panose="02010600030101010101" pitchFamily="2" charset="-122"/>
                <a:hlinkClick r:id="rId7" action="ppaction://hlinksldjump"/>
              </a:rPr>
              <a:t>本章要点</a:t>
            </a:r>
            <a:endParaRPr lang="zh-CN" altLang="en-US" sz="3600" b="1" dirty="0">
              <a:solidFill>
                <a:schemeClr val="tx2"/>
              </a:solidFill>
              <a:latin typeface="宋体" panose="02010600030101010101" pitchFamily="2" charset="-122"/>
              <a:ea typeface="宋体" panose="02010600030101010101" pitchFamily="2" charset="-122"/>
            </a:endParaRPr>
          </a:p>
        </p:txBody>
      </p:sp>
      <p:sp>
        <p:nvSpPr>
          <p:cNvPr id="14" name="Slide Number Placeholder 13">
            <a:extLst>
              <a:ext uri="{FF2B5EF4-FFF2-40B4-BE49-F238E27FC236}">
                <a16:creationId xmlns:a16="http://schemas.microsoft.com/office/drawing/2014/main" id="{8013C378-3636-4722-9837-E22BAF13F621}"/>
              </a:ext>
            </a:extLst>
          </p:cNvPr>
          <p:cNvSpPr>
            <a:spLocks noGrp="1"/>
          </p:cNvSpPr>
          <p:nvPr>
            <p:ph type="sldNum" sz="quarter" idx="12"/>
          </p:nvPr>
        </p:nvSpPr>
        <p:spPr/>
        <p:txBody>
          <a:bodyPr/>
          <a:lstStyle/>
          <a:p>
            <a:fld id="{B53602B4-F12B-41CD-B648-531F86B2CC91}" type="slidenum">
              <a:rPr lang="zh-CN" altLang="en-US" smtClean="0"/>
              <a:t>4</a:t>
            </a:fld>
            <a:endParaRPr lang="zh-CN" altLang="en-US"/>
          </a:p>
        </p:txBody>
      </p:sp>
      <p:sp>
        <p:nvSpPr>
          <p:cNvPr id="33" name="文本框 19">
            <a:extLst>
              <a:ext uri="{FF2B5EF4-FFF2-40B4-BE49-F238E27FC236}">
                <a16:creationId xmlns:a16="http://schemas.microsoft.com/office/drawing/2014/main" id="{5C7F4A64-895E-480B-A580-72EAF18EBFD3}"/>
              </a:ext>
            </a:extLst>
          </p:cNvPr>
          <p:cNvSpPr txBox="1"/>
          <p:nvPr/>
        </p:nvSpPr>
        <p:spPr>
          <a:xfrm>
            <a:off x="96423" y="1560285"/>
            <a:ext cx="754047" cy="2881086"/>
          </a:xfrm>
          <a:prstGeom prst="rect">
            <a:avLst/>
          </a:prstGeom>
          <a:noFill/>
        </p:spPr>
        <p:txBody>
          <a:bodyPr vert="eaVert" wrap="square" lIns="68577" tIns="34289" rIns="68577" bIns="34289" rtlCol="0">
            <a:spAutoFit/>
          </a:bodyPr>
          <a:lstStyle/>
          <a:p>
            <a:r>
              <a:rPr lang="ja-JP" altLang="en-US" sz="4000" b="1" spc="1200">
                <a:solidFill>
                  <a:schemeClr val="bg1"/>
                </a:solidFill>
                <a:latin typeface="微软雅黑" panose="020B0503020204020204" pitchFamily="34" charset="-122"/>
                <a:ea typeface="微软雅黑" panose="020B0503020204020204" pitchFamily="34" charset="-122"/>
              </a:rPr>
              <a:t>内容提纲</a:t>
            </a:r>
            <a:endParaRPr lang="zh-CN" altLang="en-US" sz="4000" b="1" spc="1200"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675033865"/>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矩形 28">
            <a:extLst>
              <a:ext uri="{FF2B5EF4-FFF2-40B4-BE49-F238E27FC236}">
                <a16:creationId xmlns:a16="http://schemas.microsoft.com/office/drawing/2014/main" id="{64509930-9DFB-420E-8F32-960E50399825}"/>
              </a:ext>
            </a:extLst>
          </p:cNvPr>
          <p:cNvSpPr/>
          <p:nvPr/>
        </p:nvSpPr>
        <p:spPr>
          <a:xfrm>
            <a:off x="1571711" y="258777"/>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 name="圆角矩形 43">
            <a:extLst>
              <a:ext uri="{FF2B5EF4-FFF2-40B4-BE49-F238E27FC236}">
                <a16:creationId xmlns:a16="http://schemas.microsoft.com/office/drawing/2014/main" id="{CF8C770C-FC9A-4787-916B-DF8E1602A4DA}"/>
              </a:ext>
            </a:extLst>
          </p:cNvPr>
          <p:cNvSpPr/>
          <p:nvPr/>
        </p:nvSpPr>
        <p:spPr>
          <a:xfrm rot="10800000" flipV="1">
            <a:off x="553424" y="252857"/>
            <a:ext cx="944426" cy="609309"/>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b="1" dirty="0">
                <a:latin typeface="Arial" panose="020B0604020202020204" pitchFamily="34" charset="0"/>
                <a:cs typeface="Arial" panose="020B0604020202020204" pitchFamily="34" charset="0"/>
              </a:rPr>
              <a:t>9.1</a:t>
            </a:r>
            <a:endParaRPr lang="zh-CN" altLang="en-US" sz="3600" b="1" dirty="0">
              <a:latin typeface="Arial" panose="020B0604020202020204" pitchFamily="34" charset="0"/>
              <a:cs typeface="Arial" panose="020B0604020202020204" pitchFamily="34" charset="0"/>
            </a:endParaRPr>
          </a:p>
        </p:txBody>
      </p:sp>
      <p:sp>
        <p:nvSpPr>
          <p:cNvPr id="5" name="矩形 4">
            <a:extLst>
              <a:ext uri="{FF2B5EF4-FFF2-40B4-BE49-F238E27FC236}">
                <a16:creationId xmlns:a16="http://schemas.microsoft.com/office/drawing/2014/main" id="{E82D8CF2-3F94-4B4D-A5D2-DE94BF962B45}"/>
              </a:ext>
            </a:extLst>
          </p:cNvPr>
          <p:cNvSpPr/>
          <p:nvPr/>
        </p:nvSpPr>
        <p:spPr>
          <a:xfrm>
            <a:off x="1863984" y="215409"/>
            <a:ext cx="1935137" cy="615549"/>
          </a:xfrm>
          <a:prstGeom prst="rect">
            <a:avLst/>
          </a:prstGeom>
        </p:spPr>
        <p:txBody>
          <a:bodyPr wrap="none" lIns="91436" tIns="45718" rIns="91436" bIns="45718">
            <a:spAutoFit/>
          </a:bodyPr>
          <a:lstStyle/>
          <a:p>
            <a:pPr algn="ctr"/>
            <a:r>
              <a:rPr lang="zh-CN" altLang="en-US" sz="3400" b="1" dirty="0">
                <a:solidFill>
                  <a:schemeClr val="bg1"/>
                </a:solidFill>
                <a:latin typeface="宋体" panose="02010600030101010101" pitchFamily="2" charset="-122"/>
                <a:ea typeface="宋体" panose="02010600030101010101" pitchFamily="2" charset="-122"/>
              </a:rPr>
              <a:t>声波概述</a:t>
            </a:r>
            <a:endParaRPr lang="en-US" altLang="zh-CN" sz="3400" b="1" dirty="0">
              <a:solidFill>
                <a:schemeClr val="bg1"/>
              </a:solidFill>
              <a:latin typeface="宋体" panose="02010600030101010101" pitchFamily="2" charset="-122"/>
              <a:ea typeface="宋体" panose="02010600030101010101" pitchFamily="2" charset="-122"/>
            </a:endParaRPr>
          </a:p>
        </p:txBody>
      </p:sp>
      <p:sp>
        <p:nvSpPr>
          <p:cNvPr id="2" name="圆角矩形 72">
            <a:extLst>
              <a:ext uri="{FF2B5EF4-FFF2-40B4-BE49-F238E27FC236}">
                <a16:creationId xmlns:a16="http://schemas.microsoft.com/office/drawing/2014/main" id="{343D7C8A-72E9-4E11-82F9-04D1F37F1B07}"/>
              </a:ext>
            </a:extLst>
          </p:cNvPr>
          <p:cNvSpPr/>
          <p:nvPr/>
        </p:nvSpPr>
        <p:spPr>
          <a:xfrm rot="10800000" flipV="1">
            <a:off x="2319269" y="2632237"/>
            <a:ext cx="1028701" cy="46885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800" b="1" dirty="0">
                <a:latin typeface="Arial" panose="020B0604020202020204" pitchFamily="34" charset="0"/>
                <a:ea typeface="宋体" panose="02010600030101010101" pitchFamily="2" charset="-122"/>
                <a:cs typeface="Arial" panose="020B0604020202020204" pitchFamily="34" charset="0"/>
              </a:rPr>
              <a:t>9.1.1</a:t>
            </a:r>
            <a:endParaRPr lang="zh-CN" altLang="en-US" sz="2800" b="1" dirty="0">
              <a:latin typeface="Arial" panose="020B0604020202020204" pitchFamily="34" charset="0"/>
              <a:ea typeface="宋体" panose="02010600030101010101" pitchFamily="2" charset="-122"/>
              <a:cs typeface="Arial" panose="020B0604020202020204" pitchFamily="34" charset="0"/>
            </a:endParaRPr>
          </a:p>
        </p:txBody>
      </p:sp>
      <p:sp>
        <p:nvSpPr>
          <p:cNvPr id="3" name="圆角矩形 73">
            <a:extLst>
              <a:ext uri="{FF2B5EF4-FFF2-40B4-BE49-F238E27FC236}">
                <a16:creationId xmlns:a16="http://schemas.microsoft.com/office/drawing/2014/main" id="{7997A031-0667-4F3B-9AA0-BAB02B443096}"/>
              </a:ext>
            </a:extLst>
          </p:cNvPr>
          <p:cNvSpPr/>
          <p:nvPr/>
        </p:nvSpPr>
        <p:spPr>
          <a:xfrm rot="10800000" flipV="1">
            <a:off x="2319271" y="3696737"/>
            <a:ext cx="1028700" cy="467244"/>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800" b="1" dirty="0">
                <a:latin typeface="Arial" panose="020B0604020202020204" pitchFamily="34" charset="0"/>
                <a:ea typeface="宋体" panose="02010600030101010101" pitchFamily="2" charset="-122"/>
                <a:cs typeface="Arial" panose="020B0604020202020204" pitchFamily="34" charset="0"/>
              </a:rPr>
              <a:t>9.1.2</a:t>
            </a:r>
            <a:endParaRPr lang="zh-CN" altLang="en-US" sz="2800" b="1" dirty="0">
              <a:latin typeface="Arial" panose="020B0604020202020204" pitchFamily="34" charset="0"/>
              <a:ea typeface="宋体" panose="02010600030101010101" pitchFamily="2" charset="-122"/>
              <a:cs typeface="Arial" panose="020B0604020202020204" pitchFamily="34" charset="0"/>
            </a:endParaRPr>
          </a:p>
        </p:txBody>
      </p:sp>
      <p:sp>
        <p:nvSpPr>
          <p:cNvPr id="6" name="文本框 5">
            <a:extLst>
              <a:ext uri="{FF2B5EF4-FFF2-40B4-BE49-F238E27FC236}">
                <a16:creationId xmlns:a16="http://schemas.microsoft.com/office/drawing/2014/main" id="{A27B0E45-CC10-4805-AF7A-2E101778D64D}"/>
              </a:ext>
            </a:extLst>
          </p:cNvPr>
          <p:cNvSpPr txBox="1"/>
          <p:nvPr/>
        </p:nvSpPr>
        <p:spPr>
          <a:xfrm>
            <a:off x="3799121" y="2543500"/>
            <a:ext cx="1008601" cy="584771"/>
          </a:xfrm>
          <a:prstGeom prst="rect">
            <a:avLst/>
          </a:prstGeom>
          <a:noFill/>
        </p:spPr>
        <p:txBody>
          <a:bodyPr wrap="none" lIns="91436" tIns="45718" rIns="91436" bIns="45718" rtlCol="0">
            <a:spAutoFit/>
          </a:bodyPr>
          <a:lstStyle/>
          <a:p>
            <a:r>
              <a:rPr lang="zh-CN" altLang="en-US" sz="3200" b="1" dirty="0">
                <a:solidFill>
                  <a:schemeClr val="tx2"/>
                </a:solidFill>
                <a:latin typeface="宋体" panose="02010600030101010101" pitchFamily="2" charset="-122"/>
                <a:ea typeface="宋体" panose="02010600030101010101" pitchFamily="2" charset="-122"/>
                <a:hlinkClick r:id="rId2" action="ppaction://hlinksldjump"/>
              </a:rPr>
              <a:t>声波</a:t>
            </a:r>
            <a:endParaRPr lang="zh-CN" altLang="en-US" sz="3200" b="1" dirty="0">
              <a:solidFill>
                <a:schemeClr val="tx2"/>
              </a:solidFill>
              <a:latin typeface="宋体" panose="02010600030101010101" pitchFamily="2" charset="-122"/>
              <a:ea typeface="宋体" panose="02010600030101010101" pitchFamily="2" charset="-122"/>
            </a:endParaRPr>
          </a:p>
        </p:txBody>
      </p:sp>
      <p:sp>
        <p:nvSpPr>
          <p:cNvPr id="7" name="文本框 6">
            <a:extLst>
              <a:ext uri="{FF2B5EF4-FFF2-40B4-BE49-F238E27FC236}">
                <a16:creationId xmlns:a16="http://schemas.microsoft.com/office/drawing/2014/main" id="{C5E02233-70AC-4B95-A962-4BEC802A95C6}"/>
              </a:ext>
            </a:extLst>
          </p:cNvPr>
          <p:cNvSpPr txBox="1"/>
          <p:nvPr/>
        </p:nvSpPr>
        <p:spPr>
          <a:xfrm>
            <a:off x="3799121" y="3607196"/>
            <a:ext cx="1832545" cy="584771"/>
          </a:xfrm>
          <a:prstGeom prst="rect">
            <a:avLst/>
          </a:prstGeom>
          <a:noFill/>
        </p:spPr>
        <p:txBody>
          <a:bodyPr wrap="none" lIns="91436" tIns="45718" rIns="91436" bIns="45718" rtlCol="0">
            <a:spAutoFit/>
          </a:bodyPr>
          <a:lstStyle/>
          <a:p>
            <a:r>
              <a:rPr lang="zh-CN" altLang="en-US" sz="3200" b="1" dirty="0">
                <a:solidFill>
                  <a:schemeClr val="tx2"/>
                </a:solidFill>
                <a:latin typeface="宋体" panose="02010600030101010101" pitchFamily="2" charset="-122"/>
                <a:ea typeface="宋体" panose="02010600030101010101" pitchFamily="2" charset="-122"/>
                <a:hlinkClick r:id="rId3" action="ppaction://hlinksldjump"/>
              </a:rPr>
              <a:t>物理特性</a:t>
            </a:r>
            <a:endParaRPr lang="zh-CN" altLang="en-US" sz="3200" b="1" dirty="0">
              <a:solidFill>
                <a:schemeClr val="tx2"/>
              </a:solidFill>
              <a:latin typeface="宋体" panose="02010600030101010101" pitchFamily="2" charset="-122"/>
              <a:ea typeface="宋体" panose="02010600030101010101" pitchFamily="2" charset="-122"/>
            </a:endParaRPr>
          </a:p>
        </p:txBody>
      </p:sp>
      <p:sp>
        <p:nvSpPr>
          <p:cNvPr id="8" name="Slide Number Placeholder 7">
            <a:extLst>
              <a:ext uri="{FF2B5EF4-FFF2-40B4-BE49-F238E27FC236}">
                <a16:creationId xmlns:a16="http://schemas.microsoft.com/office/drawing/2014/main" id="{DE1C013C-5192-459C-9997-5874DF3DC4D6}"/>
              </a:ext>
            </a:extLst>
          </p:cNvPr>
          <p:cNvSpPr>
            <a:spLocks noGrp="1"/>
          </p:cNvSpPr>
          <p:nvPr>
            <p:ph type="sldNum" sz="quarter" idx="12"/>
          </p:nvPr>
        </p:nvSpPr>
        <p:spPr/>
        <p:txBody>
          <a:bodyPr/>
          <a:lstStyle/>
          <a:p>
            <a:fld id="{B53602B4-F12B-41CD-B648-531F86B2CC91}" type="slidenum">
              <a:rPr lang="zh-CN" altLang="en-US" smtClean="0"/>
              <a:t>5</a:t>
            </a:fld>
            <a:endParaRPr lang="zh-CN" altLang="en-US"/>
          </a:p>
        </p:txBody>
      </p:sp>
    </p:spTree>
    <p:extLst>
      <p:ext uri="{BB962C8B-B14F-4D97-AF65-F5344CB8AC3E}">
        <p14:creationId xmlns:p14="http://schemas.microsoft.com/office/powerpoint/2010/main" val="2625619820"/>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矩形 27">
            <a:extLst>
              <a:ext uri="{FF2B5EF4-FFF2-40B4-BE49-F238E27FC236}">
                <a16:creationId xmlns:a16="http://schemas.microsoft.com/office/drawing/2014/main" id="{64509930-9DFB-420E-8F32-960E50399825}"/>
              </a:ext>
            </a:extLst>
          </p:cNvPr>
          <p:cNvSpPr/>
          <p:nvPr/>
        </p:nvSpPr>
        <p:spPr>
          <a:xfrm>
            <a:off x="1571711" y="258777"/>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 name="矩形 2">
            <a:extLst>
              <a:ext uri="{FF2B5EF4-FFF2-40B4-BE49-F238E27FC236}">
                <a16:creationId xmlns:a16="http://schemas.microsoft.com/office/drawing/2014/main" id="{D34396BB-6050-4734-BFC1-1F29E2A6538B}"/>
              </a:ext>
            </a:extLst>
          </p:cNvPr>
          <p:cNvSpPr/>
          <p:nvPr/>
        </p:nvSpPr>
        <p:spPr>
          <a:xfrm>
            <a:off x="185084" y="1264984"/>
            <a:ext cx="8629649" cy="536683"/>
          </a:xfrm>
          <a:prstGeom prst="rect">
            <a:avLst/>
          </a:prstGeom>
        </p:spPr>
        <p:txBody>
          <a:bodyPr wrap="square" lIns="91438" tIns="45719" rIns="91438" bIns="45719">
            <a:spAutoFit/>
          </a:bodyPr>
          <a:lstStyle/>
          <a:p>
            <a:pPr>
              <a:lnSpc>
                <a:spcPct val="150000"/>
              </a:lnSpc>
              <a:spcBef>
                <a:spcPts val="672"/>
              </a:spcBef>
            </a:pPr>
            <a:r>
              <a:rPr lang="zh-CN" altLang="en-US" sz="2200" b="1" dirty="0">
                <a:latin typeface="宋体" panose="02010600030101010101" pitchFamily="2" charset="-122"/>
                <a:ea typeface="宋体" panose="02010600030101010101" pitchFamily="2" charset="-122"/>
              </a:rPr>
              <a:t>声波根据频率可分为次声波、可闻声波（声音）、超声波和微波声波。</a:t>
            </a:r>
            <a:endParaRPr lang="en-US" altLang="zh-CN" sz="2200" dirty="0">
              <a:latin typeface="微软雅黑" panose="020B0503020204020204" pitchFamily="34" charset="-122"/>
              <a:ea typeface="微软雅黑" panose="020B0503020204020204" pitchFamily="34" charset="-122"/>
            </a:endParaRPr>
          </a:p>
        </p:txBody>
      </p:sp>
      <p:sp>
        <p:nvSpPr>
          <p:cNvPr id="6" name="圆角矩形 43">
            <a:extLst>
              <a:ext uri="{FF2B5EF4-FFF2-40B4-BE49-F238E27FC236}">
                <a16:creationId xmlns:a16="http://schemas.microsoft.com/office/drawing/2014/main" id="{7D086454-5B10-4064-9B8F-531209592F7E}"/>
              </a:ext>
            </a:extLst>
          </p:cNvPr>
          <p:cNvSpPr/>
          <p:nvPr/>
        </p:nvSpPr>
        <p:spPr>
          <a:xfrm rot="10800000" flipV="1">
            <a:off x="185084" y="242948"/>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20204" pitchFamily="34" charset="0"/>
                <a:ea typeface="宋体" panose="02010600030101010101" pitchFamily="2" charset="-122"/>
                <a:cs typeface="Arial" panose="020B0604020202020204" pitchFamily="34" charset="0"/>
              </a:rPr>
              <a:t>9.1.1</a:t>
            </a:r>
            <a:endParaRPr lang="zh-CN" altLang="en-US" sz="3200" b="1" dirty="0">
              <a:latin typeface="Arial" panose="020B0604020202020204" pitchFamily="34" charset="0"/>
              <a:ea typeface="宋体" panose="02010600030101010101" pitchFamily="2" charset="-122"/>
              <a:cs typeface="Arial" panose="020B0604020202020204" pitchFamily="34" charset="0"/>
            </a:endParaRPr>
          </a:p>
        </p:txBody>
      </p:sp>
      <p:sp>
        <p:nvSpPr>
          <p:cNvPr id="7" name="矩形 6">
            <a:extLst>
              <a:ext uri="{FF2B5EF4-FFF2-40B4-BE49-F238E27FC236}">
                <a16:creationId xmlns:a16="http://schemas.microsoft.com/office/drawing/2014/main" id="{2A2F604C-DA27-459E-8419-ED777356D653}"/>
              </a:ext>
            </a:extLst>
          </p:cNvPr>
          <p:cNvSpPr/>
          <p:nvPr/>
        </p:nvSpPr>
        <p:spPr>
          <a:xfrm>
            <a:off x="1963580" y="253949"/>
            <a:ext cx="1059897" cy="615549"/>
          </a:xfrm>
          <a:prstGeom prst="rect">
            <a:avLst/>
          </a:prstGeom>
        </p:spPr>
        <p:txBody>
          <a:bodyPr wrap="none" lIns="91436" tIns="45718" rIns="91436" bIns="45718">
            <a:spAutoFit/>
          </a:bodyPr>
          <a:lstStyle/>
          <a:p>
            <a:pPr algn="ctr"/>
            <a:r>
              <a:rPr lang="zh-CN" altLang="en-US" sz="3400" b="1" dirty="0">
                <a:solidFill>
                  <a:schemeClr val="bg1"/>
                </a:solidFill>
                <a:latin typeface="宋体" panose="02010600030101010101" pitchFamily="2" charset="-122"/>
                <a:ea typeface="宋体" panose="02010600030101010101" pitchFamily="2" charset="-122"/>
              </a:rPr>
              <a:t>声波</a:t>
            </a:r>
            <a:endParaRPr lang="en-US" altLang="zh-CN" sz="3400" b="1" dirty="0">
              <a:solidFill>
                <a:schemeClr val="bg1"/>
              </a:solidFill>
              <a:latin typeface="宋体" panose="02010600030101010101" pitchFamily="2" charset="-122"/>
              <a:ea typeface="宋体" panose="02010600030101010101" pitchFamily="2" charset="-122"/>
            </a:endParaRPr>
          </a:p>
        </p:txBody>
      </p:sp>
      <p:sp>
        <p:nvSpPr>
          <p:cNvPr id="4" name="Slide Number Placeholder 3">
            <a:extLst>
              <a:ext uri="{FF2B5EF4-FFF2-40B4-BE49-F238E27FC236}">
                <a16:creationId xmlns:a16="http://schemas.microsoft.com/office/drawing/2014/main" id="{B244F1B5-B1CA-4459-80F8-7A0A44902931}"/>
              </a:ext>
            </a:extLst>
          </p:cNvPr>
          <p:cNvSpPr>
            <a:spLocks noGrp="1"/>
          </p:cNvSpPr>
          <p:nvPr>
            <p:ph type="sldNum" sz="quarter" idx="12"/>
          </p:nvPr>
        </p:nvSpPr>
        <p:spPr/>
        <p:txBody>
          <a:bodyPr/>
          <a:lstStyle/>
          <a:p>
            <a:fld id="{B53602B4-F12B-41CD-B648-531F86B2CC91}" type="slidenum">
              <a:rPr lang="zh-CN" altLang="en-US" smtClean="0"/>
              <a:t>6</a:t>
            </a:fld>
            <a:endParaRPr lang="zh-CN" altLang="en-US"/>
          </a:p>
        </p:txBody>
      </p:sp>
      <p:sp>
        <p:nvSpPr>
          <p:cNvPr id="21" name="Text Box 59">
            <a:extLst>
              <a:ext uri="{FF2B5EF4-FFF2-40B4-BE49-F238E27FC236}">
                <a16:creationId xmlns:a16="http://schemas.microsoft.com/office/drawing/2014/main" id="{A182272A-7AD4-4DBA-A127-4C2F6DB354E2}"/>
              </a:ext>
            </a:extLst>
          </p:cNvPr>
          <p:cNvSpPr txBox="1">
            <a:spLocks noChangeArrowheads="1"/>
          </p:cNvSpPr>
          <p:nvPr/>
        </p:nvSpPr>
        <p:spPr bwMode="auto">
          <a:xfrm>
            <a:off x="3320277" y="5509278"/>
            <a:ext cx="3320008" cy="4914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buFontTx/>
              <a:buNone/>
            </a:pPr>
            <a:r>
              <a:rPr kumimoji="0" lang="zh-CN" altLang="en-US" sz="2400" b="1" dirty="0">
                <a:solidFill>
                  <a:srgbClr val="3333CC"/>
                </a:solidFill>
                <a:latin typeface="宋体" pitchFamily="2" charset="-122"/>
              </a:rPr>
              <a:t>图</a:t>
            </a:r>
            <a:r>
              <a:rPr kumimoji="0" lang="en-US" altLang="zh-CN" sz="2400" b="1" dirty="0">
                <a:solidFill>
                  <a:srgbClr val="3333CC"/>
                </a:solidFill>
                <a:latin typeface="宋体" pitchFamily="2" charset="-122"/>
              </a:rPr>
              <a:t>9-1 </a:t>
            </a:r>
            <a:r>
              <a:rPr kumimoji="0" lang="zh-CN" altLang="en-US" sz="2400" b="1" dirty="0">
                <a:solidFill>
                  <a:srgbClr val="3333CC"/>
                </a:solidFill>
                <a:latin typeface="宋体" pitchFamily="2" charset="-122"/>
              </a:rPr>
              <a:t>声波频率界限图</a:t>
            </a:r>
          </a:p>
        </p:txBody>
      </p:sp>
      <p:pic>
        <p:nvPicPr>
          <p:cNvPr id="22" name="图片 2">
            <a:extLst>
              <a:ext uri="{FF2B5EF4-FFF2-40B4-BE49-F238E27FC236}">
                <a16:creationId xmlns:a16="http://schemas.microsoft.com/office/drawing/2014/main" id="{AFBD6AB3-677C-4E4E-B932-05816C94EF19}"/>
              </a:ext>
            </a:extLst>
          </p:cNvPr>
          <p:cNvPicPr>
            <a:picLocks noChangeAspect="1"/>
          </p:cNvPicPr>
          <p:nvPr/>
        </p:nvPicPr>
        <p:blipFill>
          <a:blip r:embed="rId3"/>
          <a:stretch>
            <a:fillRect/>
          </a:stretch>
        </p:blipFill>
        <p:spPr>
          <a:xfrm>
            <a:off x="500570" y="2621025"/>
            <a:ext cx="7583068" cy="2594427"/>
          </a:xfrm>
          <a:prstGeom prst="rect">
            <a:avLst/>
          </a:prstGeom>
        </p:spPr>
      </p:pic>
      <p:sp>
        <p:nvSpPr>
          <p:cNvPr id="24" name="TextBox 23">
            <a:extLst>
              <a:ext uri="{FF2B5EF4-FFF2-40B4-BE49-F238E27FC236}">
                <a16:creationId xmlns:a16="http://schemas.microsoft.com/office/drawing/2014/main" id="{BDF7DA7B-24A4-447F-A09B-BB09A8ADC7F5}"/>
              </a:ext>
            </a:extLst>
          </p:cNvPr>
          <p:cNvSpPr txBox="1"/>
          <p:nvPr/>
        </p:nvSpPr>
        <p:spPr>
          <a:xfrm>
            <a:off x="170570" y="2182059"/>
            <a:ext cx="1636485" cy="461665"/>
          </a:xfrm>
          <a:prstGeom prst="rect">
            <a:avLst/>
          </a:prstGeom>
          <a:noFill/>
        </p:spPr>
        <p:txBody>
          <a:bodyPr wrap="square">
            <a:spAutoFit/>
          </a:bodyPr>
          <a:lstStyle/>
          <a:p>
            <a:r>
              <a:rPr kumimoji="0" lang="en-US" altLang="zh-CN" sz="2400" b="1" i="0" u="none" strike="noStrike" kern="1200" cap="none" spc="0" normalizeH="0" baseline="0" noProof="0">
                <a:ln>
                  <a:noFill/>
                </a:ln>
                <a:solidFill>
                  <a:prstClr val="black"/>
                </a:solidFill>
                <a:effectLst/>
                <a:uLnTx/>
                <a:uFillTx/>
                <a:latin typeface="宋体" pitchFamily="2" charset="-122"/>
                <a:ea typeface="宋体" pitchFamily="2" charset="-122"/>
                <a:cs typeface="Arial" panose="020B0604020202020204" pitchFamily="34" charset="0"/>
              </a:rPr>
              <a:t>f </a:t>
            </a:r>
            <a:r>
              <a:rPr kumimoji="0" lang="en-US" altLang="zh-CN" sz="2400" b="1" i="0" u="none" strike="noStrike" kern="1200" cap="none" spc="0" normalizeH="0" baseline="0" noProof="0">
                <a:ln>
                  <a:noFill/>
                </a:ln>
                <a:solidFill>
                  <a:prstClr val="black"/>
                </a:solidFill>
                <a:effectLst/>
                <a:uLnTx/>
                <a:uFillTx/>
                <a:latin typeface="Times New Roman" pitchFamily="18" charset="0"/>
                <a:ea typeface="宋体" pitchFamily="2" charset="-122"/>
                <a:cs typeface="Times New Roman" pitchFamily="18" charset="0"/>
              </a:rPr>
              <a:t>&lt;</a:t>
            </a:r>
            <a:r>
              <a:rPr kumimoji="0" lang="en-US" altLang="zh-CN" sz="2400" b="1" i="0" u="none" strike="noStrike" kern="1200" cap="none" spc="0" normalizeH="0" baseline="0" noProof="0">
                <a:ln>
                  <a:noFill/>
                </a:ln>
                <a:solidFill>
                  <a:prstClr val="black"/>
                </a:solidFill>
                <a:effectLst/>
                <a:uLnTx/>
                <a:uFillTx/>
                <a:latin typeface="宋体" pitchFamily="2" charset="-122"/>
                <a:ea typeface="宋体" pitchFamily="2" charset="-122"/>
                <a:cs typeface="Arial" panose="020B0604020202020204" pitchFamily="34" charset="0"/>
              </a:rPr>
              <a:t>16Hz</a:t>
            </a:r>
            <a:endParaRPr lang="en-001"/>
          </a:p>
        </p:txBody>
      </p:sp>
      <p:sp>
        <p:nvSpPr>
          <p:cNvPr id="27" name="TextBox 26">
            <a:extLst>
              <a:ext uri="{FF2B5EF4-FFF2-40B4-BE49-F238E27FC236}">
                <a16:creationId xmlns:a16="http://schemas.microsoft.com/office/drawing/2014/main" id="{18B92334-87E7-42B4-B6DB-A6377A610C18}"/>
              </a:ext>
            </a:extLst>
          </p:cNvPr>
          <p:cNvSpPr txBox="1"/>
          <p:nvPr/>
        </p:nvSpPr>
        <p:spPr>
          <a:xfrm>
            <a:off x="1807055" y="2068892"/>
            <a:ext cx="2485049" cy="576248"/>
          </a:xfrm>
          <a:prstGeom prst="rect">
            <a:avLst/>
          </a:prstGeom>
          <a:noFill/>
        </p:spPr>
        <p:txBody>
          <a:bodyPr wrap="square">
            <a:spAutoFit/>
          </a:bodyPr>
          <a:lstStyle/>
          <a:p>
            <a:pPr marL="0" marR="0" lvl="0" indent="0" algn="l" defTabSz="914400" rtl="0" eaLnBrk="1" fontAlgn="auto" latinLnBrk="0" hangingPunct="1">
              <a:lnSpc>
                <a:spcPct val="150000"/>
              </a:lnSpc>
              <a:spcBef>
                <a:spcPts val="672"/>
              </a:spcBef>
              <a:spcAft>
                <a:spcPts val="0"/>
              </a:spcAft>
              <a:buClrTx/>
              <a:buSzTx/>
              <a:buFontTx/>
              <a:buNone/>
              <a:tabLst/>
              <a:defRPr/>
            </a:pPr>
            <a:r>
              <a:rPr kumimoji="0" lang="en-US" altLang="zh-CN" sz="2400" b="1" i="0" u="none" strike="noStrike" kern="1200" cap="none" spc="0" normalizeH="0" baseline="0" noProof="0">
                <a:ln>
                  <a:noFill/>
                </a:ln>
                <a:solidFill>
                  <a:prstClr val="black"/>
                </a:solidFill>
                <a:effectLst/>
                <a:uLnTx/>
                <a:uFillTx/>
                <a:latin typeface="宋体" pitchFamily="2" charset="-122"/>
                <a:ea typeface="宋体" pitchFamily="2" charset="-122"/>
                <a:cs typeface="Arial" panose="020B0604020202020204" pitchFamily="34" charset="0"/>
              </a:rPr>
              <a:t>f</a:t>
            </a:r>
            <a:r>
              <a:rPr kumimoji="0" lang="zh-CN" altLang="en-US" sz="2400" b="1" i="0" u="none" strike="noStrike" kern="1200" cap="none" spc="0" normalizeH="0" baseline="0" noProof="0">
                <a:ln>
                  <a:noFill/>
                </a:ln>
                <a:solidFill>
                  <a:prstClr val="black"/>
                </a:solidFill>
                <a:effectLst/>
                <a:uLnTx/>
                <a:uFillTx/>
                <a:latin typeface="宋体" pitchFamily="2" charset="-122"/>
                <a:ea typeface="宋体" pitchFamily="2" charset="-122"/>
                <a:cs typeface="Arial" panose="020B0604020202020204" pitchFamily="34" charset="0"/>
              </a:rPr>
              <a:t>：</a:t>
            </a:r>
            <a:r>
              <a:rPr kumimoji="0" lang="en-US" altLang="zh-CN" sz="2400" b="1" i="0" u="none" strike="noStrike" kern="1200" cap="none" spc="0" normalizeH="0" baseline="0" noProof="0">
                <a:ln>
                  <a:noFill/>
                </a:ln>
                <a:solidFill>
                  <a:prstClr val="black"/>
                </a:solidFill>
                <a:effectLst/>
                <a:uLnTx/>
                <a:uFillTx/>
                <a:latin typeface="宋体" pitchFamily="2" charset="-122"/>
                <a:ea typeface="宋体" pitchFamily="2" charset="-122"/>
                <a:cs typeface="Arial" panose="020B0604020202020204" pitchFamily="34" charset="0"/>
              </a:rPr>
              <a:t>16Hz</a:t>
            </a:r>
            <a:r>
              <a:rPr kumimoji="0" lang="en-US" altLang="zh-CN" sz="2400" b="1" i="0" u="none" strike="noStrike" kern="1200" cap="none" spc="0" normalizeH="0" baseline="0" noProof="0">
                <a:ln>
                  <a:noFill/>
                </a:ln>
                <a:solidFill>
                  <a:prstClr val="black"/>
                </a:solidFill>
                <a:effectLst/>
                <a:uLnTx/>
                <a:uFillTx/>
                <a:latin typeface="Times New Roman" pitchFamily="18" charset="0"/>
                <a:ea typeface="宋体" pitchFamily="2" charset="-122"/>
                <a:cs typeface="Times New Roman" pitchFamily="18" charset="0"/>
              </a:rPr>
              <a:t>~</a:t>
            </a:r>
            <a:r>
              <a:rPr kumimoji="0" lang="en-US" altLang="zh-CN" sz="2400" b="1" i="0" u="none" strike="noStrike" kern="1200" cap="none" spc="0" normalizeH="0" baseline="0" noProof="0">
                <a:ln>
                  <a:noFill/>
                </a:ln>
                <a:solidFill>
                  <a:prstClr val="black"/>
                </a:solidFill>
                <a:effectLst/>
                <a:uLnTx/>
                <a:uFillTx/>
                <a:latin typeface="宋体" pitchFamily="2" charset="-122"/>
                <a:ea typeface="宋体" pitchFamily="2" charset="-122"/>
                <a:cs typeface="Arial" panose="020B0604020202020204" pitchFamily="34" charset="0"/>
              </a:rPr>
              <a:t>20kHz</a:t>
            </a:r>
            <a:endParaRPr kumimoji="0" lang="en-US" altLang="zh-CN" sz="2400" b="1" i="0" u="none" strike="noStrike" kern="1200" cap="none" spc="0" normalizeH="0" baseline="0" noProof="0" dirty="0">
              <a:ln>
                <a:noFill/>
              </a:ln>
              <a:solidFill>
                <a:prstClr val="black"/>
              </a:solidFill>
              <a:effectLst/>
              <a:uLnTx/>
              <a:uFillTx/>
              <a:latin typeface="宋体" pitchFamily="2" charset="-122"/>
              <a:ea typeface="宋体" pitchFamily="2" charset="-122"/>
              <a:cs typeface="Arial" panose="020B0604020202020204" pitchFamily="34" charset="0"/>
            </a:endParaRPr>
          </a:p>
        </p:txBody>
      </p:sp>
      <p:sp>
        <p:nvSpPr>
          <p:cNvPr id="29" name="TextBox 28">
            <a:extLst>
              <a:ext uri="{FF2B5EF4-FFF2-40B4-BE49-F238E27FC236}">
                <a16:creationId xmlns:a16="http://schemas.microsoft.com/office/drawing/2014/main" id="{DD46A471-B2AC-4A1A-9891-9F67EA9EB856}"/>
              </a:ext>
            </a:extLst>
          </p:cNvPr>
          <p:cNvSpPr txBox="1"/>
          <p:nvPr/>
        </p:nvSpPr>
        <p:spPr>
          <a:xfrm>
            <a:off x="5119008" y="2182059"/>
            <a:ext cx="1506763" cy="461665"/>
          </a:xfrm>
          <a:prstGeom prst="rect">
            <a:avLst/>
          </a:prstGeom>
          <a:noFill/>
        </p:spPr>
        <p:txBody>
          <a:bodyPr wrap="square">
            <a:spAutoFit/>
          </a:bodyPr>
          <a:lstStyle/>
          <a:p>
            <a:r>
              <a:rPr kumimoji="0" lang="en-US" altLang="zh-CN" sz="2400" i="0" u="none" strike="noStrike" kern="1200" cap="none" spc="0" normalizeH="0" baseline="0" noProof="0">
                <a:ln>
                  <a:noFill/>
                </a:ln>
                <a:solidFill>
                  <a:prstClr val="black"/>
                </a:solidFill>
                <a:effectLst/>
                <a:uLnTx/>
                <a:uFillTx/>
                <a:latin typeface="Times New Roman" pitchFamily="18" charset="0"/>
                <a:ea typeface="宋体" pitchFamily="2" charset="-122"/>
                <a:cs typeface="Times New Roman" pitchFamily="18" charset="0"/>
              </a:rPr>
              <a:t>f </a:t>
            </a:r>
            <a:r>
              <a:rPr kumimoji="0" lang="en-US" altLang="zh-CN" sz="2400" b="1" i="0" u="none" strike="noStrike" kern="1200" cap="none" spc="0" normalizeH="0" baseline="0" noProof="0">
                <a:ln>
                  <a:noFill/>
                </a:ln>
                <a:solidFill>
                  <a:prstClr val="black"/>
                </a:solidFill>
                <a:effectLst/>
                <a:uLnTx/>
                <a:uFillTx/>
                <a:latin typeface="Times New Roman" pitchFamily="18" charset="0"/>
                <a:ea typeface="宋体" pitchFamily="2" charset="-122"/>
                <a:cs typeface="Times New Roman" pitchFamily="18" charset="0"/>
              </a:rPr>
              <a:t>&gt;</a:t>
            </a:r>
            <a:r>
              <a:rPr kumimoji="0" lang="en-US" altLang="zh-CN" sz="2400" b="1" i="0" u="none" strike="noStrike" kern="1200" cap="none" spc="0" normalizeH="0" baseline="0" noProof="0">
                <a:ln>
                  <a:noFill/>
                </a:ln>
                <a:solidFill>
                  <a:prstClr val="black"/>
                </a:solidFill>
                <a:effectLst/>
                <a:uLnTx/>
                <a:uFillTx/>
                <a:latin typeface="宋体" pitchFamily="2" charset="-122"/>
                <a:ea typeface="宋体" pitchFamily="2" charset="-122"/>
                <a:cs typeface="Arial" panose="020B0604020202020204" pitchFamily="34" charset="0"/>
              </a:rPr>
              <a:t>20kHz</a:t>
            </a:r>
            <a:endParaRPr lang="en-001"/>
          </a:p>
        </p:txBody>
      </p:sp>
      <p:sp>
        <p:nvSpPr>
          <p:cNvPr id="2" name="矩形 1"/>
          <p:cNvSpPr/>
          <p:nvPr/>
        </p:nvSpPr>
        <p:spPr>
          <a:xfrm>
            <a:off x="7380105" y="2108480"/>
            <a:ext cx="1676811" cy="2401296"/>
          </a:xfrm>
          <a:prstGeom prst="rect">
            <a:avLst/>
          </a:prstGeom>
        </p:spPr>
        <p:txBody>
          <a:bodyPr wrap="square" lIns="91438" tIns="45719" rIns="91438" bIns="45719">
            <a:spAutoFit/>
          </a:bodyPr>
          <a:lstStyle/>
          <a:p>
            <a:pPr>
              <a:lnSpc>
                <a:spcPct val="150000"/>
              </a:lnSpc>
              <a:spcBef>
                <a:spcPts val="672"/>
              </a:spcBef>
            </a:pPr>
            <a:r>
              <a:rPr lang="en-US" altLang="zh-CN" sz="2400" b="1">
                <a:latin typeface="宋体" pitchFamily="2" charset="-122"/>
                <a:ea typeface="宋体" pitchFamily="2" charset="-122"/>
                <a:cs typeface="Arial" panose="020B0604020202020204" pitchFamily="34" charset="0"/>
              </a:rPr>
              <a:t>f</a:t>
            </a:r>
            <a:r>
              <a:rPr lang="en-US" altLang="zh-CN" sz="2400" b="1">
                <a:latin typeface="Times New Roman" pitchFamily="18" charset="0"/>
                <a:ea typeface="宋体" pitchFamily="2" charset="-122"/>
                <a:cs typeface="Times New Roman" pitchFamily="18" charset="0"/>
              </a:rPr>
              <a:t>&gt;</a:t>
            </a:r>
            <a:r>
              <a:rPr lang="en-US" altLang="zh-CN" sz="2400" b="1">
                <a:latin typeface="宋体" pitchFamily="2" charset="-122"/>
                <a:ea typeface="宋体" pitchFamily="2" charset="-122"/>
                <a:cs typeface="Arial" panose="020B0604020202020204" pitchFamily="34" charset="0"/>
              </a:rPr>
              <a:t>300MHz</a:t>
            </a:r>
          </a:p>
          <a:p>
            <a:pPr>
              <a:lnSpc>
                <a:spcPct val="150000"/>
              </a:lnSpc>
              <a:spcBef>
                <a:spcPts val="672"/>
              </a:spcBef>
            </a:pPr>
            <a:endParaRPr lang="en-US" altLang="zh-CN" sz="2400" b="1">
              <a:latin typeface="宋体" pitchFamily="2" charset="-122"/>
              <a:ea typeface="宋体" pitchFamily="2" charset="-122"/>
              <a:cs typeface="Arial" panose="020B0604020202020204" pitchFamily="34" charset="0"/>
            </a:endParaRPr>
          </a:p>
          <a:p>
            <a:pPr>
              <a:lnSpc>
                <a:spcPct val="150000"/>
              </a:lnSpc>
              <a:spcBef>
                <a:spcPts val="672"/>
              </a:spcBef>
            </a:pPr>
            <a:r>
              <a:rPr lang="zh-CN" altLang="en-US" sz="2400" b="1">
                <a:latin typeface="宋体" pitchFamily="2" charset="-122"/>
                <a:ea typeface="宋体" pitchFamily="2" charset="-122"/>
                <a:cs typeface="Arial" panose="020B0604020202020204" pitchFamily="34" charset="0"/>
              </a:rPr>
              <a:t>具</a:t>
            </a:r>
            <a:r>
              <a:rPr lang="zh-CN" altLang="en-US" sz="2400" b="1" dirty="0">
                <a:latin typeface="宋体" pitchFamily="2" charset="-122"/>
                <a:ea typeface="宋体" pitchFamily="2" charset="-122"/>
                <a:cs typeface="Arial" panose="020B0604020202020204" pitchFamily="34" charset="0"/>
              </a:rPr>
              <a:t>有微米级</a:t>
            </a:r>
            <a:r>
              <a:rPr lang="zh-CN" altLang="en-US" sz="2400" b="1">
                <a:latin typeface="宋体" pitchFamily="2" charset="-122"/>
                <a:ea typeface="宋体" pitchFamily="2" charset="-122"/>
                <a:cs typeface="Arial" panose="020B0604020202020204" pitchFamily="34" charset="0"/>
              </a:rPr>
              <a:t>波长</a:t>
            </a:r>
            <a:endParaRPr lang="en-US" altLang="zh-CN" sz="1400" dirty="0">
              <a:latin typeface="宋体" pitchFamily="2" charset="-122"/>
              <a:ea typeface="宋体" pitchFamily="2" charset="-122"/>
            </a:endParaRPr>
          </a:p>
        </p:txBody>
      </p:sp>
    </p:spTree>
    <p:extLst>
      <p:ext uri="{BB962C8B-B14F-4D97-AF65-F5344CB8AC3E}">
        <p14:creationId xmlns:p14="http://schemas.microsoft.com/office/powerpoint/2010/main" val="1240746216"/>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353820" y="1954761"/>
            <a:ext cx="6436360" cy="4101762"/>
          </a:xfrm>
          <a:prstGeom prst="rect">
            <a:avLst/>
          </a:prstGeom>
        </p:spPr>
        <p:txBody>
          <a:bodyPr wrap="square" lIns="91438" tIns="45719" rIns="91438" bIns="45719">
            <a:spAutoFit/>
          </a:bodyPr>
          <a:lstStyle/>
          <a:p>
            <a:pPr marL="342900" indent="-342900">
              <a:lnSpc>
                <a:spcPts val="3500"/>
              </a:lnSpc>
              <a:spcBef>
                <a:spcPts val="1800"/>
              </a:spcBef>
              <a:buFont typeface="Arial" panose="020B0604020202020204" pitchFamily="34" charset="0"/>
              <a:buChar char="•"/>
            </a:pPr>
            <a:r>
              <a:rPr lang="zh-CN" altLang="en-US" sz="2400" b="1" dirty="0">
                <a:solidFill>
                  <a:srgbClr val="FF0000"/>
                </a:solidFill>
                <a:latin typeface="宋体" panose="02010600030101010101" pitchFamily="2" charset="-122"/>
                <a:ea typeface="宋体" panose="02010600030101010101" pitchFamily="2" charset="-122"/>
              </a:rPr>
              <a:t>纵波</a:t>
            </a:r>
            <a:r>
              <a:rPr lang="zh-CN" altLang="en-US" sz="2400" b="1" dirty="0">
                <a:latin typeface="宋体" panose="02010600030101010101" pitchFamily="2" charset="-122"/>
                <a:ea typeface="宋体" panose="02010600030101010101" pitchFamily="2" charset="-122"/>
              </a:rPr>
              <a:t>：质点的振动方向与波的传播方向一致，能在固体、液体和气体中传播。</a:t>
            </a:r>
            <a:endParaRPr lang="en-US" altLang="zh-CN" sz="2400" b="1" dirty="0">
              <a:latin typeface="宋体" panose="02010600030101010101" pitchFamily="2" charset="-122"/>
              <a:ea typeface="宋体" panose="02010600030101010101" pitchFamily="2" charset="-122"/>
            </a:endParaRPr>
          </a:p>
          <a:p>
            <a:pPr marL="342900" indent="-342900">
              <a:lnSpc>
                <a:spcPts val="3500"/>
              </a:lnSpc>
              <a:spcBef>
                <a:spcPts val="1800"/>
              </a:spcBef>
              <a:buFont typeface="Arial" panose="020B0604020202020204" pitchFamily="34" charset="0"/>
              <a:buChar char="•"/>
            </a:pPr>
            <a:r>
              <a:rPr lang="zh-CN" altLang="en-US" sz="2400" b="1" dirty="0">
                <a:solidFill>
                  <a:srgbClr val="0070C0"/>
                </a:solidFill>
                <a:latin typeface="宋体" panose="02010600030101010101" pitchFamily="2" charset="-122"/>
                <a:ea typeface="宋体" panose="02010600030101010101" pitchFamily="2" charset="-122"/>
              </a:rPr>
              <a:t>横波</a:t>
            </a:r>
            <a:r>
              <a:rPr lang="zh-CN" altLang="en-US" sz="2400" b="1" dirty="0">
                <a:latin typeface="宋体" panose="02010600030101010101" pitchFamily="2" charset="-122"/>
                <a:ea typeface="宋体" panose="02010600030101010101" pitchFamily="2" charset="-122"/>
              </a:rPr>
              <a:t>：质点的振动方向垂直于传播方向，只能在固体中传播。</a:t>
            </a:r>
            <a:endParaRPr lang="en-US" altLang="zh-CN" sz="2400" b="1" dirty="0">
              <a:latin typeface="宋体" panose="02010600030101010101" pitchFamily="2" charset="-122"/>
              <a:ea typeface="宋体" panose="02010600030101010101" pitchFamily="2" charset="-122"/>
            </a:endParaRPr>
          </a:p>
          <a:p>
            <a:pPr marL="342900" indent="-342900">
              <a:lnSpc>
                <a:spcPts val="3500"/>
              </a:lnSpc>
              <a:spcBef>
                <a:spcPts val="1800"/>
              </a:spcBef>
              <a:buFont typeface="Arial" panose="020B0604020202020204" pitchFamily="34" charset="0"/>
              <a:buChar char="•"/>
            </a:pPr>
            <a:r>
              <a:rPr lang="zh-CN" altLang="en-US" sz="2400" b="1" dirty="0">
                <a:solidFill>
                  <a:srgbClr val="00B050"/>
                </a:solidFill>
                <a:latin typeface="宋体" panose="02010600030101010101" pitchFamily="2" charset="-122"/>
                <a:ea typeface="宋体" panose="02010600030101010101" pitchFamily="2" charset="-122"/>
              </a:rPr>
              <a:t>表面波</a:t>
            </a:r>
            <a:r>
              <a:rPr lang="zh-CN" altLang="en-US" sz="2400" b="1" dirty="0">
                <a:latin typeface="宋体" panose="02010600030101010101" pitchFamily="2" charset="-122"/>
                <a:ea typeface="宋体" panose="02010600030101010101" pitchFamily="2" charset="-122"/>
              </a:rPr>
              <a:t>：质点振动介于纵波和横波之间，沿着表面传播，振幅随深度增加而迅速衰减；表面波质点的振动轨迹是椭圆形（其长轴垂直于传播方向，短轴平行于传播方向）。</a:t>
            </a:r>
            <a:endParaRPr lang="en-US" altLang="zh-CN" sz="1400" dirty="0">
              <a:latin typeface="微软雅黑" panose="020B0503020204020204" pitchFamily="34" charset="-122"/>
              <a:ea typeface="微软雅黑" panose="020B0503020204020204" pitchFamily="34" charset="-122"/>
            </a:endParaRPr>
          </a:p>
        </p:txBody>
      </p:sp>
      <p:sp>
        <p:nvSpPr>
          <p:cNvPr id="3" name="矩形 2"/>
          <p:cNvSpPr/>
          <p:nvPr/>
        </p:nvSpPr>
        <p:spPr>
          <a:xfrm>
            <a:off x="986256" y="1227884"/>
            <a:ext cx="1577676" cy="461665"/>
          </a:xfrm>
          <a:prstGeom prst="rect">
            <a:avLst/>
          </a:prstGeom>
        </p:spPr>
        <p:txBody>
          <a:bodyPr wrap="none">
            <a:spAutoFit/>
          </a:bodyPr>
          <a:lstStyle/>
          <a:p>
            <a:pPr>
              <a:spcBef>
                <a:spcPts val="672"/>
              </a:spcBef>
            </a:pPr>
            <a:r>
              <a:rPr lang="zh-CN" altLang="en-US" sz="2400" b="1" dirty="0">
                <a:latin typeface="宋体" panose="02010600030101010101" pitchFamily="2" charset="-122"/>
                <a:ea typeface="宋体" panose="02010600030101010101" pitchFamily="2" charset="-122"/>
              </a:rPr>
              <a:t>声波类型</a:t>
            </a:r>
            <a:r>
              <a:rPr lang="en-US" altLang="zh-CN" sz="2400" b="1" dirty="0">
                <a:latin typeface="宋体" panose="02010600030101010101" pitchFamily="2" charset="-122"/>
                <a:ea typeface="宋体" panose="02010600030101010101" pitchFamily="2" charset="-122"/>
              </a:rPr>
              <a:t> </a:t>
            </a:r>
          </a:p>
        </p:txBody>
      </p:sp>
      <p:sp>
        <p:nvSpPr>
          <p:cNvPr id="30" name="矩形 29">
            <a:extLst>
              <a:ext uri="{FF2B5EF4-FFF2-40B4-BE49-F238E27FC236}">
                <a16:creationId xmlns:a16="http://schemas.microsoft.com/office/drawing/2014/main" id="{64509930-9DFB-420E-8F32-960E50399825}"/>
              </a:ext>
            </a:extLst>
          </p:cNvPr>
          <p:cNvSpPr/>
          <p:nvPr/>
        </p:nvSpPr>
        <p:spPr>
          <a:xfrm>
            <a:off x="1571711" y="258777"/>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1" name="圆角矩形 43">
            <a:extLst>
              <a:ext uri="{FF2B5EF4-FFF2-40B4-BE49-F238E27FC236}">
                <a16:creationId xmlns:a16="http://schemas.microsoft.com/office/drawing/2014/main" id="{7D086454-5B10-4064-9B8F-531209592F7E}"/>
              </a:ext>
            </a:extLst>
          </p:cNvPr>
          <p:cNvSpPr/>
          <p:nvPr/>
        </p:nvSpPr>
        <p:spPr>
          <a:xfrm rot="10800000" flipV="1">
            <a:off x="185084" y="242948"/>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20204" pitchFamily="34" charset="0"/>
                <a:ea typeface="宋体" panose="02010600030101010101" pitchFamily="2" charset="-122"/>
                <a:cs typeface="Arial" panose="020B0604020202020204" pitchFamily="34" charset="0"/>
              </a:rPr>
              <a:t>9.1.1</a:t>
            </a:r>
            <a:endParaRPr lang="zh-CN" altLang="en-US" sz="3200" b="1" dirty="0">
              <a:latin typeface="Arial" panose="020B0604020202020204" pitchFamily="34" charset="0"/>
              <a:ea typeface="宋体" panose="02010600030101010101" pitchFamily="2" charset="-122"/>
              <a:cs typeface="Arial" panose="020B0604020202020204" pitchFamily="34" charset="0"/>
            </a:endParaRPr>
          </a:p>
        </p:txBody>
      </p:sp>
      <p:sp>
        <p:nvSpPr>
          <p:cNvPr id="42" name="矩形 41">
            <a:extLst>
              <a:ext uri="{FF2B5EF4-FFF2-40B4-BE49-F238E27FC236}">
                <a16:creationId xmlns:a16="http://schemas.microsoft.com/office/drawing/2014/main" id="{2A2F604C-DA27-459E-8419-ED777356D653}"/>
              </a:ext>
            </a:extLst>
          </p:cNvPr>
          <p:cNvSpPr/>
          <p:nvPr/>
        </p:nvSpPr>
        <p:spPr>
          <a:xfrm>
            <a:off x="1963580" y="253949"/>
            <a:ext cx="1059897" cy="615549"/>
          </a:xfrm>
          <a:prstGeom prst="rect">
            <a:avLst/>
          </a:prstGeom>
        </p:spPr>
        <p:txBody>
          <a:bodyPr wrap="none" lIns="91436" tIns="45718" rIns="91436" bIns="45718">
            <a:spAutoFit/>
          </a:bodyPr>
          <a:lstStyle/>
          <a:p>
            <a:pPr algn="ctr"/>
            <a:r>
              <a:rPr lang="zh-CN" altLang="en-US" sz="3400" b="1" dirty="0">
                <a:solidFill>
                  <a:schemeClr val="bg1"/>
                </a:solidFill>
                <a:latin typeface="宋体" panose="02010600030101010101" pitchFamily="2" charset="-122"/>
                <a:ea typeface="宋体" panose="02010600030101010101" pitchFamily="2" charset="-122"/>
              </a:rPr>
              <a:t>声波</a:t>
            </a:r>
            <a:endParaRPr lang="en-US" altLang="zh-CN" sz="3400" b="1" dirty="0">
              <a:solidFill>
                <a:schemeClr val="bg1"/>
              </a:solidFill>
              <a:latin typeface="宋体" panose="02010600030101010101" pitchFamily="2" charset="-122"/>
              <a:ea typeface="宋体" panose="02010600030101010101" pitchFamily="2" charset="-122"/>
            </a:endParaRPr>
          </a:p>
        </p:txBody>
      </p:sp>
      <p:sp>
        <p:nvSpPr>
          <p:cNvPr id="4" name="Slide Number Placeholder 3">
            <a:extLst>
              <a:ext uri="{FF2B5EF4-FFF2-40B4-BE49-F238E27FC236}">
                <a16:creationId xmlns:a16="http://schemas.microsoft.com/office/drawing/2014/main" id="{0B3394D7-4EA8-4C42-9F8E-D919E1E9FEBF}"/>
              </a:ext>
            </a:extLst>
          </p:cNvPr>
          <p:cNvSpPr>
            <a:spLocks noGrp="1"/>
          </p:cNvSpPr>
          <p:nvPr>
            <p:ph type="sldNum" sz="quarter" idx="12"/>
          </p:nvPr>
        </p:nvSpPr>
        <p:spPr/>
        <p:txBody>
          <a:bodyPr/>
          <a:lstStyle/>
          <a:p>
            <a:fld id="{B53602B4-F12B-41CD-B648-531F86B2CC91}" type="slidenum">
              <a:rPr lang="zh-CN" altLang="en-US" smtClean="0"/>
              <a:t>7</a:t>
            </a:fld>
            <a:endParaRPr lang="zh-CN" altLang="en-US"/>
          </a:p>
        </p:txBody>
      </p:sp>
    </p:spTree>
    <p:extLst>
      <p:ext uri="{BB962C8B-B14F-4D97-AF65-F5344CB8AC3E}">
        <p14:creationId xmlns:p14="http://schemas.microsoft.com/office/powerpoint/2010/main" val="1750859551"/>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49142242-5E57-4D15-A0DD-17CB598A023D}"/>
              </a:ext>
            </a:extLst>
          </p:cNvPr>
          <p:cNvSpPr txBox="1"/>
          <p:nvPr/>
        </p:nvSpPr>
        <p:spPr>
          <a:xfrm>
            <a:off x="1398642" y="1379150"/>
            <a:ext cx="6889015" cy="3800203"/>
          </a:xfrm>
          <a:prstGeom prst="rect">
            <a:avLst/>
          </a:prstGeom>
          <a:noFill/>
        </p:spPr>
        <p:txBody>
          <a:bodyPr wrap="square" lIns="91436" tIns="45718" rIns="91436" bIns="45718" rtlCol="0">
            <a:spAutoFit/>
          </a:bodyPr>
          <a:lstStyle/>
          <a:p>
            <a:pPr>
              <a:lnSpc>
                <a:spcPct val="150000"/>
              </a:lnSpc>
              <a:spcBef>
                <a:spcPts val="672"/>
              </a:spcBef>
            </a:pP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a:latin typeface="Times New Roman" panose="02020603050405020304" pitchFamily="18" charset="0"/>
                <a:ea typeface="宋体" panose="02010600030101010101" pitchFamily="2" charset="-122"/>
                <a:cs typeface="Times New Roman" panose="02020603050405020304" pitchFamily="18" charset="0"/>
              </a:rPr>
              <a:t>1. </a:t>
            </a:r>
            <a:r>
              <a:rPr lang="zh-CN" altLang="en-US" sz="2400" b="1">
                <a:latin typeface="Times New Roman" panose="02020603050405020304" pitchFamily="18" charset="0"/>
                <a:ea typeface="宋体" panose="02010600030101010101" pitchFamily="2" charset="-122"/>
                <a:cs typeface="Times New Roman" panose="02020603050405020304" pitchFamily="18" charset="0"/>
              </a:rPr>
              <a:t>声</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压和声阻抗率</a:t>
            </a:r>
          </a:p>
          <a:p>
            <a:pPr>
              <a:lnSpc>
                <a:spcPct val="150000"/>
              </a:lnSpc>
              <a:spcBef>
                <a:spcPts val="672"/>
              </a:spcBef>
            </a:pPr>
            <a:r>
              <a:rPr lang="zh-CN" altLang="en-US" sz="24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声压</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：指体积元受声波扰动后压强由</a:t>
            </a:r>
            <a:r>
              <a:rPr lang="en-US" altLang="zh-CN" sz="2400" b="1" i="1" dirty="0">
                <a:latin typeface="Times New Roman" panose="02020603050405020304" pitchFamily="18" charset="0"/>
                <a:ea typeface="宋体" panose="02010600030101010101" pitchFamily="2" charset="-122"/>
                <a:cs typeface="Times New Roman" panose="02020603050405020304" pitchFamily="18" charset="0"/>
              </a:rPr>
              <a:t>p</a:t>
            </a:r>
            <a:r>
              <a:rPr lang="en-US" altLang="zh-CN" sz="2400" b="1" baseline="-25000" dirty="0">
                <a:latin typeface="Times New Roman" panose="02020603050405020304" pitchFamily="18" charset="0"/>
                <a:ea typeface="宋体" panose="02010600030101010101" pitchFamily="2" charset="-122"/>
                <a:cs typeface="Times New Roman" panose="02020603050405020304" pitchFamily="18" charset="0"/>
              </a:rPr>
              <a:t>0</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到</a:t>
            </a:r>
            <a:r>
              <a:rPr lang="en-US" altLang="zh-CN" sz="2400" b="1" i="1" dirty="0">
                <a:latin typeface="Times New Roman" panose="02020603050405020304" pitchFamily="18" charset="0"/>
                <a:ea typeface="宋体" panose="02010600030101010101" pitchFamily="2" charset="-122"/>
                <a:cs typeface="Times New Roman" panose="02020603050405020304" pitchFamily="18" charset="0"/>
              </a:rPr>
              <a:t>p</a:t>
            </a:r>
            <a:r>
              <a:rPr lang="en-US" altLang="zh-CN" sz="2400" b="1" baseline="-25000" dirty="0">
                <a:latin typeface="Times New Roman" panose="02020603050405020304" pitchFamily="18" charset="0"/>
                <a:ea typeface="宋体" panose="02010600030101010101" pitchFamily="2" charset="-122"/>
                <a:cs typeface="Times New Roman" panose="02020603050405020304" pitchFamily="18" charset="0"/>
              </a:rPr>
              <a:t>1</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的变化，即声扰动产生的逾量压强，简称逾</a:t>
            </a:r>
            <a:r>
              <a:rPr lang="zh-CN" altLang="en-US" sz="2400" b="1">
                <a:latin typeface="Times New Roman" panose="02020603050405020304" pitchFamily="18" charset="0"/>
                <a:ea typeface="宋体" panose="02010600030101010101" pitchFamily="2" charset="-122"/>
                <a:cs typeface="Times New Roman" panose="02020603050405020304" pitchFamily="18" charset="0"/>
              </a:rPr>
              <a:t>压，</a:t>
            </a:r>
            <a:endParaRPr lang="en-US" altLang="zh-CN" sz="2400" b="1">
              <a:latin typeface="Times New Roman" panose="02020603050405020304" pitchFamily="18" charset="0"/>
              <a:ea typeface="宋体" panose="02010600030101010101" pitchFamily="2" charset="-122"/>
              <a:cs typeface="Times New Roman" panose="02020603050405020304" pitchFamily="18" charset="0"/>
            </a:endParaRPr>
          </a:p>
          <a:p>
            <a:pPr algn="ctr">
              <a:lnSpc>
                <a:spcPct val="150000"/>
              </a:lnSpc>
            </a:pPr>
            <a:r>
              <a:rPr lang="en-US" altLang="zh-CN" sz="3200" b="1" i="1">
                <a:latin typeface="Times New Roman" panose="02020603050405020304" pitchFamily="18" charset="0"/>
                <a:ea typeface="宋体" panose="02010600030101010101" pitchFamily="2" charset="-122"/>
                <a:cs typeface="Times New Roman" panose="02020603050405020304" pitchFamily="18" charset="0"/>
              </a:rPr>
              <a:t>p</a:t>
            </a:r>
            <a:r>
              <a:rPr lang="en-US" altLang="zh-CN" sz="32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3200" b="1" i="1" dirty="0">
                <a:latin typeface="Times New Roman" panose="02020603050405020304" pitchFamily="18" charset="0"/>
                <a:ea typeface="宋体" panose="02010600030101010101" pitchFamily="2" charset="-122"/>
                <a:cs typeface="Times New Roman" panose="02020603050405020304" pitchFamily="18" charset="0"/>
              </a:rPr>
              <a:t>p</a:t>
            </a:r>
            <a:r>
              <a:rPr lang="en-US" altLang="zh-CN" sz="3200" b="1" baseline="-25000" dirty="0">
                <a:latin typeface="Times New Roman" panose="02020603050405020304" pitchFamily="18" charset="0"/>
                <a:ea typeface="宋体" panose="02010600030101010101" pitchFamily="2" charset="-122"/>
                <a:cs typeface="Times New Roman" panose="02020603050405020304" pitchFamily="18" charset="0"/>
              </a:rPr>
              <a:t>0</a:t>
            </a:r>
            <a:r>
              <a:rPr lang="en-US" altLang="zh-CN" sz="32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3200" b="1" i="1" dirty="0">
                <a:latin typeface="Times New Roman" panose="02020603050405020304" pitchFamily="18" charset="0"/>
                <a:ea typeface="宋体" panose="02010600030101010101" pitchFamily="2" charset="-122"/>
                <a:cs typeface="Times New Roman" panose="02020603050405020304" pitchFamily="18" charset="0"/>
              </a:rPr>
              <a:t>p</a:t>
            </a:r>
            <a:r>
              <a:rPr lang="en-US" altLang="zh-CN" sz="3200" b="1" baseline="-25000" dirty="0">
                <a:latin typeface="Times New Roman" panose="02020603050405020304" pitchFamily="18" charset="0"/>
                <a:ea typeface="宋体" panose="02010600030101010101" pitchFamily="2" charset="-122"/>
                <a:cs typeface="Times New Roman" panose="02020603050405020304" pitchFamily="18" charset="0"/>
              </a:rPr>
              <a:t>1</a:t>
            </a:r>
            <a:r>
              <a:rPr lang="zh-CN" altLang="en-US" sz="3200" b="1"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单位</a:t>
            </a:r>
            <a:r>
              <a:rPr lang="zh-CN" altLang="en-US" sz="2400" b="1">
                <a:latin typeface="Times New Roman" panose="02020603050405020304" pitchFamily="18" charset="0"/>
                <a:ea typeface="宋体" panose="02010600030101010101" pitchFamily="2" charset="-122"/>
                <a:cs typeface="Times New Roman" panose="02020603050405020304" pitchFamily="18" charset="0"/>
              </a:rPr>
              <a:t>为</a:t>
            </a:r>
            <a:r>
              <a:rPr lang="en-US" altLang="zh-CN" sz="2400" b="1">
                <a:latin typeface="Times New Roman" panose="02020603050405020304" pitchFamily="18" charset="0"/>
                <a:ea typeface="宋体" panose="02010600030101010101" pitchFamily="2" charset="-122"/>
                <a:cs typeface="Times New Roman" panose="02020603050405020304" pitchFamily="18" charset="0"/>
              </a:rPr>
              <a:t>Pa</a:t>
            </a:r>
            <a:endParaRPr lang="en-US" altLang="zh-CN" sz="2400" b="1" dirty="0">
              <a:latin typeface="Times New Roman" panose="02020603050405020304" pitchFamily="18" charset="0"/>
              <a:ea typeface="宋体" panose="02010600030101010101" pitchFamily="2" charset="-122"/>
              <a:cs typeface="Times New Roman" panose="02020603050405020304" pitchFamily="18" charset="0"/>
            </a:endParaRPr>
          </a:p>
          <a:p>
            <a:pPr>
              <a:lnSpc>
                <a:spcPct val="150000"/>
              </a:lnSpc>
              <a:spcBef>
                <a:spcPts val="672"/>
              </a:spcBef>
            </a:pPr>
            <a:r>
              <a:rPr lang="zh-CN" altLang="en-US" sz="2400" b="1" dirty="0">
                <a:solidFill>
                  <a:srgbClr val="0070C0"/>
                </a:solidFill>
                <a:latin typeface="Times New Roman" panose="02020603050405020304" pitchFamily="18" charset="0"/>
                <a:ea typeface="宋体" panose="02010600030101010101" pitchFamily="2" charset="-122"/>
                <a:cs typeface="Times New Roman" panose="02020603050405020304" pitchFamily="18" charset="0"/>
              </a:rPr>
              <a:t>声阻抗率</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：指声场中某位置的声压</a:t>
            </a:r>
            <a:r>
              <a:rPr lang="en-US" altLang="zh-CN" sz="2400" b="1" i="1" dirty="0">
                <a:latin typeface="Times New Roman" panose="02020603050405020304" pitchFamily="18" charset="0"/>
                <a:ea typeface="宋体" panose="02010600030101010101" pitchFamily="2" charset="-122"/>
                <a:cs typeface="Times New Roman" panose="02020603050405020304" pitchFamily="18" charset="0"/>
              </a:rPr>
              <a:t>p</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与该位置质点振动速度</a:t>
            </a:r>
            <a:r>
              <a:rPr lang="en-US" altLang="zh-CN" sz="2400" b="1" i="1" dirty="0">
                <a:latin typeface="Times New Roman" panose="02020603050405020304" pitchFamily="18" charset="0"/>
                <a:ea typeface="宋体" panose="02010600030101010101" pitchFamily="2" charset="-122"/>
                <a:cs typeface="Times New Roman" panose="02020603050405020304" pitchFamily="18" charset="0"/>
              </a:rPr>
              <a:t>v</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的比值，即</a:t>
            </a:r>
            <a:endParaRPr lang="en-US" altLang="zh-CN" sz="2400" b="1" dirty="0">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8" name="对象 7">
            <a:extLst>
              <a:ext uri="{FF2B5EF4-FFF2-40B4-BE49-F238E27FC236}">
                <a16:creationId xmlns:a16="http://schemas.microsoft.com/office/drawing/2014/main" id="{EE92FB0B-F14A-4D60-96E9-EA3E52A37F44}"/>
              </a:ext>
            </a:extLst>
          </p:cNvPr>
          <p:cNvGraphicFramePr>
            <a:graphicFrameLocks noChangeAspect="1"/>
          </p:cNvGraphicFramePr>
          <p:nvPr>
            <p:extLst>
              <p:ext uri="{D42A27DB-BD31-4B8C-83A1-F6EECF244321}">
                <p14:modId xmlns:p14="http://schemas.microsoft.com/office/powerpoint/2010/main" val="4070016782"/>
              </p:ext>
            </p:extLst>
          </p:nvPr>
        </p:nvGraphicFramePr>
        <p:xfrm>
          <a:off x="3933825" y="4763103"/>
          <a:ext cx="1033960" cy="1230905"/>
        </p:xfrm>
        <a:graphic>
          <a:graphicData uri="http://schemas.openxmlformats.org/presentationml/2006/ole">
            <mc:AlternateContent xmlns:mc="http://schemas.openxmlformats.org/markup-compatibility/2006">
              <mc:Choice xmlns:v="urn:schemas-microsoft-com:vml" Requires="v">
                <p:oleObj spid="_x0000_s1135" name="Equation" r:id="rId4" imgW="355320" imgH="317160" progId="Equation.DSMT4">
                  <p:embed/>
                </p:oleObj>
              </mc:Choice>
              <mc:Fallback>
                <p:oleObj name="Equation" r:id="rId4" imgW="355320" imgH="317160" progId="Equation.DSMT4">
                  <p:embed/>
                  <p:pic>
                    <p:nvPicPr>
                      <p:cNvPr id="0" name=""/>
                      <p:cNvPicPr/>
                      <p:nvPr/>
                    </p:nvPicPr>
                    <p:blipFill>
                      <a:blip r:embed="rId5"/>
                      <a:stretch>
                        <a:fillRect/>
                      </a:stretch>
                    </p:blipFill>
                    <p:spPr>
                      <a:xfrm>
                        <a:off x="3933825" y="4763103"/>
                        <a:ext cx="1033960" cy="1230905"/>
                      </a:xfrm>
                      <a:prstGeom prst="rect">
                        <a:avLst/>
                      </a:prstGeom>
                    </p:spPr>
                  </p:pic>
                </p:oleObj>
              </mc:Fallback>
            </mc:AlternateContent>
          </a:graphicData>
        </a:graphic>
      </p:graphicFrame>
      <p:sp>
        <p:nvSpPr>
          <p:cNvPr id="26" name="矩形 25">
            <a:extLst>
              <a:ext uri="{FF2B5EF4-FFF2-40B4-BE49-F238E27FC236}">
                <a16:creationId xmlns:a16="http://schemas.microsoft.com/office/drawing/2014/main" id="{64509930-9DFB-420E-8F32-960E50399825}"/>
              </a:ext>
            </a:extLst>
          </p:cNvPr>
          <p:cNvSpPr/>
          <p:nvPr/>
        </p:nvSpPr>
        <p:spPr>
          <a:xfrm>
            <a:off x="1571711" y="258777"/>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7" name="圆角矩形 43">
            <a:extLst>
              <a:ext uri="{FF2B5EF4-FFF2-40B4-BE49-F238E27FC236}">
                <a16:creationId xmlns:a16="http://schemas.microsoft.com/office/drawing/2014/main" id="{7D086454-5B10-4064-9B8F-531209592F7E}"/>
              </a:ext>
            </a:extLst>
          </p:cNvPr>
          <p:cNvSpPr/>
          <p:nvPr/>
        </p:nvSpPr>
        <p:spPr>
          <a:xfrm rot="10800000" flipV="1">
            <a:off x="185084" y="242948"/>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20204" pitchFamily="34" charset="0"/>
                <a:ea typeface="宋体" panose="02010600030101010101" pitchFamily="2" charset="-122"/>
                <a:cs typeface="Arial" panose="020B0604020202020204" pitchFamily="34" charset="0"/>
              </a:rPr>
              <a:t>9.1.2</a:t>
            </a:r>
            <a:endParaRPr lang="zh-CN" altLang="en-US" sz="3200" b="1" dirty="0">
              <a:latin typeface="Arial" panose="020B0604020202020204" pitchFamily="34" charset="0"/>
              <a:ea typeface="宋体" panose="02010600030101010101" pitchFamily="2" charset="-122"/>
              <a:cs typeface="Arial" panose="020B0604020202020204" pitchFamily="34" charset="0"/>
            </a:endParaRPr>
          </a:p>
        </p:txBody>
      </p:sp>
      <p:sp>
        <p:nvSpPr>
          <p:cNvPr id="38" name="矩形 37">
            <a:extLst>
              <a:ext uri="{FF2B5EF4-FFF2-40B4-BE49-F238E27FC236}">
                <a16:creationId xmlns:a16="http://schemas.microsoft.com/office/drawing/2014/main" id="{2A2F604C-DA27-459E-8419-ED777356D653}"/>
              </a:ext>
            </a:extLst>
          </p:cNvPr>
          <p:cNvSpPr/>
          <p:nvPr/>
        </p:nvSpPr>
        <p:spPr>
          <a:xfrm>
            <a:off x="2030933" y="253949"/>
            <a:ext cx="1935137" cy="615549"/>
          </a:xfrm>
          <a:prstGeom prst="rect">
            <a:avLst/>
          </a:prstGeom>
        </p:spPr>
        <p:txBody>
          <a:bodyPr wrap="none" lIns="91436" tIns="45718" rIns="91436" bIns="45718">
            <a:spAutoFit/>
          </a:bodyPr>
          <a:lstStyle/>
          <a:p>
            <a:pPr algn="ctr"/>
            <a:r>
              <a:rPr lang="zh-CN" altLang="en-US" sz="3400" b="1" dirty="0">
                <a:solidFill>
                  <a:schemeClr val="bg1"/>
                </a:solidFill>
                <a:latin typeface="宋体" panose="02010600030101010101" pitchFamily="2" charset="-122"/>
                <a:ea typeface="宋体" panose="02010600030101010101" pitchFamily="2" charset="-122"/>
              </a:rPr>
              <a:t>物理特性</a:t>
            </a:r>
            <a:endParaRPr lang="en-US" altLang="zh-CN" sz="3400" b="1" dirty="0">
              <a:solidFill>
                <a:schemeClr val="bg1"/>
              </a:solidFill>
              <a:latin typeface="宋体" panose="02010600030101010101" pitchFamily="2" charset="-122"/>
              <a:ea typeface="宋体" panose="02010600030101010101" pitchFamily="2" charset="-122"/>
            </a:endParaRPr>
          </a:p>
        </p:txBody>
      </p:sp>
      <p:sp>
        <p:nvSpPr>
          <p:cNvPr id="2" name="Slide Number Placeholder 1">
            <a:extLst>
              <a:ext uri="{FF2B5EF4-FFF2-40B4-BE49-F238E27FC236}">
                <a16:creationId xmlns:a16="http://schemas.microsoft.com/office/drawing/2014/main" id="{34356D4E-B8B5-4CBF-A0A0-EE1C290D3BB3}"/>
              </a:ext>
            </a:extLst>
          </p:cNvPr>
          <p:cNvSpPr>
            <a:spLocks noGrp="1"/>
          </p:cNvSpPr>
          <p:nvPr>
            <p:ph type="sldNum" sz="quarter" idx="12"/>
          </p:nvPr>
        </p:nvSpPr>
        <p:spPr/>
        <p:txBody>
          <a:bodyPr/>
          <a:lstStyle/>
          <a:p>
            <a:fld id="{B53602B4-F12B-41CD-B648-531F86B2CC91}" type="slidenum">
              <a:rPr lang="zh-CN" altLang="en-US" smtClean="0"/>
              <a:t>8</a:t>
            </a:fld>
            <a:endParaRPr lang="zh-CN" altLang="en-US"/>
          </a:p>
        </p:txBody>
      </p:sp>
    </p:spTree>
    <p:extLst>
      <p:ext uri="{BB962C8B-B14F-4D97-AF65-F5344CB8AC3E}">
        <p14:creationId xmlns:p14="http://schemas.microsoft.com/office/powerpoint/2010/main" val="3925173725"/>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49142242-5E57-4D15-A0DD-17CB598A023D}"/>
              </a:ext>
            </a:extLst>
          </p:cNvPr>
          <p:cNvSpPr txBox="1"/>
          <p:nvPr/>
        </p:nvSpPr>
        <p:spPr>
          <a:xfrm>
            <a:off x="535041" y="1111851"/>
            <a:ext cx="7839637" cy="1749193"/>
          </a:xfrm>
          <a:prstGeom prst="rect">
            <a:avLst/>
          </a:prstGeom>
          <a:noFill/>
        </p:spPr>
        <p:txBody>
          <a:bodyPr wrap="square" lIns="91436" tIns="45718" rIns="91436" bIns="45718" rtlCol="0">
            <a:spAutoFit/>
          </a:bodyPr>
          <a:lstStyle/>
          <a:p>
            <a:pPr>
              <a:lnSpc>
                <a:spcPct val="200000"/>
              </a:lnSpc>
              <a:spcBef>
                <a:spcPts val="672"/>
              </a:spcBef>
            </a:pP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dirty="0">
                <a:latin typeface="Times New Roman" panose="02020603050405020304" pitchFamily="18" charset="0"/>
                <a:ea typeface="宋体" panose="02010600030101010101" pitchFamily="2" charset="-122"/>
                <a:cs typeface="Times New Roman" panose="02020603050405020304" pitchFamily="18" charset="0"/>
              </a:rPr>
              <a:t>2. </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声功率和声强</a:t>
            </a:r>
          </a:p>
          <a:p>
            <a:pPr>
              <a:spcBef>
                <a:spcPts val="672"/>
              </a:spcBef>
            </a:pP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     声能密度：指单位体积内的声能量。</a:t>
            </a:r>
            <a:endParaRPr lang="en-US" altLang="zh-CN" sz="2400" b="1" dirty="0">
              <a:latin typeface="Times New Roman" panose="02020603050405020304" pitchFamily="18" charset="0"/>
              <a:ea typeface="宋体" panose="02010600030101010101" pitchFamily="2" charset="-122"/>
              <a:cs typeface="Times New Roman" panose="02020603050405020304" pitchFamily="18" charset="0"/>
            </a:endParaRPr>
          </a:p>
          <a:p>
            <a:pPr>
              <a:spcBef>
                <a:spcPts val="672"/>
              </a:spcBef>
            </a:pPr>
            <a:r>
              <a:rPr lang="en-US" altLang="zh-CN" sz="2400" b="1"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平均声能密度：指一个周期</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rPr>
              <a:t>T</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内的平均声能密度值，即</a:t>
            </a:r>
            <a:endParaRPr lang="en-US" altLang="zh-CN" sz="2400" b="1" dirty="0">
              <a:latin typeface="Times New Roman" panose="02020603050405020304" pitchFamily="18" charset="0"/>
              <a:ea typeface="宋体" panose="02010600030101010101" pitchFamily="2"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7DF429E1-E4BB-4B0D-B687-077D7C9FA66E}"/>
                  </a:ext>
                </a:extLst>
              </p:cNvPr>
              <p:cNvSpPr txBox="1"/>
              <p:nvPr/>
            </p:nvSpPr>
            <p:spPr>
              <a:xfrm>
                <a:off x="1775161" y="4141581"/>
                <a:ext cx="4512445" cy="1836461"/>
              </a:xfrm>
              <a:prstGeom prst="rect">
                <a:avLst/>
              </a:prstGeom>
              <a:noFill/>
            </p:spPr>
            <p:txBody>
              <a:bodyPr wrap="square" lIns="91436" tIns="45718" rIns="91436" bIns="45718" rtlCol="0">
                <a:spAutoFit/>
              </a:bodyPr>
              <a:lstStyle/>
              <a:p>
                <a:pPr>
                  <a:spcBef>
                    <a:spcPts val="600"/>
                  </a:spcBef>
                </a:pP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rPr>
                  <a:t>p</a:t>
                </a:r>
                <a:r>
                  <a:rPr lang="en-US" altLang="zh-CN" sz="2400" baseline="-25000" dirty="0">
                    <a:latin typeface="Times New Roman" panose="02020603050405020304" pitchFamily="18" charset="0"/>
                    <a:ea typeface="宋体" panose="02010600030101010101" pitchFamily="2" charset="-122"/>
                    <a:cs typeface="Times New Roman" panose="02020603050405020304" pitchFamily="18" charset="0"/>
                  </a:rPr>
                  <a:t>e</a:t>
                </a:r>
                <a:r>
                  <a:rPr lang="en-US" altLang="zh-CN" sz="2400" b="1" dirty="0">
                    <a:latin typeface="Times New Roman" panose="02020603050405020304" pitchFamily="18" charset="0"/>
                    <a:ea typeface="宋体" panose="02010600030101010101" pitchFamily="2" charset="-122"/>
                    <a:cs typeface="Times New Roman" panose="02020603050405020304" pitchFamily="18" charset="0"/>
                  </a:rPr>
                  <a:t> ━ </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有效声压，</a:t>
                </a:r>
                <a14:m>
                  <m:oMath xmlns:m="http://schemas.openxmlformats.org/officeDocument/2006/math">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𝑝</m:t>
                        </m:r>
                      </m:e>
                      <m:sub>
                        <m:r>
                          <m:rPr>
                            <m:sty m:val="p"/>
                          </m:rPr>
                          <a:rPr lang="en-US" altLang="zh-CN" sz="2400">
                            <a:latin typeface="Cambria Math" panose="02040503050406030204" pitchFamily="18" charset="0"/>
                          </a:rPr>
                          <m:t>e</m:t>
                        </m:r>
                      </m:sub>
                    </m:sSub>
                    <m:r>
                      <a:rPr lang="en-US" altLang="zh-CN" sz="2400" i="1">
                        <a:latin typeface="Cambria Math" panose="02040503050406030204" pitchFamily="18" charset="0"/>
                      </a:rPr>
                      <m:t>=</m:t>
                    </m:r>
                    <m:f>
                      <m:fPr>
                        <m:type m:val="lin"/>
                        <m:ctrlPr>
                          <a:rPr lang="zh-CN" altLang="zh-CN" sz="2400" i="1">
                            <a:latin typeface="Cambria Math" panose="02040503050406030204" pitchFamily="18" charset="0"/>
                          </a:rPr>
                        </m:ctrlPr>
                      </m:fPr>
                      <m:num>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𝑝</m:t>
                            </m:r>
                          </m:e>
                          <m:sub>
                            <m:r>
                              <a:rPr lang="en-US" altLang="zh-CN" sz="2400" i="1">
                                <a:latin typeface="Cambria Math" panose="02040503050406030204" pitchFamily="18" charset="0"/>
                              </a:rPr>
                              <m:t>𝐴</m:t>
                            </m:r>
                          </m:sub>
                        </m:sSub>
                      </m:num>
                      <m:den>
                        <m:rad>
                          <m:radPr>
                            <m:degHide m:val="on"/>
                            <m:ctrlPr>
                              <a:rPr lang="zh-CN" altLang="zh-CN" sz="2400" i="1">
                                <a:latin typeface="Cambria Math" panose="02040503050406030204" pitchFamily="18" charset="0"/>
                              </a:rPr>
                            </m:ctrlPr>
                          </m:radPr>
                          <m:deg/>
                          <m:e>
                            <m:r>
                              <a:rPr lang="en-US" altLang="zh-CN" sz="2400" i="1">
                                <a:latin typeface="Cambria Math" panose="02040503050406030204" pitchFamily="18" charset="0"/>
                              </a:rPr>
                              <m:t>2</m:t>
                            </m:r>
                          </m:e>
                        </m:rad>
                      </m:den>
                    </m:f>
                  </m:oMath>
                </a14:m>
                <a:endParaRPr lang="zh-CN" altLang="en-US" sz="2400" b="1" dirty="0">
                  <a:latin typeface="Times New Roman" panose="02020603050405020304" pitchFamily="18" charset="0"/>
                  <a:ea typeface="宋体" panose="02010600030101010101" pitchFamily="2" charset="-122"/>
                  <a:cs typeface="Times New Roman" panose="02020603050405020304" pitchFamily="18" charset="0"/>
                </a:endParaRPr>
              </a:p>
              <a:p>
                <a:pPr>
                  <a:spcBef>
                    <a:spcPts val="600"/>
                  </a:spcBef>
                </a:pP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i="1" dirty="0" err="1">
                    <a:latin typeface="Times New Roman" panose="02020603050405020304" pitchFamily="18" charset="0"/>
                    <a:ea typeface="宋体" panose="02010600030101010101" pitchFamily="2" charset="-122"/>
                    <a:cs typeface="Times New Roman" panose="02020603050405020304" pitchFamily="18" charset="0"/>
                  </a:rPr>
                  <a:t>p</a:t>
                </a:r>
                <a:r>
                  <a:rPr lang="en-US" altLang="zh-CN" sz="2400" i="1" baseline="-25000" dirty="0" err="1">
                    <a:latin typeface="Times New Roman" panose="02020603050405020304" pitchFamily="18" charset="0"/>
                    <a:ea typeface="宋体" panose="02010600030101010101" pitchFamily="2" charset="-122"/>
                    <a:cs typeface="Times New Roman" panose="02020603050405020304" pitchFamily="18" charset="0"/>
                  </a:rPr>
                  <a:t>A</a:t>
                </a:r>
                <a:r>
                  <a:rPr lang="en-US" altLang="zh-CN" sz="2400" b="1" i="1" baseline="-250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声压的幅值；</a:t>
                </a:r>
              </a:p>
              <a:p>
                <a:pPr>
                  <a:spcBef>
                    <a:spcPts val="600"/>
                  </a:spcBef>
                </a:pP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    </a:t>
                </a:r>
                <a:r>
                  <a:rPr lang="el-GR" altLang="zh-CN" sz="2400" i="1" dirty="0">
                    <a:latin typeface="Times New Roman" panose="02020603050405020304" pitchFamily="18" charset="0"/>
                    <a:ea typeface="宋体" panose="02010600030101010101" pitchFamily="2" charset="-122"/>
                    <a:cs typeface="Times New Roman" panose="02020603050405020304" pitchFamily="18" charset="0"/>
                  </a:rPr>
                  <a:t>ρ</a:t>
                </a:r>
                <a:r>
                  <a:rPr lang="en-US" altLang="zh-CN" sz="2400" baseline="-25000" dirty="0">
                    <a:latin typeface="Times New Roman" panose="02020603050405020304" pitchFamily="18" charset="0"/>
                    <a:ea typeface="宋体" panose="02010600030101010101" pitchFamily="2" charset="-122"/>
                    <a:cs typeface="Times New Roman" panose="02020603050405020304" pitchFamily="18" charset="0"/>
                  </a:rPr>
                  <a:t>0</a:t>
                </a:r>
                <a:r>
                  <a:rPr lang="en-US" altLang="zh-CN" sz="2400" b="1" dirty="0">
                    <a:latin typeface="Times New Roman" panose="02020603050405020304" pitchFamily="18" charset="0"/>
                    <a:ea typeface="宋体" panose="02010600030101010101" pitchFamily="2" charset="-122"/>
                    <a:cs typeface="Times New Roman" panose="02020603050405020304" pitchFamily="18" charset="0"/>
                  </a:rPr>
                  <a:t> ━ </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空气的密度；</a:t>
                </a:r>
              </a:p>
              <a:p>
                <a:pPr>
                  <a:spcBef>
                    <a:spcPts val="600"/>
                  </a:spcBef>
                </a:pP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rPr>
                  <a:t>c</a:t>
                </a:r>
                <a:r>
                  <a:rPr lang="en-US" altLang="zh-CN" sz="2400" baseline="-25000" dirty="0">
                    <a:latin typeface="Times New Roman" panose="02020603050405020304" pitchFamily="18" charset="0"/>
                    <a:ea typeface="宋体" panose="02010600030101010101" pitchFamily="2" charset="-122"/>
                    <a:cs typeface="Times New Roman" panose="02020603050405020304" pitchFamily="18" charset="0"/>
                  </a:rPr>
                  <a:t>0</a:t>
                </a:r>
                <a:r>
                  <a:rPr lang="en-US" altLang="zh-CN" sz="2400" b="1" dirty="0">
                    <a:latin typeface="Times New Roman" panose="02020603050405020304" pitchFamily="18" charset="0"/>
                    <a:ea typeface="宋体" panose="02010600030101010101" pitchFamily="2" charset="-122"/>
                    <a:cs typeface="Times New Roman" panose="02020603050405020304" pitchFamily="18" charset="0"/>
                  </a:rPr>
                  <a:t> ━ </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声波在空气中的波速。</a:t>
                </a:r>
              </a:p>
            </p:txBody>
          </p:sp>
        </mc:Choice>
        <mc:Fallback xmlns="">
          <p:sp>
            <p:nvSpPr>
              <p:cNvPr id="5" name="文本框 4">
                <a:extLst>
                  <a:ext uri="{FF2B5EF4-FFF2-40B4-BE49-F238E27FC236}">
                    <a16:creationId xmlns:a16="http://schemas.microsoft.com/office/drawing/2014/main" id="{7DF429E1-E4BB-4B0D-B687-077D7C9FA66E}"/>
                  </a:ext>
                </a:extLst>
              </p:cNvPr>
              <p:cNvSpPr txBox="1">
                <a:spLocks noRot="1" noChangeAspect="1" noMove="1" noResize="1" noEditPoints="1" noAdjustHandles="1" noChangeArrowheads="1" noChangeShapeType="1" noTextEdit="1"/>
              </p:cNvSpPr>
              <p:nvPr/>
            </p:nvSpPr>
            <p:spPr>
              <a:xfrm>
                <a:off x="1775161" y="4141581"/>
                <a:ext cx="4512445" cy="1836461"/>
              </a:xfrm>
              <a:prstGeom prst="rect">
                <a:avLst/>
              </a:prstGeom>
              <a:blipFill>
                <a:blip r:embed="rId3"/>
                <a:stretch>
                  <a:fillRect t="-1987" b="-6623"/>
                </a:stretch>
              </a:blipFill>
            </p:spPr>
            <p:txBody>
              <a:bodyPr/>
              <a:lstStyle/>
              <a:p>
                <a:r>
                  <a:rPr lang="en-001">
                    <a:noFill/>
                  </a:rPr>
                  <a:t> </a:t>
                </a:r>
              </a:p>
            </p:txBody>
          </p:sp>
        </mc:Fallback>
      </mc:AlternateContent>
      <mc:AlternateContent xmlns:mc="http://schemas.openxmlformats.org/markup-compatibility/2006" xmlns:a14="http://schemas.microsoft.com/office/drawing/2010/main">
        <mc:Choice Requires="a14">
          <p:sp>
            <p:nvSpPr>
              <p:cNvPr id="9" name="矩形 8"/>
              <p:cNvSpPr/>
              <p:nvPr/>
            </p:nvSpPr>
            <p:spPr>
              <a:xfrm>
                <a:off x="1947297" y="3033315"/>
                <a:ext cx="4409959" cy="791370"/>
              </a:xfrm>
              <a:prstGeom prst="rect">
                <a:avLst/>
              </a:prstGeom>
              <a:solidFill>
                <a:schemeClr val="accent2">
                  <a:lumMod val="40000"/>
                  <a:lumOff val="60000"/>
                </a:schemeClr>
              </a:solidFill>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lang="zh-CN" altLang="en-US" sz="2000" i="1">
                              <a:latin typeface="Cambria Math" panose="02040503050406030204" pitchFamily="18" charset="0"/>
                            </a:rPr>
                          </m:ctrlPr>
                        </m:accPr>
                        <m:e>
                          <m:r>
                            <a:rPr lang="zh-CN" altLang="en-US" sz="2000" i="1">
                              <a:latin typeface="Cambria Math" panose="02040503050406030204" pitchFamily="18" charset="0"/>
                            </a:rPr>
                            <m:t>𝜀</m:t>
                          </m:r>
                        </m:e>
                      </m:acc>
                      <m:r>
                        <a:rPr lang="zh-CN" altLang="en-US" sz="2000" i="0">
                          <a:latin typeface="Cambria Math" panose="02040503050406030204" pitchFamily="18" charset="0"/>
                        </a:rPr>
                        <m:t>=</m:t>
                      </m:r>
                      <m:f>
                        <m:fPr>
                          <m:ctrlPr>
                            <a:rPr lang="zh-CN" altLang="en-US" sz="2000" i="1">
                              <a:latin typeface="Cambria Math" panose="02040503050406030204" pitchFamily="18" charset="0"/>
                            </a:rPr>
                          </m:ctrlPr>
                        </m:fPr>
                        <m:num>
                          <m:r>
                            <a:rPr lang="zh-CN" altLang="en-US" sz="2000" i="0">
                              <a:latin typeface="Cambria Math" panose="02040503050406030204" pitchFamily="18" charset="0"/>
                            </a:rPr>
                            <m:t>1</m:t>
                          </m:r>
                        </m:num>
                        <m:den>
                          <m:r>
                            <a:rPr lang="zh-CN" altLang="en-US" sz="2000" i="1">
                              <a:latin typeface="Cambria Math" panose="02040503050406030204" pitchFamily="18" charset="0"/>
                            </a:rPr>
                            <m:t>𝑇</m:t>
                          </m:r>
                        </m:den>
                      </m:f>
                      <m:nary>
                        <m:naryPr>
                          <m:limLoc m:val="subSup"/>
                          <m:ctrlPr>
                            <a:rPr lang="zh-CN" altLang="en-US" sz="2000" i="1">
                              <a:latin typeface="Cambria Math" panose="02040503050406030204" pitchFamily="18" charset="0"/>
                            </a:rPr>
                          </m:ctrlPr>
                        </m:naryPr>
                        <m:sub>
                          <m:r>
                            <a:rPr lang="zh-CN" altLang="en-US" sz="2000" i="0">
                              <a:latin typeface="Cambria Math" panose="02040503050406030204" pitchFamily="18" charset="0"/>
                            </a:rPr>
                            <m:t>0</m:t>
                          </m:r>
                        </m:sub>
                        <m:sup>
                          <m:r>
                            <a:rPr lang="zh-CN" altLang="en-US" sz="2000" i="1">
                              <a:latin typeface="Cambria Math" panose="02040503050406030204" pitchFamily="18" charset="0"/>
                            </a:rPr>
                            <m:t>𝑇</m:t>
                          </m:r>
                        </m:sup>
                        <m:e>
                          <m:r>
                            <a:rPr lang="zh-CN" altLang="en-US" sz="2000" i="1">
                              <a:latin typeface="Cambria Math" panose="02040503050406030204" pitchFamily="18" charset="0"/>
                            </a:rPr>
                            <m:t>𝜀</m:t>
                          </m:r>
                          <m:r>
                            <a:rPr lang="zh-CN" altLang="en-US" sz="2000" i="1">
                              <a:latin typeface="Cambria Math" panose="02040503050406030204" pitchFamily="18" charset="0"/>
                            </a:rPr>
                            <m:t>𝑑𝑡</m:t>
                          </m:r>
                          <m:r>
                            <a:rPr lang="zh-CN" altLang="en-US" sz="2000" i="0">
                              <a:latin typeface="Cambria Math" panose="02040503050406030204" pitchFamily="18" charset="0"/>
                            </a:rPr>
                            <m:t>=</m:t>
                          </m:r>
                          <m:f>
                            <m:fPr>
                              <m:ctrlPr>
                                <a:rPr lang="zh-CN" altLang="en-US" sz="2000" i="1">
                                  <a:latin typeface="Cambria Math" panose="02040503050406030204" pitchFamily="18" charset="0"/>
                                </a:rPr>
                              </m:ctrlPr>
                            </m:fPr>
                            <m:num>
                              <m:sSubSup>
                                <m:sSubSupPr>
                                  <m:ctrlPr>
                                    <a:rPr lang="zh-CN" altLang="en-US" sz="2000" i="1">
                                      <a:latin typeface="Cambria Math" panose="02040503050406030204" pitchFamily="18" charset="0"/>
                                    </a:rPr>
                                  </m:ctrlPr>
                                </m:sSubSupPr>
                                <m:e>
                                  <m:r>
                                    <a:rPr lang="zh-CN" altLang="en-US" sz="2000" i="1">
                                      <a:latin typeface="Cambria Math" panose="02040503050406030204" pitchFamily="18" charset="0"/>
                                    </a:rPr>
                                    <m:t>𝑝</m:t>
                                  </m:r>
                                </m:e>
                                <m:sub>
                                  <m:r>
                                    <a:rPr lang="zh-CN" altLang="en-US" sz="2000" i="1">
                                      <a:latin typeface="Cambria Math" panose="02040503050406030204" pitchFamily="18" charset="0"/>
                                    </a:rPr>
                                    <m:t>𝐴</m:t>
                                  </m:r>
                                </m:sub>
                                <m:sup>
                                  <m:r>
                                    <a:rPr lang="zh-CN" altLang="en-US" sz="2000" i="0">
                                      <a:latin typeface="Cambria Math" panose="02040503050406030204" pitchFamily="18" charset="0"/>
                                    </a:rPr>
                                    <m:t>2</m:t>
                                  </m:r>
                                </m:sup>
                              </m:sSubSup>
                            </m:num>
                            <m:den>
                              <m:r>
                                <a:rPr lang="zh-CN" altLang="en-US" sz="2000" i="0">
                                  <a:latin typeface="Cambria Math" panose="02040503050406030204" pitchFamily="18" charset="0"/>
                                </a:rPr>
                                <m:t>2</m:t>
                              </m:r>
                              <m:sSub>
                                <m:sSubPr>
                                  <m:ctrlPr>
                                    <a:rPr lang="zh-CN" altLang="en-US" sz="2000" i="1">
                                      <a:latin typeface="Cambria Math" panose="02040503050406030204" pitchFamily="18" charset="0"/>
                                    </a:rPr>
                                  </m:ctrlPr>
                                </m:sSubPr>
                                <m:e>
                                  <m:r>
                                    <a:rPr lang="zh-CN" altLang="en-US" sz="2000" i="1">
                                      <a:latin typeface="Cambria Math" panose="02040503050406030204" pitchFamily="18" charset="0"/>
                                    </a:rPr>
                                    <m:t>𝜌</m:t>
                                  </m:r>
                                </m:e>
                                <m:sub>
                                  <m:r>
                                    <a:rPr lang="zh-CN" altLang="en-US" sz="2000" i="0">
                                      <a:latin typeface="Cambria Math" panose="02040503050406030204" pitchFamily="18" charset="0"/>
                                    </a:rPr>
                                    <m:t>0</m:t>
                                  </m:r>
                                </m:sub>
                              </m:sSub>
                              <m:sSubSup>
                                <m:sSubSupPr>
                                  <m:ctrlPr>
                                    <a:rPr lang="zh-CN" altLang="en-US" sz="2000" i="1">
                                      <a:latin typeface="Cambria Math" panose="02040503050406030204" pitchFamily="18" charset="0"/>
                                    </a:rPr>
                                  </m:ctrlPr>
                                </m:sSubSupPr>
                                <m:e>
                                  <m:r>
                                    <a:rPr lang="zh-CN" altLang="en-US" sz="2000" i="1">
                                      <a:latin typeface="Cambria Math" panose="02040503050406030204" pitchFamily="18" charset="0"/>
                                    </a:rPr>
                                    <m:t>𝑐</m:t>
                                  </m:r>
                                </m:e>
                                <m:sub>
                                  <m:r>
                                    <a:rPr lang="zh-CN" altLang="en-US" sz="2000" i="0">
                                      <a:latin typeface="Cambria Math" panose="02040503050406030204" pitchFamily="18" charset="0"/>
                                    </a:rPr>
                                    <m:t>0</m:t>
                                  </m:r>
                                </m:sub>
                                <m:sup>
                                  <m:r>
                                    <a:rPr lang="zh-CN" altLang="en-US" sz="2000" i="0">
                                      <a:latin typeface="Cambria Math" panose="02040503050406030204" pitchFamily="18" charset="0"/>
                                    </a:rPr>
                                    <m:t>2</m:t>
                                  </m:r>
                                </m:sup>
                              </m:sSubSup>
                            </m:den>
                          </m:f>
                          <m:r>
                            <a:rPr lang="zh-CN" altLang="en-US" sz="2000" i="0">
                              <a:latin typeface="Cambria Math" panose="02040503050406030204" pitchFamily="18" charset="0"/>
                            </a:rPr>
                            <m:t>=</m:t>
                          </m:r>
                        </m:e>
                      </m:nary>
                      <m:f>
                        <m:fPr>
                          <m:ctrlPr>
                            <a:rPr lang="zh-CN" altLang="en-US" sz="2000" i="1">
                              <a:latin typeface="Cambria Math" panose="02040503050406030204" pitchFamily="18" charset="0"/>
                            </a:rPr>
                          </m:ctrlPr>
                        </m:fPr>
                        <m:num>
                          <m:sSubSup>
                            <m:sSubSupPr>
                              <m:ctrlPr>
                                <a:rPr lang="zh-CN" altLang="en-US" sz="2000" i="1">
                                  <a:latin typeface="Cambria Math" panose="02040503050406030204" pitchFamily="18" charset="0"/>
                                </a:rPr>
                              </m:ctrlPr>
                            </m:sSubSupPr>
                            <m:e>
                              <m:r>
                                <a:rPr lang="zh-CN" altLang="en-US" sz="2000" i="1">
                                  <a:latin typeface="Cambria Math" panose="02040503050406030204" pitchFamily="18" charset="0"/>
                                </a:rPr>
                                <m:t>𝑝</m:t>
                              </m:r>
                            </m:e>
                            <m:sub>
                              <m:r>
                                <m:rPr>
                                  <m:sty m:val="p"/>
                                </m:rPr>
                                <a:rPr lang="zh-CN" altLang="en-US" sz="2000" i="0">
                                  <a:latin typeface="Cambria Math" panose="02040503050406030204" pitchFamily="18" charset="0"/>
                                </a:rPr>
                                <m:t>e</m:t>
                              </m:r>
                            </m:sub>
                            <m:sup>
                              <m:r>
                                <a:rPr lang="zh-CN" altLang="en-US" sz="2000" i="0">
                                  <a:latin typeface="Cambria Math" panose="02040503050406030204" pitchFamily="18" charset="0"/>
                                </a:rPr>
                                <m:t>2</m:t>
                              </m:r>
                            </m:sup>
                          </m:sSubSup>
                        </m:num>
                        <m:den>
                          <m:sSub>
                            <m:sSubPr>
                              <m:ctrlPr>
                                <a:rPr lang="zh-CN" altLang="en-US" sz="2000" i="1">
                                  <a:latin typeface="Cambria Math" panose="02040503050406030204" pitchFamily="18" charset="0"/>
                                </a:rPr>
                              </m:ctrlPr>
                            </m:sSubPr>
                            <m:e>
                              <m:r>
                                <a:rPr lang="zh-CN" altLang="en-US" sz="2000" i="1">
                                  <a:latin typeface="Cambria Math" panose="02040503050406030204" pitchFamily="18" charset="0"/>
                                </a:rPr>
                                <m:t>𝜌</m:t>
                              </m:r>
                            </m:e>
                            <m:sub>
                              <m:r>
                                <a:rPr lang="zh-CN" altLang="en-US" sz="2000" i="0">
                                  <a:latin typeface="Cambria Math" panose="02040503050406030204" pitchFamily="18" charset="0"/>
                                </a:rPr>
                                <m:t>0</m:t>
                              </m:r>
                            </m:sub>
                          </m:sSub>
                          <m:sSubSup>
                            <m:sSubSupPr>
                              <m:ctrlPr>
                                <a:rPr lang="zh-CN" altLang="en-US" sz="2000" i="1">
                                  <a:latin typeface="Cambria Math" panose="02040503050406030204" pitchFamily="18" charset="0"/>
                                </a:rPr>
                              </m:ctrlPr>
                            </m:sSubSupPr>
                            <m:e>
                              <m:r>
                                <a:rPr lang="zh-CN" altLang="en-US" sz="2000" i="1">
                                  <a:latin typeface="Cambria Math" panose="02040503050406030204" pitchFamily="18" charset="0"/>
                                </a:rPr>
                                <m:t>𝑐</m:t>
                              </m:r>
                            </m:e>
                            <m:sub>
                              <m:r>
                                <a:rPr lang="zh-CN" altLang="en-US" sz="2000" i="0">
                                  <a:latin typeface="Cambria Math" panose="02040503050406030204" pitchFamily="18" charset="0"/>
                                </a:rPr>
                                <m:t>0</m:t>
                              </m:r>
                            </m:sub>
                            <m:sup>
                              <m:r>
                                <a:rPr lang="zh-CN" altLang="en-US" sz="2000" i="0">
                                  <a:latin typeface="Cambria Math" panose="02040503050406030204" pitchFamily="18" charset="0"/>
                                </a:rPr>
                                <m:t>2</m:t>
                              </m:r>
                            </m:sup>
                          </m:sSubSup>
                        </m:den>
                      </m:f>
                    </m:oMath>
                  </m:oMathPara>
                </a14:m>
                <a:endParaRPr lang="zh-CN" altLang="en-US" sz="2000" dirty="0"/>
              </a:p>
            </p:txBody>
          </p:sp>
        </mc:Choice>
        <mc:Fallback xmlns="">
          <p:sp>
            <p:nvSpPr>
              <p:cNvPr id="9" name="矩形 8"/>
              <p:cNvSpPr>
                <a:spLocks noRot="1" noChangeAspect="1" noMove="1" noResize="1" noEditPoints="1" noAdjustHandles="1" noChangeArrowheads="1" noChangeShapeType="1" noTextEdit="1"/>
              </p:cNvSpPr>
              <p:nvPr/>
            </p:nvSpPr>
            <p:spPr>
              <a:xfrm>
                <a:off x="1947297" y="3033315"/>
                <a:ext cx="4409959" cy="791370"/>
              </a:xfrm>
              <a:prstGeom prst="rect">
                <a:avLst/>
              </a:prstGeom>
              <a:blipFill>
                <a:blip r:embed="rId4"/>
                <a:stretch>
                  <a:fillRect/>
                </a:stretch>
              </a:blipFill>
            </p:spPr>
            <p:txBody>
              <a:bodyPr/>
              <a:lstStyle/>
              <a:p>
                <a:r>
                  <a:rPr lang="en-001">
                    <a:noFill/>
                  </a:rPr>
                  <a:t> </a:t>
                </a:r>
              </a:p>
            </p:txBody>
          </p:sp>
        </mc:Fallback>
      </mc:AlternateContent>
      <p:sp>
        <p:nvSpPr>
          <p:cNvPr id="29" name="矩形 28">
            <a:extLst>
              <a:ext uri="{FF2B5EF4-FFF2-40B4-BE49-F238E27FC236}">
                <a16:creationId xmlns:a16="http://schemas.microsoft.com/office/drawing/2014/main" id="{64509930-9DFB-420E-8F32-960E50399825}"/>
              </a:ext>
            </a:extLst>
          </p:cNvPr>
          <p:cNvSpPr/>
          <p:nvPr/>
        </p:nvSpPr>
        <p:spPr>
          <a:xfrm>
            <a:off x="1571711" y="258777"/>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0" name="圆角矩形 43">
            <a:extLst>
              <a:ext uri="{FF2B5EF4-FFF2-40B4-BE49-F238E27FC236}">
                <a16:creationId xmlns:a16="http://schemas.microsoft.com/office/drawing/2014/main" id="{7D086454-5B10-4064-9B8F-531209592F7E}"/>
              </a:ext>
            </a:extLst>
          </p:cNvPr>
          <p:cNvSpPr/>
          <p:nvPr/>
        </p:nvSpPr>
        <p:spPr>
          <a:xfrm rot="10800000" flipV="1">
            <a:off x="185084" y="242948"/>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20204" pitchFamily="34" charset="0"/>
                <a:ea typeface="宋体" panose="02010600030101010101" pitchFamily="2" charset="-122"/>
                <a:cs typeface="Arial" panose="020B0604020202020204" pitchFamily="34" charset="0"/>
              </a:rPr>
              <a:t>9.1.2</a:t>
            </a:r>
            <a:endParaRPr lang="zh-CN" altLang="en-US" sz="3200" b="1" dirty="0">
              <a:latin typeface="Arial" panose="020B0604020202020204" pitchFamily="34" charset="0"/>
              <a:ea typeface="宋体" panose="02010600030101010101" pitchFamily="2" charset="-122"/>
              <a:cs typeface="Arial" panose="020B0604020202020204" pitchFamily="34" charset="0"/>
            </a:endParaRPr>
          </a:p>
        </p:txBody>
      </p:sp>
      <p:sp>
        <p:nvSpPr>
          <p:cNvPr id="41" name="矩形 40">
            <a:extLst>
              <a:ext uri="{FF2B5EF4-FFF2-40B4-BE49-F238E27FC236}">
                <a16:creationId xmlns:a16="http://schemas.microsoft.com/office/drawing/2014/main" id="{2A2F604C-DA27-459E-8419-ED777356D653}"/>
              </a:ext>
            </a:extLst>
          </p:cNvPr>
          <p:cNvSpPr/>
          <p:nvPr/>
        </p:nvSpPr>
        <p:spPr>
          <a:xfrm>
            <a:off x="2030933" y="253949"/>
            <a:ext cx="1935137" cy="615549"/>
          </a:xfrm>
          <a:prstGeom prst="rect">
            <a:avLst/>
          </a:prstGeom>
        </p:spPr>
        <p:txBody>
          <a:bodyPr wrap="none" lIns="91436" tIns="45718" rIns="91436" bIns="45718">
            <a:spAutoFit/>
          </a:bodyPr>
          <a:lstStyle/>
          <a:p>
            <a:pPr algn="ctr"/>
            <a:r>
              <a:rPr lang="zh-CN" altLang="en-US" sz="3400" b="1" dirty="0">
                <a:solidFill>
                  <a:schemeClr val="bg1"/>
                </a:solidFill>
                <a:latin typeface="宋体" panose="02010600030101010101" pitchFamily="2" charset="-122"/>
                <a:ea typeface="宋体" panose="02010600030101010101" pitchFamily="2" charset="-122"/>
              </a:rPr>
              <a:t>物理特性</a:t>
            </a:r>
            <a:endParaRPr lang="en-US" altLang="zh-CN" sz="3400" b="1" dirty="0">
              <a:solidFill>
                <a:schemeClr val="bg1"/>
              </a:solidFill>
              <a:latin typeface="宋体" panose="02010600030101010101" pitchFamily="2" charset="-122"/>
              <a:ea typeface="宋体" panose="02010600030101010101" pitchFamily="2" charset="-122"/>
            </a:endParaRPr>
          </a:p>
        </p:txBody>
      </p:sp>
      <p:sp>
        <p:nvSpPr>
          <p:cNvPr id="2" name="Slide Number Placeholder 1">
            <a:extLst>
              <a:ext uri="{FF2B5EF4-FFF2-40B4-BE49-F238E27FC236}">
                <a16:creationId xmlns:a16="http://schemas.microsoft.com/office/drawing/2014/main" id="{F4A71DD6-BA1A-4718-BDC1-7DB4925C4CEB}"/>
              </a:ext>
            </a:extLst>
          </p:cNvPr>
          <p:cNvSpPr>
            <a:spLocks noGrp="1"/>
          </p:cNvSpPr>
          <p:nvPr>
            <p:ph type="sldNum" sz="quarter" idx="12"/>
          </p:nvPr>
        </p:nvSpPr>
        <p:spPr/>
        <p:txBody>
          <a:bodyPr/>
          <a:lstStyle/>
          <a:p>
            <a:fld id="{B53602B4-F12B-41CD-B648-531F86B2CC91}" type="slidenum">
              <a:rPr lang="zh-CN" altLang="en-US" smtClean="0"/>
              <a:t>9</a:t>
            </a:fld>
            <a:endParaRPr lang="zh-CN" altLang="en-US"/>
          </a:p>
        </p:txBody>
      </p:sp>
    </p:spTree>
    <p:extLst>
      <p:ext uri="{BB962C8B-B14F-4D97-AF65-F5344CB8AC3E}">
        <p14:creationId xmlns:p14="http://schemas.microsoft.com/office/powerpoint/2010/main" val="1551228315"/>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49142242-5E57-4D15-A0DD-17CB598A023D}"/>
                  </a:ext>
                </a:extLst>
              </p:cNvPr>
              <p:cNvSpPr txBox="1"/>
              <p:nvPr/>
            </p:nvSpPr>
            <p:spPr>
              <a:xfrm>
                <a:off x="323850" y="1211753"/>
                <a:ext cx="8639175" cy="4952634"/>
              </a:xfrm>
              <a:prstGeom prst="rect">
                <a:avLst/>
              </a:prstGeom>
              <a:noFill/>
            </p:spPr>
            <p:txBody>
              <a:bodyPr wrap="square" lIns="91436" tIns="45718" rIns="91436" bIns="45718" rtlCol="0">
                <a:spAutoFit/>
              </a:bodyPr>
              <a:lstStyle/>
              <a:p>
                <a:pPr>
                  <a:lnSpc>
                    <a:spcPct val="150000"/>
                  </a:lnSpc>
                  <a:spcBef>
                    <a:spcPts val="672"/>
                  </a:spcBef>
                </a:pPr>
                <a:r>
                  <a:rPr lang="zh-CN" altLang="en-US" sz="2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平均声功率</a:t>
                </a:r>
                <a:r>
                  <a:rPr lang="zh-CN" altLang="en-US" sz="2200" b="1" dirty="0">
                    <a:latin typeface="Times New Roman" panose="02020603050405020304" pitchFamily="18" charset="0"/>
                    <a:ea typeface="宋体" panose="02010600030101010101" pitchFamily="2" charset="-122"/>
                    <a:cs typeface="Times New Roman" panose="02020603050405020304" pitchFamily="18" charset="0"/>
                  </a:rPr>
                  <a:t>：单位时间通过垂直于声传播方向面积</a:t>
                </a:r>
                <a:r>
                  <a:rPr lang="en-US" altLang="zh-CN" sz="2200" b="1" i="1" dirty="0">
                    <a:latin typeface="Times New Roman" panose="02020603050405020304" pitchFamily="18" charset="0"/>
                    <a:ea typeface="宋体" panose="02010600030101010101" pitchFamily="2" charset="-122"/>
                    <a:cs typeface="Times New Roman" panose="02020603050405020304" pitchFamily="18" charset="0"/>
                  </a:rPr>
                  <a:t>S</a:t>
                </a:r>
                <a:r>
                  <a:rPr lang="zh-CN" altLang="en-US" sz="2200" b="1" dirty="0">
                    <a:latin typeface="Times New Roman" panose="02020603050405020304" pitchFamily="18" charset="0"/>
                    <a:ea typeface="宋体" panose="02010600030101010101" pitchFamily="2" charset="-122"/>
                    <a:cs typeface="Times New Roman" panose="02020603050405020304" pitchFamily="18" charset="0"/>
                  </a:rPr>
                  <a:t>的平均声能量，或称为平均声能量流，即</a:t>
                </a:r>
                <a14:m>
                  <m:oMath xmlns:m="http://schemas.openxmlformats.org/officeDocument/2006/math">
                    <m:acc>
                      <m:accPr>
                        <m:chr m:val="̅"/>
                        <m:ctrlPr>
                          <a:rPr lang="zh-CN" altLang="zh-CN" sz="2200" i="1">
                            <a:latin typeface="Cambria Math" panose="02040503050406030204" pitchFamily="18" charset="0"/>
                          </a:rPr>
                        </m:ctrlPr>
                      </m:accPr>
                      <m:e>
                        <m:r>
                          <a:rPr lang="en-US" altLang="zh-CN" sz="2200" i="1">
                            <a:latin typeface="Cambria Math" panose="02040503050406030204" pitchFamily="18" charset="0"/>
                          </a:rPr>
                          <m:t>𝑊</m:t>
                        </m:r>
                      </m:e>
                    </m:acc>
                    <m:r>
                      <a:rPr lang="en-US" altLang="zh-CN" sz="2200" i="1">
                        <a:latin typeface="Cambria Math" panose="02040503050406030204" pitchFamily="18" charset="0"/>
                      </a:rPr>
                      <m:t>=</m:t>
                    </m:r>
                    <m:acc>
                      <m:accPr>
                        <m:chr m:val="̅"/>
                        <m:ctrlPr>
                          <a:rPr lang="zh-CN" altLang="zh-CN" sz="2200" i="1">
                            <a:latin typeface="Cambria Math" panose="02040503050406030204" pitchFamily="18" charset="0"/>
                          </a:rPr>
                        </m:ctrlPr>
                      </m:accPr>
                      <m:e>
                        <m:r>
                          <a:rPr lang="en-US" altLang="zh-CN" sz="2200" i="1">
                            <a:latin typeface="Cambria Math" panose="02040503050406030204" pitchFamily="18" charset="0"/>
                          </a:rPr>
                          <m:t>𝜀</m:t>
                        </m:r>
                      </m:e>
                    </m:acc>
                    <m:sSub>
                      <m:sSubPr>
                        <m:ctrlPr>
                          <a:rPr lang="zh-CN" altLang="zh-CN" sz="2200" i="1">
                            <a:latin typeface="Cambria Math" panose="02040503050406030204" pitchFamily="18" charset="0"/>
                          </a:rPr>
                        </m:ctrlPr>
                      </m:sSubPr>
                      <m:e>
                        <m:r>
                          <a:rPr lang="en-US" altLang="zh-CN" sz="2200" i="1">
                            <a:latin typeface="Cambria Math" panose="02040503050406030204" pitchFamily="18" charset="0"/>
                          </a:rPr>
                          <m:t>𝑐</m:t>
                        </m:r>
                      </m:e>
                      <m:sub>
                        <m:r>
                          <a:rPr lang="en-US" altLang="zh-CN" sz="2200" i="1">
                            <a:latin typeface="Cambria Math" panose="02040503050406030204" pitchFamily="18" charset="0"/>
                          </a:rPr>
                          <m:t>0</m:t>
                        </m:r>
                      </m:sub>
                    </m:sSub>
                    <m:r>
                      <a:rPr lang="en-US" altLang="zh-CN" sz="2200" i="1">
                        <a:latin typeface="Cambria Math" panose="02040503050406030204" pitchFamily="18" charset="0"/>
                      </a:rPr>
                      <m:t>𝑆</m:t>
                    </m:r>
                  </m:oMath>
                </a14:m>
                <a:r>
                  <a:rPr lang="zh-CN" altLang="en-US" sz="2200" b="1" dirty="0">
                    <a:latin typeface="Times New Roman" panose="02020603050405020304" pitchFamily="18" charset="0"/>
                    <a:ea typeface="宋体" panose="02010600030101010101" pitchFamily="2" charset="-122"/>
                    <a:cs typeface="Times New Roman" panose="02020603050405020304" pitchFamily="18" charset="0"/>
                  </a:rPr>
                  <a:t>，单位为</a:t>
                </a:r>
                <a:r>
                  <a:rPr lang="en-US" altLang="zh-CN" sz="2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W</a:t>
                </a:r>
                <a:r>
                  <a:rPr lang="zh-CN" altLang="en-US" sz="2200" b="1"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sz="2200" b="1" dirty="0">
                  <a:latin typeface="Times New Roman" panose="02020603050405020304" pitchFamily="18" charset="0"/>
                  <a:ea typeface="宋体" panose="02010600030101010101" pitchFamily="2" charset="-122"/>
                  <a:cs typeface="Times New Roman" panose="02020603050405020304" pitchFamily="18" charset="0"/>
                </a:endParaRPr>
              </a:p>
              <a:p>
                <a:pPr>
                  <a:lnSpc>
                    <a:spcPct val="150000"/>
                  </a:lnSpc>
                  <a:spcBef>
                    <a:spcPts val="672"/>
                  </a:spcBef>
                </a:pPr>
                <a:r>
                  <a:rPr lang="zh-CN" altLang="en-US" sz="22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声强</a:t>
                </a:r>
                <a:r>
                  <a:rPr lang="zh-CN" altLang="en-US" sz="2200" b="1" dirty="0">
                    <a:latin typeface="Times New Roman" panose="02020603050405020304" pitchFamily="18" charset="0"/>
                    <a:ea typeface="宋体" panose="02010600030101010101" pitchFamily="2" charset="-122"/>
                    <a:cs typeface="Times New Roman" panose="02020603050405020304" pitchFamily="18" charset="0"/>
                  </a:rPr>
                  <a:t>：单位时间通过垂直于声传播方向单位面积的平均声能量，或称平均声能量流密度，即</a:t>
                </a:r>
                <a:endParaRPr lang="en-US" altLang="zh-CN" sz="2200" b="1" dirty="0">
                  <a:latin typeface="Times New Roman" panose="02020603050405020304" pitchFamily="18" charset="0"/>
                  <a:ea typeface="宋体" panose="02010600030101010101" pitchFamily="2" charset="-122"/>
                  <a:cs typeface="Times New Roman" panose="02020603050405020304" pitchFamily="18" charset="0"/>
                </a:endParaRPr>
              </a:p>
              <a:p>
                <a:pPr>
                  <a:lnSpc>
                    <a:spcPct val="150000"/>
                  </a:lnSpc>
                  <a:spcBef>
                    <a:spcPts val="672"/>
                  </a:spcBef>
                </a:pPr>
                <a:endParaRPr lang="en-US" altLang="zh-CN" sz="2200" b="1" dirty="0">
                  <a:latin typeface="Times New Roman" panose="02020603050405020304" pitchFamily="18" charset="0"/>
                  <a:ea typeface="宋体" panose="02010600030101010101" pitchFamily="2" charset="-122"/>
                  <a:cs typeface="Times New Roman" panose="02020603050405020304" pitchFamily="18" charset="0"/>
                </a:endParaRPr>
              </a:p>
              <a:p>
                <a:pPr>
                  <a:spcBef>
                    <a:spcPts val="672"/>
                  </a:spcBef>
                </a:pPr>
                <a:endParaRPr lang="en-US" altLang="zh-CN" sz="2200" b="1" dirty="0">
                  <a:latin typeface="Times New Roman" panose="02020603050405020304" pitchFamily="18" charset="0"/>
                  <a:ea typeface="宋体" panose="02010600030101010101" pitchFamily="2" charset="-122"/>
                  <a:cs typeface="Times New Roman" panose="02020603050405020304" pitchFamily="18" charset="0"/>
                </a:endParaRPr>
              </a:p>
              <a:p>
                <a:pPr>
                  <a:spcBef>
                    <a:spcPts val="672"/>
                  </a:spcBef>
                </a:pPr>
                <a:endParaRPr lang="en-US" altLang="zh-CN" sz="2200" b="1" dirty="0">
                  <a:latin typeface="Times New Roman" panose="02020603050405020304" pitchFamily="18" charset="0"/>
                  <a:ea typeface="宋体" panose="02010600030101010101" pitchFamily="2" charset="-122"/>
                  <a:cs typeface="Times New Roman" panose="02020603050405020304" pitchFamily="18" charset="0"/>
                </a:endParaRPr>
              </a:p>
              <a:p>
                <a:pPr>
                  <a:spcBef>
                    <a:spcPts val="672"/>
                  </a:spcBef>
                </a:pPr>
                <a:endParaRPr lang="en-US" altLang="zh-CN" sz="2200" b="1" dirty="0">
                  <a:latin typeface="Times New Roman" panose="02020603050405020304" pitchFamily="18" charset="0"/>
                  <a:ea typeface="宋体" panose="02010600030101010101" pitchFamily="2" charset="-122"/>
                  <a:cs typeface="Times New Roman" panose="02020603050405020304" pitchFamily="18" charset="0"/>
                </a:endParaRPr>
              </a:p>
              <a:p>
                <a:pPr>
                  <a:spcBef>
                    <a:spcPts val="672"/>
                  </a:spcBef>
                </a:pPr>
                <a:endParaRPr lang="en-US" altLang="zh-CN" sz="2200" b="1" dirty="0">
                  <a:latin typeface="Times New Roman" panose="02020603050405020304" pitchFamily="18" charset="0"/>
                  <a:ea typeface="宋体" panose="02010600030101010101" pitchFamily="2" charset="-122"/>
                  <a:cs typeface="Times New Roman" panose="02020603050405020304" pitchFamily="18" charset="0"/>
                </a:endParaRPr>
              </a:p>
              <a:p>
                <a:pPr>
                  <a:spcBef>
                    <a:spcPts val="672"/>
                  </a:spcBef>
                </a:pPr>
                <a:r>
                  <a:rPr lang="zh-CN" altLang="en-US" sz="2200" b="1" dirty="0">
                    <a:latin typeface="Times New Roman" panose="02020603050405020304" pitchFamily="18" charset="0"/>
                    <a:ea typeface="宋体" panose="02010600030101010101" pitchFamily="2" charset="-122"/>
                    <a:cs typeface="Times New Roman" panose="02020603050405020304" pitchFamily="18" charset="0"/>
                  </a:rPr>
                  <a:t>    声强的单位</a:t>
                </a:r>
                <a:r>
                  <a:rPr lang="en-US" altLang="zh-CN" sz="22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W/m</a:t>
                </a:r>
                <a:r>
                  <a:rPr lang="en-US" altLang="zh-CN" sz="2200" b="1" baseline="300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2</a:t>
                </a:r>
                <a:r>
                  <a:rPr lang="zh-CN" altLang="en-US" sz="2200" b="1"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sz="2200" b="1" dirty="0">
                  <a:latin typeface="Times New Roman" panose="02020603050405020304" pitchFamily="18" charset="0"/>
                  <a:ea typeface="宋体" panose="02010600030101010101" pitchFamily="2" charset="-122"/>
                  <a:cs typeface="Times New Roman" panose="02020603050405020304" pitchFamily="18" charset="0"/>
                </a:endParaRPr>
              </a:p>
            </p:txBody>
          </p:sp>
        </mc:Choice>
        <mc:Fallback xmlns="">
          <p:sp>
            <p:nvSpPr>
              <p:cNvPr id="3" name="文本框 2">
                <a:extLst>
                  <a:ext uri="{FF2B5EF4-FFF2-40B4-BE49-F238E27FC236}">
                    <a16:creationId xmlns:a16="http://schemas.microsoft.com/office/drawing/2014/main" id="{49142242-5E57-4D15-A0DD-17CB598A023D}"/>
                  </a:ext>
                </a:extLst>
              </p:cNvPr>
              <p:cNvSpPr txBox="1">
                <a:spLocks noRot="1" noChangeAspect="1" noMove="1" noResize="1" noEditPoints="1" noAdjustHandles="1" noChangeArrowheads="1" noChangeShapeType="1" noTextEdit="1"/>
              </p:cNvSpPr>
              <p:nvPr/>
            </p:nvSpPr>
            <p:spPr>
              <a:xfrm>
                <a:off x="323850" y="1211753"/>
                <a:ext cx="8639175" cy="4952634"/>
              </a:xfrm>
              <a:prstGeom prst="rect">
                <a:avLst/>
              </a:prstGeom>
              <a:blipFill>
                <a:blip r:embed="rId3"/>
                <a:stretch>
                  <a:fillRect l="-917" r="-847" b="-1601"/>
                </a:stretch>
              </a:blipFill>
            </p:spPr>
            <p:txBody>
              <a:bodyPr/>
              <a:lstStyle/>
              <a:p>
                <a:r>
                  <a:rPr lang="en-001">
                    <a:noFill/>
                  </a:rPr>
                  <a:t> </a:t>
                </a:r>
              </a:p>
            </p:txBody>
          </p:sp>
        </mc:Fallback>
      </mc:AlternateContent>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7DF429E1-E4BB-4B0D-B687-077D7C9FA66E}"/>
                  </a:ext>
                </a:extLst>
              </p:cNvPr>
              <p:cNvSpPr txBox="1"/>
              <p:nvPr/>
            </p:nvSpPr>
            <p:spPr>
              <a:xfrm>
                <a:off x="666934" y="4331800"/>
                <a:ext cx="5554643" cy="1141078"/>
              </a:xfrm>
              <a:prstGeom prst="rect">
                <a:avLst/>
              </a:prstGeom>
              <a:noFill/>
            </p:spPr>
            <p:txBody>
              <a:bodyPr wrap="square" lIns="91436" tIns="45718" rIns="91436" bIns="45718" rtlCol="0">
                <a:spAutoFit/>
              </a:bodyPr>
              <a:lstStyle/>
              <a:p>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Re </a:t>
                </a:r>
                <a:r>
                  <a:rPr lang="en-US" altLang="zh-CN" sz="2200" b="1"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2200" b="1" dirty="0">
                    <a:latin typeface="Times New Roman" panose="02020603050405020304" pitchFamily="18" charset="0"/>
                    <a:ea typeface="宋体" panose="02010600030101010101" pitchFamily="2" charset="-122"/>
                    <a:cs typeface="Times New Roman" panose="02020603050405020304" pitchFamily="18" charset="0"/>
                  </a:rPr>
                  <a:t>取实部；</a:t>
                </a:r>
              </a:p>
              <a:p>
                <a:r>
                  <a:rPr lang="en-US" altLang="zh-CN" sz="2200" i="1" dirty="0" err="1">
                    <a:latin typeface="Times New Roman" panose="02020603050405020304" pitchFamily="18" charset="0"/>
                    <a:ea typeface="宋体" panose="02010600030101010101" pitchFamily="2" charset="-122"/>
                    <a:cs typeface="Times New Roman" panose="02020603050405020304" pitchFamily="18" charset="0"/>
                  </a:rPr>
                  <a:t>v</a:t>
                </a:r>
                <a:r>
                  <a:rPr lang="en-US" altLang="zh-CN" sz="2200" i="1" baseline="-25000" dirty="0" err="1">
                    <a:latin typeface="Times New Roman" panose="02020603050405020304" pitchFamily="18" charset="0"/>
                    <a:ea typeface="宋体" panose="02010600030101010101" pitchFamily="2" charset="-122"/>
                    <a:cs typeface="Times New Roman" panose="02020603050405020304" pitchFamily="18" charset="0"/>
                  </a:rPr>
                  <a:t>e</a:t>
                </a:r>
                <a:r>
                  <a:rPr lang="en-US" altLang="zh-CN" sz="2200" b="1" i="1" baseline="-250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200" b="1"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2200" b="1" dirty="0">
                    <a:latin typeface="Times New Roman" panose="02020603050405020304" pitchFamily="18" charset="0"/>
                    <a:ea typeface="宋体" panose="02010600030101010101" pitchFamily="2" charset="-122"/>
                    <a:cs typeface="Times New Roman" panose="02020603050405020304" pitchFamily="18" charset="0"/>
                  </a:rPr>
                  <a:t>有效质点速度</a:t>
                </a:r>
                <a14:m>
                  <m:oMath xmlns:m="http://schemas.openxmlformats.org/officeDocument/2006/math">
                    <m:sSub>
                      <m:sSubPr>
                        <m:ctrlPr>
                          <a:rPr lang="zh-CN" altLang="zh-CN" sz="2200" i="1">
                            <a:latin typeface="Cambria Math" panose="02040503050406030204" pitchFamily="18" charset="0"/>
                          </a:rPr>
                        </m:ctrlPr>
                      </m:sSubPr>
                      <m:e>
                        <m:r>
                          <a:rPr lang="en-US" altLang="zh-CN" sz="2200" b="0" i="1" smtClean="0">
                            <a:latin typeface="Cambria Math" panose="02040503050406030204" pitchFamily="18" charset="0"/>
                          </a:rPr>
                          <m:t>𝑣</m:t>
                        </m:r>
                      </m:e>
                      <m:sub>
                        <m:r>
                          <m:rPr>
                            <m:sty m:val="p"/>
                          </m:rPr>
                          <a:rPr lang="en-US" altLang="zh-CN" sz="2200">
                            <a:latin typeface="Cambria Math" panose="02040503050406030204" pitchFamily="18" charset="0"/>
                          </a:rPr>
                          <m:t>e</m:t>
                        </m:r>
                      </m:sub>
                    </m:sSub>
                    <m:r>
                      <a:rPr lang="en-US" altLang="zh-CN" sz="2200" i="1">
                        <a:latin typeface="Cambria Math" panose="02040503050406030204" pitchFamily="18" charset="0"/>
                      </a:rPr>
                      <m:t>=</m:t>
                    </m:r>
                    <m:f>
                      <m:fPr>
                        <m:type m:val="lin"/>
                        <m:ctrlPr>
                          <a:rPr lang="zh-CN" altLang="zh-CN" sz="2200" i="1">
                            <a:latin typeface="Cambria Math" panose="02040503050406030204" pitchFamily="18" charset="0"/>
                          </a:rPr>
                        </m:ctrlPr>
                      </m:fPr>
                      <m:num>
                        <m:sSub>
                          <m:sSubPr>
                            <m:ctrlPr>
                              <a:rPr lang="zh-CN" altLang="zh-CN" sz="2200" i="1">
                                <a:latin typeface="Cambria Math" panose="02040503050406030204" pitchFamily="18" charset="0"/>
                              </a:rPr>
                            </m:ctrlPr>
                          </m:sSubPr>
                          <m:e>
                            <m:r>
                              <a:rPr lang="en-US" altLang="zh-CN" sz="2200" b="0" i="1" smtClean="0">
                                <a:latin typeface="Cambria Math" panose="02040503050406030204" pitchFamily="18" charset="0"/>
                              </a:rPr>
                              <m:t>𝑣</m:t>
                            </m:r>
                          </m:e>
                          <m:sub>
                            <m:r>
                              <a:rPr lang="en-US" altLang="zh-CN" sz="2200" i="1">
                                <a:latin typeface="Cambria Math" panose="02040503050406030204" pitchFamily="18" charset="0"/>
                              </a:rPr>
                              <m:t>𝐴</m:t>
                            </m:r>
                          </m:sub>
                        </m:sSub>
                      </m:num>
                      <m:den>
                        <m:rad>
                          <m:radPr>
                            <m:degHide m:val="on"/>
                            <m:ctrlPr>
                              <a:rPr lang="zh-CN" altLang="zh-CN" sz="2200" i="1">
                                <a:latin typeface="Cambria Math" panose="02040503050406030204" pitchFamily="18" charset="0"/>
                              </a:rPr>
                            </m:ctrlPr>
                          </m:radPr>
                          <m:deg/>
                          <m:e>
                            <m:r>
                              <a:rPr lang="en-US" altLang="zh-CN" sz="2200" i="1">
                                <a:latin typeface="Cambria Math" panose="02040503050406030204" pitchFamily="18" charset="0"/>
                              </a:rPr>
                              <m:t>2</m:t>
                            </m:r>
                          </m:e>
                        </m:rad>
                      </m:den>
                    </m:f>
                  </m:oMath>
                </a14:m>
                <a:r>
                  <a:rPr lang="zh-CN" altLang="en-US" sz="2200" b="1" dirty="0">
                    <a:latin typeface="Times New Roman" panose="02020603050405020304" pitchFamily="18" charset="0"/>
                    <a:ea typeface="宋体" panose="02010600030101010101" pitchFamily="2" charset="-122"/>
                    <a:cs typeface="Times New Roman" panose="02020603050405020304" pitchFamily="18" charset="0"/>
                  </a:rPr>
                  <a:t> ；</a:t>
                </a:r>
              </a:p>
              <a:p>
                <a:r>
                  <a:rPr lang="en-US" altLang="zh-CN" sz="2200" i="1" dirty="0" err="1">
                    <a:latin typeface="Times New Roman" panose="02020603050405020304" pitchFamily="18" charset="0"/>
                    <a:ea typeface="宋体" panose="02010600030101010101" pitchFamily="2" charset="-122"/>
                    <a:cs typeface="Times New Roman" panose="02020603050405020304" pitchFamily="18" charset="0"/>
                  </a:rPr>
                  <a:t>v</a:t>
                </a:r>
                <a:r>
                  <a:rPr lang="en-US" altLang="zh-CN" sz="2200" i="1" baseline="-25000" dirty="0" err="1">
                    <a:latin typeface="Times New Roman" panose="02020603050405020304" pitchFamily="18" charset="0"/>
                    <a:ea typeface="宋体" panose="02010600030101010101" pitchFamily="2" charset="-122"/>
                    <a:cs typeface="Times New Roman" panose="02020603050405020304" pitchFamily="18" charset="0"/>
                  </a:rPr>
                  <a:t>A</a:t>
                </a:r>
                <a:r>
                  <a:rPr lang="en-US" altLang="zh-CN" sz="2200" b="1" dirty="0">
                    <a:latin typeface="Times New Roman" panose="02020603050405020304" pitchFamily="18" charset="0"/>
                    <a:ea typeface="宋体" panose="02010600030101010101" pitchFamily="2" charset="-122"/>
                    <a:cs typeface="Times New Roman" panose="02020603050405020304" pitchFamily="18" charset="0"/>
                  </a:rPr>
                  <a:t> ━ ━</a:t>
                </a:r>
                <a:r>
                  <a:rPr lang="zh-CN" altLang="en-US" sz="2200" b="1" dirty="0">
                    <a:latin typeface="Times New Roman" panose="02020603050405020304" pitchFamily="18" charset="0"/>
                    <a:ea typeface="宋体" panose="02010600030101010101" pitchFamily="2" charset="-122"/>
                    <a:cs typeface="Times New Roman" panose="02020603050405020304" pitchFamily="18" charset="0"/>
                  </a:rPr>
                  <a:t>质点速度的幅值。</a:t>
                </a:r>
              </a:p>
            </p:txBody>
          </p:sp>
        </mc:Choice>
        <mc:Fallback xmlns="">
          <p:sp>
            <p:nvSpPr>
              <p:cNvPr id="5" name="文本框 4">
                <a:extLst>
                  <a:ext uri="{FF2B5EF4-FFF2-40B4-BE49-F238E27FC236}">
                    <a16:creationId xmlns:a16="http://schemas.microsoft.com/office/drawing/2014/main" id="{7DF429E1-E4BB-4B0D-B687-077D7C9FA66E}"/>
                  </a:ext>
                </a:extLst>
              </p:cNvPr>
              <p:cNvSpPr txBox="1">
                <a:spLocks noRot="1" noChangeAspect="1" noMove="1" noResize="1" noEditPoints="1" noAdjustHandles="1" noChangeArrowheads="1" noChangeShapeType="1" noTextEdit="1"/>
              </p:cNvSpPr>
              <p:nvPr/>
            </p:nvSpPr>
            <p:spPr>
              <a:xfrm>
                <a:off x="666934" y="4331800"/>
                <a:ext cx="5554643" cy="1141078"/>
              </a:xfrm>
              <a:prstGeom prst="rect">
                <a:avLst/>
              </a:prstGeom>
              <a:blipFill>
                <a:blip r:embed="rId4"/>
                <a:stretch>
                  <a:fillRect l="-1425" t="-12834" b="-41176"/>
                </a:stretch>
              </a:blipFill>
            </p:spPr>
            <p:txBody>
              <a:bodyPr/>
              <a:lstStyle/>
              <a:p>
                <a:r>
                  <a:rPr lang="en-001">
                    <a:noFill/>
                  </a:rPr>
                  <a:t> </a:t>
                </a:r>
              </a:p>
            </p:txBody>
          </p:sp>
        </mc:Fallback>
      </mc:AlternateContent>
      <p:sp>
        <p:nvSpPr>
          <p:cNvPr id="29" name="矩形 28">
            <a:extLst>
              <a:ext uri="{FF2B5EF4-FFF2-40B4-BE49-F238E27FC236}">
                <a16:creationId xmlns:a16="http://schemas.microsoft.com/office/drawing/2014/main" id="{64509930-9DFB-420E-8F32-960E50399825}"/>
              </a:ext>
            </a:extLst>
          </p:cNvPr>
          <p:cNvSpPr/>
          <p:nvPr/>
        </p:nvSpPr>
        <p:spPr>
          <a:xfrm>
            <a:off x="1571711" y="258777"/>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0" name="圆角矩形 43">
            <a:extLst>
              <a:ext uri="{FF2B5EF4-FFF2-40B4-BE49-F238E27FC236}">
                <a16:creationId xmlns:a16="http://schemas.microsoft.com/office/drawing/2014/main" id="{7D086454-5B10-4064-9B8F-531209592F7E}"/>
              </a:ext>
            </a:extLst>
          </p:cNvPr>
          <p:cNvSpPr/>
          <p:nvPr/>
        </p:nvSpPr>
        <p:spPr>
          <a:xfrm rot="10800000" flipV="1">
            <a:off x="185084" y="242948"/>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20204" pitchFamily="34" charset="0"/>
                <a:ea typeface="宋体" panose="02010600030101010101" pitchFamily="2" charset="-122"/>
                <a:cs typeface="Arial" panose="020B0604020202020204" pitchFamily="34" charset="0"/>
              </a:rPr>
              <a:t>9.1.2</a:t>
            </a:r>
            <a:endParaRPr lang="zh-CN" altLang="en-US" sz="3200" b="1" dirty="0">
              <a:latin typeface="Arial" panose="020B0604020202020204" pitchFamily="34" charset="0"/>
              <a:ea typeface="宋体" panose="02010600030101010101" pitchFamily="2" charset="-122"/>
              <a:cs typeface="Arial" panose="020B0604020202020204" pitchFamily="34" charset="0"/>
            </a:endParaRPr>
          </a:p>
        </p:txBody>
      </p:sp>
      <p:sp>
        <p:nvSpPr>
          <p:cNvPr id="41" name="矩形 40">
            <a:extLst>
              <a:ext uri="{FF2B5EF4-FFF2-40B4-BE49-F238E27FC236}">
                <a16:creationId xmlns:a16="http://schemas.microsoft.com/office/drawing/2014/main" id="{2A2F604C-DA27-459E-8419-ED777356D653}"/>
              </a:ext>
            </a:extLst>
          </p:cNvPr>
          <p:cNvSpPr/>
          <p:nvPr/>
        </p:nvSpPr>
        <p:spPr>
          <a:xfrm>
            <a:off x="2030933" y="253949"/>
            <a:ext cx="1935137" cy="615549"/>
          </a:xfrm>
          <a:prstGeom prst="rect">
            <a:avLst/>
          </a:prstGeom>
        </p:spPr>
        <p:txBody>
          <a:bodyPr wrap="none" lIns="91436" tIns="45718" rIns="91436" bIns="45718">
            <a:spAutoFit/>
          </a:bodyPr>
          <a:lstStyle/>
          <a:p>
            <a:pPr algn="ctr"/>
            <a:r>
              <a:rPr lang="zh-CN" altLang="en-US" sz="3400" b="1" dirty="0">
                <a:solidFill>
                  <a:schemeClr val="bg1"/>
                </a:solidFill>
                <a:latin typeface="宋体" panose="02010600030101010101" pitchFamily="2" charset="-122"/>
                <a:ea typeface="宋体" panose="02010600030101010101" pitchFamily="2" charset="-122"/>
              </a:rPr>
              <a:t>物理特性</a:t>
            </a:r>
            <a:endParaRPr lang="en-US" altLang="zh-CN" sz="3400" b="1" dirty="0">
              <a:solidFill>
                <a:schemeClr val="bg1"/>
              </a:solidFill>
              <a:latin typeface="宋体" panose="02010600030101010101" pitchFamily="2" charset="-122"/>
              <a:ea typeface="宋体" panose="02010600030101010101" pitchFamily="2" charset="-122"/>
            </a:endParaRPr>
          </a:p>
        </p:txBody>
      </p:sp>
      <mc:AlternateContent xmlns:mc="http://schemas.openxmlformats.org/markup-compatibility/2006" xmlns:a14="http://schemas.microsoft.com/office/drawing/2010/main">
        <mc:Choice Requires="a14">
          <p:sp>
            <p:nvSpPr>
              <p:cNvPr id="6" name="矩形 5"/>
              <p:cNvSpPr/>
              <p:nvPr/>
            </p:nvSpPr>
            <p:spPr>
              <a:xfrm>
                <a:off x="71437" y="3475732"/>
                <a:ext cx="8639175" cy="856068"/>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2200" i="1">
                          <a:latin typeface="Cambria Math" panose="02040503050406030204" pitchFamily="18" charset="0"/>
                        </a:rPr>
                        <m:t>𝐼</m:t>
                      </m:r>
                      <m:r>
                        <a:rPr lang="zh-CN" altLang="en-US" sz="2200" i="0">
                          <a:latin typeface="Cambria Math" panose="02040503050406030204" pitchFamily="18" charset="0"/>
                        </a:rPr>
                        <m:t>=</m:t>
                      </m:r>
                      <m:f>
                        <m:fPr>
                          <m:ctrlPr>
                            <a:rPr lang="zh-CN" altLang="en-US" sz="2200" i="1">
                              <a:latin typeface="Cambria Math" panose="02040503050406030204" pitchFamily="18" charset="0"/>
                            </a:rPr>
                          </m:ctrlPr>
                        </m:fPr>
                        <m:num>
                          <m:r>
                            <a:rPr lang="zh-CN" altLang="en-US" sz="2200" i="0">
                              <a:latin typeface="Cambria Math" panose="02040503050406030204" pitchFamily="18" charset="0"/>
                            </a:rPr>
                            <m:t>1</m:t>
                          </m:r>
                        </m:num>
                        <m:den>
                          <m:r>
                            <a:rPr lang="zh-CN" altLang="en-US" sz="2200" i="1">
                              <a:latin typeface="Cambria Math" panose="02040503050406030204" pitchFamily="18" charset="0"/>
                            </a:rPr>
                            <m:t>𝑇</m:t>
                          </m:r>
                        </m:den>
                      </m:f>
                      <m:nary>
                        <m:naryPr>
                          <m:limLoc m:val="subSup"/>
                          <m:ctrlPr>
                            <a:rPr lang="zh-CN" altLang="en-US" sz="2200" i="1">
                              <a:latin typeface="Cambria Math" panose="02040503050406030204" pitchFamily="18" charset="0"/>
                            </a:rPr>
                          </m:ctrlPr>
                        </m:naryPr>
                        <m:sub>
                          <m:r>
                            <a:rPr lang="zh-CN" altLang="en-US" sz="2200" i="0">
                              <a:latin typeface="Cambria Math" panose="02040503050406030204" pitchFamily="18" charset="0"/>
                            </a:rPr>
                            <m:t>0</m:t>
                          </m:r>
                        </m:sub>
                        <m:sup>
                          <m:r>
                            <a:rPr lang="zh-CN" altLang="en-US" sz="2200" i="1">
                              <a:latin typeface="Cambria Math" panose="02040503050406030204" pitchFamily="18" charset="0"/>
                            </a:rPr>
                            <m:t>𝑇</m:t>
                          </m:r>
                        </m:sup>
                        <m:e>
                          <m:r>
                            <m:rPr>
                              <m:sty m:val="p"/>
                            </m:rPr>
                            <a:rPr lang="zh-CN" altLang="en-US" sz="2200" i="0">
                              <a:latin typeface="Cambria Math" panose="02040503050406030204" pitchFamily="18" charset="0"/>
                            </a:rPr>
                            <m:t>Re</m:t>
                          </m:r>
                          <m:d>
                            <m:dPr>
                              <m:ctrlPr>
                                <a:rPr lang="zh-CN" altLang="en-US" sz="2200" i="1">
                                  <a:latin typeface="Cambria Math" panose="02040503050406030204" pitchFamily="18" charset="0"/>
                                </a:rPr>
                              </m:ctrlPr>
                            </m:dPr>
                            <m:e>
                              <m:r>
                                <a:rPr lang="zh-CN" altLang="en-US" sz="2200" i="1">
                                  <a:latin typeface="Cambria Math" panose="02040503050406030204" pitchFamily="18" charset="0"/>
                                </a:rPr>
                                <m:t>𝑝</m:t>
                              </m:r>
                            </m:e>
                          </m:d>
                          <m:r>
                            <m:rPr>
                              <m:sty m:val="p"/>
                            </m:rPr>
                            <a:rPr lang="zh-CN" altLang="en-US" sz="2200" i="0">
                              <a:latin typeface="Cambria Math" panose="02040503050406030204" pitchFamily="18" charset="0"/>
                            </a:rPr>
                            <m:t>Re</m:t>
                          </m:r>
                          <m:d>
                            <m:dPr>
                              <m:ctrlPr>
                                <a:rPr lang="zh-CN" altLang="en-US" sz="2200" i="1">
                                  <a:latin typeface="Cambria Math" panose="02040503050406030204" pitchFamily="18" charset="0"/>
                                </a:rPr>
                              </m:ctrlPr>
                            </m:dPr>
                            <m:e>
                              <m:r>
                                <a:rPr lang="zh-CN" altLang="en-US" sz="2200" i="1">
                                  <a:latin typeface="Cambria Math" panose="02040503050406030204" pitchFamily="18" charset="0"/>
                                </a:rPr>
                                <m:t>𝑣</m:t>
                              </m:r>
                            </m:e>
                          </m:d>
                          <m:r>
                            <a:rPr lang="zh-CN" altLang="en-US" sz="2200" i="1">
                              <a:latin typeface="Cambria Math" panose="02040503050406030204" pitchFamily="18" charset="0"/>
                            </a:rPr>
                            <m:t>𝑑𝑡</m:t>
                          </m:r>
                          <m:r>
                            <a:rPr lang="zh-CN" altLang="en-US" sz="2200" i="0">
                              <a:latin typeface="Cambria Math" panose="02040503050406030204" pitchFamily="18" charset="0"/>
                            </a:rPr>
                            <m:t>=</m:t>
                          </m:r>
                          <m:f>
                            <m:fPr>
                              <m:ctrlPr>
                                <a:rPr lang="zh-CN" altLang="en-US" sz="2200" i="1">
                                  <a:latin typeface="Cambria Math" panose="02040503050406030204" pitchFamily="18" charset="0"/>
                                </a:rPr>
                              </m:ctrlPr>
                            </m:fPr>
                            <m:num>
                              <m:sSubSup>
                                <m:sSubSupPr>
                                  <m:ctrlPr>
                                    <a:rPr lang="zh-CN" altLang="en-US" sz="2200" i="1">
                                      <a:latin typeface="Cambria Math" panose="02040503050406030204" pitchFamily="18" charset="0"/>
                                    </a:rPr>
                                  </m:ctrlPr>
                                </m:sSubSupPr>
                                <m:e>
                                  <m:r>
                                    <a:rPr lang="zh-CN" altLang="en-US" sz="2200" i="1">
                                      <a:latin typeface="Cambria Math" panose="02040503050406030204" pitchFamily="18" charset="0"/>
                                    </a:rPr>
                                    <m:t>𝑝</m:t>
                                  </m:r>
                                </m:e>
                                <m:sub>
                                  <m:r>
                                    <a:rPr lang="zh-CN" altLang="en-US" sz="2200" i="1">
                                      <a:latin typeface="Cambria Math" panose="02040503050406030204" pitchFamily="18" charset="0"/>
                                    </a:rPr>
                                    <m:t>𝐴</m:t>
                                  </m:r>
                                </m:sub>
                                <m:sup>
                                  <m:r>
                                    <a:rPr lang="zh-CN" altLang="en-US" sz="2200" i="0">
                                      <a:latin typeface="Cambria Math" panose="02040503050406030204" pitchFamily="18" charset="0"/>
                                    </a:rPr>
                                    <m:t>2</m:t>
                                  </m:r>
                                </m:sup>
                              </m:sSubSup>
                            </m:num>
                            <m:den>
                              <m:r>
                                <a:rPr lang="zh-CN" altLang="en-US" sz="2200" i="0">
                                  <a:latin typeface="Cambria Math" panose="02040503050406030204" pitchFamily="18" charset="0"/>
                                </a:rPr>
                                <m:t>2</m:t>
                              </m:r>
                              <m:sSub>
                                <m:sSubPr>
                                  <m:ctrlPr>
                                    <a:rPr lang="zh-CN" altLang="en-US" sz="2200" i="1">
                                      <a:latin typeface="Cambria Math" panose="02040503050406030204" pitchFamily="18" charset="0"/>
                                    </a:rPr>
                                  </m:ctrlPr>
                                </m:sSubPr>
                                <m:e>
                                  <m:r>
                                    <a:rPr lang="zh-CN" altLang="en-US" sz="2200" i="1">
                                      <a:latin typeface="Cambria Math" panose="02040503050406030204" pitchFamily="18" charset="0"/>
                                    </a:rPr>
                                    <m:t>𝜌</m:t>
                                  </m:r>
                                </m:e>
                                <m:sub>
                                  <m:r>
                                    <a:rPr lang="zh-CN" altLang="en-US" sz="2200" i="0">
                                      <a:latin typeface="Cambria Math" panose="02040503050406030204" pitchFamily="18" charset="0"/>
                                    </a:rPr>
                                    <m:t>0</m:t>
                                  </m:r>
                                </m:sub>
                              </m:sSub>
                              <m:sSub>
                                <m:sSubPr>
                                  <m:ctrlPr>
                                    <a:rPr lang="zh-CN" altLang="en-US" sz="2200" i="1">
                                      <a:latin typeface="Cambria Math" panose="02040503050406030204" pitchFamily="18" charset="0"/>
                                    </a:rPr>
                                  </m:ctrlPr>
                                </m:sSubPr>
                                <m:e>
                                  <m:r>
                                    <a:rPr lang="zh-CN" altLang="en-US" sz="2200" i="1">
                                      <a:latin typeface="Cambria Math" panose="02040503050406030204" pitchFamily="18" charset="0"/>
                                    </a:rPr>
                                    <m:t>𝑐</m:t>
                                  </m:r>
                                </m:e>
                                <m:sub>
                                  <m:r>
                                    <a:rPr lang="zh-CN" altLang="en-US" sz="2200" i="0">
                                      <a:latin typeface="Cambria Math" panose="02040503050406030204" pitchFamily="18" charset="0"/>
                                    </a:rPr>
                                    <m:t>0</m:t>
                                  </m:r>
                                </m:sub>
                              </m:sSub>
                            </m:den>
                          </m:f>
                          <m:r>
                            <a:rPr lang="zh-CN" altLang="en-US" sz="2200" i="0">
                              <a:latin typeface="Cambria Math" panose="02040503050406030204" pitchFamily="18" charset="0"/>
                            </a:rPr>
                            <m:t>=</m:t>
                          </m:r>
                        </m:e>
                      </m:nary>
                      <m:f>
                        <m:fPr>
                          <m:ctrlPr>
                            <a:rPr lang="zh-CN" altLang="en-US" sz="2200" i="1">
                              <a:latin typeface="Cambria Math" panose="02040503050406030204" pitchFamily="18" charset="0"/>
                            </a:rPr>
                          </m:ctrlPr>
                        </m:fPr>
                        <m:num>
                          <m:r>
                            <a:rPr lang="zh-CN" altLang="en-US" sz="2200" i="0">
                              <a:latin typeface="Cambria Math" panose="02040503050406030204" pitchFamily="18" charset="0"/>
                            </a:rPr>
                            <m:t>1</m:t>
                          </m:r>
                        </m:num>
                        <m:den>
                          <m:r>
                            <a:rPr lang="zh-CN" altLang="en-US" sz="2200" i="0">
                              <a:latin typeface="Cambria Math" panose="02040503050406030204" pitchFamily="18" charset="0"/>
                            </a:rPr>
                            <m:t>2</m:t>
                          </m:r>
                        </m:den>
                      </m:f>
                      <m:sSub>
                        <m:sSubPr>
                          <m:ctrlPr>
                            <a:rPr lang="zh-CN" altLang="en-US" sz="2200" i="1">
                              <a:latin typeface="Cambria Math" panose="02040503050406030204" pitchFamily="18" charset="0"/>
                            </a:rPr>
                          </m:ctrlPr>
                        </m:sSubPr>
                        <m:e>
                          <m:r>
                            <a:rPr lang="zh-CN" altLang="en-US" sz="2200" i="1">
                              <a:latin typeface="Cambria Math" panose="02040503050406030204" pitchFamily="18" charset="0"/>
                            </a:rPr>
                            <m:t>𝜌</m:t>
                          </m:r>
                        </m:e>
                        <m:sub>
                          <m:r>
                            <a:rPr lang="zh-CN" altLang="en-US" sz="2200" i="0">
                              <a:latin typeface="Cambria Math" panose="02040503050406030204" pitchFamily="18" charset="0"/>
                            </a:rPr>
                            <m:t>0</m:t>
                          </m:r>
                        </m:sub>
                      </m:sSub>
                      <m:sSub>
                        <m:sSubPr>
                          <m:ctrlPr>
                            <a:rPr lang="zh-CN" altLang="en-US" sz="2200" i="1">
                              <a:latin typeface="Cambria Math" panose="02040503050406030204" pitchFamily="18" charset="0"/>
                            </a:rPr>
                          </m:ctrlPr>
                        </m:sSubPr>
                        <m:e>
                          <m:r>
                            <a:rPr lang="zh-CN" altLang="en-US" sz="2200" i="1">
                              <a:latin typeface="Cambria Math" panose="02040503050406030204" pitchFamily="18" charset="0"/>
                            </a:rPr>
                            <m:t>𝑐</m:t>
                          </m:r>
                        </m:e>
                        <m:sub>
                          <m:r>
                            <a:rPr lang="zh-CN" altLang="en-US" sz="2200" i="0">
                              <a:latin typeface="Cambria Math" panose="02040503050406030204" pitchFamily="18" charset="0"/>
                            </a:rPr>
                            <m:t>0</m:t>
                          </m:r>
                        </m:sub>
                      </m:sSub>
                      <m:sSubSup>
                        <m:sSubSupPr>
                          <m:ctrlPr>
                            <a:rPr lang="zh-CN" altLang="en-US" sz="2200" i="1">
                              <a:latin typeface="Cambria Math" panose="02040503050406030204" pitchFamily="18" charset="0"/>
                            </a:rPr>
                          </m:ctrlPr>
                        </m:sSubSupPr>
                        <m:e>
                          <m:r>
                            <a:rPr lang="zh-CN" altLang="en-US" sz="2200" i="1">
                              <a:latin typeface="Cambria Math" panose="02040503050406030204" pitchFamily="18" charset="0"/>
                            </a:rPr>
                            <m:t>𝑣</m:t>
                          </m:r>
                        </m:e>
                        <m:sub>
                          <m:r>
                            <a:rPr lang="zh-CN" altLang="en-US" sz="2200" i="1">
                              <a:latin typeface="Cambria Math" panose="02040503050406030204" pitchFamily="18" charset="0"/>
                            </a:rPr>
                            <m:t>𝐴</m:t>
                          </m:r>
                        </m:sub>
                        <m:sup>
                          <m:r>
                            <a:rPr lang="zh-CN" altLang="en-US" sz="2200" i="0">
                              <a:latin typeface="Cambria Math" panose="02040503050406030204" pitchFamily="18" charset="0"/>
                            </a:rPr>
                            <m:t>2</m:t>
                          </m:r>
                        </m:sup>
                      </m:sSubSup>
                      <m:r>
                        <a:rPr lang="zh-CN" altLang="en-US" sz="2200" i="0">
                          <a:latin typeface="Cambria Math" panose="02040503050406030204" pitchFamily="18" charset="0"/>
                        </a:rPr>
                        <m:t>=</m:t>
                      </m:r>
                      <m:sSub>
                        <m:sSubPr>
                          <m:ctrlPr>
                            <a:rPr lang="zh-CN" altLang="en-US" sz="2200" i="1">
                              <a:latin typeface="Cambria Math" panose="02040503050406030204" pitchFamily="18" charset="0"/>
                            </a:rPr>
                          </m:ctrlPr>
                        </m:sSubPr>
                        <m:e>
                          <m:r>
                            <a:rPr lang="zh-CN" altLang="en-US" sz="2200" i="1">
                              <a:latin typeface="Cambria Math" panose="02040503050406030204" pitchFamily="18" charset="0"/>
                            </a:rPr>
                            <m:t>𝜌</m:t>
                          </m:r>
                        </m:e>
                        <m:sub>
                          <m:r>
                            <a:rPr lang="zh-CN" altLang="en-US" sz="2200" i="0">
                              <a:latin typeface="Cambria Math" panose="02040503050406030204" pitchFamily="18" charset="0"/>
                            </a:rPr>
                            <m:t>0</m:t>
                          </m:r>
                        </m:sub>
                      </m:sSub>
                      <m:sSub>
                        <m:sSubPr>
                          <m:ctrlPr>
                            <a:rPr lang="zh-CN" altLang="en-US" sz="2200" i="1">
                              <a:latin typeface="Cambria Math" panose="02040503050406030204" pitchFamily="18" charset="0"/>
                            </a:rPr>
                          </m:ctrlPr>
                        </m:sSubPr>
                        <m:e>
                          <m:r>
                            <a:rPr lang="zh-CN" altLang="en-US" sz="2200" i="1">
                              <a:latin typeface="Cambria Math" panose="02040503050406030204" pitchFamily="18" charset="0"/>
                            </a:rPr>
                            <m:t>𝑐</m:t>
                          </m:r>
                        </m:e>
                        <m:sub>
                          <m:r>
                            <a:rPr lang="zh-CN" altLang="en-US" sz="2200" i="0">
                              <a:latin typeface="Cambria Math" panose="02040503050406030204" pitchFamily="18" charset="0"/>
                            </a:rPr>
                            <m:t>0</m:t>
                          </m:r>
                        </m:sub>
                      </m:sSub>
                      <m:sSubSup>
                        <m:sSubSupPr>
                          <m:ctrlPr>
                            <a:rPr lang="zh-CN" altLang="en-US" sz="2200" i="1">
                              <a:latin typeface="Cambria Math" panose="02040503050406030204" pitchFamily="18" charset="0"/>
                            </a:rPr>
                          </m:ctrlPr>
                        </m:sSubSupPr>
                        <m:e>
                          <m:r>
                            <a:rPr lang="zh-CN" altLang="en-US" sz="2200" i="1">
                              <a:latin typeface="Cambria Math" panose="02040503050406030204" pitchFamily="18" charset="0"/>
                            </a:rPr>
                            <m:t>𝑣</m:t>
                          </m:r>
                        </m:e>
                        <m:sub>
                          <m:r>
                            <m:rPr>
                              <m:sty m:val="p"/>
                            </m:rPr>
                            <a:rPr lang="zh-CN" altLang="en-US" sz="2200" i="0">
                              <a:latin typeface="Cambria Math" panose="02040503050406030204" pitchFamily="18" charset="0"/>
                            </a:rPr>
                            <m:t>e</m:t>
                          </m:r>
                        </m:sub>
                        <m:sup>
                          <m:r>
                            <a:rPr lang="zh-CN" altLang="en-US" sz="2200" i="0">
                              <a:latin typeface="Cambria Math" panose="02040503050406030204" pitchFamily="18" charset="0"/>
                            </a:rPr>
                            <m:t>2</m:t>
                          </m:r>
                        </m:sup>
                      </m:sSubSup>
                      <m:r>
                        <a:rPr lang="zh-CN" altLang="en-US" sz="2200" i="0">
                          <a:latin typeface="Cambria Math" panose="02040503050406030204" pitchFamily="18" charset="0"/>
                        </a:rPr>
                        <m:t>=</m:t>
                      </m:r>
                      <m:sSub>
                        <m:sSubPr>
                          <m:ctrlPr>
                            <a:rPr lang="zh-CN" altLang="en-US" sz="2200" i="1">
                              <a:latin typeface="Cambria Math" panose="02040503050406030204" pitchFamily="18" charset="0"/>
                            </a:rPr>
                          </m:ctrlPr>
                        </m:sSubPr>
                        <m:e>
                          <m:r>
                            <a:rPr lang="zh-CN" altLang="en-US" sz="2200" i="1">
                              <a:latin typeface="Cambria Math" panose="02040503050406030204" pitchFamily="18" charset="0"/>
                            </a:rPr>
                            <m:t>𝑝</m:t>
                          </m:r>
                        </m:e>
                        <m:sub>
                          <m:r>
                            <m:rPr>
                              <m:sty m:val="p"/>
                            </m:rPr>
                            <a:rPr lang="zh-CN" altLang="en-US" sz="2200" i="0">
                              <a:latin typeface="Cambria Math" panose="02040503050406030204" pitchFamily="18" charset="0"/>
                            </a:rPr>
                            <m:t>e</m:t>
                          </m:r>
                        </m:sub>
                      </m:sSub>
                      <m:sSub>
                        <m:sSubPr>
                          <m:ctrlPr>
                            <a:rPr lang="zh-CN" altLang="en-US" sz="2200" i="1">
                              <a:latin typeface="Cambria Math" panose="02040503050406030204" pitchFamily="18" charset="0"/>
                            </a:rPr>
                          </m:ctrlPr>
                        </m:sSubPr>
                        <m:e>
                          <m:r>
                            <a:rPr lang="zh-CN" altLang="en-US" sz="2200" i="1">
                              <a:latin typeface="Cambria Math" panose="02040503050406030204" pitchFamily="18" charset="0"/>
                            </a:rPr>
                            <m:t>𝑣</m:t>
                          </m:r>
                        </m:e>
                        <m:sub>
                          <m:r>
                            <m:rPr>
                              <m:sty m:val="p"/>
                            </m:rPr>
                            <a:rPr lang="zh-CN" altLang="en-US" sz="2200" i="0">
                              <a:latin typeface="Cambria Math" panose="02040503050406030204" pitchFamily="18" charset="0"/>
                            </a:rPr>
                            <m:t>e</m:t>
                          </m:r>
                        </m:sub>
                      </m:sSub>
                    </m:oMath>
                  </m:oMathPara>
                </a14:m>
                <a:endParaRPr lang="zh-CN" altLang="en-US" sz="2200" dirty="0"/>
              </a:p>
            </p:txBody>
          </p:sp>
        </mc:Choice>
        <mc:Fallback xmlns="">
          <p:sp>
            <p:nvSpPr>
              <p:cNvPr id="6" name="矩形 5"/>
              <p:cNvSpPr>
                <a:spLocks noRot="1" noChangeAspect="1" noMove="1" noResize="1" noEditPoints="1" noAdjustHandles="1" noChangeArrowheads="1" noChangeShapeType="1" noTextEdit="1"/>
              </p:cNvSpPr>
              <p:nvPr/>
            </p:nvSpPr>
            <p:spPr>
              <a:xfrm>
                <a:off x="71437" y="3475732"/>
                <a:ext cx="8639175" cy="856068"/>
              </a:xfrm>
              <a:prstGeom prst="rect">
                <a:avLst/>
              </a:prstGeom>
              <a:blipFill>
                <a:blip r:embed="rId5"/>
                <a:stretch>
                  <a:fillRect/>
                </a:stretch>
              </a:blipFill>
            </p:spPr>
            <p:txBody>
              <a:bodyPr/>
              <a:lstStyle/>
              <a:p>
                <a:r>
                  <a:rPr lang="en-001">
                    <a:noFill/>
                  </a:rPr>
                  <a:t> </a:t>
                </a:r>
              </a:p>
            </p:txBody>
          </p:sp>
        </mc:Fallback>
      </mc:AlternateContent>
      <p:sp>
        <p:nvSpPr>
          <p:cNvPr id="2" name="Slide Number Placeholder 1">
            <a:extLst>
              <a:ext uri="{FF2B5EF4-FFF2-40B4-BE49-F238E27FC236}">
                <a16:creationId xmlns:a16="http://schemas.microsoft.com/office/drawing/2014/main" id="{22D26691-BB49-4258-A0CF-0A98D94E6141}"/>
              </a:ext>
            </a:extLst>
          </p:cNvPr>
          <p:cNvSpPr>
            <a:spLocks noGrp="1"/>
          </p:cNvSpPr>
          <p:nvPr>
            <p:ph type="sldNum" sz="quarter" idx="12"/>
          </p:nvPr>
        </p:nvSpPr>
        <p:spPr/>
        <p:txBody>
          <a:bodyPr/>
          <a:lstStyle/>
          <a:p>
            <a:fld id="{B53602B4-F12B-41CD-B648-531F86B2CC91}" type="slidenum">
              <a:rPr lang="zh-CN" altLang="en-US" smtClean="0"/>
              <a:t>10</a:t>
            </a:fld>
            <a:endParaRPr lang="zh-CN" altLang="en-US"/>
          </a:p>
        </p:txBody>
      </p:sp>
      <mc:AlternateContent xmlns:mc="http://schemas.openxmlformats.org/markup-compatibility/2006" xmlns:a14="http://schemas.microsoft.com/office/drawing/2010/main">
        <mc:Choice Requires="a14">
          <p:sp>
            <p:nvSpPr>
              <p:cNvPr id="23" name="文本框 4">
                <a:extLst>
                  <a:ext uri="{FF2B5EF4-FFF2-40B4-BE49-F238E27FC236}">
                    <a16:creationId xmlns:a16="http://schemas.microsoft.com/office/drawing/2014/main" id="{8A76E954-E103-40A2-ABD0-58358CE8003A}"/>
                  </a:ext>
                </a:extLst>
              </p:cNvPr>
              <p:cNvSpPr txBox="1"/>
              <p:nvPr/>
            </p:nvSpPr>
            <p:spPr>
              <a:xfrm>
                <a:off x="4860987" y="4206719"/>
                <a:ext cx="4283013" cy="1710464"/>
              </a:xfrm>
              <a:prstGeom prst="rect">
                <a:avLst/>
              </a:prstGeom>
              <a:noFill/>
            </p:spPr>
            <p:txBody>
              <a:bodyPr wrap="square" lIns="91436" tIns="45718" rIns="91436" bIns="45718" rtlCol="0">
                <a:spAutoFit/>
              </a:bodyPr>
              <a:lstStyle/>
              <a:p>
                <a:pPr>
                  <a:spcBef>
                    <a:spcPts val="600"/>
                  </a:spcBef>
                </a:pPr>
                <a:r>
                  <a:rPr lang="zh-CN" altLang="en-US" sz="22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200" i="1" dirty="0">
                    <a:latin typeface="Times New Roman" panose="02020603050405020304" pitchFamily="18" charset="0"/>
                    <a:ea typeface="宋体" panose="02010600030101010101" pitchFamily="2" charset="-122"/>
                    <a:cs typeface="Times New Roman" panose="02020603050405020304" pitchFamily="18" charset="0"/>
                  </a:rPr>
                  <a:t>p</a:t>
                </a:r>
                <a:r>
                  <a:rPr lang="en-US" altLang="zh-CN" sz="2200" baseline="-25000" dirty="0">
                    <a:latin typeface="Times New Roman" panose="02020603050405020304" pitchFamily="18" charset="0"/>
                    <a:ea typeface="宋体" panose="02010600030101010101" pitchFamily="2" charset="-122"/>
                    <a:cs typeface="Times New Roman" panose="02020603050405020304" pitchFamily="18" charset="0"/>
                  </a:rPr>
                  <a:t>e</a:t>
                </a:r>
                <a:r>
                  <a:rPr lang="en-US" altLang="zh-CN" sz="2200" b="1" dirty="0">
                    <a:latin typeface="Times New Roman" panose="02020603050405020304" pitchFamily="18" charset="0"/>
                    <a:ea typeface="宋体" panose="02010600030101010101" pitchFamily="2" charset="-122"/>
                    <a:cs typeface="Times New Roman" panose="02020603050405020304" pitchFamily="18" charset="0"/>
                  </a:rPr>
                  <a:t> ━ </a:t>
                </a:r>
                <a:r>
                  <a:rPr lang="zh-CN" altLang="en-US" sz="2200" b="1" dirty="0">
                    <a:latin typeface="Times New Roman" panose="02020603050405020304" pitchFamily="18" charset="0"/>
                    <a:ea typeface="宋体" panose="02010600030101010101" pitchFamily="2" charset="-122"/>
                    <a:cs typeface="Times New Roman" panose="02020603050405020304" pitchFamily="18" charset="0"/>
                  </a:rPr>
                  <a:t>有效声压，</a:t>
                </a:r>
                <a14:m>
                  <m:oMath xmlns:m="http://schemas.openxmlformats.org/officeDocument/2006/math">
                    <m:sSub>
                      <m:sSubPr>
                        <m:ctrlPr>
                          <a:rPr lang="zh-CN" altLang="zh-CN" sz="2200" i="1">
                            <a:latin typeface="Cambria Math" panose="02040503050406030204" pitchFamily="18" charset="0"/>
                          </a:rPr>
                        </m:ctrlPr>
                      </m:sSubPr>
                      <m:e>
                        <m:r>
                          <a:rPr lang="en-US" altLang="zh-CN" sz="2200" i="1">
                            <a:latin typeface="Cambria Math" panose="02040503050406030204" pitchFamily="18" charset="0"/>
                          </a:rPr>
                          <m:t>𝑝</m:t>
                        </m:r>
                      </m:e>
                      <m:sub>
                        <m:r>
                          <m:rPr>
                            <m:sty m:val="p"/>
                          </m:rPr>
                          <a:rPr lang="en-US" altLang="zh-CN" sz="2200">
                            <a:latin typeface="Cambria Math" panose="02040503050406030204" pitchFamily="18" charset="0"/>
                          </a:rPr>
                          <m:t>e</m:t>
                        </m:r>
                      </m:sub>
                    </m:sSub>
                    <m:r>
                      <a:rPr lang="en-US" altLang="zh-CN" sz="2200" i="1">
                        <a:latin typeface="Cambria Math" panose="02040503050406030204" pitchFamily="18" charset="0"/>
                      </a:rPr>
                      <m:t>=</m:t>
                    </m:r>
                    <m:f>
                      <m:fPr>
                        <m:type m:val="lin"/>
                        <m:ctrlPr>
                          <a:rPr lang="zh-CN" altLang="zh-CN" sz="2200" i="1">
                            <a:latin typeface="Cambria Math" panose="02040503050406030204" pitchFamily="18" charset="0"/>
                          </a:rPr>
                        </m:ctrlPr>
                      </m:fPr>
                      <m:num>
                        <m:sSub>
                          <m:sSubPr>
                            <m:ctrlPr>
                              <a:rPr lang="zh-CN" altLang="zh-CN" sz="2200" i="1">
                                <a:latin typeface="Cambria Math" panose="02040503050406030204" pitchFamily="18" charset="0"/>
                              </a:rPr>
                            </m:ctrlPr>
                          </m:sSubPr>
                          <m:e>
                            <m:r>
                              <a:rPr lang="en-US" altLang="zh-CN" sz="2200" i="1">
                                <a:latin typeface="Cambria Math" panose="02040503050406030204" pitchFamily="18" charset="0"/>
                              </a:rPr>
                              <m:t>𝑝</m:t>
                            </m:r>
                          </m:e>
                          <m:sub>
                            <m:r>
                              <a:rPr lang="en-US" altLang="zh-CN" sz="2200" i="1">
                                <a:latin typeface="Cambria Math" panose="02040503050406030204" pitchFamily="18" charset="0"/>
                              </a:rPr>
                              <m:t>𝐴</m:t>
                            </m:r>
                          </m:sub>
                        </m:sSub>
                      </m:num>
                      <m:den>
                        <m:rad>
                          <m:radPr>
                            <m:degHide m:val="on"/>
                            <m:ctrlPr>
                              <a:rPr lang="zh-CN" altLang="zh-CN" sz="2200" i="1">
                                <a:latin typeface="Cambria Math" panose="02040503050406030204" pitchFamily="18" charset="0"/>
                              </a:rPr>
                            </m:ctrlPr>
                          </m:radPr>
                          <m:deg/>
                          <m:e>
                            <m:r>
                              <a:rPr lang="en-US" altLang="zh-CN" sz="2200" i="1">
                                <a:latin typeface="Cambria Math" panose="02040503050406030204" pitchFamily="18" charset="0"/>
                              </a:rPr>
                              <m:t>2</m:t>
                            </m:r>
                          </m:e>
                        </m:rad>
                      </m:den>
                    </m:f>
                  </m:oMath>
                </a14:m>
                <a:endParaRPr lang="zh-CN" altLang="en-US" sz="2200" b="1" dirty="0">
                  <a:latin typeface="Times New Roman" panose="02020603050405020304" pitchFamily="18" charset="0"/>
                  <a:ea typeface="宋体" panose="02010600030101010101" pitchFamily="2" charset="-122"/>
                  <a:cs typeface="Times New Roman" panose="02020603050405020304" pitchFamily="18" charset="0"/>
                </a:endParaRPr>
              </a:p>
              <a:p>
                <a:pPr>
                  <a:spcBef>
                    <a:spcPts val="600"/>
                  </a:spcBef>
                </a:pPr>
                <a:r>
                  <a:rPr lang="zh-CN" altLang="en-US" sz="22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200" i="1" dirty="0" err="1">
                    <a:latin typeface="Times New Roman" panose="02020603050405020304" pitchFamily="18" charset="0"/>
                    <a:ea typeface="宋体" panose="02010600030101010101" pitchFamily="2" charset="-122"/>
                    <a:cs typeface="Times New Roman" panose="02020603050405020304" pitchFamily="18" charset="0"/>
                  </a:rPr>
                  <a:t>p</a:t>
                </a:r>
                <a:r>
                  <a:rPr lang="en-US" altLang="zh-CN" sz="2200" i="1" baseline="-25000" dirty="0" err="1">
                    <a:latin typeface="Times New Roman" panose="02020603050405020304" pitchFamily="18" charset="0"/>
                    <a:ea typeface="宋体" panose="02010600030101010101" pitchFamily="2" charset="-122"/>
                    <a:cs typeface="Times New Roman" panose="02020603050405020304" pitchFamily="18" charset="0"/>
                  </a:rPr>
                  <a:t>A</a:t>
                </a:r>
                <a:r>
                  <a:rPr lang="en-US" altLang="zh-CN" sz="2200" b="1" i="1" baseline="-250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200" b="1"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2200" b="1" dirty="0">
                    <a:latin typeface="Times New Roman" panose="02020603050405020304" pitchFamily="18" charset="0"/>
                    <a:ea typeface="宋体" panose="02010600030101010101" pitchFamily="2" charset="-122"/>
                    <a:cs typeface="Times New Roman" panose="02020603050405020304" pitchFamily="18" charset="0"/>
                  </a:rPr>
                  <a:t>声压的幅值；</a:t>
                </a:r>
              </a:p>
              <a:p>
                <a:pPr>
                  <a:spcBef>
                    <a:spcPts val="600"/>
                  </a:spcBef>
                </a:pPr>
                <a:r>
                  <a:rPr lang="zh-CN" altLang="en-US" sz="2200" b="1" dirty="0">
                    <a:latin typeface="Times New Roman" panose="02020603050405020304" pitchFamily="18" charset="0"/>
                    <a:ea typeface="宋体" panose="02010600030101010101" pitchFamily="2" charset="-122"/>
                    <a:cs typeface="Times New Roman" panose="02020603050405020304" pitchFamily="18" charset="0"/>
                  </a:rPr>
                  <a:t>    </a:t>
                </a:r>
                <a:r>
                  <a:rPr lang="el-GR" altLang="zh-CN" sz="2200" i="1" dirty="0">
                    <a:latin typeface="Times New Roman" panose="02020603050405020304" pitchFamily="18" charset="0"/>
                    <a:ea typeface="宋体" panose="02010600030101010101" pitchFamily="2" charset="-122"/>
                    <a:cs typeface="Times New Roman" panose="02020603050405020304" pitchFamily="18" charset="0"/>
                  </a:rPr>
                  <a:t>ρ</a:t>
                </a:r>
                <a:r>
                  <a:rPr lang="en-US" altLang="zh-CN" sz="2200" baseline="-25000" dirty="0">
                    <a:latin typeface="Times New Roman" panose="02020603050405020304" pitchFamily="18" charset="0"/>
                    <a:ea typeface="宋体" panose="02010600030101010101" pitchFamily="2" charset="-122"/>
                    <a:cs typeface="Times New Roman" panose="02020603050405020304" pitchFamily="18" charset="0"/>
                  </a:rPr>
                  <a:t>0</a:t>
                </a:r>
                <a:r>
                  <a:rPr lang="en-US" altLang="zh-CN" sz="2200" b="1" dirty="0">
                    <a:latin typeface="Times New Roman" panose="02020603050405020304" pitchFamily="18" charset="0"/>
                    <a:ea typeface="宋体" panose="02010600030101010101" pitchFamily="2" charset="-122"/>
                    <a:cs typeface="Times New Roman" panose="02020603050405020304" pitchFamily="18" charset="0"/>
                  </a:rPr>
                  <a:t> ━ </a:t>
                </a:r>
                <a:r>
                  <a:rPr lang="zh-CN" altLang="en-US" sz="2200" b="1" dirty="0">
                    <a:latin typeface="Times New Roman" panose="02020603050405020304" pitchFamily="18" charset="0"/>
                    <a:ea typeface="宋体" panose="02010600030101010101" pitchFamily="2" charset="-122"/>
                    <a:cs typeface="Times New Roman" panose="02020603050405020304" pitchFamily="18" charset="0"/>
                  </a:rPr>
                  <a:t>空气的密度；</a:t>
                </a:r>
              </a:p>
              <a:p>
                <a:pPr>
                  <a:spcBef>
                    <a:spcPts val="600"/>
                  </a:spcBef>
                </a:pPr>
                <a:r>
                  <a:rPr lang="zh-CN" altLang="en-US" sz="22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200" i="1" dirty="0">
                    <a:latin typeface="Times New Roman" panose="02020603050405020304" pitchFamily="18" charset="0"/>
                    <a:ea typeface="宋体" panose="02010600030101010101" pitchFamily="2" charset="-122"/>
                    <a:cs typeface="Times New Roman" panose="02020603050405020304" pitchFamily="18" charset="0"/>
                  </a:rPr>
                  <a:t>c</a:t>
                </a:r>
                <a:r>
                  <a:rPr lang="en-US" altLang="zh-CN" sz="2200" baseline="-25000" dirty="0">
                    <a:latin typeface="Times New Roman" panose="02020603050405020304" pitchFamily="18" charset="0"/>
                    <a:ea typeface="宋体" panose="02010600030101010101" pitchFamily="2" charset="-122"/>
                    <a:cs typeface="Times New Roman" panose="02020603050405020304" pitchFamily="18" charset="0"/>
                  </a:rPr>
                  <a:t>0</a:t>
                </a:r>
                <a:r>
                  <a:rPr lang="en-US" altLang="zh-CN" sz="2200" b="1" dirty="0">
                    <a:latin typeface="Times New Roman" panose="02020603050405020304" pitchFamily="18" charset="0"/>
                    <a:ea typeface="宋体" panose="02010600030101010101" pitchFamily="2" charset="-122"/>
                    <a:cs typeface="Times New Roman" panose="02020603050405020304" pitchFamily="18" charset="0"/>
                  </a:rPr>
                  <a:t> ━ </a:t>
                </a:r>
                <a:r>
                  <a:rPr lang="zh-CN" altLang="en-US" sz="2200" b="1" dirty="0">
                    <a:latin typeface="Times New Roman" panose="02020603050405020304" pitchFamily="18" charset="0"/>
                    <a:ea typeface="宋体" panose="02010600030101010101" pitchFamily="2" charset="-122"/>
                    <a:cs typeface="Times New Roman" panose="02020603050405020304" pitchFamily="18" charset="0"/>
                  </a:rPr>
                  <a:t>声波在空气中的波速。</a:t>
                </a:r>
              </a:p>
            </p:txBody>
          </p:sp>
        </mc:Choice>
        <mc:Fallback xmlns="">
          <p:sp>
            <p:nvSpPr>
              <p:cNvPr id="23" name="文本框 4">
                <a:extLst>
                  <a:ext uri="{FF2B5EF4-FFF2-40B4-BE49-F238E27FC236}">
                    <a16:creationId xmlns:a16="http://schemas.microsoft.com/office/drawing/2014/main" id="{8A76E954-E103-40A2-ABD0-58358CE8003A}"/>
                  </a:ext>
                </a:extLst>
              </p:cNvPr>
              <p:cNvSpPr txBox="1">
                <a:spLocks noRot="1" noChangeAspect="1" noMove="1" noResize="1" noEditPoints="1" noAdjustHandles="1" noChangeArrowheads="1" noChangeShapeType="1" noTextEdit="1"/>
              </p:cNvSpPr>
              <p:nvPr/>
            </p:nvSpPr>
            <p:spPr>
              <a:xfrm>
                <a:off x="4860987" y="4206719"/>
                <a:ext cx="4283013" cy="1710464"/>
              </a:xfrm>
              <a:prstGeom prst="rect">
                <a:avLst/>
              </a:prstGeom>
              <a:blipFill>
                <a:blip r:embed="rId6"/>
                <a:stretch>
                  <a:fillRect t="-28114" r="-2703" b="-6762"/>
                </a:stretch>
              </a:blipFill>
            </p:spPr>
            <p:txBody>
              <a:bodyPr/>
              <a:lstStyle/>
              <a:p>
                <a:r>
                  <a:rPr lang="en-001">
                    <a:noFill/>
                  </a:rPr>
                  <a:t> </a:t>
                </a:r>
              </a:p>
            </p:txBody>
          </p:sp>
        </mc:Fallback>
      </mc:AlternateContent>
    </p:spTree>
    <p:extLst>
      <p:ext uri="{BB962C8B-B14F-4D97-AF65-F5344CB8AC3E}">
        <p14:creationId xmlns:p14="http://schemas.microsoft.com/office/powerpoint/2010/main" val="2591693014"/>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7" end="7"/>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2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49142242-5E57-4D15-A0DD-17CB598A023D}"/>
              </a:ext>
            </a:extLst>
          </p:cNvPr>
          <p:cNvSpPr txBox="1"/>
          <p:nvPr/>
        </p:nvSpPr>
        <p:spPr>
          <a:xfrm>
            <a:off x="845017" y="1083178"/>
            <a:ext cx="7670333" cy="4063288"/>
          </a:xfrm>
          <a:prstGeom prst="rect">
            <a:avLst/>
          </a:prstGeom>
          <a:noFill/>
        </p:spPr>
        <p:txBody>
          <a:bodyPr wrap="square" lIns="91436" tIns="45718" rIns="91436" bIns="45718" rtlCol="0">
            <a:spAutoFit/>
          </a:bodyPr>
          <a:lstStyle/>
          <a:p>
            <a:pPr>
              <a:lnSpc>
                <a:spcPct val="150000"/>
              </a:lnSpc>
              <a:spcBef>
                <a:spcPts val="672"/>
              </a:spcBef>
            </a:pPr>
            <a:r>
              <a:rPr lang="zh-CN" altLang="en-US" sz="2400" b="1" dirty="0">
                <a:solidFill>
                  <a:srgbClr val="FF0000"/>
                </a:solidFill>
                <a:latin typeface="宋体" panose="02010600030101010101" pitchFamily="2" charset="-122"/>
                <a:ea typeface="宋体" panose="02010600030101010101" pitchFamily="2" charset="-122"/>
                <a:cs typeface="Arial" panose="020B0604020202020204" pitchFamily="34" charset="0"/>
              </a:rPr>
              <a:t>声压级</a:t>
            </a:r>
            <a:r>
              <a:rPr lang="zh-CN" altLang="en-US" sz="2400" b="1" dirty="0">
                <a:latin typeface="宋体" panose="02010600030101010101" pitchFamily="2" charset="-122"/>
                <a:ea typeface="宋体" panose="02010600030101010101" pitchFamily="2" charset="-122"/>
                <a:cs typeface="Arial" panose="020B0604020202020204" pitchFamily="34" charset="0"/>
              </a:rPr>
              <a:t>（</a:t>
            </a:r>
            <a:r>
              <a:rPr lang="en-US" altLang="zh-CN" sz="2400" b="1">
                <a:latin typeface="宋体" panose="02010600030101010101" pitchFamily="2" charset="-122"/>
                <a:ea typeface="宋体" panose="02010600030101010101" pitchFamily="2" charset="-122"/>
                <a:cs typeface="Arial" panose="020B0604020202020204" pitchFamily="34" charset="0"/>
              </a:rPr>
              <a:t>SPL</a:t>
            </a:r>
            <a:r>
              <a:rPr lang="zh-CN" altLang="en-US" sz="2400" b="1">
                <a:latin typeface="宋体" panose="02010600030101010101" pitchFamily="2" charset="-122"/>
                <a:ea typeface="宋体" panose="02010600030101010101" pitchFamily="2" charset="-122"/>
                <a:cs typeface="Arial" panose="020B0604020202020204" pitchFamily="34" charset="0"/>
              </a:rPr>
              <a:t>）：待</a:t>
            </a:r>
            <a:r>
              <a:rPr lang="zh-CN" altLang="en-US" sz="2400" b="1" dirty="0">
                <a:latin typeface="宋体" panose="02010600030101010101" pitchFamily="2" charset="-122"/>
                <a:ea typeface="宋体" panose="02010600030101010101" pitchFamily="2" charset="-122"/>
                <a:cs typeface="Arial" panose="020B0604020202020204" pitchFamily="34" charset="0"/>
              </a:rPr>
              <a:t>测有效声压与参考声压比值的常用对数的</a:t>
            </a:r>
            <a:r>
              <a:rPr lang="en-US" altLang="zh-CN" sz="2400" b="1" dirty="0">
                <a:latin typeface="宋体" panose="02010600030101010101" pitchFamily="2" charset="-122"/>
                <a:ea typeface="宋体" panose="02010600030101010101" pitchFamily="2" charset="-122"/>
                <a:cs typeface="Arial" panose="020B0604020202020204" pitchFamily="34" charset="0"/>
              </a:rPr>
              <a:t>20</a:t>
            </a:r>
            <a:r>
              <a:rPr lang="zh-CN" altLang="en-US" sz="2400" b="1" dirty="0">
                <a:latin typeface="宋体" panose="02010600030101010101" pitchFamily="2" charset="-122"/>
                <a:ea typeface="宋体" panose="02010600030101010101" pitchFamily="2" charset="-122"/>
                <a:cs typeface="Arial" panose="020B0604020202020204" pitchFamily="34" charset="0"/>
              </a:rPr>
              <a:t>倍，即</a:t>
            </a:r>
            <a:endParaRPr lang="en-US" altLang="zh-CN" sz="2400" b="1" dirty="0">
              <a:latin typeface="宋体" panose="02010600030101010101" pitchFamily="2" charset="-122"/>
              <a:ea typeface="宋体" panose="02010600030101010101" pitchFamily="2" charset="-122"/>
              <a:cs typeface="Arial" panose="020B0604020202020204" pitchFamily="34" charset="0"/>
            </a:endParaRPr>
          </a:p>
          <a:p>
            <a:pPr>
              <a:lnSpc>
                <a:spcPct val="150000"/>
              </a:lnSpc>
              <a:spcBef>
                <a:spcPts val="672"/>
              </a:spcBef>
            </a:pPr>
            <a:endParaRPr lang="en-US" altLang="zh-CN" sz="2400" b="1">
              <a:solidFill>
                <a:srgbClr val="0070C0"/>
              </a:solidFill>
              <a:latin typeface="宋体" panose="02010600030101010101" pitchFamily="2" charset="-122"/>
              <a:ea typeface="宋体" panose="02010600030101010101" pitchFamily="2" charset="-122"/>
              <a:cs typeface="Arial" panose="020B0604020202020204" pitchFamily="34" charset="0"/>
            </a:endParaRPr>
          </a:p>
          <a:p>
            <a:pPr>
              <a:lnSpc>
                <a:spcPct val="150000"/>
              </a:lnSpc>
            </a:pPr>
            <a:r>
              <a:rPr lang="zh-CN" altLang="en-US" sz="2400" b="1">
                <a:solidFill>
                  <a:srgbClr val="0070C0"/>
                </a:solidFill>
                <a:latin typeface="宋体" panose="02010600030101010101" pitchFamily="2" charset="-122"/>
                <a:ea typeface="宋体" panose="02010600030101010101" pitchFamily="2" charset="-122"/>
                <a:cs typeface="Arial" panose="020B0604020202020204" pitchFamily="34" charset="0"/>
              </a:rPr>
              <a:t>声</a:t>
            </a:r>
            <a:r>
              <a:rPr lang="zh-CN" altLang="en-US" sz="2400" b="1" dirty="0">
                <a:solidFill>
                  <a:srgbClr val="0070C0"/>
                </a:solidFill>
                <a:latin typeface="宋体" panose="02010600030101010101" pitchFamily="2" charset="-122"/>
                <a:ea typeface="宋体" panose="02010600030101010101" pitchFamily="2" charset="-122"/>
                <a:cs typeface="Arial" panose="020B0604020202020204" pitchFamily="34" charset="0"/>
              </a:rPr>
              <a:t>强级</a:t>
            </a:r>
            <a:r>
              <a:rPr lang="zh-CN" altLang="en-US" sz="2400" b="1" dirty="0">
                <a:latin typeface="宋体" panose="02010600030101010101" pitchFamily="2" charset="-122"/>
                <a:ea typeface="宋体" panose="02010600030101010101" pitchFamily="2" charset="-122"/>
                <a:cs typeface="Arial" panose="020B0604020202020204" pitchFamily="34" charset="0"/>
              </a:rPr>
              <a:t>（</a:t>
            </a:r>
            <a:r>
              <a:rPr lang="en-US" altLang="zh-CN" sz="2400" b="1" dirty="0">
                <a:latin typeface="宋体" panose="02010600030101010101" pitchFamily="2" charset="-122"/>
                <a:ea typeface="宋体" panose="02010600030101010101" pitchFamily="2" charset="-122"/>
                <a:cs typeface="Arial" panose="020B0604020202020204" pitchFamily="34" charset="0"/>
              </a:rPr>
              <a:t>SIL</a:t>
            </a:r>
            <a:r>
              <a:rPr lang="zh-CN" altLang="en-US" sz="2400" b="1" dirty="0">
                <a:latin typeface="宋体" panose="02010600030101010101" pitchFamily="2" charset="-122"/>
                <a:ea typeface="宋体" panose="02010600030101010101" pitchFamily="2" charset="-122"/>
                <a:cs typeface="Arial" panose="020B0604020202020204" pitchFamily="34" charset="0"/>
              </a:rPr>
              <a:t>）：待测声强与参考声强比值的常用对数的</a:t>
            </a:r>
            <a:r>
              <a:rPr lang="en-US" altLang="zh-CN" sz="2400" b="1" dirty="0">
                <a:latin typeface="宋体" panose="02010600030101010101" pitchFamily="2" charset="-122"/>
                <a:ea typeface="宋体" panose="02010600030101010101" pitchFamily="2" charset="-122"/>
                <a:cs typeface="Arial" panose="020B0604020202020204" pitchFamily="34" charset="0"/>
              </a:rPr>
              <a:t>10</a:t>
            </a:r>
            <a:r>
              <a:rPr lang="zh-CN" altLang="en-US" sz="2400" b="1">
                <a:latin typeface="宋体" panose="02010600030101010101" pitchFamily="2" charset="-122"/>
                <a:ea typeface="宋体" panose="02010600030101010101" pitchFamily="2" charset="-122"/>
                <a:cs typeface="Arial" panose="020B0604020202020204" pitchFamily="34" charset="0"/>
              </a:rPr>
              <a:t>倍， 即</a:t>
            </a:r>
            <a:endParaRPr lang="en-US" altLang="zh-CN" sz="2400" b="1" dirty="0">
              <a:latin typeface="宋体" panose="02010600030101010101" pitchFamily="2" charset="-122"/>
              <a:ea typeface="宋体" panose="02010600030101010101" pitchFamily="2" charset="-122"/>
              <a:cs typeface="Arial" panose="020B0604020202020204" pitchFamily="34" charset="0"/>
            </a:endParaRPr>
          </a:p>
          <a:p>
            <a:pPr>
              <a:lnSpc>
                <a:spcPct val="150000"/>
              </a:lnSpc>
              <a:spcBef>
                <a:spcPts val="672"/>
              </a:spcBef>
            </a:pPr>
            <a:endParaRPr lang="en-US" altLang="zh-CN" sz="2400" b="1">
              <a:latin typeface="宋体" panose="02010600030101010101" pitchFamily="2" charset="-122"/>
              <a:ea typeface="宋体" panose="02010600030101010101" pitchFamily="2" charset="-122"/>
              <a:cs typeface="Arial" panose="020B0604020202020204" pitchFamily="34" charset="0"/>
            </a:endParaRPr>
          </a:p>
          <a:p>
            <a:pPr>
              <a:lnSpc>
                <a:spcPct val="150000"/>
              </a:lnSpc>
            </a:pPr>
            <a:r>
              <a:rPr lang="zh-CN" altLang="en-US" sz="2400" b="1">
                <a:latin typeface="宋体" panose="02010600030101010101" pitchFamily="2" charset="-122"/>
                <a:ea typeface="宋体" panose="02010600030101010101" pitchFamily="2" charset="-122"/>
                <a:cs typeface="Arial" panose="020B0604020202020204" pitchFamily="34" charset="0"/>
              </a:rPr>
              <a:t>声</a:t>
            </a:r>
            <a:r>
              <a:rPr lang="zh-CN" altLang="en-US" sz="2400" b="1" dirty="0">
                <a:latin typeface="宋体" panose="02010600030101010101" pitchFamily="2" charset="-122"/>
                <a:ea typeface="宋体" panose="02010600030101010101" pitchFamily="2" charset="-122"/>
                <a:cs typeface="Arial" panose="020B0604020202020204" pitchFamily="34" charset="0"/>
              </a:rPr>
              <a:t>压级与声强级的关系式为</a:t>
            </a:r>
            <a:endParaRPr lang="en-US" altLang="zh-CN" sz="2400" b="1" dirty="0">
              <a:latin typeface="宋体" panose="02010600030101010101" pitchFamily="2" charset="-122"/>
              <a:ea typeface="宋体" panose="02010600030101010101" pitchFamily="2" charset="-122"/>
              <a:cs typeface="Arial" panose="020B0604020202020204" pitchFamily="34" charset="0"/>
            </a:endParaRPr>
          </a:p>
        </p:txBody>
      </p:sp>
      <p:sp>
        <p:nvSpPr>
          <p:cNvPr id="28" name="矩形 27">
            <a:extLst>
              <a:ext uri="{FF2B5EF4-FFF2-40B4-BE49-F238E27FC236}">
                <a16:creationId xmlns:a16="http://schemas.microsoft.com/office/drawing/2014/main" id="{64509930-9DFB-420E-8F32-960E50399825}"/>
              </a:ext>
            </a:extLst>
          </p:cNvPr>
          <p:cNvSpPr/>
          <p:nvPr/>
        </p:nvSpPr>
        <p:spPr>
          <a:xfrm>
            <a:off x="1571711" y="258777"/>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 name="圆角矩形 43">
            <a:extLst>
              <a:ext uri="{FF2B5EF4-FFF2-40B4-BE49-F238E27FC236}">
                <a16:creationId xmlns:a16="http://schemas.microsoft.com/office/drawing/2014/main" id="{7D086454-5B10-4064-9B8F-531209592F7E}"/>
              </a:ext>
            </a:extLst>
          </p:cNvPr>
          <p:cNvSpPr/>
          <p:nvPr/>
        </p:nvSpPr>
        <p:spPr>
          <a:xfrm rot="10800000" flipV="1">
            <a:off x="185084" y="242948"/>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20204" pitchFamily="34" charset="0"/>
                <a:ea typeface="宋体" panose="02010600030101010101" pitchFamily="2" charset="-122"/>
                <a:cs typeface="Arial" panose="020B0604020202020204" pitchFamily="34" charset="0"/>
              </a:rPr>
              <a:t>9.1.2</a:t>
            </a:r>
            <a:endParaRPr lang="zh-CN" altLang="en-US" sz="3200" b="1" dirty="0">
              <a:latin typeface="Arial" panose="020B0604020202020204" pitchFamily="34" charset="0"/>
              <a:ea typeface="宋体" panose="02010600030101010101" pitchFamily="2" charset="-122"/>
              <a:cs typeface="Arial" panose="020B0604020202020204" pitchFamily="34" charset="0"/>
            </a:endParaRPr>
          </a:p>
        </p:txBody>
      </p:sp>
      <p:sp>
        <p:nvSpPr>
          <p:cNvPr id="40" name="矩形 39">
            <a:extLst>
              <a:ext uri="{FF2B5EF4-FFF2-40B4-BE49-F238E27FC236}">
                <a16:creationId xmlns:a16="http://schemas.microsoft.com/office/drawing/2014/main" id="{2A2F604C-DA27-459E-8419-ED777356D653}"/>
              </a:ext>
            </a:extLst>
          </p:cNvPr>
          <p:cNvSpPr/>
          <p:nvPr/>
        </p:nvSpPr>
        <p:spPr>
          <a:xfrm>
            <a:off x="2030933" y="253949"/>
            <a:ext cx="1935137" cy="615549"/>
          </a:xfrm>
          <a:prstGeom prst="rect">
            <a:avLst/>
          </a:prstGeom>
        </p:spPr>
        <p:txBody>
          <a:bodyPr wrap="none" lIns="91436" tIns="45718" rIns="91436" bIns="45718">
            <a:spAutoFit/>
          </a:bodyPr>
          <a:lstStyle/>
          <a:p>
            <a:pPr algn="ctr"/>
            <a:r>
              <a:rPr lang="zh-CN" altLang="en-US" sz="3400" b="1" dirty="0">
                <a:solidFill>
                  <a:schemeClr val="bg1"/>
                </a:solidFill>
                <a:latin typeface="宋体" panose="02010600030101010101" pitchFamily="2" charset="-122"/>
                <a:ea typeface="宋体" panose="02010600030101010101" pitchFamily="2" charset="-122"/>
              </a:rPr>
              <a:t>物理特性</a:t>
            </a:r>
            <a:endParaRPr lang="en-US" altLang="zh-CN" sz="3400" b="1" dirty="0">
              <a:solidFill>
                <a:schemeClr val="bg1"/>
              </a:solidFill>
              <a:latin typeface="宋体" panose="02010600030101010101" pitchFamily="2" charset="-122"/>
              <a:ea typeface="宋体" panose="02010600030101010101" pitchFamily="2" charset="-122"/>
            </a:endParaRPr>
          </a:p>
        </p:txBody>
      </p:sp>
      <mc:AlternateContent xmlns:mc="http://schemas.openxmlformats.org/markup-compatibility/2006" xmlns:a14="http://schemas.microsoft.com/office/drawing/2010/main">
        <mc:Choice Requires="a14">
          <p:sp>
            <p:nvSpPr>
              <p:cNvPr id="5" name="矩形 4"/>
              <p:cNvSpPr/>
              <p:nvPr/>
            </p:nvSpPr>
            <p:spPr>
              <a:xfrm>
                <a:off x="3267195" y="1974208"/>
                <a:ext cx="2359492" cy="78726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2400" i="1">
                          <a:latin typeface="Cambria Math" panose="02040503050406030204" pitchFamily="18" charset="0"/>
                        </a:rPr>
                        <m:t>𝑆𝑃𝐿</m:t>
                      </m:r>
                      <m:r>
                        <a:rPr lang="zh-CN" altLang="en-US" sz="2400" i="0">
                          <a:latin typeface="Cambria Math" panose="02040503050406030204" pitchFamily="18" charset="0"/>
                        </a:rPr>
                        <m:t>=20</m:t>
                      </m:r>
                      <m:r>
                        <a:rPr lang="zh-CN" altLang="en-US" sz="2400" i="1">
                          <a:latin typeface="Cambria Math" panose="02040503050406030204" pitchFamily="18" charset="0"/>
                        </a:rPr>
                        <m:t>𝑙𝑔</m:t>
                      </m:r>
                      <m:f>
                        <m:fPr>
                          <m:ctrlPr>
                            <a:rPr lang="zh-CN" altLang="en-US" sz="2400" i="1">
                              <a:latin typeface="Cambria Math" panose="02040503050406030204" pitchFamily="18" charset="0"/>
                            </a:rPr>
                          </m:ctrlPr>
                        </m:fPr>
                        <m:num>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𝑝</m:t>
                              </m:r>
                            </m:e>
                            <m:sub>
                              <m:r>
                                <m:rPr>
                                  <m:sty m:val="p"/>
                                </m:rPr>
                                <a:rPr lang="zh-CN" altLang="en-US" sz="2400" i="0">
                                  <a:latin typeface="Cambria Math" panose="02040503050406030204" pitchFamily="18" charset="0"/>
                                </a:rPr>
                                <m:t>e</m:t>
                              </m:r>
                            </m:sub>
                          </m:sSub>
                        </m:num>
                        <m:den>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𝑝</m:t>
                              </m:r>
                            </m:e>
                            <m:sub>
                              <m:r>
                                <m:rPr>
                                  <m:sty m:val="p"/>
                                </m:rPr>
                                <a:rPr lang="zh-CN" altLang="en-US" sz="2400" i="0">
                                  <a:latin typeface="Cambria Math" panose="02040503050406030204" pitchFamily="18" charset="0"/>
                                </a:rPr>
                                <m:t>ref</m:t>
                              </m:r>
                            </m:sub>
                          </m:sSub>
                        </m:den>
                      </m:f>
                    </m:oMath>
                  </m:oMathPara>
                </a14:m>
                <a:endParaRPr lang="zh-CN" altLang="en-US" sz="2400" dirty="0"/>
              </a:p>
            </p:txBody>
          </p:sp>
        </mc:Choice>
        <mc:Fallback xmlns="">
          <p:sp>
            <p:nvSpPr>
              <p:cNvPr id="5" name="矩形 4"/>
              <p:cNvSpPr>
                <a:spLocks noRot="1" noChangeAspect="1" noMove="1" noResize="1" noEditPoints="1" noAdjustHandles="1" noChangeArrowheads="1" noChangeShapeType="1" noTextEdit="1"/>
              </p:cNvSpPr>
              <p:nvPr/>
            </p:nvSpPr>
            <p:spPr>
              <a:xfrm>
                <a:off x="3267195" y="1974208"/>
                <a:ext cx="2359492" cy="787267"/>
              </a:xfrm>
              <a:prstGeom prst="rect">
                <a:avLst/>
              </a:prstGeom>
              <a:blipFill>
                <a:blip r:embed="rId3"/>
                <a:stretch>
                  <a:fillRect/>
                </a:stretch>
              </a:blipFill>
            </p:spPr>
            <p:txBody>
              <a:bodyPr/>
              <a:lstStyle/>
              <a:p>
                <a:r>
                  <a:rPr lang="en-001">
                    <a:noFill/>
                  </a:rPr>
                  <a:t> </a:t>
                </a:r>
              </a:p>
            </p:txBody>
          </p:sp>
        </mc:Fallback>
      </mc:AlternateContent>
      <mc:AlternateContent xmlns:mc="http://schemas.openxmlformats.org/markup-compatibility/2006" xmlns:a14="http://schemas.microsoft.com/office/drawing/2010/main">
        <mc:Choice Requires="a14">
          <p:sp>
            <p:nvSpPr>
              <p:cNvPr id="10" name="矩形 9"/>
              <p:cNvSpPr/>
              <p:nvPr/>
            </p:nvSpPr>
            <p:spPr>
              <a:xfrm>
                <a:off x="3268548" y="3673429"/>
                <a:ext cx="2222981" cy="84619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2400" i="1">
                          <a:latin typeface="Cambria Math" panose="02040503050406030204" pitchFamily="18" charset="0"/>
                        </a:rPr>
                        <m:t>𝑆𝐼𝐿</m:t>
                      </m:r>
                      <m:r>
                        <a:rPr lang="zh-CN" altLang="en-US" sz="2400" i="0">
                          <a:latin typeface="Cambria Math" panose="02040503050406030204" pitchFamily="18" charset="0"/>
                        </a:rPr>
                        <m:t>=10</m:t>
                      </m:r>
                      <m:r>
                        <a:rPr lang="zh-CN" altLang="en-US" sz="2400" i="1">
                          <a:latin typeface="Cambria Math" panose="02040503050406030204" pitchFamily="18" charset="0"/>
                        </a:rPr>
                        <m:t>𝑙𝑔</m:t>
                      </m:r>
                      <m:f>
                        <m:fPr>
                          <m:ctrlPr>
                            <a:rPr lang="zh-CN" altLang="en-US" sz="2400" i="1">
                              <a:latin typeface="Cambria Math" panose="02040503050406030204" pitchFamily="18" charset="0"/>
                            </a:rPr>
                          </m:ctrlPr>
                        </m:fPr>
                        <m:num>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𝐼</m:t>
                              </m:r>
                            </m:e>
                            <m:sub>
                              <m:r>
                                <m:rPr>
                                  <m:sty m:val="p"/>
                                </m:rPr>
                                <a:rPr lang="zh-CN" altLang="en-US" sz="2400" i="0">
                                  <a:latin typeface="Cambria Math" panose="02040503050406030204" pitchFamily="18" charset="0"/>
                                </a:rPr>
                                <m:t>e</m:t>
                              </m:r>
                            </m:sub>
                          </m:sSub>
                        </m:num>
                        <m:den>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𝐼</m:t>
                              </m:r>
                            </m:e>
                            <m:sub>
                              <m:r>
                                <m:rPr>
                                  <m:sty m:val="p"/>
                                </m:rPr>
                                <a:rPr lang="zh-CN" altLang="en-US" sz="2400" i="0">
                                  <a:latin typeface="Cambria Math" panose="02040503050406030204" pitchFamily="18" charset="0"/>
                                </a:rPr>
                                <m:t>ref</m:t>
                              </m:r>
                            </m:sub>
                          </m:sSub>
                        </m:den>
                      </m:f>
                    </m:oMath>
                  </m:oMathPara>
                </a14:m>
                <a:endParaRPr lang="zh-CN" altLang="en-US" sz="2400" dirty="0"/>
              </a:p>
            </p:txBody>
          </p:sp>
        </mc:Choice>
        <mc:Fallback xmlns="">
          <p:sp>
            <p:nvSpPr>
              <p:cNvPr id="10" name="矩形 9"/>
              <p:cNvSpPr>
                <a:spLocks noRot="1" noChangeAspect="1" noMove="1" noResize="1" noEditPoints="1" noAdjustHandles="1" noChangeArrowheads="1" noChangeShapeType="1" noTextEdit="1"/>
              </p:cNvSpPr>
              <p:nvPr/>
            </p:nvSpPr>
            <p:spPr>
              <a:xfrm>
                <a:off x="3268548" y="3673429"/>
                <a:ext cx="2222981" cy="846194"/>
              </a:xfrm>
              <a:prstGeom prst="rect">
                <a:avLst/>
              </a:prstGeom>
              <a:blipFill>
                <a:blip r:embed="rId4"/>
                <a:stretch>
                  <a:fillRect/>
                </a:stretch>
              </a:blipFill>
            </p:spPr>
            <p:txBody>
              <a:bodyPr/>
              <a:lstStyle/>
              <a:p>
                <a:r>
                  <a:rPr lang="en-001">
                    <a:noFill/>
                  </a:rPr>
                  <a:t> </a:t>
                </a:r>
              </a:p>
            </p:txBody>
          </p:sp>
        </mc:Fallback>
      </mc:AlternateContent>
      <mc:AlternateContent xmlns:mc="http://schemas.openxmlformats.org/markup-compatibility/2006" xmlns:a14="http://schemas.microsoft.com/office/drawing/2010/main">
        <mc:Choice Requires="a14">
          <p:sp>
            <p:nvSpPr>
              <p:cNvPr id="12" name="矩形 11"/>
              <p:cNvSpPr/>
              <p:nvPr/>
            </p:nvSpPr>
            <p:spPr>
              <a:xfrm>
                <a:off x="3267195" y="5101134"/>
                <a:ext cx="3274101" cy="84895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2400" i="1" smtClean="0">
                          <a:latin typeface="Cambria Math" panose="02040503050406030204" pitchFamily="18" charset="0"/>
                        </a:rPr>
                        <m:t>𝑆</m:t>
                      </m:r>
                      <m:r>
                        <a:rPr lang="en-US" altLang="zh-CN" sz="2400" b="0" i="1" smtClean="0">
                          <a:latin typeface="Cambria Math"/>
                        </a:rPr>
                        <m:t>𝐼</m:t>
                      </m:r>
                      <m:r>
                        <a:rPr lang="zh-CN" altLang="en-US" sz="2400" i="1" smtClean="0">
                          <a:latin typeface="Cambria Math" panose="02040503050406030204" pitchFamily="18" charset="0"/>
                        </a:rPr>
                        <m:t>𝐿</m:t>
                      </m:r>
                      <m:r>
                        <a:rPr lang="zh-CN" altLang="en-US" sz="2400" i="0">
                          <a:latin typeface="Cambria Math" panose="02040503050406030204" pitchFamily="18" charset="0"/>
                        </a:rPr>
                        <m:t>=</m:t>
                      </m:r>
                      <m:r>
                        <a:rPr lang="zh-CN" altLang="en-US" sz="2400" i="1">
                          <a:latin typeface="Cambria Math" panose="02040503050406030204" pitchFamily="18" charset="0"/>
                        </a:rPr>
                        <m:t>𝑆</m:t>
                      </m:r>
                      <m:r>
                        <a:rPr lang="en-US" altLang="zh-CN" sz="2400" b="0" i="1" smtClean="0">
                          <a:latin typeface="Cambria Math"/>
                        </a:rPr>
                        <m:t>𝑃</m:t>
                      </m:r>
                      <m:r>
                        <a:rPr lang="zh-CN" altLang="en-US" sz="2400" i="1">
                          <a:latin typeface="Cambria Math" panose="02040503050406030204" pitchFamily="18" charset="0"/>
                        </a:rPr>
                        <m:t>𝐿</m:t>
                      </m:r>
                      <m:r>
                        <a:rPr lang="zh-CN" altLang="en-US" sz="2400" i="0">
                          <a:latin typeface="Cambria Math" panose="02040503050406030204" pitchFamily="18" charset="0"/>
                        </a:rPr>
                        <m:t>+10</m:t>
                      </m:r>
                      <m:r>
                        <a:rPr lang="zh-CN" altLang="en-US" sz="2400" i="1">
                          <a:latin typeface="Cambria Math" panose="02040503050406030204" pitchFamily="18" charset="0"/>
                        </a:rPr>
                        <m:t>𝑙𝑔</m:t>
                      </m:r>
                      <m:f>
                        <m:fPr>
                          <m:ctrlPr>
                            <a:rPr lang="zh-CN" altLang="en-US" sz="2400" i="1">
                              <a:latin typeface="Cambria Math" panose="02040503050406030204" pitchFamily="18" charset="0"/>
                            </a:rPr>
                          </m:ctrlPr>
                        </m:fPr>
                        <m:num>
                          <m:r>
                            <a:rPr lang="zh-CN" altLang="en-US" sz="2400" i="0">
                              <a:latin typeface="Cambria Math" panose="02040503050406030204" pitchFamily="18" charset="0"/>
                            </a:rPr>
                            <m:t>400</m:t>
                          </m:r>
                        </m:num>
                        <m:den>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𝜌</m:t>
                              </m:r>
                            </m:e>
                            <m:sub>
                              <m:r>
                                <a:rPr lang="zh-CN" altLang="en-US" sz="2400" i="0">
                                  <a:latin typeface="Cambria Math" panose="02040503050406030204" pitchFamily="18" charset="0"/>
                                </a:rPr>
                                <m:t>0</m:t>
                              </m:r>
                            </m:sub>
                          </m:sSub>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𝑐</m:t>
                              </m:r>
                            </m:e>
                            <m:sub>
                              <m:r>
                                <a:rPr lang="zh-CN" altLang="en-US" sz="2400" i="0">
                                  <a:latin typeface="Cambria Math" panose="02040503050406030204" pitchFamily="18" charset="0"/>
                                </a:rPr>
                                <m:t>0</m:t>
                              </m:r>
                            </m:sub>
                          </m:sSub>
                        </m:den>
                      </m:f>
                    </m:oMath>
                  </m:oMathPara>
                </a14:m>
                <a:endParaRPr lang="zh-CN" altLang="en-US" sz="2400" dirty="0"/>
              </a:p>
            </p:txBody>
          </p:sp>
        </mc:Choice>
        <mc:Fallback xmlns="">
          <p:sp>
            <p:nvSpPr>
              <p:cNvPr id="12" name="矩形 11"/>
              <p:cNvSpPr>
                <a:spLocks noRot="1" noChangeAspect="1" noMove="1" noResize="1" noEditPoints="1" noAdjustHandles="1" noChangeArrowheads="1" noChangeShapeType="1" noTextEdit="1"/>
              </p:cNvSpPr>
              <p:nvPr/>
            </p:nvSpPr>
            <p:spPr>
              <a:xfrm>
                <a:off x="3267195" y="5101134"/>
                <a:ext cx="3274101" cy="848950"/>
              </a:xfrm>
              <a:prstGeom prst="rect">
                <a:avLst/>
              </a:prstGeom>
              <a:blipFill>
                <a:blip r:embed="rId5"/>
                <a:stretch>
                  <a:fillRect/>
                </a:stretch>
              </a:blipFill>
            </p:spPr>
            <p:txBody>
              <a:bodyPr/>
              <a:lstStyle/>
              <a:p>
                <a:r>
                  <a:rPr lang="en-001">
                    <a:noFill/>
                  </a:rPr>
                  <a:t> </a:t>
                </a:r>
              </a:p>
            </p:txBody>
          </p:sp>
        </mc:Fallback>
      </mc:AlternateContent>
      <p:sp>
        <p:nvSpPr>
          <p:cNvPr id="2" name="Slide Number Placeholder 1">
            <a:extLst>
              <a:ext uri="{FF2B5EF4-FFF2-40B4-BE49-F238E27FC236}">
                <a16:creationId xmlns:a16="http://schemas.microsoft.com/office/drawing/2014/main" id="{97FF59B5-A258-4DD7-A0F1-9CA5331D120A}"/>
              </a:ext>
            </a:extLst>
          </p:cNvPr>
          <p:cNvSpPr>
            <a:spLocks noGrp="1"/>
          </p:cNvSpPr>
          <p:nvPr>
            <p:ph type="sldNum" sz="quarter" idx="12"/>
          </p:nvPr>
        </p:nvSpPr>
        <p:spPr/>
        <p:txBody>
          <a:bodyPr/>
          <a:lstStyle/>
          <a:p>
            <a:fld id="{B53602B4-F12B-41CD-B648-531F86B2CC91}" type="slidenum">
              <a:rPr lang="zh-CN" altLang="en-US" smtClean="0"/>
              <a:t>11</a:t>
            </a:fld>
            <a:endParaRPr lang="zh-CN" altLang="en-US"/>
          </a:p>
        </p:txBody>
      </p:sp>
      <p:pic>
        <p:nvPicPr>
          <p:cNvPr id="4" name="Picture 3">
            <a:extLst>
              <a:ext uri="{FF2B5EF4-FFF2-40B4-BE49-F238E27FC236}">
                <a16:creationId xmlns:a16="http://schemas.microsoft.com/office/drawing/2014/main" id="{5BCBEE07-1776-4D12-9873-BA1105AA3966}"/>
              </a:ext>
            </a:extLst>
          </p:cNvPr>
          <p:cNvPicPr>
            <a:picLocks noChangeAspect="1"/>
          </p:cNvPicPr>
          <p:nvPr/>
        </p:nvPicPr>
        <p:blipFill>
          <a:blip r:embed="rId6"/>
          <a:stretch>
            <a:fillRect/>
          </a:stretch>
        </p:blipFill>
        <p:spPr>
          <a:xfrm>
            <a:off x="9411348" y="2367841"/>
            <a:ext cx="2576531" cy="1009657"/>
          </a:xfrm>
          <a:prstGeom prst="rect">
            <a:avLst/>
          </a:prstGeom>
        </p:spPr>
      </p:pic>
      <p:sp>
        <p:nvSpPr>
          <p:cNvPr id="6" name="TextBox 5">
            <a:extLst>
              <a:ext uri="{FF2B5EF4-FFF2-40B4-BE49-F238E27FC236}">
                <a16:creationId xmlns:a16="http://schemas.microsoft.com/office/drawing/2014/main" id="{49DE6FB9-7D9A-490C-A3CE-80B4024F1BBC}"/>
              </a:ext>
            </a:extLst>
          </p:cNvPr>
          <p:cNvSpPr txBox="1"/>
          <p:nvPr/>
        </p:nvSpPr>
        <p:spPr>
          <a:xfrm>
            <a:off x="5626687" y="6188780"/>
            <a:ext cx="877163" cy="369332"/>
          </a:xfrm>
          <a:prstGeom prst="rect">
            <a:avLst/>
          </a:prstGeom>
          <a:noFill/>
        </p:spPr>
        <p:txBody>
          <a:bodyPr wrap="none" rtlCol="0">
            <a:spAutoFit/>
          </a:bodyPr>
          <a:lstStyle/>
          <a:p>
            <a:r>
              <a:rPr lang="zh-CN" altLang="en-US">
                <a:latin typeface="simsun" panose="02010600030101010101" pitchFamily="2" charset="-122"/>
                <a:ea typeface="simsun" panose="02010600030101010101" pitchFamily="2" charset="-122"/>
              </a:rPr>
              <a:t>非常小</a:t>
            </a:r>
            <a:endParaRPr lang="en-001">
              <a:latin typeface="simsun" panose="02010600030101010101" pitchFamily="2" charset="-122"/>
              <a:ea typeface="simsun" panose="02010600030101010101" pitchFamily="2" charset="-122"/>
            </a:endParaRPr>
          </a:p>
        </p:txBody>
      </p:sp>
    </p:spTree>
    <p:extLst>
      <p:ext uri="{BB962C8B-B14F-4D97-AF65-F5344CB8AC3E}">
        <p14:creationId xmlns:p14="http://schemas.microsoft.com/office/powerpoint/2010/main" val="4096716590"/>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49142242-5E57-4D15-A0DD-17CB598A023D}"/>
              </a:ext>
            </a:extLst>
          </p:cNvPr>
          <p:cNvSpPr txBox="1"/>
          <p:nvPr/>
        </p:nvSpPr>
        <p:spPr>
          <a:xfrm>
            <a:off x="1457036" y="1455546"/>
            <a:ext cx="6346717" cy="1844091"/>
          </a:xfrm>
          <a:prstGeom prst="rect">
            <a:avLst/>
          </a:prstGeom>
          <a:noFill/>
        </p:spPr>
        <p:txBody>
          <a:bodyPr wrap="square" lIns="91436" tIns="45718" rIns="91436" bIns="45718" rtlCol="0">
            <a:spAutoFit/>
          </a:bodyPr>
          <a:lstStyle/>
          <a:p>
            <a:pPr>
              <a:lnSpc>
                <a:spcPct val="150000"/>
              </a:lnSpc>
              <a:spcBef>
                <a:spcPts val="672"/>
              </a:spcBef>
            </a:pP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a:latin typeface="Times New Roman" panose="02020603050405020304" pitchFamily="18" charset="0"/>
                <a:ea typeface="宋体" panose="02010600030101010101" pitchFamily="2" charset="-122"/>
                <a:cs typeface="Times New Roman" panose="02020603050405020304" pitchFamily="18" charset="0"/>
              </a:rPr>
              <a:t>3. </a:t>
            </a:r>
            <a:r>
              <a:rPr lang="zh-CN" altLang="en-US" sz="2400" b="1">
                <a:latin typeface="Times New Roman" panose="02020603050405020304" pitchFamily="18" charset="0"/>
                <a:ea typeface="宋体" panose="02010600030101010101" pitchFamily="2" charset="-122"/>
                <a:cs typeface="Times New Roman" panose="02020603050405020304" pitchFamily="18" charset="0"/>
              </a:rPr>
              <a:t>声</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波的反射、折射和透射  </a:t>
            </a:r>
            <a:endParaRPr lang="en-US" altLang="zh-CN" sz="2400" b="1" dirty="0">
              <a:latin typeface="Times New Roman" panose="02020603050405020304" pitchFamily="18" charset="0"/>
              <a:ea typeface="宋体" panose="02010600030101010101" pitchFamily="2" charset="-122"/>
              <a:cs typeface="Times New Roman" panose="02020603050405020304" pitchFamily="18" charset="0"/>
            </a:endParaRPr>
          </a:p>
          <a:p>
            <a:pPr>
              <a:lnSpc>
                <a:spcPct val="150000"/>
              </a:lnSpc>
              <a:spcBef>
                <a:spcPts val="672"/>
              </a:spcBef>
            </a:pP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       当</a:t>
            </a:r>
            <a:r>
              <a:rPr lang="zh-CN" altLang="en-US" sz="24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入射角为</a:t>
            </a:r>
            <a:r>
              <a:rPr lang="el-GR" altLang="zh-CN" sz="2400" i="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θ</a:t>
            </a:r>
            <a:r>
              <a:rPr lang="en-US" altLang="zh-CN" sz="2400" i="1" baseline="-25000" dirty="0" err="1">
                <a:solidFill>
                  <a:srgbClr val="FF0000"/>
                </a:solidFill>
                <a:latin typeface="Times New Roman" panose="02020603050405020304" pitchFamily="18" charset="0"/>
                <a:ea typeface="宋体" panose="02010600030101010101" pitchFamily="2" charset="-122"/>
                <a:cs typeface="Times New Roman" panose="02020603050405020304" pitchFamily="18" charset="0"/>
              </a:rPr>
              <a:t>i</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4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反射角为</a:t>
            </a:r>
            <a:r>
              <a:rPr lang="el-GR" altLang="zh-CN" sz="2400" i="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θ</a:t>
            </a:r>
            <a:r>
              <a:rPr lang="en-US" altLang="zh-CN" sz="2400" i="1" baseline="-25000"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r</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400" b="1" dirty="0">
                <a:solidFill>
                  <a:srgbClr val="00B050"/>
                </a:solidFill>
                <a:latin typeface="Times New Roman" panose="02020603050405020304" pitchFamily="18" charset="0"/>
                <a:ea typeface="宋体" panose="02010600030101010101" pitchFamily="2" charset="-122"/>
                <a:cs typeface="Times New Roman" panose="02020603050405020304" pitchFamily="18" charset="0"/>
              </a:rPr>
              <a:t>折射角为</a:t>
            </a:r>
            <a:r>
              <a:rPr lang="el-GR" altLang="zh-CN" sz="2400" i="1" dirty="0">
                <a:solidFill>
                  <a:srgbClr val="00B050"/>
                </a:solidFill>
                <a:latin typeface="Times New Roman" panose="02020603050405020304" pitchFamily="18" charset="0"/>
                <a:ea typeface="宋体" panose="02010600030101010101" pitchFamily="2" charset="-122"/>
                <a:cs typeface="Times New Roman" panose="02020603050405020304" pitchFamily="18" charset="0"/>
              </a:rPr>
              <a:t>θ</a:t>
            </a:r>
            <a:r>
              <a:rPr lang="en-US" altLang="zh-CN" sz="2400" i="1" baseline="-25000" dirty="0">
                <a:solidFill>
                  <a:srgbClr val="00B050"/>
                </a:solidFill>
                <a:latin typeface="Times New Roman" panose="02020603050405020304" pitchFamily="18" charset="0"/>
                <a:ea typeface="宋体" panose="02010600030101010101" pitchFamily="2" charset="-122"/>
                <a:cs typeface="Times New Roman" panose="02020603050405020304" pitchFamily="18" charset="0"/>
              </a:rPr>
              <a:t>t</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时，其关系满足声波反射与折射定律，即</a:t>
            </a:r>
            <a:endParaRPr lang="en-US" altLang="zh-CN" sz="2400" b="1"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9" name="矩形 28">
            <a:extLst>
              <a:ext uri="{FF2B5EF4-FFF2-40B4-BE49-F238E27FC236}">
                <a16:creationId xmlns:a16="http://schemas.microsoft.com/office/drawing/2014/main" id="{64509930-9DFB-420E-8F32-960E50399825}"/>
              </a:ext>
            </a:extLst>
          </p:cNvPr>
          <p:cNvSpPr/>
          <p:nvPr/>
        </p:nvSpPr>
        <p:spPr>
          <a:xfrm>
            <a:off x="1571711" y="258777"/>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0" name="圆角矩形 43">
            <a:extLst>
              <a:ext uri="{FF2B5EF4-FFF2-40B4-BE49-F238E27FC236}">
                <a16:creationId xmlns:a16="http://schemas.microsoft.com/office/drawing/2014/main" id="{7D086454-5B10-4064-9B8F-531209592F7E}"/>
              </a:ext>
            </a:extLst>
          </p:cNvPr>
          <p:cNvSpPr/>
          <p:nvPr/>
        </p:nvSpPr>
        <p:spPr>
          <a:xfrm rot="10800000" flipV="1">
            <a:off x="185084" y="242948"/>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20204" pitchFamily="34" charset="0"/>
                <a:ea typeface="宋体" panose="02010600030101010101" pitchFamily="2" charset="-122"/>
                <a:cs typeface="Arial" panose="020B0604020202020204" pitchFamily="34" charset="0"/>
              </a:rPr>
              <a:t>9.1.2</a:t>
            </a:r>
            <a:endParaRPr lang="zh-CN" altLang="en-US" sz="3200" b="1" dirty="0">
              <a:latin typeface="Arial" panose="020B0604020202020204" pitchFamily="34" charset="0"/>
              <a:ea typeface="宋体" panose="02010600030101010101" pitchFamily="2" charset="-122"/>
              <a:cs typeface="Arial" panose="020B0604020202020204" pitchFamily="34" charset="0"/>
            </a:endParaRPr>
          </a:p>
        </p:txBody>
      </p:sp>
      <p:sp>
        <p:nvSpPr>
          <p:cNvPr id="41" name="矩形 40">
            <a:extLst>
              <a:ext uri="{FF2B5EF4-FFF2-40B4-BE49-F238E27FC236}">
                <a16:creationId xmlns:a16="http://schemas.microsoft.com/office/drawing/2014/main" id="{2A2F604C-DA27-459E-8419-ED777356D653}"/>
              </a:ext>
            </a:extLst>
          </p:cNvPr>
          <p:cNvSpPr/>
          <p:nvPr/>
        </p:nvSpPr>
        <p:spPr>
          <a:xfrm>
            <a:off x="2030933" y="253949"/>
            <a:ext cx="1935137" cy="615549"/>
          </a:xfrm>
          <a:prstGeom prst="rect">
            <a:avLst/>
          </a:prstGeom>
        </p:spPr>
        <p:txBody>
          <a:bodyPr wrap="none" lIns="91436" tIns="45718" rIns="91436" bIns="45718">
            <a:spAutoFit/>
          </a:bodyPr>
          <a:lstStyle/>
          <a:p>
            <a:pPr algn="ctr"/>
            <a:r>
              <a:rPr lang="zh-CN" altLang="en-US" sz="3400" b="1" dirty="0">
                <a:solidFill>
                  <a:schemeClr val="bg1"/>
                </a:solidFill>
                <a:latin typeface="宋体" panose="02010600030101010101" pitchFamily="2" charset="-122"/>
                <a:ea typeface="宋体" panose="02010600030101010101" pitchFamily="2" charset="-122"/>
              </a:rPr>
              <a:t>物理特性</a:t>
            </a:r>
            <a:endParaRPr lang="en-US" altLang="zh-CN" sz="3400" b="1" dirty="0">
              <a:solidFill>
                <a:schemeClr val="bg1"/>
              </a:solidFill>
              <a:latin typeface="宋体" panose="02010600030101010101" pitchFamily="2" charset="-122"/>
              <a:ea typeface="宋体" panose="02010600030101010101" pitchFamily="2" charset="-122"/>
            </a:endParaRPr>
          </a:p>
        </p:txBody>
      </p:sp>
      <mc:AlternateContent xmlns:mc="http://schemas.openxmlformats.org/markup-compatibility/2006" xmlns:a14="http://schemas.microsoft.com/office/drawing/2010/main">
        <mc:Choice Requires="a14">
          <p:sp>
            <p:nvSpPr>
              <p:cNvPr id="6" name="矩形 5"/>
              <p:cNvSpPr/>
              <p:nvPr/>
            </p:nvSpPr>
            <p:spPr>
              <a:xfrm>
                <a:off x="3761533" y="3525868"/>
                <a:ext cx="122469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𝜃</m:t>
                          </m:r>
                        </m:e>
                        <m:sub>
                          <m:r>
                            <a:rPr lang="zh-CN" altLang="en-US" sz="2400" i="1">
                              <a:latin typeface="Cambria Math" panose="02040503050406030204" pitchFamily="18" charset="0"/>
                            </a:rPr>
                            <m:t>𝑖</m:t>
                          </m:r>
                        </m:sub>
                      </m:sSub>
                      <m:r>
                        <a:rPr lang="zh-CN" altLang="en-US" sz="2400" i="0">
                          <a:latin typeface="Cambria Math" panose="02040503050406030204" pitchFamily="18" charset="0"/>
                        </a:rPr>
                        <m:t>=</m:t>
                      </m:r>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𝜃</m:t>
                          </m:r>
                        </m:e>
                        <m:sub>
                          <m:r>
                            <a:rPr lang="zh-CN" altLang="en-US" sz="2400" i="1">
                              <a:latin typeface="Cambria Math" panose="02040503050406030204" pitchFamily="18" charset="0"/>
                            </a:rPr>
                            <m:t>𝑟</m:t>
                          </m:r>
                        </m:sub>
                      </m:sSub>
                    </m:oMath>
                  </m:oMathPara>
                </a14:m>
                <a:endParaRPr lang="zh-CN" altLang="en-US" sz="2400" dirty="0"/>
              </a:p>
            </p:txBody>
          </p:sp>
        </mc:Choice>
        <mc:Fallback xmlns="">
          <p:sp>
            <p:nvSpPr>
              <p:cNvPr id="6" name="矩形 5"/>
              <p:cNvSpPr>
                <a:spLocks noRot="1" noChangeAspect="1" noMove="1" noResize="1" noEditPoints="1" noAdjustHandles="1" noChangeArrowheads="1" noChangeShapeType="1" noTextEdit="1"/>
              </p:cNvSpPr>
              <p:nvPr/>
            </p:nvSpPr>
            <p:spPr>
              <a:xfrm>
                <a:off x="3761533" y="3525868"/>
                <a:ext cx="1224694" cy="461665"/>
              </a:xfrm>
              <a:prstGeom prst="rect">
                <a:avLst/>
              </a:prstGeom>
              <a:blipFill>
                <a:blip r:embed="rId7"/>
                <a:stretch>
                  <a:fillRect b="-263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矩形 7"/>
              <p:cNvSpPr/>
              <p:nvPr/>
            </p:nvSpPr>
            <p:spPr>
              <a:xfrm>
                <a:off x="3549647" y="4336326"/>
                <a:ext cx="1648465" cy="85170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zh-CN" altLang="en-US" sz="2400" i="1">
                              <a:latin typeface="Cambria Math" panose="02040503050406030204" pitchFamily="18" charset="0"/>
                            </a:rPr>
                          </m:ctrlPr>
                        </m:fPr>
                        <m:num>
                          <m:r>
                            <a:rPr lang="zh-CN" altLang="en-US" sz="2400" i="1">
                              <a:latin typeface="Cambria Math" panose="02040503050406030204" pitchFamily="18" charset="0"/>
                            </a:rPr>
                            <m:t>𝑠𝑖𝑛</m:t>
                          </m:r>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𝜃</m:t>
                              </m:r>
                            </m:e>
                            <m:sub>
                              <m:r>
                                <a:rPr lang="zh-CN" altLang="en-US" sz="2400" i="1">
                                  <a:latin typeface="Cambria Math" panose="02040503050406030204" pitchFamily="18" charset="0"/>
                                </a:rPr>
                                <m:t>𝑖</m:t>
                              </m:r>
                            </m:sub>
                          </m:sSub>
                        </m:num>
                        <m:den>
                          <m:r>
                            <a:rPr lang="zh-CN" altLang="en-US" sz="2400" i="1">
                              <a:latin typeface="Cambria Math" panose="02040503050406030204" pitchFamily="18" charset="0"/>
                            </a:rPr>
                            <m:t>𝑠𝑖𝑛</m:t>
                          </m:r>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𝜃</m:t>
                              </m:r>
                            </m:e>
                            <m:sub>
                              <m:r>
                                <a:rPr lang="zh-CN" altLang="en-US" sz="2400" i="1">
                                  <a:latin typeface="Cambria Math" panose="02040503050406030204" pitchFamily="18" charset="0"/>
                                </a:rPr>
                                <m:t>𝑡</m:t>
                              </m:r>
                            </m:sub>
                          </m:sSub>
                        </m:den>
                      </m:f>
                      <m:r>
                        <a:rPr lang="zh-CN" altLang="en-US" sz="2400" i="0">
                          <a:latin typeface="Cambria Math" panose="02040503050406030204" pitchFamily="18" charset="0"/>
                        </a:rPr>
                        <m:t>=</m:t>
                      </m:r>
                      <m:f>
                        <m:fPr>
                          <m:ctrlPr>
                            <a:rPr lang="zh-CN" altLang="en-US" sz="2400" i="1">
                              <a:latin typeface="Cambria Math" panose="02040503050406030204" pitchFamily="18" charset="0"/>
                            </a:rPr>
                          </m:ctrlPr>
                        </m:fPr>
                        <m:num>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𝑐</m:t>
                              </m:r>
                            </m:e>
                            <m:sub>
                              <m:r>
                                <a:rPr lang="zh-CN" altLang="en-US" sz="2400" i="0">
                                  <a:latin typeface="Cambria Math" panose="02040503050406030204" pitchFamily="18" charset="0"/>
                                </a:rPr>
                                <m:t>1</m:t>
                              </m:r>
                            </m:sub>
                          </m:sSub>
                        </m:num>
                        <m:den>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𝑐</m:t>
                              </m:r>
                            </m:e>
                            <m:sub>
                              <m:r>
                                <a:rPr lang="zh-CN" altLang="en-US" sz="2400" i="0">
                                  <a:latin typeface="Cambria Math" panose="02040503050406030204" pitchFamily="18" charset="0"/>
                                </a:rPr>
                                <m:t>2</m:t>
                              </m:r>
                            </m:sub>
                          </m:sSub>
                        </m:den>
                      </m:f>
                    </m:oMath>
                  </m:oMathPara>
                </a14:m>
                <a:endParaRPr lang="zh-CN" altLang="en-US" sz="2400" dirty="0"/>
              </a:p>
            </p:txBody>
          </p:sp>
        </mc:Choice>
        <mc:Fallback xmlns="">
          <p:sp>
            <p:nvSpPr>
              <p:cNvPr id="8" name="矩形 7"/>
              <p:cNvSpPr>
                <a:spLocks noRot="1" noChangeAspect="1" noMove="1" noResize="1" noEditPoints="1" noAdjustHandles="1" noChangeArrowheads="1" noChangeShapeType="1" noTextEdit="1"/>
              </p:cNvSpPr>
              <p:nvPr/>
            </p:nvSpPr>
            <p:spPr>
              <a:xfrm>
                <a:off x="3549647" y="4336326"/>
                <a:ext cx="1648465" cy="851708"/>
              </a:xfrm>
              <a:prstGeom prst="rect">
                <a:avLst/>
              </a:prstGeom>
              <a:blipFill>
                <a:blip r:embed="rId8"/>
                <a:stretch>
                  <a:fillRect/>
                </a:stretch>
              </a:blipFill>
            </p:spPr>
            <p:txBody>
              <a:bodyPr/>
              <a:lstStyle/>
              <a:p>
                <a:r>
                  <a:rPr lang="zh-CN" altLang="en-US">
                    <a:noFill/>
                  </a:rPr>
                  <a:t> </a:t>
                </a:r>
              </a:p>
            </p:txBody>
          </p:sp>
        </mc:Fallback>
      </mc:AlternateContent>
      <p:sp>
        <p:nvSpPr>
          <p:cNvPr id="2" name="Slide Number Placeholder 1">
            <a:extLst>
              <a:ext uri="{FF2B5EF4-FFF2-40B4-BE49-F238E27FC236}">
                <a16:creationId xmlns:a16="http://schemas.microsoft.com/office/drawing/2014/main" id="{A30CE8CD-E506-442B-8D26-57699EC41B30}"/>
              </a:ext>
            </a:extLst>
          </p:cNvPr>
          <p:cNvSpPr>
            <a:spLocks noGrp="1"/>
          </p:cNvSpPr>
          <p:nvPr>
            <p:ph type="sldNum" sz="quarter" idx="12"/>
          </p:nvPr>
        </p:nvSpPr>
        <p:spPr/>
        <p:txBody>
          <a:bodyPr/>
          <a:lstStyle/>
          <a:p>
            <a:fld id="{B53602B4-F12B-41CD-B648-531F86B2CC91}" type="slidenum">
              <a:rPr lang="zh-CN" altLang="en-US" smtClean="0"/>
              <a:t>12</a:t>
            </a:fld>
            <a:endParaRPr lang="zh-CN" altLang="en-US"/>
          </a:p>
        </p:txBody>
      </p:sp>
    </p:spTree>
    <p:extLst>
      <p:ext uri="{BB962C8B-B14F-4D97-AF65-F5344CB8AC3E}">
        <p14:creationId xmlns:p14="http://schemas.microsoft.com/office/powerpoint/2010/main" val="254186522"/>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49142242-5E57-4D15-A0DD-17CB598A023D}"/>
              </a:ext>
            </a:extLst>
          </p:cNvPr>
          <p:cNvSpPr txBox="1"/>
          <p:nvPr/>
        </p:nvSpPr>
        <p:spPr>
          <a:xfrm>
            <a:off x="500743" y="1179043"/>
            <a:ext cx="8258629" cy="4061301"/>
          </a:xfrm>
          <a:prstGeom prst="rect">
            <a:avLst/>
          </a:prstGeom>
          <a:noFill/>
        </p:spPr>
        <p:txBody>
          <a:bodyPr wrap="square" lIns="91436" tIns="45718" rIns="91436" bIns="45718" rtlCol="0">
            <a:spAutoFit/>
          </a:bodyPr>
          <a:lstStyle/>
          <a:p>
            <a:pPr indent="627063">
              <a:lnSpc>
                <a:spcPct val="130000"/>
              </a:lnSpc>
              <a:spcBef>
                <a:spcPts val="600"/>
              </a:spcBef>
            </a:pP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分界面上</a:t>
            </a:r>
            <a:r>
              <a:rPr lang="zh-CN" altLang="en-US" sz="24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反射波声压与入射波声压之比</a:t>
            </a:r>
            <a:r>
              <a:rPr lang="el-GR" altLang="zh-CN" sz="2400" i="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γ</a:t>
            </a:r>
            <a:r>
              <a:rPr lang="en-US" altLang="zh-CN" sz="2400" baseline="-250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p</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400" b="1" dirty="0">
                <a:solidFill>
                  <a:srgbClr val="00B050"/>
                </a:solidFill>
                <a:latin typeface="Times New Roman" panose="02020603050405020304" pitchFamily="18" charset="0"/>
                <a:ea typeface="宋体" panose="02010600030101010101" pitchFamily="2" charset="-122"/>
                <a:cs typeface="Times New Roman" panose="02020603050405020304" pitchFamily="18" charset="0"/>
              </a:rPr>
              <a:t>透射波声压与入射波声压之比</a:t>
            </a:r>
            <a:r>
              <a:rPr lang="en-US" altLang="zh-CN" sz="2400" i="1" dirty="0" err="1">
                <a:solidFill>
                  <a:srgbClr val="00B050"/>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2400" baseline="-25000" dirty="0" err="1">
                <a:solidFill>
                  <a:srgbClr val="00B050"/>
                </a:solidFill>
                <a:latin typeface="Times New Roman" panose="02020603050405020304" pitchFamily="18" charset="0"/>
                <a:ea typeface="宋体" panose="02010600030101010101" pitchFamily="2" charset="-122"/>
                <a:cs typeface="Times New Roman" panose="02020603050405020304" pitchFamily="18" charset="0"/>
              </a:rPr>
              <a:t>p</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分别为</a:t>
            </a:r>
            <a:endParaRPr lang="en-US" altLang="zh-CN" sz="2400" b="1" dirty="0">
              <a:latin typeface="Times New Roman" panose="02020603050405020304" pitchFamily="18" charset="0"/>
              <a:ea typeface="宋体" panose="02010600030101010101" pitchFamily="2" charset="-122"/>
              <a:cs typeface="Times New Roman" panose="02020603050405020304" pitchFamily="18" charset="0"/>
            </a:endParaRPr>
          </a:p>
          <a:p>
            <a:pPr>
              <a:lnSpc>
                <a:spcPct val="130000"/>
              </a:lnSpc>
              <a:spcBef>
                <a:spcPts val="672"/>
              </a:spcBef>
            </a:pPr>
            <a:endParaRPr lang="en-US" altLang="zh-CN" sz="2400" b="1" dirty="0">
              <a:latin typeface="Times New Roman" panose="02020603050405020304" pitchFamily="18" charset="0"/>
              <a:ea typeface="宋体" panose="02010600030101010101" pitchFamily="2" charset="-122"/>
              <a:cs typeface="Times New Roman" panose="02020603050405020304" pitchFamily="18" charset="0"/>
            </a:endParaRPr>
          </a:p>
          <a:p>
            <a:pPr>
              <a:lnSpc>
                <a:spcPct val="130000"/>
              </a:lnSpc>
              <a:spcBef>
                <a:spcPts val="672"/>
              </a:spcBef>
            </a:pPr>
            <a:endParaRPr lang="en-US" altLang="zh-CN" sz="2400" b="1" dirty="0">
              <a:latin typeface="Times New Roman" panose="02020603050405020304" pitchFamily="18" charset="0"/>
              <a:ea typeface="宋体" panose="02010600030101010101" pitchFamily="2" charset="-122"/>
              <a:cs typeface="Times New Roman" panose="02020603050405020304" pitchFamily="18" charset="0"/>
            </a:endParaRPr>
          </a:p>
          <a:p>
            <a:pPr marL="342900" indent="-342900">
              <a:lnSpc>
                <a:spcPct val="130000"/>
              </a:lnSpc>
              <a:buFont typeface="Arial" panose="020B0604020202020204" pitchFamily="34" charset="0"/>
              <a:buChar char="•"/>
            </a:pPr>
            <a:r>
              <a:rPr lang="en-US" altLang="zh-CN" sz="2400" i="1">
                <a:latin typeface="Times New Roman" panose="02020603050405020304" pitchFamily="18" charset="0"/>
                <a:ea typeface="宋体" panose="02010600030101010101" pitchFamily="2" charset="-122"/>
                <a:cs typeface="Times New Roman" panose="02020603050405020304" pitchFamily="18" charset="0"/>
              </a:rPr>
              <a:t>z</a:t>
            </a:r>
            <a:r>
              <a:rPr lang="en-US" altLang="zh-CN" sz="2400" baseline="-25000">
                <a:latin typeface="Times New Roman" panose="02020603050405020304" pitchFamily="18" charset="0"/>
                <a:ea typeface="宋体" panose="02010600030101010101" pitchFamily="2" charset="-122"/>
                <a:cs typeface="Times New Roman" panose="02020603050405020304" pitchFamily="18" charset="0"/>
              </a:rPr>
              <a:t>1</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rPr>
              <a:t>z</a:t>
            </a:r>
            <a:r>
              <a:rPr lang="en-US" altLang="zh-CN" sz="2400" baseline="-25000" dirty="0">
                <a:latin typeface="Times New Roman" panose="02020603050405020304" pitchFamily="18" charset="0"/>
                <a:ea typeface="宋体" panose="02010600030101010101" pitchFamily="2" charset="-122"/>
                <a:cs typeface="Times New Roman" panose="02020603050405020304" pitchFamily="18" charset="0"/>
              </a:rPr>
              <a:t>2</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分别为入射波和折射波法向</a:t>
            </a:r>
            <a:r>
              <a:rPr lang="zh-CN" altLang="en-US" sz="2400" b="1" dirty="0">
                <a:solidFill>
                  <a:srgbClr val="3333CC"/>
                </a:solidFill>
                <a:latin typeface="Times New Roman" panose="02020603050405020304" pitchFamily="18" charset="0"/>
                <a:ea typeface="宋体" panose="02010600030101010101" pitchFamily="2" charset="-122"/>
                <a:cs typeface="Times New Roman" panose="02020603050405020304" pitchFamily="18" charset="0"/>
              </a:rPr>
              <a:t>声阻</a:t>
            </a:r>
            <a:r>
              <a:rPr lang="zh-CN" altLang="en-US" sz="2400" b="1">
                <a:solidFill>
                  <a:srgbClr val="3333CC"/>
                </a:solidFill>
                <a:latin typeface="Times New Roman" panose="02020603050405020304" pitchFamily="18" charset="0"/>
                <a:ea typeface="宋体" panose="02010600030101010101" pitchFamily="2" charset="-122"/>
                <a:cs typeface="Times New Roman" panose="02020603050405020304" pitchFamily="18" charset="0"/>
              </a:rPr>
              <a:t>抗</a:t>
            </a:r>
            <a:r>
              <a:rPr lang="zh-CN" altLang="en-US" sz="2400" b="1">
                <a:latin typeface="Times New Roman" panose="02020603050405020304" pitchFamily="18" charset="0"/>
                <a:ea typeface="宋体" panose="02010600030101010101" pitchFamily="2" charset="-122"/>
                <a:cs typeface="Times New Roman" panose="02020603050405020304" pitchFamily="18" charset="0"/>
              </a:rPr>
              <a:t>，</a:t>
            </a:r>
            <a:endParaRPr lang="en-US" altLang="zh-CN" sz="2400" b="1">
              <a:latin typeface="Times New Roman" panose="02020603050405020304" pitchFamily="18" charset="0"/>
              <a:ea typeface="宋体" panose="02010600030101010101" pitchFamily="2" charset="-122"/>
              <a:cs typeface="Times New Roman" panose="02020603050405020304" pitchFamily="18" charset="0"/>
            </a:endParaRPr>
          </a:p>
          <a:p>
            <a:pPr marL="342900" indent="-342900">
              <a:lnSpc>
                <a:spcPct val="130000"/>
              </a:lnSpc>
              <a:buFont typeface="Arial" panose="020B0604020202020204" pitchFamily="34" charset="0"/>
              <a:buChar char="•"/>
            </a:pPr>
            <a:r>
              <a:rPr lang="el-GR" altLang="zh-CN" sz="2400" i="1">
                <a:latin typeface="Times New Roman" panose="02020603050405020304" pitchFamily="18" charset="0"/>
                <a:ea typeface="宋体" panose="02010600030101010101" pitchFamily="2" charset="-122"/>
                <a:cs typeface="Times New Roman" panose="02020603050405020304" pitchFamily="18" charset="0"/>
              </a:rPr>
              <a:t>ρ</a:t>
            </a:r>
            <a:r>
              <a:rPr lang="en-US" altLang="zh-CN" sz="2400" baseline="-25000" dirty="0">
                <a:latin typeface="Times New Roman" panose="02020603050405020304" pitchFamily="18" charset="0"/>
                <a:ea typeface="宋体" panose="02010600030101010101" pitchFamily="2" charset="-122"/>
                <a:cs typeface="Times New Roman" panose="02020603050405020304" pitchFamily="18" charset="0"/>
              </a:rPr>
              <a:t>1</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a:t>
            </a:r>
            <a:r>
              <a:rPr lang="el-GR" altLang="zh-CN" sz="2400" i="1" dirty="0">
                <a:latin typeface="Times New Roman" panose="02020603050405020304" pitchFamily="18" charset="0"/>
                <a:ea typeface="宋体" panose="02010600030101010101" pitchFamily="2" charset="-122"/>
                <a:cs typeface="Times New Roman" panose="02020603050405020304" pitchFamily="18" charset="0"/>
              </a:rPr>
              <a:t>ρ</a:t>
            </a:r>
            <a:r>
              <a:rPr lang="en-US" altLang="zh-CN" sz="2400" baseline="-25000" dirty="0">
                <a:latin typeface="Times New Roman" panose="02020603050405020304" pitchFamily="18" charset="0"/>
                <a:ea typeface="宋体" panose="02010600030101010101" pitchFamily="2" charset="-122"/>
                <a:cs typeface="Times New Roman" panose="02020603050405020304" pitchFamily="18" charset="0"/>
              </a:rPr>
              <a:t>2</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分别为介质</a:t>
            </a:r>
            <a:r>
              <a:rPr lang="en-US" altLang="zh-CN" sz="2400" b="1" dirty="0">
                <a:latin typeface="Times New Roman" panose="02020603050405020304" pitchFamily="18" charset="0"/>
                <a:ea typeface="宋体" panose="02010600030101010101" pitchFamily="2" charset="-122"/>
                <a:cs typeface="Times New Roman" panose="02020603050405020304" pitchFamily="18" charset="0"/>
              </a:rPr>
              <a:t>1</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b="1" dirty="0">
                <a:latin typeface="Times New Roman" panose="02020603050405020304" pitchFamily="18" charset="0"/>
                <a:ea typeface="宋体" panose="02010600030101010101" pitchFamily="2" charset="-122"/>
                <a:cs typeface="Times New Roman" panose="02020603050405020304" pitchFamily="18" charset="0"/>
              </a:rPr>
              <a:t>2</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的</a:t>
            </a:r>
            <a:r>
              <a:rPr lang="zh-CN" altLang="en-US" sz="2400" b="1" dirty="0">
                <a:solidFill>
                  <a:srgbClr val="3333CC"/>
                </a:solidFill>
                <a:latin typeface="Times New Roman" panose="02020603050405020304" pitchFamily="18" charset="0"/>
                <a:ea typeface="宋体" panose="02010600030101010101" pitchFamily="2" charset="-122"/>
                <a:cs typeface="Times New Roman" panose="02020603050405020304" pitchFamily="18" charset="0"/>
              </a:rPr>
              <a:t>密</a:t>
            </a:r>
            <a:r>
              <a:rPr lang="zh-CN" altLang="en-US" sz="2400" b="1">
                <a:solidFill>
                  <a:srgbClr val="3333CC"/>
                </a:solidFill>
                <a:latin typeface="Times New Roman" panose="02020603050405020304" pitchFamily="18" charset="0"/>
                <a:ea typeface="宋体" panose="02010600030101010101" pitchFamily="2" charset="-122"/>
                <a:cs typeface="Times New Roman" panose="02020603050405020304" pitchFamily="18" charset="0"/>
              </a:rPr>
              <a:t>度</a:t>
            </a:r>
            <a:r>
              <a:rPr lang="zh-CN" altLang="en-US" sz="2400" b="1">
                <a:latin typeface="Times New Roman" panose="02020603050405020304" pitchFamily="18" charset="0"/>
                <a:ea typeface="宋体" panose="02010600030101010101" pitchFamily="2" charset="-122"/>
                <a:cs typeface="Times New Roman" panose="02020603050405020304" pitchFamily="18" charset="0"/>
              </a:rPr>
              <a:t>，</a:t>
            </a:r>
            <a:endParaRPr lang="en-US" altLang="zh-CN" sz="2400" b="1">
              <a:latin typeface="Times New Roman" panose="02020603050405020304" pitchFamily="18" charset="0"/>
              <a:ea typeface="宋体" panose="02010600030101010101" pitchFamily="2" charset="-122"/>
              <a:cs typeface="Times New Roman" panose="02020603050405020304" pitchFamily="18" charset="0"/>
            </a:endParaRPr>
          </a:p>
          <a:p>
            <a:pPr marL="342900" indent="-342900">
              <a:lnSpc>
                <a:spcPct val="130000"/>
              </a:lnSpc>
              <a:buFont typeface="Arial" panose="020B0604020202020204" pitchFamily="34" charset="0"/>
              <a:buChar char="•"/>
            </a:pPr>
            <a:r>
              <a:rPr lang="en-US" altLang="zh-CN" sz="2400" i="1">
                <a:latin typeface="Times New Roman" panose="02020603050405020304" pitchFamily="18" charset="0"/>
                <a:ea typeface="宋体" panose="02010600030101010101" pitchFamily="2" charset="-122"/>
                <a:cs typeface="Times New Roman" panose="02020603050405020304" pitchFamily="18" charset="0"/>
              </a:rPr>
              <a:t>c</a:t>
            </a:r>
            <a:r>
              <a:rPr lang="en-US" altLang="zh-CN" sz="2400" baseline="-25000">
                <a:latin typeface="Times New Roman" panose="02020603050405020304" pitchFamily="18" charset="0"/>
                <a:ea typeface="宋体" panose="02010600030101010101" pitchFamily="2" charset="-122"/>
                <a:cs typeface="Times New Roman" panose="02020603050405020304" pitchFamily="18" charset="0"/>
              </a:rPr>
              <a:t>1</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为入射波在介</a:t>
            </a:r>
            <a:r>
              <a:rPr lang="zh-CN" altLang="en-US" sz="2400" b="1">
                <a:latin typeface="Times New Roman" panose="02020603050405020304" pitchFamily="18" charset="0"/>
                <a:ea typeface="宋体" panose="02010600030101010101" pitchFamily="2" charset="-122"/>
                <a:cs typeface="Times New Roman" panose="02020603050405020304" pitchFamily="18" charset="0"/>
              </a:rPr>
              <a:t>质</a:t>
            </a:r>
            <a:r>
              <a:rPr lang="en-US" altLang="zh-CN" sz="2400" b="1">
                <a:latin typeface="Times New Roman" panose="02020603050405020304" pitchFamily="18" charset="0"/>
                <a:ea typeface="宋体" panose="02010600030101010101" pitchFamily="2" charset="-122"/>
                <a:cs typeface="Times New Roman" panose="02020603050405020304" pitchFamily="18" charset="0"/>
              </a:rPr>
              <a:t>1</a:t>
            </a:r>
            <a:r>
              <a:rPr lang="zh-CN" altLang="en-US" sz="2400" b="1">
                <a:latin typeface="Times New Roman" panose="02020603050405020304" pitchFamily="18" charset="0"/>
                <a:ea typeface="宋体" panose="02010600030101010101" pitchFamily="2" charset="-122"/>
                <a:cs typeface="Times New Roman" panose="02020603050405020304" pitchFamily="18" charset="0"/>
              </a:rPr>
              <a:t>中的</a:t>
            </a:r>
            <a:r>
              <a:rPr lang="zh-CN" altLang="en-US" sz="2400" b="1">
                <a:solidFill>
                  <a:srgbClr val="3333CC"/>
                </a:solidFill>
                <a:latin typeface="Times New Roman" panose="02020603050405020304" pitchFamily="18" charset="0"/>
                <a:ea typeface="宋体" panose="02010600030101010101" pitchFamily="2" charset="-122"/>
                <a:cs typeface="Times New Roman" panose="02020603050405020304" pitchFamily="18" charset="0"/>
              </a:rPr>
              <a:t>传播速</a:t>
            </a:r>
            <a:r>
              <a:rPr lang="zh-CN" altLang="en-US" sz="2400" b="1" dirty="0">
                <a:solidFill>
                  <a:srgbClr val="3333CC"/>
                </a:solidFill>
                <a:latin typeface="Times New Roman" panose="02020603050405020304" pitchFamily="18" charset="0"/>
                <a:ea typeface="宋体" panose="02010600030101010101" pitchFamily="2" charset="-122"/>
                <a:cs typeface="Times New Roman" panose="02020603050405020304" pitchFamily="18" charset="0"/>
              </a:rPr>
              <a:t>度</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rPr>
              <a:t>c</a:t>
            </a:r>
            <a:r>
              <a:rPr lang="en-US" altLang="zh-CN" sz="2400" baseline="-25000" dirty="0">
                <a:latin typeface="Times New Roman" panose="02020603050405020304" pitchFamily="18" charset="0"/>
                <a:ea typeface="宋体" panose="02010600030101010101" pitchFamily="2" charset="-122"/>
                <a:cs typeface="Times New Roman" panose="02020603050405020304" pitchFamily="18" charset="0"/>
              </a:rPr>
              <a:t>2</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为折射波在介质</a:t>
            </a:r>
            <a:r>
              <a:rPr lang="en-US" altLang="zh-CN" sz="2400" b="1" dirty="0">
                <a:latin typeface="Times New Roman" panose="02020603050405020304" pitchFamily="18" charset="0"/>
                <a:ea typeface="宋体" panose="02010600030101010101" pitchFamily="2" charset="-122"/>
                <a:cs typeface="Times New Roman" panose="02020603050405020304" pitchFamily="18" charset="0"/>
              </a:rPr>
              <a:t>2</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中的传播速度</a:t>
            </a:r>
            <a:endParaRPr lang="en-US" altLang="zh-CN" sz="2400" b="1"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9" name="矩形 28">
            <a:extLst>
              <a:ext uri="{FF2B5EF4-FFF2-40B4-BE49-F238E27FC236}">
                <a16:creationId xmlns:a16="http://schemas.microsoft.com/office/drawing/2014/main" id="{64509930-9DFB-420E-8F32-960E50399825}"/>
              </a:ext>
            </a:extLst>
          </p:cNvPr>
          <p:cNvSpPr/>
          <p:nvPr/>
        </p:nvSpPr>
        <p:spPr>
          <a:xfrm>
            <a:off x="1571711" y="258777"/>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0" name="圆角矩形 43">
            <a:extLst>
              <a:ext uri="{FF2B5EF4-FFF2-40B4-BE49-F238E27FC236}">
                <a16:creationId xmlns:a16="http://schemas.microsoft.com/office/drawing/2014/main" id="{7D086454-5B10-4064-9B8F-531209592F7E}"/>
              </a:ext>
            </a:extLst>
          </p:cNvPr>
          <p:cNvSpPr/>
          <p:nvPr/>
        </p:nvSpPr>
        <p:spPr>
          <a:xfrm rot="10800000" flipV="1">
            <a:off x="185084" y="242948"/>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20204" pitchFamily="34" charset="0"/>
                <a:ea typeface="宋体" panose="02010600030101010101" pitchFamily="2" charset="-122"/>
                <a:cs typeface="Arial" panose="020B0604020202020204" pitchFamily="34" charset="0"/>
              </a:rPr>
              <a:t>9.1.2</a:t>
            </a:r>
            <a:endParaRPr lang="zh-CN" altLang="en-US" sz="3200" b="1" dirty="0">
              <a:latin typeface="Arial" panose="020B0604020202020204" pitchFamily="34" charset="0"/>
              <a:ea typeface="宋体" panose="02010600030101010101" pitchFamily="2" charset="-122"/>
              <a:cs typeface="Arial" panose="020B0604020202020204" pitchFamily="34" charset="0"/>
            </a:endParaRPr>
          </a:p>
        </p:txBody>
      </p:sp>
      <p:sp>
        <p:nvSpPr>
          <p:cNvPr id="41" name="矩形 40">
            <a:extLst>
              <a:ext uri="{FF2B5EF4-FFF2-40B4-BE49-F238E27FC236}">
                <a16:creationId xmlns:a16="http://schemas.microsoft.com/office/drawing/2014/main" id="{2A2F604C-DA27-459E-8419-ED777356D653}"/>
              </a:ext>
            </a:extLst>
          </p:cNvPr>
          <p:cNvSpPr/>
          <p:nvPr/>
        </p:nvSpPr>
        <p:spPr>
          <a:xfrm>
            <a:off x="2030933" y="253949"/>
            <a:ext cx="1935137" cy="615549"/>
          </a:xfrm>
          <a:prstGeom prst="rect">
            <a:avLst/>
          </a:prstGeom>
        </p:spPr>
        <p:txBody>
          <a:bodyPr wrap="none" lIns="91436" tIns="45718" rIns="91436" bIns="45718">
            <a:spAutoFit/>
          </a:bodyPr>
          <a:lstStyle/>
          <a:p>
            <a:pPr algn="ctr"/>
            <a:r>
              <a:rPr lang="zh-CN" altLang="en-US" sz="3400" b="1" dirty="0">
                <a:solidFill>
                  <a:schemeClr val="bg1"/>
                </a:solidFill>
                <a:latin typeface="宋体" panose="02010600030101010101" pitchFamily="2" charset="-122"/>
                <a:ea typeface="宋体" panose="02010600030101010101" pitchFamily="2" charset="-122"/>
              </a:rPr>
              <a:t>物理特性</a:t>
            </a:r>
            <a:endParaRPr lang="en-US" altLang="zh-CN" sz="3400" b="1" dirty="0">
              <a:solidFill>
                <a:schemeClr val="bg1"/>
              </a:solidFill>
              <a:latin typeface="宋体" panose="02010600030101010101" pitchFamily="2" charset="-122"/>
              <a:ea typeface="宋体" panose="02010600030101010101" pitchFamily="2" charset="-122"/>
            </a:endParaRPr>
          </a:p>
        </p:txBody>
      </p:sp>
      <mc:AlternateContent xmlns:mc="http://schemas.openxmlformats.org/markup-compatibility/2006" xmlns:a14="http://schemas.microsoft.com/office/drawing/2010/main">
        <mc:Choice Requires="a14">
          <p:sp>
            <p:nvSpPr>
              <p:cNvPr id="2" name="矩形 1"/>
              <p:cNvSpPr/>
              <p:nvPr/>
            </p:nvSpPr>
            <p:spPr>
              <a:xfrm>
                <a:off x="2145417" y="2396472"/>
                <a:ext cx="2584362" cy="78726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𝛾</m:t>
                          </m:r>
                        </m:e>
                        <m:sub>
                          <m:r>
                            <a:rPr lang="zh-CN" altLang="en-US" sz="2400" i="1">
                              <a:latin typeface="Cambria Math" panose="02040503050406030204" pitchFamily="18" charset="0"/>
                            </a:rPr>
                            <m:t>𝑝</m:t>
                          </m:r>
                        </m:sub>
                      </m:sSub>
                      <m:r>
                        <a:rPr lang="zh-CN" altLang="en-US" sz="2400" i="0">
                          <a:latin typeface="Cambria Math" panose="02040503050406030204" pitchFamily="18" charset="0"/>
                        </a:rPr>
                        <m:t>=</m:t>
                      </m:r>
                      <m:f>
                        <m:fPr>
                          <m:ctrlPr>
                            <a:rPr lang="zh-CN" altLang="en-US" sz="2400" i="1">
                              <a:latin typeface="Cambria Math" panose="02040503050406030204" pitchFamily="18" charset="0"/>
                            </a:rPr>
                          </m:ctrlPr>
                        </m:fPr>
                        <m:num>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𝑝</m:t>
                              </m:r>
                            </m:e>
                            <m:sub>
                              <m:r>
                                <a:rPr lang="zh-CN" altLang="en-US" sz="2400" i="1">
                                  <a:latin typeface="Cambria Math" panose="02040503050406030204" pitchFamily="18" charset="0"/>
                                </a:rPr>
                                <m:t>𝑟</m:t>
                              </m:r>
                            </m:sub>
                          </m:sSub>
                        </m:num>
                        <m:den>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𝑝</m:t>
                              </m:r>
                            </m:e>
                            <m:sub>
                              <m:r>
                                <a:rPr lang="zh-CN" altLang="en-US" sz="2400" i="1">
                                  <a:latin typeface="Cambria Math" panose="02040503050406030204" pitchFamily="18" charset="0"/>
                                </a:rPr>
                                <m:t>𝑖</m:t>
                              </m:r>
                            </m:sub>
                          </m:sSub>
                        </m:den>
                      </m:f>
                      <m:r>
                        <a:rPr lang="zh-CN" altLang="en-US" sz="2400" i="0">
                          <a:latin typeface="Cambria Math" panose="02040503050406030204" pitchFamily="18" charset="0"/>
                        </a:rPr>
                        <m:t>=</m:t>
                      </m:r>
                      <m:f>
                        <m:fPr>
                          <m:ctrlPr>
                            <a:rPr lang="zh-CN" altLang="en-US" sz="2400" i="1">
                              <a:latin typeface="Cambria Math" panose="02040503050406030204" pitchFamily="18" charset="0"/>
                            </a:rPr>
                          </m:ctrlPr>
                        </m:fPr>
                        <m:num>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𝑧</m:t>
                              </m:r>
                            </m:e>
                            <m:sub>
                              <m:r>
                                <a:rPr lang="zh-CN" altLang="en-US" sz="2400" i="0">
                                  <a:latin typeface="Cambria Math" panose="02040503050406030204" pitchFamily="18" charset="0"/>
                                </a:rPr>
                                <m:t>2</m:t>
                              </m:r>
                            </m:sub>
                          </m:sSub>
                          <m:r>
                            <a:rPr lang="zh-CN" altLang="en-US" sz="2400" i="0">
                              <a:latin typeface="Cambria Math" panose="02040503050406030204" pitchFamily="18" charset="0"/>
                            </a:rPr>
                            <m:t>−</m:t>
                          </m:r>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𝑧</m:t>
                              </m:r>
                            </m:e>
                            <m:sub>
                              <m:r>
                                <a:rPr lang="zh-CN" altLang="en-US" sz="2400" i="0">
                                  <a:latin typeface="Cambria Math" panose="02040503050406030204" pitchFamily="18" charset="0"/>
                                </a:rPr>
                                <m:t>1</m:t>
                              </m:r>
                            </m:sub>
                          </m:sSub>
                        </m:num>
                        <m:den>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𝑧</m:t>
                              </m:r>
                            </m:e>
                            <m:sub>
                              <m:r>
                                <a:rPr lang="zh-CN" altLang="en-US" sz="2400" i="0">
                                  <a:latin typeface="Cambria Math" panose="02040503050406030204" pitchFamily="18" charset="0"/>
                                </a:rPr>
                                <m:t>2</m:t>
                              </m:r>
                            </m:sub>
                          </m:sSub>
                          <m:r>
                            <a:rPr lang="zh-CN" altLang="en-US" sz="2400" i="0">
                              <a:latin typeface="Cambria Math" panose="02040503050406030204" pitchFamily="18" charset="0"/>
                            </a:rPr>
                            <m:t>+</m:t>
                          </m:r>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𝑧</m:t>
                              </m:r>
                            </m:e>
                            <m:sub>
                              <m:r>
                                <a:rPr lang="zh-CN" altLang="en-US" sz="2400" i="0">
                                  <a:latin typeface="Cambria Math" panose="02040503050406030204" pitchFamily="18" charset="0"/>
                                </a:rPr>
                                <m:t>1</m:t>
                              </m:r>
                            </m:sub>
                          </m:sSub>
                        </m:den>
                      </m:f>
                    </m:oMath>
                  </m:oMathPara>
                </a14:m>
                <a:endParaRPr lang="zh-CN" altLang="en-US" sz="2400" dirty="0"/>
              </a:p>
            </p:txBody>
          </p:sp>
        </mc:Choice>
        <mc:Fallback xmlns="">
          <p:sp>
            <p:nvSpPr>
              <p:cNvPr id="2" name="矩形 1"/>
              <p:cNvSpPr>
                <a:spLocks noRot="1" noChangeAspect="1" noMove="1" noResize="1" noEditPoints="1" noAdjustHandles="1" noChangeArrowheads="1" noChangeShapeType="1" noTextEdit="1"/>
              </p:cNvSpPr>
              <p:nvPr/>
            </p:nvSpPr>
            <p:spPr>
              <a:xfrm>
                <a:off x="2145417" y="2396472"/>
                <a:ext cx="2584362" cy="787267"/>
              </a:xfrm>
              <a:prstGeom prst="rect">
                <a:avLst/>
              </a:prstGeom>
              <a:blipFill>
                <a:blip r:embed="rId3"/>
                <a:stretch>
                  <a:fillRect/>
                </a:stretch>
              </a:blipFill>
            </p:spPr>
            <p:txBody>
              <a:bodyPr/>
              <a:lstStyle/>
              <a:p>
                <a:r>
                  <a:rPr lang="en-001">
                    <a:noFill/>
                  </a:rPr>
                  <a:t> </a:t>
                </a:r>
              </a:p>
            </p:txBody>
          </p:sp>
        </mc:Fallback>
      </mc:AlternateContent>
      <mc:AlternateContent xmlns:mc="http://schemas.openxmlformats.org/markup-compatibility/2006" xmlns:a14="http://schemas.microsoft.com/office/drawing/2010/main">
        <mc:Choice Requires="a14">
          <p:sp>
            <p:nvSpPr>
              <p:cNvPr id="4" name="矩形 3"/>
              <p:cNvSpPr/>
              <p:nvPr/>
            </p:nvSpPr>
            <p:spPr>
              <a:xfrm>
                <a:off x="5423620" y="2335109"/>
                <a:ext cx="2551148" cy="84863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𝑡</m:t>
                          </m:r>
                        </m:e>
                        <m:sub>
                          <m:r>
                            <a:rPr lang="zh-CN" altLang="en-US" sz="2400" i="1">
                              <a:latin typeface="Cambria Math" panose="02040503050406030204" pitchFamily="18" charset="0"/>
                            </a:rPr>
                            <m:t>𝑝</m:t>
                          </m:r>
                        </m:sub>
                      </m:sSub>
                      <m:r>
                        <a:rPr lang="zh-CN" altLang="en-US" sz="2400" i="0">
                          <a:latin typeface="Cambria Math" panose="02040503050406030204" pitchFamily="18" charset="0"/>
                        </a:rPr>
                        <m:t>=</m:t>
                      </m:r>
                      <m:f>
                        <m:fPr>
                          <m:ctrlPr>
                            <a:rPr lang="zh-CN" altLang="en-US" sz="2400" i="1">
                              <a:latin typeface="Cambria Math" panose="02040503050406030204" pitchFamily="18" charset="0"/>
                            </a:rPr>
                          </m:ctrlPr>
                        </m:fPr>
                        <m:num>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𝑝</m:t>
                              </m:r>
                            </m:e>
                            <m:sub>
                              <m:r>
                                <a:rPr lang="zh-CN" altLang="en-US" sz="2400" i="1">
                                  <a:latin typeface="Cambria Math" panose="02040503050406030204" pitchFamily="18" charset="0"/>
                                </a:rPr>
                                <m:t>𝑡</m:t>
                              </m:r>
                            </m:sub>
                          </m:sSub>
                        </m:num>
                        <m:den>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𝑝</m:t>
                              </m:r>
                            </m:e>
                            <m:sub>
                              <m:r>
                                <a:rPr lang="zh-CN" altLang="en-US" sz="2400" i="1">
                                  <a:latin typeface="Cambria Math" panose="02040503050406030204" pitchFamily="18" charset="0"/>
                                </a:rPr>
                                <m:t>𝑖</m:t>
                              </m:r>
                            </m:sub>
                          </m:sSub>
                        </m:den>
                      </m:f>
                      <m:r>
                        <a:rPr lang="zh-CN" altLang="en-US" sz="2400" i="0">
                          <a:latin typeface="Cambria Math" panose="02040503050406030204" pitchFamily="18" charset="0"/>
                        </a:rPr>
                        <m:t>=</m:t>
                      </m:r>
                      <m:f>
                        <m:fPr>
                          <m:ctrlPr>
                            <a:rPr lang="zh-CN" altLang="en-US" sz="2400" i="1">
                              <a:latin typeface="Cambria Math" panose="02040503050406030204" pitchFamily="18" charset="0"/>
                            </a:rPr>
                          </m:ctrlPr>
                        </m:fPr>
                        <m:num>
                          <m:r>
                            <a:rPr lang="zh-CN" altLang="en-US" sz="2400" i="0">
                              <a:latin typeface="Cambria Math" panose="02040503050406030204" pitchFamily="18" charset="0"/>
                            </a:rPr>
                            <m:t>2</m:t>
                          </m:r>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𝑧</m:t>
                              </m:r>
                            </m:e>
                            <m:sub>
                              <m:r>
                                <a:rPr lang="zh-CN" altLang="en-US" sz="2400" i="0">
                                  <a:latin typeface="Cambria Math" panose="02040503050406030204" pitchFamily="18" charset="0"/>
                                </a:rPr>
                                <m:t>1</m:t>
                              </m:r>
                            </m:sub>
                          </m:sSub>
                        </m:num>
                        <m:den>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𝑧</m:t>
                              </m:r>
                            </m:e>
                            <m:sub>
                              <m:r>
                                <a:rPr lang="zh-CN" altLang="en-US" sz="2400" i="0">
                                  <a:latin typeface="Cambria Math" panose="02040503050406030204" pitchFamily="18" charset="0"/>
                                </a:rPr>
                                <m:t>2</m:t>
                              </m:r>
                            </m:sub>
                          </m:sSub>
                          <m:r>
                            <a:rPr lang="zh-CN" altLang="en-US" sz="2400" i="0">
                              <a:latin typeface="Cambria Math" panose="02040503050406030204" pitchFamily="18" charset="0"/>
                            </a:rPr>
                            <m:t>+</m:t>
                          </m:r>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𝑧</m:t>
                              </m:r>
                            </m:e>
                            <m:sub>
                              <m:r>
                                <a:rPr lang="zh-CN" altLang="en-US" sz="2400" i="0">
                                  <a:latin typeface="Cambria Math" panose="02040503050406030204" pitchFamily="18" charset="0"/>
                                </a:rPr>
                                <m:t>1</m:t>
                              </m:r>
                            </m:sub>
                          </m:sSub>
                        </m:den>
                      </m:f>
                    </m:oMath>
                  </m:oMathPara>
                </a14:m>
                <a:endParaRPr lang="zh-CN" altLang="en-US" sz="2400" dirty="0"/>
              </a:p>
            </p:txBody>
          </p:sp>
        </mc:Choice>
        <mc:Fallback xmlns="">
          <p:sp>
            <p:nvSpPr>
              <p:cNvPr id="4" name="矩形 3"/>
              <p:cNvSpPr>
                <a:spLocks noRot="1" noChangeAspect="1" noMove="1" noResize="1" noEditPoints="1" noAdjustHandles="1" noChangeArrowheads="1" noChangeShapeType="1" noTextEdit="1"/>
              </p:cNvSpPr>
              <p:nvPr/>
            </p:nvSpPr>
            <p:spPr>
              <a:xfrm>
                <a:off x="5423620" y="2335109"/>
                <a:ext cx="2551148" cy="848630"/>
              </a:xfrm>
              <a:prstGeom prst="rect">
                <a:avLst/>
              </a:prstGeom>
              <a:blipFill>
                <a:blip r:embed="rId4"/>
                <a:stretch>
                  <a:fillRect/>
                </a:stretch>
              </a:blipFill>
            </p:spPr>
            <p:txBody>
              <a:bodyPr/>
              <a:lstStyle/>
              <a:p>
                <a:r>
                  <a:rPr lang="en-001">
                    <a:noFill/>
                  </a:rPr>
                  <a:t> </a:t>
                </a:r>
              </a:p>
            </p:txBody>
          </p:sp>
        </mc:Fallback>
      </mc:AlternateContent>
      <mc:AlternateContent xmlns:mc="http://schemas.openxmlformats.org/markup-compatibility/2006" xmlns:a14="http://schemas.microsoft.com/office/drawing/2010/main">
        <mc:Choice Requires="a14">
          <p:sp>
            <p:nvSpPr>
              <p:cNvPr id="6" name="矩形 5"/>
              <p:cNvSpPr/>
              <p:nvPr/>
            </p:nvSpPr>
            <p:spPr>
              <a:xfrm>
                <a:off x="2406046" y="5088511"/>
                <a:ext cx="2455929" cy="78726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𝑧</m:t>
                          </m:r>
                        </m:e>
                        <m:sub>
                          <m:r>
                            <a:rPr lang="zh-CN" altLang="en-US" sz="2400" i="0">
                              <a:latin typeface="Cambria Math" panose="02040503050406030204" pitchFamily="18" charset="0"/>
                            </a:rPr>
                            <m:t>1</m:t>
                          </m:r>
                        </m:sub>
                      </m:sSub>
                      <m:r>
                        <a:rPr lang="zh-CN" altLang="en-US" sz="2400" i="0">
                          <a:latin typeface="Cambria Math" panose="02040503050406030204" pitchFamily="18" charset="0"/>
                        </a:rPr>
                        <m:t>=</m:t>
                      </m:r>
                      <m:f>
                        <m:fPr>
                          <m:ctrlPr>
                            <a:rPr lang="zh-CN" altLang="en-US" sz="2400" i="1">
                              <a:latin typeface="Cambria Math" panose="02040503050406030204" pitchFamily="18" charset="0"/>
                            </a:rPr>
                          </m:ctrlPr>
                        </m:fPr>
                        <m:num>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𝑝</m:t>
                              </m:r>
                            </m:e>
                            <m:sub>
                              <m:r>
                                <a:rPr lang="zh-CN" altLang="en-US" sz="2400" i="1">
                                  <a:latin typeface="Cambria Math" panose="02040503050406030204" pitchFamily="18" charset="0"/>
                                </a:rPr>
                                <m:t>𝑖</m:t>
                              </m:r>
                            </m:sub>
                          </m:sSub>
                        </m:num>
                        <m:den>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𝑣</m:t>
                              </m:r>
                            </m:e>
                            <m:sub>
                              <m:r>
                                <a:rPr lang="zh-CN" altLang="en-US" sz="2400" i="1">
                                  <a:latin typeface="Cambria Math" panose="02040503050406030204" pitchFamily="18" charset="0"/>
                                </a:rPr>
                                <m:t>𝑖𝑥</m:t>
                              </m:r>
                            </m:sub>
                          </m:sSub>
                        </m:den>
                      </m:f>
                      <m:r>
                        <a:rPr lang="zh-CN" altLang="en-US" sz="2400" i="0">
                          <a:latin typeface="Cambria Math" panose="02040503050406030204" pitchFamily="18" charset="0"/>
                        </a:rPr>
                        <m:t>=</m:t>
                      </m:r>
                      <m:f>
                        <m:fPr>
                          <m:ctrlPr>
                            <a:rPr lang="zh-CN" altLang="en-US" sz="2400" i="1">
                              <a:latin typeface="Cambria Math" panose="02040503050406030204" pitchFamily="18" charset="0"/>
                            </a:rPr>
                          </m:ctrlPr>
                        </m:fPr>
                        <m:num>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𝜌</m:t>
                              </m:r>
                            </m:e>
                            <m:sub>
                              <m:r>
                                <a:rPr lang="zh-CN" altLang="en-US" sz="2400" i="0">
                                  <a:latin typeface="Cambria Math" panose="02040503050406030204" pitchFamily="18" charset="0"/>
                                </a:rPr>
                                <m:t>1</m:t>
                              </m:r>
                            </m:sub>
                          </m:sSub>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𝑐</m:t>
                              </m:r>
                            </m:e>
                            <m:sub>
                              <m:r>
                                <a:rPr lang="zh-CN" altLang="en-US" sz="2400" i="0">
                                  <a:latin typeface="Cambria Math" panose="02040503050406030204" pitchFamily="18" charset="0"/>
                                </a:rPr>
                                <m:t>1</m:t>
                              </m:r>
                            </m:sub>
                          </m:sSub>
                        </m:num>
                        <m:den>
                          <m:r>
                            <a:rPr lang="zh-CN" altLang="en-US" sz="2400" i="1">
                              <a:latin typeface="Cambria Math" panose="02040503050406030204" pitchFamily="18" charset="0"/>
                            </a:rPr>
                            <m:t>𝑐𝑜𝑠</m:t>
                          </m:r>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𝜃</m:t>
                              </m:r>
                            </m:e>
                            <m:sub>
                              <m:r>
                                <a:rPr lang="zh-CN" altLang="en-US" sz="2400" i="1">
                                  <a:latin typeface="Cambria Math" panose="02040503050406030204" pitchFamily="18" charset="0"/>
                                </a:rPr>
                                <m:t>𝑖</m:t>
                              </m:r>
                            </m:sub>
                          </m:sSub>
                        </m:den>
                      </m:f>
                    </m:oMath>
                  </m:oMathPara>
                </a14:m>
                <a:endParaRPr lang="zh-CN" altLang="en-US" sz="2400" dirty="0"/>
              </a:p>
            </p:txBody>
          </p:sp>
        </mc:Choice>
        <mc:Fallback xmlns="">
          <p:sp>
            <p:nvSpPr>
              <p:cNvPr id="6" name="矩形 5"/>
              <p:cNvSpPr>
                <a:spLocks noRot="1" noChangeAspect="1" noMove="1" noResize="1" noEditPoints="1" noAdjustHandles="1" noChangeArrowheads="1" noChangeShapeType="1" noTextEdit="1"/>
              </p:cNvSpPr>
              <p:nvPr/>
            </p:nvSpPr>
            <p:spPr>
              <a:xfrm>
                <a:off x="2406046" y="5088511"/>
                <a:ext cx="2455929" cy="787267"/>
              </a:xfrm>
              <a:prstGeom prst="rect">
                <a:avLst/>
              </a:prstGeom>
              <a:blipFill>
                <a:blip r:embed="rId5"/>
                <a:stretch>
                  <a:fillRect/>
                </a:stretch>
              </a:blipFill>
            </p:spPr>
            <p:txBody>
              <a:bodyPr/>
              <a:lstStyle/>
              <a:p>
                <a:r>
                  <a:rPr lang="en-001">
                    <a:noFill/>
                  </a:rPr>
                  <a:t> </a:t>
                </a:r>
              </a:p>
            </p:txBody>
          </p:sp>
        </mc:Fallback>
      </mc:AlternateContent>
      <mc:AlternateContent xmlns:mc="http://schemas.openxmlformats.org/markup-compatibility/2006" xmlns:a14="http://schemas.microsoft.com/office/drawing/2010/main">
        <mc:Choice Requires="a14">
          <p:sp>
            <p:nvSpPr>
              <p:cNvPr id="7" name="矩形 6"/>
              <p:cNvSpPr/>
              <p:nvPr/>
            </p:nvSpPr>
            <p:spPr>
              <a:xfrm>
                <a:off x="5563374" y="5066877"/>
                <a:ext cx="2503058" cy="78726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𝑧</m:t>
                          </m:r>
                        </m:e>
                        <m:sub>
                          <m:r>
                            <a:rPr lang="zh-CN" altLang="en-US" sz="2400" i="0">
                              <a:latin typeface="Cambria Math" panose="02040503050406030204" pitchFamily="18" charset="0"/>
                            </a:rPr>
                            <m:t>2</m:t>
                          </m:r>
                        </m:sub>
                      </m:sSub>
                      <m:r>
                        <a:rPr lang="zh-CN" altLang="en-US" sz="2400" i="0">
                          <a:latin typeface="Cambria Math" panose="02040503050406030204" pitchFamily="18" charset="0"/>
                        </a:rPr>
                        <m:t>=</m:t>
                      </m:r>
                      <m:f>
                        <m:fPr>
                          <m:ctrlPr>
                            <a:rPr lang="zh-CN" altLang="en-US" sz="2400" i="1">
                              <a:latin typeface="Cambria Math" panose="02040503050406030204" pitchFamily="18" charset="0"/>
                            </a:rPr>
                          </m:ctrlPr>
                        </m:fPr>
                        <m:num>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𝑝</m:t>
                              </m:r>
                            </m:e>
                            <m:sub>
                              <m:r>
                                <a:rPr lang="zh-CN" altLang="en-US" sz="2400" i="1">
                                  <a:latin typeface="Cambria Math" panose="02040503050406030204" pitchFamily="18" charset="0"/>
                                </a:rPr>
                                <m:t>𝑡</m:t>
                              </m:r>
                            </m:sub>
                          </m:sSub>
                        </m:num>
                        <m:den>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𝑣</m:t>
                              </m:r>
                            </m:e>
                            <m:sub>
                              <m:r>
                                <a:rPr lang="zh-CN" altLang="en-US" sz="2400" i="1">
                                  <a:latin typeface="Cambria Math" panose="02040503050406030204" pitchFamily="18" charset="0"/>
                                </a:rPr>
                                <m:t>𝑡𝑥</m:t>
                              </m:r>
                            </m:sub>
                          </m:sSub>
                        </m:den>
                      </m:f>
                      <m:r>
                        <a:rPr lang="zh-CN" altLang="en-US" sz="2400" i="0">
                          <a:latin typeface="Cambria Math" panose="02040503050406030204" pitchFamily="18" charset="0"/>
                        </a:rPr>
                        <m:t>=</m:t>
                      </m:r>
                      <m:f>
                        <m:fPr>
                          <m:ctrlPr>
                            <a:rPr lang="zh-CN" altLang="en-US" sz="2400" i="1">
                              <a:latin typeface="Cambria Math" panose="02040503050406030204" pitchFamily="18" charset="0"/>
                            </a:rPr>
                          </m:ctrlPr>
                        </m:fPr>
                        <m:num>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𝜌</m:t>
                              </m:r>
                            </m:e>
                            <m:sub>
                              <m:r>
                                <a:rPr lang="zh-CN" altLang="en-US" sz="2400" i="0">
                                  <a:latin typeface="Cambria Math" panose="02040503050406030204" pitchFamily="18" charset="0"/>
                                </a:rPr>
                                <m:t>2</m:t>
                              </m:r>
                            </m:sub>
                          </m:sSub>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𝑐</m:t>
                              </m:r>
                            </m:e>
                            <m:sub>
                              <m:r>
                                <a:rPr lang="zh-CN" altLang="en-US" sz="2400" i="0">
                                  <a:latin typeface="Cambria Math" panose="02040503050406030204" pitchFamily="18" charset="0"/>
                                </a:rPr>
                                <m:t>2</m:t>
                              </m:r>
                            </m:sub>
                          </m:sSub>
                        </m:num>
                        <m:den>
                          <m:r>
                            <a:rPr lang="zh-CN" altLang="en-US" sz="2400" i="1">
                              <a:latin typeface="Cambria Math" panose="02040503050406030204" pitchFamily="18" charset="0"/>
                            </a:rPr>
                            <m:t>𝑐𝑜𝑠</m:t>
                          </m:r>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𝜃</m:t>
                              </m:r>
                            </m:e>
                            <m:sub>
                              <m:r>
                                <a:rPr lang="zh-CN" altLang="en-US" sz="2400" i="1">
                                  <a:latin typeface="Cambria Math" panose="02040503050406030204" pitchFamily="18" charset="0"/>
                                </a:rPr>
                                <m:t>𝑡</m:t>
                              </m:r>
                            </m:sub>
                          </m:sSub>
                        </m:den>
                      </m:f>
                    </m:oMath>
                  </m:oMathPara>
                </a14:m>
                <a:endParaRPr lang="zh-CN" altLang="en-US" sz="2400" dirty="0"/>
              </a:p>
            </p:txBody>
          </p:sp>
        </mc:Choice>
        <mc:Fallback xmlns="">
          <p:sp>
            <p:nvSpPr>
              <p:cNvPr id="7" name="矩形 6"/>
              <p:cNvSpPr>
                <a:spLocks noRot="1" noChangeAspect="1" noMove="1" noResize="1" noEditPoints="1" noAdjustHandles="1" noChangeArrowheads="1" noChangeShapeType="1" noTextEdit="1"/>
              </p:cNvSpPr>
              <p:nvPr/>
            </p:nvSpPr>
            <p:spPr>
              <a:xfrm>
                <a:off x="5563374" y="5066877"/>
                <a:ext cx="2503058" cy="787267"/>
              </a:xfrm>
              <a:prstGeom prst="rect">
                <a:avLst/>
              </a:prstGeom>
              <a:blipFill>
                <a:blip r:embed="rId6"/>
                <a:stretch>
                  <a:fillRect/>
                </a:stretch>
              </a:blipFill>
            </p:spPr>
            <p:txBody>
              <a:bodyPr/>
              <a:lstStyle/>
              <a:p>
                <a:r>
                  <a:rPr lang="en-001">
                    <a:noFill/>
                  </a:rPr>
                  <a:t> </a:t>
                </a:r>
              </a:p>
            </p:txBody>
          </p:sp>
        </mc:Fallback>
      </mc:AlternateContent>
      <p:sp>
        <p:nvSpPr>
          <p:cNvPr id="5" name="Slide Number Placeholder 4">
            <a:extLst>
              <a:ext uri="{FF2B5EF4-FFF2-40B4-BE49-F238E27FC236}">
                <a16:creationId xmlns:a16="http://schemas.microsoft.com/office/drawing/2014/main" id="{630064C1-ACDA-4024-A45B-B3C08DDFED57}"/>
              </a:ext>
            </a:extLst>
          </p:cNvPr>
          <p:cNvSpPr>
            <a:spLocks noGrp="1"/>
          </p:cNvSpPr>
          <p:nvPr>
            <p:ph type="sldNum" sz="quarter" idx="12"/>
          </p:nvPr>
        </p:nvSpPr>
        <p:spPr/>
        <p:txBody>
          <a:bodyPr/>
          <a:lstStyle/>
          <a:p>
            <a:fld id="{B53602B4-F12B-41CD-B648-531F86B2CC91}" type="slidenum">
              <a:rPr lang="zh-CN" altLang="en-US" smtClean="0"/>
              <a:t>13</a:t>
            </a:fld>
            <a:endParaRPr lang="zh-CN" altLang="en-US"/>
          </a:p>
        </p:txBody>
      </p:sp>
    </p:spTree>
    <p:extLst>
      <p:ext uri="{BB962C8B-B14F-4D97-AF65-F5344CB8AC3E}">
        <p14:creationId xmlns:p14="http://schemas.microsoft.com/office/powerpoint/2010/main" val="4072997518"/>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49142242-5E57-4D15-A0DD-17CB598A023D}"/>
                  </a:ext>
                </a:extLst>
              </p:cNvPr>
              <p:cNvSpPr txBox="1"/>
              <p:nvPr/>
            </p:nvSpPr>
            <p:spPr>
              <a:xfrm>
                <a:off x="744722" y="1246241"/>
                <a:ext cx="7592379" cy="5187763"/>
              </a:xfrm>
              <a:prstGeom prst="rect">
                <a:avLst/>
              </a:prstGeom>
              <a:noFill/>
            </p:spPr>
            <p:txBody>
              <a:bodyPr wrap="square" lIns="91436" tIns="45718" rIns="91436" bIns="45718" rtlCol="0">
                <a:spAutoFit/>
              </a:bodyPr>
              <a:lstStyle/>
              <a:p>
                <a:pPr>
                  <a:lnSpc>
                    <a:spcPct val="150000"/>
                  </a:lnSpc>
                  <a:spcBef>
                    <a:spcPts val="672"/>
                  </a:spcBef>
                </a:pPr>
                <a:r>
                  <a:rPr lang="en-US" altLang="zh-CN" sz="2400" b="1">
                    <a:latin typeface="Times New Roman" panose="02020603050405020304" pitchFamily="18" charset="0"/>
                    <a:ea typeface="宋体" panose="02010600030101010101" pitchFamily="2" charset="-122"/>
                    <a:cs typeface="Times New Roman" panose="02020603050405020304" pitchFamily="18" charset="0"/>
                  </a:rPr>
                  <a:t>4. </a:t>
                </a:r>
                <a:r>
                  <a:rPr lang="zh-CN" altLang="en-US" sz="2400" b="1">
                    <a:latin typeface="Times New Roman" panose="02020603050405020304" pitchFamily="18" charset="0"/>
                    <a:ea typeface="宋体" panose="02010600030101010101" pitchFamily="2" charset="-122"/>
                    <a:cs typeface="Times New Roman" panose="02020603050405020304" pitchFamily="18" charset="0"/>
                  </a:rPr>
                  <a:t>声</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波的衰减和吸收</a:t>
                </a:r>
                <a:endParaRPr lang="en-US" altLang="zh-CN" sz="2400" b="1" dirty="0">
                  <a:latin typeface="Times New Roman" panose="02020603050405020304" pitchFamily="18" charset="0"/>
                  <a:ea typeface="宋体" panose="02010600030101010101" pitchFamily="2" charset="-122"/>
                  <a:cs typeface="Times New Roman" panose="02020603050405020304" pitchFamily="18" charset="0"/>
                </a:endParaRPr>
              </a:p>
              <a:p>
                <a:pPr>
                  <a:lnSpc>
                    <a:spcPct val="150000"/>
                  </a:lnSpc>
                  <a:spcBef>
                    <a:spcPts val="672"/>
                  </a:spcBef>
                </a:pP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       声波在介质中传播时，随着传播距离</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rPr>
                  <a:t>x</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的增加，能量逐渐</a:t>
                </a:r>
                <a:r>
                  <a:rPr lang="zh-CN" altLang="en-US" sz="24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衰减</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，其声压和声强的衰减规律可表示为</a:t>
                </a:r>
                <a:endParaRPr lang="en-US" altLang="zh-CN" sz="2400" b="1" dirty="0">
                  <a:latin typeface="Times New Roman" panose="02020603050405020304" pitchFamily="18" charset="0"/>
                  <a:ea typeface="宋体" panose="02010600030101010101" pitchFamily="2" charset="-122"/>
                  <a:cs typeface="Times New Roman" panose="02020603050405020304" pitchFamily="18" charset="0"/>
                </a:endParaRPr>
              </a:p>
              <a:p>
                <a:pPr>
                  <a:lnSpc>
                    <a:spcPct val="150000"/>
                  </a:lnSpc>
                  <a:spcBef>
                    <a:spcPts val="672"/>
                  </a:spcBef>
                </a:pPr>
                <a14:m>
                  <m:oMathPara xmlns:m="http://schemas.openxmlformats.org/officeDocument/2006/math">
                    <m:oMathParaPr>
                      <m:jc m:val="centerGroup"/>
                    </m:oMathParaPr>
                    <m:oMath xmlns:m="http://schemas.openxmlformats.org/officeDocument/2006/math">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𝑝</m:t>
                          </m:r>
                        </m:e>
                        <m:sub>
                          <m:r>
                            <a:rPr lang="en-US" altLang="zh-CN" sz="2400" i="1">
                              <a:latin typeface="Cambria Math" panose="02040503050406030204" pitchFamily="18" charset="0"/>
                            </a:rPr>
                            <m:t>𝑥</m:t>
                          </m:r>
                        </m:sub>
                      </m:sSub>
                      <m:r>
                        <a:rPr lang="en-US" altLang="zh-CN" sz="2400" i="1">
                          <a:latin typeface="Cambria Math" panose="02040503050406030204" pitchFamily="18" charset="0"/>
                        </a:rPr>
                        <m:t>=</m:t>
                      </m:r>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𝑝</m:t>
                          </m:r>
                        </m:e>
                        <m:sub>
                          <m:r>
                            <a:rPr lang="en-US" altLang="zh-CN" sz="2400" i="1">
                              <a:latin typeface="Cambria Math" panose="02040503050406030204" pitchFamily="18" charset="0"/>
                            </a:rPr>
                            <m:t>0</m:t>
                          </m:r>
                        </m:sub>
                      </m:sSub>
                      <m:sSup>
                        <m:sSupPr>
                          <m:ctrlPr>
                            <a:rPr lang="zh-CN" altLang="zh-CN" sz="2400" i="1">
                              <a:latin typeface="Cambria Math" panose="02040503050406030204" pitchFamily="18" charset="0"/>
                            </a:rPr>
                          </m:ctrlPr>
                        </m:sSupPr>
                        <m:e>
                          <m:r>
                            <a:rPr lang="en-US" altLang="zh-CN" sz="2400" i="1">
                              <a:latin typeface="Cambria Math" panose="02040503050406030204" pitchFamily="18" charset="0"/>
                            </a:rPr>
                            <m:t>𝑒</m:t>
                          </m:r>
                        </m:e>
                        <m:sup>
                          <m:r>
                            <a:rPr lang="en-US" altLang="zh-CN" sz="2400" i="1">
                              <a:latin typeface="Cambria Math" panose="02040503050406030204" pitchFamily="18" charset="0"/>
                            </a:rPr>
                            <m:t>−</m:t>
                          </m:r>
                          <m:r>
                            <a:rPr lang="en-US" altLang="zh-CN" sz="2400" i="1">
                              <a:latin typeface="Cambria Math" panose="02040503050406030204" pitchFamily="18" charset="0"/>
                            </a:rPr>
                            <m:t>𝛼</m:t>
                          </m:r>
                          <m:r>
                            <a:rPr lang="en-US" altLang="zh-CN" sz="2400" i="1">
                              <a:latin typeface="Cambria Math" panose="02040503050406030204" pitchFamily="18" charset="0"/>
                            </a:rPr>
                            <m:t>𝑥</m:t>
                          </m:r>
                        </m:sup>
                      </m:sSup>
                    </m:oMath>
                  </m:oMathPara>
                </a14:m>
                <a:endParaRPr lang="en-US" altLang="zh-CN" sz="2400" b="1" dirty="0">
                  <a:latin typeface="Times New Roman" panose="02020603050405020304" pitchFamily="18" charset="0"/>
                  <a:ea typeface="宋体" panose="02010600030101010101" pitchFamily="2" charset="-122"/>
                  <a:cs typeface="Times New Roman" panose="02020603050405020304" pitchFamily="18" charset="0"/>
                </a:endParaRPr>
              </a:p>
              <a:p>
                <a:pPr>
                  <a:lnSpc>
                    <a:spcPct val="150000"/>
                  </a:lnSpc>
                  <a:spcBef>
                    <a:spcPts val="672"/>
                  </a:spcBef>
                </a:pPr>
                <a14:m>
                  <m:oMathPara xmlns:m="http://schemas.openxmlformats.org/officeDocument/2006/math">
                    <m:oMathParaPr>
                      <m:jc m:val="centerGroup"/>
                    </m:oMathParaPr>
                    <m:oMath xmlns:m="http://schemas.openxmlformats.org/officeDocument/2006/math">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𝐼</m:t>
                          </m:r>
                        </m:e>
                        <m:sub>
                          <m:r>
                            <a:rPr lang="en-US" altLang="zh-CN" sz="2400" i="1">
                              <a:latin typeface="Cambria Math" panose="02040503050406030204" pitchFamily="18" charset="0"/>
                            </a:rPr>
                            <m:t>𝑥</m:t>
                          </m:r>
                        </m:sub>
                      </m:sSub>
                      <m:r>
                        <a:rPr lang="en-US" altLang="zh-CN" sz="2400" i="1">
                          <a:latin typeface="Cambria Math" panose="02040503050406030204" pitchFamily="18" charset="0"/>
                        </a:rPr>
                        <m:t>=</m:t>
                      </m:r>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𝐼</m:t>
                          </m:r>
                        </m:e>
                        <m:sub>
                          <m:r>
                            <a:rPr lang="en-US" altLang="zh-CN" sz="2400" i="1">
                              <a:latin typeface="Cambria Math" panose="02040503050406030204" pitchFamily="18" charset="0"/>
                            </a:rPr>
                            <m:t>0</m:t>
                          </m:r>
                        </m:sub>
                      </m:sSub>
                      <m:sSup>
                        <m:sSupPr>
                          <m:ctrlPr>
                            <a:rPr lang="zh-CN" altLang="zh-CN" sz="2400" i="1">
                              <a:latin typeface="Cambria Math" panose="02040503050406030204" pitchFamily="18" charset="0"/>
                            </a:rPr>
                          </m:ctrlPr>
                        </m:sSupPr>
                        <m:e>
                          <m:r>
                            <a:rPr lang="en-US" altLang="zh-CN" sz="2400" i="1">
                              <a:latin typeface="Cambria Math" panose="02040503050406030204" pitchFamily="18" charset="0"/>
                            </a:rPr>
                            <m:t>𝑒</m:t>
                          </m:r>
                        </m:e>
                        <m:sup>
                          <m:r>
                            <a:rPr lang="en-US" altLang="zh-CN" sz="2400" i="1">
                              <a:latin typeface="Cambria Math" panose="02040503050406030204" pitchFamily="18" charset="0"/>
                            </a:rPr>
                            <m:t>−2</m:t>
                          </m:r>
                          <m:r>
                            <a:rPr lang="en-US" altLang="zh-CN" sz="2400" i="1">
                              <a:latin typeface="Cambria Math" panose="02040503050406030204" pitchFamily="18" charset="0"/>
                            </a:rPr>
                            <m:t>𝛼</m:t>
                          </m:r>
                          <m:r>
                            <a:rPr lang="en-US" altLang="zh-CN" sz="2400" i="1">
                              <a:latin typeface="Cambria Math" panose="02040503050406030204" pitchFamily="18" charset="0"/>
                            </a:rPr>
                            <m:t>𝑥</m:t>
                          </m:r>
                        </m:sup>
                      </m:sSup>
                    </m:oMath>
                  </m:oMathPara>
                </a14:m>
                <a:endParaRPr lang="en-US" altLang="zh-CN" sz="2400" b="1" dirty="0">
                  <a:latin typeface="Times New Roman" panose="02020603050405020304" pitchFamily="18" charset="0"/>
                  <a:ea typeface="宋体" panose="02010600030101010101" pitchFamily="2" charset="-122"/>
                  <a:cs typeface="Times New Roman" panose="02020603050405020304" pitchFamily="18" charset="0"/>
                </a:endParaRPr>
              </a:p>
              <a:p>
                <a:pPr>
                  <a:lnSpc>
                    <a:spcPct val="150000"/>
                  </a:lnSpc>
                  <a:spcBef>
                    <a:spcPts val="672"/>
                  </a:spcBef>
                </a:pPr>
                <a:r>
                  <a:rPr lang="zh-CN" altLang="en-US" sz="2400" b="1">
                    <a:latin typeface="Times New Roman" panose="02020603050405020304" pitchFamily="18" charset="0"/>
                    <a:ea typeface="宋体" panose="02010600030101010101" pitchFamily="2" charset="-122"/>
                    <a:cs typeface="Times New Roman" panose="02020603050405020304" pitchFamily="18" charset="0"/>
                  </a:rPr>
                  <a:t>式中</a:t>
                </a:r>
                <a:r>
                  <a:rPr lang="en-US" altLang="zh-CN" sz="2400" b="1">
                    <a:latin typeface="Times New Roman" panose="02020603050405020304" pitchFamily="18" charset="0"/>
                    <a:ea typeface="宋体" panose="02010600030101010101" pitchFamily="2" charset="-122"/>
                    <a:cs typeface="Times New Roman" panose="02020603050405020304" pitchFamily="18" charset="0"/>
                  </a:rPr>
                  <a:t>:</a:t>
                </a:r>
              </a:p>
              <a:p>
                <a:pPr marL="1800000" indent="-342900">
                  <a:lnSpc>
                    <a:spcPct val="150000"/>
                  </a:lnSpc>
                  <a:buFont typeface="Arial" panose="020B0604020202020204" pitchFamily="34" charset="0"/>
                  <a:buChar char="•"/>
                </a:pPr>
                <a:r>
                  <a:rPr lang="en-US" altLang="zh-CN" sz="2400" i="1">
                    <a:latin typeface="Times New Roman" panose="02020603050405020304" pitchFamily="18" charset="0"/>
                    <a:ea typeface="宋体" panose="02010600030101010101" pitchFamily="2" charset="-122"/>
                    <a:cs typeface="Times New Roman" panose="02020603050405020304" pitchFamily="18" charset="0"/>
                  </a:rPr>
                  <a:t>p</a:t>
                </a:r>
                <a:r>
                  <a:rPr lang="en-US" altLang="zh-CN" sz="2400" i="1" baseline="-25000">
                    <a:latin typeface="Times New Roman" panose="02020603050405020304" pitchFamily="18" charset="0"/>
                    <a:ea typeface="宋体" panose="02010600030101010101" pitchFamily="2" charset="-122"/>
                    <a:cs typeface="Times New Roman" panose="02020603050405020304" pitchFamily="18" charset="0"/>
                  </a:rPr>
                  <a:t>x</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i="1" dirty="0" err="1">
                    <a:latin typeface="Times New Roman" panose="02020603050405020304" pitchFamily="18" charset="0"/>
                    <a:ea typeface="宋体" panose="02010600030101010101" pitchFamily="2" charset="-122"/>
                    <a:cs typeface="Times New Roman" panose="02020603050405020304" pitchFamily="18" charset="0"/>
                  </a:rPr>
                  <a:t>I</a:t>
                </a:r>
                <a:r>
                  <a:rPr lang="en-US" altLang="zh-CN" sz="2400" i="1" baseline="-25000" dirty="0" err="1">
                    <a:latin typeface="Times New Roman" panose="02020603050405020304" pitchFamily="18" charset="0"/>
                    <a:ea typeface="宋体" panose="02010600030101010101" pitchFamily="2" charset="-122"/>
                    <a:cs typeface="Times New Roman" panose="02020603050405020304" pitchFamily="18" charset="0"/>
                  </a:rPr>
                  <a:t>x</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为平面波在</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rPr>
                  <a:t>x</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处的声压和声</a:t>
                </a:r>
                <a:r>
                  <a:rPr lang="zh-CN" altLang="en-US" sz="2400" b="1">
                    <a:latin typeface="Times New Roman" panose="02020603050405020304" pitchFamily="18" charset="0"/>
                    <a:ea typeface="宋体" panose="02010600030101010101" pitchFamily="2" charset="-122"/>
                    <a:cs typeface="Times New Roman" panose="02020603050405020304" pitchFamily="18" charset="0"/>
                  </a:rPr>
                  <a:t>强；</a:t>
                </a:r>
                <a:endParaRPr lang="en-US" altLang="zh-CN" sz="2400" b="1">
                  <a:latin typeface="Times New Roman" panose="02020603050405020304" pitchFamily="18" charset="0"/>
                  <a:ea typeface="宋体" panose="02010600030101010101" pitchFamily="2" charset="-122"/>
                  <a:cs typeface="Times New Roman" panose="02020603050405020304" pitchFamily="18" charset="0"/>
                </a:endParaRPr>
              </a:p>
              <a:p>
                <a:pPr marL="1800000" indent="-342900">
                  <a:lnSpc>
                    <a:spcPct val="150000"/>
                  </a:lnSpc>
                  <a:buFont typeface="Arial" panose="020B0604020202020204" pitchFamily="34" charset="0"/>
                  <a:buChar char="•"/>
                </a:pPr>
                <a:r>
                  <a:rPr lang="en-US" altLang="zh-CN" sz="2400" i="1">
                    <a:latin typeface="Times New Roman" panose="02020603050405020304" pitchFamily="18" charset="0"/>
                    <a:ea typeface="宋体" panose="02010600030101010101" pitchFamily="2" charset="-122"/>
                    <a:cs typeface="Times New Roman" panose="02020603050405020304" pitchFamily="18" charset="0"/>
                  </a:rPr>
                  <a:t>p</a:t>
                </a:r>
                <a:r>
                  <a:rPr lang="en-US" altLang="zh-CN" sz="2400" baseline="-25000">
                    <a:latin typeface="Times New Roman" panose="02020603050405020304" pitchFamily="18" charset="0"/>
                    <a:ea typeface="宋体" panose="02010600030101010101" pitchFamily="2" charset="-122"/>
                    <a:cs typeface="Times New Roman" panose="02020603050405020304" pitchFamily="18" charset="0"/>
                  </a:rPr>
                  <a:t>0</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rPr>
                  <a:t>I</a:t>
                </a:r>
                <a:r>
                  <a:rPr lang="en-US" altLang="zh-CN" sz="2400" baseline="-25000" dirty="0">
                    <a:latin typeface="Times New Roman" panose="02020603050405020304" pitchFamily="18" charset="0"/>
                    <a:ea typeface="宋体" panose="02010600030101010101" pitchFamily="2" charset="-122"/>
                    <a:cs typeface="Times New Roman" panose="02020603050405020304" pitchFamily="18" charset="0"/>
                  </a:rPr>
                  <a:t>0</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为平面波在</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rPr>
                  <a:t>x</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=0</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处的声压和声</a:t>
                </a:r>
                <a:r>
                  <a:rPr lang="zh-CN" altLang="en-US" sz="2400" b="1">
                    <a:latin typeface="Times New Roman" panose="02020603050405020304" pitchFamily="18" charset="0"/>
                    <a:ea typeface="宋体" panose="02010600030101010101" pitchFamily="2" charset="-122"/>
                    <a:cs typeface="Times New Roman" panose="02020603050405020304" pitchFamily="18" charset="0"/>
                  </a:rPr>
                  <a:t>强；</a:t>
                </a:r>
                <a:endParaRPr lang="en-US" altLang="zh-CN" sz="2400" b="1">
                  <a:latin typeface="Times New Roman" panose="02020603050405020304" pitchFamily="18" charset="0"/>
                  <a:ea typeface="宋体" panose="02010600030101010101" pitchFamily="2" charset="-122"/>
                  <a:cs typeface="Times New Roman" panose="02020603050405020304" pitchFamily="18" charset="0"/>
                </a:endParaRPr>
              </a:p>
              <a:p>
                <a:pPr marL="1800000" indent="-342900">
                  <a:lnSpc>
                    <a:spcPct val="150000"/>
                  </a:lnSpc>
                  <a:buFont typeface="Arial" panose="020B0604020202020204" pitchFamily="34" charset="0"/>
                  <a:buChar char="•"/>
                </a:pPr>
                <a:r>
                  <a:rPr lang="el-GR" altLang="zh-CN" sz="2400" i="1">
                    <a:latin typeface="Times New Roman" panose="02020603050405020304" pitchFamily="18" charset="0"/>
                    <a:ea typeface="宋体" panose="02010600030101010101" pitchFamily="2" charset="-122"/>
                    <a:cs typeface="Times New Roman" panose="02020603050405020304" pitchFamily="18" charset="0"/>
                  </a:rPr>
                  <a:t>α</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为声波衰减系数。</a:t>
                </a:r>
                <a:endParaRPr lang="en-US" altLang="zh-CN" sz="2400" b="1" dirty="0">
                  <a:latin typeface="Times New Roman" panose="02020603050405020304" pitchFamily="18" charset="0"/>
                  <a:ea typeface="宋体" panose="02010600030101010101" pitchFamily="2" charset="-122"/>
                  <a:cs typeface="Times New Roman" panose="02020603050405020304" pitchFamily="18" charset="0"/>
                </a:endParaRPr>
              </a:p>
            </p:txBody>
          </p:sp>
        </mc:Choice>
        <mc:Fallback xmlns="">
          <p:sp>
            <p:nvSpPr>
              <p:cNvPr id="3" name="文本框 2">
                <a:extLst>
                  <a:ext uri="{FF2B5EF4-FFF2-40B4-BE49-F238E27FC236}">
                    <a16:creationId xmlns:a16="http://schemas.microsoft.com/office/drawing/2014/main" id="{49142242-5E57-4D15-A0DD-17CB598A023D}"/>
                  </a:ext>
                </a:extLst>
              </p:cNvPr>
              <p:cNvSpPr txBox="1">
                <a:spLocks noRot="1" noChangeAspect="1" noMove="1" noResize="1" noEditPoints="1" noAdjustHandles="1" noChangeArrowheads="1" noChangeShapeType="1" noTextEdit="1"/>
              </p:cNvSpPr>
              <p:nvPr/>
            </p:nvSpPr>
            <p:spPr>
              <a:xfrm>
                <a:off x="744722" y="1246241"/>
                <a:ext cx="7592379" cy="5187763"/>
              </a:xfrm>
              <a:prstGeom prst="rect">
                <a:avLst/>
              </a:prstGeom>
              <a:blipFill>
                <a:blip r:embed="rId3"/>
                <a:stretch>
                  <a:fillRect l="-1204" r="-1204" b="-1880"/>
                </a:stretch>
              </a:blipFill>
            </p:spPr>
            <p:txBody>
              <a:bodyPr/>
              <a:lstStyle/>
              <a:p>
                <a:r>
                  <a:rPr lang="en-001">
                    <a:noFill/>
                  </a:rPr>
                  <a:t> </a:t>
                </a:r>
              </a:p>
            </p:txBody>
          </p:sp>
        </mc:Fallback>
      </mc:AlternateContent>
      <p:sp>
        <p:nvSpPr>
          <p:cNvPr id="28" name="矩形 27">
            <a:extLst>
              <a:ext uri="{FF2B5EF4-FFF2-40B4-BE49-F238E27FC236}">
                <a16:creationId xmlns:a16="http://schemas.microsoft.com/office/drawing/2014/main" id="{64509930-9DFB-420E-8F32-960E50399825}"/>
              </a:ext>
            </a:extLst>
          </p:cNvPr>
          <p:cNvSpPr/>
          <p:nvPr/>
        </p:nvSpPr>
        <p:spPr>
          <a:xfrm>
            <a:off x="1571711" y="258777"/>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 name="圆角矩形 43">
            <a:extLst>
              <a:ext uri="{FF2B5EF4-FFF2-40B4-BE49-F238E27FC236}">
                <a16:creationId xmlns:a16="http://schemas.microsoft.com/office/drawing/2014/main" id="{7D086454-5B10-4064-9B8F-531209592F7E}"/>
              </a:ext>
            </a:extLst>
          </p:cNvPr>
          <p:cNvSpPr/>
          <p:nvPr/>
        </p:nvSpPr>
        <p:spPr>
          <a:xfrm rot="10800000" flipV="1">
            <a:off x="185084" y="242948"/>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20204" pitchFamily="34" charset="0"/>
                <a:ea typeface="宋体" panose="02010600030101010101" pitchFamily="2" charset="-122"/>
                <a:cs typeface="Arial" panose="020B0604020202020204" pitchFamily="34" charset="0"/>
              </a:rPr>
              <a:t>9.1.2</a:t>
            </a:r>
            <a:endParaRPr lang="zh-CN" altLang="en-US" sz="3200" b="1" dirty="0">
              <a:latin typeface="Arial" panose="020B0604020202020204" pitchFamily="34" charset="0"/>
              <a:ea typeface="宋体" panose="02010600030101010101" pitchFamily="2" charset="-122"/>
              <a:cs typeface="Arial" panose="020B0604020202020204" pitchFamily="34" charset="0"/>
            </a:endParaRPr>
          </a:p>
        </p:txBody>
      </p:sp>
      <p:sp>
        <p:nvSpPr>
          <p:cNvPr id="40" name="矩形 39">
            <a:extLst>
              <a:ext uri="{FF2B5EF4-FFF2-40B4-BE49-F238E27FC236}">
                <a16:creationId xmlns:a16="http://schemas.microsoft.com/office/drawing/2014/main" id="{2A2F604C-DA27-459E-8419-ED777356D653}"/>
              </a:ext>
            </a:extLst>
          </p:cNvPr>
          <p:cNvSpPr/>
          <p:nvPr/>
        </p:nvSpPr>
        <p:spPr>
          <a:xfrm>
            <a:off x="2030933" y="253949"/>
            <a:ext cx="1935137" cy="615549"/>
          </a:xfrm>
          <a:prstGeom prst="rect">
            <a:avLst/>
          </a:prstGeom>
        </p:spPr>
        <p:txBody>
          <a:bodyPr wrap="none" lIns="91436" tIns="45718" rIns="91436" bIns="45718">
            <a:spAutoFit/>
          </a:bodyPr>
          <a:lstStyle/>
          <a:p>
            <a:pPr algn="ctr"/>
            <a:r>
              <a:rPr lang="zh-CN" altLang="en-US" sz="3400" b="1" dirty="0">
                <a:solidFill>
                  <a:schemeClr val="bg1"/>
                </a:solidFill>
                <a:latin typeface="宋体" panose="02010600030101010101" pitchFamily="2" charset="-122"/>
                <a:ea typeface="宋体" panose="02010600030101010101" pitchFamily="2" charset="-122"/>
              </a:rPr>
              <a:t>物理特性</a:t>
            </a:r>
            <a:endParaRPr lang="en-US" altLang="zh-CN" sz="3400" b="1" dirty="0">
              <a:solidFill>
                <a:schemeClr val="bg1"/>
              </a:solidFill>
              <a:latin typeface="宋体" panose="02010600030101010101" pitchFamily="2" charset="-122"/>
              <a:ea typeface="宋体" panose="02010600030101010101" pitchFamily="2" charset="-122"/>
            </a:endParaRPr>
          </a:p>
        </p:txBody>
      </p:sp>
      <p:sp>
        <p:nvSpPr>
          <p:cNvPr id="2" name="Slide Number Placeholder 1">
            <a:extLst>
              <a:ext uri="{FF2B5EF4-FFF2-40B4-BE49-F238E27FC236}">
                <a16:creationId xmlns:a16="http://schemas.microsoft.com/office/drawing/2014/main" id="{83E1CFC0-344F-49DF-8E57-6DD2F3B650EE}"/>
              </a:ext>
            </a:extLst>
          </p:cNvPr>
          <p:cNvSpPr>
            <a:spLocks noGrp="1"/>
          </p:cNvSpPr>
          <p:nvPr>
            <p:ph type="sldNum" sz="quarter" idx="12"/>
          </p:nvPr>
        </p:nvSpPr>
        <p:spPr/>
        <p:txBody>
          <a:bodyPr/>
          <a:lstStyle/>
          <a:p>
            <a:fld id="{B53602B4-F12B-41CD-B648-531F86B2CC91}" type="slidenum">
              <a:rPr lang="zh-CN" altLang="en-US" smtClean="0"/>
              <a:t>14</a:t>
            </a:fld>
            <a:endParaRPr lang="zh-CN" altLang="en-US"/>
          </a:p>
        </p:txBody>
      </p:sp>
    </p:spTree>
    <p:extLst>
      <p:ext uri="{BB962C8B-B14F-4D97-AF65-F5344CB8AC3E}">
        <p14:creationId xmlns:p14="http://schemas.microsoft.com/office/powerpoint/2010/main" val="435682240"/>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49142242-5E57-4D15-A0DD-17CB598A023D}"/>
              </a:ext>
            </a:extLst>
          </p:cNvPr>
          <p:cNvSpPr txBox="1"/>
          <p:nvPr/>
        </p:nvSpPr>
        <p:spPr>
          <a:xfrm>
            <a:off x="196673" y="4040019"/>
            <a:ext cx="4782295" cy="2439703"/>
          </a:xfrm>
          <a:prstGeom prst="rect">
            <a:avLst/>
          </a:prstGeom>
          <a:noFill/>
        </p:spPr>
        <p:txBody>
          <a:bodyPr wrap="square" lIns="91436" tIns="45718" rIns="91436" bIns="45718" rtlCol="0">
            <a:spAutoFit/>
          </a:bodyPr>
          <a:lstStyle/>
          <a:p>
            <a:pPr>
              <a:lnSpc>
                <a:spcPct val="130000"/>
              </a:lnSpc>
            </a:pPr>
            <a:r>
              <a:rPr lang="zh-CN" altLang="en-US" sz="2400" b="1" dirty="0">
                <a:latin typeface="Arial" panose="020B0604020202020204" pitchFamily="34" charset="0"/>
                <a:ea typeface="宋体" panose="02010600030101010101" pitchFamily="2" charset="-122"/>
                <a:cs typeface="Arial" panose="020B0604020202020204" pitchFamily="34" charset="0"/>
              </a:rPr>
              <a:t>       当两列相同频率、固定位相差的声波叠加时会发生</a:t>
            </a:r>
            <a:r>
              <a:rPr lang="zh-CN" altLang="en-US" sz="2400" b="1" dirty="0">
                <a:solidFill>
                  <a:srgbClr val="C00000"/>
                </a:solidFill>
                <a:latin typeface="Arial" panose="020B0604020202020204" pitchFamily="34" charset="0"/>
                <a:ea typeface="宋体" panose="02010600030101010101" pitchFamily="2" charset="-122"/>
                <a:cs typeface="Arial" panose="020B0604020202020204" pitchFamily="34" charset="0"/>
              </a:rPr>
              <a:t>干涉</a:t>
            </a:r>
            <a:r>
              <a:rPr lang="zh-CN" altLang="en-US" sz="2400" b="1" dirty="0">
                <a:latin typeface="Arial" panose="020B0604020202020204" pitchFamily="34" charset="0"/>
                <a:ea typeface="宋体" panose="02010600030101010101" pitchFamily="2" charset="-122"/>
                <a:cs typeface="Arial" panose="020B0604020202020204" pitchFamily="34" charset="0"/>
              </a:rPr>
              <a:t>，且合成声压是相同频率的声振动信号，但合成振幅与两列声波的振幅和位相差都有关。      </a:t>
            </a:r>
            <a:endParaRPr lang="en-US" altLang="zh-CN" sz="2000" b="1" dirty="0">
              <a:latin typeface="Arial" panose="020B0604020202020204" pitchFamily="34" charset="0"/>
              <a:ea typeface="宋体" panose="02010600030101010101" pitchFamily="2" charset="-122"/>
              <a:cs typeface="Arial" panose="020B0604020202020204" pitchFamily="34" charset="0"/>
            </a:endParaRPr>
          </a:p>
        </p:txBody>
      </p:sp>
      <p:sp>
        <p:nvSpPr>
          <p:cNvPr id="27" name="矩形 26">
            <a:extLst>
              <a:ext uri="{FF2B5EF4-FFF2-40B4-BE49-F238E27FC236}">
                <a16:creationId xmlns:a16="http://schemas.microsoft.com/office/drawing/2014/main" id="{64509930-9DFB-420E-8F32-960E50399825}"/>
              </a:ext>
            </a:extLst>
          </p:cNvPr>
          <p:cNvSpPr/>
          <p:nvPr/>
        </p:nvSpPr>
        <p:spPr>
          <a:xfrm>
            <a:off x="1571711" y="258777"/>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8" name="圆角矩形 43">
            <a:extLst>
              <a:ext uri="{FF2B5EF4-FFF2-40B4-BE49-F238E27FC236}">
                <a16:creationId xmlns:a16="http://schemas.microsoft.com/office/drawing/2014/main" id="{7D086454-5B10-4064-9B8F-531209592F7E}"/>
              </a:ext>
            </a:extLst>
          </p:cNvPr>
          <p:cNvSpPr/>
          <p:nvPr/>
        </p:nvSpPr>
        <p:spPr>
          <a:xfrm rot="10800000" flipV="1">
            <a:off x="185084" y="242948"/>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20204" pitchFamily="34" charset="0"/>
                <a:ea typeface="宋体" panose="02010600030101010101" pitchFamily="2" charset="-122"/>
                <a:cs typeface="Arial" panose="020B0604020202020204" pitchFamily="34" charset="0"/>
              </a:rPr>
              <a:t>9.1.2</a:t>
            </a:r>
            <a:endParaRPr lang="zh-CN" altLang="en-US" sz="3200" b="1" dirty="0">
              <a:latin typeface="Arial" panose="020B0604020202020204" pitchFamily="34" charset="0"/>
              <a:ea typeface="宋体" panose="02010600030101010101" pitchFamily="2" charset="-122"/>
              <a:cs typeface="Arial" panose="020B0604020202020204" pitchFamily="34" charset="0"/>
            </a:endParaRPr>
          </a:p>
        </p:txBody>
      </p:sp>
      <p:sp>
        <p:nvSpPr>
          <p:cNvPr id="39" name="矩形 38">
            <a:extLst>
              <a:ext uri="{FF2B5EF4-FFF2-40B4-BE49-F238E27FC236}">
                <a16:creationId xmlns:a16="http://schemas.microsoft.com/office/drawing/2014/main" id="{2A2F604C-DA27-459E-8419-ED777356D653}"/>
              </a:ext>
            </a:extLst>
          </p:cNvPr>
          <p:cNvSpPr/>
          <p:nvPr/>
        </p:nvSpPr>
        <p:spPr>
          <a:xfrm>
            <a:off x="2030933" y="253949"/>
            <a:ext cx="1935137" cy="615549"/>
          </a:xfrm>
          <a:prstGeom prst="rect">
            <a:avLst/>
          </a:prstGeom>
        </p:spPr>
        <p:txBody>
          <a:bodyPr wrap="none" lIns="91436" tIns="45718" rIns="91436" bIns="45718">
            <a:spAutoFit/>
          </a:bodyPr>
          <a:lstStyle/>
          <a:p>
            <a:pPr algn="ctr"/>
            <a:r>
              <a:rPr lang="zh-CN" altLang="en-US" sz="3400" b="1" dirty="0">
                <a:solidFill>
                  <a:schemeClr val="bg1"/>
                </a:solidFill>
                <a:latin typeface="宋体" panose="02010600030101010101" pitchFamily="2" charset="-122"/>
                <a:ea typeface="宋体" panose="02010600030101010101" pitchFamily="2" charset="-122"/>
              </a:rPr>
              <a:t>物理特性</a:t>
            </a:r>
            <a:endParaRPr lang="en-US" altLang="zh-CN" sz="3400" b="1" dirty="0">
              <a:solidFill>
                <a:schemeClr val="bg1"/>
              </a:solidFill>
              <a:latin typeface="宋体" panose="02010600030101010101" pitchFamily="2" charset="-122"/>
              <a:ea typeface="宋体" panose="02010600030101010101" pitchFamily="2" charset="-122"/>
            </a:endParaRPr>
          </a:p>
        </p:txBody>
      </p:sp>
      <p:sp>
        <p:nvSpPr>
          <p:cNvPr id="5" name="矩形 4"/>
          <p:cNvSpPr/>
          <p:nvPr/>
        </p:nvSpPr>
        <p:spPr>
          <a:xfrm>
            <a:off x="401865" y="1317745"/>
            <a:ext cx="4464116" cy="2441374"/>
          </a:xfrm>
          <a:prstGeom prst="rect">
            <a:avLst/>
          </a:prstGeom>
        </p:spPr>
        <p:txBody>
          <a:bodyPr wrap="square">
            <a:spAutoFit/>
          </a:bodyPr>
          <a:lstStyle/>
          <a:p>
            <a:pPr>
              <a:lnSpc>
                <a:spcPct val="130000"/>
              </a:lnSpc>
            </a:pPr>
            <a:r>
              <a:rPr lang="en-US" altLang="zh-CN" sz="2400" b="1" dirty="0">
                <a:latin typeface="Times New Roman" panose="02020603050405020304" pitchFamily="18" charset="0"/>
                <a:ea typeface="宋体" panose="02010600030101010101" pitchFamily="2" charset="-122"/>
                <a:cs typeface="Times New Roman" panose="02020603050405020304" pitchFamily="18" charset="0"/>
              </a:rPr>
              <a:t>5.</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声波的干涉</a:t>
            </a:r>
            <a:endParaRPr lang="en-US" altLang="zh-CN" sz="2400" b="1" dirty="0">
              <a:latin typeface="Times New Roman" panose="02020603050405020304" pitchFamily="18" charset="0"/>
              <a:ea typeface="宋体" panose="02010600030101010101" pitchFamily="2" charset="-122"/>
              <a:cs typeface="Times New Roman" panose="02020603050405020304" pitchFamily="18" charset="0"/>
            </a:endParaRPr>
          </a:p>
          <a:p>
            <a:pPr>
              <a:lnSpc>
                <a:spcPct val="130000"/>
              </a:lnSpc>
            </a:pP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       当两个声波同时作用于同一媒质时，遵循</a:t>
            </a:r>
            <a:r>
              <a:rPr lang="zh-CN" altLang="en-US" sz="24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声波的叠加原理</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；两列声波合成声场的声压等于每列声波的声压之和，</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rPr>
              <a:t>p</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rPr>
              <a:t>p</a:t>
            </a:r>
            <a:r>
              <a:rPr lang="en-US" altLang="zh-CN" sz="2400" baseline="-25000" dirty="0">
                <a:latin typeface="Times New Roman" panose="02020603050405020304" pitchFamily="18" charset="0"/>
                <a:ea typeface="宋体" panose="02010600030101010101" pitchFamily="2" charset="-122"/>
                <a:cs typeface="Times New Roman" panose="02020603050405020304" pitchFamily="18" charset="0"/>
              </a:rPr>
              <a:t>1</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rPr>
              <a:t>p</a:t>
            </a:r>
            <a:r>
              <a:rPr lang="en-US" altLang="zh-CN" sz="2400" baseline="-25000" dirty="0">
                <a:latin typeface="Times New Roman" panose="02020603050405020304" pitchFamily="18" charset="0"/>
                <a:ea typeface="宋体" panose="02010600030101010101" pitchFamily="2" charset="-122"/>
                <a:cs typeface="Times New Roman" panose="02020603050405020304" pitchFamily="18" charset="0"/>
              </a:rPr>
              <a:t>2</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sz="2400" b="1"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 name="Slide Number Placeholder 1">
            <a:extLst>
              <a:ext uri="{FF2B5EF4-FFF2-40B4-BE49-F238E27FC236}">
                <a16:creationId xmlns:a16="http://schemas.microsoft.com/office/drawing/2014/main" id="{F8D25EFA-0894-4B8F-8EED-8410AB9CEC0B}"/>
              </a:ext>
            </a:extLst>
          </p:cNvPr>
          <p:cNvSpPr>
            <a:spLocks noGrp="1"/>
          </p:cNvSpPr>
          <p:nvPr>
            <p:ph type="sldNum" sz="quarter" idx="12"/>
          </p:nvPr>
        </p:nvSpPr>
        <p:spPr/>
        <p:txBody>
          <a:bodyPr/>
          <a:lstStyle/>
          <a:p>
            <a:fld id="{B53602B4-F12B-41CD-B648-531F86B2CC91}" type="slidenum">
              <a:rPr lang="zh-CN" altLang="en-US" smtClean="0"/>
              <a:t>15</a:t>
            </a:fld>
            <a:endParaRPr lang="zh-CN" altLang="en-US"/>
          </a:p>
        </p:txBody>
      </p:sp>
      <p:sp>
        <p:nvSpPr>
          <p:cNvPr id="21" name="Text Box 59">
            <a:extLst>
              <a:ext uri="{FF2B5EF4-FFF2-40B4-BE49-F238E27FC236}">
                <a16:creationId xmlns:a16="http://schemas.microsoft.com/office/drawing/2014/main" id="{09E7B402-AF1A-4948-8551-A6E649D93B47}"/>
              </a:ext>
            </a:extLst>
          </p:cNvPr>
          <p:cNvSpPr txBox="1">
            <a:spLocks noChangeArrowheads="1"/>
          </p:cNvSpPr>
          <p:nvPr/>
        </p:nvSpPr>
        <p:spPr bwMode="auto">
          <a:xfrm>
            <a:off x="5801782" y="5765845"/>
            <a:ext cx="2713568" cy="4914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buFontTx/>
              <a:buNone/>
            </a:pPr>
            <a:r>
              <a:rPr kumimoji="0" lang="zh-CN" altLang="en-US" sz="2400" b="1" dirty="0">
                <a:solidFill>
                  <a:srgbClr val="3333CC"/>
                </a:solidFill>
                <a:latin typeface="宋体" pitchFamily="2" charset="-122"/>
              </a:rPr>
              <a:t>图</a:t>
            </a:r>
            <a:r>
              <a:rPr kumimoji="0" lang="en-US" altLang="zh-CN" sz="2400" b="1" dirty="0">
                <a:solidFill>
                  <a:srgbClr val="3333CC"/>
                </a:solidFill>
                <a:latin typeface="宋体" pitchFamily="2" charset="-122"/>
              </a:rPr>
              <a:t>9-2 </a:t>
            </a:r>
            <a:r>
              <a:rPr kumimoji="0" lang="zh-CN" altLang="en-US" sz="2400" b="1" dirty="0">
                <a:solidFill>
                  <a:srgbClr val="3333CC"/>
                </a:solidFill>
                <a:latin typeface="宋体" pitchFamily="2" charset="-122"/>
              </a:rPr>
              <a:t>波的干涉图</a:t>
            </a:r>
          </a:p>
        </p:txBody>
      </p:sp>
      <p:pic>
        <p:nvPicPr>
          <p:cNvPr id="4" name="Picture 3">
            <a:extLst>
              <a:ext uri="{FF2B5EF4-FFF2-40B4-BE49-F238E27FC236}">
                <a16:creationId xmlns:a16="http://schemas.microsoft.com/office/drawing/2014/main" id="{289834B2-B80F-49A8-B68C-FC1744B8501A}"/>
              </a:ext>
            </a:extLst>
          </p:cNvPr>
          <p:cNvPicPr>
            <a:picLocks noChangeAspect="1"/>
          </p:cNvPicPr>
          <p:nvPr/>
        </p:nvPicPr>
        <p:blipFill rotWithShape="1">
          <a:blip r:embed="rId3"/>
          <a:srcRect l="17525" r="8473"/>
          <a:stretch/>
        </p:blipFill>
        <p:spPr>
          <a:xfrm>
            <a:off x="5000334" y="1680602"/>
            <a:ext cx="3982195" cy="4030769"/>
          </a:xfrm>
          <a:prstGeom prst="rect">
            <a:avLst/>
          </a:prstGeom>
        </p:spPr>
      </p:pic>
    </p:spTree>
    <p:extLst>
      <p:ext uri="{BB962C8B-B14F-4D97-AF65-F5344CB8AC3E}">
        <p14:creationId xmlns:p14="http://schemas.microsoft.com/office/powerpoint/2010/main" val="2722550554"/>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a:extLst>
              <a:ext uri="{FF2B5EF4-FFF2-40B4-BE49-F238E27FC236}">
                <a16:creationId xmlns:a16="http://schemas.microsoft.com/office/drawing/2014/main" id="{961667D5-6E02-42C6-973A-2E8008454BA6}"/>
              </a:ext>
            </a:extLst>
          </p:cNvPr>
          <p:cNvSpPr txBox="1"/>
          <p:nvPr/>
        </p:nvSpPr>
        <p:spPr>
          <a:xfrm>
            <a:off x="533400" y="1403711"/>
            <a:ext cx="8261350" cy="4203070"/>
          </a:xfrm>
          <a:prstGeom prst="rect">
            <a:avLst/>
          </a:prstGeom>
          <a:noFill/>
        </p:spPr>
        <p:txBody>
          <a:bodyPr wrap="square" lIns="91436" tIns="45718" rIns="91436" bIns="45718" rtlCol="0">
            <a:spAutoFit/>
          </a:bodyPr>
          <a:lstStyle/>
          <a:p>
            <a:pPr>
              <a:lnSpc>
                <a:spcPts val="3800"/>
              </a:lnSpc>
              <a:spcBef>
                <a:spcPts val="1200"/>
              </a:spcBef>
            </a:pPr>
            <a:r>
              <a:rPr lang="zh-CN" altLang="en-US" sz="2400" b="1" dirty="0">
                <a:latin typeface="宋体" panose="02010600030101010101" pitchFamily="2" charset="-122"/>
                <a:ea typeface="宋体" panose="02010600030101010101" pitchFamily="2" charset="-122"/>
                <a:cs typeface="Arial" panose="020B0604020202020204" pitchFamily="34" charset="0"/>
              </a:rPr>
              <a:t>微波分为分米波、厘米波和毫米波三个波段，具有以下特点</a:t>
            </a:r>
            <a:r>
              <a:rPr lang="en-US" altLang="zh-CN" sz="2400" b="1" dirty="0">
                <a:latin typeface="宋体" panose="02010600030101010101" pitchFamily="2" charset="-122"/>
                <a:ea typeface="宋体" panose="02010600030101010101" pitchFamily="2" charset="-122"/>
                <a:cs typeface="Arial" panose="020B0604020202020204" pitchFamily="34" charset="0"/>
              </a:rPr>
              <a:t>:</a:t>
            </a:r>
          </a:p>
          <a:p>
            <a:pPr indent="-972000">
              <a:lnSpc>
                <a:spcPts val="3800"/>
              </a:lnSpc>
              <a:spcBef>
                <a:spcPts val="1200"/>
              </a:spcBef>
            </a:pPr>
            <a:r>
              <a:rPr lang="en-US" altLang="zh-CN" sz="2400" b="1" dirty="0">
                <a:latin typeface="宋体" panose="02010600030101010101" pitchFamily="2" charset="-122"/>
                <a:ea typeface="宋体" panose="02010600030101010101" pitchFamily="2" charset="-122"/>
                <a:cs typeface="Arial" panose="020B0604020202020204" pitchFamily="34" charset="0"/>
              </a:rPr>
              <a:t>(1)</a:t>
            </a:r>
            <a:r>
              <a:rPr lang="zh-CN" altLang="en-US" sz="2400" b="1" dirty="0">
                <a:latin typeface="宋体" panose="02010600030101010101" pitchFamily="2" charset="-122"/>
                <a:ea typeface="宋体" panose="02010600030101010101" pitchFamily="2" charset="-122"/>
                <a:cs typeface="Arial" panose="020B0604020202020204" pitchFamily="34" charset="0"/>
              </a:rPr>
              <a:t>需要</a:t>
            </a:r>
            <a:r>
              <a:rPr lang="zh-CN" altLang="en-US" sz="2400" b="1" dirty="0">
                <a:solidFill>
                  <a:srgbClr val="C00000"/>
                </a:solidFill>
                <a:latin typeface="宋体" panose="02010600030101010101" pitchFamily="2" charset="-122"/>
                <a:ea typeface="宋体" panose="02010600030101010101" pitchFamily="2" charset="-122"/>
                <a:cs typeface="Arial" panose="020B0604020202020204" pitchFamily="34" charset="0"/>
              </a:rPr>
              <a:t>定向辐射</a:t>
            </a:r>
            <a:r>
              <a:rPr lang="zh-CN" altLang="en-US" sz="2400" b="1" dirty="0">
                <a:latin typeface="宋体" panose="02010600030101010101" pitchFamily="2" charset="-122"/>
                <a:ea typeface="宋体" panose="02010600030101010101" pitchFamily="2" charset="-122"/>
                <a:cs typeface="Arial" panose="020B0604020202020204" pitchFamily="34" charset="0"/>
              </a:rPr>
              <a:t>装置；</a:t>
            </a:r>
          </a:p>
          <a:p>
            <a:pPr indent="-972000">
              <a:lnSpc>
                <a:spcPts val="3800"/>
              </a:lnSpc>
              <a:spcBef>
                <a:spcPts val="1200"/>
              </a:spcBef>
            </a:pPr>
            <a:r>
              <a:rPr lang="en-US" altLang="zh-CN" sz="2400" b="1" dirty="0">
                <a:latin typeface="宋体" panose="02010600030101010101" pitchFamily="2" charset="-122"/>
                <a:ea typeface="宋体" panose="02010600030101010101" pitchFamily="2" charset="-122"/>
                <a:cs typeface="Arial" panose="020B0604020202020204" pitchFamily="34" charset="0"/>
              </a:rPr>
              <a:t>(2)</a:t>
            </a:r>
            <a:r>
              <a:rPr lang="zh-CN" altLang="en-US" sz="2400" b="1" dirty="0">
                <a:latin typeface="宋体" panose="02010600030101010101" pitchFamily="2" charset="-122"/>
                <a:ea typeface="宋体" panose="02010600030101010101" pitchFamily="2" charset="-122"/>
                <a:cs typeface="Arial" panose="020B0604020202020204" pitchFamily="34" charset="0"/>
              </a:rPr>
              <a:t>遇到障碍物</a:t>
            </a:r>
            <a:r>
              <a:rPr lang="zh-CN" altLang="en-US" sz="2400" b="1" dirty="0">
                <a:solidFill>
                  <a:srgbClr val="C00000"/>
                </a:solidFill>
                <a:latin typeface="宋体" panose="02010600030101010101" pitchFamily="2" charset="-122"/>
                <a:ea typeface="宋体" panose="02010600030101010101" pitchFamily="2" charset="-122"/>
                <a:cs typeface="Arial" panose="020B0604020202020204" pitchFamily="34" charset="0"/>
              </a:rPr>
              <a:t>容易反射</a:t>
            </a:r>
            <a:r>
              <a:rPr lang="zh-CN" altLang="en-US" sz="2400" b="1" dirty="0">
                <a:latin typeface="宋体" panose="02010600030101010101" pitchFamily="2" charset="-122"/>
                <a:ea typeface="宋体" panose="02010600030101010101" pitchFamily="2" charset="-122"/>
                <a:cs typeface="Arial" panose="020B0604020202020204" pitchFamily="34" charset="0"/>
              </a:rPr>
              <a:t>；</a:t>
            </a:r>
          </a:p>
          <a:p>
            <a:pPr indent="-972000">
              <a:lnSpc>
                <a:spcPts val="3800"/>
              </a:lnSpc>
              <a:spcBef>
                <a:spcPts val="1200"/>
              </a:spcBef>
            </a:pPr>
            <a:r>
              <a:rPr lang="en-US" altLang="zh-CN" sz="2400" b="1" dirty="0">
                <a:latin typeface="宋体" panose="02010600030101010101" pitchFamily="2" charset="-122"/>
                <a:ea typeface="宋体" panose="02010600030101010101" pitchFamily="2" charset="-122"/>
                <a:cs typeface="Arial" panose="020B0604020202020204" pitchFamily="34" charset="0"/>
              </a:rPr>
              <a:t>(3)</a:t>
            </a:r>
            <a:r>
              <a:rPr lang="zh-CN" altLang="en-US" sz="2400" b="1" dirty="0">
                <a:solidFill>
                  <a:srgbClr val="3333CC"/>
                </a:solidFill>
                <a:latin typeface="宋体" panose="02010600030101010101" pitchFamily="2" charset="-122"/>
                <a:ea typeface="宋体" panose="02010600030101010101" pitchFamily="2" charset="-122"/>
                <a:cs typeface="Arial" panose="020B0604020202020204" pitchFamily="34" charset="0"/>
              </a:rPr>
              <a:t>绕射能力差</a:t>
            </a:r>
            <a:r>
              <a:rPr lang="zh-CN" altLang="en-US" sz="2400" b="1" dirty="0">
                <a:latin typeface="宋体" panose="02010600030101010101" pitchFamily="2" charset="-122"/>
                <a:ea typeface="宋体" panose="02010600030101010101" pitchFamily="2" charset="-122"/>
                <a:cs typeface="Arial" panose="020B0604020202020204" pitchFamily="34" charset="0"/>
              </a:rPr>
              <a:t>；</a:t>
            </a:r>
          </a:p>
          <a:p>
            <a:pPr indent="-972000">
              <a:lnSpc>
                <a:spcPts val="3800"/>
              </a:lnSpc>
              <a:spcBef>
                <a:spcPts val="1200"/>
              </a:spcBef>
            </a:pPr>
            <a:r>
              <a:rPr lang="en-US" altLang="zh-CN" sz="2400" b="1" dirty="0">
                <a:latin typeface="宋体" panose="02010600030101010101" pitchFamily="2" charset="-122"/>
                <a:ea typeface="宋体" panose="02010600030101010101" pitchFamily="2" charset="-122"/>
                <a:cs typeface="Arial" panose="020B0604020202020204" pitchFamily="34" charset="0"/>
              </a:rPr>
              <a:t>(4)</a:t>
            </a:r>
            <a:r>
              <a:rPr lang="zh-CN" altLang="en-US" sz="2400" b="1" dirty="0">
                <a:solidFill>
                  <a:srgbClr val="3333CC"/>
                </a:solidFill>
                <a:latin typeface="宋体" panose="02010600030101010101" pitchFamily="2" charset="-122"/>
                <a:ea typeface="宋体" panose="02010600030101010101" pitchFamily="2" charset="-122"/>
                <a:cs typeface="Arial" panose="020B0604020202020204" pitchFamily="34" charset="0"/>
              </a:rPr>
              <a:t>传输特性好</a:t>
            </a:r>
            <a:r>
              <a:rPr lang="zh-CN" altLang="en-US" sz="2400" b="1" dirty="0">
                <a:latin typeface="宋体" panose="02010600030101010101" pitchFamily="2" charset="-122"/>
                <a:ea typeface="宋体" panose="02010600030101010101" pitchFamily="2" charset="-122"/>
                <a:cs typeface="Arial" panose="020B0604020202020204" pitchFamily="34" charset="0"/>
              </a:rPr>
              <a:t>，传输过程中受烟雾、灰尘等的影响较小；</a:t>
            </a:r>
          </a:p>
          <a:p>
            <a:pPr indent="-972000">
              <a:lnSpc>
                <a:spcPts val="3800"/>
              </a:lnSpc>
              <a:spcBef>
                <a:spcPts val="1200"/>
              </a:spcBef>
            </a:pPr>
            <a:r>
              <a:rPr lang="en-US" altLang="zh-CN" sz="2400" b="1" dirty="0">
                <a:latin typeface="宋体" panose="02010600030101010101" pitchFamily="2" charset="-122"/>
                <a:ea typeface="宋体" panose="02010600030101010101" pitchFamily="2" charset="-122"/>
                <a:cs typeface="Arial" panose="020B0604020202020204" pitchFamily="34" charset="0"/>
              </a:rPr>
              <a:t>(5)</a:t>
            </a:r>
            <a:r>
              <a:rPr lang="zh-CN" altLang="en-US" sz="2400" b="1" dirty="0">
                <a:latin typeface="宋体" panose="02010600030101010101" pitchFamily="2" charset="-122"/>
                <a:ea typeface="宋体" panose="02010600030101010101" pitchFamily="2" charset="-122"/>
                <a:cs typeface="Arial" panose="020B0604020202020204" pitchFamily="34" charset="0"/>
              </a:rPr>
              <a:t>介质对微波的</a:t>
            </a:r>
            <a:r>
              <a:rPr lang="zh-CN" altLang="en-US" sz="2400" b="1" dirty="0">
                <a:solidFill>
                  <a:srgbClr val="C00000"/>
                </a:solidFill>
                <a:latin typeface="宋体" panose="02010600030101010101" pitchFamily="2" charset="-122"/>
                <a:ea typeface="宋体" panose="02010600030101010101" pitchFamily="2" charset="-122"/>
                <a:cs typeface="Arial" panose="020B0604020202020204" pitchFamily="34" charset="0"/>
              </a:rPr>
              <a:t>吸收</a:t>
            </a:r>
            <a:r>
              <a:rPr lang="zh-CN" altLang="en-US" sz="2400" b="1" dirty="0">
                <a:latin typeface="宋体" panose="02010600030101010101" pitchFamily="2" charset="-122"/>
                <a:ea typeface="宋体" panose="02010600030101010101" pitchFamily="2" charset="-122"/>
                <a:cs typeface="Arial" panose="020B0604020202020204" pitchFamily="34" charset="0"/>
              </a:rPr>
              <a:t>大小与介质介电常数成正比，如水对微波的吸收作用最强。       </a:t>
            </a:r>
          </a:p>
        </p:txBody>
      </p:sp>
      <p:sp>
        <p:nvSpPr>
          <p:cNvPr id="26" name="矩形 25">
            <a:extLst>
              <a:ext uri="{FF2B5EF4-FFF2-40B4-BE49-F238E27FC236}">
                <a16:creationId xmlns:a16="http://schemas.microsoft.com/office/drawing/2014/main" id="{64509930-9DFB-420E-8F32-960E50399825}"/>
              </a:ext>
            </a:extLst>
          </p:cNvPr>
          <p:cNvSpPr/>
          <p:nvPr/>
        </p:nvSpPr>
        <p:spPr>
          <a:xfrm>
            <a:off x="1571711" y="258777"/>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7" name="圆角矩形 43">
            <a:extLst>
              <a:ext uri="{FF2B5EF4-FFF2-40B4-BE49-F238E27FC236}">
                <a16:creationId xmlns:a16="http://schemas.microsoft.com/office/drawing/2014/main" id="{7D086454-5B10-4064-9B8F-531209592F7E}"/>
              </a:ext>
            </a:extLst>
          </p:cNvPr>
          <p:cNvSpPr/>
          <p:nvPr/>
        </p:nvSpPr>
        <p:spPr>
          <a:xfrm rot="10800000" flipV="1">
            <a:off x="185084" y="242948"/>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b="1" dirty="0">
                <a:latin typeface="Arial" panose="020B0604020202020204" pitchFamily="34" charset="0"/>
                <a:ea typeface="宋体" panose="02010600030101010101" pitchFamily="2" charset="-122"/>
                <a:cs typeface="Arial" panose="020B0604020202020204" pitchFamily="34" charset="0"/>
              </a:rPr>
              <a:t>9.2</a:t>
            </a:r>
            <a:endParaRPr lang="zh-CN" altLang="en-US" sz="3600" b="1" dirty="0">
              <a:latin typeface="Arial" panose="020B0604020202020204" pitchFamily="34" charset="0"/>
              <a:ea typeface="宋体" panose="02010600030101010101" pitchFamily="2" charset="-122"/>
              <a:cs typeface="Arial" panose="020B0604020202020204" pitchFamily="34" charset="0"/>
            </a:endParaRPr>
          </a:p>
        </p:txBody>
      </p:sp>
      <p:sp>
        <p:nvSpPr>
          <p:cNvPr id="38" name="矩形 37">
            <a:extLst>
              <a:ext uri="{FF2B5EF4-FFF2-40B4-BE49-F238E27FC236}">
                <a16:creationId xmlns:a16="http://schemas.microsoft.com/office/drawing/2014/main" id="{2A2F604C-DA27-459E-8419-ED777356D653}"/>
              </a:ext>
            </a:extLst>
          </p:cNvPr>
          <p:cNvSpPr/>
          <p:nvPr/>
        </p:nvSpPr>
        <p:spPr>
          <a:xfrm>
            <a:off x="1812123" y="253949"/>
            <a:ext cx="2372756" cy="615549"/>
          </a:xfrm>
          <a:prstGeom prst="rect">
            <a:avLst/>
          </a:prstGeom>
        </p:spPr>
        <p:txBody>
          <a:bodyPr wrap="none" lIns="91436" tIns="45718" rIns="91436" bIns="45718">
            <a:spAutoFit/>
          </a:bodyPr>
          <a:lstStyle/>
          <a:p>
            <a:pPr algn="ctr"/>
            <a:r>
              <a:rPr lang="zh-CN" altLang="en-US" sz="3400" b="1" dirty="0">
                <a:solidFill>
                  <a:schemeClr val="bg1"/>
                </a:solidFill>
                <a:latin typeface="宋体" panose="02010600030101010101" pitchFamily="2" charset="-122"/>
                <a:ea typeface="宋体" panose="02010600030101010101" pitchFamily="2" charset="-122"/>
              </a:rPr>
              <a:t>微波传感器</a:t>
            </a:r>
            <a:endParaRPr lang="en-US" altLang="zh-CN" sz="3400" b="1" dirty="0">
              <a:solidFill>
                <a:schemeClr val="bg1"/>
              </a:solidFill>
              <a:latin typeface="宋体" panose="02010600030101010101" pitchFamily="2" charset="-122"/>
              <a:ea typeface="宋体" panose="02010600030101010101" pitchFamily="2" charset="-122"/>
            </a:endParaRPr>
          </a:p>
        </p:txBody>
      </p:sp>
      <p:sp>
        <p:nvSpPr>
          <p:cNvPr id="2" name="Slide Number Placeholder 1">
            <a:extLst>
              <a:ext uri="{FF2B5EF4-FFF2-40B4-BE49-F238E27FC236}">
                <a16:creationId xmlns:a16="http://schemas.microsoft.com/office/drawing/2014/main" id="{DF4DB764-F6B5-4895-85D7-0B5A533D173B}"/>
              </a:ext>
            </a:extLst>
          </p:cNvPr>
          <p:cNvSpPr>
            <a:spLocks noGrp="1"/>
          </p:cNvSpPr>
          <p:nvPr>
            <p:ph type="sldNum" sz="quarter" idx="12"/>
          </p:nvPr>
        </p:nvSpPr>
        <p:spPr/>
        <p:txBody>
          <a:bodyPr/>
          <a:lstStyle/>
          <a:p>
            <a:fld id="{B53602B4-F12B-41CD-B648-531F86B2CC91}" type="slidenum">
              <a:rPr lang="zh-CN" altLang="en-US" smtClean="0"/>
              <a:t>16</a:t>
            </a:fld>
            <a:endParaRPr lang="zh-CN" altLang="en-US"/>
          </a:p>
        </p:txBody>
      </p:sp>
    </p:spTree>
    <p:extLst>
      <p:ext uri="{BB962C8B-B14F-4D97-AF65-F5344CB8AC3E}">
        <p14:creationId xmlns:p14="http://schemas.microsoft.com/office/powerpoint/2010/main" val="2268404662"/>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a:extLst>
              <a:ext uri="{FF2B5EF4-FFF2-40B4-BE49-F238E27FC236}">
                <a16:creationId xmlns:a16="http://schemas.microsoft.com/office/drawing/2014/main" id="{961667D5-6E02-42C6-973A-2E8008454BA6}"/>
              </a:ext>
            </a:extLst>
          </p:cNvPr>
          <p:cNvSpPr txBox="1"/>
          <p:nvPr/>
        </p:nvSpPr>
        <p:spPr>
          <a:xfrm>
            <a:off x="530551" y="1335480"/>
            <a:ext cx="7839637" cy="4052452"/>
          </a:xfrm>
          <a:prstGeom prst="rect">
            <a:avLst/>
          </a:prstGeom>
          <a:noFill/>
        </p:spPr>
        <p:txBody>
          <a:bodyPr wrap="square" lIns="91436" tIns="45718" rIns="91436" bIns="45718" rtlCol="0">
            <a:spAutoFit/>
          </a:bodyPr>
          <a:lstStyle/>
          <a:p>
            <a:pPr indent="627063">
              <a:lnSpc>
                <a:spcPct val="150000"/>
              </a:lnSpc>
              <a:spcBef>
                <a:spcPts val="624"/>
              </a:spcBef>
            </a:pPr>
            <a:r>
              <a:rPr lang="zh-CN" altLang="en-US" sz="2400" b="1" dirty="0">
                <a:latin typeface="Arial" panose="020B0604020202020204" pitchFamily="34" charset="0"/>
                <a:ea typeface="宋体" panose="02010600030101010101" pitchFamily="2" charset="-122"/>
                <a:cs typeface="Arial" panose="020B0604020202020204" pitchFamily="34" charset="0"/>
              </a:rPr>
              <a:t>利用微波与物质相互作用所表现出来的特性，人们制成了微波传感器。</a:t>
            </a:r>
            <a:endParaRPr lang="en-US" altLang="zh-CN" sz="2400" b="1" dirty="0">
              <a:latin typeface="Arial" panose="020B0604020202020204" pitchFamily="34" charset="0"/>
              <a:ea typeface="宋体" panose="02010600030101010101" pitchFamily="2" charset="-122"/>
              <a:cs typeface="Arial" panose="020B0604020202020204" pitchFamily="34" charset="0"/>
            </a:endParaRPr>
          </a:p>
          <a:p>
            <a:pPr indent="627063">
              <a:lnSpc>
                <a:spcPct val="150000"/>
              </a:lnSpc>
              <a:spcBef>
                <a:spcPts val="624"/>
              </a:spcBef>
            </a:pPr>
            <a:r>
              <a:rPr lang="zh-CN" altLang="en-US" sz="2400" b="1" dirty="0">
                <a:latin typeface="Arial" panose="020B0604020202020204" pitchFamily="34" charset="0"/>
                <a:ea typeface="宋体" panose="02010600030101010101" pitchFamily="2" charset="-122"/>
                <a:cs typeface="Arial" panose="020B0604020202020204" pitchFamily="34" charset="0"/>
              </a:rPr>
              <a:t>即微波传感器就是利用</a:t>
            </a:r>
            <a:r>
              <a:rPr lang="zh-CN" altLang="en-US" sz="2400" b="1" dirty="0">
                <a:solidFill>
                  <a:srgbClr val="FF0000"/>
                </a:solidFill>
                <a:latin typeface="Arial" panose="020B0604020202020204" pitchFamily="34" charset="0"/>
                <a:ea typeface="宋体" panose="02010600030101010101" pitchFamily="2" charset="-122"/>
                <a:cs typeface="Arial" panose="020B0604020202020204" pitchFamily="34" charset="0"/>
              </a:rPr>
              <a:t>微波特性</a:t>
            </a:r>
            <a:r>
              <a:rPr lang="zh-CN" altLang="en-US" sz="2400" b="1" dirty="0">
                <a:latin typeface="Arial" panose="020B0604020202020204" pitchFamily="34" charset="0"/>
                <a:ea typeface="宋体" panose="02010600030101010101" pitchFamily="2" charset="-122"/>
                <a:cs typeface="Arial" panose="020B0604020202020204" pitchFamily="34" charset="0"/>
              </a:rPr>
              <a:t>来检测某些物理量的器件或装置。</a:t>
            </a:r>
            <a:endParaRPr lang="en-US" altLang="zh-CN" sz="2400" b="1" dirty="0">
              <a:latin typeface="Arial" panose="020B0604020202020204" pitchFamily="34" charset="0"/>
              <a:ea typeface="宋体" panose="02010600030101010101" pitchFamily="2" charset="-122"/>
              <a:cs typeface="Arial" panose="020B0604020202020204" pitchFamily="34" charset="0"/>
            </a:endParaRPr>
          </a:p>
          <a:p>
            <a:pPr indent="627063">
              <a:lnSpc>
                <a:spcPct val="150000"/>
              </a:lnSpc>
              <a:spcBef>
                <a:spcPts val="624"/>
              </a:spcBef>
            </a:pPr>
            <a:r>
              <a:rPr lang="zh-CN" altLang="en-US" sz="2400" b="1" dirty="0">
                <a:latin typeface="Arial" panose="020B0604020202020204" pitchFamily="34" charset="0"/>
                <a:ea typeface="宋体" panose="02010600030101010101" pitchFamily="2" charset="-122"/>
                <a:cs typeface="Arial" panose="020B0604020202020204" pitchFamily="34" charset="0"/>
              </a:rPr>
              <a:t>微波辐射可能对人的神经系统、心血管系统、眼、生殖系统等造成</a:t>
            </a:r>
            <a:r>
              <a:rPr lang="zh-CN" altLang="en-US" sz="2400" b="1">
                <a:solidFill>
                  <a:srgbClr val="C00000"/>
                </a:solidFill>
                <a:latin typeface="Arial" panose="020B0604020202020204" pitchFamily="34" charset="0"/>
                <a:ea typeface="宋体" panose="02010600030101010101" pitchFamily="2" charset="-122"/>
                <a:cs typeface="Arial" panose="020B0604020202020204" pitchFamily="34" charset="0"/>
              </a:rPr>
              <a:t>伤害</a:t>
            </a:r>
            <a:r>
              <a:rPr lang="zh-CN" altLang="en-US" sz="2400" b="1">
                <a:latin typeface="Arial" panose="020B0604020202020204" pitchFamily="34" charset="0"/>
                <a:ea typeface="宋体" panose="02010600030101010101" pitchFamily="2" charset="-122"/>
                <a:cs typeface="Arial" panose="020B0604020202020204" pitchFamily="34" charset="0"/>
              </a:rPr>
              <a:t>，</a:t>
            </a:r>
            <a:r>
              <a:rPr lang="zh-CN" altLang="en-US" sz="2400" b="1" dirty="0">
                <a:latin typeface="Arial" panose="020B0604020202020204" pitchFamily="34" charset="0"/>
                <a:ea typeface="宋体" panose="02010600030101010101" pitchFamily="2" charset="-122"/>
                <a:cs typeface="Arial" panose="020B0604020202020204" pitchFamily="34" charset="0"/>
              </a:rPr>
              <a:t>在设计和使用微波传感器时，应严格执行相关</a:t>
            </a:r>
            <a:r>
              <a:rPr lang="zh-CN" altLang="en-US" sz="2400" b="1" dirty="0">
                <a:solidFill>
                  <a:srgbClr val="3333CC"/>
                </a:solidFill>
                <a:latin typeface="Arial" panose="020B0604020202020204" pitchFamily="34" charset="0"/>
                <a:ea typeface="宋体" panose="02010600030101010101" pitchFamily="2" charset="-122"/>
                <a:cs typeface="Arial" panose="020B0604020202020204" pitchFamily="34" charset="0"/>
              </a:rPr>
              <a:t>微波辐射标准</a:t>
            </a:r>
            <a:r>
              <a:rPr lang="zh-CN" altLang="en-US" sz="2400" b="1" dirty="0">
                <a:latin typeface="Arial" panose="020B0604020202020204" pitchFamily="34" charset="0"/>
                <a:ea typeface="宋体" panose="02010600030101010101" pitchFamily="2" charset="-122"/>
                <a:cs typeface="Arial" panose="020B0604020202020204" pitchFamily="34" charset="0"/>
              </a:rPr>
              <a:t>。</a:t>
            </a:r>
          </a:p>
        </p:txBody>
      </p:sp>
      <p:sp>
        <p:nvSpPr>
          <p:cNvPr id="26" name="矩形 25">
            <a:extLst>
              <a:ext uri="{FF2B5EF4-FFF2-40B4-BE49-F238E27FC236}">
                <a16:creationId xmlns:a16="http://schemas.microsoft.com/office/drawing/2014/main" id="{64509930-9DFB-420E-8F32-960E50399825}"/>
              </a:ext>
            </a:extLst>
          </p:cNvPr>
          <p:cNvSpPr/>
          <p:nvPr/>
        </p:nvSpPr>
        <p:spPr>
          <a:xfrm>
            <a:off x="1571711" y="258777"/>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7" name="圆角矩形 43">
            <a:extLst>
              <a:ext uri="{FF2B5EF4-FFF2-40B4-BE49-F238E27FC236}">
                <a16:creationId xmlns:a16="http://schemas.microsoft.com/office/drawing/2014/main" id="{7D086454-5B10-4064-9B8F-531209592F7E}"/>
              </a:ext>
            </a:extLst>
          </p:cNvPr>
          <p:cNvSpPr/>
          <p:nvPr/>
        </p:nvSpPr>
        <p:spPr>
          <a:xfrm rot="10800000" flipV="1">
            <a:off x="185084" y="242948"/>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b="1" dirty="0">
                <a:latin typeface="Arial" panose="020B0604020202020204" pitchFamily="34" charset="0"/>
                <a:ea typeface="宋体" panose="02010600030101010101" pitchFamily="2" charset="-122"/>
                <a:cs typeface="Arial" panose="020B0604020202020204" pitchFamily="34" charset="0"/>
              </a:rPr>
              <a:t>9.2</a:t>
            </a:r>
            <a:endParaRPr lang="zh-CN" altLang="en-US" sz="3600" b="1" dirty="0">
              <a:latin typeface="Arial" panose="020B0604020202020204" pitchFamily="34" charset="0"/>
              <a:ea typeface="宋体" panose="02010600030101010101" pitchFamily="2" charset="-122"/>
              <a:cs typeface="Arial" panose="020B0604020202020204" pitchFamily="34" charset="0"/>
            </a:endParaRPr>
          </a:p>
        </p:txBody>
      </p:sp>
      <p:sp>
        <p:nvSpPr>
          <p:cNvPr id="38" name="矩形 37">
            <a:extLst>
              <a:ext uri="{FF2B5EF4-FFF2-40B4-BE49-F238E27FC236}">
                <a16:creationId xmlns:a16="http://schemas.microsoft.com/office/drawing/2014/main" id="{2A2F604C-DA27-459E-8419-ED777356D653}"/>
              </a:ext>
            </a:extLst>
          </p:cNvPr>
          <p:cNvSpPr/>
          <p:nvPr/>
        </p:nvSpPr>
        <p:spPr>
          <a:xfrm>
            <a:off x="1812123" y="253949"/>
            <a:ext cx="2372756" cy="615549"/>
          </a:xfrm>
          <a:prstGeom prst="rect">
            <a:avLst/>
          </a:prstGeom>
        </p:spPr>
        <p:txBody>
          <a:bodyPr wrap="none" lIns="91436" tIns="45718" rIns="91436" bIns="45718">
            <a:spAutoFit/>
          </a:bodyPr>
          <a:lstStyle/>
          <a:p>
            <a:pPr algn="ctr"/>
            <a:r>
              <a:rPr lang="zh-CN" altLang="en-US" sz="3400" b="1" dirty="0">
                <a:solidFill>
                  <a:schemeClr val="bg1"/>
                </a:solidFill>
                <a:latin typeface="宋体" panose="02010600030101010101" pitchFamily="2" charset="-122"/>
                <a:ea typeface="宋体" panose="02010600030101010101" pitchFamily="2" charset="-122"/>
              </a:rPr>
              <a:t>微波传感器</a:t>
            </a:r>
            <a:endParaRPr lang="en-US" altLang="zh-CN" sz="3400" b="1" dirty="0">
              <a:solidFill>
                <a:schemeClr val="bg1"/>
              </a:solidFill>
              <a:latin typeface="宋体" panose="02010600030101010101" pitchFamily="2" charset="-122"/>
              <a:ea typeface="宋体" panose="02010600030101010101" pitchFamily="2" charset="-122"/>
            </a:endParaRPr>
          </a:p>
        </p:txBody>
      </p:sp>
      <p:sp>
        <p:nvSpPr>
          <p:cNvPr id="2" name="Slide Number Placeholder 1">
            <a:extLst>
              <a:ext uri="{FF2B5EF4-FFF2-40B4-BE49-F238E27FC236}">
                <a16:creationId xmlns:a16="http://schemas.microsoft.com/office/drawing/2014/main" id="{5003D63A-109B-4673-91DE-7584E4060475}"/>
              </a:ext>
            </a:extLst>
          </p:cNvPr>
          <p:cNvSpPr>
            <a:spLocks noGrp="1"/>
          </p:cNvSpPr>
          <p:nvPr>
            <p:ph type="sldNum" sz="quarter" idx="12"/>
          </p:nvPr>
        </p:nvSpPr>
        <p:spPr/>
        <p:txBody>
          <a:bodyPr/>
          <a:lstStyle/>
          <a:p>
            <a:fld id="{B53602B4-F12B-41CD-B648-531F86B2CC91}" type="slidenum">
              <a:rPr lang="zh-CN" altLang="en-US" smtClean="0"/>
              <a:t>17</a:t>
            </a:fld>
            <a:endParaRPr lang="zh-CN" altLang="en-US"/>
          </a:p>
        </p:txBody>
      </p:sp>
    </p:spTree>
    <p:extLst>
      <p:ext uri="{BB962C8B-B14F-4D97-AF65-F5344CB8AC3E}">
        <p14:creationId xmlns:p14="http://schemas.microsoft.com/office/powerpoint/2010/main" val="261208344"/>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72">
            <a:extLst>
              <a:ext uri="{FF2B5EF4-FFF2-40B4-BE49-F238E27FC236}">
                <a16:creationId xmlns:a16="http://schemas.microsoft.com/office/drawing/2014/main" id="{343D7C8A-72E9-4E11-82F9-04D1F37F1B07}"/>
              </a:ext>
            </a:extLst>
          </p:cNvPr>
          <p:cNvSpPr/>
          <p:nvPr/>
        </p:nvSpPr>
        <p:spPr>
          <a:xfrm rot="10800000" flipV="1">
            <a:off x="2238337" y="2304684"/>
            <a:ext cx="1028701" cy="46885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800" b="1" dirty="0">
                <a:latin typeface="Arial" panose="020B0604020202020204" pitchFamily="34" charset="0"/>
                <a:ea typeface="宋体" panose="02010600030101010101" pitchFamily="2" charset="-122"/>
                <a:cs typeface="Arial" panose="020B0604020202020204" pitchFamily="34" charset="0"/>
              </a:rPr>
              <a:t>9.2.1</a:t>
            </a:r>
            <a:endParaRPr lang="zh-CN" altLang="en-US" sz="2800" b="1" dirty="0">
              <a:latin typeface="Arial" panose="020B0604020202020204" pitchFamily="34" charset="0"/>
              <a:ea typeface="宋体" panose="02010600030101010101" pitchFamily="2" charset="-122"/>
              <a:cs typeface="Arial" panose="020B0604020202020204" pitchFamily="34" charset="0"/>
            </a:endParaRPr>
          </a:p>
        </p:txBody>
      </p:sp>
      <p:sp>
        <p:nvSpPr>
          <p:cNvPr id="3" name="圆角矩形 73">
            <a:extLst>
              <a:ext uri="{FF2B5EF4-FFF2-40B4-BE49-F238E27FC236}">
                <a16:creationId xmlns:a16="http://schemas.microsoft.com/office/drawing/2014/main" id="{7997A031-0667-4F3B-9AA0-BAB02B443096}"/>
              </a:ext>
            </a:extLst>
          </p:cNvPr>
          <p:cNvSpPr/>
          <p:nvPr/>
        </p:nvSpPr>
        <p:spPr>
          <a:xfrm rot="10800000" flipV="1">
            <a:off x="2238340" y="3369184"/>
            <a:ext cx="1028700" cy="467244"/>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800" b="1" dirty="0">
                <a:latin typeface="Arial" panose="020B0604020202020204" pitchFamily="34" charset="0"/>
                <a:ea typeface="宋体" panose="02010600030101010101" pitchFamily="2" charset="-122"/>
                <a:cs typeface="Arial" panose="020B0604020202020204" pitchFamily="34" charset="0"/>
              </a:rPr>
              <a:t>9.2.2</a:t>
            </a:r>
            <a:endParaRPr lang="zh-CN" altLang="en-US" sz="2800" b="1" dirty="0">
              <a:latin typeface="Arial" panose="020B0604020202020204" pitchFamily="34" charset="0"/>
              <a:ea typeface="宋体" panose="02010600030101010101" pitchFamily="2" charset="-122"/>
              <a:cs typeface="Arial" panose="020B0604020202020204" pitchFamily="34" charset="0"/>
            </a:endParaRPr>
          </a:p>
        </p:txBody>
      </p:sp>
      <p:sp>
        <p:nvSpPr>
          <p:cNvPr id="6" name="文本框 5">
            <a:extLst>
              <a:ext uri="{FF2B5EF4-FFF2-40B4-BE49-F238E27FC236}">
                <a16:creationId xmlns:a16="http://schemas.microsoft.com/office/drawing/2014/main" id="{A27B0E45-CC10-4805-AF7A-2E101778D64D}"/>
              </a:ext>
            </a:extLst>
          </p:cNvPr>
          <p:cNvSpPr txBox="1"/>
          <p:nvPr/>
        </p:nvSpPr>
        <p:spPr>
          <a:xfrm>
            <a:off x="3718189" y="2215947"/>
            <a:ext cx="3892404" cy="584771"/>
          </a:xfrm>
          <a:prstGeom prst="rect">
            <a:avLst/>
          </a:prstGeom>
          <a:noFill/>
        </p:spPr>
        <p:txBody>
          <a:bodyPr wrap="none" lIns="91436" tIns="45718" rIns="91436" bIns="45718" rtlCol="0">
            <a:spAutoFit/>
          </a:bodyPr>
          <a:lstStyle/>
          <a:p>
            <a:r>
              <a:rPr lang="zh-CN" altLang="en-US" sz="3200" b="1" dirty="0">
                <a:solidFill>
                  <a:schemeClr val="tx2"/>
                </a:solidFill>
                <a:latin typeface="宋体" panose="02010600030101010101" pitchFamily="2" charset="-122"/>
                <a:ea typeface="宋体" panose="02010600030101010101" pitchFamily="2" charset="-122"/>
                <a:hlinkClick r:id="rId2" action="ppaction://hlinksldjump"/>
              </a:rPr>
              <a:t>微波传感器工作原理</a:t>
            </a:r>
            <a:endParaRPr lang="zh-CN" altLang="en-US" sz="3200" b="1" dirty="0">
              <a:solidFill>
                <a:schemeClr val="tx2"/>
              </a:solidFill>
              <a:latin typeface="宋体" panose="02010600030101010101" pitchFamily="2" charset="-122"/>
              <a:ea typeface="宋体" panose="02010600030101010101" pitchFamily="2" charset="-122"/>
            </a:endParaRPr>
          </a:p>
        </p:txBody>
      </p:sp>
      <p:sp>
        <p:nvSpPr>
          <p:cNvPr id="7" name="文本框 6">
            <a:extLst>
              <a:ext uri="{FF2B5EF4-FFF2-40B4-BE49-F238E27FC236}">
                <a16:creationId xmlns:a16="http://schemas.microsoft.com/office/drawing/2014/main" id="{C5E02233-70AC-4B95-A962-4BEC802A95C6}"/>
              </a:ext>
            </a:extLst>
          </p:cNvPr>
          <p:cNvSpPr txBox="1"/>
          <p:nvPr/>
        </p:nvSpPr>
        <p:spPr>
          <a:xfrm>
            <a:off x="3718189" y="3279642"/>
            <a:ext cx="3068461" cy="584771"/>
          </a:xfrm>
          <a:prstGeom prst="rect">
            <a:avLst/>
          </a:prstGeom>
          <a:noFill/>
        </p:spPr>
        <p:txBody>
          <a:bodyPr wrap="none" lIns="91436" tIns="45718" rIns="91436" bIns="45718" rtlCol="0">
            <a:spAutoFit/>
          </a:bodyPr>
          <a:lstStyle/>
          <a:p>
            <a:r>
              <a:rPr lang="zh-CN" altLang="en-US" sz="3200" b="1" dirty="0">
                <a:solidFill>
                  <a:schemeClr val="tx2"/>
                </a:solidFill>
                <a:latin typeface="宋体" panose="02010600030101010101" pitchFamily="2" charset="-122"/>
                <a:ea typeface="宋体" panose="02010600030101010101" pitchFamily="2" charset="-122"/>
                <a:hlinkClick r:id="rId3" action="ppaction://hlinksldjump"/>
              </a:rPr>
              <a:t>微波传感器组成</a:t>
            </a:r>
            <a:endParaRPr lang="zh-CN" altLang="en-US" sz="3200" b="1" dirty="0">
              <a:solidFill>
                <a:schemeClr val="tx2"/>
              </a:solidFill>
              <a:latin typeface="宋体" panose="02010600030101010101" pitchFamily="2" charset="-122"/>
              <a:ea typeface="宋体" panose="02010600030101010101" pitchFamily="2" charset="-122"/>
            </a:endParaRPr>
          </a:p>
        </p:txBody>
      </p:sp>
      <p:sp>
        <p:nvSpPr>
          <p:cNvPr id="13" name="圆角矩形 72">
            <a:extLst>
              <a:ext uri="{FF2B5EF4-FFF2-40B4-BE49-F238E27FC236}">
                <a16:creationId xmlns:a16="http://schemas.microsoft.com/office/drawing/2014/main" id="{CB5A9F1D-E769-4251-AB3D-3627DAE59932}"/>
              </a:ext>
            </a:extLst>
          </p:cNvPr>
          <p:cNvSpPr/>
          <p:nvPr/>
        </p:nvSpPr>
        <p:spPr>
          <a:xfrm rot="10800000" flipV="1">
            <a:off x="2238337" y="4427889"/>
            <a:ext cx="1028701" cy="46885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800" b="1" dirty="0">
                <a:latin typeface="Arial" panose="020B0604020202020204" pitchFamily="34" charset="0"/>
                <a:ea typeface="宋体" panose="02010600030101010101" pitchFamily="2" charset="-122"/>
                <a:cs typeface="Arial" panose="020B0604020202020204" pitchFamily="34" charset="0"/>
              </a:rPr>
              <a:t>9.2.3</a:t>
            </a:r>
            <a:endParaRPr lang="zh-CN" altLang="en-US" sz="2800" b="1" dirty="0">
              <a:latin typeface="Arial" panose="020B0604020202020204" pitchFamily="34" charset="0"/>
              <a:ea typeface="宋体" panose="02010600030101010101" pitchFamily="2" charset="-122"/>
              <a:cs typeface="Arial" panose="020B0604020202020204" pitchFamily="34" charset="0"/>
            </a:endParaRPr>
          </a:p>
        </p:txBody>
      </p:sp>
      <p:sp>
        <p:nvSpPr>
          <p:cNvPr id="14" name="文本框 13">
            <a:extLst>
              <a:ext uri="{FF2B5EF4-FFF2-40B4-BE49-F238E27FC236}">
                <a16:creationId xmlns:a16="http://schemas.microsoft.com/office/drawing/2014/main" id="{69698A2B-B957-47EA-B56E-EA45D160F0C8}"/>
              </a:ext>
            </a:extLst>
          </p:cNvPr>
          <p:cNvSpPr txBox="1"/>
          <p:nvPr/>
        </p:nvSpPr>
        <p:spPr>
          <a:xfrm>
            <a:off x="3718189" y="4339152"/>
            <a:ext cx="3068461" cy="584771"/>
          </a:xfrm>
          <a:prstGeom prst="rect">
            <a:avLst/>
          </a:prstGeom>
          <a:noFill/>
        </p:spPr>
        <p:txBody>
          <a:bodyPr wrap="none" lIns="91436" tIns="45718" rIns="91436" bIns="45718" rtlCol="0">
            <a:spAutoFit/>
          </a:bodyPr>
          <a:lstStyle/>
          <a:p>
            <a:r>
              <a:rPr lang="zh-CN" altLang="en-US" sz="3200" b="1" dirty="0">
                <a:solidFill>
                  <a:schemeClr val="tx2"/>
                </a:solidFill>
                <a:latin typeface="宋体" panose="02010600030101010101" pitchFamily="2" charset="-122"/>
                <a:ea typeface="宋体" panose="02010600030101010101" pitchFamily="2" charset="-122"/>
                <a:hlinkClick r:id="rId4" action="ppaction://hlinksldjump"/>
              </a:rPr>
              <a:t>微波传感器特点</a:t>
            </a:r>
            <a:endParaRPr lang="zh-CN" altLang="en-US" sz="3200" b="1" dirty="0">
              <a:solidFill>
                <a:schemeClr val="tx2"/>
              </a:solidFill>
              <a:latin typeface="宋体" panose="02010600030101010101" pitchFamily="2" charset="-122"/>
              <a:ea typeface="宋体" panose="02010600030101010101" pitchFamily="2" charset="-122"/>
            </a:endParaRPr>
          </a:p>
        </p:txBody>
      </p:sp>
      <p:sp>
        <p:nvSpPr>
          <p:cNvPr id="31" name="矩形 30">
            <a:extLst>
              <a:ext uri="{FF2B5EF4-FFF2-40B4-BE49-F238E27FC236}">
                <a16:creationId xmlns:a16="http://schemas.microsoft.com/office/drawing/2014/main" id="{64509930-9DFB-420E-8F32-960E50399825}"/>
              </a:ext>
            </a:extLst>
          </p:cNvPr>
          <p:cNvSpPr/>
          <p:nvPr/>
        </p:nvSpPr>
        <p:spPr>
          <a:xfrm>
            <a:off x="1571711" y="258777"/>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2" name="圆角矩形 43">
            <a:extLst>
              <a:ext uri="{FF2B5EF4-FFF2-40B4-BE49-F238E27FC236}">
                <a16:creationId xmlns:a16="http://schemas.microsoft.com/office/drawing/2014/main" id="{7D086454-5B10-4064-9B8F-531209592F7E}"/>
              </a:ext>
            </a:extLst>
          </p:cNvPr>
          <p:cNvSpPr/>
          <p:nvPr/>
        </p:nvSpPr>
        <p:spPr>
          <a:xfrm rot="10800000" flipV="1">
            <a:off x="185084" y="242948"/>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b="1" dirty="0">
                <a:latin typeface="Arial" panose="020B0604020202020204" pitchFamily="34" charset="0"/>
                <a:ea typeface="宋体" panose="02010600030101010101" pitchFamily="2" charset="-122"/>
                <a:cs typeface="Arial" panose="020B0604020202020204" pitchFamily="34" charset="0"/>
              </a:rPr>
              <a:t>9.2</a:t>
            </a:r>
            <a:endParaRPr lang="zh-CN" altLang="en-US" sz="3600" b="1" dirty="0">
              <a:latin typeface="Arial" panose="020B0604020202020204" pitchFamily="34" charset="0"/>
              <a:ea typeface="宋体" panose="02010600030101010101" pitchFamily="2" charset="-122"/>
              <a:cs typeface="Arial" panose="020B0604020202020204" pitchFamily="34" charset="0"/>
            </a:endParaRPr>
          </a:p>
        </p:txBody>
      </p:sp>
      <p:sp>
        <p:nvSpPr>
          <p:cNvPr id="43" name="矩形 42">
            <a:extLst>
              <a:ext uri="{FF2B5EF4-FFF2-40B4-BE49-F238E27FC236}">
                <a16:creationId xmlns:a16="http://schemas.microsoft.com/office/drawing/2014/main" id="{2A2F604C-DA27-459E-8419-ED777356D653}"/>
              </a:ext>
            </a:extLst>
          </p:cNvPr>
          <p:cNvSpPr/>
          <p:nvPr/>
        </p:nvSpPr>
        <p:spPr>
          <a:xfrm>
            <a:off x="1812123" y="253949"/>
            <a:ext cx="2372756" cy="615549"/>
          </a:xfrm>
          <a:prstGeom prst="rect">
            <a:avLst/>
          </a:prstGeom>
        </p:spPr>
        <p:txBody>
          <a:bodyPr wrap="none" lIns="91436" tIns="45718" rIns="91436" bIns="45718">
            <a:spAutoFit/>
          </a:bodyPr>
          <a:lstStyle/>
          <a:p>
            <a:pPr algn="ctr"/>
            <a:r>
              <a:rPr lang="zh-CN" altLang="en-US" sz="3400" b="1" dirty="0">
                <a:solidFill>
                  <a:schemeClr val="bg1"/>
                </a:solidFill>
                <a:latin typeface="宋体" panose="02010600030101010101" pitchFamily="2" charset="-122"/>
                <a:ea typeface="宋体" panose="02010600030101010101" pitchFamily="2" charset="-122"/>
              </a:rPr>
              <a:t>微波传感器</a:t>
            </a:r>
            <a:endParaRPr lang="en-US" altLang="zh-CN" sz="3400" b="1" dirty="0">
              <a:solidFill>
                <a:schemeClr val="bg1"/>
              </a:solidFill>
              <a:latin typeface="宋体" panose="02010600030101010101" pitchFamily="2" charset="-122"/>
              <a:ea typeface="宋体" panose="02010600030101010101" pitchFamily="2" charset="-122"/>
            </a:endParaRPr>
          </a:p>
        </p:txBody>
      </p:sp>
      <p:sp>
        <p:nvSpPr>
          <p:cNvPr id="4" name="Slide Number Placeholder 3">
            <a:extLst>
              <a:ext uri="{FF2B5EF4-FFF2-40B4-BE49-F238E27FC236}">
                <a16:creationId xmlns:a16="http://schemas.microsoft.com/office/drawing/2014/main" id="{E7D0D74A-2749-4AC3-B2FE-5808DBF2DA02}"/>
              </a:ext>
            </a:extLst>
          </p:cNvPr>
          <p:cNvSpPr>
            <a:spLocks noGrp="1"/>
          </p:cNvSpPr>
          <p:nvPr>
            <p:ph type="sldNum" sz="quarter" idx="12"/>
          </p:nvPr>
        </p:nvSpPr>
        <p:spPr/>
        <p:txBody>
          <a:bodyPr/>
          <a:lstStyle/>
          <a:p>
            <a:fld id="{B53602B4-F12B-41CD-B648-531F86B2CC91}" type="slidenum">
              <a:rPr lang="zh-CN" altLang="en-US" smtClean="0"/>
              <a:t>18</a:t>
            </a:fld>
            <a:endParaRPr lang="zh-CN" altLang="en-US"/>
          </a:p>
        </p:txBody>
      </p:sp>
    </p:spTree>
    <p:extLst>
      <p:ext uri="{BB962C8B-B14F-4D97-AF65-F5344CB8AC3E}">
        <p14:creationId xmlns:p14="http://schemas.microsoft.com/office/powerpoint/2010/main" val="2771594706"/>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49142242-5E57-4D15-A0DD-17CB598A023D}"/>
              </a:ext>
            </a:extLst>
          </p:cNvPr>
          <p:cNvSpPr txBox="1"/>
          <p:nvPr/>
        </p:nvSpPr>
        <p:spPr>
          <a:xfrm>
            <a:off x="584200" y="1614560"/>
            <a:ext cx="7975600" cy="2944456"/>
          </a:xfrm>
          <a:prstGeom prst="rect">
            <a:avLst/>
          </a:prstGeom>
          <a:noFill/>
        </p:spPr>
        <p:txBody>
          <a:bodyPr wrap="square" lIns="91436" tIns="45718" rIns="91436" bIns="45718" rtlCol="0">
            <a:spAutoFit/>
          </a:bodyPr>
          <a:lstStyle/>
          <a:p>
            <a:pPr>
              <a:lnSpc>
                <a:spcPct val="150000"/>
              </a:lnSpc>
              <a:spcBef>
                <a:spcPts val="624"/>
              </a:spcBef>
            </a:pPr>
            <a:r>
              <a:rPr lang="en-US" altLang="zh-CN" sz="2400" b="1" dirty="0">
                <a:latin typeface="Arial" panose="020B0604020202020204" pitchFamily="34" charset="0"/>
                <a:ea typeface="宋体" panose="02010600030101010101" pitchFamily="2" charset="-122"/>
                <a:cs typeface="Arial" panose="020B0604020202020204" pitchFamily="34" charset="0"/>
              </a:rPr>
              <a:t>1.</a:t>
            </a:r>
            <a:r>
              <a:rPr lang="zh-CN" altLang="en-US" sz="2400" b="1" dirty="0">
                <a:latin typeface="Arial" panose="020B0604020202020204" pitchFamily="34" charset="0"/>
                <a:ea typeface="宋体" panose="02010600030101010101" pitchFamily="2" charset="-122"/>
                <a:cs typeface="Arial" panose="020B0604020202020204" pitchFamily="34" charset="0"/>
              </a:rPr>
              <a:t>微波传感器的测量原理</a:t>
            </a:r>
          </a:p>
          <a:p>
            <a:pPr indent="627063">
              <a:lnSpc>
                <a:spcPct val="150000"/>
              </a:lnSpc>
              <a:spcBef>
                <a:spcPts val="624"/>
              </a:spcBef>
            </a:pPr>
            <a:r>
              <a:rPr lang="zh-CN" altLang="en-US" sz="2400" b="1" dirty="0">
                <a:latin typeface="Arial" panose="020B0604020202020204" pitchFamily="34" charset="0"/>
                <a:ea typeface="宋体" panose="02010600030101010101" pitchFamily="2" charset="-122"/>
                <a:cs typeface="Arial" panose="020B0604020202020204" pitchFamily="34" charset="0"/>
              </a:rPr>
              <a:t>发射天线发出微波信号，该信号在传播过程中遇到被测物体时将被</a:t>
            </a:r>
            <a:r>
              <a:rPr lang="zh-CN" altLang="en-US" sz="2400" b="1" dirty="0">
                <a:solidFill>
                  <a:srgbClr val="3333CC"/>
                </a:solidFill>
                <a:latin typeface="Arial" panose="020B0604020202020204" pitchFamily="34" charset="0"/>
                <a:ea typeface="宋体" panose="02010600030101010101" pitchFamily="2" charset="-122"/>
                <a:cs typeface="Arial" panose="020B0604020202020204" pitchFamily="34" charset="0"/>
              </a:rPr>
              <a:t>吸收或反射</a:t>
            </a:r>
            <a:r>
              <a:rPr lang="zh-CN" altLang="en-US" sz="2400" b="1" dirty="0">
                <a:latin typeface="Arial" panose="020B0604020202020204" pitchFamily="34" charset="0"/>
                <a:ea typeface="宋体" panose="02010600030101010101" pitchFamily="2" charset="-122"/>
                <a:cs typeface="Arial" panose="020B0604020202020204" pitchFamily="34" charset="0"/>
              </a:rPr>
              <a:t>，导致</a:t>
            </a:r>
            <a:r>
              <a:rPr lang="zh-CN" altLang="en-US" sz="2400" b="1" dirty="0">
                <a:solidFill>
                  <a:srgbClr val="C00000"/>
                </a:solidFill>
                <a:latin typeface="Arial" panose="020B0604020202020204" pitchFamily="34" charset="0"/>
                <a:ea typeface="宋体" panose="02010600030101010101" pitchFamily="2" charset="-122"/>
                <a:cs typeface="Arial" panose="020B0604020202020204" pitchFamily="34" charset="0"/>
              </a:rPr>
              <a:t>微波功率发生变化</a:t>
            </a:r>
            <a:r>
              <a:rPr lang="zh-CN" altLang="en-US" sz="2400" b="1" dirty="0">
                <a:latin typeface="Arial" panose="020B0604020202020204" pitchFamily="34" charset="0"/>
                <a:ea typeface="宋体" panose="02010600030101010101" pitchFamily="2" charset="-122"/>
                <a:cs typeface="Arial" panose="020B0604020202020204" pitchFamily="34" charset="0"/>
              </a:rPr>
              <a:t>。</a:t>
            </a:r>
            <a:endParaRPr lang="en-US" altLang="zh-CN" sz="2400" b="1" dirty="0">
              <a:latin typeface="Arial" panose="020B0604020202020204" pitchFamily="34" charset="0"/>
              <a:ea typeface="宋体" panose="02010600030101010101" pitchFamily="2" charset="-122"/>
              <a:cs typeface="Arial" panose="020B0604020202020204" pitchFamily="34" charset="0"/>
            </a:endParaRPr>
          </a:p>
          <a:p>
            <a:pPr indent="627063">
              <a:lnSpc>
                <a:spcPct val="150000"/>
              </a:lnSpc>
              <a:spcBef>
                <a:spcPts val="624"/>
              </a:spcBef>
            </a:pPr>
            <a:r>
              <a:rPr lang="zh-CN" altLang="en-US" sz="2400" b="1" dirty="0">
                <a:latin typeface="Arial" panose="020B0604020202020204" pitchFamily="34" charset="0"/>
                <a:ea typeface="宋体" panose="02010600030101010101" pitchFamily="2" charset="-122"/>
                <a:cs typeface="Arial" panose="020B0604020202020204" pitchFamily="34" charset="0"/>
              </a:rPr>
              <a:t>通过接收天线将接收到的微波信号转换成低频电信号，再经过后续的信号调理电路等环节，即可显示被测量。</a:t>
            </a:r>
          </a:p>
        </p:txBody>
      </p:sp>
      <p:sp>
        <p:nvSpPr>
          <p:cNvPr id="24" name="矩形 23">
            <a:extLst>
              <a:ext uri="{FF2B5EF4-FFF2-40B4-BE49-F238E27FC236}">
                <a16:creationId xmlns:a16="http://schemas.microsoft.com/office/drawing/2014/main" id="{64509930-9DFB-420E-8F32-960E50399825}"/>
              </a:ext>
            </a:extLst>
          </p:cNvPr>
          <p:cNvSpPr/>
          <p:nvPr/>
        </p:nvSpPr>
        <p:spPr>
          <a:xfrm>
            <a:off x="1571711" y="258777"/>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5" name="圆角矩形 43">
            <a:extLst>
              <a:ext uri="{FF2B5EF4-FFF2-40B4-BE49-F238E27FC236}">
                <a16:creationId xmlns:a16="http://schemas.microsoft.com/office/drawing/2014/main" id="{7D086454-5B10-4064-9B8F-531209592F7E}"/>
              </a:ext>
            </a:extLst>
          </p:cNvPr>
          <p:cNvSpPr/>
          <p:nvPr/>
        </p:nvSpPr>
        <p:spPr>
          <a:xfrm rot="10800000" flipV="1">
            <a:off x="185084" y="242948"/>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20204" pitchFamily="34" charset="0"/>
                <a:ea typeface="宋体" panose="02010600030101010101" pitchFamily="2" charset="-122"/>
                <a:cs typeface="Arial" panose="020B0604020202020204" pitchFamily="34" charset="0"/>
              </a:rPr>
              <a:t>9.2.1</a:t>
            </a:r>
            <a:endParaRPr lang="zh-CN" altLang="en-US" sz="3200" b="1" dirty="0">
              <a:latin typeface="Arial" panose="020B0604020202020204" pitchFamily="34" charset="0"/>
              <a:ea typeface="宋体" panose="02010600030101010101" pitchFamily="2" charset="-122"/>
              <a:cs typeface="Arial" panose="020B0604020202020204" pitchFamily="34" charset="0"/>
            </a:endParaRPr>
          </a:p>
        </p:txBody>
      </p:sp>
      <p:sp>
        <p:nvSpPr>
          <p:cNvPr id="36" name="矩形 35">
            <a:extLst>
              <a:ext uri="{FF2B5EF4-FFF2-40B4-BE49-F238E27FC236}">
                <a16:creationId xmlns:a16="http://schemas.microsoft.com/office/drawing/2014/main" id="{2A2F604C-DA27-459E-8419-ED777356D653}"/>
              </a:ext>
            </a:extLst>
          </p:cNvPr>
          <p:cNvSpPr/>
          <p:nvPr/>
        </p:nvSpPr>
        <p:spPr>
          <a:xfrm>
            <a:off x="1919521" y="240301"/>
            <a:ext cx="4123237" cy="615549"/>
          </a:xfrm>
          <a:prstGeom prst="rect">
            <a:avLst/>
          </a:prstGeom>
        </p:spPr>
        <p:txBody>
          <a:bodyPr wrap="none" lIns="91436" tIns="45718" rIns="91436" bIns="45718">
            <a:spAutoFit/>
          </a:bodyPr>
          <a:lstStyle/>
          <a:p>
            <a:pPr algn="ctr"/>
            <a:r>
              <a:rPr lang="zh-CN" altLang="en-US" sz="3400" b="1" dirty="0">
                <a:solidFill>
                  <a:schemeClr val="bg1"/>
                </a:solidFill>
                <a:latin typeface="宋体" panose="02010600030101010101" pitchFamily="2" charset="-122"/>
                <a:ea typeface="宋体" panose="02010600030101010101" pitchFamily="2" charset="-122"/>
              </a:rPr>
              <a:t>微波传感器工作原理</a:t>
            </a:r>
            <a:endParaRPr lang="en-US" altLang="zh-CN" sz="3400" b="1" dirty="0">
              <a:solidFill>
                <a:schemeClr val="bg1"/>
              </a:solidFill>
              <a:latin typeface="宋体" panose="02010600030101010101" pitchFamily="2" charset="-122"/>
              <a:ea typeface="宋体" panose="02010600030101010101" pitchFamily="2" charset="-122"/>
            </a:endParaRPr>
          </a:p>
        </p:txBody>
      </p:sp>
      <p:sp>
        <p:nvSpPr>
          <p:cNvPr id="2" name="Slide Number Placeholder 1">
            <a:extLst>
              <a:ext uri="{FF2B5EF4-FFF2-40B4-BE49-F238E27FC236}">
                <a16:creationId xmlns:a16="http://schemas.microsoft.com/office/drawing/2014/main" id="{0F0737F2-4956-42DD-B5A0-F6E149F424A7}"/>
              </a:ext>
            </a:extLst>
          </p:cNvPr>
          <p:cNvSpPr>
            <a:spLocks noGrp="1"/>
          </p:cNvSpPr>
          <p:nvPr>
            <p:ph type="sldNum" sz="quarter" idx="12"/>
          </p:nvPr>
        </p:nvSpPr>
        <p:spPr/>
        <p:txBody>
          <a:bodyPr/>
          <a:lstStyle/>
          <a:p>
            <a:fld id="{B53602B4-F12B-41CD-B648-531F86B2CC91}" type="slidenum">
              <a:rPr lang="zh-CN" altLang="en-US" smtClean="0"/>
              <a:t>19</a:t>
            </a:fld>
            <a:endParaRPr lang="zh-CN" altLang="en-US"/>
          </a:p>
        </p:txBody>
      </p:sp>
    </p:spTree>
    <p:extLst>
      <p:ext uri="{BB962C8B-B14F-4D97-AF65-F5344CB8AC3E}">
        <p14:creationId xmlns:p14="http://schemas.microsoft.com/office/powerpoint/2010/main" val="1334939814"/>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49142242-5E57-4D15-A0DD-17CB598A023D}"/>
              </a:ext>
            </a:extLst>
          </p:cNvPr>
          <p:cNvSpPr txBox="1"/>
          <p:nvPr/>
        </p:nvSpPr>
        <p:spPr>
          <a:xfrm>
            <a:off x="370115" y="1534731"/>
            <a:ext cx="8164412" cy="4037640"/>
          </a:xfrm>
          <a:prstGeom prst="rect">
            <a:avLst/>
          </a:prstGeom>
          <a:noFill/>
        </p:spPr>
        <p:txBody>
          <a:bodyPr wrap="square" lIns="91436" tIns="45718" rIns="91436" bIns="45718" rtlCol="0">
            <a:spAutoFit/>
          </a:bodyPr>
          <a:lstStyle/>
          <a:p>
            <a:pPr>
              <a:lnSpc>
                <a:spcPct val="150000"/>
              </a:lnSpc>
              <a:spcBef>
                <a:spcPts val="624"/>
              </a:spcBef>
            </a:pPr>
            <a:r>
              <a:rPr lang="en-US" altLang="zh-CN" sz="2400" b="1" dirty="0">
                <a:latin typeface="宋体" panose="02010600030101010101" pitchFamily="2" charset="-122"/>
                <a:ea typeface="宋体" panose="02010600030101010101" pitchFamily="2" charset="-122"/>
                <a:cs typeface="Arial" panose="020B0604020202020204" pitchFamily="34" charset="0"/>
              </a:rPr>
              <a:t>2.</a:t>
            </a:r>
            <a:r>
              <a:rPr lang="zh-CN" altLang="en-US" sz="2400" b="1" dirty="0">
                <a:latin typeface="宋体" panose="02010600030101010101" pitchFamily="2" charset="-122"/>
                <a:ea typeface="宋体" panose="02010600030101010101" pitchFamily="2" charset="-122"/>
                <a:cs typeface="Arial" panose="020B0604020202020204" pitchFamily="34" charset="0"/>
              </a:rPr>
              <a:t>微波传感器的分类</a:t>
            </a:r>
          </a:p>
          <a:p>
            <a:pPr>
              <a:lnSpc>
                <a:spcPct val="150000"/>
              </a:lnSpc>
              <a:spcBef>
                <a:spcPts val="624"/>
              </a:spcBef>
            </a:pPr>
            <a:r>
              <a:rPr lang="zh-CN" altLang="en-US" sz="2400" b="1" dirty="0">
                <a:latin typeface="宋体" panose="02010600030101010101" pitchFamily="2" charset="-122"/>
                <a:ea typeface="宋体" panose="02010600030101010101" pitchFamily="2" charset="-122"/>
                <a:cs typeface="Arial" panose="020B0604020202020204" pitchFamily="34" charset="0"/>
              </a:rPr>
              <a:t>    </a:t>
            </a:r>
            <a:r>
              <a:rPr lang="en-US" altLang="zh-CN" sz="2400" b="1" dirty="0">
                <a:latin typeface="宋体" panose="02010600030101010101" pitchFamily="2" charset="-122"/>
                <a:ea typeface="宋体" panose="02010600030101010101" pitchFamily="2" charset="-122"/>
                <a:cs typeface="Arial" panose="020B0604020202020204" pitchFamily="34" charset="0"/>
              </a:rPr>
              <a:t>(1)</a:t>
            </a:r>
            <a:r>
              <a:rPr lang="zh-CN" altLang="en-US" sz="2400" b="1" dirty="0">
                <a:solidFill>
                  <a:srgbClr val="C00000"/>
                </a:solidFill>
                <a:latin typeface="宋体" panose="02010600030101010101" pitchFamily="2" charset="-122"/>
                <a:ea typeface="宋体" panose="02010600030101010101" pitchFamily="2" charset="-122"/>
                <a:cs typeface="Arial" panose="020B0604020202020204" pitchFamily="34" charset="0"/>
              </a:rPr>
              <a:t>反射式</a:t>
            </a:r>
            <a:r>
              <a:rPr lang="zh-CN" altLang="en-US" sz="2400" b="1" dirty="0">
                <a:latin typeface="宋体" panose="02010600030101010101" pitchFamily="2" charset="-122"/>
                <a:ea typeface="宋体" panose="02010600030101010101" pitchFamily="2" charset="-122"/>
                <a:cs typeface="Arial" panose="020B0604020202020204" pitchFamily="34" charset="0"/>
              </a:rPr>
              <a:t>微波传感器</a:t>
            </a:r>
            <a:r>
              <a:rPr lang="en-US" altLang="zh-CN" sz="2400" b="1" dirty="0">
                <a:latin typeface="宋体" panose="02010600030101010101" pitchFamily="2" charset="-122"/>
                <a:ea typeface="宋体" panose="02010600030101010101" pitchFamily="2" charset="-122"/>
                <a:cs typeface="Arial" panose="020B0604020202020204" pitchFamily="34" charset="0"/>
              </a:rPr>
              <a:t>:</a:t>
            </a:r>
            <a:r>
              <a:rPr lang="zh-CN" altLang="en-US" sz="2400" b="1" dirty="0">
                <a:latin typeface="宋体" panose="02010600030101010101" pitchFamily="2" charset="-122"/>
                <a:ea typeface="宋体" panose="02010600030101010101" pitchFamily="2" charset="-122"/>
                <a:cs typeface="Arial" panose="020B0604020202020204" pitchFamily="34" charset="0"/>
              </a:rPr>
              <a:t>通过检测被测物反射回来的微波功率或经过的时间间隔来测量被测</a:t>
            </a:r>
            <a:r>
              <a:rPr lang="zh-CN" altLang="en-US" sz="2400" b="1">
                <a:latin typeface="宋体" panose="02010600030101010101" pitchFamily="2" charset="-122"/>
                <a:ea typeface="宋体" panose="02010600030101010101" pitchFamily="2" charset="-122"/>
                <a:cs typeface="Arial" panose="020B0604020202020204" pitchFamily="34" charset="0"/>
              </a:rPr>
              <a:t>量。可</a:t>
            </a:r>
            <a:r>
              <a:rPr lang="zh-CN" altLang="en-US" sz="2400" b="1" dirty="0">
                <a:latin typeface="宋体" panose="02010600030101010101" pitchFamily="2" charset="-122"/>
                <a:ea typeface="宋体" panose="02010600030101010101" pitchFamily="2" charset="-122"/>
                <a:cs typeface="Arial" panose="020B0604020202020204" pitchFamily="34" charset="0"/>
              </a:rPr>
              <a:t>以测量物体的位移、厚度、液位等参数。</a:t>
            </a:r>
          </a:p>
          <a:p>
            <a:pPr>
              <a:lnSpc>
                <a:spcPct val="150000"/>
              </a:lnSpc>
              <a:spcBef>
                <a:spcPts val="624"/>
              </a:spcBef>
            </a:pPr>
            <a:r>
              <a:rPr lang="en-US" altLang="zh-CN" sz="2400" b="1" dirty="0">
                <a:latin typeface="宋体" panose="02010600030101010101" pitchFamily="2" charset="-122"/>
                <a:ea typeface="宋体" panose="02010600030101010101" pitchFamily="2" charset="-122"/>
                <a:cs typeface="Arial" panose="020B0604020202020204" pitchFamily="34" charset="0"/>
              </a:rPr>
              <a:t>    (2) </a:t>
            </a:r>
            <a:r>
              <a:rPr lang="zh-CN" altLang="en-US" sz="2400" b="1" dirty="0">
                <a:solidFill>
                  <a:srgbClr val="C00000"/>
                </a:solidFill>
                <a:latin typeface="宋体" panose="02010600030101010101" pitchFamily="2" charset="-122"/>
                <a:ea typeface="宋体" panose="02010600030101010101" pitchFamily="2" charset="-122"/>
                <a:cs typeface="Arial" panose="020B0604020202020204" pitchFamily="34" charset="0"/>
              </a:rPr>
              <a:t>遮断式</a:t>
            </a:r>
            <a:r>
              <a:rPr lang="zh-CN" altLang="en-US" sz="2400" b="1" dirty="0">
                <a:latin typeface="宋体" panose="02010600030101010101" pitchFamily="2" charset="-122"/>
                <a:ea typeface="宋体" panose="02010600030101010101" pitchFamily="2" charset="-122"/>
                <a:cs typeface="Arial" panose="020B0604020202020204" pitchFamily="34" charset="0"/>
              </a:rPr>
              <a:t>微波传感器</a:t>
            </a:r>
            <a:r>
              <a:rPr lang="en-US" altLang="zh-CN" sz="2400" b="1" dirty="0">
                <a:latin typeface="宋体" panose="02010600030101010101" pitchFamily="2" charset="-122"/>
                <a:ea typeface="宋体" panose="02010600030101010101" pitchFamily="2" charset="-122"/>
                <a:cs typeface="Arial" panose="020B0604020202020204" pitchFamily="34" charset="0"/>
              </a:rPr>
              <a:t>:</a:t>
            </a:r>
            <a:r>
              <a:rPr lang="zh-CN" altLang="en-US" sz="2400" b="1" dirty="0">
                <a:latin typeface="宋体" panose="02010600030101010101" pitchFamily="2" charset="-122"/>
                <a:ea typeface="宋体" panose="02010600030101010101" pitchFamily="2" charset="-122"/>
                <a:cs typeface="Arial" panose="020B0604020202020204" pitchFamily="34" charset="0"/>
              </a:rPr>
              <a:t>通过检测接收天线收到的微波功率大小来判断发射天线与接收天线之间有无被测物体，或测量被测物体的位置、含水量等参数。</a:t>
            </a:r>
          </a:p>
        </p:txBody>
      </p:sp>
      <p:sp>
        <p:nvSpPr>
          <p:cNvPr id="24" name="矩形 23">
            <a:extLst>
              <a:ext uri="{FF2B5EF4-FFF2-40B4-BE49-F238E27FC236}">
                <a16:creationId xmlns:a16="http://schemas.microsoft.com/office/drawing/2014/main" id="{64509930-9DFB-420E-8F32-960E50399825}"/>
              </a:ext>
            </a:extLst>
          </p:cNvPr>
          <p:cNvSpPr/>
          <p:nvPr/>
        </p:nvSpPr>
        <p:spPr>
          <a:xfrm>
            <a:off x="1571711" y="258777"/>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5" name="圆角矩形 43">
            <a:extLst>
              <a:ext uri="{FF2B5EF4-FFF2-40B4-BE49-F238E27FC236}">
                <a16:creationId xmlns:a16="http://schemas.microsoft.com/office/drawing/2014/main" id="{7D086454-5B10-4064-9B8F-531209592F7E}"/>
              </a:ext>
            </a:extLst>
          </p:cNvPr>
          <p:cNvSpPr/>
          <p:nvPr/>
        </p:nvSpPr>
        <p:spPr>
          <a:xfrm rot="10800000" flipV="1">
            <a:off x="185084" y="242948"/>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20204" pitchFamily="34" charset="0"/>
                <a:ea typeface="宋体" panose="02010600030101010101" pitchFamily="2" charset="-122"/>
                <a:cs typeface="Arial" panose="020B0604020202020204" pitchFamily="34" charset="0"/>
              </a:rPr>
              <a:t>9.2.1</a:t>
            </a:r>
            <a:endParaRPr lang="zh-CN" altLang="en-US" sz="3200" b="1" dirty="0">
              <a:latin typeface="Arial" panose="020B0604020202020204" pitchFamily="34" charset="0"/>
              <a:ea typeface="宋体" panose="02010600030101010101" pitchFamily="2" charset="-122"/>
              <a:cs typeface="Arial" panose="020B0604020202020204" pitchFamily="34" charset="0"/>
            </a:endParaRPr>
          </a:p>
        </p:txBody>
      </p:sp>
      <p:sp>
        <p:nvSpPr>
          <p:cNvPr id="36" name="矩形 35">
            <a:extLst>
              <a:ext uri="{FF2B5EF4-FFF2-40B4-BE49-F238E27FC236}">
                <a16:creationId xmlns:a16="http://schemas.microsoft.com/office/drawing/2014/main" id="{2A2F604C-DA27-459E-8419-ED777356D653}"/>
              </a:ext>
            </a:extLst>
          </p:cNvPr>
          <p:cNvSpPr/>
          <p:nvPr/>
        </p:nvSpPr>
        <p:spPr>
          <a:xfrm>
            <a:off x="1919521" y="240301"/>
            <a:ext cx="4123237" cy="615549"/>
          </a:xfrm>
          <a:prstGeom prst="rect">
            <a:avLst/>
          </a:prstGeom>
        </p:spPr>
        <p:txBody>
          <a:bodyPr wrap="none" lIns="91436" tIns="45718" rIns="91436" bIns="45718">
            <a:spAutoFit/>
          </a:bodyPr>
          <a:lstStyle/>
          <a:p>
            <a:pPr algn="ctr"/>
            <a:r>
              <a:rPr lang="zh-CN" altLang="en-US" sz="3400" b="1" dirty="0">
                <a:solidFill>
                  <a:schemeClr val="bg1"/>
                </a:solidFill>
                <a:latin typeface="宋体" panose="02010600030101010101" pitchFamily="2" charset="-122"/>
                <a:ea typeface="宋体" panose="02010600030101010101" pitchFamily="2" charset="-122"/>
              </a:rPr>
              <a:t>微波传感器工作原理</a:t>
            </a:r>
            <a:endParaRPr lang="en-US" altLang="zh-CN" sz="3400" b="1" dirty="0">
              <a:solidFill>
                <a:schemeClr val="bg1"/>
              </a:solidFill>
              <a:latin typeface="宋体" panose="02010600030101010101" pitchFamily="2" charset="-122"/>
              <a:ea typeface="宋体" panose="02010600030101010101" pitchFamily="2" charset="-122"/>
            </a:endParaRPr>
          </a:p>
        </p:txBody>
      </p:sp>
      <p:sp>
        <p:nvSpPr>
          <p:cNvPr id="2" name="Slide Number Placeholder 1">
            <a:extLst>
              <a:ext uri="{FF2B5EF4-FFF2-40B4-BE49-F238E27FC236}">
                <a16:creationId xmlns:a16="http://schemas.microsoft.com/office/drawing/2014/main" id="{FEF41780-2BF4-47C3-A198-F2BC20BE168A}"/>
              </a:ext>
            </a:extLst>
          </p:cNvPr>
          <p:cNvSpPr>
            <a:spLocks noGrp="1"/>
          </p:cNvSpPr>
          <p:nvPr>
            <p:ph type="sldNum" sz="quarter" idx="12"/>
          </p:nvPr>
        </p:nvSpPr>
        <p:spPr/>
        <p:txBody>
          <a:bodyPr/>
          <a:lstStyle/>
          <a:p>
            <a:fld id="{B53602B4-F12B-41CD-B648-531F86B2CC91}" type="slidenum">
              <a:rPr lang="zh-CN" altLang="en-US" smtClean="0"/>
              <a:t>20</a:t>
            </a:fld>
            <a:endParaRPr lang="zh-CN" altLang="en-US"/>
          </a:p>
        </p:txBody>
      </p:sp>
    </p:spTree>
    <p:extLst>
      <p:ext uri="{BB962C8B-B14F-4D97-AF65-F5344CB8AC3E}">
        <p14:creationId xmlns:p14="http://schemas.microsoft.com/office/powerpoint/2010/main" val="2394717913"/>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49142242-5E57-4D15-A0DD-17CB598A023D}"/>
              </a:ext>
            </a:extLst>
          </p:cNvPr>
          <p:cNvSpPr txBox="1"/>
          <p:nvPr/>
        </p:nvSpPr>
        <p:spPr>
          <a:xfrm>
            <a:off x="1815734" y="1759548"/>
            <a:ext cx="5512532" cy="574577"/>
          </a:xfrm>
          <a:prstGeom prst="rect">
            <a:avLst/>
          </a:prstGeom>
          <a:noFill/>
        </p:spPr>
        <p:txBody>
          <a:bodyPr wrap="square" lIns="91436" tIns="45718" rIns="91436" bIns="45718" rtlCol="0">
            <a:spAutoFit/>
          </a:bodyPr>
          <a:lstStyle/>
          <a:p>
            <a:pPr>
              <a:lnSpc>
                <a:spcPct val="150000"/>
              </a:lnSpc>
              <a:spcBef>
                <a:spcPts val="624"/>
              </a:spcBef>
            </a:pPr>
            <a:r>
              <a:rPr lang="zh-CN" altLang="en-US" sz="2400" b="1" dirty="0">
                <a:latin typeface="Arial" panose="020B0604020202020204" pitchFamily="34" charset="0"/>
                <a:ea typeface="宋体" panose="02010600030101010101" pitchFamily="2" charset="-122"/>
                <a:cs typeface="Arial" panose="020B0604020202020204" pitchFamily="34" charset="0"/>
              </a:rPr>
              <a:t>微波传感器的组成主要包括三个部分：</a:t>
            </a:r>
            <a:endParaRPr lang="en-US" altLang="zh-CN" sz="2400" b="1" dirty="0">
              <a:latin typeface="Arial" panose="020B0604020202020204" pitchFamily="34" charset="0"/>
              <a:ea typeface="宋体" panose="02010600030101010101" pitchFamily="2" charset="-122"/>
              <a:cs typeface="Arial" panose="020B0604020202020204" pitchFamily="34" charset="0"/>
            </a:endParaRPr>
          </a:p>
        </p:txBody>
      </p:sp>
      <p:sp>
        <p:nvSpPr>
          <p:cNvPr id="37" name="矩形 36">
            <a:extLst>
              <a:ext uri="{FF2B5EF4-FFF2-40B4-BE49-F238E27FC236}">
                <a16:creationId xmlns:a16="http://schemas.microsoft.com/office/drawing/2014/main" id="{64509930-9DFB-420E-8F32-960E50399825}"/>
              </a:ext>
            </a:extLst>
          </p:cNvPr>
          <p:cNvSpPr/>
          <p:nvPr/>
        </p:nvSpPr>
        <p:spPr>
          <a:xfrm>
            <a:off x="1571711" y="258777"/>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57" name="圆角矩形 43">
            <a:extLst>
              <a:ext uri="{FF2B5EF4-FFF2-40B4-BE49-F238E27FC236}">
                <a16:creationId xmlns:a16="http://schemas.microsoft.com/office/drawing/2014/main" id="{7D086454-5B10-4064-9B8F-531209592F7E}"/>
              </a:ext>
            </a:extLst>
          </p:cNvPr>
          <p:cNvSpPr/>
          <p:nvPr/>
        </p:nvSpPr>
        <p:spPr>
          <a:xfrm rot="10800000" flipV="1">
            <a:off x="185084" y="242948"/>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20204" pitchFamily="34" charset="0"/>
                <a:ea typeface="宋体" panose="02010600030101010101" pitchFamily="2" charset="-122"/>
                <a:cs typeface="Arial" panose="020B0604020202020204" pitchFamily="34" charset="0"/>
              </a:rPr>
              <a:t>9.2.2</a:t>
            </a:r>
            <a:endParaRPr lang="zh-CN" altLang="en-US" sz="3200" b="1" dirty="0">
              <a:latin typeface="Arial" panose="020B0604020202020204" pitchFamily="34" charset="0"/>
              <a:ea typeface="宋体" panose="02010600030101010101" pitchFamily="2" charset="-122"/>
              <a:cs typeface="Arial" panose="020B0604020202020204" pitchFamily="34" charset="0"/>
            </a:endParaRPr>
          </a:p>
        </p:txBody>
      </p:sp>
      <p:sp>
        <p:nvSpPr>
          <p:cNvPr id="58" name="矩形 57">
            <a:extLst>
              <a:ext uri="{FF2B5EF4-FFF2-40B4-BE49-F238E27FC236}">
                <a16:creationId xmlns:a16="http://schemas.microsoft.com/office/drawing/2014/main" id="{2A2F604C-DA27-459E-8419-ED777356D653}"/>
              </a:ext>
            </a:extLst>
          </p:cNvPr>
          <p:cNvSpPr/>
          <p:nvPr/>
        </p:nvSpPr>
        <p:spPr>
          <a:xfrm>
            <a:off x="1920410" y="240301"/>
            <a:ext cx="3247997" cy="615549"/>
          </a:xfrm>
          <a:prstGeom prst="rect">
            <a:avLst/>
          </a:prstGeom>
        </p:spPr>
        <p:txBody>
          <a:bodyPr wrap="none" lIns="91436" tIns="45718" rIns="91436" bIns="45718">
            <a:spAutoFit/>
          </a:bodyPr>
          <a:lstStyle/>
          <a:p>
            <a:pPr algn="ctr"/>
            <a:r>
              <a:rPr lang="zh-CN" altLang="en-US" sz="3400" b="1" dirty="0">
                <a:solidFill>
                  <a:schemeClr val="bg1"/>
                </a:solidFill>
                <a:latin typeface="宋体" panose="02010600030101010101" pitchFamily="2" charset="-122"/>
                <a:ea typeface="宋体" panose="02010600030101010101" pitchFamily="2" charset="-122"/>
              </a:rPr>
              <a:t>微波传感器组成</a:t>
            </a:r>
            <a:endParaRPr lang="en-US" altLang="zh-CN" sz="3400" b="1" dirty="0">
              <a:solidFill>
                <a:schemeClr val="bg1"/>
              </a:solidFill>
              <a:latin typeface="宋体" panose="02010600030101010101" pitchFamily="2" charset="-122"/>
              <a:ea typeface="宋体" panose="02010600030101010101" pitchFamily="2" charset="-122"/>
            </a:endParaRPr>
          </a:p>
        </p:txBody>
      </p:sp>
      <p:sp>
        <p:nvSpPr>
          <p:cNvPr id="6" name="矩形 5"/>
          <p:cNvSpPr/>
          <p:nvPr/>
        </p:nvSpPr>
        <p:spPr>
          <a:xfrm>
            <a:off x="2286000" y="2505202"/>
            <a:ext cx="4572000" cy="2462213"/>
          </a:xfrm>
          <a:prstGeom prst="rect">
            <a:avLst/>
          </a:prstGeom>
        </p:spPr>
        <p:txBody>
          <a:bodyPr>
            <a:spAutoFit/>
          </a:bodyPr>
          <a:lstStyle/>
          <a:p>
            <a:pPr>
              <a:lnSpc>
                <a:spcPct val="200000"/>
              </a:lnSpc>
              <a:spcBef>
                <a:spcPts val="624"/>
              </a:spcBef>
            </a:pPr>
            <a:r>
              <a:rPr lang="en-US" altLang="zh-CN" sz="2400" b="1" dirty="0">
                <a:latin typeface="Arial" panose="020B0604020202020204" pitchFamily="34" charset="0"/>
                <a:ea typeface="宋体" panose="02010600030101010101" pitchFamily="2" charset="-122"/>
                <a:cs typeface="Arial" panose="020B0604020202020204" pitchFamily="34" charset="0"/>
                <a:hlinkClick r:id="rId3" action="ppaction://hlinksldjump"/>
              </a:rPr>
              <a:t>1. </a:t>
            </a:r>
            <a:r>
              <a:rPr lang="zh-CN" altLang="en-US" sz="2400" b="1" dirty="0">
                <a:latin typeface="Arial" panose="020B0604020202020204" pitchFamily="34" charset="0"/>
                <a:ea typeface="宋体" panose="02010600030101010101" pitchFamily="2" charset="-122"/>
                <a:cs typeface="Arial" panose="020B0604020202020204" pitchFamily="34" charset="0"/>
                <a:hlinkClick r:id="rId3" action="ppaction://hlinksldjump"/>
              </a:rPr>
              <a:t>微波发生器</a:t>
            </a:r>
            <a:r>
              <a:rPr lang="zh-CN" altLang="en-US" sz="2400" b="1" dirty="0">
                <a:latin typeface="Arial" panose="020B0604020202020204" pitchFamily="34" charset="0"/>
                <a:ea typeface="宋体" panose="02010600030101010101" pitchFamily="2" charset="-122"/>
                <a:cs typeface="Arial" panose="020B0604020202020204" pitchFamily="34" charset="0"/>
              </a:rPr>
              <a:t>（或称微波振荡器）</a:t>
            </a:r>
            <a:endParaRPr lang="en-US" altLang="zh-CN" sz="2400" b="1" dirty="0">
              <a:latin typeface="Arial" panose="020B0604020202020204" pitchFamily="34" charset="0"/>
              <a:ea typeface="宋体" panose="02010600030101010101" pitchFamily="2" charset="-122"/>
              <a:cs typeface="Arial" panose="020B0604020202020204" pitchFamily="34" charset="0"/>
            </a:endParaRPr>
          </a:p>
          <a:p>
            <a:pPr>
              <a:lnSpc>
                <a:spcPct val="200000"/>
              </a:lnSpc>
              <a:spcBef>
                <a:spcPts val="624"/>
              </a:spcBef>
            </a:pPr>
            <a:r>
              <a:rPr lang="en-US" altLang="zh-CN" sz="2400" b="1" dirty="0">
                <a:latin typeface="Arial" panose="020B0604020202020204" pitchFamily="34" charset="0"/>
                <a:ea typeface="宋体" panose="02010600030101010101" pitchFamily="2" charset="-122"/>
                <a:cs typeface="Arial" panose="020B0604020202020204" pitchFamily="34" charset="0"/>
                <a:hlinkClick r:id="rId4" action="ppaction://hlinksldjump"/>
              </a:rPr>
              <a:t>2. </a:t>
            </a:r>
            <a:r>
              <a:rPr lang="zh-CN" altLang="en-US" sz="2400" b="1" dirty="0">
                <a:latin typeface="Arial" panose="020B0604020202020204" pitchFamily="34" charset="0"/>
                <a:ea typeface="宋体" panose="02010600030101010101" pitchFamily="2" charset="-122"/>
                <a:cs typeface="Arial" panose="020B0604020202020204" pitchFamily="34" charset="0"/>
                <a:hlinkClick r:id="rId4" action="ppaction://hlinksldjump"/>
              </a:rPr>
              <a:t>微波天线</a:t>
            </a:r>
            <a:endParaRPr lang="en-US" altLang="zh-CN" sz="2400" b="1" dirty="0">
              <a:latin typeface="Arial" panose="020B0604020202020204" pitchFamily="34" charset="0"/>
              <a:ea typeface="宋体" panose="02010600030101010101" pitchFamily="2" charset="-122"/>
              <a:cs typeface="Arial" panose="020B0604020202020204" pitchFamily="34" charset="0"/>
            </a:endParaRPr>
          </a:p>
          <a:p>
            <a:pPr>
              <a:lnSpc>
                <a:spcPct val="200000"/>
              </a:lnSpc>
              <a:spcBef>
                <a:spcPts val="624"/>
              </a:spcBef>
            </a:pPr>
            <a:r>
              <a:rPr lang="en-US" altLang="zh-CN" sz="2400" b="1" dirty="0">
                <a:latin typeface="Arial" panose="020B0604020202020204" pitchFamily="34" charset="0"/>
                <a:ea typeface="宋体" panose="02010600030101010101" pitchFamily="2" charset="-122"/>
                <a:cs typeface="Arial" panose="020B0604020202020204" pitchFamily="34" charset="0"/>
                <a:hlinkClick r:id="rId5" action="ppaction://hlinksldjump"/>
              </a:rPr>
              <a:t>3. </a:t>
            </a:r>
            <a:r>
              <a:rPr lang="zh-CN" altLang="en-US" sz="2400" b="1" dirty="0">
                <a:latin typeface="Arial" panose="020B0604020202020204" pitchFamily="34" charset="0"/>
                <a:ea typeface="宋体" panose="02010600030101010101" pitchFamily="2" charset="-122"/>
                <a:cs typeface="Arial" panose="020B0604020202020204" pitchFamily="34" charset="0"/>
                <a:hlinkClick r:id="rId5" action="ppaction://hlinksldjump"/>
              </a:rPr>
              <a:t>微波检测器</a:t>
            </a:r>
            <a:endParaRPr lang="zh-CN" altLang="en-US" sz="2400" dirty="0"/>
          </a:p>
        </p:txBody>
      </p:sp>
      <p:sp>
        <p:nvSpPr>
          <p:cNvPr id="2" name="Slide Number Placeholder 1">
            <a:extLst>
              <a:ext uri="{FF2B5EF4-FFF2-40B4-BE49-F238E27FC236}">
                <a16:creationId xmlns:a16="http://schemas.microsoft.com/office/drawing/2014/main" id="{8EB3FCB1-D02B-4F69-8502-E6846C1BA49D}"/>
              </a:ext>
            </a:extLst>
          </p:cNvPr>
          <p:cNvSpPr>
            <a:spLocks noGrp="1"/>
          </p:cNvSpPr>
          <p:nvPr>
            <p:ph type="sldNum" sz="quarter" idx="12"/>
          </p:nvPr>
        </p:nvSpPr>
        <p:spPr/>
        <p:txBody>
          <a:bodyPr/>
          <a:lstStyle/>
          <a:p>
            <a:fld id="{B53602B4-F12B-41CD-B648-531F86B2CC91}" type="slidenum">
              <a:rPr lang="zh-CN" altLang="en-US" smtClean="0"/>
              <a:t>21</a:t>
            </a:fld>
            <a:endParaRPr lang="zh-CN" altLang="en-US"/>
          </a:p>
        </p:txBody>
      </p:sp>
    </p:spTree>
    <p:extLst>
      <p:ext uri="{BB962C8B-B14F-4D97-AF65-F5344CB8AC3E}">
        <p14:creationId xmlns:p14="http://schemas.microsoft.com/office/powerpoint/2010/main" val="3179510511"/>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49142242-5E57-4D15-A0DD-17CB598A023D}"/>
              </a:ext>
            </a:extLst>
          </p:cNvPr>
          <p:cNvSpPr txBox="1"/>
          <p:nvPr/>
        </p:nvSpPr>
        <p:spPr>
          <a:xfrm>
            <a:off x="724808" y="1546773"/>
            <a:ext cx="8069942" cy="3637530"/>
          </a:xfrm>
          <a:prstGeom prst="rect">
            <a:avLst/>
          </a:prstGeom>
          <a:noFill/>
        </p:spPr>
        <p:txBody>
          <a:bodyPr wrap="square" lIns="91436" tIns="45718" rIns="91436" bIns="45718" rtlCol="0">
            <a:spAutoFit/>
          </a:bodyPr>
          <a:lstStyle/>
          <a:p>
            <a:pPr indent="627063">
              <a:lnSpc>
                <a:spcPct val="150000"/>
              </a:lnSpc>
              <a:spcBef>
                <a:spcPts val="1200"/>
              </a:spcBef>
            </a:pPr>
            <a:r>
              <a:rPr lang="zh-CN" altLang="en-US" sz="2400" b="1" dirty="0">
                <a:latin typeface="宋体" pitchFamily="2" charset="-122"/>
                <a:ea typeface="宋体" pitchFamily="2" charset="-122"/>
                <a:cs typeface="Times New Roman" panose="02020603050405020304" pitchFamily="18" charset="0"/>
              </a:rPr>
              <a:t>微波发生器是</a:t>
            </a:r>
            <a:r>
              <a:rPr lang="zh-CN" altLang="en-US" sz="2400" b="1" dirty="0">
                <a:solidFill>
                  <a:srgbClr val="00B050"/>
                </a:solidFill>
                <a:latin typeface="宋体" pitchFamily="2" charset="-122"/>
                <a:ea typeface="宋体" pitchFamily="2" charset="-122"/>
                <a:cs typeface="Times New Roman" panose="02020603050405020304" pitchFamily="18" charset="0"/>
              </a:rPr>
              <a:t>产生微波</a:t>
            </a:r>
            <a:r>
              <a:rPr lang="zh-CN" altLang="en-US" sz="2400" b="1" dirty="0">
                <a:latin typeface="宋体" pitchFamily="2" charset="-122"/>
                <a:ea typeface="宋体" pitchFamily="2" charset="-122"/>
                <a:cs typeface="Times New Roman" panose="02020603050405020304" pitchFamily="18" charset="0"/>
              </a:rPr>
              <a:t>的装置。</a:t>
            </a:r>
            <a:endParaRPr lang="en-US" altLang="zh-CN" sz="2400" b="1" dirty="0">
              <a:latin typeface="宋体" pitchFamily="2" charset="-122"/>
              <a:ea typeface="宋体" pitchFamily="2" charset="-122"/>
              <a:cs typeface="Times New Roman" panose="02020603050405020304" pitchFamily="18" charset="0"/>
            </a:endParaRPr>
          </a:p>
          <a:p>
            <a:pPr indent="627063">
              <a:lnSpc>
                <a:spcPct val="150000"/>
              </a:lnSpc>
              <a:spcBef>
                <a:spcPts val="1200"/>
              </a:spcBef>
            </a:pPr>
            <a:r>
              <a:rPr lang="zh-CN" altLang="en-US" sz="2400" b="1" dirty="0">
                <a:latin typeface="宋体" pitchFamily="2" charset="-122"/>
                <a:ea typeface="宋体" pitchFamily="2" charset="-122"/>
                <a:cs typeface="Times New Roman" panose="02020603050405020304" pitchFamily="18" charset="0"/>
              </a:rPr>
              <a:t>由于</a:t>
            </a:r>
            <a:r>
              <a:rPr lang="zh-CN" altLang="en-US" sz="2400" b="1" dirty="0">
                <a:solidFill>
                  <a:srgbClr val="C00000"/>
                </a:solidFill>
                <a:latin typeface="宋体" pitchFamily="2" charset="-122"/>
                <a:ea typeface="宋体" pitchFamily="2" charset="-122"/>
                <a:cs typeface="Times New Roman" panose="02020603050405020304" pitchFamily="18" charset="0"/>
              </a:rPr>
              <a:t>微波波长很短，即频率很高</a:t>
            </a:r>
            <a:r>
              <a:rPr lang="zh-CN" altLang="en-US" sz="2400" b="1" dirty="0">
                <a:latin typeface="宋体" pitchFamily="2" charset="-122"/>
                <a:ea typeface="宋体" pitchFamily="2" charset="-122"/>
                <a:cs typeface="Times New Roman" panose="02020603050405020304" pitchFamily="18" charset="0"/>
              </a:rPr>
              <a:t> </a:t>
            </a:r>
            <a:r>
              <a:rPr lang="en-US" altLang="zh-CN" sz="2400" b="1" dirty="0">
                <a:latin typeface="宋体" pitchFamily="2" charset="-122"/>
                <a:ea typeface="宋体" pitchFamily="2" charset="-122"/>
                <a:cs typeface="Times New Roman" panose="02020603050405020304" pitchFamily="18" charset="0"/>
              </a:rPr>
              <a:t>(</a:t>
            </a:r>
            <a:r>
              <a:rPr lang="en-US" altLang="zh-CN" sz="2400" b="1" dirty="0">
                <a:solidFill>
                  <a:srgbClr val="00B050"/>
                </a:solidFill>
                <a:latin typeface="宋体" pitchFamily="2" charset="-122"/>
                <a:ea typeface="宋体" pitchFamily="2" charset="-122"/>
                <a:cs typeface="Times New Roman" panose="02020603050405020304" pitchFamily="18" charset="0"/>
              </a:rPr>
              <a:t>300MHz</a:t>
            </a:r>
            <a:r>
              <a:rPr lang="en-US" altLang="zh-CN" sz="2400" b="1" dirty="0">
                <a:solidFill>
                  <a:srgbClr val="00B050"/>
                </a:solidFill>
                <a:latin typeface="Times New Roman" pitchFamily="18" charset="0"/>
                <a:ea typeface="宋体" pitchFamily="2" charset="-122"/>
                <a:cs typeface="Times New Roman" pitchFamily="18" charset="0"/>
              </a:rPr>
              <a:t>~ </a:t>
            </a:r>
            <a:r>
              <a:rPr lang="en-US" altLang="zh-CN" sz="2400" b="1" dirty="0">
                <a:solidFill>
                  <a:srgbClr val="00B050"/>
                </a:solidFill>
                <a:latin typeface="宋体" pitchFamily="2" charset="-122"/>
                <a:ea typeface="宋体" pitchFamily="2" charset="-122"/>
                <a:cs typeface="Times New Roman" panose="02020603050405020304" pitchFamily="18" charset="0"/>
              </a:rPr>
              <a:t>300GHz</a:t>
            </a:r>
            <a:r>
              <a:rPr lang="en-US" altLang="zh-CN" sz="2400" b="1" dirty="0">
                <a:latin typeface="宋体" pitchFamily="2" charset="-122"/>
                <a:ea typeface="宋体" pitchFamily="2" charset="-122"/>
                <a:cs typeface="Times New Roman" panose="02020603050405020304" pitchFamily="18" charset="0"/>
              </a:rPr>
              <a:t>),</a:t>
            </a:r>
            <a:r>
              <a:rPr lang="zh-CN" altLang="en-US" sz="2400" b="1" dirty="0">
                <a:solidFill>
                  <a:srgbClr val="3333CC"/>
                </a:solidFill>
                <a:latin typeface="宋体" pitchFamily="2" charset="-122"/>
                <a:ea typeface="宋体" pitchFamily="2" charset="-122"/>
                <a:cs typeface="Times New Roman" panose="02020603050405020304" pitchFamily="18" charset="0"/>
              </a:rPr>
              <a:t>要求振荡回</a:t>
            </a:r>
            <a:r>
              <a:rPr lang="zh-CN" altLang="en-US" sz="2400" b="1">
                <a:solidFill>
                  <a:srgbClr val="3333CC"/>
                </a:solidFill>
                <a:latin typeface="宋体" pitchFamily="2" charset="-122"/>
                <a:ea typeface="宋体" pitchFamily="2" charset="-122"/>
                <a:cs typeface="Times New Roman" panose="02020603050405020304" pitchFamily="18" charset="0"/>
              </a:rPr>
              <a:t>路中的电感与电容非</a:t>
            </a:r>
            <a:r>
              <a:rPr lang="zh-CN" altLang="en-US" sz="2400" b="1" dirty="0">
                <a:solidFill>
                  <a:srgbClr val="3333CC"/>
                </a:solidFill>
                <a:latin typeface="宋体" pitchFamily="2" charset="-122"/>
                <a:ea typeface="宋体" pitchFamily="2" charset="-122"/>
                <a:cs typeface="Times New Roman" panose="02020603050405020304" pitchFamily="18" charset="0"/>
              </a:rPr>
              <a:t>常</a:t>
            </a:r>
            <a:r>
              <a:rPr lang="zh-CN" altLang="en-US" sz="2400" b="1">
                <a:solidFill>
                  <a:srgbClr val="3333CC"/>
                </a:solidFill>
                <a:latin typeface="宋体" pitchFamily="2" charset="-122"/>
                <a:ea typeface="宋体" pitchFamily="2" charset="-122"/>
                <a:cs typeface="Times New Roman" panose="02020603050405020304" pitchFamily="18" charset="0"/>
              </a:rPr>
              <a:t>微小</a:t>
            </a:r>
            <a:r>
              <a:rPr lang="zh-CN" altLang="en-US" sz="2400" b="1">
                <a:latin typeface="宋体" pitchFamily="2" charset="-122"/>
                <a:ea typeface="宋体" pitchFamily="2" charset="-122"/>
                <a:cs typeface="Times New Roman" panose="02020603050405020304" pitchFamily="18" charset="0"/>
              </a:rPr>
              <a:t>，</a:t>
            </a:r>
            <a:r>
              <a:rPr lang="zh-CN" altLang="en-US" sz="2400" b="1" dirty="0">
                <a:latin typeface="宋体" pitchFamily="2" charset="-122"/>
                <a:ea typeface="宋体" pitchFamily="2" charset="-122"/>
                <a:cs typeface="Times New Roman" panose="02020603050405020304" pitchFamily="18" charset="0"/>
              </a:rPr>
              <a:t>因此不能用普通的电子管与晶体管构成微波振荡器。</a:t>
            </a:r>
            <a:endParaRPr lang="en-US" altLang="zh-CN" sz="2400" b="1" dirty="0">
              <a:latin typeface="宋体" pitchFamily="2" charset="-122"/>
              <a:ea typeface="宋体" pitchFamily="2" charset="-122"/>
              <a:cs typeface="Times New Roman" panose="02020603050405020304" pitchFamily="18" charset="0"/>
            </a:endParaRPr>
          </a:p>
          <a:p>
            <a:pPr indent="627063">
              <a:lnSpc>
                <a:spcPct val="150000"/>
              </a:lnSpc>
              <a:spcBef>
                <a:spcPts val="1200"/>
              </a:spcBef>
            </a:pPr>
            <a:r>
              <a:rPr lang="zh-CN" altLang="en-US" sz="2400" b="1" dirty="0">
                <a:latin typeface="宋体" pitchFamily="2" charset="-122"/>
                <a:ea typeface="宋体" pitchFamily="2" charset="-122"/>
                <a:cs typeface="Times New Roman" panose="02020603050405020304" pitchFamily="18" charset="0"/>
              </a:rPr>
              <a:t>构成微波振荡器的器件有调速管、磁控管或某些固态器件，小型微波振荡器也可采用体效应管。</a:t>
            </a:r>
            <a:endParaRPr lang="zh-CN" altLang="en-US" sz="2000" b="1" dirty="0">
              <a:latin typeface="宋体" pitchFamily="2" charset="-122"/>
              <a:ea typeface="宋体" pitchFamily="2" charset="-122"/>
              <a:cs typeface="Times New Roman" panose="02020603050405020304" pitchFamily="18" charset="0"/>
            </a:endParaRPr>
          </a:p>
        </p:txBody>
      </p:sp>
      <p:sp>
        <p:nvSpPr>
          <p:cNvPr id="39" name="矩形 38">
            <a:extLst>
              <a:ext uri="{FF2B5EF4-FFF2-40B4-BE49-F238E27FC236}">
                <a16:creationId xmlns:a16="http://schemas.microsoft.com/office/drawing/2014/main" id="{64509930-9DFB-420E-8F32-960E50399825}"/>
              </a:ext>
            </a:extLst>
          </p:cNvPr>
          <p:cNvSpPr/>
          <p:nvPr/>
        </p:nvSpPr>
        <p:spPr>
          <a:xfrm>
            <a:off x="1571711" y="258777"/>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59" name="圆角矩形 43">
            <a:extLst>
              <a:ext uri="{FF2B5EF4-FFF2-40B4-BE49-F238E27FC236}">
                <a16:creationId xmlns:a16="http://schemas.microsoft.com/office/drawing/2014/main" id="{7D086454-5B10-4064-9B8F-531209592F7E}"/>
              </a:ext>
            </a:extLst>
          </p:cNvPr>
          <p:cNvSpPr/>
          <p:nvPr/>
        </p:nvSpPr>
        <p:spPr>
          <a:xfrm rot="10800000" flipV="1">
            <a:off x="185084" y="242948"/>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20204" pitchFamily="34" charset="0"/>
                <a:ea typeface="宋体" panose="02010600030101010101" pitchFamily="2" charset="-122"/>
                <a:cs typeface="Arial" panose="020B0604020202020204" pitchFamily="34" charset="0"/>
              </a:rPr>
              <a:t>9.2.2</a:t>
            </a:r>
            <a:endParaRPr lang="zh-CN" altLang="en-US" sz="3200" b="1" dirty="0">
              <a:latin typeface="Arial" panose="020B0604020202020204" pitchFamily="34" charset="0"/>
              <a:ea typeface="宋体" panose="02010600030101010101" pitchFamily="2" charset="-122"/>
              <a:cs typeface="Arial" panose="020B0604020202020204" pitchFamily="34" charset="0"/>
            </a:endParaRPr>
          </a:p>
        </p:txBody>
      </p:sp>
      <p:sp>
        <p:nvSpPr>
          <p:cNvPr id="60" name="矩形 59">
            <a:extLst>
              <a:ext uri="{FF2B5EF4-FFF2-40B4-BE49-F238E27FC236}">
                <a16:creationId xmlns:a16="http://schemas.microsoft.com/office/drawing/2014/main" id="{2A2F604C-DA27-459E-8419-ED777356D653}"/>
              </a:ext>
            </a:extLst>
          </p:cNvPr>
          <p:cNvSpPr/>
          <p:nvPr/>
        </p:nvSpPr>
        <p:spPr>
          <a:xfrm>
            <a:off x="1920410" y="240301"/>
            <a:ext cx="3247997" cy="615549"/>
          </a:xfrm>
          <a:prstGeom prst="rect">
            <a:avLst/>
          </a:prstGeom>
        </p:spPr>
        <p:txBody>
          <a:bodyPr wrap="none" lIns="91436" tIns="45718" rIns="91436" bIns="45718">
            <a:spAutoFit/>
          </a:bodyPr>
          <a:lstStyle/>
          <a:p>
            <a:pPr algn="ctr"/>
            <a:r>
              <a:rPr lang="zh-CN" altLang="en-US" sz="3400" b="1" dirty="0">
                <a:solidFill>
                  <a:schemeClr val="bg1"/>
                </a:solidFill>
                <a:latin typeface="宋体" panose="02010600030101010101" pitchFamily="2" charset="-122"/>
                <a:ea typeface="宋体" panose="02010600030101010101" pitchFamily="2" charset="-122"/>
              </a:rPr>
              <a:t>微波传感器组成</a:t>
            </a:r>
            <a:endParaRPr lang="en-US" altLang="zh-CN" sz="3400" b="1" dirty="0">
              <a:solidFill>
                <a:schemeClr val="bg1"/>
              </a:solidFill>
              <a:latin typeface="宋体" panose="02010600030101010101" pitchFamily="2" charset="-122"/>
              <a:ea typeface="宋体" panose="02010600030101010101" pitchFamily="2" charset="-122"/>
            </a:endParaRPr>
          </a:p>
        </p:txBody>
      </p:sp>
      <p:sp>
        <p:nvSpPr>
          <p:cNvPr id="2" name="Slide Number Placeholder 1">
            <a:extLst>
              <a:ext uri="{FF2B5EF4-FFF2-40B4-BE49-F238E27FC236}">
                <a16:creationId xmlns:a16="http://schemas.microsoft.com/office/drawing/2014/main" id="{897F508A-5BF4-4CCB-A132-F67D24A5CEBE}"/>
              </a:ext>
            </a:extLst>
          </p:cNvPr>
          <p:cNvSpPr>
            <a:spLocks noGrp="1"/>
          </p:cNvSpPr>
          <p:nvPr>
            <p:ph type="sldNum" sz="quarter" idx="12"/>
          </p:nvPr>
        </p:nvSpPr>
        <p:spPr/>
        <p:txBody>
          <a:bodyPr/>
          <a:lstStyle/>
          <a:p>
            <a:fld id="{B53602B4-F12B-41CD-B648-531F86B2CC91}" type="slidenum">
              <a:rPr lang="zh-CN" altLang="en-US" smtClean="0"/>
              <a:t>22</a:t>
            </a:fld>
            <a:endParaRPr lang="zh-CN" altLang="en-US"/>
          </a:p>
        </p:txBody>
      </p:sp>
    </p:spTree>
    <p:extLst>
      <p:ext uri="{BB962C8B-B14F-4D97-AF65-F5344CB8AC3E}">
        <p14:creationId xmlns:p14="http://schemas.microsoft.com/office/powerpoint/2010/main" val="3518291988"/>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49142242-5E57-4D15-A0DD-17CB598A023D}"/>
              </a:ext>
            </a:extLst>
          </p:cNvPr>
          <p:cNvSpPr txBox="1"/>
          <p:nvPr/>
        </p:nvSpPr>
        <p:spPr>
          <a:xfrm>
            <a:off x="391885" y="1232410"/>
            <a:ext cx="7669865" cy="1910840"/>
          </a:xfrm>
          <a:prstGeom prst="rect">
            <a:avLst/>
          </a:prstGeom>
          <a:noFill/>
        </p:spPr>
        <p:txBody>
          <a:bodyPr wrap="square" lIns="91436" tIns="45718" rIns="91436" bIns="45718" rtlCol="0">
            <a:spAutoFit/>
          </a:bodyPr>
          <a:lstStyle/>
          <a:p>
            <a:pPr indent="627063">
              <a:lnSpc>
                <a:spcPct val="120000"/>
              </a:lnSpc>
              <a:spcBef>
                <a:spcPts val="672"/>
              </a:spcBef>
            </a:pPr>
            <a:r>
              <a:rPr lang="zh-CN" altLang="en-US" sz="2400" b="1" dirty="0">
                <a:latin typeface="Arial" panose="020B0604020202020204" pitchFamily="34" charset="0"/>
                <a:ea typeface="宋体" panose="02010600030101010101" pitchFamily="2" charset="-122"/>
                <a:cs typeface="Arial" panose="020B0604020202020204" pitchFamily="34" charset="0"/>
              </a:rPr>
              <a:t>由微波振荡器产生的振荡信号通过天线发射出去。</a:t>
            </a:r>
            <a:endParaRPr lang="en-US" altLang="zh-CN" sz="2400" b="1" dirty="0">
              <a:latin typeface="Arial" panose="020B0604020202020204" pitchFamily="34" charset="0"/>
              <a:ea typeface="宋体" panose="02010600030101010101" pitchFamily="2" charset="-122"/>
              <a:cs typeface="Arial" panose="020B0604020202020204" pitchFamily="34" charset="0"/>
            </a:endParaRPr>
          </a:p>
          <a:p>
            <a:pPr indent="627063">
              <a:lnSpc>
                <a:spcPct val="120000"/>
              </a:lnSpc>
              <a:spcBef>
                <a:spcPts val="672"/>
              </a:spcBef>
            </a:pPr>
            <a:r>
              <a:rPr lang="zh-CN" altLang="en-US" sz="2400" b="1" dirty="0">
                <a:latin typeface="Arial" panose="020B0604020202020204" pitchFamily="34" charset="0"/>
                <a:ea typeface="宋体" panose="02010600030101010101" pitchFamily="2" charset="-122"/>
                <a:cs typeface="Arial" panose="020B0604020202020204" pitchFamily="34" charset="0"/>
              </a:rPr>
              <a:t>为了使发射的微波具有</a:t>
            </a:r>
            <a:r>
              <a:rPr lang="zh-CN" altLang="en-US" sz="2400" b="1" dirty="0">
                <a:solidFill>
                  <a:srgbClr val="C00000"/>
                </a:solidFill>
                <a:latin typeface="Arial" panose="020B0604020202020204" pitchFamily="34" charset="0"/>
                <a:ea typeface="宋体" panose="02010600030101010101" pitchFamily="2" charset="-122"/>
                <a:cs typeface="Arial" panose="020B0604020202020204" pitchFamily="34" charset="0"/>
              </a:rPr>
              <a:t>尖锐的方向性</a:t>
            </a:r>
            <a:r>
              <a:rPr lang="zh-CN" altLang="en-US" sz="2400" b="1" dirty="0">
                <a:latin typeface="Arial" panose="020B0604020202020204" pitchFamily="34" charset="0"/>
                <a:ea typeface="宋体" panose="02010600030101010101" pitchFamily="2" charset="-122"/>
                <a:cs typeface="Arial" panose="020B0604020202020204" pitchFamily="34" charset="0"/>
              </a:rPr>
              <a:t>，天线要具有特殊的结构。常用的微波天线有喇叭形、抛物面形、介质天线与隙缝天线等。</a:t>
            </a:r>
          </a:p>
        </p:txBody>
      </p:sp>
      <p:sp>
        <p:nvSpPr>
          <p:cNvPr id="39" name="矩形 38">
            <a:extLst>
              <a:ext uri="{FF2B5EF4-FFF2-40B4-BE49-F238E27FC236}">
                <a16:creationId xmlns:a16="http://schemas.microsoft.com/office/drawing/2014/main" id="{64509930-9DFB-420E-8F32-960E50399825}"/>
              </a:ext>
            </a:extLst>
          </p:cNvPr>
          <p:cNvSpPr/>
          <p:nvPr/>
        </p:nvSpPr>
        <p:spPr>
          <a:xfrm>
            <a:off x="1571711" y="258777"/>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59" name="圆角矩形 43">
            <a:extLst>
              <a:ext uri="{FF2B5EF4-FFF2-40B4-BE49-F238E27FC236}">
                <a16:creationId xmlns:a16="http://schemas.microsoft.com/office/drawing/2014/main" id="{7D086454-5B10-4064-9B8F-531209592F7E}"/>
              </a:ext>
            </a:extLst>
          </p:cNvPr>
          <p:cNvSpPr/>
          <p:nvPr/>
        </p:nvSpPr>
        <p:spPr>
          <a:xfrm rot="10800000" flipV="1">
            <a:off x="185084" y="242948"/>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20204" pitchFamily="34" charset="0"/>
                <a:ea typeface="宋体" panose="02010600030101010101" pitchFamily="2" charset="-122"/>
                <a:cs typeface="Arial" panose="020B0604020202020204" pitchFamily="34" charset="0"/>
              </a:rPr>
              <a:t>9.2.2</a:t>
            </a:r>
            <a:endParaRPr lang="zh-CN" altLang="en-US" sz="3200" b="1" dirty="0">
              <a:latin typeface="Arial" panose="020B0604020202020204" pitchFamily="34" charset="0"/>
              <a:ea typeface="宋体" panose="02010600030101010101" pitchFamily="2" charset="-122"/>
              <a:cs typeface="Arial" panose="020B0604020202020204" pitchFamily="34" charset="0"/>
            </a:endParaRPr>
          </a:p>
        </p:txBody>
      </p:sp>
      <p:sp>
        <p:nvSpPr>
          <p:cNvPr id="60" name="矩形 59">
            <a:extLst>
              <a:ext uri="{FF2B5EF4-FFF2-40B4-BE49-F238E27FC236}">
                <a16:creationId xmlns:a16="http://schemas.microsoft.com/office/drawing/2014/main" id="{2A2F604C-DA27-459E-8419-ED777356D653}"/>
              </a:ext>
            </a:extLst>
          </p:cNvPr>
          <p:cNvSpPr/>
          <p:nvPr/>
        </p:nvSpPr>
        <p:spPr>
          <a:xfrm>
            <a:off x="1920410" y="240301"/>
            <a:ext cx="3247997" cy="615549"/>
          </a:xfrm>
          <a:prstGeom prst="rect">
            <a:avLst/>
          </a:prstGeom>
        </p:spPr>
        <p:txBody>
          <a:bodyPr wrap="none" lIns="91436" tIns="45718" rIns="91436" bIns="45718">
            <a:spAutoFit/>
          </a:bodyPr>
          <a:lstStyle/>
          <a:p>
            <a:pPr algn="ctr"/>
            <a:r>
              <a:rPr lang="zh-CN" altLang="en-US" sz="3400" b="1" dirty="0">
                <a:solidFill>
                  <a:schemeClr val="bg1"/>
                </a:solidFill>
                <a:latin typeface="宋体" panose="02010600030101010101" pitchFamily="2" charset="-122"/>
                <a:ea typeface="宋体" panose="02010600030101010101" pitchFamily="2" charset="-122"/>
              </a:rPr>
              <a:t>微波传感器组成</a:t>
            </a:r>
            <a:endParaRPr lang="en-US" altLang="zh-CN" sz="3400" b="1" dirty="0">
              <a:solidFill>
                <a:schemeClr val="bg1"/>
              </a:solidFill>
              <a:latin typeface="宋体" panose="02010600030101010101" pitchFamily="2" charset="-122"/>
              <a:ea typeface="宋体" panose="02010600030101010101" pitchFamily="2" charset="-122"/>
            </a:endParaRPr>
          </a:p>
        </p:txBody>
      </p:sp>
      <p:sp>
        <p:nvSpPr>
          <p:cNvPr id="8" name="矩形 7"/>
          <p:cNvSpPr/>
          <p:nvPr/>
        </p:nvSpPr>
        <p:spPr>
          <a:xfrm>
            <a:off x="515256" y="4885868"/>
            <a:ext cx="7546494" cy="1479444"/>
          </a:xfrm>
          <a:prstGeom prst="rect">
            <a:avLst/>
          </a:prstGeom>
        </p:spPr>
        <p:txBody>
          <a:bodyPr wrap="square">
            <a:spAutoFit/>
          </a:bodyPr>
          <a:lstStyle/>
          <a:p>
            <a:pPr marL="342900" indent="-342900">
              <a:lnSpc>
                <a:spcPct val="130000"/>
              </a:lnSpc>
              <a:buFont typeface="Arial" panose="020B0604020202020204" pitchFamily="34" charset="0"/>
              <a:buChar char="•"/>
            </a:pPr>
            <a:r>
              <a:rPr lang="zh-CN" altLang="en-US" sz="2400" b="1" dirty="0">
                <a:latin typeface="Arial" panose="020B0604020202020204" pitchFamily="34" charset="0"/>
                <a:ea typeface="宋体" panose="02010600030101010101" pitchFamily="2" charset="-122"/>
                <a:cs typeface="Arial" panose="020B0604020202020204" pitchFamily="34" charset="0"/>
              </a:rPr>
              <a:t>喇叭形天线在波导管与空间之间起匹配作用，可以获得最大能量输</a:t>
            </a:r>
            <a:r>
              <a:rPr lang="zh-CN" altLang="en-US" sz="2400" b="1">
                <a:latin typeface="Arial" panose="020B0604020202020204" pitchFamily="34" charset="0"/>
                <a:ea typeface="宋体" panose="02010600030101010101" pitchFamily="2" charset="-122"/>
                <a:cs typeface="Arial" panose="020B0604020202020204" pitchFamily="34" charset="0"/>
              </a:rPr>
              <a:t>出。</a:t>
            </a:r>
            <a:endParaRPr lang="en-US" altLang="zh-CN" sz="2400" b="1">
              <a:latin typeface="Arial" panose="020B0604020202020204" pitchFamily="34" charset="0"/>
              <a:ea typeface="宋体" panose="02010600030101010101" pitchFamily="2" charset="-122"/>
              <a:cs typeface="Arial" panose="020B0604020202020204" pitchFamily="34" charset="0"/>
            </a:endParaRPr>
          </a:p>
          <a:p>
            <a:pPr marL="342900" indent="-342900">
              <a:lnSpc>
                <a:spcPct val="130000"/>
              </a:lnSpc>
              <a:buFont typeface="Arial" panose="020B0604020202020204" pitchFamily="34" charset="0"/>
              <a:buChar char="•"/>
            </a:pPr>
            <a:r>
              <a:rPr lang="zh-CN" altLang="en-US" sz="2400" b="1">
                <a:latin typeface="Arial" panose="020B0604020202020204" pitchFamily="34" charset="0"/>
                <a:ea typeface="宋体" panose="02010600030101010101" pitchFamily="2" charset="-122"/>
                <a:cs typeface="Arial" panose="020B0604020202020204" pitchFamily="34" charset="0"/>
              </a:rPr>
              <a:t>抛</a:t>
            </a:r>
            <a:r>
              <a:rPr lang="zh-CN" altLang="en-US" sz="2400" b="1" dirty="0">
                <a:latin typeface="Arial" panose="020B0604020202020204" pitchFamily="34" charset="0"/>
                <a:ea typeface="宋体" panose="02010600030101010101" pitchFamily="2" charset="-122"/>
                <a:cs typeface="Arial" panose="020B0604020202020204" pitchFamily="34" charset="0"/>
              </a:rPr>
              <a:t>物面天线使微波发射方向性得到改善。</a:t>
            </a:r>
          </a:p>
        </p:txBody>
      </p:sp>
      <p:sp>
        <p:nvSpPr>
          <p:cNvPr id="2" name="Slide Number Placeholder 1">
            <a:extLst>
              <a:ext uri="{FF2B5EF4-FFF2-40B4-BE49-F238E27FC236}">
                <a16:creationId xmlns:a16="http://schemas.microsoft.com/office/drawing/2014/main" id="{8E28CFDA-05CD-4C3F-9F4C-EA8CDAAA659B}"/>
              </a:ext>
            </a:extLst>
          </p:cNvPr>
          <p:cNvSpPr>
            <a:spLocks noGrp="1"/>
          </p:cNvSpPr>
          <p:nvPr>
            <p:ph type="sldNum" sz="quarter" idx="12"/>
          </p:nvPr>
        </p:nvSpPr>
        <p:spPr/>
        <p:txBody>
          <a:bodyPr/>
          <a:lstStyle/>
          <a:p>
            <a:fld id="{B53602B4-F12B-41CD-B648-531F86B2CC91}" type="slidenum">
              <a:rPr lang="zh-CN" altLang="en-US" smtClean="0"/>
              <a:t>23</a:t>
            </a:fld>
            <a:endParaRPr lang="zh-CN" altLang="en-US"/>
          </a:p>
        </p:txBody>
      </p:sp>
      <p:pic>
        <p:nvPicPr>
          <p:cNvPr id="20" name="图片 2">
            <a:extLst>
              <a:ext uri="{FF2B5EF4-FFF2-40B4-BE49-F238E27FC236}">
                <a16:creationId xmlns:a16="http://schemas.microsoft.com/office/drawing/2014/main" id="{BA540F7D-B2CD-4C4E-9B3A-AB4CDE4D80FE}"/>
              </a:ext>
            </a:extLst>
          </p:cNvPr>
          <p:cNvPicPr>
            <a:picLocks noChangeAspect="1"/>
          </p:cNvPicPr>
          <p:nvPr/>
        </p:nvPicPr>
        <p:blipFill>
          <a:blip r:embed="rId3"/>
          <a:stretch>
            <a:fillRect/>
          </a:stretch>
        </p:blipFill>
        <p:spPr>
          <a:xfrm rot="120000">
            <a:off x="1497770" y="3240150"/>
            <a:ext cx="5581467" cy="1627668"/>
          </a:xfrm>
          <a:prstGeom prst="rect">
            <a:avLst/>
          </a:prstGeom>
        </p:spPr>
      </p:pic>
    </p:spTree>
    <p:extLst>
      <p:ext uri="{BB962C8B-B14F-4D97-AF65-F5344CB8AC3E}">
        <p14:creationId xmlns:p14="http://schemas.microsoft.com/office/powerpoint/2010/main" val="2883545349"/>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49142242-5E57-4D15-A0DD-17CB598A023D}"/>
              </a:ext>
            </a:extLst>
          </p:cNvPr>
          <p:cNvSpPr txBox="1"/>
          <p:nvPr/>
        </p:nvSpPr>
        <p:spPr>
          <a:xfrm>
            <a:off x="565150" y="1852548"/>
            <a:ext cx="8229600" cy="2790568"/>
          </a:xfrm>
          <a:prstGeom prst="rect">
            <a:avLst/>
          </a:prstGeom>
          <a:noFill/>
        </p:spPr>
        <p:txBody>
          <a:bodyPr wrap="square" lIns="91436" tIns="45718" rIns="91436" bIns="45718" rtlCol="0">
            <a:spAutoFit/>
          </a:bodyPr>
          <a:lstStyle/>
          <a:p>
            <a:pPr indent="627063">
              <a:lnSpc>
                <a:spcPct val="150000"/>
              </a:lnSpc>
            </a:pPr>
            <a:r>
              <a:rPr lang="zh-CN" altLang="en-US" sz="2400" b="1" dirty="0">
                <a:latin typeface="Arial" panose="020B0604020202020204" pitchFamily="34" charset="0"/>
                <a:ea typeface="宋体" panose="02010600030101010101" pitchFamily="2" charset="-122"/>
                <a:cs typeface="Arial" panose="020B0604020202020204" pitchFamily="34" charset="0"/>
              </a:rPr>
              <a:t>电磁波作为空间的微小电场变动而传播，所以使用电流</a:t>
            </a:r>
            <a:r>
              <a:rPr lang="en-US" altLang="zh-CN" sz="2400" b="1" dirty="0">
                <a:latin typeface="Arial" panose="020B0604020202020204" pitchFamily="34" charset="0"/>
                <a:ea typeface="宋体" panose="02010600030101010101" pitchFamily="2" charset="-122"/>
                <a:cs typeface="Arial" panose="020B0604020202020204" pitchFamily="34" charset="0"/>
              </a:rPr>
              <a:t>-</a:t>
            </a:r>
            <a:r>
              <a:rPr lang="zh-CN" altLang="en-US" sz="2400" b="1" dirty="0">
                <a:latin typeface="Arial" panose="020B0604020202020204" pitchFamily="34" charset="0"/>
                <a:ea typeface="宋体" panose="02010600030101010101" pitchFamily="2" charset="-122"/>
                <a:cs typeface="Arial" panose="020B0604020202020204" pitchFamily="34" charset="0"/>
              </a:rPr>
              <a:t>电压特性呈现非线性的电子元件作为探测它的敏感探头。</a:t>
            </a:r>
            <a:endParaRPr lang="en-US" altLang="zh-CN" sz="2400" b="1" dirty="0">
              <a:latin typeface="Arial" panose="020B0604020202020204" pitchFamily="34" charset="0"/>
              <a:ea typeface="宋体" panose="02010600030101010101" pitchFamily="2" charset="-122"/>
              <a:cs typeface="Arial" panose="020B0604020202020204" pitchFamily="34" charset="0"/>
            </a:endParaRPr>
          </a:p>
          <a:p>
            <a:pPr indent="627063">
              <a:lnSpc>
                <a:spcPct val="150000"/>
              </a:lnSpc>
            </a:pPr>
            <a:r>
              <a:rPr lang="zh-CN" altLang="en-US" sz="2400" b="1" dirty="0">
                <a:latin typeface="Arial" panose="020B0604020202020204" pitchFamily="34" charset="0"/>
                <a:ea typeface="宋体" panose="02010600030101010101" pitchFamily="2" charset="-122"/>
                <a:cs typeface="Arial" panose="020B0604020202020204" pitchFamily="34" charset="0"/>
              </a:rPr>
              <a:t>与其他传感器相比，敏感探头在其工作频率范围内必须有</a:t>
            </a:r>
            <a:r>
              <a:rPr lang="zh-CN" altLang="en-US" sz="2400" b="1" dirty="0">
                <a:solidFill>
                  <a:srgbClr val="FF0000"/>
                </a:solidFill>
                <a:latin typeface="Arial" panose="020B0604020202020204" pitchFamily="34" charset="0"/>
                <a:ea typeface="宋体" panose="02010600030101010101" pitchFamily="2" charset="-122"/>
                <a:cs typeface="Arial" panose="020B0604020202020204" pitchFamily="34" charset="0"/>
              </a:rPr>
              <a:t>足够快的响应速度</a:t>
            </a:r>
            <a:r>
              <a:rPr lang="zh-CN" altLang="en-US" sz="2400" b="1" dirty="0">
                <a:latin typeface="Arial" panose="020B0604020202020204" pitchFamily="34" charset="0"/>
                <a:ea typeface="宋体" panose="02010600030101010101" pitchFamily="2" charset="-122"/>
                <a:cs typeface="Arial" panose="020B0604020202020204" pitchFamily="34" charset="0"/>
              </a:rPr>
              <a:t>。作为非线性的电子元件可用种类较多</a:t>
            </a:r>
            <a:r>
              <a:rPr lang="en-US" altLang="zh-CN" sz="2400" b="1" dirty="0">
                <a:latin typeface="Arial" panose="020B0604020202020204" pitchFamily="34" charset="0"/>
                <a:ea typeface="宋体" panose="02010600030101010101" pitchFamily="2" charset="-122"/>
                <a:cs typeface="Arial" panose="020B0604020202020204" pitchFamily="34" charset="0"/>
              </a:rPr>
              <a:t>(</a:t>
            </a:r>
            <a:r>
              <a:rPr lang="zh-CN" altLang="en-US" sz="2400" b="1" dirty="0">
                <a:solidFill>
                  <a:srgbClr val="0070C0"/>
                </a:solidFill>
                <a:latin typeface="Arial" panose="020B0604020202020204" pitchFamily="34" charset="0"/>
                <a:ea typeface="宋体" panose="02010600030101010101" pitchFamily="2" charset="-122"/>
                <a:cs typeface="Arial" panose="020B0604020202020204" pitchFamily="34" charset="0"/>
              </a:rPr>
              <a:t>半导体</a:t>
            </a:r>
            <a:r>
              <a:rPr lang="en-US" altLang="zh-CN" sz="2400" b="1" dirty="0">
                <a:solidFill>
                  <a:srgbClr val="0070C0"/>
                </a:solidFill>
                <a:latin typeface="宋体" pitchFamily="2" charset="-122"/>
                <a:ea typeface="宋体" pitchFamily="2" charset="-122"/>
                <a:cs typeface="Arial" panose="020B0604020202020204" pitchFamily="34" charset="0"/>
              </a:rPr>
              <a:t>PN</a:t>
            </a:r>
            <a:r>
              <a:rPr lang="zh-CN" altLang="en-US" sz="2400" b="1" dirty="0">
                <a:solidFill>
                  <a:srgbClr val="0070C0"/>
                </a:solidFill>
                <a:latin typeface="Arial" panose="020B0604020202020204" pitchFamily="34" charset="0"/>
                <a:ea typeface="宋体" panose="02010600030101010101" pitchFamily="2" charset="-122"/>
                <a:cs typeface="Arial" panose="020B0604020202020204" pitchFamily="34" charset="0"/>
              </a:rPr>
              <a:t>结元件、隧道结元件</a:t>
            </a:r>
            <a:r>
              <a:rPr lang="zh-CN" altLang="en-US" sz="2400" b="1" dirty="0">
                <a:latin typeface="Arial" panose="020B0604020202020204" pitchFamily="34" charset="0"/>
                <a:ea typeface="宋体" panose="02010600030101010101" pitchFamily="2" charset="-122"/>
                <a:cs typeface="Arial" panose="020B0604020202020204" pitchFamily="34" charset="0"/>
              </a:rPr>
              <a:t>等</a:t>
            </a:r>
            <a:r>
              <a:rPr lang="en-US" altLang="zh-CN" sz="2400" b="1" dirty="0">
                <a:latin typeface="Arial" panose="020B0604020202020204" pitchFamily="34" charset="0"/>
                <a:ea typeface="宋体" panose="02010600030101010101" pitchFamily="2" charset="-122"/>
                <a:cs typeface="Arial" panose="020B0604020202020204" pitchFamily="34" charset="0"/>
              </a:rPr>
              <a:t>)</a:t>
            </a:r>
            <a:r>
              <a:rPr lang="zh-CN" altLang="en-US" sz="2400" b="1" dirty="0">
                <a:latin typeface="Arial" panose="020B0604020202020204" pitchFamily="34" charset="0"/>
                <a:ea typeface="宋体" panose="02010600030101010101" pitchFamily="2" charset="-122"/>
                <a:cs typeface="Arial" panose="020B0604020202020204" pitchFamily="34" charset="0"/>
              </a:rPr>
              <a:t> 。</a:t>
            </a:r>
            <a:endParaRPr lang="zh-CN" altLang="en-US" sz="2000" b="1" dirty="0">
              <a:latin typeface="Arial" panose="020B0604020202020204" pitchFamily="34" charset="0"/>
              <a:ea typeface="宋体" panose="02010600030101010101" pitchFamily="2" charset="-122"/>
              <a:cs typeface="Arial" panose="020B0604020202020204" pitchFamily="34" charset="0"/>
            </a:endParaRPr>
          </a:p>
        </p:txBody>
      </p:sp>
      <p:sp>
        <p:nvSpPr>
          <p:cNvPr id="39" name="矩形 38">
            <a:extLst>
              <a:ext uri="{FF2B5EF4-FFF2-40B4-BE49-F238E27FC236}">
                <a16:creationId xmlns:a16="http://schemas.microsoft.com/office/drawing/2014/main" id="{64509930-9DFB-420E-8F32-960E50399825}"/>
              </a:ext>
            </a:extLst>
          </p:cNvPr>
          <p:cNvSpPr/>
          <p:nvPr/>
        </p:nvSpPr>
        <p:spPr>
          <a:xfrm>
            <a:off x="1571711" y="258777"/>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59" name="圆角矩形 43">
            <a:extLst>
              <a:ext uri="{FF2B5EF4-FFF2-40B4-BE49-F238E27FC236}">
                <a16:creationId xmlns:a16="http://schemas.microsoft.com/office/drawing/2014/main" id="{7D086454-5B10-4064-9B8F-531209592F7E}"/>
              </a:ext>
            </a:extLst>
          </p:cNvPr>
          <p:cNvSpPr/>
          <p:nvPr/>
        </p:nvSpPr>
        <p:spPr>
          <a:xfrm rot="10800000" flipV="1">
            <a:off x="185084" y="242948"/>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20204" pitchFamily="34" charset="0"/>
                <a:ea typeface="宋体" panose="02010600030101010101" pitchFamily="2" charset="-122"/>
                <a:cs typeface="Arial" panose="020B0604020202020204" pitchFamily="34" charset="0"/>
              </a:rPr>
              <a:t>9.2.2</a:t>
            </a:r>
            <a:endParaRPr lang="zh-CN" altLang="en-US" sz="3200" b="1" dirty="0">
              <a:latin typeface="Arial" panose="020B0604020202020204" pitchFamily="34" charset="0"/>
              <a:ea typeface="宋体" panose="02010600030101010101" pitchFamily="2" charset="-122"/>
              <a:cs typeface="Arial" panose="020B0604020202020204" pitchFamily="34" charset="0"/>
            </a:endParaRPr>
          </a:p>
        </p:txBody>
      </p:sp>
      <p:sp>
        <p:nvSpPr>
          <p:cNvPr id="60" name="矩形 59">
            <a:extLst>
              <a:ext uri="{FF2B5EF4-FFF2-40B4-BE49-F238E27FC236}">
                <a16:creationId xmlns:a16="http://schemas.microsoft.com/office/drawing/2014/main" id="{2A2F604C-DA27-459E-8419-ED777356D653}"/>
              </a:ext>
            </a:extLst>
          </p:cNvPr>
          <p:cNvSpPr/>
          <p:nvPr/>
        </p:nvSpPr>
        <p:spPr>
          <a:xfrm>
            <a:off x="1920410" y="240301"/>
            <a:ext cx="3247997" cy="615549"/>
          </a:xfrm>
          <a:prstGeom prst="rect">
            <a:avLst/>
          </a:prstGeom>
        </p:spPr>
        <p:txBody>
          <a:bodyPr wrap="none" lIns="91436" tIns="45718" rIns="91436" bIns="45718">
            <a:spAutoFit/>
          </a:bodyPr>
          <a:lstStyle/>
          <a:p>
            <a:pPr algn="ctr"/>
            <a:r>
              <a:rPr lang="zh-CN" altLang="en-US" sz="3400" b="1" dirty="0">
                <a:solidFill>
                  <a:schemeClr val="bg1"/>
                </a:solidFill>
                <a:latin typeface="宋体" panose="02010600030101010101" pitchFamily="2" charset="-122"/>
                <a:ea typeface="宋体" panose="02010600030101010101" pitchFamily="2" charset="-122"/>
              </a:rPr>
              <a:t>微波传感器组成</a:t>
            </a:r>
            <a:endParaRPr lang="en-US" altLang="zh-CN" sz="3400" b="1" dirty="0">
              <a:solidFill>
                <a:schemeClr val="bg1"/>
              </a:solidFill>
              <a:latin typeface="宋体" panose="02010600030101010101" pitchFamily="2" charset="-122"/>
              <a:ea typeface="宋体" panose="02010600030101010101" pitchFamily="2" charset="-122"/>
            </a:endParaRPr>
          </a:p>
        </p:txBody>
      </p:sp>
      <p:sp>
        <p:nvSpPr>
          <p:cNvPr id="2" name="Slide Number Placeholder 1">
            <a:extLst>
              <a:ext uri="{FF2B5EF4-FFF2-40B4-BE49-F238E27FC236}">
                <a16:creationId xmlns:a16="http://schemas.microsoft.com/office/drawing/2014/main" id="{8EF4E1D0-0F14-4326-A037-434E710B0AFF}"/>
              </a:ext>
            </a:extLst>
          </p:cNvPr>
          <p:cNvSpPr>
            <a:spLocks noGrp="1"/>
          </p:cNvSpPr>
          <p:nvPr>
            <p:ph type="sldNum" sz="quarter" idx="12"/>
          </p:nvPr>
        </p:nvSpPr>
        <p:spPr/>
        <p:txBody>
          <a:bodyPr/>
          <a:lstStyle/>
          <a:p>
            <a:fld id="{B53602B4-F12B-41CD-B648-531F86B2CC91}" type="slidenum">
              <a:rPr lang="zh-CN" altLang="en-US" smtClean="0"/>
              <a:t>24</a:t>
            </a:fld>
            <a:endParaRPr lang="zh-CN" altLang="en-US"/>
          </a:p>
        </p:txBody>
      </p:sp>
    </p:spTree>
    <p:extLst>
      <p:ext uri="{BB962C8B-B14F-4D97-AF65-F5344CB8AC3E}">
        <p14:creationId xmlns:p14="http://schemas.microsoft.com/office/powerpoint/2010/main" val="3454868007"/>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49142242-5E57-4D15-A0DD-17CB598A023D}"/>
              </a:ext>
            </a:extLst>
          </p:cNvPr>
          <p:cNvSpPr txBox="1"/>
          <p:nvPr/>
        </p:nvSpPr>
        <p:spPr>
          <a:xfrm>
            <a:off x="744722" y="1850068"/>
            <a:ext cx="7769790" cy="4114584"/>
          </a:xfrm>
          <a:prstGeom prst="rect">
            <a:avLst/>
          </a:prstGeom>
          <a:noFill/>
        </p:spPr>
        <p:txBody>
          <a:bodyPr wrap="square" lIns="91436" tIns="45718" rIns="91436" bIns="45718" rtlCol="0">
            <a:spAutoFit/>
          </a:bodyPr>
          <a:lstStyle/>
          <a:p>
            <a:pPr>
              <a:lnSpc>
                <a:spcPct val="150000"/>
              </a:lnSpc>
              <a:spcBef>
                <a:spcPts val="624"/>
              </a:spcBef>
            </a:pPr>
            <a:r>
              <a:rPr lang="en-US" altLang="zh-CN" sz="2400" b="1" dirty="0">
                <a:latin typeface="宋体" pitchFamily="2" charset="-122"/>
                <a:ea typeface="宋体" pitchFamily="2" charset="-122"/>
                <a:cs typeface="Times New Roman" panose="02020603050405020304" pitchFamily="18" charset="0"/>
              </a:rPr>
              <a:t>(1)</a:t>
            </a:r>
            <a:r>
              <a:rPr lang="zh-CN" altLang="en-US" sz="2400" b="1" dirty="0">
                <a:latin typeface="宋体" pitchFamily="2" charset="-122"/>
                <a:ea typeface="宋体" pitchFamily="2" charset="-122"/>
                <a:cs typeface="Times New Roman" panose="02020603050405020304" pitchFamily="18" charset="0"/>
              </a:rPr>
              <a:t>微波传感器是</a:t>
            </a:r>
            <a:r>
              <a:rPr lang="zh-CN" altLang="en-US" sz="2400" b="1" dirty="0">
                <a:solidFill>
                  <a:srgbClr val="FF0000"/>
                </a:solidFill>
                <a:latin typeface="宋体" pitchFamily="2" charset="-122"/>
                <a:ea typeface="宋体" pitchFamily="2" charset="-122"/>
                <a:cs typeface="Times New Roman" panose="02020603050405020304" pitchFamily="18" charset="0"/>
              </a:rPr>
              <a:t>非接触式</a:t>
            </a:r>
            <a:r>
              <a:rPr lang="zh-CN" altLang="en-US" sz="2400" b="1" dirty="0">
                <a:latin typeface="宋体" pitchFamily="2" charset="-122"/>
                <a:ea typeface="宋体" pitchFamily="2" charset="-122"/>
                <a:cs typeface="Times New Roman" panose="02020603050405020304" pitchFamily="18" charset="0"/>
              </a:rPr>
              <a:t>传感器</a:t>
            </a:r>
          </a:p>
          <a:p>
            <a:pPr>
              <a:lnSpc>
                <a:spcPct val="150000"/>
              </a:lnSpc>
              <a:spcBef>
                <a:spcPts val="624"/>
              </a:spcBef>
            </a:pPr>
            <a:r>
              <a:rPr lang="en-US" altLang="zh-CN" sz="2400" b="1" dirty="0">
                <a:latin typeface="宋体" pitchFamily="2" charset="-122"/>
                <a:ea typeface="宋体" pitchFamily="2" charset="-122"/>
                <a:cs typeface="Times New Roman" panose="02020603050405020304" pitchFamily="18" charset="0"/>
              </a:rPr>
              <a:t>(2) </a:t>
            </a:r>
            <a:r>
              <a:rPr lang="zh-CN" altLang="en-US" sz="2400" b="1" dirty="0">
                <a:latin typeface="宋体" pitchFamily="2" charset="-122"/>
                <a:ea typeface="宋体" pitchFamily="2" charset="-122"/>
                <a:cs typeface="Times New Roman" panose="02020603050405020304" pitchFamily="18" charset="0"/>
              </a:rPr>
              <a:t>波长在</a:t>
            </a:r>
            <a:r>
              <a:rPr lang="en-US" altLang="zh-CN" sz="2400" b="1" dirty="0">
                <a:latin typeface="宋体" pitchFamily="2" charset="-122"/>
                <a:ea typeface="宋体" pitchFamily="2" charset="-122"/>
                <a:cs typeface="Times New Roman" panose="02020603050405020304" pitchFamily="18" charset="0"/>
              </a:rPr>
              <a:t>1mm</a:t>
            </a:r>
            <a:r>
              <a:rPr lang="en-US" altLang="zh-CN" sz="2400" b="1" dirty="0">
                <a:latin typeface="Times New Roman" pitchFamily="18" charset="0"/>
                <a:ea typeface="宋体" pitchFamily="2" charset="-122"/>
                <a:cs typeface="Times New Roman" pitchFamily="18" charset="0"/>
              </a:rPr>
              <a:t>~</a:t>
            </a:r>
            <a:r>
              <a:rPr lang="en-US" altLang="zh-CN" sz="2400" b="1" dirty="0">
                <a:latin typeface="宋体" pitchFamily="2" charset="-122"/>
                <a:ea typeface="宋体" pitchFamily="2" charset="-122"/>
                <a:cs typeface="Times New Roman" panose="02020603050405020304" pitchFamily="18" charset="0"/>
              </a:rPr>
              <a:t>1m</a:t>
            </a:r>
            <a:r>
              <a:rPr lang="zh-CN" altLang="en-US" sz="2400" b="1" dirty="0">
                <a:latin typeface="宋体" pitchFamily="2" charset="-122"/>
                <a:ea typeface="宋体" pitchFamily="2" charset="-122"/>
                <a:cs typeface="Times New Roman" panose="02020603050405020304" pitchFamily="18" charset="0"/>
              </a:rPr>
              <a:t>，对应频率范围为</a:t>
            </a:r>
            <a:r>
              <a:rPr lang="en-US" altLang="zh-CN" sz="2400" b="1" dirty="0">
                <a:latin typeface="宋体" pitchFamily="2" charset="-122"/>
                <a:ea typeface="宋体" pitchFamily="2" charset="-122"/>
                <a:cs typeface="Times New Roman" panose="02020603050405020304" pitchFamily="18" charset="0"/>
              </a:rPr>
              <a:t>300MHz-300GHz</a:t>
            </a:r>
            <a:r>
              <a:rPr lang="zh-CN" altLang="en-US" sz="2400" b="1" dirty="0">
                <a:latin typeface="宋体" pitchFamily="2" charset="-122"/>
                <a:ea typeface="宋体" pitchFamily="2" charset="-122"/>
                <a:cs typeface="Times New Roman" panose="02020603050405020304" pitchFamily="18" charset="0"/>
              </a:rPr>
              <a:t>，有</a:t>
            </a:r>
            <a:r>
              <a:rPr lang="zh-CN" altLang="en-US" sz="2400" b="1" dirty="0">
                <a:solidFill>
                  <a:srgbClr val="C00000"/>
                </a:solidFill>
                <a:latin typeface="宋体" pitchFamily="2" charset="-122"/>
                <a:ea typeface="宋体" pitchFamily="2" charset="-122"/>
                <a:cs typeface="Times New Roman" panose="02020603050405020304" pitchFamily="18" charset="0"/>
              </a:rPr>
              <a:t>极宽的频谱</a:t>
            </a:r>
            <a:r>
              <a:rPr lang="zh-CN" altLang="en-US" sz="2400" b="1" dirty="0">
                <a:latin typeface="宋体" pitchFamily="2" charset="-122"/>
                <a:ea typeface="宋体" pitchFamily="2" charset="-122"/>
                <a:cs typeface="Times New Roman" panose="02020603050405020304" pitchFamily="18" charset="0"/>
              </a:rPr>
              <a:t>。</a:t>
            </a:r>
          </a:p>
          <a:p>
            <a:pPr>
              <a:lnSpc>
                <a:spcPct val="150000"/>
              </a:lnSpc>
              <a:spcBef>
                <a:spcPts val="624"/>
              </a:spcBef>
            </a:pPr>
            <a:r>
              <a:rPr lang="en-US" altLang="zh-CN" sz="2400" b="1" dirty="0">
                <a:latin typeface="宋体" pitchFamily="2" charset="-122"/>
                <a:ea typeface="宋体" pitchFamily="2" charset="-122"/>
                <a:cs typeface="Times New Roman" panose="02020603050405020304" pitchFamily="18" charset="0"/>
              </a:rPr>
              <a:t>(3) </a:t>
            </a:r>
            <a:r>
              <a:rPr lang="zh-CN" altLang="en-US" sz="2400" b="1" dirty="0">
                <a:latin typeface="宋体" pitchFamily="2" charset="-122"/>
                <a:ea typeface="宋体" pitchFamily="2" charset="-122"/>
                <a:cs typeface="Times New Roman" panose="02020603050405020304" pitchFamily="18" charset="0"/>
              </a:rPr>
              <a:t>可在</a:t>
            </a:r>
            <a:r>
              <a:rPr lang="zh-CN" altLang="en-US" sz="2400" b="1" dirty="0">
                <a:solidFill>
                  <a:srgbClr val="7030A0"/>
                </a:solidFill>
                <a:latin typeface="宋体" pitchFamily="2" charset="-122"/>
                <a:ea typeface="宋体" pitchFamily="2" charset="-122"/>
                <a:cs typeface="Times New Roman" panose="02020603050405020304" pitchFamily="18" charset="0"/>
              </a:rPr>
              <a:t>恶劣环境</a:t>
            </a:r>
            <a:r>
              <a:rPr lang="zh-CN" altLang="en-US" sz="2400" b="1" dirty="0">
                <a:latin typeface="宋体" pitchFamily="2" charset="-122"/>
                <a:ea typeface="宋体" pitchFamily="2" charset="-122"/>
                <a:cs typeface="Times New Roman" panose="02020603050405020304" pitchFamily="18" charset="0"/>
              </a:rPr>
              <a:t>如高温、高压、有毒、有放射线条件下工作，不受烟雾、灰尘、温度等影响。</a:t>
            </a:r>
          </a:p>
          <a:p>
            <a:pPr>
              <a:lnSpc>
                <a:spcPct val="150000"/>
              </a:lnSpc>
              <a:spcBef>
                <a:spcPts val="624"/>
              </a:spcBef>
            </a:pPr>
            <a:r>
              <a:rPr lang="en-US" altLang="zh-CN" sz="2400" b="1" dirty="0">
                <a:latin typeface="宋体" pitchFamily="2" charset="-122"/>
                <a:ea typeface="宋体" pitchFamily="2" charset="-122"/>
                <a:cs typeface="Times New Roman" panose="02020603050405020304" pitchFamily="18" charset="0"/>
              </a:rPr>
              <a:t>(4)</a:t>
            </a:r>
            <a:r>
              <a:rPr lang="zh-CN" altLang="en-US" sz="2400" b="1" dirty="0">
                <a:latin typeface="宋体" pitchFamily="2" charset="-122"/>
                <a:ea typeface="宋体" pitchFamily="2" charset="-122"/>
                <a:cs typeface="Times New Roman" panose="02020603050405020304" pitchFamily="18" charset="0"/>
              </a:rPr>
              <a:t>频率高，时间常数小，反应速度快，可用于</a:t>
            </a:r>
            <a:r>
              <a:rPr lang="zh-CN" altLang="en-US" sz="2400" b="1" dirty="0">
                <a:solidFill>
                  <a:srgbClr val="0070C0"/>
                </a:solidFill>
                <a:latin typeface="宋体" pitchFamily="2" charset="-122"/>
                <a:ea typeface="宋体" pitchFamily="2" charset="-122"/>
                <a:cs typeface="Times New Roman" panose="02020603050405020304" pitchFamily="18" charset="0"/>
              </a:rPr>
              <a:t>动态检测</a:t>
            </a:r>
            <a:r>
              <a:rPr lang="zh-CN" altLang="en-US" sz="2400" b="1" dirty="0">
                <a:latin typeface="宋体" pitchFamily="2" charset="-122"/>
                <a:ea typeface="宋体" pitchFamily="2" charset="-122"/>
                <a:cs typeface="Times New Roman" panose="02020603050405020304" pitchFamily="18" charset="0"/>
              </a:rPr>
              <a:t>与实时处理。</a:t>
            </a:r>
            <a:endParaRPr lang="en-US" altLang="zh-CN" sz="2400" b="1" dirty="0">
              <a:latin typeface="宋体" pitchFamily="2" charset="-122"/>
              <a:ea typeface="宋体" pitchFamily="2" charset="-122"/>
              <a:cs typeface="Times New Roman" panose="02020603050405020304" pitchFamily="18" charset="0"/>
            </a:endParaRPr>
          </a:p>
        </p:txBody>
      </p:sp>
      <p:sp>
        <p:nvSpPr>
          <p:cNvPr id="37" name="矩形 36">
            <a:extLst>
              <a:ext uri="{FF2B5EF4-FFF2-40B4-BE49-F238E27FC236}">
                <a16:creationId xmlns:a16="http://schemas.microsoft.com/office/drawing/2014/main" id="{64509930-9DFB-420E-8F32-960E50399825}"/>
              </a:ext>
            </a:extLst>
          </p:cNvPr>
          <p:cNvSpPr/>
          <p:nvPr/>
        </p:nvSpPr>
        <p:spPr>
          <a:xfrm>
            <a:off x="1571711" y="258777"/>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57" name="圆角矩形 43">
            <a:extLst>
              <a:ext uri="{FF2B5EF4-FFF2-40B4-BE49-F238E27FC236}">
                <a16:creationId xmlns:a16="http://schemas.microsoft.com/office/drawing/2014/main" id="{7D086454-5B10-4064-9B8F-531209592F7E}"/>
              </a:ext>
            </a:extLst>
          </p:cNvPr>
          <p:cNvSpPr/>
          <p:nvPr/>
        </p:nvSpPr>
        <p:spPr>
          <a:xfrm rot="10800000" flipV="1">
            <a:off x="185084" y="242948"/>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20204" pitchFamily="34" charset="0"/>
                <a:ea typeface="宋体" panose="02010600030101010101" pitchFamily="2" charset="-122"/>
                <a:cs typeface="Arial" panose="020B0604020202020204" pitchFamily="34" charset="0"/>
              </a:rPr>
              <a:t>9.2.3</a:t>
            </a:r>
            <a:endParaRPr lang="zh-CN" altLang="en-US" sz="3200" b="1" dirty="0">
              <a:latin typeface="Arial" panose="020B0604020202020204" pitchFamily="34" charset="0"/>
              <a:ea typeface="宋体" panose="02010600030101010101" pitchFamily="2" charset="-122"/>
              <a:cs typeface="Arial" panose="020B0604020202020204" pitchFamily="34" charset="0"/>
            </a:endParaRPr>
          </a:p>
        </p:txBody>
      </p:sp>
      <p:sp>
        <p:nvSpPr>
          <p:cNvPr id="58" name="矩形 57">
            <a:extLst>
              <a:ext uri="{FF2B5EF4-FFF2-40B4-BE49-F238E27FC236}">
                <a16:creationId xmlns:a16="http://schemas.microsoft.com/office/drawing/2014/main" id="{2A2F604C-DA27-459E-8419-ED777356D653}"/>
              </a:ext>
            </a:extLst>
          </p:cNvPr>
          <p:cNvSpPr/>
          <p:nvPr/>
        </p:nvSpPr>
        <p:spPr>
          <a:xfrm>
            <a:off x="1920410" y="240301"/>
            <a:ext cx="3247997" cy="615549"/>
          </a:xfrm>
          <a:prstGeom prst="rect">
            <a:avLst/>
          </a:prstGeom>
        </p:spPr>
        <p:txBody>
          <a:bodyPr wrap="none" lIns="91436" tIns="45718" rIns="91436" bIns="45718">
            <a:spAutoFit/>
          </a:bodyPr>
          <a:lstStyle/>
          <a:p>
            <a:pPr algn="ctr"/>
            <a:r>
              <a:rPr lang="zh-CN" altLang="en-US" sz="3400" b="1" dirty="0">
                <a:solidFill>
                  <a:schemeClr val="bg1"/>
                </a:solidFill>
                <a:latin typeface="宋体" panose="02010600030101010101" pitchFamily="2" charset="-122"/>
                <a:ea typeface="宋体" panose="02010600030101010101" pitchFamily="2" charset="-122"/>
              </a:rPr>
              <a:t>微波传感器特点</a:t>
            </a:r>
            <a:endParaRPr lang="en-US" altLang="zh-CN" sz="3400" b="1" dirty="0">
              <a:solidFill>
                <a:schemeClr val="bg1"/>
              </a:solidFill>
              <a:latin typeface="宋体" panose="02010600030101010101" pitchFamily="2" charset="-122"/>
              <a:ea typeface="宋体" panose="02010600030101010101" pitchFamily="2" charset="-122"/>
            </a:endParaRPr>
          </a:p>
        </p:txBody>
      </p:sp>
      <p:sp>
        <p:nvSpPr>
          <p:cNvPr id="6" name="矩形 5"/>
          <p:cNvSpPr/>
          <p:nvPr/>
        </p:nvSpPr>
        <p:spPr>
          <a:xfrm>
            <a:off x="526682" y="1227536"/>
            <a:ext cx="1112805" cy="461665"/>
          </a:xfrm>
          <a:prstGeom prst="rect">
            <a:avLst/>
          </a:prstGeom>
        </p:spPr>
        <p:style>
          <a:lnRef idx="1">
            <a:schemeClr val="accent2"/>
          </a:lnRef>
          <a:fillRef idx="3">
            <a:schemeClr val="accent2"/>
          </a:fillRef>
          <a:effectRef idx="2">
            <a:schemeClr val="accent2"/>
          </a:effectRef>
          <a:fontRef idx="minor">
            <a:schemeClr val="lt1"/>
          </a:fontRef>
        </p:style>
        <p:txBody>
          <a:bodyPr wrap="none">
            <a:spAutoFit/>
          </a:bodyPr>
          <a:lstStyle/>
          <a:p>
            <a:pPr>
              <a:spcBef>
                <a:spcPts val="624"/>
              </a:spcBef>
            </a:pPr>
            <a:r>
              <a:rPr lang="zh-CN" altLang="en-US" sz="2400" b="1" dirty="0">
                <a:latin typeface="Arial" panose="020B0604020202020204" pitchFamily="34" charset="0"/>
                <a:ea typeface="宋体" panose="02010600030101010101" pitchFamily="2" charset="-122"/>
                <a:cs typeface="Arial" panose="020B0604020202020204" pitchFamily="34" charset="0"/>
              </a:rPr>
              <a:t>优点：</a:t>
            </a:r>
          </a:p>
        </p:txBody>
      </p:sp>
      <p:sp>
        <p:nvSpPr>
          <p:cNvPr id="2" name="Slide Number Placeholder 1">
            <a:extLst>
              <a:ext uri="{FF2B5EF4-FFF2-40B4-BE49-F238E27FC236}">
                <a16:creationId xmlns:a16="http://schemas.microsoft.com/office/drawing/2014/main" id="{34D3F0EB-8079-4403-80AF-77723404A533}"/>
              </a:ext>
            </a:extLst>
          </p:cNvPr>
          <p:cNvSpPr>
            <a:spLocks noGrp="1"/>
          </p:cNvSpPr>
          <p:nvPr>
            <p:ph type="sldNum" sz="quarter" idx="12"/>
          </p:nvPr>
        </p:nvSpPr>
        <p:spPr/>
        <p:txBody>
          <a:bodyPr/>
          <a:lstStyle/>
          <a:p>
            <a:fld id="{B53602B4-F12B-41CD-B648-531F86B2CC91}" type="slidenum">
              <a:rPr lang="zh-CN" altLang="en-US" smtClean="0"/>
              <a:t>25</a:t>
            </a:fld>
            <a:endParaRPr lang="zh-CN" altLang="en-US"/>
          </a:p>
        </p:txBody>
      </p:sp>
    </p:spTree>
    <p:extLst>
      <p:ext uri="{BB962C8B-B14F-4D97-AF65-F5344CB8AC3E}">
        <p14:creationId xmlns:p14="http://schemas.microsoft.com/office/powerpoint/2010/main" val="772005653"/>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49142242-5E57-4D15-A0DD-17CB598A023D}"/>
              </a:ext>
            </a:extLst>
          </p:cNvPr>
          <p:cNvSpPr txBox="1"/>
          <p:nvPr/>
        </p:nvSpPr>
        <p:spPr>
          <a:xfrm>
            <a:off x="645886" y="1362475"/>
            <a:ext cx="7464173" cy="1827419"/>
          </a:xfrm>
          <a:prstGeom prst="rect">
            <a:avLst/>
          </a:prstGeom>
          <a:noFill/>
        </p:spPr>
        <p:txBody>
          <a:bodyPr wrap="square" lIns="91436" tIns="45718" rIns="91436" bIns="45718" rtlCol="0">
            <a:spAutoFit/>
          </a:bodyPr>
          <a:lstStyle/>
          <a:p>
            <a:pPr>
              <a:lnSpc>
                <a:spcPts val="3500"/>
              </a:lnSpc>
            </a:pPr>
            <a:r>
              <a:rPr lang="en-US" altLang="zh-CN" sz="2400" b="1" dirty="0">
                <a:latin typeface="宋体" panose="02010600030101010101" pitchFamily="2" charset="-122"/>
                <a:ea typeface="宋体" panose="02010600030101010101" pitchFamily="2" charset="-122"/>
                <a:cs typeface="Arial" panose="020B0604020202020204" pitchFamily="34" charset="0"/>
              </a:rPr>
              <a:t>(5) </a:t>
            </a:r>
            <a:r>
              <a:rPr lang="zh-CN" altLang="en-US" sz="2400" b="1" dirty="0">
                <a:latin typeface="宋体" panose="02010600030101010101" pitchFamily="2" charset="-122"/>
                <a:ea typeface="宋体" panose="02010600030101010101" pitchFamily="2" charset="-122"/>
                <a:cs typeface="Arial" panose="020B0604020202020204" pitchFamily="34" charset="0"/>
              </a:rPr>
              <a:t>测量信号本身是电信号，无须进行非电量转换，简化了处理环节。</a:t>
            </a:r>
            <a:endParaRPr lang="en-US" altLang="zh-CN" sz="2400" b="1" dirty="0">
              <a:latin typeface="宋体" panose="02010600030101010101" pitchFamily="2" charset="-122"/>
              <a:ea typeface="宋体" panose="02010600030101010101" pitchFamily="2" charset="-122"/>
              <a:cs typeface="Arial" panose="020B0604020202020204" pitchFamily="34" charset="0"/>
            </a:endParaRPr>
          </a:p>
          <a:p>
            <a:pPr>
              <a:lnSpc>
                <a:spcPts val="3500"/>
              </a:lnSpc>
            </a:pPr>
            <a:r>
              <a:rPr lang="en-US" altLang="zh-CN" sz="2400" b="1" dirty="0">
                <a:latin typeface="宋体" panose="02010600030101010101" pitchFamily="2" charset="-122"/>
                <a:ea typeface="宋体" panose="02010600030101010101" pitchFamily="2" charset="-122"/>
                <a:cs typeface="Arial" panose="020B0604020202020204" pitchFamily="34" charset="0"/>
              </a:rPr>
              <a:t>(6)</a:t>
            </a:r>
            <a:r>
              <a:rPr lang="zh-CN" altLang="en-US" sz="2400" b="1" dirty="0">
                <a:latin typeface="宋体" panose="02010600030101010101" pitchFamily="2" charset="-122"/>
                <a:ea typeface="宋体" panose="02010600030101010101" pitchFamily="2" charset="-122"/>
                <a:cs typeface="Arial" panose="020B0604020202020204" pitchFamily="34" charset="0"/>
              </a:rPr>
              <a:t>输出信号可以方便地调制，在载波信号上进行发射和接收，</a:t>
            </a:r>
            <a:r>
              <a:rPr lang="zh-CN" altLang="en-US" sz="2400" b="1" dirty="0">
                <a:solidFill>
                  <a:srgbClr val="C00000"/>
                </a:solidFill>
                <a:latin typeface="宋体" panose="02010600030101010101" pitchFamily="2" charset="-122"/>
                <a:ea typeface="宋体" panose="02010600030101010101" pitchFamily="2" charset="-122"/>
                <a:cs typeface="Arial" panose="020B0604020202020204" pitchFamily="34" charset="0"/>
              </a:rPr>
              <a:t>传输距离远</a:t>
            </a:r>
            <a:r>
              <a:rPr lang="zh-CN" altLang="en-US" sz="2400" b="1" dirty="0">
                <a:latin typeface="宋体" panose="02010600030101010101" pitchFamily="2" charset="-122"/>
                <a:ea typeface="宋体" panose="02010600030101010101" pitchFamily="2" charset="-122"/>
                <a:cs typeface="Arial" panose="020B0604020202020204" pitchFamily="34" charset="0"/>
              </a:rPr>
              <a:t>，可实现遥测、遥控。</a:t>
            </a:r>
          </a:p>
        </p:txBody>
      </p:sp>
      <p:sp>
        <p:nvSpPr>
          <p:cNvPr id="37" name="矩形 36">
            <a:extLst>
              <a:ext uri="{FF2B5EF4-FFF2-40B4-BE49-F238E27FC236}">
                <a16:creationId xmlns:a16="http://schemas.microsoft.com/office/drawing/2014/main" id="{64509930-9DFB-420E-8F32-960E50399825}"/>
              </a:ext>
            </a:extLst>
          </p:cNvPr>
          <p:cNvSpPr/>
          <p:nvPr/>
        </p:nvSpPr>
        <p:spPr>
          <a:xfrm>
            <a:off x="1571711" y="258777"/>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57" name="圆角矩形 43">
            <a:extLst>
              <a:ext uri="{FF2B5EF4-FFF2-40B4-BE49-F238E27FC236}">
                <a16:creationId xmlns:a16="http://schemas.microsoft.com/office/drawing/2014/main" id="{7D086454-5B10-4064-9B8F-531209592F7E}"/>
              </a:ext>
            </a:extLst>
          </p:cNvPr>
          <p:cNvSpPr/>
          <p:nvPr/>
        </p:nvSpPr>
        <p:spPr>
          <a:xfrm rot="10800000" flipV="1">
            <a:off x="185084" y="242948"/>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20204" pitchFamily="34" charset="0"/>
                <a:ea typeface="宋体" panose="02010600030101010101" pitchFamily="2" charset="-122"/>
                <a:cs typeface="Arial" panose="020B0604020202020204" pitchFamily="34" charset="0"/>
              </a:rPr>
              <a:t>9.2.3</a:t>
            </a:r>
            <a:endParaRPr lang="zh-CN" altLang="en-US" sz="3200" b="1" dirty="0">
              <a:latin typeface="Arial" panose="020B0604020202020204" pitchFamily="34" charset="0"/>
              <a:ea typeface="宋体" panose="02010600030101010101" pitchFamily="2" charset="-122"/>
              <a:cs typeface="Arial" panose="020B0604020202020204" pitchFamily="34" charset="0"/>
            </a:endParaRPr>
          </a:p>
        </p:txBody>
      </p:sp>
      <p:sp>
        <p:nvSpPr>
          <p:cNvPr id="58" name="矩形 57">
            <a:extLst>
              <a:ext uri="{FF2B5EF4-FFF2-40B4-BE49-F238E27FC236}">
                <a16:creationId xmlns:a16="http://schemas.microsoft.com/office/drawing/2014/main" id="{2A2F604C-DA27-459E-8419-ED777356D653}"/>
              </a:ext>
            </a:extLst>
          </p:cNvPr>
          <p:cNvSpPr/>
          <p:nvPr/>
        </p:nvSpPr>
        <p:spPr>
          <a:xfrm>
            <a:off x="1920410" y="240301"/>
            <a:ext cx="3247997" cy="615549"/>
          </a:xfrm>
          <a:prstGeom prst="rect">
            <a:avLst/>
          </a:prstGeom>
        </p:spPr>
        <p:txBody>
          <a:bodyPr wrap="none" lIns="91436" tIns="45718" rIns="91436" bIns="45718">
            <a:spAutoFit/>
          </a:bodyPr>
          <a:lstStyle/>
          <a:p>
            <a:pPr algn="ctr"/>
            <a:r>
              <a:rPr lang="zh-CN" altLang="en-US" sz="3400" b="1" dirty="0">
                <a:solidFill>
                  <a:schemeClr val="bg1"/>
                </a:solidFill>
                <a:latin typeface="宋体" panose="02010600030101010101" pitchFamily="2" charset="-122"/>
                <a:ea typeface="宋体" panose="02010600030101010101" pitchFamily="2" charset="-122"/>
              </a:rPr>
              <a:t>微波传感器特点</a:t>
            </a:r>
            <a:endParaRPr lang="en-US" altLang="zh-CN" sz="3400" b="1" dirty="0">
              <a:solidFill>
                <a:schemeClr val="bg1"/>
              </a:solidFill>
              <a:latin typeface="宋体" panose="02010600030101010101" pitchFamily="2" charset="-122"/>
              <a:ea typeface="宋体" panose="02010600030101010101" pitchFamily="2" charset="-122"/>
            </a:endParaRPr>
          </a:p>
        </p:txBody>
      </p:sp>
      <p:sp>
        <p:nvSpPr>
          <p:cNvPr id="2" name="矩形 1"/>
          <p:cNvSpPr/>
          <p:nvPr/>
        </p:nvSpPr>
        <p:spPr>
          <a:xfrm>
            <a:off x="645886" y="3547133"/>
            <a:ext cx="1112805" cy="461665"/>
          </a:xfrm>
          <a:prstGeom prst="rect">
            <a:avLst/>
          </a:prstGeom>
        </p:spPr>
        <p:style>
          <a:lnRef idx="1">
            <a:schemeClr val="accent6"/>
          </a:lnRef>
          <a:fillRef idx="3">
            <a:schemeClr val="accent6"/>
          </a:fillRef>
          <a:effectRef idx="2">
            <a:schemeClr val="accent6"/>
          </a:effectRef>
          <a:fontRef idx="minor">
            <a:schemeClr val="lt1"/>
          </a:fontRef>
        </p:style>
        <p:txBody>
          <a:bodyPr wrap="none">
            <a:spAutoFit/>
          </a:bodyPr>
          <a:lstStyle/>
          <a:p>
            <a:pPr>
              <a:spcBef>
                <a:spcPts val="624"/>
              </a:spcBef>
            </a:pPr>
            <a:r>
              <a:rPr lang="zh-CN" altLang="en-US" sz="2400" b="1" dirty="0">
                <a:latin typeface="Arial" panose="020B0604020202020204" pitchFamily="34" charset="0"/>
                <a:ea typeface="宋体" panose="02010600030101010101" pitchFamily="2" charset="-122"/>
                <a:cs typeface="Arial" panose="020B0604020202020204" pitchFamily="34" charset="0"/>
              </a:rPr>
              <a:t>缺点：</a:t>
            </a:r>
          </a:p>
        </p:txBody>
      </p:sp>
      <p:sp>
        <p:nvSpPr>
          <p:cNvPr id="4" name="矩形 3"/>
          <p:cNvSpPr/>
          <p:nvPr/>
        </p:nvSpPr>
        <p:spPr>
          <a:xfrm>
            <a:off x="678543" y="4206380"/>
            <a:ext cx="7786914" cy="1214756"/>
          </a:xfrm>
          <a:prstGeom prst="rect">
            <a:avLst/>
          </a:prstGeom>
        </p:spPr>
        <p:txBody>
          <a:bodyPr wrap="square">
            <a:spAutoFit/>
          </a:bodyPr>
          <a:lstStyle/>
          <a:p>
            <a:pPr>
              <a:lnSpc>
                <a:spcPct val="150000"/>
              </a:lnSpc>
              <a:spcBef>
                <a:spcPts val="624"/>
              </a:spcBef>
            </a:pPr>
            <a:r>
              <a:rPr lang="en-US" altLang="zh-CN" sz="2400" b="1" dirty="0">
                <a:latin typeface="Arial" panose="020B0604020202020204" pitchFamily="34" charset="0"/>
                <a:ea typeface="宋体" panose="02010600030101010101" pitchFamily="2" charset="-122"/>
                <a:cs typeface="Arial" panose="020B0604020202020204" pitchFamily="34" charset="0"/>
              </a:rPr>
              <a:t> (1)</a:t>
            </a:r>
            <a:r>
              <a:rPr lang="zh-CN" altLang="en-US" sz="2400" b="1" dirty="0">
                <a:latin typeface="Arial" panose="020B0604020202020204" pitchFamily="34" charset="0"/>
                <a:ea typeface="宋体" panose="02010600030101010101" pitchFamily="2" charset="-122"/>
                <a:cs typeface="Arial" panose="020B0604020202020204" pitchFamily="34" charset="0"/>
              </a:rPr>
              <a:t>存在</a:t>
            </a:r>
            <a:r>
              <a:rPr lang="zh-CN" altLang="en-US" sz="2400" b="1" dirty="0">
                <a:solidFill>
                  <a:srgbClr val="0070C0"/>
                </a:solidFill>
                <a:latin typeface="Arial" panose="020B0604020202020204" pitchFamily="34" charset="0"/>
                <a:ea typeface="宋体" panose="02010600030101010101" pitchFamily="2" charset="-122"/>
                <a:cs typeface="Arial" panose="020B0604020202020204" pitchFamily="34" charset="0"/>
              </a:rPr>
              <a:t>零点漂移</a:t>
            </a:r>
            <a:r>
              <a:rPr lang="zh-CN" altLang="en-US" sz="2400" b="1" dirty="0">
                <a:latin typeface="Arial" panose="020B0604020202020204" pitchFamily="34" charset="0"/>
                <a:ea typeface="宋体" panose="02010600030101010101" pitchFamily="2" charset="-122"/>
                <a:cs typeface="Arial" panose="020B0604020202020204" pitchFamily="34" charset="0"/>
              </a:rPr>
              <a:t>，给标定带来困难。</a:t>
            </a:r>
          </a:p>
          <a:p>
            <a:pPr>
              <a:lnSpc>
                <a:spcPct val="150000"/>
              </a:lnSpc>
              <a:spcBef>
                <a:spcPts val="624"/>
              </a:spcBef>
            </a:pPr>
            <a:r>
              <a:rPr lang="en-US" altLang="zh-CN" sz="2400" b="1" dirty="0">
                <a:latin typeface="Arial" panose="020B0604020202020204" pitchFamily="34" charset="0"/>
                <a:ea typeface="宋体" panose="02010600030101010101" pitchFamily="2" charset="-122"/>
                <a:cs typeface="Arial" panose="020B0604020202020204" pitchFamily="34" charset="0"/>
              </a:rPr>
              <a:t> (2)</a:t>
            </a:r>
            <a:r>
              <a:rPr lang="zh-CN" altLang="en-US" sz="2400" b="1" dirty="0">
                <a:latin typeface="Arial" panose="020B0604020202020204" pitchFamily="34" charset="0"/>
                <a:ea typeface="宋体" panose="02010600030101010101" pitchFamily="2" charset="-122"/>
                <a:cs typeface="Arial" panose="020B0604020202020204" pitchFamily="34" charset="0"/>
              </a:rPr>
              <a:t>测量环境对测量结果影响较大，如取样位置、气压等。</a:t>
            </a:r>
            <a:endParaRPr lang="zh-CN" altLang="en-US" sz="2400" dirty="0"/>
          </a:p>
        </p:txBody>
      </p:sp>
      <p:sp>
        <p:nvSpPr>
          <p:cNvPr id="5" name="Slide Number Placeholder 4">
            <a:extLst>
              <a:ext uri="{FF2B5EF4-FFF2-40B4-BE49-F238E27FC236}">
                <a16:creationId xmlns:a16="http://schemas.microsoft.com/office/drawing/2014/main" id="{916A1C79-8895-4BDB-A1D4-33ED38448668}"/>
              </a:ext>
            </a:extLst>
          </p:cNvPr>
          <p:cNvSpPr>
            <a:spLocks noGrp="1"/>
          </p:cNvSpPr>
          <p:nvPr>
            <p:ph type="sldNum" sz="quarter" idx="12"/>
          </p:nvPr>
        </p:nvSpPr>
        <p:spPr/>
        <p:txBody>
          <a:bodyPr/>
          <a:lstStyle/>
          <a:p>
            <a:fld id="{B53602B4-F12B-41CD-B648-531F86B2CC91}" type="slidenum">
              <a:rPr lang="zh-CN" altLang="en-US" smtClean="0"/>
              <a:t>26</a:t>
            </a:fld>
            <a:endParaRPr lang="zh-CN" altLang="en-US"/>
          </a:p>
        </p:txBody>
      </p:sp>
    </p:spTree>
    <p:extLst>
      <p:ext uri="{BB962C8B-B14F-4D97-AF65-F5344CB8AC3E}">
        <p14:creationId xmlns:p14="http://schemas.microsoft.com/office/powerpoint/2010/main" val="3477117371"/>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内容占位符 2">
            <a:extLst>
              <a:ext uri="{FF2B5EF4-FFF2-40B4-BE49-F238E27FC236}">
                <a16:creationId xmlns:a16="http://schemas.microsoft.com/office/drawing/2014/main" id="{5A47161E-71C4-44FC-BF4B-256E8E8E85F7}"/>
              </a:ext>
            </a:extLst>
          </p:cNvPr>
          <p:cNvSpPr>
            <a:spLocks noGrp="1"/>
          </p:cNvSpPr>
          <p:nvPr>
            <p:ph idx="1"/>
          </p:nvPr>
        </p:nvSpPr>
        <p:spPr>
          <a:xfrm>
            <a:off x="369552" y="1440500"/>
            <a:ext cx="8534962" cy="2230747"/>
          </a:xfrm>
        </p:spPr>
        <p:txBody>
          <a:bodyPr>
            <a:noAutofit/>
          </a:bodyPr>
          <a:lstStyle/>
          <a:p>
            <a:pPr marL="0" indent="0" eaLnBrk="1" hangingPunct="1">
              <a:lnSpc>
                <a:spcPct val="150000"/>
              </a:lnSpc>
              <a:spcBef>
                <a:spcPts val="672"/>
              </a:spcBef>
              <a:buNone/>
              <a:defRPr/>
            </a:pPr>
            <a:r>
              <a:rPr lang="zh-CN" altLang="en-US" sz="2400" b="1" dirty="0">
                <a:latin typeface="Arial" panose="020B0604020202020204" pitchFamily="34" charset="0"/>
                <a:ea typeface="宋体" panose="02010600030101010101" pitchFamily="2" charset="-122"/>
                <a:cs typeface="Arial" panose="020B0604020202020204" pitchFamily="34" charset="0"/>
              </a:rPr>
              <a:t>利用超声波的各种特性，可做成超声波传感器，再配上不同的测量电路，制成各种超声波仪器及装置，广泛地应用于冶金、船舶、机械、医疗等部门的超声探测、超声医疗和倒车雷</a:t>
            </a:r>
            <a:r>
              <a:rPr lang="zh-CN" altLang="en-US" sz="2400" b="1">
                <a:latin typeface="Arial" panose="020B0604020202020204" pitchFamily="34" charset="0"/>
                <a:ea typeface="宋体" panose="02010600030101010101" pitchFamily="2" charset="-122"/>
                <a:cs typeface="Arial" panose="020B0604020202020204" pitchFamily="34" charset="0"/>
              </a:rPr>
              <a:t>达等。</a:t>
            </a:r>
            <a:endParaRPr lang="zh-CN" altLang="en-US" sz="2400" b="1" dirty="0">
              <a:latin typeface="Arial" panose="020B0604020202020204" pitchFamily="34" charset="0"/>
              <a:ea typeface="宋体" panose="02010600030101010101" pitchFamily="2" charset="-122"/>
              <a:cs typeface="Arial" panose="020B0604020202020204" pitchFamily="34" charset="0"/>
            </a:endParaRPr>
          </a:p>
        </p:txBody>
      </p:sp>
      <p:sp>
        <p:nvSpPr>
          <p:cNvPr id="12" name="圆角矩形 72">
            <a:extLst>
              <a:ext uri="{FF2B5EF4-FFF2-40B4-BE49-F238E27FC236}">
                <a16:creationId xmlns:a16="http://schemas.microsoft.com/office/drawing/2014/main" id="{CE8DA89C-9449-4C1E-B1BB-58A56F4B8E5D}"/>
              </a:ext>
            </a:extLst>
          </p:cNvPr>
          <p:cNvSpPr/>
          <p:nvPr/>
        </p:nvSpPr>
        <p:spPr>
          <a:xfrm rot="10800000" flipV="1">
            <a:off x="1723823" y="3857770"/>
            <a:ext cx="1028701" cy="46885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800" b="1" dirty="0">
                <a:latin typeface="Arial" panose="020B0604020202020204" pitchFamily="34" charset="0"/>
                <a:ea typeface="宋体" panose="02010600030101010101" pitchFamily="2" charset="-122"/>
                <a:cs typeface="Arial" panose="020B0604020202020204" pitchFamily="34" charset="0"/>
              </a:rPr>
              <a:t>9.3.1</a:t>
            </a:r>
            <a:endParaRPr lang="zh-CN" altLang="en-US" sz="2800" b="1" dirty="0">
              <a:latin typeface="Arial" panose="020B0604020202020204" pitchFamily="34" charset="0"/>
              <a:ea typeface="宋体" panose="02010600030101010101" pitchFamily="2" charset="-122"/>
              <a:cs typeface="Arial" panose="020B0604020202020204" pitchFamily="34" charset="0"/>
            </a:endParaRPr>
          </a:p>
        </p:txBody>
      </p:sp>
      <p:sp>
        <p:nvSpPr>
          <p:cNvPr id="14" name="圆角矩形 73">
            <a:extLst>
              <a:ext uri="{FF2B5EF4-FFF2-40B4-BE49-F238E27FC236}">
                <a16:creationId xmlns:a16="http://schemas.microsoft.com/office/drawing/2014/main" id="{13ECFB7A-6481-441B-B7F8-6D9C7C31DE90}"/>
              </a:ext>
            </a:extLst>
          </p:cNvPr>
          <p:cNvSpPr/>
          <p:nvPr/>
        </p:nvSpPr>
        <p:spPr>
          <a:xfrm rot="10800000" flipV="1">
            <a:off x="1723825" y="4922270"/>
            <a:ext cx="1028700" cy="467244"/>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800" b="1" dirty="0">
                <a:latin typeface="Arial" panose="020B0604020202020204" pitchFamily="34" charset="0"/>
                <a:ea typeface="宋体" panose="02010600030101010101" pitchFamily="2" charset="-122"/>
                <a:cs typeface="Arial" panose="020B0604020202020204" pitchFamily="34" charset="0"/>
              </a:rPr>
              <a:t>9.3.2</a:t>
            </a:r>
            <a:endParaRPr lang="zh-CN" altLang="en-US" sz="2800" b="1" dirty="0">
              <a:latin typeface="Arial" panose="020B0604020202020204" pitchFamily="34" charset="0"/>
              <a:ea typeface="宋体" panose="02010600030101010101" pitchFamily="2" charset="-122"/>
              <a:cs typeface="Arial" panose="020B0604020202020204" pitchFamily="34" charset="0"/>
            </a:endParaRPr>
          </a:p>
        </p:txBody>
      </p:sp>
      <p:sp>
        <p:nvSpPr>
          <p:cNvPr id="15" name="文本框 14">
            <a:extLst>
              <a:ext uri="{FF2B5EF4-FFF2-40B4-BE49-F238E27FC236}">
                <a16:creationId xmlns:a16="http://schemas.microsoft.com/office/drawing/2014/main" id="{BAD85C73-6D53-452D-A9E9-73A319F664A0}"/>
              </a:ext>
            </a:extLst>
          </p:cNvPr>
          <p:cNvSpPr txBox="1"/>
          <p:nvPr/>
        </p:nvSpPr>
        <p:spPr>
          <a:xfrm>
            <a:off x="3203674" y="3769033"/>
            <a:ext cx="3687220" cy="584771"/>
          </a:xfrm>
          <a:prstGeom prst="rect">
            <a:avLst/>
          </a:prstGeom>
          <a:noFill/>
        </p:spPr>
        <p:txBody>
          <a:bodyPr wrap="none" lIns="91436" tIns="45718" rIns="91436" bIns="45718" rtlCol="0">
            <a:spAutoFit/>
          </a:bodyPr>
          <a:lstStyle/>
          <a:p>
            <a:r>
              <a:rPr lang="zh-CN" altLang="en-US" sz="3200" b="1" dirty="0">
                <a:solidFill>
                  <a:schemeClr val="tx2"/>
                </a:solidFill>
                <a:latin typeface="宋体" panose="02010600030101010101" pitchFamily="2" charset="-122"/>
                <a:ea typeface="宋体" panose="02010600030101010101" pitchFamily="2" charset="-122"/>
                <a:hlinkClick r:id="rId2" action="ppaction://hlinksldjump"/>
              </a:rPr>
              <a:t>超</a:t>
            </a:r>
            <a:r>
              <a:rPr lang="en-US" altLang="zh-CN" sz="3200" b="1" dirty="0">
                <a:solidFill>
                  <a:schemeClr val="tx2"/>
                </a:solidFill>
                <a:latin typeface="宋体" panose="02010600030101010101" pitchFamily="2" charset="-122"/>
                <a:ea typeface="宋体" panose="02010600030101010101" pitchFamily="2" charset="-122"/>
                <a:hlinkClick r:id="rId2" action="ppaction://hlinksldjump"/>
              </a:rPr>
              <a:t>/</a:t>
            </a:r>
            <a:r>
              <a:rPr lang="zh-CN" altLang="en-US" sz="3200" b="1" dirty="0">
                <a:solidFill>
                  <a:schemeClr val="tx2"/>
                </a:solidFill>
                <a:latin typeface="宋体" panose="02010600030101010101" pitchFamily="2" charset="-122"/>
                <a:ea typeface="宋体" panose="02010600030101010101" pitchFamily="2" charset="-122"/>
                <a:hlinkClick r:id="rId2" action="ppaction://hlinksldjump"/>
              </a:rPr>
              <a:t>次声波及其特征</a:t>
            </a:r>
            <a:endParaRPr lang="zh-CN" altLang="en-US" sz="3200" b="1" dirty="0">
              <a:solidFill>
                <a:schemeClr val="tx2"/>
              </a:solidFill>
              <a:latin typeface="宋体" panose="02010600030101010101" pitchFamily="2" charset="-122"/>
              <a:ea typeface="宋体" panose="02010600030101010101" pitchFamily="2" charset="-122"/>
            </a:endParaRPr>
          </a:p>
        </p:txBody>
      </p:sp>
      <p:sp>
        <p:nvSpPr>
          <p:cNvPr id="16" name="文本框 15">
            <a:extLst>
              <a:ext uri="{FF2B5EF4-FFF2-40B4-BE49-F238E27FC236}">
                <a16:creationId xmlns:a16="http://schemas.microsoft.com/office/drawing/2014/main" id="{3DA8D264-59AF-4A60-973F-EF0C94F03239}"/>
              </a:ext>
            </a:extLst>
          </p:cNvPr>
          <p:cNvSpPr txBox="1"/>
          <p:nvPr/>
        </p:nvSpPr>
        <p:spPr>
          <a:xfrm>
            <a:off x="3203675" y="4832729"/>
            <a:ext cx="4099191" cy="584771"/>
          </a:xfrm>
          <a:prstGeom prst="rect">
            <a:avLst/>
          </a:prstGeom>
          <a:noFill/>
        </p:spPr>
        <p:txBody>
          <a:bodyPr wrap="none" lIns="91436" tIns="45718" rIns="91436" bIns="45718" rtlCol="0">
            <a:spAutoFit/>
          </a:bodyPr>
          <a:lstStyle/>
          <a:p>
            <a:r>
              <a:rPr lang="zh-CN" altLang="en-US" sz="3200" b="1" dirty="0">
                <a:solidFill>
                  <a:schemeClr val="tx2"/>
                </a:solidFill>
                <a:latin typeface="宋体" panose="02010600030101010101" pitchFamily="2" charset="-122"/>
                <a:ea typeface="宋体" panose="02010600030101010101" pitchFamily="2" charset="-122"/>
                <a:hlinkClick r:id="rId3" action="ppaction://hlinksldjump"/>
              </a:rPr>
              <a:t>超</a:t>
            </a:r>
            <a:r>
              <a:rPr lang="en-US" altLang="zh-CN" sz="3200" b="1" dirty="0">
                <a:solidFill>
                  <a:schemeClr val="tx2"/>
                </a:solidFill>
                <a:latin typeface="宋体" panose="02010600030101010101" pitchFamily="2" charset="-122"/>
                <a:ea typeface="宋体" panose="02010600030101010101" pitchFamily="2" charset="-122"/>
                <a:hlinkClick r:id="rId3" action="ppaction://hlinksldjump"/>
              </a:rPr>
              <a:t>/</a:t>
            </a:r>
            <a:r>
              <a:rPr lang="zh-CN" altLang="en-US" sz="3200" b="1" dirty="0">
                <a:solidFill>
                  <a:schemeClr val="tx2"/>
                </a:solidFill>
                <a:latin typeface="宋体" panose="02010600030101010101" pitchFamily="2" charset="-122"/>
                <a:ea typeface="宋体" panose="02010600030101010101" pitchFamily="2" charset="-122"/>
                <a:hlinkClick r:id="rId3" action="ppaction://hlinksldjump"/>
              </a:rPr>
              <a:t>次声波传感器分类</a:t>
            </a:r>
            <a:endParaRPr lang="zh-CN" altLang="en-US" sz="3200" b="1" dirty="0">
              <a:solidFill>
                <a:schemeClr val="tx2"/>
              </a:solidFill>
              <a:latin typeface="宋体" panose="02010600030101010101" pitchFamily="2" charset="-122"/>
              <a:ea typeface="宋体" panose="02010600030101010101" pitchFamily="2" charset="-122"/>
            </a:endParaRPr>
          </a:p>
        </p:txBody>
      </p:sp>
      <p:sp>
        <p:nvSpPr>
          <p:cNvPr id="30" name="矩形 29">
            <a:extLst>
              <a:ext uri="{FF2B5EF4-FFF2-40B4-BE49-F238E27FC236}">
                <a16:creationId xmlns:a16="http://schemas.microsoft.com/office/drawing/2014/main" id="{64509930-9DFB-420E-8F32-960E50399825}"/>
              </a:ext>
            </a:extLst>
          </p:cNvPr>
          <p:cNvSpPr/>
          <p:nvPr/>
        </p:nvSpPr>
        <p:spPr>
          <a:xfrm>
            <a:off x="1571711" y="258777"/>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1" name="圆角矩形 43">
            <a:extLst>
              <a:ext uri="{FF2B5EF4-FFF2-40B4-BE49-F238E27FC236}">
                <a16:creationId xmlns:a16="http://schemas.microsoft.com/office/drawing/2014/main" id="{7D086454-5B10-4064-9B8F-531209592F7E}"/>
              </a:ext>
            </a:extLst>
          </p:cNvPr>
          <p:cNvSpPr/>
          <p:nvPr/>
        </p:nvSpPr>
        <p:spPr>
          <a:xfrm rot="10800000" flipV="1">
            <a:off x="185084" y="242948"/>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b="1" dirty="0">
                <a:latin typeface="Arial" panose="020B0604020202020204" pitchFamily="34" charset="0"/>
                <a:ea typeface="宋体" panose="02010600030101010101" pitchFamily="2" charset="-122"/>
                <a:cs typeface="Arial" panose="020B0604020202020204" pitchFamily="34" charset="0"/>
              </a:rPr>
              <a:t>9.3</a:t>
            </a:r>
            <a:endParaRPr lang="zh-CN" altLang="en-US" sz="3600" b="1" dirty="0">
              <a:latin typeface="Arial" panose="020B0604020202020204" pitchFamily="34" charset="0"/>
              <a:ea typeface="宋体" panose="02010600030101010101" pitchFamily="2" charset="-122"/>
              <a:cs typeface="Arial" panose="020B0604020202020204" pitchFamily="34" charset="0"/>
            </a:endParaRPr>
          </a:p>
        </p:txBody>
      </p:sp>
      <p:sp>
        <p:nvSpPr>
          <p:cNvPr id="42" name="矩形 41">
            <a:extLst>
              <a:ext uri="{FF2B5EF4-FFF2-40B4-BE49-F238E27FC236}">
                <a16:creationId xmlns:a16="http://schemas.microsoft.com/office/drawing/2014/main" id="{2A2F604C-DA27-459E-8419-ED777356D653}"/>
              </a:ext>
            </a:extLst>
          </p:cNvPr>
          <p:cNvSpPr/>
          <p:nvPr/>
        </p:nvSpPr>
        <p:spPr>
          <a:xfrm>
            <a:off x="1974116" y="240301"/>
            <a:ext cx="4123237" cy="615549"/>
          </a:xfrm>
          <a:prstGeom prst="rect">
            <a:avLst/>
          </a:prstGeom>
        </p:spPr>
        <p:txBody>
          <a:bodyPr wrap="none" lIns="91436" tIns="45718" rIns="91436" bIns="45718">
            <a:spAutoFit/>
          </a:bodyPr>
          <a:lstStyle/>
          <a:p>
            <a:pPr algn="ctr"/>
            <a:r>
              <a:rPr lang="zh-CN" altLang="en-US" sz="3400" b="1" dirty="0">
                <a:solidFill>
                  <a:schemeClr val="bg1"/>
                </a:solidFill>
                <a:latin typeface="宋体" panose="02010600030101010101" pitchFamily="2" charset="-122"/>
                <a:ea typeface="宋体" panose="02010600030101010101" pitchFamily="2" charset="-122"/>
              </a:rPr>
              <a:t>超声与次声波传感器</a:t>
            </a:r>
            <a:endParaRPr lang="en-US" altLang="zh-CN" sz="3400" b="1" dirty="0">
              <a:solidFill>
                <a:schemeClr val="bg1"/>
              </a:solidFill>
              <a:latin typeface="宋体" panose="02010600030101010101" pitchFamily="2" charset="-122"/>
              <a:ea typeface="宋体" panose="02010600030101010101" pitchFamily="2" charset="-122"/>
            </a:endParaRPr>
          </a:p>
        </p:txBody>
      </p:sp>
      <p:sp>
        <p:nvSpPr>
          <p:cNvPr id="2" name="Slide Number Placeholder 1">
            <a:extLst>
              <a:ext uri="{FF2B5EF4-FFF2-40B4-BE49-F238E27FC236}">
                <a16:creationId xmlns:a16="http://schemas.microsoft.com/office/drawing/2014/main" id="{037484A3-04F2-48B4-A156-E225EA8D7527}"/>
              </a:ext>
            </a:extLst>
          </p:cNvPr>
          <p:cNvSpPr>
            <a:spLocks noGrp="1"/>
          </p:cNvSpPr>
          <p:nvPr>
            <p:ph type="sldNum" sz="quarter" idx="12"/>
          </p:nvPr>
        </p:nvSpPr>
        <p:spPr/>
        <p:txBody>
          <a:bodyPr/>
          <a:lstStyle/>
          <a:p>
            <a:fld id="{B53602B4-F12B-41CD-B648-531F86B2CC91}" type="slidenum">
              <a:rPr lang="zh-CN" altLang="en-US" smtClean="0"/>
              <a:t>27</a:t>
            </a:fld>
            <a:endParaRPr lang="zh-CN" altLang="en-US"/>
          </a:p>
        </p:txBody>
      </p:sp>
    </p:spTree>
    <p:extLst>
      <p:ext uri="{BB962C8B-B14F-4D97-AF65-F5344CB8AC3E}">
        <p14:creationId xmlns:p14="http://schemas.microsoft.com/office/powerpoint/2010/main" val="640789860"/>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43169" y="1373883"/>
            <a:ext cx="8457661" cy="4707056"/>
          </a:xfrm>
          <a:prstGeom prst="rect">
            <a:avLst/>
          </a:prstGeom>
        </p:spPr>
        <p:txBody>
          <a:bodyPr wrap="square" lIns="91438" tIns="45719" rIns="91438" bIns="45719">
            <a:spAutoFit/>
          </a:bodyPr>
          <a:lstStyle/>
          <a:p>
            <a:pPr>
              <a:lnSpc>
                <a:spcPct val="150000"/>
              </a:lnSpc>
              <a:spcBef>
                <a:spcPts val="672"/>
              </a:spcBef>
            </a:pPr>
            <a:r>
              <a:rPr lang="en-US" altLang="zh-CN" sz="2400" b="1" dirty="0">
                <a:latin typeface="宋体" pitchFamily="2" charset="-122"/>
                <a:ea typeface="宋体" pitchFamily="2" charset="-122"/>
                <a:cs typeface="Times New Roman" panose="02020603050405020304" pitchFamily="18" charset="0"/>
              </a:rPr>
              <a:t>1.</a:t>
            </a:r>
            <a:r>
              <a:rPr lang="zh-CN" altLang="en-US" sz="2400" b="1" dirty="0">
                <a:latin typeface="宋体" pitchFamily="2" charset="-122"/>
                <a:ea typeface="宋体" pitchFamily="2" charset="-122"/>
                <a:cs typeface="Times New Roman" panose="02020603050405020304" pitchFamily="18" charset="0"/>
              </a:rPr>
              <a:t>超声波及其特点</a:t>
            </a:r>
          </a:p>
          <a:p>
            <a:pPr marL="342900" indent="-342900">
              <a:lnSpc>
                <a:spcPct val="150000"/>
              </a:lnSpc>
              <a:spcBef>
                <a:spcPts val="672"/>
              </a:spcBef>
              <a:buFont typeface="Wingdings" panose="05000000000000000000" pitchFamily="2" charset="2"/>
              <a:buChar char="§"/>
            </a:pPr>
            <a:r>
              <a:rPr lang="zh-CN" altLang="en-US" sz="2400" b="1">
                <a:latin typeface="宋体" pitchFamily="2" charset="-122"/>
                <a:ea typeface="宋体" pitchFamily="2" charset="-122"/>
                <a:cs typeface="Times New Roman" panose="02020603050405020304" pitchFamily="18" charset="0"/>
              </a:rPr>
              <a:t>频</a:t>
            </a:r>
            <a:r>
              <a:rPr lang="zh-CN" altLang="en-US" sz="2400" b="1" dirty="0">
                <a:latin typeface="宋体" pitchFamily="2" charset="-122"/>
                <a:ea typeface="宋体" pitchFamily="2" charset="-122"/>
                <a:cs typeface="Times New Roman" panose="02020603050405020304" pitchFamily="18" charset="0"/>
              </a:rPr>
              <a:t>率高于</a:t>
            </a:r>
            <a:r>
              <a:rPr lang="en-US" altLang="zh-CN" sz="2400" b="1" dirty="0">
                <a:latin typeface="宋体" pitchFamily="2" charset="-122"/>
                <a:ea typeface="宋体" pitchFamily="2" charset="-122"/>
                <a:cs typeface="Times New Roman" panose="02020603050405020304" pitchFamily="18" charset="0"/>
              </a:rPr>
              <a:t>2×10</a:t>
            </a:r>
            <a:r>
              <a:rPr lang="en-US" altLang="zh-CN" sz="2400" b="1" baseline="30000" dirty="0">
                <a:latin typeface="宋体" pitchFamily="2" charset="-122"/>
                <a:ea typeface="宋体" pitchFamily="2" charset="-122"/>
                <a:cs typeface="Times New Roman" panose="02020603050405020304" pitchFamily="18" charset="0"/>
              </a:rPr>
              <a:t>4</a:t>
            </a:r>
            <a:r>
              <a:rPr lang="en-US" altLang="zh-CN" sz="2400" b="1" dirty="0">
                <a:latin typeface="宋体" pitchFamily="2" charset="-122"/>
                <a:ea typeface="宋体" pitchFamily="2" charset="-122"/>
                <a:cs typeface="Times New Roman" panose="02020603050405020304" pitchFamily="18" charset="0"/>
              </a:rPr>
              <a:t>Hz</a:t>
            </a:r>
            <a:r>
              <a:rPr lang="zh-CN" altLang="en-US" sz="2400" b="1" dirty="0">
                <a:latin typeface="宋体" pitchFamily="2" charset="-122"/>
                <a:ea typeface="宋体" pitchFamily="2" charset="-122"/>
                <a:cs typeface="Times New Roman" panose="02020603050405020304" pitchFamily="18" charset="0"/>
              </a:rPr>
              <a:t>的机械波为超声波。</a:t>
            </a:r>
          </a:p>
          <a:p>
            <a:pPr marL="342900" indent="-342900">
              <a:lnSpc>
                <a:spcPct val="150000"/>
              </a:lnSpc>
              <a:spcBef>
                <a:spcPts val="672"/>
              </a:spcBef>
              <a:buFont typeface="Wingdings" panose="05000000000000000000" pitchFamily="2" charset="2"/>
              <a:buChar char="§"/>
            </a:pPr>
            <a:r>
              <a:rPr lang="zh-CN" altLang="en-US" sz="2400" b="1">
                <a:solidFill>
                  <a:srgbClr val="3333CC"/>
                </a:solidFill>
                <a:latin typeface="宋体" pitchFamily="2" charset="-122"/>
                <a:ea typeface="宋体" pitchFamily="2" charset="-122"/>
                <a:cs typeface="Times New Roman" panose="02020603050405020304" pitchFamily="18" charset="0"/>
              </a:rPr>
              <a:t>超</a:t>
            </a:r>
            <a:r>
              <a:rPr lang="zh-CN" altLang="en-US" sz="2400" b="1" dirty="0">
                <a:solidFill>
                  <a:srgbClr val="3333CC"/>
                </a:solidFill>
                <a:latin typeface="宋体" pitchFamily="2" charset="-122"/>
                <a:ea typeface="宋体" pitchFamily="2" charset="-122"/>
                <a:cs typeface="Times New Roman" panose="02020603050405020304" pitchFamily="18" charset="0"/>
              </a:rPr>
              <a:t>声波的频率高、波长短、绕射</a:t>
            </a:r>
            <a:r>
              <a:rPr lang="zh-CN" altLang="en-US" sz="2400" b="1">
                <a:solidFill>
                  <a:srgbClr val="3333CC"/>
                </a:solidFill>
                <a:latin typeface="宋体" pitchFamily="2" charset="-122"/>
                <a:ea typeface="宋体" pitchFamily="2" charset="-122"/>
                <a:cs typeface="Times New Roman" panose="02020603050405020304" pitchFamily="18" charset="0"/>
              </a:rPr>
              <a:t>小。</a:t>
            </a:r>
            <a:endParaRPr lang="en-US" altLang="zh-CN" sz="2400" b="1">
              <a:solidFill>
                <a:srgbClr val="3333CC"/>
              </a:solidFill>
              <a:latin typeface="宋体" pitchFamily="2" charset="-122"/>
              <a:ea typeface="宋体" pitchFamily="2" charset="-122"/>
              <a:cs typeface="Times New Roman" panose="02020603050405020304" pitchFamily="18" charset="0"/>
            </a:endParaRPr>
          </a:p>
          <a:p>
            <a:pPr marL="800100" lvl="1" indent="-342900">
              <a:lnSpc>
                <a:spcPct val="150000"/>
              </a:lnSpc>
              <a:buFont typeface="Courier New" panose="02070309020205020404" pitchFamily="49" charset="0"/>
              <a:buChar char="o"/>
            </a:pPr>
            <a:r>
              <a:rPr lang="zh-CN" altLang="en-US" sz="2400" b="1">
                <a:latin typeface="宋体" pitchFamily="2" charset="-122"/>
                <a:ea typeface="宋体" pitchFamily="2" charset="-122"/>
                <a:cs typeface="Times New Roman" panose="02020603050405020304" pitchFamily="18" charset="0"/>
              </a:rPr>
              <a:t>最</a:t>
            </a:r>
            <a:r>
              <a:rPr lang="zh-CN" altLang="en-US" sz="2400" b="1" dirty="0">
                <a:latin typeface="宋体" pitchFamily="2" charset="-122"/>
                <a:ea typeface="宋体" pitchFamily="2" charset="-122"/>
                <a:cs typeface="Times New Roman" panose="02020603050405020304" pitchFamily="18" charset="0"/>
              </a:rPr>
              <a:t>显著的特性是</a:t>
            </a:r>
            <a:r>
              <a:rPr lang="zh-CN" altLang="en-US" sz="2400" b="1" dirty="0">
                <a:solidFill>
                  <a:srgbClr val="C00000"/>
                </a:solidFill>
                <a:latin typeface="宋体" pitchFamily="2" charset="-122"/>
                <a:ea typeface="宋体" pitchFamily="2" charset="-122"/>
                <a:cs typeface="Times New Roman" panose="02020603050405020304" pitchFamily="18" charset="0"/>
              </a:rPr>
              <a:t>方向性</a:t>
            </a:r>
            <a:r>
              <a:rPr lang="zh-CN" altLang="en-US" sz="2400" b="1">
                <a:solidFill>
                  <a:srgbClr val="C00000"/>
                </a:solidFill>
                <a:latin typeface="宋体" pitchFamily="2" charset="-122"/>
                <a:ea typeface="宋体" pitchFamily="2" charset="-122"/>
                <a:cs typeface="Times New Roman" panose="02020603050405020304" pitchFamily="18" charset="0"/>
              </a:rPr>
              <a:t>好</a:t>
            </a:r>
            <a:r>
              <a:rPr lang="zh-CN" altLang="en-US" sz="2400" b="1">
                <a:latin typeface="宋体" pitchFamily="2" charset="-122"/>
                <a:ea typeface="宋体" pitchFamily="2" charset="-122"/>
                <a:cs typeface="Times New Roman" panose="02020603050405020304" pitchFamily="18" charset="0"/>
              </a:rPr>
              <a:t>，</a:t>
            </a:r>
            <a:endParaRPr lang="en-US" altLang="zh-CN" sz="2400" b="1">
              <a:latin typeface="宋体" pitchFamily="2" charset="-122"/>
              <a:ea typeface="宋体" pitchFamily="2" charset="-122"/>
              <a:cs typeface="Times New Roman" panose="02020603050405020304" pitchFamily="18" charset="0"/>
            </a:endParaRPr>
          </a:p>
          <a:p>
            <a:pPr marL="800100" lvl="1" indent="-342900">
              <a:lnSpc>
                <a:spcPct val="150000"/>
              </a:lnSpc>
              <a:buFont typeface="Courier New" panose="02070309020205020404" pitchFamily="49" charset="0"/>
              <a:buChar char="o"/>
            </a:pPr>
            <a:r>
              <a:rPr lang="zh-CN" altLang="en-US" sz="2400" b="1">
                <a:latin typeface="宋体" pitchFamily="2" charset="-122"/>
                <a:ea typeface="宋体" pitchFamily="2" charset="-122"/>
                <a:cs typeface="Times New Roman" panose="02020603050405020304" pitchFamily="18" charset="0"/>
              </a:rPr>
              <a:t>且</a:t>
            </a:r>
            <a:r>
              <a:rPr lang="zh-CN" altLang="en-US" sz="2400" b="1" dirty="0">
                <a:latin typeface="宋体" pitchFamily="2" charset="-122"/>
                <a:ea typeface="宋体" pitchFamily="2" charset="-122"/>
                <a:cs typeface="Times New Roman" panose="02020603050405020304" pitchFamily="18" charset="0"/>
              </a:rPr>
              <a:t>在液体、固体中</a:t>
            </a:r>
            <a:r>
              <a:rPr lang="zh-CN" altLang="en-US" sz="2400" b="1" dirty="0">
                <a:solidFill>
                  <a:srgbClr val="C00000"/>
                </a:solidFill>
                <a:latin typeface="宋体" pitchFamily="2" charset="-122"/>
                <a:ea typeface="宋体" pitchFamily="2" charset="-122"/>
                <a:cs typeface="Times New Roman" panose="02020603050405020304" pitchFamily="18" charset="0"/>
              </a:rPr>
              <a:t>衰减很</a:t>
            </a:r>
            <a:r>
              <a:rPr lang="zh-CN" altLang="en-US" sz="2400" b="1">
                <a:solidFill>
                  <a:srgbClr val="C00000"/>
                </a:solidFill>
                <a:latin typeface="宋体" pitchFamily="2" charset="-122"/>
                <a:ea typeface="宋体" pitchFamily="2" charset="-122"/>
                <a:cs typeface="Times New Roman" panose="02020603050405020304" pitchFamily="18" charset="0"/>
              </a:rPr>
              <a:t>小</a:t>
            </a:r>
            <a:r>
              <a:rPr lang="zh-CN" altLang="en-US" sz="2400" b="1">
                <a:latin typeface="宋体" pitchFamily="2" charset="-122"/>
                <a:ea typeface="宋体" pitchFamily="2" charset="-122"/>
                <a:cs typeface="Times New Roman" panose="02020603050405020304" pitchFamily="18" charset="0"/>
              </a:rPr>
              <a:t>，</a:t>
            </a:r>
            <a:endParaRPr lang="en-US" altLang="zh-CN" sz="2400" b="1">
              <a:latin typeface="宋体" pitchFamily="2" charset="-122"/>
              <a:ea typeface="宋体" pitchFamily="2" charset="-122"/>
              <a:cs typeface="Times New Roman" panose="02020603050405020304" pitchFamily="18" charset="0"/>
            </a:endParaRPr>
          </a:p>
          <a:p>
            <a:pPr marL="800100" lvl="1" indent="-342900">
              <a:lnSpc>
                <a:spcPct val="150000"/>
              </a:lnSpc>
              <a:buFont typeface="Courier New" panose="02070309020205020404" pitchFamily="49" charset="0"/>
              <a:buChar char="o"/>
            </a:pPr>
            <a:r>
              <a:rPr lang="zh-CN" altLang="en-US" sz="2400" b="1">
                <a:solidFill>
                  <a:srgbClr val="C00000"/>
                </a:solidFill>
                <a:latin typeface="宋体" pitchFamily="2" charset="-122"/>
                <a:ea typeface="宋体" pitchFamily="2" charset="-122"/>
                <a:cs typeface="Times New Roman" panose="02020603050405020304" pitchFamily="18" charset="0"/>
              </a:rPr>
              <a:t>穿</a:t>
            </a:r>
            <a:r>
              <a:rPr lang="zh-CN" altLang="en-US" sz="2400" b="1" dirty="0">
                <a:solidFill>
                  <a:srgbClr val="C00000"/>
                </a:solidFill>
                <a:latin typeface="宋体" pitchFamily="2" charset="-122"/>
                <a:ea typeface="宋体" pitchFamily="2" charset="-122"/>
                <a:cs typeface="Times New Roman" panose="02020603050405020304" pitchFamily="18" charset="0"/>
              </a:rPr>
              <a:t>透力</a:t>
            </a:r>
            <a:r>
              <a:rPr lang="zh-CN" altLang="en-US" sz="2400" b="1">
                <a:solidFill>
                  <a:srgbClr val="C00000"/>
                </a:solidFill>
                <a:latin typeface="宋体" pitchFamily="2" charset="-122"/>
                <a:ea typeface="宋体" pitchFamily="2" charset="-122"/>
                <a:cs typeface="Times New Roman" panose="02020603050405020304" pitchFamily="18" charset="0"/>
              </a:rPr>
              <a:t>强</a:t>
            </a:r>
            <a:r>
              <a:rPr lang="zh-CN" altLang="en-US" sz="2400" b="1">
                <a:latin typeface="宋体" pitchFamily="2" charset="-122"/>
                <a:ea typeface="宋体" pitchFamily="2" charset="-122"/>
                <a:cs typeface="Times New Roman" panose="02020603050405020304" pitchFamily="18" charset="0"/>
              </a:rPr>
              <a:t>，</a:t>
            </a:r>
            <a:endParaRPr lang="en-US" altLang="zh-CN" sz="2400" b="1">
              <a:latin typeface="宋体" pitchFamily="2" charset="-122"/>
              <a:ea typeface="宋体" pitchFamily="2" charset="-122"/>
              <a:cs typeface="Times New Roman" panose="02020603050405020304" pitchFamily="18" charset="0"/>
            </a:endParaRPr>
          </a:p>
          <a:p>
            <a:pPr marL="800100" lvl="1" indent="-342900">
              <a:lnSpc>
                <a:spcPct val="150000"/>
              </a:lnSpc>
              <a:buFont typeface="Courier New" panose="02070309020205020404" pitchFamily="49" charset="0"/>
              <a:buChar char="o"/>
            </a:pPr>
            <a:r>
              <a:rPr lang="zh-CN" altLang="en-US" sz="2400" b="1">
                <a:latin typeface="宋体" pitchFamily="2" charset="-122"/>
                <a:ea typeface="宋体" pitchFamily="2" charset="-122"/>
                <a:cs typeface="Times New Roman" panose="02020603050405020304" pitchFamily="18" charset="0"/>
              </a:rPr>
              <a:t>碰</a:t>
            </a:r>
            <a:r>
              <a:rPr lang="zh-CN" altLang="en-US" sz="2400" b="1" dirty="0">
                <a:latin typeface="宋体" pitchFamily="2" charset="-122"/>
                <a:ea typeface="宋体" pitchFamily="2" charset="-122"/>
                <a:cs typeface="Times New Roman" panose="02020603050405020304" pitchFamily="18" charset="0"/>
              </a:rPr>
              <a:t>到介质分界面会产生</a:t>
            </a:r>
            <a:r>
              <a:rPr lang="zh-CN" altLang="en-US" sz="2400" b="1" dirty="0">
                <a:solidFill>
                  <a:srgbClr val="C00000"/>
                </a:solidFill>
                <a:latin typeface="宋体" pitchFamily="2" charset="-122"/>
                <a:ea typeface="宋体" pitchFamily="2" charset="-122"/>
                <a:cs typeface="Times New Roman" panose="02020603050405020304" pitchFamily="18" charset="0"/>
              </a:rPr>
              <a:t>明显的反射和折</a:t>
            </a:r>
            <a:r>
              <a:rPr lang="zh-CN" altLang="en-US" sz="2400" b="1">
                <a:solidFill>
                  <a:srgbClr val="C00000"/>
                </a:solidFill>
                <a:latin typeface="宋体" pitchFamily="2" charset="-122"/>
                <a:ea typeface="宋体" pitchFamily="2" charset="-122"/>
                <a:cs typeface="Times New Roman" panose="02020603050405020304" pitchFamily="18" charset="0"/>
              </a:rPr>
              <a:t>射</a:t>
            </a:r>
            <a:r>
              <a:rPr lang="zh-CN" altLang="en-US" sz="2400" b="1">
                <a:latin typeface="宋体" pitchFamily="2" charset="-122"/>
                <a:ea typeface="宋体" pitchFamily="2" charset="-122"/>
                <a:cs typeface="Times New Roman" panose="02020603050405020304" pitchFamily="18" charset="0"/>
              </a:rPr>
              <a:t>，</a:t>
            </a:r>
            <a:endParaRPr lang="en-US" altLang="zh-CN" sz="2400" b="1">
              <a:latin typeface="宋体" pitchFamily="2" charset="-122"/>
              <a:ea typeface="宋体" pitchFamily="2" charset="-122"/>
              <a:cs typeface="Times New Roman" panose="02020603050405020304" pitchFamily="18" charset="0"/>
            </a:endParaRPr>
          </a:p>
          <a:p>
            <a:pPr marL="342900" indent="-342900">
              <a:lnSpc>
                <a:spcPct val="150000"/>
              </a:lnSpc>
              <a:spcBef>
                <a:spcPts val="672"/>
              </a:spcBef>
              <a:buFont typeface="Wingdings" panose="05000000000000000000" pitchFamily="2" charset="2"/>
              <a:buChar char="§"/>
            </a:pPr>
            <a:r>
              <a:rPr lang="zh-CN" altLang="en-US" sz="2400" b="1">
                <a:latin typeface="宋体" pitchFamily="2" charset="-122"/>
                <a:ea typeface="宋体" pitchFamily="2" charset="-122"/>
                <a:cs typeface="Times New Roman" panose="02020603050405020304" pitchFamily="18" charset="0"/>
              </a:rPr>
              <a:t>被</a:t>
            </a:r>
            <a:r>
              <a:rPr lang="zh-CN" altLang="en-US" sz="2400" b="1" dirty="0">
                <a:latin typeface="宋体" pitchFamily="2" charset="-122"/>
                <a:ea typeface="宋体" pitchFamily="2" charset="-122"/>
                <a:cs typeface="Times New Roman" panose="02020603050405020304" pitchFamily="18" charset="0"/>
              </a:rPr>
              <a:t>广泛应用于工业检测中。</a:t>
            </a:r>
          </a:p>
        </p:txBody>
      </p:sp>
      <p:sp>
        <p:nvSpPr>
          <p:cNvPr id="26" name="矩形 25">
            <a:extLst>
              <a:ext uri="{FF2B5EF4-FFF2-40B4-BE49-F238E27FC236}">
                <a16:creationId xmlns:a16="http://schemas.microsoft.com/office/drawing/2014/main" id="{64509930-9DFB-420E-8F32-960E50399825}"/>
              </a:ext>
            </a:extLst>
          </p:cNvPr>
          <p:cNvSpPr/>
          <p:nvPr/>
        </p:nvSpPr>
        <p:spPr>
          <a:xfrm>
            <a:off x="1571711" y="258777"/>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7" name="圆角矩形 43">
            <a:extLst>
              <a:ext uri="{FF2B5EF4-FFF2-40B4-BE49-F238E27FC236}">
                <a16:creationId xmlns:a16="http://schemas.microsoft.com/office/drawing/2014/main" id="{7D086454-5B10-4064-9B8F-531209592F7E}"/>
              </a:ext>
            </a:extLst>
          </p:cNvPr>
          <p:cNvSpPr/>
          <p:nvPr/>
        </p:nvSpPr>
        <p:spPr>
          <a:xfrm rot="10800000" flipV="1">
            <a:off x="185084" y="242948"/>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20204" pitchFamily="34" charset="0"/>
                <a:ea typeface="宋体" panose="02010600030101010101" pitchFamily="2" charset="-122"/>
                <a:cs typeface="Arial" panose="020B0604020202020204" pitchFamily="34" charset="0"/>
              </a:rPr>
              <a:t>9.3.1</a:t>
            </a:r>
            <a:endParaRPr lang="zh-CN" altLang="en-US" sz="3200" b="1" dirty="0">
              <a:latin typeface="Arial" panose="020B0604020202020204" pitchFamily="34" charset="0"/>
              <a:ea typeface="宋体" panose="02010600030101010101" pitchFamily="2" charset="-122"/>
              <a:cs typeface="Arial" panose="020B0604020202020204" pitchFamily="34" charset="0"/>
            </a:endParaRPr>
          </a:p>
        </p:txBody>
      </p:sp>
      <p:sp>
        <p:nvSpPr>
          <p:cNvPr id="38" name="矩形 37">
            <a:extLst>
              <a:ext uri="{FF2B5EF4-FFF2-40B4-BE49-F238E27FC236}">
                <a16:creationId xmlns:a16="http://schemas.microsoft.com/office/drawing/2014/main" id="{2A2F604C-DA27-459E-8419-ED777356D653}"/>
              </a:ext>
            </a:extLst>
          </p:cNvPr>
          <p:cNvSpPr/>
          <p:nvPr/>
        </p:nvSpPr>
        <p:spPr>
          <a:xfrm>
            <a:off x="1932993" y="240301"/>
            <a:ext cx="3905228" cy="615549"/>
          </a:xfrm>
          <a:prstGeom prst="rect">
            <a:avLst/>
          </a:prstGeom>
        </p:spPr>
        <p:txBody>
          <a:bodyPr wrap="none" lIns="91436" tIns="45718" rIns="91436" bIns="45718">
            <a:spAutoFit/>
          </a:bodyPr>
          <a:lstStyle/>
          <a:p>
            <a:pPr algn="ctr"/>
            <a:r>
              <a:rPr lang="zh-CN" altLang="en-US" sz="3400" b="1" dirty="0">
                <a:solidFill>
                  <a:schemeClr val="bg1"/>
                </a:solidFill>
                <a:latin typeface="宋体" panose="02010600030101010101" pitchFamily="2" charset="-122"/>
                <a:ea typeface="宋体" panose="02010600030101010101" pitchFamily="2" charset="-122"/>
              </a:rPr>
              <a:t>超</a:t>
            </a:r>
            <a:r>
              <a:rPr lang="en-US" altLang="zh-CN" sz="3400" b="1" dirty="0">
                <a:solidFill>
                  <a:schemeClr val="bg1"/>
                </a:solidFill>
                <a:latin typeface="宋体" panose="02010600030101010101" pitchFamily="2" charset="-122"/>
                <a:ea typeface="宋体" panose="02010600030101010101" pitchFamily="2" charset="-122"/>
              </a:rPr>
              <a:t>/</a:t>
            </a:r>
            <a:r>
              <a:rPr lang="zh-CN" altLang="en-US" sz="3400" b="1" dirty="0">
                <a:solidFill>
                  <a:schemeClr val="bg1"/>
                </a:solidFill>
                <a:latin typeface="宋体" panose="02010600030101010101" pitchFamily="2" charset="-122"/>
                <a:ea typeface="宋体" panose="02010600030101010101" pitchFamily="2" charset="-122"/>
              </a:rPr>
              <a:t>次声波及其特征</a:t>
            </a:r>
            <a:endParaRPr lang="en-US" altLang="zh-CN" sz="3400" b="1" dirty="0">
              <a:solidFill>
                <a:schemeClr val="bg1"/>
              </a:solidFill>
              <a:latin typeface="宋体" panose="02010600030101010101" pitchFamily="2" charset="-122"/>
              <a:ea typeface="宋体" panose="02010600030101010101" pitchFamily="2" charset="-122"/>
            </a:endParaRPr>
          </a:p>
        </p:txBody>
      </p:sp>
      <p:sp>
        <p:nvSpPr>
          <p:cNvPr id="3" name="Slide Number Placeholder 2">
            <a:extLst>
              <a:ext uri="{FF2B5EF4-FFF2-40B4-BE49-F238E27FC236}">
                <a16:creationId xmlns:a16="http://schemas.microsoft.com/office/drawing/2014/main" id="{A1500EEB-6753-4672-B465-550E8F4463F7}"/>
              </a:ext>
            </a:extLst>
          </p:cNvPr>
          <p:cNvSpPr>
            <a:spLocks noGrp="1"/>
          </p:cNvSpPr>
          <p:nvPr>
            <p:ph type="sldNum" sz="quarter" idx="12"/>
          </p:nvPr>
        </p:nvSpPr>
        <p:spPr/>
        <p:txBody>
          <a:bodyPr/>
          <a:lstStyle/>
          <a:p>
            <a:fld id="{B53602B4-F12B-41CD-B648-531F86B2CC91}" type="slidenum">
              <a:rPr lang="zh-CN" altLang="en-US" smtClean="0"/>
              <a:t>28</a:t>
            </a:fld>
            <a:endParaRPr lang="zh-CN" altLang="en-US"/>
          </a:p>
        </p:txBody>
      </p:sp>
    </p:spTree>
    <p:extLst>
      <p:ext uri="{BB962C8B-B14F-4D97-AF65-F5344CB8AC3E}">
        <p14:creationId xmlns:p14="http://schemas.microsoft.com/office/powerpoint/2010/main" val="2158174310"/>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37885" y="1578429"/>
            <a:ext cx="8868229" cy="4153058"/>
          </a:xfrm>
          <a:prstGeom prst="rect">
            <a:avLst/>
          </a:prstGeom>
        </p:spPr>
        <p:txBody>
          <a:bodyPr wrap="square" lIns="91438" tIns="45719" rIns="91438" bIns="45719">
            <a:spAutoFit/>
          </a:bodyPr>
          <a:lstStyle/>
          <a:p>
            <a:pPr>
              <a:lnSpc>
                <a:spcPct val="150000"/>
              </a:lnSpc>
              <a:spcBef>
                <a:spcPts val="672"/>
              </a:spcBef>
            </a:pPr>
            <a:r>
              <a:rPr lang="en-US" altLang="zh-CN" sz="2400" b="1" dirty="0">
                <a:latin typeface="宋体" pitchFamily="2" charset="-122"/>
                <a:ea typeface="宋体" pitchFamily="2" charset="-122"/>
                <a:cs typeface="Times New Roman" panose="02020603050405020304" pitchFamily="18" charset="0"/>
              </a:rPr>
              <a:t>2.</a:t>
            </a:r>
            <a:r>
              <a:rPr lang="zh-CN" altLang="en-US" sz="2400" b="1" dirty="0">
                <a:latin typeface="宋体" pitchFamily="2" charset="-122"/>
                <a:ea typeface="宋体" pitchFamily="2" charset="-122"/>
                <a:cs typeface="Times New Roman" panose="02020603050405020304" pitchFamily="18" charset="0"/>
              </a:rPr>
              <a:t>超声波的传播速度</a:t>
            </a:r>
          </a:p>
          <a:p>
            <a:pPr>
              <a:lnSpc>
                <a:spcPct val="150000"/>
              </a:lnSpc>
              <a:spcBef>
                <a:spcPts val="672"/>
              </a:spcBef>
            </a:pPr>
            <a:r>
              <a:rPr lang="zh-CN" altLang="en-US" sz="2400" b="1" dirty="0">
                <a:latin typeface="宋体" pitchFamily="2" charset="-122"/>
                <a:ea typeface="宋体" pitchFamily="2" charset="-122"/>
                <a:cs typeface="Times New Roman" panose="02020603050405020304" pitchFamily="18" charset="0"/>
              </a:rPr>
              <a:t>纵波、横波及表面波的传播速度，取决于</a:t>
            </a:r>
            <a:r>
              <a:rPr lang="zh-CN" altLang="en-US" sz="2400" b="1" dirty="0">
                <a:solidFill>
                  <a:srgbClr val="FF0000"/>
                </a:solidFill>
                <a:latin typeface="宋体" pitchFamily="2" charset="-122"/>
                <a:ea typeface="宋体" pitchFamily="2" charset="-122"/>
                <a:cs typeface="Times New Roman" panose="02020603050405020304" pitchFamily="18" charset="0"/>
              </a:rPr>
              <a:t>介质的弹性常</a:t>
            </a:r>
            <a:r>
              <a:rPr lang="zh-CN" altLang="en-US" sz="2400" b="1">
                <a:solidFill>
                  <a:srgbClr val="FF0000"/>
                </a:solidFill>
                <a:latin typeface="宋体" pitchFamily="2" charset="-122"/>
                <a:ea typeface="宋体" pitchFamily="2" charset="-122"/>
                <a:cs typeface="Times New Roman" panose="02020603050405020304" pitchFamily="18" charset="0"/>
              </a:rPr>
              <a:t>数和密</a:t>
            </a:r>
            <a:r>
              <a:rPr lang="zh-CN" altLang="en-US" sz="2400" b="1" dirty="0">
                <a:solidFill>
                  <a:srgbClr val="FF0000"/>
                </a:solidFill>
                <a:latin typeface="宋体" pitchFamily="2" charset="-122"/>
                <a:ea typeface="宋体" pitchFamily="2" charset="-122"/>
                <a:cs typeface="Times New Roman" panose="02020603050405020304" pitchFamily="18" charset="0"/>
              </a:rPr>
              <a:t>度</a:t>
            </a:r>
            <a:r>
              <a:rPr lang="zh-CN" altLang="en-US" sz="2400" b="1" dirty="0">
                <a:latin typeface="宋体" pitchFamily="2" charset="-122"/>
                <a:ea typeface="宋体" pitchFamily="2" charset="-122"/>
                <a:cs typeface="Times New Roman" panose="02020603050405020304" pitchFamily="18" charset="0"/>
              </a:rPr>
              <a:t>。</a:t>
            </a:r>
            <a:endParaRPr lang="en-US" altLang="zh-CN" sz="2400" b="1" dirty="0">
              <a:latin typeface="宋体" pitchFamily="2" charset="-122"/>
              <a:ea typeface="宋体" pitchFamily="2" charset="-122"/>
              <a:cs typeface="Times New Roman" panose="02020603050405020304" pitchFamily="18" charset="0"/>
            </a:endParaRPr>
          </a:p>
          <a:p>
            <a:pPr>
              <a:lnSpc>
                <a:spcPct val="150000"/>
              </a:lnSpc>
              <a:spcBef>
                <a:spcPts val="672"/>
              </a:spcBef>
            </a:pPr>
            <a:r>
              <a:rPr lang="zh-CN" altLang="en-US" sz="2400" b="1" dirty="0">
                <a:solidFill>
                  <a:srgbClr val="C00000"/>
                </a:solidFill>
                <a:latin typeface="宋体" pitchFamily="2" charset="-122"/>
                <a:ea typeface="宋体" pitchFamily="2" charset="-122"/>
                <a:cs typeface="Times New Roman" panose="02020603050405020304" pitchFamily="18" charset="0"/>
              </a:rPr>
              <a:t>气体和液体中只能传播纵波</a:t>
            </a:r>
            <a:r>
              <a:rPr lang="zh-CN" altLang="en-US" sz="2400" b="1" dirty="0">
                <a:latin typeface="宋体" pitchFamily="2" charset="-122"/>
                <a:ea typeface="宋体" pitchFamily="2" charset="-122"/>
                <a:cs typeface="Times New Roman" panose="02020603050405020304" pitchFamily="18" charset="0"/>
              </a:rPr>
              <a:t>，气体中声速为</a:t>
            </a:r>
            <a:r>
              <a:rPr lang="en-US" altLang="zh-CN" sz="2400" b="1" dirty="0">
                <a:latin typeface="宋体" pitchFamily="2" charset="-122"/>
                <a:ea typeface="宋体" pitchFamily="2" charset="-122"/>
                <a:cs typeface="Times New Roman" panose="02020603050405020304" pitchFamily="18" charset="0"/>
              </a:rPr>
              <a:t>344m/s</a:t>
            </a:r>
            <a:r>
              <a:rPr lang="zh-CN" altLang="en-US" sz="2400" b="1" dirty="0">
                <a:latin typeface="宋体" pitchFamily="2" charset="-122"/>
                <a:ea typeface="宋体" pitchFamily="2" charset="-122"/>
                <a:cs typeface="Times New Roman" panose="02020603050405020304" pitchFamily="18" charset="0"/>
              </a:rPr>
              <a:t>，液体中声速为</a:t>
            </a:r>
            <a:r>
              <a:rPr lang="en-US" altLang="zh-CN" sz="2400" b="1" dirty="0">
                <a:latin typeface="宋体" pitchFamily="2" charset="-122"/>
                <a:ea typeface="宋体" pitchFamily="2" charset="-122"/>
                <a:cs typeface="Times New Roman" panose="02020603050405020304" pitchFamily="18" charset="0"/>
              </a:rPr>
              <a:t>900</a:t>
            </a:r>
            <a:r>
              <a:rPr lang="en-US" altLang="zh-CN" sz="2400" b="1" dirty="0">
                <a:latin typeface="Times New Roman" pitchFamily="18" charset="0"/>
                <a:ea typeface="宋体" pitchFamily="2" charset="-122"/>
                <a:cs typeface="Times New Roman" pitchFamily="18" charset="0"/>
              </a:rPr>
              <a:t>~</a:t>
            </a:r>
            <a:r>
              <a:rPr lang="en-US" altLang="zh-CN" sz="2400" b="1" dirty="0">
                <a:latin typeface="宋体" pitchFamily="2" charset="-122"/>
                <a:ea typeface="宋体" pitchFamily="2" charset="-122"/>
                <a:cs typeface="Times New Roman" panose="02020603050405020304" pitchFamily="18" charset="0"/>
              </a:rPr>
              <a:t>1900m/</a:t>
            </a:r>
            <a:r>
              <a:rPr lang="en-US" altLang="zh-CN" sz="2400" b="1">
                <a:latin typeface="宋体" pitchFamily="2" charset="-122"/>
                <a:ea typeface="宋体" pitchFamily="2" charset="-122"/>
                <a:cs typeface="Times New Roman" panose="02020603050405020304" pitchFamily="18" charset="0"/>
              </a:rPr>
              <a:t>s</a:t>
            </a:r>
            <a:r>
              <a:rPr lang="zh-CN" altLang="en-US" sz="2400" b="1">
                <a:latin typeface="宋体" pitchFamily="2" charset="-122"/>
                <a:ea typeface="宋体" pitchFamily="2" charset="-122"/>
                <a:cs typeface="Times New Roman" panose="02020603050405020304" pitchFamily="18" charset="0"/>
              </a:rPr>
              <a:t>。</a:t>
            </a:r>
            <a:endParaRPr lang="en-US" altLang="zh-CN" sz="2400" b="1">
              <a:latin typeface="宋体" pitchFamily="2" charset="-122"/>
              <a:ea typeface="宋体" pitchFamily="2" charset="-122"/>
              <a:cs typeface="Times New Roman" panose="02020603050405020304" pitchFamily="18" charset="0"/>
            </a:endParaRPr>
          </a:p>
          <a:p>
            <a:pPr>
              <a:lnSpc>
                <a:spcPct val="150000"/>
              </a:lnSpc>
              <a:spcBef>
                <a:spcPts val="672"/>
              </a:spcBef>
            </a:pPr>
            <a:r>
              <a:rPr lang="zh-CN" altLang="en-US" sz="2400" b="1">
                <a:latin typeface="宋体" pitchFamily="2" charset="-122"/>
                <a:ea typeface="宋体" pitchFamily="2" charset="-122"/>
                <a:cs typeface="Times New Roman" panose="02020603050405020304" pitchFamily="18" charset="0"/>
              </a:rPr>
              <a:t>固</a:t>
            </a:r>
            <a:r>
              <a:rPr lang="zh-CN" altLang="en-US" sz="2400" b="1" dirty="0">
                <a:latin typeface="宋体" pitchFamily="2" charset="-122"/>
                <a:ea typeface="宋体" pitchFamily="2" charset="-122"/>
                <a:cs typeface="Times New Roman" panose="02020603050405020304" pitchFamily="18" charset="0"/>
              </a:rPr>
              <a:t>体中声速一般大于</a:t>
            </a:r>
            <a:r>
              <a:rPr lang="en-US" altLang="zh-CN" sz="2400" b="1" dirty="0">
                <a:latin typeface="宋体" pitchFamily="2" charset="-122"/>
                <a:ea typeface="宋体" pitchFamily="2" charset="-122"/>
                <a:cs typeface="Times New Roman" panose="02020603050405020304" pitchFamily="18" charset="0"/>
              </a:rPr>
              <a:t>3000m/s</a:t>
            </a:r>
            <a:r>
              <a:rPr lang="zh-CN" altLang="en-US" sz="2400" b="1" dirty="0">
                <a:latin typeface="宋体" pitchFamily="2" charset="-122"/>
                <a:ea typeface="宋体" pitchFamily="2" charset="-122"/>
                <a:cs typeface="Times New Roman" panose="02020603050405020304" pitchFamily="18" charset="0"/>
              </a:rPr>
              <a:t>。在固体中，纵波、横波和表面波三者的声速成一定关系。通常可认为横波声速为纵波声速的一半，表面波声速约为横波声速的</a:t>
            </a:r>
            <a:r>
              <a:rPr lang="en-US" altLang="zh-CN" sz="2400" b="1" dirty="0">
                <a:latin typeface="宋体" pitchFamily="2" charset="-122"/>
                <a:ea typeface="宋体" pitchFamily="2" charset="-122"/>
                <a:cs typeface="Times New Roman" panose="02020603050405020304" pitchFamily="18" charset="0"/>
              </a:rPr>
              <a:t>90%</a:t>
            </a:r>
            <a:r>
              <a:rPr lang="zh-CN" altLang="en-US" sz="2400" b="1" dirty="0">
                <a:latin typeface="宋体" pitchFamily="2" charset="-122"/>
                <a:ea typeface="宋体" pitchFamily="2" charset="-122"/>
                <a:cs typeface="Times New Roman" panose="02020603050405020304" pitchFamily="18" charset="0"/>
              </a:rPr>
              <a:t>。</a:t>
            </a:r>
          </a:p>
        </p:txBody>
      </p:sp>
      <p:sp>
        <p:nvSpPr>
          <p:cNvPr id="28" name="矩形 27">
            <a:extLst>
              <a:ext uri="{FF2B5EF4-FFF2-40B4-BE49-F238E27FC236}">
                <a16:creationId xmlns:a16="http://schemas.microsoft.com/office/drawing/2014/main" id="{64509930-9DFB-420E-8F32-960E50399825}"/>
              </a:ext>
            </a:extLst>
          </p:cNvPr>
          <p:cNvSpPr/>
          <p:nvPr/>
        </p:nvSpPr>
        <p:spPr>
          <a:xfrm>
            <a:off x="1571711" y="258777"/>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 name="圆角矩形 43">
            <a:extLst>
              <a:ext uri="{FF2B5EF4-FFF2-40B4-BE49-F238E27FC236}">
                <a16:creationId xmlns:a16="http://schemas.microsoft.com/office/drawing/2014/main" id="{7D086454-5B10-4064-9B8F-531209592F7E}"/>
              </a:ext>
            </a:extLst>
          </p:cNvPr>
          <p:cNvSpPr/>
          <p:nvPr/>
        </p:nvSpPr>
        <p:spPr>
          <a:xfrm rot="10800000" flipV="1">
            <a:off x="185084" y="242948"/>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20204" pitchFamily="34" charset="0"/>
                <a:ea typeface="宋体" panose="02010600030101010101" pitchFamily="2" charset="-122"/>
                <a:cs typeface="Arial" panose="020B0604020202020204" pitchFamily="34" charset="0"/>
              </a:rPr>
              <a:t>9.3.1</a:t>
            </a:r>
            <a:endParaRPr lang="zh-CN" altLang="en-US" sz="3200" b="1" dirty="0">
              <a:latin typeface="Arial" panose="020B0604020202020204" pitchFamily="34" charset="0"/>
              <a:ea typeface="宋体" panose="02010600030101010101" pitchFamily="2" charset="-122"/>
              <a:cs typeface="Arial" panose="020B0604020202020204" pitchFamily="34" charset="0"/>
            </a:endParaRPr>
          </a:p>
        </p:txBody>
      </p:sp>
      <p:sp>
        <p:nvSpPr>
          <p:cNvPr id="40" name="矩形 39">
            <a:extLst>
              <a:ext uri="{FF2B5EF4-FFF2-40B4-BE49-F238E27FC236}">
                <a16:creationId xmlns:a16="http://schemas.microsoft.com/office/drawing/2014/main" id="{2A2F604C-DA27-459E-8419-ED777356D653}"/>
              </a:ext>
            </a:extLst>
          </p:cNvPr>
          <p:cNvSpPr/>
          <p:nvPr/>
        </p:nvSpPr>
        <p:spPr>
          <a:xfrm>
            <a:off x="1932993" y="240301"/>
            <a:ext cx="3905228" cy="615549"/>
          </a:xfrm>
          <a:prstGeom prst="rect">
            <a:avLst/>
          </a:prstGeom>
        </p:spPr>
        <p:txBody>
          <a:bodyPr wrap="none" lIns="91436" tIns="45718" rIns="91436" bIns="45718">
            <a:spAutoFit/>
          </a:bodyPr>
          <a:lstStyle/>
          <a:p>
            <a:pPr algn="ctr"/>
            <a:r>
              <a:rPr lang="zh-CN" altLang="en-US" sz="3400" b="1" dirty="0">
                <a:solidFill>
                  <a:schemeClr val="bg1"/>
                </a:solidFill>
                <a:latin typeface="宋体" panose="02010600030101010101" pitchFamily="2" charset="-122"/>
                <a:ea typeface="宋体" panose="02010600030101010101" pitchFamily="2" charset="-122"/>
              </a:rPr>
              <a:t>超</a:t>
            </a:r>
            <a:r>
              <a:rPr lang="en-US" altLang="zh-CN" sz="3400" b="1" dirty="0">
                <a:solidFill>
                  <a:schemeClr val="bg1"/>
                </a:solidFill>
                <a:latin typeface="宋体" panose="02010600030101010101" pitchFamily="2" charset="-122"/>
                <a:ea typeface="宋体" panose="02010600030101010101" pitchFamily="2" charset="-122"/>
              </a:rPr>
              <a:t>/</a:t>
            </a:r>
            <a:r>
              <a:rPr lang="zh-CN" altLang="en-US" sz="3400" b="1" dirty="0">
                <a:solidFill>
                  <a:schemeClr val="bg1"/>
                </a:solidFill>
                <a:latin typeface="宋体" panose="02010600030101010101" pitchFamily="2" charset="-122"/>
                <a:ea typeface="宋体" panose="02010600030101010101" pitchFamily="2" charset="-122"/>
              </a:rPr>
              <a:t>次声波及其特征</a:t>
            </a:r>
            <a:endParaRPr lang="en-US" altLang="zh-CN" sz="3400" b="1" dirty="0">
              <a:solidFill>
                <a:schemeClr val="bg1"/>
              </a:solidFill>
              <a:latin typeface="宋体" panose="02010600030101010101" pitchFamily="2" charset="-122"/>
              <a:ea typeface="宋体" panose="02010600030101010101" pitchFamily="2" charset="-122"/>
            </a:endParaRPr>
          </a:p>
        </p:txBody>
      </p:sp>
      <p:sp>
        <p:nvSpPr>
          <p:cNvPr id="3" name="Slide Number Placeholder 2">
            <a:extLst>
              <a:ext uri="{FF2B5EF4-FFF2-40B4-BE49-F238E27FC236}">
                <a16:creationId xmlns:a16="http://schemas.microsoft.com/office/drawing/2014/main" id="{EBA70A57-C3E1-4E29-944D-088DE743741C}"/>
              </a:ext>
            </a:extLst>
          </p:cNvPr>
          <p:cNvSpPr>
            <a:spLocks noGrp="1"/>
          </p:cNvSpPr>
          <p:nvPr>
            <p:ph type="sldNum" sz="quarter" idx="12"/>
          </p:nvPr>
        </p:nvSpPr>
        <p:spPr/>
        <p:txBody>
          <a:bodyPr/>
          <a:lstStyle/>
          <a:p>
            <a:fld id="{B53602B4-F12B-41CD-B648-531F86B2CC91}" type="slidenum">
              <a:rPr lang="zh-CN" altLang="en-US" smtClean="0"/>
              <a:t>29</a:t>
            </a:fld>
            <a:endParaRPr lang="zh-CN" altLang="en-US"/>
          </a:p>
        </p:txBody>
      </p:sp>
    </p:spTree>
    <p:extLst>
      <p:ext uri="{BB962C8B-B14F-4D97-AF65-F5344CB8AC3E}">
        <p14:creationId xmlns:p14="http://schemas.microsoft.com/office/powerpoint/2010/main" val="1579189371"/>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83029" y="1251845"/>
            <a:ext cx="8512628" cy="4883386"/>
          </a:xfrm>
          <a:prstGeom prst="rect">
            <a:avLst/>
          </a:prstGeom>
        </p:spPr>
        <p:txBody>
          <a:bodyPr wrap="square" lIns="91438" tIns="45719" rIns="91438" bIns="45719">
            <a:spAutoFit/>
          </a:bodyPr>
          <a:lstStyle/>
          <a:p>
            <a:pPr>
              <a:lnSpc>
                <a:spcPct val="150000"/>
              </a:lnSpc>
              <a:spcBef>
                <a:spcPts val="672"/>
              </a:spcBef>
            </a:pPr>
            <a:r>
              <a:rPr lang="en-US" altLang="zh-CN" sz="2400" b="1" dirty="0">
                <a:latin typeface="宋体" pitchFamily="2" charset="-122"/>
                <a:ea typeface="宋体" pitchFamily="2" charset="-122"/>
                <a:cs typeface="Times New Roman" panose="02020603050405020304" pitchFamily="18" charset="0"/>
              </a:rPr>
              <a:t>3.</a:t>
            </a:r>
            <a:r>
              <a:rPr lang="zh-CN" altLang="en-US" sz="2400" b="1" dirty="0">
                <a:latin typeface="宋体" pitchFamily="2" charset="-122"/>
                <a:ea typeface="宋体" pitchFamily="2" charset="-122"/>
                <a:cs typeface="Times New Roman" panose="02020603050405020304" pitchFamily="18" charset="0"/>
              </a:rPr>
              <a:t>次声波及其特性</a:t>
            </a:r>
          </a:p>
          <a:p>
            <a:pPr indent="627063">
              <a:lnSpc>
                <a:spcPct val="150000"/>
              </a:lnSpc>
              <a:spcBef>
                <a:spcPts val="672"/>
              </a:spcBef>
            </a:pPr>
            <a:r>
              <a:rPr lang="zh-CN" altLang="en-US" sz="2400" b="1" dirty="0">
                <a:latin typeface="宋体" pitchFamily="2" charset="-122"/>
                <a:ea typeface="宋体" pitchFamily="2" charset="-122"/>
                <a:cs typeface="Times New Roman" panose="02020603050405020304" pitchFamily="18" charset="0"/>
              </a:rPr>
              <a:t>频率很低，在</a:t>
            </a:r>
            <a:r>
              <a:rPr lang="en-US" altLang="zh-CN" sz="2400" b="1" dirty="0">
                <a:latin typeface="宋体" pitchFamily="2" charset="-122"/>
                <a:ea typeface="宋体" pitchFamily="2" charset="-122"/>
                <a:cs typeface="Times New Roman" panose="02020603050405020304" pitchFamily="18" charset="0"/>
              </a:rPr>
              <a:t>10</a:t>
            </a:r>
            <a:r>
              <a:rPr lang="en-US" altLang="zh-CN" sz="2400" b="1" baseline="30000" dirty="0">
                <a:latin typeface="宋体" pitchFamily="2" charset="-122"/>
                <a:ea typeface="宋体" pitchFamily="2" charset="-122"/>
                <a:cs typeface="Times New Roman" panose="02020603050405020304" pitchFamily="18" charset="0"/>
              </a:rPr>
              <a:t>-4</a:t>
            </a:r>
            <a:r>
              <a:rPr lang="en-US" altLang="zh-CN" sz="2400" b="1" dirty="0">
                <a:latin typeface="Times New Roman" pitchFamily="18" charset="0"/>
                <a:ea typeface="宋体" pitchFamily="2" charset="-122"/>
                <a:cs typeface="Times New Roman" pitchFamily="18" charset="0"/>
              </a:rPr>
              <a:t>~</a:t>
            </a:r>
            <a:r>
              <a:rPr lang="en-US" altLang="zh-CN" sz="2400" b="1" dirty="0">
                <a:latin typeface="宋体" pitchFamily="2" charset="-122"/>
                <a:ea typeface="宋体" pitchFamily="2" charset="-122"/>
                <a:cs typeface="Times New Roman" panose="02020603050405020304" pitchFamily="18" charset="0"/>
              </a:rPr>
              <a:t>16Hz</a:t>
            </a:r>
            <a:r>
              <a:rPr lang="zh-CN" altLang="en-US" sz="2400" b="1" dirty="0">
                <a:latin typeface="宋体" pitchFamily="2" charset="-122"/>
                <a:ea typeface="宋体" pitchFamily="2" charset="-122"/>
                <a:cs typeface="Times New Roman" panose="02020603050405020304" pitchFamily="18" charset="0"/>
              </a:rPr>
              <a:t>之间。</a:t>
            </a:r>
            <a:endParaRPr lang="en-US" altLang="zh-CN" sz="2400" b="1" dirty="0">
              <a:latin typeface="宋体" pitchFamily="2" charset="-122"/>
              <a:ea typeface="宋体" pitchFamily="2" charset="-122"/>
              <a:cs typeface="Times New Roman" panose="02020603050405020304" pitchFamily="18" charset="0"/>
            </a:endParaRPr>
          </a:p>
          <a:p>
            <a:pPr>
              <a:lnSpc>
                <a:spcPct val="150000"/>
              </a:lnSpc>
              <a:spcBef>
                <a:spcPts val="672"/>
              </a:spcBef>
            </a:pPr>
            <a:r>
              <a:rPr lang="en-US" altLang="zh-CN" sz="2400" b="1" dirty="0">
                <a:latin typeface="宋体" pitchFamily="2" charset="-122"/>
                <a:ea typeface="宋体" pitchFamily="2" charset="-122"/>
                <a:cs typeface="Times New Roman" panose="02020603050405020304" pitchFamily="18" charset="0"/>
              </a:rPr>
              <a:t> (1)</a:t>
            </a:r>
            <a:r>
              <a:rPr lang="zh-CN" altLang="en-US" sz="2400" b="1" dirty="0">
                <a:solidFill>
                  <a:srgbClr val="FF0000"/>
                </a:solidFill>
                <a:latin typeface="宋体" pitchFamily="2" charset="-122"/>
                <a:ea typeface="宋体" pitchFamily="2" charset="-122"/>
                <a:cs typeface="Times New Roman" panose="02020603050405020304" pitchFamily="18" charset="0"/>
              </a:rPr>
              <a:t>传播快</a:t>
            </a:r>
            <a:r>
              <a:rPr lang="zh-CN" altLang="en-US" sz="2400" b="1" dirty="0">
                <a:latin typeface="宋体" pitchFamily="2" charset="-122"/>
                <a:ea typeface="宋体" pitchFamily="2" charset="-122"/>
                <a:cs typeface="Times New Roman" panose="02020603050405020304" pitchFamily="18" charset="0"/>
              </a:rPr>
              <a:t>。空气中的传播速度为</a:t>
            </a:r>
            <a:r>
              <a:rPr lang="en-US" altLang="zh-CN" sz="2400" b="1" dirty="0">
                <a:latin typeface="宋体" pitchFamily="2" charset="-122"/>
                <a:ea typeface="宋体" pitchFamily="2" charset="-122"/>
                <a:cs typeface="Times New Roman" panose="02020603050405020304" pitchFamily="18" charset="0"/>
              </a:rPr>
              <a:t>300m/s</a:t>
            </a:r>
            <a:r>
              <a:rPr lang="zh-CN" altLang="en-US" sz="2400" b="1" dirty="0">
                <a:latin typeface="宋体" pitchFamily="2" charset="-122"/>
                <a:ea typeface="宋体" pitchFamily="2" charset="-122"/>
                <a:cs typeface="Times New Roman" panose="02020603050405020304" pitchFamily="18" charset="0"/>
              </a:rPr>
              <a:t>以上，水中传播速度可达</a:t>
            </a:r>
            <a:r>
              <a:rPr lang="en-US" altLang="zh-CN" sz="2400" b="1" dirty="0">
                <a:latin typeface="宋体" pitchFamily="2" charset="-122"/>
                <a:ea typeface="宋体" pitchFamily="2" charset="-122"/>
                <a:cs typeface="Times New Roman" panose="02020603050405020304" pitchFamily="18" charset="0"/>
              </a:rPr>
              <a:t>1500m/s</a:t>
            </a:r>
            <a:r>
              <a:rPr lang="zh-CN" altLang="en-US" sz="2400" b="1" dirty="0">
                <a:latin typeface="宋体" pitchFamily="2" charset="-122"/>
                <a:ea typeface="宋体" pitchFamily="2" charset="-122"/>
                <a:cs typeface="Times New Roman" panose="02020603050405020304" pitchFamily="18" charset="0"/>
              </a:rPr>
              <a:t>左右。</a:t>
            </a:r>
          </a:p>
          <a:p>
            <a:pPr>
              <a:lnSpc>
                <a:spcPct val="150000"/>
              </a:lnSpc>
              <a:spcBef>
                <a:spcPts val="672"/>
              </a:spcBef>
            </a:pPr>
            <a:r>
              <a:rPr lang="en-US" altLang="zh-CN" sz="2400" b="1" dirty="0">
                <a:latin typeface="宋体" pitchFamily="2" charset="-122"/>
                <a:ea typeface="宋体" pitchFamily="2" charset="-122"/>
                <a:cs typeface="Times New Roman" panose="02020603050405020304" pitchFamily="18" charset="0"/>
              </a:rPr>
              <a:t>(2)</a:t>
            </a:r>
            <a:r>
              <a:rPr lang="zh-CN" altLang="en-US" sz="2400" b="1" dirty="0">
                <a:solidFill>
                  <a:srgbClr val="0070C0"/>
                </a:solidFill>
                <a:latin typeface="宋体" pitchFamily="2" charset="-122"/>
                <a:ea typeface="宋体" pitchFamily="2" charset="-122"/>
                <a:cs typeface="Times New Roman" panose="02020603050405020304" pitchFamily="18" charset="0"/>
              </a:rPr>
              <a:t>传播距离远</a:t>
            </a:r>
            <a:r>
              <a:rPr lang="zh-CN" altLang="en-US" sz="2400" b="1" dirty="0">
                <a:latin typeface="宋体" pitchFamily="2" charset="-122"/>
                <a:ea typeface="宋体" pitchFamily="2" charset="-122"/>
                <a:cs typeface="Times New Roman" panose="02020603050405020304" pitchFamily="18" charset="0"/>
              </a:rPr>
              <a:t>。衰减很小，大气中传播几千米衰减不到万分之几</a:t>
            </a:r>
            <a:r>
              <a:rPr lang="en-US" altLang="zh-CN" sz="2400" b="1" dirty="0">
                <a:latin typeface="宋体" pitchFamily="2" charset="-122"/>
                <a:ea typeface="宋体" pitchFamily="2" charset="-122"/>
                <a:cs typeface="Times New Roman" panose="02020603050405020304" pitchFamily="18" charset="0"/>
              </a:rPr>
              <a:t>dB</a:t>
            </a:r>
            <a:r>
              <a:rPr lang="zh-CN" altLang="en-US" sz="2400" b="1" dirty="0">
                <a:latin typeface="宋体" pitchFamily="2" charset="-122"/>
                <a:ea typeface="宋体" pitchFamily="2" charset="-122"/>
                <a:cs typeface="Times New Roman" panose="02020603050405020304" pitchFamily="18" charset="0"/>
              </a:rPr>
              <a:t>，在空气、地面等介质中传播很远。</a:t>
            </a:r>
          </a:p>
          <a:p>
            <a:pPr>
              <a:lnSpc>
                <a:spcPct val="150000"/>
              </a:lnSpc>
              <a:spcBef>
                <a:spcPts val="672"/>
              </a:spcBef>
            </a:pPr>
            <a:r>
              <a:rPr lang="en-US" altLang="zh-CN" sz="2400" b="1" dirty="0">
                <a:latin typeface="宋体" pitchFamily="2" charset="-122"/>
                <a:ea typeface="宋体" pitchFamily="2" charset="-122"/>
                <a:cs typeface="Times New Roman" panose="02020603050405020304" pitchFamily="18" charset="0"/>
              </a:rPr>
              <a:t>(3)</a:t>
            </a:r>
            <a:r>
              <a:rPr lang="zh-CN" altLang="en-US" sz="2400" b="1" dirty="0">
                <a:solidFill>
                  <a:srgbClr val="7030A0"/>
                </a:solidFill>
                <a:latin typeface="宋体" pitchFamily="2" charset="-122"/>
                <a:ea typeface="宋体" pitchFamily="2" charset="-122"/>
                <a:cs typeface="Times New Roman" panose="02020603050405020304" pitchFamily="18" charset="0"/>
              </a:rPr>
              <a:t>穿透力强</a:t>
            </a:r>
            <a:r>
              <a:rPr lang="zh-CN" altLang="en-US" sz="2400" b="1" dirty="0">
                <a:latin typeface="宋体" pitchFamily="2" charset="-122"/>
                <a:ea typeface="宋体" pitchFamily="2" charset="-122"/>
                <a:cs typeface="Times New Roman" panose="02020603050405020304" pitchFamily="18" charset="0"/>
              </a:rPr>
              <a:t>。可闻声波用一堵墙可挡住；次声波波长较长，易发生衍射，绕过几十米厚的钢筋混凝土。</a:t>
            </a:r>
          </a:p>
        </p:txBody>
      </p:sp>
      <p:sp>
        <p:nvSpPr>
          <p:cNvPr id="28" name="矩形 27">
            <a:extLst>
              <a:ext uri="{FF2B5EF4-FFF2-40B4-BE49-F238E27FC236}">
                <a16:creationId xmlns:a16="http://schemas.microsoft.com/office/drawing/2014/main" id="{64509930-9DFB-420E-8F32-960E50399825}"/>
              </a:ext>
            </a:extLst>
          </p:cNvPr>
          <p:cNvSpPr/>
          <p:nvPr/>
        </p:nvSpPr>
        <p:spPr>
          <a:xfrm>
            <a:off x="1571711" y="258777"/>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 name="圆角矩形 43">
            <a:extLst>
              <a:ext uri="{FF2B5EF4-FFF2-40B4-BE49-F238E27FC236}">
                <a16:creationId xmlns:a16="http://schemas.microsoft.com/office/drawing/2014/main" id="{7D086454-5B10-4064-9B8F-531209592F7E}"/>
              </a:ext>
            </a:extLst>
          </p:cNvPr>
          <p:cNvSpPr/>
          <p:nvPr/>
        </p:nvSpPr>
        <p:spPr>
          <a:xfrm rot="10800000" flipV="1">
            <a:off x="185084" y="242948"/>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20204" pitchFamily="34" charset="0"/>
                <a:ea typeface="宋体" panose="02010600030101010101" pitchFamily="2" charset="-122"/>
                <a:cs typeface="Arial" panose="020B0604020202020204" pitchFamily="34" charset="0"/>
              </a:rPr>
              <a:t>9.3.1</a:t>
            </a:r>
            <a:endParaRPr lang="zh-CN" altLang="en-US" sz="3200" b="1" dirty="0">
              <a:latin typeface="Arial" panose="020B0604020202020204" pitchFamily="34" charset="0"/>
              <a:ea typeface="宋体" panose="02010600030101010101" pitchFamily="2" charset="-122"/>
              <a:cs typeface="Arial" panose="020B0604020202020204" pitchFamily="34" charset="0"/>
            </a:endParaRPr>
          </a:p>
        </p:txBody>
      </p:sp>
      <p:sp>
        <p:nvSpPr>
          <p:cNvPr id="40" name="矩形 39">
            <a:extLst>
              <a:ext uri="{FF2B5EF4-FFF2-40B4-BE49-F238E27FC236}">
                <a16:creationId xmlns:a16="http://schemas.microsoft.com/office/drawing/2014/main" id="{2A2F604C-DA27-459E-8419-ED777356D653}"/>
              </a:ext>
            </a:extLst>
          </p:cNvPr>
          <p:cNvSpPr/>
          <p:nvPr/>
        </p:nvSpPr>
        <p:spPr>
          <a:xfrm>
            <a:off x="1932993" y="240301"/>
            <a:ext cx="3905228" cy="615549"/>
          </a:xfrm>
          <a:prstGeom prst="rect">
            <a:avLst/>
          </a:prstGeom>
        </p:spPr>
        <p:txBody>
          <a:bodyPr wrap="none" lIns="91436" tIns="45718" rIns="91436" bIns="45718">
            <a:spAutoFit/>
          </a:bodyPr>
          <a:lstStyle/>
          <a:p>
            <a:pPr algn="ctr"/>
            <a:r>
              <a:rPr lang="zh-CN" altLang="en-US" sz="3400" b="1" dirty="0">
                <a:solidFill>
                  <a:schemeClr val="bg1"/>
                </a:solidFill>
                <a:latin typeface="宋体" panose="02010600030101010101" pitchFamily="2" charset="-122"/>
                <a:ea typeface="宋体" panose="02010600030101010101" pitchFamily="2" charset="-122"/>
              </a:rPr>
              <a:t>超</a:t>
            </a:r>
            <a:r>
              <a:rPr lang="en-US" altLang="zh-CN" sz="3400" b="1" dirty="0">
                <a:solidFill>
                  <a:schemeClr val="bg1"/>
                </a:solidFill>
                <a:latin typeface="宋体" panose="02010600030101010101" pitchFamily="2" charset="-122"/>
                <a:ea typeface="宋体" panose="02010600030101010101" pitchFamily="2" charset="-122"/>
              </a:rPr>
              <a:t>/</a:t>
            </a:r>
            <a:r>
              <a:rPr lang="zh-CN" altLang="en-US" sz="3400" b="1" dirty="0">
                <a:solidFill>
                  <a:schemeClr val="bg1"/>
                </a:solidFill>
                <a:latin typeface="宋体" panose="02010600030101010101" pitchFamily="2" charset="-122"/>
                <a:ea typeface="宋体" panose="02010600030101010101" pitchFamily="2" charset="-122"/>
              </a:rPr>
              <a:t>次声波及其特征</a:t>
            </a:r>
            <a:endParaRPr lang="en-US" altLang="zh-CN" sz="3400" b="1" dirty="0">
              <a:solidFill>
                <a:schemeClr val="bg1"/>
              </a:solidFill>
              <a:latin typeface="宋体" panose="02010600030101010101" pitchFamily="2" charset="-122"/>
              <a:ea typeface="宋体" panose="02010600030101010101" pitchFamily="2" charset="-122"/>
            </a:endParaRPr>
          </a:p>
        </p:txBody>
      </p:sp>
      <p:sp>
        <p:nvSpPr>
          <p:cNvPr id="3" name="Slide Number Placeholder 2">
            <a:extLst>
              <a:ext uri="{FF2B5EF4-FFF2-40B4-BE49-F238E27FC236}">
                <a16:creationId xmlns:a16="http://schemas.microsoft.com/office/drawing/2014/main" id="{8E79B224-3C2A-43F1-87AA-7043D13293BC}"/>
              </a:ext>
            </a:extLst>
          </p:cNvPr>
          <p:cNvSpPr>
            <a:spLocks noGrp="1"/>
          </p:cNvSpPr>
          <p:nvPr>
            <p:ph type="sldNum" sz="quarter" idx="12"/>
          </p:nvPr>
        </p:nvSpPr>
        <p:spPr/>
        <p:txBody>
          <a:bodyPr/>
          <a:lstStyle/>
          <a:p>
            <a:fld id="{B53602B4-F12B-41CD-B648-531F86B2CC91}" type="slidenum">
              <a:rPr lang="zh-CN" altLang="en-US" smtClean="0"/>
              <a:t>30</a:t>
            </a:fld>
            <a:endParaRPr lang="zh-CN" altLang="en-US"/>
          </a:p>
        </p:txBody>
      </p:sp>
    </p:spTree>
    <p:extLst>
      <p:ext uri="{BB962C8B-B14F-4D97-AF65-F5344CB8AC3E}">
        <p14:creationId xmlns:p14="http://schemas.microsoft.com/office/powerpoint/2010/main" val="3703312095"/>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内容占位符 2">
            <a:extLst>
              <a:ext uri="{FF2B5EF4-FFF2-40B4-BE49-F238E27FC236}">
                <a16:creationId xmlns:a16="http://schemas.microsoft.com/office/drawing/2014/main" id="{B2C56CED-4DA6-4886-B2ED-BAC37A98CCF0}"/>
              </a:ext>
            </a:extLst>
          </p:cNvPr>
          <p:cNvSpPr>
            <a:spLocks noGrp="1"/>
          </p:cNvSpPr>
          <p:nvPr>
            <p:ph idx="1"/>
          </p:nvPr>
        </p:nvSpPr>
        <p:spPr>
          <a:xfrm>
            <a:off x="1688689" y="2267984"/>
            <a:ext cx="5826946" cy="2965028"/>
          </a:xfrm>
        </p:spPr>
        <p:txBody>
          <a:bodyPr>
            <a:noAutofit/>
          </a:bodyPr>
          <a:lstStyle/>
          <a:p>
            <a:pPr marL="0" indent="0" eaLnBrk="1" hangingPunct="1">
              <a:lnSpc>
                <a:spcPct val="200000"/>
              </a:lnSpc>
              <a:spcBef>
                <a:spcPts val="768"/>
              </a:spcBef>
              <a:buNone/>
              <a:defRPr/>
            </a:pPr>
            <a:r>
              <a:rPr lang="zh-CN" altLang="en-US" b="1" dirty="0">
                <a:solidFill>
                  <a:schemeClr val="tx2"/>
                </a:solidFill>
                <a:latin typeface="宋体" panose="02010600030101010101" pitchFamily="2" charset="-122"/>
                <a:ea typeface="宋体" panose="02010600030101010101" pitchFamily="2" charset="-122"/>
                <a:cs typeface="Arial" panose="020B0604020202020204" pitchFamily="34" charset="0"/>
                <a:hlinkClick r:id="rId3" action="ppaction://hlinksldjump"/>
              </a:rPr>
              <a:t>一、</a:t>
            </a:r>
            <a:r>
              <a:rPr lang="zh-CN" altLang="en-US" b="1" kern="1200" dirty="0">
                <a:solidFill>
                  <a:schemeClr val="tx2"/>
                </a:solidFill>
                <a:latin typeface="宋体" panose="02010600030101010101" pitchFamily="2" charset="-122"/>
                <a:ea typeface="宋体" panose="02010600030101010101" pitchFamily="2" charset="-122"/>
                <a:cs typeface="Arial" panose="020B0604020202020204" pitchFamily="34" charset="0"/>
                <a:hlinkClick r:id="rId3" action="ppaction://hlinksldjump"/>
              </a:rPr>
              <a:t>压电式超声波传感器</a:t>
            </a:r>
            <a:endParaRPr lang="zh-CN" altLang="en-US" b="1" kern="1200" dirty="0">
              <a:solidFill>
                <a:schemeClr val="tx2"/>
              </a:solidFill>
              <a:latin typeface="宋体" panose="02010600030101010101" pitchFamily="2" charset="-122"/>
              <a:ea typeface="宋体" panose="02010600030101010101" pitchFamily="2" charset="-122"/>
              <a:cs typeface="Arial" panose="020B0604020202020204" pitchFamily="34" charset="0"/>
            </a:endParaRPr>
          </a:p>
          <a:p>
            <a:pPr marL="0" indent="0" eaLnBrk="1" hangingPunct="1">
              <a:lnSpc>
                <a:spcPct val="200000"/>
              </a:lnSpc>
              <a:spcBef>
                <a:spcPts val="768"/>
              </a:spcBef>
              <a:buNone/>
              <a:defRPr/>
            </a:pPr>
            <a:r>
              <a:rPr lang="zh-CN" altLang="en-US" b="1" dirty="0">
                <a:solidFill>
                  <a:schemeClr val="tx2"/>
                </a:solidFill>
                <a:latin typeface="宋体" panose="02010600030101010101" pitchFamily="2" charset="-122"/>
                <a:ea typeface="宋体" panose="02010600030101010101" pitchFamily="2" charset="-122"/>
                <a:cs typeface="Arial" panose="020B0604020202020204" pitchFamily="34" charset="0"/>
                <a:hlinkClick r:id="rId4" action="ppaction://hlinksldjump"/>
              </a:rPr>
              <a:t>二、</a:t>
            </a:r>
            <a:r>
              <a:rPr lang="zh-CN" altLang="en-US" b="1" kern="1200" dirty="0">
                <a:solidFill>
                  <a:schemeClr val="tx2"/>
                </a:solidFill>
                <a:latin typeface="宋体" panose="02010600030101010101" pitchFamily="2" charset="-122"/>
                <a:ea typeface="宋体" panose="02010600030101010101" pitchFamily="2" charset="-122"/>
                <a:cs typeface="Arial" panose="020B0604020202020204" pitchFamily="34" charset="0"/>
                <a:hlinkClick r:id="rId4" action="ppaction://hlinksldjump"/>
              </a:rPr>
              <a:t>磁致伸缩式超声波传感器</a:t>
            </a:r>
            <a:endParaRPr lang="zh-CN" altLang="en-US" b="1" kern="1200" dirty="0">
              <a:solidFill>
                <a:schemeClr val="tx2"/>
              </a:solidFill>
              <a:latin typeface="宋体" panose="02010600030101010101" pitchFamily="2" charset="-122"/>
              <a:ea typeface="宋体" panose="02010600030101010101" pitchFamily="2" charset="-122"/>
              <a:cs typeface="Arial" panose="020B0604020202020204" pitchFamily="34" charset="0"/>
            </a:endParaRPr>
          </a:p>
          <a:p>
            <a:pPr marL="0" indent="0" eaLnBrk="1" hangingPunct="1">
              <a:lnSpc>
                <a:spcPct val="200000"/>
              </a:lnSpc>
              <a:spcBef>
                <a:spcPts val="768"/>
              </a:spcBef>
              <a:buNone/>
              <a:defRPr/>
            </a:pPr>
            <a:r>
              <a:rPr lang="zh-CN" altLang="en-US" b="1" dirty="0">
                <a:solidFill>
                  <a:schemeClr val="tx2"/>
                </a:solidFill>
                <a:latin typeface="宋体" panose="02010600030101010101" pitchFamily="2" charset="-122"/>
                <a:ea typeface="宋体" panose="02010600030101010101" pitchFamily="2" charset="-122"/>
                <a:cs typeface="Arial" panose="020B0604020202020204" pitchFamily="34" charset="0"/>
                <a:hlinkClick r:id="rId5" action="ppaction://hlinksldjump"/>
              </a:rPr>
              <a:t>三、</a:t>
            </a:r>
            <a:r>
              <a:rPr lang="zh-CN" altLang="en-US" b="1" kern="1200" dirty="0">
                <a:solidFill>
                  <a:schemeClr val="tx2"/>
                </a:solidFill>
                <a:latin typeface="宋体" panose="02010600030101010101" pitchFamily="2" charset="-122"/>
                <a:ea typeface="宋体" panose="02010600030101010101" pitchFamily="2" charset="-122"/>
                <a:cs typeface="Arial" panose="020B0604020202020204" pitchFamily="34" charset="0"/>
                <a:hlinkClick r:id="rId5" action="ppaction://hlinksldjump"/>
              </a:rPr>
              <a:t>次声波传感器</a:t>
            </a:r>
            <a:endParaRPr lang="zh-CN" altLang="en-US" sz="2000" b="1" kern="1200" dirty="0">
              <a:solidFill>
                <a:schemeClr val="tx2"/>
              </a:solidFill>
              <a:latin typeface="宋体" panose="02010600030101010101" pitchFamily="2" charset="-122"/>
              <a:ea typeface="宋体" panose="02010600030101010101" pitchFamily="2" charset="-122"/>
              <a:cs typeface="Arial" panose="020B0604020202020204" pitchFamily="34" charset="0"/>
            </a:endParaRPr>
          </a:p>
        </p:txBody>
      </p:sp>
      <p:sp>
        <p:nvSpPr>
          <p:cNvPr id="25" name="矩形 24">
            <a:extLst>
              <a:ext uri="{FF2B5EF4-FFF2-40B4-BE49-F238E27FC236}">
                <a16:creationId xmlns:a16="http://schemas.microsoft.com/office/drawing/2014/main" id="{64509930-9DFB-420E-8F32-960E50399825}"/>
              </a:ext>
            </a:extLst>
          </p:cNvPr>
          <p:cNvSpPr/>
          <p:nvPr/>
        </p:nvSpPr>
        <p:spPr>
          <a:xfrm>
            <a:off x="1571711" y="258777"/>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7" name="圆角矩形 43">
            <a:extLst>
              <a:ext uri="{FF2B5EF4-FFF2-40B4-BE49-F238E27FC236}">
                <a16:creationId xmlns:a16="http://schemas.microsoft.com/office/drawing/2014/main" id="{7D086454-5B10-4064-9B8F-531209592F7E}"/>
              </a:ext>
            </a:extLst>
          </p:cNvPr>
          <p:cNvSpPr/>
          <p:nvPr/>
        </p:nvSpPr>
        <p:spPr>
          <a:xfrm rot="10800000" flipV="1">
            <a:off x="185084" y="242948"/>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20204" pitchFamily="34" charset="0"/>
                <a:ea typeface="宋体" panose="02010600030101010101" pitchFamily="2" charset="-122"/>
                <a:cs typeface="Arial" panose="020B0604020202020204" pitchFamily="34" charset="0"/>
              </a:rPr>
              <a:t>9.3.2</a:t>
            </a:r>
            <a:endParaRPr lang="zh-CN" altLang="en-US" sz="3200" b="1" dirty="0">
              <a:latin typeface="Arial" panose="020B0604020202020204" pitchFamily="34" charset="0"/>
              <a:ea typeface="宋体" panose="02010600030101010101" pitchFamily="2" charset="-122"/>
              <a:cs typeface="Arial" panose="020B0604020202020204" pitchFamily="34" charset="0"/>
            </a:endParaRPr>
          </a:p>
        </p:txBody>
      </p:sp>
      <p:sp>
        <p:nvSpPr>
          <p:cNvPr id="38" name="矩形 37">
            <a:extLst>
              <a:ext uri="{FF2B5EF4-FFF2-40B4-BE49-F238E27FC236}">
                <a16:creationId xmlns:a16="http://schemas.microsoft.com/office/drawing/2014/main" id="{2A2F604C-DA27-459E-8419-ED777356D653}"/>
              </a:ext>
            </a:extLst>
          </p:cNvPr>
          <p:cNvSpPr/>
          <p:nvPr/>
        </p:nvSpPr>
        <p:spPr>
          <a:xfrm>
            <a:off x="1932551" y="240301"/>
            <a:ext cx="4342847" cy="615549"/>
          </a:xfrm>
          <a:prstGeom prst="rect">
            <a:avLst/>
          </a:prstGeom>
        </p:spPr>
        <p:txBody>
          <a:bodyPr wrap="none" lIns="91436" tIns="45718" rIns="91436" bIns="45718">
            <a:spAutoFit/>
          </a:bodyPr>
          <a:lstStyle/>
          <a:p>
            <a:pPr algn="ctr"/>
            <a:r>
              <a:rPr lang="zh-CN" altLang="en-US" sz="3400" b="1" dirty="0">
                <a:solidFill>
                  <a:schemeClr val="bg1"/>
                </a:solidFill>
                <a:latin typeface="宋体" panose="02010600030101010101" pitchFamily="2" charset="-122"/>
                <a:ea typeface="宋体" panose="02010600030101010101" pitchFamily="2" charset="-122"/>
              </a:rPr>
              <a:t>超</a:t>
            </a:r>
            <a:r>
              <a:rPr lang="en-US" altLang="zh-CN" sz="3400" b="1" dirty="0">
                <a:solidFill>
                  <a:schemeClr val="bg1"/>
                </a:solidFill>
                <a:latin typeface="宋体" panose="02010600030101010101" pitchFamily="2" charset="-122"/>
                <a:ea typeface="宋体" panose="02010600030101010101" pitchFamily="2" charset="-122"/>
              </a:rPr>
              <a:t>/</a:t>
            </a:r>
            <a:r>
              <a:rPr lang="zh-CN" altLang="en-US" sz="3400" b="1" dirty="0">
                <a:solidFill>
                  <a:schemeClr val="bg1"/>
                </a:solidFill>
                <a:latin typeface="宋体" panose="02010600030101010101" pitchFamily="2" charset="-122"/>
                <a:ea typeface="宋体" panose="02010600030101010101" pitchFamily="2" charset="-122"/>
              </a:rPr>
              <a:t>次声波传感器分类</a:t>
            </a:r>
            <a:endParaRPr lang="en-US" altLang="zh-CN" sz="3400" b="1" dirty="0">
              <a:solidFill>
                <a:schemeClr val="bg1"/>
              </a:solidFill>
              <a:latin typeface="宋体" panose="02010600030101010101" pitchFamily="2" charset="-122"/>
              <a:ea typeface="宋体" panose="02010600030101010101" pitchFamily="2" charset="-122"/>
            </a:endParaRPr>
          </a:p>
        </p:txBody>
      </p:sp>
      <p:sp>
        <p:nvSpPr>
          <p:cNvPr id="2" name="Slide Number Placeholder 1">
            <a:extLst>
              <a:ext uri="{FF2B5EF4-FFF2-40B4-BE49-F238E27FC236}">
                <a16:creationId xmlns:a16="http://schemas.microsoft.com/office/drawing/2014/main" id="{2B94E898-144E-4CFC-AE43-5C4E2F7E6571}"/>
              </a:ext>
            </a:extLst>
          </p:cNvPr>
          <p:cNvSpPr>
            <a:spLocks noGrp="1"/>
          </p:cNvSpPr>
          <p:nvPr>
            <p:ph type="sldNum" sz="quarter" idx="12"/>
          </p:nvPr>
        </p:nvSpPr>
        <p:spPr/>
        <p:txBody>
          <a:bodyPr/>
          <a:lstStyle/>
          <a:p>
            <a:fld id="{B53602B4-F12B-41CD-B648-531F86B2CC91}" type="slidenum">
              <a:rPr lang="zh-CN" altLang="en-US" smtClean="0"/>
              <a:t>31</a:t>
            </a:fld>
            <a:endParaRPr lang="zh-CN" altLang="en-US"/>
          </a:p>
        </p:txBody>
      </p:sp>
    </p:spTree>
    <p:extLst>
      <p:ext uri="{BB962C8B-B14F-4D97-AF65-F5344CB8AC3E}">
        <p14:creationId xmlns:p14="http://schemas.microsoft.com/office/powerpoint/2010/main" val="1395419102"/>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矩形 45"/>
          <p:cNvSpPr/>
          <p:nvPr/>
        </p:nvSpPr>
        <p:spPr>
          <a:xfrm>
            <a:off x="294780" y="1510932"/>
            <a:ext cx="2969074" cy="461661"/>
          </a:xfrm>
          <a:prstGeom prst="rect">
            <a:avLst/>
          </a:prstGeom>
          <a:solidFill>
            <a:srgbClr val="92D050"/>
          </a:solidFill>
        </p:spPr>
        <p:txBody>
          <a:bodyPr wrap="none" lIns="91436" tIns="45718" rIns="91436" bIns="45718">
            <a:spAutoFit/>
          </a:bodyPr>
          <a:lstStyle/>
          <a:p>
            <a:pPr algn="ctr"/>
            <a:r>
              <a:rPr lang="zh-CN" altLang="en-US" sz="2400" b="1" dirty="0">
                <a:latin typeface="宋体" panose="02010600030101010101" pitchFamily="2" charset="-122"/>
                <a:ea typeface="宋体" panose="02010600030101010101" pitchFamily="2" charset="-122"/>
              </a:rPr>
              <a:t>压电式超声波传感器</a:t>
            </a:r>
            <a:endParaRPr lang="en-US" altLang="zh-CN" sz="2400" b="1" dirty="0">
              <a:latin typeface="宋体" panose="02010600030101010101" pitchFamily="2" charset="-122"/>
              <a:ea typeface="宋体" panose="02010600030101010101" pitchFamily="2" charset="-122"/>
            </a:endParaRPr>
          </a:p>
        </p:txBody>
      </p:sp>
      <p:sp>
        <p:nvSpPr>
          <p:cNvPr id="3" name="文本框 2">
            <a:extLst>
              <a:ext uri="{FF2B5EF4-FFF2-40B4-BE49-F238E27FC236}">
                <a16:creationId xmlns:a16="http://schemas.microsoft.com/office/drawing/2014/main" id="{49142242-5E57-4D15-A0DD-17CB598A023D}"/>
              </a:ext>
            </a:extLst>
          </p:cNvPr>
          <p:cNvSpPr txBox="1"/>
          <p:nvPr/>
        </p:nvSpPr>
        <p:spPr>
          <a:xfrm>
            <a:off x="517968" y="2422565"/>
            <a:ext cx="8108064" cy="2390459"/>
          </a:xfrm>
          <a:prstGeom prst="rect">
            <a:avLst/>
          </a:prstGeom>
          <a:noFill/>
        </p:spPr>
        <p:txBody>
          <a:bodyPr wrap="square" lIns="91436" tIns="45718" rIns="91436" bIns="45718" rtlCol="0">
            <a:spAutoFit/>
          </a:bodyPr>
          <a:lstStyle/>
          <a:p>
            <a:pPr marL="342900" indent="-342900">
              <a:lnSpc>
                <a:spcPct val="150000"/>
              </a:lnSpc>
              <a:spcBef>
                <a:spcPts val="624"/>
              </a:spcBef>
              <a:buFont typeface="Wingdings" panose="05000000000000000000" pitchFamily="2" charset="2"/>
              <a:buChar char="§"/>
            </a:pPr>
            <a:r>
              <a:rPr lang="zh-CN" altLang="en-US" sz="2400" b="1" dirty="0">
                <a:latin typeface="Arial" panose="020B0604020202020204" pitchFamily="34" charset="0"/>
                <a:ea typeface="宋体" panose="02010600030101010101" pitchFamily="2" charset="-122"/>
                <a:cs typeface="Arial" panose="020B0604020202020204" pitchFamily="34" charset="0"/>
              </a:rPr>
              <a:t>利用压电材料的压电效应原理来工</a:t>
            </a:r>
            <a:r>
              <a:rPr lang="zh-CN" altLang="en-US" sz="2400" b="1">
                <a:latin typeface="Arial" panose="020B0604020202020204" pitchFamily="34" charset="0"/>
                <a:ea typeface="宋体" panose="02010600030101010101" pitchFamily="2" charset="-122"/>
                <a:cs typeface="Arial" panose="020B0604020202020204" pitchFamily="34" charset="0"/>
              </a:rPr>
              <a:t>作。</a:t>
            </a:r>
            <a:endParaRPr lang="en-US" altLang="zh-CN" sz="2400" b="1">
              <a:latin typeface="Arial" panose="020B0604020202020204" pitchFamily="34" charset="0"/>
              <a:ea typeface="宋体" panose="02010600030101010101" pitchFamily="2" charset="-122"/>
              <a:cs typeface="Arial" panose="020B0604020202020204" pitchFamily="34" charset="0"/>
            </a:endParaRPr>
          </a:p>
          <a:p>
            <a:pPr marL="342900" indent="-342900">
              <a:lnSpc>
                <a:spcPct val="150000"/>
              </a:lnSpc>
              <a:spcBef>
                <a:spcPts val="624"/>
              </a:spcBef>
              <a:buFont typeface="Wingdings" panose="05000000000000000000" pitchFamily="2" charset="2"/>
              <a:buChar char="§"/>
            </a:pPr>
            <a:r>
              <a:rPr lang="zh-CN" altLang="en-US" sz="2400" b="1">
                <a:latin typeface="Arial" panose="020B0604020202020204" pitchFamily="34" charset="0"/>
                <a:ea typeface="宋体" panose="02010600030101010101" pitchFamily="2" charset="-122"/>
                <a:cs typeface="Arial" panose="020B0604020202020204" pitchFamily="34" charset="0"/>
              </a:rPr>
              <a:t>常</a:t>
            </a:r>
            <a:r>
              <a:rPr lang="zh-CN" altLang="en-US" sz="2400" b="1" dirty="0">
                <a:latin typeface="Arial" panose="020B0604020202020204" pitchFamily="34" charset="0"/>
                <a:ea typeface="宋体" panose="02010600030101010101" pitchFamily="2" charset="-122"/>
                <a:cs typeface="Arial" panose="020B0604020202020204" pitchFamily="34" charset="0"/>
              </a:rPr>
              <a:t>用材料主要有压电晶体和压电陶</a:t>
            </a:r>
            <a:r>
              <a:rPr lang="zh-CN" altLang="en-US" sz="2400" b="1">
                <a:latin typeface="Arial" panose="020B0604020202020204" pitchFamily="34" charset="0"/>
                <a:ea typeface="宋体" panose="02010600030101010101" pitchFamily="2" charset="-122"/>
                <a:cs typeface="Arial" panose="020B0604020202020204" pitchFamily="34" charset="0"/>
              </a:rPr>
              <a:t>瓷。</a:t>
            </a:r>
            <a:endParaRPr lang="en-US" altLang="zh-CN" sz="2400" b="1">
              <a:latin typeface="Arial" panose="020B0604020202020204" pitchFamily="34" charset="0"/>
              <a:ea typeface="宋体" panose="02010600030101010101" pitchFamily="2" charset="-122"/>
              <a:cs typeface="Arial" panose="020B0604020202020204" pitchFamily="34" charset="0"/>
            </a:endParaRPr>
          </a:p>
          <a:p>
            <a:pPr marL="342900" indent="-342900">
              <a:lnSpc>
                <a:spcPct val="150000"/>
              </a:lnSpc>
              <a:spcBef>
                <a:spcPts val="624"/>
              </a:spcBef>
              <a:buFont typeface="Wingdings" panose="05000000000000000000" pitchFamily="2" charset="2"/>
              <a:buChar char="§"/>
            </a:pPr>
            <a:r>
              <a:rPr lang="zh-CN" altLang="en-US" sz="2400" b="1">
                <a:latin typeface="Arial" panose="020B0604020202020204" pitchFamily="34" charset="0"/>
                <a:ea typeface="宋体" panose="02010600030101010101" pitchFamily="2" charset="-122"/>
                <a:cs typeface="Arial" panose="020B0604020202020204" pitchFamily="34" charset="0"/>
              </a:rPr>
              <a:t>根</a:t>
            </a:r>
            <a:r>
              <a:rPr lang="zh-CN" altLang="en-US" sz="2400" b="1" dirty="0">
                <a:latin typeface="Arial" panose="020B0604020202020204" pitchFamily="34" charset="0"/>
                <a:ea typeface="宋体" panose="02010600030101010101" pitchFamily="2" charset="-122"/>
                <a:cs typeface="Arial" panose="020B0604020202020204" pitchFamily="34" charset="0"/>
              </a:rPr>
              <a:t>据正、逆压电效应的不同，压电式超声波传感器分为发生器</a:t>
            </a:r>
            <a:r>
              <a:rPr lang="en-US" altLang="zh-CN" sz="2400" b="1" dirty="0">
                <a:latin typeface="Arial" panose="020B0604020202020204" pitchFamily="34" charset="0"/>
                <a:ea typeface="宋体" panose="02010600030101010101" pitchFamily="2" charset="-122"/>
                <a:cs typeface="Arial" panose="020B0604020202020204" pitchFamily="34" charset="0"/>
              </a:rPr>
              <a:t>(</a:t>
            </a:r>
            <a:r>
              <a:rPr lang="zh-CN" altLang="en-US" sz="2400" b="1" dirty="0">
                <a:latin typeface="Arial" panose="020B0604020202020204" pitchFamily="34" charset="0"/>
                <a:ea typeface="宋体" panose="02010600030101010101" pitchFamily="2" charset="-122"/>
                <a:cs typeface="Arial" panose="020B0604020202020204" pitchFamily="34" charset="0"/>
              </a:rPr>
              <a:t>发射探头</a:t>
            </a:r>
            <a:r>
              <a:rPr lang="en-US" altLang="zh-CN" sz="2400" b="1" dirty="0">
                <a:latin typeface="Arial" panose="020B0604020202020204" pitchFamily="34" charset="0"/>
                <a:ea typeface="宋体" panose="02010600030101010101" pitchFamily="2" charset="-122"/>
                <a:cs typeface="Arial" panose="020B0604020202020204" pitchFamily="34" charset="0"/>
              </a:rPr>
              <a:t>)</a:t>
            </a:r>
            <a:r>
              <a:rPr lang="zh-CN" altLang="en-US" sz="2400" b="1" dirty="0">
                <a:latin typeface="Arial" panose="020B0604020202020204" pitchFamily="34" charset="0"/>
                <a:ea typeface="宋体" panose="02010600030101010101" pitchFamily="2" charset="-122"/>
                <a:cs typeface="Arial" panose="020B0604020202020204" pitchFamily="34" charset="0"/>
              </a:rPr>
              <a:t>和接收器</a:t>
            </a:r>
            <a:r>
              <a:rPr lang="en-US" altLang="zh-CN" sz="2400" b="1" dirty="0">
                <a:latin typeface="Arial" panose="020B0604020202020204" pitchFamily="34" charset="0"/>
                <a:ea typeface="宋体" panose="02010600030101010101" pitchFamily="2" charset="-122"/>
                <a:cs typeface="Arial" panose="020B0604020202020204" pitchFamily="34" charset="0"/>
              </a:rPr>
              <a:t>(</a:t>
            </a:r>
            <a:r>
              <a:rPr lang="zh-CN" altLang="en-US" sz="2400" b="1" dirty="0">
                <a:latin typeface="Arial" panose="020B0604020202020204" pitchFamily="34" charset="0"/>
                <a:ea typeface="宋体" panose="02010600030101010101" pitchFamily="2" charset="-122"/>
                <a:cs typeface="Arial" panose="020B0604020202020204" pitchFamily="34" charset="0"/>
              </a:rPr>
              <a:t>接收探头</a:t>
            </a:r>
            <a:r>
              <a:rPr lang="en-US" altLang="zh-CN" sz="2400" b="1" dirty="0">
                <a:latin typeface="Arial" panose="020B0604020202020204" pitchFamily="34" charset="0"/>
                <a:ea typeface="宋体" panose="02010600030101010101" pitchFamily="2" charset="-122"/>
                <a:cs typeface="Arial" panose="020B0604020202020204" pitchFamily="34" charset="0"/>
              </a:rPr>
              <a:t>)</a:t>
            </a:r>
            <a:r>
              <a:rPr lang="zh-CN" altLang="en-US" sz="2400" b="1" dirty="0">
                <a:latin typeface="Arial" panose="020B0604020202020204" pitchFamily="34" charset="0"/>
                <a:ea typeface="宋体" panose="02010600030101010101" pitchFamily="2" charset="-122"/>
                <a:cs typeface="Arial" panose="020B0604020202020204" pitchFamily="34" charset="0"/>
              </a:rPr>
              <a:t>两种。</a:t>
            </a:r>
          </a:p>
        </p:txBody>
      </p:sp>
      <p:sp>
        <p:nvSpPr>
          <p:cNvPr id="26" name="矩形 25">
            <a:extLst>
              <a:ext uri="{FF2B5EF4-FFF2-40B4-BE49-F238E27FC236}">
                <a16:creationId xmlns:a16="http://schemas.microsoft.com/office/drawing/2014/main" id="{64509930-9DFB-420E-8F32-960E50399825}"/>
              </a:ext>
            </a:extLst>
          </p:cNvPr>
          <p:cNvSpPr/>
          <p:nvPr/>
        </p:nvSpPr>
        <p:spPr>
          <a:xfrm>
            <a:off x="1571711" y="258777"/>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7" name="圆角矩形 43">
            <a:extLst>
              <a:ext uri="{FF2B5EF4-FFF2-40B4-BE49-F238E27FC236}">
                <a16:creationId xmlns:a16="http://schemas.microsoft.com/office/drawing/2014/main" id="{7D086454-5B10-4064-9B8F-531209592F7E}"/>
              </a:ext>
            </a:extLst>
          </p:cNvPr>
          <p:cNvSpPr/>
          <p:nvPr/>
        </p:nvSpPr>
        <p:spPr>
          <a:xfrm rot="10800000" flipV="1">
            <a:off x="185084" y="242948"/>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20204" pitchFamily="34" charset="0"/>
                <a:ea typeface="宋体" panose="02010600030101010101" pitchFamily="2" charset="-122"/>
                <a:cs typeface="Arial" panose="020B0604020202020204" pitchFamily="34" charset="0"/>
              </a:rPr>
              <a:t>9.3.2</a:t>
            </a:r>
            <a:endParaRPr lang="zh-CN" altLang="en-US" sz="3200" b="1" dirty="0">
              <a:latin typeface="Arial" panose="020B0604020202020204" pitchFamily="34" charset="0"/>
              <a:ea typeface="宋体" panose="02010600030101010101" pitchFamily="2" charset="-122"/>
              <a:cs typeface="Arial" panose="020B0604020202020204" pitchFamily="34" charset="0"/>
            </a:endParaRPr>
          </a:p>
        </p:txBody>
      </p:sp>
      <p:sp>
        <p:nvSpPr>
          <p:cNvPr id="38" name="矩形 37">
            <a:extLst>
              <a:ext uri="{FF2B5EF4-FFF2-40B4-BE49-F238E27FC236}">
                <a16:creationId xmlns:a16="http://schemas.microsoft.com/office/drawing/2014/main" id="{2A2F604C-DA27-459E-8419-ED777356D653}"/>
              </a:ext>
            </a:extLst>
          </p:cNvPr>
          <p:cNvSpPr/>
          <p:nvPr/>
        </p:nvSpPr>
        <p:spPr>
          <a:xfrm>
            <a:off x="1932551" y="240301"/>
            <a:ext cx="4342847" cy="615549"/>
          </a:xfrm>
          <a:prstGeom prst="rect">
            <a:avLst/>
          </a:prstGeom>
        </p:spPr>
        <p:txBody>
          <a:bodyPr wrap="none" lIns="91436" tIns="45718" rIns="91436" bIns="45718">
            <a:spAutoFit/>
          </a:bodyPr>
          <a:lstStyle/>
          <a:p>
            <a:pPr algn="ctr"/>
            <a:r>
              <a:rPr lang="zh-CN" altLang="en-US" sz="3400" b="1" dirty="0">
                <a:solidFill>
                  <a:schemeClr val="bg1"/>
                </a:solidFill>
                <a:latin typeface="宋体" panose="02010600030101010101" pitchFamily="2" charset="-122"/>
                <a:ea typeface="宋体" panose="02010600030101010101" pitchFamily="2" charset="-122"/>
              </a:rPr>
              <a:t>超</a:t>
            </a:r>
            <a:r>
              <a:rPr lang="en-US" altLang="zh-CN" sz="3400" b="1" dirty="0">
                <a:solidFill>
                  <a:schemeClr val="bg1"/>
                </a:solidFill>
                <a:latin typeface="宋体" panose="02010600030101010101" pitchFamily="2" charset="-122"/>
                <a:ea typeface="宋体" panose="02010600030101010101" pitchFamily="2" charset="-122"/>
              </a:rPr>
              <a:t>/</a:t>
            </a:r>
            <a:r>
              <a:rPr lang="zh-CN" altLang="en-US" sz="3400" b="1" dirty="0">
                <a:solidFill>
                  <a:schemeClr val="bg1"/>
                </a:solidFill>
                <a:latin typeface="宋体" panose="02010600030101010101" pitchFamily="2" charset="-122"/>
                <a:ea typeface="宋体" panose="02010600030101010101" pitchFamily="2" charset="-122"/>
              </a:rPr>
              <a:t>次声波传感器分类</a:t>
            </a:r>
            <a:endParaRPr lang="en-US" altLang="zh-CN" sz="3400" b="1" dirty="0">
              <a:solidFill>
                <a:schemeClr val="bg1"/>
              </a:solidFill>
              <a:latin typeface="宋体" panose="02010600030101010101" pitchFamily="2" charset="-122"/>
              <a:ea typeface="宋体" panose="02010600030101010101" pitchFamily="2" charset="-122"/>
            </a:endParaRPr>
          </a:p>
        </p:txBody>
      </p:sp>
      <p:sp>
        <p:nvSpPr>
          <p:cNvPr id="2" name="Slide Number Placeholder 1">
            <a:extLst>
              <a:ext uri="{FF2B5EF4-FFF2-40B4-BE49-F238E27FC236}">
                <a16:creationId xmlns:a16="http://schemas.microsoft.com/office/drawing/2014/main" id="{3D6A1C69-2B2D-46D7-ADD6-76F5CC378392}"/>
              </a:ext>
            </a:extLst>
          </p:cNvPr>
          <p:cNvSpPr>
            <a:spLocks noGrp="1"/>
          </p:cNvSpPr>
          <p:nvPr>
            <p:ph type="sldNum" sz="quarter" idx="12"/>
          </p:nvPr>
        </p:nvSpPr>
        <p:spPr/>
        <p:txBody>
          <a:bodyPr/>
          <a:lstStyle/>
          <a:p>
            <a:fld id="{B53602B4-F12B-41CD-B648-531F86B2CC91}" type="slidenum">
              <a:rPr lang="zh-CN" altLang="en-US" smtClean="0"/>
              <a:t>32</a:t>
            </a:fld>
            <a:endParaRPr lang="zh-CN" altLang="en-US"/>
          </a:p>
        </p:txBody>
      </p:sp>
    </p:spTree>
    <p:extLst>
      <p:ext uri="{BB962C8B-B14F-4D97-AF65-F5344CB8AC3E}">
        <p14:creationId xmlns:p14="http://schemas.microsoft.com/office/powerpoint/2010/main" val="1482456077"/>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49142242-5E57-4D15-A0DD-17CB598A023D}"/>
              </a:ext>
            </a:extLst>
          </p:cNvPr>
          <p:cNvSpPr txBox="1"/>
          <p:nvPr/>
        </p:nvSpPr>
        <p:spPr>
          <a:xfrm>
            <a:off x="371928" y="2108661"/>
            <a:ext cx="8400143" cy="3483642"/>
          </a:xfrm>
          <a:prstGeom prst="rect">
            <a:avLst/>
          </a:prstGeom>
          <a:noFill/>
        </p:spPr>
        <p:txBody>
          <a:bodyPr wrap="square" lIns="91436" tIns="45718" rIns="91436" bIns="45718" rtlCol="0">
            <a:spAutoFit/>
          </a:bodyPr>
          <a:lstStyle/>
          <a:p>
            <a:pPr marL="342900" indent="-342900">
              <a:lnSpc>
                <a:spcPct val="150000"/>
              </a:lnSpc>
              <a:spcBef>
                <a:spcPts val="624"/>
              </a:spcBef>
              <a:buFont typeface="Wingdings" panose="05000000000000000000" pitchFamily="2" charset="2"/>
              <a:buChar char="§"/>
            </a:pPr>
            <a:r>
              <a:rPr lang="zh-CN" altLang="en-US" sz="2400" b="1" dirty="0">
                <a:latin typeface="宋体" pitchFamily="2" charset="-122"/>
                <a:ea typeface="宋体" pitchFamily="2" charset="-122"/>
                <a:cs typeface="Times New Roman" panose="02020603050405020304" pitchFamily="18" charset="0"/>
              </a:rPr>
              <a:t>压电式超声波发生器利用</a:t>
            </a:r>
            <a:r>
              <a:rPr lang="zh-CN" altLang="en-US" sz="2400" b="1" dirty="0">
                <a:solidFill>
                  <a:srgbClr val="3333CC"/>
                </a:solidFill>
                <a:latin typeface="宋体" pitchFamily="2" charset="-122"/>
                <a:ea typeface="宋体" pitchFamily="2" charset="-122"/>
                <a:cs typeface="Times New Roman" panose="02020603050405020304" pitchFamily="18" charset="0"/>
              </a:rPr>
              <a:t>逆压电效应原理</a:t>
            </a:r>
            <a:r>
              <a:rPr lang="zh-CN" altLang="en-US" sz="2400" b="1" dirty="0">
                <a:latin typeface="宋体" pitchFamily="2" charset="-122"/>
                <a:ea typeface="宋体" pitchFamily="2" charset="-122"/>
                <a:cs typeface="Times New Roman" panose="02020603050405020304" pitchFamily="18" charset="0"/>
              </a:rPr>
              <a:t>，将高频电振动转换成高频机械振动，从而产生超声波。</a:t>
            </a:r>
            <a:endParaRPr lang="en-US" altLang="zh-CN" sz="2400" b="1" dirty="0">
              <a:latin typeface="宋体" pitchFamily="2" charset="-122"/>
              <a:ea typeface="宋体" pitchFamily="2" charset="-122"/>
              <a:cs typeface="Times New Roman" panose="02020603050405020304" pitchFamily="18" charset="0"/>
            </a:endParaRPr>
          </a:p>
          <a:p>
            <a:pPr marL="342900" indent="-342900">
              <a:lnSpc>
                <a:spcPct val="150000"/>
              </a:lnSpc>
              <a:spcBef>
                <a:spcPts val="624"/>
              </a:spcBef>
              <a:buFont typeface="Wingdings" panose="05000000000000000000" pitchFamily="2" charset="2"/>
              <a:buChar char="§"/>
            </a:pPr>
            <a:r>
              <a:rPr lang="zh-CN" altLang="en-US" sz="2400" b="1" dirty="0">
                <a:latin typeface="宋体" pitchFamily="2" charset="-122"/>
                <a:ea typeface="宋体" pitchFamily="2" charset="-122"/>
                <a:cs typeface="Times New Roman" panose="02020603050405020304" pitchFamily="18" charset="0"/>
              </a:rPr>
              <a:t>当外加交变电压的频率等于压电材料的固有频率时会产生</a:t>
            </a:r>
            <a:r>
              <a:rPr lang="zh-CN" altLang="en-US" sz="2400" b="1" dirty="0">
                <a:solidFill>
                  <a:srgbClr val="FF0000"/>
                </a:solidFill>
                <a:latin typeface="宋体" pitchFamily="2" charset="-122"/>
                <a:ea typeface="宋体" pitchFamily="2" charset="-122"/>
                <a:cs typeface="Times New Roman" panose="02020603050405020304" pitchFamily="18" charset="0"/>
              </a:rPr>
              <a:t>共振</a:t>
            </a:r>
            <a:r>
              <a:rPr lang="zh-CN" altLang="en-US" sz="2400" b="1" dirty="0">
                <a:latin typeface="宋体" pitchFamily="2" charset="-122"/>
                <a:ea typeface="宋体" pitchFamily="2" charset="-122"/>
                <a:cs typeface="Times New Roman" panose="02020603050405020304" pitchFamily="18" charset="0"/>
              </a:rPr>
              <a:t>，此时产生的超声波最</a:t>
            </a:r>
            <a:r>
              <a:rPr lang="zh-CN" altLang="en-US" sz="2400" b="1">
                <a:latin typeface="宋体" pitchFamily="2" charset="-122"/>
                <a:ea typeface="宋体" pitchFamily="2" charset="-122"/>
                <a:cs typeface="Times New Roman" panose="02020603050405020304" pitchFamily="18" charset="0"/>
              </a:rPr>
              <a:t>强。</a:t>
            </a:r>
            <a:endParaRPr lang="en-US" altLang="zh-CN" sz="2400" b="1">
              <a:latin typeface="宋体" pitchFamily="2" charset="-122"/>
              <a:ea typeface="宋体" pitchFamily="2" charset="-122"/>
              <a:cs typeface="Times New Roman" panose="02020603050405020304" pitchFamily="18" charset="0"/>
            </a:endParaRPr>
          </a:p>
          <a:p>
            <a:pPr marL="342900" indent="-342900">
              <a:lnSpc>
                <a:spcPct val="150000"/>
              </a:lnSpc>
              <a:spcBef>
                <a:spcPts val="624"/>
              </a:spcBef>
              <a:buFont typeface="Wingdings" panose="05000000000000000000" pitchFamily="2" charset="2"/>
              <a:buChar char="§"/>
            </a:pPr>
            <a:r>
              <a:rPr lang="zh-CN" altLang="en-US" sz="2400" b="1">
                <a:latin typeface="宋体" pitchFamily="2" charset="-122"/>
                <a:ea typeface="宋体" pitchFamily="2" charset="-122"/>
                <a:cs typeface="Times New Roman" panose="02020603050405020304" pitchFamily="18" charset="0"/>
              </a:rPr>
              <a:t>压</a:t>
            </a:r>
            <a:r>
              <a:rPr lang="zh-CN" altLang="en-US" sz="2400" b="1" dirty="0">
                <a:latin typeface="宋体" pitchFamily="2" charset="-122"/>
                <a:ea typeface="宋体" pitchFamily="2" charset="-122"/>
                <a:cs typeface="Times New Roman" panose="02020603050405020304" pitchFamily="18" charset="0"/>
              </a:rPr>
              <a:t>电式超声波传感器可以产生</a:t>
            </a:r>
            <a:r>
              <a:rPr lang="zh-CN" altLang="en-US" sz="2400" b="1">
                <a:latin typeface="宋体" pitchFamily="2" charset="-122"/>
                <a:ea typeface="宋体" pitchFamily="2" charset="-122"/>
                <a:cs typeface="Times New Roman" panose="02020603050405020304" pitchFamily="18" charset="0"/>
              </a:rPr>
              <a:t>几十</a:t>
            </a:r>
            <a:r>
              <a:rPr lang="en-US" altLang="zh-CN" sz="2400" b="1">
                <a:latin typeface="宋体" pitchFamily="2" charset="-122"/>
                <a:ea typeface="宋体" pitchFamily="2" charset="-122"/>
                <a:cs typeface="Times New Roman" panose="02020603050405020304" pitchFamily="18" charset="0"/>
              </a:rPr>
              <a:t>kHz </a:t>
            </a:r>
            <a:r>
              <a:rPr lang="zh-CN" altLang="en-US" sz="2400" b="1">
                <a:latin typeface="宋体" pitchFamily="2" charset="-122"/>
                <a:ea typeface="宋体" pitchFamily="2" charset="-122"/>
                <a:cs typeface="Times New Roman" panose="02020603050405020304" pitchFamily="18" charset="0"/>
              </a:rPr>
              <a:t>到几十</a:t>
            </a:r>
            <a:r>
              <a:rPr lang="en-US" altLang="zh-CN" sz="2400" b="1">
                <a:latin typeface="宋体" pitchFamily="2" charset="-122"/>
                <a:ea typeface="宋体" pitchFamily="2" charset="-122"/>
                <a:cs typeface="Times New Roman" panose="02020603050405020304" pitchFamily="18" charset="0"/>
              </a:rPr>
              <a:t>MHz </a:t>
            </a:r>
            <a:r>
              <a:rPr lang="zh-CN" altLang="en-US" sz="2400" b="1">
                <a:latin typeface="宋体" pitchFamily="2" charset="-122"/>
                <a:ea typeface="宋体" pitchFamily="2" charset="-122"/>
                <a:cs typeface="Times New Roman" panose="02020603050405020304" pitchFamily="18" charset="0"/>
              </a:rPr>
              <a:t>的</a:t>
            </a:r>
            <a:r>
              <a:rPr lang="zh-CN" altLang="en-US" sz="2400" b="1" dirty="0">
                <a:latin typeface="宋体" pitchFamily="2" charset="-122"/>
                <a:ea typeface="宋体" pitchFamily="2" charset="-122"/>
                <a:cs typeface="Times New Roman" panose="02020603050405020304" pitchFamily="18" charset="0"/>
              </a:rPr>
              <a:t>高频超声波，其声强可达几十</a:t>
            </a:r>
            <a:r>
              <a:rPr lang="en-US" altLang="zh-CN" sz="2400" b="1" dirty="0">
                <a:latin typeface="宋体" pitchFamily="2" charset="-122"/>
                <a:ea typeface="宋体" pitchFamily="2" charset="-122"/>
                <a:cs typeface="Times New Roman" panose="02020603050405020304" pitchFamily="18" charset="0"/>
              </a:rPr>
              <a:t>W/cm</a:t>
            </a:r>
            <a:r>
              <a:rPr lang="en-US" altLang="zh-CN" sz="2400" b="1" baseline="30000" dirty="0">
                <a:latin typeface="宋体" pitchFamily="2" charset="-122"/>
                <a:ea typeface="宋体" pitchFamily="2" charset="-122"/>
                <a:cs typeface="Times New Roman" panose="02020603050405020304" pitchFamily="18" charset="0"/>
              </a:rPr>
              <a:t>2</a:t>
            </a:r>
            <a:r>
              <a:rPr lang="zh-CN" altLang="en-US" sz="2400" b="1" dirty="0">
                <a:latin typeface="宋体" pitchFamily="2" charset="-122"/>
                <a:ea typeface="宋体" pitchFamily="2" charset="-122"/>
                <a:cs typeface="Times New Roman" panose="02020603050405020304" pitchFamily="18" charset="0"/>
              </a:rPr>
              <a:t>。</a:t>
            </a:r>
          </a:p>
        </p:txBody>
      </p:sp>
      <p:sp>
        <p:nvSpPr>
          <p:cNvPr id="26" name="矩形 25">
            <a:extLst>
              <a:ext uri="{FF2B5EF4-FFF2-40B4-BE49-F238E27FC236}">
                <a16:creationId xmlns:a16="http://schemas.microsoft.com/office/drawing/2014/main" id="{64509930-9DFB-420E-8F32-960E50399825}"/>
              </a:ext>
            </a:extLst>
          </p:cNvPr>
          <p:cNvSpPr/>
          <p:nvPr/>
        </p:nvSpPr>
        <p:spPr>
          <a:xfrm>
            <a:off x="1571711" y="258777"/>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7" name="圆角矩形 43">
            <a:extLst>
              <a:ext uri="{FF2B5EF4-FFF2-40B4-BE49-F238E27FC236}">
                <a16:creationId xmlns:a16="http://schemas.microsoft.com/office/drawing/2014/main" id="{7D086454-5B10-4064-9B8F-531209592F7E}"/>
              </a:ext>
            </a:extLst>
          </p:cNvPr>
          <p:cNvSpPr/>
          <p:nvPr/>
        </p:nvSpPr>
        <p:spPr>
          <a:xfrm rot="10800000" flipV="1">
            <a:off x="185084" y="242948"/>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20204" pitchFamily="34" charset="0"/>
                <a:ea typeface="宋体" panose="02010600030101010101" pitchFamily="2" charset="-122"/>
                <a:cs typeface="Arial" panose="020B0604020202020204" pitchFamily="34" charset="0"/>
              </a:rPr>
              <a:t>9.3.2</a:t>
            </a:r>
            <a:endParaRPr lang="zh-CN" altLang="en-US" sz="3200" b="1" dirty="0">
              <a:latin typeface="Arial" panose="020B0604020202020204" pitchFamily="34" charset="0"/>
              <a:ea typeface="宋体" panose="02010600030101010101" pitchFamily="2" charset="-122"/>
              <a:cs typeface="Arial" panose="020B0604020202020204" pitchFamily="34" charset="0"/>
            </a:endParaRPr>
          </a:p>
        </p:txBody>
      </p:sp>
      <p:sp>
        <p:nvSpPr>
          <p:cNvPr id="38" name="矩形 37">
            <a:extLst>
              <a:ext uri="{FF2B5EF4-FFF2-40B4-BE49-F238E27FC236}">
                <a16:creationId xmlns:a16="http://schemas.microsoft.com/office/drawing/2014/main" id="{2A2F604C-DA27-459E-8419-ED777356D653}"/>
              </a:ext>
            </a:extLst>
          </p:cNvPr>
          <p:cNvSpPr/>
          <p:nvPr/>
        </p:nvSpPr>
        <p:spPr>
          <a:xfrm>
            <a:off x="1932551" y="240301"/>
            <a:ext cx="4342847" cy="615549"/>
          </a:xfrm>
          <a:prstGeom prst="rect">
            <a:avLst/>
          </a:prstGeom>
        </p:spPr>
        <p:txBody>
          <a:bodyPr wrap="none" lIns="91436" tIns="45718" rIns="91436" bIns="45718">
            <a:spAutoFit/>
          </a:bodyPr>
          <a:lstStyle/>
          <a:p>
            <a:pPr algn="ctr"/>
            <a:r>
              <a:rPr lang="zh-CN" altLang="en-US" sz="3400" b="1" dirty="0">
                <a:solidFill>
                  <a:schemeClr val="bg1"/>
                </a:solidFill>
                <a:latin typeface="宋体" panose="02010600030101010101" pitchFamily="2" charset="-122"/>
                <a:ea typeface="宋体" panose="02010600030101010101" pitchFamily="2" charset="-122"/>
              </a:rPr>
              <a:t>超</a:t>
            </a:r>
            <a:r>
              <a:rPr lang="en-US" altLang="zh-CN" sz="3400" b="1" dirty="0">
                <a:solidFill>
                  <a:schemeClr val="bg1"/>
                </a:solidFill>
                <a:latin typeface="宋体" panose="02010600030101010101" pitchFamily="2" charset="-122"/>
                <a:ea typeface="宋体" panose="02010600030101010101" pitchFamily="2" charset="-122"/>
              </a:rPr>
              <a:t>/</a:t>
            </a:r>
            <a:r>
              <a:rPr lang="zh-CN" altLang="en-US" sz="3400" b="1" dirty="0">
                <a:solidFill>
                  <a:schemeClr val="bg1"/>
                </a:solidFill>
                <a:latin typeface="宋体" panose="02010600030101010101" pitchFamily="2" charset="-122"/>
                <a:ea typeface="宋体" panose="02010600030101010101" pitchFamily="2" charset="-122"/>
              </a:rPr>
              <a:t>次声波传感器分类</a:t>
            </a:r>
            <a:endParaRPr lang="en-US" altLang="zh-CN" sz="3400" b="1" dirty="0">
              <a:solidFill>
                <a:schemeClr val="bg1"/>
              </a:solidFill>
              <a:latin typeface="宋体" panose="02010600030101010101" pitchFamily="2" charset="-122"/>
              <a:ea typeface="宋体" panose="02010600030101010101" pitchFamily="2" charset="-122"/>
            </a:endParaRPr>
          </a:p>
        </p:txBody>
      </p:sp>
      <p:sp>
        <p:nvSpPr>
          <p:cNvPr id="2" name="Slide Number Placeholder 1">
            <a:extLst>
              <a:ext uri="{FF2B5EF4-FFF2-40B4-BE49-F238E27FC236}">
                <a16:creationId xmlns:a16="http://schemas.microsoft.com/office/drawing/2014/main" id="{112099E2-F544-4DDF-B993-3E02B642CCA5}"/>
              </a:ext>
            </a:extLst>
          </p:cNvPr>
          <p:cNvSpPr>
            <a:spLocks noGrp="1"/>
          </p:cNvSpPr>
          <p:nvPr>
            <p:ph type="sldNum" sz="quarter" idx="12"/>
          </p:nvPr>
        </p:nvSpPr>
        <p:spPr/>
        <p:txBody>
          <a:bodyPr/>
          <a:lstStyle/>
          <a:p>
            <a:fld id="{B53602B4-F12B-41CD-B648-531F86B2CC91}" type="slidenum">
              <a:rPr lang="zh-CN" altLang="en-US" smtClean="0"/>
              <a:t>33</a:t>
            </a:fld>
            <a:endParaRPr lang="zh-CN" altLang="en-US"/>
          </a:p>
        </p:txBody>
      </p:sp>
      <p:sp>
        <p:nvSpPr>
          <p:cNvPr id="20" name="矩形 45">
            <a:extLst>
              <a:ext uri="{FF2B5EF4-FFF2-40B4-BE49-F238E27FC236}">
                <a16:creationId xmlns:a16="http://schemas.microsoft.com/office/drawing/2014/main" id="{3B931773-B8AA-400E-9E23-AF2217A8B34C}"/>
              </a:ext>
            </a:extLst>
          </p:cNvPr>
          <p:cNvSpPr/>
          <p:nvPr/>
        </p:nvSpPr>
        <p:spPr>
          <a:xfrm>
            <a:off x="294780" y="1510932"/>
            <a:ext cx="2969074" cy="461661"/>
          </a:xfrm>
          <a:prstGeom prst="rect">
            <a:avLst/>
          </a:prstGeom>
          <a:solidFill>
            <a:srgbClr val="92D050"/>
          </a:solidFill>
        </p:spPr>
        <p:txBody>
          <a:bodyPr wrap="none" lIns="91436" tIns="45718" rIns="91436" bIns="45718">
            <a:spAutoFit/>
          </a:bodyPr>
          <a:lstStyle/>
          <a:p>
            <a:pPr algn="ctr"/>
            <a:r>
              <a:rPr lang="zh-CN" altLang="en-US" sz="2400" b="1" dirty="0">
                <a:latin typeface="宋体" panose="02010600030101010101" pitchFamily="2" charset="-122"/>
                <a:ea typeface="宋体" panose="02010600030101010101" pitchFamily="2" charset="-122"/>
              </a:rPr>
              <a:t>压电式超声波传感器</a:t>
            </a:r>
            <a:endParaRPr lang="en-US" altLang="zh-CN" sz="2400" b="1"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292129387"/>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
            <a:extLst>
              <a:ext uri="{FF2B5EF4-FFF2-40B4-BE49-F238E27FC236}">
                <a16:creationId xmlns:a16="http://schemas.microsoft.com/office/drawing/2014/main" id="{2A2A34A4-A37B-4BA6-9CAD-7B28044881DF}"/>
              </a:ext>
            </a:extLst>
          </p:cNvPr>
          <p:cNvPicPr>
            <a:picLocks noChangeAspect="1"/>
          </p:cNvPicPr>
          <p:nvPr/>
        </p:nvPicPr>
        <p:blipFill>
          <a:blip r:embed="rId3"/>
          <a:stretch>
            <a:fillRect/>
          </a:stretch>
        </p:blipFill>
        <p:spPr>
          <a:xfrm>
            <a:off x="2044700" y="3376302"/>
            <a:ext cx="5003800" cy="2671130"/>
          </a:xfrm>
          <a:prstGeom prst="rect">
            <a:avLst/>
          </a:prstGeom>
        </p:spPr>
      </p:pic>
      <p:sp>
        <p:nvSpPr>
          <p:cNvPr id="3" name="文本框 2">
            <a:extLst>
              <a:ext uri="{FF2B5EF4-FFF2-40B4-BE49-F238E27FC236}">
                <a16:creationId xmlns:a16="http://schemas.microsoft.com/office/drawing/2014/main" id="{49142242-5E57-4D15-A0DD-17CB598A023D}"/>
              </a:ext>
            </a:extLst>
          </p:cNvPr>
          <p:cNvSpPr txBox="1"/>
          <p:nvPr/>
        </p:nvSpPr>
        <p:spPr>
          <a:xfrm>
            <a:off x="499410" y="1103342"/>
            <a:ext cx="7549216" cy="2491063"/>
          </a:xfrm>
          <a:prstGeom prst="rect">
            <a:avLst/>
          </a:prstGeom>
          <a:noFill/>
        </p:spPr>
        <p:txBody>
          <a:bodyPr wrap="square" lIns="91436" tIns="45718" rIns="91436" bIns="45718" rtlCol="0">
            <a:spAutoFit/>
          </a:bodyPr>
          <a:lstStyle/>
          <a:p>
            <a:pPr marL="342900" indent="-342900">
              <a:lnSpc>
                <a:spcPct val="120000"/>
              </a:lnSpc>
              <a:buFont typeface="Wingdings" panose="05000000000000000000" pitchFamily="2" charset="2"/>
              <a:buChar char="§"/>
            </a:pPr>
            <a:r>
              <a:rPr lang="zh-CN" altLang="en-US" sz="22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压电式超声波接收器</a:t>
            </a:r>
            <a:r>
              <a:rPr lang="zh-CN" altLang="en-US" sz="2200" b="1" dirty="0">
                <a:latin typeface="Times New Roman" panose="02020603050405020304" pitchFamily="18" charset="0"/>
                <a:ea typeface="宋体" panose="02010600030101010101" pitchFamily="2" charset="-122"/>
                <a:cs typeface="Times New Roman" panose="02020603050405020304" pitchFamily="18" charset="0"/>
              </a:rPr>
              <a:t>利用正压电效应原理进行工作。</a:t>
            </a:r>
            <a:endParaRPr lang="en-US" altLang="zh-CN" sz="2200" b="1" dirty="0">
              <a:latin typeface="Times New Roman" panose="02020603050405020304" pitchFamily="18" charset="0"/>
              <a:ea typeface="宋体" panose="02010600030101010101" pitchFamily="2" charset="-122"/>
              <a:cs typeface="Times New Roman" panose="02020603050405020304" pitchFamily="18" charset="0"/>
            </a:endParaRPr>
          </a:p>
          <a:p>
            <a:pPr marL="342900" indent="-342900">
              <a:lnSpc>
                <a:spcPct val="120000"/>
              </a:lnSpc>
              <a:buFont typeface="Wingdings" panose="05000000000000000000" pitchFamily="2" charset="2"/>
              <a:buChar char="§"/>
            </a:pPr>
            <a:r>
              <a:rPr lang="zh-CN" altLang="en-US" sz="2200" b="1" dirty="0">
                <a:latin typeface="Times New Roman" panose="02020603050405020304" pitchFamily="18" charset="0"/>
                <a:ea typeface="宋体" panose="02010600030101010101" pitchFamily="2" charset="-122"/>
                <a:cs typeface="Times New Roman" panose="02020603050405020304" pitchFamily="18" charset="0"/>
              </a:rPr>
              <a:t>当超声波作用到压电晶片上时引起晶片伸缩，在晶片的两个表面上便产生极性相反的电荷，这些电荷被转换成电压经放大后，记录或显示出来。</a:t>
            </a:r>
            <a:endParaRPr lang="en-US" altLang="zh-CN" sz="2200" b="1" dirty="0">
              <a:latin typeface="Times New Roman" panose="02020603050405020304" pitchFamily="18" charset="0"/>
              <a:ea typeface="宋体" panose="02010600030101010101" pitchFamily="2" charset="-122"/>
              <a:cs typeface="Times New Roman" panose="02020603050405020304" pitchFamily="18" charset="0"/>
            </a:endParaRPr>
          </a:p>
          <a:p>
            <a:pPr marL="342900" indent="-342900">
              <a:lnSpc>
                <a:spcPct val="120000"/>
              </a:lnSpc>
              <a:buFont typeface="Wingdings" panose="05000000000000000000" pitchFamily="2" charset="2"/>
              <a:buChar char="§"/>
            </a:pPr>
            <a:r>
              <a:rPr lang="zh-CN" altLang="en-US" sz="2200" b="1" dirty="0">
                <a:latin typeface="Times New Roman" panose="02020603050405020304" pitchFamily="18" charset="0"/>
                <a:ea typeface="宋体" panose="02010600030101010101" pitchFamily="2" charset="-122"/>
                <a:cs typeface="Times New Roman" panose="02020603050405020304" pitchFamily="18" charset="0"/>
              </a:rPr>
              <a:t>压电式超声波接收器的结构和超声波发生器基本相同，有时就用同一个传感器兼作两用。                 </a:t>
            </a:r>
            <a:endParaRPr lang="en-US" altLang="zh-CN" sz="2200" b="1"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6" name="矩形 25">
            <a:extLst>
              <a:ext uri="{FF2B5EF4-FFF2-40B4-BE49-F238E27FC236}">
                <a16:creationId xmlns:a16="http://schemas.microsoft.com/office/drawing/2014/main" id="{64509930-9DFB-420E-8F32-960E50399825}"/>
              </a:ext>
            </a:extLst>
          </p:cNvPr>
          <p:cNvSpPr/>
          <p:nvPr/>
        </p:nvSpPr>
        <p:spPr>
          <a:xfrm>
            <a:off x="1571711" y="258777"/>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7" name="圆角矩形 43">
            <a:extLst>
              <a:ext uri="{FF2B5EF4-FFF2-40B4-BE49-F238E27FC236}">
                <a16:creationId xmlns:a16="http://schemas.microsoft.com/office/drawing/2014/main" id="{7D086454-5B10-4064-9B8F-531209592F7E}"/>
              </a:ext>
            </a:extLst>
          </p:cNvPr>
          <p:cNvSpPr/>
          <p:nvPr/>
        </p:nvSpPr>
        <p:spPr>
          <a:xfrm rot="10800000" flipV="1">
            <a:off x="185084" y="242948"/>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20204" pitchFamily="34" charset="0"/>
                <a:ea typeface="宋体" panose="02010600030101010101" pitchFamily="2" charset="-122"/>
                <a:cs typeface="Arial" panose="020B0604020202020204" pitchFamily="34" charset="0"/>
              </a:rPr>
              <a:t>9.3.2</a:t>
            </a:r>
            <a:endParaRPr lang="zh-CN" altLang="en-US" sz="3200" b="1" dirty="0">
              <a:latin typeface="Arial" panose="020B0604020202020204" pitchFamily="34" charset="0"/>
              <a:ea typeface="宋体" panose="02010600030101010101" pitchFamily="2" charset="-122"/>
              <a:cs typeface="Arial" panose="020B0604020202020204" pitchFamily="34" charset="0"/>
            </a:endParaRPr>
          </a:p>
        </p:txBody>
      </p:sp>
      <p:sp>
        <p:nvSpPr>
          <p:cNvPr id="38" name="矩形 37">
            <a:extLst>
              <a:ext uri="{FF2B5EF4-FFF2-40B4-BE49-F238E27FC236}">
                <a16:creationId xmlns:a16="http://schemas.microsoft.com/office/drawing/2014/main" id="{2A2F604C-DA27-459E-8419-ED777356D653}"/>
              </a:ext>
            </a:extLst>
          </p:cNvPr>
          <p:cNvSpPr/>
          <p:nvPr/>
        </p:nvSpPr>
        <p:spPr>
          <a:xfrm>
            <a:off x="1932551" y="240301"/>
            <a:ext cx="4342847" cy="615549"/>
          </a:xfrm>
          <a:prstGeom prst="rect">
            <a:avLst/>
          </a:prstGeom>
        </p:spPr>
        <p:txBody>
          <a:bodyPr wrap="none" lIns="91436" tIns="45718" rIns="91436" bIns="45718">
            <a:spAutoFit/>
          </a:bodyPr>
          <a:lstStyle/>
          <a:p>
            <a:pPr algn="ctr"/>
            <a:r>
              <a:rPr lang="zh-CN" altLang="en-US" sz="3400" b="1" dirty="0">
                <a:solidFill>
                  <a:schemeClr val="bg1"/>
                </a:solidFill>
                <a:latin typeface="宋体" panose="02010600030101010101" pitchFamily="2" charset="-122"/>
                <a:ea typeface="宋体" panose="02010600030101010101" pitchFamily="2" charset="-122"/>
              </a:rPr>
              <a:t>超</a:t>
            </a:r>
            <a:r>
              <a:rPr lang="en-US" altLang="zh-CN" sz="3400" b="1" dirty="0">
                <a:solidFill>
                  <a:schemeClr val="bg1"/>
                </a:solidFill>
                <a:latin typeface="宋体" panose="02010600030101010101" pitchFamily="2" charset="-122"/>
                <a:ea typeface="宋体" panose="02010600030101010101" pitchFamily="2" charset="-122"/>
              </a:rPr>
              <a:t>/</a:t>
            </a:r>
            <a:r>
              <a:rPr lang="zh-CN" altLang="en-US" sz="3400" b="1" dirty="0">
                <a:solidFill>
                  <a:schemeClr val="bg1"/>
                </a:solidFill>
                <a:latin typeface="宋体" panose="02010600030101010101" pitchFamily="2" charset="-122"/>
                <a:ea typeface="宋体" panose="02010600030101010101" pitchFamily="2" charset="-122"/>
              </a:rPr>
              <a:t>次声波传感器分类</a:t>
            </a:r>
            <a:endParaRPr lang="en-US" altLang="zh-CN" sz="3400" b="1" dirty="0">
              <a:solidFill>
                <a:schemeClr val="bg1"/>
              </a:solidFill>
              <a:latin typeface="宋体" panose="02010600030101010101" pitchFamily="2" charset="-122"/>
              <a:ea typeface="宋体" panose="02010600030101010101" pitchFamily="2" charset="-122"/>
            </a:endParaRPr>
          </a:p>
        </p:txBody>
      </p:sp>
      <p:sp>
        <p:nvSpPr>
          <p:cNvPr id="4" name="Slide Number Placeholder 3">
            <a:extLst>
              <a:ext uri="{FF2B5EF4-FFF2-40B4-BE49-F238E27FC236}">
                <a16:creationId xmlns:a16="http://schemas.microsoft.com/office/drawing/2014/main" id="{9F08968B-4E6D-437D-B46E-150E1503E221}"/>
              </a:ext>
            </a:extLst>
          </p:cNvPr>
          <p:cNvSpPr>
            <a:spLocks noGrp="1"/>
          </p:cNvSpPr>
          <p:nvPr>
            <p:ph type="sldNum" sz="quarter" idx="12"/>
          </p:nvPr>
        </p:nvSpPr>
        <p:spPr/>
        <p:txBody>
          <a:bodyPr/>
          <a:lstStyle/>
          <a:p>
            <a:fld id="{B53602B4-F12B-41CD-B648-531F86B2CC91}" type="slidenum">
              <a:rPr lang="zh-CN" altLang="en-US" smtClean="0"/>
              <a:t>34</a:t>
            </a:fld>
            <a:endParaRPr lang="zh-CN" altLang="en-US"/>
          </a:p>
        </p:txBody>
      </p:sp>
      <p:sp>
        <p:nvSpPr>
          <p:cNvPr id="20" name="Text Box 59">
            <a:extLst>
              <a:ext uri="{FF2B5EF4-FFF2-40B4-BE49-F238E27FC236}">
                <a16:creationId xmlns:a16="http://schemas.microsoft.com/office/drawing/2014/main" id="{4F454B9F-96E1-47F7-9B12-C3B22CF03CAA}"/>
              </a:ext>
            </a:extLst>
          </p:cNvPr>
          <p:cNvSpPr txBox="1">
            <a:spLocks noChangeArrowheads="1"/>
          </p:cNvSpPr>
          <p:nvPr/>
        </p:nvSpPr>
        <p:spPr bwMode="auto">
          <a:xfrm>
            <a:off x="2095500" y="6047432"/>
            <a:ext cx="4953000" cy="4914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buFontTx/>
              <a:buNone/>
            </a:pPr>
            <a:r>
              <a:rPr kumimoji="0" lang="zh-CN" altLang="en-US" sz="2400" b="1" dirty="0">
                <a:solidFill>
                  <a:srgbClr val="3333CC"/>
                </a:solidFill>
                <a:latin typeface="宋体" pitchFamily="2" charset="-122"/>
              </a:rPr>
              <a:t>图</a:t>
            </a:r>
            <a:r>
              <a:rPr kumimoji="0" lang="en-US" altLang="zh-CN" sz="2400" b="1" dirty="0">
                <a:solidFill>
                  <a:srgbClr val="3333CC"/>
                </a:solidFill>
                <a:latin typeface="宋体" pitchFamily="2" charset="-122"/>
              </a:rPr>
              <a:t>9-4 </a:t>
            </a:r>
            <a:r>
              <a:rPr kumimoji="0" lang="zh-CN" altLang="en-US" sz="2400" b="1" dirty="0">
                <a:solidFill>
                  <a:srgbClr val="3333CC"/>
                </a:solidFill>
                <a:latin typeface="宋体" pitchFamily="2" charset="-122"/>
              </a:rPr>
              <a:t>压电式超声波传感器的结构</a:t>
            </a:r>
          </a:p>
        </p:txBody>
      </p:sp>
    </p:spTree>
    <p:extLst>
      <p:ext uri="{BB962C8B-B14F-4D97-AF65-F5344CB8AC3E}">
        <p14:creationId xmlns:p14="http://schemas.microsoft.com/office/powerpoint/2010/main" val="3399675106"/>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矩形 45"/>
          <p:cNvSpPr/>
          <p:nvPr/>
        </p:nvSpPr>
        <p:spPr>
          <a:xfrm>
            <a:off x="185084" y="1257129"/>
            <a:ext cx="3587833" cy="461661"/>
          </a:xfrm>
          <a:prstGeom prst="rect">
            <a:avLst/>
          </a:prstGeom>
          <a:solidFill>
            <a:srgbClr val="92D050"/>
          </a:solidFill>
        </p:spPr>
        <p:txBody>
          <a:bodyPr wrap="none" lIns="91436" tIns="45718" rIns="91436" bIns="45718">
            <a:spAutoFit/>
          </a:bodyPr>
          <a:lstStyle/>
          <a:p>
            <a:pPr algn="ctr"/>
            <a:r>
              <a:rPr lang="zh-CN" altLang="en-US" sz="2400" b="1" dirty="0">
                <a:latin typeface="宋体" panose="02010600030101010101" pitchFamily="2" charset="-122"/>
                <a:ea typeface="宋体" panose="02010600030101010101" pitchFamily="2" charset="-122"/>
              </a:rPr>
              <a:t>磁致伸缩式超声波传感器</a:t>
            </a:r>
            <a:endParaRPr lang="en-US" altLang="zh-CN" sz="2400" b="1" dirty="0">
              <a:latin typeface="宋体" panose="02010600030101010101" pitchFamily="2" charset="-122"/>
              <a:ea typeface="宋体" panose="02010600030101010101" pitchFamily="2" charset="-122"/>
            </a:endParaRPr>
          </a:p>
        </p:txBody>
      </p:sp>
      <p:sp>
        <p:nvSpPr>
          <p:cNvPr id="3" name="文本框 2">
            <a:extLst>
              <a:ext uri="{FF2B5EF4-FFF2-40B4-BE49-F238E27FC236}">
                <a16:creationId xmlns:a16="http://schemas.microsoft.com/office/drawing/2014/main" id="{49142242-5E57-4D15-A0DD-17CB598A023D}"/>
              </a:ext>
            </a:extLst>
          </p:cNvPr>
          <p:cNvSpPr txBox="1"/>
          <p:nvPr/>
        </p:nvSpPr>
        <p:spPr>
          <a:xfrm>
            <a:off x="307046" y="2105425"/>
            <a:ext cx="8529907" cy="3289743"/>
          </a:xfrm>
          <a:prstGeom prst="rect">
            <a:avLst/>
          </a:prstGeom>
          <a:noFill/>
        </p:spPr>
        <p:txBody>
          <a:bodyPr wrap="square" lIns="91436" tIns="45718" rIns="91436" bIns="45718" rtlCol="0">
            <a:spAutoFit/>
          </a:bodyPr>
          <a:lstStyle/>
          <a:p>
            <a:pPr marL="342900" indent="-342900">
              <a:lnSpc>
                <a:spcPct val="120000"/>
              </a:lnSpc>
              <a:spcBef>
                <a:spcPts val="624"/>
              </a:spcBef>
              <a:buFont typeface="Wingdings" panose="05000000000000000000" pitchFamily="2" charset="2"/>
              <a:buChar char="§"/>
            </a:pPr>
            <a:r>
              <a:rPr lang="zh-CN" altLang="en-US" sz="2400" b="1" dirty="0">
                <a:latin typeface="宋体" pitchFamily="2" charset="-122"/>
                <a:ea typeface="宋体" pitchFamily="2" charset="-122"/>
                <a:cs typeface="Times New Roman" panose="02020603050405020304" pitchFamily="18" charset="0"/>
              </a:rPr>
              <a:t>磁致伸缩效应的强弱即材料伸长缩短的程度，因铁磁材料的不同而各异。</a:t>
            </a:r>
            <a:endParaRPr lang="en-US" altLang="zh-CN" sz="2400" b="1" dirty="0">
              <a:latin typeface="宋体" pitchFamily="2" charset="-122"/>
              <a:ea typeface="宋体" pitchFamily="2" charset="-122"/>
              <a:cs typeface="Times New Roman" panose="02020603050405020304" pitchFamily="18" charset="0"/>
            </a:endParaRPr>
          </a:p>
          <a:p>
            <a:pPr marL="342900" indent="-342900">
              <a:lnSpc>
                <a:spcPct val="120000"/>
              </a:lnSpc>
              <a:spcBef>
                <a:spcPts val="624"/>
              </a:spcBef>
              <a:buFont typeface="Wingdings" panose="05000000000000000000" pitchFamily="2" charset="2"/>
              <a:buChar char="§"/>
            </a:pPr>
            <a:r>
              <a:rPr lang="zh-CN" altLang="en-US" sz="2400" b="1" dirty="0">
                <a:latin typeface="宋体" pitchFamily="2" charset="-122"/>
                <a:ea typeface="宋体" pitchFamily="2" charset="-122"/>
                <a:cs typeface="Times New Roman" panose="02020603050405020304" pitchFamily="18" charset="0"/>
              </a:rPr>
              <a:t>镍的磁致伸缩效应最大，如果先加一定的</a:t>
            </a:r>
            <a:r>
              <a:rPr lang="zh-CN" altLang="en-US" sz="2400" b="1" dirty="0">
                <a:solidFill>
                  <a:srgbClr val="3333CC"/>
                </a:solidFill>
                <a:latin typeface="宋体" pitchFamily="2" charset="-122"/>
                <a:ea typeface="宋体" pitchFamily="2" charset="-122"/>
                <a:cs typeface="Times New Roman" panose="02020603050405020304" pitchFamily="18" charset="0"/>
              </a:rPr>
              <a:t>直流磁场，再通以交变电流</a:t>
            </a:r>
            <a:r>
              <a:rPr lang="zh-CN" altLang="en-US" sz="2400" b="1" dirty="0">
                <a:latin typeface="宋体" pitchFamily="2" charset="-122"/>
                <a:ea typeface="宋体" pitchFamily="2" charset="-122"/>
                <a:cs typeface="Times New Roman" panose="02020603050405020304" pitchFamily="18" charset="0"/>
              </a:rPr>
              <a:t>，则它可以工作在特性最好的区域。</a:t>
            </a:r>
            <a:endParaRPr lang="en-US" altLang="zh-CN" sz="2400" b="1" dirty="0">
              <a:latin typeface="宋体" pitchFamily="2" charset="-122"/>
              <a:ea typeface="宋体" pitchFamily="2" charset="-122"/>
              <a:cs typeface="Times New Roman" panose="02020603050405020304" pitchFamily="18" charset="0"/>
            </a:endParaRPr>
          </a:p>
          <a:p>
            <a:pPr marL="342900" indent="-342900">
              <a:lnSpc>
                <a:spcPct val="120000"/>
              </a:lnSpc>
              <a:spcBef>
                <a:spcPts val="624"/>
              </a:spcBef>
              <a:buFont typeface="Wingdings" panose="05000000000000000000" pitchFamily="2" charset="2"/>
              <a:buChar char="§"/>
            </a:pPr>
            <a:r>
              <a:rPr lang="zh-CN" altLang="en-US" sz="2400" b="1" dirty="0">
                <a:latin typeface="宋体" pitchFamily="2" charset="-122"/>
                <a:ea typeface="宋体" pitchFamily="2" charset="-122"/>
                <a:cs typeface="Times New Roman" panose="02020603050405020304" pitchFamily="18" charset="0"/>
              </a:rPr>
              <a:t>除镍外，还有铁钴钒合金和含锌、镍的铁氧体。它们的工作频率范围较窄，仅在几十</a:t>
            </a:r>
            <a:r>
              <a:rPr lang="en-US" altLang="zh-CN" sz="2400" b="1" dirty="0">
                <a:latin typeface="宋体" pitchFamily="2" charset="-122"/>
                <a:ea typeface="宋体" pitchFamily="2" charset="-122"/>
                <a:cs typeface="Times New Roman" panose="02020603050405020304" pitchFamily="18" charset="0"/>
              </a:rPr>
              <a:t>KHz</a:t>
            </a:r>
            <a:r>
              <a:rPr lang="zh-CN" altLang="en-US" sz="2400" b="1" dirty="0">
                <a:latin typeface="宋体" pitchFamily="2" charset="-122"/>
                <a:ea typeface="宋体" pitchFamily="2" charset="-122"/>
                <a:cs typeface="Times New Roman" panose="02020603050405020304" pitchFamily="18" charset="0"/>
              </a:rPr>
              <a:t>以内，但功率可达</a:t>
            </a:r>
            <a:r>
              <a:rPr lang="en-US" altLang="zh-CN" sz="2400" b="1" dirty="0">
                <a:latin typeface="宋体" pitchFamily="2" charset="-122"/>
                <a:ea typeface="宋体" pitchFamily="2" charset="-122"/>
                <a:cs typeface="Times New Roman" panose="02020603050405020304" pitchFamily="18" charset="0"/>
              </a:rPr>
              <a:t>100KW</a:t>
            </a:r>
            <a:r>
              <a:rPr lang="zh-CN" altLang="en-US" sz="2400" b="1" dirty="0">
                <a:latin typeface="宋体" pitchFamily="2" charset="-122"/>
                <a:ea typeface="宋体" pitchFamily="2" charset="-122"/>
                <a:cs typeface="Times New Roman" panose="02020603050405020304" pitchFamily="18" charset="0"/>
              </a:rPr>
              <a:t>，声强可达几</a:t>
            </a:r>
            <a:r>
              <a:rPr lang="en-US" altLang="zh-CN" sz="2400" b="1" dirty="0">
                <a:latin typeface="宋体" pitchFamily="2" charset="-122"/>
                <a:ea typeface="宋体" pitchFamily="2" charset="-122"/>
                <a:cs typeface="Times New Roman" panose="02020603050405020304" pitchFamily="18" charset="0"/>
              </a:rPr>
              <a:t>KW/mm</a:t>
            </a:r>
            <a:r>
              <a:rPr lang="en-US" altLang="zh-CN" sz="2400" b="1" baseline="30000" dirty="0">
                <a:latin typeface="宋体" pitchFamily="2" charset="-122"/>
                <a:ea typeface="宋体" pitchFamily="2" charset="-122"/>
                <a:cs typeface="Times New Roman" panose="02020603050405020304" pitchFamily="18" charset="0"/>
              </a:rPr>
              <a:t>2</a:t>
            </a:r>
            <a:r>
              <a:rPr lang="zh-CN" altLang="en-US" sz="2400" b="1" dirty="0">
                <a:latin typeface="宋体" pitchFamily="2" charset="-122"/>
                <a:ea typeface="宋体" pitchFamily="2" charset="-122"/>
                <a:cs typeface="Times New Roman" panose="02020603050405020304" pitchFamily="18" charset="0"/>
              </a:rPr>
              <a:t>，且能耐较高的温度。</a:t>
            </a:r>
          </a:p>
        </p:txBody>
      </p:sp>
      <p:sp>
        <p:nvSpPr>
          <p:cNvPr id="26" name="矩形 25">
            <a:extLst>
              <a:ext uri="{FF2B5EF4-FFF2-40B4-BE49-F238E27FC236}">
                <a16:creationId xmlns:a16="http://schemas.microsoft.com/office/drawing/2014/main" id="{64509930-9DFB-420E-8F32-960E50399825}"/>
              </a:ext>
            </a:extLst>
          </p:cNvPr>
          <p:cNvSpPr/>
          <p:nvPr/>
        </p:nvSpPr>
        <p:spPr>
          <a:xfrm>
            <a:off x="1571711" y="258777"/>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7" name="圆角矩形 43">
            <a:extLst>
              <a:ext uri="{FF2B5EF4-FFF2-40B4-BE49-F238E27FC236}">
                <a16:creationId xmlns:a16="http://schemas.microsoft.com/office/drawing/2014/main" id="{7D086454-5B10-4064-9B8F-531209592F7E}"/>
              </a:ext>
            </a:extLst>
          </p:cNvPr>
          <p:cNvSpPr/>
          <p:nvPr/>
        </p:nvSpPr>
        <p:spPr>
          <a:xfrm rot="10800000" flipV="1">
            <a:off x="185084" y="242948"/>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20204" pitchFamily="34" charset="0"/>
                <a:ea typeface="宋体" panose="02010600030101010101" pitchFamily="2" charset="-122"/>
                <a:cs typeface="Arial" panose="020B0604020202020204" pitchFamily="34" charset="0"/>
              </a:rPr>
              <a:t>9.3.2</a:t>
            </a:r>
            <a:endParaRPr lang="zh-CN" altLang="en-US" sz="3200" b="1" dirty="0">
              <a:latin typeface="Arial" panose="020B0604020202020204" pitchFamily="34" charset="0"/>
              <a:ea typeface="宋体" panose="02010600030101010101" pitchFamily="2" charset="-122"/>
              <a:cs typeface="Arial" panose="020B0604020202020204" pitchFamily="34" charset="0"/>
            </a:endParaRPr>
          </a:p>
        </p:txBody>
      </p:sp>
      <p:sp>
        <p:nvSpPr>
          <p:cNvPr id="38" name="矩形 37">
            <a:extLst>
              <a:ext uri="{FF2B5EF4-FFF2-40B4-BE49-F238E27FC236}">
                <a16:creationId xmlns:a16="http://schemas.microsoft.com/office/drawing/2014/main" id="{2A2F604C-DA27-459E-8419-ED777356D653}"/>
              </a:ext>
            </a:extLst>
          </p:cNvPr>
          <p:cNvSpPr/>
          <p:nvPr/>
        </p:nvSpPr>
        <p:spPr>
          <a:xfrm>
            <a:off x="1932551" y="240301"/>
            <a:ext cx="4342847" cy="615549"/>
          </a:xfrm>
          <a:prstGeom prst="rect">
            <a:avLst/>
          </a:prstGeom>
        </p:spPr>
        <p:txBody>
          <a:bodyPr wrap="none" lIns="91436" tIns="45718" rIns="91436" bIns="45718">
            <a:spAutoFit/>
          </a:bodyPr>
          <a:lstStyle/>
          <a:p>
            <a:pPr algn="ctr"/>
            <a:r>
              <a:rPr lang="zh-CN" altLang="en-US" sz="3400" b="1" dirty="0">
                <a:solidFill>
                  <a:schemeClr val="bg1"/>
                </a:solidFill>
                <a:latin typeface="宋体" panose="02010600030101010101" pitchFamily="2" charset="-122"/>
                <a:ea typeface="宋体" panose="02010600030101010101" pitchFamily="2" charset="-122"/>
              </a:rPr>
              <a:t>超</a:t>
            </a:r>
            <a:r>
              <a:rPr lang="en-US" altLang="zh-CN" sz="3400" b="1" dirty="0">
                <a:solidFill>
                  <a:schemeClr val="bg1"/>
                </a:solidFill>
                <a:latin typeface="宋体" panose="02010600030101010101" pitchFamily="2" charset="-122"/>
                <a:ea typeface="宋体" panose="02010600030101010101" pitchFamily="2" charset="-122"/>
              </a:rPr>
              <a:t>/</a:t>
            </a:r>
            <a:r>
              <a:rPr lang="zh-CN" altLang="en-US" sz="3400" b="1" dirty="0">
                <a:solidFill>
                  <a:schemeClr val="bg1"/>
                </a:solidFill>
                <a:latin typeface="宋体" panose="02010600030101010101" pitchFamily="2" charset="-122"/>
                <a:ea typeface="宋体" panose="02010600030101010101" pitchFamily="2" charset="-122"/>
              </a:rPr>
              <a:t>次声波传感器分类</a:t>
            </a:r>
            <a:endParaRPr lang="en-US" altLang="zh-CN" sz="3400" b="1" dirty="0">
              <a:solidFill>
                <a:schemeClr val="bg1"/>
              </a:solidFill>
              <a:latin typeface="宋体" panose="02010600030101010101" pitchFamily="2" charset="-122"/>
              <a:ea typeface="宋体" panose="02010600030101010101" pitchFamily="2" charset="-122"/>
            </a:endParaRPr>
          </a:p>
        </p:txBody>
      </p:sp>
      <p:sp>
        <p:nvSpPr>
          <p:cNvPr id="2" name="Slide Number Placeholder 1">
            <a:extLst>
              <a:ext uri="{FF2B5EF4-FFF2-40B4-BE49-F238E27FC236}">
                <a16:creationId xmlns:a16="http://schemas.microsoft.com/office/drawing/2014/main" id="{3803D042-3CF7-47F8-8FA3-734A38ADA73B}"/>
              </a:ext>
            </a:extLst>
          </p:cNvPr>
          <p:cNvSpPr>
            <a:spLocks noGrp="1"/>
          </p:cNvSpPr>
          <p:nvPr>
            <p:ph type="sldNum" sz="quarter" idx="12"/>
          </p:nvPr>
        </p:nvSpPr>
        <p:spPr/>
        <p:txBody>
          <a:bodyPr/>
          <a:lstStyle/>
          <a:p>
            <a:fld id="{B53602B4-F12B-41CD-B648-531F86B2CC91}" type="slidenum">
              <a:rPr lang="zh-CN" altLang="en-US" smtClean="0"/>
              <a:t>35</a:t>
            </a:fld>
            <a:endParaRPr lang="zh-CN" altLang="en-US"/>
          </a:p>
        </p:txBody>
      </p:sp>
    </p:spTree>
    <p:extLst>
      <p:ext uri="{BB962C8B-B14F-4D97-AF65-F5344CB8AC3E}">
        <p14:creationId xmlns:p14="http://schemas.microsoft.com/office/powerpoint/2010/main" val="2354554958"/>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49142242-5E57-4D15-A0DD-17CB598A023D}"/>
              </a:ext>
            </a:extLst>
          </p:cNvPr>
          <p:cNvSpPr txBox="1"/>
          <p:nvPr/>
        </p:nvSpPr>
        <p:spPr>
          <a:xfrm>
            <a:off x="283028" y="2096680"/>
            <a:ext cx="8577943" cy="3306222"/>
          </a:xfrm>
          <a:prstGeom prst="rect">
            <a:avLst/>
          </a:prstGeom>
          <a:noFill/>
        </p:spPr>
        <p:txBody>
          <a:bodyPr wrap="square" lIns="91436" tIns="45718" rIns="91436" bIns="45718" rtlCol="0">
            <a:spAutoFit/>
          </a:bodyPr>
          <a:lstStyle/>
          <a:p>
            <a:pPr marL="342900" indent="-342900">
              <a:lnSpc>
                <a:spcPct val="120000"/>
              </a:lnSpc>
              <a:spcBef>
                <a:spcPts val="624"/>
              </a:spcBef>
              <a:buFont typeface="Wingdings" panose="05000000000000000000" pitchFamily="2" charset="2"/>
              <a:buChar char="§"/>
            </a:pP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磁致伸缩式超声波</a:t>
            </a:r>
            <a:r>
              <a:rPr lang="zh-CN" altLang="en-US" sz="24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发生器</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是把铁磁材料置于交变磁场中，使它产生机械尺寸的交替变化即机械振动，从而产生出超声波。</a:t>
            </a:r>
            <a:endParaRPr lang="en-US" altLang="zh-CN" sz="2400" b="1" dirty="0">
              <a:latin typeface="Times New Roman" panose="02020603050405020304" pitchFamily="18" charset="0"/>
              <a:ea typeface="宋体" panose="02010600030101010101" pitchFamily="2" charset="-122"/>
              <a:cs typeface="Times New Roman" panose="02020603050405020304" pitchFamily="18" charset="0"/>
            </a:endParaRPr>
          </a:p>
          <a:p>
            <a:pPr marL="342900" indent="-342900">
              <a:lnSpc>
                <a:spcPct val="120000"/>
              </a:lnSpc>
              <a:spcBef>
                <a:spcPts val="624"/>
              </a:spcBef>
              <a:buFont typeface="Wingdings" panose="05000000000000000000" pitchFamily="2" charset="2"/>
              <a:buChar char="§"/>
            </a:pP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磁致伸缩式超声波</a:t>
            </a:r>
            <a:r>
              <a:rPr lang="zh-CN" altLang="en-US" sz="24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接收器</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的原理：当超声波作用在磁致伸缩材料上时，引起材料伸缩，从而导致它的内部磁场</a:t>
            </a:r>
            <a:r>
              <a:rPr lang="en-US" altLang="zh-CN" sz="2400" b="1"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导磁特性</a:t>
            </a:r>
            <a:r>
              <a:rPr lang="en-US" altLang="zh-CN" sz="2400" b="1"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发生改变。根据电磁感应，磁致伸缩材料上所绕的线圈里便获得感应电动势。</a:t>
            </a:r>
            <a:endParaRPr lang="en-US" altLang="zh-CN" sz="2400" b="1" dirty="0">
              <a:latin typeface="Times New Roman" panose="02020603050405020304" pitchFamily="18" charset="0"/>
              <a:ea typeface="宋体" panose="02010600030101010101" pitchFamily="2" charset="-122"/>
              <a:cs typeface="Times New Roman" panose="02020603050405020304" pitchFamily="18" charset="0"/>
            </a:endParaRPr>
          </a:p>
          <a:p>
            <a:pPr marL="342900" indent="-342900">
              <a:lnSpc>
                <a:spcPct val="120000"/>
              </a:lnSpc>
              <a:spcBef>
                <a:spcPts val="624"/>
              </a:spcBef>
              <a:buFont typeface="Wingdings" panose="05000000000000000000" pitchFamily="2" charset="2"/>
              <a:buChar char="§"/>
            </a:pP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磁致伸缩式超声波接收器的结构与超声波发生器基本相同。</a:t>
            </a:r>
          </a:p>
        </p:txBody>
      </p:sp>
      <p:sp>
        <p:nvSpPr>
          <p:cNvPr id="26" name="矩形 25">
            <a:extLst>
              <a:ext uri="{FF2B5EF4-FFF2-40B4-BE49-F238E27FC236}">
                <a16:creationId xmlns:a16="http://schemas.microsoft.com/office/drawing/2014/main" id="{64509930-9DFB-420E-8F32-960E50399825}"/>
              </a:ext>
            </a:extLst>
          </p:cNvPr>
          <p:cNvSpPr/>
          <p:nvPr/>
        </p:nvSpPr>
        <p:spPr>
          <a:xfrm>
            <a:off x="1571711" y="258777"/>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7" name="圆角矩形 43">
            <a:extLst>
              <a:ext uri="{FF2B5EF4-FFF2-40B4-BE49-F238E27FC236}">
                <a16:creationId xmlns:a16="http://schemas.microsoft.com/office/drawing/2014/main" id="{7D086454-5B10-4064-9B8F-531209592F7E}"/>
              </a:ext>
            </a:extLst>
          </p:cNvPr>
          <p:cNvSpPr/>
          <p:nvPr/>
        </p:nvSpPr>
        <p:spPr>
          <a:xfrm rot="10800000" flipV="1">
            <a:off x="185084" y="242948"/>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20204" pitchFamily="34" charset="0"/>
                <a:ea typeface="宋体" panose="02010600030101010101" pitchFamily="2" charset="-122"/>
                <a:cs typeface="Arial" panose="020B0604020202020204" pitchFamily="34" charset="0"/>
              </a:rPr>
              <a:t>9.3.2</a:t>
            </a:r>
            <a:endParaRPr lang="zh-CN" altLang="en-US" sz="3200" b="1" dirty="0">
              <a:latin typeface="Arial" panose="020B0604020202020204" pitchFamily="34" charset="0"/>
              <a:ea typeface="宋体" panose="02010600030101010101" pitchFamily="2" charset="-122"/>
              <a:cs typeface="Arial" panose="020B0604020202020204" pitchFamily="34" charset="0"/>
            </a:endParaRPr>
          </a:p>
        </p:txBody>
      </p:sp>
      <p:sp>
        <p:nvSpPr>
          <p:cNvPr id="38" name="矩形 37">
            <a:extLst>
              <a:ext uri="{FF2B5EF4-FFF2-40B4-BE49-F238E27FC236}">
                <a16:creationId xmlns:a16="http://schemas.microsoft.com/office/drawing/2014/main" id="{2A2F604C-DA27-459E-8419-ED777356D653}"/>
              </a:ext>
            </a:extLst>
          </p:cNvPr>
          <p:cNvSpPr/>
          <p:nvPr/>
        </p:nvSpPr>
        <p:spPr>
          <a:xfrm>
            <a:off x="1932551" y="240301"/>
            <a:ext cx="4342847" cy="615549"/>
          </a:xfrm>
          <a:prstGeom prst="rect">
            <a:avLst/>
          </a:prstGeom>
        </p:spPr>
        <p:txBody>
          <a:bodyPr wrap="none" lIns="91436" tIns="45718" rIns="91436" bIns="45718">
            <a:spAutoFit/>
          </a:bodyPr>
          <a:lstStyle/>
          <a:p>
            <a:pPr algn="ctr"/>
            <a:r>
              <a:rPr lang="zh-CN" altLang="en-US" sz="3400" b="1" dirty="0">
                <a:solidFill>
                  <a:schemeClr val="bg1"/>
                </a:solidFill>
                <a:latin typeface="宋体" panose="02010600030101010101" pitchFamily="2" charset="-122"/>
                <a:ea typeface="宋体" panose="02010600030101010101" pitchFamily="2" charset="-122"/>
              </a:rPr>
              <a:t>超</a:t>
            </a:r>
            <a:r>
              <a:rPr lang="en-US" altLang="zh-CN" sz="3400" b="1" dirty="0">
                <a:solidFill>
                  <a:schemeClr val="bg1"/>
                </a:solidFill>
                <a:latin typeface="宋体" panose="02010600030101010101" pitchFamily="2" charset="-122"/>
                <a:ea typeface="宋体" panose="02010600030101010101" pitchFamily="2" charset="-122"/>
              </a:rPr>
              <a:t>/</a:t>
            </a:r>
            <a:r>
              <a:rPr lang="zh-CN" altLang="en-US" sz="3400" b="1" dirty="0">
                <a:solidFill>
                  <a:schemeClr val="bg1"/>
                </a:solidFill>
                <a:latin typeface="宋体" panose="02010600030101010101" pitchFamily="2" charset="-122"/>
                <a:ea typeface="宋体" panose="02010600030101010101" pitchFamily="2" charset="-122"/>
              </a:rPr>
              <a:t>次声波传感器分类</a:t>
            </a:r>
            <a:endParaRPr lang="en-US" altLang="zh-CN" sz="3400" b="1" dirty="0">
              <a:solidFill>
                <a:schemeClr val="bg1"/>
              </a:solidFill>
              <a:latin typeface="宋体" panose="02010600030101010101" pitchFamily="2" charset="-122"/>
              <a:ea typeface="宋体" panose="02010600030101010101" pitchFamily="2" charset="-122"/>
            </a:endParaRPr>
          </a:p>
        </p:txBody>
      </p:sp>
      <p:sp>
        <p:nvSpPr>
          <p:cNvPr id="2" name="Slide Number Placeholder 1">
            <a:extLst>
              <a:ext uri="{FF2B5EF4-FFF2-40B4-BE49-F238E27FC236}">
                <a16:creationId xmlns:a16="http://schemas.microsoft.com/office/drawing/2014/main" id="{7B36E72C-9143-4E21-8F11-B24C2A80B5D9}"/>
              </a:ext>
            </a:extLst>
          </p:cNvPr>
          <p:cNvSpPr>
            <a:spLocks noGrp="1"/>
          </p:cNvSpPr>
          <p:nvPr>
            <p:ph type="sldNum" sz="quarter" idx="12"/>
          </p:nvPr>
        </p:nvSpPr>
        <p:spPr/>
        <p:txBody>
          <a:bodyPr/>
          <a:lstStyle/>
          <a:p>
            <a:fld id="{B53602B4-F12B-41CD-B648-531F86B2CC91}" type="slidenum">
              <a:rPr lang="zh-CN" altLang="en-US" smtClean="0"/>
              <a:t>36</a:t>
            </a:fld>
            <a:endParaRPr lang="zh-CN" altLang="en-US"/>
          </a:p>
        </p:txBody>
      </p:sp>
      <p:sp>
        <p:nvSpPr>
          <p:cNvPr id="20" name="矩形 45">
            <a:extLst>
              <a:ext uri="{FF2B5EF4-FFF2-40B4-BE49-F238E27FC236}">
                <a16:creationId xmlns:a16="http://schemas.microsoft.com/office/drawing/2014/main" id="{3A19D1D9-6B95-40F3-AE30-02F8C22628C2}"/>
              </a:ext>
            </a:extLst>
          </p:cNvPr>
          <p:cNvSpPr/>
          <p:nvPr/>
        </p:nvSpPr>
        <p:spPr>
          <a:xfrm>
            <a:off x="185084" y="1257129"/>
            <a:ext cx="3587833" cy="461661"/>
          </a:xfrm>
          <a:prstGeom prst="rect">
            <a:avLst/>
          </a:prstGeom>
          <a:solidFill>
            <a:srgbClr val="92D050"/>
          </a:solidFill>
        </p:spPr>
        <p:txBody>
          <a:bodyPr wrap="none" lIns="91436" tIns="45718" rIns="91436" bIns="45718">
            <a:spAutoFit/>
          </a:bodyPr>
          <a:lstStyle/>
          <a:p>
            <a:pPr algn="ctr"/>
            <a:r>
              <a:rPr lang="zh-CN" altLang="en-US" sz="2400" b="1" dirty="0">
                <a:latin typeface="宋体" panose="02010600030101010101" pitchFamily="2" charset="-122"/>
                <a:ea typeface="宋体" panose="02010600030101010101" pitchFamily="2" charset="-122"/>
              </a:rPr>
              <a:t>磁致伸缩式超声波传感器</a:t>
            </a:r>
            <a:endParaRPr lang="en-US" altLang="zh-CN" sz="2400" b="1"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1013793408"/>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矩形 45"/>
          <p:cNvSpPr/>
          <p:nvPr/>
        </p:nvSpPr>
        <p:spPr>
          <a:xfrm>
            <a:off x="295144" y="1332159"/>
            <a:ext cx="2290604" cy="461661"/>
          </a:xfrm>
          <a:prstGeom prst="rect">
            <a:avLst/>
          </a:prstGeom>
          <a:solidFill>
            <a:srgbClr val="92D050"/>
          </a:solidFill>
        </p:spPr>
        <p:txBody>
          <a:bodyPr wrap="square" lIns="91436" tIns="45718" rIns="91436" bIns="45718">
            <a:spAutoFit/>
          </a:bodyPr>
          <a:lstStyle/>
          <a:p>
            <a:r>
              <a:rPr lang="zh-CN" altLang="en-US" sz="2400" b="1" dirty="0">
                <a:latin typeface="宋体" panose="02010600030101010101" pitchFamily="2" charset="-122"/>
                <a:ea typeface="宋体" panose="02010600030101010101" pitchFamily="2" charset="-122"/>
              </a:rPr>
              <a:t>次声波传感器</a:t>
            </a:r>
            <a:endParaRPr lang="en-US" altLang="zh-CN" sz="2400" b="1" dirty="0">
              <a:latin typeface="宋体" panose="02010600030101010101" pitchFamily="2" charset="-122"/>
              <a:ea typeface="宋体" panose="02010600030101010101" pitchFamily="2" charset="-122"/>
            </a:endParaRPr>
          </a:p>
        </p:txBody>
      </p:sp>
      <p:sp>
        <p:nvSpPr>
          <p:cNvPr id="3" name="文本框 2">
            <a:extLst>
              <a:ext uri="{FF2B5EF4-FFF2-40B4-BE49-F238E27FC236}">
                <a16:creationId xmlns:a16="http://schemas.microsoft.com/office/drawing/2014/main" id="{49142242-5E57-4D15-A0DD-17CB598A023D}"/>
              </a:ext>
            </a:extLst>
          </p:cNvPr>
          <p:cNvSpPr txBox="1"/>
          <p:nvPr/>
        </p:nvSpPr>
        <p:spPr>
          <a:xfrm>
            <a:off x="867766" y="2015483"/>
            <a:ext cx="7727413" cy="461661"/>
          </a:xfrm>
          <a:prstGeom prst="rect">
            <a:avLst/>
          </a:prstGeom>
          <a:noFill/>
        </p:spPr>
        <p:txBody>
          <a:bodyPr wrap="square" lIns="91436" tIns="45718" rIns="91436" bIns="45718" rtlCol="0">
            <a:spAutoFit/>
          </a:bodyPr>
          <a:lstStyle/>
          <a:p>
            <a:pPr>
              <a:spcBef>
                <a:spcPts val="624"/>
              </a:spcBef>
            </a:pPr>
            <a:r>
              <a:rPr lang="zh-CN" altLang="en-US" sz="2400" b="1">
                <a:latin typeface="宋体" panose="02010600030101010101" pitchFamily="2" charset="-122"/>
                <a:ea typeface="宋体" panose="02010600030101010101" pitchFamily="2" charset="-122"/>
                <a:cs typeface="Arial" panose="020B0604020202020204" pitchFamily="34" charset="0"/>
              </a:rPr>
              <a:t>接</a:t>
            </a:r>
            <a:r>
              <a:rPr lang="zh-CN" altLang="en-US" sz="2400" b="1" dirty="0">
                <a:latin typeface="宋体" panose="02010600030101010101" pitchFamily="2" charset="-122"/>
                <a:ea typeface="宋体" panose="02010600030101010101" pitchFamily="2" charset="-122"/>
                <a:cs typeface="Arial" panose="020B0604020202020204" pitchFamily="34" charset="0"/>
              </a:rPr>
              <a:t>收次声波，把其机械位移转化为电</a:t>
            </a:r>
            <a:r>
              <a:rPr lang="zh-CN" altLang="en-US" sz="2400" b="1">
                <a:latin typeface="宋体" panose="02010600030101010101" pitchFamily="2" charset="-122"/>
                <a:ea typeface="宋体" panose="02010600030101010101" pitchFamily="2" charset="-122"/>
                <a:cs typeface="Arial" panose="020B0604020202020204" pitchFamily="34" charset="0"/>
              </a:rPr>
              <a:t>信号。常</a:t>
            </a:r>
            <a:r>
              <a:rPr lang="zh-CN" altLang="en-US" sz="2400" b="1" dirty="0">
                <a:latin typeface="宋体" panose="02010600030101010101" pitchFamily="2" charset="-122"/>
                <a:ea typeface="宋体" panose="02010600030101010101" pitchFamily="2" charset="-122"/>
                <a:cs typeface="Arial" panose="020B0604020202020204" pitchFamily="34" charset="0"/>
              </a:rPr>
              <a:t>见有：</a:t>
            </a:r>
            <a:endParaRPr lang="en-US" altLang="zh-CN" sz="2400" b="1" dirty="0">
              <a:latin typeface="宋体" panose="02010600030101010101" pitchFamily="2" charset="-122"/>
              <a:ea typeface="宋体" panose="02010600030101010101" pitchFamily="2" charset="-122"/>
              <a:cs typeface="Arial" panose="020B0604020202020204" pitchFamily="34" charset="0"/>
            </a:endParaRPr>
          </a:p>
        </p:txBody>
      </p:sp>
      <p:sp>
        <p:nvSpPr>
          <p:cNvPr id="27" name="矩形 26">
            <a:extLst>
              <a:ext uri="{FF2B5EF4-FFF2-40B4-BE49-F238E27FC236}">
                <a16:creationId xmlns:a16="http://schemas.microsoft.com/office/drawing/2014/main" id="{64509930-9DFB-420E-8F32-960E50399825}"/>
              </a:ext>
            </a:extLst>
          </p:cNvPr>
          <p:cNvSpPr/>
          <p:nvPr/>
        </p:nvSpPr>
        <p:spPr>
          <a:xfrm>
            <a:off x="1571711" y="258777"/>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8" name="圆角矩形 43">
            <a:extLst>
              <a:ext uri="{FF2B5EF4-FFF2-40B4-BE49-F238E27FC236}">
                <a16:creationId xmlns:a16="http://schemas.microsoft.com/office/drawing/2014/main" id="{7D086454-5B10-4064-9B8F-531209592F7E}"/>
              </a:ext>
            </a:extLst>
          </p:cNvPr>
          <p:cNvSpPr/>
          <p:nvPr/>
        </p:nvSpPr>
        <p:spPr>
          <a:xfrm rot="10800000" flipV="1">
            <a:off x="185084" y="242948"/>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20204" pitchFamily="34" charset="0"/>
                <a:ea typeface="宋体" panose="02010600030101010101" pitchFamily="2" charset="-122"/>
                <a:cs typeface="Arial" panose="020B0604020202020204" pitchFamily="34" charset="0"/>
              </a:rPr>
              <a:t>9.3.2</a:t>
            </a:r>
            <a:endParaRPr lang="zh-CN" altLang="en-US" sz="3200" b="1" dirty="0">
              <a:latin typeface="Arial" panose="020B0604020202020204" pitchFamily="34" charset="0"/>
              <a:ea typeface="宋体" panose="02010600030101010101" pitchFamily="2" charset="-122"/>
              <a:cs typeface="Arial" panose="020B0604020202020204" pitchFamily="34" charset="0"/>
            </a:endParaRPr>
          </a:p>
        </p:txBody>
      </p:sp>
      <p:sp>
        <p:nvSpPr>
          <p:cNvPr id="39" name="矩形 38">
            <a:extLst>
              <a:ext uri="{FF2B5EF4-FFF2-40B4-BE49-F238E27FC236}">
                <a16:creationId xmlns:a16="http://schemas.microsoft.com/office/drawing/2014/main" id="{2A2F604C-DA27-459E-8419-ED777356D653}"/>
              </a:ext>
            </a:extLst>
          </p:cNvPr>
          <p:cNvSpPr/>
          <p:nvPr/>
        </p:nvSpPr>
        <p:spPr>
          <a:xfrm>
            <a:off x="1932551" y="240301"/>
            <a:ext cx="4342847" cy="615549"/>
          </a:xfrm>
          <a:prstGeom prst="rect">
            <a:avLst/>
          </a:prstGeom>
        </p:spPr>
        <p:txBody>
          <a:bodyPr wrap="none" lIns="91436" tIns="45718" rIns="91436" bIns="45718">
            <a:spAutoFit/>
          </a:bodyPr>
          <a:lstStyle/>
          <a:p>
            <a:pPr algn="ctr"/>
            <a:r>
              <a:rPr lang="zh-CN" altLang="en-US" sz="3400" b="1" dirty="0">
                <a:solidFill>
                  <a:schemeClr val="bg1"/>
                </a:solidFill>
                <a:latin typeface="宋体" panose="02010600030101010101" pitchFamily="2" charset="-122"/>
                <a:ea typeface="宋体" panose="02010600030101010101" pitchFamily="2" charset="-122"/>
              </a:rPr>
              <a:t>超</a:t>
            </a:r>
            <a:r>
              <a:rPr lang="en-US" altLang="zh-CN" sz="3400" b="1" dirty="0">
                <a:solidFill>
                  <a:schemeClr val="bg1"/>
                </a:solidFill>
                <a:latin typeface="宋体" panose="02010600030101010101" pitchFamily="2" charset="-122"/>
                <a:ea typeface="宋体" panose="02010600030101010101" pitchFamily="2" charset="-122"/>
              </a:rPr>
              <a:t>/</a:t>
            </a:r>
            <a:r>
              <a:rPr lang="zh-CN" altLang="en-US" sz="3400" b="1" dirty="0">
                <a:solidFill>
                  <a:schemeClr val="bg1"/>
                </a:solidFill>
                <a:latin typeface="宋体" panose="02010600030101010101" pitchFamily="2" charset="-122"/>
                <a:ea typeface="宋体" panose="02010600030101010101" pitchFamily="2" charset="-122"/>
              </a:rPr>
              <a:t>次声波传感器分类</a:t>
            </a:r>
            <a:endParaRPr lang="en-US" altLang="zh-CN" sz="3400" b="1" dirty="0">
              <a:solidFill>
                <a:schemeClr val="bg1"/>
              </a:solidFill>
              <a:latin typeface="宋体" panose="02010600030101010101" pitchFamily="2" charset="-122"/>
              <a:ea typeface="宋体" panose="02010600030101010101" pitchFamily="2" charset="-122"/>
            </a:endParaRPr>
          </a:p>
        </p:txBody>
      </p:sp>
      <p:sp>
        <p:nvSpPr>
          <p:cNvPr id="9" name="矩形 8"/>
          <p:cNvSpPr/>
          <p:nvPr/>
        </p:nvSpPr>
        <p:spPr>
          <a:xfrm>
            <a:off x="867766" y="3279202"/>
            <a:ext cx="8025542" cy="2375650"/>
          </a:xfrm>
          <a:prstGeom prst="rect">
            <a:avLst/>
          </a:prstGeom>
        </p:spPr>
        <p:txBody>
          <a:bodyPr wrap="square">
            <a:spAutoFit/>
          </a:bodyPr>
          <a:lstStyle/>
          <a:p>
            <a:pPr marL="342900" indent="-342900">
              <a:lnSpc>
                <a:spcPct val="150000"/>
              </a:lnSpc>
              <a:spcBef>
                <a:spcPts val="600"/>
              </a:spcBef>
              <a:buFont typeface="Arial" panose="020B0604020202020204" pitchFamily="34" charset="0"/>
              <a:buChar char="•"/>
            </a:pPr>
            <a:r>
              <a:rPr lang="zh-CN" altLang="en-US" sz="2400" b="1">
                <a:latin typeface="宋体" panose="02010600030101010101" pitchFamily="2" charset="-122"/>
                <a:ea typeface="宋体" panose="02010600030101010101" pitchFamily="2" charset="-122"/>
                <a:cs typeface="Arial" panose="020B0604020202020204" pitchFamily="34" charset="0"/>
              </a:rPr>
              <a:t>次声波电压小，引起膜片变形太小</a:t>
            </a:r>
            <a:endParaRPr lang="en-US" altLang="zh-CN" sz="2400" b="1">
              <a:latin typeface="宋体" panose="02010600030101010101" pitchFamily="2" charset="-122"/>
              <a:ea typeface="宋体" panose="02010600030101010101" pitchFamily="2" charset="-122"/>
              <a:cs typeface="Arial" panose="020B0604020202020204" pitchFamily="34" charset="0"/>
            </a:endParaRPr>
          </a:p>
          <a:p>
            <a:pPr marL="342900" indent="-342900">
              <a:lnSpc>
                <a:spcPct val="150000"/>
              </a:lnSpc>
              <a:spcBef>
                <a:spcPts val="600"/>
              </a:spcBef>
              <a:buFont typeface="Arial" panose="020B0604020202020204" pitchFamily="34" charset="0"/>
              <a:buChar char="•"/>
            </a:pPr>
            <a:r>
              <a:rPr lang="zh-CN" altLang="en-US" sz="2400" b="1">
                <a:latin typeface="宋体" panose="02010600030101010101" pitchFamily="2" charset="-122"/>
                <a:ea typeface="宋体" panose="02010600030101010101" pitchFamily="2" charset="-122"/>
                <a:cs typeface="Arial" panose="020B0604020202020204" pitchFamily="34" charset="0"/>
              </a:rPr>
              <a:t>需要把机械位移转换为电信号</a:t>
            </a:r>
            <a:endParaRPr lang="en-US" altLang="zh-CN" sz="2400" b="1">
              <a:latin typeface="宋体" panose="02010600030101010101" pitchFamily="2" charset="-122"/>
              <a:ea typeface="宋体" panose="02010600030101010101" pitchFamily="2" charset="-122"/>
              <a:cs typeface="Arial" panose="020B0604020202020204" pitchFamily="34" charset="0"/>
            </a:endParaRPr>
          </a:p>
          <a:p>
            <a:pPr marL="342900" indent="-342900">
              <a:lnSpc>
                <a:spcPct val="150000"/>
              </a:lnSpc>
              <a:spcBef>
                <a:spcPts val="600"/>
              </a:spcBef>
              <a:buFont typeface="Arial" panose="020B0604020202020204" pitchFamily="34" charset="0"/>
              <a:buChar char="•"/>
            </a:pPr>
            <a:r>
              <a:rPr lang="zh-CN" altLang="en-US" sz="2400" b="1">
                <a:latin typeface="宋体" panose="02010600030101010101" pitchFamily="2" charset="-122"/>
                <a:ea typeface="宋体" panose="02010600030101010101" pitchFamily="2" charset="-122"/>
                <a:cs typeface="Arial" panose="020B0604020202020204" pitchFamily="34" charset="0"/>
              </a:rPr>
              <a:t>电容能将空气中的被测次生频率波动量转化成为</a:t>
            </a:r>
            <a:r>
              <a:rPr lang="zh-CN" altLang="en-US" sz="2400" b="1">
                <a:solidFill>
                  <a:srgbClr val="3333CC"/>
                </a:solidFill>
                <a:latin typeface="宋体" panose="02010600030101010101" pitchFamily="2" charset="-122"/>
                <a:ea typeface="宋体" panose="02010600030101010101" pitchFamily="2" charset="-122"/>
                <a:cs typeface="Arial" panose="020B0604020202020204" pitchFamily="34" charset="0"/>
              </a:rPr>
              <a:t>电容量</a:t>
            </a:r>
            <a:r>
              <a:rPr lang="zh-CN" altLang="en-US" sz="2400" b="1">
                <a:latin typeface="宋体" panose="02010600030101010101" pitchFamily="2" charset="-122"/>
                <a:ea typeface="宋体" panose="02010600030101010101" pitchFamily="2" charset="-122"/>
                <a:cs typeface="Arial" panose="020B0604020202020204" pitchFamily="34" charset="0"/>
              </a:rPr>
              <a:t>，利用检测电路将电容变化量转化成电压信号。</a:t>
            </a:r>
            <a:endParaRPr lang="en-US" altLang="zh-CN" sz="2400" b="1" dirty="0">
              <a:latin typeface="宋体" panose="02010600030101010101" pitchFamily="2" charset="-122"/>
              <a:ea typeface="宋体" panose="02010600030101010101" pitchFamily="2" charset="-122"/>
              <a:cs typeface="Arial" panose="020B0604020202020204" pitchFamily="34" charset="0"/>
            </a:endParaRPr>
          </a:p>
        </p:txBody>
      </p:sp>
      <p:sp>
        <p:nvSpPr>
          <p:cNvPr id="12" name="矩形 11"/>
          <p:cNvSpPr/>
          <p:nvPr/>
        </p:nvSpPr>
        <p:spPr>
          <a:xfrm>
            <a:off x="714082" y="2698807"/>
            <a:ext cx="3743332" cy="461665"/>
          </a:xfrm>
          <a:prstGeom prst="rect">
            <a:avLst/>
          </a:prstGeom>
        </p:spPr>
        <p:txBody>
          <a:bodyPr wrap="none">
            <a:spAutoFit/>
          </a:bodyPr>
          <a:lstStyle/>
          <a:p>
            <a:pPr>
              <a:spcBef>
                <a:spcPts val="624"/>
              </a:spcBef>
            </a:pPr>
            <a:r>
              <a:rPr lang="zh-CN" altLang="en-US" sz="2400" b="1" dirty="0">
                <a:latin typeface="宋体" panose="02010600030101010101" pitchFamily="2" charset="-122"/>
                <a:ea typeface="宋体" panose="02010600030101010101" pitchFamily="2" charset="-122"/>
                <a:cs typeface="Arial" panose="020B0604020202020204" pitchFamily="34" charset="0"/>
              </a:rPr>
              <a:t>（</a:t>
            </a:r>
            <a:r>
              <a:rPr lang="en-US" altLang="zh-CN" sz="2400" b="1" dirty="0">
                <a:latin typeface="宋体" panose="02010600030101010101" pitchFamily="2" charset="-122"/>
                <a:ea typeface="宋体" panose="02010600030101010101" pitchFamily="2" charset="-122"/>
                <a:cs typeface="Arial" panose="020B0604020202020204" pitchFamily="34" charset="0"/>
              </a:rPr>
              <a:t>1</a:t>
            </a:r>
            <a:r>
              <a:rPr lang="zh-CN" altLang="en-US" sz="2400" b="1" dirty="0">
                <a:latin typeface="宋体" panose="02010600030101010101" pitchFamily="2" charset="-122"/>
                <a:ea typeface="宋体" panose="02010600030101010101" pitchFamily="2" charset="-122"/>
                <a:cs typeface="Arial" panose="020B0604020202020204" pitchFamily="34" charset="0"/>
              </a:rPr>
              <a:t>）电容式次声波传感器</a:t>
            </a:r>
            <a:endParaRPr lang="en-US" altLang="zh-CN" sz="2400" b="1" dirty="0">
              <a:latin typeface="宋体" panose="02010600030101010101" pitchFamily="2" charset="-122"/>
              <a:ea typeface="宋体" panose="02010600030101010101" pitchFamily="2" charset="-122"/>
              <a:cs typeface="Arial" panose="020B0604020202020204" pitchFamily="34" charset="0"/>
            </a:endParaRPr>
          </a:p>
        </p:txBody>
      </p:sp>
      <p:sp>
        <p:nvSpPr>
          <p:cNvPr id="2" name="Slide Number Placeholder 1">
            <a:extLst>
              <a:ext uri="{FF2B5EF4-FFF2-40B4-BE49-F238E27FC236}">
                <a16:creationId xmlns:a16="http://schemas.microsoft.com/office/drawing/2014/main" id="{994C6F59-D1AA-4E1D-BCB7-537AA0889CA5}"/>
              </a:ext>
            </a:extLst>
          </p:cNvPr>
          <p:cNvSpPr>
            <a:spLocks noGrp="1"/>
          </p:cNvSpPr>
          <p:nvPr>
            <p:ph type="sldNum" sz="quarter" idx="12"/>
          </p:nvPr>
        </p:nvSpPr>
        <p:spPr/>
        <p:txBody>
          <a:bodyPr/>
          <a:lstStyle/>
          <a:p>
            <a:fld id="{B53602B4-F12B-41CD-B648-531F86B2CC91}" type="slidenum">
              <a:rPr lang="zh-CN" altLang="en-US" smtClean="0"/>
              <a:t>37</a:t>
            </a:fld>
            <a:endParaRPr lang="zh-CN" altLang="en-US"/>
          </a:p>
        </p:txBody>
      </p:sp>
    </p:spTree>
    <p:extLst>
      <p:ext uri="{BB962C8B-B14F-4D97-AF65-F5344CB8AC3E}">
        <p14:creationId xmlns:p14="http://schemas.microsoft.com/office/powerpoint/2010/main" val="2123665820"/>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矩形 45"/>
          <p:cNvSpPr/>
          <p:nvPr/>
        </p:nvSpPr>
        <p:spPr>
          <a:xfrm>
            <a:off x="295144" y="1332159"/>
            <a:ext cx="2290604" cy="461661"/>
          </a:xfrm>
          <a:prstGeom prst="rect">
            <a:avLst/>
          </a:prstGeom>
          <a:solidFill>
            <a:srgbClr val="92D050"/>
          </a:solidFill>
        </p:spPr>
        <p:txBody>
          <a:bodyPr wrap="square" lIns="91436" tIns="45718" rIns="91436" bIns="45718">
            <a:spAutoFit/>
          </a:bodyPr>
          <a:lstStyle/>
          <a:p>
            <a:r>
              <a:rPr lang="zh-CN" altLang="en-US" sz="2400" b="1" dirty="0">
                <a:latin typeface="宋体" panose="02010600030101010101" pitchFamily="2" charset="-122"/>
                <a:ea typeface="宋体" panose="02010600030101010101" pitchFamily="2" charset="-122"/>
              </a:rPr>
              <a:t>次声波传感器</a:t>
            </a:r>
            <a:endParaRPr lang="en-US" altLang="zh-CN" sz="2400" b="1" dirty="0">
              <a:latin typeface="宋体" panose="02010600030101010101" pitchFamily="2" charset="-122"/>
              <a:ea typeface="宋体" panose="02010600030101010101" pitchFamily="2" charset="-122"/>
            </a:endParaRPr>
          </a:p>
        </p:txBody>
      </p:sp>
      <p:sp>
        <p:nvSpPr>
          <p:cNvPr id="27" name="矩形 26">
            <a:extLst>
              <a:ext uri="{FF2B5EF4-FFF2-40B4-BE49-F238E27FC236}">
                <a16:creationId xmlns:a16="http://schemas.microsoft.com/office/drawing/2014/main" id="{64509930-9DFB-420E-8F32-960E50399825}"/>
              </a:ext>
            </a:extLst>
          </p:cNvPr>
          <p:cNvSpPr/>
          <p:nvPr/>
        </p:nvSpPr>
        <p:spPr>
          <a:xfrm>
            <a:off x="1571711" y="258777"/>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8" name="圆角矩形 43">
            <a:extLst>
              <a:ext uri="{FF2B5EF4-FFF2-40B4-BE49-F238E27FC236}">
                <a16:creationId xmlns:a16="http://schemas.microsoft.com/office/drawing/2014/main" id="{7D086454-5B10-4064-9B8F-531209592F7E}"/>
              </a:ext>
            </a:extLst>
          </p:cNvPr>
          <p:cNvSpPr/>
          <p:nvPr/>
        </p:nvSpPr>
        <p:spPr>
          <a:xfrm rot="10800000" flipV="1">
            <a:off x="185084" y="242948"/>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20204" pitchFamily="34" charset="0"/>
                <a:ea typeface="宋体" panose="02010600030101010101" pitchFamily="2" charset="-122"/>
                <a:cs typeface="Arial" panose="020B0604020202020204" pitchFamily="34" charset="0"/>
              </a:rPr>
              <a:t>9.3.2</a:t>
            </a:r>
            <a:endParaRPr lang="zh-CN" altLang="en-US" sz="3200" b="1" dirty="0">
              <a:latin typeface="Arial" panose="020B0604020202020204" pitchFamily="34" charset="0"/>
              <a:ea typeface="宋体" panose="02010600030101010101" pitchFamily="2" charset="-122"/>
              <a:cs typeface="Arial" panose="020B0604020202020204" pitchFamily="34" charset="0"/>
            </a:endParaRPr>
          </a:p>
        </p:txBody>
      </p:sp>
      <p:sp>
        <p:nvSpPr>
          <p:cNvPr id="39" name="矩形 38">
            <a:extLst>
              <a:ext uri="{FF2B5EF4-FFF2-40B4-BE49-F238E27FC236}">
                <a16:creationId xmlns:a16="http://schemas.microsoft.com/office/drawing/2014/main" id="{2A2F604C-DA27-459E-8419-ED777356D653}"/>
              </a:ext>
            </a:extLst>
          </p:cNvPr>
          <p:cNvSpPr/>
          <p:nvPr/>
        </p:nvSpPr>
        <p:spPr>
          <a:xfrm>
            <a:off x="1932551" y="240301"/>
            <a:ext cx="4342847" cy="615549"/>
          </a:xfrm>
          <a:prstGeom prst="rect">
            <a:avLst/>
          </a:prstGeom>
        </p:spPr>
        <p:txBody>
          <a:bodyPr wrap="none" lIns="91436" tIns="45718" rIns="91436" bIns="45718">
            <a:spAutoFit/>
          </a:bodyPr>
          <a:lstStyle/>
          <a:p>
            <a:pPr algn="ctr"/>
            <a:r>
              <a:rPr lang="zh-CN" altLang="en-US" sz="3400" b="1" dirty="0">
                <a:solidFill>
                  <a:schemeClr val="bg1"/>
                </a:solidFill>
                <a:latin typeface="宋体" panose="02010600030101010101" pitchFamily="2" charset="-122"/>
                <a:ea typeface="宋体" panose="02010600030101010101" pitchFamily="2" charset="-122"/>
              </a:rPr>
              <a:t>超</a:t>
            </a:r>
            <a:r>
              <a:rPr lang="en-US" altLang="zh-CN" sz="3400" b="1" dirty="0">
                <a:solidFill>
                  <a:schemeClr val="bg1"/>
                </a:solidFill>
                <a:latin typeface="宋体" panose="02010600030101010101" pitchFamily="2" charset="-122"/>
                <a:ea typeface="宋体" panose="02010600030101010101" pitchFamily="2" charset="-122"/>
              </a:rPr>
              <a:t>/</a:t>
            </a:r>
            <a:r>
              <a:rPr lang="zh-CN" altLang="en-US" sz="3400" b="1" dirty="0">
                <a:solidFill>
                  <a:schemeClr val="bg1"/>
                </a:solidFill>
                <a:latin typeface="宋体" panose="02010600030101010101" pitchFamily="2" charset="-122"/>
                <a:ea typeface="宋体" panose="02010600030101010101" pitchFamily="2" charset="-122"/>
              </a:rPr>
              <a:t>次声波传感器分类</a:t>
            </a:r>
            <a:endParaRPr lang="en-US" altLang="zh-CN" sz="3400" b="1" dirty="0">
              <a:solidFill>
                <a:schemeClr val="bg1"/>
              </a:solidFill>
              <a:latin typeface="宋体" panose="02010600030101010101" pitchFamily="2" charset="-122"/>
              <a:ea typeface="宋体" panose="02010600030101010101" pitchFamily="2" charset="-122"/>
            </a:endParaRPr>
          </a:p>
        </p:txBody>
      </p:sp>
      <p:sp>
        <p:nvSpPr>
          <p:cNvPr id="9" name="矩形 8"/>
          <p:cNvSpPr/>
          <p:nvPr/>
        </p:nvSpPr>
        <p:spPr>
          <a:xfrm>
            <a:off x="141315" y="1988841"/>
            <a:ext cx="4375871" cy="461665"/>
          </a:xfrm>
          <a:prstGeom prst="rect">
            <a:avLst/>
          </a:prstGeom>
        </p:spPr>
        <p:txBody>
          <a:bodyPr wrap="square">
            <a:spAutoFit/>
          </a:bodyPr>
          <a:lstStyle/>
          <a:p>
            <a:pPr>
              <a:spcBef>
                <a:spcPts val="624"/>
              </a:spcBef>
            </a:pPr>
            <a:r>
              <a:rPr lang="zh-CN" altLang="en-US" sz="2400" b="1" dirty="0">
                <a:latin typeface="宋体" panose="02010600030101010101" pitchFamily="2" charset="-122"/>
                <a:ea typeface="宋体" panose="02010600030101010101" pitchFamily="2" charset="-122"/>
                <a:cs typeface="Arial" panose="020B0604020202020204" pitchFamily="34" charset="0"/>
              </a:rPr>
              <a:t>（</a:t>
            </a:r>
            <a:r>
              <a:rPr lang="en-US" altLang="zh-CN" sz="2400" b="1" dirty="0">
                <a:latin typeface="宋体" panose="02010600030101010101" pitchFamily="2" charset="-122"/>
                <a:ea typeface="宋体" panose="02010600030101010101" pitchFamily="2" charset="-122"/>
                <a:cs typeface="Arial" panose="020B0604020202020204" pitchFamily="34" charset="0"/>
              </a:rPr>
              <a:t>2</a:t>
            </a:r>
            <a:r>
              <a:rPr lang="zh-CN" altLang="en-US" sz="2400" b="1" dirty="0">
                <a:latin typeface="宋体" panose="02010600030101010101" pitchFamily="2" charset="-122"/>
                <a:ea typeface="宋体" panose="02010600030101010101" pitchFamily="2" charset="-122"/>
                <a:cs typeface="Arial" panose="020B0604020202020204" pitchFamily="34" charset="0"/>
              </a:rPr>
              <a:t>）动圈式次声波传感器</a:t>
            </a:r>
            <a:endParaRPr lang="en-US" altLang="zh-CN" sz="2400" b="1" dirty="0">
              <a:latin typeface="宋体" panose="02010600030101010101" pitchFamily="2" charset="-122"/>
              <a:ea typeface="宋体" panose="02010600030101010101" pitchFamily="2" charset="-122"/>
              <a:cs typeface="Arial" panose="020B0604020202020204" pitchFamily="34" charset="0"/>
            </a:endParaRPr>
          </a:p>
        </p:txBody>
      </p:sp>
      <p:sp>
        <p:nvSpPr>
          <p:cNvPr id="2" name="Slide Number Placeholder 1">
            <a:extLst>
              <a:ext uri="{FF2B5EF4-FFF2-40B4-BE49-F238E27FC236}">
                <a16:creationId xmlns:a16="http://schemas.microsoft.com/office/drawing/2014/main" id="{994C6F59-D1AA-4E1D-BCB7-537AA0889CA5}"/>
              </a:ext>
            </a:extLst>
          </p:cNvPr>
          <p:cNvSpPr>
            <a:spLocks noGrp="1"/>
          </p:cNvSpPr>
          <p:nvPr>
            <p:ph type="sldNum" sz="quarter" idx="12"/>
          </p:nvPr>
        </p:nvSpPr>
        <p:spPr/>
        <p:txBody>
          <a:bodyPr/>
          <a:lstStyle/>
          <a:p>
            <a:fld id="{B53602B4-F12B-41CD-B648-531F86B2CC91}" type="slidenum">
              <a:rPr lang="zh-CN" altLang="en-US" smtClean="0"/>
              <a:t>38</a:t>
            </a:fld>
            <a:endParaRPr lang="zh-CN" altLang="en-US"/>
          </a:p>
        </p:txBody>
      </p:sp>
      <p:sp>
        <p:nvSpPr>
          <p:cNvPr id="10" name="Text Box 59">
            <a:extLst>
              <a:ext uri="{FF2B5EF4-FFF2-40B4-BE49-F238E27FC236}">
                <a16:creationId xmlns:a16="http://schemas.microsoft.com/office/drawing/2014/main" id="{A7B13ED7-E014-48D1-90BE-30CF1FED357B}"/>
              </a:ext>
            </a:extLst>
          </p:cNvPr>
          <p:cNvSpPr txBox="1">
            <a:spLocks noChangeArrowheads="1"/>
          </p:cNvSpPr>
          <p:nvPr/>
        </p:nvSpPr>
        <p:spPr bwMode="auto">
          <a:xfrm>
            <a:off x="213144" y="5713177"/>
            <a:ext cx="3935770" cy="9198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r" eaLnBrk="1" hangingPunct="1">
              <a:lnSpc>
                <a:spcPct val="120000"/>
              </a:lnSpc>
              <a:buFontTx/>
              <a:buNone/>
            </a:pPr>
            <a:r>
              <a:rPr kumimoji="0" lang="zh-CN" altLang="en-US" sz="2400" b="1" dirty="0">
                <a:solidFill>
                  <a:srgbClr val="3333CC"/>
                </a:solidFill>
                <a:latin typeface="宋体" pitchFamily="2" charset="-122"/>
              </a:rPr>
              <a:t>图</a:t>
            </a:r>
            <a:r>
              <a:rPr kumimoji="0" lang="en-US" altLang="zh-CN" sz="2400" b="1" dirty="0">
                <a:solidFill>
                  <a:srgbClr val="3333CC"/>
                </a:solidFill>
                <a:latin typeface="宋体" pitchFamily="2" charset="-122"/>
              </a:rPr>
              <a:t>9-8 </a:t>
            </a:r>
            <a:r>
              <a:rPr kumimoji="0" lang="zh-CN" altLang="en-US" sz="2400" b="1" dirty="0">
                <a:solidFill>
                  <a:srgbClr val="3333CC"/>
                </a:solidFill>
                <a:latin typeface="宋体" pitchFamily="2" charset="-122"/>
              </a:rPr>
              <a:t>动圈式次声波传感器的工作原理图</a:t>
            </a:r>
          </a:p>
        </p:txBody>
      </p:sp>
      <p:pic>
        <p:nvPicPr>
          <p:cNvPr id="11" name="图片 12">
            <a:extLst>
              <a:ext uri="{FF2B5EF4-FFF2-40B4-BE49-F238E27FC236}">
                <a16:creationId xmlns:a16="http://schemas.microsoft.com/office/drawing/2014/main" id="{AE957396-3C22-4D32-87C8-40560632BB9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8861" y="2583396"/>
            <a:ext cx="4288335" cy="3045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矩形 8">
            <a:extLst>
              <a:ext uri="{FF2B5EF4-FFF2-40B4-BE49-F238E27FC236}">
                <a16:creationId xmlns:a16="http://schemas.microsoft.com/office/drawing/2014/main" id="{A716DAC3-A606-4637-83E4-20E879EC0FD3}"/>
              </a:ext>
            </a:extLst>
          </p:cNvPr>
          <p:cNvSpPr/>
          <p:nvPr/>
        </p:nvSpPr>
        <p:spPr>
          <a:xfrm>
            <a:off x="4243196" y="2635739"/>
            <a:ext cx="4744882" cy="3462102"/>
          </a:xfrm>
          <a:prstGeom prst="rect">
            <a:avLst/>
          </a:prstGeom>
        </p:spPr>
        <p:txBody>
          <a:bodyPr wrap="square">
            <a:spAutoFit/>
          </a:bodyPr>
          <a:lstStyle/>
          <a:p>
            <a:pPr marL="342900" indent="-342900">
              <a:lnSpc>
                <a:spcPct val="130000"/>
              </a:lnSpc>
              <a:spcBef>
                <a:spcPts val="600"/>
              </a:spcBef>
              <a:buFont typeface="Arial" panose="020B0604020202020204" pitchFamily="34" charset="0"/>
              <a:buChar char="•"/>
            </a:pPr>
            <a:r>
              <a:rPr lang="zh-CN" altLang="en-US" sz="2400" b="1">
                <a:latin typeface="宋体" panose="02010600030101010101" pitchFamily="2" charset="-122"/>
                <a:ea typeface="宋体" panose="02010600030101010101" pitchFamily="2" charset="-122"/>
                <a:cs typeface="Arial" panose="020B0604020202020204" pitchFamily="34" charset="0"/>
              </a:rPr>
              <a:t>次声波的</a:t>
            </a:r>
            <a:r>
              <a:rPr lang="zh-CN" altLang="en-US" sz="2400" b="1">
                <a:solidFill>
                  <a:srgbClr val="C00000"/>
                </a:solidFill>
                <a:latin typeface="宋体" panose="02010600030101010101" pitchFamily="2" charset="-122"/>
                <a:ea typeface="宋体" panose="02010600030101010101" pitchFamily="2" charset="-122"/>
                <a:cs typeface="Arial" panose="020B0604020202020204" pitchFamily="34" charset="0"/>
              </a:rPr>
              <a:t>频率高</a:t>
            </a:r>
            <a:r>
              <a:rPr lang="zh-CN" altLang="en-US" sz="2400" b="1">
                <a:latin typeface="宋体" panose="02010600030101010101" pitchFamily="2" charset="-122"/>
                <a:ea typeface="宋体" panose="02010600030101010101" pitchFamily="2" charset="-122"/>
                <a:cs typeface="Arial" panose="020B0604020202020204" pitchFamily="34" charset="0"/>
              </a:rPr>
              <a:t>，</a:t>
            </a:r>
            <a:r>
              <a:rPr lang="en-US" altLang="zh-CN" sz="2400" b="1">
                <a:latin typeface="宋体" panose="02010600030101010101" pitchFamily="2" charset="-122"/>
                <a:ea typeface="宋体" panose="02010600030101010101" pitchFamily="2" charset="-122"/>
                <a:cs typeface="Arial" panose="020B0604020202020204" pitchFamily="34" charset="0"/>
              </a:rPr>
              <a:t>PET</a:t>
            </a:r>
            <a:r>
              <a:rPr lang="zh-CN" altLang="en-US" sz="2400" b="1">
                <a:latin typeface="宋体" panose="02010600030101010101" pitchFamily="2" charset="-122"/>
                <a:ea typeface="宋体" panose="02010600030101010101" pitchFamily="2" charset="-122"/>
                <a:cs typeface="Arial" panose="020B0604020202020204" pitchFamily="34" charset="0"/>
              </a:rPr>
              <a:t>膜的振动频率就高，膜所带动线圈产生电动势和感应电流变化的频率也就越高</a:t>
            </a:r>
            <a:endParaRPr lang="en-US" altLang="zh-CN" sz="2400" b="1">
              <a:latin typeface="宋体" panose="02010600030101010101" pitchFamily="2" charset="-122"/>
              <a:ea typeface="宋体" panose="02010600030101010101" pitchFamily="2" charset="-122"/>
              <a:cs typeface="Arial" panose="020B0604020202020204" pitchFamily="34" charset="0"/>
            </a:endParaRPr>
          </a:p>
          <a:p>
            <a:pPr marL="342900" indent="-342900">
              <a:lnSpc>
                <a:spcPct val="130000"/>
              </a:lnSpc>
              <a:spcBef>
                <a:spcPts val="600"/>
              </a:spcBef>
              <a:buFont typeface="Arial" panose="020B0604020202020204" pitchFamily="34" charset="0"/>
              <a:buChar char="•"/>
            </a:pPr>
            <a:r>
              <a:rPr lang="zh-CN" altLang="en-US" sz="2400" b="1">
                <a:latin typeface="宋体" panose="02010600030101010101" pitchFamily="2" charset="-122"/>
                <a:ea typeface="宋体" panose="02010600030101010101" pitchFamily="2" charset="-122"/>
                <a:cs typeface="Arial" panose="020B0604020202020204" pitchFamily="34" charset="0"/>
              </a:rPr>
              <a:t>次声</a:t>
            </a:r>
            <a:r>
              <a:rPr lang="zh-CN" altLang="en-US" sz="2400" b="1">
                <a:solidFill>
                  <a:srgbClr val="C00000"/>
                </a:solidFill>
                <a:latin typeface="宋体" panose="02010600030101010101" pitchFamily="2" charset="-122"/>
                <a:ea typeface="宋体" panose="02010600030101010101" pitchFamily="2" charset="-122"/>
                <a:cs typeface="Arial" panose="020B0604020202020204" pitchFamily="34" charset="0"/>
              </a:rPr>
              <a:t>强度</a:t>
            </a:r>
            <a:r>
              <a:rPr lang="zh-CN" altLang="en-US" sz="2400" b="1">
                <a:latin typeface="宋体" panose="02010600030101010101" pitchFamily="2" charset="-122"/>
                <a:ea typeface="宋体" panose="02010600030101010101" pitchFamily="2" charset="-122"/>
                <a:cs typeface="Arial" panose="020B0604020202020204" pitchFamily="34" charset="0"/>
              </a:rPr>
              <a:t>越大，振膜的振动幅度就越大，感应电动势和感应电流的幅度也越大。</a:t>
            </a:r>
            <a:endParaRPr lang="en-US" altLang="zh-CN" sz="2400" b="1" dirty="0">
              <a:latin typeface="宋体" panose="02010600030101010101" pitchFamily="2" charset="-122"/>
              <a:ea typeface="宋体" panose="02010600030101010101" pitchFamily="2" charset="-122"/>
              <a:cs typeface="Arial" panose="020B0604020202020204" pitchFamily="34" charset="0"/>
            </a:endParaRPr>
          </a:p>
        </p:txBody>
      </p:sp>
    </p:spTree>
    <p:extLst>
      <p:ext uri="{BB962C8B-B14F-4D97-AF65-F5344CB8AC3E}">
        <p14:creationId xmlns:p14="http://schemas.microsoft.com/office/powerpoint/2010/main" val="2680144824"/>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圆角矩形 72">
            <a:extLst>
              <a:ext uri="{FF2B5EF4-FFF2-40B4-BE49-F238E27FC236}">
                <a16:creationId xmlns:a16="http://schemas.microsoft.com/office/drawing/2014/main" id="{CE8DA89C-9449-4C1E-B1BB-58A56F4B8E5D}"/>
              </a:ext>
            </a:extLst>
          </p:cNvPr>
          <p:cNvSpPr/>
          <p:nvPr/>
        </p:nvSpPr>
        <p:spPr>
          <a:xfrm rot="10800000" flipV="1">
            <a:off x="1913338" y="2457644"/>
            <a:ext cx="1028701" cy="46885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800" b="1" dirty="0">
                <a:latin typeface="Arial" panose="020B0604020202020204" pitchFamily="34" charset="0"/>
                <a:ea typeface="宋体" panose="02010600030101010101" pitchFamily="2" charset="-122"/>
                <a:cs typeface="Arial" panose="020B0604020202020204" pitchFamily="34" charset="0"/>
              </a:rPr>
              <a:t>9.4.1</a:t>
            </a:r>
            <a:endParaRPr lang="zh-CN" altLang="en-US" sz="2800" b="1" dirty="0">
              <a:latin typeface="Arial" panose="020B0604020202020204" pitchFamily="34" charset="0"/>
              <a:ea typeface="宋体" panose="02010600030101010101" pitchFamily="2" charset="-122"/>
              <a:cs typeface="Arial" panose="020B0604020202020204" pitchFamily="34" charset="0"/>
            </a:endParaRPr>
          </a:p>
        </p:txBody>
      </p:sp>
      <p:sp>
        <p:nvSpPr>
          <p:cNvPr id="14" name="圆角矩形 73">
            <a:extLst>
              <a:ext uri="{FF2B5EF4-FFF2-40B4-BE49-F238E27FC236}">
                <a16:creationId xmlns:a16="http://schemas.microsoft.com/office/drawing/2014/main" id="{13ECFB7A-6481-441B-B7F8-6D9C7C31DE90}"/>
              </a:ext>
            </a:extLst>
          </p:cNvPr>
          <p:cNvSpPr/>
          <p:nvPr/>
        </p:nvSpPr>
        <p:spPr>
          <a:xfrm rot="10800000" flipV="1">
            <a:off x="1913337" y="3418995"/>
            <a:ext cx="1028700" cy="467244"/>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800" b="1" dirty="0">
                <a:latin typeface="Arial" panose="020B0604020202020204" pitchFamily="34" charset="0"/>
                <a:ea typeface="宋体" panose="02010600030101010101" pitchFamily="2" charset="-122"/>
                <a:cs typeface="Arial" panose="020B0604020202020204" pitchFamily="34" charset="0"/>
              </a:rPr>
              <a:t>9.4.2</a:t>
            </a:r>
            <a:endParaRPr lang="zh-CN" altLang="en-US" sz="2800" b="1" dirty="0">
              <a:latin typeface="Arial" panose="020B0604020202020204" pitchFamily="34" charset="0"/>
              <a:ea typeface="宋体" panose="02010600030101010101" pitchFamily="2" charset="-122"/>
              <a:cs typeface="Arial" panose="020B0604020202020204" pitchFamily="34" charset="0"/>
            </a:endParaRPr>
          </a:p>
        </p:txBody>
      </p:sp>
      <p:sp>
        <p:nvSpPr>
          <p:cNvPr id="16" name="文本框 15">
            <a:extLst>
              <a:ext uri="{FF2B5EF4-FFF2-40B4-BE49-F238E27FC236}">
                <a16:creationId xmlns:a16="http://schemas.microsoft.com/office/drawing/2014/main" id="{3DA8D264-59AF-4A60-973F-EF0C94F03239}"/>
              </a:ext>
            </a:extLst>
          </p:cNvPr>
          <p:cNvSpPr txBox="1"/>
          <p:nvPr/>
        </p:nvSpPr>
        <p:spPr>
          <a:xfrm>
            <a:off x="3050287" y="2413100"/>
            <a:ext cx="3070063" cy="523216"/>
          </a:xfrm>
          <a:prstGeom prst="rect">
            <a:avLst/>
          </a:prstGeom>
          <a:noFill/>
        </p:spPr>
        <p:txBody>
          <a:bodyPr wrap="none" lIns="91436" tIns="45718" rIns="91436" bIns="45718" rtlCol="0">
            <a:spAutoFit/>
          </a:bodyPr>
          <a:lstStyle/>
          <a:p>
            <a:r>
              <a:rPr lang="zh-CN" altLang="en-US" sz="2800" b="1" dirty="0">
                <a:solidFill>
                  <a:schemeClr val="tx2"/>
                </a:solidFill>
                <a:latin typeface="宋体" panose="02010600030101010101" pitchFamily="2" charset="-122"/>
                <a:ea typeface="宋体" panose="02010600030101010101" pitchFamily="2" charset="-122"/>
                <a:hlinkClick r:id="rId2" action="ppaction://hlinksldjump"/>
              </a:rPr>
              <a:t>液位和湿度的检测</a:t>
            </a:r>
            <a:endParaRPr lang="zh-CN" altLang="en-US" sz="2800" b="1" dirty="0">
              <a:solidFill>
                <a:schemeClr val="tx2"/>
              </a:solidFill>
              <a:latin typeface="宋体" panose="02010600030101010101" pitchFamily="2" charset="-122"/>
              <a:ea typeface="宋体" panose="02010600030101010101" pitchFamily="2" charset="-122"/>
            </a:endParaRPr>
          </a:p>
        </p:txBody>
      </p:sp>
      <p:sp>
        <p:nvSpPr>
          <p:cNvPr id="27" name="圆角矩形 73">
            <a:extLst>
              <a:ext uri="{FF2B5EF4-FFF2-40B4-BE49-F238E27FC236}">
                <a16:creationId xmlns:a16="http://schemas.microsoft.com/office/drawing/2014/main" id="{13ECFB7A-6481-441B-B7F8-6D9C7C31DE90}"/>
              </a:ext>
            </a:extLst>
          </p:cNvPr>
          <p:cNvSpPr/>
          <p:nvPr/>
        </p:nvSpPr>
        <p:spPr>
          <a:xfrm rot="10800000" flipV="1">
            <a:off x="1913338" y="4378738"/>
            <a:ext cx="1028700" cy="467244"/>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800" b="1" dirty="0">
                <a:latin typeface="Arial" panose="020B0604020202020204" pitchFamily="34" charset="0"/>
                <a:ea typeface="宋体" panose="02010600030101010101" pitchFamily="2" charset="-122"/>
                <a:cs typeface="Arial" panose="020B0604020202020204" pitchFamily="34" charset="0"/>
              </a:rPr>
              <a:t>9.4.3</a:t>
            </a:r>
            <a:endParaRPr lang="zh-CN" altLang="en-US" sz="2800" b="1" dirty="0">
              <a:latin typeface="Arial" panose="020B0604020202020204" pitchFamily="34" charset="0"/>
              <a:ea typeface="宋体" panose="02010600030101010101" pitchFamily="2" charset="-122"/>
              <a:cs typeface="Arial" panose="020B0604020202020204" pitchFamily="34" charset="0"/>
            </a:endParaRPr>
          </a:p>
        </p:txBody>
      </p:sp>
      <p:sp>
        <p:nvSpPr>
          <p:cNvPr id="28" name="文本框 27">
            <a:extLst>
              <a:ext uri="{FF2B5EF4-FFF2-40B4-BE49-F238E27FC236}">
                <a16:creationId xmlns:a16="http://schemas.microsoft.com/office/drawing/2014/main" id="{3DA8D264-59AF-4A60-973F-EF0C94F03239}"/>
              </a:ext>
            </a:extLst>
          </p:cNvPr>
          <p:cNvSpPr txBox="1"/>
          <p:nvPr/>
        </p:nvSpPr>
        <p:spPr>
          <a:xfrm>
            <a:off x="3050288" y="3385307"/>
            <a:ext cx="4873442" cy="523216"/>
          </a:xfrm>
          <a:prstGeom prst="rect">
            <a:avLst/>
          </a:prstGeom>
          <a:noFill/>
        </p:spPr>
        <p:txBody>
          <a:bodyPr wrap="none" lIns="91436" tIns="45718" rIns="91436" bIns="45718" rtlCol="0">
            <a:spAutoFit/>
          </a:bodyPr>
          <a:lstStyle/>
          <a:p>
            <a:r>
              <a:rPr lang="zh-CN" altLang="en-US" sz="2800" b="1" dirty="0">
                <a:solidFill>
                  <a:schemeClr val="tx2"/>
                </a:solidFill>
                <a:latin typeface="宋体" panose="02010600030101010101" pitchFamily="2" charset="-122"/>
                <a:ea typeface="宋体" panose="02010600030101010101" pitchFamily="2" charset="-122"/>
                <a:hlinkClick r:id="rId3" action="ppaction://hlinksldjump"/>
              </a:rPr>
              <a:t>物位、流量的测量和无损探伤</a:t>
            </a:r>
            <a:endParaRPr lang="zh-CN" altLang="en-US" sz="2800" b="1" dirty="0">
              <a:solidFill>
                <a:schemeClr val="tx2"/>
              </a:solidFill>
              <a:latin typeface="宋体" panose="02010600030101010101" pitchFamily="2" charset="-122"/>
              <a:ea typeface="宋体" panose="02010600030101010101" pitchFamily="2" charset="-122"/>
            </a:endParaRPr>
          </a:p>
        </p:txBody>
      </p:sp>
      <p:sp>
        <p:nvSpPr>
          <p:cNvPr id="29" name="文本框 28">
            <a:extLst>
              <a:ext uri="{FF2B5EF4-FFF2-40B4-BE49-F238E27FC236}">
                <a16:creationId xmlns:a16="http://schemas.microsoft.com/office/drawing/2014/main" id="{3DA8D264-59AF-4A60-973F-EF0C94F03239}"/>
              </a:ext>
            </a:extLst>
          </p:cNvPr>
          <p:cNvSpPr txBox="1"/>
          <p:nvPr/>
        </p:nvSpPr>
        <p:spPr>
          <a:xfrm>
            <a:off x="3050288" y="4357514"/>
            <a:ext cx="4512766" cy="523216"/>
          </a:xfrm>
          <a:prstGeom prst="rect">
            <a:avLst/>
          </a:prstGeom>
          <a:noFill/>
        </p:spPr>
        <p:txBody>
          <a:bodyPr wrap="none" lIns="91436" tIns="45718" rIns="91436" bIns="45718" rtlCol="0">
            <a:spAutoFit/>
          </a:bodyPr>
          <a:lstStyle/>
          <a:p>
            <a:r>
              <a:rPr lang="zh-CN" altLang="en-US" sz="2800" b="1" dirty="0">
                <a:solidFill>
                  <a:schemeClr val="tx2"/>
                </a:solidFill>
                <a:latin typeface="宋体" panose="02010600030101010101" pitchFamily="2" charset="-122"/>
                <a:ea typeface="宋体" panose="02010600030101010101" pitchFamily="2" charset="-122"/>
                <a:hlinkClick r:id="rId4" action="ppaction://hlinksldjump"/>
              </a:rPr>
              <a:t>管道泄漏的定位和灾害预测</a:t>
            </a:r>
            <a:endParaRPr lang="zh-CN" altLang="en-US" sz="2800" b="1" dirty="0">
              <a:solidFill>
                <a:schemeClr val="tx2"/>
              </a:solidFill>
              <a:latin typeface="宋体" panose="02010600030101010101" pitchFamily="2" charset="-122"/>
              <a:ea typeface="宋体" panose="02010600030101010101" pitchFamily="2" charset="-122"/>
            </a:endParaRPr>
          </a:p>
        </p:txBody>
      </p:sp>
      <p:sp>
        <p:nvSpPr>
          <p:cNvPr id="34" name="矩形 33">
            <a:extLst>
              <a:ext uri="{FF2B5EF4-FFF2-40B4-BE49-F238E27FC236}">
                <a16:creationId xmlns:a16="http://schemas.microsoft.com/office/drawing/2014/main" id="{64509930-9DFB-420E-8F32-960E50399825}"/>
              </a:ext>
            </a:extLst>
          </p:cNvPr>
          <p:cNvSpPr/>
          <p:nvPr/>
        </p:nvSpPr>
        <p:spPr>
          <a:xfrm>
            <a:off x="1571711" y="258777"/>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5" name="圆角矩形 43">
            <a:extLst>
              <a:ext uri="{FF2B5EF4-FFF2-40B4-BE49-F238E27FC236}">
                <a16:creationId xmlns:a16="http://schemas.microsoft.com/office/drawing/2014/main" id="{7D086454-5B10-4064-9B8F-531209592F7E}"/>
              </a:ext>
            </a:extLst>
          </p:cNvPr>
          <p:cNvSpPr/>
          <p:nvPr/>
        </p:nvSpPr>
        <p:spPr>
          <a:xfrm rot="10800000" flipV="1">
            <a:off x="185084" y="242948"/>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b="1" dirty="0">
                <a:latin typeface="Arial" panose="020B0604020202020204" pitchFamily="34" charset="0"/>
                <a:ea typeface="宋体" panose="02010600030101010101" pitchFamily="2" charset="-122"/>
                <a:cs typeface="Arial" panose="020B0604020202020204" pitchFamily="34" charset="0"/>
              </a:rPr>
              <a:t>9.4</a:t>
            </a:r>
            <a:endParaRPr lang="zh-CN" altLang="en-US" sz="3600" b="1" dirty="0">
              <a:latin typeface="Arial" panose="020B0604020202020204" pitchFamily="34" charset="0"/>
              <a:ea typeface="宋体" panose="02010600030101010101" pitchFamily="2" charset="-122"/>
              <a:cs typeface="Arial" panose="020B0604020202020204" pitchFamily="34" charset="0"/>
            </a:endParaRPr>
          </a:p>
        </p:txBody>
      </p:sp>
      <p:sp>
        <p:nvSpPr>
          <p:cNvPr id="46" name="矩形 45">
            <a:extLst>
              <a:ext uri="{FF2B5EF4-FFF2-40B4-BE49-F238E27FC236}">
                <a16:creationId xmlns:a16="http://schemas.microsoft.com/office/drawing/2014/main" id="{2A2F604C-DA27-459E-8419-ED777356D653}"/>
              </a:ext>
            </a:extLst>
          </p:cNvPr>
          <p:cNvSpPr/>
          <p:nvPr/>
        </p:nvSpPr>
        <p:spPr>
          <a:xfrm>
            <a:off x="1919968" y="240301"/>
            <a:ext cx="3685616" cy="615549"/>
          </a:xfrm>
          <a:prstGeom prst="rect">
            <a:avLst/>
          </a:prstGeom>
        </p:spPr>
        <p:txBody>
          <a:bodyPr wrap="none" lIns="91436" tIns="45718" rIns="91436" bIns="45718">
            <a:spAutoFit/>
          </a:bodyPr>
          <a:lstStyle/>
          <a:p>
            <a:pPr algn="ctr"/>
            <a:r>
              <a:rPr lang="zh-CN" altLang="en-US" sz="3400" b="1" dirty="0">
                <a:solidFill>
                  <a:schemeClr val="bg1"/>
                </a:solidFill>
                <a:latin typeface="宋体" panose="02010600030101010101" pitchFamily="2" charset="-122"/>
                <a:ea typeface="宋体" panose="02010600030101010101" pitchFamily="2" charset="-122"/>
              </a:rPr>
              <a:t>声波传感器的应用</a:t>
            </a:r>
            <a:endParaRPr lang="en-US" altLang="zh-CN" sz="3400" b="1" dirty="0">
              <a:solidFill>
                <a:schemeClr val="bg1"/>
              </a:solidFill>
              <a:latin typeface="宋体" panose="02010600030101010101" pitchFamily="2" charset="-122"/>
              <a:ea typeface="宋体" panose="02010600030101010101" pitchFamily="2" charset="-122"/>
            </a:endParaRPr>
          </a:p>
        </p:txBody>
      </p:sp>
      <p:sp>
        <p:nvSpPr>
          <p:cNvPr id="2" name="Slide Number Placeholder 1">
            <a:extLst>
              <a:ext uri="{FF2B5EF4-FFF2-40B4-BE49-F238E27FC236}">
                <a16:creationId xmlns:a16="http://schemas.microsoft.com/office/drawing/2014/main" id="{D85E0D41-0781-4447-85B8-43CAA2C6D1A7}"/>
              </a:ext>
            </a:extLst>
          </p:cNvPr>
          <p:cNvSpPr>
            <a:spLocks noGrp="1"/>
          </p:cNvSpPr>
          <p:nvPr>
            <p:ph type="sldNum" sz="quarter" idx="12"/>
          </p:nvPr>
        </p:nvSpPr>
        <p:spPr/>
        <p:txBody>
          <a:bodyPr/>
          <a:lstStyle/>
          <a:p>
            <a:fld id="{B53602B4-F12B-41CD-B648-531F86B2CC91}" type="slidenum">
              <a:rPr lang="zh-CN" altLang="en-US" smtClean="0"/>
              <a:t>39</a:t>
            </a:fld>
            <a:endParaRPr lang="zh-CN" altLang="en-US"/>
          </a:p>
        </p:txBody>
      </p:sp>
    </p:spTree>
    <p:extLst>
      <p:ext uri="{BB962C8B-B14F-4D97-AF65-F5344CB8AC3E}">
        <p14:creationId xmlns:p14="http://schemas.microsoft.com/office/powerpoint/2010/main" val="1214576053"/>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 name="图片 3">
            <a:extLst>
              <a:ext uri="{FF2B5EF4-FFF2-40B4-BE49-F238E27FC236}">
                <a16:creationId xmlns:a16="http://schemas.microsoft.com/office/drawing/2014/main" id="{F5A6E3C5-8B9E-4984-9C92-17B67C266ED5}"/>
              </a:ext>
            </a:extLst>
          </p:cNvPr>
          <p:cNvPicPr>
            <a:picLocks noChangeAspect="1"/>
          </p:cNvPicPr>
          <p:nvPr/>
        </p:nvPicPr>
        <p:blipFill>
          <a:blip r:embed="rId3"/>
          <a:stretch>
            <a:fillRect/>
          </a:stretch>
        </p:blipFill>
        <p:spPr>
          <a:xfrm>
            <a:off x="4259197" y="1259929"/>
            <a:ext cx="4709285" cy="2105385"/>
          </a:xfrm>
          <a:prstGeom prst="rect">
            <a:avLst/>
          </a:prstGeom>
        </p:spPr>
      </p:pic>
      <p:sp>
        <p:nvSpPr>
          <p:cNvPr id="3" name="文本框 2">
            <a:extLst>
              <a:ext uri="{FF2B5EF4-FFF2-40B4-BE49-F238E27FC236}">
                <a16:creationId xmlns:a16="http://schemas.microsoft.com/office/drawing/2014/main" id="{49142242-5E57-4D15-A0DD-17CB598A023D}"/>
              </a:ext>
            </a:extLst>
          </p:cNvPr>
          <p:cNvSpPr txBox="1"/>
          <p:nvPr/>
        </p:nvSpPr>
        <p:spPr>
          <a:xfrm>
            <a:off x="110366" y="3658774"/>
            <a:ext cx="4890260" cy="2462208"/>
          </a:xfrm>
          <a:prstGeom prst="rect">
            <a:avLst/>
          </a:prstGeom>
          <a:noFill/>
        </p:spPr>
        <p:txBody>
          <a:bodyPr wrap="square" lIns="91436" tIns="45718" rIns="91436" bIns="45718" rtlCol="0">
            <a:spAutoFit/>
          </a:bodyPr>
          <a:lstStyle/>
          <a:p>
            <a:pPr marL="342900" indent="-342900">
              <a:spcBef>
                <a:spcPts val="1200"/>
              </a:spcBef>
              <a:buFont typeface="Arial" panose="020B0604020202020204" pitchFamily="34" charset="0"/>
              <a:buChar char="•"/>
            </a:pPr>
            <a:r>
              <a:rPr lang="zh-CN" altLang="en-US" sz="2400" b="1">
                <a:latin typeface="Times New Roman" panose="02020603050405020304" pitchFamily="18" charset="0"/>
                <a:ea typeface="宋体" panose="02010600030101010101" pitchFamily="2" charset="-122"/>
                <a:cs typeface="Times New Roman" panose="02020603050405020304" pitchFamily="18" charset="0"/>
              </a:rPr>
              <a:t>式中 </a:t>
            </a:r>
            <a:r>
              <a:rPr lang="en-US" altLang="zh-CN" sz="2400" i="1">
                <a:latin typeface="Times New Roman" panose="02020603050405020304" pitchFamily="18" charset="0"/>
                <a:ea typeface="宋体" panose="02010600030101010101" pitchFamily="2" charset="-122"/>
                <a:cs typeface="Times New Roman" panose="02020603050405020304" pitchFamily="18" charset="0"/>
              </a:rPr>
              <a:t>P</a:t>
            </a:r>
            <a:r>
              <a:rPr lang="en-US" altLang="zh-CN" sz="2400" i="1" baseline="-25000">
                <a:latin typeface="Times New Roman" panose="02020603050405020304" pitchFamily="18" charset="0"/>
                <a:ea typeface="宋体" panose="02010600030101010101" pitchFamily="2" charset="-122"/>
                <a:cs typeface="Times New Roman" panose="02020603050405020304" pitchFamily="18" charset="0"/>
              </a:rPr>
              <a:t>t</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rPr>
              <a:t>G</a:t>
            </a:r>
            <a:r>
              <a:rPr lang="en-US" altLang="zh-CN" sz="2400" i="1" baseline="-25000" dirty="0">
                <a:latin typeface="Times New Roman" panose="02020603050405020304" pitchFamily="18" charset="0"/>
                <a:ea typeface="宋体" panose="02010600030101010101" pitchFamily="2" charset="-122"/>
                <a:cs typeface="Times New Roman" panose="02020603050405020304" pitchFamily="18" charset="0"/>
              </a:rPr>
              <a:t>t</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为发射天线发射的功率和增益；</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rPr>
              <a:t>G</a:t>
            </a:r>
            <a:r>
              <a:rPr lang="en-US" altLang="zh-CN" sz="2400" i="1" baseline="-25000" dirty="0">
                <a:latin typeface="Times New Roman" panose="02020603050405020304" pitchFamily="18" charset="0"/>
                <a:ea typeface="宋体" panose="02010600030101010101" pitchFamily="2" charset="-122"/>
                <a:cs typeface="Times New Roman" panose="02020603050405020304" pitchFamily="18" charset="0"/>
              </a:rPr>
              <a:t>r</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为接收天线的增益。</a:t>
            </a:r>
          </a:p>
          <a:p>
            <a:pPr marL="342900" indent="-342900">
              <a:spcBef>
                <a:spcPts val="1200"/>
              </a:spcBef>
              <a:buFont typeface="Arial" panose="020B0604020202020204" pitchFamily="34" charset="0"/>
              <a:buChar char="•"/>
            </a:pP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当发射功率、波长、增益均恒定，且两个天线间的水平距离确定时，只要测得接收功率</a:t>
            </a:r>
            <a:r>
              <a:rPr lang="en-US" altLang="zh-CN" sz="2400" i="1" dirty="0" err="1">
                <a:latin typeface="Times New Roman" panose="02020603050405020304" pitchFamily="18" charset="0"/>
                <a:ea typeface="宋体" panose="02010600030101010101" pitchFamily="2" charset="-122"/>
                <a:cs typeface="Times New Roman" panose="02020603050405020304" pitchFamily="18" charset="0"/>
              </a:rPr>
              <a:t>P</a:t>
            </a:r>
            <a:r>
              <a:rPr lang="en-US" altLang="zh-CN" sz="2400" i="1" baseline="-25000" dirty="0" err="1">
                <a:latin typeface="Times New Roman" panose="02020603050405020304" pitchFamily="18" charset="0"/>
                <a:ea typeface="宋体" panose="02010600030101010101" pitchFamily="2" charset="-122"/>
                <a:cs typeface="Times New Roman" panose="02020603050405020304" pitchFamily="18" charset="0"/>
              </a:rPr>
              <a:t>r</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就可以获得被测液面的高度</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rPr>
              <a:t>d</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sz="2400" b="1"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6" name="矩形 25">
            <a:extLst>
              <a:ext uri="{FF2B5EF4-FFF2-40B4-BE49-F238E27FC236}">
                <a16:creationId xmlns:a16="http://schemas.microsoft.com/office/drawing/2014/main" id="{64509930-9DFB-420E-8F32-960E50399825}"/>
              </a:ext>
            </a:extLst>
          </p:cNvPr>
          <p:cNvSpPr/>
          <p:nvPr/>
        </p:nvSpPr>
        <p:spPr>
          <a:xfrm>
            <a:off x="1571711" y="258777"/>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7" name="圆角矩形 43">
            <a:extLst>
              <a:ext uri="{FF2B5EF4-FFF2-40B4-BE49-F238E27FC236}">
                <a16:creationId xmlns:a16="http://schemas.microsoft.com/office/drawing/2014/main" id="{7D086454-5B10-4064-9B8F-531209592F7E}"/>
              </a:ext>
            </a:extLst>
          </p:cNvPr>
          <p:cNvSpPr/>
          <p:nvPr/>
        </p:nvSpPr>
        <p:spPr>
          <a:xfrm rot="10800000" flipV="1">
            <a:off x="185084" y="242948"/>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20204" pitchFamily="34" charset="0"/>
                <a:ea typeface="宋体" panose="02010600030101010101" pitchFamily="2" charset="-122"/>
                <a:cs typeface="Arial" panose="020B0604020202020204" pitchFamily="34" charset="0"/>
              </a:rPr>
              <a:t>9.4.1</a:t>
            </a:r>
            <a:endParaRPr lang="zh-CN" altLang="en-US" sz="3200" b="1" dirty="0">
              <a:latin typeface="Arial" panose="020B0604020202020204" pitchFamily="34" charset="0"/>
              <a:ea typeface="宋体" panose="02010600030101010101" pitchFamily="2" charset="-122"/>
              <a:cs typeface="Arial" panose="020B0604020202020204" pitchFamily="34" charset="0"/>
            </a:endParaRPr>
          </a:p>
        </p:txBody>
      </p:sp>
      <p:sp>
        <p:nvSpPr>
          <p:cNvPr id="38" name="矩形 37">
            <a:extLst>
              <a:ext uri="{FF2B5EF4-FFF2-40B4-BE49-F238E27FC236}">
                <a16:creationId xmlns:a16="http://schemas.microsoft.com/office/drawing/2014/main" id="{2A2F604C-DA27-459E-8419-ED777356D653}"/>
              </a:ext>
            </a:extLst>
          </p:cNvPr>
          <p:cNvSpPr/>
          <p:nvPr/>
        </p:nvSpPr>
        <p:spPr>
          <a:xfrm>
            <a:off x="1960908" y="240301"/>
            <a:ext cx="3685616" cy="615549"/>
          </a:xfrm>
          <a:prstGeom prst="rect">
            <a:avLst/>
          </a:prstGeom>
        </p:spPr>
        <p:txBody>
          <a:bodyPr wrap="none" lIns="91436" tIns="45718" rIns="91436" bIns="45718">
            <a:spAutoFit/>
          </a:bodyPr>
          <a:lstStyle/>
          <a:p>
            <a:pPr algn="ctr"/>
            <a:r>
              <a:rPr lang="zh-CN" altLang="en-US" sz="3400" b="1" dirty="0">
                <a:solidFill>
                  <a:schemeClr val="bg1"/>
                </a:solidFill>
                <a:latin typeface="宋体" panose="02010600030101010101" pitchFamily="2" charset="-122"/>
                <a:ea typeface="宋体" panose="02010600030101010101" pitchFamily="2" charset="-122"/>
              </a:rPr>
              <a:t>液位和湿度的检测</a:t>
            </a:r>
            <a:endParaRPr lang="en-US" altLang="zh-CN" sz="3400" b="1" dirty="0">
              <a:solidFill>
                <a:schemeClr val="bg1"/>
              </a:solidFill>
              <a:latin typeface="宋体" panose="02010600030101010101" pitchFamily="2" charset="-122"/>
              <a:ea typeface="宋体" panose="02010600030101010101" pitchFamily="2" charset="-122"/>
            </a:endParaRPr>
          </a:p>
        </p:txBody>
      </p:sp>
      <p:sp>
        <p:nvSpPr>
          <p:cNvPr id="8" name="矩形 7"/>
          <p:cNvSpPr/>
          <p:nvPr/>
        </p:nvSpPr>
        <p:spPr>
          <a:xfrm>
            <a:off x="274154" y="1223595"/>
            <a:ext cx="1903085" cy="461665"/>
          </a:xfrm>
          <a:prstGeom prst="rect">
            <a:avLst/>
          </a:prstGeom>
          <a:solidFill>
            <a:srgbClr val="92D050"/>
          </a:solidFill>
        </p:spPr>
        <p:txBody>
          <a:bodyPr wrap="none">
            <a:spAutoFit/>
          </a:bodyPr>
          <a:lstStyle/>
          <a:p>
            <a:pPr>
              <a:spcBef>
                <a:spcPts val="624"/>
              </a:spcBef>
            </a:pPr>
            <a:r>
              <a:rPr lang="en-US" altLang="zh-CN" sz="2400" b="1" dirty="0">
                <a:latin typeface="Arial" panose="020B0604020202020204" pitchFamily="34" charset="0"/>
                <a:ea typeface="宋体" panose="02010600030101010101" pitchFamily="2" charset="-122"/>
                <a:cs typeface="Arial" panose="020B0604020202020204" pitchFamily="34" charset="0"/>
              </a:rPr>
              <a:t>1</a:t>
            </a:r>
            <a:r>
              <a:rPr lang="zh-CN" altLang="en-US" sz="2400" b="1" dirty="0">
                <a:latin typeface="Arial" panose="020B0604020202020204" pitchFamily="34" charset="0"/>
                <a:ea typeface="宋体" panose="02010600030101010101" pitchFamily="2" charset="-122"/>
                <a:cs typeface="Arial" panose="020B0604020202020204" pitchFamily="34" charset="0"/>
              </a:rPr>
              <a:t>、</a:t>
            </a:r>
            <a:r>
              <a:rPr lang="zh-CN" altLang="en-US" sz="2400" b="1">
                <a:latin typeface="宋体" panose="02010600030101010101" pitchFamily="2" charset="-122"/>
                <a:ea typeface="宋体" panose="02010600030101010101" pitchFamily="2" charset="-122"/>
              </a:rPr>
              <a:t>液位检</a:t>
            </a:r>
            <a:r>
              <a:rPr lang="zh-CN" altLang="en-US" sz="2400" b="1" dirty="0">
                <a:latin typeface="宋体" panose="02010600030101010101" pitchFamily="2" charset="-122"/>
                <a:ea typeface="宋体" panose="02010600030101010101" pitchFamily="2" charset="-122"/>
              </a:rPr>
              <a:t>测</a:t>
            </a:r>
            <a:endParaRPr lang="en-US" altLang="zh-CN" sz="2400" b="1" dirty="0">
              <a:latin typeface="Arial" panose="020B0604020202020204" pitchFamily="34" charset="0"/>
              <a:ea typeface="宋体" panose="02010600030101010101" pitchFamily="2" charset="-122"/>
              <a:cs typeface="Arial" panose="020B0604020202020204" pitchFamily="34" charset="0"/>
            </a:endParaRPr>
          </a:p>
        </p:txBody>
      </p:sp>
      <p:sp>
        <p:nvSpPr>
          <p:cNvPr id="9" name="矩形 8"/>
          <p:cNvSpPr/>
          <p:nvPr/>
        </p:nvSpPr>
        <p:spPr>
          <a:xfrm>
            <a:off x="185084" y="1946695"/>
            <a:ext cx="4474302" cy="461665"/>
          </a:xfrm>
          <a:prstGeom prst="rect">
            <a:avLst/>
          </a:prstGeom>
        </p:spPr>
        <p:txBody>
          <a:bodyPr wrap="none">
            <a:spAutoFit/>
          </a:bodyPr>
          <a:lstStyle/>
          <a:p>
            <a:pPr>
              <a:spcBef>
                <a:spcPts val="624"/>
              </a:spcBef>
            </a:pP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接收天线接收的功率</a:t>
            </a:r>
            <a:r>
              <a:rPr lang="en-US" altLang="zh-CN" sz="2400" i="1" dirty="0" err="1">
                <a:latin typeface="Times New Roman" panose="02020603050405020304" pitchFamily="18" charset="0"/>
                <a:ea typeface="宋体" panose="02010600030101010101" pitchFamily="2" charset="-122"/>
                <a:cs typeface="Times New Roman" panose="02020603050405020304" pitchFamily="18" charset="0"/>
              </a:rPr>
              <a:t>P</a:t>
            </a:r>
            <a:r>
              <a:rPr lang="en-US" altLang="zh-CN" sz="2400" i="1" baseline="-25000" dirty="0" err="1">
                <a:latin typeface="Times New Roman" panose="02020603050405020304" pitchFamily="18" charset="0"/>
                <a:ea typeface="宋体" panose="02010600030101010101" pitchFamily="2" charset="-122"/>
                <a:cs typeface="Times New Roman" panose="02020603050405020304" pitchFamily="18" charset="0"/>
              </a:rPr>
              <a:t>r</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可表示为</a:t>
            </a:r>
            <a:endParaRPr lang="en-US" altLang="zh-CN" sz="2400" b="1" dirty="0">
              <a:latin typeface="Times New Roman" panose="02020603050405020304" pitchFamily="18" charset="0"/>
              <a:ea typeface="宋体" panose="02010600030101010101" pitchFamily="2"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0" name="矩形 9"/>
              <p:cNvSpPr/>
              <p:nvPr/>
            </p:nvSpPr>
            <p:spPr>
              <a:xfrm>
                <a:off x="531275" y="2541251"/>
                <a:ext cx="3291927" cy="99514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𝑃</m:t>
                          </m:r>
                        </m:e>
                        <m:sub>
                          <m:r>
                            <a:rPr lang="zh-CN" altLang="en-US" sz="2400" i="1">
                              <a:latin typeface="Cambria Math" panose="02040503050406030204" pitchFamily="18" charset="0"/>
                            </a:rPr>
                            <m:t>𝑟</m:t>
                          </m:r>
                        </m:sub>
                      </m:sSub>
                      <m:r>
                        <a:rPr lang="zh-CN" altLang="en-US" sz="2400" i="0">
                          <a:latin typeface="Cambria Math" panose="02040503050406030204" pitchFamily="18" charset="0"/>
                        </a:rPr>
                        <m:t>=−</m:t>
                      </m:r>
                      <m:sSup>
                        <m:sSupPr>
                          <m:ctrlPr>
                            <a:rPr lang="zh-CN" altLang="en-US" sz="2400" i="1">
                              <a:latin typeface="Cambria Math" panose="02040503050406030204" pitchFamily="18" charset="0"/>
                            </a:rPr>
                          </m:ctrlPr>
                        </m:sSupPr>
                        <m:e>
                          <m:d>
                            <m:dPr>
                              <m:ctrlPr>
                                <a:rPr lang="zh-CN" altLang="en-US" sz="2400" i="1">
                                  <a:latin typeface="Cambria Math" panose="02040503050406030204" pitchFamily="18" charset="0"/>
                                </a:rPr>
                              </m:ctrlPr>
                            </m:dPr>
                            <m:e>
                              <m:f>
                                <m:fPr>
                                  <m:ctrlPr>
                                    <a:rPr lang="zh-CN" altLang="en-US" sz="2400" i="1">
                                      <a:latin typeface="Cambria Math" panose="02040503050406030204" pitchFamily="18" charset="0"/>
                                    </a:rPr>
                                  </m:ctrlPr>
                                </m:fPr>
                                <m:num>
                                  <m:r>
                                    <a:rPr lang="zh-CN" altLang="en-US" sz="2400" i="1">
                                      <a:latin typeface="Cambria Math" panose="02040503050406030204" pitchFamily="18" charset="0"/>
                                    </a:rPr>
                                    <m:t>𝜆</m:t>
                                  </m:r>
                                </m:num>
                                <m:den>
                                  <m:r>
                                    <a:rPr lang="zh-CN" altLang="en-US" sz="2400" i="0">
                                      <a:latin typeface="Cambria Math" panose="02040503050406030204" pitchFamily="18" charset="0"/>
                                    </a:rPr>
                                    <m:t>4</m:t>
                                  </m:r>
                                  <m:r>
                                    <a:rPr lang="zh-CN" altLang="en-US" sz="2400" i="1">
                                      <a:latin typeface="Cambria Math" panose="02040503050406030204" pitchFamily="18" charset="0"/>
                                    </a:rPr>
                                    <m:t>𝜋</m:t>
                                  </m:r>
                                </m:den>
                              </m:f>
                            </m:e>
                          </m:d>
                        </m:e>
                        <m:sup>
                          <m:r>
                            <a:rPr lang="zh-CN" altLang="en-US" sz="2400" i="0">
                              <a:latin typeface="Cambria Math" panose="02040503050406030204" pitchFamily="18" charset="0"/>
                            </a:rPr>
                            <m:t>2</m:t>
                          </m:r>
                        </m:sup>
                      </m:sSup>
                      <m:f>
                        <m:fPr>
                          <m:ctrlPr>
                            <a:rPr lang="zh-CN" altLang="en-US" sz="2400" i="1">
                              <a:latin typeface="Cambria Math" panose="02040503050406030204" pitchFamily="18" charset="0"/>
                            </a:rPr>
                          </m:ctrlPr>
                        </m:fPr>
                        <m:num>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𝑃</m:t>
                              </m:r>
                            </m:e>
                            <m:sub>
                              <m:r>
                                <a:rPr lang="zh-CN" altLang="en-US" sz="2400" i="1">
                                  <a:latin typeface="Cambria Math" panose="02040503050406030204" pitchFamily="18" charset="0"/>
                                </a:rPr>
                                <m:t>𝑡</m:t>
                              </m:r>
                            </m:sub>
                          </m:sSub>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𝐺</m:t>
                              </m:r>
                            </m:e>
                            <m:sub>
                              <m:r>
                                <a:rPr lang="zh-CN" altLang="en-US" sz="2400" i="1">
                                  <a:latin typeface="Cambria Math" panose="02040503050406030204" pitchFamily="18" charset="0"/>
                                </a:rPr>
                                <m:t>𝑡</m:t>
                              </m:r>
                            </m:sub>
                          </m:sSub>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𝐺</m:t>
                              </m:r>
                            </m:e>
                            <m:sub>
                              <m:r>
                                <a:rPr lang="zh-CN" altLang="en-US" sz="2400" i="1">
                                  <a:latin typeface="Cambria Math" panose="02040503050406030204" pitchFamily="18" charset="0"/>
                                </a:rPr>
                                <m:t>𝑟</m:t>
                              </m:r>
                            </m:sub>
                          </m:sSub>
                        </m:num>
                        <m:den>
                          <m:sSup>
                            <m:sSupPr>
                              <m:ctrlPr>
                                <a:rPr lang="zh-CN" altLang="en-US" sz="2400" i="1">
                                  <a:latin typeface="Cambria Math" panose="02040503050406030204" pitchFamily="18" charset="0"/>
                                </a:rPr>
                              </m:ctrlPr>
                            </m:sSupPr>
                            <m:e>
                              <m:r>
                                <a:rPr lang="zh-CN" altLang="en-US" sz="2400" i="1">
                                  <a:latin typeface="Cambria Math" panose="02040503050406030204" pitchFamily="18" charset="0"/>
                                </a:rPr>
                                <m:t>𝑠</m:t>
                              </m:r>
                            </m:e>
                            <m:sup>
                              <m:r>
                                <a:rPr lang="zh-CN" altLang="en-US" sz="2400" i="0">
                                  <a:latin typeface="Cambria Math" panose="02040503050406030204" pitchFamily="18" charset="0"/>
                                </a:rPr>
                                <m:t>2</m:t>
                              </m:r>
                            </m:sup>
                          </m:sSup>
                          <m:r>
                            <a:rPr lang="zh-CN" altLang="en-US" sz="2400" i="0">
                              <a:latin typeface="Cambria Math" panose="02040503050406030204" pitchFamily="18" charset="0"/>
                            </a:rPr>
                            <m:t>+4</m:t>
                          </m:r>
                          <m:sSup>
                            <m:sSupPr>
                              <m:ctrlPr>
                                <a:rPr lang="zh-CN" altLang="en-US" sz="2400" i="1">
                                  <a:latin typeface="Cambria Math" panose="02040503050406030204" pitchFamily="18" charset="0"/>
                                </a:rPr>
                              </m:ctrlPr>
                            </m:sSupPr>
                            <m:e>
                              <m:r>
                                <a:rPr lang="zh-CN" altLang="en-US" sz="2400" i="1">
                                  <a:latin typeface="Cambria Math" panose="02040503050406030204" pitchFamily="18" charset="0"/>
                                </a:rPr>
                                <m:t>𝑑</m:t>
                              </m:r>
                            </m:e>
                            <m:sup>
                              <m:r>
                                <a:rPr lang="zh-CN" altLang="en-US" sz="2400" i="0">
                                  <a:latin typeface="Cambria Math" panose="02040503050406030204" pitchFamily="18" charset="0"/>
                                </a:rPr>
                                <m:t>2</m:t>
                              </m:r>
                            </m:sup>
                          </m:sSup>
                        </m:den>
                      </m:f>
                    </m:oMath>
                  </m:oMathPara>
                </a14:m>
                <a:endParaRPr lang="zh-CN" altLang="en-US" sz="2400" dirty="0"/>
              </a:p>
            </p:txBody>
          </p:sp>
        </mc:Choice>
        <mc:Fallback xmlns="">
          <p:sp>
            <p:nvSpPr>
              <p:cNvPr id="10" name="矩形 9"/>
              <p:cNvSpPr>
                <a:spLocks noRot="1" noChangeAspect="1" noMove="1" noResize="1" noEditPoints="1" noAdjustHandles="1" noChangeArrowheads="1" noChangeShapeType="1" noTextEdit="1"/>
              </p:cNvSpPr>
              <p:nvPr/>
            </p:nvSpPr>
            <p:spPr>
              <a:xfrm>
                <a:off x="531275" y="2541251"/>
                <a:ext cx="3291927" cy="995144"/>
              </a:xfrm>
              <a:prstGeom prst="rect">
                <a:avLst/>
              </a:prstGeom>
              <a:blipFill>
                <a:blip r:embed="rId4"/>
                <a:stretch>
                  <a:fillRect/>
                </a:stretch>
              </a:blipFill>
            </p:spPr>
            <p:txBody>
              <a:bodyPr/>
              <a:lstStyle/>
              <a:p>
                <a:r>
                  <a:rPr lang="en-001">
                    <a:noFill/>
                  </a:rPr>
                  <a:t> </a:t>
                </a:r>
              </a:p>
            </p:txBody>
          </p:sp>
        </mc:Fallback>
      </mc:AlternateContent>
      <p:sp>
        <p:nvSpPr>
          <p:cNvPr id="2" name="Slide Number Placeholder 1">
            <a:extLst>
              <a:ext uri="{FF2B5EF4-FFF2-40B4-BE49-F238E27FC236}">
                <a16:creationId xmlns:a16="http://schemas.microsoft.com/office/drawing/2014/main" id="{64FCA436-7103-4872-AEF1-5CC9A4FB1457}"/>
              </a:ext>
            </a:extLst>
          </p:cNvPr>
          <p:cNvSpPr>
            <a:spLocks noGrp="1"/>
          </p:cNvSpPr>
          <p:nvPr>
            <p:ph type="sldNum" sz="quarter" idx="12"/>
          </p:nvPr>
        </p:nvSpPr>
        <p:spPr/>
        <p:txBody>
          <a:bodyPr/>
          <a:lstStyle/>
          <a:p>
            <a:fld id="{B53602B4-F12B-41CD-B648-531F86B2CC91}" type="slidenum">
              <a:rPr lang="zh-CN" altLang="en-US" smtClean="0"/>
              <a:t>40</a:t>
            </a:fld>
            <a:endParaRPr lang="zh-CN" altLang="en-US"/>
          </a:p>
        </p:txBody>
      </p:sp>
      <p:sp>
        <p:nvSpPr>
          <p:cNvPr id="23" name="Text Box 59">
            <a:extLst>
              <a:ext uri="{FF2B5EF4-FFF2-40B4-BE49-F238E27FC236}">
                <a16:creationId xmlns:a16="http://schemas.microsoft.com/office/drawing/2014/main" id="{22BB58B8-0666-43F3-8DBB-F8C3506B9E2D}"/>
              </a:ext>
            </a:extLst>
          </p:cNvPr>
          <p:cNvSpPr txBox="1">
            <a:spLocks noChangeArrowheads="1"/>
          </p:cNvSpPr>
          <p:nvPr/>
        </p:nvSpPr>
        <p:spPr bwMode="auto">
          <a:xfrm>
            <a:off x="5133847" y="3429000"/>
            <a:ext cx="3969635" cy="5355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buFontTx/>
              <a:buNone/>
            </a:pPr>
            <a:r>
              <a:rPr kumimoji="0" lang="zh-CN" altLang="en-US" sz="2400" b="1" dirty="0">
                <a:solidFill>
                  <a:srgbClr val="3333CC"/>
                </a:solidFill>
                <a:latin typeface="宋体" pitchFamily="2" charset="-122"/>
              </a:rPr>
              <a:t>图</a:t>
            </a:r>
            <a:r>
              <a:rPr kumimoji="0" lang="en-US" altLang="zh-CN" sz="2400" b="1" dirty="0">
                <a:solidFill>
                  <a:srgbClr val="3333CC"/>
                </a:solidFill>
                <a:latin typeface="宋体" pitchFamily="2" charset="-122"/>
              </a:rPr>
              <a:t>9-9 </a:t>
            </a:r>
            <a:r>
              <a:rPr kumimoji="0" lang="zh-CN" altLang="en-US" sz="2400" b="1" dirty="0">
                <a:solidFill>
                  <a:srgbClr val="3333CC"/>
                </a:solidFill>
                <a:latin typeface="宋体" pitchFamily="2" charset="-122"/>
              </a:rPr>
              <a:t>微波液位计原理图</a:t>
            </a:r>
          </a:p>
        </p:txBody>
      </p:sp>
      <p:sp>
        <p:nvSpPr>
          <p:cNvPr id="39" name="矩形 2">
            <a:extLst>
              <a:ext uri="{FF2B5EF4-FFF2-40B4-BE49-F238E27FC236}">
                <a16:creationId xmlns:a16="http://schemas.microsoft.com/office/drawing/2014/main" id="{CD63F8C7-4D8E-4B14-A2BE-9D0B6C0CAFA4}"/>
              </a:ext>
            </a:extLst>
          </p:cNvPr>
          <p:cNvSpPr/>
          <p:nvPr/>
        </p:nvSpPr>
        <p:spPr>
          <a:xfrm>
            <a:off x="5133847" y="3964531"/>
            <a:ext cx="3699633" cy="1698029"/>
          </a:xfrm>
          <a:prstGeom prst="rect">
            <a:avLst/>
          </a:prstGeom>
        </p:spPr>
        <p:txBody>
          <a:bodyPr wrap="square">
            <a:spAutoFit/>
          </a:bodyPr>
          <a:lstStyle/>
          <a:p>
            <a:pPr marL="216000" indent="-216000">
              <a:lnSpc>
                <a:spcPct val="150000"/>
              </a:lnSpc>
              <a:buFont typeface="Arial" panose="020B0604020202020204" pitchFamily="34" charset="0"/>
              <a:buChar char="•"/>
            </a:pPr>
            <a:r>
              <a:rPr lang="en-US" altLang="zh-CN" sz="2400" b="1" i="1" dirty="0">
                <a:cs typeface="Times New Roman" panose="02020603050405020304" pitchFamily="18" charset="0"/>
              </a:rPr>
              <a:t>d</a:t>
            </a:r>
            <a:r>
              <a:rPr lang="zh-CN" altLang="en-US" sz="2400" b="1" dirty="0">
                <a:cs typeface="Times New Roman" panose="02020603050405020304" pitchFamily="18" charset="0"/>
              </a:rPr>
              <a:t>为两天线与被测液面间的垂直距</a:t>
            </a:r>
            <a:r>
              <a:rPr lang="zh-CN" altLang="en-US" sz="2400" b="1">
                <a:cs typeface="Times New Roman" panose="02020603050405020304" pitchFamily="18" charset="0"/>
              </a:rPr>
              <a:t>离；</a:t>
            </a:r>
            <a:endParaRPr lang="en-US" altLang="zh-CN" sz="2400" b="1">
              <a:cs typeface="Times New Roman" panose="02020603050405020304" pitchFamily="18" charset="0"/>
            </a:endParaRPr>
          </a:p>
          <a:p>
            <a:pPr marL="216000" indent="-216000">
              <a:lnSpc>
                <a:spcPct val="150000"/>
              </a:lnSpc>
              <a:buFont typeface="Arial" panose="020B0604020202020204" pitchFamily="34" charset="0"/>
              <a:buChar char="•"/>
            </a:pPr>
            <a:r>
              <a:rPr lang="en-US" altLang="zh-CN" sz="2400" b="1" i="1">
                <a:cs typeface="Times New Roman" panose="02020603050405020304" pitchFamily="18" charset="0"/>
              </a:rPr>
              <a:t>s</a:t>
            </a:r>
            <a:r>
              <a:rPr lang="zh-CN" altLang="en-US" sz="2400" b="1" dirty="0">
                <a:cs typeface="Times New Roman" panose="02020603050405020304" pitchFamily="18" charset="0"/>
              </a:rPr>
              <a:t>为两天线间的水平距离。</a:t>
            </a:r>
            <a:endParaRPr lang="zh-CN" altLang="en-US" sz="2400" dirty="0"/>
          </a:p>
        </p:txBody>
      </p:sp>
    </p:spTree>
    <p:extLst>
      <p:ext uri="{BB962C8B-B14F-4D97-AF65-F5344CB8AC3E}">
        <p14:creationId xmlns:p14="http://schemas.microsoft.com/office/powerpoint/2010/main" val="3275832493"/>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49142242-5E57-4D15-A0DD-17CB598A023D}"/>
              </a:ext>
            </a:extLst>
          </p:cNvPr>
          <p:cNvSpPr txBox="1"/>
          <p:nvPr/>
        </p:nvSpPr>
        <p:spPr>
          <a:xfrm>
            <a:off x="710650" y="1750506"/>
            <a:ext cx="7563988" cy="1843899"/>
          </a:xfrm>
          <a:prstGeom prst="rect">
            <a:avLst/>
          </a:prstGeom>
          <a:noFill/>
        </p:spPr>
        <p:txBody>
          <a:bodyPr wrap="square" lIns="91436" tIns="45718" rIns="91436" bIns="45718" rtlCol="0">
            <a:spAutoFit/>
          </a:bodyPr>
          <a:lstStyle/>
          <a:p>
            <a:pPr marL="342900" indent="-342900">
              <a:lnSpc>
                <a:spcPts val="3500"/>
              </a:lnSpc>
              <a:buFont typeface="Wingdings" panose="05000000000000000000" pitchFamily="2" charset="2"/>
              <a:buChar char="§"/>
            </a:pP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水分子在常态下偶极子呈无序分</a:t>
            </a:r>
            <a:r>
              <a:rPr lang="zh-CN" altLang="en-US" sz="2400" b="1">
                <a:latin typeface="Times New Roman" panose="02020603050405020304" pitchFamily="18" charset="0"/>
                <a:ea typeface="宋体" panose="02010600030101010101" pitchFamily="2" charset="-122"/>
                <a:cs typeface="Times New Roman" panose="02020603050405020304" pitchFamily="18" charset="0"/>
              </a:rPr>
              <a:t>布。</a:t>
            </a:r>
            <a:endParaRPr lang="en-US" altLang="zh-CN" sz="2400" b="1">
              <a:latin typeface="Times New Roman" panose="02020603050405020304" pitchFamily="18" charset="0"/>
              <a:ea typeface="宋体" panose="02010600030101010101" pitchFamily="2" charset="-122"/>
              <a:cs typeface="Times New Roman" panose="02020603050405020304" pitchFamily="18" charset="0"/>
            </a:endParaRPr>
          </a:p>
          <a:p>
            <a:pPr marL="342900" indent="-342900">
              <a:lnSpc>
                <a:spcPts val="3500"/>
              </a:lnSpc>
              <a:buFont typeface="Wingdings" panose="05000000000000000000" pitchFamily="2" charset="2"/>
              <a:buChar char="§"/>
            </a:pPr>
            <a:r>
              <a:rPr lang="zh-CN" altLang="en-US" sz="2400" b="1">
                <a:latin typeface="Times New Roman" panose="02020603050405020304" pitchFamily="18" charset="0"/>
                <a:ea typeface="宋体" panose="02010600030101010101" pitchFamily="2" charset="-122"/>
                <a:cs typeface="Times New Roman" panose="02020603050405020304" pitchFamily="18" charset="0"/>
              </a:rPr>
              <a:t>在</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微波场作用下，偶极子不断地从电场中获得</a:t>
            </a:r>
            <a:r>
              <a:rPr lang="zh-CN" altLang="en-US" sz="2400" b="1">
                <a:latin typeface="Times New Roman" panose="02020603050405020304" pitchFamily="18" charset="0"/>
                <a:ea typeface="宋体" panose="02010600030101010101" pitchFamily="2" charset="-122"/>
                <a:cs typeface="Times New Roman" panose="02020603050405020304" pitchFamily="18" charset="0"/>
              </a:rPr>
              <a:t>能量</a:t>
            </a:r>
            <a:r>
              <a:rPr lang="en-US" altLang="zh-CN" sz="2400" b="1">
                <a:latin typeface="Times New Roman" panose="02020603050405020304" pitchFamily="18" charset="0"/>
                <a:ea typeface="宋体" panose="02010600030101010101" pitchFamily="2" charset="-122"/>
                <a:cs typeface="Times New Roman" panose="02020603050405020304" pitchFamily="18" charset="0"/>
              </a:rPr>
              <a:t>,</a:t>
            </a:r>
            <a:r>
              <a:rPr lang="zh-CN" altLang="en-US" sz="2400" b="1">
                <a:latin typeface="Times New Roman" panose="02020603050405020304" pitchFamily="18" charset="0"/>
                <a:ea typeface="宋体" panose="02010600030101010101" pitchFamily="2" charset="-122"/>
                <a:cs typeface="Times New Roman" panose="02020603050405020304" pitchFamily="18" charset="0"/>
              </a:rPr>
              <a:t>又</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不断地释放能</a:t>
            </a:r>
            <a:r>
              <a:rPr lang="zh-CN" altLang="en-US" sz="2400" b="1">
                <a:latin typeface="Times New Roman" panose="02020603050405020304" pitchFamily="18" charset="0"/>
                <a:ea typeface="宋体" panose="02010600030101010101" pitchFamily="2" charset="-122"/>
                <a:cs typeface="Times New Roman" panose="02020603050405020304" pitchFamily="18" charset="0"/>
              </a:rPr>
              <a:t>量。</a:t>
            </a:r>
            <a:endParaRPr lang="en-US" altLang="zh-CN" sz="2400" b="1">
              <a:latin typeface="Times New Roman" panose="02020603050405020304" pitchFamily="18" charset="0"/>
              <a:ea typeface="宋体" panose="02010600030101010101" pitchFamily="2" charset="-122"/>
              <a:cs typeface="Times New Roman" panose="02020603050405020304" pitchFamily="18" charset="0"/>
            </a:endParaRPr>
          </a:p>
          <a:p>
            <a:pPr marL="342900" indent="-342900">
              <a:lnSpc>
                <a:spcPts val="3500"/>
              </a:lnSpc>
              <a:buFont typeface="Wingdings" panose="05000000000000000000" pitchFamily="2" charset="2"/>
              <a:buChar char="§"/>
            </a:pPr>
            <a:r>
              <a:rPr lang="zh-CN" altLang="en-US" sz="2400" b="1">
                <a:latin typeface="Times New Roman" panose="02020603050405020304" pitchFamily="18" charset="0"/>
                <a:ea typeface="宋体" panose="02010600030101010101" pitchFamily="2" charset="-122"/>
                <a:cs typeface="Times New Roman" panose="02020603050405020304" pitchFamily="18" charset="0"/>
              </a:rPr>
              <a:t>该</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特性用水分子的介电常数表示为 </a:t>
            </a:r>
            <a:endParaRPr lang="en-US" altLang="zh-CN" sz="2400" b="1" dirty="0">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21" name="对象 20">
            <a:extLst>
              <a:ext uri="{FF2B5EF4-FFF2-40B4-BE49-F238E27FC236}">
                <a16:creationId xmlns:a16="http://schemas.microsoft.com/office/drawing/2014/main" id="{27A944CA-1FDA-40B5-8A10-962C7F04B75E}"/>
              </a:ext>
            </a:extLst>
          </p:cNvPr>
          <p:cNvGraphicFramePr>
            <a:graphicFrameLocks noChangeAspect="1"/>
          </p:cNvGraphicFramePr>
          <p:nvPr>
            <p:extLst>
              <p:ext uri="{D42A27DB-BD31-4B8C-83A1-F6EECF244321}">
                <p14:modId xmlns:p14="http://schemas.microsoft.com/office/powerpoint/2010/main" val="3881555705"/>
              </p:ext>
            </p:extLst>
          </p:nvPr>
        </p:nvGraphicFramePr>
        <p:xfrm>
          <a:off x="3408902" y="3554578"/>
          <a:ext cx="2326195" cy="698761"/>
        </p:xfrm>
        <a:graphic>
          <a:graphicData uri="http://schemas.openxmlformats.org/presentationml/2006/ole">
            <mc:AlternateContent xmlns:mc="http://schemas.openxmlformats.org/markup-compatibility/2006">
              <mc:Choice xmlns:v="urn:schemas-microsoft-com:vml" Requires="v">
                <p:oleObj spid="_x0000_s16459" name="Equation" r:id="rId4" imgW="583920" imgH="152280" progId="Equation.DSMT4">
                  <p:embed/>
                </p:oleObj>
              </mc:Choice>
              <mc:Fallback>
                <p:oleObj name="Equation" r:id="rId4" imgW="583920" imgH="152280" progId="Equation.DSMT4">
                  <p:embed/>
                  <p:pic>
                    <p:nvPicPr>
                      <p:cNvPr id="21" name="对象 20">
                        <a:extLst>
                          <a:ext uri="{FF2B5EF4-FFF2-40B4-BE49-F238E27FC236}">
                            <a16:creationId xmlns:a16="http://schemas.microsoft.com/office/drawing/2014/main" id="{27A944CA-1FDA-40B5-8A10-962C7F04B75E}"/>
                          </a:ext>
                        </a:extLst>
                      </p:cNvPr>
                      <p:cNvPicPr/>
                      <p:nvPr/>
                    </p:nvPicPr>
                    <p:blipFill>
                      <a:blip r:embed="rId5"/>
                      <a:stretch>
                        <a:fillRect/>
                      </a:stretch>
                    </p:blipFill>
                    <p:spPr>
                      <a:xfrm>
                        <a:off x="3408902" y="3554578"/>
                        <a:ext cx="2326195" cy="698761"/>
                      </a:xfrm>
                      <a:prstGeom prst="rect">
                        <a:avLst/>
                      </a:prstGeom>
                      <a:solidFill>
                        <a:schemeClr val="accent2">
                          <a:lumMod val="40000"/>
                          <a:lumOff val="60000"/>
                        </a:schemeClr>
                      </a:solidFill>
                    </p:spPr>
                  </p:pic>
                </p:oleObj>
              </mc:Fallback>
            </mc:AlternateContent>
          </a:graphicData>
        </a:graphic>
      </p:graphicFrame>
      <p:sp>
        <p:nvSpPr>
          <p:cNvPr id="29" name="矩形 28">
            <a:extLst>
              <a:ext uri="{FF2B5EF4-FFF2-40B4-BE49-F238E27FC236}">
                <a16:creationId xmlns:a16="http://schemas.microsoft.com/office/drawing/2014/main" id="{64509930-9DFB-420E-8F32-960E50399825}"/>
              </a:ext>
            </a:extLst>
          </p:cNvPr>
          <p:cNvSpPr/>
          <p:nvPr/>
        </p:nvSpPr>
        <p:spPr>
          <a:xfrm>
            <a:off x="1571711" y="258777"/>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0" name="圆角矩形 43">
            <a:extLst>
              <a:ext uri="{FF2B5EF4-FFF2-40B4-BE49-F238E27FC236}">
                <a16:creationId xmlns:a16="http://schemas.microsoft.com/office/drawing/2014/main" id="{7D086454-5B10-4064-9B8F-531209592F7E}"/>
              </a:ext>
            </a:extLst>
          </p:cNvPr>
          <p:cNvSpPr/>
          <p:nvPr/>
        </p:nvSpPr>
        <p:spPr>
          <a:xfrm rot="10800000" flipV="1">
            <a:off x="185084" y="242948"/>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20204" pitchFamily="34" charset="0"/>
                <a:ea typeface="宋体" panose="02010600030101010101" pitchFamily="2" charset="-122"/>
                <a:cs typeface="Arial" panose="020B0604020202020204" pitchFamily="34" charset="0"/>
              </a:rPr>
              <a:t>9.4.1</a:t>
            </a:r>
            <a:endParaRPr lang="zh-CN" altLang="en-US" sz="3200" b="1" dirty="0">
              <a:latin typeface="Arial" panose="020B0604020202020204" pitchFamily="34" charset="0"/>
              <a:ea typeface="宋体" panose="02010600030101010101" pitchFamily="2" charset="-122"/>
              <a:cs typeface="Arial" panose="020B0604020202020204" pitchFamily="34" charset="0"/>
            </a:endParaRPr>
          </a:p>
        </p:txBody>
      </p:sp>
      <p:sp>
        <p:nvSpPr>
          <p:cNvPr id="41" name="矩形 40">
            <a:extLst>
              <a:ext uri="{FF2B5EF4-FFF2-40B4-BE49-F238E27FC236}">
                <a16:creationId xmlns:a16="http://schemas.microsoft.com/office/drawing/2014/main" id="{2A2F604C-DA27-459E-8419-ED777356D653}"/>
              </a:ext>
            </a:extLst>
          </p:cNvPr>
          <p:cNvSpPr/>
          <p:nvPr/>
        </p:nvSpPr>
        <p:spPr>
          <a:xfrm>
            <a:off x="1960908" y="240301"/>
            <a:ext cx="3685616" cy="615549"/>
          </a:xfrm>
          <a:prstGeom prst="rect">
            <a:avLst/>
          </a:prstGeom>
        </p:spPr>
        <p:txBody>
          <a:bodyPr wrap="none" lIns="91436" tIns="45718" rIns="91436" bIns="45718">
            <a:spAutoFit/>
          </a:bodyPr>
          <a:lstStyle/>
          <a:p>
            <a:pPr algn="ctr"/>
            <a:r>
              <a:rPr lang="zh-CN" altLang="en-US" sz="3400" b="1" dirty="0">
                <a:solidFill>
                  <a:schemeClr val="bg1"/>
                </a:solidFill>
                <a:latin typeface="宋体" panose="02010600030101010101" pitchFamily="2" charset="-122"/>
                <a:ea typeface="宋体" panose="02010600030101010101" pitchFamily="2" charset="-122"/>
              </a:rPr>
              <a:t>液位和湿度的检测</a:t>
            </a:r>
            <a:endParaRPr lang="en-US" altLang="zh-CN" sz="3400" b="1" dirty="0">
              <a:solidFill>
                <a:schemeClr val="bg1"/>
              </a:solidFill>
              <a:latin typeface="宋体" panose="02010600030101010101" pitchFamily="2" charset="-122"/>
              <a:ea typeface="宋体" panose="02010600030101010101" pitchFamily="2" charset="-122"/>
            </a:endParaRPr>
          </a:p>
        </p:txBody>
      </p:sp>
      <p:sp>
        <p:nvSpPr>
          <p:cNvPr id="5" name="矩形 4"/>
          <p:cNvSpPr/>
          <p:nvPr/>
        </p:nvSpPr>
        <p:spPr>
          <a:xfrm>
            <a:off x="185084" y="1282673"/>
            <a:ext cx="2813591" cy="461665"/>
          </a:xfrm>
          <a:prstGeom prst="rect">
            <a:avLst/>
          </a:prstGeom>
          <a:solidFill>
            <a:srgbClr val="92D050"/>
          </a:solidFill>
        </p:spPr>
        <p:txBody>
          <a:bodyPr wrap="none">
            <a:spAutoFit/>
          </a:bodyPr>
          <a:lstStyle/>
          <a:p>
            <a:pPr>
              <a:spcBef>
                <a:spcPts val="624"/>
              </a:spcBef>
            </a:pPr>
            <a:r>
              <a:rPr lang="en-US" altLang="zh-CN" sz="2400" b="1" dirty="0">
                <a:latin typeface="Times New Roman" panose="02020603050405020304" pitchFamily="18" charset="0"/>
                <a:ea typeface="宋体" panose="02010600030101010101" pitchFamily="2" charset="-122"/>
                <a:cs typeface="Times New Roman" panose="02020603050405020304" pitchFamily="18" charset="0"/>
              </a:rPr>
              <a:t>2</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、微波湿度传感器</a:t>
            </a:r>
            <a:endParaRPr lang="en-US" altLang="zh-CN" sz="2400" b="1"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6" name="矩形 5"/>
          <p:cNvSpPr/>
          <p:nvPr/>
        </p:nvSpPr>
        <p:spPr>
          <a:xfrm>
            <a:off x="524302" y="4253339"/>
            <a:ext cx="8402470" cy="2103012"/>
          </a:xfrm>
          <a:prstGeom prst="rect">
            <a:avLst/>
          </a:prstGeom>
        </p:spPr>
        <p:txBody>
          <a:bodyPr wrap="square">
            <a:spAutoFit/>
          </a:bodyPr>
          <a:lstStyle/>
          <a:p>
            <a:pPr marL="342900" indent="-342900">
              <a:lnSpc>
                <a:spcPts val="4000"/>
              </a:lnSpc>
              <a:buFont typeface="Courier New" panose="02070309020205020404" pitchFamily="49" charset="0"/>
              <a:buChar char="o"/>
            </a:pPr>
            <a:r>
              <a:rPr lang="en-US" altLang="zh-CN" sz="2400" b="1" i="1">
                <a:latin typeface="Times New Roman" panose="02020603050405020304" pitchFamily="18" charset="0"/>
                <a:ea typeface="宋体" panose="02010600030101010101" pitchFamily="2" charset="-122"/>
                <a:cs typeface="Times New Roman" panose="02020603050405020304" pitchFamily="18" charset="0"/>
              </a:rPr>
              <a:t>ε</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为水分子的介电常数</a:t>
            </a:r>
            <a:r>
              <a:rPr lang="zh-CN" altLang="en-US" sz="2400" b="1">
                <a:latin typeface="Times New Roman" panose="02020603050405020304" pitchFamily="18" charset="0"/>
                <a:ea typeface="宋体" panose="02010600030101010101" pitchFamily="2" charset="-122"/>
                <a:cs typeface="Times New Roman" panose="02020603050405020304" pitchFamily="18" charset="0"/>
              </a:rPr>
              <a:t>；</a:t>
            </a:r>
            <a:r>
              <a:rPr lang="en-US" altLang="zh-CN" sz="2400" b="1">
                <a:latin typeface="Times New Roman" panose="02020603050405020304" pitchFamily="18" charset="0"/>
                <a:ea typeface="宋体" panose="02010600030101010101" pitchFamily="2" charset="-122"/>
                <a:cs typeface="Times New Roman" panose="02020603050405020304" pitchFamily="18" charset="0"/>
              </a:rPr>
              <a:t> </a:t>
            </a:r>
          </a:p>
          <a:p>
            <a:pPr marL="342900" indent="-342900">
              <a:lnSpc>
                <a:spcPts val="4000"/>
              </a:lnSpc>
              <a:buFont typeface="Courier New" panose="02070309020205020404" pitchFamily="49" charset="0"/>
              <a:buChar char="o"/>
            </a:pPr>
            <a:r>
              <a:rPr lang="en-US" altLang="zh-CN" sz="2400" b="1" i="1">
                <a:latin typeface="Times New Roman" panose="02020603050405020304" pitchFamily="18" charset="0"/>
                <a:ea typeface="宋体" panose="02010600030101010101" pitchFamily="2" charset="-122"/>
                <a:cs typeface="Times New Roman" panose="02020603050405020304" pitchFamily="18" charset="0"/>
              </a:rPr>
              <a:t>ε</a:t>
            </a:r>
            <a:r>
              <a:rPr lang="en-US" altLang="zh-CN" sz="2400" b="1" i="1" dirty="0">
                <a:latin typeface="Courier New" panose="02070309020205020404" pitchFamily="49" charset="0"/>
                <a:ea typeface="宋体" panose="02010600030101010101" pitchFamily="2" charset="-122"/>
                <a:cs typeface="Courier New" panose="02070309020205020404" pitchFamily="49" charset="0"/>
              </a:rPr>
              <a:t>'</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b="1" i="1" dirty="0">
                <a:latin typeface="Times New Roman" panose="02020603050405020304" pitchFamily="18" charset="0"/>
                <a:ea typeface="宋体" panose="02010600030101010101" pitchFamily="2" charset="-122"/>
                <a:cs typeface="Times New Roman" panose="02020603050405020304" pitchFamily="18" charset="0"/>
              </a:rPr>
              <a:t>ε</a:t>
            </a:r>
            <a:r>
              <a:rPr lang="en-US" altLang="zh-CN" sz="2400" b="1" i="1" dirty="0">
                <a:latin typeface="Courier New" panose="02070309020205020404" pitchFamily="49" charset="0"/>
                <a:ea typeface="宋体" panose="02010600030101010101" pitchFamily="2" charset="-122"/>
                <a:cs typeface="Courier New" panose="02070309020205020404" pitchFamily="49" charset="0"/>
              </a:rPr>
              <a:t>"</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为介电常数的储能分量和放能分</a:t>
            </a:r>
            <a:r>
              <a:rPr lang="zh-CN" altLang="en-US" sz="2400" b="1">
                <a:latin typeface="Times New Roman" panose="02020603050405020304" pitchFamily="18" charset="0"/>
                <a:ea typeface="宋体" panose="02010600030101010101" pitchFamily="2" charset="-122"/>
                <a:cs typeface="Times New Roman" panose="02020603050405020304" pitchFamily="18" charset="0"/>
              </a:rPr>
              <a:t>量；</a:t>
            </a:r>
            <a:endParaRPr lang="en-US" altLang="zh-CN" sz="2400" b="1">
              <a:latin typeface="Times New Roman" panose="02020603050405020304" pitchFamily="18" charset="0"/>
              <a:ea typeface="宋体" panose="02010600030101010101" pitchFamily="2" charset="-122"/>
              <a:cs typeface="Times New Roman" panose="02020603050405020304" pitchFamily="18" charset="0"/>
            </a:endParaRPr>
          </a:p>
          <a:p>
            <a:pPr marL="342900" indent="-342900">
              <a:lnSpc>
                <a:spcPts val="4000"/>
              </a:lnSpc>
              <a:buFont typeface="Courier New" panose="02070309020205020404" pitchFamily="49" charset="0"/>
              <a:buChar char="o"/>
            </a:pPr>
            <a:r>
              <a:rPr lang="en-US" altLang="zh-CN" sz="2400" b="1" i="1">
                <a:latin typeface="Times New Roman" panose="02020603050405020304" pitchFamily="18" charset="0"/>
                <a:ea typeface="宋体" panose="02010600030101010101" pitchFamily="2" charset="-122"/>
                <a:cs typeface="Times New Roman" panose="02020603050405020304" pitchFamily="18" charset="0"/>
              </a:rPr>
              <a:t>α</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为常数。</a:t>
            </a:r>
            <a:endParaRPr lang="en-US" altLang="zh-CN" sz="2400" b="1" dirty="0">
              <a:latin typeface="Times New Roman" panose="02020603050405020304" pitchFamily="18" charset="0"/>
              <a:ea typeface="宋体" panose="02010600030101010101" pitchFamily="2" charset="-122"/>
              <a:cs typeface="Times New Roman" panose="02020603050405020304" pitchFamily="18" charset="0"/>
            </a:endParaRPr>
          </a:p>
          <a:p>
            <a:pPr>
              <a:lnSpc>
                <a:spcPts val="4000"/>
              </a:lnSpc>
            </a:pP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被测材料中含有水分时，</a:t>
            </a:r>
            <a:r>
              <a:rPr lang="en-US" altLang="zh-CN" sz="2400" b="1" i="1" dirty="0">
                <a:latin typeface="Times New Roman" panose="02020603050405020304" pitchFamily="18" charset="0"/>
                <a:ea typeface="宋体" panose="02010600030101010101" pitchFamily="2" charset="-122"/>
                <a:cs typeface="Times New Roman" panose="02020603050405020304" pitchFamily="18" charset="0"/>
              </a:rPr>
              <a:t> ε</a:t>
            </a:r>
            <a:r>
              <a:rPr lang="en-US" altLang="zh-CN" sz="2400" b="1" i="1" dirty="0">
                <a:latin typeface="Courier New" panose="02070309020205020404" pitchFamily="49" charset="0"/>
                <a:ea typeface="宋体" panose="02010600030101010101" pitchFamily="2" charset="-122"/>
                <a:cs typeface="Courier New" panose="02070309020205020404" pitchFamily="49" charset="0"/>
              </a:rPr>
              <a:t>'</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将显著上升，</a:t>
            </a:r>
            <a:r>
              <a:rPr lang="en-US" altLang="zh-CN" sz="24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i="1" dirty="0">
                <a:latin typeface="Times New Roman" panose="02020603050405020304" pitchFamily="18" charset="0"/>
                <a:ea typeface="宋体" panose="02010600030101010101" pitchFamily="2" charset="-122"/>
                <a:cs typeface="Times New Roman" panose="02020603050405020304" pitchFamily="18" charset="0"/>
              </a:rPr>
              <a:t>ε</a:t>
            </a:r>
            <a:r>
              <a:rPr lang="en-US" altLang="zh-CN" sz="2400" b="1" i="1" dirty="0">
                <a:latin typeface="Courier New" panose="02070309020205020404" pitchFamily="49" charset="0"/>
                <a:ea typeface="宋体" panose="02010600030101010101" pitchFamily="2" charset="-122"/>
                <a:cs typeface="Courier New" panose="02070309020205020404" pitchFamily="49" charset="0"/>
              </a:rPr>
              <a:t>"</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也有类似的性质。</a:t>
            </a:r>
          </a:p>
        </p:txBody>
      </p:sp>
      <p:sp>
        <p:nvSpPr>
          <p:cNvPr id="2" name="Slide Number Placeholder 1">
            <a:extLst>
              <a:ext uri="{FF2B5EF4-FFF2-40B4-BE49-F238E27FC236}">
                <a16:creationId xmlns:a16="http://schemas.microsoft.com/office/drawing/2014/main" id="{7C3C71E8-07E7-4584-8719-0B13876C0CE5}"/>
              </a:ext>
            </a:extLst>
          </p:cNvPr>
          <p:cNvSpPr>
            <a:spLocks noGrp="1"/>
          </p:cNvSpPr>
          <p:nvPr>
            <p:ph type="sldNum" sz="quarter" idx="12"/>
          </p:nvPr>
        </p:nvSpPr>
        <p:spPr/>
        <p:txBody>
          <a:bodyPr/>
          <a:lstStyle/>
          <a:p>
            <a:fld id="{B53602B4-F12B-41CD-B648-531F86B2CC91}" type="slidenum">
              <a:rPr lang="zh-CN" altLang="en-US" smtClean="0"/>
              <a:t>41</a:t>
            </a:fld>
            <a:endParaRPr lang="zh-CN" altLang="en-US"/>
          </a:p>
        </p:txBody>
      </p:sp>
    </p:spTree>
    <p:extLst>
      <p:ext uri="{BB962C8B-B14F-4D97-AF65-F5344CB8AC3E}">
        <p14:creationId xmlns:p14="http://schemas.microsoft.com/office/powerpoint/2010/main" val="2092243036"/>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49142242-5E57-4D15-A0DD-17CB598A023D}"/>
              </a:ext>
            </a:extLst>
          </p:cNvPr>
          <p:cNvSpPr txBox="1"/>
          <p:nvPr/>
        </p:nvSpPr>
        <p:spPr>
          <a:xfrm>
            <a:off x="557838" y="2783255"/>
            <a:ext cx="8081337" cy="3083532"/>
          </a:xfrm>
          <a:prstGeom prst="rect">
            <a:avLst/>
          </a:prstGeom>
          <a:noFill/>
        </p:spPr>
        <p:txBody>
          <a:bodyPr wrap="square" lIns="91436" tIns="45718" rIns="91436" bIns="45718" rtlCol="0">
            <a:spAutoFit/>
          </a:bodyPr>
          <a:lstStyle/>
          <a:p>
            <a:pPr>
              <a:lnSpc>
                <a:spcPct val="150000"/>
              </a:lnSpc>
              <a:spcBef>
                <a:spcPts val="624"/>
              </a:spcBef>
            </a:pPr>
            <a:r>
              <a:rPr lang="zh-CN" altLang="en-US" sz="2400" b="1">
                <a:latin typeface="宋体" panose="02010600030101010101" pitchFamily="2" charset="-122"/>
                <a:ea typeface="宋体" panose="02010600030101010101" pitchFamily="2" charset="-122"/>
                <a:cs typeface="Arial" panose="020B0604020202020204" pitchFamily="34" charset="0"/>
              </a:rPr>
              <a:t>微</a:t>
            </a:r>
            <a:r>
              <a:rPr lang="zh-CN" altLang="en-US" sz="2400" b="1" dirty="0">
                <a:latin typeface="宋体" panose="02010600030101010101" pitchFamily="2" charset="-122"/>
                <a:ea typeface="宋体" panose="02010600030101010101" pitchFamily="2" charset="-122"/>
                <a:cs typeface="Arial" panose="020B0604020202020204" pitchFamily="34" charset="0"/>
              </a:rPr>
              <a:t>波湿度传感器就是基于上述特性来实现湿度测量的</a:t>
            </a:r>
            <a:r>
              <a:rPr lang="zh-CN" altLang="en-US" sz="2400" b="1">
                <a:latin typeface="宋体" panose="02010600030101010101" pitchFamily="2" charset="-122"/>
                <a:ea typeface="宋体" panose="02010600030101010101" pitchFamily="2" charset="-122"/>
                <a:cs typeface="Arial" panose="020B0604020202020204" pitchFamily="34" charset="0"/>
              </a:rPr>
              <a:t>，即</a:t>
            </a:r>
            <a:endParaRPr lang="en-US" altLang="zh-CN" sz="2400" b="1">
              <a:latin typeface="宋体" panose="02010600030101010101" pitchFamily="2" charset="-122"/>
              <a:ea typeface="宋体" panose="02010600030101010101" pitchFamily="2" charset="-122"/>
              <a:cs typeface="Arial" panose="020B0604020202020204" pitchFamily="34" charset="0"/>
            </a:endParaRPr>
          </a:p>
          <a:p>
            <a:pPr marL="342900" indent="-342900">
              <a:lnSpc>
                <a:spcPct val="150000"/>
              </a:lnSpc>
              <a:spcBef>
                <a:spcPts val="624"/>
              </a:spcBef>
              <a:buFont typeface="Wingdings" panose="05000000000000000000" pitchFamily="2" charset="2"/>
              <a:buChar char="§"/>
            </a:pPr>
            <a:r>
              <a:rPr lang="zh-CN" altLang="en-US" sz="2400" b="1">
                <a:latin typeface="宋体" panose="02010600030101010101" pitchFamily="2" charset="-122"/>
                <a:ea typeface="宋体" panose="02010600030101010101" pitchFamily="2" charset="-122"/>
                <a:cs typeface="Arial" panose="020B0604020202020204" pitchFamily="34" charset="0"/>
              </a:rPr>
              <a:t>同</a:t>
            </a:r>
            <a:r>
              <a:rPr lang="zh-CN" altLang="en-US" sz="2400" b="1" dirty="0">
                <a:latin typeface="宋体" panose="02010600030101010101" pitchFamily="2" charset="-122"/>
                <a:ea typeface="宋体" panose="02010600030101010101" pitchFamily="2" charset="-122"/>
                <a:cs typeface="Arial" panose="020B0604020202020204" pitchFamily="34" charset="0"/>
              </a:rPr>
              <a:t>时测量干燥物体和含有一定水分的潮湿物</a:t>
            </a:r>
            <a:r>
              <a:rPr lang="zh-CN" altLang="en-US" sz="2400" b="1">
                <a:latin typeface="宋体" panose="02010600030101010101" pitchFamily="2" charset="-122"/>
                <a:ea typeface="宋体" panose="02010600030101010101" pitchFamily="2" charset="-122"/>
                <a:cs typeface="Arial" panose="020B0604020202020204" pitchFamily="34" charset="0"/>
              </a:rPr>
              <a:t>体，</a:t>
            </a:r>
            <a:endParaRPr lang="en-US" altLang="zh-CN" sz="2400" b="1">
              <a:latin typeface="宋体" panose="02010600030101010101" pitchFamily="2" charset="-122"/>
              <a:ea typeface="宋体" panose="02010600030101010101" pitchFamily="2" charset="-122"/>
              <a:cs typeface="Arial" panose="020B0604020202020204" pitchFamily="34" charset="0"/>
            </a:endParaRPr>
          </a:p>
          <a:p>
            <a:pPr marL="342900" indent="-342900">
              <a:lnSpc>
                <a:spcPct val="150000"/>
              </a:lnSpc>
              <a:spcBef>
                <a:spcPts val="624"/>
              </a:spcBef>
              <a:buFont typeface="Wingdings" panose="05000000000000000000" pitchFamily="2" charset="2"/>
              <a:buChar char="§"/>
            </a:pPr>
            <a:r>
              <a:rPr lang="zh-CN" altLang="en-US" sz="2400" b="1">
                <a:latin typeface="宋体" panose="02010600030101010101" pitchFamily="2" charset="-122"/>
                <a:ea typeface="宋体" panose="02010600030101010101" pitchFamily="2" charset="-122"/>
                <a:cs typeface="Arial" panose="020B0604020202020204" pitchFamily="34" charset="0"/>
              </a:rPr>
              <a:t>前</a:t>
            </a:r>
            <a:r>
              <a:rPr lang="zh-CN" altLang="en-US" sz="2400" b="1" dirty="0">
                <a:latin typeface="宋体" panose="02010600030101010101" pitchFamily="2" charset="-122"/>
                <a:ea typeface="宋体" panose="02010600030101010101" pitchFamily="2" charset="-122"/>
                <a:cs typeface="Arial" panose="020B0604020202020204" pitchFamily="34" charset="0"/>
              </a:rPr>
              <a:t>者作为标准</a:t>
            </a:r>
            <a:r>
              <a:rPr lang="zh-CN" altLang="en-US" sz="2400" b="1">
                <a:latin typeface="宋体" panose="02010600030101010101" pitchFamily="2" charset="-122"/>
                <a:ea typeface="宋体" panose="02010600030101010101" pitchFamily="2" charset="-122"/>
                <a:cs typeface="Arial" panose="020B0604020202020204" pitchFamily="34" charset="0"/>
              </a:rPr>
              <a:t>量，</a:t>
            </a:r>
            <a:endParaRPr lang="en-US" altLang="zh-CN" sz="2400" b="1">
              <a:latin typeface="宋体" panose="02010600030101010101" pitchFamily="2" charset="-122"/>
              <a:ea typeface="宋体" panose="02010600030101010101" pitchFamily="2" charset="-122"/>
              <a:cs typeface="Arial" panose="020B0604020202020204" pitchFamily="34" charset="0"/>
            </a:endParaRPr>
          </a:p>
          <a:p>
            <a:pPr marL="342900" indent="-342900">
              <a:lnSpc>
                <a:spcPct val="150000"/>
              </a:lnSpc>
              <a:spcBef>
                <a:spcPts val="624"/>
              </a:spcBef>
              <a:buFont typeface="Wingdings" panose="05000000000000000000" pitchFamily="2" charset="2"/>
              <a:buChar char="§"/>
            </a:pPr>
            <a:r>
              <a:rPr lang="zh-CN" altLang="en-US" sz="2400" b="1">
                <a:latin typeface="宋体" panose="02010600030101010101" pitchFamily="2" charset="-122"/>
                <a:ea typeface="宋体" panose="02010600030101010101" pitchFamily="2" charset="-122"/>
                <a:cs typeface="Arial" panose="020B0604020202020204" pitchFamily="34" charset="0"/>
              </a:rPr>
              <a:t>后</a:t>
            </a:r>
            <a:r>
              <a:rPr lang="zh-CN" altLang="en-US" sz="2400" b="1" dirty="0">
                <a:latin typeface="宋体" panose="02010600030101010101" pitchFamily="2" charset="-122"/>
                <a:ea typeface="宋体" panose="02010600030101010101" pitchFamily="2" charset="-122"/>
                <a:cs typeface="Arial" panose="020B0604020202020204" pitchFamily="34" charset="0"/>
              </a:rPr>
              <a:t>者将引起微波信号的相移和衰</a:t>
            </a:r>
            <a:r>
              <a:rPr lang="zh-CN" altLang="en-US" sz="2400" b="1">
                <a:latin typeface="宋体" panose="02010600030101010101" pitchFamily="2" charset="-122"/>
                <a:ea typeface="宋体" panose="02010600030101010101" pitchFamily="2" charset="-122"/>
                <a:cs typeface="Arial" panose="020B0604020202020204" pitchFamily="34" charset="0"/>
              </a:rPr>
              <a:t>减，</a:t>
            </a:r>
            <a:endParaRPr lang="en-US" altLang="zh-CN" sz="2400" b="1">
              <a:latin typeface="宋体" panose="02010600030101010101" pitchFamily="2" charset="-122"/>
              <a:ea typeface="宋体" panose="02010600030101010101" pitchFamily="2" charset="-122"/>
              <a:cs typeface="Arial" panose="020B0604020202020204" pitchFamily="34" charset="0"/>
            </a:endParaRPr>
          </a:p>
          <a:p>
            <a:pPr marL="342900" indent="-342900">
              <a:lnSpc>
                <a:spcPct val="150000"/>
              </a:lnSpc>
              <a:spcBef>
                <a:spcPts val="624"/>
              </a:spcBef>
              <a:buFont typeface="Wingdings" panose="05000000000000000000" pitchFamily="2" charset="2"/>
              <a:buChar char="§"/>
            </a:pPr>
            <a:r>
              <a:rPr lang="zh-CN" altLang="en-US" sz="2400" b="1">
                <a:latin typeface="宋体" panose="02010600030101010101" pitchFamily="2" charset="-122"/>
                <a:ea typeface="宋体" panose="02010600030101010101" pitchFamily="2" charset="-122"/>
                <a:cs typeface="Arial" panose="020B0604020202020204" pitchFamily="34" charset="0"/>
              </a:rPr>
              <a:t>从</a:t>
            </a:r>
            <a:r>
              <a:rPr lang="zh-CN" altLang="en-US" sz="2400" b="1" dirty="0">
                <a:latin typeface="宋体" panose="02010600030101010101" pitchFamily="2" charset="-122"/>
                <a:ea typeface="宋体" panose="02010600030101010101" pitchFamily="2" charset="-122"/>
                <a:cs typeface="Arial" panose="020B0604020202020204" pitchFamily="34" charset="0"/>
              </a:rPr>
              <a:t>而换算出物体的含水量。</a:t>
            </a:r>
          </a:p>
        </p:txBody>
      </p:sp>
      <p:sp>
        <p:nvSpPr>
          <p:cNvPr id="27" name="矩形 26">
            <a:extLst>
              <a:ext uri="{FF2B5EF4-FFF2-40B4-BE49-F238E27FC236}">
                <a16:creationId xmlns:a16="http://schemas.microsoft.com/office/drawing/2014/main" id="{64509930-9DFB-420E-8F32-960E50399825}"/>
              </a:ext>
            </a:extLst>
          </p:cNvPr>
          <p:cNvSpPr/>
          <p:nvPr/>
        </p:nvSpPr>
        <p:spPr>
          <a:xfrm>
            <a:off x="1571711" y="258777"/>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8" name="圆角矩形 43">
            <a:extLst>
              <a:ext uri="{FF2B5EF4-FFF2-40B4-BE49-F238E27FC236}">
                <a16:creationId xmlns:a16="http://schemas.microsoft.com/office/drawing/2014/main" id="{7D086454-5B10-4064-9B8F-531209592F7E}"/>
              </a:ext>
            </a:extLst>
          </p:cNvPr>
          <p:cNvSpPr/>
          <p:nvPr/>
        </p:nvSpPr>
        <p:spPr>
          <a:xfrm rot="10800000" flipV="1">
            <a:off x="185084" y="242948"/>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20204" pitchFamily="34" charset="0"/>
                <a:ea typeface="宋体" panose="02010600030101010101" pitchFamily="2" charset="-122"/>
                <a:cs typeface="Arial" panose="020B0604020202020204" pitchFamily="34" charset="0"/>
              </a:rPr>
              <a:t>9.4.1</a:t>
            </a:r>
            <a:endParaRPr lang="zh-CN" altLang="en-US" sz="3200" b="1" dirty="0">
              <a:latin typeface="Arial" panose="020B0604020202020204" pitchFamily="34" charset="0"/>
              <a:ea typeface="宋体" panose="02010600030101010101" pitchFamily="2" charset="-122"/>
              <a:cs typeface="Arial" panose="020B0604020202020204" pitchFamily="34" charset="0"/>
            </a:endParaRPr>
          </a:p>
        </p:txBody>
      </p:sp>
      <p:sp>
        <p:nvSpPr>
          <p:cNvPr id="39" name="矩形 38">
            <a:extLst>
              <a:ext uri="{FF2B5EF4-FFF2-40B4-BE49-F238E27FC236}">
                <a16:creationId xmlns:a16="http://schemas.microsoft.com/office/drawing/2014/main" id="{2A2F604C-DA27-459E-8419-ED777356D653}"/>
              </a:ext>
            </a:extLst>
          </p:cNvPr>
          <p:cNvSpPr/>
          <p:nvPr/>
        </p:nvSpPr>
        <p:spPr>
          <a:xfrm>
            <a:off x="1960908" y="240301"/>
            <a:ext cx="3685616" cy="615549"/>
          </a:xfrm>
          <a:prstGeom prst="rect">
            <a:avLst/>
          </a:prstGeom>
        </p:spPr>
        <p:txBody>
          <a:bodyPr wrap="none" lIns="91436" tIns="45718" rIns="91436" bIns="45718">
            <a:spAutoFit/>
          </a:bodyPr>
          <a:lstStyle/>
          <a:p>
            <a:pPr algn="ctr"/>
            <a:r>
              <a:rPr lang="zh-CN" altLang="en-US" sz="3400" b="1" dirty="0">
                <a:solidFill>
                  <a:schemeClr val="bg1"/>
                </a:solidFill>
                <a:latin typeface="宋体" panose="02010600030101010101" pitchFamily="2" charset="-122"/>
                <a:ea typeface="宋体" panose="02010600030101010101" pitchFamily="2" charset="-122"/>
              </a:rPr>
              <a:t>液位和湿度的检测</a:t>
            </a:r>
            <a:endParaRPr lang="en-US" altLang="zh-CN" sz="3400" b="1" dirty="0">
              <a:solidFill>
                <a:schemeClr val="bg1"/>
              </a:solidFill>
              <a:latin typeface="宋体" panose="02010600030101010101" pitchFamily="2" charset="-122"/>
              <a:ea typeface="宋体" panose="02010600030101010101" pitchFamily="2" charset="-122"/>
            </a:endParaRPr>
          </a:p>
        </p:txBody>
      </p:sp>
      <p:sp>
        <p:nvSpPr>
          <p:cNvPr id="2" name="Slide Number Placeholder 1">
            <a:extLst>
              <a:ext uri="{FF2B5EF4-FFF2-40B4-BE49-F238E27FC236}">
                <a16:creationId xmlns:a16="http://schemas.microsoft.com/office/drawing/2014/main" id="{256C2409-20AF-4AE5-AFBC-820601572E5C}"/>
              </a:ext>
            </a:extLst>
          </p:cNvPr>
          <p:cNvSpPr>
            <a:spLocks noGrp="1"/>
          </p:cNvSpPr>
          <p:nvPr>
            <p:ph type="sldNum" sz="quarter" idx="12"/>
          </p:nvPr>
        </p:nvSpPr>
        <p:spPr/>
        <p:txBody>
          <a:bodyPr/>
          <a:lstStyle/>
          <a:p>
            <a:fld id="{B53602B4-F12B-41CD-B648-531F86B2CC91}" type="slidenum">
              <a:rPr lang="zh-CN" altLang="en-US" smtClean="0"/>
              <a:t>42</a:t>
            </a:fld>
            <a:endParaRPr lang="zh-CN" altLang="en-US"/>
          </a:p>
        </p:txBody>
      </p:sp>
      <p:graphicFrame>
        <p:nvGraphicFramePr>
          <p:cNvPr id="20" name="对象 20">
            <a:extLst>
              <a:ext uri="{FF2B5EF4-FFF2-40B4-BE49-F238E27FC236}">
                <a16:creationId xmlns:a16="http://schemas.microsoft.com/office/drawing/2014/main" id="{0F67A5FA-211F-479D-9F04-4F85E57C08CD}"/>
              </a:ext>
            </a:extLst>
          </p:cNvPr>
          <p:cNvGraphicFramePr>
            <a:graphicFrameLocks noChangeAspect="1"/>
          </p:cNvGraphicFramePr>
          <p:nvPr>
            <p:extLst>
              <p:ext uri="{D42A27DB-BD31-4B8C-83A1-F6EECF244321}">
                <p14:modId xmlns:p14="http://schemas.microsoft.com/office/powerpoint/2010/main" val="3031350532"/>
              </p:ext>
            </p:extLst>
          </p:nvPr>
        </p:nvGraphicFramePr>
        <p:xfrm>
          <a:off x="557838" y="1477494"/>
          <a:ext cx="2326195" cy="698761"/>
        </p:xfrm>
        <a:graphic>
          <a:graphicData uri="http://schemas.openxmlformats.org/presentationml/2006/ole">
            <mc:AlternateContent xmlns:mc="http://schemas.openxmlformats.org/markup-compatibility/2006">
              <mc:Choice xmlns:v="urn:schemas-microsoft-com:vml" Requires="v">
                <p:oleObj spid="_x0000_s22536" name="Equation" r:id="rId4" imgW="583920" imgH="152280" progId="Equation.DSMT4">
                  <p:embed/>
                </p:oleObj>
              </mc:Choice>
              <mc:Fallback>
                <p:oleObj name="Equation" r:id="rId4" imgW="583920" imgH="152280" progId="Equation.DSMT4">
                  <p:embed/>
                  <p:pic>
                    <p:nvPicPr>
                      <p:cNvPr id="21" name="对象 20">
                        <a:extLst>
                          <a:ext uri="{FF2B5EF4-FFF2-40B4-BE49-F238E27FC236}">
                            <a16:creationId xmlns:a16="http://schemas.microsoft.com/office/drawing/2014/main" id="{27A944CA-1FDA-40B5-8A10-962C7F04B75E}"/>
                          </a:ext>
                        </a:extLst>
                      </p:cNvPr>
                      <p:cNvPicPr/>
                      <p:nvPr/>
                    </p:nvPicPr>
                    <p:blipFill>
                      <a:blip r:embed="rId5"/>
                      <a:stretch>
                        <a:fillRect/>
                      </a:stretch>
                    </p:blipFill>
                    <p:spPr>
                      <a:xfrm>
                        <a:off x="557838" y="1477494"/>
                        <a:ext cx="2326195" cy="698761"/>
                      </a:xfrm>
                      <a:prstGeom prst="rect">
                        <a:avLst/>
                      </a:prstGeom>
                      <a:solidFill>
                        <a:schemeClr val="accent2">
                          <a:lumMod val="40000"/>
                          <a:lumOff val="60000"/>
                        </a:schemeClr>
                      </a:solidFill>
                    </p:spPr>
                  </p:pic>
                </p:oleObj>
              </mc:Fallback>
            </mc:AlternateContent>
          </a:graphicData>
        </a:graphic>
      </p:graphicFrame>
      <p:sp>
        <p:nvSpPr>
          <p:cNvPr id="21" name="矩形 5">
            <a:extLst>
              <a:ext uri="{FF2B5EF4-FFF2-40B4-BE49-F238E27FC236}">
                <a16:creationId xmlns:a16="http://schemas.microsoft.com/office/drawing/2014/main" id="{AED1EBC5-F145-4C38-B414-719875365F91}"/>
              </a:ext>
            </a:extLst>
          </p:cNvPr>
          <p:cNvSpPr/>
          <p:nvPr/>
        </p:nvSpPr>
        <p:spPr>
          <a:xfrm>
            <a:off x="3259717" y="1288329"/>
            <a:ext cx="5681083" cy="1077090"/>
          </a:xfrm>
          <a:prstGeom prst="rect">
            <a:avLst/>
          </a:prstGeom>
        </p:spPr>
        <p:txBody>
          <a:bodyPr wrap="square">
            <a:spAutoFit/>
          </a:bodyPr>
          <a:lstStyle/>
          <a:p>
            <a:pPr>
              <a:lnSpc>
                <a:spcPts val="4000"/>
              </a:lnSpc>
            </a:pPr>
            <a:r>
              <a:rPr lang="zh-CN" altLang="en-US" sz="2400" b="1">
                <a:latin typeface="Times New Roman" panose="02020603050405020304" pitchFamily="18" charset="0"/>
                <a:ea typeface="宋体" panose="02010600030101010101" pitchFamily="2" charset="-122"/>
                <a:cs typeface="Times New Roman" panose="02020603050405020304" pitchFamily="18" charset="0"/>
              </a:rPr>
              <a:t>被</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测材料中含有水分时，</a:t>
            </a:r>
            <a:r>
              <a:rPr lang="en-US" altLang="zh-CN" sz="2400" b="1" i="1" dirty="0">
                <a:latin typeface="Times New Roman" panose="02020603050405020304" pitchFamily="18" charset="0"/>
                <a:ea typeface="宋体" panose="02010600030101010101" pitchFamily="2" charset="-122"/>
                <a:cs typeface="Times New Roman" panose="02020603050405020304" pitchFamily="18" charset="0"/>
              </a:rPr>
              <a:t> ε</a:t>
            </a:r>
            <a:r>
              <a:rPr lang="en-US" altLang="zh-CN" sz="2400" b="1" i="1" dirty="0">
                <a:latin typeface="Courier New" panose="02070309020205020404" pitchFamily="49" charset="0"/>
                <a:ea typeface="宋体" panose="02010600030101010101" pitchFamily="2" charset="-122"/>
                <a:cs typeface="Courier New" panose="02070309020205020404" pitchFamily="49" charset="0"/>
              </a:rPr>
              <a:t>'</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将显著上升，</a:t>
            </a:r>
            <a:r>
              <a:rPr lang="en-US" altLang="zh-CN" sz="24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i="1" dirty="0">
                <a:latin typeface="Times New Roman" panose="02020603050405020304" pitchFamily="18" charset="0"/>
                <a:ea typeface="宋体" panose="02010600030101010101" pitchFamily="2" charset="-122"/>
                <a:cs typeface="Times New Roman" panose="02020603050405020304" pitchFamily="18" charset="0"/>
              </a:rPr>
              <a:t>ε</a:t>
            </a:r>
            <a:r>
              <a:rPr lang="en-US" altLang="zh-CN" sz="2400" b="1" i="1" dirty="0">
                <a:latin typeface="Courier New" panose="02070309020205020404" pitchFamily="49" charset="0"/>
                <a:ea typeface="宋体" panose="02010600030101010101" pitchFamily="2" charset="-122"/>
                <a:cs typeface="Courier New" panose="02070309020205020404" pitchFamily="49" charset="0"/>
              </a:rPr>
              <a:t>"</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也有类似的性质。</a:t>
            </a:r>
          </a:p>
        </p:txBody>
      </p:sp>
    </p:spTree>
    <p:extLst>
      <p:ext uri="{BB962C8B-B14F-4D97-AF65-F5344CB8AC3E}">
        <p14:creationId xmlns:p14="http://schemas.microsoft.com/office/powerpoint/2010/main" val="1071374742"/>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49142242-5E57-4D15-A0DD-17CB598A023D}"/>
              </a:ext>
            </a:extLst>
          </p:cNvPr>
          <p:cNvSpPr txBox="1"/>
          <p:nvPr/>
        </p:nvSpPr>
        <p:spPr>
          <a:xfrm>
            <a:off x="258763" y="1879804"/>
            <a:ext cx="8626474" cy="3429204"/>
          </a:xfrm>
          <a:prstGeom prst="rect">
            <a:avLst/>
          </a:prstGeom>
          <a:noFill/>
        </p:spPr>
        <p:txBody>
          <a:bodyPr wrap="square" lIns="91436" tIns="45718" rIns="91436" bIns="45718" rtlCol="0">
            <a:spAutoFit/>
          </a:bodyPr>
          <a:lstStyle/>
          <a:p>
            <a:pPr indent="627063">
              <a:lnSpc>
                <a:spcPts val="3600"/>
              </a:lnSpc>
              <a:spcBef>
                <a:spcPts val="624"/>
              </a:spcBef>
            </a:pPr>
            <a:r>
              <a:rPr lang="zh-CN" altLang="en-US" sz="2400" b="1" dirty="0">
                <a:latin typeface="Arial" panose="020B0604020202020204" pitchFamily="34" charset="0"/>
                <a:ea typeface="宋体" panose="02010600030101010101" pitchFamily="2" charset="-122"/>
                <a:cs typeface="Arial" panose="020B0604020202020204" pitchFamily="34" charset="0"/>
              </a:rPr>
              <a:t>将存于各种容器内的液体表面高度及所在的位置称为</a:t>
            </a:r>
            <a:r>
              <a:rPr lang="zh-CN" altLang="en-US" sz="2400" b="1" dirty="0">
                <a:solidFill>
                  <a:srgbClr val="0070C0"/>
                </a:solidFill>
                <a:latin typeface="Arial" panose="020B0604020202020204" pitchFamily="34" charset="0"/>
                <a:ea typeface="宋体" panose="02010600030101010101" pitchFamily="2" charset="-122"/>
                <a:cs typeface="Arial" panose="020B0604020202020204" pitchFamily="34" charset="0"/>
              </a:rPr>
              <a:t>液位</a:t>
            </a:r>
            <a:r>
              <a:rPr lang="zh-CN" altLang="en-US" sz="2400" b="1" dirty="0">
                <a:latin typeface="Arial" panose="020B0604020202020204" pitchFamily="34" charset="0"/>
                <a:ea typeface="宋体" panose="02010600030101010101" pitchFamily="2" charset="-122"/>
                <a:cs typeface="Arial" panose="020B0604020202020204" pitchFamily="34" charset="0"/>
              </a:rPr>
              <a:t>；固体颗粒、粉料、块料的高度或表面所在位置称为</a:t>
            </a:r>
            <a:r>
              <a:rPr lang="zh-CN" altLang="en-US" sz="2400" b="1" dirty="0">
                <a:solidFill>
                  <a:srgbClr val="0070C0"/>
                </a:solidFill>
                <a:latin typeface="Arial" panose="020B0604020202020204" pitchFamily="34" charset="0"/>
                <a:ea typeface="宋体" panose="02010600030101010101" pitchFamily="2" charset="-122"/>
                <a:cs typeface="Arial" panose="020B0604020202020204" pitchFamily="34" charset="0"/>
              </a:rPr>
              <a:t>料位</a:t>
            </a:r>
            <a:r>
              <a:rPr lang="zh-CN" altLang="en-US" sz="2400" b="1" dirty="0">
                <a:latin typeface="Arial" panose="020B0604020202020204" pitchFamily="34" charset="0"/>
                <a:ea typeface="宋体" panose="02010600030101010101" pitchFamily="2" charset="-122"/>
                <a:cs typeface="Arial" panose="020B0604020202020204" pitchFamily="34" charset="0"/>
              </a:rPr>
              <a:t>；两者统称为</a:t>
            </a:r>
            <a:r>
              <a:rPr lang="zh-CN" altLang="en-US" sz="2400" b="1" dirty="0">
                <a:solidFill>
                  <a:srgbClr val="FF0000"/>
                </a:solidFill>
                <a:latin typeface="Arial" panose="020B0604020202020204" pitchFamily="34" charset="0"/>
                <a:ea typeface="宋体" panose="02010600030101010101" pitchFamily="2" charset="-122"/>
                <a:cs typeface="Arial" panose="020B0604020202020204" pitchFamily="34" charset="0"/>
              </a:rPr>
              <a:t>物位</a:t>
            </a:r>
            <a:r>
              <a:rPr lang="zh-CN" altLang="en-US" sz="2400" b="1" dirty="0">
                <a:latin typeface="Arial" panose="020B0604020202020204" pitchFamily="34" charset="0"/>
                <a:ea typeface="宋体" panose="02010600030101010101" pitchFamily="2" charset="-122"/>
                <a:cs typeface="Arial" panose="020B0604020202020204" pitchFamily="34" charset="0"/>
              </a:rPr>
              <a:t>。</a:t>
            </a:r>
            <a:endParaRPr lang="en-US" altLang="zh-CN" sz="2400" b="1" dirty="0">
              <a:latin typeface="Arial" panose="020B0604020202020204" pitchFamily="34" charset="0"/>
              <a:ea typeface="宋体" panose="02010600030101010101" pitchFamily="2" charset="-122"/>
              <a:cs typeface="Arial" panose="020B0604020202020204" pitchFamily="34" charset="0"/>
            </a:endParaRPr>
          </a:p>
          <a:p>
            <a:pPr indent="627063">
              <a:lnSpc>
                <a:spcPts val="3600"/>
              </a:lnSpc>
              <a:spcBef>
                <a:spcPts val="624"/>
              </a:spcBef>
            </a:pPr>
            <a:r>
              <a:rPr lang="zh-CN" altLang="en-US" sz="2400" b="1" dirty="0">
                <a:latin typeface="Arial" panose="020B0604020202020204" pitchFamily="34" charset="0"/>
                <a:ea typeface="宋体" panose="02010600030101010101" pitchFamily="2" charset="-122"/>
                <a:cs typeface="Arial" panose="020B0604020202020204" pitchFamily="34" charset="0"/>
              </a:rPr>
              <a:t>超声波物位传感器可分为单换能器和双换能器两种。单换能器在发射和接收超声波时均使用一个换能器。</a:t>
            </a:r>
            <a:endParaRPr lang="en-US" altLang="zh-CN" sz="2400" b="1" dirty="0">
              <a:latin typeface="Arial" panose="020B0604020202020204" pitchFamily="34" charset="0"/>
              <a:ea typeface="宋体" panose="02010600030101010101" pitchFamily="2" charset="-122"/>
              <a:cs typeface="Arial" panose="020B0604020202020204" pitchFamily="34" charset="0"/>
            </a:endParaRPr>
          </a:p>
          <a:p>
            <a:pPr indent="627063">
              <a:lnSpc>
                <a:spcPts val="3600"/>
              </a:lnSpc>
              <a:spcBef>
                <a:spcPts val="624"/>
              </a:spcBef>
            </a:pPr>
            <a:r>
              <a:rPr lang="zh-CN" altLang="en-US" sz="2400" b="1" dirty="0">
                <a:latin typeface="Arial" panose="020B0604020202020204" pitchFamily="34" charset="0"/>
                <a:ea typeface="宋体" panose="02010600030101010101" pitchFamily="2" charset="-122"/>
                <a:cs typeface="Arial" panose="020B0604020202020204" pitchFamily="34" charset="0"/>
              </a:rPr>
              <a:t>超声波传感器可放置于液体中，由于</a:t>
            </a:r>
            <a:r>
              <a:rPr lang="zh-CN" altLang="en-US" sz="2400" b="1" dirty="0">
                <a:solidFill>
                  <a:srgbClr val="00B050"/>
                </a:solidFill>
                <a:latin typeface="Arial" panose="020B0604020202020204" pitchFamily="34" charset="0"/>
                <a:ea typeface="宋体" panose="02010600030101010101" pitchFamily="2" charset="-122"/>
                <a:cs typeface="Arial" panose="020B0604020202020204" pitchFamily="34" charset="0"/>
              </a:rPr>
              <a:t>超声波在液体中衰减比较小</a:t>
            </a:r>
            <a:r>
              <a:rPr lang="zh-CN" altLang="en-US" sz="2400" b="1" dirty="0">
                <a:latin typeface="Arial" panose="020B0604020202020204" pitchFamily="34" charset="0"/>
                <a:ea typeface="宋体" panose="02010600030101010101" pitchFamily="2" charset="-122"/>
                <a:cs typeface="Arial" panose="020B0604020202020204" pitchFamily="34" charset="0"/>
              </a:rPr>
              <a:t>，所以即使产生的超声波脉冲幅度较小也可以传播。</a:t>
            </a:r>
          </a:p>
        </p:txBody>
      </p:sp>
      <p:sp>
        <p:nvSpPr>
          <p:cNvPr id="25" name="矩形 24">
            <a:extLst>
              <a:ext uri="{FF2B5EF4-FFF2-40B4-BE49-F238E27FC236}">
                <a16:creationId xmlns:a16="http://schemas.microsoft.com/office/drawing/2014/main" id="{64509930-9DFB-420E-8F32-960E50399825}"/>
              </a:ext>
            </a:extLst>
          </p:cNvPr>
          <p:cNvSpPr/>
          <p:nvPr/>
        </p:nvSpPr>
        <p:spPr>
          <a:xfrm>
            <a:off x="1571711" y="258777"/>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6" name="圆角矩形 43">
            <a:extLst>
              <a:ext uri="{FF2B5EF4-FFF2-40B4-BE49-F238E27FC236}">
                <a16:creationId xmlns:a16="http://schemas.microsoft.com/office/drawing/2014/main" id="{7D086454-5B10-4064-9B8F-531209592F7E}"/>
              </a:ext>
            </a:extLst>
          </p:cNvPr>
          <p:cNvSpPr/>
          <p:nvPr/>
        </p:nvSpPr>
        <p:spPr>
          <a:xfrm rot="10800000" flipV="1">
            <a:off x="185084" y="242948"/>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20204" pitchFamily="34" charset="0"/>
                <a:ea typeface="宋体" panose="02010600030101010101" pitchFamily="2" charset="-122"/>
                <a:cs typeface="Arial" panose="020B0604020202020204" pitchFamily="34" charset="0"/>
              </a:rPr>
              <a:t>9.4.2</a:t>
            </a:r>
            <a:endParaRPr lang="zh-CN" altLang="en-US" sz="3200" b="1" dirty="0">
              <a:latin typeface="Arial" panose="020B0604020202020204" pitchFamily="34" charset="0"/>
              <a:ea typeface="宋体" panose="02010600030101010101" pitchFamily="2" charset="-122"/>
              <a:cs typeface="Arial" panose="020B0604020202020204" pitchFamily="34" charset="0"/>
            </a:endParaRPr>
          </a:p>
        </p:txBody>
      </p:sp>
      <p:sp>
        <p:nvSpPr>
          <p:cNvPr id="37" name="矩形 36">
            <a:extLst>
              <a:ext uri="{FF2B5EF4-FFF2-40B4-BE49-F238E27FC236}">
                <a16:creationId xmlns:a16="http://schemas.microsoft.com/office/drawing/2014/main" id="{2A2F604C-DA27-459E-8419-ED777356D653}"/>
              </a:ext>
            </a:extLst>
          </p:cNvPr>
          <p:cNvSpPr/>
          <p:nvPr/>
        </p:nvSpPr>
        <p:spPr>
          <a:xfrm>
            <a:off x="1890442" y="240301"/>
            <a:ext cx="5873715" cy="615549"/>
          </a:xfrm>
          <a:prstGeom prst="rect">
            <a:avLst/>
          </a:prstGeom>
        </p:spPr>
        <p:txBody>
          <a:bodyPr wrap="none" lIns="91436" tIns="45718" rIns="91436" bIns="45718">
            <a:spAutoFit/>
          </a:bodyPr>
          <a:lstStyle/>
          <a:p>
            <a:pPr algn="ctr"/>
            <a:r>
              <a:rPr lang="zh-CN" altLang="en-US" sz="3400" b="1" dirty="0">
                <a:solidFill>
                  <a:schemeClr val="bg1"/>
                </a:solidFill>
                <a:latin typeface="宋体" panose="02010600030101010101" pitchFamily="2" charset="-122"/>
                <a:ea typeface="宋体" panose="02010600030101010101" pitchFamily="2" charset="-122"/>
              </a:rPr>
              <a:t>物位、流量的测量和无损探伤</a:t>
            </a:r>
            <a:endParaRPr lang="en-US" altLang="zh-CN" sz="3400" b="1" dirty="0">
              <a:solidFill>
                <a:schemeClr val="bg1"/>
              </a:solidFill>
              <a:latin typeface="宋体" panose="02010600030101010101" pitchFamily="2" charset="-122"/>
              <a:ea typeface="宋体" panose="02010600030101010101" pitchFamily="2" charset="-122"/>
            </a:endParaRPr>
          </a:p>
        </p:txBody>
      </p:sp>
      <p:sp>
        <p:nvSpPr>
          <p:cNvPr id="5" name="矩形 4"/>
          <p:cNvSpPr/>
          <p:nvPr/>
        </p:nvSpPr>
        <p:spPr>
          <a:xfrm>
            <a:off x="310789" y="1187950"/>
            <a:ext cx="2521844" cy="461665"/>
          </a:xfrm>
          <a:prstGeom prst="rect">
            <a:avLst/>
          </a:prstGeom>
          <a:solidFill>
            <a:srgbClr val="92D050"/>
          </a:solidFill>
        </p:spPr>
        <p:txBody>
          <a:bodyPr wrap="none">
            <a:spAutoFit/>
          </a:bodyPr>
          <a:lstStyle/>
          <a:p>
            <a:pPr>
              <a:spcBef>
                <a:spcPts val="624"/>
              </a:spcBef>
            </a:pPr>
            <a:r>
              <a:rPr lang="en-US" altLang="zh-CN" sz="2400" b="1" dirty="0">
                <a:latin typeface="Arial" panose="020B0604020202020204" pitchFamily="34" charset="0"/>
                <a:ea typeface="宋体" panose="02010600030101010101" pitchFamily="2" charset="-122"/>
                <a:cs typeface="Arial" panose="020B0604020202020204" pitchFamily="34" charset="0"/>
              </a:rPr>
              <a:t>1</a:t>
            </a:r>
            <a:r>
              <a:rPr lang="zh-CN" altLang="en-US" sz="2400" b="1" dirty="0">
                <a:latin typeface="Arial" panose="020B0604020202020204" pitchFamily="34" charset="0"/>
                <a:ea typeface="宋体" panose="02010600030101010101" pitchFamily="2" charset="-122"/>
                <a:cs typeface="Arial" panose="020B0604020202020204" pitchFamily="34" charset="0"/>
              </a:rPr>
              <a:t>、</a:t>
            </a:r>
            <a:r>
              <a:rPr lang="zh-CN" altLang="en-US" sz="2400" b="1" dirty="0">
                <a:latin typeface="宋体" panose="02010600030101010101" pitchFamily="2" charset="-122"/>
                <a:ea typeface="宋体" panose="02010600030101010101" pitchFamily="2" charset="-122"/>
              </a:rPr>
              <a:t>超声波测物位</a:t>
            </a:r>
            <a:endParaRPr lang="en-US" altLang="zh-CN" sz="2400" b="1" dirty="0">
              <a:latin typeface="宋体" panose="02010600030101010101" pitchFamily="2" charset="-122"/>
              <a:ea typeface="宋体" panose="02010600030101010101" pitchFamily="2" charset="-122"/>
            </a:endParaRPr>
          </a:p>
        </p:txBody>
      </p:sp>
      <p:sp>
        <p:nvSpPr>
          <p:cNvPr id="2" name="Slide Number Placeholder 1">
            <a:extLst>
              <a:ext uri="{FF2B5EF4-FFF2-40B4-BE49-F238E27FC236}">
                <a16:creationId xmlns:a16="http://schemas.microsoft.com/office/drawing/2014/main" id="{A0AAF228-15E9-416D-B567-BA5B84A408F9}"/>
              </a:ext>
            </a:extLst>
          </p:cNvPr>
          <p:cNvSpPr>
            <a:spLocks noGrp="1"/>
          </p:cNvSpPr>
          <p:nvPr>
            <p:ph type="sldNum" sz="quarter" idx="12"/>
          </p:nvPr>
        </p:nvSpPr>
        <p:spPr/>
        <p:txBody>
          <a:bodyPr/>
          <a:lstStyle/>
          <a:p>
            <a:fld id="{B53602B4-F12B-41CD-B648-531F86B2CC91}" type="slidenum">
              <a:rPr lang="zh-CN" altLang="en-US" smtClean="0"/>
              <a:t>43</a:t>
            </a:fld>
            <a:endParaRPr lang="zh-CN" altLang="en-US"/>
          </a:p>
        </p:txBody>
      </p:sp>
    </p:spTree>
    <p:extLst>
      <p:ext uri="{BB962C8B-B14F-4D97-AF65-F5344CB8AC3E}">
        <p14:creationId xmlns:p14="http://schemas.microsoft.com/office/powerpoint/2010/main" val="2763232597"/>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矩形 31">
            <a:extLst>
              <a:ext uri="{FF2B5EF4-FFF2-40B4-BE49-F238E27FC236}">
                <a16:creationId xmlns:a16="http://schemas.microsoft.com/office/drawing/2014/main" id="{64509930-9DFB-420E-8F32-960E50399825}"/>
              </a:ext>
            </a:extLst>
          </p:cNvPr>
          <p:cNvSpPr/>
          <p:nvPr/>
        </p:nvSpPr>
        <p:spPr>
          <a:xfrm>
            <a:off x="1571711" y="258777"/>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5" name="圆角矩形 43">
            <a:extLst>
              <a:ext uri="{FF2B5EF4-FFF2-40B4-BE49-F238E27FC236}">
                <a16:creationId xmlns:a16="http://schemas.microsoft.com/office/drawing/2014/main" id="{7D086454-5B10-4064-9B8F-531209592F7E}"/>
              </a:ext>
            </a:extLst>
          </p:cNvPr>
          <p:cNvSpPr/>
          <p:nvPr/>
        </p:nvSpPr>
        <p:spPr>
          <a:xfrm rot="10800000" flipV="1">
            <a:off x="185084" y="242948"/>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20204" pitchFamily="34" charset="0"/>
                <a:ea typeface="宋体" panose="02010600030101010101" pitchFamily="2" charset="-122"/>
                <a:cs typeface="Arial" panose="020B0604020202020204" pitchFamily="34" charset="0"/>
              </a:rPr>
              <a:t>9.4.2</a:t>
            </a:r>
            <a:endParaRPr lang="zh-CN" altLang="en-US" sz="3200" b="1" dirty="0">
              <a:latin typeface="Arial" panose="020B0604020202020204" pitchFamily="34" charset="0"/>
              <a:ea typeface="宋体" panose="02010600030101010101" pitchFamily="2" charset="-122"/>
              <a:cs typeface="Arial" panose="020B0604020202020204" pitchFamily="34" charset="0"/>
            </a:endParaRPr>
          </a:p>
        </p:txBody>
      </p:sp>
      <p:sp>
        <p:nvSpPr>
          <p:cNvPr id="47" name="矩形 46">
            <a:extLst>
              <a:ext uri="{FF2B5EF4-FFF2-40B4-BE49-F238E27FC236}">
                <a16:creationId xmlns:a16="http://schemas.microsoft.com/office/drawing/2014/main" id="{2A2F604C-DA27-459E-8419-ED777356D653}"/>
              </a:ext>
            </a:extLst>
          </p:cNvPr>
          <p:cNvSpPr/>
          <p:nvPr/>
        </p:nvSpPr>
        <p:spPr>
          <a:xfrm>
            <a:off x="1890442" y="240301"/>
            <a:ext cx="5873715" cy="615549"/>
          </a:xfrm>
          <a:prstGeom prst="rect">
            <a:avLst/>
          </a:prstGeom>
        </p:spPr>
        <p:txBody>
          <a:bodyPr wrap="none" lIns="91436" tIns="45718" rIns="91436" bIns="45718">
            <a:spAutoFit/>
          </a:bodyPr>
          <a:lstStyle/>
          <a:p>
            <a:pPr algn="ctr"/>
            <a:r>
              <a:rPr lang="zh-CN" altLang="en-US" sz="3400" b="1" dirty="0">
                <a:solidFill>
                  <a:schemeClr val="bg1"/>
                </a:solidFill>
                <a:latin typeface="宋体" panose="02010600030101010101" pitchFamily="2" charset="-122"/>
                <a:ea typeface="宋体" panose="02010600030101010101" pitchFamily="2" charset="-122"/>
              </a:rPr>
              <a:t>物位、流量的测量和无损探伤</a:t>
            </a:r>
            <a:endParaRPr lang="en-US" altLang="zh-CN" sz="3400" b="1" dirty="0">
              <a:solidFill>
                <a:schemeClr val="bg1"/>
              </a:solidFill>
              <a:latin typeface="宋体" panose="02010600030101010101" pitchFamily="2" charset="-122"/>
              <a:ea typeface="宋体" panose="02010600030101010101" pitchFamily="2" charset="-122"/>
            </a:endParaRPr>
          </a:p>
        </p:txBody>
      </p:sp>
      <p:sp>
        <p:nvSpPr>
          <p:cNvPr id="2" name="Slide Number Placeholder 1">
            <a:extLst>
              <a:ext uri="{FF2B5EF4-FFF2-40B4-BE49-F238E27FC236}">
                <a16:creationId xmlns:a16="http://schemas.microsoft.com/office/drawing/2014/main" id="{748BB05D-92F0-4D79-BC45-522836FEA992}"/>
              </a:ext>
            </a:extLst>
          </p:cNvPr>
          <p:cNvSpPr>
            <a:spLocks noGrp="1"/>
          </p:cNvSpPr>
          <p:nvPr>
            <p:ph type="sldNum" sz="quarter" idx="12"/>
          </p:nvPr>
        </p:nvSpPr>
        <p:spPr/>
        <p:txBody>
          <a:bodyPr/>
          <a:lstStyle/>
          <a:p>
            <a:fld id="{B53602B4-F12B-41CD-B648-531F86B2CC91}" type="slidenum">
              <a:rPr lang="zh-CN" altLang="en-US" smtClean="0"/>
              <a:t>44</a:t>
            </a:fld>
            <a:endParaRPr lang="zh-CN" altLang="en-US"/>
          </a:p>
        </p:txBody>
      </p:sp>
      <p:sp>
        <p:nvSpPr>
          <p:cNvPr id="26" name="Text Box 59">
            <a:extLst>
              <a:ext uri="{FF2B5EF4-FFF2-40B4-BE49-F238E27FC236}">
                <a16:creationId xmlns:a16="http://schemas.microsoft.com/office/drawing/2014/main" id="{D2DE1206-35BF-439E-80DE-2ACBF445306A}"/>
              </a:ext>
            </a:extLst>
          </p:cNvPr>
          <p:cNvSpPr txBox="1">
            <a:spLocks noChangeArrowheads="1"/>
          </p:cNvSpPr>
          <p:nvPr/>
        </p:nvSpPr>
        <p:spPr bwMode="auto">
          <a:xfrm>
            <a:off x="185084" y="5050109"/>
            <a:ext cx="4182963" cy="9198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r" eaLnBrk="1" hangingPunct="1">
              <a:lnSpc>
                <a:spcPct val="120000"/>
              </a:lnSpc>
              <a:buFontTx/>
              <a:buNone/>
            </a:pPr>
            <a:r>
              <a:rPr kumimoji="0" lang="zh-CN" altLang="en-US" sz="2400" b="1" dirty="0">
                <a:solidFill>
                  <a:srgbClr val="3333CC"/>
                </a:solidFill>
                <a:latin typeface="宋体" pitchFamily="2" charset="-122"/>
              </a:rPr>
              <a:t>图</a:t>
            </a:r>
            <a:r>
              <a:rPr kumimoji="0" lang="en-US" altLang="zh-CN" sz="2400" b="1" dirty="0">
                <a:solidFill>
                  <a:srgbClr val="3333CC"/>
                </a:solidFill>
                <a:latin typeface="宋体" pitchFamily="2" charset="-122"/>
              </a:rPr>
              <a:t>9-10 </a:t>
            </a:r>
            <a:r>
              <a:rPr kumimoji="0" lang="zh-CN" altLang="en-US" sz="2400" b="1" dirty="0">
                <a:solidFill>
                  <a:srgbClr val="3333CC"/>
                </a:solidFill>
                <a:latin typeface="宋体" pitchFamily="2" charset="-122"/>
              </a:rPr>
              <a:t>几种超声波检测物位的工作原理图</a:t>
            </a:r>
          </a:p>
        </p:txBody>
      </p:sp>
      <p:pic>
        <p:nvPicPr>
          <p:cNvPr id="27" name="图片 2">
            <a:extLst>
              <a:ext uri="{FF2B5EF4-FFF2-40B4-BE49-F238E27FC236}">
                <a16:creationId xmlns:a16="http://schemas.microsoft.com/office/drawing/2014/main" id="{C73D0504-03EE-4064-BDA4-2CDFE73DF953}"/>
              </a:ext>
            </a:extLst>
          </p:cNvPr>
          <p:cNvPicPr>
            <a:picLocks noChangeAspect="1"/>
          </p:cNvPicPr>
          <p:nvPr/>
        </p:nvPicPr>
        <p:blipFill>
          <a:blip r:embed="rId4"/>
          <a:stretch>
            <a:fillRect/>
          </a:stretch>
        </p:blipFill>
        <p:spPr>
          <a:xfrm>
            <a:off x="136589" y="1347957"/>
            <a:ext cx="4040475" cy="3359018"/>
          </a:xfrm>
          <a:prstGeom prst="rect">
            <a:avLst/>
          </a:prstGeom>
        </p:spPr>
      </p:pic>
      <p:sp>
        <p:nvSpPr>
          <p:cNvPr id="31" name="文本框 2">
            <a:extLst>
              <a:ext uri="{FF2B5EF4-FFF2-40B4-BE49-F238E27FC236}">
                <a16:creationId xmlns:a16="http://schemas.microsoft.com/office/drawing/2014/main" id="{94305DA5-2B63-4948-94B0-801FDAB51C16}"/>
              </a:ext>
            </a:extLst>
          </p:cNvPr>
          <p:cNvSpPr txBox="1"/>
          <p:nvPr/>
        </p:nvSpPr>
        <p:spPr>
          <a:xfrm>
            <a:off x="4717472" y="3254346"/>
            <a:ext cx="4426528" cy="806755"/>
          </a:xfrm>
          <a:prstGeom prst="rect">
            <a:avLst/>
          </a:prstGeom>
          <a:noFill/>
        </p:spPr>
        <p:txBody>
          <a:bodyPr wrap="square" lIns="91436" tIns="45718" rIns="91436" bIns="45718" rtlCol="0">
            <a:spAutoFit/>
          </a:bodyPr>
          <a:lstStyle/>
          <a:p>
            <a:pPr marL="342900" indent="-342900">
              <a:lnSpc>
                <a:spcPct val="110000"/>
              </a:lnSpc>
              <a:buFont typeface="Courier New" panose="02070309020205020404" pitchFamily="49" charset="0"/>
              <a:buChar char="o"/>
            </a:pPr>
            <a:r>
              <a:rPr lang="en-US" altLang="zh-CN" sz="2200" i="1">
                <a:latin typeface="Times New Roman" panose="02020603050405020304" pitchFamily="18" charset="0"/>
                <a:ea typeface="宋体" panose="02010600030101010101" pitchFamily="2" charset="-122"/>
                <a:cs typeface="Times New Roman" panose="02020603050405020304" pitchFamily="18" charset="0"/>
              </a:rPr>
              <a:t>h</a:t>
            </a:r>
            <a:r>
              <a:rPr lang="zh-CN" altLang="en-US" sz="2200" b="1" dirty="0">
                <a:latin typeface="Times New Roman" panose="02020603050405020304" pitchFamily="18" charset="0"/>
                <a:ea typeface="宋体" panose="02010600030101010101" pitchFamily="2" charset="-122"/>
                <a:cs typeface="Times New Roman" panose="02020603050405020304" pitchFamily="18" charset="0"/>
              </a:rPr>
              <a:t>为换能器距液面的距</a:t>
            </a:r>
            <a:r>
              <a:rPr lang="zh-CN" altLang="en-US" sz="2200" b="1">
                <a:latin typeface="Times New Roman" panose="02020603050405020304" pitchFamily="18" charset="0"/>
                <a:ea typeface="宋体" panose="02010600030101010101" pitchFamily="2" charset="-122"/>
                <a:cs typeface="Times New Roman" panose="02020603050405020304" pitchFamily="18" charset="0"/>
              </a:rPr>
              <a:t>离；</a:t>
            </a:r>
            <a:endParaRPr lang="en-US" altLang="zh-CN" sz="2200" b="1">
              <a:latin typeface="Times New Roman" panose="02020603050405020304" pitchFamily="18" charset="0"/>
              <a:ea typeface="宋体" panose="02010600030101010101" pitchFamily="2" charset="-122"/>
              <a:cs typeface="Times New Roman" panose="02020603050405020304" pitchFamily="18" charset="0"/>
            </a:endParaRPr>
          </a:p>
          <a:p>
            <a:pPr marL="342900" indent="-342900">
              <a:lnSpc>
                <a:spcPct val="110000"/>
              </a:lnSpc>
              <a:buFont typeface="Courier New" panose="02070309020205020404" pitchFamily="49" charset="0"/>
              <a:buChar char="o"/>
            </a:pPr>
            <a:r>
              <a:rPr lang="en-US" altLang="zh-CN" sz="2200" i="1">
                <a:latin typeface="Times New Roman" panose="02020603050405020304" pitchFamily="18" charset="0"/>
                <a:ea typeface="宋体" panose="02010600030101010101" pitchFamily="2" charset="-122"/>
                <a:cs typeface="Times New Roman" panose="02020603050405020304" pitchFamily="18" charset="0"/>
              </a:rPr>
              <a:t>v</a:t>
            </a:r>
            <a:r>
              <a:rPr lang="zh-CN" altLang="en-US" sz="2200" b="1" dirty="0">
                <a:latin typeface="Times New Roman" panose="02020603050405020304" pitchFamily="18" charset="0"/>
                <a:ea typeface="宋体" panose="02010600030101010101" pitchFamily="2" charset="-122"/>
                <a:cs typeface="Times New Roman" panose="02020603050405020304" pitchFamily="18" charset="0"/>
              </a:rPr>
              <a:t>为超声波在介质中的传播速</a:t>
            </a:r>
            <a:r>
              <a:rPr lang="zh-CN" altLang="en-US" sz="2200" b="1">
                <a:latin typeface="Times New Roman" panose="02020603050405020304" pitchFamily="18" charset="0"/>
                <a:ea typeface="宋体" panose="02010600030101010101" pitchFamily="2" charset="-122"/>
                <a:cs typeface="Times New Roman" panose="02020603050405020304" pitchFamily="18" charset="0"/>
              </a:rPr>
              <a:t>度。</a:t>
            </a:r>
            <a:endParaRPr lang="en-US" altLang="zh-CN" sz="2200" b="1" dirty="0">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43" name="对象 9">
            <a:extLst>
              <a:ext uri="{FF2B5EF4-FFF2-40B4-BE49-F238E27FC236}">
                <a16:creationId xmlns:a16="http://schemas.microsoft.com/office/drawing/2014/main" id="{7E918B6C-4662-4A36-9BF3-3E00CABDCEB8}"/>
              </a:ext>
            </a:extLst>
          </p:cNvPr>
          <p:cNvGraphicFramePr>
            <a:graphicFrameLocks noChangeAspect="1"/>
          </p:cNvGraphicFramePr>
          <p:nvPr>
            <p:extLst>
              <p:ext uri="{D42A27DB-BD31-4B8C-83A1-F6EECF244321}">
                <p14:modId xmlns:p14="http://schemas.microsoft.com/office/powerpoint/2010/main" val="160359931"/>
              </p:ext>
            </p:extLst>
          </p:nvPr>
        </p:nvGraphicFramePr>
        <p:xfrm>
          <a:off x="6001913" y="5765079"/>
          <a:ext cx="1857645" cy="589139"/>
        </p:xfrm>
        <a:graphic>
          <a:graphicData uri="http://schemas.openxmlformats.org/presentationml/2006/ole">
            <mc:AlternateContent xmlns:mc="http://schemas.openxmlformats.org/markup-compatibility/2006">
              <mc:Choice xmlns:v="urn:schemas-microsoft-com:vml" Requires="v">
                <p:oleObj spid="_x0000_s17663" name="Equation" r:id="rId5" imgW="634680" imgH="203040" progId="Equation.DSMT4">
                  <p:embed/>
                </p:oleObj>
              </mc:Choice>
              <mc:Fallback>
                <p:oleObj name="Equation" r:id="rId5" imgW="634680" imgH="203040" progId="Equation.DSMT4">
                  <p:embed/>
                  <p:pic>
                    <p:nvPicPr>
                      <p:cNvPr id="10" name="对象 9"/>
                      <p:cNvPicPr/>
                      <p:nvPr/>
                    </p:nvPicPr>
                    <p:blipFill>
                      <a:blip r:embed="rId6"/>
                      <a:stretch>
                        <a:fillRect/>
                      </a:stretch>
                    </p:blipFill>
                    <p:spPr>
                      <a:xfrm>
                        <a:off x="6001913" y="5765079"/>
                        <a:ext cx="1857645" cy="589139"/>
                      </a:xfrm>
                      <a:prstGeom prst="rect">
                        <a:avLst/>
                      </a:prstGeom>
                    </p:spPr>
                  </p:pic>
                </p:oleObj>
              </mc:Fallback>
            </mc:AlternateContent>
          </a:graphicData>
        </a:graphic>
      </p:graphicFrame>
      <p:sp>
        <p:nvSpPr>
          <p:cNvPr id="44" name="矩形 12">
            <a:extLst>
              <a:ext uri="{FF2B5EF4-FFF2-40B4-BE49-F238E27FC236}">
                <a16:creationId xmlns:a16="http://schemas.microsoft.com/office/drawing/2014/main" id="{28598C34-88EC-4F67-9843-62F75BBA4C3A}"/>
              </a:ext>
            </a:extLst>
          </p:cNvPr>
          <p:cNvSpPr/>
          <p:nvPr/>
        </p:nvSpPr>
        <p:spPr>
          <a:xfrm>
            <a:off x="4415976" y="1159937"/>
            <a:ext cx="4542940" cy="1285545"/>
          </a:xfrm>
          <a:prstGeom prst="rect">
            <a:avLst/>
          </a:prstGeom>
        </p:spPr>
        <p:txBody>
          <a:bodyPr wrap="square">
            <a:spAutoFit/>
          </a:bodyPr>
          <a:lstStyle/>
          <a:p>
            <a:pPr marL="342900" indent="-342900">
              <a:lnSpc>
                <a:spcPct val="110000"/>
              </a:lnSpc>
              <a:buFont typeface="Arial" panose="020B0604020202020204" pitchFamily="34" charset="0"/>
              <a:buChar char="•"/>
            </a:pP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对于单换能器，超声波从发射到液面又从液面反射回换能器的时间间隔为 </a:t>
            </a:r>
            <a:endParaRPr lang="zh-CN" altLang="en-US" sz="2400" dirty="0"/>
          </a:p>
        </p:txBody>
      </p:sp>
      <p:graphicFrame>
        <p:nvGraphicFramePr>
          <p:cNvPr id="46" name="对象 4">
            <a:extLst>
              <a:ext uri="{FF2B5EF4-FFF2-40B4-BE49-F238E27FC236}">
                <a16:creationId xmlns:a16="http://schemas.microsoft.com/office/drawing/2014/main" id="{9611D749-AC7B-448F-B90B-D1ECDE50D87E}"/>
              </a:ext>
            </a:extLst>
          </p:cNvPr>
          <p:cNvGraphicFramePr>
            <a:graphicFrameLocks noChangeAspect="1"/>
          </p:cNvGraphicFramePr>
          <p:nvPr>
            <p:extLst>
              <p:ext uri="{D42A27DB-BD31-4B8C-83A1-F6EECF244321}">
                <p14:modId xmlns:p14="http://schemas.microsoft.com/office/powerpoint/2010/main" val="3144290803"/>
              </p:ext>
            </p:extLst>
          </p:nvPr>
        </p:nvGraphicFramePr>
        <p:xfrm>
          <a:off x="5124450" y="2365588"/>
          <a:ext cx="1379285" cy="954433"/>
        </p:xfrm>
        <a:graphic>
          <a:graphicData uri="http://schemas.openxmlformats.org/presentationml/2006/ole">
            <mc:AlternateContent xmlns:mc="http://schemas.openxmlformats.org/markup-compatibility/2006">
              <mc:Choice xmlns:v="urn:schemas-microsoft-com:vml" Requires="v">
                <p:oleObj spid="_x0000_s17664" name="Equation" r:id="rId7" imgW="406080" imgH="317160" progId="Equation.DSMT4">
                  <p:embed/>
                </p:oleObj>
              </mc:Choice>
              <mc:Fallback>
                <p:oleObj name="Equation" r:id="rId7" imgW="406080" imgH="317160" progId="Equation.DSMT4">
                  <p:embed/>
                  <p:pic>
                    <p:nvPicPr>
                      <p:cNvPr id="5" name="对象 4"/>
                      <p:cNvPicPr/>
                      <p:nvPr/>
                    </p:nvPicPr>
                    <p:blipFill>
                      <a:blip r:embed="rId8"/>
                      <a:stretch>
                        <a:fillRect/>
                      </a:stretch>
                    </p:blipFill>
                    <p:spPr>
                      <a:xfrm>
                        <a:off x="5124450" y="2365588"/>
                        <a:ext cx="1379285" cy="954433"/>
                      </a:xfrm>
                      <a:prstGeom prst="rect">
                        <a:avLst/>
                      </a:prstGeom>
                    </p:spPr>
                  </p:pic>
                </p:oleObj>
              </mc:Fallback>
            </mc:AlternateContent>
          </a:graphicData>
        </a:graphic>
      </p:graphicFrame>
      <p:graphicFrame>
        <p:nvGraphicFramePr>
          <p:cNvPr id="48" name="对象 7">
            <a:extLst>
              <a:ext uri="{FF2B5EF4-FFF2-40B4-BE49-F238E27FC236}">
                <a16:creationId xmlns:a16="http://schemas.microsoft.com/office/drawing/2014/main" id="{75D1EA2E-51CA-42BA-992F-7A0630A4408D}"/>
              </a:ext>
            </a:extLst>
          </p:cNvPr>
          <p:cNvGraphicFramePr>
            <a:graphicFrameLocks noChangeAspect="1"/>
          </p:cNvGraphicFramePr>
          <p:nvPr>
            <p:extLst>
              <p:ext uri="{D42A27DB-BD31-4B8C-83A1-F6EECF244321}">
                <p14:modId xmlns:p14="http://schemas.microsoft.com/office/powerpoint/2010/main" val="3447214715"/>
              </p:ext>
            </p:extLst>
          </p:nvPr>
        </p:nvGraphicFramePr>
        <p:xfrm>
          <a:off x="7412114" y="2379939"/>
          <a:ext cx="1236586" cy="925729"/>
        </p:xfrm>
        <a:graphic>
          <a:graphicData uri="http://schemas.openxmlformats.org/presentationml/2006/ole">
            <mc:AlternateContent xmlns:mc="http://schemas.openxmlformats.org/markup-compatibility/2006">
              <mc:Choice xmlns:v="urn:schemas-microsoft-com:vml" Requires="v">
                <p:oleObj spid="_x0000_s17665" name="Equation" r:id="rId9" imgW="406080" imgH="317160" progId="Equation.DSMT4">
                  <p:embed/>
                </p:oleObj>
              </mc:Choice>
              <mc:Fallback>
                <p:oleObj name="Equation" r:id="rId9" imgW="406080" imgH="317160" progId="Equation.DSMT4">
                  <p:embed/>
                  <p:pic>
                    <p:nvPicPr>
                      <p:cNvPr id="8" name="对象 7"/>
                      <p:cNvPicPr/>
                      <p:nvPr/>
                    </p:nvPicPr>
                    <p:blipFill>
                      <a:blip r:embed="rId10"/>
                      <a:stretch>
                        <a:fillRect/>
                      </a:stretch>
                    </p:blipFill>
                    <p:spPr>
                      <a:xfrm>
                        <a:off x="7412114" y="2379939"/>
                        <a:ext cx="1236586" cy="925729"/>
                      </a:xfrm>
                      <a:prstGeom prst="rect">
                        <a:avLst/>
                      </a:prstGeom>
                    </p:spPr>
                  </p:pic>
                </p:oleObj>
              </mc:Fallback>
            </mc:AlternateContent>
          </a:graphicData>
        </a:graphic>
      </p:graphicFrame>
      <p:cxnSp>
        <p:nvCxnSpPr>
          <p:cNvPr id="49" name="直接箭头连接符 14">
            <a:extLst>
              <a:ext uri="{FF2B5EF4-FFF2-40B4-BE49-F238E27FC236}">
                <a16:creationId xmlns:a16="http://schemas.microsoft.com/office/drawing/2014/main" id="{809042D1-14FA-4050-88F3-7CEC106AA13E}"/>
              </a:ext>
            </a:extLst>
          </p:cNvPr>
          <p:cNvCxnSpPr/>
          <p:nvPr/>
        </p:nvCxnSpPr>
        <p:spPr>
          <a:xfrm>
            <a:off x="6575002" y="2856016"/>
            <a:ext cx="646695" cy="0"/>
          </a:xfrm>
          <a:prstGeom prst="straightConnector1">
            <a:avLst/>
          </a:prstGeom>
          <a:ln w="38100">
            <a:tailEnd type="triangle"/>
          </a:ln>
        </p:spPr>
        <p:style>
          <a:lnRef idx="3">
            <a:schemeClr val="accent2"/>
          </a:lnRef>
          <a:fillRef idx="0">
            <a:schemeClr val="accent2"/>
          </a:fillRef>
          <a:effectRef idx="2">
            <a:schemeClr val="accent2"/>
          </a:effectRef>
          <a:fontRef idx="minor">
            <a:schemeClr val="tx1"/>
          </a:fontRef>
        </p:style>
      </p:cxnSp>
      <p:sp>
        <p:nvSpPr>
          <p:cNvPr id="50" name="文本框 2">
            <a:extLst>
              <a:ext uri="{FF2B5EF4-FFF2-40B4-BE49-F238E27FC236}">
                <a16:creationId xmlns:a16="http://schemas.microsoft.com/office/drawing/2014/main" id="{5555FB53-9FCE-4217-B9A1-9B2ACFB57AA7}"/>
              </a:ext>
            </a:extLst>
          </p:cNvPr>
          <p:cNvSpPr txBox="1"/>
          <p:nvPr/>
        </p:nvSpPr>
        <p:spPr>
          <a:xfrm>
            <a:off x="4368047" y="4082871"/>
            <a:ext cx="4542940" cy="1684244"/>
          </a:xfrm>
          <a:prstGeom prst="rect">
            <a:avLst/>
          </a:prstGeom>
        </p:spPr>
        <p:txBody>
          <a:bodyPr wrap="square">
            <a:spAutoFit/>
          </a:bodyPr>
          <a:lstStyle>
            <a:defPPr>
              <a:defRPr lang="zh-CN"/>
            </a:defPPr>
            <a:lvl1pPr marL="342900" indent="-342900">
              <a:lnSpc>
                <a:spcPct val="130000"/>
              </a:lnSpc>
              <a:buFont typeface="Arial" panose="020B0604020202020204" pitchFamily="34" charset="0"/>
              <a:buChar char="•"/>
              <a:defRPr sz="2400" b="1">
                <a:latin typeface="Times New Roman" panose="02020603050405020304" pitchFamily="18" charset="0"/>
                <a:ea typeface="宋体" panose="02010600030101010101" pitchFamily="2" charset="-122"/>
                <a:cs typeface="Times New Roman" panose="02020603050405020304" pitchFamily="18" charset="0"/>
              </a:defRPr>
            </a:lvl1pPr>
          </a:lstStyle>
          <a:p>
            <a:pPr>
              <a:lnSpc>
                <a:spcPct val="110000"/>
              </a:lnSpc>
            </a:pPr>
            <a:r>
              <a:rPr lang="zh-CN" altLang="en-US"/>
              <a:t>对</a:t>
            </a:r>
            <a:r>
              <a:rPr lang="zh-CN" altLang="en-US" dirty="0"/>
              <a:t>于双换能器，超声波从发射到被接收经过的路</a:t>
            </a:r>
            <a:r>
              <a:rPr lang="zh-CN" altLang="en-US"/>
              <a:t>程为</a:t>
            </a:r>
            <a:r>
              <a:rPr lang="en-US" altLang="zh-CN"/>
              <a:t>2s</a:t>
            </a:r>
            <a:r>
              <a:rPr lang="zh-CN" altLang="en-US"/>
              <a:t>，</a:t>
            </a:r>
            <a:r>
              <a:rPr lang="en-US" altLang="zh-CN"/>
              <a:t>a</a:t>
            </a:r>
            <a:r>
              <a:rPr lang="zh-CN" altLang="en-US" dirty="0"/>
              <a:t>为两换能器间距的二分之一，因此液位高</a:t>
            </a:r>
            <a:r>
              <a:rPr lang="zh-CN" altLang="en-US"/>
              <a:t>度为</a:t>
            </a:r>
            <a:endParaRPr lang="en-US" altLang="zh-CN" dirty="0"/>
          </a:p>
        </p:txBody>
      </p:sp>
    </p:spTree>
    <p:extLst>
      <p:ext uri="{BB962C8B-B14F-4D97-AF65-F5344CB8AC3E}">
        <p14:creationId xmlns:p14="http://schemas.microsoft.com/office/powerpoint/2010/main" val="2300910983"/>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 name="图片 2">
            <a:extLst>
              <a:ext uri="{FF2B5EF4-FFF2-40B4-BE49-F238E27FC236}">
                <a16:creationId xmlns:a16="http://schemas.microsoft.com/office/drawing/2014/main" id="{40EAE524-0751-411F-B637-48936E66B614}"/>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rot="16200000">
            <a:off x="5318015" y="1001163"/>
            <a:ext cx="2764900" cy="4079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 name="矩形 27">
            <a:extLst>
              <a:ext uri="{FF2B5EF4-FFF2-40B4-BE49-F238E27FC236}">
                <a16:creationId xmlns:a16="http://schemas.microsoft.com/office/drawing/2014/main" id="{64509930-9DFB-420E-8F32-960E50399825}"/>
              </a:ext>
            </a:extLst>
          </p:cNvPr>
          <p:cNvSpPr/>
          <p:nvPr/>
        </p:nvSpPr>
        <p:spPr>
          <a:xfrm>
            <a:off x="1571711" y="258777"/>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 name="圆角矩形 43">
            <a:extLst>
              <a:ext uri="{FF2B5EF4-FFF2-40B4-BE49-F238E27FC236}">
                <a16:creationId xmlns:a16="http://schemas.microsoft.com/office/drawing/2014/main" id="{7D086454-5B10-4064-9B8F-531209592F7E}"/>
              </a:ext>
            </a:extLst>
          </p:cNvPr>
          <p:cNvSpPr/>
          <p:nvPr/>
        </p:nvSpPr>
        <p:spPr>
          <a:xfrm rot="10800000" flipV="1">
            <a:off x="185084" y="242948"/>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20204" pitchFamily="34" charset="0"/>
                <a:ea typeface="宋体" panose="02010600030101010101" pitchFamily="2" charset="-122"/>
                <a:cs typeface="Arial" panose="020B0604020202020204" pitchFamily="34" charset="0"/>
              </a:rPr>
              <a:t>9.4.2</a:t>
            </a:r>
            <a:endParaRPr lang="zh-CN" altLang="en-US" sz="3200" b="1" dirty="0">
              <a:latin typeface="Arial" panose="020B0604020202020204" pitchFamily="34" charset="0"/>
              <a:ea typeface="宋体" panose="02010600030101010101" pitchFamily="2" charset="-122"/>
              <a:cs typeface="Arial" panose="020B0604020202020204" pitchFamily="34" charset="0"/>
            </a:endParaRPr>
          </a:p>
        </p:txBody>
      </p:sp>
      <p:sp>
        <p:nvSpPr>
          <p:cNvPr id="40" name="矩形 39">
            <a:extLst>
              <a:ext uri="{FF2B5EF4-FFF2-40B4-BE49-F238E27FC236}">
                <a16:creationId xmlns:a16="http://schemas.microsoft.com/office/drawing/2014/main" id="{2A2F604C-DA27-459E-8419-ED777356D653}"/>
              </a:ext>
            </a:extLst>
          </p:cNvPr>
          <p:cNvSpPr/>
          <p:nvPr/>
        </p:nvSpPr>
        <p:spPr>
          <a:xfrm>
            <a:off x="1890442" y="240301"/>
            <a:ext cx="5873715" cy="615549"/>
          </a:xfrm>
          <a:prstGeom prst="rect">
            <a:avLst/>
          </a:prstGeom>
        </p:spPr>
        <p:txBody>
          <a:bodyPr wrap="none" lIns="91436" tIns="45718" rIns="91436" bIns="45718">
            <a:spAutoFit/>
          </a:bodyPr>
          <a:lstStyle/>
          <a:p>
            <a:pPr algn="ctr"/>
            <a:r>
              <a:rPr lang="zh-CN" altLang="en-US" sz="3400" b="1" dirty="0">
                <a:solidFill>
                  <a:schemeClr val="bg1"/>
                </a:solidFill>
                <a:latin typeface="宋体" panose="02010600030101010101" pitchFamily="2" charset="-122"/>
                <a:ea typeface="宋体" panose="02010600030101010101" pitchFamily="2" charset="-122"/>
              </a:rPr>
              <a:t>物位、流量的测量和无损探伤</a:t>
            </a:r>
            <a:endParaRPr lang="en-US" altLang="zh-CN" sz="3400" b="1" dirty="0">
              <a:solidFill>
                <a:schemeClr val="bg1"/>
              </a:solidFill>
              <a:latin typeface="宋体" panose="02010600030101010101" pitchFamily="2" charset="-122"/>
              <a:ea typeface="宋体" panose="02010600030101010101" pitchFamily="2" charset="-122"/>
            </a:endParaRPr>
          </a:p>
        </p:txBody>
      </p:sp>
      <p:sp>
        <p:nvSpPr>
          <p:cNvPr id="5" name="矩形 4"/>
          <p:cNvSpPr/>
          <p:nvPr/>
        </p:nvSpPr>
        <p:spPr>
          <a:xfrm>
            <a:off x="185084" y="1305381"/>
            <a:ext cx="2813591" cy="461665"/>
          </a:xfrm>
          <a:prstGeom prst="rect">
            <a:avLst/>
          </a:prstGeom>
          <a:solidFill>
            <a:srgbClr val="92D050"/>
          </a:solidFill>
        </p:spPr>
        <p:txBody>
          <a:bodyPr wrap="none">
            <a:spAutoFit/>
          </a:bodyPr>
          <a:lstStyle/>
          <a:p>
            <a:pPr>
              <a:spcBef>
                <a:spcPts val="624"/>
              </a:spcBef>
            </a:pPr>
            <a:r>
              <a:rPr lang="en-US" altLang="zh-CN" sz="2400" b="1" dirty="0">
                <a:latin typeface="Times New Roman" panose="02020603050405020304" pitchFamily="18" charset="0"/>
                <a:ea typeface="宋体" panose="02010600030101010101" pitchFamily="2" charset="-122"/>
                <a:cs typeface="Times New Roman" panose="02020603050405020304" pitchFamily="18" charset="0"/>
              </a:rPr>
              <a:t>2</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、超声波测量流量</a:t>
            </a:r>
          </a:p>
        </p:txBody>
      </p:sp>
      <p:sp>
        <p:nvSpPr>
          <p:cNvPr id="6" name="矩形 5"/>
          <p:cNvSpPr/>
          <p:nvPr/>
        </p:nvSpPr>
        <p:spPr>
          <a:xfrm>
            <a:off x="120966" y="2201933"/>
            <a:ext cx="4186891" cy="2496774"/>
          </a:xfrm>
          <a:prstGeom prst="rect">
            <a:avLst/>
          </a:prstGeom>
        </p:spPr>
        <p:txBody>
          <a:bodyPr wrap="square">
            <a:spAutoFit/>
          </a:bodyPr>
          <a:lstStyle/>
          <a:p>
            <a:pPr marL="342900" indent="-342900">
              <a:lnSpc>
                <a:spcPct val="120000"/>
              </a:lnSpc>
              <a:spcBef>
                <a:spcPts val="1800"/>
              </a:spcBef>
              <a:buFont typeface="Wingdings" panose="05000000000000000000" pitchFamily="2" charset="2"/>
              <a:buChar char="q"/>
            </a:pPr>
            <a:r>
              <a:rPr lang="zh-CN" altLang="en-US" sz="2400" b="1">
                <a:latin typeface="Times New Roman" panose="02020603050405020304" pitchFamily="18" charset="0"/>
                <a:ea typeface="宋体" panose="02010600030101010101" pitchFamily="2" charset="-122"/>
                <a:cs typeface="Times New Roman" panose="02020603050405020304" pitchFamily="18" charset="0"/>
              </a:rPr>
              <a:t>超</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声波在流体中传输时，在静止流体和流动流体中的传播速度</a:t>
            </a:r>
            <a:r>
              <a:rPr lang="zh-CN" altLang="en-US" sz="2400" b="1">
                <a:latin typeface="Times New Roman" panose="02020603050405020304" pitchFamily="18" charset="0"/>
                <a:ea typeface="宋体" panose="02010600030101010101" pitchFamily="2" charset="-122"/>
                <a:cs typeface="Times New Roman" panose="02020603050405020304" pitchFamily="18" charset="0"/>
              </a:rPr>
              <a:t>不同</a:t>
            </a:r>
            <a:endParaRPr lang="en-US" altLang="zh-CN" sz="2400" b="1">
              <a:latin typeface="Times New Roman" panose="02020603050405020304" pitchFamily="18" charset="0"/>
              <a:ea typeface="宋体" panose="02010600030101010101" pitchFamily="2" charset="-122"/>
              <a:cs typeface="Times New Roman" panose="02020603050405020304" pitchFamily="18" charset="0"/>
            </a:endParaRPr>
          </a:p>
          <a:p>
            <a:pPr marL="342900" indent="-342900">
              <a:lnSpc>
                <a:spcPct val="120000"/>
              </a:lnSpc>
              <a:spcBef>
                <a:spcPts val="1800"/>
              </a:spcBef>
              <a:buFont typeface="Wingdings" panose="05000000000000000000" pitchFamily="2" charset="2"/>
              <a:buChar char="q"/>
            </a:pPr>
            <a:r>
              <a:rPr lang="zh-CN" altLang="en-US" sz="2400" b="1">
                <a:latin typeface="Times New Roman" panose="02020603050405020304" pitchFamily="18" charset="0"/>
                <a:ea typeface="宋体" panose="02010600030101010101" pitchFamily="2" charset="-122"/>
                <a:cs typeface="Times New Roman" panose="02020603050405020304" pitchFamily="18" charset="0"/>
              </a:rPr>
              <a:t>利用这一特</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点，求得流体</a:t>
            </a:r>
            <a:r>
              <a:rPr lang="zh-CN" altLang="en-US" sz="2400" b="1">
                <a:latin typeface="Times New Roman" panose="02020603050405020304" pitchFamily="18" charset="0"/>
                <a:ea typeface="宋体" panose="02010600030101010101" pitchFamily="2" charset="-122"/>
                <a:cs typeface="Times New Roman" panose="02020603050405020304" pitchFamily="18" charset="0"/>
              </a:rPr>
              <a:t>的流速和</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流量。</a:t>
            </a:r>
          </a:p>
        </p:txBody>
      </p:sp>
      <p:sp>
        <p:nvSpPr>
          <p:cNvPr id="2" name="Slide Number Placeholder 1">
            <a:extLst>
              <a:ext uri="{FF2B5EF4-FFF2-40B4-BE49-F238E27FC236}">
                <a16:creationId xmlns:a16="http://schemas.microsoft.com/office/drawing/2014/main" id="{954E7C7E-5DA2-43C7-B5A7-07F3D05F5658}"/>
              </a:ext>
            </a:extLst>
          </p:cNvPr>
          <p:cNvSpPr>
            <a:spLocks noGrp="1"/>
          </p:cNvSpPr>
          <p:nvPr>
            <p:ph type="sldNum" sz="quarter" idx="12"/>
          </p:nvPr>
        </p:nvSpPr>
        <p:spPr/>
        <p:txBody>
          <a:bodyPr/>
          <a:lstStyle/>
          <a:p>
            <a:fld id="{B53602B4-F12B-41CD-B648-531F86B2CC91}" type="slidenum">
              <a:rPr lang="zh-CN" altLang="en-US" smtClean="0"/>
              <a:t>45</a:t>
            </a:fld>
            <a:endParaRPr lang="zh-CN" altLang="en-US"/>
          </a:p>
        </p:txBody>
      </p:sp>
      <p:sp>
        <p:nvSpPr>
          <p:cNvPr id="27" name="Text Box 59">
            <a:extLst>
              <a:ext uri="{FF2B5EF4-FFF2-40B4-BE49-F238E27FC236}">
                <a16:creationId xmlns:a16="http://schemas.microsoft.com/office/drawing/2014/main" id="{46713BDE-2F47-49BE-B867-817B770BD723}"/>
              </a:ext>
            </a:extLst>
          </p:cNvPr>
          <p:cNvSpPr txBox="1">
            <a:spLocks noChangeArrowheads="1"/>
          </p:cNvSpPr>
          <p:nvPr/>
        </p:nvSpPr>
        <p:spPr bwMode="auto">
          <a:xfrm>
            <a:off x="4635502" y="4288419"/>
            <a:ext cx="3879848" cy="9198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r" eaLnBrk="1" hangingPunct="1">
              <a:lnSpc>
                <a:spcPct val="120000"/>
              </a:lnSpc>
              <a:buFontTx/>
              <a:buNone/>
            </a:pPr>
            <a:r>
              <a:rPr kumimoji="0" lang="zh-CN" altLang="en-US" sz="2400" b="1" dirty="0">
                <a:solidFill>
                  <a:srgbClr val="3333CC"/>
                </a:solidFill>
                <a:latin typeface="宋体" pitchFamily="2" charset="-122"/>
              </a:rPr>
              <a:t>图</a:t>
            </a:r>
            <a:r>
              <a:rPr kumimoji="0" lang="en-US" altLang="zh-CN" sz="2400" b="1" dirty="0">
                <a:solidFill>
                  <a:srgbClr val="3333CC"/>
                </a:solidFill>
                <a:latin typeface="宋体" pitchFamily="2" charset="-122"/>
              </a:rPr>
              <a:t>9-11 </a:t>
            </a:r>
            <a:r>
              <a:rPr kumimoji="0" lang="zh-CN" altLang="en-US" sz="2400" b="1" dirty="0">
                <a:solidFill>
                  <a:srgbClr val="3333CC"/>
                </a:solidFill>
                <a:latin typeface="宋体" pitchFamily="2" charset="-122"/>
              </a:rPr>
              <a:t>超声波测流体流量的工作原理图</a:t>
            </a:r>
          </a:p>
        </p:txBody>
      </p:sp>
    </p:spTree>
    <p:extLst>
      <p:ext uri="{BB962C8B-B14F-4D97-AF65-F5344CB8AC3E}">
        <p14:creationId xmlns:p14="http://schemas.microsoft.com/office/powerpoint/2010/main" val="2303271324"/>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 name="图片 2">
            <a:extLst>
              <a:ext uri="{FF2B5EF4-FFF2-40B4-BE49-F238E27FC236}">
                <a16:creationId xmlns:a16="http://schemas.microsoft.com/office/drawing/2014/main" id="{40EAE524-0751-411F-B637-48936E66B614}"/>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rot="16200000">
            <a:off x="6156343" y="541092"/>
            <a:ext cx="2018681" cy="29787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文本框 2">
            <a:extLst>
              <a:ext uri="{FF2B5EF4-FFF2-40B4-BE49-F238E27FC236}">
                <a16:creationId xmlns:a16="http://schemas.microsoft.com/office/drawing/2014/main" id="{49142242-5E57-4D15-A0DD-17CB598A023D}"/>
              </a:ext>
            </a:extLst>
          </p:cNvPr>
          <p:cNvSpPr txBox="1"/>
          <p:nvPr/>
        </p:nvSpPr>
        <p:spPr>
          <a:xfrm>
            <a:off x="115853" y="1922341"/>
            <a:ext cx="5068713" cy="1822739"/>
          </a:xfrm>
          <a:prstGeom prst="rect">
            <a:avLst/>
          </a:prstGeom>
          <a:noFill/>
        </p:spPr>
        <p:txBody>
          <a:bodyPr wrap="square" lIns="91436" tIns="45718" rIns="91436" bIns="45718" rtlCol="0">
            <a:spAutoFit/>
          </a:bodyPr>
          <a:lstStyle/>
          <a:p>
            <a:pPr marL="342900" indent="-342900">
              <a:lnSpc>
                <a:spcPct val="120000"/>
              </a:lnSpc>
              <a:buFont typeface="Arial" panose="020B0604020202020204" pitchFamily="34" charset="0"/>
              <a:buChar char="•"/>
            </a:pPr>
            <a:r>
              <a:rPr lang="zh-CN" altLang="en-US" sz="2400" b="1">
                <a:latin typeface="Times New Roman" panose="02020603050405020304" pitchFamily="18" charset="0"/>
                <a:ea typeface="宋体" panose="02010600030101010101" pitchFamily="2" charset="-122"/>
                <a:cs typeface="Times New Roman" panose="02020603050405020304" pitchFamily="18" charset="0"/>
              </a:rPr>
              <a:t>当</a:t>
            </a:r>
            <a:r>
              <a:rPr lang="en-US" altLang="zh-CN" sz="2400" b="1">
                <a:latin typeface="Times New Roman" panose="02020603050405020304" pitchFamily="18" charset="0"/>
                <a:ea typeface="宋体" panose="02010600030101010101" pitchFamily="2" charset="-122"/>
                <a:cs typeface="Times New Roman" panose="02020603050405020304" pitchFamily="18" charset="0"/>
              </a:rPr>
              <a:t>A</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为发射换能器、</a:t>
            </a:r>
            <a:r>
              <a:rPr lang="en-US" altLang="zh-CN" sz="2400" b="1" dirty="0">
                <a:latin typeface="Times New Roman" panose="02020603050405020304" pitchFamily="18" charset="0"/>
                <a:ea typeface="宋体" panose="02010600030101010101" pitchFamily="2" charset="-122"/>
                <a:cs typeface="Times New Roman" panose="02020603050405020304" pitchFamily="18" charset="0"/>
              </a:rPr>
              <a:t>B</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为接收换</a:t>
            </a:r>
            <a:r>
              <a:rPr lang="zh-CN" altLang="en-US" sz="2400" b="1">
                <a:latin typeface="Times New Roman" panose="02020603050405020304" pitchFamily="18" charset="0"/>
                <a:ea typeface="宋体" panose="02010600030101010101" pitchFamily="2" charset="-122"/>
                <a:cs typeface="Times New Roman" panose="02020603050405020304" pitchFamily="18" charset="0"/>
              </a:rPr>
              <a:t>能器时，超</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声波为顺流方向传播，传播速</a:t>
            </a:r>
            <a:r>
              <a:rPr lang="zh-CN" altLang="en-US" sz="2400" b="1">
                <a:latin typeface="Times New Roman" panose="02020603050405020304" pitchFamily="18" charset="0"/>
                <a:ea typeface="宋体" panose="02010600030101010101" pitchFamily="2" charset="-122"/>
                <a:cs typeface="Times New Roman" panose="02020603050405020304" pitchFamily="18" charset="0"/>
              </a:rPr>
              <a:t>度为  </a:t>
            </a:r>
            <a:r>
              <a:rPr lang="en-US" altLang="zh-CN" sz="2400" i="1">
                <a:solidFill>
                  <a:srgbClr val="3333CC"/>
                </a:solidFill>
                <a:latin typeface="Times New Roman" panose="02020603050405020304" pitchFamily="18" charset="0"/>
                <a:ea typeface="宋体" panose="02010600030101010101" pitchFamily="2" charset="-122"/>
                <a:cs typeface="Times New Roman" panose="02020603050405020304" pitchFamily="18" charset="0"/>
              </a:rPr>
              <a:t>c</a:t>
            </a:r>
            <a:r>
              <a:rPr lang="en-US" altLang="zh-CN" sz="2400" dirty="0" err="1">
                <a:solidFill>
                  <a:srgbClr val="3333CC"/>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400" i="1" err="1">
                <a:solidFill>
                  <a:srgbClr val="3333CC"/>
                </a:solidFill>
                <a:latin typeface="Times New Roman" panose="02020603050405020304" pitchFamily="18" charset="0"/>
                <a:ea typeface="宋体" panose="02010600030101010101" pitchFamily="2" charset="-122"/>
                <a:cs typeface="Times New Roman" panose="02020603050405020304" pitchFamily="18" charset="0"/>
              </a:rPr>
              <a:t>v</a:t>
            </a:r>
            <a:r>
              <a:rPr lang="en-US" altLang="zh-CN" sz="2400" err="1">
                <a:solidFill>
                  <a:srgbClr val="3333CC"/>
                </a:solidFill>
                <a:latin typeface="Times New Roman" panose="02020603050405020304" pitchFamily="18" charset="0"/>
                <a:ea typeface="宋体" panose="02010600030101010101" pitchFamily="2" charset="-122"/>
                <a:cs typeface="Times New Roman" panose="02020603050405020304" pitchFamily="18" charset="0"/>
              </a:rPr>
              <a:t>cos</a:t>
            </a:r>
            <a:r>
              <a:rPr lang="en-US" altLang="zh-CN" sz="2400" i="1" err="1">
                <a:solidFill>
                  <a:srgbClr val="3333CC"/>
                </a:solidFill>
                <a:latin typeface="Times New Roman" panose="02020603050405020304" pitchFamily="18" charset="0"/>
                <a:ea typeface="宋体" panose="02010600030101010101" pitchFamily="2" charset="-122"/>
                <a:cs typeface="Times New Roman" panose="02020603050405020304" pitchFamily="18" charset="0"/>
              </a:rPr>
              <a:t>θ</a:t>
            </a:r>
            <a:r>
              <a:rPr lang="zh-CN" altLang="en-US" sz="2400" b="1">
                <a:latin typeface="Times New Roman" panose="02020603050405020304" pitchFamily="18" charset="0"/>
                <a:ea typeface="宋体" panose="02010600030101010101" pitchFamily="2" charset="-122"/>
                <a:cs typeface="Times New Roman" panose="02020603050405020304" pitchFamily="18" charset="0"/>
              </a:rPr>
              <a:t>，</a:t>
            </a:r>
            <a:endParaRPr lang="en-US" altLang="zh-CN" sz="2400" b="1">
              <a:latin typeface="Times New Roman" panose="02020603050405020304" pitchFamily="18" charset="0"/>
              <a:ea typeface="宋体" panose="02010600030101010101" pitchFamily="2" charset="-122"/>
              <a:cs typeface="Times New Roman" panose="02020603050405020304" pitchFamily="18" charset="0"/>
            </a:endParaRPr>
          </a:p>
          <a:p>
            <a:pPr marL="342900" indent="-342900">
              <a:lnSpc>
                <a:spcPct val="120000"/>
              </a:lnSpc>
              <a:buFont typeface="Arial" panose="020B0604020202020204" pitchFamily="34" charset="0"/>
              <a:buChar char="•"/>
            </a:pPr>
            <a:r>
              <a:rPr lang="zh-CN" altLang="en-US" sz="2400" b="1">
                <a:latin typeface="Times New Roman" panose="02020603050405020304" pitchFamily="18" charset="0"/>
                <a:ea typeface="宋体" panose="02010600030101010101" pitchFamily="2" charset="-122"/>
                <a:cs typeface="Times New Roman" panose="02020603050405020304" pitchFamily="18" charset="0"/>
              </a:rPr>
              <a:t>所以顺</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流传播时间</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rPr>
              <a:t>t</a:t>
            </a:r>
            <a:r>
              <a:rPr lang="en-US" altLang="zh-CN" sz="2400" baseline="-25000" dirty="0">
                <a:latin typeface="Times New Roman" panose="02020603050405020304" pitchFamily="18" charset="0"/>
                <a:ea typeface="宋体" panose="02010600030101010101" pitchFamily="2" charset="-122"/>
                <a:cs typeface="Times New Roman" panose="02020603050405020304" pitchFamily="18" charset="0"/>
              </a:rPr>
              <a:t>1</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为</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20" name="对象 19"/>
          <p:cNvGraphicFramePr>
            <a:graphicFrameLocks noChangeAspect="1"/>
          </p:cNvGraphicFramePr>
          <p:nvPr>
            <p:extLst>
              <p:ext uri="{D42A27DB-BD31-4B8C-83A1-F6EECF244321}">
                <p14:modId xmlns:p14="http://schemas.microsoft.com/office/powerpoint/2010/main" val="1653678361"/>
              </p:ext>
            </p:extLst>
          </p:nvPr>
        </p:nvGraphicFramePr>
        <p:xfrm>
          <a:off x="3525225" y="3189380"/>
          <a:ext cx="1659341" cy="668506"/>
        </p:xfrm>
        <a:graphic>
          <a:graphicData uri="http://schemas.openxmlformats.org/presentationml/2006/ole">
            <mc:AlternateContent xmlns:mc="http://schemas.openxmlformats.org/markup-compatibility/2006">
              <mc:Choice xmlns:v="urn:schemas-microsoft-com:vml" Requires="v">
                <p:oleObj spid="_x0000_s24605" name="Equation" r:id="rId5" imgW="672840" imgH="317160" progId="Equation.DSMT4">
                  <p:embed/>
                </p:oleObj>
              </mc:Choice>
              <mc:Fallback>
                <p:oleObj name="Equation" r:id="rId5" imgW="672840" imgH="317160" progId="Equation.DSMT4">
                  <p:embed/>
                  <p:pic>
                    <p:nvPicPr>
                      <p:cNvPr id="20" name="对象 19"/>
                      <p:cNvPicPr/>
                      <p:nvPr/>
                    </p:nvPicPr>
                    <p:blipFill>
                      <a:blip r:embed="rId6"/>
                      <a:stretch>
                        <a:fillRect/>
                      </a:stretch>
                    </p:blipFill>
                    <p:spPr>
                      <a:xfrm>
                        <a:off x="3525225" y="3189380"/>
                        <a:ext cx="1659341" cy="668506"/>
                      </a:xfrm>
                      <a:prstGeom prst="rect">
                        <a:avLst/>
                      </a:prstGeom>
                      <a:solidFill>
                        <a:schemeClr val="accent2">
                          <a:lumMod val="40000"/>
                          <a:lumOff val="60000"/>
                        </a:schemeClr>
                      </a:solidFill>
                    </p:spPr>
                  </p:pic>
                </p:oleObj>
              </mc:Fallback>
            </mc:AlternateContent>
          </a:graphicData>
        </a:graphic>
      </p:graphicFrame>
      <p:sp>
        <p:nvSpPr>
          <p:cNvPr id="28" name="矩形 27">
            <a:extLst>
              <a:ext uri="{FF2B5EF4-FFF2-40B4-BE49-F238E27FC236}">
                <a16:creationId xmlns:a16="http://schemas.microsoft.com/office/drawing/2014/main" id="{64509930-9DFB-420E-8F32-960E50399825}"/>
              </a:ext>
            </a:extLst>
          </p:cNvPr>
          <p:cNvSpPr/>
          <p:nvPr/>
        </p:nvSpPr>
        <p:spPr>
          <a:xfrm>
            <a:off x="1571711" y="258777"/>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 name="圆角矩形 43">
            <a:extLst>
              <a:ext uri="{FF2B5EF4-FFF2-40B4-BE49-F238E27FC236}">
                <a16:creationId xmlns:a16="http://schemas.microsoft.com/office/drawing/2014/main" id="{7D086454-5B10-4064-9B8F-531209592F7E}"/>
              </a:ext>
            </a:extLst>
          </p:cNvPr>
          <p:cNvSpPr/>
          <p:nvPr/>
        </p:nvSpPr>
        <p:spPr>
          <a:xfrm rot="10800000" flipV="1">
            <a:off x="185084" y="242948"/>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20204" pitchFamily="34" charset="0"/>
                <a:ea typeface="宋体" panose="02010600030101010101" pitchFamily="2" charset="-122"/>
                <a:cs typeface="Arial" panose="020B0604020202020204" pitchFamily="34" charset="0"/>
              </a:rPr>
              <a:t>9.4.2</a:t>
            </a:r>
            <a:endParaRPr lang="zh-CN" altLang="en-US" sz="3200" b="1" dirty="0">
              <a:latin typeface="Arial" panose="020B0604020202020204" pitchFamily="34" charset="0"/>
              <a:ea typeface="宋体" panose="02010600030101010101" pitchFamily="2" charset="-122"/>
              <a:cs typeface="Arial" panose="020B0604020202020204" pitchFamily="34" charset="0"/>
            </a:endParaRPr>
          </a:p>
        </p:txBody>
      </p:sp>
      <p:sp>
        <p:nvSpPr>
          <p:cNvPr id="40" name="矩形 39">
            <a:extLst>
              <a:ext uri="{FF2B5EF4-FFF2-40B4-BE49-F238E27FC236}">
                <a16:creationId xmlns:a16="http://schemas.microsoft.com/office/drawing/2014/main" id="{2A2F604C-DA27-459E-8419-ED777356D653}"/>
              </a:ext>
            </a:extLst>
          </p:cNvPr>
          <p:cNvSpPr/>
          <p:nvPr/>
        </p:nvSpPr>
        <p:spPr>
          <a:xfrm>
            <a:off x="1890442" y="240301"/>
            <a:ext cx="5873715" cy="615549"/>
          </a:xfrm>
          <a:prstGeom prst="rect">
            <a:avLst/>
          </a:prstGeom>
        </p:spPr>
        <p:txBody>
          <a:bodyPr wrap="none" lIns="91436" tIns="45718" rIns="91436" bIns="45718">
            <a:spAutoFit/>
          </a:bodyPr>
          <a:lstStyle/>
          <a:p>
            <a:pPr algn="ctr"/>
            <a:r>
              <a:rPr lang="zh-CN" altLang="en-US" sz="3400" b="1" dirty="0">
                <a:solidFill>
                  <a:schemeClr val="bg1"/>
                </a:solidFill>
                <a:latin typeface="宋体" panose="02010600030101010101" pitchFamily="2" charset="-122"/>
                <a:ea typeface="宋体" panose="02010600030101010101" pitchFamily="2" charset="-122"/>
              </a:rPr>
              <a:t>物位、流量的测量和无损探伤</a:t>
            </a:r>
            <a:endParaRPr lang="en-US" altLang="zh-CN" sz="3400" b="1" dirty="0">
              <a:solidFill>
                <a:schemeClr val="bg1"/>
              </a:solidFill>
              <a:latin typeface="宋体" panose="02010600030101010101" pitchFamily="2" charset="-122"/>
              <a:ea typeface="宋体" panose="02010600030101010101" pitchFamily="2" charset="-122"/>
            </a:endParaRPr>
          </a:p>
        </p:txBody>
      </p:sp>
      <p:sp>
        <p:nvSpPr>
          <p:cNvPr id="5" name="矩形 4"/>
          <p:cNvSpPr/>
          <p:nvPr/>
        </p:nvSpPr>
        <p:spPr>
          <a:xfrm>
            <a:off x="185084" y="1305381"/>
            <a:ext cx="2813591" cy="461665"/>
          </a:xfrm>
          <a:prstGeom prst="rect">
            <a:avLst/>
          </a:prstGeom>
          <a:solidFill>
            <a:srgbClr val="92D050"/>
          </a:solidFill>
        </p:spPr>
        <p:txBody>
          <a:bodyPr wrap="none">
            <a:spAutoFit/>
          </a:bodyPr>
          <a:lstStyle/>
          <a:p>
            <a:pPr>
              <a:spcBef>
                <a:spcPts val="624"/>
              </a:spcBef>
            </a:pPr>
            <a:r>
              <a:rPr lang="en-US" altLang="zh-CN" sz="2400" b="1" dirty="0">
                <a:latin typeface="Times New Roman" panose="02020603050405020304" pitchFamily="18" charset="0"/>
                <a:ea typeface="宋体" panose="02010600030101010101" pitchFamily="2" charset="-122"/>
                <a:cs typeface="Times New Roman" panose="02020603050405020304" pitchFamily="18" charset="0"/>
              </a:rPr>
              <a:t>2</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、超声波测量流量</a:t>
            </a:r>
          </a:p>
        </p:txBody>
      </p:sp>
      <p:sp>
        <p:nvSpPr>
          <p:cNvPr id="2" name="Slide Number Placeholder 1">
            <a:extLst>
              <a:ext uri="{FF2B5EF4-FFF2-40B4-BE49-F238E27FC236}">
                <a16:creationId xmlns:a16="http://schemas.microsoft.com/office/drawing/2014/main" id="{954E7C7E-5DA2-43C7-B5A7-07F3D05F5658}"/>
              </a:ext>
            </a:extLst>
          </p:cNvPr>
          <p:cNvSpPr>
            <a:spLocks noGrp="1"/>
          </p:cNvSpPr>
          <p:nvPr>
            <p:ph type="sldNum" sz="quarter" idx="12"/>
          </p:nvPr>
        </p:nvSpPr>
        <p:spPr/>
        <p:txBody>
          <a:bodyPr/>
          <a:lstStyle/>
          <a:p>
            <a:fld id="{B53602B4-F12B-41CD-B648-531F86B2CC91}" type="slidenum">
              <a:rPr lang="zh-CN" altLang="en-US" smtClean="0"/>
              <a:t>46</a:t>
            </a:fld>
            <a:endParaRPr lang="zh-CN" altLang="en-US"/>
          </a:p>
        </p:txBody>
      </p:sp>
      <p:sp>
        <p:nvSpPr>
          <p:cNvPr id="12" name="文本框 2">
            <a:extLst>
              <a:ext uri="{FF2B5EF4-FFF2-40B4-BE49-F238E27FC236}">
                <a16:creationId xmlns:a16="http://schemas.microsoft.com/office/drawing/2014/main" id="{1ABDD35B-35BB-4C69-A01F-56BC4DBF3BA3}"/>
              </a:ext>
            </a:extLst>
          </p:cNvPr>
          <p:cNvSpPr txBox="1"/>
          <p:nvPr/>
        </p:nvSpPr>
        <p:spPr>
          <a:xfrm>
            <a:off x="115853" y="4265966"/>
            <a:ext cx="5068713" cy="1822739"/>
          </a:xfrm>
          <a:prstGeom prst="rect">
            <a:avLst/>
          </a:prstGeom>
          <a:noFill/>
        </p:spPr>
        <p:txBody>
          <a:bodyPr wrap="square" lIns="91436" tIns="45718" rIns="91436" bIns="45718" rtlCol="0">
            <a:spAutoFit/>
          </a:bodyPr>
          <a:lstStyle>
            <a:defPPr>
              <a:defRPr lang="zh-CN"/>
            </a:defPPr>
            <a:lvl1pPr marL="342900" indent="-342900">
              <a:lnSpc>
                <a:spcPct val="120000"/>
              </a:lnSpc>
              <a:buFont typeface="Arial" panose="020B0604020202020204" pitchFamily="34" charset="0"/>
              <a:buChar char="•"/>
              <a:defRPr sz="2400" b="1">
                <a:latin typeface="Times New Roman" panose="02020603050405020304" pitchFamily="18" charset="0"/>
                <a:ea typeface="宋体" panose="02010600030101010101" pitchFamily="2" charset="-122"/>
                <a:cs typeface="Times New Roman" panose="02020603050405020304" pitchFamily="18" charset="0"/>
              </a:defRPr>
            </a:lvl1pPr>
          </a:lstStyle>
          <a:p>
            <a:r>
              <a:rPr lang="zh-CN" altLang="en-US"/>
              <a:t>当</a:t>
            </a:r>
            <a:r>
              <a:rPr lang="en-US" altLang="zh-CN"/>
              <a:t>B</a:t>
            </a:r>
            <a:r>
              <a:rPr lang="zh-CN" altLang="en-US" dirty="0"/>
              <a:t>为发射换能</a:t>
            </a:r>
            <a:r>
              <a:rPr lang="zh-CN" altLang="en-US"/>
              <a:t>器、</a:t>
            </a:r>
            <a:r>
              <a:rPr lang="en-US" altLang="zh-CN"/>
              <a:t>A</a:t>
            </a:r>
            <a:r>
              <a:rPr lang="zh-CN" altLang="en-US" dirty="0"/>
              <a:t>为接收换</a:t>
            </a:r>
            <a:r>
              <a:rPr lang="zh-CN" altLang="en-US"/>
              <a:t>能器</a:t>
            </a:r>
            <a:r>
              <a:rPr lang="zh-CN" altLang="en-US" dirty="0"/>
              <a:t>时，超</a:t>
            </a:r>
            <a:r>
              <a:rPr lang="zh-CN" altLang="en-US"/>
              <a:t>声波</a:t>
            </a:r>
            <a:r>
              <a:rPr lang="zh-CN" altLang="en-US" dirty="0"/>
              <a:t>为逆流</a:t>
            </a:r>
            <a:r>
              <a:rPr lang="zh-CN" altLang="en-US"/>
              <a:t>方向</a:t>
            </a:r>
            <a:r>
              <a:rPr lang="zh-CN" altLang="en-US" dirty="0"/>
              <a:t>传播，传播速</a:t>
            </a:r>
            <a:r>
              <a:rPr lang="zh-CN" altLang="en-US"/>
              <a:t>度为  </a:t>
            </a:r>
            <a:r>
              <a:rPr lang="en-US" altLang="zh-CN" b="0">
                <a:solidFill>
                  <a:srgbClr val="3333CC"/>
                </a:solidFill>
              </a:rPr>
              <a:t>c-vcosθ</a:t>
            </a:r>
            <a:r>
              <a:rPr lang="zh-CN" altLang="en-US"/>
              <a:t>，</a:t>
            </a:r>
            <a:endParaRPr lang="zh-CN" altLang="en-US" dirty="0"/>
          </a:p>
          <a:p>
            <a:r>
              <a:rPr lang="zh-CN" altLang="en-US" dirty="0"/>
              <a:t>所以逆流传播</a:t>
            </a:r>
            <a:r>
              <a:rPr lang="zh-CN" altLang="en-US"/>
              <a:t>时间</a:t>
            </a:r>
            <a:r>
              <a:rPr lang="en-US" altLang="zh-CN"/>
              <a:t>t2</a:t>
            </a:r>
            <a:r>
              <a:rPr lang="zh-CN" altLang="en-US"/>
              <a:t>为</a:t>
            </a:r>
            <a:endParaRPr lang="en-US" altLang="zh-CN" dirty="0"/>
          </a:p>
        </p:txBody>
      </p:sp>
      <p:graphicFrame>
        <p:nvGraphicFramePr>
          <p:cNvPr id="13" name="对象 19">
            <a:extLst>
              <a:ext uri="{FF2B5EF4-FFF2-40B4-BE49-F238E27FC236}">
                <a16:creationId xmlns:a16="http://schemas.microsoft.com/office/drawing/2014/main" id="{8C648959-8C72-4239-AB8C-60A666387859}"/>
              </a:ext>
            </a:extLst>
          </p:cNvPr>
          <p:cNvGraphicFramePr>
            <a:graphicFrameLocks noChangeAspect="1"/>
          </p:cNvGraphicFramePr>
          <p:nvPr>
            <p:extLst>
              <p:ext uri="{D42A27DB-BD31-4B8C-83A1-F6EECF244321}">
                <p14:modId xmlns:p14="http://schemas.microsoft.com/office/powerpoint/2010/main" val="1530066692"/>
              </p:ext>
            </p:extLst>
          </p:nvPr>
        </p:nvGraphicFramePr>
        <p:xfrm>
          <a:off x="3611996" y="5456510"/>
          <a:ext cx="1572570" cy="743567"/>
        </p:xfrm>
        <a:graphic>
          <a:graphicData uri="http://schemas.openxmlformats.org/presentationml/2006/ole">
            <mc:AlternateContent xmlns:mc="http://schemas.openxmlformats.org/markup-compatibility/2006">
              <mc:Choice xmlns:v="urn:schemas-microsoft-com:vml" Requires="v">
                <p:oleObj spid="_x0000_s24606" name="Equation" r:id="rId7" imgW="685800" imgH="317160" progId="Equation.DSMT4">
                  <p:embed/>
                </p:oleObj>
              </mc:Choice>
              <mc:Fallback>
                <p:oleObj name="Equation" r:id="rId7" imgW="685800" imgH="317160" progId="Equation.DSMT4">
                  <p:embed/>
                  <p:pic>
                    <p:nvPicPr>
                      <p:cNvPr id="20" name="对象 19"/>
                      <p:cNvPicPr/>
                      <p:nvPr/>
                    </p:nvPicPr>
                    <p:blipFill>
                      <a:blip r:embed="rId8"/>
                      <a:stretch>
                        <a:fillRect/>
                      </a:stretch>
                    </p:blipFill>
                    <p:spPr>
                      <a:xfrm>
                        <a:off x="3611996" y="5456510"/>
                        <a:ext cx="1572570" cy="743567"/>
                      </a:xfrm>
                      <a:prstGeom prst="rect">
                        <a:avLst/>
                      </a:prstGeom>
                      <a:solidFill>
                        <a:schemeClr val="accent2">
                          <a:lumMod val="40000"/>
                          <a:lumOff val="60000"/>
                        </a:schemeClr>
                      </a:solidFill>
                    </p:spPr>
                  </p:pic>
                </p:oleObj>
              </mc:Fallback>
            </mc:AlternateContent>
          </a:graphicData>
        </a:graphic>
      </p:graphicFrame>
      <p:graphicFrame>
        <p:nvGraphicFramePr>
          <p:cNvPr id="14" name="对象 4">
            <a:extLst>
              <a:ext uri="{FF2B5EF4-FFF2-40B4-BE49-F238E27FC236}">
                <a16:creationId xmlns:a16="http://schemas.microsoft.com/office/drawing/2014/main" id="{A3F16B7C-D381-4EBB-9971-2845F9A69BCD}"/>
              </a:ext>
            </a:extLst>
          </p:cNvPr>
          <p:cNvGraphicFramePr>
            <a:graphicFrameLocks noChangeAspect="1"/>
          </p:cNvGraphicFramePr>
          <p:nvPr>
            <p:extLst>
              <p:ext uri="{D42A27DB-BD31-4B8C-83A1-F6EECF244321}">
                <p14:modId xmlns:p14="http://schemas.microsoft.com/office/powerpoint/2010/main" val="3825308810"/>
              </p:ext>
            </p:extLst>
          </p:nvPr>
        </p:nvGraphicFramePr>
        <p:xfrm>
          <a:off x="5565775" y="3995677"/>
          <a:ext cx="3578225" cy="858838"/>
        </p:xfrm>
        <a:graphic>
          <a:graphicData uri="http://schemas.openxmlformats.org/presentationml/2006/ole">
            <mc:AlternateContent xmlns:mc="http://schemas.openxmlformats.org/markup-compatibility/2006">
              <mc:Choice xmlns:v="urn:schemas-microsoft-com:vml" Requires="v">
                <p:oleObj spid="_x0000_s24607" name="Equation" r:id="rId9" imgW="1828800" imgH="495000" progId="Equation.DSMT4">
                  <p:embed/>
                </p:oleObj>
              </mc:Choice>
              <mc:Fallback>
                <p:oleObj name="Equation" r:id="rId9" imgW="1828800" imgH="495000" progId="Equation.DSMT4">
                  <p:embed/>
                  <p:pic>
                    <p:nvPicPr>
                      <p:cNvPr id="5" name="对象 4"/>
                      <p:cNvPicPr/>
                      <p:nvPr/>
                    </p:nvPicPr>
                    <p:blipFill>
                      <a:blip r:embed="rId10"/>
                      <a:stretch>
                        <a:fillRect/>
                      </a:stretch>
                    </p:blipFill>
                    <p:spPr>
                      <a:xfrm>
                        <a:off x="5565775" y="3995677"/>
                        <a:ext cx="3578225" cy="858838"/>
                      </a:xfrm>
                      <a:prstGeom prst="rect">
                        <a:avLst/>
                      </a:prstGeom>
                    </p:spPr>
                  </p:pic>
                </p:oleObj>
              </mc:Fallback>
            </mc:AlternateContent>
          </a:graphicData>
        </a:graphic>
      </p:graphicFrame>
      <p:graphicFrame>
        <p:nvGraphicFramePr>
          <p:cNvPr id="15" name="对象 11">
            <a:extLst>
              <a:ext uri="{FF2B5EF4-FFF2-40B4-BE49-F238E27FC236}">
                <a16:creationId xmlns:a16="http://schemas.microsoft.com/office/drawing/2014/main" id="{110D439C-CAA0-410E-BCAE-193F2AD4815F}"/>
              </a:ext>
            </a:extLst>
          </p:cNvPr>
          <p:cNvGraphicFramePr>
            <a:graphicFrameLocks noChangeAspect="1"/>
          </p:cNvGraphicFramePr>
          <p:nvPr>
            <p:extLst>
              <p:ext uri="{D42A27DB-BD31-4B8C-83A1-F6EECF244321}">
                <p14:modId xmlns:p14="http://schemas.microsoft.com/office/powerpoint/2010/main" val="2705684505"/>
              </p:ext>
            </p:extLst>
          </p:nvPr>
        </p:nvGraphicFramePr>
        <p:xfrm>
          <a:off x="6010275" y="5685355"/>
          <a:ext cx="1823607" cy="767599"/>
        </p:xfrm>
        <a:graphic>
          <a:graphicData uri="http://schemas.openxmlformats.org/presentationml/2006/ole">
            <mc:AlternateContent xmlns:mc="http://schemas.openxmlformats.org/markup-compatibility/2006">
              <mc:Choice xmlns:v="urn:schemas-microsoft-com:vml" Requires="v">
                <p:oleObj spid="_x0000_s24608" name="Equation" r:id="rId11" imgW="685800" imgH="317160" progId="Equation.DSMT4">
                  <p:embed/>
                </p:oleObj>
              </mc:Choice>
              <mc:Fallback>
                <p:oleObj name="Equation" r:id="rId11" imgW="685800" imgH="317160" progId="Equation.DSMT4">
                  <p:embed/>
                  <p:pic>
                    <p:nvPicPr>
                      <p:cNvPr id="12" name="对象 11"/>
                      <p:cNvPicPr/>
                      <p:nvPr/>
                    </p:nvPicPr>
                    <p:blipFill>
                      <a:blip r:embed="rId12"/>
                      <a:stretch>
                        <a:fillRect/>
                      </a:stretch>
                    </p:blipFill>
                    <p:spPr>
                      <a:xfrm>
                        <a:off x="6010275" y="5685355"/>
                        <a:ext cx="1823607" cy="767599"/>
                      </a:xfrm>
                      <a:prstGeom prst="rect">
                        <a:avLst/>
                      </a:prstGeom>
                    </p:spPr>
                  </p:pic>
                </p:oleObj>
              </mc:Fallback>
            </mc:AlternateContent>
          </a:graphicData>
        </a:graphic>
      </p:graphicFrame>
      <p:sp>
        <p:nvSpPr>
          <p:cNvPr id="16" name="矩形 8">
            <a:extLst>
              <a:ext uri="{FF2B5EF4-FFF2-40B4-BE49-F238E27FC236}">
                <a16:creationId xmlns:a16="http://schemas.microsoft.com/office/drawing/2014/main" id="{14337D7E-29AC-491E-9B14-649F1E0F3FC2}"/>
              </a:ext>
            </a:extLst>
          </p:cNvPr>
          <p:cNvSpPr/>
          <p:nvPr/>
        </p:nvSpPr>
        <p:spPr>
          <a:xfrm>
            <a:off x="5491529" y="3102239"/>
            <a:ext cx="3730738" cy="830997"/>
          </a:xfrm>
          <a:prstGeom prst="rect">
            <a:avLst/>
          </a:prstGeom>
        </p:spPr>
        <p:txBody>
          <a:bodyPr wrap="square">
            <a:spAutoFit/>
          </a:bodyPr>
          <a:lstStyle/>
          <a:p>
            <a:pPr>
              <a:spcBef>
                <a:spcPts val="624"/>
              </a:spcBef>
            </a:pP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因此超声波顺、逆流传播时间差为</a:t>
            </a:r>
            <a:endParaRPr lang="en-US" altLang="zh-CN" sz="2400" b="1"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7" name="矩形 9">
            <a:extLst>
              <a:ext uri="{FF2B5EF4-FFF2-40B4-BE49-F238E27FC236}">
                <a16:creationId xmlns:a16="http://schemas.microsoft.com/office/drawing/2014/main" id="{3120B0A8-B494-4516-B981-D22280982E5A}"/>
              </a:ext>
            </a:extLst>
          </p:cNvPr>
          <p:cNvSpPr/>
          <p:nvPr/>
        </p:nvSpPr>
        <p:spPr>
          <a:xfrm>
            <a:off x="5399041" y="5204239"/>
            <a:ext cx="3281668" cy="461665"/>
          </a:xfrm>
          <a:prstGeom prst="rect">
            <a:avLst/>
          </a:prstGeom>
        </p:spPr>
        <p:txBody>
          <a:bodyPr wrap="none">
            <a:spAutoFit/>
          </a:bodyPr>
          <a:lstStyle/>
          <a:p>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一般来说</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rPr>
              <a:t>c</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&gt;&gt;</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rPr>
              <a:t>v</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，因此有</a:t>
            </a:r>
            <a:endParaRPr lang="zh-CN" altLang="en-US" sz="2400" dirty="0"/>
          </a:p>
        </p:txBody>
      </p:sp>
    </p:spTree>
    <p:extLst>
      <p:ext uri="{BB962C8B-B14F-4D97-AF65-F5344CB8AC3E}">
        <p14:creationId xmlns:p14="http://schemas.microsoft.com/office/powerpoint/2010/main" val="52852475"/>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6" grpId="0"/>
      <p:bldP spid="17"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图片 2">
            <a:extLst>
              <a:ext uri="{FF2B5EF4-FFF2-40B4-BE49-F238E27FC236}">
                <a16:creationId xmlns:a16="http://schemas.microsoft.com/office/drawing/2014/main" id="{205DE11A-F425-4D61-8925-998D63269810}"/>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rot="16200000">
            <a:off x="6156343" y="541092"/>
            <a:ext cx="2018681" cy="29787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文本框 2">
            <a:extLst>
              <a:ext uri="{FF2B5EF4-FFF2-40B4-BE49-F238E27FC236}">
                <a16:creationId xmlns:a16="http://schemas.microsoft.com/office/drawing/2014/main" id="{49142242-5E57-4D15-A0DD-17CB598A023D}"/>
              </a:ext>
            </a:extLst>
          </p:cNvPr>
          <p:cNvSpPr txBox="1"/>
          <p:nvPr/>
        </p:nvSpPr>
        <p:spPr>
          <a:xfrm>
            <a:off x="323937" y="3497749"/>
            <a:ext cx="5352382" cy="1130242"/>
          </a:xfrm>
          <a:prstGeom prst="rect">
            <a:avLst/>
          </a:prstGeom>
          <a:noFill/>
        </p:spPr>
        <p:txBody>
          <a:bodyPr wrap="square" lIns="91436" tIns="45718" rIns="91436" bIns="45718" rtlCol="0">
            <a:spAutoFit/>
          </a:bodyPr>
          <a:lstStyle/>
          <a:p>
            <a:pPr>
              <a:lnSpc>
                <a:spcPct val="150000"/>
              </a:lnSpc>
              <a:spcBef>
                <a:spcPts val="624"/>
              </a:spcBef>
            </a:pPr>
            <a:r>
              <a:rPr lang="zh-CN" altLang="en-US" sz="2400" b="1" dirty="0">
                <a:latin typeface="宋体" panose="02010600030101010101" pitchFamily="2" charset="-122"/>
                <a:ea typeface="宋体" panose="02010600030101010101" pitchFamily="2" charset="-122"/>
                <a:cs typeface="Arial" panose="020B0604020202020204" pitchFamily="34" charset="0"/>
              </a:rPr>
              <a:t>测得流体</a:t>
            </a:r>
            <a:r>
              <a:rPr lang="zh-CN" altLang="en-US" sz="2400" b="1" dirty="0">
                <a:solidFill>
                  <a:srgbClr val="3333CC"/>
                </a:solidFill>
                <a:latin typeface="宋体" panose="02010600030101010101" pitchFamily="2" charset="-122"/>
                <a:ea typeface="宋体" panose="02010600030101010101" pitchFamily="2" charset="-122"/>
                <a:cs typeface="Arial" panose="020B0604020202020204" pitchFamily="34" charset="0"/>
              </a:rPr>
              <a:t>流速</a:t>
            </a:r>
            <a:r>
              <a:rPr lang="en-US" altLang="zh-CN" sz="2400" i="1" dirty="0">
                <a:solidFill>
                  <a:srgbClr val="3333CC"/>
                </a:solidFill>
                <a:latin typeface="Times New Roman" panose="02020603050405020304" pitchFamily="18" charset="0"/>
                <a:ea typeface="宋体" panose="02010600030101010101" pitchFamily="2" charset="-122"/>
                <a:cs typeface="Times New Roman" panose="02020603050405020304" pitchFamily="18" charset="0"/>
              </a:rPr>
              <a:t>v</a:t>
            </a:r>
            <a:r>
              <a:rPr lang="zh-CN" altLang="en-US" sz="2400" b="1" dirty="0">
                <a:latin typeface="宋体" panose="02010600030101010101" pitchFamily="2" charset="-122"/>
                <a:ea typeface="宋体" panose="02010600030101010101" pitchFamily="2" charset="-122"/>
                <a:cs typeface="Arial" panose="020B0604020202020204" pitchFamily="34" charset="0"/>
              </a:rPr>
              <a:t>后</a:t>
            </a:r>
            <a:r>
              <a:rPr lang="en-US" altLang="zh-CN" sz="2400" b="1" dirty="0">
                <a:latin typeface="宋体" panose="02010600030101010101" pitchFamily="2" charset="-122"/>
                <a:ea typeface="宋体" panose="02010600030101010101" pitchFamily="2" charset="-122"/>
                <a:cs typeface="Arial" panose="020B0604020202020204" pitchFamily="34" charset="0"/>
              </a:rPr>
              <a:t>,</a:t>
            </a:r>
            <a:r>
              <a:rPr lang="zh-CN" altLang="en-US" sz="2400" b="1" dirty="0">
                <a:latin typeface="宋体" panose="02010600030101010101" pitchFamily="2" charset="-122"/>
                <a:ea typeface="宋体" panose="02010600030101010101" pitchFamily="2" charset="-122"/>
                <a:cs typeface="Arial" panose="020B0604020202020204" pitchFamily="34" charset="0"/>
              </a:rPr>
              <a:t>再根据管道流体的</a:t>
            </a:r>
            <a:r>
              <a:rPr lang="zh-CN" altLang="en-US" sz="2400" b="1" dirty="0">
                <a:solidFill>
                  <a:srgbClr val="3333CC"/>
                </a:solidFill>
                <a:latin typeface="宋体" panose="02010600030101010101" pitchFamily="2" charset="-122"/>
                <a:ea typeface="宋体" panose="02010600030101010101" pitchFamily="2" charset="-122"/>
                <a:cs typeface="Arial" panose="020B0604020202020204" pitchFamily="34" charset="0"/>
              </a:rPr>
              <a:t>截面积</a:t>
            </a:r>
            <a:r>
              <a:rPr lang="en-US" altLang="zh-CN" sz="2400" i="1" dirty="0">
                <a:solidFill>
                  <a:srgbClr val="3333CC"/>
                </a:solidFill>
                <a:latin typeface="Times New Roman" panose="02020603050405020304" pitchFamily="18" charset="0"/>
                <a:ea typeface="宋体" panose="02010600030101010101" pitchFamily="2" charset="-122"/>
                <a:cs typeface="Times New Roman" panose="02020603050405020304" pitchFamily="18" charset="0"/>
              </a:rPr>
              <a:t>S</a:t>
            </a:r>
            <a:r>
              <a:rPr lang="en-US" altLang="zh-CN" sz="2400" b="1" dirty="0">
                <a:latin typeface="宋体" panose="02010600030101010101" pitchFamily="2" charset="-122"/>
                <a:ea typeface="宋体" panose="02010600030101010101" pitchFamily="2" charset="-122"/>
                <a:cs typeface="Arial" panose="020B0604020202020204" pitchFamily="34" charset="0"/>
              </a:rPr>
              <a:t>,</a:t>
            </a:r>
            <a:r>
              <a:rPr lang="zh-CN" altLang="en-US" sz="2400" b="1" dirty="0">
                <a:latin typeface="宋体" panose="02010600030101010101" pitchFamily="2" charset="-122"/>
                <a:ea typeface="宋体" panose="02010600030101010101" pitchFamily="2" charset="-122"/>
                <a:cs typeface="Arial" panose="020B0604020202020204" pitchFamily="34" charset="0"/>
              </a:rPr>
              <a:t>即可求得被测流体的流量为</a:t>
            </a:r>
            <a:endParaRPr lang="en-US" altLang="zh-CN" sz="2400" b="1" dirty="0">
              <a:latin typeface="宋体" panose="02010600030101010101" pitchFamily="2" charset="-122"/>
              <a:ea typeface="宋体" panose="02010600030101010101" pitchFamily="2" charset="-122"/>
              <a:cs typeface="Arial" panose="020B0604020202020204" pitchFamily="34" charset="0"/>
            </a:endParaRPr>
          </a:p>
        </p:txBody>
      </p:sp>
      <p:graphicFrame>
        <p:nvGraphicFramePr>
          <p:cNvPr id="20" name="对象 19"/>
          <p:cNvGraphicFramePr>
            <a:graphicFrameLocks noChangeAspect="1"/>
          </p:cNvGraphicFramePr>
          <p:nvPr>
            <p:extLst>
              <p:ext uri="{D42A27DB-BD31-4B8C-83A1-F6EECF244321}">
                <p14:modId xmlns:p14="http://schemas.microsoft.com/office/powerpoint/2010/main" val="2910482292"/>
              </p:ext>
            </p:extLst>
          </p:nvPr>
        </p:nvGraphicFramePr>
        <p:xfrm>
          <a:off x="830368" y="1876987"/>
          <a:ext cx="2288404" cy="988405"/>
        </p:xfrm>
        <a:graphic>
          <a:graphicData uri="http://schemas.openxmlformats.org/presentationml/2006/ole">
            <mc:AlternateContent xmlns:mc="http://schemas.openxmlformats.org/markup-compatibility/2006">
              <mc:Choice xmlns:v="urn:schemas-microsoft-com:vml" Requires="v">
                <p:oleObj spid="_x0000_s20622" name="Equation" r:id="rId5" imgW="723600" imgH="342720" progId="Equation.DSMT4">
                  <p:embed/>
                </p:oleObj>
              </mc:Choice>
              <mc:Fallback>
                <p:oleObj name="Equation" r:id="rId5" imgW="723600" imgH="342720" progId="Equation.DSMT4">
                  <p:embed/>
                  <p:pic>
                    <p:nvPicPr>
                      <p:cNvPr id="20" name="对象 19"/>
                      <p:cNvPicPr/>
                      <p:nvPr/>
                    </p:nvPicPr>
                    <p:blipFill>
                      <a:blip r:embed="rId6"/>
                      <a:stretch>
                        <a:fillRect/>
                      </a:stretch>
                    </p:blipFill>
                    <p:spPr>
                      <a:xfrm>
                        <a:off x="830368" y="1876987"/>
                        <a:ext cx="2288404" cy="988405"/>
                      </a:xfrm>
                      <a:prstGeom prst="rect">
                        <a:avLst/>
                      </a:prstGeom>
                    </p:spPr>
                  </p:pic>
                </p:oleObj>
              </mc:Fallback>
            </mc:AlternateContent>
          </a:graphicData>
        </a:graphic>
      </p:graphicFrame>
      <p:sp>
        <p:nvSpPr>
          <p:cNvPr id="29" name="矩形 28">
            <a:extLst>
              <a:ext uri="{FF2B5EF4-FFF2-40B4-BE49-F238E27FC236}">
                <a16:creationId xmlns:a16="http://schemas.microsoft.com/office/drawing/2014/main" id="{64509930-9DFB-420E-8F32-960E50399825}"/>
              </a:ext>
            </a:extLst>
          </p:cNvPr>
          <p:cNvSpPr/>
          <p:nvPr/>
        </p:nvSpPr>
        <p:spPr>
          <a:xfrm>
            <a:off x="1571711" y="258777"/>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0" name="圆角矩形 43">
            <a:extLst>
              <a:ext uri="{FF2B5EF4-FFF2-40B4-BE49-F238E27FC236}">
                <a16:creationId xmlns:a16="http://schemas.microsoft.com/office/drawing/2014/main" id="{7D086454-5B10-4064-9B8F-531209592F7E}"/>
              </a:ext>
            </a:extLst>
          </p:cNvPr>
          <p:cNvSpPr/>
          <p:nvPr/>
        </p:nvSpPr>
        <p:spPr>
          <a:xfrm rot="10800000" flipV="1">
            <a:off x="185084" y="242948"/>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20204" pitchFamily="34" charset="0"/>
                <a:ea typeface="宋体" panose="02010600030101010101" pitchFamily="2" charset="-122"/>
                <a:cs typeface="Arial" panose="020B0604020202020204" pitchFamily="34" charset="0"/>
              </a:rPr>
              <a:t>9.4.2</a:t>
            </a:r>
            <a:endParaRPr lang="zh-CN" altLang="en-US" sz="3200" b="1" dirty="0">
              <a:latin typeface="Arial" panose="020B0604020202020204" pitchFamily="34" charset="0"/>
              <a:ea typeface="宋体" panose="02010600030101010101" pitchFamily="2" charset="-122"/>
              <a:cs typeface="Arial" panose="020B0604020202020204" pitchFamily="34" charset="0"/>
            </a:endParaRPr>
          </a:p>
        </p:txBody>
      </p:sp>
      <p:sp>
        <p:nvSpPr>
          <p:cNvPr id="41" name="矩形 40">
            <a:extLst>
              <a:ext uri="{FF2B5EF4-FFF2-40B4-BE49-F238E27FC236}">
                <a16:creationId xmlns:a16="http://schemas.microsoft.com/office/drawing/2014/main" id="{2A2F604C-DA27-459E-8419-ED777356D653}"/>
              </a:ext>
            </a:extLst>
          </p:cNvPr>
          <p:cNvSpPr/>
          <p:nvPr/>
        </p:nvSpPr>
        <p:spPr>
          <a:xfrm>
            <a:off x="1890442" y="240301"/>
            <a:ext cx="5873715" cy="615549"/>
          </a:xfrm>
          <a:prstGeom prst="rect">
            <a:avLst/>
          </a:prstGeom>
        </p:spPr>
        <p:txBody>
          <a:bodyPr wrap="none" lIns="91436" tIns="45718" rIns="91436" bIns="45718">
            <a:spAutoFit/>
          </a:bodyPr>
          <a:lstStyle/>
          <a:p>
            <a:pPr algn="ctr"/>
            <a:r>
              <a:rPr lang="zh-CN" altLang="en-US" sz="3400" b="1" dirty="0">
                <a:solidFill>
                  <a:schemeClr val="bg1"/>
                </a:solidFill>
                <a:latin typeface="宋体" panose="02010600030101010101" pitchFamily="2" charset="-122"/>
                <a:ea typeface="宋体" panose="02010600030101010101" pitchFamily="2" charset="-122"/>
              </a:rPr>
              <a:t>物位、流量的测量和无损探伤</a:t>
            </a:r>
            <a:endParaRPr lang="en-US" altLang="zh-CN" sz="3400" b="1" dirty="0">
              <a:solidFill>
                <a:schemeClr val="bg1"/>
              </a:solidFill>
              <a:latin typeface="宋体" panose="02010600030101010101" pitchFamily="2" charset="-122"/>
              <a:ea typeface="宋体" panose="02010600030101010101" pitchFamily="2" charset="-122"/>
            </a:endParaRPr>
          </a:p>
        </p:txBody>
      </p:sp>
      <p:sp>
        <p:nvSpPr>
          <p:cNvPr id="5" name="矩形 4"/>
          <p:cNvSpPr/>
          <p:nvPr/>
        </p:nvSpPr>
        <p:spPr>
          <a:xfrm>
            <a:off x="323937" y="1511595"/>
            <a:ext cx="3897221" cy="461665"/>
          </a:xfrm>
          <a:prstGeom prst="rect">
            <a:avLst/>
          </a:prstGeom>
        </p:spPr>
        <p:txBody>
          <a:bodyPr wrap="none">
            <a:spAutoFit/>
          </a:bodyPr>
          <a:lstStyle/>
          <a:p>
            <a:pPr>
              <a:spcBef>
                <a:spcPts val="624"/>
              </a:spcBef>
            </a:pPr>
            <a:r>
              <a:rPr lang="zh-CN" altLang="en-US" sz="2400" b="1" dirty="0">
                <a:latin typeface="宋体" panose="02010600030101010101" pitchFamily="2" charset="-122"/>
                <a:ea typeface="宋体" panose="02010600030101010101" pitchFamily="2" charset="-122"/>
                <a:cs typeface="Arial" panose="020B0604020202020204" pitchFamily="34" charset="0"/>
              </a:rPr>
              <a:t>因此被测流体的平均流速为</a:t>
            </a:r>
            <a:endParaRPr lang="en-US" altLang="zh-CN" sz="2400" b="1" dirty="0">
              <a:latin typeface="宋体" panose="02010600030101010101" pitchFamily="2" charset="-122"/>
              <a:ea typeface="宋体" panose="02010600030101010101" pitchFamily="2" charset="-122"/>
              <a:cs typeface="Arial" panose="020B0604020202020204" pitchFamily="34" charset="0"/>
            </a:endParaRPr>
          </a:p>
        </p:txBody>
      </p:sp>
      <mc:AlternateContent xmlns:mc="http://schemas.openxmlformats.org/markup-compatibility/2006" xmlns:a14="http://schemas.microsoft.com/office/drawing/2010/main">
        <mc:Choice Requires="a14">
          <p:sp>
            <p:nvSpPr>
              <p:cNvPr id="2" name="矩形 1"/>
              <p:cNvSpPr/>
              <p:nvPr/>
            </p:nvSpPr>
            <p:spPr>
              <a:xfrm>
                <a:off x="388451" y="5002931"/>
                <a:ext cx="5223353" cy="86632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400" i="1">
                          <a:latin typeface="Cambria Math" panose="02040503050406030204" pitchFamily="18" charset="0"/>
                        </a:rPr>
                        <m:t>𝑄</m:t>
                      </m:r>
                      <m:r>
                        <a:rPr lang="en-US" altLang="zh-CN" sz="2400">
                          <a:latin typeface="Cambria Math" panose="02040503050406030204" pitchFamily="18" charset="0"/>
                        </a:rPr>
                        <m:t>=</m:t>
                      </m:r>
                      <m:r>
                        <a:rPr lang="en-US" altLang="zh-CN" sz="2400" i="1">
                          <a:latin typeface="Cambria Math" panose="02040503050406030204" pitchFamily="18" charset="0"/>
                        </a:rPr>
                        <m:t>𝑆𝑣</m:t>
                      </m:r>
                      <m:r>
                        <a:rPr lang="en-US" altLang="zh-CN" sz="2400" i="1">
                          <a:latin typeface="Cambria Math" panose="02040503050406030204" pitchFamily="18" charset="0"/>
                        </a:rPr>
                        <m:t>=</m:t>
                      </m:r>
                      <m:f>
                        <m:fPr>
                          <m:ctrlPr>
                            <a:rPr lang="zh-CN" altLang="zh-CN" sz="2400" i="1">
                              <a:latin typeface="Cambria Math" panose="02040503050406030204" pitchFamily="18" charset="0"/>
                            </a:rPr>
                          </m:ctrlPr>
                        </m:fPr>
                        <m:num>
                          <m:r>
                            <a:rPr lang="en-US" altLang="zh-CN" sz="2400" i="1">
                              <a:latin typeface="Cambria Math" panose="02040503050406030204" pitchFamily="18" charset="0"/>
                            </a:rPr>
                            <m:t>𝜋</m:t>
                          </m:r>
                          <m:sSup>
                            <m:sSupPr>
                              <m:ctrlPr>
                                <a:rPr lang="zh-CN" altLang="zh-CN" sz="2400" i="1">
                                  <a:latin typeface="Cambria Math" panose="02040503050406030204" pitchFamily="18" charset="0"/>
                                </a:rPr>
                              </m:ctrlPr>
                            </m:sSupPr>
                            <m:e>
                              <m:r>
                                <a:rPr lang="en-US" altLang="zh-CN" sz="2400" i="1">
                                  <a:latin typeface="Cambria Math" panose="02040503050406030204" pitchFamily="18" charset="0"/>
                                </a:rPr>
                                <m:t>𝐷</m:t>
                              </m:r>
                            </m:e>
                            <m:sup>
                              <m:r>
                                <a:rPr lang="en-US" altLang="zh-CN" sz="2400" i="1">
                                  <a:latin typeface="Cambria Math" panose="02040503050406030204" pitchFamily="18" charset="0"/>
                                </a:rPr>
                                <m:t>2</m:t>
                              </m:r>
                            </m:sup>
                          </m:sSup>
                          <m:sSup>
                            <m:sSupPr>
                              <m:ctrlPr>
                                <a:rPr lang="zh-CN" altLang="zh-CN" sz="2400" i="1">
                                  <a:latin typeface="Cambria Math" panose="02040503050406030204" pitchFamily="18" charset="0"/>
                                </a:rPr>
                              </m:ctrlPr>
                            </m:sSupPr>
                            <m:e>
                              <m:r>
                                <a:rPr lang="en-US" altLang="zh-CN" sz="2400" i="1">
                                  <a:latin typeface="Cambria Math" panose="02040503050406030204" pitchFamily="18" charset="0"/>
                                </a:rPr>
                                <m:t>𝑐</m:t>
                              </m:r>
                            </m:e>
                            <m:sup>
                              <m:r>
                                <a:rPr lang="en-US" altLang="zh-CN" sz="2400" i="1">
                                  <a:latin typeface="Cambria Math" panose="02040503050406030204" pitchFamily="18" charset="0"/>
                                </a:rPr>
                                <m:t>2</m:t>
                              </m:r>
                            </m:sup>
                          </m:sSup>
                        </m:num>
                        <m:den>
                          <m:r>
                            <a:rPr lang="en-US" altLang="zh-CN" sz="2400" i="1">
                              <a:latin typeface="Cambria Math" panose="02040503050406030204" pitchFamily="18" charset="0"/>
                            </a:rPr>
                            <m:t>4×2</m:t>
                          </m:r>
                          <m:r>
                            <a:rPr lang="en-US" altLang="zh-CN" sz="2400" i="1">
                              <a:latin typeface="Cambria Math" panose="02040503050406030204" pitchFamily="18" charset="0"/>
                            </a:rPr>
                            <m:t>𝐿𝑐𝑜𝑠</m:t>
                          </m:r>
                          <m:r>
                            <a:rPr lang="en-US" altLang="zh-CN" sz="2400" i="1">
                              <a:latin typeface="Cambria Math" panose="02040503050406030204" pitchFamily="18" charset="0"/>
                            </a:rPr>
                            <m:t>𝜃</m:t>
                          </m:r>
                        </m:den>
                      </m:f>
                      <m:r>
                        <a:rPr lang="en-US" altLang="zh-CN" sz="2400" i="1">
                          <a:latin typeface="Cambria Math" panose="02040503050406030204" pitchFamily="18" charset="0"/>
                        </a:rPr>
                        <m:t>∆</m:t>
                      </m:r>
                      <m:r>
                        <a:rPr lang="en-US" altLang="zh-CN" sz="2400" i="1">
                          <a:latin typeface="Cambria Math" panose="02040503050406030204" pitchFamily="18" charset="0"/>
                        </a:rPr>
                        <m:t>𝑡</m:t>
                      </m:r>
                      <m:r>
                        <a:rPr lang="en-US" altLang="zh-CN" sz="2400" i="1">
                          <a:latin typeface="Cambria Math" panose="02040503050406030204" pitchFamily="18" charset="0"/>
                        </a:rPr>
                        <m:t>=</m:t>
                      </m:r>
                      <m:f>
                        <m:fPr>
                          <m:ctrlPr>
                            <a:rPr lang="zh-CN" altLang="zh-CN" sz="2400" i="1">
                              <a:latin typeface="Cambria Math" panose="02040503050406030204" pitchFamily="18" charset="0"/>
                            </a:rPr>
                          </m:ctrlPr>
                        </m:fPr>
                        <m:num>
                          <m:r>
                            <a:rPr lang="en-US" altLang="zh-CN" sz="2400" i="1">
                              <a:latin typeface="Cambria Math" panose="02040503050406030204" pitchFamily="18" charset="0"/>
                            </a:rPr>
                            <m:t>𝜋</m:t>
                          </m:r>
                          <m:sSup>
                            <m:sSupPr>
                              <m:ctrlPr>
                                <a:rPr lang="zh-CN" altLang="zh-CN" sz="2400" i="1">
                                  <a:latin typeface="Cambria Math" panose="02040503050406030204" pitchFamily="18" charset="0"/>
                                </a:rPr>
                              </m:ctrlPr>
                            </m:sSupPr>
                            <m:e>
                              <m:r>
                                <a:rPr lang="en-US" altLang="zh-CN" sz="2400" i="1">
                                  <a:latin typeface="Cambria Math" panose="02040503050406030204" pitchFamily="18" charset="0"/>
                                </a:rPr>
                                <m:t>𝐷</m:t>
                              </m:r>
                            </m:e>
                            <m:sup>
                              <m:r>
                                <a:rPr lang="en-US" altLang="zh-CN" sz="2400" i="1">
                                  <a:latin typeface="Cambria Math" panose="02040503050406030204" pitchFamily="18" charset="0"/>
                                </a:rPr>
                                <m:t>2</m:t>
                              </m:r>
                            </m:sup>
                          </m:sSup>
                          <m:sSup>
                            <m:sSupPr>
                              <m:ctrlPr>
                                <a:rPr lang="zh-CN" altLang="zh-CN" sz="2400" i="1">
                                  <a:latin typeface="Cambria Math" panose="02040503050406030204" pitchFamily="18" charset="0"/>
                                </a:rPr>
                              </m:ctrlPr>
                            </m:sSupPr>
                            <m:e>
                              <m:r>
                                <a:rPr lang="en-US" altLang="zh-CN" sz="2400" i="1">
                                  <a:latin typeface="Cambria Math" panose="02040503050406030204" pitchFamily="18" charset="0"/>
                                </a:rPr>
                                <m:t>𝑐</m:t>
                              </m:r>
                            </m:e>
                            <m:sup>
                              <m:r>
                                <a:rPr lang="en-US" altLang="zh-CN" sz="2400" i="1">
                                  <a:latin typeface="Cambria Math" panose="02040503050406030204" pitchFamily="18" charset="0"/>
                                </a:rPr>
                                <m:t>2</m:t>
                              </m:r>
                            </m:sup>
                          </m:sSup>
                        </m:num>
                        <m:den>
                          <m:r>
                            <a:rPr lang="en-US" altLang="zh-CN" sz="2400" i="1">
                              <a:latin typeface="Cambria Math" panose="02040503050406030204" pitchFamily="18" charset="0"/>
                            </a:rPr>
                            <m:t>8</m:t>
                          </m:r>
                          <m:r>
                            <a:rPr lang="en-US" altLang="zh-CN" sz="2400" i="1">
                              <a:latin typeface="Cambria Math" panose="02040503050406030204" pitchFamily="18" charset="0"/>
                            </a:rPr>
                            <m:t>𝐿𝑐𝑜𝑠</m:t>
                          </m:r>
                          <m:r>
                            <a:rPr lang="en-US" altLang="zh-CN" sz="2400" i="1">
                              <a:latin typeface="Cambria Math" panose="02040503050406030204" pitchFamily="18" charset="0"/>
                            </a:rPr>
                            <m:t>𝜃</m:t>
                          </m:r>
                        </m:den>
                      </m:f>
                      <m:r>
                        <a:rPr lang="en-US" altLang="zh-CN" sz="2400" i="1">
                          <a:latin typeface="Cambria Math" panose="02040503050406030204" pitchFamily="18" charset="0"/>
                        </a:rPr>
                        <m:t>∆</m:t>
                      </m:r>
                      <m:r>
                        <a:rPr lang="en-US" altLang="zh-CN" sz="2400" i="1">
                          <a:latin typeface="Cambria Math" panose="02040503050406030204" pitchFamily="18" charset="0"/>
                        </a:rPr>
                        <m:t>𝑡</m:t>
                      </m:r>
                    </m:oMath>
                  </m:oMathPara>
                </a14:m>
                <a:endParaRPr lang="zh-CN" altLang="zh-CN" sz="2400" dirty="0"/>
              </a:p>
            </p:txBody>
          </p:sp>
        </mc:Choice>
        <mc:Fallback xmlns="">
          <p:sp>
            <p:nvSpPr>
              <p:cNvPr id="2" name="矩形 1"/>
              <p:cNvSpPr>
                <a:spLocks noRot="1" noChangeAspect="1" noMove="1" noResize="1" noEditPoints="1" noAdjustHandles="1" noChangeArrowheads="1" noChangeShapeType="1" noTextEdit="1"/>
              </p:cNvSpPr>
              <p:nvPr/>
            </p:nvSpPr>
            <p:spPr>
              <a:xfrm>
                <a:off x="388451" y="5002931"/>
                <a:ext cx="5223353" cy="866327"/>
              </a:xfrm>
              <a:prstGeom prst="rect">
                <a:avLst/>
              </a:prstGeom>
              <a:blipFill>
                <a:blip r:embed="rId7"/>
                <a:stretch>
                  <a:fillRect/>
                </a:stretch>
              </a:blipFill>
            </p:spPr>
            <p:txBody>
              <a:bodyPr/>
              <a:lstStyle/>
              <a:p>
                <a:r>
                  <a:rPr lang="en-001">
                    <a:noFill/>
                  </a:rPr>
                  <a:t> </a:t>
                </a:r>
              </a:p>
            </p:txBody>
          </p:sp>
        </mc:Fallback>
      </mc:AlternateContent>
      <p:sp>
        <p:nvSpPr>
          <p:cNvPr id="4" name="Slide Number Placeholder 3">
            <a:extLst>
              <a:ext uri="{FF2B5EF4-FFF2-40B4-BE49-F238E27FC236}">
                <a16:creationId xmlns:a16="http://schemas.microsoft.com/office/drawing/2014/main" id="{8AB6C4BA-8E19-4BD2-B99F-6FBC62BBE1EC}"/>
              </a:ext>
            </a:extLst>
          </p:cNvPr>
          <p:cNvSpPr>
            <a:spLocks noGrp="1"/>
          </p:cNvSpPr>
          <p:nvPr>
            <p:ph type="sldNum" sz="quarter" idx="12"/>
          </p:nvPr>
        </p:nvSpPr>
        <p:spPr/>
        <p:txBody>
          <a:bodyPr/>
          <a:lstStyle/>
          <a:p>
            <a:fld id="{B53602B4-F12B-41CD-B648-531F86B2CC91}" type="slidenum">
              <a:rPr lang="zh-CN" altLang="en-US" smtClean="0"/>
              <a:t>47</a:t>
            </a:fld>
            <a:endParaRPr lang="zh-CN" altLang="en-US"/>
          </a:p>
        </p:txBody>
      </p:sp>
      <p:graphicFrame>
        <p:nvGraphicFramePr>
          <p:cNvPr id="27" name="对象 11">
            <a:extLst>
              <a:ext uri="{FF2B5EF4-FFF2-40B4-BE49-F238E27FC236}">
                <a16:creationId xmlns:a16="http://schemas.microsoft.com/office/drawing/2014/main" id="{9136B329-2A79-43E6-AC0C-304021F31BD1}"/>
              </a:ext>
            </a:extLst>
          </p:cNvPr>
          <p:cNvGraphicFramePr>
            <a:graphicFrameLocks noChangeAspect="1"/>
          </p:cNvGraphicFramePr>
          <p:nvPr>
            <p:extLst>
              <p:ext uri="{D42A27DB-BD31-4B8C-83A1-F6EECF244321}">
                <p14:modId xmlns:p14="http://schemas.microsoft.com/office/powerpoint/2010/main" val="3476589651"/>
              </p:ext>
            </p:extLst>
          </p:nvPr>
        </p:nvGraphicFramePr>
        <p:xfrm>
          <a:off x="6460117" y="3039798"/>
          <a:ext cx="1823607" cy="767599"/>
        </p:xfrm>
        <a:graphic>
          <a:graphicData uri="http://schemas.openxmlformats.org/presentationml/2006/ole">
            <mc:AlternateContent xmlns:mc="http://schemas.openxmlformats.org/markup-compatibility/2006">
              <mc:Choice xmlns:v="urn:schemas-microsoft-com:vml" Requires="v">
                <p:oleObj spid="_x0000_s20623" name="Equation" r:id="rId8" imgW="685800" imgH="317160" progId="Equation.DSMT4">
                  <p:embed/>
                </p:oleObj>
              </mc:Choice>
              <mc:Fallback>
                <p:oleObj name="Equation" r:id="rId8" imgW="685800" imgH="317160" progId="Equation.DSMT4">
                  <p:embed/>
                  <p:pic>
                    <p:nvPicPr>
                      <p:cNvPr id="15" name="对象 11">
                        <a:extLst>
                          <a:ext uri="{FF2B5EF4-FFF2-40B4-BE49-F238E27FC236}">
                            <a16:creationId xmlns:a16="http://schemas.microsoft.com/office/drawing/2014/main" id="{110D439C-CAA0-410E-BCAE-193F2AD4815F}"/>
                          </a:ext>
                        </a:extLst>
                      </p:cNvPr>
                      <p:cNvPicPr/>
                      <p:nvPr/>
                    </p:nvPicPr>
                    <p:blipFill>
                      <a:blip r:embed="rId9"/>
                      <a:stretch>
                        <a:fillRect/>
                      </a:stretch>
                    </p:blipFill>
                    <p:spPr>
                      <a:xfrm>
                        <a:off x="6460117" y="3039798"/>
                        <a:ext cx="1823607" cy="767599"/>
                      </a:xfrm>
                      <a:prstGeom prst="rect">
                        <a:avLst/>
                      </a:prstGeom>
                    </p:spPr>
                  </p:pic>
                </p:oleObj>
              </mc:Fallback>
            </mc:AlternateContent>
          </a:graphicData>
        </a:graphic>
      </p:graphicFrame>
    </p:spTree>
    <p:extLst>
      <p:ext uri="{BB962C8B-B14F-4D97-AF65-F5344CB8AC3E}">
        <p14:creationId xmlns:p14="http://schemas.microsoft.com/office/powerpoint/2010/main" val="3318150301"/>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a:extLst>
              <a:ext uri="{FF2B5EF4-FFF2-40B4-BE49-F238E27FC236}">
                <a16:creationId xmlns:a16="http://schemas.microsoft.com/office/drawing/2014/main" id="{64509930-9DFB-420E-8F32-960E50399825}"/>
              </a:ext>
            </a:extLst>
          </p:cNvPr>
          <p:cNvSpPr/>
          <p:nvPr/>
        </p:nvSpPr>
        <p:spPr>
          <a:xfrm>
            <a:off x="1571711" y="258777"/>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8" name="圆角矩形 43">
            <a:extLst>
              <a:ext uri="{FF2B5EF4-FFF2-40B4-BE49-F238E27FC236}">
                <a16:creationId xmlns:a16="http://schemas.microsoft.com/office/drawing/2014/main" id="{7D086454-5B10-4064-9B8F-531209592F7E}"/>
              </a:ext>
            </a:extLst>
          </p:cNvPr>
          <p:cNvSpPr/>
          <p:nvPr/>
        </p:nvSpPr>
        <p:spPr>
          <a:xfrm rot="10800000" flipV="1">
            <a:off x="185084" y="242948"/>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20204" pitchFamily="34" charset="0"/>
                <a:ea typeface="宋体" panose="02010600030101010101" pitchFamily="2" charset="-122"/>
                <a:cs typeface="Arial" panose="020B0604020202020204" pitchFamily="34" charset="0"/>
              </a:rPr>
              <a:t>9.4.2</a:t>
            </a:r>
            <a:endParaRPr lang="zh-CN" altLang="en-US" sz="3200" b="1" dirty="0">
              <a:latin typeface="Arial" panose="020B0604020202020204" pitchFamily="34" charset="0"/>
              <a:ea typeface="宋体" panose="02010600030101010101" pitchFamily="2" charset="-122"/>
              <a:cs typeface="Arial" panose="020B0604020202020204" pitchFamily="34" charset="0"/>
            </a:endParaRPr>
          </a:p>
        </p:txBody>
      </p:sp>
      <p:sp>
        <p:nvSpPr>
          <p:cNvPr id="39" name="矩形 38">
            <a:extLst>
              <a:ext uri="{FF2B5EF4-FFF2-40B4-BE49-F238E27FC236}">
                <a16:creationId xmlns:a16="http://schemas.microsoft.com/office/drawing/2014/main" id="{2A2F604C-DA27-459E-8419-ED777356D653}"/>
              </a:ext>
            </a:extLst>
          </p:cNvPr>
          <p:cNvSpPr/>
          <p:nvPr/>
        </p:nvSpPr>
        <p:spPr>
          <a:xfrm>
            <a:off x="1890442" y="240301"/>
            <a:ext cx="5873715" cy="615549"/>
          </a:xfrm>
          <a:prstGeom prst="rect">
            <a:avLst/>
          </a:prstGeom>
        </p:spPr>
        <p:txBody>
          <a:bodyPr wrap="none" lIns="91436" tIns="45718" rIns="91436" bIns="45718">
            <a:spAutoFit/>
          </a:bodyPr>
          <a:lstStyle/>
          <a:p>
            <a:pPr algn="ctr"/>
            <a:r>
              <a:rPr lang="zh-CN" altLang="en-US" sz="3400" b="1" dirty="0">
                <a:solidFill>
                  <a:schemeClr val="bg1"/>
                </a:solidFill>
                <a:latin typeface="宋体" panose="02010600030101010101" pitchFamily="2" charset="-122"/>
                <a:ea typeface="宋体" panose="02010600030101010101" pitchFamily="2" charset="-122"/>
              </a:rPr>
              <a:t>物位、流量的测量和无损探伤</a:t>
            </a:r>
            <a:endParaRPr lang="en-US" altLang="zh-CN" sz="3400" b="1" dirty="0">
              <a:solidFill>
                <a:schemeClr val="bg1"/>
              </a:solidFill>
              <a:latin typeface="宋体" panose="02010600030101010101" pitchFamily="2" charset="-122"/>
              <a:ea typeface="宋体" panose="02010600030101010101" pitchFamily="2" charset="-122"/>
            </a:endParaRPr>
          </a:p>
        </p:txBody>
      </p:sp>
      <p:sp>
        <p:nvSpPr>
          <p:cNvPr id="5" name="矩形 4"/>
          <p:cNvSpPr/>
          <p:nvPr/>
        </p:nvSpPr>
        <p:spPr>
          <a:xfrm>
            <a:off x="271305" y="1240973"/>
            <a:ext cx="2815194" cy="461665"/>
          </a:xfrm>
          <a:prstGeom prst="rect">
            <a:avLst/>
          </a:prstGeom>
          <a:solidFill>
            <a:srgbClr val="92D050"/>
          </a:solidFill>
        </p:spPr>
        <p:txBody>
          <a:bodyPr wrap="none">
            <a:spAutoFit/>
          </a:bodyPr>
          <a:lstStyle/>
          <a:p>
            <a:pPr>
              <a:spcBef>
                <a:spcPts val="624"/>
              </a:spcBef>
            </a:pPr>
            <a:r>
              <a:rPr lang="en-US" altLang="zh-CN" sz="2400" b="1" dirty="0">
                <a:latin typeface="宋体" panose="02010600030101010101" pitchFamily="2" charset="-122"/>
                <a:ea typeface="宋体" panose="02010600030101010101" pitchFamily="2" charset="-122"/>
                <a:cs typeface="Arial" panose="020B0604020202020204" pitchFamily="34" charset="0"/>
              </a:rPr>
              <a:t>3</a:t>
            </a:r>
            <a:r>
              <a:rPr lang="zh-CN" altLang="en-US" sz="2400" b="1" dirty="0">
                <a:latin typeface="宋体" panose="02010600030101010101" pitchFamily="2" charset="-122"/>
                <a:ea typeface="宋体" panose="02010600030101010101" pitchFamily="2" charset="-122"/>
                <a:cs typeface="Arial" panose="020B0604020202020204" pitchFamily="34" charset="0"/>
              </a:rPr>
              <a:t>、超声波无损探伤</a:t>
            </a:r>
          </a:p>
        </p:txBody>
      </p:sp>
      <p:sp>
        <p:nvSpPr>
          <p:cNvPr id="6" name="矩形 5"/>
          <p:cNvSpPr/>
          <p:nvPr/>
        </p:nvSpPr>
        <p:spPr>
          <a:xfrm>
            <a:off x="271305" y="1902897"/>
            <a:ext cx="2353529" cy="461665"/>
          </a:xfrm>
          <a:prstGeom prst="rect">
            <a:avLst/>
          </a:prstGeom>
        </p:spPr>
        <p:txBody>
          <a:bodyPr wrap="none">
            <a:spAutoFit/>
          </a:bodyPr>
          <a:lstStyle/>
          <a:p>
            <a:r>
              <a:rPr lang="en-US" altLang="zh-CN" sz="2400" b="1" dirty="0">
                <a:latin typeface="宋体" panose="02010600030101010101" pitchFamily="2" charset="-122"/>
                <a:ea typeface="宋体" panose="02010600030101010101" pitchFamily="2" charset="-122"/>
                <a:cs typeface="Arial" panose="020B0604020202020204" pitchFamily="34" charset="0"/>
              </a:rPr>
              <a:t>(1)</a:t>
            </a:r>
            <a:r>
              <a:rPr lang="zh-CN" altLang="en-US" sz="2400" b="1" dirty="0">
                <a:latin typeface="宋体" panose="02010600030101010101" pitchFamily="2" charset="-122"/>
                <a:ea typeface="宋体" panose="02010600030101010101" pitchFamily="2" charset="-122"/>
                <a:cs typeface="Arial" panose="020B0604020202020204" pitchFamily="34" charset="0"/>
              </a:rPr>
              <a:t>穿透法探伤 </a:t>
            </a:r>
            <a:endParaRPr lang="zh-CN" altLang="en-US" sz="2400" dirty="0"/>
          </a:p>
        </p:txBody>
      </p:sp>
      <p:sp>
        <p:nvSpPr>
          <p:cNvPr id="8" name="矩形 7"/>
          <p:cNvSpPr/>
          <p:nvPr/>
        </p:nvSpPr>
        <p:spPr>
          <a:xfrm>
            <a:off x="271305" y="4677498"/>
            <a:ext cx="6100467" cy="1938992"/>
          </a:xfrm>
          <a:prstGeom prst="rect">
            <a:avLst/>
          </a:prstGeom>
        </p:spPr>
        <p:txBody>
          <a:bodyPr wrap="square">
            <a:spAutoFit/>
          </a:bodyPr>
          <a:lstStyle/>
          <a:p>
            <a:pPr marL="342900" indent="-342900">
              <a:buFont typeface="Wingdings" panose="05000000000000000000" pitchFamily="2" charset="2"/>
              <a:buChar char="ü"/>
            </a:pPr>
            <a:r>
              <a:rPr lang="zh-CN" altLang="en-US" sz="2400" b="1" dirty="0">
                <a:latin typeface="宋体" panose="02010600030101010101" pitchFamily="2" charset="-122"/>
                <a:ea typeface="宋体" panose="02010600030101010101" pitchFamily="2" charset="-122"/>
                <a:cs typeface="Arial" panose="020B0604020202020204" pitchFamily="34" charset="0"/>
              </a:rPr>
              <a:t>该方法指示简单，适用于自动探</a:t>
            </a:r>
            <a:r>
              <a:rPr lang="zh-CN" altLang="en-US" sz="2400" b="1">
                <a:latin typeface="宋体" panose="02010600030101010101" pitchFamily="2" charset="-122"/>
                <a:ea typeface="宋体" panose="02010600030101010101" pitchFamily="2" charset="-122"/>
                <a:cs typeface="Arial" panose="020B0604020202020204" pitchFamily="34" charset="0"/>
              </a:rPr>
              <a:t>伤；</a:t>
            </a:r>
            <a:endParaRPr lang="en-US" altLang="zh-CN" sz="2400" b="1">
              <a:latin typeface="宋体" panose="02010600030101010101" pitchFamily="2" charset="-122"/>
              <a:ea typeface="宋体" panose="02010600030101010101" pitchFamily="2" charset="-122"/>
              <a:cs typeface="Arial" panose="020B0604020202020204" pitchFamily="34" charset="0"/>
            </a:endParaRPr>
          </a:p>
          <a:p>
            <a:pPr marL="342900" indent="-342900">
              <a:buFont typeface="Wingdings" panose="05000000000000000000" pitchFamily="2" charset="2"/>
              <a:buChar char="ü"/>
            </a:pPr>
            <a:r>
              <a:rPr lang="zh-CN" altLang="en-US" sz="2400" b="1">
                <a:latin typeface="宋体" panose="02010600030101010101" pitchFamily="2" charset="-122"/>
                <a:ea typeface="宋体" panose="02010600030101010101" pitchFamily="2" charset="-122"/>
                <a:cs typeface="Arial" panose="020B0604020202020204" pitchFamily="34" charset="0"/>
              </a:rPr>
              <a:t>可</a:t>
            </a:r>
            <a:r>
              <a:rPr lang="zh-CN" altLang="en-US" sz="2400" b="1" dirty="0">
                <a:latin typeface="宋体" panose="02010600030101010101" pitchFamily="2" charset="-122"/>
                <a:ea typeface="宋体" panose="02010600030101010101" pitchFamily="2" charset="-122"/>
                <a:cs typeface="Arial" panose="020B0604020202020204" pitchFamily="34" charset="0"/>
              </a:rPr>
              <a:t>避免盲区，适宜探测薄</a:t>
            </a:r>
            <a:r>
              <a:rPr lang="zh-CN" altLang="en-US" sz="2400" b="1">
                <a:latin typeface="宋体" panose="02010600030101010101" pitchFamily="2" charset="-122"/>
                <a:ea typeface="宋体" panose="02010600030101010101" pitchFamily="2" charset="-122"/>
                <a:cs typeface="Arial" panose="020B0604020202020204" pitchFamily="34" charset="0"/>
              </a:rPr>
              <a:t>板。</a:t>
            </a:r>
            <a:endParaRPr lang="en-US" altLang="zh-CN" sz="2400" b="1">
              <a:latin typeface="宋体" panose="02010600030101010101" pitchFamily="2" charset="-122"/>
              <a:ea typeface="宋体" panose="02010600030101010101" pitchFamily="2" charset="-122"/>
              <a:cs typeface="Arial" panose="020B0604020202020204" pitchFamily="34" charset="0"/>
            </a:endParaRPr>
          </a:p>
          <a:p>
            <a:pPr marL="342900" indent="-342900">
              <a:buFont typeface="Wingdings" panose="05000000000000000000" pitchFamily="2" charset="2"/>
              <a:buChar char="Ø"/>
            </a:pPr>
            <a:r>
              <a:rPr lang="zh-CN" altLang="en-US" sz="2400" b="1">
                <a:latin typeface="宋体" panose="02010600030101010101" pitchFamily="2" charset="-122"/>
                <a:ea typeface="宋体" panose="02010600030101010101" pitchFamily="2" charset="-122"/>
                <a:cs typeface="Arial" panose="020B0604020202020204" pitchFamily="34" charset="0"/>
              </a:rPr>
              <a:t>但</a:t>
            </a:r>
            <a:r>
              <a:rPr lang="zh-CN" altLang="en-US" sz="2400" b="1" dirty="0">
                <a:latin typeface="宋体" panose="02010600030101010101" pitchFamily="2" charset="-122"/>
                <a:ea typeface="宋体" panose="02010600030101010101" pitchFamily="2" charset="-122"/>
                <a:cs typeface="Arial" panose="020B0604020202020204" pitchFamily="34" charset="0"/>
              </a:rPr>
              <a:t>其灵敏度较低，不能发现微小缺</a:t>
            </a:r>
            <a:r>
              <a:rPr lang="zh-CN" altLang="en-US" sz="2400" b="1">
                <a:latin typeface="宋体" panose="02010600030101010101" pitchFamily="2" charset="-122"/>
                <a:ea typeface="宋体" panose="02010600030101010101" pitchFamily="2" charset="-122"/>
                <a:cs typeface="Arial" panose="020B0604020202020204" pitchFamily="34" charset="0"/>
              </a:rPr>
              <a:t>陷；</a:t>
            </a:r>
            <a:endParaRPr lang="en-US" altLang="zh-CN" sz="2400" b="1">
              <a:latin typeface="宋体" panose="02010600030101010101" pitchFamily="2" charset="-122"/>
              <a:ea typeface="宋体" panose="02010600030101010101" pitchFamily="2" charset="-122"/>
              <a:cs typeface="Arial" panose="020B0604020202020204" pitchFamily="34" charset="0"/>
            </a:endParaRPr>
          </a:p>
          <a:p>
            <a:pPr marL="342900" indent="-342900">
              <a:buFont typeface="Wingdings" panose="05000000000000000000" pitchFamily="2" charset="2"/>
              <a:buChar char="Ø"/>
            </a:pPr>
            <a:r>
              <a:rPr lang="zh-CN" altLang="en-US" sz="2400" b="1">
                <a:latin typeface="宋体" panose="02010600030101010101" pitchFamily="2" charset="-122"/>
                <a:ea typeface="宋体" panose="02010600030101010101" pitchFamily="2" charset="-122"/>
                <a:cs typeface="Arial" panose="020B0604020202020204" pitchFamily="34" charset="0"/>
              </a:rPr>
              <a:t>可</a:t>
            </a:r>
            <a:r>
              <a:rPr lang="zh-CN" altLang="en-US" sz="2400" b="1" dirty="0">
                <a:latin typeface="宋体" panose="02010600030101010101" pitchFamily="2" charset="-122"/>
                <a:ea typeface="宋体" panose="02010600030101010101" pitchFamily="2" charset="-122"/>
                <a:cs typeface="Arial" panose="020B0604020202020204" pitchFamily="34" charset="0"/>
              </a:rPr>
              <a:t>判断有无缺陷，但不能定</a:t>
            </a:r>
            <a:r>
              <a:rPr lang="zh-CN" altLang="en-US" sz="2400" b="1">
                <a:latin typeface="宋体" panose="02010600030101010101" pitchFamily="2" charset="-122"/>
                <a:ea typeface="宋体" panose="02010600030101010101" pitchFamily="2" charset="-122"/>
                <a:cs typeface="Arial" panose="020B0604020202020204" pitchFamily="34" charset="0"/>
              </a:rPr>
              <a:t>位；</a:t>
            </a:r>
            <a:endParaRPr lang="en-US" altLang="zh-CN" sz="2400" b="1">
              <a:latin typeface="宋体" panose="02010600030101010101" pitchFamily="2" charset="-122"/>
              <a:ea typeface="宋体" panose="02010600030101010101" pitchFamily="2" charset="-122"/>
              <a:cs typeface="Arial" panose="020B0604020202020204" pitchFamily="34" charset="0"/>
            </a:endParaRPr>
          </a:p>
          <a:p>
            <a:pPr marL="342900" indent="-342900">
              <a:buFont typeface="Wingdings" panose="05000000000000000000" pitchFamily="2" charset="2"/>
              <a:buChar char="§"/>
            </a:pPr>
            <a:r>
              <a:rPr lang="zh-CN" altLang="en-US" sz="2400" b="1">
                <a:latin typeface="宋体" panose="02010600030101010101" pitchFamily="2" charset="-122"/>
                <a:ea typeface="宋体" panose="02010600030101010101" pitchFamily="2" charset="-122"/>
                <a:cs typeface="Arial" panose="020B0604020202020204" pitchFamily="34" charset="0"/>
              </a:rPr>
              <a:t>对</a:t>
            </a:r>
            <a:r>
              <a:rPr lang="zh-CN" altLang="en-US" sz="2400" b="1" dirty="0">
                <a:latin typeface="宋体" panose="02010600030101010101" pitchFamily="2" charset="-122"/>
                <a:ea typeface="宋体" panose="02010600030101010101" pitchFamily="2" charset="-122"/>
                <a:cs typeface="Arial" panose="020B0604020202020204" pitchFamily="34" charset="0"/>
              </a:rPr>
              <a:t>两探头的相对位置要求较高。</a:t>
            </a:r>
            <a:endParaRPr lang="en-US" altLang="zh-CN" sz="2400" b="1" dirty="0">
              <a:latin typeface="宋体" panose="02010600030101010101" pitchFamily="2" charset="-122"/>
              <a:ea typeface="宋体" panose="02010600030101010101" pitchFamily="2" charset="-122"/>
              <a:cs typeface="Arial" panose="020B0604020202020204" pitchFamily="34" charset="0"/>
            </a:endParaRPr>
          </a:p>
        </p:txBody>
      </p:sp>
      <p:sp>
        <p:nvSpPr>
          <p:cNvPr id="2" name="Slide Number Placeholder 1">
            <a:extLst>
              <a:ext uri="{FF2B5EF4-FFF2-40B4-BE49-F238E27FC236}">
                <a16:creationId xmlns:a16="http://schemas.microsoft.com/office/drawing/2014/main" id="{9971934F-3F68-46B6-ABB4-7A42BF2E5459}"/>
              </a:ext>
            </a:extLst>
          </p:cNvPr>
          <p:cNvSpPr>
            <a:spLocks noGrp="1"/>
          </p:cNvSpPr>
          <p:nvPr>
            <p:ph type="sldNum" sz="quarter" idx="12"/>
          </p:nvPr>
        </p:nvSpPr>
        <p:spPr/>
        <p:txBody>
          <a:bodyPr/>
          <a:lstStyle/>
          <a:p>
            <a:fld id="{B53602B4-F12B-41CD-B648-531F86B2CC91}" type="slidenum">
              <a:rPr lang="zh-CN" altLang="en-US" smtClean="0"/>
              <a:t>48</a:t>
            </a:fld>
            <a:endParaRPr lang="zh-CN" altLang="en-US"/>
          </a:p>
        </p:txBody>
      </p:sp>
      <p:sp>
        <p:nvSpPr>
          <p:cNvPr id="26" name="Text Box 59">
            <a:extLst>
              <a:ext uri="{FF2B5EF4-FFF2-40B4-BE49-F238E27FC236}">
                <a16:creationId xmlns:a16="http://schemas.microsoft.com/office/drawing/2014/main" id="{9524961E-9D79-430B-BD32-8CC1E95CBE9E}"/>
              </a:ext>
            </a:extLst>
          </p:cNvPr>
          <p:cNvSpPr txBox="1">
            <a:spLocks noChangeArrowheads="1"/>
          </p:cNvSpPr>
          <p:nvPr/>
        </p:nvSpPr>
        <p:spPr bwMode="auto">
          <a:xfrm>
            <a:off x="5230760" y="4030420"/>
            <a:ext cx="3823288" cy="412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buFontTx/>
              <a:buNone/>
            </a:pPr>
            <a:r>
              <a:rPr kumimoji="0" lang="zh-CN" altLang="en-US" sz="2000" b="1" dirty="0">
                <a:solidFill>
                  <a:srgbClr val="3333CC"/>
                </a:solidFill>
                <a:latin typeface="宋体" pitchFamily="2" charset="-122"/>
              </a:rPr>
              <a:t>图</a:t>
            </a:r>
            <a:r>
              <a:rPr kumimoji="0" lang="en-US" altLang="zh-CN" sz="2000" b="1" dirty="0">
                <a:solidFill>
                  <a:srgbClr val="3333CC"/>
                </a:solidFill>
                <a:latin typeface="宋体" pitchFamily="2" charset="-122"/>
              </a:rPr>
              <a:t>9-12 </a:t>
            </a:r>
            <a:r>
              <a:rPr kumimoji="0" lang="zh-CN" altLang="en-US" sz="2000" b="1" dirty="0">
                <a:solidFill>
                  <a:srgbClr val="3333CC"/>
                </a:solidFill>
                <a:latin typeface="宋体" pitchFamily="2" charset="-122"/>
              </a:rPr>
              <a:t>穿透法探伤工作原理图</a:t>
            </a:r>
          </a:p>
        </p:txBody>
      </p:sp>
      <p:pic>
        <p:nvPicPr>
          <p:cNvPr id="40" name="图片 2">
            <a:extLst>
              <a:ext uri="{FF2B5EF4-FFF2-40B4-BE49-F238E27FC236}">
                <a16:creationId xmlns:a16="http://schemas.microsoft.com/office/drawing/2014/main" id="{32E81BAA-F92A-4BEC-BF88-2777BDC9E81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rot="16200000">
            <a:off x="5550137" y="240567"/>
            <a:ext cx="2472252" cy="4428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文本框 2">
            <a:extLst>
              <a:ext uri="{FF2B5EF4-FFF2-40B4-BE49-F238E27FC236}">
                <a16:creationId xmlns:a16="http://schemas.microsoft.com/office/drawing/2014/main" id="{49142242-5E57-4D15-A0DD-17CB598A023D}"/>
              </a:ext>
            </a:extLst>
          </p:cNvPr>
          <p:cNvSpPr txBox="1"/>
          <p:nvPr/>
        </p:nvSpPr>
        <p:spPr>
          <a:xfrm>
            <a:off x="111086" y="2400350"/>
            <a:ext cx="5066152" cy="2462208"/>
          </a:xfrm>
          <a:prstGeom prst="rect">
            <a:avLst/>
          </a:prstGeom>
          <a:noFill/>
        </p:spPr>
        <p:txBody>
          <a:bodyPr wrap="square" lIns="91436" tIns="45718" rIns="91436" bIns="45718" rtlCol="0">
            <a:spAutoFit/>
          </a:bodyPr>
          <a:lstStyle/>
          <a:p>
            <a:pPr marL="342900" indent="-342900">
              <a:spcBef>
                <a:spcPts val="624"/>
              </a:spcBef>
              <a:buFont typeface="Arial" panose="020B0604020202020204" pitchFamily="34" charset="0"/>
              <a:buChar char="•"/>
            </a:pPr>
            <a:r>
              <a:rPr lang="zh-CN" altLang="en-US" sz="2400" b="1" dirty="0">
                <a:latin typeface="宋体" panose="02010600030101010101" pitchFamily="2" charset="-122"/>
                <a:ea typeface="宋体" panose="02010600030101010101" pitchFamily="2" charset="-122"/>
                <a:cs typeface="Arial" panose="020B0604020202020204" pitchFamily="34" charset="0"/>
              </a:rPr>
              <a:t>该方法采用两个超声波换能器。</a:t>
            </a:r>
            <a:endParaRPr lang="en-US" altLang="zh-CN" sz="2400" b="1" dirty="0">
              <a:latin typeface="宋体" panose="02010600030101010101" pitchFamily="2" charset="-122"/>
              <a:ea typeface="宋体" panose="02010600030101010101" pitchFamily="2" charset="-122"/>
              <a:cs typeface="Arial" panose="020B0604020202020204" pitchFamily="34" charset="0"/>
            </a:endParaRPr>
          </a:p>
          <a:p>
            <a:pPr marL="342900" indent="-342900">
              <a:spcBef>
                <a:spcPts val="624"/>
              </a:spcBef>
              <a:buFont typeface="Arial" panose="020B0604020202020204" pitchFamily="34" charset="0"/>
              <a:buChar char="•"/>
            </a:pPr>
            <a:r>
              <a:rPr lang="zh-CN" altLang="en-US" sz="2400" b="1" dirty="0">
                <a:latin typeface="宋体" panose="02010600030101010101" pitchFamily="2" charset="-122"/>
                <a:ea typeface="宋体" panose="02010600030101010101" pitchFamily="2" charset="-122"/>
                <a:cs typeface="Arial" panose="020B0604020202020204" pitchFamily="34" charset="0"/>
              </a:rPr>
              <a:t>当被测工件内无缺陷时，接收到的超声波能量</a:t>
            </a:r>
            <a:r>
              <a:rPr lang="zh-CN" altLang="en-US" sz="2400" b="1">
                <a:latin typeface="宋体" panose="02010600030101010101" pitchFamily="2" charset="-122"/>
                <a:ea typeface="宋体" panose="02010600030101010101" pitchFamily="2" charset="-122"/>
                <a:cs typeface="Arial" panose="020B0604020202020204" pitchFamily="34" charset="0"/>
              </a:rPr>
              <a:t>大；</a:t>
            </a:r>
            <a:endParaRPr lang="en-US" altLang="zh-CN" sz="2400" b="1">
              <a:latin typeface="宋体" panose="02010600030101010101" pitchFamily="2" charset="-122"/>
              <a:ea typeface="宋体" panose="02010600030101010101" pitchFamily="2" charset="-122"/>
              <a:cs typeface="Arial" panose="020B0604020202020204" pitchFamily="34" charset="0"/>
            </a:endParaRPr>
          </a:p>
          <a:p>
            <a:pPr marL="342900" indent="-342900">
              <a:spcBef>
                <a:spcPts val="624"/>
              </a:spcBef>
              <a:buFont typeface="Arial" panose="020B0604020202020204" pitchFamily="34" charset="0"/>
              <a:buChar char="•"/>
            </a:pPr>
            <a:r>
              <a:rPr lang="zh-CN" altLang="en-US" sz="2400" b="1">
                <a:latin typeface="宋体" panose="02010600030101010101" pitchFamily="2" charset="-122"/>
                <a:ea typeface="宋体" panose="02010600030101010101" pitchFamily="2" charset="-122"/>
                <a:cs typeface="Arial" panose="020B0604020202020204" pitchFamily="34" charset="0"/>
              </a:rPr>
              <a:t>当</a:t>
            </a:r>
            <a:r>
              <a:rPr lang="zh-CN" altLang="en-US" sz="2400" b="1" dirty="0">
                <a:latin typeface="宋体" panose="02010600030101010101" pitchFamily="2" charset="-122"/>
                <a:ea typeface="宋体" panose="02010600030101010101" pitchFamily="2" charset="-122"/>
                <a:cs typeface="Arial" panose="020B0604020202020204" pitchFamily="34" charset="0"/>
              </a:rPr>
              <a:t>工件内有缺陷</a:t>
            </a:r>
            <a:r>
              <a:rPr lang="zh-CN" altLang="en-US" sz="2400" b="1">
                <a:latin typeface="宋体" panose="02010600030101010101" pitchFamily="2" charset="-122"/>
                <a:ea typeface="宋体" panose="02010600030101010101" pitchFamily="2" charset="-122"/>
                <a:cs typeface="Arial" panose="020B0604020202020204" pitchFamily="34" charset="0"/>
              </a:rPr>
              <a:t>时，部</a:t>
            </a:r>
            <a:r>
              <a:rPr lang="zh-CN" altLang="en-US" sz="2400" b="1" dirty="0">
                <a:latin typeface="宋体" panose="02010600030101010101" pitchFamily="2" charset="-122"/>
                <a:ea typeface="宋体" panose="02010600030101010101" pitchFamily="2" charset="-122"/>
                <a:cs typeface="Arial" panose="020B0604020202020204" pitchFamily="34" charset="0"/>
              </a:rPr>
              <a:t>分能量被反</a:t>
            </a:r>
            <a:r>
              <a:rPr lang="zh-CN" altLang="en-US" sz="2400" b="1">
                <a:latin typeface="宋体" panose="02010600030101010101" pitchFamily="2" charset="-122"/>
                <a:ea typeface="宋体" panose="02010600030101010101" pitchFamily="2" charset="-122"/>
                <a:cs typeface="Arial" panose="020B0604020202020204" pitchFamily="34" charset="0"/>
              </a:rPr>
              <a:t>射，接</a:t>
            </a:r>
            <a:r>
              <a:rPr lang="zh-CN" altLang="en-US" sz="2400" b="1" dirty="0">
                <a:latin typeface="宋体" panose="02010600030101010101" pitchFamily="2" charset="-122"/>
                <a:ea typeface="宋体" panose="02010600030101010101" pitchFamily="2" charset="-122"/>
                <a:cs typeface="Arial" panose="020B0604020202020204" pitchFamily="34" charset="0"/>
              </a:rPr>
              <a:t>收到的超声波</a:t>
            </a:r>
            <a:r>
              <a:rPr lang="zh-CN" altLang="en-US" sz="2400" b="1">
                <a:latin typeface="宋体" panose="02010600030101010101" pitchFamily="2" charset="-122"/>
                <a:ea typeface="宋体" panose="02010600030101010101" pitchFamily="2" charset="-122"/>
                <a:cs typeface="Arial" panose="020B0604020202020204" pitchFamily="34" charset="0"/>
              </a:rPr>
              <a:t>能量变小</a:t>
            </a:r>
            <a:r>
              <a:rPr lang="zh-CN" altLang="en-US" sz="2400" b="1" dirty="0">
                <a:latin typeface="宋体" panose="02010600030101010101" pitchFamily="2" charset="-122"/>
                <a:ea typeface="宋体" panose="02010600030101010101" pitchFamily="2" charset="-122"/>
                <a:cs typeface="Arial" panose="020B0604020202020204" pitchFamily="34" charset="0"/>
              </a:rPr>
              <a:t>。</a:t>
            </a:r>
            <a:r>
              <a:rPr lang="en-US" altLang="zh-CN" sz="2400" b="1" dirty="0">
                <a:latin typeface="宋体" panose="02010600030101010101" pitchFamily="2" charset="-122"/>
                <a:ea typeface="宋体" panose="02010600030101010101" pitchFamily="2" charset="-122"/>
                <a:cs typeface="Arial" panose="020B0604020202020204" pitchFamily="34" charset="0"/>
              </a:rPr>
              <a:t>	</a:t>
            </a:r>
          </a:p>
        </p:txBody>
      </p:sp>
    </p:spTree>
    <p:extLst>
      <p:ext uri="{BB962C8B-B14F-4D97-AF65-F5344CB8AC3E}">
        <p14:creationId xmlns:p14="http://schemas.microsoft.com/office/powerpoint/2010/main" val="209362893"/>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a:extLst>
              <a:ext uri="{FF2B5EF4-FFF2-40B4-BE49-F238E27FC236}">
                <a16:creationId xmlns:a16="http://schemas.microsoft.com/office/drawing/2014/main" id="{64509930-9DFB-420E-8F32-960E50399825}"/>
              </a:ext>
            </a:extLst>
          </p:cNvPr>
          <p:cNvSpPr/>
          <p:nvPr/>
        </p:nvSpPr>
        <p:spPr>
          <a:xfrm>
            <a:off x="1571711" y="258777"/>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8" name="圆角矩形 43">
            <a:extLst>
              <a:ext uri="{FF2B5EF4-FFF2-40B4-BE49-F238E27FC236}">
                <a16:creationId xmlns:a16="http://schemas.microsoft.com/office/drawing/2014/main" id="{7D086454-5B10-4064-9B8F-531209592F7E}"/>
              </a:ext>
            </a:extLst>
          </p:cNvPr>
          <p:cNvSpPr/>
          <p:nvPr/>
        </p:nvSpPr>
        <p:spPr>
          <a:xfrm rot="10800000" flipV="1">
            <a:off x="185084" y="242948"/>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20204" pitchFamily="34" charset="0"/>
                <a:ea typeface="宋体" panose="02010600030101010101" pitchFamily="2" charset="-122"/>
                <a:cs typeface="Arial" panose="020B0604020202020204" pitchFamily="34" charset="0"/>
              </a:rPr>
              <a:t>9.4.2</a:t>
            </a:r>
            <a:endParaRPr lang="zh-CN" altLang="en-US" sz="3200" b="1" dirty="0">
              <a:latin typeface="Arial" panose="020B0604020202020204" pitchFamily="34" charset="0"/>
              <a:ea typeface="宋体" panose="02010600030101010101" pitchFamily="2" charset="-122"/>
              <a:cs typeface="Arial" panose="020B0604020202020204" pitchFamily="34" charset="0"/>
            </a:endParaRPr>
          </a:p>
        </p:txBody>
      </p:sp>
      <p:sp>
        <p:nvSpPr>
          <p:cNvPr id="39" name="矩形 38">
            <a:extLst>
              <a:ext uri="{FF2B5EF4-FFF2-40B4-BE49-F238E27FC236}">
                <a16:creationId xmlns:a16="http://schemas.microsoft.com/office/drawing/2014/main" id="{2A2F604C-DA27-459E-8419-ED777356D653}"/>
              </a:ext>
            </a:extLst>
          </p:cNvPr>
          <p:cNvSpPr/>
          <p:nvPr/>
        </p:nvSpPr>
        <p:spPr>
          <a:xfrm>
            <a:off x="1890442" y="240301"/>
            <a:ext cx="5873715" cy="615549"/>
          </a:xfrm>
          <a:prstGeom prst="rect">
            <a:avLst/>
          </a:prstGeom>
        </p:spPr>
        <p:txBody>
          <a:bodyPr wrap="none" lIns="91436" tIns="45718" rIns="91436" bIns="45718">
            <a:spAutoFit/>
          </a:bodyPr>
          <a:lstStyle/>
          <a:p>
            <a:pPr algn="ctr"/>
            <a:r>
              <a:rPr lang="zh-CN" altLang="en-US" sz="3400" b="1" dirty="0">
                <a:solidFill>
                  <a:schemeClr val="bg1"/>
                </a:solidFill>
                <a:latin typeface="宋体" panose="02010600030101010101" pitchFamily="2" charset="-122"/>
                <a:ea typeface="宋体" panose="02010600030101010101" pitchFamily="2" charset="-122"/>
              </a:rPr>
              <a:t>物位、流量的测量和无损探伤</a:t>
            </a:r>
            <a:endParaRPr lang="en-US" altLang="zh-CN" sz="3400" b="1" dirty="0">
              <a:solidFill>
                <a:schemeClr val="bg1"/>
              </a:solidFill>
              <a:latin typeface="宋体" panose="02010600030101010101" pitchFamily="2" charset="-122"/>
              <a:ea typeface="宋体" panose="02010600030101010101" pitchFamily="2" charset="-122"/>
            </a:endParaRPr>
          </a:p>
        </p:txBody>
      </p:sp>
      <p:sp>
        <p:nvSpPr>
          <p:cNvPr id="5" name="矩形 4"/>
          <p:cNvSpPr/>
          <p:nvPr/>
        </p:nvSpPr>
        <p:spPr>
          <a:xfrm>
            <a:off x="185084" y="1450767"/>
            <a:ext cx="2353529" cy="461665"/>
          </a:xfrm>
          <a:prstGeom prst="rect">
            <a:avLst/>
          </a:prstGeom>
        </p:spPr>
        <p:txBody>
          <a:bodyPr wrap="none">
            <a:spAutoFit/>
          </a:bodyPr>
          <a:lstStyle/>
          <a:p>
            <a:r>
              <a:rPr lang="en-US" altLang="zh-CN" sz="2400" b="1" dirty="0">
                <a:latin typeface="宋体" panose="02010600030101010101" pitchFamily="2" charset="-122"/>
                <a:ea typeface="宋体" panose="02010600030101010101" pitchFamily="2" charset="-122"/>
                <a:cs typeface="Arial" panose="020B0604020202020204" pitchFamily="34" charset="0"/>
              </a:rPr>
              <a:t>(2)</a:t>
            </a:r>
            <a:r>
              <a:rPr lang="zh-CN" altLang="en-US" sz="2400" b="1" dirty="0">
                <a:latin typeface="宋体" panose="02010600030101010101" pitchFamily="2" charset="-122"/>
                <a:ea typeface="宋体" panose="02010600030101010101" pitchFamily="2" charset="-122"/>
                <a:cs typeface="Arial" panose="020B0604020202020204" pitchFamily="34" charset="0"/>
              </a:rPr>
              <a:t>反射法探伤 </a:t>
            </a:r>
            <a:endParaRPr lang="zh-CN" altLang="en-US" sz="2400" dirty="0"/>
          </a:p>
        </p:txBody>
      </p:sp>
      <p:sp>
        <p:nvSpPr>
          <p:cNvPr id="6" name="矩形 5"/>
          <p:cNvSpPr/>
          <p:nvPr/>
        </p:nvSpPr>
        <p:spPr>
          <a:xfrm>
            <a:off x="241058" y="4314180"/>
            <a:ext cx="2661306" cy="461665"/>
          </a:xfrm>
          <a:prstGeom prst="rect">
            <a:avLst/>
          </a:prstGeom>
        </p:spPr>
        <p:txBody>
          <a:bodyPr wrap="none">
            <a:spAutoFit/>
          </a:bodyPr>
          <a:lstStyle/>
          <a:p>
            <a:r>
              <a:rPr lang="en-US" altLang="zh-CN" sz="2400" b="1" dirty="0">
                <a:latin typeface="宋体" panose="02010600030101010101" pitchFamily="2" charset="-122"/>
                <a:ea typeface="宋体" panose="02010600030101010101" pitchFamily="2" charset="-122"/>
                <a:cs typeface="Arial" panose="020B0604020202020204" pitchFamily="34" charset="0"/>
              </a:rPr>
              <a:t>1)</a:t>
            </a:r>
            <a:r>
              <a:rPr lang="zh-CN" altLang="en-US" sz="2400" b="1" dirty="0">
                <a:latin typeface="宋体" panose="02010600030101010101" pitchFamily="2" charset="-122"/>
                <a:ea typeface="宋体" panose="02010600030101010101" pitchFamily="2" charset="-122"/>
                <a:cs typeface="Arial" panose="020B0604020202020204" pitchFamily="34" charset="0"/>
              </a:rPr>
              <a:t>一次脉冲反射法</a:t>
            </a:r>
            <a:endParaRPr lang="zh-CN" altLang="en-US" sz="2400" dirty="0"/>
          </a:p>
        </p:txBody>
      </p:sp>
      <p:sp>
        <p:nvSpPr>
          <p:cNvPr id="8" name="矩形 7"/>
          <p:cNvSpPr/>
          <p:nvPr/>
        </p:nvSpPr>
        <p:spPr>
          <a:xfrm>
            <a:off x="194321" y="1989348"/>
            <a:ext cx="4632978" cy="2245808"/>
          </a:xfrm>
          <a:prstGeom prst="rect">
            <a:avLst/>
          </a:prstGeom>
        </p:spPr>
        <p:txBody>
          <a:bodyPr wrap="square">
            <a:spAutoFit/>
          </a:bodyPr>
          <a:lstStyle/>
          <a:p>
            <a:pPr>
              <a:lnSpc>
                <a:spcPct val="150000"/>
              </a:lnSpc>
            </a:pPr>
            <a:r>
              <a:rPr lang="zh-CN" altLang="en-US" sz="2400" b="1" dirty="0">
                <a:latin typeface="Arial" panose="020B0604020202020204" pitchFamily="34" charset="0"/>
                <a:ea typeface="宋体" panose="02010600030101010101" pitchFamily="2" charset="-122"/>
                <a:cs typeface="Arial" panose="020B0604020202020204" pitchFamily="34" charset="0"/>
              </a:rPr>
              <a:t>根据超声波在工件中反射情况的不同来探测工件内部是否有缺陷，可分为一次脉冲反射法和多次脉冲反射法两种。</a:t>
            </a:r>
            <a:endParaRPr lang="zh-CN" altLang="en-US" sz="2400" dirty="0"/>
          </a:p>
        </p:txBody>
      </p:sp>
      <p:sp>
        <p:nvSpPr>
          <p:cNvPr id="45" name="矩形 44"/>
          <p:cNvSpPr/>
          <p:nvPr/>
        </p:nvSpPr>
        <p:spPr>
          <a:xfrm>
            <a:off x="241058" y="5006298"/>
            <a:ext cx="2661306" cy="461665"/>
          </a:xfrm>
          <a:prstGeom prst="rect">
            <a:avLst/>
          </a:prstGeom>
        </p:spPr>
        <p:txBody>
          <a:bodyPr wrap="none">
            <a:spAutoFit/>
          </a:bodyPr>
          <a:lstStyle/>
          <a:p>
            <a:r>
              <a:rPr lang="en-US" altLang="zh-CN" sz="2400" b="1" dirty="0">
                <a:latin typeface="宋体" panose="02010600030101010101" pitchFamily="2" charset="-122"/>
                <a:ea typeface="宋体" panose="02010600030101010101" pitchFamily="2" charset="-122"/>
                <a:cs typeface="Arial" panose="020B0604020202020204" pitchFamily="34" charset="0"/>
              </a:rPr>
              <a:t>2)</a:t>
            </a:r>
            <a:r>
              <a:rPr lang="zh-CN" altLang="en-US" sz="2400" b="1" dirty="0">
                <a:latin typeface="宋体" panose="02010600030101010101" pitchFamily="2" charset="-122"/>
                <a:ea typeface="宋体" panose="02010600030101010101" pitchFamily="2" charset="-122"/>
                <a:cs typeface="Arial" panose="020B0604020202020204" pitchFamily="34" charset="0"/>
              </a:rPr>
              <a:t>多次脉冲反射法</a:t>
            </a:r>
            <a:endParaRPr lang="zh-CN" altLang="en-US" sz="2400" dirty="0"/>
          </a:p>
        </p:txBody>
      </p:sp>
      <p:sp>
        <p:nvSpPr>
          <p:cNvPr id="10" name="矩形 9"/>
          <p:cNvSpPr/>
          <p:nvPr/>
        </p:nvSpPr>
        <p:spPr>
          <a:xfrm>
            <a:off x="241058" y="5467203"/>
            <a:ext cx="5245511" cy="1137812"/>
          </a:xfrm>
          <a:prstGeom prst="rect">
            <a:avLst/>
          </a:prstGeom>
        </p:spPr>
        <p:txBody>
          <a:bodyPr wrap="square">
            <a:spAutoFit/>
          </a:bodyPr>
          <a:lstStyle/>
          <a:p>
            <a:pPr>
              <a:lnSpc>
                <a:spcPct val="150000"/>
              </a:lnSpc>
            </a:pPr>
            <a:r>
              <a:rPr lang="zh-CN" altLang="en-US" sz="2400" b="1" dirty="0">
                <a:latin typeface="Arial" panose="020B0604020202020204" pitchFamily="34" charset="0"/>
                <a:ea typeface="宋体" panose="02010600030101010101" pitchFamily="2" charset="-122"/>
                <a:cs typeface="Arial" panose="020B0604020202020204" pitchFamily="34" charset="0"/>
              </a:rPr>
              <a:t>可判断出工件内部有无缺陷及缺陷的严重程度。</a:t>
            </a:r>
            <a:endParaRPr lang="zh-CN" altLang="en-US" sz="2400" dirty="0"/>
          </a:p>
        </p:txBody>
      </p:sp>
      <p:sp>
        <p:nvSpPr>
          <p:cNvPr id="2" name="Slide Number Placeholder 1">
            <a:extLst>
              <a:ext uri="{FF2B5EF4-FFF2-40B4-BE49-F238E27FC236}">
                <a16:creationId xmlns:a16="http://schemas.microsoft.com/office/drawing/2014/main" id="{F6E40982-8F3D-4544-B875-8CC57A1326E9}"/>
              </a:ext>
            </a:extLst>
          </p:cNvPr>
          <p:cNvSpPr>
            <a:spLocks noGrp="1"/>
          </p:cNvSpPr>
          <p:nvPr>
            <p:ph type="sldNum" sz="quarter" idx="12"/>
          </p:nvPr>
        </p:nvSpPr>
        <p:spPr/>
        <p:txBody>
          <a:bodyPr/>
          <a:lstStyle/>
          <a:p>
            <a:fld id="{B53602B4-F12B-41CD-B648-531F86B2CC91}" type="slidenum">
              <a:rPr lang="zh-CN" altLang="en-US" smtClean="0"/>
              <a:t>49</a:t>
            </a:fld>
            <a:endParaRPr lang="zh-CN" altLang="en-US"/>
          </a:p>
        </p:txBody>
      </p:sp>
      <p:sp>
        <p:nvSpPr>
          <p:cNvPr id="26" name="Text Box 59">
            <a:extLst>
              <a:ext uri="{FF2B5EF4-FFF2-40B4-BE49-F238E27FC236}">
                <a16:creationId xmlns:a16="http://schemas.microsoft.com/office/drawing/2014/main" id="{5C2FC71F-763D-4C18-A8DD-FBB8EC03A270}"/>
              </a:ext>
            </a:extLst>
          </p:cNvPr>
          <p:cNvSpPr txBox="1">
            <a:spLocks noChangeArrowheads="1"/>
          </p:cNvSpPr>
          <p:nvPr/>
        </p:nvSpPr>
        <p:spPr bwMode="auto">
          <a:xfrm>
            <a:off x="4789715" y="4229077"/>
            <a:ext cx="4354285" cy="4766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buFontTx/>
              <a:buNone/>
            </a:pPr>
            <a:r>
              <a:rPr kumimoji="0" lang="zh-CN" altLang="en-US" sz="2400" b="1" dirty="0">
                <a:solidFill>
                  <a:srgbClr val="3333CC"/>
                </a:solidFill>
                <a:latin typeface="宋体" pitchFamily="2" charset="-122"/>
              </a:rPr>
              <a:t>图</a:t>
            </a:r>
            <a:r>
              <a:rPr kumimoji="0" lang="en-US" altLang="zh-CN" sz="2400" b="1" dirty="0">
                <a:solidFill>
                  <a:srgbClr val="3333CC"/>
                </a:solidFill>
                <a:latin typeface="宋体" pitchFamily="2" charset="-122"/>
              </a:rPr>
              <a:t>9-13 </a:t>
            </a:r>
            <a:r>
              <a:rPr kumimoji="0" lang="zh-CN" altLang="en-US" sz="2400" b="1" dirty="0">
                <a:solidFill>
                  <a:srgbClr val="3333CC"/>
                </a:solidFill>
                <a:latin typeface="宋体" pitchFamily="2" charset="-122"/>
              </a:rPr>
              <a:t>反射法探伤工作原理图</a:t>
            </a:r>
          </a:p>
        </p:txBody>
      </p:sp>
      <p:pic>
        <p:nvPicPr>
          <p:cNvPr id="40" name="图片 2">
            <a:extLst>
              <a:ext uri="{FF2B5EF4-FFF2-40B4-BE49-F238E27FC236}">
                <a16:creationId xmlns:a16="http://schemas.microsoft.com/office/drawing/2014/main" id="{C761FD5C-D567-4929-8722-F6FA7175072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rot="16200000">
            <a:off x="5893484" y="748963"/>
            <a:ext cx="2104788" cy="4147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22184883"/>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对象 4"/>
          <p:cNvGraphicFramePr>
            <a:graphicFrameLocks noChangeAspect="1"/>
          </p:cNvGraphicFramePr>
          <p:nvPr>
            <p:extLst>
              <p:ext uri="{D42A27DB-BD31-4B8C-83A1-F6EECF244321}">
                <p14:modId xmlns:p14="http://schemas.microsoft.com/office/powerpoint/2010/main" val="333035018"/>
              </p:ext>
            </p:extLst>
          </p:nvPr>
        </p:nvGraphicFramePr>
        <p:xfrm>
          <a:off x="1877682" y="3349933"/>
          <a:ext cx="2195861" cy="1719263"/>
        </p:xfrm>
        <a:graphic>
          <a:graphicData uri="http://schemas.openxmlformats.org/presentationml/2006/ole">
            <mc:AlternateContent xmlns:mc="http://schemas.openxmlformats.org/markup-compatibility/2006">
              <mc:Choice xmlns:v="urn:schemas-microsoft-com:vml" Requires="v">
                <p:oleObj spid="_x0000_s21640" name="Equation" r:id="rId4" imgW="761760" imgH="647640" progId="Equation.DSMT4">
                  <p:embed/>
                </p:oleObj>
              </mc:Choice>
              <mc:Fallback>
                <p:oleObj name="Equation" r:id="rId4" imgW="761760" imgH="647640" progId="Equation.DSMT4">
                  <p:embed/>
                  <p:pic>
                    <p:nvPicPr>
                      <p:cNvPr id="0" name=""/>
                      <p:cNvPicPr/>
                      <p:nvPr/>
                    </p:nvPicPr>
                    <p:blipFill>
                      <a:blip r:embed="rId5"/>
                      <a:stretch>
                        <a:fillRect/>
                      </a:stretch>
                    </p:blipFill>
                    <p:spPr>
                      <a:xfrm>
                        <a:off x="1877682" y="3349933"/>
                        <a:ext cx="2195861" cy="1719263"/>
                      </a:xfrm>
                      <a:prstGeom prst="rect">
                        <a:avLst/>
                      </a:prstGeom>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864402008"/>
              </p:ext>
            </p:extLst>
          </p:nvPr>
        </p:nvGraphicFramePr>
        <p:xfrm>
          <a:off x="1877682" y="5714175"/>
          <a:ext cx="1757385" cy="686489"/>
        </p:xfrm>
        <a:graphic>
          <a:graphicData uri="http://schemas.openxmlformats.org/presentationml/2006/ole">
            <mc:AlternateContent xmlns:mc="http://schemas.openxmlformats.org/markup-compatibility/2006">
              <mc:Choice xmlns:v="urn:schemas-microsoft-com:vml" Requires="v">
                <p:oleObj spid="_x0000_s21641" name="Equation" r:id="rId6" imgW="622080" imgH="317160" progId="Equation.DSMT4">
                  <p:embed/>
                </p:oleObj>
              </mc:Choice>
              <mc:Fallback>
                <p:oleObj name="Equation" r:id="rId6" imgW="622080" imgH="317160" progId="Equation.DSMT4">
                  <p:embed/>
                  <p:pic>
                    <p:nvPicPr>
                      <p:cNvPr id="0" name=""/>
                      <p:cNvPicPr/>
                      <p:nvPr/>
                    </p:nvPicPr>
                    <p:blipFill>
                      <a:blip r:embed="rId7"/>
                      <a:stretch>
                        <a:fillRect/>
                      </a:stretch>
                    </p:blipFill>
                    <p:spPr>
                      <a:xfrm>
                        <a:off x="1877682" y="5714175"/>
                        <a:ext cx="1757385" cy="686489"/>
                      </a:xfrm>
                      <a:prstGeom prst="rect">
                        <a:avLst/>
                      </a:prstGeom>
                    </p:spPr>
                  </p:pic>
                </p:oleObj>
              </mc:Fallback>
            </mc:AlternateContent>
          </a:graphicData>
        </a:graphic>
      </p:graphicFrame>
      <p:sp>
        <p:nvSpPr>
          <p:cNvPr id="27" name="矩形 26">
            <a:extLst>
              <a:ext uri="{FF2B5EF4-FFF2-40B4-BE49-F238E27FC236}">
                <a16:creationId xmlns:a16="http://schemas.microsoft.com/office/drawing/2014/main" id="{64509930-9DFB-420E-8F32-960E50399825}"/>
              </a:ext>
            </a:extLst>
          </p:cNvPr>
          <p:cNvSpPr/>
          <p:nvPr/>
        </p:nvSpPr>
        <p:spPr>
          <a:xfrm>
            <a:off x="1571711" y="258777"/>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8" name="圆角矩形 43">
            <a:extLst>
              <a:ext uri="{FF2B5EF4-FFF2-40B4-BE49-F238E27FC236}">
                <a16:creationId xmlns:a16="http://schemas.microsoft.com/office/drawing/2014/main" id="{7D086454-5B10-4064-9B8F-531209592F7E}"/>
              </a:ext>
            </a:extLst>
          </p:cNvPr>
          <p:cNvSpPr/>
          <p:nvPr/>
        </p:nvSpPr>
        <p:spPr>
          <a:xfrm rot="10800000" flipV="1">
            <a:off x="185084" y="242948"/>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20204" pitchFamily="34" charset="0"/>
                <a:ea typeface="宋体" panose="02010600030101010101" pitchFamily="2" charset="-122"/>
                <a:cs typeface="Arial" panose="020B0604020202020204" pitchFamily="34" charset="0"/>
              </a:rPr>
              <a:t>9.4.3</a:t>
            </a:r>
            <a:endParaRPr lang="zh-CN" altLang="en-US" sz="3200" b="1" dirty="0">
              <a:latin typeface="Arial" panose="020B0604020202020204" pitchFamily="34" charset="0"/>
              <a:ea typeface="宋体" panose="02010600030101010101" pitchFamily="2" charset="-122"/>
              <a:cs typeface="Arial" panose="020B0604020202020204" pitchFamily="34" charset="0"/>
            </a:endParaRPr>
          </a:p>
        </p:txBody>
      </p:sp>
      <p:sp>
        <p:nvSpPr>
          <p:cNvPr id="39" name="矩形 38">
            <a:extLst>
              <a:ext uri="{FF2B5EF4-FFF2-40B4-BE49-F238E27FC236}">
                <a16:creationId xmlns:a16="http://schemas.microsoft.com/office/drawing/2014/main" id="{2A2F604C-DA27-459E-8419-ED777356D653}"/>
              </a:ext>
            </a:extLst>
          </p:cNvPr>
          <p:cNvSpPr/>
          <p:nvPr/>
        </p:nvSpPr>
        <p:spPr>
          <a:xfrm>
            <a:off x="1877682" y="240301"/>
            <a:ext cx="4998476" cy="615549"/>
          </a:xfrm>
          <a:prstGeom prst="rect">
            <a:avLst/>
          </a:prstGeom>
        </p:spPr>
        <p:txBody>
          <a:bodyPr wrap="none" lIns="91436" tIns="45718" rIns="91436" bIns="45718">
            <a:spAutoFit/>
          </a:bodyPr>
          <a:lstStyle/>
          <a:p>
            <a:pPr algn="ctr"/>
            <a:r>
              <a:rPr lang="zh-CN" altLang="en-US" sz="3400" b="1" dirty="0">
                <a:solidFill>
                  <a:schemeClr val="bg1"/>
                </a:solidFill>
                <a:latin typeface="宋体" panose="02010600030101010101" pitchFamily="2" charset="-122"/>
                <a:ea typeface="宋体" panose="02010600030101010101" pitchFamily="2" charset="-122"/>
              </a:rPr>
              <a:t>管道泄漏定位和灾害预测</a:t>
            </a:r>
            <a:endParaRPr lang="en-US" altLang="zh-CN" sz="3400" b="1" dirty="0">
              <a:solidFill>
                <a:schemeClr val="bg1"/>
              </a:solidFill>
              <a:latin typeface="宋体" panose="02010600030101010101" pitchFamily="2" charset="-122"/>
              <a:ea typeface="宋体" panose="02010600030101010101" pitchFamily="2" charset="-122"/>
            </a:endParaRPr>
          </a:p>
        </p:txBody>
      </p:sp>
      <p:sp>
        <p:nvSpPr>
          <p:cNvPr id="6" name="矩形 5"/>
          <p:cNvSpPr/>
          <p:nvPr/>
        </p:nvSpPr>
        <p:spPr>
          <a:xfrm>
            <a:off x="185084" y="1384031"/>
            <a:ext cx="3449983" cy="461665"/>
          </a:xfrm>
          <a:prstGeom prst="rect">
            <a:avLst/>
          </a:prstGeom>
          <a:solidFill>
            <a:srgbClr val="92D050"/>
          </a:solidFill>
        </p:spPr>
        <p:txBody>
          <a:bodyPr wrap="none">
            <a:spAutoFit/>
          </a:bodyPr>
          <a:lstStyle/>
          <a:p>
            <a:pPr>
              <a:spcBef>
                <a:spcPts val="624"/>
              </a:spcBef>
            </a:pPr>
            <a:r>
              <a:rPr lang="en-US" altLang="zh-CN" sz="2400" b="1" dirty="0">
                <a:latin typeface="Arial" panose="020B0604020202020204" pitchFamily="34" charset="0"/>
                <a:ea typeface="宋体" panose="02010600030101010101" pitchFamily="2" charset="-122"/>
                <a:cs typeface="Arial" panose="020B0604020202020204" pitchFamily="34" charset="0"/>
              </a:rPr>
              <a:t>1</a:t>
            </a:r>
            <a:r>
              <a:rPr lang="zh-CN" altLang="en-US" sz="2400" b="1" dirty="0">
                <a:latin typeface="Arial" panose="020B0604020202020204" pitchFamily="34" charset="0"/>
                <a:ea typeface="宋体" panose="02010600030101010101" pitchFamily="2" charset="-122"/>
                <a:cs typeface="Arial" panose="020B0604020202020204" pitchFamily="34" charset="0"/>
              </a:rPr>
              <a:t>、次声波管道泄漏定位</a:t>
            </a:r>
          </a:p>
        </p:txBody>
      </p:sp>
      <p:sp>
        <p:nvSpPr>
          <p:cNvPr id="10" name="矩形 9"/>
          <p:cNvSpPr/>
          <p:nvPr/>
        </p:nvSpPr>
        <p:spPr>
          <a:xfrm>
            <a:off x="185085" y="1872630"/>
            <a:ext cx="4082116" cy="1684244"/>
          </a:xfrm>
          <a:prstGeom prst="rect">
            <a:avLst/>
          </a:prstGeom>
        </p:spPr>
        <p:txBody>
          <a:bodyPr wrap="square">
            <a:spAutoFit/>
          </a:bodyPr>
          <a:lstStyle/>
          <a:p>
            <a:pPr>
              <a:lnSpc>
                <a:spcPct val="150000"/>
              </a:lnSpc>
              <a:spcBef>
                <a:spcPts val="624"/>
              </a:spcBef>
            </a:pPr>
            <a:r>
              <a:rPr lang="zh-CN" altLang="en-US" sz="2400" b="1" dirty="0">
                <a:latin typeface="Arial" panose="020B0604020202020204" pitchFamily="34" charset="0"/>
                <a:ea typeface="宋体" panose="02010600030101010101" pitchFamily="2" charset="-122"/>
                <a:cs typeface="Arial" panose="020B0604020202020204" pitchFamily="34" charset="0"/>
              </a:rPr>
              <a:t>从泄漏开始计时，</a:t>
            </a:r>
            <a:r>
              <a:rPr lang="en-US" altLang="zh-CN" sz="2400" b="1" dirty="0">
                <a:latin typeface="宋体" pitchFamily="2" charset="-122"/>
                <a:ea typeface="宋体" pitchFamily="2" charset="-122"/>
                <a:cs typeface="Arial" panose="020B0604020202020204" pitchFamily="34" charset="0"/>
              </a:rPr>
              <a:t>A</a:t>
            </a:r>
            <a:r>
              <a:rPr lang="zh-CN" altLang="en-US" sz="2400" b="1" dirty="0">
                <a:latin typeface="宋体" pitchFamily="2" charset="-122"/>
                <a:ea typeface="宋体" pitchFamily="2" charset="-122"/>
                <a:cs typeface="Arial" panose="020B0604020202020204" pitchFamily="34" charset="0"/>
              </a:rPr>
              <a:t>、</a:t>
            </a:r>
            <a:r>
              <a:rPr lang="en-US" altLang="zh-CN" sz="2400" b="1" dirty="0">
                <a:latin typeface="宋体" pitchFamily="2" charset="-122"/>
                <a:ea typeface="宋体" pitchFamily="2" charset="-122"/>
                <a:cs typeface="Arial" panose="020B0604020202020204" pitchFamily="34" charset="0"/>
              </a:rPr>
              <a:t>B</a:t>
            </a:r>
            <a:r>
              <a:rPr lang="zh-CN" altLang="en-US" sz="2400" b="1" dirty="0">
                <a:latin typeface="Arial" panose="020B0604020202020204" pitchFamily="34" charset="0"/>
                <a:ea typeface="宋体" panose="02010600030101010101" pitchFamily="2" charset="-122"/>
                <a:cs typeface="Arial" panose="020B0604020202020204" pitchFamily="34" charset="0"/>
              </a:rPr>
              <a:t>两端捕捉到次声波的时间分</a:t>
            </a:r>
            <a:r>
              <a:rPr lang="zh-CN" altLang="en-US" sz="2400" b="1">
                <a:latin typeface="Arial" panose="020B0604020202020204" pitchFamily="34" charset="0"/>
                <a:ea typeface="宋体" panose="02010600030101010101" pitchFamily="2" charset="-122"/>
                <a:cs typeface="Arial" panose="020B0604020202020204" pitchFamily="34" charset="0"/>
              </a:rPr>
              <a:t>别为 </a:t>
            </a:r>
            <a:r>
              <a:rPr lang="en-US" altLang="zh-CN" sz="2400" i="1">
                <a:latin typeface="Times New Roman" panose="02020603050405020304" pitchFamily="18" charset="0"/>
                <a:ea typeface="宋体" panose="02010600030101010101" pitchFamily="2" charset="-122"/>
                <a:cs typeface="Times New Roman" panose="02020603050405020304" pitchFamily="18" charset="0"/>
              </a:rPr>
              <a:t>t</a:t>
            </a:r>
            <a:r>
              <a:rPr lang="en-US" altLang="zh-CN" sz="2400" baseline="-25000">
                <a:latin typeface="Times New Roman" panose="02020603050405020304" pitchFamily="18" charset="0"/>
                <a:ea typeface="宋体" panose="02010600030101010101" pitchFamily="2" charset="-122"/>
                <a:cs typeface="Times New Roman" panose="02020603050405020304" pitchFamily="18" charset="0"/>
              </a:rPr>
              <a:t>1</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rPr>
              <a:t>t</a:t>
            </a:r>
            <a:r>
              <a:rPr lang="en-US" altLang="zh-CN" sz="2400" baseline="-25000" dirty="0">
                <a:latin typeface="Times New Roman" panose="02020603050405020304" pitchFamily="18" charset="0"/>
                <a:ea typeface="宋体" panose="02010600030101010101" pitchFamily="2" charset="-122"/>
                <a:cs typeface="Times New Roman" panose="02020603050405020304" pitchFamily="18" charset="0"/>
              </a:rPr>
              <a:t>2</a:t>
            </a:r>
            <a:r>
              <a:rPr lang="zh-CN" altLang="en-US" sz="2400" b="1" dirty="0">
                <a:latin typeface="Arial" panose="020B0604020202020204" pitchFamily="34" charset="0"/>
                <a:ea typeface="宋体" panose="02010600030101010101" pitchFamily="2" charset="-122"/>
                <a:cs typeface="Arial" panose="020B0604020202020204" pitchFamily="34" charset="0"/>
              </a:rPr>
              <a:t>，则有</a:t>
            </a:r>
            <a:endParaRPr lang="en-US" altLang="zh-CN" sz="2400" b="1" dirty="0">
              <a:latin typeface="Arial" panose="020B0604020202020204" pitchFamily="34" charset="0"/>
              <a:ea typeface="宋体" panose="02010600030101010101" pitchFamily="2" charset="-122"/>
              <a:cs typeface="Arial" panose="020B0604020202020204" pitchFamily="34" charset="0"/>
            </a:endParaRPr>
          </a:p>
        </p:txBody>
      </p:sp>
      <p:sp>
        <p:nvSpPr>
          <p:cNvPr id="12" name="矩形 11"/>
          <p:cNvSpPr/>
          <p:nvPr/>
        </p:nvSpPr>
        <p:spPr>
          <a:xfrm>
            <a:off x="162602" y="5176022"/>
            <a:ext cx="4575602" cy="830997"/>
          </a:xfrm>
          <a:prstGeom prst="rect">
            <a:avLst/>
          </a:prstGeom>
        </p:spPr>
        <p:txBody>
          <a:bodyPr wrap="square">
            <a:spAutoFit/>
          </a:bodyPr>
          <a:lstStyle/>
          <a:p>
            <a:r>
              <a:rPr lang="zh-CN" altLang="en-US" sz="2400" b="1" dirty="0">
                <a:latin typeface="Arial" panose="020B0604020202020204" pitchFamily="34" charset="0"/>
                <a:ea typeface="宋体" panose="02010600030101010101" pitchFamily="2" charset="-122"/>
                <a:cs typeface="Arial" panose="020B0604020202020204" pitchFamily="34" charset="0"/>
              </a:rPr>
              <a:t>泄漏点到管道上端传感器</a:t>
            </a:r>
            <a:r>
              <a:rPr lang="en-US" altLang="zh-CN" sz="2400" b="1" dirty="0">
                <a:latin typeface="宋体" pitchFamily="2" charset="-122"/>
                <a:ea typeface="宋体" pitchFamily="2" charset="-122"/>
                <a:cs typeface="Arial" panose="020B0604020202020204" pitchFamily="34" charset="0"/>
              </a:rPr>
              <a:t>1(A</a:t>
            </a:r>
            <a:r>
              <a:rPr lang="zh-CN" altLang="en-US" sz="2400" b="1" dirty="0">
                <a:latin typeface="宋体" pitchFamily="2" charset="-122"/>
                <a:ea typeface="宋体" pitchFamily="2" charset="-122"/>
                <a:cs typeface="Arial" panose="020B0604020202020204" pitchFamily="34" charset="0"/>
              </a:rPr>
              <a:t>点</a:t>
            </a:r>
            <a:r>
              <a:rPr lang="en-US" altLang="zh-CN" sz="2400" b="1" dirty="0">
                <a:latin typeface="宋体" pitchFamily="2" charset="-122"/>
                <a:ea typeface="宋体" pitchFamily="2" charset="-122"/>
                <a:cs typeface="Arial" panose="020B0604020202020204" pitchFamily="34" charset="0"/>
              </a:rPr>
              <a:t>)</a:t>
            </a:r>
            <a:r>
              <a:rPr lang="zh-CN" altLang="en-US" sz="2400" b="1" dirty="0">
                <a:latin typeface="Arial" panose="020B0604020202020204" pitchFamily="34" charset="0"/>
                <a:ea typeface="宋体" panose="02010600030101010101" pitchFamily="2" charset="-122"/>
                <a:cs typeface="Arial" panose="020B0604020202020204" pitchFamily="34" charset="0"/>
              </a:rPr>
              <a:t>的距离</a:t>
            </a:r>
            <a:r>
              <a:rPr lang="en-US" altLang="zh-CN" sz="2400" b="1" i="1" dirty="0">
                <a:latin typeface="Times New Roman" panose="02020603050405020304" pitchFamily="18" charset="0"/>
                <a:ea typeface="宋体" panose="02010600030101010101" pitchFamily="2" charset="-122"/>
                <a:cs typeface="Times New Roman" panose="02020603050405020304" pitchFamily="18" charset="0"/>
              </a:rPr>
              <a:t>X</a:t>
            </a:r>
            <a:endParaRPr lang="zh-CN" altLang="en-US" sz="2400" i="1" dirty="0">
              <a:latin typeface="Times New Roman" panose="02020603050405020304" pitchFamily="18"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id="{FFEAD3A6-F576-4958-80DA-81C8E8EB50BD}"/>
              </a:ext>
            </a:extLst>
          </p:cNvPr>
          <p:cNvSpPr>
            <a:spLocks noGrp="1"/>
          </p:cNvSpPr>
          <p:nvPr>
            <p:ph type="sldNum" sz="quarter" idx="12"/>
          </p:nvPr>
        </p:nvSpPr>
        <p:spPr/>
        <p:txBody>
          <a:bodyPr/>
          <a:lstStyle/>
          <a:p>
            <a:fld id="{B53602B4-F12B-41CD-B648-531F86B2CC91}" type="slidenum">
              <a:rPr lang="zh-CN" altLang="en-US" smtClean="0"/>
              <a:t>50</a:t>
            </a:fld>
            <a:endParaRPr lang="zh-CN" altLang="en-US"/>
          </a:p>
        </p:txBody>
      </p:sp>
      <p:sp>
        <p:nvSpPr>
          <p:cNvPr id="24" name="Text Box 59">
            <a:extLst>
              <a:ext uri="{FF2B5EF4-FFF2-40B4-BE49-F238E27FC236}">
                <a16:creationId xmlns:a16="http://schemas.microsoft.com/office/drawing/2014/main" id="{3D22EA0C-F847-42CB-9F0A-D0DE239DD63A}"/>
              </a:ext>
            </a:extLst>
          </p:cNvPr>
          <p:cNvSpPr txBox="1">
            <a:spLocks noChangeArrowheads="1"/>
          </p:cNvSpPr>
          <p:nvPr/>
        </p:nvSpPr>
        <p:spPr bwMode="auto">
          <a:xfrm>
            <a:off x="5070458" y="4911481"/>
            <a:ext cx="3888457" cy="5355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buFontTx/>
              <a:buNone/>
            </a:pPr>
            <a:r>
              <a:rPr kumimoji="0" lang="zh-CN" altLang="en-US" sz="2400" b="1" dirty="0">
                <a:solidFill>
                  <a:srgbClr val="3333CC"/>
                </a:solidFill>
                <a:latin typeface="宋体" pitchFamily="2" charset="-122"/>
              </a:rPr>
              <a:t>图</a:t>
            </a:r>
            <a:r>
              <a:rPr kumimoji="0" lang="en-US" altLang="zh-CN" sz="2400" b="1" dirty="0">
                <a:solidFill>
                  <a:srgbClr val="3333CC"/>
                </a:solidFill>
                <a:latin typeface="宋体" pitchFamily="2" charset="-122"/>
              </a:rPr>
              <a:t>9-14 </a:t>
            </a:r>
            <a:r>
              <a:rPr kumimoji="0" lang="zh-CN" altLang="en-US" sz="2400" b="1" dirty="0">
                <a:solidFill>
                  <a:srgbClr val="3333CC"/>
                </a:solidFill>
                <a:latin typeface="宋体" pitchFamily="2" charset="-122"/>
              </a:rPr>
              <a:t>次声波定位原理图</a:t>
            </a:r>
          </a:p>
        </p:txBody>
      </p:sp>
      <p:pic>
        <p:nvPicPr>
          <p:cNvPr id="26" name="图片 2">
            <a:extLst>
              <a:ext uri="{FF2B5EF4-FFF2-40B4-BE49-F238E27FC236}">
                <a16:creationId xmlns:a16="http://schemas.microsoft.com/office/drawing/2014/main" id="{1619AA04-66EC-4F0A-B756-C4F8C8F8D0E6}"/>
              </a:ext>
            </a:extLst>
          </p:cNvPr>
          <p:cNvPicPr>
            <a:picLocks noChangeAspect="1"/>
          </p:cNvPicPr>
          <p:nvPr/>
        </p:nvPicPr>
        <p:blipFill>
          <a:blip r:embed="rId8"/>
          <a:stretch>
            <a:fillRect/>
          </a:stretch>
        </p:blipFill>
        <p:spPr>
          <a:xfrm>
            <a:off x="4549241" y="2610380"/>
            <a:ext cx="4524909" cy="1684244"/>
          </a:xfrm>
          <a:prstGeom prst="rect">
            <a:avLst/>
          </a:prstGeom>
        </p:spPr>
      </p:pic>
    </p:spTree>
    <p:extLst>
      <p:ext uri="{BB962C8B-B14F-4D97-AF65-F5344CB8AC3E}">
        <p14:creationId xmlns:p14="http://schemas.microsoft.com/office/powerpoint/2010/main" val="2051953237"/>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49142242-5E57-4D15-A0DD-17CB598A023D}"/>
              </a:ext>
            </a:extLst>
          </p:cNvPr>
          <p:cNvSpPr txBox="1"/>
          <p:nvPr/>
        </p:nvSpPr>
        <p:spPr>
          <a:xfrm>
            <a:off x="211787" y="2148217"/>
            <a:ext cx="8330265" cy="3568280"/>
          </a:xfrm>
          <a:prstGeom prst="rect">
            <a:avLst/>
          </a:prstGeom>
          <a:noFill/>
        </p:spPr>
        <p:txBody>
          <a:bodyPr wrap="square" lIns="91436" tIns="45718" rIns="91436" bIns="45718" rtlCol="0">
            <a:spAutoFit/>
          </a:bodyPr>
          <a:lstStyle/>
          <a:p>
            <a:pPr indent="627063">
              <a:lnSpc>
                <a:spcPts val="3600"/>
              </a:lnSpc>
              <a:spcBef>
                <a:spcPts val="1200"/>
              </a:spcBef>
            </a:pPr>
            <a:r>
              <a:rPr lang="zh-CN" altLang="en-US" sz="2400" b="1" dirty="0">
                <a:latin typeface="宋体" panose="02010600030101010101" pitchFamily="2" charset="-122"/>
                <a:ea typeface="宋体" panose="02010600030101010101" pitchFamily="2" charset="-122"/>
                <a:cs typeface="Arial" panose="020B0604020202020204" pitchFamily="34" charset="0"/>
              </a:rPr>
              <a:t>地震、火山爆发、雷暴、风暴、陨石落地、大气湍流等自然灾害，在发生前可能会</a:t>
            </a:r>
            <a:r>
              <a:rPr lang="zh-CN" altLang="en-US" sz="2400" b="1" dirty="0">
                <a:solidFill>
                  <a:srgbClr val="3333CC"/>
                </a:solidFill>
                <a:latin typeface="宋体" panose="02010600030101010101" pitchFamily="2" charset="-122"/>
                <a:ea typeface="宋体" panose="02010600030101010101" pitchFamily="2" charset="-122"/>
                <a:cs typeface="Arial" panose="020B0604020202020204" pitchFamily="34" charset="0"/>
              </a:rPr>
              <a:t>辐射出次声波</a:t>
            </a:r>
            <a:r>
              <a:rPr lang="zh-CN" altLang="en-US" sz="2400" b="1" dirty="0">
                <a:latin typeface="宋体" panose="02010600030101010101" pitchFamily="2" charset="-122"/>
                <a:ea typeface="宋体" panose="02010600030101010101" pitchFamily="2" charset="-122"/>
                <a:cs typeface="Arial" panose="020B0604020202020204" pitchFamily="34" charset="0"/>
              </a:rPr>
              <a:t>。</a:t>
            </a:r>
            <a:endParaRPr lang="en-US" altLang="zh-CN" sz="2400" b="1" dirty="0">
              <a:latin typeface="宋体" panose="02010600030101010101" pitchFamily="2" charset="-122"/>
              <a:ea typeface="宋体" panose="02010600030101010101" pitchFamily="2" charset="-122"/>
              <a:cs typeface="Arial" panose="020B0604020202020204" pitchFamily="34" charset="0"/>
            </a:endParaRPr>
          </a:p>
          <a:p>
            <a:pPr indent="627063">
              <a:lnSpc>
                <a:spcPts val="3600"/>
              </a:lnSpc>
              <a:spcBef>
                <a:spcPts val="1200"/>
              </a:spcBef>
            </a:pPr>
            <a:r>
              <a:rPr lang="zh-CN" altLang="en-US" sz="2400" b="1" dirty="0">
                <a:latin typeface="宋体" panose="02010600030101010101" pitchFamily="2" charset="-122"/>
                <a:ea typeface="宋体" panose="02010600030101010101" pitchFamily="2" charset="-122"/>
                <a:cs typeface="Arial" panose="020B0604020202020204" pitchFamily="34" charset="0"/>
              </a:rPr>
              <a:t>海底地震所引发的海啸在推进过程中会向空中和水体同时发射低频次声波信号。利用</a:t>
            </a:r>
            <a:r>
              <a:rPr lang="zh-CN" altLang="en-US" sz="2400" b="1" dirty="0">
                <a:solidFill>
                  <a:srgbClr val="FF0000"/>
                </a:solidFill>
                <a:latin typeface="宋体" panose="02010600030101010101" pitchFamily="2" charset="-122"/>
                <a:ea typeface="宋体" panose="02010600030101010101" pitchFamily="2" charset="-122"/>
                <a:cs typeface="Arial" panose="020B0604020202020204" pitchFamily="34" charset="0"/>
              </a:rPr>
              <a:t>次声波</a:t>
            </a:r>
            <a:r>
              <a:rPr lang="zh-CN" altLang="en-US" sz="2400" b="1" dirty="0">
                <a:latin typeface="宋体" panose="02010600030101010101" pitchFamily="2" charset="-122"/>
                <a:ea typeface="宋体" panose="02010600030101010101" pitchFamily="2" charset="-122"/>
                <a:cs typeface="Arial" panose="020B0604020202020204" pitchFamily="34" charset="0"/>
              </a:rPr>
              <a:t>在海水中的传播速度快于在空气中的传播速度的特性，可提前测量到海啸的信息。</a:t>
            </a:r>
            <a:endParaRPr lang="en-US" altLang="zh-CN" sz="2400" b="1" dirty="0">
              <a:latin typeface="宋体" panose="02010600030101010101" pitchFamily="2" charset="-122"/>
              <a:ea typeface="宋体" panose="02010600030101010101" pitchFamily="2" charset="-122"/>
              <a:cs typeface="Arial" panose="020B0604020202020204" pitchFamily="34" charset="0"/>
            </a:endParaRPr>
          </a:p>
          <a:p>
            <a:pPr indent="627063">
              <a:lnSpc>
                <a:spcPts val="3600"/>
              </a:lnSpc>
              <a:spcBef>
                <a:spcPts val="1200"/>
              </a:spcBef>
            </a:pPr>
            <a:r>
              <a:rPr lang="zh-CN" altLang="en-US" sz="2400" b="1" dirty="0">
                <a:latin typeface="宋体" panose="02010600030101010101" pitchFamily="2" charset="-122"/>
                <a:ea typeface="宋体" panose="02010600030101010101" pitchFamily="2" charset="-122"/>
                <a:cs typeface="Arial" panose="020B0604020202020204" pitchFamily="34" charset="0"/>
              </a:rPr>
              <a:t>例如用</a:t>
            </a:r>
            <a:r>
              <a:rPr lang="zh-CN" altLang="en-US" sz="2400" b="1" dirty="0">
                <a:solidFill>
                  <a:srgbClr val="FF0000"/>
                </a:solidFill>
                <a:latin typeface="宋体" panose="02010600030101010101" pitchFamily="2" charset="-122"/>
                <a:ea typeface="宋体" panose="02010600030101010101" pitchFamily="2" charset="-122"/>
                <a:cs typeface="Arial" panose="020B0604020202020204" pitchFamily="34" charset="0"/>
              </a:rPr>
              <a:t>电容式次声波传感器</a:t>
            </a:r>
            <a:r>
              <a:rPr lang="zh-CN" altLang="en-US" sz="2400" b="1" dirty="0">
                <a:latin typeface="宋体" panose="02010600030101010101" pitchFamily="2" charset="-122"/>
                <a:ea typeface="宋体" panose="02010600030101010101" pitchFamily="2" charset="-122"/>
                <a:cs typeface="Arial" panose="020B0604020202020204" pitchFamily="34" charset="0"/>
              </a:rPr>
              <a:t>既能接收到地震次声波信号，又能接收到海啸的次声波信号。</a:t>
            </a:r>
          </a:p>
        </p:txBody>
      </p:sp>
      <p:sp>
        <p:nvSpPr>
          <p:cNvPr id="27" name="矩形 26">
            <a:extLst>
              <a:ext uri="{FF2B5EF4-FFF2-40B4-BE49-F238E27FC236}">
                <a16:creationId xmlns:a16="http://schemas.microsoft.com/office/drawing/2014/main" id="{64509930-9DFB-420E-8F32-960E50399825}"/>
              </a:ext>
            </a:extLst>
          </p:cNvPr>
          <p:cNvSpPr/>
          <p:nvPr/>
        </p:nvSpPr>
        <p:spPr>
          <a:xfrm>
            <a:off x="1571711" y="258777"/>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8" name="圆角矩形 43">
            <a:extLst>
              <a:ext uri="{FF2B5EF4-FFF2-40B4-BE49-F238E27FC236}">
                <a16:creationId xmlns:a16="http://schemas.microsoft.com/office/drawing/2014/main" id="{7D086454-5B10-4064-9B8F-531209592F7E}"/>
              </a:ext>
            </a:extLst>
          </p:cNvPr>
          <p:cNvSpPr/>
          <p:nvPr/>
        </p:nvSpPr>
        <p:spPr>
          <a:xfrm rot="10800000" flipV="1">
            <a:off x="185084" y="242948"/>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20204" pitchFamily="34" charset="0"/>
                <a:ea typeface="宋体" panose="02010600030101010101" pitchFamily="2" charset="-122"/>
                <a:cs typeface="Arial" panose="020B0604020202020204" pitchFamily="34" charset="0"/>
              </a:rPr>
              <a:t>9.4.3</a:t>
            </a:r>
            <a:endParaRPr lang="zh-CN" altLang="en-US" sz="3200" b="1" dirty="0">
              <a:latin typeface="Arial" panose="020B0604020202020204" pitchFamily="34" charset="0"/>
              <a:ea typeface="宋体" panose="02010600030101010101" pitchFamily="2" charset="-122"/>
              <a:cs typeface="Arial" panose="020B0604020202020204" pitchFamily="34" charset="0"/>
            </a:endParaRPr>
          </a:p>
        </p:txBody>
      </p:sp>
      <p:sp>
        <p:nvSpPr>
          <p:cNvPr id="39" name="矩形 38">
            <a:extLst>
              <a:ext uri="{FF2B5EF4-FFF2-40B4-BE49-F238E27FC236}">
                <a16:creationId xmlns:a16="http://schemas.microsoft.com/office/drawing/2014/main" id="{2A2F604C-DA27-459E-8419-ED777356D653}"/>
              </a:ext>
            </a:extLst>
          </p:cNvPr>
          <p:cNvSpPr/>
          <p:nvPr/>
        </p:nvSpPr>
        <p:spPr>
          <a:xfrm>
            <a:off x="1877682" y="240301"/>
            <a:ext cx="4998476" cy="615549"/>
          </a:xfrm>
          <a:prstGeom prst="rect">
            <a:avLst/>
          </a:prstGeom>
        </p:spPr>
        <p:txBody>
          <a:bodyPr wrap="none" lIns="91436" tIns="45718" rIns="91436" bIns="45718">
            <a:spAutoFit/>
          </a:bodyPr>
          <a:lstStyle/>
          <a:p>
            <a:pPr algn="ctr"/>
            <a:r>
              <a:rPr lang="zh-CN" altLang="en-US" sz="3400" b="1" dirty="0">
                <a:solidFill>
                  <a:schemeClr val="bg1"/>
                </a:solidFill>
                <a:latin typeface="宋体" panose="02010600030101010101" pitchFamily="2" charset="-122"/>
                <a:ea typeface="宋体" panose="02010600030101010101" pitchFamily="2" charset="-122"/>
              </a:rPr>
              <a:t>管道泄漏定位和灾害预测</a:t>
            </a:r>
            <a:endParaRPr lang="en-US" altLang="zh-CN" sz="3400" b="1" dirty="0">
              <a:solidFill>
                <a:schemeClr val="bg1"/>
              </a:solidFill>
              <a:latin typeface="宋体" panose="02010600030101010101" pitchFamily="2" charset="-122"/>
              <a:ea typeface="宋体" panose="02010600030101010101" pitchFamily="2" charset="-122"/>
            </a:endParaRPr>
          </a:p>
        </p:txBody>
      </p:sp>
      <p:sp>
        <p:nvSpPr>
          <p:cNvPr id="5" name="矩形 4"/>
          <p:cNvSpPr/>
          <p:nvPr/>
        </p:nvSpPr>
        <p:spPr>
          <a:xfrm>
            <a:off x="185084" y="1278523"/>
            <a:ext cx="2521844" cy="461665"/>
          </a:xfrm>
          <a:prstGeom prst="rect">
            <a:avLst/>
          </a:prstGeom>
          <a:solidFill>
            <a:srgbClr val="92D050"/>
          </a:solidFill>
        </p:spPr>
        <p:txBody>
          <a:bodyPr wrap="none">
            <a:spAutoFit/>
          </a:bodyPr>
          <a:lstStyle/>
          <a:p>
            <a:pPr>
              <a:spcBef>
                <a:spcPts val="624"/>
              </a:spcBef>
            </a:pPr>
            <a:r>
              <a:rPr lang="en-US" altLang="zh-CN" sz="2400" b="1" dirty="0">
                <a:latin typeface="Arial" panose="020B0604020202020204" pitchFamily="34" charset="0"/>
                <a:ea typeface="宋体" panose="02010600030101010101" pitchFamily="2" charset="-122"/>
                <a:cs typeface="Arial" panose="020B0604020202020204" pitchFamily="34" charset="0"/>
              </a:rPr>
              <a:t>2</a:t>
            </a:r>
            <a:r>
              <a:rPr lang="zh-CN" altLang="en-US" sz="2400" b="1" dirty="0">
                <a:latin typeface="Arial" panose="020B0604020202020204" pitchFamily="34" charset="0"/>
                <a:ea typeface="宋体" panose="02010600030101010101" pitchFamily="2" charset="-122"/>
                <a:cs typeface="Arial" panose="020B0604020202020204" pitchFamily="34" charset="0"/>
              </a:rPr>
              <a:t>、自然灾害预测</a:t>
            </a:r>
          </a:p>
        </p:txBody>
      </p:sp>
      <p:sp>
        <p:nvSpPr>
          <p:cNvPr id="2" name="Slide Number Placeholder 1">
            <a:extLst>
              <a:ext uri="{FF2B5EF4-FFF2-40B4-BE49-F238E27FC236}">
                <a16:creationId xmlns:a16="http://schemas.microsoft.com/office/drawing/2014/main" id="{F12EE5FB-4721-477B-BC64-9D17A904F45D}"/>
              </a:ext>
            </a:extLst>
          </p:cNvPr>
          <p:cNvSpPr>
            <a:spLocks noGrp="1"/>
          </p:cNvSpPr>
          <p:nvPr>
            <p:ph type="sldNum" sz="quarter" idx="12"/>
          </p:nvPr>
        </p:nvSpPr>
        <p:spPr/>
        <p:txBody>
          <a:bodyPr/>
          <a:lstStyle/>
          <a:p>
            <a:fld id="{B53602B4-F12B-41CD-B648-531F86B2CC91}" type="slidenum">
              <a:rPr lang="zh-CN" altLang="en-US" smtClean="0"/>
              <a:t>51</a:t>
            </a:fld>
            <a:endParaRPr lang="zh-CN" altLang="en-US"/>
          </a:p>
        </p:txBody>
      </p:sp>
    </p:spTree>
    <p:extLst>
      <p:ext uri="{BB962C8B-B14F-4D97-AF65-F5344CB8AC3E}">
        <p14:creationId xmlns:p14="http://schemas.microsoft.com/office/powerpoint/2010/main" val="3576266562"/>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A27B0E45-CC10-4805-AF7A-2E101778D64D}"/>
              </a:ext>
            </a:extLst>
          </p:cNvPr>
          <p:cNvSpPr txBox="1"/>
          <p:nvPr/>
        </p:nvSpPr>
        <p:spPr>
          <a:xfrm>
            <a:off x="1571711" y="1785025"/>
            <a:ext cx="5480980" cy="3354760"/>
          </a:xfrm>
          <a:prstGeom prst="rect">
            <a:avLst/>
          </a:prstGeom>
          <a:noFill/>
        </p:spPr>
        <p:txBody>
          <a:bodyPr wrap="none" lIns="91436" tIns="45718" rIns="91436" bIns="45718" rtlCol="0">
            <a:spAutoFit/>
          </a:bodyPr>
          <a:lstStyle/>
          <a:p>
            <a:pPr marL="342900" indent="-342900">
              <a:lnSpc>
                <a:spcPct val="200000"/>
              </a:lnSpc>
              <a:spcBef>
                <a:spcPts val="768"/>
              </a:spcBef>
              <a:buFont typeface="Arial" pitchFamily="34" charset="0"/>
              <a:buChar char="•"/>
            </a:pPr>
            <a:r>
              <a:rPr lang="zh-CN" altLang="en-US" sz="2400" b="1" dirty="0">
                <a:latin typeface="宋体" panose="02010600030101010101" pitchFamily="2" charset="-122"/>
                <a:ea typeface="宋体" panose="02010600030101010101" pitchFamily="2" charset="-122"/>
              </a:rPr>
              <a:t>声波的种类与物理特性</a:t>
            </a:r>
          </a:p>
          <a:p>
            <a:pPr marL="342900" indent="-342900">
              <a:lnSpc>
                <a:spcPct val="200000"/>
              </a:lnSpc>
              <a:spcBef>
                <a:spcPts val="768"/>
              </a:spcBef>
              <a:buFont typeface="Arial" pitchFamily="34" charset="0"/>
              <a:buChar char="•"/>
            </a:pPr>
            <a:r>
              <a:rPr lang="zh-CN" altLang="en-US" sz="2400" b="1" dirty="0">
                <a:latin typeface="宋体" panose="02010600030101010101" pitchFamily="2" charset="-122"/>
                <a:ea typeface="宋体" panose="02010600030101010101" pitchFamily="2" charset="-122"/>
              </a:rPr>
              <a:t>微波传感器的工作原理、组成及特点</a:t>
            </a:r>
            <a:endParaRPr lang="en-US" altLang="zh-CN" sz="2400" b="1" dirty="0">
              <a:latin typeface="宋体" panose="02010600030101010101" pitchFamily="2" charset="-122"/>
              <a:ea typeface="宋体" panose="02010600030101010101" pitchFamily="2" charset="-122"/>
            </a:endParaRPr>
          </a:p>
          <a:p>
            <a:pPr marL="342900" indent="-342900">
              <a:lnSpc>
                <a:spcPct val="200000"/>
              </a:lnSpc>
              <a:spcBef>
                <a:spcPts val="768"/>
              </a:spcBef>
              <a:buFont typeface="Arial" pitchFamily="34" charset="0"/>
              <a:buChar char="•"/>
            </a:pPr>
            <a:r>
              <a:rPr lang="zh-CN" altLang="en-US" sz="2400" b="1" dirty="0">
                <a:latin typeface="宋体" panose="02010600030101010101" pitchFamily="2" charset="-122"/>
                <a:ea typeface="宋体" panose="02010600030101010101" pitchFamily="2" charset="-122"/>
              </a:rPr>
              <a:t>超</a:t>
            </a:r>
            <a:r>
              <a:rPr lang="en-US" altLang="zh-CN" sz="2400" b="1" dirty="0">
                <a:latin typeface="宋体" panose="02010600030101010101" pitchFamily="2" charset="-122"/>
                <a:ea typeface="宋体" panose="02010600030101010101" pitchFamily="2" charset="-122"/>
              </a:rPr>
              <a:t>/</a:t>
            </a:r>
            <a:r>
              <a:rPr lang="zh-CN" altLang="en-US" sz="2400" b="1" dirty="0">
                <a:latin typeface="宋体" panose="02010600030101010101" pitchFamily="2" charset="-122"/>
                <a:ea typeface="宋体" panose="02010600030101010101" pitchFamily="2" charset="-122"/>
              </a:rPr>
              <a:t>次声波传感器的特征及分类</a:t>
            </a:r>
            <a:endParaRPr lang="en-US" altLang="zh-CN" sz="2400" b="1" dirty="0">
              <a:latin typeface="宋体" panose="02010600030101010101" pitchFamily="2" charset="-122"/>
              <a:ea typeface="宋体" panose="02010600030101010101" pitchFamily="2" charset="-122"/>
            </a:endParaRPr>
          </a:p>
          <a:p>
            <a:pPr marL="342900" indent="-342900">
              <a:lnSpc>
                <a:spcPct val="200000"/>
              </a:lnSpc>
              <a:spcBef>
                <a:spcPts val="768"/>
              </a:spcBef>
              <a:buFont typeface="Arial" pitchFamily="34" charset="0"/>
              <a:buChar char="•"/>
            </a:pPr>
            <a:r>
              <a:rPr lang="zh-CN" altLang="en-US" sz="2400" b="1" dirty="0">
                <a:latin typeface="宋体" panose="02010600030101010101" pitchFamily="2" charset="-122"/>
                <a:ea typeface="宋体" panose="02010600030101010101" pitchFamily="2" charset="-122"/>
              </a:rPr>
              <a:t>声波传感器的应用</a:t>
            </a:r>
          </a:p>
        </p:txBody>
      </p:sp>
      <p:sp>
        <p:nvSpPr>
          <p:cNvPr id="26" name="矩形 25">
            <a:extLst>
              <a:ext uri="{FF2B5EF4-FFF2-40B4-BE49-F238E27FC236}">
                <a16:creationId xmlns:a16="http://schemas.microsoft.com/office/drawing/2014/main" id="{64509930-9DFB-420E-8F32-960E50399825}"/>
              </a:ext>
            </a:extLst>
          </p:cNvPr>
          <p:cNvSpPr/>
          <p:nvPr/>
        </p:nvSpPr>
        <p:spPr>
          <a:xfrm>
            <a:off x="1571711" y="258777"/>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7" name="圆角矩形 43">
            <a:extLst>
              <a:ext uri="{FF2B5EF4-FFF2-40B4-BE49-F238E27FC236}">
                <a16:creationId xmlns:a16="http://schemas.microsoft.com/office/drawing/2014/main" id="{7D086454-5B10-4064-9B8F-531209592F7E}"/>
              </a:ext>
            </a:extLst>
          </p:cNvPr>
          <p:cNvSpPr/>
          <p:nvPr/>
        </p:nvSpPr>
        <p:spPr>
          <a:xfrm rot="10800000" flipV="1">
            <a:off x="185084" y="242948"/>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b="1" dirty="0">
                <a:latin typeface="Arial" panose="020B0604020202020204" pitchFamily="34" charset="0"/>
                <a:ea typeface="宋体" panose="02010600030101010101" pitchFamily="2" charset="-122"/>
                <a:cs typeface="Arial" panose="020B0604020202020204" pitchFamily="34" charset="0"/>
              </a:rPr>
              <a:t>9</a:t>
            </a:r>
            <a:endParaRPr lang="zh-CN" altLang="en-US" sz="3200" b="1" dirty="0">
              <a:latin typeface="Arial" panose="020B0604020202020204" pitchFamily="34" charset="0"/>
              <a:ea typeface="宋体" panose="02010600030101010101" pitchFamily="2" charset="-122"/>
              <a:cs typeface="Arial" panose="020B0604020202020204" pitchFamily="34" charset="0"/>
            </a:endParaRPr>
          </a:p>
        </p:txBody>
      </p:sp>
      <p:sp>
        <p:nvSpPr>
          <p:cNvPr id="38" name="矩形 37">
            <a:extLst>
              <a:ext uri="{FF2B5EF4-FFF2-40B4-BE49-F238E27FC236}">
                <a16:creationId xmlns:a16="http://schemas.microsoft.com/office/drawing/2014/main" id="{2A2F604C-DA27-459E-8419-ED777356D653}"/>
              </a:ext>
            </a:extLst>
          </p:cNvPr>
          <p:cNvSpPr/>
          <p:nvPr/>
        </p:nvSpPr>
        <p:spPr>
          <a:xfrm>
            <a:off x="1962692" y="240301"/>
            <a:ext cx="1935137" cy="615549"/>
          </a:xfrm>
          <a:prstGeom prst="rect">
            <a:avLst/>
          </a:prstGeom>
        </p:spPr>
        <p:txBody>
          <a:bodyPr wrap="none" lIns="91436" tIns="45718" rIns="91436" bIns="45718">
            <a:spAutoFit/>
          </a:bodyPr>
          <a:lstStyle/>
          <a:p>
            <a:pPr algn="ctr"/>
            <a:r>
              <a:rPr lang="zh-CN" altLang="en-US" sz="3400" b="1" dirty="0">
                <a:solidFill>
                  <a:schemeClr val="bg1"/>
                </a:solidFill>
                <a:latin typeface="宋体" panose="02010600030101010101" pitchFamily="2" charset="-122"/>
                <a:ea typeface="宋体" panose="02010600030101010101" pitchFamily="2" charset="-122"/>
              </a:rPr>
              <a:t>本章要点</a:t>
            </a:r>
            <a:endParaRPr lang="en-US" altLang="zh-CN" sz="3400" b="1" dirty="0">
              <a:solidFill>
                <a:schemeClr val="bg1"/>
              </a:solidFill>
              <a:latin typeface="宋体" panose="02010600030101010101" pitchFamily="2" charset="-122"/>
              <a:ea typeface="宋体" panose="02010600030101010101" pitchFamily="2" charset="-122"/>
            </a:endParaRPr>
          </a:p>
        </p:txBody>
      </p:sp>
      <p:sp>
        <p:nvSpPr>
          <p:cNvPr id="2" name="Slide Number Placeholder 1">
            <a:extLst>
              <a:ext uri="{FF2B5EF4-FFF2-40B4-BE49-F238E27FC236}">
                <a16:creationId xmlns:a16="http://schemas.microsoft.com/office/drawing/2014/main" id="{F2B547B2-8528-4D14-9387-AE2E83547788}"/>
              </a:ext>
            </a:extLst>
          </p:cNvPr>
          <p:cNvSpPr>
            <a:spLocks noGrp="1"/>
          </p:cNvSpPr>
          <p:nvPr>
            <p:ph type="sldNum" sz="quarter" idx="12"/>
          </p:nvPr>
        </p:nvSpPr>
        <p:spPr/>
        <p:txBody>
          <a:bodyPr/>
          <a:lstStyle/>
          <a:p>
            <a:fld id="{B53602B4-F12B-41CD-B648-531F86B2CC91}" type="slidenum">
              <a:rPr lang="zh-CN" altLang="en-US" smtClean="0"/>
              <a:t>52</a:t>
            </a:fld>
            <a:endParaRPr lang="zh-CN" altLang="en-US"/>
          </a:p>
        </p:txBody>
      </p:sp>
    </p:spTree>
    <p:extLst>
      <p:ext uri="{BB962C8B-B14F-4D97-AF65-F5344CB8AC3E}">
        <p14:creationId xmlns:p14="http://schemas.microsoft.com/office/powerpoint/2010/main" val="806637011"/>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2855</TotalTime>
  <Words>3792</Words>
  <Application>Microsoft Office PowerPoint</Application>
  <PresentationFormat>On-screen Show (4:3)</PresentationFormat>
  <Paragraphs>479</Paragraphs>
  <Slides>52</Slides>
  <Notes>43</Notes>
  <HiddenSlides>0</HiddenSlides>
  <MMClips>0</MMClips>
  <ScaleCrop>false</ScaleCrop>
  <HeadingPairs>
    <vt:vector size="8" baseType="variant">
      <vt:variant>
        <vt:lpstr>Fonts Used</vt:lpstr>
      </vt:variant>
      <vt:variant>
        <vt:i4>11</vt:i4>
      </vt:variant>
      <vt:variant>
        <vt:lpstr>Theme</vt:lpstr>
      </vt:variant>
      <vt:variant>
        <vt:i4>1</vt:i4>
      </vt:variant>
      <vt:variant>
        <vt:lpstr>Embedded OLE Servers</vt:lpstr>
      </vt:variant>
      <vt:variant>
        <vt:i4>1</vt:i4>
      </vt:variant>
      <vt:variant>
        <vt:lpstr>Slide Titles</vt:lpstr>
      </vt:variant>
      <vt:variant>
        <vt:i4>52</vt:i4>
      </vt:variant>
    </vt:vector>
  </HeadingPairs>
  <TitlesOfParts>
    <vt:vector size="65" baseType="lpstr">
      <vt:lpstr>宋体</vt:lpstr>
      <vt:lpstr>宋体</vt:lpstr>
      <vt:lpstr>微软雅黑</vt:lpstr>
      <vt:lpstr>等线</vt:lpstr>
      <vt:lpstr>等线 Light</vt:lpstr>
      <vt:lpstr>Arial</vt:lpstr>
      <vt:lpstr>Cambria Math</vt:lpstr>
      <vt:lpstr>Courier New</vt:lpstr>
      <vt:lpstr>Palatino Linotype</vt:lpstr>
      <vt:lpstr>Times New Roman</vt:lpstr>
      <vt:lpstr>Wingdings</vt:lpstr>
      <vt:lpstr>Office 主题​​</vt:lpstr>
      <vt:lpstr>Equation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nyu</dc:creator>
  <cp:lastModifiedBy>nyu ^_^</cp:lastModifiedBy>
  <cp:revision>190</cp:revision>
  <dcterms:created xsi:type="dcterms:W3CDTF">2020-09-26T11:04:14Z</dcterms:created>
  <dcterms:modified xsi:type="dcterms:W3CDTF">2023-11-29T01:38:31Z</dcterms:modified>
</cp:coreProperties>
</file>