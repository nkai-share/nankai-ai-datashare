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sldIdLst>
    <p:sldId id="259" r:id="rId2"/>
    <p:sldId id="262" r:id="rId3"/>
    <p:sldId id="317" r:id="rId4"/>
    <p:sldId id="281" r:id="rId5"/>
    <p:sldId id="318" r:id="rId6"/>
    <p:sldId id="319" r:id="rId7"/>
    <p:sldId id="428" r:id="rId8"/>
    <p:sldId id="337" r:id="rId9"/>
    <p:sldId id="282" r:id="rId10"/>
    <p:sldId id="384" r:id="rId11"/>
    <p:sldId id="385" r:id="rId12"/>
    <p:sldId id="386" r:id="rId13"/>
    <p:sldId id="387" r:id="rId14"/>
    <p:sldId id="388" r:id="rId15"/>
    <p:sldId id="389" r:id="rId16"/>
    <p:sldId id="293" r:id="rId17"/>
    <p:sldId id="390" r:id="rId18"/>
    <p:sldId id="295" r:id="rId19"/>
    <p:sldId id="392" r:id="rId20"/>
    <p:sldId id="393" r:id="rId21"/>
    <p:sldId id="394" r:id="rId22"/>
    <p:sldId id="294" r:id="rId23"/>
    <p:sldId id="395" r:id="rId24"/>
    <p:sldId id="396" r:id="rId25"/>
    <p:sldId id="397" r:id="rId26"/>
    <p:sldId id="398" r:id="rId27"/>
    <p:sldId id="303" r:id="rId28"/>
    <p:sldId id="304" r:id="rId29"/>
    <p:sldId id="399" r:id="rId30"/>
    <p:sldId id="400" r:id="rId31"/>
    <p:sldId id="305" r:id="rId32"/>
    <p:sldId id="401" r:id="rId33"/>
    <p:sldId id="402" r:id="rId34"/>
    <p:sldId id="403" r:id="rId35"/>
    <p:sldId id="404" r:id="rId36"/>
    <p:sldId id="427" r:id="rId37"/>
    <p:sldId id="306" r:id="rId38"/>
    <p:sldId id="320" r:id="rId39"/>
    <p:sldId id="321" r:id="rId40"/>
    <p:sldId id="324" r:id="rId41"/>
    <p:sldId id="325" r:id="rId42"/>
    <p:sldId id="326" r:id="rId43"/>
    <p:sldId id="327" r:id="rId44"/>
    <p:sldId id="328" r:id="rId45"/>
    <p:sldId id="329" r:id="rId46"/>
    <p:sldId id="417" r:id="rId47"/>
    <p:sldId id="418" r:id="rId48"/>
    <p:sldId id="419" r:id="rId49"/>
    <p:sldId id="307" r:id="rId50"/>
    <p:sldId id="333" r:id="rId51"/>
    <p:sldId id="405" r:id="rId52"/>
    <p:sldId id="406" r:id="rId53"/>
    <p:sldId id="420" r:id="rId54"/>
    <p:sldId id="421" r:id="rId55"/>
    <p:sldId id="407" r:id="rId56"/>
    <p:sldId id="422" r:id="rId57"/>
    <p:sldId id="423" r:id="rId58"/>
    <p:sldId id="429" r:id="rId59"/>
    <p:sldId id="308" r:id="rId60"/>
    <p:sldId id="424" r:id="rId61"/>
    <p:sldId id="370" r:id="rId62"/>
    <p:sldId id="371" r:id="rId63"/>
    <p:sldId id="372" r:id="rId64"/>
    <p:sldId id="373" r:id="rId65"/>
    <p:sldId id="425" r:id="rId66"/>
    <p:sldId id="334" r:id="rId67"/>
    <p:sldId id="426" r:id="rId68"/>
    <p:sldId id="408" r:id="rId69"/>
    <p:sldId id="409" r:id="rId70"/>
    <p:sldId id="410" r:id="rId71"/>
    <p:sldId id="411" r:id="rId72"/>
    <p:sldId id="412" r:id="rId73"/>
    <p:sldId id="309" r:id="rId74"/>
    <p:sldId id="310" r:id="rId75"/>
    <p:sldId id="315" r:id="rId76"/>
    <p:sldId id="316" r:id="rId77"/>
    <p:sldId id="413" r:id="rId78"/>
    <p:sldId id="414" r:id="rId79"/>
    <p:sldId id="415" r:id="rId80"/>
    <p:sldId id="416" r:id="rId81"/>
    <p:sldId id="311" r:id="rId82"/>
    <p:sldId id="335" r:id="rId83"/>
    <p:sldId id="312" r:id="rId84"/>
    <p:sldId id="336" r:id="rId85"/>
    <p:sldId id="330" r:id="rId86"/>
    <p:sldId id="331" r:id="rId87"/>
    <p:sldId id="332" r:id="rId8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636FB8-247C-4660-8E7C-FDFE39FFAEFB}">
          <p14:sldIdLst>
            <p14:sldId id="259"/>
            <p14:sldId id="262"/>
            <p14:sldId id="317"/>
            <p14:sldId id="281"/>
            <p14:sldId id="318"/>
            <p14:sldId id="319"/>
            <p14:sldId id="428"/>
            <p14:sldId id="337"/>
            <p14:sldId id="282"/>
            <p14:sldId id="384"/>
            <p14:sldId id="385"/>
            <p14:sldId id="386"/>
            <p14:sldId id="387"/>
            <p14:sldId id="388"/>
            <p14:sldId id="389"/>
            <p14:sldId id="293"/>
            <p14:sldId id="390"/>
            <p14:sldId id="295"/>
            <p14:sldId id="392"/>
            <p14:sldId id="393"/>
            <p14:sldId id="394"/>
            <p14:sldId id="294"/>
            <p14:sldId id="395"/>
            <p14:sldId id="396"/>
            <p14:sldId id="397"/>
            <p14:sldId id="398"/>
            <p14:sldId id="303"/>
            <p14:sldId id="304"/>
            <p14:sldId id="399"/>
            <p14:sldId id="400"/>
            <p14:sldId id="305"/>
            <p14:sldId id="401"/>
            <p14:sldId id="402"/>
            <p14:sldId id="403"/>
            <p14:sldId id="404"/>
            <p14:sldId id="427"/>
            <p14:sldId id="306"/>
            <p14:sldId id="320"/>
            <p14:sldId id="321"/>
            <p14:sldId id="324"/>
            <p14:sldId id="325"/>
            <p14:sldId id="326"/>
            <p14:sldId id="327"/>
            <p14:sldId id="328"/>
            <p14:sldId id="329"/>
            <p14:sldId id="417"/>
            <p14:sldId id="418"/>
            <p14:sldId id="419"/>
            <p14:sldId id="307"/>
            <p14:sldId id="333"/>
            <p14:sldId id="405"/>
            <p14:sldId id="406"/>
            <p14:sldId id="420"/>
            <p14:sldId id="421"/>
            <p14:sldId id="407"/>
            <p14:sldId id="422"/>
            <p14:sldId id="423"/>
            <p14:sldId id="429"/>
            <p14:sldId id="308"/>
            <p14:sldId id="424"/>
            <p14:sldId id="370"/>
            <p14:sldId id="371"/>
            <p14:sldId id="372"/>
            <p14:sldId id="373"/>
            <p14:sldId id="425"/>
            <p14:sldId id="334"/>
            <p14:sldId id="426"/>
            <p14:sldId id="408"/>
            <p14:sldId id="409"/>
            <p14:sldId id="410"/>
            <p14:sldId id="411"/>
            <p14:sldId id="412"/>
            <p14:sldId id="309"/>
            <p14:sldId id="310"/>
            <p14:sldId id="315"/>
            <p14:sldId id="316"/>
            <p14:sldId id="413"/>
            <p14:sldId id="414"/>
            <p14:sldId id="415"/>
            <p14:sldId id="416"/>
            <p14:sldId id="311"/>
            <p14:sldId id="335"/>
            <p14:sldId id="312"/>
            <p14:sldId id="336"/>
          </p14:sldIdLst>
        </p14:section>
        <p14:section name="备用" id="{042E2AF9-F87E-4F20-82C5-0441A15D1A9B}">
          <p14:sldIdLst>
            <p14:sldId id="330"/>
            <p14:sldId id="331"/>
            <p14:sldId id="33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24" autoAdjust="0"/>
    <p:restoredTop sz="94660"/>
  </p:normalViewPr>
  <p:slideViewPr>
    <p:cSldViewPr snapToGrid="0">
      <p:cViewPr varScale="1">
        <p:scale>
          <a:sx n="92" d="100"/>
          <a:sy n="92" d="100"/>
        </p:scale>
        <p:origin x="992" y="64"/>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宋体" panose="02010600030101010101" pitchFamily="2" charset="-122"/>
                <a:ea typeface="宋体" panose="02010600030101010101" pitchFamily="2"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宋体" panose="02010600030101010101" pitchFamily="2" charset="-122"/>
                <a:ea typeface="宋体" panose="02010600030101010101" pitchFamily="2" charset="-122"/>
              </a:defRPr>
            </a:lvl1pPr>
          </a:lstStyle>
          <a:p>
            <a:fld id="{F04BFE69-A663-48FE-847E-961ADB1B89B2}" type="datetimeFigureOut">
              <a:rPr lang="zh-CN" altLang="en-US" smtClean="0"/>
              <a:pPr/>
              <a:t>2026/3/18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宋体" panose="02010600030101010101" pitchFamily="2" charset="-122"/>
                <a:ea typeface="宋体" panose="02010600030101010101" pitchFamily="2"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宋体" panose="02010600030101010101" pitchFamily="2" charset="-122"/>
                <a:ea typeface="宋体" panose="02010600030101010101" pitchFamily="2" charset="-122"/>
              </a:defRPr>
            </a:lvl1pPr>
          </a:lstStyle>
          <a:p>
            <a:fld id="{148BAB27-5BFC-45E6-A928-A1804196FCF3}" type="slidenum">
              <a:rPr lang="zh-CN" altLang="en-US" smtClean="0"/>
              <a:pPr/>
              <a:t>‹#›</a:t>
            </a:fld>
            <a:endParaRPr lang="zh-CN" altLang="en-US"/>
          </a:p>
        </p:txBody>
      </p:sp>
    </p:spTree>
    <p:extLst>
      <p:ext uri="{BB962C8B-B14F-4D97-AF65-F5344CB8AC3E}">
        <p14:creationId xmlns:p14="http://schemas.microsoft.com/office/powerpoint/2010/main" val="1659535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宋体" panose="02010600030101010101" pitchFamily="2" charset="-122"/>
        <a:ea typeface="宋体" panose="02010600030101010101" pitchFamily="2" charset="-122"/>
        <a:cs typeface="+mn-cs"/>
      </a:defRPr>
    </a:lvl1pPr>
    <a:lvl2pPr marL="457200" algn="l" defTabSz="914400" rtl="0" eaLnBrk="1" latinLnBrk="0" hangingPunct="1">
      <a:defRPr sz="1200" kern="1200">
        <a:solidFill>
          <a:schemeClr val="tx1"/>
        </a:solidFill>
        <a:latin typeface="宋体" panose="02010600030101010101" pitchFamily="2" charset="-122"/>
        <a:ea typeface="宋体" panose="02010600030101010101" pitchFamily="2" charset="-122"/>
        <a:cs typeface="+mn-cs"/>
      </a:defRPr>
    </a:lvl2pPr>
    <a:lvl3pPr marL="914400" algn="l" defTabSz="914400" rtl="0" eaLnBrk="1" latinLnBrk="0" hangingPunct="1">
      <a:defRPr sz="1200" kern="1200">
        <a:solidFill>
          <a:schemeClr val="tx1"/>
        </a:solidFill>
        <a:latin typeface="宋体" panose="02010600030101010101" pitchFamily="2" charset="-122"/>
        <a:ea typeface="宋体" panose="02010600030101010101" pitchFamily="2" charset="-122"/>
        <a:cs typeface="+mn-cs"/>
      </a:defRPr>
    </a:lvl3pPr>
    <a:lvl4pPr marL="1371600" algn="l" defTabSz="914400" rtl="0" eaLnBrk="1" latinLnBrk="0" hangingPunct="1">
      <a:defRPr sz="1200" kern="1200">
        <a:solidFill>
          <a:schemeClr val="tx1"/>
        </a:solidFill>
        <a:latin typeface="宋体" panose="02010600030101010101" pitchFamily="2" charset="-122"/>
        <a:ea typeface="宋体" panose="02010600030101010101" pitchFamily="2" charset="-122"/>
        <a:cs typeface="+mn-cs"/>
      </a:defRPr>
    </a:lvl4pPr>
    <a:lvl5pPr marL="1828800" algn="l" defTabSz="914400" rtl="0" eaLnBrk="1" latinLnBrk="0" hangingPunct="1">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extLst>
      <p:ext uri="{BB962C8B-B14F-4D97-AF65-F5344CB8AC3E}">
        <p14:creationId xmlns:p14="http://schemas.microsoft.com/office/powerpoint/2010/main" val="2678117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2133529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2133529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4125196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3084051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4185214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977716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2278991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extLst>
      <p:ext uri="{BB962C8B-B14F-4D97-AF65-F5344CB8AC3E}">
        <p14:creationId xmlns:p14="http://schemas.microsoft.com/office/powerpoint/2010/main" val="3829704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2750188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4109181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1605633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27237179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487907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3280841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1011667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285650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2135933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1595872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1941210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2987704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26608848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22507824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9508222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15842183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28857813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629155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3093411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36221889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3530183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40763965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37026999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38210237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6224657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extLst>
      <p:ext uri="{BB962C8B-B14F-4D97-AF65-F5344CB8AC3E}">
        <p14:creationId xmlns:p14="http://schemas.microsoft.com/office/powerpoint/2010/main" val="28548707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extLst>
      <p:ext uri="{BB962C8B-B14F-4D97-AF65-F5344CB8AC3E}">
        <p14:creationId xmlns:p14="http://schemas.microsoft.com/office/powerpoint/2010/main" val="11336997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52</a:t>
            </a:fld>
            <a:endParaRPr lang="zh-CN" altLang="en-US"/>
          </a:p>
        </p:txBody>
      </p:sp>
    </p:spTree>
    <p:extLst>
      <p:ext uri="{BB962C8B-B14F-4D97-AF65-F5344CB8AC3E}">
        <p14:creationId xmlns:p14="http://schemas.microsoft.com/office/powerpoint/2010/main" val="1035570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53</a:t>
            </a:fld>
            <a:endParaRPr lang="zh-CN" altLang="en-US"/>
          </a:p>
        </p:txBody>
      </p:sp>
    </p:spTree>
    <p:extLst>
      <p:ext uri="{BB962C8B-B14F-4D97-AF65-F5344CB8AC3E}">
        <p14:creationId xmlns:p14="http://schemas.microsoft.com/office/powerpoint/2010/main" val="22256184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54</a:t>
            </a:fld>
            <a:endParaRPr lang="zh-CN" altLang="en-US"/>
          </a:p>
        </p:txBody>
      </p:sp>
    </p:spTree>
    <p:extLst>
      <p:ext uri="{BB962C8B-B14F-4D97-AF65-F5344CB8AC3E}">
        <p14:creationId xmlns:p14="http://schemas.microsoft.com/office/powerpoint/2010/main" val="30340815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55</a:t>
            </a:fld>
            <a:endParaRPr lang="zh-CN" altLang="en-US"/>
          </a:p>
        </p:txBody>
      </p:sp>
    </p:spTree>
    <p:extLst>
      <p:ext uri="{BB962C8B-B14F-4D97-AF65-F5344CB8AC3E}">
        <p14:creationId xmlns:p14="http://schemas.microsoft.com/office/powerpoint/2010/main" val="31165364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56</a:t>
            </a:fld>
            <a:endParaRPr lang="zh-CN" altLang="en-US"/>
          </a:p>
        </p:txBody>
      </p:sp>
    </p:spTree>
    <p:extLst>
      <p:ext uri="{BB962C8B-B14F-4D97-AF65-F5344CB8AC3E}">
        <p14:creationId xmlns:p14="http://schemas.microsoft.com/office/powerpoint/2010/main" val="11175779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57</a:t>
            </a:fld>
            <a:endParaRPr lang="zh-CN" altLang="en-US"/>
          </a:p>
        </p:txBody>
      </p:sp>
    </p:spTree>
    <p:extLst>
      <p:ext uri="{BB962C8B-B14F-4D97-AF65-F5344CB8AC3E}">
        <p14:creationId xmlns:p14="http://schemas.microsoft.com/office/powerpoint/2010/main" val="16250590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58</a:t>
            </a:fld>
            <a:endParaRPr lang="zh-CN" altLang="en-US"/>
          </a:p>
        </p:txBody>
      </p:sp>
    </p:spTree>
    <p:extLst>
      <p:ext uri="{BB962C8B-B14F-4D97-AF65-F5344CB8AC3E}">
        <p14:creationId xmlns:p14="http://schemas.microsoft.com/office/powerpoint/2010/main" val="27355473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59</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60</a:t>
            </a:fld>
            <a:endParaRPr lang="zh-CN" altLang="en-US"/>
          </a:p>
        </p:txBody>
      </p:sp>
    </p:spTree>
    <p:extLst>
      <p:ext uri="{BB962C8B-B14F-4D97-AF65-F5344CB8AC3E}">
        <p14:creationId xmlns:p14="http://schemas.microsoft.com/office/powerpoint/2010/main" val="8240227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66</a:t>
            </a:fld>
            <a:endParaRPr lang="zh-CN" altLang="en-US"/>
          </a:p>
        </p:txBody>
      </p:sp>
    </p:spTree>
    <p:extLst>
      <p:ext uri="{BB962C8B-B14F-4D97-AF65-F5344CB8AC3E}">
        <p14:creationId xmlns:p14="http://schemas.microsoft.com/office/powerpoint/2010/main" val="18218282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67</a:t>
            </a:fld>
            <a:endParaRPr lang="zh-CN" altLang="en-US"/>
          </a:p>
        </p:txBody>
      </p:sp>
    </p:spTree>
    <p:extLst>
      <p:ext uri="{BB962C8B-B14F-4D97-AF65-F5344CB8AC3E}">
        <p14:creationId xmlns:p14="http://schemas.microsoft.com/office/powerpoint/2010/main" val="23166042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68</a:t>
            </a:fld>
            <a:endParaRPr lang="zh-CN" altLang="en-US"/>
          </a:p>
        </p:txBody>
      </p:sp>
    </p:spTree>
    <p:extLst>
      <p:ext uri="{BB962C8B-B14F-4D97-AF65-F5344CB8AC3E}">
        <p14:creationId xmlns:p14="http://schemas.microsoft.com/office/powerpoint/2010/main" val="7718258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69</a:t>
            </a:fld>
            <a:endParaRPr lang="zh-CN" altLang="en-US"/>
          </a:p>
        </p:txBody>
      </p:sp>
    </p:spTree>
    <p:extLst>
      <p:ext uri="{BB962C8B-B14F-4D97-AF65-F5344CB8AC3E}">
        <p14:creationId xmlns:p14="http://schemas.microsoft.com/office/powerpoint/2010/main" val="6593941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70</a:t>
            </a:fld>
            <a:endParaRPr lang="zh-CN" altLang="en-US"/>
          </a:p>
        </p:txBody>
      </p:sp>
    </p:spTree>
    <p:extLst>
      <p:ext uri="{BB962C8B-B14F-4D97-AF65-F5344CB8AC3E}">
        <p14:creationId xmlns:p14="http://schemas.microsoft.com/office/powerpoint/2010/main" val="19634314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71</a:t>
            </a:fld>
            <a:endParaRPr lang="zh-CN" altLang="en-US"/>
          </a:p>
        </p:txBody>
      </p:sp>
    </p:spTree>
    <p:extLst>
      <p:ext uri="{BB962C8B-B14F-4D97-AF65-F5344CB8AC3E}">
        <p14:creationId xmlns:p14="http://schemas.microsoft.com/office/powerpoint/2010/main" val="9334657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72</a:t>
            </a:fld>
            <a:endParaRPr lang="zh-CN" altLang="en-US"/>
          </a:p>
        </p:txBody>
      </p:sp>
    </p:spTree>
    <p:extLst>
      <p:ext uri="{BB962C8B-B14F-4D97-AF65-F5344CB8AC3E}">
        <p14:creationId xmlns:p14="http://schemas.microsoft.com/office/powerpoint/2010/main" val="37672450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73</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74</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75</a:t>
            </a:fld>
            <a:endParaRPr lang="zh-CN" altLang="en-US"/>
          </a:p>
        </p:txBody>
      </p:sp>
    </p:spTree>
    <p:extLst>
      <p:ext uri="{BB962C8B-B14F-4D97-AF65-F5344CB8AC3E}">
        <p14:creationId xmlns:p14="http://schemas.microsoft.com/office/powerpoint/2010/main" val="11368854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76</a:t>
            </a:fld>
            <a:endParaRPr lang="zh-CN" altLang="en-US"/>
          </a:p>
        </p:txBody>
      </p:sp>
    </p:spTree>
    <p:extLst>
      <p:ext uri="{BB962C8B-B14F-4D97-AF65-F5344CB8AC3E}">
        <p14:creationId xmlns:p14="http://schemas.microsoft.com/office/powerpoint/2010/main" val="4132862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77</a:t>
            </a:fld>
            <a:endParaRPr lang="zh-CN" altLang="en-US"/>
          </a:p>
        </p:txBody>
      </p:sp>
    </p:spTree>
    <p:extLst>
      <p:ext uri="{BB962C8B-B14F-4D97-AF65-F5344CB8AC3E}">
        <p14:creationId xmlns:p14="http://schemas.microsoft.com/office/powerpoint/2010/main" val="18264325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78</a:t>
            </a:fld>
            <a:endParaRPr lang="zh-CN" altLang="en-US"/>
          </a:p>
        </p:txBody>
      </p:sp>
    </p:spTree>
    <p:extLst>
      <p:ext uri="{BB962C8B-B14F-4D97-AF65-F5344CB8AC3E}">
        <p14:creationId xmlns:p14="http://schemas.microsoft.com/office/powerpoint/2010/main" val="12985443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79</a:t>
            </a:fld>
            <a:endParaRPr lang="zh-CN" altLang="en-US"/>
          </a:p>
        </p:txBody>
      </p:sp>
    </p:spTree>
    <p:extLst>
      <p:ext uri="{BB962C8B-B14F-4D97-AF65-F5344CB8AC3E}">
        <p14:creationId xmlns:p14="http://schemas.microsoft.com/office/powerpoint/2010/main" val="11836334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80</a:t>
            </a:fld>
            <a:endParaRPr lang="zh-CN" altLang="en-US"/>
          </a:p>
        </p:txBody>
      </p:sp>
    </p:spTree>
    <p:extLst>
      <p:ext uri="{BB962C8B-B14F-4D97-AF65-F5344CB8AC3E}">
        <p14:creationId xmlns:p14="http://schemas.microsoft.com/office/powerpoint/2010/main" val="10910349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81</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82</a:t>
            </a:fld>
            <a:endParaRPr lang="zh-CN" altLang="en-US"/>
          </a:p>
        </p:txBody>
      </p:sp>
    </p:spTree>
    <p:extLst>
      <p:ext uri="{BB962C8B-B14F-4D97-AF65-F5344CB8AC3E}">
        <p14:creationId xmlns:p14="http://schemas.microsoft.com/office/powerpoint/2010/main" val="5582556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83</a:t>
            </a:fld>
            <a:endParaRPr lang="zh-CN" altLang="en-US"/>
          </a:p>
        </p:txBody>
      </p:sp>
    </p:spTree>
    <p:extLst>
      <p:ext uri="{BB962C8B-B14F-4D97-AF65-F5344CB8AC3E}">
        <p14:creationId xmlns:p14="http://schemas.microsoft.com/office/powerpoint/2010/main" val="136688118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84</a:t>
            </a:fld>
            <a:endParaRPr lang="zh-CN" altLang="en-US"/>
          </a:p>
        </p:txBody>
      </p:sp>
    </p:spTree>
    <p:extLst>
      <p:ext uri="{BB962C8B-B14F-4D97-AF65-F5344CB8AC3E}">
        <p14:creationId xmlns:p14="http://schemas.microsoft.com/office/powerpoint/2010/main" val="136688118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85</a:t>
            </a:fld>
            <a:endParaRPr lang="zh-CN" altLang="en-US"/>
          </a:p>
        </p:txBody>
      </p:sp>
    </p:spTree>
    <p:extLst>
      <p:ext uri="{BB962C8B-B14F-4D97-AF65-F5344CB8AC3E}">
        <p14:creationId xmlns:p14="http://schemas.microsoft.com/office/powerpoint/2010/main" val="39788986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86</a:t>
            </a:fld>
            <a:endParaRPr lang="zh-CN" altLang="en-US"/>
          </a:p>
        </p:txBody>
      </p:sp>
    </p:spTree>
    <p:extLst>
      <p:ext uri="{BB962C8B-B14F-4D97-AF65-F5344CB8AC3E}">
        <p14:creationId xmlns:p14="http://schemas.microsoft.com/office/powerpoint/2010/main" val="381253453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87</a:t>
            </a:fld>
            <a:endParaRPr lang="zh-CN" altLang="en-US"/>
          </a:p>
        </p:txBody>
      </p:sp>
    </p:spTree>
    <p:extLst>
      <p:ext uri="{BB962C8B-B14F-4D97-AF65-F5344CB8AC3E}">
        <p14:creationId xmlns:p14="http://schemas.microsoft.com/office/powerpoint/2010/main" val="3118212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C39BD39-83D7-4D8A-90DC-06FC1DFA41F3}" type="datetime1">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6E88FE7-C2F2-4C19-BBE9-27650932CBE4}" type="datetime1">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1649B00-1C27-42CB-892A-560F69FA9E88}" type="datetime1">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21D63C5F-49F7-48D8-8DAC-0455B1E18AEA}" type="datetime1">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62FC8FF-81A7-47C6-857A-7708ADE2CF9A}" type="datetime1">
              <a:rPr lang="zh-CN" altLang="en-US" smtClean="0"/>
              <a:t>2026/3/18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FE7BA30-9519-4A7E-9762-3F244EFC3732}" type="datetime1">
              <a:rPr lang="zh-CN" altLang="en-US" smtClean="0"/>
              <a:t>2026/3/18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1A0F4F-00AC-41CB-8A9E-8DD86B14A9D2}" type="datetime1">
              <a:rPr lang="zh-CN" altLang="en-US" smtClean="0"/>
              <a:t>2026/3/18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7020000" y="6356351"/>
            <a:ext cx="2057400" cy="365125"/>
          </a:xfrm>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866243F-8F80-4FBD-A95F-F21D6A0782CE}" type="datetime1">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7B42E0D-B17C-4255-87ED-5F97EAEBCC21}" type="datetime1">
              <a:rPr lang="zh-CN" altLang="en-US" smtClean="0"/>
              <a:t>2026/3/18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6247298-B39B-4004-B80C-27C33893E736}" type="datetime1">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42218FE-5DE4-4047-9147-78648871150E}" type="datetime1">
              <a:rPr lang="zh-CN" altLang="en-US" smtClean="0"/>
              <a:t>2026/3/18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宋体" panose="02010600030101010101" pitchFamily="2" charset="-122"/>
                <a:ea typeface="宋体" panose="02010600030101010101" pitchFamily="2" charset="-122"/>
              </a:defRPr>
            </a:lvl1pPr>
          </a:lstStyle>
          <a:p>
            <a:fld id="{79D3A3C5-D36E-455B-A320-155E387294E3}" type="datetime1">
              <a:rPr lang="zh-CN" altLang="en-US" smtClean="0"/>
              <a:t>2026/3/18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宋体" panose="02010600030101010101" pitchFamily="2" charset="-122"/>
                <a:ea typeface="宋体" panose="02010600030101010101" pitchFamily="2" charset="-122"/>
              </a:defRPr>
            </a:lvl1pPr>
          </a:lstStyle>
          <a:p>
            <a:endParaRPr lang="zh-CN" altLang="en-US"/>
          </a:p>
        </p:txBody>
      </p:sp>
      <p:sp>
        <p:nvSpPr>
          <p:cNvPr id="6" name="灯片编号占位符 5"/>
          <p:cNvSpPr>
            <a:spLocks noGrp="1"/>
          </p:cNvSpPr>
          <p:nvPr>
            <p:ph type="sldNum" sz="quarter" idx="4"/>
          </p:nvPr>
        </p:nvSpPr>
        <p:spPr>
          <a:xfrm>
            <a:off x="702000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宋体" panose="02010600030101010101" pitchFamily="2" charset="-122"/>
                <a:ea typeface="宋体" panose="02010600030101010101" pitchFamily="2" charset="-122"/>
              </a:defRPr>
            </a:lvl1pPr>
          </a:lstStyle>
          <a:p>
            <a:fld id="{B53602B4-F12B-41CD-B648-531F86B2CC91}"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宋体" panose="02010600030101010101" pitchFamily="2" charset="-122"/>
          <a:ea typeface="宋体" panose="0201060003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slide" Target="slide81.xml"/><Relationship Id="rId4" Type="http://schemas.openxmlformats.org/officeDocument/2006/relationships/slide" Target="slide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9.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18.xml"/><Relationship Id="rId4" Type="http://schemas.openxmlformats.org/officeDocument/2006/relationships/slide" Target="slide16.xml"/></Relationships>
</file>

<file path=ppt/slides/_rels/slide9.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5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87.xml"/><Relationship Id="rId5" Type="http://schemas.openxmlformats.org/officeDocument/2006/relationships/slide" Target="slide85.xml"/><Relationship Id="rId4" Type="http://schemas.openxmlformats.org/officeDocument/2006/relationships/slide" Target="slide48.xml"/></Relationships>
</file>

<file path=ppt/slides/_rels/slide10.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10" Type="http://schemas.openxmlformats.org/officeDocument/2006/relationships/image" Target="../media/image11.png"/><Relationship Id="rId4" Type="http://schemas.openxmlformats.org/officeDocument/2006/relationships/image" Target="../media/image8.wmf"/><Relationship Id="rId9"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1.bin"/><Relationship Id="rId10" Type="http://schemas.openxmlformats.org/officeDocument/2006/relationships/image" Target="../media/image11.png"/><Relationship Id="rId4" Type="http://schemas.openxmlformats.org/officeDocument/2006/relationships/image" Target="../media/image12.wmf"/><Relationship Id="rId9"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oleObject" Target="../embeddings/oleObject13.bin"/><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21.wmf"/><Relationship Id="rId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25.w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24.png"/><Relationship Id="rId4" Type="http://schemas.openxmlformats.org/officeDocument/2006/relationships/image" Target="../media/image23.wmf"/></Relationships>
</file>

<file path=ppt/slides/_rels/slide18.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6.png"/><Relationship Id="rId7" Type="http://schemas.openxmlformats.org/officeDocument/2006/relationships/oleObject" Target="../embeddings/oleObject19.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1.wmf"/><Relationship Id="rId5" Type="http://schemas.openxmlformats.org/officeDocument/2006/relationships/oleObject" Target="../embeddings/oleObject21.bin"/><Relationship Id="rId4" Type="http://schemas.openxmlformats.org/officeDocument/2006/relationships/image" Target="../media/image30.png"/><Relationship Id="rId9"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24.bin"/><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8.xml"/><Relationship Id="rId7" Type="http://schemas.openxmlformats.org/officeDocument/2006/relationships/slide" Target="slide7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59.xml"/><Relationship Id="rId5" Type="http://schemas.openxmlformats.org/officeDocument/2006/relationships/slide" Target="slide49.xml"/><Relationship Id="rId4" Type="http://schemas.openxmlformats.org/officeDocument/2006/relationships/slide" Target="slide31.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7.wmf"/><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4.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46.wmf"/><Relationship Id="rId4" Type="http://schemas.openxmlformats.org/officeDocument/2006/relationships/image" Target="../media/image43.png"/><Relationship Id="rId9" Type="http://schemas.openxmlformats.org/officeDocument/2006/relationships/oleObject" Target="../embeddings/oleObject30.bin"/></Relationships>
</file>

<file path=ppt/slides/_rels/slide30.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9.emf"/><Relationship Id="rId5" Type="http://schemas.openxmlformats.org/officeDocument/2006/relationships/oleObject" Target="../embeddings/oleObject33.bin"/><Relationship Id="rId4" Type="http://schemas.openxmlformats.org/officeDocument/2006/relationships/image" Target="../media/image48.wmf"/></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7.wmf"/><Relationship Id="rId5" Type="http://schemas.openxmlformats.org/officeDocument/2006/relationships/oleObject" Target="../embeddings/oleObject37.bin"/><Relationship Id="rId4" Type="http://schemas.openxmlformats.org/officeDocument/2006/relationships/image" Target="../media/image56.wmf"/></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1.wmf"/><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oleObject" Target="../embeddings/oleObject38.bin"/><Relationship Id="rId5" Type="http://schemas.openxmlformats.org/officeDocument/2006/relationships/image" Target="../media/image600.png"/></Relationships>
</file>

<file path=ppt/slides/_rels/slide47.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image" Target="../media/image66.png"/><Relationship Id="rId3" Type="http://schemas.openxmlformats.org/officeDocument/2006/relationships/oleObject" Target="../embeddings/oleObject39.bin"/><Relationship Id="rId7" Type="http://schemas.openxmlformats.org/officeDocument/2006/relationships/oleObject" Target="../embeddings/oleObject40.bin"/><Relationship Id="rId12"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oleObject" Target="../embeddings/oleObject38.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41.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7.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3.bin"/><Relationship Id="rId7" Type="http://schemas.openxmlformats.org/officeDocument/2006/relationships/image" Target="../media/image6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8.png"/><Relationship Id="rId4" Type="http://schemas.openxmlformats.org/officeDocument/2006/relationships/image" Target="../media/image68.wmf"/></Relationships>
</file>

<file path=ppt/slides/_rels/slide50.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slide" Target="slide83.xml"/><Relationship Id="rId4" Type="http://schemas.openxmlformats.org/officeDocument/2006/relationships/slide" Target="slide82.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5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78.wmf"/><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openxmlformats.org/officeDocument/2006/relationships/image" Target="../media/image79.png"/></Relationships>
</file>

<file path=ppt/slides/_rels/slide5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85.wmf"/><Relationship Id="rId5" Type="http://schemas.openxmlformats.org/officeDocument/2006/relationships/oleObject" Target="../embeddings/oleObject46.bin"/><Relationship Id="rId4" Type="http://schemas.openxmlformats.org/officeDocument/2006/relationships/image" Target="../media/image84.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image" Target="../media/image83.png"/><Relationship Id="rId1" Type="http://schemas.openxmlformats.org/officeDocument/2006/relationships/slideLayout" Target="../slideLayouts/slideLayout7.xml"/><Relationship Id="rId5" Type="http://schemas.openxmlformats.org/officeDocument/2006/relationships/image" Target="../media/image88.emf"/><Relationship Id="rId4" Type="http://schemas.openxmlformats.org/officeDocument/2006/relationships/image" Target="../media/image87.wmf"/></Relationships>
</file>

<file path=ppt/slides/_rels/slide6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89.wmf"/><Relationship Id="rId7" Type="http://schemas.openxmlformats.org/officeDocument/2006/relationships/image" Target="../media/image91.wmf"/><Relationship Id="rId2" Type="http://schemas.openxmlformats.org/officeDocument/2006/relationships/oleObject" Target="../embeddings/oleObject49.bin"/><Relationship Id="rId1" Type="http://schemas.openxmlformats.org/officeDocument/2006/relationships/slideLayout" Target="../slideLayouts/slideLayout7.xml"/><Relationship Id="rId6" Type="http://schemas.openxmlformats.org/officeDocument/2006/relationships/oleObject" Target="../embeddings/oleObject51.bin"/><Relationship Id="rId5" Type="http://schemas.openxmlformats.org/officeDocument/2006/relationships/image" Target="../media/image90.wmf"/><Relationship Id="rId4" Type="http://schemas.openxmlformats.org/officeDocument/2006/relationships/oleObject" Target="../embeddings/oleObject50.bin"/></Relationships>
</file>

<file path=ppt/slides/_rels/slide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93.png"/><Relationship Id="rId4" Type="http://schemas.openxmlformats.org/officeDocument/2006/relationships/image" Target="../media/image92.png"/></Relationships>
</file>

<file path=ppt/slides/_rels/slide6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83.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98.wmf"/><Relationship Id="rId5" Type="http://schemas.openxmlformats.org/officeDocument/2006/relationships/oleObject" Target="../embeddings/oleObject53.bin"/><Relationship Id="rId4" Type="http://schemas.openxmlformats.org/officeDocument/2006/relationships/image" Target="../media/image97.wmf"/><Relationship Id="rId9" Type="http://schemas.openxmlformats.org/officeDocument/2006/relationships/image" Target="../media/image100.png"/></Relationships>
</file>

<file path=ppt/slides/_rels/slide70.xml.rels><?xml version="1.0" encoding="UTF-8" standalone="yes"?>
<Relationships xmlns="http://schemas.openxmlformats.org/package/2006/relationships"><Relationship Id="rId8" Type="http://schemas.openxmlformats.org/officeDocument/2006/relationships/image" Target="../media/image103.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102.wmf"/><Relationship Id="rId5" Type="http://schemas.openxmlformats.org/officeDocument/2006/relationships/oleObject" Target="../embeddings/oleObject56.bin"/><Relationship Id="rId4" Type="http://schemas.openxmlformats.org/officeDocument/2006/relationships/image" Target="../media/image101.wmf"/><Relationship Id="rId9" Type="http://schemas.openxmlformats.org/officeDocument/2006/relationships/image" Target="../media/image100.png"/></Relationships>
</file>

<file path=ppt/slides/_rels/slide71.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05.wmf"/><Relationship Id="rId11" Type="http://schemas.openxmlformats.org/officeDocument/2006/relationships/image" Target="../media/image100.png"/><Relationship Id="rId5" Type="http://schemas.openxmlformats.org/officeDocument/2006/relationships/oleObject" Target="../embeddings/oleObject59.bin"/><Relationship Id="rId10" Type="http://schemas.openxmlformats.org/officeDocument/2006/relationships/image" Target="../media/image107.emf"/><Relationship Id="rId4" Type="http://schemas.openxmlformats.org/officeDocument/2006/relationships/image" Target="../media/image104.wmf"/><Relationship Id="rId9" Type="http://schemas.openxmlformats.org/officeDocument/2006/relationships/oleObject" Target="../embeddings/oleObject61.bin"/></Relationships>
</file>

<file path=ppt/slides/_rels/slide7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115.emf"/><Relationship Id="rId7" Type="http://schemas.openxmlformats.org/officeDocument/2006/relationships/oleObject" Target="../embeddings/oleObject63.bin"/><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14.emf"/><Relationship Id="rId5" Type="http://schemas.openxmlformats.org/officeDocument/2006/relationships/oleObject" Target="../embeddings/oleObject62.bin"/><Relationship Id="rId4" Type="http://schemas.openxmlformats.org/officeDocument/2006/relationships/image" Target="../media/image650.png"/><Relationship Id="rId9" Type="http://schemas.openxmlformats.org/officeDocument/2006/relationships/image" Target="../media/image60.png"/></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17.emf"/><Relationship Id="rId5" Type="http://schemas.openxmlformats.org/officeDocument/2006/relationships/oleObject" Target="../embeddings/oleObject65.bin"/><Relationship Id="rId4" Type="http://schemas.openxmlformats.org/officeDocument/2006/relationships/image" Target="../media/image11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139135"/>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0" name="圆角矩形 39"/>
          <p:cNvSpPr/>
          <p:nvPr/>
        </p:nvSpPr>
        <p:spPr>
          <a:xfrm rot="10800000" flipV="1">
            <a:off x="348139" y="2114370"/>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ea typeface="宋体" panose="02010600030101010101" pitchFamily="2" charset="-122"/>
                <a:sym typeface="+mn-ea"/>
              </a:rPr>
              <a:t>2</a:t>
            </a:r>
            <a:endParaRPr lang="zh-CN" altLang="en-US" sz="6000" b="1" dirty="0">
              <a:latin typeface="Arial" panose="020B0604020202020204" pitchFamily="34" charset="0"/>
              <a:ea typeface="宋体" panose="02010600030101010101" pitchFamily="2" charset="-122"/>
              <a:cs typeface="Arial" panose="020B0604020202020204" pitchFamily="34" charset="0"/>
            </a:endParaRPr>
          </a:p>
        </p:txBody>
      </p:sp>
      <p:sp>
        <p:nvSpPr>
          <p:cNvPr id="42" name="文本框 41"/>
          <p:cNvSpPr txBox="1"/>
          <p:nvPr/>
        </p:nvSpPr>
        <p:spPr>
          <a:xfrm>
            <a:off x="3050646" y="2360749"/>
            <a:ext cx="404148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sym typeface="+mn-ea"/>
              </a:rPr>
              <a:t>电阻式传感器</a:t>
            </a:r>
            <a:endParaRPr lang="zh-CN" altLang="en-US" sz="4400" b="1" spc="600" dirty="0">
              <a:solidFill>
                <a:schemeClr val="bg1"/>
              </a:solidFill>
              <a:latin typeface="宋体" panose="02010600030101010101" pitchFamily="2" charset="-122"/>
              <a:ea typeface="宋体" panose="02010600030101010101" pitchFamily="2" charset="-122"/>
            </a:endParaRPr>
          </a:p>
        </p:txBody>
      </p:sp>
      <p:grpSp>
        <p:nvGrpSpPr>
          <p:cNvPr id="3" name="组 2"/>
          <p:cNvGrpSpPr/>
          <p:nvPr/>
        </p:nvGrpSpPr>
        <p:grpSpPr>
          <a:xfrm>
            <a:off x="-15717" y="2125799"/>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grpSp>
      <p:sp>
        <p:nvSpPr>
          <p:cNvPr id="21" name="TextBox 20">
            <a:extLst>
              <a:ext uri="{FF2B5EF4-FFF2-40B4-BE49-F238E27FC236}">
                <a16:creationId xmlns:a16="http://schemas.microsoft.com/office/drawing/2014/main" id="{D0D78B2B-20AE-4F8D-BFD2-839B12970DF0}"/>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44721" y="1963668"/>
            <a:ext cx="7475552" cy="3783085"/>
          </a:xfrm>
          <a:prstGeom prst="rect">
            <a:avLst/>
          </a:prstGeom>
        </p:spPr>
        <p:txBody>
          <a:bodyPr wrap="square" lIns="91438" tIns="45719" rIns="91438" bIns="45719">
            <a:spAutoFit/>
          </a:bodyPr>
          <a:lstStyle/>
          <a:p>
            <a:pPr marL="457200" indent="-457200">
              <a:lnSpc>
                <a:spcPct val="150000"/>
              </a:lnSpc>
              <a:spcBef>
                <a:spcPts val="670"/>
              </a:spcBef>
              <a:buFont typeface="Arial" panose="020B0604020202020204" pitchFamily="34" charset="0"/>
              <a:buChar char="•"/>
            </a:pPr>
            <a:r>
              <a:rPr lang="zh-CN" altLang="en-US" sz="2600" b="1" dirty="0">
                <a:latin typeface="宋体" panose="02010600030101010101" pitchFamily="2" charset="-122"/>
                <a:ea typeface="宋体" panose="02010600030101010101" pitchFamily="2" charset="-122"/>
              </a:rPr>
              <a:t>电阻式传感器的基本原理是将被测物理量的变化转换成</a:t>
            </a:r>
            <a:r>
              <a:rPr lang="zh-CN" altLang="en-US" sz="2600" b="1" dirty="0">
                <a:solidFill>
                  <a:srgbClr val="FF0000"/>
                </a:solidFill>
                <a:latin typeface="宋体" panose="02010600030101010101" pitchFamily="2" charset="-122"/>
                <a:ea typeface="宋体" panose="02010600030101010101" pitchFamily="2" charset="-122"/>
              </a:rPr>
              <a:t>电阻值</a:t>
            </a:r>
            <a:r>
              <a:rPr lang="zh-CN" altLang="en-US" sz="2600" b="1" dirty="0">
                <a:latin typeface="宋体" panose="02010600030101010101" pitchFamily="2" charset="-122"/>
                <a:ea typeface="宋体" panose="02010600030101010101" pitchFamily="2" charset="-122"/>
              </a:rPr>
              <a:t>的变化，再经相应的测量电路，最后输出被测量值的变化。</a:t>
            </a:r>
          </a:p>
          <a:p>
            <a:pPr marL="457200" indent="-457200">
              <a:lnSpc>
                <a:spcPct val="150000"/>
              </a:lnSpc>
              <a:spcBef>
                <a:spcPts val="670"/>
              </a:spcBef>
              <a:buFont typeface="Arial" panose="020B0604020202020204" pitchFamily="34" charset="0"/>
              <a:buChar char="•"/>
            </a:pPr>
            <a:r>
              <a:rPr lang="zh-CN" altLang="en-US" sz="2600" b="1" dirty="0">
                <a:latin typeface="宋体" panose="02010600030101010101" pitchFamily="2" charset="-122"/>
                <a:ea typeface="宋体" panose="02010600030101010101" pitchFamily="2" charset="-122"/>
              </a:rPr>
              <a:t>电阻式传感器与相应的测量电路组成的测</a:t>
            </a:r>
            <a:r>
              <a:rPr lang="zh-CN" altLang="en-US" sz="2600" b="1" dirty="0">
                <a:solidFill>
                  <a:srgbClr val="0070C0"/>
                </a:solidFill>
                <a:latin typeface="宋体" panose="02010600030101010101" pitchFamily="2" charset="-122"/>
                <a:ea typeface="宋体" panose="02010600030101010101" pitchFamily="2" charset="-122"/>
              </a:rPr>
              <a:t>力</a:t>
            </a:r>
            <a:r>
              <a:rPr lang="zh-CN" altLang="en-US" sz="2600" b="1" dirty="0">
                <a:latin typeface="宋体" panose="02010600030101010101" pitchFamily="2" charset="-122"/>
                <a:ea typeface="宋体" panose="02010600030101010101" pitchFamily="2" charset="-122"/>
              </a:rPr>
              <a:t>、测</a:t>
            </a:r>
            <a:r>
              <a:rPr lang="zh-CN" altLang="en-US" sz="2600" b="1" dirty="0">
                <a:solidFill>
                  <a:srgbClr val="0070C0"/>
                </a:solidFill>
                <a:latin typeface="宋体" panose="02010600030101010101" pitchFamily="2" charset="-122"/>
                <a:ea typeface="宋体" panose="02010600030101010101" pitchFamily="2" charset="-122"/>
              </a:rPr>
              <a:t>压</a:t>
            </a:r>
            <a:r>
              <a:rPr lang="zh-CN" altLang="en-US" sz="2600" b="1" dirty="0">
                <a:latin typeface="宋体" panose="02010600030101010101" pitchFamily="2" charset="-122"/>
                <a:ea typeface="宋体" panose="02010600030101010101" pitchFamily="2" charset="-122"/>
              </a:rPr>
              <a:t>、称</a:t>
            </a:r>
            <a:r>
              <a:rPr lang="zh-CN" altLang="en-US" sz="2600" b="1" dirty="0">
                <a:solidFill>
                  <a:srgbClr val="0070C0"/>
                </a:solidFill>
                <a:latin typeface="宋体" panose="02010600030101010101" pitchFamily="2" charset="-122"/>
                <a:ea typeface="宋体" panose="02010600030101010101" pitchFamily="2" charset="-122"/>
              </a:rPr>
              <a:t>重</a:t>
            </a:r>
            <a:r>
              <a:rPr lang="zh-CN" altLang="en-US" sz="2600" b="1" dirty="0">
                <a:latin typeface="宋体" panose="02010600030101010101" pitchFamily="2" charset="-122"/>
                <a:ea typeface="宋体" panose="02010600030101010101" pitchFamily="2" charset="-122"/>
              </a:rPr>
              <a:t>、测</a:t>
            </a:r>
            <a:r>
              <a:rPr lang="zh-CN" altLang="en-US" sz="2600" b="1" dirty="0">
                <a:solidFill>
                  <a:srgbClr val="0070C0"/>
                </a:solidFill>
                <a:latin typeface="宋体" panose="02010600030101010101" pitchFamily="2" charset="-122"/>
                <a:ea typeface="宋体" panose="02010600030101010101" pitchFamily="2" charset="-122"/>
              </a:rPr>
              <a:t>位移</a:t>
            </a:r>
            <a:r>
              <a:rPr lang="zh-CN" altLang="en-US" sz="2600" b="1" dirty="0">
                <a:latin typeface="宋体" panose="02010600030101010101" pitchFamily="2" charset="-122"/>
                <a:ea typeface="宋体" panose="02010600030101010101" pitchFamily="2" charset="-122"/>
              </a:rPr>
              <a:t>、测</a:t>
            </a:r>
            <a:r>
              <a:rPr lang="zh-CN" altLang="en-US" sz="2600" b="1" dirty="0">
                <a:solidFill>
                  <a:srgbClr val="0070C0"/>
                </a:solidFill>
                <a:latin typeface="宋体" panose="02010600030101010101" pitchFamily="2" charset="-122"/>
                <a:ea typeface="宋体" panose="02010600030101010101" pitchFamily="2" charset="-122"/>
              </a:rPr>
              <a:t>加速度</a:t>
            </a:r>
            <a:r>
              <a:rPr lang="zh-CN" altLang="en-US" sz="2600" b="1" dirty="0">
                <a:latin typeface="宋体" panose="02010600030101010101" pitchFamily="2" charset="-122"/>
                <a:ea typeface="宋体" panose="02010600030101010101" pitchFamily="2" charset="-122"/>
              </a:rPr>
              <a:t>、测</a:t>
            </a:r>
            <a:r>
              <a:rPr lang="zh-CN" altLang="en-US" sz="2600" b="1" dirty="0">
                <a:solidFill>
                  <a:srgbClr val="0070C0"/>
                </a:solidFill>
                <a:latin typeface="宋体" panose="02010600030101010101" pitchFamily="2" charset="-122"/>
                <a:ea typeface="宋体" panose="02010600030101010101" pitchFamily="2" charset="-122"/>
              </a:rPr>
              <a:t>扭矩</a:t>
            </a:r>
            <a:r>
              <a:rPr lang="zh-CN" altLang="en-US" sz="2600" b="1" dirty="0">
                <a:latin typeface="宋体" panose="02010600030101010101" pitchFamily="2" charset="-122"/>
                <a:ea typeface="宋体" panose="02010600030101010101" pitchFamily="2" charset="-122"/>
              </a:rPr>
              <a:t>、测</a:t>
            </a:r>
            <a:r>
              <a:rPr lang="zh-CN" altLang="en-US" sz="2600" b="1" dirty="0">
                <a:solidFill>
                  <a:srgbClr val="0070C0"/>
                </a:solidFill>
                <a:latin typeface="宋体" panose="02010600030101010101" pitchFamily="2" charset="-122"/>
                <a:ea typeface="宋体" panose="02010600030101010101" pitchFamily="2" charset="-122"/>
              </a:rPr>
              <a:t>温度</a:t>
            </a:r>
            <a:r>
              <a:rPr lang="zh-CN" altLang="en-US" sz="2600" b="1" dirty="0">
                <a:latin typeface="宋体" panose="02010600030101010101" pitchFamily="2" charset="-122"/>
                <a:ea typeface="宋体" panose="02010600030101010101" pitchFamily="2" charset="-122"/>
              </a:rPr>
              <a:t>等测试系统。</a:t>
            </a:r>
          </a:p>
        </p:txBody>
      </p:sp>
      <p:sp>
        <p:nvSpPr>
          <p:cNvPr id="5" name="矩形 4"/>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a:t>
            </a:r>
            <a:endParaRPr lang="zh-CN" alt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60200" y="329520"/>
            <a:ext cx="2810377" cy="615549"/>
          </a:xfrm>
          <a:prstGeom prst="rect">
            <a:avLst/>
          </a:prstGeom>
        </p:spPr>
        <p:txBody>
          <a:bodyPr wrap="none" lIns="91436" tIns="45718" rIns="91436" bIns="45718">
            <a:spAutoFit/>
          </a:bodyPr>
          <a:lstStyle/>
          <a:p>
            <a:pPr marL="9525" indent="-9525"/>
            <a:r>
              <a:rPr lang="zh-CN" altLang="en-US" sz="3400" b="1" dirty="0">
                <a:solidFill>
                  <a:schemeClr val="bg1"/>
                </a:solidFill>
                <a:latin typeface="宋体" panose="02010600030101010101" pitchFamily="2" charset="-122"/>
                <a:ea typeface="宋体" panose="02010600030101010101" pitchFamily="2" charset="-122"/>
              </a:rPr>
              <a:t>电阻式传感器</a:t>
            </a:r>
          </a:p>
        </p:txBody>
      </p:sp>
      <p:sp>
        <p:nvSpPr>
          <p:cNvPr id="2" name="Slide Number Placeholder 1">
            <a:extLst>
              <a:ext uri="{FF2B5EF4-FFF2-40B4-BE49-F238E27FC236}">
                <a16:creationId xmlns:a16="http://schemas.microsoft.com/office/drawing/2014/main" id="{483B75B6-EFAA-4BA9-8574-77703134CCF5}"/>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767716" y="3315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3007130" y="3007129"/>
            <a:ext cx="7023001"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latin typeface="宋体" panose="02010600030101010101" pitchFamily="2" charset="-122"/>
              <a:ea typeface="宋体" panose="02010600030101010101" pitchFamily="2" charset="-122"/>
            </a:endParaRPr>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grpSp>
      <p:sp>
        <p:nvSpPr>
          <p:cNvPr id="73" name="圆角矩形 72"/>
          <p:cNvSpPr/>
          <p:nvPr/>
        </p:nvSpPr>
        <p:spPr>
          <a:xfrm rot="10800000" flipV="1">
            <a:off x="2564310" y="2100194"/>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2.1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564311" y="3106069"/>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2.2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730061" y="1991872"/>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2" action="ppaction://hlinksldjump"/>
              </a:rPr>
              <a:t>电位器式传感器</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88" name="文本框 87">
            <a:hlinkClick r:id="rId3" action="ppaction://hlinksldjump"/>
          </p:cNvPr>
          <p:cNvSpPr txBox="1"/>
          <p:nvPr/>
        </p:nvSpPr>
        <p:spPr>
          <a:xfrm>
            <a:off x="3730061" y="2960097"/>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4" action="ppaction://hlinksldjump"/>
              </a:rPr>
              <a:t>应变片式传感器</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564311" y="4101188"/>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p:cNvSpPr txBox="1"/>
          <p:nvPr/>
        </p:nvSpPr>
        <p:spPr>
          <a:xfrm>
            <a:off x="3730061" y="3928322"/>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29" name="文本框 19">
            <a:extLst>
              <a:ext uri="{FF2B5EF4-FFF2-40B4-BE49-F238E27FC236}">
                <a16:creationId xmlns:a16="http://schemas.microsoft.com/office/drawing/2014/main" id="{8398ED3A-B3B1-4B90-AB6A-0C63819A6CF8}"/>
              </a:ext>
            </a:extLst>
          </p:cNvPr>
          <p:cNvSpPr txBox="1"/>
          <p:nvPr/>
        </p:nvSpPr>
        <p:spPr>
          <a:xfrm>
            <a:off x="104043" y="1495425"/>
            <a:ext cx="754047" cy="3269788"/>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2" name="Slide Number Placeholder 1">
            <a:extLst>
              <a:ext uri="{FF2B5EF4-FFF2-40B4-BE49-F238E27FC236}">
                <a16:creationId xmlns:a16="http://schemas.microsoft.com/office/drawing/2014/main" id="{DCADC3C8-287A-4007-8824-7F33D7B5EB37}"/>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extLst>
      <p:ext uri="{BB962C8B-B14F-4D97-AF65-F5344CB8AC3E}">
        <p14:creationId xmlns:p14="http://schemas.microsoft.com/office/powerpoint/2010/main" val="36694949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B7CB7B06-239C-475D-BDEC-8C641824FCE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2.1</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电位器式传感器</a:t>
            </a:r>
          </a:p>
        </p:txBody>
      </p:sp>
      <p:sp>
        <p:nvSpPr>
          <p:cNvPr id="222223" name="Rectangle 15"/>
          <p:cNvSpPr>
            <a:spLocks noRot="1" noChangeArrowheads="1"/>
          </p:cNvSpPr>
          <p:nvPr/>
        </p:nvSpPr>
        <p:spPr bwMode="auto">
          <a:xfrm>
            <a:off x="1106582" y="2422950"/>
            <a:ext cx="7247306" cy="298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电位器是一种常用的机电元件。</a:t>
            </a:r>
            <a:endParaRPr lang="en-US" altLang="zh-CN" sz="2400" b="1" dirty="0">
              <a:ea typeface="宋体" panose="02010600030101010101" pitchFamily="2" charset="-122"/>
              <a:sym typeface="+mn-ea"/>
            </a:endParaRPr>
          </a:p>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工作原理：把机械的</a:t>
            </a:r>
            <a:r>
              <a:rPr lang="zh-CN" altLang="en-US" sz="2400" b="1" dirty="0">
                <a:solidFill>
                  <a:srgbClr val="FF0000"/>
                </a:solidFill>
                <a:ea typeface="宋体" panose="02010600030101010101" pitchFamily="2" charset="-122"/>
                <a:sym typeface="+mn-ea"/>
              </a:rPr>
              <a:t>线位移或角位移</a:t>
            </a:r>
            <a:r>
              <a:rPr lang="zh-CN" altLang="en-US" sz="2400" b="1" dirty="0">
                <a:ea typeface="宋体" panose="02010600030101010101" pitchFamily="2" charset="-122"/>
                <a:sym typeface="+mn-ea"/>
              </a:rPr>
              <a:t>输入量转换为与它呈一定函数关系的</a:t>
            </a:r>
            <a:r>
              <a:rPr lang="zh-CN" altLang="en-US" sz="2400" b="1" dirty="0">
                <a:solidFill>
                  <a:srgbClr val="3333CC"/>
                </a:solidFill>
                <a:ea typeface="宋体" panose="02010600030101010101" pitchFamily="2" charset="-122"/>
                <a:sym typeface="+mn-ea"/>
              </a:rPr>
              <a:t>电阻或电压</a:t>
            </a:r>
            <a:r>
              <a:rPr lang="zh-CN" altLang="en-US" sz="2400" b="1" dirty="0">
                <a:ea typeface="宋体" panose="02010600030101010101" pitchFamily="2" charset="-122"/>
                <a:sym typeface="+mn-ea"/>
              </a:rPr>
              <a:t>输出。</a:t>
            </a:r>
            <a:endParaRPr lang="en-US" altLang="zh-CN" sz="2400" b="1" dirty="0">
              <a:ea typeface="宋体" panose="02010600030101010101" pitchFamily="2" charset="-122"/>
              <a:sym typeface="+mn-ea"/>
            </a:endParaRPr>
          </a:p>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它们主要用于测量压力、高度、加速度、航面角等各种参数。</a:t>
            </a:r>
          </a:p>
        </p:txBody>
      </p:sp>
      <p:sp>
        <p:nvSpPr>
          <p:cNvPr id="2" name="矩形 1"/>
          <p:cNvSpPr/>
          <p:nvPr/>
        </p:nvSpPr>
        <p:spPr>
          <a:xfrm>
            <a:off x="1571711" y="1698251"/>
            <a:ext cx="3592650" cy="461665"/>
          </a:xfrm>
          <a:prstGeom prst="rect">
            <a:avLst/>
          </a:prstGeom>
        </p:spPr>
        <p:txBody>
          <a:bodyPr wrap="none">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Times New Roman" panose="02020603050405020304" pitchFamily="18" charset="0"/>
                <a:ea typeface="宋体" panose="02010600030101010101" pitchFamily="2" charset="-122"/>
              </a:rPr>
              <a:t>Potentiometer</a:t>
            </a:r>
            <a:endParaRPr lang="zh-CN" altLang="en-US" sz="2400" dirty="0">
              <a:solidFill>
                <a:srgbClr val="C00000"/>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A092D24D-1FD5-4B76-B510-514380EF3877}"/>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E50059EB-AA0C-41FB-99D0-59680BD51535}"/>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3" name="圆角矩形 2"/>
          <p:cNvSpPr/>
          <p:nvPr/>
        </p:nvSpPr>
        <p:spPr>
          <a:xfrm>
            <a:off x="1811045" y="3684233"/>
            <a:ext cx="798990" cy="3639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2" name="圆角矩形 1"/>
          <p:cNvSpPr/>
          <p:nvPr/>
        </p:nvSpPr>
        <p:spPr>
          <a:xfrm>
            <a:off x="1811045" y="1899821"/>
            <a:ext cx="798990" cy="36398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2.1</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电位器式传感器</a:t>
            </a:r>
          </a:p>
        </p:txBody>
      </p:sp>
      <p:sp>
        <p:nvSpPr>
          <p:cNvPr id="222223" name="Rectangle 15"/>
          <p:cNvSpPr>
            <a:spLocks noRot="1" noChangeArrowheads="1"/>
          </p:cNvSpPr>
          <p:nvPr/>
        </p:nvSpPr>
        <p:spPr bwMode="auto">
          <a:xfrm>
            <a:off x="1304360" y="1748244"/>
            <a:ext cx="6723133" cy="361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优点：</a:t>
            </a:r>
            <a:endParaRPr lang="en-US" altLang="zh-CN" sz="2400" b="1" dirty="0">
              <a:ea typeface="宋体" panose="02010600030101010101" pitchFamily="2" charset="-122"/>
              <a:sym typeface="+mn-ea"/>
            </a:endParaRPr>
          </a:p>
          <a:p>
            <a:pPr indent="444500">
              <a:lnSpc>
                <a:spcPct val="150000"/>
              </a:lnSpc>
              <a:spcBef>
                <a:spcPct val="20000"/>
              </a:spcBef>
              <a:buClr>
                <a:schemeClr val="folHlink"/>
              </a:buClr>
            </a:pPr>
            <a:r>
              <a:rPr lang="zh-CN" altLang="en-US" sz="2400" b="1" dirty="0">
                <a:ea typeface="宋体" panose="02010600030101010101" pitchFamily="2" charset="-122"/>
                <a:sym typeface="+mn-ea"/>
              </a:rPr>
              <a:t>结构简单、尺寸小、重量轻、精度高、输出信号大、性能稳定并容易实现任意函数。</a:t>
            </a:r>
            <a:endParaRPr lang="en-US" altLang="zh-CN" sz="2400" b="1" dirty="0">
              <a:ea typeface="宋体" panose="02010600030101010101" pitchFamily="2" charset="-122"/>
              <a:sym typeface="+mn-ea"/>
            </a:endParaRPr>
          </a:p>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缺点：</a:t>
            </a:r>
            <a:endParaRPr lang="en-US" altLang="zh-CN" sz="2400" b="1" dirty="0">
              <a:ea typeface="宋体" panose="02010600030101010101" pitchFamily="2" charset="-122"/>
              <a:sym typeface="+mn-ea"/>
            </a:endParaRPr>
          </a:p>
          <a:p>
            <a:pPr indent="444500">
              <a:lnSpc>
                <a:spcPct val="150000"/>
              </a:lnSpc>
              <a:spcBef>
                <a:spcPct val="20000"/>
              </a:spcBef>
              <a:buClr>
                <a:schemeClr val="folHlink"/>
              </a:buClr>
            </a:pPr>
            <a:r>
              <a:rPr lang="zh-CN" altLang="en-US" sz="2400" b="1" dirty="0">
                <a:ea typeface="宋体" panose="02010600030101010101" pitchFamily="2" charset="-122"/>
                <a:sym typeface="+mn-ea"/>
              </a:rPr>
              <a:t>要求输入能量大，电刷与电阻元件之间容易磨损。</a:t>
            </a:r>
          </a:p>
        </p:txBody>
      </p:sp>
      <p:sp>
        <p:nvSpPr>
          <p:cNvPr id="4" name="Slide Number Placeholder 3">
            <a:extLst>
              <a:ext uri="{FF2B5EF4-FFF2-40B4-BE49-F238E27FC236}">
                <a16:creationId xmlns:a16="http://schemas.microsoft.com/office/drawing/2014/main" id="{2657FA8D-4D89-43B6-88FF-7E4C40EE2152}"/>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Tree>
    <p:extLst>
      <p:ext uri="{BB962C8B-B14F-4D97-AF65-F5344CB8AC3E}">
        <p14:creationId xmlns:p14="http://schemas.microsoft.com/office/powerpoint/2010/main" val="9348478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644A15B9-4DF3-406F-A10B-EC69C6075F9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2.1</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电位器式传感器</a:t>
            </a:r>
          </a:p>
        </p:txBody>
      </p:sp>
      <p:sp>
        <p:nvSpPr>
          <p:cNvPr id="222223" name="Rectangle 15"/>
          <p:cNvSpPr>
            <a:spLocks noRot="1" noChangeArrowheads="1"/>
          </p:cNvSpPr>
          <p:nvPr/>
        </p:nvSpPr>
        <p:spPr bwMode="auto">
          <a:xfrm>
            <a:off x="701874" y="1828666"/>
            <a:ext cx="7839637" cy="3400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细黑" panose="02010600040101010101" pitchFamily="2" charset="-122"/>
                <a:cs typeface="+mn-cs"/>
              </a:defRPr>
            </a:lvl9pPr>
          </a:lstStyle>
          <a:p>
            <a:pPr marL="457200" indent="-457200">
              <a:lnSpc>
                <a:spcPct val="150000"/>
              </a:lnSpc>
              <a:spcBef>
                <a:spcPct val="20000"/>
              </a:spcBef>
              <a:buClr>
                <a:schemeClr val="folHlink"/>
              </a:buClr>
              <a:buFont typeface="Arial" panose="020B0604020202020204" pitchFamily="34" charset="0"/>
              <a:buChar char="•"/>
            </a:pPr>
            <a:r>
              <a:rPr lang="zh-CN" altLang="en-US" sz="2400" b="1" dirty="0">
                <a:ea typeface="宋体" panose="02010600030101010101" pitchFamily="2" charset="-122"/>
                <a:sym typeface="+mn-ea"/>
              </a:rPr>
              <a:t>种类</a:t>
            </a:r>
            <a:endParaRPr lang="en-US" altLang="zh-CN" sz="2400" b="1" dirty="0">
              <a:ea typeface="宋体" panose="02010600030101010101" pitchFamily="2" charset="-122"/>
              <a:sym typeface="+mn-ea"/>
            </a:endParaRPr>
          </a:p>
          <a:p>
            <a:pPr indent="444500">
              <a:lnSpc>
                <a:spcPct val="150000"/>
              </a:lnSpc>
              <a:spcBef>
                <a:spcPct val="20000"/>
              </a:spcBef>
              <a:buClr>
                <a:schemeClr val="folHlink"/>
              </a:buClr>
            </a:pPr>
            <a:r>
              <a:rPr lang="zh-CN" altLang="en-US" sz="2400" b="1" dirty="0">
                <a:ea typeface="宋体" panose="02010600030101010101" pitchFamily="2" charset="-122"/>
                <a:sym typeface="+mn-ea"/>
              </a:rPr>
              <a:t>按结构形式不同，可分为</a:t>
            </a:r>
            <a:r>
              <a:rPr lang="zh-CN" altLang="en-US" sz="2400" b="1" dirty="0">
                <a:solidFill>
                  <a:srgbClr val="00B050"/>
                </a:solidFill>
                <a:ea typeface="宋体" panose="02010600030101010101" pitchFamily="2" charset="-122"/>
                <a:sym typeface="+mn-ea"/>
              </a:rPr>
              <a:t>线绕式</a:t>
            </a:r>
            <a:r>
              <a:rPr lang="zh-CN" altLang="en-US" sz="2400" b="1" dirty="0">
                <a:ea typeface="宋体" panose="02010600030101010101" pitchFamily="2" charset="-122"/>
                <a:sym typeface="+mn-ea"/>
              </a:rPr>
              <a:t>、</a:t>
            </a:r>
            <a:r>
              <a:rPr lang="zh-CN" altLang="en-US" sz="2400" b="1" dirty="0">
                <a:solidFill>
                  <a:srgbClr val="FF0000"/>
                </a:solidFill>
                <a:ea typeface="宋体" panose="02010600030101010101" pitchFamily="2" charset="-122"/>
                <a:sym typeface="+mn-ea"/>
              </a:rPr>
              <a:t>薄膜式</a:t>
            </a:r>
            <a:r>
              <a:rPr lang="zh-CN" altLang="en-US" sz="2400" b="1" dirty="0">
                <a:ea typeface="宋体" panose="02010600030101010101" pitchFamily="2" charset="-122"/>
                <a:sym typeface="+mn-ea"/>
              </a:rPr>
              <a:t>、</a:t>
            </a:r>
            <a:r>
              <a:rPr lang="zh-CN" altLang="en-US" sz="2400" b="1" dirty="0">
                <a:solidFill>
                  <a:srgbClr val="0070C0"/>
                </a:solidFill>
                <a:ea typeface="宋体" panose="02010600030101010101" pitchFamily="2" charset="-122"/>
                <a:sym typeface="+mn-ea"/>
              </a:rPr>
              <a:t>光电式</a:t>
            </a:r>
            <a:r>
              <a:rPr lang="zh-CN" altLang="en-US" sz="2400" b="1" dirty="0">
                <a:ea typeface="宋体" panose="02010600030101010101" pitchFamily="2" charset="-122"/>
                <a:sym typeface="+mn-ea"/>
              </a:rPr>
              <a:t>等；</a:t>
            </a:r>
            <a:endParaRPr lang="en-US" altLang="zh-CN" sz="2400" b="1" dirty="0">
              <a:ea typeface="宋体" panose="02010600030101010101" pitchFamily="2" charset="-122"/>
              <a:sym typeface="+mn-ea"/>
            </a:endParaRPr>
          </a:p>
          <a:p>
            <a:pPr indent="444500">
              <a:lnSpc>
                <a:spcPct val="150000"/>
              </a:lnSpc>
              <a:spcBef>
                <a:spcPct val="20000"/>
              </a:spcBef>
              <a:buClr>
                <a:schemeClr val="folHlink"/>
              </a:buClr>
            </a:pPr>
            <a:r>
              <a:rPr lang="zh-CN" altLang="en-US" sz="2400" b="1" dirty="0">
                <a:ea typeface="宋体" panose="02010600030101010101" pitchFamily="2" charset="-122"/>
                <a:sym typeface="+mn-ea"/>
              </a:rPr>
              <a:t>按特性不同，可分为线性电位器和非线性电位器。</a:t>
            </a:r>
            <a:endParaRPr lang="en-US" altLang="zh-CN" sz="2400" b="1" dirty="0">
              <a:ea typeface="宋体" panose="02010600030101010101" pitchFamily="2" charset="-122"/>
              <a:sym typeface="+mn-ea"/>
            </a:endParaRPr>
          </a:p>
          <a:p>
            <a:pPr indent="444500">
              <a:lnSpc>
                <a:spcPct val="150000"/>
              </a:lnSpc>
              <a:spcBef>
                <a:spcPct val="20000"/>
              </a:spcBef>
              <a:buClr>
                <a:schemeClr val="folHlink"/>
              </a:buClr>
            </a:pPr>
            <a:r>
              <a:rPr lang="zh-CN" altLang="en-US" sz="2400" b="1" dirty="0">
                <a:ea typeface="宋体" panose="02010600030101010101" pitchFamily="2" charset="-122"/>
                <a:sym typeface="+mn-ea"/>
              </a:rPr>
              <a:t>目前常用的以</a:t>
            </a:r>
            <a:r>
              <a:rPr lang="zh-CN" altLang="en-US" sz="2400" b="1" dirty="0">
                <a:solidFill>
                  <a:srgbClr val="C00000"/>
                </a:solidFill>
                <a:ea typeface="宋体" panose="02010600030101010101" pitchFamily="2" charset="-122"/>
                <a:sym typeface="+mn-ea"/>
              </a:rPr>
              <a:t>单圈</a:t>
            </a:r>
            <a:r>
              <a:rPr lang="zh-CN" altLang="en-US" sz="2400" b="1" dirty="0">
                <a:ea typeface="宋体" panose="02010600030101010101" pitchFamily="2" charset="-122"/>
                <a:sym typeface="+mn-ea"/>
              </a:rPr>
              <a:t>线绕电位器居多。</a:t>
            </a:r>
          </a:p>
        </p:txBody>
      </p:sp>
      <p:sp>
        <p:nvSpPr>
          <p:cNvPr id="2" name="Slide Number Placeholder 1">
            <a:extLst>
              <a:ext uri="{FF2B5EF4-FFF2-40B4-BE49-F238E27FC236}">
                <a16:creationId xmlns:a16="http://schemas.microsoft.com/office/drawing/2014/main" id="{129D77E6-0773-41F4-B6D1-6761C8FF8B94}"/>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34625994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D3C36C-9DE0-41EF-967D-BA51590BEA3B}"/>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pic>
        <p:nvPicPr>
          <p:cNvPr id="6" name="什么是电位器？电位器的作用及工作原理">
            <a:hlinkClick r:id="" action="ppaction://media"/>
            <a:extLst>
              <a:ext uri="{FF2B5EF4-FFF2-40B4-BE49-F238E27FC236}">
                <a16:creationId xmlns:a16="http://schemas.microsoft.com/office/drawing/2014/main" id="{BC4D249F-D966-4B44-9CA3-DEB7F0C11C26}"/>
              </a:ext>
            </a:extLst>
          </p:cNvPr>
          <p:cNvPicPr>
            <a:picLocks noChangeAspect="1"/>
          </p:cNvPicPr>
          <p:nvPr>
            <a:videoFile r:link="rId1"/>
            <p:extLst>
              <p:ext uri="{DAA4B4D4-6D71-4841-9C94-3DE7FCFB9230}">
                <p14:media xmlns:p14="http://schemas.microsoft.com/office/powerpoint/2010/main" r:embed="rId2">
                  <p14:trim end="1970"/>
                </p14:media>
              </p:ext>
            </p:extLst>
          </p:nvPr>
        </p:nvPicPr>
        <p:blipFill rotWithShape="1">
          <a:blip r:embed="rId4"/>
          <a:srcRect t="31963" b="23214"/>
          <a:stretch>
            <a:fillRect/>
          </a:stretch>
        </p:blipFill>
        <p:spPr>
          <a:xfrm>
            <a:off x="1093561" y="406164"/>
            <a:ext cx="7327628" cy="5836665"/>
          </a:xfrm>
          <a:prstGeom prst="rect">
            <a:avLst/>
          </a:prstGeom>
        </p:spPr>
      </p:pic>
    </p:spTree>
    <p:extLst>
      <p:ext uri="{BB962C8B-B14F-4D97-AF65-F5344CB8AC3E}">
        <p14:creationId xmlns:p14="http://schemas.microsoft.com/office/powerpoint/2010/main" val="76825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243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4EF0B139-443C-46E2-ADC4-BE00ED3D04BD}"/>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2.1</a:t>
            </a:r>
          </a:p>
        </p:txBody>
      </p:sp>
      <p:sp>
        <p:nvSpPr>
          <p:cNvPr id="46" name="矩形 45"/>
          <p:cNvSpPr/>
          <p:nvPr/>
        </p:nvSpPr>
        <p:spPr>
          <a:xfrm>
            <a:off x="1960200"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电位器式传感器</a:t>
            </a:r>
          </a:p>
        </p:txBody>
      </p:sp>
      <p:sp>
        <p:nvSpPr>
          <p:cNvPr id="24" name="矩形 23"/>
          <p:cNvSpPr/>
          <p:nvPr/>
        </p:nvSpPr>
        <p:spPr>
          <a:xfrm>
            <a:off x="3172973" y="1597655"/>
            <a:ext cx="4758063" cy="4401203"/>
          </a:xfrm>
          <a:prstGeom prst="rect">
            <a:avLst/>
          </a:prstGeom>
        </p:spPr>
        <p:txBody>
          <a:bodyPr wrap="square" lIns="91438" tIns="45719" rIns="91438" bIns="45719">
            <a:spAutoFit/>
          </a:bodyPr>
          <a:lstStyle/>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线性电位器</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非线性电位器</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负载特性与负载误差</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6" action="ppaction://hlinksldjump"/>
              </a:rPr>
              <a:t>电位器的结构与材料</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7" action="ppaction://hlinksldjump"/>
              </a:rPr>
              <a:t>电位器式传感器应用举例</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1" name="圆角矩形 72">
            <a:extLst>
              <a:ext uri="{FF2B5EF4-FFF2-40B4-BE49-F238E27FC236}">
                <a16:creationId xmlns:a16="http://schemas.microsoft.com/office/drawing/2014/main" id="{343D7C8A-72E9-4E11-82F9-04D1F37F1B07}"/>
              </a:ext>
            </a:extLst>
          </p:cNvPr>
          <p:cNvSpPr/>
          <p:nvPr/>
        </p:nvSpPr>
        <p:spPr>
          <a:xfrm rot="10800000" flipV="1">
            <a:off x="2043123" y="1922529"/>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2.1.1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3">
            <a:extLst>
              <a:ext uri="{FF2B5EF4-FFF2-40B4-BE49-F238E27FC236}">
                <a16:creationId xmlns:a16="http://schemas.microsoft.com/office/drawing/2014/main" id="{7997A031-0667-4F3B-9AA0-BAB02B443096}"/>
              </a:ext>
            </a:extLst>
          </p:cNvPr>
          <p:cNvSpPr/>
          <p:nvPr/>
        </p:nvSpPr>
        <p:spPr>
          <a:xfrm rot="10800000" flipV="1">
            <a:off x="2043119" y="2759459"/>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2.1.2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7" name="圆角矩形 72">
            <a:extLst>
              <a:ext uri="{FF2B5EF4-FFF2-40B4-BE49-F238E27FC236}">
                <a16:creationId xmlns:a16="http://schemas.microsoft.com/office/drawing/2014/main" id="{343D7C8A-72E9-4E11-82F9-04D1F37F1B07}"/>
              </a:ext>
            </a:extLst>
          </p:cNvPr>
          <p:cNvSpPr/>
          <p:nvPr/>
        </p:nvSpPr>
        <p:spPr>
          <a:xfrm rot="10800000" flipV="1">
            <a:off x="2043118" y="3627381"/>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2.1.3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8" name="圆角矩形 73">
            <a:extLst>
              <a:ext uri="{FF2B5EF4-FFF2-40B4-BE49-F238E27FC236}">
                <a16:creationId xmlns:a16="http://schemas.microsoft.com/office/drawing/2014/main" id="{7997A031-0667-4F3B-9AA0-BAB02B443096}"/>
              </a:ext>
            </a:extLst>
          </p:cNvPr>
          <p:cNvSpPr/>
          <p:nvPr/>
        </p:nvSpPr>
        <p:spPr>
          <a:xfrm rot="10800000" flipV="1">
            <a:off x="2043114" y="4489772"/>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2.1.4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9" name="圆角矩形 72">
            <a:extLst>
              <a:ext uri="{FF2B5EF4-FFF2-40B4-BE49-F238E27FC236}">
                <a16:creationId xmlns:a16="http://schemas.microsoft.com/office/drawing/2014/main" id="{343D7C8A-72E9-4E11-82F9-04D1F37F1B07}"/>
              </a:ext>
            </a:extLst>
          </p:cNvPr>
          <p:cNvSpPr/>
          <p:nvPr/>
        </p:nvSpPr>
        <p:spPr>
          <a:xfrm rot="10800000" flipV="1">
            <a:off x="2037413" y="5355115"/>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2.1.5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055A7311-EE10-43B8-8C61-295F8EED971E}"/>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Tree>
    <p:extLst>
      <p:ext uri="{BB962C8B-B14F-4D97-AF65-F5344CB8AC3E}">
        <p14:creationId xmlns:p14="http://schemas.microsoft.com/office/powerpoint/2010/main" val="12631200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5B46A1A4-532D-46DB-A6F4-4EE75A0ED99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46" name="矩形 45"/>
          <p:cNvSpPr/>
          <p:nvPr/>
        </p:nvSpPr>
        <p:spPr>
          <a:xfrm>
            <a:off x="1960200" y="329520"/>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线性电位器</a:t>
            </a:r>
          </a:p>
        </p:txBody>
      </p:sp>
      <p:sp>
        <p:nvSpPr>
          <p:cNvPr id="5" name="矩形 4"/>
          <p:cNvSpPr/>
          <p:nvPr/>
        </p:nvSpPr>
        <p:spPr>
          <a:xfrm>
            <a:off x="744721" y="1321624"/>
            <a:ext cx="6954521" cy="5062922"/>
          </a:xfrm>
          <a:prstGeom prst="rect">
            <a:avLst/>
          </a:prstGeom>
        </p:spPr>
        <p:txBody>
          <a:bodyPr wrap="square" lIns="91438" tIns="45719" rIns="91438" bIns="45719">
            <a:spAutoFit/>
          </a:bodyPr>
          <a:lstStyle/>
          <a:p>
            <a:pPr>
              <a:lnSpc>
                <a:spcPct val="150000"/>
              </a:lnSpc>
              <a:spcBef>
                <a:spcPts val="670"/>
              </a:spcBef>
            </a:pP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    </a:t>
            </a:r>
          </a:p>
          <a:p>
            <a:pPr>
              <a:lnSpc>
                <a:spcPct val="150000"/>
              </a:lnSpc>
              <a:spcBef>
                <a:spcPts val="670"/>
              </a:spcBef>
            </a:pP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3" action="ppaction://hlinksldjump"/>
              </a:rPr>
              <a:t>图</a:t>
            </a: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3" action="ppaction://hlinksldjump"/>
              </a:rPr>
              <a:t>2-1</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3" action="ppaction://hlinksldjump"/>
              </a:rPr>
              <a:t>　电位器式位移传感器原理图 </a:t>
            </a:r>
            <a:endPar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4" action="ppaction://hlinksldjump"/>
              </a:rPr>
              <a:t>图</a:t>
            </a: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4" action="ppaction://hlinksldjump"/>
              </a:rPr>
              <a:t>2-2</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4" action="ppaction://hlinksldjump"/>
              </a:rPr>
              <a:t>　电位器式角度传感器</a:t>
            </a:r>
            <a:endPar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5" action="ppaction://hlinksldjump"/>
              </a:rPr>
              <a:t>图</a:t>
            </a: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5" action="ppaction://hlinksldjump"/>
              </a:rPr>
              <a:t>2-3</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5" action="ppaction://hlinksldjump"/>
              </a:rPr>
              <a:t>　线性线绕式电位器示意图</a:t>
            </a:r>
            <a:endPar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endParaRPr>
          </a:p>
          <a:p>
            <a:pPr>
              <a:lnSpc>
                <a:spcPct val="150000"/>
              </a:lnSpc>
              <a:spcBef>
                <a:spcPts val="670"/>
              </a:spcBef>
            </a:pP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阶梯特性、阶梯误差和分辨率</a:t>
            </a:r>
          </a:p>
          <a:p>
            <a:pPr marL="2601913" indent="-2601913">
              <a:lnSpc>
                <a:spcPct val="150000"/>
              </a:lnSpc>
              <a:spcBef>
                <a:spcPts val="670"/>
              </a:spcBef>
            </a:pP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6" action="ppaction://hlinksldjump"/>
              </a:rPr>
              <a:t>图</a:t>
            </a: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6" action="ppaction://hlinksldjump"/>
              </a:rPr>
              <a:t>2-4</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6" action="ppaction://hlinksldjump"/>
              </a:rPr>
              <a:t>　线性电位器的局部剖面和阶梯特性图</a:t>
            </a:r>
            <a:endPar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rPr>
              <a:t>          </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7" action="ppaction://hlinksldjump"/>
              </a:rPr>
              <a:t>图</a:t>
            </a:r>
            <a:r>
              <a:rPr lang="en-US" altLang="zh-CN"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7" action="ppaction://hlinksldjump"/>
              </a:rPr>
              <a:t>2-5</a:t>
            </a:r>
            <a:r>
              <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hlinkClick r:id="rId7" action="ppaction://hlinksldjump"/>
              </a:rPr>
              <a:t>　理想阶梯特性曲线</a:t>
            </a:r>
            <a:endParaRPr lang="zh-CN" altLang="en-US" sz="2400" b="1" dirty="0">
              <a:solidFill>
                <a:schemeClr val="tx2"/>
              </a:solidFill>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矩形 1"/>
          <p:cNvSpPr/>
          <p:nvPr/>
        </p:nvSpPr>
        <p:spPr>
          <a:xfrm>
            <a:off x="1571711" y="1421514"/>
            <a:ext cx="3278462" cy="461665"/>
          </a:xfrm>
          <a:prstGeom prst="rect">
            <a:avLst/>
          </a:prstGeom>
        </p:spPr>
        <p:txBody>
          <a:bodyPr wrap="none">
            <a:spAutoFit/>
          </a:bodyPr>
          <a:lstStyle/>
          <a:p>
            <a:r>
              <a:rPr lang="zh-CN" altLang="en-US" sz="2400" b="1" dirty="0">
                <a:latin typeface="宋体" panose="02010600030101010101" pitchFamily="2" charset="-122"/>
                <a:ea typeface="宋体" panose="02010600030101010101" pitchFamily="2" charset="-122"/>
                <a:cs typeface="Arial" panose="020B0604020202020204" pitchFamily="34" charset="0"/>
                <a:sym typeface="+mn-ea"/>
              </a:rPr>
              <a:t>线性电位器的空载特性</a:t>
            </a:r>
            <a:endParaRPr lang="zh-CN" altLang="en-US" sz="2400"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1D67CE84-8036-4CB3-A5D5-6749F9ACD4DD}"/>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89BAC6D8-4FB6-4A40-BE65-048A6731BE21}"/>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46" name="矩形 45"/>
          <p:cNvSpPr/>
          <p:nvPr/>
        </p:nvSpPr>
        <p:spPr>
          <a:xfrm>
            <a:off x="1960200" y="329520"/>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线性电位器</a:t>
            </a:r>
          </a:p>
        </p:txBody>
      </p:sp>
      <p:sp>
        <p:nvSpPr>
          <p:cNvPr id="7" name="Rectangle 2">
            <a:extLst>
              <a:ext uri="{FF2B5EF4-FFF2-40B4-BE49-F238E27FC236}">
                <a16:creationId xmlns:a16="http://schemas.microsoft.com/office/drawing/2014/main" id="{6463C114-BBCD-408B-AD9E-6302715B9F1A}"/>
              </a:ext>
            </a:extLst>
          </p:cNvPr>
          <p:cNvSpPr>
            <a:spLocks noChangeArrowheads="1"/>
          </p:cNvSpPr>
          <p:nvPr/>
        </p:nvSpPr>
        <p:spPr bwMode="auto">
          <a:xfrm>
            <a:off x="4448799" y="3590925"/>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8" name="Text Box 9">
            <a:extLst>
              <a:ext uri="{FF2B5EF4-FFF2-40B4-BE49-F238E27FC236}">
                <a16:creationId xmlns:a16="http://schemas.microsoft.com/office/drawing/2014/main" id="{A2945957-FE7D-4825-B726-A0EA33A856DF}"/>
              </a:ext>
            </a:extLst>
          </p:cNvPr>
          <p:cNvSpPr txBox="1">
            <a:spLocks noChangeArrowheads="1"/>
          </p:cNvSpPr>
          <p:nvPr/>
        </p:nvSpPr>
        <p:spPr bwMode="auto">
          <a:xfrm>
            <a:off x="2004049" y="4980266"/>
            <a:ext cx="525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2-1  </a:t>
            </a:r>
            <a:r>
              <a:rPr lang="zh-CN" altLang="en-US" b="1" dirty="0">
                <a:solidFill>
                  <a:srgbClr val="000099"/>
                </a:solidFill>
              </a:rPr>
              <a:t>电位器式位移传感器原理图</a:t>
            </a:r>
          </a:p>
        </p:txBody>
      </p:sp>
      <p:graphicFrame>
        <p:nvGraphicFramePr>
          <p:cNvPr id="9" name="Object 11">
            <a:extLst>
              <a:ext uri="{FF2B5EF4-FFF2-40B4-BE49-F238E27FC236}">
                <a16:creationId xmlns:a16="http://schemas.microsoft.com/office/drawing/2014/main" id="{BB8343E5-C7C4-454A-A91E-E3EC4D6591E2}"/>
              </a:ext>
            </a:extLst>
          </p:cNvPr>
          <p:cNvGraphicFramePr>
            <a:graphicFrameLocks noChangeAspect="1"/>
          </p:cNvGraphicFramePr>
          <p:nvPr>
            <p:extLst>
              <p:ext uri="{D42A27DB-BD31-4B8C-83A1-F6EECF244321}">
                <p14:modId xmlns:p14="http://schemas.microsoft.com/office/powerpoint/2010/main" val="3066312715"/>
              </p:ext>
            </p:extLst>
          </p:nvPr>
        </p:nvGraphicFramePr>
        <p:xfrm>
          <a:off x="1571711" y="1312916"/>
          <a:ext cx="5918272" cy="3231932"/>
        </p:xfrm>
        <a:graphic>
          <a:graphicData uri="http://schemas.openxmlformats.org/presentationml/2006/ole">
            <mc:AlternateContent xmlns:mc="http://schemas.openxmlformats.org/markup-compatibility/2006">
              <mc:Choice xmlns:v="urn:schemas-microsoft-com:vml" Requires="v">
                <p:oleObj name="Image" r:id="rId3" imgW="12734694" imgH="6955102" progId="Photoshop.Image.7">
                  <p:embed/>
                </p:oleObj>
              </mc:Choice>
              <mc:Fallback>
                <p:oleObj name="Image" r:id="rId3" imgW="12734694" imgH="6955102" progId="Photoshop.Image.7">
                  <p:embed/>
                  <p:pic>
                    <p:nvPicPr>
                      <p:cNvPr id="2059"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711" y="1312916"/>
                        <a:ext cx="5918272" cy="3231932"/>
                      </a:xfrm>
                      <a:prstGeom prst="rect">
                        <a:avLst/>
                      </a:prstGeom>
                      <a:noFill/>
                      <a:ln>
                        <a:noFill/>
                      </a:ln>
                      <a:effectLst/>
                    </p:spPr>
                  </p:pic>
                </p:oleObj>
              </mc:Fallback>
            </mc:AlternateContent>
          </a:graphicData>
        </a:graphic>
      </p:graphicFrame>
      <p:graphicFrame>
        <p:nvGraphicFramePr>
          <p:cNvPr id="10" name="Object 13">
            <a:extLst>
              <a:ext uri="{FF2B5EF4-FFF2-40B4-BE49-F238E27FC236}">
                <a16:creationId xmlns:a16="http://schemas.microsoft.com/office/drawing/2014/main" id="{DC07803F-A2D3-478A-AA1B-F6E9B0B7F3E3}"/>
              </a:ext>
            </a:extLst>
          </p:cNvPr>
          <p:cNvGraphicFramePr>
            <a:graphicFrameLocks noChangeAspect="1"/>
          </p:cNvGraphicFramePr>
          <p:nvPr>
            <p:extLst>
              <p:ext uri="{D42A27DB-BD31-4B8C-83A1-F6EECF244321}">
                <p14:modId xmlns:p14="http://schemas.microsoft.com/office/powerpoint/2010/main" val="472970864"/>
              </p:ext>
            </p:extLst>
          </p:nvPr>
        </p:nvGraphicFramePr>
        <p:xfrm>
          <a:off x="1078300" y="5517976"/>
          <a:ext cx="2690812" cy="1109662"/>
        </p:xfrm>
        <a:graphic>
          <a:graphicData uri="http://schemas.openxmlformats.org/presentationml/2006/ole">
            <mc:AlternateContent xmlns:mc="http://schemas.openxmlformats.org/markup-compatibility/2006">
              <mc:Choice xmlns:v="urn:schemas-microsoft-com:vml" Requires="v">
                <p:oleObj r:id="rId5" imgW="1040948" imgH="431613" progId="Equation.3">
                  <p:embed/>
                </p:oleObj>
              </mc:Choice>
              <mc:Fallback>
                <p:oleObj r:id="rId5" imgW="1040948" imgH="431613" progId="Equation.3">
                  <p:embed/>
                  <p:pic>
                    <p:nvPicPr>
                      <p:cNvPr id="6"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8300" y="5517976"/>
                        <a:ext cx="2690812" cy="1109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4">
            <a:extLst>
              <a:ext uri="{FF2B5EF4-FFF2-40B4-BE49-F238E27FC236}">
                <a16:creationId xmlns:a16="http://schemas.microsoft.com/office/drawing/2014/main" id="{FCEF9A55-8920-4994-9367-66EAAC721399}"/>
              </a:ext>
            </a:extLst>
          </p:cNvPr>
          <p:cNvGraphicFramePr>
            <a:graphicFrameLocks noChangeAspect="1"/>
          </p:cNvGraphicFramePr>
          <p:nvPr>
            <p:extLst>
              <p:ext uri="{D42A27DB-BD31-4B8C-83A1-F6EECF244321}">
                <p14:modId xmlns:p14="http://schemas.microsoft.com/office/powerpoint/2010/main" val="781010595"/>
              </p:ext>
            </p:extLst>
          </p:nvPr>
        </p:nvGraphicFramePr>
        <p:xfrm>
          <a:off x="5674112" y="5598938"/>
          <a:ext cx="2533650" cy="1017588"/>
        </p:xfrm>
        <a:graphic>
          <a:graphicData uri="http://schemas.openxmlformats.org/presentationml/2006/ole">
            <mc:AlternateContent xmlns:mc="http://schemas.openxmlformats.org/markup-compatibility/2006">
              <mc:Choice xmlns:v="urn:schemas-microsoft-com:vml" Requires="v">
                <p:oleObj r:id="rId7" imgW="1066800" imgH="431800" progId="Equation.3">
                  <p:embed/>
                </p:oleObj>
              </mc:Choice>
              <mc:Fallback>
                <p:oleObj r:id="rId7" imgW="1066800" imgH="431800" progId="Equation.3">
                  <p:embed/>
                  <p:pic>
                    <p:nvPicPr>
                      <p:cNvPr id="7"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74112" y="5598938"/>
                        <a:ext cx="253365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5">
            <a:extLst>
              <a:ext uri="{FF2B5EF4-FFF2-40B4-BE49-F238E27FC236}">
                <a16:creationId xmlns:a16="http://schemas.microsoft.com/office/drawing/2014/main" id="{6962B4EF-9036-474E-9D44-EF35B6E90673}"/>
              </a:ext>
            </a:extLst>
          </p:cNvPr>
          <p:cNvSpPr txBox="1">
            <a:spLocks noChangeArrowheads="1"/>
          </p:cNvSpPr>
          <p:nvPr/>
        </p:nvSpPr>
        <p:spPr bwMode="auto">
          <a:xfrm>
            <a:off x="4073912" y="5805313"/>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宋体" pitchFamily="2" charset="-122"/>
                <a:ea typeface="宋体" pitchFamily="2" charset="-122"/>
              </a:rPr>
              <a:t>或者</a:t>
            </a:r>
          </a:p>
        </p:txBody>
      </p:sp>
      <p:sp>
        <p:nvSpPr>
          <p:cNvPr id="2" name="Slide Number Placeholder 1">
            <a:extLst>
              <a:ext uri="{FF2B5EF4-FFF2-40B4-BE49-F238E27FC236}">
                <a16:creationId xmlns:a16="http://schemas.microsoft.com/office/drawing/2014/main" id="{B95EA50C-E634-4FF3-B281-3D2ECDB6E93F}"/>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Tree>
    <p:extLst>
      <p:ext uri="{BB962C8B-B14F-4D97-AF65-F5344CB8AC3E}">
        <p14:creationId xmlns:p14="http://schemas.microsoft.com/office/powerpoint/2010/main" val="2569006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E95BC766-0ECA-4799-976C-92CFE5ABB20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46" name="矩形 45"/>
          <p:cNvSpPr/>
          <p:nvPr/>
        </p:nvSpPr>
        <p:spPr>
          <a:xfrm>
            <a:off x="1960200" y="329520"/>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线性电位器</a:t>
            </a:r>
          </a:p>
        </p:txBody>
      </p:sp>
      <p:sp>
        <p:nvSpPr>
          <p:cNvPr id="5" name="Rectangle 2">
            <a:extLst>
              <a:ext uri="{FF2B5EF4-FFF2-40B4-BE49-F238E27FC236}">
                <a16:creationId xmlns:a16="http://schemas.microsoft.com/office/drawing/2014/main" id="{2C3CC4B0-7F6A-49A6-A27F-AFC57A39CFF0}"/>
              </a:ext>
            </a:extLst>
          </p:cNvPr>
          <p:cNvSpPr>
            <a:spLocks noChangeArrowheads="1"/>
          </p:cNvSpPr>
          <p:nvPr/>
        </p:nvSpPr>
        <p:spPr bwMode="auto">
          <a:xfrm>
            <a:off x="4518025" y="3588405"/>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213C0FFE-70A6-4BC7-B3C5-5F8E025997E2}"/>
              </a:ext>
            </a:extLst>
          </p:cNvPr>
          <p:cNvSpPr txBox="1">
            <a:spLocks noChangeArrowheads="1"/>
          </p:cNvSpPr>
          <p:nvPr/>
        </p:nvSpPr>
        <p:spPr bwMode="auto">
          <a:xfrm>
            <a:off x="289620" y="6244044"/>
            <a:ext cx="548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dirty="0">
                <a:solidFill>
                  <a:srgbClr val="000099"/>
                </a:solidFill>
              </a:rPr>
              <a:t>	</a:t>
            </a:r>
            <a:r>
              <a:rPr lang="zh-CN" altLang="en-US" b="1" dirty="0">
                <a:solidFill>
                  <a:srgbClr val="000099"/>
                </a:solidFill>
              </a:rPr>
              <a:t>图</a:t>
            </a:r>
            <a:r>
              <a:rPr lang="en-US" altLang="zh-CN" b="1" dirty="0">
                <a:solidFill>
                  <a:srgbClr val="000099"/>
                </a:solidFill>
              </a:rPr>
              <a:t>2-2  </a:t>
            </a:r>
            <a:r>
              <a:rPr lang="zh-CN" altLang="en-US" b="1" dirty="0">
                <a:solidFill>
                  <a:srgbClr val="000099"/>
                </a:solidFill>
              </a:rPr>
              <a:t>电位器式角度传感器</a:t>
            </a:r>
            <a:endParaRPr lang="en-US" altLang="zh-CN" b="1" dirty="0">
              <a:solidFill>
                <a:srgbClr val="000099"/>
              </a:solidFill>
            </a:endParaRPr>
          </a:p>
        </p:txBody>
      </p:sp>
      <p:graphicFrame>
        <p:nvGraphicFramePr>
          <p:cNvPr id="7" name="Object 12">
            <a:extLst>
              <a:ext uri="{FF2B5EF4-FFF2-40B4-BE49-F238E27FC236}">
                <a16:creationId xmlns:a16="http://schemas.microsoft.com/office/drawing/2014/main" id="{EB40CA27-90D2-4165-A038-E37CF8DCD901}"/>
              </a:ext>
            </a:extLst>
          </p:cNvPr>
          <p:cNvGraphicFramePr>
            <a:graphicFrameLocks noChangeAspect="1"/>
          </p:cNvGraphicFramePr>
          <p:nvPr>
            <p:extLst>
              <p:ext uri="{D42A27DB-BD31-4B8C-83A1-F6EECF244321}">
                <p14:modId xmlns:p14="http://schemas.microsoft.com/office/powerpoint/2010/main" val="1041411972"/>
              </p:ext>
            </p:extLst>
          </p:nvPr>
        </p:nvGraphicFramePr>
        <p:xfrm>
          <a:off x="125317" y="1418462"/>
          <a:ext cx="5616194" cy="4370048"/>
        </p:xfrm>
        <a:graphic>
          <a:graphicData uri="http://schemas.openxmlformats.org/presentationml/2006/ole">
            <mc:AlternateContent xmlns:mc="http://schemas.openxmlformats.org/markup-compatibility/2006">
              <mc:Choice xmlns:v="urn:schemas-microsoft-com:vml" Requires="v">
                <p:oleObj name="Image" r:id="rId3" imgW="10422857" imgH="8111020" progId="Photoshop.Image.7">
                  <p:embed/>
                </p:oleObj>
              </mc:Choice>
              <mc:Fallback>
                <p:oleObj name="Image" r:id="rId3" imgW="10422857" imgH="8111020" progId="Photoshop.Image.7">
                  <p:embed/>
                  <p:pic>
                    <p:nvPicPr>
                      <p:cNvPr id="206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317" y="1418462"/>
                        <a:ext cx="5616194" cy="4370048"/>
                      </a:xfrm>
                      <a:prstGeom prst="rect">
                        <a:avLst/>
                      </a:prstGeom>
                      <a:noFill/>
                      <a:ln>
                        <a:noFill/>
                      </a:ln>
                      <a:effectLst/>
                    </p:spPr>
                  </p:pic>
                </p:oleObj>
              </mc:Fallback>
            </mc:AlternateContent>
          </a:graphicData>
        </a:graphic>
      </p:graphicFrame>
      <p:graphicFrame>
        <p:nvGraphicFramePr>
          <p:cNvPr id="8" name="Object 9">
            <a:extLst>
              <a:ext uri="{FF2B5EF4-FFF2-40B4-BE49-F238E27FC236}">
                <a16:creationId xmlns:a16="http://schemas.microsoft.com/office/drawing/2014/main" id="{3E156CD1-4468-4B6F-B731-252C2933916D}"/>
              </a:ext>
            </a:extLst>
          </p:cNvPr>
          <p:cNvGraphicFramePr>
            <a:graphicFrameLocks noChangeAspect="1"/>
          </p:cNvGraphicFramePr>
          <p:nvPr>
            <p:extLst>
              <p:ext uri="{D42A27DB-BD31-4B8C-83A1-F6EECF244321}">
                <p14:modId xmlns:p14="http://schemas.microsoft.com/office/powerpoint/2010/main" val="586400306"/>
              </p:ext>
            </p:extLst>
          </p:nvPr>
        </p:nvGraphicFramePr>
        <p:xfrm>
          <a:off x="5828397" y="1847711"/>
          <a:ext cx="2751137" cy="1095375"/>
        </p:xfrm>
        <a:graphic>
          <a:graphicData uri="http://schemas.openxmlformats.org/presentationml/2006/ole">
            <mc:AlternateContent xmlns:mc="http://schemas.openxmlformats.org/markup-compatibility/2006">
              <mc:Choice xmlns:v="urn:schemas-microsoft-com:vml" Requires="v">
                <p:oleObj r:id="rId5" imgW="1079032" imgH="431613" progId="Equation.3">
                  <p:embed/>
                </p:oleObj>
              </mc:Choice>
              <mc:Fallback>
                <p:oleObj r:id="rId5" imgW="1079032" imgH="431613" progId="Equation.3">
                  <p:embed/>
                  <p:pic>
                    <p:nvPicPr>
                      <p:cNvPr id="6"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8397" y="1847711"/>
                        <a:ext cx="2751137"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0">
            <a:extLst>
              <a:ext uri="{FF2B5EF4-FFF2-40B4-BE49-F238E27FC236}">
                <a16:creationId xmlns:a16="http://schemas.microsoft.com/office/drawing/2014/main" id="{B54BF828-0805-4137-8138-C54DACBD4999}"/>
              </a:ext>
            </a:extLst>
          </p:cNvPr>
          <p:cNvSpPr txBox="1">
            <a:spLocks noChangeArrowheads="1"/>
          </p:cNvSpPr>
          <p:nvPr/>
        </p:nvSpPr>
        <p:spPr bwMode="auto">
          <a:xfrm>
            <a:off x="5379134" y="3084373"/>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宋体" panose="02010600030101010101" pitchFamily="2" charset="-122"/>
                <a:ea typeface="宋体" panose="02010600030101010101" pitchFamily="2" charset="-122"/>
              </a:rPr>
              <a:t>或者</a:t>
            </a:r>
          </a:p>
        </p:txBody>
      </p:sp>
      <p:pic>
        <p:nvPicPr>
          <p:cNvPr id="10" name="Picture 12">
            <a:extLst>
              <a:ext uri="{FF2B5EF4-FFF2-40B4-BE49-F238E27FC236}">
                <a16:creationId xmlns:a16="http://schemas.microsoft.com/office/drawing/2014/main" id="{984862B9-5022-472C-A6EB-FD9EEF6AB79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56959" y="3832086"/>
            <a:ext cx="2670175" cy="103663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AAB54DD-4A79-4D9E-9732-E8EE96A4E6EA}"/>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Tree>
    <p:extLst>
      <p:ext uri="{BB962C8B-B14F-4D97-AF65-F5344CB8AC3E}">
        <p14:creationId xmlns:p14="http://schemas.microsoft.com/office/powerpoint/2010/main" val="5428816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4">
            <a:extLst>
              <a:ext uri="{FF2B5EF4-FFF2-40B4-BE49-F238E27FC236}">
                <a16:creationId xmlns:a16="http://schemas.microsoft.com/office/drawing/2014/main" id="{9DB65192-3AB6-4D5C-9F61-133E19351F87}"/>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46" name="矩形 45"/>
          <p:cNvSpPr/>
          <p:nvPr/>
        </p:nvSpPr>
        <p:spPr>
          <a:xfrm>
            <a:off x="1960200" y="329520"/>
            <a:ext cx="4751499" cy="615549"/>
          </a:xfrm>
          <a:prstGeom prst="rect">
            <a:avLst/>
          </a:prstGeom>
        </p:spPr>
        <p:txBody>
          <a:bodyPr wrap="squar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a:t>
            </a:r>
            <a:r>
              <a:rPr lang="zh-CN" altLang="en-US" sz="3400" b="1">
                <a:solidFill>
                  <a:schemeClr val="bg1"/>
                </a:solidFill>
                <a:latin typeface="宋体" panose="02010600030101010101" pitchFamily="2" charset="-122"/>
                <a:ea typeface="宋体" panose="02010600030101010101" pitchFamily="2" charset="-122"/>
                <a:sym typeface="+mn-ea"/>
              </a:rPr>
              <a:t>位器：空载特性</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graphicFrame>
        <p:nvGraphicFramePr>
          <p:cNvPr id="10" name="Object 22">
            <a:extLst>
              <a:ext uri="{FF2B5EF4-FFF2-40B4-BE49-F238E27FC236}">
                <a16:creationId xmlns:a16="http://schemas.microsoft.com/office/drawing/2014/main" id="{F19A568C-17E1-4A3A-863E-B068A6036FCD}"/>
              </a:ext>
            </a:extLst>
          </p:cNvPr>
          <p:cNvGraphicFramePr>
            <a:graphicFrameLocks noChangeAspect="1"/>
          </p:cNvGraphicFramePr>
          <p:nvPr>
            <p:extLst>
              <p:ext uri="{D42A27DB-BD31-4B8C-83A1-F6EECF244321}">
                <p14:modId xmlns:p14="http://schemas.microsoft.com/office/powerpoint/2010/main" val="3668373753"/>
              </p:ext>
            </p:extLst>
          </p:nvPr>
        </p:nvGraphicFramePr>
        <p:xfrm>
          <a:off x="385888" y="5251213"/>
          <a:ext cx="1441450" cy="809625"/>
        </p:xfrm>
        <a:graphic>
          <a:graphicData uri="http://schemas.openxmlformats.org/presentationml/2006/ole">
            <mc:AlternateContent xmlns:mc="http://schemas.openxmlformats.org/markup-compatibility/2006">
              <mc:Choice xmlns:v="urn:schemas-microsoft-com:vml" Requires="v">
                <p:oleObj name="Equation" r:id="rId3" imgW="698197" imgH="393529" progId="Equation.DSMT4">
                  <p:embed/>
                </p:oleObj>
              </mc:Choice>
              <mc:Fallback>
                <p:oleObj name="Equation" r:id="rId3" imgW="698197" imgH="393529" progId="Equation.DSMT4">
                  <p:embed/>
                  <p:pic>
                    <p:nvPicPr>
                      <p:cNvPr id="8"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888" y="5251213"/>
                        <a:ext cx="144145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24">
            <a:extLst>
              <a:ext uri="{FF2B5EF4-FFF2-40B4-BE49-F238E27FC236}">
                <a16:creationId xmlns:a16="http://schemas.microsoft.com/office/drawing/2014/main" id="{120DF87E-26CB-4246-AF43-4EB5F4FDF443}"/>
              </a:ext>
            </a:extLst>
          </p:cNvPr>
          <p:cNvGraphicFramePr>
            <a:graphicFrameLocks noChangeAspect="1"/>
          </p:cNvGraphicFramePr>
          <p:nvPr>
            <p:extLst>
              <p:ext uri="{D42A27DB-BD31-4B8C-83A1-F6EECF244321}">
                <p14:modId xmlns:p14="http://schemas.microsoft.com/office/powerpoint/2010/main" val="1607416583"/>
              </p:ext>
            </p:extLst>
          </p:nvPr>
        </p:nvGraphicFramePr>
        <p:xfrm>
          <a:off x="2317499" y="5205968"/>
          <a:ext cx="2597150" cy="900113"/>
        </p:xfrm>
        <a:graphic>
          <a:graphicData uri="http://schemas.openxmlformats.org/presentationml/2006/ole">
            <mc:AlternateContent xmlns:mc="http://schemas.openxmlformats.org/markup-compatibility/2006">
              <mc:Choice xmlns:v="urn:schemas-microsoft-com:vml" Requires="v">
                <p:oleObj name="Equation" r:id="rId5" imgW="1130040" imgH="393480" progId="Equation.DSMT4">
                  <p:embed/>
                </p:oleObj>
              </mc:Choice>
              <mc:Fallback>
                <p:oleObj name="Equation" r:id="rId5" imgW="1130040" imgH="393480" progId="Equation.DSMT4">
                  <p:embed/>
                  <p:pic>
                    <p:nvPicPr>
                      <p:cNvPr id="9" name="Object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7499" y="5205968"/>
                        <a:ext cx="25971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8">
            <a:extLst>
              <a:ext uri="{FF2B5EF4-FFF2-40B4-BE49-F238E27FC236}">
                <a16:creationId xmlns:a16="http://schemas.microsoft.com/office/drawing/2014/main" id="{443534EE-769C-4A9A-836C-4D708A53CD4A}"/>
              </a:ext>
            </a:extLst>
          </p:cNvPr>
          <p:cNvGraphicFramePr>
            <a:graphicFrameLocks noChangeAspect="1"/>
          </p:cNvGraphicFramePr>
          <p:nvPr>
            <p:extLst>
              <p:ext uri="{D42A27DB-BD31-4B8C-83A1-F6EECF244321}">
                <p14:modId xmlns:p14="http://schemas.microsoft.com/office/powerpoint/2010/main" val="324489026"/>
              </p:ext>
            </p:extLst>
          </p:nvPr>
        </p:nvGraphicFramePr>
        <p:xfrm>
          <a:off x="5312638" y="5132151"/>
          <a:ext cx="3527425" cy="957262"/>
        </p:xfrm>
        <a:graphic>
          <a:graphicData uri="http://schemas.openxmlformats.org/presentationml/2006/ole">
            <mc:AlternateContent xmlns:mc="http://schemas.openxmlformats.org/markup-compatibility/2006">
              <mc:Choice xmlns:v="urn:schemas-microsoft-com:vml" Requires="v">
                <p:oleObj name="Equation" r:id="rId7" imgW="1434960" imgH="393480" progId="Equation.DSMT4">
                  <p:embed/>
                </p:oleObj>
              </mc:Choice>
              <mc:Fallback>
                <p:oleObj name="Equation" r:id="rId7" imgW="1434960" imgH="393480" progId="Equation.DSMT4">
                  <p:embed/>
                  <p:pic>
                    <p:nvPicPr>
                      <p:cNvPr id="12" name="Object 28"/>
                      <p:cNvPicPr>
                        <a:picLocks noChangeAspect="1" noChangeArrowheads="1"/>
                      </p:cNvPicPr>
                      <p:nvPr/>
                    </p:nvPicPr>
                    <p:blipFill>
                      <a:blip r:embed="rId8"/>
                      <a:srcRect/>
                      <a:stretch>
                        <a:fillRect/>
                      </a:stretch>
                    </p:blipFill>
                    <p:spPr bwMode="auto">
                      <a:xfrm>
                        <a:off x="5312638" y="5132151"/>
                        <a:ext cx="3527425"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9">
            <a:extLst>
              <a:ext uri="{FF2B5EF4-FFF2-40B4-BE49-F238E27FC236}">
                <a16:creationId xmlns:a16="http://schemas.microsoft.com/office/drawing/2014/main" id="{C914D9FD-55E6-4DAB-948E-E31DD46ABB34}"/>
              </a:ext>
            </a:extLst>
          </p:cNvPr>
          <p:cNvSpPr txBox="1">
            <a:spLocks noChangeArrowheads="1"/>
          </p:cNvSpPr>
          <p:nvPr/>
        </p:nvSpPr>
        <p:spPr bwMode="auto">
          <a:xfrm>
            <a:off x="2317499" y="4363257"/>
            <a:ext cx="52578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en-US" altLang="zh-CN" b="1" dirty="0">
                <a:solidFill>
                  <a:srgbClr val="000099"/>
                </a:solidFill>
              </a:rPr>
              <a:t> </a:t>
            </a:r>
            <a:r>
              <a:rPr lang="zh-CN" altLang="en-US" b="1" dirty="0">
                <a:solidFill>
                  <a:srgbClr val="000099"/>
                </a:solidFill>
              </a:rPr>
              <a:t>图</a:t>
            </a:r>
            <a:r>
              <a:rPr lang="en-US" altLang="zh-CN" b="1" dirty="0">
                <a:solidFill>
                  <a:srgbClr val="000099"/>
                </a:solidFill>
              </a:rPr>
              <a:t>2-3  </a:t>
            </a:r>
            <a:r>
              <a:rPr lang="zh-CN" altLang="en-US" b="1" dirty="0">
                <a:solidFill>
                  <a:srgbClr val="000099"/>
                </a:solidFill>
              </a:rPr>
              <a:t>线性线绕式电位器示意图</a:t>
            </a:r>
          </a:p>
        </p:txBody>
      </p:sp>
      <p:grpSp>
        <p:nvGrpSpPr>
          <p:cNvPr id="3" name="Group 2">
            <a:extLst>
              <a:ext uri="{FF2B5EF4-FFF2-40B4-BE49-F238E27FC236}">
                <a16:creationId xmlns:a16="http://schemas.microsoft.com/office/drawing/2014/main" id="{DB73E992-6E2F-4E6E-A00B-6A354420523F}"/>
              </a:ext>
            </a:extLst>
          </p:cNvPr>
          <p:cNvGrpSpPr/>
          <p:nvPr/>
        </p:nvGrpSpPr>
        <p:grpSpPr>
          <a:xfrm>
            <a:off x="428625" y="1247775"/>
            <a:ext cx="8020050" cy="3233738"/>
            <a:chOff x="428625" y="1247775"/>
            <a:chExt cx="8020050" cy="3233738"/>
          </a:xfrm>
        </p:grpSpPr>
        <p:sp>
          <p:nvSpPr>
            <p:cNvPr id="5" name="Rectangle 2">
              <a:extLst>
                <a:ext uri="{FF2B5EF4-FFF2-40B4-BE49-F238E27FC236}">
                  <a16:creationId xmlns:a16="http://schemas.microsoft.com/office/drawing/2014/main" id="{BB97889B-8769-497F-9998-B38189316F1F}"/>
                </a:ext>
              </a:extLst>
            </p:cNvPr>
            <p:cNvSpPr>
              <a:spLocks noChangeArrowheads="1"/>
            </p:cNvSpPr>
            <p:nvPr/>
          </p:nvSpPr>
          <p:spPr bwMode="auto">
            <a:xfrm>
              <a:off x="4254071" y="2522402"/>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graphicFrame>
          <p:nvGraphicFramePr>
            <p:cNvPr id="7" name="Object 13">
              <a:extLst>
                <a:ext uri="{FF2B5EF4-FFF2-40B4-BE49-F238E27FC236}">
                  <a16:creationId xmlns:a16="http://schemas.microsoft.com/office/drawing/2014/main" id="{E380022F-A81A-4216-903B-F947BB63FF0D}"/>
                </a:ext>
              </a:extLst>
            </p:cNvPr>
            <p:cNvGraphicFramePr>
              <a:graphicFrameLocks noChangeAspect="1"/>
            </p:cNvGraphicFramePr>
            <p:nvPr>
              <p:extLst>
                <p:ext uri="{D42A27DB-BD31-4B8C-83A1-F6EECF244321}">
                  <p14:modId xmlns:p14="http://schemas.microsoft.com/office/powerpoint/2010/main" val="152414874"/>
                </p:ext>
              </p:extLst>
            </p:nvPr>
          </p:nvGraphicFramePr>
          <p:xfrm>
            <a:off x="428625" y="1247775"/>
            <a:ext cx="8020050" cy="3233738"/>
          </p:xfrm>
          <a:graphic>
            <a:graphicData uri="http://schemas.openxmlformats.org/presentationml/2006/ole">
              <mc:AlternateContent xmlns:mc="http://schemas.openxmlformats.org/markup-compatibility/2006">
                <mc:Choice xmlns:v="urn:schemas-microsoft-com:vml" Requires="v">
                  <p:oleObj name="Image" r:id="rId9" imgW="18514286" imgH="7464490" progId="Photoshop.Image.7">
                    <p:embed/>
                  </p:oleObj>
                </mc:Choice>
                <mc:Fallback>
                  <p:oleObj name="Image" r:id="rId9" imgW="18514286" imgH="7464490" progId="Photoshop.Image.7">
                    <p:embed/>
                    <p:pic>
                      <p:nvPicPr>
                        <p:cNvPr id="2061"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625" y="1247775"/>
                          <a:ext cx="8020050" cy="3233738"/>
                        </a:xfrm>
                        <a:prstGeom prst="rect">
                          <a:avLst/>
                        </a:prstGeom>
                        <a:noFill/>
                        <a:ln>
                          <a:noFill/>
                        </a:ln>
                        <a:effectLst/>
                      </p:spPr>
                    </p:pic>
                  </p:oleObj>
                </mc:Fallback>
              </mc:AlternateContent>
            </a:graphicData>
          </a:graphic>
        </p:graphicFrame>
        <p:sp>
          <p:nvSpPr>
            <p:cNvPr id="8" name="Text Box 20">
              <a:extLst>
                <a:ext uri="{FF2B5EF4-FFF2-40B4-BE49-F238E27FC236}">
                  <a16:creationId xmlns:a16="http://schemas.microsoft.com/office/drawing/2014/main" id="{E08B91D5-11B4-417E-B367-1DAB7B468BE0}"/>
                </a:ext>
              </a:extLst>
            </p:cNvPr>
            <p:cNvSpPr txBox="1">
              <a:spLocks noChangeArrowheads="1"/>
            </p:cNvSpPr>
            <p:nvPr/>
          </p:nvSpPr>
          <p:spPr bwMode="auto">
            <a:xfrm>
              <a:off x="4130122" y="1417399"/>
              <a:ext cx="1225550" cy="427040"/>
            </a:xfrm>
            <a:prstGeom prst="rect">
              <a:avLst/>
            </a:prstGeom>
            <a:noFill/>
            <a:ln w="9525">
              <a:solidFill>
                <a:srgbClr val="8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p>
              <a:pPr>
                <a:lnSpc>
                  <a:spcPct val="120000"/>
                </a:lnSpc>
                <a:spcBef>
                  <a:spcPct val="20000"/>
                </a:spcBef>
              </a:pPr>
              <a:r>
                <a:rPr lang="zh-CN" altLang="en-US" sz="2000" b="1">
                  <a:solidFill>
                    <a:schemeClr val="hlink"/>
                  </a:solidFill>
                  <a:latin typeface="宋体" panose="02010600030101010101" pitchFamily="2" charset="-122"/>
                  <a:ea typeface="楷体_GB2312" pitchFamily="49" charset="-122"/>
                </a:rPr>
                <a:t>骨架截面</a:t>
              </a:r>
            </a:p>
          </p:txBody>
        </p:sp>
        <p:sp>
          <p:nvSpPr>
            <p:cNvPr id="9" name="Line 21">
              <a:extLst>
                <a:ext uri="{FF2B5EF4-FFF2-40B4-BE49-F238E27FC236}">
                  <a16:creationId xmlns:a16="http://schemas.microsoft.com/office/drawing/2014/main" id="{08B3E746-FA7A-41F9-AB58-D02D12AC9C6C}"/>
                </a:ext>
              </a:extLst>
            </p:cNvPr>
            <p:cNvSpPr>
              <a:spLocks noChangeShapeType="1"/>
            </p:cNvSpPr>
            <p:nvPr/>
          </p:nvSpPr>
          <p:spPr bwMode="auto">
            <a:xfrm flipH="1">
              <a:off x="4274585" y="1916470"/>
              <a:ext cx="163636" cy="473275"/>
            </a:xfrm>
            <a:prstGeom prst="line">
              <a:avLst/>
            </a:prstGeom>
            <a:noFill/>
            <a:ln w="38100">
              <a:solidFill>
                <a:schemeClr val="hlink"/>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宋体" panose="02010600030101010101" pitchFamily="2" charset="-122"/>
                <a:ea typeface="宋体" panose="02010600030101010101" pitchFamily="2" charset="-122"/>
              </a:endParaRPr>
            </a:p>
          </p:txBody>
        </p:sp>
        <p:sp>
          <p:nvSpPr>
            <p:cNvPr id="14" name="TextBox 13">
              <a:extLst>
                <a:ext uri="{FF2B5EF4-FFF2-40B4-BE49-F238E27FC236}">
                  <a16:creationId xmlns:a16="http://schemas.microsoft.com/office/drawing/2014/main" id="{19C69A4D-BBBF-4687-8BA6-7B7E4BCE5EC5}"/>
                </a:ext>
              </a:extLst>
            </p:cNvPr>
            <p:cNvSpPr txBox="1"/>
            <p:nvPr/>
          </p:nvSpPr>
          <p:spPr>
            <a:xfrm flipH="1">
              <a:off x="1258942" y="1956332"/>
              <a:ext cx="90835" cy="144000"/>
            </a:xfrm>
            <a:prstGeom prst="rect">
              <a:avLst/>
            </a:prstGeom>
            <a:solidFill>
              <a:schemeClr val="bg1"/>
            </a:solidFill>
          </p:spPr>
          <p:txBody>
            <a:bodyPr wrap="square" lIns="0" tIns="0" rIns="0" bIns="0" rtlCol="0" anchor="ctr" anchorCtr="0">
              <a:noAutofit/>
            </a:bodyPr>
            <a:lstStyle/>
            <a:p>
              <a:r>
                <a:rPr lang="en-US">
                  <a:latin typeface="Times New Roman" panose="02020603050405020304" pitchFamily="18" charset="0"/>
                  <a:cs typeface="Times New Roman" panose="02020603050405020304" pitchFamily="18" charset="0"/>
                </a:rPr>
                <a:t>,</a:t>
              </a:r>
              <a:endParaRPr lang="en-001">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FABEADD-59C1-46E0-B7F5-D7A56052DFD8}"/>
                </a:ext>
              </a:extLst>
            </p:cNvPr>
            <p:cNvSpPr txBox="1"/>
            <p:nvPr/>
          </p:nvSpPr>
          <p:spPr>
            <a:xfrm>
              <a:off x="1832900" y="1316329"/>
              <a:ext cx="108000" cy="144000"/>
            </a:xfrm>
            <a:prstGeom prst="rect">
              <a:avLst/>
            </a:prstGeom>
            <a:solidFill>
              <a:schemeClr val="bg1"/>
            </a:solidFill>
          </p:spPr>
          <p:txBody>
            <a:bodyPr wrap="square" lIns="0" tIns="0" rIns="0" bIns="0" rtlCol="0" anchor="ctr" anchorCtr="0">
              <a:noAutofit/>
            </a:bodyPr>
            <a:lstStyle/>
            <a:p>
              <a:r>
                <a:rPr lang="en-US">
                  <a:latin typeface="Times New Roman" panose="02020603050405020304" pitchFamily="18" charset="0"/>
                  <a:cs typeface="Times New Roman" panose="02020603050405020304" pitchFamily="18" charset="0"/>
                </a:rPr>
                <a:t>,</a:t>
              </a:r>
              <a:endParaRPr lang="en-001">
                <a:latin typeface="Times New Roman" panose="02020603050405020304" pitchFamily="18"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3A6087A3-265D-4DA9-8C95-4F1C1C16FB6F}"/>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Tree>
    <p:extLst>
      <p:ext uri="{BB962C8B-B14F-4D97-AF65-F5344CB8AC3E}">
        <p14:creationId xmlns:p14="http://schemas.microsoft.com/office/powerpoint/2010/main" val="22766571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FCFB2FFB-0BF2-449D-9C90-4D7343AB2BAD}"/>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graphicFrame>
        <p:nvGraphicFramePr>
          <p:cNvPr id="5" name="Object 4">
            <a:extLst>
              <a:ext uri="{FF2B5EF4-FFF2-40B4-BE49-F238E27FC236}">
                <a16:creationId xmlns:a16="http://schemas.microsoft.com/office/drawing/2014/main" id="{D6A32A7A-934F-4C96-A7F2-36C84087954A}"/>
              </a:ext>
            </a:extLst>
          </p:cNvPr>
          <p:cNvGraphicFramePr>
            <a:graphicFrameLocks noChangeAspect="1"/>
          </p:cNvGraphicFramePr>
          <p:nvPr>
            <p:extLst>
              <p:ext uri="{D42A27DB-BD31-4B8C-83A1-F6EECF244321}">
                <p14:modId xmlns:p14="http://schemas.microsoft.com/office/powerpoint/2010/main" val="223339330"/>
              </p:ext>
            </p:extLst>
          </p:nvPr>
        </p:nvGraphicFramePr>
        <p:xfrm>
          <a:off x="4083050" y="3546475"/>
          <a:ext cx="3248025" cy="1022350"/>
        </p:xfrm>
        <a:graphic>
          <a:graphicData uri="http://schemas.openxmlformats.org/presentationml/2006/ole">
            <mc:AlternateContent xmlns:mc="http://schemas.openxmlformats.org/markup-compatibility/2006">
              <mc:Choice xmlns:v="urn:schemas-microsoft-com:vml" Requires="v">
                <p:oleObj name="Equation" r:id="rId3" imgW="1460160" imgH="457200" progId="Equation.DSMT4">
                  <p:embed/>
                </p:oleObj>
              </mc:Choice>
              <mc:Fallback>
                <p:oleObj name="Equation" r:id="rId3" imgW="1460160" imgH="457200" progId="Equation.DSMT4">
                  <p:embed/>
                  <p:pic>
                    <p:nvPicPr>
                      <p:cNvPr id="4" name="Object 4"/>
                      <p:cNvPicPr>
                        <a:picLocks noChangeAspect="1" noChangeArrowheads="1"/>
                      </p:cNvPicPr>
                      <p:nvPr/>
                    </p:nvPicPr>
                    <p:blipFill>
                      <a:blip r:embed="rId4"/>
                      <a:srcRect/>
                      <a:stretch>
                        <a:fillRect/>
                      </a:stretch>
                    </p:blipFill>
                    <p:spPr bwMode="auto">
                      <a:xfrm>
                        <a:off x="4083050" y="3546475"/>
                        <a:ext cx="3248025"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94CDEFDD-5D0A-4624-93B6-B790AFD96D57}"/>
              </a:ext>
            </a:extLst>
          </p:cNvPr>
          <p:cNvGraphicFramePr>
            <a:graphicFrameLocks noChangeAspect="1"/>
          </p:cNvGraphicFramePr>
          <p:nvPr>
            <p:extLst>
              <p:ext uri="{D42A27DB-BD31-4B8C-83A1-F6EECF244321}">
                <p14:modId xmlns:p14="http://schemas.microsoft.com/office/powerpoint/2010/main" val="2927690194"/>
              </p:ext>
            </p:extLst>
          </p:nvPr>
        </p:nvGraphicFramePr>
        <p:xfrm>
          <a:off x="4043363" y="4840288"/>
          <a:ext cx="3714750" cy="1023937"/>
        </p:xfrm>
        <a:graphic>
          <a:graphicData uri="http://schemas.openxmlformats.org/presentationml/2006/ole">
            <mc:AlternateContent xmlns:mc="http://schemas.openxmlformats.org/markup-compatibility/2006">
              <mc:Choice xmlns:v="urn:schemas-microsoft-com:vml" Requires="v">
                <p:oleObj name="Equation" r:id="rId5" imgW="1676160" imgH="457200" progId="Equation.DSMT4">
                  <p:embed/>
                </p:oleObj>
              </mc:Choice>
              <mc:Fallback>
                <p:oleObj name="Equation" r:id="rId5" imgW="1676160" imgH="457200" progId="Equation.DSMT4">
                  <p:embed/>
                  <p:pic>
                    <p:nvPicPr>
                      <p:cNvPr id="5" name="Object 5"/>
                      <p:cNvPicPr>
                        <a:picLocks noChangeAspect="1" noChangeArrowheads="1"/>
                      </p:cNvPicPr>
                      <p:nvPr/>
                    </p:nvPicPr>
                    <p:blipFill>
                      <a:blip r:embed="rId6"/>
                      <a:srcRect/>
                      <a:stretch>
                        <a:fillRect/>
                      </a:stretch>
                    </p:blipFill>
                    <p:spPr bwMode="auto">
                      <a:xfrm>
                        <a:off x="4043363" y="4840288"/>
                        <a:ext cx="3714750" cy="1023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6">
            <a:extLst>
              <a:ext uri="{FF2B5EF4-FFF2-40B4-BE49-F238E27FC236}">
                <a16:creationId xmlns:a16="http://schemas.microsoft.com/office/drawing/2014/main" id="{1A542D95-5C23-4D17-B592-720064F93BB2}"/>
              </a:ext>
            </a:extLst>
          </p:cNvPr>
          <p:cNvSpPr txBox="1">
            <a:spLocks noChangeArrowheads="1"/>
          </p:cNvSpPr>
          <p:nvPr/>
        </p:nvSpPr>
        <p:spPr bwMode="auto">
          <a:xfrm>
            <a:off x="1304360" y="3772790"/>
            <a:ext cx="2376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folHlink"/>
                </a:solidFill>
                <a:latin typeface="宋体" panose="02010600030101010101" pitchFamily="2" charset="-122"/>
                <a:ea typeface="宋体" panose="02010600030101010101" pitchFamily="2" charset="-122"/>
              </a:rPr>
              <a:t>电阻灵敏度：</a:t>
            </a:r>
          </a:p>
        </p:txBody>
      </p:sp>
      <p:sp>
        <p:nvSpPr>
          <p:cNvPr id="8" name="Text Box 7">
            <a:extLst>
              <a:ext uri="{FF2B5EF4-FFF2-40B4-BE49-F238E27FC236}">
                <a16:creationId xmlns:a16="http://schemas.microsoft.com/office/drawing/2014/main" id="{63533874-C27E-4504-B559-4C85A60357D6}"/>
              </a:ext>
            </a:extLst>
          </p:cNvPr>
          <p:cNvSpPr txBox="1">
            <a:spLocks noChangeArrowheads="1"/>
          </p:cNvSpPr>
          <p:nvPr/>
        </p:nvSpPr>
        <p:spPr bwMode="auto">
          <a:xfrm>
            <a:off x="1304360" y="4975089"/>
            <a:ext cx="2376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hlink"/>
                </a:solidFill>
                <a:latin typeface="宋体" panose="02010600030101010101" pitchFamily="2" charset="-122"/>
                <a:ea typeface="宋体" panose="02010600030101010101" pitchFamily="2" charset="-122"/>
              </a:rPr>
              <a:t>电压灵敏度：</a:t>
            </a:r>
          </a:p>
        </p:txBody>
      </p:sp>
      <p:graphicFrame>
        <p:nvGraphicFramePr>
          <p:cNvPr id="2" name="Object 1">
            <a:extLst>
              <a:ext uri="{FF2B5EF4-FFF2-40B4-BE49-F238E27FC236}">
                <a16:creationId xmlns:a16="http://schemas.microsoft.com/office/drawing/2014/main" id="{C6322CA4-E04E-4A48-9A85-CBAA22140AEA}"/>
              </a:ext>
            </a:extLst>
          </p:cNvPr>
          <p:cNvGraphicFramePr>
            <a:graphicFrameLocks noChangeAspect="1"/>
          </p:cNvGraphicFramePr>
          <p:nvPr>
            <p:extLst>
              <p:ext uri="{D42A27DB-BD31-4B8C-83A1-F6EECF244321}">
                <p14:modId xmlns:p14="http://schemas.microsoft.com/office/powerpoint/2010/main" val="1492666367"/>
              </p:ext>
            </p:extLst>
          </p:nvPr>
        </p:nvGraphicFramePr>
        <p:xfrm>
          <a:off x="321900" y="1744599"/>
          <a:ext cx="3276600" cy="986161"/>
        </p:xfrm>
        <a:graphic>
          <a:graphicData uri="http://schemas.openxmlformats.org/presentationml/2006/ole">
            <mc:AlternateContent xmlns:mc="http://schemas.openxmlformats.org/markup-compatibility/2006">
              <mc:Choice xmlns:v="urn:schemas-microsoft-com:vml" Requires="v">
                <p:oleObj name="Equation" r:id="rId7" imgW="1307880" imgH="393480" progId="Equation.DSMT4">
                  <p:embed/>
                </p:oleObj>
              </mc:Choice>
              <mc:Fallback>
                <p:oleObj name="Equation" r:id="rId7" imgW="1307880" imgH="393480" progId="Equation.DSMT4">
                  <p:embed/>
                  <p:pic>
                    <p:nvPicPr>
                      <p:cNvPr id="0" name=""/>
                      <p:cNvPicPr/>
                      <p:nvPr/>
                    </p:nvPicPr>
                    <p:blipFill>
                      <a:blip r:embed="rId8"/>
                      <a:stretch>
                        <a:fillRect/>
                      </a:stretch>
                    </p:blipFill>
                    <p:spPr>
                      <a:xfrm>
                        <a:off x="321900" y="1744599"/>
                        <a:ext cx="3276600" cy="986161"/>
                      </a:xfrm>
                      <a:prstGeom prst="rect">
                        <a:avLst/>
                      </a:prstGeom>
                    </p:spPr>
                  </p:pic>
                </p:oleObj>
              </mc:Fallback>
            </mc:AlternateContent>
          </a:graphicData>
        </a:graphic>
      </p:graphicFrame>
      <p:sp>
        <p:nvSpPr>
          <p:cNvPr id="10" name="矩形 45">
            <a:extLst>
              <a:ext uri="{FF2B5EF4-FFF2-40B4-BE49-F238E27FC236}">
                <a16:creationId xmlns:a16="http://schemas.microsoft.com/office/drawing/2014/main" id="{37615D8B-593F-4C0C-9FB0-1F6F3D0DEE34}"/>
              </a:ext>
            </a:extLst>
          </p:cNvPr>
          <p:cNvSpPr/>
          <p:nvPr/>
        </p:nvSpPr>
        <p:spPr>
          <a:xfrm>
            <a:off x="1960200" y="329520"/>
            <a:ext cx="4751499" cy="615549"/>
          </a:xfrm>
          <a:prstGeom prst="rect">
            <a:avLst/>
          </a:prstGeom>
        </p:spPr>
        <p:txBody>
          <a:bodyPr wrap="squar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a:t>
            </a:r>
            <a:r>
              <a:rPr lang="zh-CN" altLang="en-US" sz="3400" b="1">
                <a:solidFill>
                  <a:schemeClr val="bg1"/>
                </a:solidFill>
                <a:latin typeface="宋体" panose="02010600030101010101" pitchFamily="2" charset="-122"/>
                <a:ea typeface="宋体" panose="02010600030101010101" pitchFamily="2" charset="-122"/>
                <a:sym typeface="+mn-ea"/>
              </a:rPr>
              <a:t>位器：空载特性</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graphicFrame>
        <p:nvGraphicFramePr>
          <p:cNvPr id="12" name="Object 13">
            <a:extLst>
              <a:ext uri="{FF2B5EF4-FFF2-40B4-BE49-F238E27FC236}">
                <a16:creationId xmlns:a16="http://schemas.microsoft.com/office/drawing/2014/main" id="{FC7F5A44-440B-460F-8039-DEFC5689AE78}"/>
              </a:ext>
            </a:extLst>
          </p:cNvPr>
          <p:cNvGraphicFramePr>
            <a:graphicFrameLocks noChangeAspect="1"/>
          </p:cNvGraphicFramePr>
          <p:nvPr>
            <p:extLst>
              <p:ext uri="{D42A27DB-BD31-4B8C-83A1-F6EECF244321}">
                <p14:modId xmlns:p14="http://schemas.microsoft.com/office/powerpoint/2010/main" val="1004275392"/>
              </p:ext>
            </p:extLst>
          </p:nvPr>
        </p:nvGraphicFramePr>
        <p:xfrm>
          <a:off x="3855374" y="1348489"/>
          <a:ext cx="5020854" cy="2024442"/>
        </p:xfrm>
        <a:graphic>
          <a:graphicData uri="http://schemas.openxmlformats.org/presentationml/2006/ole">
            <mc:AlternateContent xmlns:mc="http://schemas.openxmlformats.org/markup-compatibility/2006">
              <mc:Choice xmlns:v="urn:schemas-microsoft-com:vml" Requires="v">
                <p:oleObj name="Image" r:id="rId9" imgW="18514286" imgH="7464490" progId="Photoshop.Image.7">
                  <p:embed/>
                </p:oleObj>
              </mc:Choice>
              <mc:Fallback>
                <p:oleObj name="Image" r:id="rId9" imgW="18514286" imgH="7464490" progId="Photoshop.Image.7">
                  <p:embed/>
                  <p:pic>
                    <p:nvPicPr>
                      <p:cNvPr id="7" name="Object 13">
                        <a:extLst>
                          <a:ext uri="{FF2B5EF4-FFF2-40B4-BE49-F238E27FC236}">
                            <a16:creationId xmlns:a16="http://schemas.microsoft.com/office/drawing/2014/main" id="{E380022F-A81A-4216-903B-F947BB63FF0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5374" y="1348489"/>
                        <a:ext cx="5020854" cy="2024442"/>
                      </a:xfrm>
                      <a:prstGeom prst="rect">
                        <a:avLst/>
                      </a:prstGeom>
                      <a:noFill/>
                      <a:ln>
                        <a:noFill/>
                      </a:ln>
                      <a:effectLst/>
                    </p:spPr>
                  </p:pic>
                </p:oleObj>
              </mc:Fallback>
            </mc:AlternateContent>
          </a:graphicData>
        </a:graphic>
      </p:graphicFrame>
      <p:sp>
        <p:nvSpPr>
          <p:cNvPr id="3" name="Slide Number Placeholder 2">
            <a:extLst>
              <a:ext uri="{FF2B5EF4-FFF2-40B4-BE49-F238E27FC236}">
                <a16:creationId xmlns:a16="http://schemas.microsoft.com/office/drawing/2014/main" id="{38D9918E-3CC6-4A84-96EE-A7CC5A99F4FC}"/>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Tree>
    <p:extLst>
      <p:ext uri="{BB962C8B-B14F-4D97-AF65-F5344CB8AC3E}">
        <p14:creationId xmlns:p14="http://schemas.microsoft.com/office/powerpoint/2010/main" val="35406550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
            <a:extLst>
              <a:ext uri="{FF2B5EF4-FFF2-40B4-BE49-F238E27FC236}">
                <a16:creationId xmlns:a16="http://schemas.microsoft.com/office/drawing/2014/main" id="{4937C3EA-11BC-414B-A4EB-006551E9B018}"/>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9" name="Rectangle 2">
            <a:extLst>
              <a:ext uri="{FF2B5EF4-FFF2-40B4-BE49-F238E27FC236}">
                <a16:creationId xmlns:a16="http://schemas.microsoft.com/office/drawing/2014/main" id="{B6D13F2D-15E9-47CD-89EC-A99CB8C58121}"/>
              </a:ext>
            </a:extLst>
          </p:cNvPr>
          <p:cNvSpPr>
            <a:spLocks noChangeArrowheads="1"/>
          </p:cNvSpPr>
          <p:nvPr/>
        </p:nvSpPr>
        <p:spPr bwMode="auto">
          <a:xfrm>
            <a:off x="4412685" y="37719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0" name="Text Box 9">
            <a:extLst>
              <a:ext uri="{FF2B5EF4-FFF2-40B4-BE49-F238E27FC236}">
                <a16:creationId xmlns:a16="http://schemas.microsoft.com/office/drawing/2014/main" id="{3712E8BF-588C-4B21-81AD-E78AA442F5ED}"/>
              </a:ext>
            </a:extLst>
          </p:cNvPr>
          <p:cNvSpPr txBox="1">
            <a:spLocks noChangeArrowheads="1"/>
          </p:cNvSpPr>
          <p:nvPr/>
        </p:nvSpPr>
        <p:spPr bwMode="auto">
          <a:xfrm>
            <a:off x="1304360" y="6036720"/>
            <a:ext cx="673590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2-4   </a:t>
            </a:r>
            <a:r>
              <a:rPr lang="zh-CN" altLang="en-US" b="1" dirty="0">
                <a:solidFill>
                  <a:srgbClr val="000099"/>
                </a:solidFill>
              </a:rPr>
              <a:t>线性电位器的局部剖面和阶梯特性曲线图</a:t>
            </a:r>
          </a:p>
        </p:txBody>
      </p:sp>
      <p:graphicFrame>
        <p:nvGraphicFramePr>
          <p:cNvPr id="11" name="Object 15">
            <a:extLst>
              <a:ext uri="{FF2B5EF4-FFF2-40B4-BE49-F238E27FC236}">
                <a16:creationId xmlns:a16="http://schemas.microsoft.com/office/drawing/2014/main" id="{57490EA0-1704-476A-A1D8-912160CE5280}"/>
              </a:ext>
            </a:extLst>
          </p:cNvPr>
          <p:cNvGraphicFramePr>
            <a:graphicFrameLocks noChangeAspect="1"/>
          </p:cNvGraphicFramePr>
          <p:nvPr>
            <p:extLst>
              <p:ext uri="{D42A27DB-BD31-4B8C-83A1-F6EECF244321}">
                <p14:modId xmlns:p14="http://schemas.microsoft.com/office/powerpoint/2010/main" val="1452191950"/>
              </p:ext>
            </p:extLst>
          </p:nvPr>
        </p:nvGraphicFramePr>
        <p:xfrm>
          <a:off x="95250" y="1433407"/>
          <a:ext cx="4988864" cy="4414570"/>
        </p:xfrm>
        <a:graphic>
          <a:graphicData uri="http://schemas.openxmlformats.org/presentationml/2006/ole">
            <mc:AlternateContent xmlns:mc="http://schemas.openxmlformats.org/markup-compatibility/2006">
              <mc:Choice xmlns:v="urn:schemas-microsoft-com:vml" Requires="v">
                <p:oleObj name="Image" r:id="rId3" imgW="7073016" imgH="5193651" progId="Photoshop.Image.7">
                  <p:embed/>
                </p:oleObj>
              </mc:Choice>
              <mc:Fallback>
                <p:oleObj name="Image" r:id="rId3" imgW="7073016" imgH="5193651" progId="Photoshop.Image.7">
                  <p:embed/>
                  <p:pic>
                    <p:nvPicPr>
                      <p:cNvPr id="2063"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 y="1433407"/>
                        <a:ext cx="4988864" cy="4414570"/>
                      </a:xfrm>
                      <a:prstGeom prst="rect">
                        <a:avLst/>
                      </a:prstGeom>
                      <a:noFill/>
                      <a:ln>
                        <a:noFill/>
                      </a:ln>
                      <a:effectLst/>
                    </p:spPr>
                  </p:pic>
                </p:oleObj>
              </mc:Fallback>
            </mc:AlternateContent>
          </a:graphicData>
        </a:graphic>
      </p:graphicFrame>
      <p:pic>
        <p:nvPicPr>
          <p:cNvPr id="2" name="Picture 1">
            <a:extLst>
              <a:ext uri="{FF2B5EF4-FFF2-40B4-BE49-F238E27FC236}">
                <a16:creationId xmlns:a16="http://schemas.microsoft.com/office/drawing/2014/main" id="{2D7EE314-DEE3-4942-9A82-F94B2F296BF3}"/>
              </a:ext>
            </a:extLst>
          </p:cNvPr>
          <p:cNvPicPr>
            <a:picLocks noChangeAspect="1"/>
          </p:cNvPicPr>
          <p:nvPr/>
        </p:nvPicPr>
        <p:blipFill>
          <a:blip r:embed="rId5"/>
          <a:stretch>
            <a:fillRect/>
          </a:stretch>
        </p:blipFill>
        <p:spPr>
          <a:xfrm>
            <a:off x="4704907" y="1484545"/>
            <a:ext cx="4102996" cy="1882347"/>
          </a:xfrm>
          <a:prstGeom prst="rect">
            <a:avLst/>
          </a:prstGeom>
        </p:spPr>
      </p:pic>
      <p:sp>
        <p:nvSpPr>
          <p:cNvPr id="12" name="矩形 45">
            <a:extLst>
              <a:ext uri="{FF2B5EF4-FFF2-40B4-BE49-F238E27FC236}">
                <a16:creationId xmlns:a16="http://schemas.microsoft.com/office/drawing/2014/main" id="{02382CE8-3B33-4CA2-AF96-151ED858E565}"/>
              </a:ext>
            </a:extLst>
          </p:cNvPr>
          <p:cNvSpPr/>
          <p:nvPr/>
        </p:nvSpPr>
        <p:spPr>
          <a:xfrm>
            <a:off x="1960200" y="329520"/>
            <a:ext cx="4751499" cy="615549"/>
          </a:xfrm>
          <a:prstGeom prst="rect">
            <a:avLst/>
          </a:prstGeom>
        </p:spPr>
        <p:txBody>
          <a:bodyPr wrap="squar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a:t>
            </a:r>
            <a:r>
              <a:rPr lang="zh-CN" altLang="en-US" sz="3400" b="1">
                <a:solidFill>
                  <a:schemeClr val="bg1"/>
                </a:solidFill>
                <a:latin typeface="宋体" panose="02010600030101010101" pitchFamily="2" charset="-122"/>
                <a:ea typeface="宋体" panose="02010600030101010101" pitchFamily="2" charset="-122"/>
                <a:sym typeface="+mn-ea"/>
              </a:rPr>
              <a:t>位器：阶梯特性</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pic>
        <p:nvPicPr>
          <p:cNvPr id="3" name="Picture 2">
            <a:extLst>
              <a:ext uri="{FF2B5EF4-FFF2-40B4-BE49-F238E27FC236}">
                <a16:creationId xmlns:a16="http://schemas.microsoft.com/office/drawing/2014/main" id="{D78E2F04-01C9-4914-8857-2BDD205299E5}"/>
              </a:ext>
            </a:extLst>
          </p:cNvPr>
          <p:cNvPicPr>
            <a:picLocks noChangeAspect="1"/>
          </p:cNvPicPr>
          <p:nvPr/>
        </p:nvPicPr>
        <p:blipFill>
          <a:blip r:embed="rId6"/>
          <a:stretch>
            <a:fillRect/>
          </a:stretch>
        </p:blipFill>
        <p:spPr>
          <a:xfrm>
            <a:off x="3765549" y="4513453"/>
            <a:ext cx="1878716" cy="308041"/>
          </a:xfrm>
          <a:prstGeom prst="rect">
            <a:avLst/>
          </a:prstGeom>
        </p:spPr>
      </p:pic>
      <p:pic>
        <p:nvPicPr>
          <p:cNvPr id="4" name="Picture 3">
            <a:extLst>
              <a:ext uri="{FF2B5EF4-FFF2-40B4-BE49-F238E27FC236}">
                <a16:creationId xmlns:a16="http://schemas.microsoft.com/office/drawing/2014/main" id="{31A40B05-000A-4929-BACB-A9D6D0B13166}"/>
              </a:ext>
            </a:extLst>
          </p:cNvPr>
          <p:cNvPicPr>
            <a:picLocks noChangeAspect="1"/>
          </p:cNvPicPr>
          <p:nvPr/>
        </p:nvPicPr>
        <p:blipFill>
          <a:blip r:embed="rId7"/>
          <a:stretch>
            <a:fillRect/>
          </a:stretch>
        </p:blipFill>
        <p:spPr>
          <a:xfrm>
            <a:off x="3765549" y="3763735"/>
            <a:ext cx="2519573" cy="625061"/>
          </a:xfrm>
          <a:prstGeom prst="rect">
            <a:avLst/>
          </a:prstGeom>
        </p:spPr>
      </p:pic>
      <p:sp>
        <p:nvSpPr>
          <p:cNvPr id="5" name="Rectangle: Rounded Corners 4">
            <a:extLst>
              <a:ext uri="{FF2B5EF4-FFF2-40B4-BE49-F238E27FC236}">
                <a16:creationId xmlns:a16="http://schemas.microsoft.com/office/drawing/2014/main" id="{0D3A68B1-74E4-4785-9660-780D95CD8022}"/>
              </a:ext>
            </a:extLst>
          </p:cNvPr>
          <p:cNvSpPr/>
          <p:nvPr/>
        </p:nvSpPr>
        <p:spPr>
          <a:xfrm>
            <a:off x="2279650" y="3815385"/>
            <a:ext cx="4102996" cy="50932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3" name="Rectangle: Rounded Corners 12">
            <a:extLst>
              <a:ext uri="{FF2B5EF4-FFF2-40B4-BE49-F238E27FC236}">
                <a16:creationId xmlns:a16="http://schemas.microsoft.com/office/drawing/2014/main" id="{06060A40-4E24-4134-8059-58AFD170BA87}"/>
              </a:ext>
            </a:extLst>
          </p:cNvPr>
          <p:cNvSpPr/>
          <p:nvPr/>
        </p:nvSpPr>
        <p:spPr>
          <a:xfrm>
            <a:off x="2279650" y="4432281"/>
            <a:ext cx="4591050" cy="38779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7" name="Picture 6">
            <a:extLst>
              <a:ext uri="{FF2B5EF4-FFF2-40B4-BE49-F238E27FC236}">
                <a16:creationId xmlns:a16="http://schemas.microsoft.com/office/drawing/2014/main" id="{E933A21F-7488-437C-8375-EF134EFCDD43}"/>
              </a:ext>
            </a:extLst>
          </p:cNvPr>
          <p:cNvPicPr>
            <a:picLocks noChangeAspect="1"/>
          </p:cNvPicPr>
          <p:nvPr/>
        </p:nvPicPr>
        <p:blipFill>
          <a:blip r:embed="rId8"/>
          <a:stretch>
            <a:fillRect/>
          </a:stretch>
        </p:blipFill>
        <p:spPr>
          <a:xfrm>
            <a:off x="5980353" y="4460287"/>
            <a:ext cx="724996" cy="344486"/>
          </a:xfrm>
          <a:prstGeom prst="rect">
            <a:avLst/>
          </a:prstGeom>
        </p:spPr>
      </p:pic>
      <p:sp>
        <p:nvSpPr>
          <p:cNvPr id="6" name="Slide Number Placeholder 5">
            <a:extLst>
              <a:ext uri="{FF2B5EF4-FFF2-40B4-BE49-F238E27FC236}">
                <a16:creationId xmlns:a16="http://schemas.microsoft.com/office/drawing/2014/main" id="{005CD861-E627-40D3-8454-F167F19B7739}"/>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extLst>
      <p:ext uri="{BB962C8B-B14F-4D97-AF65-F5344CB8AC3E}">
        <p14:creationId xmlns:p14="http://schemas.microsoft.com/office/powerpoint/2010/main" val="34899635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4">
            <a:extLst>
              <a:ext uri="{FF2B5EF4-FFF2-40B4-BE49-F238E27FC236}">
                <a16:creationId xmlns:a16="http://schemas.microsoft.com/office/drawing/2014/main" id="{680917FE-48AA-4A7D-AF51-C2F9956877D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.1.1</a:t>
            </a:r>
          </a:p>
        </p:txBody>
      </p:sp>
      <p:sp>
        <p:nvSpPr>
          <p:cNvPr id="46" name="矩形 45"/>
          <p:cNvSpPr/>
          <p:nvPr/>
        </p:nvSpPr>
        <p:spPr>
          <a:xfrm>
            <a:off x="1960200" y="329520"/>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线性电位器</a:t>
            </a:r>
          </a:p>
        </p:txBody>
      </p:sp>
      <p:sp>
        <p:nvSpPr>
          <p:cNvPr id="8" name="Rectangle 2">
            <a:extLst>
              <a:ext uri="{FF2B5EF4-FFF2-40B4-BE49-F238E27FC236}">
                <a16:creationId xmlns:a16="http://schemas.microsoft.com/office/drawing/2014/main" id="{6C46C8A9-5208-4771-9E68-326301818CA1}"/>
              </a:ext>
            </a:extLst>
          </p:cNvPr>
          <p:cNvSpPr>
            <a:spLocks noChangeArrowheads="1"/>
          </p:cNvSpPr>
          <p:nvPr/>
        </p:nvSpPr>
        <p:spPr bwMode="auto">
          <a:xfrm>
            <a:off x="4465487" y="3686175"/>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2" name="Text Box 9">
            <a:extLst>
              <a:ext uri="{FF2B5EF4-FFF2-40B4-BE49-F238E27FC236}">
                <a16:creationId xmlns:a16="http://schemas.microsoft.com/office/drawing/2014/main" id="{C6004729-9081-4F2D-B6BD-0E2920A83B99}"/>
              </a:ext>
            </a:extLst>
          </p:cNvPr>
          <p:cNvSpPr txBox="1">
            <a:spLocks noChangeArrowheads="1"/>
          </p:cNvSpPr>
          <p:nvPr/>
        </p:nvSpPr>
        <p:spPr bwMode="auto">
          <a:xfrm>
            <a:off x="993601" y="6036935"/>
            <a:ext cx="52578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2-5 </a:t>
            </a:r>
            <a:r>
              <a:rPr lang="zh-CN" altLang="en-US" b="1" dirty="0">
                <a:solidFill>
                  <a:srgbClr val="000099"/>
                </a:solidFill>
              </a:rPr>
              <a:t>理想阶梯特性曲线</a:t>
            </a:r>
          </a:p>
        </p:txBody>
      </p:sp>
      <p:pic>
        <p:nvPicPr>
          <p:cNvPr id="13" name="图片 1">
            <a:extLst>
              <a:ext uri="{FF2B5EF4-FFF2-40B4-BE49-F238E27FC236}">
                <a16:creationId xmlns:a16="http://schemas.microsoft.com/office/drawing/2014/main" id="{6D8895AC-7990-4D5F-9382-F405A1D6D78F}"/>
              </a:ext>
            </a:extLst>
          </p:cNvPr>
          <p:cNvPicPr>
            <a:picLocks noChangeAspect="1"/>
          </p:cNvPicPr>
          <p:nvPr/>
        </p:nvPicPr>
        <p:blipFill>
          <a:blip r:embed="rId3"/>
          <a:stretch>
            <a:fillRect/>
          </a:stretch>
        </p:blipFill>
        <p:spPr>
          <a:xfrm>
            <a:off x="484396" y="1331926"/>
            <a:ext cx="3502197" cy="4405929"/>
          </a:xfrm>
          <a:prstGeom prst="rect">
            <a:avLst/>
          </a:prstGeom>
        </p:spPr>
      </p:pic>
      <p:sp>
        <p:nvSpPr>
          <p:cNvPr id="14" name="Text Box 16">
            <a:extLst>
              <a:ext uri="{FF2B5EF4-FFF2-40B4-BE49-F238E27FC236}">
                <a16:creationId xmlns:a16="http://schemas.microsoft.com/office/drawing/2014/main" id="{7D25DB79-A02F-404B-B4F7-90911B74AE4B}"/>
              </a:ext>
            </a:extLst>
          </p:cNvPr>
          <p:cNvSpPr txBox="1">
            <a:spLocks noChangeArrowheads="1"/>
          </p:cNvSpPr>
          <p:nvPr/>
        </p:nvSpPr>
        <p:spPr bwMode="auto">
          <a:xfrm>
            <a:off x="4557562" y="1541580"/>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folHlink"/>
                </a:solidFill>
                <a:latin typeface="宋体" panose="02010600030101010101" pitchFamily="2" charset="-122"/>
                <a:ea typeface="宋体" panose="02010600030101010101" pitchFamily="2" charset="-122"/>
              </a:rPr>
              <a:t>电压分辨率：</a:t>
            </a:r>
          </a:p>
        </p:txBody>
      </p:sp>
      <p:sp>
        <p:nvSpPr>
          <p:cNvPr id="15" name="Text Box 19">
            <a:extLst>
              <a:ext uri="{FF2B5EF4-FFF2-40B4-BE49-F238E27FC236}">
                <a16:creationId xmlns:a16="http://schemas.microsoft.com/office/drawing/2014/main" id="{A09A3E3A-7E45-481F-A3E4-C2F7051317CF}"/>
              </a:ext>
            </a:extLst>
          </p:cNvPr>
          <p:cNvSpPr txBox="1">
            <a:spLocks noChangeArrowheads="1"/>
          </p:cNvSpPr>
          <p:nvPr/>
        </p:nvSpPr>
        <p:spPr bwMode="auto">
          <a:xfrm>
            <a:off x="4697204" y="3338185"/>
            <a:ext cx="2438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chemeClr val="hlink"/>
                </a:solidFill>
                <a:latin typeface="宋体" panose="02010600030101010101" pitchFamily="2" charset="-122"/>
                <a:ea typeface="宋体" panose="02010600030101010101" pitchFamily="2" charset="-122"/>
              </a:rPr>
              <a:t>阶梯误差：</a:t>
            </a:r>
          </a:p>
        </p:txBody>
      </p:sp>
      <p:graphicFrame>
        <p:nvGraphicFramePr>
          <p:cNvPr id="16" name="Object 17">
            <a:extLst>
              <a:ext uri="{FF2B5EF4-FFF2-40B4-BE49-F238E27FC236}">
                <a16:creationId xmlns:a16="http://schemas.microsoft.com/office/drawing/2014/main" id="{329EE043-3F50-4B01-8916-F05CBACAD070}"/>
              </a:ext>
            </a:extLst>
          </p:cNvPr>
          <p:cNvGraphicFramePr>
            <a:graphicFrameLocks noChangeAspect="1"/>
          </p:cNvGraphicFramePr>
          <p:nvPr>
            <p:extLst>
              <p:ext uri="{D42A27DB-BD31-4B8C-83A1-F6EECF244321}">
                <p14:modId xmlns:p14="http://schemas.microsoft.com/office/powerpoint/2010/main" val="2004846040"/>
              </p:ext>
            </p:extLst>
          </p:nvPr>
        </p:nvGraphicFramePr>
        <p:xfrm>
          <a:off x="4697204" y="2238375"/>
          <a:ext cx="3962400" cy="850900"/>
        </p:xfrm>
        <a:graphic>
          <a:graphicData uri="http://schemas.openxmlformats.org/presentationml/2006/ole">
            <mc:AlternateContent xmlns:mc="http://schemas.openxmlformats.org/markup-compatibility/2006">
              <mc:Choice xmlns:v="urn:schemas-microsoft-com:vml" Requires="v">
                <p:oleObj r:id="rId4" imgW="2082800" imgH="444500" progId="Equation.3">
                  <p:embed/>
                </p:oleObj>
              </mc:Choice>
              <mc:Fallback>
                <p:oleObj r:id="rId4" imgW="2082800" imgH="444500" progId="Equation.3">
                  <p:embed/>
                  <p:pic>
                    <p:nvPicPr>
                      <p:cNvPr id="8"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7204" y="2238375"/>
                        <a:ext cx="3962400"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20">
            <a:extLst>
              <a:ext uri="{FF2B5EF4-FFF2-40B4-BE49-F238E27FC236}">
                <a16:creationId xmlns:a16="http://schemas.microsoft.com/office/drawing/2014/main" id="{02F8510F-0CAF-4D92-B509-4CCBAA4F22E1}"/>
              </a:ext>
            </a:extLst>
          </p:cNvPr>
          <p:cNvGraphicFramePr>
            <a:graphicFrameLocks noChangeAspect="1"/>
          </p:cNvGraphicFramePr>
          <p:nvPr>
            <p:extLst>
              <p:ext uri="{D42A27DB-BD31-4B8C-83A1-F6EECF244321}">
                <p14:modId xmlns:p14="http://schemas.microsoft.com/office/powerpoint/2010/main" val="1693505471"/>
              </p:ext>
            </p:extLst>
          </p:nvPr>
        </p:nvGraphicFramePr>
        <p:xfrm>
          <a:off x="4697204" y="4067175"/>
          <a:ext cx="4267200" cy="1371600"/>
        </p:xfrm>
        <a:graphic>
          <a:graphicData uri="http://schemas.openxmlformats.org/presentationml/2006/ole">
            <mc:AlternateContent xmlns:mc="http://schemas.openxmlformats.org/markup-compatibility/2006">
              <mc:Choice xmlns:v="urn:schemas-microsoft-com:vml" Requires="v">
                <p:oleObj r:id="rId6" imgW="2108200" imgH="673100" progId="Equation.3">
                  <p:embed/>
                </p:oleObj>
              </mc:Choice>
              <mc:Fallback>
                <p:oleObj r:id="rId6" imgW="2108200" imgH="673100" progId="Equation.3">
                  <p:embed/>
                  <p:pic>
                    <p:nvPicPr>
                      <p:cNvPr id="9"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7204" y="4067175"/>
                        <a:ext cx="4267200"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CB61EFE6-7767-4047-BB17-0F61648140D2}"/>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Tree>
    <p:extLst>
      <p:ext uri="{BB962C8B-B14F-4D97-AF65-F5344CB8AC3E}">
        <p14:creationId xmlns:p14="http://schemas.microsoft.com/office/powerpoint/2010/main" val="38699888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6232198B-2DEF-405E-8872-5685C27CB398}"/>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非线性电位器</a:t>
            </a:r>
          </a:p>
        </p:txBody>
      </p:sp>
      <p:sp>
        <p:nvSpPr>
          <p:cNvPr id="5" name="矩形 4"/>
          <p:cNvSpPr/>
          <p:nvPr/>
        </p:nvSpPr>
        <p:spPr>
          <a:xfrm>
            <a:off x="959116" y="1865070"/>
            <a:ext cx="7892037" cy="2398090"/>
          </a:xfrm>
          <a:prstGeom prst="rect">
            <a:avLst/>
          </a:prstGeom>
        </p:spPr>
        <p:txBody>
          <a:bodyPr wrap="square" lIns="91438" tIns="45719" rIns="91438" bIns="45719">
            <a:spAutoFit/>
          </a:bodyPr>
          <a:lstStyle/>
          <a:p>
            <a:pPr indent="719138">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在空载时，其输出电压</a:t>
            </a: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或电阻</a:t>
            </a: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与电刷行程之间具有非线性函数关系的一种电位器，也称</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函数电位器</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endParaRPr lang="en-US" altLang="zh-CN" sz="2400" b="1" dirty="0">
              <a:latin typeface="Arial" panose="020B0604020202020204" pitchFamily="34" charset="0"/>
              <a:ea typeface="宋体" panose="02010600030101010101" pitchFamily="2" charset="-122"/>
              <a:cs typeface="Arial" panose="020B0604020202020204" pitchFamily="34" charset="0"/>
              <a:sym typeface="+mn-ea"/>
            </a:endParaRPr>
          </a:p>
          <a:p>
            <a:pPr indent="719138">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常用的非线性线绕电位器有</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变骨架式</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变节距式</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分路电阻式</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及</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电位给定式</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四种。</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8E93A927-A633-46EA-841D-F69FA7F89961}"/>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202FC2C7-2123-42D4-88CF-29C0B6CE318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897486"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非线性电位器</a:t>
            </a:r>
            <a:r>
              <a:rPr lang="en-US" altLang="zh-CN" sz="3400" b="1">
                <a:solidFill>
                  <a:schemeClr val="bg1"/>
                </a:solidFill>
                <a:latin typeface="宋体" panose="02010600030101010101" pitchFamily="2" charset="-122"/>
                <a:ea typeface="宋体" panose="02010600030101010101" pitchFamily="2" charset="-122"/>
                <a:sym typeface="+mn-ea"/>
              </a:rPr>
              <a:t>: </a:t>
            </a:r>
            <a:r>
              <a:rPr lang="zh-CN" altLang="en-US" sz="32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变骨架式</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graphicFrame>
        <p:nvGraphicFramePr>
          <p:cNvPr id="7" name="Object 6">
            <a:extLst>
              <a:ext uri="{FF2B5EF4-FFF2-40B4-BE49-F238E27FC236}">
                <a16:creationId xmlns:a16="http://schemas.microsoft.com/office/drawing/2014/main" id="{E59959E7-0E4A-4D89-8E69-F9C843C419B4}"/>
              </a:ext>
            </a:extLst>
          </p:cNvPr>
          <p:cNvGraphicFramePr>
            <a:graphicFrameLocks noChangeAspect="1"/>
          </p:cNvGraphicFramePr>
          <p:nvPr>
            <p:extLst>
              <p:ext uri="{D42A27DB-BD31-4B8C-83A1-F6EECF244321}">
                <p14:modId xmlns:p14="http://schemas.microsoft.com/office/powerpoint/2010/main" val="1961872582"/>
              </p:ext>
            </p:extLst>
          </p:nvPr>
        </p:nvGraphicFramePr>
        <p:xfrm>
          <a:off x="1393338" y="1753273"/>
          <a:ext cx="2720281" cy="1075376"/>
        </p:xfrm>
        <a:graphic>
          <a:graphicData uri="http://schemas.openxmlformats.org/presentationml/2006/ole">
            <mc:AlternateContent xmlns:mc="http://schemas.openxmlformats.org/markup-compatibility/2006">
              <mc:Choice xmlns:v="urn:schemas-microsoft-com:vml" Requires="v">
                <p:oleObj name="Equation" r:id="rId3" imgW="1066680" imgH="419040" progId="Equation.DSMT4">
                  <p:embed/>
                </p:oleObj>
              </mc:Choice>
              <mc:Fallback>
                <p:oleObj name="Equation" r:id="rId3" imgW="1066680" imgH="419040" progId="Equation.DSMT4">
                  <p:embed/>
                  <p:pic>
                    <p:nvPicPr>
                      <p:cNvPr id="7" name="Object 6">
                        <a:extLst>
                          <a:ext uri="{FF2B5EF4-FFF2-40B4-BE49-F238E27FC236}">
                            <a16:creationId xmlns:a16="http://schemas.microsoft.com/office/drawing/2014/main" id="{E59959E7-0E4A-4D89-8E69-F9C843C419B4}"/>
                          </a:ext>
                        </a:extLst>
                      </p:cNvPr>
                      <p:cNvPicPr>
                        <a:picLocks noChangeAspect="1" noChangeArrowheads="1"/>
                      </p:cNvPicPr>
                      <p:nvPr/>
                    </p:nvPicPr>
                    <p:blipFill>
                      <a:blip r:embed="rId4"/>
                      <a:srcRect/>
                      <a:stretch>
                        <a:fillRect/>
                      </a:stretch>
                    </p:blipFill>
                    <p:spPr bwMode="auto">
                      <a:xfrm>
                        <a:off x="1393338" y="1753273"/>
                        <a:ext cx="2720281" cy="1075376"/>
                      </a:xfrm>
                      <a:prstGeom prst="rect">
                        <a:avLst/>
                      </a:prstGeom>
                      <a:noFill/>
                    </p:spPr>
                  </p:pic>
                </p:oleObj>
              </mc:Fallback>
            </mc:AlternateContent>
          </a:graphicData>
        </a:graphic>
      </p:graphicFrame>
      <p:sp>
        <p:nvSpPr>
          <p:cNvPr id="9" name="TextBox 8">
            <a:extLst>
              <a:ext uri="{FF2B5EF4-FFF2-40B4-BE49-F238E27FC236}">
                <a16:creationId xmlns:a16="http://schemas.microsoft.com/office/drawing/2014/main" id="{08A57D03-4F5F-42EF-B113-186B59C750A7}"/>
              </a:ext>
            </a:extLst>
          </p:cNvPr>
          <p:cNvSpPr txBox="1"/>
          <p:nvPr/>
        </p:nvSpPr>
        <p:spPr>
          <a:xfrm>
            <a:off x="307534" y="1167698"/>
            <a:ext cx="1811818" cy="461665"/>
          </a:xfrm>
          <a:prstGeom prst="rect">
            <a:avLst/>
          </a:prstGeom>
          <a:noFill/>
        </p:spPr>
        <p:txBody>
          <a:bodyPr wrap="square">
            <a:spAutoFit/>
          </a:bodyPr>
          <a:lstStyle/>
          <a:p>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变骨架式</a:t>
            </a:r>
            <a:endParaRPr lang="en-001" sz="2400">
              <a:solidFill>
                <a:srgbClr val="C00000"/>
              </a:solidFill>
              <a:latin typeface="宋体" panose="02010600030101010101" pitchFamily="2" charset="-122"/>
            </a:endParaRPr>
          </a:p>
        </p:txBody>
      </p:sp>
      <p:pic>
        <p:nvPicPr>
          <p:cNvPr id="2" name="Picture 1">
            <a:extLst>
              <a:ext uri="{FF2B5EF4-FFF2-40B4-BE49-F238E27FC236}">
                <a16:creationId xmlns:a16="http://schemas.microsoft.com/office/drawing/2014/main" id="{7077D7CA-F9BD-45CF-98A1-A93BFAAA9F89}"/>
              </a:ext>
            </a:extLst>
          </p:cNvPr>
          <p:cNvPicPr>
            <a:picLocks noChangeAspect="1"/>
          </p:cNvPicPr>
          <p:nvPr/>
        </p:nvPicPr>
        <p:blipFill>
          <a:blip r:embed="rId5"/>
          <a:stretch>
            <a:fillRect/>
          </a:stretch>
        </p:blipFill>
        <p:spPr>
          <a:xfrm>
            <a:off x="1672464" y="3004670"/>
            <a:ext cx="6309775" cy="2389186"/>
          </a:xfrm>
          <a:prstGeom prst="rect">
            <a:avLst/>
          </a:prstGeom>
        </p:spPr>
      </p:pic>
      <p:sp>
        <p:nvSpPr>
          <p:cNvPr id="10" name="Text Box 29">
            <a:extLst>
              <a:ext uri="{FF2B5EF4-FFF2-40B4-BE49-F238E27FC236}">
                <a16:creationId xmlns:a16="http://schemas.microsoft.com/office/drawing/2014/main" id="{DA19FD01-F559-4935-85AC-44F64BBEC365}"/>
              </a:ext>
            </a:extLst>
          </p:cNvPr>
          <p:cNvSpPr txBox="1">
            <a:spLocks noChangeArrowheads="1"/>
          </p:cNvSpPr>
          <p:nvPr/>
        </p:nvSpPr>
        <p:spPr bwMode="auto">
          <a:xfrm>
            <a:off x="3207397" y="5738923"/>
            <a:ext cx="35816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fontAlgn="base">
              <a:spcBef>
                <a:spcPct val="20000"/>
              </a:spcBef>
              <a:spcAft>
                <a:spcPct val="0"/>
              </a:spcAft>
              <a:buClr>
                <a:schemeClr val="folHlink"/>
              </a:buClr>
              <a:buFont typeface="Wingdings" panose="05000000000000000000" pitchFamily="2" charset="2"/>
              <a:buChar char="§"/>
              <a:defRPr sz="3200" b="1"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20000"/>
              </a:spcBef>
              <a:spcAft>
                <a:spcPct val="0"/>
              </a:spcAft>
              <a:buClr>
                <a:schemeClr val="folHlink"/>
              </a:buClr>
              <a:buFont typeface="Wingdings" panose="05000000000000000000" pitchFamily="2" charset="2"/>
              <a:buChar char="§"/>
              <a:defRPr sz="3200" b="1"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20000"/>
              </a:spcBef>
              <a:spcAft>
                <a:spcPct val="0"/>
              </a:spcAft>
              <a:buClr>
                <a:schemeClr val="folHlink"/>
              </a:buClr>
              <a:buFont typeface="Wingdings" panose="05000000000000000000" pitchFamily="2" charset="2"/>
              <a:buChar char="§"/>
              <a:defRPr sz="3200" b="1"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20000"/>
              </a:spcBef>
              <a:spcAft>
                <a:spcPct val="0"/>
              </a:spcAft>
              <a:buClr>
                <a:schemeClr val="folHlink"/>
              </a:buClr>
              <a:buFont typeface="Wingdings" panose="05000000000000000000" pitchFamily="2" charset="2"/>
              <a:buChar char="§"/>
              <a:defRPr sz="3200" b="1"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20000"/>
              </a:spcBef>
              <a:spcAft>
                <a:spcPct val="0"/>
              </a:spcAft>
              <a:buClr>
                <a:schemeClr val="folHlink"/>
              </a:buClr>
              <a:buFont typeface="Wingdings" panose="05000000000000000000" pitchFamily="2" charset="2"/>
              <a:buChar char="§"/>
              <a:defRPr sz="3200" b="1"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2"/>
                </a:solidFill>
                <a:latin typeface="Arial" panose="020B0604020202020204" pitchFamily="34" charset="0"/>
                <a:ea typeface="宋体" panose="02010600030101010101" pitchFamily="2" charset="-122"/>
                <a:cs typeface="+mn-cs"/>
              </a:defRPr>
            </a:lvl9pPr>
          </a:lstStyle>
          <a:p>
            <a:pPr>
              <a:buNone/>
            </a:pPr>
            <a:r>
              <a:rPr lang="zh-CN" altLang="en-US" sz="2400" dirty="0">
                <a:latin typeface="宋体" panose="02010600030101010101" pitchFamily="2" charset="-122"/>
              </a:rPr>
              <a:t>图</a:t>
            </a:r>
            <a:r>
              <a:rPr lang="en-US" altLang="zh-CN" sz="2400" dirty="0">
                <a:latin typeface="宋体" panose="02010600030101010101" pitchFamily="2" charset="-122"/>
              </a:rPr>
              <a:t>2-6</a:t>
            </a:r>
            <a:r>
              <a:rPr lang="zh-CN" altLang="en-US" sz="2400" dirty="0">
                <a:latin typeface="宋体" panose="02010600030101010101" pitchFamily="2" charset="-122"/>
              </a:rPr>
              <a:t>　变骨架式电位器</a:t>
            </a:r>
          </a:p>
        </p:txBody>
      </p:sp>
      <p:graphicFrame>
        <p:nvGraphicFramePr>
          <p:cNvPr id="4" name="Object 3">
            <a:extLst>
              <a:ext uri="{FF2B5EF4-FFF2-40B4-BE49-F238E27FC236}">
                <a16:creationId xmlns:a16="http://schemas.microsoft.com/office/drawing/2014/main" id="{C94B4D4F-F698-4B1C-99DC-7B7612502AD3}"/>
              </a:ext>
            </a:extLst>
          </p:cNvPr>
          <p:cNvGraphicFramePr>
            <a:graphicFrameLocks noChangeAspect="1"/>
          </p:cNvGraphicFramePr>
          <p:nvPr>
            <p:extLst>
              <p:ext uri="{D42A27DB-BD31-4B8C-83A1-F6EECF244321}">
                <p14:modId xmlns:p14="http://schemas.microsoft.com/office/powerpoint/2010/main" val="3293869924"/>
              </p:ext>
            </p:extLst>
          </p:nvPr>
        </p:nvGraphicFramePr>
        <p:xfrm>
          <a:off x="5200302" y="1704990"/>
          <a:ext cx="2781937" cy="1224052"/>
        </p:xfrm>
        <a:graphic>
          <a:graphicData uri="http://schemas.openxmlformats.org/presentationml/2006/ole">
            <mc:AlternateContent xmlns:mc="http://schemas.openxmlformats.org/markup-compatibility/2006">
              <mc:Choice xmlns:v="urn:schemas-microsoft-com:vml" Requires="v">
                <p:oleObj name="Equation" r:id="rId6" imgW="952200" imgH="419040" progId="Equation.DSMT4">
                  <p:embed/>
                </p:oleObj>
              </mc:Choice>
              <mc:Fallback>
                <p:oleObj name="Equation" r:id="rId6" imgW="952200" imgH="419040" progId="Equation.DSMT4">
                  <p:embed/>
                  <p:pic>
                    <p:nvPicPr>
                      <p:cNvPr id="0" name=""/>
                      <p:cNvPicPr/>
                      <p:nvPr/>
                    </p:nvPicPr>
                    <p:blipFill>
                      <a:blip r:embed="rId7"/>
                      <a:stretch>
                        <a:fillRect/>
                      </a:stretch>
                    </p:blipFill>
                    <p:spPr>
                      <a:xfrm>
                        <a:off x="5200302" y="1704990"/>
                        <a:ext cx="2781937" cy="1224052"/>
                      </a:xfrm>
                      <a:prstGeom prst="rect">
                        <a:avLst/>
                      </a:prstGeom>
                    </p:spPr>
                  </p:pic>
                </p:oleObj>
              </mc:Fallback>
            </mc:AlternateContent>
          </a:graphicData>
        </a:graphic>
      </p:graphicFrame>
      <p:sp>
        <p:nvSpPr>
          <p:cNvPr id="5" name="Arrow: Right 4">
            <a:extLst>
              <a:ext uri="{FF2B5EF4-FFF2-40B4-BE49-F238E27FC236}">
                <a16:creationId xmlns:a16="http://schemas.microsoft.com/office/drawing/2014/main" id="{CCCFAC86-8954-4CFC-953A-69C92CE06CFE}"/>
              </a:ext>
            </a:extLst>
          </p:cNvPr>
          <p:cNvSpPr/>
          <p:nvPr/>
        </p:nvSpPr>
        <p:spPr>
          <a:xfrm>
            <a:off x="4319992" y="2122164"/>
            <a:ext cx="710391" cy="36430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9A5B5E2C-A437-47B6-9904-B8FB73DC5977}"/>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extLst>
      <p:ext uri="{BB962C8B-B14F-4D97-AF65-F5344CB8AC3E}">
        <p14:creationId xmlns:p14="http://schemas.microsoft.com/office/powerpoint/2010/main" val="32600767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
            <a:extLst>
              <a:ext uri="{FF2B5EF4-FFF2-40B4-BE49-F238E27FC236}">
                <a16:creationId xmlns:a16="http://schemas.microsoft.com/office/drawing/2014/main" id="{EE1F6D2B-EFE1-4466-B6CA-0FBB53F3A249}"/>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负载特性与负载误差</a:t>
            </a:r>
          </a:p>
        </p:txBody>
      </p:sp>
      <p:sp>
        <p:nvSpPr>
          <p:cNvPr id="6" name="Rectangle 2">
            <a:extLst>
              <a:ext uri="{FF2B5EF4-FFF2-40B4-BE49-F238E27FC236}">
                <a16:creationId xmlns:a16="http://schemas.microsoft.com/office/drawing/2014/main" id="{6F87207E-4FB7-45EA-9118-3C758B36F1E6}"/>
              </a:ext>
            </a:extLst>
          </p:cNvPr>
          <p:cNvSpPr>
            <a:spLocks noChangeArrowheads="1"/>
          </p:cNvSpPr>
          <p:nvPr/>
        </p:nvSpPr>
        <p:spPr bwMode="auto">
          <a:xfrm>
            <a:off x="4419693" y="32893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7" name="Text Box 9">
            <a:extLst>
              <a:ext uri="{FF2B5EF4-FFF2-40B4-BE49-F238E27FC236}">
                <a16:creationId xmlns:a16="http://schemas.microsoft.com/office/drawing/2014/main" id="{BA3D85F1-34EC-4E98-BDCB-BA82362ECBEB}"/>
              </a:ext>
            </a:extLst>
          </p:cNvPr>
          <p:cNvSpPr txBox="1">
            <a:spLocks noChangeArrowheads="1"/>
          </p:cNvSpPr>
          <p:nvPr/>
        </p:nvSpPr>
        <p:spPr bwMode="auto">
          <a:xfrm>
            <a:off x="393001" y="5366172"/>
            <a:ext cx="4536504"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2-7  </a:t>
            </a:r>
            <a:r>
              <a:rPr lang="zh-CN" altLang="en-US" b="1" dirty="0">
                <a:solidFill>
                  <a:srgbClr val="000099"/>
                </a:solidFill>
              </a:rPr>
              <a:t>带负载</a:t>
            </a:r>
            <a:r>
              <a:rPr lang="en-US" altLang="zh-CN" b="1" i="1" dirty="0">
                <a:solidFill>
                  <a:srgbClr val="000099"/>
                </a:solidFill>
              </a:rPr>
              <a:t>R</a:t>
            </a:r>
            <a:r>
              <a:rPr lang="en-US" altLang="zh-CN" b="1" i="1" baseline="-25000" dirty="0">
                <a:solidFill>
                  <a:srgbClr val="000099"/>
                </a:solidFill>
              </a:rPr>
              <a:t>L</a:t>
            </a:r>
            <a:r>
              <a:rPr lang="zh-CN" altLang="en-US" b="1" dirty="0">
                <a:solidFill>
                  <a:srgbClr val="000099"/>
                </a:solidFill>
              </a:rPr>
              <a:t>的电位器电路</a:t>
            </a:r>
          </a:p>
        </p:txBody>
      </p:sp>
      <p:pic>
        <p:nvPicPr>
          <p:cNvPr id="8" name="图片 1">
            <a:extLst>
              <a:ext uri="{FF2B5EF4-FFF2-40B4-BE49-F238E27FC236}">
                <a16:creationId xmlns:a16="http://schemas.microsoft.com/office/drawing/2014/main" id="{06BC82C1-96CF-4059-A125-269BD5C1C195}"/>
              </a:ext>
            </a:extLst>
          </p:cNvPr>
          <p:cNvPicPr>
            <a:picLocks noChangeAspect="1"/>
          </p:cNvPicPr>
          <p:nvPr/>
        </p:nvPicPr>
        <p:blipFill>
          <a:blip r:embed="rId3"/>
          <a:stretch>
            <a:fillRect/>
          </a:stretch>
        </p:blipFill>
        <p:spPr>
          <a:xfrm>
            <a:off x="241974" y="1313668"/>
            <a:ext cx="4087139" cy="3851671"/>
          </a:xfrm>
          <a:prstGeom prst="rect">
            <a:avLst/>
          </a:prstGeom>
        </p:spPr>
      </p:pic>
      <p:sp>
        <p:nvSpPr>
          <p:cNvPr id="9" name="Rectangle 2">
            <a:extLst>
              <a:ext uri="{FF2B5EF4-FFF2-40B4-BE49-F238E27FC236}">
                <a16:creationId xmlns:a16="http://schemas.microsoft.com/office/drawing/2014/main" id="{0EA2F292-165D-4747-8FA9-9869DFA4B119}"/>
              </a:ext>
            </a:extLst>
          </p:cNvPr>
          <p:cNvSpPr>
            <a:spLocks noChangeArrowheads="1"/>
          </p:cNvSpPr>
          <p:nvPr/>
        </p:nvSpPr>
        <p:spPr bwMode="auto">
          <a:xfrm>
            <a:off x="4675393" y="3188692"/>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sz="4400">
              <a:solidFill>
                <a:schemeClr val="tx2"/>
              </a:solidFill>
              <a:latin typeface="宋体" panose="02010600030101010101" pitchFamily="2" charset="-122"/>
              <a:ea typeface="宋体" panose="02010600030101010101" pitchFamily="2" charset="-122"/>
            </a:endParaRPr>
          </a:p>
        </p:txBody>
      </p:sp>
      <p:sp>
        <p:nvSpPr>
          <p:cNvPr id="10" name="Text Box 20">
            <a:extLst>
              <a:ext uri="{FF2B5EF4-FFF2-40B4-BE49-F238E27FC236}">
                <a16:creationId xmlns:a16="http://schemas.microsoft.com/office/drawing/2014/main" id="{6F25E48A-41DE-4641-8E04-7B1215E04D62}"/>
              </a:ext>
            </a:extLst>
          </p:cNvPr>
          <p:cNvSpPr txBox="1">
            <a:spLocks noChangeArrowheads="1"/>
          </p:cNvSpPr>
          <p:nvPr/>
        </p:nvSpPr>
        <p:spPr bwMode="auto">
          <a:xfrm>
            <a:off x="4675393" y="2506578"/>
            <a:ext cx="4329112"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400" b="1" dirty="0">
                <a:latin typeface="Times New Roman" pitchFamily="18" charset="0"/>
                <a:ea typeface="宋体" panose="02010600030101010101" pitchFamily="2" charset="-122"/>
                <a:cs typeface="Times New Roman" pitchFamily="18" charset="0"/>
              </a:rPr>
              <a:t>电阻相对变化率</a:t>
            </a:r>
            <a:r>
              <a:rPr lang="zh-CN" altLang="en-US" sz="2400" dirty="0">
                <a:latin typeface="Times New Roman" pitchFamily="18" charset="0"/>
                <a:ea typeface="宋体" panose="02010600030101010101" pitchFamily="2" charset="-122"/>
                <a:cs typeface="Times New Roman" pitchFamily="18" charset="0"/>
              </a:rPr>
              <a:t>   </a:t>
            </a:r>
            <a:r>
              <a:rPr lang="en-US" altLang="zh-CN" sz="2400" i="1" dirty="0">
                <a:latin typeface="Times New Roman" pitchFamily="18" charset="0"/>
                <a:ea typeface="宋体" panose="02010600030101010101" pitchFamily="2" charset="-122"/>
                <a:cs typeface="Times New Roman" pitchFamily="18" charset="0"/>
              </a:rPr>
              <a:t>r</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x</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baseline="-25000" dirty="0" err="1">
                <a:latin typeface="Times New Roman" pitchFamily="18" charset="0"/>
                <a:ea typeface="宋体" panose="02010600030101010101" pitchFamily="2" charset="-122"/>
                <a:cs typeface="Times New Roman" pitchFamily="18" charset="0"/>
              </a:rPr>
              <a:t>max</a:t>
            </a:r>
            <a:endParaRPr lang="en-US" altLang="zh-CN" sz="2400" dirty="0">
              <a:latin typeface="Times New Roman" pitchFamily="18" charset="0"/>
              <a:ea typeface="宋体" panose="02010600030101010101" pitchFamily="2" charset="-122"/>
              <a:cs typeface="Times New Roman" pitchFamily="18" charset="0"/>
            </a:endParaRPr>
          </a:p>
          <a:p>
            <a:pPr>
              <a:lnSpc>
                <a:spcPct val="120000"/>
              </a:lnSpc>
              <a:spcBef>
                <a:spcPct val="50000"/>
              </a:spcBef>
            </a:pPr>
            <a:r>
              <a:rPr lang="zh-CN" altLang="en-US" sz="2400" b="1" dirty="0">
                <a:latin typeface="Times New Roman" pitchFamily="18" charset="0"/>
                <a:ea typeface="宋体" panose="02010600030101010101" pitchFamily="2" charset="-122"/>
                <a:cs typeface="Times New Roman" pitchFamily="18" charset="0"/>
              </a:rPr>
              <a:t>负载系数</a:t>
            </a:r>
            <a:r>
              <a:rPr lang="zh-CN" altLang="en-US" sz="2400" dirty="0">
                <a:latin typeface="Times New Roman" pitchFamily="18" charset="0"/>
                <a:ea typeface="宋体" panose="02010600030101010101" pitchFamily="2" charset="-122"/>
                <a:cs typeface="Times New Roman" pitchFamily="18" charset="0"/>
              </a:rPr>
              <a:t>              </a:t>
            </a:r>
            <a:r>
              <a:rPr lang="en-US" altLang="zh-CN" sz="2400" i="1" dirty="0">
                <a:latin typeface="Times New Roman" pitchFamily="18" charset="0"/>
                <a:ea typeface="宋体" panose="02010600030101010101" pitchFamily="2" charset="-122"/>
                <a:cs typeface="Times New Roman" pitchFamily="18" charset="0"/>
              </a:rPr>
              <a:t>m</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baseline="-25000" dirty="0" err="1">
                <a:latin typeface="Times New Roman" pitchFamily="18" charset="0"/>
                <a:ea typeface="宋体" panose="02010600030101010101" pitchFamily="2" charset="-122"/>
                <a:cs typeface="Times New Roman" pitchFamily="18" charset="0"/>
              </a:rPr>
              <a:t>max</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L</a:t>
            </a:r>
            <a:endParaRPr lang="en-US" altLang="zh-CN" sz="2400" i="1" dirty="0">
              <a:latin typeface="Times New Roman" pitchFamily="18" charset="0"/>
              <a:ea typeface="宋体" panose="02010600030101010101" pitchFamily="2" charset="-122"/>
              <a:cs typeface="Times New Roman" pitchFamily="18" charset="0"/>
            </a:endParaRPr>
          </a:p>
        </p:txBody>
      </p:sp>
      <p:graphicFrame>
        <p:nvGraphicFramePr>
          <p:cNvPr id="11" name="Object 21">
            <a:extLst>
              <a:ext uri="{FF2B5EF4-FFF2-40B4-BE49-F238E27FC236}">
                <a16:creationId xmlns:a16="http://schemas.microsoft.com/office/drawing/2014/main" id="{A6A7DC11-EF17-4F76-9D10-E9A3D59EC460}"/>
              </a:ext>
            </a:extLst>
          </p:cNvPr>
          <p:cNvGraphicFramePr>
            <a:graphicFrameLocks noChangeAspect="1"/>
          </p:cNvGraphicFramePr>
          <p:nvPr>
            <p:extLst>
              <p:ext uri="{D42A27DB-BD31-4B8C-83A1-F6EECF244321}">
                <p14:modId xmlns:p14="http://schemas.microsoft.com/office/powerpoint/2010/main" val="62512847"/>
              </p:ext>
            </p:extLst>
          </p:nvPr>
        </p:nvGraphicFramePr>
        <p:xfrm>
          <a:off x="5392149" y="3669973"/>
          <a:ext cx="2895600" cy="874712"/>
        </p:xfrm>
        <a:graphic>
          <a:graphicData uri="http://schemas.openxmlformats.org/presentationml/2006/ole">
            <mc:AlternateContent xmlns:mc="http://schemas.openxmlformats.org/markup-compatibility/2006">
              <mc:Choice xmlns:v="urn:schemas-microsoft-com:vml" Requires="v">
                <p:oleObj r:id="rId4" imgW="1422400" imgH="431800" progId="Equation.3">
                  <p:embed/>
                </p:oleObj>
              </mc:Choice>
              <mc:Fallback>
                <p:oleObj r:id="rId4" imgW="1422400" imgH="431800" progId="Equation.3">
                  <p:embed/>
                  <p:pic>
                    <p:nvPicPr>
                      <p:cNvPr id="8"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2149" y="3669973"/>
                        <a:ext cx="2895600"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24">
            <a:extLst>
              <a:ext uri="{FF2B5EF4-FFF2-40B4-BE49-F238E27FC236}">
                <a16:creationId xmlns:a16="http://schemas.microsoft.com/office/drawing/2014/main" id="{3998480B-A04B-4C32-ABA7-FC841010D15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52474" y="5287392"/>
            <a:ext cx="2362200" cy="841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Object 18">
            <a:extLst>
              <a:ext uri="{FF2B5EF4-FFF2-40B4-BE49-F238E27FC236}">
                <a16:creationId xmlns:a16="http://schemas.microsoft.com/office/drawing/2014/main" id="{8A9CF393-94C5-4B39-A70F-5B767F1FB6AD}"/>
              </a:ext>
            </a:extLst>
          </p:cNvPr>
          <p:cNvGraphicFramePr>
            <a:graphicFrameLocks noChangeAspect="1"/>
          </p:cNvGraphicFramePr>
          <p:nvPr>
            <p:extLst>
              <p:ext uri="{D42A27DB-BD31-4B8C-83A1-F6EECF244321}">
                <p14:modId xmlns:p14="http://schemas.microsoft.com/office/powerpoint/2010/main" val="776075439"/>
              </p:ext>
            </p:extLst>
          </p:nvPr>
        </p:nvGraphicFramePr>
        <p:xfrm>
          <a:off x="2327275" y="1375833"/>
          <a:ext cx="6732587" cy="1263650"/>
        </p:xfrm>
        <a:graphic>
          <a:graphicData uri="http://schemas.openxmlformats.org/presentationml/2006/ole">
            <mc:AlternateContent xmlns:mc="http://schemas.openxmlformats.org/markup-compatibility/2006">
              <mc:Choice xmlns:v="urn:schemas-microsoft-com:vml" Requires="v">
                <p:oleObj name="Equation" r:id="rId7" imgW="3733560" imgH="698400" progId="Equation.DSMT4">
                  <p:embed/>
                </p:oleObj>
              </mc:Choice>
              <mc:Fallback>
                <p:oleObj name="Equation" r:id="rId7" imgW="3733560" imgH="698400" progId="Equation.DSMT4">
                  <p:embed/>
                  <p:pic>
                    <p:nvPicPr>
                      <p:cNvPr id="11" name="Object 18"/>
                      <p:cNvPicPr>
                        <a:picLocks noChangeAspect="1" noChangeArrowheads="1"/>
                      </p:cNvPicPr>
                      <p:nvPr/>
                    </p:nvPicPr>
                    <p:blipFill>
                      <a:blip r:embed="rId8"/>
                      <a:srcRect/>
                      <a:stretch>
                        <a:fillRect/>
                      </a:stretch>
                    </p:blipFill>
                    <p:spPr bwMode="auto">
                      <a:xfrm>
                        <a:off x="2327275" y="1375833"/>
                        <a:ext cx="6732587"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23">
            <a:extLst>
              <a:ext uri="{FF2B5EF4-FFF2-40B4-BE49-F238E27FC236}">
                <a16:creationId xmlns:a16="http://schemas.microsoft.com/office/drawing/2014/main" id="{FE4AEAA0-1C20-49DC-BC19-3E175B9B6F57}"/>
              </a:ext>
            </a:extLst>
          </p:cNvPr>
          <p:cNvSpPr txBox="1">
            <a:spLocks noChangeArrowheads="1"/>
          </p:cNvSpPr>
          <p:nvPr/>
        </p:nvSpPr>
        <p:spPr bwMode="auto">
          <a:xfrm>
            <a:off x="4716462" y="4725261"/>
            <a:ext cx="434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Times New Roman" pitchFamily="18" charset="0"/>
                <a:ea typeface="宋体" panose="02010600030101010101" pitchFamily="2" charset="-122"/>
                <a:cs typeface="Times New Roman" pitchFamily="18" charset="0"/>
              </a:rPr>
              <a:t>理想空载</a:t>
            </a:r>
            <a:r>
              <a:rPr lang="zh-CN" altLang="en-US"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m</a:t>
            </a:r>
            <a:r>
              <a:rPr lang="en-US" altLang="zh-CN" sz="2400" dirty="0">
                <a:latin typeface="Times New Roman" pitchFamily="18" charset="0"/>
                <a:ea typeface="宋体" panose="02010600030101010101" pitchFamily="2" charset="-122"/>
                <a:cs typeface="Times New Roman" pitchFamily="18" charset="0"/>
              </a:rPr>
              <a:t>=0</a:t>
            </a:r>
            <a:r>
              <a:rPr lang="zh-CN" altLang="en-US" sz="2400" dirty="0">
                <a:latin typeface="Times New Roman" pitchFamily="18" charset="0"/>
                <a:ea typeface="宋体" panose="02010600030101010101" pitchFamily="2" charset="-122"/>
                <a:cs typeface="Times New Roman" pitchFamily="18" charset="0"/>
              </a:rPr>
              <a:t>，</a:t>
            </a:r>
            <a:r>
              <a:rPr lang="zh-CN" altLang="en-US" sz="2400" b="1" dirty="0">
                <a:latin typeface="Times New Roman" pitchFamily="18" charset="0"/>
                <a:ea typeface="宋体" panose="02010600030101010101" pitchFamily="2" charset="-122"/>
                <a:cs typeface="Times New Roman" pitchFamily="18" charset="0"/>
              </a:rPr>
              <a:t>即</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L</a:t>
            </a:r>
            <a:r>
              <a:rPr lang="en-US" altLang="zh-CN" sz="2400" dirty="0">
                <a:latin typeface="Times New Roman" pitchFamily="18" charset="0"/>
                <a:ea typeface="宋体" panose="02010600030101010101" pitchFamily="2" charset="-122"/>
                <a:cs typeface="Times New Roman" pitchFamily="18" charset="0"/>
              </a:rPr>
              <a:t>→∝</a:t>
            </a:r>
          </a:p>
        </p:txBody>
      </p:sp>
      <p:sp>
        <p:nvSpPr>
          <p:cNvPr id="2" name="Slide Number Placeholder 1">
            <a:extLst>
              <a:ext uri="{FF2B5EF4-FFF2-40B4-BE49-F238E27FC236}">
                <a16:creationId xmlns:a16="http://schemas.microsoft.com/office/drawing/2014/main" id="{213D4E72-9FE2-433F-B582-1DAD71B1AE4D}"/>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4">
            <a:extLst>
              <a:ext uri="{FF2B5EF4-FFF2-40B4-BE49-F238E27FC236}">
                <a16:creationId xmlns:a16="http://schemas.microsoft.com/office/drawing/2014/main" id="{1E9DD520-A8D5-4FA4-AC4D-A853151B41B2}"/>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负载特性与负载误差</a:t>
            </a:r>
          </a:p>
        </p:txBody>
      </p:sp>
      <p:sp>
        <p:nvSpPr>
          <p:cNvPr id="5" name="Rectangle 2">
            <a:extLst>
              <a:ext uri="{FF2B5EF4-FFF2-40B4-BE49-F238E27FC236}">
                <a16:creationId xmlns:a16="http://schemas.microsoft.com/office/drawing/2014/main" id="{79AB5CF0-775F-4358-9FB1-465813BD5B25}"/>
              </a:ext>
            </a:extLst>
          </p:cNvPr>
          <p:cNvSpPr>
            <a:spLocks noChangeArrowheads="1"/>
          </p:cNvSpPr>
          <p:nvPr/>
        </p:nvSpPr>
        <p:spPr bwMode="auto">
          <a:xfrm>
            <a:off x="4336490" y="356795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CDB6B6AF-2C99-454B-8D29-E69DF8116E94}"/>
              </a:ext>
            </a:extLst>
          </p:cNvPr>
          <p:cNvSpPr txBox="1">
            <a:spLocks noChangeArrowheads="1"/>
          </p:cNvSpPr>
          <p:nvPr/>
        </p:nvSpPr>
        <p:spPr bwMode="auto">
          <a:xfrm>
            <a:off x="1392918" y="5806313"/>
            <a:ext cx="52578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2-8   </a:t>
            </a:r>
            <a:r>
              <a:rPr lang="zh-CN" altLang="en-US" b="1" dirty="0">
                <a:solidFill>
                  <a:srgbClr val="000099"/>
                </a:solidFill>
              </a:rPr>
              <a:t>电位器的负载特性曲线簇</a:t>
            </a:r>
          </a:p>
        </p:txBody>
      </p:sp>
      <p:graphicFrame>
        <p:nvGraphicFramePr>
          <p:cNvPr id="7" name="Object 18">
            <a:extLst>
              <a:ext uri="{FF2B5EF4-FFF2-40B4-BE49-F238E27FC236}">
                <a16:creationId xmlns:a16="http://schemas.microsoft.com/office/drawing/2014/main" id="{13FD5D75-B37B-470D-8708-92319EF71B85}"/>
              </a:ext>
            </a:extLst>
          </p:cNvPr>
          <p:cNvGraphicFramePr>
            <a:graphicFrameLocks noChangeAspect="1"/>
          </p:cNvGraphicFramePr>
          <p:nvPr>
            <p:extLst>
              <p:ext uri="{D42A27DB-BD31-4B8C-83A1-F6EECF244321}">
                <p14:modId xmlns:p14="http://schemas.microsoft.com/office/powerpoint/2010/main" val="2338230765"/>
              </p:ext>
            </p:extLst>
          </p:nvPr>
        </p:nvGraphicFramePr>
        <p:xfrm>
          <a:off x="1643025" y="2266454"/>
          <a:ext cx="4018894" cy="3488247"/>
        </p:xfrm>
        <a:graphic>
          <a:graphicData uri="http://schemas.openxmlformats.org/presentationml/2006/ole">
            <mc:AlternateContent xmlns:mc="http://schemas.openxmlformats.org/markup-compatibility/2006">
              <mc:Choice xmlns:v="urn:schemas-microsoft-com:vml" Requires="v">
                <p:oleObj name="Image" r:id="rId3" imgW="13890612" imgH="12058776" progId="Photoshop.Image.7">
                  <p:embed/>
                </p:oleObj>
              </mc:Choice>
              <mc:Fallback>
                <p:oleObj name="Image" r:id="rId3" imgW="13890612" imgH="12058776" progId="Photoshop.Image.7">
                  <p:embed/>
                  <p:pic>
                    <p:nvPicPr>
                      <p:cNvPr id="2066"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25" y="2266454"/>
                        <a:ext cx="4018894" cy="3488247"/>
                      </a:xfrm>
                      <a:prstGeom prst="rect">
                        <a:avLst/>
                      </a:prstGeom>
                      <a:noFill/>
                      <a:ln>
                        <a:noFill/>
                      </a:ln>
                      <a:effectLst/>
                    </p:spPr>
                  </p:pic>
                </p:oleObj>
              </mc:Fallback>
            </mc:AlternateContent>
          </a:graphicData>
        </a:graphic>
      </p:graphicFrame>
      <p:sp>
        <p:nvSpPr>
          <p:cNvPr id="8" name="Text Box 19">
            <a:extLst>
              <a:ext uri="{FF2B5EF4-FFF2-40B4-BE49-F238E27FC236}">
                <a16:creationId xmlns:a16="http://schemas.microsoft.com/office/drawing/2014/main" id="{C91CA0BA-0E6C-49D7-BBD3-FD9FEF55F8E0}"/>
              </a:ext>
            </a:extLst>
          </p:cNvPr>
          <p:cNvSpPr txBox="1">
            <a:spLocks noChangeArrowheads="1"/>
          </p:cNvSpPr>
          <p:nvPr/>
        </p:nvSpPr>
        <p:spPr bwMode="auto">
          <a:xfrm>
            <a:off x="5443509" y="2691001"/>
            <a:ext cx="289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宋体" panose="02010600030101010101" pitchFamily="2" charset="-122"/>
                <a:ea typeface="宋体" panose="02010600030101010101" pitchFamily="2" charset="-122"/>
              </a:rPr>
              <a:t>线性电位器</a:t>
            </a:r>
          </a:p>
        </p:txBody>
      </p:sp>
      <p:graphicFrame>
        <p:nvGraphicFramePr>
          <p:cNvPr id="9" name="Object 20">
            <a:extLst>
              <a:ext uri="{FF2B5EF4-FFF2-40B4-BE49-F238E27FC236}">
                <a16:creationId xmlns:a16="http://schemas.microsoft.com/office/drawing/2014/main" id="{8AC95209-1CA7-4DFB-A6F6-DE24CAFB5793}"/>
              </a:ext>
            </a:extLst>
          </p:cNvPr>
          <p:cNvGraphicFramePr>
            <a:graphicFrameLocks noChangeAspect="1"/>
          </p:cNvGraphicFramePr>
          <p:nvPr>
            <p:extLst>
              <p:ext uri="{D42A27DB-BD31-4B8C-83A1-F6EECF244321}">
                <p14:modId xmlns:p14="http://schemas.microsoft.com/office/powerpoint/2010/main" val="1147784962"/>
              </p:ext>
            </p:extLst>
          </p:nvPr>
        </p:nvGraphicFramePr>
        <p:xfrm>
          <a:off x="5443509" y="3231260"/>
          <a:ext cx="3429000" cy="1158875"/>
        </p:xfrm>
        <a:graphic>
          <a:graphicData uri="http://schemas.openxmlformats.org/presentationml/2006/ole">
            <mc:AlternateContent xmlns:mc="http://schemas.openxmlformats.org/markup-compatibility/2006">
              <mc:Choice xmlns:v="urn:schemas-microsoft-com:vml" Requires="v">
                <p:oleObj r:id="rId5" imgW="1320227" imgH="444307" progId="Equation.3">
                  <p:embed/>
                </p:oleObj>
              </mc:Choice>
              <mc:Fallback>
                <p:oleObj r:id="rId5" imgW="1320227" imgH="444307" progId="Equation.3">
                  <p:embed/>
                  <p:pic>
                    <p:nvPicPr>
                      <p:cNvPr id="7"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3509" y="3231260"/>
                        <a:ext cx="3429000" cy="1158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2">
            <a:extLst>
              <a:ext uri="{FF2B5EF4-FFF2-40B4-BE49-F238E27FC236}">
                <a16:creationId xmlns:a16="http://schemas.microsoft.com/office/drawing/2014/main" id="{E6955CB7-206D-455B-90A2-CB51404ECEBE}"/>
              </a:ext>
            </a:extLst>
          </p:cNvPr>
          <p:cNvGraphicFramePr>
            <a:graphicFrameLocks noChangeAspect="1"/>
          </p:cNvGraphicFramePr>
          <p:nvPr>
            <p:extLst>
              <p:ext uri="{D42A27DB-BD31-4B8C-83A1-F6EECF244321}">
                <p14:modId xmlns:p14="http://schemas.microsoft.com/office/powerpoint/2010/main" val="2710602392"/>
              </p:ext>
            </p:extLst>
          </p:nvPr>
        </p:nvGraphicFramePr>
        <p:xfrm>
          <a:off x="5491529" y="4468730"/>
          <a:ext cx="3429000" cy="965200"/>
        </p:xfrm>
        <a:graphic>
          <a:graphicData uri="http://schemas.openxmlformats.org/presentationml/2006/ole">
            <mc:AlternateContent xmlns:mc="http://schemas.openxmlformats.org/markup-compatibility/2006">
              <mc:Choice xmlns:v="urn:schemas-microsoft-com:vml" Requires="v">
                <p:oleObj r:id="rId7" imgW="1536700" imgH="431800" progId="Equation.3">
                  <p:embed/>
                </p:oleObj>
              </mc:Choice>
              <mc:Fallback>
                <p:oleObj r:id="rId7" imgW="1536700" imgH="431800" progId="Equation.3">
                  <p:embed/>
                  <p:pic>
                    <p:nvPicPr>
                      <p:cNvPr id="8"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91529" y="4468730"/>
                        <a:ext cx="3429000" cy="96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
            <a:extLst>
              <a:ext uri="{FF2B5EF4-FFF2-40B4-BE49-F238E27FC236}">
                <a16:creationId xmlns:a16="http://schemas.microsoft.com/office/drawing/2014/main" id="{AE1B1586-DC3D-44FD-B43E-695CFED6A928}"/>
              </a:ext>
            </a:extLst>
          </p:cNvPr>
          <p:cNvPicPr>
            <a:picLocks noChangeAspect="1"/>
          </p:cNvPicPr>
          <p:nvPr/>
        </p:nvPicPr>
        <p:blipFill>
          <a:blip r:embed="rId9"/>
          <a:stretch>
            <a:fillRect/>
          </a:stretch>
        </p:blipFill>
        <p:spPr>
          <a:xfrm>
            <a:off x="122446" y="1152304"/>
            <a:ext cx="1515108" cy="1427820"/>
          </a:xfrm>
          <a:prstGeom prst="rect">
            <a:avLst/>
          </a:prstGeom>
        </p:spPr>
      </p:pic>
      <p:sp>
        <p:nvSpPr>
          <p:cNvPr id="12" name="Text Box 20">
            <a:extLst>
              <a:ext uri="{FF2B5EF4-FFF2-40B4-BE49-F238E27FC236}">
                <a16:creationId xmlns:a16="http://schemas.microsoft.com/office/drawing/2014/main" id="{30ED4DE1-BB1A-4038-9778-54EA489F7500}"/>
              </a:ext>
            </a:extLst>
          </p:cNvPr>
          <p:cNvSpPr txBox="1">
            <a:spLocks noChangeArrowheads="1"/>
          </p:cNvSpPr>
          <p:nvPr/>
        </p:nvSpPr>
        <p:spPr bwMode="auto">
          <a:xfrm>
            <a:off x="1995449" y="1171286"/>
            <a:ext cx="4329112"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400" b="1" dirty="0">
                <a:latin typeface="Times New Roman" pitchFamily="18" charset="0"/>
                <a:ea typeface="宋体" panose="02010600030101010101" pitchFamily="2" charset="-122"/>
                <a:cs typeface="Times New Roman" pitchFamily="18" charset="0"/>
              </a:rPr>
              <a:t>电阻相对变化率</a:t>
            </a:r>
            <a:r>
              <a:rPr lang="zh-CN" altLang="en-US" sz="2400" dirty="0">
                <a:latin typeface="Times New Roman" pitchFamily="18" charset="0"/>
                <a:ea typeface="宋体" panose="02010600030101010101" pitchFamily="2" charset="-122"/>
                <a:cs typeface="Times New Roman" pitchFamily="18" charset="0"/>
              </a:rPr>
              <a:t>   </a:t>
            </a:r>
            <a:r>
              <a:rPr lang="en-US" altLang="zh-CN" sz="2400" i="1" dirty="0">
                <a:latin typeface="Times New Roman" pitchFamily="18" charset="0"/>
                <a:ea typeface="宋体" panose="02010600030101010101" pitchFamily="2" charset="-122"/>
                <a:cs typeface="Times New Roman" pitchFamily="18" charset="0"/>
              </a:rPr>
              <a:t>r</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x</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baseline="-25000" dirty="0" err="1">
                <a:latin typeface="Times New Roman" pitchFamily="18" charset="0"/>
                <a:ea typeface="宋体" panose="02010600030101010101" pitchFamily="2" charset="-122"/>
                <a:cs typeface="Times New Roman" pitchFamily="18" charset="0"/>
              </a:rPr>
              <a:t>max</a:t>
            </a:r>
            <a:endParaRPr lang="en-US" altLang="zh-CN" sz="2400" dirty="0">
              <a:latin typeface="Times New Roman" pitchFamily="18" charset="0"/>
              <a:ea typeface="宋体" panose="02010600030101010101" pitchFamily="2" charset="-122"/>
              <a:cs typeface="Times New Roman" pitchFamily="18" charset="0"/>
            </a:endParaRPr>
          </a:p>
          <a:p>
            <a:pPr>
              <a:lnSpc>
                <a:spcPct val="120000"/>
              </a:lnSpc>
              <a:spcBef>
                <a:spcPct val="50000"/>
              </a:spcBef>
            </a:pPr>
            <a:r>
              <a:rPr lang="zh-CN" altLang="en-US" sz="2400" b="1" dirty="0">
                <a:latin typeface="Times New Roman" pitchFamily="18" charset="0"/>
                <a:ea typeface="宋体" panose="02010600030101010101" pitchFamily="2" charset="-122"/>
                <a:cs typeface="Times New Roman" pitchFamily="18" charset="0"/>
              </a:rPr>
              <a:t>负载系数</a:t>
            </a:r>
            <a:r>
              <a:rPr lang="zh-CN" altLang="en-US" sz="2400" dirty="0">
                <a:latin typeface="Times New Roman" pitchFamily="18" charset="0"/>
                <a:ea typeface="宋体" panose="02010600030101010101" pitchFamily="2" charset="-122"/>
                <a:cs typeface="Times New Roman" pitchFamily="18" charset="0"/>
              </a:rPr>
              <a:t>              </a:t>
            </a:r>
            <a:r>
              <a:rPr lang="en-US" altLang="zh-CN" sz="2400" i="1" dirty="0">
                <a:latin typeface="Times New Roman" pitchFamily="18" charset="0"/>
                <a:ea typeface="宋体" panose="02010600030101010101" pitchFamily="2" charset="-122"/>
                <a:cs typeface="Times New Roman" pitchFamily="18" charset="0"/>
              </a:rPr>
              <a:t>m</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baseline="-25000" dirty="0" err="1">
                <a:latin typeface="Times New Roman" pitchFamily="18" charset="0"/>
                <a:ea typeface="宋体" panose="02010600030101010101" pitchFamily="2" charset="-122"/>
                <a:cs typeface="Times New Roman" pitchFamily="18" charset="0"/>
              </a:rPr>
              <a:t>max</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L</a:t>
            </a:r>
            <a:endParaRPr lang="en-US" altLang="zh-CN" sz="2400" i="1" dirty="0">
              <a:latin typeface="Times New Roman" pitchFamily="18" charset="0"/>
              <a:ea typeface="宋体" panose="02010600030101010101" pitchFamily="2" charset="-122"/>
              <a:cs typeface="Times New Roman" pitchFamily="18" charset="0"/>
            </a:endParaRPr>
          </a:p>
        </p:txBody>
      </p:sp>
      <p:sp>
        <p:nvSpPr>
          <p:cNvPr id="2" name="Slide Number Placeholder 1">
            <a:extLst>
              <a:ext uri="{FF2B5EF4-FFF2-40B4-BE49-F238E27FC236}">
                <a16:creationId xmlns:a16="http://schemas.microsoft.com/office/drawing/2014/main" id="{19C86B11-98EC-4318-AB3B-4C604E6BFA0E}"/>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Tree>
    <p:extLst>
      <p:ext uri="{BB962C8B-B14F-4D97-AF65-F5344CB8AC3E}">
        <p14:creationId xmlns:p14="http://schemas.microsoft.com/office/powerpoint/2010/main" val="26207447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17BB4D89-D34D-4440-9774-FA241E83FA3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负载特性与负载误差</a:t>
            </a:r>
          </a:p>
        </p:txBody>
      </p:sp>
      <p:sp>
        <p:nvSpPr>
          <p:cNvPr id="6" name="Text Box 9">
            <a:extLst>
              <a:ext uri="{FF2B5EF4-FFF2-40B4-BE49-F238E27FC236}">
                <a16:creationId xmlns:a16="http://schemas.microsoft.com/office/drawing/2014/main" id="{99AED81A-40A3-40B4-B2A0-38DEEB085091}"/>
              </a:ext>
            </a:extLst>
          </p:cNvPr>
          <p:cNvSpPr txBox="1">
            <a:spLocks noChangeArrowheads="1"/>
          </p:cNvSpPr>
          <p:nvPr/>
        </p:nvSpPr>
        <p:spPr bwMode="auto">
          <a:xfrm>
            <a:off x="500529" y="6161652"/>
            <a:ext cx="52578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3333CC"/>
                </a:solidFill>
              </a:rPr>
              <a:t>图</a:t>
            </a:r>
            <a:r>
              <a:rPr lang="en-US" altLang="zh-CN" b="1" dirty="0">
                <a:solidFill>
                  <a:srgbClr val="3333CC"/>
                </a:solidFill>
              </a:rPr>
              <a:t>2-9 </a:t>
            </a:r>
            <a:r>
              <a:rPr kumimoji="0" lang="en-US" altLang="zh-CN" i="1" dirty="0" err="1">
                <a:solidFill>
                  <a:srgbClr val="3333CC"/>
                </a:solidFill>
                <a:cs typeface="Times New Roman" panose="02020603050405020304" pitchFamily="18" charset="0"/>
                <a:sym typeface="+mn-ea"/>
              </a:rPr>
              <a:t>δ</a:t>
            </a:r>
            <a:r>
              <a:rPr kumimoji="0" lang="en-US" altLang="zh-CN" i="1" baseline="-25000" dirty="0" err="1">
                <a:solidFill>
                  <a:srgbClr val="3333CC"/>
                </a:solidFill>
                <a:cs typeface="Times New Roman" panose="02020603050405020304" pitchFamily="18" charset="0"/>
                <a:sym typeface="+mn-ea"/>
              </a:rPr>
              <a:t>L</a:t>
            </a:r>
            <a:r>
              <a:rPr kumimoji="0" lang="zh-CN" altLang="en-US" b="1" dirty="0">
                <a:solidFill>
                  <a:srgbClr val="3333CC"/>
                </a:solidFill>
                <a:latin typeface="宋体" panose="02010600030101010101" pitchFamily="2" charset="-122"/>
                <a:cs typeface="Arial" panose="020B0604020202020204" pitchFamily="34" charset="0"/>
                <a:sym typeface="+mn-ea"/>
              </a:rPr>
              <a:t>与</a:t>
            </a:r>
            <a:r>
              <a:rPr kumimoji="0" lang="en-US" altLang="zh-CN" i="1" dirty="0">
                <a:solidFill>
                  <a:srgbClr val="3333CC"/>
                </a:solidFill>
                <a:cs typeface="Times New Roman" panose="02020603050405020304" pitchFamily="18" charset="0"/>
                <a:sym typeface="+mn-ea"/>
              </a:rPr>
              <a:t>m</a:t>
            </a:r>
            <a:r>
              <a:rPr kumimoji="0" lang="zh-CN" altLang="en-US" b="1" dirty="0">
                <a:solidFill>
                  <a:srgbClr val="3333CC"/>
                </a:solidFill>
                <a:latin typeface="宋体" panose="02010600030101010101" pitchFamily="2" charset="-122"/>
                <a:cs typeface="Arial" panose="020B0604020202020204" pitchFamily="34" charset="0"/>
                <a:sym typeface="+mn-ea"/>
              </a:rPr>
              <a:t>、</a:t>
            </a:r>
            <a:r>
              <a:rPr kumimoji="0" lang="en-US" altLang="zh-CN" i="1" dirty="0">
                <a:solidFill>
                  <a:srgbClr val="3333CC"/>
                </a:solidFill>
                <a:cs typeface="Times New Roman" panose="02020603050405020304" pitchFamily="18" charset="0"/>
                <a:sym typeface="+mn-ea"/>
              </a:rPr>
              <a:t>r</a:t>
            </a:r>
            <a:r>
              <a:rPr kumimoji="0" lang="zh-CN" altLang="en-US" b="1" dirty="0">
                <a:solidFill>
                  <a:srgbClr val="3333CC"/>
                </a:solidFill>
                <a:latin typeface="宋体" panose="02010600030101010101" pitchFamily="2" charset="-122"/>
                <a:cs typeface="Arial" panose="020B0604020202020204" pitchFamily="34" charset="0"/>
                <a:sym typeface="+mn-ea"/>
              </a:rPr>
              <a:t>的关系曲线</a:t>
            </a:r>
            <a:endParaRPr lang="zh-CN" altLang="en-US" b="1" dirty="0">
              <a:solidFill>
                <a:srgbClr val="3333CC"/>
              </a:solidFill>
            </a:endParaRPr>
          </a:p>
        </p:txBody>
      </p:sp>
      <p:graphicFrame>
        <p:nvGraphicFramePr>
          <p:cNvPr id="7" name="Object 19">
            <a:extLst>
              <a:ext uri="{FF2B5EF4-FFF2-40B4-BE49-F238E27FC236}">
                <a16:creationId xmlns:a16="http://schemas.microsoft.com/office/drawing/2014/main" id="{C86E6F4B-E2B8-44BA-9E7F-75FA3CE5AD74}"/>
              </a:ext>
            </a:extLst>
          </p:cNvPr>
          <p:cNvGraphicFramePr>
            <a:graphicFrameLocks noChangeAspect="1"/>
          </p:cNvGraphicFramePr>
          <p:nvPr>
            <p:extLst>
              <p:ext uri="{D42A27DB-BD31-4B8C-83A1-F6EECF244321}">
                <p14:modId xmlns:p14="http://schemas.microsoft.com/office/powerpoint/2010/main" val="3123089395"/>
              </p:ext>
            </p:extLst>
          </p:nvPr>
        </p:nvGraphicFramePr>
        <p:xfrm>
          <a:off x="342192" y="1464235"/>
          <a:ext cx="4415079" cy="4636253"/>
        </p:xfrm>
        <a:graphic>
          <a:graphicData uri="http://schemas.openxmlformats.org/presentationml/2006/ole">
            <mc:AlternateContent xmlns:mc="http://schemas.openxmlformats.org/markup-compatibility/2006">
              <mc:Choice xmlns:v="urn:schemas-microsoft-com:vml" Requires="v">
                <p:oleObj name="Image" r:id="rId3" imgW="11578776" imgH="12156735" progId="Photoshop.Image.7">
                  <p:embed/>
                </p:oleObj>
              </mc:Choice>
              <mc:Fallback>
                <p:oleObj name="Image" r:id="rId3" imgW="11578776" imgH="12156735" progId="Photoshop.Image.7">
                  <p:embed/>
                  <p:pic>
                    <p:nvPicPr>
                      <p:cNvPr id="2067"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192" y="1464235"/>
                        <a:ext cx="4415079" cy="4636253"/>
                      </a:xfrm>
                      <a:prstGeom prst="rect">
                        <a:avLst/>
                      </a:prstGeom>
                      <a:noFill/>
                      <a:ln>
                        <a:noFill/>
                      </a:ln>
                      <a:effectLst/>
                    </p:spPr>
                  </p:pic>
                </p:oleObj>
              </mc:Fallback>
            </mc:AlternateContent>
          </a:graphicData>
        </a:graphic>
      </p:graphicFrame>
      <p:graphicFrame>
        <p:nvGraphicFramePr>
          <p:cNvPr id="8" name="Object 20">
            <a:extLst>
              <a:ext uri="{FF2B5EF4-FFF2-40B4-BE49-F238E27FC236}">
                <a16:creationId xmlns:a16="http://schemas.microsoft.com/office/drawing/2014/main" id="{0ADDB6F3-6BCB-4CB2-8FDD-528C47318E6A}"/>
              </a:ext>
            </a:extLst>
          </p:cNvPr>
          <p:cNvGraphicFramePr>
            <a:graphicFrameLocks noChangeAspect="1"/>
          </p:cNvGraphicFramePr>
          <p:nvPr>
            <p:extLst>
              <p:ext uri="{D42A27DB-BD31-4B8C-83A1-F6EECF244321}">
                <p14:modId xmlns:p14="http://schemas.microsoft.com/office/powerpoint/2010/main" val="2774386877"/>
              </p:ext>
            </p:extLst>
          </p:nvPr>
        </p:nvGraphicFramePr>
        <p:xfrm>
          <a:off x="4282155" y="2221507"/>
          <a:ext cx="3733800" cy="1792288"/>
        </p:xfrm>
        <a:graphic>
          <a:graphicData uri="http://schemas.openxmlformats.org/presentationml/2006/ole">
            <mc:AlternateContent xmlns:mc="http://schemas.openxmlformats.org/markup-compatibility/2006">
              <mc:Choice xmlns:v="urn:schemas-microsoft-com:vml" Requires="v">
                <p:oleObj r:id="rId5" imgW="1905000" imgH="914400" progId="Equation.3">
                  <p:embed/>
                </p:oleObj>
              </mc:Choice>
              <mc:Fallback>
                <p:oleObj r:id="rId5" imgW="1905000" imgH="914400" progId="Equation.3">
                  <p:embed/>
                  <p:pic>
                    <p:nvPicPr>
                      <p:cNvPr id="6"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2155" y="2221507"/>
                        <a:ext cx="3733800" cy="179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22">
            <a:extLst>
              <a:ext uri="{FF2B5EF4-FFF2-40B4-BE49-F238E27FC236}">
                <a16:creationId xmlns:a16="http://schemas.microsoft.com/office/drawing/2014/main" id="{5A80901D-8195-459F-9F51-83783641AD7C}"/>
              </a:ext>
            </a:extLst>
          </p:cNvPr>
          <p:cNvSpPr txBox="1">
            <a:spLocks noChangeArrowheads="1"/>
          </p:cNvSpPr>
          <p:nvPr/>
        </p:nvSpPr>
        <p:spPr bwMode="auto">
          <a:xfrm>
            <a:off x="4282155" y="4166567"/>
            <a:ext cx="4753895" cy="1737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en-US" altLang="zh-CN" sz="2800" i="1" dirty="0">
                <a:latin typeface="Times New Roman" pitchFamily="18" charset="0"/>
                <a:ea typeface="宋体" panose="02010600030101010101" pitchFamily="2" charset="-122"/>
                <a:cs typeface="Times New Roman" pitchFamily="18" charset="0"/>
              </a:rPr>
              <a:t>r</a:t>
            </a:r>
            <a:r>
              <a:rPr lang="en-US" altLang="zh-CN" sz="2800" dirty="0">
                <a:latin typeface="Times New Roman" pitchFamily="18" charset="0"/>
                <a:ea typeface="宋体" panose="02010600030101010101" pitchFamily="2" charset="-122"/>
                <a:cs typeface="Times New Roman" pitchFamily="18" charset="0"/>
              </a:rPr>
              <a:t>=0</a:t>
            </a:r>
            <a:r>
              <a:rPr lang="zh-CN" altLang="en-US" sz="2800" b="1" dirty="0">
                <a:latin typeface="Times New Roman" pitchFamily="18" charset="0"/>
                <a:ea typeface="宋体" panose="02010600030101010101" pitchFamily="2" charset="-122"/>
                <a:cs typeface="Times New Roman" pitchFamily="18" charset="0"/>
              </a:rPr>
              <a:t>或</a:t>
            </a:r>
            <a:r>
              <a:rPr lang="en-US" altLang="zh-CN" sz="2800" dirty="0">
                <a:latin typeface="Times New Roman" pitchFamily="18" charset="0"/>
                <a:ea typeface="宋体" panose="02010600030101010101" pitchFamily="2" charset="-122"/>
                <a:cs typeface="Times New Roman" pitchFamily="18" charset="0"/>
              </a:rPr>
              <a:t>1</a:t>
            </a:r>
            <a:r>
              <a:rPr lang="zh-CN" altLang="en-US" sz="2800" b="1" dirty="0">
                <a:latin typeface="Times New Roman" pitchFamily="18" charset="0"/>
                <a:ea typeface="宋体" panose="02010600030101010101" pitchFamily="2" charset="-122"/>
                <a:cs typeface="Times New Roman" pitchFamily="18" charset="0"/>
              </a:rPr>
              <a:t>时</a:t>
            </a:r>
            <a:r>
              <a:rPr lang="zh-CN" altLang="en-US" sz="2800" dirty="0">
                <a:latin typeface="Times New Roman" pitchFamily="18" charset="0"/>
                <a:ea typeface="宋体" panose="02010600030101010101" pitchFamily="2" charset="-122"/>
                <a:cs typeface="Times New Roman" pitchFamily="18" charset="0"/>
              </a:rPr>
              <a:t>，</a:t>
            </a:r>
            <a:r>
              <a:rPr lang="en-US" altLang="zh-CN" sz="2800" i="1" dirty="0" err="1">
                <a:latin typeface="Times New Roman" pitchFamily="18" charset="0"/>
                <a:ea typeface="宋体" panose="02010600030101010101" pitchFamily="2" charset="-122"/>
                <a:cs typeface="Times New Roman" pitchFamily="18" charset="0"/>
              </a:rPr>
              <a:t>δ</a:t>
            </a:r>
            <a:r>
              <a:rPr lang="en-US" altLang="zh-CN" sz="2800" i="1" baseline="-25000" dirty="0" err="1">
                <a:latin typeface="Times New Roman" pitchFamily="18" charset="0"/>
                <a:ea typeface="宋体" panose="02010600030101010101" pitchFamily="2" charset="-122"/>
                <a:cs typeface="Times New Roman" pitchFamily="18" charset="0"/>
              </a:rPr>
              <a:t>L</a:t>
            </a:r>
            <a:r>
              <a:rPr lang="en-US" altLang="zh-CN" sz="2800" dirty="0">
                <a:latin typeface="Times New Roman" pitchFamily="18" charset="0"/>
                <a:ea typeface="宋体" panose="02010600030101010101" pitchFamily="2" charset="-122"/>
                <a:cs typeface="Times New Roman" pitchFamily="18" charset="0"/>
              </a:rPr>
              <a:t>=0</a:t>
            </a:r>
            <a:r>
              <a:rPr lang="zh-CN" altLang="en-US" sz="2800" dirty="0">
                <a:latin typeface="Times New Roman" pitchFamily="18" charset="0"/>
                <a:ea typeface="宋体" panose="02010600030101010101" pitchFamily="2" charset="-122"/>
                <a:cs typeface="Times New Roman" pitchFamily="18" charset="0"/>
              </a:rPr>
              <a:t>；</a:t>
            </a:r>
          </a:p>
          <a:p>
            <a:pPr>
              <a:lnSpc>
                <a:spcPct val="130000"/>
              </a:lnSpc>
              <a:spcBef>
                <a:spcPts val="600"/>
              </a:spcBef>
            </a:pPr>
            <a:r>
              <a:rPr lang="en-US" altLang="zh-CN" sz="2800" i="1" dirty="0">
                <a:latin typeface="Times New Roman" pitchFamily="18" charset="0"/>
                <a:ea typeface="宋体" panose="02010600030101010101" pitchFamily="2" charset="-122"/>
                <a:cs typeface="Times New Roman" pitchFamily="18" charset="0"/>
              </a:rPr>
              <a:t>r</a:t>
            </a:r>
            <a:r>
              <a:rPr lang="en-US" altLang="zh-CN" sz="2800" dirty="0">
                <a:latin typeface="Times New Roman" pitchFamily="18" charset="0"/>
                <a:ea typeface="宋体" panose="02010600030101010101" pitchFamily="2" charset="-122"/>
                <a:cs typeface="Times New Roman" pitchFamily="18" charset="0"/>
              </a:rPr>
              <a:t>=1/2</a:t>
            </a:r>
            <a:r>
              <a:rPr lang="zh-CN" altLang="en-US" sz="2800" b="1" dirty="0">
                <a:latin typeface="Times New Roman" pitchFamily="18" charset="0"/>
                <a:ea typeface="宋体" panose="02010600030101010101" pitchFamily="2" charset="-122"/>
                <a:cs typeface="Times New Roman" pitchFamily="18" charset="0"/>
              </a:rPr>
              <a:t>时</a:t>
            </a:r>
            <a:r>
              <a:rPr lang="zh-CN" altLang="en-US" sz="2800" dirty="0">
                <a:latin typeface="Times New Roman" pitchFamily="18" charset="0"/>
                <a:ea typeface="宋体" panose="02010600030101010101" pitchFamily="2" charset="-122"/>
                <a:cs typeface="Times New Roman" pitchFamily="18" charset="0"/>
              </a:rPr>
              <a:t>，</a:t>
            </a:r>
            <a:r>
              <a:rPr lang="en-US" altLang="zh-CN" sz="2800" i="1" dirty="0" err="1">
                <a:latin typeface="Times New Roman" pitchFamily="18" charset="0"/>
                <a:ea typeface="宋体" panose="02010600030101010101" pitchFamily="2" charset="-122"/>
                <a:cs typeface="Times New Roman" pitchFamily="18" charset="0"/>
              </a:rPr>
              <a:t>δ</a:t>
            </a:r>
            <a:r>
              <a:rPr lang="en-US" altLang="zh-CN" sz="2800" i="1" baseline="-25000" dirty="0" err="1">
                <a:latin typeface="Times New Roman" pitchFamily="18" charset="0"/>
                <a:ea typeface="宋体" panose="02010600030101010101" pitchFamily="2" charset="-122"/>
                <a:cs typeface="Times New Roman" pitchFamily="18" charset="0"/>
              </a:rPr>
              <a:t>L</a:t>
            </a:r>
            <a:r>
              <a:rPr lang="zh-CN" altLang="en-US" sz="2800" b="1" dirty="0">
                <a:latin typeface="Times New Roman" pitchFamily="18" charset="0"/>
                <a:ea typeface="宋体" panose="02010600030101010101" pitchFamily="2" charset="-122"/>
                <a:cs typeface="Times New Roman" pitchFamily="18" charset="0"/>
              </a:rPr>
              <a:t>最大</a:t>
            </a:r>
            <a:r>
              <a:rPr lang="zh-CN" altLang="en-US" sz="2800" dirty="0">
                <a:latin typeface="Times New Roman" pitchFamily="18" charset="0"/>
                <a:ea typeface="宋体" panose="02010600030101010101" pitchFamily="2" charset="-122"/>
                <a:cs typeface="Times New Roman" pitchFamily="18" charset="0"/>
              </a:rPr>
              <a:t>。</a:t>
            </a:r>
          </a:p>
          <a:p>
            <a:pPr>
              <a:lnSpc>
                <a:spcPct val="130000"/>
              </a:lnSpc>
              <a:spcBef>
                <a:spcPts val="600"/>
              </a:spcBef>
            </a:pPr>
            <a:r>
              <a:rPr lang="zh-CN" altLang="en-US" sz="2800" b="1" dirty="0">
                <a:latin typeface="Times New Roman" pitchFamily="18" charset="0"/>
                <a:ea typeface="宋体" panose="02010600030101010101" pitchFamily="2" charset="-122"/>
                <a:cs typeface="Times New Roman" pitchFamily="18" charset="0"/>
              </a:rPr>
              <a:t>若要求</a:t>
            </a:r>
            <a:r>
              <a:rPr lang="en-US" altLang="zh-CN" sz="2800" i="1" dirty="0">
                <a:latin typeface="Times New Roman" pitchFamily="18" charset="0"/>
                <a:ea typeface="宋体" panose="02010600030101010101" pitchFamily="2" charset="-122"/>
                <a:cs typeface="Times New Roman" pitchFamily="18" charset="0"/>
              </a:rPr>
              <a:t>δ</a:t>
            </a:r>
            <a:r>
              <a:rPr lang="en-US" altLang="zh-CN" sz="2800" i="1" baseline="-25000" dirty="0">
                <a:latin typeface="Times New Roman" pitchFamily="18" charset="0"/>
                <a:ea typeface="宋体" panose="02010600030101010101" pitchFamily="2" charset="-122"/>
                <a:cs typeface="Times New Roman" pitchFamily="18" charset="0"/>
              </a:rPr>
              <a:t>L</a:t>
            </a:r>
            <a:r>
              <a:rPr lang="en-US" altLang="zh-CN" sz="2800" dirty="0">
                <a:latin typeface="Times New Roman" pitchFamily="18" charset="0"/>
                <a:ea typeface="宋体" panose="02010600030101010101" pitchFamily="2" charset="-122"/>
                <a:cs typeface="Times New Roman" pitchFamily="18" charset="0"/>
              </a:rPr>
              <a:t>≤1</a:t>
            </a:r>
            <a:r>
              <a:rPr lang="en-US" altLang="zh-CN" sz="2800">
                <a:latin typeface="Times New Roman" pitchFamily="18" charset="0"/>
                <a:ea typeface="宋体" panose="02010600030101010101" pitchFamily="2" charset="-122"/>
                <a:cs typeface="Times New Roman" pitchFamily="18" charset="0"/>
              </a:rPr>
              <a:t>%</a:t>
            </a:r>
            <a:r>
              <a:rPr lang="zh-CN" altLang="en-US" sz="2800">
                <a:latin typeface="Times New Roman" pitchFamily="18" charset="0"/>
                <a:ea typeface="宋体" panose="02010600030101010101" pitchFamily="2" charset="-122"/>
                <a:cs typeface="Times New Roman" pitchFamily="18" charset="0"/>
              </a:rPr>
              <a:t>，则 </a:t>
            </a:r>
            <a:r>
              <a:rPr lang="en-US" altLang="zh-CN" sz="2800" i="1">
                <a:latin typeface="Times New Roman" pitchFamily="18" charset="0"/>
                <a:ea typeface="宋体" panose="02010600030101010101" pitchFamily="2" charset="-122"/>
                <a:cs typeface="Times New Roman" pitchFamily="18" charset="0"/>
              </a:rPr>
              <a:t>R</a:t>
            </a:r>
            <a:r>
              <a:rPr lang="en-US" altLang="zh-CN" sz="2800" i="1" baseline="-25000">
                <a:latin typeface="Times New Roman" pitchFamily="18" charset="0"/>
                <a:ea typeface="宋体" panose="02010600030101010101" pitchFamily="2" charset="-122"/>
                <a:cs typeface="Times New Roman" pitchFamily="18" charset="0"/>
              </a:rPr>
              <a:t>L</a:t>
            </a:r>
            <a:r>
              <a:rPr lang="en-US" altLang="zh-CN" sz="2800">
                <a:latin typeface="Times New Roman" pitchFamily="18" charset="0"/>
                <a:ea typeface="宋体" panose="02010600030101010101" pitchFamily="2" charset="-122"/>
                <a:cs typeface="Times New Roman" pitchFamily="18" charset="0"/>
              </a:rPr>
              <a:t>&gt; </a:t>
            </a:r>
            <a:r>
              <a:rPr lang="en-US" altLang="zh-CN" sz="2800">
                <a:solidFill>
                  <a:srgbClr val="C00000"/>
                </a:solidFill>
                <a:latin typeface="Times New Roman" pitchFamily="18" charset="0"/>
                <a:ea typeface="宋体" panose="02010600030101010101" pitchFamily="2" charset="-122"/>
                <a:cs typeface="Times New Roman" pitchFamily="18" charset="0"/>
              </a:rPr>
              <a:t>25</a:t>
            </a:r>
            <a:r>
              <a:rPr lang="en-US" altLang="zh-CN" sz="2800">
                <a:latin typeface="Times New Roman" pitchFamily="18" charset="0"/>
                <a:ea typeface="宋体" panose="02010600030101010101" pitchFamily="2" charset="-122"/>
                <a:cs typeface="Times New Roman" pitchFamily="18" charset="0"/>
              </a:rPr>
              <a:t> </a:t>
            </a:r>
            <a:r>
              <a:rPr lang="en-US" altLang="zh-CN" sz="2800" i="1">
                <a:latin typeface="Times New Roman" pitchFamily="18" charset="0"/>
                <a:ea typeface="宋体" panose="02010600030101010101" pitchFamily="2" charset="-122"/>
                <a:cs typeface="Times New Roman" pitchFamily="18" charset="0"/>
              </a:rPr>
              <a:t>R</a:t>
            </a:r>
            <a:r>
              <a:rPr lang="en-US" altLang="zh-CN" sz="2800" baseline="-25000">
                <a:latin typeface="Times New Roman" pitchFamily="18" charset="0"/>
                <a:ea typeface="宋体" panose="02010600030101010101" pitchFamily="2" charset="-122"/>
                <a:cs typeface="Times New Roman" pitchFamily="18" charset="0"/>
              </a:rPr>
              <a:t>max</a:t>
            </a:r>
            <a:endParaRPr lang="en-US" altLang="zh-CN" sz="2800" baseline="-25000" dirty="0">
              <a:latin typeface="Times New Roman" pitchFamily="18" charset="0"/>
              <a:ea typeface="宋体" panose="02010600030101010101" pitchFamily="2" charset="-122"/>
              <a:cs typeface="Times New Roman" pitchFamily="18" charset="0"/>
            </a:endParaRPr>
          </a:p>
        </p:txBody>
      </p:sp>
      <p:graphicFrame>
        <p:nvGraphicFramePr>
          <p:cNvPr id="3" name="Object 2">
            <a:extLst>
              <a:ext uri="{FF2B5EF4-FFF2-40B4-BE49-F238E27FC236}">
                <a16:creationId xmlns:a16="http://schemas.microsoft.com/office/drawing/2014/main" id="{B88BF069-6707-454C-B6D1-392369DC1C8E}"/>
              </a:ext>
            </a:extLst>
          </p:cNvPr>
          <p:cNvGraphicFramePr>
            <a:graphicFrameLocks noChangeAspect="1"/>
          </p:cNvGraphicFramePr>
          <p:nvPr>
            <p:extLst>
              <p:ext uri="{D42A27DB-BD31-4B8C-83A1-F6EECF244321}">
                <p14:modId xmlns:p14="http://schemas.microsoft.com/office/powerpoint/2010/main" val="2568813685"/>
              </p:ext>
            </p:extLst>
          </p:nvPr>
        </p:nvGraphicFramePr>
        <p:xfrm>
          <a:off x="4282155" y="1346794"/>
          <a:ext cx="2895600" cy="874713"/>
        </p:xfrm>
        <a:graphic>
          <a:graphicData uri="http://schemas.openxmlformats.org/presentationml/2006/ole">
            <mc:AlternateContent xmlns:mc="http://schemas.openxmlformats.org/markup-compatibility/2006">
              <mc:Choice xmlns:v="urn:schemas-microsoft-com:vml" Requires="v">
                <p:oleObj name="Equation" r:id="rId7" imgW="2895696" imgH="874831" progId="Equation.DSMT4">
                  <p:embed/>
                </p:oleObj>
              </mc:Choice>
              <mc:Fallback>
                <p:oleObj name="Equation" r:id="rId7" imgW="2895696" imgH="874831" progId="Equation.DSMT4">
                  <p:embed/>
                  <p:pic>
                    <p:nvPicPr>
                      <p:cNvPr id="0" name=""/>
                      <p:cNvPicPr/>
                      <p:nvPr/>
                    </p:nvPicPr>
                    <p:blipFill>
                      <a:blip r:embed="rId8"/>
                      <a:stretch>
                        <a:fillRect/>
                      </a:stretch>
                    </p:blipFill>
                    <p:spPr>
                      <a:xfrm>
                        <a:off x="4282155" y="1346794"/>
                        <a:ext cx="2895600" cy="874713"/>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CA55218-455D-42FF-BB9F-76042530A877}"/>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Tree>
    <p:extLst>
      <p:ext uri="{BB962C8B-B14F-4D97-AF65-F5344CB8AC3E}">
        <p14:creationId xmlns:p14="http://schemas.microsoft.com/office/powerpoint/2010/main" val="26889939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339FADE0-A7A0-423D-BF6B-FC4702A5D10F}"/>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负载特性与负载误差</a:t>
            </a:r>
          </a:p>
        </p:txBody>
      </p:sp>
      <p:sp>
        <p:nvSpPr>
          <p:cNvPr id="5" name="Text Box 9">
            <a:extLst>
              <a:ext uri="{FF2B5EF4-FFF2-40B4-BE49-F238E27FC236}">
                <a16:creationId xmlns:a16="http://schemas.microsoft.com/office/drawing/2014/main" id="{3E0BA828-ECC4-40BC-A089-DCD7C9BC878A}"/>
              </a:ext>
            </a:extLst>
          </p:cNvPr>
          <p:cNvSpPr txBox="1">
            <a:spLocks noChangeArrowheads="1"/>
          </p:cNvSpPr>
          <p:nvPr/>
        </p:nvSpPr>
        <p:spPr bwMode="auto">
          <a:xfrm>
            <a:off x="1235585" y="5745459"/>
            <a:ext cx="6336704" cy="936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1082675" indent="-1082675" eaLnBrk="1" hangingPunct="1">
              <a:lnSpc>
                <a:spcPct val="120000"/>
              </a:lnSpc>
              <a:spcBef>
                <a:spcPct val="20000"/>
              </a:spcBef>
            </a:pPr>
            <a:r>
              <a:rPr lang="en-US" altLang="zh-CN" b="1" dirty="0">
                <a:solidFill>
                  <a:srgbClr val="000099"/>
                </a:solidFill>
              </a:rPr>
              <a:t> </a:t>
            </a:r>
            <a:r>
              <a:rPr lang="zh-CN" altLang="en-US" b="1" dirty="0">
                <a:solidFill>
                  <a:srgbClr val="000099"/>
                </a:solidFill>
              </a:rPr>
              <a:t>图</a:t>
            </a:r>
            <a:r>
              <a:rPr lang="en-US" altLang="zh-CN" b="1" dirty="0">
                <a:solidFill>
                  <a:srgbClr val="000099"/>
                </a:solidFill>
              </a:rPr>
              <a:t>2-10  </a:t>
            </a:r>
            <a:r>
              <a:rPr lang="zh-CN" altLang="en-US" b="1" dirty="0">
                <a:solidFill>
                  <a:srgbClr val="000099"/>
                </a:solidFill>
              </a:rPr>
              <a:t>非线性电位器的空载特性曲线与线性电位器的负载特性曲线的镜像关系</a:t>
            </a:r>
          </a:p>
        </p:txBody>
      </p:sp>
      <p:pic>
        <p:nvPicPr>
          <p:cNvPr id="6" name="图片 1">
            <a:extLst>
              <a:ext uri="{FF2B5EF4-FFF2-40B4-BE49-F238E27FC236}">
                <a16:creationId xmlns:a16="http://schemas.microsoft.com/office/drawing/2014/main" id="{9C290294-F270-442C-90C7-95F534B7905C}"/>
              </a:ext>
            </a:extLst>
          </p:cNvPr>
          <p:cNvPicPr>
            <a:picLocks noChangeAspect="1"/>
          </p:cNvPicPr>
          <p:nvPr/>
        </p:nvPicPr>
        <p:blipFill>
          <a:blip r:embed="rId3"/>
          <a:stretch>
            <a:fillRect/>
          </a:stretch>
        </p:blipFill>
        <p:spPr>
          <a:xfrm>
            <a:off x="2501994" y="1489248"/>
            <a:ext cx="4054194" cy="4256211"/>
          </a:xfrm>
          <a:prstGeom prst="rect">
            <a:avLst/>
          </a:prstGeom>
        </p:spPr>
      </p:pic>
      <p:sp>
        <p:nvSpPr>
          <p:cNvPr id="2" name="Slide Number Placeholder 1">
            <a:extLst>
              <a:ext uri="{FF2B5EF4-FFF2-40B4-BE49-F238E27FC236}">
                <a16:creationId xmlns:a16="http://schemas.microsoft.com/office/drawing/2014/main" id="{1CD0E897-BE8E-482A-A814-114CE20CA113}"/>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Tree>
    <p:extLst>
      <p:ext uri="{BB962C8B-B14F-4D97-AF65-F5344CB8AC3E}">
        <p14:creationId xmlns:p14="http://schemas.microsoft.com/office/powerpoint/2010/main" val="37110254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55295774-3931-4452-8C15-1B7FCC936FF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2</a:t>
            </a:r>
            <a:r>
              <a:rPr lang="en-US" sz="3200" b="1" dirty="0">
                <a:latin typeface="Arial" panose="020B0604020202020204" pitchFamily="34" charset="0"/>
                <a:ea typeface="宋体" panose="02010600030101010101" pitchFamily="2" charset="-122"/>
                <a:cs typeface="Arial" panose="020B0604020202020204" pitchFamily="34" charset="0"/>
              </a:rPr>
              <a:t>.1.</a:t>
            </a:r>
            <a:r>
              <a:rPr lang="en-US" altLang="zh-CN" sz="3200" b="1" dirty="0">
                <a:latin typeface="Arial" panose="020B0604020202020204" pitchFamily="34" charset="0"/>
                <a:ea typeface="宋体" panose="02010600030101010101" pitchFamily="2" charset="-122"/>
                <a:cs typeface="Arial" panose="020B0604020202020204" pitchFamily="34" charset="0"/>
              </a:rPr>
              <a:t>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电位器的结构与材料</a:t>
            </a:r>
          </a:p>
        </p:txBody>
      </p:sp>
      <p:sp>
        <p:nvSpPr>
          <p:cNvPr id="5" name="矩形 4"/>
          <p:cNvSpPr/>
          <p:nvPr/>
        </p:nvSpPr>
        <p:spPr>
          <a:xfrm>
            <a:off x="1052274" y="1366690"/>
            <a:ext cx="7039451" cy="1569658"/>
          </a:xfrm>
          <a:prstGeom prst="rect">
            <a:avLst/>
          </a:prstGeom>
        </p:spPr>
        <p:txBody>
          <a:bodyPr wrap="square" lIns="91438" tIns="45719" rIns="91438" bIns="45719">
            <a:spAutoFit/>
          </a:bodyPr>
          <a:lstStyle/>
          <a:p>
            <a:pPr indent="630238">
              <a:lnSpc>
                <a:spcPct val="20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电位器通常由</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骨架</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电阻元件</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及</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sym typeface="+mn-ea"/>
              </a:rPr>
              <a:t>活动电刷</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组成。常用的线绕式电位器的电阻元件由</a:t>
            </a:r>
            <a:r>
              <a:rPr lang="zh-CN" altLang="en-US" sz="2400" b="1" u="sng" dirty="0">
                <a:solidFill>
                  <a:srgbClr val="7030A0"/>
                </a:solidFill>
                <a:latin typeface="Arial" panose="020B0604020202020204" pitchFamily="34" charset="0"/>
                <a:ea typeface="宋体" panose="02010600030101010101" pitchFamily="2" charset="-122"/>
                <a:cs typeface="Arial" panose="020B0604020202020204" pitchFamily="34" charset="0"/>
                <a:sym typeface="+mn-ea"/>
              </a:rPr>
              <a:t>金属电阻丝</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绕成。</a:t>
            </a:r>
          </a:p>
        </p:txBody>
      </p:sp>
      <p:sp>
        <p:nvSpPr>
          <p:cNvPr id="7" name="Text Box 9">
            <a:extLst>
              <a:ext uri="{FF2B5EF4-FFF2-40B4-BE49-F238E27FC236}">
                <a16:creationId xmlns:a16="http://schemas.microsoft.com/office/drawing/2014/main" id="{54900594-A040-4372-B9CE-E48851DF4F0F}"/>
              </a:ext>
            </a:extLst>
          </p:cNvPr>
          <p:cNvSpPr txBox="1">
            <a:spLocks noChangeArrowheads="1"/>
          </p:cNvSpPr>
          <p:nvPr/>
        </p:nvSpPr>
        <p:spPr bwMode="auto">
          <a:xfrm>
            <a:off x="3376589" y="5819632"/>
            <a:ext cx="350830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2-11  </a:t>
            </a:r>
            <a:r>
              <a:rPr lang="zh-CN" altLang="en-US" b="1" dirty="0">
                <a:solidFill>
                  <a:srgbClr val="000099"/>
                </a:solidFill>
              </a:rPr>
              <a:t>某些电刷的结构</a:t>
            </a:r>
          </a:p>
        </p:txBody>
      </p:sp>
      <p:pic>
        <p:nvPicPr>
          <p:cNvPr id="8" name="图片 1">
            <a:extLst>
              <a:ext uri="{FF2B5EF4-FFF2-40B4-BE49-F238E27FC236}">
                <a16:creationId xmlns:a16="http://schemas.microsoft.com/office/drawing/2014/main" id="{B4753CDD-3928-421E-864B-9F3651C1A9CA}"/>
              </a:ext>
            </a:extLst>
          </p:cNvPr>
          <p:cNvPicPr>
            <a:picLocks noChangeAspect="1"/>
          </p:cNvPicPr>
          <p:nvPr/>
        </p:nvPicPr>
        <p:blipFill>
          <a:blip r:embed="rId3"/>
          <a:stretch>
            <a:fillRect/>
          </a:stretch>
        </p:blipFill>
        <p:spPr>
          <a:xfrm>
            <a:off x="2420471" y="3061698"/>
            <a:ext cx="4087496" cy="2507233"/>
          </a:xfrm>
          <a:prstGeom prst="rect">
            <a:avLst/>
          </a:prstGeom>
        </p:spPr>
      </p:pic>
      <p:sp>
        <p:nvSpPr>
          <p:cNvPr id="2" name="Slide Number Placeholder 1">
            <a:extLst>
              <a:ext uri="{FF2B5EF4-FFF2-40B4-BE49-F238E27FC236}">
                <a16:creationId xmlns:a16="http://schemas.microsoft.com/office/drawing/2014/main" id="{4A126497-061A-4C9F-BC7D-BEC7F306AE42}"/>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6B05238F-3C81-4463-8067-B9AAA00AAEF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8" name="圆角矩形 43">
            <a:extLst>
              <a:ext uri="{FF2B5EF4-FFF2-40B4-BE49-F238E27FC236}">
                <a16:creationId xmlns:a16="http://schemas.microsoft.com/office/drawing/2014/main" id="{6F9971D7-A9C0-44BE-B6BA-E0FED415DA11}"/>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2.1.5</a:t>
            </a:r>
          </a:p>
        </p:txBody>
      </p:sp>
      <p:sp>
        <p:nvSpPr>
          <p:cNvPr id="9" name="矩形 45">
            <a:extLst>
              <a:ext uri="{FF2B5EF4-FFF2-40B4-BE49-F238E27FC236}">
                <a16:creationId xmlns:a16="http://schemas.microsoft.com/office/drawing/2014/main" id="{63F3FEC0-53BD-4124-A772-F3611ABF9830}"/>
              </a:ext>
            </a:extLst>
          </p:cNvPr>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电位器式传感器应用举例</a:t>
            </a:r>
          </a:p>
        </p:txBody>
      </p:sp>
      <p:sp>
        <p:nvSpPr>
          <p:cNvPr id="10" name="Text Box 9">
            <a:extLst>
              <a:ext uri="{FF2B5EF4-FFF2-40B4-BE49-F238E27FC236}">
                <a16:creationId xmlns:a16="http://schemas.microsoft.com/office/drawing/2014/main" id="{C829EBA9-381B-40B3-9FC4-B2DEC03150FF}"/>
              </a:ext>
            </a:extLst>
          </p:cNvPr>
          <p:cNvSpPr txBox="1">
            <a:spLocks noChangeArrowheads="1"/>
          </p:cNvSpPr>
          <p:nvPr/>
        </p:nvSpPr>
        <p:spPr bwMode="auto">
          <a:xfrm>
            <a:off x="2030063" y="5754216"/>
            <a:ext cx="52578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2-12  YCO-l50</a:t>
            </a:r>
            <a:r>
              <a:rPr lang="zh-CN" altLang="en-US" b="1" dirty="0">
                <a:solidFill>
                  <a:srgbClr val="000099"/>
                </a:solidFill>
              </a:rPr>
              <a:t>型远程压力表原理图</a:t>
            </a:r>
          </a:p>
        </p:txBody>
      </p:sp>
      <p:pic>
        <p:nvPicPr>
          <p:cNvPr id="11" name="图片 1">
            <a:extLst>
              <a:ext uri="{FF2B5EF4-FFF2-40B4-BE49-F238E27FC236}">
                <a16:creationId xmlns:a16="http://schemas.microsoft.com/office/drawing/2014/main" id="{D10F955E-9923-4E64-BBDA-CBD1B677CB6B}"/>
              </a:ext>
            </a:extLst>
          </p:cNvPr>
          <p:cNvPicPr>
            <a:picLocks noChangeAspect="1"/>
          </p:cNvPicPr>
          <p:nvPr/>
        </p:nvPicPr>
        <p:blipFill>
          <a:blip r:embed="rId3"/>
          <a:stretch>
            <a:fillRect/>
          </a:stretch>
        </p:blipFill>
        <p:spPr>
          <a:xfrm>
            <a:off x="976530" y="1457722"/>
            <a:ext cx="6965816" cy="3942556"/>
          </a:xfrm>
          <a:prstGeom prst="rect">
            <a:avLst/>
          </a:prstGeom>
        </p:spPr>
      </p:pic>
      <p:sp>
        <p:nvSpPr>
          <p:cNvPr id="2" name="Slide Number Placeholder 1">
            <a:extLst>
              <a:ext uri="{FF2B5EF4-FFF2-40B4-BE49-F238E27FC236}">
                <a16:creationId xmlns:a16="http://schemas.microsoft.com/office/drawing/2014/main" id="{46C61D4C-3D24-4588-A2B0-0F8B7F225D62}"/>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Tree>
    <p:extLst>
      <p:ext uri="{BB962C8B-B14F-4D97-AF65-F5344CB8AC3E}">
        <p14:creationId xmlns:p14="http://schemas.microsoft.com/office/powerpoint/2010/main" val="22381710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707CCF18-9505-418A-A96D-C66109E1293D}"/>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8" name="圆角矩形 43">
            <a:extLst>
              <a:ext uri="{FF2B5EF4-FFF2-40B4-BE49-F238E27FC236}">
                <a16:creationId xmlns:a16="http://schemas.microsoft.com/office/drawing/2014/main" id="{6F9971D7-A9C0-44BE-B6BA-E0FED415DA11}"/>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2.1.5</a:t>
            </a:r>
          </a:p>
        </p:txBody>
      </p:sp>
      <p:sp>
        <p:nvSpPr>
          <p:cNvPr id="9" name="矩形 45">
            <a:extLst>
              <a:ext uri="{FF2B5EF4-FFF2-40B4-BE49-F238E27FC236}">
                <a16:creationId xmlns:a16="http://schemas.microsoft.com/office/drawing/2014/main" id="{63F3FEC0-53BD-4124-A772-F3611ABF9830}"/>
              </a:ext>
            </a:extLst>
          </p:cNvPr>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电位器式传感器应用举例</a:t>
            </a:r>
          </a:p>
        </p:txBody>
      </p:sp>
      <p:sp>
        <p:nvSpPr>
          <p:cNvPr id="5" name="Rectangle 2">
            <a:extLst>
              <a:ext uri="{FF2B5EF4-FFF2-40B4-BE49-F238E27FC236}">
                <a16:creationId xmlns:a16="http://schemas.microsoft.com/office/drawing/2014/main" id="{1409F442-B953-4096-93FC-40BC164741D1}"/>
              </a:ext>
            </a:extLst>
          </p:cNvPr>
          <p:cNvSpPr>
            <a:spLocks noChangeArrowheads="1"/>
          </p:cNvSpPr>
          <p:nvPr/>
        </p:nvSpPr>
        <p:spPr bwMode="auto">
          <a:xfrm>
            <a:off x="4506942" y="35306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528A8936-A402-4013-BDF6-553C98BE6698}"/>
              </a:ext>
            </a:extLst>
          </p:cNvPr>
          <p:cNvSpPr txBox="1">
            <a:spLocks noChangeArrowheads="1"/>
          </p:cNvSpPr>
          <p:nvPr/>
        </p:nvSpPr>
        <p:spPr bwMode="auto">
          <a:xfrm>
            <a:off x="1502673" y="5753934"/>
            <a:ext cx="651988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2-13  </a:t>
            </a:r>
            <a:r>
              <a:rPr lang="zh-CN" altLang="en-US" b="1" dirty="0">
                <a:solidFill>
                  <a:srgbClr val="000099"/>
                </a:solidFill>
              </a:rPr>
              <a:t>膜盒电位器式压力传感器的工作原理图</a:t>
            </a:r>
          </a:p>
        </p:txBody>
      </p:sp>
      <p:pic>
        <p:nvPicPr>
          <p:cNvPr id="10" name="图片 1">
            <a:extLst>
              <a:ext uri="{FF2B5EF4-FFF2-40B4-BE49-F238E27FC236}">
                <a16:creationId xmlns:a16="http://schemas.microsoft.com/office/drawing/2014/main" id="{4A1869F3-4EE2-4DB2-AFC1-56416CD80AFF}"/>
              </a:ext>
            </a:extLst>
          </p:cNvPr>
          <p:cNvPicPr>
            <a:picLocks noChangeAspect="1"/>
          </p:cNvPicPr>
          <p:nvPr/>
        </p:nvPicPr>
        <p:blipFill>
          <a:blip r:embed="rId3"/>
          <a:stretch>
            <a:fillRect/>
          </a:stretch>
        </p:blipFill>
        <p:spPr>
          <a:xfrm>
            <a:off x="1304360" y="1561703"/>
            <a:ext cx="6773463" cy="3937793"/>
          </a:xfrm>
          <a:prstGeom prst="rect">
            <a:avLst/>
          </a:prstGeom>
        </p:spPr>
      </p:pic>
      <p:sp>
        <p:nvSpPr>
          <p:cNvPr id="2" name="Slide Number Placeholder 1">
            <a:extLst>
              <a:ext uri="{FF2B5EF4-FFF2-40B4-BE49-F238E27FC236}">
                <a16:creationId xmlns:a16="http://schemas.microsoft.com/office/drawing/2014/main" id="{F6877449-2E23-4CBC-8CB8-6EB7D12B71B4}"/>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Tree>
    <p:extLst>
      <p:ext uri="{BB962C8B-B14F-4D97-AF65-F5344CB8AC3E}">
        <p14:creationId xmlns:p14="http://schemas.microsoft.com/office/powerpoint/2010/main" val="35566957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526CA17A-2DA7-4A46-8152-EA1CD21CD58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graphicFrame>
        <p:nvGraphicFramePr>
          <p:cNvPr id="12" name="Object 25">
            <a:extLst>
              <a:ext uri="{FF2B5EF4-FFF2-40B4-BE49-F238E27FC236}">
                <a16:creationId xmlns:a16="http://schemas.microsoft.com/office/drawing/2014/main" id="{B66A13D7-DA73-45DE-8D47-2D5D9345796B}"/>
              </a:ext>
            </a:extLst>
          </p:cNvPr>
          <p:cNvGraphicFramePr>
            <a:graphicFrameLocks noChangeAspect="1"/>
          </p:cNvGraphicFramePr>
          <p:nvPr>
            <p:extLst>
              <p:ext uri="{D42A27DB-BD31-4B8C-83A1-F6EECF244321}">
                <p14:modId xmlns:p14="http://schemas.microsoft.com/office/powerpoint/2010/main" val="3589554256"/>
              </p:ext>
            </p:extLst>
          </p:nvPr>
        </p:nvGraphicFramePr>
        <p:xfrm>
          <a:off x="5069890" y="2116901"/>
          <a:ext cx="4074110" cy="2964673"/>
        </p:xfrm>
        <a:graphic>
          <a:graphicData uri="http://schemas.openxmlformats.org/presentationml/2006/ole">
            <mc:AlternateContent xmlns:mc="http://schemas.openxmlformats.org/markup-compatibility/2006">
              <mc:Choice xmlns:v="urn:schemas-microsoft-com:vml" Requires="v">
                <p:oleObj name="Image" r:id="rId3" imgW="12734694" imgH="9266939" progId="Photoshop.Image.7">
                  <p:embed/>
                </p:oleObj>
              </mc:Choice>
              <mc:Fallback>
                <p:oleObj name="Image" r:id="rId3" imgW="12734694" imgH="9266939" progId="Photoshop.Image.7">
                  <p:embed/>
                  <p:pic>
                    <p:nvPicPr>
                      <p:cNvPr id="2073"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890" y="2116901"/>
                        <a:ext cx="4074110" cy="2964673"/>
                      </a:xfrm>
                      <a:prstGeom prst="rect">
                        <a:avLst/>
                      </a:prstGeom>
                      <a:noFill/>
                      <a:ln>
                        <a:noFill/>
                      </a:ln>
                      <a:effectLst/>
                    </p:spPr>
                  </p:pic>
                </p:oleObj>
              </mc:Fallback>
            </mc:AlternateContent>
          </a:graphicData>
        </a:graphic>
      </p:graphicFrame>
      <p:sp>
        <p:nvSpPr>
          <p:cNvPr id="8" name="圆角矩形 43">
            <a:extLst>
              <a:ext uri="{FF2B5EF4-FFF2-40B4-BE49-F238E27FC236}">
                <a16:creationId xmlns:a16="http://schemas.microsoft.com/office/drawing/2014/main" id="{6F9971D7-A9C0-44BE-B6BA-E0FED415DA11}"/>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2.1.5</a:t>
            </a:r>
          </a:p>
        </p:txBody>
      </p:sp>
      <p:sp>
        <p:nvSpPr>
          <p:cNvPr id="9" name="矩形 45">
            <a:extLst>
              <a:ext uri="{FF2B5EF4-FFF2-40B4-BE49-F238E27FC236}">
                <a16:creationId xmlns:a16="http://schemas.microsoft.com/office/drawing/2014/main" id="{63F3FEC0-53BD-4124-A772-F3611ABF9830}"/>
              </a:ext>
            </a:extLst>
          </p:cNvPr>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电位器式传感器应用举例</a:t>
            </a:r>
          </a:p>
        </p:txBody>
      </p:sp>
      <p:sp>
        <p:nvSpPr>
          <p:cNvPr id="5" name="Rectangle 2">
            <a:extLst>
              <a:ext uri="{FF2B5EF4-FFF2-40B4-BE49-F238E27FC236}">
                <a16:creationId xmlns:a16="http://schemas.microsoft.com/office/drawing/2014/main" id="{6C78AF4F-3D6A-4D00-B9FF-69520398E6A3}"/>
              </a:ext>
            </a:extLst>
          </p:cNvPr>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4336496C-2332-402A-96F3-57E7797075CD}"/>
              </a:ext>
            </a:extLst>
          </p:cNvPr>
          <p:cNvSpPr txBox="1">
            <a:spLocks noChangeArrowheads="1"/>
          </p:cNvSpPr>
          <p:nvPr/>
        </p:nvSpPr>
        <p:spPr bwMode="auto">
          <a:xfrm>
            <a:off x="69558" y="4523707"/>
            <a:ext cx="509646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2-14  </a:t>
            </a:r>
            <a:r>
              <a:rPr lang="zh-CN" altLang="en-US" b="1" dirty="0">
                <a:solidFill>
                  <a:srgbClr val="000099"/>
                </a:solidFill>
              </a:rPr>
              <a:t>电位器式</a:t>
            </a:r>
            <a:r>
              <a:rPr lang="zh-CN" altLang="en-US" b="1">
                <a:solidFill>
                  <a:srgbClr val="000099"/>
                </a:solidFill>
              </a:rPr>
              <a:t>位移传</a:t>
            </a:r>
            <a:r>
              <a:rPr lang="zh-CN" altLang="en-US" b="1" dirty="0">
                <a:solidFill>
                  <a:srgbClr val="000099"/>
                </a:solidFill>
              </a:rPr>
              <a:t>感器示意图</a:t>
            </a:r>
          </a:p>
        </p:txBody>
      </p:sp>
      <p:pic>
        <p:nvPicPr>
          <p:cNvPr id="10" name="图片 1">
            <a:extLst>
              <a:ext uri="{FF2B5EF4-FFF2-40B4-BE49-F238E27FC236}">
                <a16:creationId xmlns:a16="http://schemas.microsoft.com/office/drawing/2014/main" id="{1C961017-D287-4AD4-88A5-DFA38DD3236E}"/>
              </a:ext>
            </a:extLst>
          </p:cNvPr>
          <p:cNvPicPr>
            <a:picLocks noChangeAspect="1"/>
          </p:cNvPicPr>
          <p:nvPr/>
        </p:nvPicPr>
        <p:blipFill>
          <a:blip r:embed="rId5"/>
          <a:stretch>
            <a:fillRect/>
          </a:stretch>
        </p:blipFill>
        <p:spPr>
          <a:xfrm>
            <a:off x="404371" y="1726758"/>
            <a:ext cx="4055067" cy="2226997"/>
          </a:xfrm>
          <a:prstGeom prst="rect">
            <a:avLst/>
          </a:prstGeom>
        </p:spPr>
      </p:pic>
      <p:sp>
        <p:nvSpPr>
          <p:cNvPr id="11" name="Text Box 9">
            <a:extLst>
              <a:ext uri="{FF2B5EF4-FFF2-40B4-BE49-F238E27FC236}">
                <a16:creationId xmlns:a16="http://schemas.microsoft.com/office/drawing/2014/main" id="{4F818EB6-9890-483A-AFE3-F106DE3AC6A9}"/>
              </a:ext>
            </a:extLst>
          </p:cNvPr>
          <p:cNvSpPr txBox="1">
            <a:spLocks noChangeArrowheads="1"/>
          </p:cNvSpPr>
          <p:nvPr/>
        </p:nvSpPr>
        <p:spPr bwMode="auto">
          <a:xfrm>
            <a:off x="4664075" y="5308600"/>
            <a:ext cx="427672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2-15 </a:t>
            </a:r>
            <a:r>
              <a:rPr lang="zh-CN" altLang="en-US" b="1" dirty="0">
                <a:solidFill>
                  <a:srgbClr val="000099"/>
                </a:solidFill>
              </a:rPr>
              <a:t>测小位移传感器示意图</a:t>
            </a:r>
          </a:p>
        </p:txBody>
      </p:sp>
      <p:sp>
        <p:nvSpPr>
          <p:cNvPr id="2" name="Slide Number Placeholder 1">
            <a:extLst>
              <a:ext uri="{FF2B5EF4-FFF2-40B4-BE49-F238E27FC236}">
                <a16:creationId xmlns:a16="http://schemas.microsoft.com/office/drawing/2014/main" id="{09AC3446-BCF2-457D-A8EA-9BE69683846D}"/>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Tree>
    <p:extLst>
      <p:ext uri="{BB962C8B-B14F-4D97-AF65-F5344CB8AC3E}">
        <p14:creationId xmlns:p14="http://schemas.microsoft.com/office/powerpoint/2010/main" val="33160559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A99B6DE5-A59E-409E-85E5-377B51F718E1}"/>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8" name="圆角矩形 43">
            <a:extLst>
              <a:ext uri="{FF2B5EF4-FFF2-40B4-BE49-F238E27FC236}">
                <a16:creationId xmlns:a16="http://schemas.microsoft.com/office/drawing/2014/main" id="{6F9971D7-A9C0-44BE-B6BA-E0FED415DA11}"/>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2.1.5</a:t>
            </a:r>
          </a:p>
        </p:txBody>
      </p:sp>
      <p:sp>
        <p:nvSpPr>
          <p:cNvPr id="9" name="矩形 45">
            <a:extLst>
              <a:ext uri="{FF2B5EF4-FFF2-40B4-BE49-F238E27FC236}">
                <a16:creationId xmlns:a16="http://schemas.microsoft.com/office/drawing/2014/main" id="{63F3FEC0-53BD-4124-A772-F3611ABF9830}"/>
              </a:ext>
            </a:extLst>
          </p:cNvPr>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电位器式传感器应用举例</a:t>
            </a:r>
          </a:p>
        </p:txBody>
      </p:sp>
      <p:sp>
        <p:nvSpPr>
          <p:cNvPr id="5" name="Rectangle 2">
            <a:extLst>
              <a:ext uri="{FF2B5EF4-FFF2-40B4-BE49-F238E27FC236}">
                <a16:creationId xmlns:a16="http://schemas.microsoft.com/office/drawing/2014/main" id="{E94B09B6-1F4D-4350-8E0F-6D0346D17A07}"/>
              </a:ext>
            </a:extLst>
          </p:cNvPr>
          <p:cNvSpPr>
            <a:spLocks noChangeArrowheads="1"/>
          </p:cNvSpPr>
          <p:nvPr/>
        </p:nvSpPr>
        <p:spPr bwMode="auto">
          <a:xfrm>
            <a:off x="4124325" y="34671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88DDFEF6-C991-4C8E-809D-5E2566508878}"/>
              </a:ext>
            </a:extLst>
          </p:cNvPr>
          <p:cNvSpPr txBox="1">
            <a:spLocks noChangeArrowheads="1"/>
          </p:cNvSpPr>
          <p:nvPr/>
        </p:nvSpPr>
        <p:spPr bwMode="auto">
          <a:xfrm>
            <a:off x="1701800" y="5600700"/>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2-16 </a:t>
            </a:r>
            <a:r>
              <a:rPr lang="zh-CN" altLang="en-US" b="1" dirty="0">
                <a:solidFill>
                  <a:srgbClr val="000099"/>
                </a:solidFill>
              </a:rPr>
              <a:t>电位器式加速度传感器示意图</a:t>
            </a:r>
          </a:p>
        </p:txBody>
      </p:sp>
      <p:pic>
        <p:nvPicPr>
          <p:cNvPr id="10" name="图片 1">
            <a:extLst>
              <a:ext uri="{FF2B5EF4-FFF2-40B4-BE49-F238E27FC236}">
                <a16:creationId xmlns:a16="http://schemas.microsoft.com/office/drawing/2014/main" id="{1AF3EBE9-C2E2-4996-B51C-3DF5FDE30C31}"/>
              </a:ext>
            </a:extLst>
          </p:cNvPr>
          <p:cNvPicPr>
            <a:picLocks noChangeAspect="1"/>
          </p:cNvPicPr>
          <p:nvPr/>
        </p:nvPicPr>
        <p:blipFill>
          <a:blip r:embed="rId3"/>
          <a:stretch>
            <a:fillRect/>
          </a:stretch>
        </p:blipFill>
        <p:spPr>
          <a:xfrm>
            <a:off x="845656" y="1615852"/>
            <a:ext cx="7203631" cy="3731865"/>
          </a:xfrm>
          <a:prstGeom prst="rect">
            <a:avLst/>
          </a:prstGeom>
        </p:spPr>
      </p:pic>
      <p:sp>
        <p:nvSpPr>
          <p:cNvPr id="2" name="Slide Number Placeholder 1">
            <a:extLst>
              <a:ext uri="{FF2B5EF4-FFF2-40B4-BE49-F238E27FC236}">
                <a16:creationId xmlns:a16="http://schemas.microsoft.com/office/drawing/2014/main" id="{5B37F575-2EDE-4C26-B796-1C3269486817}"/>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Tree>
    <p:extLst>
      <p:ext uri="{BB962C8B-B14F-4D97-AF65-F5344CB8AC3E}">
        <p14:creationId xmlns:p14="http://schemas.microsoft.com/office/powerpoint/2010/main" val="21235115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5209B4B6-7AD2-4819-866E-0CFF2F8A04D3}"/>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2.2</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应变片式传感器</a:t>
            </a:r>
          </a:p>
        </p:txBody>
      </p:sp>
      <p:sp>
        <p:nvSpPr>
          <p:cNvPr id="3" name="矩形 2"/>
          <p:cNvSpPr/>
          <p:nvPr/>
        </p:nvSpPr>
        <p:spPr>
          <a:xfrm>
            <a:off x="2850707" y="1786557"/>
            <a:ext cx="5369566" cy="4401203"/>
          </a:xfrm>
          <a:prstGeom prst="rect">
            <a:avLst/>
          </a:prstGeom>
        </p:spPr>
        <p:txBody>
          <a:bodyPr wrap="square" lIns="91438" tIns="45719" rIns="91438" bIns="45719">
            <a:spAutoFit/>
          </a:bodyPr>
          <a:lstStyle/>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电阻应变片的工作原理</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金属电阻应变片主要特性</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温度误差及补偿</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6" action="ppaction://hlinksldjump"/>
              </a:rPr>
              <a:t>应变片式电阻传感器的测量电路</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7" action="ppaction://hlinksldjump"/>
              </a:rPr>
              <a:t>应变片式电阻传感器的应用举例</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3" name="矩形 22"/>
          <p:cNvSpPr/>
          <p:nvPr/>
        </p:nvSpPr>
        <p:spPr>
          <a:xfrm>
            <a:off x="1571711" y="1324892"/>
            <a:ext cx="3483646" cy="461665"/>
          </a:xfrm>
          <a:prstGeom prst="rect">
            <a:avLst/>
          </a:prstGeom>
        </p:spPr>
        <p:txBody>
          <a:bodyPr wrap="none">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Times New Roman" panose="02020603050405020304" pitchFamily="18" charset="0"/>
                <a:ea typeface="宋体" panose="02010600030101010101" pitchFamily="2" charset="-122"/>
              </a:rPr>
              <a:t>Strain Gauge</a:t>
            </a:r>
            <a:endParaRPr lang="zh-CN" altLang="en-US" sz="2400" dirty="0">
              <a:solidFill>
                <a:srgbClr val="C00000"/>
              </a:solidFill>
              <a:latin typeface="宋体" panose="02010600030101010101" pitchFamily="2" charset="-122"/>
              <a:ea typeface="宋体" panose="02010600030101010101" pitchFamily="2" charset="-122"/>
            </a:endParaRPr>
          </a:p>
        </p:txBody>
      </p:sp>
      <p:sp>
        <p:nvSpPr>
          <p:cNvPr id="20" name="圆角矩形 72">
            <a:extLst>
              <a:ext uri="{FF2B5EF4-FFF2-40B4-BE49-F238E27FC236}">
                <a16:creationId xmlns:a16="http://schemas.microsoft.com/office/drawing/2014/main" id="{343D7C8A-72E9-4E11-82F9-04D1F37F1B07}"/>
              </a:ext>
            </a:extLst>
          </p:cNvPr>
          <p:cNvSpPr/>
          <p:nvPr/>
        </p:nvSpPr>
        <p:spPr>
          <a:xfrm rot="10800000" flipV="1">
            <a:off x="1727302" y="2052606"/>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3">
            <a:extLst>
              <a:ext uri="{FF2B5EF4-FFF2-40B4-BE49-F238E27FC236}">
                <a16:creationId xmlns:a16="http://schemas.microsoft.com/office/drawing/2014/main" id="{7997A031-0667-4F3B-9AA0-BAB02B443096}"/>
              </a:ext>
            </a:extLst>
          </p:cNvPr>
          <p:cNvSpPr/>
          <p:nvPr/>
        </p:nvSpPr>
        <p:spPr>
          <a:xfrm rot="10800000" flipV="1">
            <a:off x="1727298" y="2916053"/>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4" name="圆角矩形 72">
            <a:extLst>
              <a:ext uri="{FF2B5EF4-FFF2-40B4-BE49-F238E27FC236}">
                <a16:creationId xmlns:a16="http://schemas.microsoft.com/office/drawing/2014/main" id="{343D7C8A-72E9-4E11-82F9-04D1F37F1B07}"/>
              </a:ext>
            </a:extLst>
          </p:cNvPr>
          <p:cNvSpPr/>
          <p:nvPr/>
        </p:nvSpPr>
        <p:spPr>
          <a:xfrm rot="10800000" flipV="1">
            <a:off x="1733007" y="3773548"/>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6" name="圆角矩形 73">
            <a:extLst>
              <a:ext uri="{FF2B5EF4-FFF2-40B4-BE49-F238E27FC236}">
                <a16:creationId xmlns:a16="http://schemas.microsoft.com/office/drawing/2014/main" id="{7997A031-0667-4F3B-9AA0-BAB02B443096}"/>
              </a:ext>
            </a:extLst>
          </p:cNvPr>
          <p:cNvSpPr/>
          <p:nvPr/>
        </p:nvSpPr>
        <p:spPr>
          <a:xfrm rot="10800000" flipV="1">
            <a:off x="1733003" y="4644811"/>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2.2.4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8" name="圆角矩形 72">
            <a:extLst>
              <a:ext uri="{FF2B5EF4-FFF2-40B4-BE49-F238E27FC236}">
                <a16:creationId xmlns:a16="http://schemas.microsoft.com/office/drawing/2014/main" id="{343D7C8A-72E9-4E11-82F9-04D1F37F1B07}"/>
              </a:ext>
            </a:extLst>
          </p:cNvPr>
          <p:cNvSpPr/>
          <p:nvPr/>
        </p:nvSpPr>
        <p:spPr>
          <a:xfrm rot="10800000" flipV="1">
            <a:off x="1727302" y="548352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2.2.5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FB66128F-31EE-4DF8-BAA8-0E856398EF7D}"/>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116AA736-C54B-41FE-9484-926F15182877}"/>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14" name="Text Box 9">
            <a:extLst>
              <a:ext uri="{FF2B5EF4-FFF2-40B4-BE49-F238E27FC236}">
                <a16:creationId xmlns:a16="http://schemas.microsoft.com/office/drawing/2014/main" id="{2C920A85-06FB-4EE8-AFE1-D83BA50D197A}"/>
              </a:ext>
            </a:extLst>
          </p:cNvPr>
          <p:cNvSpPr txBox="1">
            <a:spLocks noChangeArrowheads="1"/>
          </p:cNvSpPr>
          <p:nvPr/>
        </p:nvSpPr>
        <p:spPr bwMode="auto">
          <a:xfrm>
            <a:off x="2169205" y="5962468"/>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2-17 </a:t>
            </a:r>
            <a:r>
              <a:rPr lang="zh-CN" altLang="en-US" b="1" dirty="0">
                <a:solidFill>
                  <a:srgbClr val="000099"/>
                </a:solidFill>
              </a:rPr>
              <a:t>金属丝伸长后的几何尺寸</a:t>
            </a:r>
          </a:p>
        </p:txBody>
      </p:sp>
      <p:graphicFrame>
        <p:nvGraphicFramePr>
          <p:cNvPr id="15" name="Object 27">
            <a:extLst>
              <a:ext uri="{FF2B5EF4-FFF2-40B4-BE49-F238E27FC236}">
                <a16:creationId xmlns:a16="http://schemas.microsoft.com/office/drawing/2014/main" id="{1D428E1A-3ECF-4E2F-9553-06FA2F24CD5D}"/>
              </a:ext>
            </a:extLst>
          </p:cNvPr>
          <p:cNvGraphicFramePr>
            <a:graphicFrameLocks noChangeAspect="1"/>
          </p:cNvGraphicFramePr>
          <p:nvPr>
            <p:extLst>
              <p:ext uri="{D42A27DB-BD31-4B8C-83A1-F6EECF244321}">
                <p14:modId xmlns:p14="http://schemas.microsoft.com/office/powerpoint/2010/main" val="4292219651"/>
              </p:ext>
            </p:extLst>
          </p:nvPr>
        </p:nvGraphicFramePr>
        <p:xfrm>
          <a:off x="492532" y="2560009"/>
          <a:ext cx="8000186" cy="3206260"/>
        </p:xfrm>
        <a:graphic>
          <a:graphicData uri="http://schemas.openxmlformats.org/presentationml/2006/ole">
            <mc:AlternateContent xmlns:mc="http://schemas.openxmlformats.org/markup-compatibility/2006">
              <mc:Choice xmlns:v="urn:schemas-microsoft-com:vml" Requires="v">
                <p:oleObj name="Image" r:id="rId3" imgW="17358367" imgH="6955102" progId="Photoshop.Image.7">
                  <p:embed/>
                </p:oleObj>
              </mc:Choice>
              <mc:Fallback>
                <p:oleObj name="Image" r:id="rId3" imgW="17358367" imgH="6955102" progId="Photoshop.Image.7">
                  <p:embed/>
                  <p:pic>
                    <p:nvPicPr>
                      <p:cNvPr id="2075"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532" y="2560009"/>
                        <a:ext cx="8000186" cy="3206260"/>
                      </a:xfrm>
                      <a:prstGeom prst="rect">
                        <a:avLst/>
                      </a:prstGeom>
                      <a:noFill/>
                      <a:ln>
                        <a:noFill/>
                      </a:ln>
                      <a:effectLst/>
                    </p:spPr>
                  </p:pic>
                </p:oleObj>
              </mc:Fallback>
            </mc:AlternateContent>
          </a:graphicData>
        </a:graphic>
      </p:graphicFrame>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2.2.1</a:t>
            </a:r>
          </a:p>
        </p:txBody>
      </p:sp>
      <p:sp>
        <p:nvSpPr>
          <p:cNvPr id="46" name="矩形 45"/>
          <p:cNvSpPr/>
          <p:nvPr/>
        </p:nvSpPr>
        <p:spPr>
          <a:xfrm>
            <a:off x="1960200"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电阻应变片的工作原理</a:t>
            </a:r>
          </a:p>
        </p:txBody>
      </p:sp>
      <p:sp>
        <p:nvSpPr>
          <p:cNvPr id="5" name="矩形 4"/>
          <p:cNvSpPr/>
          <p:nvPr/>
        </p:nvSpPr>
        <p:spPr>
          <a:xfrm>
            <a:off x="964073" y="1259510"/>
            <a:ext cx="7330154" cy="1772343"/>
          </a:xfrm>
          <a:prstGeom prst="rect">
            <a:avLst/>
          </a:prstGeom>
        </p:spPr>
        <p:txBody>
          <a:bodyPr wrap="square" lIns="91438" tIns="45719" rIns="91438" bIns="45719">
            <a:spAutoFit/>
          </a:bodyPr>
          <a:lstStyle/>
          <a:p>
            <a:pPr indent="630238">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电阻应变片的工作原理是基于电阻</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sym typeface="+mn-ea"/>
              </a:rPr>
              <a:t>应变效应</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，即在导体产生机械变形时，它的电阻值相应发生变化。</a:t>
            </a:r>
            <a:endParaRPr lang="en-US" altLang="zh-CN" sz="2400" b="1" dirty="0">
              <a:latin typeface="Arial" panose="020B0604020202020204" pitchFamily="34" charset="0"/>
              <a:ea typeface="宋体" panose="02010600030101010101" pitchFamily="2" charset="-122"/>
              <a:cs typeface="Arial" panose="020B0604020202020204" pitchFamily="34" charset="0"/>
              <a:sym typeface="+mn-ea"/>
            </a:endParaRPr>
          </a:p>
          <a:p>
            <a:pPr indent="630238">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有时也称为</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sym typeface="+mn-ea"/>
              </a:rPr>
              <a:t>应变计</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a:t>
            </a:r>
            <a:endParaRPr lang="en-US" altLang="zh-CN" sz="2400" b="1"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54F73793-9F45-4068-922D-5C39D10F8D62}"/>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4">
            <a:extLst>
              <a:ext uri="{FF2B5EF4-FFF2-40B4-BE49-F238E27FC236}">
                <a16:creationId xmlns:a16="http://schemas.microsoft.com/office/drawing/2014/main" id="{334DC954-2A4A-483C-8EF4-E6D90855E447}"/>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14" name="Text Box 9">
            <a:extLst>
              <a:ext uri="{FF2B5EF4-FFF2-40B4-BE49-F238E27FC236}">
                <a16:creationId xmlns:a16="http://schemas.microsoft.com/office/drawing/2014/main" id="{2C920A85-06FB-4EE8-AFE1-D83BA50D197A}"/>
              </a:ext>
            </a:extLst>
          </p:cNvPr>
          <p:cNvSpPr txBox="1">
            <a:spLocks noChangeArrowheads="1"/>
          </p:cNvSpPr>
          <p:nvPr/>
        </p:nvSpPr>
        <p:spPr bwMode="auto">
          <a:xfrm>
            <a:off x="1960200" y="6136383"/>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2-17 </a:t>
            </a:r>
            <a:r>
              <a:rPr lang="zh-CN" altLang="en-US" b="1" dirty="0">
                <a:solidFill>
                  <a:srgbClr val="000099"/>
                </a:solidFill>
              </a:rPr>
              <a:t>金属丝伸长后的几何尺寸</a:t>
            </a:r>
          </a:p>
        </p:txBody>
      </p:sp>
      <p:graphicFrame>
        <p:nvGraphicFramePr>
          <p:cNvPr id="15" name="Object 27">
            <a:extLst>
              <a:ext uri="{FF2B5EF4-FFF2-40B4-BE49-F238E27FC236}">
                <a16:creationId xmlns:a16="http://schemas.microsoft.com/office/drawing/2014/main" id="{1D428E1A-3ECF-4E2F-9553-06FA2F24CD5D}"/>
              </a:ext>
            </a:extLst>
          </p:cNvPr>
          <p:cNvGraphicFramePr>
            <a:graphicFrameLocks noChangeAspect="1"/>
          </p:cNvGraphicFramePr>
          <p:nvPr>
            <p:extLst>
              <p:ext uri="{D42A27DB-BD31-4B8C-83A1-F6EECF244321}">
                <p14:modId xmlns:p14="http://schemas.microsoft.com/office/powerpoint/2010/main" val="3233458535"/>
              </p:ext>
            </p:extLst>
          </p:nvPr>
        </p:nvGraphicFramePr>
        <p:xfrm>
          <a:off x="492532" y="2930123"/>
          <a:ext cx="8000186" cy="3206260"/>
        </p:xfrm>
        <a:graphic>
          <a:graphicData uri="http://schemas.openxmlformats.org/presentationml/2006/ole">
            <mc:AlternateContent xmlns:mc="http://schemas.openxmlformats.org/markup-compatibility/2006">
              <mc:Choice xmlns:v="urn:schemas-microsoft-com:vml" Requires="v">
                <p:oleObj name="Image" r:id="rId3" imgW="17358367" imgH="6955102" progId="Photoshop.Image.7">
                  <p:embed/>
                </p:oleObj>
              </mc:Choice>
              <mc:Fallback>
                <p:oleObj name="Image" r:id="rId3" imgW="17358367" imgH="6955102" progId="Photoshop.Image.7">
                  <p:embed/>
                  <p:pic>
                    <p:nvPicPr>
                      <p:cNvPr id="15" name="Object 27">
                        <a:extLst>
                          <a:ext uri="{FF2B5EF4-FFF2-40B4-BE49-F238E27FC236}">
                            <a16:creationId xmlns:a16="http://schemas.microsoft.com/office/drawing/2014/main" id="{1D428E1A-3ECF-4E2F-9553-06FA2F24CD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532" y="2930123"/>
                        <a:ext cx="8000186" cy="3206260"/>
                      </a:xfrm>
                      <a:prstGeom prst="rect">
                        <a:avLst/>
                      </a:prstGeom>
                      <a:noFill/>
                      <a:ln>
                        <a:noFill/>
                      </a:ln>
                      <a:effectLst/>
                    </p:spPr>
                  </p:pic>
                </p:oleObj>
              </mc:Fallback>
            </mc:AlternateContent>
          </a:graphicData>
        </a:graphic>
      </p:graphicFrame>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2.2.1</a:t>
            </a:r>
          </a:p>
        </p:txBody>
      </p:sp>
      <p:sp>
        <p:nvSpPr>
          <p:cNvPr id="46" name="矩形 45"/>
          <p:cNvSpPr/>
          <p:nvPr/>
        </p:nvSpPr>
        <p:spPr>
          <a:xfrm>
            <a:off x="1960200"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电阻应变片的工作原理</a:t>
            </a:r>
          </a:p>
        </p:txBody>
      </p:sp>
      <p:graphicFrame>
        <p:nvGraphicFramePr>
          <p:cNvPr id="8" name="Object 28">
            <a:extLst>
              <a:ext uri="{FF2B5EF4-FFF2-40B4-BE49-F238E27FC236}">
                <a16:creationId xmlns:a16="http://schemas.microsoft.com/office/drawing/2014/main" id="{AF31560C-46E1-4B3F-BFC4-945A464D9E73}"/>
              </a:ext>
            </a:extLst>
          </p:cNvPr>
          <p:cNvGraphicFramePr>
            <a:graphicFrameLocks noChangeAspect="1"/>
          </p:cNvGraphicFramePr>
          <p:nvPr>
            <p:extLst>
              <p:ext uri="{D42A27DB-BD31-4B8C-83A1-F6EECF244321}">
                <p14:modId xmlns:p14="http://schemas.microsoft.com/office/powerpoint/2010/main" val="2860997971"/>
              </p:ext>
            </p:extLst>
          </p:nvPr>
        </p:nvGraphicFramePr>
        <p:xfrm>
          <a:off x="1717110" y="1247561"/>
          <a:ext cx="1295400" cy="791467"/>
        </p:xfrm>
        <a:graphic>
          <a:graphicData uri="http://schemas.openxmlformats.org/presentationml/2006/ole">
            <mc:AlternateContent xmlns:mc="http://schemas.openxmlformats.org/markup-compatibility/2006">
              <mc:Choice xmlns:v="urn:schemas-microsoft-com:vml" Requires="v">
                <p:oleObj r:id="rId5" imgW="545863" imgH="393529" progId="Equation.3">
                  <p:embed/>
                </p:oleObj>
              </mc:Choice>
              <mc:Fallback>
                <p:oleObj r:id="rId5" imgW="545863" imgH="393529" progId="Equation.3">
                  <p:embed/>
                  <p:pic>
                    <p:nvPicPr>
                      <p:cNvPr id="6"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7110" y="1247561"/>
                        <a:ext cx="1295400" cy="791467"/>
                      </a:xfrm>
                      <a:prstGeom prst="rect">
                        <a:avLst/>
                      </a:prstGeom>
                      <a:noFill/>
                    </p:spPr>
                  </p:pic>
                </p:oleObj>
              </mc:Fallback>
            </mc:AlternateContent>
          </a:graphicData>
        </a:graphic>
      </p:graphicFrame>
      <p:graphicFrame>
        <p:nvGraphicFramePr>
          <p:cNvPr id="9" name="Object 30">
            <a:extLst>
              <a:ext uri="{FF2B5EF4-FFF2-40B4-BE49-F238E27FC236}">
                <a16:creationId xmlns:a16="http://schemas.microsoft.com/office/drawing/2014/main" id="{9FF2E9A4-7407-49B3-B651-85D98655A639}"/>
              </a:ext>
            </a:extLst>
          </p:cNvPr>
          <p:cNvGraphicFramePr>
            <a:graphicFrameLocks noChangeAspect="1"/>
          </p:cNvGraphicFramePr>
          <p:nvPr>
            <p:extLst>
              <p:ext uri="{D42A27DB-BD31-4B8C-83A1-F6EECF244321}">
                <p14:modId xmlns:p14="http://schemas.microsoft.com/office/powerpoint/2010/main" val="2002134684"/>
              </p:ext>
            </p:extLst>
          </p:nvPr>
        </p:nvGraphicFramePr>
        <p:xfrm>
          <a:off x="3609410" y="1292451"/>
          <a:ext cx="2819400" cy="768545"/>
        </p:xfrm>
        <a:graphic>
          <a:graphicData uri="http://schemas.openxmlformats.org/presentationml/2006/ole">
            <mc:AlternateContent xmlns:mc="http://schemas.openxmlformats.org/markup-compatibility/2006">
              <mc:Choice xmlns:v="urn:schemas-microsoft-com:vml" Requires="v">
                <p:oleObj r:id="rId7" imgW="1308100" imgH="419100" progId="Equation.3">
                  <p:embed/>
                </p:oleObj>
              </mc:Choice>
              <mc:Fallback>
                <p:oleObj r:id="rId7" imgW="1308100" imgH="419100" progId="Equation.3">
                  <p:embed/>
                  <p:pic>
                    <p:nvPicPr>
                      <p:cNvPr id="7"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9410" y="1292451"/>
                        <a:ext cx="2819400" cy="768545"/>
                      </a:xfrm>
                      <a:prstGeom prst="rect">
                        <a:avLst/>
                      </a:prstGeom>
                      <a:noFill/>
                    </p:spPr>
                  </p:pic>
                </p:oleObj>
              </mc:Fallback>
            </mc:AlternateContent>
          </a:graphicData>
        </a:graphic>
      </p:graphicFrame>
      <p:sp>
        <p:nvSpPr>
          <p:cNvPr id="10" name="Text Box 32">
            <a:extLst>
              <a:ext uri="{FF2B5EF4-FFF2-40B4-BE49-F238E27FC236}">
                <a16:creationId xmlns:a16="http://schemas.microsoft.com/office/drawing/2014/main" id="{C2958B10-E6FB-49F1-92F9-EC5FB7A958EA}"/>
              </a:ext>
            </a:extLst>
          </p:cNvPr>
          <p:cNvSpPr txBox="1">
            <a:spLocks noChangeArrowheads="1"/>
          </p:cNvSpPr>
          <p:nvPr/>
        </p:nvSpPr>
        <p:spPr bwMode="auto">
          <a:xfrm>
            <a:off x="793750" y="2097929"/>
            <a:ext cx="7397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Times New Roman" pitchFamily="18" charset="0"/>
                <a:ea typeface="宋体" panose="02010600030101010101" pitchFamily="2" charset="-122"/>
                <a:cs typeface="Times New Roman" pitchFamily="18" charset="0"/>
              </a:rPr>
              <a:t>轴向应变</a:t>
            </a:r>
            <a:r>
              <a:rPr lang="en-US" altLang="zh-CN" sz="2400" dirty="0">
                <a:latin typeface="Times New Roman" pitchFamily="18" charset="0"/>
                <a:ea typeface="宋体" panose="02010600030101010101" pitchFamily="2" charset="-122"/>
                <a:cs typeface="Times New Roman" pitchFamily="18" charset="0"/>
              </a:rPr>
              <a:t>ε=</a:t>
            </a:r>
            <a:r>
              <a:rPr lang="en-US" altLang="zh-CN" sz="2400" dirty="0" err="1">
                <a:latin typeface="Times New Roman" pitchFamily="18" charset="0"/>
                <a:ea typeface="宋体" panose="02010600030101010101" pitchFamily="2" charset="-122"/>
                <a:cs typeface="Times New Roman" pitchFamily="18" charset="0"/>
              </a:rPr>
              <a:t>Δ</a:t>
            </a:r>
            <a:r>
              <a:rPr lang="en-US" altLang="zh-CN" sz="2400" i="1" dirty="0" err="1">
                <a:latin typeface="Times New Roman" pitchFamily="18" charset="0"/>
                <a:ea typeface="宋体" panose="02010600030101010101" pitchFamily="2" charset="-122"/>
                <a:cs typeface="Times New Roman" pitchFamily="18" charset="0"/>
              </a:rPr>
              <a:t>l</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l</a:t>
            </a:r>
            <a:r>
              <a:rPr lang="zh-CN" altLang="en-US" sz="2400" b="1" dirty="0">
                <a:latin typeface="Times New Roman" pitchFamily="18" charset="0"/>
                <a:ea typeface="宋体" panose="02010600030101010101" pitchFamily="2" charset="-122"/>
                <a:cs typeface="Times New Roman" pitchFamily="18" charset="0"/>
              </a:rPr>
              <a:t>，径向应变为</a:t>
            </a:r>
            <a:r>
              <a:rPr lang="en-US" altLang="zh-CN" sz="2400" dirty="0" err="1">
                <a:latin typeface="Times New Roman" pitchFamily="18" charset="0"/>
                <a:ea typeface="宋体" panose="02010600030101010101" pitchFamily="2" charset="-122"/>
                <a:cs typeface="Times New Roman" pitchFamily="18" charset="0"/>
              </a:rPr>
              <a:t>Δ</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dirty="0">
                <a:latin typeface="Times New Roman" pitchFamily="18" charset="0"/>
                <a:ea typeface="宋体" panose="02010600030101010101" pitchFamily="2" charset="-122"/>
                <a:cs typeface="Times New Roman" pitchFamily="18" charset="0"/>
              </a:rPr>
              <a:t>/</a:t>
            </a:r>
            <a:r>
              <a:rPr lang="en-US" altLang="zh-CN" sz="2400" i="1">
                <a:latin typeface="Times New Roman" pitchFamily="18" charset="0"/>
                <a:ea typeface="宋体" panose="02010600030101010101" pitchFamily="2" charset="-122"/>
                <a:cs typeface="Times New Roman" pitchFamily="18" charset="0"/>
              </a:rPr>
              <a:t>r</a:t>
            </a:r>
            <a:r>
              <a:rPr lang="en-US" altLang="zh-CN" sz="2400" b="1" i="1">
                <a:latin typeface="Times New Roman" pitchFamily="18" charset="0"/>
                <a:ea typeface="宋体" panose="02010600030101010101" pitchFamily="2" charset="-122"/>
                <a:cs typeface="Times New Roman" pitchFamily="18" charset="0"/>
              </a:rPr>
              <a:t>, </a:t>
            </a:r>
            <a:r>
              <a:rPr lang="zh-CN" altLang="en-US" sz="2400" b="1">
                <a:latin typeface="Times New Roman" pitchFamily="18" charset="0"/>
                <a:ea typeface="宋体" panose="02010600030101010101" pitchFamily="2" charset="-122"/>
                <a:cs typeface="Times New Roman" pitchFamily="18" charset="0"/>
              </a:rPr>
              <a:t>有</a:t>
            </a:r>
            <a:r>
              <a:rPr lang="en-US" altLang="zh-CN" sz="2400" dirty="0" err="1">
                <a:latin typeface="Times New Roman" pitchFamily="18" charset="0"/>
                <a:ea typeface="宋体" panose="02010600030101010101" pitchFamily="2" charset="-122"/>
                <a:cs typeface="Times New Roman" pitchFamily="18" charset="0"/>
              </a:rPr>
              <a:t>Δ</a:t>
            </a:r>
            <a:r>
              <a:rPr lang="en-US" altLang="zh-CN" sz="2400" i="1" dirty="0" err="1">
                <a:latin typeface="Times New Roman" pitchFamily="18" charset="0"/>
                <a:ea typeface="宋体" panose="02010600030101010101" pitchFamily="2" charset="-122"/>
                <a:cs typeface="Times New Roman" pitchFamily="18" charset="0"/>
              </a:rPr>
              <a:t>r</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r=-μ</a:t>
            </a:r>
            <a:r>
              <a:rPr lang="en-US" altLang="zh-CN" sz="2400" dirty="0">
                <a:latin typeface="Times New Roman" pitchFamily="18" charset="0"/>
                <a:ea typeface="宋体" panose="02010600030101010101" pitchFamily="2" charset="-122"/>
                <a:cs typeface="Times New Roman" pitchFamily="18" charset="0"/>
              </a:rPr>
              <a:t>(</a:t>
            </a:r>
            <a:r>
              <a:rPr lang="en-US" altLang="zh-CN" sz="2400" dirty="0" err="1">
                <a:latin typeface="Times New Roman" pitchFamily="18" charset="0"/>
                <a:ea typeface="宋体" panose="02010600030101010101" pitchFamily="2" charset="-122"/>
                <a:cs typeface="Times New Roman" pitchFamily="18" charset="0"/>
              </a:rPr>
              <a:t>Δ</a:t>
            </a:r>
            <a:r>
              <a:rPr lang="en-US" altLang="zh-CN" sz="2400" i="1" dirty="0" err="1">
                <a:latin typeface="Times New Roman" pitchFamily="18" charset="0"/>
                <a:ea typeface="宋体" panose="02010600030101010101" pitchFamily="2" charset="-122"/>
                <a:cs typeface="Times New Roman" pitchFamily="18" charset="0"/>
              </a:rPr>
              <a:t>l</a:t>
            </a:r>
            <a:r>
              <a:rPr lang="en-US" altLang="zh-CN" sz="2400" dirty="0">
                <a:latin typeface="Times New Roman" pitchFamily="18" charset="0"/>
                <a:ea typeface="宋体" panose="02010600030101010101" pitchFamily="2" charset="-122"/>
                <a:cs typeface="Times New Roman" pitchFamily="18" charset="0"/>
              </a:rPr>
              <a:t>/</a:t>
            </a:r>
            <a:r>
              <a:rPr lang="en-US" altLang="zh-CN" sz="2400" i="1" dirty="0">
                <a:latin typeface="Times New Roman" pitchFamily="18" charset="0"/>
                <a:ea typeface="宋体" panose="02010600030101010101" pitchFamily="2" charset="-122"/>
                <a:cs typeface="Times New Roman" pitchFamily="18" charset="0"/>
              </a:rPr>
              <a:t>l</a:t>
            </a:r>
            <a:r>
              <a:rPr lang="en-US" altLang="zh-CN" sz="2400" dirty="0">
                <a:latin typeface="Times New Roman" pitchFamily="18" charset="0"/>
                <a:ea typeface="宋体" panose="02010600030101010101" pitchFamily="2" charset="-122"/>
                <a:cs typeface="Times New Roman" pitchFamily="18" charset="0"/>
              </a:rPr>
              <a:t>)= </a:t>
            </a:r>
            <a:r>
              <a:rPr lang="en-US" altLang="zh-CN" sz="2400" i="1" dirty="0">
                <a:latin typeface="Times New Roman" pitchFamily="18" charset="0"/>
                <a:ea typeface="宋体" panose="02010600030101010101" pitchFamily="2" charset="-122"/>
                <a:cs typeface="Times New Roman" pitchFamily="18" charset="0"/>
              </a:rPr>
              <a:t>-</a:t>
            </a:r>
            <a:r>
              <a:rPr lang="en-US" altLang="zh-CN" sz="2400" i="1" dirty="0" err="1">
                <a:latin typeface="Times New Roman" pitchFamily="18" charset="0"/>
                <a:ea typeface="宋体" panose="02010600030101010101" pitchFamily="2" charset="-122"/>
                <a:cs typeface="Times New Roman" pitchFamily="18" charset="0"/>
              </a:rPr>
              <a:t>μ</a:t>
            </a:r>
            <a:r>
              <a:rPr lang="en-US" altLang="zh-CN" sz="2400" dirty="0" err="1">
                <a:latin typeface="Times New Roman" pitchFamily="18" charset="0"/>
                <a:ea typeface="宋体" panose="02010600030101010101" pitchFamily="2" charset="-122"/>
                <a:cs typeface="Times New Roman" pitchFamily="18" charset="0"/>
              </a:rPr>
              <a:t>ε</a:t>
            </a:r>
            <a:endParaRPr lang="en-US" altLang="zh-CN" sz="2400" dirty="0">
              <a:latin typeface="Times New Roman" pitchFamily="18" charset="0"/>
              <a:ea typeface="宋体" panose="02010600030101010101" pitchFamily="2" charset="-122"/>
              <a:cs typeface="Times New Roman" pitchFamily="18" charset="0"/>
            </a:endParaRPr>
          </a:p>
        </p:txBody>
      </p:sp>
      <p:graphicFrame>
        <p:nvGraphicFramePr>
          <p:cNvPr id="11" name="Object 33">
            <a:extLst>
              <a:ext uri="{FF2B5EF4-FFF2-40B4-BE49-F238E27FC236}">
                <a16:creationId xmlns:a16="http://schemas.microsoft.com/office/drawing/2014/main" id="{231BC0C0-EC3C-48C2-BC56-D923FF460301}"/>
              </a:ext>
            </a:extLst>
          </p:cNvPr>
          <p:cNvGraphicFramePr>
            <a:graphicFrameLocks noChangeAspect="1"/>
          </p:cNvGraphicFramePr>
          <p:nvPr>
            <p:extLst>
              <p:ext uri="{D42A27DB-BD31-4B8C-83A1-F6EECF244321}">
                <p14:modId xmlns:p14="http://schemas.microsoft.com/office/powerpoint/2010/main" val="1983197624"/>
              </p:ext>
            </p:extLst>
          </p:nvPr>
        </p:nvGraphicFramePr>
        <p:xfrm>
          <a:off x="3382503" y="2694615"/>
          <a:ext cx="3181350" cy="830844"/>
        </p:xfrm>
        <a:graphic>
          <a:graphicData uri="http://schemas.openxmlformats.org/presentationml/2006/ole">
            <mc:AlternateContent xmlns:mc="http://schemas.openxmlformats.org/markup-compatibility/2006">
              <mc:Choice xmlns:v="urn:schemas-microsoft-com:vml" Requires="v">
                <p:oleObj r:id="rId9" imgW="1497950" imgH="393529" progId="Equation.3">
                  <p:embed/>
                </p:oleObj>
              </mc:Choice>
              <mc:Fallback>
                <p:oleObj r:id="rId9" imgW="1497950" imgH="393529" progId="Equation.3">
                  <p:embed/>
                  <p:pic>
                    <p:nvPicPr>
                      <p:cNvPr id="9"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2503" y="2694615"/>
                        <a:ext cx="3181350" cy="830844"/>
                      </a:xfrm>
                      <a:prstGeom prst="rect">
                        <a:avLst/>
                      </a:prstGeom>
                      <a:noFill/>
                    </p:spPr>
                  </p:pic>
                </p:oleObj>
              </mc:Fallback>
            </mc:AlternateContent>
          </a:graphicData>
        </a:graphic>
      </p:graphicFrame>
      <p:graphicFrame>
        <p:nvGraphicFramePr>
          <p:cNvPr id="2" name="Object 1">
            <a:extLst>
              <a:ext uri="{FF2B5EF4-FFF2-40B4-BE49-F238E27FC236}">
                <a16:creationId xmlns:a16="http://schemas.microsoft.com/office/drawing/2014/main" id="{22B2E587-A660-49ED-B779-A17A6E264D00}"/>
              </a:ext>
            </a:extLst>
          </p:cNvPr>
          <p:cNvGraphicFramePr>
            <a:graphicFrameLocks noChangeAspect="1"/>
          </p:cNvGraphicFramePr>
          <p:nvPr>
            <p:extLst>
              <p:ext uri="{D42A27DB-BD31-4B8C-83A1-F6EECF244321}">
                <p14:modId xmlns:p14="http://schemas.microsoft.com/office/powerpoint/2010/main" val="1477850018"/>
              </p:ext>
            </p:extLst>
          </p:nvPr>
        </p:nvGraphicFramePr>
        <p:xfrm>
          <a:off x="1091777" y="2879205"/>
          <a:ext cx="1125306" cy="461664"/>
        </p:xfrm>
        <a:graphic>
          <a:graphicData uri="http://schemas.openxmlformats.org/presentationml/2006/ole">
            <mc:AlternateContent xmlns:mc="http://schemas.openxmlformats.org/markup-compatibility/2006">
              <mc:Choice xmlns:v="urn:schemas-microsoft-com:vml" Requires="v">
                <p:oleObj name="Equation" r:id="rId11" imgW="495000" imgH="203040" progId="Equation.DSMT4">
                  <p:embed/>
                </p:oleObj>
              </mc:Choice>
              <mc:Fallback>
                <p:oleObj name="Equation" r:id="rId11" imgW="495000" imgH="203040" progId="Equation.DSMT4">
                  <p:embed/>
                  <p:pic>
                    <p:nvPicPr>
                      <p:cNvPr id="0" name=""/>
                      <p:cNvPicPr/>
                      <p:nvPr/>
                    </p:nvPicPr>
                    <p:blipFill>
                      <a:blip r:embed="rId12"/>
                      <a:stretch>
                        <a:fillRect/>
                      </a:stretch>
                    </p:blipFill>
                    <p:spPr>
                      <a:xfrm>
                        <a:off x="1091777" y="2879205"/>
                        <a:ext cx="1125306" cy="461664"/>
                      </a:xfrm>
                      <a:prstGeom prst="rect">
                        <a:avLst/>
                      </a:prstGeom>
                    </p:spPr>
                  </p:pic>
                </p:oleObj>
              </mc:Fallback>
            </mc:AlternateContent>
          </a:graphicData>
        </a:graphic>
      </p:graphicFrame>
      <p:sp>
        <p:nvSpPr>
          <p:cNvPr id="12" name="Arrow: Right 11">
            <a:extLst>
              <a:ext uri="{FF2B5EF4-FFF2-40B4-BE49-F238E27FC236}">
                <a16:creationId xmlns:a16="http://schemas.microsoft.com/office/drawing/2014/main" id="{EE10DA5B-2167-4061-ABCD-872058E00F4C}"/>
              </a:ext>
            </a:extLst>
          </p:cNvPr>
          <p:cNvSpPr/>
          <p:nvPr/>
        </p:nvSpPr>
        <p:spPr>
          <a:xfrm>
            <a:off x="2444597" y="2979255"/>
            <a:ext cx="710391" cy="36430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CE8C452F-A992-4122-855F-D88C47F5F047}"/>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Tree>
    <p:extLst>
      <p:ext uri="{BB962C8B-B14F-4D97-AF65-F5344CB8AC3E}">
        <p14:creationId xmlns:p14="http://schemas.microsoft.com/office/powerpoint/2010/main" val="40988160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
            <a:extLst>
              <a:ext uri="{FF2B5EF4-FFF2-40B4-BE49-F238E27FC236}">
                <a16:creationId xmlns:a16="http://schemas.microsoft.com/office/drawing/2014/main" id="{89C763FE-E6F3-4351-82F4-C52C7DADA0B5}"/>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2.2.1</a:t>
            </a:r>
          </a:p>
        </p:txBody>
      </p:sp>
      <p:sp>
        <p:nvSpPr>
          <p:cNvPr id="46" name="矩形 45"/>
          <p:cNvSpPr/>
          <p:nvPr/>
        </p:nvSpPr>
        <p:spPr>
          <a:xfrm>
            <a:off x="1960200"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电阻应变片的工作原理</a:t>
            </a:r>
          </a:p>
        </p:txBody>
      </p:sp>
      <p:graphicFrame>
        <p:nvGraphicFramePr>
          <p:cNvPr id="21" name="Object 4">
            <a:extLst>
              <a:ext uri="{FF2B5EF4-FFF2-40B4-BE49-F238E27FC236}">
                <a16:creationId xmlns:a16="http://schemas.microsoft.com/office/drawing/2014/main" id="{62AF8726-A4E1-43E2-95BF-C6E75045ED83}"/>
              </a:ext>
            </a:extLst>
          </p:cNvPr>
          <p:cNvGraphicFramePr>
            <a:graphicFrameLocks noChangeAspect="1"/>
          </p:cNvGraphicFramePr>
          <p:nvPr>
            <p:extLst>
              <p:ext uri="{D42A27DB-BD31-4B8C-83A1-F6EECF244321}">
                <p14:modId xmlns:p14="http://schemas.microsoft.com/office/powerpoint/2010/main" val="4139383851"/>
              </p:ext>
            </p:extLst>
          </p:nvPr>
        </p:nvGraphicFramePr>
        <p:xfrm>
          <a:off x="1865982" y="2713215"/>
          <a:ext cx="4648200" cy="933450"/>
        </p:xfrm>
        <a:graphic>
          <a:graphicData uri="http://schemas.openxmlformats.org/presentationml/2006/ole">
            <mc:AlternateContent xmlns:mc="http://schemas.openxmlformats.org/markup-compatibility/2006">
              <mc:Choice xmlns:v="urn:schemas-microsoft-com:vml" Requires="v">
                <p:oleObj r:id="rId3" imgW="1943100" imgH="393700" progId="Equation.3">
                  <p:embed/>
                </p:oleObj>
              </mc:Choice>
              <mc:Fallback>
                <p:oleObj r:id="rId3" imgW="1943100" imgH="393700" progId="Equation.3">
                  <p:embed/>
                  <p:pic>
                    <p:nvPicPr>
                      <p:cNvPr id="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982" y="2713215"/>
                        <a:ext cx="464820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6">
            <a:extLst>
              <a:ext uri="{FF2B5EF4-FFF2-40B4-BE49-F238E27FC236}">
                <a16:creationId xmlns:a16="http://schemas.microsoft.com/office/drawing/2014/main" id="{957BCD68-5CDD-4647-947A-733BFF727E17}"/>
              </a:ext>
            </a:extLst>
          </p:cNvPr>
          <p:cNvSpPr txBox="1">
            <a:spLocks noChangeArrowheads="1"/>
          </p:cNvSpPr>
          <p:nvPr/>
        </p:nvSpPr>
        <p:spPr bwMode="auto">
          <a:xfrm>
            <a:off x="475488" y="3932415"/>
            <a:ext cx="4286094"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宋体" panose="02010600030101010101" pitchFamily="2" charset="-122"/>
                <a:ea typeface="宋体" panose="02010600030101010101" pitchFamily="2" charset="-122"/>
              </a:rPr>
              <a:t>受力后由材料的</a:t>
            </a:r>
            <a:r>
              <a:rPr lang="zh-CN" altLang="en-US" sz="2400" b="1" dirty="0">
                <a:solidFill>
                  <a:srgbClr val="FF0000"/>
                </a:solidFill>
                <a:latin typeface="宋体" panose="02010600030101010101" pitchFamily="2" charset="-122"/>
                <a:ea typeface="宋体" panose="02010600030101010101" pitchFamily="2" charset="-122"/>
              </a:rPr>
              <a:t>几何尺寸变化</a:t>
            </a:r>
            <a:r>
              <a:rPr lang="zh-CN" altLang="en-US" sz="2400" b="1" dirty="0">
                <a:latin typeface="宋体" panose="02010600030101010101" pitchFamily="2" charset="-122"/>
                <a:ea typeface="宋体" panose="02010600030101010101" pitchFamily="2" charset="-122"/>
              </a:rPr>
              <a:t>引起</a:t>
            </a:r>
          </a:p>
        </p:txBody>
      </p:sp>
      <p:sp>
        <p:nvSpPr>
          <p:cNvPr id="23" name="Text Box 7">
            <a:extLst>
              <a:ext uri="{FF2B5EF4-FFF2-40B4-BE49-F238E27FC236}">
                <a16:creationId xmlns:a16="http://schemas.microsoft.com/office/drawing/2014/main" id="{9122449A-558A-4D3B-8301-C6ACD047D8DC}"/>
              </a:ext>
            </a:extLst>
          </p:cNvPr>
          <p:cNvSpPr txBox="1">
            <a:spLocks noChangeArrowheads="1"/>
          </p:cNvSpPr>
          <p:nvPr/>
        </p:nvSpPr>
        <p:spPr bwMode="auto">
          <a:xfrm>
            <a:off x="5087718" y="3932415"/>
            <a:ext cx="3934818"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a:latin typeface="宋体" panose="02010600030101010101" pitchFamily="2" charset="-122"/>
                <a:ea typeface="宋体" panose="02010600030101010101" pitchFamily="2" charset="-122"/>
              </a:rPr>
              <a:t>受力后由材料的</a:t>
            </a:r>
            <a:r>
              <a:rPr lang="zh-CN" altLang="en-US" sz="2400" b="1">
                <a:solidFill>
                  <a:srgbClr val="FF0000"/>
                </a:solidFill>
                <a:latin typeface="宋体" panose="02010600030101010101" pitchFamily="2" charset="-122"/>
                <a:ea typeface="宋体" panose="02010600030101010101" pitchFamily="2" charset="-122"/>
              </a:rPr>
              <a:t>电阻率变化</a:t>
            </a:r>
            <a:r>
              <a:rPr lang="zh-CN" altLang="en-US" sz="2400" b="1">
                <a:latin typeface="宋体" panose="02010600030101010101" pitchFamily="2" charset="-122"/>
                <a:ea typeface="宋体" panose="02010600030101010101" pitchFamily="2" charset="-122"/>
              </a:rPr>
              <a:t>引起</a:t>
            </a:r>
          </a:p>
        </p:txBody>
      </p:sp>
      <p:sp>
        <p:nvSpPr>
          <p:cNvPr id="24" name="Line 8">
            <a:extLst>
              <a:ext uri="{FF2B5EF4-FFF2-40B4-BE49-F238E27FC236}">
                <a16:creationId xmlns:a16="http://schemas.microsoft.com/office/drawing/2014/main" id="{D095FA8F-56B4-43E9-8D3B-C29184DA65C4}"/>
              </a:ext>
            </a:extLst>
          </p:cNvPr>
          <p:cNvSpPr>
            <a:spLocks noChangeShapeType="1"/>
          </p:cNvSpPr>
          <p:nvPr/>
        </p:nvSpPr>
        <p:spPr bwMode="auto">
          <a:xfrm flipV="1">
            <a:off x="3008982" y="3322815"/>
            <a:ext cx="1295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宋体" panose="02010600030101010101" pitchFamily="2" charset="-122"/>
              <a:ea typeface="宋体" panose="02010600030101010101" pitchFamily="2" charset="-122"/>
            </a:endParaRPr>
          </a:p>
        </p:txBody>
      </p:sp>
      <p:sp>
        <p:nvSpPr>
          <p:cNvPr id="25" name="Line 9">
            <a:extLst>
              <a:ext uri="{FF2B5EF4-FFF2-40B4-BE49-F238E27FC236}">
                <a16:creationId xmlns:a16="http://schemas.microsoft.com/office/drawing/2014/main" id="{0F77E6F8-37C1-4E63-A9CC-B5130C08C964}"/>
              </a:ext>
            </a:extLst>
          </p:cNvPr>
          <p:cNvSpPr>
            <a:spLocks noChangeShapeType="1"/>
          </p:cNvSpPr>
          <p:nvPr/>
        </p:nvSpPr>
        <p:spPr bwMode="auto">
          <a:xfrm flipH="1" flipV="1">
            <a:off x="6550758" y="3322815"/>
            <a:ext cx="7620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宋体" panose="02010600030101010101" pitchFamily="2" charset="-122"/>
              <a:ea typeface="宋体" panose="02010600030101010101" pitchFamily="2" charset="-122"/>
            </a:endParaRPr>
          </a:p>
        </p:txBody>
      </p:sp>
      <p:sp>
        <p:nvSpPr>
          <p:cNvPr id="26" name="Text Box 10">
            <a:extLst>
              <a:ext uri="{FF2B5EF4-FFF2-40B4-BE49-F238E27FC236}">
                <a16:creationId xmlns:a16="http://schemas.microsoft.com/office/drawing/2014/main" id="{6A04D6A9-7C26-4B5A-BD8A-D5E477F95FA7}"/>
              </a:ext>
            </a:extLst>
          </p:cNvPr>
          <p:cNvSpPr txBox="1">
            <a:spLocks noChangeArrowheads="1"/>
          </p:cNvSpPr>
          <p:nvPr/>
        </p:nvSpPr>
        <p:spPr bwMode="auto">
          <a:xfrm>
            <a:off x="609141" y="4908503"/>
            <a:ext cx="815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宋体" panose="02010600030101010101" pitchFamily="2" charset="-122"/>
                <a:ea typeface="宋体" panose="02010600030101010101" pitchFamily="2" charset="-122"/>
              </a:rPr>
              <a:t>对于金属材料，第二项的值比第一项小很多，可以</a:t>
            </a:r>
            <a:r>
              <a:rPr lang="zh-CN" altLang="en-US" sz="2400" b="1">
                <a:latin typeface="宋体" panose="02010600030101010101" pitchFamily="2" charset="-122"/>
                <a:ea typeface="宋体" panose="02010600030101010101" pitchFamily="2" charset="-122"/>
              </a:rPr>
              <a:t>忽略：</a:t>
            </a:r>
            <a:endParaRPr lang="zh-CN" altLang="en-US" sz="2400" b="1" dirty="0">
              <a:latin typeface="宋体" panose="02010600030101010101" pitchFamily="2" charset="-122"/>
              <a:ea typeface="宋体" panose="02010600030101010101" pitchFamily="2" charset="-122"/>
            </a:endParaRPr>
          </a:p>
        </p:txBody>
      </p:sp>
      <p:sp>
        <p:nvSpPr>
          <p:cNvPr id="27" name="Text Box 14">
            <a:extLst>
              <a:ext uri="{FF2B5EF4-FFF2-40B4-BE49-F238E27FC236}">
                <a16:creationId xmlns:a16="http://schemas.microsoft.com/office/drawing/2014/main" id="{EF6C6094-288F-4039-A369-AB033E29AF5B}"/>
              </a:ext>
            </a:extLst>
          </p:cNvPr>
          <p:cNvSpPr txBox="1">
            <a:spLocks noChangeArrowheads="1"/>
          </p:cNvSpPr>
          <p:nvPr/>
        </p:nvSpPr>
        <p:spPr bwMode="auto">
          <a:xfrm>
            <a:off x="609141" y="1142855"/>
            <a:ext cx="8174516" cy="532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pPr>
            <a:r>
              <a:rPr lang="zh-CN" altLang="en-US" sz="2400" b="1" dirty="0">
                <a:solidFill>
                  <a:srgbClr val="CC3300"/>
                </a:solidFill>
                <a:latin typeface="宋体" panose="02010600030101010101" pitchFamily="2" charset="-122"/>
                <a:ea typeface="宋体" panose="02010600030101010101" pitchFamily="2" charset="-122"/>
              </a:rPr>
              <a:t>灵敏</a:t>
            </a:r>
            <a:r>
              <a:rPr lang="zh-CN" altLang="en-US" sz="2400" b="1">
                <a:solidFill>
                  <a:srgbClr val="CC3300"/>
                </a:solidFill>
                <a:latin typeface="宋体" panose="02010600030101010101" pitchFamily="2" charset="-122"/>
                <a:ea typeface="宋体" panose="02010600030101010101" pitchFamily="2" charset="-122"/>
              </a:rPr>
              <a:t>系数：</a:t>
            </a:r>
            <a:r>
              <a:rPr lang="zh-CN" altLang="en-GB" sz="2400" b="1">
                <a:latin typeface="宋体" panose="02010600030101010101" pitchFamily="2" charset="-122"/>
                <a:ea typeface="宋体" panose="02010600030101010101" pitchFamily="2" charset="-122"/>
              </a:rPr>
              <a:t>单</a:t>
            </a:r>
            <a:r>
              <a:rPr lang="zh-CN" altLang="en-GB" sz="2400" b="1" dirty="0">
                <a:latin typeface="宋体" panose="02010600030101010101" pitchFamily="2" charset="-122"/>
                <a:ea typeface="宋体" panose="02010600030101010101" pitchFamily="2" charset="-122"/>
              </a:rPr>
              <a:t>位应变所引起的电阻值相对变</a:t>
            </a:r>
            <a:r>
              <a:rPr lang="zh-CN" altLang="en-GB" sz="2400" b="1">
                <a:latin typeface="宋体" panose="02010600030101010101" pitchFamily="2" charset="-122"/>
                <a:ea typeface="宋体" panose="02010600030101010101" pitchFamily="2" charset="-122"/>
              </a:rPr>
              <a:t>化。</a:t>
            </a:r>
            <a:endParaRPr lang="zh-CN" altLang="en-GB" sz="2400" b="1" dirty="0">
              <a:latin typeface="宋体" panose="02010600030101010101" pitchFamily="2" charset="-122"/>
              <a:ea typeface="宋体" panose="02010600030101010101" pitchFamily="2" charset="-122"/>
            </a:endParaRPr>
          </a:p>
        </p:txBody>
      </p:sp>
      <p:graphicFrame>
        <p:nvGraphicFramePr>
          <p:cNvPr id="2" name="Object 1">
            <a:extLst>
              <a:ext uri="{FF2B5EF4-FFF2-40B4-BE49-F238E27FC236}">
                <a16:creationId xmlns:a16="http://schemas.microsoft.com/office/drawing/2014/main" id="{5350387F-0CE0-48B0-A75E-5005946CEE78}"/>
              </a:ext>
            </a:extLst>
          </p:cNvPr>
          <p:cNvGraphicFramePr>
            <a:graphicFrameLocks noChangeAspect="1"/>
          </p:cNvGraphicFramePr>
          <p:nvPr>
            <p:extLst>
              <p:ext uri="{D42A27DB-BD31-4B8C-83A1-F6EECF244321}">
                <p14:modId xmlns:p14="http://schemas.microsoft.com/office/powerpoint/2010/main" val="61944461"/>
              </p:ext>
            </p:extLst>
          </p:nvPr>
        </p:nvGraphicFramePr>
        <p:xfrm>
          <a:off x="1788427" y="1850279"/>
          <a:ext cx="3173863" cy="827896"/>
        </p:xfrm>
        <a:graphic>
          <a:graphicData uri="http://schemas.openxmlformats.org/presentationml/2006/ole">
            <mc:AlternateContent xmlns:mc="http://schemas.openxmlformats.org/markup-compatibility/2006">
              <mc:Choice xmlns:v="urn:schemas-microsoft-com:vml" Requires="v">
                <p:oleObj name="Equation" r:id="rId5" imgW="3182277" imgH="830550" progId="Equation.DSMT4">
                  <p:embed/>
                </p:oleObj>
              </mc:Choice>
              <mc:Fallback>
                <p:oleObj name="Equation" r:id="rId5" imgW="3182277" imgH="830550" progId="Equation.DSMT4">
                  <p:embed/>
                  <p:pic>
                    <p:nvPicPr>
                      <p:cNvPr id="0" name=""/>
                      <p:cNvPicPr/>
                      <p:nvPr/>
                    </p:nvPicPr>
                    <p:blipFill>
                      <a:blip r:embed="rId6"/>
                      <a:stretch>
                        <a:fillRect/>
                      </a:stretch>
                    </p:blipFill>
                    <p:spPr>
                      <a:xfrm>
                        <a:off x="1788427" y="1850279"/>
                        <a:ext cx="3173863" cy="827896"/>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A2D8E5DD-3933-47CF-9E26-676738971D2B}"/>
              </a:ext>
            </a:extLst>
          </p:cNvPr>
          <p:cNvGraphicFramePr>
            <a:graphicFrameLocks noChangeAspect="1"/>
          </p:cNvGraphicFramePr>
          <p:nvPr>
            <p:extLst>
              <p:ext uri="{D42A27DB-BD31-4B8C-83A1-F6EECF244321}">
                <p14:modId xmlns:p14="http://schemas.microsoft.com/office/powerpoint/2010/main" val="3691948027"/>
              </p:ext>
            </p:extLst>
          </p:nvPr>
        </p:nvGraphicFramePr>
        <p:xfrm>
          <a:off x="3253760" y="5498955"/>
          <a:ext cx="3565222" cy="1052589"/>
        </p:xfrm>
        <a:graphic>
          <a:graphicData uri="http://schemas.openxmlformats.org/presentationml/2006/ole">
            <mc:AlternateContent xmlns:mc="http://schemas.openxmlformats.org/markup-compatibility/2006">
              <mc:Choice xmlns:v="urn:schemas-microsoft-com:vml" Requires="v">
                <p:oleObj name="Equation" r:id="rId7" imgW="1333440" imgH="393480" progId="Equation.DSMT4">
                  <p:embed/>
                </p:oleObj>
              </mc:Choice>
              <mc:Fallback>
                <p:oleObj name="Equation" r:id="rId7" imgW="1333440" imgH="393480" progId="Equation.DSMT4">
                  <p:embed/>
                  <p:pic>
                    <p:nvPicPr>
                      <p:cNvPr id="0" name=""/>
                      <p:cNvPicPr/>
                      <p:nvPr/>
                    </p:nvPicPr>
                    <p:blipFill>
                      <a:blip r:embed="rId8"/>
                      <a:stretch>
                        <a:fillRect/>
                      </a:stretch>
                    </p:blipFill>
                    <p:spPr>
                      <a:xfrm>
                        <a:off x="3253760" y="5498955"/>
                        <a:ext cx="3565222" cy="1052589"/>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39AA0CD8-25CD-40E3-AB58-38B8410F4102}"/>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Tree>
    <p:extLst>
      <p:ext uri="{BB962C8B-B14F-4D97-AF65-F5344CB8AC3E}">
        <p14:creationId xmlns:p14="http://schemas.microsoft.com/office/powerpoint/2010/main" val="10499608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690C167D-2A35-40D3-9729-962DC201478C}"/>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648143" y="359226"/>
            <a:ext cx="7495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a:t>
            </a:r>
            <a:r>
              <a:rPr lang="zh-CN" altLang="en-US" sz="3400" b="1">
                <a:solidFill>
                  <a:schemeClr val="bg1"/>
                </a:solidFill>
                <a:latin typeface="宋体" panose="02010600030101010101" pitchFamily="2" charset="-122"/>
                <a:ea typeface="宋体" panose="02010600030101010101" pitchFamily="2" charset="-122"/>
                <a:sym typeface="+mn-ea"/>
              </a:rPr>
              <a:t>特性：</a:t>
            </a:r>
            <a:r>
              <a:rPr lang="zh-CN" altLang="en-US" sz="3200" b="1">
                <a:solidFill>
                  <a:srgbClr val="C00000"/>
                </a:solidFill>
                <a:latin typeface="宋体" panose="02010600030101010101" pitchFamily="2" charset="-122"/>
                <a:ea typeface="宋体" panose="02010600030101010101" pitchFamily="2" charset="-122"/>
                <a:sym typeface="+mn-ea"/>
              </a:rPr>
              <a:t>结构与材料</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sp>
        <p:nvSpPr>
          <p:cNvPr id="7" name="Rectangle 2">
            <a:extLst>
              <a:ext uri="{FF2B5EF4-FFF2-40B4-BE49-F238E27FC236}">
                <a16:creationId xmlns:a16="http://schemas.microsoft.com/office/drawing/2014/main" id="{E331760B-9459-47C0-B6FE-7FA62631DCE3}"/>
              </a:ext>
            </a:extLst>
          </p:cNvPr>
          <p:cNvSpPr>
            <a:spLocks noChangeArrowheads="1"/>
          </p:cNvSpPr>
          <p:nvPr/>
        </p:nvSpPr>
        <p:spPr bwMode="auto">
          <a:xfrm>
            <a:off x="4450896" y="319314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8" name="Text Box 9">
            <a:extLst>
              <a:ext uri="{FF2B5EF4-FFF2-40B4-BE49-F238E27FC236}">
                <a16:creationId xmlns:a16="http://schemas.microsoft.com/office/drawing/2014/main" id="{A28FA660-F70E-4D80-B5CF-C93CC261DE14}"/>
              </a:ext>
            </a:extLst>
          </p:cNvPr>
          <p:cNvSpPr txBox="1">
            <a:spLocks noChangeArrowheads="1"/>
          </p:cNvSpPr>
          <p:nvPr/>
        </p:nvSpPr>
        <p:spPr bwMode="auto">
          <a:xfrm>
            <a:off x="2256971" y="5479143"/>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en-US" altLang="zh-CN" b="1" dirty="0">
                <a:solidFill>
                  <a:srgbClr val="000099"/>
                </a:solidFill>
              </a:rPr>
              <a:t>2-18  </a:t>
            </a:r>
            <a:r>
              <a:rPr lang="zh-CN" altLang="en-US" b="1" dirty="0">
                <a:solidFill>
                  <a:srgbClr val="000099"/>
                </a:solidFill>
              </a:rPr>
              <a:t>金属丝式应变片的基本结构</a:t>
            </a:r>
          </a:p>
        </p:txBody>
      </p:sp>
      <p:pic>
        <p:nvPicPr>
          <p:cNvPr id="9" name="图片 1">
            <a:extLst>
              <a:ext uri="{FF2B5EF4-FFF2-40B4-BE49-F238E27FC236}">
                <a16:creationId xmlns:a16="http://schemas.microsoft.com/office/drawing/2014/main" id="{8C64895A-39B4-47CA-8EBE-3CBE7FDA0DD8}"/>
              </a:ext>
            </a:extLst>
          </p:cNvPr>
          <p:cNvPicPr>
            <a:picLocks noChangeAspect="1"/>
          </p:cNvPicPr>
          <p:nvPr/>
        </p:nvPicPr>
        <p:blipFill>
          <a:blip r:embed="rId3"/>
          <a:stretch>
            <a:fillRect/>
          </a:stretch>
        </p:blipFill>
        <p:spPr>
          <a:xfrm>
            <a:off x="1096520" y="1426984"/>
            <a:ext cx="6708751" cy="3727084"/>
          </a:xfrm>
          <a:prstGeom prst="rect">
            <a:avLst/>
          </a:prstGeom>
        </p:spPr>
      </p:pic>
      <p:sp>
        <p:nvSpPr>
          <p:cNvPr id="2" name="Slide Number Placeholder 1">
            <a:extLst>
              <a:ext uri="{FF2B5EF4-FFF2-40B4-BE49-F238E27FC236}">
                <a16:creationId xmlns:a16="http://schemas.microsoft.com/office/drawing/2014/main" id="{626AB4BC-5C08-454C-9D4C-D402655585EE}"/>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9DA9B63B-0A2B-42C5-B85C-A9409FC1D155}"/>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7" name="Rectangle 2">
            <a:extLst>
              <a:ext uri="{FF2B5EF4-FFF2-40B4-BE49-F238E27FC236}">
                <a16:creationId xmlns:a16="http://schemas.microsoft.com/office/drawing/2014/main" id="{E331760B-9459-47C0-B6FE-7FA62631DCE3}"/>
              </a:ext>
            </a:extLst>
          </p:cNvPr>
          <p:cNvSpPr>
            <a:spLocks noChangeArrowheads="1"/>
          </p:cNvSpPr>
          <p:nvPr/>
        </p:nvSpPr>
        <p:spPr bwMode="auto">
          <a:xfrm>
            <a:off x="4450896" y="319314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pic>
        <p:nvPicPr>
          <p:cNvPr id="9" name="图片 1">
            <a:extLst>
              <a:ext uri="{FF2B5EF4-FFF2-40B4-BE49-F238E27FC236}">
                <a16:creationId xmlns:a16="http://schemas.microsoft.com/office/drawing/2014/main" id="{8C64895A-39B4-47CA-8EBE-3CBE7FDA0DD8}"/>
              </a:ext>
            </a:extLst>
          </p:cNvPr>
          <p:cNvPicPr>
            <a:picLocks noChangeAspect="1"/>
          </p:cNvPicPr>
          <p:nvPr/>
        </p:nvPicPr>
        <p:blipFill>
          <a:blip r:embed="rId3"/>
          <a:stretch>
            <a:fillRect/>
          </a:stretch>
        </p:blipFill>
        <p:spPr>
          <a:xfrm>
            <a:off x="150455" y="2262892"/>
            <a:ext cx="3348904" cy="1860502"/>
          </a:xfrm>
          <a:prstGeom prst="rect">
            <a:avLst/>
          </a:prstGeom>
        </p:spPr>
      </p:pic>
      <p:sp>
        <p:nvSpPr>
          <p:cNvPr id="10" name="Rectangle 4">
            <a:extLst>
              <a:ext uri="{FF2B5EF4-FFF2-40B4-BE49-F238E27FC236}">
                <a16:creationId xmlns:a16="http://schemas.microsoft.com/office/drawing/2014/main" id="{FC7B1EC1-C7C6-4D61-A2C7-763D7507D2DE}"/>
              </a:ext>
            </a:extLst>
          </p:cNvPr>
          <p:cNvSpPr txBox="1">
            <a:spLocks noChangeArrowheads="1"/>
          </p:cNvSpPr>
          <p:nvPr/>
        </p:nvSpPr>
        <p:spPr>
          <a:xfrm>
            <a:off x="3499359" y="1509617"/>
            <a:ext cx="5390641" cy="5058098"/>
          </a:xfrm>
          <a:prstGeom prst="rect">
            <a:avLst/>
          </a:prstGeom>
          <a:noFill/>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Tx/>
              <a:buNone/>
            </a:pPr>
            <a:r>
              <a:rPr lang="zh-CN" altLang="en-GB" sz="2200" b="1" dirty="0">
                <a:latin typeface="宋体" panose="02010600030101010101" pitchFamily="2" charset="-122"/>
                <a:ea typeface="宋体" panose="02010600030101010101" pitchFamily="2" charset="-122"/>
              </a:rPr>
              <a:t> 1、</a:t>
            </a:r>
            <a:r>
              <a:rPr lang="zh-CN" altLang="en-GB" sz="2200" b="1" dirty="0">
                <a:solidFill>
                  <a:srgbClr val="C00000"/>
                </a:solidFill>
                <a:latin typeface="宋体" panose="02010600030101010101" pitchFamily="2" charset="-122"/>
                <a:ea typeface="宋体" panose="02010600030101010101" pitchFamily="2" charset="-122"/>
              </a:rPr>
              <a:t>敏感栅</a:t>
            </a:r>
            <a:r>
              <a:rPr lang="zh-CN" altLang="en-GB" sz="2200" b="1" dirty="0">
                <a:latin typeface="宋体" panose="02010600030101010101" pitchFamily="2" charset="-122"/>
                <a:ea typeface="宋体" panose="02010600030101010101" pitchFamily="2" charset="-122"/>
              </a:rPr>
              <a:t>：它是应变片的转换元件，可将</a:t>
            </a:r>
            <a:r>
              <a:rPr lang="zh-CN" altLang="en-GB" sz="2200" b="1" dirty="0">
                <a:solidFill>
                  <a:srgbClr val="3333CC"/>
                </a:solidFill>
                <a:latin typeface="宋体" panose="02010600030101010101" pitchFamily="2" charset="-122"/>
                <a:ea typeface="宋体" panose="02010600030101010101" pitchFamily="2" charset="-122"/>
              </a:rPr>
              <a:t>应变量转换成电阻变化</a:t>
            </a:r>
            <a:r>
              <a:rPr lang="zh-CN" altLang="en-GB" sz="2200" b="1" dirty="0">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a:p>
            <a:pPr indent="638175">
              <a:lnSpc>
                <a:spcPct val="150000"/>
              </a:lnSpc>
              <a:buFontTx/>
              <a:buNone/>
            </a:pPr>
            <a:r>
              <a:rPr lang="zh-CN" altLang="en-GB" sz="2200" b="1" dirty="0">
                <a:latin typeface="宋体" panose="02010600030101010101" pitchFamily="2" charset="-122"/>
                <a:ea typeface="宋体" panose="02010600030101010101" pitchFamily="2" charset="-122"/>
              </a:rPr>
              <a:t>敏感栅是由具有较高电阻率的金属丝制成，为获得高的电阻值，电阻丝排成栅状。</a:t>
            </a:r>
            <a:endParaRPr lang="en-US" altLang="zh-CN" sz="2200" b="1" dirty="0">
              <a:latin typeface="宋体" panose="02010600030101010101" pitchFamily="2" charset="-122"/>
              <a:ea typeface="宋体" panose="02010600030101010101" pitchFamily="2" charset="-122"/>
            </a:endParaRPr>
          </a:p>
          <a:p>
            <a:pPr indent="638175">
              <a:lnSpc>
                <a:spcPct val="150000"/>
              </a:lnSpc>
              <a:buFontTx/>
              <a:buNone/>
            </a:pPr>
            <a:r>
              <a:rPr lang="zh-CN" altLang="en-GB" sz="2200" b="1" dirty="0">
                <a:latin typeface="宋体" panose="02010600030101010101" pitchFamily="2" charset="-122"/>
                <a:ea typeface="宋体" panose="02010600030101010101" pitchFamily="2" charset="-122"/>
              </a:rPr>
              <a:t>对敏感栅的材料要求是有较大的灵敏系数，高的和稳定的电阻率，温度系数小，机械强度高，抗氧化，耐腐蚀，蠕变和滞后小。</a:t>
            </a:r>
            <a:endParaRPr lang="zh-CN" altLang="en-US" sz="2200" b="1" dirty="0">
              <a:latin typeface="宋体" panose="02010600030101010101" pitchFamily="2" charset="-122"/>
              <a:ea typeface="宋体" panose="02010600030101010101" pitchFamily="2" charset="-122"/>
            </a:endParaRPr>
          </a:p>
        </p:txBody>
      </p:sp>
      <p:sp>
        <p:nvSpPr>
          <p:cNvPr id="11" name="矩形 45">
            <a:extLst>
              <a:ext uri="{FF2B5EF4-FFF2-40B4-BE49-F238E27FC236}">
                <a16:creationId xmlns:a16="http://schemas.microsoft.com/office/drawing/2014/main" id="{E30A9E03-5DBC-4E85-96E8-F49CDB9FDFAA}"/>
              </a:ext>
            </a:extLst>
          </p:cNvPr>
          <p:cNvSpPr/>
          <p:nvPr/>
        </p:nvSpPr>
        <p:spPr>
          <a:xfrm>
            <a:off x="1648143" y="359226"/>
            <a:ext cx="7495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a:t>
            </a:r>
            <a:r>
              <a:rPr lang="zh-CN" altLang="en-US" sz="3400" b="1">
                <a:solidFill>
                  <a:schemeClr val="bg1"/>
                </a:solidFill>
                <a:latin typeface="宋体" panose="02010600030101010101" pitchFamily="2" charset="-122"/>
                <a:ea typeface="宋体" panose="02010600030101010101" pitchFamily="2" charset="-122"/>
                <a:sym typeface="+mn-ea"/>
              </a:rPr>
              <a:t>特性：</a:t>
            </a:r>
            <a:r>
              <a:rPr lang="zh-CN" altLang="en-US" sz="3200" b="1">
                <a:solidFill>
                  <a:srgbClr val="C00000"/>
                </a:solidFill>
                <a:latin typeface="宋体" panose="02010600030101010101" pitchFamily="2" charset="-122"/>
                <a:ea typeface="宋体" panose="02010600030101010101" pitchFamily="2" charset="-122"/>
                <a:sym typeface="+mn-ea"/>
              </a:rPr>
              <a:t>结构与材料</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sp>
        <p:nvSpPr>
          <p:cNvPr id="2" name="Slide Number Placeholder 1">
            <a:extLst>
              <a:ext uri="{FF2B5EF4-FFF2-40B4-BE49-F238E27FC236}">
                <a16:creationId xmlns:a16="http://schemas.microsoft.com/office/drawing/2014/main" id="{0537A1E6-E12D-4CE7-BCBC-6AFAF8645DC0}"/>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Tree>
    <p:extLst>
      <p:ext uri="{BB962C8B-B14F-4D97-AF65-F5344CB8AC3E}">
        <p14:creationId xmlns:p14="http://schemas.microsoft.com/office/powerpoint/2010/main" val="16069459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2175EA98-5466-4DA6-8A39-75E9470F6411}"/>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7" name="Rectangle 2">
            <a:extLst>
              <a:ext uri="{FF2B5EF4-FFF2-40B4-BE49-F238E27FC236}">
                <a16:creationId xmlns:a16="http://schemas.microsoft.com/office/drawing/2014/main" id="{E331760B-9459-47C0-B6FE-7FA62631DCE3}"/>
              </a:ext>
            </a:extLst>
          </p:cNvPr>
          <p:cNvSpPr>
            <a:spLocks noChangeArrowheads="1"/>
          </p:cNvSpPr>
          <p:nvPr/>
        </p:nvSpPr>
        <p:spPr bwMode="auto">
          <a:xfrm>
            <a:off x="4450896" y="319314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pic>
        <p:nvPicPr>
          <p:cNvPr id="9" name="图片 1">
            <a:extLst>
              <a:ext uri="{FF2B5EF4-FFF2-40B4-BE49-F238E27FC236}">
                <a16:creationId xmlns:a16="http://schemas.microsoft.com/office/drawing/2014/main" id="{8C64895A-39B4-47CA-8EBE-3CBE7FDA0DD8}"/>
              </a:ext>
            </a:extLst>
          </p:cNvPr>
          <p:cNvPicPr>
            <a:picLocks noChangeAspect="1"/>
          </p:cNvPicPr>
          <p:nvPr/>
        </p:nvPicPr>
        <p:blipFill>
          <a:blip r:embed="rId3"/>
          <a:stretch>
            <a:fillRect/>
          </a:stretch>
        </p:blipFill>
        <p:spPr>
          <a:xfrm>
            <a:off x="150455" y="2262892"/>
            <a:ext cx="3348904" cy="1860502"/>
          </a:xfrm>
          <a:prstGeom prst="rect">
            <a:avLst/>
          </a:prstGeom>
        </p:spPr>
      </p:pic>
      <p:sp>
        <p:nvSpPr>
          <p:cNvPr id="8" name="Rectangle 4">
            <a:extLst>
              <a:ext uri="{FF2B5EF4-FFF2-40B4-BE49-F238E27FC236}">
                <a16:creationId xmlns:a16="http://schemas.microsoft.com/office/drawing/2014/main" id="{AC4781A9-9E9D-4CA9-8D4A-8FF98ECA3746}"/>
              </a:ext>
            </a:extLst>
          </p:cNvPr>
          <p:cNvSpPr>
            <a:spLocks noChangeArrowheads="1"/>
          </p:cNvSpPr>
          <p:nvPr/>
        </p:nvSpPr>
        <p:spPr bwMode="auto">
          <a:xfrm>
            <a:off x="3348905" y="1418410"/>
            <a:ext cx="5644640" cy="473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buClr>
                <a:schemeClr val="hlink"/>
              </a:buClr>
              <a:buSzPct val="60000"/>
              <a:buFont typeface="Wingdings" panose="05000000000000000000" pitchFamily="2" charset="2"/>
              <a:buNone/>
            </a:pPr>
            <a:r>
              <a:rPr kumimoji="0" lang="zh-CN" altLang="en-GB" sz="2200" b="1" dirty="0">
                <a:latin typeface="宋体" panose="02010600030101010101" pitchFamily="2" charset="-122"/>
              </a:rPr>
              <a:t>2、</a:t>
            </a:r>
            <a:r>
              <a:rPr kumimoji="0" lang="zh-CN" altLang="en-GB" sz="2200" b="1" dirty="0">
                <a:solidFill>
                  <a:srgbClr val="C00000"/>
                </a:solidFill>
                <a:latin typeface="宋体" panose="02010600030101010101" pitchFamily="2" charset="-122"/>
              </a:rPr>
              <a:t>基底</a:t>
            </a:r>
            <a:r>
              <a:rPr kumimoji="0" lang="zh-CN" altLang="en-GB" sz="2200" b="1" dirty="0">
                <a:latin typeface="宋体" panose="02010600030101010101" pitchFamily="2" charset="-122"/>
              </a:rPr>
              <a:t>：</a:t>
            </a:r>
          </a:p>
          <a:p>
            <a:pPr algn="just">
              <a:lnSpc>
                <a:spcPct val="150000"/>
              </a:lnSpc>
              <a:buClr>
                <a:schemeClr val="hlink"/>
              </a:buClr>
              <a:buSzPct val="60000"/>
              <a:buFont typeface="Wingdings" panose="05000000000000000000" pitchFamily="2" charset="2"/>
              <a:buNone/>
            </a:pPr>
            <a:r>
              <a:rPr kumimoji="0" lang="zh-CN" altLang="en-GB" sz="2200" b="1" dirty="0">
                <a:latin typeface="宋体" panose="02010600030101010101" pitchFamily="2" charset="-122"/>
              </a:rPr>
              <a:t>  </a:t>
            </a:r>
            <a:r>
              <a:rPr kumimoji="0" lang="en-GB" altLang="zh-CN" sz="2200" b="1" dirty="0">
                <a:latin typeface="宋体" panose="02010600030101010101" pitchFamily="2" charset="-122"/>
              </a:rPr>
              <a:t>(1) </a:t>
            </a:r>
            <a:r>
              <a:rPr kumimoji="0" lang="zh-CN" altLang="en-GB" sz="2200" b="1" dirty="0">
                <a:latin typeface="宋体" panose="02010600030101010101" pitchFamily="2" charset="-122"/>
              </a:rPr>
              <a:t>固定敏感栅；</a:t>
            </a:r>
          </a:p>
          <a:p>
            <a:pPr algn="just">
              <a:lnSpc>
                <a:spcPct val="150000"/>
              </a:lnSpc>
              <a:buClr>
                <a:schemeClr val="hlink"/>
              </a:buClr>
              <a:buSzPct val="60000"/>
              <a:buFont typeface="Wingdings" panose="05000000000000000000" pitchFamily="2" charset="2"/>
              <a:buNone/>
            </a:pPr>
            <a:r>
              <a:rPr kumimoji="0" lang="zh-CN" altLang="en-GB" sz="2200" b="1" dirty="0">
                <a:latin typeface="宋体" panose="02010600030101010101" pitchFamily="2" charset="-122"/>
              </a:rPr>
              <a:t>  </a:t>
            </a:r>
            <a:r>
              <a:rPr kumimoji="0" lang="en-GB" altLang="zh-CN" sz="2200" b="1" dirty="0">
                <a:latin typeface="宋体" panose="02010600030101010101" pitchFamily="2" charset="-122"/>
              </a:rPr>
              <a:t>(2) </a:t>
            </a:r>
            <a:r>
              <a:rPr kumimoji="0" lang="zh-CN" altLang="en-GB" sz="2200" b="1" dirty="0">
                <a:latin typeface="宋体" panose="02010600030101010101" pitchFamily="2" charset="-122"/>
              </a:rPr>
              <a:t>在工作时，</a:t>
            </a:r>
            <a:r>
              <a:rPr kumimoji="0" lang="zh-CN" altLang="en-GB" sz="2200" b="1" dirty="0">
                <a:solidFill>
                  <a:srgbClr val="3333CC"/>
                </a:solidFill>
                <a:latin typeface="宋体" panose="02010600030101010101" pitchFamily="2" charset="-122"/>
              </a:rPr>
              <a:t>把试件应变准确地传递给敏感栅</a:t>
            </a:r>
            <a:r>
              <a:rPr kumimoji="0" lang="zh-CN" altLang="en-GB" sz="2200" b="1" dirty="0">
                <a:latin typeface="宋体" panose="02010600030101010101" pitchFamily="2" charset="-122"/>
              </a:rPr>
              <a:t>，并使之与弹性元件相互绝缘。</a:t>
            </a:r>
            <a:endParaRPr kumimoji="0" lang="en-US" altLang="zh-CN" sz="2200" b="1" dirty="0">
              <a:latin typeface="宋体" panose="02010600030101010101" pitchFamily="2" charset="-122"/>
            </a:endParaRPr>
          </a:p>
          <a:p>
            <a:pPr algn="just">
              <a:lnSpc>
                <a:spcPct val="150000"/>
              </a:lnSpc>
              <a:spcBef>
                <a:spcPts val="1200"/>
              </a:spcBef>
              <a:buClr>
                <a:schemeClr val="hlink"/>
              </a:buClr>
              <a:buSzPct val="60000"/>
              <a:buFont typeface="Wingdings" panose="05000000000000000000" pitchFamily="2" charset="2"/>
              <a:buNone/>
            </a:pPr>
            <a:r>
              <a:rPr kumimoji="0" lang="en-US" altLang="zh-CN" sz="2200" b="1" dirty="0">
                <a:latin typeface="宋体" panose="02010600030101010101" pitchFamily="2" charset="-122"/>
              </a:rPr>
              <a:t>	   </a:t>
            </a:r>
            <a:r>
              <a:rPr lang="zh-CN" altLang="en-GB" sz="2200" b="1" dirty="0">
                <a:latin typeface="宋体" panose="02010600030101010101" pitchFamily="2" charset="-122"/>
              </a:rPr>
              <a:t>对其要求：挠性好，具有一定的机械强度，粘结性能和绝缘性能好，蠕变和滞后小，不吸潮，热稳定性好。常用的基底材料有纸、胶膜和玻璃纤维布，其厚度很薄，一般为0.02～0.04</a:t>
            </a:r>
            <a:r>
              <a:rPr lang="en-GB" altLang="zh-CN" sz="2200" b="1" dirty="0">
                <a:latin typeface="宋体" panose="02010600030101010101" pitchFamily="2" charset="-122"/>
              </a:rPr>
              <a:t>mm。</a:t>
            </a:r>
            <a:r>
              <a:rPr lang="zh-CN" altLang="en-GB" sz="2200" b="1" dirty="0">
                <a:latin typeface="宋体" panose="02010600030101010101" pitchFamily="2" charset="-122"/>
              </a:rPr>
              <a:t>  </a:t>
            </a:r>
            <a:endParaRPr lang="zh-CN" altLang="en-US" sz="2200" b="1" dirty="0">
              <a:latin typeface="宋体" panose="02010600030101010101" pitchFamily="2" charset="-122"/>
            </a:endParaRPr>
          </a:p>
        </p:txBody>
      </p:sp>
      <p:sp>
        <p:nvSpPr>
          <p:cNvPr id="11" name="矩形 45">
            <a:extLst>
              <a:ext uri="{FF2B5EF4-FFF2-40B4-BE49-F238E27FC236}">
                <a16:creationId xmlns:a16="http://schemas.microsoft.com/office/drawing/2014/main" id="{3F548534-6F12-452F-B5E6-BBAEF7DB2BCF}"/>
              </a:ext>
            </a:extLst>
          </p:cNvPr>
          <p:cNvSpPr/>
          <p:nvPr/>
        </p:nvSpPr>
        <p:spPr>
          <a:xfrm>
            <a:off x="1648143" y="359226"/>
            <a:ext cx="7495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a:t>
            </a:r>
            <a:r>
              <a:rPr lang="zh-CN" altLang="en-US" sz="3400" b="1">
                <a:solidFill>
                  <a:schemeClr val="bg1"/>
                </a:solidFill>
                <a:latin typeface="宋体" panose="02010600030101010101" pitchFamily="2" charset="-122"/>
                <a:ea typeface="宋体" panose="02010600030101010101" pitchFamily="2" charset="-122"/>
                <a:sym typeface="+mn-ea"/>
              </a:rPr>
              <a:t>特性：</a:t>
            </a:r>
            <a:r>
              <a:rPr lang="zh-CN" altLang="en-US" sz="3200" b="1">
                <a:solidFill>
                  <a:srgbClr val="C00000"/>
                </a:solidFill>
                <a:latin typeface="宋体" panose="02010600030101010101" pitchFamily="2" charset="-122"/>
                <a:ea typeface="宋体" panose="02010600030101010101" pitchFamily="2" charset="-122"/>
                <a:sym typeface="+mn-ea"/>
              </a:rPr>
              <a:t>结构与材料</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sp>
        <p:nvSpPr>
          <p:cNvPr id="2" name="Slide Number Placeholder 1">
            <a:extLst>
              <a:ext uri="{FF2B5EF4-FFF2-40B4-BE49-F238E27FC236}">
                <a16:creationId xmlns:a16="http://schemas.microsoft.com/office/drawing/2014/main" id="{A8673224-4974-498C-BC3C-EA65EADC66C1}"/>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Tree>
    <p:extLst>
      <p:ext uri="{BB962C8B-B14F-4D97-AF65-F5344CB8AC3E}">
        <p14:creationId xmlns:p14="http://schemas.microsoft.com/office/powerpoint/2010/main" val="41415484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711B6044-67A1-47F1-BB33-52D2DD523D22}"/>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7" name="Rectangle 2">
            <a:extLst>
              <a:ext uri="{FF2B5EF4-FFF2-40B4-BE49-F238E27FC236}">
                <a16:creationId xmlns:a16="http://schemas.microsoft.com/office/drawing/2014/main" id="{E331760B-9459-47C0-B6FE-7FA62631DCE3}"/>
              </a:ext>
            </a:extLst>
          </p:cNvPr>
          <p:cNvSpPr>
            <a:spLocks noChangeArrowheads="1"/>
          </p:cNvSpPr>
          <p:nvPr/>
        </p:nvSpPr>
        <p:spPr bwMode="auto">
          <a:xfrm>
            <a:off x="4450896" y="319314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pic>
        <p:nvPicPr>
          <p:cNvPr id="9" name="图片 1">
            <a:extLst>
              <a:ext uri="{FF2B5EF4-FFF2-40B4-BE49-F238E27FC236}">
                <a16:creationId xmlns:a16="http://schemas.microsoft.com/office/drawing/2014/main" id="{8C64895A-39B4-47CA-8EBE-3CBE7FDA0DD8}"/>
              </a:ext>
            </a:extLst>
          </p:cNvPr>
          <p:cNvPicPr>
            <a:picLocks noChangeAspect="1"/>
          </p:cNvPicPr>
          <p:nvPr/>
        </p:nvPicPr>
        <p:blipFill>
          <a:blip r:embed="rId3"/>
          <a:stretch>
            <a:fillRect/>
          </a:stretch>
        </p:blipFill>
        <p:spPr>
          <a:xfrm>
            <a:off x="150455" y="2262892"/>
            <a:ext cx="3348904" cy="1860502"/>
          </a:xfrm>
          <a:prstGeom prst="rect">
            <a:avLst/>
          </a:prstGeom>
        </p:spPr>
      </p:pic>
      <p:sp>
        <p:nvSpPr>
          <p:cNvPr id="10" name="Text Box 4">
            <a:extLst>
              <a:ext uri="{FF2B5EF4-FFF2-40B4-BE49-F238E27FC236}">
                <a16:creationId xmlns:a16="http://schemas.microsoft.com/office/drawing/2014/main" id="{B1D74EC3-8BE3-4B93-9929-C848CE6BA8F5}"/>
              </a:ext>
            </a:extLst>
          </p:cNvPr>
          <p:cNvSpPr txBox="1">
            <a:spLocks noChangeArrowheads="1"/>
          </p:cNvSpPr>
          <p:nvPr/>
        </p:nvSpPr>
        <p:spPr bwMode="auto">
          <a:xfrm>
            <a:off x="3612106" y="1327944"/>
            <a:ext cx="5381439" cy="5091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buClr>
                <a:schemeClr val="accent2"/>
              </a:buClr>
              <a:buSzPct val="80000"/>
              <a:buFont typeface="Wingdings" panose="05000000000000000000" pitchFamily="2" charset="2"/>
              <a:buNone/>
            </a:pPr>
            <a:r>
              <a:rPr lang="zh-CN" altLang="en-GB" sz="2200" b="1">
                <a:latin typeface="宋体" panose="02010600030101010101" pitchFamily="2" charset="-122"/>
                <a:ea typeface="宋体" panose="02010600030101010101" pitchFamily="2" charset="-122"/>
              </a:rPr>
              <a:t>3</a:t>
            </a:r>
            <a:r>
              <a:rPr lang="zh-CN" altLang="en-GB" sz="2200" b="1" dirty="0">
                <a:latin typeface="宋体" panose="02010600030101010101" pitchFamily="2" charset="-122"/>
                <a:ea typeface="宋体" panose="02010600030101010101" pitchFamily="2" charset="-122"/>
              </a:rPr>
              <a:t>、</a:t>
            </a:r>
            <a:r>
              <a:rPr lang="zh-CN" altLang="en-GB" sz="2200" b="1" dirty="0">
                <a:solidFill>
                  <a:srgbClr val="C00000"/>
                </a:solidFill>
                <a:latin typeface="宋体" panose="02010600030101010101" pitchFamily="2" charset="-122"/>
                <a:ea typeface="宋体" panose="02010600030101010101" pitchFamily="2" charset="-122"/>
              </a:rPr>
              <a:t>引线</a:t>
            </a:r>
            <a:r>
              <a:rPr lang="zh-CN" altLang="en-GB" sz="2200" b="1" dirty="0">
                <a:latin typeface="宋体" panose="02010600030101010101" pitchFamily="2" charset="-122"/>
                <a:ea typeface="宋体" panose="02010600030101010101" pitchFamily="2" charset="-122"/>
              </a:rPr>
              <a:t>：连接敏感栅和测量电路的金属导线。有丝式和带状两种。</a:t>
            </a:r>
            <a:endParaRPr lang="zh-CN" altLang="en-US" sz="2200" b="1" dirty="0">
              <a:latin typeface="宋体" panose="02010600030101010101" pitchFamily="2" charset="-122"/>
              <a:ea typeface="宋体" panose="02010600030101010101" pitchFamily="2" charset="-122"/>
            </a:endParaRPr>
          </a:p>
          <a:p>
            <a:pPr algn="just">
              <a:lnSpc>
                <a:spcPct val="150000"/>
              </a:lnSpc>
              <a:buClr>
                <a:schemeClr val="accent2"/>
              </a:buClr>
              <a:buSzPct val="80000"/>
              <a:buFont typeface="Wingdings" panose="05000000000000000000" pitchFamily="2" charset="2"/>
              <a:buNone/>
            </a:pPr>
            <a:r>
              <a:rPr lang="zh-CN" altLang="en-GB" sz="2200" b="1">
                <a:latin typeface="宋体" panose="02010600030101010101" pitchFamily="2" charset="-122"/>
                <a:ea typeface="宋体" panose="02010600030101010101" pitchFamily="2" charset="-122"/>
              </a:rPr>
              <a:t>4</a:t>
            </a:r>
            <a:r>
              <a:rPr lang="zh-CN" altLang="en-GB" sz="2200" b="1" dirty="0">
                <a:latin typeface="宋体" panose="02010600030101010101" pitchFamily="2" charset="-122"/>
                <a:ea typeface="宋体" panose="02010600030101010101" pitchFamily="2" charset="-122"/>
              </a:rPr>
              <a:t>、</a:t>
            </a:r>
            <a:r>
              <a:rPr lang="zh-CN" altLang="en-GB" sz="2200" b="1" dirty="0">
                <a:solidFill>
                  <a:srgbClr val="C00000"/>
                </a:solidFill>
                <a:latin typeface="宋体" panose="02010600030101010101" pitchFamily="2" charset="-122"/>
                <a:ea typeface="宋体" panose="02010600030101010101" pitchFamily="2" charset="-122"/>
              </a:rPr>
              <a:t>盖层</a:t>
            </a:r>
            <a:r>
              <a:rPr lang="zh-CN" altLang="en-GB" sz="2200" b="1" dirty="0">
                <a:latin typeface="宋体" panose="02010600030101010101" pitchFamily="2" charset="-122"/>
                <a:ea typeface="宋体" panose="02010600030101010101" pitchFamily="2" charset="-122"/>
              </a:rPr>
              <a:t>：用以保护敏感栅使其避免受到机械损伤或防止其高温氧化。常用材料有：胶膜等。</a:t>
            </a:r>
            <a:endParaRPr lang="zh-CN" altLang="en-US" sz="2200" b="1" dirty="0">
              <a:latin typeface="宋体" panose="02010600030101010101" pitchFamily="2" charset="-122"/>
              <a:ea typeface="宋体" panose="02010600030101010101" pitchFamily="2" charset="-122"/>
            </a:endParaRPr>
          </a:p>
          <a:p>
            <a:pPr>
              <a:lnSpc>
                <a:spcPct val="150000"/>
              </a:lnSpc>
              <a:buClr>
                <a:schemeClr val="accent2"/>
              </a:buClr>
              <a:buSzPct val="80000"/>
              <a:buFont typeface="Wingdings" panose="05000000000000000000" pitchFamily="2" charset="2"/>
              <a:buNone/>
            </a:pPr>
            <a:r>
              <a:rPr lang="zh-CN" altLang="en-GB" sz="2200" b="1">
                <a:latin typeface="宋体" panose="02010600030101010101" pitchFamily="2" charset="-122"/>
                <a:ea typeface="宋体" panose="02010600030101010101" pitchFamily="2" charset="-122"/>
              </a:rPr>
              <a:t>5</a:t>
            </a:r>
            <a:r>
              <a:rPr lang="zh-CN" altLang="en-GB" sz="2200" b="1" dirty="0">
                <a:latin typeface="宋体" panose="02010600030101010101" pitchFamily="2" charset="-122"/>
                <a:ea typeface="宋体" panose="02010600030101010101" pitchFamily="2" charset="-122"/>
              </a:rPr>
              <a:t>、</a:t>
            </a:r>
            <a:r>
              <a:rPr lang="zh-CN" altLang="en-GB" sz="2200" b="1" dirty="0">
                <a:solidFill>
                  <a:srgbClr val="C00000"/>
                </a:solidFill>
                <a:latin typeface="宋体" panose="02010600030101010101" pitchFamily="2" charset="-122"/>
                <a:ea typeface="宋体" panose="02010600030101010101" pitchFamily="2" charset="-122"/>
              </a:rPr>
              <a:t>粘合剂</a:t>
            </a:r>
            <a:r>
              <a:rPr lang="zh-CN" altLang="en-GB" sz="2200" b="1" dirty="0">
                <a:latin typeface="宋体" panose="02010600030101010101" pitchFamily="2" charset="-122"/>
                <a:ea typeface="宋体" panose="02010600030101010101" pitchFamily="2" charset="-122"/>
              </a:rPr>
              <a:t>：在制造应变片时，用粘合剂分别将盖层和敏感栅粘结到基底上，或在使用应变片时，将基底粘结在弹性元件上，或试件表面的被测部位。有些粘合剂可用于制造胶膜基底。</a:t>
            </a:r>
            <a:endParaRPr lang="zh-CN" altLang="en-US" sz="2200" b="1" dirty="0">
              <a:latin typeface="宋体" panose="02010600030101010101" pitchFamily="2" charset="-122"/>
              <a:ea typeface="宋体" panose="02010600030101010101" pitchFamily="2" charset="-122"/>
            </a:endParaRPr>
          </a:p>
        </p:txBody>
      </p:sp>
      <p:sp>
        <p:nvSpPr>
          <p:cNvPr id="11" name="矩形 45">
            <a:extLst>
              <a:ext uri="{FF2B5EF4-FFF2-40B4-BE49-F238E27FC236}">
                <a16:creationId xmlns:a16="http://schemas.microsoft.com/office/drawing/2014/main" id="{2F65A85F-A4C4-4247-8FA7-0A5C502DB7A0}"/>
              </a:ext>
            </a:extLst>
          </p:cNvPr>
          <p:cNvSpPr/>
          <p:nvPr/>
        </p:nvSpPr>
        <p:spPr>
          <a:xfrm>
            <a:off x="1648143" y="359226"/>
            <a:ext cx="7495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a:t>
            </a:r>
            <a:r>
              <a:rPr lang="zh-CN" altLang="en-US" sz="3400" b="1">
                <a:solidFill>
                  <a:schemeClr val="bg1"/>
                </a:solidFill>
                <a:latin typeface="宋体" panose="02010600030101010101" pitchFamily="2" charset="-122"/>
                <a:ea typeface="宋体" panose="02010600030101010101" pitchFamily="2" charset="-122"/>
                <a:sym typeface="+mn-ea"/>
              </a:rPr>
              <a:t>特性：</a:t>
            </a:r>
            <a:r>
              <a:rPr lang="zh-CN" altLang="en-US" sz="3200" b="1">
                <a:solidFill>
                  <a:srgbClr val="C00000"/>
                </a:solidFill>
                <a:latin typeface="宋体" panose="02010600030101010101" pitchFamily="2" charset="-122"/>
                <a:ea typeface="宋体" panose="02010600030101010101" pitchFamily="2" charset="-122"/>
                <a:sym typeface="+mn-ea"/>
              </a:rPr>
              <a:t>结构与材料</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sp>
        <p:nvSpPr>
          <p:cNvPr id="2" name="Slide Number Placeholder 1">
            <a:extLst>
              <a:ext uri="{FF2B5EF4-FFF2-40B4-BE49-F238E27FC236}">
                <a16:creationId xmlns:a16="http://schemas.microsoft.com/office/drawing/2014/main" id="{546FF1D7-9500-4A47-A1A2-761BAE3F66DE}"/>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Tree>
    <p:extLst>
      <p:ext uri="{BB962C8B-B14F-4D97-AF65-F5344CB8AC3E}">
        <p14:creationId xmlns:p14="http://schemas.microsoft.com/office/powerpoint/2010/main" val="6178089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4">
            <a:extLst>
              <a:ext uri="{FF2B5EF4-FFF2-40B4-BE49-F238E27FC236}">
                <a16:creationId xmlns:a16="http://schemas.microsoft.com/office/drawing/2014/main" id="{1C3B699A-FD21-4954-B89E-CED83516A998}"/>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7" name="Rectangle 2">
            <a:extLst>
              <a:ext uri="{FF2B5EF4-FFF2-40B4-BE49-F238E27FC236}">
                <a16:creationId xmlns:a16="http://schemas.microsoft.com/office/drawing/2014/main" id="{E331760B-9459-47C0-B6FE-7FA62631DCE3}"/>
              </a:ext>
            </a:extLst>
          </p:cNvPr>
          <p:cNvSpPr>
            <a:spLocks noChangeArrowheads="1"/>
          </p:cNvSpPr>
          <p:nvPr/>
        </p:nvSpPr>
        <p:spPr bwMode="auto">
          <a:xfrm>
            <a:off x="4450896" y="3193143"/>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1" name="矩形 45">
            <a:extLst>
              <a:ext uri="{FF2B5EF4-FFF2-40B4-BE49-F238E27FC236}">
                <a16:creationId xmlns:a16="http://schemas.microsoft.com/office/drawing/2014/main" id="{2F65A85F-A4C4-4247-8FA7-0A5C502DB7A0}"/>
              </a:ext>
            </a:extLst>
          </p:cNvPr>
          <p:cNvSpPr/>
          <p:nvPr/>
        </p:nvSpPr>
        <p:spPr>
          <a:xfrm>
            <a:off x="1648143" y="359226"/>
            <a:ext cx="749595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a:t>
            </a:r>
            <a:r>
              <a:rPr lang="zh-CN" altLang="en-US" sz="3400" b="1">
                <a:solidFill>
                  <a:schemeClr val="bg1"/>
                </a:solidFill>
                <a:latin typeface="宋体" panose="02010600030101010101" pitchFamily="2" charset="-122"/>
                <a:ea typeface="宋体" panose="02010600030101010101" pitchFamily="2" charset="-122"/>
                <a:sym typeface="+mn-ea"/>
              </a:rPr>
              <a:t>特性：</a:t>
            </a:r>
            <a:r>
              <a:rPr lang="zh-CN" altLang="en-US" sz="3200" b="1">
                <a:solidFill>
                  <a:srgbClr val="C00000"/>
                </a:solidFill>
                <a:latin typeface="宋体" panose="02010600030101010101" pitchFamily="2" charset="-122"/>
                <a:ea typeface="宋体" panose="02010600030101010101" pitchFamily="2" charset="-122"/>
                <a:sym typeface="+mn-ea"/>
              </a:rPr>
              <a:t>结构与材料</a:t>
            </a:r>
            <a:endParaRPr lang="zh-CN" altLang="en-US" sz="3400" b="1" dirty="0">
              <a:solidFill>
                <a:srgbClr val="C00000"/>
              </a:solidFill>
              <a:latin typeface="宋体" panose="02010600030101010101" pitchFamily="2" charset="-122"/>
              <a:ea typeface="宋体" panose="02010600030101010101" pitchFamily="2" charset="-122"/>
              <a:sym typeface="+mn-ea"/>
            </a:endParaRPr>
          </a:p>
        </p:txBody>
      </p:sp>
      <p:sp>
        <p:nvSpPr>
          <p:cNvPr id="8" name="Rectangle 2">
            <a:extLst>
              <a:ext uri="{FF2B5EF4-FFF2-40B4-BE49-F238E27FC236}">
                <a16:creationId xmlns:a16="http://schemas.microsoft.com/office/drawing/2014/main" id="{FC4264A7-E299-439D-8BE6-0D7396503D7A}"/>
              </a:ext>
            </a:extLst>
          </p:cNvPr>
          <p:cNvSpPr>
            <a:spLocks noChangeArrowheads="1"/>
          </p:cNvSpPr>
          <p:nvPr/>
        </p:nvSpPr>
        <p:spPr bwMode="auto">
          <a:xfrm>
            <a:off x="3840488" y="3360058"/>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2" name="Text Box 9">
            <a:extLst>
              <a:ext uri="{FF2B5EF4-FFF2-40B4-BE49-F238E27FC236}">
                <a16:creationId xmlns:a16="http://schemas.microsoft.com/office/drawing/2014/main" id="{68CD2A77-7053-4058-B8A9-83FA454F8BB3}"/>
              </a:ext>
            </a:extLst>
          </p:cNvPr>
          <p:cNvSpPr txBox="1">
            <a:spLocks noChangeArrowheads="1"/>
          </p:cNvSpPr>
          <p:nvPr/>
        </p:nvSpPr>
        <p:spPr bwMode="auto">
          <a:xfrm>
            <a:off x="22139" y="2026969"/>
            <a:ext cx="3252008" cy="101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2-19  </a:t>
            </a:r>
            <a:r>
              <a:rPr lang="zh-CN" altLang="en-US" b="1" dirty="0">
                <a:solidFill>
                  <a:srgbClr val="000099"/>
                </a:solidFill>
              </a:rPr>
              <a:t>箔式应变片的</a:t>
            </a:r>
            <a:endParaRPr lang="en-US" altLang="zh-CN" b="1" dirty="0">
              <a:solidFill>
                <a:srgbClr val="000099"/>
              </a:solidFill>
            </a:endParaRPr>
          </a:p>
          <a:p>
            <a:pPr eaLnBrk="1" hangingPunct="1">
              <a:lnSpc>
                <a:spcPct val="120000"/>
              </a:lnSpc>
              <a:spcBef>
                <a:spcPct val="20000"/>
              </a:spcBef>
            </a:pPr>
            <a:r>
              <a:rPr lang="en-US" altLang="zh-CN" b="1" dirty="0">
                <a:solidFill>
                  <a:srgbClr val="000099"/>
                </a:solidFill>
              </a:rPr>
              <a:t>             </a:t>
            </a:r>
            <a:r>
              <a:rPr lang="zh-CN" altLang="en-US" b="1" dirty="0">
                <a:solidFill>
                  <a:srgbClr val="000099"/>
                </a:solidFill>
              </a:rPr>
              <a:t>基本结构</a:t>
            </a:r>
          </a:p>
        </p:txBody>
      </p:sp>
      <p:graphicFrame>
        <p:nvGraphicFramePr>
          <p:cNvPr id="13" name="Object 31">
            <a:extLst>
              <a:ext uri="{FF2B5EF4-FFF2-40B4-BE49-F238E27FC236}">
                <a16:creationId xmlns:a16="http://schemas.microsoft.com/office/drawing/2014/main" id="{F2A5DDA6-4CF1-4102-AD8E-6589D76C99ED}"/>
              </a:ext>
            </a:extLst>
          </p:cNvPr>
          <p:cNvGraphicFramePr>
            <a:graphicFrameLocks noChangeAspect="1"/>
          </p:cNvGraphicFramePr>
          <p:nvPr>
            <p:extLst>
              <p:ext uri="{D42A27DB-BD31-4B8C-83A1-F6EECF244321}">
                <p14:modId xmlns:p14="http://schemas.microsoft.com/office/powerpoint/2010/main" val="3299645209"/>
              </p:ext>
            </p:extLst>
          </p:nvPr>
        </p:nvGraphicFramePr>
        <p:xfrm>
          <a:off x="3840488" y="1228188"/>
          <a:ext cx="4658320" cy="2512870"/>
        </p:xfrm>
        <a:graphic>
          <a:graphicData uri="http://schemas.openxmlformats.org/presentationml/2006/ole">
            <mc:AlternateContent xmlns:mc="http://schemas.openxmlformats.org/markup-compatibility/2006">
              <mc:Choice xmlns:v="urn:schemas-microsoft-com:vml" Requires="v">
                <p:oleObj name="Image" r:id="rId3" imgW="15046531" imgH="8111020" progId="Photoshop.Image.7">
                  <p:embed/>
                </p:oleObj>
              </mc:Choice>
              <mc:Fallback>
                <p:oleObj name="Image" r:id="rId3" imgW="15046531" imgH="8111020" progId="Photoshop.Image.7">
                  <p:embed/>
                  <p:pic>
                    <p:nvPicPr>
                      <p:cNvPr id="2079"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0488" y="1228188"/>
                        <a:ext cx="4658320" cy="2512870"/>
                      </a:xfrm>
                      <a:prstGeom prst="rect">
                        <a:avLst/>
                      </a:prstGeom>
                      <a:noFill/>
                      <a:ln>
                        <a:noFill/>
                      </a:ln>
                      <a:effectLst/>
                    </p:spPr>
                  </p:pic>
                </p:oleObj>
              </mc:Fallback>
            </mc:AlternateContent>
          </a:graphicData>
        </a:graphic>
      </p:graphicFrame>
      <p:pic>
        <p:nvPicPr>
          <p:cNvPr id="14" name="图片 1">
            <a:extLst>
              <a:ext uri="{FF2B5EF4-FFF2-40B4-BE49-F238E27FC236}">
                <a16:creationId xmlns:a16="http://schemas.microsoft.com/office/drawing/2014/main" id="{19025444-1CF0-4ECE-8C65-4A73A4068C2C}"/>
              </a:ext>
            </a:extLst>
          </p:cNvPr>
          <p:cNvPicPr>
            <a:picLocks noChangeAspect="1"/>
          </p:cNvPicPr>
          <p:nvPr/>
        </p:nvPicPr>
        <p:blipFill>
          <a:blip r:embed="rId5"/>
          <a:stretch>
            <a:fillRect/>
          </a:stretch>
        </p:blipFill>
        <p:spPr>
          <a:xfrm>
            <a:off x="3627359" y="3955143"/>
            <a:ext cx="5438399" cy="2115904"/>
          </a:xfrm>
          <a:prstGeom prst="rect">
            <a:avLst/>
          </a:prstGeom>
        </p:spPr>
      </p:pic>
      <p:sp>
        <p:nvSpPr>
          <p:cNvPr id="15" name="Text Box 9">
            <a:extLst>
              <a:ext uri="{FF2B5EF4-FFF2-40B4-BE49-F238E27FC236}">
                <a16:creationId xmlns:a16="http://schemas.microsoft.com/office/drawing/2014/main" id="{A7FD8C68-BA34-4208-8000-BBFA6397D676}"/>
              </a:ext>
            </a:extLst>
          </p:cNvPr>
          <p:cNvSpPr txBox="1">
            <a:spLocks noChangeArrowheads="1"/>
          </p:cNvSpPr>
          <p:nvPr/>
        </p:nvSpPr>
        <p:spPr bwMode="auto">
          <a:xfrm>
            <a:off x="-16352" y="4512690"/>
            <a:ext cx="3588631"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2-20  </a:t>
            </a:r>
            <a:r>
              <a:rPr lang="zh-CN" altLang="en-US" b="1" dirty="0">
                <a:solidFill>
                  <a:srgbClr val="000099"/>
                </a:solidFill>
              </a:rPr>
              <a:t>各式箔式应变片</a:t>
            </a:r>
          </a:p>
        </p:txBody>
      </p:sp>
      <p:sp>
        <p:nvSpPr>
          <p:cNvPr id="2" name="Slide Number Placeholder 1">
            <a:extLst>
              <a:ext uri="{FF2B5EF4-FFF2-40B4-BE49-F238E27FC236}">
                <a16:creationId xmlns:a16="http://schemas.microsoft.com/office/drawing/2014/main" id="{BF9D6BB5-8CCD-47AF-9E41-EC02FFD29057}"/>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Tree>
    <p:extLst>
      <p:ext uri="{BB962C8B-B14F-4D97-AF65-F5344CB8AC3E}">
        <p14:creationId xmlns:p14="http://schemas.microsoft.com/office/powerpoint/2010/main" val="28604765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如何知道物体表面是否发生了应变，一起来了解应变片原理">
            <a:hlinkClick r:id="" action="ppaction://media"/>
            <a:extLst>
              <a:ext uri="{FF2B5EF4-FFF2-40B4-BE49-F238E27FC236}">
                <a16:creationId xmlns:a16="http://schemas.microsoft.com/office/drawing/2014/main" id="{8847478D-2F44-401A-865A-0BAEE21F4AD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806" y="980349"/>
            <a:ext cx="9147806" cy="5154840"/>
          </a:xfrm>
          <a:prstGeom prst="rect">
            <a:avLst/>
          </a:prstGeom>
        </p:spPr>
      </p:pic>
      <p:sp>
        <p:nvSpPr>
          <p:cNvPr id="11" name="TextBox 10">
            <a:extLst>
              <a:ext uri="{FF2B5EF4-FFF2-40B4-BE49-F238E27FC236}">
                <a16:creationId xmlns:a16="http://schemas.microsoft.com/office/drawing/2014/main" id="{12FA421C-0D97-4DC8-9EFB-7A762BA1A53B}"/>
              </a:ext>
            </a:extLst>
          </p:cNvPr>
          <p:cNvSpPr txBox="1"/>
          <p:nvPr/>
        </p:nvSpPr>
        <p:spPr>
          <a:xfrm>
            <a:off x="2394857" y="183271"/>
            <a:ext cx="4361906" cy="461665"/>
          </a:xfrm>
          <a:prstGeom prst="rect">
            <a:avLst/>
          </a:prstGeom>
          <a:noFill/>
        </p:spPr>
        <p:txBody>
          <a:bodyPr wrap="square">
            <a:spAutoFit/>
          </a:bodyPr>
          <a:lstStyle/>
          <a:p>
            <a:pPr algn="ctr"/>
            <a:r>
              <a:rPr lang="en-US" sz="2400" b="1" dirty="0" err="1"/>
              <a:t>应变片</a:t>
            </a:r>
            <a:r>
              <a:rPr lang="zh-CN" altLang="en-US" sz="2400" b="1" dirty="0"/>
              <a:t>的</a:t>
            </a:r>
            <a:r>
              <a:rPr lang="en-US" sz="2400" b="1" dirty="0" err="1"/>
              <a:t>原理</a:t>
            </a:r>
            <a:endParaRPr lang="en-US" sz="2400" b="1" dirty="0"/>
          </a:p>
        </p:txBody>
      </p:sp>
    </p:spTree>
    <p:extLst>
      <p:ext uri="{BB962C8B-B14F-4D97-AF65-F5344CB8AC3E}">
        <p14:creationId xmlns:p14="http://schemas.microsoft.com/office/powerpoint/2010/main" val="113045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251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2E0F4469-C983-4167-A765-2E63F0F333DF}"/>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21" name="Rectangle 3"/>
          <p:cNvSpPr txBox="1">
            <a:spLocks noRot="1" noChangeArrowheads="1"/>
          </p:cNvSpPr>
          <p:nvPr/>
        </p:nvSpPr>
        <p:spPr>
          <a:xfrm>
            <a:off x="1304360" y="1457022"/>
            <a:ext cx="3816350" cy="6915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90500" indent="0">
              <a:lnSpc>
                <a:spcPct val="190000"/>
              </a:lnSpc>
              <a:spcBef>
                <a:spcPct val="0"/>
              </a:spcBef>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电阻应变片主要特性</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 </a:t>
            </a:r>
          </a:p>
        </p:txBody>
      </p:sp>
      <p:sp>
        <p:nvSpPr>
          <p:cNvPr id="22" name="Rectangle 23"/>
          <p:cNvSpPr>
            <a:spLocks noRot="1" noChangeArrowheads="1"/>
          </p:cNvSpPr>
          <p:nvPr/>
        </p:nvSpPr>
        <p:spPr bwMode="auto">
          <a:xfrm>
            <a:off x="4067175" y="1557338"/>
            <a:ext cx="45720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0500"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90000"/>
              </a:lnSpc>
              <a:spcBef>
                <a:spcPct val="20000"/>
              </a:spcBef>
              <a:buClr>
                <a:schemeClr val="folHlink"/>
              </a:buClr>
              <a:buFont typeface="Wingdings" panose="05000000000000000000" pitchFamily="2" charset="2"/>
              <a:buNone/>
            </a:pPr>
            <a:endParaRPr lang="en-US" altLang="zh-CN" sz="2400" b="1" dirty="0">
              <a:latin typeface="宋体" panose="02010600030101010101" pitchFamily="2" charset="-122"/>
              <a:ea typeface="宋体" panose="02010600030101010101" pitchFamily="2" charset="-122"/>
            </a:endParaRP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温度效应 </a:t>
            </a: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应变极限、疲劳寿命</a:t>
            </a: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动态响应特性</a:t>
            </a:r>
          </a:p>
        </p:txBody>
      </p:sp>
      <p:sp>
        <p:nvSpPr>
          <p:cNvPr id="27" name="Rectangle 23"/>
          <p:cNvSpPr>
            <a:spLocks noRot="1" noChangeArrowheads="1"/>
          </p:cNvSpPr>
          <p:nvPr/>
        </p:nvSpPr>
        <p:spPr bwMode="auto">
          <a:xfrm>
            <a:off x="1304360" y="2248886"/>
            <a:ext cx="4572000" cy="2811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90500"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90000"/>
              </a:lnSpc>
              <a:buClr>
                <a:schemeClr val="folHlink"/>
              </a:buClr>
              <a:buFont typeface="Wingdings" panose="05000000000000000000" pitchFamily="2" charset="2"/>
              <a:buChar char="§"/>
            </a:pPr>
            <a:r>
              <a:rPr lang="zh-CN" altLang="en-US" sz="2400" b="1">
                <a:latin typeface="宋体" panose="02010600030101010101" pitchFamily="2" charset="-122"/>
                <a:ea typeface="宋体" panose="02010600030101010101" pitchFamily="2" charset="-122"/>
              </a:rPr>
              <a:t> 灵</a:t>
            </a:r>
            <a:r>
              <a:rPr lang="zh-CN" altLang="en-US" sz="2400" b="1" dirty="0">
                <a:latin typeface="宋体" panose="02010600030101010101" pitchFamily="2" charset="-122"/>
                <a:ea typeface="宋体" panose="02010600030101010101" pitchFamily="2" charset="-122"/>
              </a:rPr>
              <a:t>敏系数</a:t>
            </a: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横向效应</a:t>
            </a: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机械滞后</a:t>
            </a:r>
          </a:p>
          <a:p>
            <a:pPr eaLnBrk="1" hangingPunct="1">
              <a:lnSpc>
                <a:spcPct val="190000"/>
              </a:lnSpc>
              <a:buClr>
                <a:schemeClr val="folHlink"/>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 零漂及蠕变</a:t>
            </a:r>
          </a:p>
        </p:txBody>
      </p:sp>
      <p:sp>
        <p:nvSpPr>
          <p:cNvPr id="2" name="Slide Number Placeholder 1">
            <a:extLst>
              <a:ext uri="{FF2B5EF4-FFF2-40B4-BE49-F238E27FC236}">
                <a16:creationId xmlns:a16="http://schemas.microsoft.com/office/drawing/2014/main" id="{3E64DF9A-4A89-40D3-AEB9-95C21FCA6C0B}"/>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34156249-FD30-4EBB-A674-2D27BCF9771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28" name="Text Box 4"/>
          <p:cNvSpPr txBox="1">
            <a:spLocks noChangeArrowheads="1"/>
          </p:cNvSpPr>
          <p:nvPr/>
        </p:nvSpPr>
        <p:spPr bwMode="auto">
          <a:xfrm>
            <a:off x="887285" y="1646177"/>
            <a:ext cx="7144305" cy="3983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80000"/>
              </a:lnSpc>
            </a:pPr>
            <a:r>
              <a:rPr kumimoji="1" lang="en-US" altLang="zh-CN" sz="2400" b="1" dirty="0">
                <a:latin typeface="宋体" panose="02010600030101010101" pitchFamily="2" charset="-122"/>
                <a:ea typeface="宋体" panose="02010600030101010101" pitchFamily="2" charset="-122"/>
              </a:rPr>
              <a:t>    </a:t>
            </a:r>
            <a:r>
              <a:rPr kumimoji="1" lang="zh-CN" altLang="en-US" sz="2400" b="1" dirty="0">
                <a:latin typeface="宋体" panose="02010600030101010101" pitchFamily="2" charset="-122"/>
                <a:ea typeface="宋体" panose="02010600030101010101" pitchFamily="2" charset="-122"/>
              </a:rPr>
              <a:t>通常的应变片敏感栅</a:t>
            </a:r>
            <a:r>
              <a:rPr kumimoji="1" lang="zh-CN" altLang="en-US" sz="2400" b="1" dirty="0">
                <a:solidFill>
                  <a:srgbClr val="FF0000"/>
                </a:solidFill>
                <a:latin typeface="宋体" panose="02010600030101010101" pitchFamily="2" charset="-122"/>
                <a:ea typeface="宋体" panose="02010600030101010101" pitchFamily="2" charset="-122"/>
              </a:rPr>
              <a:t>灵敏系数</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k</a:t>
            </a:r>
            <a:r>
              <a:rPr kumimoji="1"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kumimoji="1" lang="zh-CN" altLang="en-US" sz="2400" b="1" dirty="0">
                <a:latin typeface="宋体" panose="02010600030101010101" pitchFamily="2" charset="-122"/>
                <a:ea typeface="宋体" panose="02010600030101010101" pitchFamily="2" charset="-122"/>
              </a:rPr>
              <a:t>值很小（</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k</a:t>
            </a:r>
            <a:r>
              <a:rPr kumimoji="1"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400" b="1" dirty="0">
                <a:latin typeface="宋体" panose="02010600030101010101" pitchFamily="2" charset="-122"/>
                <a:ea typeface="宋体" panose="02010600030101010101" pitchFamily="2" charset="-122"/>
              </a:rPr>
              <a:t>）</a:t>
            </a:r>
            <a:r>
              <a:rPr kumimoji="1" lang="en-US" altLang="zh-CN" sz="2400" b="1" dirty="0">
                <a:latin typeface="宋体" panose="02010600030101010101" pitchFamily="2" charset="-122"/>
                <a:ea typeface="宋体" panose="02010600030101010101" pitchFamily="2" charset="-122"/>
              </a:rPr>
              <a:t>(</a:t>
            </a:r>
            <a:r>
              <a:rPr kumimoji="1" lang="zh-CN" altLang="en-US" sz="2400" b="1" dirty="0">
                <a:latin typeface="宋体" panose="02010600030101010101" pitchFamily="2" charset="-122"/>
                <a:ea typeface="宋体" panose="02010600030101010101" pitchFamily="2" charset="-122"/>
              </a:rPr>
              <a:t>参见表</a:t>
            </a:r>
            <a:r>
              <a:rPr kumimoji="1" lang="en-US" altLang="zh-CN" sz="2400" b="1" dirty="0">
                <a:latin typeface="宋体" panose="02010600030101010101" pitchFamily="2" charset="-122"/>
                <a:ea typeface="宋体" panose="02010600030101010101" pitchFamily="2" charset="-122"/>
              </a:rPr>
              <a:t>2-1)</a:t>
            </a:r>
            <a:r>
              <a:rPr kumimoji="1" lang="zh-CN" altLang="en-US" sz="2400" b="1" dirty="0">
                <a:latin typeface="宋体" panose="02010600030101010101" pitchFamily="2" charset="-122"/>
                <a:ea typeface="宋体" panose="02010600030101010101" pitchFamily="2" charset="-122"/>
              </a:rPr>
              <a:t>，机械应变一般在</a:t>
            </a:r>
            <a:r>
              <a:rPr kumimoji="1" lang="en-US" altLang="zh-CN" sz="2400" dirty="0">
                <a:solidFill>
                  <a:srgbClr val="0070C0"/>
                </a:solidFill>
                <a:latin typeface="宋体" panose="02010600030101010101" pitchFamily="2" charset="-122"/>
                <a:ea typeface="宋体" panose="02010600030101010101" pitchFamily="2" charset="-122"/>
              </a:rPr>
              <a:t>10</a:t>
            </a:r>
            <a:r>
              <a:rPr kumimoji="1" lang="en-US" altLang="zh-CN" sz="2400" i="1" dirty="0">
                <a:solidFill>
                  <a:srgbClr val="0070C0"/>
                </a:solidFill>
                <a:latin typeface="宋体" panose="02010600030101010101" pitchFamily="2" charset="-122"/>
                <a:ea typeface="宋体" panose="02010600030101010101" pitchFamily="2" charset="-122"/>
                <a:sym typeface="Symbol" panose="05050102010706020507" pitchFamily="18" charset="2"/>
              </a:rPr>
              <a:t> </a:t>
            </a:r>
            <a:r>
              <a:rPr kumimoji="1" lang="en-US" altLang="zh-CN" sz="2400" dirty="0">
                <a:solidFill>
                  <a:srgbClr val="0070C0"/>
                </a:solidFill>
                <a:latin typeface="宋体" panose="02010600030101010101" pitchFamily="2" charset="-122"/>
                <a:ea typeface="宋体" panose="02010600030101010101" pitchFamily="2" charset="-122"/>
                <a:sym typeface="Symbol" panose="05050102010706020507" pitchFamily="18" charset="2"/>
              </a:rPr>
              <a:t> </a:t>
            </a:r>
            <a:r>
              <a:rPr kumimoji="1" lang="en-US" altLang="zh-CN" sz="2400" dirty="0">
                <a:solidFill>
                  <a:srgbClr val="0070C0"/>
                </a:solidFill>
                <a:latin typeface="宋体" panose="02010600030101010101" pitchFamily="2" charset="-122"/>
                <a:ea typeface="宋体" panose="02010600030101010101" pitchFamily="2" charset="-122"/>
              </a:rPr>
              <a:t>3000</a:t>
            </a:r>
            <a:r>
              <a:rPr kumimoji="1" lang="en-US" altLang="zh-CN" sz="2400" i="1" dirty="0">
                <a:solidFill>
                  <a:srgbClr val="0070C0"/>
                </a:solidFill>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之间（有时可达</a:t>
            </a:r>
            <a:r>
              <a:rPr kumimoji="1" lang="en-US" altLang="zh-CN" sz="2400" dirty="0">
                <a:latin typeface="宋体" panose="02010600030101010101" pitchFamily="2" charset="-122"/>
                <a:ea typeface="宋体" panose="02010600030101010101" pitchFamily="2" charset="-122"/>
                <a:sym typeface="Symbol" panose="05050102010706020507" pitchFamily="18" charset="2"/>
              </a:rPr>
              <a:t>6000</a:t>
            </a:r>
            <a:r>
              <a:rPr kumimoji="1" lang="en-US" altLang="zh-CN" sz="2400" i="1" dirty="0">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），所以电阻值相对变化是很小的，</a:t>
            </a:r>
            <a:r>
              <a:rPr kumimoji="1" lang="zh-CN" altLang="en-GB" sz="2400" b="1" dirty="0">
                <a:latin typeface="宋体" panose="02010600030101010101" pitchFamily="2" charset="-122"/>
                <a:ea typeface="宋体" panose="02010600030101010101" pitchFamily="2" charset="-122"/>
              </a:rPr>
              <a:t>常用的电阻值为</a:t>
            </a:r>
            <a:r>
              <a:rPr kumimoji="1" lang="zh-CN" altLang="en-GB" sz="2400" dirty="0">
                <a:solidFill>
                  <a:srgbClr val="0070C0"/>
                </a:solidFill>
                <a:latin typeface="宋体" panose="02010600030101010101" pitchFamily="2" charset="-122"/>
                <a:ea typeface="宋体" panose="02010600030101010101" pitchFamily="2" charset="-122"/>
              </a:rPr>
              <a:t>120</a:t>
            </a:r>
            <a:r>
              <a:rPr kumimoji="1" lang="zh-CN" altLang="en-GB" sz="2400" dirty="0">
                <a:solidFill>
                  <a:srgbClr val="0070C0"/>
                </a:solidFill>
                <a:latin typeface="宋体" panose="02010600030101010101" pitchFamily="2" charset="-122"/>
                <a:ea typeface="宋体" panose="02010600030101010101" pitchFamily="2" charset="-122"/>
                <a:sym typeface="Symbol" panose="05050102010706020507" pitchFamily="18" charset="2"/>
              </a:rPr>
              <a:t></a:t>
            </a:r>
            <a:r>
              <a:rPr kumimoji="1" lang="zh-CN" altLang="en-GB" sz="2400" b="1" dirty="0">
                <a:latin typeface="宋体" panose="02010600030101010101" pitchFamily="2" charset="-122"/>
                <a:ea typeface="宋体" panose="02010600030101010101" pitchFamily="2" charset="-122"/>
              </a:rPr>
              <a:t>和</a:t>
            </a:r>
            <a:r>
              <a:rPr kumimoji="1" lang="zh-CN" altLang="en-GB" sz="2400" dirty="0">
                <a:solidFill>
                  <a:srgbClr val="0070C0"/>
                </a:solidFill>
                <a:latin typeface="宋体" panose="02010600030101010101" pitchFamily="2" charset="-122"/>
                <a:ea typeface="宋体" panose="02010600030101010101" pitchFamily="2" charset="-122"/>
                <a:sym typeface="Symbol" panose="05050102010706020507" pitchFamily="18" charset="2"/>
              </a:rPr>
              <a:t>350</a:t>
            </a:r>
            <a:r>
              <a:rPr kumimoji="1" lang="zh-CN" altLang="en-GB" sz="2400" b="1" dirty="0">
                <a:latin typeface="宋体" panose="02010600030101010101" pitchFamily="2" charset="-122"/>
                <a:ea typeface="宋体" panose="02010600030101010101" pitchFamily="2" charset="-122"/>
              </a:rPr>
              <a:t>。</a:t>
            </a:r>
            <a:endParaRPr kumimoji="1" lang="en-US" altLang="zh-CN" sz="2400" b="1" dirty="0">
              <a:latin typeface="宋体" panose="02010600030101010101" pitchFamily="2" charset="-122"/>
              <a:ea typeface="宋体" panose="02010600030101010101" pitchFamily="2" charset="-122"/>
            </a:endParaRPr>
          </a:p>
          <a:p>
            <a:pPr indent="627063" eaLnBrk="1" hangingPunct="1">
              <a:lnSpc>
                <a:spcPct val="180000"/>
              </a:lnSpc>
            </a:pPr>
            <a:r>
              <a:rPr kumimoji="1" lang="zh-CN" altLang="en-US" sz="2400" b="1" dirty="0">
                <a:latin typeface="宋体" panose="02010600030101010101" pitchFamily="2" charset="-122"/>
                <a:ea typeface="宋体" panose="02010600030101010101" pitchFamily="2" charset="-122"/>
              </a:rPr>
              <a:t>应变片不仅仅由敏感栅组成，其灵敏系数</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k</a:t>
            </a:r>
            <a:r>
              <a:rPr kumimoji="1" lang="zh-CN" altLang="en-US" sz="2400" b="1" dirty="0">
                <a:latin typeface="宋体" panose="02010600030101010101" pitchFamily="2" charset="-122"/>
                <a:ea typeface="宋体" panose="02010600030101010101" pitchFamily="2" charset="-122"/>
              </a:rPr>
              <a:t>一般比金属丝的应变灵敏系数</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k</a:t>
            </a:r>
            <a:r>
              <a:rPr kumimoji="1"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kumimoji="1" lang="zh-CN" altLang="en-US" sz="2400" b="1" dirty="0">
                <a:latin typeface="宋体" panose="02010600030101010101" pitchFamily="2" charset="-122"/>
                <a:ea typeface="宋体" panose="02010600030101010101" pitchFamily="2" charset="-122"/>
              </a:rPr>
              <a:t>低。</a:t>
            </a:r>
          </a:p>
        </p:txBody>
      </p:sp>
      <p:sp>
        <p:nvSpPr>
          <p:cNvPr id="2" name="Slide Number Placeholder 1">
            <a:extLst>
              <a:ext uri="{FF2B5EF4-FFF2-40B4-BE49-F238E27FC236}">
                <a16:creationId xmlns:a16="http://schemas.microsoft.com/office/drawing/2014/main" id="{286C5F29-8590-484F-A7ED-A00C6E362B09}"/>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Tree>
    <p:extLst>
      <p:ext uri="{BB962C8B-B14F-4D97-AF65-F5344CB8AC3E}">
        <p14:creationId xmlns:p14="http://schemas.microsoft.com/office/powerpoint/2010/main" val="19311098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53CDC5AF-77B1-4A81-A950-5799BD745149}"/>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Rectangle 22"/>
          <p:cNvSpPr>
            <a:spLocks noChangeArrowheads="1"/>
          </p:cNvSpPr>
          <p:nvPr/>
        </p:nvSpPr>
        <p:spPr bwMode="auto">
          <a:xfrm>
            <a:off x="54441" y="1082746"/>
            <a:ext cx="8559773" cy="365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200000"/>
              </a:lnSpc>
            </a:pPr>
            <a:r>
              <a:rPr kumimoji="1" lang="zh-CN" altLang="en-US" sz="2400" b="1" dirty="0">
                <a:solidFill>
                  <a:srgbClr val="FF0000"/>
                </a:solidFill>
                <a:latin typeface="宋体" panose="02010600030101010101" pitchFamily="2" charset="-122"/>
                <a:ea typeface="宋体" panose="02010600030101010101" pitchFamily="2" charset="-122"/>
              </a:rPr>
              <a:t>横向效应：</a:t>
            </a:r>
          </a:p>
          <a:p>
            <a:pPr eaLnBrk="1" hangingPunct="1">
              <a:lnSpc>
                <a:spcPct val="200000"/>
              </a:lnSpc>
            </a:pPr>
            <a:r>
              <a:rPr kumimoji="1" lang="zh-CN" altLang="en-US" sz="2400" b="1" dirty="0">
                <a:solidFill>
                  <a:srgbClr val="FF0000"/>
                </a:solidFill>
                <a:latin typeface="宋体" panose="02010600030101010101" pitchFamily="2" charset="-122"/>
                <a:ea typeface="宋体" panose="02010600030101010101" pitchFamily="2" charset="-122"/>
              </a:rPr>
              <a:t>    </a:t>
            </a:r>
            <a:r>
              <a:rPr kumimoji="1" lang="zh-CN" altLang="en-US" sz="2400" b="1" dirty="0">
                <a:latin typeface="宋体" panose="02010600030101010101" pitchFamily="2" charset="-122"/>
                <a:ea typeface="宋体" panose="02010600030101010101" pitchFamily="2" charset="-122"/>
              </a:rPr>
              <a:t>一般情况下，试件只承受</a:t>
            </a:r>
            <a:r>
              <a:rPr lang="zh-CN" altLang="en-US" sz="2400" b="1" dirty="0">
                <a:solidFill>
                  <a:srgbClr val="FF0000"/>
                </a:solidFill>
                <a:latin typeface="宋体" panose="02010600030101010101" pitchFamily="2" charset="-122"/>
                <a:ea typeface="宋体" panose="02010600030101010101" pitchFamily="2" charset="-122"/>
              </a:rPr>
              <a:t>单向的拉伸作用， </a:t>
            </a:r>
            <a:r>
              <a:rPr kumimoji="1" lang="zh-CN" altLang="en-US" sz="2400" b="1" dirty="0">
                <a:latin typeface="宋体" panose="02010600030101010101" pitchFamily="2" charset="-122"/>
                <a:ea typeface="宋体" panose="02010600030101010101" pitchFamily="2" charset="-122"/>
              </a:rPr>
              <a:t>但表面变形仍处于平面应变状况，试件既有轴向伸长，又有横向缩短。</a:t>
            </a:r>
          </a:p>
          <a:p>
            <a:pPr eaLnBrk="1" hangingPunct="1">
              <a:lnSpc>
                <a:spcPct val="200000"/>
              </a:lnSpc>
            </a:pPr>
            <a:r>
              <a:rPr kumimoji="1" lang="zh-CN" altLang="en-US" sz="2400" b="1" dirty="0">
                <a:latin typeface="宋体" panose="02010600030101010101" pitchFamily="2" charset="-122"/>
                <a:ea typeface="宋体" panose="02010600030101010101" pitchFamily="2" charset="-122"/>
              </a:rPr>
              <a:t>   轴向应变</a:t>
            </a:r>
            <a:r>
              <a:rPr kumimoji="1" lang="zh-CN" altLang="en-US"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30000" dirty="0">
                <a:latin typeface="Times New Roman" panose="02020603050405020304" pitchFamily="18" charset="0"/>
                <a:ea typeface="宋体" panose="02010600030101010101" pitchFamily="2" charset="-122"/>
              </a:rPr>
              <a:t>x</a:t>
            </a:r>
            <a:r>
              <a:rPr kumimoji="1" lang="zh-CN" altLang="en-US" sz="2400" b="1" dirty="0">
                <a:latin typeface="宋体" panose="02010600030101010101" pitchFamily="2" charset="-122"/>
                <a:ea typeface="宋体" panose="02010600030101010101" pitchFamily="2" charset="-122"/>
              </a:rPr>
              <a:t>和横向应变</a:t>
            </a:r>
            <a:r>
              <a:rPr kumimoji="1" lang="zh-CN" altLang="en-US"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30000" dirty="0">
                <a:latin typeface="Times New Roman" panose="02020603050405020304" pitchFamily="18" charset="0"/>
                <a:ea typeface="宋体" panose="02010600030101010101" pitchFamily="2" charset="-122"/>
              </a:rPr>
              <a:t>y</a:t>
            </a:r>
            <a:r>
              <a:rPr kumimoji="1" lang="en-US" altLang="zh-CN" sz="2400" dirty="0">
                <a:latin typeface="Times New Roman" panose="02020603050405020304" pitchFamily="18" charset="0"/>
                <a:ea typeface="宋体" panose="02010600030101010101" pitchFamily="2" charset="-122"/>
              </a:rPr>
              <a:t>=-</a:t>
            </a:r>
            <a:r>
              <a:rPr kumimoji="1" lang="en-US" altLang="zh-CN"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30000" dirty="0">
                <a:latin typeface="Times New Roman" panose="02020603050405020304" pitchFamily="18" charset="0"/>
                <a:ea typeface="宋体" panose="02010600030101010101" pitchFamily="2" charset="-122"/>
              </a:rPr>
              <a:t>x</a:t>
            </a:r>
            <a:r>
              <a:rPr kumimoji="1" lang="zh-CN" altLang="en-US" sz="2400" b="1" dirty="0">
                <a:latin typeface="宋体" panose="02010600030101010101" pitchFamily="2" charset="-122"/>
                <a:ea typeface="宋体" panose="02010600030101010101" pitchFamily="2" charset="-122"/>
              </a:rPr>
              <a:t>（</a:t>
            </a:r>
            <a:r>
              <a:rPr kumimoji="1" lang="zh-CN" altLang="en-US" sz="2400" i="1" dirty="0">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为材料的泊松比），都会被应变片的敏感栅所感受。   </a:t>
            </a:r>
          </a:p>
        </p:txBody>
      </p:sp>
      <p:sp>
        <p:nvSpPr>
          <p:cNvPr id="7" name="TextBox 6">
            <a:extLst>
              <a:ext uri="{FF2B5EF4-FFF2-40B4-BE49-F238E27FC236}">
                <a16:creationId xmlns:a16="http://schemas.microsoft.com/office/drawing/2014/main" id="{CEA001AB-4A22-47E5-95C2-D8D8CCD59195}"/>
              </a:ext>
            </a:extLst>
          </p:cNvPr>
          <p:cNvSpPr txBox="1"/>
          <p:nvPr/>
        </p:nvSpPr>
        <p:spPr>
          <a:xfrm>
            <a:off x="54441" y="4735669"/>
            <a:ext cx="8846905" cy="1436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200000"/>
              </a:lnSpc>
              <a:defRPr kumimoji="1" sz="2400" b="1">
                <a:solidFill>
                  <a:srgbClr val="FF0000"/>
                </a:solidFill>
                <a:latin typeface="宋体" panose="02010600030101010101" pitchFamily="2" charset="-122"/>
                <a:ea typeface="宋体" panose="02010600030101010101" pitchFamily="2" charset="-122"/>
              </a:defRPr>
            </a:lvl1pPr>
            <a:lvl2pPr marL="742950" indent="-285750" eaLnBrk="0" hangingPunct="0">
              <a:defRPr>
                <a:latin typeface="Arial" panose="020B0604020202020204" pitchFamily="34" charset="0"/>
                <a:ea typeface="华文细黑" panose="02010600040101010101" pitchFamily="2" charset="-122"/>
              </a:defRPr>
            </a:lvl2pPr>
            <a:lvl3pPr marL="1143000" indent="-228600" eaLnBrk="0" hangingPunct="0">
              <a:defRPr>
                <a:latin typeface="Arial" panose="020B0604020202020204" pitchFamily="34" charset="0"/>
                <a:ea typeface="华文细黑" panose="02010600040101010101" pitchFamily="2" charset="-122"/>
              </a:defRPr>
            </a:lvl3pPr>
            <a:lvl4pPr marL="1600200" indent="-228600" eaLnBrk="0" hangingPunct="0">
              <a:defRPr>
                <a:latin typeface="Arial" panose="020B0604020202020204" pitchFamily="34" charset="0"/>
                <a:ea typeface="华文细黑" panose="02010600040101010101" pitchFamily="2" charset="-122"/>
              </a:defRPr>
            </a:lvl4pPr>
            <a:lvl5pPr marL="2057400" indent="-228600" eaLnBrk="0" hangingPunct="0">
              <a:defRPr>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latin typeface="Arial" panose="020B0604020202020204" pitchFamily="34" charset="0"/>
                <a:ea typeface="华文细黑" panose="02010600040101010101" pitchFamily="2" charset="-122"/>
              </a:defRPr>
            </a:lvl9pPr>
          </a:lstStyle>
          <a:p>
            <a:r>
              <a:rPr lang="en-US">
                <a:solidFill>
                  <a:schemeClr val="tx1"/>
                </a:solidFill>
              </a:rPr>
              <a:t>   </a:t>
            </a:r>
            <a:r>
              <a:rPr lang="en-001">
                <a:solidFill>
                  <a:schemeClr val="tx1"/>
                </a:solidFill>
              </a:rPr>
              <a:t>减小横向效应产生的测量误差，</a:t>
            </a:r>
            <a:r>
              <a:rPr lang="zh-CN" altLang="en-US">
                <a:solidFill>
                  <a:schemeClr val="tx1"/>
                </a:solidFill>
              </a:rPr>
              <a:t>可</a:t>
            </a:r>
            <a:r>
              <a:rPr lang="en-001">
                <a:solidFill>
                  <a:schemeClr val="tx1"/>
                </a:solidFill>
              </a:rPr>
              <a:t>采用箔式应变片。其圆弧部分的截面积较栅丝大得多，电阻值较小，电阻变化量小得多。</a:t>
            </a:r>
          </a:p>
        </p:txBody>
      </p:sp>
      <p:sp>
        <p:nvSpPr>
          <p:cNvPr id="2" name="Slide Number Placeholder 1">
            <a:extLst>
              <a:ext uri="{FF2B5EF4-FFF2-40B4-BE49-F238E27FC236}">
                <a16:creationId xmlns:a16="http://schemas.microsoft.com/office/drawing/2014/main" id="{D2ACE131-ABA6-481E-A41B-76598EF64FB4}"/>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Tree>
    <p:extLst>
      <p:ext uri="{BB962C8B-B14F-4D97-AF65-F5344CB8AC3E}">
        <p14:creationId xmlns:p14="http://schemas.microsoft.com/office/powerpoint/2010/main" val="9022306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1D0E345C-4E2E-47AA-A15D-B38D7342E4CC}"/>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20" name="Text Box 22"/>
          <p:cNvSpPr txBox="1">
            <a:spLocks noChangeArrowheads="1"/>
          </p:cNvSpPr>
          <p:nvPr/>
        </p:nvSpPr>
        <p:spPr bwMode="auto">
          <a:xfrm>
            <a:off x="185083" y="1763252"/>
            <a:ext cx="4793317" cy="3524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spcBef>
                <a:spcPct val="50000"/>
              </a:spcBef>
            </a:pPr>
            <a:r>
              <a:rPr lang="zh-CN" altLang="en-US" sz="2400" b="1" dirty="0">
                <a:solidFill>
                  <a:srgbClr val="FF0000"/>
                </a:solidFill>
                <a:latin typeface="Verdana" panose="020B0604030504040204" pitchFamily="34" charset="0"/>
                <a:ea typeface="宋体" panose="02010600030101010101" pitchFamily="2" charset="-122"/>
              </a:rPr>
              <a:t>机械滞后：</a:t>
            </a:r>
            <a:endParaRPr lang="en-US" altLang="zh-CN" sz="2400" b="1" dirty="0">
              <a:solidFill>
                <a:srgbClr val="FF0000"/>
              </a:solidFill>
              <a:latin typeface="Verdana" panose="020B0604030504040204" pitchFamily="34" charset="0"/>
              <a:ea typeface="宋体" panose="02010600030101010101" pitchFamily="2" charset="-122"/>
            </a:endParaRPr>
          </a:p>
          <a:p>
            <a:pPr indent="630238" eaLnBrk="1" hangingPunct="1">
              <a:lnSpc>
                <a:spcPct val="150000"/>
              </a:lnSpc>
              <a:spcBef>
                <a:spcPct val="50000"/>
              </a:spcBef>
            </a:pPr>
            <a:r>
              <a:rPr lang="zh-CN" altLang="en-US" sz="2400" b="1" dirty="0">
                <a:latin typeface="Verdana" panose="020B0604030504040204" pitchFamily="34" charset="0"/>
                <a:ea typeface="宋体" panose="02010600030101010101" pitchFamily="2" charset="-122"/>
              </a:rPr>
              <a:t>在一定温度下，在零和某一指定应变之间，在同一机械应变下，应变片电阻相对</a:t>
            </a:r>
            <a:r>
              <a:rPr lang="zh-CN" altLang="en-US" sz="2400" b="1">
                <a:latin typeface="Verdana" panose="020B0604030504040204" pitchFamily="34" charset="0"/>
                <a:ea typeface="宋体" panose="02010600030101010101" pitchFamily="2" charset="-122"/>
              </a:rPr>
              <a:t>变化 </a:t>
            </a:r>
            <a:r>
              <a:rPr kumimoji="1" lang="zh-CN" altLang="en-US" sz="2400" i="1">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25000" dirty="0" err="1">
                <a:latin typeface="Times New Roman" panose="02020603050405020304" pitchFamily="18" charset="0"/>
                <a:ea typeface="宋体" panose="02010600030101010101" pitchFamily="2" charset="-122"/>
              </a:rPr>
              <a:t>i</a:t>
            </a:r>
            <a:r>
              <a:rPr kumimoji="1" lang="en-US" altLang="zh-CN" sz="2400" dirty="0">
                <a:latin typeface="Times New Roman" panose="02020603050405020304" pitchFamily="18" charset="0"/>
                <a:ea typeface="宋体" panose="02010600030101010101" pitchFamily="2" charset="-122"/>
              </a:rPr>
              <a:t>(</a:t>
            </a:r>
            <a:r>
              <a:rPr kumimoji="1" lang="el-GR" altLang="zh-CN" sz="2400" dirty="0">
                <a:latin typeface="Times New Roman" panose="02020603050405020304" pitchFamily="18" charset="0"/>
                <a:ea typeface="宋体" panose="02010600030101010101" pitchFamily="2" charset="-122"/>
                <a:cs typeface="Times New Roman" panose="02020603050405020304" pitchFamily="18" charset="0"/>
              </a:rPr>
              <a:t>Δ</a:t>
            </a:r>
            <a:r>
              <a:rPr kumimoji="1" lang="el-GR" altLang="zh-CN" sz="2400" i="1" dirty="0">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i="1">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400">
                <a:latin typeface="Times New Roman" panose="02020603050405020304" pitchFamily="18" charset="0"/>
                <a:ea typeface="宋体" panose="02010600030101010101" pitchFamily="2" charset="-122"/>
              </a:rPr>
              <a:t>) </a:t>
            </a:r>
            <a:r>
              <a:rPr lang="zh-CN" altLang="en-US" sz="2400" b="1">
                <a:latin typeface="Verdana" panose="020B0604030504040204" pitchFamily="34" charset="0"/>
                <a:ea typeface="宋体" panose="02010600030101010101" pitchFamily="2" charset="-122"/>
              </a:rPr>
              <a:t>与</a:t>
            </a:r>
            <a:r>
              <a:rPr lang="zh-CN" altLang="en-US" sz="2400" b="1" dirty="0">
                <a:latin typeface="Verdana" panose="020B0604030504040204" pitchFamily="34" charset="0"/>
                <a:ea typeface="宋体" panose="02010600030101010101" pitchFamily="2" charset="-122"/>
              </a:rPr>
              <a:t>试件机械应变</a:t>
            </a:r>
            <a:r>
              <a:rPr kumimoji="1" lang="zh-CN" altLang="en-US"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25000" dirty="0">
                <a:latin typeface="Times New Roman" panose="02020603050405020304" pitchFamily="18" charset="0"/>
                <a:ea typeface="宋体" panose="02010600030101010101" pitchFamily="2" charset="-122"/>
              </a:rPr>
              <a:t>R</a:t>
            </a:r>
            <a:r>
              <a:rPr lang="zh-CN" altLang="en-US" sz="2400" b="1" dirty="0">
                <a:latin typeface="Verdana" panose="020B0604030504040204" pitchFamily="34" charset="0"/>
                <a:ea typeface="宋体" panose="02010600030101010101" pitchFamily="2" charset="-122"/>
              </a:rPr>
              <a:t>之间的卸载特性曲线高于加载特性曲线。</a:t>
            </a:r>
          </a:p>
        </p:txBody>
      </p:sp>
      <p:sp>
        <p:nvSpPr>
          <p:cNvPr id="7" name="Text Box 9">
            <a:extLst>
              <a:ext uri="{FF2B5EF4-FFF2-40B4-BE49-F238E27FC236}">
                <a16:creationId xmlns:a16="http://schemas.microsoft.com/office/drawing/2014/main" id="{EF86F8F8-48D0-4A2B-BE40-AB53C2E7404C}"/>
              </a:ext>
            </a:extLst>
          </p:cNvPr>
          <p:cNvSpPr txBox="1">
            <a:spLocks noChangeArrowheads="1"/>
          </p:cNvSpPr>
          <p:nvPr/>
        </p:nvSpPr>
        <p:spPr bwMode="auto">
          <a:xfrm>
            <a:off x="5181371" y="5543150"/>
            <a:ext cx="3900264"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2-21  </a:t>
            </a:r>
            <a:r>
              <a:rPr lang="zh-CN" altLang="en-US" b="1" dirty="0">
                <a:solidFill>
                  <a:srgbClr val="000099"/>
                </a:solidFill>
              </a:rPr>
              <a:t>应变片的机械滞后</a:t>
            </a:r>
          </a:p>
        </p:txBody>
      </p:sp>
      <p:pic>
        <p:nvPicPr>
          <p:cNvPr id="8" name="图片 1">
            <a:extLst>
              <a:ext uri="{FF2B5EF4-FFF2-40B4-BE49-F238E27FC236}">
                <a16:creationId xmlns:a16="http://schemas.microsoft.com/office/drawing/2014/main" id="{016E4609-DAF8-4D95-B5AA-88BEDD6D2539}"/>
              </a:ext>
            </a:extLst>
          </p:cNvPr>
          <p:cNvPicPr>
            <a:picLocks noChangeAspect="1"/>
          </p:cNvPicPr>
          <p:nvPr/>
        </p:nvPicPr>
        <p:blipFill>
          <a:blip r:embed="rId3"/>
          <a:stretch>
            <a:fillRect/>
          </a:stretch>
        </p:blipFill>
        <p:spPr>
          <a:xfrm>
            <a:off x="5246272" y="1763252"/>
            <a:ext cx="3424807" cy="3636378"/>
          </a:xfrm>
          <a:prstGeom prst="rect">
            <a:avLst/>
          </a:prstGeom>
        </p:spPr>
      </p:pic>
      <p:sp>
        <p:nvSpPr>
          <p:cNvPr id="2" name="Slide Number Placeholder 1">
            <a:extLst>
              <a:ext uri="{FF2B5EF4-FFF2-40B4-BE49-F238E27FC236}">
                <a16:creationId xmlns:a16="http://schemas.microsoft.com/office/drawing/2014/main" id="{77C42541-8459-4C45-B638-F9FC447BEFD8}"/>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
        <p:nvSpPr>
          <p:cNvPr id="10" name="TextBox 9">
            <a:extLst>
              <a:ext uri="{FF2B5EF4-FFF2-40B4-BE49-F238E27FC236}">
                <a16:creationId xmlns:a16="http://schemas.microsoft.com/office/drawing/2014/main" id="{F3285FE1-E2D5-4DA8-A81F-E7909573A43D}"/>
              </a:ext>
            </a:extLst>
          </p:cNvPr>
          <p:cNvSpPr txBox="1"/>
          <p:nvPr/>
        </p:nvSpPr>
        <p:spPr>
          <a:xfrm>
            <a:off x="6816852" y="3942308"/>
            <a:ext cx="1650492" cy="369332"/>
          </a:xfrm>
          <a:prstGeom prst="rect">
            <a:avLst/>
          </a:prstGeom>
          <a:noFill/>
        </p:spPr>
        <p:txBody>
          <a:bodyPr wrap="square">
            <a:spAutoFit/>
          </a:bodyPr>
          <a:lstStyle/>
          <a:p>
            <a:r>
              <a:rPr lang="zh-CN" altLang="en-US" sz="1800" b="1">
                <a:latin typeface="Verdana" panose="020B0604030504040204" pitchFamily="34" charset="0"/>
                <a:ea typeface="宋体" panose="02010600030101010101" pitchFamily="2" charset="-122"/>
              </a:rPr>
              <a:t>加载特性曲线</a:t>
            </a:r>
            <a:endParaRPr lang="en-US"/>
          </a:p>
        </p:txBody>
      </p:sp>
      <p:sp>
        <p:nvSpPr>
          <p:cNvPr id="11" name="TextBox 10">
            <a:extLst>
              <a:ext uri="{FF2B5EF4-FFF2-40B4-BE49-F238E27FC236}">
                <a16:creationId xmlns:a16="http://schemas.microsoft.com/office/drawing/2014/main" id="{9D1D9901-97FC-488B-8A78-6FACEC4EDCC9}"/>
              </a:ext>
            </a:extLst>
          </p:cNvPr>
          <p:cNvSpPr txBox="1"/>
          <p:nvPr/>
        </p:nvSpPr>
        <p:spPr>
          <a:xfrm>
            <a:off x="5991606" y="2119604"/>
            <a:ext cx="1650492" cy="369332"/>
          </a:xfrm>
          <a:prstGeom prst="rect">
            <a:avLst/>
          </a:prstGeom>
          <a:noFill/>
        </p:spPr>
        <p:txBody>
          <a:bodyPr wrap="square">
            <a:spAutoFit/>
          </a:bodyPr>
          <a:lstStyle/>
          <a:p>
            <a:r>
              <a:rPr lang="zh-CN" altLang="en-US" sz="1800" b="1">
                <a:latin typeface="Verdana" panose="020B0604030504040204" pitchFamily="34" charset="0"/>
                <a:ea typeface="宋体" panose="02010600030101010101" pitchFamily="2" charset="-122"/>
              </a:rPr>
              <a:t>卸载特性曲线</a:t>
            </a:r>
            <a:endParaRPr lang="en-US"/>
          </a:p>
        </p:txBody>
      </p:sp>
    </p:spTree>
    <p:extLst>
      <p:ext uri="{BB962C8B-B14F-4D97-AF65-F5344CB8AC3E}">
        <p14:creationId xmlns:p14="http://schemas.microsoft.com/office/powerpoint/2010/main" val="25226563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7173D2A7-27A4-4985-8526-CE9362BD1A4D}"/>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Rectangle 5"/>
          <p:cNvSpPr txBox="1">
            <a:spLocks noChangeArrowheads="1"/>
          </p:cNvSpPr>
          <p:nvPr/>
        </p:nvSpPr>
        <p:spPr>
          <a:xfrm>
            <a:off x="744721" y="1620838"/>
            <a:ext cx="7839636" cy="3881837"/>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719138">
              <a:lnSpc>
                <a:spcPct val="200000"/>
              </a:lnSpc>
              <a:buNone/>
            </a:pPr>
            <a:r>
              <a:rPr lang="zh-CN" altLang="en-US" sz="2400" b="1" dirty="0">
                <a:solidFill>
                  <a:srgbClr val="FF0000"/>
                </a:solidFill>
                <a:latin typeface="宋体" panose="02010600030101010101" pitchFamily="2" charset="-122"/>
                <a:ea typeface="宋体" panose="02010600030101010101" pitchFamily="2" charset="-122"/>
              </a:rPr>
              <a:t>零漂：</a:t>
            </a:r>
            <a:r>
              <a:rPr lang="zh-CN" altLang="en-US" sz="2400" b="1" dirty="0">
                <a:latin typeface="宋体" panose="02010600030101010101" pitchFamily="2" charset="-122"/>
                <a:ea typeface="宋体" panose="02010600030101010101" pitchFamily="2" charset="-122"/>
              </a:rPr>
              <a:t>是指粘贴在试件上的应变片，在温度恒定时，试件没有机械应变的情况下，应变片的指示应变</a:t>
            </a:r>
            <a:r>
              <a:rPr lang="zh-CN" altLang="en-US" sz="2400" b="1" dirty="0">
                <a:solidFill>
                  <a:srgbClr val="FF0000"/>
                </a:solidFill>
                <a:latin typeface="宋体" panose="02010600030101010101" pitchFamily="2" charset="-122"/>
                <a:ea typeface="宋体" panose="02010600030101010101" pitchFamily="2" charset="-122"/>
              </a:rPr>
              <a:t>随时间变化</a:t>
            </a:r>
            <a:r>
              <a:rPr lang="zh-CN" altLang="en-US" sz="2400" b="1" dirty="0">
                <a:latin typeface="宋体" panose="02010600030101010101" pitchFamily="2" charset="-122"/>
                <a:ea typeface="宋体" panose="02010600030101010101" pitchFamily="2" charset="-122"/>
              </a:rPr>
              <a:t>的数值，单位为 </a:t>
            </a:r>
            <a:r>
              <a:rPr lang="zh-CN" altLang="en-US" sz="2400" b="1" dirty="0">
                <a:solidFill>
                  <a:srgbClr val="FF0000"/>
                </a:solidFill>
                <a:latin typeface="宋体" panose="02010600030101010101" pitchFamily="2" charset="-122"/>
                <a:ea typeface="宋体" panose="02010600030101010101" pitchFamily="2" charset="-122"/>
                <a:sym typeface="Symbol" panose="05050102010706020507" pitchFamily="18" charset="2"/>
              </a:rPr>
              <a:t></a:t>
            </a:r>
            <a:r>
              <a:rPr lang="en-US" altLang="zh-CN" sz="2400" b="1" dirty="0">
                <a:solidFill>
                  <a:srgbClr val="FF0000"/>
                </a:solidFill>
                <a:latin typeface="宋体" panose="02010600030101010101" pitchFamily="2" charset="-122"/>
                <a:ea typeface="宋体" panose="02010600030101010101" pitchFamily="2" charset="-122"/>
              </a:rPr>
              <a:t>/h</a:t>
            </a:r>
            <a:r>
              <a:rPr lang="zh-CN" altLang="en-US" sz="2400" b="1" dirty="0">
                <a:latin typeface="宋体" panose="02010600030101010101" pitchFamily="2" charset="-122"/>
                <a:ea typeface="宋体" panose="02010600030101010101" pitchFamily="2" charset="-122"/>
              </a:rPr>
              <a:t>。</a:t>
            </a:r>
          </a:p>
          <a:p>
            <a:pPr marL="0" indent="719138">
              <a:lnSpc>
                <a:spcPct val="20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零漂产生的原因：制造过程中造成的应变片</a:t>
            </a:r>
            <a:r>
              <a:rPr lang="zh-CN" altLang="en-US" sz="2400" b="1" dirty="0">
                <a:solidFill>
                  <a:srgbClr val="002060"/>
                </a:solidFill>
                <a:latin typeface="宋体" panose="02010600030101010101" pitchFamily="2" charset="-122"/>
                <a:ea typeface="宋体" panose="02010600030101010101" pitchFamily="2" charset="-122"/>
              </a:rPr>
              <a:t>内应力</a:t>
            </a:r>
            <a:r>
              <a:rPr lang="zh-CN" altLang="en-US" sz="2400" b="1" dirty="0">
                <a:latin typeface="宋体" panose="02010600030101010101" pitchFamily="2" charset="-122"/>
                <a:ea typeface="宋体" panose="02010600030101010101" pitchFamily="2" charset="-122"/>
              </a:rPr>
              <a:t>逐渐变化；以及应变计的</a:t>
            </a:r>
            <a:r>
              <a:rPr lang="zh-CN" altLang="en-US" sz="2400" b="1" dirty="0">
                <a:solidFill>
                  <a:srgbClr val="002060"/>
                </a:solidFill>
                <a:latin typeface="宋体" panose="02010600030101010101" pitchFamily="2" charset="-122"/>
                <a:ea typeface="宋体" panose="02010600030101010101" pitchFamily="2" charset="-122"/>
              </a:rPr>
              <a:t>绝缘电阻过低</a:t>
            </a:r>
            <a:r>
              <a:rPr lang="zh-CN" altLang="en-US" sz="2400" b="1" dirty="0">
                <a:latin typeface="宋体" panose="02010600030101010101" pitchFamily="2" charset="-122"/>
                <a:ea typeface="宋体" panose="02010600030101010101" pitchFamily="2" charset="-122"/>
              </a:rPr>
              <a:t>等原因。</a:t>
            </a:r>
          </a:p>
        </p:txBody>
      </p:sp>
      <p:sp>
        <p:nvSpPr>
          <p:cNvPr id="2" name="Slide Number Placeholder 1">
            <a:extLst>
              <a:ext uri="{FF2B5EF4-FFF2-40B4-BE49-F238E27FC236}">
                <a16:creationId xmlns:a16="http://schemas.microsoft.com/office/drawing/2014/main" id="{9604A9DA-A30A-45A9-918D-7066F0D80B83}"/>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Tree>
    <p:extLst>
      <p:ext uri="{BB962C8B-B14F-4D97-AF65-F5344CB8AC3E}">
        <p14:creationId xmlns:p14="http://schemas.microsoft.com/office/powerpoint/2010/main" val="20719824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7B408915-A536-4BB8-AD13-94AA203D2A4F}"/>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Rectangle 5"/>
          <p:cNvSpPr>
            <a:spLocks noChangeArrowheads="1"/>
          </p:cNvSpPr>
          <p:nvPr/>
        </p:nvSpPr>
        <p:spPr bwMode="auto">
          <a:xfrm>
            <a:off x="755962" y="1642817"/>
            <a:ext cx="7575238" cy="4191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indent="630238" algn="just" eaLnBrk="1" hangingPunct="1">
              <a:lnSpc>
                <a:spcPct val="150000"/>
              </a:lnSpc>
              <a:spcBef>
                <a:spcPts val="1200"/>
              </a:spcBef>
              <a:buClr>
                <a:schemeClr val="hlink"/>
              </a:buClr>
              <a:buSzPct val="60000"/>
              <a:buFont typeface="Wingdings" panose="05000000000000000000" pitchFamily="2" charset="2"/>
              <a:buNone/>
            </a:pPr>
            <a:r>
              <a:rPr lang="zh-CN" altLang="en-US" sz="2400" b="1" dirty="0">
                <a:solidFill>
                  <a:srgbClr val="FF0000"/>
                </a:solidFill>
                <a:latin typeface="宋体" panose="02010600030101010101" pitchFamily="2" charset="-122"/>
                <a:ea typeface="宋体" panose="02010600030101010101" pitchFamily="2" charset="-122"/>
              </a:rPr>
              <a:t>蠕变：</a:t>
            </a:r>
            <a:r>
              <a:rPr lang="zh-CN" altLang="en-US" sz="2400" b="1" dirty="0">
                <a:latin typeface="宋体" panose="02010600030101010101" pitchFamily="2" charset="-122"/>
                <a:ea typeface="宋体" panose="02010600030101010101" pitchFamily="2" charset="-122"/>
              </a:rPr>
              <a:t>粘贴在试件上的应变片，在温度保持恒定，受某一恒定的机械应变（一般为</a:t>
            </a:r>
            <a:r>
              <a:rPr lang="en-US" altLang="zh-CN" sz="2400" b="1" dirty="0">
                <a:solidFill>
                  <a:srgbClr val="00B050"/>
                </a:solidFill>
                <a:latin typeface="宋体" panose="02010600030101010101" pitchFamily="2" charset="-122"/>
                <a:ea typeface="宋体" panose="02010600030101010101" pitchFamily="2" charset="-122"/>
              </a:rPr>
              <a:t>1000</a:t>
            </a:r>
            <a:r>
              <a:rPr lang="en-US" altLang="zh-CN" sz="2400" b="1" dirty="0">
                <a:solidFill>
                  <a:srgbClr val="00B050"/>
                </a:solidFill>
                <a:latin typeface="宋体" panose="02010600030101010101" pitchFamily="2" charset="-122"/>
                <a:ea typeface="宋体" panose="02010600030101010101" pitchFamily="2" charset="-122"/>
                <a:sym typeface="Symbol" panose="05050102010706020507" pitchFamily="18" charset="2"/>
              </a:rPr>
              <a:t></a:t>
            </a:r>
            <a:r>
              <a:rPr lang="en-US" altLang="zh-CN" sz="2400" b="1" i="1" dirty="0">
                <a:solidFill>
                  <a:srgbClr val="00B050"/>
                </a:solidFill>
                <a:latin typeface="宋体" panose="02010600030101010101" pitchFamily="2" charset="-122"/>
                <a:ea typeface="宋体" panose="02010600030101010101" pitchFamily="2" charset="-122"/>
                <a:sym typeface="Symbol" panose="05050102010706020507" pitchFamily="18" charset="2"/>
              </a:rPr>
              <a:t></a:t>
            </a:r>
            <a:r>
              <a:rPr lang="zh-CN" altLang="en-US" sz="2400" b="1" dirty="0">
                <a:latin typeface="宋体" panose="02010600030101010101" pitchFamily="2" charset="-122"/>
                <a:ea typeface="宋体" panose="02010600030101010101" pitchFamily="2" charset="-122"/>
              </a:rPr>
              <a:t>）长时间作用下，应变指示随时间变化的特性。</a:t>
            </a:r>
            <a:endParaRPr lang="en-US" altLang="zh-CN" sz="2400" b="1" dirty="0">
              <a:latin typeface="宋体" panose="02010600030101010101" pitchFamily="2" charset="-122"/>
              <a:ea typeface="宋体" panose="02010600030101010101" pitchFamily="2" charset="-122"/>
            </a:endParaRPr>
          </a:p>
          <a:p>
            <a:pPr indent="630238" algn="just" eaLnBrk="1" hangingPunct="1">
              <a:lnSpc>
                <a:spcPct val="150000"/>
              </a:lnSpc>
              <a:spcBef>
                <a:spcPts val="1200"/>
              </a:spcBef>
              <a:buClr>
                <a:schemeClr val="hlink"/>
              </a:buClr>
              <a:buSzPct val="60000"/>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通常，蠕变的方向是与原来应变量变化的方向相反。</a:t>
            </a:r>
          </a:p>
          <a:p>
            <a:pPr indent="630000" algn="just" eaLnBrk="1" hangingPunct="1">
              <a:lnSpc>
                <a:spcPct val="150000"/>
              </a:lnSpc>
              <a:spcBef>
                <a:spcPts val="1200"/>
              </a:spcBef>
              <a:buClr>
                <a:schemeClr val="hlink"/>
              </a:buClr>
              <a:buSzPct val="60000"/>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应变片产生蠕变的原因：应变片在制造过程所产生的</a:t>
            </a:r>
            <a:r>
              <a:rPr lang="zh-CN" altLang="en-US" sz="2400" b="1" dirty="0">
                <a:solidFill>
                  <a:srgbClr val="FF0000"/>
                </a:solidFill>
                <a:latin typeface="宋体" panose="02010600030101010101" pitchFamily="2" charset="-122"/>
                <a:ea typeface="宋体" panose="02010600030101010101" pitchFamily="2" charset="-122"/>
              </a:rPr>
              <a:t>内应力</a:t>
            </a:r>
            <a:r>
              <a:rPr lang="zh-CN" altLang="en-US" sz="2400" b="1" dirty="0">
                <a:latin typeface="宋体" panose="02010600030101010101" pitchFamily="2" charset="-122"/>
                <a:ea typeface="宋体" panose="02010600030101010101" pitchFamily="2" charset="-122"/>
              </a:rPr>
              <a:t>，敏感栅、粘合剂和基底在一定温度和载荷下内部结构的变化，以及粘合剂受潮等。           </a:t>
            </a:r>
          </a:p>
        </p:txBody>
      </p:sp>
      <p:sp>
        <p:nvSpPr>
          <p:cNvPr id="2" name="Slide Number Placeholder 1">
            <a:extLst>
              <a:ext uri="{FF2B5EF4-FFF2-40B4-BE49-F238E27FC236}">
                <a16:creationId xmlns:a16="http://schemas.microsoft.com/office/drawing/2014/main" id="{52F5B393-CCCC-4B86-9A1F-F43E9AABC6B7}"/>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Tree>
    <p:extLst>
      <p:ext uri="{BB962C8B-B14F-4D97-AF65-F5344CB8AC3E}">
        <p14:creationId xmlns:p14="http://schemas.microsoft.com/office/powerpoint/2010/main" val="34337922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
            <a:extLst>
              <a:ext uri="{FF2B5EF4-FFF2-40B4-BE49-F238E27FC236}">
                <a16:creationId xmlns:a16="http://schemas.microsoft.com/office/drawing/2014/main" id="{5BE87581-3315-4194-9799-2063532E0A9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Text Box 2"/>
          <p:cNvSpPr txBox="1">
            <a:spLocks noChangeArrowheads="1"/>
          </p:cNvSpPr>
          <p:nvPr/>
        </p:nvSpPr>
        <p:spPr bwMode="auto">
          <a:xfrm>
            <a:off x="693904" y="1598243"/>
            <a:ext cx="79901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r>
              <a:rPr lang="zh-CN" altLang="en-US" sz="2400" b="1" dirty="0">
                <a:solidFill>
                  <a:srgbClr val="FF0000"/>
                </a:solidFill>
                <a:latin typeface="Verdana" panose="020B0604030504040204" pitchFamily="34" charset="0"/>
                <a:ea typeface="宋体" panose="02010600030101010101" pitchFamily="2" charset="-122"/>
              </a:rPr>
              <a:t>温度效应：</a:t>
            </a:r>
            <a:r>
              <a:rPr lang="zh-CN" altLang="en-US" sz="2400" b="1" dirty="0">
                <a:latin typeface="Verdana" panose="020B0604030504040204" pitchFamily="34" charset="0"/>
                <a:ea typeface="宋体" panose="02010600030101010101" pitchFamily="2" charset="-122"/>
              </a:rPr>
              <a:t>环境温度变化导致电阻变化，产</a:t>
            </a:r>
            <a:r>
              <a:rPr lang="zh-CN" altLang="en-US" sz="2400" b="1">
                <a:latin typeface="Verdana" panose="020B0604030504040204" pitchFamily="34" charset="0"/>
                <a:ea typeface="宋体" panose="02010600030101010101" pitchFamily="2" charset="-122"/>
              </a:rPr>
              <a:t>生虚假</a:t>
            </a:r>
            <a:r>
              <a:rPr lang="zh-CN" altLang="en-US" sz="2400" b="1" dirty="0">
                <a:latin typeface="Verdana" panose="020B0604030504040204" pitchFamily="34" charset="0"/>
                <a:ea typeface="宋体" panose="02010600030101010101" pitchFamily="2" charset="-122"/>
              </a:rPr>
              <a:t>应变。 </a:t>
            </a:r>
          </a:p>
        </p:txBody>
      </p:sp>
      <p:graphicFrame>
        <p:nvGraphicFramePr>
          <p:cNvPr id="20" name="Object 3"/>
          <p:cNvGraphicFramePr>
            <a:graphicFrameLocks noChangeAspect="1"/>
          </p:cNvGraphicFramePr>
          <p:nvPr>
            <p:extLst>
              <p:ext uri="{D42A27DB-BD31-4B8C-83A1-F6EECF244321}">
                <p14:modId xmlns:p14="http://schemas.microsoft.com/office/powerpoint/2010/main" val="239960038"/>
              </p:ext>
            </p:extLst>
          </p:nvPr>
        </p:nvGraphicFramePr>
        <p:xfrm>
          <a:off x="762446" y="2251166"/>
          <a:ext cx="5672137" cy="889000"/>
        </p:xfrm>
        <a:graphic>
          <a:graphicData uri="http://schemas.openxmlformats.org/presentationml/2006/ole">
            <mc:AlternateContent xmlns:mc="http://schemas.openxmlformats.org/markup-compatibility/2006">
              <mc:Choice xmlns:v="urn:schemas-microsoft-com:vml" Requires="v">
                <p:oleObj name="公式" r:id="rId3" imgW="2946240" imgH="444240" progId="Equation.3">
                  <p:embed/>
                </p:oleObj>
              </mc:Choice>
              <mc:Fallback>
                <p:oleObj name="公式" r:id="rId3" imgW="2946240" imgH="444240" progId="Equation.3">
                  <p:embed/>
                  <p:pic>
                    <p:nvPicPr>
                      <p:cNvPr id="24579" name="Object 3"/>
                      <p:cNvPicPr>
                        <a:picLocks noChangeAspect="1" noChangeArrowheads="1"/>
                      </p:cNvPicPr>
                      <p:nvPr/>
                    </p:nvPicPr>
                    <p:blipFill>
                      <a:blip r:embed="rId4"/>
                      <a:srcRect/>
                      <a:stretch>
                        <a:fillRect/>
                      </a:stretch>
                    </p:blipFill>
                    <p:spPr bwMode="auto">
                      <a:xfrm>
                        <a:off x="762446" y="2251166"/>
                        <a:ext cx="5672137" cy="889000"/>
                      </a:xfrm>
                      <a:prstGeom prst="rect">
                        <a:avLst/>
                      </a:prstGeom>
                      <a:noFill/>
                      <a:ln>
                        <a:noFill/>
                      </a:ln>
                    </p:spPr>
                  </p:pic>
                </p:oleObj>
              </mc:Fallback>
            </mc:AlternateContent>
          </a:graphicData>
        </a:graphic>
      </p:graphicFrame>
      <p:sp>
        <p:nvSpPr>
          <p:cNvPr id="21" name="Text Box 22"/>
          <p:cNvSpPr txBox="1">
            <a:spLocks noChangeArrowheads="1"/>
          </p:cNvSpPr>
          <p:nvPr/>
        </p:nvSpPr>
        <p:spPr bwMode="auto">
          <a:xfrm>
            <a:off x="490194" y="5312795"/>
            <a:ext cx="2767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r>
              <a:rPr lang="zh-CN" altLang="en-US" sz="2400" b="1" dirty="0">
                <a:latin typeface="Verdana" panose="020B0604030504040204" pitchFamily="34" charset="0"/>
                <a:ea typeface="宋体" panose="02010600030101010101" pitchFamily="2" charset="-122"/>
              </a:rPr>
              <a:t>对应的虚假应变： </a:t>
            </a:r>
          </a:p>
        </p:txBody>
      </p:sp>
      <p:graphicFrame>
        <p:nvGraphicFramePr>
          <p:cNvPr id="22" name="Object 23"/>
          <p:cNvGraphicFramePr>
            <a:graphicFrameLocks noChangeAspect="1"/>
          </p:cNvGraphicFramePr>
          <p:nvPr>
            <p:extLst>
              <p:ext uri="{D42A27DB-BD31-4B8C-83A1-F6EECF244321}">
                <p14:modId xmlns:p14="http://schemas.microsoft.com/office/powerpoint/2010/main" val="2948051067"/>
              </p:ext>
            </p:extLst>
          </p:nvPr>
        </p:nvGraphicFramePr>
        <p:xfrm>
          <a:off x="3034239" y="5082460"/>
          <a:ext cx="5213350" cy="922337"/>
        </p:xfrm>
        <a:graphic>
          <a:graphicData uri="http://schemas.openxmlformats.org/presentationml/2006/ole">
            <mc:AlternateContent xmlns:mc="http://schemas.openxmlformats.org/markup-compatibility/2006">
              <mc:Choice xmlns:v="urn:schemas-microsoft-com:vml" Requires="v">
                <p:oleObj name="公式" r:id="rId5" imgW="2577960" imgH="431640" progId="Equation.3">
                  <p:embed/>
                </p:oleObj>
              </mc:Choice>
              <mc:Fallback>
                <p:oleObj name="公式" r:id="rId5" imgW="2577960" imgH="431640" progId="Equation.3">
                  <p:embed/>
                  <p:pic>
                    <p:nvPicPr>
                      <p:cNvPr id="24586" name="Object 23"/>
                      <p:cNvPicPr>
                        <a:picLocks noChangeAspect="1" noChangeArrowheads="1"/>
                      </p:cNvPicPr>
                      <p:nvPr/>
                    </p:nvPicPr>
                    <p:blipFill>
                      <a:blip r:embed="rId6"/>
                      <a:srcRect/>
                      <a:stretch>
                        <a:fillRect/>
                      </a:stretch>
                    </p:blipFill>
                    <p:spPr bwMode="auto">
                      <a:xfrm>
                        <a:off x="3034239" y="5082460"/>
                        <a:ext cx="5213350" cy="922337"/>
                      </a:xfrm>
                      <a:prstGeom prst="rect">
                        <a:avLst/>
                      </a:prstGeom>
                      <a:noFill/>
                      <a:ln>
                        <a:noFill/>
                      </a:ln>
                    </p:spPr>
                  </p:pic>
                </p:oleObj>
              </mc:Fallback>
            </mc:AlternateContent>
          </a:graphicData>
        </a:graphic>
      </p:graphicFrame>
      <p:sp>
        <p:nvSpPr>
          <p:cNvPr id="10" name="TextBox 9">
            <a:extLst>
              <a:ext uri="{FF2B5EF4-FFF2-40B4-BE49-F238E27FC236}">
                <a16:creationId xmlns:a16="http://schemas.microsoft.com/office/drawing/2014/main" id="{F271C3CF-DA74-46E7-9B03-81403D865432}"/>
              </a:ext>
            </a:extLst>
          </p:cNvPr>
          <p:cNvSpPr txBox="1"/>
          <p:nvPr/>
        </p:nvSpPr>
        <p:spPr>
          <a:xfrm>
            <a:off x="490194" y="3750462"/>
            <a:ext cx="2940012" cy="923330"/>
          </a:xfrm>
          <a:prstGeom prst="rect">
            <a:avLst/>
          </a:prstGeom>
          <a:solidFill>
            <a:schemeClr val="accent2">
              <a:lumMod val="40000"/>
              <a:lumOff val="60000"/>
            </a:schemeClr>
          </a:solidFill>
        </p:spPr>
        <p:txBody>
          <a:bodyPr wrap="square">
            <a:spAutoFit/>
          </a:bodyPr>
          <a:lstStyle/>
          <a:p>
            <a:r>
              <a:rPr lang="en-001">
                <a:latin typeface="宋体" panose="02010600030101010101" pitchFamily="2" charset="-122"/>
                <a:ea typeface="宋体" panose="02010600030101010101" pitchFamily="2" charset="-122"/>
              </a:rPr>
              <a:t>由于敏感栅材料的电阻温度系数α的存在，引起电阻</a:t>
            </a:r>
            <a:r>
              <a:rPr lang="zh-CN" altLang="en-US">
                <a:latin typeface="宋体" panose="02010600030101010101" pitchFamily="2" charset="-122"/>
                <a:ea typeface="宋体" panose="02010600030101010101" pitchFamily="2" charset="-122"/>
              </a:rPr>
              <a:t>的</a:t>
            </a:r>
            <a:r>
              <a:rPr lang="en-001">
                <a:latin typeface="宋体" panose="02010600030101010101" pitchFamily="2" charset="-122"/>
                <a:ea typeface="宋体" panose="02010600030101010101" pitchFamily="2" charset="-122"/>
              </a:rPr>
              <a:t>相对变化</a:t>
            </a:r>
          </a:p>
        </p:txBody>
      </p:sp>
      <p:sp>
        <p:nvSpPr>
          <p:cNvPr id="11" name="TextBox 10">
            <a:extLst>
              <a:ext uri="{FF2B5EF4-FFF2-40B4-BE49-F238E27FC236}">
                <a16:creationId xmlns:a16="http://schemas.microsoft.com/office/drawing/2014/main" id="{A2C4217F-5A6E-45C1-8F2C-CD36B997A01C}"/>
              </a:ext>
            </a:extLst>
          </p:cNvPr>
          <p:cNvSpPr txBox="1"/>
          <p:nvPr/>
        </p:nvSpPr>
        <p:spPr>
          <a:xfrm>
            <a:off x="5154656" y="3028121"/>
            <a:ext cx="3909443" cy="923330"/>
          </a:xfrm>
          <a:prstGeom prst="rect">
            <a:avLst/>
          </a:prstGeom>
          <a:solidFill>
            <a:schemeClr val="accent2">
              <a:lumMod val="40000"/>
              <a:lumOff val="60000"/>
            </a:schemeClr>
          </a:solidFill>
        </p:spPr>
        <p:txBody>
          <a:bodyPr wrap="square">
            <a:spAutoFit/>
          </a:bodyPr>
          <a:lstStyle/>
          <a:p>
            <a:r>
              <a:rPr lang="zh-CN" altLang="en-US">
                <a:latin typeface="宋体" panose="02010600030101010101" pitchFamily="2" charset="-122"/>
                <a:ea typeface="宋体" panose="02010600030101010101" pitchFamily="2" charset="-122"/>
              </a:rPr>
              <a:t>由于敏感材料和试件材料的膨胀系数不同，应变片产生附加的拉长或压缩，引起电阻相对变化</a:t>
            </a:r>
            <a:endParaRPr lang="en-001">
              <a:latin typeface="宋体" panose="02010600030101010101" pitchFamily="2" charset="-122"/>
              <a:ea typeface="宋体" panose="02010600030101010101" pitchFamily="2" charset="-122"/>
            </a:endParaRPr>
          </a:p>
        </p:txBody>
      </p:sp>
      <p:cxnSp>
        <p:nvCxnSpPr>
          <p:cNvPr id="4" name="Straight Arrow Connector 3">
            <a:extLst>
              <a:ext uri="{FF2B5EF4-FFF2-40B4-BE49-F238E27FC236}">
                <a16:creationId xmlns:a16="http://schemas.microsoft.com/office/drawing/2014/main" id="{114A05FD-0671-4F4C-85AC-129F9B5E53F1}"/>
              </a:ext>
            </a:extLst>
          </p:cNvPr>
          <p:cNvCxnSpPr>
            <a:cxnSpLocks/>
          </p:cNvCxnSpPr>
          <p:nvPr/>
        </p:nvCxnSpPr>
        <p:spPr>
          <a:xfrm flipV="1">
            <a:off x="3426384" y="2870934"/>
            <a:ext cx="626462" cy="856028"/>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6" name="Straight Arrow Connector 5">
            <a:extLst>
              <a:ext uri="{FF2B5EF4-FFF2-40B4-BE49-F238E27FC236}">
                <a16:creationId xmlns:a16="http://schemas.microsoft.com/office/drawing/2014/main" id="{C9729B4E-2032-4956-AE6C-96F66B400BBB}"/>
              </a:ext>
            </a:extLst>
          </p:cNvPr>
          <p:cNvCxnSpPr>
            <a:cxnSpLocks/>
          </p:cNvCxnSpPr>
          <p:nvPr/>
        </p:nvCxnSpPr>
        <p:spPr>
          <a:xfrm flipH="1" flipV="1">
            <a:off x="6576160" y="2623416"/>
            <a:ext cx="610200" cy="352756"/>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7" name="Picture 6">
            <a:extLst>
              <a:ext uri="{FF2B5EF4-FFF2-40B4-BE49-F238E27FC236}">
                <a16:creationId xmlns:a16="http://schemas.microsoft.com/office/drawing/2014/main" id="{2BB16922-82C7-4327-B3E5-62CD425696A8}"/>
              </a:ext>
            </a:extLst>
          </p:cNvPr>
          <p:cNvPicPr>
            <a:picLocks noChangeAspect="1"/>
          </p:cNvPicPr>
          <p:nvPr/>
        </p:nvPicPr>
        <p:blipFill>
          <a:blip r:embed="rId7"/>
          <a:stretch>
            <a:fillRect/>
          </a:stretch>
        </p:blipFill>
        <p:spPr>
          <a:xfrm>
            <a:off x="5208268" y="4056844"/>
            <a:ext cx="2815621" cy="729436"/>
          </a:xfrm>
          <a:prstGeom prst="rect">
            <a:avLst/>
          </a:prstGeom>
        </p:spPr>
      </p:pic>
      <p:sp>
        <p:nvSpPr>
          <p:cNvPr id="2" name="Slide Number Placeholder 1">
            <a:extLst>
              <a:ext uri="{FF2B5EF4-FFF2-40B4-BE49-F238E27FC236}">
                <a16:creationId xmlns:a16="http://schemas.microsoft.com/office/drawing/2014/main" id="{2275D9D3-3A77-4CCE-A603-226605EDC2A5}"/>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20088115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B694967D-E408-4AA5-BA55-AD2BF15AE60F}"/>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Text Box 7"/>
          <p:cNvSpPr txBox="1">
            <a:spLocks noChangeArrowheads="1"/>
          </p:cNvSpPr>
          <p:nvPr/>
        </p:nvSpPr>
        <p:spPr bwMode="auto">
          <a:xfrm>
            <a:off x="708890" y="4297566"/>
            <a:ext cx="4376691"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pPr>
            <a:r>
              <a:rPr lang="zh-CN" altLang="en-US" sz="2400" b="1" dirty="0">
                <a:solidFill>
                  <a:srgbClr val="FF0000"/>
                </a:solidFill>
                <a:latin typeface="宋体" panose="02010600030101010101" pitchFamily="2" charset="-122"/>
                <a:ea typeface="宋体" panose="02010600030101010101" pitchFamily="2" charset="-122"/>
              </a:rPr>
              <a:t>疲劳寿命：</a:t>
            </a:r>
            <a:r>
              <a:rPr lang="zh-CN" altLang="en-US" sz="2400" b="1" dirty="0">
                <a:latin typeface="宋体" panose="02010600030101010101" pitchFamily="2" charset="-122"/>
                <a:ea typeface="宋体" panose="02010600030101010101" pitchFamily="2" charset="-122"/>
              </a:rPr>
              <a:t>在恒定极值的交变应力作用下，可以连续工作而不产生疲劳损坏的循环次数</a:t>
            </a:r>
            <a:r>
              <a:rPr lang="en-US" altLang="zh-CN" sz="2400" b="1" i="1" dirty="0">
                <a:latin typeface="宋体" panose="02010600030101010101" pitchFamily="2" charset="-122"/>
                <a:ea typeface="宋体" panose="02010600030101010101" pitchFamily="2" charset="-122"/>
              </a:rPr>
              <a:t>N</a:t>
            </a:r>
            <a:r>
              <a:rPr lang="zh-CN" altLang="en-US" sz="2400" b="1" dirty="0">
                <a:latin typeface="宋体" panose="02010600030101010101" pitchFamily="2" charset="-122"/>
                <a:ea typeface="宋体" panose="02010600030101010101" pitchFamily="2" charset="-122"/>
              </a:rPr>
              <a:t>。</a:t>
            </a:r>
          </a:p>
        </p:txBody>
      </p:sp>
      <p:sp>
        <p:nvSpPr>
          <p:cNvPr id="20" name="Text Box 23"/>
          <p:cNvSpPr txBox="1">
            <a:spLocks noChangeArrowheads="1"/>
          </p:cNvSpPr>
          <p:nvPr/>
        </p:nvSpPr>
        <p:spPr bwMode="auto">
          <a:xfrm>
            <a:off x="708890" y="1292362"/>
            <a:ext cx="3912234" cy="2792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spcBef>
                <a:spcPct val="50000"/>
              </a:spcBef>
            </a:pPr>
            <a:r>
              <a:rPr lang="zh-CN" altLang="en-US" sz="2400" b="1" dirty="0">
                <a:solidFill>
                  <a:srgbClr val="FF0000"/>
                </a:solidFill>
                <a:latin typeface="宋体" panose="02010600030101010101" pitchFamily="2" charset="-122"/>
                <a:ea typeface="宋体" panose="02010600030101010101" pitchFamily="2" charset="-122"/>
              </a:rPr>
              <a:t>应变极限：</a:t>
            </a:r>
            <a:r>
              <a:rPr lang="zh-CN" altLang="en-US" sz="2400" b="1" dirty="0">
                <a:latin typeface="宋体" panose="02010600030101010101" pitchFamily="2" charset="-122"/>
                <a:ea typeface="宋体" panose="02010600030101010101" pitchFamily="2" charset="-122"/>
              </a:rPr>
              <a:t>在一定温度下，应变片的指示应变</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宋体" panose="02010600030101010101" pitchFamily="2" charset="-122"/>
                <a:ea typeface="宋体" panose="02010600030101010101" pitchFamily="2" charset="-122"/>
              </a:rPr>
              <a:t>与试件的真实应变</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sz="2400" b="1" dirty="0">
                <a:latin typeface="宋体" panose="02010600030101010101" pitchFamily="2" charset="-122"/>
                <a:ea typeface="宋体" panose="02010600030101010101" pitchFamily="2" charset="-122"/>
              </a:rPr>
              <a:t>的相对误差达规定值（一般为</a:t>
            </a:r>
            <a:r>
              <a:rPr lang="en-US" altLang="zh-CN" sz="2400" b="1" dirty="0">
                <a:latin typeface="宋体" panose="02010600030101010101" pitchFamily="2" charset="-122"/>
                <a:ea typeface="宋体" panose="02010600030101010101" pitchFamily="2" charset="-122"/>
              </a:rPr>
              <a:t>10%</a:t>
            </a:r>
            <a:r>
              <a:rPr lang="zh-CN" altLang="en-US" sz="2400" b="1" dirty="0">
                <a:latin typeface="宋体" panose="02010600030101010101" pitchFamily="2" charset="-122"/>
                <a:ea typeface="宋体" panose="02010600030101010101" pitchFamily="2" charset="-122"/>
              </a:rPr>
              <a:t>）时的真实应变值</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j</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宋体" panose="02010600030101010101" pitchFamily="2" charset="-122"/>
                <a:ea typeface="宋体" panose="02010600030101010101" pitchFamily="2" charset="-122"/>
              </a:rPr>
              <a:t>。</a:t>
            </a:r>
          </a:p>
        </p:txBody>
      </p:sp>
      <p:sp>
        <p:nvSpPr>
          <p:cNvPr id="8" name="Text Box 9">
            <a:extLst>
              <a:ext uri="{FF2B5EF4-FFF2-40B4-BE49-F238E27FC236}">
                <a16:creationId xmlns:a16="http://schemas.microsoft.com/office/drawing/2014/main" id="{B806C8C6-D5DA-4759-B9FD-FF45E78B5A21}"/>
              </a:ext>
            </a:extLst>
          </p:cNvPr>
          <p:cNvSpPr txBox="1">
            <a:spLocks noChangeArrowheads="1"/>
          </p:cNvSpPr>
          <p:nvPr/>
        </p:nvSpPr>
        <p:spPr bwMode="auto">
          <a:xfrm>
            <a:off x="5892800" y="5208211"/>
            <a:ext cx="2612571"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2-22  </a:t>
            </a:r>
            <a:r>
              <a:rPr lang="zh-CN" altLang="en-US" b="1" dirty="0">
                <a:solidFill>
                  <a:srgbClr val="000099"/>
                </a:solidFill>
              </a:rPr>
              <a:t>应变极限</a:t>
            </a:r>
          </a:p>
        </p:txBody>
      </p:sp>
      <p:pic>
        <p:nvPicPr>
          <p:cNvPr id="9" name="图片 1">
            <a:extLst>
              <a:ext uri="{FF2B5EF4-FFF2-40B4-BE49-F238E27FC236}">
                <a16:creationId xmlns:a16="http://schemas.microsoft.com/office/drawing/2014/main" id="{5C3FC2C3-508F-4F19-A39F-0938E0700DBA}"/>
              </a:ext>
            </a:extLst>
          </p:cNvPr>
          <p:cNvPicPr>
            <a:picLocks noChangeAspect="1"/>
          </p:cNvPicPr>
          <p:nvPr/>
        </p:nvPicPr>
        <p:blipFill>
          <a:blip r:embed="rId3"/>
          <a:stretch>
            <a:fillRect/>
          </a:stretch>
        </p:blipFill>
        <p:spPr>
          <a:xfrm>
            <a:off x="5212495" y="1732036"/>
            <a:ext cx="3492362" cy="2866746"/>
          </a:xfrm>
          <a:prstGeom prst="rect">
            <a:avLst/>
          </a:prstGeom>
        </p:spPr>
      </p:pic>
      <p:sp>
        <p:nvSpPr>
          <p:cNvPr id="2" name="Slide Number Placeholder 1">
            <a:extLst>
              <a:ext uri="{FF2B5EF4-FFF2-40B4-BE49-F238E27FC236}">
                <a16:creationId xmlns:a16="http://schemas.microsoft.com/office/drawing/2014/main" id="{DD690CA3-B116-4937-85E9-6281A4366950}"/>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Tree>
    <p:extLst>
      <p:ext uri="{BB962C8B-B14F-4D97-AF65-F5344CB8AC3E}">
        <p14:creationId xmlns:p14="http://schemas.microsoft.com/office/powerpoint/2010/main" val="31984043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34E81D38-D156-4482-B70E-C29960265ABC}"/>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Text Box 4"/>
          <p:cNvSpPr txBox="1">
            <a:spLocks noChangeArrowheads="1"/>
          </p:cNvSpPr>
          <p:nvPr/>
        </p:nvSpPr>
        <p:spPr bwMode="auto">
          <a:xfrm>
            <a:off x="1749265" y="2070694"/>
            <a:ext cx="42158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pPr>
            <a:r>
              <a:rPr lang="zh-CN" altLang="en-US" sz="2400" b="1" dirty="0">
                <a:solidFill>
                  <a:srgbClr val="FF0000"/>
                </a:solidFill>
                <a:latin typeface="Verdana" panose="020B0604030504040204" pitchFamily="34" charset="0"/>
                <a:ea typeface="宋体" panose="02010600030101010101" pitchFamily="2" charset="-122"/>
              </a:rPr>
              <a:t>绝缘电阻、最大工作电流</a:t>
            </a:r>
            <a:r>
              <a:rPr lang="en-US" altLang="zh-CN" sz="2400" b="1" dirty="0">
                <a:solidFill>
                  <a:srgbClr val="FF0000"/>
                </a:solidFill>
                <a:latin typeface="Verdana" panose="020B0604030504040204" pitchFamily="34" charset="0"/>
                <a:ea typeface="宋体" panose="02010600030101010101" pitchFamily="2" charset="-122"/>
              </a:rPr>
              <a:t>:</a:t>
            </a:r>
            <a:endParaRPr lang="zh-CN" altLang="en-US" sz="2400" b="1" dirty="0">
              <a:solidFill>
                <a:srgbClr val="FF0000"/>
              </a:solidFill>
              <a:latin typeface="Verdana" panose="020B0604030504040204" pitchFamily="34" charset="0"/>
              <a:ea typeface="宋体" panose="02010600030101010101" pitchFamily="2" charset="-122"/>
            </a:endParaRPr>
          </a:p>
        </p:txBody>
      </p:sp>
      <p:sp>
        <p:nvSpPr>
          <p:cNvPr id="20" name="Text Box 5"/>
          <p:cNvSpPr txBox="1">
            <a:spLocks noChangeArrowheads="1"/>
          </p:cNvSpPr>
          <p:nvPr/>
        </p:nvSpPr>
        <p:spPr bwMode="auto">
          <a:xfrm>
            <a:off x="1143001" y="2936303"/>
            <a:ext cx="6868886" cy="21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indent="630238" eaLnBrk="1" hangingPunct="1">
              <a:lnSpc>
                <a:spcPct val="200000"/>
              </a:lnSpc>
              <a:spcBef>
                <a:spcPct val="50000"/>
              </a:spcBef>
            </a:pPr>
            <a:r>
              <a:rPr lang="zh-CN" altLang="en-US" sz="2400" b="1" dirty="0">
                <a:latin typeface="Verdana" panose="020B0604030504040204" pitchFamily="34" charset="0"/>
                <a:ea typeface="宋体" panose="02010600030101010101" pitchFamily="2" charset="-122"/>
              </a:rPr>
              <a:t>引线与被测试件 </a:t>
            </a:r>
            <a:r>
              <a:rPr lang="en-US" altLang="zh-CN" sz="2400" i="1" dirty="0">
                <a:solidFill>
                  <a:srgbClr val="FF0000"/>
                </a:solidFill>
                <a:latin typeface="Times New Roman" panose="02020603050405020304" pitchFamily="18" charset="0"/>
                <a:ea typeface="宋体" panose="02010600030101010101" pitchFamily="2" charset="-122"/>
              </a:rPr>
              <a:t>R</a:t>
            </a:r>
            <a:r>
              <a:rPr lang="en-US" altLang="zh-CN" sz="2400" i="1" baseline="-25000" dirty="0">
                <a:solidFill>
                  <a:srgbClr val="FF0000"/>
                </a:solidFill>
                <a:latin typeface="Times New Roman" panose="02020603050405020304" pitchFamily="18" charset="0"/>
                <a:ea typeface="宋体" panose="02010600030101010101" pitchFamily="2" charset="-122"/>
              </a:rPr>
              <a:t>m</a:t>
            </a:r>
            <a:r>
              <a:rPr lang="en-US" altLang="zh-CN" sz="2400" i="1" baseline="-25000" dirty="0">
                <a:solidFill>
                  <a:srgbClr val="C00000"/>
                </a:solidFill>
                <a:latin typeface="Times New Roman" panose="02020603050405020304" pitchFamily="18" charset="0"/>
                <a:ea typeface="宋体" panose="02010600030101010101" pitchFamily="2" charset="-122"/>
              </a:rPr>
              <a:t> </a:t>
            </a:r>
            <a:r>
              <a:rPr lang="zh-CN" altLang="en-US" sz="2400" b="1" dirty="0">
                <a:latin typeface="Verdana" panose="020B0604030504040204" pitchFamily="34" charset="0"/>
                <a:ea typeface="宋体" panose="02010600030101010101" pitchFamily="2" charset="-122"/>
              </a:rPr>
              <a:t>通常在</a:t>
            </a:r>
            <a:r>
              <a:rPr lang="en-US" altLang="zh-CN" sz="2400" dirty="0">
                <a:latin typeface="Times New Roman" panose="02020603050405020304" pitchFamily="18" charset="0"/>
                <a:ea typeface="宋体" panose="02010600030101010101" pitchFamily="2" charset="-122"/>
              </a:rPr>
              <a:t>50-100MΩ</a:t>
            </a:r>
            <a:r>
              <a:rPr lang="zh-CN" altLang="en-US" sz="2400" b="1" dirty="0">
                <a:latin typeface="Verdana" panose="020B0604030504040204" pitchFamily="34" charset="0"/>
                <a:ea typeface="宋体" panose="02010600030101010101" pitchFamily="2" charset="-122"/>
              </a:rPr>
              <a:t>以上，影响灵敏度。工作电流大，灵敏度高，但</a:t>
            </a:r>
            <a:r>
              <a:rPr lang="zh-CN" altLang="en-US" sz="2400" b="1" dirty="0">
                <a:solidFill>
                  <a:srgbClr val="FF0000"/>
                </a:solidFill>
                <a:latin typeface="宋体" panose="02010600030101010101" pitchFamily="2" charset="-122"/>
                <a:ea typeface="宋体" panose="02010600030101010101" pitchFamily="2" charset="-122"/>
              </a:rPr>
              <a:t>热效应</a:t>
            </a:r>
            <a:r>
              <a:rPr lang="zh-CN" altLang="en-US" sz="2400" b="1" dirty="0">
                <a:latin typeface="Verdana" panose="020B0604030504040204" pitchFamily="34" charset="0"/>
                <a:ea typeface="宋体" panose="02010600030101010101" pitchFamily="2" charset="-122"/>
              </a:rPr>
              <a:t>使得效果相反，必须工作在最大工作电流以下。</a:t>
            </a:r>
            <a:endParaRPr lang="zh-CN" altLang="en-US" sz="2400" b="1" baseline="-25000" dirty="0">
              <a:latin typeface="Verdana" panose="020B0604030504040204" pitchFamily="34" charset="0"/>
              <a:ea typeface="宋体" panose="02010600030101010101" pitchFamily="2" charset="-122"/>
            </a:endParaRPr>
          </a:p>
        </p:txBody>
      </p:sp>
      <p:sp>
        <p:nvSpPr>
          <p:cNvPr id="2" name="Slide Number Placeholder 1">
            <a:extLst>
              <a:ext uri="{FF2B5EF4-FFF2-40B4-BE49-F238E27FC236}">
                <a16:creationId xmlns:a16="http://schemas.microsoft.com/office/drawing/2014/main" id="{2B1A8F29-861D-4A11-8173-E1D7EE62A619}"/>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Tree>
    <p:extLst>
      <p:ext uri="{BB962C8B-B14F-4D97-AF65-F5344CB8AC3E}">
        <p14:creationId xmlns:p14="http://schemas.microsoft.com/office/powerpoint/2010/main" val="10678121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565F8103-F40B-4529-B985-79F00F75FF5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Rectangle 5"/>
          <p:cNvSpPr txBox="1">
            <a:spLocks noChangeArrowheads="1"/>
          </p:cNvSpPr>
          <p:nvPr/>
        </p:nvSpPr>
        <p:spPr>
          <a:xfrm>
            <a:off x="72000" y="1977950"/>
            <a:ext cx="4778803" cy="1173346"/>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实验表明，</a:t>
            </a:r>
            <a:r>
              <a:rPr lang="zh-CN" altLang="en-US" sz="2400" b="1" dirty="0">
                <a:solidFill>
                  <a:srgbClr val="FF0000"/>
                </a:solidFill>
                <a:latin typeface="宋体" panose="02010600030101010101" pitchFamily="2" charset="-122"/>
                <a:ea typeface="宋体" panose="02010600030101010101" pitchFamily="2" charset="-122"/>
              </a:rPr>
              <a:t>机械应变波</a:t>
            </a:r>
            <a:r>
              <a:rPr lang="zh-CN" altLang="en-US" sz="2400" b="1" dirty="0">
                <a:latin typeface="宋体" panose="02010600030101010101" pitchFamily="2" charset="-122"/>
                <a:ea typeface="宋体" panose="02010600030101010101" pitchFamily="2" charset="-122"/>
              </a:rPr>
              <a:t>是以相同于声波的形式和速度在材料中传播。    </a:t>
            </a:r>
          </a:p>
        </p:txBody>
      </p:sp>
      <p:pic>
        <p:nvPicPr>
          <p:cNvPr id="2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393" y="1641168"/>
            <a:ext cx="4256927" cy="2967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 Box 7"/>
          <p:cNvSpPr txBox="1">
            <a:spLocks noChangeArrowheads="1"/>
          </p:cNvSpPr>
          <p:nvPr/>
        </p:nvSpPr>
        <p:spPr bwMode="auto">
          <a:xfrm>
            <a:off x="72000" y="3056816"/>
            <a:ext cx="4681115" cy="1684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pPr>
            <a:r>
              <a:rPr kumimoji="1" lang="zh-CN" altLang="en-US" sz="2400" b="1">
                <a:latin typeface="Times New Roman" panose="02020603050405020304" pitchFamily="18" charset="0"/>
                <a:ea typeface="宋体" panose="02010600030101010101" pitchFamily="2" charset="-122"/>
              </a:rPr>
              <a:t>为分</a:t>
            </a:r>
            <a:r>
              <a:rPr kumimoji="1" lang="zh-CN" altLang="en-US" sz="2400" b="1" dirty="0">
                <a:latin typeface="Times New Roman" panose="02020603050405020304" pitchFamily="18" charset="0"/>
                <a:ea typeface="宋体" panose="02010600030101010101" pitchFamily="2" charset="-122"/>
              </a:rPr>
              <a:t>析因频率产生的误差，假定试件内的</a:t>
            </a:r>
            <a:r>
              <a:rPr kumimoji="1" lang="zh-CN" altLang="en-US" sz="2400" b="1">
                <a:latin typeface="Times New Roman" panose="02020603050405020304" pitchFamily="18" charset="0"/>
                <a:ea typeface="宋体" panose="02010600030101010101" pitchFamily="2" charset="-122"/>
              </a:rPr>
              <a:t>应变波按</a:t>
            </a:r>
            <a:r>
              <a:rPr kumimoji="1" lang="zh-CN" altLang="en-US" sz="2400" b="1" dirty="0">
                <a:latin typeface="Times New Roman" panose="02020603050405020304" pitchFamily="18" charset="0"/>
                <a:ea typeface="宋体" panose="02010600030101010101" pitchFamily="2" charset="-122"/>
              </a:rPr>
              <a:t>正弦规律变化，角频率为</a:t>
            </a:r>
            <a:r>
              <a:rPr kumimoji="1"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latin typeface="Times New Roman" panose="02020603050405020304" pitchFamily="18" charset="0"/>
                <a:ea typeface="宋体" panose="02010600030101010101" pitchFamily="2" charset="-122"/>
              </a:rPr>
              <a:t>，波长为</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，波速为</a:t>
            </a:r>
            <a:r>
              <a:rPr kumimoji="1"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ea typeface="宋体" panose="02010600030101010101" pitchFamily="2" charset="-122"/>
              </a:rPr>
              <a:t>。</a:t>
            </a:r>
            <a:endParaRPr kumimoji="1" lang="zh-CN" altLang="en-US" sz="2400" b="1"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8" name="Rectangle 5">
                <a:extLst>
                  <a:ext uri="{FF2B5EF4-FFF2-40B4-BE49-F238E27FC236}">
                    <a16:creationId xmlns:a16="http://schemas.microsoft.com/office/drawing/2014/main" id="{695C7433-92B4-4CAC-A094-62903CC4CB8A}"/>
                  </a:ext>
                </a:extLst>
              </p:cNvPr>
              <p:cNvSpPr>
                <a:spLocks noChangeArrowheads="1"/>
              </p:cNvSpPr>
              <p:nvPr/>
            </p:nvSpPr>
            <p:spPr bwMode="auto">
              <a:xfrm>
                <a:off x="72000" y="4880050"/>
                <a:ext cx="9072000" cy="11255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just" eaLnBrk="1" hangingPunct="1">
                  <a:lnSpc>
                    <a:spcPct val="150000"/>
                  </a:lnSpc>
                </a:pPr>
                <a:r>
                  <a:rPr kumimoji="1" lang="zh-CN" altLang="en-US" sz="2400" b="1" dirty="0">
                    <a:latin typeface="宋体" panose="02010600030101010101" pitchFamily="2" charset="-122"/>
                    <a:ea typeface="宋体" panose="02010600030101010101" pitchFamily="2" charset="-122"/>
                  </a:rPr>
                  <a:t>应变片长</a:t>
                </a:r>
                <a:r>
                  <a:rPr kumimoji="1" lang="zh-CN" altLang="en-US" sz="2400" b="1">
                    <a:latin typeface="宋体" panose="02010600030101010101" pitchFamily="2" charset="-122"/>
                    <a:ea typeface="宋体" panose="02010600030101010101" pitchFamily="2" charset="-122"/>
                  </a:rPr>
                  <a:t>度为</a:t>
                </a:r>
                <a:r>
                  <a:rPr kumimoji="1" lang="en-US" altLang="zh-CN" sz="2400" i="1">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i="1">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b="1">
                    <a:latin typeface="宋体" panose="02010600030101010101" pitchFamily="2" charset="-122"/>
                    <a:ea typeface="宋体" panose="02010600030101010101" pitchFamily="2" charset="-122"/>
                  </a:rPr>
                  <a:t>，中心为</a:t>
                </a:r>
                <a14:m>
                  <m:oMath xmlns:m="http://schemas.openxmlformats.org/officeDocument/2006/math">
                    <m:sSub>
                      <m:sSubPr>
                        <m:ctrlPr>
                          <a:rPr kumimoji="1" lang="en-US" altLang="zh-CN" sz="2400" i="1">
                            <a:solidFill>
                              <a:srgbClr val="FF0000"/>
                            </a:solidFill>
                            <a:latin typeface="Cambria Math" panose="02040503050406030204" pitchFamily="18" charset="0"/>
                            <a:ea typeface="宋体" panose="02010600030101010101" pitchFamily="2" charset="-122"/>
                          </a:rPr>
                        </m:ctrlPr>
                      </m:sSubPr>
                      <m:e>
                        <m:r>
                          <a:rPr kumimoji="1" lang="en-US" altLang="zh-CN" sz="2400" i="1">
                            <a:solidFill>
                              <a:srgbClr val="FF0000"/>
                            </a:solidFill>
                            <a:latin typeface="Cambria Math" panose="02040503050406030204" pitchFamily="18" charset="0"/>
                            <a:ea typeface="宋体" panose="02010600030101010101" pitchFamily="2" charset="-122"/>
                          </a:rPr>
                          <m:t>𝑥</m:t>
                        </m:r>
                      </m:e>
                      <m:sub>
                        <m:r>
                          <a:rPr kumimoji="1" lang="en-US" altLang="zh-CN" sz="2400" i="1">
                            <a:solidFill>
                              <a:srgbClr val="FF0000"/>
                            </a:solidFill>
                            <a:latin typeface="Cambria Math" panose="02040503050406030204" pitchFamily="18" charset="0"/>
                            <a:ea typeface="宋体" panose="02010600030101010101" pitchFamily="2" charset="-122"/>
                          </a:rPr>
                          <m:t>0</m:t>
                        </m:r>
                      </m:sub>
                    </m:sSub>
                    <m:r>
                      <a:rPr kumimoji="1" lang="zh-CN" altLang="en-US" sz="2400" i="1" smtClean="0">
                        <a:solidFill>
                          <a:srgbClr val="FF0000"/>
                        </a:solidFill>
                        <a:latin typeface="Cambria Math" panose="02040503050406030204" pitchFamily="18" charset="0"/>
                        <a:ea typeface="宋体" panose="02010600030101010101" pitchFamily="2" charset="-122"/>
                      </a:rPr>
                      <m:t>，</m:t>
                    </m:r>
                  </m:oMath>
                </a14:m>
                <a:r>
                  <a:rPr kumimoji="1" lang="zh-CN" altLang="en-US" sz="2400" b="1">
                    <a:latin typeface="宋体" panose="02010600030101010101" pitchFamily="2" charset="-122"/>
                    <a:ea typeface="宋体" panose="02010600030101010101" pitchFamily="2" charset="-122"/>
                  </a:rPr>
                  <a:t>位</a:t>
                </a:r>
                <a:r>
                  <a:rPr kumimoji="1" lang="zh-CN" altLang="en-US" sz="2400" b="1" dirty="0">
                    <a:latin typeface="宋体" panose="02010600030101010101" pitchFamily="2" charset="-122"/>
                    <a:ea typeface="宋体" panose="02010600030101010101" pitchFamily="2" charset="-122"/>
                  </a:rPr>
                  <a:t>于</a:t>
                </a:r>
                <a:r>
                  <a:rPr kumimoji="1" lang="zh-CN" altLang="en-US" sz="2400" b="1">
                    <a:latin typeface="宋体" panose="02010600030101010101" pitchFamily="2" charset="-122"/>
                    <a:ea typeface="宋体" panose="02010600030101010101" pitchFamily="2" charset="-122"/>
                  </a:rPr>
                  <a:t>应变波</a:t>
                </a:r>
                <a:r>
                  <a:rPr kumimoji="1" lang="en-US" altLang="zh-CN" sz="2400" b="1">
                    <a:latin typeface="宋体" panose="02010600030101010101" pitchFamily="2" charset="-122"/>
                    <a:ea typeface="宋体" panose="02010600030101010101" pitchFamily="2" charset="-122"/>
                  </a:rPr>
                  <a:t>(</a:t>
                </a:r>
                <a14:m>
                  <m:oMath xmlns:m="http://schemas.openxmlformats.org/officeDocument/2006/math">
                    <m:sSub>
                      <m:sSubPr>
                        <m:ctrlPr>
                          <a:rPr kumimoji="1" lang="en-US" altLang="zh-CN" sz="2400" i="1">
                            <a:solidFill>
                              <a:srgbClr val="FF0000"/>
                            </a:solidFill>
                            <a:latin typeface="Cambria Math" panose="02040503050406030204" pitchFamily="18" charset="0"/>
                            <a:ea typeface="宋体" panose="02010600030101010101" pitchFamily="2" charset="-122"/>
                          </a:rPr>
                        </m:ctrlPr>
                      </m:sSubPr>
                      <m:e>
                        <m:r>
                          <a:rPr kumimoji="1" lang="en-US" altLang="zh-CN" sz="2400" i="1">
                            <a:solidFill>
                              <a:srgbClr val="FF0000"/>
                            </a:solidFill>
                            <a:latin typeface="Cambria Math" panose="02040503050406030204" pitchFamily="18" charset="0"/>
                            <a:ea typeface="宋体" panose="02010600030101010101" pitchFamily="2" charset="-122"/>
                          </a:rPr>
                          <m:t>𝑥</m:t>
                        </m:r>
                      </m:e>
                      <m:sub>
                        <m:r>
                          <a:rPr kumimoji="1" lang="en-US" altLang="zh-CN" sz="2400" i="1">
                            <a:solidFill>
                              <a:srgbClr val="FF0000"/>
                            </a:solidFill>
                            <a:latin typeface="Cambria Math" panose="02040503050406030204" pitchFamily="18" charset="0"/>
                            <a:ea typeface="宋体" panose="02010600030101010101" pitchFamily="2" charset="-122"/>
                          </a:rPr>
                          <m:t>0</m:t>
                        </m:r>
                      </m:sub>
                    </m:sSub>
                    <m:r>
                      <a:rPr kumimoji="1" lang="en-US" altLang="zh-CN" sz="2400" b="0" i="1" smtClean="0">
                        <a:solidFill>
                          <a:srgbClr val="FF0000"/>
                        </a:solidFill>
                        <a:latin typeface="Cambria Math" panose="02040503050406030204" pitchFamily="18" charset="0"/>
                        <a:ea typeface="宋体" panose="02010600030101010101" pitchFamily="2" charset="-122"/>
                      </a:rPr>
                      <m:t>−</m:t>
                    </m:r>
                    <m:r>
                      <a:rPr kumimoji="1" lang="en-US" altLang="zh-CN" sz="2400" i="1">
                        <a:solidFill>
                          <a:srgbClr val="FF0000"/>
                        </a:solidFill>
                        <a:latin typeface="Cambria Math" panose="02040503050406030204" pitchFamily="18" charset="0"/>
                        <a:ea typeface="Cambria Math" panose="02040503050406030204" pitchFamily="18" charset="0"/>
                      </a:rPr>
                      <m:t>△</m:t>
                    </m:r>
                    <m:r>
                      <a:rPr kumimoji="1" lang="en-US" altLang="zh-CN" sz="2400" i="1">
                        <a:solidFill>
                          <a:srgbClr val="FF0000"/>
                        </a:solidFill>
                        <a:latin typeface="Cambria Math" panose="02040503050406030204" pitchFamily="18" charset="0"/>
                        <a:ea typeface="Cambria Math" panose="02040503050406030204" pitchFamily="18" charset="0"/>
                      </a:rPr>
                      <m:t>𝑥</m:t>
                    </m:r>
                    <m:r>
                      <a:rPr kumimoji="1" lang="en-US" altLang="zh-CN" sz="2400" i="1">
                        <a:solidFill>
                          <a:srgbClr val="FF0000"/>
                        </a:solidFill>
                        <a:latin typeface="Cambria Math" panose="02040503050406030204" pitchFamily="18" charset="0"/>
                        <a:ea typeface="Cambria Math" panose="02040503050406030204" pitchFamily="18" charset="0"/>
                      </a:rPr>
                      <m:t> )</m:t>
                    </m:r>
                  </m:oMath>
                </a14:m>
                <a:r>
                  <a:rPr kumimoji="1" lang="zh-CN" altLang="en-US" sz="2400" b="1" dirty="0">
                    <a:latin typeface="宋体" panose="02010600030101010101" pitchFamily="2" charset="-122"/>
                    <a:ea typeface="宋体" panose="02010600030101010101" pitchFamily="2" charset="-122"/>
                  </a:rPr>
                  <a:t>和</a:t>
                </a:r>
                <a:r>
                  <a:rPr kumimoji="1" lang="en-US" altLang="zh-CN" sz="2400" b="1" dirty="0">
                    <a:latin typeface="宋体" panose="02010600030101010101" pitchFamily="2" charset="-122"/>
                    <a:ea typeface="宋体" panose="02010600030101010101" pitchFamily="2" charset="-122"/>
                  </a:rPr>
                  <a:t>(</a:t>
                </a:r>
                <a14:m>
                  <m:oMath xmlns:m="http://schemas.openxmlformats.org/officeDocument/2006/math">
                    <m:sSub>
                      <m:sSubPr>
                        <m:ctrlPr>
                          <a:rPr kumimoji="1" lang="en-US" altLang="zh-CN" sz="2400" b="0" i="1" smtClean="0">
                            <a:solidFill>
                              <a:srgbClr val="FF0000"/>
                            </a:solidFill>
                            <a:latin typeface="Cambria Math" panose="02040503050406030204" pitchFamily="18" charset="0"/>
                            <a:ea typeface="宋体" panose="02010600030101010101" pitchFamily="2" charset="-122"/>
                          </a:rPr>
                        </m:ctrlPr>
                      </m:sSubPr>
                      <m:e>
                        <m:r>
                          <a:rPr kumimoji="1" lang="en-US" altLang="zh-CN" sz="2400" b="0" i="1" smtClean="0">
                            <a:solidFill>
                              <a:srgbClr val="FF0000"/>
                            </a:solidFill>
                            <a:latin typeface="Cambria Math" panose="02040503050406030204" pitchFamily="18" charset="0"/>
                            <a:ea typeface="宋体" panose="02010600030101010101" pitchFamily="2" charset="-122"/>
                          </a:rPr>
                          <m:t>𝑥</m:t>
                        </m:r>
                      </m:e>
                      <m:sub>
                        <m:r>
                          <a:rPr kumimoji="1" lang="en-US" altLang="zh-CN" sz="2400" b="0" i="1" smtClean="0">
                            <a:solidFill>
                              <a:srgbClr val="FF0000"/>
                            </a:solidFill>
                            <a:latin typeface="Cambria Math" panose="02040503050406030204" pitchFamily="18" charset="0"/>
                            <a:ea typeface="宋体" panose="02010600030101010101" pitchFamily="2" charset="-122"/>
                          </a:rPr>
                          <m:t>0</m:t>
                        </m:r>
                      </m:sub>
                    </m:sSub>
                    <m:r>
                      <a:rPr kumimoji="1" lang="en-US" altLang="zh-CN" sz="2400" b="0" i="1" smtClean="0">
                        <a:solidFill>
                          <a:srgbClr val="FF0000"/>
                        </a:solidFill>
                        <a:latin typeface="Cambria Math" panose="02040503050406030204" pitchFamily="18" charset="0"/>
                        <a:ea typeface="宋体" panose="02010600030101010101" pitchFamily="2" charset="-122"/>
                      </a:rPr>
                      <m:t>+</m:t>
                    </m:r>
                    <m:r>
                      <a:rPr kumimoji="1" lang="en-US" altLang="zh-CN" sz="2400" b="0" i="1" smtClean="0">
                        <a:solidFill>
                          <a:srgbClr val="FF0000"/>
                        </a:solidFill>
                        <a:latin typeface="Cambria Math" panose="02040503050406030204" pitchFamily="18" charset="0"/>
                        <a:ea typeface="Cambria Math" panose="02040503050406030204" pitchFamily="18" charset="0"/>
                      </a:rPr>
                      <m:t>△</m:t>
                    </m:r>
                    <m:r>
                      <a:rPr kumimoji="1" lang="en-US" altLang="zh-CN" sz="2400" b="0" i="1" smtClean="0">
                        <a:solidFill>
                          <a:srgbClr val="FF0000"/>
                        </a:solidFill>
                        <a:latin typeface="Cambria Math" panose="02040503050406030204" pitchFamily="18" charset="0"/>
                        <a:ea typeface="Cambria Math" panose="02040503050406030204" pitchFamily="18" charset="0"/>
                      </a:rPr>
                      <m:t>𝑥</m:t>
                    </m:r>
                  </m:oMath>
                </a14:m>
                <a:r>
                  <a:rPr kumimoji="1" lang="en-US" altLang="zh-CN" sz="2400" b="1" dirty="0">
                    <a:latin typeface="宋体" panose="02010600030101010101" pitchFamily="2" charset="-122"/>
                    <a:ea typeface="宋体" panose="02010600030101010101" pitchFamily="2" charset="-122"/>
                  </a:rPr>
                  <a:t>)</a:t>
                </a:r>
                <a:r>
                  <a:rPr kumimoji="1" lang="zh-CN" altLang="en-US" sz="2400" b="1" dirty="0">
                    <a:latin typeface="宋体" panose="02010600030101010101" pitchFamily="2" charset="-122"/>
                    <a:ea typeface="宋体" panose="02010600030101010101" pitchFamily="2" charset="-122"/>
                  </a:rPr>
                  <a:t>之间。应</a:t>
                </a:r>
                <a:r>
                  <a:rPr kumimoji="1" lang="zh-CN" altLang="en-US" sz="2400" b="1">
                    <a:latin typeface="宋体" panose="02010600030101010101" pitchFamily="2" charset="-122"/>
                    <a:ea typeface="宋体" panose="02010600030101010101" pitchFamily="2" charset="-122"/>
                  </a:rPr>
                  <a:t>变片中</a:t>
                </a:r>
                <a:r>
                  <a:rPr kumimoji="1" lang="zh-CN" altLang="en-US" sz="2400" b="1" dirty="0">
                    <a:latin typeface="宋体" panose="02010600030101010101" pitchFamily="2" charset="-122"/>
                    <a:ea typeface="宋体" panose="02010600030101010101" pitchFamily="2" charset="-122"/>
                  </a:rPr>
                  <a:t>心位置的应变为</a:t>
                </a:r>
                <a:r>
                  <a:rPr kumimoji="1" lang="zh-CN" altLang="en-US"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，应变波幅值</a:t>
                </a:r>
                <a:r>
                  <a:rPr kumimoji="1" lang="zh-CN" altLang="en-US" sz="2400" b="1">
                    <a:latin typeface="宋体" panose="02010600030101010101" pitchFamily="2" charset="-122"/>
                    <a:ea typeface="宋体" panose="02010600030101010101" pitchFamily="2" charset="-122"/>
                  </a:rPr>
                  <a:t>为</a:t>
                </a:r>
                <a:r>
                  <a:rPr kumimoji="1"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aseline="-30000">
                    <a:latin typeface="Times New Roman" panose="02020603050405020304" pitchFamily="18" charset="0"/>
                    <a:ea typeface="宋体" panose="02010600030101010101" pitchFamily="2" charset="-122"/>
                    <a:cs typeface="Times New Roman" panose="02020603050405020304" pitchFamily="18" charset="0"/>
                  </a:rPr>
                  <a:t>0</a:t>
                </a:r>
                <a:r>
                  <a:rPr kumimoji="1" lang="zh-CN" altLang="en-US" sz="2400" b="1">
                    <a:latin typeface="宋体" panose="02010600030101010101" pitchFamily="2" charset="-122"/>
                    <a:ea typeface="宋体" panose="02010600030101010101" pitchFamily="2" charset="-122"/>
                    <a:sym typeface="Symbol" panose="05050102010706020507" pitchFamily="18" charset="2"/>
                  </a:rPr>
                  <a:t>。</a:t>
                </a:r>
                <a:endParaRPr kumimoji="1" lang="en-US" altLang="zh-CN" sz="2400" b="1">
                  <a:latin typeface="宋体" panose="02010600030101010101" pitchFamily="2" charset="-122"/>
                  <a:ea typeface="宋体" panose="02010600030101010101" pitchFamily="2" charset="-122"/>
                  <a:sym typeface="Symbol" panose="05050102010706020507" pitchFamily="18" charset="2"/>
                </a:endParaRPr>
              </a:p>
            </p:txBody>
          </p:sp>
        </mc:Choice>
        <mc:Fallback xmlns="">
          <p:sp>
            <p:nvSpPr>
              <p:cNvPr id="8" name="Rectangle 5">
                <a:extLst>
                  <a:ext uri="{FF2B5EF4-FFF2-40B4-BE49-F238E27FC236}">
                    <a16:creationId xmlns:a16="http://schemas.microsoft.com/office/drawing/2014/main" id="{695C7433-92B4-4CAC-A094-62903CC4CB8A}"/>
                  </a:ext>
                </a:extLst>
              </p:cNvPr>
              <p:cNvSpPr>
                <a:spLocks noRot="1" noChangeAspect="1" noMove="1" noResize="1" noEditPoints="1" noAdjustHandles="1" noChangeArrowheads="1" noChangeShapeType="1" noTextEdit="1"/>
              </p:cNvSpPr>
              <p:nvPr/>
            </p:nvSpPr>
            <p:spPr bwMode="auto">
              <a:xfrm>
                <a:off x="72000" y="4880050"/>
                <a:ext cx="9072000" cy="1125565"/>
              </a:xfrm>
              <a:prstGeom prst="rect">
                <a:avLst/>
              </a:prstGeom>
              <a:blipFill>
                <a:blip r:embed="rId5"/>
                <a:stretch>
                  <a:fillRect l="-1075" r="-1008" b="-130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 name="TextBox 1">
            <a:extLst>
              <a:ext uri="{FF2B5EF4-FFF2-40B4-BE49-F238E27FC236}">
                <a16:creationId xmlns:a16="http://schemas.microsoft.com/office/drawing/2014/main" id="{7D750765-9A81-495A-BC70-B458D331697A}"/>
              </a:ext>
            </a:extLst>
          </p:cNvPr>
          <p:cNvSpPr txBox="1"/>
          <p:nvPr/>
        </p:nvSpPr>
        <p:spPr>
          <a:xfrm>
            <a:off x="6942774" y="2872150"/>
            <a:ext cx="421910" cy="369332"/>
          </a:xfrm>
          <a:prstGeom prst="rect">
            <a:avLst/>
          </a:prstGeom>
          <a:solidFill>
            <a:schemeClr val="bg1"/>
          </a:solidFill>
        </p:spPr>
        <p:txBody>
          <a:bodyPr wrap="none" tIns="0" bIns="0" rtlCol="0">
            <a:spAutoFit/>
          </a:bodyPr>
          <a:lstStyle/>
          <a:p>
            <a:r>
              <a:rPr kumimoji="1"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baseline="-30000">
                <a:latin typeface="Times New Roman" panose="02020603050405020304" pitchFamily="18" charset="0"/>
                <a:ea typeface="宋体" panose="02010600030101010101" pitchFamily="2" charset="-122"/>
                <a:cs typeface="Times New Roman" panose="02020603050405020304" pitchFamily="18" charset="0"/>
              </a:rPr>
              <a:t>0</a:t>
            </a:r>
            <a:endParaRPr lang="en-001" sz="2400"/>
          </a:p>
        </p:txBody>
      </p:sp>
      <p:graphicFrame>
        <p:nvGraphicFramePr>
          <p:cNvPr id="3" name="Object 2">
            <a:extLst>
              <a:ext uri="{FF2B5EF4-FFF2-40B4-BE49-F238E27FC236}">
                <a16:creationId xmlns:a16="http://schemas.microsoft.com/office/drawing/2014/main" id="{E1C71360-25C4-4E48-8B80-DB8C61ED9F80}"/>
              </a:ext>
            </a:extLst>
          </p:cNvPr>
          <p:cNvGraphicFramePr>
            <a:graphicFrameLocks noChangeAspect="1"/>
          </p:cNvGraphicFramePr>
          <p:nvPr>
            <p:extLst>
              <p:ext uri="{D42A27DB-BD31-4B8C-83A1-F6EECF244321}">
                <p14:modId xmlns:p14="http://schemas.microsoft.com/office/powerpoint/2010/main" val="1909329506"/>
              </p:ext>
            </p:extLst>
          </p:nvPr>
        </p:nvGraphicFramePr>
        <p:xfrm>
          <a:off x="5184203" y="1161166"/>
          <a:ext cx="3753993" cy="624742"/>
        </p:xfrm>
        <a:graphic>
          <a:graphicData uri="http://schemas.openxmlformats.org/presentationml/2006/ole">
            <mc:AlternateContent xmlns:mc="http://schemas.openxmlformats.org/markup-compatibility/2006">
              <mc:Choice xmlns:v="urn:schemas-microsoft-com:vml" Requires="v">
                <p:oleObj name="Equation" r:id="rId6" imgW="2361960" imgH="393480" progId="Equation.DSMT4">
                  <p:embed/>
                </p:oleObj>
              </mc:Choice>
              <mc:Fallback>
                <p:oleObj name="Equation" r:id="rId6" imgW="2361960" imgH="393480" progId="Equation.DSMT4">
                  <p:embed/>
                  <p:pic>
                    <p:nvPicPr>
                      <p:cNvPr id="0" name=""/>
                      <p:cNvPicPr/>
                      <p:nvPr/>
                    </p:nvPicPr>
                    <p:blipFill>
                      <a:blip r:embed="rId7"/>
                      <a:stretch>
                        <a:fillRect/>
                      </a:stretch>
                    </p:blipFill>
                    <p:spPr>
                      <a:xfrm>
                        <a:off x="5184203" y="1161166"/>
                        <a:ext cx="3753993" cy="624742"/>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C379A5B0-4E7E-4D42-AD8F-A1D8E4BA3D04}"/>
              </a:ext>
            </a:extLst>
          </p:cNvPr>
          <p:cNvSpPr txBox="1"/>
          <p:nvPr/>
        </p:nvSpPr>
        <p:spPr>
          <a:xfrm>
            <a:off x="158671" y="1152159"/>
            <a:ext cx="329108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dirty="0">
                <a:solidFill>
                  <a:srgbClr val="FFFF00"/>
                </a:solidFill>
                <a:latin typeface="宋体" panose="02010600030101010101" pitchFamily="2" charset="-122"/>
                <a:ea typeface="宋体" panose="02010600030101010101" pitchFamily="2" charset="-122"/>
              </a:rPr>
              <a:t>应变片的动态特性</a:t>
            </a:r>
          </a:p>
        </p:txBody>
      </p:sp>
      <p:sp>
        <p:nvSpPr>
          <p:cNvPr id="4" name="Slide Number Placeholder 3">
            <a:extLst>
              <a:ext uri="{FF2B5EF4-FFF2-40B4-BE49-F238E27FC236}">
                <a16:creationId xmlns:a16="http://schemas.microsoft.com/office/drawing/2014/main" id="{7874EF06-87A6-42CE-991C-F9D84589DB98}"/>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
        <p:nvSpPr>
          <p:cNvPr id="5" name="Arrow: Right 4">
            <a:extLst>
              <a:ext uri="{FF2B5EF4-FFF2-40B4-BE49-F238E27FC236}">
                <a16:creationId xmlns:a16="http://schemas.microsoft.com/office/drawing/2014/main" id="{98DD31C0-633C-43CE-B3BC-710D4EE855BC}"/>
              </a:ext>
            </a:extLst>
          </p:cNvPr>
          <p:cNvSpPr/>
          <p:nvPr/>
        </p:nvSpPr>
        <p:spPr>
          <a:xfrm rot="16200000">
            <a:off x="5809066" y="3559493"/>
            <a:ext cx="540689" cy="518106"/>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259C8A1-A585-46B2-94E7-1FC51E421B00}"/>
              </a:ext>
            </a:extLst>
          </p:cNvPr>
          <p:cNvSpPr txBox="1"/>
          <p:nvPr/>
        </p:nvSpPr>
        <p:spPr>
          <a:xfrm>
            <a:off x="5358774" y="3936439"/>
            <a:ext cx="1584000" cy="400110"/>
          </a:xfrm>
          <a:prstGeom prst="rect">
            <a:avLst/>
          </a:prstGeom>
          <a:solidFill>
            <a:schemeClr val="bg1"/>
          </a:solidFill>
        </p:spPr>
        <p:txBody>
          <a:bodyPr wrap="square" lIns="0" rIns="0">
            <a:spAutoFit/>
          </a:bodyPr>
          <a:lstStyle/>
          <a:p>
            <a:pPr algn="ctr">
              <a:buFont typeface="Wingdings" panose="05000000000000000000" pitchFamily="2" charset="2"/>
              <a:buNone/>
            </a:pPr>
            <a:r>
              <a:rPr lang="en-US" altLang="zh-CN" sz="20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Strain Gauge</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TextBox 14">
            <a:extLst>
              <a:ext uri="{FF2B5EF4-FFF2-40B4-BE49-F238E27FC236}">
                <a16:creationId xmlns:a16="http://schemas.microsoft.com/office/drawing/2014/main" id="{5060D724-6F2D-4D9D-9D8F-E30570BB76DA}"/>
              </a:ext>
            </a:extLst>
          </p:cNvPr>
          <p:cNvSpPr txBox="1"/>
          <p:nvPr/>
        </p:nvSpPr>
        <p:spPr>
          <a:xfrm>
            <a:off x="5478191" y="4432483"/>
            <a:ext cx="3291088" cy="435697"/>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000" b="1" dirty="0">
                <a:solidFill>
                  <a:srgbClr val="FFFF00"/>
                </a:solidFill>
                <a:latin typeface="宋体" panose="02010600030101010101" pitchFamily="2" charset="-122"/>
                <a:ea typeface="宋体" panose="02010600030101010101" pitchFamily="2" charset="-122"/>
              </a:rPr>
              <a:t>应变波与应变片的轴向关系</a:t>
            </a:r>
          </a:p>
        </p:txBody>
      </p:sp>
    </p:spTree>
    <p:extLst>
      <p:ext uri="{BB962C8B-B14F-4D97-AF65-F5344CB8AC3E}">
        <p14:creationId xmlns:p14="http://schemas.microsoft.com/office/powerpoint/2010/main" val="3401758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4">
            <a:extLst>
              <a:ext uri="{FF2B5EF4-FFF2-40B4-BE49-F238E27FC236}">
                <a16:creationId xmlns:a16="http://schemas.microsoft.com/office/drawing/2014/main" id="{87243372-6BA1-40AD-AACF-DA2AF0D6269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Text Box 4"/>
          <p:cNvSpPr txBox="1">
            <a:spLocks noChangeArrowheads="1"/>
          </p:cNvSpPr>
          <p:nvPr/>
        </p:nvSpPr>
        <p:spPr bwMode="auto">
          <a:xfrm>
            <a:off x="125000" y="4753544"/>
            <a:ext cx="7457613"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just" eaLnBrk="1" hangingPunct="1">
              <a:lnSpc>
                <a:spcPct val="150000"/>
              </a:lnSpc>
            </a:pPr>
            <a:r>
              <a:rPr kumimoji="1" lang="zh-CN" altLang="en-US" sz="2400" b="1" dirty="0">
                <a:latin typeface="宋体" panose="02010600030101010101" pitchFamily="2" charset="-122"/>
                <a:ea typeface="宋体" panose="02010600030101010101" pitchFamily="2" charset="-122"/>
              </a:rPr>
              <a:t>由此产生的相对误差为：</a:t>
            </a:r>
          </a:p>
          <a:p>
            <a:pPr algn="just" eaLnBrk="1" hangingPunct="1">
              <a:lnSpc>
                <a:spcPct val="150000"/>
              </a:lnSpc>
            </a:pPr>
            <a:endParaRPr kumimoji="1" lang="en-US" altLang="zh-CN" sz="2400" b="1">
              <a:latin typeface="宋体" panose="02010600030101010101" pitchFamily="2" charset="-122"/>
              <a:ea typeface="宋体" panose="02010600030101010101" pitchFamily="2" charset="-122"/>
            </a:endParaRPr>
          </a:p>
        </p:txBody>
      </p:sp>
      <p:graphicFrame>
        <p:nvGraphicFramePr>
          <p:cNvPr id="21" name="Object 9"/>
          <p:cNvGraphicFramePr>
            <a:graphicFrameLocks noChangeAspect="1"/>
          </p:cNvGraphicFramePr>
          <p:nvPr>
            <p:extLst>
              <p:ext uri="{D42A27DB-BD31-4B8C-83A1-F6EECF244321}">
                <p14:modId xmlns:p14="http://schemas.microsoft.com/office/powerpoint/2010/main" val="722532941"/>
              </p:ext>
            </p:extLst>
          </p:nvPr>
        </p:nvGraphicFramePr>
        <p:xfrm>
          <a:off x="139798" y="2564345"/>
          <a:ext cx="5425853" cy="1323250"/>
        </p:xfrm>
        <a:graphic>
          <a:graphicData uri="http://schemas.openxmlformats.org/presentationml/2006/ole">
            <mc:AlternateContent xmlns:mc="http://schemas.openxmlformats.org/markup-compatibility/2006">
              <mc:Choice xmlns:v="urn:schemas-microsoft-com:vml" Requires="v">
                <p:oleObj name="Equation" r:id="rId3" imgW="3251160" imgH="761760" progId="Equation.DSMT4">
                  <p:embed/>
                </p:oleObj>
              </mc:Choice>
              <mc:Fallback>
                <p:oleObj name="Equation" r:id="rId3" imgW="3251160" imgH="761760" progId="Equation.DSMT4">
                  <p:embed/>
                  <p:pic>
                    <p:nvPicPr>
                      <p:cNvPr id="21" name="Object 9"/>
                      <p:cNvPicPr>
                        <a:picLocks noChangeAspect="1" noChangeArrowheads="1"/>
                      </p:cNvPicPr>
                      <p:nvPr/>
                    </p:nvPicPr>
                    <p:blipFill>
                      <a:blip r:embed="rId4"/>
                      <a:srcRect/>
                      <a:stretch>
                        <a:fillRect/>
                      </a:stretch>
                    </p:blipFill>
                    <p:spPr bwMode="auto">
                      <a:xfrm>
                        <a:off x="139798" y="2564345"/>
                        <a:ext cx="5425853" cy="1323250"/>
                      </a:xfrm>
                      <a:prstGeom prst="rect">
                        <a:avLst/>
                      </a:prstGeom>
                      <a:noFill/>
                      <a:ln>
                        <a:noFill/>
                      </a:ln>
                    </p:spPr>
                  </p:pic>
                </p:oleObj>
              </mc:Fallback>
            </mc:AlternateContent>
          </a:graphicData>
        </a:graphic>
      </p:graphicFrame>
      <p:sp>
        <p:nvSpPr>
          <p:cNvPr id="10" name="Rectangle 5">
            <a:extLst>
              <a:ext uri="{FF2B5EF4-FFF2-40B4-BE49-F238E27FC236}">
                <a16:creationId xmlns:a16="http://schemas.microsoft.com/office/drawing/2014/main" id="{298318A9-1270-4F07-B027-BDDD8FCB3928}"/>
              </a:ext>
            </a:extLst>
          </p:cNvPr>
          <p:cNvSpPr>
            <a:spLocks noChangeArrowheads="1"/>
          </p:cNvSpPr>
          <p:nvPr/>
        </p:nvSpPr>
        <p:spPr bwMode="auto">
          <a:xfrm>
            <a:off x="68489" y="1908873"/>
            <a:ext cx="6173339"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just" eaLnBrk="1" hangingPunct="1">
              <a:lnSpc>
                <a:spcPct val="150000"/>
              </a:lnSpc>
            </a:pPr>
            <a:r>
              <a:rPr kumimoji="1" lang="zh-CN" altLang="en-US" sz="2400" b="1">
                <a:latin typeface="宋体" panose="02010600030101010101" pitchFamily="2" charset="-122"/>
                <a:ea typeface="宋体" panose="02010600030101010101" pitchFamily="2" charset="-122"/>
                <a:sym typeface="Symbol" panose="05050102010706020507" pitchFamily="18" charset="2"/>
              </a:rPr>
              <a:t>应</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变片在</a:t>
            </a:r>
            <a:r>
              <a:rPr kumimoji="1" lang="zh-CN" altLang="en-US" sz="2400" b="1">
                <a:latin typeface="宋体" panose="02010600030101010101" pitchFamily="2" charset="-122"/>
                <a:ea typeface="宋体" panose="02010600030101010101" pitchFamily="2" charset="-122"/>
                <a:sym typeface="Symbol" panose="05050102010706020507" pitchFamily="18" charset="2"/>
              </a:rPr>
              <a:t>栅长</a:t>
            </a:r>
            <a:r>
              <a:rPr kumimoji="1" lang="en-US" altLang="zh-CN"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kumimoji="1" lang="zh-CN" altLang="en-US" sz="2400" b="1">
                <a:latin typeface="宋体" panose="02010600030101010101" pitchFamily="2" charset="-122"/>
                <a:ea typeface="宋体" panose="02010600030101010101" pitchFamily="2" charset="-122"/>
                <a:sym typeface="Symbol" panose="05050102010706020507" pitchFamily="18" charset="2"/>
              </a:rPr>
              <a:t>范围内反</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映的平均应变</a:t>
            </a:r>
            <a:r>
              <a:rPr kumimoji="1" lang="zh-CN" altLang="en-US" sz="2400" b="1" i="1" dirty="0">
                <a:latin typeface="宋体" panose="02010600030101010101" pitchFamily="2" charset="-122"/>
                <a:ea typeface="宋体" panose="02010600030101010101" pitchFamily="2" charset="-122"/>
                <a:sym typeface="Symbol" panose="05050102010706020507" pitchFamily="18" charset="2"/>
              </a:rPr>
              <a:t></a:t>
            </a:r>
            <a:r>
              <a:rPr kumimoji="1" lang="en-US" altLang="zh-CN" sz="2400" b="1" i="1" baseline="-30000" dirty="0">
                <a:latin typeface="宋体" panose="02010600030101010101" pitchFamily="2" charset="-122"/>
                <a:ea typeface="宋体" panose="02010600030101010101" pitchFamily="2" charset="-122"/>
              </a:rPr>
              <a:t>p</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a:t>
            </a:r>
          </a:p>
        </p:txBody>
      </p:sp>
      <p:graphicFrame>
        <p:nvGraphicFramePr>
          <p:cNvPr id="4" name="Object 3">
            <a:extLst>
              <a:ext uri="{FF2B5EF4-FFF2-40B4-BE49-F238E27FC236}">
                <a16:creationId xmlns:a16="http://schemas.microsoft.com/office/drawing/2014/main" id="{4DAA6CE6-2A0B-4377-AE17-C4135154B737}"/>
              </a:ext>
            </a:extLst>
          </p:cNvPr>
          <p:cNvGraphicFramePr>
            <a:graphicFrameLocks noChangeAspect="1"/>
          </p:cNvGraphicFramePr>
          <p:nvPr>
            <p:extLst>
              <p:ext uri="{D42A27DB-BD31-4B8C-83A1-F6EECF244321}">
                <p14:modId xmlns:p14="http://schemas.microsoft.com/office/powerpoint/2010/main" val="2734506475"/>
              </p:ext>
            </p:extLst>
          </p:nvPr>
        </p:nvGraphicFramePr>
        <p:xfrm>
          <a:off x="4935470" y="1191562"/>
          <a:ext cx="3752850" cy="625475"/>
        </p:xfrm>
        <a:graphic>
          <a:graphicData uri="http://schemas.openxmlformats.org/presentationml/2006/ole">
            <mc:AlternateContent xmlns:mc="http://schemas.openxmlformats.org/markup-compatibility/2006">
              <mc:Choice xmlns:v="urn:schemas-microsoft-com:vml" Requires="v">
                <p:oleObj name="Equation" r:id="rId5" imgW="3753640" imgH="624982" progId="Equation.DSMT4">
                  <p:embed/>
                </p:oleObj>
              </mc:Choice>
              <mc:Fallback>
                <p:oleObj name="Equation" r:id="rId5" imgW="3753640" imgH="624982" progId="Equation.DSMT4">
                  <p:embed/>
                  <p:pic>
                    <p:nvPicPr>
                      <p:cNvPr id="0" name=""/>
                      <p:cNvPicPr/>
                      <p:nvPr/>
                    </p:nvPicPr>
                    <p:blipFill>
                      <a:blip r:embed="rId6"/>
                      <a:stretch>
                        <a:fillRect/>
                      </a:stretch>
                    </p:blipFill>
                    <p:spPr>
                      <a:xfrm>
                        <a:off x="4935470" y="1191562"/>
                        <a:ext cx="3752850" cy="625475"/>
                      </a:xfrm>
                      <a:prstGeom prst="rect">
                        <a:avLst/>
                      </a:prstGeom>
                      <a:solidFill>
                        <a:schemeClr val="accent4"/>
                      </a:solidFill>
                    </p:spPr>
                  </p:pic>
                </p:oleObj>
              </mc:Fallback>
            </mc:AlternateContent>
          </a:graphicData>
        </a:graphic>
      </p:graphicFrame>
      <p:graphicFrame>
        <p:nvGraphicFramePr>
          <p:cNvPr id="22" name="Object 10"/>
          <p:cNvGraphicFramePr>
            <a:graphicFrameLocks noChangeAspect="1"/>
          </p:cNvGraphicFramePr>
          <p:nvPr>
            <p:extLst>
              <p:ext uri="{D42A27DB-BD31-4B8C-83A1-F6EECF244321}">
                <p14:modId xmlns:p14="http://schemas.microsoft.com/office/powerpoint/2010/main" val="879640417"/>
              </p:ext>
            </p:extLst>
          </p:nvPr>
        </p:nvGraphicFramePr>
        <p:xfrm>
          <a:off x="3688855" y="4718863"/>
          <a:ext cx="2741612" cy="869950"/>
        </p:xfrm>
        <a:graphic>
          <a:graphicData uri="http://schemas.openxmlformats.org/presentationml/2006/ole">
            <mc:AlternateContent xmlns:mc="http://schemas.openxmlformats.org/markup-compatibility/2006">
              <mc:Choice xmlns:v="urn:schemas-microsoft-com:vml" Requires="v">
                <p:oleObj name="Equation" r:id="rId7" imgW="1549080" imgH="482400" progId="Equation.DSMT4">
                  <p:embed/>
                </p:oleObj>
              </mc:Choice>
              <mc:Fallback>
                <p:oleObj name="Equation" r:id="rId7" imgW="1549080" imgH="482400" progId="Equation.DSMT4">
                  <p:embed/>
                  <p:pic>
                    <p:nvPicPr>
                      <p:cNvPr id="22" name="Object 10"/>
                      <p:cNvPicPr>
                        <a:picLocks noChangeAspect="1" noChangeArrowheads="1"/>
                      </p:cNvPicPr>
                      <p:nvPr/>
                    </p:nvPicPr>
                    <p:blipFill>
                      <a:blip r:embed="rId8"/>
                      <a:srcRect/>
                      <a:stretch>
                        <a:fillRect/>
                      </a:stretch>
                    </p:blipFill>
                    <p:spPr bwMode="auto">
                      <a:xfrm>
                        <a:off x="3688855" y="4718863"/>
                        <a:ext cx="2741612" cy="869950"/>
                      </a:xfrm>
                      <a:prstGeom prst="rect">
                        <a:avLst/>
                      </a:prstGeom>
                      <a:noFill/>
                      <a:ln>
                        <a:noFill/>
                      </a:ln>
                    </p:spPr>
                  </p:pic>
                </p:oleObj>
              </mc:Fallback>
            </mc:AlternateContent>
          </a:graphicData>
        </a:graphic>
      </p:graphicFrame>
      <p:graphicFrame>
        <p:nvGraphicFramePr>
          <p:cNvPr id="5" name="Object 4">
            <a:extLst>
              <a:ext uri="{FF2B5EF4-FFF2-40B4-BE49-F238E27FC236}">
                <a16:creationId xmlns:a16="http://schemas.microsoft.com/office/drawing/2014/main" id="{2A77605B-45E8-4E41-A1B7-2DD2B81B8EC1}"/>
              </a:ext>
            </a:extLst>
          </p:cNvPr>
          <p:cNvGraphicFramePr>
            <a:graphicFrameLocks noChangeAspect="1"/>
          </p:cNvGraphicFramePr>
          <p:nvPr>
            <p:extLst>
              <p:ext uri="{D42A27DB-BD31-4B8C-83A1-F6EECF244321}">
                <p14:modId xmlns:p14="http://schemas.microsoft.com/office/powerpoint/2010/main" val="1719838480"/>
              </p:ext>
            </p:extLst>
          </p:nvPr>
        </p:nvGraphicFramePr>
        <p:xfrm>
          <a:off x="2121870" y="3849133"/>
          <a:ext cx="1982208" cy="690432"/>
        </p:xfrm>
        <a:graphic>
          <a:graphicData uri="http://schemas.openxmlformats.org/presentationml/2006/ole">
            <mc:AlternateContent xmlns:mc="http://schemas.openxmlformats.org/markup-compatibility/2006">
              <mc:Choice xmlns:v="urn:schemas-microsoft-com:vml" Requires="v">
                <p:oleObj name="Equation" r:id="rId9" imgW="1130040" imgH="393480" progId="Equation.DSMT4">
                  <p:embed/>
                </p:oleObj>
              </mc:Choice>
              <mc:Fallback>
                <p:oleObj name="Equation" r:id="rId9" imgW="1130040" imgH="393480" progId="Equation.DSMT4">
                  <p:embed/>
                  <p:pic>
                    <p:nvPicPr>
                      <p:cNvPr id="0" name=""/>
                      <p:cNvPicPr/>
                      <p:nvPr/>
                    </p:nvPicPr>
                    <p:blipFill>
                      <a:blip r:embed="rId10"/>
                      <a:stretch>
                        <a:fillRect/>
                      </a:stretch>
                    </p:blipFill>
                    <p:spPr>
                      <a:xfrm>
                        <a:off x="2121870" y="3849133"/>
                        <a:ext cx="1982208" cy="690432"/>
                      </a:xfrm>
                      <a:prstGeom prst="rect">
                        <a:avLst/>
                      </a:prstGeom>
                    </p:spPr>
                  </p:pic>
                </p:oleObj>
              </mc:Fallback>
            </mc:AlternateContent>
          </a:graphicData>
        </a:graphic>
      </p:graphicFrame>
      <p:sp>
        <p:nvSpPr>
          <p:cNvPr id="15" name="Rectangle 5">
            <a:extLst>
              <a:ext uri="{FF2B5EF4-FFF2-40B4-BE49-F238E27FC236}">
                <a16:creationId xmlns:a16="http://schemas.microsoft.com/office/drawing/2014/main" id="{A8004B81-0234-4869-B2CA-124F8E53062F}"/>
              </a:ext>
            </a:extLst>
          </p:cNvPr>
          <p:cNvSpPr>
            <a:spLocks noChangeArrowheads="1"/>
          </p:cNvSpPr>
          <p:nvPr/>
        </p:nvSpPr>
        <p:spPr bwMode="auto">
          <a:xfrm>
            <a:off x="125000" y="3855401"/>
            <a:ext cx="2215568" cy="57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just" eaLnBrk="1" hangingPunct="1">
              <a:lnSpc>
                <a:spcPct val="150000"/>
              </a:lnSpc>
            </a:pPr>
            <a:r>
              <a:rPr kumimoji="1" lang="en-US" altLang="zh-CN" sz="2400" b="1">
                <a:latin typeface="宋体" panose="02010600030101010101" pitchFamily="2" charset="-122"/>
                <a:ea typeface="宋体" panose="02010600030101010101" pitchFamily="2" charset="-122"/>
                <a:sym typeface="Symbol" panose="05050102010706020507" pitchFamily="18" charset="2"/>
              </a:rPr>
              <a:t>x</a:t>
            </a:r>
            <a:r>
              <a:rPr kumimoji="1" lang="en-US" altLang="zh-CN" sz="2400" b="1" baseline="-25000">
                <a:latin typeface="宋体" panose="02010600030101010101" pitchFamily="2" charset="-122"/>
                <a:ea typeface="宋体" panose="02010600030101010101" pitchFamily="2" charset="-122"/>
                <a:sym typeface="Symbol" panose="05050102010706020507" pitchFamily="18" charset="2"/>
              </a:rPr>
              <a:t>0 </a:t>
            </a:r>
            <a:r>
              <a:rPr kumimoji="1" lang="zh-CN" altLang="en-US" sz="2400">
                <a:latin typeface="宋体" panose="02010600030101010101" pitchFamily="2" charset="-122"/>
                <a:ea typeface="宋体" panose="02010600030101010101" pitchFamily="2" charset="-122"/>
                <a:sym typeface="Symbol" panose="05050102010706020507" pitchFamily="18" charset="2"/>
              </a:rPr>
              <a:t>点的应变：</a:t>
            </a:r>
            <a:endParaRPr kumimoji="1" lang="zh-CN" altLang="en-US" sz="2400" dirty="0">
              <a:latin typeface="宋体" panose="02010600030101010101" pitchFamily="2" charset="-122"/>
              <a:ea typeface="宋体" panose="02010600030101010101" pitchFamily="2" charset="-122"/>
              <a:sym typeface="Symbol" panose="05050102010706020507" pitchFamily="18" charset="2"/>
            </a:endParaRPr>
          </a:p>
        </p:txBody>
      </p:sp>
      <mc:AlternateContent xmlns:mc="http://schemas.openxmlformats.org/markup-compatibility/2006" xmlns:a14="http://schemas.microsoft.com/office/drawing/2010/main">
        <mc:Choice Requires="a14">
          <p:sp>
            <p:nvSpPr>
              <p:cNvPr id="6" name="Object 5">
                <a:extLst>
                  <a:ext uri="{FF2B5EF4-FFF2-40B4-BE49-F238E27FC236}">
                    <a16:creationId xmlns:a16="http://schemas.microsoft.com/office/drawing/2014/main" id="{C9FB78A5-BF16-4FFE-9939-B92065DC0AA9}"/>
                  </a:ext>
                </a:extLst>
              </p:cNvPr>
              <p:cNvSpPr txBox="1"/>
              <p:nvPr/>
            </p:nvSpPr>
            <p:spPr>
              <a:xfrm>
                <a:off x="358775" y="5794375"/>
                <a:ext cx="957263" cy="395288"/>
              </a:xfrm>
              <a:prstGeom prst="rect">
                <a:avLst/>
              </a:prstGeom>
              <a:solidFill>
                <a:schemeClr val="accent4"/>
              </a:solidFill>
            </p:spPr>
            <p:txBody>
              <a:bodyPr>
                <a:noAutofit/>
              </a:bodyPr>
              <a:lstStyle/>
              <a:p>
                <a:pPr/>
                <a14:m>
                  <m:oMathPara xmlns:m="http://schemas.openxmlformats.org/officeDocument/2006/math">
                    <m:oMathParaPr>
                      <m:jc m:val="left"/>
                    </m:oMathParaPr>
                    <m:oMath xmlns:m="http://schemas.openxmlformats.org/officeDocument/2006/math">
                      <m:r>
                        <a:rPr lang="en-US" sz="2400" i="1">
                          <a:solidFill>
                            <a:srgbClr val="000000"/>
                          </a:solidFill>
                          <a:latin typeface="Cambria Math" panose="02040503050406030204" pitchFamily="18" charset="0"/>
                        </a:rPr>
                        <m:t>𝐿</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𝜆</m:t>
                      </m:r>
                    </m:oMath>
                  </m:oMathPara>
                </a14:m>
                <a:endParaRPr lang="en-US" dirty="0"/>
              </a:p>
            </p:txBody>
          </p:sp>
        </mc:Choice>
        <mc:Fallback xmlns="">
          <p:sp>
            <p:nvSpPr>
              <p:cNvPr id="6" name="Object 5">
                <a:extLst>
                  <a:ext uri="{FF2B5EF4-FFF2-40B4-BE49-F238E27FC236}">
                    <a16:creationId xmlns:a16="http://schemas.microsoft.com/office/drawing/2014/main" id="{C9FB78A5-BF16-4FFE-9939-B92065DC0AA9}"/>
                  </a:ext>
                </a:extLst>
              </p:cNvPr>
              <p:cNvSpPr txBox="1">
                <a:spLocks noRot="1" noChangeAspect="1" noMove="1" noResize="1" noEditPoints="1" noAdjustHandles="1" noChangeArrowheads="1" noChangeShapeType="1" noTextEdit="1"/>
              </p:cNvSpPr>
              <p:nvPr/>
            </p:nvSpPr>
            <p:spPr>
              <a:xfrm>
                <a:off x="358775" y="5794375"/>
                <a:ext cx="957263" cy="395288"/>
              </a:xfrm>
              <a:prstGeom prst="rect">
                <a:avLst/>
              </a:prstGeom>
              <a:blipFill>
                <a:blip r:embed="rId12"/>
                <a:stretch>
                  <a:fillRect l="-1911" r="-1274" b="-125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FE827531-41AB-4E67-8311-74A7D9765BB3}"/>
              </a:ext>
            </a:extLst>
          </p:cNvPr>
          <p:cNvSpPr txBox="1"/>
          <p:nvPr/>
        </p:nvSpPr>
        <p:spPr>
          <a:xfrm>
            <a:off x="1456331" y="5648311"/>
            <a:ext cx="7509906" cy="576248"/>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1"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栅长较小时，将 </a:t>
            </a:r>
            <a:r>
              <a:rPr kumimoji="1" lang="en-US" altLang="zh-CN" sz="2400" b="0" i="1"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sin </a:t>
            </a:r>
            <a:r>
              <a:rPr kumimoji="1"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rPr>
              <a:t>函数</a:t>
            </a:r>
            <a:r>
              <a:rPr kumimoji="1" lang="zh-CN" altLang="en-US" sz="2400" b="1" i="0" u="none" strike="noStrike" kern="120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mn-cs"/>
                <a:sym typeface="Symbol" panose="05050102010706020507" pitchFamily="18" charset="2"/>
              </a:rPr>
              <a:t>用幂级数展开，取前两项。</a:t>
            </a:r>
            <a:endParaRPr kumimoji="0" lang="en-US" altLang="zh-CN"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24" name="TextBox 23">
            <a:extLst>
              <a:ext uri="{FF2B5EF4-FFF2-40B4-BE49-F238E27FC236}">
                <a16:creationId xmlns:a16="http://schemas.microsoft.com/office/drawing/2014/main" id="{F9F63DDF-C470-48BC-8826-E5715978AFB5}"/>
              </a:ext>
            </a:extLst>
          </p:cNvPr>
          <p:cNvSpPr txBox="1"/>
          <p:nvPr/>
        </p:nvSpPr>
        <p:spPr>
          <a:xfrm>
            <a:off x="158671" y="1152159"/>
            <a:ext cx="329108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a:solidFill>
                  <a:srgbClr val="FFFF00"/>
                </a:solidFill>
                <a:latin typeface="宋体" panose="02010600030101010101" pitchFamily="2" charset="-122"/>
                <a:ea typeface="宋体" panose="02010600030101010101" pitchFamily="2" charset="-122"/>
              </a:rPr>
              <a:t>应变片的动态特性</a:t>
            </a:r>
            <a:endParaRPr lang="zh-CN" altLang="en-US" sz="2800" b="1" dirty="0">
              <a:solidFill>
                <a:srgbClr val="FFFF00"/>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AF25F4D0-4B1D-481C-A266-43DAE8CCA9D9}"/>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pic>
        <p:nvPicPr>
          <p:cNvPr id="7" name="Picture 6">
            <a:extLst>
              <a:ext uri="{FF2B5EF4-FFF2-40B4-BE49-F238E27FC236}">
                <a16:creationId xmlns:a16="http://schemas.microsoft.com/office/drawing/2014/main" id="{704AB6D6-8516-4BB7-8675-3447375BB93B}"/>
              </a:ext>
            </a:extLst>
          </p:cNvPr>
          <p:cNvPicPr>
            <a:picLocks noChangeAspect="1"/>
          </p:cNvPicPr>
          <p:nvPr/>
        </p:nvPicPr>
        <p:blipFill>
          <a:blip r:embed="rId13"/>
          <a:stretch>
            <a:fillRect/>
          </a:stretch>
        </p:blipFill>
        <p:spPr>
          <a:xfrm>
            <a:off x="5508345" y="1931898"/>
            <a:ext cx="3582807" cy="2499752"/>
          </a:xfrm>
          <a:prstGeom prst="rect">
            <a:avLst/>
          </a:prstGeom>
        </p:spPr>
      </p:pic>
    </p:spTree>
    <p:extLst>
      <p:ext uri="{BB962C8B-B14F-4D97-AF65-F5344CB8AC3E}">
        <p14:creationId xmlns:p14="http://schemas.microsoft.com/office/powerpoint/2010/main" val="3665898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A9D3D4BC-6F10-4A41-8A23-21F6E9D8B5E7}"/>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21" name="Text Box 16"/>
          <p:cNvSpPr txBox="1">
            <a:spLocks noChangeArrowheads="1"/>
          </p:cNvSpPr>
          <p:nvPr/>
        </p:nvSpPr>
        <p:spPr bwMode="auto">
          <a:xfrm>
            <a:off x="292257" y="3599545"/>
            <a:ext cx="8386862" cy="2238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indent="630238" algn="just">
              <a:lnSpc>
                <a:spcPct val="150000"/>
              </a:lnSpc>
            </a:pP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在所要求的误差</a:t>
            </a:r>
            <a:r>
              <a:rPr kumimoji="1" lang="zh-CN" altLang="en-US"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30000" dirty="0">
                <a:latin typeface="Times New Roman" panose="02020603050405020304" pitchFamily="18" charset="0"/>
                <a:ea typeface="宋体" panose="02010600030101010101" pitchFamily="2" charset="-122"/>
              </a:rPr>
              <a:t>r</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下，</a:t>
            </a:r>
            <a:r>
              <a:rPr kumimoji="1" lang="zh-CN" altLang="en-US" sz="2400" b="1" u="sng" dirty="0">
                <a:latin typeface="Times New Roman" panose="02020603050405020304" pitchFamily="18" charset="0"/>
                <a:ea typeface="宋体" panose="02010600030101010101" pitchFamily="2" charset="-122"/>
                <a:sym typeface="Symbol" panose="05050102010706020507" pitchFamily="18" charset="2"/>
              </a:rPr>
              <a:t>所测应变频率与测试件的材料的种类（</a:t>
            </a:r>
            <a:r>
              <a:rPr kumimoji="1" lang="en-US" altLang="zh-CN" sz="2400" i="1" u="sng" dirty="0">
                <a:latin typeface="Times New Roman" panose="02020603050405020304" pitchFamily="18" charset="0"/>
                <a:ea typeface="宋体" panose="02010600030101010101" pitchFamily="2" charset="-122"/>
                <a:sym typeface="Symbol" panose="05050102010706020507" pitchFamily="18" charset="2"/>
              </a:rPr>
              <a:t>v</a:t>
            </a:r>
            <a:r>
              <a:rPr kumimoji="1" lang="zh-CN" altLang="en-US" sz="2400" b="1" u="sng" dirty="0">
                <a:latin typeface="Times New Roman" panose="02020603050405020304" pitchFamily="18" charset="0"/>
                <a:ea typeface="宋体" panose="02010600030101010101" pitchFamily="2" charset="-122"/>
                <a:sym typeface="Symbol" panose="05050102010706020507" pitchFamily="18" charset="2"/>
              </a:rPr>
              <a:t>）及应变片长度 </a:t>
            </a:r>
            <a:r>
              <a:rPr kumimoji="1" lang="en-US" altLang="zh-CN" sz="2400" i="1" u="sng" dirty="0">
                <a:latin typeface="Times New Roman" panose="02020603050405020304" pitchFamily="18" charset="0"/>
                <a:ea typeface="宋体" panose="02010600030101010101" pitchFamily="2" charset="-122"/>
                <a:sym typeface="Symbol" panose="05050102010706020507" pitchFamily="18" charset="2"/>
              </a:rPr>
              <a:t>l</a:t>
            </a:r>
            <a:r>
              <a:rPr kumimoji="1" lang="en-US" altLang="zh-CN" sz="2400" b="1" i="1" u="sng" dirty="0">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u="sng" dirty="0">
                <a:latin typeface="Times New Roman" panose="02020603050405020304" pitchFamily="18" charset="0"/>
                <a:ea typeface="宋体" panose="02010600030101010101" pitchFamily="2" charset="-122"/>
                <a:sym typeface="Symbol" panose="05050102010706020507" pitchFamily="18" charset="2"/>
              </a:rPr>
              <a:t>有关，</a:t>
            </a:r>
            <a:r>
              <a:rPr kumimoji="1" lang="en-US" altLang="zh-CN" sz="2400" i="1" dirty="0">
                <a:latin typeface="Times New Roman" panose="02020603050405020304" pitchFamily="18" charset="0"/>
                <a:ea typeface="宋体" panose="02010600030101010101" pitchFamily="2" charset="-122"/>
                <a:sym typeface="Symbol" panose="05050102010706020507" pitchFamily="18" charset="2"/>
              </a:rPr>
              <a:t>l</a:t>
            </a:r>
            <a:r>
              <a:rPr kumimoji="1" lang="en-US" altLang="zh-CN" sz="2400" b="1" i="1" dirty="0">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越小，可测应变频率越高。</a:t>
            </a:r>
            <a:r>
              <a:rPr kumimoji="1" lang="en-US" altLang="zh-CN" sz="2400" i="1" dirty="0">
                <a:latin typeface="Times New Roman" panose="02020603050405020304" pitchFamily="18" charset="0"/>
                <a:ea typeface="宋体" panose="02010600030101010101" pitchFamily="2" charset="-122"/>
                <a:sym typeface="Symbol" panose="05050102010706020507" pitchFamily="18" charset="2"/>
              </a:rPr>
              <a:t>l</a:t>
            </a:r>
            <a:r>
              <a:rPr kumimoji="1" lang="en-US" altLang="zh-CN" sz="2400" b="1" i="1" dirty="0">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越小，灵敏系数下降亦越多。具体使用时，一般规定应变片</a:t>
            </a:r>
            <a:r>
              <a:rPr kumimoji="1" lang="en-US" altLang="zh-CN" sz="2400" i="1" dirty="0">
                <a:latin typeface="Times New Roman" panose="02020603050405020304" pitchFamily="18" charset="0"/>
                <a:ea typeface="宋体" panose="02010600030101010101" pitchFamily="2" charset="-122"/>
                <a:sym typeface="Symbol" panose="05050102010706020507" pitchFamily="18" charset="2"/>
              </a:rPr>
              <a:t>l</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 范围为</a:t>
            </a:r>
            <a:r>
              <a:rPr kumimoji="1" lang="el-GR" altLang="zh-CN" sz="2400" dirty="0">
                <a:latin typeface="Times New Roman" panose="02020603050405020304" pitchFamily="18" charset="0"/>
                <a:ea typeface="宋体" panose="02010600030101010101" pitchFamily="2" charset="-122"/>
                <a:sym typeface="Symbol" panose="05050102010706020507" pitchFamily="18" charset="2"/>
              </a:rPr>
              <a:t>λ</a:t>
            </a:r>
            <a:r>
              <a:rPr kumimoji="1" lang="en-US" altLang="zh-CN" sz="2400" dirty="0">
                <a:latin typeface="Times New Roman" panose="02020603050405020304" pitchFamily="18" charset="0"/>
                <a:ea typeface="宋体" panose="02010600030101010101" pitchFamily="2" charset="-122"/>
                <a:sym typeface="Symbol" panose="05050102010706020507" pitchFamily="18" charset="2"/>
              </a:rPr>
              <a:t>/20</a:t>
            </a:r>
            <a:r>
              <a:rPr kumimoji="1" lang="en-US" altLang="zh-CN" sz="2400" b="1" dirty="0">
                <a:latin typeface="Times New Roman" panose="02020603050405020304" pitchFamily="18" charset="0"/>
                <a:ea typeface="宋体" panose="02010600030101010101" pitchFamily="2" charset="-122"/>
                <a:sym typeface="Symbol" panose="05050102010706020507" pitchFamily="18" charset="2"/>
              </a:rPr>
              <a:t>~ </a:t>
            </a:r>
            <a:r>
              <a:rPr kumimoji="1" lang="el-GR" altLang="zh-CN" sz="2400" dirty="0">
                <a:latin typeface="Times New Roman" panose="02020603050405020304" pitchFamily="18" charset="0"/>
                <a:ea typeface="宋体" panose="02010600030101010101" pitchFamily="2" charset="-122"/>
                <a:sym typeface="Symbol" panose="05050102010706020507" pitchFamily="18" charset="2"/>
              </a:rPr>
              <a:t>λ</a:t>
            </a:r>
            <a:r>
              <a:rPr kumimoji="1" lang="en-US" altLang="zh-CN" sz="2400" dirty="0">
                <a:latin typeface="Times New Roman" panose="02020603050405020304" pitchFamily="18" charset="0"/>
                <a:ea typeface="宋体" panose="02010600030101010101" pitchFamily="2" charset="-122"/>
                <a:sym typeface="Symbol" panose="05050102010706020507" pitchFamily="18" charset="2"/>
              </a:rPr>
              <a:t>/10</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dirty="0">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2" name="Object 1">
            <a:extLst>
              <a:ext uri="{FF2B5EF4-FFF2-40B4-BE49-F238E27FC236}">
                <a16:creationId xmlns:a16="http://schemas.microsoft.com/office/drawing/2014/main" id="{F98B0705-A35F-409B-8746-8980AB0BEDD9}"/>
              </a:ext>
            </a:extLst>
          </p:cNvPr>
          <p:cNvGraphicFramePr>
            <a:graphicFrameLocks noChangeAspect="1"/>
          </p:cNvGraphicFramePr>
          <p:nvPr>
            <p:extLst>
              <p:ext uri="{D42A27DB-BD31-4B8C-83A1-F6EECF244321}">
                <p14:modId xmlns:p14="http://schemas.microsoft.com/office/powerpoint/2010/main" val="1066507810"/>
              </p:ext>
            </p:extLst>
          </p:nvPr>
        </p:nvGraphicFramePr>
        <p:xfrm>
          <a:off x="2846388" y="2217510"/>
          <a:ext cx="3278600" cy="1040946"/>
        </p:xfrm>
        <a:graphic>
          <a:graphicData uri="http://schemas.openxmlformats.org/presentationml/2006/ole">
            <mc:AlternateContent xmlns:mc="http://schemas.openxmlformats.org/markup-compatibility/2006">
              <mc:Choice xmlns:v="urn:schemas-microsoft-com:vml" Requires="v">
                <p:oleObj name="Equation" r:id="rId3" imgW="2740164" imgH="870511" progId="Equation.DSMT4">
                  <p:embed/>
                </p:oleObj>
              </mc:Choice>
              <mc:Fallback>
                <p:oleObj name="Equation" r:id="rId3" imgW="2740164" imgH="870511" progId="Equation.DSMT4">
                  <p:embed/>
                  <p:pic>
                    <p:nvPicPr>
                      <p:cNvPr id="0" name=""/>
                      <p:cNvPicPr/>
                      <p:nvPr/>
                    </p:nvPicPr>
                    <p:blipFill>
                      <a:blip r:embed="rId4"/>
                      <a:stretch>
                        <a:fillRect/>
                      </a:stretch>
                    </p:blipFill>
                    <p:spPr>
                      <a:xfrm>
                        <a:off x="2846388" y="2217510"/>
                        <a:ext cx="3278600" cy="1040946"/>
                      </a:xfrm>
                      <a:prstGeom prst="rect">
                        <a:avLst/>
                      </a:prstGeom>
                      <a:solidFill>
                        <a:schemeClr val="accent4"/>
                      </a:solidFill>
                    </p:spPr>
                  </p:pic>
                </p:oleObj>
              </mc:Fallback>
            </mc:AlternateContent>
          </a:graphicData>
        </a:graphic>
      </p:graphicFrame>
      <p:sp>
        <p:nvSpPr>
          <p:cNvPr id="9" name="TextBox 8">
            <a:extLst>
              <a:ext uri="{FF2B5EF4-FFF2-40B4-BE49-F238E27FC236}">
                <a16:creationId xmlns:a16="http://schemas.microsoft.com/office/drawing/2014/main" id="{BA098CA6-E002-4952-AFCA-15693F05386F}"/>
              </a:ext>
            </a:extLst>
          </p:cNvPr>
          <p:cNvSpPr txBox="1"/>
          <p:nvPr/>
        </p:nvSpPr>
        <p:spPr>
          <a:xfrm>
            <a:off x="158671" y="1152159"/>
            <a:ext cx="329108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a:solidFill>
                  <a:srgbClr val="FFFF00"/>
                </a:solidFill>
                <a:latin typeface="宋体" panose="02010600030101010101" pitchFamily="2" charset="-122"/>
                <a:ea typeface="宋体" panose="02010600030101010101" pitchFamily="2" charset="-122"/>
              </a:rPr>
              <a:t>应变片的动态特性</a:t>
            </a:r>
            <a:endParaRPr lang="zh-CN" altLang="en-US" sz="2800" b="1" dirty="0">
              <a:solidFill>
                <a:srgbClr val="FFFF00"/>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88A2AFBF-D2D1-435C-BA51-D22BFFEC5923}"/>
              </a:ext>
            </a:extLst>
          </p:cNvPr>
          <p:cNvSpPr>
            <a:spLocks noGrp="1"/>
          </p:cNvSpPr>
          <p:nvPr>
            <p:ph type="sldNum" sz="quarter" idx="12"/>
          </p:nvPr>
        </p:nvSpPr>
        <p:spPr/>
        <p:txBody>
          <a:bodyPr/>
          <a:lstStyle/>
          <a:p>
            <a:fld id="{B53602B4-F12B-41CD-B648-531F86B2CC91}" type="slidenum">
              <a:rPr lang="zh-CN" altLang="en-US" smtClean="0"/>
              <a:t>48</a:t>
            </a:fld>
            <a:endParaRPr lang="zh-CN" altLang="en-US" dirty="0"/>
          </a:p>
        </p:txBody>
      </p:sp>
    </p:spTree>
    <p:extLst>
      <p:ext uri="{BB962C8B-B14F-4D97-AF65-F5344CB8AC3E}">
        <p14:creationId xmlns:p14="http://schemas.microsoft.com/office/powerpoint/2010/main" val="18033870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49D98DB5-A72D-44E4-A4CC-185378B02DE7}"/>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0" name="Rectangle 3"/>
          <p:cNvSpPr txBox="1">
            <a:spLocks noRot="1" noChangeArrowheads="1"/>
          </p:cNvSpPr>
          <p:nvPr/>
        </p:nvSpPr>
        <p:spPr>
          <a:xfrm>
            <a:off x="568325" y="1143000"/>
            <a:ext cx="8540750" cy="37258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90000"/>
              </a:lnSpc>
              <a:spcBef>
                <a:spcPct val="0"/>
              </a:spcBef>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en-US" altLang="zh-CN" sz="2400" i="1" dirty="0">
                <a:latin typeface="Times New Roman" panose="02020603050405020304" pitchFamily="18" charset="0"/>
                <a:ea typeface="宋体" panose="02010600030101010101" pitchFamily="2" charset="-122"/>
              </a:rPr>
              <a:t>T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rPr>
              <a:t>T</a:t>
            </a:r>
            <a:r>
              <a:rPr lang="en-US" altLang="zh-CN" sz="2400" dirty="0">
                <a:latin typeface="Times New Roman" panose="02020603050405020304" pitchFamily="18" charset="0"/>
                <a:ea typeface="宋体" panose="02010600030101010101" pitchFamily="2" charset="-122"/>
              </a:rPr>
              <a:t>+</a:t>
            </a:r>
            <a:r>
              <a:rPr lang="el-GR" altLang="zh-CN" sz="2400" dirty="0">
                <a:latin typeface="Times New Roman" panose="02020603050405020304" pitchFamily="18" charset="0"/>
                <a:ea typeface="宋体" panose="02010600030101010101" pitchFamily="2" charset="-122"/>
                <a:cs typeface="Times New Roman" panose="02020603050405020304" pitchFamily="18" charset="0"/>
              </a:rPr>
              <a:t>Δ</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t</a:t>
            </a:r>
          </a:p>
          <a:p>
            <a:pPr>
              <a:lnSpc>
                <a:spcPct val="190000"/>
              </a:lnSpc>
              <a:spcBef>
                <a:spcPct val="0"/>
              </a:spcBef>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1. </a:t>
            </a:r>
            <a:r>
              <a:rPr lang="zh-CN" altLang="en-US" sz="2400" b="1" dirty="0">
                <a:latin typeface="宋体" panose="02010600030101010101" pitchFamily="2" charset="-122"/>
                <a:ea typeface="宋体" panose="02010600030101010101" pitchFamily="2" charset="-122"/>
              </a:rPr>
              <a:t>敏感栅温度系数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α</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i="1" baseline="-25000" dirty="0">
              <a:latin typeface="宋体" panose="02010600030101010101" pitchFamily="2" charset="-122"/>
              <a:ea typeface="宋体" panose="02010600030101010101" pitchFamily="2" charset="-122"/>
            </a:endParaRPr>
          </a:p>
          <a:p>
            <a:pPr>
              <a:lnSpc>
                <a:spcPct val="190000"/>
              </a:lnSpc>
              <a:spcBef>
                <a:spcPct val="0"/>
              </a:spcBef>
              <a:buFont typeface="Wingdings" panose="05000000000000000000" pitchFamily="2" charset="2"/>
              <a:buNone/>
            </a:pPr>
            <a:r>
              <a:rPr lang="en-US" altLang="zh-CN" sz="2400" b="1" i="1" baseline="-25000">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2</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栅丝</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β</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宋体" panose="02010600030101010101" pitchFamily="2" charset="-122"/>
                <a:ea typeface="宋体" panose="02010600030101010101" pitchFamily="2" charset="-122"/>
              </a:rPr>
              <a:t>试件膨胀系数</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β</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宋体" panose="02010600030101010101" pitchFamily="2" charset="-122"/>
                <a:ea typeface="宋体" panose="02010600030101010101" pitchFamily="2" charset="-122"/>
              </a:rPr>
              <a:t>虚假应变输出</a:t>
            </a:r>
          </a:p>
          <a:p>
            <a:pPr>
              <a:lnSpc>
                <a:spcPct val="190000"/>
              </a:lnSpc>
              <a:spcBef>
                <a:spcPct val="0"/>
              </a:spcBef>
              <a:buFont typeface="Wingdings" panose="05000000000000000000" pitchFamily="2" charset="2"/>
              <a:buNone/>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6" name="Object 23"/>
          <p:cNvGraphicFramePr>
            <a:graphicFrameLocks noChangeAspect="1"/>
          </p:cNvGraphicFramePr>
          <p:nvPr>
            <p:extLst>
              <p:ext uri="{D42A27DB-BD31-4B8C-83A1-F6EECF244321}">
                <p14:modId xmlns:p14="http://schemas.microsoft.com/office/powerpoint/2010/main" val="4087296025"/>
              </p:ext>
            </p:extLst>
          </p:nvPr>
        </p:nvGraphicFramePr>
        <p:xfrm>
          <a:off x="4648822" y="1824040"/>
          <a:ext cx="1998663" cy="923925"/>
        </p:xfrm>
        <a:graphic>
          <a:graphicData uri="http://schemas.openxmlformats.org/presentationml/2006/ole">
            <mc:AlternateContent xmlns:mc="http://schemas.openxmlformats.org/markup-compatibility/2006">
              <mc:Choice xmlns:v="urn:schemas-microsoft-com:vml" Requires="v">
                <p:oleObj name="Equation" r:id="rId3" imgW="965200" imgH="444500" progId="Equation.DSMT4">
                  <p:embed/>
                </p:oleObj>
              </mc:Choice>
              <mc:Fallback>
                <p:oleObj name="Equation" r:id="rId3" imgW="965200" imgH="444500" progId="Equation.DSMT4">
                  <p:embed/>
                  <p:pic>
                    <p:nvPicPr>
                      <p:cNvPr id="30728"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822" y="1824040"/>
                        <a:ext cx="19986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 name="矩形 1"/>
              <p:cNvSpPr/>
              <p:nvPr/>
            </p:nvSpPr>
            <p:spPr>
              <a:xfrm>
                <a:off x="2054990" y="3449830"/>
                <a:ext cx="3593163" cy="97026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latin typeface="Cambria Math" panose="02040503050406030204" pitchFamily="18" charset="0"/>
                            </a:rPr>
                          </m:ctrlPr>
                        </m:sSub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e>
                          </m:d>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r>
                        <a:rPr lang="en-US" altLang="zh-CN" sz="2400" b="0" i="1" smtClean="0">
                          <a:latin typeface="Cambria Math" panose="02040503050406030204" pitchFamily="18" charset="0"/>
                        </a:rPr>
                        <m:t>𝑘</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𝑔</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𝑠</m:t>
                              </m:r>
                            </m:sub>
                          </m:sSub>
                        </m:e>
                      </m:d>
                      <m:r>
                        <a:rPr lang="zh-CN" altLang="en-US" sz="2400" i="0">
                          <a:latin typeface="Cambria Math" panose="02040503050406030204" pitchFamily="18" charset="0"/>
                        </a:rPr>
                        <m:t>∙∆</m:t>
                      </m:r>
                      <m:r>
                        <a:rPr lang="zh-CN" altLang="en-US" sz="2400" i="1">
                          <a:latin typeface="Cambria Math" panose="02040503050406030204" pitchFamily="18" charset="0"/>
                        </a:rPr>
                        <m:t>𝑡</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2054990" y="3449830"/>
                <a:ext cx="3593163" cy="970266"/>
              </a:xfrm>
              <a:prstGeom prst="rect">
                <a:avLst/>
              </a:prstGeom>
              <a:blipFill>
                <a:blip r:embed="rId6"/>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186531" y="4725911"/>
                <a:ext cx="6924582" cy="970266"/>
              </a:xfrm>
              <a:prstGeom prst="rect">
                <a:avLst/>
              </a:prstGeom>
              <a:solidFill>
                <a:schemeClr val="accent2">
                  <a:lumMod val="60000"/>
                  <a:lumOff val="40000"/>
                </a:schemeClr>
              </a:solid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2400" i="1" smtClean="0">
                              <a:latin typeface="Cambria Math" panose="02040503050406030204" pitchFamily="18" charset="0"/>
                            </a:rPr>
                          </m:ctrlPr>
                        </m:fPr>
                        <m:num>
                          <m:r>
                            <a:rPr lang="zh-CN" altLang="en-US" sz="240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e>
                          </m:d>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e>
                          </m:d>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𝑡</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𝑔</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𝑠</m:t>
                              </m:r>
                            </m:sub>
                          </m:sSub>
                        </m:e>
                      </m:d>
                      <m:r>
                        <a:rPr lang="zh-CN" altLang="en-US" sz="2400" i="0">
                          <a:latin typeface="Cambria Math" panose="02040503050406030204" pitchFamily="18" charset="0"/>
                        </a:rPr>
                        <m:t>∙∆</m:t>
                      </m:r>
                      <m:r>
                        <a:rPr lang="zh-CN" altLang="en-US" sz="2400" i="1">
                          <a:latin typeface="Cambria Math" panose="02040503050406030204" pitchFamily="18" charset="0"/>
                        </a:rPr>
                        <m:t>𝑡</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1186531" y="4725911"/>
                <a:ext cx="6924582" cy="970266"/>
              </a:xfrm>
              <a:prstGeom prst="rect">
                <a:avLst/>
              </a:prstGeom>
              <a:blipFill>
                <a:blip r:embed="rId7"/>
                <a:stretch>
                  <a:fillRect/>
                </a:stretch>
              </a:blipFill>
              <a:ln>
                <a:solidFill>
                  <a:srgbClr val="FF0000"/>
                </a:solidFill>
              </a:ln>
            </p:spPr>
            <p:txBody>
              <a:bodyPr/>
              <a:lstStyle/>
              <a:p>
                <a:r>
                  <a:rPr lang="en-001">
                    <a:noFill/>
                  </a:rPr>
                  <a:t> </a:t>
                </a:r>
              </a:p>
            </p:txBody>
          </p:sp>
        </mc:Fallback>
      </mc:AlternateContent>
      <p:sp>
        <p:nvSpPr>
          <p:cNvPr id="4" name="Slide Number Placeholder 3">
            <a:extLst>
              <a:ext uri="{FF2B5EF4-FFF2-40B4-BE49-F238E27FC236}">
                <a16:creationId xmlns:a16="http://schemas.microsoft.com/office/drawing/2014/main" id="{8251FD55-6D79-4644-8404-5132B58A7E91}"/>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5B5E284C-DE9E-4873-9862-98BD3A89D23C}"/>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0" name="Rectangle 21"/>
          <p:cNvSpPr>
            <a:spLocks noChangeArrowheads="1"/>
          </p:cNvSpPr>
          <p:nvPr/>
        </p:nvSpPr>
        <p:spPr bwMode="auto">
          <a:xfrm>
            <a:off x="1458782" y="4202404"/>
            <a:ext cx="338165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二、线路补偿法   </a:t>
            </a:r>
          </a:p>
        </p:txBody>
      </p:sp>
      <p:sp>
        <p:nvSpPr>
          <p:cNvPr id="21" name="Rectangle 5"/>
          <p:cNvSpPr>
            <a:spLocks noChangeArrowheads="1"/>
          </p:cNvSpPr>
          <p:nvPr/>
        </p:nvSpPr>
        <p:spPr bwMode="auto">
          <a:xfrm>
            <a:off x="1458782" y="1492774"/>
            <a:ext cx="4250832"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一、自补偿法</a:t>
            </a:r>
          </a:p>
          <a:p>
            <a:pPr eaLnBrk="1" hangingPunct="1">
              <a:lnSpc>
                <a:spcPct val="16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．单丝自补偿法</a:t>
            </a:r>
          </a:p>
          <a:p>
            <a:pPr eaLnBrk="1" hangingPunct="1">
              <a:lnSpc>
                <a:spcPct val="16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．组合式自补偿法</a:t>
            </a:r>
          </a:p>
        </p:txBody>
      </p:sp>
      <p:sp>
        <p:nvSpPr>
          <p:cNvPr id="2" name="矩形 1"/>
          <p:cNvSpPr/>
          <p:nvPr/>
        </p:nvSpPr>
        <p:spPr>
          <a:xfrm>
            <a:off x="2481943" y="3190952"/>
            <a:ext cx="5632246" cy="1178400"/>
          </a:xfrm>
          <a:prstGeom prst="rect">
            <a:avLst/>
          </a:prstGeom>
        </p:spPr>
        <p:txBody>
          <a:bodyPr wrap="square">
            <a:spAutoFit/>
          </a:bodyPr>
          <a:lstStyle/>
          <a:p>
            <a:pPr marL="1252538" indent="-1252538">
              <a:lnSpc>
                <a:spcPct val="160000"/>
              </a:lnSpc>
            </a:pPr>
            <a:r>
              <a:rPr lang="zh-CN" altLang="en-US" sz="2400" b="1" dirty="0">
                <a:latin typeface="宋体" panose="02010600030101010101" pitchFamily="2" charset="-122"/>
                <a:ea typeface="宋体" panose="02010600030101010101" pitchFamily="2" charset="-122"/>
                <a:hlinkClick r:id="rId3" action="ppaction://hlinksldjump"/>
              </a:rPr>
              <a:t>图</a:t>
            </a:r>
            <a:r>
              <a:rPr lang="en-US" altLang="zh-CN" sz="2400" b="1" dirty="0">
                <a:latin typeface="宋体" panose="02010600030101010101" pitchFamily="2" charset="-122"/>
                <a:ea typeface="宋体" panose="02010600030101010101" pitchFamily="2" charset="-122"/>
                <a:hlinkClick r:id="rId3" action="ppaction://hlinksldjump"/>
              </a:rPr>
              <a:t>2-26  </a:t>
            </a:r>
            <a:r>
              <a:rPr lang="zh-CN" altLang="en-US" sz="2400" b="1" dirty="0">
                <a:latin typeface="宋体" panose="02010600030101010101" pitchFamily="2" charset="-122"/>
                <a:ea typeface="宋体" panose="02010600030101010101" pitchFamily="2" charset="-122"/>
                <a:hlinkClick r:id="rId3" action="ppaction://hlinksldjump"/>
              </a:rPr>
              <a:t>组合式自动补偿法之二的结构及电桥连接方式</a:t>
            </a:r>
            <a:endParaRPr lang="zh-CN" altLang="en-US" sz="2400" b="1" dirty="0">
              <a:latin typeface="宋体" panose="02010600030101010101" pitchFamily="2" charset="-122"/>
              <a:ea typeface="宋体" panose="02010600030101010101" pitchFamily="2" charset="-122"/>
            </a:endParaRPr>
          </a:p>
        </p:txBody>
      </p:sp>
      <p:sp>
        <p:nvSpPr>
          <p:cNvPr id="3" name="矩形 2"/>
          <p:cNvSpPr/>
          <p:nvPr/>
        </p:nvSpPr>
        <p:spPr>
          <a:xfrm>
            <a:off x="2481943" y="4885668"/>
            <a:ext cx="4572000" cy="587469"/>
          </a:xfrm>
          <a:prstGeom prst="rect">
            <a:avLst/>
          </a:prstGeom>
        </p:spPr>
        <p:txBody>
          <a:bodyPr>
            <a:spAutoFit/>
          </a:bodyPr>
          <a:lstStyle/>
          <a:p>
            <a:pPr>
              <a:lnSpc>
                <a:spcPct val="160000"/>
              </a:lnSpc>
            </a:pPr>
            <a:r>
              <a:rPr lang="zh-CN" altLang="en-US" sz="2400" b="1" dirty="0">
                <a:latin typeface="宋体" panose="02010600030101010101" pitchFamily="2" charset="-122"/>
                <a:ea typeface="宋体" panose="02010600030101010101" pitchFamily="2" charset="-122"/>
                <a:hlinkClick r:id="rId4" action="ppaction://hlinksldjump"/>
              </a:rPr>
              <a:t>图</a:t>
            </a:r>
            <a:r>
              <a:rPr lang="en-US" altLang="zh-CN" sz="2400" b="1" dirty="0">
                <a:latin typeface="宋体" panose="02010600030101010101" pitchFamily="2" charset="-122"/>
                <a:ea typeface="宋体" panose="02010600030101010101" pitchFamily="2" charset="-122"/>
                <a:hlinkClick r:id="rId4" action="ppaction://hlinksldjump"/>
              </a:rPr>
              <a:t>2-27 </a:t>
            </a:r>
            <a:r>
              <a:rPr lang="zh-CN" altLang="en-US" sz="2400" b="1" dirty="0">
                <a:latin typeface="宋体" panose="02010600030101010101" pitchFamily="2" charset="-122"/>
                <a:ea typeface="宋体" panose="02010600030101010101" pitchFamily="2" charset="-122"/>
                <a:hlinkClick r:id="rId4" action="ppaction://hlinksldjump"/>
              </a:rPr>
              <a:t>电桥补偿法</a:t>
            </a:r>
            <a:endParaRPr lang="zh-CN" altLang="en-US" sz="2400" b="1" dirty="0">
              <a:latin typeface="宋体" panose="02010600030101010101" pitchFamily="2" charset="-122"/>
              <a:ea typeface="宋体" panose="02010600030101010101" pitchFamily="2" charset="-122"/>
            </a:endParaRPr>
          </a:p>
        </p:txBody>
      </p:sp>
      <p:sp>
        <p:nvSpPr>
          <p:cNvPr id="26" name="矩形 25"/>
          <p:cNvSpPr/>
          <p:nvPr/>
        </p:nvSpPr>
        <p:spPr>
          <a:xfrm>
            <a:off x="2481943" y="5552817"/>
            <a:ext cx="4572000" cy="587469"/>
          </a:xfrm>
          <a:prstGeom prst="rect">
            <a:avLst/>
          </a:prstGeom>
        </p:spPr>
        <p:txBody>
          <a:bodyPr>
            <a:spAutoFit/>
          </a:bodyPr>
          <a:lstStyle/>
          <a:p>
            <a:pPr>
              <a:lnSpc>
                <a:spcPct val="160000"/>
              </a:lnSpc>
            </a:pPr>
            <a:r>
              <a:rPr lang="zh-CN" altLang="en-US" sz="2400" b="1" dirty="0">
                <a:latin typeface="宋体" panose="02010600030101010101" pitchFamily="2" charset="-122"/>
                <a:ea typeface="宋体" panose="02010600030101010101" pitchFamily="2" charset="-122"/>
                <a:hlinkClick r:id="rId5" action="ppaction://hlinksldjump"/>
              </a:rPr>
              <a:t>图</a:t>
            </a:r>
            <a:r>
              <a:rPr lang="en-US" altLang="zh-CN" sz="2400" b="1" dirty="0">
                <a:latin typeface="宋体" panose="02010600030101010101" pitchFamily="2" charset="-122"/>
                <a:ea typeface="宋体" panose="02010600030101010101" pitchFamily="2" charset="-122"/>
                <a:hlinkClick r:id="rId5" action="ppaction://hlinksldjump"/>
              </a:rPr>
              <a:t>2-28 </a:t>
            </a:r>
            <a:r>
              <a:rPr lang="zh-CN" altLang="en-US" sz="2400" b="1" dirty="0">
                <a:latin typeface="宋体" panose="02010600030101010101" pitchFamily="2" charset="-122"/>
                <a:ea typeface="宋体" panose="02010600030101010101" pitchFamily="2" charset="-122"/>
                <a:hlinkClick r:id="rId5" action="ppaction://hlinksldjump"/>
              </a:rPr>
              <a:t>差动电桥补偿法</a:t>
            </a:r>
            <a:endParaRPr lang="zh-CN" altLang="en-US" sz="2400" b="1" dirty="0">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88880B4D-A329-4605-807B-4073DBA03118}"/>
              </a:ext>
            </a:extLst>
          </p:cNvPr>
          <p:cNvSpPr>
            <a:spLocks noGrp="1"/>
          </p:cNvSpPr>
          <p:nvPr>
            <p:ph type="sldNum" sz="quarter" idx="12"/>
          </p:nvPr>
        </p:nvSpPr>
        <p:spPr/>
        <p:txBody>
          <a:bodyPr/>
          <a:lstStyle/>
          <a:p>
            <a:fld id="{B53602B4-F12B-41CD-B648-531F86B2CC91}" type="slidenum">
              <a:rPr lang="zh-CN" altLang="en-US" smtClean="0"/>
              <a:t>50</a:t>
            </a:fld>
            <a:endParaRPr lang="zh-CN" altLang="en-US"/>
          </a:p>
        </p:txBody>
      </p:sp>
    </p:spTree>
    <p:extLst>
      <p:ext uri="{BB962C8B-B14F-4D97-AF65-F5344CB8AC3E}">
        <p14:creationId xmlns:p14="http://schemas.microsoft.com/office/powerpoint/2010/main" val="27974805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DFFE15F5-1E70-4B25-B9C2-9E2D45FF1D68}"/>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1" name="Rectangle 5"/>
          <p:cNvSpPr>
            <a:spLocks noChangeArrowheads="1"/>
          </p:cNvSpPr>
          <p:nvPr/>
        </p:nvSpPr>
        <p:spPr bwMode="auto">
          <a:xfrm>
            <a:off x="1458782" y="1182672"/>
            <a:ext cx="4250832" cy="17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一、自补偿法</a:t>
            </a:r>
          </a:p>
          <a:p>
            <a:pPr eaLnBrk="1" hangingPunct="1">
              <a:lnSpc>
                <a:spcPct val="16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．单丝自补偿法</a:t>
            </a:r>
          </a:p>
          <a:p>
            <a:pPr eaLnBrk="1" hangingPunct="1">
              <a:lnSpc>
                <a:spcPct val="160000"/>
              </a:lnSpc>
            </a:pPr>
            <a:r>
              <a:rPr lang="zh-CN" altLang="en-US" sz="2400" b="1">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10" name="矩形 2">
                <a:extLst>
                  <a:ext uri="{FF2B5EF4-FFF2-40B4-BE49-F238E27FC236}">
                    <a16:creationId xmlns:a16="http://schemas.microsoft.com/office/drawing/2014/main" id="{7DF1BD41-9C21-4235-A3A2-288413CA5DF4}"/>
                  </a:ext>
                </a:extLst>
              </p:cNvPr>
              <p:cNvSpPr/>
              <p:nvPr/>
            </p:nvSpPr>
            <p:spPr>
              <a:xfrm>
                <a:off x="1109709" y="2633765"/>
                <a:ext cx="6924582" cy="970266"/>
              </a:xfrm>
              <a:prstGeom prst="rect">
                <a:avLst/>
              </a:prstGeom>
              <a:ln>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2400" i="1" smtClean="0">
                              <a:latin typeface="Cambria Math" panose="02040503050406030204" pitchFamily="18" charset="0"/>
                            </a:rPr>
                          </m:ctrlPr>
                        </m:fPr>
                        <m:num>
                          <m:r>
                            <a:rPr lang="zh-CN" altLang="en-US" sz="240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e>
                          </m:d>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e>
                          </m:d>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𝑡</m:t>
                          </m:r>
                        </m:sub>
                      </m:sSub>
                      <m:r>
                        <a:rPr lang="en-US" altLang="zh-CN" sz="240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𝑔</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𝑠</m:t>
                              </m:r>
                            </m:sub>
                          </m:sSub>
                        </m:e>
                      </m:d>
                      <m:r>
                        <a:rPr lang="zh-CN" altLang="en-US" sz="2400" i="0">
                          <a:latin typeface="Cambria Math" panose="02040503050406030204" pitchFamily="18" charset="0"/>
                        </a:rPr>
                        <m:t>∙∆</m:t>
                      </m:r>
                      <m:r>
                        <a:rPr lang="zh-CN" altLang="en-US" sz="2400" i="1">
                          <a:latin typeface="Cambria Math" panose="02040503050406030204" pitchFamily="18" charset="0"/>
                        </a:rPr>
                        <m:t>𝑡</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10" name="矩形 2">
                <a:extLst>
                  <a:ext uri="{FF2B5EF4-FFF2-40B4-BE49-F238E27FC236}">
                    <a16:creationId xmlns:a16="http://schemas.microsoft.com/office/drawing/2014/main" id="{7DF1BD41-9C21-4235-A3A2-288413CA5DF4}"/>
                  </a:ext>
                </a:extLst>
              </p:cNvPr>
              <p:cNvSpPr>
                <a:spLocks noRot="1" noChangeAspect="1" noMove="1" noResize="1" noEditPoints="1" noAdjustHandles="1" noChangeArrowheads="1" noChangeShapeType="1" noTextEdit="1"/>
              </p:cNvSpPr>
              <p:nvPr/>
            </p:nvSpPr>
            <p:spPr>
              <a:xfrm>
                <a:off x="1109709" y="2633765"/>
                <a:ext cx="6924582" cy="970266"/>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矩形 2">
                <a:extLst>
                  <a:ext uri="{FF2B5EF4-FFF2-40B4-BE49-F238E27FC236}">
                    <a16:creationId xmlns:a16="http://schemas.microsoft.com/office/drawing/2014/main" id="{2D97FB9D-AB70-4476-AAA9-3EF1F239997A}"/>
                  </a:ext>
                </a:extLst>
              </p:cNvPr>
              <p:cNvSpPr/>
              <p:nvPr/>
            </p:nvSpPr>
            <p:spPr>
              <a:xfrm>
                <a:off x="3945399" y="3857402"/>
                <a:ext cx="3839662" cy="518155"/>
              </a:xfrm>
              <a:prstGeom prst="rect">
                <a:avLst/>
              </a:prstGeom>
              <a:solidFill>
                <a:schemeClr val="accent4">
                  <a:lumMod val="60000"/>
                  <a:lumOff val="40000"/>
                </a:schemeClr>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𝛼</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𝑘</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𝑔</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𝛽</m:t>
                              </m:r>
                            </m:e>
                            <m:sub>
                              <m:r>
                                <a:rPr lang="zh-CN" altLang="en-US" sz="2400" i="1">
                                  <a:latin typeface="Cambria Math" panose="02040503050406030204" pitchFamily="18" charset="0"/>
                                </a:rPr>
                                <m:t>𝑠</m:t>
                              </m:r>
                            </m:sub>
                          </m:sSub>
                        </m:e>
                      </m:d>
                      <m:r>
                        <a:rPr lang="en-US" altLang="zh-CN" sz="2400" b="0" i="1" smtClean="0">
                          <a:latin typeface="Cambria Math" panose="02040503050406030204" pitchFamily="18" charset="0"/>
                        </a:rPr>
                        <m:t>=0</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12" name="矩形 2">
                <a:extLst>
                  <a:ext uri="{FF2B5EF4-FFF2-40B4-BE49-F238E27FC236}">
                    <a16:creationId xmlns:a16="http://schemas.microsoft.com/office/drawing/2014/main" id="{2D97FB9D-AB70-4476-AAA9-3EF1F239997A}"/>
                  </a:ext>
                </a:extLst>
              </p:cNvPr>
              <p:cNvSpPr>
                <a:spLocks noRot="1" noChangeAspect="1" noMove="1" noResize="1" noEditPoints="1" noAdjustHandles="1" noChangeArrowheads="1" noChangeShapeType="1" noTextEdit="1"/>
              </p:cNvSpPr>
              <p:nvPr/>
            </p:nvSpPr>
            <p:spPr>
              <a:xfrm>
                <a:off x="3945399" y="3857402"/>
                <a:ext cx="3839662" cy="518155"/>
              </a:xfrm>
              <a:prstGeom prst="rect">
                <a:avLst/>
              </a:prstGeom>
              <a:blipFill>
                <a:blip r:embed="rId4"/>
                <a:stretch>
                  <a:fillRect/>
                </a:stretch>
              </a:blipFill>
              <a:ln>
                <a:noFill/>
              </a:ln>
            </p:spPr>
            <p:txBody>
              <a:bodyPr/>
              <a:lstStyle/>
              <a:p>
                <a:r>
                  <a:rPr lang="en-US">
                    <a:noFill/>
                  </a:rPr>
                  <a:t> </a:t>
                </a:r>
              </a:p>
            </p:txBody>
          </p:sp>
        </mc:Fallback>
      </mc:AlternateContent>
      <p:sp>
        <p:nvSpPr>
          <p:cNvPr id="13" name="Rectangle 5">
            <a:extLst>
              <a:ext uri="{FF2B5EF4-FFF2-40B4-BE49-F238E27FC236}">
                <a16:creationId xmlns:a16="http://schemas.microsoft.com/office/drawing/2014/main" id="{C3A8955A-E554-4686-B000-727F22894EE4}"/>
              </a:ext>
            </a:extLst>
          </p:cNvPr>
          <p:cNvSpPr>
            <a:spLocks noChangeArrowheads="1"/>
          </p:cNvSpPr>
          <p:nvPr/>
        </p:nvSpPr>
        <p:spPr bwMode="auto">
          <a:xfrm>
            <a:off x="1393468" y="3763346"/>
            <a:ext cx="4250832" cy="58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a:latin typeface="宋体" panose="02010600030101010101" pitchFamily="2" charset="-122"/>
                <a:ea typeface="宋体" panose="02010600030101010101" pitchFamily="2" charset="-122"/>
              </a:rPr>
              <a:t>选取材料，使得：</a:t>
            </a:r>
            <a:endParaRPr lang="zh-CN" altLang="en-US" sz="2400" b="1" dirty="0">
              <a:latin typeface="宋体" panose="02010600030101010101" pitchFamily="2" charset="-122"/>
              <a:ea typeface="宋体" panose="02010600030101010101" pitchFamily="2" charset="-122"/>
            </a:endParaRPr>
          </a:p>
        </p:txBody>
      </p:sp>
      <p:sp>
        <p:nvSpPr>
          <p:cNvPr id="14" name="Rectangle 5">
            <a:extLst>
              <a:ext uri="{FF2B5EF4-FFF2-40B4-BE49-F238E27FC236}">
                <a16:creationId xmlns:a16="http://schemas.microsoft.com/office/drawing/2014/main" id="{1FF66076-6DA6-46B1-A76D-43C916D2F72F}"/>
              </a:ext>
            </a:extLst>
          </p:cNvPr>
          <p:cNvSpPr>
            <a:spLocks noChangeArrowheads="1"/>
          </p:cNvSpPr>
          <p:nvPr/>
        </p:nvSpPr>
        <p:spPr bwMode="auto">
          <a:xfrm>
            <a:off x="1458782" y="4851917"/>
            <a:ext cx="6114459" cy="587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a:latin typeface="宋体" panose="02010600030101010101" pitchFamily="2" charset="-122"/>
                <a:ea typeface="宋体" panose="02010600030101010101" pitchFamily="2" charset="-122"/>
              </a:rPr>
              <a:t>只适用于特定材料，补偿温度范围也比较窄</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1E52A18D-39B6-4205-B07B-39041B479776}"/>
              </a:ext>
            </a:extLst>
          </p:cNvPr>
          <p:cNvSpPr>
            <a:spLocks noGrp="1"/>
          </p:cNvSpPr>
          <p:nvPr>
            <p:ph type="sldNum" sz="quarter" idx="12"/>
          </p:nvPr>
        </p:nvSpPr>
        <p:spPr/>
        <p:txBody>
          <a:bodyPr/>
          <a:lstStyle/>
          <a:p>
            <a:fld id="{B53602B4-F12B-41CD-B648-531F86B2CC91}" type="slidenum">
              <a:rPr lang="zh-CN" altLang="en-US" smtClean="0"/>
              <a:t>51</a:t>
            </a:fld>
            <a:endParaRPr lang="zh-CN" altLang="en-US"/>
          </a:p>
        </p:txBody>
      </p:sp>
    </p:spTree>
    <p:extLst>
      <p:ext uri="{BB962C8B-B14F-4D97-AF65-F5344CB8AC3E}">
        <p14:creationId xmlns:p14="http://schemas.microsoft.com/office/powerpoint/2010/main" val="11810808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a:extLst>
              <a:ext uri="{FF2B5EF4-FFF2-40B4-BE49-F238E27FC236}">
                <a16:creationId xmlns:a16="http://schemas.microsoft.com/office/drawing/2014/main" id="{71CAFD51-E138-4287-BA79-84F6C8CCCE1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1" name="Rectangle 5"/>
          <p:cNvSpPr>
            <a:spLocks noChangeArrowheads="1"/>
          </p:cNvSpPr>
          <p:nvPr/>
        </p:nvSpPr>
        <p:spPr bwMode="auto">
          <a:xfrm>
            <a:off x="1458782" y="1087256"/>
            <a:ext cx="4250832" cy="11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一、自补偿法</a:t>
            </a:r>
          </a:p>
          <a:p>
            <a:pPr eaLnBrk="1" hangingPunct="1">
              <a:lnSpc>
                <a:spcPct val="160000"/>
              </a:lnSpc>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2</a:t>
            </a:r>
            <a:r>
              <a:rPr lang="zh-CN" altLang="en-US" sz="2400" b="1">
                <a:latin typeface="宋体" panose="02010600030101010101" pitchFamily="2" charset="-122"/>
                <a:ea typeface="宋体" panose="02010600030101010101" pitchFamily="2" charset="-122"/>
              </a:rPr>
              <a:t>．组合式自补偿法</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924529E0-1CB4-4ADD-B88F-F520C73BD5C5}"/>
              </a:ext>
            </a:extLst>
          </p:cNvPr>
          <p:cNvSpPr>
            <a:spLocks noGrp="1"/>
          </p:cNvSpPr>
          <p:nvPr>
            <p:ph type="sldNum" sz="quarter" idx="12"/>
          </p:nvPr>
        </p:nvSpPr>
        <p:spPr/>
        <p:txBody>
          <a:bodyPr/>
          <a:lstStyle/>
          <a:p>
            <a:fld id="{B53602B4-F12B-41CD-B648-531F86B2CC91}" type="slidenum">
              <a:rPr lang="zh-CN" altLang="en-US" smtClean="0"/>
              <a:t>52</a:t>
            </a:fld>
            <a:endParaRPr lang="zh-CN" altLang="en-US"/>
          </a:p>
        </p:txBody>
      </p:sp>
      <p:sp>
        <p:nvSpPr>
          <p:cNvPr id="13" name="TextBox 12">
            <a:extLst>
              <a:ext uri="{FF2B5EF4-FFF2-40B4-BE49-F238E27FC236}">
                <a16:creationId xmlns:a16="http://schemas.microsoft.com/office/drawing/2014/main" id="{BB77A8A6-DD11-4B7F-B009-A7C79FEC1CEB}"/>
              </a:ext>
            </a:extLst>
          </p:cNvPr>
          <p:cNvSpPr txBox="1"/>
          <p:nvPr/>
        </p:nvSpPr>
        <p:spPr>
          <a:xfrm>
            <a:off x="5357855" y="1469731"/>
            <a:ext cx="3023788" cy="1400383"/>
          </a:xfrm>
          <a:prstGeom prst="rect">
            <a:avLst/>
          </a:prstGeom>
          <a:noFill/>
        </p:spPr>
        <p:txBody>
          <a:bodyPr wrap="square">
            <a:spAutoFit/>
          </a:bodyPr>
          <a:lstStyle/>
          <a:p>
            <a:pPr marL="342900" indent="-342900">
              <a:spcAft>
                <a:spcPts val="600"/>
              </a:spcAft>
              <a:buFont typeface="Courier New" panose="02070309020205020404" pitchFamily="49" charset="0"/>
              <a:buChar char="o"/>
            </a:pPr>
            <a:r>
              <a:rPr lang="en-001" sz="2000" b="1" dirty="0">
                <a:latin typeface="宋体" panose="02010600030101010101" pitchFamily="2" charset="-122"/>
                <a:ea typeface="宋体" panose="02010600030101010101" pitchFamily="2" charset="-122"/>
              </a:rPr>
              <a:t>又称双金属丝栅法。</a:t>
            </a:r>
            <a:endParaRPr lang="en-US" sz="2000" b="1" dirty="0">
              <a:latin typeface="宋体" panose="02010600030101010101" pitchFamily="2" charset="-122"/>
              <a:ea typeface="宋体" panose="02010600030101010101" pitchFamily="2" charset="-122"/>
            </a:endParaRPr>
          </a:p>
          <a:p>
            <a:pPr marL="342900" indent="-342900">
              <a:spcAft>
                <a:spcPts val="600"/>
              </a:spcAft>
              <a:buFont typeface="Courier New" panose="02070309020205020404" pitchFamily="49" charset="0"/>
              <a:buChar char="o"/>
            </a:pPr>
            <a:r>
              <a:rPr lang="en-001" sz="2000" b="1" dirty="0">
                <a:latin typeface="宋体" panose="02010600030101010101" pitchFamily="2" charset="-122"/>
                <a:ea typeface="宋体" panose="02010600030101010101" pitchFamily="2" charset="-122"/>
              </a:rPr>
              <a:t>应变片敏感栅丝是由两种不同温度系数的金属丝串接组成的</a:t>
            </a:r>
          </a:p>
        </p:txBody>
      </p:sp>
      <p:sp>
        <p:nvSpPr>
          <p:cNvPr id="14" name="Text Box 9">
            <a:extLst>
              <a:ext uri="{FF2B5EF4-FFF2-40B4-BE49-F238E27FC236}">
                <a16:creationId xmlns:a16="http://schemas.microsoft.com/office/drawing/2014/main" id="{F20E7B93-2656-48C0-AD2B-DD1948322E6C}"/>
              </a:ext>
            </a:extLst>
          </p:cNvPr>
          <p:cNvSpPr txBox="1">
            <a:spLocks noChangeArrowheads="1"/>
          </p:cNvSpPr>
          <p:nvPr/>
        </p:nvSpPr>
        <p:spPr bwMode="auto">
          <a:xfrm>
            <a:off x="78517" y="2444738"/>
            <a:ext cx="4034169" cy="857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2000" b="1">
                <a:solidFill>
                  <a:srgbClr val="000099"/>
                </a:solidFill>
              </a:rPr>
              <a:t>组</a:t>
            </a:r>
            <a:r>
              <a:rPr lang="zh-CN" altLang="en-US" sz="2000" b="1" dirty="0">
                <a:solidFill>
                  <a:srgbClr val="000099"/>
                </a:solidFill>
              </a:rPr>
              <a:t>合式自动补偿</a:t>
            </a:r>
            <a:r>
              <a:rPr lang="zh-CN" altLang="en-US" sz="2000" b="1">
                <a:solidFill>
                  <a:srgbClr val="000099"/>
                </a:solidFill>
              </a:rPr>
              <a:t>法之一：</a:t>
            </a:r>
            <a:endParaRPr lang="en-US" altLang="zh-CN" sz="2000" b="1">
              <a:solidFill>
                <a:srgbClr val="000099"/>
              </a:solidFill>
            </a:endParaRPr>
          </a:p>
          <a:p>
            <a:pPr eaLnBrk="1" hangingPunct="1">
              <a:lnSpc>
                <a:spcPct val="120000"/>
              </a:lnSpc>
              <a:spcBef>
                <a:spcPct val="20000"/>
              </a:spcBef>
            </a:pPr>
            <a:r>
              <a:rPr lang="zh-CN" altLang="en-US" sz="2000" b="1">
                <a:solidFill>
                  <a:srgbClr val="C00000"/>
                </a:solidFill>
              </a:rPr>
              <a:t>两种不同温度系数的金属丝串接</a:t>
            </a:r>
            <a:endParaRPr lang="zh-CN" altLang="en-US" sz="2000" b="1" dirty="0">
              <a:solidFill>
                <a:srgbClr val="C00000"/>
              </a:solidFill>
            </a:endParaRPr>
          </a:p>
        </p:txBody>
      </p:sp>
      <p:pic>
        <p:nvPicPr>
          <p:cNvPr id="15" name="Picture 14">
            <a:extLst>
              <a:ext uri="{FF2B5EF4-FFF2-40B4-BE49-F238E27FC236}">
                <a16:creationId xmlns:a16="http://schemas.microsoft.com/office/drawing/2014/main" id="{E5B3225A-D20C-4DFA-A185-923DB063A3BB}"/>
              </a:ext>
            </a:extLst>
          </p:cNvPr>
          <p:cNvPicPr>
            <a:picLocks noChangeAspect="1"/>
          </p:cNvPicPr>
          <p:nvPr/>
        </p:nvPicPr>
        <p:blipFill>
          <a:blip r:embed="rId3"/>
          <a:stretch>
            <a:fillRect/>
          </a:stretch>
        </p:blipFill>
        <p:spPr>
          <a:xfrm>
            <a:off x="343988" y="3472820"/>
            <a:ext cx="2760530" cy="2515926"/>
          </a:xfrm>
          <a:prstGeom prst="rect">
            <a:avLst/>
          </a:prstGeom>
        </p:spPr>
      </p:pic>
      <p:pic>
        <p:nvPicPr>
          <p:cNvPr id="16" name="Picture 15">
            <a:extLst>
              <a:ext uri="{FF2B5EF4-FFF2-40B4-BE49-F238E27FC236}">
                <a16:creationId xmlns:a16="http://schemas.microsoft.com/office/drawing/2014/main" id="{FF0082A2-CA84-48E9-B70F-1EC98EF9FB3F}"/>
              </a:ext>
            </a:extLst>
          </p:cNvPr>
          <p:cNvPicPr>
            <a:picLocks noChangeAspect="1"/>
          </p:cNvPicPr>
          <p:nvPr/>
        </p:nvPicPr>
        <p:blipFill>
          <a:blip r:embed="rId4"/>
          <a:stretch>
            <a:fillRect/>
          </a:stretch>
        </p:blipFill>
        <p:spPr>
          <a:xfrm>
            <a:off x="4659219" y="3750008"/>
            <a:ext cx="2760530" cy="1286083"/>
          </a:xfrm>
          <a:prstGeom prst="rect">
            <a:avLst/>
          </a:prstGeom>
        </p:spPr>
      </p:pic>
      <p:sp>
        <p:nvSpPr>
          <p:cNvPr id="18" name="TextBox 17">
            <a:extLst>
              <a:ext uri="{FF2B5EF4-FFF2-40B4-BE49-F238E27FC236}">
                <a16:creationId xmlns:a16="http://schemas.microsoft.com/office/drawing/2014/main" id="{AFF109F6-8516-4BB0-BB7F-3D3114486C82}"/>
              </a:ext>
            </a:extLst>
          </p:cNvPr>
          <p:cNvSpPr txBox="1"/>
          <p:nvPr/>
        </p:nvSpPr>
        <p:spPr>
          <a:xfrm>
            <a:off x="4162707" y="2973542"/>
            <a:ext cx="4590483" cy="707886"/>
          </a:xfrm>
          <a:prstGeom prst="rect">
            <a:avLst/>
          </a:prstGeom>
          <a:noFill/>
        </p:spPr>
        <p:txBody>
          <a:bodyPr wrap="square">
            <a:spAutoFit/>
          </a:bodyPr>
          <a:lstStyle/>
          <a:p>
            <a:r>
              <a:rPr lang="en-001" sz="2000" b="1">
                <a:latin typeface="宋体" panose="02010600030101010101" pitchFamily="2" charset="-122"/>
                <a:ea typeface="宋体" panose="02010600030101010101" pitchFamily="2" charset="-122"/>
              </a:rPr>
              <a:t>通过实验与计算，调整R1和R2的比例，使温度变化时产生的电阻变化满足</a:t>
            </a:r>
          </a:p>
        </p:txBody>
      </p:sp>
      <p:sp>
        <p:nvSpPr>
          <p:cNvPr id="20" name="TextBox 19">
            <a:extLst>
              <a:ext uri="{FF2B5EF4-FFF2-40B4-BE49-F238E27FC236}">
                <a16:creationId xmlns:a16="http://schemas.microsoft.com/office/drawing/2014/main" id="{88989CA4-B10C-42BF-819A-6DEA7F37497D}"/>
              </a:ext>
            </a:extLst>
          </p:cNvPr>
          <p:cNvSpPr txBox="1"/>
          <p:nvPr/>
        </p:nvSpPr>
        <p:spPr>
          <a:xfrm>
            <a:off x="4112686" y="5139519"/>
            <a:ext cx="4250832" cy="707886"/>
          </a:xfrm>
          <a:prstGeom prst="rect">
            <a:avLst/>
          </a:prstGeom>
          <a:noFill/>
        </p:spPr>
        <p:txBody>
          <a:bodyPr wrap="square">
            <a:spAutoFit/>
          </a:bodyPr>
          <a:lstStyle/>
          <a:p>
            <a:r>
              <a:rPr lang="zh-CN" altLang="en-US" sz="2000" b="1">
                <a:latin typeface="宋体" panose="02010600030101010101" pitchFamily="2" charset="-122"/>
                <a:ea typeface="宋体" panose="02010600030101010101" pitchFamily="2" charset="-122"/>
              </a:rPr>
              <a:t>通过</a:t>
            </a:r>
            <a:r>
              <a:rPr lang="zh-CN" altLang="en-US" sz="2000" b="1">
                <a:solidFill>
                  <a:srgbClr val="C00000"/>
                </a:solidFill>
                <a:latin typeface="宋体" panose="02010600030101010101" pitchFamily="2" charset="-122"/>
                <a:ea typeface="宋体" panose="02010600030101010101" pitchFamily="2" charset="-122"/>
              </a:rPr>
              <a:t>调节两种敏感栅的长度</a:t>
            </a:r>
            <a:r>
              <a:rPr lang="zh-CN" altLang="en-US" sz="2000" b="1">
                <a:latin typeface="宋体" panose="02010600030101010101" pitchFamily="2" charset="-122"/>
                <a:ea typeface="宋体" panose="02010600030101010101" pitchFamily="2" charset="-122"/>
              </a:rPr>
              <a:t>来控制应变片的温度自补偿</a:t>
            </a:r>
            <a:endParaRPr lang="en-001" sz="2000" b="1">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761008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4">
            <a:extLst>
              <a:ext uri="{FF2B5EF4-FFF2-40B4-BE49-F238E27FC236}">
                <a16:creationId xmlns:a16="http://schemas.microsoft.com/office/drawing/2014/main" id="{142EBDCA-DCD7-4D85-913B-5203FDA567F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1" name="Rectangle 5"/>
          <p:cNvSpPr>
            <a:spLocks noChangeArrowheads="1"/>
          </p:cNvSpPr>
          <p:nvPr/>
        </p:nvSpPr>
        <p:spPr bwMode="auto">
          <a:xfrm>
            <a:off x="1458782" y="1079305"/>
            <a:ext cx="4250832" cy="11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一、自补偿法</a:t>
            </a:r>
          </a:p>
          <a:p>
            <a:pPr eaLnBrk="1" hangingPunct="1">
              <a:lnSpc>
                <a:spcPct val="160000"/>
              </a:lnSpc>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2</a:t>
            </a:r>
            <a:r>
              <a:rPr lang="zh-CN" altLang="en-US" sz="2400" b="1">
                <a:latin typeface="宋体" panose="02010600030101010101" pitchFamily="2" charset="-122"/>
                <a:ea typeface="宋体" panose="02010600030101010101" pitchFamily="2" charset="-122"/>
              </a:rPr>
              <a:t>．组合式自补偿法</a:t>
            </a:r>
            <a:endParaRPr lang="zh-CN" altLang="en-US" sz="2400" b="1" dirty="0">
              <a:latin typeface="宋体" panose="02010600030101010101" pitchFamily="2" charset="-122"/>
              <a:ea typeface="宋体" panose="02010600030101010101" pitchFamily="2" charset="-122"/>
            </a:endParaRPr>
          </a:p>
        </p:txBody>
      </p:sp>
      <p:sp>
        <p:nvSpPr>
          <p:cNvPr id="10" name="Text Box 9">
            <a:extLst>
              <a:ext uri="{FF2B5EF4-FFF2-40B4-BE49-F238E27FC236}">
                <a16:creationId xmlns:a16="http://schemas.microsoft.com/office/drawing/2014/main" id="{843FDF26-163F-44A1-91EA-E8F62AAFA954}"/>
              </a:ext>
            </a:extLst>
          </p:cNvPr>
          <p:cNvSpPr txBox="1">
            <a:spLocks noChangeArrowheads="1"/>
          </p:cNvSpPr>
          <p:nvPr/>
        </p:nvSpPr>
        <p:spPr bwMode="auto">
          <a:xfrm>
            <a:off x="4951113" y="4271936"/>
            <a:ext cx="3652560" cy="780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1800" b="1" dirty="0">
                <a:solidFill>
                  <a:srgbClr val="000099"/>
                </a:solidFill>
              </a:rPr>
              <a:t>图</a:t>
            </a:r>
            <a:r>
              <a:rPr lang="en-US" altLang="zh-CN" sz="1800" b="1" dirty="0">
                <a:solidFill>
                  <a:srgbClr val="000099"/>
                </a:solidFill>
              </a:rPr>
              <a:t>2-26  </a:t>
            </a:r>
            <a:r>
              <a:rPr lang="zh-CN" altLang="en-US" sz="1800" b="1" dirty="0">
                <a:solidFill>
                  <a:srgbClr val="000099"/>
                </a:solidFill>
              </a:rPr>
              <a:t>组合式自动补偿法之</a:t>
            </a:r>
            <a:r>
              <a:rPr lang="zh-CN" altLang="en-US" sz="1800" b="1">
                <a:solidFill>
                  <a:srgbClr val="000099"/>
                </a:solidFill>
              </a:rPr>
              <a:t>二的</a:t>
            </a:r>
            <a:endParaRPr lang="en-US" altLang="zh-CN" sz="1800" b="1">
              <a:solidFill>
                <a:srgbClr val="000099"/>
              </a:solidFill>
            </a:endParaRPr>
          </a:p>
          <a:p>
            <a:pPr eaLnBrk="1" hangingPunct="1">
              <a:lnSpc>
                <a:spcPct val="120000"/>
              </a:lnSpc>
              <a:spcBef>
                <a:spcPct val="20000"/>
              </a:spcBef>
            </a:pPr>
            <a:r>
              <a:rPr lang="en-US" altLang="zh-CN" sz="1800" b="1">
                <a:solidFill>
                  <a:srgbClr val="000099"/>
                </a:solidFill>
              </a:rPr>
              <a:t>              </a:t>
            </a:r>
            <a:r>
              <a:rPr lang="zh-CN" altLang="en-US" sz="1800" b="1">
                <a:solidFill>
                  <a:srgbClr val="000099"/>
                </a:solidFill>
              </a:rPr>
              <a:t>结</a:t>
            </a:r>
            <a:r>
              <a:rPr lang="zh-CN" altLang="en-US" sz="1800" b="1" dirty="0">
                <a:solidFill>
                  <a:srgbClr val="000099"/>
                </a:solidFill>
              </a:rPr>
              <a:t>构及电桥连接方式</a:t>
            </a:r>
          </a:p>
        </p:txBody>
      </p:sp>
      <p:pic>
        <p:nvPicPr>
          <p:cNvPr id="11" name="图片 1">
            <a:extLst>
              <a:ext uri="{FF2B5EF4-FFF2-40B4-BE49-F238E27FC236}">
                <a16:creationId xmlns:a16="http://schemas.microsoft.com/office/drawing/2014/main" id="{C170A72D-510C-4065-A676-F6067D99049D}"/>
              </a:ext>
            </a:extLst>
          </p:cNvPr>
          <p:cNvPicPr>
            <a:picLocks noChangeAspect="1"/>
          </p:cNvPicPr>
          <p:nvPr/>
        </p:nvPicPr>
        <p:blipFill>
          <a:blip r:embed="rId3"/>
          <a:stretch>
            <a:fillRect/>
          </a:stretch>
        </p:blipFill>
        <p:spPr>
          <a:xfrm>
            <a:off x="4951113" y="2241547"/>
            <a:ext cx="3144632" cy="1963458"/>
          </a:xfrm>
          <a:prstGeom prst="rect">
            <a:avLst/>
          </a:prstGeom>
        </p:spPr>
      </p:pic>
      <p:sp>
        <p:nvSpPr>
          <p:cNvPr id="2" name="Slide Number Placeholder 1">
            <a:extLst>
              <a:ext uri="{FF2B5EF4-FFF2-40B4-BE49-F238E27FC236}">
                <a16:creationId xmlns:a16="http://schemas.microsoft.com/office/drawing/2014/main" id="{924529E0-1CB4-4ADD-B88F-F520C73BD5C5}"/>
              </a:ext>
            </a:extLst>
          </p:cNvPr>
          <p:cNvSpPr>
            <a:spLocks noGrp="1"/>
          </p:cNvSpPr>
          <p:nvPr>
            <p:ph type="sldNum" sz="quarter" idx="12"/>
          </p:nvPr>
        </p:nvSpPr>
        <p:spPr/>
        <p:txBody>
          <a:bodyPr/>
          <a:lstStyle/>
          <a:p>
            <a:fld id="{B53602B4-F12B-41CD-B648-531F86B2CC91}" type="slidenum">
              <a:rPr lang="zh-CN" altLang="en-US" smtClean="0"/>
              <a:t>53</a:t>
            </a:fld>
            <a:endParaRPr lang="zh-CN" altLang="en-US"/>
          </a:p>
        </p:txBody>
      </p:sp>
      <p:pic>
        <p:nvPicPr>
          <p:cNvPr id="3" name="Picture 2">
            <a:extLst>
              <a:ext uri="{FF2B5EF4-FFF2-40B4-BE49-F238E27FC236}">
                <a16:creationId xmlns:a16="http://schemas.microsoft.com/office/drawing/2014/main" id="{BD957C1D-84D8-4ECC-AD77-453D6469EE62}"/>
              </a:ext>
            </a:extLst>
          </p:cNvPr>
          <p:cNvPicPr>
            <a:picLocks noChangeAspect="1"/>
          </p:cNvPicPr>
          <p:nvPr/>
        </p:nvPicPr>
        <p:blipFill>
          <a:blip r:embed="rId4"/>
          <a:stretch>
            <a:fillRect/>
          </a:stretch>
        </p:blipFill>
        <p:spPr>
          <a:xfrm>
            <a:off x="565312" y="5445131"/>
            <a:ext cx="4232144" cy="472338"/>
          </a:xfrm>
          <a:prstGeom prst="rect">
            <a:avLst/>
          </a:prstGeom>
        </p:spPr>
      </p:pic>
      <p:pic>
        <p:nvPicPr>
          <p:cNvPr id="4" name="Picture 3">
            <a:extLst>
              <a:ext uri="{FF2B5EF4-FFF2-40B4-BE49-F238E27FC236}">
                <a16:creationId xmlns:a16="http://schemas.microsoft.com/office/drawing/2014/main" id="{D525D190-5BBB-443E-919B-315CAC315D39}"/>
              </a:ext>
            </a:extLst>
          </p:cNvPr>
          <p:cNvPicPr>
            <a:picLocks noChangeAspect="1"/>
          </p:cNvPicPr>
          <p:nvPr/>
        </p:nvPicPr>
        <p:blipFill>
          <a:blip r:embed="rId5"/>
          <a:stretch>
            <a:fillRect/>
          </a:stretch>
        </p:blipFill>
        <p:spPr>
          <a:xfrm>
            <a:off x="5416872" y="5240605"/>
            <a:ext cx="2367210" cy="727730"/>
          </a:xfrm>
          <a:prstGeom prst="rect">
            <a:avLst/>
          </a:prstGeom>
        </p:spPr>
      </p:pic>
      <p:sp>
        <p:nvSpPr>
          <p:cNvPr id="13" name="TextBox 12">
            <a:extLst>
              <a:ext uri="{FF2B5EF4-FFF2-40B4-BE49-F238E27FC236}">
                <a16:creationId xmlns:a16="http://schemas.microsoft.com/office/drawing/2014/main" id="{06802998-9258-4D8A-BCA5-0EA178D3FF50}"/>
              </a:ext>
            </a:extLst>
          </p:cNvPr>
          <p:cNvSpPr txBox="1"/>
          <p:nvPr/>
        </p:nvSpPr>
        <p:spPr>
          <a:xfrm>
            <a:off x="402738" y="2257705"/>
            <a:ext cx="4068000" cy="3093154"/>
          </a:xfrm>
          <a:prstGeom prst="rect">
            <a:avLst/>
          </a:prstGeom>
          <a:noFill/>
        </p:spPr>
        <p:txBody>
          <a:bodyPr wrap="square">
            <a:spAutoFit/>
          </a:bodyPr>
          <a:lstStyle/>
          <a:p>
            <a:pPr marL="285750" indent="-285750">
              <a:spcAft>
                <a:spcPts val="600"/>
              </a:spcAft>
              <a:buFont typeface="Courier New" panose="02070309020205020404" pitchFamily="49" charset="0"/>
              <a:buChar char="o"/>
            </a:pPr>
            <a:r>
              <a:rPr lang="en-001" b="1">
                <a:latin typeface="宋体" panose="02010600030101010101" pitchFamily="2" charset="-122"/>
                <a:ea typeface="宋体" panose="02010600030101010101" pitchFamily="2" charset="-122"/>
              </a:rPr>
              <a:t>两种串接的电阻丝具有</a:t>
            </a:r>
            <a:r>
              <a:rPr lang="en-001" b="1">
                <a:solidFill>
                  <a:srgbClr val="C00000"/>
                </a:solidFill>
                <a:latin typeface="宋体" panose="02010600030101010101" pitchFamily="2" charset="-122"/>
                <a:ea typeface="宋体" panose="02010600030101010101" pitchFamily="2" charset="-122"/>
              </a:rPr>
              <a:t>相同符号的温度系数</a:t>
            </a:r>
            <a:r>
              <a:rPr lang="en-001" b="1">
                <a:latin typeface="宋体" panose="02010600030101010101" pitchFamily="2" charset="-122"/>
                <a:ea typeface="宋体" panose="02010600030101010101" pitchFamily="2" charset="-122"/>
              </a:rPr>
              <a:t>，两者都为正或都为负。</a:t>
            </a:r>
          </a:p>
          <a:p>
            <a:pPr marL="285750" indent="-285750">
              <a:spcAft>
                <a:spcPts val="600"/>
              </a:spcAft>
              <a:buFont typeface="Courier New" panose="02070309020205020404" pitchFamily="49" charset="0"/>
              <a:buChar char="o"/>
            </a:pPr>
            <a:r>
              <a:rPr lang="en-001" b="1">
                <a:latin typeface="宋体" panose="02010600030101010101" pitchFamily="2" charset="-122"/>
                <a:ea typeface="宋体" panose="02010600030101010101" pitchFamily="2" charset="-122"/>
              </a:rPr>
              <a:t>在电阻丝R1和R2串接处接一引线2，</a:t>
            </a:r>
            <a:r>
              <a:rPr lang="en-001" b="1">
                <a:solidFill>
                  <a:srgbClr val="C00000"/>
                </a:solidFill>
                <a:latin typeface="宋体" panose="02010600030101010101" pitchFamily="2" charset="-122"/>
                <a:ea typeface="宋体" panose="02010600030101010101" pitchFamily="2" charset="-122"/>
              </a:rPr>
              <a:t>R2为补偿电阻，具有高的温度系数及低的应变灵敏系数</a:t>
            </a:r>
            <a:r>
              <a:rPr lang="en-001" b="1">
                <a:latin typeface="宋体" panose="02010600030101010101" pitchFamily="2" charset="-122"/>
                <a:ea typeface="宋体" panose="02010600030101010101" pitchFamily="2" charset="-122"/>
              </a:rPr>
              <a:t>。</a:t>
            </a:r>
          </a:p>
          <a:p>
            <a:pPr marL="285750" indent="-285750">
              <a:spcAft>
                <a:spcPts val="600"/>
              </a:spcAft>
              <a:buFont typeface="Courier New" panose="02070309020205020404" pitchFamily="49" charset="0"/>
              <a:buChar char="o"/>
            </a:pPr>
            <a:r>
              <a:rPr lang="en-001" b="1">
                <a:latin typeface="宋体" panose="02010600030101010101" pitchFamily="2" charset="-122"/>
                <a:ea typeface="宋体" panose="02010600030101010101" pitchFamily="2" charset="-122"/>
              </a:rPr>
              <a:t>R1作为电桥的一臂，R2与一个</a:t>
            </a:r>
            <a:r>
              <a:rPr lang="en-001" b="1">
                <a:solidFill>
                  <a:srgbClr val="C00000"/>
                </a:solidFill>
                <a:latin typeface="宋体" panose="02010600030101010101" pitchFamily="2" charset="-122"/>
                <a:ea typeface="宋体" panose="02010600030101010101" pitchFamily="2" charset="-122"/>
              </a:rPr>
              <a:t>温度系数很小的附加电阻RB</a:t>
            </a:r>
            <a:r>
              <a:rPr lang="en-001" b="1">
                <a:latin typeface="宋体" panose="02010600030101010101" pitchFamily="2" charset="-122"/>
                <a:ea typeface="宋体" panose="02010600030101010101" pitchFamily="2" charset="-122"/>
              </a:rPr>
              <a:t>共同作为电桥的一臂，且作为R1的相邻臂。</a:t>
            </a:r>
          </a:p>
          <a:p>
            <a:pPr marL="285750" indent="-285750">
              <a:spcAft>
                <a:spcPts val="600"/>
              </a:spcAft>
              <a:buFont typeface="Courier New" panose="02070309020205020404" pitchFamily="49" charset="0"/>
              <a:buChar char="o"/>
            </a:pPr>
            <a:r>
              <a:rPr lang="en-001" b="1">
                <a:latin typeface="宋体" panose="02010600030101010101" pitchFamily="2" charset="-122"/>
                <a:ea typeface="宋体" panose="02010600030101010101" pitchFamily="2" charset="-122"/>
              </a:rPr>
              <a:t>调节R1和R2的长度比和外接电阻RB之值，使之满足条件</a:t>
            </a:r>
          </a:p>
        </p:txBody>
      </p:sp>
      <p:sp>
        <p:nvSpPr>
          <p:cNvPr id="6" name="Arrow: Right 5">
            <a:extLst>
              <a:ext uri="{FF2B5EF4-FFF2-40B4-BE49-F238E27FC236}">
                <a16:creationId xmlns:a16="http://schemas.microsoft.com/office/drawing/2014/main" id="{9C2F9A4D-AD45-403C-B621-D0FCDE4EBD84}"/>
              </a:ext>
            </a:extLst>
          </p:cNvPr>
          <p:cNvSpPr/>
          <p:nvPr/>
        </p:nvSpPr>
        <p:spPr>
          <a:xfrm>
            <a:off x="4864017" y="5445131"/>
            <a:ext cx="486294" cy="3219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24420538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4">
            <a:extLst>
              <a:ext uri="{FF2B5EF4-FFF2-40B4-BE49-F238E27FC236}">
                <a16:creationId xmlns:a16="http://schemas.microsoft.com/office/drawing/2014/main" id="{12870596-2610-40EB-B08A-FEE82C46C0B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1" name="Rectangle 5"/>
          <p:cNvSpPr>
            <a:spLocks noChangeArrowheads="1"/>
          </p:cNvSpPr>
          <p:nvPr/>
        </p:nvSpPr>
        <p:spPr bwMode="auto">
          <a:xfrm>
            <a:off x="1458782" y="1127015"/>
            <a:ext cx="4250832" cy="11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一、自补偿法</a:t>
            </a:r>
          </a:p>
          <a:p>
            <a:pPr eaLnBrk="1" hangingPunct="1">
              <a:lnSpc>
                <a:spcPct val="160000"/>
              </a:lnSpc>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2</a:t>
            </a:r>
            <a:r>
              <a:rPr lang="zh-CN" altLang="en-US" sz="2400" b="1">
                <a:latin typeface="宋体" panose="02010600030101010101" pitchFamily="2" charset="-122"/>
                <a:ea typeface="宋体" panose="02010600030101010101" pitchFamily="2" charset="-122"/>
              </a:rPr>
              <a:t>．组合式自补偿法</a:t>
            </a:r>
            <a:endParaRPr lang="zh-CN" altLang="en-US" sz="2400" b="1" dirty="0">
              <a:latin typeface="宋体" panose="02010600030101010101" pitchFamily="2" charset="-122"/>
              <a:ea typeface="宋体" panose="02010600030101010101" pitchFamily="2" charset="-122"/>
            </a:endParaRPr>
          </a:p>
        </p:txBody>
      </p:sp>
      <p:sp>
        <p:nvSpPr>
          <p:cNvPr id="10" name="Text Box 9">
            <a:extLst>
              <a:ext uri="{FF2B5EF4-FFF2-40B4-BE49-F238E27FC236}">
                <a16:creationId xmlns:a16="http://schemas.microsoft.com/office/drawing/2014/main" id="{843FDF26-163F-44A1-91EA-E8F62AAFA954}"/>
              </a:ext>
            </a:extLst>
          </p:cNvPr>
          <p:cNvSpPr txBox="1">
            <a:spLocks noChangeArrowheads="1"/>
          </p:cNvSpPr>
          <p:nvPr/>
        </p:nvSpPr>
        <p:spPr bwMode="auto">
          <a:xfrm>
            <a:off x="4951113" y="4319646"/>
            <a:ext cx="3652560" cy="780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sz="1800" b="1" dirty="0">
                <a:solidFill>
                  <a:srgbClr val="000099"/>
                </a:solidFill>
              </a:rPr>
              <a:t>图</a:t>
            </a:r>
            <a:r>
              <a:rPr lang="en-US" altLang="zh-CN" sz="1800" b="1" dirty="0">
                <a:solidFill>
                  <a:srgbClr val="000099"/>
                </a:solidFill>
              </a:rPr>
              <a:t>2-26  </a:t>
            </a:r>
            <a:r>
              <a:rPr lang="zh-CN" altLang="en-US" sz="1800" b="1" dirty="0">
                <a:solidFill>
                  <a:srgbClr val="000099"/>
                </a:solidFill>
              </a:rPr>
              <a:t>组合式自动补偿法之</a:t>
            </a:r>
            <a:r>
              <a:rPr lang="zh-CN" altLang="en-US" sz="1800" b="1">
                <a:solidFill>
                  <a:srgbClr val="000099"/>
                </a:solidFill>
              </a:rPr>
              <a:t>二的</a:t>
            </a:r>
            <a:endParaRPr lang="en-US" altLang="zh-CN" sz="1800" b="1">
              <a:solidFill>
                <a:srgbClr val="000099"/>
              </a:solidFill>
            </a:endParaRPr>
          </a:p>
          <a:p>
            <a:pPr eaLnBrk="1" hangingPunct="1">
              <a:lnSpc>
                <a:spcPct val="120000"/>
              </a:lnSpc>
              <a:spcBef>
                <a:spcPct val="20000"/>
              </a:spcBef>
            </a:pPr>
            <a:r>
              <a:rPr lang="en-US" altLang="zh-CN" sz="1800" b="1">
                <a:solidFill>
                  <a:srgbClr val="000099"/>
                </a:solidFill>
              </a:rPr>
              <a:t>              </a:t>
            </a:r>
            <a:r>
              <a:rPr lang="zh-CN" altLang="en-US" sz="1800" b="1">
                <a:solidFill>
                  <a:srgbClr val="000099"/>
                </a:solidFill>
              </a:rPr>
              <a:t>结</a:t>
            </a:r>
            <a:r>
              <a:rPr lang="zh-CN" altLang="en-US" sz="1800" b="1" dirty="0">
                <a:solidFill>
                  <a:srgbClr val="000099"/>
                </a:solidFill>
              </a:rPr>
              <a:t>构及电桥连接方式</a:t>
            </a:r>
          </a:p>
        </p:txBody>
      </p:sp>
      <p:pic>
        <p:nvPicPr>
          <p:cNvPr id="11" name="图片 1">
            <a:extLst>
              <a:ext uri="{FF2B5EF4-FFF2-40B4-BE49-F238E27FC236}">
                <a16:creationId xmlns:a16="http://schemas.microsoft.com/office/drawing/2014/main" id="{C170A72D-510C-4065-A676-F6067D99049D}"/>
              </a:ext>
            </a:extLst>
          </p:cNvPr>
          <p:cNvPicPr>
            <a:picLocks noChangeAspect="1"/>
          </p:cNvPicPr>
          <p:nvPr/>
        </p:nvPicPr>
        <p:blipFill>
          <a:blip r:embed="rId3"/>
          <a:stretch>
            <a:fillRect/>
          </a:stretch>
        </p:blipFill>
        <p:spPr>
          <a:xfrm>
            <a:off x="4951113" y="2289257"/>
            <a:ext cx="3144632" cy="1963458"/>
          </a:xfrm>
          <a:prstGeom prst="rect">
            <a:avLst/>
          </a:prstGeom>
        </p:spPr>
      </p:pic>
      <p:sp>
        <p:nvSpPr>
          <p:cNvPr id="2" name="Slide Number Placeholder 1">
            <a:extLst>
              <a:ext uri="{FF2B5EF4-FFF2-40B4-BE49-F238E27FC236}">
                <a16:creationId xmlns:a16="http://schemas.microsoft.com/office/drawing/2014/main" id="{924529E0-1CB4-4ADD-B88F-F520C73BD5C5}"/>
              </a:ext>
            </a:extLst>
          </p:cNvPr>
          <p:cNvSpPr>
            <a:spLocks noGrp="1"/>
          </p:cNvSpPr>
          <p:nvPr>
            <p:ph type="sldNum" sz="quarter" idx="12"/>
          </p:nvPr>
        </p:nvSpPr>
        <p:spPr/>
        <p:txBody>
          <a:bodyPr/>
          <a:lstStyle/>
          <a:p>
            <a:fld id="{B53602B4-F12B-41CD-B648-531F86B2CC91}" type="slidenum">
              <a:rPr lang="zh-CN" altLang="en-US" smtClean="0"/>
              <a:t>54</a:t>
            </a:fld>
            <a:endParaRPr lang="zh-CN" altLang="en-US"/>
          </a:p>
        </p:txBody>
      </p:sp>
      <p:pic>
        <p:nvPicPr>
          <p:cNvPr id="4" name="Picture 3">
            <a:extLst>
              <a:ext uri="{FF2B5EF4-FFF2-40B4-BE49-F238E27FC236}">
                <a16:creationId xmlns:a16="http://schemas.microsoft.com/office/drawing/2014/main" id="{D525D190-5BBB-443E-919B-315CAC315D39}"/>
              </a:ext>
            </a:extLst>
          </p:cNvPr>
          <p:cNvPicPr>
            <a:picLocks noChangeAspect="1"/>
          </p:cNvPicPr>
          <p:nvPr/>
        </p:nvPicPr>
        <p:blipFill>
          <a:blip r:embed="rId4"/>
          <a:stretch>
            <a:fillRect/>
          </a:stretch>
        </p:blipFill>
        <p:spPr>
          <a:xfrm>
            <a:off x="5416872" y="5288315"/>
            <a:ext cx="2367210" cy="727730"/>
          </a:xfrm>
          <a:prstGeom prst="rect">
            <a:avLst/>
          </a:prstGeom>
        </p:spPr>
      </p:pic>
      <p:sp>
        <p:nvSpPr>
          <p:cNvPr id="13" name="TextBox 12">
            <a:extLst>
              <a:ext uri="{FF2B5EF4-FFF2-40B4-BE49-F238E27FC236}">
                <a16:creationId xmlns:a16="http://schemas.microsoft.com/office/drawing/2014/main" id="{06802998-9258-4D8A-BCA5-0EA178D3FF50}"/>
              </a:ext>
            </a:extLst>
          </p:cNvPr>
          <p:cNvSpPr txBox="1"/>
          <p:nvPr/>
        </p:nvSpPr>
        <p:spPr>
          <a:xfrm>
            <a:off x="298828" y="2625455"/>
            <a:ext cx="4386776" cy="2539157"/>
          </a:xfrm>
          <a:prstGeom prst="rect">
            <a:avLst/>
          </a:prstGeom>
          <a:noFill/>
        </p:spPr>
        <p:txBody>
          <a:bodyPr wrap="square">
            <a:spAutoFit/>
          </a:bodyPr>
          <a:lstStyle/>
          <a:p>
            <a:pPr marL="285750" indent="-285750">
              <a:spcAft>
                <a:spcPts val="600"/>
              </a:spcAft>
              <a:buFont typeface="Courier New" panose="02070309020205020404" pitchFamily="49" charset="0"/>
              <a:buChar char="o"/>
            </a:pPr>
            <a:r>
              <a:rPr lang="zh-CN" altLang="en-US" b="1" dirty="0">
                <a:latin typeface="宋体" panose="02010600030101010101" pitchFamily="2" charset="-122"/>
                <a:ea typeface="宋体" panose="02010600030101010101" pitchFamily="2" charset="-122"/>
              </a:rPr>
              <a:t>从电桥原理知道，由于温度变化引起的电桥相邻两臂的电阻变化相等或很接近，相应的电桥输出电压即为零或极小。</a:t>
            </a:r>
          </a:p>
          <a:p>
            <a:pPr marL="285750" indent="-285750">
              <a:spcAft>
                <a:spcPts val="600"/>
              </a:spcAft>
              <a:buFont typeface="Courier New" panose="02070309020205020404" pitchFamily="49" charset="0"/>
              <a:buChar char="o"/>
            </a:pPr>
            <a:r>
              <a:rPr lang="zh-CN" altLang="en-US" b="1" dirty="0">
                <a:latin typeface="宋体" panose="02010600030101010101" pitchFamily="2" charset="-122"/>
                <a:ea typeface="宋体" panose="02010600030101010101" pitchFamily="2" charset="-122"/>
              </a:rPr>
              <a:t>这种</a:t>
            </a:r>
            <a:r>
              <a:rPr lang="zh-CN" altLang="en-US" b="1" dirty="0">
                <a:solidFill>
                  <a:srgbClr val="3333CC"/>
                </a:solidFill>
                <a:latin typeface="宋体" panose="02010600030101010101" pitchFamily="2" charset="-122"/>
                <a:ea typeface="宋体" panose="02010600030101010101" pitchFamily="2" charset="-122"/>
              </a:rPr>
              <a:t>补偿可达到高精度</a:t>
            </a:r>
            <a:r>
              <a:rPr lang="zh-CN" altLang="en-US" b="1" dirty="0">
                <a:latin typeface="宋体" panose="02010600030101010101" pitchFamily="2" charset="-122"/>
                <a:ea typeface="宋体" panose="02010600030101010101" pitchFamily="2" charset="-122"/>
              </a:rPr>
              <a:t>。</a:t>
            </a:r>
          </a:p>
          <a:p>
            <a:pPr marL="285750" indent="-285750">
              <a:spcAft>
                <a:spcPts val="600"/>
              </a:spcAft>
              <a:buFont typeface="Courier New" panose="02070309020205020404" pitchFamily="49" charset="0"/>
              <a:buChar char="o"/>
            </a:pPr>
            <a:r>
              <a:rPr lang="zh-CN" altLang="en-US" b="1" dirty="0">
                <a:latin typeface="宋体" panose="02010600030101010101" pitchFamily="2" charset="-122"/>
                <a:ea typeface="宋体" panose="02010600030101010101" pitchFamily="2" charset="-122"/>
              </a:rPr>
              <a:t>缺点是</a:t>
            </a:r>
            <a:r>
              <a:rPr lang="zh-CN" altLang="en-US" b="1" dirty="0">
                <a:solidFill>
                  <a:srgbClr val="C00000"/>
                </a:solidFill>
                <a:latin typeface="宋体" panose="02010600030101010101" pitchFamily="2" charset="-122"/>
                <a:ea typeface="宋体" panose="02010600030101010101" pitchFamily="2" charset="-122"/>
              </a:rPr>
              <a:t>只适合于特定试件材料</a:t>
            </a:r>
            <a:r>
              <a:rPr lang="zh-CN" altLang="en-US" b="1" dirty="0">
                <a:latin typeface="宋体" panose="02010600030101010101" pitchFamily="2" charset="-122"/>
                <a:ea typeface="宋体" panose="02010600030101010101" pitchFamily="2" charset="-122"/>
              </a:rPr>
              <a:t>。</a:t>
            </a:r>
          </a:p>
          <a:p>
            <a:pPr marL="285750" indent="-285750">
              <a:spcAft>
                <a:spcPts val="600"/>
              </a:spcAft>
              <a:buFont typeface="Courier New" panose="02070309020205020404" pitchFamily="49" charset="0"/>
              <a:buChar char="o"/>
            </a:pPr>
            <a:r>
              <a:rPr lang="zh-CN" altLang="en-US" b="1" dirty="0">
                <a:latin typeface="宋体" panose="02010600030101010101" pitchFamily="2" charset="-122"/>
                <a:ea typeface="宋体" panose="02010600030101010101" pitchFamily="2" charset="-122"/>
              </a:rPr>
              <a:t>此外</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补偿电阻</a:t>
            </a:r>
            <a:r>
              <a:rPr lang="en-US" altLang="zh-CN" b="1" dirty="0">
                <a:latin typeface="宋体" panose="02010600030101010101" pitchFamily="2" charset="-122"/>
                <a:ea typeface="宋体" panose="02010600030101010101" pitchFamily="2" charset="-122"/>
              </a:rPr>
              <a:t>R2</a:t>
            </a:r>
            <a:r>
              <a:rPr lang="zh-CN" altLang="en-US" b="1" dirty="0">
                <a:latin typeface="宋体" panose="02010600030101010101" pitchFamily="2" charset="-122"/>
                <a:ea typeface="宋体" panose="02010600030101010101" pitchFamily="2" charset="-122"/>
              </a:rPr>
              <a:t>虽比</a:t>
            </a:r>
            <a:r>
              <a:rPr lang="en-US" altLang="zh-CN" b="1">
                <a:latin typeface="宋体" panose="02010600030101010101" pitchFamily="2" charset="-122"/>
                <a:ea typeface="宋体" panose="02010600030101010101" pitchFamily="2" charset="-122"/>
              </a:rPr>
              <a:t>R1</a:t>
            </a:r>
            <a:r>
              <a:rPr lang="zh-CN" altLang="en-US" b="1">
                <a:latin typeface="宋体" panose="02010600030101010101" pitchFamily="2" charset="-122"/>
                <a:ea typeface="宋体" panose="02010600030101010101" pitchFamily="2" charset="-122"/>
              </a:rPr>
              <a:t>小</a:t>
            </a:r>
            <a:r>
              <a:rPr lang="zh-CN" altLang="en-US" b="1" dirty="0">
                <a:latin typeface="宋体" panose="02010600030101010101" pitchFamily="2" charset="-122"/>
                <a:ea typeface="宋体" panose="02010600030101010101" pitchFamily="2" charset="-122"/>
              </a:rPr>
              <a:t>得多，但总要敏感应变，在桥路中与工作栅</a:t>
            </a:r>
            <a:r>
              <a:rPr lang="en-US" altLang="zh-CN" b="1" dirty="0">
                <a:latin typeface="宋体" panose="02010600030101010101" pitchFamily="2" charset="-122"/>
                <a:ea typeface="宋体" panose="02010600030101010101" pitchFamily="2" charset="-122"/>
              </a:rPr>
              <a:t>R1</a:t>
            </a:r>
            <a:r>
              <a:rPr lang="zh-CN" altLang="en-US" b="1" dirty="0">
                <a:latin typeface="宋体" panose="02010600030101010101" pitchFamily="2" charset="-122"/>
                <a:ea typeface="宋体" panose="02010600030101010101" pitchFamily="2" charset="-122"/>
              </a:rPr>
              <a:t>的敏感应变起抵消作用，从而使</a:t>
            </a:r>
            <a:r>
              <a:rPr lang="zh-CN" altLang="en-US" b="1" dirty="0">
                <a:solidFill>
                  <a:srgbClr val="C00000"/>
                </a:solidFill>
                <a:latin typeface="宋体" panose="02010600030101010101" pitchFamily="2" charset="-122"/>
                <a:ea typeface="宋体" panose="02010600030101010101" pitchFamily="2" charset="-122"/>
              </a:rPr>
              <a:t>灵敏度下降</a:t>
            </a:r>
            <a:r>
              <a:rPr lang="zh-CN" altLang="en-US" b="1" dirty="0">
                <a:latin typeface="宋体" panose="02010600030101010101" pitchFamily="2" charset="-122"/>
                <a:ea typeface="宋体" panose="02010600030101010101" pitchFamily="2" charset="-122"/>
              </a:rPr>
              <a:t>。</a:t>
            </a:r>
            <a:endParaRPr lang="en-001"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67772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4">
            <a:extLst>
              <a:ext uri="{FF2B5EF4-FFF2-40B4-BE49-F238E27FC236}">
                <a16:creationId xmlns:a16="http://schemas.microsoft.com/office/drawing/2014/main" id="{186AAD2F-F939-47A1-B365-5DD7A164437D}"/>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9" name="Rectangle 21">
            <a:extLst>
              <a:ext uri="{FF2B5EF4-FFF2-40B4-BE49-F238E27FC236}">
                <a16:creationId xmlns:a16="http://schemas.microsoft.com/office/drawing/2014/main" id="{0A1A2028-C7ED-4BDF-B54A-C0F6E20CAF66}"/>
              </a:ext>
            </a:extLst>
          </p:cNvPr>
          <p:cNvSpPr>
            <a:spLocks noChangeArrowheads="1"/>
          </p:cNvSpPr>
          <p:nvPr/>
        </p:nvSpPr>
        <p:spPr bwMode="auto">
          <a:xfrm>
            <a:off x="1499067" y="1124784"/>
            <a:ext cx="338165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二、线路补偿法   </a:t>
            </a:r>
          </a:p>
        </p:txBody>
      </p:sp>
      <p:sp>
        <p:nvSpPr>
          <p:cNvPr id="2" name="Slide Number Placeholder 1">
            <a:extLst>
              <a:ext uri="{FF2B5EF4-FFF2-40B4-BE49-F238E27FC236}">
                <a16:creationId xmlns:a16="http://schemas.microsoft.com/office/drawing/2014/main" id="{B4150DC1-C029-490B-BC81-8782ED7C1B1C}"/>
              </a:ext>
            </a:extLst>
          </p:cNvPr>
          <p:cNvSpPr>
            <a:spLocks noGrp="1"/>
          </p:cNvSpPr>
          <p:nvPr>
            <p:ph type="sldNum" sz="quarter" idx="12"/>
          </p:nvPr>
        </p:nvSpPr>
        <p:spPr/>
        <p:txBody>
          <a:bodyPr/>
          <a:lstStyle/>
          <a:p>
            <a:fld id="{B53602B4-F12B-41CD-B648-531F86B2CC91}" type="slidenum">
              <a:rPr lang="zh-CN" altLang="en-US" smtClean="0"/>
              <a:t>55</a:t>
            </a:fld>
            <a:endParaRPr lang="zh-CN" altLang="en-US"/>
          </a:p>
        </p:txBody>
      </p:sp>
      <p:sp>
        <p:nvSpPr>
          <p:cNvPr id="12" name="TextBox 11">
            <a:extLst>
              <a:ext uri="{FF2B5EF4-FFF2-40B4-BE49-F238E27FC236}">
                <a16:creationId xmlns:a16="http://schemas.microsoft.com/office/drawing/2014/main" id="{0C83CA9D-7A28-4312-BF5E-B380993E972F}"/>
              </a:ext>
            </a:extLst>
          </p:cNvPr>
          <p:cNvSpPr txBox="1"/>
          <p:nvPr/>
        </p:nvSpPr>
        <p:spPr>
          <a:xfrm>
            <a:off x="289528" y="2756137"/>
            <a:ext cx="5500287" cy="2862322"/>
          </a:xfrm>
          <a:prstGeom prst="rect">
            <a:avLst/>
          </a:prstGeom>
        </p:spPr>
        <p:txBody>
          <a:bodyPr wrap="square">
            <a:spAutoFit/>
          </a:bodyPr>
          <a:lstStyle/>
          <a:p>
            <a:pPr marL="342900" indent="-342900">
              <a:buFont typeface="Courier New" panose="02070309020205020404" pitchFamily="49" charset="0"/>
              <a:buChar char="o"/>
            </a:pPr>
            <a:r>
              <a:rPr lang="en-001" sz="2000" b="1">
                <a:latin typeface="宋体" panose="02010600030101010101" pitchFamily="2" charset="-122"/>
                <a:ea typeface="宋体" panose="02010600030101010101" pitchFamily="2" charset="-122"/>
              </a:rPr>
              <a:t>工作应变片R1安装在被测试件上</a:t>
            </a:r>
            <a:endParaRPr lang="en-US" sz="2000" b="1">
              <a:latin typeface="宋体" panose="02010600030101010101" pitchFamily="2" charset="-122"/>
              <a:ea typeface="宋体" panose="02010600030101010101" pitchFamily="2" charset="-122"/>
            </a:endParaRPr>
          </a:p>
          <a:p>
            <a:pPr marL="342900" indent="-342900">
              <a:buFont typeface="Courier New" panose="02070309020205020404" pitchFamily="49" charset="0"/>
              <a:buChar char="o"/>
            </a:pPr>
            <a:r>
              <a:rPr lang="en-001" sz="2000" b="1">
                <a:latin typeface="宋体" panose="02010600030101010101" pitchFamily="2" charset="-122"/>
                <a:ea typeface="宋体" panose="02010600030101010101" pitchFamily="2" charset="-122"/>
              </a:rPr>
              <a:t>另选一个特性与R1相同的补偿片RB，安装在材料与试件相同的某补偿块上，温度与试件相同，但不承受应变。</a:t>
            </a:r>
            <a:endParaRPr lang="en-US" sz="2000" b="1">
              <a:latin typeface="宋体" panose="02010600030101010101" pitchFamily="2" charset="-122"/>
              <a:ea typeface="宋体" panose="02010600030101010101" pitchFamily="2" charset="-122"/>
            </a:endParaRPr>
          </a:p>
          <a:p>
            <a:pPr marL="342900" indent="-342900">
              <a:buFont typeface="Courier New" panose="02070309020205020404" pitchFamily="49" charset="0"/>
              <a:buChar char="o"/>
            </a:pPr>
            <a:r>
              <a:rPr lang="en-001" sz="2000" b="1">
                <a:latin typeface="宋体" panose="02010600030101010101" pitchFamily="2" charset="-122"/>
                <a:ea typeface="宋体" panose="02010600030101010101" pitchFamily="2" charset="-122"/>
              </a:rPr>
              <a:t>R1和RB接入电桥相邻臂上，造成 △R1t 与 △RBt 相同</a:t>
            </a:r>
            <a:endParaRPr lang="en-US" sz="2000" b="1">
              <a:latin typeface="宋体" panose="02010600030101010101" pitchFamily="2" charset="-122"/>
              <a:ea typeface="宋体" panose="02010600030101010101" pitchFamily="2" charset="-122"/>
            </a:endParaRPr>
          </a:p>
          <a:p>
            <a:pPr marL="342900" indent="-342900">
              <a:buFont typeface="Courier New" panose="02070309020205020404" pitchFamily="49" charset="0"/>
              <a:buChar char="o"/>
            </a:pPr>
            <a:r>
              <a:rPr lang="en-001" sz="2000" b="1">
                <a:latin typeface="宋体" panose="02010600030101010101" pitchFamily="2" charset="-122"/>
                <a:ea typeface="宋体" panose="02010600030101010101" pitchFamily="2" charset="-122"/>
              </a:rPr>
              <a:t>根据电桥理论所知，其输出电压</a:t>
            </a:r>
            <a:r>
              <a:rPr lang="en-US" sz="2000" b="1">
                <a:latin typeface="宋体" panose="02010600030101010101" pitchFamily="2" charset="-122"/>
                <a:ea typeface="宋体" panose="02010600030101010101" pitchFamily="2" charset="-122"/>
              </a:rPr>
              <a:t> </a:t>
            </a:r>
            <a:r>
              <a:rPr lang="en-001" sz="2000" b="1">
                <a:latin typeface="宋体" panose="02010600030101010101" pitchFamily="2" charset="-122"/>
                <a:ea typeface="宋体" panose="02010600030101010101" pitchFamily="2" charset="-122"/>
              </a:rPr>
              <a:t>U。与温度变化无关。工作应变片感受应变时</a:t>
            </a:r>
            <a:r>
              <a:rPr lang="zh-CN" altLang="en-US" sz="2000" b="1">
                <a:latin typeface="宋体" panose="02010600030101010101" pitchFamily="2" charset="-122"/>
                <a:ea typeface="宋体" panose="02010600030101010101" pitchFamily="2" charset="-122"/>
              </a:rPr>
              <a:t>，</a:t>
            </a:r>
            <a:r>
              <a:rPr lang="en-001" sz="2000" b="1">
                <a:latin typeface="宋体" panose="02010600030101010101" pitchFamily="2" charset="-122"/>
                <a:ea typeface="宋体" panose="02010600030101010101" pitchFamily="2" charset="-122"/>
              </a:rPr>
              <a:t>电桥将产生相应输出电压。</a:t>
            </a:r>
          </a:p>
        </p:txBody>
      </p:sp>
      <p:sp>
        <p:nvSpPr>
          <p:cNvPr id="17" name="TextBox 16">
            <a:extLst>
              <a:ext uri="{FF2B5EF4-FFF2-40B4-BE49-F238E27FC236}">
                <a16:creationId xmlns:a16="http://schemas.microsoft.com/office/drawing/2014/main" id="{2CE0B623-6050-420E-B08D-C42434683E0B}"/>
              </a:ext>
            </a:extLst>
          </p:cNvPr>
          <p:cNvSpPr txBox="1"/>
          <p:nvPr/>
        </p:nvSpPr>
        <p:spPr>
          <a:xfrm>
            <a:off x="289528" y="1940649"/>
            <a:ext cx="4922059" cy="400110"/>
          </a:xfrm>
          <a:prstGeom prst="rect">
            <a:avLst/>
          </a:prstGeom>
          <a:noFill/>
        </p:spPr>
        <p:txBody>
          <a:bodyPr wrap="square">
            <a:spAutoFit/>
          </a:bodyPr>
          <a:lstStyle/>
          <a:p>
            <a:r>
              <a:rPr lang="en-001" sz="2000" b="1">
                <a:latin typeface="宋体" panose="02010600030101010101" pitchFamily="2" charset="-122"/>
                <a:ea typeface="宋体" panose="02010600030101010101" pitchFamily="2" charset="-122"/>
              </a:rPr>
              <a:t>最常用和最好的补偿方法是电桥补偿法。</a:t>
            </a:r>
          </a:p>
        </p:txBody>
      </p:sp>
      <p:sp>
        <p:nvSpPr>
          <p:cNvPr id="18" name="Text Box 9">
            <a:extLst>
              <a:ext uri="{FF2B5EF4-FFF2-40B4-BE49-F238E27FC236}">
                <a16:creationId xmlns:a16="http://schemas.microsoft.com/office/drawing/2014/main" id="{99C5B9AA-2790-4C49-BF7A-F5A51CDDE820}"/>
              </a:ext>
            </a:extLst>
          </p:cNvPr>
          <p:cNvSpPr txBox="1">
            <a:spLocks noChangeArrowheads="1"/>
          </p:cNvSpPr>
          <p:nvPr/>
        </p:nvSpPr>
        <p:spPr bwMode="auto">
          <a:xfrm>
            <a:off x="6137915" y="4438138"/>
            <a:ext cx="2823205"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2-27  </a:t>
            </a:r>
            <a:r>
              <a:rPr lang="zh-CN" altLang="en-US" b="1" dirty="0">
                <a:solidFill>
                  <a:srgbClr val="000099"/>
                </a:solidFill>
              </a:rPr>
              <a:t>电桥补偿法</a:t>
            </a:r>
          </a:p>
        </p:txBody>
      </p:sp>
      <p:pic>
        <p:nvPicPr>
          <p:cNvPr id="19" name="图片 1">
            <a:extLst>
              <a:ext uri="{FF2B5EF4-FFF2-40B4-BE49-F238E27FC236}">
                <a16:creationId xmlns:a16="http://schemas.microsoft.com/office/drawing/2014/main" id="{9BDB7369-669C-40C5-B4E3-CC75ACB9C67E}"/>
              </a:ext>
            </a:extLst>
          </p:cNvPr>
          <p:cNvPicPr>
            <a:picLocks noChangeAspect="1"/>
          </p:cNvPicPr>
          <p:nvPr/>
        </p:nvPicPr>
        <p:blipFill>
          <a:blip r:embed="rId3"/>
          <a:stretch>
            <a:fillRect/>
          </a:stretch>
        </p:blipFill>
        <p:spPr>
          <a:xfrm>
            <a:off x="6347906" y="1813165"/>
            <a:ext cx="2117568" cy="2423066"/>
          </a:xfrm>
          <a:prstGeom prst="rect">
            <a:avLst/>
          </a:prstGeom>
        </p:spPr>
      </p:pic>
    </p:spTree>
    <p:extLst>
      <p:ext uri="{BB962C8B-B14F-4D97-AF65-F5344CB8AC3E}">
        <p14:creationId xmlns:p14="http://schemas.microsoft.com/office/powerpoint/2010/main" val="24288006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4">
            <a:extLst>
              <a:ext uri="{FF2B5EF4-FFF2-40B4-BE49-F238E27FC236}">
                <a16:creationId xmlns:a16="http://schemas.microsoft.com/office/drawing/2014/main" id="{6BCBAA13-B49E-40D8-8264-4D3C7A853A8E}"/>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9" name="Rectangle 21">
            <a:extLst>
              <a:ext uri="{FF2B5EF4-FFF2-40B4-BE49-F238E27FC236}">
                <a16:creationId xmlns:a16="http://schemas.microsoft.com/office/drawing/2014/main" id="{0A1A2028-C7ED-4BDF-B54A-C0F6E20CAF66}"/>
              </a:ext>
            </a:extLst>
          </p:cNvPr>
          <p:cNvSpPr>
            <a:spLocks noChangeArrowheads="1"/>
          </p:cNvSpPr>
          <p:nvPr/>
        </p:nvSpPr>
        <p:spPr bwMode="auto">
          <a:xfrm>
            <a:off x="1499067" y="1339469"/>
            <a:ext cx="338165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二、线路补偿法   </a:t>
            </a:r>
          </a:p>
        </p:txBody>
      </p:sp>
      <p:sp>
        <p:nvSpPr>
          <p:cNvPr id="2" name="Slide Number Placeholder 1">
            <a:extLst>
              <a:ext uri="{FF2B5EF4-FFF2-40B4-BE49-F238E27FC236}">
                <a16:creationId xmlns:a16="http://schemas.microsoft.com/office/drawing/2014/main" id="{B4150DC1-C029-490B-BC81-8782ED7C1B1C}"/>
              </a:ext>
            </a:extLst>
          </p:cNvPr>
          <p:cNvSpPr>
            <a:spLocks noGrp="1"/>
          </p:cNvSpPr>
          <p:nvPr>
            <p:ph type="sldNum" sz="quarter" idx="12"/>
          </p:nvPr>
        </p:nvSpPr>
        <p:spPr/>
        <p:txBody>
          <a:bodyPr/>
          <a:lstStyle/>
          <a:p>
            <a:fld id="{B53602B4-F12B-41CD-B648-531F86B2CC91}" type="slidenum">
              <a:rPr lang="zh-CN" altLang="en-US" smtClean="0"/>
              <a:t>56</a:t>
            </a:fld>
            <a:endParaRPr lang="zh-CN" altLang="en-US"/>
          </a:p>
        </p:txBody>
      </p:sp>
      <p:sp>
        <p:nvSpPr>
          <p:cNvPr id="12" name="TextBox 11">
            <a:extLst>
              <a:ext uri="{FF2B5EF4-FFF2-40B4-BE49-F238E27FC236}">
                <a16:creationId xmlns:a16="http://schemas.microsoft.com/office/drawing/2014/main" id="{0C83CA9D-7A28-4312-BF5E-B380993E972F}"/>
              </a:ext>
            </a:extLst>
          </p:cNvPr>
          <p:cNvSpPr txBox="1"/>
          <p:nvPr/>
        </p:nvSpPr>
        <p:spPr>
          <a:xfrm>
            <a:off x="314466" y="2022733"/>
            <a:ext cx="5500287" cy="4436792"/>
          </a:xfrm>
          <a:prstGeom prst="rect">
            <a:avLst/>
          </a:prstGeom>
        </p:spPr>
        <p:txBody>
          <a:bodyPr wrap="square">
            <a:spAutoFit/>
          </a:bodyPr>
          <a:lstStyle/>
          <a:p>
            <a:pPr>
              <a:lnSpc>
                <a:spcPct val="130000"/>
              </a:lnSpc>
            </a:pPr>
            <a:r>
              <a:rPr lang="zh-CN" altLang="en-US" sz="2000" b="1">
                <a:latin typeface="宋体" panose="02010600030101010101" pitchFamily="2" charset="-122"/>
                <a:ea typeface="宋体" panose="02010600030101010101" pitchFamily="2" charset="-122"/>
              </a:rPr>
              <a:t>若要达到完全的补偿，需满足下列三个条件：</a:t>
            </a:r>
          </a:p>
          <a:p>
            <a:pPr>
              <a:lnSpc>
                <a:spcPct val="130000"/>
              </a:lnSpc>
            </a:pP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1</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R1</a:t>
            </a:r>
            <a:r>
              <a:rPr lang="zh-CN" altLang="en-US" sz="2000" b="1">
                <a:latin typeface="宋体" panose="02010600030101010101" pitchFamily="2" charset="-122"/>
                <a:ea typeface="宋体" panose="02010600030101010101" pitchFamily="2" charset="-122"/>
              </a:rPr>
              <a:t>和</a:t>
            </a:r>
            <a:r>
              <a:rPr lang="en-US" altLang="zh-CN" sz="2000" b="1">
                <a:latin typeface="宋体" panose="02010600030101010101" pitchFamily="2" charset="-122"/>
                <a:ea typeface="宋体" panose="02010600030101010101" pitchFamily="2" charset="-122"/>
              </a:rPr>
              <a:t>RB</a:t>
            </a:r>
            <a:r>
              <a:rPr lang="zh-CN" altLang="en-US" sz="2000" b="1">
                <a:latin typeface="宋体" panose="02010600030101010101" pitchFamily="2" charset="-122"/>
                <a:ea typeface="宋体" panose="02010600030101010101" pitchFamily="2" charset="-122"/>
              </a:rPr>
              <a:t>是属于同一批号制造的，即它们的电阻温度系数</a:t>
            </a:r>
            <a:r>
              <a:rPr lang="en-US" altLang="zh-CN" sz="2000" b="1">
                <a:latin typeface="宋体" panose="02010600030101010101" pitchFamily="2" charset="-122"/>
                <a:ea typeface="宋体" panose="02010600030101010101" pitchFamily="2" charset="-122"/>
              </a:rPr>
              <a:t>α</a:t>
            </a:r>
            <a:r>
              <a:rPr lang="zh-CN" altLang="en-US" sz="2000" b="1">
                <a:latin typeface="宋体" panose="02010600030101010101" pitchFamily="2" charset="-122"/>
                <a:ea typeface="宋体" panose="02010600030101010101" pitchFamily="2" charset="-122"/>
              </a:rPr>
              <a:t>、线膨胀系数  、应变灵敏系数</a:t>
            </a:r>
            <a:r>
              <a:rPr lang="en-US" altLang="zh-CN" sz="2000" b="1">
                <a:latin typeface="宋体" panose="02010600030101010101" pitchFamily="2" charset="-122"/>
                <a:ea typeface="宋体" panose="02010600030101010101" pitchFamily="2" charset="-122"/>
              </a:rPr>
              <a:t>k</a:t>
            </a:r>
            <a:r>
              <a:rPr lang="zh-CN" altLang="en-US" sz="2000" b="1">
                <a:latin typeface="宋体" panose="02010600030101010101" pitchFamily="2" charset="-122"/>
                <a:ea typeface="宋体" panose="02010600030101010101" pitchFamily="2" charset="-122"/>
              </a:rPr>
              <a:t>都相同，两应变片的初始电阻值也要求一样。</a:t>
            </a:r>
          </a:p>
          <a:p>
            <a:pPr>
              <a:lnSpc>
                <a:spcPct val="130000"/>
              </a:lnSpc>
            </a:pP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2</a:t>
            </a:r>
            <a:r>
              <a:rPr lang="zh-CN" altLang="en-US" sz="2000" b="1">
                <a:latin typeface="宋体" panose="02010600030101010101" pitchFamily="2" charset="-122"/>
                <a:ea typeface="宋体" panose="02010600030101010101" pitchFamily="2" charset="-122"/>
              </a:rPr>
              <a:t>）粘贴补偿片的构件材料和粘贴工作片的材料必须一样，即要求两者的线膨胀系数一样。</a:t>
            </a:r>
          </a:p>
          <a:p>
            <a:pPr>
              <a:lnSpc>
                <a:spcPct val="130000"/>
              </a:lnSpc>
            </a:pP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3</a:t>
            </a:r>
            <a:r>
              <a:rPr lang="zh-CN" altLang="en-US" sz="2000" b="1">
                <a:latin typeface="宋体" panose="02010600030101010101" pitchFamily="2" charset="-122"/>
                <a:ea typeface="宋体" panose="02010600030101010101" pitchFamily="2" charset="-122"/>
              </a:rPr>
              <a:t>）两应变片处于同一温度场。</a:t>
            </a:r>
          </a:p>
          <a:p>
            <a:pPr>
              <a:lnSpc>
                <a:spcPct val="130000"/>
              </a:lnSpc>
            </a:pPr>
            <a:r>
              <a:rPr lang="zh-CN" altLang="en-US" sz="2000" b="1">
                <a:latin typeface="宋体" panose="02010600030101010101" pitchFamily="2" charset="-122"/>
                <a:ea typeface="宋体" panose="02010600030101010101" pitchFamily="2" charset="-122"/>
              </a:rPr>
              <a:t>此方法</a:t>
            </a:r>
            <a:r>
              <a:rPr lang="zh-CN" altLang="en-US" sz="2000" b="1">
                <a:solidFill>
                  <a:srgbClr val="3333CC"/>
                </a:solidFill>
                <a:latin typeface="宋体" panose="02010600030101010101" pitchFamily="2" charset="-122"/>
                <a:ea typeface="宋体" panose="02010600030101010101" pitchFamily="2" charset="-122"/>
              </a:rPr>
              <a:t>简单易行，而且能在较大的温度范围内补偿</a:t>
            </a:r>
            <a:r>
              <a:rPr lang="zh-CN" altLang="en-US" sz="2000" b="1">
                <a:latin typeface="宋体" panose="02010600030101010101" pitchFamily="2" charset="-122"/>
                <a:ea typeface="宋体" panose="02010600030101010101" pitchFamily="2" charset="-122"/>
              </a:rPr>
              <a:t>，缺点是上面</a:t>
            </a:r>
            <a:r>
              <a:rPr lang="zh-CN" altLang="en-US" sz="2000" b="1">
                <a:solidFill>
                  <a:srgbClr val="C00000"/>
                </a:solidFill>
                <a:latin typeface="宋体" panose="02010600030101010101" pitchFamily="2" charset="-122"/>
                <a:ea typeface="宋体" panose="02010600030101010101" pitchFamily="2" charset="-122"/>
              </a:rPr>
              <a:t>三个条件不易满足</a:t>
            </a:r>
            <a:r>
              <a:rPr lang="zh-CN" altLang="en-US" sz="2000" b="1">
                <a:latin typeface="宋体" panose="02010600030101010101" pitchFamily="2" charset="-122"/>
                <a:ea typeface="宋体" panose="02010600030101010101" pitchFamily="2" charset="-122"/>
              </a:rPr>
              <a:t>，尤其</a:t>
            </a:r>
          </a:p>
          <a:p>
            <a:pPr>
              <a:lnSpc>
                <a:spcPct val="130000"/>
              </a:lnSpc>
            </a:pPr>
            <a:r>
              <a:rPr lang="zh-CN" altLang="en-US" sz="2000" b="1">
                <a:latin typeface="宋体" panose="02010600030101010101" pitchFamily="2" charset="-122"/>
                <a:ea typeface="宋体" panose="02010600030101010101" pitchFamily="2" charset="-122"/>
              </a:rPr>
              <a:t>是第三个条件，温度梯度变化大，</a:t>
            </a:r>
            <a:r>
              <a:rPr lang="en-US" altLang="zh-CN" sz="2000" b="1">
                <a:latin typeface="宋体" panose="02010600030101010101" pitchFamily="2" charset="-122"/>
                <a:ea typeface="宋体" panose="02010600030101010101" pitchFamily="2" charset="-122"/>
              </a:rPr>
              <a:t>R1</a:t>
            </a:r>
            <a:r>
              <a:rPr lang="zh-CN" altLang="en-US" sz="2000" b="1">
                <a:latin typeface="宋体" panose="02010600030101010101" pitchFamily="2" charset="-122"/>
                <a:ea typeface="宋体" panose="02010600030101010101" pitchFamily="2" charset="-122"/>
              </a:rPr>
              <a:t>和</a:t>
            </a:r>
            <a:r>
              <a:rPr lang="en-US" altLang="zh-CN" sz="2000" b="1">
                <a:latin typeface="宋体" panose="02010600030101010101" pitchFamily="2" charset="-122"/>
                <a:ea typeface="宋体" panose="02010600030101010101" pitchFamily="2" charset="-122"/>
              </a:rPr>
              <a:t>RB</a:t>
            </a:r>
            <a:r>
              <a:rPr lang="zh-CN" altLang="en-US" sz="2000" b="1">
                <a:latin typeface="宋体" panose="02010600030101010101" pitchFamily="2" charset="-122"/>
                <a:ea typeface="宋体" panose="02010600030101010101" pitchFamily="2" charset="-122"/>
              </a:rPr>
              <a:t>很难处于同一温度场。</a:t>
            </a:r>
            <a:endParaRPr lang="en-001" sz="2000" b="1">
              <a:latin typeface="宋体" panose="02010600030101010101" pitchFamily="2" charset="-122"/>
              <a:ea typeface="宋体" panose="02010600030101010101" pitchFamily="2" charset="-122"/>
            </a:endParaRPr>
          </a:p>
        </p:txBody>
      </p:sp>
      <p:sp>
        <p:nvSpPr>
          <p:cNvPr id="11" name="Text Box 9">
            <a:extLst>
              <a:ext uri="{FF2B5EF4-FFF2-40B4-BE49-F238E27FC236}">
                <a16:creationId xmlns:a16="http://schemas.microsoft.com/office/drawing/2014/main" id="{DEC82DF9-C6AE-4304-978D-F5E638BE487A}"/>
              </a:ext>
            </a:extLst>
          </p:cNvPr>
          <p:cNvSpPr txBox="1">
            <a:spLocks noChangeArrowheads="1"/>
          </p:cNvSpPr>
          <p:nvPr/>
        </p:nvSpPr>
        <p:spPr bwMode="auto">
          <a:xfrm>
            <a:off x="6137915" y="4652823"/>
            <a:ext cx="2918801"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2-27  </a:t>
            </a:r>
            <a:r>
              <a:rPr lang="zh-CN" altLang="en-US" b="1" dirty="0">
                <a:solidFill>
                  <a:srgbClr val="000099"/>
                </a:solidFill>
              </a:rPr>
              <a:t>电桥补偿法</a:t>
            </a:r>
          </a:p>
        </p:txBody>
      </p:sp>
      <p:pic>
        <p:nvPicPr>
          <p:cNvPr id="15" name="图片 1">
            <a:extLst>
              <a:ext uri="{FF2B5EF4-FFF2-40B4-BE49-F238E27FC236}">
                <a16:creationId xmlns:a16="http://schemas.microsoft.com/office/drawing/2014/main" id="{D5476D06-087F-4B0D-A5AC-23445761E72E}"/>
              </a:ext>
            </a:extLst>
          </p:cNvPr>
          <p:cNvPicPr>
            <a:picLocks noChangeAspect="1"/>
          </p:cNvPicPr>
          <p:nvPr/>
        </p:nvPicPr>
        <p:blipFill>
          <a:blip r:embed="rId3"/>
          <a:stretch>
            <a:fillRect/>
          </a:stretch>
        </p:blipFill>
        <p:spPr>
          <a:xfrm>
            <a:off x="6347906" y="2027850"/>
            <a:ext cx="2117568" cy="2423066"/>
          </a:xfrm>
          <a:prstGeom prst="rect">
            <a:avLst/>
          </a:prstGeom>
        </p:spPr>
      </p:pic>
      <mc:AlternateContent xmlns:mc="http://schemas.openxmlformats.org/markup-compatibility/2006" xmlns:a14="http://schemas.microsoft.com/office/drawing/2010/main">
        <mc:Choice Requires="a14">
          <p:sp>
            <p:nvSpPr>
              <p:cNvPr id="16" name="矩形 2">
                <a:extLst>
                  <a:ext uri="{FF2B5EF4-FFF2-40B4-BE49-F238E27FC236}">
                    <a16:creationId xmlns:a16="http://schemas.microsoft.com/office/drawing/2014/main" id="{28A984CC-C778-4AFF-91BF-E0E7B573BFD8}"/>
                  </a:ext>
                </a:extLst>
              </p:cNvPr>
              <p:cNvSpPr/>
              <p:nvPr/>
            </p:nvSpPr>
            <p:spPr>
              <a:xfrm>
                <a:off x="4427625" y="1075557"/>
                <a:ext cx="4629091" cy="677621"/>
              </a:xfrm>
              <a:prstGeom prst="rect">
                <a:avLst/>
              </a:prstGeom>
              <a:solidFill>
                <a:schemeClr val="accent2"/>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1600" i="1" smtClean="0">
                              <a:latin typeface="Cambria Math" panose="02040503050406030204" pitchFamily="18" charset="0"/>
                            </a:rPr>
                          </m:ctrlPr>
                        </m:fPr>
                        <m:num>
                          <m:r>
                            <a:rPr lang="zh-CN" altLang="en-US" sz="1600">
                              <a:latin typeface="Cambria Math" panose="02040503050406030204" pitchFamily="18" charset="0"/>
                            </a:rPr>
                            <m:t>∆</m:t>
                          </m:r>
                          <m:r>
                            <a:rPr lang="zh-CN" altLang="en-US" sz="1600" i="1">
                              <a:latin typeface="Cambria Math" panose="02040503050406030204" pitchFamily="18" charset="0"/>
                            </a:rPr>
                            <m:t>𝑅</m:t>
                          </m:r>
                        </m:num>
                        <m:den>
                          <m:r>
                            <a:rPr lang="zh-CN" altLang="en-US" sz="1600" i="1">
                              <a:latin typeface="Cambria Math" panose="02040503050406030204" pitchFamily="18" charset="0"/>
                            </a:rPr>
                            <m:t>𝑅</m:t>
                          </m:r>
                        </m:den>
                      </m:f>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1">
                                      <a:latin typeface="Cambria Math" panose="02040503050406030204" pitchFamily="18" charset="0"/>
                                    </a:rPr>
                                    <m:t>𝑅</m:t>
                                  </m:r>
                                </m:num>
                                <m:den>
                                  <m:r>
                                    <a:rPr lang="zh-CN" altLang="en-US" sz="1600" i="1">
                                      <a:latin typeface="Cambria Math" panose="02040503050406030204" pitchFamily="18" charset="0"/>
                                    </a:rPr>
                                    <m:t>𝑅</m:t>
                                  </m:r>
                                </m:den>
                              </m:f>
                            </m:e>
                          </m:d>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m:t>
                                  </m:r>
                                  <m:r>
                                    <a:rPr lang="zh-CN" altLang="en-US" sz="1600" i="1">
                                      <a:latin typeface="Cambria Math" panose="02040503050406030204" pitchFamily="18" charset="0"/>
                                    </a:rPr>
                                    <m:t>𝑅</m:t>
                                  </m:r>
                                </m:num>
                                <m:den>
                                  <m:r>
                                    <a:rPr lang="zh-CN" altLang="en-US" sz="1600" i="1">
                                      <a:latin typeface="Cambria Math" panose="02040503050406030204" pitchFamily="18" charset="0"/>
                                    </a:rPr>
                                    <m:t>𝑅</m:t>
                                  </m:r>
                                </m:den>
                              </m:f>
                            </m:e>
                          </m:d>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𝛼</m:t>
                          </m:r>
                        </m:e>
                        <m:sub>
                          <m:r>
                            <a:rPr lang="en-US" altLang="zh-CN" sz="1600" b="0" i="1" smtClean="0">
                              <a:latin typeface="Cambria Math" panose="02040503050406030204" pitchFamily="18" charset="0"/>
                            </a:rPr>
                            <m:t>𝑡</m:t>
                          </m:r>
                        </m:sub>
                      </m:sSub>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𝑡</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𝑘</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i="1">
                                  <a:latin typeface="Cambria Math" panose="02040503050406030204" pitchFamily="18" charset="0"/>
                                </a:rPr>
                                <m:t>𝑔</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𝛽</m:t>
                              </m:r>
                            </m:e>
                            <m:sub>
                              <m:r>
                                <a:rPr lang="zh-CN" altLang="en-US" sz="1600" i="1">
                                  <a:latin typeface="Cambria Math" panose="02040503050406030204" pitchFamily="18" charset="0"/>
                                </a:rPr>
                                <m:t>𝑠</m:t>
                              </m:r>
                            </m:sub>
                          </m:sSub>
                        </m:e>
                      </m:d>
                      <m:r>
                        <a:rPr lang="zh-CN" altLang="en-US" sz="1600" i="0">
                          <a:latin typeface="Cambria Math" panose="02040503050406030204" pitchFamily="18" charset="0"/>
                        </a:rPr>
                        <m:t>∙∆</m:t>
                      </m:r>
                      <m:r>
                        <a:rPr lang="zh-CN" altLang="en-US" sz="1600" i="1">
                          <a:latin typeface="Cambria Math" panose="02040503050406030204" pitchFamily="18" charset="0"/>
                        </a:rPr>
                        <m:t>𝑡</m:t>
                      </m:r>
                    </m:oMath>
                  </m:oMathPara>
                </a14:m>
                <a:endParaRPr lang="zh-CN" altLang="en-US" sz="1600" dirty="0">
                  <a:latin typeface="宋体" panose="02010600030101010101" pitchFamily="2" charset="-122"/>
                  <a:ea typeface="宋体" panose="02010600030101010101" pitchFamily="2" charset="-122"/>
                </a:endParaRPr>
              </a:p>
            </p:txBody>
          </p:sp>
        </mc:Choice>
        <mc:Fallback xmlns="">
          <p:sp>
            <p:nvSpPr>
              <p:cNvPr id="16" name="矩形 2">
                <a:extLst>
                  <a:ext uri="{FF2B5EF4-FFF2-40B4-BE49-F238E27FC236}">
                    <a16:creationId xmlns:a16="http://schemas.microsoft.com/office/drawing/2014/main" id="{28A984CC-C778-4AFF-91BF-E0E7B573BFD8}"/>
                  </a:ext>
                </a:extLst>
              </p:cNvPr>
              <p:cNvSpPr>
                <a:spLocks noRot="1" noChangeAspect="1" noMove="1" noResize="1" noEditPoints="1" noAdjustHandles="1" noChangeArrowheads="1" noChangeShapeType="1" noTextEdit="1"/>
              </p:cNvSpPr>
              <p:nvPr/>
            </p:nvSpPr>
            <p:spPr>
              <a:xfrm>
                <a:off x="4427625" y="1075557"/>
                <a:ext cx="4629091" cy="677621"/>
              </a:xfrm>
              <a:prstGeom prst="rect">
                <a:avLst/>
              </a:prstGeom>
              <a:blipFill>
                <a:blip r:embed="rId5"/>
                <a:stretch>
                  <a:fillRect/>
                </a:stretch>
              </a:blipFill>
              <a:ln>
                <a:noFill/>
              </a:ln>
            </p:spPr>
            <p:txBody>
              <a:bodyPr/>
              <a:lstStyle/>
              <a:p>
                <a:r>
                  <a:rPr lang="en-001">
                    <a:noFill/>
                  </a:rPr>
                  <a:t> </a:t>
                </a:r>
              </a:p>
            </p:txBody>
          </p:sp>
        </mc:Fallback>
      </mc:AlternateContent>
      <p:graphicFrame>
        <p:nvGraphicFramePr>
          <p:cNvPr id="3" name="Object 2">
            <a:extLst>
              <a:ext uri="{FF2B5EF4-FFF2-40B4-BE49-F238E27FC236}">
                <a16:creationId xmlns:a16="http://schemas.microsoft.com/office/drawing/2014/main" id="{DB7F76C9-AAD7-4F59-BEDD-D266DC62140D}"/>
              </a:ext>
            </a:extLst>
          </p:cNvPr>
          <p:cNvGraphicFramePr>
            <a:graphicFrameLocks noChangeAspect="1"/>
          </p:cNvGraphicFramePr>
          <p:nvPr>
            <p:extLst>
              <p:ext uri="{D42A27DB-BD31-4B8C-83A1-F6EECF244321}">
                <p14:modId xmlns:p14="http://schemas.microsoft.com/office/powerpoint/2010/main" val="1022352499"/>
              </p:ext>
            </p:extLst>
          </p:nvPr>
        </p:nvGraphicFramePr>
        <p:xfrm>
          <a:off x="3753898" y="2958786"/>
          <a:ext cx="190500" cy="241300"/>
        </p:xfrm>
        <a:graphic>
          <a:graphicData uri="http://schemas.openxmlformats.org/presentationml/2006/ole">
            <mc:AlternateContent xmlns:mc="http://schemas.openxmlformats.org/markup-compatibility/2006">
              <mc:Choice xmlns:v="urn:schemas-microsoft-com:vml" Requires="v">
                <p:oleObj name="Equation" r:id="rId6" imgW="190440" imgH="241200" progId="Equation.DSMT4">
                  <p:embed/>
                </p:oleObj>
              </mc:Choice>
              <mc:Fallback>
                <p:oleObj name="Equation" r:id="rId6" imgW="190440" imgH="241200" progId="Equation.DSMT4">
                  <p:embed/>
                  <p:pic>
                    <p:nvPicPr>
                      <p:cNvPr id="0" name=""/>
                      <p:cNvPicPr/>
                      <p:nvPr/>
                    </p:nvPicPr>
                    <p:blipFill>
                      <a:blip r:embed="rId7"/>
                      <a:stretch>
                        <a:fillRect/>
                      </a:stretch>
                    </p:blipFill>
                    <p:spPr>
                      <a:xfrm>
                        <a:off x="3753898" y="2958786"/>
                        <a:ext cx="190500" cy="241300"/>
                      </a:xfrm>
                      <a:prstGeom prst="rect">
                        <a:avLst/>
                      </a:prstGeom>
                    </p:spPr>
                  </p:pic>
                </p:oleObj>
              </mc:Fallback>
            </mc:AlternateContent>
          </a:graphicData>
        </a:graphic>
      </p:graphicFrame>
    </p:spTree>
    <p:extLst>
      <p:ext uri="{BB962C8B-B14F-4D97-AF65-F5344CB8AC3E}">
        <p14:creationId xmlns:p14="http://schemas.microsoft.com/office/powerpoint/2010/main" val="2260236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
            <a:extLst>
              <a:ext uri="{FF2B5EF4-FFF2-40B4-BE49-F238E27FC236}">
                <a16:creationId xmlns:a16="http://schemas.microsoft.com/office/drawing/2014/main" id="{BDC9AAB0-34F9-40B1-8DFD-7425B6E9A66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9" name="Rectangle 21">
            <a:extLst>
              <a:ext uri="{FF2B5EF4-FFF2-40B4-BE49-F238E27FC236}">
                <a16:creationId xmlns:a16="http://schemas.microsoft.com/office/drawing/2014/main" id="{0A1A2028-C7ED-4BDF-B54A-C0F6E20CAF66}"/>
              </a:ext>
            </a:extLst>
          </p:cNvPr>
          <p:cNvSpPr>
            <a:spLocks noChangeArrowheads="1"/>
          </p:cNvSpPr>
          <p:nvPr/>
        </p:nvSpPr>
        <p:spPr bwMode="auto">
          <a:xfrm>
            <a:off x="1499067" y="1339469"/>
            <a:ext cx="3381652"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60000"/>
              </a:lnSpc>
            </a:pPr>
            <a:r>
              <a:rPr lang="zh-CN" altLang="en-US" sz="2400" b="1" dirty="0">
                <a:latin typeface="宋体" panose="02010600030101010101" pitchFamily="2" charset="-122"/>
                <a:ea typeface="宋体" panose="02010600030101010101" pitchFamily="2" charset="-122"/>
              </a:rPr>
              <a:t>二、线路补偿法   </a:t>
            </a:r>
          </a:p>
        </p:txBody>
      </p:sp>
      <p:sp>
        <p:nvSpPr>
          <p:cNvPr id="2" name="Slide Number Placeholder 1">
            <a:extLst>
              <a:ext uri="{FF2B5EF4-FFF2-40B4-BE49-F238E27FC236}">
                <a16:creationId xmlns:a16="http://schemas.microsoft.com/office/drawing/2014/main" id="{B4150DC1-C029-490B-BC81-8782ED7C1B1C}"/>
              </a:ext>
            </a:extLst>
          </p:cNvPr>
          <p:cNvSpPr>
            <a:spLocks noGrp="1"/>
          </p:cNvSpPr>
          <p:nvPr>
            <p:ph type="sldNum" sz="quarter" idx="12"/>
          </p:nvPr>
        </p:nvSpPr>
        <p:spPr/>
        <p:txBody>
          <a:bodyPr/>
          <a:lstStyle/>
          <a:p>
            <a:fld id="{B53602B4-F12B-41CD-B648-531F86B2CC91}" type="slidenum">
              <a:rPr lang="zh-CN" altLang="en-US" smtClean="0"/>
              <a:t>57</a:t>
            </a:fld>
            <a:endParaRPr lang="zh-CN" altLang="en-US"/>
          </a:p>
        </p:txBody>
      </p:sp>
      <p:sp>
        <p:nvSpPr>
          <p:cNvPr id="13" name="Text Box 9">
            <a:extLst>
              <a:ext uri="{FF2B5EF4-FFF2-40B4-BE49-F238E27FC236}">
                <a16:creationId xmlns:a16="http://schemas.microsoft.com/office/drawing/2014/main" id="{EE9B6336-3B18-48C2-A8A1-5D2CC93710C4}"/>
              </a:ext>
            </a:extLst>
          </p:cNvPr>
          <p:cNvSpPr txBox="1">
            <a:spLocks noChangeArrowheads="1"/>
          </p:cNvSpPr>
          <p:nvPr/>
        </p:nvSpPr>
        <p:spPr bwMode="auto">
          <a:xfrm>
            <a:off x="185083" y="4803450"/>
            <a:ext cx="3454562"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2-28  </a:t>
            </a:r>
            <a:r>
              <a:rPr lang="zh-CN" altLang="en-US" b="1" dirty="0">
                <a:solidFill>
                  <a:srgbClr val="000099"/>
                </a:solidFill>
              </a:rPr>
              <a:t>差动电桥补偿法</a:t>
            </a:r>
          </a:p>
        </p:txBody>
      </p:sp>
      <p:pic>
        <p:nvPicPr>
          <p:cNvPr id="14" name="图片 1">
            <a:extLst>
              <a:ext uri="{FF2B5EF4-FFF2-40B4-BE49-F238E27FC236}">
                <a16:creationId xmlns:a16="http://schemas.microsoft.com/office/drawing/2014/main" id="{CF6F6E1F-793D-4AFD-90DF-AF626DA3DB2B}"/>
              </a:ext>
            </a:extLst>
          </p:cNvPr>
          <p:cNvPicPr>
            <a:picLocks noChangeAspect="1"/>
          </p:cNvPicPr>
          <p:nvPr/>
        </p:nvPicPr>
        <p:blipFill rotWithShape="1">
          <a:blip r:embed="rId3"/>
          <a:srcRect r="59035"/>
          <a:stretch/>
        </p:blipFill>
        <p:spPr>
          <a:xfrm>
            <a:off x="406700" y="2139611"/>
            <a:ext cx="2789544" cy="1297460"/>
          </a:xfrm>
          <a:prstGeom prst="rect">
            <a:avLst/>
          </a:prstGeom>
        </p:spPr>
      </p:pic>
      <p:pic>
        <p:nvPicPr>
          <p:cNvPr id="17" name="图片 1">
            <a:extLst>
              <a:ext uri="{FF2B5EF4-FFF2-40B4-BE49-F238E27FC236}">
                <a16:creationId xmlns:a16="http://schemas.microsoft.com/office/drawing/2014/main" id="{398D1F3F-7633-4D43-973E-68DEACBBB114}"/>
              </a:ext>
            </a:extLst>
          </p:cNvPr>
          <p:cNvPicPr>
            <a:picLocks noChangeAspect="1"/>
          </p:cNvPicPr>
          <p:nvPr/>
        </p:nvPicPr>
        <p:blipFill rotWithShape="1">
          <a:blip r:embed="rId3"/>
          <a:srcRect l="48402"/>
          <a:stretch/>
        </p:blipFill>
        <p:spPr>
          <a:xfrm>
            <a:off x="406700" y="3605214"/>
            <a:ext cx="2789544" cy="1030093"/>
          </a:xfrm>
          <a:prstGeom prst="rect">
            <a:avLst/>
          </a:prstGeom>
        </p:spPr>
      </p:pic>
      <p:sp>
        <p:nvSpPr>
          <p:cNvPr id="18" name="TextBox 17">
            <a:extLst>
              <a:ext uri="{FF2B5EF4-FFF2-40B4-BE49-F238E27FC236}">
                <a16:creationId xmlns:a16="http://schemas.microsoft.com/office/drawing/2014/main" id="{63D3CAA2-C41F-4160-8FE5-965F38114265}"/>
              </a:ext>
            </a:extLst>
          </p:cNvPr>
          <p:cNvSpPr txBox="1"/>
          <p:nvPr/>
        </p:nvSpPr>
        <p:spPr>
          <a:xfrm>
            <a:off x="3676967" y="2003686"/>
            <a:ext cx="5153102" cy="4233147"/>
          </a:xfrm>
          <a:prstGeom prst="rect">
            <a:avLst/>
          </a:prstGeom>
          <a:noFill/>
        </p:spPr>
        <p:txBody>
          <a:bodyPr wrap="square">
            <a:spAutoFit/>
          </a:bodyPr>
          <a:lstStyle/>
          <a:p>
            <a:pPr marL="342900" indent="-342900">
              <a:lnSpc>
                <a:spcPct val="130000"/>
              </a:lnSpc>
              <a:spcBef>
                <a:spcPts val="600"/>
              </a:spcBef>
              <a:buFont typeface="Courier New" panose="02070309020205020404" pitchFamily="49" charset="0"/>
              <a:buChar char="o"/>
            </a:pPr>
            <a:r>
              <a:rPr lang="en-001" b="1" dirty="0">
                <a:latin typeface="宋体" panose="02010600030101010101" pitchFamily="2" charset="-122"/>
                <a:ea typeface="宋体" panose="02010600030101010101" pitchFamily="2" charset="-122"/>
              </a:rPr>
              <a:t>在应变测试的某些条件下，可以巧妙地安装应变片，而不需补偿并兼得灵敏度的提高。</a:t>
            </a:r>
          </a:p>
          <a:p>
            <a:pPr marL="342900" indent="-342900">
              <a:lnSpc>
                <a:spcPct val="130000"/>
              </a:lnSpc>
              <a:spcBef>
                <a:spcPts val="600"/>
              </a:spcBef>
              <a:buFont typeface="Courier New" panose="02070309020205020404" pitchFamily="49" charset="0"/>
              <a:buChar char="o"/>
            </a:pPr>
            <a:r>
              <a:rPr lang="en-001" b="1" dirty="0">
                <a:latin typeface="宋体" panose="02010600030101010101" pitchFamily="2" charset="-122"/>
                <a:ea typeface="宋体" panose="02010600030101010101" pitchFamily="2" charset="-122"/>
              </a:rPr>
              <a:t>测量梁的弯曲应变时，</a:t>
            </a:r>
            <a:r>
              <a:rPr lang="en-001" b="1" dirty="0">
                <a:solidFill>
                  <a:srgbClr val="C00000"/>
                </a:solidFill>
                <a:latin typeface="宋体" panose="02010600030101010101" pitchFamily="2" charset="-122"/>
                <a:ea typeface="宋体" panose="02010600030101010101" pitchFamily="2" charset="-122"/>
              </a:rPr>
              <a:t>将两个应变片分别贴于梁上下两面对称位置</a:t>
            </a:r>
            <a:r>
              <a:rPr lang="en-001" b="1" dirty="0">
                <a:latin typeface="宋体" panose="02010600030101010101" pitchFamily="2" charset="-122"/>
                <a:ea typeface="宋体" panose="02010600030101010101" pitchFamily="2" charset="-122"/>
              </a:rPr>
              <a:t>，R1和R</a:t>
            </a:r>
            <a:r>
              <a:rPr lang="en-US" altLang="zh-CN" b="1" dirty="0">
                <a:latin typeface="宋体" panose="02010600030101010101" pitchFamily="2" charset="-122"/>
                <a:ea typeface="宋体" panose="02010600030101010101" pitchFamily="2" charset="-122"/>
              </a:rPr>
              <a:t>B</a:t>
            </a:r>
            <a:r>
              <a:rPr lang="en-001" b="1" dirty="0">
                <a:latin typeface="宋体" panose="02010600030101010101" pitchFamily="2" charset="-122"/>
                <a:ea typeface="宋体" panose="02010600030101010101" pitchFamily="2" charset="-122"/>
              </a:rPr>
              <a:t>特性相同，所示两电阻变化值相同而符号相反。</a:t>
            </a:r>
          </a:p>
          <a:p>
            <a:pPr marL="342900" indent="-342900">
              <a:lnSpc>
                <a:spcPct val="130000"/>
              </a:lnSpc>
              <a:spcBef>
                <a:spcPts val="600"/>
              </a:spcBef>
              <a:buFont typeface="Courier New" panose="02070309020205020404" pitchFamily="49" charset="0"/>
              <a:buChar char="o"/>
            </a:pPr>
            <a:r>
              <a:rPr lang="en-001" b="1" dirty="0">
                <a:latin typeface="宋体" panose="02010600030101010101" pitchFamily="2" charset="-122"/>
                <a:ea typeface="宋体" panose="02010600030101010101" pitchFamily="2" charset="-122"/>
              </a:rPr>
              <a:t>若R1和R</a:t>
            </a:r>
            <a:r>
              <a:rPr lang="en-US" b="1" dirty="0">
                <a:latin typeface="宋体" panose="02010600030101010101" pitchFamily="2" charset="-122"/>
                <a:ea typeface="宋体" panose="02010600030101010101" pitchFamily="2" charset="-122"/>
              </a:rPr>
              <a:t>B</a:t>
            </a:r>
            <a:r>
              <a:rPr lang="en-001" b="1" dirty="0">
                <a:latin typeface="宋体" panose="02010600030101010101" pitchFamily="2" charset="-122"/>
                <a:ea typeface="宋体" panose="02010600030101010101" pitchFamily="2" charset="-122"/>
              </a:rPr>
              <a:t>按图2-27所示接</a:t>
            </a:r>
            <a:r>
              <a:rPr lang="zh-CN" altLang="en-US" b="1">
                <a:latin typeface="宋体" panose="02010600030101010101" pitchFamily="2" charset="-122"/>
                <a:ea typeface="宋体" panose="02010600030101010101" pitchFamily="2" charset="-122"/>
              </a:rPr>
              <a:t>入</a:t>
            </a:r>
            <a:r>
              <a:rPr lang="en-001" b="1">
                <a:latin typeface="宋体" panose="02010600030101010101" pitchFamily="2" charset="-122"/>
                <a:ea typeface="宋体" panose="02010600030101010101" pitchFamily="2" charset="-122"/>
              </a:rPr>
              <a:t>电桥</a:t>
            </a:r>
            <a:r>
              <a:rPr lang="en-001" b="1" dirty="0">
                <a:latin typeface="宋体" panose="02010600030101010101" pitchFamily="2" charset="-122"/>
                <a:ea typeface="宋体" panose="02010600030101010101" pitchFamily="2" charset="-122"/>
              </a:rPr>
              <a:t>，电桥输出电压比单片时增加1倍，当梁上下面温度一致时，R</a:t>
            </a:r>
            <a:r>
              <a:rPr lang="en-US" altLang="zh-CN" b="1" dirty="0">
                <a:latin typeface="宋体" panose="02010600030101010101" pitchFamily="2" charset="-122"/>
                <a:ea typeface="宋体" panose="02010600030101010101" pitchFamily="2" charset="-122"/>
              </a:rPr>
              <a:t>B</a:t>
            </a:r>
            <a:r>
              <a:rPr lang="en-001" b="1" dirty="0">
                <a:latin typeface="宋体" panose="02010600030101010101" pitchFamily="2" charset="-122"/>
                <a:ea typeface="宋体" panose="02010600030101010101" pitchFamily="2" charset="-122"/>
              </a:rPr>
              <a:t>与R1可起温度补偿作用。</a:t>
            </a:r>
          </a:p>
          <a:p>
            <a:pPr marL="342900" indent="-342900">
              <a:lnSpc>
                <a:spcPct val="130000"/>
              </a:lnSpc>
              <a:spcBef>
                <a:spcPts val="600"/>
              </a:spcBef>
              <a:buFont typeface="Courier New" panose="02070309020205020404" pitchFamily="49" charset="0"/>
              <a:buChar char="o"/>
            </a:pPr>
            <a:r>
              <a:rPr lang="en-001" b="1" dirty="0">
                <a:latin typeface="宋体" panose="02010600030101010101" pitchFamily="2" charset="-122"/>
                <a:ea typeface="宋体" panose="02010600030101010101" pitchFamily="2" charset="-122"/>
              </a:rPr>
              <a:t>电桥补偿法简易可行，使用普通应变片可对各种试件材料在较大温度范围内进行补偿，因而最为常用。</a:t>
            </a:r>
          </a:p>
        </p:txBody>
      </p:sp>
    </p:spTree>
    <p:extLst>
      <p:ext uri="{BB962C8B-B14F-4D97-AF65-F5344CB8AC3E}">
        <p14:creationId xmlns:p14="http://schemas.microsoft.com/office/powerpoint/2010/main" val="938106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4">
            <a:extLst>
              <a:ext uri="{FF2B5EF4-FFF2-40B4-BE49-F238E27FC236}">
                <a16:creationId xmlns:a16="http://schemas.microsoft.com/office/drawing/2014/main" id="{BDC9AAB0-34F9-40B1-8DFD-7425B6E9A66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2.2.3</a:t>
            </a:r>
          </a:p>
        </p:txBody>
      </p:sp>
      <p:sp>
        <p:nvSpPr>
          <p:cNvPr id="46" name="矩形 45"/>
          <p:cNvSpPr/>
          <p:nvPr/>
        </p:nvSpPr>
        <p:spPr>
          <a:xfrm>
            <a:off x="1960200" y="360001"/>
            <a:ext cx="324799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温度误差及补偿</a:t>
            </a:r>
          </a:p>
        </p:txBody>
      </p:sp>
      <p:sp>
        <p:nvSpPr>
          <p:cNvPr id="2" name="Slide Number Placeholder 1">
            <a:extLst>
              <a:ext uri="{FF2B5EF4-FFF2-40B4-BE49-F238E27FC236}">
                <a16:creationId xmlns:a16="http://schemas.microsoft.com/office/drawing/2014/main" id="{B4150DC1-C029-490B-BC81-8782ED7C1B1C}"/>
              </a:ext>
            </a:extLst>
          </p:cNvPr>
          <p:cNvSpPr>
            <a:spLocks noGrp="1"/>
          </p:cNvSpPr>
          <p:nvPr>
            <p:ph type="sldNum" sz="quarter" idx="12"/>
          </p:nvPr>
        </p:nvSpPr>
        <p:spPr/>
        <p:txBody>
          <a:bodyPr/>
          <a:lstStyle/>
          <a:p>
            <a:fld id="{B53602B4-F12B-41CD-B648-531F86B2CC91}" type="slidenum">
              <a:rPr lang="zh-CN" altLang="en-US" smtClean="0"/>
              <a:t>58</a:t>
            </a:fld>
            <a:endParaRPr lang="zh-CN" altLang="en-US"/>
          </a:p>
        </p:txBody>
      </p:sp>
      <p:pic>
        <p:nvPicPr>
          <p:cNvPr id="3" name="Picture 2">
            <a:extLst>
              <a:ext uri="{FF2B5EF4-FFF2-40B4-BE49-F238E27FC236}">
                <a16:creationId xmlns:a16="http://schemas.microsoft.com/office/drawing/2014/main" id="{7A522B1A-5CB7-4649-A23A-A0A0670D2CD6}"/>
              </a:ext>
            </a:extLst>
          </p:cNvPr>
          <p:cNvPicPr>
            <a:picLocks noChangeAspect="1"/>
          </p:cNvPicPr>
          <p:nvPr/>
        </p:nvPicPr>
        <p:blipFill>
          <a:blip r:embed="rId3"/>
          <a:stretch>
            <a:fillRect/>
          </a:stretch>
        </p:blipFill>
        <p:spPr>
          <a:xfrm>
            <a:off x="366244" y="1559330"/>
            <a:ext cx="4125596" cy="3330534"/>
          </a:xfrm>
          <a:prstGeom prst="rect">
            <a:avLst/>
          </a:prstGeom>
        </p:spPr>
      </p:pic>
      <p:pic>
        <p:nvPicPr>
          <p:cNvPr id="4" name="Picture 3">
            <a:extLst>
              <a:ext uri="{FF2B5EF4-FFF2-40B4-BE49-F238E27FC236}">
                <a16:creationId xmlns:a16="http://schemas.microsoft.com/office/drawing/2014/main" id="{96550E8D-7F37-44B0-9C3D-85994EC61B32}"/>
              </a:ext>
            </a:extLst>
          </p:cNvPr>
          <p:cNvPicPr>
            <a:picLocks noChangeAspect="1"/>
          </p:cNvPicPr>
          <p:nvPr/>
        </p:nvPicPr>
        <p:blipFill>
          <a:blip r:embed="rId4"/>
          <a:stretch>
            <a:fillRect/>
          </a:stretch>
        </p:blipFill>
        <p:spPr>
          <a:xfrm>
            <a:off x="4838911" y="1598689"/>
            <a:ext cx="4054622" cy="3251816"/>
          </a:xfrm>
          <a:prstGeom prst="rect">
            <a:avLst/>
          </a:prstGeom>
        </p:spPr>
      </p:pic>
    </p:spTree>
    <p:extLst>
      <p:ext uri="{BB962C8B-B14F-4D97-AF65-F5344CB8AC3E}">
        <p14:creationId xmlns:p14="http://schemas.microsoft.com/office/powerpoint/2010/main" val="27517993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74D33FC0-E7EF-440F-A465-9F546BF7BB0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 name="Slide Number Placeholder 1">
            <a:extLst>
              <a:ext uri="{FF2B5EF4-FFF2-40B4-BE49-F238E27FC236}">
                <a16:creationId xmlns:a16="http://schemas.microsoft.com/office/drawing/2014/main" id="{83D075BF-0A1A-465D-B441-3D51717C1D11}"/>
              </a:ext>
            </a:extLst>
          </p:cNvPr>
          <p:cNvSpPr>
            <a:spLocks noGrp="1"/>
          </p:cNvSpPr>
          <p:nvPr>
            <p:ph type="sldNum" sz="quarter" idx="12"/>
          </p:nvPr>
        </p:nvSpPr>
        <p:spPr/>
        <p:txBody>
          <a:bodyPr/>
          <a:lstStyle/>
          <a:p>
            <a:fld id="{B53602B4-F12B-41CD-B648-531F86B2CC91}" type="slidenum">
              <a:rPr lang="zh-CN" altLang="en-US" smtClean="0"/>
              <a:t>59</a:t>
            </a:fld>
            <a:endParaRPr lang="zh-CN" altLang="en-US"/>
          </a:p>
        </p:txBody>
      </p:sp>
      <p:sp>
        <p:nvSpPr>
          <p:cNvPr id="8" name="TextBox 7">
            <a:extLst>
              <a:ext uri="{FF2B5EF4-FFF2-40B4-BE49-F238E27FC236}">
                <a16:creationId xmlns:a16="http://schemas.microsoft.com/office/drawing/2014/main" id="{03DD59EC-EFBC-4709-9C6A-2F8E490AD8CB}"/>
              </a:ext>
            </a:extLst>
          </p:cNvPr>
          <p:cNvSpPr txBox="1"/>
          <p:nvPr/>
        </p:nvSpPr>
        <p:spPr>
          <a:xfrm>
            <a:off x="931398" y="1813390"/>
            <a:ext cx="7340138" cy="2732671"/>
          </a:xfrm>
          <a:prstGeom prst="rect">
            <a:avLst/>
          </a:prstGeom>
          <a:noFill/>
        </p:spPr>
        <p:txBody>
          <a:bodyPr wrap="square">
            <a:spAutoFit/>
          </a:bodyPr>
          <a:lstStyle>
            <a:defPPr>
              <a:defRPr lang="zh-CN"/>
            </a:defPPr>
            <a:lvl1pPr marL="342900" indent="-342900">
              <a:lnSpc>
                <a:spcPct val="130000"/>
              </a:lnSpc>
              <a:spcBef>
                <a:spcPts val="600"/>
              </a:spcBef>
              <a:buFont typeface="Courier New" panose="02070309020205020404" pitchFamily="49" charset="0"/>
              <a:buChar char="o"/>
              <a:defRPr b="1">
                <a:latin typeface="宋体" panose="02010600030101010101" pitchFamily="2" charset="-122"/>
                <a:ea typeface="宋体" panose="02010600030101010101" pitchFamily="2" charset="-122"/>
              </a:defRPr>
            </a:lvl1pPr>
          </a:lstStyle>
          <a:p>
            <a:pPr>
              <a:spcBef>
                <a:spcPts val="1200"/>
              </a:spcBef>
            </a:pPr>
            <a:r>
              <a:rPr lang="en-001" sz="2400"/>
              <a:t>应变片将试件应变</a:t>
            </a:r>
            <a:r>
              <a:rPr lang="en-US" sz="2400"/>
              <a:t> </a:t>
            </a:r>
            <a:r>
              <a:rPr lang="zh-CN" altLang="en-US" sz="2400">
                <a:sym typeface="Symbol" panose="05050102010706020507" pitchFamily="18" charset="2"/>
              </a:rPr>
              <a:t></a:t>
            </a:r>
            <a:r>
              <a:rPr lang="en-US" altLang="zh-CN" sz="2400"/>
              <a:t>  </a:t>
            </a:r>
            <a:r>
              <a:rPr lang="en-001" sz="2400"/>
              <a:t>转换成电阻相对变化△R/R</a:t>
            </a:r>
            <a:endParaRPr lang="en-US" sz="2400"/>
          </a:p>
          <a:p>
            <a:pPr>
              <a:spcBef>
                <a:spcPts val="1200"/>
              </a:spcBef>
            </a:pPr>
            <a:r>
              <a:rPr lang="en-001" sz="2400"/>
              <a:t>为了能用电测仪器进行测量，还须将</a:t>
            </a:r>
            <a:r>
              <a:rPr lang="en-US" sz="2400"/>
              <a:t> </a:t>
            </a:r>
            <a:r>
              <a:rPr lang="en-001" sz="2400"/>
              <a:t>△R/R</a:t>
            </a:r>
            <a:r>
              <a:rPr lang="en-US" sz="2400"/>
              <a:t> </a:t>
            </a:r>
            <a:r>
              <a:rPr lang="en-001" sz="2400"/>
              <a:t>进一步转换成电压或电流信号</a:t>
            </a:r>
            <a:r>
              <a:rPr lang="en-US" sz="2400"/>
              <a:t>,</a:t>
            </a:r>
            <a:r>
              <a:rPr lang="en-001" sz="2400"/>
              <a:t>这种转换通常采用各种电桥线路</a:t>
            </a:r>
            <a:endParaRPr lang="en-US" sz="2400"/>
          </a:p>
          <a:p>
            <a:pPr>
              <a:spcBef>
                <a:spcPts val="1200"/>
              </a:spcBef>
            </a:pPr>
            <a:r>
              <a:rPr lang="en-001" sz="2400"/>
              <a:t>根据电源不同，可将电桥分为直流电桥和交流电桥</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74D33FC0-E7EF-440F-A465-9F546BF7BB0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3"/>
          <p:cNvSpPr txBox="1">
            <a:spLocks noRot="1" noChangeArrowheads="1"/>
          </p:cNvSpPr>
          <p:nvPr/>
        </p:nvSpPr>
        <p:spPr>
          <a:xfrm>
            <a:off x="1443581" y="1764324"/>
            <a:ext cx="5851525" cy="27463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74688"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直流电桥</a:t>
            </a:r>
          </a:p>
          <a:p>
            <a:pPr marL="674688" indent="-249238">
              <a:lnSpc>
                <a:spcPct val="180000"/>
              </a:lnSpc>
              <a:spcBef>
                <a:spcPct val="0"/>
              </a:spcBef>
            </a:pPr>
            <a:r>
              <a:rPr lang="zh-CN" altLang="en-US" sz="2400" b="1" dirty="0">
                <a:latin typeface="宋体" panose="02010600030101010101" pitchFamily="2" charset="-122"/>
                <a:ea typeface="宋体" panose="02010600030101010101" pitchFamily="2" charset="-122"/>
              </a:rPr>
              <a:t>直流电桥平衡条件</a:t>
            </a:r>
          </a:p>
          <a:p>
            <a:pPr marL="674688" indent="-249238">
              <a:lnSpc>
                <a:spcPct val="180000"/>
              </a:lnSpc>
              <a:spcBef>
                <a:spcPct val="0"/>
              </a:spcBef>
            </a:pPr>
            <a:r>
              <a:rPr lang="zh-CN" altLang="en-US" sz="2400" b="1" dirty="0">
                <a:latin typeface="宋体" panose="02010600030101010101" pitchFamily="2" charset="-122"/>
                <a:ea typeface="宋体" panose="02010600030101010101" pitchFamily="2" charset="-122"/>
              </a:rPr>
              <a:t>直流电桥电压灵敏度</a:t>
            </a:r>
          </a:p>
          <a:p>
            <a:pPr marL="674688" indent="-249238">
              <a:lnSpc>
                <a:spcPct val="180000"/>
              </a:lnSpc>
              <a:spcBef>
                <a:spcPct val="0"/>
              </a:spcBef>
            </a:pPr>
            <a:r>
              <a:rPr lang="zh-CN" altLang="en-US" sz="2400" b="1" dirty="0">
                <a:latin typeface="宋体" panose="02010600030101010101" pitchFamily="2" charset="-122"/>
                <a:ea typeface="宋体" panose="02010600030101010101" pitchFamily="2" charset="-122"/>
              </a:rPr>
              <a:t>电桥的非线性误差  </a:t>
            </a:r>
          </a:p>
        </p:txBody>
      </p:sp>
      <p:sp>
        <p:nvSpPr>
          <p:cNvPr id="2" name="Slide Number Placeholder 1">
            <a:extLst>
              <a:ext uri="{FF2B5EF4-FFF2-40B4-BE49-F238E27FC236}">
                <a16:creationId xmlns:a16="http://schemas.microsoft.com/office/drawing/2014/main" id="{83D075BF-0A1A-465D-B441-3D51717C1D11}"/>
              </a:ext>
            </a:extLst>
          </p:cNvPr>
          <p:cNvSpPr>
            <a:spLocks noGrp="1"/>
          </p:cNvSpPr>
          <p:nvPr>
            <p:ph type="sldNum" sz="quarter" idx="12"/>
          </p:nvPr>
        </p:nvSpPr>
        <p:spPr/>
        <p:txBody>
          <a:bodyPr/>
          <a:lstStyle/>
          <a:p>
            <a:fld id="{B53602B4-F12B-41CD-B648-531F86B2CC91}" type="slidenum">
              <a:rPr lang="zh-CN" altLang="en-US" smtClean="0"/>
              <a:t>60</a:t>
            </a:fld>
            <a:endParaRPr lang="zh-CN" altLang="en-US"/>
          </a:p>
        </p:txBody>
      </p:sp>
    </p:spTree>
    <p:extLst>
      <p:ext uri="{BB962C8B-B14F-4D97-AF65-F5344CB8AC3E}">
        <p14:creationId xmlns:p14="http://schemas.microsoft.com/office/powerpoint/2010/main" val="2444503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4">
            <a:extLst>
              <a:ext uri="{FF2B5EF4-FFF2-40B4-BE49-F238E27FC236}">
                <a16:creationId xmlns:a16="http://schemas.microsoft.com/office/drawing/2014/main" id="{4F3BAB4E-AE8C-44C2-8821-FB9019653C39}"/>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2050" name="Rectangle 2"/>
          <p:cNvSpPr>
            <a:spLocks noChangeArrowheads="1"/>
          </p:cNvSpPr>
          <p:nvPr/>
        </p:nvSpPr>
        <p:spPr bwMode="auto">
          <a:xfrm>
            <a:off x="4479925" y="3243941"/>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3117325" y="3952099"/>
            <a:ext cx="372616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2-29  </a:t>
            </a:r>
            <a:r>
              <a:rPr lang="zh-CN" altLang="en-US" b="1" dirty="0">
                <a:solidFill>
                  <a:srgbClr val="000099"/>
                </a:solidFill>
              </a:rPr>
              <a:t>直流电桥电路</a:t>
            </a:r>
          </a:p>
        </p:txBody>
      </p:sp>
      <p:pic>
        <p:nvPicPr>
          <p:cNvPr id="2" name="图片 1"/>
          <p:cNvPicPr>
            <a:picLocks noChangeAspect="1"/>
          </p:cNvPicPr>
          <p:nvPr/>
        </p:nvPicPr>
        <p:blipFill>
          <a:blip r:embed="rId2"/>
          <a:stretch>
            <a:fillRect/>
          </a:stretch>
        </p:blipFill>
        <p:spPr>
          <a:xfrm>
            <a:off x="156028" y="1584756"/>
            <a:ext cx="8831943" cy="2375557"/>
          </a:xfrm>
          <a:prstGeom prst="rect">
            <a:avLst/>
          </a:prstGeom>
        </p:spPr>
      </p:pic>
      <p:graphicFrame>
        <p:nvGraphicFramePr>
          <p:cNvPr id="6" name="Object 44"/>
          <p:cNvGraphicFramePr>
            <a:graphicFrameLocks noChangeAspect="1"/>
          </p:cNvGraphicFramePr>
          <p:nvPr>
            <p:extLst>
              <p:ext uri="{D42A27DB-BD31-4B8C-83A1-F6EECF244321}">
                <p14:modId xmlns:p14="http://schemas.microsoft.com/office/powerpoint/2010/main" val="1555239848"/>
              </p:ext>
            </p:extLst>
          </p:nvPr>
        </p:nvGraphicFramePr>
        <p:xfrm>
          <a:off x="696118" y="4563830"/>
          <a:ext cx="2057400" cy="798513"/>
        </p:xfrm>
        <a:graphic>
          <a:graphicData uri="http://schemas.openxmlformats.org/presentationml/2006/ole">
            <mc:AlternateContent xmlns:mc="http://schemas.openxmlformats.org/markup-compatibility/2006">
              <mc:Choice xmlns:v="urn:schemas-microsoft-com:vml" Requires="v">
                <p:oleObj r:id="rId3" imgW="1155199" imgH="444307" progId="Equation.3">
                  <p:embed/>
                </p:oleObj>
              </mc:Choice>
              <mc:Fallback>
                <p:oleObj r:id="rId3" imgW="1155199" imgH="444307" progId="Equation.3">
                  <p:embed/>
                  <p:pic>
                    <p:nvPicPr>
                      <p:cNvPr id="6"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118" y="4563830"/>
                        <a:ext cx="2057400"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6"/>
          <p:cNvGraphicFramePr>
            <a:graphicFrameLocks noChangeAspect="1"/>
          </p:cNvGraphicFramePr>
          <p:nvPr>
            <p:extLst>
              <p:ext uri="{D42A27DB-BD31-4B8C-83A1-F6EECF244321}">
                <p14:modId xmlns:p14="http://schemas.microsoft.com/office/powerpoint/2010/main" val="2489151326"/>
              </p:ext>
            </p:extLst>
          </p:nvPr>
        </p:nvGraphicFramePr>
        <p:xfrm>
          <a:off x="3515518" y="4487630"/>
          <a:ext cx="2133600" cy="815975"/>
        </p:xfrm>
        <a:graphic>
          <a:graphicData uri="http://schemas.openxmlformats.org/presentationml/2006/ole">
            <mc:AlternateContent xmlns:mc="http://schemas.openxmlformats.org/markup-compatibility/2006">
              <mc:Choice xmlns:v="urn:schemas-microsoft-com:vml" Requires="v">
                <p:oleObj r:id="rId5" imgW="1167893" imgH="444307" progId="Equation.3">
                  <p:embed/>
                </p:oleObj>
              </mc:Choice>
              <mc:Fallback>
                <p:oleObj r:id="rId5" imgW="1167893" imgH="444307" progId="Equation.3">
                  <p:embed/>
                  <p:pic>
                    <p:nvPicPr>
                      <p:cNvPr id="7"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5518" y="4487630"/>
                        <a:ext cx="2133600"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8"/>
          <p:cNvGraphicFramePr>
            <a:graphicFrameLocks noChangeAspect="1"/>
          </p:cNvGraphicFramePr>
          <p:nvPr>
            <p:extLst>
              <p:ext uri="{D42A27DB-BD31-4B8C-83A1-F6EECF244321}">
                <p14:modId xmlns:p14="http://schemas.microsoft.com/office/powerpoint/2010/main" val="2104931231"/>
              </p:ext>
            </p:extLst>
          </p:nvPr>
        </p:nvGraphicFramePr>
        <p:xfrm>
          <a:off x="696118" y="5518488"/>
          <a:ext cx="7935913" cy="1198563"/>
        </p:xfrm>
        <a:graphic>
          <a:graphicData uri="http://schemas.openxmlformats.org/presentationml/2006/ole">
            <mc:AlternateContent xmlns:mc="http://schemas.openxmlformats.org/markup-compatibility/2006">
              <mc:Choice xmlns:v="urn:schemas-microsoft-com:vml" Requires="v">
                <p:oleObj name="Equation" r:id="rId7" imgW="4431960" imgH="672840" progId="Equation.DSMT4">
                  <p:embed/>
                </p:oleObj>
              </mc:Choice>
              <mc:Fallback>
                <p:oleObj name="Equation" r:id="rId7" imgW="4431960" imgH="672840" progId="Equation.DSMT4">
                  <p:embed/>
                  <p:pic>
                    <p:nvPicPr>
                      <p:cNvPr id="8" name="Object 48"/>
                      <p:cNvPicPr>
                        <a:picLocks noChangeAspect="1" noChangeArrowheads="1"/>
                      </p:cNvPicPr>
                      <p:nvPr/>
                    </p:nvPicPr>
                    <p:blipFill>
                      <a:blip r:embed="rId8"/>
                      <a:srcRect/>
                      <a:stretch>
                        <a:fillRect/>
                      </a:stretch>
                    </p:blipFill>
                    <p:spPr bwMode="auto">
                      <a:xfrm>
                        <a:off x="696118" y="5518488"/>
                        <a:ext cx="7935913" cy="1198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圆角矩形 43">
            <a:extLst>
              <a:ext uri="{FF2B5EF4-FFF2-40B4-BE49-F238E27FC236}">
                <a16:creationId xmlns:a16="http://schemas.microsoft.com/office/drawing/2014/main" id="{8B30FE96-D577-4202-91FA-2C40341EDEA5}"/>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12" name="矩形 45">
            <a:extLst>
              <a:ext uri="{FF2B5EF4-FFF2-40B4-BE49-F238E27FC236}">
                <a16:creationId xmlns:a16="http://schemas.microsoft.com/office/drawing/2014/main" id="{371501EE-E522-496F-B590-2D171CBDB5E8}"/>
              </a:ext>
            </a:extLst>
          </p:cNvPr>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13" name="Rectangle 3">
            <a:extLst>
              <a:ext uri="{FF2B5EF4-FFF2-40B4-BE49-F238E27FC236}">
                <a16:creationId xmlns:a16="http://schemas.microsoft.com/office/drawing/2014/main" id="{D5D62C92-68A2-4C01-A7F2-3F234F37393E}"/>
              </a:ext>
            </a:extLst>
          </p:cNvPr>
          <p:cNvSpPr txBox="1">
            <a:spLocks noRot="1" noChangeArrowheads="1"/>
          </p:cNvSpPr>
          <p:nvPr/>
        </p:nvSpPr>
        <p:spPr>
          <a:xfrm>
            <a:off x="185083" y="974775"/>
            <a:ext cx="1444171" cy="50814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a:t>
            </a:r>
            <a:r>
              <a:rPr lang="zh-CN" altLang="en-US" sz="2400" b="1" u="sng">
                <a:solidFill>
                  <a:srgbClr val="FF0000"/>
                </a:solidFill>
                <a:latin typeface="宋体" panose="02010600030101010101" pitchFamily="2" charset="-122"/>
                <a:ea typeface="宋体" panose="02010600030101010101" pitchFamily="2" charset="-122"/>
              </a:rPr>
              <a:t>电桥</a:t>
            </a:r>
            <a:endParaRPr lang="zh-CN" altLang="en-US" sz="2400" b="1"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7DB05770-6639-47CC-9BA5-84472752FE68}"/>
              </a:ext>
            </a:extLst>
          </p:cNvPr>
          <p:cNvSpPr>
            <a:spLocks noGrp="1"/>
          </p:cNvSpPr>
          <p:nvPr>
            <p:ph type="sldNum" sz="quarter" idx="12"/>
          </p:nvPr>
        </p:nvSpPr>
        <p:spPr/>
        <p:txBody>
          <a:bodyPr/>
          <a:lstStyle/>
          <a:p>
            <a:fld id="{B53602B4-F12B-41CD-B648-531F86B2CC91}" type="slidenum">
              <a:rPr lang="zh-CN" altLang="en-US" smtClean="0"/>
              <a:t>61</a:t>
            </a:fld>
            <a:endParaRPr lang="zh-CN" altLang="en-US"/>
          </a:p>
        </p:txBody>
      </p:sp>
    </p:spTree>
    <p:extLst>
      <p:ext uri="{BB962C8B-B14F-4D97-AF65-F5344CB8AC3E}">
        <p14:creationId xmlns:p14="http://schemas.microsoft.com/office/powerpoint/2010/main" val="14714154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
            <a:extLst>
              <a:ext uri="{FF2B5EF4-FFF2-40B4-BE49-F238E27FC236}">
                <a16:creationId xmlns:a16="http://schemas.microsoft.com/office/drawing/2014/main" id="{54D17C66-54F2-42FB-8064-1592DF8E1073}"/>
              </a:ext>
            </a:extLst>
          </p:cNvPr>
          <p:cNvPicPr>
            <a:picLocks/>
          </p:cNvPicPr>
          <p:nvPr/>
        </p:nvPicPr>
        <p:blipFill rotWithShape="1">
          <a:blip r:embed="rId2"/>
          <a:srcRect r="77963"/>
          <a:stretch/>
        </p:blipFill>
        <p:spPr>
          <a:xfrm>
            <a:off x="386879" y="1913243"/>
            <a:ext cx="1932667" cy="2177415"/>
          </a:xfrm>
          <a:prstGeom prst="rect">
            <a:avLst/>
          </a:prstGeom>
        </p:spPr>
      </p:pic>
      <p:sp>
        <p:nvSpPr>
          <p:cNvPr id="12" name="矩形 4">
            <a:extLst>
              <a:ext uri="{FF2B5EF4-FFF2-40B4-BE49-F238E27FC236}">
                <a16:creationId xmlns:a16="http://schemas.microsoft.com/office/drawing/2014/main" id="{CB159313-2A1D-473A-BD98-BA58EE6BAD7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 name="Text Box 7"/>
          <p:cNvSpPr txBox="1">
            <a:spLocks noChangeArrowheads="1"/>
          </p:cNvSpPr>
          <p:nvPr/>
        </p:nvSpPr>
        <p:spPr bwMode="auto">
          <a:xfrm>
            <a:off x="2632736" y="2017065"/>
            <a:ext cx="5638800" cy="984885"/>
          </a:xfrm>
          <a:prstGeom prst="rect">
            <a:avLst/>
          </a:prstGeom>
          <a:solidFill>
            <a:schemeClr val="accent2">
              <a:lumMod val="60000"/>
              <a:lumOff val="40000"/>
            </a:schemeClr>
          </a:solidFill>
          <a:ln>
            <a:noFill/>
          </a:ln>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1200"/>
              </a:spcBef>
            </a:pPr>
            <a:r>
              <a:rPr lang="zh-CN" altLang="en-US" b="1" dirty="0"/>
              <a:t>平衡条件</a:t>
            </a:r>
            <a:r>
              <a:rPr lang="zh-CN" altLang="en-US" dirty="0"/>
              <a:t>：</a:t>
            </a:r>
            <a:r>
              <a:rPr lang="en-US" altLang="zh-CN" i="1" dirty="0"/>
              <a:t>U</a:t>
            </a:r>
            <a:r>
              <a:rPr lang="en-US" altLang="zh-CN" i="1" baseline="-25000" dirty="0"/>
              <a:t>L</a:t>
            </a:r>
            <a:r>
              <a:rPr lang="en-US" altLang="zh-CN" dirty="0"/>
              <a:t>=0</a:t>
            </a:r>
            <a:r>
              <a:rPr lang="zh-CN" altLang="en-US"/>
              <a:t>，</a:t>
            </a:r>
            <a:r>
              <a:rPr lang="zh-CN" altLang="en-US" b="1"/>
              <a:t>即  </a:t>
            </a:r>
            <a:r>
              <a:rPr lang="en-US" altLang="zh-CN" i="1"/>
              <a:t>R</a:t>
            </a:r>
            <a:r>
              <a:rPr lang="en-US" altLang="zh-CN" baseline="-25000"/>
              <a:t>1</a:t>
            </a:r>
            <a:r>
              <a:rPr lang="en-US" altLang="zh-CN" i="1"/>
              <a:t>R</a:t>
            </a:r>
            <a:r>
              <a:rPr lang="en-US" altLang="zh-CN" baseline="-25000"/>
              <a:t>4</a:t>
            </a:r>
            <a:r>
              <a:rPr lang="en-US" altLang="zh-CN" dirty="0"/>
              <a:t>=</a:t>
            </a:r>
            <a:r>
              <a:rPr lang="en-US" altLang="zh-CN" i="1" dirty="0"/>
              <a:t>R</a:t>
            </a:r>
            <a:r>
              <a:rPr lang="en-US" altLang="zh-CN" baseline="-25000" dirty="0"/>
              <a:t>2</a:t>
            </a:r>
            <a:r>
              <a:rPr lang="en-US" altLang="zh-CN" i="1" dirty="0"/>
              <a:t>R</a:t>
            </a:r>
            <a:r>
              <a:rPr lang="en-US" altLang="zh-CN" baseline="-25000" dirty="0"/>
              <a:t>3</a:t>
            </a:r>
          </a:p>
          <a:p>
            <a:pPr eaLnBrk="1" hangingPunct="1">
              <a:spcBef>
                <a:spcPts val="1200"/>
              </a:spcBef>
            </a:pPr>
            <a:r>
              <a:rPr lang="en-US" altLang="zh-CN"/>
              <a:t>                                 </a:t>
            </a:r>
            <a:r>
              <a:rPr lang="zh-CN" altLang="en-US" b="1"/>
              <a:t>或 </a:t>
            </a:r>
            <a:r>
              <a:rPr lang="en-US" altLang="zh-CN" i="1"/>
              <a:t>R</a:t>
            </a:r>
            <a:r>
              <a:rPr lang="en-US" altLang="zh-CN" baseline="-25000"/>
              <a:t>2</a:t>
            </a:r>
            <a:r>
              <a:rPr lang="en-US" altLang="zh-CN" dirty="0"/>
              <a:t>/</a:t>
            </a:r>
            <a:r>
              <a:rPr lang="en-US" altLang="zh-CN" i="1" dirty="0"/>
              <a:t>R</a:t>
            </a:r>
            <a:r>
              <a:rPr lang="en-US" altLang="zh-CN" baseline="-25000" dirty="0"/>
              <a:t>1</a:t>
            </a:r>
            <a:r>
              <a:rPr lang="en-US" altLang="zh-CN" dirty="0"/>
              <a:t>=</a:t>
            </a:r>
            <a:r>
              <a:rPr lang="en-US" altLang="zh-CN" i="1" dirty="0"/>
              <a:t>R</a:t>
            </a:r>
            <a:r>
              <a:rPr lang="en-US" altLang="zh-CN" baseline="-25000" dirty="0"/>
              <a:t>4</a:t>
            </a:r>
            <a:r>
              <a:rPr lang="en-US" altLang="zh-CN" dirty="0"/>
              <a:t>/</a:t>
            </a:r>
            <a:r>
              <a:rPr lang="en-US" altLang="zh-CN" i="1" dirty="0"/>
              <a:t>R</a:t>
            </a:r>
            <a:r>
              <a:rPr lang="en-US" altLang="zh-CN" baseline="-25000" dirty="0"/>
              <a:t>3</a:t>
            </a:r>
            <a:r>
              <a:rPr lang="en-US" altLang="zh-CN" dirty="0"/>
              <a:t>=</a:t>
            </a:r>
            <a:r>
              <a:rPr lang="en-US" altLang="zh-CN" i="1" dirty="0"/>
              <a:t>n</a:t>
            </a:r>
            <a:r>
              <a:rPr lang="en-US" altLang="zh-CN" dirty="0"/>
              <a:t>        </a:t>
            </a:r>
          </a:p>
        </p:txBody>
      </p:sp>
      <p:sp>
        <p:nvSpPr>
          <p:cNvPr id="5" name="Text Box 8"/>
          <p:cNvSpPr txBox="1">
            <a:spLocks noChangeArrowheads="1"/>
          </p:cNvSpPr>
          <p:nvPr/>
        </p:nvSpPr>
        <p:spPr bwMode="auto">
          <a:xfrm>
            <a:off x="2571985" y="3296252"/>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C00000"/>
                </a:solidFill>
              </a:rPr>
              <a:t>单臂电桥    </a:t>
            </a:r>
            <a:r>
              <a:rPr lang="en-US" altLang="zh-CN" b="1" i="1" dirty="0"/>
              <a:t>R</a:t>
            </a:r>
            <a:r>
              <a:rPr lang="en-US" altLang="zh-CN" b="1" baseline="-25000" dirty="0"/>
              <a:t>1</a:t>
            </a:r>
            <a:r>
              <a:rPr lang="en-US" altLang="zh-CN" b="1" dirty="0"/>
              <a:t>→ </a:t>
            </a:r>
            <a:r>
              <a:rPr lang="en-US" altLang="zh-CN" b="1" i="1" dirty="0"/>
              <a:t>R</a:t>
            </a:r>
            <a:r>
              <a:rPr lang="en-US" altLang="zh-CN" b="1" baseline="-25000" dirty="0"/>
              <a:t>1</a:t>
            </a:r>
            <a:r>
              <a:rPr lang="en-US" altLang="zh-CN" b="1" dirty="0"/>
              <a:t> +</a:t>
            </a:r>
            <a:r>
              <a:rPr lang="en-US" altLang="zh-CN" sz="2000" b="1" dirty="0"/>
              <a:t>△ </a:t>
            </a:r>
            <a:r>
              <a:rPr lang="en-US" altLang="zh-CN" b="1" i="1" dirty="0"/>
              <a:t>R</a:t>
            </a:r>
            <a:r>
              <a:rPr lang="en-US" altLang="zh-CN" b="1" baseline="-25000" dirty="0"/>
              <a:t>1</a:t>
            </a:r>
          </a:p>
        </p:txBody>
      </p:sp>
      <p:graphicFrame>
        <p:nvGraphicFramePr>
          <p:cNvPr id="6" name="Object 9"/>
          <p:cNvGraphicFramePr>
            <a:graphicFrameLocks noChangeAspect="1"/>
          </p:cNvGraphicFramePr>
          <p:nvPr>
            <p:extLst>
              <p:ext uri="{D42A27DB-BD31-4B8C-83A1-F6EECF244321}">
                <p14:modId xmlns:p14="http://schemas.microsoft.com/office/powerpoint/2010/main" val="1818812905"/>
              </p:ext>
            </p:extLst>
          </p:nvPr>
        </p:nvGraphicFramePr>
        <p:xfrm>
          <a:off x="2632736" y="3929639"/>
          <a:ext cx="5638800" cy="2555875"/>
        </p:xfrm>
        <a:graphic>
          <a:graphicData uri="http://schemas.openxmlformats.org/presentationml/2006/ole">
            <mc:AlternateContent xmlns:mc="http://schemas.openxmlformats.org/markup-compatibility/2006">
              <mc:Choice xmlns:v="urn:schemas-microsoft-com:vml" Requires="v">
                <p:oleObj r:id="rId3" imgW="2959100" imgH="1346200" progId="Equation.3">
                  <p:embed/>
                </p:oleObj>
              </mc:Choice>
              <mc:Fallback>
                <p:oleObj r:id="rId3" imgW="2959100" imgH="1346200" progId="Equation.3">
                  <p:embed/>
                  <p:pic>
                    <p:nvPicPr>
                      <p:cNvPr id="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736" y="3929639"/>
                        <a:ext cx="5638800" cy="2555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11"/>
          <p:cNvSpPr txBox="1">
            <a:spLocks noChangeArrowheads="1"/>
          </p:cNvSpPr>
          <p:nvPr/>
        </p:nvSpPr>
        <p:spPr bwMode="auto">
          <a:xfrm>
            <a:off x="6957135" y="4090658"/>
            <a:ext cx="2160000" cy="461665"/>
          </a:xfrm>
          <a:prstGeom prst="rect">
            <a:avLst/>
          </a:prstGeom>
          <a:solidFill>
            <a:schemeClr val="accent2">
              <a:lumMod val="60000"/>
              <a:lumOff val="40000"/>
            </a:schemeClr>
          </a:solidFill>
          <a:ln>
            <a:noFill/>
          </a:ln>
        </p:spPr>
        <p:txBody>
          <a:bodyPr wrap="square" lIns="0" r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dirty="0"/>
              <a:t>上下同除以</a:t>
            </a:r>
            <a:r>
              <a:rPr lang="en-US" altLang="zh-CN" b="1" i="1" dirty="0"/>
              <a:t>R</a:t>
            </a:r>
            <a:r>
              <a:rPr lang="en-US" altLang="zh-CN" b="1" baseline="-25000" dirty="0"/>
              <a:t>1</a:t>
            </a:r>
            <a:r>
              <a:rPr lang="en-US" altLang="zh-CN" b="1" i="1" dirty="0"/>
              <a:t>R</a:t>
            </a:r>
            <a:r>
              <a:rPr lang="en-US" altLang="zh-CN" b="1" baseline="-25000" dirty="0"/>
              <a:t>3</a:t>
            </a:r>
          </a:p>
        </p:txBody>
      </p:sp>
      <p:sp>
        <p:nvSpPr>
          <p:cNvPr id="18" name="Rectangle 3">
            <a:extLst>
              <a:ext uri="{FF2B5EF4-FFF2-40B4-BE49-F238E27FC236}">
                <a16:creationId xmlns:a16="http://schemas.microsoft.com/office/drawing/2014/main" id="{9627E6DE-5239-404F-8E4D-6DAAA4328092}"/>
              </a:ext>
            </a:extLst>
          </p:cNvPr>
          <p:cNvSpPr txBox="1">
            <a:spLocks noRot="1" noChangeArrowheads="1"/>
          </p:cNvSpPr>
          <p:nvPr/>
        </p:nvSpPr>
        <p:spPr>
          <a:xfrm>
            <a:off x="185083" y="974775"/>
            <a:ext cx="1444171" cy="50814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a:t>
            </a:r>
            <a:r>
              <a:rPr lang="zh-CN" altLang="en-US" sz="2400" b="1" u="sng">
                <a:solidFill>
                  <a:srgbClr val="FF0000"/>
                </a:solidFill>
                <a:latin typeface="宋体" panose="02010600030101010101" pitchFamily="2" charset="-122"/>
                <a:ea typeface="宋体" panose="02010600030101010101" pitchFamily="2" charset="-122"/>
              </a:rPr>
              <a:t>电桥</a:t>
            </a:r>
            <a:endParaRPr lang="zh-CN" altLang="en-US" sz="2400" b="1" dirty="0">
              <a:latin typeface="宋体" panose="02010600030101010101" pitchFamily="2" charset="-122"/>
              <a:ea typeface="宋体" panose="02010600030101010101" pitchFamily="2" charset="-122"/>
            </a:endParaRPr>
          </a:p>
        </p:txBody>
      </p:sp>
      <p:sp>
        <p:nvSpPr>
          <p:cNvPr id="20" name="圆角矩形 43">
            <a:extLst>
              <a:ext uri="{FF2B5EF4-FFF2-40B4-BE49-F238E27FC236}">
                <a16:creationId xmlns:a16="http://schemas.microsoft.com/office/drawing/2014/main" id="{EDC4AC2B-355D-4895-A97B-1E87744E348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21" name="矩形 45">
            <a:extLst>
              <a:ext uri="{FF2B5EF4-FFF2-40B4-BE49-F238E27FC236}">
                <a16:creationId xmlns:a16="http://schemas.microsoft.com/office/drawing/2014/main" id="{B27749DF-AD7A-4AB5-8D0A-EACE257B1C10}"/>
              </a:ext>
            </a:extLst>
          </p:cNvPr>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pic>
        <p:nvPicPr>
          <p:cNvPr id="22" name="Picture 21">
            <a:extLst>
              <a:ext uri="{FF2B5EF4-FFF2-40B4-BE49-F238E27FC236}">
                <a16:creationId xmlns:a16="http://schemas.microsoft.com/office/drawing/2014/main" id="{E51B1DB3-7D9C-4535-84C3-B872A8535859}"/>
              </a:ext>
            </a:extLst>
          </p:cNvPr>
          <p:cNvPicPr>
            <a:picLocks noChangeAspect="1"/>
          </p:cNvPicPr>
          <p:nvPr/>
        </p:nvPicPr>
        <p:blipFill>
          <a:blip r:embed="rId5"/>
          <a:stretch>
            <a:fillRect/>
          </a:stretch>
        </p:blipFill>
        <p:spPr>
          <a:xfrm>
            <a:off x="1797219" y="1162671"/>
            <a:ext cx="7161698" cy="1083606"/>
          </a:xfrm>
          <a:prstGeom prst="rect">
            <a:avLst/>
          </a:prstGeom>
        </p:spPr>
      </p:pic>
      <p:sp>
        <p:nvSpPr>
          <p:cNvPr id="2" name="Slide Number Placeholder 1">
            <a:extLst>
              <a:ext uri="{FF2B5EF4-FFF2-40B4-BE49-F238E27FC236}">
                <a16:creationId xmlns:a16="http://schemas.microsoft.com/office/drawing/2014/main" id="{7C7250F5-D190-4DB1-AE39-F64EB5C0FEF4}"/>
              </a:ext>
            </a:extLst>
          </p:cNvPr>
          <p:cNvSpPr>
            <a:spLocks noGrp="1"/>
          </p:cNvSpPr>
          <p:nvPr>
            <p:ph type="sldNum" sz="quarter" idx="12"/>
          </p:nvPr>
        </p:nvSpPr>
        <p:spPr/>
        <p:txBody>
          <a:bodyPr/>
          <a:lstStyle/>
          <a:p>
            <a:fld id="{B53602B4-F12B-41CD-B648-531F86B2CC91}" type="slidenum">
              <a:rPr lang="zh-CN" altLang="en-US" smtClean="0"/>
              <a:t>62</a:t>
            </a:fld>
            <a:endParaRPr lang="zh-CN" altLang="en-US"/>
          </a:p>
        </p:txBody>
      </p:sp>
      <p:pic>
        <p:nvPicPr>
          <p:cNvPr id="17" name="图片 1">
            <a:extLst>
              <a:ext uri="{FF2B5EF4-FFF2-40B4-BE49-F238E27FC236}">
                <a16:creationId xmlns:a16="http://schemas.microsoft.com/office/drawing/2014/main" id="{CF0875A4-B66B-47B2-980D-DA86D3598D02}"/>
              </a:ext>
            </a:extLst>
          </p:cNvPr>
          <p:cNvPicPr>
            <a:picLocks/>
          </p:cNvPicPr>
          <p:nvPr/>
        </p:nvPicPr>
        <p:blipFill rotWithShape="1">
          <a:blip r:embed="rId2"/>
          <a:srcRect l="22126" r="52745"/>
          <a:stretch/>
        </p:blipFill>
        <p:spPr>
          <a:xfrm>
            <a:off x="185085" y="4426516"/>
            <a:ext cx="2203838" cy="2177415"/>
          </a:xfrm>
          <a:prstGeom prst="rect">
            <a:avLst/>
          </a:prstGeom>
        </p:spPr>
      </p:pic>
    </p:spTree>
    <p:extLst>
      <p:ext uri="{BB962C8B-B14F-4D97-AF65-F5344CB8AC3E}">
        <p14:creationId xmlns:p14="http://schemas.microsoft.com/office/powerpoint/2010/main" val="7013341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5D789721-E07D-4449-ACCB-9CCCCE1FEA0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3095499201"/>
              </p:ext>
            </p:extLst>
          </p:nvPr>
        </p:nvGraphicFramePr>
        <p:xfrm>
          <a:off x="3176709" y="1176776"/>
          <a:ext cx="4025836" cy="1658077"/>
        </p:xfrm>
        <a:graphic>
          <a:graphicData uri="http://schemas.openxmlformats.org/presentationml/2006/ole">
            <mc:AlternateContent xmlns:mc="http://schemas.openxmlformats.org/markup-compatibility/2006">
              <mc:Choice xmlns:v="urn:schemas-microsoft-com:vml" Requires="v">
                <p:oleObj r:id="rId2" imgW="2108200" imgH="863600" progId="Equation.3">
                  <p:embed/>
                </p:oleObj>
              </mc:Choice>
              <mc:Fallback>
                <p:oleObj r:id="rId2" imgW="2108200" imgH="863600" progId="Equation.3">
                  <p:embed/>
                  <p:pic>
                    <p:nvPicPr>
                      <p:cNvPr id="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709" y="1176776"/>
                        <a:ext cx="4025836" cy="1658077"/>
                      </a:xfrm>
                      <a:prstGeom prst="rect">
                        <a:avLst/>
                      </a:prstGeom>
                      <a:noFill/>
                    </p:spPr>
                  </p:pic>
                </p:oleObj>
              </mc:Fallback>
            </mc:AlternateContent>
          </a:graphicData>
        </a:graphic>
      </p:graphicFrame>
      <p:sp>
        <p:nvSpPr>
          <p:cNvPr id="5" name="Text Box 6"/>
          <p:cNvSpPr txBox="1">
            <a:spLocks noChangeArrowheads="1"/>
          </p:cNvSpPr>
          <p:nvPr/>
        </p:nvSpPr>
        <p:spPr bwMode="auto">
          <a:xfrm>
            <a:off x="3252909" y="3096388"/>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当</a:t>
            </a:r>
            <a:r>
              <a:rPr lang="zh-CN" altLang="en-US" sz="2000" b="1" dirty="0"/>
              <a:t>△ </a:t>
            </a:r>
            <a:r>
              <a:rPr lang="en-US" altLang="zh-CN" b="1" i="1" dirty="0"/>
              <a:t>R</a:t>
            </a:r>
            <a:r>
              <a:rPr lang="en-US" altLang="zh-CN" b="1" baseline="-25000" dirty="0"/>
              <a:t>1</a:t>
            </a:r>
            <a:r>
              <a:rPr lang="en-US" altLang="zh-CN" b="1" dirty="0"/>
              <a:t>/ </a:t>
            </a:r>
            <a:r>
              <a:rPr lang="en-US" altLang="zh-CN" b="1" i="1" dirty="0"/>
              <a:t>R</a:t>
            </a:r>
            <a:r>
              <a:rPr lang="en-US" altLang="zh-CN" b="1" baseline="-25000" dirty="0"/>
              <a:t>1 </a:t>
            </a:r>
            <a:r>
              <a:rPr lang="en-US" altLang="zh-CN" b="1" dirty="0"/>
              <a:t>→0</a:t>
            </a:r>
            <a:r>
              <a:rPr lang="zh-CN" altLang="en-US" b="1" dirty="0"/>
              <a:t>，忽略分母中后项</a:t>
            </a:r>
          </a:p>
        </p:txBody>
      </p:sp>
      <p:graphicFrame>
        <p:nvGraphicFramePr>
          <p:cNvPr id="6" name="Object 7"/>
          <p:cNvGraphicFramePr>
            <a:graphicFrameLocks noChangeAspect="1"/>
          </p:cNvGraphicFramePr>
          <p:nvPr>
            <p:extLst>
              <p:ext uri="{D42A27DB-BD31-4B8C-83A1-F6EECF244321}">
                <p14:modId xmlns:p14="http://schemas.microsoft.com/office/powerpoint/2010/main" val="67142143"/>
              </p:ext>
            </p:extLst>
          </p:nvPr>
        </p:nvGraphicFramePr>
        <p:xfrm>
          <a:off x="3338499" y="3661525"/>
          <a:ext cx="2971648" cy="895393"/>
        </p:xfrm>
        <a:graphic>
          <a:graphicData uri="http://schemas.openxmlformats.org/presentationml/2006/ole">
            <mc:AlternateContent xmlns:mc="http://schemas.openxmlformats.org/markup-compatibility/2006">
              <mc:Choice xmlns:v="urn:schemas-microsoft-com:vml" Requires="v">
                <p:oleObj r:id="rId4" imgW="1485255" imgH="444307" progId="Equation.3">
                  <p:embed/>
                </p:oleObj>
              </mc:Choice>
              <mc:Fallback>
                <p:oleObj r:id="rId4" imgW="1485255" imgH="444307" progId="Equation.3">
                  <p:embed/>
                  <p:pic>
                    <p:nvPicPr>
                      <p:cNvPr id="6"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8499" y="3661525"/>
                        <a:ext cx="2971648" cy="895393"/>
                      </a:xfrm>
                      <a:prstGeom prst="rect">
                        <a:avLst/>
                      </a:prstGeom>
                      <a:noFill/>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3568294899"/>
              </p:ext>
            </p:extLst>
          </p:nvPr>
        </p:nvGraphicFramePr>
        <p:xfrm>
          <a:off x="3338499" y="4760833"/>
          <a:ext cx="3081710" cy="882781"/>
        </p:xfrm>
        <a:graphic>
          <a:graphicData uri="http://schemas.openxmlformats.org/presentationml/2006/ole">
            <mc:AlternateContent xmlns:mc="http://schemas.openxmlformats.org/markup-compatibility/2006">
              <mc:Choice xmlns:v="urn:schemas-microsoft-com:vml" Requires="v">
                <p:oleObj r:id="rId6" imgW="1562100" imgH="444500" progId="Equation.3">
                  <p:embed/>
                </p:oleObj>
              </mc:Choice>
              <mc:Fallback>
                <p:oleObj r:id="rId6" imgW="1562100" imgH="444500" progId="Equation.3">
                  <p:embed/>
                  <p:pic>
                    <p:nvPicPr>
                      <p:cNvPr id="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8499" y="4760833"/>
                        <a:ext cx="3081710" cy="882781"/>
                      </a:xfrm>
                      <a:prstGeom prst="rect">
                        <a:avLst/>
                      </a:prstGeom>
                      <a:noFill/>
                    </p:spPr>
                  </p:pic>
                </p:oleObj>
              </mc:Fallback>
            </mc:AlternateContent>
          </a:graphicData>
        </a:graphic>
      </p:graphicFrame>
      <p:sp>
        <p:nvSpPr>
          <p:cNvPr id="8" name="Text Box 11"/>
          <p:cNvSpPr txBox="1">
            <a:spLocks noChangeArrowheads="1"/>
          </p:cNvSpPr>
          <p:nvPr/>
        </p:nvSpPr>
        <p:spPr bwMode="auto">
          <a:xfrm>
            <a:off x="3176709" y="5764163"/>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当</a:t>
            </a:r>
            <a:r>
              <a:rPr lang="en-US" altLang="zh-CN" b="1" i="1"/>
              <a:t>n</a:t>
            </a:r>
            <a:r>
              <a:rPr lang="en-US" altLang="zh-CN" b="1"/>
              <a:t>=1</a:t>
            </a:r>
            <a:r>
              <a:rPr lang="zh-CN" altLang="en-US" b="1"/>
              <a:t>时，</a:t>
            </a:r>
            <a:r>
              <a:rPr lang="en-US" altLang="zh-CN" b="1" i="1"/>
              <a:t>k</a:t>
            </a:r>
            <a:r>
              <a:rPr lang="zh-CN" altLang="en-US" b="1"/>
              <a:t>取得最大值，</a:t>
            </a:r>
            <a:r>
              <a:rPr lang="en-US" altLang="zh-CN" b="1" i="1"/>
              <a:t>k</a:t>
            </a:r>
            <a:r>
              <a:rPr lang="en-US" altLang="zh-CN" b="1"/>
              <a:t>=</a:t>
            </a:r>
            <a:r>
              <a:rPr lang="en-US" altLang="zh-CN" b="1" i="1"/>
              <a:t>U</a:t>
            </a:r>
            <a:r>
              <a:rPr lang="en-US" altLang="zh-CN" b="1"/>
              <a:t>/4</a:t>
            </a:r>
          </a:p>
        </p:txBody>
      </p:sp>
      <p:sp>
        <p:nvSpPr>
          <p:cNvPr id="10" name="圆角矩形 43">
            <a:extLst>
              <a:ext uri="{FF2B5EF4-FFF2-40B4-BE49-F238E27FC236}">
                <a16:creationId xmlns:a16="http://schemas.microsoft.com/office/drawing/2014/main" id="{77870025-49B1-425D-958F-62AFC60B28D9}"/>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11" name="矩形 45">
            <a:extLst>
              <a:ext uri="{FF2B5EF4-FFF2-40B4-BE49-F238E27FC236}">
                <a16:creationId xmlns:a16="http://schemas.microsoft.com/office/drawing/2014/main" id="{755B71EF-D4C2-490D-9883-0A1415AA42BF}"/>
              </a:ext>
            </a:extLst>
          </p:cNvPr>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12" name="Rectangle 3">
            <a:extLst>
              <a:ext uri="{FF2B5EF4-FFF2-40B4-BE49-F238E27FC236}">
                <a16:creationId xmlns:a16="http://schemas.microsoft.com/office/drawing/2014/main" id="{64731239-D900-4A65-AEDC-3B941FF8C28D}"/>
              </a:ext>
            </a:extLst>
          </p:cNvPr>
          <p:cNvSpPr txBox="1">
            <a:spLocks noRot="1" noChangeArrowheads="1"/>
          </p:cNvSpPr>
          <p:nvPr/>
        </p:nvSpPr>
        <p:spPr>
          <a:xfrm>
            <a:off x="185083" y="974775"/>
            <a:ext cx="1444171" cy="50814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a:t>
            </a:r>
            <a:r>
              <a:rPr lang="zh-CN" altLang="en-US" sz="2400" b="1" u="sng">
                <a:solidFill>
                  <a:srgbClr val="FF0000"/>
                </a:solidFill>
                <a:latin typeface="宋体" panose="02010600030101010101" pitchFamily="2" charset="-122"/>
                <a:ea typeface="宋体" panose="02010600030101010101" pitchFamily="2" charset="-122"/>
              </a:rPr>
              <a:t>电桥</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BF792D-EDCE-49F0-A41B-060EEAB47BD5}"/>
              </a:ext>
            </a:extLst>
          </p:cNvPr>
          <p:cNvSpPr>
            <a:spLocks noGrp="1"/>
          </p:cNvSpPr>
          <p:nvPr>
            <p:ph type="sldNum" sz="quarter" idx="12"/>
          </p:nvPr>
        </p:nvSpPr>
        <p:spPr/>
        <p:txBody>
          <a:bodyPr/>
          <a:lstStyle/>
          <a:p>
            <a:fld id="{B53602B4-F12B-41CD-B648-531F86B2CC91}" type="slidenum">
              <a:rPr lang="zh-CN" altLang="en-US" smtClean="0"/>
              <a:t>63</a:t>
            </a:fld>
            <a:endParaRPr lang="zh-CN" altLang="en-US"/>
          </a:p>
        </p:txBody>
      </p:sp>
      <p:pic>
        <p:nvPicPr>
          <p:cNvPr id="16" name="图片 1">
            <a:extLst>
              <a:ext uri="{FF2B5EF4-FFF2-40B4-BE49-F238E27FC236}">
                <a16:creationId xmlns:a16="http://schemas.microsoft.com/office/drawing/2014/main" id="{6650EF97-D062-4E15-A14E-D832A3538E62}"/>
              </a:ext>
            </a:extLst>
          </p:cNvPr>
          <p:cNvPicPr>
            <a:picLocks/>
          </p:cNvPicPr>
          <p:nvPr/>
        </p:nvPicPr>
        <p:blipFill rotWithShape="1">
          <a:blip r:embed="rId8"/>
          <a:srcRect l="22126" r="52745"/>
          <a:stretch/>
        </p:blipFill>
        <p:spPr>
          <a:xfrm>
            <a:off x="294500" y="1847439"/>
            <a:ext cx="2203838" cy="2177415"/>
          </a:xfrm>
          <a:prstGeom prst="rect">
            <a:avLst/>
          </a:prstGeom>
        </p:spPr>
      </p:pic>
    </p:spTree>
    <p:extLst>
      <p:ext uri="{BB962C8B-B14F-4D97-AF65-F5344CB8AC3E}">
        <p14:creationId xmlns:p14="http://schemas.microsoft.com/office/powerpoint/2010/main" val="7420899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2CD42CA5-1B48-4813-95C8-D6DFF23D680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 name="TextBox 7"/>
          <p:cNvSpPr txBox="1">
            <a:spLocks noChangeArrowheads="1"/>
          </p:cNvSpPr>
          <p:nvPr/>
        </p:nvSpPr>
        <p:spPr bwMode="auto">
          <a:xfrm>
            <a:off x="3129605" y="3639451"/>
            <a:ext cx="4824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C00000"/>
                </a:solidFill>
              </a:rPr>
              <a:t>电桥的非线性误差</a:t>
            </a:r>
          </a:p>
        </p:txBody>
      </p:sp>
      <p:sp>
        <p:nvSpPr>
          <p:cNvPr id="8" name="TextBox 12"/>
          <p:cNvSpPr txBox="1">
            <a:spLocks noChangeArrowheads="1"/>
          </p:cNvSpPr>
          <p:nvPr/>
        </p:nvSpPr>
        <p:spPr bwMode="auto">
          <a:xfrm>
            <a:off x="3447124" y="5415386"/>
            <a:ext cx="4824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002060"/>
                </a:solidFill>
              </a:rPr>
              <a:t>差分电</a:t>
            </a:r>
            <a:r>
              <a:rPr lang="zh-CN" altLang="en-US" b="1" dirty="0">
                <a:solidFill>
                  <a:srgbClr val="002060"/>
                </a:solidFill>
              </a:rPr>
              <a:t>桥可减小非线性误差</a:t>
            </a:r>
          </a:p>
        </p:txBody>
      </p:sp>
      <mc:AlternateContent xmlns:mc="http://schemas.openxmlformats.org/markup-compatibility/2006" xmlns:a14="http://schemas.microsoft.com/office/drawing/2010/main">
        <mc:Choice Requires="a14">
          <p:sp>
            <p:nvSpPr>
              <p:cNvPr id="9" name="矩形 8"/>
              <p:cNvSpPr/>
              <p:nvPr/>
            </p:nvSpPr>
            <p:spPr>
              <a:xfrm>
                <a:off x="1207343" y="4313609"/>
                <a:ext cx="4216534" cy="89793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zh-CN" altLang="en-US" i="1">
                          <a:latin typeface="Cambria Math" panose="02040503050406030204" pitchFamily="18" charset="0"/>
                        </a:rPr>
                        <m:t>𝛿</m:t>
                      </m:r>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𝑈</m:t>
                              </m:r>
                            </m:e>
                            <m:sub>
                              <m:r>
                                <a:rPr lang="zh-CN" altLang="en-US" i="1">
                                  <a:latin typeface="Cambria Math" panose="02040503050406030204" pitchFamily="18" charset="0"/>
                                </a:rPr>
                                <m:t>𝑜</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𝑜</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𝑜</m:t>
                              </m:r>
                            </m:sub>
                          </m:sSub>
                        </m:den>
                      </m:f>
                      <m:r>
                        <a:rPr lang="zh-CN" altLang="en-US" i="0">
                          <a:latin typeface="Cambria Math" panose="02040503050406030204" pitchFamily="18" charset="0"/>
                        </a:rPr>
                        <m:t>=</m:t>
                      </m:r>
                      <m:f>
                        <m:fPr>
                          <m:ctrlPr>
                            <a:rPr lang="zh-CN" altLang="en-US" i="1">
                              <a:latin typeface="Cambria Math" panose="02040503050406030204" pitchFamily="18" charset="0"/>
                            </a:rPr>
                          </m:ctrlPr>
                        </m:fPr>
                        <m:num>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𝑈</m:t>
                              </m:r>
                            </m:e>
                            <m:sub>
                              <m:r>
                                <a:rPr lang="zh-CN" altLang="en-US" i="1">
                                  <a:latin typeface="Cambria Math" panose="02040503050406030204" pitchFamily="18" charset="0"/>
                                </a:rPr>
                                <m:t>𝑜</m:t>
                              </m:r>
                            </m:sub>
                            <m:sup>
                              <m:r>
                                <a:rPr lang="zh-CN" altLang="en-US" i="0">
                                  <a:latin typeface="Cambria Math" panose="02040503050406030204" pitchFamily="18" charset="0"/>
                                </a:rPr>
                                <m:t>′</m:t>
                              </m:r>
                            </m:sup>
                          </m:sSubSup>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𝑜</m:t>
                              </m:r>
                            </m:sub>
                          </m:sSub>
                        </m:den>
                      </m:f>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den>
                      </m:f>
                      <m:r>
                        <a:rPr lang="zh-CN" altLang="en-US" i="0">
                          <a:latin typeface="Cambria Math" panose="02040503050406030204" pitchFamily="18" charset="0"/>
                        </a:rPr>
                        <m:t>−1</m:t>
                      </m:r>
                    </m:oMath>
                  </m:oMathPara>
                </a14:m>
                <a:endParaRPr lang="zh-CN" altLang="en-US" dirty="0">
                  <a:latin typeface="宋体" panose="02010600030101010101" pitchFamily="2" charset="-122"/>
                  <a:ea typeface="宋体" panose="0201060003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1207343" y="4313609"/>
                <a:ext cx="4216534" cy="897938"/>
              </a:xfrm>
              <a:prstGeom prst="rect">
                <a:avLst/>
              </a:prstGeom>
              <a:blipFill>
                <a:blip r:embed="rId2"/>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5298932" y="4278318"/>
                <a:ext cx="2918299" cy="6580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m:t>
                      </m:r>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2</m:t>
                          </m:r>
                        </m:den>
                      </m:f>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r>
                        <a:rPr lang="zh-CN" altLang="en-US" i="0">
                          <a:latin typeface="Cambria Math" panose="02040503050406030204" pitchFamily="18" charset="0"/>
                        </a:rPr>
                        <m:t>−1=−</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0">
                                  <a:latin typeface="Cambria Math" panose="02040503050406030204" pitchFamily="18" charset="0"/>
                                </a:rPr>
                                <m:t>2</m:t>
                              </m:r>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oMath>
                  </m:oMathPara>
                </a14:m>
                <a:endParaRPr lang="zh-CN" altLang="en-US" dirty="0">
                  <a:latin typeface="宋体" panose="02010600030101010101" pitchFamily="2" charset="-122"/>
                  <a:ea typeface="宋体" panose="02010600030101010101" pitchFamily="2"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5298932" y="4278318"/>
                <a:ext cx="2918299" cy="658065"/>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3129605" y="2426040"/>
                <a:ext cx="1740284" cy="6580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𝑈</m:t>
                          </m:r>
                        </m:e>
                        <m:sub>
                          <m:r>
                            <a:rPr lang="zh-CN" altLang="en-US" i="1">
                              <a:latin typeface="Cambria Math" panose="02040503050406030204" pitchFamily="18" charset="0"/>
                            </a:rPr>
                            <m:t>𝑜</m:t>
                          </m:r>
                        </m:sub>
                      </m:sSub>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0">
                              <a:latin typeface="Cambria Math" panose="02040503050406030204" pitchFamily="18" charset="0"/>
                            </a:rPr>
                            <m:t>4</m:t>
                          </m:r>
                        </m:den>
                      </m:f>
                      <m:r>
                        <a:rPr lang="zh-CN" altLang="en-US" i="1">
                          <a:latin typeface="Cambria Math" panose="02040503050406030204" pitchFamily="18" charset="0"/>
                        </a:rPr>
                        <m:t>𝑈</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oMath>
                  </m:oMathPara>
                </a14:m>
                <a:endParaRPr lang="zh-CN" altLang="en-US" dirty="0">
                  <a:latin typeface="宋体" panose="02010600030101010101" pitchFamily="2" charset="-122"/>
                  <a:ea typeface="宋体" panose="02010600030101010101" pitchFamily="2" charset="-122"/>
                </a:endParaRPr>
              </a:p>
            </p:txBody>
          </p:sp>
        </mc:Choice>
        <mc:Fallback xmlns="">
          <p:sp>
            <p:nvSpPr>
              <p:cNvPr id="11" name="矩形 10"/>
              <p:cNvSpPr>
                <a:spLocks noRot="1" noChangeAspect="1" noMove="1" noResize="1" noEditPoints="1" noAdjustHandles="1" noChangeArrowheads="1" noChangeShapeType="1" noTextEdit="1"/>
              </p:cNvSpPr>
              <p:nvPr/>
            </p:nvSpPr>
            <p:spPr>
              <a:xfrm>
                <a:off x="3129605" y="2426040"/>
                <a:ext cx="1740284" cy="658065"/>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094115" y="1178472"/>
                <a:ext cx="3679790" cy="11087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i="1" smtClean="0">
                              <a:latin typeface="Cambria Math" panose="02040503050406030204" pitchFamily="18" charset="0"/>
                            </a:rPr>
                          </m:ctrlPr>
                        </m:sSubSupPr>
                        <m:e>
                          <m:r>
                            <a:rPr lang="zh-CN" altLang="en-US" i="1">
                              <a:latin typeface="Cambria Math" panose="02040503050406030204" pitchFamily="18" charset="0"/>
                            </a:rPr>
                            <m:t>𝑈</m:t>
                          </m:r>
                        </m:e>
                        <m:sub>
                          <m:r>
                            <a:rPr lang="zh-CN" altLang="en-US" i="1">
                              <a:latin typeface="Cambria Math" panose="02040503050406030204" pitchFamily="18" charset="0"/>
                            </a:rPr>
                            <m:t>𝑜</m:t>
                          </m:r>
                        </m:sub>
                        <m:sup>
                          <m:r>
                            <a:rPr lang="zh-CN" altLang="en-US" i="0">
                              <a:latin typeface="Cambria Math" panose="02040503050406030204" pitchFamily="18" charset="0"/>
                            </a:rPr>
                            <m:t>′</m:t>
                          </m:r>
                        </m:sup>
                      </m:sSubSup>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num>
                        <m:den>
                          <m:r>
                            <a:rPr lang="zh-CN" altLang="en-US" i="0">
                              <a:latin typeface="Cambria Math" panose="02040503050406030204" pitchFamily="18" charset="0"/>
                            </a:rPr>
                            <m:t>1+</m:t>
                          </m:r>
                          <m:r>
                            <a:rPr lang="en-US" altLang="zh-CN" b="0" i="1" smtClean="0">
                              <a:latin typeface="Cambria Math" panose="02040503050406030204" pitchFamily="18" charset="0"/>
                            </a:rPr>
                            <m:t>2</m:t>
                          </m:r>
                          <m:r>
                            <a:rPr lang="zh-CN" altLang="en-US" i="1">
                              <a:latin typeface="Cambria Math" panose="02040503050406030204" pitchFamily="18" charset="0"/>
                            </a:rPr>
                            <m:t>𝑛</m:t>
                          </m:r>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𝑛</m:t>
                              </m:r>
                            </m:e>
                            <m:sup>
                              <m:r>
                                <a:rPr lang="zh-CN" altLang="en-US" i="0">
                                  <a:latin typeface="Cambria Math" panose="02040503050406030204" pitchFamily="18" charset="0"/>
                                </a:rPr>
                                <m:t>2</m:t>
                              </m:r>
                            </m:sup>
                          </m:sSup>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num>
                            <m:den>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den>
                          </m:f>
                          <m:d>
                            <m:dPr>
                              <m:ctrlPr>
                                <a:rPr lang="zh-CN" altLang="en-US" i="1">
                                  <a:latin typeface="Cambria Math" panose="02040503050406030204" pitchFamily="18" charset="0"/>
                                </a:rPr>
                              </m:ctrlPr>
                            </m:dPr>
                            <m:e>
                              <m:r>
                                <a:rPr lang="zh-CN" altLang="en-US" i="0">
                                  <a:latin typeface="Cambria Math" panose="02040503050406030204" pitchFamily="18" charset="0"/>
                                </a:rPr>
                                <m:t>1+</m:t>
                              </m:r>
                              <m:r>
                                <a:rPr lang="zh-CN" altLang="en-US" i="1">
                                  <a:latin typeface="Cambria Math" panose="02040503050406030204" pitchFamily="18" charset="0"/>
                                </a:rPr>
                                <m:t>𝑛</m:t>
                              </m:r>
                            </m:e>
                          </m:d>
                        </m:den>
                      </m:f>
                      <m:r>
                        <a:rPr lang="zh-CN" altLang="en-US" i="1">
                          <a:latin typeface="Cambria Math" panose="02040503050406030204" pitchFamily="18" charset="0"/>
                        </a:rPr>
                        <m:t>𝑈</m:t>
                      </m:r>
                    </m:oMath>
                  </m:oMathPara>
                </a14:m>
                <a:endParaRPr lang="zh-CN" altLang="en-US" dirty="0">
                  <a:latin typeface="宋体" panose="02010600030101010101" pitchFamily="2" charset="-122"/>
                  <a:ea typeface="宋体"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3094115" y="1178472"/>
                <a:ext cx="3679790" cy="1108701"/>
              </a:xfrm>
              <a:prstGeom prst="rect">
                <a:avLst/>
              </a:prstGeom>
              <a:blipFill>
                <a:blip r:embed="rId5"/>
                <a:stretch>
                  <a:fillRect/>
                </a:stretch>
              </a:blipFill>
            </p:spPr>
            <p:txBody>
              <a:bodyPr/>
              <a:lstStyle/>
              <a:p>
                <a:r>
                  <a:rPr lang="en-001">
                    <a:noFill/>
                  </a:rPr>
                  <a:t> </a:t>
                </a:r>
              </a:p>
            </p:txBody>
          </p:sp>
        </mc:Fallback>
      </mc:AlternateContent>
      <p:sp>
        <p:nvSpPr>
          <p:cNvPr id="15" name="圆角矩形 43">
            <a:extLst>
              <a:ext uri="{FF2B5EF4-FFF2-40B4-BE49-F238E27FC236}">
                <a16:creationId xmlns:a16="http://schemas.microsoft.com/office/drawing/2014/main" id="{F843006B-B5DE-4882-864B-F7FF8E2CAF3B}"/>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16" name="矩形 45">
            <a:extLst>
              <a:ext uri="{FF2B5EF4-FFF2-40B4-BE49-F238E27FC236}">
                <a16:creationId xmlns:a16="http://schemas.microsoft.com/office/drawing/2014/main" id="{0FBD2D07-162E-4BA8-824D-D79E389A80FB}"/>
              </a:ext>
            </a:extLst>
          </p:cNvPr>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17" name="Rectangle 3">
            <a:extLst>
              <a:ext uri="{FF2B5EF4-FFF2-40B4-BE49-F238E27FC236}">
                <a16:creationId xmlns:a16="http://schemas.microsoft.com/office/drawing/2014/main" id="{7E104048-AE0A-4AA6-A421-D67A7B444E4D}"/>
              </a:ext>
            </a:extLst>
          </p:cNvPr>
          <p:cNvSpPr txBox="1">
            <a:spLocks noRot="1" noChangeArrowheads="1"/>
          </p:cNvSpPr>
          <p:nvPr/>
        </p:nvSpPr>
        <p:spPr>
          <a:xfrm>
            <a:off x="185083" y="974775"/>
            <a:ext cx="1444171" cy="50814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a:t>
            </a:r>
            <a:r>
              <a:rPr lang="zh-CN" altLang="en-US" sz="2400" b="1" u="sng">
                <a:solidFill>
                  <a:srgbClr val="FF0000"/>
                </a:solidFill>
                <a:latin typeface="宋体" panose="02010600030101010101" pitchFamily="2" charset="-122"/>
                <a:ea typeface="宋体" panose="02010600030101010101" pitchFamily="2" charset="-122"/>
              </a:rPr>
              <a:t>电桥</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24A788D-2C6D-45B2-B4CD-34036180C70E}"/>
              </a:ext>
            </a:extLst>
          </p:cNvPr>
          <p:cNvSpPr>
            <a:spLocks noGrp="1"/>
          </p:cNvSpPr>
          <p:nvPr>
            <p:ph type="sldNum" sz="quarter" idx="12"/>
          </p:nvPr>
        </p:nvSpPr>
        <p:spPr/>
        <p:txBody>
          <a:bodyPr/>
          <a:lstStyle/>
          <a:p>
            <a:fld id="{B53602B4-F12B-41CD-B648-531F86B2CC91}" type="slidenum">
              <a:rPr lang="zh-CN" altLang="en-US" smtClean="0"/>
              <a:t>64</a:t>
            </a:fld>
            <a:endParaRPr lang="zh-CN" altLang="en-US"/>
          </a:p>
        </p:txBody>
      </p:sp>
      <p:pic>
        <p:nvPicPr>
          <p:cNvPr id="19" name="图片 1">
            <a:extLst>
              <a:ext uri="{FF2B5EF4-FFF2-40B4-BE49-F238E27FC236}">
                <a16:creationId xmlns:a16="http://schemas.microsoft.com/office/drawing/2014/main" id="{F663E730-B3E4-4E80-A745-BF7CB9EE3248}"/>
              </a:ext>
            </a:extLst>
          </p:cNvPr>
          <p:cNvPicPr>
            <a:picLocks/>
          </p:cNvPicPr>
          <p:nvPr/>
        </p:nvPicPr>
        <p:blipFill rotWithShape="1">
          <a:blip r:embed="rId6"/>
          <a:srcRect l="22126" r="52745"/>
          <a:stretch/>
        </p:blipFill>
        <p:spPr>
          <a:xfrm>
            <a:off x="294500" y="1847439"/>
            <a:ext cx="2203838" cy="2177415"/>
          </a:xfrm>
          <a:prstGeom prst="rect">
            <a:avLst/>
          </a:prstGeom>
        </p:spPr>
      </p:pic>
    </p:spTree>
    <p:extLst>
      <p:ext uri="{BB962C8B-B14F-4D97-AF65-F5344CB8AC3E}">
        <p14:creationId xmlns:p14="http://schemas.microsoft.com/office/powerpoint/2010/main" val="36560834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4">
            <a:extLst>
              <a:ext uri="{FF2B5EF4-FFF2-40B4-BE49-F238E27FC236}">
                <a16:creationId xmlns:a16="http://schemas.microsoft.com/office/drawing/2014/main" id="{2CD42CA5-1B48-4813-95C8-D6DFF23D680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15" name="圆角矩形 43">
            <a:extLst>
              <a:ext uri="{FF2B5EF4-FFF2-40B4-BE49-F238E27FC236}">
                <a16:creationId xmlns:a16="http://schemas.microsoft.com/office/drawing/2014/main" id="{F843006B-B5DE-4882-864B-F7FF8E2CAF3B}"/>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16" name="矩形 45">
            <a:extLst>
              <a:ext uri="{FF2B5EF4-FFF2-40B4-BE49-F238E27FC236}">
                <a16:creationId xmlns:a16="http://schemas.microsoft.com/office/drawing/2014/main" id="{0FBD2D07-162E-4BA8-824D-D79E389A80FB}"/>
              </a:ext>
            </a:extLst>
          </p:cNvPr>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17" name="Rectangle 3">
            <a:extLst>
              <a:ext uri="{FF2B5EF4-FFF2-40B4-BE49-F238E27FC236}">
                <a16:creationId xmlns:a16="http://schemas.microsoft.com/office/drawing/2014/main" id="{7E104048-AE0A-4AA6-A421-D67A7B444E4D}"/>
              </a:ext>
            </a:extLst>
          </p:cNvPr>
          <p:cNvSpPr txBox="1">
            <a:spLocks noRot="1" noChangeArrowheads="1"/>
          </p:cNvSpPr>
          <p:nvPr/>
        </p:nvSpPr>
        <p:spPr>
          <a:xfrm>
            <a:off x="185083" y="974775"/>
            <a:ext cx="1444171" cy="508147"/>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FF0000"/>
                </a:solidFill>
                <a:latin typeface="宋体" panose="02010600030101010101" pitchFamily="2" charset="-122"/>
                <a:ea typeface="宋体" panose="02010600030101010101" pitchFamily="2" charset="-122"/>
              </a:rPr>
              <a:t>直流</a:t>
            </a:r>
            <a:r>
              <a:rPr lang="zh-CN" altLang="en-US" sz="2400" b="1" u="sng">
                <a:solidFill>
                  <a:srgbClr val="FF0000"/>
                </a:solidFill>
                <a:latin typeface="宋体" panose="02010600030101010101" pitchFamily="2" charset="-122"/>
                <a:ea typeface="宋体" panose="02010600030101010101" pitchFamily="2" charset="-122"/>
              </a:rPr>
              <a:t>电桥</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24A788D-2C6D-45B2-B4CD-34036180C70E}"/>
              </a:ext>
            </a:extLst>
          </p:cNvPr>
          <p:cNvSpPr>
            <a:spLocks noGrp="1"/>
          </p:cNvSpPr>
          <p:nvPr>
            <p:ph type="sldNum" sz="quarter" idx="12"/>
          </p:nvPr>
        </p:nvSpPr>
        <p:spPr/>
        <p:txBody>
          <a:bodyPr/>
          <a:lstStyle/>
          <a:p>
            <a:fld id="{B53602B4-F12B-41CD-B648-531F86B2CC91}" type="slidenum">
              <a:rPr lang="zh-CN" altLang="en-US" smtClean="0"/>
              <a:t>65</a:t>
            </a:fld>
            <a:endParaRPr lang="zh-CN" altLang="en-US"/>
          </a:p>
        </p:txBody>
      </p:sp>
      <p:sp>
        <p:nvSpPr>
          <p:cNvPr id="14" name="TextBox 12">
            <a:extLst>
              <a:ext uri="{FF2B5EF4-FFF2-40B4-BE49-F238E27FC236}">
                <a16:creationId xmlns:a16="http://schemas.microsoft.com/office/drawing/2014/main" id="{B504B4D3-A3D3-4487-BC7D-69F3AD9354CE}"/>
              </a:ext>
            </a:extLst>
          </p:cNvPr>
          <p:cNvSpPr txBox="1">
            <a:spLocks noChangeArrowheads="1"/>
          </p:cNvSpPr>
          <p:nvPr/>
        </p:nvSpPr>
        <p:spPr bwMode="auto">
          <a:xfrm>
            <a:off x="2349062" y="1137087"/>
            <a:ext cx="4824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002060"/>
                </a:solidFill>
              </a:rPr>
              <a:t>差分电</a:t>
            </a:r>
            <a:r>
              <a:rPr lang="zh-CN" altLang="en-US" b="1" dirty="0">
                <a:solidFill>
                  <a:srgbClr val="002060"/>
                </a:solidFill>
              </a:rPr>
              <a:t>桥可减小非线性误差</a:t>
            </a:r>
          </a:p>
        </p:txBody>
      </p:sp>
      <p:pic>
        <p:nvPicPr>
          <p:cNvPr id="18" name="图片 1">
            <a:extLst>
              <a:ext uri="{FF2B5EF4-FFF2-40B4-BE49-F238E27FC236}">
                <a16:creationId xmlns:a16="http://schemas.microsoft.com/office/drawing/2014/main" id="{1A015C47-F530-4A1A-8CDA-E1EC8F874198}"/>
              </a:ext>
            </a:extLst>
          </p:cNvPr>
          <p:cNvPicPr>
            <a:picLocks noChangeAspect="1"/>
          </p:cNvPicPr>
          <p:nvPr/>
        </p:nvPicPr>
        <p:blipFill rotWithShape="1">
          <a:blip r:embed="rId2"/>
          <a:srcRect l="47064" r="27421"/>
          <a:stretch/>
        </p:blipFill>
        <p:spPr>
          <a:xfrm>
            <a:off x="233709" y="1713696"/>
            <a:ext cx="2253418" cy="2375557"/>
          </a:xfrm>
          <a:prstGeom prst="rect">
            <a:avLst/>
          </a:prstGeom>
        </p:spPr>
      </p:pic>
      <p:sp>
        <p:nvSpPr>
          <p:cNvPr id="20" name="TextBox 12">
            <a:extLst>
              <a:ext uri="{FF2B5EF4-FFF2-40B4-BE49-F238E27FC236}">
                <a16:creationId xmlns:a16="http://schemas.microsoft.com/office/drawing/2014/main" id="{245B2E23-34C8-4BDD-BDAD-1E64B10615E7}"/>
              </a:ext>
            </a:extLst>
          </p:cNvPr>
          <p:cNvSpPr txBox="1">
            <a:spLocks noChangeArrowheads="1"/>
          </p:cNvSpPr>
          <p:nvPr/>
        </p:nvSpPr>
        <p:spPr bwMode="auto">
          <a:xfrm>
            <a:off x="2499648" y="1607929"/>
            <a:ext cx="6459110" cy="1634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eaLnBrk="1" hangingPunct="1">
              <a:lnSpc>
                <a:spcPct val="130000"/>
              </a:lnSpc>
              <a:spcAft>
                <a:spcPts val="600"/>
              </a:spcAft>
              <a:buFont typeface="Courier New" panose="02070309020205020404" pitchFamily="49" charset="0"/>
              <a:buChar char="o"/>
            </a:pPr>
            <a:r>
              <a:rPr lang="zh-CN" altLang="en-US" b="1">
                <a:solidFill>
                  <a:srgbClr val="002060"/>
                </a:solidFill>
              </a:rPr>
              <a:t>安装两个工作应变片，一片受拉，一片受压；</a:t>
            </a:r>
            <a:endParaRPr lang="en-US" altLang="zh-CN" b="1">
              <a:solidFill>
                <a:srgbClr val="002060"/>
              </a:solidFill>
            </a:endParaRPr>
          </a:p>
          <a:p>
            <a:pPr marL="342900" indent="-342900" eaLnBrk="1" hangingPunct="1">
              <a:lnSpc>
                <a:spcPct val="130000"/>
              </a:lnSpc>
              <a:spcAft>
                <a:spcPts val="600"/>
              </a:spcAft>
              <a:buFont typeface="Courier New" panose="02070309020205020404" pitchFamily="49" charset="0"/>
              <a:buChar char="o"/>
            </a:pPr>
            <a:r>
              <a:rPr lang="zh-CN" altLang="en-US" b="1">
                <a:solidFill>
                  <a:srgbClr val="002060"/>
                </a:solidFill>
              </a:rPr>
              <a:t>然后接入电桥相邻臂，跨在电源两端；</a:t>
            </a:r>
            <a:endParaRPr lang="en-US" altLang="zh-CN" b="1">
              <a:solidFill>
                <a:srgbClr val="002060"/>
              </a:solidFill>
            </a:endParaRPr>
          </a:p>
          <a:p>
            <a:pPr marL="342900" indent="-342900" eaLnBrk="1" hangingPunct="1">
              <a:lnSpc>
                <a:spcPct val="130000"/>
              </a:lnSpc>
              <a:spcAft>
                <a:spcPts val="600"/>
              </a:spcAft>
              <a:buFont typeface="Courier New" panose="02070309020205020404" pitchFamily="49" charset="0"/>
              <a:buChar char="o"/>
            </a:pPr>
            <a:r>
              <a:rPr lang="zh-CN" altLang="en-US" b="1">
                <a:solidFill>
                  <a:srgbClr val="002060"/>
                </a:solidFill>
              </a:rPr>
              <a:t>电桥输出电压 </a:t>
            </a:r>
            <a:r>
              <a:rPr lang="en-US" altLang="zh-CN" b="1">
                <a:solidFill>
                  <a:srgbClr val="002060"/>
                </a:solidFill>
              </a:rPr>
              <a:t>U</a:t>
            </a:r>
            <a:r>
              <a:rPr lang="zh-CN" altLang="en-US" b="1">
                <a:solidFill>
                  <a:srgbClr val="002060"/>
                </a:solidFill>
              </a:rPr>
              <a:t>。为</a:t>
            </a:r>
            <a:endParaRPr lang="zh-CN" altLang="en-US" b="1" dirty="0">
              <a:solidFill>
                <a:srgbClr val="002060"/>
              </a:solidFill>
            </a:endParaRPr>
          </a:p>
        </p:txBody>
      </p:sp>
      <p:pic>
        <p:nvPicPr>
          <p:cNvPr id="3" name="Picture 2">
            <a:extLst>
              <a:ext uri="{FF2B5EF4-FFF2-40B4-BE49-F238E27FC236}">
                <a16:creationId xmlns:a16="http://schemas.microsoft.com/office/drawing/2014/main" id="{DA353998-F839-411F-B9AE-F646B8289723}"/>
              </a:ext>
            </a:extLst>
          </p:cNvPr>
          <p:cNvPicPr>
            <a:picLocks noChangeAspect="1"/>
          </p:cNvPicPr>
          <p:nvPr/>
        </p:nvPicPr>
        <p:blipFill>
          <a:blip r:embed="rId3"/>
          <a:stretch>
            <a:fillRect/>
          </a:stretch>
        </p:blipFill>
        <p:spPr>
          <a:xfrm>
            <a:off x="2856848" y="3252811"/>
            <a:ext cx="5002013" cy="858629"/>
          </a:xfrm>
          <a:prstGeom prst="rect">
            <a:avLst/>
          </a:prstGeom>
        </p:spPr>
      </p:pic>
      <p:sp>
        <p:nvSpPr>
          <p:cNvPr id="23" name="TextBox 22">
            <a:extLst>
              <a:ext uri="{FF2B5EF4-FFF2-40B4-BE49-F238E27FC236}">
                <a16:creationId xmlns:a16="http://schemas.microsoft.com/office/drawing/2014/main" id="{D9347C6C-7EE2-49C6-8597-963F7943A4F7}"/>
              </a:ext>
            </a:extLst>
          </p:cNvPr>
          <p:cNvSpPr txBox="1"/>
          <p:nvPr/>
        </p:nvSpPr>
        <p:spPr>
          <a:xfrm>
            <a:off x="2564531" y="4250807"/>
            <a:ext cx="5586646" cy="461665"/>
          </a:xfrm>
          <a:prstGeom prst="rect">
            <a:avLst/>
          </a:prstGeom>
          <a:solidFill>
            <a:schemeClr val="accent6">
              <a:lumMod val="40000"/>
              <a:lumOff val="60000"/>
            </a:schemeClr>
          </a:solidFill>
          <a:ln>
            <a:noFill/>
          </a:ln>
        </p:spPr>
        <p:txBody>
          <a:bodyPr wrap="square">
            <a:spAutoFit/>
          </a:bodyPr>
          <a:lstStyle>
            <a:defPPr>
              <a:defRPr lang="zh-CN"/>
            </a:defPPr>
            <a:lvl1pPr>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en-001"/>
              <a:t>设初始时R</a:t>
            </a:r>
            <a:r>
              <a:rPr lang="en-US"/>
              <a:t>1</a:t>
            </a:r>
            <a:r>
              <a:rPr lang="en-001"/>
              <a:t>=R2=R3=R4,</a:t>
            </a:r>
            <a:r>
              <a:rPr lang="en-US"/>
              <a:t> </a:t>
            </a:r>
            <a:r>
              <a:rPr lang="en-001"/>
              <a:t>△R</a:t>
            </a:r>
            <a:r>
              <a:rPr lang="en-US"/>
              <a:t>1</a:t>
            </a:r>
            <a:r>
              <a:rPr lang="en-001"/>
              <a:t>= △R</a:t>
            </a:r>
            <a:r>
              <a:rPr lang="en-US"/>
              <a:t>2</a:t>
            </a:r>
            <a:endParaRPr lang="en-001"/>
          </a:p>
        </p:txBody>
      </p:sp>
      <p:pic>
        <p:nvPicPr>
          <p:cNvPr id="6" name="Picture 5">
            <a:extLst>
              <a:ext uri="{FF2B5EF4-FFF2-40B4-BE49-F238E27FC236}">
                <a16:creationId xmlns:a16="http://schemas.microsoft.com/office/drawing/2014/main" id="{D9205D94-F3F3-4810-8D43-A6CA247F8446}"/>
              </a:ext>
            </a:extLst>
          </p:cNvPr>
          <p:cNvPicPr>
            <a:picLocks noChangeAspect="1"/>
          </p:cNvPicPr>
          <p:nvPr/>
        </p:nvPicPr>
        <p:blipFill>
          <a:blip r:embed="rId4"/>
          <a:stretch>
            <a:fillRect/>
          </a:stretch>
        </p:blipFill>
        <p:spPr>
          <a:xfrm>
            <a:off x="4019248" y="4685758"/>
            <a:ext cx="2964465" cy="992342"/>
          </a:xfrm>
          <a:prstGeom prst="rect">
            <a:avLst/>
          </a:prstGeom>
        </p:spPr>
      </p:pic>
      <p:sp>
        <p:nvSpPr>
          <p:cNvPr id="24" name="TextBox 23">
            <a:extLst>
              <a:ext uri="{FF2B5EF4-FFF2-40B4-BE49-F238E27FC236}">
                <a16:creationId xmlns:a16="http://schemas.microsoft.com/office/drawing/2014/main" id="{F3A6798B-F43A-4D10-89B2-0E9A8C26D9D8}"/>
              </a:ext>
            </a:extLst>
          </p:cNvPr>
          <p:cNvSpPr txBox="1"/>
          <p:nvPr/>
        </p:nvSpPr>
        <p:spPr>
          <a:xfrm>
            <a:off x="151227" y="5755319"/>
            <a:ext cx="88075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algn="ctr"/>
            <a:r>
              <a:rPr lang="en-001"/>
              <a:t>输出电压</a:t>
            </a:r>
            <a:r>
              <a:rPr lang="en-US"/>
              <a:t> </a:t>
            </a:r>
            <a:r>
              <a:rPr lang="en-001"/>
              <a:t>U。与△R1/R1 成严格的线性关系，没有非线性误差，而且电桥灵敏度比单臂时提高一倍，还具有温度补偿作用。</a:t>
            </a:r>
          </a:p>
        </p:txBody>
      </p:sp>
    </p:spTree>
    <p:extLst>
      <p:ext uri="{BB962C8B-B14F-4D97-AF65-F5344CB8AC3E}">
        <p14:creationId xmlns:p14="http://schemas.microsoft.com/office/powerpoint/2010/main" val="26842453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F6F24F70-A254-4E46-B897-50CE839D93F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4" name="Slide Number Placeholder 3">
            <a:extLst>
              <a:ext uri="{FF2B5EF4-FFF2-40B4-BE49-F238E27FC236}">
                <a16:creationId xmlns:a16="http://schemas.microsoft.com/office/drawing/2014/main" id="{77C93786-3FA6-4B7E-AFA4-34990A421B54}"/>
              </a:ext>
            </a:extLst>
          </p:cNvPr>
          <p:cNvSpPr>
            <a:spLocks noGrp="1"/>
          </p:cNvSpPr>
          <p:nvPr>
            <p:ph type="sldNum" sz="quarter" idx="12"/>
          </p:nvPr>
        </p:nvSpPr>
        <p:spPr/>
        <p:txBody>
          <a:bodyPr/>
          <a:lstStyle/>
          <a:p>
            <a:fld id="{B53602B4-F12B-41CD-B648-531F86B2CC91}" type="slidenum">
              <a:rPr lang="zh-CN" altLang="en-US" smtClean="0"/>
              <a:t>66</a:t>
            </a:fld>
            <a:endParaRPr lang="zh-CN" altLang="en-US"/>
          </a:p>
        </p:txBody>
      </p:sp>
      <p:sp>
        <p:nvSpPr>
          <p:cNvPr id="11" name="TextBox 10">
            <a:extLst>
              <a:ext uri="{FF2B5EF4-FFF2-40B4-BE49-F238E27FC236}">
                <a16:creationId xmlns:a16="http://schemas.microsoft.com/office/drawing/2014/main" id="{3DE7687D-AF39-49AB-A0E6-63C52E2FD573}"/>
              </a:ext>
            </a:extLst>
          </p:cNvPr>
          <p:cNvSpPr txBox="1"/>
          <p:nvPr/>
        </p:nvSpPr>
        <p:spPr>
          <a:xfrm>
            <a:off x="235570" y="1295798"/>
            <a:ext cx="4542841" cy="506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42900" indent="-342900">
              <a:lnSpc>
                <a:spcPct val="130000"/>
              </a:lnSpc>
              <a:spcAft>
                <a:spcPts val="600"/>
              </a:spcAft>
              <a:buFont typeface="Courier New" panose="02070309020205020404" pitchFamily="49" charset="0"/>
              <a:buChar char="o"/>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marL="0" indent="0">
              <a:buNone/>
            </a:pPr>
            <a:r>
              <a:rPr lang="en-001" sz="2800" dirty="0">
                <a:solidFill>
                  <a:srgbClr val="C00000"/>
                </a:solidFill>
              </a:rPr>
              <a:t>前述直流电桥的优点：</a:t>
            </a:r>
            <a:endParaRPr lang="en-US" sz="2800" dirty="0">
              <a:solidFill>
                <a:srgbClr val="C00000"/>
              </a:solidFill>
            </a:endParaRPr>
          </a:p>
          <a:p>
            <a:r>
              <a:rPr lang="en-001" dirty="0"/>
              <a:t>高稳定度直流电源易于获得</a:t>
            </a:r>
            <a:endParaRPr lang="en-US" dirty="0"/>
          </a:p>
          <a:p>
            <a:r>
              <a:rPr lang="en-001" dirty="0"/>
              <a:t>电桥调节平衡电路简单</a:t>
            </a:r>
            <a:endParaRPr lang="en-US" dirty="0"/>
          </a:p>
          <a:p>
            <a:r>
              <a:rPr lang="en-001" dirty="0"/>
              <a:t>传感器至测量仪表的连接导线分布参数影响小等。</a:t>
            </a:r>
          </a:p>
          <a:p>
            <a:pPr marL="0" indent="0">
              <a:buNone/>
            </a:pPr>
            <a:r>
              <a:rPr lang="en-001" sz="2800" dirty="0">
                <a:solidFill>
                  <a:srgbClr val="C00000"/>
                </a:solidFill>
              </a:rPr>
              <a:t>但是</a:t>
            </a:r>
            <a:r>
              <a:rPr lang="zh-CN" altLang="en-US" sz="2800" dirty="0">
                <a:solidFill>
                  <a:srgbClr val="C00000"/>
                </a:solidFill>
              </a:rPr>
              <a:t>：</a:t>
            </a:r>
            <a:endParaRPr lang="en-US" altLang="zh-CN" sz="2800" dirty="0">
              <a:solidFill>
                <a:srgbClr val="C00000"/>
              </a:solidFill>
            </a:endParaRPr>
          </a:p>
          <a:p>
            <a:r>
              <a:rPr lang="en-001" dirty="0"/>
              <a:t>后续要采用直流放大器</a:t>
            </a:r>
            <a:endParaRPr lang="en-US" dirty="0"/>
          </a:p>
          <a:p>
            <a:r>
              <a:rPr lang="en-001" dirty="0"/>
              <a:t>容易产生零点漂移</a:t>
            </a:r>
            <a:endParaRPr lang="en-US" dirty="0"/>
          </a:p>
          <a:p>
            <a:r>
              <a:rPr lang="en-001" dirty="0"/>
              <a:t>线路也较复杂</a:t>
            </a:r>
          </a:p>
        </p:txBody>
      </p:sp>
      <p:sp>
        <p:nvSpPr>
          <p:cNvPr id="13" name="TextBox 12">
            <a:extLst>
              <a:ext uri="{FF2B5EF4-FFF2-40B4-BE49-F238E27FC236}">
                <a16:creationId xmlns:a16="http://schemas.microsoft.com/office/drawing/2014/main" id="{13483233-AA2A-44A4-968B-37099D655056}"/>
              </a:ext>
            </a:extLst>
          </p:cNvPr>
          <p:cNvSpPr txBox="1"/>
          <p:nvPr/>
        </p:nvSpPr>
        <p:spPr>
          <a:xfrm>
            <a:off x="6117530" y="2238279"/>
            <a:ext cx="2790900" cy="1866408"/>
          </a:xfrm>
          <a:prstGeom prst="rect">
            <a:avLst/>
          </a:prstGeom>
          <a:solidFill>
            <a:schemeClr val="accent2">
              <a:lumMod val="60000"/>
              <a:lumOff val="40000"/>
            </a:schemeClr>
          </a:solidFill>
          <a:ln>
            <a:noFill/>
          </a:ln>
        </p:spPr>
        <p:txBody>
          <a:bodyPr wrap="square">
            <a:spAutoFit/>
          </a:bodyPr>
          <a:lstStyle>
            <a:defPPr>
              <a:defRPr lang="zh-CN"/>
            </a:defPPr>
            <a:lvl1pPr marL="342900" indent="-342900">
              <a:lnSpc>
                <a:spcPct val="130000"/>
              </a:lnSpc>
              <a:spcAft>
                <a:spcPts val="600"/>
              </a:spcAft>
              <a:buFont typeface="Courier New" panose="02070309020205020404" pitchFamily="49" charset="0"/>
              <a:buChar char="o"/>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marL="0" indent="0" algn="ctr">
              <a:buNone/>
            </a:pPr>
            <a:r>
              <a:rPr lang="en-001" sz="2800"/>
              <a:t>应变电桥</a:t>
            </a:r>
            <a:endParaRPr lang="en-US" sz="2800"/>
          </a:p>
          <a:p>
            <a:pPr marL="0" indent="0" algn="ctr">
              <a:buNone/>
            </a:pPr>
            <a:r>
              <a:rPr lang="en-001" sz="2800"/>
              <a:t>现在多采用</a:t>
            </a:r>
            <a:endParaRPr lang="en-US" sz="2800"/>
          </a:p>
          <a:p>
            <a:pPr marL="0" indent="0" algn="ctr">
              <a:buNone/>
            </a:pPr>
            <a:r>
              <a:rPr lang="en-001" sz="2800"/>
              <a:t>交流电桥</a:t>
            </a:r>
          </a:p>
        </p:txBody>
      </p:sp>
      <p:sp>
        <p:nvSpPr>
          <p:cNvPr id="7" name="Arrow: Right 6">
            <a:extLst>
              <a:ext uri="{FF2B5EF4-FFF2-40B4-BE49-F238E27FC236}">
                <a16:creationId xmlns:a16="http://schemas.microsoft.com/office/drawing/2014/main" id="{E0747046-820B-4184-BB34-73350997C2AB}"/>
              </a:ext>
            </a:extLst>
          </p:cNvPr>
          <p:cNvSpPr/>
          <p:nvPr/>
        </p:nvSpPr>
        <p:spPr>
          <a:xfrm>
            <a:off x="5115867" y="2774154"/>
            <a:ext cx="871275" cy="7946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25873180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F6F24F70-A254-4E46-B897-50CE839D93F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197482" y="1577679"/>
            <a:ext cx="6623745" cy="260844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74688" indent="-249238">
              <a:lnSpc>
                <a:spcPct val="180000"/>
              </a:lnSpc>
              <a:spcBef>
                <a:spcPct val="0"/>
              </a:spcBef>
              <a:buFont typeface="Wingdings" panose="05000000000000000000" pitchFamily="2" charset="2"/>
              <a:buNone/>
            </a:pPr>
            <a:r>
              <a:rPr lang="zh-CN" altLang="en-US" sz="2400" b="1" u="sng" dirty="0">
                <a:latin typeface="宋体" panose="02010600030101010101" pitchFamily="2" charset="-122"/>
                <a:ea typeface="宋体" panose="02010600030101010101" pitchFamily="2" charset="-122"/>
              </a:rPr>
              <a:t>交流电桥</a:t>
            </a:r>
          </a:p>
          <a:p>
            <a:pPr marL="674688" indent="-249238">
              <a:lnSpc>
                <a:spcPct val="180000"/>
              </a:lnSpc>
              <a:spcBef>
                <a:spcPct val="0"/>
              </a:spcBef>
            </a:pPr>
            <a:r>
              <a:rPr lang="zh-CN" altLang="en-US" sz="2400" b="1" dirty="0">
                <a:latin typeface="宋体" panose="02010600030101010101" pitchFamily="2" charset="-122"/>
                <a:ea typeface="宋体" panose="02010600030101010101" pitchFamily="2" charset="-122"/>
              </a:rPr>
              <a:t>交流电桥的平衡条件</a:t>
            </a:r>
          </a:p>
          <a:p>
            <a:pPr marL="674688" indent="-249238">
              <a:lnSpc>
                <a:spcPct val="180000"/>
              </a:lnSpc>
              <a:spcBef>
                <a:spcPct val="0"/>
              </a:spcBef>
            </a:pPr>
            <a:r>
              <a:rPr lang="zh-CN" altLang="en-US" sz="2400" b="1" dirty="0">
                <a:latin typeface="宋体" panose="02010600030101010101" pitchFamily="2" charset="-122"/>
                <a:ea typeface="宋体" panose="02010600030101010101" pitchFamily="2" charset="-122"/>
              </a:rPr>
              <a:t>交流应变电桥的输出特性及平衡调节         </a:t>
            </a:r>
          </a:p>
        </p:txBody>
      </p:sp>
      <p:sp>
        <p:nvSpPr>
          <p:cNvPr id="2" name="矩形 1"/>
          <p:cNvSpPr/>
          <p:nvPr/>
        </p:nvSpPr>
        <p:spPr>
          <a:xfrm>
            <a:off x="1659986" y="3844386"/>
            <a:ext cx="3704916" cy="642868"/>
          </a:xfrm>
          <a:prstGeom prst="rect">
            <a:avLst/>
          </a:prstGeom>
        </p:spPr>
        <p:txBody>
          <a:bodyPr wrap="square">
            <a:spAutoFit/>
          </a:bodyPr>
          <a:lstStyle/>
          <a:p>
            <a:pPr>
              <a:lnSpc>
                <a:spcPct val="180000"/>
              </a:lnSpc>
              <a:spcBef>
                <a:spcPct val="0"/>
              </a:spcBef>
              <a:buFont typeface="Wingdings" panose="05000000000000000000" pitchFamily="2" charset="2"/>
              <a:buNone/>
            </a:pPr>
            <a:r>
              <a:rPr lang="zh-CN" altLang="en-US" sz="2400" b="1" dirty="0">
                <a:latin typeface="宋体" panose="02010600030101010101" pitchFamily="2" charset="-122"/>
                <a:ea typeface="宋体" panose="02010600030101010101" pitchFamily="2" charset="-122"/>
                <a:hlinkClick r:id="" action="ppaction://noaction"/>
              </a:rPr>
              <a:t>图</a:t>
            </a:r>
            <a:r>
              <a:rPr lang="en-US" altLang="zh-CN" sz="2400" b="1" dirty="0">
                <a:latin typeface="宋体" panose="02010600030101010101" pitchFamily="2" charset="-122"/>
                <a:ea typeface="宋体" panose="02010600030101010101" pitchFamily="2" charset="-122"/>
                <a:hlinkClick r:id="" action="ppaction://noaction"/>
              </a:rPr>
              <a:t>2-30  </a:t>
            </a:r>
            <a:r>
              <a:rPr lang="zh-CN" altLang="en-US" sz="2400" b="1" dirty="0">
                <a:latin typeface="宋体" panose="02010600030101010101" pitchFamily="2" charset="-122"/>
                <a:ea typeface="宋体" panose="02010600030101010101" pitchFamily="2" charset="-122"/>
                <a:hlinkClick r:id="" action="ppaction://noaction"/>
              </a:rPr>
              <a:t>交流电桥电路</a:t>
            </a:r>
            <a:endParaRPr lang="zh-CN" altLang="en-US" sz="2400" b="1" dirty="0">
              <a:latin typeface="宋体" panose="02010600030101010101" pitchFamily="2" charset="-122"/>
              <a:ea typeface="宋体" panose="02010600030101010101" pitchFamily="2" charset="-122"/>
            </a:endParaRPr>
          </a:p>
        </p:txBody>
      </p:sp>
      <p:sp>
        <p:nvSpPr>
          <p:cNvPr id="3" name="矩形 2"/>
          <p:cNvSpPr/>
          <p:nvPr/>
        </p:nvSpPr>
        <p:spPr>
          <a:xfrm>
            <a:off x="1659986" y="4747261"/>
            <a:ext cx="4211409" cy="461665"/>
          </a:xfrm>
          <a:prstGeom prst="rect">
            <a:avLst/>
          </a:prstGeom>
        </p:spPr>
        <p:txBody>
          <a:bodyPr wrap="none">
            <a:spAutoFit/>
          </a:bodyPr>
          <a:lstStyle/>
          <a:p>
            <a:r>
              <a:rPr lang="zh-CN" altLang="en-US" sz="2400" b="1" dirty="0">
                <a:latin typeface="宋体" panose="02010600030101010101" pitchFamily="2" charset="-122"/>
                <a:ea typeface="宋体" panose="02010600030101010101" pitchFamily="2" charset="-122"/>
                <a:hlinkClick r:id="" action="ppaction://noaction"/>
              </a:rPr>
              <a:t>图</a:t>
            </a:r>
            <a:r>
              <a:rPr lang="en-US" altLang="zh-CN" sz="2400" b="1" dirty="0">
                <a:latin typeface="宋体" panose="02010600030101010101" pitchFamily="2" charset="-122"/>
                <a:ea typeface="宋体" panose="02010600030101010101" pitchFamily="2" charset="-122"/>
                <a:hlinkClick r:id="" action="ppaction://noaction"/>
              </a:rPr>
              <a:t>2-31  </a:t>
            </a:r>
            <a:r>
              <a:rPr lang="zh-CN" altLang="en-US" sz="2400" b="1" dirty="0">
                <a:latin typeface="宋体" panose="02010600030101010101" pitchFamily="2" charset="-122"/>
                <a:ea typeface="宋体" panose="02010600030101010101" pitchFamily="2" charset="-122"/>
                <a:hlinkClick r:id="" action="ppaction://noaction"/>
              </a:rPr>
              <a:t>常见的调节平衡电路</a:t>
            </a:r>
            <a:endParaRPr lang="zh-CN" altLang="en-US" sz="2400" dirty="0">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77C93786-3FA6-4B7E-AFA4-34990A421B54}"/>
              </a:ext>
            </a:extLst>
          </p:cNvPr>
          <p:cNvSpPr>
            <a:spLocks noGrp="1"/>
          </p:cNvSpPr>
          <p:nvPr>
            <p:ph type="sldNum" sz="quarter" idx="12"/>
          </p:nvPr>
        </p:nvSpPr>
        <p:spPr/>
        <p:txBody>
          <a:bodyPr/>
          <a:lstStyle/>
          <a:p>
            <a:fld id="{B53602B4-F12B-41CD-B648-531F86B2CC91}" type="slidenum">
              <a:rPr lang="zh-CN" altLang="en-US" smtClean="0"/>
              <a:t>67</a:t>
            </a:fld>
            <a:endParaRPr lang="zh-CN" altLang="en-US"/>
          </a:p>
        </p:txBody>
      </p:sp>
    </p:spTree>
    <p:extLst>
      <p:ext uri="{BB962C8B-B14F-4D97-AF65-F5344CB8AC3E}">
        <p14:creationId xmlns:p14="http://schemas.microsoft.com/office/powerpoint/2010/main" val="29752621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4">
            <a:extLst>
              <a:ext uri="{FF2B5EF4-FFF2-40B4-BE49-F238E27FC236}">
                <a16:creationId xmlns:a16="http://schemas.microsoft.com/office/drawing/2014/main" id="{EE9EE552-11DE-4A41-9324-CED239053D39}"/>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85083" y="1076936"/>
            <a:ext cx="1538461" cy="64286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C00000"/>
                </a:solidFill>
                <a:latin typeface="宋体" panose="02010600030101010101" pitchFamily="2" charset="-122"/>
                <a:ea typeface="宋体" panose="02010600030101010101" pitchFamily="2" charset="-122"/>
              </a:rPr>
              <a:t>交流</a:t>
            </a:r>
            <a:r>
              <a:rPr lang="zh-CN" altLang="en-US" sz="2400" b="1" u="sng">
                <a:solidFill>
                  <a:srgbClr val="C00000"/>
                </a:solidFill>
                <a:latin typeface="宋体" panose="02010600030101010101" pitchFamily="2" charset="-122"/>
                <a:ea typeface="宋体" panose="02010600030101010101" pitchFamily="2" charset="-122"/>
              </a:rPr>
              <a:t>电桥</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8" name="Rectangle 2">
            <a:extLst>
              <a:ext uri="{FF2B5EF4-FFF2-40B4-BE49-F238E27FC236}">
                <a16:creationId xmlns:a16="http://schemas.microsoft.com/office/drawing/2014/main" id="{B3E81E22-F481-47A0-857D-10085A3E0013}"/>
              </a:ext>
            </a:extLst>
          </p:cNvPr>
          <p:cNvSpPr>
            <a:spLocks noChangeArrowheads="1"/>
          </p:cNvSpPr>
          <p:nvPr/>
        </p:nvSpPr>
        <p:spPr bwMode="auto">
          <a:xfrm>
            <a:off x="4479925" y="33673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9" name="Text Box 9">
            <a:extLst>
              <a:ext uri="{FF2B5EF4-FFF2-40B4-BE49-F238E27FC236}">
                <a16:creationId xmlns:a16="http://schemas.microsoft.com/office/drawing/2014/main" id="{227935DC-C2DC-454F-B832-DD29678E01B0}"/>
              </a:ext>
            </a:extLst>
          </p:cNvPr>
          <p:cNvSpPr txBox="1">
            <a:spLocks noChangeArrowheads="1"/>
          </p:cNvSpPr>
          <p:nvPr/>
        </p:nvSpPr>
        <p:spPr bwMode="auto">
          <a:xfrm>
            <a:off x="2819400" y="5653314"/>
            <a:ext cx="369681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2-30  </a:t>
            </a:r>
            <a:r>
              <a:rPr lang="zh-CN" altLang="en-US" b="1" dirty="0">
                <a:solidFill>
                  <a:srgbClr val="000099"/>
                </a:solidFill>
              </a:rPr>
              <a:t>交流电桥电路</a:t>
            </a:r>
          </a:p>
        </p:txBody>
      </p:sp>
      <p:pic>
        <p:nvPicPr>
          <p:cNvPr id="10" name="图片 2">
            <a:extLst>
              <a:ext uri="{FF2B5EF4-FFF2-40B4-BE49-F238E27FC236}">
                <a16:creationId xmlns:a16="http://schemas.microsoft.com/office/drawing/2014/main" id="{42AB2E56-15DE-4258-BCFD-21B055EA1C33}"/>
              </a:ext>
            </a:extLst>
          </p:cNvPr>
          <p:cNvPicPr>
            <a:picLocks noChangeAspect="1"/>
          </p:cNvPicPr>
          <p:nvPr/>
        </p:nvPicPr>
        <p:blipFill>
          <a:blip r:embed="rId3"/>
          <a:stretch>
            <a:fillRect/>
          </a:stretch>
        </p:blipFill>
        <p:spPr>
          <a:xfrm>
            <a:off x="619125" y="2095726"/>
            <a:ext cx="7905750" cy="3305175"/>
          </a:xfrm>
          <a:prstGeom prst="rect">
            <a:avLst/>
          </a:prstGeom>
        </p:spPr>
      </p:pic>
      <p:sp>
        <p:nvSpPr>
          <p:cNvPr id="2" name="Slide Number Placeholder 1">
            <a:extLst>
              <a:ext uri="{FF2B5EF4-FFF2-40B4-BE49-F238E27FC236}">
                <a16:creationId xmlns:a16="http://schemas.microsoft.com/office/drawing/2014/main" id="{A5B58B4C-2BD9-4653-83D0-A0945C4D3725}"/>
              </a:ext>
            </a:extLst>
          </p:cNvPr>
          <p:cNvSpPr>
            <a:spLocks noGrp="1"/>
          </p:cNvSpPr>
          <p:nvPr>
            <p:ph type="sldNum" sz="quarter" idx="12"/>
          </p:nvPr>
        </p:nvSpPr>
        <p:spPr/>
        <p:txBody>
          <a:bodyPr/>
          <a:lstStyle/>
          <a:p>
            <a:fld id="{B53602B4-F12B-41CD-B648-531F86B2CC91}" type="slidenum">
              <a:rPr lang="zh-CN" altLang="en-US" smtClean="0"/>
              <a:t>68</a:t>
            </a:fld>
            <a:endParaRPr lang="zh-CN" altLang="en-US"/>
          </a:p>
        </p:txBody>
      </p:sp>
    </p:spTree>
    <p:extLst>
      <p:ext uri="{BB962C8B-B14F-4D97-AF65-F5344CB8AC3E}">
        <p14:creationId xmlns:p14="http://schemas.microsoft.com/office/powerpoint/2010/main" val="41456746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4">
            <a:extLst>
              <a:ext uri="{FF2B5EF4-FFF2-40B4-BE49-F238E27FC236}">
                <a16:creationId xmlns:a16="http://schemas.microsoft.com/office/drawing/2014/main" id="{55EACD73-9360-4558-AD9E-C577B01D645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85083" y="1076936"/>
            <a:ext cx="1538461" cy="64286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C00000"/>
                </a:solidFill>
                <a:latin typeface="宋体" panose="02010600030101010101" pitchFamily="2" charset="-122"/>
                <a:ea typeface="宋体" panose="02010600030101010101" pitchFamily="2" charset="-122"/>
              </a:rPr>
              <a:t>交流</a:t>
            </a:r>
            <a:r>
              <a:rPr lang="zh-CN" altLang="en-US" sz="2400" b="1" u="sng">
                <a:solidFill>
                  <a:srgbClr val="C00000"/>
                </a:solidFill>
                <a:latin typeface="宋体" panose="02010600030101010101" pitchFamily="2" charset="-122"/>
                <a:ea typeface="宋体" panose="02010600030101010101" pitchFamily="2" charset="-122"/>
              </a:rPr>
              <a:t>电桥</a:t>
            </a:r>
            <a:endParaRPr lang="zh-CN" altLang="en-US" sz="2400" b="1" dirty="0">
              <a:solidFill>
                <a:srgbClr val="C00000"/>
              </a:solidFill>
              <a:latin typeface="宋体" panose="02010600030101010101" pitchFamily="2" charset="-122"/>
              <a:ea typeface="宋体" panose="02010600030101010101" pitchFamily="2" charset="-122"/>
            </a:endParaRPr>
          </a:p>
        </p:txBody>
      </p:sp>
      <p:graphicFrame>
        <p:nvGraphicFramePr>
          <p:cNvPr id="11" name="Object 7">
            <a:extLst>
              <a:ext uri="{FF2B5EF4-FFF2-40B4-BE49-F238E27FC236}">
                <a16:creationId xmlns:a16="http://schemas.microsoft.com/office/drawing/2014/main" id="{123CF763-EB93-4AFF-95FC-61C187B8B285}"/>
              </a:ext>
            </a:extLst>
          </p:cNvPr>
          <p:cNvGraphicFramePr>
            <a:graphicFrameLocks noChangeAspect="1"/>
          </p:cNvGraphicFramePr>
          <p:nvPr>
            <p:extLst>
              <p:ext uri="{D42A27DB-BD31-4B8C-83A1-F6EECF244321}">
                <p14:modId xmlns:p14="http://schemas.microsoft.com/office/powerpoint/2010/main" val="223378794"/>
              </p:ext>
            </p:extLst>
          </p:nvPr>
        </p:nvGraphicFramePr>
        <p:xfrm>
          <a:off x="4168850" y="1635843"/>
          <a:ext cx="3879850" cy="1017588"/>
        </p:xfrm>
        <a:graphic>
          <a:graphicData uri="http://schemas.openxmlformats.org/presentationml/2006/ole">
            <mc:AlternateContent xmlns:mc="http://schemas.openxmlformats.org/markup-compatibility/2006">
              <mc:Choice xmlns:v="urn:schemas-microsoft-com:vml" Requires="v">
                <p:oleObj name="公式" r:id="rId3" imgW="1562100" imgH="406400" progId="Equation.3">
                  <p:embed/>
                </p:oleObj>
              </mc:Choice>
              <mc:Fallback>
                <p:oleObj name="公式" r:id="rId3" imgW="1562100" imgH="406400" progId="Equation.3">
                  <p:embed/>
                  <p:pic>
                    <p:nvPicPr>
                      <p:cNvPr id="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850" y="1635843"/>
                        <a:ext cx="387985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9">
            <a:extLst>
              <a:ext uri="{FF2B5EF4-FFF2-40B4-BE49-F238E27FC236}">
                <a16:creationId xmlns:a16="http://schemas.microsoft.com/office/drawing/2014/main" id="{72D0C3F2-5F04-4F7D-ACCD-181B313FC786}"/>
              </a:ext>
            </a:extLst>
          </p:cNvPr>
          <p:cNvSpPr txBox="1">
            <a:spLocks noChangeArrowheads="1"/>
          </p:cNvSpPr>
          <p:nvPr/>
        </p:nvSpPr>
        <p:spPr bwMode="auto">
          <a:xfrm>
            <a:off x="3880529" y="1277606"/>
            <a:ext cx="33845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宋体" panose="02010600030101010101" pitchFamily="2" charset="-122"/>
                <a:ea typeface="宋体" panose="02010600030101010101" pitchFamily="2" charset="-122"/>
              </a:rPr>
              <a:t>空载时：</a:t>
            </a:r>
          </a:p>
        </p:txBody>
      </p:sp>
      <p:sp>
        <p:nvSpPr>
          <p:cNvPr id="13" name="Text Box 10">
            <a:extLst>
              <a:ext uri="{FF2B5EF4-FFF2-40B4-BE49-F238E27FC236}">
                <a16:creationId xmlns:a16="http://schemas.microsoft.com/office/drawing/2014/main" id="{42CCDC6E-6EF9-4537-A4E7-9CABFF04CC04}"/>
              </a:ext>
            </a:extLst>
          </p:cNvPr>
          <p:cNvSpPr txBox="1">
            <a:spLocks noChangeArrowheads="1"/>
          </p:cNvSpPr>
          <p:nvPr/>
        </p:nvSpPr>
        <p:spPr bwMode="auto">
          <a:xfrm>
            <a:off x="3880529" y="2637625"/>
            <a:ext cx="33845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宋体" panose="02010600030101010101" pitchFamily="2" charset="-122"/>
                <a:ea typeface="宋体" panose="02010600030101010101" pitchFamily="2" charset="-122"/>
              </a:rPr>
              <a:t>电桥平衡条件：</a:t>
            </a:r>
          </a:p>
        </p:txBody>
      </p:sp>
      <p:graphicFrame>
        <p:nvGraphicFramePr>
          <p:cNvPr id="14" name="Object 11">
            <a:extLst>
              <a:ext uri="{FF2B5EF4-FFF2-40B4-BE49-F238E27FC236}">
                <a16:creationId xmlns:a16="http://schemas.microsoft.com/office/drawing/2014/main" id="{9CFAE6AA-9B83-4318-A522-CAB2B98F91D7}"/>
              </a:ext>
            </a:extLst>
          </p:cNvPr>
          <p:cNvGraphicFramePr>
            <a:graphicFrameLocks noChangeAspect="1"/>
          </p:cNvGraphicFramePr>
          <p:nvPr>
            <p:extLst>
              <p:ext uri="{D42A27DB-BD31-4B8C-83A1-F6EECF244321}">
                <p14:modId xmlns:p14="http://schemas.microsoft.com/office/powerpoint/2010/main" val="336866865"/>
              </p:ext>
            </p:extLst>
          </p:nvPr>
        </p:nvGraphicFramePr>
        <p:xfrm>
          <a:off x="4240891" y="3227229"/>
          <a:ext cx="3095625" cy="503238"/>
        </p:xfrm>
        <a:graphic>
          <a:graphicData uri="http://schemas.openxmlformats.org/presentationml/2006/ole">
            <mc:AlternateContent xmlns:mc="http://schemas.openxmlformats.org/markup-compatibility/2006">
              <mc:Choice xmlns:v="urn:schemas-microsoft-com:vml" Requires="v">
                <p:oleObj name="公式" r:id="rId5" imgW="1231366" imgH="203112" progId="Equation.3">
                  <p:embed/>
                </p:oleObj>
              </mc:Choice>
              <mc:Fallback>
                <p:oleObj name="公式" r:id="rId5" imgW="1231366" imgH="203112" progId="Equation.3">
                  <p:embed/>
                  <p:pic>
                    <p:nvPicPr>
                      <p:cNvPr id="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0891" y="3227229"/>
                        <a:ext cx="3095625"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 Box 13">
            <a:extLst>
              <a:ext uri="{FF2B5EF4-FFF2-40B4-BE49-F238E27FC236}">
                <a16:creationId xmlns:a16="http://schemas.microsoft.com/office/drawing/2014/main" id="{4781FB6C-A3FD-43E8-A172-589817824543}"/>
              </a:ext>
            </a:extLst>
          </p:cNvPr>
          <p:cNvSpPr txBox="1">
            <a:spLocks noChangeArrowheads="1"/>
          </p:cNvSpPr>
          <p:nvPr/>
        </p:nvSpPr>
        <p:spPr bwMode="auto">
          <a:xfrm>
            <a:off x="3880529" y="3856336"/>
            <a:ext cx="33845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宋体" panose="02010600030101010101" pitchFamily="2" charset="-122"/>
                <a:ea typeface="宋体" panose="02010600030101010101" pitchFamily="2" charset="-122"/>
              </a:rPr>
              <a:t>设四臂阻抗为：</a:t>
            </a:r>
          </a:p>
        </p:txBody>
      </p:sp>
      <p:graphicFrame>
        <p:nvGraphicFramePr>
          <p:cNvPr id="16" name="Object 14">
            <a:extLst>
              <a:ext uri="{FF2B5EF4-FFF2-40B4-BE49-F238E27FC236}">
                <a16:creationId xmlns:a16="http://schemas.microsoft.com/office/drawing/2014/main" id="{5FE54BA5-D822-40B4-86F2-4A542FF2BEA7}"/>
              </a:ext>
            </a:extLst>
          </p:cNvPr>
          <p:cNvGraphicFramePr>
            <a:graphicFrameLocks noChangeAspect="1"/>
          </p:cNvGraphicFramePr>
          <p:nvPr>
            <p:extLst>
              <p:ext uri="{D42A27DB-BD31-4B8C-83A1-F6EECF244321}">
                <p14:modId xmlns:p14="http://schemas.microsoft.com/office/powerpoint/2010/main" val="1730511789"/>
              </p:ext>
            </p:extLst>
          </p:nvPr>
        </p:nvGraphicFramePr>
        <p:xfrm>
          <a:off x="4277404" y="4318001"/>
          <a:ext cx="3806825" cy="2403475"/>
        </p:xfrm>
        <a:graphic>
          <a:graphicData uri="http://schemas.openxmlformats.org/presentationml/2006/ole">
            <mc:AlternateContent xmlns:mc="http://schemas.openxmlformats.org/markup-compatibility/2006">
              <mc:Choice xmlns:v="urn:schemas-microsoft-com:vml" Requires="v">
                <p:oleObj name="公式" r:id="rId7" imgW="1524000" imgH="965200" progId="Equation.3">
                  <p:embed/>
                </p:oleObj>
              </mc:Choice>
              <mc:Fallback>
                <p:oleObj name="公式" r:id="rId7" imgW="1524000" imgH="965200" progId="Equation.3">
                  <p:embed/>
                  <p:pic>
                    <p:nvPicPr>
                      <p:cNvPr id="9"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7404" y="4318001"/>
                        <a:ext cx="3806825" cy="2403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865AAF7B-6EEF-4D11-AB84-F3C3D2B1A1ED}"/>
              </a:ext>
            </a:extLst>
          </p:cNvPr>
          <p:cNvSpPr>
            <a:spLocks noGrp="1"/>
          </p:cNvSpPr>
          <p:nvPr>
            <p:ph type="sldNum" sz="quarter" idx="12"/>
          </p:nvPr>
        </p:nvSpPr>
        <p:spPr/>
        <p:txBody>
          <a:bodyPr/>
          <a:lstStyle/>
          <a:p>
            <a:fld id="{B53602B4-F12B-41CD-B648-531F86B2CC91}" type="slidenum">
              <a:rPr lang="zh-CN" altLang="en-US" smtClean="0"/>
              <a:t>69</a:t>
            </a:fld>
            <a:endParaRPr lang="zh-CN" altLang="en-US"/>
          </a:p>
        </p:txBody>
      </p:sp>
      <p:pic>
        <p:nvPicPr>
          <p:cNvPr id="4" name="Picture 3">
            <a:extLst>
              <a:ext uri="{FF2B5EF4-FFF2-40B4-BE49-F238E27FC236}">
                <a16:creationId xmlns:a16="http://schemas.microsoft.com/office/drawing/2014/main" id="{0BFAE85A-5160-44B2-9BE9-D2718D18ADF0}"/>
              </a:ext>
            </a:extLst>
          </p:cNvPr>
          <p:cNvPicPr>
            <a:picLocks noChangeAspect="1"/>
          </p:cNvPicPr>
          <p:nvPr/>
        </p:nvPicPr>
        <p:blipFill>
          <a:blip r:embed="rId9"/>
          <a:stretch>
            <a:fillRect/>
          </a:stretch>
        </p:blipFill>
        <p:spPr>
          <a:xfrm>
            <a:off x="799922" y="1793087"/>
            <a:ext cx="2411286" cy="4836118"/>
          </a:xfrm>
          <a:prstGeom prst="rect">
            <a:avLst/>
          </a:prstGeom>
        </p:spPr>
      </p:pic>
    </p:spTree>
    <p:extLst>
      <p:ext uri="{BB962C8B-B14F-4D97-AF65-F5344CB8AC3E}">
        <p14:creationId xmlns:p14="http://schemas.microsoft.com/office/powerpoint/2010/main" val="40232566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4">
            <a:extLst>
              <a:ext uri="{FF2B5EF4-FFF2-40B4-BE49-F238E27FC236}">
                <a16:creationId xmlns:a16="http://schemas.microsoft.com/office/drawing/2014/main" id="{D914E060-27D0-4146-A9AF-12311CFC2C5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85083" y="1076936"/>
            <a:ext cx="1538461" cy="64286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C00000"/>
                </a:solidFill>
                <a:latin typeface="宋体" panose="02010600030101010101" pitchFamily="2" charset="-122"/>
                <a:ea typeface="宋体" panose="02010600030101010101" pitchFamily="2" charset="-122"/>
              </a:rPr>
              <a:t>交流</a:t>
            </a:r>
            <a:r>
              <a:rPr lang="zh-CN" altLang="en-US" sz="2400" b="1" u="sng">
                <a:solidFill>
                  <a:srgbClr val="C00000"/>
                </a:solidFill>
                <a:latin typeface="宋体" panose="02010600030101010101" pitchFamily="2" charset="-122"/>
                <a:ea typeface="宋体" panose="02010600030101010101" pitchFamily="2" charset="-122"/>
              </a:rPr>
              <a:t>电桥</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17" name="Text Box 7">
            <a:extLst>
              <a:ext uri="{FF2B5EF4-FFF2-40B4-BE49-F238E27FC236}">
                <a16:creationId xmlns:a16="http://schemas.microsoft.com/office/drawing/2014/main" id="{96CE04C3-04D2-457E-9409-DA44E8D1BF0F}"/>
              </a:ext>
            </a:extLst>
          </p:cNvPr>
          <p:cNvSpPr txBox="1">
            <a:spLocks noChangeArrowheads="1"/>
          </p:cNvSpPr>
          <p:nvPr/>
        </p:nvSpPr>
        <p:spPr bwMode="auto">
          <a:xfrm>
            <a:off x="3275339" y="1278126"/>
            <a:ext cx="3887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宋体" panose="02010600030101010101" pitchFamily="2" charset="-122"/>
                <a:ea typeface="宋体" panose="02010600030101010101" pitchFamily="2" charset="-122"/>
              </a:rPr>
              <a:t>交流电桥平衡条件：</a:t>
            </a:r>
          </a:p>
        </p:txBody>
      </p:sp>
      <p:graphicFrame>
        <p:nvGraphicFramePr>
          <p:cNvPr id="18" name="Object 8">
            <a:extLst>
              <a:ext uri="{FF2B5EF4-FFF2-40B4-BE49-F238E27FC236}">
                <a16:creationId xmlns:a16="http://schemas.microsoft.com/office/drawing/2014/main" id="{E25D5FEA-E1E6-45DD-B761-545328CF51CC}"/>
              </a:ext>
            </a:extLst>
          </p:cNvPr>
          <p:cNvGraphicFramePr>
            <a:graphicFrameLocks noChangeAspect="1"/>
          </p:cNvGraphicFramePr>
          <p:nvPr>
            <p:extLst>
              <p:ext uri="{D42A27DB-BD31-4B8C-83A1-F6EECF244321}">
                <p14:modId xmlns:p14="http://schemas.microsoft.com/office/powerpoint/2010/main" val="2728666962"/>
              </p:ext>
            </p:extLst>
          </p:nvPr>
        </p:nvGraphicFramePr>
        <p:xfrm>
          <a:off x="3452499" y="1824552"/>
          <a:ext cx="3149600" cy="1144587"/>
        </p:xfrm>
        <a:graphic>
          <a:graphicData uri="http://schemas.openxmlformats.org/presentationml/2006/ole">
            <mc:AlternateContent xmlns:mc="http://schemas.openxmlformats.org/markup-compatibility/2006">
              <mc:Choice xmlns:v="urn:schemas-microsoft-com:vml" Requires="v">
                <p:oleObj name="公式" r:id="rId3" imgW="1257300" imgH="457200" progId="Equation.3">
                  <p:embed/>
                </p:oleObj>
              </mc:Choice>
              <mc:Fallback>
                <p:oleObj name="公式" r:id="rId3" imgW="1257300" imgH="457200" progId="Equation.3">
                  <p:embed/>
                  <p:pic>
                    <p:nvPicPr>
                      <p:cNvPr id="5"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2499" y="1824552"/>
                        <a:ext cx="3149600"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10">
            <a:extLst>
              <a:ext uri="{FF2B5EF4-FFF2-40B4-BE49-F238E27FC236}">
                <a16:creationId xmlns:a16="http://schemas.microsoft.com/office/drawing/2014/main" id="{18578CF1-9B10-4448-9AF1-8401A68D7CBA}"/>
              </a:ext>
            </a:extLst>
          </p:cNvPr>
          <p:cNvSpPr txBox="1">
            <a:spLocks noChangeArrowheads="1"/>
          </p:cNvSpPr>
          <p:nvPr/>
        </p:nvSpPr>
        <p:spPr bwMode="auto">
          <a:xfrm>
            <a:off x="3275339" y="3160956"/>
            <a:ext cx="4537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008000"/>
                </a:solidFill>
                <a:latin typeface="宋体" panose="02010600030101010101" pitchFamily="2" charset="-122"/>
                <a:ea typeface="宋体" panose="02010600030101010101" pitchFamily="2" charset="-122"/>
              </a:rPr>
              <a:t>空载交流电桥输出特性：</a:t>
            </a:r>
          </a:p>
        </p:txBody>
      </p:sp>
      <p:graphicFrame>
        <p:nvGraphicFramePr>
          <p:cNvPr id="21" name="Object 11">
            <a:extLst>
              <a:ext uri="{FF2B5EF4-FFF2-40B4-BE49-F238E27FC236}">
                <a16:creationId xmlns:a16="http://schemas.microsoft.com/office/drawing/2014/main" id="{1E0CE485-C6A9-4014-BABF-5DC1817B74F5}"/>
              </a:ext>
            </a:extLst>
          </p:cNvPr>
          <p:cNvGraphicFramePr>
            <a:graphicFrameLocks noChangeAspect="1"/>
          </p:cNvGraphicFramePr>
          <p:nvPr>
            <p:extLst>
              <p:ext uri="{D42A27DB-BD31-4B8C-83A1-F6EECF244321}">
                <p14:modId xmlns:p14="http://schemas.microsoft.com/office/powerpoint/2010/main" val="4212495662"/>
              </p:ext>
            </p:extLst>
          </p:nvPr>
        </p:nvGraphicFramePr>
        <p:xfrm>
          <a:off x="3507340" y="4404087"/>
          <a:ext cx="4951413" cy="2093912"/>
        </p:xfrm>
        <a:graphic>
          <a:graphicData uri="http://schemas.openxmlformats.org/presentationml/2006/ole">
            <mc:AlternateContent xmlns:mc="http://schemas.openxmlformats.org/markup-compatibility/2006">
              <mc:Choice xmlns:v="urn:schemas-microsoft-com:vml" Requires="v">
                <p:oleObj name="公式" r:id="rId5" imgW="1981200" imgH="838200" progId="Equation.3">
                  <p:embed/>
                </p:oleObj>
              </mc:Choice>
              <mc:Fallback>
                <p:oleObj name="公式" r:id="rId5" imgW="1981200" imgH="838200" progId="Equation.3">
                  <p:embed/>
                  <p:pic>
                    <p:nvPicPr>
                      <p:cNvPr id="7"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7340" y="4404087"/>
                        <a:ext cx="4951413" cy="209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3">
            <a:extLst>
              <a:ext uri="{FF2B5EF4-FFF2-40B4-BE49-F238E27FC236}">
                <a16:creationId xmlns:a16="http://schemas.microsoft.com/office/drawing/2014/main" id="{1FD5EB4D-7E58-4969-85D7-F0330AF7085D}"/>
              </a:ext>
            </a:extLst>
          </p:cNvPr>
          <p:cNvGraphicFramePr>
            <a:graphicFrameLocks noChangeAspect="1"/>
          </p:cNvGraphicFramePr>
          <p:nvPr>
            <p:extLst>
              <p:ext uri="{D42A27DB-BD31-4B8C-83A1-F6EECF244321}">
                <p14:modId xmlns:p14="http://schemas.microsoft.com/office/powerpoint/2010/main" val="41625112"/>
              </p:ext>
            </p:extLst>
          </p:nvPr>
        </p:nvGraphicFramePr>
        <p:xfrm>
          <a:off x="3994703" y="3689712"/>
          <a:ext cx="2216150" cy="503237"/>
        </p:xfrm>
        <a:graphic>
          <a:graphicData uri="http://schemas.openxmlformats.org/presentationml/2006/ole">
            <mc:AlternateContent xmlns:mc="http://schemas.openxmlformats.org/markup-compatibility/2006">
              <mc:Choice xmlns:v="urn:schemas-microsoft-com:vml" Requires="v">
                <p:oleObj name="公式" r:id="rId7" imgW="876240" imgH="203040" progId="Equation.3">
                  <p:embed/>
                </p:oleObj>
              </mc:Choice>
              <mc:Fallback>
                <p:oleObj name="公式" r:id="rId7" imgW="876240" imgH="203040" progId="Equation.3">
                  <p:embed/>
                  <p:pic>
                    <p:nvPicPr>
                      <p:cNvPr id="8"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4703" y="3689712"/>
                        <a:ext cx="2216150"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A4FCB572-1E05-46E8-97E4-3DD1A26F0861}"/>
              </a:ext>
            </a:extLst>
          </p:cNvPr>
          <p:cNvSpPr>
            <a:spLocks noGrp="1"/>
          </p:cNvSpPr>
          <p:nvPr>
            <p:ph type="sldNum" sz="quarter" idx="12"/>
          </p:nvPr>
        </p:nvSpPr>
        <p:spPr/>
        <p:txBody>
          <a:bodyPr/>
          <a:lstStyle/>
          <a:p>
            <a:fld id="{B53602B4-F12B-41CD-B648-531F86B2CC91}" type="slidenum">
              <a:rPr lang="zh-CN" altLang="en-US" smtClean="0"/>
              <a:t>70</a:t>
            </a:fld>
            <a:endParaRPr lang="zh-CN" altLang="en-US"/>
          </a:p>
        </p:txBody>
      </p:sp>
      <p:pic>
        <p:nvPicPr>
          <p:cNvPr id="13" name="Picture 12">
            <a:extLst>
              <a:ext uri="{FF2B5EF4-FFF2-40B4-BE49-F238E27FC236}">
                <a16:creationId xmlns:a16="http://schemas.microsoft.com/office/drawing/2014/main" id="{993FCC1C-8AAE-4C5A-A381-CDABC8733221}"/>
              </a:ext>
            </a:extLst>
          </p:cNvPr>
          <p:cNvPicPr>
            <a:picLocks noChangeAspect="1"/>
          </p:cNvPicPr>
          <p:nvPr/>
        </p:nvPicPr>
        <p:blipFill>
          <a:blip r:embed="rId9"/>
          <a:stretch>
            <a:fillRect/>
          </a:stretch>
        </p:blipFill>
        <p:spPr>
          <a:xfrm>
            <a:off x="799922" y="1793087"/>
            <a:ext cx="2411286" cy="4836118"/>
          </a:xfrm>
          <a:prstGeom prst="rect">
            <a:avLst/>
          </a:prstGeom>
        </p:spPr>
      </p:pic>
      <p:sp>
        <p:nvSpPr>
          <p:cNvPr id="15" name="TextBox 14">
            <a:extLst>
              <a:ext uri="{FF2B5EF4-FFF2-40B4-BE49-F238E27FC236}">
                <a16:creationId xmlns:a16="http://schemas.microsoft.com/office/drawing/2014/main" id="{ED7C06A7-A6B7-4060-9E2E-EBAF853EA115}"/>
              </a:ext>
            </a:extLst>
          </p:cNvPr>
          <p:cNvSpPr txBox="1"/>
          <p:nvPr/>
        </p:nvSpPr>
        <p:spPr>
          <a:xfrm>
            <a:off x="6967473" y="1153476"/>
            <a:ext cx="1689882" cy="1866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42900" indent="-342900">
              <a:lnSpc>
                <a:spcPct val="130000"/>
              </a:lnSpc>
              <a:spcAft>
                <a:spcPts val="600"/>
              </a:spcAft>
              <a:buFont typeface="Courier New" panose="02070309020205020404" pitchFamily="49" charset="0"/>
              <a:buChar char="o"/>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marL="0" indent="0" algn="ctr">
              <a:buNone/>
            </a:pPr>
            <a:r>
              <a:rPr lang="en-001" sz="2800"/>
              <a:t>复阻抗的</a:t>
            </a:r>
            <a:endParaRPr lang="en-US" sz="2800"/>
          </a:p>
          <a:p>
            <a:pPr marL="0" indent="0" algn="ctr">
              <a:buNone/>
            </a:pPr>
            <a:r>
              <a:rPr lang="en-001" sz="2800"/>
              <a:t>模</a:t>
            </a:r>
            <a:endParaRPr lang="en-US" sz="2800"/>
          </a:p>
          <a:p>
            <a:pPr marL="0" indent="0" algn="ctr">
              <a:buNone/>
            </a:pPr>
            <a:r>
              <a:rPr lang="en-001" sz="2800"/>
              <a:t>辐角</a:t>
            </a:r>
          </a:p>
        </p:txBody>
      </p:sp>
    </p:spTree>
    <p:extLst>
      <p:ext uri="{BB962C8B-B14F-4D97-AF65-F5344CB8AC3E}">
        <p14:creationId xmlns:p14="http://schemas.microsoft.com/office/powerpoint/2010/main" val="31074010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4">
            <a:extLst>
              <a:ext uri="{FF2B5EF4-FFF2-40B4-BE49-F238E27FC236}">
                <a16:creationId xmlns:a16="http://schemas.microsoft.com/office/drawing/2014/main" id="{D8CC6A2B-C67F-43A2-B693-2789AB7CAC8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85083" y="1076936"/>
            <a:ext cx="1538461" cy="64286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C00000"/>
                </a:solidFill>
                <a:latin typeface="宋体" panose="02010600030101010101" pitchFamily="2" charset="-122"/>
                <a:ea typeface="宋体" panose="02010600030101010101" pitchFamily="2" charset="-122"/>
              </a:rPr>
              <a:t>交流</a:t>
            </a:r>
            <a:r>
              <a:rPr lang="zh-CN" altLang="en-US" sz="2400" b="1" u="sng">
                <a:solidFill>
                  <a:srgbClr val="C00000"/>
                </a:solidFill>
                <a:latin typeface="宋体" panose="02010600030101010101" pitchFamily="2" charset="-122"/>
                <a:ea typeface="宋体" panose="02010600030101010101" pitchFamily="2" charset="-122"/>
              </a:rPr>
              <a:t>电桥</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11" name="Text Box 7">
            <a:extLst>
              <a:ext uri="{FF2B5EF4-FFF2-40B4-BE49-F238E27FC236}">
                <a16:creationId xmlns:a16="http://schemas.microsoft.com/office/drawing/2014/main" id="{625FF879-A1EA-409A-977A-DDC067FD3CCA}"/>
              </a:ext>
            </a:extLst>
          </p:cNvPr>
          <p:cNvSpPr txBox="1">
            <a:spLocks noChangeArrowheads="1"/>
          </p:cNvSpPr>
          <p:nvPr/>
        </p:nvSpPr>
        <p:spPr bwMode="auto">
          <a:xfrm>
            <a:off x="3803518" y="3538179"/>
            <a:ext cx="3887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C00000"/>
                </a:solidFill>
                <a:latin typeface="宋体" panose="02010600030101010101" pitchFamily="2" charset="-122"/>
                <a:ea typeface="宋体" panose="02010600030101010101" pitchFamily="2" charset="-122"/>
              </a:rPr>
              <a:t>假设：</a:t>
            </a:r>
          </a:p>
        </p:txBody>
      </p:sp>
      <p:graphicFrame>
        <p:nvGraphicFramePr>
          <p:cNvPr id="12" name="Object 8">
            <a:extLst>
              <a:ext uri="{FF2B5EF4-FFF2-40B4-BE49-F238E27FC236}">
                <a16:creationId xmlns:a16="http://schemas.microsoft.com/office/drawing/2014/main" id="{C5D4BCE5-A581-4FCF-B860-06344675FEA9}"/>
              </a:ext>
            </a:extLst>
          </p:cNvPr>
          <p:cNvGraphicFramePr>
            <a:graphicFrameLocks noChangeAspect="1"/>
          </p:cNvGraphicFramePr>
          <p:nvPr>
            <p:extLst>
              <p:ext uri="{D42A27DB-BD31-4B8C-83A1-F6EECF244321}">
                <p14:modId xmlns:p14="http://schemas.microsoft.com/office/powerpoint/2010/main" val="2232637678"/>
              </p:ext>
            </p:extLst>
          </p:nvPr>
        </p:nvGraphicFramePr>
        <p:xfrm>
          <a:off x="5161382" y="3552657"/>
          <a:ext cx="1150938" cy="503238"/>
        </p:xfrm>
        <a:graphic>
          <a:graphicData uri="http://schemas.openxmlformats.org/presentationml/2006/ole">
            <mc:AlternateContent xmlns:mc="http://schemas.openxmlformats.org/markup-compatibility/2006">
              <mc:Choice xmlns:v="urn:schemas-microsoft-com:vml" Requires="v">
                <p:oleObj name="公式" r:id="rId3" imgW="457002" imgH="203112" progId="Equation.3">
                  <p:embed/>
                </p:oleObj>
              </mc:Choice>
              <mc:Fallback>
                <p:oleObj name="公式" r:id="rId3" imgW="457002" imgH="203112" progId="Equation.3">
                  <p:embed/>
                  <p:pic>
                    <p:nvPicPr>
                      <p:cNvPr id="5"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1382" y="3552657"/>
                        <a:ext cx="1150938"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0">
            <a:extLst>
              <a:ext uri="{FF2B5EF4-FFF2-40B4-BE49-F238E27FC236}">
                <a16:creationId xmlns:a16="http://schemas.microsoft.com/office/drawing/2014/main" id="{5B881B7D-6167-4614-A449-00BF403292B6}"/>
              </a:ext>
            </a:extLst>
          </p:cNvPr>
          <p:cNvGraphicFramePr>
            <a:graphicFrameLocks noChangeAspect="1"/>
          </p:cNvGraphicFramePr>
          <p:nvPr>
            <p:extLst>
              <p:ext uri="{D42A27DB-BD31-4B8C-83A1-F6EECF244321}">
                <p14:modId xmlns:p14="http://schemas.microsoft.com/office/powerpoint/2010/main" val="694595378"/>
              </p:ext>
            </p:extLst>
          </p:nvPr>
        </p:nvGraphicFramePr>
        <p:xfrm>
          <a:off x="6701819" y="3527952"/>
          <a:ext cx="1150938" cy="503238"/>
        </p:xfrm>
        <a:graphic>
          <a:graphicData uri="http://schemas.openxmlformats.org/presentationml/2006/ole">
            <mc:AlternateContent xmlns:mc="http://schemas.openxmlformats.org/markup-compatibility/2006">
              <mc:Choice xmlns:v="urn:schemas-microsoft-com:vml" Requires="v">
                <p:oleObj name="公式" r:id="rId5" imgW="457200" imgH="203040" progId="Equation.3">
                  <p:embed/>
                </p:oleObj>
              </mc:Choice>
              <mc:Fallback>
                <p:oleObj name="公式" r:id="rId5" imgW="457200" imgH="203040" progId="Equation.3">
                  <p:embed/>
                  <p:pic>
                    <p:nvPicPr>
                      <p:cNvPr id="6"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1819" y="3527952"/>
                        <a:ext cx="1150938"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1">
            <a:extLst>
              <a:ext uri="{FF2B5EF4-FFF2-40B4-BE49-F238E27FC236}">
                <a16:creationId xmlns:a16="http://schemas.microsoft.com/office/drawing/2014/main" id="{356B7D04-2D5A-4929-9A86-65804DA63C2D}"/>
              </a:ext>
            </a:extLst>
          </p:cNvPr>
          <p:cNvSpPr txBox="1">
            <a:spLocks noChangeArrowheads="1"/>
          </p:cNvSpPr>
          <p:nvPr/>
        </p:nvSpPr>
        <p:spPr bwMode="auto">
          <a:xfrm>
            <a:off x="3803518" y="4310782"/>
            <a:ext cx="38877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solidFill>
                  <a:srgbClr val="C00000"/>
                </a:solidFill>
                <a:latin typeface="宋体" panose="02010600030101010101" pitchFamily="2" charset="-122"/>
                <a:ea typeface="宋体" panose="02010600030101010101" pitchFamily="2" charset="-122"/>
              </a:rPr>
              <a:t>忽略非线性，则：</a:t>
            </a:r>
          </a:p>
        </p:txBody>
      </p:sp>
      <p:graphicFrame>
        <p:nvGraphicFramePr>
          <p:cNvPr id="15" name="Object 12">
            <a:extLst>
              <a:ext uri="{FF2B5EF4-FFF2-40B4-BE49-F238E27FC236}">
                <a16:creationId xmlns:a16="http://schemas.microsoft.com/office/drawing/2014/main" id="{8D248107-501E-4662-AACE-FA572503F445}"/>
              </a:ext>
            </a:extLst>
          </p:cNvPr>
          <p:cNvGraphicFramePr>
            <a:graphicFrameLocks noChangeAspect="1"/>
          </p:cNvGraphicFramePr>
          <p:nvPr>
            <p:extLst>
              <p:ext uri="{D42A27DB-BD31-4B8C-83A1-F6EECF244321}">
                <p14:modId xmlns:p14="http://schemas.microsoft.com/office/powerpoint/2010/main" val="1758372048"/>
              </p:ext>
            </p:extLst>
          </p:nvPr>
        </p:nvGraphicFramePr>
        <p:xfrm>
          <a:off x="5115868" y="4769587"/>
          <a:ext cx="2900362" cy="1108075"/>
        </p:xfrm>
        <a:graphic>
          <a:graphicData uri="http://schemas.openxmlformats.org/presentationml/2006/ole">
            <mc:AlternateContent xmlns:mc="http://schemas.openxmlformats.org/markup-compatibility/2006">
              <mc:Choice xmlns:v="urn:schemas-microsoft-com:vml" Requires="v">
                <p:oleObj name="公式" r:id="rId7" imgW="1167893" imgH="444307" progId="Equation.3">
                  <p:embed/>
                </p:oleObj>
              </mc:Choice>
              <mc:Fallback>
                <p:oleObj name="公式" r:id="rId7" imgW="1167893" imgH="444307" progId="Equation.3">
                  <p:embed/>
                  <p:pic>
                    <p:nvPicPr>
                      <p:cNvPr id="8"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15868" y="4769587"/>
                        <a:ext cx="2900362"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a:extLst>
              <a:ext uri="{FF2B5EF4-FFF2-40B4-BE49-F238E27FC236}">
                <a16:creationId xmlns:a16="http://schemas.microsoft.com/office/drawing/2014/main" id="{15FB3E39-A77B-4643-99E5-5E0660865F97}"/>
              </a:ext>
            </a:extLst>
          </p:cNvPr>
          <p:cNvGraphicFramePr>
            <a:graphicFrameLocks noChangeAspect="1"/>
          </p:cNvGraphicFramePr>
          <p:nvPr>
            <p:extLst>
              <p:ext uri="{D42A27DB-BD31-4B8C-83A1-F6EECF244321}">
                <p14:modId xmlns:p14="http://schemas.microsoft.com/office/powerpoint/2010/main" val="1368448167"/>
              </p:ext>
            </p:extLst>
          </p:nvPr>
        </p:nvGraphicFramePr>
        <p:xfrm>
          <a:off x="3879760" y="1541391"/>
          <a:ext cx="3881351" cy="1641392"/>
        </p:xfrm>
        <a:graphic>
          <a:graphicData uri="http://schemas.openxmlformats.org/presentationml/2006/ole">
            <mc:AlternateContent xmlns:mc="http://schemas.openxmlformats.org/markup-compatibility/2006">
              <mc:Choice xmlns:v="urn:schemas-microsoft-com:vml" Requires="v">
                <p:oleObj name="Equation" r:id="rId9" imgW="4951449" imgH="2094195" progId="Equation.DSMT4">
                  <p:embed/>
                </p:oleObj>
              </mc:Choice>
              <mc:Fallback>
                <p:oleObj name="Equation" r:id="rId9" imgW="4951449" imgH="2094195" progId="Equation.DSMT4">
                  <p:embed/>
                  <p:pic>
                    <p:nvPicPr>
                      <p:cNvPr id="0" name=""/>
                      <p:cNvPicPr/>
                      <p:nvPr/>
                    </p:nvPicPr>
                    <p:blipFill>
                      <a:blip r:embed="rId10"/>
                      <a:stretch>
                        <a:fillRect/>
                      </a:stretch>
                    </p:blipFill>
                    <p:spPr>
                      <a:xfrm>
                        <a:off x="3879760" y="1541391"/>
                        <a:ext cx="3881351" cy="1641392"/>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D50576FD-CBC1-4D15-AED4-D2E90AF00960}"/>
              </a:ext>
            </a:extLst>
          </p:cNvPr>
          <p:cNvSpPr>
            <a:spLocks noGrp="1"/>
          </p:cNvSpPr>
          <p:nvPr>
            <p:ph type="sldNum" sz="quarter" idx="12"/>
          </p:nvPr>
        </p:nvSpPr>
        <p:spPr/>
        <p:txBody>
          <a:bodyPr/>
          <a:lstStyle/>
          <a:p>
            <a:fld id="{B53602B4-F12B-41CD-B648-531F86B2CC91}" type="slidenum">
              <a:rPr lang="zh-CN" altLang="en-US" smtClean="0"/>
              <a:t>71</a:t>
            </a:fld>
            <a:endParaRPr lang="zh-CN" altLang="en-US"/>
          </a:p>
        </p:txBody>
      </p:sp>
      <p:pic>
        <p:nvPicPr>
          <p:cNvPr id="17" name="Picture 16">
            <a:extLst>
              <a:ext uri="{FF2B5EF4-FFF2-40B4-BE49-F238E27FC236}">
                <a16:creationId xmlns:a16="http://schemas.microsoft.com/office/drawing/2014/main" id="{167FB4C2-CC55-4A3D-BF0E-ADD6C65EE71E}"/>
              </a:ext>
            </a:extLst>
          </p:cNvPr>
          <p:cNvPicPr>
            <a:picLocks noChangeAspect="1"/>
          </p:cNvPicPr>
          <p:nvPr/>
        </p:nvPicPr>
        <p:blipFill>
          <a:blip r:embed="rId11"/>
          <a:stretch>
            <a:fillRect/>
          </a:stretch>
        </p:blipFill>
        <p:spPr>
          <a:xfrm>
            <a:off x="799922" y="1793087"/>
            <a:ext cx="2411286" cy="4836118"/>
          </a:xfrm>
          <a:prstGeom prst="rect">
            <a:avLst/>
          </a:prstGeom>
        </p:spPr>
      </p:pic>
    </p:spTree>
    <p:extLst>
      <p:ext uri="{BB962C8B-B14F-4D97-AF65-F5344CB8AC3E}">
        <p14:creationId xmlns:p14="http://schemas.microsoft.com/office/powerpoint/2010/main" val="4505268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CC1E15D6-757B-4375-A523-B2F127465C0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5"/>
          <p:cNvSpPr txBox="1">
            <a:spLocks noRot="1" noChangeArrowheads="1"/>
          </p:cNvSpPr>
          <p:nvPr/>
        </p:nvSpPr>
        <p:spPr>
          <a:xfrm>
            <a:off x="185083" y="1076936"/>
            <a:ext cx="1538461" cy="64286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249238">
              <a:lnSpc>
                <a:spcPct val="180000"/>
              </a:lnSpc>
              <a:spcBef>
                <a:spcPct val="0"/>
              </a:spcBef>
              <a:buFont typeface="Wingdings" panose="05000000000000000000" pitchFamily="2" charset="2"/>
              <a:buNone/>
            </a:pPr>
            <a:r>
              <a:rPr lang="zh-CN" altLang="en-US" sz="2400" b="1" u="sng" dirty="0">
                <a:solidFill>
                  <a:srgbClr val="C00000"/>
                </a:solidFill>
                <a:latin typeface="宋体" panose="02010600030101010101" pitchFamily="2" charset="-122"/>
                <a:ea typeface="宋体" panose="02010600030101010101" pitchFamily="2" charset="-122"/>
              </a:rPr>
              <a:t>交流</a:t>
            </a:r>
            <a:r>
              <a:rPr lang="zh-CN" altLang="en-US" sz="2400" b="1" u="sng">
                <a:solidFill>
                  <a:srgbClr val="C00000"/>
                </a:solidFill>
                <a:latin typeface="宋体" panose="02010600030101010101" pitchFamily="2" charset="-122"/>
                <a:ea typeface="宋体" panose="02010600030101010101" pitchFamily="2" charset="-122"/>
              </a:rPr>
              <a:t>电桥</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16" name="Text Box 9">
            <a:extLst>
              <a:ext uri="{FF2B5EF4-FFF2-40B4-BE49-F238E27FC236}">
                <a16:creationId xmlns:a16="http://schemas.microsoft.com/office/drawing/2014/main" id="{BF0F8698-DB09-4F3A-BE8D-BA762D78E061}"/>
              </a:ext>
            </a:extLst>
          </p:cNvPr>
          <p:cNvSpPr txBox="1">
            <a:spLocks noChangeArrowheads="1"/>
          </p:cNvSpPr>
          <p:nvPr/>
        </p:nvSpPr>
        <p:spPr bwMode="auto">
          <a:xfrm>
            <a:off x="2835412" y="6116534"/>
            <a:ext cx="456091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2-31  </a:t>
            </a:r>
            <a:r>
              <a:rPr lang="zh-CN" altLang="en-US" b="1" dirty="0">
                <a:solidFill>
                  <a:srgbClr val="000099"/>
                </a:solidFill>
              </a:rPr>
              <a:t>常见的调节平衡电路</a:t>
            </a:r>
          </a:p>
        </p:txBody>
      </p:sp>
      <p:pic>
        <p:nvPicPr>
          <p:cNvPr id="17" name="图片 1">
            <a:extLst>
              <a:ext uri="{FF2B5EF4-FFF2-40B4-BE49-F238E27FC236}">
                <a16:creationId xmlns:a16="http://schemas.microsoft.com/office/drawing/2014/main" id="{3AFABB69-11DB-459B-A5B6-45BAA6D7327B}"/>
              </a:ext>
            </a:extLst>
          </p:cNvPr>
          <p:cNvPicPr>
            <a:picLocks noChangeAspect="1"/>
          </p:cNvPicPr>
          <p:nvPr/>
        </p:nvPicPr>
        <p:blipFill>
          <a:blip r:embed="rId3"/>
          <a:stretch>
            <a:fillRect/>
          </a:stretch>
        </p:blipFill>
        <p:spPr>
          <a:xfrm>
            <a:off x="1024806" y="3510688"/>
            <a:ext cx="7094387" cy="2605846"/>
          </a:xfrm>
          <a:prstGeom prst="rect">
            <a:avLst/>
          </a:prstGeom>
        </p:spPr>
      </p:pic>
      <p:sp>
        <p:nvSpPr>
          <p:cNvPr id="2" name="Slide Number Placeholder 1">
            <a:extLst>
              <a:ext uri="{FF2B5EF4-FFF2-40B4-BE49-F238E27FC236}">
                <a16:creationId xmlns:a16="http://schemas.microsoft.com/office/drawing/2014/main" id="{470CD32A-1EE2-4D99-8997-47D8BD224E3E}"/>
              </a:ext>
            </a:extLst>
          </p:cNvPr>
          <p:cNvSpPr>
            <a:spLocks noGrp="1"/>
          </p:cNvSpPr>
          <p:nvPr>
            <p:ph type="sldNum" sz="quarter" idx="12"/>
          </p:nvPr>
        </p:nvSpPr>
        <p:spPr/>
        <p:txBody>
          <a:bodyPr/>
          <a:lstStyle/>
          <a:p>
            <a:fld id="{B53602B4-F12B-41CD-B648-531F86B2CC91}" type="slidenum">
              <a:rPr lang="zh-CN" altLang="en-US" smtClean="0"/>
              <a:t>72</a:t>
            </a:fld>
            <a:endParaRPr lang="zh-CN" altLang="en-US"/>
          </a:p>
        </p:txBody>
      </p:sp>
      <p:sp>
        <p:nvSpPr>
          <p:cNvPr id="11" name="TextBox 10">
            <a:extLst>
              <a:ext uri="{FF2B5EF4-FFF2-40B4-BE49-F238E27FC236}">
                <a16:creationId xmlns:a16="http://schemas.microsoft.com/office/drawing/2014/main" id="{255BA97F-2048-4874-B6B0-689A53DAEB9C}"/>
              </a:ext>
            </a:extLst>
          </p:cNvPr>
          <p:cNvSpPr txBox="1"/>
          <p:nvPr/>
        </p:nvSpPr>
        <p:spPr>
          <a:xfrm>
            <a:off x="1964358" y="1243132"/>
            <a:ext cx="6084342"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42900" indent="-342900">
              <a:lnSpc>
                <a:spcPct val="130000"/>
              </a:lnSpc>
              <a:spcAft>
                <a:spcPts val="600"/>
              </a:spcAft>
              <a:buFont typeface="Courier New" panose="02070309020205020404" pitchFamily="49" charset="0"/>
              <a:buChar char="o"/>
              <a:defRPr kumimoji="1" sz="2400" b="1">
                <a:solidFill>
                  <a:srgbClr val="002060"/>
                </a:solidFill>
                <a:latin typeface="Times New Roman" panose="02020603050405020304" pitchFamily="18" charset="0"/>
                <a:ea typeface="宋体" panose="02010600030101010101" pitchFamily="2" charset="-122"/>
              </a:defRPr>
            </a:lvl1pPr>
            <a:lvl2pPr marL="742950" indent="-285750" eaLnBrk="0" hangingPunct="0">
              <a:defRPr kumimoji="1" sz="2400">
                <a:latin typeface="Times New Roman" panose="02020603050405020304" pitchFamily="18" charset="0"/>
                <a:ea typeface="宋体" panose="02010600030101010101" pitchFamily="2" charset="-122"/>
              </a:defRPr>
            </a:lvl2pPr>
            <a:lvl3pPr marL="1143000" indent="-228600" eaLnBrk="0" hangingPunct="0">
              <a:defRPr kumimoji="1" sz="2400">
                <a:latin typeface="Times New Roman" panose="02020603050405020304" pitchFamily="18" charset="0"/>
                <a:ea typeface="宋体" panose="02010600030101010101" pitchFamily="2" charset="-122"/>
              </a:defRPr>
            </a:lvl3pPr>
            <a:lvl4pPr marL="1600200" indent="-228600" eaLnBrk="0" hangingPunct="0">
              <a:defRPr kumimoji="1" sz="2400">
                <a:latin typeface="Times New Roman" panose="02020603050405020304" pitchFamily="18" charset="0"/>
                <a:ea typeface="宋体" panose="02010600030101010101" pitchFamily="2" charset="-122"/>
              </a:defRPr>
            </a:lvl4pPr>
            <a:lvl5pPr marL="2057400" indent="-228600" eaLnBrk="0" hangingPunct="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pPr marL="0" indent="0">
              <a:lnSpc>
                <a:spcPct val="100000"/>
              </a:lnSpc>
              <a:buNone/>
            </a:pPr>
            <a:r>
              <a:rPr lang="en-001"/>
              <a:t>交流电容电桥：</a:t>
            </a:r>
          </a:p>
          <a:p>
            <a:pPr>
              <a:lnSpc>
                <a:spcPct val="100000"/>
              </a:lnSpc>
            </a:pPr>
            <a:r>
              <a:rPr lang="en-001"/>
              <a:t>满足</a:t>
            </a:r>
            <a:r>
              <a:rPr lang="en-001">
                <a:solidFill>
                  <a:srgbClr val="FF0000"/>
                </a:solidFill>
              </a:rPr>
              <a:t>电阻平衡</a:t>
            </a:r>
            <a:r>
              <a:rPr lang="en-001"/>
              <a:t>条件</a:t>
            </a:r>
          </a:p>
          <a:p>
            <a:pPr>
              <a:lnSpc>
                <a:spcPct val="100000"/>
              </a:lnSpc>
            </a:pPr>
            <a:r>
              <a:rPr lang="en-001"/>
              <a:t>还必须满足</a:t>
            </a:r>
            <a:r>
              <a:rPr lang="en-001">
                <a:solidFill>
                  <a:srgbClr val="FF0000"/>
                </a:solidFill>
              </a:rPr>
              <a:t>电容平衡</a:t>
            </a:r>
            <a:r>
              <a:rPr lang="en-001"/>
              <a:t>条件。</a:t>
            </a:r>
          </a:p>
          <a:p>
            <a:pPr marL="0" indent="0">
              <a:lnSpc>
                <a:spcPct val="100000"/>
              </a:lnSpc>
              <a:buNone/>
            </a:pPr>
            <a:r>
              <a:rPr lang="en-001"/>
              <a:t>为此在桥路上除设有电阻平衡调节外还设有电容平衡调节。</a:t>
            </a:r>
          </a:p>
        </p:txBody>
      </p:sp>
    </p:spTree>
    <p:extLst>
      <p:ext uri="{BB962C8B-B14F-4D97-AF65-F5344CB8AC3E}">
        <p14:creationId xmlns:p14="http://schemas.microsoft.com/office/powerpoint/2010/main" val="6126032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FD591ABD-EA06-4634-9C1A-7B51113F778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2" name="Rectangle 3"/>
          <p:cNvSpPr txBox="1">
            <a:spLocks noRot="1" noChangeArrowheads="1"/>
          </p:cNvSpPr>
          <p:nvPr/>
        </p:nvSpPr>
        <p:spPr>
          <a:xfrm>
            <a:off x="1058905" y="1791267"/>
            <a:ext cx="7016750" cy="42455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zh-CN" altLang="en-US" sz="2400" b="1" dirty="0">
                <a:latin typeface="宋体" panose="02010600030101010101" pitchFamily="2" charset="-122"/>
                <a:ea typeface="宋体" panose="02010600030101010101" pitchFamily="2" charset="-122"/>
              </a:rPr>
              <a:t>例：已知公式：                      </a:t>
            </a: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初始电阻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dirty="0">
                <a:latin typeface="宋体" panose="02010600030101010101" pitchFamily="2" charset="-122"/>
                <a:ea typeface="宋体" panose="02010600030101010101" pitchFamily="2" charset="-122"/>
              </a:rPr>
              <a:t>=120</a:t>
            </a:r>
            <a:r>
              <a:rPr lang="en-US" altLang="zh-CN" sz="2400" dirty="0">
                <a:latin typeface="宋体" panose="02010600030101010101" pitchFamily="2" charset="-122"/>
                <a:ea typeface="宋体" panose="02010600030101010101" pitchFamily="2" charset="-122"/>
                <a:sym typeface="Symbol" panose="05050102010706020507" pitchFamily="18" charset="2"/>
              </a:rPr>
              <a:t></a:t>
            </a: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sym typeface="Symbol" panose="05050102010706020507" pitchFamily="18" charset="2"/>
              </a:rPr>
              <a:t>    灵敏系数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k</a:t>
            </a:r>
            <a:r>
              <a:rPr lang="en-US" altLang="zh-CN" sz="2400" dirty="0">
                <a:latin typeface="宋体" panose="02010600030101010101" pitchFamily="2" charset="-122"/>
                <a:ea typeface="宋体" panose="02010600030101010101" pitchFamily="2" charset="-122"/>
                <a:sym typeface="Symbol" panose="05050102010706020507" pitchFamily="18" charset="2"/>
              </a:rPr>
              <a:t>=2</a:t>
            </a: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sym typeface="Symbol" panose="05050102010706020507" pitchFamily="18" charset="2"/>
              </a:rPr>
              <a:t>    纵向应变 </a:t>
            </a:r>
            <a:r>
              <a:rPr lang="zh-CN" altLang="en-US" sz="2400" i="1" dirty="0">
                <a:latin typeface="宋体" panose="02010600030101010101" pitchFamily="2" charset="-122"/>
                <a:ea typeface="宋体" panose="02010600030101010101" pitchFamily="2" charset="-122"/>
                <a:sym typeface="Symbol" panose="05050102010706020507" pitchFamily="18" charset="2"/>
              </a:rPr>
              <a:t></a:t>
            </a:r>
            <a:r>
              <a:rPr lang="en-US" altLang="zh-CN" sz="2400" i="1" dirty="0">
                <a:latin typeface="宋体" panose="02010600030101010101" pitchFamily="2" charset="-122"/>
                <a:ea typeface="宋体" panose="02010600030101010101" pitchFamily="2" charset="-122"/>
                <a:sym typeface="Symbol" panose="05050102010706020507" pitchFamily="18" charset="2"/>
              </a:rPr>
              <a:t>=</a:t>
            </a:r>
            <a:r>
              <a:rPr lang="en-US" altLang="zh-CN" sz="2400" dirty="0">
                <a:latin typeface="宋体" panose="02010600030101010101" pitchFamily="2" charset="-122"/>
                <a:ea typeface="宋体" panose="02010600030101010101" pitchFamily="2" charset="-122"/>
                <a:sym typeface="Symbol" panose="05050102010706020507" pitchFamily="18" charset="2"/>
              </a:rPr>
              <a:t>1000</a:t>
            </a:r>
            <a:r>
              <a:rPr lang="en-US" altLang="zh-CN" sz="2400" b="1" dirty="0">
                <a:latin typeface="宋体" panose="02010600030101010101" pitchFamily="2" charset="-122"/>
                <a:ea typeface="宋体" panose="02010600030101010101" pitchFamily="2" charset="-122"/>
                <a:sym typeface="Symbol" panose="05050102010706020507" pitchFamily="18" charset="2"/>
              </a:rPr>
              <a:t>=1‰</a:t>
            </a:r>
            <a:r>
              <a:rPr lang="zh-CN" altLang="en-US" sz="2400" b="1" dirty="0">
                <a:latin typeface="宋体" panose="02010600030101010101" pitchFamily="2" charset="-122"/>
                <a:ea typeface="宋体" panose="02010600030101010101" pitchFamily="2" charset="-122"/>
                <a:sym typeface="Symbol" panose="05050102010706020507" pitchFamily="18" charset="2"/>
              </a:rPr>
              <a:t>时</a:t>
            </a:r>
            <a:r>
              <a:rPr lang="en-US" altLang="zh-CN" sz="2400" b="1" dirty="0">
                <a:latin typeface="宋体" panose="02010600030101010101" pitchFamily="2" charset="-122"/>
                <a:ea typeface="宋体" panose="02010600030101010101" pitchFamily="2" charset="-122"/>
                <a:sym typeface="Symbol" panose="05050102010706020507" pitchFamily="18" charset="2"/>
              </a:rPr>
              <a:t>,</a:t>
            </a:r>
            <a:endParaRPr lang="zh-CN" altLang="en-US" sz="2400" b="1" dirty="0">
              <a:latin typeface="宋体" panose="02010600030101010101" pitchFamily="2" charset="-122"/>
              <a:ea typeface="宋体" panose="02010600030101010101" pitchFamily="2" charset="-122"/>
              <a:sym typeface="Symbol" panose="05050102010706020507" pitchFamily="18" charset="2"/>
            </a:endParaRP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sym typeface="Symbol" panose="05050102010706020507" pitchFamily="18" charset="2"/>
              </a:rPr>
              <a:t>    求：该应变片电阻的绝对变化量</a:t>
            </a: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sym typeface="Symbol" panose="05050102010706020507" pitchFamily="18" charset="2"/>
              </a:rPr>
              <a:t>            </a:t>
            </a:r>
            <a:r>
              <a:rPr lang="zh-CN" altLang="en-US" sz="2400" dirty="0">
                <a:latin typeface="宋体" panose="02010600030101010101" pitchFamily="2" charset="-122"/>
                <a:ea typeface="宋体" panose="02010600030101010101" pitchFamily="2" charset="-122"/>
                <a:sym typeface="Symbol" panose="05050102010706020507" pitchFamily="18" charset="2"/>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400" dirty="0">
                <a:latin typeface="宋体" panose="02010600030101010101" pitchFamily="2" charset="-122"/>
                <a:ea typeface="宋体" panose="02010600030101010101" pitchFamily="2" charset="-122"/>
                <a:sym typeface="Symbol" panose="05050102010706020507" pitchFamily="18" charset="2"/>
              </a:rPr>
              <a:t>=0.24 </a:t>
            </a:r>
          </a:p>
        </p:txBody>
      </p:sp>
      <mc:AlternateContent xmlns:mc="http://schemas.openxmlformats.org/markup-compatibility/2006" xmlns:a14="http://schemas.microsoft.com/office/drawing/2010/main">
        <mc:Choice Requires="a14">
          <p:sp>
            <p:nvSpPr>
              <p:cNvPr id="3" name="矩形 2"/>
              <p:cNvSpPr/>
              <p:nvPr/>
            </p:nvSpPr>
            <p:spPr>
              <a:xfrm>
                <a:off x="3636664" y="1790492"/>
                <a:ext cx="2958407" cy="793551"/>
              </a:xfrm>
              <a:prstGeom prst="rect">
                <a:avLst/>
              </a:prstGeom>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en-US" sz="2400" i="1" smtClean="0">
                              <a:latin typeface="Cambria Math" panose="02040503050406030204" pitchFamily="18" charset="0"/>
                            </a:rPr>
                          </m:ctrlPr>
                        </m:fPr>
                        <m:num>
                          <m:r>
                            <a:rPr lang="zh-CN" altLang="en-US" sz="2400">
                              <a:latin typeface="Cambria Math" panose="02040503050406030204" pitchFamily="18" charset="0"/>
                            </a:rPr>
                            <m:t>∆</m:t>
                          </m:r>
                          <m:r>
                            <a:rPr lang="zh-CN" altLang="en-US" sz="2400" i="1">
                              <a:latin typeface="Cambria Math" panose="02040503050406030204" pitchFamily="18" charset="0"/>
                            </a:rPr>
                            <m:t>𝑅</m:t>
                          </m:r>
                        </m:num>
                        <m:den>
                          <m:r>
                            <a:rPr lang="zh-CN" altLang="en-US" sz="2400" i="1">
                              <a:latin typeface="Cambria Math" panose="02040503050406030204" pitchFamily="18" charset="0"/>
                            </a:rPr>
                            <m:t>𝑅</m:t>
                          </m:r>
                        </m:den>
                      </m:f>
                      <m:r>
                        <a:rPr lang="zh-CN" altLang="en-US" sz="2400" i="0">
                          <a:latin typeface="Cambria Math" panose="02040503050406030204" pitchFamily="18" charset="0"/>
                        </a:rPr>
                        <m:t>=</m:t>
                      </m:r>
                      <m:r>
                        <a:rPr lang="en-US" altLang="zh-CN" sz="2400" i="1" smtClean="0">
                          <a:latin typeface="Cambria Math" panose="02040503050406030204" pitchFamily="18" charset="0"/>
                        </a:rPr>
                        <m:t>𝑘</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m:t>
                          </m:r>
                          <m:r>
                            <a:rPr lang="zh-CN" altLang="en-US" sz="2400" i="1">
                              <a:latin typeface="Cambria Math" panose="02040503050406030204" pitchFamily="18" charset="0"/>
                            </a:rPr>
                            <m:t>𝑙</m:t>
                          </m:r>
                        </m:num>
                        <m:den>
                          <m:r>
                            <a:rPr lang="zh-CN" altLang="en-US" sz="2400" i="1">
                              <a:latin typeface="Cambria Math" panose="02040503050406030204" pitchFamily="18" charset="0"/>
                            </a:rPr>
                            <m:t>𝑙</m:t>
                          </m:r>
                        </m:den>
                      </m:f>
                      <m:r>
                        <a:rPr lang="zh-CN" altLang="en-US" sz="2400" i="0">
                          <a:latin typeface="Cambria Math" panose="02040503050406030204" pitchFamily="18" charset="0"/>
                        </a:rPr>
                        <m:t>=</m:t>
                      </m:r>
                      <m:r>
                        <a:rPr lang="en-US" altLang="zh-CN" sz="2400" b="0" i="1" smtClean="0">
                          <a:latin typeface="Cambria Math" panose="02040503050406030204" pitchFamily="18" charset="0"/>
                        </a:rPr>
                        <m:t>𝑘</m:t>
                      </m:r>
                      <m:r>
                        <a:rPr lang="zh-CN" altLang="en-US" sz="2400" i="0">
                          <a:latin typeface="Cambria Math" panose="02040503050406030204" pitchFamily="18" charset="0"/>
                        </a:rPr>
                        <m:t>∙</m:t>
                      </m:r>
                      <m:r>
                        <a:rPr lang="zh-CN" altLang="en-US" sz="2400" i="1">
                          <a:latin typeface="Cambria Math" panose="02040503050406030204" pitchFamily="18" charset="0"/>
                        </a:rPr>
                        <m:t>𝜀</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 name="矩形 2"/>
              <p:cNvSpPr>
                <a:spLocks noRot="1" noChangeAspect="1" noMove="1" noResize="1" noEditPoints="1" noAdjustHandles="1" noChangeArrowheads="1" noChangeShapeType="1" noTextEdit="1"/>
              </p:cNvSpPr>
              <p:nvPr/>
            </p:nvSpPr>
            <p:spPr>
              <a:xfrm>
                <a:off x="3636664" y="1790492"/>
                <a:ext cx="2958407" cy="793551"/>
              </a:xfrm>
              <a:prstGeom prst="rect">
                <a:avLst/>
              </a:prstGeom>
              <a:blipFill>
                <a:blip r:embed="rId3"/>
                <a:stretch>
                  <a:fillRect/>
                </a:stretch>
              </a:blipFill>
              <a:ln>
                <a:solidFill>
                  <a:srgbClr val="FF0000"/>
                </a:solidFill>
              </a:ln>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D5742A95-C805-49A1-BCDB-570C52952F19}"/>
              </a:ext>
            </a:extLst>
          </p:cNvPr>
          <p:cNvSpPr>
            <a:spLocks noGrp="1"/>
          </p:cNvSpPr>
          <p:nvPr>
            <p:ph type="sldNum" sz="quarter" idx="12"/>
          </p:nvPr>
        </p:nvSpPr>
        <p:spPr/>
        <p:txBody>
          <a:bodyPr/>
          <a:lstStyle/>
          <a:p>
            <a:fld id="{B53602B4-F12B-41CD-B648-531F86B2CC91}" type="slidenum">
              <a:rPr lang="zh-CN" altLang="en-US" smtClean="0"/>
              <a:t>73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386E1C14-2E18-47D7-B5E9-3EB9605F7F60}"/>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2.2.4</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应变片式电阻传感器的测量电路</a:t>
            </a:r>
          </a:p>
        </p:txBody>
      </p:sp>
      <p:sp>
        <p:nvSpPr>
          <p:cNvPr id="20" name="Rectangle 3"/>
          <p:cNvSpPr txBox="1">
            <a:spLocks noRot="1" noChangeArrowheads="1"/>
          </p:cNvSpPr>
          <p:nvPr/>
        </p:nvSpPr>
        <p:spPr>
          <a:xfrm>
            <a:off x="1255953" y="1625354"/>
            <a:ext cx="6801709" cy="4013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buFont typeface="Wingdings" panose="05000000000000000000"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通常应变片的线性工作范围仅有</a:t>
            </a:r>
            <a:r>
              <a:rPr lang="en-US" altLang="zh-CN" sz="2400" b="1" dirty="0">
                <a:latin typeface="宋体" panose="02010600030101010101" pitchFamily="2" charset="-122"/>
                <a:ea typeface="宋体" panose="02010600030101010101" pitchFamily="2" charset="-122"/>
              </a:rPr>
              <a:t>600</a:t>
            </a:r>
            <a:r>
              <a:rPr lang="en-US" altLang="zh-CN" sz="2400" b="1" dirty="0">
                <a:latin typeface="宋体" panose="02010600030101010101" pitchFamily="2" charset="-122"/>
                <a:ea typeface="宋体" panose="02010600030101010101" pitchFamily="2" charset="-122"/>
                <a:sym typeface="Symbol" panose="05050102010706020507" pitchFamily="18" charset="2"/>
              </a:rPr>
              <a:t></a:t>
            </a:r>
            <a:r>
              <a:rPr lang="zh-CN" altLang="en-US" sz="2400" b="1" dirty="0">
                <a:latin typeface="宋体" panose="02010600030101010101" pitchFamily="2" charset="-122"/>
                <a:ea typeface="宋体" panose="02010600030101010101" pitchFamily="2" charset="-122"/>
                <a:sym typeface="Symbol" panose="05050102010706020507" pitchFamily="18" charset="2"/>
              </a:rPr>
              <a:t>。</a:t>
            </a:r>
          </a:p>
          <a:p>
            <a:pPr>
              <a:lnSpc>
                <a:spcPct val="160000"/>
              </a:lnSpc>
              <a:buFont typeface="Wingdings" panose="05000000000000000000" pitchFamily="2" charset="2"/>
              <a:buNone/>
            </a:pPr>
            <a:r>
              <a:rPr lang="zh-CN" altLang="en-US" sz="2400" b="1" dirty="0">
                <a:latin typeface="宋体" panose="02010600030101010101" pitchFamily="2" charset="-122"/>
                <a:ea typeface="宋体" panose="02010600030101010101" pitchFamily="2" charset="-122"/>
                <a:sym typeface="Symbol" panose="05050102010706020507" pitchFamily="18" charset="2"/>
              </a:rPr>
              <a:t>    由上例中可以得出以下结论：</a:t>
            </a:r>
          </a:p>
          <a:p>
            <a:pPr>
              <a:lnSpc>
                <a:spcPct val="160000"/>
              </a:lnSpc>
              <a:buFont typeface="Wingdings" panose="05000000000000000000" pitchFamily="2" charset="2"/>
              <a:buChar char="v"/>
            </a:pPr>
            <a:r>
              <a:rPr lang="zh-CN" altLang="en-US" sz="2400" b="1" dirty="0">
                <a:latin typeface="宋体" panose="02010600030101010101" pitchFamily="2" charset="-122"/>
                <a:ea typeface="宋体" panose="02010600030101010101" pitchFamily="2" charset="-122"/>
                <a:sym typeface="Symbol" panose="05050102010706020507" pitchFamily="18" charset="2"/>
              </a:rPr>
              <a:t> 应变片式传感器对应变产生的电阻变化量很小，通常是在</a:t>
            </a:r>
            <a:r>
              <a:rPr lang="zh-CN" altLang="en-US" sz="2400" b="1" dirty="0">
                <a:solidFill>
                  <a:srgbClr val="00B050"/>
                </a:solidFill>
                <a:latin typeface="宋体" panose="02010600030101010101" pitchFamily="2" charset="-122"/>
                <a:ea typeface="宋体" panose="02010600030101010101" pitchFamily="2" charset="-122"/>
                <a:sym typeface="Symbol" panose="05050102010706020507" pitchFamily="18" charset="2"/>
              </a:rPr>
              <a:t>几个欧姆</a:t>
            </a:r>
            <a:r>
              <a:rPr lang="zh-CN" altLang="en-US" sz="2400" b="1" dirty="0">
                <a:latin typeface="宋体" panose="02010600030101010101" pitchFamily="2" charset="-122"/>
                <a:ea typeface="宋体" panose="02010600030101010101" pitchFamily="2" charset="-122"/>
                <a:sym typeface="Symbol" panose="05050102010706020507" pitchFamily="18" charset="2"/>
              </a:rPr>
              <a:t>以下。</a:t>
            </a:r>
          </a:p>
          <a:p>
            <a:pPr>
              <a:lnSpc>
                <a:spcPct val="160000"/>
              </a:lnSpc>
              <a:buFont typeface="Wingdings" panose="05000000000000000000" pitchFamily="2" charset="2"/>
              <a:buChar char="v"/>
            </a:pPr>
            <a:r>
              <a:rPr lang="zh-CN" altLang="en-US" sz="2400" b="1" dirty="0">
                <a:latin typeface="宋体" panose="02010600030101010101" pitchFamily="2" charset="-122"/>
                <a:ea typeface="宋体" panose="02010600030101010101" pitchFamily="2" charset="-122"/>
                <a:sym typeface="Symbol" panose="05050102010706020507" pitchFamily="18" charset="2"/>
              </a:rPr>
              <a:t> 要求测量电路必须能够测量微小电阻的变化。电桥电路是最常用的测量</a:t>
            </a:r>
            <a:r>
              <a:rPr lang="zh-CN" altLang="en-US" sz="2400" b="1" dirty="0">
                <a:solidFill>
                  <a:srgbClr val="FF0000"/>
                </a:solidFill>
                <a:latin typeface="宋体" panose="02010600030101010101" pitchFamily="2" charset="-122"/>
                <a:ea typeface="宋体" panose="02010600030101010101" pitchFamily="2" charset="-122"/>
                <a:sym typeface="Symbol" panose="05050102010706020507" pitchFamily="18" charset="2"/>
              </a:rPr>
              <a:t>微小电阻变化</a:t>
            </a:r>
            <a:r>
              <a:rPr lang="zh-CN" altLang="en-US" sz="2400" b="1" dirty="0">
                <a:latin typeface="宋体" panose="02010600030101010101" pitchFamily="2" charset="-122"/>
                <a:ea typeface="宋体" panose="02010600030101010101" pitchFamily="2" charset="-122"/>
                <a:sym typeface="Symbol" panose="05050102010706020507" pitchFamily="18" charset="2"/>
              </a:rPr>
              <a:t>的电路。</a:t>
            </a:r>
          </a:p>
        </p:txBody>
      </p:sp>
      <p:sp>
        <p:nvSpPr>
          <p:cNvPr id="2" name="Slide Number Placeholder 1">
            <a:extLst>
              <a:ext uri="{FF2B5EF4-FFF2-40B4-BE49-F238E27FC236}">
                <a16:creationId xmlns:a16="http://schemas.microsoft.com/office/drawing/2014/main" id="{D2A6F3F8-EF46-4029-8800-AAB8940477B8}"/>
              </a:ext>
            </a:extLst>
          </p:cNvPr>
          <p:cNvSpPr>
            <a:spLocks noGrp="1"/>
          </p:cNvSpPr>
          <p:nvPr>
            <p:ph type="sldNum" sz="quarter" idx="12"/>
          </p:nvPr>
        </p:nvSpPr>
        <p:spPr/>
        <p:txBody>
          <a:bodyPr/>
          <a:lstStyle/>
          <a:p>
            <a:fld id="{B53602B4-F12B-41CD-B648-531F86B2CC91}" type="slidenum">
              <a:rPr lang="zh-CN" altLang="en-US" smtClean="0"/>
              <a:t>74</a:t>
            </a:fld>
            <a:endParaRPr lang="zh-CN" altLang="en-US"/>
          </a:p>
        </p:txBody>
      </p:sp>
    </p:spTree>
    <p:extLst>
      <p:ext uri="{BB962C8B-B14F-4D97-AF65-F5344CB8AC3E}">
        <p14:creationId xmlns:p14="http://schemas.microsoft.com/office/powerpoint/2010/main" val="9895104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a:extLst>
              <a:ext uri="{FF2B5EF4-FFF2-40B4-BE49-F238E27FC236}">
                <a16:creationId xmlns:a16="http://schemas.microsoft.com/office/drawing/2014/main" id="{512BF4D6-8BFF-483B-9E81-D6E6977F8601}"/>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5" name="矩形 4"/>
          <p:cNvSpPr/>
          <p:nvPr/>
        </p:nvSpPr>
        <p:spPr>
          <a:xfrm>
            <a:off x="1743340" y="1873948"/>
            <a:ext cx="4746238" cy="3865159"/>
          </a:xfrm>
          <a:prstGeom prst="rect">
            <a:avLst/>
          </a:prstGeom>
        </p:spPr>
        <p:txBody>
          <a:bodyPr wrap="square" lIns="91438" tIns="45719" rIns="91438" bIns="45719">
            <a:spAutoFit/>
          </a:bodyPr>
          <a:lstStyle/>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应变式测力传感器</a:t>
            </a:r>
          </a:p>
          <a:p>
            <a:pPr>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     圆柱式力传感器</a:t>
            </a:r>
          </a:p>
          <a:p>
            <a:pPr>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     梁式力传感器</a:t>
            </a:r>
          </a:p>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应变式压力传感器</a:t>
            </a:r>
          </a:p>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应变式扭矩传感器</a:t>
            </a:r>
          </a:p>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应变式加速度传感器</a:t>
            </a:r>
          </a:p>
        </p:txBody>
      </p:sp>
      <p:sp>
        <p:nvSpPr>
          <p:cNvPr id="2" name="Slide Number Placeholder 1">
            <a:extLst>
              <a:ext uri="{FF2B5EF4-FFF2-40B4-BE49-F238E27FC236}">
                <a16:creationId xmlns:a16="http://schemas.microsoft.com/office/drawing/2014/main" id="{B4ED323A-5719-4C39-8124-A39D1761E8BD}"/>
              </a:ext>
            </a:extLst>
          </p:cNvPr>
          <p:cNvSpPr>
            <a:spLocks noGrp="1"/>
          </p:cNvSpPr>
          <p:nvPr>
            <p:ph type="sldNum" sz="quarter" idx="12"/>
          </p:nvPr>
        </p:nvSpPr>
        <p:spPr/>
        <p:txBody>
          <a:bodyPr/>
          <a:lstStyle/>
          <a:p>
            <a:fld id="{B53602B4-F12B-41CD-B648-531F86B2CC91}" type="slidenum">
              <a:rPr lang="zh-CN" altLang="en-US" smtClean="0"/>
              <a:t>75</a:t>
            </a:fld>
            <a:endParaRPr lang="zh-CN" altLang="en-US"/>
          </a:p>
        </p:txBody>
      </p:sp>
    </p:spTree>
    <p:extLst>
      <p:ext uri="{BB962C8B-B14F-4D97-AF65-F5344CB8AC3E}">
        <p14:creationId xmlns:p14="http://schemas.microsoft.com/office/powerpoint/2010/main" val="42431930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4BD63174-D3D6-4425-B956-C003016630C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10" name="Rectangle 2">
            <a:extLst>
              <a:ext uri="{FF2B5EF4-FFF2-40B4-BE49-F238E27FC236}">
                <a16:creationId xmlns:a16="http://schemas.microsoft.com/office/drawing/2014/main" id="{14C35D50-E310-44A4-84C1-BD888B122665}"/>
              </a:ext>
            </a:extLst>
          </p:cNvPr>
          <p:cNvSpPr>
            <a:spLocks noChangeArrowheads="1"/>
          </p:cNvSpPr>
          <p:nvPr/>
        </p:nvSpPr>
        <p:spPr bwMode="auto">
          <a:xfrm>
            <a:off x="4428861" y="34689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11" name="Text Box 9">
            <a:extLst>
              <a:ext uri="{FF2B5EF4-FFF2-40B4-BE49-F238E27FC236}">
                <a16:creationId xmlns:a16="http://schemas.microsoft.com/office/drawing/2014/main" id="{B9C1FA6C-E8B5-44DD-B92C-8F03C57E479A}"/>
              </a:ext>
            </a:extLst>
          </p:cNvPr>
          <p:cNvSpPr txBox="1">
            <a:spLocks noChangeArrowheads="1"/>
          </p:cNvSpPr>
          <p:nvPr/>
        </p:nvSpPr>
        <p:spPr bwMode="auto">
          <a:xfrm>
            <a:off x="2082536" y="5903640"/>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2-32  </a:t>
            </a:r>
            <a:r>
              <a:rPr lang="zh-CN" altLang="en-US" b="1" dirty="0">
                <a:solidFill>
                  <a:srgbClr val="000099"/>
                </a:solidFill>
              </a:rPr>
              <a:t>荷重传感器弹性元件的形式</a:t>
            </a:r>
          </a:p>
        </p:txBody>
      </p:sp>
      <p:pic>
        <p:nvPicPr>
          <p:cNvPr id="12" name="图片 1">
            <a:extLst>
              <a:ext uri="{FF2B5EF4-FFF2-40B4-BE49-F238E27FC236}">
                <a16:creationId xmlns:a16="http://schemas.microsoft.com/office/drawing/2014/main" id="{80D7476F-C324-4A1A-A65C-F78A05529BA3}"/>
              </a:ext>
            </a:extLst>
          </p:cNvPr>
          <p:cNvPicPr>
            <a:picLocks noChangeAspect="1"/>
          </p:cNvPicPr>
          <p:nvPr/>
        </p:nvPicPr>
        <p:blipFill>
          <a:blip r:embed="rId3"/>
          <a:stretch>
            <a:fillRect/>
          </a:stretch>
        </p:blipFill>
        <p:spPr>
          <a:xfrm>
            <a:off x="1867104" y="1740068"/>
            <a:ext cx="7091813" cy="4096667"/>
          </a:xfrm>
          <a:prstGeom prst="rect">
            <a:avLst/>
          </a:prstGeom>
        </p:spPr>
      </p:pic>
      <p:sp>
        <p:nvSpPr>
          <p:cNvPr id="2" name="Slide Number Placeholder 1">
            <a:extLst>
              <a:ext uri="{FF2B5EF4-FFF2-40B4-BE49-F238E27FC236}">
                <a16:creationId xmlns:a16="http://schemas.microsoft.com/office/drawing/2014/main" id="{AD5BDF14-F84A-42C4-935A-D65F4AAB486F}"/>
              </a:ext>
            </a:extLst>
          </p:cNvPr>
          <p:cNvSpPr>
            <a:spLocks noGrp="1"/>
          </p:cNvSpPr>
          <p:nvPr>
            <p:ph type="sldNum" sz="quarter" idx="12"/>
          </p:nvPr>
        </p:nvSpPr>
        <p:spPr/>
        <p:txBody>
          <a:bodyPr/>
          <a:lstStyle/>
          <a:p>
            <a:fld id="{B53602B4-F12B-41CD-B648-531F86B2CC91}" type="slidenum">
              <a:rPr lang="zh-CN" altLang="en-US" smtClean="0"/>
              <a:t>76</a:t>
            </a:fld>
            <a:endParaRPr lang="zh-CN" altLang="en-US"/>
          </a:p>
        </p:txBody>
      </p:sp>
      <p:sp>
        <p:nvSpPr>
          <p:cNvPr id="13" name="TextBox 12">
            <a:extLst>
              <a:ext uri="{FF2B5EF4-FFF2-40B4-BE49-F238E27FC236}">
                <a16:creationId xmlns:a16="http://schemas.microsoft.com/office/drawing/2014/main" id="{0E9DA945-A989-4BDF-8EE4-3E7C6A964C37}"/>
              </a:ext>
            </a:extLst>
          </p:cNvPr>
          <p:cNvSpPr txBox="1"/>
          <p:nvPr/>
        </p:nvSpPr>
        <p:spPr>
          <a:xfrm>
            <a:off x="185083" y="1159067"/>
            <a:ext cx="5251371" cy="1985159"/>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b="1" dirty="0" err="1">
                <a:latin typeface="宋体" panose="02010600030101010101" pitchFamily="2" charset="-122"/>
                <a:ea typeface="宋体" panose="02010600030101010101" pitchFamily="2" charset="-122"/>
              </a:rPr>
              <a:t>应变片粘贴在外壁应力分布均匀的中间部分，对称地粘贴多片</a:t>
            </a:r>
            <a:r>
              <a:rPr lang="en-US" b="1" dirty="0">
                <a:latin typeface="宋体" panose="02010600030101010101" pitchFamily="2" charset="-122"/>
                <a:ea typeface="宋体" panose="02010600030101010101" pitchFamily="2" charset="-122"/>
              </a:rPr>
              <a:t>；</a:t>
            </a:r>
          </a:p>
          <a:p>
            <a:pPr marL="285750" indent="-285750">
              <a:spcBef>
                <a:spcPts val="600"/>
              </a:spcBef>
              <a:buFont typeface="Arial" panose="020B0604020202020204" pitchFamily="34" charset="0"/>
              <a:buChar char="•"/>
            </a:pPr>
            <a:r>
              <a:rPr lang="en-US" b="1" dirty="0" err="1">
                <a:latin typeface="宋体" panose="02010600030101010101" pitchFamily="2" charset="-122"/>
                <a:ea typeface="宋体" panose="02010600030101010101" pitchFamily="2" charset="-122"/>
              </a:rPr>
              <a:t>电桥连接时考虑尽量减小载荷偏心和弯矩影响</a:t>
            </a:r>
            <a:endParaRPr lang="en-US" b="1" dirty="0">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en-US" b="1" dirty="0">
                <a:latin typeface="宋体" panose="02010600030101010101" pitchFamily="2" charset="-122"/>
                <a:ea typeface="宋体" panose="02010600030101010101" pitchFamily="2" charset="-122"/>
              </a:rPr>
              <a:t>R1、R3串接，R2、R4串接并置于相对臂，减小弯矩影响。</a:t>
            </a:r>
          </a:p>
          <a:p>
            <a:pPr marL="285750" indent="-285750">
              <a:spcBef>
                <a:spcPts val="600"/>
              </a:spcBef>
              <a:buFont typeface="Arial" panose="020B0604020202020204" pitchFamily="34" charset="0"/>
              <a:buChar char="•"/>
            </a:pPr>
            <a:r>
              <a:rPr lang="en-US" b="1" dirty="0" err="1">
                <a:latin typeface="宋体" panose="02010600030101010101" pitchFamily="2" charset="-122"/>
                <a:ea typeface="宋体" panose="02010600030101010101" pitchFamily="2" charset="-122"/>
              </a:rPr>
              <a:t>横向贴片作温度补偿</a:t>
            </a:r>
            <a:r>
              <a:rPr lang="en-US" b="1"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29644234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4">
            <a:extLst>
              <a:ext uri="{FF2B5EF4-FFF2-40B4-BE49-F238E27FC236}">
                <a16:creationId xmlns:a16="http://schemas.microsoft.com/office/drawing/2014/main" id="{78DA063E-3C5A-495F-BF37-BFA2105A787C}"/>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5" name="Rectangle 2">
            <a:extLst>
              <a:ext uri="{FF2B5EF4-FFF2-40B4-BE49-F238E27FC236}">
                <a16:creationId xmlns:a16="http://schemas.microsoft.com/office/drawing/2014/main" id="{2AA412DA-72DB-4FC9-B5CF-80E2A3093202}"/>
              </a:ext>
            </a:extLst>
          </p:cNvPr>
          <p:cNvSpPr>
            <a:spLocks noChangeArrowheads="1"/>
          </p:cNvSpPr>
          <p:nvPr/>
        </p:nvSpPr>
        <p:spPr bwMode="auto">
          <a:xfrm>
            <a:off x="4472668" y="3686629"/>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4400">
              <a:solidFill>
                <a:schemeClr val="tx2"/>
              </a:solidFill>
            </a:endParaRPr>
          </a:p>
        </p:txBody>
      </p:sp>
      <p:sp>
        <p:nvSpPr>
          <p:cNvPr id="6" name="Text Box 9">
            <a:extLst>
              <a:ext uri="{FF2B5EF4-FFF2-40B4-BE49-F238E27FC236}">
                <a16:creationId xmlns:a16="http://schemas.microsoft.com/office/drawing/2014/main" id="{10B4CF0F-5E38-4BED-90AB-C31DBBD05D7D}"/>
              </a:ext>
            </a:extLst>
          </p:cNvPr>
          <p:cNvSpPr txBox="1">
            <a:spLocks noChangeArrowheads="1"/>
          </p:cNvSpPr>
          <p:nvPr/>
        </p:nvSpPr>
        <p:spPr bwMode="auto">
          <a:xfrm>
            <a:off x="2720445" y="6088110"/>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2-33  </a:t>
            </a:r>
            <a:r>
              <a:rPr lang="zh-CN" altLang="en-US" b="1" dirty="0">
                <a:solidFill>
                  <a:srgbClr val="000099"/>
                </a:solidFill>
              </a:rPr>
              <a:t>梁式力传感器</a:t>
            </a:r>
          </a:p>
        </p:txBody>
      </p:sp>
      <p:pic>
        <p:nvPicPr>
          <p:cNvPr id="7" name="图片 1">
            <a:extLst>
              <a:ext uri="{FF2B5EF4-FFF2-40B4-BE49-F238E27FC236}">
                <a16:creationId xmlns:a16="http://schemas.microsoft.com/office/drawing/2014/main" id="{5122055A-C7F6-49F1-A685-20A9663EE5A0}"/>
              </a:ext>
            </a:extLst>
          </p:cNvPr>
          <p:cNvPicPr>
            <a:picLocks noChangeAspect="1"/>
          </p:cNvPicPr>
          <p:nvPr/>
        </p:nvPicPr>
        <p:blipFill>
          <a:blip r:embed="rId3"/>
          <a:stretch>
            <a:fillRect/>
          </a:stretch>
        </p:blipFill>
        <p:spPr>
          <a:xfrm>
            <a:off x="1449203" y="1259317"/>
            <a:ext cx="6415230" cy="4740746"/>
          </a:xfrm>
          <a:prstGeom prst="rect">
            <a:avLst/>
          </a:prstGeom>
        </p:spPr>
      </p:pic>
      <p:sp>
        <p:nvSpPr>
          <p:cNvPr id="2" name="Slide Number Placeholder 1">
            <a:extLst>
              <a:ext uri="{FF2B5EF4-FFF2-40B4-BE49-F238E27FC236}">
                <a16:creationId xmlns:a16="http://schemas.microsoft.com/office/drawing/2014/main" id="{0D3F8127-6E91-43F5-B3E7-2B00C723E978}"/>
              </a:ext>
            </a:extLst>
          </p:cNvPr>
          <p:cNvSpPr>
            <a:spLocks noGrp="1"/>
          </p:cNvSpPr>
          <p:nvPr>
            <p:ph type="sldNum" sz="quarter" idx="12"/>
          </p:nvPr>
        </p:nvSpPr>
        <p:spPr/>
        <p:txBody>
          <a:bodyPr/>
          <a:lstStyle/>
          <a:p>
            <a:fld id="{B53602B4-F12B-41CD-B648-531F86B2CC91}" type="slidenum">
              <a:rPr lang="zh-CN" altLang="en-US" smtClean="0"/>
              <a:t>77</a:t>
            </a:fld>
            <a:endParaRPr lang="zh-CN" altLang="en-US"/>
          </a:p>
        </p:txBody>
      </p:sp>
    </p:spTree>
    <p:extLst>
      <p:ext uri="{BB962C8B-B14F-4D97-AF65-F5344CB8AC3E}">
        <p14:creationId xmlns:p14="http://schemas.microsoft.com/office/powerpoint/2010/main" val="14490562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67EF9035-E799-4B97-8227-FD671B65CF9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5" name="Text Box 9">
            <a:extLst>
              <a:ext uri="{FF2B5EF4-FFF2-40B4-BE49-F238E27FC236}">
                <a16:creationId xmlns:a16="http://schemas.microsoft.com/office/drawing/2014/main" id="{A1E9D050-2EBC-4334-BEC2-1F9248F2977F}"/>
              </a:ext>
            </a:extLst>
          </p:cNvPr>
          <p:cNvSpPr txBox="1">
            <a:spLocks noChangeArrowheads="1"/>
          </p:cNvSpPr>
          <p:nvPr/>
        </p:nvSpPr>
        <p:spPr bwMode="auto">
          <a:xfrm>
            <a:off x="3124201" y="6021626"/>
            <a:ext cx="333677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2-34  </a:t>
            </a:r>
            <a:r>
              <a:rPr lang="zh-CN" altLang="en-US" b="1" dirty="0">
                <a:solidFill>
                  <a:srgbClr val="000099"/>
                </a:solidFill>
              </a:rPr>
              <a:t>膜片式传感器</a:t>
            </a:r>
          </a:p>
        </p:txBody>
      </p:sp>
      <p:pic>
        <p:nvPicPr>
          <p:cNvPr id="6" name="图片 1">
            <a:extLst>
              <a:ext uri="{FF2B5EF4-FFF2-40B4-BE49-F238E27FC236}">
                <a16:creationId xmlns:a16="http://schemas.microsoft.com/office/drawing/2014/main" id="{D236D27C-5409-412E-8381-B9DF5A8DC4F0}"/>
              </a:ext>
            </a:extLst>
          </p:cNvPr>
          <p:cNvPicPr>
            <a:picLocks noChangeAspect="1"/>
          </p:cNvPicPr>
          <p:nvPr/>
        </p:nvPicPr>
        <p:blipFill>
          <a:blip r:embed="rId3"/>
          <a:stretch>
            <a:fillRect/>
          </a:stretch>
        </p:blipFill>
        <p:spPr>
          <a:xfrm>
            <a:off x="2291924" y="1324630"/>
            <a:ext cx="4725733" cy="4544342"/>
          </a:xfrm>
          <a:prstGeom prst="rect">
            <a:avLst/>
          </a:prstGeom>
        </p:spPr>
      </p:pic>
      <p:sp>
        <p:nvSpPr>
          <p:cNvPr id="2" name="Slide Number Placeholder 1">
            <a:extLst>
              <a:ext uri="{FF2B5EF4-FFF2-40B4-BE49-F238E27FC236}">
                <a16:creationId xmlns:a16="http://schemas.microsoft.com/office/drawing/2014/main" id="{DCA6A38E-3045-4C76-A253-FBBC850249BA}"/>
              </a:ext>
            </a:extLst>
          </p:cNvPr>
          <p:cNvSpPr>
            <a:spLocks noGrp="1"/>
          </p:cNvSpPr>
          <p:nvPr>
            <p:ph type="sldNum" sz="quarter" idx="12"/>
          </p:nvPr>
        </p:nvSpPr>
        <p:spPr/>
        <p:txBody>
          <a:bodyPr/>
          <a:lstStyle/>
          <a:p>
            <a:fld id="{B53602B4-F12B-41CD-B648-531F86B2CC91}" type="slidenum">
              <a:rPr lang="zh-CN" altLang="en-US" smtClean="0"/>
              <a:t>78</a:t>
            </a:fld>
            <a:endParaRPr lang="zh-CN" altLang="en-US"/>
          </a:p>
        </p:txBody>
      </p:sp>
    </p:spTree>
    <p:extLst>
      <p:ext uri="{BB962C8B-B14F-4D97-AF65-F5344CB8AC3E}">
        <p14:creationId xmlns:p14="http://schemas.microsoft.com/office/powerpoint/2010/main" val="15756030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4">
            <a:extLst>
              <a:ext uri="{FF2B5EF4-FFF2-40B4-BE49-F238E27FC236}">
                <a16:creationId xmlns:a16="http://schemas.microsoft.com/office/drawing/2014/main" id="{1D0F4D96-0B83-4C3C-B4AD-E0504F84D94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5" name="Text Box 9">
            <a:extLst>
              <a:ext uri="{FF2B5EF4-FFF2-40B4-BE49-F238E27FC236}">
                <a16:creationId xmlns:a16="http://schemas.microsoft.com/office/drawing/2014/main" id="{76C23820-1175-4D48-9A7F-39D1D5EBB239}"/>
              </a:ext>
            </a:extLst>
          </p:cNvPr>
          <p:cNvSpPr txBox="1">
            <a:spLocks noChangeArrowheads="1"/>
          </p:cNvSpPr>
          <p:nvPr/>
        </p:nvSpPr>
        <p:spPr bwMode="auto">
          <a:xfrm>
            <a:off x="3414485" y="5068386"/>
            <a:ext cx="4633686"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2-35  </a:t>
            </a:r>
            <a:r>
              <a:rPr lang="zh-CN" altLang="en-US" b="1" dirty="0">
                <a:solidFill>
                  <a:srgbClr val="000099"/>
                </a:solidFill>
              </a:rPr>
              <a:t>扭矩传感器</a:t>
            </a:r>
          </a:p>
        </p:txBody>
      </p:sp>
      <p:pic>
        <p:nvPicPr>
          <p:cNvPr id="6" name="图片 2">
            <a:extLst>
              <a:ext uri="{FF2B5EF4-FFF2-40B4-BE49-F238E27FC236}">
                <a16:creationId xmlns:a16="http://schemas.microsoft.com/office/drawing/2014/main" id="{A65A96C6-85F6-4936-B001-EC455EC25570}"/>
              </a:ext>
            </a:extLst>
          </p:cNvPr>
          <p:cNvPicPr>
            <a:picLocks noChangeAspect="1"/>
          </p:cNvPicPr>
          <p:nvPr/>
        </p:nvPicPr>
        <p:blipFill>
          <a:blip r:embed="rId3"/>
          <a:stretch>
            <a:fillRect/>
          </a:stretch>
        </p:blipFill>
        <p:spPr>
          <a:xfrm>
            <a:off x="529771" y="1726328"/>
            <a:ext cx="8345715" cy="2837854"/>
          </a:xfrm>
          <a:prstGeom prst="rect">
            <a:avLst/>
          </a:prstGeom>
        </p:spPr>
      </p:pic>
      <p:sp>
        <p:nvSpPr>
          <p:cNvPr id="2" name="Slide Number Placeholder 1">
            <a:extLst>
              <a:ext uri="{FF2B5EF4-FFF2-40B4-BE49-F238E27FC236}">
                <a16:creationId xmlns:a16="http://schemas.microsoft.com/office/drawing/2014/main" id="{454A898C-6892-4570-814A-CC03D1D6DC6E}"/>
              </a:ext>
            </a:extLst>
          </p:cNvPr>
          <p:cNvSpPr>
            <a:spLocks noGrp="1"/>
          </p:cNvSpPr>
          <p:nvPr>
            <p:ph type="sldNum" sz="quarter" idx="12"/>
          </p:nvPr>
        </p:nvSpPr>
        <p:spPr/>
        <p:txBody>
          <a:bodyPr/>
          <a:lstStyle/>
          <a:p>
            <a:fld id="{B53602B4-F12B-41CD-B648-531F86B2CC91}" type="slidenum">
              <a:rPr lang="zh-CN" altLang="en-US" smtClean="0"/>
              <a:t>79</a:t>
            </a:fld>
            <a:endParaRPr lang="zh-CN" altLang="en-US"/>
          </a:p>
        </p:txBody>
      </p:sp>
    </p:spTree>
    <p:extLst>
      <p:ext uri="{BB962C8B-B14F-4D97-AF65-F5344CB8AC3E}">
        <p14:creationId xmlns:p14="http://schemas.microsoft.com/office/powerpoint/2010/main" val="36015580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040324DD-89DB-479B-8443-029F2B5CE90A}"/>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2.2.5</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应变片式电阻传感器的应用举例</a:t>
            </a:r>
          </a:p>
        </p:txBody>
      </p:sp>
      <p:sp>
        <p:nvSpPr>
          <p:cNvPr id="5" name="Text Box 9">
            <a:extLst>
              <a:ext uri="{FF2B5EF4-FFF2-40B4-BE49-F238E27FC236}">
                <a16:creationId xmlns:a16="http://schemas.microsoft.com/office/drawing/2014/main" id="{B0F6D898-792E-4FB5-8C81-C27921C46E19}"/>
              </a:ext>
            </a:extLst>
          </p:cNvPr>
          <p:cNvSpPr txBox="1">
            <a:spLocks noChangeArrowheads="1"/>
          </p:cNvSpPr>
          <p:nvPr/>
        </p:nvSpPr>
        <p:spPr bwMode="auto">
          <a:xfrm>
            <a:off x="1848520" y="5962468"/>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2-36  </a:t>
            </a:r>
            <a:r>
              <a:rPr lang="zh-CN" altLang="en-US" b="1" dirty="0">
                <a:solidFill>
                  <a:srgbClr val="000099"/>
                </a:solidFill>
              </a:rPr>
              <a:t>应变式加速度传感器的基本原理</a:t>
            </a:r>
          </a:p>
        </p:txBody>
      </p:sp>
      <p:pic>
        <p:nvPicPr>
          <p:cNvPr id="6" name="图片 1">
            <a:extLst>
              <a:ext uri="{FF2B5EF4-FFF2-40B4-BE49-F238E27FC236}">
                <a16:creationId xmlns:a16="http://schemas.microsoft.com/office/drawing/2014/main" id="{60B48815-1164-4593-8D69-C34790484196}"/>
              </a:ext>
            </a:extLst>
          </p:cNvPr>
          <p:cNvPicPr>
            <a:picLocks noChangeAspect="1"/>
          </p:cNvPicPr>
          <p:nvPr/>
        </p:nvPicPr>
        <p:blipFill>
          <a:blip r:embed="rId3"/>
          <a:stretch>
            <a:fillRect/>
          </a:stretch>
        </p:blipFill>
        <p:spPr>
          <a:xfrm>
            <a:off x="2598324" y="1600325"/>
            <a:ext cx="4259676" cy="4086254"/>
          </a:xfrm>
          <a:prstGeom prst="rect">
            <a:avLst/>
          </a:prstGeom>
        </p:spPr>
      </p:pic>
      <p:sp>
        <p:nvSpPr>
          <p:cNvPr id="2" name="Slide Number Placeholder 1">
            <a:extLst>
              <a:ext uri="{FF2B5EF4-FFF2-40B4-BE49-F238E27FC236}">
                <a16:creationId xmlns:a16="http://schemas.microsoft.com/office/drawing/2014/main" id="{0082EE99-CF39-48DE-B526-D778E01B7B40}"/>
              </a:ext>
            </a:extLst>
          </p:cNvPr>
          <p:cNvSpPr>
            <a:spLocks noGrp="1"/>
          </p:cNvSpPr>
          <p:nvPr>
            <p:ph type="sldNum" sz="quarter" idx="12"/>
          </p:nvPr>
        </p:nvSpPr>
        <p:spPr/>
        <p:txBody>
          <a:bodyPr/>
          <a:lstStyle/>
          <a:p>
            <a:fld id="{B53602B4-F12B-41CD-B648-531F86B2CC91}" type="slidenum">
              <a:rPr lang="zh-CN" altLang="en-US" smtClean="0"/>
              <a:t>80</a:t>
            </a:fld>
            <a:endParaRPr lang="zh-CN" altLang="en-US"/>
          </a:p>
        </p:txBody>
      </p:sp>
    </p:spTree>
    <p:extLst>
      <p:ext uri="{BB962C8B-B14F-4D97-AF65-F5344CB8AC3E}">
        <p14:creationId xmlns:p14="http://schemas.microsoft.com/office/powerpoint/2010/main" val="41423899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6A1A6AB1-5861-4AC0-8B87-6FD00A4A471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2</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574947" y="1567268"/>
            <a:ext cx="2997053" cy="461663"/>
          </a:xfrm>
          <a:prstGeom prst="rect">
            <a:avLst/>
          </a:prstGeom>
        </p:spPr>
        <p:style>
          <a:lnRef idx="1">
            <a:schemeClr val="accent2"/>
          </a:lnRef>
          <a:fillRef idx="3">
            <a:schemeClr val="accent2"/>
          </a:fillRef>
          <a:effectRef idx="2">
            <a:schemeClr val="accent2"/>
          </a:effectRef>
          <a:fontRef idx="minor">
            <a:schemeClr val="lt1"/>
          </a:fontRef>
        </p:style>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电位器式电阻传感器</a:t>
            </a:r>
          </a:p>
        </p:txBody>
      </p:sp>
      <p:sp>
        <p:nvSpPr>
          <p:cNvPr id="24" name="矩形 23"/>
          <p:cNvSpPr/>
          <p:nvPr/>
        </p:nvSpPr>
        <p:spPr>
          <a:xfrm>
            <a:off x="1500878" y="2204130"/>
            <a:ext cx="5767605" cy="4003658"/>
          </a:xfrm>
          <a:prstGeom prst="rect">
            <a:avLst/>
          </a:prstGeom>
        </p:spPr>
        <p:txBody>
          <a:bodyPr wrap="square" lIns="91438" tIns="45719" rIns="91438" bIns="45719">
            <a:spAutoFit/>
          </a:bodyPr>
          <a:lstStyle/>
          <a:p>
            <a:pPr marL="342900" indent="-342900">
              <a:lnSpc>
                <a:spcPts val="32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线性电位器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ts val="32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线性电位器的空载特性 </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ts val="32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位移传感器灵敏度 </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ts val="32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阶梯特性、阶梯误差和分辨率</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457200" indent="-457200">
              <a:lnSpc>
                <a:spcPts val="32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非线性电位器</a:t>
            </a:r>
          </a:p>
          <a:p>
            <a:pPr marL="457200" indent="-457200">
              <a:lnSpc>
                <a:spcPts val="32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负载特性与负载误差 </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457200" indent="-457200">
              <a:lnSpc>
                <a:spcPts val="32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电位器的结构与材料</a:t>
            </a:r>
          </a:p>
          <a:p>
            <a:pPr marL="457200" indent="-457200">
              <a:lnSpc>
                <a:spcPts val="32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电位器式传感器应用举例</a:t>
            </a:r>
          </a:p>
        </p:txBody>
      </p:sp>
      <p:sp>
        <p:nvSpPr>
          <p:cNvPr id="2" name="Slide Number Placeholder 1">
            <a:extLst>
              <a:ext uri="{FF2B5EF4-FFF2-40B4-BE49-F238E27FC236}">
                <a16:creationId xmlns:a16="http://schemas.microsoft.com/office/drawing/2014/main" id="{11F99F9A-5FF5-48D6-9810-3D667964E131}"/>
              </a:ext>
            </a:extLst>
          </p:cNvPr>
          <p:cNvSpPr>
            <a:spLocks noGrp="1"/>
          </p:cNvSpPr>
          <p:nvPr>
            <p:ph type="sldNum" sz="quarter" idx="12"/>
          </p:nvPr>
        </p:nvSpPr>
        <p:spPr/>
        <p:txBody>
          <a:bodyPr/>
          <a:lstStyle/>
          <a:p>
            <a:fld id="{B53602B4-F12B-41CD-B648-531F86B2CC91}" type="slidenum">
              <a:rPr lang="zh-CN" altLang="en-US" smtClean="0"/>
              <a:t>81</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ECBC12B9-9F3C-42F2-B153-DA5E9690A446}"/>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4" name="矩形 23"/>
          <p:cNvSpPr/>
          <p:nvPr/>
        </p:nvSpPr>
        <p:spPr>
          <a:xfrm>
            <a:off x="1571711" y="2217231"/>
            <a:ext cx="6305876" cy="3865159"/>
          </a:xfrm>
          <a:prstGeom prst="rect">
            <a:avLst/>
          </a:prstGeom>
        </p:spPr>
        <p:txBody>
          <a:bodyPr wrap="square" lIns="91438" tIns="45719" rIns="91438" bIns="45719">
            <a:spAutoFit/>
          </a:bodyPr>
          <a:lstStyle/>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电阻应变片的工作原理</a:t>
            </a:r>
          </a:p>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金属电阻应变片主要特性</a:t>
            </a:r>
          </a:p>
          <a:p>
            <a:pPr>
              <a:lnSpc>
                <a:spcPct val="1500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温度效应 </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温度误差及其补偿</a:t>
            </a:r>
          </a:p>
          <a:p>
            <a:pPr>
              <a:lnSpc>
                <a:spcPct val="1500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自补偿法 </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单丝自补偿法</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rPr>
              <a:t>	</a:t>
            </a:r>
            <a:r>
              <a:rPr lang="zh-CN" altLang="en-US" sz="2400" b="1" dirty="0">
                <a:latin typeface="Arial" panose="020B0604020202020204" pitchFamily="34" charset="0"/>
                <a:ea typeface="宋体" panose="02010600030101010101" pitchFamily="2" charset="-122"/>
                <a:cs typeface="Arial" panose="020B0604020202020204" pitchFamily="34" charset="0"/>
              </a:rPr>
              <a:t>线路补偿法：组合式自补偿法</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2" name="矩形 1"/>
          <p:cNvSpPr/>
          <p:nvPr/>
        </p:nvSpPr>
        <p:spPr>
          <a:xfrm>
            <a:off x="1571711" y="1530019"/>
            <a:ext cx="3054041" cy="461665"/>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应变片式电阻传感器</a:t>
            </a:r>
          </a:p>
        </p:txBody>
      </p:sp>
      <p:sp>
        <p:nvSpPr>
          <p:cNvPr id="3" name="Slide Number Placeholder 2">
            <a:extLst>
              <a:ext uri="{FF2B5EF4-FFF2-40B4-BE49-F238E27FC236}">
                <a16:creationId xmlns:a16="http://schemas.microsoft.com/office/drawing/2014/main" id="{6914D4E9-1962-4777-AB9D-3C56490471B2}"/>
              </a:ext>
            </a:extLst>
          </p:cNvPr>
          <p:cNvSpPr>
            <a:spLocks noGrp="1"/>
          </p:cNvSpPr>
          <p:nvPr>
            <p:ph type="sldNum" sz="quarter" idx="12"/>
          </p:nvPr>
        </p:nvSpPr>
        <p:spPr/>
        <p:txBody>
          <a:bodyPr/>
          <a:lstStyle/>
          <a:p>
            <a:fld id="{B53602B4-F12B-41CD-B648-531F86B2CC91}" type="slidenum">
              <a:rPr lang="zh-CN" altLang="en-US" smtClean="0"/>
              <a:t>82</a:t>
            </a:fld>
            <a:endParaRPr lang="zh-CN" altLang="en-US"/>
          </a:p>
        </p:txBody>
      </p:sp>
    </p:spTree>
    <p:extLst>
      <p:ext uri="{BB962C8B-B14F-4D97-AF65-F5344CB8AC3E}">
        <p14:creationId xmlns:p14="http://schemas.microsoft.com/office/powerpoint/2010/main" val="26597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4">
            <a:extLst>
              <a:ext uri="{FF2B5EF4-FFF2-40B4-BE49-F238E27FC236}">
                <a16:creationId xmlns:a16="http://schemas.microsoft.com/office/drawing/2014/main" id="{BBB52294-B418-48DC-8982-1AA5EB0DF3E5}"/>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 name="矩形 1"/>
          <p:cNvSpPr/>
          <p:nvPr/>
        </p:nvSpPr>
        <p:spPr>
          <a:xfrm>
            <a:off x="1428291" y="1554463"/>
            <a:ext cx="3054041" cy="461665"/>
          </a:xfrm>
          <a:prstGeom prst="rect">
            <a:avLst/>
          </a:prstGeom>
        </p:spPr>
        <p:style>
          <a:lnRef idx="3">
            <a:schemeClr val="lt1"/>
          </a:lnRef>
          <a:fillRef idx="1">
            <a:schemeClr val="accent6"/>
          </a:fillRef>
          <a:effectRef idx="1">
            <a:schemeClr val="accent6"/>
          </a:effectRef>
          <a:fontRef idx="minor">
            <a:schemeClr val="lt1"/>
          </a:fontRef>
        </p:style>
        <p:txBody>
          <a:bodyPr wrap="none">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应变片式电阻传感器</a:t>
            </a:r>
          </a:p>
        </p:txBody>
      </p:sp>
      <p:sp>
        <p:nvSpPr>
          <p:cNvPr id="23" name="矩形 22"/>
          <p:cNvSpPr/>
          <p:nvPr/>
        </p:nvSpPr>
        <p:spPr>
          <a:xfrm>
            <a:off x="1428291" y="2372329"/>
            <a:ext cx="5571359" cy="2577627"/>
          </a:xfrm>
          <a:prstGeom prst="rect">
            <a:avLst/>
          </a:prstGeom>
        </p:spPr>
        <p:txBody>
          <a:bodyPr wrap="square" lIns="91438" tIns="45719" rIns="91438" bIns="45719">
            <a:spAutoFit/>
          </a:bodyPr>
          <a:lstStyle/>
          <a:p>
            <a:pPr marL="457200" indent="-457200">
              <a:lnSpc>
                <a:spcPct val="150000"/>
              </a:lnSpc>
              <a:spcBef>
                <a:spcPts val="670"/>
              </a:spcBef>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cs typeface="Arial" panose="020B0604020202020204" pitchFamily="34" charset="0"/>
              </a:rPr>
              <a:t>应变片式电阻传感器的测量电路</a:t>
            </a:r>
          </a:p>
          <a:p>
            <a:pPr lvl="1">
              <a:lnSpc>
                <a:spcPct val="150000"/>
              </a:lnSpc>
              <a:spcBef>
                <a:spcPts val="670"/>
              </a:spcBef>
            </a:pPr>
            <a:r>
              <a:rPr lang="zh-CN" altLang="en-US" sz="2400" b="1" dirty="0">
                <a:latin typeface="宋体" panose="02010600030101010101" pitchFamily="2" charset="-122"/>
                <a:ea typeface="宋体" panose="02010600030101010101" pitchFamily="2" charset="-122"/>
                <a:cs typeface="Arial" panose="020B0604020202020204" pitchFamily="34" charset="0"/>
              </a:rPr>
              <a:t> 直流电桥平衡条件</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lvl="1">
              <a:lnSpc>
                <a:spcPct val="150000"/>
              </a:lnSpc>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rPr>
              <a:t> </a:t>
            </a:r>
            <a:r>
              <a:rPr lang="zh-CN" altLang="en-US" sz="2400" b="1" dirty="0">
                <a:latin typeface="宋体" panose="02010600030101010101" pitchFamily="2" charset="-122"/>
                <a:ea typeface="宋体" panose="02010600030101010101" pitchFamily="2" charset="-122"/>
                <a:cs typeface="Arial" panose="020B0604020202020204" pitchFamily="34" charset="0"/>
              </a:rPr>
              <a:t>直流电桥电压灵敏度</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lvl="1">
              <a:lnSpc>
                <a:spcPct val="150000"/>
              </a:lnSpc>
              <a:spcBef>
                <a:spcPts val="670"/>
              </a:spcBef>
            </a:pPr>
            <a:r>
              <a:rPr lang="en-US" altLang="zh-CN" sz="2400" b="1" dirty="0">
                <a:latin typeface="宋体" panose="02010600030101010101" pitchFamily="2" charset="-122"/>
                <a:ea typeface="宋体" panose="02010600030101010101" pitchFamily="2" charset="-122"/>
                <a:cs typeface="Arial" panose="020B0604020202020204" pitchFamily="34" charset="0"/>
              </a:rPr>
              <a:t> </a:t>
            </a:r>
            <a:r>
              <a:rPr lang="zh-CN" altLang="en-US" sz="2400" b="1" dirty="0">
                <a:latin typeface="宋体" panose="02010600030101010101" pitchFamily="2" charset="-122"/>
                <a:ea typeface="宋体" panose="02010600030101010101" pitchFamily="2" charset="-122"/>
                <a:cs typeface="Arial" panose="020B0604020202020204" pitchFamily="34" charset="0"/>
              </a:rPr>
              <a:t>交流电桥的平衡条件</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3" name="Slide Number Placeholder 2">
            <a:extLst>
              <a:ext uri="{FF2B5EF4-FFF2-40B4-BE49-F238E27FC236}">
                <a16:creationId xmlns:a16="http://schemas.microsoft.com/office/drawing/2014/main" id="{E1F2D6C1-B6A9-4647-87B3-2B41608DCCC5}"/>
              </a:ext>
            </a:extLst>
          </p:cNvPr>
          <p:cNvSpPr>
            <a:spLocks noGrp="1"/>
          </p:cNvSpPr>
          <p:nvPr>
            <p:ph type="sldNum" sz="quarter" idx="12"/>
          </p:nvPr>
        </p:nvSpPr>
        <p:spPr/>
        <p:txBody>
          <a:bodyPr/>
          <a:lstStyle/>
          <a:p>
            <a:fld id="{B53602B4-F12B-41CD-B648-531F86B2CC91}" type="slidenum">
              <a:rPr lang="zh-CN" altLang="en-US" smtClean="0"/>
              <a:t>83</a:t>
            </a:fld>
            <a:endParaRPr lang="zh-CN" altLang="en-US"/>
          </a:p>
        </p:txBody>
      </p:sp>
    </p:spTree>
    <p:extLst>
      <p:ext uri="{BB962C8B-B14F-4D97-AF65-F5344CB8AC3E}">
        <p14:creationId xmlns:p14="http://schemas.microsoft.com/office/powerpoint/2010/main" val="33483229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a:extLst>
              <a:ext uri="{FF2B5EF4-FFF2-40B4-BE49-F238E27FC236}">
                <a16:creationId xmlns:a16="http://schemas.microsoft.com/office/drawing/2014/main" id="{55FC1499-C51A-4619-9F78-D9502515709B}"/>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5" name="矩形 45">
            <a:extLst>
              <a:ext uri="{FF2B5EF4-FFF2-40B4-BE49-F238E27FC236}">
                <a16:creationId xmlns:a16="http://schemas.microsoft.com/office/drawing/2014/main" id="{A903B40B-9FF9-4EE2-80E5-B6E8A15E6E43}"/>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2" name="Slide Number Placeholder 1">
            <a:extLst>
              <a:ext uri="{FF2B5EF4-FFF2-40B4-BE49-F238E27FC236}">
                <a16:creationId xmlns:a16="http://schemas.microsoft.com/office/drawing/2014/main" id="{D416457A-D86D-44A8-8D61-1155769BDC23}"/>
              </a:ext>
            </a:extLst>
          </p:cNvPr>
          <p:cNvSpPr>
            <a:spLocks noGrp="1"/>
          </p:cNvSpPr>
          <p:nvPr>
            <p:ph type="sldNum" sz="quarter" idx="12"/>
          </p:nvPr>
        </p:nvSpPr>
        <p:spPr/>
        <p:txBody>
          <a:bodyPr/>
          <a:lstStyle/>
          <a:p>
            <a:fld id="{B53602B4-F12B-41CD-B648-531F86B2CC91}" type="slidenum">
              <a:rPr lang="zh-CN" altLang="en-US" smtClean="0"/>
              <a:t>84</a:t>
            </a:fld>
            <a:endParaRPr lang="zh-CN" altLang="en-US"/>
          </a:p>
        </p:txBody>
      </p:sp>
      <p:sp>
        <p:nvSpPr>
          <p:cNvPr id="7" name="矩形 23">
            <a:extLst>
              <a:ext uri="{FF2B5EF4-FFF2-40B4-BE49-F238E27FC236}">
                <a16:creationId xmlns:a16="http://schemas.microsoft.com/office/drawing/2014/main" id="{B36C54B3-CE2C-4684-BFEB-10B959868D5A}"/>
              </a:ext>
            </a:extLst>
          </p:cNvPr>
          <p:cNvSpPr/>
          <p:nvPr/>
        </p:nvSpPr>
        <p:spPr>
          <a:xfrm>
            <a:off x="1551129" y="1823299"/>
            <a:ext cx="7039451" cy="3027237"/>
          </a:xfrm>
          <a:prstGeom prst="rect">
            <a:avLst/>
          </a:prstGeom>
        </p:spPr>
        <p:txBody>
          <a:bodyPr wrap="square" lIns="68579" tIns="34289" rIns="68579" bIns="34289">
            <a:spAutoFit/>
          </a:bodyPr>
          <a:lstStyle/>
          <a:p>
            <a:pPr>
              <a:lnSpc>
                <a:spcPct val="150000"/>
              </a:lnSpc>
              <a:spcBef>
                <a:spcPts val="503"/>
              </a:spcBef>
            </a:pPr>
            <a:r>
              <a:rPr lang="zh-CN" altLang="en-US" sz="2400" b="1">
                <a:latin typeface="Arial" panose="020B0604020202020204" pitchFamily="34" charset="0"/>
                <a:ea typeface="宋体" panose="02010600030101010101" pitchFamily="2" charset="-122"/>
                <a:cs typeface="Arial" panose="020B0604020202020204" pitchFamily="34" charset="0"/>
              </a:rPr>
              <a:t>习题</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2.2  </a:t>
            </a: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2.4  </a:t>
            </a: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2.6  </a:t>
            </a:r>
          </a:p>
          <a:p>
            <a:pPr marL="457200" indent="-457200">
              <a:lnSpc>
                <a:spcPct val="150000"/>
              </a:lnSpc>
              <a:spcBef>
                <a:spcPts val="503"/>
              </a:spcBef>
              <a:buFont typeface="+mj-lt"/>
              <a:buAutoNum type="arabicParenR"/>
            </a:pPr>
            <a:r>
              <a:rPr lang="en-US" altLang="zh-CN" sz="2400" b="1">
                <a:latin typeface="Arial" panose="020B0604020202020204" pitchFamily="34" charset="0"/>
                <a:ea typeface="宋体" panose="02010600030101010101" pitchFamily="2" charset="-122"/>
                <a:cs typeface="Arial" panose="020B0604020202020204" pitchFamily="34" charset="0"/>
              </a:rPr>
              <a:t>2.10</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41335873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Rectangle 5"/>
          <p:cNvSpPr txBox="1">
            <a:spLocks noChangeArrowheads="1"/>
          </p:cNvSpPr>
          <p:nvPr/>
        </p:nvSpPr>
        <p:spPr>
          <a:xfrm>
            <a:off x="314942" y="2214952"/>
            <a:ext cx="3810000" cy="1506488"/>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Wingdings" panose="05000000000000000000" pitchFamily="2" charset="2"/>
              <a:buNone/>
            </a:pPr>
            <a:r>
              <a:rPr lang="zh-CN" altLang="en-US" sz="2400" b="1">
                <a:latin typeface="宋体" panose="02010600030101010101" pitchFamily="2" charset="-122"/>
                <a:ea typeface="宋体" panose="02010600030101010101" pitchFamily="2" charset="-122"/>
              </a:rPr>
              <a:t>实</a:t>
            </a:r>
            <a:r>
              <a:rPr lang="zh-CN" altLang="en-US" sz="2400" b="1" dirty="0">
                <a:latin typeface="宋体" panose="02010600030101010101" pitchFamily="2" charset="-122"/>
                <a:ea typeface="宋体" panose="02010600030101010101" pitchFamily="2" charset="-122"/>
              </a:rPr>
              <a:t>验表明，机械应变波是以相同于声波的形式和速度在材料中传播。    </a:t>
            </a:r>
          </a:p>
        </p:txBody>
      </p:sp>
      <p:pic>
        <p:nvPicPr>
          <p:cNvPr id="20"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060" y="1583822"/>
            <a:ext cx="3957637" cy="288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 Box 7"/>
          <p:cNvSpPr txBox="1">
            <a:spLocks noChangeArrowheads="1"/>
          </p:cNvSpPr>
          <p:nvPr/>
        </p:nvSpPr>
        <p:spPr bwMode="auto">
          <a:xfrm>
            <a:off x="435428" y="4211192"/>
            <a:ext cx="827314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eaLnBrk="1" hangingPunct="1">
              <a:lnSpc>
                <a:spcPct val="150000"/>
              </a:lnSpc>
            </a:pPr>
            <a:r>
              <a:rPr kumimoji="1" lang="en-US" altLang="zh-CN" sz="2400" b="1" dirty="0">
                <a:solidFill>
                  <a:schemeClr val="folHlink"/>
                </a:solidFill>
                <a:latin typeface="Times New Roman" panose="02020603050405020304" pitchFamily="18" charset="0"/>
                <a:ea typeface="宋体" panose="02010600030101010101" pitchFamily="2" charset="-122"/>
              </a:rPr>
              <a:t>      </a:t>
            </a:r>
            <a:r>
              <a:rPr kumimoji="1" lang="zh-CN" altLang="en-US" sz="2400" b="1" dirty="0">
                <a:latin typeface="Times New Roman" panose="02020603050405020304" pitchFamily="18" charset="0"/>
                <a:ea typeface="宋体" panose="02010600030101010101" pitchFamily="2" charset="-122"/>
              </a:rPr>
              <a:t>为了分析因频率产生的误差，假定试件内的应变波是按正弦规律变化，角频率为</a:t>
            </a:r>
            <a:r>
              <a:rPr kumimoji="1"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ω</a:t>
            </a:r>
            <a:r>
              <a:rPr kumimoji="1" lang="zh-CN" altLang="en-US" sz="2400" b="1" dirty="0">
                <a:latin typeface="Times New Roman" panose="02020603050405020304" pitchFamily="18" charset="0"/>
                <a:ea typeface="宋体" panose="02010600030101010101" pitchFamily="2" charset="-122"/>
              </a:rPr>
              <a:t>，波长为</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，波速为</a:t>
            </a:r>
            <a:r>
              <a:rPr kumimoji="1"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a:latin typeface="Times New Roman" panose="02020603050405020304" pitchFamily="18" charset="0"/>
                <a:ea typeface="宋体" panose="02010600030101010101" pitchFamily="2" charset="-122"/>
              </a:rPr>
              <a:t>。</a:t>
            </a:r>
            <a:endParaRPr kumimoji="1" lang="en-US" altLang="zh-CN" sz="2400" b="1">
              <a:latin typeface="Times New Roman" panose="02020603050405020304" pitchFamily="18" charset="0"/>
              <a:ea typeface="宋体" panose="02010600030101010101" pitchFamily="2" charset="-122"/>
            </a:endParaRPr>
          </a:p>
          <a:p>
            <a:pPr eaLnBrk="1" hangingPunct="1">
              <a:lnSpc>
                <a:spcPct val="150000"/>
              </a:lnSpc>
            </a:pPr>
            <a:r>
              <a:rPr kumimoji="1" lang="zh-CN" altLang="en-US" sz="2400" b="1">
                <a:latin typeface="Times New Roman" panose="02020603050405020304" pitchFamily="18" charset="0"/>
                <a:ea typeface="宋体" panose="02010600030101010101" pitchFamily="2" charset="-122"/>
              </a:rPr>
              <a:t>     把</a:t>
            </a:r>
            <a:r>
              <a:rPr kumimoji="1" lang="zh-CN" altLang="en-US" sz="2400" b="1" dirty="0">
                <a:latin typeface="Times New Roman" panose="02020603050405020304" pitchFamily="18" charset="0"/>
                <a:ea typeface="宋体" panose="02010600030101010101" pitchFamily="2" charset="-122"/>
              </a:rPr>
              <a:t>应变片长度和应变波波长用角度表示，即</a:t>
            </a:r>
            <a:r>
              <a:rPr kumimoji="1" lang="zh-CN" altLang="en-US"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用</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b="1" dirty="0">
                <a:latin typeface="Times New Roman" panose="02020603050405020304" pitchFamily="18" charset="0"/>
                <a:ea typeface="宋体" panose="02010600030101010101" pitchFamily="2" charset="-122"/>
              </a:rPr>
              <a:t>用</a:t>
            </a:r>
            <a:r>
              <a:rPr kumimoji="1" lang="en-US" altLang="zh-CN" sz="2400" dirty="0">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表示。则有</a:t>
            </a:r>
            <a:r>
              <a:rPr kumimoji="1"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Times New Roman" panose="02020603050405020304" pitchFamily="18" charset="0"/>
                <a:ea typeface="宋体" panose="02010600030101010101" pitchFamily="2" charset="-122"/>
              </a:rPr>
              <a:t> 。 </a:t>
            </a:r>
          </a:p>
        </p:txBody>
      </p:sp>
      <p:sp>
        <p:nvSpPr>
          <p:cNvPr id="9" name="TextBox 8">
            <a:extLst>
              <a:ext uri="{FF2B5EF4-FFF2-40B4-BE49-F238E27FC236}">
                <a16:creationId xmlns:a16="http://schemas.microsoft.com/office/drawing/2014/main" id="{16FD8FD2-5081-4C55-BAED-DEF9BF3F7AE1}"/>
              </a:ext>
            </a:extLst>
          </p:cNvPr>
          <p:cNvSpPr txBox="1"/>
          <p:nvPr/>
        </p:nvSpPr>
        <p:spPr>
          <a:xfrm>
            <a:off x="158671" y="1152159"/>
            <a:ext cx="576315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a:solidFill>
                  <a:srgbClr val="FFFF00"/>
                </a:solidFill>
                <a:latin typeface="宋体" panose="02010600030101010101" pitchFamily="2" charset="-122"/>
                <a:ea typeface="宋体" panose="02010600030101010101" pitchFamily="2" charset="-122"/>
              </a:rPr>
              <a:t>应变片的动态特性：另一种分析</a:t>
            </a:r>
            <a:endParaRPr lang="zh-CN" altLang="en-US" sz="2800" b="1" dirty="0">
              <a:solidFill>
                <a:srgbClr val="FFFF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182BA6E5-A632-44B2-888B-8D908F8678AF}"/>
              </a:ext>
            </a:extLst>
          </p:cNvPr>
          <p:cNvSpPr>
            <a:spLocks noGrp="1"/>
          </p:cNvSpPr>
          <p:nvPr>
            <p:ph type="sldNum" sz="quarter" idx="12"/>
          </p:nvPr>
        </p:nvSpPr>
        <p:spPr/>
        <p:txBody>
          <a:bodyPr/>
          <a:lstStyle/>
          <a:p>
            <a:fld id="{B53602B4-F12B-41CD-B648-531F86B2CC91}" type="slidenum">
              <a:rPr lang="zh-CN" altLang="en-US" smtClean="0"/>
              <a:t>85</a:t>
            </a:fld>
            <a:endParaRPr lang="zh-CN" altLang="en-US"/>
          </a:p>
        </p:txBody>
      </p:sp>
    </p:spTree>
    <p:extLst>
      <p:ext uri="{BB962C8B-B14F-4D97-AF65-F5344CB8AC3E}">
        <p14:creationId xmlns:p14="http://schemas.microsoft.com/office/powerpoint/2010/main" val="41195741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sp>
        <p:nvSpPr>
          <p:cNvPr id="19" name="Text Box 4"/>
          <p:cNvSpPr txBox="1">
            <a:spLocks noChangeArrowheads="1"/>
          </p:cNvSpPr>
          <p:nvPr/>
        </p:nvSpPr>
        <p:spPr bwMode="auto">
          <a:xfrm>
            <a:off x="832280" y="4943329"/>
            <a:ext cx="745761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just" eaLnBrk="1" hangingPunct="1">
              <a:lnSpc>
                <a:spcPct val="150000"/>
              </a:lnSpc>
            </a:pPr>
            <a:r>
              <a:rPr kumimoji="1" lang="zh-CN" altLang="en-US" sz="2400" b="1" dirty="0">
                <a:latin typeface="宋体" panose="02010600030101010101" pitchFamily="2" charset="-122"/>
                <a:ea typeface="宋体" panose="02010600030101010101" pitchFamily="2" charset="-122"/>
              </a:rPr>
              <a:t>由此产生的相对误差为：</a:t>
            </a:r>
          </a:p>
          <a:p>
            <a:pPr algn="just" eaLnBrk="1" hangingPunct="1">
              <a:lnSpc>
                <a:spcPct val="150000"/>
              </a:lnSpc>
            </a:pPr>
            <a:r>
              <a:rPr kumimoji="1" lang="zh-CN" altLang="en-US" sz="2400" b="1" dirty="0">
                <a:latin typeface="宋体" panose="02010600030101010101" pitchFamily="2" charset="-122"/>
                <a:ea typeface="宋体" panose="02010600030101010101" pitchFamily="2" charset="-122"/>
              </a:rPr>
              <a:t>当角度</a:t>
            </a:r>
            <a:r>
              <a:rPr kumimoji="1" lang="zh-CN" altLang="en-US" sz="2400" i="1" dirty="0">
                <a:latin typeface="宋体" panose="02010600030101010101" pitchFamily="2" charset="-122"/>
                <a:ea typeface="宋体" panose="02010600030101010101" pitchFamily="2" charset="-122"/>
                <a:sym typeface="Symbol" panose="05050102010706020507" pitchFamily="18" charset="2"/>
              </a:rPr>
              <a:t></a:t>
            </a:r>
            <a:r>
              <a:rPr kumimoji="1" lang="zh-CN" altLang="en-US" sz="2400" b="1" i="1" dirty="0">
                <a:latin typeface="宋体" panose="02010600030101010101" pitchFamily="2" charset="-122"/>
                <a:ea typeface="宋体" panose="02010600030101010101" pitchFamily="2" charset="-122"/>
                <a:sym typeface="Symbol" panose="05050102010706020507" pitchFamily="18" charset="2"/>
              </a:rPr>
              <a:t> </a:t>
            </a:r>
            <a:r>
              <a:rPr kumimoji="1" lang="zh-CN" altLang="en-US" sz="2400" b="1" dirty="0">
                <a:latin typeface="宋体" panose="02010600030101010101" pitchFamily="2" charset="-122"/>
                <a:ea typeface="宋体" panose="02010600030101010101" pitchFamily="2" charset="-122"/>
              </a:rPr>
              <a:t>较小时，即栅长较小时，将上式中的</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sin</a:t>
            </a:r>
            <a:r>
              <a:rPr kumimoji="1" lang="zh-CN" altLang="en-US" sz="2400" i="1" dirty="0">
                <a:latin typeface="宋体" panose="02010600030101010101" pitchFamily="2" charset="-122"/>
                <a:ea typeface="宋体" panose="02010600030101010101" pitchFamily="2" charset="-122"/>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     </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用幂级数展开，取前两项。</a:t>
            </a:r>
            <a:endParaRPr lang="en-US" altLang="zh-CN" sz="2400" b="1" dirty="0">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20" name="Rectangle 5"/>
              <p:cNvSpPr>
                <a:spLocks noChangeArrowheads="1"/>
              </p:cNvSpPr>
              <p:nvPr/>
            </p:nvSpPr>
            <p:spPr bwMode="auto">
              <a:xfrm>
                <a:off x="294883" y="1633983"/>
                <a:ext cx="8849117" cy="16842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indent="541338" algn="just" eaLnBrk="1" hangingPunct="1">
                  <a:lnSpc>
                    <a:spcPct val="150000"/>
                  </a:lnSpc>
                </a:pPr>
                <a:r>
                  <a:rPr kumimoji="1" lang="zh-CN" altLang="en-US" sz="2400" b="1" dirty="0">
                    <a:latin typeface="宋体" panose="02010600030101010101" pitchFamily="2" charset="-122"/>
                    <a:ea typeface="宋体" panose="02010600030101010101" pitchFamily="2" charset="-122"/>
                  </a:rPr>
                  <a:t>应变片长度为</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rPr>
                  <a:t>l</a:t>
                </a:r>
                <a:r>
                  <a:rPr kumimoji="1" lang="zh-CN" altLang="en-US" sz="2400" b="1" dirty="0">
                    <a:latin typeface="宋体" panose="02010600030101010101" pitchFamily="2" charset="-122"/>
                    <a:ea typeface="宋体" panose="02010600030101010101" pitchFamily="2" charset="-122"/>
                  </a:rPr>
                  <a:t>，位于应变波（</a:t>
                </a:r>
                <a14:m>
                  <m:oMath xmlns:m="http://schemas.openxmlformats.org/officeDocument/2006/math">
                    <m:r>
                      <a:rPr kumimoji="1" lang="zh-CN" altLang="en-US" sz="2400" b="0" i="1" smtClean="0">
                        <a:solidFill>
                          <a:srgbClr val="FF0000"/>
                        </a:solidFill>
                        <a:latin typeface="Cambria Math" panose="02040503050406030204" pitchFamily="18" charset="0"/>
                        <a:ea typeface="宋体" panose="02010600030101010101" pitchFamily="2" charset="-122"/>
                      </a:rPr>
                      <m:t>𝜔</m:t>
                    </m:r>
                    <m:r>
                      <a:rPr kumimoji="1" lang="en-US" altLang="zh-CN" sz="2400" b="0" i="1" smtClean="0">
                        <a:solidFill>
                          <a:srgbClr val="FF0000"/>
                        </a:solidFill>
                        <a:latin typeface="Cambria Math" panose="02040503050406030204" pitchFamily="18" charset="0"/>
                        <a:ea typeface="宋体" panose="02010600030101010101" pitchFamily="2" charset="-122"/>
                      </a:rPr>
                      <m:t>𝑡</m:t>
                    </m:r>
                    <m:r>
                      <a:rPr kumimoji="1" lang="en-US" altLang="zh-CN" sz="2400" b="0" i="1" smtClean="0">
                        <a:solidFill>
                          <a:srgbClr val="FF0000"/>
                        </a:solidFill>
                        <a:latin typeface="Cambria Math" panose="02040503050406030204" pitchFamily="18" charset="0"/>
                        <a:ea typeface="宋体" panose="02010600030101010101" pitchFamily="2" charset="-122"/>
                      </a:rPr>
                      <m:t>−</m:t>
                    </m:r>
                    <m:r>
                      <a:rPr kumimoji="1" lang="zh-CN" altLang="en-US" sz="2400" b="0" i="1" smtClean="0">
                        <a:solidFill>
                          <a:srgbClr val="FF0000"/>
                        </a:solidFill>
                        <a:latin typeface="Cambria Math" panose="02040503050406030204" pitchFamily="18" charset="0"/>
                        <a:ea typeface="宋体" panose="02010600030101010101" pitchFamily="2" charset="-122"/>
                      </a:rPr>
                      <m:t>𝜑</m:t>
                    </m:r>
                  </m:oMath>
                </a14:m>
                <a:r>
                  <a:rPr kumimoji="1" lang="zh-CN" altLang="en-US" sz="2400" b="1" dirty="0">
                    <a:latin typeface="宋体" panose="02010600030101010101" pitchFamily="2" charset="-122"/>
                    <a:ea typeface="宋体" panose="02010600030101010101" pitchFamily="2" charset="-122"/>
                  </a:rPr>
                  <a:t>）和（</a:t>
                </a:r>
                <a14:m>
                  <m:oMath xmlns:m="http://schemas.openxmlformats.org/officeDocument/2006/math">
                    <m:r>
                      <a:rPr kumimoji="1" lang="zh-CN" altLang="en-US" sz="2400" b="0" i="1">
                        <a:solidFill>
                          <a:srgbClr val="FF0000"/>
                        </a:solidFill>
                        <a:latin typeface="Cambria Math" panose="02040503050406030204" pitchFamily="18" charset="0"/>
                        <a:ea typeface="宋体" panose="02010600030101010101" pitchFamily="2" charset="-122"/>
                      </a:rPr>
                      <m:t>𝜔</m:t>
                    </m:r>
                    <m:r>
                      <a:rPr kumimoji="1" lang="en-US" altLang="zh-CN" sz="2400" b="0" i="1">
                        <a:solidFill>
                          <a:srgbClr val="FF0000"/>
                        </a:solidFill>
                        <a:latin typeface="Cambria Math" panose="02040503050406030204" pitchFamily="18" charset="0"/>
                        <a:ea typeface="宋体" panose="02010600030101010101" pitchFamily="2" charset="-122"/>
                      </a:rPr>
                      <m:t>𝑡</m:t>
                    </m:r>
                    <m:r>
                      <a:rPr kumimoji="1" lang="en-US" altLang="zh-CN" sz="2400" b="0" i="1" smtClean="0">
                        <a:solidFill>
                          <a:srgbClr val="FF0000"/>
                        </a:solidFill>
                        <a:latin typeface="Cambria Math" panose="02040503050406030204" pitchFamily="18" charset="0"/>
                        <a:ea typeface="宋体" panose="02010600030101010101" pitchFamily="2" charset="-122"/>
                      </a:rPr>
                      <m:t>+</m:t>
                    </m:r>
                    <m:r>
                      <a:rPr kumimoji="1" lang="zh-CN" altLang="en-US" sz="2400" b="0" i="1">
                        <a:solidFill>
                          <a:srgbClr val="FF0000"/>
                        </a:solidFill>
                        <a:latin typeface="Cambria Math" panose="02040503050406030204" pitchFamily="18" charset="0"/>
                        <a:ea typeface="宋体" panose="02010600030101010101" pitchFamily="2" charset="-122"/>
                      </a:rPr>
                      <m:t>𝜑</m:t>
                    </m:r>
                  </m:oMath>
                </a14:m>
                <a:r>
                  <a:rPr kumimoji="1" lang="zh-CN" altLang="en-US" sz="2400" b="1" dirty="0">
                    <a:latin typeface="宋体" panose="02010600030101010101" pitchFamily="2" charset="-122"/>
                    <a:ea typeface="宋体" panose="02010600030101010101" pitchFamily="2" charset="-122"/>
                  </a:rPr>
                  <a:t>）之间。应变片中心位置的应变为</a:t>
                </a:r>
                <a:r>
                  <a:rPr kumimoji="1" lang="zh-CN" altLang="en-US"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2400" b="1" dirty="0">
                    <a:latin typeface="宋体" panose="02010600030101010101" pitchFamily="2" charset="-122"/>
                    <a:ea typeface="宋体" panose="02010600030101010101" pitchFamily="2" charset="-122"/>
                  </a:rPr>
                  <a:t>，应变波幅值为</a:t>
                </a:r>
                <a:r>
                  <a:rPr kumimoji="1" lang="zh-CN" altLang="en-US" sz="2400" i="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400" i="1" baseline="-30000">
                    <a:latin typeface="Times New Roman" panose="02020603050405020304" pitchFamily="18" charset="0"/>
                    <a:ea typeface="宋体" panose="02010600030101010101" pitchFamily="2" charset="-122"/>
                    <a:cs typeface="Times New Roman" panose="02020603050405020304" pitchFamily="18" charset="0"/>
                  </a:rPr>
                  <a:t>m</a:t>
                </a:r>
                <a:r>
                  <a:rPr kumimoji="1" lang="zh-CN" altLang="en-US" sz="2400" b="1">
                    <a:latin typeface="宋体" panose="02010600030101010101" pitchFamily="2" charset="-122"/>
                    <a:ea typeface="宋体" panose="02010600030101010101" pitchFamily="2" charset="-122"/>
                    <a:sym typeface="Symbol" panose="05050102010706020507" pitchFamily="18" charset="2"/>
                  </a:rPr>
                  <a:t>。</a:t>
                </a:r>
                <a:endParaRPr kumimoji="1" lang="en-US" altLang="zh-CN" sz="2400" b="1">
                  <a:latin typeface="宋体" panose="02010600030101010101" pitchFamily="2" charset="-122"/>
                  <a:ea typeface="宋体" panose="02010600030101010101" pitchFamily="2" charset="-122"/>
                  <a:sym typeface="Symbol" panose="05050102010706020507" pitchFamily="18" charset="2"/>
                </a:endParaRPr>
              </a:p>
              <a:p>
                <a:pPr indent="541338" algn="just" eaLnBrk="1" hangingPunct="1">
                  <a:lnSpc>
                    <a:spcPct val="150000"/>
                  </a:lnSpc>
                </a:pPr>
                <a:r>
                  <a:rPr kumimoji="1" lang="zh-CN" altLang="en-US" sz="2400" b="1">
                    <a:latin typeface="宋体" panose="02010600030101010101" pitchFamily="2" charset="-122"/>
                    <a:ea typeface="宋体" panose="02010600030101010101" pitchFamily="2" charset="-122"/>
                    <a:sym typeface="Symbol" panose="05050102010706020507" pitchFamily="18" charset="2"/>
                  </a:rPr>
                  <a:t>应</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变片在栅长</a:t>
                </a:r>
                <a:r>
                  <a:rPr kumimoji="1" lang="en-US" altLang="zh-CN" sz="240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范围内所反映的平均应变</a:t>
                </a:r>
                <a:r>
                  <a:rPr kumimoji="1" lang="zh-CN" altLang="en-US" sz="2400" b="1" i="1" dirty="0">
                    <a:latin typeface="宋体" panose="02010600030101010101" pitchFamily="2" charset="-122"/>
                    <a:ea typeface="宋体" panose="02010600030101010101" pitchFamily="2" charset="-122"/>
                    <a:sym typeface="Symbol" panose="05050102010706020507" pitchFamily="18" charset="2"/>
                  </a:rPr>
                  <a:t></a:t>
                </a:r>
                <a:r>
                  <a:rPr kumimoji="1" lang="en-US" altLang="zh-CN" sz="2400" b="1" i="1" baseline="-30000" dirty="0">
                    <a:latin typeface="宋体" panose="02010600030101010101" pitchFamily="2" charset="-122"/>
                    <a:ea typeface="宋体" panose="02010600030101010101" pitchFamily="2" charset="-122"/>
                  </a:rPr>
                  <a:t>p</a:t>
                </a:r>
                <a:r>
                  <a:rPr kumimoji="1" lang="zh-CN" altLang="en-US" sz="2400" b="1" dirty="0">
                    <a:latin typeface="宋体" panose="02010600030101010101" pitchFamily="2" charset="-122"/>
                    <a:ea typeface="宋体" panose="02010600030101010101" pitchFamily="2" charset="-122"/>
                    <a:sym typeface="Symbol" panose="05050102010706020507" pitchFamily="18" charset="2"/>
                  </a:rPr>
                  <a:t>：</a:t>
                </a:r>
              </a:p>
            </p:txBody>
          </p:sp>
        </mc:Choice>
        <mc:Fallback xmlns="">
          <p:sp>
            <p:nvSpPr>
              <p:cNvPr id="20" name="Rectangle 5"/>
              <p:cNvSpPr>
                <a:spLocks noRot="1" noChangeAspect="1" noMove="1" noResize="1" noEditPoints="1" noAdjustHandles="1" noChangeArrowheads="1" noChangeShapeType="1" noTextEdit="1"/>
              </p:cNvSpPr>
              <p:nvPr/>
            </p:nvSpPr>
            <p:spPr bwMode="auto">
              <a:xfrm>
                <a:off x="294883" y="1633983"/>
                <a:ext cx="8849117" cy="1684244"/>
              </a:xfrm>
              <a:prstGeom prst="rect">
                <a:avLst/>
              </a:prstGeom>
              <a:blipFill>
                <a:blip r:embed="rId4"/>
                <a:stretch>
                  <a:fillRect l="-1033" r="-1102" b="-79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001">
                    <a:noFill/>
                  </a:rPr>
                  <a:t> </a:t>
                </a:r>
              </a:p>
            </p:txBody>
          </p:sp>
        </mc:Fallback>
      </mc:AlternateContent>
      <p:graphicFrame>
        <p:nvGraphicFramePr>
          <p:cNvPr id="21" name="Object 9"/>
          <p:cNvGraphicFramePr>
            <a:graphicFrameLocks noChangeAspect="1"/>
          </p:cNvGraphicFramePr>
          <p:nvPr/>
        </p:nvGraphicFramePr>
        <p:xfrm>
          <a:off x="1217275" y="3616716"/>
          <a:ext cx="5334000" cy="838200"/>
        </p:xfrm>
        <a:graphic>
          <a:graphicData uri="http://schemas.openxmlformats.org/presentationml/2006/ole">
            <mc:AlternateContent xmlns:mc="http://schemas.openxmlformats.org/markup-compatibility/2006">
              <mc:Choice xmlns:v="urn:schemas-microsoft-com:vml" Requires="v">
                <p:oleObj r:id="rId5" imgW="2648021" imgH="400050" progId="Equation.3">
                  <p:embed/>
                </p:oleObj>
              </mc:Choice>
              <mc:Fallback>
                <p:oleObj r:id="rId5" imgW="2648021" imgH="400050" progId="Equation.3">
                  <p:embed/>
                  <p:pic>
                    <p:nvPicPr>
                      <p:cNvPr id="21"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7275" y="3616716"/>
                        <a:ext cx="533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10"/>
          <p:cNvGraphicFramePr>
            <a:graphicFrameLocks noChangeAspect="1"/>
          </p:cNvGraphicFramePr>
          <p:nvPr/>
        </p:nvGraphicFramePr>
        <p:xfrm>
          <a:off x="4208197" y="4454916"/>
          <a:ext cx="4234599" cy="1116496"/>
        </p:xfrm>
        <a:graphic>
          <a:graphicData uri="http://schemas.openxmlformats.org/presentationml/2006/ole">
            <mc:AlternateContent xmlns:mc="http://schemas.openxmlformats.org/markup-compatibility/2006">
              <mc:Choice xmlns:v="urn:schemas-microsoft-com:vml" Requires="v">
                <p:oleObj name="公式" r:id="rId7" imgW="2390855" imgH="618996" progId="Equation.3">
                  <p:embed/>
                </p:oleObj>
              </mc:Choice>
              <mc:Fallback>
                <p:oleObj name="公式" r:id="rId7" imgW="2390855" imgH="618996" progId="Equation.3">
                  <p:embed/>
                  <p:pic>
                    <p:nvPicPr>
                      <p:cNvPr id="2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8197" y="4454916"/>
                        <a:ext cx="4234599" cy="1116496"/>
                      </a:xfrm>
                      <a:prstGeom prst="rect">
                        <a:avLst/>
                      </a:prstGeom>
                      <a:noFill/>
                      <a:ln>
                        <a:noFill/>
                      </a:ln>
                    </p:spPr>
                  </p:pic>
                </p:oleObj>
              </mc:Fallback>
            </mc:AlternateContent>
          </a:graphicData>
        </a:graphic>
      </p:graphicFrame>
      <p:pic>
        <p:nvPicPr>
          <p:cNvPr id="9" name="Picture 8">
            <a:extLst>
              <a:ext uri="{FF2B5EF4-FFF2-40B4-BE49-F238E27FC236}">
                <a16:creationId xmlns:a16="http://schemas.microsoft.com/office/drawing/2014/main" id="{46D35453-7223-492A-A5F7-8C9F9A7BD2F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96727" y="0"/>
            <a:ext cx="2247274" cy="174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3EB3FCB3-DCFB-42B7-9093-760F60E5417F}"/>
              </a:ext>
            </a:extLst>
          </p:cNvPr>
          <p:cNvSpPr txBox="1"/>
          <p:nvPr/>
        </p:nvSpPr>
        <p:spPr>
          <a:xfrm>
            <a:off x="158671" y="1152159"/>
            <a:ext cx="576315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a:solidFill>
                  <a:srgbClr val="FFFF00"/>
                </a:solidFill>
                <a:latin typeface="宋体" panose="02010600030101010101" pitchFamily="2" charset="-122"/>
                <a:ea typeface="宋体" panose="02010600030101010101" pitchFamily="2" charset="-122"/>
              </a:rPr>
              <a:t>应变片的动态特性：另一种分析</a:t>
            </a:r>
            <a:endParaRPr lang="zh-CN" altLang="en-US" sz="2800" b="1" dirty="0">
              <a:solidFill>
                <a:srgbClr val="FFFF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6A42059A-A816-4B89-B06D-827CF3DC341C}"/>
              </a:ext>
            </a:extLst>
          </p:cNvPr>
          <p:cNvSpPr>
            <a:spLocks noGrp="1"/>
          </p:cNvSpPr>
          <p:nvPr>
            <p:ph type="sldNum" sz="quarter" idx="12"/>
          </p:nvPr>
        </p:nvSpPr>
        <p:spPr/>
        <p:txBody>
          <a:bodyPr/>
          <a:lstStyle/>
          <a:p>
            <a:fld id="{B53602B4-F12B-41CD-B648-531F86B2CC91}" type="slidenum">
              <a:rPr lang="zh-CN" altLang="en-US" smtClean="0"/>
              <a:t>86</a:t>
            </a:fld>
            <a:endParaRPr lang="zh-CN" altLang="en-US"/>
          </a:p>
        </p:txBody>
      </p:sp>
    </p:spTree>
    <p:extLst>
      <p:ext uri="{BB962C8B-B14F-4D97-AF65-F5344CB8AC3E}">
        <p14:creationId xmlns:p14="http://schemas.microsoft.com/office/powerpoint/2010/main" val="326514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2.2.2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金属电阻应变片主要特性</a:t>
            </a:r>
          </a:p>
        </p:txBody>
      </p:sp>
      <p:graphicFrame>
        <p:nvGraphicFramePr>
          <p:cNvPr id="22" name="Object 17"/>
          <p:cNvGraphicFramePr>
            <a:graphicFrameLocks noChangeAspect="1"/>
          </p:cNvGraphicFramePr>
          <p:nvPr/>
        </p:nvGraphicFramePr>
        <p:xfrm>
          <a:off x="1744630" y="2090818"/>
          <a:ext cx="2378743" cy="946150"/>
        </p:xfrm>
        <a:graphic>
          <a:graphicData uri="http://schemas.openxmlformats.org/presentationml/2006/ole">
            <mc:AlternateContent xmlns:mc="http://schemas.openxmlformats.org/markup-compatibility/2006">
              <mc:Choice xmlns:v="urn:schemas-microsoft-com:vml" Requires="v">
                <p:oleObj r:id="rId3" imgW="1152522" imgH="447624" progId="Equation.3">
                  <p:embed/>
                </p:oleObj>
              </mc:Choice>
              <mc:Fallback>
                <p:oleObj r:id="rId3" imgW="1152522" imgH="447624" progId="Equation.3">
                  <p:embed/>
                  <p:pic>
                    <p:nvPicPr>
                      <p:cNvPr id="22"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4630" y="2090818"/>
                        <a:ext cx="2378743" cy="946150"/>
                      </a:xfrm>
                      <a:prstGeom prst="rect">
                        <a:avLst/>
                      </a:prstGeom>
                      <a:noFill/>
                      <a:ln>
                        <a:noFill/>
                      </a:ln>
                    </p:spPr>
                  </p:pic>
                </p:oleObj>
              </mc:Fallback>
            </mc:AlternateContent>
          </a:graphicData>
        </a:graphic>
      </p:graphicFrame>
      <p:graphicFrame>
        <p:nvGraphicFramePr>
          <p:cNvPr id="27" name="Object 18"/>
          <p:cNvGraphicFramePr>
            <a:graphicFrameLocks noChangeAspect="1"/>
          </p:cNvGraphicFramePr>
          <p:nvPr/>
        </p:nvGraphicFramePr>
        <p:xfrm>
          <a:off x="5235434" y="2090818"/>
          <a:ext cx="1801549" cy="942975"/>
        </p:xfrm>
        <a:graphic>
          <a:graphicData uri="http://schemas.openxmlformats.org/presentationml/2006/ole">
            <mc:AlternateContent xmlns:mc="http://schemas.openxmlformats.org/markup-compatibility/2006">
              <mc:Choice xmlns:v="urn:schemas-microsoft-com:vml" Requires="v">
                <p:oleObj name="公式" r:id="rId5" imgW="866753" imgH="447624" progId="Equation.3">
                  <p:embed/>
                </p:oleObj>
              </mc:Choice>
              <mc:Fallback>
                <p:oleObj name="公式" r:id="rId5" imgW="866753" imgH="447624" progId="Equation.3">
                  <p:embed/>
                  <p:pic>
                    <p:nvPicPr>
                      <p:cNvPr id="27"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5434" y="2090818"/>
                        <a:ext cx="1801549" cy="942975"/>
                      </a:xfrm>
                      <a:prstGeom prst="rect">
                        <a:avLst/>
                      </a:prstGeom>
                      <a:noFill/>
                      <a:ln>
                        <a:noFill/>
                      </a:ln>
                    </p:spPr>
                  </p:pic>
                </p:oleObj>
              </mc:Fallback>
            </mc:AlternateContent>
          </a:graphicData>
        </a:graphic>
      </p:graphicFrame>
      <p:sp>
        <p:nvSpPr>
          <p:cNvPr id="8" name="Text Box 16">
            <a:extLst>
              <a:ext uri="{FF2B5EF4-FFF2-40B4-BE49-F238E27FC236}">
                <a16:creationId xmlns:a16="http://schemas.microsoft.com/office/drawing/2014/main" id="{0A4AC654-F1AC-465E-9BD4-C20C86BF8B5A}"/>
              </a:ext>
            </a:extLst>
          </p:cNvPr>
          <p:cNvSpPr txBox="1">
            <a:spLocks noChangeArrowheads="1"/>
          </p:cNvSpPr>
          <p:nvPr/>
        </p:nvSpPr>
        <p:spPr bwMode="auto">
          <a:xfrm>
            <a:off x="313255" y="3501572"/>
            <a:ext cx="8386862"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indent="630238" algn="just">
              <a:lnSpc>
                <a:spcPct val="150000"/>
              </a:lnSpc>
            </a:pPr>
            <a:r>
              <a:rPr kumimoji="1" lang="zh-CN" altLang="en-US" sz="2400" b="1">
                <a:latin typeface="Times New Roman" panose="02020603050405020304" pitchFamily="18" charset="0"/>
                <a:ea typeface="宋体" panose="02010600030101010101" pitchFamily="2" charset="-122"/>
                <a:sym typeface="Symbol" panose="05050102010706020507" pitchFamily="18" charset="2"/>
              </a:rPr>
              <a:t>在</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所要求的误差</a:t>
            </a:r>
            <a:r>
              <a:rPr kumimoji="1" lang="zh-CN" altLang="en-US" sz="2400" i="1" dirty="0">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i="1" baseline="-30000" dirty="0">
                <a:latin typeface="Times New Roman" panose="02020603050405020304" pitchFamily="18" charset="0"/>
                <a:ea typeface="宋体" panose="02010600030101010101" pitchFamily="2" charset="-122"/>
              </a:rPr>
              <a:t>r</a:t>
            </a:r>
            <a:r>
              <a:rPr kumimoji="1" lang="zh-CN" altLang="en-US" sz="2400" b="1" dirty="0">
                <a:latin typeface="Times New Roman" panose="02020603050405020304" pitchFamily="18" charset="0"/>
                <a:ea typeface="宋体" panose="02010600030101010101" pitchFamily="2" charset="-122"/>
                <a:sym typeface="Symbol" panose="05050102010706020507" pitchFamily="18" charset="2"/>
              </a:rPr>
              <a:t>下，</a:t>
            </a:r>
            <a:r>
              <a:rPr kumimoji="1" lang="zh-CN" altLang="en-US" sz="2400" b="1" u="sng" dirty="0">
                <a:latin typeface="Times New Roman" panose="02020603050405020304" pitchFamily="18" charset="0"/>
                <a:ea typeface="宋体" panose="02010600030101010101" pitchFamily="2" charset="-122"/>
                <a:sym typeface="Symbol" panose="05050102010706020507" pitchFamily="18" charset="2"/>
              </a:rPr>
              <a:t>所测应变频率与测试件的材料的种类（</a:t>
            </a:r>
            <a:r>
              <a:rPr kumimoji="1" lang="en-US" altLang="zh-CN" sz="2400" i="1" u="sng" dirty="0">
                <a:latin typeface="Times New Roman" panose="02020603050405020304" pitchFamily="18" charset="0"/>
                <a:ea typeface="宋体" panose="02010600030101010101" pitchFamily="2" charset="-122"/>
                <a:sym typeface="Symbol" panose="05050102010706020507" pitchFamily="18" charset="2"/>
              </a:rPr>
              <a:t>v</a:t>
            </a:r>
            <a:r>
              <a:rPr kumimoji="1" lang="zh-CN" altLang="en-US" sz="2400" b="1" u="sng" dirty="0">
                <a:latin typeface="Times New Roman" panose="02020603050405020304" pitchFamily="18" charset="0"/>
                <a:ea typeface="宋体" panose="02010600030101010101" pitchFamily="2" charset="-122"/>
                <a:sym typeface="Symbol" panose="05050102010706020507" pitchFamily="18" charset="2"/>
              </a:rPr>
              <a:t>）及应变片长度 </a:t>
            </a:r>
            <a:r>
              <a:rPr kumimoji="1" lang="en-US" altLang="zh-CN" sz="2400" i="1" u="sng" dirty="0">
                <a:latin typeface="Times New Roman" panose="02020603050405020304" pitchFamily="18" charset="0"/>
                <a:ea typeface="宋体" panose="02010600030101010101" pitchFamily="2" charset="-122"/>
                <a:sym typeface="Symbol" panose="05050102010706020507" pitchFamily="18" charset="2"/>
              </a:rPr>
              <a:t>l</a:t>
            </a:r>
            <a:r>
              <a:rPr kumimoji="1" lang="en-US" altLang="zh-CN" sz="2400" b="1" i="1" u="sng" dirty="0">
                <a:latin typeface="Times New Roman" panose="02020603050405020304" pitchFamily="18" charset="0"/>
                <a:ea typeface="宋体" panose="02010600030101010101" pitchFamily="2" charset="-122"/>
                <a:sym typeface="Symbol" panose="05050102010706020507" pitchFamily="18" charset="2"/>
              </a:rPr>
              <a:t> </a:t>
            </a:r>
            <a:r>
              <a:rPr kumimoji="1" lang="zh-CN" altLang="en-US" sz="2400" b="1" u="sng">
                <a:latin typeface="Times New Roman" panose="02020603050405020304" pitchFamily="18" charset="0"/>
                <a:ea typeface="宋体" panose="02010600030101010101" pitchFamily="2" charset="-122"/>
                <a:sym typeface="Symbol" panose="05050102010706020507" pitchFamily="18" charset="2"/>
              </a:rPr>
              <a:t>有关</a:t>
            </a:r>
            <a:r>
              <a:rPr kumimoji="1" lang="zh-CN" altLang="en-US" sz="2400" b="1">
                <a:latin typeface="Times New Roman" panose="02020603050405020304" pitchFamily="18" charset="0"/>
                <a:ea typeface="宋体" panose="02010600030101010101" pitchFamily="2" charset="-122"/>
                <a:sym typeface="Symbol" panose="05050102010706020507" pitchFamily="18" charset="2"/>
              </a:rPr>
              <a:t>。</a:t>
            </a:r>
            <a:endParaRPr kumimoji="1" lang="en-US" altLang="zh-CN" sz="2400" b="1" dirty="0">
              <a:latin typeface="Times New Roman" panose="02020603050405020304" pitchFamily="18" charset="0"/>
              <a:ea typeface="宋体" panose="02010600030101010101" pitchFamily="2" charset="-122"/>
              <a:sym typeface="Symbol" panose="05050102010706020507" pitchFamily="18" charset="2"/>
            </a:endParaRPr>
          </a:p>
        </p:txBody>
      </p:sp>
      <p:sp>
        <p:nvSpPr>
          <p:cNvPr id="9" name="TextBox 8">
            <a:extLst>
              <a:ext uri="{FF2B5EF4-FFF2-40B4-BE49-F238E27FC236}">
                <a16:creationId xmlns:a16="http://schemas.microsoft.com/office/drawing/2014/main" id="{BDC24F45-5585-4B88-8C6A-879B261DE319}"/>
              </a:ext>
            </a:extLst>
          </p:cNvPr>
          <p:cNvSpPr txBox="1"/>
          <p:nvPr/>
        </p:nvSpPr>
        <p:spPr>
          <a:xfrm>
            <a:off x="158671" y="1152159"/>
            <a:ext cx="5763158" cy="573042"/>
          </a:xfrm>
          <a:prstGeom prst="rect">
            <a:avLst/>
          </a:prstGeom>
          <a:solidFill>
            <a:schemeClr val="tx1">
              <a:lumMod val="50000"/>
              <a:lumOff val="50000"/>
            </a:schemeClr>
          </a:solidFill>
        </p:spPr>
        <p:txBody>
          <a:bodyPr wrap="square">
            <a:spAutoFit/>
          </a:bodyPr>
          <a:lstStyle/>
          <a:p>
            <a:pPr>
              <a:lnSpc>
                <a:spcPct val="130000"/>
              </a:lnSpc>
              <a:buFont typeface="Wingdings" panose="05000000000000000000" pitchFamily="2" charset="2"/>
              <a:buNone/>
            </a:pPr>
            <a:r>
              <a:rPr lang="zh-CN" altLang="en-US" sz="2800" b="1">
                <a:solidFill>
                  <a:srgbClr val="FFFF00"/>
                </a:solidFill>
                <a:latin typeface="宋体" panose="02010600030101010101" pitchFamily="2" charset="-122"/>
                <a:ea typeface="宋体" panose="02010600030101010101" pitchFamily="2" charset="-122"/>
              </a:rPr>
              <a:t>应变片的动态特性：另一种分析</a:t>
            </a:r>
            <a:endParaRPr lang="zh-CN" altLang="en-US" sz="2800" b="1" dirty="0">
              <a:solidFill>
                <a:srgbClr val="FFFF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65843892-3E56-48DE-A465-061789D71859}"/>
              </a:ext>
            </a:extLst>
          </p:cNvPr>
          <p:cNvSpPr>
            <a:spLocks noGrp="1"/>
          </p:cNvSpPr>
          <p:nvPr>
            <p:ph type="sldNum" sz="quarter" idx="12"/>
          </p:nvPr>
        </p:nvSpPr>
        <p:spPr/>
        <p:txBody>
          <a:bodyPr/>
          <a:lstStyle/>
          <a:p>
            <a:fld id="{B53602B4-F12B-41CD-B648-531F86B2CC91}" type="slidenum">
              <a:rPr lang="zh-CN" altLang="en-US" smtClean="0"/>
              <a:t>87</a:t>
            </a:fld>
            <a:endParaRPr lang="zh-CN" altLang="en-US"/>
          </a:p>
        </p:txBody>
      </p:sp>
    </p:spTree>
    <p:extLst>
      <p:ext uri="{BB962C8B-B14F-4D97-AF65-F5344CB8AC3E}">
        <p14:creationId xmlns:p14="http://schemas.microsoft.com/office/powerpoint/2010/main" val="33271777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4121</TotalTime>
  <Words>4037</Words>
  <Application>Microsoft Office PowerPoint</Application>
  <PresentationFormat>全屏显示(4:3)</PresentationFormat>
  <Paragraphs>689</Paragraphs>
  <Slides>87</Slides>
  <Notes>78</Notes>
  <HiddenSlides>3</HiddenSlides>
  <MMClips>2</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87</vt:i4>
      </vt:variant>
    </vt:vector>
  </HeadingPairs>
  <TitlesOfParts>
    <vt:vector size="102" baseType="lpstr">
      <vt:lpstr>宋体</vt:lpstr>
      <vt:lpstr>微软雅黑</vt:lpstr>
      <vt:lpstr>Arial</vt:lpstr>
      <vt:lpstr>Cambria Math</vt:lpstr>
      <vt:lpstr>Courier New</vt:lpstr>
      <vt:lpstr>Symbol</vt:lpstr>
      <vt:lpstr>Times New Roman</vt:lpstr>
      <vt:lpstr>Verdana</vt:lpstr>
      <vt:lpstr>Wingdings</vt:lpstr>
      <vt:lpstr>Office 主题​​</vt:lpstr>
      <vt:lpstr>Image</vt:lpstr>
      <vt:lpstr>Equation.3</vt:lpstr>
      <vt:lpstr>Equation</vt:lpstr>
      <vt:lpstr>公式</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nyu</dc:creator>
  <cp:lastModifiedBy>GE FANG</cp:lastModifiedBy>
  <cp:revision>225</cp:revision>
  <dcterms:created xsi:type="dcterms:W3CDTF">2020-09-26T11:04:00Z</dcterms:created>
  <dcterms:modified xsi:type="dcterms:W3CDTF">2026-03-18T13:09:16Z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