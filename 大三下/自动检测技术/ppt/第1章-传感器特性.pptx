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9" r:id="rId2"/>
    <p:sldId id="262" r:id="rId3"/>
    <p:sldId id="314" r:id="rId4"/>
    <p:sldId id="281" r:id="rId5"/>
    <p:sldId id="282" r:id="rId6"/>
    <p:sldId id="293" r:id="rId7"/>
    <p:sldId id="330" r:id="rId8"/>
    <p:sldId id="336" r:id="rId9"/>
    <p:sldId id="337" r:id="rId10"/>
    <p:sldId id="335" r:id="rId11"/>
    <p:sldId id="295" r:id="rId12"/>
    <p:sldId id="294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29" r:id="rId21"/>
    <p:sldId id="303" r:id="rId22"/>
    <p:sldId id="304" r:id="rId23"/>
    <p:sldId id="305" r:id="rId24"/>
    <p:sldId id="306" r:id="rId25"/>
    <p:sldId id="332" r:id="rId26"/>
    <p:sldId id="331" r:id="rId27"/>
    <p:sldId id="307" r:id="rId28"/>
    <p:sldId id="308" r:id="rId29"/>
    <p:sldId id="333" r:id="rId30"/>
    <p:sldId id="334" r:id="rId31"/>
    <p:sldId id="309" r:id="rId32"/>
    <p:sldId id="310" r:id="rId33"/>
    <p:sldId id="324" r:id="rId34"/>
    <p:sldId id="325" r:id="rId35"/>
    <p:sldId id="326" r:id="rId36"/>
    <p:sldId id="327" r:id="rId37"/>
    <p:sldId id="328" r:id="rId38"/>
    <p:sldId id="311" r:id="rId39"/>
    <p:sldId id="312" r:id="rId40"/>
    <p:sldId id="313" r:id="rId41"/>
    <p:sldId id="315" r:id="rId42"/>
  </p:sldIdLst>
  <p:sldSz cx="9144000" cy="6858000" type="screen4x3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FF0066"/>
    <a:srgbClr val="FF9999"/>
    <a:srgbClr val="FF00FF"/>
    <a:srgbClr val="954F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92" d="100"/>
          <a:sy n="92" d="100"/>
        </p:scale>
        <p:origin x="872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BFE69-A663-48FE-847E-961ADB1B89B2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BAB27-5BFC-45E6-A928-A1804196F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061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841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492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7958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3240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1104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9258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1C22BC-A03F-4A49-91EC-B6043AC56D9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8663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6509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8811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8537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BAB27-5BFC-45E6-A928-A1804196FCF3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853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375B-68C6-4A9C-9CC7-825B200CF32B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E01C-602B-4FC5-8778-688916D42313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31C2-28BB-40E0-ACE3-F56CC31A4BCE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AE0C9-0D29-41C3-A29B-1A1006543192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F27EE-9E65-4143-AEF5-ED3C36D14E79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2FF7-A9D5-4D17-BA91-F4A2FBAF9FC9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1AFC-5794-4F63-B10E-25E49191898E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9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B6B-DAF9-4F6B-BDAD-8DF1CF26727B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9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31043-4F39-4FED-8D32-FACDA17600A7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74E70-6F78-450D-8059-F7B65437861C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2" y="365126"/>
            <a:ext cx="5800725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5805D-3E08-45F6-B7F4-5666BC88C866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30F1D-7DB4-4304-AA25-84D6E6CA0D3D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602B4-F12B-41CD-B648-531F86B2CC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8.xml"/><Relationship Id="rId4" Type="http://schemas.openxmlformats.org/officeDocument/2006/relationships/slide" Target="slide2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5.xml"/><Relationship Id="rId7" Type="http://schemas.openxmlformats.org/officeDocument/2006/relationships/slide" Target="slide1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11" Type="http://schemas.openxmlformats.org/officeDocument/2006/relationships/slide" Target="slide18.xml"/><Relationship Id="rId5" Type="http://schemas.openxmlformats.org/officeDocument/2006/relationships/slide" Target="slide12.xml"/><Relationship Id="rId10" Type="http://schemas.openxmlformats.org/officeDocument/2006/relationships/slide" Target="slide17.xml"/><Relationship Id="rId4" Type="http://schemas.openxmlformats.org/officeDocument/2006/relationships/slide" Target="slide11.xml"/><Relationship Id="rId9" Type="http://schemas.openxmlformats.org/officeDocument/2006/relationships/slide" Target="slide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8.xml"/><Relationship Id="rId4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7" Type="http://schemas.openxmlformats.org/officeDocument/2006/relationships/slide" Target="slide3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7.xml"/><Relationship Id="rId5" Type="http://schemas.openxmlformats.org/officeDocument/2006/relationships/slide" Target="slide24.xml"/><Relationship Id="rId4" Type="http://schemas.openxmlformats.org/officeDocument/2006/relationships/slide" Target="slide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7" Type="http://schemas.openxmlformats.org/officeDocument/2006/relationships/slide" Target="slide37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6.xml"/><Relationship Id="rId5" Type="http://schemas.openxmlformats.org/officeDocument/2006/relationships/slide" Target="slide35.xml"/><Relationship Id="rId4" Type="http://schemas.openxmlformats.org/officeDocument/2006/relationships/slide" Target="slide3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>
          <a:xfrm flipH="1">
            <a:off x="1303497" y="2141859"/>
            <a:ext cx="7840504" cy="1271905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 rot="10800000" flipV="1">
            <a:off x="348139" y="2117093"/>
            <a:ext cx="955358" cy="129095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r>
              <a:rPr lang="en-US" altLang="zh-CN" sz="4500" b="1" dirty="0">
                <a:latin typeface="宋体" panose="02010600030101010101" pitchFamily="2" charset="-122"/>
                <a:sym typeface="+mn-ea"/>
              </a:rPr>
              <a:t>1</a:t>
            </a:r>
            <a:endParaRPr lang="zh-CN" altLang="en-US" sz="4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337086" y="2363472"/>
            <a:ext cx="3264353" cy="623246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 algn="l" eaLnBrk="1" hangingPunct="1"/>
            <a:r>
              <a:rPr lang="zh-CN" altLang="en-US" sz="3600" b="1" spc="45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传感器的特性</a:t>
            </a:r>
            <a:endParaRPr lang="zh-CN" altLang="en-US" sz="3600" b="1" spc="45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 2"/>
          <p:cNvGrpSpPr/>
          <p:nvPr/>
        </p:nvGrpSpPr>
        <p:grpSpPr>
          <a:xfrm>
            <a:off x="-15717" y="2128521"/>
            <a:ext cx="181928" cy="1285240"/>
            <a:chOff x="-21102" y="2858492"/>
            <a:chExt cx="242777" cy="1285286"/>
          </a:xfrm>
        </p:grpSpPr>
        <p:sp>
          <p:nvSpPr>
            <p:cNvPr id="46" name="圆角矩形 45"/>
            <p:cNvSpPr/>
            <p:nvPr/>
          </p:nvSpPr>
          <p:spPr>
            <a:xfrm rot="16200000" flipV="1">
              <a:off x="-13338" y="3643334"/>
              <a:ext cx="227250" cy="242777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圆角矩形 46"/>
            <p:cNvSpPr/>
            <p:nvPr/>
          </p:nvSpPr>
          <p:spPr>
            <a:xfrm rot="16200000" flipV="1">
              <a:off x="-13338" y="3908764"/>
              <a:ext cx="227250" cy="242777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圆角矩形 47"/>
            <p:cNvSpPr/>
            <p:nvPr/>
          </p:nvSpPr>
          <p:spPr>
            <a:xfrm rot="16200000" flipV="1">
              <a:off x="-13338" y="3122170"/>
              <a:ext cx="227250" cy="242777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圆角矩形 48"/>
            <p:cNvSpPr/>
            <p:nvPr/>
          </p:nvSpPr>
          <p:spPr>
            <a:xfrm rot="16200000" flipV="1">
              <a:off x="-13338" y="3387600"/>
              <a:ext cx="227250" cy="242777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圆角矩形 44"/>
            <p:cNvSpPr/>
            <p:nvPr/>
          </p:nvSpPr>
          <p:spPr>
            <a:xfrm rot="16200000" flipV="1">
              <a:off x="-13338" y="2850728"/>
              <a:ext cx="227250" cy="242777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3346BE0-1BAE-495D-A339-7F57E8CBC29C}"/>
              </a:ext>
            </a:extLst>
          </p:cNvPr>
          <p:cNvSpPr txBox="1"/>
          <p:nvPr/>
        </p:nvSpPr>
        <p:spPr>
          <a:xfrm>
            <a:off x="1454943" y="566039"/>
            <a:ext cx="62341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4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自动检测技术与系统</a:t>
            </a:r>
            <a:endParaRPr kumimoji="0" lang="en-US" altLang="zh-CN" sz="4800" b="1" i="0" u="none" strike="noStrike" kern="1200" cap="none" spc="45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444867" y="2149390"/>
            <a:ext cx="6891266" cy="3198309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传感器</a:t>
            </a:r>
            <a:r>
              <a:rPr lang="zh-CN" altLang="en-US" sz="26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特有性质的总称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en-US" altLang="zh-CN" sz="2600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zh-CN" altLang="en-US" sz="26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输入―输出特性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是传感器的基本特性。</a:t>
            </a:r>
            <a:endParaRPr lang="en-US" altLang="zh-CN" sz="2600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一般把传感器作为</a:t>
            </a:r>
            <a:r>
              <a:rPr lang="zh-CN" altLang="en-US" sz="26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二端网络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研究，输入―输出特性是二端网络的外部特性，即输入量和输出量的对应关系。</a:t>
            </a:r>
            <a:endParaRPr lang="zh-CN" altLang="en-US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71713" y="354314"/>
            <a:ext cx="7839637" cy="62046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endParaRPr lang="zh-CN" altLang="en-US" sz="3400"/>
          </a:p>
        </p:txBody>
      </p:sp>
      <p:sp>
        <p:nvSpPr>
          <p:cNvPr id="6" name="圆角矩形 43"/>
          <p:cNvSpPr/>
          <p:nvPr/>
        </p:nvSpPr>
        <p:spPr>
          <a:xfrm rot="10800000" flipV="1">
            <a:off x="185084" y="338486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r>
              <a:rPr lang="en-US" altLang="zh-CN" sz="3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endParaRPr lang="zh-CN" altLang="en-US" sz="3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72733" y="360068"/>
            <a:ext cx="2764212" cy="592468"/>
          </a:xfrm>
          <a:prstGeom prst="rect">
            <a:avLst/>
          </a:prstGeom>
        </p:spPr>
        <p:txBody>
          <a:bodyPr wrap="none" lIns="68577" tIns="34289" rIns="68577" bIns="34289">
            <a:spAutoFit/>
          </a:bodyPr>
          <a:lstStyle/>
          <a:p>
            <a:pPr marL="7144" indent="-7144" algn="ctr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传感器的特性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EC75D4-3078-4DD0-97DE-E0DE3A800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79"/>
          <p:cNvCxnSpPr/>
          <p:nvPr/>
        </p:nvCxnSpPr>
        <p:spPr>
          <a:xfrm>
            <a:off x="1649155" y="6"/>
            <a:ext cx="0" cy="564364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908717" y="2904937"/>
            <a:ext cx="6818603" cy="100874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 14"/>
          <p:cNvGrpSpPr/>
          <p:nvPr/>
        </p:nvGrpSpPr>
        <p:grpSpPr>
          <a:xfrm>
            <a:off x="-16725" y="6654793"/>
            <a:ext cx="953603" cy="203211"/>
            <a:chOff x="-22302" y="6654791"/>
            <a:chExt cx="1271471" cy="203210"/>
          </a:xfrm>
        </p:grpSpPr>
        <p:sp>
          <p:nvSpPr>
            <p:cNvPr id="9" name="圆角矩形 8"/>
            <p:cNvSpPr/>
            <p:nvPr/>
          </p:nvSpPr>
          <p:spPr>
            <a:xfrm flipV="1">
              <a:off x="240276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 flipV="1">
              <a:off x="-2230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 flipV="1">
              <a:off x="755838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 flipV="1">
              <a:off x="493260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102436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3" name="圆角矩形 72"/>
          <p:cNvSpPr/>
          <p:nvPr/>
        </p:nvSpPr>
        <p:spPr>
          <a:xfrm rot="10800000" flipV="1">
            <a:off x="2253313" y="1957093"/>
            <a:ext cx="861785" cy="424267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r>
              <a:rPr lang="en-US" altLang="zh-CN" sz="27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</a:t>
            </a:r>
            <a:endParaRPr lang="zh-CN" altLang="en-US" sz="27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4" name="圆角矩形 73"/>
          <p:cNvSpPr/>
          <p:nvPr/>
        </p:nvSpPr>
        <p:spPr>
          <a:xfrm rot="10800000" flipV="1">
            <a:off x="2253314" y="2962968"/>
            <a:ext cx="861781" cy="424269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r>
              <a:rPr lang="en-US" altLang="zh-CN" sz="27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</a:t>
            </a:r>
            <a:endParaRPr lang="zh-CN" altLang="en-US" sz="27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419064" y="1981941"/>
            <a:ext cx="2921306" cy="484746"/>
          </a:xfrm>
          <a:prstGeom prst="rect">
            <a:avLst/>
          </a:prstGeom>
          <a:noFill/>
        </p:spPr>
        <p:txBody>
          <a:bodyPr wrap="none" lIns="68577" tIns="34289" rIns="68577" bIns="34289" rtlCol="0">
            <a:spAutoFit/>
          </a:bodyPr>
          <a:lstStyle/>
          <a:p>
            <a:r>
              <a:rPr lang="zh-CN" altLang="en-US" sz="27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传感器的静态特性</a:t>
            </a:r>
            <a:endParaRPr lang="zh-CN" altLang="en-US" sz="2700" b="1" dirty="0">
              <a:solidFill>
                <a:srgbClr val="C00000"/>
              </a:solidFill>
            </a:endParaRPr>
          </a:p>
        </p:txBody>
      </p:sp>
      <p:sp>
        <p:nvSpPr>
          <p:cNvPr id="88" name="文本框 87">
            <a:hlinkClick r:id="rId3" action="ppaction://hlinksldjump"/>
          </p:cNvPr>
          <p:cNvSpPr txBox="1"/>
          <p:nvPr/>
        </p:nvSpPr>
        <p:spPr>
          <a:xfrm>
            <a:off x="3419064" y="2950167"/>
            <a:ext cx="2921306" cy="484746"/>
          </a:xfrm>
          <a:prstGeom prst="rect">
            <a:avLst/>
          </a:prstGeom>
          <a:noFill/>
        </p:spPr>
        <p:txBody>
          <a:bodyPr wrap="none" lIns="68577" tIns="34289" rIns="68577" bIns="34289" rtlCol="0">
            <a:spAutoFit/>
          </a:bodyPr>
          <a:lstStyle/>
          <a:p>
            <a:r>
              <a:rPr lang="zh-CN" altLang="en-US" sz="27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  <a:hlinkClick r:id="rId4" action="ppaction://hlinksldjump"/>
              </a:rPr>
              <a:t>传感器的动态特性</a:t>
            </a:r>
            <a:endParaRPr lang="zh-CN" altLang="en-US" sz="27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6" name="圆角矩形 72"/>
          <p:cNvSpPr/>
          <p:nvPr/>
        </p:nvSpPr>
        <p:spPr>
          <a:xfrm rot="10800000" flipV="1">
            <a:off x="2253314" y="3958084"/>
            <a:ext cx="861785" cy="424267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endParaRPr lang="zh-CN" altLang="en-US" sz="27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419064" y="3918392"/>
            <a:ext cx="1529900" cy="484746"/>
          </a:xfrm>
          <a:prstGeom prst="rect">
            <a:avLst/>
          </a:prstGeom>
          <a:noFill/>
        </p:spPr>
        <p:txBody>
          <a:bodyPr wrap="none" lIns="68577" tIns="34289" rIns="68577" bIns="34289" rtlCol="0">
            <a:spAutoFit/>
          </a:bodyPr>
          <a:lstStyle/>
          <a:p>
            <a:r>
              <a:rPr lang="zh-CN" altLang="en-US" sz="27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hlinkClick r:id="rId5" action="ppaction://hlinksldjump"/>
              </a:rPr>
              <a:t>本章要点</a:t>
            </a:r>
            <a:endParaRPr lang="zh-CN" altLang="en-US" sz="27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文本框 19">
            <a:extLst>
              <a:ext uri="{FF2B5EF4-FFF2-40B4-BE49-F238E27FC236}">
                <a16:creationId xmlns:a16="http://schemas.microsoft.com/office/drawing/2014/main" id="{6E8BF02F-95B1-4F68-A843-C74EAB3F3FA3}"/>
              </a:ext>
            </a:extLst>
          </p:cNvPr>
          <p:cNvSpPr txBox="1"/>
          <p:nvPr/>
        </p:nvSpPr>
        <p:spPr>
          <a:xfrm>
            <a:off x="104043" y="1495425"/>
            <a:ext cx="754047" cy="3269788"/>
          </a:xfrm>
          <a:prstGeom prst="rect">
            <a:avLst/>
          </a:prstGeom>
          <a:noFill/>
        </p:spPr>
        <p:txBody>
          <a:bodyPr vert="eaVert" wrap="square" lIns="68577" tIns="34289" rIns="68577" bIns="34289" rtlCol="0">
            <a:spAutoFit/>
          </a:bodyPr>
          <a:lstStyle/>
          <a:p>
            <a:r>
              <a:rPr lang="ja-JP" altLang="en-US" sz="4000" b="1" spc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内容提纲</a:t>
            </a:r>
            <a:endParaRPr lang="zh-CN" altLang="en-US" sz="4000" b="1" spc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805F8F-38B3-45FC-8355-4839E686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22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1571713" y="354314"/>
            <a:ext cx="7839637" cy="62046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185084" y="338486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r>
              <a:rPr lang="en-US" altLang="zh-CN" sz="26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</a:t>
            </a:r>
          </a:p>
        </p:txBody>
      </p:sp>
      <p:sp>
        <p:nvSpPr>
          <p:cNvPr id="46" name="矩形 45"/>
          <p:cNvSpPr/>
          <p:nvPr/>
        </p:nvSpPr>
        <p:spPr>
          <a:xfrm>
            <a:off x="1960200" y="366851"/>
            <a:ext cx="3434267" cy="561690"/>
          </a:xfrm>
          <a:prstGeom prst="rect">
            <a:avLst/>
          </a:prstGeom>
        </p:spPr>
        <p:txBody>
          <a:bodyPr wrap="none" lIns="68577" tIns="34289" rIns="68577" bIns="34289">
            <a:spAutoFit/>
          </a:bodyPr>
          <a:lstStyle/>
          <a:p>
            <a:pPr marL="628650" indent="-628650"/>
            <a:r>
              <a:rPr lang="zh-CN" altLang="en-US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传感器的静态特性</a:t>
            </a:r>
          </a:p>
        </p:txBody>
      </p:sp>
      <p:sp>
        <p:nvSpPr>
          <p:cNvPr id="222223" name="Rectangle 15"/>
          <p:cNvSpPr>
            <a:spLocks noRot="1" noChangeArrowheads="1"/>
          </p:cNvSpPr>
          <p:nvPr/>
        </p:nvSpPr>
        <p:spPr bwMode="auto">
          <a:xfrm>
            <a:off x="1555116" y="2391594"/>
            <a:ext cx="2957925" cy="4636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量程</a:t>
            </a:r>
            <a:endParaRPr lang="en-US" altLang="zh-CN" sz="2400" b="1" dirty="0">
              <a:solidFill>
                <a:schemeClr val="tx2"/>
              </a:solidFill>
              <a:ea typeface="宋体" panose="02010600030101010101" pitchFamily="2" charset="-122"/>
              <a:sym typeface="+mn-ea"/>
            </a:endParaRPr>
          </a:p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ea typeface="宋体" panose="02010600030101010101" pitchFamily="2" charset="-122"/>
                <a:sym typeface="+mn-ea"/>
                <a:hlinkClick r:id="rId3" action="ppaction://hlinksldjump"/>
              </a:rPr>
              <a:t>线性度</a:t>
            </a:r>
            <a:endParaRPr lang="zh-CN" altLang="en-US" sz="2400" b="1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ea typeface="宋体" panose="02010600030101010101" pitchFamily="2" charset="-122"/>
                <a:sym typeface="+mn-ea"/>
                <a:hlinkClick r:id="rId4" action="ppaction://hlinksldjump"/>
              </a:rPr>
              <a:t>迟滞</a:t>
            </a:r>
            <a:endParaRPr lang="zh-CN" altLang="en-US" sz="2400" b="1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ea typeface="宋体" panose="02010600030101010101" pitchFamily="2" charset="-122"/>
                <a:sym typeface="+mn-ea"/>
                <a:hlinkClick r:id="rId5" action="ppaction://hlinksldjump"/>
              </a:rPr>
              <a:t>重复性</a:t>
            </a:r>
            <a:endParaRPr lang="zh-CN" altLang="en-US" sz="2400" b="1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ea typeface="宋体" panose="02010600030101010101" pitchFamily="2" charset="-122"/>
                <a:sym typeface="+mn-ea"/>
                <a:hlinkClick r:id="rId6" action="ppaction://hlinksldjump"/>
              </a:rPr>
              <a:t>灵敏度与灵敏度误差</a:t>
            </a:r>
            <a:endParaRPr lang="zh-CN" altLang="en-US" sz="2400" b="1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3" name="Rectangle 15"/>
          <p:cNvSpPr>
            <a:spLocks noRot="1" noChangeArrowheads="1"/>
          </p:cNvSpPr>
          <p:nvPr/>
        </p:nvSpPr>
        <p:spPr bwMode="auto">
          <a:xfrm>
            <a:off x="5169006" y="2411468"/>
            <a:ext cx="2957925" cy="380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ea typeface="宋体" panose="02010600030101010101" pitchFamily="2" charset="-122"/>
                <a:sym typeface="+mn-ea"/>
                <a:hlinkClick r:id="rId7" action="ppaction://hlinksldjump"/>
              </a:rPr>
              <a:t>分辨率与阈值</a:t>
            </a:r>
            <a:endParaRPr lang="zh-CN" altLang="en-US" sz="2400" b="1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ea typeface="宋体" panose="02010600030101010101" pitchFamily="2" charset="-122"/>
                <a:sym typeface="+mn-ea"/>
                <a:hlinkClick r:id="rId8" action="ppaction://hlinksldjump"/>
              </a:rPr>
              <a:t>稳定性</a:t>
            </a:r>
            <a:endParaRPr lang="zh-CN" altLang="en-US" sz="2400" b="1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ea typeface="宋体" panose="02010600030101010101" pitchFamily="2" charset="-122"/>
                <a:sym typeface="+mn-ea"/>
                <a:hlinkClick r:id="rId9" action="ppaction://hlinksldjump"/>
              </a:rPr>
              <a:t>温度稳定性</a:t>
            </a:r>
            <a:endParaRPr lang="zh-CN" altLang="en-US" sz="2400" b="1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ea typeface="宋体" panose="02010600030101010101" pitchFamily="2" charset="-122"/>
                <a:sym typeface="+mn-ea"/>
                <a:hlinkClick r:id="rId10" action="ppaction://hlinksldjump"/>
              </a:rPr>
              <a:t>多种抗干扰能力</a:t>
            </a:r>
            <a:endParaRPr lang="zh-CN" altLang="en-US" sz="2400" b="1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Tx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ea typeface="宋体" panose="02010600030101010101" pitchFamily="2" charset="-122"/>
                <a:sym typeface="+mn-ea"/>
                <a:hlinkClick r:id="rId11" action="ppaction://hlinksldjump"/>
              </a:rPr>
              <a:t>静态误差</a:t>
            </a:r>
            <a:endParaRPr lang="zh-CN" altLang="en-US" sz="2400" b="1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ADF180-FFC7-4291-9D97-617903A28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02A98E-6A6F-A8BA-58EE-45C875E1AAE8}"/>
              </a:ext>
            </a:extLst>
          </p:cNvPr>
          <p:cNvSpPr/>
          <p:nvPr/>
        </p:nvSpPr>
        <p:spPr>
          <a:xfrm>
            <a:off x="497524" y="1019555"/>
            <a:ext cx="7697440" cy="1175769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静态特性是指当输入量为常量或变化极慢时传感器的输入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输出特性。</a:t>
            </a:r>
            <a:endParaRPr lang="zh-CN" altLang="en-US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94901" y="1356723"/>
            <a:ext cx="6954521" cy="2285239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indent="630238"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传感器的输入-输出关系或多或少地都存在非线性。在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忽略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迟滞、蠕变等因素的情况下，其静态特性可用下列多项式代数方程来表示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lnSpc>
                <a:spcPct val="15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对象 7"/>
          <p:cNvGraphicFramePr/>
          <p:nvPr>
            <p:extLst>
              <p:ext uri="{D42A27DB-BD31-4B8C-83A1-F6EECF244321}">
                <p14:modId xmlns:p14="http://schemas.microsoft.com/office/powerpoint/2010/main" val="846924789"/>
              </p:ext>
            </p:extLst>
          </p:nvPr>
        </p:nvGraphicFramePr>
        <p:xfrm>
          <a:off x="2759103" y="3065663"/>
          <a:ext cx="3686485" cy="686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87855" imgH="313690" progId="">
                  <p:embed/>
                </p:oleObj>
              </mc:Choice>
              <mc:Fallback>
                <p:oleObj r:id="rId3" imgW="1887855" imgH="313690" progId="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59103" y="3065663"/>
                        <a:ext cx="3686485" cy="6867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37" name="Text Box 29"/>
          <p:cNvSpPr txBox="1">
            <a:spLocks noChangeArrowheads="1"/>
          </p:cNvSpPr>
          <p:nvPr/>
        </p:nvSpPr>
        <p:spPr bwMode="auto">
          <a:xfrm>
            <a:off x="1844278" y="3939284"/>
            <a:ext cx="5930876" cy="111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buNone/>
            </a:pP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 </a:t>
            </a:r>
            <a:r>
              <a:rPr lang="en-US" altLang="zh-CN" sz="2000" dirty="0">
                <a:solidFill>
                  <a:schemeClr val="tx1"/>
                </a:solidFill>
              </a:rPr>
              <a:t>――</a:t>
            </a:r>
            <a:r>
              <a:rPr lang="zh-CN" altLang="en-US" sz="2000" dirty="0">
                <a:solidFill>
                  <a:schemeClr val="tx1"/>
                </a:solidFill>
              </a:rPr>
              <a:t>输出量；                      </a:t>
            </a: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chemeClr val="tx1"/>
                </a:solidFill>
              </a:rPr>
              <a:t>  ――</a:t>
            </a:r>
            <a:r>
              <a:rPr lang="zh-CN" altLang="en-US" sz="2000" dirty="0">
                <a:solidFill>
                  <a:schemeClr val="tx1"/>
                </a:solidFill>
              </a:rPr>
              <a:t>输入量；</a:t>
            </a:r>
          </a:p>
          <a:p>
            <a:pPr>
              <a:buNone/>
            </a:pP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 ――</a:t>
            </a:r>
            <a:r>
              <a:rPr lang="zh-CN" altLang="en-US" sz="2000" dirty="0">
                <a:solidFill>
                  <a:schemeClr val="tx1"/>
                </a:solidFill>
              </a:rPr>
              <a:t>零点输出；                 </a:t>
            </a: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</a:rPr>
              <a:t> ――</a:t>
            </a:r>
            <a:r>
              <a:rPr lang="zh-CN" altLang="en-US" sz="2000" dirty="0">
                <a:solidFill>
                  <a:schemeClr val="tx1"/>
                </a:solidFill>
              </a:rPr>
              <a:t>理论灵敏度；</a:t>
            </a:r>
          </a:p>
          <a:p>
            <a:pPr>
              <a:buNone/>
            </a:pP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――</a:t>
            </a:r>
            <a:r>
              <a:rPr lang="zh-CN" altLang="en-US" sz="2000" dirty="0">
                <a:solidFill>
                  <a:schemeClr val="tx1"/>
                </a:solidFill>
              </a:rPr>
              <a:t>非线性项系数</a:t>
            </a:r>
          </a:p>
        </p:txBody>
      </p:sp>
      <p:sp>
        <p:nvSpPr>
          <p:cNvPr id="6" name="文本框 5"/>
          <p:cNvSpPr txBox="1"/>
          <p:nvPr/>
        </p:nvSpPr>
        <p:spPr bwMode="auto">
          <a:xfrm>
            <a:off x="1155275" y="5350902"/>
            <a:ext cx="6894147" cy="93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 rtlCol="0" anchor="t">
            <a:spAutoFit/>
          </a:bodyPr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indent="541338" algn="l">
              <a:lnSpc>
                <a:spcPct val="150000"/>
              </a:lnSpc>
              <a:buSzTx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为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便于实际使用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，传感器</a:t>
            </a:r>
            <a:r>
              <a:rPr lang="en-US" altLang="zh-CN" sz="2000" dirty="0" err="1">
                <a:solidFill>
                  <a:schemeClr val="tx1"/>
                </a:solidFill>
                <a:sym typeface="+mn-ea"/>
              </a:rPr>
              <a:t>静态特性曲线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通常</a:t>
            </a:r>
            <a:r>
              <a:rPr lang="en-US" altLang="zh-CN" sz="2000" dirty="0" err="1">
                <a:solidFill>
                  <a:schemeClr val="tx1"/>
                </a:solidFill>
                <a:sym typeface="+mn-ea"/>
              </a:rPr>
              <a:t>需要进行线性化处理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。</a:t>
            </a:r>
            <a:endParaRPr lang="en-US" altLang="zh-CN" sz="20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1.1.1</a:t>
            </a:r>
          </a:p>
        </p:txBody>
      </p:sp>
      <p:sp>
        <p:nvSpPr>
          <p:cNvPr id="27" name="矩形 26"/>
          <p:cNvSpPr/>
          <p:nvPr/>
        </p:nvSpPr>
        <p:spPr>
          <a:xfrm>
            <a:off x="1960201" y="329520"/>
            <a:ext cx="1497518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线性度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64A940-E042-4662-BD9A-CEA2755E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51622" y="1447802"/>
            <a:ext cx="2928938" cy="623246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常用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拟合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方法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：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137273" y="2799516"/>
            <a:ext cx="2284620" cy="58862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68579" tIns="0" rIns="68579" bIns="34289" anchor="ctr">
            <a:spAutoFit/>
          </a:bodyPr>
          <a:lstStyle/>
          <a:p>
            <a:pPr marL="0" lvl="1" algn="ctr">
              <a:lnSpc>
                <a:spcPct val="150000"/>
              </a:lnSpc>
              <a:buClr>
                <a:schemeClr val="bg1"/>
              </a:buClr>
            </a:pPr>
            <a:r>
              <a:rPr lang="en-US" altLang="zh-CN" sz="24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理论拟合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137273" y="3974553"/>
            <a:ext cx="2284619" cy="588622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68579" tIns="0" rIns="68579" bIns="34289" anchor="ctr">
            <a:spAutoFit/>
          </a:bodyPr>
          <a:lstStyle/>
          <a:p>
            <a:pPr marL="0" lvl="1" algn="ctr">
              <a:lnSpc>
                <a:spcPct val="150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过零旋转</a:t>
            </a:r>
            <a:r>
              <a:rPr lang="en-US" altLang="zh-CN" sz="24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拟合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745625" y="2779348"/>
            <a:ext cx="2233621" cy="588622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68579" tIns="0" rIns="68579" bIns="34289" anchor="ctr">
            <a:spAutoFit/>
          </a:bodyPr>
          <a:lstStyle/>
          <a:p>
            <a:pPr marL="0" lvl="1" algn="ctr">
              <a:lnSpc>
                <a:spcPct val="150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端点</a:t>
            </a:r>
            <a:r>
              <a:rPr lang="en-US" altLang="zh-CN" sz="24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拟合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45625" y="4017353"/>
            <a:ext cx="2233621" cy="588622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68579" tIns="0" rIns="68579" bIns="34289" anchor="ctr">
            <a:spAutoFit/>
          </a:bodyPr>
          <a:lstStyle/>
          <a:p>
            <a:pPr marL="0" lvl="1" algn="ctr">
              <a:lnSpc>
                <a:spcPct val="150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端点平移</a:t>
            </a:r>
            <a:r>
              <a:rPr lang="en-US" altLang="zh-CN" sz="24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拟合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1.1.1</a:t>
            </a:r>
          </a:p>
        </p:txBody>
      </p:sp>
      <p:sp>
        <p:nvSpPr>
          <p:cNvPr id="48" name="矩形 47"/>
          <p:cNvSpPr/>
          <p:nvPr/>
        </p:nvSpPr>
        <p:spPr>
          <a:xfrm>
            <a:off x="1960201" y="329520"/>
            <a:ext cx="1497518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线性度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0A3B62-1088-4B3D-BC08-2BDE06E7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425" y="1256692"/>
            <a:ext cx="6953200" cy="4652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479925" y="3479800"/>
            <a:ext cx="1841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4400">
              <a:solidFill>
                <a:schemeClr val="tx2"/>
              </a:solidFill>
            </a:endParaRPr>
          </a:p>
        </p:txBody>
      </p:sp>
      <p:sp>
        <p:nvSpPr>
          <p:cNvPr id="2059" name="Text Box 11"/>
          <p:cNvSpPr txBox="1">
            <a:spLocks noChangeArrowheads="1"/>
          </p:cNvSpPr>
          <p:nvPr/>
        </p:nvSpPr>
        <p:spPr bwMode="auto">
          <a:xfrm>
            <a:off x="2968331" y="6268418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3333CC"/>
                </a:solidFill>
              </a:rPr>
              <a:t>图</a:t>
            </a:r>
            <a:r>
              <a:rPr lang="en-US" altLang="zh-CN" b="1" dirty="0">
                <a:solidFill>
                  <a:srgbClr val="3333CC"/>
                </a:solidFill>
              </a:rPr>
              <a:t>1-1 </a:t>
            </a:r>
            <a:r>
              <a:rPr lang="zh-CN" altLang="en-US" b="1" dirty="0">
                <a:solidFill>
                  <a:srgbClr val="3333CC"/>
                </a:solidFill>
              </a:rPr>
              <a:t>各种直线拟合方法</a:t>
            </a:r>
          </a:p>
        </p:txBody>
      </p:sp>
      <p:sp>
        <p:nvSpPr>
          <p:cNvPr id="2061" name="Text Box 13"/>
          <p:cNvSpPr txBox="1">
            <a:spLocks noChangeArrowheads="1"/>
          </p:cNvSpPr>
          <p:nvPr/>
        </p:nvSpPr>
        <p:spPr bwMode="auto">
          <a:xfrm>
            <a:off x="1749131" y="3296443"/>
            <a:ext cx="1981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）理论拟合</a:t>
            </a:r>
          </a:p>
        </p:txBody>
      </p:sp>
      <p:sp>
        <p:nvSpPr>
          <p:cNvPr id="2062" name="Text Box 14"/>
          <p:cNvSpPr txBox="1">
            <a:spLocks noChangeArrowheads="1"/>
          </p:cNvSpPr>
          <p:nvPr/>
        </p:nvSpPr>
        <p:spPr bwMode="auto">
          <a:xfrm>
            <a:off x="5093425" y="3293553"/>
            <a:ext cx="3124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）过零旋转拟合</a:t>
            </a:r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1749131" y="5780582"/>
            <a:ext cx="1981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c</a:t>
            </a:r>
            <a:r>
              <a:rPr lang="zh-CN" altLang="en-US" sz="1800" b="1" dirty="0"/>
              <a:t>）端点拟合</a:t>
            </a: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5093425" y="5818499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d</a:t>
            </a:r>
            <a:r>
              <a:rPr lang="zh-CN" altLang="en-US" sz="1800" b="1" dirty="0"/>
              <a:t>）端点平移拟合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37D216-3B39-4FF9-953D-0BF45B24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1" name="矩形 44">
            <a:extLst>
              <a:ext uri="{FF2B5EF4-FFF2-40B4-BE49-F238E27FC236}">
                <a16:creationId xmlns:a16="http://schemas.microsoft.com/office/drawing/2014/main" id="{B893B943-8F9B-4F2B-B5BD-C9931596A615}"/>
              </a:ext>
            </a:extLst>
          </p:cNvPr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46">
            <a:extLst>
              <a:ext uri="{FF2B5EF4-FFF2-40B4-BE49-F238E27FC236}">
                <a16:creationId xmlns:a16="http://schemas.microsoft.com/office/drawing/2014/main" id="{678715CD-1157-499C-B0DB-A512A6C9BD8E}"/>
              </a:ext>
            </a:extLst>
          </p:cNvPr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1.1.1</a:t>
            </a:r>
          </a:p>
        </p:txBody>
      </p:sp>
      <p:sp>
        <p:nvSpPr>
          <p:cNvPr id="13" name="矩形 47">
            <a:extLst>
              <a:ext uri="{FF2B5EF4-FFF2-40B4-BE49-F238E27FC236}">
                <a16:creationId xmlns:a16="http://schemas.microsoft.com/office/drawing/2014/main" id="{7CCFA5F2-D568-4287-BB5B-D3C2DFF0FE6F}"/>
              </a:ext>
            </a:extLst>
          </p:cNvPr>
          <p:cNvSpPr/>
          <p:nvPr/>
        </p:nvSpPr>
        <p:spPr>
          <a:xfrm>
            <a:off x="1960201" y="329520"/>
            <a:ext cx="1497518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线性度</a:t>
            </a:r>
          </a:p>
        </p:txBody>
      </p:sp>
    </p:spTree>
    <p:extLst>
      <p:ext uri="{BB962C8B-B14F-4D97-AF65-F5344CB8AC3E}">
        <p14:creationId xmlns:p14="http://schemas.microsoft.com/office/powerpoint/2010/main" val="2606763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54081"/>
          <a:stretch/>
        </p:blipFill>
        <p:spPr bwMode="auto">
          <a:xfrm>
            <a:off x="1264425" y="1256693"/>
            <a:ext cx="6953200" cy="2139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479925" y="3479800"/>
            <a:ext cx="1841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4400">
              <a:solidFill>
                <a:schemeClr val="tx2"/>
              </a:solidFill>
            </a:endParaRPr>
          </a:p>
        </p:txBody>
      </p:sp>
      <p:sp>
        <p:nvSpPr>
          <p:cNvPr id="2061" name="Text Box 13"/>
          <p:cNvSpPr txBox="1">
            <a:spLocks noChangeArrowheads="1"/>
          </p:cNvSpPr>
          <p:nvPr/>
        </p:nvSpPr>
        <p:spPr bwMode="auto">
          <a:xfrm>
            <a:off x="1749131" y="3296443"/>
            <a:ext cx="1981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）理论拟合</a:t>
            </a:r>
          </a:p>
        </p:txBody>
      </p:sp>
      <p:sp>
        <p:nvSpPr>
          <p:cNvPr id="2062" name="Text Box 14"/>
          <p:cNvSpPr txBox="1">
            <a:spLocks noChangeArrowheads="1"/>
          </p:cNvSpPr>
          <p:nvPr/>
        </p:nvSpPr>
        <p:spPr bwMode="auto">
          <a:xfrm>
            <a:off x="5093425" y="3293553"/>
            <a:ext cx="3124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）过零旋转拟合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37D216-3B39-4FF9-953D-0BF45B24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11" name="矩形 44">
            <a:extLst>
              <a:ext uri="{FF2B5EF4-FFF2-40B4-BE49-F238E27FC236}">
                <a16:creationId xmlns:a16="http://schemas.microsoft.com/office/drawing/2014/main" id="{B893B943-8F9B-4F2B-B5BD-C9931596A615}"/>
              </a:ext>
            </a:extLst>
          </p:cNvPr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46">
            <a:extLst>
              <a:ext uri="{FF2B5EF4-FFF2-40B4-BE49-F238E27FC236}">
                <a16:creationId xmlns:a16="http://schemas.microsoft.com/office/drawing/2014/main" id="{678715CD-1157-499C-B0DB-A512A6C9BD8E}"/>
              </a:ext>
            </a:extLst>
          </p:cNvPr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1.1.1</a:t>
            </a:r>
          </a:p>
        </p:txBody>
      </p:sp>
      <p:sp>
        <p:nvSpPr>
          <p:cNvPr id="13" name="矩形 47">
            <a:extLst>
              <a:ext uri="{FF2B5EF4-FFF2-40B4-BE49-F238E27FC236}">
                <a16:creationId xmlns:a16="http://schemas.microsoft.com/office/drawing/2014/main" id="{7CCFA5F2-D568-4287-BB5B-D3C2DFF0FE6F}"/>
              </a:ext>
            </a:extLst>
          </p:cNvPr>
          <p:cNvSpPr/>
          <p:nvPr/>
        </p:nvSpPr>
        <p:spPr>
          <a:xfrm>
            <a:off x="1960201" y="329520"/>
            <a:ext cx="1497518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线性度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8930F3-1018-441F-81DB-0773096079B4}"/>
                  </a:ext>
                </a:extLst>
              </p:cNvPr>
              <p:cNvSpPr txBox="1"/>
              <p:nvPr/>
            </p:nvSpPr>
            <p:spPr>
              <a:xfrm>
                <a:off x="931323" y="4069926"/>
                <a:ext cx="3362003" cy="15313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拟合直线为传感器的理论特性，与实际测试值无关</a:t>
                </a:r>
                <a:endParaRPr lang="en-US" altLang="zh-CN" sz="16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这种方法十分简单，但一般说来  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CN" sz="1600" b="0" i="1" baseline="-25000" smtClean="0">
                        <a:latin typeface="Cambria Math" panose="02040503050406030204" pitchFamily="18" charset="0"/>
                      </a:rPr>
                      <m:t>𝑚𝑎𝑥</m:t>
                    </m:r>
                  </m:oMath>
                </a14:m>
                <a:r>
                  <a:rPr lang="zh-CN" altLang="en-US" sz="1600" dirty="0"/>
                  <a:t>  很大。</a:t>
                </a:r>
                <a:endParaRPr 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8930F3-1018-441F-81DB-077309607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23" y="4069926"/>
                <a:ext cx="3362003" cy="1531381"/>
              </a:xfrm>
              <a:prstGeom prst="rect">
                <a:avLst/>
              </a:prstGeom>
              <a:blipFill>
                <a:blip r:embed="rId3"/>
                <a:stretch>
                  <a:fillRect l="-726" b="-4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F38D4A-1152-4FB8-88B4-639C3D0E981D}"/>
                  </a:ext>
                </a:extLst>
              </p:cNvPr>
              <p:cNvSpPr txBox="1"/>
              <p:nvPr/>
            </p:nvSpPr>
            <p:spPr>
              <a:xfrm>
                <a:off x="5009605" y="3978947"/>
                <a:ext cx="3362003" cy="15313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常用于校正曲线过零的传感器。拟合时</a:t>
                </a:r>
                <a:r>
                  <a:rPr lang="en-US" altLang="zh-CN" sz="1600" dirty="0"/>
                  <a:t>|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CN" sz="1600" b="0" i="1" baseline="-2500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600" dirty="0"/>
                  <a:t>|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CN" sz="1600" b="0" i="1" baseline="-25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|=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CN" sz="1600" b="0" i="1" baseline="-25000" smtClean="0">
                        <a:latin typeface="Cambria Math" panose="02040503050406030204" pitchFamily="18" charset="0"/>
                      </a:rPr>
                      <m:t>𝑚𝑎𝑥</m:t>
                    </m:r>
                  </m:oMath>
                </a14:m>
                <a:r>
                  <a:rPr lang="zh-CN" altLang="en-US" sz="1600" dirty="0"/>
                  <a:t> 。</a:t>
                </a:r>
                <a:endParaRPr lang="en-US" altLang="zh-CN" sz="16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这种方法也比较简单，非线性误差比前一种小很多。</a:t>
                </a:r>
                <a:endParaRPr 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F38D4A-1152-4FB8-88B4-639C3D0E9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605" y="3978947"/>
                <a:ext cx="3362003" cy="1531381"/>
              </a:xfrm>
              <a:prstGeom prst="rect">
                <a:avLst/>
              </a:prstGeom>
              <a:blipFill>
                <a:blip r:embed="rId4"/>
                <a:stretch>
                  <a:fillRect l="-726" b="-4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34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08"/>
          <a:stretch/>
        </p:blipFill>
        <p:spPr bwMode="auto">
          <a:xfrm>
            <a:off x="1187475" y="1148954"/>
            <a:ext cx="6953200" cy="2209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479925" y="3479800"/>
            <a:ext cx="1841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4400">
              <a:solidFill>
                <a:schemeClr val="tx2"/>
              </a:solidFill>
            </a:endParaRPr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1409497" y="3377010"/>
            <a:ext cx="1981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c</a:t>
            </a:r>
            <a:r>
              <a:rPr lang="zh-CN" altLang="en-US" sz="1800" b="1" dirty="0"/>
              <a:t>）端点拟合</a:t>
            </a: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4753791" y="3414927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d</a:t>
            </a:r>
            <a:r>
              <a:rPr lang="zh-CN" altLang="en-US" sz="1800" b="1" dirty="0"/>
              <a:t>）端点平移拟合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37D216-3B39-4FF9-953D-0BF45B24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11" name="矩形 44">
            <a:extLst>
              <a:ext uri="{FF2B5EF4-FFF2-40B4-BE49-F238E27FC236}">
                <a16:creationId xmlns:a16="http://schemas.microsoft.com/office/drawing/2014/main" id="{B893B943-8F9B-4F2B-B5BD-C9931596A615}"/>
              </a:ext>
            </a:extLst>
          </p:cNvPr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46">
            <a:extLst>
              <a:ext uri="{FF2B5EF4-FFF2-40B4-BE49-F238E27FC236}">
                <a16:creationId xmlns:a16="http://schemas.microsoft.com/office/drawing/2014/main" id="{678715CD-1157-499C-B0DB-A512A6C9BD8E}"/>
              </a:ext>
            </a:extLst>
          </p:cNvPr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1.1.1</a:t>
            </a:r>
          </a:p>
        </p:txBody>
      </p:sp>
      <p:sp>
        <p:nvSpPr>
          <p:cNvPr id="13" name="矩形 47">
            <a:extLst>
              <a:ext uri="{FF2B5EF4-FFF2-40B4-BE49-F238E27FC236}">
                <a16:creationId xmlns:a16="http://schemas.microsoft.com/office/drawing/2014/main" id="{7CCFA5F2-D568-4287-BB5B-D3C2DFF0FE6F}"/>
              </a:ext>
            </a:extLst>
          </p:cNvPr>
          <p:cNvSpPr/>
          <p:nvPr/>
        </p:nvSpPr>
        <p:spPr>
          <a:xfrm>
            <a:off x="1960201" y="329520"/>
            <a:ext cx="1497518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线性度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EFED394-C6F9-4779-99E3-4A453A87CB69}"/>
                  </a:ext>
                </a:extLst>
              </p:cNvPr>
              <p:cNvSpPr txBox="1"/>
              <p:nvPr/>
            </p:nvSpPr>
            <p:spPr>
              <a:xfrm>
                <a:off x="244840" y="4176981"/>
                <a:ext cx="4145369" cy="7927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sz="1600"/>
                </a:lvl1pPr>
              </a:lstStyle>
              <a:p>
                <a:r>
                  <a:rPr lang="en-US" dirty="0" err="1"/>
                  <a:t>把校正曲线两端点的连线作为拟合直线</a:t>
                </a:r>
                <a:r>
                  <a:rPr lang="en-US" dirty="0"/>
                  <a:t>。</a:t>
                </a:r>
              </a:p>
              <a:p>
                <a:r>
                  <a:rPr lang="en-US" dirty="0" err="1"/>
                  <a:t>这种方法简便，但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CN" sz="1600" b="0" i="1" baseline="-25000" smtClean="0">
                        <a:latin typeface="Cambria Math" panose="02040503050406030204" pitchFamily="18" charset="0"/>
                      </a:rPr>
                      <m:t>𝑚𝑎𝑥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dirty="0" err="1"/>
                  <a:t>较大</a:t>
                </a:r>
                <a:r>
                  <a:rPr lang="en-US" dirty="0"/>
                  <a:t>。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EFED394-C6F9-4779-99E3-4A453A87C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40" y="4176981"/>
                <a:ext cx="4145369" cy="792718"/>
              </a:xfrm>
              <a:prstGeom prst="rect">
                <a:avLst/>
              </a:prstGeom>
              <a:blipFill>
                <a:blip r:embed="rId3"/>
                <a:stretch>
                  <a:fillRect l="-588"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44A6F1-8EA9-4CA3-B025-C046CA388E2F}"/>
                  </a:ext>
                </a:extLst>
              </p:cNvPr>
              <p:cNvSpPr txBox="1"/>
              <p:nvPr/>
            </p:nvSpPr>
            <p:spPr>
              <a:xfrm>
                <a:off x="4479925" y="4033410"/>
                <a:ext cx="3851275" cy="2270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在图</a:t>
                </a:r>
                <a:r>
                  <a:rPr lang="en-US" altLang="zh-CN" sz="1600" dirty="0"/>
                  <a:t>(c)</a:t>
                </a:r>
                <a:r>
                  <a:rPr lang="zh-CN" altLang="en-US" sz="1600" dirty="0"/>
                  <a:t>基础上使直线平移，移动距离为图</a:t>
                </a:r>
                <a:r>
                  <a:rPr lang="en-US" altLang="zh-CN" sz="1600" dirty="0"/>
                  <a:t>(c)</a:t>
                </a:r>
                <a:r>
                  <a:rPr lang="zh-CN" altLang="en-US" sz="1600" dirty="0"/>
                  <a:t>的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CN" sz="1600" b="0" i="1" baseline="-25000" smtClean="0">
                        <a:latin typeface="Cambria Math" panose="02040503050406030204" pitchFamily="18" charset="0"/>
                      </a:rPr>
                      <m:t>𝑚𝑎𝑥</m:t>
                    </m:r>
                  </m:oMath>
                </a14:m>
                <a:r>
                  <a:rPr lang="zh-CN" altLang="en-US" sz="1600" dirty="0"/>
                  <a:t>的一半</a:t>
                </a:r>
                <a:endParaRPr lang="en-US" altLang="zh-CN" sz="16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这条校正曲线分布于拟合直线的两侧，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CN" sz="1600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CN" sz="1600" b="0" i="1" baseline="-2500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1600" dirty="0"/>
                  <a:t>|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CN" sz="1600" b="0" i="1" baseline="-2500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|=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CN" sz="1600" b="0" i="1" baseline="-25000" smtClean="0">
                        <a:latin typeface="Cambria Math" panose="02040503050406030204" pitchFamily="18" charset="0"/>
                      </a:rPr>
                      <m:t>𝑚𝑎𝑥</m:t>
                    </m:r>
                  </m:oMath>
                </a14:m>
                <a:r>
                  <a:rPr lang="zh-CN" altLang="en-US" sz="1600" dirty="0"/>
                  <a:t> 。</a:t>
                </a:r>
                <a:endParaRPr lang="en-US" altLang="zh-CN" sz="16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与</a:t>
                </a:r>
                <a:r>
                  <a:rPr lang="en-US" altLang="zh-CN" sz="1600" dirty="0"/>
                  <a:t>(c)</a:t>
                </a:r>
                <a:r>
                  <a:rPr lang="zh-CN" altLang="en-US" sz="1600" dirty="0"/>
                  <a:t>相比，非线性误差减小了一半，提高了精度。</a:t>
                </a:r>
                <a:endParaRPr 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44A6F1-8EA9-4CA3-B025-C046CA388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925" y="4033410"/>
                <a:ext cx="3851275" cy="2270814"/>
              </a:xfrm>
              <a:prstGeom prst="rect">
                <a:avLst/>
              </a:prstGeom>
              <a:blipFill>
                <a:blip r:embed="rId4"/>
                <a:stretch>
                  <a:fillRect l="-633" r="-2690" b="-2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05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51622" y="1447802"/>
            <a:ext cx="2928938" cy="623246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常用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拟合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方法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：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137273" y="2799516"/>
            <a:ext cx="2284620" cy="58862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68579" tIns="0" rIns="68579" bIns="34289" anchor="ctr">
            <a:spAutoFit/>
          </a:bodyPr>
          <a:lstStyle/>
          <a:p>
            <a:pPr marL="0" lvl="1" algn="ctr">
              <a:lnSpc>
                <a:spcPct val="150000"/>
              </a:lnSpc>
              <a:buClr>
                <a:schemeClr val="bg1"/>
              </a:buClr>
            </a:pPr>
            <a:r>
              <a:rPr lang="en-US" altLang="zh-CN" sz="24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理论拟合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137273" y="3974553"/>
            <a:ext cx="2284619" cy="58862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68579" tIns="0" rIns="68579" bIns="34289" anchor="ctr">
            <a:spAutoFit/>
          </a:bodyPr>
          <a:lstStyle/>
          <a:p>
            <a:pPr marL="0" lvl="1" algn="ctr">
              <a:lnSpc>
                <a:spcPct val="150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过零旋转</a:t>
            </a:r>
            <a:r>
              <a:rPr lang="en-US" altLang="zh-CN" sz="24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拟合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745625" y="2779348"/>
            <a:ext cx="2233621" cy="588622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68579" tIns="0" rIns="68579" bIns="34289" anchor="ctr">
            <a:spAutoFit/>
          </a:bodyPr>
          <a:lstStyle/>
          <a:p>
            <a:pPr marL="0" lvl="1" algn="ctr">
              <a:lnSpc>
                <a:spcPct val="150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端点</a:t>
            </a:r>
            <a:r>
              <a:rPr lang="en-US" altLang="zh-CN" sz="24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拟合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45625" y="4017353"/>
            <a:ext cx="2233621" cy="588622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68579" tIns="0" rIns="68579" bIns="34289" anchor="ctr">
            <a:spAutoFit/>
          </a:bodyPr>
          <a:lstStyle/>
          <a:p>
            <a:pPr marL="0" lvl="1" algn="ctr">
              <a:lnSpc>
                <a:spcPct val="150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端点平移</a:t>
            </a:r>
            <a:r>
              <a:rPr lang="en-US" altLang="zh-CN" sz="24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拟合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1.1.1</a:t>
            </a:r>
          </a:p>
        </p:txBody>
      </p:sp>
      <p:sp>
        <p:nvSpPr>
          <p:cNvPr id="48" name="矩形 47"/>
          <p:cNvSpPr/>
          <p:nvPr/>
        </p:nvSpPr>
        <p:spPr>
          <a:xfrm>
            <a:off x="1960201" y="329520"/>
            <a:ext cx="1497518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线性度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0A3B62-1088-4B3D-BC08-2BDE06E7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11C3E1-59F6-4BB7-9A84-8E8A7D5C2194}"/>
              </a:ext>
            </a:extLst>
          </p:cNvPr>
          <p:cNvSpPr txBox="1"/>
          <p:nvPr/>
        </p:nvSpPr>
        <p:spPr>
          <a:xfrm>
            <a:off x="1605053" y="5118347"/>
            <a:ext cx="5970497" cy="83099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45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最小二乘拟合</a:t>
            </a:r>
            <a:endParaRPr kumimoji="0" lang="en-US" altLang="zh-CN" sz="4800" b="1" i="0" u="none" strike="noStrike" kern="1200" cap="none" spc="45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157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47048" y="1379250"/>
            <a:ext cx="8266751" cy="2277609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indent="542925"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正行程（输入量增大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）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和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反行程（输入量减小）中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，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传感器输出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曲线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与输入曲线不重合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的现象，亦称“回差”。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indent="542925"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迟滞大小一般由实验方法测得。迟滞误差一般以</a:t>
            </a:r>
            <a:r>
              <a:rPr lang="en-US" altLang="zh-CN" sz="2400" b="1" u="sng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满量程输出的</a:t>
            </a:r>
            <a:r>
              <a:rPr lang="en-US" altLang="zh-CN" sz="2400" b="1" u="sng" dirty="0" err="1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百分数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表示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。</a:t>
            </a:r>
          </a:p>
        </p:txBody>
      </p:sp>
      <p:graphicFrame>
        <p:nvGraphicFramePr>
          <p:cNvPr id="3" name="对象 2"/>
          <p:cNvGraphicFramePr/>
          <p:nvPr>
            <p:extLst>
              <p:ext uri="{D42A27DB-BD31-4B8C-83A1-F6EECF244321}">
                <p14:modId xmlns:p14="http://schemas.microsoft.com/office/powerpoint/2010/main" val="515450513"/>
              </p:ext>
            </p:extLst>
          </p:nvPr>
        </p:nvGraphicFramePr>
        <p:xfrm>
          <a:off x="559397" y="4235450"/>
          <a:ext cx="3425903" cy="124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053330" imgH="1673225" progId="">
                  <p:embed/>
                </p:oleObj>
              </mc:Choice>
              <mc:Fallback>
                <p:oleObj r:id="rId3" imgW="5053330" imgH="1673225" progId="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9397" y="4235450"/>
                        <a:ext cx="3425903" cy="124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矩形 34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1.1.2</a:t>
            </a:r>
          </a:p>
        </p:txBody>
      </p:sp>
      <p:sp>
        <p:nvSpPr>
          <p:cNvPr id="37" name="矩形 36"/>
          <p:cNvSpPr/>
          <p:nvPr/>
        </p:nvSpPr>
        <p:spPr>
          <a:xfrm>
            <a:off x="1960201" y="329520"/>
            <a:ext cx="105989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迟滞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14780F-A5DF-4EC3-968A-4D674DBE9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20" name="Text Box 13">
            <a:extLst>
              <a:ext uri="{FF2B5EF4-FFF2-40B4-BE49-F238E27FC236}">
                <a16:creationId xmlns:a16="http://schemas.microsoft.com/office/drawing/2014/main" id="{6CA0F5F0-4A6D-42B3-8A7F-6499CEB42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80" y="5940849"/>
            <a:ext cx="301933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3333CC"/>
                </a:solidFill>
              </a:rPr>
              <a:t>     </a:t>
            </a:r>
            <a:r>
              <a:rPr lang="zh-CN" altLang="en-US" b="1" dirty="0">
                <a:solidFill>
                  <a:srgbClr val="3333CC"/>
                </a:solidFill>
              </a:rPr>
              <a:t>图</a:t>
            </a:r>
            <a:r>
              <a:rPr lang="en-US" altLang="zh-CN" b="1" dirty="0">
                <a:solidFill>
                  <a:srgbClr val="3333CC"/>
                </a:solidFill>
              </a:rPr>
              <a:t>1-2 </a:t>
            </a:r>
            <a:r>
              <a:rPr lang="zh-CN" altLang="en-US" b="1" dirty="0">
                <a:solidFill>
                  <a:srgbClr val="3333CC"/>
                </a:solidFill>
              </a:rPr>
              <a:t>迟滞特性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8BFA6858-D5B9-4079-92EF-4FADD3967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2" y="3334506"/>
            <a:ext cx="4218238" cy="3386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21633" y="1262269"/>
            <a:ext cx="8539817" cy="1723611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indent="542925"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在输入按同一方向作全量程连续多次变动时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，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传感器特性曲线不一致的程度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。</a:t>
            </a:r>
          </a:p>
          <a:p>
            <a:pPr indent="542925">
              <a:lnSpc>
                <a:spcPct val="150000"/>
              </a:lnSpc>
              <a:spcBef>
                <a:spcPts val="503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该特性表征传感器的随机误差，</a:t>
            </a: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也可按随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机误差理论求取。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7" name="对象 6"/>
          <p:cNvGraphicFramePr/>
          <p:nvPr>
            <p:extLst>
              <p:ext uri="{D42A27DB-BD31-4B8C-83A1-F6EECF244321}">
                <p14:modId xmlns:p14="http://schemas.microsoft.com/office/powerpoint/2010/main" val="2732936542"/>
              </p:ext>
            </p:extLst>
          </p:nvPr>
        </p:nvGraphicFramePr>
        <p:xfrm>
          <a:off x="447928" y="3797619"/>
          <a:ext cx="3685354" cy="1421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525520" imgH="1320165" progId="">
                  <p:embed/>
                </p:oleObj>
              </mc:Choice>
              <mc:Fallback>
                <p:oleObj r:id="rId3" imgW="3525520" imgH="1320165" progId="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7928" y="3797619"/>
                        <a:ext cx="3685354" cy="1421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1.1.3</a:t>
            </a:r>
          </a:p>
        </p:txBody>
      </p:sp>
      <p:sp>
        <p:nvSpPr>
          <p:cNvPr id="23" name="矩形 22"/>
          <p:cNvSpPr/>
          <p:nvPr/>
        </p:nvSpPr>
        <p:spPr>
          <a:xfrm>
            <a:off x="1960201" y="329520"/>
            <a:ext cx="1497518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重复性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A3E37-7553-4391-9C67-999852A53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22" name="Text Box 15">
            <a:extLst>
              <a:ext uri="{FF2B5EF4-FFF2-40B4-BE49-F238E27FC236}">
                <a16:creationId xmlns:a16="http://schemas.microsoft.com/office/drawing/2014/main" id="{68E614C4-C0FB-434D-8839-F0FCAF3B8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699" y="5635989"/>
            <a:ext cx="37938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3333CC"/>
                </a:solidFill>
              </a:rPr>
              <a:t>图</a:t>
            </a:r>
            <a:r>
              <a:rPr lang="en-US" altLang="zh-CN" b="1" dirty="0">
                <a:solidFill>
                  <a:srgbClr val="3333CC"/>
                </a:solidFill>
              </a:rPr>
              <a:t>1-3 </a:t>
            </a:r>
            <a:r>
              <a:rPr lang="zh-CN" altLang="en-US" b="1" dirty="0">
                <a:solidFill>
                  <a:srgbClr val="3333CC"/>
                </a:solidFill>
              </a:rPr>
              <a:t>校正曲线的重复特性</a:t>
            </a:r>
          </a:p>
        </p:txBody>
      </p:sp>
      <p:sp>
        <p:nvSpPr>
          <p:cNvPr id="35" name="矩形 1">
            <a:extLst>
              <a:ext uri="{FF2B5EF4-FFF2-40B4-BE49-F238E27FC236}">
                <a16:creationId xmlns:a16="http://schemas.microsoft.com/office/drawing/2014/main" id="{19598315-4C20-4E3E-98DF-00F17129F50E}"/>
              </a:ext>
            </a:extLst>
          </p:cNvPr>
          <p:cNvSpPr/>
          <p:nvPr/>
        </p:nvSpPr>
        <p:spPr bwMode="auto">
          <a:xfrm>
            <a:off x="5306861" y="5218750"/>
            <a:ext cx="792088" cy="64807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6" name="Picture 10">
            <a:extLst>
              <a:ext uri="{FF2B5EF4-FFF2-40B4-BE49-F238E27FC236}">
                <a16:creationId xmlns:a16="http://schemas.microsoft.com/office/drawing/2014/main" id="{D58948F9-C7C7-44D2-A9C0-D99768C9D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512" y="3155633"/>
            <a:ext cx="4122588" cy="33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80626" y="1461137"/>
            <a:ext cx="7039451" cy="1090681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indent="542925"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 err="1"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静态</a:t>
            </a:r>
            <a:r>
              <a:rPr lang="en-US" altLang="zh-CN" sz="2400" b="1" dirty="0" err="1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灵敏度</a:t>
            </a:r>
            <a:r>
              <a:rPr lang="en-US" altLang="zh-CN" sz="2400" b="1" dirty="0" err="1"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：传感器输出的变化量与引起该变化量的输入变化量之比</a:t>
            </a:r>
            <a:r>
              <a:rPr lang="en-US" altLang="zh-CN" sz="2400" b="1" dirty="0"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。</a:t>
            </a:r>
          </a:p>
        </p:txBody>
      </p:sp>
      <p:sp>
        <p:nvSpPr>
          <p:cNvPr id="222237" name="Text Box 29"/>
          <p:cNvSpPr txBox="1">
            <a:spLocks noChangeArrowheads="1"/>
          </p:cNvSpPr>
          <p:nvPr/>
        </p:nvSpPr>
        <p:spPr bwMode="auto">
          <a:xfrm>
            <a:off x="1180624" y="3818053"/>
            <a:ext cx="6895532" cy="109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indent="542925" fontAlgn="auto">
              <a:lnSpc>
                <a:spcPct val="150000"/>
              </a:lnSpc>
              <a:spcBef>
                <a:spcPts val="503"/>
              </a:spcBef>
              <a:buClrTx/>
              <a:buNone/>
            </a:pPr>
            <a:r>
              <a:rPr lang="en-US" altLang="zh-CN" sz="2400" dirty="0" err="1">
                <a:solidFill>
                  <a:schemeClr val="tx1"/>
                </a:solidFill>
                <a:latin typeface="宋体" pitchFamily="2" charset="-122"/>
                <a:cs typeface="Arial" panose="020B0604020202020204" pitchFamily="34" charset="0"/>
                <a:sym typeface="+mn-ea"/>
              </a:rPr>
              <a:t>灵敏度</a:t>
            </a:r>
            <a:r>
              <a:rPr lang="en-US" altLang="zh-CN" sz="2400" dirty="0" err="1">
                <a:solidFill>
                  <a:srgbClr val="C00000"/>
                </a:solidFill>
                <a:latin typeface="宋体" pitchFamily="2" charset="-122"/>
                <a:cs typeface="Arial" panose="020B0604020202020204" pitchFamily="34" charset="0"/>
                <a:sym typeface="+mn-ea"/>
              </a:rPr>
              <a:t>误差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cs typeface="Arial" panose="020B0604020202020204" pitchFamily="34" charset="0"/>
                <a:sym typeface="+mn-ea"/>
              </a:rPr>
              <a:t>：传感器灵敏度的变化量与理论灵敏度之比，以百分数表示。</a:t>
            </a:r>
            <a:endParaRPr lang="en-US" altLang="zh-CN" sz="2400" dirty="0">
              <a:solidFill>
                <a:schemeClr val="tx1"/>
              </a:solidFill>
              <a:latin typeface="宋体" pitchFamily="2" charset="-122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3" name="对象 2"/>
          <p:cNvGraphicFramePr/>
          <p:nvPr>
            <p:extLst>
              <p:ext uri="{D42A27DB-BD31-4B8C-83A1-F6EECF244321}">
                <p14:modId xmlns:p14="http://schemas.microsoft.com/office/powerpoint/2010/main" val="1895570504"/>
              </p:ext>
            </p:extLst>
          </p:nvPr>
        </p:nvGraphicFramePr>
        <p:xfrm>
          <a:off x="3832436" y="2499881"/>
          <a:ext cx="1379000" cy="1202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21335" imgH="506095" progId="">
                  <p:embed/>
                </p:oleObj>
              </mc:Choice>
              <mc:Fallback>
                <p:oleObj r:id="rId3" imgW="521335" imgH="506095" progId="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32436" y="2499881"/>
                        <a:ext cx="1379000" cy="1202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>
            <p:extLst>
              <p:ext uri="{D42A27DB-BD31-4B8C-83A1-F6EECF244321}">
                <p14:modId xmlns:p14="http://schemas.microsoft.com/office/powerpoint/2010/main" val="4042211857"/>
              </p:ext>
            </p:extLst>
          </p:nvPr>
        </p:nvGraphicFramePr>
        <p:xfrm>
          <a:off x="3374847" y="4926049"/>
          <a:ext cx="2507086" cy="1111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66800" imgH="504190" progId="">
                  <p:embed/>
                </p:oleObj>
              </mc:Choice>
              <mc:Fallback>
                <p:oleObj r:id="rId5" imgW="1066800" imgH="504190" progId="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74847" y="4926049"/>
                        <a:ext cx="2507086" cy="1111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1.1.4</a:t>
            </a:r>
          </a:p>
        </p:txBody>
      </p:sp>
      <p:sp>
        <p:nvSpPr>
          <p:cNvPr id="24" name="矩形 23"/>
          <p:cNvSpPr/>
          <p:nvPr/>
        </p:nvSpPr>
        <p:spPr>
          <a:xfrm>
            <a:off x="1960201" y="329520"/>
            <a:ext cx="412323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灵敏度与灵敏度误差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3FCE41-74A9-4EC5-AD83-F3F6D96F0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75869" y="1350875"/>
            <a:ext cx="8189418" cy="1154801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	</a:t>
            </a:r>
            <a:r>
              <a:rPr lang="en-US" altLang="zh-CN" sz="2400" b="1" dirty="0" err="1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分辨率</a:t>
            </a:r>
            <a:r>
              <a:rPr lang="en-US" altLang="zh-CN" sz="2400" b="1" dirty="0" err="1"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：传感器能检测到的最小的输入增量</a:t>
            </a:r>
            <a:r>
              <a:rPr lang="en-US" altLang="zh-CN" sz="2400" b="1" dirty="0"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。</a:t>
            </a:r>
          </a:p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	分辨率可用绝对值表示，也可用与满量程的百分比表示。</a:t>
            </a:r>
          </a:p>
        </p:txBody>
      </p:sp>
      <p:sp>
        <p:nvSpPr>
          <p:cNvPr id="222237" name="Text Box 29"/>
          <p:cNvSpPr txBox="1">
            <a:spLocks noChangeArrowheads="1"/>
          </p:cNvSpPr>
          <p:nvPr/>
        </p:nvSpPr>
        <p:spPr bwMode="auto">
          <a:xfrm>
            <a:off x="1843740" y="4473104"/>
            <a:ext cx="6040755" cy="536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503"/>
              </a:spcBef>
              <a:buClr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宋体" pitchFamily="2" charset="-122"/>
                <a:cs typeface="Arial" panose="020B0604020202020204" pitchFamily="34" charset="0"/>
                <a:sym typeface="+mn-ea"/>
              </a:rPr>
              <a:t>阈值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cs typeface="Arial" panose="020B0604020202020204" pitchFamily="34" charset="0"/>
                <a:sym typeface="+mn-ea"/>
              </a:rPr>
              <a:t>：</a:t>
            </a:r>
            <a:r>
              <a:rPr lang="en-US" altLang="zh-CN" sz="2400" dirty="0" err="1">
                <a:solidFill>
                  <a:schemeClr val="tx1"/>
                </a:solidFill>
                <a:latin typeface="宋体" pitchFamily="2" charset="-122"/>
                <a:cs typeface="Arial" panose="020B0604020202020204" pitchFamily="34" charset="0"/>
                <a:sym typeface="+mn-ea"/>
              </a:rPr>
              <a:t>在传感器输入零点附近的分辨率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cs typeface="Arial" panose="020B0604020202020204" pitchFamily="34" charset="0"/>
                <a:sym typeface="+mn-ea"/>
              </a:rPr>
              <a:t>。</a:t>
            </a:r>
          </a:p>
        </p:txBody>
      </p:sp>
      <p:sp>
        <p:nvSpPr>
          <p:cNvPr id="34" name="矩形 33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5" name="圆角矩形 34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1.1.5</a:t>
            </a:r>
          </a:p>
        </p:txBody>
      </p:sp>
      <p:sp>
        <p:nvSpPr>
          <p:cNvPr id="36" name="矩形 35"/>
          <p:cNvSpPr/>
          <p:nvPr/>
        </p:nvSpPr>
        <p:spPr>
          <a:xfrm>
            <a:off x="1960201" y="329520"/>
            <a:ext cx="281037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分辨率与阈值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79CCBF-B2E9-4E25-8E7F-DD8E18581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800F0C26-1D3F-4F9A-6C1B-6469294D2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998" y="2738132"/>
            <a:ext cx="2227580" cy="1273175"/>
          </a:xfrm>
          <a:prstGeom prst="rect">
            <a:avLst/>
          </a:prstGeom>
        </p:spPr>
      </p:pic>
      <p:sp>
        <p:nvSpPr>
          <p:cNvPr id="4" name="Text Box 29">
            <a:extLst>
              <a:ext uri="{FF2B5EF4-FFF2-40B4-BE49-F238E27FC236}">
                <a16:creationId xmlns:a16="http://schemas.microsoft.com/office/drawing/2014/main" id="{B6010B18-A8A1-FD77-35A0-F1E9D5A84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2478" y="3999242"/>
            <a:ext cx="821690" cy="345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505"/>
              </a:spcBef>
              <a:buClr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SimSun" pitchFamily="2" charset="-122"/>
                <a:cs typeface="Arial" panose="020B0604020202090204" pitchFamily="34" charset="0"/>
                <a:sym typeface="+mn-ea"/>
              </a:rPr>
              <a:t>电位器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2F77CBB0-CD20-E3EF-B992-01B870F5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938" y="2738132"/>
            <a:ext cx="1272540" cy="1272540"/>
          </a:xfrm>
          <a:prstGeom prst="rect">
            <a:avLst/>
          </a:prstGeom>
        </p:spPr>
      </p:pic>
      <p:sp>
        <p:nvSpPr>
          <p:cNvPr id="7" name="Text Box 29">
            <a:extLst>
              <a:ext uri="{FF2B5EF4-FFF2-40B4-BE49-F238E27FC236}">
                <a16:creationId xmlns:a16="http://schemas.microsoft.com/office/drawing/2014/main" id="{EBD12A4E-92DF-ED38-25AD-183834F6C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1333" y="3999242"/>
            <a:ext cx="821690" cy="345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90204" pitchFamily="34" charset="0"/>
                <a:ea typeface="SimSun" pitchFamily="2" charset="-122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505"/>
              </a:spcBef>
              <a:buClr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SimSun" pitchFamily="2" charset="-122"/>
                <a:cs typeface="Arial" panose="020B0604020202090204" pitchFamily="34" charset="0"/>
                <a:sym typeface="+mn-ea"/>
              </a:rPr>
              <a:t>编码器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26406" y="1318514"/>
            <a:ext cx="6693867" cy="2349359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传感器在长时间工作情况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时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输出量发生的变化。有时称为长时间工作稳定性或零点漂移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。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该特性决定了传感器的标定周期。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22237" name="Text Box 29"/>
          <p:cNvSpPr txBox="1">
            <a:spLocks noChangeArrowheads="1"/>
          </p:cNvSpPr>
          <p:nvPr/>
        </p:nvSpPr>
        <p:spPr bwMode="auto">
          <a:xfrm>
            <a:off x="1679973" y="4122223"/>
            <a:ext cx="6040755" cy="1169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503"/>
              </a:spcBef>
              <a:buClrTx/>
              <a:buNone/>
            </a:pPr>
            <a:r>
              <a:rPr lang="en-US" altLang="zh-CN" sz="2400" dirty="0" err="1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稳定性</a:t>
            </a:r>
            <a:r>
              <a:rPr lang="en-US" altLang="zh-CN" sz="2400" dirty="0" err="1">
                <a:solidFill>
                  <a:srgbClr val="C00000"/>
                </a:solidFill>
                <a:cs typeface="Arial" panose="020B0604020202020204" pitchFamily="34" charset="0"/>
                <a:sym typeface="+mn-ea"/>
              </a:rPr>
              <a:t>误差</a:t>
            </a:r>
            <a:r>
              <a:rPr lang="en-US" altLang="zh-CN" sz="2400" dirty="0" err="1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：前后两次输出之差</a:t>
            </a:r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。</a:t>
            </a:r>
          </a:p>
          <a:p>
            <a:pPr fontAlgn="auto">
              <a:lnSpc>
                <a:spcPct val="150000"/>
              </a:lnSpc>
              <a:spcBef>
                <a:spcPts val="503"/>
              </a:spcBef>
              <a:buClrTx/>
              <a:buNone/>
            </a:pPr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可用相对误差表示，也可用绝对误差来表示。</a:t>
            </a:r>
          </a:p>
        </p:txBody>
      </p:sp>
      <p:sp>
        <p:nvSpPr>
          <p:cNvPr id="19" name="矩形 18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1.1.6</a:t>
            </a:r>
          </a:p>
        </p:txBody>
      </p:sp>
      <p:sp>
        <p:nvSpPr>
          <p:cNvPr id="23" name="矩形 22"/>
          <p:cNvSpPr/>
          <p:nvPr/>
        </p:nvSpPr>
        <p:spPr>
          <a:xfrm>
            <a:off x="1960201" y="329520"/>
            <a:ext cx="1497518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稳定性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EF739C-B1D9-4405-86D8-EB11F877C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80626" y="1328932"/>
            <a:ext cx="7039451" cy="1731241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又称为温度漂移。它是指传感器在外界温度变化情况下输出量发生的变化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。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通常情况下，温度变化降低传感器的测量精度，故该值越小越理想。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22237" name="Text Box 29"/>
          <p:cNvSpPr txBox="1">
            <a:spLocks noChangeArrowheads="1"/>
          </p:cNvSpPr>
          <p:nvPr/>
        </p:nvSpPr>
        <p:spPr bwMode="auto">
          <a:xfrm>
            <a:off x="1180624" y="3224180"/>
            <a:ext cx="6915626" cy="3070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fontAlgn="auto">
              <a:lnSpc>
                <a:spcPts val="3200"/>
              </a:lnSpc>
              <a:spcBef>
                <a:spcPts val="503"/>
              </a:spcBef>
              <a:buClr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温度稳定性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误差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</a:t>
            </a:r>
          </a:p>
          <a:p>
            <a:pPr fontAlgn="auto">
              <a:lnSpc>
                <a:spcPts val="3200"/>
              </a:lnSpc>
              <a:spcBef>
                <a:spcPts val="503"/>
              </a:spcBef>
              <a:buClr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测试时将传感器置于一定温度（例如20℃）下，将其输出调至零点或某一特定点，使温度上升或下降一定度数（例如5℃或10℃），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再读出输出值，前后两次输出之差即为温度稳定性误差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</a:p>
          <a:p>
            <a:pPr indent="628650" fontAlgn="auto">
              <a:lnSpc>
                <a:spcPts val="3200"/>
              </a:lnSpc>
              <a:spcBef>
                <a:spcPts val="503"/>
              </a:spcBef>
              <a:buClrTx/>
              <a:buNone/>
            </a:pP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用每若干℃的绝对误差或相对误差表示，每℃的误差又称温度误差系数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</a:p>
        </p:txBody>
      </p:sp>
      <p:sp>
        <p:nvSpPr>
          <p:cNvPr id="19" name="矩形 18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1.1.7</a:t>
            </a:r>
          </a:p>
        </p:txBody>
      </p:sp>
      <p:sp>
        <p:nvSpPr>
          <p:cNvPr id="23" name="矩形 22"/>
          <p:cNvSpPr/>
          <p:nvPr/>
        </p:nvSpPr>
        <p:spPr>
          <a:xfrm>
            <a:off x="1960201" y="329520"/>
            <a:ext cx="237275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温度稳定性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9B1B2D-3C56-460B-A1A5-8507AB1C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80626" y="1461137"/>
            <a:ext cx="7039451" cy="3826687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>
              <a:lnSpc>
                <a:spcPct val="200000"/>
              </a:lnSpc>
              <a:spcBef>
                <a:spcPts val="503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传感器对各种</a:t>
            </a:r>
            <a:r>
              <a:rPr lang="en-US" altLang="zh-CN" sz="24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外界干扰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的抵抗能力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。</a:t>
            </a:r>
          </a:p>
          <a:p>
            <a:pPr>
              <a:lnSpc>
                <a:spcPct val="200000"/>
              </a:lnSpc>
              <a:spcBef>
                <a:spcPts val="503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例如抗</a:t>
            </a:r>
            <a:r>
              <a:rPr lang="en-US" altLang="zh-CN" sz="2400" b="1" dirty="0" err="1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冲击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和</a:t>
            </a:r>
            <a:r>
              <a:rPr lang="en-US" altLang="zh-CN" sz="2400" b="1" dirty="0" err="1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振动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能力、抗</a:t>
            </a:r>
            <a:r>
              <a:rPr lang="en-US" altLang="zh-CN" sz="2400" b="1" dirty="0" err="1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潮湿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的能力、抗</a:t>
            </a:r>
            <a:r>
              <a:rPr lang="en-US" altLang="zh-CN" sz="2400" b="1" dirty="0" err="1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电磁场干扰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的能力等，评价这些能力比较复杂，一般也不易给出数量概念，需要具体问题具体分析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，可以通过实验测量得到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。</a:t>
            </a:r>
          </a:p>
        </p:txBody>
      </p:sp>
      <p:sp>
        <p:nvSpPr>
          <p:cNvPr id="18" name="矩形 17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1.1.8</a:t>
            </a:r>
          </a:p>
        </p:txBody>
      </p:sp>
      <p:sp>
        <p:nvSpPr>
          <p:cNvPr id="22" name="矩形 21"/>
          <p:cNvSpPr/>
          <p:nvPr/>
        </p:nvSpPr>
        <p:spPr>
          <a:xfrm>
            <a:off x="1960201" y="329520"/>
            <a:ext cx="324799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多种抗干扰能力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F7DB2C-35D1-43FF-B5B7-35ABBE79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80703" y="1357105"/>
            <a:ext cx="7039451" cy="1177243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indent="542925"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传感器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在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全量程内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，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任一点的输出值与其理论输出值的偏离程度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1079173" y="2601092"/>
            <a:ext cx="7039451" cy="2349359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静态误差的求取方法：</a:t>
            </a:r>
          </a:p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把全部校准数据与拟合直线上对应值的残差，看成随机分布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，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由贝塞尔公式可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求出其标准偏差</a:t>
            </a:r>
            <a:r>
              <a:rPr lang="en-US" altLang="zh-CN" sz="2400" i="1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  <a:sym typeface="+mn-ea"/>
              </a:rPr>
              <a:t>σ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，即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：</a:t>
            </a:r>
          </a:p>
        </p:txBody>
      </p:sp>
      <p:graphicFrame>
        <p:nvGraphicFramePr>
          <p:cNvPr id="7" name="对象 6"/>
          <p:cNvGraphicFramePr/>
          <p:nvPr>
            <p:extLst>
              <p:ext uri="{D42A27DB-BD31-4B8C-83A1-F6EECF244321}">
                <p14:modId xmlns:p14="http://schemas.microsoft.com/office/powerpoint/2010/main" val="220324234"/>
              </p:ext>
            </p:extLst>
          </p:nvPr>
        </p:nvGraphicFramePr>
        <p:xfrm>
          <a:off x="3318401" y="4565517"/>
          <a:ext cx="2764053" cy="1057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30960" imgH="502920" progId="">
                  <p:embed/>
                </p:oleObj>
              </mc:Choice>
              <mc:Fallback>
                <p:oleObj r:id="rId3" imgW="1330960" imgH="502920" progId="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18401" y="4565517"/>
                        <a:ext cx="2764053" cy="10579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609" name="Text Box 17"/>
          <p:cNvSpPr txBox="1">
            <a:spLocks noChangeArrowheads="1"/>
          </p:cNvSpPr>
          <p:nvPr/>
        </p:nvSpPr>
        <p:spPr bwMode="auto">
          <a:xfrm>
            <a:off x="1721744" y="5735986"/>
            <a:ext cx="6463949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9pPr>
          </a:lstStyle>
          <a:p>
            <a:pPr fontAlgn="auto">
              <a:spcBef>
                <a:spcPts val="503"/>
              </a:spcBef>
              <a:buClr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△</a:t>
            </a:r>
            <a:r>
              <a:rPr lang="en-US" altLang="zh-CN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sz="2400" b="0" i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― ―</a:t>
            </a:r>
            <a:r>
              <a:rPr lang="en-US" altLang="zh-CN" sz="2400" dirty="0" err="1">
                <a:solidFill>
                  <a:schemeClr val="tx1"/>
                </a:solidFill>
                <a:cs typeface="Arial" panose="020B0604020202020204" pitchFamily="34" charset="0"/>
              </a:rPr>
              <a:t>各测试点的残差</a:t>
            </a:r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； </a:t>
            </a:r>
            <a:r>
              <a:rPr lang="en-US" altLang="zh-CN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 ― ―测试点数。</a:t>
            </a:r>
          </a:p>
        </p:txBody>
      </p:sp>
      <p:sp>
        <p:nvSpPr>
          <p:cNvPr id="22" name="矩形 21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1.1.9</a:t>
            </a:r>
          </a:p>
        </p:txBody>
      </p:sp>
      <p:sp>
        <p:nvSpPr>
          <p:cNvPr id="26" name="矩形 25"/>
          <p:cNvSpPr/>
          <p:nvPr/>
        </p:nvSpPr>
        <p:spPr>
          <a:xfrm>
            <a:off x="1960201" y="329520"/>
            <a:ext cx="193513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静态误差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6E6ED3-8980-4810-9989-32CAEE28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80626" y="1461136"/>
            <a:ext cx="7039451" cy="943911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indent="542925">
              <a:lnSpc>
                <a:spcPts val="3600"/>
              </a:lnSpc>
              <a:spcBef>
                <a:spcPts val="503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取</a:t>
            </a:r>
            <a:r>
              <a:rPr lang="en-US" altLang="zh-CN" sz="2400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2</a:t>
            </a:r>
            <a:r>
              <a:rPr lang="en-US" altLang="zh-CN" sz="2400" i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σ</a:t>
            </a:r>
            <a:r>
              <a:rPr lang="en-US" altLang="zh-CN" sz="2400" b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或</a:t>
            </a:r>
            <a:r>
              <a:rPr lang="en-US" altLang="zh-CN" sz="2400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3</a:t>
            </a:r>
            <a:r>
              <a:rPr lang="en-US" altLang="zh-CN" sz="2400" i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σ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值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，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即为传感器静态误差。静态误差也可用相对误差表示，即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：</a:t>
            </a:r>
          </a:p>
        </p:txBody>
      </p:sp>
      <p:sp>
        <p:nvSpPr>
          <p:cNvPr id="3" name="矩形 2"/>
          <p:cNvSpPr/>
          <p:nvPr/>
        </p:nvSpPr>
        <p:spPr>
          <a:xfrm>
            <a:off x="1180626" y="3498858"/>
            <a:ext cx="7039451" cy="1454242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indent="542925">
              <a:lnSpc>
                <a:spcPts val="3600"/>
              </a:lnSpc>
            </a:pP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静态误差是一项综合性指标，包含了前述的非线性误差、迟滞误差、重复性误差、灵敏度误差等。所以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，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也可以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用上述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单项误差综合而得，即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：</a:t>
            </a:r>
          </a:p>
        </p:txBody>
      </p:sp>
      <p:graphicFrame>
        <p:nvGraphicFramePr>
          <p:cNvPr id="6" name="对象 5"/>
          <p:cNvGraphicFramePr/>
          <p:nvPr>
            <p:extLst>
              <p:ext uri="{D42A27DB-BD31-4B8C-83A1-F6EECF244321}">
                <p14:modId xmlns:p14="http://schemas.microsoft.com/office/powerpoint/2010/main" val="305971805"/>
              </p:ext>
            </p:extLst>
          </p:nvPr>
        </p:nvGraphicFramePr>
        <p:xfrm>
          <a:off x="3561863" y="2405047"/>
          <a:ext cx="2276975" cy="1038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72210" imgH="528955" progId="">
                  <p:embed/>
                </p:oleObj>
              </mc:Choice>
              <mc:Fallback>
                <p:oleObj r:id="rId3" imgW="1172210" imgH="528955" progId="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1863" y="2405047"/>
                        <a:ext cx="2276975" cy="1038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>
            <p:extLst>
              <p:ext uri="{D42A27DB-BD31-4B8C-83A1-F6EECF244321}">
                <p14:modId xmlns:p14="http://schemas.microsoft.com/office/powerpoint/2010/main" val="3388320884"/>
              </p:ext>
            </p:extLst>
          </p:nvPr>
        </p:nvGraphicFramePr>
        <p:xfrm>
          <a:off x="2933670" y="5133860"/>
          <a:ext cx="3759229" cy="722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38325" imgH="319405" progId="">
                  <p:embed/>
                </p:oleObj>
              </mc:Choice>
              <mc:Fallback>
                <p:oleObj r:id="rId5" imgW="1838325" imgH="319405" progId="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33670" y="5133860"/>
                        <a:ext cx="3759229" cy="722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1.1.9</a:t>
            </a:r>
          </a:p>
        </p:txBody>
      </p:sp>
      <p:sp>
        <p:nvSpPr>
          <p:cNvPr id="27" name="矩形 26"/>
          <p:cNvSpPr/>
          <p:nvPr/>
        </p:nvSpPr>
        <p:spPr>
          <a:xfrm>
            <a:off x="1960201" y="329520"/>
            <a:ext cx="193513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静态误差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833333-85EE-4D0A-9D2C-0D9EC296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79"/>
          <p:cNvCxnSpPr/>
          <p:nvPr/>
        </p:nvCxnSpPr>
        <p:spPr>
          <a:xfrm>
            <a:off x="1649155" y="6"/>
            <a:ext cx="0" cy="564364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908717" y="2904937"/>
            <a:ext cx="6818603" cy="100874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 14"/>
          <p:cNvGrpSpPr/>
          <p:nvPr/>
        </p:nvGrpSpPr>
        <p:grpSpPr>
          <a:xfrm>
            <a:off x="-16725" y="6654793"/>
            <a:ext cx="953603" cy="203211"/>
            <a:chOff x="-22302" y="6654791"/>
            <a:chExt cx="1271471" cy="203210"/>
          </a:xfrm>
        </p:grpSpPr>
        <p:sp>
          <p:nvSpPr>
            <p:cNvPr id="9" name="圆角矩形 8"/>
            <p:cNvSpPr/>
            <p:nvPr/>
          </p:nvSpPr>
          <p:spPr>
            <a:xfrm flipV="1">
              <a:off x="240276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 flipV="1">
              <a:off x="-2230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 flipV="1">
              <a:off x="755838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 flipV="1">
              <a:off x="493260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102436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3" name="圆角矩形 72"/>
          <p:cNvSpPr/>
          <p:nvPr/>
        </p:nvSpPr>
        <p:spPr>
          <a:xfrm rot="10800000" flipV="1">
            <a:off x="2253313" y="1957093"/>
            <a:ext cx="861785" cy="424267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r>
              <a:rPr lang="en-US" altLang="zh-CN" sz="27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</a:t>
            </a:r>
            <a:endParaRPr lang="zh-CN" altLang="en-US" sz="27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4" name="圆角矩形 73"/>
          <p:cNvSpPr/>
          <p:nvPr/>
        </p:nvSpPr>
        <p:spPr>
          <a:xfrm rot="10800000" flipV="1">
            <a:off x="2253314" y="2962968"/>
            <a:ext cx="861781" cy="424269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r>
              <a:rPr lang="en-US" altLang="zh-CN" sz="27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</a:t>
            </a:r>
            <a:endParaRPr lang="zh-CN" altLang="en-US" sz="27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419064" y="1981941"/>
            <a:ext cx="2921306" cy="484746"/>
          </a:xfrm>
          <a:prstGeom prst="rect">
            <a:avLst/>
          </a:prstGeom>
          <a:noFill/>
        </p:spPr>
        <p:txBody>
          <a:bodyPr wrap="none" lIns="68577" tIns="34289" rIns="68577" bIns="34289" rtlCol="0">
            <a:spAutoFit/>
          </a:bodyPr>
          <a:lstStyle/>
          <a:p>
            <a:r>
              <a:rPr lang="zh-CN" altLang="en-US" sz="27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  <a:hlinkClick r:id="rId2" action="ppaction://hlinksldjump"/>
              </a:rPr>
              <a:t>传感器的静态特性</a:t>
            </a:r>
            <a:endParaRPr lang="zh-CN" altLang="en-US" sz="2700" b="1" dirty="0">
              <a:solidFill>
                <a:schemeClr val="tx2"/>
              </a:solidFill>
            </a:endParaRPr>
          </a:p>
        </p:txBody>
      </p:sp>
      <p:sp>
        <p:nvSpPr>
          <p:cNvPr id="88" name="文本框 87">
            <a:hlinkClick r:id="rId3" action="ppaction://hlinksldjump"/>
          </p:cNvPr>
          <p:cNvSpPr txBox="1"/>
          <p:nvPr/>
        </p:nvSpPr>
        <p:spPr>
          <a:xfrm>
            <a:off x="3419064" y="2950167"/>
            <a:ext cx="2921306" cy="484746"/>
          </a:xfrm>
          <a:prstGeom prst="rect">
            <a:avLst/>
          </a:prstGeom>
          <a:noFill/>
        </p:spPr>
        <p:txBody>
          <a:bodyPr wrap="none" lIns="68577" tIns="34289" rIns="68577" bIns="34289" rtlCol="0">
            <a:spAutoFit/>
          </a:bodyPr>
          <a:lstStyle/>
          <a:p>
            <a:r>
              <a:rPr lang="zh-CN" altLang="en-US" sz="27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传感器的动态特性</a:t>
            </a:r>
            <a:endParaRPr lang="zh-CN" altLang="en-US" sz="27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6" name="圆角矩形 72"/>
          <p:cNvSpPr/>
          <p:nvPr/>
        </p:nvSpPr>
        <p:spPr>
          <a:xfrm rot="10800000" flipV="1">
            <a:off x="2253314" y="3958084"/>
            <a:ext cx="861785" cy="424267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endParaRPr lang="zh-CN" altLang="en-US" sz="27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419064" y="3918392"/>
            <a:ext cx="1529900" cy="484746"/>
          </a:xfrm>
          <a:prstGeom prst="rect">
            <a:avLst/>
          </a:prstGeom>
          <a:noFill/>
        </p:spPr>
        <p:txBody>
          <a:bodyPr wrap="none" lIns="68577" tIns="34289" rIns="68577" bIns="34289" rtlCol="0">
            <a:spAutoFit/>
          </a:bodyPr>
          <a:lstStyle/>
          <a:p>
            <a:r>
              <a:rPr lang="zh-CN" altLang="en-US" sz="27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hlinkClick r:id="rId5" action="ppaction://hlinksldjump"/>
              </a:rPr>
              <a:t>本章要点</a:t>
            </a:r>
            <a:endParaRPr lang="zh-CN" altLang="en-US" sz="27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文本框 19">
            <a:extLst>
              <a:ext uri="{FF2B5EF4-FFF2-40B4-BE49-F238E27FC236}">
                <a16:creationId xmlns:a16="http://schemas.microsoft.com/office/drawing/2014/main" id="{6E8BF02F-95B1-4F68-A843-C74EAB3F3FA3}"/>
              </a:ext>
            </a:extLst>
          </p:cNvPr>
          <p:cNvSpPr txBox="1"/>
          <p:nvPr/>
        </p:nvSpPr>
        <p:spPr>
          <a:xfrm>
            <a:off x="104043" y="856211"/>
            <a:ext cx="754047" cy="3909002"/>
          </a:xfrm>
          <a:prstGeom prst="rect">
            <a:avLst/>
          </a:prstGeom>
          <a:noFill/>
        </p:spPr>
        <p:txBody>
          <a:bodyPr vert="eaVert" wrap="square" lIns="68577" tIns="34289" rIns="68577" bIns="34289" rtlCol="0">
            <a:spAutoFit/>
          </a:bodyPr>
          <a:lstStyle/>
          <a:p>
            <a:r>
              <a:rPr lang="ja-JP" altLang="en-US" sz="4000" b="1" spc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内容提纲</a:t>
            </a:r>
            <a:endParaRPr lang="zh-CN" altLang="en-US" sz="4000" b="1" spc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81D667-DB6A-41C3-B02A-3BE89792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16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89951" y="1421968"/>
            <a:ext cx="7039451" cy="1454242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>
              <a:lnSpc>
                <a:spcPts val="3600"/>
              </a:lnSpc>
              <a:spcBef>
                <a:spcPts val="503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研究动态特性可以从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时域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和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频域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两个方面采用瞬态响应法和频率响应法来分析。经常采用的输入信号为单位阶跃输入量和正弦输入量。</a:t>
            </a:r>
          </a:p>
        </p:txBody>
      </p:sp>
      <p:sp>
        <p:nvSpPr>
          <p:cNvPr id="3" name="矩形 2"/>
          <p:cNvSpPr/>
          <p:nvPr/>
        </p:nvSpPr>
        <p:spPr>
          <a:xfrm>
            <a:off x="2901620" y="3069643"/>
            <a:ext cx="4428624" cy="2942920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sz="2400" b="1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3" action="ppaction://hlinksldjump"/>
              </a:rPr>
              <a:t>动态特性的数学描述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altLang="zh-CN" sz="2400" b="1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4" action="ppaction://hlinksldjump"/>
              </a:rPr>
              <a:t>线性系统的传递函数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altLang="zh-CN" sz="2400" b="1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5" action="ppaction://hlinksldjump"/>
              </a:rPr>
              <a:t>传感器的动态特性指标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altLang="zh-CN" sz="2400" b="1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6" action="ppaction://hlinksldjump"/>
              </a:rPr>
              <a:t>动态响应分析的基本方法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altLang="zh-CN" sz="2400" b="1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7" action="ppaction://hlinksldjump"/>
              </a:rPr>
              <a:t>典型环节的动态响应特性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sz="3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</a:t>
            </a:r>
          </a:p>
        </p:txBody>
      </p:sp>
      <p:sp>
        <p:nvSpPr>
          <p:cNvPr id="27" name="矩形 26"/>
          <p:cNvSpPr/>
          <p:nvPr/>
        </p:nvSpPr>
        <p:spPr>
          <a:xfrm>
            <a:off x="1960200" y="360001"/>
            <a:ext cx="368561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传感器的动态特性</a:t>
            </a:r>
          </a:p>
        </p:txBody>
      </p:sp>
      <p:sp>
        <p:nvSpPr>
          <p:cNvPr id="38" name="圆角矩形 72">
            <a:extLst>
              <a:ext uri="{FF2B5EF4-FFF2-40B4-BE49-F238E27FC236}">
                <a16:creationId xmlns:a16="http://schemas.microsoft.com/office/drawing/2014/main" id="{343D7C8A-72E9-4E11-82F9-04D1F37F1B07}"/>
              </a:ext>
            </a:extLst>
          </p:cNvPr>
          <p:cNvSpPr/>
          <p:nvPr/>
        </p:nvSpPr>
        <p:spPr>
          <a:xfrm rot="10800000" flipV="1">
            <a:off x="1749252" y="3225832"/>
            <a:ext cx="1002281" cy="468852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1.2.1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9" name="圆角矩形 73">
            <a:extLst>
              <a:ext uri="{FF2B5EF4-FFF2-40B4-BE49-F238E27FC236}">
                <a16:creationId xmlns:a16="http://schemas.microsoft.com/office/drawing/2014/main" id="{7997A031-0667-4F3B-9AA0-BAB02B443096}"/>
              </a:ext>
            </a:extLst>
          </p:cNvPr>
          <p:cNvSpPr/>
          <p:nvPr/>
        </p:nvSpPr>
        <p:spPr>
          <a:xfrm rot="10800000" flipV="1">
            <a:off x="1754959" y="3806243"/>
            <a:ext cx="1002285" cy="467244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1.2.2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0" name="圆角矩形 72">
            <a:extLst>
              <a:ext uri="{FF2B5EF4-FFF2-40B4-BE49-F238E27FC236}">
                <a16:creationId xmlns:a16="http://schemas.microsoft.com/office/drawing/2014/main" id="{343D7C8A-72E9-4E11-82F9-04D1F37F1B07}"/>
              </a:ext>
            </a:extLst>
          </p:cNvPr>
          <p:cNvSpPr/>
          <p:nvPr/>
        </p:nvSpPr>
        <p:spPr>
          <a:xfrm rot="10800000" flipV="1">
            <a:off x="1749252" y="4376173"/>
            <a:ext cx="1002281" cy="468852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1.2.3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2" name="圆角矩形 73">
            <a:extLst>
              <a:ext uri="{FF2B5EF4-FFF2-40B4-BE49-F238E27FC236}">
                <a16:creationId xmlns:a16="http://schemas.microsoft.com/office/drawing/2014/main" id="{7997A031-0667-4F3B-9AA0-BAB02B443096}"/>
              </a:ext>
            </a:extLst>
          </p:cNvPr>
          <p:cNvSpPr/>
          <p:nvPr/>
        </p:nvSpPr>
        <p:spPr>
          <a:xfrm rot="10800000" flipV="1">
            <a:off x="1749252" y="4946097"/>
            <a:ext cx="1002285" cy="467244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1.2.4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5" name="圆角矩形 72">
            <a:extLst>
              <a:ext uri="{FF2B5EF4-FFF2-40B4-BE49-F238E27FC236}">
                <a16:creationId xmlns:a16="http://schemas.microsoft.com/office/drawing/2014/main" id="{343D7C8A-72E9-4E11-82F9-04D1F37F1B07}"/>
              </a:ext>
            </a:extLst>
          </p:cNvPr>
          <p:cNvSpPr/>
          <p:nvPr/>
        </p:nvSpPr>
        <p:spPr>
          <a:xfrm rot="10800000" flipV="1">
            <a:off x="1749252" y="5514415"/>
            <a:ext cx="1002281" cy="468852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1.2.5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8DDCC4-5B70-4AFE-B721-40BC5D071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80626" y="1461136"/>
            <a:ext cx="7039451" cy="438580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>
              <a:spcBef>
                <a:spcPts val="503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解析法求解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线性系统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对激励的响应步骤：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</a:t>
            </a:r>
          </a:p>
        </p:txBody>
      </p:sp>
      <p:sp>
        <p:nvSpPr>
          <p:cNvPr id="3" name="矩形 2"/>
          <p:cNvSpPr/>
          <p:nvPr/>
        </p:nvSpPr>
        <p:spPr>
          <a:xfrm>
            <a:off x="1180625" y="3016031"/>
            <a:ext cx="7039451" cy="1454242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indent="622300">
              <a:lnSpc>
                <a:spcPts val="3600"/>
              </a:lnSpc>
              <a:spcBef>
                <a:spcPts val="503"/>
              </a:spcBef>
            </a:pP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将输出量与输入量联系起来的方程是微分方程，</a:t>
            </a:r>
            <a:r>
              <a:rPr lang="en-US" altLang="zh-CN" sz="2400" b="1" dirty="0" err="1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集总参数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的线性系统可用有限阶的线性常系数微分方程来描述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：</a:t>
            </a:r>
          </a:p>
        </p:txBody>
      </p:sp>
      <p:sp>
        <p:nvSpPr>
          <p:cNvPr id="238609" name="Text Box 17"/>
          <p:cNvSpPr txBox="1">
            <a:spLocks noChangeArrowheads="1"/>
          </p:cNvSpPr>
          <p:nvPr/>
        </p:nvSpPr>
        <p:spPr bwMode="auto">
          <a:xfrm>
            <a:off x="1960126" y="1981995"/>
            <a:ext cx="4511491" cy="912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9pPr>
          </a:lstStyle>
          <a:p>
            <a:pPr>
              <a:lnSpc>
                <a:spcPts val="3000"/>
              </a:lnSpc>
              <a:buClr>
                <a:schemeClr val="tx2"/>
              </a:buClr>
              <a:buFont typeface="Wingdings" panose="05000000000000000000" pitchFamily="2" charset="2"/>
              <a:buAutoNum type="romanUcPeriod"/>
            </a:pP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+mn-ea"/>
              </a:rPr>
              <a:t>  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+mn-ea"/>
              </a:rPr>
              <a:t>建立描述该系统的数学方程</a:t>
            </a:r>
            <a:r>
              <a:rPr lang="zh-CN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+mn-ea"/>
              </a:rPr>
              <a:t>；</a:t>
            </a:r>
            <a:endParaRPr lang="en-US" altLang="zh-C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sym typeface="+mn-ea"/>
            </a:endParaRPr>
          </a:p>
          <a:p>
            <a:pPr>
              <a:lnSpc>
                <a:spcPts val="3000"/>
              </a:lnSpc>
              <a:buClr>
                <a:schemeClr val="tx2"/>
              </a:buClr>
              <a:buFont typeface="Wingdings" panose="05000000000000000000" pitchFamily="2" charset="2"/>
              <a:buAutoNum type="romanUcPeriod"/>
            </a:pP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+mn-ea"/>
              </a:rPr>
              <a:t> 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+mn-ea"/>
              </a:rPr>
              <a:t>求满足初始条件的解</a:t>
            </a:r>
            <a:r>
              <a:rPr lang="zh-CN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+mn-ea"/>
              </a:rPr>
              <a:t>。</a:t>
            </a:r>
            <a:endParaRPr lang="en-US" altLang="zh-C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对象 6"/>
          <p:cNvGraphicFramePr/>
          <p:nvPr>
            <p:extLst>
              <p:ext uri="{D42A27DB-BD31-4B8C-83A1-F6EECF244321}">
                <p14:modId xmlns:p14="http://schemas.microsoft.com/office/powerpoint/2010/main" val="2214009415"/>
              </p:ext>
            </p:extLst>
          </p:nvPr>
        </p:nvGraphicFramePr>
        <p:xfrm>
          <a:off x="2374133" y="4284983"/>
          <a:ext cx="5062251" cy="1951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35225" imgH="932180" progId="">
                  <p:embed/>
                </p:oleObj>
              </mc:Choice>
              <mc:Fallback>
                <p:oleObj r:id="rId3" imgW="2435225" imgH="932180" progId="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74133" y="4284983"/>
                        <a:ext cx="5062251" cy="1951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1.2.1</a:t>
            </a:r>
          </a:p>
        </p:txBody>
      </p:sp>
      <p:sp>
        <p:nvSpPr>
          <p:cNvPr id="25" name="矩形 24"/>
          <p:cNvSpPr/>
          <p:nvPr/>
        </p:nvSpPr>
        <p:spPr>
          <a:xfrm>
            <a:off x="1960201" y="329520"/>
            <a:ext cx="412323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动态特性的数学描述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8334B3-A600-43DF-971F-8F1393C7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27409" y="1183623"/>
            <a:ext cx="7039451" cy="1731241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一般来说，传感器可视为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线性常系数系统，当初始条件为零时，系统输出量的拉氏变换</a:t>
            </a:r>
            <a:r>
              <a:rPr lang="en-US" altLang="zh-CN" sz="2400" b="1" i="1" dirty="0" err="1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Y</a:t>
            </a:r>
            <a:r>
              <a:rPr lang="en-US" altLang="zh-CN" sz="2400" b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(</a:t>
            </a:r>
            <a:r>
              <a:rPr lang="en-US" altLang="zh-CN" sz="2400" b="1" i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s</a:t>
            </a:r>
            <a:r>
              <a:rPr lang="en-US" altLang="zh-CN" sz="2400" b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)与输入量的拉氏变换</a:t>
            </a:r>
            <a:r>
              <a:rPr lang="en-US" altLang="zh-CN" sz="2400" b="1" i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X</a:t>
            </a:r>
            <a:r>
              <a:rPr lang="en-US" altLang="zh-CN" sz="2400" b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(</a:t>
            </a:r>
            <a:r>
              <a:rPr lang="en-US" altLang="zh-CN" sz="2400" b="1" i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s</a:t>
            </a:r>
            <a:r>
              <a:rPr lang="en-US" altLang="zh-CN" sz="2400" b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)</a:t>
            </a:r>
            <a:r>
              <a:rPr lang="en-US" altLang="zh-CN" sz="2400" b="1" dirty="0" err="1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之比，用</a:t>
            </a:r>
            <a:r>
              <a:rPr lang="zh-CN" altLang="en-US" sz="2400" b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传递函数</a:t>
            </a:r>
            <a:r>
              <a:rPr lang="en-US" altLang="zh-CN" sz="2400" b="1" i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G</a:t>
            </a:r>
            <a:r>
              <a:rPr lang="en-US" altLang="zh-CN" sz="2400" b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(</a:t>
            </a:r>
            <a:r>
              <a:rPr lang="en-US" altLang="zh-CN" sz="2400" b="1" i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s</a:t>
            </a:r>
            <a:r>
              <a:rPr lang="en-US" altLang="zh-CN" sz="2400" b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)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表示为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：</a:t>
            </a:r>
          </a:p>
        </p:txBody>
      </p:sp>
      <p:graphicFrame>
        <p:nvGraphicFramePr>
          <p:cNvPr id="6" name="对象 5"/>
          <p:cNvGraphicFramePr/>
          <p:nvPr>
            <p:extLst>
              <p:ext uri="{D42A27DB-BD31-4B8C-83A1-F6EECF244321}">
                <p14:modId xmlns:p14="http://schemas.microsoft.com/office/powerpoint/2010/main" val="2949311835"/>
              </p:ext>
            </p:extLst>
          </p:nvPr>
        </p:nvGraphicFramePr>
        <p:xfrm>
          <a:off x="1904556" y="2914864"/>
          <a:ext cx="5582094" cy="1201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78760" imgH="577215" progId="">
                  <p:embed/>
                </p:oleObj>
              </mc:Choice>
              <mc:Fallback>
                <p:oleObj r:id="rId3" imgW="2778760" imgH="577215" progId="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4556" y="2914864"/>
                        <a:ext cx="5582094" cy="1201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1.2.2</a:t>
            </a:r>
          </a:p>
        </p:txBody>
      </p:sp>
      <p:sp>
        <p:nvSpPr>
          <p:cNvPr id="24" name="矩形 23"/>
          <p:cNvSpPr/>
          <p:nvPr/>
        </p:nvSpPr>
        <p:spPr>
          <a:xfrm>
            <a:off x="1960201" y="329520"/>
            <a:ext cx="412323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线性系统的传递函数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D8BB2B-3260-497B-8B4D-D02688C6E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3C651907-6127-4A54-AE63-EC3C3E9E1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4035" y="6166093"/>
            <a:ext cx="3886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3333CC"/>
                </a:solidFill>
              </a:rPr>
              <a:t>    </a:t>
            </a:r>
            <a:r>
              <a:rPr lang="zh-CN" altLang="en-US" b="1" dirty="0">
                <a:solidFill>
                  <a:srgbClr val="3333CC"/>
                </a:solidFill>
              </a:rPr>
              <a:t>图</a:t>
            </a:r>
            <a:r>
              <a:rPr lang="en-US" altLang="zh-CN" b="1" dirty="0">
                <a:solidFill>
                  <a:srgbClr val="3333CC"/>
                </a:solidFill>
              </a:rPr>
              <a:t>1-4  </a:t>
            </a:r>
            <a:r>
              <a:rPr lang="zh-CN" altLang="en-US" b="1" dirty="0">
                <a:solidFill>
                  <a:srgbClr val="3333CC"/>
                </a:solidFill>
              </a:rPr>
              <a:t>二端口网络图</a:t>
            </a:r>
          </a:p>
        </p:txBody>
      </p:sp>
      <p:pic>
        <p:nvPicPr>
          <p:cNvPr id="35" name="Picture 10">
            <a:extLst>
              <a:ext uri="{FF2B5EF4-FFF2-40B4-BE49-F238E27FC236}">
                <a16:creationId xmlns:a16="http://schemas.microsoft.com/office/drawing/2014/main" id="{E77B26E2-E8F8-420F-952A-D9005D65A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41" y="4374080"/>
            <a:ext cx="8864517" cy="1561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80626" y="1461137"/>
            <a:ext cx="7039451" cy="2377572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indent="536575">
              <a:lnSpc>
                <a:spcPts val="3600"/>
              </a:lnSpc>
            </a:pP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一般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来说，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不能直接给出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传感器的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微分方程，而是通过实验给出传感器阶跃响应曲线和幅频特性曲线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，用曲线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上的某些特征值来表示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其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动态响应特性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。</a:t>
            </a:r>
          </a:p>
          <a:p>
            <a:pPr indent="536575">
              <a:lnSpc>
                <a:spcPts val="3600"/>
              </a:lnSpc>
            </a:pPr>
            <a:r>
              <a:rPr lang="en-US" altLang="zh-CN" sz="2400" b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I.  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与阶跃响应有关的指标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1.2.3</a:t>
            </a:r>
          </a:p>
        </p:txBody>
      </p:sp>
      <p:sp>
        <p:nvSpPr>
          <p:cNvPr id="23" name="矩形 22"/>
          <p:cNvSpPr/>
          <p:nvPr/>
        </p:nvSpPr>
        <p:spPr>
          <a:xfrm>
            <a:off x="1960201" y="329520"/>
            <a:ext cx="456085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传感器的动态特性指标</a:t>
            </a:r>
          </a:p>
        </p:txBody>
      </p:sp>
      <p:sp>
        <p:nvSpPr>
          <p:cNvPr id="2" name="矩形 1"/>
          <p:cNvSpPr/>
          <p:nvPr/>
        </p:nvSpPr>
        <p:spPr>
          <a:xfrm>
            <a:off x="1124601" y="3989492"/>
            <a:ext cx="483337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536575">
              <a:lnSpc>
                <a:spcPts val="3600"/>
              </a:lnSpc>
            </a:pPr>
            <a:r>
              <a:rPr lang="en-US" altLang="zh-CN" sz="2400" b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II. 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与频率响应特性有关的指标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BCFD6-796E-4FC0-A83F-E644A940C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1.2.3</a:t>
            </a:r>
          </a:p>
        </p:txBody>
      </p:sp>
      <p:sp>
        <p:nvSpPr>
          <p:cNvPr id="23" name="矩形 22"/>
          <p:cNvSpPr/>
          <p:nvPr/>
        </p:nvSpPr>
        <p:spPr>
          <a:xfrm>
            <a:off x="1960201" y="329520"/>
            <a:ext cx="456085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传感器的动态特性指标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BCFD6-796E-4FC0-A83F-E644A940C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23038E82-99C2-4475-BF71-FD197BC46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2046" y="5487393"/>
            <a:ext cx="441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3333CC"/>
                </a:solidFill>
              </a:rPr>
              <a:t>图</a:t>
            </a:r>
            <a:r>
              <a:rPr lang="en-US" altLang="zh-CN" b="1" dirty="0">
                <a:solidFill>
                  <a:srgbClr val="3333CC"/>
                </a:solidFill>
              </a:rPr>
              <a:t>1-5 </a:t>
            </a:r>
            <a:r>
              <a:rPr lang="zh-CN" altLang="en-US" b="1" dirty="0">
                <a:solidFill>
                  <a:srgbClr val="3333CC"/>
                </a:solidFill>
              </a:rPr>
              <a:t>两条典型的阶跃响应曲线</a:t>
            </a:r>
          </a:p>
        </p:txBody>
      </p:sp>
      <p:pic>
        <p:nvPicPr>
          <p:cNvPr id="9" name="Picture 10">
            <a:extLst>
              <a:ext uri="{FF2B5EF4-FFF2-40B4-BE49-F238E27FC236}">
                <a16:creationId xmlns:a16="http://schemas.microsoft.com/office/drawing/2014/main" id="{50D909FE-4B86-4566-A961-A4D73585B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153" y="1610281"/>
            <a:ext cx="8035197" cy="362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9168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1.2.3</a:t>
            </a:r>
          </a:p>
        </p:txBody>
      </p:sp>
      <p:sp>
        <p:nvSpPr>
          <p:cNvPr id="23" name="矩形 22"/>
          <p:cNvSpPr/>
          <p:nvPr/>
        </p:nvSpPr>
        <p:spPr>
          <a:xfrm>
            <a:off x="1960201" y="329520"/>
            <a:ext cx="456085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传感器的动态特性指标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BCFD6-796E-4FC0-A83F-E644A940C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12" name="Text Box 21">
            <a:extLst>
              <a:ext uri="{FF2B5EF4-FFF2-40B4-BE49-F238E27FC236}">
                <a16:creationId xmlns:a16="http://schemas.microsoft.com/office/drawing/2014/main" id="{54C6F378-2FA4-4D71-9726-E7F21A0DE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240" y="5580343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3333CC"/>
                </a:solidFill>
              </a:rPr>
              <a:t>图</a:t>
            </a:r>
            <a:r>
              <a:rPr lang="en-US" altLang="zh-CN" b="1" dirty="0">
                <a:solidFill>
                  <a:srgbClr val="3333CC"/>
                </a:solidFill>
              </a:rPr>
              <a:t>1-6  </a:t>
            </a:r>
            <a:r>
              <a:rPr lang="zh-CN" altLang="en-US" b="1" dirty="0">
                <a:solidFill>
                  <a:srgbClr val="3333CC"/>
                </a:solidFill>
              </a:rPr>
              <a:t>对数幅频特性曲线</a:t>
            </a:r>
          </a:p>
        </p:txBody>
      </p:sp>
      <p:pic>
        <p:nvPicPr>
          <p:cNvPr id="13" name="Picture 9">
            <a:extLst>
              <a:ext uri="{FF2B5EF4-FFF2-40B4-BE49-F238E27FC236}">
                <a16:creationId xmlns:a16="http://schemas.microsoft.com/office/drawing/2014/main" id="{5FD44C8A-3A55-404F-BE5C-112991CB1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15" y="1804774"/>
            <a:ext cx="7350034" cy="3414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331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04451" y="1641340"/>
            <a:ext cx="7039451" cy="536683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 err="1"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用拉氏变换分析线性系统响应四个步骤</a:t>
            </a:r>
            <a:r>
              <a:rPr lang="en-US" altLang="zh-CN" sz="2400" b="1" dirty="0"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：</a:t>
            </a:r>
          </a:p>
        </p:txBody>
      </p:sp>
      <p:sp>
        <p:nvSpPr>
          <p:cNvPr id="3" name="矩形 2"/>
          <p:cNvSpPr/>
          <p:nvPr/>
        </p:nvSpPr>
        <p:spPr>
          <a:xfrm>
            <a:off x="1304451" y="2371420"/>
            <a:ext cx="7039451" cy="3585595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503"/>
              </a:spcBef>
              <a:buFont typeface="Arial" pitchFamily="34" charset="0"/>
              <a:buChar char="•"/>
            </a:pPr>
            <a:r>
              <a:rPr lang="en-US" altLang="zh-CN" sz="2400" b="1" dirty="0" err="1"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建立传递函数</a:t>
            </a:r>
            <a:r>
              <a:rPr lang="en-US" altLang="zh-CN" sz="2400" b="1" i="1" dirty="0" err="1">
                <a:latin typeface="Times New Roman" pitchFamily="18" charset="0"/>
                <a:ea typeface="宋体" pitchFamily="2" charset="-122"/>
                <a:cs typeface="Times New Roman" pitchFamily="18" charset="0"/>
                <a:sym typeface="+mn-ea"/>
              </a:rPr>
              <a:t>G</a:t>
            </a:r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  <a:sym typeface="+mn-ea"/>
              </a:rPr>
              <a:t>(</a:t>
            </a:r>
            <a:r>
              <a:rPr lang="en-US" altLang="zh-CN" sz="2400" b="1" i="1" dirty="0">
                <a:latin typeface="Times New Roman" pitchFamily="18" charset="0"/>
                <a:ea typeface="宋体" pitchFamily="2" charset="-122"/>
                <a:cs typeface="Times New Roman" pitchFamily="18" charset="0"/>
                <a:sym typeface="+mn-ea"/>
              </a:rPr>
              <a:t>s</a:t>
            </a:r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  <a:sym typeface="+mn-ea"/>
              </a:rPr>
              <a:t>)</a:t>
            </a:r>
            <a:r>
              <a:rPr lang="en-US" altLang="zh-CN" sz="2400" b="1" dirty="0"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；</a:t>
            </a:r>
          </a:p>
          <a:p>
            <a:pPr marL="342900" indent="-342900">
              <a:lnSpc>
                <a:spcPct val="150000"/>
              </a:lnSpc>
              <a:spcBef>
                <a:spcPts val="503"/>
              </a:spcBef>
              <a:buFont typeface="Arial" pitchFamily="34" charset="0"/>
              <a:buChar char="•"/>
            </a:pPr>
            <a:r>
              <a:rPr lang="en-US" altLang="zh-CN" sz="2400" b="1" dirty="0"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求输入量（激励）的拉氏变换，即输入的象函数。</a:t>
            </a:r>
          </a:p>
          <a:p>
            <a:pPr marL="342900" indent="-342900">
              <a:lnSpc>
                <a:spcPct val="150000"/>
              </a:lnSpc>
              <a:spcBef>
                <a:spcPts val="503"/>
              </a:spcBef>
              <a:buFont typeface="Arial" pitchFamily="34" charset="0"/>
              <a:buChar char="•"/>
            </a:pPr>
            <a:r>
              <a:rPr lang="en-US" altLang="zh-CN" sz="2400" b="1" dirty="0" err="1"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由变换函数和输入的拉氏变换可求输出响应的拉氏变换，即输出的象函数</a:t>
            </a:r>
            <a:r>
              <a:rPr lang="en-US" altLang="zh-CN" sz="2400" b="1" dirty="0"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。</a:t>
            </a:r>
          </a:p>
          <a:p>
            <a:pPr marL="342900" indent="-342900">
              <a:lnSpc>
                <a:spcPct val="150000"/>
              </a:lnSpc>
              <a:spcBef>
                <a:spcPts val="503"/>
              </a:spcBef>
              <a:buFont typeface="Arial" pitchFamily="34" charset="0"/>
              <a:buChar char="•"/>
            </a:pPr>
            <a:r>
              <a:rPr lang="en-US" altLang="zh-CN" sz="2400" b="1" dirty="0">
                <a:latin typeface="宋体" pitchFamily="2" charset="-122"/>
                <a:ea typeface="宋体" pitchFamily="2" charset="-122"/>
                <a:cs typeface="Arial" panose="020B0604020202020204" pitchFamily="34" charset="0"/>
                <a:sym typeface="+mn-ea"/>
              </a:rPr>
              <a:t>对响应的象函数求原函数，即进行拉氏反变换，可得出输出的时间函数。</a:t>
            </a:r>
          </a:p>
        </p:txBody>
      </p:sp>
      <p:sp>
        <p:nvSpPr>
          <p:cNvPr id="20" name="矩形 19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1.2.4</a:t>
            </a:r>
          </a:p>
        </p:txBody>
      </p:sp>
      <p:sp>
        <p:nvSpPr>
          <p:cNvPr id="24" name="矩形 23"/>
          <p:cNvSpPr/>
          <p:nvPr/>
        </p:nvSpPr>
        <p:spPr>
          <a:xfrm>
            <a:off x="1960201" y="329520"/>
            <a:ext cx="499847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动态响应分析的基本方法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CFEC54-872D-4722-84B8-F88A389C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13753" y="1317917"/>
            <a:ext cx="7039451" cy="3544558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>
              <a:lnSpc>
                <a:spcPts val="3800"/>
              </a:lnSpc>
              <a:spcBef>
                <a:spcPts val="503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正弦激励下的稳态频率响应</a:t>
            </a:r>
          </a:p>
          <a:p>
            <a:pPr>
              <a:lnSpc>
                <a:spcPts val="3800"/>
              </a:lnSpc>
              <a:spcBef>
                <a:spcPts val="503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当输入正弦信号后，由于暂态响应的存在，开始时输出并不是纯正弦波，当暂态响应逐渐衰减直至消失后（理论上需要无限长时间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）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，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输出只存在稳态正弦量，它与输入信号的频率相同，但幅值和相移都是频率的函数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，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即得到传感器的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频率响应特性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。</a:t>
            </a:r>
          </a:p>
        </p:txBody>
      </p:sp>
      <p:sp>
        <p:nvSpPr>
          <p:cNvPr id="23" name="矩形 22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1.2.4</a:t>
            </a:r>
          </a:p>
        </p:txBody>
      </p:sp>
      <p:sp>
        <p:nvSpPr>
          <p:cNvPr id="25" name="矩形 24"/>
          <p:cNvSpPr/>
          <p:nvPr/>
        </p:nvSpPr>
        <p:spPr>
          <a:xfrm>
            <a:off x="1960201" y="329520"/>
            <a:ext cx="499847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动态响应分析的基本方法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20F69D-0C5D-4BCA-85E8-BB1184CFB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1.2.4</a:t>
            </a:r>
          </a:p>
        </p:txBody>
      </p:sp>
      <p:sp>
        <p:nvSpPr>
          <p:cNvPr id="25" name="矩形 24"/>
          <p:cNvSpPr/>
          <p:nvPr/>
        </p:nvSpPr>
        <p:spPr>
          <a:xfrm>
            <a:off x="1960201" y="329520"/>
            <a:ext cx="499847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动态响应分析的基本方法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20F69D-0C5D-4BCA-85E8-BB1184CFB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7" name="Text Box 23">
            <a:extLst>
              <a:ext uri="{FF2B5EF4-FFF2-40B4-BE49-F238E27FC236}">
                <a16:creationId xmlns:a16="http://schemas.microsoft.com/office/drawing/2014/main" id="{41558E22-277C-4630-92D7-2410E8A05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2477" y="6264277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3333CC"/>
                </a:solidFill>
              </a:rPr>
              <a:t>图</a:t>
            </a:r>
            <a:r>
              <a:rPr lang="en-US" altLang="zh-CN" b="1" dirty="0">
                <a:solidFill>
                  <a:srgbClr val="3333CC"/>
                </a:solidFill>
              </a:rPr>
              <a:t>1-7  </a:t>
            </a:r>
            <a:r>
              <a:rPr lang="zh-CN" altLang="en-US" b="1" dirty="0">
                <a:solidFill>
                  <a:srgbClr val="3333CC"/>
                </a:solidFill>
              </a:rPr>
              <a:t>频率响应特性曲线图</a:t>
            </a:r>
          </a:p>
        </p:txBody>
      </p:sp>
      <p:sp>
        <p:nvSpPr>
          <p:cNvPr id="8" name="矩形 1">
            <a:extLst>
              <a:ext uri="{FF2B5EF4-FFF2-40B4-BE49-F238E27FC236}">
                <a16:creationId xmlns:a16="http://schemas.microsoft.com/office/drawing/2014/main" id="{5C111592-B041-42CC-B5C5-EC6AE53ADD2A}"/>
              </a:ext>
            </a:extLst>
          </p:cNvPr>
          <p:cNvSpPr/>
          <p:nvPr/>
        </p:nvSpPr>
        <p:spPr bwMode="auto">
          <a:xfrm>
            <a:off x="3965290" y="5521439"/>
            <a:ext cx="576064" cy="36237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" name="Picture 10">
            <a:extLst>
              <a:ext uri="{FF2B5EF4-FFF2-40B4-BE49-F238E27FC236}">
                <a16:creationId xmlns:a16="http://schemas.microsoft.com/office/drawing/2014/main" id="{E5CD87E4-C8AD-4A4F-877C-5AF3689A5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98" y="1268660"/>
            <a:ext cx="7522626" cy="4845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3818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1.2.4</a:t>
            </a:r>
          </a:p>
        </p:txBody>
      </p:sp>
      <p:sp>
        <p:nvSpPr>
          <p:cNvPr id="25" name="矩形 24"/>
          <p:cNvSpPr/>
          <p:nvPr/>
        </p:nvSpPr>
        <p:spPr>
          <a:xfrm>
            <a:off x="1960201" y="329520"/>
            <a:ext cx="499847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动态响应分析的基本方法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20F69D-0C5D-4BCA-85E8-BB1184CFB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10" name="Text Box 25">
            <a:extLst>
              <a:ext uri="{FF2B5EF4-FFF2-40B4-BE49-F238E27FC236}">
                <a16:creationId xmlns:a16="http://schemas.microsoft.com/office/drawing/2014/main" id="{C3E5D36A-7F21-431D-AF23-C6DF9ECCE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710" y="6259812"/>
            <a:ext cx="43551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3333CC"/>
                </a:solidFill>
              </a:rPr>
              <a:t>图</a:t>
            </a:r>
            <a:r>
              <a:rPr lang="en-US" altLang="zh-CN" b="1" dirty="0">
                <a:solidFill>
                  <a:srgbClr val="3333CC"/>
                </a:solidFill>
              </a:rPr>
              <a:t>1-8  </a:t>
            </a:r>
            <a:r>
              <a:rPr lang="zh-CN" altLang="en-US" b="1" dirty="0">
                <a:solidFill>
                  <a:srgbClr val="3333CC"/>
                </a:solidFill>
              </a:rPr>
              <a:t>输入</a:t>
            </a:r>
            <a:r>
              <a:rPr lang="en-US" altLang="zh-CN" b="1" dirty="0">
                <a:solidFill>
                  <a:srgbClr val="3333CC"/>
                </a:solidFill>
              </a:rPr>
              <a:t>-</a:t>
            </a:r>
            <a:r>
              <a:rPr lang="zh-CN" altLang="en-US" b="1" dirty="0">
                <a:solidFill>
                  <a:srgbClr val="3333CC"/>
                </a:solidFill>
              </a:rPr>
              <a:t>输出关系曲线图</a:t>
            </a:r>
          </a:p>
        </p:txBody>
      </p:sp>
      <p:sp>
        <p:nvSpPr>
          <p:cNvPr id="11" name="矩形 1">
            <a:extLst>
              <a:ext uri="{FF2B5EF4-FFF2-40B4-BE49-F238E27FC236}">
                <a16:creationId xmlns:a16="http://schemas.microsoft.com/office/drawing/2014/main" id="{1BAEFCCD-0CCC-4065-8955-299CDE19E4BB}"/>
              </a:ext>
            </a:extLst>
          </p:cNvPr>
          <p:cNvSpPr/>
          <p:nvPr/>
        </p:nvSpPr>
        <p:spPr bwMode="auto">
          <a:xfrm>
            <a:off x="4635760" y="5652205"/>
            <a:ext cx="504478" cy="34977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2" name="Picture 10">
            <a:extLst>
              <a:ext uri="{FF2B5EF4-FFF2-40B4-BE49-F238E27FC236}">
                <a16:creationId xmlns:a16="http://schemas.microsoft.com/office/drawing/2014/main" id="{95D03FE3-658E-4FE9-A2B6-A835BE9AD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431" y="1447619"/>
            <a:ext cx="4745399" cy="472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4137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00254" y="1305463"/>
            <a:ext cx="4272020" cy="43858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68579" tIns="34289" rIns="68579" bIns="34289">
            <a:spAutoFit/>
          </a:bodyPr>
          <a:lstStyle/>
          <a:p>
            <a:pPr>
              <a:spcBef>
                <a:spcPts val="503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一阶（惯性）系统的动态响应</a:t>
            </a:r>
          </a:p>
        </p:txBody>
      </p:sp>
      <p:sp>
        <p:nvSpPr>
          <p:cNvPr id="21" name="矩形 20"/>
          <p:cNvSpPr/>
          <p:nvPr/>
        </p:nvSpPr>
        <p:spPr>
          <a:xfrm>
            <a:off x="1792635" y="1783910"/>
            <a:ext cx="4821229" cy="1738936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一阶系统的零输入响应</a:t>
            </a:r>
          </a:p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一阶系统的冲激响应（权函数）</a:t>
            </a:r>
          </a:p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一阶系统的阶跃响应</a:t>
            </a:r>
          </a:p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一阶系统的频率响应特性</a:t>
            </a:r>
          </a:p>
        </p:txBody>
      </p:sp>
      <p:sp>
        <p:nvSpPr>
          <p:cNvPr id="22" name="矩形 21"/>
          <p:cNvSpPr/>
          <p:nvPr/>
        </p:nvSpPr>
        <p:spPr>
          <a:xfrm>
            <a:off x="1792636" y="4240792"/>
            <a:ext cx="4741330" cy="1738936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二阶系统的零输入响应</a:t>
            </a:r>
          </a:p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二阶系统的冲激响应（权函数）</a:t>
            </a:r>
          </a:p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二阶系统的阶跃响应</a:t>
            </a:r>
          </a:p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二阶系统的频率响应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059989" y="3670758"/>
            <a:ext cx="4212286" cy="43858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68579" tIns="34289" rIns="68579" bIns="34289">
            <a:spAutoFit/>
          </a:bodyPr>
          <a:lstStyle/>
          <a:p>
            <a:pPr>
              <a:spcBef>
                <a:spcPts val="503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二阶（振荡）系统的动态响应</a:t>
            </a:r>
          </a:p>
        </p:txBody>
      </p:sp>
      <p:sp>
        <p:nvSpPr>
          <p:cNvPr id="26" name="矩形 25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1.2.5</a:t>
            </a:r>
          </a:p>
        </p:txBody>
      </p:sp>
      <p:sp>
        <p:nvSpPr>
          <p:cNvPr id="28" name="矩形 27"/>
          <p:cNvSpPr/>
          <p:nvPr/>
        </p:nvSpPr>
        <p:spPr>
          <a:xfrm>
            <a:off x="1960201" y="329520"/>
            <a:ext cx="499847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典型环节的动态响应特性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D9F3ED-DACD-45BC-B3A8-13A83D76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04360" y="1468047"/>
            <a:ext cx="6915913" cy="4331953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3" action="ppaction://hlinksldjump"/>
              </a:rPr>
              <a:t>图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3" action="ppaction://hlinksldjump"/>
              </a:rPr>
              <a:t>1-9  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3" action="ppaction://hlinksldjump"/>
              </a:rPr>
              <a:t>一阶系统的冲激响应曲线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4" action="ppaction://hlinksldjump"/>
              </a:rPr>
              <a:t>图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4" action="ppaction://hlinksldjump"/>
              </a:rPr>
              <a:t>1-10 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4" action="ppaction://hlinksldjump"/>
              </a:rPr>
              <a:t>一阶系统的阶跃响应曲线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5" action="ppaction://hlinksldjump"/>
              </a:rPr>
              <a:t>图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5" action="ppaction://hlinksldjump"/>
              </a:rPr>
              <a:t>1-11 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5" action="ppaction://hlinksldjump"/>
              </a:rPr>
              <a:t>一阶系统波特图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6" action="ppaction://hlinksldjump"/>
              </a:rPr>
              <a:t>图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6" action="ppaction://hlinksldjump"/>
              </a:rPr>
              <a:t>1-13 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6" action="ppaction://hlinksldjump"/>
              </a:rPr>
              <a:t>二阶系统的阶跃响应曲线图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7" action="ppaction://hlinksldjump"/>
              </a:rPr>
              <a:t>图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7" action="ppaction://hlinksldjump"/>
              </a:rPr>
              <a:t>1-14 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  <a:hlinkClick r:id="rId7" action="ppaction://hlinksldjump"/>
              </a:rPr>
              <a:t>二阶系统的频率特性曲线图及其物理意义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 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）频率特性曲线</a:t>
            </a:r>
          </a:p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 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）频率特性曲线的物理意义</a:t>
            </a:r>
          </a:p>
        </p:txBody>
      </p:sp>
      <p:sp>
        <p:nvSpPr>
          <p:cNvPr id="22" name="矩形 21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1.2.5</a:t>
            </a:r>
          </a:p>
        </p:txBody>
      </p:sp>
      <p:sp>
        <p:nvSpPr>
          <p:cNvPr id="24" name="矩形 23"/>
          <p:cNvSpPr/>
          <p:nvPr/>
        </p:nvSpPr>
        <p:spPr>
          <a:xfrm>
            <a:off x="1960201" y="329520"/>
            <a:ext cx="499847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典型环节的动态响应特性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AB191A-F966-44D2-AF10-F49E87115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510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Text Box 27"/>
          <p:cNvSpPr txBox="1">
            <a:spLocks noChangeArrowheads="1"/>
          </p:cNvSpPr>
          <p:nvPr/>
        </p:nvSpPr>
        <p:spPr bwMode="auto">
          <a:xfrm>
            <a:off x="2772358" y="5578171"/>
            <a:ext cx="46073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3333CC"/>
                </a:solidFill>
              </a:rPr>
              <a:t>图</a:t>
            </a:r>
            <a:r>
              <a:rPr lang="en-US" altLang="zh-CN" b="1" dirty="0">
                <a:solidFill>
                  <a:srgbClr val="3333CC"/>
                </a:solidFill>
              </a:rPr>
              <a:t>1-9  </a:t>
            </a:r>
            <a:r>
              <a:rPr lang="zh-CN" altLang="en-US" b="1" dirty="0">
                <a:solidFill>
                  <a:srgbClr val="3333CC"/>
                </a:solidFill>
              </a:rPr>
              <a:t>一阶系统的冲激响应曲线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4499992" y="4850972"/>
            <a:ext cx="576064" cy="28803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308" y="1413942"/>
            <a:ext cx="6877367" cy="403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E9AB42-F761-4484-802E-3DC3E3B4F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7" name="矩形 21">
            <a:extLst>
              <a:ext uri="{FF2B5EF4-FFF2-40B4-BE49-F238E27FC236}">
                <a16:creationId xmlns:a16="http://schemas.microsoft.com/office/drawing/2014/main" id="{91E0E4E6-D7EC-4162-BDE8-90520CE54E06}"/>
              </a:ext>
            </a:extLst>
          </p:cNvPr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22">
            <a:extLst>
              <a:ext uri="{FF2B5EF4-FFF2-40B4-BE49-F238E27FC236}">
                <a16:creationId xmlns:a16="http://schemas.microsoft.com/office/drawing/2014/main" id="{829D0872-0970-4ABD-8135-7A4C8BC16D40}"/>
              </a:ext>
            </a:extLst>
          </p:cNvPr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1.2.5</a:t>
            </a:r>
          </a:p>
        </p:txBody>
      </p:sp>
      <p:sp>
        <p:nvSpPr>
          <p:cNvPr id="9" name="矩形 23">
            <a:extLst>
              <a:ext uri="{FF2B5EF4-FFF2-40B4-BE49-F238E27FC236}">
                <a16:creationId xmlns:a16="http://schemas.microsoft.com/office/drawing/2014/main" id="{343453EB-6519-4923-A522-E58C771D5D0F}"/>
              </a:ext>
            </a:extLst>
          </p:cNvPr>
          <p:cNvSpPr/>
          <p:nvPr/>
        </p:nvSpPr>
        <p:spPr>
          <a:xfrm>
            <a:off x="1960201" y="329520"/>
            <a:ext cx="499847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典型环节的动态响应特性</a:t>
            </a:r>
          </a:p>
        </p:txBody>
      </p:sp>
    </p:spTree>
    <p:extLst>
      <p:ext uri="{BB962C8B-B14F-4D97-AF65-F5344CB8AC3E}">
        <p14:creationId xmlns:p14="http://schemas.microsoft.com/office/powerpoint/2010/main" val="423938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Text Box 29"/>
          <p:cNvSpPr txBox="1">
            <a:spLocks noChangeArrowheads="1"/>
          </p:cNvSpPr>
          <p:nvPr/>
        </p:nvSpPr>
        <p:spPr bwMode="auto">
          <a:xfrm>
            <a:off x="2555776" y="5445224"/>
            <a:ext cx="46805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3333CC"/>
                </a:solidFill>
              </a:rPr>
              <a:t>图</a:t>
            </a:r>
            <a:r>
              <a:rPr lang="en-US" altLang="zh-CN" b="1" dirty="0">
                <a:solidFill>
                  <a:srgbClr val="3333CC"/>
                </a:solidFill>
              </a:rPr>
              <a:t>1-10  </a:t>
            </a:r>
            <a:r>
              <a:rPr lang="zh-CN" altLang="en-US" b="1" dirty="0">
                <a:solidFill>
                  <a:srgbClr val="3333CC"/>
                </a:solidFill>
              </a:rPr>
              <a:t>一阶系统的阶跃响应曲线</a:t>
            </a:r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02316"/>
            <a:ext cx="7560840" cy="4070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916414-3E09-40B0-9AFE-07BA9510E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7" name="矩形 21">
            <a:extLst>
              <a:ext uri="{FF2B5EF4-FFF2-40B4-BE49-F238E27FC236}">
                <a16:creationId xmlns:a16="http://schemas.microsoft.com/office/drawing/2014/main" id="{DAE0F573-7F58-473B-953D-836E20A0174B}"/>
              </a:ext>
            </a:extLst>
          </p:cNvPr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22">
            <a:extLst>
              <a:ext uri="{FF2B5EF4-FFF2-40B4-BE49-F238E27FC236}">
                <a16:creationId xmlns:a16="http://schemas.microsoft.com/office/drawing/2014/main" id="{600933E7-1748-4E53-B485-0F974C58D17E}"/>
              </a:ext>
            </a:extLst>
          </p:cNvPr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1.2.5</a:t>
            </a:r>
          </a:p>
        </p:txBody>
      </p:sp>
      <p:sp>
        <p:nvSpPr>
          <p:cNvPr id="9" name="矩形 23">
            <a:extLst>
              <a:ext uri="{FF2B5EF4-FFF2-40B4-BE49-F238E27FC236}">
                <a16:creationId xmlns:a16="http://schemas.microsoft.com/office/drawing/2014/main" id="{31BA8ADD-F38B-45B5-83EC-7A739E8C6595}"/>
              </a:ext>
            </a:extLst>
          </p:cNvPr>
          <p:cNvSpPr/>
          <p:nvPr/>
        </p:nvSpPr>
        <p:spPr>
          <a:xfrm>
            <a:off x="1960201" y="329520"/>
            <a:ext cx="499847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典型环节的动态响应特性</a:t>
            </a:r>
          </a:p>
        </p:txBody>
      </p:sp>
    </p:spTree>
    <p:extLst>
      <p:ext uri="{BB962C8B-B14F-4D97-AF65-F5344CB8AC3E}">
        <p14:creationId xmlns:p14="http://schemas.microsoft.com/office/powerpoint/2010/main" val="74338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Text Box 31"/>
          <p:cNvSpPr txBox="1">
            <a:spLocks noChangeArrowheads="1"/>
          </p:cNvSpPr>
          <p:nvPr/>
        </p:nvSpPr>
        <p:spPr bwMode="auto">
          <a:xfrm>
            <a:off x="2903921" y="5702508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3333CC"/>
                </a:solidFill>
              </a:rPr>
              <a:t>图</a:t>
            </a:r>
            <a:r>
              <a:rPr lang="en-US" altLang="zh-CN" b="1" dirty="0">
                <a:solidFill>
                  <a:srgbClr val="3333CC"/>
                </a:solidFill>
              </a:rPr>
              <a:t>1-11  </a:t>
            </a:r>
            <a:r>
              <a:rPr lang="zh-CN" altLang="en-US" b="1" dirty="0">
                <a:solidFill>
                  <a:srgbClr val="3333CC"/>
                </a:solidFill>
              </a:rPr>
              <a:t>一阶系统波特图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4283968" y="5147320"/>
            <a:ext cx="792088" cy="2979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107568" y="5553556"/>
            <a:ext cx="792088" cy="2979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201" y="1516405"/>
            <a:ext cx="4792299" cy="4111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014DA5-EC43-4BE0-8D5D-D713D0785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9" name="矩形 21">
            <a:extLst>
              <a:ext uri="{FF2B5EF4-FFF2-40B4-BE49-F238E27FC236}">
                <a16:creationId xmlns:a16="http://schemas.microsoft.com/office/drawing/2014/main" id="{C029AA91-1984-4694-BE3E-E8F1429AF5F3}"/>
              </a:ext>
            </a:extLst>
          </p:cNvPr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22">
            <a:extLst>
              <a:ext uri="{FF2B5EF4-FFF2-40B4-BE49-F238E27FC236}">
                <a16:creationId xmlns:a16="http://schemas.microsoft.com/office/drawing/2014/main" id="{B31D0F41-2D74-4C82-AD5C-25A07830CFE4}"/>
              </a:ext>
            </a:extLst>
          </p:cNvPr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1.2.5</a:t>
            </a:r>
          </a:p>
        </p:txBody>
      </p:sp>
      <p:sp>
        <p:nvSpPr>
          <p:cNvPr id="11" name="矩形 23">
            <a:extLst>
              <a:ext uri="{FF2B5EF4-FFF2-40B4-BE49-F238E27FC236}">
                <a16:creationId xmlns:a16="http://schemas.microsoft.com/office/drawing/2014/main" id="{1A99D136-794F-4B63-B2B4-A48533CBADD1}"/>
              </a:ext>
            </a:extLst>
          </p:cNvPr>
          <p:cNvSpPr/>
          <p:nvPr/>
        </p:nvSpPr>
        <p:spPr>
          <a:xfrm>
            <a:off x="1960201" y="329520"/>
            <a:ext cx="499847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典型环节的动态响应特性</a:t>
            </a:r>
          </a:p>
        </p:txBody>
      </p:sp>
    </p:spTree>
    <p:extLst>
      <p:ext uri="{BB962C8B-B14F-4D97-AF65-F5344CB8AC3E}">
        <p14:creationId xmlns:p14="http://schemas.microsoft.com/office/powerpoint/2010/main" val="2874197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Text Box 33"/>
          <p:cNvSpPr txBox="1">
            <a:spLocks noChangeArrowheads="1"/>
          </p:cNvSpPr>
          <p:nvPr/>
        </p:nvSpPr>
        <p:spPr bwMode="auto">
          <a:xfrm>
            <a:off x="2339752" y="5517649"/>
            <a:ext cx="50077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3333CC"/>
                </a:solidFill>
              </a:rPr>
              <a:t>图</a:t>
            </a:r>
            <a:r>
              <a:rPr lang="en-US" altLang="zh-CN" b="1" dirty="0">
                <a:solidFill>
                  <a:srgbClr val="3333CC"/>
                </a:solidFill>
              </a:rPr>
              <a:t>1-13  </a:t>
            </a:r>
            <a:r>
              <a:rPr lang="zh-CN" altLang="en-US" b="1" dirty="0">
                <a:solidFill>
                  <a:srgbClr val="3333CC"/>
                </a:solidFill>
              </a:rPr>
              <a:t>二阶系统的阶跃响应曲线图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4283968" y="4725144"/>
            <a:ext cx="720080" cy="31403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08720"/>
            <a:ext cx="7925316" cy="4422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26BBE8-B0AF-4160-926C-13F7F951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8" name="矩形 21">
            <a:extLst>
              <a:ext uri="{FF2B5EF4-FFF2-40B4-BE49-F238E27FC236}">
                <a16:creationId xmlns:a16="http://schemas.microsoft.com/office/drawing/2014/main" id="{A79E68FB-BCA1-408E-9BCE-EA4BB30076DF}"/>
              </a:ext>
            </a:extLst>
          </p:cNvPr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22">
            <a:extLst>
              <a:ext uri="{FF2B5EF4-FFF2-40B4-BE49-F238E27FC236}">
                <a16:creationId xmlns:a16="http://schemas.microsoft.com/office/drawing/2014/main" id="{9096288F-AF78-4BCD-9076-6A3E73AF978B}"/>
              </a:ext>
            </a:extLst>
          </p:cNvPr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1.2.5</a:t>
            </a:r>
          </a:p>
        </p:txBody>
      </p:sp>
      <p:sp>
        <p:nvSpPr>
          <p:cNvPr id="10" name="矩形 23">
            <a:extLst>
              <a:ext uri="{FF2B5EF4-FFF2-40B4-BE49-F238E27FC236}">
                <a16:creationId xmlns:a16="http://schemas.microsoft.com/office/drawing/2014/main" id="{649230C0-873E-4D74-9D72-91B700D669A5}"/>
              </a:ext>
            </a:extLst>
          </p:cNvPr>
          <p:cNvSpPr/>
          <p:nvPr/>
        </p:nvSpPr>
        <p:spPr>
          <a:xfrm>
            <a:off x="1960201" y="329520"/>
            <a:ext cx="499847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典型环节的动态响应特性</a:t>
            </a:r>
          </a:p>
        </p:txBody>
      </p:sp>
    </p:spTree>
    <p:extLst>
      <p:ext uri="{BB962C8B-B14F-4D97-AF65-F5344CB8AC3E}">
        <p14:creationId xmlns:p14="http://schemas.microsoft.com/office/powerpoint/2010/main" val="134609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Text Box 35"/>
          <p:cNvSpPr txBox="1">
            <a:spLocks noChangeArrowheads="1"/>
          </p:cNvSpPr>
          <p:nvPr/>
        </p:nvSpPr>
        <p:spPr bwMode="auto">
          <a:xfrm>
            <a:off x="1200150" y="5488024"/>
            <a:ext cx="70802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99"/>
                </a:solidFill>
              </a:rPr>
              <a:t>图</a:t>
            </a:r>
            <a:r>
              <a:rPr lang="en-US" altLang="zh-CN" b="1" dirty="0">
                <a:solidFill>
                  <a:srgbClr val="000099"/>
                </a:solidFill>
              </a:rPr>
              <a:t>1-14  </a:t>
            </a:r>
            <a:r>
              <a:rPr lang="zh-CN" altLang="en-US" b="1" dirty="0">
                <a:solidFill>
                  <a:srgbClr val="000099"/>
                </a:solidFill>
              </a:rPr>
              <a:t>二阶系统的频率特性曲线图及其物理意义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99"/>
                </a:solidFill>
              </a:rPr>
              <a:t>a</a:t>
            </a:r>
            <a:r>
              <a:rPr lang="zh-CN" altLang="en-US" b="1" dirty="0">
                <a:solidFill>
                  <a:srgbClr val="000099"/>
                </a:solidFill>
              </a:rPr>
              <a:t>）频率特性曲线图     </a:t>
            </a:r>
            <a:r>
              <a:rPr lang="en-US" altLang="zh-CN" b="1" dirty="0">
                <a:solidFill>
                  <a:srgbClr val="000099"/>
                </a:solidFill>
              </a:rPr>
              <a:t>b</a:t>
            </a:r>
            <a:r>
              <a:rPr lang="zh-CN" altLang="en-US" b="1" dirty="0">
                <a:solidFill>
                  <a:srgbClr val="000099"/>
                </a:solidFill>
              </a:rPr>
              <a:t>）频率特性曲线的物理意义</a:t>
            </a:r>
          </a:p>
        </p:txBody>
      </p:sp>
      <p:sp>
        <p:nvSpPr>
          <p:cNvPr id="6" name="矩形 5"/>
          <p:cNvSpPr/>
          <p:nvPr/>
        </p:nvSpPr>
        <p:spPr bwMode="auto">
          <a:xfrm>
            <a:off x="1418431" y="4683384"/>
            <a:ext cx="504056" cy="17488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201" y="1287240"/>
            <a:ext cx="4347706" cy="4110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B6C5CF-EC88-4869-A6F7-2BF335AE4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7" name="矩形 21">
            <a:extLst>
              <a:ext uri="{FF2B5EF4-FFF2-40B4-BE49-F238E27FC236}">
                <a16:creationId xmlns:a16="http://schemas.microsoft.com/office/drawing/2014/main" id="{2D1C54EA-6426-4FEA-98FE-6FEBEC35D1A6}"/>
              </a:ext>
            </a:extLst>
          </p:cNvPr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22">
            <a:extLst>
              <a:ext uri="{FF2B5EF4-FFF2-40B4-BE49-F238E27FC236}">
                <a16:creationId xmlns:a16="http://schemas.microsoft.com/office/drawing/2014/main" id="{6DD7E853-0490-4C39-8C4F-CC72770990A4}"/>
              </a:ext>
            </a:extLst>
          </p:cNvPr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1.2.5</a:t>
            </a:r>
          </a:p>
        </p:txBody>
      </p:sp>
      <p:sp>
        <p:nvSpPr>
          <p:cNvPr id="10" name="矩形 23">
            <a:extLst>
              <a:ext uri="{FF2B5EF4-FFF2-40B4-BE49-F238E27FC236}">
                <a16:creationId xmlns:a16="http://schemas.microsoft.com/office/drawing/2014/main" id="{604E5B69-DB03-4E48-AA02-233EA8B9F8DE}"/>
              </a:ext>
            </a:extLst>
          </p:cNvPr>
          <p:cNvSpPr/>
          <p:nvPr/>
        </p:nvSpPr>
        <p:spPr>
          <a:xfrm>
            <a:off x="1960201" y="329520"/>
            <a:ext cx="4998476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838200" indent="-838200"/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典型环节的动态响应特性</a:t>
            </a:r>
          </a:p>
        </p:txBody>
      </p:sp>
    </p:spTree>
    <p:extLst>
      <p:ext uri="{BB962C8B-B14F-4D97-AF65-F5344CB8AC3E}">
        <p14:creationId xmlns:p14="http://schemas.microsoft.com/office/powerpoint/2010/main" val="3978863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680816" y="1191374"/>
            <a:ext cx="2793322" cy="438580"/>
          </a:xfrm>
          <a:prstGeom prst="rect">
            <a:avLst/>
          </a:prstGeom>
          <a:solidFill>
            <a:srgbClr val="FFC000"/>
          </a:solidFill>
        </p:spPr>
        <p:txBody>
          <a:bodyPr wrap="square" lIns="68579" tIns="34289" rIns="68579" bIns="34289">
            <a:spAutoFit/>
          </a:bodyPr>
          <a:lstStyle/>
          <a:p>
            <a:pPr>
              <a:spcBef>
                <a:spcPts val="503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传感器的静态特性</a:t>
            </a:r>
          </a:p>
        </p:txBody>
      </p:sp>
      <p:sp>
        <p:nvSpPr>
          <p:cNvPr id="24" name="矩形 23"/>
          <p:cNvSpPr/>
          <p:nvPr/>
        </p:nvSpPr>
        <p:spPr>
          <a:xfrm>
            <a:off x="1680816" y="1629954"/>
            <a:ext cx="5928858" cy="4773100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线性度</a:t>
            </a:r>
          </a:p>
          <a:p>
            <a:pPr>
              <a:spcBef>
                <a:spcPts val="503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非线性误差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spcBef>
                <a:spcPts val="503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最小二乘法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迟滞</a:t>
            </a:r>
          </a:p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重复性</a:t>
            </a:r>
          </a:p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灵敏度与灵敏度误差</a:t>
            </a:r>
          </a:p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分辨率与阈值</a:t>
            </a:r>
          </a:p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稳定性</a:t>
            </a:r>
          </a:p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温度稳定性</a:t>
            </a:r>
          </a:p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多种抗干扰能力</a:t>
            </a:r>
          </a:p>
          <a:p>
            <a:pPr marL="342900" indent="-342900"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静态误差</a:t>
            </a:r>
          </a:p>
        </p:txBody>
      </p:sp>
      <p:sp>
        <p:nvSpPr>
          <p:cNvPr id="20" name="矩形 19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endParaRPr lang="en-US" sz="3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960200" y="360001"/>
            <a:ext cx="193513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本章要点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2EEADD-25F4-4ED7-8556-DC328042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52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849332" y="1391948"/>
            <a:ext cx="2729822" cy="438580"/>
          </a:xfrm>
          <a:prstGeom prst="rect">
            <a:avLst/>
          </a:prstGeom>
          <a:solidFill>
            <a:srgbClr val="92D050"/>
          </a:solidFill>
        </p:spPr>
        <p:txBody>
          <a:bodyPr wrap="square" lIns="68579" tIns="34289" rIns="68579" bIns="34289">
            <a:spAutoFit/>
          </a:bodyPr>
          <a:lstStyle/>
          <a:p>
            <a:pPr>
              <a:spcBef>
                <a:spcPts val="503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传感器的动态特性</a:t>
            </a:r>
          </a:p>
        </p:txBody>
      </p:sp>
      <p:sp>
        <p:nvSpPr>
          <p:cNvPr id="24" name="矩形 23"/>
          <p:cNvSpPr/>
          <p:nvPr/>
        </p:nvSpPr>
        <p:spPr>
          <a:xfrm>
            <a:off x="1816932" y="2073527"/>
            <a:ext cx="5338472" cy="3713835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动态特性的数学描述</a:t>
            </a:r>
          </a:p>
          <a:p>
            <a:pPr marL="342900" indent="-342900">
              <a:lnSpc>
                <a:spcPct val="150000"/>
              </a:lnSpc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线性系统的传递函数</a:t>
            </a:r>
          </a:p>
          <a:p>
            <a:pPr marL="342900" indent="-342900">
              <a:lnSpc>
                <a:spcPct val="150000"/>
              </a:lnSpc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传感器的动态特性指标</a:t>
            </a:r>
          </a:p>
          <a:p>
            <a:pPr indent="355600">
              <a:lnSpc>
                <a:spcPct val="150000"/>
              </a:lnSpc>
              <a:spcBef>
                <a:spcPts val="503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　 与阶跃响应有关的指标</a:t>
            </a:r>
          </a:p>
          <a:p>
            <a:pPr indent="355600">
              <a:lnSpc>
                <a:spcPct val="150000"/>
              </a:lnSpc>
              <a:spcBef>
                <a:spcPts val="503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上升时间</a:t>
            </a:r>
            <a:r>
              <a:rPr lang="en-US" altLang="zh-CN" sz="2400" b="1" i="1" dirty="0" err="1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T</a:t>
            </a:r>
            <a:r>
              <a:rPr lang="en-US" altLang="zh-CN" sz="2400" b="1" i="1" baseline="-25000" dirty="0" err="1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r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2400" b="1" baseline="-25000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  </a:t>
            </a:r>
            <a:r>
              <a:rPr lang="zh-CN" altLang="en-US" sz="2400" b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建立时间</a:t>
            </a:r>
            <a:r>
              <a:rPr lang="en-US" altLang="zh-CN" sz="2400" b="1" i="1" dirty="0" err="1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T</a:t>
            </a:r>
            <a:r>
              <a:rPr lang="en-US" altLang="zh-CN" sz="2400" b="1" i="1" baseline="-25000" dirty="0" err="1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s</a:t>
            </a:r>
            <a:endParaRPr lang="en-US" altLang="zh-CN" sz="2400" b="1" i="1" baseline="-25000" dirty="0"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  <a:p>
            <a:pPr indent="355600">
              <a:lnSpc>
                <a:spcPct val="150000"/>
              </a:lnSpc>
              <a:spcBef>
                <a:spcPts val="503"/>
              </a:spcBef>
            </a:pPr>
            <a:r>
              <a:rPr lang="en-US" altLang="zh-CN" sz="2400" b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 </a:t>
            </a:r>
            <a:r>
              <a:rPr lang="zh-CN" altLang="en-US" sz="2400" b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　过冲量</a:t>
            </a:r>
            <a:r>
              <a:rPr lang="en-US" altLang="zh-CN" sz="2400" b="1" i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1</a:t>
            </a:r>
            <a:r>
              <a:rPr lang="zh-CN" altLang="en-US" sz="2400" b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、衰减比</a:t>
            </a:r>
            <a:r>
              <a:rPr lang="el-GR" altLang="zh-CN" sz="2400" b="1" i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δ</a:t>
            </a:r>
            <a:r>
              <a:rPr lang="zh-CN" altLang="en-US" sz="2400" b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Symbol" panose="05050102010706020507" pitchFamily="18" charset="2"/>
              </a:rPr>
              <a:t>、</a:t>
            </a:r>
            <a:r>
              <a:rPr lang="zh-CN" altLang="en-US" sz="2400" b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对数减缩</a:t>
            </a:r>
            <a:r>
              <a:rPr lang="el-GR" altLang="zh-CN" sz="2400" b="1" i="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Symbol" panose="05050102010706020507" pitchFamily="18" charset="2"/>
              </a:rPr>
              <a:t>σ</a:t>
            </a:r>
            <a:endParaRPr lang="zh-CN" altLang="en-US" sz="2400" b="1" i="1" dirty="0">
              <a:latin typeface="Times New Roman" pitchFamily="18" charset="0"/>
              <a:ea typeface="宋体" panose="02010600030101010101" pitchFamily="2" charset="-122"/>
              <a:cs typeface="Times New Roman" pitchFamily="18" charset="0"/>
              <a:sym typeface="Symbol" panose="05050102010706020507" pitchFamily="18" charset="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endParaRPr lang="en-US" sz="3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960200" y="360001"/>
            <a:ext cx="193513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本章要点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5D164E-F5EA-4F89-B404-04E1915C6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322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1551129" y="1823299"/>
            <a:ext cx="7039451" cy="3713835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动态响应分析的基本方法</a:t>
            </a:r>
          </a:p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　  瞬态响应的分析方法</a:t>
            </a:r>
          </a:p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正弦激励下的稳态频率响应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ts val="503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典型环节的动态响应特性</a:t>
            </a:r>
          </a:p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　一阶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惯性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系统的动态响应</a:t>
            </a:r>
          </a:p>
          <a:p>
            <a:pPr>
              <a:lnSpc>
                <a:spcPct val="150000"/>
              </a:lnSpc>
              <a:spcBef>
                <a:spcPts val="503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二阶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振荡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系统的动态响应</a:t>
            </a:r>
          </a:p>
        </p:txBody>
      </p:sp>
      <p:sp>
        <p:nvSpPr>
          <p:cNvPr id="22" name="矩形 21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endParaRPr lang="en-US" sz="3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960200" y="360001"/>
            <a:ext cx="193513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3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本章要点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4822D8-D4F4-4A4F-8DB5-7A224BCFD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41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571711" y="354313"/>
            <a:ext cx="7839637" cy="620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 rot="10800000" flipV="1">
            <a:off x="185084" y="338484"/>
            <a:ext cx="1119276" cy="62754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endParaRPr lang="en-US" sz="3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391ACD-EB85-4B86-856B-CF1B0F07B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02B4-F12B-41CD-B648-531F86B2CC91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17" name="矩形 25">
            <a:extLst>
              <a:ext uri="{FF2B5EF4-FFF2-40B4-BE49-F238E27FC236}">
                <a16:creationId xmlns:a16="http://schemas.microsoft.com/office/drawing/2014/main" id="{C6002FC2-06A1-4E5D-B024-A210F88B48D3}"/>
              </a:ext>
            </a:extLst>
          </p:cNvPr>
          <p:cNvSpPr/>
          <p:nvPr/>
        </p:nvSpPr>
        <p:spPr>
          <a:xfrm>
            <a:off x="1960200" y="360001"/>
            <a:ext cx="1059897" cy="61554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3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作业</a:t>
            </a:r>
            <a:endParaRPr lang="zh-CN" altLang="en-US" sz="3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9" name="矩形 23">
            <a:extLst>
              <a:ext uri="{FF2B5EF4-FFF2-40B4-BE49-F238E27FC236}">
                <a16:creationId xmlns:a16="http://schemas.microsoft.com/office/drawing/2014/main" id="{290A574A-745E-455F-B52A-3174DB2120F2}"/>
              </a:ext>
            </a:extLst>
          </p:cNvPr>
          <p:cNvSpPr/>
          <p:nvPr/>
        </p:nvSpPr>
        <p:spPr>
          <a:xfrm>
            <a:off x="1551129" y="1823299"/>
            <a:ext cx="7039451" cy="3027237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503"/>
              </a:spcBef>
              <a:buFont typeface="+mj-lt"/>
              <a:buAutoNum type="arabicParenR"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1.2  </a:t>
            </a:r>
          </a:p>
          <a:p>
            <a:pPr marL="457200" indent="-457200">
              <a:lnSpc>
                <a:spcPct val="150000"/>
              </a:lnSpc>
              <a:spcBef>
                <a:spcPts val="503"/>
              </a:spcBef>
              <a:buFont typeface="+mj-lt"/>
              <a:buAutoNum type="arabicParenR"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1.4  </a:t>
            </a:r>
          </a:p>
          <a:p>
            <a:pPr marL="457200" indent="-457200">
              <a:lnSpc>
                <a:spcPct val="150000"/>
              </a:lnSpc>
              <a:spcBef>
                <a:spcPts val="503"/>
              </a:spcBef>
              <a:buFont typeface="+mj-lt"/>
              <a:buAutoNum type="arabicParenR"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1.6  </a:t>
            </a:r>
          </a:p>
          <a:p>
            <a:pPr marL="457200" indent="-457200">
              <a:lnSpc>
                <a:spcPct val="150000"/>
              </a:lnSpc>
              <a:spcBef>
                <a:spcPts val="503"/>
              </a:spcBef>
              <a:buFont typeface="+mj-lt"/>
              <a:buAutoNum type="arabicParenR"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1.11 </a:t>
            </a:r>
          </a:p>
          <a:p>
            <a:pPr marL="457200" indent="-457200">
              <a:lnSpc>
                <a:spcPct val="150000"/>
              </a:lnSpc>
              <a:spcBef>
                <a:spcPts val="503"/>
              </a:spcBef>
              <a:buFont typeface="+mj-lt"/>
              <a:buAutoNum type="arabicParenR"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1.12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525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1847</TotalTime>
  <Words>1275</Words>
  <Application>Microsoft Office PowerPoint</Application>
  <PresentationFormat>全屏显示(4:3)</PresentationFormat>
  <Paragraphs>323</Paragraphs>
  <Slides>41</Slides>
  <Notes>31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41</vt:i4>
      </vt:variant>
    </vt:vector>
  </HeadingPairs>
  <TitlesOfParts>
    <vt:vector size="51" baseType="lpstr">
      <vt:lpstr>等线</vt:lpstr>
      <vt:lpstr>等线 Light</vt:lpstr>
      <vt:lpstr>SimSun</vt:lpstr>
      <vt:lpstr>SimSun</vt:lpstr>
      <vt:lpstr>微软雅黑</vt:lpstr>
      <vt:lpstr>Arial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GE FANG</cp:lastModifiedBy>
  <cp:revision>116</cp:revision>
  <dcterms:created xsi:type="dcterms:W3CDTF">2020-09-26T11:04:00Z</dcterms:created>
  <dcterms:modified xsi:type="dcterms:W3CDTF">2026-03-04T13:33:15Z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